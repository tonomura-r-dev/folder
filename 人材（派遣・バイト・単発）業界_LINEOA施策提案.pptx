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40"/>
  </p:notesMasterIdLst>
  <p:handoutMasterIdLst>
    <p:handoutMasterId r:id="rId41"/>
  </p:handoutMasterIdLst>
  <p:sldIdLst>
    <p:sldId id="2363" r:id="rId3"/>
    <p:sldId id="2736" r:id="rId4"/>
    <p:sldId id="2935" r:id="rId5"/>
    <p:sldId id="2989" r:id="rId6"/>
    <p:sldId id="2991" r:id="rId7"/>
    <p:sldId id="2956" r:id="rId8"/>
    <p:sldId id="2992" r:id="rId9"/>
    <p:sldId id="2993" r:id="rId10"/>
    <p:sldId id="2990" r:id="rId27"/>
    <p:sldId id="3009" r:id="rId46"/>
    <p:sldId id="3010" r:id="rId47"/>
    <p:sldId id="3011" r:id="rId48"/>
    <p:sldId id="2996" r:id="rId11"/>
    <p:sldId id="2997" r:id="rId12"/>
    <p:sldId id="2954" r:id="rId13"/>
    <p:sldId id="2998" r:id="rId14"/>
    <p:sldId id="2999" r:id="rId15"/>
    <p:sldId id="3000" r:id="rId16"/>
    <p:sldId id="3001" r:id="rId17"/>
    <p:sldId id="2953" r:id="rId18"/>
    <p:sldId id="3002" r:id="rId19"/>
    <p:sldId id="3003" r:id="rId20"/>
    <p:sldId id="3004" r:id="rId21"/>
    <p:sldId id="2908" r:id="rId22"/>
    <p:sldId id="3006" r:id="rId23"/>
    <p:sldId id="3005" r:id="rId32"/>
    <p:sldId id="3008" r:id="rId24"/>
    <p:sldId id="3007" r:id="rId25"/>
    <p:sldId id="1169" r:id="rId26"/>
    <p:sldId id="2762" r:id="rId28"/>
    <p:sldId id="2962" r:id="rId29"/>
    <p:sldId id="2937" r:id="rId30"/>
    <p:sldId id="2966" r:id="rId31"/>
    <p:sldId id="2994" r:id="rId33"/>
    <p:sldId id="2995" r:id="rId34"/>
    <p:sldId id="2988" r:id="rId35"/>
    <p:sldId id="2955" r:id="rId36"/>
    <p:sldId id="2967" r:id="rId37"/>
    <p:sldId id="2939" r:id="rId38"/>
    <p:sldId id="2942" r:id="rId39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DFD"/>
    <a:srgbClr val="173559"/>
    <a:srgbClr val="04FA0A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74" d="100"/>
          <a:sy n="74" d="100"/>
        </p:scale>
        <p:origin x="784" y="44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slide" Target="slides/slide36.xml"/><Relationship Id="rId39" Type="http://schemas.openxmlformats.org/officeDocument/2006/relationships/slide" Target="slides/slide37.xml"/><Relationship Id="rId40" Type="http://schemas.openxmlformats.org/officeDocument/2006/relationships/notesMaster" Target="notesMasters/notesMaster1.xml"/><Relationship Id="rId41" Type="http://schemas.openxmlformats.org/officeDocument/2006/relationships/handoutMaster" Target="handoutMasters/handout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Relationship Id="rId46" Type="http://schemas.openxmlformats.org/officeDocument/2006/relationships/slide" Target="slides/slide38.xml"/><Relationship Id="rId47" Type="http://schemas.openxmlformats.org/officeDocument/2006/relationships/slide" Target="slides/slide39.xml"/><Relationship Id="rId48" Type="http://schemas.openxmlformats.org/officeDocument/2006/relationships/slide" Target="slides/slide40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2026/9/15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EE855B-5535-79F7-D3A0-C0A506787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3C6FB8FB-0888-2275-ABE8-A13FDAA10E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2D71EA6C-9577-A559-064D-4DE5700FB2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1C4F904-4503-6BD1-FC32-6AA038134FF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542108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defTabSz="956886">
              <a:defRPr/>
            </a:pPr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defTabSz="956886">
              <a:defRPr/>
            </a:pPr>
            <a:fld id="{929202D6-C1F5-472A-A72F-285F233F82C2}" type="slidenum">
              <a:rPr lang="ja-JP" altLang="en-US">
                <a:solidFill>
                  <a:prstClr val="black"/>
                </a:solidFill>
                <a:latin typeface="Calibri"/>
                <a:ea typeface="ＭＳ Ｐゴシック" panose="020B0600070205080204" pitchFamily="50" charset="-128"/>
              </a:rPr>
              <a:pPr defTabSz="956886">
                <a:defRPr/>
              </a:pPr>
              <a:t>24</a:t>
            </a:fld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920873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9B1800-D47D-9623-88C4-F3F1B11ED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9B704ED9-0313-110E-A57A-A9A15550FC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401CA249-8084-E89C-5484-AD2CD6CA53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CB72AE6-8350-35EF-B366-1B6DD9FAA1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33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3763081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emf"/><Relationship Id="rId4" Type="http://schemas.openxmlformats.org/officeDocument/2006/relationships/image" Target="../media/image13.jpeg"/><Relationship Id="rId5" Type="http://schemas.openxmlformats.org/officeDocument/2006/relationships/image" Target="../media/image14.jpeg"/><Relationship Id="rId6" Type="http://schemas.openxmlformats.org/officeDocument/2006/relationships/image" Target="../media/image15.jpeg"/><Relationship Id="rId7" Type="http://schemas.openxmlformats.org/officeDocument/2006/relationships/image" Target="../media/image16.jpeg"/><Relationship Id="rId8" Type="http://schemas.openxmlformats.org/officeDocument/2006/relationships/image" Target="../media/image17.jpe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png"/><Relationship Id="rId3" Type="http://schemas.openxmlformats.org/officeDocument/2006/relationships/image" Target="../media/image21.jpeg"/><Relationship Id="rId4" Type="http://schemas.openxmlformats.org/officeDocument/2006/relationships/image" Target="../media/image22.png"/><Relationship Id="rId5" Type="http://schemas.openxmlformats.org/officeDocument/2006/relationships/image" Target="../media/image2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101" Type="http://schemas.openxmlformats.org/officeDocument/2006/relationships/image" Target="../media/townwork_1.jpeg"/><Relationship Id="rId102" Type="http://schemas.openxmlformats.org/officeDocument/2006/relationships/image" Target="../media/townwork_2.jpeg"/><Relationship Id="rId103" Type="http://schemas.openxmlformats.org/officeDocument/2006/relationships/image" Target="../media/townwork_3.jpeg"/><Relationship Id="rId104" Type="http://schemas.openxmlformats.org/officeDocument/2006/relationships/image" Target="../media/townwork_4.jpe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9A0322D-BA5F-9122-1E12-FB7AC2AF15A5}"/>
              </a:ext>
            </a:extLst>
          </p:cNvPr>
          <p:cNvSpPr/>
          <p:nvPr/>
        </p:nvSpPr>
        <p:spPr>
          <a:xfrm>
            <a:off x="1665887" y="3038203"/>
            <a:ext cx="65742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ja-I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LINE</a:t>
            </a:r>
            <a:r>
              <a:rPr lang="ja-JP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公式アカウント運用のご提案</a:t>
            </a:r>
            <a:endParaRPr lang="en-US" altLang="ja-IS" sz="3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CC59398-53B4-E01E-A60C-6C13628FCBFB}"/>
              </a:ext>
            </a:extLst>
          </p:cNvPr>
          <p:cNvSpPr/>
          <p:nvPr/>
        </p:nvSpPr>
        <p:spPr>
          <a:xfrm>
            <a:off x="1613481" y="2729823"/>
            <a:ext cx="662663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ja-JP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最上位パートナーの知見を活用し、獲得に強い動線を構築する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B532C1C8-7FE6-8830-B27C-27941421F5F9}"/>
              </a:ext>
            </a:extLst>
          </p:cNvPr>
          <p:cNvCxnSpPr>
            <a:cxnSpLocks/>
          </p:cNvCxnSpPr>
          <p:nvPr/>
        </p:nvCxnSpPr>
        <p:spPr>
          <a:xfrm>
            <a:off x="1337175" y="3705064"/>
            <a:ext cx="723166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図 8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FFE022E1-8FF6-B4B4-B955-17E7CFA964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8159931" cy="766354"/>
          </a:xfrm>
          <a:prstGeom prst="rect">
            <a:avLst/>
          </a:prstGeom>
        </p:spPr>
      </p:pic>
      <p:pic>
        <p:nvPicPr>
          <p:cNvPr id="10" name="図 9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0F2999B3-5873-C495-70F5-12487911C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94114"/>
            <a:ext cx="2042161" cy="272239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8EDEE7F4-9CB5-D481-E92E-3941E7AB9B1C}"/>
              </a:ext>
            </a:extLst>
          </p:cNvPr>
          <p:cNvSpPr/>
          <p:nvPr/>
        </p:nvSpPr>
        <p:spPr>
          <a:xfrm>
            <a:off x="3524717" y="3910946"/>
            <a:ext cx="2804160" cy="40554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- 2026</a:t>
            </a:r>
            <a:r>
              <a:rPr kumimoji="1" lang="ja-JP" alt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最新版 </a:t>
            </a:r>
            <a:r>
              <a:rPr kumimoji="1" lang="en-US" altLang="ja-JP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-</a:t>
            </a:r>
            <a:endParaRPr kumimoji="1" lang="ja-JP" altLang="en-US" sz="14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26E1B5EC-868B-5787-A5AF-C20671BB3688}"/>
              </a:ext>
            </a:extLst>
          </p:cNvPr>
          <p:cNvSpPr/>
          <p:nvPr/>
        </p:nvSpPr>
        <p:spPr>
          <a:xfrm>
            <a:off x="2696718" y="4341752"/>
            <a:ext cx="4460159" cy="405546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業界：人材（派遣・バイト・単発）</a:t>
            </a:r>
          </a:p>
        </p:txBody>
      </p:sp>
    </p:spTree>
    <p:extLst>
      <p:ext uri="{BB962C8B-B14F-4D97-AF65-F5344CB8AC3E}">
        <p14:creationId xmlns:p14="http://schemas.microsoft.com/office/powerpoint/2010/main" val="39445980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AD501E-4538-865B-06FF-B4530B24F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3D3533E4-0377-76E5-495C-9BA89161C5A7}"/>
              </a:ext>
            </a:extLst>
          </p:cNvPr>
          <p:cNvSpPr txBox="1"/>
          <p:nvPr/>
        </p:nvSpPr>
        <p:spPr>
          <a:xfrm>
            <a:off x="547200" y="154743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資料アジェンダ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687600"/>
            <a:ext cx="9043200" cy="684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派遣・バイトの応募は数日で決まり、次の仕事探しでまた始まる。</a:t>
            </a:r>
          </a:p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一度来た人に、応募のたびに戻ってきてもらう提案です。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000" y="145800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EEF2F9"/>
          </a:solidFill>
          <a:ln w="952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22000" y="151560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22000" y="151560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6000" y="145800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第1章｜背景と強み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48000" y="1458000"/>
            <a:ext cx="6048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応募のたびに接点が切れている実態と、LINEでできること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000" y="209880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522000" y="215640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22000" y="215640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209880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第2章｜全体戦略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48000" y="2098800"/>
            <a:ext cx="6048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主戦場は契約満了からの再応募。データと参考事例（タウンワーク）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000" y="273960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EEF2F9"/>
          </a:solidFill>
          <a:ln w="952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522000" y="279720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22000" y="279720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6000" y="273960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第3章｜新規獲得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48000" y="2739600"/>
            <a:ext cx="6048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タウンワークの型・友だち追加の動線・あいさつ・リッチメニュー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000" y="338040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522000" y="343800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22000" y="343800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6000" y="338040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第4章｜配信設計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48000" y="3380400"/>
            <a:ext cx="6048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★本丸｜7日ステップ・実文面・満了フォロー・通知メッセージ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2000" y="402120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EEF2F9"/>
          </a:solidFill>
          <a:ln w="952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522000" y="407880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22000" y="407880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6000" y="402120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第5章｜体制実績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48000" y="4021200"/>
            <a:ext cx="6048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運用サポート体制・LINEOA実績・効果測定の設計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2000" y="466200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FDF1E9"/>
          </a:solidFill>
          <a:ln w="15875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522000" y="471960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22000" y="471960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6000" y="466200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ED7D31"/>
                </a:solidFill>
                <a:latin typeface="メイリオ"/>
                <a:ea typeface="メイリオ"/>
                <a:cs typeface="Meiryo"/>
              </a:rPr>
              <a:t>第6章｜費用試算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48000" y="4662000"/>
            <a:ext cx="6048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費用プラン・次回の試算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2000" y="5742432"/>
            <a:ext cx="9043200" cy="28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D7D31"/>
                </a:solidFill>
                <a:latin typeface="メイリオ"/>
                <a:ea typeface="メイリオ"/>
                <a:cs typeface="Meiryo"/>
              </a:rPr>
              <a:t>★ 本丸は「第4章 配信設計」。広告費を増やさずに、同じ人に何度も応募してもらいます。派遣を中心に設計し、バイト・単発は共通する範囲で扱います</a:t>
            </a:r>
          </a:p>
        </p:txBody>
      </p:sp>
    </p:spTree>
    <p:extLst>
      <p:ext uri="{BB962C8B-B14F-4D97-AF65-F5344CB8AC3E}">
        <p14:creationId xmlns:p14="http://schemas.microsoft.com/office/powerpoint/2010/main" val="31128037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B579F4-FB71-CB84-349D-670C2D29F6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156;p7">
            <a:extLst>
              <a:ext uri="{FF2B5EF4-FFF2-40B4-BE49-F238E27FC236}">
                <a16:creationId xmlns:a16="http://schemas.microsoft.com/office/drawing/2014/main" id="{5303208C-F2F3-3716-B706-B8EDA63E9750}"/>
              </a:ext>
            </a:extLst>
          </p:cNvPr>
          <p:cNvSpPr txBox="1"/>
          <p:nvPr/>
        </p:nvSpPr>
        <p:spPr>
          <a:xfrm>
            <a:off x="547200" y="138118"/>
            <a:ext cx="6514857" cy="338554"/>
          </a:xfrm>
          <a:prstGeom prst="rect">
            <a:avLst/>
          </a:prstGeom>
          <a:noFill/>
          <a:ln w="19050"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600"/>
              <a:buFont typeface="Arial"/>
              <a:buNone/>
            </a:pPr>
            <a:r>
              <a:rPr lang="en-US" altLang="ja-JP" sz="1600" b="1" dirty="0">
                <a:solidFill>
                  <a:srgbClr val="002060"/>
                </a:solidFill>
                <a:latin typeface="Meiryo"/>
                <a:ea typeface="Meiryo"/>
                <a:cs typeface="Meiryo"/>
                <a:sym typeface="Meiryo"/>
              </a:rPr>
              <a:t>［第1章］検討背景｜応募は「決断」ではなく「とりあえず」</a:t>
            </a:r>
            <a:endParaRPr sz="1600" b="1" dirty="0">
              <a:solidFill>
                <a:srgbClr val="002060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309600" y="686383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派遣・バイトの応募は数日で決まり、数か月でまた探し始めます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それなのに応募が終わると接点が切れ、次はまた広告で買い直しています</a:t>
            </a:r>
            <a:r>
              <a:rPr sz="1400" b="1" dirty="0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32000" y="1512000"/>
            <a:ext cx="4392000" cy="3168000"/>
          </a:xfrm>
          <a:prstGeom prst="rect">
            <a:avLst/>
          </a:prstGeom>
          <a:solidFill>
            <a:srgbClr val="FDF2F2"/>
          </a:solidFill>
          <a:ln w="15875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432000" y="1512000"/>
            <a:ext cx="4392000" cy="342000"/>
          </a:xfrm>
          <a:prstGeom prst="rect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32000" y="1512000"/>
            <a:ext cx="4392000" cy="342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いま起きていること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76000" y="1962000"/>
            <a:ext cx="4104000" cy="221745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・応募は取れている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・同じ日に何社も並べて応募している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・連絡がつかず、面接に来ない人がいる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・契約満了や閑散期に、また探し始める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</a:t>
            </a:r>
            <a:r>
              <a:rPr sz="14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次の仕事探しも、また広告</a:t>
            </a:r>
            <a:r>
              <a:rPr lang="ja-JP" altLang="en-US"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・検索</a:t>
            </a:r>
            <a:r>
              <a:rPr sz="14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から始まる</a:t>
            </a:r>
            <a:endParaRPr sz="1400" b="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5083200" y="1512000"/>
            <a:ext cx="4392000" cy="3168000"/>
          </a:xfrm>
          <a:prstGeom prst="rect">
            <a:avLst/>
          </a:prstGeom>
          <a:solidFill>
            <a:srgbClr val="EEF2F9"/>
          </a:solidFill>
          <a:ln w="15875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5083200" y="1512000"/>
            <a:ext cx="4392000" cy="342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5083200" y="1512000"/>
            <a:ext cx="4392000" cy="342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LINEに置き換えると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227200" y="1962000"/>
            <a:ext cx="4104000" cy="221745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・希望条件に合う新着だけが届く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・当日中に約8割が開封される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</a:t>
            </a:r>
            <a:r>
              <a:rPr sz="14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選択式なら移動中でも答えられる</a:t>
            </a:r>
            <a:endParaRPr sz="1400" b="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・面接・職場見学の前日にリマインドできる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・契約満了の前に、こちらから声をかけられる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32000" y="4878000"/>
            <a:ext cx="9043200" cy="684000"/>
          </a:xfrm>
          <a:prstGeom prst="rect">
            <a:avLst/>
          </a:prstGeom>
          <a:solidFill>
            <a:srgbClr val="FDF1E9"/>
          </a:solidFill>
          <a:ln w="15875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76000" y="4959583"/>
            <a:ext cx="8755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★ 新しい応募を増やす提案ではありません。</a:t>
            </a:r>
          </a:p>
          <a:p>
            <a:pPr algn="l">
              <a:lnSpc>
                <a:spcPct val="120000"/>
              </a:lnSpc>
            </a:pPr>
            <a:r>
              <a:rPr sz="1400" b="1" dirty="0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　 一度来た人が、次の仕事探しで戻ってくる仕組みをつくる提案です。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32000" y="5670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432000" y="5710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応募のたびに、ゼロから買い直している</a:t>
            </a:r>
            <a:endParaRPr sz="16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出典｜開封率はLINEヤフー公式値</a:t>
            </a:r>
          </a:p>
        </p:txBody>
      </p:sp>
    </p:spTree>
    <p:extLst>
      <p:ext uri="{BB962C8B-B14F-4D97-AF65-F5344CB8AC3E}">
        <p14:creationId xmlns:p14="http://schemas.microsoft.com/office/powerpoint/2010/main" val="993846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44384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dirty="0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［第1章］派遣・バイト求人のWebマーケ構造｜3つの壁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応募の単価は下げられない。求人の量と質も変えられない。</a:t>
            </a:r>
          </a:p>
          <a:p>
            <a:pPr algn="l">
              <a:lnSpc>
                <a:spcPct val="120000"/>
              </a:lnSpc>
            </a:pPr>
            <a:r>
              <a:rPr sz="1400" b="1" dirty="0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触れるのは、応募したあとと、次に探すときの2か所。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3016800" cy="237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" name="Rectangle 4"/>
          <p:cNvSpPr/>
          <p:nvPr/>
        </p:nvSpPr>
        <p:spPr>
          <a:xfrm>
            <a:off x="432000" y="1548000"/>
            <a:ext cx="3016800" cy="331200"/>
          </a:xfrm>
          <a:prstGeom prst="rect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" name="TextBox 5"/>
          <p:cNvSpPr txBox="1"/>
          <p:nvPr/>
        </p:nvSpPr>
        <p:spPr>
          <a:xfrm>
            <a:off x="432000" y="1582449"/>
            <a:ext cx="30168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応募単価の高騰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0000" y="1951200"/>
            <a:ext cx="1152000" cy="223200"/>
          </a:xfrm>
          <a:prstGeom prst="roundRect">
            <a:avLst>
              <a:gd name="adj" fmla="val 10000"/>
            </a:avLst>
          </a:prstGeom>
          <a:solidFill>
            <a:srgbClr val="FDF2F2"/>
          </a:solidFill>
          <a:ln w="9525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8" name="TextBox 7"/>
          <p:cNvSpPr txBox="1"/>
          <p:nvPr/>
        </p:nvSpPr>
        <p:spPr>
          <a:xfrm>
            <a:off x="540000" y="1949347"/>
            <a:ext cx="1152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触れない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0000" y="2268000"/>
            <a:ext cx="2800800" cy="822454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・求人広告の単価は市況で決まる</a:t>
            </a:r>
          </a:p>
          <a:p>
            <a:pPr algn="l">
              <a:lnSpc>
                <a:spcPct val="150000"/>
              </a:lnSpc>
            </a:pPr>
            <a:r>
              <a:rPr sz="12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・求人の仕入れには手を入れない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17200" y="1548000"/>
            <a:ext cx="3016800" cy="237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1" name="Rectangle 10"/>
          <p:cNvSpPr/>
          <p:nvPr/>
        </p:nvSpPr>
        <p:spPr>
          <a:xfrm>
            <a:off x="3517200" y="1548000"/>
            <a:ext cx="3016800" cy="33120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2" name="TextBox 11"/>
          <p:cNvSpPr txBox="1"/>
          <p:nvPr/>
        </p:nvSpPr>
        <p:spPr>
          <a:xfrm>
            <a:off x="3517200" y="1582449"/>
            <a:ext cx="30168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応募後の音信不通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25200" y="1951200"/>
            <a:ext cx="1152000" cy="223200"/>
          </a:xfrm>
          <a:prstGeom prst="roundRect">
            <a:avLst>
              <a:gd name="adj" fmla="val 10000"/>
            </a:avLst>
          </a:prstGeom>
          <a:solidFill>
            <a:srgbClr val="FDF1E9"/>
          </a:solidFill>
          <a:ln w="9525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4" name="TextBox 13"/>
          <p:cNvSpPr txBox="1"/>
          <p:nvPr/>
        </p:nvSpPr>
        <p:spPr>
          <a:xfrm>
            <a:off x="3625200" y="1949347"/>
            <a:ext cx="1152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触れる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5200" y="2268000"/>
            <a:ext cx="2800800" cy="822454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・同じ日に何社も並べて応募している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・電話がつながらず、面接に来ない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・職場見学の前に、不安で止まる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02400" y="1548000"/>
            <a:ext cx="3016800" cy="23760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7" name="Rectangle 16"/>
          <p:cNvSpPr/>
          <p:nvPr/>
        </p:nvSpPr>
        <p:spPr>
          <a:xfrm>
            <a:off x="6602400" y="1548000"/>
            <a:ext cx="3016800" cy="3312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8" name="TextBox 17"/>
          <p:cNvSpPr txBox="1"/>
          <p:nvPr/>
        </p:nvSpPr>
        <p:spPr>
          <a:xfrm>
            <a:off x="6602400" y="1582449"/>
            <a:ext cx="30168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流入の使い捨て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10400" y="1951200"/>
            <a:ext cx="1152000" cy="2232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9525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0" name="TextBox 19"/>
          <p:cNvSpPr txBox="1"/>
          <p:nvPr/>
        </p:nvSpPr>
        <p:spPr>
          <a:xfrm>
            <a:off x="6710400" y="1949347"/>
            <a:ext cx="1152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★ここが本丸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10400" y="2268000"/>
            <a:ext cx="2800800" cy="822454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・契約満了・閑散期にまた探し始める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・そのとき、接点が残っていない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・次の応募も広告から買い直す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2000" y="4104000"/>
            <a:ext cx="9043200" cy="859387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②③を潰すと、広告費は据え置きのまま、同じ人が繰り返し応募し、就業・再就業につながる機会が増える。</a:t>
            </a:r>
          </a:p>
          <a:p>
            <a:pPr algn="l">
              <a:lnSpc>
                <a:spcPct val="160000"/>
              </a:lnSpc>
            </a:pPr>
            <a:r>
              <a:rPr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応募CPAの改善は、就業率が今と変わらないことを前提にした試算です。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2000" y="5598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32000" y="5598000"/>
            <a:ext cx="9043200" cy="378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触れるのは「応募したあと」と「次に探すとき」だけ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応募→面接実施率・リピート応募率は公開データが存在せず、貴社の実測が必要です／LINEは当日中に約8割が開封される（LINEヤフー公式値）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32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dirty="0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［第1章］Webマーケで「できること」と「できないこと」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3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先に線を引きます。変えられないことを明らかにしたうえで、変えられる場所に絞ります。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4392000" cy="3384000"/>
          </a:xfrm>
          <a:prstGeom prst="rect">
            <a:avLst/>
          </a:prstGeom>
          <a:solidFill>
            <a:srgbClr val="FDF2F2"/>
          </a:solidFill>
          <a:ln w="15875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" name="Rectangle 4"/>
          <p:cNvSpPr/>
          <p:nvPr/>
        </p:nvSpPr>
        <p:spPr>
          <a:xfrm>
            <a:off x="432000" y="1548000"/>
            <a:ext cx="4392000" cy="342000"/>
          </a:xfrm>
          <a:prstGeom prst="rect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" name="TextBox 5"/>
          <p:cNvSpPr txBox="1"/>
          <p:nvPr/>
        </p:nvSpPr>
        <p:spPr>
          <a:xfrm>
            <a:off x="432000" y="1570152"/>
            <a:ext cx="43920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できないこと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998000"/>
            <a:ext cx="4104000" cy="184581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22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・求人の質と量（仕入れ）</a:t>
            </a:r>
          </a:p>
          <a:p>
            <a:pPr algn="l">
              <a:lnSpc>
                <a:spcPct val="22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・時給・給与などの条件</a:t>
            </a:r>
          </a:p>
          <a:p>
            <a:pPr algn="l">
              <a:lnSpc>
                <a:spcPct val="22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・求人広告の単価</a:t>
            </a:r>
          </a:p>
          <a:p>
            <a:pPr algn="l">
              <a:lnSpc>
                <a:spcPct val="22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・雇用情勢そのものの動き</a:t>
            </a:r>
          </a:p>
        </p:txBody>
      </p:sp>
      <p:sp>
        <p:nvSpPr>
          <p:cNvPr id="8" name="Rectangle 7"/>
          <p:cNvSpPr/>
          <p:nvPr/>
        </p:nvSpPr>
        <p:spPr>
          <a:xfrm>
            <a:off x="5083200" y="1548000"/>
            <a:ext cx="4392000" cy="3384000"/>
          </a:xfrm>
          <a:prstGeom prst="rect">
            <a:avLst/>
          </a:prstGeom>
          <a:solidFill>
            <a:srgbClr val="EEF2F9"/>
          </a:solidFill>
          <a:ln w="15875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9" name="Rectangle 8"/>
          <p:cNvSpPr/>
          <p:nvPr/>
        </p:nvSpPr>
        <p:spPr>
          <a:xfrm>
            <a:off x="5083200" y="1548000"/>
            <a:ext cx="4392000" cy="342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0" name="TextBox 9"/>
          <p:cNvSpPr txBox="1"/>
          <p:nvPr/>
        </p:nvSpPr>
        <p:spPr>
          <a:xfrm>
            <a:off x="5083200" y="1570152"/>
            <a:ext cx="43920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できること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27200" y="1998000"/>
            <a:ext cx="4104000" cy="2319787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22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・応募した直後に、希望条件だけを聞く（5問）</a:t>
            </a:r>
          </a:p>
          <a:p>
            <a:pPr algn="l">
              <a:lnSpc>
                <a:spcPct val="22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・条件に合う新着だけを届ける</a:t>
            </a:r>
          </a:p>
          <a:p>
            <a:pPr algn="l">
              <a:lnSpc>
                <a:spcPct val="22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・面接・職場見学の前日にリマインドする</a:t>
            </a:r>
          </a:p>
          <a:p>
            <a:pPr algn="l">
              <a:lnSpc>
                <a:spcPct val="22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・契約満了の前に、次の仕事を案内する</a:t>
            </a:r>
          </a:p>
          <a:p>
            <a:pPr algn="l">
              <a:lnSpc>
                <a:spcPct val="22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・閑散期に友だちを貯め、繁忙期の応募につなぐ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2000" y="5148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3" name="TextBox 12"/>
          <p:cNvSpPr txBox="1"/>
          <p:nvPr/>
        </p:nvSpPr>
        <p:spPr>
          <a:xfrm>
            <a:off x="432000" y="5170455"/>
            <a:ext cx="9043200" cy="333089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求人と条件は変えられない。変えられるのは、戻ってきてもらう仕組みだけ</a:t>
            </a:r>
            <a:endParaRPr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92180-D336-F255-C39D-17584774E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C912E4CC-70AD-5529-2A5A-4FA0D1C97A2B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［第2章］全体設計｜カスタマージャーニー8フェーズ</a:t>
            </a:r>
          </a:p>
        </p:txBody>
      </p:sp>
      <p:sp>
        <p:nvSpPr>
          <p:cNvPr id="3" name="Google Shape;752;p28">
            <a:extLst>
              <a:ext uri="{FF2B5EF4-FFF2-40B4-BE49-F238E27FC236}">
                <a16:creationId xmlns:a16="http://schemas.microsoft.com/office/drawing/2014/main" id="{AF6C2475-3BD5-7DF2-52BD-C0F30E8072CF}"/>
              </a:ext>
            </a:extLst>
          </p:cNvPr>
          <p:cNvSpPr txBox="1"/>
          <p:nvPr/>
        </p:nvSpPr>
        <p:spPr>
          <a:xfrm>
            <a:off x="1988819" y="687600"/>
            <a:ext cx="7774305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働きたい人のカスタマージャーニーにあわせて、LINEの施策を配置します。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山は④応募ではなく⑧契約満了からの再応募。ここが本提案の主戦場です。</a:t>
            </a:r>
          </a:p>
        </p:txBody>
      </p:sp>
      <p:cxnSp>
        <p:nvCxnSpPr>
          <p:cNvPr id="2" name="直線コネクタ 1">
            <a:extLst>
              <a:ext uri="{FF2B5EF4-FFF2-40B4-BE49-F238E27FC236}">
                <a16:creationId xmlns:a16="http://schemas.microsoft.com/office/drawing/2014/main" id="{8D0721AE-E7E5-698E-E773-F2614C0DBB07}"/>
              </a:ext>
            </a:extLst>
          </p:cNvPr>
          <p:cNvCxnSpPr>
            <a:cxnSpLocks/>
          </p:cNvCxnSpPr>
          <p:nvPr/>
        </p:nvCxnSpPr>
        <p:spPr>
          <a:xfrm>
            <a:off x="315939" y="2178817"/>
            <a:ext cx="0" cy="2882641"/>
          </a:xfrm>
          <a:prstGeom prst="line">
            <a:avLst/>
          </a:prstGeom>
          <a:ln w="6350">
            <a:solidFill>
              <a:srgbClr val="FFC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3BFFC88E-A589-D631-D366-94F280EFF67D}"/>
              </a:ext>
            </a:extLst>
          </p:cNvPr>
          <p:cNvCxnSpPr>
            <a:cxnSpLocks/>
          </p:cNvCxnSpPr>
          <p:nvPr/>
        </p:nvCxnSpPr>
        <p:spPr>
          <a:xfrm>
            <a:off x="1265077" y="2190680"/>
            <a:ext cx="0" cy="2882641"/>
          </a:xfrm>
          <a:prstGeom prst="line">
            <a:avLst/>
          </a:prstGeom>
          <a:ln w="6350">
            <a:solidFill>
              <a:srgbClr val="FFC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D90E23BB-3076-5B7D-82F3-8433A2B09D1F}"/>
              </a:ext>
            </a:extLst>
          </p:cNvPr>
          <p:cNvCxnSpPr>
            <a:cxnSpLocks/>
          </p:cNvCxnSpPr>
          <p:nvPr/>
        </p:nvCxnSpPr>
        <p:spPr>
          <a:xfrm>
            <a:off x="2202413" y="2188038"/>
            <a:ext cx="0" cy="2882641"/>
          </a:xfrm>
          <a:prstGeom prst="line">
            <a:avLst/>
          </a:prstGeom>
          <a:ln w="6350">
            <a:solidFill>
              <a:srgbClr val="FFC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3A68BF14-4E95-B76C-1300-FF13B29BADF0}"/>
              </a:ext>
            </a:extLst>
          </p:cNvPr>
          <p:cNvCxnSpPr>
            <a:cxnSpLocks/>
          </p:cNvCxnSpPr>
          <p:nvPr/>
        </p:nvCxnSpPr>
        <p:spPr>
          <a:xfrm>
            <a:off x="3136468" y="2207356"/>
            <a:ext cx="0" cy="2882641"/>
          </a:xfrm>
          <a:prstGeom prst="line">
            <a:avLst/>
          </a:prstGeom>
          <a:ln w="6350">
            <a:solidFill>
              <a:srgbClr val="FFC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6558815C-4A36-8DFA-3258-ADAC642B44B6}"/>
              </a:ext>
            </a:extLst>
          </p:cNvPr>
          <p:cNvCxnSpPr>
            <a:cxnSpLocks/>
          </p:cNvCxnSpPr>
          <p:nvPr/>
        </p:nvCxnSpPr>
        <p:spPr>
          <a:xfrm>
            <a:off x="3541980" y="2217939"/>
            <a:ext cx="0" cy="4305308"/>
          </a:xfrm>
          <a:prstGeom prst="line">
            <a:avLst/>
          </a:prstGeom>
          <a:ln w="6350">
            <a:solidFill>
              <a:srgbClr val="2080FF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9B24DBF0-6A3A-0783-C6E3-74B28D837D9E}"/>
              </a:ext>
            </a:extLst>
          </p:cNvPr>
          <p:cNvCxnSpPr>
            <a:cxnSpLocks/>
          </p:cNvCxnSpPr>
          <p:nvPr/>
        </p:nvCxnSpPr>
        <p:spPr>
          <a:xfrm>
            <a:off x="4833781" y="2229802"/>
            <a:ext cx="0" cy="4305308"/>
          </a:xfrm>
          <a:prstGeom prst="line">
            <a:avLst/>
          </a:prstGeom>
          <a:ln w="6350">
            <a:solidFill>
              <a:srgbClr val="2080FF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D9F92929-7F37-647E-2D3E-0EB84FFB20D1}"/>
              </a:ext>
            </a:extLst>
          </p:cNvPr>
          <p:cNvCxnSpPr>
            <a:cxnSpLocks/>
          </p:cNvCxnSpPr>
          <p:nvPr/>
        </p:nvCxnSpPr>
        <p:spPr>
          <a:xfrm>
            <a:off x="6125582" y="2227160"/>
            <a:ext cx="0" cy="4305308"/>
          </a:xfrm>
          <a:prstGeom prst="line">
            <a:avLst/>
          </a:prstGeom>
          <a:ln w="6350">
            <a:solidFill>
              <a:srgbClr val="2080FF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A53FD7B1-4120-4E04-0DDF-B4B54EDB9BFD}"/>
              </a:ext>
            </a:extLst>
          </p:cNvPr>
          <p:cNvCxnSpPr>
            <a:cxnSpLocks/>
          </p:cNvCxnSpPr>
          <p:nvPr/>
        </p:nvCxnSpPr>
        <p:spPr>
          <a:xfrm>
            <a:off x="7417384" y="2217938"/>
            <a:ext cx="0" cy="4305308"/>
          </a:xfrm>
          <a:prstGeom prst="line">
            <a:avLst/>
          </a:prstGeom>
          <a:ln w="6350">
            <a:solidFill>
              <a:srgbClr val="2080FF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ABDE72C7-C765-8BB2-E494-8277E0D528BC}"/>
              </a:ext>
            </a:extLst>
          </p:cNvPr>
          <p:cNvSpPr txBox="1"/>
          <p:nvPr/>
        </p:nvSpPr>
        <p:spPr>
          <a:xfrm>
            <a:off x="3542139" y="2124167"/>
            <a:ext cx="2352196" cy="261610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⑤ 面接・職場見学</a:t>
            </a:r>
            <a:endParaRPr lang="ja-JP" altLang="ja-JP" sz="11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96BDDC66-06A4-F147-F6D6-595BB801B1D3}"/>
              </a:ext>
            </a:extLst>
          </p:cNvPr>
          <p:cNvSpPr txBox="1"/>
          <p:nvPr/>
        </p:nvSpPr>
        <p:spPr>
          <a:xfrm>
            <a:off x="6119413" y="2533325"/>
            <a:ext cx="2352196" cy="261610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⑦ 就業中</a:t>
            </a:r>
            <a:endParaRPr lang="ja-JP" altLang="ja-JP" sz="11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375707FE-6207-A0AF-61A0-E9AABECDAC37}"/>
              </a:ext>
            </a:extLst>
          </p:cNvPr>
          <p:cNvSpPr txBox="1"/>
          <p:nvPr/>
        </p:nvSpPr>
        <p:spPr>
          <a:xfrm>
            <a:off x="4830776" y="2328746"/>
            <a:ext cx="2352196" cy="261610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⑥ 採用・就業開始</a:t>
            </a:r>
            <a:endParaRPr lang="ja-JP" altLang="ja-JP" sz="11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49AFAACD-69A5-DAB7-2AB7-5204509E5CCB}"/>
              </a:ext>
            </a:extLst>
          </p:cNvPr>
          <p:cNvSpPr txBox="1"/>
          <p:nvPr/>
        </p:nvSpPr>
        <p:spPr>
          <a:xfrm>
            <a:off x="7408050" y="2737904"/>
            <a:ext cx="2352196" cy="415498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⑧ 契約満了・次の仕事</a:t>
            </a:r>
            <a:endParaRPr lang="en-US" altLang="ja-JP" sz="12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>
              <a:buNone/>
            </a:pPr>
            <a:endParaRPr lang="ja-JP" altLang="ja-JP" sz="9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8B260C5F-25D5-8ED9-9E9C-2E4B97F7FE0C}"/>
              </a:ext>
            </a:extLst>
          </p:cNvPr>
          <p:cNvSpPr txBox="1"/>
          <p:nvPr/>
        </p:nvSpPr>
        <p:spPr>
          <a:xfrm>
            <a:off x="334303" y="2130251"/>
            <a:ext cx="1868111" cy="276999"/>
          </a:xfrm>
          <a:prstGeom prst="rect">
            <a:avLst/>
          </a:prstGeom>
          <a:solidFill>
            <a:schemeClr val="accent6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2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① 仕事を探し始める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D76A6924-9615-4D2D-207A-2C463DAF53AF}"/>
              </a:ext>
            </a:extLst>
          </p:cNvPr>
          <p:cNvSpPr txBox="1"/>
          <p:nvPr/>
        </p:nvSpPr>
        <p:spPr>
          <a:xfrm>
            <a:off x="1268358" y="2340913"/>
            <a:ext cx="1868111" cy="261610"/>
          </a:xfrm>
          <a:prstGeom prst="rect">
            <a:avLst/>
          </a:prstGeom>
          <a:solidFill>
            <a:schemeClr val="accent6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② 求人を比べる</a:t>
            </a: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8C64E429-AF18-081D-2A8E-EDCE056C0C0B}"/>
              </a:ext>
            </a:extLst>
          </p:cNvPr>
          <p:cNvSpPr txBox="1"/>
          <p:nvPr/>
        </p:nvSpPr>
        <p:spPr>
          <a:xfrm>
            <a:off x="2202413" y="2535023"/>
            <a:ext cx="1868111" cy="261610"/>
          </a:xfrm>
          <a:prstGeom prst="rect">
            <a:avLst/>
          </a:prstGeom>
          <a:solidFill>
            <a:schemeClr val="accent6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③ 応募先を選ぶ</a:t>
            </a: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7B99F819-3A4C-8D01-87D3-59398A0C3663}"/>
              </a:ext>
            </a:extLst>
          </p:cNvPr>
          <p:cNvSpPr txBox="1"/>
          <p:nvPr/>
        </p:nvSpPr>
        <p:spPr>
          <a:xfrm>
            <a:off x="3136468" y="2731376"/>
            <a:ext cx="1868111" cy="261610"/>
          </a:xfrm>
          <a:prstGeom prst="rect">
            <a:avLst/>
          </a:prstGeom>
          <a:solidFill>
            <a:schemeClr val="accent6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④ 応募・友だち追加</a:t>
            </a:r>
            <a:endParaRPr lang="ja-JP" altLang="ja-JP" sz="11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22" name="コネクタ: カギ線 21">
            <a:extLst>
              <a:ext uri="{FF2B5EF4-FFF2-40B4-BE49-F238E27FC236}">
                <a16:creationId xmlns:a16="http://schemas.microsoft.com/office/drawing/2014/main" id="{89810CF4-19DD-8F80-464F-FE8E1D250689}"/>
              </a:ext>
            </a:extLst>
          </p:cNvPr>
          <p:cNvCxnSpPr>
            <a:cxnSpLocks/>
            <a:stCxn id="21" idx="0"/>
            <a:endCxn id="14" idx="2"/>
          </p:cNvCxnSpPr>
          <p:nvPr/>
        </p:nvCxnSpPr>
        <p:spPr>
          <a:xfrm rot="5400000" flipH="1" flipV="1">
            <a:off x="4221581" y="2234721"/>
            <a:ext cx="345599" cy="647713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3F2ACC73-0643-27D8-F1B3-1B871FCEF141}"/>
              </a:ext>
            </a:extLst>
          </p:cNvPr>
          <p:cNvCxnSpPr>
            <a:cxnSpLocks/>
          </p:cNvCxnSpPr>
          <p:nvPr/>
        </p:nvCxnSpPr>
        <p:spPr>
          <a:xfrm>
            <a:off x="334303" y="3515795"/>
            <a:ext cx="3207836" cy="0"/>
          </a:xfrm>
          <a:prstGeom prst="straightConnector1">
            <a:avLst/>
          </a:prstGeom>
          <a:ln w="28575">
            <a:solidFill>
              <a:srgbClr val="04FA0A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69C05BA8-18F6-F344-3C54-A5E03AFE2368}"/>
              </a:ext>
            </a:extLst>
          </p:cNvPr>
          <p:cNvCxnSpPr>
            <a:cxnSpLocks/>
          </p:cNvCxnSpPr>
          <p:nvPr/>
        </p:nvCxnSpPr>
        <p:spPr>
          <a:xfrm>
            <a:off x="3122098" y="4928015"/>
            <a:ext cx="6619128" cy="0"/>
          </a:xfrm>
          <a:prstGeom prst="straightConnector1">
            <a:avLst/>
          </a:prstGeom>
          <a:ln w="28575">
            <a:solidFill>
              <a:schemeClr val="tx1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E77786FC-857A-BA29-36E6-9A41C2E99F31}"/>
              </a:ext>
            </a:extLst>
          </p:cNvPr>
          <p:cNvSpPr txBox="1"/>
          <p:nvPr/>
        </p:nvSpPr>
        <p:spPr>
          <a:xfrm>
            <a:off x="1268358" y="3383509"/>
            <a:ext cx="1581214" cy="26161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WEB</a:t>
            </a: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→</a:t>
            </a:r>
            <a:r>
              <a:rPr lang="en-US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LINEOA</a:t>
            </a: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領域</a:t>
            </a:r>
            <a:endParaRPr lang="ja-JP" altLang="en-US" sz="1100" dirty="0"/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5B6D9466-EC9E-4057-AB18-8974D147F3E8}"/>
              </a:ext>
            </a:extLst>
          </p:cNvPr>
          <p:cNvSpPr txBox="1"/>
          <p:nvPr/>
        </p:nvSpPr>
        <p:spPr>
          <a:xfrm>
            <a:off x="5558554" y="4804166"/>
            <a:ext cx="1581214" cy="26161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ja-JP" sz="105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LINEOA</a:t>
            </a:r>
            <a:r>
              <a:rPr lang="ja-JP" altLang="en-US" sz="105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➙</a:t>
            </a:r>
            <a:r>
              <a:rPr lang="en-US" altLang="ja-JP" sz="105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WEB</a:t>
            </a:r>
            <a:r>
              <a:rPr lang="ja-JP" altLang="en-US" sz="105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領域</a:t>
            </a:r>
            <a:endParaRPr lang="ja-JP" altLang="en-US" sz="1050" dirty="0"/>
          </a:p>
        </p:txBody>
      </p: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C2DCC080-98CE-945F-96A2-C42DE7E0C936}"/>
              </a:ext>
            </a:extLst>
          </p:cNvPr>
          <p:cNvCxnSpPr>
            <a:cxnSpLocks/>
          </p:cNvCxnSpPr>
          <p:nvPr/>
        </p:nvCxnSpPr>
        <p:spPr>
          <a:xfrm>
            <a:off x="3609975" y="3504789"/>
            <a:ext cx="2482432" cy="0"/>
          </a:xfrm>
          <a:prstGeom prst="straightConnector1">
            <a:avLst/>
          </a:prstGeom>
          <a:ln w="28575">
            <a:solidFill>
              <a:srgbClr val="04FA0A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EA293A6D-CB27-A495-B2B6-10D3182B0B70}"/>
              </a:ext>
            </a:extLst>
          </p:cNvPr>
          <p:cNvSpPr txBox="1"/>
          <p:nvPr/>
        </p:nvSpPr>
        <p:spPr>
          <a:xfrm>
            <a:off x="3908480" y="3397243"/>
            <a:ext cx="1913269" cy="276999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既存接点→LINEOA領域</a:t>
            </a:r>
            <a:endParaRPr lang="ja-JP" altLang="en-US" sz="1200" dirty="0"/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2AFCBDA6-2140-B4C1-A45D-7A34BC218997}"/>
              </a:ext>
            </a:extLst>
          </p:cNvPr>
          <p:cNvSpPr/>
          <p:nvPr/>
        </p:nvSpPr>
        <p:spPr>
          <a:xfrm>
            <a:off x="334303" y="1552575"/>
            <a:ext cx="9425943" cy="44850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30" name="直線矢印コネクタ 29">
            <a:extLst>
              <a:ext uri="{FF2B5EF4-FFF2-40B4-BE49-F238E27FC236}">
                <a16:creationId xmlns:a16="http://schemas.microsoft.com/office/drawing/2014/main" id="{852097C2-692E-64D7-A5ED-5C35A2EFC975}"/>
              </a:ext>
            </a:extLst>
          </p:cNvPr>
          <p:cNvCxnSpPr>
            <a:cxnSpLocks/>
          </p:cNvCxnSpPr>
          <p:nvPr/>
        </p:nvCxnSpPr>
        <p:spPr>
          <a:xfrm>
            <a:off x="417642" y="1782459"/>
            <a:ext cx="9240215" cy="0"/>
          </a:xfrm>
          <a:prstGeom prst="straightConnector1">
            <a:avLst/>
          </a:prstGeom>
          <a:ln w="28575">
            <a:solidFill>
              <a:schemeClr val="tx1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9F2742C3-41F6-3CC5-6355-EC9495CFE608}"/>
              </a:ext>
            </a:extLst>
          </p:cNvPr>
          <p:cNvSpPr txBox="1"/>
          <p:nvPr/>
        </p:nvSpPr>
        <p:spPr>
          <a:xfrm>
            <a:off x="4066503" y="1654589"/>
            <a:ext cx="2315056" cy="27699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カスタマージャーニーマップ</a:t>
            </a:r>
            <a:endParaRPr lang="ja-JP" altLang="en-US" sz="1200" dirty="0"/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BF6CFDE9-CDE8-1133-47F9-90F22773AF32}"/>
              </a:ext>
            </a:extLst>
          </p:cNvPr>
          <p:cNvSpPr/>
          <p:nvPr/>
        </p:nvSpPr>
        <p:spPr>
          <a:xfrm>
            <a:off x="315939" y="3613966"/>
            <a:ext cx="5776468" cy="24255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どう</a:t>
            </a:r>
            <a:r>
              <a:rPr kumimoji="1"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友だち追加させるか？</a:t>
            </a:r>
            <a:r>
              <a:rPr kumimoji="1" lang="ja-JP" altLang="en-US" sz="1000" dirty="0">
                <a:solidFill>
                  <a:srgbClr val="FFFF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（</a:t>
            </a:r>
            <a:r>
              <a:rPr kumimoji="1" lang="en-US" altLang="ja-JP" sz="1000" dirty="0">
                <a:solidFill>
                  <a:srgbClr val="FFFF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WEB</a:t>
            </a:r>
            <a:r>
              <a:rPr kumimoji="1" lang="ja-JP" altLang="en-US" sz="1000" dirty="0">
                <a:solidFill>
                  <a:srgbClr val="FFFF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→</a:t>
            </a:r>
            <a:r>
              <a:rPr kumimoji="1" lang="en-US" altLang="ja-JP" sz="1000" dirty="0">
                <a:solidFill>
                  <a:srgbClr val="FFFF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kumimoji="1" lang="ja-JP" altLang="en-US" sz="1000" dirty="0">
                <a:solidFill>
                  <a:srgbClr val="FFFF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）</a:t>
            </a:r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39DCB4B6-9411-CC10-0D34-9F40EC11AD82}"/>
              </a:ext>
            </a:extLst>
          </p:cNvPr>
          <p:cNvSpPr/>
          <p:nvPr/>
        </p:nvSpPr>
        <p:spPr>
          <a:xfrm>
            <a:off x="3122098" y="5051222"/>
            <a:ext cx="6619128" cy="24255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どう友だちを応募に結びつけるか？（LINE→応募）</a:t>
            </a:r>
          </a:p>
        </p:txBody>
      </p: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B94F8848-87A6-4A24-C2DE-D4A5BD2787D7}"/>
              </a:ext>
            </a:extLst>
          </p:cNvPr>
          <p:cNvCxnSpPr>
            <a:cxnSpLocks/>
          </p:cNvCxnSpPr>
          <p:nvPr/>
        </p:nvCxnSpPr>
        <p:spPr>
          <a:xfrm>
            <a:off x="484665" y="3964795"/>
            <a:ext cx="1503674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13A35DD7-3CE1-ABA2-45A4-29A5F6D013E2}"/>
              </a:ext>
            </a:extLst>
          </p:cNvPr>
          <p:cNvSpPr txBox="1"/>
          <p:nvPr/>
        </p:nvSpPr>
        <p:spPr>
          <a:xfrm>
            <a:off x="853704" y="3860734"/>
            <a:ext cx="822746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altLang="ja-JP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CPF</a:t>
            </a:r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広告</a:t>
            </a:r>
            <a:endParaRPr lang="ja-JP" altLang="en-US" sz="1200" b="1" dirty="0"/>
          </a:p>
        </p:txBody>
      </p:sp>
      <p:cxnSp>
        <p:nvCxnSpPr>
          <p:cNvPr id="37" name="直線矢印コネクタ 36">
            <a:extLst>
              <a:ext uri="{FF2B5EF4-FFF2-40B4-BE49-F238E27FC236}">
                <a16:creationId xmlns:a16="http://schemas.microsoft.com/office/drawing/2014/main" id="{4DD36FC2-6468-F5B5-EFB8-BBFB2CF7F452}"/>
              </a:ext>
            </a:extLst>
          </p:cNvPr>
          <p:cNvCxnSpPr>
            <a:cxnSpLocks/>
          </p:cNvCxnSpPr>
          <p:nvPr/>
        </p:nvCxnSpPr>
        <p:spPr>
          <a:xfrm>
            <a:off x="3442595" y="4332466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52205788-B1CC-5FF9-ED78-B6DD32267E17}"/>
              </a:ext>
            </a:extLst>
          </p:cNvPr>
          <p:cNvSpPr txBox="1"/>
          <p:nvPr/>
        </p:nvSpPr>
        <p:spPr>
          <a:xfrm>
            <a:off x="3811634" y="4198682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通知メッセージ</a:t>
            </a:r>
            <a:endParaRPr lang="ja-JP" altLang="en-US" sz="1000" b="1" dirty="0"/>
          </a:p>
        </p:txBody>
      </p:sp>
      <p:cxnSp>
        <p:nvCxnSpPr>
          <p:cNvPr id="39" name="直線矢印コネクタ 38">
            <a:extLst>
              <a:ext uri="{FF2B5EF4-FFF2-40B4-BE49-F238E27FC236}">
                <a16:creationId xmlns:a16="http://schemas.microsoft.com/office/drawing/2014/main" id="{923E43E2-8157-8C38-4A7C-C186793E6650}"/>
              </a:ext>
            </a:extLst>
          </p:cNvPr>
          <p:cNvCxnSpPr>
            <a:cxnSpLocks/>
          </p:cNvCxnSpPr>
          <p:nvPr/>
        </p:nvCxnSpPr>
        <p:spPr>
          <a:xfrm>
            <a:off x="3442595" y="4585699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9B46B511-7630-9D21-552D-BAD1DCEC8387}"/>
              </a:ext>
            </a:extLst>
          </p:cNvPr>
          <p:cNvSpPr txBox="1"/>
          <p:nvPr/>
        </p:nvSpPr>
        <p:spPr>
          <a:xfrm>
            <a:off x="3811634" y="4451915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サンクス</a:t>
            </a:r>
            <a:r>
              <a:rPr lang="en-US" altLang="ja-JP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LINE</a:t>
            </a:r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誘導</a:t>
            </a:r>
            <a:endParaRPr lang="ja-JP" altLang="en-US" sz="1000" b="1" dirty="0"/>
          </a:p>
        </p:txBody>
      </p:sp>
      <p:cxnSp>
        <p:nvCxnSpPr>
          <p:cNvPr id="41" name="直線矢印コネクタ 40">
            <a:extLst>
              <a:ext uri="{FF2B5EF4-FFF2-40B4-BE49-F238E27FC236}">
                <a16:creationId xmlns:a16="http://schemas.microsoft.com/office/drawing/2014/main" id="{64D8562C-014D-DFB4-2D01-7479448659D1}"/>
              </a:ext>
            </a:extLst>
          </p:cNvPr>
          <p:cNvCxnSpPr>
            <a:cxnSpLocks/>
          </p:cNvCxnSpPr>
          <p:nvPr/>
        </p:nvCxnSpPr>
        <p:spPr>
          <a:xfrm>
            <a:off x="1351697" y="4153168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540E1D19-5457-9319-2789-430F63EC5A42}"/>
              </a:ext>
            </a:extLst>
          </p:cNvPr>
          <p:cNvSpPr txBox="1"/>
          <p:nvPr/>
        </p:nvSpPr>
        <p:spPr>
          <a:xfrm>
            <a:off x="1720736" y="4019384"/>
            <a:ext cx="1288637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通知メッセージ</a:t>
            </a:r>
            <a:endParaRPr lang="ja-JP" altLang="en-US" sz="1200" b="1" dirty="0"/>
          </a:p>
        </p:txBody>
      </p:sp>
      <p:cxnSp>
        <p:nvCxnSpPr>
          <p:cNvPr id="43" name="直線矢印コネクタ 42">
            <a:extLst>
              <a:ext uri="{FF2B5EF4-FFF2-40B4-BE49-F238E27FC236}">
                <a16:creationId xmlns:a16="http://schemas.microsoft.com/office/drawing/2014/main" id="{490155E9-25FB-3090-382A-CA0B7F87F965}"/>
              </a:ext>
            </a:extLst>
          </p:cNvPr>
          <p:cNvCxnSpPr>
            <a:cxnSpLocks/>
          </p:cNvCxnSpPr>
          <p:nvPr/>
        </p:nvCxnSpPr>
        <p:spPr>
          <a:xfrm>
            <a:off x="1351697" y="4384313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08D35021-E114-E4DF-FF22-BF7BE0CDF4D8}"/>
              </a:ext>
            </a:extLst>
          </p:cNvPr>
          <p:cNvSpPr txBox="1"/>
          <p:nvPr/>
        </p:nvSpPr>
        <p:spPr>
          <a:xfrm>
            <a:off x="1720736" y="4250529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サイト動線の整備</a:t>
            </a:r>
          </a:p>
        </p:txBody>
      </p:sp>
      <p:cxnSp>
        <p:nvCxnSpPr>
          <p:cNvPr id="45" name="直線矢印コネクタ 44">
            <a:extLst>
              <a:ext uri="{FF2B5EF4-FFF2-40B4-BE49-F238E27FC236}">
                <a16:creationId xmlns:a16="http://schemas.microsoft.com/office/drawing/2014/main" id="{6840C346-E790-A413-26C5-79129D6F5FB7}"/>
              </a:ext>
            </a:extLst>
          </p:cNvPr>
          <p:cNvCxnSpPr>
            <a:cxnSpLocks/>
          </p:cNvCxnSpPr>
          <p:nvPr/>
        </p:nvCxnSpPr>
        <p:spPr>
          <a:xfrm>
            <a:off x="3900757" y="4022150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715CC99E-9A08-159E-0120-31020FC33D0F}"/>
              </a:ext>
            </a:extLst>
          </p:cNvPr>
          <p:cNvSpPr txBox="1"/>
          <p:nvPr/>
        </p:nvSpPr>
        <p:spPr>
          <a:xfrm>
            <a:off x="4269796" y="3888366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既存リストの活用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</p:txBody>
      </p:sp>
      <p:cxnSp>
        <p:nvCxnSpPr>
          <p:cNvPr id="47" name="直線矢印コネクタ 46">
            <a:extLst>
              <a:ext uri="{FF2B5EF4-FFF2-40B4-BE49-F238E27FC236}">
                <a16:creationId xmlns:a16="http://schemas.microsoft.com/office/drawing/2014/main" id="{C26FDFF8-ECDB-0D20-5A53-4F74EF6D93F8}"/>
              </a:ext>
            </a:extLst>
          </p:cNvPr>
          <p:cNvCxnSpPr>
            <a:cxnSpLocks/>
          </p:cNvCxnSpPr>
          <p:nvPr/>
        </p:nvCxnSpPr>
        <p:spPr>
          <a:xfrm>
            <a:off x="5494489" y="4328530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03517788-8A00-3CE9-B8A0-DC9904CB9E29}"/>
              </a:ext>
            </a:extLst>
          </p:cNvPr>
          <p:cNvSpPr txBox="1"/>
          <p:nvPr/>
        </p:nvSpPr>
        <p:spPr>
          <a:xfrm>
            <a:off x="5863528" y="4194746"/>
            <a:ext cx="1288637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通知メッセージ</a:t>
            </a:r>
            <a:endParaRPr lang="ja-JP" altLang="en-US" sz="1200" b="1" dirty="0"/>
          </a:p>
        </p:txBody>
      </p:sp>
      <p:cxnSp>
        <p:nvCxnSpPr>
          <p:cNvPr id="49" name="直線矢印コネクタ 48">
            <a:extLst>
              <a:ext uri="{FF2B5EF4-FFF2-40B4-BE49-F238E27FC236}">
                <a16:creationId xmlns:a16="http://schemas.microsoft.com/office/drawing/2014/main" id="{8A08B47D-236B-D58F-E880-0E520352BC81}"/>
              </a:ext>
            </a:extLst>
          </p:cNvPr>
          <p:cNvCxnSpPr>
            <a:cxnSpLocks/>
          </p:cNvCxnSpPr>
          <p:nvPr/>
        </p:nvCxnSpPr>
        <p:spPr>
          <a:xfrm>
            <a:off x="5494489" y="4591366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8376E216-AB77-BC34-74BE-9C14746155C3}"/>
              </a:ext>
            </a:extLst>
          </p:cNvPr>
          <p:cNvSpPr txBox="1"/>
          <p:nvPr/>
        </p:nvSpPr>
        <p:spPr>
          <a:xfrm>
            <a:off x="5863528" y="4457582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サンクス</a:t>
            </a:r>
            <a:r>
              <a:rPr lang="en-US" altLang="ja-JP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LINE</a:t>
            </a:r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誘導</a:t>
            </a:r>
            <a:endParaRPr lang="ja-JP" altLang="en-US" sz="1000" b="1" dirty="0"/>
          </a:p>
        </p:txBody>
      </p:sp>
      <p:cxnSp>
        <p:nvCxnSpPr>
          <p:cNvPr id="51" name="直線矢印コネクタ 50">
            <a:extLst>
              <a:ext uri="{FF2B5EF4-FFF2-40B4-BE49-F238E27FC236}">
                <a16:creationId xmlns:a16="http://schemas.microsoft.com/office/drawing/2014/main" id="{D6F7AD1E-A403-6C2E-4207-BA25C2D7BCC6}"/>
              </a:ext>
            </a:extLst>
          </p:cNvPr>
          <p:cNvCxnSpPr>
            <a:cxnSpLocks/>
          </p:cNvCxnSpPr>
          <p:nvPr/>
        </p:nvCxnSpPr>
        <p:spPr>
          <a:xfrm>
            <a:off x="751071" y="4630661"/>
            <a:ext cx="1503674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7D798DBD-5393-6131-8034-EC789105D05B}"/>
              </a:ext>
            </a:extLst>
          </p:cNvPr>
          <p:cNvSpPr txBox="1"/>
          <p:nvPr/>
        </p:nvSpPr>
        <p:spPr>
          <a:xfrm>
            <a:off x="983946" y="4526600"/>
            <a:ext cx="1095075" cy="230832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altLang="ja-JP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SNS/</a:t>
            </a:r>
            <a:r>
              <a:rPr lang="ja-JP" altLang="en-US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メルマガ</a:t>
            </a:r>
            <a:endParaRPr lang="ja-JP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53" name="直線矢印コネクタ 52">
            <a:extLst>
              <a:ext uri="{FF2B5EF4-FFF2-40B4-BE49-F238E27FC236}">
                <a16:creationId xmlns:a16="http://schemas.microsoft.com/office/drawing/2014/main" id="{527AED14-C910-4D3E-987F-EA62ABD18D90}"/>
              </a:ext>
            </a:extLst>
          </p:cNvPr>
          <p:cNvCxnSpPr>
            <a:cxnSpLocks/>
          </p:cNvCxnSpPr>
          <p:nvPr/>
        </p:nvCxnSpPr>
        <p:spPr>
          <a:xfrm>
            <a:off x="747965" y="4897406"/>
            <a:ext cx="1503674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テキスト ボックス 53">
            <a:extLst>
              <a:ext uri="{FF2B5EF4-FFF2-40B4-BE49-F238E27FC236}">
                <a16:creationId xmlns:a16="http://schemas.microsoft.com/office/drawing/2014/main" id="{9644DD32-D05B-DE83-7791-37895274BDE9}"/>
              </a:ext>
            </a:extLst>
          </p:cNvPr>
          <p:cNvSpPr txBox="1"/>
          <p:nvPr/>
        </p:nvSpPr>
        <p:spPr>
          <a:xfrm>
            <a:off x="969834" y="4806108"/>
            <a:ext cx="1117086" cy="230832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求人誌・店頭のQR</a:t>
            </a:r>
            <a:endParaRPr lang="ja-JP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55" name="直線矢印コネクタ 54">
            <a:extLst>
              <a:ext uri="{FF2B5EF4-FFF2-40B4-BE49-F238E27FC236}">
                <a16:creationId xmlns:a16="http://schemas.microsoft.com/office/drawing/2014/main" id="{D3D532EE-6712-DE63-E452-E8BEAA167260}"/>
              </a:ext>
            </a:extLst>
          </p:cNvPr>
          <p:cNvCxnSpPr>
            <a:cxnSpLocks/>
          </p:cNvCxnSpPr>
          <p:nvPr/>
        </p:nvCxnSpPr>
        <p:spPr>
          <a:xfrm>
            <a:off x="7259810" y="4444588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テキスト ボックス 55">
            <a:extLst>
              <a:ext uri="{FF2B5EF4-FFF2-40B4-BE49-F238E27FC236}">
                <a16:creationId xmlns:a16="http://schemas.microsoft.com/office/drawing/2014/main" id="{DCDD6E46-B8C3-8536-41F9-F39EB73CBD24}"/>
              </a:ext>
            </a:extLst>
          </p:cNvPr>
          <p:cNvSpPr txBox="1"/>
          <p:nvPr/>
        </p:nvSpPr>
        <p:spPr>
          <a:xfrm>
            <a:off x="7740673" y="4310804"/>
            <a:ext cx="1064989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altLang="ja-JP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ID</a:t>
            </a:r>
            <a:r>
              <a:rPr lang="ja-JP" altLang="en-US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・</a:t>
            </a:r>
            <a:r>
              <a:rPr lang="en-US" altLang="ja-JP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CRM</a:t>
            </a:r>
            <a:r>
              <a:rPr lang="ja-JP" altLang="en-US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連携</a:t>
            </a:r>
            <a:endParaRPr lang="ja-JP" altLang="en-US" sz="10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57" name="直線矢印コネクタ 56">
            <a:extLst>
              <a:ext uri="{FF2B5EF4-FFF2-40B4-BE49-F238E27FC236}">
                <a16:creationId xmlns:a16="http://schemas.microsoft.com/office/drawing/2014/main" id="{B9C84515-E6C9-A256-421E-9C3EFEBBFF17}"/>
              </a:ext>
            </a:extLst>
          </p:cNvPr>
          <p:cNvCxnSpPr>
            <a:cxnSpLocks/>
          </p:cNvCxnSpPr>
          <p:nvPr/>
        </p:nvCxnSpPr>
        <p:spPr>
          <a:xfrm>
            <a:off x="7697737" y="5495193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テキスト ボックス 57">
            <a:extLst>
              <a:ext uri="{FF2B5EF4-FFF2-40B4-BE49-F238E27FC236}">
                <a16:creationId xmlns:a16="http://schemas.microsoft.com/office/drawing/2014/main" id="{7E002B77-EFC0-55F3-D3E6-100837F9B195}"/>
              </a:ext>
            </a:extLst>
          </p:cNvPr>
          <p:cNvSpPr txBox="1"/>
          <p:nvPr/>
        </p:nvSpPr>
        <p:spPr>
          <a:xfrm>
            <a:off x="8178600" y="5361409"/>
            <a:ext cx="1064989" cy="26161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フォロー体制</a:t>
            </a:r>
            <a:endParaRPr lang="ja-JP" altLang="en-US" sz="11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67" name="直線矢印コネクタ 66">
            <a:extLst>
              <a:ext uri="{FF2B5EF4-FFF2-40B4-BE49-F238E27FC236}">
                <a16:creationId xmlns:a16="http://schemas.microsoft.com/office/drawing/2014/main" id="{03BD82C1-8BEC-3E49-C1DA-A1C214DB1C8C}"/>
              </a:ext>
            </a:extLst>
          </p:cNvPr>
          <p:cNvCxnSpPr>
            <a:cxnSpLocks/>
          </p:cNvCxnSpPr>
          <p:nvPr/>
        </p:nvCxnSpPr>
        <p:spPr>
          <a:xfrm>
            <a:off x="4519454" y="5493723"/>
            <a:ext cx="2982482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テキスト ボックス 80">
            <a:extLst>
              <a:ext uri="{FF2B5EF4-FFF2-40B4-BE49-F238E27FC236}">
                <a16:creationId xmlns:a16="http://schemas.microsoft.com/office/drawing/2014/main" id="{919F797F-1B6A-876C-B468-E147B3D97E8A}"/>
              </a:ext>
            </a:extLst>
          </p:cNvPr>
          <p:cNvSpPr txBox="1"/>
          <p:nvPr/>
        </p:nvSpPr>
        <p:spPr>
          <a:xfrm>
            <a:off x="5267281" y="5359939"/>
            <a:ext cx="1064989" cy="26161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ステップ配信</a:t>
            </a:r>
            <a:endParaRPr lang="ja-JP" altLang="en-US" sz="1100" b="1" dirty="0"/>
          </a:p>
        </p:txBody>
      </p:sp>
      <p:cxnSp>
        <p:nvCxnSpPr>
          <p:cNvPr id="86" name="直線矢印コネクタ 85">
            <a:extLst>
              <a:ext uri="{FF2B5EF4-FFF2-40B4-BE49-F238E27FC236}">
                <a16:creationId xmlns:a16="http://schemas.microsoft.com/office/drawing/2014/main" id="{C96E67E6-B364-7DED-CDB8-DDCEEFB96AD2}"/>
              </a:ext>
            </a:extLst>
          </p:cNvPr>
          <p:cNvCxnSpPr>
            <a:cxnSpLocks/>
          </p:cNvCxnSpPr>
          <p:nvPr/>
        </p:nvCxnSpPr>
        <p:spPr>
          <a:xfrm>
            <a:off x="4519295" y="5766839"/>
            <a:ext cx="2982482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テキスト ボックス 90">
            <a:extLst>
              <a:ext uri="{FF2B5EF4-FFF2-40B4-BE49-F238E27FC236}">
                <a16:creationId xmlns:a16="http://schemas.microsoft.com/office/drawing/2014/main" id="{335DB4AB-DEFA-E356-751F-7106100F929E}"/>
              </a:ext>
            </a:extLst>
          </p:cNvPr>
          <p:cNvSpPr txBox="1"/>
          <p:nvPr/>
        </p:nvSpPr>
        <p:spPr>
          <a:xfrm>
            <a:off x="5267122" y="5633055"/>
            <a:ext cx="1064989" cy="26161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企画配信</a:t>
            </a:r>
            <a:endParaRPr lang="ja-JP" altLang="en-US" sz="1100" b="1" dirty="0"/>
          </a:p>
        </p:txBody>
      </p:sp>
      <p:cxnSp>
        <p:nvCxnSpPr>
          <p:cNvPr id="100" name="直線矢印コネクタ 99">
            <a:extLst>
              <a:ext uri="{FF2B5EF4-FFF2-40B4-BE49-F238E27FC236}">
                <a16:creationId xmlns:a16="http://schemas.microsoft.com/office/drawing/2014/main" id="{7884810E-3E89-4CCB-C00C-B386A34717E4}"/>
              </a:ext>
            </a:extLst>
          </p:cNvPr>
          <p:cNvCxnSpPr>
            <a:cxnSpLocks/>
          </p:cNvCxnSpPr>
          <p:nvPr/>
        </p:nvCxnSpPr>
        <p:spPr>
          <a:xfrm>
            <a:off x="3798688" y="5981626"/>
            <a:ext cx="2464861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テキスト ボックス 100">
            <a:extLst>
              <a:ext uri="{FF2B5EF4-FFF2-40B4-BE49-F238E27FC236}">
                <a16:creationId xmlns:a16="http://schemas.microsoft.com/office/drawing/2014/main" id="{6FD45AC0-2372-776F-6D16-846C0FB7AC64}"/>
              </a:ext>
            </a:extLst>
          </p:cNvPr>
          <p:cNvSpPr txBox="1"/>
          <p:nvPr/>
        </p:nvSpPr>
        <p:spPr>
          <a:xfrm>
            <a:off x="4258152" y="5863519"/>
            <a:ext cx="1288637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希望条件の回収</a:t>
            </a:r>
            <a:endParaRPr lang="ja-JP" altLang="en-US" sz="1200" b="1" dirty="0"/>
          </a:p>
        </p:txBody>
      </p:sp>
      <p:cxnSp>
        <p:nvCxnSpPr>
          <p:cNvPr id="102" name="直線矢印コネクタ 101">
            <a:extLst>
              <a:ext uri="{FF2B5EF4-FFF2-40B4-BE49-F238E27FC236}">
                <a16:creationId xmlns:a16="http://schemas.microsoft.com/office/drawing/2014/main" id="{5BF3558A-EBED-81EE-B158-28A7CA5D6693}"/>
              </a:ext>
            </a:extLst>
          </p:cNvPr>
          <p:cNvCxnSpPr>
            <a:cxnSpLocks/>
          </p:cNvCxnSpPr>
          <p:nvPr/>
        </p:nvCxnSpPr>
        <p:spPr>
          <a:xfrm>
            <a:off x="3797428" y="6223951"/>
            <a:ext cx="2452867" cy="6111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テキスト ボックス 109">
            <a:extLst>
              <a:ext uri="{FF2B5EF4-FFF2-40B4-BE49-F238E27FC236}">
                <a16:creationId xmlns:a16="http://schemas.microsoft.com/office/drawing/2014/main" id="{001266CB-AC56-8914-0ACE-8B554DB19B76}"/>
              </a:ext>
            </a:extLst>
          </p:cNvPr>
          <p:cNvSpPr txBox="1"/>
          <p:nvPr/>
        </p:nvSpPr>
        <p:spPr>
          <a:xfrm>
            <a:off x="4273398" y="6133562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スコアリング等</a:t>
            </a:r>
            <a:endParaRPr lang="ja-JP" altLang="en-US" sz="1000" b="1" dirty="0"/>
          </a:p>
        </p:txBody>
      </p:sp>
      <p:cxnSp>
        <p:nvCxnSpPr>
          <p:cNvPr id="111" name="直線矢印コネクタ 110">
            <a:extLst>
              <a:ext uri="{FF2B5EF4-FFF2-40B4-BE49-F238E27FC236}">
                <a16:creationId xmlns:a16="http://schemas.microsoft.com/office/drawing/2014/main" id="{1B403718-ABF2-11BC-1A05-A9E208B7C0F7}"/>
              </a:ext>
            </a:extLst>
          </p:cNvPr>
          <p:cNvCxnSpPr>
            <a:cxnSpLocks/>
          </p:cNvCxnSpPr>
          <p:nvPr/>
        </p:nvCxnSpPr>
        <p:spPr>
          <a:xfrm>
            <a:off x="7118366" y="5985542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テキスト ボックス 115">
            <a:extLst>
              <a:ext uri="{FF2B5EF4-FFF2-40B4-BE49-F238E27FC236}">
                <a16:creationId xmlns:a16="http://schemas.microsoft.com/office/drawing/2014/main" id="{B9061E8E-8F76-24D8-6F4C-BBBCDEB37FE0}"/>
              </a:ext>
            </a:extLst>
          </p:cNvPr>
          <p:cNvSpPr txBox="1"/>
          <p:nvPr/>
        </p:nvSpPr>
        <p:spPr>
          <a:xfrm>
            <a:off x="7397140" y="5871116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満了時期の回収</a:t>
            </a:r>
            <a:endParaRPr lang="ja-JP" altLang="en-US" sz="10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117" name="直線矢印コネクタ 116">
            <a:extLst>
              <a:ext uri="{FF2B5EF4-FFF2-40B4-BE49-F238E27FC236}">
                <a16:creationId xmlns:a16="http://schemas.microsoft.com/office/drawing/2014/main" id="{B31EBA12-BB45-627B-A1FD-F44E077537B1}"/>
              </a:ext>
            </a:extLst>
          </p:cNvPr>
          <p:cNvCxnSpPr>
            <a:cxnSpLocks/>
          </p:cNvCxnSpPr>
          <p:nvPr/>
        </p:nvCxnSpPr>
        <p:spPr>
          <a:xfrm>
            <a:off x="7048606" y="6243059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テキスト ボックス 117">
            <a:extLst>
              <a:ext uri="{FF2B5EF4-FFF2-40B4-BE49-F238E27FC236}">
                <a16:creationId xmlns:a16="http://schemas.microsoft.com/office/drawing/2014/main" id="{B0C05E5D-44B4-DA5D-7C04-0BDC8A4602CE}"/>
              </a:ext>
            </a:extLst>
          </p:cNvPr>
          <p:cNvSpPr txBox="1"/>
          <p:nvPr/>
        </p:nvSpPr>
        <p:spPr>
          <a:xfrm>
            <a:off x="7336089" y="6137342"/>
            <a:ext cx="1288637" cy="24843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前日リマインド</a:t>
            </a:r>
            <a:endParaRPr lang="ja-JP" altLang="en-US" sz="10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119" name="図 118">
            <a:extLst>
              <a:ext uri="{FF2B5EF4-FFF2-40B4-BE49-F238E27FC236}">
                <a16:creationId xmlns:a16="http://schemas.microsoft.com/office/drawing/2014/main" id="{2F4B65BB-B8AA-5045-2074-C574F9423E6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981" b="4075"/>
          <a:stretch>
            <a:fillRect/>
          </a:stretch>
        </p:blipFill>
        <p:spPr>
          <a:xfrm>
            <a:off x="3005614" y="5048188"/>
            <a:ext cx="703970" cy="1385346"/>
          </a:xfrm>
          <a:prstGeom prst="rect">
            <a:avLst/>
          </a:prstGeom>
        </p:spPr>
      </p:pic>
      <p:sp>
        <p:nvSpPr>
          <p:cNvPr id="66" name="正方形/長方形 65">
            <a:extLst>
              <a:ext uri="{FF2B5EF4-FFF2-40B4-BE49-F238E27FC236}">
                <a16:creationId xmlns:a16="http://schemas.microsoft.com/office/drawing/2014/main" id="{D22C9FBF-7B93-079A-E87E-A4C967CD0194}"/>
              </a:ext>
            </a:extLst>
          </p:cNvPr>
          <p:cNvSpPr/>
          <p:nvPr/>
        </p:nvSpPr>
        <p:spPr>
          <a:xfrm>
            <a:off x="3908480" y="5336376"/>
            <a:ext cx="2944325" cy="1076098"/>
          </a:xfrm>
          <a:prstGeom prst="rect">
            <a:avLst/>
          </a:prstGeom>
          <a:noFill/>
          <a:ln w="15875">
            <a:solidFill>
              <a:schemeClr val="accent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89B35388-9C44-6C01-ACAA-2E691617E119}"/>
              </a:ext>
            </a:extLst>
          </p:cNvPr>
          <p:cNvSpPr txBox="1"/>
          <p:nvPr/>
        </p:nvSpPr>
        <p:spPr>
          <a:xfrm>
            <a:off x="5723341" y="6303033"/>
            <a:ext cx="1207049" cy="20005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ja-JP" altLang="en-US" sz="7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短期7日／満了前に再開</a:t>
            </a:r>
            <a:endParaRPr lang="ja-JP" altLang="ja-JP" sz="7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6762304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［第2章］ニーズ調査｜シーズナリティ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派遣は毎年3月がピーク。バイトはその1か月後、4月がピーク。</a:t>
            </a:r>
          </a:p>
          <a:p>
            <a:pPr algn="l">
              <a:lnSpc>
                <a:spcPct val="120000"/>
              </a:lnSpc>
            </a:pPr>
            <a:r>
              <a:rPr sz="1400" b="1" dirty="0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両方とも12月が最も低い。仕込みは12月、派遣とバイトで配信を1か月ずらす。</a:t>
            </a:r>
          </a:p>
        </p:txBody>
      </p:sp>
      <p:pic>
        <p:nvPicPr>
          <p:cNvPr id="4" name="Picture 3" descr="人材_シーズナリティ_転職と退職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00" y="1512000"/>
            <a:ext cx="8748000" cy="2624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32000" y="4284000"/>
            <a:ext cx="9043200" cy="1075600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● 派遣のピークは3月（指数110.8）、バイトは4月（117.5）。年度替わりに集中する</a:t>
            </a:r>
          </a:p>
          <a:p>
            <a:pPr algn="l">
              <a:lnSpc>
                <a:spcPct val="17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● 両方とも12月が最も少ない（派遣88.4／バイト88.0）。友だちを安く貯められると考えられます（仮説）</a:t>
            </a:r>
          </a:p>
          <a:p>
            <a:pPr algn="l">
              <a:lnSpc>
                <a:spcPct val="17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● バイトは8月にも谷がある（89.1）。夏は短期・単発の出番</a:t>
            </a:r>
          </a:p>
        </p:txBody>
      </p:sp>
      <p:sp>
        <p:nvSpPr>
          <p:cNvPr id="6" name="Rectangle 5"/>
          <p:cNvSpPr/>
          <p:nvPr/>
        </p:nvSpPr>
        <p:spPr>
          <a:xfrm>
            <a:off x="432000" y="5598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2000" y="5598000"/>
            <a:ext cx="9043200" cy="378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山の直前に動くのでは遅い。谷で貯めて、山で刈る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Googleトレンド「派遣」「バイト」（日本・過去5年・月次／年平均＝100で指数化、12か月そろう4年分の平均）／前後検索でも同様の傾向（0日に派遣会社名が並ぶ、+5日に「更新しない」と検索）が見えます（仮説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［第2章］ニーズ調査｜前後検索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6384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「派遣 求人」を検索した人が、その前後15日に何を調べているか。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0日に派遣会社名が縦に並ぶ。同じ日に何社も比べている。</a:t>
            </a:r>
          </a:p>
        </p:txBody>
      </p:sp>
      <p:pic>
        <p:nvPicPr>
          <p:cNvPr id="4" name="Picture 3" descr="人材A_前後検索_色分け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" y="1512000"/>
            <a:ext cx="6294857" cy="367199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906857" y="1602000"/>
            <a:ext cx="198000" cy="198000"/>
          </a:xfrm>
          <a:prstGeom prst="rect">
            <a:avLst/>
          </a:prstGeom>
          <a:solidFill>
            <a:srgbClr val="8E4E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76857" y="1587547"/>
            <a:ext cx="2298342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8E4EC6"/>
                </a:solidFill>
                <a:latin typeface="メイリオ"/>
                <a:ea typeface="メイリオ"/>
                <a:cs typeface="メイリオ"/>
              </a:rPr>
              <a:t>仕事を探し始める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6906857" y="1944000"/>
            <a:ext cx="198000" cy="198000"/>
          </a:xfrm>
          <a:prstGeom prst="rect">
            <a:avLst/>
          </a:prstGeom>
          <a:solidFill>
            <a:srgbClr val="3467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76857" y="1929547"/>
            <a:ext cx="2298342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467B2"/>
                </a:solidFill>
                <a:latin typeface="メイリオ"/>
                <a:ea typeface="メイリオ"/>
                <a:cs typeface="メイリオ"/>
              </a:rPr>
              <a:t>派遣会社を並べて比較</a:t>
            </a:r>
          </a:p>
        </p:txBody>
      </p:sp>
      <p:sp>
        <p:nvSpPr>
          <p:cNvPr id="9" name="Rectangle 8"/>
          <p:cNvSpPr/>
          <p:nvPr/>
        </p:nvSpPr>
        <p:spPr>
          <a:xfrm>
            <a:off x="6906857" y="2286000"/>
            <a:ext cx="198000" cy="198000"/>
          </a:xfrm>
          <a:prstGeom prst="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176857" y="2271547"/>
            <a:ext cx="2298342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0897B"/>
                </a:solidFill>
                <a:latin typeface="メイリオ"/>
                <a:ea typeface="メイリオ"/>
                <a:cs typeface="メイリオ"/>
              </a:rPr>
              <a:t>条件を詰める（単発・短期）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06857" y="2628000"/>
            <a:ext cx="198000" cy="198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176857" y="2613547"/>
            <a:ext cx="2298342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続けられるか・辞めどき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06857" y="3131999"/>
            <a:ext cx="2568342" cy="1361063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0日「派遣 3年ルール」</a:t>
            </a:r>
          </a:p>
          <a:p>
            <a:pPr algn="l">
              <a:lnSpc>
                <a:spcPct val="16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検索と同時に先の不安も見える</a:t>
            </a:r>
          </a:p>
          <a:p>
            <a:pPr algn="l">
              <a:lnSpc>
                <a:spcPct val="16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+5日「派遣 更新しない」</a:t>
            </a:r>
          </a:p>
          <a:p>
            <a:pPr algn="l">
              <a:lnSpc>
                <a:spcPct val="16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次の仕事を考え始める（仮説）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000" y="5598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32000" y="5638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求人を探し始めた時点で、もう次の不安が見え始めている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出典｜LINEヤフー 媒体データ（検索の前後行動）。起点KW「派遣 求人」・直近1年間（2025年3月17日〜2026年3月22日）。色分けは弊社。★検索行動のデータであり、応募者本人の行動と同一ではありません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［第3章］構築｜友だち追加の動線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広告を増やさずに、いま取れている応募者をLINEに載せる。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9043200" cy="6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32000" y="1548000"/>
            <a:ext cx="2448000" cy="604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2000" y="1719249"/>
            <a:ext cx="244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応募完了画面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51999" y="1719249"/>
            <a:ext cx="4031999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応募した直後に友だち追加を案内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56000" y="1736947"/>
            <a:ext cx="2340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最も確実。既に取れている人</a:t>
            </a:r>
          </a:p>
        </p:txBody>
      </p:sp>
      <p:sp>
        <p:nvSpPr>
          <p:cNvPr id="9" name="Rectangle 8"/>
          <p:cNvSpPr/>
          <p:nvPr/>
        </p:nvSpPr>
        <p:spPr>
          <a:xfrm>
            <a:off x="432000" y="2250000"/>
            <a:ext cx="9043200" cy="6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2000" y="2250000"/>
            <a:ext cx="2448000" cy="604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32000" y="2421249"/>
            <a:ext cx="244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離脱防止ポップアップ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51999" y="2421249"/>
            <a:ext cx="4031999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LPを離れようとした人にLINEを提示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56000" y="2438947"/>
            <a:ext cx="2340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フォームより軽い入口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000" y="2951999"/>
            <a:ext cx="9043200" cy="6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2000" y="2951999"/>
            <a:ext cx="2448000" cy="604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32000" y="3123248"/>
            <a:ext cx="244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LINE広告（CPF）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51999" y="3123248"/>
            <a:ext cx="4031999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タップだけで友だち追加が完了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6000" y="3140946"/>
            <a:ext cx="2340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フォーム入力ゼロ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2000" y="3653999"/>
            <a:ext cx="9043200" cy="6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32000" y="3653999"/>
            <a:ext cx="2448000" cy="604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32000" y="3825248"/>
            <a:ext cx="244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 求人誌・店頭のQRコード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51999" y="3825248"/>
            <a:ext cx="4031999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求人誌・店頭ポスター・メールから直接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56000" y="3842946"/>
            <a:ext cx="2340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既存の接点を使う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2000" y="4356000"/>
            <a:ext cx="9043200" cy="604800"/>
          </a:xfrm>
          <a:prstGeom prst="rect">
            <a:avLst/>
          </a:prstGeom>
          <a:solidFill>
            <a:srgbClr val="FDF1E9"/>
          </a:solidFill>
          <a:ln w="15875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32000" y="4356000"/>
            <a:ext cx="2448000" cy="60480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32000" y="4536097"/>
            <a:ext cx="2448000" cy="244604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⑤ 既存リストへ通知メッセージ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51999" y="4527249"/>
            <a:ext cx="4031999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友だち追加のご案内を、電話番号あてに送る（利用できる用途は事前に確認）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6000" y="4544947"/>
            <a:ext cx="2340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★眠っているリストを起こす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2000" y="5148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32000" y="5188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新しく集めるのではなく、いま取れている人をLINEに載せ替える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⑤の通知メッセージは、友だち追加していない相手にも電話番号ベースで届きます（別途費用）。用途は審査制のため、求人案内での利用可否は事前確認が必要です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［第3章］構築｜あいさつメッセージ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1行目に「営業のお電話はいたしません」と書く。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そのうえで希望条件を5問だけ聞き、条件に合う新着を届けると約束する。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92000" y="1655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36000" y="1758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なぜ電話をしないと先に書くのか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6000" y="2088000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知らない番号からの着信は負担です。先に消すと、返信率が上がります。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000" y="3060000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36000" y="3162849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なぜ「新着の受け取り」を先に出すのか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6000" y="3491999"/>
            <a:ext cx="4788000" cy="589698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応募が終わっても、また仕事を探す日が来ます。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新着が届く理由があれば、友だちのまま残ります。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92000" y="4463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36000" y="4566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なぜ5問なのか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6000" y="4895999"/>
            <a:ext cx="4788000" cy="589698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エリア・職種・時給・曜日・働き方の5つだけ。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選択式で30秒。その場で答えてもらえます。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画面はイメージです。文面・ボタン名は貴社のサービスに合わせて調整します</a:t>
            </a:r>
          </a:p>
        </p:txBody>
      </p:sp>
      <p:pic>
        <p:nvPicPr>
          <p:cNvPr id="16" name="Picture 15" descr="人材A_トーク_あいさつ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526603"/>
            <a:ext cx="3096000" cy="4644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DF4070-0F2B-474C-0AD3-89D288BF8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35E6F5D8-69FF-EC49-F89A-79FBF0979141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［第3章］希望条件（5問）</a:t>
            </a:r>
          </a:p>
        </p:txBody>
      </p:sp>
      <p:sp>
        <p:nvSpPr>
          <p:cNvPr id="2" name="Google Shape;752;p28">
            <a:extLst>
              <a:ext uri="{FF2B5EF4-FFF2-40B4-BE49-F238E27FC236}">
                <a16:creationId xmlns:a16="http://schemas.microsoft.com/office/drawing/2014/main" id="{8DA9D746-57D8-A7F9-7048-09DA5704460D}"/>
              </a:ext>
            </a:extLst>
          </p:cNvPr>
          <p:cNvSpPr txBox="1"/>
          <p:nvPr/>
        </p:nvSpPr>
        <p:spPr>
          <a:xfrm>
            <a:off x="309397" y="642796"/>
            <a:ext cx="9330992" cy="609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応募直後の30秒で、エリア・職種・時給・曜日・働き方を取ります。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経歴は聞かない。答えやすい5問が、その後に届く求人を決めます。</a:t>
            </a:r>
          </a:p>
        </p:txBody>
      </p:sp>
      <p:sp>
        <p:nvSpPr>
          <p:cNvPr id="41" name="Shape 2">
            <a:extLst>
              <a:ext uri="{FF2B5EF4-FFF2-40B4-BE49-F238E27FC236}">
                <a16:creationId xmlns:a16="http://schemas.microsoft.com/office/drawing/2014/main" id="{72992F6A-FF2A-7ECF-0D33-F6529A528B57}"/>
              </a:ext>
            </a:extLst>
          </p:cNvPr>
          <p:cNvSpPr/>
          <p:nvPr/>
        </p:nvSpPr>
        <p:spPr>
          <a:xfrm>
            <a:off x="775063" y="1722373"/>
            <a:ext cx="8412480" cy="457200"/>
          </a:xfrm>
          <a:prstGeom prst="roundRect">
            <a:avLst>
              <a:gd name="adj" fmla="val 16000"/>
            </a:avLst>
          </a:prstGeom>
          <a:solidFill>
            <a:srgbClr val="F4F7FF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2" name="Text 3">
            <a:extLst>
              <a:ext uri="{FF2B5EF4-FFF2-40B4-BE49-F238E27FC236}">
                <a16:creationId xmlns:a16="http://schemas.microsoft.com/office/drawing/2014/main" id="{190E6A1A-C1DD-4C8E-3197-5AD6F8426871}"/>
              </a:ext>
            </a:extLst>
          </p:cNvPr>
          <p:cNvSpPr/>
          <p:nvPr/>
        </p:nvSpPr>
        <p:spPr>
          <a:xfrm>
            <a:off x="957943" y="1722373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目的：希望条件をつかみ、条件に合う新着だけを届ける（全員に同じ求人を送らない）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3" name="Shape 4">
            <a:extLst>
              <a:ext uri="{FF2B5EF4-FFF2-40B4-BE49-F238E27FC236}">
                <a16:creationId xmlns:a16="http://schemas.microsoft.com/office/drawing/2014/main" id="{D015C19B-5468-998D-251F-6B1B6959CE07}"/>
              </a:ext>
            </a:extLst>
          </p:cNvPr>
          <p:cNvSpPr/>
          <p:nvPr/>
        </p:nvSpPr>
        <p:spPr>
          <a:xfrm>
            <a:off x="775063" y="2316733"/>
            <a:ext cx="8412480" cy="621792"/>
          </a:xfrm>
          <a:prstGeom prst="roundRect">
            <a:avLst>
              <a:gd name="adj" fmla="val 10294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4" name="Shape 5">
            <a:extLst>
              <a:ext uri="{FF2B5EF4-FFF2-40B4-BE49-F238E27FC236}">
                <a16:creationId xmlns:a16="http://schemas.microsoft.com/office/drawing/2014/main" id="{414FEA14-8392-6B62-876D-80318C415543}"/>
              </a:ext>
            </a:extLst>
          </p:cNvPr>
          <p:cNvSpPr/>
          <p:nvPr/>
        </p:nvSpPr>
        <p:spPr>
          <a:xfrm>
            <a:off x="848215" y="2426461"/>
            <a:ext cx="329184" cy="329184"/>
          </a:xfrm>
          <a:prstGeom prst="ellipse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5" name="Text 6">
            <a:extLst>
              <a:ext uri="{FF2B5EF4-FFF2-40B4-BE49-F238E27FC236}">
                <a16:creationId xmlns:a16="http://schemas.microsoft.com/office/drawing/2014/main" id="{F75BBB7C-7CE8-CD05-76B4-8EAB532092DA}"/>
              </a:ext>
            </a:extLst>
          </p:cNvPr>
          <p:cNvSpPr/>
          <p:nvPr/>
        </p:nvSpPr>
        <p:spPr>
          <a:xfrm>
            <a:off x="848215" y="2426461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1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6" name="Text 7">
            <a:extLst>
              <a:ext uri="{FF2B5EF4-FFF2-40B4-BE49-F238E27FC236}">
                <a16:creationId xmlns:a16="http://schemas.microsoft.com/office/drawing/2014/main" id="{1A4AA2AA-6FF8-3D30-B16C-44EC5F2961CD}"/>
              </a:ext>
            </a:extLst>
          </p:cNvPr>
          <p:cNvSpPr/>
          <p:nvPr/>
        </p:nvSpPr>
        <p:spPr>
          <a:xfrm>
            <a:off x="1250551" y="2362453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Q1. 働きたいエリアは？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7" name="Text 8">
            <a:extLst>
              <a:ext uri="{FF2B5EF4-FFF2-40B4-BE49-F238E27FC236}">
                <a16:creationId xmlns:a16="http://schemas.microsoft.com/office/drawing/2014/main" id="{7A1F59F1-0B49-73D0-38BD-9948F9A63985}"/>
              </a:ext>
            </a:extLst>
          </p:cNvPr>
          <p:cNvSpPr/>
          <p:nvPr/>
        </p:nvSpPr>
        <p:spPr>
          <a:xfrm>
            <a:off x="1250551" y="2627629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ja-JP" sz="1200">
                <a:solidFill>
                  <a:srgbClr val="64748B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A) 最寄り駅から選ぶ　B) 市区町村から選ぶ　C) 在宅がいい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8" name="Shape 9">
            <a:extLst>
              <a:ext uri="{FF2B5EF4-FFF2-40B4-BE49-F238E27FC236}">
                <a16:creationId xmlns:a16="http://schemas.microsoft.com/office/drawing/2014/main" id="{03F3B165-CA3D-3804-AA50-7C78C7C7EB79}"/>
              </a:ext>
            </a:extLst>
          </p:cNvPr>
          <p:cNvSpPr/>
          <p:nvPr/>
        </p:nvSpPr>
        <p:spPr>
          <a:xfrm>
            <a:off x="6444343" y="2389885"/>
            <a:ext cx="2743200" cy="457200"/>
          </a:xfrm>
          <a:prstGeom prst="roundRect">
            <a:avLst>
              <a:gd name="adj" fmla="val 10000"/>
            </a:avLst>
          </a:prstGeom>
          <a:solidFill>
            <a:srgbClr val="FFF8E8"/>
          </a:solidFill>
          <a:ln w="12700">
            <a:solidFill>
              <a:srgbClr val="E8A838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9" name="Text 10">
            <a:extLst>
              <a:ext uri="{FF2B5EF4-FFF2-40B4-BE49-F238E27FC236}">
                <a16:creationId xmlns:a16="http://schemas.microsoft.com/office/drawing/2014/main" id="{DF68B239-8CBC-8341-BA16-8510179A4777}"/>
              </a:ext>
            </a:extLst>
          </p:cNvPr>
          <p:cNvSpPr/>
          <p:nvPr/>
        </p:nvSpPr>
        <p:spPr>
          <a:xfrm>
            <a:off x="6490063" y="2389885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 err="1">
                <a:solidFill>
                  <a:srgbClr val="7A52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最寄り駅・市区町村で出し分ける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0" name="Shape 11">
            <a:extLst>
              <a:ext uri="{FF2B5EF4-FFF2-40B4-BE49-F238E27FC236}">
                <a16:creationId xmlns:a16="http://schemas.microsoft.com/office/drawing/2014/main" id="{CEC57A7B-58B4-1F60-CC69-2D9C22413BEF}"/>
              </a:ext>
            </a:extLst>
          </p:cNvPr>
          <p:cNvSpPr/>
          <p:nvPr/>
        </p:nvSpPr>
        <p:spPr>
          <a:xfrm>
            <a:off x="775063" y="3002532"/>
            <a:ext cx="8412480" cy="621792"/>
          </a:xfrm>
          <a:prstGeom prst="roundRect">
            <a:avLst>
              <a:gd name="adj" fmla="val 10294"/>
            </a:avLst>
          </a:prstGeom>
          <a:solidFill>
            <a:srgbClr val="FFFF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1" name="Shape 12">
            <a:extLst>
              <a:ext uri="{FF2B5EF4-FFF2-40B4-BE49-F238E27FC236}">
                <a16:creationId xmlns:a16="http://schemas.microsoft.com/office/drawing/2014/main" id="{0FF9816E-5F43-9459-6349-51431111FD45}"/>
              </a:ext>
            </a:extLst>
          </p:cNvPr>
          <p:cNvSpPr/>
          <p:nvPr/>
        </p:nvSpPr>
        <p:spPr>
          <a:xfrm>
            <a:off x="848215" y="3112260"/>
            <a:ext cx="329184" cy="329184"/>
          </a:xfrm>
          <a:prstGeom prst="ellipse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2" name="Text 13">
            <a:extLst>
              <a:ext uri="{FF2B5EF4-FFF2-40B4-BE49-F238E27FC236}">
                <a16:creationId xmlns:a16="http://schemas.microsoft.com/office/drawing/2014/main" id="{2BF8E88C-4FC5-B1C2-A8E8-D33029A55D78}"/>
              </a:ext>
            </a:extLst>
          </p:cNvPr>
          <p:cNvSpPr/>
          <p:nvPr/>
        </p:nvSpPr>
        <p:spPr>
          <a:xfrm>
            <a:off x="848215" y="311226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2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3" name="Text 14">
            <a:extLst>
              <a:ext uri="{FF2B5EF4-FFF2-40B4-BE49-F238E27FC236}">
                <a16:creationId xmlns:a16="http://schemas.microsoft.com/office/drawing/2014/main" id="{4AB095EB-AFFB-C1EB-53C1-4C882C450F66}"/>
              </a:ext>
            </a:extLst>
          </p:cNvPr>
          <p:cNvSpPr/>
          <p:nvPr/>
        </p:nvSpPr>
        <p:spPr>
          <a:xfrm>
            <a:off x="1250551" y="3048252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Q2. 希望の職種は？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4" name="Text 15">
            <a:extLst>
              <a:ext uri="{FF2B5EF4-FFF2-40B4-BE49-F238E27FC236}">
                <a16:creationId xmlns:a16="http://schemas.microsoft.com/office/drawing/2014/main" id="{C6FBF75D-9A2C-AB9C-797C-A65992057C82}"/>
              </a:ext>
            </a:extLst>
          </p:cNvPr>
          <p:cNvSpPr/>
          <p:nvPr/>
        </p:nvSpPr>
        <p:spPr>
          <a:xfrm>
            <a:off x="1250551" y="3313428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A) 事務　B) 軽作業・倉庫　C) 販売・飲食　D) その他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5" name="Shape 16">
            <a:extLst>
              <a:ext uri="{FF2B5EF4-FFF2-40B4-BE49-F238E27FC236}">
                <a16:creationId xmlns:a16="http://schemas.microsoft.com/office/drawing/2014/main" id="{8B4031C1-8F8E-5381-AAC9-77A14A56B7F6}"/>
              </a:ext>
            </a:extLst>
          </p:cNvPr>
          <p:cNvSpPr/>
          <p:nvPr/>
        </p:nvSpPr>
        <p:spPr>
          <a:xfrm>
            <a:off x="6444343" y="3075684"/>
            <a:ext cx="2743200" cy="457200"/>
          </a:xfrm>
          <a:prstGeom prst="roundRect">
            <a:avLst>
              <a:gd name="adj" fmla="val 10000"/>
            </a:avLst>
          </a:prstGeom>
          <a:solidFill>
            <a:srgbClr val="FFF8E8"/>
          </a:solidFill>
          <a:ln w="12700">
            <a:solidFill>
              <a:srgbClr val="E8A838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6" name="Text 17">
            <a:extLst>
              <a:ext uri="{FF2B5EF4-FFF2-40B4-BE49-F238E27FC236}">
                <a16:creationId xmlns:a16="http://schemas.microsoft.com/office/drawing/2014/main" id="{35FE734F-4C1A-3B7B-8AA4-C2546973E56B}"/>
              </a:ext>
            </a:extLst>
          </p:cNvPr>
          <p:cNvSpPr/>
          <p:nvPr/>
        </p:nvSpPr>
        <p:spPr>
          <a:xfrm>
            <a:off x="6490063" y="3075684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ja-JP" altLang="en-US" sz="1200">
                <a:solidFill>
                  <a:srgbClr val="7A52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新着の出し分けの軸になる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7" name="Shape 18">
            <a:extLst>
              <a:ext uri="{FF2B5EF4-FFF2-40B4-BE49-F238E27FC236}">
                <a16:creationId xmlns:a16="http://schemas.microsoft.com/office/drawing/2014/main" id="{77F0529F-1B78-5C45-07C3-2B6DD4A77258}"/>
              </a:ext>
            </a:extLst>
          </p:cNvPr>
          <p:cNvSpPr/>
          <p:nvPr/>
        </p:nvSpPr>
        <p:spPr>
          <a:xfrm>
            <a:off x="775063" y="3688333"/>
            <a:ext cx="8412480" cy="621792"/>
          </a:xfrm>
          <a:prstGeom prst="roundRect">
            <a:avLst>
              <a:gd name="adj" fmla="val 10294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8" name="Shape 19">
            <a:extLst>
              <a:ext uri="{FF2B5EF4-FFF2-40B4-BE49-F238E27FC236}">
                <a16:creationId xmlns:a16="http://schemas.microsoft.com/office/drawing/2014/main" id="{5CB9124D-3C60-302E-AD9D-68ADA9CED3C8}"/>
              </a:ext>
            </a:extLst>
          </p:cNvPr>
          <p:cNvSpPr/>
          <p:nvPr/>
        </p:nvSpPr>
        <p:spPr>
          <a:xfrm>
            <a:off x="848215" y="3798061"/>
            <a:ext cx="329184" cy="329184"/>
          </a:xfrm>
          <a:prstGeom prst="ellipse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9" name="Text 20">
            <a:extLst>
              <a:ext uri="{FF2B5EF4-FFF2-40B4-BE49-F238E27FC236}">
                <a16:creationId xmlns:a16="http://schemas.microsoft.com/office/drawing/2014/main" id="{DD06F576-0404-24E3-3484-9A5F77A77D7A}"/>
              </a:ext>
            </a:extLst>
          </p:cNvPr>
          <p:cNvSpPr/>
          <p:nvPr/>
        </p:nvSpPr>
        <p:spPr>
          <a:xfrm>
            <a:off x="848215" y="3798061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3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0" name="Text 21">
            <a:extLst>
              <a:ext uri="{FF2B5EF4-FFF2-40B4-BE49-F238E27FC236}">
                <a16:creationId xmlns:a16="http://schemas.microsoft.com/office/drawing/2014/main" id="{362B56FE-0308-5ACA-794F-33A473A74E16}"/>
              </a:ext>
            </a:extLst>
          </p:cNvPr>
          <p:cNvSpPr/>
          <p:nvPr/>
        </p:nvSpPr>
        <p:spPr>
          <a:xfrm>
            <a:off x="1250551" y="3734052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Q3. 希望の時給は？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1" name="Text 22">
            <a:extLst>
              <a:ext uri="{FF2B5EF4-FFF2-40B4-BE49-F238E27FC236}">
                <a16:creationId xmlns:a16="http://schemas.microsoft.com/office/drawing/2014/main" id="{CECF4E63-76E9-FEA5-7805-491752940936}"/>
              </a:ext>
            </a:extLst>
          </p:cNvPr>
          <p:cNvSpPr/>
          <p:nvPr/>
        </p:nvSpPr>
        <p:spPr>
          <a:xfrm>
            <a:off x="1250551" y="3999229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A) 1,200円未満　B) 1,200〜1,499円　C) 1,500〜1,799円　D) 1,800円以上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2" name="Shape 23">
            <a:extLst>
              <a:ext uri="{FF2B5EF4-FFF2-40B4-BE49-F238E27FC236}">
                <a16:creationId xmlns:a16="http://schemas.microsoft.com/office/drawing/2014/main" id="{DBA9622A-FDA2-1DDD-FBA3-73C50D3AB695}"/>
              </a:ext>
            </a:extLst>
          </p:cNvPr>
          <p:cNvSpPr/>
          <p:nvPr/>
        </p:nvSpPr>
        <p:spPr>
          <a:xfrm>
            <a:off x="6444343" y="3761484"/>
            <a:ext cx="2743200" cy="457200"/>
          </a:xfrm>
          <a:prstGeom prst="roundRect">
            <a:avLst>
              <a:gd name="adj" fmla="val 10000"/>
            </a:avLst>
          </a:prstGeom>
          <a:solidFill>
            <a:srgbClr val="FFF8E8"/>
          </a:solidFill>
          <a:ln w="12700">
            <a:solidFill>
              <a:srgbClr val="E8A838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3" name="Text 24">
            <a:extLst>
              <a:ext uri="{FF2B5EF4-FFF2-40B4-BE49-F238E27FC236}">
                <a16:creationId xmlns:a16="http://schemas.microsoft.com/office/drawing/2014/main" id="{C60B9780-970F-8551-EE91-8044786C7B7C}"/>
              </a:ext>
            </a:extLst>
          </p:cNvPr>
          <p:cNvSpPr/>
          <p:nvPr/>
        </p:nvSpPr>
        <p:spPr>
          <a:xfrm>
            <a:off x="6490063" y="3761484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 err="1">
                <a:solidFill>
                  <a:srgbClr val="7A52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Day1「時給の相場」の軸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4" name="Shape 25">
            <a:extLst>
              <a:ext uri="{FF2B5EF4-FFF2-40B4-BE49-F238E27FC236}">
                <a16:creationId xmlns:a16="http://schemas.microsoft.com/office/drawing/2014/main" id="{E6646D0D-AC17-9974-8BF6-E0C26901E16D}"/>
              </a:ext>
            </a:extLst>
          </p:cNvPr>
          <p:cNvSpPr/>
          <p:nvPr/>
        </p:nvSpPr>
        <p:spPr>
          <a:xfrm>
            <a:off x="775063" y="4374133"/>
            <a:ext cx="8412480" cy="621792"/>
          </a:xfrm>
          <a:prstGeom prst="roundRect">
            <a:avLst>
              <a:gd name="adj" fmla="val 10294"/>
            </a:avLst>
          </a:prstGeom>
          <a:solidFill>
            <a:srgbClr val="FFFF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5" name="Shape 26">
            <a:extLst>
              <a:ext uri="{FF2B5EF4-FFF2-40B4-BE49-F238E27FC236}">
                <a16:creationId xmlns:a16="http://schemas.microsoft.com/office/drawing/2014/main" id="{86330F7C-C512-505C-521A-A5D1453510E6}"/>
              </a:ext>
            </a:extLst>
          </p:cNvPr>
          <p:cNvSpPr/>
          <p:nvPr/>
        </p:nvSpPr>
        <p:spPr>
          <a:xfrm>
            <a:off x="848215" y="4483861"/>
            <a:ext cx="329184" cy="329184"/>
          </a:xfrm>
          <a:prstGeom prst="ellipse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6" name="Text 27">
            <a:extLst>
              <a:ext uri="{FF2B5EF4-FFF2-40B4-BE49-F238E27FC236}">
                <a16:creationId xmlns:a16="http://schemas.microsoft.com/office/drawing/2014/main" id="{8A40057C-798D-FCB7-8B6B-C2507589C664}"/>
              </a:ext>
            </a:extLst>
          </p:cNvPr>
          <p:cNvSpPr/>
          <p:nvPr/>
        </p:nvSpPr>
        <p:spPr>
          <a:xfrm>
            <a:off x="848215" y="4483861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4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7" name="Text 28">
            <a:extLst>
              <a:ext uri="{FF2B5EF4-FFF2-40B4-BE49-F238E27FC236}">
                <a16:creationId xmlns:a16="http://schemas.microsoft.com/office/drawing/2014/main" id="{FB185C3E-B3C3-8368-764A-0E889BE9E1DC}"/>
              </a:ext>
            </a:extLst>
          </p:cNvPr>
          <p:cNvSpPr/>
          <p:nvPr/>
        </p:nvSpPr>
        <p:spPr>
          <a:xfrm>
            <a:off x="1250551" y="4419853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Q4. 働ける曜日・時間帯は？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8" name="Text 29">
            <a:extLst>
              <a:ext uri="{FF2B5EF4-FFF2-40B4-BE49-F238E27FC236}">
                <a16:creationId xmlns:a16="http://schemas.microsoft.com/office/drawing/2014/main" id="{83A0111B-6C16-924D-2F24-F3322312058F}"/>
              </a:ext>
            </a:extLst>
          </p:cNvPr>
          <p:cNvSpPr/>
          <p:nvPr/>
        </p:nvSpPr>
        <p:spPr>
          <a:xfrm>
            <a:off x="1250551" y="4685029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ja-JP" sz="1200">
                <a:solidFill>
                  <a:srgbClr val="64748B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A) 平日の日中　B) 平日の夜　C) 土日　D) 曜日は問わない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9" name="Shape 30">
            <a:extLst>
              <a:ext uri="{FF2B5EF4-FFF2-40B4-BE49-F238E27FC236}">
                <a16:creationId xmlns:a16="http://schemas.microsoft.com/office/drawing/2014/main" id="{B12A9147-2862-DE3E-8AA5-154403D7E2E5}"/>
              </a:ext>
            </a:extLst>
          </p:cNvPr>
          <p:cNvSpPr/>
          <p:nvPr/>
        </p:nvSpPr>
        <p:spPr>
          <a:xfrm>
            <a:off x="6444343" y="4447285"/>
            <a:ext cx="2743200" cy="457200"/>
          </a:xfrm>
          <a:prstGeom prst="roundRect">
            <a:avLst>
              <a:gd name="adj" fmla="val 10000"/>
            </a:avLst>
          </a:prstGeom>
          <a:solidFill>
            <a:srgbClr val="FFF8E8"/>
          </a:solidFill>
          <a:ln w="12700">
            <a:solidFill>
              <a:srgbClr val="E8A838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0" name="Text 31">
            <a:extLst>
              <a:ext uri="{FF2B5EF4-FFF2-40B4-BE49-F238E27FC236}">
                <a16:creationId xmlns:a16="http://schemas.microsoft.com/office/drawing/2014/main" id="{B1610132-9C94-4121-0174-5C4B56C1E9C4}"/>
              </a:ext>
            </a:extLst>
          </p:cNvPr>
          <p:cNvSpPr/>
          <p:nvPr/>
        </p:nvSpPr>
        <p:spPr>
          <a:xfrm>
            <a:off x="6490063" y="4447285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 err="1">
                <a:solidFill>
                  <a:srgbClr val="7A52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「今日から働ける」求人の対象を決める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1" name="Shape 32">
            <a:extLst>
              <a:ext uri="{FF2B5EF4-FFF2-40B4-BE49-F238E27FC236}">
                <a16:creationId xmlns:a16="http://schemas.microsoft.com/office/drawing/2014/main" id="{5E0CF565-2E70-3594-94E3-B92DBA09CE1D}"/>
              </a:ext>
            </a:extLst>
          </p:cNvPr>
          <p:cNvSpPr/>
          <p:nvPr/>
        </p:nvSpPr>
        <p:spPr>
          <a:xfrm>
            <a:off x="775063" y="5059933"/>
            <a:ext cx="8412480" cy="621792"/>
          </a:xfrm>
          <a:prstGeom prst="roundRect">
            <a:avLst>
              <a:gd name="adj" fmla="val 10294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2" name="Shape 33">
            <a:extLst>
              <a:ext uri="{FF2B5EF4-FFF2-40B4-BE49-F238E27FC236}">
                <a16:creationId xmlns:a16="http://schemas.microsoft.com/office/drawing/2014/main" id="{C3888C1F-7E31-5CB5-DB8C-6376B4A23075}"/>
              </a:ext>
            </a:extLst>
          </p:cNvPr>
          <p:cNvSpPr/>
          <p:nvPr/>
        </p:nvSpPr>
        <p:spPr>
          <a:xfrm>
            <a:off x="848215" y="5169660"/>
            <a:ext cx="329184" cy="329184"/>
          </a:xfrm>
          <a:prstGeom prst="ellipse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3" name="Text 34">
            <a:extLst>
              <a:ext uri="{FF2B5EF4-FFF2-40B4-BE49-F238E27FC236}">
                <a16:creationId xmlns:a16="http://schemas.microsoft.com/office/drawing/2014/main" id="{59588FF7-10F6-8141-4359-836B851E5424}"/>
              </a:ext>
            </a:extLst>
          </p:cNvPr>
          <p:cNvSpPr/>
          <p:nvPr/>
        </p:nvSpPr>
        <p:spPr>
          <a:xfrm>
            <a:off x="848215" y="516966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5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4" name="Text 35">
            <a:extLst>
              <a:ext uri="{FF2B5EF4-FFF2-40B4-BE49-F238E27FC236}">
                <a16:creationId xmlns:a16="http://schemas.microsoft.com/office/drawing/2014/main" id="{C5CFC561-6A8F-BACD-E02C-A277E8A3063E}"/>
              </a:ext>
            </a:extLst>
          </p:cNvPr>
          <p:cNvSpPr/>
          <p:nvPr/>
        </p:nvSpPr>
        <p:spPr>
          <a:xfrm>
            <a:off x="1250551" y="5105653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Q5. 希望の働き方は？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5" name="Text 36">
            <a:extLst>
              <a:ext uri="{FF2B5EF4-FFF2-40B4-BE49-F238E27FC236}">
                <a16:creationId xmlns:a16="http://schemas.microsoft.com/office/drawing/2014/main" id="{BE1F2F6E-238F-21D4-40A5-BD1CB63C8953}"/>
              </a:ext>
            </a:extLst>
          </p:cNvPr>
          <p:cNvSpPr/>
          <p:nvPr/>
        </p:nvSpPr>
        <p:spPr>
          <a:xfrm>
            <a:off x="1250551" y="5370829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ja-JP" sz="1200">
                <a:solidFill>
                  <a:srgbClr val="64748B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A) 派遣　B) バイト・パート　C) 単発・日払い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6" name="Shape 37">
            <a:extLst>
              <a:ext uri="{FF2B5EF4-FFF2-40B4-BE49-F238E27FC236}">
                <a16:creationId xmlns:a16="http://schemas.microsoft.com/office/drawing/2014/main" id="{E835EF93-AE65-C080-A583-076B9485CC6B}"/>
              </a:ext>
            </a:extLst>
          </p:cNvPr>
          <p:cNvSpPr/>
          <p:nvPr/>
        </p:nvSpPr>
        <p:spPr>
          <a:xfrm>
            <a:off x="6444343" y="5133085"/>
            <a:ext cx="2743200" cy="457200"/>
          </a:xfrm>
          <a:prstGeom prst="roundRect">
            <a:avLst>
              <a:gd name="adj" fmla="val 10000"/>
            </a:avLst>
          </a:prstGeom>
          <a:solidFill>
            <a:srgbClr val="FFF8E8"/>
          </a:solidFill>
          <a:ln w="12700">
            <a:solidFill>
              <a:srgbClr val="E8A838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7" name="Text 38">
            <a:extLst>
              <a:ext uri="{FF2B5EF4-FFF2-40B4-BE49-F238E27FC236}">
                <a16:creationId xmlns:a16="http://schemas.microsoft.com/office/drawing/2014/main" id="{4E76941A-97E1-A80A-F7B6-9B05D68E1AA2}"/>
              </a:ext>
            </a:extLst>
          </p:cNvPr>
          <p:cNvSpPr/>
          <p:nvPr/>
        </p:nvSpPr>
        <p:spPr>
          <a:xfrm>
            <a:off x="6490063" y="5133085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ja-JP" altLang="en-US" sz="1200">
                <a:solidFill>
                  <a:srgbClr val="7A52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「単発」は新着配信のみ（派遣を基準に設計）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B080DFA3-5E6A-7CB9-A83C-9D87074C7C62}"/>
              </a:ext>
            </a:extLst>
          </p:cNvPr>
          <p:cNvSpPr/>
          <p:nvPr/>
        </p:nvSpPr>
        <p:spPr>
          <a:xfrm>
            <a:off x="167640" y="1572768"/>
            <a:ext cx="9570720" cy="47722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FDC81EE9-FE25-DEA2-3BE6-5D4BC6729956}"/>
              </a:ext>
            </a:extLst>
          </p:cNvPr>
          <p:cNvSpPr/>
          <p:nvPr/>
        </p:nvSpPr>
        <p:spPr>
          <a:xfrm>
            <a:off x="4940121" y="59287"/>
            <a:ext cx="2597727" cy="41563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9010635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［第3章］構築｜リッチメニュー（3タブ × 6枠）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「条件を変える」「通知を止める」を、隠さずに置く。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出口を塞ぐと、二度と戻ってこない。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480000" y="1584000"/>
            <a:ext cx="2988000" cy="503999"/>
          </a:xfrm>
          <a:prstGeom prst="rect">
            <a:avLst/>
          </a:prstGeom>
          <a:solidFill>
            <a:srgbClr val="FFFFFF"/>
          </a:solidFill>
          <a:ln w="9525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88000" y="1582450"/>
            <a:ext cx="2772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今すぐ探す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8000" y="1834147"/>
            <a:ext cx="2772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最重要CTA。常に左上に置く</a:t>
            </a:r>
          </a:p>
        </p:txBody>
      </p:sp>
      <p:sp>
        <p:nvSpPr>
          <p:cNvPr id="9" name="Rectangle 8"/>
          <p:cNvSpPr/>
          <p:nvPr/>
        </p:nvSpPr>
        <p:spPr>
          <a:xfrm>
            <a:off x="6480000" y="2167200"/>
            <a:ext cx="2988000" cy="503999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88000" y="2165650"/>
            <a:ext cx="2772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条件に合う新着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8000" y="2417347"/>
            <a:ext cx="2772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希望条件から一覧へ送る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80000" y="2750400"/>
            <a:ext cx="2988000" cy="503999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88000" y="2748850"/>
            <a:ext cx="2772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希望条件を変える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8000" y="3000547"/>
            <a:ext cx="2772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条件が合わず他社へ流れるのを防ぐ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80000" y="3333600"/>
            <a:ext cx="2988000" cy="503999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88000" y="3332050"/>
            <a:ext cx="2772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よくある質問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8000" y="3583747"/>
            <a:ext cx="2772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職場見学・持ち物に先回り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80000" y="3916800"/>
            <a:ext cx="2988000" cy="503999"/>
          </a:xfrm>
          <a:prstGeom prst="rect">
            <a:avLst/>
          </a:prstGeom>
          <a:solidFill>
            <a:srgbClr val="FFFFFF"/>
          </a:solidFill>
          <a:ln w="9525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88000" y="3915250"/>
            <a:ext cx="2772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通知を止める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8000" y="4166947"/>
            <a:ext cx="2772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ブロックの代わりになる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80000" y="4500000"/>
            <a:ext cx="2988000" cy="503999"/>
          </a:xfrm>
          <a:prstGeom prst="rect">
            <a:avLst/>
          </a:prstGeom>
          <a:solidFill>
            <a:srgbClr val="FDF2F2"/>
          </a:solidFill>
          <a:ln w="15875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588000" y="4498450"/>
            <a:ext cx="2772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今は働いている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8000" y="4750147"/>
            <a:ext cx="2772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★ 就業中は止め、満了前に再開する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2000" y="5184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32000" y="5224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「今は働いている」を置くから、次の仕事探しで戻ってこられる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画面はイメージです。タブ構成とボタン名は運用しながら調整します。タウンワークもリッチメニューに人気の検索条件を並べ、リッチメニュー経由の応募が＋79%（公式事例・P10）</a:t>
            </a:r>
          </a:p>
        </p:txBody>
      </p:sp>
      <p:pic>
        <p:nvPicPr>
          <p:cNvPr id="27" name="Picture 26" descr="人材A_リッチメニュー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7584" y="1512000"/>
            <a:ext cx="4292830" cy="286188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［第4章］配信設計｜7日ステップの全体像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6384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応募は数日で決まるので7日で組む。求人を出すのはDay0とDay7だけ。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前後検索で見えた「比較 → 相場 → 続けられるか」の順に答える。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9043200" cy="3312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82399" y="16001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46400" y="16001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役割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02400" y="16001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配信内容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46400" y="16001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根拠（前後検索）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2399" y="19781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6400" y="19781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比較の最中に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02400" y="19781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lang="ja-JP" altLang="en-US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あいさつ＋条件5問 → 合う求人を3件</a:t>
            </a:r>
            <a:endParaRPr sz="1200" b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746400" y="19781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0日に派遣会社名が並ぶ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2000" y="2304000"/>
            <a:ext cx="9043200" cy="4248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82399" y="24029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6400" y="24029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相場を示す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02400" y="24029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希望エリア・職種の時給の相場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46400" y="24029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+2日「派遣 時給 相場」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2399" y="28277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6400" y="28277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逃げ道を置く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02400" y="28277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合わなかったときの相談窓口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46400" y="28277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「派遣 契約期間内 辞める」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2000" y="3153600"/>
            <a:ext cx="9043200" cy="4248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82399" y="32525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46400" y="32525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不安を消す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02400" y="32525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職場見学・面接の流れと持ち物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46400" y="32525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+15日「派遣 職場見学」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2399" y="36773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★7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46400" y="36773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新着の案内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02400" y="36773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今週の新着まとめ＋「条件を変える」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46400" y="36773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条件が合わないと他社へ流れる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2000" y="4003199"/>
            <a:ext cx="9043200" cy="4248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82399" y="4102146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満了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46400" y="4102146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1ヶ月前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02400" y="4102146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次のご希望は？（条件5問を再送）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46400" y="4102146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+5日「派遣 更新しない」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2399" y="45269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満了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46400" y="45269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2週間前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02400" y="45269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条件に合う新着を3件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46400" y="45269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次を探す人に、他社より先に届く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2000" y="5112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32000" y="5152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Day3は求人を出さない。出さない回があるから、Day7が効く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Q5（働き方）の回答で走らせ方を変えます。「単発・日払い」はステップに入れず新着のみ。★面接予約・就業開始など状況が変わったら、その時点で配信を切り替えます。契約満了の声かけは、満了予定日を基準に自動で送りま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［第4章］配信設計｜実文面 Day0・Day3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Day0は5問の回答直後に、条件に合う3件だけを出す。Day3は求人を出さない。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「合わなかったら相談できる」と先に伝える回が、信頼をつくる。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92000" y="1655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36000" y="1758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Day0｜3件だけ出す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6000" y="2088000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何十件も並べない。条件に合う3件だけを出す。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何社も比べている人に、選ぶ手間をかけさせない。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000" y="3060000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36000" y="3162849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Day3｜求人を出さない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6000" y="3491999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「合わなかったときの相談先」だけを伝える。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「契約期間内 辞める」は前後検索で確実に立っている。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92000" y="4463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36000" y="4566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この回の狙い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6000" y="4895999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「ここなら続けられそう」に変わること。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ここでDay7の新着が開かれるようになる。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画面はイメージです。絵文字・改行・通知プレビューの冒頭15字まで設計します</a:t>
            </a:r>
          </a:p>
        </p:txBody>
      </p:sp>
      <p:pic>
        <p:nvPicPr>
          <p:cNvPr id="16" name="Picture 15" descr="人材A_トーク_Day0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526603"/>
            <a:ext cx="3096000" cy="4644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［第4章］配信設計｜実文面 Day7・契約満了前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Day7は新着のまとめと「条件を変える」。満了1ヶ月前は、こちらから声をかける。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次に探し始める日が読めるのは、就業中の人だけ。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92000" y="1655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36000" y="1758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Day7｜条件を変える逃げ道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6000" y="2088000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「応募してください」ではなく、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合わなければ条件を変えられると伝える。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000" y="3060000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36000" y="3162849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満了1ヶ月前｜先に声をかける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6000" y="3491999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契約満了予定日を基準に自動で送る。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他社より先に、次の希望を聞ける。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92000" y="4463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36000" y="4566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更新する人はどうなるか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6000" y="4895999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「更新する」を選んだ人は、次の満了まで通知を止める。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派遣は1回で終わらない。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画面はイメージです。絵文字・改行・通知プレビューの冒頭15字まで設計します</a:t>
            </a:r>
          </a:p>
        </p:txBody>
      </p:sp>
      <p:pic>
        <p:nvPicPr>
          <p:cNvPr id="16" name="Picture 15" descr="人材A_トーク_Day7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526603"/>
            <a:ext cx="3096000" cy="4644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033825-9171-A79A-31F7-FBB36FFE7B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FCD327D4-877A-97BF-5A3D-BA2BFF89C5D1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［第4章］年間の企画投稿カレンダー</a:t>
            </a:r>
          </a:p>
        </p:txBody>
      </p:sp>
      <p:sp>
        <p:nvSpPr>
          <p:cNvPr id="2" name="Google Shape;752;p28">
            <a:extLst>
              <a:ext uri="{FF2B5EF4-FFF2-40B4-BE49-F238E27FC236}">
                <a16:creationId xmlns:a16="http://schemas.microsoft.com/office/drawing/2014/main" id="{344F9C81-17B8-CD75-7943-C74785EA9326}"/>
              </a:ext>
            </a:extLst>
          </p:cNvPr>
          <p:cNvSpPr txBox="1"/>
          <p:nvPr/>
        </p:nvSpPr>
        <p:spPr>
          <a:xfrm>
            <a:off x="309397" y="687600"/>
            <a:ext cx="9330992" cy="609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派遣は毎年3月、バイトは4月がピーク。最も少ないのは両方とも12月です。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競合が動かない12月に友だちを貯め、3月は派遣、4月はバイトの応募へつなぎます。</a:t>
            </a:r>
          </a:p>
        </p:txBody>
      </p:sp>
      <p:sp>
        <p:nvSpPr>
          <p:cNvPr id="3" name="Shape 2">
            <a:extLst>
              <a:ext uri="{FF2B5EF4-FFF2-40B4-BE49-F238E27FC236}">
                <a16:creationId xmlns:a16="http://schemas.microsoft.com/office/drawing/2014/main" id="{C60A8489-6BE4-3B93-2131-E11F42129098}"/>
              </a:ext>
            </a:extLst>
          </p:cNvPr>
          <p:cNvSpPr/>
          <p:nvPr/>
        </p:nvSpPr>
        <p:spPr>
          <a:xfrm>
            <a:off x="683623" y="2150404"/>
            <a:ext cx="42062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4A90D9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D946CD2D-A79C-A7B7-15A1-A1837415507A}"/>
              </a:ext>
            </a:extLst>
          </p:cNvPr>
          <p:cNvSpPr/>
          <p:nvPr/>
        </p:nvSpPr>
        <p:spPr>
          <a:xfrm>
            <a:off x="793351" y="2241844"/>
            <a:ext cx="658368" cy="292608"/>
          </a:xfrm>
          <a:prstGeom prst="roundRect">
            <a:avLst>
              <a:gd name="adj" fmla="val 18750"/>
            </a:avLst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AB03F4F1-34EC-318B-44DB-813F9A260ADC}"/>
              </a:ext>
            </a:extLst>
          </p:cNvPr>
          <p:cNvSpPr/>
          <p:nvPr/>
        </p:nvSpPr>
        <p:spPr>
          <a:xfrm>
            <a:off x="793351" y="2241844"/>
            <a:ext cx="6583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2-3月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C1B56B7E-2C3F-30E8-B262-184104348BC9}"/>
              </a:ext>
            </a:extLst>
          </p:cNvPr>
          <p:cNvSpPr/>
          <p:nvPr/>
        </p:nvSpPr>
        <p:spPr>
          <a:xfrm>
            <a:off x="1506583" y="2260132"/>
            <a:ext cx="1005840" cy="256032"/>
          </a:xfrm>
          <a:prstGeom prst="roundRect">
            <a:avLst>
              <a:gd name="adj" fmla="val 14286"/>
            </a:avLst>
          </a:prstGeom>
          <a:solidFill>
            <a:srgbClr val="F4F7FF"/>
          </a:solidFill>
          <a:ln w="12700">
            <a:solidFill>
              <a:srgbClr val="E8EDF8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A84711DF-BA77-8F0A-2104-C18090ED3CC4}"/>
              </a:ext>
            </a:extLst>
          </p:cNvPr>
          <p:cNvSpPr/>
          <p:nvPr/>
        </p:nvSpPr>
        <p:spPr>
          <a:xfrm>
            <a:off x="1506583" y="2260132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派遣の山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F76CECB1-59BF-1E7A-094C-226743CD5D1F}"/>
              </a:ext>
            </a:extLst>
          </p:cNvPr>
          <p:cNvSpPr/>
          <p:nvPr/>
        </p:nvSpPr>
        <p:spPr>
          <a:xfrm>
            <a:off x="793351" y="260760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「4月からの就業先さがし」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E9330544-7DE3-4156-FDB0-0068C25C7D92}"/>
              </a:ext>
            </a:extLst>
          </p:cNvPr>
          <p:cNvSpPr/>
          <p:nvPr/>
        </p:nvSpPr>
        <p:spPr>
          <a:xfrm>
            <a:off x="793351" y="2927643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派遣は3月がピーク（指数110.8）。</a:t>
            </a: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年度替わりで、契約満了と就業先さがしが重なる。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施策：12月に貯めた友だちへ、条件別の新着を一斉に案内。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6C89C044-CC81-F526-4C28-8C8818A84AC8}"/>
              </a:ext>
            </a:extLst>
          </p:cNvPr>
          <p:cNvSpPr/>
          <p:nvPr/>
        </p:nvSpPr>
        <p:spPr>
          <a:xfrm>
            <a:off x="793351" y="3723171"/>
            <a:ext cx="3931920" cy="228600"/>
          </a:xfrm>
          <a:prstGeom prst="roundRect">
            <a:avLst>
              <a:gd name="adj" fmla="val 16000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EBB9FD63-B2E1-8ED6-289B-17E75D53D0CF}"/>
              </a:ext>
            </a:extLst>
          </p:cNvPr>
          <p:cNvSpPr/>
          <p:nvPr/>
        </p:nvSpPr>
        <p:spPr>
          <a:xfrm>
            <a:off x="793351" y="3723171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KPI：応募数／面接・職場見学の実施率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718FE43C-F46C-BAA4-F102-48BC91B9077E}"/>
              </a:ext>
            </a:extLst>
          </p:cNvPr>
          <p:cNvSpPr/>
          <p:nvPr/>
        </p:nvSpPr>
        <p:spPr>
          <a:xfrm>
            <a:off x="5118463" y="2150404"/>
            <a:ext cx="42062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chemeClr val="accent1">
                <a:lumMod val="60000"/>
                <a:lumOff val="40000"/>
              </a:schemeClr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BCFAF28F-3A41-62B7-ED14-2C88314DE693}"/>
              </a:ext>
            </a:extLst>
          </p:cNvPr>
          <p:cNvSpPr/>
          <p:nvPr/>
        </p:nvSpPr>
        <p:spPr>
          <a:xfrm>
            <a:off x="5228191" y="2241844"/>
            <a:ext cx="658368" cy="292608"/>
          </a:xfrm>
          <a:prstGeom prst="roundRect">
            <a:avLst>
              <a:gd name="adj" fmla="val 18750"/>
            </a:avLst>
          </a:prstGeom>
          <a:solidFill>
            <a:schemeClr val="accent1">
              <a:lumMod val="40000"/>
              <a:lumOff val="6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5636307B-10AB-ADC3-1727-AB8FC5831143}"/>
              </a:ext>
            </a:extLst>
          </p:cNvPr>
          <p:cNvSpPr/>
          <p:nvPr/>
        </p:nvSpPr>
        <p:spPr>
          <a:xfrm>
            <a:off x="5228191" y="2241844"/>
            <a:ext cx="6583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4月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4D4B9A45-FCB5-6DB2-B02F-57FFE5D56691}"/>
              </a:ext>
            </a:extLst>
          </p:cNvPr>
          <p:cNvSpPr/>
          <p:nvPr/>
        </p:nvSpPr>
        <p:spPr>
          <a:xfrm>
            <a:off x="5941423" y="2260132"/>
            <a:ext cx="1005840" cy="256032"/>
          </a:xfrm>
          <a:prstGeom prst="roundRect">
            <a:avLst>
              <a:gd name="adj" fmla="val 14286"/>
            </a:avLst>
          </a:prstGeom>
          <a:solidFill>
            <a:srgbClr val="F4F7FF"/>
          </a:solidFill>
          <a:ln w="12700">
            <a:solidFill>
              <a:srgbClr val="E8EDF8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5AB9A477-5190-5925-BA00-7C28E41E2AE9}"/>
              </a:ext>
            </a:extLst>
          </p:cNvPr>
          <p:cNvSpPr/>
          <p:nvPr/>
        </p:nvSpPr>
        <p:spPr>
          <a:xfrm>
            <a:off x="5941423" y="2260132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バイトの山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F0DF4241-0F34-404F-9C8A-0C5C0B3F7B0B}"/>
              </a:ext>
            </a:extLst>
          </p:cNvPr>
          <p:cNvSpPr/>
          <p:nvPr/>
        </p:nvSpPr>
        <p:spPr>
          <a:xfrm>
            <a:off x="5228191" y="260760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「新生活のシフトさがし」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2F5CBA0E-C68D-2D85-8F64-5D9ED46DE52D}"/>
              </a:ext>
            </a:extLst>
          </p:cNvPr>
          <p:cNvSpPr/>
          <p:nvPr/>
        </p:nvSpPr>
        <p:spPr>
          <a:xfrm>
            <a:off x="5228191" y="2927643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 err="1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バイトは4月がピーク（指数117.5）。派遣より1か月遅い。</a:t>
            </a: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 err="1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新生活が始まり、シフトを組める時期に探し始める。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施策：3月の派遣の配信とずらし、4月にバイトの新着を案内。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7EF6A367-39C2-356A-9B47-3D3671D8D918}"/>
              </a:ext>
            </a:extLst>
          </p:cNvPr>
          <p:cNvSpPr/>
          <p:nvPr/>
        </p:nvSpPr>
        <p:spPr>
          <a:xfrm>
            <a:off x="5228191" y="3723171"/>
            <a:ext cx="3931920" cy="228600"/>
          </a:xfrm>
          <a:prstGeom prst="roundRect">
            <a:avLst>
              <a:gd name="adj" fmla="val 16000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5E166AEE-8473-61AD-BC51-7204C60ECFE2}"/>
              </a:ext>
            </a:extLst>
          </p:cNvPr>
          <p:cNvSpPr/>
          <p:nvPr/>
        </p:nvSpPr>
        <p:spPr>
          <a:xfrm>
            <a:off x="5228191" y="3723171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KPI：応募数／希望条件の回答率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487B2061-6B88-0A18-0E57-12185B834CCF}"/>
              </a:ext>
            </a:extLst>
          </p:cNvPr>
          <p:cNvSpPr/>
          <p:nvPr/>
        </p:nvSpPr>
        <p:spPr>
          <a:xfrm>
            <a:off x="683623" y="4207803"/>
            <a:ext cx="42062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chemeClr val="accent1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D80051DD-55DD-DDC4-1C20-FA43FB837AEB}"/>
              </a:ext>
            </a:extLst>
          </p:cNvPr>
          <p:cNvSpPr/>
          <p:nvPr/>
        </p:nvSpPr>
        <p:spPr>
          <a:xfrm>
            <a:off x="793351" y="4299244"/>
            <a:ext cx="658368" cy="292608"/>
          </a:xfrm>
          <a:prstGeom prst="roundRect">
            <a:avLst>
              <a:gd name="adj" fmla="val 18750"/>
            </a:avLst>
          </a:prstGeom>
          <a:solidFill>
            <a:schemeClr val="accent1"/>
          </a:solidFill>
          <a:ln w="12700">
            <a:noFill/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166D040C-5E3C-D384-1752-F340D729E508}"/>
              </a:ext>
            </a:extLst>
          </p:cNvPr>
          <p:cNvSpPr/>
          <p:nvPr/>
        </p:nvSpPr>
        <p:spPr>
          <a:xfrm>
            <a:off x="793351" y="4299244"/>
            <a:ext cx="6583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9-10月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E1D75AA6-DC2D-C974-1F8F-EA3764B5E2B1}"/>
              </a:ext>
            </a:extLst>
          </p:cNvPr>
          <p:cNvSpPr/>
          <p:nvPr/>
        </p:nvSpPr>
        <p:spPr>
          <a:xfrm>
            <a:off x="1506583" y="4317531"/>
            <a:ext cx="1005840" cy="256032"/>
          </a:xfrm>
          <a:prstGeom prst="roundRect">
            <a:avLst>
              <a:gd name="adj" fmla="val 14286"/>
            </a:avLst>
          </a:prstGeom>
          <a:solidFill>
            <a:srgbClr val="F4F7FF"/>
          </a:solidFill>
          <a:ln w="12700">
            <a:solidFill>
              <a:srgbClr val="E8EDF8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2C81E4D3-7404-C45A-3360-2888B2C16CEC}"/>
              </a:ext>
            </a:extLst>
          </p:cNvPr>
          <p:cNvSpPr/>
          <p:nvPr/>
        </p:nvSpPr>
        <p:spPr>
          <a:xfrm>
            <a:off x="1506583" y="4317531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秋の戻り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D74753E2-5389-A4C0-99DF-F1EBD9F21486}"/>
              </a:ext>
            </a:extLst>
          </p:cNvPr>
          <p:cNvSpPr/>
          <p:nvPr/>
        </p:nvSpPr>
        <p:spPr>
          <a:xfrm>
            <a:off x="793351" y="466500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「下半期からの新しい仕事」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15421AF9-EA34-4D6D-A17B-353040384108}"/>
              </a:ext>
            </a:extLst>
          </p:cNvPr>
          <p:cNvSpPr/>
          <p:nvPr/>
        </p:nvSpPr>
        <p:spPr>
          <a:xfrm>
            <a:off x="793351" y="4985044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派遣は10月に指数が戻る（102.4）。</a:t>
            </a: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 err="1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8月の谷のあと、下半期の入れ替えで動く。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施策：契約満了に合わせて声をかけ、12月へつなぐ。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5BE67E13-AD4F-4228-9F1A-8B4E0CCBEBBE}"/>
              </a:ext>
            </a:extLst>
          </p:cNvPr>
          <p:cNvSpPr/>
          <p:nvPr/>
        </p:nvSpPr>
        <p:spPr>
          <a:xfrm>
            <a:off x="793351" y="5780571"/>
            <a:ext cx="3931920" cy="228600"/>
          </a:xfrm>
          <a:prstGeom prst="roundRect">
            <a:avLst>
              <a:gd name="adj" fmla="val 16000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9E653D90-A148-4540-DAAB-BDE1AE7D11F9}"/>
              </a:ext>
            </a:extLst>
          </p:cNvPr>
          <p:cNvSpPr/>
          <p:nvPr/>
        </p:nvSpPr>
        <p:spPr>
          <a:xfrm>
            <a:off x="793351" y="5780571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KPI：再応募数（満了後に戻った人）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9A903725-E0FA-B7ED-BE7F-3E870C011999}"/>
              </a:ext>
            </a:extLst>
          </p:cNvPr>
          <p:cNvSpPr/>
          <p:nvPr/>
        </p:nvSpPr>
        <p:spPr>
          <a:xfrm>
            <a:off x="5118463" y="4207803"/>
            <a:ext cx="42062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chemeClr val="tx2">
                <a:lumMod val="50000"/>
              </a:schemeClr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E560804C-2AD2-34CF-80F2-47723D89B9EE}"/>
              </a:ext>
            </a:extLst>
          </p:cNvPr>
          <p:cNvSpPr/>
          <p:nvPr/>
        </p:nvSpPr>
        <p:spPr>
          <a:xfrm>
            <a:off x="5228191" y="4299244"/>
            <a:ext cx="658368" cy="292608"/>
          </a:xfrm>
          <a:prstGeom prst="roundRect">
            <a:avLst>
              <a:gd name="adj" fmla="val 18750"/>
            </a:avLst>
          </a:prstGeom>
          <a:solidFill>
            <a:schemeClr val="tx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0D3AA494-1CCC-455B-FD0B-69A03482B0B2}"/>
              </a:ext>
            </a:extLst>
          </p:cNvPr>
          <p:cNvSpPr/>
          <p:nvPr/>
        </p:nvSpPr>
        <p:spPr>
          <a:xfrm>
            <a:off x="5228191" y="4299244"/>
            <a:ext cx="6583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12月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4" name="Shape 32">
            <a:extLst>
              <a:ext uri="{FF2B5EF4-FFF2-40B4-BE49-F238E27FC236}">
                <a16:creationId xmlns:a16="http://schemas.microsoft.com/office/drawing/2014/main" id="{7CE7A172-10BE-1E65-8E12-21F725E375E4}"/>
              </a:ext>
            </a:extLst>
          </p:cNvPr>
          <p:cNvSpPr/>
          <p:nvPr/>
        </p:nvSpPr>
        <p:spPr>
          <a:xfrm>
            <a:off x="5941423" y="4317531"/>
            <a:ext cx="1005840" cy="256032"/>
          </a:xfrm>
          <a:prstGeom prst="roundRect">
            <a:avLst>
              <a:gd name="adj" fmla="val 14286"/>
            </a:avLst>
          </a:prstGeom>
          <a:solidFill>
            <a:srgbClr val="F4F7FF"/>
          </a:solidFill>
          <a:ln w="12700">
            <a:solidFill>
              <a:srgbClr val="E8EDF8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6FF1A96D-D52E-0E30-532A-ECE831BE9605}"/>
              </a:ext>
            </a:extLst>
          </p:cNvPr>
          <p:cNvSpPr/>
          <p:nvPr/>
        </p:nvSpPr>
        <p:spPr>
          <a:xfrm>
            <a:off x="5941423" y="4317531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仕込み期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6B191EBD-ED99-BB14-8C62-5B0BA0590745}"/>
              </a:ext>
            </a:extLst>
          </p:cNvPr>
          <p:cNvSpPr/>
          <p:nvPr/>
        </p:nvSpPr>
        <p:spPr>
          <a:xfrm>
            <a:off x="5228191" y="466500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「年明けから働きたい人の先行受付」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7" name="Text 35">
            <a:extLst>
              <a:ext uri="{FF2B5EF4-FFF2-40B4-BE49-F238E27FC236}">
                <a16:creationId xmlns:a16="http://schemas.microsoft.com/office/drawing/2014/main" id="{13B90534-5D2F-7E51-02AE-C33CF568ED2E}"/>
              </a:ext>
            </a:extLst>
          </p:cNvPr>
          <p:cNvSpPr/>
          <p:nvPr/>
        </p:nvSpPr>
        <p:spPr>
          <a:xfrm>
            <a:off x="5228191" y="4985044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 err="1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★ 1年で最も少ない月（派遣88.4／バイト88.0）。</a:t>
            </a: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 err="1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競合が動かないので、友だちを最も安く貯められる。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施策：希望条件の再送と新着の先行案内。3〜4月の母数に。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8" name="Shape 36">
            <a:extLst>
              <a:ext uri="{FF2B5EF4-FFF2-40B4-BE49-F238E27FC236}">
                <a16:creationId xmlns:a16="http://schemas.microsoft.com/office/drawing/2014/main" id="{985D5473-A6B2-6E6C-69A6-536638C669C1}"/>
              </a:ext>
            </a:extLst>
          </p:cNvPr>
          <p:cNvSpPr/>
          <p:nvPr/>
        </p:nvSpPr>
        <p:spPr>
          <a:xfrm>
            <a:off x="5228191" y="5780571"/>
            <a:ext cx="3931920" cy="228600"/>
          </a:xfrm>
          <a:prstGeom prst="roundRect">
            <a:avLst>
              <a:gd name="adj" fmla="val 16000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665AB6CB-040B-F5AE-5EDC-FD4A6C6C841A}"/>
              </a:ext>
            </a:extLst>
          </p:cNvPr>
          <p:cNvSpPr/>
          <p:nvPr/>
        </p:nvSpPr>
        <p:spPr>
          <a:xfrm>
            <a:off x="5228191" y="5780571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KPI：友だち追加数（この月はオファーを出さない）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2" name="Shape 2">
            <a:extLst>
              <a:ext uri="{FF2B5EF4-FFF2-40B4-BE49-F238E27FC236}">
                <a16:creationId xmlns:a16="http://schemas.microsoft.com/office/drawing/2014/main" id="{22BE1ADA-BF01-A520-0D77-972E7821FCE2}"/>
              </a:ext>
            </a:extLst>
          </p:cNvPr>
          <p:cNvSpPr/>
          <p:nvPr/>
        </p:nvSpPr>
        <p:spPr>
          <a:xfrm>
            <a:off x="683623" y="1612213"/>
            <a:ext cx="8646160" cy="457200"/>
          </a:xfrm>
          <a:prstGeom prst="roundRect">
            <a:avLst>
              <a:gd name="adj" fmla="val 16000"/>
            </a:avLst>
          </a:prstGeom>
          <a:solidFill>
            <a:srgbClr val="F4F7FF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3" name="Text 3">
            <a:extLst>
              <a:ext uri="{FF2B5EF4-FFF2-40B4-BE49-F238E27FC236}">
                <a16:creationId xmlns:a16="http://schemas.microsoft.com/office/drawing/2014/main" id="{F90B8BB4-8425-50C4-639B-16BEF90627DF}"/>
              </a:ext>
            </a:extLst>
          </p:cNvPr>
          <p:cNvSpPr/>
          <p:nvPr/>
        </p:nvSpPr>
        <p:spPr>
          <a:xfrm>
            <a:off x="866503" y="1612213"/>
            <a:ext cx="8458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alt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★ 派遣とバイトで配信を1か月ずらす。3月に派遣、4月にバイト。同じ月に同じ配信をしない。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7" name="正方形/長方形 46">
            <a:extLst>
              <a:ext uri="{FF2B5EF4-FFF2-40B4-BE49-F238E27FC236}">
                <a16:creationId xmlns:a16="http://schemas.microsoft.com/office/drawing/2014/main" id="{8517C2D8-2B96-60F6-B4C8-41F2D3663705}"/>
              </a:ext>
            </a:extLst>
          </p:cNvPr>
          <p:cNvSpPr/>
          <p:nvPr/>
        </p:nvSpPr>
        <p:spPr>
          <a:xfrm>
            <a:off x="139337" y="1445006"/>
            <a:ext cx="9570720" cy="47722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4" name="正方形/長方形 43">
            <a:extLst>
              <a:ext uri="{FF2B5EF4-FFF2-40B4-BE49-F238E27FC236}">
                <a16:creationId xmlns:a16="http://schemas.microsoft.com/office/drawing/2014/main" id="{F12EE9E2-9122-74C3-0A3B-F81EEC972BBE}"/>
              </a:ext>
            </a:extLst>
          </p:cNvPr>
          <p:cNvSpPr/>
          <p:nvPr/>
        </p:nvSpPr>
        <p:spPr>
          <a:xfrm>
            <a:off x="4940121" y="59287"/>
            <a:ext cx="2597727" cy="41563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21853059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［第4章］配信設計｜通知メッセージ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友だち追加していない相手にも、電話番号あてに届く。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面接・職場見学の前日リマインドは、実施率にそのまま効く。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92000" y="1655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FDF1E9"/>
          </a:solidFill>
          <a:ln w="1270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36000" y="1758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① 面接・職場見学の前日リマインド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6000" y="2088000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日時・場所・道順・持ち物・服装を前日に送る。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来ない人が減ると、派遣先・掲載企業との関係が続く。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000" y="3060000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FDF1E9"/>
          </a:solidFill>
          <a:ln w="1270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36000" y="3162849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② 休眠リストへの友だち追加案内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6000" y="3491999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過去に応募して連絡が切れた人へ、友だち追加をご案内する。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求人案内は、追加後に通常配信で届けます。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92000" y="4463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FDF1E9"/>
          </a:solidFill>
          <a:ln w="1270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36000" y="4566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③ 契約満了の1ヶ月前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6000" y="4895999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更新意思の確認として、次の希望をうかがう。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次に探し始める日が読める、唯一の層。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通知メッセージは別途費用（初期10万円／月額8万円〜＋通数単価7円）。用途は審査制で、配送・予約確認等の個別通知が前提です。求人案内目的での利用は事前確認が必要です</a:t>
            </a:r>
          </a:p>
        </p:txBody>
      </p:sp>
      <p:pic>
        <p:nvPicPr>
          <p:cNvPr id="16" name="Picture 15" descr="人材A_通知メッセージ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735" y="1526603"/>
            <a:ext cx="3076528" cy="4614792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［第4章］歩留まり｜面接・職場見学の実施率をどう上げるか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応募数も広告費も増やさずに、面接・職場見学に来る人を増やす。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9043200" cy="77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32000" y="1548000"/>
            <a:ext cx="2736000" cy="77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2000" y="1803849"/>
            <a:ext cx="2736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前日にリマインド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11999" y="1803849"/>
            <a:ext cx="3024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日時・場所・道順・持ち物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8000" y="1803849"/>
            <a:ext cx="29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無断欠席が減る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432000" y="2430000"/>
            <a:ext cx="9043200" cy="77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2000" y="2430000"/>
            <a:ext cx="2736000" cy="77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32000" y="2685849"/>
            <a:ext cx="2736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不安に先回り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11999" y="2685849"/>
            <a:ext cx="3024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職場見学の流れを事前に送る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8000" y="2685849"/>
            <a:ext cx="29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「落ちる確率」の不安を消す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000" y="3311999"/>
            <a:ext cx="9043200" cy="77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2000" y="3311999"/>
            <a:ext cx="2736000" cy="77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32000" y="3567848"/>
            <a:ext cx="2736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日程をその場で確定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11999" y="3567848"/>
            <a:ext cx="3024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LINEで候補日を選んでもらう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8000" y="3567848"/>
            <a:ext cx="29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電話の往復で冷めるのを防ぐ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2000" y="4194000"/>
            <a:ext cx="9043200" cy="77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32000" y="4194000"/>
            <a:ext cx="2736000" cy="77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32000" y="4449849"/>
            <a:ext cx="2736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 合わなければ次を出す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11999" y="4449849"/>
            <a:ext cx="3024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不採用・辞退の翌日に別の求人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8000" y="4458697"/>
            <a:ext cx="2988000" cy="244604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温度が高いうちに次の応募へ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2000" y="5148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32000" y="5188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目指すのは応募を増やすことではなく、戻ってきた人が就業・再就業することです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応募→面接実施率の業界水準は公開データが存在しません。貴社の実測値で試算いたします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［第4章］歩留まり｜手が止まるのは、忙しい時間帯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課題は人手の多さではなく、時間帯のずれです。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求職者が探す夜間・土日に、こちらの手が空いていない。そこをLINEで埋めます。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4392000" cy="3096000"/>
          </a:xfrm>
          <a:prstGeom prst="rect">
            <a:avLst/>
          </a:prstGeom>
          <a:solidFill>
            <a:srgbClr val="FDF2F2"/>
          </a:solidFill>
          <a:ln w="15875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32000" y="1548000"/>
            <a:ext cx="4392000" cy="342000"/>
          </a:xfrm>
          <a:prstGeom prst="rect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2000" y="1570152"/>
            <a:ext cx="43920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いま起きていること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998000"/>
            <a:ext cx="4104000" cy="1765020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・応募直後に架電しても、出てもらえない</a:t>
            </a:r>
          </a:p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・折り返しが夕方以降に集中する</a:t>
            </a:r>
          </a:p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・面接・職場見学の日程調整が電話で往復する</a:t>
            </a:r>
          </a:p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・同じ質問に何度も答えている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5083200" y="1548000"/>
            <a:ext cx="4392000" cy="3096000"/>
          </a:xfrm>
          <a:prstGeom prst="rect">
            <a:avLst/>
          </a:prstGeom>
          <a:solidFill>
            <a:srgbClr val="EEF2F9"/>
          </a:solidFill>
          <a:ln w="15875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83200" y="1548000"/>
            <a:ext cx="4392000" cy="342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83200" y="1570152"/>
            <a:ext cx="43920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LINEに逃がせるもの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27200" y="1998000"/>
            <a:ext cx="4104000" cy="1765020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・面接・職場見学の日程調整</a:t>
            </a:r>
          </a:p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・よくある質問（自動応答）</a:t>
            </a:r>
          </a:p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・前日リマインド</a:t>
            </a:r>
          </a:p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・希望条件の変更の受付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2000" y="4896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2000" y="4936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増員では解けない。電話のやり取りが構造的に噛み合っていない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増員しても、求職者が動ける時間帯とのずれは解消しません。LINEで非同期にやり取りできる部分を切り出します／目指すのは応募を増やすことではなく、戻ってきた人が就業・再就業することです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5A5A4-75AD-516A-9D25-18F8EF002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752;p28">
            <a:extLst>
              <a:ext uri="{FF2B5EF4-FFF2-40B4-BE49-F238E27FC236}">
                <a16:creationId xmlns:a16="http://schemas.microsoft.com/office/drawing/2014/main" id="{0308A94D-067F-5D10-BF02-6777DD32E821}"/>
              </a:ext>
            </a:extLst>
          </p:cNvPr>
          <p:cNvSpPr txBox="1"/>
          <p:nvPr/>
        </p:nvSpPr>
        <p:spPr>
          <a:xfrm>
            <a:off x="547200" y="138137"/>
            <a:ext cx="7027574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en-US" altLang="ja-JP" sz="1600" b="1" dirty="0">
                <a:solidFill>
                  <a:srgbClr val="323366"/>
                </a:solidFill>
                <a:latin typeface="Meiryo"/>
                <a:ea typeface="Meiryo"/>
                <a:cs typeface="Meiryo"/>
                <a:sym typeface="Meiryo"/>
              </a:rPr>
              <a:t>［第5章］運用サポート体制</a:t>
            </a:r>
            <a:endParaRPr lang="en-US" altLang="ja-JP" sz="1600" b="1" dirty="0">
              <a:solidFill>
                <a:schemeClr val="tx1">
                  <a:lumMod val="50000"/>
                  <a:lumOff val="50000"/>
                </a:schemeClr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31489518-639C-6F8B-3CC2-E3A3D82066B2}"/>
              </a:ext>
            </a:extLst>
          </p:cNvPr>
          <p:cNvSpPr/>
          <p:nvPr/>
        </p:nvSpPr>
        <p:spPr>
          <a:xfrm>
            <a:off x="275003" y="1728082"/>
            <a:ext cx="9355994" cy="139128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2225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ja-JP" altLang="en-US" sz="2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① 月1回の定例会</a:t>
            </a:r>
            <a:endParaRPr lang="en-US" altLang="ja-JP" sz="24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GAレポート連携で、応募率・面接実施率を毎月確認します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D339252-F691-EA9D-983C-6241C7AABA77}"/>
              </a:ext>
            </a:extLst>
          </p:cNvPr>
          <p:cNvSpPr/>
          <p:nvPr/>
        </p:nvSpPr>
        <p:spPr>
          <a:xfrm>
            <a:off x="275003" y="3221875"/>
            <a:ext cx="9355994" cy="139128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2225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ja-JP" altLang="en-US" sz="2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② 企画配信の制作</a:t>
            </a:r>
            <a:endParaRPr lang="en-US" altLang="ja-JP" sz="24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年間カレンダーに沿った配信を、貴社に代わって作成します</a:t>
            </a:r>
          </a:p>
        </p:txBody>
      </p: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71A329C6-D6CA-D19E-C8A2-D6D234F2FA53}"/>
              </a:ext>
            </a:extLst>
          </p:cNvPr>
          <p:cNvCxnSpPr/>
          <p:nvPr/>
        </p:nvCxnSpPr>
        <p:spPr>
          <a:xfrm>
            <a:off x="1519747" y="1452035"/>
            <a:ext cx="6578990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楕円 12">
            <a:extLst>
              <a:ext uri="{FF2B5EF4-FFF2-40B4-BE49-F238E27FC236}">
                <a16:creationId xmlns:a16="http://schemas.microsoft.com/office/drawing/2014/main" id="{718487F9-9129-0E91-A220-B2EF077840F3}"/>
              </a:ext>
            </a:extLst>
          </p:cNvPr>
          <p:cNvSpPr/>
          <p:nvPr/>
        </p:nvSpPr>
        <p:spPr>
          <a:xfrm>
            <a:off x="3756183" y="751045"/>
            <a:ext cx="2022158" cy="589765"/>
          </a:xfrm>
          <a:prstGeom prst="ellipse">
            <a:avLst/>
          </a:prstGeom>
          <a:solidFill>
            <a:schemeClr val="accent1">
              <a:lumMod val="40000"/>
              <a:lumOff val="60000"/>
              <a:alpha val="41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ja-JP" alt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D2F1E1CA-9D65-A02D-917C-CB72A01459A6}"/>
              </a:ext>
            </a:extLst>
          </p:cNvPr>
          <p:cNvSpPr/>
          <p:nvPr/>
        </p:nvSpPr>
        <p:spPr>
          <a:xfrm>
            <a:off x="1502508" y="687600"/>
            <a:ext cx="6647975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ja-JP" altLang="en-US" sz="2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構築だけでなく、運用しながら改善する体制です。</a:t>
            </a:r>
          </a:p>
        </p:txBody>
      </p:sp>
      <p:sp>
        <p:nvSpPr>
          <p:cNvPr id="15" name="下矢印 1">
            <a:extLst>
              <a:ext uri="{FF2B5EF4-FFF2-40B4-BE49-F238E27FC236}">
                <a16:creationId xmlns:a16="http://schemas.microsoft.com/office/drawing/2014/main" id="{453026E5-FC32-AC14-0437-B9F8A5DB717B}"/>
              </a:ext>
            </a:extLst>
          </p:cNvPr>
          <p:cNvSpPr/>
          <p:nvPr/>
        </p:nvSpPr>
        <p:spPr>
          <a:xfrm>
            <a:off x="3379742" y="4715668"/>
            <a:ext cx="3196046" cy="421640"/>
          </a:xfrm>
          <a:prstGeom prst="downArrow">
            <a:avLst>
              <a:gd name="adj1" fmla="val 50000"/>
              <a:gd name="adj2" fmla="val 52758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ja-JP" alt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ED0D0284-90AC-92C0-335B-D83B919080B0}"/>
              </a:ext>
            </a:extLst>
          </p:cNvPr>
          <p:cNvSpPr/>
          <p:nvPr/>
        </p:nvSpPr>
        <p:spPr>
          <a:xfrm>
            <a:off x="275003" y="5239812"/>
            <a:ext cx="9355994" cy="8671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2225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ja-JP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③ チャット対応（自動応答の範囲。有人対応（Chat Plus／Call Plus）は別途）</a:t>
            </a:r>
          </a:p>
        </p:txBody>
      </p:sp>
    </p:spTree>
    <p:extLst>
      <p:ext uri="{BB962C8B-B14F-4D97-AF65-F5344CB8AC3E}">
        <p14:creationId xmlns:p14="http://schemas.microsoft.com/office/powerpoint/2010/main" val="97095852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［第5章］LINEOA実績・信頼性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LINEヤフー公式データと、業界の導入事例を示す。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84000"/>
            <a:ext cx="9043200" cy="81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12000" y="1857849"/>
            <a:ext cx="2376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LINE国内MAU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96000" y="1857849"/>
            <a:ext cx="3420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2025年12月末時点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23999" y="1584000"/>
            <a:ext cx="2736000" cy="810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22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1億人突破</a:t>
            </a:r>
          </a:p>
        </p:txBody>
      </p:sp>
      <p:sp>
        <p:nvSpPr>
          <p:cNvPr id="8" name="Rectangle 7"/>
          <p:cNvSpPr/>
          <p:nvPr/>
        </p:nvSpPr>
        <p:spPr>
          <a:xfrm>
            <a:off x="432000" y="2520000"/>
            <a:ext cx="9043200" cy="81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12000" y="2793849"/>
            <a:ext cx="2376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メッセージ開封率（当日中）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96000" y="2793849"/>
            <a:ext cx="3420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受信直後 約2割／3〜6時間で約5割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3999" y="2520000"/>
            <a:ext cx="2736000" cy="810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2200" b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約8割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2000" y="3456000"/>
            <a:ext cx="9043200" cy="810000"/>
          </a:xfrm>
          <a:prstGeom prst="rect">
            <a:avLst/>
          </a:prstGeom>
          <a:solidFill>
            <a:srgbClr val="FDF1E9"/>
          </a:solidFill>
          <a:ln w="190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2000" y="3729849"/>
            <a:ext cx="2376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同業種の導入事例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96000" y="3729849"/>
            <a:ext cx="3420000" cy="262301"/>
          </a:xfrm>
          <a:prstGeom prst="rect">
            <a:avLst/>
          </a:prstGeom>
          <a:noFill/>
        </p:spPr>
        <p:txBody>
          <a:bodyPr wrap="non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タウンワーク｜リッチメニュー経由の応募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3999" y="3456000"/>
            <a:ext cx="2736000" cy="810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22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＋79%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2000" y="4428000"/>
            <a:ext cx="9043200" cy="827999"/>
          </a:xfrm>
          <a:prstGeom prst="rect">
            <a:avLst/>
          </a:prstGeom>
          <a:solidFill>
            <a:srgbClr val="EEF2F9"/>
          </a:solidFill>
          <a:ln w="1905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32000" y="4428000"/>
            <a:ext cx="9043200" cy="827999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数字はLINEヤフー公式の値です（事例はP10〜P12）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2000" y="5598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出典｜LINE国内MAU・開封率：LINEヤフー公式値／導入事例：LINEヤフー for Business 導入事例（タウンワーク・2019年1月公開）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" y="5598000"/>
            <a:ext cx="9043416" cy="378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2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詳細は次回の商談でご確認いただけます</a:t>
            </a:r>
            <a:endParaRPr lang="ja-JP" altLang="en-US" sz="1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［第6章］費用プラン（6ヶ月〜／税抜）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貴社の課題と予算に合わせて、4つのプランからお選びいただけます。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初期費用は初月のみ。2ヶ月目以降は月額のみが継続してかかります。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12000"/>
            <a:ext cx="9043200" cy="3312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82399" y="1564147"/>
            <a:ext cx="2347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プラン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30400" y="1564147"/>
            <a:ext cx="1771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初期費用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02400" y="1564147"/>
            <a:ext cx="220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月額費用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06400" y="1564147"/>
            <a:ext cx="231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2399" y="1960147"/>
            <a:ext cx="2347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コンサル基本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30400" y="1960147"/>
            <a:ext cx="1771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10万円〜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2400" y="1960147"/>
            <a:ext cx="220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20 / 30 / 50万円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06400" y="1960147"/>
            <a:ext cx="231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lang="zh-TW" altLang="en-US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</a:t>
            </a:r>
            <a:r>
              <a:rPr lang="en-US" altLang="zh-TW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</a:t>
            </a:r>
            <a:r>
              <a:rPr lang="zh-TW" altLang="en-US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／</a:t>
            </a:r>
            <a:r>
              <a:rPr lang="en-US" altLang="zh-TW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</a:t>
            </a:r>
            <a:r>
              <a:rPr lang="zh-TW" altLang="en-US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／</a:t>
            </a:r>
            <a:r>
              <a:rPr lang="en-US" altLang="zh-TW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9</a:t>
            </a:r>
            <a:r>
              <a:rPr lang="zh-TW" altLang="en-US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投稿。設計</a:t>
            </a:r>
            <a:r>
              <a:rPr lang="en-US" altLang="zh-TW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〜</a:t>
            </a:r>
            <a:r>
              <a:rPr lang="zh-TW" altLang="en-US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運用</a:t>
            </a:r>
            <a:endParaRPr sz="1200" b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32000" y="2304000"/>
            <a:ext cx="9043200" cy="4608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82399" y="2420947"/>
            <a:ext cx="2347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成果報酬型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30400" y="2420947"/>
            <a:ext cx="1771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10万円〜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2400" y="2420947"/>
            <a:ext cx="220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単価 × 成果数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6400" y="2420947"/>
            <a:ext cx="231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アカウント費・ツール費は別途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2399" y="2881747"/>
            <a:ext cx="2347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初動設計のみ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30400" y="2881747"/>
            <a:ext cx="1771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10万円〜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2400" y="2881747"/>
            <a:ext cx="220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0万円〜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06400" y="2881747"/>
            <a:ext cx="231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GA計測とステップ配信を構築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2000" y="3225600"/>
            <a:ext cx="9043200" cy="4608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82399" y="3342547"/>
            <a:ext cx="2347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運用代行・効率改善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30400" y="3342547"/>
            <a:ext cx="1771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5万円〜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02400" y="3342547"/>
            <a:ext cx="220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5万円〜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06400" y="3342547"/>
            <a:ext cx="231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既存運用の改善。月3投稿〜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2000" y="3888000"/>
            <a:ext cx="4392000" cy="1584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76000" y="3960000"/>
            <a:ext cx="4104000" cy="270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無償で付帯するもの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6000" y="4266000"/>
            <a:ext cx="4104000" cy="1099453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プロフィール／リッチメニュー／あいさつメッセージ／初期アンケート／キーワード自動応答／ステップ配信／セグメント配信／チャットタグ管理／チャット対応（自動応答の範囲）／GAレポート連携／クリエイティブ／定例会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83200" y="3888000"/>
            <a:ext cx="4392000" cy="1584000"/>
          </a:xfrm>
          <a:prstGeom prst="roundRect">
            <a:avLst>
              <a:gd name="adj" fmla="val 10000"/>
            </a:avLst>
          </a:prstGeom>
          <a:solidFill>
            <a:srgbClr val="FDF1E9"/>
          </a:solidFill>
          <a:ln w="1270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227200" y="3960000"/>
            <a:ext cx="4104000" cy="270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別途費用がかかるもの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27200" y="4266000"/>
            <a:ext cx="4104000" cy="1168703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2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★通知メッセージ　初期10万＋月8万〜＋通数7円</a:t>
            </a:r>
          </a:p>
          <a:p>
            <a:pPr algn="l">
              <a:lnSpc>
                <a:spcPct val="16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ポップアップ（離脱防止）初期1.5万＋月3万</a:t>
            </a:r>
          </a:p>
          <a:p>
            <a:pPr algn="l">
              <a:lnSpc>
                <a:spcPct val="16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サンクスLINE誘導 初期10万＋月3万〜</a:t>
            </a:r>
          </a:p>
          <a:p>
            <a:pPr algn="l">
              <a:lnSpc>
                <a:spcPct val="16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アカウント開設 初期1万〜／ID連携 初期20万〜＋月5万〜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2000" y="5598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32000" y="5638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まずは初動設計のみ（初期10万円・月額0円〜）から始めることもできます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すべて税抜・6ヶ月〜の契約。成果地点と単価は個別に調整します。開発やツール導入の場合は別途費用が発生します。目安：コンサル基本＋通知メッセージで月38万円〜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［第6章］次回、貴社の数字で試算します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いただきたいのは3つだけです。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2000" y="1655999"/>
            <a:ext cx="9043200" cy="972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32000" y="1655999"/>
            <a:ext cx="612000" cy="972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2000" y="1655999"/>
            <a:ext cx="612000" cy="972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000" y="1763999"/>
            <a:ext cx="7920000" cy="306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月の応募数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000" y="2190849"/>
            <a:ext cx="7920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広告・自然流入をあわせた、応募の件数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000" y="2771999"/>
            <a:ext cx="9043200" cy="972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2000" y="2771999"/>
            <a:ext cx="612000" cy="972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32000" y="2771999"/>
            <a:ext cx="612000" cy="972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52000" y="2879999"/>
            <a:ext cx="7920000" cy="306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うち面接・職場見学に来た数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2000" y="3306848"/>
            <a:ext cx="7920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予約ではなく、実際に来た件数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000" y="3888000"/>
            <a:ext cx="9043200" cy="972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2000" y="3888000"/>
            <a:ext cx="612000" cy="972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32000" y="3888000"/>
            <a:ext cx="612000" cy="972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52000" y="3996000"/>
            <a:ext cx="7920000" cy="306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月の広告費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52000" y="4422849"/>
            <a:ext cx="7920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応募を取るために使っている金額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2000" y="5148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5188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この3つがあれば、応募CPAの目安と前提（就業率が今と同水準の場合）を次回お出しします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応募→面接実施率は業界の公開データが存在しないため、貴社の実測値が唯一の基準になります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18"/>
          <p:cNvSpPr>
            <a:spLocks noChangeArrowheads="1"/>
          </p:cNvSpPr>
          <p:nvPr/>
        </p:nvSpPr>
        <p:spPr bwMode="auto">
          <a:xfrm>
            <a:off x="1649030" y="5820984"/>
            <a:ext cx="6192837" cy="3736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/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株式会社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DYM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〒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141-0032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東京都品川区大崎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1-11-2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ゲートシティ大崎イーストタワー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階</a:t>
            </a:r>
            <a:endParaRPr lang="en-US" altLang="ja-JP" sz="831" b="1" dirty="0">
              <a:solidFill>
                <a:prstClr val="black"/>
              </a:solidFill>
              <a:latin typeface="メイリオ"/>
              <a:ea typeface="メイリオ"/>
              <a:cs typeface="メイリオ"/>
            </a:endParaRPr>
          </a:p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TEL: 03-5745-0200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FAX: 03-3779-8720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http://dym.asia  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代表取締役　水谷佑毅</a:t>
            </a:r>
          </a:p>
        </p:txBody>
      </p:sp>
      <p:pic>
        <p:nvPicPr>
          <p:cNvPr id="24" name="図 1"/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647" r="-11171"/>
          <a:stretch/>
        </p:blipFill>
        <p:spPr bwMode="auto">
          <a:xfrm>
            <a:off x="543897" y="5895365"/>
            <a:ext cx="1100981" cy="2248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テキスト ボックス 2"/>
          <p:cNvSpPr txBox="1"/>
          <p:nvPr/>
        </p:nvSpPr>
        <p:spPr>
          <a:xfrm>
            <a:off x="5070232" y="559776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ja-JP" altLang="en-US">
              <a:solidFill>
                <a:prstClr val="black"/>
              </a:solidFill>
              <a:latin typeface="Arial" pitchFamily="34" charset="0"/>
              <a:ea typeface="ＭＳ Ｐゴシック" pitchFamily="50" charset="-128"/>
            </a:endParaRPr>
          </a:p>
        </p:txBody>
      </p:sp>
      <p:sp>
        <p:nvSpPr>
          <p:cNvPr id="18" name="正方形/長方形 17"/>
          <p:cNvSpPr/>
          <p:nvPr/>
        </p:nvSpPr>
        <p:spPr>
          <a:xfrm>
            <a:off x="2170038" y="989684"/>
            <a:ext cx="556592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b="1" dirty="0">
                <a:solidFill>
                  <a:prstClr val="black"/>
                </a:solidFill>
                <a:latin typeface="メイリオ" charset="0"/>
                <a:ea typeface="メイリオ" charset="0"/>
                <a:cs typeface="メイリオ" charset="0"/>
              </a:rPr>
              <a:t>貴社の明るい未来に必ず貢献致します。</a:t>
            </a:r>
          </a:p>
        </p:txBody>
      </p:sp>
      <p:sp>
        <p:nvSpPr>
          <p:cNvPr id="14" name="正方形/長方形 13"/>
          <p:cNvSpPr/>
          <p:nvPr/>
        </p:nvSpPr>
        <p:spPr>
          <a:xfrm>
            <a:off x="382695" y="2698377"/>
            <a:ext cx="598220" cy="2058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738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sp>
        <p:nvSpPr>
          <p:cNvPr id="15" name="正方形/長方形 14"/>
          <p:cNvSpPr/>
          <p:nvPr/>
        </p:nvSpPr>
        <p:spPr>
          <a:xfrm>
            <a:off x="368300" y="2355213"/>
            <a:ext cx="756684" cy="215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00" dirty="0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05A1AABC-CDB8-5B83-4CFD-649967A361BF}"/>
              </a:ext>
            </a:extLst>
          </p:cNvPr>
          <p:cNvGrpSpPr/>
          <p:nvPr/>
        </p:nvGrpSpPr>
        <p:grpSpPr>
          <a:xfrm>
            <a:off x="381002" y="1772817"/>
            <a:ext cx="9143999" cy="3314853"/>
            <a:chOff x="1" y="1772816"/>
            <a:chExt cx="9143999" cy="3314853"/>
          </a:xfrm>
        </p:grpSpPr>
        <p:pic>
          <p:nvPicPr>
            <p:cNvPr id="21" name="図 20" descr="ポーズをとる男性グループ&#10;&#10;自動的に生成された説明">
              <a:extLst>
                <a:ext uri="{FF2B5EF4-FFF2-40B4-BE49-F238E27FC236}">
                  <a16:creationId xmlns:a16="http://schemas.microsoft.com/office/drawing/2014/main" id="{4927F40E-D146-C638-5583-C9DC2984722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42" r="4076"/>
            <a:stretch/>
          </p:blipFill>
          <p:spPr>
            <a:xfrm>
              <a:off x="6973793" y="3518745"/>
              <a:ext cx="2170207" cy="1567781"/>
            </a:xfrm>
            <a:prstGeom prst="rect">
              <a:avLst/>
            </a:prstGeom>
          </p:spPr>
        </p:pic>
        <p:pic>
          <p:nvPicPr>
            <p:cNvPr id="16" name="図 15" descr="白いシャツを着ている男性&#10;&#10;中程度の精度で自動的に生成された説明">
              <a:extLst>
                <a:ext uri="{FF2B5EF4-FFF2-40B4-BE49-F238E27FC236}">
                  <a16:creationId xmlns:a16="http://schemas.microsoft.com/office/drawing/2014/main" id="{2ECDFCA7-8611-D865-F999-FDCD0EC2126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83808" y="3519888"/>
              <a:ext cx="1989985" cy="1567781"/>
            </a:xfrm>
            <a:prstGeom prst="rect">
              <a:avLst/>
            </a:prstGeom>
          </p:spPr>
        </p:pic>
        <p:pic>
          <p:nvPicPr>
            <p:cNvPr id="10" name="図 9" descr="スーツを着た男性たち&#10;&#10;自動的に生成された説明">
              <a:extLst>
                <a:ext uri="{FF2B5EF4-FFF2-40B4-BE49-F238E27FC236}">
                  <a16:creationId xmlns:a16="http://schemas.microsoft.com/office/drawing/2014/main" id="{9D3AD52A-1514-4350-FFDD-09984B3666E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703" r="10363"/>
            <a:stretch/>
          </p:blipFill>
          <p:spPr>
            <a:xfrm>
              <a:off x="7299681" y="1773979"/>
              <a:ext cx="1842624" cy="1745909"/>
            </a:xfrm>
            <a:prstGeom prst="rect">
              <a:avLst/>
            </a:prstGeom>
          </p:spPr>
        </p:pic>
        <p:pic>
          <p:nvPicPr>
            <p:cNvPr id="7" name="図 6" descr="講堂にいる人たち&#10;&#10;中程度の精度で自動的に生成された説明">
              <a:extLst>
                <a:ext uri="{FF2B5EF4-FFF2-40B4-BE49-F238E27FC236}">
                  <a16:creationId xmlns:a16="http://schemas.microsoft.com/office/drawing/2014/main" id="{B1CA0DFF-0DAF-D5BD-8D9F-8AFB103E269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12" t="12879" r="2477"/>
            <a:stretch/>
          </p:blipFill>
          <p:spPr>
            <a:xfrm>
              <a:off x="1" y="1772816"/>
              <a:ext cx="5089778" cy="3314853"/>
            </a:xfrm>
            <a:prstGeom prst="rect">
              <a:avLst/>
            </a:prstGeom>
          </p:spPr>
        </p:pic>
        <p:pic>
          <p:nvPicPr>
            <p:cNvPr id="11" name="図 10" descr="スーツを着た男性グループの写真&#10;&#10;低い精度で自動的に生成された説明">
              <a:extLst>
                <a:ext uri="{FF2B5EF4-FFF2-40B4-BE49-F238E27FC236}">
                  <a16:creationId xmlns:a16="http://schemas.microsoft.com/office/drawing/2014/main" id="{FEFAFF33-EFBF-C67E-586A-08D93AF295F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595" r="6763"/>
            <a:stretch/>
          </p:blipFill>
          <p:spPr>
            <a:xfrm>
              <a:off x="5089779" y="1772836"/>
              <a:ext cx="2215315" cy="1745909"/>
            </a:xfrm>
            <a:prstGeom prst="rect">
              <a:avLst/>
            </a:prstGeom>
          </p:spPr>
        </p:pic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38B92EF-519D-929F-4345-5BAC445EF234}"/>
              </a:ext>
            </a:extLst>
          </p:cNvPr>
          <p:cNvSpPr/>
          <p:nvPr/>
        </p:nvSpPr>
        <p:spPr>
          <a:xfrm>
            <a:off x="128016" y="6620256"/>
            <a:ext cx="2852928" cy="237744"/>
          </a:xfrm>
          <a:prstGeom prst="rect">
            <a:avLst/>
          </a:prstGeom>
          <a:solidFill>
            <a:srgbClr val="191F54"/>
          </a:solidFill>
          <a:ln>
            <a:solidFill>
              <a:srgbClr val="1025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949B271-D24D-666E-90F2-EA616E1EABC2}"/>
              </a:ext>
            </a:extLst>
          </p:cNvPr>
          <p:cNvSpPr/>
          <p:nvPr/>
        </p:nvSpPr>
        <p:spPr>
          <a:xfrm>
            <a:off x="368300" y="0"/>
            <a:ext cx="9537700" cy="51497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85355464"/>
      </p:ext>
    </p:extLst>
  </p:cSld>
  <p:clrMapOvr>
    <a:masterClrMapping/>
  </p:clrMapOvr>
  <p:transition spd="slow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［第2章］求職者の心理｜不安は、応募したあとに出てくる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6383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前後検索で見ると、「派遣 求人」「単発バイト」を検索した人は、前は「探す」、後は「続けられるか」「バレないか」を調べている。</a:t>
            </a: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★これは検索行動の事実。応募後も同じ不安があるという仮説で、配信を設計しています。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9043200" cy="1062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E4E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" name="Rectangle 4"/>
          <p:cNvSpPr/>
          <p:nvPr/>
        </p:nvSpPr>
        <p:spPr>
          <a:xfrm>
            <a:off x="432000" y="1548000"/>
            <a:ext cx="1872000" cy="1062000"/>
          </a:xfrm>
          <a:prstGeom prst="rect">
            <a:avLst/>
          </a:prstGeom>
          <a:solidFill>
            <a:srgbClr val="8E4E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" name="TextBox 5"/>
          <p:cNvSpPr txBox="1"/>
          <p:nvPr/>
        </p:nvSpPr>
        <p:spPr>
          <a:xfrm>
            <a:off x="432000" y="1947849"/>
            <a:ext cx="1872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-7 〜 -1日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30000" y="1620000"/>
            <a:ext cx="6948000" cy="306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8E4EC6"/>
                </a:solidFill>
                <a:latin typeface="メイリオ"/>
                <a:ea typeface="メイリオ"/>
                <a:cs typeface="メイリオ"/>
              </a:rPr>
              <a:t>スキマ時間で、すぐ稼ぎたい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30000" y="1961999"/>
            <a:ext cx="6948000" cy="529297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副業 在宅 スキマ時間／在宅ワーク 求人／バイト 求人（単発バイト）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失業保険 計算／ハローワーク 求人（派遣 求人）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32000" y="2754000"/>
            <a:ext cx="9043200" cy="1062000"/>
          </a:xfrm>
          <a:prstGeom prst="rect">
            <a:avLst/>
          </a:prstGeom>
          <a:solidFill>
            <a:srgbClr val="FFFFFF"/>
          </a:solidFill>
          <a:ln w="15875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0" name="Rectangle 9"/>
          <p:cNvSpPr/>
          <p:nvPr/>
        </p:nvSpPr>
        <p:spPr>
          <a:xfrm>
            <a:off x="432000" y="2754000"/>
            <a:ext cx="1872000" cy="1062000"/>
          </a:xfrm>
          <a:prstGeom prst="rect">
            <a:avLst/>
          </a:prstGeom>
          <a:solidFill>
            <a:srgbClr val="3467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1" name="TextBox 10"/>
          <p:cNvSpPr txBox="1"/>
          <p:nvPr/>
        </p:nvSpPr>
        <p:spPr>
          <a:xfrm>
            <a:off x="432000" y="3153849"/>
            <a:ext cx="1872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0 〜 +2日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30000" y="2826000"/>
            <a:ext cx="6948000" cy="306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467B2"/>
                </a:solidFill>
                <a:latin typeface="メイリオ"/>
                <a:ea typeface="メイリオ"/>
                <a:cs typeface="メイリオ"/>
              </a:rPr>
              <a:t>同じ日に、何社も並べている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30000" y="3168000"/>
            <a:ext cx="6948000" cy="529297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派遣会社／エン派遣／アデコ／パソナ（派遣 求人）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タイミー／バイトル／短期バイト／単発バイト アプリ（単発バイト）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000" y="3960000"/>
            <a:ext cx="9043200" cy="1062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9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5" name="Rectangle 14"/>
          <p:cNvSpPr/>
          <p:nvPr/>
        </p:nvSpPr>
        <p:spPr>
          <a:xfrm>
            <a:off x="432000" y="3960000"/>
            <a:ext cx="1872000" cy="1062000"/>
          </a:xfrm>
          <a:prstGeom prst="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6" name="TextBox 15"/>
          <p:cNvSpPr txBox="1"/>
          <p:nvPr/>
        </p:nvSpPr>
        <p:spPr>
          <a:xfrm>
            <a:off x="432000" y="4359849"/>
            <a:ext cx="1872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+1 〜 +15日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30000" y="4031999"/>
            <a:ext cx="6948000" cy="306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00897B"/>
                </a:solidFill>
                <a:latin typeface="メイリオ"/>
                <a:ea typeface="メイリオ"/>
                <a:cs typeface="メイリオ"/>
              </a:rPr>
              <a:t>続けられるか・バレないか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30000" y="4374000"/>
            <a:ext cx="6948000" cy="529297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派遣 更新しない／派遣 職場見学（派遣 求人）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副業 確定申告 20万円以下／ダブルワーク 扶養内 いくらまで（単発バイト）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2000" y="5220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5242455"/>
            <a:ext cx="9043200" cy="333089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検索は終点ではない。探し始めた人は、その後も「続けられるか」を調べ続けている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出典｜LINEヤフー 媒体データ（検索の前後行動）。起点KW「派遣 求人」「単発バイト」・直近1年間（2025年3月17日〜2026年3月22日）。★検索行動のデータであり、応募後の行動そのものではありません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AC68898-91A3-9BC1-3966-7771C36E75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752;p28">
            <a:extLst>
              <a:ext uri="{FF2B5EF4-FFF2-40B4-BE49-F238E27FC236}">
                <a16:creationId xmlns:a16="http://schemas.microsoft.com/office/drawing/2014/main" id="{2ECE7535-75B5-FD71-5DE8-AB1B855FFEDC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en-US" altLang="ja-JP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全体設計｜LINEで対策できる領域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91D529F5-1969-8F22-8508-5967D82F7783}"/>
              </a:ext>
            </a:extLst>
          </p:cNvPr>
          <p:cNvSpPr/>
          <p:nvPr/>
        </p:nvSpPr>
        <p:spPr>
          <a:xfrm>
            <a:off x="379908" y="1835393"/>
            <a:ext cx="9190811" cy="2162521"/>
          </a:xfrm>
          <a:prstGeom prst="rect">
            <a:avLst/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0D32EA92-3996-F5BA-08AE-72B08F79535C}"/>
              </a:ext>
            </a:extLst>
          </p:cNvPr>
          <p:cNvSpPr/>
          <p:nvPr/>
        </p:nvSpPr>
        <p:spPr>
          <a:xfrm>
            <a:off x="379908" y="4397170"/>
            <a:ext cx="9190811" cy="2022499"/>
          </a:xfrm>
          <a:prstGeom prst="rect">
            <a:avLst/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7E38EC2-DE76-A5FE-A6B8-3B48F7BD7B46}"/>
              </a:ext>
            </a:extLst>
          </p:cNvPr>
          <p:cNvSpPr txBox="1"/>
          <p:nvPr/>
        </p:nvSpPr>
        <p:spPr>
          <a:xfrm>
            <a:off x="379908" y="1527022"/>
            <a:ext cx="496388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&lt;応募前のユーザー領域&gt;</a:t>
            </a:r>
            <a:endParaRPr lang="ja-JP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15E4FD7-BF96-305B-4DFF-0204D305BAAE}"/>
              </a:ext>
            </a:extLst>
          </p:cNvPr>
          <p:cNvSpPr txBox="1"/>
          <p:nvPr/>
        </p:nvSpPr>
        <p:spPr>
          <a:xfrm>
            <a:off x="379908" y="4089393"/>
            <a:ext cx="496388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&lt;応募済みユーザー領域&gt;</a:t>
            </a:r>
            <a:endParaRPr lang="ja-JP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72450FBF-2EA8-4582-869E-9B2A7C4946D7}"/>
              </a:ext>
            </a:extLst>
          </p:cNvPr>
          <p:cNvSpPr/>
          <p:nvPr/>
        </p:nvSpPr>
        <p:spPr>
          <a:xfrm>
            <a:off x="548883" y="2060461"/>
            <a:ext cx="1355280" cy="243944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HP</a:t>
            </a:r>
            <a:endParaRPr kumimoji="1"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6891C2D7-8AEF-98E4-337B-283DC4374AFC}"/>
              </a:ext>
            </a:extLst>
          </p:cNvPr>
          <p:cNvSpPr/>
          <p:nvPr/>
        </p:nvSpPr>
        <p:spPr>
          <a:xfrm>
            <a:off x="548883" y="2322497"/>
            <a:ext cx="1355280" cy="243944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LP</a:t>
            </a:r>
            <a:endParaRPr kumimoji="1"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3670DE23-5EB2-C1E6-9ED3-6176C87DDEA9}"/>
              </a:ext>
            </a:extLst>
          </p:cNvPr>
          <p:cNvSpPr/>
          <p:nvPr/>
        </p:nvSpPr>
        <p:spPr>
          <a:xfrm>
            <a:off x="548883" y="2659935"/>
            <a:ext cx="1355280" cy="243944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各種</a:t>
            </a:r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SNS</a:t>
            </a:r>
            <a:endParaRPr kumimoji="1"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98C708B2-F546-DE85-AA3B-2C7B33013111}"/>
              </a:ext>
            </a:extLst>
          </p:cNvPr>
          <p:cNvSpPr/>
          <p:nvPr/>
        </p:nvSpPr>
        <p:spPr>
          <a:xfrm>
            <a:off x="548883" y="2997373"/>
            <a:ext cx="1355280" cy="243944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過去の応募者リスト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812C768D-D601-2E13-45FD-BFE5BA587BC6}"/>
              </a:ext>
            </a:extLst>
          </p:cNvPr>
          <p:cNvSpPr/>
          <p:nvPr/>
        </p:nvSpPr>
        <p:spPr>
          <a:xfrm>
            <a:off x="548883" y="3672249"/>
            <a:ext cx="2943254" cy="24394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LINE_CPF</a:t>
            </a:r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やその他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13127993-BF51-568A-20FB-A9FB1DB6C913}"/>
              </a:ext>
            </a:extLst>
          </p:cNvPr>
          <p:cNvSpPr/>
          <p:nvPr/>
        </p:nvSpPr>
        <p:spPr>
          <a:xfrm>
            <a:off x="8170812" y="2408570"/>
            <a:ext cx="1355280" cy="243944"/>
          </a:xfrm>
          <a:prstGeom prst="rect">
            <a:avLst/>
          </a:prstGeom>
          <a:solidFill>
            <a:srgbClr val="FF0000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</a:t>
            </a:r>
            <a:endParaRPr kumimoji="1"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2E81D74A-E79F-C90A-80AF-4F6BDF853777}"/>
              </a:ext>
            </a:extLst>
          </p:cNvPr>
          <p:cNvSpPr/>
          <p:nvPr/>
        </p:nvSpPr>
        <p:spPr>
          <a:xfrm>
            <a:off x="548883" y="3334811"/>
            <a:ext cx="2943254" cy="24394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200" b="1" dirty="0">
                <a:solidFill>
                  <a:schemeClr val="bg1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求人誌・店頭・メールのQR ※デザイン</a:t>
            </a:r>
            <a:endParaRPr kumimoji="1" lang="ja-JP" altLang="en-US" sz="1200" b="1" dirty="0">
              <a:solidFill>
                <a:schemeClr val="bg1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346217DB-3E59-DD17-6353-BB21863AB6A4}"/>
              </a:ext>
            </a:extLst>
          </p:cNvPr>
          <p:cNvSpPr/>
          <p:nvPr/>
        </p:nvSpPr>
        <p:spPr>
          <a:xfrm>
            <a:off x="1950234" y="2999032"/>
            <a:ext cx="1543806" cy="24394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bg1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メルマガ </a:t>
            </a:r>
            <a:r>
              <a:rPr lang="en-US" altLang="ja-JP" sz="1100" b="1" dirty="0">
                <a:solidFill>
                  <a:schemeClr val="bg1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1100" b="1" dirty="0">
                <a:solidFill>
                  <a:schemeClr val="bg1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デザイン</a:t>
            </a:r>
            <a:endParaRPr kumimoji="1" lang="ja-JP" altLang="en-US" sz="1100" b="1" dirty="0">
              <a:solidFill>
                <a:schemeClr val="bg1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7" name="正方形/長方形 46">
            <a:extLst>
              <a:ext uri="{FF2B5EF4-FFF2-40B4-BE49-F238E27FC236}">
                <a16:creationId xmlns:a16="http://schemas.microsoft.com/office/drawing/2014/main" id="{85B73343-1515-8075-50D7-828D2C7D0482}"/>
              </a:ext>
            </a:extLst>
          </p:cNvPr>
          <p:cNvSpPr/>
          <p:nvPr/>
        </p:nvSpPr>
        <p:spPr>
          <a:xfrm>
            <a:off x="1939622" y="2149679"/>
            <a:ext cx="1543806" cy="295172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離脱防止バナー</a:t>
            </a:r>
            <a:r>
              <a:rPr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  <a:endParaRPr kumimoji="1"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52" name="コネクタ: カギ線 51">
            <a:extLst>
              <a:ext uri="{FF2B5EF4-FFF2-40B4-BE49-F238E27FC236}">
                <a16:creationId xmlns:a16="http://schemas.microsoft.com/office/drawing/2014/main" id="{10A164B9-404C-F131-0FB7-4A7EC00628C8}"/>
              </a:ext>
            </a:extLst>
          </p:cNvPr>
          <p:cNvCxnSpPr>
            <a:cxnSpLocks/>
            <a:stCxn id="14" idx="3"/>
          </p:cNvCxnSpPr>
          <p:nvPr/>
        </p:nvCxnSpPr>
        <p:spPr>
          <a:xfrm flipV="1">
            <a:off x="1904163" y="2540793"/>
            <a:ext cx="1898060" cy="241114"/>
          </a:xfrm>
          <a:prstGeom prst="bentConnector3">
            <a:avLst>
              <a:gd name="adj1" fmla="val 88139"/>
            </a:avLst>
          </a:prstGeom>
          <a:ln>
            <a:solidFill>
              <a:schemeClr val="bg1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正方形/長方形 79">
            <a:extLst>
              <a:ext uri="{FF2B5EF4-FFF2-40B4-BE49-F238E27FC236}">
                <a16:creationId xmlns:a16="http://schemas.microsoft.com/office/drawing/2014/main" id="{AB39E10C-FA5C-42F3-51FF-A98C96D3A9FE}"/>
              </a:ext>
            </a:extLst>
          </p:cNvPr>
          <p:cNvSpPr/>
          <p:nvPr/>
        </p:nvSpPr>
        <p:spPr>
          <a:xfrm>
            <a:off x="8170812" y="2124073"/>
            <a:ext cx="1355280" cy="243944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新着求人の配信</a:t>
            </a:r>
          </a:p>
        </p:txBody>
      </p:sp>
      <p:sp>
        <p:nvSpPr>
          <p:cNvPr id="130" name="正方形/長方形 129">
            <a:extLst>
              <a:ext uri="{FF2B5EF4-FFF2-40B4-BE49-F238E27FC236}">
                <a16:creationId xmlns:a16="http://schemas.microsoft.com/office/drawing/2014/main" id="{68999E51-25BF-ABC0-E768-EB439414D6AA}"/>
              </a:ext>
            </a:extLst>
          </p:cNvPr>
          <p:cNvSpPr/>
          <p:nvPr/>
        </p:nvSpPr>
        <p:spPr>
          <a:xfrm>
            <a:off x="486784" y="713253"/>
            <a:ext cx="9005456" cy="65324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ja-JP" altLang="en-US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応募前の離脱者→友だちとして残す、応募者→次の仕事探しで戻す 等、</a:t>
            </a:r>
            <a:endParaRPr lang="en-US" altLang="ja-JP" sz="14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en-US" altLang="ja-JP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公式アカウントで対策できるポイントが非常に多く、課題に応じた施策展開が可能。</a:t>
            </a:r>
            <a:endParaRPr lang="ja-JP" altLang="en-US" sz="14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3" name="正方形/長方形 132">
            <a:extLst>
              <a:ext uri="{FF2B5EF4-FFF2-40B4-BE49-F238E27FC236}">
                <a16:creationId xmlns:a16="http://schemas.microsoft.com/office/drawing/2014/main" id="{EF3EB03D-B886-80C5-4DDF-AD318BB1E8CB}"/>
              </a:ext>
            </a:extLst>
          </p:cNvPr>
          <p:cNvSpPr/>
          <p:nvPr/>
        </p:nvSpPr>
        <p:spPr>
          <a:xfrm>
            <a:off x="6444618" y="4938641"/>
            <a:ext cx="2292685" cy="221767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GA</a:t>
            </a:r>
            <a:r>
              <a:rPr kumimoji="1" lang="ja-JP" altLang="en-US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レポーティング対応</a:t>
            </a:r>
          </a:p>
        </p:txBody>
      </p:sp>
      <p:sp>
        <p:nvSpPr>
          <p:cNvPr id="134" name="正方形/長方形 133">
            <a:extLst>
              <a:ext uri="{FF2B5EF4-FFF2-40B4-BE49-F238E27FC236}">
                <a16:creationId xmlns:a16="http://schemas.microsoft.com/office/drawing/2014/main" id="{8185B158-D6FD-FC9A-D842-E0184FC04A2F}"/>
              </a:ext>
            </a:extLst>
          </p:cNvPr>
          <p:cNvSpPr/>
          <p:nvPr/>
        </p:nvSpPr>
        <p:spPr>
          <a:xfrm>
            <a:off x="6444618" y="5207075"/>
            <a:ext cx="2292685" cy="221767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投稿スケジュール確認</a:t>
            </a:r>
            <a:endParaRPr kumimoji="1" lang="en-US" altLang="ja-JP" sz="12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5" name="正方形/長方形 134">
            <a:extLst>
              <a:ext uri="{FF2B5EF4-FFF2-40B4-BE49-F238E27FC236}">
                <a16:creationId xmlns:a16="http://schemas.microsoft.com/office/drawing/2014/main" id="{CAF16DCF-7CE0-97CD-A1FD-09B08149FF7B}"/>
              </a:ext>
            </a:extLst>
          </p:cNvPr>
          <p:cNvSpPr/>
          <p:nvPr/>
        </p:nvSpPr>
        <p:spPr>
          <a:xfrm>
            <a:off x="6444617" y="5743943"/>
            <a:ext cx="2292685" cy="221767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Call Plus</a:t>
            </a:r>
            <a:endParaRPr kumimoji="1" lang="ja-JP" altLang="en-US" sz="12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6" name="正方形/長方形 135">
            <a:extLst>
              <a:ext uri="{FF2B5EF4-FFF2-40B4-BE49-F238E27FC236}">
                <a16:creationId xmlns:a16="http://schemas.microsoft.com/office/drawing/2014/main" id="{DE164E19-C9CA-ADE8-FE9B-4A4096DD13BE}"/>
              </a:ext>
            </a:extLst>
          </p:cNvPr>
          <p:cNvSpPr/>
          <p:nvPr/>
        </p:nvSpPr>
        <p:spPr>
          <a:xfrm>
            <a:off x="6444617" y="5475509"/>
            <a:ext cx="2292685" cy="221767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Chat Plus</a:t>
            </a:r>
            <a:endParaRPr kumimoji="1" lang="ja-JP" altLang="en-US" sz="12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7" name="正方形/長方形 136">
            <a:extLst>
              <a:ext uri="{FF2B5EF4-FFF2-40B4-BE49-F238E27FC236}">
                <a16:creationId xmlns:a16="http://schemas.microsoft.com/office/drawing/2014/main" id="{FF9A810E-B53B-2631-3BD5-00395512E9C0}"/>
              </a:ext>
            </a:extLst>
          </p:cNvPr>
          <p:cNvSpPr/>
          <p:nvPr/>
        </p:nvSpPr>
        <p:spPr>
          <a:xfrm>
            <a:off x="6444617" y="6012377"/>
            <a:ext cx="2292685" cy="221767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通知メッセージ</a:t>
            </a:r>
            <a:r>
              <a:rPr kumimoji="1" lang="en-US" altLang="ja-JP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kumimoji="1" lang="en-US" altLang="ja-JP" sz="1200" dirty="0" err="1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OptionAPI</a:t>
            </a:r>
            <a:r>
              <a:rPr kumimoji="1" lang="en-US" altLang="ja-JP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  <a:endParaRPr kumimoji="1" lang="ja-JP" altLang="en-US" sz="12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45" name="正方形/長方形 144">
            <a:extLst>
              <a:ext uri="{FF2B5EF4-FFF2-40B4-BE49-F238E27FC236}">
                <a16:creationId xmlns:a16="http://schemas.microsoft.com/office/drawing/2014/main" id="{1DF80BB2-F1C3-A39C-D441-B75E4795CC5B}"/>
              </a:ext>
            </a:extLst>
          </p:cNvPr>
          <p:cNvSpPr/>
          <p:nvPr/>
        </p:nvSpPr>
        <p:spPr>
          <a:xfrm>
            <a:off x="6444617" y="4746848"/>
            <a:ext cx="1424263" cy="16373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定期対応項目</a:t>
            </a:r>
            <a:r>
              <a:rPr kumimoji="1" lang="en-US" altLang="ja-JP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kumimoji="1" lang="ja-JP" altLang="en-US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一部抽出</a:t>
            </a:r>
            <a:r>
              <a:rPr kumimoji="1" lang="en-US" altLang="ja-JP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CABD8985-CFB7-BFB4-C5CA-334F6DD3C337}"/>
              </a:ext>
            </a:extLst>
          </p:cNvPr>
          <p:cNvSpPr/>
          <p:nvPr/>
        </p:nvSpPr>
        <p:spPr>
          <a:xfrm>
            <a:off x="3634802" y="1986633"/>
            <a:ext cx="4080010" cy="2098921"/>
          </a:xfrm>
          <a:prstGeom prst="rect">
            <a:avLst/>
          </a:prstGeom>
          <a:solidFill>
            <a:srgbClr val="04FA0A">
              <a:alpha val="8000"/>
            </a:srgb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498D1E1C-883A-4348-5898-29B2849E59E6}"/>
              </a:ext>
            </a:extLst>
          </p:cNvPr>
          <p:cNvSpPr/>
          <p:nvPr/>
        </p:nvSpPr>
        <p:spPr>
          <a:xfrm>
            <a:off x="3802223" y="2418821"/>
            <a:ext cx="1355280" cy="243944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友だち追加</a:t>
            </a:r>
          </a:p>
        </p:txBody>
      </p:sp>
      <p:cxnSp>
        <p:nvCxnSpPr>
          <p:cNvPr id="51" name="コネクタ: カギ線 50">
            <a:extLst>
              <a:ext uri="{FF2B5EF4-FFF2-40B4-BE49-F238E27FC236}">
                <a16:creationId xmlns:a16="http://schemas.microsoft.com/office/drawing/2014/main" id="{2981AEA5-C263-1A76-AF6F-7D4F94F3AC3F}"/>
              </a:ext>
            </a:extLst>
          </p:cNvPr>
          <p:cNvCxnSpPr>
            <a:cxnSpLocks/>
          </p:cNvCxnSpPr>
          <p:nvPr/>
        </p:nvCxnSpPr>
        <p:spPr>
          <a:xfrm flipV="1">
            <a:off x="3492137" y="2540793"/>
            <a:ext cx="310086" cy="915990"/>
          </a:xfrm>
          <a:prstGeom prst="bentConnector3">
            <a:avLst>
              <a:gd name="adj1" fmla="val 27532"/>
            </a:avLst>
          </a:prstGeom>
          <a:ln>
            <a:solidFill>
              <a:schemeClr val="tx2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コネクタ: カギ線 52">
            <a:extLst>
              <a:ext uri="{FF2B5EF4-FFF2-40B4-BE49-F238E27FC236}">
                <a16:creationId xmlns:a16="http://schemas.microsoft.com/office/drawing/2014/main" id="{6898DA80-B20A-0E45-B382-62A8490927C1}"/>
              </a:ext>
            </a:extLst>
          </p:cNvPr>
          <p:cNvCxnSpPr>
            <a:cxnSpLocks/>
          </p:cNvCxnSpPr>
          <p:nvPr/>
        </p:nvCxnSpPr>
        <p:spPr>
          <a:xfrm flipV="1">
            <a:off x="3483428" y="2540793"/>
            <a:ext cx="310086" cy="1253428"/>
          </a:xfrm>
          <a:prstGeom prst="bentConnector3">
            <a:avLst>
              <a:gd name="adj1" fmla="val 30341"/>
            </a:avLst>
          </a:prstGeom>
          <a:ln>
            <a:solidFill>
              <a:schemeClr val="tx2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コネクタ: カギ線 53">
            <a:extLst>
              <a:ext uri="{FF2B5EF4-FFF2-40B4-BE49-F238E27FC236}">
                <a16:creationId xmlns:a16="http://schemas.microsoft.com/office/drawing/2014/main" id="{4194983F-AFC0-FB2F-1207-1AF108AFDA19}"/>
              </a:ext>
            </a:extLst>
          </p:cNvPr>
          <p:cNvCxnSpPr>
            <a:cxnSpLocks/>
          </p:cNvCxnSpPr>
          <p:nvPr/>
        </p:nvCxnSpPr>
        <p:spPr>
          <a:xfrm>
            <a:off x="3483428" y="2297265"/>
            <a:ext cx="318795" cy="243528"/>
          </a:xfrm>
          <a:prstGeom prst="bentConnector3">
            <a:avLst>
              <a:gd name="adj1" fmla="val 28488"/>
            </a:avLst>
          </a:prstGeom>
          <a:ln>
            <a:solidFill>
              <a:schemeClr val="tx2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正方形/長方形 54">
            <a:extLst>
              <a:ext uri="{FF2B5EF4-FFF2-40B4-BE49-F238E27FC236}">
                <a16:creationId xmlns:a16="http://schemas.microsoft.com/office/drawing/2014/main" id="{B20DB094-045E-2E0D-7026-B0BFFA8F2374}"/>
              </a:ext>
            </a:extLst>
          </p:cNvPr>
          <p:cNvSpPr/>
          <p:nvPr/>
        </p:nvSpPr>
        <p:spPr>
          <a:xfrm>
            <a:off x="5319694" y="2122076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企画配信（セグメント配信）</a:t>
            </a:r>
          </a:p>
        </p:txBody>
      </p:sp>
      <p:sp>
        <p:nvSpPr>
          <p:cNvPr id="56" name="正方形/長方形 55">
            <a:extLst>
              <a:ext uri="{FF2B5EF4-FFF2-40B4-BE49-F238E27FC236}">
                <a16:creationId xmlns:a16="http://schemas.microsoft.com/office/drawing/2014/main" id="{960DE889-CA21-9C03-FD30-9F8BA1C11BE0}"/>
              </a:ext>
            </a:extLst>
          </p:cNvPr>
          <p:cNvSpPr/>
          <p:nvPr/>
        </p:nvSpPr>
        <p:spPr>
          <a:xfrm>
            <a:off x="5319694" y="2387671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ステップ配信</a:t>
            </a:r>
          </a:p>
        </p:txBody>
      </p:sp>
      <p:sp>
        <p:nvSpPr>
          <p:cNvPr id="64" name="正方形/長方形 63">
            <a:extLst>
              <a:ext uri="{FF2B5EF4-FFF2-40B4-BE49-F238E27FC236}">
                <a16:creationId xmlns:a16="http://schemas.microsoft.com/office/drawing/2014/main" id="{B0198902-7C67-1321-611C-A528F8B056D6}"/>
              </a:ext>
            </a:extLst>
          </p:cNvPr>
          <p:cNvSpPr/>
          <p:nvPr/>
        </p:nvSpPr>
        <p:spPr>
          <a:xfrm>
            <a:off x="5319694" y="2653266"/>
            <a:ext cx="1124924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条件5問</a:t>
            </a:r>
          </a:p>
        </p:txBody>
      </p:sp>
      <p:sp>
        <p:nvSpPr>
          <p:cNvPr id="67" name="正方形/長方形 66">
            <a:extLst>
              <a:ext uri="{FF2B5EF4-FFF2-40B4-BE49-F238E27FC236}">
                <a16:creationId xmlns:a16="http://schemas.microsoft.com/office/drawing/2014/main" id="{EC9DC48F-C12B-8A2A-8E49-C82DF8C2398F}"/>
              </a:ext>
            </a:extLst>
          </p:cNvPr>
          <p:cNvSpPr/>
          <p:nvPr/>
        </p:nvSpPr>
        <p:spPr>
          <a:xfrm>
            <a:off x="3883318" y="2695245"/>
            <a:ext cx="1274185" cy="16661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初期設計項目↓</a:t>
            </a:r>
          </a:p>
        </p:txBody>
      </p:sp>
      <p:sp>
        <p:nvSpPr>
          <p:cNvPr id="68" name="テキスト ボックス 67">
            <a:extLst>
              <a:ext uri="{FF2B5EF4-FFF2-40B4-BE49-F238E27FC236}">
                <a16:creationId xmlns:a16="http://schemas.microsoft.com/office/drawing/2014/main" id="{7FD4C92A-1BF4-DC29-74E5-5DDCAEC47D74}"/>
              </a:ext>
            </a:extLst>
          </p:cNvPr>
          <p:cNvSpPr txBox="1"/>
          <p:nvPr/>
        </p:nvSpPr>
        <p:spPr>
          <a:xfrm>
            <a:off x="3894226" y="2879422"/>
            <a:ext cx="1274185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</a:t>
            </a:r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プロフィール画面</a:t>
            </a:r>
            <a:endParaRPr kumimoji="1" lang="en-US" altLang="ja-JP" sz="7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</a:t>
            </a:r>
            <a:r>
              <a:rPr kumimoji="1"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</a:t>
            </a:r>
            <a:endParaRPr kumimoji="1" lang="en-US" altLang="ja-JP" sz="7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・あいさつメッセージ</a:t>
            </a:r>
            <a:endParaRPr lang="en-US" altLang="ja-JP" sz="7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・応答メッセージ設定</a:t>
            </a:r>
            <a:endParaRPr lang="en-US" altLang="ja-JP" sz="7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・チャットタグ設定</a:t>
            </a:r>
            <a:endParaRPr lang="en-US" altLang="ja-JP" sz="7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・計測タグ設定</a:t>
            </a:r>
            <a:endParaRPr lang="en-US" altLang="ja-JP" sz="7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</a:t>
            </a:r>
            <a:r>
              <a:rPr lang="en-US" altLang="ja-JP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ログイン </a:t>
            </a:r>
            <a:r>
              <a:rPr lang="en-US" altLang="ja-JP" sz="6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6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別途費用</a:t>
            </a:r>
            <a:endParaRPr lang="en-US" altLang="ja-JP" sz="6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</a:t>
            </a:r>
            <a:r>
              <a:rPr lang="en-US" altLang="ja-JP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LINEID</a:t>
            </a:r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連携 </a:t>
            </a:r>
            <a:r>
              <a:rPr lang="en-US" altLang="ja-JP" sz="7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7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別途費用</a:t>
            </a:r>
            <a:endParaRPr lang="en-US" altLang="ja-JP" sz="7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9" name="正方形/長方形 68">
            <a:extLst>
              <a:ext uri="{FF2B5EF4-FFF2-40B4-BE49-F238E27FC236}">
                <a16:creationId xmlns:a16="http://schemas.microsoft.com/office/drawing/2014/main" id="{3C7CD555-05D0-53EC-B6D5-ED734EBA27DF}"/>
              </a:ext>
            </a:extLst>
          </p:cNvPr>
          <p:cNvSpPr/>
          <p:nvPr/>
        </p:nvSpPr>
        <p:spPr>
          <a:xfrm>
            <a:off x="5326708" y="2918861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タグ・セグメントの管理</a:t>
            </a:r>
          </a:p>
        </p:txBody>
      </p:sp>
      <p:sp>
        <p:nvSpPr>
          <p:cNvPr id="74" name="正方形/長方形 73">
            <a:extLst>
              <a:ext uri="{FF2B5EF4-FFF2-40B4-BE49-F238E27FC236}">
                <a16:creationId xmlns:a16="http://schemas.microsoft.com/office/drawing/2014/main" id="{64296BD6-7E19-AF65-3C1F-3AA68F3DB296}"/>
              </a:ext>
            </a:extLst>
          </p:cNvPr>
          <p:cNvSpPr/>
          <p:nvPr/>
        </p:nvSpPr>
        <p:spPr>
          <a:xfrm>
            <a:off x="5326708" y="3450051"/>
            <a:ext cx="2292685" cy="221767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各種初期設計の調整</a:t>
            </a:r>
          </a:p>
        </p:txBody>
      </p:sp>
      <p:sp>
        <p:nvSpPr>
          <p:cNvPr id="75" name="正方形/長方形 74">
            <a:extLst>
              <a:ext uri="{FF2B5EF4-FFF2-40B4-BE49-F238E27FC236}">
                <a16:creationId xmlns:a16="http://schemas.microsoft.com/office/drawing/2014/main" id="{2B391CFB-A763-8F28-0B80-C4699C620787}"/>
              </a:ext>
            </a:extLst>
          </p:cNvPr>
          <p:cNvSpPr/>
          <p:nvPr/>
        </p:nvSpPr>
        <p:spPr>
          <a:xfrm>
            <a:off x="5326708" y="3184456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b="1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QA</a:t>
            </a:r>
            <a:r>
              <a:rPr lang="ja-JP" altLang="en-US" sz="1200" b="1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解消（自動応答）</a:t>
            </a:r>
            <a:endParaRPr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6" name="正方形/長方形 75">
            <a:extLst>
              <a:ext uri="{FF2B5EF4-FFF2-40B4-BE49-F238E27FC236}">
                <a16:creationId xmlns:a16="http://schemas.microsoft.com/office/drawing/2014/main" id="{78BE8892-FE50-BF73-B15E-567C1CFD9A8A}"/>
              </a:ext>
            </a:extLst>
          </p:cNvPr>
          <p:cNvSpPr/>
          <p:nvPr/>
        </p:nvSpPr>
        <p:spPr>
          <a:xfrm>
            <a:off x="6487455" y="2655306"/>
            <a:ext cx="1124924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→ タグ配信</a:t>
            </a:r>
          </a:p>
        </p:txBody>
      </p:sp>
      <p:sp>
        <p:nvSpPr>
          <p:cNvPr id="77" name="正方形/長方形 76">
            <a:extLst>
              <a:ext uri="{FF2B5EF4-FFF2-40B4-BE49-F238E27FC236}">
                <a16:creationId xmlns:a16="http://schemas.microsoft.com/office/drawing/2014/main" id="{5FB8C9E8-13C6-54AE-CC6C-E66EB44BEE66}"/>
              </a:ext>
            </a:extLst>
          </p:cNvPr>
          <p:cNvSpPr/>
          <p:nvPr/>
        </p:nvSpPr>
        <p:spPr>
          <a:xfrm>
            <a:off x="5319693" y="3715648"/>
            <a:ext cx="2292685" cy="221767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条件変更の受付</a:t>
            </a:r>
          </a:p>
        </p:txBody>
      </p:sp>
      <p:cxnSp>
        <p:nvCxnSpPr>
          <p:cNvPr id="78" name="コネクタ: カギ線 77">
            <a:extLst>
              <a:ext uri="{FF2B5EF4-FFF2-40B4-BE49-F238E27FC236}">
                <a16:creationId xmlns:a16="http://schemas.microsoft.com/office/drawing/2014/main" id="{A0B29E3B-5447-4104-E77E-C26EB1CB0F8A}"/>
              </a:ext>
            </a:extLst>
          </p:cNvPr>
          <p:cNvCxnSpPr>
            <a:cxnSpLocks/>
            <a:stCxn id="77" idx="3"/>
          </p:cNvCxnSpPr>
          <p:nvPr/>
        </p:nvCxnSpPr>
        <p:spPr>
          <a:xfrm flipV="1">
            <a:off x="7612378" y="2246045"/>
            <a:ext cx="558434" cy="1580487"/>
          </a:xfrm>
          <a:prstGeom prst="bentConnector3">
            <a:avLst>
              <a:gd name="adj1" fmla="val 76511"/>
            </a:avLst>
          </a:prstGeom>
          <a:ln>
            <a:solidFill>
              <a:schemeClr val="tx2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コネクタ: カギ線 78">
            <a:extLst>
              <a:ext uri="{FF2B5EF4-FFF2-40B4-BE49-F238E27FC236}">
                <a16:creationId xmlns:a16="http://schemas.microsoft.com/office/drawing/2014/main" id="{6F60DF78-AC16-9662-17BD-3EBCD4677BB3}"/>
              </a:ext>
            </a:extLst>
          </p:cNvPr>
          <p:cNvCxnSpPr>
            <a:cxnSpLocks/>
            <a:stCxn id="74" idx="3"/>
          </p:cNvCxnSpPr>
          <p:nvPr/>
        </p:nvCxnSpPr>
        <p:spPr>
          <a:xfrm flipV="1">
            <a:off x="7619393" y="2530542"/>
            <a:ext cx="551419" cy="103039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コネクタ: カギ線 81">
            <a:extLst>
              <a:ext uri="{FF2B5EF4-FFF2-40B4-BE49-F238E27FC236}">
                <a16:creationId xmlns:a16="http://schemas.microsoft.com/office/drawing/2014/main" id="{9ACE7516-910E-229D-8D61-02389EE1209F}"/>
              </a:ext>
            </a:extLst>
          </p:cNvPr>
          <p:cNvCxnSpPr>
            <a:cxnSpLocks/>
            <a:stCxn id="75" idx="3"/>
          </p:cNvCxnSpPr>
          <p:nvPr/>
        </p:nvCxnSpPr>
        <p:spPr>
          <a:xfrm flipV="1">
            <a:off x="7619393" y="2530542"/>
            <a:ext cx="551419" cy="76479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コネクタ: カギ線 82">
            <a:extLst>
              <a:ext uri="{FF2B5EF4-FFF2-40B4-BE49-F238E27FC236}">
                <a16:creationId xmlns:a16="http://schemas.microsoft.com/office/drawing/2014/main" id="{CFEF0AA5-73C6-3E02-7EDB-57BE374DCDBF}"/>
              </a:ext>
            </a:extLst>
          </p:cNvPr>
          <p:cNvCxnSpPr>
            <a:cxnSpLocks/>
            <a:stCxn id="69" idx="3"/>
          </p:cNvCxnSpPr>
          <p:nvPr/>
        </p:nvCxnSpPr>
        <p:spPr>
          <a:xfrm flipV="1">
            <a:off x="7619393" y="2530542"/>
            <a:ext cx="551419" cy="49920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コネクタ: カギ線 83">
            <a:extLst>
              <a:ext uri="{FF2B5EF4-FFF2-40B4-BE49-F238E27FC236}">
                <a16:creationId xmlns:a16="http://schemas.microsoft.com/office/drawing/2014/main" id="{994CBAF5-3A55-5F8D-2FE3-7E89A4D5C622}"/>
              </a:ext>
            </a:extLst>
          </p:cNvPr>
          <p:cNvCxnSpPr>
            <a:cxnSpLocks/>
            <a:stCxn id="76" idx="3"/>
          </p:cNvCxnSpPr>
          <p:nvPr/>
        </p:nvCxnSpPr>
        <p:spPr>
          <a:xfrm flipV="1">
            <a:off x="7612379" y="2530542"/>
            <a:ext cx="558433" cy="23564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コネクタ: カギ線 84">
            <a:extLst>
              <a:ext uri="{FF2B5EF4-FFF2-40B4-BE49-F238E27FC236}">
                <a16:creationId xmlns:a16="http://schemas.microsoft.com/office/drawing/2014/main" id="{95AFF09E-E9EC-B83D-758F-AB3E03B91C26}"/>
              </a:ext>
            </a:extLst>
          </p:cNvPr>
          <p:cNvCxnSpPr>
            <a:cxnSpLocks/>
            <a:stCxn id="56" idx="3"/>
          </p:cNvCxnSpPr>
          <p:nvPr/>
        </p:nvCxnSpPr>
        <p:spPr>
          <a:xfrm>
            <a:off x="7612379" y="2498555"/>
            <a:ext cx="558433" cy="3198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コネクタ: カギ線 86">
            <a:extLst>
              <a:ext uri="{FF2B5EF4-FFF2-40B4-BE49-F238E27FC236}">
                <a16:creationId xmlns:a16="http://schemas.microsoft.com/office/drawing/2014/main" id="{81E043B6-4E27-2700-F284-741B1F2B6E99}"/>
              </a:ext>
            </a:extLst>
          </p:cNvPr>
          <p:cNvCxnSpPr>
            <a:cxnSpLocks/>
            <a:stCxn id="55" idx="3"/>
          </p:cNvCxnSpPr>
          <p:nvPr/>
        </p:nvCxnSpPr>
        <p:spPr>
          <a:xfrm>
            <a:off x="7612379" y="2232960"/>
            <a:ext cx="558433" cy="29758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左中かっこ 87">
            <a:extLst>
              <a:ext uri="{FF2B5EF4-FFF2-40B4-BE49-F238E27FC236}">
                <a16:creationId xmlns:a16="http://schemas.microsoft.com/office/drawing/2014/main" id="{3EB6A587-08D7-7B0D-8BB4-704F3A9413A8}"/>
              </a:ext>
            </a:extLst>
          </p:cNvPr>
          <p:cNvSpPr/>
          <p:nvPr/>
        </p:nvSpPr>
        <p:spPr>
          <a:xfrm>
            <a:off x="5156221" y="2086266"/>
            <a:ext cx="181099" cy="1866748"/>
          </a:xfrm>
          <a:prstGeom prst="leftBrace">
            <a:avLst>
              <a:gd name="adj1" fmla="val 8333"/>
              <a:gd name="adj2" fmla="val 23194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0" name="正方形/長方形 89">
            <a:extLst>
              <a:ext uri="{FF2B5EF4-FFF2-40B4-BE49-F238E27FC236}">
                <a16:creationId xmlns:a16="http://schemas.microsoft.com/office/drawing/2014/main" id="{13F6801A-CC8C-370B-47CD-0E9A8F78DA92}"/>
              </a:ext>
            </a:extLst>
          </p:cNvPr>
          <p:cNvSpPr/>
          <p:nvPr/>
        </p:nvSpPr>
        <p:spPr>
          <a:xfrm>
            <a:off x="468899" y="4586771"/>
            <a:ext cx="5679352" cy="1887988"/>
          </a:xfrm>
          <a:prstGeom prst="rect">
            <a:avLst/>
          </a:prstGeom>
          <a:solidFill>
            <a:srgbClr val="04FA0A">
              <a:alpha val="8000"/>
            </a:srgb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92" name="正方形/長方形 91">
            <a:extLst>
              <a:ext uri="{FF2B5EF4-FFF2-40B4-BE49-F238E27FC236}">
                <a16:creationId xmlns:a16="http://schemas.microsoft.com/office/drawing/2014/main" id="{EBF6537D-D75B-DA5C-78EC-88D8F874BA82}"/>
              </a:ext>
            </a:extLst>
          </p:cNvPr>
          <p:cNvSpPr/>
          <p:nvPr/>
        </p:nvSpPr>
        <p:spPr>
          <a:xfrm>
            <a:off x="2207057" y="6002525"/>
            <a:ext cx="848549" cy="243944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友だち化</a:t>
            </a:r>
          </a:p>
        </p:txBody>
      </p:sp>
      <p:sp>
        <p:nvSpPr>
          <p:cNvPr id="93" name="正方形/長方形 92">
            <a:extLst>
              <a:ext uri="{FF2B5EF4-FFF2-40B4-BE49-F238E27FC236}">
                <a16:creationId xmlns:a16="http://schemas.microsoft.com/office/drawing/2014/main" id="{1A52527A-0CF0-029E-8E86-430BD9DEAAA1}"/>
              </a:ext>
            </a:extLst>
          </p:cNvPr>
          <p:cNvSpPr/>
          <p:nvPr/>
        </p:nvSpPr>
        <p:spPr>
          <a:xfrm>
            <a:off x="548883" y="4704947"/>
            <a:ext cx="731277" cy="243944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</a:t>
            </a:r>
            <a:endParaRPr kumimoji="1" lang="ja-JP" altLang="en-US" sz="10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95" name="コネクタ: カギ線 94">
            <a:extLst>
              <a:ext uri="{FF2B5EF4-FFF2-40B4-BE49-F238E27FC236}">
                <a16:creationId xmlns:a16="http://schemas.microsoft.com/office/drawing/2014/main" id="{898B747D-663D-3118-8C11-74EB0324AD5C}"/>
              </a:ext>
            </a:extLst>
          </p:cNvPr>
          <p:cNvCxnSpPr>
            <a:stCxn id="93" idx="0"/>
          </p:cNvCxnSpPr>
          <p:nvPr/>
        </p:nvCxnSpPr>
        <p:spPr>
          <a:xfrm rot="5400000" flipH="1" flipV="1">
            <a:off x="3855271" y="-288234"/>
            <a:ext cx="2052433" cy="7933930"/>
          </a:xfrm>
          <a:prstGeom prst="bentConnector3">
            <a:avLst>
              <a:gd name="adj1" fmla="val 8842"/>
            </a:avLst>
          </a:prstGeom>
          <a:ln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コネクタ: カギ線 95">
            <a:extLst>
              <a:ext uri="{FF2B5EF4-FFF2-40B4-BE49-F238E27FC236}">
                <a16:creationId xmlns:a16="http://schemas.microsoft.com/office/drawing/2014/main" id="{CA244CA5-B309-FA6E-284D-7CBC7CC2508F}"/>
              </a:ext>
            </a:extLst>
          </p:cNvPr>
          <p:cNvCxnSpPr>
            <a:cxnSpLocks/>
            <a:stCxn id="93" idx="2"/>
            <a:endCxn id="92" idx="1"/>
          </p:cNvCxnSpPr>
          <p:nvPr/>
        </p:nvCxnSpPr>
        <p:spPr>
          <a:xfrm rot="16200000" flipH="1">
            <a:off x="972986" y="4890426"/>
            <a:ext cx="1175606" cy="1292535"/>
          </a:xfrm>
          <a:prstGeom prst="bentConnector2">
            <a:avLst/>
          </a:prstGeom>
          <a:ln>
            <a:solidFill>
              <a:schemeClr val="tx2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正方形/長方形 97">
            <a:extLst>
              <a:ext uri="{FF2B5EF4-FFF2-40B4-BE49-F238E27FC236}">
                <a16:creationId xmlns:a16="http://schemas.microsoft.com/office/drawing/2014/main" id="{B6490177-CFF0-A875-7C56-F0FC8CA2C530}"/>
              </a:ext>
            </a:extLst>
          </p:cNvPr>
          <p:cNvSpPr/>
          <p:nvPr/>
        </p:nvSpPr>
        <p:spPr>
          <a:xfrm>
            <a:off x="562021" y="5819567"/>
            <a:ext cx="1355280" cy="24394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 err="1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OptionAPI</a:t>
            </a:r>
            <a:endParaRPr kumimoji="1"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99" name="正方形/長方形 98">
            <a:extLst>
              <a:ext uri="{FF2B5EF4-FFF2-40B4-BE49-F238E27FC236}">
                <a16:creationId xmlns:a16="http://schemas.microsoft.com/office/drawing/2014/main" id="{6D76C720-225A-6A92-8A49-A13770789615}"/>
              </a:ext>
            </a:extLst>
          </p:cNvPr>
          <p:cNvSpPr/>
          <p:nvPr/>
        </p:nvSpPr>
        <p:spPr>
          <a:xfrm>
            <a:off x="562021" y="6084246"/>
            <a:ext cx="1355280" cy="24394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サンクス</a:t>
            </a:r>
            <a:r>
              <a:rPr kumimoji="1" lang="en-US" altLang="ja-JP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誘導</a:t>
            </a:r>
          </a:p>
        </p:txBody>
      </p:sp>
      <p:sp>
        <p:nvSpPr>
          <p:cNvPr id="101" name="正方形/長方形 100">
            <a:extLst>
              <a:ext uri="{FF2B5EF4-FFF2-40B4-BE49-F238E27FC236}">
                <a16:creationId xmlns:a16="http://schemas.microsoft.com/office/drawing/2014/main" id="{9927067B-793F-D21C-B90A-7C7E46812D7F}"/>
              </a:ext>
            </a:extLst>
          </p:cNvPr>
          <p:cNvSpPr/>
          <p:nvPr/>
        </p:nvSpPr>
        <p:spPr>
          <a:xfrm>
            <a:off x="3713703" y="4731321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面接・見学の前日リマインド</a:t>
            </a:r>
          </a:p>
        </p:txBody>
      </p:sp>
      <p:sp>
        <p:nvSpPr>
          <p:cNvPr id="102" name="正方形/長方形 101">
            <a:extLst>
              <a:ext uri="{FF2B5EF4-FFF2-40B4-BE49-F238E27FC236}">
                <a16:creationId xmlns:a16="http://schemas.microsoft.com/office/drawing/2014/main" id="{BD2E83D5-3372-C439-208D-783F428C9D84}"/>
              </a:ext>
            </a:extLst>
          </p:cNvPr>
          <p:cNvSpPr/>
          <p:nvPr/>
        </p:nvSpPr>
        <p:spPr>
          <a:xfrm>
            <a:off x="3713703" y="4996916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契約満了前の再案内</a:t>
            </a:r>
          </a:p>
        </p:txBody>
      </p:sp>
      <p:sp>
        <p:nvSpPr>
          <p:cNvPr id="104" name="正方形/長方形 103">
            <a:extLst>
              <a:ext uri="{FF2B5EF4-FFF2-40B4-BE49-F238E27FC236}">
                <a16:creationId xmlns:a16="http://schemas.microsoft.com/office/drawing/2014/main" id="{087D59E0-E0CE-3934-C1B4-0EF4D82E0B2E}"/>
              </a:ext>
            </a:extLst>
          </p:cNvPr>
          <p:cNvSpPr/>
          <p:nvPr/>
        </p:nvSpPr>
        <p:spPr>
          <a:xfrm>
            <a:off x="3713703" y="5262511"/>
            <a:ext cx="1124924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就業開始</a:t>
            </a:r>
          </a:p>
        </p:txBody>
      </p:sp>
      <p:sp>
        <p:nvSpPr>
          <p:cNvPr id="105" name="正方形/長方形 104">
            <a:extLst>
              <a:ext uri="{FF2B5EF4-FFF2-40B4-BE49-F238E27FC236}">
                <a16:creationId xmlns:a16="http://schemas.microsoft.com/office/drawing/2014/main" id="{78BB80E0-2482-846A-E4FE-C1770384E88E}"/>
              </a:ext>
            </a:extLst>
          </p:cNvPr>
          <p:cNvSpPr/>
          <p:nvPr/>
        </p:nvSpPr>
        <p:spPr>
          <a:xfrm>
            <a:off x="3720717" y="5528106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満了時期タグの設定</a:t>
            </a:r>
          </a:p>
        </p:txBody>
      </p:sp>
      <p:sp>
        <p:nvSpPr>
          <p:cNvPr id="111" name="正方形/長方形 110">
            <a:extLst>
              <a:ext uri="{FF2B5EF4-FFF2-40B4-BE49-F238E27FC236}">
                <a16:creationId xmlns:a16="http://schemas.microsoft.com/office/drawing/2014/main" id="{C885333E-56CE-B011-72B9-07B332849355}"/>
              </a:ext>
            </a:extLst>
          </p:cNvPr>
          <p:cNvSpPr/>
          <p:nvPr/>
        </p:nvSpPr>
        <p:spPr>
          <a:xfrm>
            <a:off x="4881464" y="5264551"/>
            <a:ext cx="1124924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就業後フォロー</a:t>
            </a:r>
          </a:p>
        </p:txBody>
      </p:sp>
      <p:cxnSp>
        <p:nvCxnSpPr>
          <p:cNvPr id="112" name="コネクタ: カギ線 111">
            <a:extLst>
              <a:ext uri="{FF2B5EF4-FFF2-40B4-BE49-F238E27FC236}">
                <a16:creationId xmlns:a16="http://schemas.microsoft.com/office/drawing/2014/main" id="{BDA83037-5C06-C2D0-EF8B-90AE0F4336B5}"/>
              </a:ext>
            </a:extLst>
          </p:cNvPr>
          <p:cNvCxnSpPr>
            <a:cxnSpLocks/>
            <a:stCxn id="93" idx="3"/>
            <a:endCxn id="101" idx="1"/>
          </p:cNvCxnSpPr>
          <p:nvPr/>
        </p:nvCxnSpPr>
        <p:spPr>
          <a:xfrm>
            <a:off x="1280160" y="4826919"/>
            <a:ext cx="2433543" cy="15286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コネクタ: カギ線 114">
            <a:extLst>
              <a:ext uri="{FF2B5EF4-FFF2-40B4-BE49-F238E27FC236}">
                <a16:creationId xmlns:a16="http://schemas.microsoft.com/office/drawing/2014/main" id="{BA23D5BC-C7EC-06D4-215C-2852A68F0F9B}"/>
              </a:ext>
            </a:extLst>
          </p:cNvPr>
          <p:cNvCxnSpPr>
            <a:cxnSpLocks/>
            <a:stCxn id="93" idx="3"/>
            <a:endCxn id="102" idx="1"/>
          </p:cNvCxnSpPr>
          <p:nvPr/>
        </p:nvCxnSpPr>
        <p:spPr>
          <a:xfrm>
            <a:off x="1280160" y="4826919"/>
            <a:ext cx="2433543" cy="280881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コネクタ: カギ線 115">
            <a:extLst>
              <a:ext uri="{FF2B5EF4-FFF2-40B4-BE49-F238E27FC236}">
                <a16:creationId xmlns:a16="http://schemas.microsoft.com/office/drawing/2014/main" id="{F8AA6994-29BC-2C26-DE5F-C0C21F502236}"/>
              </a:ext>
            </a:extLst>
          </p:cNvPr>
          <p:cNvCxnSpPr>
            <a:cxnSpLocks/>
            <a:stCxn id="93" idx="3"/>
            <a:endCxn id="104" idx="1"/>
          </p:cNvCxnSpPr>
          <p:nvPr/>
        </p:nvCxnSpPr>
        <p:spPr>
          <a:xfrm>
            <a:off x="1280160" y="4826919"/>
            <a:ext cx="2433543" cy="546476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コネクタ: カギ線 117">
            <a:extLst>
              <a:ext uri="{FF2B5EF4-FFF2-40B4-BE49-F238E27FC236}">
                <a16:creationId xmlns:a16="http://schemas.microsoft.com/office/drawing/2014/main" id="{3AE4A3D0-6C1F-7BCD-3ED2-5F066684CE21}"/>
              </a:ext>
            </a:extLst>
          </p:cNvPr>
          <p:cNvCxnSpPr>
            <a:cxnSpLocks/>
            <a:stCxn id="93" idx="3"/>
            <a:endCxn id="105" idx="1"/>
          </p:cNvCxnSpPr>
          <p:nvPr/>
        </p:nvCxnSpPr>
        <p:spPr>
          <a:xfrm>
            <a:off x="1280160" y="4826919"/>
            <a:ext cx="2440557" cy="812071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正方形/長方形 118">
            <a:extLst>
              <a:ext uri="{FF2B5EF4-FFF2-40B4-BE49-F238E27FC236}">
                <a16:creationId xmlns:a16="http://schemas.microsoft.com/office/drawing/2014/main" id="{F922E2DE-5C74-6CAA-736C-BAC94D2952DF}"/>
              </a:ext>
            </a:extLst>
          </p:cNvPr>
          <p:cNvSpPr/>
          <p:nvPr/>
        </p:nvSpPr>
        <p:spPr>
          <a:xfrm>
            <a:off x="3713703" y="5792944"/>
            <a:ext cx="2292685" cy="221767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不採用・辞退後の次の求人</a:t>
            </a:r>
          </a:p>
        </p:txBody>
      </p:sp>
      <p:sp>
        <p:nvSpPr>
          <p:cNvPr id="121" name="正方形/長方形 120">
            <a:extLst>
              <a:ext uri="{FF2B5EF4-FFF2-40B4-BE49-F238E27FC236}">
                <a16:creationId xmlns:a16="http://schemas.microsoft.com/office/drawing/2014/main" id="{03175683-57AB-6FFA-0F27-7E81645CA47B}"/>
              </a:ext>
            </a:extLst>
          </p:cNvPr>
          <p:cNvSpPr/>
          <p:nvPr/>
        </p:nvSpPr>
        <p:spPr>
          <a:xfrm>
            <a:off x="3720717" y="6061629"/>
            <a:ext cx="2292685" cy="221767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自動応答（FAQ）</a:t>
            </a:r>
          </a:p>
        </p:txBody>
      </p:sp>
      <p:cxnSp>
        <p:nvCxnSpPr>
          <p:cNvPr id="122" name="コネクタ: カギ線 121">
            <a:extLst>
              <a:ext uri="{FF2B5EF4-FFF2-40B4-BE49-F238E27FC236}">
                <a16:creationId xmlns:a16="http://schemas.microsoft.com/office/drawing/2014/main" id="{30FE3CED-649C-7946-1117-B1E2FD2D7F26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1605206" y="3681433"/>
            <a:ext cx="3347219" cy="1294966"/>
          </a:xfrm>
          <a:prstGeom prst="bentConnector3">
            <a:avLst>
              <a:gd name="adj1" fmla="val 46358"/>
            </a:avLst>
          </a:prstGeom>
          <a:ln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正方形/長方形 123">
            <a:extLst>
              <a:ext uri="{FF2B5EF4-FFF2-40B4-BE49-F238E27FC236}">
                <a16:creationId xmlns:a16="http://schemas.microsoft.com/office/drawing/2014/main" id="{5EB01514-8877-C931-E7AA-81B28EB77681}"/>
              </a:ext>
            </a:extLst>
          </p:cNvPr>
          <p:cNvSpPr/>
          <p:nvPr/>
        </p:nvSpPr>
        <p:spPr>
          <a:xfrm>
            <a:off x="6986937" y="1517116"/>
            <a:ext cx="2583782" cy="252610"/>
          </a:xfrm>
          <a:prstGeom prst="rect">
            <a:avLst/>
          </a:prstGeom>
          <a:solidFill>
            <a:srgbClr val="04FA0A">
              <a:alpha val="8000"/>
            </a:srgb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rgbClr val="00B05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自動化</a:t>
            </a:r>
            <a:r>
              <a:rPr lang="en-US" altLang="ja-JP" sz="1100" b="1" dirty="0">
                <a:solidFill>
                  <a:srgbClr val="00B05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b="1" dirty="0">
                <a:solidFill>
                  <a:srgbClr val="00B05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ツール導入により</a:t>
            </a:r>
            <a:r>
              <a:rPr lang="en-US" altLang="ja-JP" sz="1100" b="1" dirty="0">
                <a:solidFill>
                  <a:srgbClr val="00B05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  <a:r>
              <a:rPr lang="ja-JP" altLang="en-US" sz="1100" b="1" dirty="0">
                <a:solidFill>
                  <a:srgbClr val="00B05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可能領域</a:t>
            </a:r>
            <a:endParaRPr kumimoji="1" lang="ja-JP" altLang="en-US" sz="1100" b="1" dirty="0">
              <a:solidFill>
                <a:srgbClr val="00B050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03427014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63900D-063E-F973-5EF2-005AE1CA21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6758DBC2-018A-378B-99F0-43DAFE20DF5C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全体設計｜施策の考え方（どこでLINEに繋ぐか）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294458F3-B182-EFAE-9BE8-8E76712736E7}"/>
              </a:ext>
            </a:extLst>
          </p:cNvPr>
          <p:cNvSpPr/>
          <p:nvPr/>
        </p:nvSpPr>
        <p:spPr>
          <a:xfrm>
            <a:off x="175475" y="1823735"/>
            <a:ext cx="4721072" cy="4695338"/>
          </a:xfrm>
          <a:prstGeom prst="rect">
            <a:avLst/>
          </a:prstGeom>
          <a:solidFill>
            <a:schemeClr val="bg1">
              <a:lumMod val="95000"/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EDB57FCC-E034-81EB-B2ED-2EB62032A504}"/>
              </a:ext>
            </a:extLst>
          </p:cNvPr>
          <p:cNvSpPr/>
          <p:nvPr/>
        </p:nvSpPr>
        <p:spPr>
          <a:xfrm>
            <a:off x="4994298" y="1823734"/>
            <a:ext cx="4721072" cy="4695338"/>
          </a:xfrm>
          <a:prstGeom prst="rect">
            <a:avLst/>
          </a:prstGeom>
          <a:solidFill>
            <a:schemeClr val="bg1">
              <a:lumMod val="95000"/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3C363108-225C-23EE-472E-1E1A14DA49E4}"/>
              </a:ext>
            </a:extLst>
          </p:cNvPr>
          <p:cNvSpPr/>
          <p:nvPr/>
        </p:nvSpPr>
        <p:spPr>
          <a:xfrm>
            <a:off x="0" y="777240"/>
            <a:ext cx="1802674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LINEOA</a:t>
            </a:r>
            <a:r>
              <a:rPr kumimoji="1"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施策</a:t>
            </a:r>
          </a:p>
        </p:txBody>
      </p:sp>
      <p:sp>
        <p:nvSpPr>
          <p:cNvPr id="10" name="Google Shape;752;p28">
            <a:extLst>
              <a:ext uri="{FF2B5EF4-FFF2-40B4-BE49-F238E27FC236}">
                <a16:creationId xmlns:a16="http://schemas.microsoft.com/office/drawing/2014/main" id="{9A39965E-24C8-AD90-0D9E-A9BC47D02016}"/>
              </a:ext>
            </a:extLst>
          </p:cNvPr>
          <p:cNvSpPr txBox="1"/>
          <p:nvPr/>
        </p:nvSpPr>
        <p:spPr>
          <a:xfrm>
            <a:off x="1988819" y="736332"/>
            <a:ext cx="7774305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応募した人だけをLINEに繋ぐか、応募前に離脱した人も拾うか。</a:t>
            </a:r>
          </a:p>
          <a:p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同じ流入でも、その後に追える人数が大きく変わります。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1CD1533E-1582-9E17-EE6F-EA2F4BE96D58}"/>
              </a:ext>
            </a:extLst>
          </p:cNvPr>
          <p:cNvSpPr txBox="1"/>
          <p:nvPr/>
        </p:nvSpPr>
        <p:spPr>
          <a:xfrm>
            <a:off x="422130" y="1861195"/>
            <a:ext cx="2352196" cy="307777"/>
          </a:xfrm>
          <a:prstGeom prst="rect">
            <a:avLst/>
          </a:prstGeom>
          <a:solidFill>
            <a:schemeClr val="accent6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① 仕事を探し始める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2C43BB1A-3D6A-04B9-F8ED-26CB7DCA3735}"/>
              </a:ext>
            </a:extLst>
          </p:cNvPr>
          <p:cNvSpPr txBox="1"/>
          <p:nvPr/>
        </p:nvSpPr>
        <p:spPr>
          <a:xfrm>
            <a:off x="422130" y="2931847"/>
            <a:ext cx="2352196" cy="307777"/>
          </a:xfrm>
          <a:prstGeom prst="rect">
            <a:avLst/>
          </a:prstGeom>
          <a:solidFill>
            <a:schemeClr val="accent6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③ 応募先を選ぶ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BCB10DC8-82CD-0C69-034B-7642E1296837}"/>
              </a:ext>
            </a:extLst>
          </p:cNvPr>
          <p:cNvSpPr txBox="1"/>
          <p:nvPr/>
        </p:nvSpPr>
        <p:spPr>
          <a:xfrm>
            <a:off x="422130" y="2396521"/>
            <a:ext cx="2352196" cy="307777"/>
          </a:xfrm>
          <a:prstGeom prst="rect">
            <a:avLst/>
          </a:prstGeom>
          <a:solidFill>
            <a:schemeClr val="accent6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② 求人を比べる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015AFA19-CD5F-9379-AE26-44B78C354860}"/>
              </a:ext>
            </a:extLst>
          </p:cNvPr>
          <p:cNvSpPr txBox="1"/>
          <p:nvPr/>
        </p:nvSpPr>
        <p:spPr>
          <a:xfrm>
            <a:off x="422130" y="3467172"/>
            <a:ext cx="2352196" cy="307777"/>
          </a:xfrm>
          <a:prstGeom prst="rect">
            <a:avLst/>
          </a:prstGeom>
          <a:solidFill>
            <a:schemeClr val="accent6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④ 応募後のみ追加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22062743-7DD1-C474-56DE-C86161967F49}"/>
              </a:ext>
            </a:extLst>
          </p:cNvPr>
          <p:cNvSpPr txBox="1"/>
          <p:nvPr/>
        </p:nvSpPr>
        <p:spPr>
          <a:xfrm>
            <a:off x="422130" y="4407024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⑤ 面接・職場見学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B3F98235-7ECD-D5F4-08BE-76857355ABFA}"/>
              </a:ext>
            </a:extLst>
          </p:cNvPr>
          <p:cNvSpPr txBox="1"/>
          <p:nvPr/>
        </p:nvSpPr>
        <p:spPr>
          <a:xfrm>
            <a:off x="422130" y="5477676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⑦ 就業中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999F747F-6C0D-0BDB-B5B7-8266514B8949}"/>
              </a:ext>
            </a:extLst>
          </p:cNvPr>
          <p:cNvSpPr txBox="1"/>
          <p:nvPr/>
        </p:nvSpPr>
        <p:spPr>
          <a:xfrm>
            <a:off x="422130" y="4942350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⑥ 採用・就業開始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A2277771-01BE-2A4E-C621-929D69C54177}"/>
              </a:ext>
            </a:extLst>
          </p:cNvPr>
          <p:cNvSpPr txBox="1"/>
          <p:nvPr/>
        </p:nvSpPr>
        <p:spPr>
          <a:xfrm>
            <a:off x="422130" y="6013004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⑧ 契約満了・次の仕事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21" name="直線矢印コネクタ 20">
            <a:extLst>
              <a:ext uri="{FF2B5EF4-FFF2-40B4-BE49-F238E27FC236}">
                <a16:creationId xmlns:a16="http://schemas.microsoft.com/office/drawing/2014/main" id="{9CD79024-49B9-DF89-8EE9-633017761437}"/>
              </a:ext>
            </a:extLst>
          </p:cNvPr>
          <p:cNvCxnSpPr>
            <a:cxnSpLocks/>
          </p:cNvCxnSpPr>
          <p:nvPr/>
        </p:nvCxnSpPr>
        <p:spPr>
          <a:xfrm>
            <a:off x="725974" y="3934112"/>
            <a:ext cx="0" cy="474234"/>
          </a:xfrm>
          <a:prstGeom prst="straightConnector1">
            <a:avLst/>
          </a:prstGeom>
          <a:ln w="1270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3707324A-CA31-10C7-B6B8-E3A9A53CC3A2}"/>
              </a:ext>
            </a:extLst>
          </p:cNvPr>
          <p:cNvSpPr txBox="1"/>
          <p:nvPr/>
        </p:nvSpPr>
        <p:spPr>
          <a:xfrm>
            <a:off x="5143202" y="1861195"/>
            <a:ext cx="2352196" cy="307777"/>
          </a:xfrm>
          <a:prstGeom prst="rect">
            <a:avLst/>
          </a:prstGeom>
          <a:solidFill>
            <a:schemeClr val="accent6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① 仕事を探し始める</a:t>
            </a: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2ADFDD2E-A723-2916-4648-0F5E903278F3}"/>
              </a:ext>
            </a:extLst>
          </p:cNvPr>
          <p:cNvSpPr txBox="1"/>
          <p:nvPr/>
        </p:nvSpPr>
        <p:spPr>
          <a:xfrm>
            <a:off x="5143202" y="2931847"/>
            <a:ext cx="2352196" cy="307777"/>
          </a:xfrm>
          <a:prstGeom prst="rect">
            <a:avLst/>
          </a:prstGeom>
          <a:solidFill>
            <a:schemeClr val="accent6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③ 応募先を選ぶ</a:t>
            </a: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B895B974-A656-2669-0CE1-C27F2B4B20BE}"/>
              </a:ext>
            </a:extLst>
          </p:cNvPr>
          <p:cNvSpPr txBox="1"/>
          <p:nvPr/>
        </p:nvSpPr>
        <p:spPr>
          <a:xfrm>
            <a:off x="5143202" y="2396521"/>
            <a:ext cx="2352196" cy="307777"/>
          </a:xfrm>
          <a:prstGeom prst="rect">
            <a:avLst/>
          </a:prstGeom>
          <a:solidFill>
            <a:schemeClr val="accent6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② 求人を比べる</a:t>
            </a: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A07117C9-502D-4C6F-AA2E-1C1E7CF7B4C6}"/>
              </a:ext>
            </a:extLst>
          </p:cNvPr>
          <p:cNvSpPr txBox="1"/>
          <p:nvPr/>
        </p:nvSpPr>
        <p:spPr>
          <a:xfrm>
            <a:off x="5143202" y="3467173"/>
            <a:ext cx="2352196" cy="307777"/>
          </a:xfrm>
          <a:prstGeom prst="rect">
            <a:avLst/>
          </a:prstGeom>
          <a:solidFill>
            <a:schemeClr val="accent6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④ 離脱時も追加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56761199-CD70-153F-E94B-20E5E833D7A7}"/>
              </a:ext>
            </a:extLst>
          </p:cNvPr>
          <p:cNvSpPr txBox="1"/>
          <p:nvPr/>
        </p:nvSpPr>
        <p:spPr>
          <a:xfrm>
            <a:off x="5143202" y="4407024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⑤ 面接・職場見学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72CCB353-50A1-FF17-E933-B1158BEE91E4}"/>
              </a:ext>
            </a:extLst>
          </p:cNvPr>
          <p:cNvSpPr txBox="1"/>
          <p:nvPr/>
        </p:nvSpPr>
        <p:spPr>
          <a:xfrm>
            <a:off x="5143202" y="5477676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⑦ 就業中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44A347FC-9BE7-316C-5F13-B7762E412092}"/>
              </a:ext>
            </a:extLst>
          </p:cNvPr>
          <p:cNvSpPr txBox="1"/>
          <p:nvPr/>
        </p:nvSpPr>
        <p:spPr>
          <a:xfrm>
            <a:off x="5143202" y="4942350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⑥ 採用・就業開始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31750602-2370-CB79-F23B-20E4B2FC9A45}"/>
              </a:ext>
            </a:extLst>
          </p:cNvPr>
          <p:cNvSpPr txBox="1"/>
          <p:nvPr/>
        </p:nvSpPr>
        <p:spPr>
          <a:xfrm>
            <a:off x="5143202" y="6013004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⑧ 契約満了・次の仕事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46" name="直線矢印コネクタ 45">
            <a:extLst>
              <a:ext uri="{FF2B5EF4-FFF2-40B4-BE49-F238E27FC236}">
                <a16:creationId xmlns:a16="http://schemas.microsoft.com/office/drawing/2014/main" id="{7398214A-9BC3-94A2-1B44-ABFB6EF10A95}"/>
              </a:ext>
            </a:extLst>
          </p:cNvPr>
          <p:cNvCxnSpPr>
            <a:cxnSpLocks/>
          </p:cNvCxnSpPr>
          <p:nvPr/>
        </p:nvCxnSpPr>
        <p:spPr>
          <a:xfrm>
            <a:off x="5447046" y="3934112"/>
            <a:ext cx="0" cy="474234"/>
          </a:xfrm>
          <a:prstGeom prst="straightConnector1">
            <a:avLst/>
          </a:prstGeom>
          <a:ln w="1270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0" name="図 49">
            <a:extLst>
              <a:ext uri="{FF2B5EF4-FFF2-40B4-BE49-F238E27FC236}">
                <a16:creationId xmlns:a16="http://schemas.microsoft.com/office/drawing/2014/main" id="{BC82B682-A1BD-AF78-6196-B1E02CC1F3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7117" y="3452400"/>
            <a:ext cx="481489" cy="448956"/>
          </a:xfrm>
          <a:prstGeom prst="rect">
            <a:avLst/>
          </a:prstGeom>
        </p:spPr>
      </p:pic>
      <p:pic>
        <p:nvPicPr>
          <p:cNvPr id="54" name="図 53">
            <a:extLst>
              <a:ext uri="{FF2B5EF4-FFF2-40B4-BE49-F238E27FC236}">
                <a16:creationId xmlns:a16="http://schemas.microsoft.com/office/drawing/2014/main" id="{13BFB52F-AE2C-2214-E223-63E053D9FE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4089" y="3453958"/>
            <a:ext cx="481489" cy="448956"/>
          </a:xfrm>
          <a:prstGeom prst="rect">
            <a:avLst/>
          </a:prstGeom>
        </p:spPr>
      </p:pic>
      <p:sp>
        <p:nvSpPr>
          <p:cNvPr id="62" name="正方形/長方形 61">
            <a:extLst>
              <a:ext uri="{FF2B5EF4-FFF2-40B4-BE49-F238E27FC236}">
                <a16:creationId xmlns:a16="http://schemas.microsoft.com/office/drawing/2014/main" id="{EDC00F02-3FEF-F2A7-D36C-00239CB92DE5}"/>
              </a:ext>
            </a:extLst>
          </p:cNvPr>
          <p:cNvSpPr/>
          <p:nvPr/>
        </p:nvSpPr>
        <p:spPr>
          <a:xfrm>
            <a:off x="175475" y="1503248"/>
            <a:ext cx="4721072" cy="297266"/>
          </a:xfrm>
          <a:prstGeom prst="rect">
            <a:avLst/>
          </a:prstGeom>
          <a:solidFill>
            <a:schemeClr val="tx1">
              <a:lumMod val="50000"/>
              <a:lumOff val="50000"/>
              <a:alpha val="86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パターン① 応募した人だけLINEへ</a:t>
            </a:r>
          </a:p>
        </p:txBody>
      </p:sp>
      <p:sp>
        <p:nvSpPr>
          <p:cNvPr id="66" name="正方形/長方形 65">
            <a:extLst>
              <a:ext uri="{FF2B5EF4-FFF2-40B4-BE49-F238E27FC236}">
                <a16:creationId xmlns:a16="http://schemas.microsoft.com/office/drawing/2014/main" id="{3B6038D6-0E00-CDB9-8318-C7D05A37E8F2}"/>
              </a:ext>
            </a:extLst>
          </p:cNvPr>
          <p:cNvSpPr/>
          <p:nvPr/>
        </p:nvSpPr>
        <p:spPr>
          <a:xfrm>
            <a:off x="4994298" y="1503247"/>
            <a:ext cx="4721072" cy="297266"/>
          </a:xfrm>
          <a:prstGeom prst="rect">
            <a:avLst/>
          </a:prstGeom>
          <a:solidFill>
            <a:schemeClr val="tx1">
              <a:lumMod val="50000"/>
              <a:lumOff val="50000"/>
              <a:alpha val="86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パターン② 応募前の離脱者も拾う</a:t>
            </a:r>
          </a:p>
        </p:txBody>
      </p:sp>
      <p:pic>
        <p:nvPicPr>
          <p:cNvPr id="70" name="図 69">
            <a:extLst>
              <a:ext uri="{FF2B5EF4-FFF2-40B4-BE49-F238E27FC236}">
                <a16:creationId xmlns:a16="http://schemas.microsoft.com/office/drawing/2014/main" id="{B5C916EA-56BA-12E3-B0EE-D83A8EC905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3045" y="3298969"/>
            <a:ext cx="1792611" cy="2688917"/>
          </a:xfrm>
          <a:prstGeom prst="rect">
            <a:avLst/>
          </a:prstGeom>
        </p:spPr>
      </p:pic>
      <p:pic>
        <p:nvPicPr>
          <p:cNvPr id="826" name="図 825">
            <a:extLst>
              <a:ext uri="{FF2B5EF4-FFF2-40B4-BE49-F238E27FC236}">
                <a16:creationId xmlns:a16="http://schemas.microsoft.com/office/drawing/2014/main" id="{2D4E7AC1-305D-07DC-9608-BFD7502EFD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6321" y="3297600"/>
            <a:ext cx="1586218" cy="2379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935897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9DE6EC7-8BED-7DDA-23DD-316D74FFB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25B1FD88-3B25-D76E-99D7-CDD7E800E787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構築｜施策展開図（初期・月次）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709B81B2-1251-DE55-B4B3-220553E132F8}"/>
              </a:ext>
            </a:extLst>
          </p:cNvPr>
          <p:cNvSpPr/>
          <p:nvPr/>
        </p:nvSpPr>
        <p:spPr>
          <a:xfrm>
            <a:off x="0" y="777240"/>
            <a:ext cx="1802674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LINEOA</a:t>
            </a:r>
            <a:r>
              <a:rPr kumimoji="1"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施策</a:t>
            </a:r>
          </a:p>
        </p:txBody>
      </p:sp>
      <p:sp>
        <p:nvSpPr>
          <p:cNvPr id="3" name="Google Shape;752;p28">
            <a:extLst>
              <a:ext uri="{FF2B5EF4-FFF2-40B4-BE49-F238E27FC236}">
                <a16:creationId xmlns:a16="http://schemas.microsoft.com/office/drawing/2014/main" id="{1E8D898A-0AF4-2505-8EE3-9F12824F6A59}"/>
              </a:ext>
            </a:extLst>
          </p:cNvPr>
          <p:cNvSpPr txBox="1"/>
          <p:nvPr/>
        </p:nvSpPr>
        <p:spPr>
          <a:xfrm>
            <a:off x="1988819" y="859442"/>
            <a:ext cx="777430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LINEOA</a:t>
            </a:r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施策においては、</a:t>
            </a:r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[</a:t>
            </a:r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友だちの新規追加</a:t>
            </a:r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]</a:t>
            </a:r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と</a:t>
            </a:r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[</a:t>
            </a:r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友だちの育成・</a:t>
            </a:r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CV</a:t>
            </a:r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動線</a:t>
            </a:r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]</a:t>
            </a:r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が重要。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011C5FFF-B61A-EB8E-326E-072A0E269233}"/>
              </a:ext>
            </a:extLst>
          </p:cNvPr>
          <p:cNvSpPr/>
          <p:nvPr/>
        </p:nvSpPr>
        <p:spPr>
          <a:xfrm>
            <a:off x="3587358" y="1747110"/>
            <a:ext cx="860817" cy="143296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3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初期</a:t>
            </a:r>
            <a:endParaRPr kumimoji="1" lang="en-US" altLang="ja-JP" sz="13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13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（初動）</a:t>
            </a:r>
            <a:endParaRPr kumimoji="1" lang="ja-JP" altLang="en-US" sz="13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41F32D58-29FF-60A6-17B5-A41ACCBE9449}"/>
              </a:ext>
            </a:extLst>
          </p:cNvPr>
          <p:cNvSpPr/>
          <p:nvPr/>
        </p:nvSpPr>
        <p:spPr>
          <a:xfrm>
            <a:off x="3587358" y="3321847"/>
            <a:ext cx="860817" cy="292127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3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月次</a:t>
            </a:r>
            <a:endParaRPr kumimoji="1" lang="en-US" altLang="ja-JP" sz="13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13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（定例）</a:t>
            </a:r>
            <a:endParaRPr kumimoji="1" lang="ja-JP" altLang="en-US" sz="13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22EC6943-AA14-49EA-30CF-5D813BA45BFD}"/>
              </a:ext>
            </a:extLst>
          </p:cNvPr>
          <p:cNvSpPr/>
          <p:nvPr/>
        </p:nvSpPr>
        <p:spPr>
          <a:xfrm>
            <a:off x="336942" y="1729383"/>
            <a:ext cx="2444358" cy="860956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離脱防止・ポップアップ</a:t>
            </a:r>
            <a:endParaRPr kumimoji="1" lang="en-US" altLang="ja-JP" sz="13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en-US" altLang="ja-JP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HP/LP</a:t>
            </a:r>
            <a:r>
              <a:rPr lang="ja-JP" altLang="en-US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滞在時に、条件を満たすと</a:t>
            </a:r>
            <a:endParaRPr lang="en-US" altLang="ja-JP" sz="110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ポップアップバナーを表示する</a:t>
            </a:r>
            <a:endParaRPr lang="en-US" altLang="ja-JP" sz="110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3436AF3F-C2E7-3494-0B01-4BC00578C5FF}"/>
              </a:ext>
            </a:extLst>
          </p:cNvPr>
          <p:cNvSpPr/>
          <p:nvPr/>
        </p:nvSpPr>
        <p:spPr>
          <a:xfrm>
            <a:off x="336942" y="2642195"/>
            <a:ext cx="2444358" cy="860956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通知メッセージ</a:t>
            </a:r>
            <a:endParaRPr kumimoji="1" lang="en-US" altLang="ja-JP" sz="14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12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ユーザーアクション時に</a:t>
            </a:r>
            <a:endParaRPr lang="en-US" altLang="ja-JP" sz="120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en-US" altLang="ja-JP" sz="12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API</a:t>
            </a:r>
            <a:r>
              <a:rPr lang="ja-JP" altLang="en-US" sz="12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連携で</a:t>
            </a:r>
            <a:r>
              <a:rPr lang="en-US" altLang="ja-JP" sz="12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2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にメッセ送付</a:t>
            </a:r>
            <a:endParaRPr lang="en-US" altLang="ja-JP" sz="120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6B8D9E5A-638C-EACC-4E99-235D769FBAB5}"/>
              </a:ext>
            </a:extLst>
          </p:cNvPr>
          <p:cNvSpPr/>
          <p:nvPr/>
        </p:nvSpPr>
        <p:spPr>
          <a:xfrm>
            <a:off x="336942" y="3555007"/>
            <a:ext cx="2444358" cy="860956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サンクス</a:t>
            </a:r>
            <a:r>
              <a:rPr kumimoji="1" lang="en-US" altLang="ja-JP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誘導ツール</a:t>
            </a:r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en-US" altLang="ja-JP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WEB</a:t>
            </a:r>
            <a:r>
              <a:rPr lang="ja-JP" altLang="en-US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サイトの</a:t>
            </a:r>
            <a:r>
              <a:rPr lang="en-US" altLang="ja-JP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CV</a:t>
            </a:r>
            <a:r>
              <a:rPr lang="ja-JP" altLang="en-US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ページから</a:t>
            </a:r>
            <a:endParaRPr lang="en-US" altLang="ja-JP" sz="105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入力情報を引き継ぎ</a:t>
            </a:r>
            <a:r>
              <a:rPr lang="en-US" altLang="ja-JP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へ自動遷移</a:t>
            </a:r>
            <a:endParaRPr lang="en-US" altLang="ja-JP" sz="105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340447B4-FBD9-E81D-7902-7B3BF84ED83A}"/>
              </a:ext>
            </a:extLst>
          </p:cNvPr>
          <p:cNvSpPr/>
          <p:nvPr/>
        </p:nvSpPr>
        <p:spPr>
          <a:xfrm>
            <a:off x="336942" y="4458293"/>
            <a:ext cx="2444358" cy="860956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kumimoji="1" lang="ja-JP" altLang="en-US"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ログイン・</a:t>
            </a:r>
            <a:r>
              <a:rPr kumimoji="1" lang="en-US" altLang="ja-JP"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ID</a:t>
            </a:r>
            <a:r>
              <a:rPr kumimoji="1" lang="ja-JP" altLang="en-US"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連携等</a:t>
            </a:r>
            <a:endParaRPr kumimoji="1" lang="en-US" altLang="ja-JP" sz="13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endParaRPr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ログインに</a:t>
            </a:r>
            <a:r>
              <a:rPr lang="en-US" altLang="ja-JP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 </a:t>
            </a:r>
            <a:r>
              <a:rPr lang="en-US" altLang="ja-JP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ID</a:t>
            </a:r>
            <a:r>
              <a:rPr lang="ja-JP" altLang="en-US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を使用</a:t>
            </a:r>
            <a:endParaRPr lang="en-US" altLang="ja-JP" sz="110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サイトユーザー</a:t>
            </a:r>
            <a:r>
              <a:rPr lang="en-US" altLang="ja-JP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ID</a:t>
            </a:r>
            <a:r>
              <a:rPr lang="ja-JP" altLang="en-US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と</a:t>
            </a:r>
            <a:r>
              <a:rPr lang="en-US" altLang="ja-JP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LINEID</a:t>
            </a:r>
            <a:r>
              <a:rPr lang="ja-JP" altLang="en-US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を連携</a:t>
            </a:r>
            <a:endParaRPr kumimoji="1" lang="ja-JP" altLang="en-US" sz="11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BD6C1FC9-285C-AE02-A175-C7061E1A753F}"/>
              </a:ext>
            </a:extLst>
          </p:cNvPr>
          <p:cNvSpPr/>
          <p:nvPr/>
        </p:nvSpPr>
        <p:spPr>
          <a:xfrm>
            <a:off x="336942" y="5361315"/>
            <a:ext cx="2444358" cy="432333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 </a:t>
            </a:r>
            <a:r>
              <a:rPr lang="en-US" altLang="ja-JP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/ CPF</a:t>
            </a:r>
            <a:r>
              <a:rPr lang="ja-JP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広告</a:t>
            </a:r>
            <a:endParaRPr kumimoji="1" lang="ja-JP" altLang="en-US" sz="14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74F6F515-C9A5-F22C-3E1C-CF4380DB9991}"/>
              </a:ext>
            </a:extLst>
          </p:cNvPr>
          <p:cNvSpPr/>
          <p:nvPr/>
        </p:nvSpPr>
        <p:spPr>
          <a:xfrm>
            <a:off x="336942" y="5829843"/>
            <a:ext cx="2444358" cy="432333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スタンプ・</a:t>
            </a:r>
            <a:r>
              <a:rPr kumimoji="1" lang="en-US" altLang="ja-JP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Pt</a:t>
            </a:r>
            <a:r>
              <a:rPr kumimoji="1" lang="ja-JP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施策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0156D598-0831-CD8B-6A89-EE3DAF51A5E9}"/>
              </a:ext>
            </a:extLst>
          </p:cNvPr>
          <p:cNvSpPr/>
          <p:nvPr/>
        </p:nvSpPr>
        <p:spPr>
          <a:xfrm>
            <a:off x="4482711" y="1756635"/>
            <a:ext cx="3233084" cy="143296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・リッチメニュー</a:t>
            </a:r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・プロフ動線</a:t>
            </a:r>
            <a:endParaRPr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・あいさつ</a:t>
            </a:r>
            <a:r>
              <a:rPr lang="en-US" altLang="ja-JP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MSG</a:t>
            </a:r>
          </a:p>
          <a:p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</a:t>
            </a:r>
            <a:r>
              <a:rPr kumimoji="1" lang="en-US" altLang="ja-JP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KW</a:t>
            </a:r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自動応答設定</a:t>
            </a:r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・友だち登録直後アンケート</a:t>
            </a:r>
            <a:endParaRPr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・再引上げ</a:t>
            </a:r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アンケート</a:t>
            </a:r>
            <a:endParaRPr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・ステップ配信</a:t>
            </a:r>
            <a:r>
              <a:rPr lang="ja-JP" altLang="en-US" sz="9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：特定アクション後◯日での自動配信</a:t>
            </a:r>
            <a:endParaRPr kumimoji="1" lang="ja-JP" altLang="en-US" sz="90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24F01906-5193-F098-3B58-BDCC26D568EA}"/>
              </a:ext>
            </a:extLst>
          </p:cNvPr>
          <p:cNvSpPr/>
          <p:nvPr/>
        </p:nvSpPr>
        <p:spPr>
          <a:xfrm>
            <a:off x="4482711" y="3331372"/>
            <a:ext cx="3233084" cy="29212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[</a:t>
            </a:r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新規</a:t>
            </a:r>
            <a:r>
              <a:rPr lang="en-US" altLang="ja-JP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] </a:t>
            </a:r>
            <a:r>
              <a:rPr lang="ja-JP" altLang="en-US" sz="1200" b="1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→ 月間投稿数</a:t>
            </a:r>
            <a:endParaRPr lang="en-US" altLang="ja-JP" sz="1200" b="1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・イベント配信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・新着求人の案内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・企画配信（特定ターゲット）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・希望条件の再確認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・お役立ちコラム・コンテンツ配信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・季節／時事ネタ配信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︙</a:t>
            </a:r>
          </a:p>
          <a:p>
            <a:endParaRPr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[</a:t>
            </a:r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調整</a:t>
            </a:r>
            <a:r>
              <a:rPr lang="en-US" altLang="ja-JP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]</a:t>
            </a: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・アンケート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・自動応答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</a:t>
            </a:r>
            <a:r>
              <a:rPr lang="en-US" altLang="ja-JP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QA</a:t>
            </a:r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集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・リッチメニュー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・ステップ配信</a:t>
            </a:r>
          </a:p>
        </p:txBody>
      </p:sp>
      <p:sp>
        <p:nvSpPr>
          <p:cNvPr id="19" name="左大かっこ 18">
            <a:extLst>
              <a:ext uri="{FF2B5EF4-FFF2-40B4-BE49-F238E27FC236}">
                <a16:creationId xmlns:a16="http://schemas.microsoft.com/office/drawing/2014/main" id="{B9FF3DCE-9B05-09FE-7C2F-B104CD0105BE}"/>
              </a:ext>
            </a:extLst>
          </p:cNvPr>
          <p:cNvSpPr/>
          <p:nvPr/>
        </p:nvSpPr>
        <p:spPr>
          <a:xfrm>
            <a:off x="3210542" y="1800836"/>
            <a:ext cx="215932" cy="4398089"/>
          </a:xfrm>
          <a:prstGeom prst="leftBracket">
            <a:avLst/>
          </a:prstGeom>
          <a:ln>
            <a:solidFill>
              <a:srgbClr val="04FA0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左大かっこ 23">
            <a:extLst>
              <a:ext uri="{FF2B5EF4-FFF2-40B4-BE49-F238E27FC236}">
                <a16:creationId xmlns:a16="http://schemas.microsoft.com/office/drawing/2014/main" id="{61357E78-5BD2-BBD8-1F18-B1985600E22B}"/>
              </a:ext>
            </a:extLst>
          </p:cNvPr>
          <p:cNvSpPr/>
          <p:nvPr/>
        </p:nvSpPr>
        <p:spPr>
          <a:xfrm flipH="1">
            <a:off x="2892035" y="1756635"/>
            <a:ext cx="215932" cy="4486491"/>
          </a:xfrm>
          <a:prstGeom prst="leftBracket">
            <a:avLst/>
          </a:prstGeom>
          <a:ln>
            <a:solidFill>
              <a:srgbClr val="04FA0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6" name="図 25">
            <a:extLst>
              <a:ext uri="{FF2B5EF4-FFF2-40B4-BE49-F238E27FC236}">
                <a16:creationId xmlns:a16="http://schemas.microsoft.com/office/drawing/2014/main" id="{56E6CFC0-FB45-E508-C7ED-E0F29C95F3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2090" y="2173993"/>
            <a:ext cx="582602" cy="543237"/>
          </a:xfrm>
          <a:prstGeom prst="rect">
            <a:avLst/>
          </a:prstGeom>
        </p:spPr>
      </p:pic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38D782E3-91EF-D26A-1906-21A51865A939}"/>
              </a:ext>
            </a:extLst>
          </p:cNvPr>
          <p:cNvCxnSpPr>
            <a:cxnSpLocks/>
          </p:cNvCxnSpPr>
          <p:nvPr/>
        </p:nvCxnSpPr>
        <p:spPr>
          <a:xfrm>
            <a:off x="231756" y="1521490"/>
            <a:ext cx="2654192" cy="0"/>
          </a:xfrm>
          <a:prstGeom prst="straightConnector1">
            <a:avLst/>
          </a:prstGeom>
          <a:ln w="28575">
            <a:solidFill>
              <a:srgbClr val="FFC000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39D8C8E0-0854-5217-A7F3-DBD2104BDFAF}"/>
              </a:ext>
            </a:extLst>
          </p:cNvPr>
          <p:cNvSpPr txBox="1"/>
          <p:nvPr/>
        </p:nvSpPr>
        <p:spPr>
          <a:xfrm>
            <a:off x="857833" y="1390138"/>
            <a:ext cx="1306788" cy="26161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友だちの新規追加</a:t>
            </a:r>
            <a:endParaRPr lang="ja-JP" altLang="en-US" sz="1100" dirty="0"/>
          </a:p>
        </p:txBody>
      </p:sp>
      <p:cxnSp>
        <p:nvCxnSpPr>
          <p:cNvPr id="29" name="直線矢印コネクタ 28">
            <a:extLst>
              <a:ext uri="{FF2B5EF4-FFF2-40B4-BE49-F238E27FC236}">
                <a16:creationId xmlns:a16="http://schemas.microsoft.com/office/drawing/2014/main" id="{745F1B07-4D2C-4794-DAEA-D76D3E0CA8CF}"/>
              </a:ext>
            </a:extLst>
          </p:cNvPr>
          <p:cNvCxnSpPr>
            <a:cxnSpLocks/>
          </p:cNvCxnSpPr>
          <p:nvPr/>
        </p:nvCxnSpPr>
        <p:spPr>
          <a:xfrm>
            <a:off x="3248447" y="1521490"/>
            <a:ext cx="6173147" cy="0"/>
          </a:xfrm>
          <a:prstGeom prst="straightConnector1">
            <a:avLst/>
          </a:prstGeom>
          <a:ln w="28575">
            <a:solidFill>
              <a:schemeClr val="accent1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D5E48196-7DAD-4F3E-ADDE-E36FAC475508}"/>
              </a:ext>
            </a:extLst>
          </p:cNvPr>
          <p:cNvSpPr txBox="1"/>
          <p:nvPr/>
        </p:nvSpPr>
        <p:spPr>
          <a:xfrm>
            <a:off x="5411256" y="1390138"/>
            <a:ext cx="1913269" cy="26161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LINE</a:t>
            </a: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友だちの育成・</a:t>
            </a:r>
            <a:r>
              <a:rPr lang="en-US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CV</a:t>
            </a: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化</a:t>
            </a:r>
            <a:endParaRPr lang="en-US" altLang="ja-JP" sz="11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4EA6E8F1-E33D-1FB9-E4AA-6AD1A2F6B651}"/>
              </a:ext>
            </a:extLst>
          </p:cNvPr>
          <p:cNvSpPr/>
          <p:nvPr/>
        </p:nvSpPr>
        <p:spPr>
          <a:xfrm>
            <a:off x="7750331" y="1748432"/>
            <a:ext cx="1818728" cy="449469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sz="13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[</a:t>
            </a:r>
            <a:r>
              <a:rPr kumimoji="1" lang="ja-JP" altLang="en-US" sz="13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ターゲット設定</a:t>
            </a:r>
            <a:r>
              <a:rPr lang="en-US" altLang="ja-JP" sz="13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]</a:t>
            </a:r>
          </a:p>
          <a:p>
            <a:endParaRPr kumimoji="1" lang="en-US" altLang="ja-JP" sz="7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kumimoji="1" lang="en-US" altLang="ja-JP" sz="7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kumimoji="1" lang="en-US" altLang="ja-JP" sz="13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LINEOA</a:t>
            </a:r>
            <a:r>
              <a:rPr kumimoji="1" lang="ja-JP" altLang="en-US" sz="13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オーガニック</a:t>
            </a:r>
            <a:endParaRPr kumimoji="1" lang="en-US" altLang="ja-JP" sz="13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年齢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/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性別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/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地域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…)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(MSG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の</a:t>
            </a:r>
            <a:r>
              <a:rPr lang="en-US" altLang="ja-JP" sz="1100" dirty="0" err="1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Imp,Click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  <a:p>
            <a:endParaRPr lang="en-US" altLang="ja-JP" sz="7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3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LINE_API</a:t>
            </a:r>
            <a:r>
              <a:rPr lang="ja-JP" altLang="en-US" sz="13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ツール</a:t>
            </a:r>
            <a:r>
              <a:rPr lang="ja-JP" altLang="en-US" sz="9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 </a:t>
            </a:r>
            <a:r>
              <a:rPr lang="en-US" altLang="ja-JP" sz="1100" b="1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1100" b="1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有料</a:t>
            </a:r>
            <a:endParaRPr lang="en-US" altLang="ja-JP" sz="1100" b="1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アンケート結果）</a:t>
            </a:r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(WEB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サイトアクション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リマインド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/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再通知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(ID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連携した情報ベース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ユーザー一覧を取得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ユーザー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ID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アップロード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地点別スコアリング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  <a:p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※MA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、</a:t>
            </a: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CRM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との連携</a:t>
            </a:r>
            <a:endParaRPr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(応募・就業データ)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ユーザー情報</a:t>
            </a:r>
            <a:r>
              <a:rPr lang="ja-JP" altLang="en-US" sz="9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 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詳細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F47CAADD-ECBD-1DCC-19D6-6433C921622E}"/>
              </a:ext>
            </a:extLst>
          </p:cNvPr>
          <p:cNvSpPr txBox="1"/>
          <p:nvPr/>
        </p:nvSpPr>
        <p:spPr>
          <a:xfrm>
            <a:off x="2178040" y="2694449"/>
            <a:ext cx="6260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有料</a:t>
            </a:r>
            <a:endParaRPr lang="ja-JP" altLang="en-US" sz="1000" dirty="0"/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00802062-F552-1DFA-430A-41800E76A220}"/>
              </a:ext>
            </a:extLst>
          </p:cNvPr>
          <p:cNvSpPr txBox="1"/>
          <p:nvPr/>
        </p:nvSpPr>
        <p:spPr>
          <a:xfrm>
            <a:off x="2370382" y="1773237"/>
            <a:ext cx="6260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有料</a:t>
            </a:r>
            <a:endParaRPr lang="ja-JP" altLang="en-US" sz="800" dirty="0"/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CDCAB868-C79D-2212-70C3-9EF559F32C21}"/>
              </a:ext>
            </a:extLst>
          </p:cNvPr>
          <p:cNvSpPr txBox="1"/>
          <p:nvPr/>
        </p:nvSpPr>
        <p:spPr>
          <a:xfrm>
            <a:off x="2456844" y="3619396"/>
            <a:ext cx="6260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有料</a:t>
            </a:r>
            <a:endParaRPr lang="ja-JP" altLang="en-US" sz="800" dirty="0"/>
          </a:p>
        </p:txBody>
      </p:sp>
      <p:sp>
        <p:nvSpPr>
          <p:cNvPr id="51" name="テキスト ボックス 50">
            <a:extLst>
              <a:ext uri="{FF2B5EF4-FFF2-40B4-BE49-F238E27FC236}">
                <a16:creationId xmlns:a16="http://schemas.microsoft.com/office/drawing/2014/main" id="{E2ECFC3F-A285-F105-30CE-9144EBB24A11}"/>
              </a:ext>
            </a:extLst>
          </p:cNvPr>
          <p:cNvSpPr txBox="1"/>
          <p:nvPr/>
        </p:nvSpPr>
        <p:spPr>
          <a:xfrm>
            <a:off x="2518621" y="4576567"/>
            <a:ext cx="6260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有料</a:t>
            </a:r>
            <a:endParaRPr lang="ja-JP" altLang="en-US" sz="800" dirty="0"/>
          </a:p>
        </p:txBody>
      </p:sp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39AB193A-8274-ABE1-CD3D-54790C3264F6}"/>
              </a:ext>
            </a:extLst>
          </p:cNvPr>
          <p:cNvSpPr txBox="1"/>
          <p:nvPr/>
        </p:nvSpPr>
        <p:spPr>
          <a:xfrm>
            <a:off x="2210158" y="5478733"/>
            <a:ext cx="6260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有料</a:t>
            </a:r>
            <a:endParaRPr lang="ja-JP" altLang="en-US" sz="1000" dirty="0"/>
          </a:p>
        </p:txBody>
      </p:sp>
      <p:sp>
        <p:nvSpPr>
          <p:cNvPr id="56" name="テキスト ボックス 55">
            <a:extLst>
              <a:ext uri="{FF2B5EF4-FFF2-40B4-BE49-F238E27FC236}">
                <a16:creationId xmlns:a16="http://schemas.microsoft.com/office/drawing/2014/main" id="{096A37B9-CA3D-92C9-1405-86C6FFCD8C5A}"/>
              </a:ext>
            </a:extLst>
          </p:cNvPr>
          <p:cNvSpPr txBox="1"/>
          <p:nvPr/>
        </p:nvSpPr>
        <p:spPr>
          <a:xfrm>
            <a:off x="2214724" y="5963211"/>
            <a:ext cx="6260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有料</a:t>
            </a:r>
            <a:endParaRPr lang="ja-JP" altLang="en-US" sz="1000" dirty="0"/>
          </a:p>
        </p:txBody>
      </p:sp>
      <p:sp>
        <p:nvSpPr>
          <p:cNvPr id="58" name="テキスト ボックス 57">
            <a:extLst>
              <a:ext uri="{FF2B5EF4-FFF2-40B4-BE49-F238E27FC236}">
                <a16:creationId xmlns:a16="http://schemas.microsoft.com/office/drawing/2014/main" id="{AA71FB07-E583-8196-5077-2EAA10A61A0F}"/>
              </a:ext>
            </a:extLst>
          </p:cNvPr>
          <p:cNvSpPr txBox="1"/>
          <p:nvPr/>
        </p:nvSpPr>
        <p:spPr>
          <a:xfrm>
            <a:off x="285223" y="6291679"/>
            <a:ext cx="254725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ja-JP" altLang="en-US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その他</a:t>
            </a:r>
            <a:r>
              <a:rPr kumimoji="1" lang="en-US" altLang="ja-JP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WEB</a:t>
            </a:r>
            <a:r>
              <a:rPr kumimoji="1" lang="ja-JP" altLang="en-US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サイト動線整備、プレスリリース等</a:t>
            </a:r>
            <a:endParaRPr lang="ja-JP" altLang="en-US" sz="8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3BE3835-FB68-0C7D-7CED-C40A02A19AB2}"/>
              </a:ext>
            </a:extLst>
          </p:cNvPr>
          <p:cNvSpPr txBox="1"/>
          <p:nvPr/>
        </p:nvSpPr>
        <p:spPr>
          <a:xfrm>
            <a:off x="6149585" y="3424747"/>
            <a:ext cx="1174939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数量により変動</a:t>
            </a:r>
            <a:endParaRPr lang="ja-JP" altLang="en-US" sz="900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47E1216-C9D3-60D3-B3E8-43E38B5791F4}"/>
              </a:ext>
            </a:extLst>
          </p:cNvPr>
          <p:cNvSpPr txBox="1"/>
          <p:nvPr/>
        </p:nvSpPr>
        <p:spPr>
          <a:xfrm>
            <a:off x="3587357" y="6286698"/>
            <a:ext cx="412843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</a:t>
            </a:r>
            <a:r>
              <a:rPr kumimoji="1" lang="en-US" altLang="ja-JP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kumimoji="1" lang="ja-JP" altLang="en-US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クリエイティブ費用は基本的に内包、開発費用は別途見積もりとなります。</a:t>
            </a:r>
            <a:endParaRPr lang="ja-JP" altLang="en-US" sz="8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9256C170-205B-2224-D69D-D964BF991C26}"/>
              </a:ext>
            </a:extLst>
          </p:cNvPr>
          <p:cNvSpPr/>
          <p:nvPr/>
        </p:nvSpPr>
        <p:spPr>
          <a:xfrm>
            <a:off x="7664076" y="1733928"/>
            <a:ext cx="1904982" cy="4562295"/>
          </a:xfrm>
          <a:prstGeom prst="rect">
            <a:avLst/>
          </a:prstGeom>
          <a:solidFill>
            <a:schemeClr val="bg1">
              <a:alpha val="5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3544877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0567DEB-0D7B-8670-6390-E396B1D536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D55786A2-F100-6AA6-4BA2-C612ABD2107D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構築｜友だち追加後15日でアクティブ率が落ちる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E9062440-B6A0-85EE-461D-E9A5F53310B0}"/>
              </a:ext>
            </a:extLst>
          </p:cNvPr>
          <p:cNvSpPr/>
          <p:nvPr/>
        </p:nvSpPr>
        <p:spPr>
          <a:xfrm>
            <a:off x="0" y="777240"/>
            <a:ext cx="1802674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LINEOA</a:t>
            </a:r>
            <a:r>
              <a:rPr kumimoji="1"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施策</a:t>
            </a:r>
          </a:p>
        </p:txBody>
      </p:sp>
      <p:sp>
        <p:nvSpPr>
          <p:cNvPr id="3" name="Google Shape;752;p28">
            <a:extLst>
              <a:ext uri="{FF2B5EF4-FFF2-40B4-BE49-F238E27FC236}">
                <a16:creationId xmlns:a16="http://schemas.microsoft.com/office/drawing/2014/main" id="{CCEADF0C-2806-160C-2545-0CBF2DE16851}"/>
              </a:ext>
            </a:extLst>
          </p:cNvPr>
          <p:cNvSpPr txBox="1"/>
          <p:nvPr/>
        </p:nvSpPr>
        <p:spPr>
          <a:xfrm>
            <a:off x="1988819" y="736332"/>
            <a:ext cx="7917181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LINE</a:t>
            </a:r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友だち追加～</a:t>
            </a:r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15</a:t>
            </a:r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日を境に大きくアクティブ率が下がる（ブロック率が上がる）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ため、応募が決まる7日間のステップ配信を先に整えます。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599FD372-1931-8AF9-6FBE-007F188CE8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4710" y="1746287"/>
            <a:ext cx="582602" cy="543237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0DDBD12-962F-75E1-F777-2A8CB1A1A43C}"/>
              </a:ext>
            </a:extLst>
          </p:cNvPr>
          <p:cNvSpPr/>
          <p:nvPr/>
        </p:nvSpPr>
        <p:spPr>
          <a:xfrm>
            <a:off x="2232491" y="1817608"/>
            <a:ext cx="5694068" cy="400594"/>
          </a:xfrm>
          <a:prstGeom prst="rect">
            <a:avLst/>
          </a:prstGeom>
          <a:solidFill>
            <a:srgbClr val="04FA0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公式アカウントを友だち追加！</a:t>
            </a:r>
          </a:p>
        </p:txBody>
      </p:sp>
      <p:sp>
        <p:nvSpPr>
          <p:cNvPr id="16" name="矢印: 下 15">
            <a:extLst>
              <a:ext uri="{FF2B5EF4-FFF2-40B4-BE49-F238E27FC236}">
                <a16:creationId xmlns:a16="http://schemas.microsoft.com/office/drawing/2014/main" id="{96A68A56-39E1-8BAC-2C49-CC19FBEC68F7}"/>
              </a:ext>
            </a:extLst>
          </p:cNvPr>
          <p:cNvSpPr/>
          <p:nvPr/>
        </p:nvSpPr>
        <p:spPr>
          <a:xfrm>
            <a:off x="6666282" y="2317059"/>
            <a:ext cx="470263" cy="1837509"/>
          </a:xfrm>
          <a:prstGeom prst="downArrow">
            <a:avLst>
              <a:gd name="adj1" fmla="val 50000"/>
              <a:gd name="adj2" fmla="val 110764"/>
            </a:avLst>
          </a:prstGeom>
          <a:gradFill>
            <a:gsLst>
              <a:gs pos="0">
                <a:srgbClr val="04FA0A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9" name="直線コネクタ 18">
            <a:extLst>
              <a:ext uri="{FF2B5EF4-FFF2-40B4-BE49-F238E27FC236}">
                <a16:creationId xmlns:a16="http://schemas.microsoft.com/office/drawing/2014/main" id="{499B7760-FDC6-B260-9507-F94BFB256854}"/>
              </a:ext>
            </a:extLst>
          </p:cNvPr>
          <p:cNvCxnSpPr>
            <a:cxnSpLocks/>
          </p:cNvCxnSpPr>
          <p:nvPr/>
        </p:nvCxnSpPr>
        <p:spPr>
          <a:xfrm>
            <a:off x="1603884" y="4293068"/>
            <a:ext cx="6889823" cy="0"/>
          </a:xfrm>
          <a:prstGeom prst="line">
            <a:avLst/>
          </a:prstGeom>
          <a:ln w="635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矢印: 下 21">
            <a:extLst>
              <a:ext uri="{FF2B5EF4-FFF2-40B4-BE49-F238E27FC236}">
                <a16:creationId xmlns:a16="http://schemas.microsoft.com/office/drawing/2014/main" id="{57EAA642-99EB-D59A-CA2D-CF128F520650}"/>
              </a:ext>
            </a:extLst>
          </p:cNvPr>
          <p:cNvSpPr/>
          <p:nvPr/>
        </p:nvSpPr>
        <p:spPr>
          <a:xfrm>
            <a:off x="6666281" y="4376126"/>
            <a:ext cx="470263" cy="880030"/>
          </a:xfrm>
          <a:prstGeom prst="downArrow">
            <a:avLst>
              <a:gd name="adj1" fmla="val 50000"/>
              <a:gd name="adj2" fmla="val 110764"/>
            </a:avLst>
          </a:prstGeom>
          <a:gradFill>
            <a:gsLst>
              <a:gs pos="0">
                <a:srgbClr val="04FA0A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3" name="直線コネクタ 22">
            <a:extLst>
              <a:ext uri="{FF2B5EF4-FFF2-40B4-BE49-F238E27FC236}">
                <a16:creationId xmlns:a16="http://schemas.microsoft.com/office/drawing/2014/main" id="{FC84D888-2F3B-56B2-6D8B-43495766B724}"/>
              </a:ext>
            </a:extLst>
          </p:cNvPr>
          <p:cNvCxnSpPr>
            <a:cxnSpLocks/>
          </p:cNvCxnSpPr>
          <p:nvPr/>
        </p:nvCxnSpPr>
        <p:spPr>
          <a:xfrm>
            <a:off x="1603884" y="5394656"/>
            <a:ext cx="6889823" cy="0"/>
          </a:xfrm>
          <a:prstGeom prst="line">
            <a:avLst/>
          </a:prstGeom>
          <a:ln w="635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2DDEE958-B9A4-B3B7-0AB5-40E083E922F6}"/>
              </a:ext>
            </a:extLst>
          </p:cNvPr>
          <p:cNvSpPr txBox="1"/>
          <p:nvPr/>
        </p:nvSpPr>
        <p:spPr>
          <a:xfrm>
            <a:off x="887729" y="4154568"/>
            <a:ext cx="496388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15</a:t>
            </a: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日後</a:t>
            </a:r>
            <a:endParaRPr lang="ja-JP" altLang="en-US" sz="1400" dirty="0"/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99B2BE93-6AC1-B592-319F-2D44EB64DCDF}"/>
              </a:ext>
            </a:extLst>
          </p:cNvPr>
          <p:cNvSpPr txBox="1"/>
          <p:nvPr/>
        </p:nvSpPr>
        <p:spPr>
          <a:xfrm>
            <a:off x="887729" y="5258075"/>
            <a:ext cx="496388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30</a:t>
            </a: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日後</a:t>
            </a:r>
            <a:endParaRPr lang="ja-JP" altLang="en-US" sz="1400" dirty="0"/>
          </a:p>
        </p:txBody>
      </p:sp>
      <p:sp>
        <p:nvSpPr>
          <p:cNvPr id="32" name="矢印: 下 31">
            <a:extLst>
              <a:ext uri="{FF2B5EF4-FFF2-40B4-BE49-F238E27FC236}">
                <a16:creationId xmlns:a16="http://schemas.microsoft.com/office/drawing/2014/main" id="{F0BAD90B-19DF-C716-880C-57948735A10E}"/>
              </a:ext>
            </a:extLst>
          </p:cNvPr>
          <p:cNvSpPr/>
          <p:nvPr/>
        </p:nvSpPr>
        <p:spPr>
          <a:xfrm>
            <a:off x="6666281" y="5477713"/>
            <a:ext cx="470263" cy="880030"/>
          </a:xfrm>
          <a:prstGeom prst="downArrow">
            <a:avLst>
              <a:gd name="adj1" fmla="val 50000"/>
              <a:gd name="adj2" fmla="val 110764"/>
            </a:avLst>
          </a:prstGeom>
          <a:gradFill>
            <a:gsLst>
              <a:gs pos="0">
                <a:srgbClr val="04FA0A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直角三角形 32">
            <a:extLst>
              <a:ext uri="{FF2B5EF4-FFF2-40B4-BE49-F238E27FC236}">
                <a16:creationId xmlns:a16="http://schemas.microsoft.com/office/drawing/2014/main" id="{21D9755D-523C-2A6A-B045-29C102846ABF}"/>
              </a:ext>
            </a:extLst>
          </p:cNvPr>
          <p:cNvSpPr/>
          <p:nvPr/>
        </p:nvSpPr>
        <p:spPr>
          <a:xfrm flipV="1">
            <a:off x="7837714" y="2289524"/>
            <a:ext cx="1244098" cy="3105132"/>
          </a:xfrm>
          <a:prstGeom prst="rtTriangle">
            <a:avLst/>
          </a:prstGeom>
          <a:solidFill>
            <a:srgbClr val="FF0000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dirty="0">
              <a:solidFill>
                <a:srgbClr val="FF0000"/>
              </a:solidFill>
            </a:endParaRP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D6796F30-9C92-1751-9461-7D96ED3FD472}"/>
              </a:ext>
            </a:extLst>
          </p:cNvPr>
          <p:cNvSpPr txBox="1"/>
          <p:nvPr/>
        </p:nvSpPr>
        <p:spPr>
          <a:xfrm>
            <a:off x="7376370" y="2507385"/>
            <a:ext cx="210459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1200" b="1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アクティブ率：高</a:t>
            </a:r>
          </a:p>
        </p:txBody>
      </p:sp>
      <p:sp>
        <p:nvSpPr>
          <p:cNvPr id="45" name="直角三角形 44">
            <a:extLst>
              <a:ext uri="{FF2B5EF4-FFF2-40B4-BE49-F238E27FC236}">
                <a16:creationId xmlns:a16="http://schemas.microsoft.com/office/drawing/2014/main" id="{70153691-BF19-7E23-69C7-A1735ED95D0B}"/>
              </a:ext>
            </a:extLst>
          </p:cNvPr>
          <p:cNvSpPr/>
          <p:nvPr/>
        </p:nvSpPr>
        <p:spPr>
          <a:xfrm flipV="1">
            <a:off x="7837713" y="5403361"/>
            <a:ext cx="399367" cy="946289"/>
          </a:xfrm>
          <a:prstGeom prst="rtTriangle">
            <a:avLst/>
          </a:prstGeom>
          <a:solidFill>
            <a:srgbClr val="FF0000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dirty="0">
              <a:solidFill>
                <a:srgbClr val="FF0000"/>
              </a:solidFill>
            </a:endParaRP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39E95A0F-F089-7BBE-05C6-60749997D8B5}"/>
              </a:ext>
            </a:extLst>
          </p:cNvPr>
          <p:cNvSpPr txBox="1"/>
          <p:nvPr/>
        </p:nvSpPr>
        <p:spPr>
          <a:xfrm>
            <a:off x="7376370" y="4777647"/>
            <a:ext cx="210459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12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アクティブ率：低</a:t>
            </a:r>
          </a:p>
        </p:txBody>
      </p:sp>
      <p:sp>
        <p:nvSpPr>
          <p:cNvPr id="51" name="正方形/長方形 50">
            <a:extLst>
              <a:ext uri="{FF2B5EF4-FFF2-40B4-BE49-F238E27FC236}">
                <a16:creationId xmlns:a16="http://schemas.microsoft.com/office/drawing/2014/main" id="{6E8EECEE-A26C-FE65-851C-D89DA2943DDA}"/>
              </a:ext>
            </a:extLst>
          </p:cNvPr>
          <p:cNvSpPr/>
          <p:nvPr/>
        </p:nvSpPr>
        <p:spPr>
          <a:xfrm>
            <a:off x="4822207" y="3086837"/>
            <a:ext cx="1653346" cy="2173142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ステップ配信</a:t>
            </a:r>
          </a:p>
        </p:txBody>
      </p:sp>
      <p:sp>
        <p:nvSpPr>
          <p:cNvPr id="53" name="正方形/長方形 52">
            <a:extLst>
              <a:ext uri="{FF2B5EF4-FFF2-40B4-BE49-F238E27FC236}">
                <a16:creationId xmlns:a16="http://schemas.microsoft.com/office/drawing/2014/main" id="{81454DD3-4503-BFE5-0C14-038581D067FE}"/>
              </a:ext>
            </a:extLst>
          </p:cNvPr>
          <p:cNvSpPr/>
          <p:nvPr/>
        </p:nvSpPr>
        <p:spPr>
          <a:xfrm>
            <a:off x="2232491" y="2685169"/>
            <a:ext cx="4334226" cy="33452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希望条件（5問）</a:t>
            </a:r>
          </a:p>
        </p:txBody>
      </p:sp>
      <p:sp>
        <p:nvSpPr>
          <p:cNvPr id="55" name="正方形/長方形 54">
            <a:extLst>
              <a:ext uri="{FF2B5EF4-FFF2-40B4-BE49-F238E27FC236}">
                <a16:creationId xmlns:a16="http://schemas.microsoft.com/office/drawing/2014/main" id="{50620861-661B-61FD-CF03-A1B419A375AE}"/>
              </a:ext>
            </a:extLst>
          </p:cNvPr>
          <p:cNvSpPr/>
          <p:nvPr/>
        </p:nvSpPr>
        <p:spPr>
          <a:xfrm>
            <a:off x="2326221" y="3086838"/>
            <a:ext cx="2411242" cy="2173142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企画配信</a:t>
            </a:r>
          </a:p>
        </p:txBody>
      </p:sp>
      <p:sp>
        <p:nvSpPr>
          <p:cNvPr id="57" name="正方形/長方形 56">
            <a:extLst>
              <a:ext uri="{FF2B5EF4-FFF2-40B4-BE49-F238E27FC236}">
                <a16:creationId xmlns:a16="http://schemas.microsoft.com/office/drawing/2014/main" id="{4459A76C-C890-8CC0-17D9-2EF08525C001}"/>
              </a:ext>
            </a:extLst>
          </p:cNvPr>
          <p:cNvSpPr/>
          <p:nvPr/>
        </p:nvSpPr>
        <p:spPr>
          <a:xfrm>
            <a:off x="2232491" y="5442735"/>
            <a:ext cx="4334226" cy="33452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モーメント配信</a:t>
            </a:r>
          </a:p>
        </p:txBody>
      </p:sp>
      <p:sp>
        <p:nvSpPr>
          <p:cNvPr id="65" name="正方形/長方形 64">
            <a:extLst>
              <a:ext uri="{FF2B5EF4-FFF2-40B4-BE49-F238E27FC236}">
                <a16:creationId xmlns:a16="http://schemas.microsoft.com/office/drawing/2014/main" id="{A8F1D398-BD32-DDD8-1642-E52C2B235BA4}"/>
              </a:ext>
            </a:extLst>
          </p:cNvPr>
          <p:cNvSpPr/>
          <p:nvPr/>
        </p:nvSpPr>
        <p:spPr>
          <a:xfrm>
            <a:off x="2232491" y="2302562"/>
            <a:ext cx="4334226" cy="33452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挨拶メッセージ・リッチメニュー</a:t>
            </a:r>
          </a:p>
        </p:txBody>
      </p:sp>
      <p:sp>
        <p:nvSpPr>
          <p:cNvPr id="67" name="正方形/長方形 66">
            <a:extLst>
              <a:ext uri="{FF2B5EF4-FFF2-40B4-BE49-F238E27FC236}">
                <a16:creationId xmlns:a16="http://schemas.microsoft.com/office/drawing/2014/main" id="{F991B595-167D-EE44-3530-4DCE8C7B208F}"/>
              </a:ext>
            </a:extLst>
          </p:cNvPr>
          <p:cNvSpPr/>
          <p:nvPr/>
        </p:nvSpPr>
        <p:spPr>
          <a:xfrm>
            <a:off x="4822207" y="5838470"/>
            <a:ext cx="1653346" cy="489785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5" name="正方形/長方形 74">
            <a:extLst>
              <a:ext uri="{FF2B5EF4-FFF2-40B4-BE49-F238E27FC236}">
                <a16:creationId xmlns:a16="http://schemas.microsoft.com/office/drawing/2014/main" id="{16B28472-CB01-9D89-509B-26D59B4BA089}"/>
              </a:ext>
            </a:extLst>
          </p:cNvPr>
          <p:cNvSpPr/>
          <p:nvPr/>
        </p:nvSpPr>
        <p:spPr>
          <a:xfrm>
            <a:off x="2326221" y="5838471"/>
            <a:ext cx="2411242" cy="489785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81" name="正方形/長方形 80">
            <a:extLst>
              <a:ext uri="{FF2B5EF4-FFF2-40B4-BE49-F238E27FC236}">
                <a16:creationId xmlns:a16="http://schemas.microsoft.com/office/drawing/2014/main" id="{A5ED7B27-E5A3-1AD6-2F12-1265E4591B60}"/>
              </a:ext>
            </a:extLst>
          </p:cNvPr>
          <p:cNvSpPr/>
          <p:nvPr/>
        </p:nvSpPr>
        <p:spPr>
          <a:xfrm>
            <a:off x="115726" y="6285606"/>
            <a:ext cx="7578805" cy="9993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" name="TextBox 25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目安の日数です。一般的なLINE公式アカウント運用の知見に基づく傾向で、貴社の実測とは異なる場合があります</a:t>
            </a:r>
          </a:p>
        </p:txBody>
      </p:sp>
    </p:spTree>
    <p:extLst>
      <p:ext uri="{BB962C8B-B14F-4D97-AF65-F5344CB8AC3E}">
        <p14:creationId xmlns:p14="http://schemas.microsoft.com/office/powerpoint/2010/main" val="10655606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［第5章］成果｜効果測定の設計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815649"/>
            <a:ext cx="93312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握る指標と、その先の指標を分ける。リピート応募は契約満了を待つので約束しない。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4896000"/>
            <a:ext cx="9043200" cy="671644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本資料には具体的な数値シミュレーションを載せていません。応募CPAの改善は、就業・再就業率が現状と変わらないことを前提にした試算です。</a:t>
            </a:r>
          </a:p>
          <a:p>
            <a:pPr algn="l">
              <a:lnSpc>
                <a:spcPct val="16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貴社の実績値（月の応募数・面接実施数・広告費）をいただければ、貴社専用の試算をお出しします。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応募CPA ＝（広告費 ＋ LINE運用費）÷ 応募数</a:t>
            </a:r>
          </a:p>
        </p:txBody>
      </p:sp>
      <p:sp>
        <p:nvSpPr>
          <p:cNvPr id="8" name="Rectangle 7"/>
          <p:cNvSpPr/>
          <p:nvPr/>
        </p:nvSpPr>
        <p:spPr>
          <a:xfrm>
            <a:off x="432000" y="1530000"/>
            <a:ext cx="9043200" cy="342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75199" y="1530000"/>
            <a:ext cx="1209600" cy="342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771200" y="1569849"/>
            <a:ext cx="3297600" cy="262301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指標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5199" y="1569849"/>
            <a:ext cx="1713600" cy="262301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測れる時期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55200" y="1569849"/>
            <a:ext cx="2476800" cy="262301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扱い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199" y="1957152"/>
            <a:ext cx="1209600" cy="297695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Meiryo"/>
              </a:rPr>
              <a:t>握る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71200" y="1872000"/>
            <a:ext cx="32976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応募率（友だち → 応募）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55199" y="1872000"/>
            <a:ext cx="17136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1週間〜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55200" y="1872000"/>
            <a:ext cx="24768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成果指標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2000" y="2340000"/>
            <a:ext cx="9043200" cy="4680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75199" y="2425152"/>
            <a:ext cx="1209600" cy="297695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Meiryo"/>
              </a:rPr>
              <a:t>握る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71200" y="2340000"/>
            <a:ext cx="32976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面接・職場見学の実施率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55199" y="2340000"/>
            <a:ext cx="17136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1ヶ月〜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55200" y="2340000"/>
            <a:ext cx="24768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成果指標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199" y="2893152"/>
            <a:ext cx="1209600" cy="297695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ED7D31"/>
                </a:solidFill>
                <a:latin typeface="メイリオ"/>
                <a:ea typeface="メイリオ"/>
                <a:cs typeface="Meiryo"/>
              </a:rPr>
              <a:t>その先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71200" y="2808000"/>
            <a:ext cx="32976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就業・再就業／応募CPA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55199" y="2808000"/>
            <a:ext cx="17136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3〜6ヶ月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55200" y="2808000"/>
            <a:ext cx="24768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就業率が今と同水準という前提の試算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2000" y="3456000"/>
            <a:ext cx="9043200" cy="576000"/>
          </a:xfrm>
          <a:prstGeom prst="roundRect">
            <a:avLst>
              <a:gd name="adj" fmla="val 12000"/>
            </a:avLst>
          </a:prstGeom>
          <a:solidFill>
            <a:srgbClr val="FDF2F2"/>
          </a:solidFill>
          <a:ln w="1270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58000" y="3595152"/>
            <a:ext cx="1224000" cy="297695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0000"/>
                </a:solidFill>
                <a:latin typeface="メイリオ"/>
                <a:ea typeface="メイリオ"/>
                <a:cs typeface="Meiryo"/>
              </a:rPr>
              <a:t>これまで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00000" y="3456000"/>
            <a:ext cx="7560000" cy="576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応募 → 架電 → 出られない → 面接に来ない → 契約満了で接点が切れる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2000" y="4121999"/>
            <a:ext cx="9043200" cy="576000"/>
          </a:xfrm>
          <a:prstGeom prst="roundRect">
            <a:avLst>
              <a:gd name="adj" fmla="val 12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58000" y="4261151"/>
            <a:ext cx="1224000" cy="297695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Meiryo"/>
              </a:rPr>
              <a:t>LINE併用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00000" y="4121999"/>
            <a:ext cx="7560000" cy="576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応募 → LINEで条件5問 → 合う求人3件 → 前日リマインド → 満了前に再応募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他社分析①｜主要エージェントのLINE運用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6384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大手はすでに全社が運用している。開設の提案ではない。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見るべきは友だち数ではなく、追加した直後に何をさせているか。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9043200" cy="3312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82399" y="1600147"/>
            <a:ext cx="2635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アカウント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18400" y="16001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友だち数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44000" y="1600147"/>
            <a:ext cx="20159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アカウント構成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30400" y="1600147"/>
            <a:ext cx="2894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追加直後にやらせること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2399" y="1938547"/>
            <a:ext cx="2635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リクルートエージェント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18400" y="19385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1,468,273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44000" y="1938547"/>
            <a:ext cx="20159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0400" y="1938547"/>
            <a:ext cx="2894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アカウント連携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2000" y="2224800"/>
            <a:ext cx="9043200" cy="3456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82399" y="2284147"/>
            <a:ext cx="2635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doda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18400" y="22841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1,338,559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4000" y="2284147"/>
            <a:ext cx="20159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2件（相談／チャレンジ）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0400" y="2284147"/>
            <a:ext cx="2894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あいさつ1行のみ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2399" y="2629747"/>
            <a:ext cx="2635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マイナビ転職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18400" y="26297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751,112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44000" y="2629747"/>
            <a:ext cx="20159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0400" y="2629747"/>
            <a:ext cx="2894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情報配信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2000" y="2916000"/>
            <a:ext cx="9043200" cy="3456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82399" y="2975347"/>
            <a:ext cx="2635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type[転職]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18400" y="29753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292,109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44000" y="2975347"/>
            <a:ext cx="20159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サイト・エージェント別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30400" y="2975347"/>
            <a:ext cx="2894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求人カルーセル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2399" y="3320946"/>
            <a:ext cx="2635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type転職エージェント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18400" y="3320946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68,051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44000" y="3320946"/>
            <a:ext cx="20159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同上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30400" y="3320946"/>
            <a:ext cx="2894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登録フォームへ誘導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2000" y="3607200"/>
            <a:ext cx="9043200" cy="3456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82399" y="3666547"/>
            <a:ext cx="2635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UZUZ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18400" y="36665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26,532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44000" y="3666547"/>
            <a:ext cx="20159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2件（サポート／CS）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30400" y="3666547"/>
            <a:ext cx="2894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★ 選択式アンケート4問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2399" y="4012147"/>
            <a:ext cx="2635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マイナビ保育士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18400" y="40121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44000" y="4012147"/>
            <a:ext cx="20159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職種特化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30400" y="4012147"/>
            <a:ext cx="2894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★ 3問診断＋非公開求人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2000" y="4464000"/>
            <a:ext cx="9043200" cy="709346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★ 大手ほど「連携」「登録フォーム」から始めている。LINEの外に出している。</a:t>
            </a:r>
          </a:p>
          <a:p>
            <a:pPr algn="l">
              <a:lnSpc>
                <a:spcPct val="17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★ LINE内で完結させているのは、第二新卒特化のUZUZと、職種特化のマイナビ保育士だけ。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2000" y="5598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32000" y="5638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空いているのではない。総合大手がやっていないだけ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出典｜各社の page.line.me（公式）。2026年9月12日に実機で確認。友だち数は表示値。マイナビ保育士は友だち数非公開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他社分析②｜運用の型は3つに分かれる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815649"/>
            <a:ext cx="93312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同じLINEでも、追加直後の設計がまったく違う。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3016800" cy="33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32000" y="1548000"/>
            <a:ext cx="3016800" cy="331200"/>
          </a:xfrm>
          <a:prstGeom prst="rect">
            <a:avLst/>
          </a:prstGeom>
          <a:solidFill>
            <a:srgbClr val="3467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2000" y="1582449"/>
            <a:ext cx="30168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外部登録型</a:t>
            </a:r>
          </a:p>
        </p:txBody>
      </p:sp>
      <p:sp>
        <p:nvSpPr>
          <p:cNvPr id="7" name="Rectangle 6"/>
          <p:cNvSpPr/>
          <p:nvPr/>
        </p:nvSpPr>
        <p:spPr>
          <a:xfrm>
            <a:off x="540000" y="1962000"/>
            <a:ext cx="2800800" cy="612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0000" y="1979306"/>
            <a:ext cx="2800800" cy="577387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400" b="1">
                <a:solidFill>
                  <a:srgbClr val="3467B2"/>
                </a:solidFill>
                <a:latin typeface="メイリオ"/>
                <a:ea typeface="メイリオ"/>
                <a:cs typeface="メイリオ"/>
              </a:rPr>
              <a:t>リクルートエージェント</a:t>
            </a:r>
          </a:p>
          <a:p>
            <a:pPr algn="ctr">
              <a:lnSpc>
                <a:spcPct val="135000"/>
              </a:lnSpc>
            </a:pPr>
            <a:r>
              <a:rPr sz="1400" b="1">
                <a:solidFill>
                  <a:srgbClr val="3467B2"/>
                </a:solidFill>
                <a:latin typeface="メイリオ"/>
                <a:ea typeface="メイリオ"/>
                <a:cs typeface="メイリオ"/>
              </a:rPr>
              <a:t>type転職エージェント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0000" y="2682000"/>
            <a:ext cx="2800800" cy="26230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連携・会員登録フォームへ誘導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0000" y="3384000"/>
            <a:ext cx="2800800" cy="545455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会員基盤があるから成立する。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規模が前提の型。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17200" y="1548000"/>
            <a:ext cx="3016800" cy="33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517200" y="1548000"/>
            <a:ext cx="3016800" cy="331200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517200" y="1582449"/>
            <a:ext cx="30168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分岐提示型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25200" y="1962000"/>
            <a:ext cx="2800800" cy="6120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625200" y="2124731"/>
            <a:ext cx="2800800" cy="286538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400" b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doda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25200" y="2682000"/>
            <a:ext cx="2800800" cy="26230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カウンセリング前／済みで2択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25200" y="3384000"/>
            <a:ext cx="2800800" cy="545455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状態で分けるのは上手いが、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あいさつで何も起こしていない。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02400" y="1548000"/>
            <a:ext cx="3016800" cy="3348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602400" y="1548000"/>
            <a:ext cx="3016800" cy="33120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602400" y="1582449"/>
            <a:ext cx="30168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LINE内完結型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710400" y="1962000"/>
            <a:ext cx="2800800" cy="612000"/>
          </a:xfrm>
          <a:prstGeom prst="rect">
            <a:avLst/>
          </a:prstGeom>
          <a:solidFill>
            <a:srgbClr val="FD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710400" y="1979306"/>
            <a:ext cx="2800800" cy="577387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4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UZUZ</a:t>
            </a:r>
          </a:p>
          <a:p>
            <a:pPr algn="ctr">
              <a:lnSpc>
                <a:spcPct val="135000"/>
              </a:lnSpc>
            </a:pPr>
            <a:r>
              <a:rPr sz="14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マイナビ保育士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10400" y="2682000"/>
            <a:ext cx="2800800" cy="26230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ja-JP" altLang="en-US"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その場で質問に答えさせる</a:t>
            </a:r>
            <a:endParaRPr sz="1400" b="1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710400" y="3384000"/>
            <a:ext cx="2800800" cy="545455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★ 属性が取れる。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出し分けの前提がここで作られる。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2000" y="5076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32000" y="5116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規模で勝てなくても、設計で差がつく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出典｜各社のLINE公式アカウントに実際に友だち追加して確認（2026年9月12日）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373B14C-0AEA-B93E-0808-EE37D50F6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2A5BF9CF-DABE-18D1-6B28-2A955BBABF7C}"/>
              </a:ext>
            </a:extLst>
          </p:cNvPr>
          <p:cNvSpPr/>
          <p:nvPr/>
        </p:nvSpPr>
        <p:spPr>
          <a:xfrm>
            <a:off x="0" y="577940"/>
            <a:ext cx="9906000" cy="81273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521066C-FFDA-B384-2E51-56A4C461EF38}"/>
              </a:ext>
            </a:extLst>
          </p:cNvPr>
          <p:cNvSpPr/>
          <p:nvPr/>
        </p:nvSpPr>
        <p:spPr>
          <a:xfrm>
            <a:off x="379976" y="635062"/>
            <a:ext cx="9160881" cy="698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anchor="ctr"/>
          <a:lstStyle/>
          <a:p>
            <a:pPr algn="ctr">
              <a:lnSpc>
                <a:spcPts val="2455"/>
              </a:lnSpc>
            </a:pPr>
            <a:endParaRPr lang="en-US" altLang="ja-JP" sz="1400" dirty="0">
              <a:solidFill>
                <a:srgbClr val="343434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B43B9AF0-6B1E-A342-438B-2E30C285E29D}"/>
              </a:ext>
            </a:extLst>
          </p:cNvPr>
          <p:cNvCxnSpPr>
            <a:cxnSpLocks/>
          </p:cNvCxnSpPr>
          <p:nvPr/>
        </p:nvCxnSpPr>
        <p:spPr>
          <a:xfrm>
            <a:off x="0" y="1390675"/>
            <a:ext cx="9906000" cy="0"/>
          </a:xfrm>
          <a:prstGeom prst="line">
            <a:avLst/>
          </a:prstGeom>
          <a:ln w="19050">
            <a:solidFill>
              <a:schemeClr val="bg1">
                <a:lumMod val="85000"/>
                <a:alpha val="6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Google Shape;156;p7">
            <a:extLst>
              <a:ext uri="{FF2B5EF4-FFF2-40B4-BE49-F238E27FC236}">
                <a16:creationId xmlns:a16="http://schemas.microsoft.com/office/drawing/2014/main" id="{F4F417D4-4BDF-E609-F703-DA8A26BF0E5F}"/>
              </a:ext>
            </a:extLst>
          </p:cNvPr>
          <p:cNvSpPr txBox="1"/>
          <p:nvPr/>
        </p:nvSpPr>
        <p:spPr>
          <a:xfrm>
            <a:off x="547200" y="138118"/>
            <a:ext cx="6514857" cy="338554"/>
          </a:xfrm>
          <a:prstGeom prst="rect">
            <a:avLst/>
          </a:prstGeom>
          <a:noFill/>
          <a:ln w="19050"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600"/>
              <a:buFont typeface="Arial"/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Meiryo"/>
                <a:ea typeface="Meiryo"/>
                <a:cs typeface="Meiryo"/>
                <a:sym typeface="Meiryo"/>
              </a:rPr>
              <a:t>具体企画のブレスト</a:t>
            </a:r>
            <a:endParaRPr sz="1600" b="1" dirty="0">
              <a:solidFill>
                <a:srgbClr val="002060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D80C44F8-D6E0-1CF5-E49B-2A3195EB74D7}"/>
              </a:ext>
            </a:extLst>
          </p:cNvPr>
          <p:cNvSpPr txBox="1"/>
          <p:nvPr/>
        </p:nvSpPr>
        <p:spPr>
          <a:xfrm>
            <a:off x="1010194" y="1886552"/>
            <a:ext cx="4963884" cy="10618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ja-JP" altLang="ja-JP" sz="1050" b="1" i="0" dirty="0">
                <a:solidFill>
                  <a:srgbClr val="525860"/>
                </a:solidFill>
                <a:effectLst/>
                <a:latin typeface="メイリオ" panose="020B0604030504040204" pitchFamily="50" charset="-128"/>
                <a:ea typeface="メイリオ" panose="020B0604030504040204" pitchFamily="50" charset="-128"/>
              </a:rPr>
              <a:t>・ステップ配信案（前後クエリと連動）</a:t>
            </a:r>
            <a:br>
              <a:rPr lang="ja-JP" altLang="ja-JP" b="1" dirty="0"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ja-JP" sz="1050" b="1" i="0" dirty="0">
                <a:solidFill>
                  <a:srgbClr val="525860"/>
                </a:solidFill>
                <a:effectLst/>
                <a:latin typeface="メイリオ" panose="020B0604030504040204" pitchFamily="50" charset="-128"/>
                <a:ea typeface="メイリオ" panose="020B0604030504040204" pitchFamily="50" charset="-128"/>
              </a:rPr>
              <a:t>・企画投稿案</a:t>
            </a:r>
            <a:br>
              <a:rPr lang="ja-JP" altLang="ja-JP" b="1" dirty="0"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ja-JP" sz="1050" b="1" i="0" dirty="0">
                <a:solidFill>
                  <a:srgbClr val="525860"/>
                </a:solidFill>
                <a:effectLst/>
                <a:latin typeface="メイリオ" panose="020B0604030504040204" pitchFamily="50" charset="-128"/>
                <a:ea typeface="メイリオ" panose="020B0604030504040204" pitchFamily="50" charset="-128"/>
              </a:rPr>
              <a:t>・通知メッセ利用シーン想定</a:t>
            </a:r>
            <a:br>
              <a:rPr lang="ja-JP" altLang="ja-JP" b="1" dirty="0"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ja-JP" sz="1050" b="1" i="0" dirty="0">
                <a:solidFill>
                  <a:srgbClr val="525860"/>
                </a:solidFill>
                <a:effectLst/>
                <a:latin typeface="メイリオ" panose="020B0604030504040204" pitchFamily="50" charset="-128"/>
                <a:ea typeface="メイリオ" panose="020B0604030504040204" pitchFamily="50" charset="-128"/>
              </a:rPr>
              <a:t>---</a:t>
            </a:r>
            <a:br>
              <a:rPr lang="ja-JP" altLang="ja-JP" b="1" dirty="0"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ja-JP" sz="1050" b="1" i="0" dirty="0">
                <a:solidFill>
                  <a:srgbClr val="525860"/>
                </a:solidFill>
                <a:effectLst/>
                <a:latin typeface="メイリオ" panose="020B0604030504040204" pitchFamily="50" charset="-128"/>
                <a:ea typeface="メイリオ" panose="020B0604030504040204" pitchFamily="50" charset="-128"/>
              </a:rPr>
              <a:t>・飛び道具提案（奇抜な企画軸で）</a:t>
            </a:r>
            <a:br>
              <a:rPr lang="ja-JP" altLang="ja-JP" b="1" dirty="0"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ja-JP" sz="1050" b="1" i="0" dirty="0">
                <a:solidFill>
                  <a:srgbClr val="525860"/>
                </a:solidFill>
                <a:effectLst/>
                <a:latin typeface="メイリオ" panose="020B0604030504040204" pitchFamily="50" charset="-128"/>
                <a:ea typeface="メイリオ" panose="020B0604030504040204" pitchFamily="50" charset="-128"/>
              </a:rPr>
              <a:t>・LINEOA実績（LY公式ならOK）</a:t>
            </a:r>
            <a:endParaRPr lang="ja-JP" altLang="en-US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0693242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F3AE1A8-B06F-74B4-1E2A-7416EDA4E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8B77D6B5-FA2F-ED51-FB47-E8DC14B8ADE5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配信設計｜すぐ動かない人の診断と追客</a:t>
            </a:r>
          </a:p>
        </p:txBody>
      </p:sp>
      <p:sp>
        <p:nvSpPr>
          <p:cNvPr id="2" name="Google Shape;752;p28">
            <a:extLst>
              <a:ext uri="{FF2B5EF4-FFF2-40B4-BE49-F238E27FC236}">
                <a16:creationId xmlns:a16="http://schemas.microsoft.com/office/drawing/2014/main" id="{A8DDF192-E20B-6A12-DAA4-2904850388D2}"/>
              </a:ext>
            </a:extLst>
          </p:cNvPr>
          <p:cNvSpPr txBox="1"/>
          <p:nvPr/>
        </p:nvSpPr>
        <p:spPr>
          <a:xfrm>
            <a:off x="309397" y="642796"/>
            <a:ext cx="9330992" cy="609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14日で動かなかった人は、売り込まずに診断でつなぎます。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結果の4タイプで、その後の配信の強さを変えます。</a:t>
            </a:r>
          </a:p>
        </p:txBody>
      </p:sp>
      <p:sp>
        <p:nvSpPr>
          <p:cNvPr id="80" name="Text 3">
            <a:extLst>
              <a:ext uri="{FF2B5EF4-FFF2-40B4-BE49-F238E27FC236}">
                <a16:creationId xmlns:a16="http://schemas.microsoft.com/office/drawing/2014/main" id="{2F1CF158-D3B8-740E-7BB9-7BA2711D5A86}"/>
              </a:ext>
            </a:extLst>
          </p:cNvPr>
          <p:cNvSpPr/>
          <p:nvPr/>
        </p:nvSpPr>
        <p:spPr>
          <a:xfrm>
            <a:off x="430467" y="2806337"/>
            <a:ext cx="399784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診断設問（4問・各5択）</a:t>
            </a: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81" name="Shape 4">
            <a:extLst>
              <a:ext uri="{FF2B5EF4-FFF2-40B4-BE49-F238E27FC236}">
                <a16:creationId xmlns:a16="http://schemas.microsoft.com/office/drawing/2014/main" id="{D0D52073-224A-0961-D46B-A0D0A35577C1}"/>
              </a:ext>
            </a:extLst>
          </p:cNvPr>
          <p:cNvSpPr/>
          <p:nvPr/>
        </p:nvSpPr>
        <p:spPr>
          <a:xfrm>
            <a:off x="404949" y="3144665"/>
            <a:ext cx="4297679" cy="301752"/>
          </a:xfrm>
          <a:prstGeom prst="roundRect">
            <a:avLst>
              <a:gd name="adj" fmla="val 15152"/>
            </a:avLst>
          </a:prstGeom>
          <a:solidFill>
            <a:srgbClr val="F4F7FF"/>
          </a:solidFill>
          <a:ln w="12700">
            <a:solidFill>
              <a:srgbClr val="E8EDF8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82" name="Text 5">
            <a:extLst>
              <a:ext uri="{FF2B5EF4-FFF2-40B4-BE49-F238E27FC236}">
                <a16:creationId xmlns:a16="http://schemas.microsoft.com/office/drawing/2014/main" id="{45D645B7-F48E-7853-EBC0-8E0C5EF81708}"/>
              </a:ext>
            </a:extLst>
          </p:cNvPr>
          <p:cNvSpPr/>
          <p:nvPr/>
        </p:nvSpPr>
        <p:spPr>
          <a:xfrm>
            <a:off x="559121" y="3144665"/>
            <a:ext cx="4097787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Q1  「仕事のことを考えると、日曜の夜に憂鬱になりますか？」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83" name="Shape 6">
            <a:extLst>
              <a:ext uri="{FF2B5EF4-FFF2-40B4-BE49-F238E27FC236}">
                <a16:creationId xmlns:a16="http://schemas.microsoft.com/office/drawing/2014/main" id="{6791C392-1A7B-7AE0-A33F-16F51A18C75D}"/>
              </a:ext>
            </a:extLst>
          </p:cNvPr>
          <p:cNvSpPr/>
          <p:nvPr/>
        </p:nvSpPr>
        <p:spPr>
          <a:xfrm>
            <a:off x="404949" y="3510425"/>
            <a:ext cx="4297679" cy="301752"/>
          </a:xfrm>
          <a:prstGeom prst="roundRect">
            <a:avLst>
              <a:gd name="adj" fmla="val 15152"/>
            </a:avLst>
          </a:prstGeom>
          <a:solidFill>
            <a:srgbClr val="F4F7FF"/>
          </a:solidFill>
          <a:ln w="12700">
            <a:solidFill>
              <a:srgbClr val="E8EDF8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84" name="Text 7">
            <a:extLst>
              <a:ext uri="{FF2B5EF4-FFF2-40B4-BE49-F238E27FC236}">
                <a16:creationId xmlns:a16="http://schemas.microsoft.com/office/drawing/2014/main" id="{E67E7D97-92DF-6373-F0A3-CF953F46FBAE}"/>
              </a:ext>
            </a:extLst>
          </p:cNvPr>
          <p:cNvSpPr/>
          <p:nvPr/>
        </p:nvSpPr>
        <p:spPr>
          <a:xfrm>
            <a:off x="559121" y="3510425"/>
            <a:ext cx="4097787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Q2  「給与明細を見て『こんなものか』と思ったことがありますか？」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85" name="Shape 8">
            <a:extLst>
              <a:ext uri="{FF2B5EF4-FFF2-40B4-BE49-F238E27FC236}">
                <a16:creationId xmlns:a16="http://schemas.microsoft.com/office/drawing/2014/main" id="{1EEAB261-7048-6C4C-10D7-6CA60C396F31}"/>
              </a:ext>
            </a:extLst>
          </p:cNvPr>
          <p:cNvSpPr/>
          <p:nvPr/>
        </p:nvSpPr>
        <p:spPr>
          <a:xfrm>
            <a:off x="404949" y="3876185"/>
            <a:ext cx="4297679" cy="301752"/>
          </a:xfrm>
          <a:prstGeom prst="roundRect">
            <a:avLst>
              <a:gd name="adj" fmla="val 15152"/>
            </a:avLst>
          </a:prstGeom>
          <a:solidFill>
            <a:srgbClr val="F4F7FF"/>
          </a:solidFill>
          <a:ln w="12700">
            <a:solidFill>
              <a:srgbClr val="E8EDF8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86" name="Text 9">
            <a:extLst>
              <a:ext uri="{FF2B5EF4-FFF2-40B4-BE49-F238E27FC236}">
                <a16:creationId xmlns:a16="http://schemas.microsoft.com/office/drawing/2014/main" id="{D0B754F8-CEA6-0F61-4B75-EC0D7AB0BBDC}"/>
              </a:ext>
            </a:extLst>
          </p:cNvPr>
          <p:cNvSpPr/>
          <p:nvPr/>
        </p:nvSpPr>
        <p:spPr>
          <a:xfrm>
            <a:off x="559121" y="3876185"/>
            <a:ext cx="4097787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Q3  「5年後、今の会社にいる自分の姿が想像できますか？」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87" name="Shape 10">
            <a:extLst>
              <a:ext uri="{FF2B5EF4-FFF2-40B4-BE49-F238E27FC236}">
                <a16:creationId xmlns:a16="http://schemas.microsoft.com/office/drawing/2014/main" id="{FF427501-423E-6CDF-014B-ED232F961BFB}"/>
              </a:ext>
            </a:extLst>
          </p:cNvPr>
          <p:cNvSpPr/>
          <p:nvPr/>
        </p:nvSpPr>
        <p:spPr>
          <a:xfrm>
            <a:off x="404949" y="4241945"/>
            <a:ext cx="4297679" cy="301752"/>
          </a:xfrm>
          <a:prstGeom prst="roundRect">
            <a:avLst>
              <a:gd name="adj" fmla="val 15152"/>
            </a:avLst>
          </a:prstGeom>
          <a:solidFill>
            <a:srgbClr val="F4F7FF"/>
          </a:solidFill>
          <a:ln w="12700">
            <a:solidFill>
              <a:srgbClr val="E8EDF8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88" name="Text 11">
            <a:extLst>
              <a:ext uri="{FF2B5EF4-FFF2-40B4-BE49-F238E27FC236}">
                <a16:creationId xmlns:a16="http://schemas.microsoft.com/office/drawing/2014/main" id="{DB910A08-DF58-32FA-2432-5C0AF3C83C53}"/>
              </a:ext>
            </a:extLst>
          </p:cNvPr>
          <p:cNvSpPr/>
          <p:nvPr/>
        </p:nvSpPr>
        <p:spPr>
          <a:xfrm>
            <a:off x="559121" y="4241945"/>
            <a:ext cx="4097787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Q4  「上司・同僚と話す際に本音を言えていると感じますか？」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89" name="Text 12">
            <a:extLst>
              <a:ext uri="{FF2B5EF4-FFF2-40B4-BE49-F238E27FC236}">
                <a16:creationId xmlns:a16="http://schemas.microsoft.com/office/drawing/2014/main" id="{49C9DDEC-B91F-B9F3-D8EE-6DA3BF2758CE}"/>
              </a:ext>
            </a:extLst>
          </p:cNvPr>
          <p:cNvSpPr/>
          <p:nvPr/>
        </p:nvSpPr>
        <p:spPr>
          <a:xfrm>
            <a:off x="5177853" y="2810806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診断結果 4パターン＋追客方針</a:t>
            </a: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90" name="Shape 13">
            <a:extLst>
              <a:ext uri="{FF2B5EF4-FFF2-40B4-BE49-F238E27FC236}">
                <a16:creationId xmlns:a16="http://schemas.microsoft.com/office/drawing/2014/main" id="{7D9279AB-DA4C-865E-1BFC-B99D3C6C3C3F}"/>
              </a:ext>
            </a:extLst>
          </p:cNvPr>
          <p:cNvSpPr/>
          <p:nvPr/>
        </p:nvSpPr>
        <p:spPr>
          <a:xfrm>
            <a:off x="5177853" y="3149134"/>
            <a:ext cx="429768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chemeClr val="tx2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91" name="Shape 14">
            <a:extLst>
              <a:ext uri="{FF2B5EF4-FFF2-40B4-BE49-F238E27FC236}">
                <a16:creationId xmlns:a16="http://schemas.microsoft.com/office/drawing/2014/main" id="{FE25EE99-D7D8-85CF-09FC-6465111BFB2C}"/>
              </a:ext>
            </a:extLst>
          </p:cNvPr>
          <p:cNvSpPr/>
          <p:nvPr/>
        </p:nvSpPr>
        <p:spPr>
          <a:xfrm>
            <a:off x="5251005" y="3222286"/>
            <a:ext cx="1005840" cy="256032"/>
          </a:xfrm>
          <a:prstGeom prst="roundRect">
            <a:avLst>
              <a:gd name="adj" fmla="val 14286"/>
            </a:avLst>
          </a:prstGeom>
          <a:solidFill>
            <a:schemeClr val="tx2">
              <a:lumMod val="75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92" name="Text 15">
            <a:extLst>
              <a:ext uri="{FF2B5EF4-FFF2-40B4-BE49-F238E27FC236}">
                <a16:creationId xmlns:a16="http://schemas.microsoft.com/office/drawing/2014/main" id="{F2BB4149-C773-D448-ED22-0664FCDF9177}"/>
              </a:ext>
            </a:extLst>
          </p:cNvPr>
          <p:cNvSpPr/>
          <p:nvPr/>
        </p:nvSpPr>
        <p:spPr>
          <a:xfrm>
            <a:off x="5251005" y="3222286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即転職型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93" name="Shape 16">
            <a:extLst>
              <a:ext uri="{FF2B5EF4-FFF2-40B4-BE49-F238E27FC236}">
                <a16:creationId xmlns:a16="http://schemas.microsoft.com/office/drawing/2014/main" id="{95E60EE8-0A0B-1609-55AE-E84B1C214243}"/>
              </a:ext>
            </a:extLst>
          </p:cNvPr>
          <p:cNvSpPr/>
          <p:nvPr/>
        </p:nvSpPr>
        <p:spPr>
          <a:xfrm>
            <a:off x="6320853" y="3240574"/>
            <a:ext cx="822960" cy="219456"/>
          </a:xfrm>
          <a:prstGeom prst="roundRect">
            <a:avLst>
              <a:gd name="adj" fmla="val 16667"/>
            </a:avLst>
          </a:prstGeom>
          <a:solidFill>
            <a:srgbClr val="F4F7FF"/>
          </a:solidFill>
          <a:ln w="12700">
            <a:noFill/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94" name="Text 17">
            <a:extLst>
              <a:ext uri="{FF2B5EF4-FFF2-40B4-BE49-F238E27FC236}">
                <a16:creationId xmlns:a16="http://schemas.microsoft.com/office/drawing/2014/main" id="{72D5F163-FCBF-2136-41BC-77594BF1877E}"/>
              </a:ext>
            </a:extLst>
          </p:cNvPr>
          <p:cNvSpPr/>
          <p:nvPr/>
        </p:nvSpPr>
        <p:spPr>
          <a:xfrm>
            <a:off x="6320853" y="3240574"/>
            <a:ext cx="82296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高スコア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95" name="Text 18">
            <a:extLst>
              <a:ext uri="{FF2B5EF4-FFF2-40B4-BE49-F238E27FC236}">
                <a16:creationId xmlns:a16="http://schemas.microsoft.com/office/drawing/2014/main" id="{10AA3820-1E64-09EE-B24B-B91B9B0E3954}"/>
              </a:ext>
            </a:extLst>
          </p:cNvPr>
          <p:cNvSpPr/>
          <p:nvPr/>
        </p:nvSpPr>
        <p:spPr>
          <a:xfrm>
            <a:off x="7207821" y="3240574"/>
            <a:ext cx="128016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rgbClr val="E05A5A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→ ホットリスト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96" name="Text 19">
            <a:extLst>
              <a:ext uri="{FF2B5EF4-FFF2-40B4-BE49-F238E27FC236}">
                <a16:creationId xmlns:a16="http://schemas.microsoft.com/office/drawing/2014/main" id="{3DDA72DF-D996-0751-2316-45B75A6606C6}"/>
              </a:ext>
            </a:extLst>
          </p:cNvPr>
          <p:cNvSpPr/>
          <p:nvPr/>
        </p:nvSpPr>
        <p:spPr>
          <a:xfrm>
            <a:off x="5251005" y="349660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夜間・土日の面談枠をすぐに案内。急かす言葉は使わない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97" name="Shape 20">
            <a:extLst>
              <a:ext uri="{FF2B5EF4-FFF2-40B4-BE49-F238E27FC236}">
                <a16:creationId xmlns:a16="http://schemas.microsoft.com/office/drawing/2014/main" id="{011CB3D1-C7A5-7956-3BAA-69C2CB905B6A}"/>
              </a:ext>
            </a:extLst>
          </p:cNvPr>
          <p:cNvSpPr/>
          <p:nvPr/>
        </p:nvSpPr>
        <p:spPr>
          <a:xfrm>
            <a:off x="5177853" y="3834934"/>
            <a:ext cx="429768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chemeClr val="tx2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98" name="Shape 21">
            <a:extLst>
              <a:ext uri="{FF2B5EF4-FFF2-40B4-BE49-F238E27FC236}">
                <a16:creationId xmlns:a16="http://schemas.microsoft.com/office/drawing/2014/main" id="{4C69AF05-15A8-3F8C-8F51-AD3439C14622}"/>
              </a:ext>
            </a:extLst>
          </p:cNvPr>
          <p:cNvSpPr/>
          <p:nvPr/>
        </p:nvSpPr>
        <p:spPr>
          <a:xfrm>
            <a:off x="5251005" y="3908086"/>
            <a:ext cx="1005840" cy="256032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 w="12700">
            <a:noFill/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99" name="Text 22">
            <a:extLst>
              <a:ext uri="{FF2B5EF4-FFF2-40B4-BE49-F238E27FC236}">
                <a16:creationId xmlns:a16="http://schemas.microsoft.com/office/drawing/2014/main" id="{FF31A922-59CE-9653-E310-5F8646A1A6DD}"/>
              </a:ext>
            </a:extLst>
          </p:cNvPr>
          <p:cNvSpPr/>
          <p:nvPr/>
        </p:nvSpPr>
        <p:spPr>
          <a:xfrm>
            <a:off x="5251005" y="3908086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慎重検討型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00" name="Shape 23">
            <a:extLst>
              <a:ext uri="{FF2B5EF4-FFF2-40B4-BE49-F238E27FC236}">
                <a16:creationId xmlns:a16="http://schemas.microsoft.com/office/drawing/2014/main" id="{BF532CBE-24FC-8551-A3EA-4F3D1688FA51}"/>
              </a:ext>
            </a:extLst>
          </p:cNvPr>
          <p:cNvSpPr/>
          <p:nvPr/>
        </p:nvSpPr>
        <p:spPr>
          <a:xfrm>
            <a:off x="6320853" y="3926374"/>
            <a:ext cx="822960" cy="219456"/>
          </a:xfrm>
          <a:prstGeom prst="roundRect">
            <a:avLst>
              <a:gd name="adj" fmla="val 16667"/>
            </a:avLst>
          </a:prstGeom>
          <a:solidFill>
            <a:srgbClr val="F4F7FF"/>
          </a:solidFill>
          <a:ln w="12700">
            <a:noFill/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01" name="Text 24">
            <a:extLst>
              <a:ext uri="{FF2B5EF4-FFF2-40B4-BE49-F238E27FC236}">
                <a16:creationId xmlns:a16="http://schemas.microsoft.com/office/drawing/2014/main" id="{6B81A3BF-2D14-0A6E-58E2-41F6C95FFF9D}"/>
              </a:ext>
            </a:extLst>
          </p:cNvPr>
          <p:cNvSpPr/>
          <p:nvPr/>
        </p:nvSpPr>
        <p:spPr>
          <a:xfrm>
            <a:off x="6320853" y="3926374"/>
            <a:ext cx="82296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中高スコア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02" name="Text 25">
            <a:extLst>
              <a:ext uri="{FF2B5EF4-FFF2-40B4-BE49-F238E27FC236}">
                <a16:creationId xmlns:a16="http://schemas.microsoft.com/office/drawing/2014/main" id="{A7F23C91-1AC9-92C8-0444-0C2A7B7900FB}"/>
              </a:ext>
            </a:extLst>
          </p:cNvPr>
          <p:cNvSpPr/>
          <p:nvPr/>
        </p:nvSpPr>
        <p:spPr>
          <a:xfrm>
            <a:off x="7207821" y="3926374"/>
            <a:ext cx="128016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0" cap="none" spc="0" normalizeH="0" baseline="0" noProof="0" dirty="0">
                <a:ln>
                  <a:noFill/>
                </a:ln>
                <a:solidFill>
                  <a:srgbClr val="E8A838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→ ウォームリスト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03" name="Text 26">
            <a:extLst>
              <a:ext uri="{FF2B5EF4-FFF2-40B4-BE49-F238E27FC236}">
                <a16:creationId xmlns:a16="http://schemas.microsoft.com/office/drawing/2014/main" id="{4901DF11-6A92-B335-2D97-90FF2A2F3B7E}"/>
              </a:ext>
            </a:extLst>
          </p:cNvPr>
          <p:cNvSpPr/>
          <p:nvPr/>
        </p:nvSpPr>
        <p:spPr>
          <a:xfrm>
            <a:off x="5251005" y="418240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転職成功事例・年収比較データを週1配信。3〜4週間かけて温める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04" name="Shape 27">
            <a:extLst>
              <a:ext uri="{FF2B5EF4-FFF2-40B4-BE49-F238E27FC236}">
                <a16:creationId xmlns:a16="http://schemas.microsoft.com/office/drawing/2014/main" id="{20D444BB-26DB-74C1-2095-C4CECE5DD870}"/>
              </a:ext>
            </a:extLst>
          </p:cNvPr>
          <p:cNvSpPr/>
          <p:nvPr/>
        </p:nvSpPr>
        <p:spPr>
          <a:xfrm>
            <a:off x="5177853" y="4520734"/>
            <a:ext cx="429768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chemeClr val="tx2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05" name="Shape 28">
            <a:extLst>
              <a:ext uri="{FF2B5EF4-FFF2-40B4-BE49-F238E27FC236}">
                <a16:creationId xmlns:a16="http://schemas.microsoft.com/office/drawing/2014/main" id="{B7739C89-3CB4-FFD4-5878-8E37F4F17031}"/>
              </a:ext>
            </a:extLst>
          </p:cNvPr>
          <p:cNvSpPr/>
          <p:nvPr/>
        </p:nvSpPr>
        <p:spPr>
          <a:xfrm>
            <a:off x="5251005" y="4593886"/>
            <a:ext cx="1005840" cy="256032"/>
          </a:xfrm>
          <a:prstGeom prst="roundRect">
            <a:avLst>
              <a:gd name="adj" fmla="val 14286"/>
            </a:avLst>
          </a:prstGeom>
          <a:solidFill>
            <a:schemeClr val="tx2">
              <a:lumMod val="60000"/>
              <a:lumOff val="4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06" name="Text 29">
            <a:extLst>
              <a:ext uri="{FF2B5EF4-FFF2-40B4-BE49-F238E27FC236}">
                <a16:creationId xmlns:a16="http://schemas.microsoft.com/office/drawing/2014/main" id="{86C5CCD4-DADF-8B0D-5331-4D81B5C903BC}"/>
              </a:ext>
            </a:extLst>
          </p:cNvPr>
          <p:cNvSpPr/>
          <p:nvPr/>
        </p:nvSpPr>
        <p:spPr>
          <a:xfrm>
            <a:off x="5251005" y="4593886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情報収集型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07" name="Shape 30">
            <a:extLst>
              <a:ext uri="{FF2B5EF4-FFF2-40B4-BE49-F238E27FC236}">
                <a16:creationId xmlns:a16="http://schemas.microsoft.com/office/drawing/2014/main" id="{4F2323BE-47BE-D53C-98B3-4B403E562891}"/>
              </a:ext>
            </a:extLst>
          </p:cNvPr>
          <p:cNvSpPr/>
          <p:nvPr/>
        </p:nvSpPr>
        <p:spPr>
          <a:xfrm>
            <a:off x="6320853" y="4612174"/>
            <a:ext cx="822960" cy="219456"/>
          </a:xfrm>
          <a:prstGeom prst="roundRect">
            <a:avLst>
              <a:gd name="adj" fmla="val 16667"/>
            </a:avLst>
          </a:prstGeom>
          <a:solidFill>
            <a:srgbClr val="F4F7FF"/>
          </a:solidFill>
          <a:ln w="12700">
            <a:noFill/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08" name="Text 31">
            <a:extLst>
              <a:ext uri="{FF2B5EF4-FFF2-40B4-BE49-F238E27FC236}">
                <a16:creationId xmlns:a16="http://schemas.microsoft.com/office/drawing/2014/main" id="{5812A64F-2CCF-7FF6-0B3F-E39A36A21562}"/>
              </a:ext>
            </a:extLst>
          </p:cNvPr>
          <p:cNvSpPr/>
          <p:nvPr/>
        </p:nvSpPr>
        <p:spPr>
          <a:xfrm>
            <a:off x="6320853" y="4612174"/>
            <a:ext cx="82296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中スコア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09" name="Text 32">
            <a:extLst>
              <a:ext uri="{FF2B5EF4-FFF2-40B4-BE49-F238E27FC236}">
                <a16:creationId xmlns:a16="http://schemas.microsoft.com/office/drawing/2014/main" id="{E0F8F83C-84BB-D4BE-225A-E9D41ECDEA76}"/>
              </a:ext>
            </a:extLst>
          </p:cNvPr>
          <p:cNvSpPr/>
          <p:nvPr/>
        </p:nvSpPr>
        <p:spPr>
          <a:xfrm>
            <a:off x="7207821" y="4612174"/>
            <a:ext cx="128016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rgbClr val="0D9488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→ ミドルリスト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10" name="Text 33">
            <a:extLst>
              <a:ext uri="{FF2B5EF4-FFF2-40B4-BE49-F238E27FC236}">
                <a16:creationId xmlns:a16="http://schemas.microsoft.com/office/drawing/2014/main" id="{88DC7D4E-3340-9B35-991E-96ED00531893}"/>
              </a:ext>
            </a:extLst>
          </p:cNvPr>
          <p:cNvSpPr/>
          <p:nvPr/>
        </p:nvSpPr>
        <p:spPr>
          <a:xfrm>
            <a:off x="5251005" y="486820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業界動向・スキルアップ情報を提供。半年スパンで関係構築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11" name="Shape 34">
            <a:extLst>
              <a:ext uri="{FF2B5EF4-FFF2-40B4-BE49-F238E27FC236}">
                <a16:creationId xmlns:a16="http://schemas.microsoft.com/office/drawing/2014/main" id="{966CBC37-CF13-58B0-5CD8-1E77836F7F29}"/>
              </a:ext>
            </a:extLst>
          </p:cNvPr>
          <p:cNvSpPr/>
          <p:nvPr/>
        </p:nvSpPr>
        <p:spPr>
          <a:xfrm>
            <a:off x="5177853" y="5206534"/>
            <a:ext cx="429768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chemeClr val="tx2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12" name="Shape 35">
            <a:extLst>
              <a:ext uri="{FF2B5EF4-FFF2-40B4-BE49-F238E27FC236}">
                <a16:creationId xmlns:a16="http://schemas.microsoft.com/office/drawing/2014/main" id="{100CDE3F-E390-202C-287F-515D436D1ADB}"/>
              </a:ext>
            </a:extLst>
          </p:cNvPr>
          <p:cNvSpPr/>
          <p:nvPr/>
        </p:nvSpPr>
        <p:spPr>
          <a:xfrm>
            <a:off x="5251005" y="5279686"/>
            <a:ext cx="1005840" cy="256032"/>
          </a:xfrm>
          <a:prstGeom prst="roundRect">
            <a:avLst>
              <a:gd name="adj" fmla="val 14286"/>
            </a:avLst>
          </a:prstGeom>
          <a:solidFill>
            <a:schemeClr val="tx2">
              <a:lumMod val="20000"/>
              <a:lumOff val="8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13" name="Text 36">
            <a:extLst>
              <a:ext uri="{FF2B5EF4-FFF2-40B4-BE49-F238E27FC236}">
                <a16:creationId xmlns:a16="http://schemas.microsoft.com/office/drawing/2014/main" id="{0D886FBA-D1FA-1F1D-4774-F731872AEE33}"/>
              </a:ext>
            </a:extLst>
          </p:cNvPr>
          <p:cNvSpPr/>
          <p:nvPr/>
        </p:nvSpPr>
        <p:spPr>
          <a:xfrm>
            <a:off x="5251005" y="5279686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現状維持型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14" name="Shape 37">
            <a:extLst>
              <a:ext uri="{FF2B5EF4-FFF2-40B4-BE49-F238E27FC236}">
                <a16:creationId xmlns:a16="http://schemas.microsoft.com/office/drawing/2014/main" id="{0A8BE876-C3E9-5C00-CA0A-659FF0188ECF}"/>
              </a:ext>
            </a:extLst>
          </p:cNvPr>
          <p:cNvSpPr/>
          <p:nvPr/>
        </p:nvSpPr>
        <p:spPr>
          <a:xfrm>
            <a:off x="6320853" y="5297974"/>
            <a:ext cx="822960" cy="219456"/>
          </a:xfrm>
          <a:prstGeom prst="roundRect">
            <a:avLst>
              <a:gd name="adj" fmla="val 16667"/>
            </a:avLst>
          </a:prstGeom>
          <a:solidFill>
            <a:srgbClr val="F4F7FF"/>
          </a:solidFill>
          <a:ln w="12700">
            <a:noFill/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15" name="Text 38">
            <a:extLst>
              <a:ext uri="{FF2B5EF4-FFF2-40B4-BE49-F238E27FC236}">
                <a16:creationId xmlns:a16="http://schemas.microsoft.com/office/drawing/2014/main" id="{BB5CADDA-DE23-AF11-67EE-438A0E4F573B}"/>
              </a:ext>
            </a:extLst>
          </p:cNvPr>
          <p:cNvSpPr/>
          <p:nvPr/>
        </p:nvSpPr>
        <p:spPr>
          <a:xfrm>
            <a:off x="6320853" y="5297974"/>
            <a:ext cx="82296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低スコア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16" name="Text 39">
            <a:extLst>
              <a:ext uri="{FF2B5EF4-FFF2-40B4-BE49-F238E27FC236}">
                <a16:creationId xmlns:a16="http://schemas.microsoft.com/office/drawing/2014/main" id="{CDEDD963-E8C1-C16E-2022-546114A75A76}"/>
              </a:ext>
            </a:extLst>
          </p:cNvPr>
          <p:cNvSpPr/>
          <p:nvPr/>
        </p:nvSpPr>
        <p:spPr>
          <a:xfrm>
            <a:off x="7207821" y="5297974"/>
            <a:ext cx="128016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→ コールドリスト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17" name="Text 40">
            <a:extLst>
              <a:ext uri="{FF2B5EF4-FFF2-40B4-BE49-F238E27FC236}">
                <a16:creationId xmlns:a16="http://schemas.microsoft.com/office/drawing/2014/main" id="{00198631-8657-65B3-0A0A-7C5220C5C5A7}"/>
              </a:ext>
            </a:extLst>
          </p:cNvPr>
          <p:cNvSpPr/>
          <p:nvPr/>
        </p:nvSpPr>
        <p:spPr>
          <a:xfrm>
            <a:off x="5251005" y="555400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無理にアプローチせず月1配信。「環境変化」で再燃を待つ長期戦略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18" name="Shape 2">
            <a:extLst>
              <a:ext uri="{FF2B5EF4-FFF2-40B4-BE49-F238E27FC236}">
                <a16:creationId xmlns:a16="http://schemas.microsoft.com/office/drawing/2014/main" id="{EED969DB-6090-3801-B39E-93C24360A11A}"/>
              </a:ext>
            </a:extLst>
          </p:cNvPr>
          <p:cNvSpPr/>
          <p:nvPr/>
        </p:nvSpPr>
        <p:spPr>
          <a:xfrm>
            <a:off x="775063" y="2010373"/>
            <a:ext cx="8412480" cy="457200"/>
          </a:xfrm>
          <a:prstGeom prst="roundRect">
            <a:avLst>
              <a:gd name="adj" fmla="val 16000"/>
            </a:avLst>
          </a:prstGeom>
          <a:solidFill>
            <a:srgbClr val="F4F7FF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19" name="Text 3">
            <a:extLst>
              <a:ext uri="{FF2B5EF4-FFF2-40B4-BE49-F238E27FC236}">
                <a16:creationId xmlns:a16="http://schemas.microsoft.com/office/drawing/2014/main" id="{4BD93F70-A1A4-6B20-298D-BE3F4D258BE9}"/>
              </a:ext>
            </a:extLst>
          </p:cNvPr>
          <p:cNvSpPr/>
          <p:nvPr/>
        </p:nvSpPr>
        <p:spPr>
          <a:xfrm>
            <a:off x="957943" y="2010373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 err="1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目的：14日ステップで動かなかった人に、答えやすい診断を送り、配信の強さを決める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BDC8374B-5F7F-A61F-169C-C54DCD7D51C0}"/>
              </a:ext>
            </a:extLst>
          </p:cNvPr>
          <p:cNvSpPr/>
          <p:nvPr/>
        </p:nvSpPr>
        <p:spPr>
          <a:xfrm>
            <a:off x="195943" y="1649952"/>
            <a:ext cx="9570720" cy="47722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DEEE7D10-E257-A9D8-F6D6-AF0A9A41DDC4}"/>
              </a:ext>
            </a:extLst>
          </p:cNvPr>
          <p:cNvSpPr txBox="1"/>
          <p:nvPr/>
        </p:nvSpPr>
        <p:spPr>
          <a:xfrm>
            <a:off x="3872439" y="1317985"/>
            <a:ext cx="57679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2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売り込みを嫌う人でも、診断なら答えてもらえる</a:t>
            </a:r>
            <a:endParaRPr lang="ja-JP" altLang="en-US" sz="12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5" name="矢印: 右 4">
            <a:extLst>
              <a:ext uri="{FF2B5EF4-FFF2-40B4-BE49-F238E27FC236}">
                <a16:creationId xmlns:a16="http://schemas.microsoft.com/office/drawing/2014/main" id="{31E96465-A2D8-BAD2-908E-13EA6B2BA2F0}"/>
              </a:ext>
            </a:extLst>
          </p:cNvPr>
          <p:cNvSpPr/>
          <p:nvPr/>
        </p:nvSpPr>
        <p:spPr>
          <a:xfrm>
            <a:off x="4769313" y="3151795"/>
            <a:ext cx="375557" cy="530249"/>
          </a:xfrm>
          <a:prstGeom prst="rightArrow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22173E9D-47C1-7D4E-1D0D-EC3756179319}"/>
              </a:ext>
            </a:extLst>
          </p:cNvPr>
          <p:cNvSpPr/>
          <p:nvPr/>
        </p:nvSpPr>
        <p:spPr>
          <a:xfrm>
            <a:off x="4940121" y="59287"/>
            <a:ext cx="2597727" cy="41563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193266448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8F4B6A2-11F2-64AD-4DDE-1248419C63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811AA335-9B44-6B58-2534-BB048200CAD7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具体施策</a:t>
            </a:r>
          </a:p>
        </p:txBody>
      </p:sp>
      <p:sp>
        <p:nvSpPr>
          <p:cNvPr id="2" name="Google Shape;752;p28">
            <a:extLst>
              <a:ext uri="{FF2B5EF4-FFF2-40B4-BE49-F238E27FC236}">
                <a16:creationId xmlns:a16="http://schemas.microsoft.com/office/drawing/2014/main" id="{72627B2D-8393-455B-0855-0EB48BEF4480}"/>
              </a:ext>
            </a:extLst>
          </p:cNvPr>
          <p:cNvSpPr txBox="1"/>
          <p:nvPr/>
        </p:nvSpPr>
        <p:spPr>
          <a:xfrm>
            <a:off x="309397" y="778217"/>
            <a:ext cx="9330992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想定：リピート、クロスセルを計画的に実施</a:t>
            </a:r>
          </a:p>
        </p:txBody>
      </p:sp>
      <p:sp>
        <p:nvSpPr>
          <p:cNvPr id="243" name="Shape 8">
            <a:extLst>
              <a:ext uri="{FF2B5EF4-FFF2-40B4-BE49-F238E27FC236}">
                <a16:creationId xmlns:a16="http://schemas.microsoft.com/office/drawing/2014/main" id="{25BEC70F-1CF8-F07A-EA93-FC6E8D940E95}"/>
              </a:ext>
            </a:extLst>
          </p:cNvPr>
          <p:cNvSpPr/>
          <p:nvPr/>
        </p:nvSpPr>
        <p:spPr>
          <a:xfrm>
            <a:off x="622035" y="2195627"/>
            <a:ext cx="4279392" cy="295241"/>
          </a:xfrm>
          <a:prstGeom prst="roundRect">
            <a:avLst>
              <a:gd name="adj" fmla="val 13462"/>
            </a:avLst>
          </a:prstGeom>
          <a:solidFill>
            <a:srgbClr val="1F2B5C"/>
          </a:solidFill>
          <a:ln w="12700">
            <a:solidFill>
              <a:srgbClr val="1F2B5C"/>
            </a:solidFill>
            <a:prstDash val="solid"/>
          </a:ln>
        </p:spPr>
        <p:txBody>
          <a:bodyPr/>
          <a:lstStyle/>
          <a:p>
            <a:endParaRPr lang="ja-JP" altLang="en-US" sz="12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45" name="Text 9">
            <a:extLst>
              <a:ext uri="{FF2B5EF4-FFF2-40B4-BE49-F238E27FC236}">
                <a16:creationId xmlns:a16="http://schemas.microsoft.com/office/drawing/2014/main" id="{15FC7E1F-9877-CB06-F5F1-37331233B89F}"/>
              </a:ext>
            </a:extLst>
          </p:cNvPr>
          <p:cNvSpPr/>
          <p:nvPr/>
        </p:nvSpPr>
        <p:spPr>
          <a:xfrm>
            <a:off x="750051" y="2178652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リピート施策</a:t>
            </a:r>
            <a:endParaRPr lang="en-US" sz="10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47" name="Text 10">
            <a:extLst>
              <a:ext uri="{FF2B5EF4-FFF2-40B4-BE49-F238E27FC236}">
                <a16:creationId xmlns:a16="http://schemas.microsoft.com/office/drawing/2014/main" id="{04713F76-50FA-FA3F-D4BD-08DC408EA176}"/>
              </a:ext>
            </a:extLst>
          </p:cNvPr>
          <p:cNvSpPr/>
          <p:nvPr/>
        </p:nvSpPr>
        <p:spPr>
          <a:xfrm>
            <a:off x="2541313" y="2189103"/>
            <a:ext cx="217723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CADCF2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既存顧客を繰り返しCVさせる設計</a:t>
            </a:r>
            <a:endParaRPr lang="en-US" sz="7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49" name="Shape 11">
            <a:extLst>
              <a:ext uri="{FF2B5EF4-FFF2-40B4-BE49-F238E27FC236}">
                <a16:creationId xmlns:a16="http://schemas.microsoft.com/office/drawing/2014/main" id="{8636F3C8-63E7-CBB8-3872-E6B2584513F2}"/>
              </a:ext>
            </a:extLst>
          </p:cNvPr>
          <p:cNvSpPr/>
          <p:nvPr/>
        </p:nvSpPr>
        <p:spPr>
          <a:xfrm>
            <a:off x="5066019" y="2195627"/>
            <a:ext cx="4279392" cy="295241"/>
          </a:xfrm>
          <a:prstGeom prst="roundRect">
            <a:avLst>
              <a:gd name="adj" fmla="val 13462"/>
            </a:avLst>
          </a:prstGeom>
          <a:solidFill>
            <a:srgbClr val="1F2B5C"/>
          </a:solidFill>
          <a:ln w="12700">
            <a:solidFill>
              <a:srgbClr val="1F2B5C"/>
            </a:solidFill>
            <a:prstDash val="solid"/>
          </a:ln>
        </p:spPr>
        <p:txBody>
          <a:bodyPr/>
          <a:lstStyle/>
          <a:p>
            <a:endParaRPr lang="ja-JP" altLang="en-US" sz="12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51" name="Text 12">
            <a:extLst>
              <a:ext uri="{FF2B5EF4-FFF2-40B4-BE49-F238E27FC236}">
                <a16:creationId xmlns:a16="http://schemas.microsoft.com/office/drawing/2014/main" id="{6615CF57-D24E-7288-7AB0-1DF692D04526}"/>
              </a:ext>
            </a:extLst>
          </p:cNvPr>
          <p:cNvSpPr/>
          <p:nvPr/>
        </p:nvSpPr>
        <p:spPr>
          <a:xfrm>
            <a:off x="5194035" y="2178652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クロスセル施策</a:t>
            </a:r>
            <a:endParaRPr lang="en-US" sz="10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53" name="Text 13">
            <a:extLst>
              <a:ext uri="{FF2B5EF4-FFF2-40B4-BE49-F238E27FC236}">
                <a16:creationId xmlns:a16="http://schemas.microsoft.com/office/drawing/2014/main" id="{7C345B51-6053-1E03-9823-0F386006D466}"/>
              </a:ext>
            </a:extLst>
          </p:cNvPr>
          <p:cNvSpPr/>
          <p:nvPr/>
        </p:nvSpPr>
        <p:spPr>
          <a:xfrm>
            <a:off x="6985297" y="2189103"/>
            <a:ext cx="217723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CADCF2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関連サービス・上位プランへの誘導設計</a:t>
            </a:r>
            <a:endParaRPr lang="en-US" sz="7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55" name="Shape 15">
            <a:extLst>
              <a:ext uri="{FF2B5EF4-FFF2-40B4-BE49-F238E27FC236}">
                <a16:creationId xmlns:a16="http://schemas.microsoft.com/office/drawing/2014/main" id="{2BEE7A23-A38F-24B6-8785-FB455AC73808}"/>
              </a:ext>
            </a:extLst>
          </p:cNvPr>
          <p:cNvSpPr/>
          <p:nvPr/>
        </p:nvSpPr>
        <p:spPr>
          <a:xfrm>
            <a:off x="622035" y="2613109"/>
            <a:ext cx="4279392" cy="1170432"/>
          </a:xfrm>
          <a:prstGeom prst="roundRect">
            <a:avLst>
              <a:gd name="adj" fmla="val 7031"/>
            </a:avLst>
          </a:prstGeom>
          <a:solidFill>
            <a:srgbClr val="EEEFF4"/>
          </a:solidFill>
          <a:ln w="12700">
            <a:solidFill>
              <a:srgbClr val="D8D8E2"/>
            </a:solidFill>
            <a:prstDash val="solid"/>
          </a:ln>
          <a:effectLst>
            <a:outerShdw blurRad="50800" dist="12700" dir="8100000" algn="bl" rotWithShape="0">
              <a:srgbClr val="C8C8D8">
                <a:alpha val="10000"/>
              </a:srgbClr>
            </a:outerShdw>
          </a:effectLst>
        </p:spPr>
        <p:txBody>
          <a:bodyPr/>
          <a:lstStyle/>
          <a:p>
            <a:endParaRPr lang="ja-JP" altLang="en-US" sz="12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59" name="Shape 17">
            <a:extLst>
              <a:ext uri="{FF2B5EF4-FFF2-40B4-BE49-F238E27FC236}">
                <a16:creationId xmlns:a16="http://schemas.microsoft.com/office/drawing/2014/main" id="{6EA2FE60-CA64-D4E8-A942-9C618AC68B86}"/>
              </a:ext>
            </a:extLst>
          </p:cNvPr>
          <p:cNvSpPr/>
          <p:nvPr/>
        </p:nvSpPr>
        <p:spPr>
          <a:xfrm>
            <a:off x="731763" y="2704549"/>
            <a:ext cx="274320" cy="274320"/>
          </a:xfrm>
          <a:prstGeom prst="ellipse">
            <a:avLst/>
          </a:prstGeom>
          <a:solidFill>
            <a:schemeClr val="tx1"/>
          </a:solidFill>
          <a:ln w="12700">
            <a:noFill/>
            <a:prstDash val="solid"/>
          </a:ln>
        </p:spPr>
        <p:txBody>
          <a:bodyPr/>
          <a:lstStyle/>
          <a:p>
            <a:endParaRPr lang="ja-JP" altLang="en-US" sz="12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61" name="Text 18">
            <a:extLst>
              <a:ext uri="{FF2B5EF4-FFF2-40B4-BE49-F238E27FC236}">
                <a16:creationId xmlns:a16="http://schemas.microsoft.com/office/drawing/2014/main" id="{E856EF37-698D-F191-3067-928FC0AFC456}"/>
              </a:ext>
            </a:extLst>
          </p:cNvPr>
          <p:cNvSpPr/>
          <p:nvPr/>
        </p:nvSpPr>
        <p:spPr>
          <a:xfrm>
            <a:off x="731763" y="2704549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1</a:t>
            </a:r>
            <a:endParaRPr lang="en-US" sz="9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63" name="Shape 19">
            <a:extLst>
              <a:ext uri="{FF2B5EF4-FFF2-40B4-BE49-F238E27FC236}">
                <a16:creationId xmlns:a16="http://schemas.microsoft.com/office/drawing/2014/main" id="{C3D7846E-19C7-41FD-05BA-E1F3CF32FFFD}"/>
              </a:ext>
            </a:extLst>
          </p:cNvPr>
          <p:cNvSpPr/>
          <p:nvPr/>
        </p:nvSpPr>
        <p:spPr>
          <a:xfrm>
            <a:off x="1079235" y="2731981"/>
            <a:ext cx="859536" cy="201168"/>
          </a:xfrm>
          <a:prstGeom prst="roundRect">
            <a:avLst>
              <a:gd name="adj" fmla="val 18182"/>
            </a:avLst>
          </a:prstGeom>
          <a:solidFill>
            <a:schemeClr val="tx2"/>
          </a:solidFill>
          <a:ln w="12700">
            <a:solidFill>
              <a:srgbClr val="D8D8E2"/>
            </a:solidFill>
            <a:prstDash val="solid"/>
          </a:ln>
        </p:spPr>
        <p:txBody>
          <a:bodyPr/>
          <a:lstStyle/>
          <a:p>
            <a:endParaRPr lang="ja-JP" altLang="en-US" sz="700">
              <a:solidFill>
                <a:srgbClr val="FDFDFD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65" name="Text 20">
            <a:extLst>
              <a:ext uri="{FF2B5EF4-FFF2-40B4-BE49-F238E27FC236}">
                <a16:creationId xmlns:a16="http://schemas.microsoft.com/office/drawing/2014/main" id="{B823E9DA-260C-1603-CA04-ED130644314C}"/>
              </a:ext>
            </a:extLst>
          </p:cNvPr>
          <p:cNvSpPr/>
          <p:nvPr/>
        </p:nvSpPr>
        <p:spPr>
          <a:xfrm>
            <a:off x="1079235" y="2731981"/>
            <a:ext cx="859536" cy="201168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DFDFD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アフターフォロー</a:t>
            </a:r>
            <a:endParaRPr lang="en-US" sz="700" dirty="0">
              <a:solidFill>
                <a:srgbClr val="FDFDFD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67" name="Text 21">
            <a:extLst>
              <a:ext uri="{FF2B5EF4-FFF2-40B4-BE49-F238E27FC236}">
                <a16:creationId xmlns:a16="http://schemas.microsoft.com/office/drawing/2014/main" id="{FCE3B029-FE9D-7576-7B05-2585AB5A66B1}"/>
              </a:ext>
            </a:extLst>
          </p:cNvPr>
          <p:cNvSpPr/>
          <p:nvPr/>
        </p:nvSpPr>
        <p:spPr>
          <a:xfrm>
            <a:off x="1993635" y="2704549"/>
            <a:ext cx="2798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2E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購入・利用完了後の自動フォローアップ配信</a:t>
            </a:r>
            <a:endParaRPr lang="en-US" sz="10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69" name="Text 22">
            <a:extLst>
              <a:ext uri="{FF2B5EF4-FFF2-40B4-BE49-F238E27FC236}">
                <a16:creationId xmlns:a16="http://schemas.microsoft.com/office/drawing/2014/main" id="{C1ECFC15-9129-ED3B-D3EF-84A237B9E067}"/>
              </a:ext>
            </a:extLst>
          </p:cNvPr>
          <p:cNvSpPr/>
          <p:nvPr/>
        </p:nvSpPr>
        <p:spPr>
          <a:xfrm>
            <a:off x="731763" y="3033733"/>
            <a:ext cx="4059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600" dirty="0">
                <a:solidFill>
                  <a:srgbClr val="5A5A72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サービス利用後30日・3ヶ月・6ヶ月のタイミングで自動配信。「その後いかがですか？」「定期メンテナンスのご案内」など適切なタイミングで次回利用を自然に促す。</a:t>
            </a:r>
            <a:endParaRPr lang="en-US" sz="6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71" name="Shape 23">
            <a:extLst>
              <a:ext uri="{FF2B5EF4-FFF2-40B4-BE49-F238E27FC236}">
                <a16:creationId xmlns:a16="http://schemas.microsoft.com/office/drawing/2014/main" id="{02AAD0EA-81DD-0BAE-0FBC-DF75C0098CFF}"/>
              </a:ext>
            </a:extLst>
          </p:cNvPr>
          <p:cNvSpPr/>
          <p:nvPr/>
        </p:nvSpPr>
        <p:spPr>
          <a:xfrm>
            <a:off x="713475" y="3381205"/>
            <a:ext cx="1274064" cy="329184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 w="1270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15000"/>
              </a:lnSpc>
            </a:pPr>
            <a:r>
              <a:rPr lang="en-US" altLang="ja-JP" sz="700" b="1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購入完了</a:t>
            </a:r>
            <a:endParaRPr lang="en-US" altLang="ja-JP" sz="7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75" name="Shape 25">
            <a:extLst>
              <a:ext uri="{FF2B5EF4-FFF2-40B4-BE49-F238E27FC236}">
                <a16:creationId xmlns:a16="http://schemas.microsoft.com/office/drawing/2014/main" id="{597E6017-68DF-6125-D04E-EBE42E4AC1C8}"/>
              </a:ext>
            </a:extLst>
          </p:cNvPr>
          <p:cNvSpPr/>
          <p:nvPr/>
        </p:nvSpPr>
        <p:spPr>
          <a:xfrm>
            <a:off x="1987539" y="3472645"/>
            <a:ext cx="91440" cy="146304"/>
          </a:xfrm>
          <a:prstGeom prst="roundRect">
            <a:avLst>
              <a:gd name="adj" fmla="val 40000"/>
            </a:avLst>
          </a:prstGeom>
          <a:solidFill>
            <a:srgbClr val="D8D8E2"/>
          </a:solidFill>
          <a:ln w="12700">
            <a:solidFill>
              <a:srgbClr val="D8D8E2"/>
            </a:solidFill>
            <a:prstDash val="solid"/>
          </a:ln>
        </p:spPr>
        <p:txBody>
          <a:bodyPr/>
          <a:lstStyle/>
          <a:p>
            <a:endParaRPr lang="ja-JP" altLang="en-US" sz="12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77" name="Text 26">
            <a:extLst>
              <a:ext uri="{FF2B5EF4-FFF2-40B4-BE49-F238E27FC236}">
                <a16:creationId xmlns:a16="http://schemas.microsoft.com/office/drawing/2014/main" id="{A0AA9CE1-6CB6-6DB8-F485-AA5FC31BD9AB}"/>
              </a:ext>
            </a:extLst>
          </p:cNvPr>
          <p:cNvSpPr/>
          <p:nvPr/>
        </p:nvSpPr>
        <p:spPr>
          <a:xfrm>
            <a:off x="1987539" y="3472645"/>
            <a:ext cx="91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" dirty="0">
                <a:solidFill>
                  <a:srgbClr val="5A5A72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▶</a:t>
            </a:r>
            <a:endParaRPr lang="en-US" sz="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79" name="Shape 27">
            <a:extLst>
              <a:ext uri="{FF2B5EF4-FFF2-40B4-BE49-F238E27FC236}">
                <a16:creationId xmlns:a16="http://schemas.microsoft.com/office/drawing/2014/main" id="{0033C6EE-6DB2-CF55-B4C7-D25DA14E4D93}"/>
              </a:ext>
            </a:extLst>
          </p:cNvPr>
          <p:cNvSpPr/>
          <p:nvPr/>
        </p:nvSpPr>
        <p:spPr>
          <a:xfrm>
            <a:off x="2078979" y="3381205"/>
            <a:ext cx="1274064" cy="329184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 w="12700">
            <a:noFill/>
            <a:prstDash val="solid"/>
          </a:ln>
        </p:spPr>
        <p:txBody>
          <a:bodyPr/>
          <a:lstStyle/>
          <a:p>
            <a:endParaRPr lang="ja-JP" altLang="en-US" sz="7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81" name="Text 28">
            <a:extLst>
              <a:ext uri="{FF2B5EF4-FFF2-40B4-BE49-F238E27FC236}">
                <a16:creationId xmlns:a16="http://schemas.microsoft.com/office/drawing/2014/main" id="{7A443300-A185-ED88-10AA-DFD63178035A}"/>
              </a:ext>
            </a:extLst>
          </p:cNvPr>
          <p:cNvSpPr/>
          <p:nvPr/>
        </p:nvSpPr>
        <p:spPr>
          <a:xfrm>
            <a:off x="2078979" y="3381205"/>
            <a:ext cx="127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30日/3ヶ月/6ヶ月</a:t>
            </a:r>
            <a:endParaRPr lang="en-US" sz="7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83" name="Shape 29">
            <a:extLst>
              <a:ext uri="{FF2B5EF4-FFF2-40B4-BE49-F238E27FC236}">
                <a16:creationId xmlns:a16="http://schemas.microsoft.com/office/drawing/2014/main" id="{A8CDF565-4E56-34DE-F4B7-83C324AB1111}"/>
              </a:ext>
            </a:extLst>
          </p:cNvPr>
          <p:cNvSpPr/>
          <p:nvPr/>
        </p:nvSpPr>
        <p:spPr>
          <a:xfrm>
            <a:off x="3353043" y="3472645"/>
            <a:ext cx="91440" cy="146304"/>
          </a:xfrm>
          <a:prstGeom prst="roundRect">
            <a:avLst>
              <a:gd name="adj" fmla="val 40000"/>
            </a:avLst>
          </a:prstGeom>
          <a:solidFill>
            <a:srgbClr val="D8D8E2"/>
          </a:solidFill>
          <a:ln w="12700">
            <a:solidFill>
              <a:srgbClr val="D8D8E2"/>
            </a:solidFill>
            <a:prstDash val="solid"/>
          </a:ln>
        </p:spPr>
        <p:txBody>
          <a:bodyPr/>
          <a:lstStyle/>
          <a:p>
            <a:endParaRPr lang="ja-JP" altLang="en-US" sz="12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85" name="Text 30">
            <a:extLst>
              <a:ext uri="{FF2B5EF4-FFF2-40B4-BE49-F238E27FC236}">
                <a16:creationId xmlns:a16="http://schemas.microsoft.com/office/drawing/2014/main" id="{C7552AF9-D505-7C0D-70BF-ACE641907EEA}"/>
              </a:ext>
            </a:extLst>
          </p:cNvPr>
          <p:cNvSpPr/>
          <p:nvPr/>
        </p:nvSpPr>
        <p:spPr>
          <a:xfrm>
            <a:off x="3353043" y="3472645"/>
            <a:ext cx="91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" dirty="0">
                <a:solidFill>
                  <a:srgbClr val="5A5A72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▶</a:t>
            </a:r>
            <a:endParaRPr lang="en-US" sz="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87" name="Shape 31">
            <a:extLst>
              <a:ext uri="{FF2B5EF4-FFF2-40B4-BE49-F238E27FC236}">
                <a16:creationId xmlns:a16="http://schemas.microsoft.com/office/drawing/2014/main" id="{41993352-6267-4FE7-B0F8-37A18FC55C5D}"/>
              </a:ext>
            </a:extLst>
          </p:cNvPr>
          <p:cNvSpPr/>
          <p:nvPr/>
        </p:nvSpPr>
        <p:spPr>
          <a:xfrm>
            <a:off x="3444483" y="3381205"/>
            <a:ext cx="1274064" cy="329184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 w="12700">
            <a:noFill/>
            <a:prstDash val="solid"/>
          </a:ln>
        </p:spPr>
        <p:txBody>
          <a:bodyPr/>
          <a:lstStyle/>
          <a:p>
            <a:endParaRPr lang="ja-JP" altLang="en-US" sz="7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89" name="Text 32">
            <a:extLst>
              <a:ext uri="{FF2B5EF4-FFF2-40B4-BE49-F238E27FC236}">
                <a16:creationId xmlns:a16="http://schemas.microsoft.com/office/drawing/2014/main" id="{56896933-7E6D-6A12-EEAF-C1E0A07B9A27}"/>
              </a:ext>
            </a:extLst>
          </p:cNvPr>
          <p:cNvSpPr/>
          <p:nvPr/>
        </p:nvSpPr>
        <p:spPr>
          <a:xfrm>
            <a:off x="3444483" y="3381205"/>
            <a:ext cx="127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自動リマインド</a:t>
            </a:r>
            <a:endParaRPr lang="en-US" sz="7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91" name="Shape 33">
            <a:extLst>
              <a:ext uri="{FF2B5EF4-FFF2-40B4-BE49-F238E27FC236}">
                <a16:creationId xmlns:a16="http://schemas.microsoft.com/office/drawing/2014/main" id="{F55E1F0E-CE1E-4788-56E8-EEC6BC428B40}"/>
              </a:ext>
            </a:extLst>
          </p:cNvPr>
          <p:cNvSpPr/>
          <p:nvPr/>
        </p:nvSpPr>
        <p:spPr>
          <a:xfrm>
            <a:off x="622035" y="3875743"/>
            <a:ext cx="4279392" cy="1170432"/>
          </a:xfrm>
          <a:prstGeom prst="roundRect">
            <a:avLst>
              <a:gd name="adj" fmla="val 7031"/>
            </a:avLst>
          </a:prstGeom>
          <a:solidFill>
            <a:srgbClr val="EEEFF4"/>
          </a:solidFill>
          <a:ln w="12700">
            <a:solidFill>
              <a:srgbClr val="D8D8E2"/>
            </a:solidFill>
            <a:prstDash val="solid"/>
          </a:ln>
          <a:effectLst>
            <a:outerShdw blurRad="50800" dist="12700" dir="8100000" algn="bl" rotWithShape="0">
              <a:srgbClr val="C8C8D8">
                <a:alpha val="10000"/>
              </a:srgbClr>
            </a:outerShdw>
          </a:effectLst>
        </p:spPr>
        <p:txBody>
          <a:bodyPr/>
          <a:lstStyle/>
          <a:p>
            <a:endParaRPr lang="ja-JP" altLang="en-US" sz="12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95" name="Shape 35">
            <a:extLst>
              <a:ext uri="{FF2B5EF4-FFF2-40B4-BE49-F238E27FC236}">
                <a16:creationId xmlns:a16="http://schemas.microsoft.com/office/drawing/2014/main" id="{A12EE24B-120D-6CFC-50B3-086F27872223}"/>
              </a:ext>
            </a:extLst>
          </p:cNvPr>
          <p:cNvSpPr/>
          <p:nvPr/>
        </p:nvSpPr>
        <p:spPr>
          <a:xfrm>
            <a:off x="731763" y="3967183"/>
            <a:ext cx="274320" cy="274320"/>
          </a:xfrm>
          <a:prstGeom prst="ellipse">
            <a:avLst/>
          </a:prstGeom>
          <a:solidFill>
            <a:schemeClr val="tx1"/>
          </a:solidFill>
          <a:ln w="12700">
            <a:noFill/>
            <a:prstDash val="solid"/>
          </a:ln>
        </p:spPr>
        <p:txBody>
          <a:bodyPr/>
          <a:lstStyle/>
          <a:p>
            <a:endParaRPr lang="ja-JP" altLang="en-US" sz="12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97" name="Text 36">
            <a:extLst>
              <a:ext uri="{FF2B5EF4-FFF2-40B4-BE49-F238E27FC236}">
                <a16:creationId xmlns:a16="http://schemas.microsoft.com/office/drawing/2014/main" id="{751A7A54-3F2B-726E-0209-EC76E1460C60}"/>
              </a:ext>
            </a:extLst>
          </p:cNvPr>
          <p:cNvSpPr/>
          <p:nvPr/>
        </p:nvSpPr>
        <p:spPr>
          <a:xfrm>
            <a:off x="731763" y="396718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2</a:t>
            </a:r>
            <a:endParaRPr lang="en-US" sz="9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99" name="Shape 37">
            <a:extLst>
              <a:ext uri="{FF2B5EF4-FFF2-40B4-BE49-F238E27FC236}">
                <a16:creationId xmlns:a16="http://schemas.microsoft.com/office/drawing/2014/main" id="{8370F2F6-B57B-6CE2-C1D8-99B62C8BD5CA}"/>
              </a:ext>
            </a:extLst>
          </p:cNvPr>
          <p:cNvSpPr/>
          <p:nvPr/>
        </p:nvSpPr>
        <p:spPr>
          <a:xfrm>
            <a:off x="1079235" y="3994615"/>
            <a:ext cx="859536" cy="201168"/>
          </a:xfrm>
          <a:prstGeom prst="roundRect">
            <a:avLst>
              <a:gd name="adj" fmla="val 18182"/>
            </a:avLst>
          </a:prstGeom>
          <a:solidFill>
            <a:schemeClr val="tx2"/>
          </a:solidFill>
          <a:ln w="12700">
            <a:solidFill>
              <a:srgbClr val="D8D8E2"/>
            </a:solidFill>
            <a:prstDash val="solid"/>
          </a:ln>
        </p:spPr>
        <p:txBody>
          <a:bodyPr/>
          <a:lstStyle/>
          <a:p>
            <a:endParaRPr lang="ja-JP" altLang="en-US" sz="700">
              <a:solidFill>
                <a:srgbClr val="FDFDFD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01" name="Text 38">
            <a:extLst>
              <a:ext uri="{FF2B5EF4-FFF2-40B4-BE49-F238E27FC236}">
                <a16:creationId xmlns:a16="http://schemas.microsoft.com/office/drawing/2014/main" id="{38E18943-F8B5-9629-4062-419A919A3557}"/>
              </a:ext>
            </a:extLst>
          </p:cNvPr>
          <p:cNvSpPr/>
          <p:nvPr/>
        </p:nvSpPr>
        <p:spPr>
          <a:xfrm>
            <a:off x="1079235" y="3994615"/>
            <a:ext cx="859536" cy="201168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DFDFD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記念日配信</a:t>
            </a:r>
            <a:endParaRPr lang="en-US" sz="700" dirty="0">
              <a:solidFill>
                <a:srgbClr val="FDFDFD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03" name="Text 39">
            <a:extLst>
              <a:ext uri="{FF2B5EF4-FFF2-40B4-BE49-F238E27FC236}">
                <a16:creationId xmlns:a16="http://schemas.microsoft.com/office/drawing/2014/main" id="{3E303003-51EC-7FC3-DE76-F0E6D2EAB3EE}"/>
              </a:ext>
            </a:extLst>
          </p:cNvPr>
          <p:cNvSpPr/>
          <p:nvPr/>
        </p:nvSpPr>
        <p:spPr>
          <a:xfrm>
            <a:off x="1993635" y="3967183"/>
            <a:ext cx="2798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2E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誕生日・契約記念日に特別オファーを自動配信</a:t>
            </a:r>
            <a:endParaRPr lang="en-US" sz="10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05" name="Text 40">
            <a:extLst>
              <a:ext uri="{FF2B5EF4-FFF2-40B4-BE49-F238E27FC236}">
                <a16:creationId xmlns:a16="http://schemas.microsoft.com/office/drawing/2014/main" id="{30181338-1CDB-632A-4D21-1980958DAE90}"/>
              </a:ext>
            </a:extLst>
          </p:cNvPr>
          <p:cNvSpPr/>
          <p:nvPr/>
        </p:nvSpPr>
        <p:spPr>
          <a:xfrm>
            <a:off x="731763" y="4296367"/>
            <a:ext cx="4059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600" dirty="0">
                <a:solidFill>
                  <a:srgbClr val="5A5A72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誕生日や初回購入日を記念日として登録し、該当日に特別クーポン・優待を自動配信。「あなただけへの特別オファー」感が再購入率を高める。</a:t>
            </a:r>
            <a:endParaRPr lang="en-US" sz="6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07" name="Shape 41">
            <a:extLst>
              <a:ext uri="{FF2B5EF4-FFF2-40B4-BE49-F238E27FC236}">
                <a16:creationId xmlns:a16="http://schemas.microsoft.com/office/drawing/2014/main" id="{9C3ADD4D-62FF-6E75-0C94-EBA797742E61}"/>
              </a:ext>
            </a:extLst>
          </p:cNvPr>
          <p:cNvSpPr/>
          <p:nvPr/>
        </p:nvSpPr>
        <p:spPr>
          <a:xfrm>
            <a:off x="713475" y="4643839"/>
            <a:ext cx="1274064" cy="329184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 w="12700">
            <a:noFill/>
            <a:prstDash val="solid"/>
          </a:ln>
        </p:spPr>
        <p:txBody>
          <a:bodyPr/>
          <a:lstStyle/>
          <a:p>
            <a:endParaRPr lang="ja-JP" altLang="en-US" sz="7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09" name="Text 42">
            <a:extLst>
              <a:ext uri="{FF2B5EF4-FFF2-40B4-BE49-F238E27FC236}">
                <a16:creationId xmlns:a16="http://schemas.microsoft.com/office/drawing/2014/main" id="{A3F87B85-6E13-9A64-8ED1-AC226457C436}"/>
              </a:ext>
            </a:extLst>
          </p:cNvPr>
          <p:cNvSpPr/>
          <p:nvPr/>
        </p:nvSpPr>
        <p:spPr>
          <a:xfrm>
            <a:off x="713475" y="4643839"/>
            <a:ext cx="127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記念日タグ設定</a:t>
            </a:r>
            <a:endParaRPr lang="en-US" sz="7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11" name="Shape 43">
            <a:extLst>
              <a:ext uri="{FF2B5EF4-FFF2-40B4-BE49-F238E27FC236}">
                <a16:creationId xmlns:a16="http://schemas.microsoft.com/office/drawing/2014/main" id="{0A895F50-3F88-98A2-89D0-3ACC9E308C89}"/>
              </a:ext>
            </a:extLst>
          </p:cNvPr>
          <p:cNvSpPr/>
          <p:nvPr/>
        </p:nvSpPr>
        <p:spPr>
          <a:xfrm>
            <a:off x="1987539" y="4735279"/>
            <a:ext cx="91440" cy="146304"/>
          </a:xfrm>
          <a:prstGeom prst="roundRect">
            <a:avLst>
              <a:gd name="adj" fmla="val 40000"/>
            </a:avLst>
          </a:prstGeom>
          <a:solidFill>
            <a:srgbClr val="D8D8E2"/>
          </a:solidFill>
          <a:ln w="12700">
            <a:solidFill>
              <a:srgbClr val="D8D8E2"/>
            </a:solidFill>
            <a:prstDash val="solid"/>
          </a:ln>
        </p:spPr>
        <p:txBody>
          <a:bodyPr/>
          <a:lstStyle/>
          <a:p>
            <a:endParaRPr lang="ja-JP" altLang="en-US" sz="12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13" name="Text 44">
            <a:extLst>
              <a:ext uri="{FF2B5EF4-FFF2-40B4-BE49-F238E27FC236}">
                <a16:creationId xmlns:a16="http://schemas.microsoft.com/office/drawing/2014/main" id="{84141BF0-6600-94F4-8298-8914165AE119}"/>
              </a:ext>
            </a:extLst>
          </p:cNvPr>
          <p:cNvSpPr/>
          <p:nvPr/>
        </p:nvSpPr>
        <p:spPr>
          <a:xfrm>
            <a:off x="1987539" y="4735279"/>
            <a:ext cx="91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" dirty="0">
                <a:solidFill>
                  <a:srgbClr val="5A5A72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▶</a:t>
            </a:r>
            <a:endParaRPr lang="en-US" sz="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15" name="Shape 45">
            <a:extLst>
              <a:ext uri="{FF2B5EF4-FFF2-40B4-BE49-F238E27FC236}">
                <a16:creationId xmlns:a16="http://schemas.microsoft.com/office/drawing/2014/main" id="{D6D24DD8-6D7D-257C-F532-6ED722A69206}"/>
              </a:ext>
            </a:extLst>
          </p:cNvPr>
          <p:cNvSpPr/>
          <p:nvPr/>
        </p:nvSpPr>
        <p:spPr>
          <a:xfrm>
            <a:off x="2078979" y="4643839"/>
            <a:ext cx="1274064" cy="329184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 w="12700">
            <a:noFill/>
            <a:prstDash val="solid"/>
          </a:ln>
        </p:spPr>
        <p:txBody>
          <a:bodyPr/>
          <a:lstStyle/>
          <a:p>
            <a:endParaRPr lang="ja-JP" altLang="en-US" sz="7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17" name="Text 46">
            <a:extLst>
              <a:ext uri="{FF2B5EF4-FFF2-40B4-BE49-F238E27FC236}">
                <a16:creationId xmlns:a16="http://schemas.microsoft.com/office/drawing/2014/main" id="{7BD3B483-4A49-A931-5EB8-12119ED715C2}"/>
              </a:ext>
            </a:extLst>
          </p:cNvPr>
          <p:cNvSpPr/>
          <p:nvPr/>
        </p:nvSpPr>
        <p:spPr>
          <a:xfrm>
            <a:off x="2078979" y="4643839"/>
            <a:ext cx="127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特別オファー配信</a:t>
            </a:r>
            <a:endParaRPr lang="en-US" sz="7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19" name="Shape 47">
            <a:extLst>
              <a:ext uri="{FF2B5EF4-FFF2-40B4-BE49-F238E27FC236}">
                <a16:creationId xmlns:a16="http://schemas.microsoft.com/office/drawing/2014/main" id="{1A3ED534-DB25-D7E2-0DDC-342462B34810}"/>
              </a:ext>
            </a:extLst>
          </p:cNvPr>
          <p:cNvSpPr/>
          <p:nvPr/>
        </p:nvSpPr>
        <p:spPr>
          <a:xfrm>
            <a:off x="3353043" y="4735279"/>
            <a:ext cx="91440" cy="146304"/>
          </a:xfrm>
          <a:prstGeom prst="roundRect">
            <a:avLst>
              <a:gd name="adj" fmla="val 40000"/>
            </a:avLst>
          </a:prstGeom>
          <a:solidFill>
            <a:srgbClr val="D8D8E2"/>
          </a:solidFill>
          <a:ln w="12700">
            <a:solidFill>
              <a:srgbClr val="D8D8E2"/>
            </a:solidFill>
            <a:prstDash val="solid"/>
          </a:ln>
        </p:spPr>
        <p:txBody>
          <a:bodyPr/>
          <a:lstStyle/>
          <a:p>
            <a:endParaRPr lang="ja-JP" altLang="en-US" sz="12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21" name="Text 48">
            <a:extLst>
              <a:ext uri="{FF2B5EF4-FFF2-40B4-BE49-F238E27FC236}">
                <a16:creationId xmlns:a16="http://schemas.microsoft.com/office/drawing/2014/main" id="{0A78ED48-FFFC-A962-F364-19738CBAA8ED}"/>
              </a:ext>
            </a:extLst>
          </p:cNvPr>
          <p:cNvSpPr/>
          <p:nvPr/>
        </p:nvSpPr>
        <p:spPr>
          <a:xfrm>
            <a:off x="3353043" y="4735279"/>
            <a:ext cx="91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" dirty="0">
                <a:solidFill>
                  <a:srgbClr val="5A5A72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▶</a:t>
            </a:r>
            <a:endParaRPr lang="en-US" sz="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23" name="Shape 49">
            <a:extLst>
              <a:ext uri="{FF2B5EF4-FFF2-40B4-BE49-F238E27FC236}">
                <a16:creationId xmlns:a16="http://schemas.microsoft.com/office/drawing/2014/main" id="{A71799E1-6D37-9019-F683-E28EDFCD59C9}"/>
              </a:ext>
            </a:extLst>
          </p:cNvPr>
          <p:cNvSpPr/>
          <p:nvPr/>
        </p:nvSpPr>
        <p:spPr>
          <a:xfrm>
            <a:off x="3444483" y="4643839"/>
            <a:ext cx="1274064" cy="329184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 w="12700">
            <a:noFill/>
            <a:prstDash val="solid"/>
          </a:ln>
        </p:spPr>
        <p:txBody>
          <a:bodyPr/>
          <a:lstStyle/>
          <a:p>
            <a:endParaRPr lang="ja-JP" altLang="en-US" sz="7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25" name="Text 50">
            <a:extLst>
              <a:ext uri="{FF2B5EF4-FFF2-40B4-BE49-F238E27FC236}">
                <a16:creationId xmlns:a16="http://schemas.microsoft.com/office/drawing/2014/main" id="{95527DCC-1F43-8A3D-2A58-DC34D3444C39}"/>
              </a:ext>
            </a:extLst>
          </p:cNvPr>
          <p:cNvSpPr/>
          <p:nvPr/>
        </p:nvSpPr>
        <p:spPr>
          <a:xfrm>
            <a:off x="3444483" y="4643839"/>
            <a:ext cx="127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再購入CV</a:t>
            </a:r>
            <a:endParaRPr lang="en-US" sz="7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27" name="Shape 51">
            <a:extLst>
              <a:ext uri="{FF2B5EF4-FFF2-40B4-BE49-F238E27FC236}">
                <a16:creationId xmlns:a16="http://schemas.microsoft.com/office/drawing/2014/main" id="{BB7FE265-C435-3F11-D327-2005EB3B7D4C}"/>
              </a:ext>
            </a:extLst>
          </p:cNvPr>
          <p:cNvSpPr/>
          <p:nvPr/>
        </p:nvSpPr>
        <p:spPr>
          <a:xfrm>
            <a:off x="622035" y="5138377"/>
            <a:ext cx="4279392" cy="1170432"/>
          </a:xfrm>
          <a:prstGeom prst="roundRect">
            <a:avLst>
              <a:gd name="adj" fmla="val 7031"/>
            </a:avLst>
          </a:prstGeom>
          <a:solidFill>
            <a:srgbClr val="EEEFF4"/>
          </a:solidFill>
          <a:ln w="12700">
            <a:solidFill>
              <a:srgbClr val="D8D8E2"/>
            </a:solidFill>
            <a:prstDash val="solid"/>
          </a:ln>
          <a:effectLst>
            <a:outerShdw blurRad="50800" dist="12700" dir="8100000" algn="bl" rotWithShape="0">
              <a:srgbClr val="C8C8D8">
                <a:alpha val="10000"/>
              </a:srgbClr>
            </a:outerShdw>
          </a:effectLst>
        </p:spPr>
        <p:txBody>
          <a:bodyPr/>
          <a:lstStyle/>
          <a:p>
            <a:endParaRPr lang="ja-JP" altLang="en-US" sz="12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31" name="Shape 53">
            <a:extLst>
              <a:ext uri="{FF2B5EF4-FFF2-40B4-BE49-F238E27FC236}">
                <a16:creationId xmlns:a16="http://schemas.microsoft.com/office/drawing/2014/main" id="{F32B0A21-54EF-8445-6E6B-BBF9705C30E4}"/>
              </a:ext>
            </a:extLst>
          </p:cNvPr>
          <p:cNvSpPr/>
          <p:nvPr/>
        </p:nvSpPr>
        <p:spPr>
          <a:xfrm>
            <a:off x="731763" y="5229817"/>
            <a:ext cx="274320" cy="274320"/>
          </a:xfrm>
          <a:prstGeom prst="ellipse">
            <a:avLst/>
          </a:prstGeom>
          <a:solidFill>
            <a:schemeClr val="tx1"/>
          </a:solidFill>
          <a:ln w="12700">
            <a:noFill/>
            <a:prstDash val="solid"/>
          </a:ln>
        </p:spPr>
        <p:txBody>
          <a:bodyPr/>
          <a:lstStyle/>
          <a:p>
            <a:endParaRPr lang="ja-JP" altLang="en-US" sz="12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33" name="Text 54">
            <a:extLst>
              <a:ext uri="{FF2B5EF4-FFF2-40B4-BE49-F238E27FC236}">
                <a16:creationId xmlns:a16="http://schemas.microsoft.com/office/drawing/2014/main" id="{4F222B19-A9AA-8B90-A278-F2067EC7FD8D}"/>
              </a:ext>
            </a:extLst>
          </p:cNvPr>
          <p:cNvSpPr/>
          <p:nvPr/>
        </p:nvSpPr>
        <p:spPr>
          <a:xfrm>
            <a:off x="731763" y="522981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3</a:t>
            </a:r>
            <a:endParaRPr lang="en-US" sz="9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35" name="Shape 55">
            <a:extLst>
              <a:ext uri="{FF2B5EF4-FFF2-40B4-BE49-F238E27FC236}">
                <a16:creationId xmlns:a16="http://schemas.microsoft.com/office/drawing/2014/main" id="{ABF7DB2E-403A-46F2-A837-399B3FE97C5E}"/>
              </a:ext>
            </a:extLst>
          </p:cNvPr>
          <p:cNvSpPr/>
          <p:nvPr/>
        </p:nvSpPr>
        <p:spPr>
          <a:xfrm>
            <a:off x="1079235" y="5257249"/>
            <a:ext cx="859536" cy="201168"/>
          </a:xfrm>
          <a:prstGeom prst="roundRect">
            <a:avLst>
              <a:gd name="adj" fmla="val 18182"/>
            </a:avLst>
          </a:prstGeom>
          <a:solidFill>
            <a:schemeClr val="tx2"/>
          </a:solidFill>
          <a:ln w="12700">
            <a:solidFill>
              <a:srgbClr val="D8D8E2"/>
            </a:solidFill>
            <a:prstDash val="solid"/>
          </a:ln>
        </p:spPr>
        <p:txBody>
          <a:bodyPr/>
          <a:lstStyle/>
          <a:p>
            <a:endParaRPr lang="ja-JP" altLang="en-US" sz="700">
              <a:solidFill>
                <a:srgbClr val="FDFDFD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37" name="Text 56">
            <a:extLst>
              <a:ext uri="{FF2B5EF4-FFF2-40B4-BE49-F238E27FC236}">
                <a16:creationId xmlns:a16="http://schemas.microsoft.com/office/drawing/2014/main" id="{8DC1BB15-70BD-88F4-1430-70391985EBFC}"/>
              </a:ext>
            </a:extLst>
          </p:cNvPr>
          <p:cNvSpPr/>
          <p:nvPr/>
        </p:nvSpPr>
        <p:spPr>
          <a:xfrm>
            <a:off x="1079235" y="5257249"/>
            <a:ext cx="859536" cy="201168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DFDFD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紹介キャンペーン</a:t>
            </a:r>
            <a:endParaRPr lang="en-US" sz="700" dirty="0">
              <a:solidFill>
                <a:srgbClr val="FDFDFD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39" name="Text 57">
            <a:extLst>
              <a:ext uri="{FF2B5EF4-FFF2-40B4-BE49-F238E27FC236}">
                <a16:creationId xmlns:a16="http://schemas.microsoft.com/office/drawing/2014/main" id="{863EF515-E441-C008-46FD-E8772A47BE9A}"/>
              </a:ext>
            </a:extLst>
          </p:cNvPr>
          <p:cNvSpPr/>
          <p:nvPr/>
        </p:nvSpPr>
        <p:spPr>
          <a:xfrm>
            <a:off x="1993635" y="5229817"/>
            <a:ext cx="2798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2E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友人紹介制度をLINEで完結させる仕組みを設計</a:t>
            </a:r>
            <a:endParaRPr lang="en-US" sz="10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41" name="Text 58">
            <a:extLst>
              <a:ext uri="{FF2B5EF4-FFF2-40B4-BE49-F238E27FC236}">
                <a16:creationId xmlns:a16="http://schemas.microsoft.com/office/drawing/2014/main" id="{8F06CA0B-814F-E8C0-33FE-0B48BBED0532}"/>
              </a:ext>
            </a:extLst>
          </p:cNvPr>
          <p:cNvSpPr/>
          <p:nvPr/>
        </p:nvSpPr>
        <p:spPr>
          <a:xfrm>
            <a:off x="731763" y="5559001"/>
            <a:ext cx="4059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600" dirty="0">
                <a:solidFill>
                  <a:srgbClr val="5A5A72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「友人を紹介してくれたらXXXをプレゼント」をLINEで告知・管理。満足度が高い時期（利用直後・成果確認後）に訴求することで紹介件数が最大化する。</a:t>
            </a:r>
            <a:endParaRPr lang="en-US" sz="6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43" name="Shape 59">
            <a:extLst>
              <a:ext uri="{FF2B5EF4-FFF2-40B4-BE49-F238E27FC236}">
                <a16:creationId xmlns:a16="http://schemas.microsoft.com/office/drawing/2014/main" id="{F9FC2AD5-120F-E447-D301-5476F135AF0B}"/>
              </a:ext>
            </a:extLst>
          </p:cNvPr>
          <p:cNvSpPr/>
          <p:nvPr/>
        </p:nvSpPr>
        <p:spPr>
          <a:xfrm>
            <a:off x="713475" y="5906473"/>
            <a:ext cx="1274064" cy="329184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 w="12700">
            <a:noFill/>
            <a:prstDash val="solid"/>
          </a:ln>
        </p:spPr>
        <p:txBody>
          <a:bodyPr/>
          <a:lstStyle/>
          <a:p>
            <a:endParaRPr lang="ja-JP" altLang="en-US" sz="7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45" name="Text 60">
            <a:extLst>
              <a:ext uri="{FF2B5EF4-FFF2-40B4-BE49-F238E27FC236}">
                <a16:creationId xmlns:a16="http://schemas.microsoft.com/office/drawing/2014/main" id="{FB0832F3-E1A0-CA4E-156B-CE6E264BF982}"/>
              </a:ext>
            </a:extLst>
          </p:cNvPr>
          <p:cNvSpPr/>
          <p:nvPr/>
        </p:nvSpPr>
        <p:spPr>
          <a:xfrm>
            <a:off x="713475" y="5906473"/>
            <a:ext cx="127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利用後3ヶ月</a:t>
            </a:r>
            <a:endParaRPr lang="en-US" sz="7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47" name="Shape 61">
            <a:extLst>
              <a:ext uri="{FF2B5EF4-FFF2-40B4-BE49-F238E27FC236}">
                <a16:creationId xmlns:a16="http://schemas.microsoft.com/office/drawing/2014/main" id="{E24615D6-1A79-B0F4-BB14-14E2183880AC}"/>
              </a:ext>
            </a:extLst>
          </p:cNvPr>
          <p:cNvSpPr/>
          <p:nvPr/>
        </p:nvSpPr>
        <p:spPr>
          <a:xfrm>
            <a:off x="1987539" y="5997913"/>
            <a:ext cx="91440" cy="146304"/>
          </a:xfrm>
          <a:prstGeom prst="roundRect">
            <a:avLst>
              <a:gd name="adj" fmla="val 40000"/>
            </a:avLst>
          </a:prstGeom>
          <a:solidFill>
            <a:srgbClr val="D8D8E2"/>
          </a:solidFill>
          <a:ln w="12700">
            <a:solidFill>
              <a:srgbClr val="D8D8E2"/>
            </a:solidFill>
            <a:prstDash val="solid"/>
          </a:ln>
        </p:spPr>
        <p:txBody>
          <a:bodyPr/>
          <a:lstStyle/>
          <a:p>
            <a:endParaRPr lang="ja-JP" altLang="en-US" sz="12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49" name="Text 62">
            <a:extLst>
              <a:ext uri="{FF2B5EF4-FFF2-40B4-BE49-F238E27FC236}">
                <a16:creationId xmlns:a16="http://schemas.microsoft.com/office/drawing/2014/main" id="{64603FC2-C317-4C97-5288-F270620ED7B9}"/>
              </a:ext>
            </a:extLst>
          </p:cNvPr>
          <p:cNvSpPr/>
          <p:nvPr/>
        </p:nvSpPr>
        <p:spPr>
          <a:xfrm>
            <a:off x="1987539" y="5997913"/>
            <a:ext cx="91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" dirty="0">
                <a:solidFill>
                  <a:srgbClr val="5A5A72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▶</a:t>
            </a:r>
            <a:endParaRPr lang="en-US" sz="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51" name="Shape 63">
            <a:extLst>
              <a:ext uri="{FF2B5EF4-FFF2-40B4-BE49-F238E27FC236}">
                <a16:creationId xmlns:a16="http://schemas.microsoft.com/office/drawing/2014/main" id="{C477B16C-33E8-F120-9A1F-AFC395AE6E3D}"/>
              </a:ext>
            </a:extLst>
          </p:cNvPr>
          <p:cNvSpPr/>
          <p:nvPr/>
        </p:nvSpPr>
        <p:spPr>
          <a:xfrm>
            <a:off x="2078979" y="5906473"/>
            <a:ext cx="1274064" cy="329184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 w="12700">
            <a:noFill/>
            <a:prstDash val="solid"/>
          </a:ln>
        </p:spPr>
        <p:txBody>
          <a:bodyPr/>
          <a:lstStyle/>
          <a:p>
            <a:endParaRPr lang="ja-JP" altLang="en-US" sz="12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53" name="Text 64">
            <a:extLst>
              <a:ext uri="{FF2B5EF4-FFF2-40B4-BE49-F238E27FC236}">
                <a16:creationId xmlns:a16="http://schemas.microsoft.com/office/drawing/2014/main" id="{2A73DA5C-F06B-A590-9987-5306E6C59DCE}"/>
              </a:ext>
            </a:extLst>
          </p:cNvPr>
          <p:cNvSpPr/>
          <p:nvPr/>
        </p:nvSpPr>
        <p:spPr>
          <a:xfrm>
            <a:off x="2078979" y="5906473"/>
            <a:ext cx="127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紹介特典訴求</a:t>
            </a:r>
            <a:endParaRPr lang="en-US" sz="7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55" name="Shape 65">
            <a:extLst>
              <a:ext uri="{FF2B5EF4-FFF2-40B4-BE49-F238E27FC236}">
                <a16:creationId xmlns:a16="http://schemas.microsoft.com/office/drawing/2014/main" id="{4B5406BB-D5C2-0D61-B213-493260EC338A}"/>
              </a:ext>
            </a:extLst>
          </p:cNvPr>
          <p:cNvSpPr/>
          <p:nvPr/>
        </p:nvSpPr>
        <p:spPr>
          <a:xfrm>
            <a:off x="3353043" y="5997913"/>
            <a:ext cx="91440" cy="146304"/>
          </a:xfrm>
          <a:prstGeom prst="roundRect">
            <a:avLst>
              <a:gd name="adj" fmla="val 40000"/>
            </a:avLst>
          </a:prstGeom>
          <a:solidFill>
            <a:srgbClr val="D8D8E2"/>
          </a:solidFill>
          <a:ln w="12700">
            <a:solidFill>
              <a:srgbClr val="D8D8E2"/>
            </a:solidFill>
            <a:prstDash val="solid"/>
          </a:ln>
        </p:spPr>
        <p:txBody>
          <a:bodyPr/>
          <a:lstStyle/>
          <a:p>
            <a:endParaRPr lang="ja-JP" altLang="en-US" sz="12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57" name="Text 66">
            <a:extLst>
              <a:ext uri="{FF2B5EF4-FFF2-40B4-BE49-F238E27FC236}">
                <a16:creationId xmlns:a16="http://schemas.microsoft.com/office/drawing/2014/main" id="{E443F4FD-BC95-5CA8-315B-21521441E367}"/>
              </a:ext>
            </a:extLst>
          </p:cNvPr>
          <p:cNvSpPr/>
          <p:nvPr/>
        </p:nvSpPr>
        <p:spPr>
          <a:xfrm>
            <a:off x="3353043" y="5997913"/>
            <a:ext cx="91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" dirty="0">
                <a:solidFill>
                  <a:srgbClr val="5A5A72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▶</a:t>
            </a:r>
            <a:endParaRPr lang="en-US" sz="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59" name="Shape 67">
            <a:extLst>
              <a:ext uri="{FF2B5EF4-FFF2-40B4-BE49-F238E27FC236}">
                <a16:creationId xmlns:a16="http://schemas.microsoft.com/office/drawing/2014/main" id="{DA4B236A-3702-649B-9446-3AB64493F09A}"/>
              </a:ext>
            </a:extLst>
          </p:cNvPr>
          <p:cNvSpPr/>
          <p:nvPr/>
        </p:nvSpPr>
        <p:spPr>
          <a:xfrm>
            <a:off x="3444483" y="5906473"/>
            <a:ext cx="1274064" cy="329184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 w="1270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15000"/>
              </a:lnSpc>
            </a:pPr>
            <a:r>
              <a:rPr lang="en-US" altLang="ja-JP" sz="700" b="1" dirty="0" err="1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紹介→新規CV</a:t>
            </a:r>
            <a:endParaRPr lang="en-US" altLang="ja-JP" sz="7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63" name="Shape 69">
            <a:extLst>
              <a:ext uri="{FF2B5EF4-FFF2-40B4-BE49-F238E27FC236}">
                <a16:creationId xmlns:a16="http://schemas.microsoft.com/office/drawing/2014/main" id="{11D208CF-F0AA-77FB-68F5-7FA3663557BE}"/>
              </a:ext>
            </a:extLst>
          </p:cNvPr>
          <p:cNvSpPr/>
          <p:nvPr/>
        </p:nvSpPr>
        <p:spPr>
          <a:xfrm>
            <a:off x="5066019" y="2613109"/>
            <a:ext cx="4279392" cy="1170432"/>
          </a:xfrm>
          <a:prstGeom prst="roundRect">
            <a:avLst>
              <a:gd name="adj" fmla="val 7031"/>
            </a:avLst>
          </a:prstGeom>
          <a:solidFill>
            <a:srgbClr val="EEEFF4"/>
          </a:solidFill>
          <a:ln w="12700">
            <a:solidFill>
              <a:srgbClr val="D8D8E2"/>
            </a:solidFill>
            <a:prstDash val="solid"/>
          </a:ln>
          <a:effectLst>
            <a:outerShdw blurRad="50800" dist="12700" dir="8100000" algn="bl" rotWithShape="0">
              <a:srgbClr val="C8C8D8">
                <a:alpha val="10000"/>
              </a:srgbClr>
            </a:outerShdw>
          </a:effectLst>
        </p:spPr>
        <p:txBody>
          <a:bodyPr/>
          <a:lstStyle/>
          <a:p>
            <a:endParaRPr lang="ja-JP" altLang="en-US" sz="12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67" name="Shape 71">
            <a:extLst>
              <a:ext uri="{FF2B5EF4-FFF2-40B4-BE49-F238E27FC236}">
                <a16:creationId xmlns:a16="http://schemas.microsoft.com/office/drawing/2014/main" id="{BA65DAD3-3E2D-0363-0ABA-819311B17A9B}"/>
              </a:ext>
            </a:extLst>
          </p:cNvPr>
          <p:cNvSpPr/>
          <p:nvPr/>
        </p:nvSpPr>
        <p:spPr>
          <a:xfrm>
            <a:off x="5175747" y="2704549"/>
            <a:ext cx="274320" cy="274320"/>
          </a:xfrm>
          <a:prstGeom prst="ellipse">
            <a:avLst/>
          </a:prstGeom>
          <a:solidFill>
            <a:schemeClr val="tx1"/>
          </a:solidFill>
          <a:ln w="12700">
            <a:noFill/>
            <a:prstDash val="solid"/>
          </a:ln>
        </p:spPr>
        <p:txBody>
          <a:bodyPr/>
          <a:lstStyle/>
          <a:p>
            <a:endParaRPr lang="ja-JP" altLang="en-US" sz="12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69" name="Text 72">
            <a:extLst>
              <a:ext uri="{FF2B5EF4-FFF2-40B4-BE49-F238E27FC236}">
                <a16:creationId xmlns:a16="http://schemas.microsoft.com/office/drawing/2014/main" id="{772DDEC2-C488-7293-86EB-F96BAAD7EA90}"/>
              </a:ext>
            </a:extLst>
          </p:cNvPr>
          <p:cNvSpPr/>
          <p:nvPr/>
        </p:nvSpPr>
        <p:spPr>
          <a:xfrm>
            <a:off x="5175747" y="270454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1</a:t>
            </a:r>
            <a:endParaRPr lang="en-US" sz="9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71" name="Shape 73">
            <a:extLst>
              <a:ext uri="{FF2B5EF4-FFF2-40B4-BE49-F238E27FC236}">
                <a16:creationId xmlns:a16="http://schemas.microsoft.com/office/drawing/2014/main" id="{595BE68E-4F81-E693-447A-8BD486204CD6}"/>
              </a:ext>
            </a:extLst>
          </p:cNvPr>
          <p:cNvSpPr/>
          <p:nvPr/>
        </p:nvSpPr>
        <p:spPr>
          <a:xfrm>
            <a:off x="5523219" y="2731981"/>
            <a:ext cx="859536" cy="201168"/>
          </a:xfrm>
          <a:prstGeom prst="roundRect">
            <a:avLst>
              <a:gd name="adj" fmla="val 18182"/>
            </a:avLst>
          </a:prstGeom>
          <a:solidFill>
            <a:schemeClr val="tx2"/>
          </a:solidFill>
          <a:ln w="12700">
            <a:solidFill>
              <a:srgbClr val="D8D8E2"/>
            </a:solidFill>
            <a:prstDash val="solid"/>
          </a:ln>
        </p:spPr>
        <p:txBody>
          <a:bodyPr/>
          <a:lstStyle/>
          <a:p>
            <a:endParaRPr lang="ja-JP" altLang="en-US" sz="700">
              <a:solidFill>
                <a:srgbClr val="FDFDFD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73" name="Text 74">
            <a:extLst>
              <a:ext uri="{FF2B5EF4-FFF2-40B4-BE49-F238E27FC236}">
                <a16:creationId xmlns:a16="http://schemas.microsoft.com/office/drawing/2014/main" id="{DE0C1BD7-D498-BF93-A12E-93FC8F3EFEEB}"/>
              </a:ext>
            </a:extLst>
          </p:cNvPr>
          <p:cNvSpPr/>
          <p:nvPr/>
        </p:nvSpPr>
        <p:spPr>
          <a:xfrm>
            <a:off x="5523219" y="2731981"/>
            <a:ext cx="859536" cy="201168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DFDFD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利用状況連動</a:t>
            </a:r>
            <a:endParaRPr lang="en-US" sz="700" dirty="0">
              <a:solidFill>
                <a:srgbClr val="FDFDFD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75" name="Text 75">
            <a:extLst>
              <a:ext uri="{FF2B5EF4-FFF2-40B4-BE49-F238E27FC236}">
                <a16:creationId xmlns:a16="http://schemas.microsoft.com/office/drawing/2014/main" id="{828F19F3-3156-29E9-3072-E1DED5F92BA0}"/>
              </a:ext>
            </a:extLst>
          </p:cNvPr>
          <p:cNvSpPr/>
          <p:nvPr/>
        </p:nvSpPr>
        <p:spPr>
          <a:xfrm>
            <a:off x="6437619" y="2704549"/>
            <a:ext cx="2798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2E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利用量・頻度に応じたアップグレード提案</a:t>
            </a:r>
            <a:endParaRPr lang="en-US" sz="10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77" name="Text 76">
            <a:extLst>
              <a:ext uri="{FF2B5EF4-FFF2-40B4-BE49-F238E27FC236}">
                <a16:creationId xmlns:a16="http://schemas.microsoft.com/office/drawing/2014/main" id="{74CEEBF9-FB5E-B42A-5BBB-7613F874DD22}"/>
              </a:ext>
            </a:extLst>
          </p:cNvPr>
          <p:cNvSpPr/>
          <p:nvPr/>
        </p:nvSpPr>
        <p:spPr>
          <a:xfrm>
            <a:off x="5175747" y="3033733"/>
            <a:ext cx="4059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600" dirty="0">
                <a:solidFill>
                  <a:srgbClr val="5A5A72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利用状況タグを活用して「よく使っている層」に上位プランの提案を自動配信。「今のプランより月1,000円で〇〇が使い放題に」という具体的メリット提示がCVRを高める。</a:t>
            </a:r>
            <a:endParaRPr lang="en-US" sz="6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79" name="Shape 77">
            <a:extLst>
              <a:ext uri="{FF2B5EF4-FFF2-40B4-BE49-F238E27FC236}">
                <a16:creationId xmlns:a16="http://schemas.microsoft.com/office/drawing/2014/main" id="{EB3AEAB9-3091-B770-5C73-60F2CC509D9D}"/>
              </a:ext>
            </a:extLst>
          </p:cNvPr>
          <p:cNvSpPr/>
          <p:nvPr/>
        </p:nvSpPr>
        <p:spPr>
          <a:xfrm>
            <a:off x="5157459" y="3381205"/>
            <a:ext cx="1274064" cy="329184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 w="12700">
            <a:noFill/>
            <a:prstDash val="solid"/>
          </a:ln>
        </p:spPr>
        <p:txBody>
          <a:bodyPr/>
          <a:lstStyle/>
          <a:p>
            <a:endParaRPr lang="ja-JP" altLang="en-US" sz="7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81" name="Text 78">
            <a:extLst>
              <a:ext uri="{FF2B5EF4-FFF2-40B4-BE49-F238E27FC236}">
                <a16:creationId xmlns:a16="http://schemas.microsoft.com/office/drawing/2014/main" id="{16B65D6F-FEB1-6B8D-4243-6E6A8950251C}"/>
              </a:ext>
            </a:extLst>
          </p:cNvPr>
          <p:cNvSpPr/>
          <p:nvPr/>
        </p:nvSpPr>
        <p:spPr>
          <a:xfrm>
            <a:off x="5157459" y="3381205"/>
            <a:ext cx="127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利用量タグ付与</a:t>
            </a:r>
            <a:endParaRPr lang="en-US" sz="7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83" name="Shape 79">
            <a:extLst>
              <a:ext uri="{FF2B5EF4-FFF2-40B4-BE49-F238E27FC236}">
                <a16:creationId xmlns:a16="http://schemas.microsoft.com/office/drawing/2014/main" id="{ACEF9838-1EE3-1464-24F9-5960C72ACE63}"/>
              </a:ext>
            </a:extLst>
          </p:cNvPr>
          <p:cNvSpPr/>
          <p:nvPr/>
        </p:nvSpPr>
        <p:spPr>
          <a:xfrm>
            <a:off x="6431523" y="3472645"/>
            <a:ext cx="91440" cy="146304"/>
          </a:xfrm>
          <a:prstGeom prst="roundRect">
            <a:avLst>
              <a:gd name="adj" fmla="val 40000"/>
            </a:avLst>
          </a:prstGeom>
          <a:solidFill>
            <a:srgbClr val="D8D8E2"/>
          </a:solidFill>
          <a:ln w="12700">
            <a:solidFill>
              <a:srgbClr val="D8D8E2"/>
            </a:solidFill>
            <a:prstDash val="solid"/>
          </a:ln>
        </p:spPr>
        <p:txBody>
          <a:bodyPr/>
          <a:lstStyle/>
          <a:p>
            <a:endParaRPr lang="ja-JP" altLang="en-US" sz="12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85" name="Text 80">
            <a:extLst>
              <a:ext uri="{FF2B5EF4-FFF2-40B4-BE49-F238E27FC236}">
                <a16:creationId xmlns:a16="http://schemas.microsoft.com/office/drawing/2014/main" id="{69501D59-8F67-4ADD-2B3A-62D69E08E6AD}"/>
              </a:ext>
            </a:extLst>
          </p:cNvPr>
          <p:cNvSpPr/>
          <p:nvPr/>
        </p:nvSpPr>
        <p:spPr>
          <a:xfrm>
            <a:off x="6431523" y="3472645"/>
            <a:ext cx="91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" dirty="0">
                <a:solidFill>
                  <a:srgbClr val="5A5A72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▶</a:t>
            </a:r>
            <a:endParaRPr lang="en-US" sz="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87" name="Shape 81">
            <a:extLst>
              <a:ext uri="{FF2B5EF4-FFF2-40B4-BE49-F238E27FC236}">
                <a16:creationId xmlns:a16="http://schemas.microsoft.com/office/drawing/2014/main" id="{24E5901A-0626-345C-7E4E-690DFA9947EE}"/>
              </a:ext>
            </a:extLst>
          </p:cNvPr>
          <p:cNvSpPr/>
          <p:nvPr/>
        </p:nvSpPr>
        <p:spPr>
          <a:xfrm>
            <a:off x="6522963" y="3381205"/>
            <a:ext cx="1274064" cy="329184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 w="1270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15000"/>
              </a:lnSpc>
            </a:pPr>
            <a:r>
              <a:rPr lang="en-US" altLang="ja-JP" sz="700" b="1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アップグレード提案</a:t>
            </a:r>
            <a:endParaRPr lang="en-US" altLang="ja-JP" sz="7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91" name="Shape 83">
            <a:extLst>
              <a:ext uri="{FF2B5EF4-FFF2-40B4-BE49-F238E27FC236}">
                <a16:creationId xmlns:a16="http://schemas.microsoft.com/office/drawing/2014/main" id="{DBA87A6B-3A5A-5BB5-800C-AD29E3A38E51}"/>
              </a:ext>
            </a:extLst>
          </p:cNvPr>
          <p:cNvSpPr/>
          <p:nvPr/>
        </p:nvSpPr>
        <p:spPr>
          <a:xfrm>
            <a:off x="7797027" y="3472645"/>
            <a:ext cx="91440" cy="146304"/>
          </a:xfrm>
          <a:prstGeom prst="roundRect">
            <a:avLst>
              <a:gd name="adj" fmla="val 40000"/>
            </a:avLst>
          </a:prstGeom>
          <a:solidFill>
            <a:srgbClr val="D8D8E2"/>
          </a:solidFill>
          <a:ln w="12700">
            <a:solidFill>
              <a:srgbClr val="D8D8E2"/>
            </a:solidFill>
            <a:prstDash val="solid"/>
          </a:ln>
        </p:spPr>
        <p:txBody>
          <a:bodyPr/>
          <a:lstStyle/>
          <a:p>
            <a:endParaRPr lang="ja-JP" altLang="en-US" sz="12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93" name="Text 84">
            <a:extLst>
              <a:ext uri="{FF2B5EF4-FFF2-40B4-BE49-F238E27FC236}">
                <a16:creationId xmlns:a16="http://schemas.microsoft.com/office/drawing/2014/main" id="{5F05F5BA-6ADB-F29A-796A-6AE1FAE69215}"/>
              </a:ext>
            </a:extLst>
          </p:cNvPr>
          <p:cNvSpPr/>
          <p:nvPr/>
        </p:nvSpPr>
        <p:spPr>
          <a:xfrm>
            <a:off x="7797027" y="3472645"/>
            <a:ext cx="91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" dirty="0">
                <a:solidFill>
                  <a:srgbClr val="5A5A72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▶</a:t>
            </a:r>
            <a:endParaRPr lang="en-US" sz="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95" name="Shape 85">
            <a:extLst>
              <a:ext uri="{FF2B5EF4-FFF2-40B4-BE49-F238E27FC236}">
                <a16:creationId xmlns:a16="http://schemas.microsoft.com/office/drawing/2014/main" id="{B5E69B07-FB02-4F49-A566-CE157E614F49}"/>
              </a:ext>
            </a:extLst>
          </p:cNvPr>
          <p:cNvSpPr/>
          <p:nvPr/>
        </p:nvSpPr>
        <p:spPr>
          <a:xfrm>
            <a:off x="7888467" y="3381205"/>
            <a:ext cx="1274064" cy="329184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 w="1270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15000"/>
              </a:lnSpc>
            </a:pPr>
            <a:r>
              <a:rPr lang="en-US" altLang="ja-JP" sz="700" b="1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プラン変更CV</a:t>
            </a:r>
            <a:endParaRPr lang="en-US" altLang="ja-JP" sz="7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99" name="Shape 87">
            <a:extLst>
              <a:ext uri="{FF2B5EF4-FFF2-40B4-BE49-F238E27FC236}">
                <a16:creationId xmlns:a16="http://schemas.microsoft.com/office/drawing/2014/main" id="{BF4F34D9-E34A-88AA-21A2-8773568F5586}"/>
              </a:ext>
            </a:extLst>
          </p:cNvPr>
          <p:cNvSpPr/>
          <p:nvPr/>
        </p:nvSpPr>
        <p:spPr>
          <a:xfrm>
            <a:off x="5066019" y="3875743"/>
            <a:ext cx="4279392" cy="1170432"/>
          </a:xfrm>
          <a:prstGeom prst="roundRect">
            <a:avLst>
              <a:gd name="adj" fmla="val 7031"/>
            </a:avLst>
          </a:prstGeom>
          <a:solidFill>
            <a:srgbClr val="EEEFF4"/>
          </a:solidFill>
          <a:ln w="12700">
            <a:solidFill>
              <a:srgbClr val="D8D8E2"/>
            </a:solidFill>
            <a:prstDash val="solid"/>
          </a:ln>
          <a:effectLst>
            <a:outerShdw blurRad="50800" dist="12700" dir="8100000" algn="bl" rotWithShape="0">
              <a:srgbClr val="C8C8D8">
                <a:alpha val="10000"/>
              </a:srgbClr>
            </a:outerShdw>
          </a:effectLst>
        </p:spPr>
        <p:txBody>
          <a:bodyPr/>
          <a:lstStyle/>
          <a:p>
            <a:endParaRPr lang="ja-JP" altLang="en-US" sz="12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03" name="Shape 89">
            <a:extLst>
              <a:ext uri="{FF2B5EF4-FFF2-40B4-BE49-F238E27FC236}">
                <a16:creationId xmlns:a16="http://schemas.microsoft.com/office/drawing/2014/main" id="{EFE5E9D0-3F2E-411E-681C-D9CBD3BA1795}"/>
              </a:ext>
            </a:extLst>
          </p:cNvPr>
          <p:cNvSpPr/>
          <p:nvPr/>
        </p:nvSpPr>
        <p:spPr>
          <a:xfrm>
            <a:off x="5175747" y="3967183"/>
            <a:ext cx="274320" cy="274320"/>
          </a:xfrm>
          <a:prstGeom prst="ellipse">
            <a:avLst/>
          </a:prstGeom>
          <a:solidFill>
            <a:schemeClr val="tx1"/>
          </a:solidFill>
          <a:ln w="12700">
            <a:noFill/>
            <a:prstDash val="solid"/>
          </a:ln>
        </p:spPr>
        <p:txBody>
          <a:bodyPr/>
          <a:lstStyle/>
          <a:p>
            <a:endParaRPr lang="ja-JP" altLang="en-US" sz="12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05" name="Text 90">
            <a:extLst>
              <a:ext uri="{FF2B5EF4-FFF2-40B4-BE49-F238E27FC236}">
                <a16:creationId xmlns:a16="http://schemas.microsoft.com/office/drawing/2014/main" id="{5A2E3029-A975-C95C-7E57-D4269143AA55}"/>
              </a:ext>
            </a:extLst>
          </p:cNvPr>
          <p:cNvSpPr/>
          <p:nvPr/>
        </p:nvSpPr>
        <p:spPr>
          <a:xfrm>
            <a:off x="5175747" y="396718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2</a:t>
            </a:r>
            <a:endParaRPr lang="en-US" sz="9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07" name="Shape 91">
            <a:extLst>
              <a:ext uri="{FF2B5EF4-FFF2-40B4-BE49-F238E27FC236}">
                <a16:creationId xmlns:a16="http://schemas.microsoft.com/office/drawing/2014/main" id="{0B44982A-093D-F4A4-8627-DD2BEB875FCE}"/>
              </a:ext>
            </a:extLst>
          </p:cNvPr>
          <p:cNvSpPr/>
          <p:nvPr/>
        </p:nvSpPr>
        <p:spPr>
          <a:xfrm>
            <a:off x="5523219" y="3994615"/>
            <a:ext cx="859536" cy="201168"/>
          </a:xfrm>
          <a:prstGeom prst="roundRect">
            <a:avLst>
              <a:gd name="adj" fmla="val 18182"/>
            </a:avLst>
          </a:prstGeom>
          <a:solidFill>
            <a:schemeClr val="tx2"/>
          </a:solidFill>
          <a:ln w="12700">
            <a:solidFill>
              <a:srgbClr val="D8D8E2"/>
            </a:solidFill>
            <a:prstDash val="solid"/>
          </a:ln>
        </p:spPr>
        <p:txBody>
          <a:bodyPr/>
          <a:lstStyle/>
          <a:p>
            <a:endParaRPr lang="ja-JP" altLang="en-US" sz="700">
              <a:solidFill>
                <a:srgbClr val="FDFDFD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09" name="Text 92">
            <a:extLst>
              <a:ext uri="{FF2B5EF4-FFF2-40B4-BE49-F238E27FC236}">
                <a16:creationId xmlns:a16="http://schemas.microsoft.com/office/drawing/2014/main" id="{8E58A804-D262-6223-9739-795C7490802F}"/>
              </a:ext>
            </a:extLst>
          </p:cNvPr>
          <p:cNvSpPr/>
          <p:nvPr/>
        </p:nvSpPr>
        <p:spPr>
          <a:xfrm>
            <a:off x="5523219" y="3994615"/>
            <a:ext cx="859536" cy="201168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DFDFD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関連商材</a:t>
            </a:r>
            <a:endParaRPr lang="en-US" sz="700" dirty="0">
              <a:solidFill>
                <a:srgbClr val="FDFDFD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11" name="Text 93">
            <a:extLst>
              <a:ext uri="{FF2B5EF4-FFF2-40B4-BE49-F238E27FC236}">
                <a16:creationId xmlns:a16="http://schemas.microsoft.com/office/drawing/2014/main" id="{2820774A-8461-0C15-3354-D17D2A38ACE9}"/>
              </a:ext>
            </a:extLst>
          </p:cNvPr>
          <p:cNvSpPr/>
          <p:nvPr/>
        </p:nvSpPr>
        <p:spPr>
          <a:xfrm>
            <a:off x="6437619" y="3967183"/>
            <a:ext cx="2798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2E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購入・利用カテゴリに紐づくクロスセル配信</a:t>
            </a:r>
            <a:endParaRPr lang="en-US" sz="10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13" name="Text 94">
            <a:extLst>
              <a:ext uri="{FF2B5EF4-FFF2-40B4-BE49-F238E27FC236}">
                <a16:creationId xmlns:a16="http://schemas.microsoft.com/office/drawing/2014/main" id="{66C6D264-EC5E-9BD7-A6C4-38CC9629CE29}"/>
              </a:ext>
            </a:extLst>
          </p:cNvPr>
          <p:cNvSpPr/>
          <p:nvPr/>
        </p:nvSpPr>
        <p:spPr>
          <a:xfrm>
            <a:off x="5175747" y="4296367"/>
            <a:ext cx="4059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600" dirty="0">
                <a:solidFill>
                  <a:srgbClr val="5A5A72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「Aサービスをご利用中の方向け：Bサービスとの組み合わせで効果UP」という形で関連商材を案内。タグセグメントで対象を絞ることで過剰アプローチを防ぐ。</a:t>
            </a:r>
            <a:endParaRPr lang="en-US" sz="6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15" name="Shape 95">
            <a:extLst>
              <a:ext uri="{FF2B5EF4-FFF2-40B4-BE49-F238E27FC236}">
                <a16:creationId xmlns:a16="http://schemas.microsoft.com/office/drawing/2014/main" id="{3620767E-5C81-82F3-ACE8-BEF5B040FA3C}"/>
              </a:ext>
            </a:extLst>
          </p:cNvPr>
          <p:cNvSpPr/>
          <p:nvPr/>
        </p:nvSpPr>
        <p:spPr>
          <a:xfrm>
            <a:off x="5157459" y="4643839"/>
            <a:ext cx="1274064" cy="329184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 w="12700">
            <a:noFill/>
            <a:prstDash val="solid"/>
          </a:ln>
        </p:spPr>
        <p:txBody>
          <a:bodyPr/>
          <a:lstStyle/>
          <a:p>
            <a:endParaRPr lang="ja-JP" altLang="en-US" sz="7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17" name="Text 96">
            <a:extLst>
              <a:ext uri="{FF2B5EF4-FFF2-40B4-BE49-F238E27FC236}">
                <a16:creationId xmlns:a16="http://schemas.microsoft.com/office/drawing/2014/main" id="{9AA7117C-343C-4068-D766-8BFDA27C8DE4}"/>
              </a:ext>
            </a:extLst>
          </p:cNvPr>
          <p:cNvSpPr/>
          <p:nvPr/>
        </p:nvSpPr>
        <p:spPr>
          <a:xfrm>
            <a:off x="5157459" y="4643839"/>
            <a:ext cx="127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購入カテゴリ特定</a:t>
            </a:r>
            <a:endParaRPr lang="en-US" sz="7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19" name="Shape 97">
            <a:extLst>
              <a:ext uri="{FF2B5EF4-FFF2-40B4-BE49-F238E27FC236}">
                <a16:creationId xmlns:a16="http://schemas.microsoft.com/office/drawing/2014/main" id="{0EBCC7F5-0E29-C4A8-94D8-A7D7ECC5F89A}"/>
              </a:ext>
            </a:extLst>
          </p:cNvPr>
          <p:cNvSpPr/>
          <p:nvPr/>
        </p:nvSpPr>
        <p:spPr>
          <a:xfrm>
            <a:off x="6431523" y="4735279"/>
            <a:ext cx="91440" cy="146304"/>
          </a:xfrm>
          <a:prstGeom prst="roundRect">
            <a:avLst>
              <a:gd name="adj" fmla="val 40000"/>
            </a:avLst>
          </a:prstGeom>
          <a:solidFill>
            <a:srgbClr val="D8D8E2"/>
          </a:solidFill>
          <a:ln w="12700">
            <a:solidFill>
              <a:srgbClr val="D8D8E2"/>
            </a:solidFill>
            <a:prstDash val="solid"/>
          </a:ln>
        </p:spPr>
        <p:txBody>
          <a:bodyPr/>
          <a:lstStyle/>
          <a:p>
            <a:endParaRPr lang="ja-JP" altLang="en-US" sz="12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21" name="Text 98">
            <a:extLst>
              <a:ext uri="{FF2B5EF4-FFF2-40B4-BE49-F238E27FC236}">
                <a16:creationId xmlns:a16="http://schemas.microsoft.com/office/drawing/2014/main" id="{BD96E4BA-ADE4-8898-880F-1EAA79A8DF2D}"/>
              </a:ext>
            </a:extLst>
          </p:cNvPr>
          <p:cNvSpPr/>
          <p:nvPr/>
        </p:nvSpPr>
        <p:spPr>
          <a:xfrm>
            <a:off x="6431523" y="4735279"/>
            <a:ext cx="91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" dirty="0">
                <a:solidFill>
                  <a:srgbClr val="5A5A72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▶</a:t>
            </a:r>
            <a:endParaRPr lang="en-US" sz="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23" name="Shape 99">
            <a:extLst>
              <a:ext uri="{FF2B5EF4-FFF2-40B4-BE49-F238E27FC236}">
                <a16:creationId xmlns:a16="http://schemas.microsoft.com/office/drawing/2014/main" id="{E126C166-BD13-9190-0FE0-63914F4AD447}"/>
              </a:ext>
            </a:extLst>
          </p:cNvPr>
          <p:cNvSpPr/>
          <p:nvPr/>
        </p:nvSpPr>
        <p:spPr>
          <a:xfrm>
            <a:off x="6522963" y="4643839"/>
            <a:ext cx="1274064" cy="329184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 w="1270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15000"/>
              </a:lnSpc>
            </a:pPr>
            <a:r>
              <a:rPr lang="en-US" altLang="ja-JP" sz="700" b="1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関連商材案内</a:t>
            </a:r>
            <a:endParaRPr lang="en-US" altLang="ja-JP" sz="7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27" name="Shape 101">
            <a:extLst>
              <a:ext uri="{FF2B5EF4-FFF2-40B4-BE49-F238E27FC236}">
                <a16:creationId xmlns:a16="http://schemas.microsoft.com/office/drawing/2014/main" id="{EE014BEF-08EA-D95F-B260-566E9689AFE2}"/>
              </a:ext>
            </a:extLst>
          </p:cNvPr>
          <p:cNvSpPr/>
          <p:nvPr/>
        </p:nvSpPr>
        <p:spPr>
          <a:xfrm>
            <a:off x="7797027" y="4735279"/>
            <a:ext cx="91440" cy="146304"/>
          </a:xfrm>
          <a:prstGeom prst="roundRect">
            <a:avLst>
              <a:gd name="adj" fmla="val 40000"/>
            </a:avLst>
          </a:prstGeom>
          <a:solidFill>
            <a:srgbClr val="D8D8E2"/>
          </a:solidFill>
          <a:ln w="12700">
            <a:solidFill>
              <a:srgbClr val="D8D8E2"/>
            </a:solidFill>
            <a:prstDash val="solid"/>
          </a:ln>
        </p:spPr>
        <p:txBody>
          <a:bodyPr/>
          <a:lstStyle/>
          <a:p>
            <a:endParaRPr lang="ja-JP" altLang="en-US" sz="12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29" name="Text 102">
            <a:extLst>
              <a:ext uri="{FF2B5EF4-FFF2-40B4-BE49-F238E27FC236}">
                <a16:creationId xmlns:a16="http://schemas.microsoft.com/office/drawing/2014/main" id="{6D8C6BF2-428E-B744-84F1-70D22F6EC306}"/>
              </a:ext>
            </a:extLst>
          </p:cNvPr>
          <p:cNvSpPr/>
          <p:nvPr/>
        </p:nvSpPr>
        <p:spPr>
          <a:xfrm>
            <a:off x="7797027" y="4735279"/>
            <a:ext cx="91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" dirty="0">
                <a:solidFill>
                  <a:srgbClr val="5A5A72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▶</a:t>
            </a:r>
            <a:endParaRPr lang="en-US" sz="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31" name="Shape 103">
            <a:extLst>
              <a:ext uri="{FF2B5EF4-FFF2-40B4-BE49-F238E27FC236}">
                <a16:creationId xmlns:a16="http://schemas.microsoft.com/office/drawing/2014/main" id="{EB1CED23-229B-155C-8DA1-725B58167B0D}"/>
              </a:ext>
            </a:extLst>
          </p:cNvPr>
          <p:cNvSpPr/>
          <p:nvPr/>
        </p:nvSpPr>
        <p:spPr>
          <a:xfrm>
            <a:off x="7888467" y="4643839"/>
            <a:ext cx="1274064" cy="329184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 w="12700">
            <a:noFill/>
            <a:prstDash val="solid"/>
          </a:ln>
        </p:spPr>
        <p:txBody>
          <a:bodyPr/>
          <a:lstStyle/>
          <a:p>
            <a:endParaRPr lang="ja-JP" altLang="en-US" sz="7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33" name="Text 104">
            <a:extLst>
              <a:ext uri="{FF2B5EF4-FFF2-40B4-BE49-F238E27FC236}">
                <a16:creationId xmlns:a16="http://schemas.microsoft.com/office/drawing/2014/main" id="{B0BD8085-260F-767B-600D-29C4EFE91EF6}"/>
              </a:ext>
            </a:extLst>
          </p:cNvPr>
          <p:cNvSpPr/>
          <p:nvPr/>
        </p:nvSpPr>
        <p:spPr>
          <a:xfrm>
            <a:off x="7888467" y="4643839"/>
            <a:ext cx="127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クロスセルCV</a:t>
            </a:r>
            <a:endParaRPr lang="en-US" sz="7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35" name="Shape 105">
            <a:extLst>
              <a:ext uri="{FF2B5EF4-FFF2-40B4-BE49-F238E27FC236}">
                <a16:creationId xmlns:a16="http://schemas.microsoft.com/office/drawing/2014/main" id="{2B58AD02-89B6-782E-1247-733846A3BEB6}"/>
              </a:ext>
            </a:extLst>
          </p:cNvPr>
          <p:cNvSpPr/>
          <p:nvPr/>
        </p:nvSpPr>
        <p:spPr>
          <a:xfrm>
            <a:off x="5066019" y="5138377"/>
            <a:ext cx="4279392" cy="1170432"/>
          </a:xfrm>
          <a:prstGeom prst="roundRect">
            <a:avLst>
              <a:gd name="adj" fmla="val 7031"/>
            </a:avLst>
          </a:prstGeom>
          <a:solidFill>
            <a:srgbClr val="EEEFF4"/>
          </a:solidFill>
          <a:ln w="12700">
            <a:solidFill>
              <a:srgbClr val="D8D8E2"/>
            </a:solidFill>
            <a:prstDash val="solid"/>
          </a:ln>
          <a:effectLst>
            <a:outerShdw blurRad="50800" dist="12700" dir="8100000" algn="bl" rotWithShape="0">
              <a:srgbClr val="C8C8D8">
                <a:alpha val="10000"/>
              </a:srgbClr>
            </a:outerShdw>
          </a:effectLst>
        </p:spPr>
        <p:txBody>
          <a:bodyPr/>
          <a:lstStyle/>
          <a:p>
            <a:endParaRPr lang="ja-JP" altLang="en-US" sz="12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39" name="Shape 107">
            <a:extLst>
              <a:ext uri="{FF2B5EF4-FFF2-40B4-BE49-F238E27FC236}">
                <a16:creationId xmlns:a16="http://schemas.microsoft.com/office/drawing/2014/main" id="{A1CF4B93-1F7F-95B1-9748-9AE48BB0A67D}"/>
              </a:ext>
            </a:extLst>
          </p:cNvPr>
          <p:cNvSpPr/>
          <p:nvPr/>
        </p:nvSpPr>
        <p:spPr>
          <a:xfrm>
            <a:off x="5175747" y="5229817"/>
            <a:ext cx="274320" cy="274320"/>
          </a:xfrm>
          <a:prstGeom prst="ellipse">
            <a:avLst/>
          </a:prstGeom>
          <a:solidFill>
            <a:schemeClr val="tx1"/>
          </a:solidFill>
          <a:ln w="12700">
            <a:noFill/>
            <a:prstDash val="solid"/>
          </a:ln>
        </p:spPr>
        <p:txBody>
          <a:bodyPr/>
          <a:lstStyle/>
          <a:p>
            <a:endParaRPr lang="ja-JP" altLang="en-US" sz="12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41" name="Text 108">
            <a:extLst>
              <a:ext uri="{FF2B5EF4-FFF2-40B4-BE49-F238E27FC236}">
                <a16:creationId xmlns:a16="http://schemas.microsoft.com/office/drawing/2014/main" id="{699242CC-C724-22FB-181E-24FA20BE103C}"/>
              </a:ext>
            </a:extLst>
          </p:cNvPr>
          <p:cNvSpPr/>
          <p:nvPr/>
        </p:nvSpPr>
        <p:spPr>
          <a:xfrm>
            <a:off x="5175747" y="522981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3</a:t>
            </a:r>
            <a:endParaRPr lang="en-US" sz="9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43" name="Shape 109">
            <a:extLst>
              <a:ext uri="{FF2B5EF4-FFF2-40B4-BE49-F238E27FC236}">
                <a16:creationId xmlns:a16="http://schemas.microsoft.com/office/drawing/2014/main" id="{5C0B9632-0D33-3A4F-852D-28C99ACB77A6}"/>
              </a:ext>
            </a:extLst>
          </p:cNvPr>
          <p:cNvSpPr/>
          <p:nvPr/>
        </p:nvSpPr>
        <p:spPr>
          <a:xfrm>
            <a:off x="5523219" y="5257249"/>
            <a:ext cx="859536" cy="201168"/>
          </a:xfrm>
          <a:prstGeom prst="roundRect">
            <a:avLst>
              <a:gd name="adj" fmla="val 18182"/>
            </a:avLst>
          </a:prstGeom>
          <a:solidFill>
            <a:schemeClr val="tx2"/>
          </a:solidFill>
          <a:ln w="12700">
            <a:solidFill>
              <a:srgbClr val="D8D8E2"/>
            </a:solidFill>
            <a:prstDash val="solid"/>
          </a:ln>
        </p:spPr>
        <p:txBody>
          <a:bodyPr/>
          <a:lstStyle/>
          <a:p>
            <a:endParaRPr lang="ja-JP" altLang="en-US" sz="700">
              <a:solidFill>
                <a:srgbClr val="FDFDFD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45" name="Text 110">
            <a:extLst>
              <a:ext uri="{FF2B5EF4-FFF2-40B4-BE49-F238E27FC236}">
                <a16:creationId xmlns:a16="http://schemas.microsoft.com/office/drawing/2014/main" id="{B910E2C6-1CCA-1DB7-F916-05CAB4560F12}"/>
              </a:ext>
            </a:extLst>
          </p:cNvPr>
          <p:cNvSpPr/>
          <p:nvPr/>
        </p:nvSpPr>
        <p:spPr>
          <a:xfrm>
            <a:off x="5523219" y="5257249"/>
            <a:ext cx="859536" cy="201168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DFDFD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季節連動</a:t>
            </a:r>
            <a:endParaRPr lang="en-US" sz="700" dirty="0">
              <a:solidFill>
                <a:srgbClr val="FDFDFD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47" name="Text 111">
            <a:extLst>
              <a:ext uri="{FF2B5EF4-FFF2-40B4-BE49-F238E27FC236}">
                <a16:creationId xmlns:a16="http://schemas.microsoft.com/office/drawing/2014/main" id="{418968BF-D240-4525-61FD-34A2CD92F77A}"/>
              </a:ext>
            </a:extLst>
          </p:cNvPr>
          <p:cNvSpPr/>
          <p:nvPr/>
        </p:nvSpPr>
        <p:spPr>
          <a:xfrm>
            <a:off x="6437619" y="5229817"/>
            <a:ext cx="2798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2E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季節・繁忙期に合わせた関連サービス案内</a:t>
            </a:r>
            <a:endParaRPr lang="en-US" sz="10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49" name="Text 112">
            <a:extLst>
              <a:ext uri="{FF2B5EF4-FFF2-40B4-BE49-F238E27FC236}">
                <a16:creationId xmlns:a16="http://schemas.microsoft.com/office/drawing/2014/main" id="{DB9225A3-0B40-6631-04BA-B036BA78DD18}"/>
              </a:ext>
            </a:extLst>
          </p:cNvPr>
          <p:cNvSpPr/>
          <p:nvPr/>
        </p:nvSpPr>
        <p:spPr>
          <a:xfrm>
            <a:off x="5175747" y="5559001"/>
            <a:ext cx="4059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600" dirty="0">
                <a:solidFill>
                  <a:srgbClr val="5A5A72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ユーザーが次のニーズを感じる前に関連サービスを先出しする。「春のXXXに向けて、ご準備はお済みですか？」という形でシーズン2〜3週前に配信するとCVRが高い。</a:t>
            </a:r>
            <a:endParaRPr lang="en-US" sz="6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51" name="Shape 113">
            <a:extLst>
              <a:ext uri="{FF2B5EF4-FFF2-40B4-BE49-F238E27FC236}">
                <a16:creationId xmlns:a16="http://schemas.microsoft.com/office/drawing/2014/main" id="{2E10B183-2361-FE23-322F-7D503F80197A}"/>
              </a:ext>
            </a:extLst>
          </p:cNvPr>
          <p:cNvSpPr/>
          <p:nvPr/>
        </p:nvSpPr>
        <p:spPr>
          <a:xfrm>
            <a:off x="5157459" y="5906473"/>
            <a:ext cx="1274064" cy="329184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 w="12700">
            <a:noFill/>
            <a:prstDash val="solid"/>
          </a:ln>
        </p:spPr>
        <p:txBody>
          <a:bodyPr/>
          <a:lstStyle/>
          <a:p>
            <a:endParaRPr lang="ja-JP" altLang="en-US" sz="12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53" name="Text 114">
            <a:extLst>
              <a:ext uri="{FF2B5EF4-FFF2-40B4-BE49-F238E27FC236}">
                <a16:creationId xmlns:a16="http://schemas.microsoft.com/office/drawing/2014/main" id="{E3F71D55-3A7F-7216-A68B-E9D41C4251F7}"/>
              </a:ext>
            </a:extLst>
          </p:cNvPr>
          <p:cNvSpPr/>
          <p:nvPr/>
        </p:nvSpPr>
        <p:spPr>
          <a:xfrm>
            <a:off x="5157459" y="5906473"/>
            <a:ext cx="127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シーズン2〜3週前</a:t>
            </a:r>
            <a:endParaRPr lang="en-US" sz="7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55" name="Shape 115">
            <a:extLst>
              <a:ext uri="{FF2B5EF4-FFF2-40B4-BE49-F238E27FC236}">
                <a16:creationId xmlns:a16="http://schemas.microsoft.com/office/drawing/2014/main" id="{4DD46369-30C8-F75A-A124-3FEDB935C4A0}"/>
              </a:ext>
            </a:extLst>
          </p:cNvPr>
          <p:cNvSpPr/>
          <p:nvPr/>
        </p:nvSpPr>
        <p:spPr>
          <a:xfrm>
            <a:off x="6431523" y="5997913"/>
            <a:ext cx="91440" cy="146304"/>
          </a:xfrm>
          <a:prstGeom prst="roundRect">
            <a:avLst>
              <a:gd name="adj" fmla="val 40000"/>
            </a:avLst>
          </a:prstGeom>
          <a:solidFill>
            <a:srgbClr val="D8D8E2"/>
          </a:solidFill>
          <a:ln w="12700">
            <a:solidFill>
              <a:srgbClr val="D8D8E2"/>
            </a:solidFill>
            <a:prstDash val="solid"/>
          </a:ln>
        </p:spPr>
        <p:txBody>
          <a:bodyPr/>
          <a:lstStyle/>
          <a:p>
            <a:endParaRPr lang="ja-JP" altLang="en-US" sz="12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57" name="Text 116">
            <a:extLst>
              <a:ext uri="{FF2B5EF4-FFF2-40B4-BE49-F238E27FC236}">
                <a16:creationId xmlns:a16="http://schemas.microsoft.com/office/drawing/2014/main" id="{4A907B15-7708-47C9-7642-BA0B05630DEF}"/>
              </a:ext>
            </a:extLst>
          </p:cNvPr>
          <p:cNvSpPr/>
          <p:nvPr/>
        </p:nvSpPr>
        <p:spPr>
          <a:xfrm>
            <a:off x="6431523" y="5997913"/>
            <a:ext cx="91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" dirty="0">
                <a:solidFill>
                  <a:srgbClr val="5A5A72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▶</a:t>
            </a:r>
            <a:endParaRPr lang="en-US" sz="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59" name="Shape 117">
            <a:extLst>
              <a:ext uri="{FF2B5EF4-FFF2-40B4-BE49-F238E27FC236}">
                <a16:creationId xmlns:a16="http://schemas.microsoft.com/office/drawing/2014/main" id="{33185618-A887-525D-081A-03DCDB2AC769}"/>
              </a:ext>
            </a:extLst>
          </p:cNvPr>
          <p:cNvSpPr/>
          <p:nvPr/>
        </p:nvSpPr>
        <p:spPr>
          <a:xfrm>
            <a:off x="6522963" y="5906473"/>
            <a:ext cx="1274064" cy="329184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 w="12700">
            <a:noFill/>
            <a:prstDash val="solid"/>
          </a:ln>
        </p:spPr>
        <p:txBody>
          <a:bodyPr/>
          <a:lstStyle/>
          <a:p>
            <a:endParaRPr lang="ja-JP" altLang="en-US" sz="7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61" name="Text 118">
            <a:extLst>
              <a:ext uri="{FF2B5EF4-FFF2-40B4-BE49-F238E27FC236}">
                <a16:creationId xmlns:a16="http://schemas.microsoft.com/office/drawing/2014/main" id="{A758DBE7-E957-396E-311E-D9582502DB4F}"/>
              </a:ext>
            </a:extLst>
          </p:cNvPr>
          <p:cNvSpPr/>
          <p:nvPr/>
        </p:nvSpPr>
        <p:spPr>
          <a:xfrm>
            <a:off x="6522963" y="5906473"/>
            <a:ext cx="127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関連サービス先出し</a:t>
            </a:r>
            <a:endParaRPr lang="en-US" sz="7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63" name="Shape 119">
            <a:extLst>
              <a:ext uri="{FF2B5EF4-FFF2-40B4-BE49-F238E27FC236}">
                <a16:creationId xmlns:a16="http://schemas.microsoft.com/office/drawing/2014/main" id="{BF462C74-804E-9C1C-C821-FF72072655B2}"/>
              </a:ext>
            </a:extLst>
          </p:cNvPr>
          <p:cNvSpPr/>
          <p:nvPr/>
        </p:nvSpPr>
        <p:spPr>
          <a:xfrm>
            <a:off x="7797027" y="5997913"/>
            <a:ext cx="91440" cy="146304"/>
          </a:xfrm>
          <a:prstGeom prst="roundRect">
            <a:avLst>
              <a:gd name="adj" fmla="val 40000"/>
            </a:avLst>
          </a:prstGeom>
          <a:solidFill>
            <a:srgbClr val="D8D8E2"/>
          </a:solidFill>
          <a:ln w="12700">
            <a:solidFill>
              <a:srgbClr val="D8D8E2"/>
            </a:solidFill>
            <a:prstDash val="solid"/>
          </a:ln>
        </p:spPr>
        <p:txBody>
          <a:bodyPr/>
          <a:lstStyle/>
          <a:p>
            <a:endParaRPr lang="ja-JP" altLang="en-US" sz="12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65" name="Text 120">
            <a:extLst>
              <a:ext uri="{FF2B5EF4-FFF2-40B4-BE49-F238E27FC236}">
                <a16:creationId xmlns:a16="http://schemas.microsoft.com/office/drawing/2014/main" id="{BB683829-0CAA-9EF6-F72B-0FA8AE6169AD}"/>
              </a:ext>
            </a:extLst>
          </p:cNvPr>
          <p:cNvSpPr/>
          <p:nvPr/>
        </p:nvSpPr>
        <p:spPr>
          <a:xfrm>
            <a:off x="7797027" y="5997913"/>
            <a:ext cx="91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" dirty="0">
                <a:solidFill>
                  <a:srgbClr val="5A5A72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▶</a:t>
            </a:r>
            <a:endParaRPr lang="en-US" sz="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67" name="Shape 121">
            <a:extLst>
              <a:ext uri="{FF2B5EF4-FFF2-40B4-BE49-F238E27FC236}">
                <a16:creationId xmlns:a16="http://schemas.microsoft.com/office/drawing/2014/main" id="{EE617E52-3088-925B-672C-E8F15869002F}"/>
              </a:ext>
            </a:extLst>
          </p:cNvPr>
          <p:cNvSpPr/>
          <p:nvPr/>
        </p:nvSpPr>
        <p:spPr>
          <a:xfrm>
            <a:off x="7888467" y="5906473"/>
            <a:ext cx="1274064" cy="329184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 w="12700">
            <a:noFill/>
            <a:prstDash val="solid"/>
          </a:ln>
        </p:spPr>
        <p:txBody>
          <a:bodyPr/>
          <a:lstStyle/>
          <a:p>
            <a:endParaRPr lang="ja-JP" altLang="en-US" sz="7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69" name="Text 122">
            <a:extLst>
              <a:ext uri="{FF2B5EF4-FFF2-40B4-BE49-F238E27FC236}">
                <a16:creationId xmlns:a16="http://schemas.microsoft.com/office/drawing/2014/main" id="{571C1378-34E0-DF83-9B00-2BE63986DA83}"/>
              </a:ext>
            </a:extLst>
          </p:cNvPr>
          <p:cNvSpPr/>
          <p:nvPr/>
        </p:nvSpPr>
        <p:spPr>
          <a:xfrm>
            <a:off x="7888467" y="5906473"/>
            <a:ext cx="127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CV獲得</a:t>
            </a:r>
            <a:endParaRPr lang="en-US" sz="7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84554320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BFC836A-F13C-1973-53EF-92ADF9F85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A8856EBE-32D8-42F5-9D61-C53BF60EFB33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施策展開図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A6340BD7-9269-59A1-EA69-7426F07778B6}"/>
              </a:ext>
            </a:extLst>
          </p:cNvPr>
          <p:cNvSpPr/>
          <p:nvPr/>
        </p:nvSpPr>
        <p:spPr>
          <a:xfrm>
            <a:off x="0" y="777240"/>
            <a:ext cx="1802674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LINEOA</a:t>
            </a:r>
            <a:r>
              <a:rPr kumimoji="1"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施策</a:t>
            </a:r>
          </a:p>
        </p:txBody>
      </p:sp>
      <p:sp>
        <p:nvSpPr>
          <p:cNvPr id="3" name="Google Shape;752;p28">
            <a:extLst>
              <a:ext uri="{FF2B5EF4-FFF2-40B4-BE49-F238E27FC236}">
                <a16:creationId xmlns:a16="http://schemas.microsoft.com/office/drawing/2014/main" id="{7C701305-F75E-4087-21C2-FA3CCCA8FB67}"/>
              </a:ext>
            </a:extLst>
          </p:cNvPr>
          <p:cNvSpPr txBox="1"/>
          <p:nvPr/>
        </p:nvSpPr>
        <p:spPr>
          <a:xfrm>
            <a:off x="1988819" y="736332"/>
            <a:ext cx="7774305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LINEOA</a:t>
            </a:r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施策は、</a:t>
            </a:r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[</a:t>
            </a:r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友だちの新規追加</a:t>
            </a:r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]</a:t>
            </a:r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と</a:t>
            </a:r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[</a:t>
            </a:r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友だちの育成・</a:t>
            </a:r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CV</a:t>
            </a:r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着地</a:t>
            </a:r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]</a:t>
            </a:r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の動線が重要。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企画投稿（毎月）とステップ配信（定常的に運営）を組み合わせて最適動線に。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1A40E6EC-1B5E-5E46-EF89-1167C08649BA}"/>
              </a:ext>
            </a:extLst>
          </p:cNvPr>
          <p:cNvSpPr/>
          <p:nvPr/>
        </p:nvSpPr>
        <p:spPr>
          <a:xfrm>
            <a:off x="963202" y="3662763"/>
            <a:ext cx="1706880" cy="338514"/>
          </a:xfrm>
          <a:prstGeom prst="rect">
            <a:avLst/>
          </a:prstGeom>
          <a:solidFill>
            <a:schemeClr val="bg1"/>
          </a:solidFill>
          <a:ln w="952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　友だち追加後</a:t>
            </a:r>
            <a:r>
              <a:rPr kumimoji="1" lang="en-US" altLang="ja-JP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…</a:t>
            </a:r>
            <a:endParaRPr kumimoji="1" lang="ja-JP" altLang="en-US" sz="105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31" name="図 30">
            <a:extLst>
              <a:ext uri="{FF2B5EF4-FFF2-40B4-BE49-F238E27FC236}">
                <a16:creationId xmlns:a16="http://schemas.microsoft.com/office/drawing/2014/main" id="{2FE26F6B-D35B-6A6B-42D2-7944374527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401" y="3566663"/>
            <a:ext cx="582602" cy="543237"/>
          </a:xfrm>
          <a:prstGeom prst="rect">
            <a:avLst/>
          </a:prstGeom>
        </p:spPr>
      </p:pic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39403F1B-B20A-C75C-8FCB-74AAD1581A2F}"/>
              </a:ext>
            </a:extLst>
          </p:cNvPr>
          <p:cNvSpPr/>
          <p:nvPr/>
        </p:nvSpPr>
        <p:spPr>
          <a:xfrm>
            <a:off x="686977" y="2019915"/>
            <a:ext cx="1706880" cy="338514"/>
          </a:xfrm>
          <a:prstGeom prst="rect">
            <a:avLst/>
          </a:prstGeom>
          <a:solidFill>
            <a:schemeClr val="bg1"/>
          </a:solidFill>
          <a:ln w="952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　</a:t>
            </a:r>
            <a:r>
              <a:rPr kumimoji="1" lang="en-US" altLang="ja-JP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LP</a:t>
            </a:r>
            <a:r>
              <a:rPr kumimoji="1" lang="ja-JP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</a:t>
            </a:r>
            <a:r>
              <a:rPr kumimoji="1" lang="en-US" altLang="ja-JP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HP</a:t>
            </a:r>
            <a:endParaRPr kumimoji="1" lang="ja-JP" altLang="en-US" sz="105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35" name="図 34" descr="lpデザインイラスト｜無料イラスト・フリー素材なら「イラストAC」">
            <a:extLst>
              <a:ext uri="{FF2B5EF4-FFF2-40B4-BE49-F238E27FC236}">
                <a16:creationId xmlns:a16="http://schemas.microsoft.com/office/drawing/2014/main" id="{EA2CF7EC-851A-10FF-17B6-E422C43BD1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658" y="1875286"/>
            <a:ext cx="853665" cy="640720"/>
          </a:xfrm>
          <a:prstGeom prst="rect">
            <a:avLst/>
          </a:prstGeom>
        </p:spPr>
      </p:pic>
      <p:sp>
        <p:nvSpPr>
          <p:cNvPr id="40" name="矢印: 下 39">
            <a:extLst>
              <a:ext uri="{FF2B5EF4-FFF2-40B4-BE49-F238E27FC236}">
                <a16:creationId xmlns:a16="http://schemas.microsoft.com/office/drawing/2014/main" id="{0D54B1A9-3944-66DE-F219-BB4192EDE144}"/>
              </a:ext>
            </a:extLst>
          </p:cNvPr>
          <p:cNvSpPr/>
          <p:nvPr/>
        </p:nvSpPr>
        <p:spPr>
          <a:xfrm>
            <a:off x="3290805" y="3630924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1">
                  <a:lumMod val="40000"/>
                  <a:lumOff val="60000"/>
                  <a:alpha val="16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矢印: 下 40">
            <a:extLst>
              <a:ext uri="{FF2B5EF4-FFF2-40B4-BE49-F238E27FC236}">
                <a16:creationId xmlns:a16="http://schemas.microsoft.com/office/drawing/2014/main" id="{781A5984-3599-DC05-2E88-6BB61F188EB3}"/>
              </a:ext>
            </a:extLst>
          </p:cNvPr>
          <p:cNvSpPr/>
          <p:nvPr/>
        </p:nvSpPr>
        <p:spPr>
          <a:xfrm>
            <a:off x="5657443" y="3630924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1">
                  <a:lumMod val="40000"/>
                  <a:lumOff val="60000"/>
                  <a:alpha val="16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矢印: 下 41">
            <a:extLst>
              <a:ext uri="{FF2B5EF4-FFF2-40B4-BE49-F238E27FC236}">
                <a16:creationId xmlns:a16="http://schemas.microsoft.com/office/drawing/2014/main" id="{1C76D7C3-BFEE-8DA3-57FA-033BD7E35285}"/>
              </a:ext>
            </a:extLst>
          </p:cNvPr>
          <p:cNvSpPr/>
          <p:nvPr/>
        </p:nvSpPr>
        <p:spPr>
          <a:xfrm>
            <a:off x="5657443" y="2019915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1">
                  <a:lumMod val="40000"/>
                  <a:lumOff val="60000"/>
                  <a:alpha val="16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3" name="矢印: 下 42">
            <a:extLst>
              <a:ext uri="{FF2B5EF4-FFF2-40B4-BE49-F238E27FC236}">
                <a16:creationId xmlns:a16="http://schemas.microsoft.com/office/drawing/2014/main" id="{4E9F9DC2-BA49-A440-DA89-D45BC9E52C3A}"/>
              </a:ext>
            </a:extLst>
          </p:cNvPr>
          <p:cNvSpPr/>
          <p:nvPr/>
        </p:nvSpPr>
        <p:spPr>
          <a:xfrm>
            <a:off x="3290805" y="5241933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1">
                  <a:lumMod val="40000"/>
                  <a:lumOff val="60000"/>
                  <a:alpha val="16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4" name="矢印: 下 43">
            <a:extLst>
              <a:ext uri="{FF2B5EF4-FFF2-40B4-BE49-F238E27FC236}">
                <a16:creationId xmlns:a16="http://schemas.microsoft.com/office/drawing/2014/main" id="{6915D3B6-2B4C-5707-CB40-2696B722BA40}"/>
              </a:ext>
            </a:extLst>
          </p:cNvPr>
          <p:cNvSpPr/>
          <p:nvPr/>
        </p:nvSpPr>
        <p:spPr>
          <a:xfrm>
            <a:off x="5657443" y="5241933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6" name="正方形/長方形 45">
            <a:extLst>
              <a:ext uri="{FF2B5EF4-FFF2-40B4-BE49-F238E27FC236}">
                <a16:creationId xmlns:a16="http://schemas.microsoft.com/office/drawing/2014/main" id="{D988BB36-5119-99B1-DF59-D4B80D30745C}"/>
              </a:ext>
            </a:extLst>
          </p:cNvPr>
          <p:cNvSpPr/>
          <p:nvPr/>
        </p:nvSpPr>
        <p:spPr>
          <a:xfrm>
            <a:off x="963202" y="5305611"/>
            <a:ext cx="1706880" cy="338514"/>
          </a:xfrm>
          <a:prstGeom prst="rect">
            <a:avLst/>
          </a:prstGeom>
          <a:solidFill>
            <a:schemeClr val="bg1"/>
          </a:solidFill>
          <a:ln w="952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具体アクション</a:t>
            </a:r>
            <a:endParaRPr kumimoji="1" lang="ja-JP" altLang="en-US" sz="105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48" name="図 47">
            <a:extLst>
              <a:ext uri="{FF2B5EF4-FFF2-40B4-BE49-F238E27FC236}">
                <a16:creationId xmlns:a16="http://schemas.microsoft.com/office/drawing/2014/main" id="{FE05BA15-FE69-7259-F5B1-7935A92DDF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401" y="5203250"/>
            <a:ext cx="582602" cy="543237"/>
          </a:xfrm>
          <a:prstGeom prst="rect">
            <a:avLst/>
          </a:prstGeom>
        </p:spPr>
      </p:pic>
      <p:sp>
        <p:nvSpPr>
          <p:cNvPr id="68" name="矢印: 下 67">
            <a:extLst>
              <a:ext uri="{FF2B5EF4-FFF2-40B4-BE49-F238E27FC236}">
                <a16:creationId xmlns:a16="http://schemas.microsoft.com/office/drawing/2014/main" id="{552BBE13-4EF3-7D14-9401-EE47B669E0A1}"/>
              </a:ext>
            </a:extLst>
          </p:cNvPr>
          <p:cNvSpPr/>
          <p:nvPr/>
        </p:nvSpPr>
        <p:spPr>
          <a:xfrm>
            <a:off x="8023941" y="3630924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9" name="矢印: 下 68">
            <a:extLst>
              <a:ext uri="{FF2B5EF4-FFF2-40B4-BE49-F238E27FC236}">
                <a16:creationId xmlns:a16="http://schemas.microsoft.com/office/drawing/2014/main" id="{1CE2AD45-B81D-8C9E-9BEA-EE8F41408D09}"/>
              </a:ext>
            </a:extLst>
          </p:cNvPr>
          <p:cNvSpPr/>
          <p:nvPr/>
        </p:nvSpPr>
        <p:spPr>
          <a:xfrm>
            <a:off x="8023941" y="5241933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bg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0" name="矢印: 下 69">
            <a:extLst>
              <a:ext uri="{FF2B5EF4-FFF2-40B4-BE49-F238E27FC236}">
                <a16:creationId xmlns:a16="http://schemas.microsoft.com/office/drawing/2014/main" id="{841F38E6-682B-0593-E7F1-B970924D2312}"/>
              </a:ext>
            </a:extLst>
          </p:cNvPr>
          <p:cNvSpPr/>
          <p:nvPr/>
        </p:nvSpPr>
        <p:spPr>
          <a:xfrm>
            <a:off x="8007886" y="2028495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1">
                  <a:lumMod val="40000"/>
                  <a:lumOff val="60000"/>
                  <a:alpha val="16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2" name="正方形/長方形 71">
            <a:extLst>
              <a:ext uri="{FF2B5EF4-FFF2-40B4-BE49-F238E27FC236}">
                <a16:creationId xmlns:a16="http://schemas.microsoft.com/office/drawing/2014/main" id="{EB9A5047-E824-A278-1DE7-38BCB5F653E4}"/>
              </a:ext>
            </a:extLst>
          </p:cNvPr>
          <p:cNvSpPr/>
          <p:nvPr/>
        </p:nvSpPr>
        <p:spPr>
          <a:xfrm>
            <a:off x="2835604" y="2013850"/>
            <a:ext cx="1706880" cy="338514"/>
          </a:xfrm>
          <a:prstGeom prst="rect">
            <a:avLst/>
          </a:prstGeom>
          <a:solidFill>
            <a:schemeClr val="bg1"/>
          </a:solidFill>
          <a:ln w="952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その他動線</a:t>
            </a:r>
            <a:endParaRPr kumimoji="1" lang="ja-JP" altLang="en-US" sz="105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D0BB931D-9C48-0F74-78B7-B39FB7567FB3}"/>
              </a:ext>
            </a:extLst>
          </p:cNvPr>
          <p:cNvGrpSpPr/>
          <p:nvPr/>
        </p:nvGrpSpPr>
        <p:grpSpPr>
          <a:xfrm>
            <a:off x="2497445" y="1791214"/>
            <a:ext cx="885030" cy="827297"/>
            <a:chOff x="2497445" y="1791214"/>
            <a:chExt cx="885030" cy="827297"/>
          </a:xfrm>
        </p:grpSpPr>
        <p:pic>
          <p:nvPicPr>
            <p:cNvPr id="73" name="図 72">
              <a:extLst>
                <a:ext uri="{FF2B5EF4-FFF2-40B4-BE49-F238E27FC236}">
                  <a16:creationId xmlns:a16="http://schemas.microsoft.com/office/drawing/2014/main" id="{95316F7A-1FC1-3A66-5456-79F5F636388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497445" y="1791214"/>
              <a:ext cx="420559" cy="556499"/>
            </a:xfrm>
            <a:prstGeom prst="rect">
              <a:avLst/>
            </a:prstGeom>
          </p:spPr>
        </p:pic>
        <p:pic>
          <p:nvPicPr>
            <p:cNvPr id="74" name="図 73" descr="生活・その他】SNSとスマホのかわいいフリーイラスト | フタバのフリーイラスト">
              <a:extLst>
                <a:ext uri="{FF2B5EF4-FFF2-40B4-BE49-F238E27FC236}">
                  <a16:creationId xmlns:a16="http://schemas.microsoft.com/office/drawing/2014/main" id="{425A3C52-3D63-0CC5-2649-471F74876F0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610493" y="1846529"/>
              <a:ext cx="771982" cy="771982"/>
            </a:xfrm>
            <a:prstGeom prst="rect">
              <a:avLst/>
            </a:prstGeom>
          </p:spPr>
        </p:pic>
      </p:grpSp>
      <p:sp>
        <p:nvSpPr>
          <p:cNvPr id="76" name="テキスト ボックス 75">
            <a:extLst>
              <a:ext uri="{FF2B5EF4-FFF2-40B4-BE49-F238E27FC236}">
                <a16:creationId xmlns:a16="http://schemas.microsoft.com/office/drawing/2014/main" id="{A26D9D0D-8E50-52D9-7E65-8B19393671D2}"/>
              </a:ext>
            </a:extLst>
          </p:cNvPr>
          <p:cNvSpPr txBox="1"/>
          <p:nvPr/>
        </p:nvSpPr>
        <p:spPr>
          <a:xfrm>
            <a:off x="4820619" y="2013850"/>
            <a:ext cx="2466126" cy="861774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</a:t>
            </a:r>
            <a:r>
              <a:rPr lang="en-US" altLang="ja-JP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LINE</a:t>
            </a:r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友だち追加によるメリット提示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✓限定クーポン　✓限定特典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1000" dirty="0"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</a:t>
            </a:r>
            <a:r>
              <a:rPr lang="en-US" altLang="ja-JP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LINE</a:t>
            </a:r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上でのコミュニケーション誘導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</a:t>
            </a:r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LINE</a:t>
            </a:r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で査定　✓</a:t>
            </a:r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LINE</a:t>
            </a:r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で相談</a:t>
            </a:r>
            <a:endParaRPr lang="ja-JP" altLang="en-US" sz="10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77" name="テキスト ボックス 76">
            <a:extLst>
              <a:ext uri="{FF2B5EF4-FFF2-40B4-BE49-F238E27FC236}">
                <a16:creationId xmlns:a16="http://schemas.microsoft.com/office/drawing/2014/main" id="{CFFD44FF-E632-A42A-AFD2-C978D5EB4382}"/>
              </a:ext>
            </a:extLst>
          </p:cNvPr>
          <p:cNvSpPr txBox="1"/>
          <p:nvPr/>
        </p:nvSpPr>
        <p:spPr>
          <a:xfrm>
            <a:off x="7498219" y="2013850"/>
            <a:ext cx="1852837" cy="861774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</a:t>
            </a:r>
            <a:r>
              <a:rPr lang="en-US" altLang="ja-JP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LINE</a:t>
            </a:r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でのナーチャリング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✓アンケート回答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1000" dirty="0"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</a:t>
            </a:r>
            <a:r>
              <a:rPr lang="en-US" altLang="ja-JP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LINE</a:t>
            </a:r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で診断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✓おすすめプランの提示</a:t>
            </a:r>
            <a:endParaRPr lang="ja-JP" altLang="en-US" sz="10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78" name="テキスト ボックス 77">
            <a:extLst>
              <a:ext uri="{FF2B5EF4-FFF2-40B4-BE49-F238E27FC236}">
                <a16:creationId xmlns:a16="http://schemas.microsoft.com/office/drawing/2014/main" id="{2A92B9D2-AE81-B8F1-2775-9BABDBB2FB72}"/>
              </a:ext>
            </a:extLst>
          </p:cNvPr>
          <p:cNvSpPr txBox="1"/>
          <p:nvPr/>
        </p:nvSpPr>
        <p:spPr>
          <a:xfrm>
            <a:off x="4820619" y="3575596"/>
            <a:ext cx="2466126" cy="1015663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◯企画投稿</a:t>
            </a:r>
            <a:r>
              <a:rPr lang="ja-JP" altLang="en-US" sz="1000" b="1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（月間投稿数）</a:t>
            </a:r>
            <a:endParaRPr lang="en-US" altLang="ja-JP" sz="1000" b="1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✓〇〇の季節、〇〇の日にちなんだ</a:t>
            </a:r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…</a:t>
            </a:r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。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年齢→ライフイベント、よくある悩み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アンケ回答例→学習コンテンツ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</p:txBody>
      </p:sp>
      <p:sp>
        <p:nvSpPr>
          <p:cNvPr id="79" name="テキスト ボックス 78">
            <a:extLst>
              <a:ext uri="{FF2B5EF4-FFF2-40B4-BE49-F238E27FC236}">
                <a16:creationId xmlns:a16="http://schemas.microsoft.com/office/drawing/2014/main" id="{3F5D2439-D550-34BB-53D6-091E9B32BF3C}"/>
              </a:ext>
            </a:extLst>
          </p:cNvPr>
          <p:cNvSpPr txBox="1"/>
          <p:nvPr/>
        </p:nvSpPr>
        <p:spPr>
          <a:xfrm>
            <a:off x="7303671" y="3575596"/>
            <a:ext cx="2241933" cy="954107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◯ステップ配信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✓友だち追加後◯日で</a:t>
            </a:r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…</a:t>
            </a:r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。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（前後検索ニーズを調査）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600" dirty="0"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✓学習が進行する導線設計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(</a:t>
            </a:r>
            <a:r>
              <a:rPr lang="ja-JP" altLang="en-US" sz="9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特典等</a:t>
            </a:r>
            <a:r>
              <a:rPr lang="en-US" altLang="ja-JP" sz="9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&gt;</a:t>
            </a:r>
            <a:r>
              <a:rPr lang="ja-JP" altLang="en-US" sz="9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興味</a:t>
            </a:r>
            <a:r>
              <a:rPr lang="en-US" altLang="ja-JP" sz="9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&gt;</a:t>
            </a:r>
            <a:r>
              <a:rPr lang="ja-JP" altLang="en-US" sz="9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共感</a:t>
            </a:r>
            <a:r>
              <a:rPr lang="en-US" altLang="ja-JP" sz="9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&gt;</a:t>
            </a:r>
            <a:r>
              <a:rPr lang="ja-JP" altLang="en-US" sz="9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信頼</a:t>
            </a:r>
            <a:r>
              <a:rPr lang="en-US" altLang="ja-JP" sz="9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&gt;</a:t>
            </a:r>
            <a:r>
              <a:rPr lang="ja-JP" altLang="en-US" sz="9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オファー</a:t>
            </a:r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)</a:t>
            </a:r>
          </a:p>
        </p:txBody>
      </p:sp>
      <p:sp>
        <p:nvSpPr>
          <p:cNvPr id="82" name="テキスト ボックス 81">
            <a:extLst>
              <a:ext uri="{FF2B5EF4-FFF2-40B4-BE49-F238E27FC236}">
                <a16:creationId xmlns:a16="http://schemas.microsoft.com/office/drawing/2014/main" id="{F966D387-7E84-4F68-9C81-89F870210C79}"/>
              </a:ext>
            </a:extLst>
          </p:cNvPr>
          <p:cNvSpPr txBox="1"/>
          <p:nvPr/>
        </p:nvSpPr>
        <p:spPr>
          <a:xfrm>
            <a:off x="2772451" y="3575596"/>
            <a:ext cx="1852837" cy="1015663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◯あいさつメッセージ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◯アンケート</a:t>
            </a:r>
            <a:r>
              <a:rPr lang="en-US" altLang="ja-JP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/</a:t>
            </a:r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情報収集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b="1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配信セグメントに活用</a:t>
            </a:r>
            <a:endParaRPr lang="en-US" altLang="ja-JP" sz="1000" b="1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◯プロフ・リッチメニュー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</p:txBody>
      </p:sp>
      <p:sp>
        <p:nvSpPr>
          <p:cNvPr id="83" name="テキスト ボックス 82">
            <a:extLst>
              <a:ext uri="{FF2B5EF4-FFF2-40B4-BE49-F238E27FC236}">
                <a16:creationId xmlns:a16="http://schemas.microsoft.com/office/drawing/2014/main" id="{DCCA9A41-7AF8-A7E5-C05D-3CCE4D53D056}"/>
              </a:ext>
            </a:extLst>
          </p:cNvPr>
          <p:cNvSpPr txBox="1"/>
          <p:nvPr/>
        </p:nvSpPr>
        <p:spPr>
          <a:xfrm>
            <a:off x="7493762" y="5192489"/>
            <a:ext cx="1852837" cy="969496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</a:t>
            </a:r>
            <a:r>
              <a:rPr lang="en-US" altLang="ja-JP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(</a:t>
            </a:r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アフター</a:t>
            </a:r>
            <a:r>
              <a:rPr lang="en-US" altLang="ja-JP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)</a:t>
            </a:r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フォロー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✓よくある</a:t>
            </a:r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QA</a:t>
            </a:r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集の自動化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✓チャット定型文の作成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7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◯友だち紹介斡旋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✓紹介</a:t>
            </a:r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CP</a:t>
            </a:r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などに誘導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</p:txBody>
      </p:sp>
      <p:sp>
        <p:nvSpPr>
          <p:cNvPr id="84" name="テキスト ボックス 83">
            <a:extLst>
              <a:ext uri="{FF2B5EF4-FFF2-40B4-BE49-F238E27FC236}">
                <a16:creationId xmlns:a16="http://schemas.microsoft.com/office/drawing/2014/main" id="{51666C25-34AB-775A-D360-970178A01029}"/>
              </a:ext>
            </a:extLst>
          </p:cNvPr>
          <p:cNvSpPr txBox="1"/>
          <p:nvPr/>
        </p:nvSpPr>
        <p:spPr>
          <a:xfrm>
            <a:off x="5015076" y="5197869"/>
            <a:ext cx="2038121" cy="861774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◯アクション済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✓応答メッセージ等で満足度↑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◯再購入・クロスセル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✓再購入時期、併売商品を設定</a:t>
            </a:r>
            <a:endParaRPr lang="en-US" altLang="ja-JP" sz="100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</p:txBody>
      </p:sp>
      <p:sp>
        <p:nvSpPr>
          <p:cNvPr id="85" name="テキスト ボックス 84">
            <a:extLst>
              <a:ext uri="{FF2B5EF4-FFF2-40B4-BE49-F238E27FC236}">
                <a16:creationId xmlns:a16="http://schemas.microsoft.com/office/drawing/2014/main" id="{E36E01A8-5E8D-6868-5242-258854A6C11E}"/>
              </a:ext>
            </a:extLst>
          </p:cNvPr>
          <p:cNvSpPr txBox="1"/>
          <p:nvPr/>
        </p:nvSpPr>
        <p:spPr>
          <a:xfrm>
            <a:off x="2577903" y="5197869"/>
            <a:ext cx="2241933" cy="954107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◯再・簡易アンケート</a:t>
            </a:r>
            <a:r>
              <a:rPr lang="en-US" altLang="ja-JP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(</a:t>
            </a:r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診断</a:t>
            </a:r>
            <a:r>
              <a:rPr lang="en-US" altLang="ja-JP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)</a:t>
            </a: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✓休眠層に対して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サービス軸と異なる診断軸を用意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6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◯商品訴求を再押し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✓再度サービス訴求を実施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</p:txBody>
      </p:sp>
      <p:sp>
        <p:nvSpPr>
          <p:cNvPr id="8" name="矢印: 下 7">
            <a:extLst>
              <a:ext uri="{FF2B5EF4-FFF2-40B4-BE49-F238E27FC236}">
                <a16:creationId xmlns:a16="http://schemas.microsoft.com/office/drawing/2014/main" id="{BE6FB710-6D0D-A062-5DC4-E7437CE5BDE1}"/>
              </a:ext>
            </a:extLst>
          </p:cNvPr>
          <p:cNvSpPr/>
          <p:nvPr/>
        </p:nvSpPr>
        <p:spPr>
          <a:xfrm>
            <a:off x="8045609" y="1409403"/>
            <a:ext cx="871728" cy="395993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矢印: 下 9">
            <a:extLst>
              <a:ext uri="{FF2B5EF4-FFF2-40B4-BE49-F238E27FC236}">
                <a16:creationId xmlns:a16="http://schemas.microsoft.com/office/drawing/2014/main" id="{92FDFDEB-CB5F-8A45-29AB-C10FC6580A7C}"/>
              </a:ext>
            </a:extLst>
          </p:cNvPr>
          <p:cNvSpPr/>
          <p:nvPr/>
        </p:nvSpPr>
        <p:spPr>
          <a:xfrm>
            <a:off x="8919666" y="1412851"/>
            <a:ext cx="871728" cy="395993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bg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矢印: 下 10">
            <a:extLst>
              <a:ext uri="{FF2B5EF4-FFF2-40B4-BE49-F238E27FC236}">
                <a16:creationId xmlns:a16="http://schemas.microsoft.com/office/drawing/2014/main" id="{218212FE-3645-DB9F-3397-0748130F1AF8}"/>
              </a:ext>
            </a:extLst>
          </p:cNvPr>
          <p:cNvSpPr/>
          <p:nvPr/>
        </p:nvSpPr>
        <p:spPr>
          <a:xfrm>
            <a:off x="7180483" y="1412851"/>
            <a:ext cx="871728" cy="395993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1">
                  <a:lumMod val="40000"/>
                  <a:lumOff val="60000"/>
                  <a:alpha val="16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2D2D0860-25E1-93CE-4600-A1274BD77509}"/>
              </a:ext>
            </a:extLst>
          </p:cNvPr>
          <p:cNvSpPr txBox="1"/>
          <p:nvPr/>
        </p:nvSpPr>
        <p:spPr>
          <a:xfrm>
            <a:off x="7180483" y="1445284"/>
            <a:ext cx="8717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企画</a:t>
            </a:r>
            <a:endParaRPr lang="en-US" altLang="ja-JP" sz="800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投稿</a:t>
            </a:r>
            <a:endParaRPr lang="ja-JP" altLang="en-US" sz="800" dirty="0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A87B802C-245D-9C6E-1C33-7190F3073124}"/>
              </a:ext>
            </a:extLst>
          </p:cNvPr>
          <p:cNvSpPr txBox="1"/>
          <p:nvPr/>
        </p:nvSpPr>
        <p:spPr>
          <a:xfrm>
            <a:off x="8050075" y="1452197"/>
            <a:ext cx="8717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ステップ</a:t>
            </a:r>
            <a:endParaRPr lang="en-US" altLang="ja-JP" sz="8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配信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D775BACA-B985-5029-1E70-8D28879E88EC}"/>
              </a:ext>
            </a:extLst>
          </p:cNvPr>
          <p:cNvSpPr txBox="1"/>
          <p:nvPr/>
        </p:nvSpPr>
        <p:spPr>
          <a:xfrm>
            <a:off x="8910735" y="1438122"/>
            <a:ext cx="8717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貴社対応</a:t>
            </a:r>
            <a:endParaRPr lang="en-US" altLang="ja-JP" sz="8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en-US" altLang="ja-JP" sz="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軽減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B0439D32-FABC-CA34-F07C-587F509AEF1D}"/>
              </a:ext>
            </a:extLst>
          </p:cNvPr>
          <p:cNvSpPr/>
          <p:nvPr/>
        </p:nvSpPr>
        <p:spPr>
          <a:xfrm>
            <a:off x="7116723" y="1367434"/>
            <a:ext cx="2725750" cy="483252"/>
          </a:xfrm>
          <a:prstGeom prst="rect">
            <a:avLst/>
          </a:prstGeom>
          <a:noFill/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B6880BFB-9CE8-682D-5E73-400E7A9D4984}"/>
              </a:ext>
            </a:extLst>
          </p:cNvPr>
          <p:cNvCxnSpPr>
            <a:cxnSpLocks/>
            <a:stCxn id="74" idx="2"/>
            <a:endCxn id="25" idx="0"/>
          </p:cNvCxnSpPr>
          <p:nvPr/>
        </p:nvCxnSpPr>
        <p:spPr>
          <a:xfrm rot="5400000">
            <a:off x="1884437" y="2550716"/>
            <a:ext cx="1044252" cy="1179842"/>
          </a:xfrm>
          <a:prstGeom prst="bentConnector3">
            <a:avLst>
              <a:gd name="adj1" fmla="val 50000"/>
            </a:avLst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コネクタ: カギ線 26">
            <a:extLst>
              <a:ext uri="{FF2B5EF4-FFF2-40B4-BE49-F238E27FC236}">
                <a16:creationId xmlns:a16="http://schemas.microsoft.com/office/drawing/2014/main" id="{EF07FDA7-6FC7-C204-99A4-DB47A6724969}"/>
              </a:ext>
            </a:extLst>
          </p:cNvPr>
          <p:cNvCxnSpPr>
            <a:cxnSpLocks/>
            <a:endCxn id="25" idx="0"/>
          </p:cNvCxnSpPr>
          <p:nvPr/>
        </p:nvCxnSpPr>
        <p:spPr>
          <a:xfrm rot="16200000" flipH="1">
            <a:off x="693395" y="2539516"/>
            <a:ext cx="1138050" cy="1108444"/>
          </a:xfrm>
          <a:prstGeom prst="bentConnector3">
            <a:avLst>
              <a:gd name="adj1" fmla="val 54185"/>
            </a:avLst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線矢印コネクタ 36">
            <a:extLst>
              <a:ext uri="{FF2B5EF4-FFF2-40B4-BE49-F238E27FC236}">
                <a16:creationId xmlns:a16="http://schemas.microsoft.com/office/drawing/2014/main" id="{B79B5748-0A9B-B2A8-36EE-9B6743393A50}"/>
              </a:ext>
            </a:extLst>
          </p:cNvPr>
          <p:cNvCxnSpPr>
            <a:stCxn id="25" idx="2"/>
            <a:endCxn id="46" idx="0"/>
          </p:cNvCxnSpPr>
          <p:nvPr/>
        </p:nvCxnSpPr>
        <p:spPr>
          <a:xfrm>
            <a:off x="1816642" y="4001277"/>
            <a:ext cx="0" cy="130433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86567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DD1AF94-39A6-ED70-5918-C4DFB0937C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FAA7E1F7-0824-AE94-5B85-AB7CDE6A3947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改善モデル①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C0FCF3C4-80C9-827F-1385-EBD6AE02077C}"/>
              </a:ext>
            </a:extLst>
          </p:cNvPr>
          <p:cNvSpPr/>
          <p:nvPr/>
        </p:nvSpPr>
        <p:spPr>
          <a:xfrm>
            <a:off x="0" y="777240"/>
            <a:ext cx="1802674" cy="50292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施策内容</a:t>
            </a:r>
          </a:p>
        </p:txBody>
      </p:sp>
      <p:sp>
        <p:nvSpPr>
          <p:cNvPr id="3" name="Google Shape;752;p28">
            <a:extLst>
              <a:ext uri="{FF2B5EF4-FFF2-40B4-BE49-F238E27FC236}">
                <a16:creationId xmlns:a16="http://schemas.microsoft.com/office/drawing/2014/main" id="{C5064B01-7057-EF97-C2C2-7EA1400AE068}"/>
              </a:ext>
            </a:extLst>
          </p:cNvPr>
          <p:cNvSpPr txBox="1"/>
          <p:nvPr/>
        </p:nvSpPr>
        <p:spPr>
          <a:xfrm>
            <a:off x="1988819" y="859442"/>
            <a:ext cx="777430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LINE</a:t>
            </a:r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施策を通じて貴社に送ることが出来る個人情報を最大化する。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6AB9A59D-5D83-F4A0-8E07-0F2D6665420A}"/>
              </a:ext>
            </a:extLst>
          </p:cNvPr>
          <p:cNvSpPr txBox="1"/>
          <p:nvPr/>
        </p:nvSpPr>
        <p:spPr>
          <a:xfrm>
            <a:off x="334303" y="1425401"/>
            <a:ext cx="1868111" cy="383023"/>
          </a:xfrm>
          <a:prstGeom prst="rect">
            <a:avLst/>
          </a:prstGeom>
          <a:solidFill>
            <a:schemeClr val="accent6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① 接触（認知・流入）</a:t>
            </a: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77440BBB-52A3-1900-D18A-8AF25E970934}"/>
              </a:ext>
            </a:extLst>
          </p:cNvPr>
          <p:cNvSpPr txBox="1"/>
          <p:nvPr/>
        </p:nvSpPr>
        <p:spPr>
          <a:xfrm>
            <a:off x="1268358" y="1636063"/>
            <a:ext cx="1868111" cy="383023"/>
          </a:xfrm>
          <a:prstGeom prst="rect">
            <a:avLst/>
          </a:prstGeom>
          <a:solidFill>
            <a:schemeClr val="accent6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② サイト離脱</a:t>
            </a: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（対策）</a:t>
            </a:r>
            <a:endParaRPr lang="ja-JP" altLang="ja-JP" sz="11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5A50DC53-429F-39BB-C171-6F57EE64F0C2}"/>
              </a:ext>
            </a:extLst>
          </p:cNvPr>
          <p:cNvSpPr txBox="1"/>
          <p:nvPr/>
        </p:nvSpPr>
        <p:spPr>
          <a:xfrm>
            <a:off x="2202413" y="1830173"/>
            <a:ext cx="1868111" cy="383023"/>
          </a:xfrm>
          <a:prstGeom prst="rect">
            <a:avLst/>
          </a:prstGeom>
          <a:solidFill>
            <a:schemeClr val="accent6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③ 育成（興味</a:t>
            </a: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喚起</a:t>
            </a:r>
            <a:r>
              <a:rPr lang="ja-JP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）</a:t>
            </a:r>
          </a:p>
        </p:txBody>
      </p:sp>
      <p:cxnSp>
        <p:nvCxnSpPr>
          <p:cNvPr id="32" name="コネクタ: カギ線 31">
            <a:extLst>
              <a:ext uri="{FF2B5EF4-FFF2-40B4-BE49-F238E27FC236}">
                <a16:creationId xmlns:a16="http://schemas.microsoft.com/office/drawing/2014/main" id="{A2FE37DB-7FF9-8AA6-3138-A9AA0818706B}"/>
              </a:ext>
            </a:extLst>
          </p:cNvPr>
          <p:cNvCxnSpPr>
            <a:cxnSpLocks/>
            <a:endCxn id="6" idx="2"/>
          </p:cNvCxnSpPr>
          <p:nvPr/>
        </p:nvCxnSpPr>
        <p:spPr>
          <a:xfrm rot="5400000" flipH="1" flipV="1">
            <a:off x="4284885" y="1729027"/>
            <a:ext cx="218990" cy="365616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60AD3EC5-397C-F2E1-06DA-B35AA3F6DA3B}"/>
              </a:ext>
            </a:extLst>
          </p:cNvPr>
          <p:cNvSpPr txBox="1"/>
          <p:nvPr/>
        </p:nvSpPr>
        <p:spPr>
          <a:xfrm>
            <a:off x="3542139" y="1419317"/>
            <a:ext cx="2352196" cy="383023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⑤ リード有効化</a:t>
            </a:r>
            <a:endParaRPr lang="ja-JP" altLang="ja-JP" sz="11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A916BF7B-2A5E-9585-D6BF-4545B58F8CDA}"/>
              </a:ext>
            </a:extLst>
          </p:cNvPr>
          <p:cNvSpPr txBox="1"/>
          <p:nvPr/>
        </p:nvSpPr>
        <p:spPr>
          <a:xfrm>
            <a:off x="6119413" y="1828475"/>
            <a:ext cx="2352196" cy="383023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⑦マネタイズ</a:t>
            </a:r>
            <a:r>
              <a:rPr lang="en-US" altLang="ja-JP" sz="10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成約</a:t>
            </a:r>
            <a:r>
              <a:rPr lang="en-US" altLang="ja-JP" sz="10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/</a:t>
            </a:r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購入</a:t>
            </a:r>
            <a:r>
              <a:rPr lang="en-US" altLang="ja-JP" sz="10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  <a:endParaRPr lang="ja-JP" altLang="ja-JP" sz="11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0CF33E8B-8A1D-B1FB-4244-9F0AFB92429B}"/>
              </a:ext>
            </a:extLst>
          </p:cNvPr>
          <p:cNvSpPr txBox="1"/>
          <p:nvPr/>
        </p:nvSpPr>
        <p:spPr>
          <a:xfrm>
            <a:off x="4830776" y="1623896"/>
            <a:ext cx="2352196" cy="383023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⑥ 有効リードの再育成</a:t>
            </a:r>
            <a:endParaRPr lang="ja-JP" altLang="ja-JP" sz="11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916C11C4-F5B8-BBD3-EE11-4BBAC85EFEF6}"/>
              </a:ext>
            </a:extLst>
          </p:cNvPr>
          <p:cNvSpPr txBox="1"/>
          <p:nvPr/>
        </p:nvSpPr>
        <p:spPr>
          <a:xfrm>
            <a:off x="7408050" y="2033054"/>
            <a:ext cx="2352196" cy="400110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⑧</a:t>
            </a:r>
            <a:r>
              <a:rPr lang="en-US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LTV</a:t>
            </a: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最大化・紹介</a:t>
            </a:r>
            <a:endParaRPr lang="en-US" altLang="ja-JP" sz="11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>
              <a:buNone/>
            </a:pPr>
            <a:endParaRPr lang="ja-JP" altLang="ja-JP" sz="9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4900F58B-9BD8-36E8-2837-7D435FEE306F}"/>
              </a:ext>
            </a:extLst>
          </p:cNvPr>
          <p:cNvSpPr/>
          <p:nvPr/>
        </p:nvSpPr>
        <p:spPr>
          <a:xfrm>
            <a:off x="175475" y="2510144"/>
            <a:ext cx="4721072" cy="3917818"/>
          </a:xfrm>
          <a:prstGeom prst="rect">
            <a:avLst/>
          </a:prstGeom>
          <a:solidFill>
            <a:schemeClr val="bg1">
              <a:lumMod val="95000"/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kumimoji="1" lang="ja-JP" altLang="en-US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94AA99B3-016F-5352-F0F9-97BF2EF9495B}"/>
              </a:ext>
            </a:extLst>
          </p:cNvPr>
          <p:cNvSpPr/>
          <p:nvPr/>
        </p:nvSpPr>
        <p:spPr>
          <a:xfrm>
            <a:off x="4994298" y="2510143"/>
            <a:ext cx="4721072" cy="3917818"/>
          </a:xfrm>
          <a:prstGeom prst="rect">
            <a:avLst/>
          </a:prstGeom>
          <a:solidFill>
            <a:schemeClr val="bg1">
              <a:lumMod val="95000"/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A045185E-6C2C-A6FD-00A8-0A9C05295D96}"/>
              </a:ext>
            </a:extLst>
          </p:cNvPr>
          <p:cNvSpPr/>
          <p:nvPr/>
        </p:nvSpPr>
        <p:spPr>
          <a:xfrm>
            <a:off x="8382000" y="898654"/>
            <a:ext cx="1223554" cy="26009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5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成果報酬：可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EDFACFC7-1B18-419B-64DD-5EB407E04E3D}"/>
              </a:ext>
            </a:extLst>
          </p:cNvPr>
          <p:cNvSpPr/>
          <p:nvPr/>
        </p:nvSpPr>
        <p:spPr>
          <a:xfrm>
            <a:off x="196606" y="1304119"/>
            <a:ext cx="9709394" cy="1206024"/>
          </a:xfrm>
          <a:prstGeom prst="rect">
            <a:avLst/>
          </a:prstGeom>
          <a:solidFill>
            <a:schemeClr val="bg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F808170B-2E7D-DA91-C855-5B0F96687E57}"/>
              </a:ext>
            </a:extLst>
          </p:cNvPr>
          <p:cNvSpPr txBox="1"/>
          <p:nvPr/>
        </p:nvSpPr>
        <p:spPr>
          <a:xfrm>
            <a:off x="3136468" y="2021330"/>
            <a:ext cx="1868111" cy="348203"/>
          </a:xfrm>
          <a:prstGeom prst="rect">
            <a:avLst/>
          </a:prstGeom>
          <a:solidFill>
            <a:srgbClr val="2080FF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1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④リード獲得 </a:t>
            </a:r>
            <a:r>
              <a:rPr lang="en-US" altLang="ja-JP" sz="9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(web/LINE)</a:t>
            </a:r>
            <a:endParaRPr lang="ja-JP" altLang="ja-JP" sz="105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15" name="正方形/長方形 214">
            <a:extLst>
              <a:ext uri="{FF2B5EF4-FFF2-40B4-BE49-F238E27FC236}">
                <a16:creationId xmlns:a16="http://schemas.microsoft.com/office/drawing/2014/main" id="{0D93F268-2976-E24C-FFDF-A52C518BD95E}"/>
              </a:ext>
            </a:extLst>
          </p:cNvPr>
          <p:cNvSpPr/>
          <p:nvPr/>
        </p:nvSpPr>
        <p:spPr>
          <a:xfrm>
            <a:off x="272142" y="2590761"/>
            <a:ext cx="4541216" cy="26009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5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広告・集客の成果地点として</a:t>
            </a:r>
            <a:r>
              <a:rPr kumimoji="1" lang="en-US" altLang="ja-JP" sz="105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kumimoji="1" lang="ja-JP" altLang="en-US" sz="105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を追加する</a:t>
            </a:r>
          </a:p>
        </p:txBody>
      </p:sp>
      <p:sp>
        <p:nvSpPr>
          <p:cNvPr id="217" name="正方形/長方形 216">
            <a:extLst>
              <a:ext uri="{FF2B5EF4-FFF2-40B4-BE49-F238E27FC236}">
                <a16:creationId xmlns:a16="http://schemas.microsoft.com/office/drawing/2014/main" id="{EFE9DDC0-6FAF-EE1E-D2F6-1599D9760DFE}"/>
              </a:ext>
            </a:extLst>
          </p:cNvPr>
          <p:cNvSpPr/>
          <p:nvPr/>
        </p:nvSpPr>
        <p:spPr>
          <a:xfrm>
            <a:off x="5084226" y="2584677"/>
            <a:ext cx="4541216" cy="26009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05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05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の特典・メリットを適切なタイミングで提示し</a:t>
            </a:r>
            <a:r>
              <a:rPr lang="en-US" altLang="ja-JP" sz="105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CV</a:t>
            </a:r>
            <a:r>
              <a:rPr lang="ja-JP" altLang="en-US" sz="105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へ</a:t>
            </a:r>
          </a:p>
        </p:txBody>
      </p:sp>
      <p:sp>
        <p:nvSpPr>
          <p:cNvPr id="265" name="Shape 59">
            <a:extLst>
              <a:ext uri="{FF2B5EF4-FFF2-40B4-BE49-F238E27FC236}">
                <a16:creationId xmlns:a16="http://schemas.microsoft.com/office/drawing/2014/main" id="{2B92E1A5-40B4-D866-C1EB-8ACEB8EE470D}"/>
              </a:ext>
            </a:extLst>
          </p:cNvPr>
          <p:cNvSpPr/>
          <p:nvPr/>
        </p:nvSpPr>
        <p:spPr>
          <a:xfrm>
            <a:off x="265419" y="4842285"/>
            <a:ext cx="4541216" cy="1600804"/>
          </a:xfrm>
          <a:prstGeom prst="roundRect">
            <a:avLst>
              <a:gd name="adj" fmla="val 5263"/>
            </a:avLst>
          </a:prstGeom>
          <a:solidFill>
            <a:srgbClr val="F5F5F8"/>
          </a:solidFill>
          <a:ln w="12700">
            <a:solidFill>
              <a:srgbClr val="D0D3E4"/>
            </a:solidFill>
            <a:prstDash val="solid"/>
          </a:ln>
          <a:effectLst>
            <a:outerShdw blurRad="50800" dist="12700" dir="8100000" algn="bl" rotWithShape="0">
              <a:srgbClr val="B0B4CC">
                <a:alpha val="10000"/>
              </a:srgbClr>
            </a:outerShdw>
          </a:effectLst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67" name="Shape 63">
            <a:extLst>
              <a:ext uri="{FF2B5EF4-FFF2-40B4-BE49-F238E27FC236}">
                <a16:creationId xmlns:a16="http://schemas.microsoft.com/office/drawing/2014/main" id="{986279D3-31B7-AFE5-0997-A2CDC716E6CD}"/>
              </a:ext>
            </a:extLst>
          </p:cNvPr>
          <p:cNvSpPr/>
          <p:nvPr/>
        </p:nvSpPr>
        <p:spPr>
          <a:xfrm>
            <a:off x="686043" y="4952013"/>
            <a:ext cx="804672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D0D3E4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69" name="Text 64">
            <a:extLst>
              <a:ext uri="{FF2B5EF4-FFF2-40B4-BE49-F238E27FC236}">
                <a16:creationId xmlns:a16="http://schemas.microsoft.com/office/drawing/2014/main" id="{314E4055-2D3D-DC19-BD60-79D095DBA6D9}"/>
              </a:ext>
            </a:extLst>
          </p:cNvPr>
          <p:cNvSpPr/>
          <p:nvPr/>
        </p:nvSpPr>
        <p:spPr>
          <a:xfrm>
            <a:off x="686043" y="4952013"/>
            <a:ext cx="804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0" cap="none" spc="0" normalizeH="0" baseline="0" noProof="0" dirty="0">
                <a:ln>
                  <a:noFill/>
                </a:ln>
                <a:solidFill>
                  <a:srgbClr val="1565C0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LINE広告</a:t>
            </a:r>
            <a:endParaRPr kumimoji="0" lang="en-US" sz="75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71" name="Text 65">
            <a:extLst>
              <a:ext uri="{FF2B5EF4-FFF2-40B4-BE49-F238E27FC236}">
                <a16:creationId xmlns:a16="http://schemas.microsoft.com/office/drawing/2014/main" id="{2259F17B-A9B0-7F43-8907-87383FCBF6CE}"/>
              </a:ext>
            </a:extLst>
          </p:cNvPr>
          <p:cNvSpPr/>
          <p:nvPr/>
        </p:nvSpPr>
        <p:spPr>
          <a:xfrm>
            <a:off x="1545579" y="4924581"/>
            <a:ext cx="33190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rgbClr val="1A1A2E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LINE広告（CPF）完結型 × LINE内チャットボット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73" name="Text 66">
            <a:extLst>
              <a:ext uri="{FF2B5EF4-FFF2-40B4-BE49-F238E27FC236}">
                <a16:creationId xmlns:a16="http://schemas.microsoft.com/office/drawing/2014/main" id="{98D6C858-0A51-D469-C857-32114CFA96FE}"/>
              </a:ext>
            </a:extLst>
          </p:cNvPr>
          <p:cNvSpPr/>
          <p:nvPr/>
        </p:nvSpPr>
        <p:spPr>
          <a:xfrm>
            <a:off x="356859" y="5226333"/>
            <a:ext cx="44497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-JP" sz="850" b="0" i="0" u="none" strike="noStrike" kern="0" cap="none" spc="0" normalizeH="0" baseline="0" noProof="0" dirty="0">
                <a:ln>
                  <a:noFill/>
                </a:ln>
                <a:solidFill>
                  <a:srgbClr val="4A4A6A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LINE</a:t>
            </a:r>
            <a:r>
              <a:rPr kumimoji="0" lang="ja-JP" altLang="en-US" sz="850" b="0" i="0" u="none" strike="noStrike" kern="0" cap="none" spc="0" normalizeH="0" baseline="0" noProof="0" dirty="0">
                <a:ln>
                  <a:noFill/>
                </a:ln>
                <a:solidFill>
                  <a:srgbClr val="4A4A6A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広告の</a:t>
            </a:r>
            <a:r>
              <a:rPr kumimoji="0" lang="en-US" altLang="ja-JP" sz="850" b="0" i="0" u="none" strike="noStrike" kern="0" cap="none" spc="0" normalizeH="0" baseline="0" noProof="0" dirty="0">
                <a:ln>
                  <a:noFill/>
                </a:ln>
                <a:solidFill>
                  <a:srgbClr val="4A4A6A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CPF</a:t>
            </a:r>
            <a:r>
              <a:rPr kumimoji="0" lang="ja-JP" altLang="en-US" sz="850" b="0" i="0" u="none" strike="noStrike" kern="0" cap="none" spc="0" normalizeH="0" baseline="0" noProof="0" dirty="0">
                <a:ln>
                  <a:noFill/>
                </a:ln>
                <a:solidFill>
                  <a:srgbClr val="4A4A6A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を利用して、興味関心</a:t>
            </a:r>
            <a:r>
              <a:rPr kumimoji="0" lang="en-US" altLang="ja-JP" sz="850" b="0" i="0" u="none" strike="noStrike" kern="0" cap="none" spc="0" normalizeH="0" baseline="0" noProof="0" dirty="0">
                <a:ln>
                  <a:noFill/>
                </a:ln>
                <a:solidFill>
                  <a:srgbClr val="4A4A6A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×</a:t>
            </a:r>
            <a:r>
              <a:rPr kumimoji="0" lang="ja-JP" altLang="en-US" sz="850" b="0" i="0" u="none" strike="noStrike" kern="0" cap="none" spc="0" normalizeH="0" baseline="0" noProof="0" dirty="0">
                <a:ln>
                  <a:noFill/>
                </a:ln>
                <a:solidFill>
                  <a:srgbClr val="4A4A6A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商圏でのリード保有数を最大化。</a:t>
            </a:r>
            <a:endParaRPr kumimoji="0" lang="en-US" altLang="ja-JP" sz="850" b="0" i="0" u="none" strike="noStrike" kern="0" cap="none" spc="0" normalizeH="0" baseline="0" noProof="0" dirty="0">
              <a:ln>
                <a:noFill/>
              </a:ln>
              <a:solidFill>
                <a:srgbClr val="4A4A6A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  <a:cs typeface="Calibri" pitchFamily="34" charset="-120"/>
            </a:endParaRPr>
          </a:p>
          <a:p>
            <a:pPr marL="0" marR="0" lvl="0" indent="0" defTabSz="914400" eaLnBrk="1" fontAlgn="auto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0" u="none" strike="noStrike" kern="0" cap="none" spc="0" normalizeH="0" baseline="0" noProof="0" dirty="0" err="1">
                <a:ln>
                  <a:noFill/>
                </a:ln>
                <a:solidFill>
                  <a:srgbClr val="4A4A6A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LINE完結で</a:t>
            </a:r>
            <a:r>
              <a:rPr kumimoji="0" lang="ja-JP" altLang="en-US" sz="850" b="0" i="0" u="none" strike="noStrike" kern="0" cap="none" spc="0" normalizeH="0" baseline="0" noProof="0" dirty="0">
                <a:ln>
                  <a:noFill/>
                </a:ln>
                <a:solidFill>
                  <a:srgbClr val="4A4A6A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、</a:t>
            </a:r>
            <a:r>
              <a:rPr kumimoji="0" lang="en-US" sz="850" b="0" i="0" u="none" strike="noStrike" kern="0" cap="none" spc="0" normalizeH="0" baseline="0" noProof="0" dirty="0" err="1">
                <a:ln>
                  <a:noFill/>
                </a:ln>
                <a:solidFill>
                  <a:srgbClr val="4A4A6A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WEBに遷移させないため離脱ゼロ</a:t>
            </a:r>
            <a:r>
              <a:rPr kumimoji="0" lang="ja-JP" altLang="en-US" sz="850" b="0" i="0" u="none" strike="noStrike" kern="0" cap="none" spc="0" normalizeH="0" baseline="0" noProof="0" dirty="0">
                <a:ln>
                  <a:noFill/>
                </a:ln>
                <a:solidFill>
                  <a:srgbClr val="4A4A6A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でのステップ配信・有効リードの育成へ。</a:t>
            </a:r>
            <a:endParaRPr kumimoji="0" lang="en-US" sz="85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75" name="Shape 68">
            <a:extLst>
              <a:ext uri="{FF2B5EF4-FFF2-40B4-BE49-F238E27FC236}">
                <a16:creationId xmlns:a16="http://schemas.microsoft.com/office/drawing/2014/main" id="{CFA7D9BB-A1E1-31FD-946A-B75B944AADA7}"/>
              </a:ext>
            </a:extLst>
          </p:cNvPr>
          <p:cNvSpPr/>
          <p:nvPr/>
        </p:nvSpPr>
        <p:spPr>
          <a:xfrm>
            <a:off x="430011" y="6011955"/>
            <a:ext cx="420624" cy="219456"/>
          </a:xfrm>
          <a:prstGeom prst="roundRect">
            <a:avLst>
              <a:gd name="adj" fmla="val 16667"/>
            </a:avLst>
          </a:prstGeom>
          <a:solidFill>
            <a:srgbClr val="E6A020"/>
          </a:solidFill>
          <a:ln w="12700">
            <a:solidFill>
              <a:srgbClr val="E6A020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77" name="Text 69">
            <a:extLst>
              <a:ext uri="{FF2B5EF4-FFF2-40B4-BE49-F238E27FC236}">
                <a16:creationId xmlns:a16="http://schemas.microsoft.com/office/drawing/2014/main" id="{94B27B5E-13D7-A4CA-7352-4BBEA8C99224}"/>
              </a:ext>
            </a:extLst>
          </p:cNvPr>
          <p:cNvSpPr/>
          <p:nvPr/>
        </p:nvSpPr>
        <p:spPr>
          <a:xfrm>
            <a:off x="430011" y="6011955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現場注意</a:t>
            </a:r>
            <a:endParaRPr kumimoji="0" lang="en-US" sz="7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79" name="Text 70">
            <a:extLst>
              <a:ext uri="{FF2B5EF4-FFF2-40B4-BE49-F238E27FC236}">
                <a16:creationId xmlns:a16="http://schemas.microsoft.com/office/drawing/2014/main" id="{02B4B046-1456-2549-8D2A-03FE8B9434D4}"/>
              </a:ext>
            </a:extLst>
          </p:cNvPr>
          <p:cNvSpPr/>
          <p:nvPr/>
        </p:nvSpPr>
        <p:spPr>
          <a:xfrm>
            <a:off x="363197" y="5687343"/>
            <a:ext cx="405359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0" cap="none" spc="0" normalizeH="0" baseline="0" noProof="0" dirty="0" err="1">
                <a:ln>
                  <a:noFill/>
                </a:ln>
                <a:solidFill>
                  <a:srgbClr val="B84B00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CPFの強みを活かすならLINE内完結設計が正解</a:t>
            </a: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rgbClr val="B84B00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。</a:t>
            </a:r>
            <a:endParaRPr kumimoji="0" lang="en-US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81" name="Shape 71">
            <a:extLst>
              <a:ext uri="{FF2B5EF4-FFF2-40B4-BE49-F238E27FC236}">
                <a16:creationId xmlns:a16="http://schemas.microsoft.com/office/drawing/2014/main" id="{69A5DB50-D061-75F2-9683-580DA89DA5BD}"/>
              </a:ext>
            </a:extLst>
          </p:cNvPr>
          <p:cNvSpPr/>
          <p:nvPr/>
        </p:nvSpPr>
        <p:spPr>
          <a:xfrm>
            <a:off x="356859" y="5920515"/>
            <a:ext cx="1243584" cy="475488"/>
          </a:xfrm>
          <a:prstGeom prst="roundRect">
            <a:avLst>
              <a:gd name="adj" fmla="val 11538"/>
            </a:avLst>
          </a:prstGeom>
          <a:solidFill>
            <a:srgbClr val="ECEDF3"/>
          </a:solidFill>
          <a:ln w="12700">
            <a:solidFill>
              <a:srgbClr val="D0D3E4"/>
            </a:solidFill>
            <a:prstDash val="solid"/>
          </a:ln>
          <a:effectLst>
            <a:outerShdw blurRad="50800" dist="12700" dir="8100000" algn="bl" rotWithShape="0">
              <a:srgbClr val="B0B4CC">
                <a:alpha val="10000"/>
              </a:srgbClr>
            </a:outerShdw>
          </a:effectLst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83" name="Shape 72">
            <a:extLst>
              <a:ext uri="{FF2B5EF4-FFF2-40B4-BE49-F238E27FC236}">
                <a16:creationId xmlns:a16="http://schemas.microsoft.com/office/drawing/2014/main" id="{1E18DB25-A307-005D-2220-B5D1CB74EDBF}"/>
              </a:ext>
            </a:extLst>
          </p:cNvPr>
          <p:cNvSpPr/>
          <p:nvPr/>
        </p:nvSpPr>
        <p:spPr>
          <a:xfrm>
            <a:off x="411723" y="5975379"/>
            <a:ext cx="182880" cy="182880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85" name="Text 73">
            <a:extLst>
              <a:ext uri="{FF2B5EF4-FFF2-40B4-BE49-F238E27FC236}">
                <a16:creationId xmlns:a16="http://schemas.microsoft.com/office/drawing/2014/main" id="{453E45E2-53B3-3123-A567-3CDA891BBEEF}"/>
              </a:ext>
            </a:extLst>
          </p:cNvPr>
          <p:cNvSpPr/>
          <p:nvPr/>
        </p:nvSpPr>
        <p:spPr>
          <a:xfrm>
            <a:off x="411723" y="5975379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1</a:t>
            </a:r>
            <a:endParaRPr kumimoji="0" lang="en-US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87" name="Text 74">
            <a:extLst>
              <a:ext uri="{FF2B5EF4-FFF2-40B4-BE49-F238E27FC236}">
                <a16:creationId xmlns:a16="http://schemas.microsoft.com/office/drawing/2014/main" id="{35068314-9221-6665-F236-3F5B1A8773D8}"/>
              </a:ext>
            </a:extLst>
          </p:cNvPr>
          <p:cNvSpPr/>
          <p:nvPr/>
        </p:nvSpPr>
        <p:spPr>
          <a:xfrm>
            <a:off x="631179" y="5957091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0" cap="none" spc="0" normalizeH="0" baseline="0" noProof="0" dirty="0">
                <a:ln>
                  <a:noFill/>
                </a:ln>
                <a:solidFill>
                  <a:srgbClr val="1A1A2E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CPF広告タップ</a:t>
            </a:r>
            <a:endParaRPr kumimoji="0" lang="en-US" sz="85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89" name="Text 75">
            <a:extLst>
              <a:ext uri="{FF2B5EF4-FFF2-40B4-BE49-F238E27FC236}">
                <a16:creationId xmlns:a16="http://schemas.microsoft.com/office/drawing/2014/main" id="{9E831384-FBA1-9ABC-D5C4-E9D07BF92DC1}"/>
              </a:ext>
            </a:extLst>
          </p:cNvPr>
          <p:cNvSpPr/>
          <p:nvPr/>
        </p:nvSpPr>
        <p:spPr>
          <a:xfrm>
            <a:off x="411723" y="6167403"/>
            <a:ext cx="11338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0" i="0" u="none" strike="noStrike" kern="0" cap="none" spc="0" normalizeH="0" baseline="0" noProof="0" dirty="0">
                <a:ln>
                  <a:noFill/>
                </a:ln>
                <a:solidFill>
                  <a:srgbClr val="4A4A6A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即・友だち追加</a:t>
            </a:r>
            <a:endParaRPr kumimoji="0" lang="en-US" sz="75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91" name="Text 76">
            <a:extLst>
              <a:ext uri="{FF2B5EF4-FFF2-40B4-BE49-F238E27FC236}">
                <a16:creationId xmlns:a16="http://schemas.microsoft.com/office/drawing/2014/main" id="{B609F64E-3A86-7ABF-C056-68CBD7347946}"/>
              </a:ext>
            </a:extLst>
          </p:cNvPr>
          <p:cNvSpPr/>
          <p:nvPr/>
        </p:nvSpPr>
        <p:spPr>
          <a:xfrm>
            <a:off x="1637019" y="6075963"/>
            <a:ext cx="91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rgbClr val="8888A0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▶</a:t>
            </a:r>
            <a:endParaRPr kumimoji="0" lang="en-US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93" name="Shape 77">
            <a:extLst>
              <a:ext uri="{FF2B5EF4-FFF2-40B4-BE49-F238E27FC236}">
                <a16:creationId xmlns:a16="http://schemas.microsoft.com/office/drawing/2014/main" id="{A42E7FC8-693A-903C-101F-881077D3912E}"/>
              </a:ext>
            </a:extLst>
          </p:cNvPr>
          <p:cNvSpPr/>
          <p:nvPr/>
        </p:nvSpPr>
        <p:spPr>
          <a:xfrm>
            <a:off x="1765035" y="5920515"/>
            <a:ext cx="1243584" cy="475488"/>
          </a:xfrm>
          <a:prstGeom prst="roundRect">
            <a:avLst>
              <a:gd name="adj" fmla="val 11538"/>
            </a:avLst>
          </a:prstGeom>
          <a:solidFill>
            <a:srgbClr val="ECEDF3"/>
          </a:solidFill>
          <a:ln w="12700">
            <a:solidFill>
              <a:srgbClr val="D0D3E4"/>
            </a:solidFill>
            <a:prstDash val="solid"/>
          </a:ln>
          <a:effectLst>
            <a:outerShdw blurRad="50800" dist="12700" dir="8100000" algn="bl" rotWithShape="0">
              <a:srgbClr val="B0B4CC">
                <a:alpha val="10000"/>
              </a:srgbClr>
            </a:outerShdw>
          </a:effectLst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95" name="Shape 78">
            <a:extLst>
              <a:ext uri="{FF2B5EF4-FFF2-40B4-BE49-F238E27FC236}">
                <a16:creationId xmlns:a16="http://schemas.microsoft.com/office/drawing/2014/main" id="{5D77DB8F-3255-B8FA-09A1-BA76AB1E30EC}"/>
              </a:ext>
            </a:extLst>
          </p:cNvPr>
          <p:cNvSpPr/>
          <p:nvPr/>
        </p:nvSpPr>
        <p:spPr>
          <a:xfrm>
            <a:off x="1819899" y="5975379"/>
            <a:ext cx="182880" cy="182880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97" name="Text 79">
            <a:extLst>
              <a:ext uri="{FF2B5EF4-FFF2-40B4-BE49-F238E27FC236}">
                <a16:creationId xmlns:a16="http://schemas.microsoft.com/office/drawing/2014/main" id="{AE657B72-3339-BAE3-9DA8-C9C378371C9D}"/>
              </a:ext>
            </a:extLst>
          </p:cNvPr>
          <p:cNvSpPr/>
          <p:nvPr/>
        </p:nvSpPr>
        <p:spPr>
          <a:xfrm>
            <a:off x="1819899" y="5975379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2</a:t>
            </a:r>
            <a:endParaRPr kumimoji="0" lang="en-US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99" name="Text 80">
            <a:extLst>
              <a:ext uri="{FF2B5EF4-FFF2-40B4-BE49-F238E27FC236}">
                <a16:creationId xmlns:a16="http://schemas.microsoft.com/office/drawing/2014/main" id="{582D1F5A-1093-8B0B-EC93-6F3E17DF1674}"/>
              </a:ext>
            </a:extLst>
          </p:cNvPr>
          <p:cNvSpPr/>
          <p:nvPr/>
        </p:nvSpPr>
        <p:spPr>
          <a:xfrm>
            <a:off x="2041211" y="5957091"/>
            <a:ext cx="9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850" b="1" i="0" u="none" strike="noStrike" kern="0" cap="none" spc="0" normalizeH="0" baseline="0" noProof="0" dirty="0">
                <a:ln>
                  <a:noFill/>
                </a:ln>
                <a:solidFill>
                  <a:srgbClr val="1A1A2E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応答、ステップ起動</a:t>
            </a:r>
            <a:endParaRPr kumimoji="0" lang="en-US" sz="85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01" name="Text 81">
            <a:extLst>
              <a:ext uri="{FF2B5EF4-FFF2-40B4-BE49-F238E27FC236}">
                <a16:creationId xmlns:a16="http://schemas.microsoft.com/office/drawing/2014/main" id="{267A8E72-34E2-AC1E-E783-02748F2A3058}"/>
              </a:ext>
            </a:extLst>
          </p:cNvPr>
          <p:cNvSpPr/>
          <p:nvPr/>
        </p:nvSpPr>
        <p:spPr>
          <a:xfrm>
            <a:off x="1819899" y="6167403"/>
            <a:ext cx="11338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750" b="0" i="0" u="none" strike="noStrike" kern="0" cap="none" spc="0" normalizeH="0" baseline="0" noProof="0" dirty="0">
                <a:ln>
                  <a:noFill/>
                </a:ln>
                <a:solidFill>
                  <a:srgbClr val="4A4A6A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ステップ配信が</a:t>
            </a:r>
            <a:r>
              <a:rPr kumimoji="0" lang="en-US" sz="750" b="0" i="0" u="none" strike="noStrike" kern="0" cap="none" spc="0" normalizeH="0" baseline="0" noProof="0" dirty="0" err="1">
                <a:ln>
                  <a:noFill/>
                </a:ln>
                <a:solidFill>
                  <a:srgbClr val="4A4A6A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起動</a:t>
            </a:r>
            <a:endParaRPr kumimoji="0" lang="en-US" sz="75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03" name="Text 82">
            <a:extLst>
              <a:ext uri="{FF2B5EF4-FFF2-40B4-BE49-F238E27FC236}">
                <a16:creationId xmlns:a16="http://schemas.microsoft.com/office/drawing/2014/main" id="{9B65E420-0374-979E-BAA2-48722980545C}"/>
              </a:ext>
            </a:extLst>
          </p:cNvPr>
          <p:cNvSpPr/>
          <p:nvPr/>
        </p:nvSpPr>
        <p:spPr>
          <a:xfrm>
            <a:off x="3045195" y="6075963"/>
            <a:ext cx="91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rgbClr val="8888A0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▶</a:t>
            </a:r>
            <a:endParaRPr kumimoji="0" lang="en-US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05" name="Shape 83">
            <a:extLst>
              <a:ext uri="{FF2B5EF4-FFF2-40B4-BE49-F238E27FC236}">
                <a16:creationId xmlns:a16="http://schemas.microsoft.com/office/drawing/2014/main" id="{7C0C6D93-01E9-C895-1E2E-400951DA4B8E}"/>
              </a:ext>
            </a:extLst>
          </p:cNvPr>
          <p:cNvSpPr/>
          <p:nvPr/>
        </p:nvSpPr>
        <p:spPr>
          <a:xfrm>
            <a:off x="3173211" y="5920515"/>
            <a:ext cx="1243584" cy="475488"/>
          </a:xfrm>
          <a:prstGeom prst="roundRect">
            <a:avLst>
              <a:gd name="adj" fmla="val 11538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  <a:effectLst>
            <a:outerShdw blurRad="50800" dist="12700" dir="8100000" algn="bl" rotWithShape="0">
              <a:srgbClr val="B0B4CC">
                <a:alpha val="10000"/>
              </a:srgbClr>
            </a:outerShdw>
          </a:effectLst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07" name="Shape 84">
            <a:extLst>
              <a:ext uri="{FF2B5EF4-FFF2-40B4-BE49-F238E27FC236}">
                <a16:creationId xmlns:a16="http://schemas.microsoft.com/office/drawing/2014/main" id="{6B131D82-5FD9-9308-3AF2-032B378170E3}"/>
              </a:ext>
            </a:extLst>
          </p:cNvPr>
          <p:cNvSpPr/>
          <p:nvPr/>
        </p:nvSpPr>
        <p:spPr>
          <a:xfrm>
            <a:off x="3228075" y="5975379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09" name="Text 85">
            <a:extLst>
              <a:ext uri="{FF2B5EF4-FFF2-40B4-BE49-F238E27FC236}">
                <a16:creationId xmlns:a16="http://schemas.microsoft.com/office/drawing/2014/main" id="{A04EEFDD-332F-12BD-7677-D9DE3938B356}"/>
              </a:ext>
            </a:extLst>
          </p:cNvPr>
          <p:cNvSpPr/>
          <p:nvPr/>
        </p:nvSpPr>
        <p:spPr>
          <a:xfrm>
            <a:off x="3228075" y="5975379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0" cap="none" spc="0" normalizeH="0" baseline="0" noProof="0" dirty="0">
                <a:ln>
                  <a:noFill/>
                </a:ln>
                <a:solidFill>
                  <a:srgbClr val="1565C0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3</a:t>
            </a:r>
            <a:endParaRPr kumimoji="0" lang="en-US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11" name="Text 86">
            <a:extLst>
              <a:ext uri="{FF2B5EF4-FFF2-40B4-BE49-F238E27FC236}">
                <a16:creationId xmlns:a16="http://schemas.microsoft.com/office/drawing/2014/main" id="{32928D0D-3150-AD73-9242-387FEEFEB4E7}"/>
              </a:ext>
            </a:extLst>
          </p:cNvPr>
          <p:cNvSpPr/>
          <p:nvPr/>
        </p:nvSpPr>
        <p:spPr>
          <a:xfrm>
            <a:off x="3447531" y="5957091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リードデータ取得</a:t>
            </a:r>
            <a:endParaRPr kumimoji="0" lang="en-US" sz="85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13" name="Text 87">
            <a:extLst>
              <a:ext uri="{FF2B5EF4-FFF2-40B4-BE49-F238E27FC236}">
                <a16:creationId xmlns:a16="http://schemas.microsoft.com/office/drawing/2014/main" id="{155A8DAC-6178-45E5-B78E-ED5968433C87}"/>
              </a:ext>
            </a:extLst>
          </p:cNvPr>
          <p:cNvSpPr/>
          <p:nvPr/>
        </p:nvSpPr>
        <p:spPr>
          <a:xfrm>
            <a:off x="3228075" y="6167403"/>
            <a:ext cx="11338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0" i="0" u="none" strike="noStrike" kern="0" cap="none" spc="0" normalizeH="0" baseline="0" noProof="0" dirty="0">
                <a:ln>
                  <a:noFill/>
                </a:ln>
                <a:solidFill>
                  <a:srgbClr val="D0E8FF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LINE内で完結</a:t>
            </a:r>
            <a:endParaRPr kumimoji="0" lang="en-US" sz="75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15" name="Shape 88">
            <a:extLst>
              <a:ext uri="{FF2B5EF4-FFF2-40B4-BE49-F238E27FC236}">
                <a16:creationId xmlns:a16="http://schemas.microsoft.com/office/drawing/2014/main" id="{65FD4E02-C70C-2DC3-6107-3854D0C99B17}"/>
              </a:ext>
            </a:extLst>
          </p:cNvPr>
          <p:cNvSpPr/>
          <p:nvPr/>
        </p:nvSpPr>
        <p:spPr>
          <a:xfrm>
            <a:off x="5099366" y="2999769"/>
            <a:ext cx="4526075" cy="1600806"/>
          </a:xfrm>
          <a:prstGeom prst="roundRect">
            <a:avLst>
              <a:gd name="adj" fmla="val 8000"/>
            </a:avLst>
          </a:prstGeom>
          <a:solidFill>
            <a:srgbClr val="F5F5F8"/>
          </a:solidFill>
          <a:ln w="12700">
            <a:solidFill>
              <a:srgbClr val="D0D3E4"/>
            </a:solidFill>
            <a:prstDash val="solid"/>
          </a:ln>
          <a:effectLst>
            <a:outerShdw blurRad="50800" dist="12700" dir="8100000" algn="bl" rotWithShape="0">
              <a:srgbClr val="B0B4CC">
                <a:alpha val="10000"/>
              </a:srgbClr>
            </a:outerShdw>
          </a:effectLst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59" name="Shape 113">
            <a:extLst>
              <a:ext uri="{FF2B5EF4-FFF2-40B4-BE49-F238E27FC236}">
                <a16:creationId xmlns:a16="http://schemas.microsoft.com/office/drawing/2014/main" id="{11234610-A1AC-AA19-B005-775FD3F8A3B3}"/>
              </a:ext>
            </a:extLst>
          </p:cNvPr>
          <p:cNvSpPr/>
          <p:nvPr/>
        </p:nvSpPr>
        <p:spPr>
          <a:xfrm>
            <a:off x="5099366" y="4842285"/>
            <a:ext cx="4526075" cy="1600806"/>
          </a:xfrm>
          <a:prstGeom prst="roundRect">
            <a:avLst>
              <a:gd name="adj" fmla="val 8000"/>
            </a:avLst>
          </a:prstGeom>
          <a:solidFill>
            <a:srgbClr val="F5F5F8"/>
          </a:solidFill>
          <a:ln w="12700">
            <a:solidFill>
              <a:srgbClr val="D0D3E4"/>
            </a:solidFill>
            <a:prstDash val="solid"/>
          </a:ln>
          <a:effectLst>
            <a:outerShdw blurRad="50800" dist="12700" dir="8100000" algn="bl" rotWithShape="0">
              <a:srgbClr val="B0B4CC">
                <a:alpha val="10000"/>
              </a:srgbClr>
            </a:outerShdw>
          </a:effectLst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61" name="Shape 117">
            <a:extLst>
              <a:ext uri="{FF2B5EF4-FFF2-40B4-BE49-F238E27FC236}">
                <a16:creationId xmlns:a16="http://schemas.microsoft.com/office/drawing/2014/main" id="{53B1A122-71EF-1F9B-0702-A1A1393823D4}"/>
              </a:ext>
            </a:extLst>
          </p:cNvPr>
          <p:cNvSpPr/>
          <p:nvPr/>
        </p:nvSpPr>
        <p:spPr>
          <a:xfrm>
            <a:off x="5519991" y="4952013"/>
            <a:ext cx="804672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D0D3E4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63" name="Text 118">
            <a:extLst>
              <a:ext uri="{FF2B5EF4-FFF2-40B4-BE49-F238E27FC236}">
                <a16:creationId xmlns:a16="http://schemas.microsoft.com/office/drawing/2014/main" id="{841897D7-C412-EE47-0B0D-746DD32E330E}"/>
              </a:ext>
            </a:extLst>
          </p:cNvPr>
          <p:cNvSpPr/>
          <p:nvPr/>
        </p:nvSpPr>
        <p:spPr>
          <a:xfrm>
            <a:off x="5519991" y="4952013"/>
            <a:ext cx="804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0" cap="none" spc="0" normalizeH="0" baseline="0" noProof="0" dirty="0">
                <a:ln>
                  <a:noFill/>
                </a:ln>
                <a:solidFill>
                  <a:srgbClr val="1565C0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KW自動応答</a:t>
            </a:r>
            <a:endParaRPr kumimoji="0" lang="en-US" sz="75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65" name="Text 119">
            <a:extLst>
              <a:ext uri="{FF2B5EF4-FFF2-40B4-BE49-F238E27FC236}">
                <a16:creationId xmlns:a16="http://schemas.microsoft.com/office/drawing/2014/main" id="{EBE6ADAD-9C3A-4E30-E6A7-BF0CDE4B5719}"/>
              </a:ext>
            </a:extLst>
          </p:cNvPr>
          <p:cNvSpPr/>
          <p:nvPr/>
        </p:nvSpPr>
        <p:spPr>
          <a:xfrm>
            <a:off x="6379527" y="4924581"/>
            <a:ext cx="33190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100" b="1" i="0" u="none" strike="noStrike" kern="0" cap="none" spc="0" normalizeH="0" baseline="0" noProof="0" dirty="0">
                <a:ln>
                  <a:noFill/>
                </a:ln>
                <a:solidFill>
                  <a:srgbClr val="1A1A2E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短期</a:t>
            </a:r>
            <a:r>
              <a:rPr kumimoji="0" lang="en-US" altLang="ja-JP" sz="1100" b="1" i="0" u="none" strike="noStrike" kern="0" cap="none" spc="0" normalizeH="0" baseline="0" noProof="0" dirty="0">
                <a:ln>
                  <a:noFill/>
                </a:ln>
                <a:solidFill>
                  <a:srgbClr val="1A1A2E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CV</a:t>
            </a:r>
            <a:r>
              <a:rPr kumimoji="0" lang="ja-JP" altLang="en-US" sz="1100" b="1" i="0" u="none" strike="noStrike" kern="0" cap="none" spc="0" normalizeH="0" baseline="0" noProof="0" dirty="0">
                <a:ln>
                  <a:noFill/>
                </a:ln>
                <a:solidFill>
                  <a:srgbClr val="1A1A2E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）</a:t>
            </a:r>
            <a:r>
              <a:rPr kumimoji="0" lang="en-US" sz="1100" b="1" i="0" u="none" strike="noStrike" kern="0" cap="none" spc="0" normalizeH="0" baseline="0" noProof="0" dirty="0" err="1">
                <a:ln>
                  <a:noFill/>
                </a:ln>
                <a:solidFill>
                  <a:srgbClr val="1A1A2E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KW自動応答でFAQ即解消→</a:t>
            </a:r>
            <a:r>
              <a:rPr kumimoji="0" lang="en-US" altLang="ja-JP" sz="1100" b="1" i="0" u="none" strike="noStrike" kern="0" cap="none" spc="0" normalizeH="0" baseline="0" noProof="0" dirty="0" err="1">
                <a:ln>
                  <a:noFill/>
                </a:ln>
                <a:solidFill>
                  <a:srgbClr val="1A1A2E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CV</a:t>
            </a:r>
            <a:r>
              <a:rPr kumimoji="0" lang="en-US" sz="1100" b="1" i="0" u="none" strike="noStrike" kern="0" cap="none" spc="0" normalizeH="0" baseline="0" noProof="0" dirty="0" err="1">
                <a:ln>
                  <a:noFill/>
                </a:ln>
                <a:solidFill>
                  <a:srgbClr val="1A1A2E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へ誘導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67" name="Text 120">
            <a:extLst>
              <a:ext uri="{FF2B5EF4-FFF2-40B4-BE49-F238E27FC236}">
                <a16:creationId xmlns:a16="http://schemas.microsoft.com/office/drawing/2014/main" id="{9BC9F586-F4C8-69D1-0AB3-84BC5D46528A}"/>
              </a:ext>
            </a:extLst>
          </p:cNvPr>
          <p:cNvSpPr/>
          <p:nvPr/>
        </p:nvSpPr>
        <p:spPr>
          <a:xfrm>
            <a:off x="5190807" y="5226333"/>
            <a:ext cx="444977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850" b="0" i="0" u="none" strike="noStrike" kern="0" cap="none" spc="0" normalizeH="0" baseline="0" noProof="0" dirty="0">
                <a:ln>
                  <a:noFill/>
                </a:ln>
                <a:solidFill>
                  <a:srgbClr val="4A4A6A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ステップ配信と並行して、</a:t>
            </a:r>
            <a:r>
              <a:rPr kumimoji="0" lang="en-US" sz="850" b="0" i="0" u="none" strike="noStrike" kern="0" cap="none" spc="0" normalizeH="0" baseline="0" noProof="0" dirty="0">
                <a:ln>
                  <a:noFill/>
                </a:ln>
                <a:solidFill>
                  <a:srgbClr val="4A4A6A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LINE</a:t>
            </a:r>
            <a:r>
              <a:rPr kumimoji="0" lang="ja-JP" altLang="en-US" sz="850" b="0" i="0" u="none" strike="noStrike" kern="0" cap="none" spc="0" normalizeH="0" baseline="0" noProof="0" dirty="0">
                <a:ln>
                  <a:noFill/>
                </a:ln>
                <a:solidFill>
                  <a:srgbClr val="4A4A6A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にて代表的な</a:t>
            </a:r>
            <a:r>
              <a:rPr kumimoji="0" lang="en-US" altLang="ja-JP" sz="850" b="0" i="0" u="none" strike="noStrike" kern="0" cap="none" spc="0" normalizeH="0" baseline="0" noProof="0" dirty="0" err="1">
                <a:ln>
                  <a:noFill/>
                </a:ln>
                <a:solidFill>
                  <a:srgbClr val="4A4A6A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Q</a:t>
            </a:r>
            <a:r>
              <a:rPr kumimoji="0" lang="en-US" sz="850" b="0" i="0" u="none" strike="noStrike" kern="0" cap="none" spc="0" normalizeH="0" baseline="0" noProof="0" dirty="0" err="1">
                <a:ln>
                  <a:noFill/>
                </a:ln>
                <a:solidFill>
                  <a:srgbClr val="4A4A6A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に自動返答＋CV</a:t>
            </a:r>
            <a:r>
              <a:rPr kumimoji="0" lang="ja-JP" altLang="en-US" sz="850" kern="0" dirty="0">
                <a:solidFill>
                  <a:srgbClr val="4A4A6A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動線へ誘導</a:t>
            </a:r>
            <a:r>
              <a:rPr kumimoji="0" lang="en-US" sz="850" b="0" i="0" u="none" strike="noStrike" kern="0" cap="none" spc="0" normalizeH="0" baseline="0" noProof="0" dirty="0">
                <a:ln>
                  <a:noFill/>
                </a:ln>
                <a:solidFill>
                  <a:srgbClr val="4A4A6A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。</a:t>
            </a:r>
          </a:p>
          <a:p>
            <a:pPr marL="0" marR="0" lvl="0" indent="0" defTabSz="914400" eaLnBrk="1" fontAlgn="auto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0" u="none" strike="noStrike" kern="0" cap="none" spc="0" normalizeH="0" baseline="0" noProof="0" dirty="0">
                <a:ln>
                  <a:noFill/>
                </a:ln>
                <a:solidFill>
                  <a:srgbClr val="4A4A6A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24時間対応で「試しに聞いてみた」</a:t>
            </a:r>
            <a:r>
              <a:rPr kumimoji="0" lang="ja-JP" altLang="en-US" sz="850" b="0" i="0" u="none" strike="noStrike" kern="0" cap="none" spc="0" normalizeH="0" baseline="0" noProof="0" dirty="0">
                <a:ln>
                  <a:noFill/>
                </a:ln>
                <a:solidFill>
                  <a:srgbClr val="4A4A6A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層</a:t>
            </a:r>
            <a:r>
              <a:rPr kumimoji="0" lang="en-US" sz="850" b="0" i="0" u="none" strike="noStrike" kern="0" cap="none" spc="0" normalizeH="0" baseline="0" noProof="0" dirty="0" err="1">
                <a:ln>
                  <a:noFill/>
                </a:ln>
                <a:solidFill>
                  <a:srgbClr val="4A4A6A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をそのまま申込フォームへ転換</a:t>
            </a:r>
            <a:r>
              <a:rPr kumimoji="0" lang="en-US" sz="850" b="0" i="0" u="none" strike="noStrike" kern="0" cap="none" spc="0" normalizeH="0" baseline="0" noProof="0" dirty="0">
                <a:ln>
                  <a:noFill/>
                </a:ln>
                <a:solidFill>
                  <a:srgbClr val="4A4A6A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。</a:t>
            </a:r>
            <a:endParaRPr kumimoji="0" lang="en-US" sz="85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69" name="Shape 121">
            <a:extLst>
              <a:ext uri="{FF2B5EF4-FFF2-40B4-BE49-F238E27FC236}">
                <a16:creationId xmlns:a16="http://schemas.microsoft.com/office/drawing/2014/main" id="{879C697E-7DA8-CA7E-D00D-C9CADF55302E}"/>
              </a:ext>
            </a:extLst>
          </p:cNvPr>
          <p:cNvSpPr/>
          <p:nvPr/>
        </p:nvSpPr>
        <p:spPr>
          <a:xfrm>
            <a:off x="5190807" y="5920515"/>
            <a:ext cx="1243584" cy="475488"/>
          </a:xfrm>
          <a:prstGeom prst="roundRect">
            <a:avLst>
              <a:gd name="adj" fmla="val 11538"/>
            </a:avLst>
          </a:prstGeom>
          <a:solidFill>
            <a:srgbClr val="ECEDF3"/>
          </a:solidFill>
          <a:ln w="12700">
            <a:solidFill>
              <a:srgbClr val="D0D3E4"/>
            </a:solidFill>
            <a:prstDash val="solid"/>
          </a:ln>
          <a:effectLst>
            <a:outerShdw blurRad="50800" dist="12700" dir="8100000" algn="bl" rotWithShape="0">
              <a:srgbClr val="B0B4CC">
                <a:alpha val="10000"/>
              </a:srgbClr>
            </a:outerShdw>
          </a:effectLst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71" name="Shape 122">
            <a:extLst>
              <a:ext uri="{FF2B5EF4-FFF2-40B4-BE49-F238E27FC236}">
                <a16:creationId xmlns:a16="http://schemas.microsoft.com/office/drawing/2014/main" id="{E0FE3AAB-EEAF-8F74-4288-38540089361D}"/>
              </a:ext>
            </a:extLst>
          </p:cNvPr>
          <p:cNvSpPr/>
          <p:nvPr/>
        </p:nvSpPr>
        <p:spPr>
          <a:xfrm>
            <a:off x="5245671" y="5975379"/>
            <a:ext cx="182880" cy="182880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73" name="Text 123">
            <a:extLst>
              <a:ext uri="{FF2B5EF4-FFF2-40B4-BE49-F238E27FC236}">
                <a16:creationId xmlns:a16="http://schemas.microsoft.com/office/drawing/2014/main" id="{31A73E53-E872-D735-0EE5-02CFC5ED076F}"/>
              </a:ext>
            </a:extLst>
          </p:cNvPr>
          <p:cNvSpPr/>
          <p:nvPr/>
        </p:nvSpPr>
        <p:spPr>
          <a:xfrm>
            <a:off x="5245671" y="5975379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1</a:t>
            </a:r>
            <a:endParaRPr kumimoji="0" lang="en-US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75" name="Text 124">
            <a:extLst>
              <a:ext uri="{FF2B5EF4-FFF2-40B4-BE49-F238E27FC236}">
                <a16:creationId xmlns:a16="http://schemas.microsoft.com/office/drawing/2014/main" id="{014A61FB-ACC2-FA78-238A-10F112F08313}"/>
              </a:ext>
            </a:extLst>
          </p:cNvPr>
          <p:cNvSpPr/>
          <p:nvPr/>
        </p:nvSpPr>
        <p:spPr>
          <a:xfrm>
            <a:off x="5447079" y="5957091"/>
            <a:ext cx="1020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85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</a:rPr>
              <a:t>ステップ配信・</a:t>
            </a:r>
            <a:r>
              <a:rPr kumimoji="0" lang="en-US" altLang="ja-JP" sz="85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</a:rPr>
              <a:t>QA</a:t>
            </a:r>
            <a:r>
              <a:rPr kumimoji="0" lang="ja-JP" altLang="en-US" sz="85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</a:rPr>
              <a:t>集</a:t>
            </a:r>
            <a:endParaRPr kumimoji="0" lang="en-US" sz="85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77" name="Text 125">
            <a:extLst>
              <a:ext uri="{FF2B5EF4-FFF2-40B4-BE49-F238E27FC236}">
                <a16:creationId xmlns:a16="http://schemas.microsoft.com/office/drawing/2014/main" id="{61B557F9-9683-D913-1D65-DD25D26B2695}"/>
              </a:ext>
            </a:extLst>
          </p:cNvPr>
          <p:cNvSpPr/>
          <p:nvPr/>
        </p:nvSpPr>
        <p:spPr>
          <a:xfrm>
            <a:off x="5245671" y="6167403"/>
            <a:ext cx="11338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75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</a:rPr>
              <a:t>追加～</a:t>
            </a:r>
            <a:r>
              <a:rPr kumimoji="0" lang="en-US" altLang="ja-JP" sz="75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</a:rPr>
              <a:t>15</a:t>
            </a:r>
            <a:r>
              <a:rPr kumimoji="0" lang="ja-JP" altLang="en-US" sz="75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</a:rPr>
              <a:t>日で</a:t>
            </a:r>
            <a:endParaRPr kumimoji="0" lang="en-US" sz="75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79" name="Text 126">
            <a:extLst>
              <a:ext uri="{FF2B5EF4-FFF2-40B4-BE49-F238E27FC236}">
                <a16:creationId xmlns:a16="http://schemas.microsoft.com/office/drawing/2014/main" id="{F117171D-C47B-261C-85AC-F680EF28CB19}"/>
              </a:ext>
            </a:extLst>
          </p:cNvPr>
          <p:cNvSpPr/>
          <p:nvPr/>
        </p:nvSpPr>
        <p:spPr>
          <a:xfrm>
            <a:off x="6470967" y="6075963"/>
            <a:ext cx="91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rgbClr val="8888A0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▶</a:t>
            </a:r>
            <a:endParaRPr kumimoji="0" lang="en-US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81" name="Shape 127">
            <a:extLst>
              <a:ext uri="{FF2B5EF4-FFF2-40B4-BE49-F238E27FC236}">
                <a16:creationId xmlns:a16="http://schemas.microsoft.com/office/drawing/2014/main" id="{4BEE9167-F8E5-7442-64A8-E9F7D39F09D7}"/>
              </a:ext>
            </a:extLst>
          </p:cNvPr>
          <p:cNvSpPr/>
          <p:nvPr/>
        </p:nvSpPr>
        <p:spPr>
          <a:xfrm>
            <a:off x="6598983" y="5920515"/>
            <a:ext cx="1243584" cy="475488"/>
          </a:xfrm>
          <a:prstGeom prst="roundRect">
            <a:avLst>
              <a:gd name="adj" fmla="val 11538"/>
            </a:avLst>
          </a:prstGeom>
          <a:solidFill>
            <a:srgbClr val="ECEDF3"/>
          </a:solidFill>
          <a:ln w="12700">
            <a:solidFill>
              <a:srgbClr val="D0D3E4"/>
            </a:solidFill>
            <a:prstDash val="solid"/>
          </a:ln>
          <a:effectLst>
            <a:outerShdw blurRad="50800" dist="12700" dir="8100000" algn="bl" rotWithShape="0">
              <a:srgbClr val="B0B4CC">
                <a:alpha val="10000"/>
              </a:srgbClr>
            </a:outerShdw>
          </a:effectLst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83" name="Shape 128">
            <a:extLst>
              <a:ext uri="{FF2B5EF4-FFF2-40B4-BE49-F238E27FC236}">
                <a16:creationId xmlns:a16="http://schemas.microsoft.com/office/drawing/2014/main" id="{9C2642A1-2BDB-C49F-7691-85BD71CF126B}"/>
              </a:ext>
            </a:extLst>
          </p:cNvPr>
          <p:cNvSpPr/>
          <p:nvPr/>
        </p:nvSpPr>
        <p:spPr>
          <a:xfrm>
            <a:off x="6653847" y="5975379"/>
            <a:ext cx="182880" cy="182880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85" name="Text 129">
            <a:extLst>
              <a:ext uri="{FF2B5EF4-FFF2-40B4-BE49-F238E27FC236}">
                <a16:creationId xmlns:a16="http://schemas.microsoft.com/office/drawing/2014/main" id="{B9E7F4F1-E140-0A15-9900-349580A383C4}"/>
              </a:ext>
            </a:extLst>
          </p:cNvPr>
          <p:cNvSpPr/>
          <p:nvPr/>
        </p:nvSpPr>
        <p:spPr>
          <a:xfrm>
            <a:off x="6653847" y="5975379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2</a:t>
            </a:r>
            <a:endParaRPr kumimoji="0" lang="en-US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87" name="Text 130">
            <a:extLst>
              <a:ext uri="{FF2B5EF4-FFF2-40B4-BE49-F238E27FC236}">
                <a16:creationId xmlns:a16="http://schemas.microsoft.com/office/drawing/2014/main" id="{538141D0-5353-E1AE-4CCC-4B7FBADE0E74}"/>
              </a:ext>
            </a:extLst>
          </p:cNvPr>
          <p:cNvSpPr/>
          <p:nvPr/>
        </p:nvSpPr>
        <p:spPr>
          <a:xfrm>
            <a:off x="6873303" y="5957091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0" cap="none" spc="0" normalizeH="0" baseline="0" noProof="0" dirty="0">
                <a:ln>
                  <a:noFill/>
                </a:ln>
                <a:solidFill>
                  <a:srgbClr val="1A1A2E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自動即返答</a:t>
            </a:r>
            <a:endParaRPr kumimoji="0" lang="en-US" sz="85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89" name="Text 131">
            <a:extLst>
              <a:ext uri="{FF2B5EF4-FFF2-40B4-BE49-F238E27FC236}">
                <a16:creationId xmlns:a16="http://schemas.microsoft.com/office/drawing/2014/main" id="{507C3FBA-63F5-86D8-66C6-6318F2F8EDA2}"/>
              </a:ext>
            </a:extLst>
          </p:cNvPr>
          <p:cNvSpPr/>
          <p:nvPr/>
        </p:nvSpPr>
        <p:spPr>
          <a:xfrm>
            <a:off x="6653847" y="6167403"/>
            <a:ext cx="11338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0" i="0" u="none" strike="noStrike" kern="0" cap="none" spc="0" normalizeH="0" baseline="0" noProof="0" dirty="0">
                <a:ln>
                  <a:noFill/>
                </a:ln>
                <a:solidFill>
                  <a:srgbClr val="4A4A6A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FAQ解消＋LP URL送付</a:t>
            </a:r>
            <a:endParaRPr kumimoji="0" lang="en-US" sz="75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91" name="Text 132">
            <a:extLst>
              <a:ext uri="{FF2B5EF4-FFF2-40B4-BE49-F238E27FC236}">
                <a16:creationId xmlns:a16="http://schemas.microsoft.com/office/drawing/2014/main" id="{6C6ED810-1D06-F9BD-D3C9-03D6BF6C14DA}"/>
              </a:ext>
            </a:extLst>
          </p:cNvPr>
          <p:cNvSpPr/>
          <p:nvPr/>
        </p:nvSpPr>
        <p:spPr>
          <a:xfrm>
            <a:off x="7879143" y="6075963"/>
            <a:ext cx="91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rgbClr val="8888A0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▶</a:t>
            </a:r>
            <a:endParaRPr kumimoji="0" lang="en-US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93" name="Shape 133">
            <a:extLst>
              <a:ext uri="{FF2B5EF4-FFF2-40B4-BE49-F238E27FC236}">
                <a16:creationId xmlns:a16="http://schemas.microsoft.com/office/drawing/2014/main" id="{032FF15A-215D-CE84-EF89-D93E09191819}"/>
              </a:ext>
            </a:extLst>
          </p:cNvPr>
          <p:cNvSpPr/>
          <p:nvPr/>
        </p:nvSpPr>
        <p:spPr>
          <a:xfrm>
            <a:off x="8007159" y="5920515"/>
            <a:ext cx="1243584" cy="475488"/>
          </a:xfrm>
          <a:prstGeom prst="roundRect">
            <a:avLst>
              <a:gd name="adj" fmla="val 11538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  <a:effectLst>
            <a:outerShdw blurRad="50800" dist="12700" dir="8100000" algn="bl" rotWithShape="0">
              <a:srgbClr val="B0B4CC">
                <a:alpha val="10000"/>
              </a:srgbClr>
            </a:outerShdw>
          </a:effectLst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95" name="Shape 134">
            <a:extLst>
              <a:ext uri="{FF2B5EF4-FFF2-40B4-BE49-F238E27FC236}">
                <a16:creationId xmlns:a16="http://schemas.microsoft.com/office/drawing/2014/main" id="{4111E6D0-ABE0-6AC4-2D12-6FEF3F3EFA73}"/>
              </a:ext>
            </a:extLst>
          </p:cNvPr>
          <p:cNvSpPr/>
          <p:nvPr/>
        </p:nvSpPr>
        <p:spPr>
          <a:xfrm>
            <a:off x="8062023" y="5975379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97" name="Text 135">
            <a:extLst>
              <a:ext uri="{FF2B5EF4-FFF2-40B4-BE49-F238E27FC236}">
                <a16:creationId xmlns:a16="http://schemas.microsoft.com/office/drawing/2014/main" id="{CF3AE303-2971-F53C-A610-F98F99E31897}"/>
              </a:ext>
            </a:extLst>
          </p:cNvPr>
          <p:cNvSpPr/>
          <p:nvPr/>
        </p:nvSpPr>
        <p:spPr>
          <a:xfrm>
            <a:off x="8062023" y="5975379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0" cap="none" spc="0" normalizeH="0" baseline="0" noProof="0" dirty="0">
                <a:ln>
                  <a:noFill/>
                </a:ln>
                <a:solidFill>
                  <a:srgbClr val="1565C0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3</a:t>
            </a:r>
            <a:endParaRPr kumimoji="0" lang="en-US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99" name="Text 136">
            <a:extLst>
              <a:ext uri="{FF2B5EF4-FFF2-40B4-BE49-F238E27FC236}">
                <a16:creationId xmlns:a16="http://schemas.microsoft.com/office/drawing/2014/main" id="{F73C430F-E961-93C3-213B-0963BAC20CD3}"/>
              </a:ext>
            </a:extLst>
          </p:cNvPr>
          <p:cNvSpPr/>
          <p:nvPr/>
        </p:nvSpPr>
        <p:spPr>
          <a:xfrm>
            <a:off x="8281479" y="5957091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申込フォームCV</a:t>
            </a:r>
            <a:endParaRPr kumimoji="0" lang="en-US" sz="85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01" name="Text 137">
            <a:extLst>
              <a:ext uri="{FF2B5EF4-FFF2-40B4-BE49-F238E27FC236}">
                <a16:creationId xmlns:a16="http://schemas.microsoft.com/office/drawing/2014/main" id="{88FD7181-FD44-C0BF-B9A5-5C5C104EC047}"/>
              </a:ext>
            </a:extLst>
          </p:cNvPr>
          <p:cNvSpPr/>
          <p:nvPr/>
        </p:nvSpPr>
        <p:spPr>
          <a:xfrm>
            <a:off x="8062023" y="6167403"/>
            <a:ext cx="11338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0" i="0" u="none" strike="noStrike" kern="0" cap="none" spc="0" normalizeH="0" baseline="0" noProof="0" dirty="0">
                <a:ln>
                  <a:noFill/>
                </a:ln>
                <a:solidFill>
                  <a:srgbClr val="D0E8FF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24時間・スタッフ不要</a:t>
            </a:r>
            <a:endParaRPr kumimoji="0" lang="en-US" sz="75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03" name="Shape 36">
            <a:extLst>
              <a:ext uri="{FF2B5EF4-FFF2-40B4-BE49-F238E27FC236}">
                <a16:creationId xmlns:a16="http://schemas.microsoft.com/office/drawing/2014/main" id="{D62EC5F5-FA90-2741-4644-800F1639B9D6}"/>
              </a:ext>
            </a:extLst>
          </p:cNvPr>
          <p:cNvSpPr/>
          <p:nvPr/>
        </p:nvSpPr>
        <p:spPr>
          <a:xfrm>
            <a:off x="356859" y="4908735"/>
            <a:ext cx="256032" cy="256032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  <p:txBody>
          <a:bodyPr anchor="ctr"/>
          <a:lstStyle/>
          <a:p>
            <a:pPr algn="ctr"/>
            <a:r>
              <a:rPr kumimoji="0" lang="en-US" altLang="ja-JP" sz="9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</a:t>
            </a:r>
            <a:endParaRPr kumimoji="0" lang="ja-JP" altLang="en-US" sz="9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07" name="Shape 36">
            <a:extLst>
              <a:ext uri="{FF2B5EF4-FFF2-40B4-BE49-F238E27FC236}">
                <a16:creationId xmlns:a16="http://schemas.microsoft.com/office/drawing/2014/main" id="{3ABA6325-0C4D-ADBB-5C93-9AB0A04C8F15}"/>
              </a:ext>
            </a:extLst>
          </p:cNvPr>
          <p:cNvSpPr/>
          <p:nvPr/>
        </p:nvSpPr>
        <p:spPr>
          <a:xfrm>
            <a:off x="5208259" y="4908735"/>
            <a:ext cx="256032" cy="256032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  <p:txBody>
          <a:bodyPr anchor="ctr"/>
          <a:lstStyle/>
          <a:p>
            <a:pPr algn="ctr"/>
            <a:r>
              <a:rPr kumimoji="0" lang="en-US" altLang="ja-JP" sz="9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</a:t>
            </a:r>
            <a:endParaRPr kumimoji="0" lang="ja-JP" altLang="en-US" sz="9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53" name="Shape 36">
            <a:extLst>
              <a:ext uri="{FF2B5EF4-FFF2-40B4-BE49-F238E27FC236}">
                <a16:creationId xmlns:a16="http://schemas.microsoft.com/office/drawing/2014/main" id="{0BB2AEB8-7FA8-EBC7-04FD-AD5A5B8538F8}"/>
              </a:ext>
            </a:extLst>
          </p:cNvPr>
          <p:cNvSpPr/>
          <p:nvPr/>
        </p:nvSpPr>
        <p:spPr>
          <a:xfrm>
            <a:off x="5207551" y="3082504"/>
            <a:ext cx="256032" cy="256032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  <p:txBody>
          <a:bodyPr anchor="ctr"/>
          <a:lstStyle/>
          <a:p>
            <a:pPr algn="ctr"/>
            <a:r>
              <a:rPr kumimoji="0" lang="en-US" altLang="ja-JP" sz="9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1</a:t>
            </a:r>
            <a:endParaRPr kumimoji="0" lang="ja-JP" altLang="en-US" sz="9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55" name="Shape 38">
            <a:extLst>
              <a:ext uri="{FF2B5EF4-FFF2-40B4-BE49-F238E27FC236}">
                <a16:creationId xmlns:a16="http://schemas.microsoft.com/office/drawing/2014/main" id="{3976CA87-D608-B478-0B7F-76C239579767}"/>
              </a:ext>
            </a:extLst>
          </p:cNvPr>
          <p:cNvSpPr/>
          <p:nvPr/>
        </p:nvSpPr>
        <p:spPr>
          <a:xfrm>
            <a:off x="5536735" y="3100792"/>
            <a:ext cx="804672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D0D3E4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57" name="Text 39">
            <a:extLst>
              <a:ext uri="{FF2B5EF4-FFF2-40B4-BE49-F238E27FC236}">
                <a16:creationId xmlns:a16="http://schemas.microsoft.com/office/drawing/2014/main" id="{00B73596-25FE-7BEA-B356-6BA40FA3B1A1}"/>
              </a:ext>
            </a:extLst>
          </p:cNvPr>
          <p:cNvSpPr/>
          <p:nvPr/>
        </p:nvSpPr>
        <p:spPr>
          <a:xfrm>
            <a:off x="5536735" y="3100792"/>
            <a:ext cx="804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750" b="1" kern="0" dirty="0">
                <a:solidFill>
                  <a:srgbClr val="1565C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低ハードル</a:t>
            </a:r>
            <a:r>
              <a:rPr kumimoji="0" lang="en-US" altLang="ja-JP" sz="750" b="1" kern="0" dirty="0">
                <a:solidFill>
                  <a:srgbClr val="1565C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CV</a:t>
            </a:r>
            <a:endParaRPr kumimoji="0" lang="en-US" sz="75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59" name="Text 40">
            <a:extLst>
              <a:ext uri="{FF2B5EF4-FFF2-40B4-BE49-F238E27FC236}">
                <a16:creationId xmlns:a16="http://schemas.microsoft.com/office/drawing/2014/main" id="{8E8E8572-E4BF-C131-AD4E-7DE59476C19F}"/>
              </a:ext>
            </a:extLst>
          </p:cNvPr>
          <p:cNvSpPr/>
          <p:nvPr/>
        </p:nvSpPr>
        <p:spPr>
          <a:xfrm>
            <a:off x="6396271" y="3073360"/>
            <a:ext cx="33190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100" b="1" i="0" u="none" strike="noStrike" kern="0" cap="none" spc="0" normalizeH="0" baseline="0" noProof="0" dirty="0">
                <a:ln>
                  <a:noFill/>
                </a:ln>
                <a:solidFill>
                  <a:srgbClr val="1A1A2E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簡易</a:t>
            </a:r>
            <a:r>
              <a:rPr kumimoji="0" lang="en-US" altLang="ja-JP" sz="1100" b="1" i="0" u="none" strike="noStrike" kern="0" cap="none" spc="0" normalizeH="0" baseline="0" noProof="0" dirty="0">
                <a:ln>
                  <a:noFill/>
                </a:ln>
                <a:solidFill>
                  <a:srgbClr val="1A1A2E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LP</a:t>
            </a: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rgbClr val="1A1A2E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 × </a:t>
            </a:r>
            <a:r>
              <a:rPr kumimoji="0" lang="en-US" altLang="ja-JP" sz="1100" b="1" i="0" u="none" strike="noStrike" kern="0" cap="none" spc="0" normalizeH="0" baseline="0" noProof="0" dirty="0">
                <a:ln>
                  <a:noFill/>
                </a:ln>
                <a:solidFill>
                  <a:srgbClr val="1A1A2E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WEB</a:t>
            </a:r>
            <a:r>
              <a:rPr kumimoji="0" lang="ja-JP" altLang="en-US" sz="1100" b="1" i="0" u="none" strike="noStrike" kern="0" cap="none" spc="0" normalizeH="0" baseline="0" noProof="0" dirty="0">
                <a:ln>
                  <a:noFill/>
                </a:ln>
                <a:solidFill>
                  <a:srgbClr val="1A1A2E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リード＋</a:t>
            </a:r>
            <a:r>
              <a:rPr kumimoji="0" lang="en-US" sz="1100" b="1" i="0" u="none" strike="noStrike" kern="0" cap="none" spc="0" normalizeH="0" baseline="0" noProof="0" dirty="0" err="1">
                <a:ln>
                  <a:noFill/>
                </a:ln>
                <a:solidFill>
                  <a:srgbClr val="1A1A2E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LINE登録</a:t>
            </a:r>
            <a:r>
              <a:rPr kumimoji="0" lang="ja-JP" altLang="en-US" sz="1100" b="1" i="0" u="none" strike="noStrike" kern="0" cap="none" spc="0" normalizeH="0" baseline="0" noProof="0" dirty="0">
                <a:ln>
                  <a:noFill/>
                </a:ln>
                <a:solidFill>
                  <a:srgbClr val="1A1A2E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（サンクス</a:t>
            </a:r>
            <a:r>
              <a:rPr kumimoji="0" lang="en-US" altLang="ja-JP" sz="1100" b="1" i="0" u="none" strike="noStrike" kern="0" cap="none" spc="0" normalizeH="0" baseline="0" noProof="0" dirty="0">
                <a:ln>
                  <a:noFill/>
                </a:ln>
                <a:solidFill>
                  <a:srgbClr val="1A1A2E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line</a:t>
            </a:r>
            <a:r>
              <a:rPr kumimoji="0" lang="ja-JP" altLang="en-US" sz="1100" b="1" i="0" u="none" strike="noStrike" kern="0" cap="none" spc="0" normalizeH="0" baseline="0" noProof="0" dirty="0">
                <a:ln>
                  <a:noFill/>
                </a:ln>
                <a:solidFill>
                  <a:srgbClr val="1A1A2E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）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61" name="Text 41">
            <a:extLst>
              <a:ext uri="{FF2B5EF4-FFF2-40B4-BE49-F238E27FC236}">
                <a16:creationId xmlns:a16="http://schemas.microsoft.com/office/drawing/2014/main" id="{A02D25CE-9C9B-6858-9645-3D054403B80F}"/>
              </a:ext>
            </a:extLst>
          </p:cNvPr>
          <p:cNvSpPr/>
          <p:nvPr/>
        </p:nvSpPr>
        <p:spPr>
          <a:xfrm>
            <a:off x="5207551" y="3375112"/>
            <a:ext cx="444977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>
              <a:lnSpc>
                <a:spcPct val="135000"/>
              </a:lnSpc>
              <a:defRPr/>
            </a:pPr>
            <a:r>
              <a:rPr kumimoji="0" lang="en-US" sz="850" b="0" i="0" u="none" strike="noStrike" kern="0" cap="none" spc="0" normalizeH="0" baseline="0" noProof="0" dirty="0">
                <a:ln>
                  <a:noFill/>
                </a:ln>
                <a:solidFill>
                  <a:srgbClr val="4A4A6A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「</a:t>
            </a:r>
            <a:r>
              <a:rPr kumimoji="0" lang="ja-JP" altLang="en-US" sz="850" b="0" i="0" u="none" strike="noStrike" kern="0" cap="none" spc="0" normalizeH="0" baseline="0" noProof="0" dirty="0">
                <a:ln>
                  <a:noFill/>
                </a:ln>
                <a:solidFill>
                  <a:srgbClr val="4A4A6A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シミュレーター、簡易診断を</a:t>
            </a:r>
            <a:r>
              <a:rPr kumimoji="0" lang="en-US" sz="850" b="0" i="0" u="none" strike="noStrike" kern="0" cap="none" spc="0" normalizeH="0" baseline="0" noProof="0" dirty="0" err="1">
                <a:ln>
                  <a:noFill/>
                </a:ln>
                <a:solidFill>
                  <a:srgbClr val="4A4A6A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受け取る</a:t>
            </a:r>
            <a:r>
              <a:rPr kumimoji="0" lang="en-US" sz="850" b="0" i="0" u="none" strike="noStrike" kern="0" cap="none" spc="0" normalizeH="0" baseline="0" noProof="0" dirty="0">
                <a:ln>
                  <a:noFill/>
                </a:ln>
                <a:solidFill>
                  <a:srgbClr val="4A4A6A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」</a:t>
            </a:r>
            <a:r>
              <a:rPr kumimoji="0" lang="ja-JP" altLang="en-US" sz="850" b="0" i="0" u="none" strike="noStrike" kern="0" cap="none" spc="0" normalizeH="0" baseline="0" noProof="0" dirty="0">
                <a:ln>
                  <a:noFill/>
                </a:ln>
                <a:solidFill>
                  <a:srgbClr val="4A4A6A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簡易的な</a:t>
            </a:r>
            <a:r>
              <a:rPr kumimoji="0" lang="en-US" altLang="ja-JP" sz="850" b="0" i="0" u="none" strike="noStrike" kern="0" cap="none" spc="0" normalizeH="0" baseline="0" noProof="0" dirty="0">
                <a:ln>
                  <a:noFill/>
                </a:ln>
                <a:solidFill>
                  <a:srgbClr val="4A4A6A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LP</a:t>
            </a:r>
            <a:r>
              <a:rPr kumimoji="0" lang="ja-JP" altLang="en-US" sz="850" b="0" i="0" u="none" strike="noStrike" kern="0" cap="none" spc="0" normalizeH="0" baseline="0" noProof="0" dirty="0">
                <a:ln>
                  <a:noFill/>
                </a:ln>
                <a:solidFill>
                  <a:srgbClr val="4A4A6A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を作成し</a:t>
            </a:r>
            <a:r>
              <a:rPr kumimoji="0" lang="en-US" sz="850" b="0" i="0" u="none" strike="noStrike" kern="0" cap="none" spc="0" normalizeH="0" baseline="0" noProof="0" dirty="0">
                <a:ln>
                  <a:noFill/>
                </a:ln>
                <a:solidFill>
                  <a:srgbClr val="4A4A6A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。</a:t>
            </a:r>
            <a:r>
              <a:rPr kumimoji="0" lang="en-US" altLang="ja-JP" sz="850" b="0" i="0" u="none" strike="noStrike" kern="0" cap="none" spc="0" normalizeH="0" baseline="0" noProof="0" dirty="0">
                <a:ln>
                  <a:noFill/>
                </a:ln>
                <a:solidFill>
                  <a:srgbClr val="4A4A6A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WEB</a:t>
            </a:r>
            <a:r>
              <a:rPr kumimoji="0" lang="ja-JP" altLang="en-US" sz="850" b="0" i="0" u="none" strike="noStrike" kern="0" cap="none" spc="0" normalizeH="0" baseline="0" noProof="0" dirty="0">
                <a:ln>
                  <a:noFill/>
                </a:ln>
                <a:solidFill>
                  <a:srgbClr val="4A4A6A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リード＋</a:t>
            </a:r>
            <a:r>
              <a:rPr kumimoji="0" lang="en-US" sz="850" b="0" i="0" u="none" strike="noStrike" kern="0" cap="none" spc="0" normalizeH="0" baseline="0" noProof="0" dirty="0" err="1">
                <a:ln>
                  <a:noFill/>
                </a:ln>
                <a:solidFill>
                  <a:srgbClr val="4A4A6A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友だち追加そのままステップ配信へ移行</a:t>
            </a:r>
            <a:r>
              <a:rPr kumimoji="0" lang="en-US" sz="850" b="0" i="0" u="none" strike="noStrike" kern="0" cap="none" spc="0" normalizeH="0" baseline="0" noProof="0" dirty="0">
                <a:ln>
                  <a:noFill/>
                </a:ln>
                <a:solidFill>
                  <a:srgbClr val="4A4A6A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。</a:t>
            </a:r>
            <a:r>
              <a:rPr kumimoji="0" lang="en-US" altLang="ja-JP" sz="850" kern="0" dirty="0">
                <a:solidFill>
                  <a:srgbClr val="4A4A6A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CVR</a:t>
            </a:r>
            <a:r>
              <a:rPr kumimoji="0" lang="ja-JP" altLang="en-US" sz="850" kern="0" dirty="0">
                <a:solidFill>
                  <a:srgbClr val="4A4A6A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を</a:t>
            </a:r>
            <a:r>
              <a:rPr kumimoji="0" lang="ja-JP" altLang="en-US" sz="850" b="1" i="0" u="none" strike="noStrike" kern="0" cap="none" spc="0" normalizeH="0" baseline="0" noProof="0" dirty="0">
                <a:ln>
                  <a:noFill/>
                </a:ln>
                <a:solidFill>
                  <a:srgbClr val="4A4A6A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「</a:t>
            </a:r>
            <a:r>
              <a:rPr kumimoji="0" lang="en-US" altLang="ja-JP" sz="850" b="1" i="0" u="none" strike="noStrike" kern="0" cap="none" spc="0" normalizeH="0" baseline="0" noProof="0" dirty="0">
                <a:ln>
                  <a:noFill/>
                </a:ln>
                <a:solidFill>
                  <a:srgbClr val="4A4A6A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2</a:t>
            </a:r>
            <a:r>
              <a:rPr kumimoji="0" lang="ja-JP" altLang="en-US" sz="850" b="1" i="0" u="none" strike="noStrike" kern="0" cap="none" spc="0" normalizeH="0" baseline="0" noProof="0" dirty="0">
                <a:ln>
                  <a:noFill/>
                </a:ln>
                <a:solidFill>
                  <a:srgbClr val="4A4A6A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％前後</a:t>
            </a:r>
            <a:r>
              <a:rPr kumimoji="0" lang="ja-JP" altLang="en-US" sz="850" b="1" kern="0" dirty="0">
                <a:solidFill>
                  <a:srgbClr val="4A4A6A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」を「</a:t>
            </a:r>
            <a:r>
              <a:rPr kumimoji="0" lang="en-US" altLang="ja-JP" sz="850" b="1" kern="0" dirty="0">
                <a:solidFill>
                  <a:srgbClr val="4A4A6A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5</a:t>
            </a:r>
            <a:r>
              <a:rPr kumimoji="0" lang="ja-JP" altLang="en-US" sz="850" b="1" kern="0" dirty="0">
                <a:solidFill>
                  <a:srgbClr val="4A4A6A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－</a:t>
            </a:r>
            <a:r>
              <a:rPr kumimoji="0" lang="en-US" altLang="ja-JP" sz="850" b="1" kern="0" dirty="0">
                <a:solidFill>
                  <a:srgbClr val="4A4A6A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10</a:t>
            </a:r>
            <a:r>
              <a:rPr kumimoji="0" lang="ja-JP" altLang="en-US" sz="850" b="1" kern="0" dirty="0">
                <a:solidFill>
                  <a:srgbClr val="4A4A6A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％」に引上げてリード最大化。</a:t>
            </a:r>
            <a:endParaRPr kumimoji="0" lang="en-US" sz="85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63" name="Shape 42">
            <a:extLst>
              <a:ext uri="{FF2B5EF4-FFF2-40B4-BE49-F238E27FC236}">
                <a16:creationId xmlns:a16="http://schemas.microsoft.com/office/drawing/2014/main" id="{A9C5DE92-D696-84FB-0338-A45B2163E84E}"/>
              </a:ext>
            </a:extLst>
          </p:cNvPr>
          <p:cNvSpPr/>
          <p:nvPr/>
        </p:nvSpPr>
        <p:spPr>
          <a:xfrm>
            <a:off x="5207551" y="4069294"/>
            <a:ext cx="1243584" cy="475488"/>
          </a:xfrm>
          <a:prstGeom prst="roundRect">
            <a:avLst>
              <a:gd name="adj" fmla="val 11538"/>
            </a:avLst>
          </a:prstGeom>
          <a:solidFill>
            <a:srgbClr val="ECEDF3"/>
          </a:solidFill>
          <a:ln w="12700">
            <a:solidFill>
              <a:srgbClr val="D0D3E4"/>
            </a:solidFill>
            <a:prstDash val="solid"/>
          </a:ln>
          <a:effectLst>
            <a:outerShdw blurRad="50800" dist="12700" dir="8100000" algn="bl" rotWithShape="0">
              <a:srgbClr val="B0B4CC">
                <a:alpha val="10000"/>
              </a:srgbClr>
            </a:outerShdw>
          </a:effectLst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65" name="Shape 43">
            <a:extLst>
              <a:ext uri="{FF2B5EF4-FFF2-40B4-BE49-F238E27FC236}">
                <a16:creationId xmlns:a16="http://schemas.microsoft.com/office/drawing/2014/main" id="{7A414BE8-8C56-464D-5646-C8428426E154}"/>
              </a:ext>
            </a:extLst>
          </p:cNvPr>
          <p:cNvSpPr/>
          <p:nvPr/>
        </p:nvSpPr>
        <p:spPr>
          <a:xfrm>
            <a:off x="5262415" y="4124158"/>
            <a:ext cx="182880" cy="182880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67" name="Text 44">
            <a:extLst>
              <a:ext uri="{FF2B5EF4-FFF2-40B4-BE49-F238E27FC236}">
                <a16:creationId xmlns:a16="http://schemas.microsoft.com/office/drawing/2014/main" id="{71F14BEE-D634-88A2-56B2-296177E648B8}"/>
              </a:ext>
            </a:extLst>
          </p:cNvPr>
          <p:cNvSpPr/>
          <p:nvPr/>
        </p:nvSpPr>
        <p:spPr>
          <a:xfrm>
            <a:off x="5262415" y="4124158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1</a:t>
            </a:r>
            <a:endParaRPr kumimoji="0" lang="en-US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69" name="Text 45">
            <a:extLst>
              <a:ext uri="{FF2B5EF4-FFF2-40B4-BE49-F238E27FC236}">
                <a16:creationId xmlns:a16="http://schemas.microsoft.com/office/drawing/2014/main" id="{38EAA9FF-3D6F-9893-A6AC-492E1F8D9ED2}"/>
              </a:ext>
            </a:extLst>
          </p:cNvPr>
          <p:cNvSpPr/>
          <p:nvPr/>
        </p:nvSpPr>
        <p:spPr>
          <a:xfrm>
            <a:off x="5481871" y="410587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850" b="1" i="0" u="none" strike="noStrike" kern="0" cap="none" spc="0" normalizeH="0" baseline="0" noProof="0" dirty="0">
                <a:ln>
                  <a:noFill/>
                </a:ln>
                <a:solidFill>
                  <a:srgbClr val="1A1A2E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超簡易</a:t>
            </a:r>
            <a:r>
              <a:rPr kumimoji="0" lang="en-US" altLang="ja-JP" sz="850" b="1" i="0" u="none" strike="noStrike" kern="0" cap="none" spc="0" normalizeH="0" baseline="0" noProof="0" dirty="0">
                <a:ln>
                  <a:noFill/>
                </a:ln>
                <a:solidFill>
                  <a:srgbClr val="1A1A2E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LP</a:t>
            </a:r>
            <a:endParaRPr kumimoji="0" lang="en-US" sz="85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71" name="Text 46">
            <a:extLst>
              <a:ext uri="{FF2B5EF4-FFF2-40B4-BE49-F238E27FC236}">
                <a16:creationId xmlns:a16="http://schemas.microsoft.com/office/drawing/2014/main" id="{76F9D806-0316-8040-BBC1-059EC4037026}"/>
              </a:ext>
            </a:extLst>
          </p:cNvPr>
          <p:cNvSpPr/>
          <p:nvPr/>
        </p:nvSpPr>
        <p:spPr>
          <a:xfrm>
            <a:off x="5262415" y="4316182"/>
            <a:ext cx="11338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-JP" sz="750" b="0" i="0" u="none" strike="noStrike" kern="0" cap="none" spc="0" normalizeH="0" baseline="0" noProof="0" dirty="0">
                <a:ln>
                  <a:noFill/>
                </a:ln>
                <a:solidFill>
                  <a:srgbClr val="4A4A6A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WEB</a:t>
            </a:r>
            <a:r>
              <a:rPr kumimoji="0" lang="ja-JP" altLang="en-US" sz="750" b="0" i="0" u="none" strike="noStrike" kern="0" cap="none" spc="0" normalizeH="0" baseline="0" noProof="0" dirty="0">
                <a:ln>
                  <a:noFill/>
                </a:ln>
                <a:solidFill>
                  <a:srgbClr val="4A4A6A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リード獲得</a:t>
            </a:r>
            <a:endParaRPr kumimoji="0" lang="en-US" sz="75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73" name="Text 47">
            <a:extLst>
              <a:ext uri="{FF2B5EF4-FFF2-40B4-BE49-F238E27FC236}">
                <a16:creationId xmlns:a16="http://schemas.microsoft.com/office/drawing/2014/main" id="{A91D1983-BD63-6B03-7992-4EBA1D20A7ED}"/>
              </a:ext>
            </a:extLst>
          </p:cNvPr>
          <p:cNvSpPr/>
          <p:nvPr/>
        </p:nvSpPr>
        <p:spPr>
          <a:xfrm>
            <a:off x="6487711" y="4224742"/>
            <a:ext cx="91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rgbClr val="8888A0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▶</a:t>
            </a:r>
            <a:endParaRPr kumimoji="0" lang="en-US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75" name="Shape 48">
            <a:extLst>
              <a:ext uri="{FF2B5EF4-FFF2-40B4-BE49-F238E27FC236}">
                <a16:creationId xmlns:a16="http://schemas.microsoft.com/office/drawing/2014/main" id="{1B608CB6-10B1-7849-F676-C778EAF32793}"/>
              </a:ext>
            </a:extLst>
          </p:cNvPr>
          <p:cNvSpPr/>
          <p:nvPr/>
        </p:nvSpPr>
        <p:spPr>
          <a:xfrm>
            <a:off x="6615727" y="4069294"/>
            <a:ext cx="1243584" cy="475488"/>
          </a:xfrm>
          <a:prstGeom prst="roundRect">
            <a:avLst>
              <a:gd name="adj" fmla="val 11538"/>
            </a:avLst>
          </a:prstGeom>
          <a:solidFill>
            <a:srgbClr val="ECEDF3"/>
          </a:solidFill>
          <a:ln w="12700">
            <a:solidFill>
              <a:srgbClr val="D0D3E4"/>
            </a:solidFill>
            <a:prstDash val="solid"/>
          </a:ln>
          <a:effectLst>
            <a:outerShdw blurRad="50800" dist="12700" dir="8100000" algn="bl" rotWithShape="0">
              <a:srgbClr val="B0B4CC">
                <a:alpha val="10000"/>
              </a:srgbClr>
            </a:outerShdw>
          </a:effectLst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77" name="Shape 49">
            <a:extLst>
              <a:ext uri="{FF2B5EF4-FFF2-40B4-BE49-F238E27FC236}">
                <a16:creationId xmlns:a16="http://schemas.microsoft.com/office/drawing/2014/main" id="{C6FD4C21-79ED-9901-73BB-36FADC629074}"/>
              </a:ext>
            </a:extLst>
          </p:cNvPr>
          <p:cNvSpPr/>
          <p:nvPr/>
        </p:nvSpPr>
        <p:spPr>
          <a:xfrm>
            <a:off x="6670591" y="4124158"/>
            <a:ext cx="182880" cy="182880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79" name="Text 50">
            <a:extLst>
              <a:ext uri="{FF2B5EF4-FFF2-40B4-BE49-F238E27FC236}">
                <a16:creationId xmlns:a16="http://schemas.microsoft.com/office/drawing/2014/main" id="{3AF7109C-EDE8-F8BE-01DA-9C306F9D4491}"/>
              </a:ext>
            </a:extLst>
          </p:cNvPr>
          <p:cNvSpPr/>
          <p:nvPr/>
        </p:nvSpPr>
        <p:spPr>
          <a:xfrm>
            <a:off x="6670591" y="4124158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2</a:t>
            </a:r>
            <a:endParaRPr kumimoji="0" lang="en-US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81" name="Text 51">
            <a:extLst>
              <a:ext uri="{FF2B5EF4-FFF2-40B4-BE49-F238E27FC236}">
                <a16:creationId xmlns:a16="http://schemas.microsoft.com/office/drawing/2014/main" id="{6A7C6314-C31C-2B4B-7A8D-E8DECD286DE8}"/>
              </a:ext>
            </a:extLst>
          </p:cNvPr>
          <p:cNvSpPr/>
          <p:nvPr/>
        </p:nvSpPr>
        <p:spPr>
          <a:xfrm>
            <a:off x="6887872" y="4105870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850" b="1" i="0" u="none" strike="noStrike" kern="0" cap="none" spc="0" normalizeH="0" baseline="0" noProof="0" dirty="0">
                <a:ln>
                  <a:noFill/>
                </a:ln>
                <a:solidFill>
                  <a:srgbClr val="1A1A2E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サンクス</a:t>
            </a:r>
            <a:r>
              <a:rPr kumimoji="0" lang="en-US" altLang="ja-JP" sz="850" b="1" i="0" u="none" strike="noStrike" kern="0" cap="none" spc="0" normalizeH="0" baseline="0" noProof="0" dirty="0">
                <a:ln>
                  <a:noFill/>
                </a:ln>
                <a:solidFill>
                  <a:srgbClr val="1A1A2E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LINE</a:t>
            </a:r>
            <a:r>
              <a:rPr kumimoji="0" lang="ja-JP" altLang="en-US" sz="850" b="1" i="0" u="none" strike="noStrike" kern="0" cap="none" spc="0" normalizeH="0" baseline="0" noProof="0" dirty="0">
                <a:ln>
                  <a:noFill/>
                </a:ln>
                <a:solidFill>
                  <a:srgbClr val="1A1A2E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誘導</a:t>
            </a:r>
            <a:endParaRPr kumimoji="0" lang="en-US" sz="85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83" name="Text 52">
            <a:extLst>
              <a:ext uri="{FF2B5EF4-FFF2-40B4-BE49-F238E27FC236}">
                <a16:creationId xmlns:a16="http://schemas.microsoft.com/office/drawing/2014/main" id="{0C3AD28D-E803-BC04-74B7-651CDCD70000}"/>
              </a:ext>
            </a:extLst>
          </p:cNvPr>
          <p:cNvSpPr/>
          <p:nvPr/>
        </p:nvSpPr>
        <p:spPr>
          <a:xfrm>
            <a:off x="6621208" y="4316182"/>
            <a:ext cx="137196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-JP" sz="750" b="0" i="0" u="none" strike="noStrike" kern="0" cap="none" spc="0" normalizeH="0" baseline="0" noProof="0" dirty="0">
                <a:ln>
                  <a:noFill/>
                </a:ln>
                <a:solidFill>
                  <a:srgbClr val="4A4A6A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LINE</a:t>
            </a:r>
            <a:r>
              <a:rPr kumimoji="0" lang="ja-JP" altLang="en-US" sz="750" b="0" i="0" u="none" strike="noStrike" kern="0" cap="none" spc="0" normalizeH="0" baseline="0" noProof="0" dirty="0">
                <a:ln>
                  <a:noFill/>
                </a:ln>
                <a:solidFill>
                  <a:srgbClr val="4A4A6A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上で受取</a:t>
            </a:r>
            <a:r>
              <a:rPr kumimoji="0" lang="ja-JP" altLang="en-US" sz="750" kern="0" dirty="0">
                <a:solidFill>
                  <a:srgbClr val="4A4A6A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として友だちに</a:t>
            </a:r>
            <a:endParaRPr kumimoji="0" lang="en-US" sz="75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85" name="Text 53">
            <a:extLst>
              <a:ext uri="{FF2B5EF4-FFF2-40B4-BE49-F238E27FC236}">
                <a16:creationId xmlns:a16="http://schemas.microsoft.com/office/drawing/2014/main" id="{2FB8B884-DB13-49DB-D682-50EB7789C9A4}"/>
              </a:ext>
            </a:extLst>
          </p:cNvPr>
          <p:cNvSpPr/>
          <p:nvPr/>
        </p:nvSpPr>
        <p:spPr>
          <a:xfrm>
            <a:off x="7895887" y="4224742"/>
            <a:ext cx="91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rgbClr val="8888A0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▶</a:t>
            </a:r>
            <a:endParaRPr kumimoji="0" lang="en-US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87" name="Shape 54">
            <a:extLst>
              <a:ext uri="{FF2B5EF4-FFF2-40B4-BE49-F238E27FC236}">
                <a16:creationId xmlns:a16="http://schemas.microsoft.com/office/drawing/2014/main" id="{710A2000-BA3B-1AFB-FCE0-644E6898DD03}"/>
              </a:ext>
            </a:extLst>
          </p:cNvPr>
          <p:cNvSpPr/>
          <p:nvPr/>
        </p:nvSpPr>
        <p:spPr>
          <a:xfrm>
            <a:off x="8023903" y="4069294"/>
            <a:ext cx="1243584" cy="475488"/>
          </a:xfrm>
          <a:prstGeom prst="roundRect">
            <a:avLst>
              <a:gd name="adj" fmla="val 11538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  <a:effectLst>
            <a:outerShdw blurRad="50800" dist="12700" dir="8100000" algn="bl" rotWithShape="0">
              <a:srgbClr val="B0B4CC">
                <a:alpha val="10000"/>
              </a:srgbClr>
            </a:outerShdw>
          </a:effectLst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89" name="Shape 55">
            <a:extLst>
              <a:ext uri="{FF2B5EF4-FFF2-40B4-BE49-F238E27FC236}">
                <a16:creationId xmlns:a16="http://schemas.microsoft.com/office/drawing/2014/main" id="{1037F87F-5E4D-E3F5-E197-701DC444F492}"/>
              </a:ext>
            </a:extLst>
          </p:cNvPr>
          <p:cNvSpPr/>
          <p:nvPr/>
        </p:nvSpPr>
        <p:spPr>
          <a:xfrm>
            <a:off x="8078767" y="4124158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91" name="Text 56">
            <a:extLst>
              <a:ext uri="{FF2B5EF4-FFF2-40B4-BE49-F238E27FC236}">
                <a16:creationId xmlns:a16="http://schemas.microsoft.com/office/drawing/2014/main" id="{B168640B-7EB6-045C-32D4-9F60E9C4069A}"/>
              </a:ext>
            </a:extLst>
          </p:cNvPr>
          <p:cNvSpPr/>
          <p:nvPr/>
        </p:nvSpPr>
        <p:spPr>
          <a:xfrm>
            <a:off x="8078767" y="4124158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0" cap="none" spc="0" normalizeH="0" baseline="0" noProof="0" dirty="0">
                <a:ln>
                  <a:noFill/>
                </a:ln>
                <a:solidFill>
                  <a:srgbClr val="1565C0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3</a:t>
            </a:r>
            <a:endParaRPr kumimoji="0" lang="en-US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93" name="Text 57">
            <a:extLst>
              <a:ext uri="{FF2B5EF4-FFF2-40B4-BE49-F238E27FC236}">
                <a16:creationId xmlns:a16="http://schemas.microsoft.com/office/drawing/2014/main" id="{E14BC7E9-3708-9505-AC4A-060665171BCD}"/>
              </a:ext>
            </a:extLst>
          </p:cNvPr>
          <p:cNvSpPr/>
          <p:nvPr/>
        </p:nvSpPr>
        <p:spPr>
          <a:xfrm>
            <a:off x="8298223" y="410587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友だち追加完了</a:t>
            </a:r>
            <a:endParaRPr kumimoji="0" lang="en-US" sz="85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95" name="Text 58">
            <a:extLst>
              <a:ext uri="{FF2B5EF4-FFF2-40B4-BE49-F238E27FC236}">
                <a16:creationId xmlns:a16="http://schemas.microsoft.com/office/drawing/2014/main" id="{5677227D-7522-18E3-CFF0-A01DE3054B96}"/>
              </a:ext>
            </a:extLst>
          </p:cNvPr>
          <p:cNvSpPr/>
          <p:nvPr/>
        </p:nvSpPr>
        <p:spPr>
          <a:xfrm>
            <a:off x="8078767" y="4316182"/>
            <a:ext cx="11338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0" i="0" u="none" strike="noStrike" kern="0" cap="none" spc="0" normalizeH="0" baseline="0" noProof="0" dirty="0" err="1">
                <a:ln>
                  <a:noFill/>
                </a:ln>
                <a:solidFill>
                  <a:srgbClr val="D0E8FF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ステップ配信</a:t>
            </a:r>
            <a:r>
              <a:rPr kumimoji="0" lang="ja-JP" altLang="en-US" sz="750" kern="0" dirty="0">
                <a:solidFill>
                  <a:srgbClr val="D0E8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対象に</a:t>
            </a:r>
            <a:endParaRPr kumimoji="0" lang="en-US" sz="75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43" name="Shape 88">
            <a:extLst>
              <a:ext uri="{FF2B5EF4-FFF2-40B4-BE49-F238E27FC236}">
                <a16:creationId xmlns:a16="http://schemas.microsoft.com/office/drawing/2014/main" id="{E0F73C02-327E-D244-0ABD-F19F91EB24DD}"/>
              </a:ext>
            </a:extLst>
          </p:cNvPr>
          <p:cNvSpPr/>
          <p:nvPr/>
        </p:nvSpPr>
        <p:spPr>
          <a:xfrm>
            <a:off x="261702" y="2995754"/>
            <a:ext cx="4526075" cy="1600806"/>
          </a:xfrm>
          <a:prstGeom prst="roundRect">
            <a:avLst>
              <a:gd name="adj" fmla="val 8000"/>
            </a:avLst>
          </a:prstGeom>
          <a:solidFill>
            <a:srgbClr val="F5F5F8"/>
          </a:solidFill>
          <a:ln w="12700">
            <a:solidFill>
              <a:srgbClr val="D0D3E4"/>
            </a:solidFill>
            <a:prstDash val="solid"/>
          </a:ln>
          <a:effectLst>
            <a:outerShdw blurRad="50800" dist="12700" dir="8100000" algn="bl" rotWithShape="0">
              <a:srgbClr val="B0B4CC">
                <a:alpha val="10000"/>
              </a:srgbClr>
            </a:outerShdw>
          </a:effectLst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45" name="Shape 36">
            <a:extLst>
              <a:ext uri="{FF2B5EF4-FFF2-40B4-BE49-F238E27FC236}">
                <a16:creationId xmlns:a16="http://schemas.microsoft.com/office/drawing/2014/main" id="{845DFC42-70E6-B496-30C2-C44315D85C79}"/>
              </a:ext>
            </a:extLst>
          </p:cNvPr>
          <p:cNvSpPr/>
          <p:nvPr/>
        </p:nvSpPr>
        <p:spPr>
          <a:xfrm>
            <a:off x="369887" y="3078489"/>
            <a:ext cx="256032" cy="256032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  <p:txBody>
          <a:bodyPr anchor="ctr"/>
          <a:lstStyle/>
          <a:p>
            <a:pPr algn="ctr"/>
            <a:r>
              <a:rPr kumimoji="0" lang="en-US" altLang="ja-JP" sz="9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1</a:t>
            </a:r>
            <a:endParaRPr kumimoji="0" lang="ja-JP" altLang="en-US" sz="9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47" name="Shape 38">
            <a:extLst>
              <a:ext uri="{FF2B5EF4-FFF2-40B4-BE49-F238E27FC236}">
                <a16:creationId xmlns:a16="http://schemas.microsoft.com/office/drawing/2014/main" id="{2DBF8816-E4F7-4E6B-6AB6-19DEA2101114}"/>
              </a:ext>
            </a:extLst>
          </p:cNvPr>
          <p:cNvSpPr/>
          <p:nvPr/>
        </p:nvSpPr>
        <p:spPr>
          <a:xfrm>
            <a:off x="699071" y="3096777"/>
            <a:ext cx="804672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D0D3E4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49" name="Text 39">
            <a:extLst>
              <a:ext uri="{FF2B5EF4-FFF2-40B4-BE49-F238E27FC236}">
                <a16:creationId xmlns:a16="http://schemas.microsoft.com/office/drawing/2014/main" id="{27DB11BF-957B-1CEF-3AC8-18BF5DCF40D9}"/>
              </a:ext>
            </a:extLst>
          </p:cNvPr>
          <p:cNvSpPr/>
          <p:nvPr/>
        </p:nvSpPr>
        <p:spPr>
          <a:xfrm>
            <a:off x="699071" y="3096777"/>
            <a:ext cx="804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-JP" sz="750" b="1" i="0" u="none" strike="noStrike" kern="0" cap="none" spc="0" normalizeH="0" baseline="0" noProof="0" dirty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</a:rPr>
              <a:t>CV</a:t>
            </a:r>
            <a:r>
              <a:rPr kumimoji="0" lang="ja-JP" altLang="en-US" sz="750" b="1" i="0" u="none" strike="noStrike" kern="0" cap="none" spc="0" normalizeH="0" baseline="0" noProof="0" dirty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</a:rPr>
              <a:t>地点追加</a:t>
            </a:r>
            <a:endParaRPr kumimoji="0" lang="en-US" sz="750" b="1" i="0" u="none" strike="noStrike" kern="0" cap="none" spc="0" normalizeH="0" baseline="0" noProof="0" dirty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51" name="Text 40">
            <a:extLst>
              <a:ext uri="{FF2B5EF4-FFF2-40B4-BE49-F238E27FC236}">
                <a16:creationId xmlns:a16="http://schemas.microsoft.com/office/drawing/2014/main" id="{C23E771B-F34E-1D51-1F7F-E37507CCE586}"/>
              </a:ext>
            </a:extLst>
          </p:cNvPr>
          <p:cNvSpPr/>
          <p:nvPr/>
        </p:nvSpPr>
        <p:spPr>
          <a:xfrm>
            <a:off x="1558607" y="3069345"/>
            <a:ext cx="33190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-JP" sz="1100" b="1" i="0" u="none" strike="noStrike" kern="0" cap="none" spc="0" normalizeH="0" baseline="0" noProof="0" dirty="0">
                <a:ln>
                  <a:noFill/>
                </a:ln>
                <a:solidFill>
                  <a:srgbClr val="1A1A2E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LINE</a:t>
            </a:r>
            <a:r>
              <a:rPr kumimoji="0" lang="ja-JP" altLang="en-US" sz="1100" b="1" i="0" u="none" strike="noStrike" kern="0" cap="none" spc="0" normalizeH="0" baseline="0" noProof="0" dirty="0">
                <a:ln>
                  <a:noFill/>
                </a:ln>
                <a:solidFill>
                  <a:srgbClr val="1A1A2E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追加をそもそも集客成果の</a:t>
            </a:r>
            <a:r>
              <a:rPr kumimoji="0" lang="en-US" altLang="ja-JP" sz="1100" b="1" i="0" u="none" strike="noStrike" kern="0" cap="none" spc="0" normalizeH="0" baseline="0" noProof="0" dirty="0">
                <a:ln>
                  <a:noFill/>
                </a:ln>
                <a:solidFill>
                  <a:srgbClr val="1A1A2E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1</a:t>
            </a:r>
            <a:r>
              <a:rPr kumimoji="0" lang="ja-JP" altLang="en-US" sz="1100" b="1" i="0" u="none" strike="noStrike" kern="0" cap="none" spc="0" normalizeH="0" baseline="0" noProof="0" dirty="0">
                <a:ln>
                  <a:noFill/>
                </a:ln>
                <a:solidFill>
                  <a:srgbClr val="1A1A2E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地点に追加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53" name="Text 41">
            <a:extLst>
              <a:ext uri="{FF2B5EF4-FFF2-40B4-BE49-F238E27FC236}">
                <a16:creationId xmlns:a16="http://schemas.microsoft.com/office/drawing/2014/main" id="{2C88C715-1A68-D7F9-6C3C-2E4E657F87BC}"/>
              </a:ext>
            </a:extLst>
          </p:cNvPr>
          <p:cNvSpPr/>
          <p:nvPr/>
        </p:nvSpPr>
        <p:spPr>
          <a:xfrm>
            <a:off x="369887" y="3371097"/>
            <a:ext cx="444977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>
              <a:lnSpc>
                <a:spcPct val="135000"/>
              </a:lnSpc>
              <a:defRPr/>
            </a:pPr>
            <a:r>
              <a:rPr kumimoji="0" lang="ja-JP" altLang="en-US" sz="850" b="0" i="0" u="none" strike="noStrike" kern="0" cap="none" spc="0" normalizeH="0" baseline="0" noProof="0" dirty="0">
                <a:ln>
                  <a:noFill/>
                </a:ln>
                <a:solidFill>
                  <a:srgbClr val="4A4A6A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メール、電話を中心とした集客動線では、個人情報としてのハードルが高いため、</a:t>
            </a:r>
            <a:endParaRPr kumimoji="0" lang="en-US" altLang="ja-JP" sz="850" b="0" i="0" u="none" strike="noStrike" kern="0" cap="none" spc="0" normalizeH="0" baseline="0" noProof="0" dirty="0">
              <a:ln>
                <a:noFill/>
              </a:ln>
              <a:solidFill>
                <a:srgbClr val="4A4A6A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  <a:cs typeface="Calibri" pitchFamily="34" charset="-120"/>
            </a:endParaRPr>
          </a:p>
          <a:p>
            <a:pPr lvl="0">
              <a:lnSpc>
                <a:spcPct val="135000"/>
              </a:lnSpc>
              <a:defRPr/>
            </a:pPr>
            <a:r>
              <a:rPr kumimoji="0" lang="ja-JP" altLang="en-US" sz="850" kern="0" dirty="0">
                <a:solidFill>
                  <a:srgbClr val="4A4A6A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集客実施内でのリード獲得単価を抑制できる上、反応率が高い</a:t>
            </a:r>
            <a:r>
              <a:rPr kumimoji="0" lang="en-US" altLang="ja-JP" sz="850" kern="0" dirty="0">
                <a:solidFill>
                  <a:srgbClr val="4A4A6A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LINE</a:t>
            </a:r>
            <a:r>
              <a:rPr kumimoji="0" lang="ja-JP" altLang="en-US" sz="850" kern="0" dirty="0">
                <a:solidFill>
                  <a:srgbClr val="4A4A6A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を動線の</a:t>
            </a:r>
            <a:r>
              <a:rPr kumimoji="0" lang="en-US" altLang="ja-JP" sz="850" kern="0" dirty="0">
                <a:solidFill>
                  <a:srgbClr val="4A4A6A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1</a:t>
            </a:r>
            <a:r>
              <a:rPr kumimoji="0" lang="ja-JP" altLang="en-US" sz="850" kern="0" dirty="0">
                <a:solidFill>
                  <a:srgbClr val="4A4A6A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つに。</a:t>
            </a:r>
            <a:endParaRPr kumimoji="0" lang="en-US" sz="85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55" name="Shape 42">
            <a:extLst>
              <a:ext uri="{FF2B5EF4-FFF2-40B4-BE49-F238E27FC236}">
                <a16:creationId xmlns:a16="http://schemas.microsoft.com/office/drawing/2014/main" id="{113510A9-9BDD-9FAD-90F6-0D1EC0BCB699}"/>
              </a:ext>
            </a:extLst>
          </p:cNvPr>
          <p:cNvSpPr/>
          <p:nvPr/>
        </p:nvSpPr>
        <p:spPr>
          <a:xfrm>
            <a:off x="369887" y="4065279"/>
            <a:ext cx="1243584" cy="475488"/>
          </a:xfrm>
          <a:prstGeom prst="roundRect">
            <a:avLst>
              <a:gd name="adj" fmla="val 11538"/>
            </a:avLst>
          </a:prstGeom>
          <a:solidFill>
            <a:srgbClr val="ECEDF3"/>
          </a:solidFill>
          <a:ln w="12700">
            <a:solidFill>
              <a:srgbClr val="D0D3E4"/>
            </a:solidFill>
            <a:prstDash val="solid"/>
          </a:ln>
          <a:effectLst>
            <a:outerShdw blurRad="50800" dist="12700" dir="8100000" algn="bl" rotWithShape="0">
              <a:srgbClr val="B0B4CC">
                <a:alpha val="10000"/>
              </a:srgbClr>
            </a:outerShdw>
          </a:effectLst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57" name="Shape 43">
            <a:extLst>
              <a:ext uri="{FF2B5EF4-FFF2-40B4-BE49-F238E27FC236}">
                <a16:creationId xmlns:a16="http://schemas.microsoft.com/office/drawing/2014/main" id="{4E4A9CB8-BC81-64F6-260F-5F493122A66C}"/>
              </a:ext>
            </a:extLst>
          </p:cNvPr>
          <p:cNvSpPr/>
          <p:nvPr/>
        </p:nvSpPr>
        <p:spPr>
          <a:xfrm>
            <a:off x="424751" y="4120143"/>
            <a:ext cx="182880" cy="182880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59" name="Text 44">
            <a:extLst>
              <a:ext uri="{FF2B5EF4-FFF2-40B4-BE49-F238E27FC236}">
                <a16:creationId xmlns:a16="http://schemas.microsoft.com/office/drawing/2014/main" id="{1140FDA8-6C5C-AE0C-F98C-11C8C0A073FE}"/>
              </a:ext>
            </a:extLst>
          </p:cNvPr>
          <p:cNvSpPr/>
          <p:nvPr/>
        </p:nvSpPr>
        <p:spPr>
          <a:xfrm>
            <a:off x="424751" y="4120143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1</a:t>
            </a:r>
            <a:endParaRPr kumimoji="0" lang="en-US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61" name="Text 45">
            <a:extLst>
              <a:ext uri="{FF2B5EF4-FFF2-40B4-BE49-F238E27FC236}">
                <a16:creationId xmlns:a16="http://schemas.microsoft.com/office/drawing/2014/main" id="{A22E630F-5396-9B90-711A-C5DCE95E1469}"/>
              </a:ext>
            </a:extLst>
          </p:cNvPr>
          <p:cNvSpPr/>
          <p:nvPr/>
        </p:nvSpPr>
        <p:spPr>
          <a:xfrm>
            <a:off x="644207" y="4101855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850" b="1" i="0" u="none" strike="noStrike" kern="0" cap="none" spc="0" normalizeH="0" baseline="0" noProof="0" dirty="0">
                <a:ln>
                  <a:noFill/>
                </a:ln>
                <a:solidFill>
                  <a:srgbClr val="1A1A2E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広告・</a:t>
            </a:r>
            <a:r>
              <a:rPr kumimoji="0" lang="en-US" altLang="ja-JP" sz="850" b="1" i="0" u="none" strike="noStrike" kern="0" cap="none" spc="0" normalizeH="0" baseline="0" noProof="0" dirty="0">
                <a:ln>
                  <a:noFill/>
                </a:ln>
                <a:solidFill>
                  <a:srgbClr val="1A1A2E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SEO</a:t>
            </a:r>
            <a:r>
              <a:rPr kumimoji="0" lang="ja-JP" altLang="en-US" sz="850" b="1" i="0" u="none" strike="noStrike" kern="0" cap="none" spc="0" normalizeH="0" baseline="0" noProof="0" dirty="0">
                <a:ln>
                  <a:noFill/>
                </a:ln>
                <a:solidFill>
                  <a:srgbClr val="1A1A2E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・</a:t>
            </a:r>
            <a:r>
              <a:rPr kumimoji="0" lang="en-US" altLang="ja-JP" sz="850" b="1" i="0" u="none" strike="noStrike" kern="0" cap="none" spc="0" normalizeH="0" baseline="0" noProof="0" dirty="0">
                <a:ln>
                  <a:noFill/>
                </a:ln>
                <a:solidFill>
                  <a:srgbClr val="1A1A2E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SNS</a:t>
            </a:r>
            <a:endParaRPr kumimoji="0" lang="en-US" sz="85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63" name="Text 46">
            <a:extLst>
              <a:ext uri="{FF2B5EF4-FFF2-40B4-BE49-F238E27FC236}">
                <a16:creationId xmlns:a16="http://schemas.microsoft.com/office/drawing/2014/main" id="{963027FB-D92E-2D7B-6655-63BA79599E4C}"/>
              </a:ext>
            </a:extLst>
          </p:cNvPr>
          <p:cNvSpPr/>
          <p:nvPr/>
        </p:nvSpPr>
        <p:spPr>
          <a:xfrm>
            <a:off x="424751" y="4312167"/>
            <a:ext cx="11338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750" b="0" i="0" u="none" strike="noStrike" kern="0" cap="none" spc="0" normalizeH="0" baseline="0" noProof="0" dirty="0">
                <a:ln>
                  <a:noFill/>
                </a:ln>
                <a:solidFill>
                  <a:srgbClr val="4A4A6A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流入チャネル</a:t>
            </a:r>
            <a:endParaRPr kumimoji="0" lang="en-US" sz="75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65" name="Text 47">
            <a:extLst>
              <a:ext uri="{FF2B5EF4-FFF2-40B4-BE49-F238E27FC236}">
                <a16:creationId xmlns:a16="http://schemas.microsoft.com/office/drawing/2014/main" id="{74B99422-CBF5-9B4D-0494-5C4443B23CDC}"/>
              </a:ext>
            </a:extLst>
          </p:cNvPr>
          <p:cNvSpPr/>
          <p:nvPr/>
        </p:nvSpPr>
        <p:spPr>
          <a:xfrm>
            <a:off x="1650047" y="4220727"/>
            <a:ext cx="91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rgbClr val="8888A0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▶</a:t>
            </a:r>
            <a:endParaRPr kumimoji="0" lang="en-US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67" name="Shape 48">
            <a:extLst>
              <a:ext uri="{FF2B5EF4-FFF2-40B4-BE49-F238E27FC236}">
                <a16:creationId xmlns:a16="http://schemas.microsoft.com/office/drawing/2014/main" id="{8B8CFEAA-9314-449D-1074-EF75AFDAC19A}"/>
              </a:ext>
            </a:extLst>
          </p:cNvPr>
          <p:cNvSpPr/>
          <p:nvPr/>
        </p:nvSpPr>
        <p:spPr>
          <a:xfrm>
            <a:off x="1778063" y="4065279"/>
            <a:ext cx="1243584" cy="475488"/>
          </a:xfrm>
          <a:prstGeom prst="roundRect">
            <a:avLst>
              <a:gd name="adj" fmla="val 11538"/>
            </a:avLst>
          </a:prstGeom>
          <a:solidFill>
            <a:srgbClr val="ECEDF3"/>
          </a:solidFill>
          <a:ln w="12700">
            <a:solidFill>
              <a:srgbClr val="D0D3E4"/>
            </a:solidFill>
            <a:prstDash val="solid"/>
          </a:ln>
          <a:effectLst>
            <a:outerShdw blurRad="50800" dist="12700" dir="8100000" algn="bl" rotWithShape="0">
              <a:srgbClr val="B0B4CC">
                <a:alpha val="10000"/>
              </a:srgbClr>
            </a:outerShdw>
          </a:effectLst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69" name="Shape 49">
            <a:extLst>
              <a:ext uri="{FF2B5EF4-FFF2-40B4-BE49-F238E27FC236}">
                <a16:creationId xmlns:a16="http://schemas.microsoft.com/office/drawing/2014/main" id="{C950146B-431E-366D-1457-E0150725DAB8}"/>
              </a:ext>
            </a:extLst>
          </p:cNvPr>
          <p:cNvSpPr/>
          <p:nvPr/>
        </p:nvSpPr>
        <p:spPr>
          <a:xfrm>
            <a:off x="1832927" y="4120143"/>
            <a:ext cx="182880" cy="182880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71" name="Text 50">
            <a:extLst>
              <a:ext uri="{FF2B5EF4-FFF2-40B4-BE49-F238E27FC236}">
                <a16:creationId xmlns:a16="http://schemas.microsoft.com/office/drawing/2014/main" id="{2812D2BF-5313-2DA8-B2ED-115987FDA314}"/>
              </a:ext>
            </a:extLst>
          </p:cNvPr>
          <p:cNvSpPr/>
          <p:nvPr/>
        </p:nvSpPr>
        <p:spPr>
          <a:xfrm>
            <a:off x="1832927" y="4120143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2</a:t>
            </a:r>
            <a:endParaRPr kumimoji="0" lang="en-US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73" name="Text 51">
            <a:extLst>
              <a:ext uri="{FF2B5EF4-FFF2-40B4-BE49-F238E27FC236}">
                <a16:creationId xmlns:a16="http://schemas.microsoft.com/office/drawing/2014/main" id="{61B9DBCC-02E6-6237-0DAD-ED9142171120}"/>
              </a:ext>
            </a:extLst>
          </p:cNvPr>
          <p:cNvSpPr/>
          <p:nvPr/>
        </p:nvSpPr>
        <p:spPr>
          <a:xfrm>
            <a:off x="2050208" y="4101855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-JP" sz="850" b="1" i="0" u="none" strike="noStrike" kern="0" cap="none" spc="0" normalizeH="0" baseline="0" noProof="0" dirty="0">
                <a:ln>
                  <a:noFill/>
                </a:ln>
                <a:solidFill>
                  <a:srgbClr val="1A1A2E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LP</a:t>
            </a:r>
            <a:r>
              <a:rPr kumimoji="0" lang="ja-JP" altLang="en-US" sz="850" b="1" i="0" u="none" strike="noStrike" kern="0" cap="none" spc="0" normalizeH="0" baseline="0" noProof="0" dirty="0">
                <a:ln>
                  <a:noFill/>
                </a:ln>
                <a:solidFill>
                  <a:srgbClr val="1A1A2E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・ポップアップ</a:t>
            </a:r>
            <a:endParaRPr kumimoji="0" lang="en-US" sz="85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75" name="Text 52">
            <a:extLst>
              <a:ext uri="{FF2B5EF4-FFF2-40B4-BE49-F238E27FC236}">
                <a16:creationId xmlns:a16="http://schemas.microsoft.com/office/drawing/2014/main" id="{1CF9536A-5A56-D77B-3F08-8BACCB3B4827}"/>
              </a:ext>
            </a:extLst>
          </p:cNvPr>
          <p:cNvSpPr/>
          <p:nvPr/>
        </p:nvSpPr>
        <p:spPr>
          <a:xfrm>
            <a:off x="1783544" y="4312167"/>
            <a:ext cx="137196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-JP" sz="750" b="0" i="0" u="none" strike="noStrike" kern="0" cap="none" spc="0" normalizeH="0" baseline="0" noProof="0" dirty="0">
                <a:ln>
                  <a:noFill/>
                </a:ln>
                <a:solidFill>
                  <a:srgbClr val="4A4A6A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LP</a:t>
            </a:r>
            <a:r>
              <a:rPr kumimoji="0" lang="ja-JP" altLang="en-US" sz="750" b="0" i="0" u="none" strike="noStrike" kern="0" cap="none" spc="0" normalizeH="0" baseline="0" noProof="0" dirty="0">
                <a:ln>
                  <a:noFill/>
                </a:ln>
                <a:solidFill>
                  <a:srgbClr val="4A4A6A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やポップアップでの動線に</a:t>
            </a:r>
            <a:endParaRPr kumimoji="0" lang="en-US" sz="75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77" name="Text 53">
            <a:extLst>
              <a:ext uri="{FF2B5EF4-FFF2-40B4-BE49-F238E27FC236}">
                <a16:creationId xmlns:a16="http://schemas.microsoft.com/office/drawing/2014/main" id="{6C4945AC-3CDA-2080-CEF1-36A24E6529F2}"/>
              </a:ext>
            </a:extLst>
          </p:cNvPr>
          <p:cNvSpPr/>
          <p:nvPr/>
        </p:nvSpPr>
        <p:spPr>
          <a:xfrm>
            <a:off x="3058223" y="4220727"/>
            <a:ext cx="91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rgbClr val="8888A0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▶</a:t>
            </a:r>
            <a:endParaRPr kumimoji="0" lang="en-US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79" name="Shape 54">
            <a:extLst>
              <a:ext uri="{FF2B5EF4-FFF2-40B4-BE49-F238E27FC236}">
                <a16:creationId xmlns:a16="http://schemas.microsoft.com/office/drawing/2014/main" id="{FB4A19A3-2EF9-47D2-F075-70F2D5D6B076}"/>
              </a:ext>
            </a:extLst>
          </p:cNvPr>
          <p:cNvSpPr/>
          <p:nvPr/>
        </p:nvSpPr>
        <p:spPr>
          <a:xfrm>
            <a:off x="3186239" y="4065279"/>
            <a:ext cx="1243584" cy="475488"/>
          </a:xfrm>
          <a:prstGeom prst="roundRect">
            <a:avLst>
              <a:gd name="adj" fmla="val 11538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  <a:effectLst>
            <a:outerShdw blurRad="50800" dist="12700" dir="8100000" algn="bl" rotWithShape="0">
              <a:srgbClr val="B0B4CC">
                <a:alpha val="10000"/>
              </a:srgbClr>
            </a:outerShdw>
          </a:effectLst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81" name="Shape 55">
            <a:extLst>
              <a:ext uri="{FF2B5EF4-FFF2-40B4-BE49-F238E27FC236}">
                <a16:creationId xmlns:a16="http://schemas.microsoft.com/office/drawing/2014/main" id="{6B43E1E4-2A7D-AD40-67F5-6B516A71860E}"/>
              </a:ext>
            </a:extLst>
          </p:cNvPr>
          <p:cNvSpPr/>
          <p:nvPr/>
        </p:nvSpPr>
        <p:spPr>
          <a:xfrm>
            <a:off x="3241103" y="4120143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83" name="Text 56">
            <a:extLst>
              <a:ext uri="{FF2B5EF4-FFF2-40B4-BE49-F238E27FC236}">
                <a16:creationId xmlns:a16="http://schemas.microsoft.com/office/drawing/2014/main" id="{2E67F49B-16BE-07E6-9262-E50D4D3A8F60}"/>
              </a:ext>
            </a:extLst>
          </p:cNvPr>
          <p:cNvSpPr/>
          <p:nvPr/>
        </p:nvSpPr>
        <p:spPr>
          <a:xfrm>
            <a:off x="3241103" y="4120143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0" cap="none" spc="0" normalizeH="0" baseline="0" noProof="0" dirty="0">
                <a:ln>
                  <a:noFill/>
                </a:ln>
                <a:solidFill>
                  <a:srgbClr val="1565C0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3</a:t>
            </a:r>
            <a:endParaRPr kumimoji="0" lang="en-US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85" name="Text 57">
            <a:extLst>
              <a:ext uri="{FF2B5EF4-FFF2-40B4-BE49-F238E27FC236}">
                <a16:creationId xmlns:a16="http://schemas.microsoft.com/office/drawing/2014/main" id="{AA931AD0-7A16-05D2-D8C7-AB50301B6C53}"/>
              </a:ext>
            </a:extLst>
          </p:cNvPr>
          <p:cNvSpPr/>
          <p:nvPr/>
        </p:nvSpPr>
        <p:spPr>
          <a:xfrm>
            <a:off x="3460559" y="4101855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友だち追加完了</a:t>
            </a:r>
            <a:endParaRPr kumimoji="0" lang="en-US" sz="85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87" name="Text 58">
            <a:extLst>
              <a:ext uri="{FF2B5EF4-FFF2-40B4-BE49-F238E27FC236}">
                <a16:creationId xmlns:a16="http://schemas.microsoft.com/office/drawing/2014/main" id="{54B49D2D-4FC3-300F-AAB4-B1D6ACEDA33A}"/>
              </a:ext>
            </a:extLst>
          </p:cNvPr>
          <p:cNvSpPr/>
          <p:nvPr/>
        </p:nvSpPr>
        <p:spPr>
          <a:xfrm>
            <a:off x="3241103" y="4312167"/>
            <a:ext cx="11338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0" i="0" u="none" strike="noStrike" kern="0" cap="none" spc="0" normalizeH="0" baseline="0" noProof="0" dirty="0">
                <a:ln>
                  <a:noFill/>
                </a:ln>
                <a:solidFill>
                  <a:srgbClr val="D0E8FF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--</a:t>
            </a:r>
            <a:endParaRPr kumimoji="0" lang="en-US" sz="75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95715877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［第2章］運用の参考事例｜タウンワーク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アルバイト求人のタウンワークは、LINEを「求人を探す入口」にしました（LINEヤフー公式の導入事例）。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リッチメニューに人気の検索条件を並べ、ワンタップで探せるようにしたことで、応募が増えています。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2000" y="5148072"/>
            <a:ext cx="9043200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出典｜LINEヤフー for Business 導入事例「バイト応募件数約80％増！リッチメニューを生かしたタウンワークのLINE活用事例」（2019年1月公開・数値は取材時点）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" y="5148072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2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求人を「届ける」だけでなく、「探す入口」をLINEに置いたことが応募につながった。</a:t>
            </a:r>
            <a:endParaRPr lang="ja-JP" altLang="en-US" sz="125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417320"/>
            <a:ext cx="2880360" cy="960120"/>
          </a:xfrm>
          <a:prstGeom prst="roundRect">
            <a:avLst>
              <a:gd name="adj" fmla="val 6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105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リッチメニューのタップ数</a:t>
            </a:r>
            <a:endParaRPr lang="ja-JP" altLang="en-US" sz="120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20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＋20%</a:t>
            </a:r>
            <a:endParaRPr lang="ja-JP" altLang="en-US" sz="120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リッチメニューを充実させる前と比べて</a:t>
            </a:r>
            <a:endParaRPr lang="ja-JP" altLang="en-US" sz="1200" dirty="0"/>
          </a:p>
        </p:txBody>
      </p:sp>
      <p:sp>
        <p:nvSpPr>
          <p:cNvPr id="23" name="Rounded Rectangle 22"/>
          <p:cNvSpPr/>
          <p:nvPr/>
        </p:nvSpPr>
        <p:spPr>
          <a:xfrm>
            <a:off x="3511296" y="1417320"/>
            <a:ext cx="2880360" cy="960120"/>
          </a:xfrm>
          <a:prstGeom prst="roundRect">
            <a:avLst>
              <a:gd name="adj" fmla="val 6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105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リッチメニュー経由の応募数</a:t>
            </a:r>
            <a:endParaRPr lang="ja-JP" altLang="en-US" sz="120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20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＋79%</a:t>
            </a:r>
            <a:endParaRPr lang="ja-JP" altLang="en-US" sz="120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同じく、充実させる前と比べて</a:t>
            </a:r>
            <a:endParaRPr lang="ja-JP" altLang="en-US" sz="1200" dirty="0"/>
          </a:p>
        </p:txBody>
      </p:sp>
      <p:sp>
        <p:nvSpPr>
          <p:cNvPr id="24" name="Rounded Rectangle 23"/>
          <p:cNvSpPr/>
          <p:nvPr/>
        </p:nvSpPr>
        <p:spPr>
          <a:xfrm>
            <a:off x="6592824" y="1417320"/>
            <a:ext cx="2880360" cy="960120"/>
          </a:xfrm>
          <a:prstGeom prst="roundRect">
            <a:avLst>
              <a:gd name="adj" fmla="val 6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105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LINE経由の応募の内訳</a:t>
            </a:r>
            <a:endParaRPr lang="ja-JP" altLang="en-US" sz="120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リッチメニューが最多</a:t>
            </a:r>
            <a:endParaRPr lang="ja-JP" altLang="en-US" sz="120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配信（プッシュ）からの応募を上回る</a:t>
            </a:r>
            <a:endParaRPr lang="ja-JP" altLang="en-US" sz="1200" dirty="0"/>
          </a:p>
        </p:txBody>
      </p:sp>
      <p:sp>
        <p:nvSpPr>
          <p:cNvPr id="25" name="Rectangle 24"/>
          <p:cNvSpPr/>
          <p:nvPr/>
        </p:nvSpPr>
        <p:spPr>
          <a:xfrm>
            <a:off x="429768" y="2487168"/>
            <a:ext cx="9043416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1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何をしたか</a:t>
            </a:r>
            <a:endParaRPr lang="ja-JP" altLang="en-US" sz="1100" dirty="0"/>
          </a:p>
        </p:txBody>
      </p:sp>
      <p:sp>
        <p:nvSpPr>
          <p:cNvPr id="26" name="Rounded Rectangle 25"/>
          <p:cNvSpPr/>
          <p:nvPr/>
        </p:nvSpPr>
        <p:spPr>
          <a:xfrm>
            <a:off x="429768" y="2761488"/>
            <a:ext cx="288036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1　リッチメニューに条件を並べる</a:t>
            </a:r>
            <a:endParaRPr lang="ja-JP" altLang="en-US" sz="1050" dirty="0"/>
          </a:p>
        </p:txBody>
      </p:sp>
      <p:sp>
        <p:nvSpPr>
          <p:cNvPr id="27" name="Rectangle 26"/>
          <p:cNvSpPr/>
          <p:nvPr/>
        </p:nvSpPr>
        <p:spPr>
          <a:xfrm>
            <a:off x="429768" y="3035808"/>
            <a:ext cx="288036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よく探されるバイトの条件を</a:t>
            </a:r>
            <a:endParaRPr lang="ja-JP" altLang="en-US" sz="1050" dirty="0"/>
          </a:p>
          <a:p>
            <a:pPr algn="ctr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ボタンにして、ワンタップで検索</a:t>
            </a:r>
            <a:endParaRPr lang="ja-JP" altLang="en-US" sz="1050" dirty="0"/>
          </a:p>
        </p:txBody>
      </p:sp>
      <p:sp>
        <p:nvSpPr>
          <p:cNvPr id="28" name="Rounded Rectangle 27"/>
          <p:cNvSpPr/>
          <p:nvPr/>
        </p:nvSpPr>
        <p:spPr>
          <a:xfrm>
            <a:off x="3511296" y="2761488"/>
            <a:ext cx="288036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　トークで条件を選ぶ</a:t>
            </a:r>
            <a:endParaRPr lang="ja-JP" altLang="en-US" sz="1050" dirty="0"/>
          </a:p>
        </p:txBody>
      </p:sp>
      <p:sp>
        <p:nvSpPr>
          <p:cNvPr id="29" name="Rectangle 28"/>
          <p:cNvSpPr/>
          <p:nvPr/>
        </p:nvSpPr>
        <p:spPr>
          <a:xfrm>
            <a:off x="3511296" y="3035808"/>
            <a:ext cx="288036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「トーク検索」で条件を選ぶと、</a:t>
            </a:r>
            <a:endParaRPr lang="ja-JP" altLang="en-US" sz="1050" dirty="0"/>
          </a:p>
          <a:p>
            <a:pPr algn="ctr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合う求人がカード形式で届く</a:t>
            </a:r>
            <a:endParaRPr lang="ja-JP" altLang="en-US" sz="1050" dirty="0"/>
          </a:p>
        </p:txBody>
      </p:sp>
      <p:sp>
        <p:nvSpPr>
          <p:cNvPr id="30" name="Rounded Rectangle 29"/>
          <p:cNvSpPr/>
          <p:nvPr/>
        </p:nvSpPr>
        <p:spPr>
          <a:xfrm>
            <a:off x="6592824" y="2761488"/>
            <a:ext cx="288036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3　そのまま求人ページへ</a:t>
            </a:r>
            <a:endParaRPr lang="ja-JP" altLang="en-US" sz="1050" dirty="0"/>
          </a:p>
        </p:txBody>
      </p:sp>
      <p:sp>
        <p:nvSpPr>
          <p:cNvPr id="31" name="Rectangle 30"/>
          <p:cNvSpPr/>
          <p:nvPr/>
        </p:nvSpPr>
        <p:spPr>
          <a:xfrm>
            <a:off x="6592824" y="3035808"/>
            <a:ext cx="288036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条件を入れた状態の検索結果に</a:t>
            </a:r>
            <a:endParaRPr lang="ja-JP" altLang="en-US" sz="1050" dirty="0"/>
          </a:p>
          <a:p>
            <a:pPr algn="ctr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移動し、サイトで応募する</a:t>
            </a:r>
            <a:endParaRPr lang="ja-JP" altLang="en-US" sz="1050" dirty="0"/>
          </a:p>
        </p:txBody>
      </p:sp>
      <p:sp>
        <p:nvSpPr>
          <p:cNvPr id="32" name="Rectangle 31"/>
          <p:cNvSpPr/>
          <p:nvPr/>
        </p:nvSpPr>
        <p:spPr>
          <a:xfrm>
            <a:off x="429768" y="3904487"/>
            <a:ext cx="9043416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002060"/>
            </a:solidFill>
          </a:ln>
        </p:spPr>
        <p:txBody>
          <a:bodyPr wrap="square" lIns="128016" tIns="36576" rIns="128016" bIns="36576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ja-JP" altLang="en-US" sz="105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一番タップされたのは、一番上に置いた「人気のバイト検索条件」。</a:t>
            </a:r>
            <a:endParaRPr lang="ja-JP" altLang="en-US" sz="105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リッチメニューは、トーク画面を開くと必ず目に入る場所。そこに「探す」を置いています。</a:t>
            </a:r>
            <a:endParaRPr lang="ja-JP" altLang="en-US" sz="1050" dirty="0"/>
          </a:p>
        </p:txBody>
      </p:sp>
      <p:sp>
        <p:nvSpPr>
          <p:cNvPr id="33" name="Rectangle 32"/>
          <p:cNvSpPr/>
          <p:nvPr/>
        </p:nvSpPr>
        <p:spPr>
          <a:xfrm>
            <a:off x="429768" y="4572000"/>
            <a:ext cx="9043416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ja-JP" altLang="en-US" sz="9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 LINE公式アカウントの開設は2017年4月、リッチメニューの強化は2018年2月から（Messaging APIを利用）。</a:t>
            </a:r>
            <a:endParaRPr lang="ja-JP" altLang="en-US" sz="900" dirty="0"/>
          </a:p>
          <a:p>
            <a:pPr algn="l">
              <a:lnSpc>
                <a:spcPct val="100000"/>
              </a:lnSpc>
              <a:buNone/>
            </a:pPr>
            <a:r>
              <a:rPr lang="ja-JP" altLang="en-US" sz="9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 今後は、利用者の状況や行動に応じて、リッチメニューを出し分けることを構想していると紹介されています。</a:t>
            </a:r>
            <a:endParaRPr lang="ja-JP" alt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［第2章］タウンワークの実際の画面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友だち追加の直後に「気になるテーマをタップ」と案内し、リッチメニューにはよく探す条件が並びます。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条件を選ぶと、条件を入れた状態の検索結果ページへ移動し、応募はサイトで行う作りです。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画面：タウンワーク LINE公式アカウント（2026年9月 弊社確認）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9768" y="141732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1　あいさつ</a:t>
            </a:r>
            <a:endParaRPr lang="ja-JP" altLang="en-US" sz="1050" dirty="0"/>
          </a:p>
        </p:txBody>
      </p:sp>
      <p:pic>
        <p:nvPicPr>
          <p:cNvPr id="22" name="タウンワーク_あいさつ" descr=""/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604576" y="1764792"/>
            <a:ext cx="1753502" cy="3794760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23" name="Rectangle 22"/>
          <p:cNvSpPr/>
          <p:nvPr/>
        </p:nvSpPr>
        <p:spPr>
          <a:xfrm>
            <a:off x="338328" y="5614416"/>
            <a:ext cx="22860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追加の直後に「気になるテーマを</a:t>
            </a:r>
            <a:endParaRPr lang="ja-JP" altLang="en-US" sz="95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タップ」と時間帯別のカード</a:t>
            </a:r>
            <a:endParaRPr lang="ja-JP" altLang="en-US" sz="950" dirty="0"/>
          </a:p>
        </p:txBody>
      </p:sp>
      <p:sp>
        <p:nvSpPr>
          <p:cNvPr id="24" name="Rounded Rectangle 23"/>
          <p:cNvSpPr/>
          <p:nvPr/>
        </p:nvSpPr>
        <p:spPr>
          <a:xfrm>
            <a:off x="2743200" y="141732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　リッチメニュー</a:t>
            </a:r>
            <a:endParaRPr lang="ja-JP" altLang="en-US" sz="1050" dirty="0"/>
          </a:p>
        </p:txBody>
      </p:sp>
      <p:pic>
        <p:nvPicPr>
          <p:cNvPr id="25" name="タウンワーク_リッチメニュー" descr=""/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2918008" y="1764792"/>
            <a:ext cx="1753502" cy="3794760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26" name="Rectangle 25"/>
          <p:cNvSpPr/>
          <p:nvPr/>
        </p:nvSpPr>
        <p:spPr>
          <a:xfrm>
            <a:off x="2651760" y="5614416"/>
            <a:ext cx="22860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時間帯・学生歓迎・単発など</a:t>
            </a:r>
            <a:endParaRPr lang="ja-JP" altLang="en-US" sz="95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よく探す条件がワンタップ</a:t>
            </a:r>
            <a:endParaRPr lang="ja-JP" altLang="en-US" sz="950" dirty="0"/>
          </a:p>
        </p:txBody>
      </p:sp>
      <p:sp>
        <p:nvSpPr>
          <p:cNvPr id="27" name="Rounded Rectangle 26"/>
          <p:cNvSpPr/>
          <p:nvPr/>
        </p:nvSpPr>
        <p:spPr>
          <a:xfrm>
            <a:off x="5056632" y="141732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3　移動先のサイト</a:t>
            </a:r>
            <a:endParaRPr lang="ja-JP" altLang="en-US" sz="1050" dirty="0"/>
          </a:p>
        </p:txBody>
      </p:sp>
      <p:pic>
        <p:nvPicPr>
          <p:cNvPr id="28" name="タウンワーク_移動先のサイト" descr=""/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5231440" y="1764792"/>
            <a:ext cx="1753502" cy="3794760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29" name="Rectangle 28"/>
          <p:cNvSpPr/>
          <p:nvPr/>
        </p:nvSpPr>
        <p:spPr>
          <a:xfrm>
            <a:off x="4965192" y="5614416"/>
            <a:ext cx="22860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条件を入れた状態の</a:t>
            </a:r>
            <a:endParaRPr lang="ja-JP" altLang="en-US" sz="95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検索結果ページ</a:t>
            </a:r>
            <a:endParaRPr lang="ja-JP" altLang="en-US" sz="950" dirty="0"/>
          </a:p>
        </p:txBody>
      </p:sp>
      <p:sp>
        <p:nvSpPr>
          <p:cNvPr id="30" name="Rounded Rectangle 29"/>
          <p:cNvSpPr/>
          <p:nvPr/>
        </p:nvSpPr>
        <p:spPr>
          <a:xfrm>
            <a:off x="7370064" y="141732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4　会員連携の画面</a:t>
            </a:r>
            <a:endParaRPr lang="ja-JP" altLang="en-US" sz="1050" dirty="0"/>
          </a:p>
        </p:txBody>
      </p:sp>
      <p:pic>
        <p:nvPicPr>
          <p:cNvPr id="31" name="タウンワーク_会員連携の画面" descr=""/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7544872" y="1764792"/>
            <a:ext cx="1753502" cy="3794760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32" name="Rectangle 31"/>
          <p:cNvSpPr/>
          <p:nvPr/>
        </p:nvSpPr>
        <p:spPr>
          <a:xfrm>
            <a:off x="7278624" y="5614416"/>
            <a:ext cx="22860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合う求人を受け取るための</a:t>
            </a:r>
            <a:endParaRPr lang="ja-JP" altLang="en-US" sz="95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会員連携（リクルートID）</a:t>
            </a:r>
            <a:endParaRPr lang="ja-JP" altLang="en-US" sz="9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［第3章］タウンワークの型を分解すると、3つの仕組み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公式事例（2019年）と実際の画面（2026年9月）から読み取れる仕組みは3つです。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この型を、このあとのあいさつ（P14）・希望条件（P15）・リッチメニュー（P16）に取り入れます。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2000" y="5148072"/>
            <a:ext cx="9043200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出典：LINEヤフー for Business 導入事例（タウンワーク・2019年1月公開）・タウンワーク LINE公式アカウント（2026年9月 弊社確認）。実際の画面はP11。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" y="5148072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2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LINEの中で全部を完結させない。「次に探すときの入口」をLINEに置く。</a:t>
            </a:r>
            <a:endParaRPr lang="ja-JP" altLang="en-US" sz="125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41732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① リッチメニューを「探す入口」に</a:t>
            </a:r>
            <a:endParaRPr lang="ja-JP" altLang="en-US" sz="1100" dirty="0"/>
          </a:p>
        </p:txBody>
      </p:sp>
      <p:sp>
        <p:nvSpPr>
          <p:cNvPr id="23" name="Rounded Rectangle 22"/>
          <p:cNvSpPr/>
          <p:nvPr/>
        </p:nvSpPr>
        <p:spPr>
          <a:xfrm>
            <a:off x="429768" y="1819656"/>
            <a:ext cx="2880360" cy="1783080"/>
          </a:xfrm>
          <a:prstGeom prst="roundRect">
            <a:avLst>
              <a:gd name="adj" fmla="val 5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109728" tIns="91440" rIns="91440" bIns="54864" rtlCol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時間帯（午前中・お昼から・夕方〜夜・深夜・夜勤）や「学生歓迎」「単発・1日OK」など、よく探す条件をワンタップに。</a:t>
            </a:r>
            <a:endParaRPr lang="ja-JP" altLang="en-US" sz="1150" dirty="0"/>
          </a:p>
          <a:p>
            <a:pPr algn="l">
              <a:lnSpc>
                <a:spcPct val="110000"/>
              </a:lnSpc>
              <a:spcAft>
                <a:spcPts val="6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一番上に、一番人気の条件を置く。</a:t>
            </a:r>
            <a:endParaRPr lang="ja-JP" altLang="en-US" sz="1150" dirty="0"/>
          </a:p>
        </p:txBody>
      </p:sp>
      <p:sp>
        <p:nvSpPr>
          <p:cNvPr id="24" name="Rounded Rectangle 23"/>
          <p:cNvSpPr/>
          <p:nvPr/>
        </p:nvSpPr>
        <p:spPr>
          <a:xfrm>
            <a:off x="429768" y="3712463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91440" tIns="73152" rIns="73152" bIns="36576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ja-JP" altLang="en-US" sz="10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実際の例</a:t>
            </a:r>
            <a:endParaRPr lang="ja-JP" altLang="en-US" sz="105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タップ数 ＋20%</a:t>
            </a:r>
            <a:endParaRPr lang="ja-JP" altLang="en-US" sz="105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リッチメニュー経由の応募 ＋79%</a:t>
            </a:r>
            <a:endParaRPr lang="ja-JP" altLang="en-US" sz="1050" dirty="0"/>
          </a:p>
        </p:txBody>
      </p:sp>
      <p:sp>
        <p:nvSpPr>
          <p:cNvPr id="25" name="Rounded Rectangle 24"/>
          <p:cNvSpPr/>
          <p:nvPr/>
        </p:nvSpPr>
        <p:spPr>
          <a:xfrm>
            <a:off x="3511296" y="141732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② 追加の直後に、探し方を案内</a:t>
            </a:r>
            <a:endParaRPr lang="ja-JP" altLang="en-US" sz="1100" dirty="0"/>
          </a:p>
        </p:txBody>
      </p:sp>
      <p:sp>
        <p:nvSpPr>
          <p:cNvPr id="26" name="Rounded Rectangle 25"/>
          <p:cNvSpPr/>
          <p:nvPr/>
        </p:nvSpPr>
        <p:spPr>
          <a:xfrm>
            <a:off x="3511296" y="1819656"/>
            <a:ext cx="2880360" cy="1783080"/>
          </a:xfrm>
          <a:prstGeom prst="roundRect">
            <a:avLst>
              <a:gd name="adj" fmla="val 5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109728" tIns="91440" rIns="91440" bIns="54864" rtlCol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あいさつで「気になるテーマをタップ」と案内し、時間帯別のカードを出す。</a:t>
            </a:r>
            <a:endParaRPr lang="ja-JP" altLang="en-US" sz="1150" dirty="0"/>
          </a:p>
          <a:p>
            <a:pPr algn="l">
              <a:lnSpc>
                <a:spcPct val="110000"/>
              </a:lnSpc>
              <a:spcAft>
                <a:spcPts val="6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通知が多いと感じたら、オフにする方法も先に伝えている。</a:t>
            </a:r>
            <a:endParaRPr lang="ja-JP" altLang="en-US" sz="1150" dirty="0"/>
          </a:p>
        </p:txBody>
      </p:sp>
      <p:sp>
        <p:nvSpPr>
          <p:cNvPr id="27" name="Rounded Rectangle 26"/>
          <p:cNvSpPr/>
          <p:nvPr/>
        </p:nvSpPr>
        <p:spPr>
          <a:xfrm>
            <a:off x="3511296" y="3712463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91440" tIns="73152" rIns="73152" bIns="36576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ja-JP" altLang="en-US" sz="10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実際の例</a:t>
            </a:r>
            <a:endParaRPr lang="ja-JP" altLang="en-US" sz="105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あいさつ＋時間帯別のカード</a:t>
            </a:r>
            <a:endParaRPr lang="ja-JP" altLang="en-US" sz="105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（2026年9月 弊社確認）</a:t>
            </a:r>
            <a:endParaRPr lang="ja-JP" altLang="en-US" sz="1050" dirty="0"/>
          </a:p>
        </p:txBody>
      </p:sp>
      <p:sp>
        <p:nvSpPr>
          <p:cNvPr id="28" name="Rounded Rectangle 27"/>
          <p:cNvSpPr/>
          <p:nvPr/>
        </p:nvSpPr>
        <p:spPr>
          <a:xfrm>
            <a:off x="6592824" y="141732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③ 応募はサイトで、LINEは入口</a:t>
            </a:r>
            <a:endParaRPr lang="ja-JP" altLang="en-US" sz="1100" dirty="0"/>
          </a:p>
        </p:txBody>
      </p:sp>
      <p:sp>
        <p:nvSpPr>
          <p:cNvPr id="29" name="Rounded Rectangle 28"/>
          <p:cNvSpPr/>
          <p:nvPr/>
        </p:nvSpPr>
        <p:spPr>
          <a:xfrm>
            <a:off x="6592824" y="1819656"/>
            <a:ext cx="2880360" cy="1783080"/>
          </a:xfrm>
          <a:prstGeom prst="roundRect">
            <a:avLst>
              <a:gd name="adj" fmla="val 5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109728" tIns="91440" rIns="91440" bIns="54864" rtlCol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条件を選ぶと、条件を入れた状態の検索結果ページへ移動。応募はサイトで行う。</a:t>
            </a:r>
            <a:endParaRPr lang="ja-JP" altLang="en-US" sz="1150" dirty="0"/>
          </a:p>
          <a:p>
            <a:pPr algn="l">
              <a:lnSpc>
                <a:spcPct val="110000"/>
              </a:lnSpc>
              <a:spcAft>
                <a:spcPts val="6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合う求人を受け取るために、会員とLINEを連携してもらう。</a:t>
            </a:r>
            <a:endParaRPr lang="ja-JP" altLang="en-US" sz="1150" dirty="0"/>
          </a:p>
        </p:txBody>
      </p:sp>
      <p:sp>
        <p:nvSpPr>
          <p:cNvPr id="30" name="Rounded Rectangle 29"/>
          <p:cNvSpPr/>
          <p:nvPr/>
        </p:nvSpPr>
        <p:spPr>
          <a:xfrm>
            <a:off x="6592824" y="3712463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91440" tIns="73152" rIns="73152" bIns="36576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ja-JP" altLang="en-US" sz="10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実際の例</a:t>
            </a:r>
            <a:endParaRPr lang="ja-JP" altLang="en-US" sz="105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移動先＝条件入りの検索結果</a:t>
            </a:r>
            <a:endParaRPr lang="ja-JP" altLang="en-US" sz="105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会員連携＝リクルートID</a:t>
            </a:r>
            <a:endParaRPr lang="ja-JP" alt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141681</TotalTime>
  <Words>4471</Words>
  <Application>Microsoft Office PowerPoint</Application>
  <PresentationFormat>A4 210 x 297 mm</PresentationFormat>
  <Paragraphs>916</Paragraphs>
  <Slides>40</Slides>
  <Notes>3</Notes>
  <HiddenSlides>11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40</vt:i4>
      </vt:variant>
    </vt:vector>
  </HeadingPairs>
  <TitlesOfParts>
    <vt:vector size="47" baseType="lpstr">
      <vt:lpstr>メイリオ</vt:lpstr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1924</cp:revision>
  <cp:lastPrinted>2022-11-01T11:38:14Z</cp:lastPrinted>
  <dcterms:created xsi:type="dcterms:W3CDTF">2015-09-04T09:21:15Z</dcterms:created>
  <dcterms:modified xsi:type="dcterms:W3CDTF">2026-09-15T06:12:52Z</dcterms:modified>
</cp:coreProperties>
</file>