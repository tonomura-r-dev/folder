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9"/>
  </p:notesMasterIdLst>
  <p:handoutMasterIdLst>
    <p:handoutMasterId r:id="rId60"/>
  </p:handoutMasterIdLst>
  <p:sldIdLst>
    <p:sldId id="2363" r:id="rId3"/>
    <p:sldId id="2992" r:id="rId4"/>
    <p:sldId id="2993" r:id="rId5"/>
    <p:sldId id="2994" r:id="rId6"/>
    <p:sldId id="2956" r:id="rId7"/>
    <p:sldId id="2995" r:id="rId8"/>
    <p:sldId id="2972" r:id="rId9"/>
    <p:sldId id="3015" r:id="rId10"/>
    <p:sldId id="3016" r:id="rId11"/>
    <p:sldId id="3017" r:id="rId12"/>
    <p:sldId id="3018" r:id="rId13"/>
    <p:sldId id="2982" r:id="rId14"/>
    <p:sldId id="2986" r:id="rId15"/>
    <p:sldId id="2983" r:id="rId16"/>
    <p:sldId id="3011" r:id="rId17"/>
    <p:sldId id="3012" r:id="rId18"/>
    <p:sldId id="3014" r:id="rId19"/>
    <p:sldId id="2977" r:id="rId20"/>
    <p:sldId id="2984" r:id="rId21"/>
    <p:sldId id="2996" r:id="rId22"/>
    <p:sldId id="3013" r:id="rId23"/>
    <p:sldId id="2997" r:id="rId24"/>
    <p:sldId id="2944" r:id="rId25"/>
    <p:sldId id="2985" r:id="rId26"/>
    <p:sldId id="2987" r:id="rId27"/>
    <p:sldId id="2962" r:id="rId28"/>
    <p:sldId id="2908" r:id="rId29"/>
    <p:sldId id="2950" r:id="rId30"/>
    <p:sldId id="2762" r:id="rId31"/>
    <p:sldId id="2937" r:id="rId32"/>
    <p:sldId id="2939" r:id="rId33"/>
    <p:sldId id="2966" r:id="rId34"/>
    <p:sldId id="2942" r:id="rId35"/>
    <p:sldId id="2943" r:id="rId36"/>
    <p:sldId id="2941" r:id="rId37"/>
    <p:sldId id="2953" r:id="rId38"/>
    <p:sldId id="2979" r:id="rId39"/>
    <p:sldId id="2990" r:id="rId40"/>
    <p:sldId id="2989" r:id="rId41"/>
    <p:sldId id="2991" r:id="rId42"/>
    <p:sldId id="2946" r:id="rId43"/>
    <p:sldId id="2998" r:id="rId44"/>
    <p:sldId id="3005" r:id="rId45"/>
    <p:sldId id="3007" r:id="rId46"/>
    <p:sldId id="3008" r:id="rId47"/>
    <p:sldId id="2948" r:id="rId48"/>
    <p:sldId id="2958" r:id="rId49"/>
    <p:sldId id="2999" r:id="rId50"/>
    <p:sldId id="3000" r:id="rId51"/>
    <p:sldId id="3001" r:id="rId52"/>
    <p:sldId id="3002" r:id="rId53"/>
    <p:sldId id="3003" r:id="rId54"/>
    <p:sldId id="3004" r:id="rId55"/>
    <p:sldId id="2954" r:id="rId56"/>
    <p:sldId id="2955" r:id="rId57"/>
    <p:sldId id="1169" r:id="rId5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notesMaster" Target="notesMasters/notesMaster1.xml"/><Relationship Id="rId60" Type="http://schemas.openxmlformats.org/officeDocument/2006/relationships/handoutMaster" Target="handoutMasters/handout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2026/10/21</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8CEE-BA77-7F59-159F-47D256C6C9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20AAE9-56BE-66E5-82F7-A32C5F5E3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3263BB-84E3-A23F-F50A-22409A9D03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676F0-0850-6080-8D54-24CC34C00E13}"/>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2181456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A811-371F-8FB3-F066-52767F4E9A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A11C9D-FDA9-6C17-2E4B-B8729DB02D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22E24C-8C3E-B253-1458-19B063283ED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308508-22B0-7807-8EBD-1B4BC57F8A84}"/>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2217835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C596-88E7-2BC9-7631-7B2FF864C8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EA305-DD4B-4755-1A79-3ECAA1BFAE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530CFC-96E0-CB7F-D9F4-B974123A5B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C657086-8B2C-117D-A7A7-81B2D30759FF}"/>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1244022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2497A-27D1-3FCF-1F91-9D3EAE5F54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107B2A-3CC9-CDDB-0154-3C6FEEEB7F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9E55FE-2D43-AAFB-1E0D-9FE86011A40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505F46C-9309-B38B-AEB2-32E50CF0E84A}"/>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3246070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28</a:t>
            </a:fld>
            <a:endParaRPr kumimoji="1" lang="ja-JP" altLang="en-US"/>
          </a:p>
        </p:txBody>
      </p:sp>
    </p:spTree>
    <p:extLst>
      <p:ext uri="{BB962C8B-B14F-4D97-AF65-F5344CB8AC3E}">
        <p14:creationId xmlns:p14="http://schemas.microsoft.com/office/powerpoint/2010/main" val="2702009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1585148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56</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emf"/><Relationship Id="rId4" Type="http://schemas.openxmlformats.org/officeDocument/2006/relationships/image" Target="../media/image18.jpeg"/><Relationship Id="rId5" Type="http://schemas.openxmlformats.org/officeDocument/2006/relationships/image" Target="../media/image19.jpeg"/><Relationship Id="rId6" Type="http://schemas.openxmlformats.org/officeDocument/2006/relationships/image" Target="../media/image20.jpeg"/><Relationship Id="rId7" Type="http://schemas.openxmlformats.org/officeDocument/2006/relationships/image" Target="../media/image21.jpeg"/><Relationship Id="rId8"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39684" y="2460753"/>
            <a:ext cx="6626632" cy="474509"/>
          </a:xfrm>
          <a:prstGeom prst="rect">
            <a:avLst/>
          </a:prstGeom>
        </p:spPr>
        <p:txBody>
          <a:bodyPr wrap="square" lIns="50400" tIns="21600" rIns="50400" bIns="21600" anchor="ctr">
            <a:spAutoFit/>
          </a:bodyPr>
          <a:lstStyle/>
          <a:p>
            <a:pPr algn="ctr"/>
            <a:r>
              <a:rPr lang="ja-JP" altLang="en-US" sz="1400" b="1" dirty="0">
                <a:solidFill>
                  <a:srgbClr val="333333"/>
                </a:solidFill>
                <a:latin typeface="メイリオ"/>
                <a:ea typeface="メイリオ"/>
                <a:cs typeface="メイリオ"/>
              </a:rPr>
              <a:t>保護者の「迷っている期間」に寄り添い、</a:t>
            </a:r>
            <a:endParaRPr lang="en-US" sz="1400" b="1" dirty="0">
              <a:solidFill>
                <a:srgbClr val="333333"/>
              </a:solidFill>
              <a:latin typeface="メイリオ"/>
              <a:ea typeface="メイリオ"/>
              <a:cs typeface="メイリオ"/>
            </a:endParaRPr>
          </a:p>
          <a:p>
            <a:pPr algn="ctr"/>
            <a:r>
              <a:rPr lang="ja-JP" altLang="en-US" sz="1400" b="1" dirty="0">
                <a:solidFill>
                  <a:srgbClr val="333333"/>
                </a:solidFill>
                <a:latin typeface="メイリオ"/>
                <a:ea typeface="メイリオ"/>
                <a:cs typeface="メイリオ"/>
              </a:rPr>
              <a:t>資料請求から体験予約・入会までをつなぐ</a:t>
            </a:r>
            <a:endParaRPr lang="en-US" sz="1400" b="1" dirty="0">
              <a:solidFill>
                <a:srgbClr val="333333"/>
              </a:solidFill>
              <a:latin typeface="メイリオ"/>
              <a:ea typeface="メイリオ"/>
              <a:cs typeface="メイリオ"/>
            </a:endParaRP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0400" tIns="21600" rIns="50400" bIns="21600" rtlCol="0" anchor="ctr"/>
          <a:lstStyle/>
          <a:p>
            <a:pPr algn="ctr"/>
            <a:r>
              <a:rPr sz="1200" b="1" dirty="0" err="1">
                <a:solidFill>
                  <a:srgbClr val="002060"/>
                </a:solidFill>
                <a:latin typeface="メイリオ"/>
                <a:ea typeface="メイリオ"/>
                <a:cs typeface="メイリオ"/>
              </a:rPr>
              <a:t>業界：教育（学習塾）</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1ED39001-ACC7-138F-6DD5-C2073D5DE829}"/>
              </a:ext>
            </a:extLst>
          </p:cNvPr>
          <p:cNvSpPr txBox="1"/>
          <p:nvPr/>
        </p:nvSpPr>
        <p:spPr>
          <a:xfrm>
            <a:off x="595223" y="129396"/>
            <a:ext cx="1620957" cy="338554"/>
          </a:xfrm>
          <a:prstGeom prst="rect">
            <a:avLst/>
          </a:prstGeom>
          <a:noFill/>
        </p:spPr>
        <p:txBody>
          <a:bodyPr wrap="none" rtlCol="0">
            <a:spAutoFit/>
          </a:bodyPr>
          <a:lstStyle/>
          <a:p>
            <a:r>
              <a:rPr kumimoji="1" lang="ja-JP" altLang="en-US" sz="1600" b="1" dirty="0">
                <a:solidFill>
                  <a:srgbClr val="002060"/>
                </a:solidFill>
                <a:latin typeface="メイリオ"/>
                <a:ea typeface="メイリオ"/>
              </a:rPr>
              <a:t>アジェンダ構成</a:t>
            </a:r>
            <a:endParaRPr kumimoji="1" lang="en-US" altLang="ja-JP" sz="1600" b="1" dirty="0">
              <a:solidFill>
                <a:srgbClr val="002060"/>
              </a:solidFill>
              <a:latin typeface="+mj-ea"/>
              <a:ea typeface="+mj-ea"/>
            </a:endParaRPr>
          </a:p>
        </p:txBody>
      </p:sp>
      <p:sp>
        <p:nvSpPr>
          <p:cNvPr id="7" name="テキスト ボックス 6">
            <a:extLst>
              <a:ext uri="{FF2B5EF4-FFF2-40B4-BE49-F238E27FC236}">
                <a16:creationId xmlns:a16="http://schemas.microsoft.com/office/drawing/2014/main" id="{AFD80AAF-7C29-1B7B-BAD5-38BB2C055EA4}"/>
              </a:ext>
            </a:extLst>
          </p:cNvPr>
          <p:cNvSpPr txBox="1"/>
          <p:nvPr/>
        </p:nvSpPr>
        <p:spPr>
          <a:xfrm>
            <a:off x="664235" y="2406770"/>
            <a:ext cx="8143335" cy="1938992"/>
          </a:xfrm>
          <a:prstGeom prst="rect">
            <a:avLst/>
          </a:prstGeom>
          <a:noFill/>
        </p:spPr>
        <p:txBody>
          <a:bodyPr wrap="square" rtlCol="0">
            <a:spAutoFit/>
          </a:bodyPr>
          <a:lstStyle/>
          <a:p>
            <a:r>
              <a:rPr lang="en-US" altLang="ja-JP" sz="2400" dirty="0">
                <a:latin typeface="メイリオ"/>
                <a:ea typeface="メイリオ"/>
              </a:rPr>
              <a:t>1. LINE</a:t>
            </a:r>
            <a:r>
              <a:rPr lang="ja-JP" altLang="en-US" sz="2400" dirty="0">
                <a:latin typeface="メイリオ"/>
                <a:ea typeface="メイリオ"/>
              </a:rPr>
              <a:t>公式アカウントを検討する背景         </a:t>
            </a:r>
            <a:endParaRPr lang="en-US" altLang="ja-JP" sz="2400" dirty="0"/>
          </a:p>
          <a:p>
            <a:r>
              <a:rPr lang="en-US" altLang="ja-JP" sz="2400" dirty="0">
                <a:latin typeface="メイリオ"/>
                <a:ea typeface="メイリオ"/>
              </a:rPr>
              <a:t>2. </a:t>
            </a:r>
            <a:r>
              <a:rPr lang="ja-JP" altLang="en-US" sz="2400" dirty="0">
                <a:latin typeface="メイリオ"/>
                <a:ea typeface="メイリオ"/>
              </a:rPr>
              <a:t>配信の考え方 ── 市場・需要の実態      </a:t>
            </a:r>
            <a:br>
              <a:rPr lang="en-US" altLang="ja-JP" sz="2400" dirty="0"/>
            </a:br>
            <a:r>
              <a:rPr lang="en-US" altLang="ja-JP" sz="2400" dirty="0">
                <a:latin typeface="メイリオ"/>
                <a:ea typeface="メイリオ"/>
              </a:rPr>
              <a:t>3. </a:t>
            </a:r>
            <a:r>
              <a:rPr lang="ja-JP" altLang="en-US" sz="2400" dirty="0">
                <a:latin typeface="メイリオ"/>
                <a:ea typeface="メイリオ"/>
              </a:rPr>
              <a:t>施策の詳細（配信の効率化）── 設計と改善モデル  </a:t>
            </a:r>
          </a:p>
          <a:p>
            <a:r>
              <a:rPr lang="en-US" altLang="ja-JP" sz="2400" dirty="0">
                <a:latin typeface="メイリオ"/>
                <a:ea typeface="メイリオ"/>
              </a:rPr>
              <a:t>4. </a:t>
            </a:r>
            <a:r>
              <a:rPr lang="ja-JP" altLang="en-US" sz="2400" dirty="0">
                <a:latin typeface="メイリオ"/>
                <a:ea typeface="メイリオ"/>
              </a:rPr>
              <a:t>具体プラン提示                     </a:t>
            </a:r>
          </a:p>
          <a:p>
            <a:r>
              <a:rPr lang="en-US" altLang="ja-JP" sz="2400" dirty="0">
                <a:latin typeface="メイリオ"/>
                <a:ea typeface="メイリオ"/>
              </a:rPr>
              <a:t>5. </a:t>
            </a:r>
            <a:r>
              <a:rPr lang="ja-JP" altLang="en-US" sz="2400" dirty="0">
                <a:latin typeface="メイリオ"/>
                <a:ea typeface="メイリオ"/>
              </a:rPr>
              <a:t>ご提案にあたり（施策紹介・企画案）      </a:t>
            </a:r>
            <a:endParaRPr kumimoji="1" lang="ja-JP" altLang="en-US" sz="2400" dirty="0"/>
          </a:p>
        </p:txBody>
      </p:sp>
    </p:spTree>
    <p:extLst>
      <p:ext uri="{BB962C8B-B14F-4D97-AF65-F5344CB8AC3E}">
        <p14:creationId xmlns:p14="http://schemas.microsoft.com/office/powerpoint/2010/main" val="328362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ファン化・自社アプリ登録に「ハードルが高い」と感じるユーザーが増えている。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 友だち追加 → LINEで診断・体験予約 → 入会 の導線で、ハードルを下げながら運用が可能。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「LINE診断・体験予約」にて</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リードを獲得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継続・講習</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友だち紹介につなげる</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開始時期・通える頻度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※ヒアリングのうえ、</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不足している施策を明示</a:t>
            </a:r>
          </a:p>
        </p:txBody>
      </p:sp>
    </p:spTree>
    <p:extLst>
      <p:ext uri="{BB962C8B-B14F-4D97-AF65-F5344CB8AC3E}">
        <p14:creationId xmlns:p14="http://schemas.microsoft.com/office/powerpoint/2010/main" val="9938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LINE誘導から1.5〜3%程度が、資料請求・体験予約につながる（弊社想定の目安）。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貴塾の集客課題に合わせて、LINE公式アカウントの構築モデルを活用し、集客効率を改善。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2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2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2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50" dirty="0">
                <a:solidFill>
                  <a:schemeClr val="tx1">
                    <a:lumMod val="65000"/>
                    <a:lumOff val="35000"/>
                  </a:schemeClr>
                </a:solidFill>
                <a:latin typeface="メイリオ" panose="020B0604030504040204" pitchFamily="50" charset="-128"/>
                <a:ea typeface="メイリオ" panose="020B0604030504040204" pitchFamily="50" charset="-128"/>
              </a:rPr>
              <a:t>LINE広告（友だち追加）</a:t>
            </a:r>
            <a:endParaRPr kumimoji="1" lang="en-US" altLang="ja-JP" sz="11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1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1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通知メッセージ</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50" dirty="0">
                <a:solidFill>
                  <a:schemeClr val="tx1">
                    <a:lumMod val="65000"/>
                    <a:lumOff val="35000"/>
                  </a:schemeClr>
                </a:solidFill>
                <a:latin typeface="メイリオ" panose="020B0604030504040204" pitchFamily="50" charset="-128"/>
                <a:ea typeface="メイリオ" panose="020B0604030504040204" pitchFamily="50" charset="-128"/>
              </a:rPr>
              <a:t>資料請求・体験予約済み</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50" dirty="0">
                <a:solidFill>
                  <a:schemeClr val="tx1">
                    <a:lumMod val="65000"/>
                    <a:lumOff val="35000"/>
                  </a:schemeClr>
                </a:solidFill>
                <a:latin typeface="メイリオ" panose="020B0604030504040204" pitchFamily="50" charset="-128"/>
                <a:ea typeface="メイリオ" panose="020B0604030504040204" pitchFamily="50" charset="-128"/>
              </a:rPr>
              <a:t>資料請求・体験予約済み</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通知メッセージ</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メールマガジン・電話</a:t>
            </a:r>
            <a:endParaRPr kumimoji="1" lang="en-US" altLang="ja-JP" sz="11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30秒ぴったり診断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体験予約のご案内</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自動応答の設定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質問内容別に即返信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7〜14</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85A"/>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1F285A"/>
                </a:solidFill>
                <a:latin typeface="メイリオ" panose="020B0604030504040204" pitchFamily="50" charset="-128"/>
                <a:ea typeface="メイリオ" panose="020B0604030504040204" pitchFamily="50" charset="-128"/>
              </a:rPr>
              <a:t>※弊社想定の上限目安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85A"/>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検討度が高い方：即スタッフ対応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サンクスメッセージ＋</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講習・コースのご案内</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体験予約・入会への誘導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一斉配信で再びつながる</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対象を絞った配信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（特典で友だち追加を促進）</a:t>
            </a:r>
            <a:endPar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endParaRP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LINEで継続・紹介を促進</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紹介キャンペーン・継続促進</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各割合は弊社想定の上限目安であり、保証値ではない。参考：LINEヤフー社の公開値では、メッセージは受信当日中に約8割が開封される。</a:t>
            </a:r>
          </a:p>
        </p:txBody>
      </p:sp>
    </p:spTree>
    <p:extLst>
      <p:ext uri="{BB962C8B-B14F-4D97-AF65-F5344CB8AC3E}">
        <p14:creationId xmlns:p14="http://schemas.microsoft.com/office/powerpoint/2010/main" val="207000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LINE公式アカウントを検討する背景｜市場データ</a:t>
            </a:r>
          </a:p>
        </p:txBody>
      </p:sp>
      <p:sp>
        <p:nvSpPr>
          <p:cNvPr id="3" name="TextBox 2"/>
          <p:cNvSpPr txBox="1"/>
          <p:nvPr/>
        </p:nvSpPr>
        <p:spPr>
          <a:xfrm>
            <a:off x="432000" y="738286"/>
            <a:ext cx="9036000" cy="503428"/>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出生数は8年で27.7%減った一方、学習塾市場は伸びている。</a:t>
            </a:r>
          </a:p>
          <a:p>
            <a:pPr algn="l">
              <a:lnSpc>
                <a:spcPct val="128000"/>
              </a:lnSpc>
            </a:pPr>
            <a:r>
              <a:rPr sz="1200" dirty="0" err="1">
                <a:solidFill>
                  <a:srgbClr val="333333"/>
                </a:solidFill>
                <a:latin typeface="メイリオ"/>
                <a:ea typeface="メイリオ"/>
                <a:cs typeface="メイリオ"/>
              </a:rPr>
              <a:t>子どもの数が減るなか、一人ひとりに選ばれるための競争が強まっている。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2000" y="1728000"/>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出生数（2015→2023）</a:t>
            </a:r>
          </a:p>
        </p:txBody>
      </p:sp>
      <p:sp>
        <p:nvSpPr>
          <p:cNvPr id="7" name="TextBox 6"/>
          <p:cNvSpPr txBox="1"/>
          <p:nvPr/>
        </p:nvSpPr>
        <p:spPr>
          <a:xfrm>
            <a:off x="432000" y="2088000"/>
            <a:ext cx="2942400" cy="576000"/>
          </a:xfrm>
          <a:prstGeom prst="rect">
            <a:avLst/>
          </a:prstGeom>
          <a:noFill/>
        </p:spPr>
        <p:txBody>
          <a:bodyPr wrap="square" lIns="50400" tIns="21600" rIns="50400" bIns="21600" anchor="ctr">
            <a:spAutoFit/>
          </a:bodyPr>
          <a:lstStyle/>
          <a:p>
            <a:pPr algn="ctr"/>
            <a:r>
              <a:rPr sz="3000" b="1">
                <a:solidFill>
                  <a:srgbClr val="1F285A"/>
                </a:solidFill>
                <a:latin typeface="メイリオ"/>
                <a:ea typeface="メイリオ"/>
                <a:cs typeface="メイリオ"/>
              </a:rPr>
              <a:t>▲27.7%</a:t>
            </a:r>
          </a:p>
        </p:txBody>
      </p:sp>
      <p:sp>
        <p:nvSpPr>
          <p:cNvPr id="8" name="TextBox 7"/>
          <p:cNvSpPr txBox="1"/>
          <p:nvPr/>
        </p:nvSpPr>
        <p:spPr>
          <a:xfrm>
            <a:off x="432000" y="2700000"/>
            <a:ext cx="2942400" cy="468000"/>
          </a:xfrm>
          <a:prstGeom prst="rect">
            <a:avLst/>
          </a:prstGeom>
          <a:noFill/>
        </p:spPr>
        <p:txBody>
          <a:bodyPr wrap="square" lIns="50400" tIns="21600" rIns="50400" bIns="21600" anchor="ctr">
            <a:spAutoFit/>
          </a:bodyPr>
          <a:lstStyle/>
          <a:p>
            <a:pPr algn="ctr">
              <a:lnSpc>
                <a:spcPct val="120000"/>
              </a:lnSpc>
            </a:pPr>
            <a:r>
              <a:rPr sz="1150">
                <a:solidFill>
                  <a:srgbClr val="333333"/>
                </a:solidFill>
                <a:latin typeface="メイリオ"/>
                <a:ea typeface="メイリオ"/>
                <a:cs typeface="メイリオ"/>
              </a:rPr>
              <a:t>1,005,677人 → 727,277人</a:t>
            </a:r>
          </a:p>
        </p:txBody>
      </p:sp>
      <p:sp>
        <p:nvSpPr>
          <p:cNvPr id="9" name="Rounded Rectangle 8"/>
          <p:cNvSpPr/>
          <p:nvPr/>
        </p:nvSpPr>
        <p:spPr>
          <a:xfrm>
            <a:off x="3482400" y="1620000"/>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82400" y="1728000"/>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学習塾 市場規模（2020→2024）</a:t>
            </a:r>
          </a:p>
        </p:txBody>
      </p:sp>
      <p:sp>
        <p:nvSpPr>
          <p:cNvPr id="11" name="TextBox 10"/>
          <p:cNvSpPr txBox="1"/>
          <p:nvPr/>
        </p:nvSpPr>
        <p:spPr>
          <a:xfrm>
            <a:off x="3482400" y="2088000"/>
            <a:ext cx="2942400" cy="576000"/>
          </a:xfrm>
          <a:prstGeom prst="rect">
            <a:avLst/>
          </a:prstGeom>
          <a:noFill/>
        </p:spPr>
        <p:txBody>
          <a:bodyPr wrap="square" lIns="50400" tIns="21600" rIns="50400" bIns="21600" anchor="ctr">
            <a:spAutoFit/>
          </a:bodyPr>
          <a:lstStyle/>
          <a:p>
            <a:pPr algn="ctr"/>
            <a:r>
              <a:rPr sz="3000" b="1">
                <a:solidFill>
                  <a:srgbClr val="1F285A"/>
                </a:solidFill>
                <a:latin typeface="メイリオ"/>
                <a:ea typeface="メイリオ"/>
                <a:cs typeface="メイリオ"/>
              </a:rPr>
              <a:t>+13.5%</a:t>
            </a:r>
          </a:p>
        </p:txBody>
      </p:sp>
      <p:sp>
        <p:nvSpPr>
          <p:cNvPr id="12" name="TextBox 11"/>
          <p:cNvSpPr txBox="1"/>
          <p:nvPr/>
        </p:nvSpPr>
        <p:spPr>
          <a:xfrm>
            <a:off x="3482400" y="2700000"/>
            <a:ext cx="2942400" cy="468000"/>
          </a:xfrm>
          <a:prstGeom prst="rect">
            <a:avLst/>
          </a:prstGeom>
          <a:noFill/>
        </p:spPr>
        <p:txBody>
          <a:bodyPr wrap="square" lIns="50400" tIns="21600" rIns="50400" bIns="21600" anchor="ctr">
            <a:spAutoFit/>
          </a:bodyPr>
          <a:lstStyle/>
          <a:p>
            <a:pPr algn="ctr">
              <a:lnSpc>
                <a:spcPct val="120000"/>
              </a:lnSpc>
            </a:pPr>
            <a:r>
              <a:rPr sz="1150">
                <a:solidFill>
                  <a:srgbClr val="333333"/>
                </a:solidFill>
                <a:latin typeface="メイリオ"/>
                <a:ea typeface="メイリオ"/>
                <a:cs typeface="メイリオ"/>
              </a:rPr>
              <a:t>4,374億円 → 4,965億円</a:t>
            </a:r>
          </a:p>
        </p:txBody>
      </p:sp>
      <p:sp>
        <p:nvSpPr>
          <p:cNvPr id="13" name="Rounded Rectangle 12"/>
          <p:cNvSpPr/>
          <p:nvPr/>
        </p:nvSpPr>
        <p:spPr>
          <a:xfrm>
            <a:off x="6532800" y="1620000"/>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2800" y="1728000"/>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小学校 児童数（2015→2024）</a:t>
            </a:r>
          </a:p>
        </p:txBody>
      </p:sp>
      <p:sp>
        <p:nvSpPr>
          <p:cNvPr id="15" name="TextBox 14"/>
          <p:cNvSpPr txBox="1"/>
          <p:nvPr/>
        </p:nvSpPr>
        <p:spPr>
          <a:xfrm>
            <a:off x="6532800" y="2088000"/>
            <a:ext cx="2942400" cy="576000"/>
          </a:xfrm>
          <a:prstGeom prst="rect">
            <a:avLst/>
          </a:prstGeom>
          <a:noFill/>
        </p:spPr>
        <p:txBody>
          <a:bodyPr wrap="square" lIns="50400" tIns="21600" rIns="50400" bIns="21600" anchor="ctr">
            <a:spAutoFit/>
          </a:bodyPr>
          <a:lstStyle/>
          <a:p>
            <a:pPr algn="ctr"/>
            <a:r>
              <a:rPr sz="3000" b="1">
                <a:solidFill>
                  <a:srgbClr val="1F285A"/>
                </a:solidFill>
                <a:latin typeface="メイリオ"/>
                <a:ea typeface="メイリオ"/>
                <a:cs typeface="メイリオ"/>
              </a:rPr>
              <a:t>▲9.7%</a:t>
            </a:r>
          </a:p>
        </p:txBody>
      </p:sp>
      <p:sp>
        <p:nvSpPr>
          <p:cNvPr id="16" name="TextBox 15"/>
          <p:cNvSpPr txBox="1"/>
          <p:nvPr/>
        </p:nvSpPr>
        <p:spPr>
          <a:xfrm>
            <a:off x="6532800" y="2700000"/>
            <a:ext cx="2942400" cy="468000"/>
          </a:xfrm>
          <a:prstGeom prst="rect">
            <a:avLst/>
          </a:prstGeom>
          <a:noFill/>
        </p:spPr>
        <p:txBody>
          <a:bodyPr wrap="square" lIns="50400" tIns="21600" rIns="50400" bIns="21600" anchor="ctr">
            <a:spAutoFit/>
          </a:bodyPr>
          <a:lstStyle/>
          <a:p>
            <a:pPr algn="ctr">
              <a:lnSpc>
                <a:spcPct val="120000"/>
              </a:lnSpc>
            </a:pPr>
            <a:r>
              <a:rPr sz="1150">
                <a:solidFill>
                  <a:srgbClr val="333333"/>
                </a:solidFill>
                <a:latin typeface="メイリオ"/>
                <a:ea typeface="メイリオ"/>
                <a:cs typeface="メイリオ"/>
              </a:rPr>
              <a:t>654.3万人 → 591.0万人</a:t>
            </a:r>
          </a:p>
        </p:txBody>
      </p:sp>
      <p:sp>
        <p:nvSpPr>
          <p:cNvPr id="17" name="Rounded Rectangle 16"/>
          <p:cNvSpPr/>
          <p:nvPr/>
        </p:nvSpPr>
        <p:spPr>
          <a:xfrm>
            <a:off x="432000" y="3420000"/>
            <a:ext cx="9043200" cy="612000"/>
          </a:xfrm>
          <a:prstGeom prst="roundRect">
            <a:avLst>
              <a:gd name="adj" fmla="val 6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0000" y="3420000"/>
            <a:ext cx="8827200" cy="612000"/>
          </a:xfrm>
          <a:prstGeom prst="rect">
            <a:avLst/>
          </a:prstGeom>
          <a:noFill/>
        </p:spPr>
        <p:txBody>
          <a:bodyPr wrap="square" lIns="50400" tIns="21600" rIns="50400" bIns="21600" anchor="ctr">
            <a:spAutoFit/>
          </a:bodyPr>
          <a:lstStyle/>
          <a:p>
            <a:pPr algn="l">
              <a:lnSpc>
                <a:spcPct val="130000"/>
              </a:lnSpc>
            </a:pPr>
            <a:r>
              <a:rPr sz="1500" b="1">
                <a:solidFill>
                  <a:srgbClr val="002060"/>
                </a:solidFill>
                <a:latin typeface="メイリオ"/>
                <a:ea typeface="メイリオ"/>
                <a:cs typeface="メイリオ"/>
              </a:rPr>
              <a:t>子どもの数は今後も減り、競争はさらに強まる。検討中の保護者を取りこぼさない仕組みが重要。</a:t>
            </a:r>
          </a:p>
        </p:txBody>
      </p:sp>
      <p:sp>
        <p:nvSpPr>
          <p:cNvPr id="19" name="Rounded Rectangle 18"/>
          <p:cNvSpPr/>
          <p:nvPr/>
        </p:nvSpPr>
        <p:spPr>
          <a:xfrm>
            <a:off x="432000" y="4176000"/>
            <a:ext cx="9043200" cy="900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0000" y="4230000"/>
            <a:ext cx="8827200" cy="792000"/>
          </a:xfrm>
          <a:prstGeom prst="rect">
            <a:avLst/>
          </a:prstGeom>
          <a:noFill/>
        </p:spPr>
        <p:txBody>
          <a:bodyPr wrap="square" lIns="50400" tIns="21600" rIns="50400" bIns="21600" anchor="t">
            <a:spAutoFit/>
          </a:bodyPr>
          <a:lstStyle/>
          <a:p>
            <a:pPr algn="l">
              <a:spcAft>
                <a:spcPts val="400"/>
              </a:spcAft>
            </a:pPr>
            <a:r>
              <a:rPr sz="1050" b="1">
                <a:solidFill>
                  <a:srgbClr val="C00000"/>
                </a:solidFill>
                <a:latin typeface="メイリオ"/>
                <a:ea typeface="メイリオ"/>
                <a:cs typeface="メイリオ"/>
              </a:rPr>
              <a:t>市場規模は「定義」で約2倍変わる</a:t>
            </a:r>
          </a:p>
          <a:p>
            <a:pPr algn="l">
              <a:lnSpc>
                <a:spcPct val="125000"/>
              </a:lnSpc>
              <a:spcAft>
                <a:spcPts val="200"/>
              </a:spcAft>
            </a:pPr>
            <a:r>
              <a:rPr sz="900">
                <a:solidFill>
                  <a:srgbClr val="333333"/>
                </a:solidFill>
                <a:latin typeface="メイリオ"/>
                <a:ea typeface="メイリオ"/>
                <a:cs typeface="メイリオ"/>
              </a:rPr>
              <a:t>経産省「特定サービス産業動態統計」4,965億円＝受講生500人以上の主要事業者のみ（市場の約4〜5割）。個人塾・中小は含まない。</a:t>
            </a:r>
          </a:p>
          <a:p>
            <a:pPr algn="l">
              <a:lnSpc>
                <a:spcPct val="125000"/>
              </a:lnSpc>
            </a:pPr>
            <a:r>
              <a:rPr sz="900">
                <a:solidFill>
                  <a:srgbClr val="333333"/>
                </a:solidFill>
                <a:latin typeface="メイリオ"/>
                <a:ea typeface="メイリオ"/>
                <a:cs typeface="メイリオ"/>
              </a:rPr>
              <a:t>矢野経済研究所の全体推計＝9,870億円（2023年度）。個人経営の補習塾・中小予備校まで含むため約2倍。どちらも正しく、対象の範囲が異なる。</a:t>
            </a:r>
          </a:p>
        </p:txBody>
      </p: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出典｜厚生労働省 人口動態統計（確定数）／経済産業省 特定サービス産業動態統計（2025年3月公表・2024年確報）／文部科学省 学校基本調査（令和6年度確報）／矢野経済研究所「教育産業市場に関する調査」2024年</a:t>
            </a:r>
          </a:p>
        </p:txBody>
      </p:sp>
    </p:spTree>
    <p:extLst>
      <p:ext uri="{BB962C8B-B14F-4D97-AF65-F5344CB8AC3E}">
        <p14:creationId xmlns:p14="http://schemas.microsoft.com/office/powerpoint/2010/main" val="676230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4235-DDB6-F649-58D2-961B2D0F3A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2809366-14CD-B7C0-993B-02E7731659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4AF9D62-76E2-92FA-477E-9FC9FEFA77D6}"/>
              </a:ext>
            </a:extLst>
          </p:cNvPr>
          <p:cNvSpPr/>
          <p:nvPr/>
        </p:nvSpPr>
        <p:spPr>
          <a:xfrm>
            <a:off x="3629577"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配信の考え方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64786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前後検索｜誰が調べているか</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塾を調べているのは、40代の母親が中心。塾選びで最も困っているのは、料金ではなく</a:t>
            </a:r>
          </a:p>
          <a:p>
            <a:pPr algn="l">
              <a:lnSpc>
                <a:spcPct val="128000"/>
              </a:lnSpc>
            </a:pPr>
            <a:r>
              <a:rPr sz="1200">
                <a:solidFill>
                  <a:srgbClr val="333333"/>
                </a:solidFill>
                <a:latin typeface="メイリオ"/>
                <a:ea typeface="メイリオ"/>
                <a:cs typeface="メイリオ"/>
              </a:rPr>
              <a:t>「うちの子に合う塾が分からない」（63.5%）。費用よりも、合うかどうか分からないことが決められない理由。</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19999"/>
            <a:ext cx="4176000" cy="336758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692000"/>
            <a:ext cx="3960000" cy="288000"/>
          </a:xfrm>
          <a:prstGeom prst="rect">
            <a:avLst/>
          </a:prstGeom>
          <a:noFill/>
        </p:spPr>
        <p:txBody>
          <a:bodyPr wrap="square" lIns="50400" tIns="21600" rIns="50400" bIns="21600" anchor="ctr">
            <a:spAutoFit/>
          </a:bodyPr>
          <a:lstStyle/>
          <a:p>
            <a:pPr algn="l"/>
            <a:r>
              <a:rPr sz="1150" b="1">
                <a:solidFill>
                  <a:srgbClr val="1F285A"/>
                </a:solidFill>
                <a:latin typeface="メイリオ"/>
                <a:ea typeface="メイリオ"/>
                <a:cs typeface="メイリオ"/>
              </a:rPr>
              <a:t>誰が調べているか（LINEヤフー前後検索・実測）</a:t>
            </a:r>
          </a:p>
        </p:txBody>
      </p:sp>
      <p:sp>
        <p:nvSpPr>
          <p:cNvPr id="7" name="Rounded Rectangle 6"/>
          <p:cNvSpPr/>
          <p:nvPr/>
        </p:nvSpPr>
        <p:spPr>
          <a:xfrm>
            <a:off x="557999" y="2051999"/>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566235" y="2254458"/>
            <a:ext cx="900000" cy="197510"/>
          </a:xfrm>
          <a:prstGeom prst="rect">
            <a:avLst/>
          </a:prstGeom>
          <a:noFill/>
        </p:spPr>
        <p:txBody>
          <a:bodyPr wrap="square" lIns="50400" tIns="21600" rIns="50400" bIns="21600" anchor="ctr">
            <a:spAutoFit/>
          </a:bodyPr>
          <a:lstStyle/>
          <a:p>
            <a:pPr algn="ctr"/>
            <a:r>
              <a:rPr sz="1000" b="1" dirty="0" err="1">
                <a:solidFill>
                  <a:srgbClr val="FFFFFF"/>
                </a:solidFill>
                <a:latin typeface="メイリオ"/>
                <a:ea typeface="メイリオ"/>
                <a:cs typeface="メイリオ"/>
              </a:rPr>
              <a:t>性別</a:t>
            </a:r>
            <a:endParaRPr sz="1000" b="1" dirty="0">
              <a:solidFill>
                <a:srgbClr val="FFFFFF"/>
              </a:solidFill>
              <a:latin typeface="メイリオ"/>
              <a:ea typeface="メイリオ"/>
              <a:cs typeface="メイリオ"/>
            </a:endParaRPr>
          </a:p>
        </p:txBody>
      </p:sp>
      <p:sp>
        <p:nvSpPr>
          <p:cNvPr id="9" name="TextBox 8"/>
          <p:cNvSpPr txBox="1"/>
          <p:nvPr/>
        </p:nvSpPr>
        <p:spPr>
          <a:xfrm>
            <a:off x="1530000" y="2034167"/>
            <a:ext cx="1080000" cy="536064"/>
          </a:xfrm>
          <a:prstGeom prst="rect">
            <a:avLst/>
          </a:prstGeom>
          <a:noFill/>
        </p:spPr>
        <p:txBody>
          <a:bodyPr wrap="square" lIns="50400" tIns="21600" rIns="50400" bIns="21600" anchor="ctr">
            <a:spAutoFit/>
          </a:bodyPr>
          <a:lstStyle/>
          <a:p>
            <a:pPr algn="ctr"/>
            <a:r>
              <a:rPr sz="1600" b="1" dirty="0" err="1">
                <a:solidFill>
                  <a:srgbClr val="1F285A"/>
                </a:solidFill>
                <a:latin typeface="メイリオ"/>
                <a:ea typeface="メイリオ"/>
                <a:cs typeface="メイリオ"/>
              </a:rPr>
              <a:t>女性</a:t>
            </a:r>
            <a:r>
              <a:rPr sz="1600" b="1" dirty="0">
                <a:solidFill>
                  <a:srgbClr val="1F285A"/>
                </a:solidFill>
                <a:latin typeface="メイリオ"/>
                <a:ea typeface="メイリオ"/>
                <a:cs typeface="メイリオ"/>
              </a:rPr>
              <a:t> 67.4%</a:t>
            </a:r>
          </a:p>
        </p:txBody>
      </p:sp>
      <p:sp>
        <p:nvSpPr>
          <p:cNvPr id="10" name="TextBox 9"/>
          <p:cNvSpPr txBox="1"/>
          <p:nvPr/>
        </p:nvSpPr>
        <p:spPr>
          <a:xfrm>
            <a:off x="2637000" y="2168665"/>
            <a:ext cx="1835999" cy="369096"/>
          </a:xfrm>
          <a:prstGeom prst="rect">
            <a:avLst/>
          </a:prstGeom>
          <a:noFill/>
        </p:spPr>
        <p:txBody>
          <a:bodyPr wrap="square" lIns="50400" tIns="21600" rIns="50400" bIns="21600" anchor="ctr">
            <a:spAutoFit/>
          </a:bodyPr>
          <a:lstStyle/>
          <a:p>
            <a:pPr algn="l">
              <a:lnSpc>
                <a:spcPct val="120000"/>
              </a:lnSpc>
            </a:pPr>
            <a:r>
              <a:rPr sz="900" dirty="0" err="1">
                <a:solidFill>
                  <a:srgbClr val="333333"/>
                </a:solidFill>
                <a:latin typeface="メイリオ"/>
                <a:ea typeface="メイリオ"/>
                <a:cs typeface="メイリオ"/>
              </a:rPr>
              <a:t>起点KW「塾</a:t>
            </a:r>
            <a:r>
              <a:rPr sz="900" dirty="0">
                <a:solidFill>
                  <a:srgbClr val="333333"/>
                </a:solidFill>
                <a:latin typeface="メイリオ"/>
                <a:ea typeface="メイリオ"/>
                <a:cs typeface="メイリオ"/>
              </a:rPr>
              <a:t>」</a:t>
            </a:r>
            <a:endParaRPr lang="en-US" sz="900" dirty="0">
              <a:solidFill>
                <a:srgbClr val="333333"/>
              </a:solidFill>
              <a:latin typeface="メイリオ"/>
              <a:ea typeface="メイリオ"/>
              <a:cs typeface="メイリオ"/>
            </a:endParaRPr>
          </a:p>
          <a:p>
            <a:pPr algn="l">
              <a:lnSpc>
                <a:spcPct val="120000"/>
              </a:lnSpc>
            </a:pPr>
            <a:r>
              <a:rPr sz="900" dirty="0">
                <a:solidFill>
                  <a:srgbClr val="333333"/>
                </a:solidFill>
                <a:latin typeface="メイリオ"/>
                <a:ea typeface="メイリオ"/>
                <a:cs typeface="メイリオ"/>
              </a:rPr>
              <a:t>「塾 費用」も65.5%</a:t>
            </a:r>
          </a:p>
        </p:txBody>
      </p:sp>
      <p:sp>
        <p:nvSpPr>
          <p:cNvPr id="11" name="Rounded Rectangle 10"/>
          <p:cNvSpPr/>
          <p:nvPr/>
        </p:nvSpPr>
        <p:spPr>
          <a:xfrm>
            <a:off x="566235" y="2789377"/>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557237" y="2964370"/>
            <a:ext cx="900000" cy="197510"/>
          </a:xfrm>
          <a:prstGeom prst="rect">
            <a:avLst/>
          </a:prstGeom>
          <a:noFill/>
        </p:spPr>
        <p:txBody>
          <a:bodyPr wrap="square" lIns="50400" tIns="21600" rIns="50400" bIns="21600" anchor="ctr">
            <a:spAutoFit/>
          </a:bodyPr>
          <a:lstStyle/>
          <a:p>
            <a:pPr algn="ctr"/>
            <a:r>
              <a:rPr sz="1000" b="1" dirty="0" err="1">
                <a:solidFill>
                  <a:srgbClr val="FFFFFF"/>
                </a:solidFill>
                <a:latin typeface="メイリオ"/>
                <a:ea typeface="メイリオ"/>
                <a:cs typeface="メイリオ"/>
              </a:rPr>
              <a:t>個別クエリ</a:t>
            </a:r>
            <a:endParaRPr sz="1000" b="1" dirty="0">
              <a:solidFill>
                <a:srgbClr val="FFFFFF"/>
              </a:solidFill>
              <a:latin typeface="メイリオ"/>
              <a:ea typeface="メイリオ"/>
              <a:cs typeface="メイリオ"/>
            </a:endParaRPr>
          </a:p>
        </p:txBody>
      </p:sp>
      <p:sp>
        <p:nvSpPr>
          <p:cNvPr id="13" name="TextBox 12"/>
          <p:cNvSpPr txBox="1"/>
          <p:nvPr/>
        </p:nvSpPr>
        <p:spPr>
          <a:xfrm>
            <a:off x="1565236" y="2785546"/>
            <a:ext cx="1080000" cy="536064"/>
          </a:xfrm>
          <a:prstGeom prst="rect">
            <a:avLst/>
          </a:prstGeom>
          <a:noFill/>
        </p:spPr>
        <p:txBody>
          <a:bodyPr wrap="square" lIns="50400" tIns="21600" rIns="50400" bIns="21600" anchor="ctr">
            <a:spAutoFit/>
          </a:bodyPr>
          <a:lstStyle/>
          <a:p>
            <a:pPr algn="ctr"/>
            <a:r>
              <a:rPr sz="1600" b="1" dirty="0" err="1">
                <a:solidFill>
                  <a:srgbClr val="1F285A"/>
                </a:solidFill>
                <a:latin typeface="メイリオ"/>
                <a:ea typeface="メイリオ"/>
                <a:cs typeface="メイリオ"/>
              </a:rPr>
              <a:t>女性</a:t>
            </a:r>
            <a:r>
              <a:rPr sz="1600" b="1" dirty="0">
                <a:solidFill>
                  <a:srgbClr val="1F285A"/>
                </a:solidFill>
                <a:latin typeface="メイリオ"/>
                <a:ea typeface="メイリオ"/>
                <a:cs typeface="メイリオ"/>
              </a:rPr>
              <a:t> 86〜88%</a:t>
            </a:r>
          </a:p>
        </p:txBody>
      </p:sp>
      <p:sp>
        <p:nvSpPr>
          <p:cNvPr id="14" name="TextBox 13"/>
          <p:cNvSpPr txBox="1"/>
          <p:nvPr/>
        </p:nvSpPr>
        <p:spPr>
          <a:xfrm>
            <a:off x="2618236" y="2780764"/>
            <a:ext cx="1835999" cy="535295"/>
          </a:xfrm>
          <a:prstGeom prst="rect">
            <a:avLst/>
          </a:prstGeom>
          <a:noFill/>
        </p:spPr>
        <p:txBody>
          <a:bodyPr wrap="square" lIns="50400" tIns="21600" rIns="50400" bIns="21600" anchor="ctr">
            <a:spAutoFit/>
          </a:bodyPr>
          <a:lstStyle/>
          <a:p>
            <a:pPr algn="l">
              <a:lnSpc>
                <a:spcPct val="120000"/>
              </a:lnSpc>
            </a:pPr>
            <a:r>
              <a:rPr sz="900" dirty="0">
                <a:solidFill>
                  <a:srgbClr val="333333"/>
                </a:solidFill>
                <a:latin typeface="メイリオ"/>
                <a:ea typeface="メイリオ"/>
                <a:cs typeface="メイリオ"/>
              </a:rPr>
              <a:t>「塾 いつから通わせる」86.5%／「</a:t>
            </a:r>
            <a:r>
              <a:rPr sz="900" dirty="0" err="1">
                <a:solidFill>
                  <a:srgbClr val="333333"/>
                </a:solidFill>
                <a:latin typeface="メイリオ"/>
                <a:ea typeface="メイリオ"/>
                <a:cs typeface="メイリオ"/>
              </a:rPr>
              <a:t>高校受験</a:t>
            </a:r>
            <a:r>
              <a:rPr sz="900" dirty="0">
                <a:solidFill>
                  <a:srgbClr val="333333"/>
                </a:solidFill>
                <a:latin typeface="メイリオ"/>
                <a:ea typeface="メイリオ"/>
                <a:cs typeface="メイリオ"/>
              </a:rPr>
              <a:t> 塾 いつから」87.9%</a:t>
            </a:r>
          </a:p>
        </p:txBody>
      </p:sp>
      <p:sp>
        <p:nvSpPr>
          <p:cNvPr id="15" name="Rounded Rectangle 14"/>
          <p:cNvSpPr/>
          <p:nvPr/>
        </p:nvSpPr>
        <p:spPr>
          <a:xfrm>
            <a:off x="547200" y="3534116"/>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547200" y="3711609"/>
            <a:ext cx="900000" cy="197510"/>
          </a:xfrm>
          <a:prstGeom prst="rect">
            <a:avLst/>
          </a:prstGeom>
          <a:noFill/>
        </p:spPr>
        <p:txBody>
          <a:bodyPr wrap="square" lIns="50400" tIns="21600" rIns="50400" bIns="21600" anchor="ctr">
            <a:spAutoFit/>
          </a:bodyPr>
          <a:lstStyle/>
          <a:p>
            <a:pPr algn="ctr"/>
            <a:r>
              <a:rPr sz="1000" b="1">
                <a:solidFill>
                  <a:srgbClr val="FFFFFF"/>
                </a:solidFill>
                <a:latin typeface="メイリオ"/>
                <a:ea typeface="メイリオ"/>
                <a:cs typeface="メイリオ"/>
              </a:rPr>
              <a:t>年代</a:t>
            </a:r>
          </a:p>
        </p:txBody>
      </p:sp>
      <p:sp>
        <p:nvSpPr>
          <p:cNvPr id="17" name="TextBox 16"/>
          <p:cNvSpPr txBox="1"/>
          <p:nvPr/>
        </p:nvSpPr>
        <p:spPr>
          <a:xfrm>
            <a:off x="1519201" y="3532792"/>
            <a:ext cx="1080000" cy="536064"/>
          </a:xfrm>
          <a:prstGeom prst="rect">
            <a:avLst/>
          </a:prstGeom>
          <a:noFill/>
        </p:spPr>
        <p:txBody>
          <a:bodyPr wrap="square" lIns="50400" tIns="21600" rIns="50400" bIns="21600" anchor="ctr">
            <a:spAutoFit/>
          </a:bodyPr>
          <a:lstStyle/>
          <a:p>
            <a:pPr algn="ctr"/>
            <a:r>
              <a:rPr sz="1600" b="1" dirty="0">
                <a:solidFill>
                  <a:srgbClr val="1F285A"/>
                </a:solidFill>
                <a:latin typeface="メイリオ"/>
                <a:ea typeface="メイリオ"/>
                <a:cs typeface="メイリオ"/>
              </a:rPr>
              <a:t>40代 52.8%</a:t>
            </a:r>
          </a:p>
        </p:txBody>
      </p:sp>
      <p:sp>
        <p:nvSpPr>
          <p:cNvPr id="18" name="TextBox 17"/>
          <p:cNvSpPr txBox="1"/>
          <p:nvPr/>
        </p:nvSpPr>
        <p:spPr>
          <a:xfrm>
            <a:off x="2599201" y="3629769"/>
            <a:ext cx="1835999" cy="369096"/>
          </a:xfrm>
          <a:prstGeom prst="rect">
            <a:avLst/>
          </a:prstGeom>
          <a:noFill/>
        </p:spPr>
        <p:txBody>
          <a:bodyPr wrap="square" lIns="50400" tIns="21600" rIns="50400" bIns="21600" anchor="ctr">
            <a:spAutoFit/>
          </a:bodyPr>
          <a:lstStyle/>
          <a:p>
            <a:pPr algn="l">
              <a:lnSpc>
                <a:spcPct val="120000"/>
              </a:lnSpc>
            </a:pPr>
            <a:r>
              <a:rPr sz="900" dirty="0">
                <a:solidFill>
                  <a:srgbClr val="333333"/>
                </a:solidFill>
                <a:latin typeface="メイリオ"/>
                <a:ea typeface="メイリオ"/>
                <a:cs typeface="メイリオ"/>
              </a:rPr>
              <a:t>50代23.5%／30代11.1%</a:t>
            </a:r>
            <a:endParaRPr lang="en-US" sz="900" dirty="0">
              <a:solidFill>
                <a:srgbClr val="333333"/>
              </a:solidFill>
              <a:latin typeface="メイリオ"/>
              <a:ea typeface="メイリオ"/>
              <a:cs typeface="メイリオ"/>
            </a:endParaRPr>
          </a:p>
          <a:p>
            <a:pPr algn="l">
              <a:lnSpc>
                <a:spcPct val="120000"/>
              </a:lnSpc>
            </a:pPr>
            <a:r>
              <a:rPr sz="900" dirty="0">
                <a:solidFill>
                  <a:srgbClr val="333333"/>
                </a:solidFill>
                <a:latin typeface="メイリオ"/>
                <a:ea typeface="メイリオ"/>
                <a:cs typeface="メイリオ"/>
              </a:rPr>
              <a:t>（同音異義語を除いた数値）</a:t>
            </a:r>
          </a:p>
        </p:txBody>
      </p:sp>
      <p:sp>
        <p:nvSpPr>
          <p:cNvPr id="19" name="Rounded Rectangle 18"/>
          <p:cNvSpPr/>
          <p:nvPr/>
        </p:nvSpPr>
        <p:spPr>
          <a:xfrm>
            <a:off x="571201" y="4256255"/>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p:cNvSpPr txBox="1"/>
          <p:nvPr/>
        </p:nvSpPr>
        <p:spPr>
          <a:xfrm>
            <a:off x="566235" y="4433748"/>
            <a:ext cx="900000" cy="197510"/>
          </a:xfrm>
          <a:prstGeom prst="rect">
            <a:avLst/>
          </a:prstGeom>
          <a:noFill/>
        </p:spPr>
        <p:txBody>
          <a:bodyPr wrap="square" lIns="50400" tIns="21600" rIns="50400" bIns="21600" anchor="ctr">
            <a:spAutoFit/>
          </a:bodyPr>
          <a:lstStyle/>
          <a:p>
            <a:pPr algn="ctr"/>
            <a:r>
              <a:rPr sz="1000" b="1" dirty="0" err="1">
                <a:solidFill>
                  <a:srgbClr val="FFFFFF"/>
                </a:solidFill>
                <a:latin typeface="メイリオ"/>
                <a:ea typeface="メイリオ"/>
                <a:cs typeface="メイリオ"/>
              </a:rPr>
              <a:t>学年別の違い</a:t>
            </a:r>
            <a:endParaRPr sz="1000" b="1" dirty="0">
              <a:solidFill>
                <a:srgbClr val="FFFFFF"/>
              </a:solidFill>
              <a:latin typeface="メイリオ"/>
              <a:ea typeface="メイリオ"/>
              <a:cs typeface="メイリオ"/>
            </a:endParaRPr>
          </a:p>
        </p:txBody>
      </p:sp>
      <p:sp>
        <p:nvSpPr>
          <p:cNvPr id="21" name="TextBox 20"/>
          <p:cNvSpPr txBox="1"/>
          <p:nvPr/>
        </p:nvSpPr>
        <p:spPr>
          <a:xfrm>
            <a:off x="1543202" y="4274695"/>
            <a:ext cx="1080000" cy="536064"/>
          </a:xfrm>
          <a:prstGeom prst="rect">
            <a:avLst/>
          </a:prstGeom>
          <a:noFill/>
        </p:spPr>
        <p:txBody>
          <a:bodyPr wrap="square" lIns="50400" tIns="21600" rIns="50400" bIns="21600" anchor="ctr">
            <a:spAutoFit/>
          </a:bodyPr>
          <a:lstStyle/>
          <a:p>
            <a:pPr algn="ctr"/>
            <a:r>
              <a:rPr sz="1600" b="1" dirty="0">
                <a:solidFill>
                  <a:srgbClr val="1F285A"/>
                </a:solidFill>
                <a:latin typeface="メイリオ"/>
                <a:ea typeface="メイリオ"/>
                <a:cs typeface="メイリオ"/>
              </a:rPr>
              <a:t>30代 22.1%</a:t>
            </a:r>
          </a:p>
        </p:txBody>
      </p:sp>
      <p:sp>
        <p:nvSpPr>
          <p:cNvPr id="22" name="TextBox 21"/>
          <p:cNvSpPr txBox="1"/>
          <p:nvPr/>
        </p:nvSpPr>
        <p:spPr>
          <a:xfrm>
            <a:off x="2650201" y="4348247"/>
            <a:ext cx="1835999" cy="369096"/>
          </a:xfrm>
          <a:prstGeom prst="rect">
            <a:avLst/>
          </a:prstGeom>
          <a:noFill/>
        </p:spPr>
        <p:txBody>
          <a:bodyPr wrap="square" lIns="50400" tIns="21600" rIns="50400" bIns="21600" anchor="ctr">
            <a:spAutoFit/>
          </a:bodyPr>
          <a:lstStyle/>
          <a:p>
            <a:pPr algn="l">
              <a:lnSpc>
                <a:spcPct val="120000"/>
              </a:lnSpc>
            </a:pPr>
            <a:r>
              <a:rPr sz="900" dirty="0">
                <a:solidFill>
                  <a:srgbClr val="333333"/>
                </a:solidFill>
                <a:latin typeface="メイリオ"/>
                <a:ea typeface="メイリオ"/>
                <a:cs typeface="メイリオ"/>
              </a:rPr>
              <a:t>「塾 費用」では30代が上昇</a:t>
            </a:r>
            <a:endParaRPr lang="en-US" sz="900" dirty="0">
              <a:solidFill>
                <a:srgbClr val="333333"/>
              </a:solidFill>
              <a:latin typeface="メイリオ"/>
              <a:ea typeface="メイリオ"/>
              <a:cs typeface="メイリオ"/>
            </a:endParaRPr>
          </a:p>
          <a:p>
            <a:pPr algn="l">
              <a:lnSpc>
                <a:spcPct val="120000"/>
              </a:lnSpc>
            </a:pPr>
            <a:r>
              <a:rPr sz="900" dirty="0">
                <a:solidFill>
                  <a:srgbClr val="333333"/>
                </a:solidFill>
                <a:latin typeface="メイリオ"/>
                <a:ea typeface="メイリオ"/>
                <a:cs typeface="メイリオ"/>
              </a:rPr>
              <a:t>＝小学生の保護者は30代が多い</a:t>
            </a:r>
          </a:p>
        </p:txBody>
      </p:sp>
      <p:sp>
        <p:nvSpPr>
          <p:cNvPr id="24" name="Rounded Rectangle 23"/>
          <p:cNvSpPr/>
          <p:nvPr/>
        </p:nvSpPr>
        <p:spPr>
          <a:xfrm>
            <a:off x="4823999" y="1619999"/>
            <a:ext cx="4651200" cy="3367587"/>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49999" y="1692000"/>
            <a:ext cx="4392000" cy="288000"/>
          </a:xfrm>
          <a:prstGeom prst="rect">
            <a:avLst/>
          </a:prstGeom>
          <a:noFill/>
        </p:spPr>
        <p:txBody>
          <a:bodyPr wrap="square" lIns="50400" tIns="21600" rIns="50400" bIns="21600" anchor="ctr">
            <a:spAutoFit/>
          </a:bodyPr>
          <a:lstStyle/>
          <a:p>
            <a:pPr algn="l"/>
            <a:r>
              <a:rPr sz="1150" b="1">
                <a:solidFill>
                  <a:srgbClr val="1F285A"/>
                </a:solidFill>
                <a:latin typeface="メイリオ"/>
                <a:ea typeface="メイリオ"/>
                <a:cs typeface="メイリオ"/>
              </a:rPr>
              <a:t>保護者の心の声（データから読み取れること）</a:t>
            </a:r>
          </a:p>
        </p:txBody>
      </p:sp>
      <p:sp>
        <p:nvSpPr>
          <p:cNvPr id="26" name="Rounded Rectangle 25"/>
          <p:cNvSpPr/>
          <p:nvPr/>
        </p:nvSpPr>
        <p:spPr>
          <a:xfrm>
            <a:off x="4949999" y="2051998"/>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100" b="1" dirty="0">
                <a:solidFill>
                  <a:srgbClr val="333333"/>
                </a:solidFill>
                <a:latin typeface="メイリオ"/>
                <a:ea typeface="メイリオ"/>
                <a:cs typeface="メイリオ"/>
              </a:rPr>
              <a:t>「</a:t>
            </a:r>
            <a:r>
              <a:rPr sz="1100" b="1" dirty="0" err="1">
                <a:solidFill>
                  <a:srgbClr val="333333"/>
                </a:solidFill>
                <a:latin typeface="メイリオ"/>
                <a:ea typeface="メイリオ"/>
                <a:cs typeface="メイリオ"/>
              </a:rPr>
              <a:t>うちの子に合うのか、通ってみるまで分からない</a:t>
            </a:r>
            <a:r>
              <a:rPr sz="1100" b="1" dirty="0">
                <a:solidFill>
                  <a:srgbClr val="333333"/>
                </a:solidFill>
                <a:latin typeface="メイリオ"/>
                <a:ea typeface="メイリオ"/>
                <a:cs typeface="メイリオ"/>
              </a:rPr>
              <a:t>」</a:t>
            </a:r>
          </a:p>
          <a:p>
            <a:pPr algn="l">
              <a:lnSpc>
                <a:spcPct val="115000"/>
              </a:lnSpc>
            </a:pPr>
            <a:r>
              <a:rPr sz="900" dirty="0" err="1">
                <a:solidFill>
                  <a:srgbClr val="7F7F7F"/>
                </a:solidFill>
                <a:latin typeface="メイリオ"/>
                <a:ea typeface="メイリオ"/>
                <a:cs typeface="メイリオ"/>
              </a:rPr>
              <a:t>塾選び最大の苦労</a:t>
            </a:r>
            <a:r>
              <a:rPr sz="900" dirty="0">
                <a:solidFill>
                  <a:srgbClr val="7F7F7F"/>
                </a:solidFill>
                <a:latin typeface="メイリオ"/>
                <a:ea typeface="メイリオ"/>
                <a:cs typeface="メイリオ"/>
              </a:rPr>
              <a:t> 63.5%（塾ナラ2025・n=200）</a:t>
            </a:r>
          </a:p>
        </p:txBody>
      </p:sp>
      <p:sp>
        <p:nvSpPr>
          <p:cNvPr id="27" name="Rounded Rectangle 26"/>
          <p:cNvSpPr/>
          <p:nvPr/>
        </p:nvSpPr>
        <p:spPr>
          <a:xfrm>
            <a:off x="4942799" y="2806673"/>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100" b="1" dirty="0">
                <a:solidFill>
                  <a:srgbClr val="333333"/>
                </a:solidFill>
                <a:latin typeface="メイリオ"/>
                <a:ea typeface="メイリオ"/>
                <a:cs typeface="メイリオ"/>
              </a:rPr>
              <a:t>「</a:t>
            </a:r>
            <a:r>
              <a:rPr sz="1100" b="1" dirty="0" err="1">
                <a:solidFill>
                  <a:srgbClr val="333333"/>
                </a:solidFill>
                <a:latin typeface="メイリオ"/>
                <a:ea typeface="メイリオ"/>
                <a:cs typeface="メイリオ"/>
              </a:rPr>
              <a:t>集団と個別、どっちが向いてるのか判断できない</a:t>
            </a:r>
            <a:r>
              <a:rPr sz="1100" b="1" dirty="0">
                <a:solidFill>
                  <a:srgbClr val="333333"/>
                </a:solidFill>
                <a:latin typeface="メイリオ"/>
                <a:ea typeface="メイリオ"/>
                <a:cs typeface="メイリオ"/>
              </a:rPr>
              <a:t>」</a:t>
            </a:r>
          </a:p>
          <a:p>
            <a:pPr algn="l">
              <a:lnSpc>
                <a:spcPct val="115000"/>
              </a:lnSpc>
            </a:pPr>
            <a:r>
              <a:rPr sz="900" dirty="0">
                <a:solidFill>
                  <a:srgbClr val="7F7F7F"/>
                </a:solidFill>
                <a:latin typeface="メイリオ"/>
                <a:ea typeface="メイリオ"/>
                <a:cs typeface="メイリオ"/>
              </a:rPr>
              <a:t>「情報が多すぎる」17.0%</a:t>
            </a:r>
          </a:p>
        </p:txBody>
      </p:sp>
      <p:sp>
        <p:nvSpPr>
          <p:cNvPr id="28" name="Rounded Rectangle 27"/>
          <p:cNvSpPr/>
          <p:nvPr/>
        </p:nvSpPr>
        <p:spPr>
          <a:xfrm>
            <a:off x="4942799" y="3561348"/>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100" b="1" dirty="0">
                <a:solidFill>
                  <a:srgbClr val="333333"/>
                </a:solidFill>
                <a:latin typeface="メイリオ"/>
                <a:ea typeface="メイリオ"/>
                <a:cs typeface="メイリオ"/>
              </a:rPr>
              <a:t>「</a:t>
            </a:r>
            <a:r>
              <a:rPr sz="1100" b="1" dirty="0" err="1">
                <a:solidFill>
                  <a:srgbClr val="333333"/>
                </a:solidFill>
                <a:latin typeface="メイリオ"/>
                <a:ea typeface="メイリオ"/>
                <a:cs typeface="メイリオ"/>
              </a:rPr>
              <a:t>月謝の他に講習費がいくら乗るのか読めない</a:t>
            </a:r>
            <a:r>
              <a:rPr sz="1100" b="1" dirty="0">
                <a:solidFill>
                  <a:srgbClr val="333333"/>
                </a:solidFill>
                <a:latin typeface="メイリオ"/>
                <a:ea typeface="メイリオ"/>
                <a:cs typeface="メイリオ"/>
              </a:rPr>
              <a:t>」</a:t>
            </a:r>
          </a:p>
          <a:p>
            <a:pPr algn="l">
              <a:lnSpc>
                <a:spcPct val="115000"/>
              </a:lnSpc>
            </a:pPr>
            <a:r>
              <a:rPr sz="900" dirty="0">
                <a:solidFill>
                  <a:srgbClr val="7F7F7F"/>
                </a:solidFill>
                <a:latin typeface="メイリオ"/>
                <a:ea typeface="メイリオ"/>
                <a:cs typeface="メイリオ"/>
              </a:rPr>
              <a:t>費用に負担を感じる91.2%／一方で「妥当」57.7%（塾シル2026）</a:t>
            </a:r>
          </a:p>
        </p:txBody>
      </p:sp>
      <p:sp>
        <p:nvSpPr>
          <p:cNvPr id="29" name="Rounded Rectangle 28"/>
          <p:cNvSpPr/>
          <p:nvPr/>
        </p:nvSpPr>
        <p:spPr>
          <a:xfrm>
            <a:off x="4942799" y="4274467"/>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100" b="1" dirty="0">
                <a:solidFill>
                  <a:srgbClr val="333333"/>
                </a:solidFill>
                <a:latin typeface="メイリオ"/>
                <a:ea typeface="メイリオ"/>
                <a:cs typeface="メイリオ"/>
              </a:rPr>
              <a:t>「集団と個別、どちらに入れたらいいのか」</a:t>
            </a:r>
          </a:p>
          <a:p>
            <a:pPr algn="l">
              <a:lnSpc>
                <a:spcPct val="115000"/>
              </a:lnSpc>
            </a:pPr>
            <a:r>
              <a:rPr sz="900" dirty="0">
                <a:solidFill>
                  <a:srgbClr val="7F7F7F"/>
                </a:solidFill>
                <a:latin typeface="メイリオ"/>
                <a:ea typeface="メイリオ"/>
                <a:cs typeface="メイリオ"/>
              </a:rPr>
              <a:t>塾を決めるのに関わる人：保護者80.5%（明光2020）</a:t>
            </a:r>
          </a:p>
        </p:txBody>
      </p:sp>
      <p:sp>
        <p:nvSpPr>
          <p:cNvPr id="30" name="Rounded Rectangle 29"/>
          <p:cNvSpPr/>
          <p:nvPr/>
        </p:nvSpPr>
        <p:spPr>
          <a:xfrm>
            <a:off x="442800" y="5316193"/>
            <a:ext cx="9043200" cy="6012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0" rIns="72000" bIns="0" rtlCol="0" anchor="ctr"/>
          <a:lstStyle/>
          <a:p>
            <a:pPr algn="ctr"/>
            <a:r>
              <a:rPr sz="1400" b="1" dirty="0" err="1">
                <a:solidFill>
                  <a:srgbClr val="FFFFFF"/>
                </a:solidFill>
                <a:latin typeface="メイリオ"/>
                <a:ea typeface="メイリオ"/>
                <a:cs typeface="メイリオ"/>
              </a:rPr>
              <a:t>費用より、「合うかどうか分からない」ことが決められない理由。</a:t>
            </a:r>
            <a:endParaRPr lang="en-US" sz="1400" b="1" dirty="0">
              <a:solidFill>
                <a:srgbClr val="FFFFFF"/>
              </a:solidFill>
              <a:latin typeface="メイリオ"/>
              <a:ea typeface="メイリオ"/>
              <a:cs typeface="メイリオ"/>
            </a:endParaRPr>
          </a:p>
          <a:p>
            <a:pPr algn="ctr"/>
            <a:r>
              <a:rPr sz="1400" b="1" dirty="0" err="1">
                <a:solidFill>
                  <a:srgbClr val="FFFFFF"/>
                </a:solidFill>
                <a:latin typeface="メイリオ"/>
                <a:ea typeface="メイリオ"/>
                <a:cs typeface="メイリオ"/>
              </a:rPr>
              <a:t>だから、申し込む前に「合う・合わない」を確かめられるようにする。</a:t>
            </a:r>
          </a:p>
        </p:txBody>
      </p:sp>
      <p:sp>
        <p:nvSpPr>
          <p:cNvPr id="33" name="TextBox 3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出典｜LINEヤフー前後検索（2022-05〜2023-05・実測）／塾ナラ2025（n=200）／塾シル・ユナイトプロジェクト2026（n=249）／明光ネットワークジャパン2020</a:t>
            </a:r>
          </a:p>
        </p:txBody>
      </p:sp>
      <p:sp>
        <p:nvSpPr>
          <p:cNvPr id="34" name="Pentagon 33"/>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5" name="Chevron 34"/>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6" name="Chevron 35"/>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37" name="Chevron 36"/>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8" name="Chevron 3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39" name="Chevron 3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40" name="Chevron 3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41" name="Chevron 4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Tree>
    <p:extLst>
      <p:ext uri="{BB962C8B-B14F-4D97-AF65-F5344CB8AC3E}">
        <p14:creationId xmlns:p14="http://schemas.microsoft.com/office/powerpoint/2010/main" val="1187594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前後検索「中学受験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中学受験の保護者は、検索の前に志望校・偏差値・算数検定を調べ、当日は塾の名前に集中する。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そのあとは、入室テスト・料金・口コミで比べている。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塾の名前を調べる前（志望校・偏差値を調べる時期）に、LINEでつながっておく。</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出典｜LINEヤフー前後検索（2026年10月取得）。横軸＝起点の検索の前後15日、縦軸＝検索した人数（UU）。配信の中身はP31・P38</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「中学受験 塾」の検索前後（LINEヤフー前後検索・実データ）</a:t>
            </a:r>
            <a:endParaRPr lang="ja-JP" altLang="en-US" sz="1250" dirty="0"/>
          </a:p>
        </p:txBody>
      </p:sp>
      <p:pic>
        <p:nvPicPr>
          <p:cNvPr id="27" name="前後検索_中学受験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20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私立中学 偏差値ランキング／海城中学・女子学院／栄東中学校 入試／中学受験 偏差値40</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600" dirty="0"/>
          </a:p>
          <a:p>
            <a:pPr algn="l">
              <a:lnSpc>
                <a:spcPct val="105000"/>
              </a:lnSpc>
              <a:buNone/>
            </a:pPr>
            <a:r>
              <a:rPr lang="ja-JP" altLang="en-US" sz="1200" b="1" dirty="0">
                <a:solidFill>
                  <a:srgbClr val="8E4EC6"/>
                </a:solidFill>
                <a:latin typeface="メイリオ" panose="020B0604030504040204" pitchFamily="50" charset="-128"/>
                <a:ea typeface="メイリオ" panose="020B0604030504040204" pitchFamily="50" charset="-128"/>
              </a:rPr>
              <a:t>② 検定・勉強法</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算数検定／予習シリーズ／中学受験 社会 勉強方法／中学受験 親の関わり方</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中学受験 塾選び／塾 ランキング／個別指導のみ／塾 費用／4年生から始める</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日能研・早稲田アカデミー・サピックス／サピックス 入室テスト／日能研 費用／明光義塾 口コミ</a:t>
            </a:r>
            <a:endParaRPr lang="ja-JP" altLang="en-US" sz="135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追加直後｜あいさつ＋30秒診断</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志望校・偏差値を調べている → 学年と志望校を伺い、入試から逆算した準備をお届けする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5日後｜月謝＋講習費の年間の目安</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塾選び・費用・いつからを比べている → 費用の目安と始める時期を先にお伝えする</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7日後｜事例＋体験のご案内①</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入室テスト・口コミで比べている → 同じタイプのお子さまの事例と、体験授業のご案内</a:t>
            </a:r>
            <a:endParaRPr lang="ja-JP" altLang="en-US" sz="1200" dirty="0"/>
          </a:p>
        </p:txBody>
      </p:sp>
    </p:spTree>
    <p:extLst>
      <p:ext uri="{BB962C8B-B14F-4D97-AF65-F5344CB8AC3E}">
        <p14:creationId xmlns:p14="http://schemas.microsoft.com/office/powerpoint/2010/main" val="2573080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前後検索「中高一貫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中高一貫の保護者は、都立中高一貫校・中等教育学校の名前と入試日程を、15日前から調べている。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塾の名前（ena・栄光ゼミナール・日能研）は当日に集中し、そのあとは料金・合格実績で比べている。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学校名と日程を調べ始める15日前から、志望校の情報でつながる。</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出典｜LINEヤフー前後検索（2026年10月取得）。横軸＝起点の検索の前後15日、縦軸＝検索した人数（UU）。配信の中身はP31・P38</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「中高一貫 塾」の検索前後（LINEヤフー前後検索・実データ）</a:t>
            </a:r>
            <a:endParaRPr lang="ja-JP" altLang="en-US" sz="1250" dirty="0"/>
          </a:p>
        </p:txBody>
      </p:sp>
      <p:pic>
        <p:nvPicPr>
          <p:cNvPr id="27" name="前後検索_中高一貫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20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都立中高一貫校／立川国際・三鷹・九段中等教育学校／都立高校 入試日程／都立推薦 日程</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8E4EC6"/>
                </a:solidFill>
                <a:latin typeface="メイリオ" panose="020B0604030504040204" pitchFamily="50" charset="-128"/>
                <a:ea typeface="メイリオ" panose="020B0604030504040204" pitchFamily="50" charset="-128"/>
              </a:rPr>
              <a:t>② 検定・勉強法</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声の教育社（過去問）／四谷大塚 予習シリーズ</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中学受験 塾選び／中学受験 塾 費用／中学受験 全落ち／中高一貫 塾</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ena・栄光ゼミナール・日能研／栄光ゼミナール 料金／早稲田アカデミー 合格実績／森塾 口コミ</a:t>
            </a:r>
            <a:endParaRPr lang="ja-JP" altLang="en-US" sz="135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追加直後｜あいさつ＋30秒診断</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学校名・入試日程を調べている → 志望校を伺い、入試から逆算した準備をお届けする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5日後｜月謝＋講習費の年間の目安</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塾の費用・全落ちを心配している → 年間の費用の目安と、準備の進め方</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7日後｜事例＋体験のご案内①</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料金・合格実績で比べている → 同じ志望校のお子さまの事例と、体験授業のご案内</a:t>
            </a:r>
            <a:endParaRPr lang="ja-JP" altLang="en-US" sz="1200" dirty="0"/>
          </a:p>
        </p:txBody>
      </p:sp>
    </p:spTree>
    <p:extLst>
      <p:ext uri="{BB962C8B-B14F-4D97-AF65-F5344CB8AC3E}">
        <p14:creationId xmlns:p14="http://schemas.microsoft.com/office/powerpoint/2010/main" val="3415205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前後検索「高校受験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高校受験の保護者は、当日に「塾 いつから・費用・ランキング・勉強方法」をまとめて調べている。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その前は志望校の偏差値、そのあとは塾の名前と料金で比べている。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「いつから・費用」を調べる当日に、その答えをLINEで先に届ける。</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出典｜LINEヤフー前後検索（2026年10月取得）。横軸＝起点の検索の前後15日、縦軸＝検索した人数（UU）。配信の中身はP31・P38</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「高校受験 塾」の検索前後（LINEヤフー前後検索・実データ）</a:t>
            </a:r>
            <a:endParaRPr lang="ja-JP" altLang="en-US" sz="1250" dirty="0"/>
          </a:p>
        </p:txBody>
      </p:sp>
      <p:pic>
        <p:nvPicPr>
          <p:cNvPr id="27" name="前後検索_高校受験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05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都立高校／高校受験 偏差値／東京都 高校 偏差値／都立高校 入試</a:t>
            </a:r>
            <a:endParaRPr lang="en-US" altLang="ja-JP" sz="9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050" b="1" dirty="0">
                <a:solidFill>
                  <a:srgbClr val="8E4EC6"/>
                </a:solidFill>
                <a:latin typeface="メイリオ" panose="020B0604030504040204" pitchFamily="50" charset="-128"/>
                <a:ea typeface="メイリオ" panose="020B0604030504040204" pitchFamily="50" charset="-128"/>
              </a:rPr>
              <a:t>② 検定・勉強法</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高校受験 勉強方法／数検3級／高校受験 塾なし／中学 英語</a:t>
            </a:r>
            <a:endParaRPr lang="en-US" altLang="ja-JP" sz="9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05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高校受験 塾 いつから／塾 費用／塾 ランキング／中学受験 高校受験 どっち／オンライン 塾</a:t>
            </a:r>
            <a:endParaRPr lang="en-US" altLang="ja-JP" sz="9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05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早稲田アカデミー・栄光ゼミナール・臨海セミナー／早稲アカ 個別 料金／臨海セミナー 口コミ</a:t>
            </a:r>
            <a:endParaRPr lang="ja-JP" altLang="en-US" sz="120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3日後｜家でできる勉強のコツ</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勉強方法・塾なしで迷っている → まずは、家でできる勉強のコツをお届けする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5日後｜月謝＋講習費の年間の目安</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いつから・費用を調べている → 年間の費用の目安と、始める時期</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14日後｜テストから逆算＋体験のご案内②</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塾の名前・料金で比べている → 次の定期テストから逆算した体験授業のご案内</a:t>
            </a:r>
            <a:endParaRPr lang="ja-JP" altLang="en-US" sz="1200" dirty="0"/>
          </a:p>
        </p:txBody>
      </p:sp>
    </p:spTree>
    <p:extLst>
      <p:ext uri="{BB962C8B-B14F-4D97-AF65-F5344CB8AC3E}">
        <p14:creationId xmlns:p14="http://schemas.microsoft.com/office/powerpoint/2010/main" val="1205364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前後検索「英語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英語の保護者は、塾より先に英検（日程・級・合格発表）を調べている。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当日は英語塾・個別指導塾の名前、そのあとは料金・口コミで比べている。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英検の日程を調べるタイミングで、英検の情報からつながる。</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出典｜LINEヤフー前後検索（2026年10月取得）。横軸＝起点の検索の前後15日、縦軸＝検索した人数（UU）。配信の中身はP31・P38</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「英語 塾」の検索前後（LINEヤフー前後検索・実データ）</a:t>
            </a:r>
            <a:endParaRPr lang="ja-JP" altLang="en-US" sz="1250" dirty="0"/>
          </a:p>
        </p:txBody>
      </p:sp>
      <p:pic>
        <p:nvPicPr>
          <p:cNvPr id="27" name="前後検索_英語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25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中高一貫校／大学受験／開成高校／高校受験</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50" b="1" dirty="0">
                <a:solidFill>
                  <a:srgbClr val="8E4EC6"/>
                </a:solidFill>
                <a:latin typeface="メイリオ" panose="020B0604030504040204" pitchFamily="50" charset="-128"/>
                <a:ea typeface="メイリオ" panose="020B0604030504040204" pitchFamily="50" charset="-128"/>
              </a:rPr>
              <a:t>② 検定・勉強法</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英検 日程／英検3級・2級・準1級／英検 合格発表／漢検／スタディサプリ／英単語</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5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個別指導塾／英語塾 中高一貫校／高校受験 塾／小学生 英語 塾</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5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武田塾・明光義塾・森塾／英検アカデミー 料金・口コミ／武田塾 料金</a:t>
            </a:r>
            <a:endParaRPr lang="ja-JP" altLang="en-US" sz="145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追加直後｜あいさつ＋30秒診断</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英検の日程・級を調べている → 学年と目指す級を伺い、次の英検から逆算した準備をお届けする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3日後｜家でできる勉強のコツ</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英単語・勉強法を調べている → 家でできる英語の勉強のコツ</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7日後｜事例＋体験のご案内①</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料金・口コミで比べている → 同じ級を目指したお子さまの事例と、体験授業のご案内</a:t>
            </a:r>
            <a:endParaRPr lang="ja-JP" altLang="en-US" sz="1200" dirty="0"/>
          </a:p>
        </p:txBody>
      </p:sp>
    </p:spTree>
    <p:extLst>
      <p:ext uri="{BB962C8B-B14F-4D97-AF65-F5344CB8AC3E}">
        <p14:creationId xmlns:p14="http://schemas.microsoft.com/office/powerpoint/2010/main" val="3055697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598A-7489-8F6D-91D8-19CE7F507B2C}"/>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ニーズ調査（シーズナリティ）</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「塾」の検索が一番多いのは2月上旬。「夏期講習」は7月中旬で、冬期・春期の3〜5倍。</a:t>
            </a:r>
          </a:p>
          <a:p>
            <a:pPr algn="l">
              <a:lnSpc>
                <a:spcPct val="128000"/>
              </a:lnSpc>
            </a:pPr>
            <a:r>
              <a:rPr sz="1200" dirty="0">
                <a:solidFill>
                  <a:srgbClr val="333333"/>
                </a:solidFill>
                <a:latin typeface="メイリオ"/>
                <a:ea typeface="メイリオ"/>
                <a:cs typeface="メイリオ"/>
              </a:rPr>
              <a:t>検索のピークの前から、LINEでつながっておく。</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出典｜Googleトレンド（日本・2026年年初来・週次）※相対値。規模の違うキーワードは別のグラフで表示</a:t>
            </a:r>
          </a:p>
        </p:txBody>
      </p:sp>
      <p:sp>
        <p:nvSpPr>
          <p:cNvPr id="25" name="Pentagon 24"/>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26" name="Chevron 2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27" name="Chevron 2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28" name="Chevron 2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29" name="Chevron 28"/>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30" name="Chevron 2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1" name="Chevron 3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2" name="Chevron 3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pic>
        <p:nvPicPr>
          <p:cNvPr id="33" name="Picture 32" descr="juku_v2_trend_juku.png"/>
          <p:cNvPicPr>
            <a:picLocks noChangeAspect="1"/>
          </p:cNvPicPr>
          <p:nvPr/>
        </p:nvPicPr>
        <p:blipFill>
          <a:blip r:embed="rId3"/>
          <a:stretch>
            <a:fillRect/>
          </a:stretch>
        </p:blipFill>
        <p:spPr>
          <a:xfrm>
            <a:off x="432000" y="1512000"/>
            <a:ext cx="4464000" cy="1667868"/>
          </a:xfrm>
          <a:prstGeom prst="rect">
            <a:avLst/>
          </a:prstGeom>
        </p:spPr>
      </p:pic>
      <p:pic>
        <p:nvPicPr>
          <p:cNvPr id="34" name="Picture 33" descr="juku_v2_trend_koushuu.png"/>
          <p:cNvPicPr>
            <a:picLocks noChangeAspect="1"/>
          </p:cNvPicPr>
          <p:nvPr/>
        </p:nvPicPr>
        <p:blipFill>
          <a:blip r:embed="rId4"/>
          <a:stretch>
            <a:fillRect/>
          </a:stretch>
        </p:blipFill>
        <p:spPr>
          <a:xfrm>
            <a:off x="5011200" y="1512000"/>
            <a:ext cx="4464000" cy="1667868"/>
          </a:xfrm>
          <a:prstGeom prst="rect">
            <a:avLst/>
          </a:prstGeom>
        </p:spPr>
      </p:pic>
      <p:pic>
        <p:nvPicPr>
          <p:cNvPr id="35" name="Picture 34" descr="juku_v2_trend_juken.png"/>
          <p:cNvPicPr>
            <a:picLocks noChangeAspect="1"/>
          </p:cNvPicPr>
          <p:nvPr/>
        </p:nvPicPr>
        <p:blipFill>
          <a:blip r:embed="rId5"/>
          <a:stretch>
            <a:fillRect/>
          </a:stretch>
        </p:blipFill>
        <p:spPr>
          <a:xfrm>
            <a:off x="432000" y="3311999"/>
            <a:ext cx="4464000" cy="1520703"/>
          </a:xfrm>
          <a:prstGeom prst="rect">
            <a:avLst/>
          </a:prstGeom>
        </p:spPr>
      </p:pic>
      <p:sp>
        <p:nvSpPr>
          <p:cNvPr id="36" name="Rounded Rectangle 35"/>
          <p:cNvSpPr/>
          <p:nvPr/>
        </p:nvSpPr>
        <p:spPr>
          <a:xfrm>
            <a:off x="5011200" y="3366000"/>
            <a:ext cx="4464000" cy="1404000"/>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7" name="Rectangle 36"/>
          <p:cNvSpPr/>
          <p:nvPr/>
        </p:nvSpPr>
        <p:spPr>
          <a:xfrm>
            <a:off x="5148000" y="3420000"/>
            <a:ext cx="4212000" cy="133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dirty="0" err="1">
                <a:solidFill>
                  <a:srgbClr val="002060"/>
                </a:solidFill>
                <a:latin typeface="メイリオ"/>
                <a:ea typeface="メイリオ"/>
                <a:cs typeface="メイリオ"/>
              </a:rPr>
              <a:t>読み取れること</a:t>
            </a:r>
            <a:endParaRPr sz="1150" b="1" dirty="0">
              <a:solidFill>
                <a:srgbClr val="002060"/>
              </a:solidFill>
              <a:latin typeface="メイリオ"/>
              <a:ea typeface="メイリオ"/>
              <a:cs typeface="メイリオ"/>
            </a:endParaRPr>
          </a:p>
          <a:p>
            <a:pPr algn="l"/>
            <a:r>
              <a:rPr sz="1100" b="0" dirty="0">
                <a:solidFill>
                  <a:srgbClr val="333333"/>
                </a:solidFill>
                <a:latin typeface="メイリオ"/>
                <a:ea typeface="メイリオ"/>
                <a:cs typeface="メイリオ"/>
              </a:rPr>
              <a:t>・「塾」は2月上旬がピーク。ただし年間を通して大きくは落ちない</a:t>
            </a:r>
          </a:p>
          <a:p>
            <a:pPr algn="l"/>
            <a:r>
              <a:rPr sz="1100" b="0" dirty="0">
                <a:solidFill>
                  <a:srgbClr val="333333"/>
                </a:solidFill>
                <a:latin typeface="メイリオ"/>
                <a:ea typeface="メイリオ"/>
                <a:cs typeface="メイリオ"/>
              </a:rPr>
              <a:t>・講習は夏が圧倒的。冬期・春期の3〜5倍</a:t>
            </a:r>
          </a:p>
          <a:p>
            <a:pPr algn="l"/>
            <a:r>
              <a:rPr sz="1100" b="0" dirty="0">
                <a:solidFill>
                  <a:srgbClr val="333333"/>
                </a:solidFill>
                <a:latin typeface="メイリオ"/>
                <a:ea typeface="メイリオ"/>
                <a:cs typeface="メイリオ"/>
              </a:rPr>
              <a:t>・受験の検索は1月中旬〜2月上旬に集中</a:t>
            </a:r>
          </a:p>
          <a:p>
            <a:pPr algn="l"/>
            <a:r>
              <a:rPr sz="1100" b="1" dirty="0">
                <a:solidFill>
                  <a:srgbClr val="1F285A"/>
                </a:solidFill>
                <a:latin typeface="メイリオ"/>
                <a:ea typeface="メイリオ"/>
                <a:cs typeface="メイリオ"/>
              </a:rPr>
              <a:t>→ ピークの時期だけ広告を増やすより、</a:t>
            </a:r>
          </a:p>
          <a:p>
            <a:pPr algn="l"/>
            <a:r>
              <a:rPr sz="1100" b="1" dirty="0">
                <a:solidFill>
                  <a:srgbClr val="1F285A"/>
                </a:solidFill>
                <a:latin typeface="メイリオ"/>
                <a:ea typeface="メイリオ"/>
                <a:cs typeface="メイリオ"/>
              </a:rPr>
              <a:t>　 ピークの前からLINEでつながっておく</a:t>
            </a:r>
            <a:endParaRPr sz="1100" b="1" dirty="0">
              <a:solidFill>
                <a:srgbClr val="1F285A"/>
              </a:solidFill>
              <a:latin typeface="メイリオ"/>
              <a:ea typeface="メイリオ"/>
              <a:cs typeface="メイリオ"/>
            </a:endParaRPr>
          </a:p>
        </p:txBody>
      </p:sp>
      <p:sp>
        <p:nvSpPr>
          <p:cNvPr id="38" name="Rounded Rectangle 37"/>
          <p:cNvSpPr/>
          <p:nvPr/>
        </p:nvSpPr>
        <p:spPr>
          <a:xfrm>
            <a:off x="432000" y="5076000"/>
            <a:ext cx="9043200" cy="396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50" b="1">
                <a:solidFill>
                  <a:srgbClr val="FFFFFF"/>
                </a:solidFill>
                <a:latin typeface="メイリオ"/>
                <a:ea typeface="メイリオ"/>
                <a:cs typeface="メイリオ"/>
              </a:rPr>
              <a:t>検索のピークの前から、LINEでつながっておく。</a:t>
            </a:r>
          </a:p>
        </p:txBody>
      </p:sp>
    </p:spTree>
    <p:extLst>
      <p:ext uri="{BB962C8B-B14F-4D97-AF65-F5344CB8AC3E}">
        <p14:creationId xmlns:p14="http://schemas.microsoft.com/office/powerpoint/2010/main" val="653866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09D0-C3F8-FF51-9B68-5792A11B67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検索データからわかる「すべきこと」</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P7〜P12のデータから、取り組むべきことを整理する。</a:t>
            </a:r>
          </a:p>
          <a:p>
            <a:pPr algn="l">
              <a:lnSpc>
                <a:spcPct val="128000"/>
              </a:lnSpc>
            </a:pPr>
            <a:r>
              <a:rPr sz="1200">
                <a:solidFill>
                  <a:srgbClr val="333333"/>
                </a:solidFill>
                <a:latin typeface="メイリオ"/>
                <a:ea typeface="メイリオ"/>
                <a:cs typeface="メイリオ"/>
              </a:rPr>
              <a:t>塾名を調べる前の保護者と先につながり、申し込む前に「合う・合わない」を確かめられるようにする。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3" name="Rounded Rectangle 12"/>
          <p:cNvSpPr/>
          <p:nvPr/>
        </p:nvSpPr>
        <p:spPr>
          <a:xfrm>
            <a:off x="432000" y="1512000"/>
            <a:ext cx="3060000" cy="251999"/>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333333"/>
                </a:solidFill>
                <a:latin typeface="メイリオ"/>
                <a:ea typeface="メイリオ"/>
                <a:cs typeface="メイリオ"/>
              </a:rPr>
              <a:t>データ（事実）</a:t>
            </a:r>
          </a:p>
        </p:txBody>
      </p:sp>
      <p:sp>
        <p:nvSpPr>
          <p:cNvPr id="14" name="Rounded Rectangle 13"/>
          <p:cNvSpPr/>
          <p:nvPr/>
        </p:nvSpPr>
        <p:spPr>
          <a:xfrm>
            <a:off x="3671999" y="1512000"/>
            <a:ext cx="2951999" cy="251999"/>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333333"/>
                </a:solidFill>
                <a:latin typeface="メイリオ"/>
                <a:ea typeface="メイリオ"/>
                <a:cs typeface="メイリオ"/>
              </a:rPr>
              <a:t>すべきこと</a:t>
            </a:r>
          </a:p>
        </p:txBody>
      </p:sp>
      <p:sp>
        <p:nvSpPr>
          <p:cNvPr id="15" name="Rounded Rectangle 14"/>
          <p:cNvSpPr/>
          <p:nvPr/>
        </p:nvSpPr>
        <p:spPr>
          <a:xfrm>
            <a:off x="6803999" y="1512000"/>
            <a:ext cx="2671200" cy="251999"/>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LINE施策</a:t>
            </a:r>
          </a:p>
        </p:txBody>
      </p:sp>
      <p:sp>
        <p:nvSpPr>
          <p:cNvPr id="16" name="Rounded Rectangle 15"/>
          <p:cNvSpPr/>
          <p:nvPr/>
        </p:nvSpPr>
        <p:spPr>
          <a:xfrm>
            <a:off x="432000" y="1854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サイトを訪れても、問い合わせをせずに離れる保護者は多い</a:t>
            </a:r>
          </a:p>
        </p:txBody>
      </p:sp>
      <p:sp>
        <p:nvSpPr>
          <p:cNvPr id="17" name="Rounded Rectangle 16"/>
          <p:cNvSpPr/>
          <p:nvPr/>
        </p:nvSpPr>
        <p:spPr>
          <a:xfrm>
            <a:off x="3671999" y="1854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333333"/>
                </a:solidFill>
                <a:latin typeface="メイリオ"/>
                <a:ea typeface="メイリオ"/>
                <a:cs typeface="メイリオ"/>
              </a:rPr>
              <a:t>塾名を調べる前の保護者と、先につながる</a:t>
            </a:r>
          </a:p>
        </p:txBody>
      </p:sp>
      <p:sp>
        <p:nvSpPr>
          <p:cNvPr id="18" name="Rounded Rectangle 17"/>
          <p:cNvSpPr/>
          <p:nvPr/>
        </p:nvSpPr>
        <p:spPr>
          <a:xfrm>
            <a:off x="6803999" y="1854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サイトの離脱防止からLINEへ</a:t>
            </a:r>
          </a:p>
        </p:txBody>
      </p:sp>
      <p:cxnSp>
        <p:nvCxnSpPr>
          <p:cNvPr id="19" name="Connector 18"/>
          <p:cNvCxnSpPr/>
          <p:nvPr/>
        </p:nvCxnSpPr>
        <p:spPr>
          <a:xfrm>
            <a:off x="3510000" y="2214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642000" y="2214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32000" y="2700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塾名を調べる前から、保護者は調べ始めている（P8〜P11）</a:t>
            </a:r>
          </a:p>
        </p:txBody>
      </p:sp>
      <p:sp>
        <p:nvSpPr>
          <p:cNvPr id="22" name="Rounded Rectangle 21"/>
          <p:cNvSpPr/>
          <p:nvPr/>
        </p:nvSpPr>
        <p:spPr>
          <a:xfrm>
            <a:off x="3671999" y="2700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333333"/>
                </a:solidFill>
                <a:latin typeface="メイリオ"/>
                <a:ea typeface="メイリオ"/>
                <a:cs typeface="メイリオ"/>
              </a:rPr>
              <a:t>比べている間、役に立つ情報を届け続ける</a:t>
            </a:r>
          </a:p>
        </p:txBody>
      </p:sp>
      <p:sp>
        <p:nvSpPr>
          <p:cNvPr id="23" name="Rounded Rectangle 22"/>
          <p:cNvSpPr/>
          <p:nvPr/>
        </p:nvSpPr>
        <p:spPr>
          <a:xfrm>
            <a:off x="6803999" y="2700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14日間の配信</a:t>
            </a:r>
          </a:p>
        </p:txBody>
      </p:sp>
      <p:cxnSp>
        <p:nvCxnSpPr>
          <p:cNvPr id="24" name="Connector 23"/>
          <p:cNvCxnSpPr/>
          <p:nvPr/>
        </p:nvCxnSpPr>
        <p:spPr>
          <a:xfrm>
            <a:off x="3510000" y="3060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42000" y="3060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2000" y="3546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一番の悩みは「うちの子に合うか分からない」63.5%（P7）</a:t>
            </a:r>
          </a:p>
        </p:txBody>
      </p:sp>
      <p:sp>
        <p:nvSpPr>
          <p:cNvPr id="27" name="Rounded Rectangle 26"/>
          <p:cNvSpPr/>
          <p:nvPr/>
        </p:nvSpPr>
        <p:spPr>
          <a:xfrm>
            <a:off x="3671999" y="3546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333333"/>
                </a:solidFill>
                <a:latin typeface="メイリオ"/>
                <a:ea typeface="メイリオ"/>
                <a:cs typeface="メイリオ"/>
              </a:rPr>
              <a:t>申し込む前に「合う・合わない」をお伝えする</a:t>
            </a:r>
          </a:p>
        </p:txBody>
      </p:sp>
      <p:sp>
        <p:nvSpPr>
          <p:cNvPr id="28" name="Rounded Rectangle 27"/>
          <p:cNvSpPr/>
          <p:nvPr/>
        </p:nvSpPr>
        <p:spPr>
          <a:xfrm>
            <a:off x="6803999" y="3546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30秒ぴったり診断</a:t>
            </a:r>
          </a:p>
        </p:txBody>
      </p:sp>
      <p:cxnSp>
        <p:nvCxnSpPr>
          <p:cNvPr id="29" name="Connector 28"/>
          <p:cNvCxnSpPr/>
          <p:nvPr/>
        </p:nvCxnSpPr>
        <p:spPr>
          <a:xfrm>
            <a:off x="3510000" y="3906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642000" y="3906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32000" y="4392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検索のピークは2月と7月（P12）</a:t>
            </a:r>
          </a:p>
        </p:txBody>
      </p:sp>
      <p:sp>
        <p:nvSpPr>
          <p:cNvPr id="32" name="Rounded Rectangle 31"/>
          <p:cNvSpPr/>
          <p:nvPr/>
        </p:nvSpPr>
        <p:spPr>
          <a:xfrm>
            <a:off x="3671999" y="4392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dirty="0" err="1">
                <a:solidFill>
                  <a:srgbClr val="333333"/>
                </a:solidFill>
                <a:latin typeface="メイリオ"/>
                <a:ea typeface="メイリオ"/>
                <a:cs typeface="メイリオ"/>
              </a:rPr>
              <a:t>ピークの前からつながっておく</a:t>
            </a:r>
            <a:endParaRPr sz="1100" b="1" dirty="0">
              <a:solidFill>
                <a:srgbClr val="333333"/>
              </a:solidFill>
              <a:latin typeface="メイリオ"/>
              <a:ea typeface="メイリオ"/>
              <a:cs typeface="メイリオ"/>
            </a:endParaRPr>
          </a:p>
        </p:txBody>
      </p:sp>
      <p:sp>
        <p:nvSpPr>
          <p:cNvPr id="33" name="Rounded Rectangle 32"/>
          <p:cNvSpPr/>
          <p:nvPr/>
        </p:nvSpPr>
        <p:spPr>
          <a:xfrm>
            <a:off x="6803999" y="4392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時期に合わせた企画配信</a:t>
            </a:r>
          </a:p>
        </p:txBody>
      </p:sp>
      <p:cxnSp>
        <p:nvCxnSpPr>
          <p:cNvPr id="34" name="Connector 33"/>
          <p:cNvCxnSpPr/>
          <p:nvPr/>
        </p:nvCxnSpPr>
        <p:spPr>
          <a:xfrm>
            <a:off x="3510000" y="4752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642000" y="4752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32000" y="5292000"/>
            <a:ext cx="9043200" cy="468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診断と資料をきっかけにLINEの友だちになっていただき、比べている間も情報を届け続ける。</a:t>
            </a:r>
          </a:p>
        </p:txBody>
      </p:sp>
    </p:spTree>
    <p:extLst>
      <p:ext uri="{BB962C8B-B14F-4D97-AF65-F5344CB8AC3E}">
        <p14:creationId xmlns:p14="http://schemas.microsoft.com/office/powerpoint/2010/main" val="1772806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現状分析｜各社LINEの今</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50" dirty="0" err="1">
                <a:solidFill>
                  <a:srgbClr val="333333"/>
                </a:solidFill>
                <a:latin typeface="メイリオ"/>
                <a:ea typeface="メイリオ"/>
                <a:cs typeface="メイリオ"/>
              </a:rPr>
              <a:t>大手・中堅の塾は、LINEで保護者の迷いにどこまで応えているか。</a:t>
            </a:r>
          </a:p>
          <a:p>
            <a:pPr algn="l">
              <a:lnSpc>
                <a:spcPct val="128000"/>
              </a:lnSpc>
            </a:pPr>
            <a:r>
              <a:rPr sz="1250" dirty="0" err="1">
                <a:solidFill>
                  <a:srgbClr val="333333"/>
                </a:solidFill>
                <a:latin typeface="メイリオ"/>
                <a:ea typeface="メイリオ"/>
                <a:cs typeface="メイリオ"/>
              </a:rPr>
              <a:t>大手2社（個別教室のトライ・明光義塾）と中堅2社（森塾・ナビ個別指導学院）を実際に確認した。</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出典｜各社LINE公式アカウント（page.line.me・実測）・公式サイト・LINEヤフー for Business 導入事例（明光ネットワークジャパン 2024）2026-09-25取得。「確認できず」＝公開情報で確認できなかったもの</a:t>
            </a:r>
          </a:p>
        </p:txBody>
      </p:sp>
      <p:sp>
        <p:nvSpPr>
          <p:cNvPr id="68" name="Rectangle 67"/>
          <p:cNvSpPr/>
          <p:nvPr/>
        </p:nvSpPr>
        <p:spPr>
          <a:xfrm>
            <a:off x="1835999" y="1494000"/>
            <a:ext cx="1526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FFFFFF"/>
                </a:solidFill>
                <a:latin typeface="メイリオ"/>
                <a:ea typeface="メイリオ"/>
                <a:cs typeface="メイリオ"/>
              </a:rPr>
              <a:t>本部アカウント</a:t>
            </a:r>
          </a:p>
          <a:p>
            <a:pPr algn="ctr"/>
            <a:r>
              <a:rPr sz="950" b="1">
                <a:solidFill>
                  <a:srgbClr val="FFFFFF"/>
                </a:solidFill>
                <a:latin typeface="メイリオ"/>
                <a:ea typeface="メイリオ"/>
                <a:cs typeface="メイリオ"/>
              </a:rPr>
              <a:t>（友だち数）</a:t>
            </a:r>
          </a:p>
        </p:txBody>
      </p:sp>
      <p:sp>
        <p:nvSpPr>
          <p:cNvPr id="69" name="Rectangle 68"/>
          <p:cNvSpPr/>
          <p:nvPr/>
        </p:nvSpPr>
        <p:spPr>
          <a:xfrm>
            <a:off x="3383999" y="1494000"/>
            <a:ext cx="1022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FFFFFF"/>
                </a:solidFill>
                <a:latin typeface="メイリオ"/>
                <a:ea typeface="メイリオ"/>
                <a:cs typeface="メイリオ"/>
              </a:rPr>
              <a:t>教室別の</a:t>
            </a:r>
          </a:p>
          <a:p>
            <a:pPr algn="ctr"/>
            <a:r>
              <a:rPr sz="950" b="1">
                <a:solidFill>
                  <a:srgbClr val="FFFFFF"/>
                </a:solidFill>
                <a:latin typeface="メイリオ"/>
                <a:ea typeface="メイリオ"/>
                <a:cs typeface="メイリオ"/>
              </a:rPr>
              <a:t>アカウント</a:t>
            </a:r>
          </a:p>
        </p:txBody>
      </p:sp>
      <p:sp>
        <p:nvSpPr>
          <p:cNvPr id="70" name="Rectangle 69"/>
          <p:cNvSpPr/>
          <p:nvPr/>
        </p:nvSpPr>
        <p:spPr>
          <a:xfrm>
            <a:off x="4428000" y="1494000"/>
            <a:ext cx="806399"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FFFFFF"/>
                </a:solidFill>
                <a:latin typeface="メイリオ"/>
                <a:ea typeface="メイリオ"/>
                <a:cs typeface="メイリオ"/>
              </a:rPr>
              <a:t>誰向け</a:t>
            </a:r>
          </a:p>
        </p:txBody>
      </p:sp>
      <p:sp>
        <p:nvSpPr>
          <p:cNvPr id="71" name="Rectangle 70"/>
          <p:cNvSpPr/>
          <p:nvPr/>
        </p:nvSpPr>
        <p:spPr>
          <a:xfrm>
            <a:off x="5255999" y="1494000"/>
            <a:ext cx="1382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FFFFFF"/>
                </a:solidFill>
                <a:latin typeface="メイリオ"/>
                <a:ea typeface="メイリオ"/>
                <a:cs typeface="メイリオ"/>
              </a:rPr>
              <a:t>診断</a:t>
            </a:r>
          </a:p>
        </p:txBody>
      </p:sp>
      <p:sp>
        <p:nvSpPr>
          <p:cNvPr id="72" name="Rectangle 71"/>
          <p:cNvSpPr/>
          <p:nvPr/>
        </p:nvSpPr>
        <p:spPr>
          <a:xfrm>
            <a:off x="6659999" y="1494000"/>
            <a:ext cx="1454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FFFFFF"/>
                </a:solidFill>
                <a:latin typeface="メイリオ"/>
                <a:ea typeface="メイリオ"/>
                <a:cs typeface="メイリオ"/>
              </a:rPr>
              <a:t>LINEで資料請求</a:t>
            </a:r>
          </a:p>
          <a:p>
            <a:pPr algn="ctr"/>
            <a:r>
              <a:rPr sz="950" b="1">
                <a:solidFill>
                  <a:srgbClr val="FFFFFF"/>
                </a:solidFill>
                <a:latin typeface="メイリオ"/>
                <a:ea typeface="メイリオ"/>
                <a:cs typeface="メイリオ"/>
              </a:rPr>
              <a:t>・体験予約</a:t>
            </a:r>
          </a:p>
        </p:txBody>
      </p:sp>
      <p:sp>
        <p:nvSpPr>
          <p:cNvPr id="73" name="Rectangle 72"/>
          <p:cNvSpPr/>
          <p:nvPr/>
        </p:nvSpPr>
        <p:spPr>
          <a:xfrm>
            <a:off x="8135999" y="1494000"/>
            <a:ext cx="13176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FFFFFF"/>
                </a:solidFill>
                <a:latin typeface="メイリオ"/>
                <a:ea typeface="メイリオ"/>
                <a:cs typeface="メイリオ"/>
              </a:rPr>
              <a:t>チャット相談</a:t>
            </a:r>
          </a:p>
        </p:txBody>
      </p:sp>
      <p:sp>
        <p:nvSpPr>
          <p:cNvPr id="74" name="Rectangle 73"/>
          <p:cNvSpPr/>
          <p:nvPr/>
        </p:nvSpPr>
        <p:spPr>
          <a:xfrm>
            <a:off x="432000" y="1936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大手</a:t>
            </a:r>
          </a:p>
          <a:p>
            <a:pPr algn="ctr"/>
            <a:r>
              <a:rPr sz="1200" b="1">
                <a:solidFill>
                  <a:srgbClr val="1F285A"/>
                </a:solidFill>
                <a:latin typeface="メイリオ"/>
                <a:ea typeface="メイリオ"/>
                <a:cs typeface="メイリオ"/>
              </a:rPr>
              <a:t>明光義塾</a:t>
            </a:r>
          </a:p>
        </p:txBody>
      </p:sp>
      <p:sp>
        <p:nvSpPr>
          <p:cNvPr id="75" name="Rectangle 74"/>
          <p:cNvSpPr/>
          <p:nvPr/>
        </p:nvSpPr>
        <p:spPr>
          <a:xfrm>
            <a:off x="1835999" y="1936800"/>
            <a:ext cx="1526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333333"/>
                </a:solidFill>
                <a:latin typeface="メイリオ"/>
                <a:ea typeface="メイリオ"/>
                <a:cs typeface="メイリオ"/>
              </a:rPr>
              <a:t>明光義塾</a:t>
            </a:r>
          </a:p>
          <a:p>
            <a:pPr algn="ctr"/>
            <a:r>
              <a:rPr sz="950" b="0">
                <a:solidFill>
                  <a:srgbClr val="333333"/>
                </a:solidFill>
                <a:latin typeface="メイリオ"/>
                <a:ea typeface="メイリオ"/>
                <a:cs typeface="メイリオ"/>
              </a:rPr>
              <a:t>308,344人</a:t>
            </a:r>
          </a:p>
        </p:txBody>
      </p:sp>
      <p:sp>
        <p:nvSpPr>
          <p:cNvPr id="76" name="Rectangle 75"/>
          <p:cNvSpPr/>
          <p:nvPr/>
        </p:nvSpPr>
        <p:spPr>
          <a:xfrm>
            <a:off x="3383999" y="1936800"/>
            <a:ext cx="102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00897B"/>
                </a:solidFill>
                <a:latin typeface="メイリオ"/>
                <a:ea typeface="メイリオ"/>
                <a:cs typeface="メイリオ"/>
              </a:rPr>
              <a:t>あり（多数）</a:t>
            </a:r>
          </a:p>
          <a:p>
            <a:pPr algn="ctr"/>
            <a:r>
              <a:rPr sz="1000" b="0">
                <a:solidFill>
                  <a:srgbClr val="333333"/>
                </a:solidFill>
                <a:latin typeface="メイリオ"/>
                <a:ea typeface="メイリオ"/>
                <a:cs typeface="メイリオ"/>
              </a:rPr>
              <a:t>例：623人</a:t>
            </a:r>
          </a:p>
        </p:txBody>
      </p:sp>
      <p:sp>
        <p:nvSpPr>
          <p:cNvPr id="77" name="Rectangle 76"/>
          <p:cNvSpPr/>
          <p:nvPr/>
        </p:nvSpPr>
        <p:spPr>
          <a:xfrm>
            <a:off x="4428000" y="1936800"/>
            <a:ext cx="806399"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00" b="1">
                <a:solidFill>
                  <a:srgbClr val="00897B"/>
                </a:solidFill>
                <a:latin typeface="メイリオ"/>
                <a:ea typeface="メイリオ"/>
                <a:cs typeface="メイリオ"/>
              </a:rPr>
              <a:t>保護者</a:t>
            </a:r>
          </a:p>
        </p:txBody>
      </p:sp>
      <p:sp>
        <p:nvSpPr>
          <p:cNvPr id="78" name="Rectangle 77"/>
          <p:cNvSpPr/>
          <p:nvPr/>
        </p:nvSpPr>
        <p:spPr>
          <a:xfrm>
            <a:off x="5255999" y="1936800"/>
            <a:ext cx="138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00897B"/>
                </a:solidFill>
                <a:latin typeface="メイリオ"/>
                <a:ea typeface="メイリオ"/>
                <a:cs typeface="メイリオ"/>
              </a:rPr>
              <a:t>あり</a:t>
            </a:r>
          </a:p>
          <a:p>
            <a:pPr algn="ctr"/>
            <a:r>
              <a:rPr sz="900" b="0">
                <a:solidFill>
                  <a:srgbClr val="333333"/>
                </a:solidFill>
                <a:latin typeface="メイリオ"/>
                <a:ea typeface="メイリオ"/>
                <a:cs typeface="メイリオ"/>
              </a:rPr>
              <a:t>タイプ別の勉強法・相性チェック</a:t>
            </a:r>
          </a:p>
        </p:txBody>
      </p:sp>
      <p:sp>
        <p:nvSpPr>
          <p:cNvPr id="79" name="Rectangle 78"/>
          <p:cNvSpPr/>
          <p:nvPr/>
        </p:nvSpPr>
        <p:spPr>
          <a:xfrm>
            <a:off x="6659999" y="1936800"/>
            <a:ext cx="1454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00897B"/>
                </a:solidFill>
                <a:latin typeface="メイリオ"/>
                <a:ea typeface="メイリオ"/>
                <a:cs typeface="メイリオ"/>
              </a:rPr>
              <a:t>あり</a:t>
            </a:r>
          </a:p>
          <a:p>
            <a:pPr algn="ctr"/>
            <a:r>
              <a:rPr sz="850" b="0">
                <a:solidFill>
                  <a:srgbClr val="7F7F7F"/>
                </a:solidFill>
                <a:latin typeface="メイリオ"/>
                <a:ea typeface="メイリオ"/>
                <a:cs typeface="メイリオ"/>
              </a:rPr>
              <a:t>（体験予約はLINEの中で）</a:t>
            </a:r>
          </a:p>
        </p:txBody>
      </p:sp>
      <p:sp>
        <p:nvSpPr>
          <p:cNvPr id="80" name="Rectangle 79"/>
          <p:cNvSpPr/>
          <p:nvPr/>
        </p:nvSpPr>
        <p:spPr>
          <a:xfrm>
            <a:off x="8135999" y="1936800"/>
            <a:ext cx="13176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00897B"/>
                </a:solidFill>
                <a:latin typeface="メイリオ"/>
                <a:ea typeface="メイリオ"/>
                <a:cs typeface="メイリオ"/>
              </a:rPr>
              <a:t>あり</a:t>
            </a:r>
          </a:p>
          <a:p>
            <a:pPr algn="ctr"/>
            <a:r>
              <a:rPr sz="1000" b="0">
                <a:solidFill>
                  <a:srgbClr val="333333"/>
                </a:solidFill>
                <a:latin typeface="メイリオ"/>
                <a:ea typeface="メイリオ"/>
                <a:cs typeface="メイリオ"/>
              </a:rPr>
              <a:t>AIが回答</a:t>
            </a:r>
          </a:p>
        </p:txBody>
      </p:sp>
      <p:sp>
        <p:nvSpPr>
          <p:cNvPr id="81" name="Rectangle 80"/>
          <p:cNvSpPr/>
          <p:nvPr/>
        </p:nvSpPr>
        <p:spPr>
          <a:xfrm>
            <a:off x="432000" y="2638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大手</a:t>
            </a:r>
          </a:p>
          <a:p>
            <a:pPr algn="ctr"/>
            <a:r>
              <a:rPr sz="1200" b="1">
                <a:solidFill>
                  <a:srgbClr val="1F285A"/>
                </a:solidFill>
                <a:latin typeface="メイリオ"/>
                <a:ea typeface="メイリオ"/>
                <a:cs typeface="メイリオ"/>
              </a:rPr>
              <a:t>個別教室のトライ</a:t>
            </a:r>
          </a:p>
        </p:txBody>
      </p:sp>
      <p:sp>
        <p:nvSpPr>
          <p:cNvPr id="82" name="Rectangle 81"/>
          <p:cNvSpPr/>
          <p:nvPr/>
        </p:nvSpPr>
        <p:spPr>
          <a:xfrm>
            <a:off x="1835999" y="2638800"/>
            <a:ext cx="1526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333333"/>
                </a:solidFill>
                <a:latin typeface="メイリオ"/>
                <a:ea typeface="メイリオ"/>
                <a:cs typeface="メイリオ"/>
              </a:rPr>
              <a:t>トライさん</a:t>
            </a:r>
          </a:p>
          <a:p>
            <a:pPr algn="ctr"/>
            <a:r>
              <a:rPr sz="950" b="0">
                <a:solidFill>
                  <a:srgbClr val="333333"/>
                </a:solidFill>
                <a:latin typeface="メイリオ"/>
                <a:ea typeface="メイリオ"/>
                <a:cs typeface="メイリオ"/>
              </a:rPr>
              <a:t>120,131人</a:t>
            </a:r>
          </a:p>
        </p:txBody>
      </p:sp>
      <p:sp>
        <p:nvSpPr>
          <p:cNvPr id="83" name="Rectangle 82"/>
          <p:cNvSpPr/>
          <p:nvPr/>
        </p:nvSpPr>
        <p:spPr>
          <a:xfrm>
            <a:off x="3383999" y="2638800"/>
            <a:ext cx="102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確認できず</a:t>
            </a:r>
          </a:p>
        </p:txBody>
      </p:sp>
      <p:sp>
        <p:nvSpPr>
          <p:cNvPr id="84" name="Rectangle 83"/>
          <p:cNvSpPr/>
          <p:nvPr/>
        </p:nvSpPr>
        <p:spPr>
          <a:xfrm>
            <a:off x="4428000" y="2638800"/>
            <a:ext cx="806399"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333333"/>
                </a:solidFill>
                <a:latin typeface="メイリオ"/>
                <a:ea typeface="メイリオ"/>
                <a:cs typeface="メイリオ"/>
              </a:rPr>
              <a:t>生徒</a:t>
            </a:r>
          </a:p>
          <a:p>
            <a:pPr algn="ctr"/>
            <a:r>
              <a:rPr sz="1000" b="0">
                <a:solidFill>
                  <a:srgbClr val="333333"/>
                </a:solidFill>
                <a:latin typeface="メイリオ"/>
                <a:ea typeface="メイリオ"/>
                <a:cs typeface="メイリオ"/>
              </a:rPr>
              <a:t>（中高生）</a:t>
            </a:r>
          </a:p>
        </p:txBody>
      </p:sp>
      <p:sp>
        <p:nvSpPr>
          <p:cNvPr id="85" name="Rectangle 84"/>
          <p:cNvSpPr/>
          <p:nvPr/>
        </p:nvSpPr>
        <p:spPr>
          <a:xfrm>
            <a:off x="5255999" y="2638800"/>
            <a:ext cx="138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333333"/>
                </a:solidFill>
                <a:latin typeface="メイリオ"/>
                <a:ea typeface="メイリオ"/>
                <a:cs typeface="メイリオ"/>
              </a:rPr>
              <a:t>Webの性格診断あり</a:t>
            </a:r>
          </a:p>
          <a:p>
            <a:pPr algn="ctr"/>
            <a:r>
              <a:rPr sz="900" b="0">
                <a:solidFill>
                  <a:srgbClr val="333333"/>
                </a:solidFill>
                <a:latin typeface="メイリオ"/>
                <a:ea typeface="メイリオ"/>
                <a:cs typeface="メイリオ"/>
              </a:rPr>
              <a:t>LINEでは確認できず</a:t>
            </a:r>
          </a:p>
        </p:txBody>
      </p:sp>
      <p:sp>
        <p:nvSpPr>
          <p:cNvPr id="86" name="Rectangle 85"/>
          <p:cNvSpPr/>
          <p:nvPr/>
        </p:nvSpPr>
        <p:spPr>
          <a:xfrm>
            <a:off x="6659999" y="2638800"/>
            <a:ext cx="1454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7F7F7F"/>
                </a:solidFill>
                <a:latin typeface="メイリオ"/>
                <a:ea typeface="メイリオ"/>
                <a:cs typeface="メイリオ"/>
              </a:rPr>
              <a:t>確認できず</a:t>
            </a:r>
          </a:p>
          <a:p>
            <a:pPr algn="ctr"/>
            <a:r>
              <a:rPr sz="850" b="0">
                <a:solidFill>
                  <a:srgbClr val="7F7F7F"/>
                </a:solidFill>
                <a:latin typeface="メイリオ"/>
                <a:ea typeface="メイリオ"/>
                <a:cs typeface="メイリオ"/>
              </a:rPr>
              <a:t>（Webフォーム）</a:t>
            </a:r>
          </a:p>
        </p:txBody>
      </p:sp>
      <p:sp>
        <p:nvSpPr>
          <p:cNvPr id="87" name="Rectangle 86"/>
          <p:cNvSpPr/>
          <p:nvPr/>
        </p:nvSpPr>
        <p:spPr>
          <a:xfrm>
            <a:off x="8135999" y="2638800"/>
            <a:ext cx="13176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00897B"/>
                </a:solidFill>
                <a:latin typeface="メイリオ"/>
                <a:ea typeface="メイリオ"/>
                <a:cs typeface="メイリオ"/>
              </a:rPr>
              <a:t>あり</a:t>
            </a:r>
          </a:p>
          <a:p>
            <a:pPr algn="ctr"/>
            <a:r>
              <a:rPr sz="1000" b="0">
                <a:solidFill>
                  <a:srgbClr val="333333"/>
                </a:solidFill>
                <a:latin typeface="メイリオ"/>
                <a:ea typeface="メイリオ"/>
                <a:cs typeface="メイリオ"/>
              </a:rPr>
              <a:t>LINE相談窓口</a:t>
            </a:r>
          </a:p>
        </p:txBody>
      </p:sp>
      <p:sp>
        <p:nvSpPr>
          <p:cNvPr id="88" name="Rectangle 87"/>
          <p:cNvSpPr/>
          <p:nvPr/>
        </p:nvSpPr>
        <p:spPr>
          <a:xfrm>
            <a:off x="432000" y="3340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中堅</a:t>
            </a:r>
          </a:p>
          <a:p>
            <a:pPr algn="ctr"/>
            <a:r>
              <a:rPr sz="1200" b="1">
                <a:solidFill>
                  <a:srgbClr val="1F285A"/>
                </a:solidFill>
                <a:latin typeface="メイリオ"/>
                <a:ea typeface="メイリオ"/>
                <a:cs typeface="メイリオ"/>
              </a:rPr>
              <a:t>森塾</a:t>
            </a:r>
          </a:p>
        </p:txBody>
      </p:sp>
      <p:sp>
        <p:nvSpPr>
          <p:cNvPr id="89" name="Rectangle 88"/>
          <p:cNvSpPr/>
          <p:nvPr/>
        </p:nvSpPr>
        <p:spPr>
          <a:xfrm>
            <a:off x="1835999" y="3340800"/>
            <a:ext cx="1526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333333"/>
                </a:solidFill>
                <a:latin typeface="メイリオ"/>
                <a:ea typeface="メイリオ"/>
                <a:cs typeface="メイリオ"/>
              </a:rPr>
              <a:t>運営会社名義</a:t>
            </a:r>
          </a:p>
          <a:p>
            <a:pPr algn="ctr"/>
            <a:r>
              <a:rPr sz="950" b="0">
                <a:solidFill>
                  <a:srgbClr val="333333"/>
                </a:solidFill>
                <a:latin typeface="メイリオ"/>
                <a:ea typeface="メイリオ"/>
                <a:cs typeface="メイリオ"/>
              </a:rPr>
              <a:t>（スプリックス）</a:t>
            </a:r>
          </a:p>
          <a:p>
            <a:pPr algn="ctr"/>
            <a:r>
              <a:rPr sz="950" b="0">
                <a:solidFill>
                  <a:srgbClr val="333333"/>
                </a:solidFill>
                <a:latin typeface="メイリオ"/>
                <a:ea typeface="メイリオ"/>
                <a:cs typeface="メイリオ"/>
              </a:rPr>
              <a:t>2,043,233人</a:t>
            </a:r>
          </a:p>
        </p:txBody>
      </p:sp>
      <p:sp>
        <p:nvSpPr>
          <p:cNvPr id="90" name="Rectangle 89"/>
          <p:cNvSpPr/>
          <p:nvPr/>
        </p:nvSpPr>
        <p:spPr>
          <a:xfrm>
            <a:off x="3383999" y="3340800"/>
            <a:ext cx="102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見つからず</a:t>
            </a:r>
          </a:p>
        </p:txBody>
      </p:sp>
      <p:sp>
        <p:nvSpPr>
          <p:cNvPr id="91" name="Rectangle 90"/>
          <p:cNvSpPr/>
          <p:nvPr/>
        </p:nvSpPr>
        <p:spPr>
          <a:xfrm>
            <a:off x="4428000" y="3340800"/>
            <a:ext cx="806399"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00" b="1">
                <a:solidFill>
                  <a:srgbClr val="7F7F7F"/>
                </a:solidFill>
                <a:latin typeface="メイリオ"/>
                <a:ea typeface="メイリオ"/>
                <a:cs typeface="メイリオ"/>
              </a:rPr>
              <a:t>確認できず</a:t>
            </a:r>
          </a:p>
        </p:txBody>
      </p:sp>
      <p:sp>
        <p:nvSpPr>
          <p:cNvPr id="92" name="Rectangle 91"/>
          <p:cNvSpPr/>
          <p:nvPr/>
        </p:nvSpPr>
        <p:spPr>
          <a:xfrm>
            <a:off x="5255999" y="3340800"/>
            <a:ext cx="138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確認できず</a:t>
            </a:r>
          </a:p>
        </p:txBody>
      </p:sp>
      <p:sp>
        <p:nvSpPr>
          <p:cNvPr id="93" name="Rectangle 92"/>
          <p:cNvSpPr/>
          <p:nvPr/>
        </p:nvSpPr>
        <p:spPr>
          <a:xfrm>
            <a:off x="6659999" y="3340800"/>
            <a:ext cx="1454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7F7F7F"/>
                </a:solidFill>
                <a:latin typeface="メイリオ"/>
                <a:ea typeface="メイリオ"/>
                <a:cs typeface="メイリオ"/>
              </a:rPr>
              <a:t>サイトに記載なし</a:t>
            </a:r>
          </a:p>
          <a:p>
            <a:pPr algn="ctr"/>
            <a:r>
              <a:rPr sz="850" b="0">
                <a:solidFill>
                  <a:srgbClr val="7F7F7F"/>
                </a:solidFill>
                <a:latin typeface="メイリオ"/>
                <a:ea typeface="メイリオ"/>
                <a:cs typeface="メイリオ"/>
              </a:rPr>
              <a:t>（Webフォームのみ）</a:t>
            </a:r>
          </a:p>
        </p:txBody>
      </p:sp>
      <p:sp>
        <p:nvSpPr>
          <p:cNvPr id="94" name="Rectangle 93"/>
          <p:cNvSpPr/>
          <p:nvPr/>
        </p:nvSpPr>
        <p:spPr>
          <a:xfrm>
            <a:off x="8135999" y="3340800"/>
            <a:ext cx="13176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確認できず</a:t>
            </a:r>
          </a:p>
        </p:txBody>
      </p:sp>
      <p:sp>
        <p:nvSpPr>
          <p:cNvPr id="95" name="Rectangle 94"/>
          <p:cNvSpPr/>
          <p:nvPr/>
        </p:nvSpPr>
        <p:spPr>
          <a:xfrm>
            <a:off x="432000" y="4042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中堅</a:t>
            </a:r>
          </a:p>
          <a:p>
            <a:pPr algn="ctr"/>
            <a:r>
              <a:rPr sz="1200" b="1">
                <a:solidFill>
                  <a:srgbClr val="1F285A"/>
                </a:solidFill>
                <a:latin typeface="メイリオ"/>
                <a:ea typeface="メイリオ"/>
                <a:cs typeface="メイリオ"/>
              </a:rPr>
              <a:t>ナビ個別指導学院</a:t>
            </a:r>
          </a:p>
        </p:txBody>
      </p:sp>
      <p:sp>
        <p:nvSpPr>
          <p:cNvPr id="96" name="Rectangle 95"/>
          <p:cNvSpPr/>
          <p:nvPr/>
        </p:nvSpPr>
        <p:spPr>
          <a:xfrm>
            <a:off x="1835999" y="4042800"/>
            <a:ext cx="1526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見つからず</a:t>
            </a:r>
          </a:p>
        </p:txBody>
      </p:sp>
      <p:sp>
        <p:nvSpPr>
          <p:cNvPr id="97" name="Rectangle 96"/>
          <p:cNvSpPr/>
          <p:nvPr/>
        </p:nvSpPr>
        <p:spPr>
          <a:xfrm>
            <a:off x="3383999" y="4042800"/>
            <a:ext cx="102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見つからず</a:t>
            </a:r>
          </a:p>
        </p:txBody>
      </p:sp>
      <p:sp>
        <p:nvSpPr>
          <p:cNvPr id="98" name="Rectangle 97"/>
          <p:cNvSpPr/>
          <p:nvPr/>
        </p:nvSpPr>
        <p:spPr>
          <a:xfrm>
            <a:off x="4428000" y="4042800"/>
            <a:ext cx="806399"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00" b="1">
                <a:solidFill>
                  <a:srgbClr val="7F7F7F"/>
                </a:solidFill>
                <a:latin typeface="メイリオ"/>
                <a:ea typeface="メイリオ"/>
                <a:cs typeface="メイリオ"/>
              </a:rPr>
              <a:t>―</a:t>
            </a:r>
          </a:p>
        </p:txBody>
      </p:sp>
      <p:sp>
        <p:nvSpPr>
          <p:cNvPr id="99" name="Rectangle 98"/>
          <p:cNvSpPr/>
          <p:nvPr/>
        </p:nvSpPr>
        <p:spPr>
          <a:xfrm>
            <a:off x="5255999" y="4042800"/>
            <a:ext cx="138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a:t>
            </a:r>
          </a:p>
        </p:txBody>
      </p:sp>
      <p:sp>
        <p:nvSpPr>
          <p:cNvPr id="100" name="Rectangle 99"/>
          <p:cNvSpPr/>
          <p:nvPr/>
        </p:nvSpPr>
        <p:spPr>
          <a:xfrm>
            <a:off x="6659999" y="4042800"/>
            <a:ext cx="1454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7F7F7F"/>
                </a:solidFill>
                <a:latin typeface="メイリオ"/>
                <a:ea typeface="メイリオ"/>
                <a:cs typeface="メイリオ"/>
              </a:rPr>
              <a:t>サイトに記載なし</a:t>
            </a:r>
          </a:p>
          <a:p>
            <a:pPr algn="ctr"/>
            <a:r>
              <a:rPr sz="850" b="0">
                <a:solidFill>
                  <a:srgbClr val="7F7F7F"/>
                </a:solidFill>
                <a:latin typeface="メイリオ"/>
                <a:ea typeface="メイリオ"/>
                <a:cs typeface="メイリオ"/>
              </a:rPr>
              <a:t>（Webフォームのみ）</a:t>
            </a:r>
          </a:p>
        </p:txBody>
      </p:sp>
      <p:sp>
        <p:nvSpPr>
          <p:cNvPr id="101" name="Rectangle 100"/>
          <p:cNvSpPr/>
          <p:nvPr/>
        </p:nvSpPr>
        <p:spPr>
          <a:xfrm>
            <a:off x="8135999" y="4042800"/>
            <a:ext cx="13176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a:t>
            </a:r>
          </a:p>
        </p:txBody>
      </p:sp>
      <p:sp>
        <p:nvSpPr>
          <p:cNvPr id="102" name="Rounded Rectangle 101"/>
          <p:cNvSpPr/>
          <p:nvPr/>
        </p:nvSpPr>
        <p:spPr>
          <a:xfrm>
            <a:off x="432000" y="4788000"/>
            <a:ext cx="4428000" cy="990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1050" b="1">
                <a:solidFill>
                  <a:srgbClr val="1F285A"/>
                </a:solidFill>
                <a:latin typeface="メイリオ"/>
                <a:ea typeface="メイリオ"/>
                <a:cs typeface="メイリオ"/>
              </a:rPr>
              <a:t>明光義塾はLINEで成果を出している（公式事例・P15）</a:t>
            </a:r>
          </a:p>
          <a:p>
            <a:pPr algn="l"/>
            <a:r>
              <a:rPr sz="950" b="0">
                <a:solidFill>
                  <a:srgbClr val="333333"/>
                </a:solidFill>
                <a:latin typeface="メイリオ"/>
                <a:ea typeface="メイリオ"/>
                <a:cs typeface="メイリオ"/>
              </a:rPr>
              <a:t>・サイトの離脱時ポップアップから友だち追加</a:t>
            </a:r>
          </a:p>
          <a:p>
            <a:pPr algn="l"/>
            <a:r>
              <a:rPr sz="950" b="0">
                <a:solidFill>
                  <a:srgbClr val="333333"/>
                </a:solidFill>
                <a:latin typeface="メイリオ"/>
                <a:ea typeface="メイリオ"/>
                <a:cs typeface="メイリオ"/>
              </a:rPr>
              <a:t>・約5カ月で約20万人の友だち（うち約15万人はスタンプの二次拡散）</a:t>
            </a:r>
          </a:p>
          <a:p>
            <a:pPr algn="l"/>
            <a:r>
              <a:rPr sz="950" b="0">
                <a:solidFill>
                  <a:srgbClr val="333333"/>
                </a:solidFill>
                <a:latin typeface="メイリオ"/>
                <a:ea typeface="メイリオ"/>
                <a:cs typeface="メイリオ"/>
              </a:rPr>
              <a:t>・資料請求が前年比120％ほど（2023年6〜7月）</a:t>
            </a:r>
          </a:p>
        </p:txBody>
      </p:sp>
      <p:sp>
        <p:nvSpPr>
          <p:cNvPr id="103" name="Rounded Rectangle 102"/>
          <p:cNvSpPr/>
          <p:nvPr/>
        </p:nvSpPr>
        <p:spPr>
          <a:xfrm>
            <a:off x="5047200" y="4788000"/>
            <a:ext cx="4428000" cy="990000"/>
          </a:xfrm>
          <a:prstGeom prst="roundRect">
            <a:avLst>
              <a:gd name="adj" fmla="val 8000"/>
            </a:avLst>
          </a:prstGeom>
          <a:solidFill>
            <a:srgbClr val="E4E9F2"/>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1050" b="1">
                <a:solidFill>
                  <a:srgbClr val="333333"/>
                </a:solidFill>
                <a:latin typeface="メイリオ"/>
                <a:ea typeface="メイリオ"/>
                <a:cs typeface="メイリオ"/>
              </a:rPr>
              <a:t>差がつくところ</a:t>
            </a:r>
          </a:p>
          <a:p>
            <a:pPr algn="l"/>
            <a:r>
              <a:rPr sz="950" b="0">
                <a:solidFill>
                  <a:srgbClr val="333333"/>
                </a:solidFill>
                <a:latin typeface="メイリオ"/>
                <a:ea typeface="メイリオ"/>
                <a:cs typeface="メイリオ"/>
              </a:rPr>
              <a:t>・保護者向けに「診断 → 体験予約」をLINEの中で</a:t>
            </a:r>
          </a:p>
          <a:p>
            <a:pPr algn="l"/>
            <a:r>
              <a:rPr sz="950" b="0">
                <a:solidFill>
                  <a:srgbClr val="333333"/>
                </a:solidFill>
                <a:latin typeface="メイリオ"/>
                <a:ea typeface="メイリオ"/>
                <a:cs typeface="メイリオ"/>
              </a:rPr>
              <a:t>　つないでいるのは、確認した4社では明光義塾だけ</a:t>
            </a:r>
          </a:p>
          <a:p>
            <a:pPr algn="l"/>
            <a:r>
              <a:rPr sz="950" b="0">
                <a:solidFill>
                  <a:srgbClr val="333333"/>
                </a:solidFill>
                <a:latin typeface="メイリオ"/>
                <a:ea typeface="メイリオ"/>
                <a:cs typeface="メイリオ"/>
              </a:rPr>
              <a:t>・トライは生徒向け。森塾・ナビは公式サイトでLINEの導線を確認できなかった</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保護者向けに、診断から体験予約までをLINEでつないでいる塾は、まだ少ない。</a:t>
            </a:r>
          </a:p>
        </p:txBody>
      </p:sp>
    </p:spTree>
    <p:extLst>
      <p:ext uri="{BB962C8B-B14F-4D97-AF65-F5344CB8AC3E}">
        <p14:creationId xmlns:p14="http://schemas.microsoft.com/office/powerpoint/2010/main" val="406932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運用の参考事例｜明光義塾</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LINEで資料請求を伸ばした塾の事例（LINEヤフー公式の導入事例）。</a:t>
            </a:r>
          </a:p>
          <a:p>
            <a:pPr algn="l">
              <a:lnSpc>
                <a:spcPct val="128000"/>
              </a:lnSpc>
            </a:pPr>
            <a:r>
              <a:rPr sz="1200" dirty="0" err="1">
                <a:solidFill>
                  <a:srgbClr val="333333"/>
                </a:solidFill>
                <a:latin typeface="メイリオ"/>
                <a:ea typeface="メイリオ"/>
                <a:cs typeface="メイリオ"/>
              </a:rPr>
              <a:t>「塾はすぐには申し込まれない」という前提で、サイトから友だちになっていただき、比べている間をLINEで支えている。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出典｜LINEヤフー for Business 導入事例 明光義塾（2024年4月5日）。友だち数：page.line.me（2026-09-25実測）</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大手でも、取り組みの軸は「友だちになっていただき、比べている間をLINEで支える」こと。</a:t>
            </a:r>
          </a:p>
        </p:txBody>
      </p:sp>
      <p:sp>
        <p:nvSpPr>
          <p:cNvPr id="105" name="Rounded Rectangle 104"/>
          <p:cNvSpPr/>
          <p:nvPr/>
        </p:nvSpPr>
        <p:spPr>
          <a:xfrm>
            <a:off x="429768" y="1508760"/>
            <a:ext cx="2880360" cy="960120"/>
          </a:xfrm>
          <a:prstGeom prst="roundRect">
            <a:avLst>
              <a:gd name="adj" fmla="val 6000"/>
            </a:avLst>
          </a:prstGeom>
          <a:solidFill>
            <a:srgbClr val="F4F7FF"/>
          </a:solidFill>
          <a:ln w="9525">
            <a:solidFill>
              <a:srgbClr val="D9D9D9"/>
            </a:solidFill>
          </a:ln>
        </p:spPr>
        <p:txBody>
          <a:bodyPr wrap="square" lIns="73152" tIns="36576" rIns="73152" bIns="36576" rtlCol="0" anchor="ctr">
            <a:noAutofit/>
          </a:bodyPr>
          <a:lstStyle/>
          <a:p>
            <a:pPr algn="ctr">
              <a:lnSpc>
                <a:spcPct val="100000"/>
              </a:lnSpc>
              <a:buNone/>
            </a:pPr>
            <a:r>
              <a:rPr lang="ja-JP" altLang="en-US" sz="1000" b="1" dirty="0">
                <a:solidFill>
                  <a:srgbClr val="1F285A"/>
                </a:solidFill>
                <a:latin typeface="メイリオ" panose="020B0604030504040204" pitchFamily="50" charset="-128"/>
                <a:ea typeface="メイリオ" panose="020B0604030504040204" pitchFamily="50" charset="-128"/>
              </a:rPr>
              <a:t>友だち数</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30.8万人</a:t>
            </a:r>
            <a:endParaRPr lang="ja-JP" altLang="en-US" sz="1200" dirty="0"/>
          </a:p>
          <a:p>
            <a:pPr algn="ctr">
              <a:lnSpc>
                <a:spcPct val="100000"/>
              </a:lnSpc>
              <a:buNone/>
            </a:pPr>
            <a:r>
              <a:rPr lang="ja-JP" altLang="en-US" sz="850" b="0" dirty="0">
                <a:solidFill>
                  <a:srgbClr val="595959"/>
                </a:solidFill>
                <a:latin typeface="メイリオ" panose="020B0604030504040204" pitchFamily="50" charset="-128"/>
                <a:ea typeface="メイリオ" panose="020B0604030504040204" pitchFamily="50" charset="-128"/>
              </a:rPr>
              <a:t>2026年9月の実測</a:t>
            </a:r>
            <a:endParaRPr lang="ja-JP" altLang="en-US" sz="1200" dirty="0"/>
          </a:p>
        </p:txBody>
      </p:sp>
      <p:sp>
        <p:nvSpPr>
          <p:cNvPr id="106" name="Rounded Rectangle 105"/>
          <p:cNvSpPr/>
          <p:nvPr/>
        </p:nvSpPr>
        <p:spPr>
          <a:xfrm>
            <a:off x="3511296" y="1508760"/>
            <a:ext cx="2880360" cy="960120"/>
          </a:xfrm>
          <a:prstGeom prst="roundRect">
            <a:avLst>
              <a:gd name="adj" fmla="val 6000"/>
            </a:avLst>
          </a:prstGeom>
          <a:solidFill>
            <a:srgbClr val="F4F7FF"/>
          </a:solidFill>
          <a:ln w="9525">
            <a:solidFill>
              <a:srgbClr val="D9D9D9"/>
            </a:solidFill>
          </a:ln>
        </p:spPr>
        <p:txBody>
          <a:bodyPr wrap="square" lIns="73152" tIns="36576" rIns="73152" bIns="36576" rtlCol="0" anchor="ctr">
            <a:noAutofit/>
          </a:bodyPr>
          <a:lstStyle/>
          <a:p>
            <a:pPr algn="ctr">
              <a:lnSpc>
                <a:spcPct val="100000"/>
              </a:lnSpc>
              <a:buNone/>
            </a:pPr>
            <a:r>
              <a:rPr lang="ja-JP" altLang="en-US" sz="1000" b="1" dirty="0">
                <a:solidFill>
                  <a:srgbClr val="1F285A"/>
                </a:solidFill>
                <a:latin typeface="メイリオ" panose="020B0604030504040204" pitchFamily="50" charset="-128"/>
                <a:ea typeface="メイリオ" panose="020B0604030504040204" pitchFamily="50" charset="-128"/>
              </a:rPr>
              <a:t>スタンプ施策の約5か月</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約20万人増</a:t>
            </a:r>
            <a:endParaRPr lang="ja-JP" altLang="en-US" sz="1200" dirty="0"/>
          </a:p>
          <a:p>
            <a:pPr algn="ctr">
              <a:lnSpc>
                <a:spcPct val="100000"/>
              </a:lnSpc>
              <a:buNone/>
            </a:pPr>
            <a:r>
              <a:rPr lang="ja-JP" altLang="en-US" sz="850" b="0" dirty="0">
                <a:solidFill>
                  <a:srgbClr val="595959"/>
                </a:solidFill>
                <a:latin typeface="メイリオ" panose="020B0604030504040204" pitchFamily="50" charset="-128"/>
                <a:ea typeface="メイリオ" panose="020B0604030504040204" pitchFamily="50" charset="-128"/>
              </a:rPr>
              <a:t>うち約15万人は友だちからの広がり</a:t>
            </a:r>
            <a:endParaRPr lang="ja-JP" altLang="en-US" sz="1200" dirty="0"/>
          </a:p>
        </p:txBody>
      </p:sp>
      <p:sp>
        <p:nvSpPr>
          <p:cNvPr id="107" name="Rounded Rectangle 106"/>
          <p:cNvSpPr/>
          <p:nvPr/>
        </p:nvSpPr>
        <p:spPr>
          <a:xfrm>
            <a:off x="6592824" y="1508760"/>
            <a:ext cx="2880360" cy="960120"/>
          </a:xfrm>
          <a:prstGeom prst="roundRect">
            <a:avLst>
              <a:gd name="adj" fmla="val 6000"/>
            </a:avLst>
          </a:prstGeom>
          <a:solidFill>
            <a:srgbClr val="F4F7FF"/>
          </a:solidFill>
          <a:ln w="9525">
            <a:solidFill>
              <a:srgbClr val="D9D9D9"/>
            </a:solidFill>
          </a:ln>
        </p:spPr>
        <p:txBody>
          <a:bodyPr wrap="square" lIns="73152" tIns="36576" rIns="73152" bIns="36576" rtlCol="0" anchor="ctr">
            <a:noAutofit/>
          </a:bodyPr>
          <a:lstStyle/>
          <a:p>
            <a:pPr algn="ctr">
              <a:lnSpc>
                <a:spcPct val="100000"/>
              </a:lnSpc>
              <a:buNone/>
            </a:pPr>
            <a:r>
              <a:rPr lang="ja-JP" altLang="en-US" sz="1000" b="1" dirty="0">
                <a:solidFill>
                  <a:srgbClr val="1F285A"/>
                </a:solidFill>
                <a:latin typeface="メイリオ" panose="020B0604030504040204" pitchFamily="50" charset="-128"/>
                <a:ea typeface="メイリオ" panose="020B0604030504040204" pitchFamily="50" charset="-128"/>
              </a:rPr>
              <a:t>資料請求（2023年6〜7月）</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前年比 約120%</a:t>
            </a:r>
            <a:endParaRPr lang="ja-JP" altLang="en-US" sz="1200" dirty="0"/>
          </a:p>
          <a:p>
            <a:pPr algn="ctr">
              <a:lnSpc>
                <a:spcPct val="100000"/>
              </a:lnSpc>
              <a:buNone/>
            </a:pPr>
            <a:r>
              <a:rPr lang="ja-JP" altLang="en-US" sz="850" b="0" dirty="0">
                <a:solidFill>
                  <a:srgbClr val="595959"/>
                </a:solidFill>
                <a:latin typeface="メイリオ" panose="020B0604030504040204" pitchFamily="50" charset="-128"/>
                <a:ea typeface="メイリオ" panose="020B0604030504040204" pitchFamily="50" charset="-128"/>
              </a:rPr>
              <a:t>スタンプ施策の後半2か月</a:t>
            </a:r>
            <a:endParaRPr lang="ja-JP" altLang="en-US" sz="1200" dirty="0"/>
          </a:p>
        </p:txBody>
      </p:sp>
      <p:sp>
        <p:nvSpPr>
          <p:cNvPr id="108" name="Rectangle 107"/>
          <p:cNvSpPr/>
          <p:nvPr/>
        </p:nvSpPr>
        <p:spPr>
          <a:xfrm>
            <a:off x="429768" y="2606040"/>
            <a:ext cx="9043416" cy="640080"/>
          </a:xfrm>
          <a:prstGeom prst="rect">
            <a:avLst/>
          </a:prstGeom>
          <a:solidFill>
            <a:srgbClr val="FFFFFF"/>
          </a:solidFill>
          <a:ln w="9525">
            <a:solidFill>
              <a:srgbClr val="D9D9D9"/>
            </a:solidFill>
          </a:ln>
        </p:spPr>
        <p:txBody>
          <a:bodyPr wrap="square" lIns="128016" tIns="45720" rIns="128016" bIns="45720" rtlCol="0" anchor="ctr">
            <a:noAutofit/>
          </a:bodyPr>
          <a:lstStyle/>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「学習塾は他塾と念入りに比較検討されるお客さまが多く、</a:t>
            </a:r>
            <a:br>
              <a:rPr lang="ja-JP" altLang="en-US" sz="1000" b="0" dirty="0">
                <a:solidFill>
                  <a:srgbClr val="333333"/>
                </a:solidFill>
                <a:latin typeface="メイリオ" panose="020B0604030504040204" pitchFamily="50" charset="-128"/>
                <a:ea typeface="メイリオ" panose="020B0604030504040204" pitchFamily="50" charset="-128"/>
              </a:rPr>
            </a:br>
            <a:r>
              <a:rPr lang="ja-JP" altLang="en-US" sz="1000" b="0" dirty="0">
                <a:solidFill>
                  <a:srgbClr val="333333"/>
                </a:solidFill>
                <a:latin typeface="メイリオ" panose="020B0604030504040204" pitchFamily="50" charset="-128"/>
                <a:ea typeface="メイリオ" panose="020B0604030504040204" pitchFamily="50" charset="-128"/>
              </a:rPr>
              <a:t>Webサイトを訪れてすぐに資料請求や体験授業の申し込みなどのCV（コンバージョン）につながるケースはそこまで多くありません」</a:t>
            </a:r>
            <a:endParaRPr lang="ja-JP" altLang="en-US" sz="1000" dirty="0"/>
          </a:p>
          <a:p>
            <a:pPr algn="l">
              <a:lnSpc>
                <a:spcPct val="105000"/>
              </a:lnSpc>
              <a:buNone/>
            </a:pPr>
            <a:r>
              <a:rPr lang="ja-JP" altLang="en-US" sz="900" b="0" dirty="0">
                <a:solidFill>
                  <a:srgbClr val="595959"/>
                </a:solidFill>
                <a:latin typeface="メイリオ" panose="020B0604030504040204" pitchFamily="50" charset="-128"/>
                <a:ea typeface="メイリオ" panose="020B0604030504040204" pitchFamily="50" charset="-128"/>
              </a:rPr>
              <a:t>― 明光ネットワークジャパン ご担当者（公式事例より）</a:t>
            </a:r>
            <a:endParaRPr lang="ja-JP" altLang="en-US" sz="1000" dirty="0"/>
          </a:p>
        </p:txBody>
      </p:sp>
      <p:sp>
        <p:nvSpPr>
          <p:cNvPr id="109" name="Rectangle 108"/>
          <p:cNvSpPr/>
          <p:nvPr/>
        </p:nvSpPr>
        <p:spPr>
          <a:xfrm>
            <a:off x="429768" y="3383280"/>
            <a:ext cx="9043416" cy="274320"/>
          </a:xfrm>
          <a:prstGeom prst="rect">
            <a:avLst/>
          </a:prstGeom>
          <a:noFill/>
          <a:ln>
            <a:noFill/>
          </a:ln>
        </p:spPr>
        <p:txBody>
          <a:bodyPr wrap="square" lIns="0" tIns="0" rIns="0" bIns="0" rtlCol="0" anchor="ctr">
            <a:noAutofit/>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公式事例（2023年）の施策の流れ</a:t>
            </a:r>
            <a:endParaRPr lang="ja-JP" altLang="en-US" sz="1300" dirty="0"/>
          </a:p>
        </p:txBody>
      </p:sp>
      <p:sp>
        <p:nvSpPr>
          <p:cNvPr id="110" name="Rectangle 109"/>
          <p:cNvSpPr/>
          <p:nvPr/>
        </p:nvSpPr>
        <p:spPr>
          <a:xfrm>
            <a:off x="429768"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初回訪問時・離脱時の</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ポップアップから</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友だち追加</a:t>
            </a:r>
            <a:endParaRPr lang="ja-JP" altLang="en-US" sz="1150" dirty="0"/>
          </a:p>
        </p:txBody>
      </p:sp>
      <p:sp>
        <p:nvSpPr>
          <p:cNvPr id="111" name="Rounded Rectangle 110"/>
          <p:cNvSpPr/>
          <p:nvPr/>
        </p:nvSpPr>
        <p:spPr>
          <a:xfrm>
            <a:off x="429768"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1　サイトで</a:t>
            </a:r>
            <a:endParaRPr lang="ja-JP" altLang="en-US" sz="1100" dirty="0"/>
          </a:p>
        </p:txBody>
      </p:sp>
      <p:sp>
        <p:nvSpPr>
          <p:cNvPr id="112" name="Rectangle 111"/>
          <p:cNvSpPr/>
          <p:nvPr/>
        </p:nvSpPr>
        <p:spPr>
          <a:xfrm>
            <a:off x="2718054"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チャットと配信で</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良さ・他塾との違いを</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じっくり伝える</a:t>
            </a:r>
            <a:endParaRPr lang="ja-JP" altLang="en-US" sz="1150" dirty="0"/>
          </a:p>
        </p:txBody>
      </p:sp>
      <p:sp>
        <p:nvSpPr>
          <p:cNvPr id="113" name="Rounded Rectangle 112"/>
          <p:cNvSpPr/>
          <p:nvPr/>
        </p:nvSpPr>
        <p:spPr>
          <a:xfrm>
            <a:off x="2718054"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2　追加のあと</a:t>
            </a:r>
            <a:endParaRPr lang="ja-JP" altLang="en-US" sz="1100" dirty="0"/>
          </a:p>
        </p:txBody>
      </p:sp>
      <p:sp>
        <p:nvSpPr>
          <p:cNvPr id="114" name="Rectangle 113"/>
          <p:cNvSpPr/>
          <p:nvPr/>
        </p:nvSpPr>
        <p:spPr>
          <a:xfrm>
            <a:off x="5006340"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タップで答えるアンケートに</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答えるとスタンプを配布</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 友だちから広がる</a:t>
            </a:r>
            <a:endParaRPr lang="ja-JP" altLang="en-US" sz="1150" dirty="0"/>
          </a:p>
        </p:txBody>
      </p:sp>
      <p:sp>
        <p:nvSpPr>
          <p:cNvPr id="115" name="Rounded Rectangle 114"/>
          <p:cNvSpPr/>
          <p:nvPr/>
        </p:nvSpPr>
        <p:spPr>
          <a:xfrm>
            <a:off x="5006340"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3　スタンプで</a:t>
            </a:r>
            <a:endParaRPr lang="ja-JP" altLang="en-US" sz="1100" dirty="0"/>
          </a:p>
        </p:txBody>
      </p:sp>
      <p:sp>
        <p:nvSpPr>
          <p:cNvPr id="116" name="Rectangle 115"/>
          <p:cNvSpPr/>
          <p:nvPr/>
        </p:nvSpPr>
        <p:spPr>
          <a:xfrm>
            <a:off x="7294626"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回答をもとに、</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まだ塾に通っていない</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お子さま・保護者に絞る</a:t>
            </a:r>
            <a:endParaRPr lang="ja-JP" altLang="en-US" sz="1150" dirty="0"/>
          </a:p>
        </p:txBody>
      </p:sp>
      <p:sp>
        <p:nvSpPr>
          <p:cNvPr id="117" name="Rounded Rectangle 116"/>
          <p:cNvSpPr/>
          <p:nvPr/>
        </p:nvSpPr>
        <p:spPr>
          <a:xfrm>
            <a:off x="7294626"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4　配信で</a:t>
            </a:r>
            <a:endParaRPr lang="ja-JP" altLang="en-US" sz="1100" dirty="0"/>
          </a:p>
        </p:txBody>
      </p:sp>
      <p:sp>
        <p:nvSpPr>
          <p:cNvPr id="118" name="Rectangle 117"/>
          <p:cNvSpPr/>
          <p:nvPr/>
        </p:nvSpPr>
        <p:spPr>
          <a:xfrm>
            <a:off x="429768" y="4892040"/>
            <a:ext cx="9043416" cy="457200"/>
          </a:xfrm>
          <a:prstGeom prst="rect">
            <a:avLst/>
          </a:prstGeom>
          <a:noFill/>
          <a:ln>
            <a:noFill/>
          </a:ln>
        </p:spPr>
        <p:txBody>
          <a:bodyPr wrap="square" lIns="0" tIns="0" rIns="0" bIns="0" rtlCol="0" anchor="ctr">
            <a:noAutofit/>
          </a:bodyPr>
          <a:lstStyle/>
          <a:p>
            <a:pPr algn="l">
              <a:lnSpc>
                <a:spcPct val="100000"/>
              </a:lnSpc>
              <a:buNone/>
            </a:pPr>
            <a:r>
              <a:rPr lang="ja-JP" altLang="en-US" sz="900" b="0" dirty="0">
                <a:solidFill>
                  <a:srgbClr val="595959"/>
                </a:solidFill>
                <a:latin typeface="メイリオ" panose="020B0604030504040204" pitchFamily="50" charset="-128"/>
                <a:ea typeface="メイリオ" panose="020B0604030504040204" pitchFamily="50" charset="-128"/>
              </a:rPr>
              <a:t>※ スタンプの広がりで友だちになり、アンケートに答えていない方には、後日クイズ形式の配信で回答を促し、55%が反応。</a:t>
            </a:r>
            <a:endParaRPr lang="ja-JP" altLang="en-US" sz="900" dirty="0"/>
          </a:p>
          <a:p>
            <a:pPr algn="l">
              <a:lnSpc>
                <a:spcPct val="100000"/>
              </a:lnSpc>
              <a:buNone/>
            </a:pPr>
            <a:r>
              <a:rPr lang="ja-JP" altLang="en-US" sz="900" b="0" dirty="0">
                <a:solidFill>
                  <a:srgbClr val="595959"/>
                </a:solidFill>
                <a:latin typeface="メイリオ" panose="020B0604030504040204" pitchFamily="50" charset="-128"/>
                <a:ea typeface="メイリオ" panose="020B0604030504040204" pitchFamily="50" charset="-128"/>
              </a:rPr>
              <a:t>※ 友だちが増えても、ブロック率は施策前とほぼ同じ。友だち集めにはLINE広告（友だち追加）も使用。チャットの接客は「ジールス」（株式会社Zeals）。</a:t>
            </a:r>
            <a:endParaRPr lang="ja-JP" altLang="en-US" sz="900" dirty="0"/>
          </a:p>
        </p:txBody>
      </p:sp>
    </p:spTree>
    <p:extLst>
      <p:ext uri="{BB962C8B-B14F-4D97-AF65-F5344CB8AC3E}">
        <p14:creationId xmlns:p14="http://schemas.microsoft.com/office/powerpoint/2010/main" val="1864747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明光義塾の実際の画面</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50" dirty="0" err="1">
                <a:solidFill>
                  <a:srgbClr val="333333"/>
                </a:solidFill>
                <a:latin typeface="メイリオ"/>
                <a:ea typeface="メイリオ"/>
                <a:cs typeface="メイリオ"/>
              </a:rPr>
              <a:t>友だち追加の直後に、30秒の相性チェックと「このままLINEで無料体験の予約」を案内している。</a:t>
            </a:r>
          </a:p>
          <a:p>
            <a:pPr algn="l">
              <a:lnSpc>
                <a:spcPct val="128000"/>
              </a:lnSpc>
            </a:pPr>
            <a:r>
              <a:rPr sz="1250" dirty="0" err="1">
                <a:solidFill>
                  <a:srgbClr val="333333"/>
                </a:solidFill>
                <a:latin typeface="メイリオ"/>
                <a:ea typeface="メイリオ"/>
                <a:cs typeface="メイリオ"/>
              </a:rPr>
              <a:t>リッチメニューの一番大きい枠は「授業料シミュレーション」。</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画面：明光義塾 LINE公式アカウント（2026-10-19 弊社で友だち追加して確認）</a:t>
            </a:r>
          </a:p>
        </p:txBody>
      </p:sp>
      <p:sp>
        <p:nvSpPr>
          <p:cNvPr id="68" name="Rounded Rectangle 67"/>
          <p:cNvSpPr/>
          <p:nvPr/>
        </p:nvSpPr>
        <p:spPr>
          <a:xfrm>
            <a:off x="429768" y="1481328"/>
            <a:ext cx="2743200"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1　あいさつ＋相性チェック</a:t>
            </a:r>
            <a:endParaRPr lang="ja-JP" altLang="en-US" sz="1200" dirty="0"/>
          </a:p>
        </p:txBody>
      </p:sp>
      <p:pic>
        <p:nvPicPr>
          <p:cNvPr id="69" name="明光義塾_あいさつ＋相性チェック"/>
          <p:cNvPicPr>
            <a:picLocks noChangeAspect="1"/>
          </p:cNvPicPr>
          <p:nvPr/>
        </p:nvPicPr>
        <p:blipFill>
          <a:blip r:embed="rId2"/>
          <a:stretch>
            <a:fillRect/>
          </a:stretch>
        </p:blipFill>
        <p:spPr>
          <a:xfrm>
            <a:off x="935964" y="1847088"/>
            <a:ext cx="1730806" cy="3749039"/>
          </a:xfrm>
          <a:prstGeom prst="rect">
            <a:avLst/>
          </a:prstGeom>
          <a:ln w="9525">
            <a:solidFill>
              <a:srgbClr val="C6CADD"/>
            </a:solidFill>
          </a:ln>
        </p:spPr>
      </p:pic>
      <p:sp>
        <p:nvSpPr>
          <p:cNvPr id="70" name="Rectangle 69"/>
          <p:cNvSpPr/>
          <p:nvPr/>
        </p:nvSpPr>
        <p:spPr>
          <a:xfrm>
            <a:off x="429768" y="5669280"/>
            <a:ext cx="2743200" cy="457200"/>
          </a:xfrm>
          <a:prstGeom prst="rect">
            <a:avLst/>
          </a:prstGeom>
          <a:noFill/>
          <a:ln>
            <a:noFill/>
          </a:ln>
        </p:spPr>
        <p:txBody>
          <a:bodyPr wrap="square" lIns="0" tIns="0" rIns="0" bIns="0" rtlCol="0" anchor="t">
            <a:noAutofit/>
          </a:bodyPr>
          <a:lstStyle/>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友だち追加の直後に</a:t>
            </a:r>
            <a:endParaRPr lang="ja-JP" altLang="en-US" sz="1050" dirty="0"/>
          </a:p>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30秒の相性チェック（全5問）</a:t>
            </a:r>
            <a:endParaRPr lang="ja-JP" altLang="en-US" sz="1050" dirty="0"/>
          </a:p>
        </p:txBody>
      </p:sp>
      <p:sp>
        <p:nvSpPr>
          <p:cNvPr id="71" name="Rounded Rectangle 70"/>
          <p:cNvSpPr/>
          <p:nvPr/>
        </p:nvSpPr>
        <p:spPr>
          <a:xfrm>
            <a:off x="3579876" y="1481328"/>
            <a:ext cx="2743200"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2　LINEの中で体験予約</a:t>
            </a:r>
            <a:endParaRPr lang="ja-JP" altLang="en-US" sz="1200" dirty="0"/>
          </a:p>
        </p:txBody>
      </p:sp>
      <p:pic>
        <p:nvPicPr>
          <p:cNvPr id="72" name="明光義塾_LINEの中で体験予約"/>
          <p:cNvPicPr>
            <a:picLocks noChangeAspect="1"/>
          </p:cNvPicPr>
          <p:nvPr/>
        </p:nvPicPr>
        <p:blipFill>
          <a:blip r:embed="rId3"/>
          <a:stretch>
            <a:fillRect/>
          </a:stretch>
        </p:blipFill>
        <p:spPr>
          <a:xfrm>
            <a:off x="4086072" y="1847088"/>
            <a:ext cx="1730806" cy="3749039"/>
          </a:xfrm>
          <a:prstGeom prst="rect">
            <a:avLst/>
          </a:prstGeom>
          <a:ln w="9525">
            <a:solidFill>
              <a:srgbClr val="C6CADD"/>
            </a:solidFill>
          </a:ln>
        </p:spPr>
      </p:pic>
      <p:sp>
        <p:nvSpPr>
          <p:cNvPr id="73" name="Rectangle 72"/>
          <p:cNvSpPr/>
          <p:nvPr/>
        </p:nvSpPr>
        <p:spPr>
          <a:xfrm>
            <a:off x="3579876" y="5669280"/>
            <a:ext cx="2743200" cy="457200"/>
          </a:xfrm>
          <a:prstGeom prst="rect">
            <a:avLst/>
          </a:prstGeom>
          <a:noFill/>
          <a:ln>
            <a:noFill/>
          </a:ln>
        </p:spPr>
        <p:txBody>
          <a:bodyPr wrap="square" lIns="0" tIns="0" rIns="0" bIns="0" rtlCol="0" anchor="t">
            <a:noAutofit/>
          </a:bodyPr>
          <a:lstStyle/>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「このままLINEで無料体験の予約」</a:t>
            </a:r>
            <a:endParaRPr lang="ja-JP" altLang="en-US" sz="1050" dirty="0"/>
          </a:p>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60秒・トークの中で入力（全7問）</a:t>
            </a:r>
            <a:endParaRPr lang="ja-JP" altLang="en-US" sz="1050" dirty="0"/>
          </a:p>
        </p:txBody>
      </p:sp>
      <p:sp>
        <p:nvSpPr>
          <p:cNvPr id="74" name="Rounded Rectangle 73"/>
          <p:cNvSpPr/>
          <p:nvPr/>
        </p:nvSpPr>
        <p:spPr>
          <a:xfrm>
            <a:off x="6729984" y="1481328"/>
            <a:ext cx="2743200"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3　リッチメニュー</a:t>
            </a:r>
            <a:endParaRPr lang="ja-JP" altLang="en-US" sz="1200" dirty="0"/>
          </a:p>
        </p:txBody>
      </p:sp>
      <p:pic>
        <p:nvPicPr>
          <p:cNvPr id="75" name="明光義塾_リッチメニュー"/>
          <p:cNvPicPr>
            <a:picLocks noChangeAspect="1"/>
          </p:cNvPicPr>
          <p:nvPr/>
        </p:nvPicPr>
        <p:blipFill>
          <a:blip r:embed="rId4"/>
          <a:stretch>
            <a:fillRect/>
          </a:stretch>
        </p:blipFill>
        <p:spPr>
          <a:xfrm>
            <a:off x="7236180" y="1847088"/>
            <a:ext cx="1730806" cy="3749039"/>
          </a:xfrm>
          <a:prstGeom prst="rect">
            <a:avLst/>
          </a:prstGeom>
          <a:ln w="9525">
            <a:solidFill>
              <a:srgbClr val="C6CADD"/>
            </a:solidFill>
          </a:ln>
        </p:spPr>
      </p:pic>
      <p:sp>
        <p:nvSpPr>
          <p:cNvPr id="76" name="Rectangle 75"/>
          <p:cNvSpPr/>
          <p:nvPr/>
        </p:nvSpPr>
        <p:spPr>
          <a:xfrm>
            <a:off x="6729984" y="5669280"/>
            <a:ext cx="2743200" cy="457200"/>
          </a:xfrm>
          <a:prstGeom prst="rect">
            <a:avLst/>
          </a:prstGeom>
          <a:noFill/>
          <a:ln>
            <a:noFill/>
          </a:ln>
        </p:spPr>
        <p:txBody>
          <a:bodyPr wrap="square" lIns="0" tIns="0" rIns="0" bIns="0" rtlCol="0" anchor="t">
            <a:noAutofit/>
          </a:bodyPr>
          <a:lstStyle/>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一番大きい枠に</a:t>
            </a:r>
            <a:endParaRPr lang="ja-JP" altLang="en-US" sz="1050" dirty="0"/>
          </a:p>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授業料シミュレーション</a:t>
            </a:r>
            <a:endParaRPr lang="ja-JP" altLang="en-US" sz="1050" dirty="0"/>
          </a:p>
        </p:txBody>
      </p:sp>
    </p:spTree>
    <p:extLst>
      <p:ext uri="{BB962C8B-B14F-4D97-AF65-F5344CB8AC3E}">
        <p14:creationId xmlns:p14="http://schemas.microsoft.com/office/powerpoint/2010/main" val="2278090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明光義塾のステップ配信（公式事例の画面）</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友だち追加のあと、相手に合わせた配信が自動で届く（2023年の公式事例の画面）。</a:t>
            </a:r>
          </a:p>
          <a:p>
            <a:pPr algn="l">
              <a:lnSpc>
                <a:spcPct val="128000"/>
              </a:lnSpc>
            </a:pPr>
            <a:r>
              <a:rPr sz="1200" dirty="0" err="1">
                <a:solidFill>
                  <a:srgbClr val="333333"/>
                </a:solidFill>
                <a:latin typeface="メイリオ"/>
                <a:ea typeface="メイリオ"/>
                <a:cs typeface="メイリオ"/>
              </a:rPr>
              <a:t>答えていない方にはクイズで回答を促し、塾に通っていない方には迷い具合に合わせて3つの行動を案内している。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画面：LINEヤフー for Business 導入事例 明光義塾（2024年4月5日）掲載の図版（2023年の施策時のもの）。55%は同事例の記載。画面の中のボタンの色は明光義塾のもの</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答えやすい形で聞き、迷い具合に合わせて次の一歩を選べるようにしている。</a:t>
            </a:r>
          </a:p>
        </p:txBody>
      </p:sp>
      <p:sp>
        <p:nvSpPr>
          <p:cNvPr id="105" name="Rounded Rectangle 104"/>
          <p:cNvSpPr/>
          <p:nvPr/>
        </p:nvSpPr>
        <p:spPr>
          <a:xfrm>
            <a:off x="429768" y="1481328"/>
            <a:ext cx="4425696"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1　アンケートに答えていない方へ</a:t>
            </a:r>
            <a:endParaRPr lang="ja-JP" altLang="en-US" sz="1200" dirty="0"/>
          </a:p>
        </p:txBody>
      </p:sp>
      <p:pic>
        <p:nvPicPr>
          <p:cNvPr id="106" name="明光義塾_ステップ配信_1"/>
          <p:cNvPicPr>
            <a:picLocks noChangeAspect="1"/>
          </p:cNvPicPr>
          <p:nvPr/>
        </p:nvPicPr>
        <p:blipFill>
          <a:blip r:embed="rId2"/>
          <a:stretch>
            <a:fillRect/>
          </a:stretch>
        </p:blipFill>
        <p:spPr>
          <a:xfrm>
            <a:off x="465459" y="1865376"/>
            <a:ext cx="4354313" cy="2606040"/>
          </a:xfrm>
          <a:prstGeom prst="rect">
            <a:avLst/>
          </a:prstGeom>
          <a:ln w="9525">
            <a:solidFill>
              <a:srgbClr val="C6CADD"/>
            </a:solidFill>
          </a:ln>
        </p:spPr>
      </p:pic>
      <p:sp>
        <p:nvSpPr>
          <p:cNvPr id="107" name="Rectangle 106"/>
          <p:cNvSpPr/>
          <p:nvPr/>
        </p:nvSpPr>
        <p:spPr>
          <a:xfrm>
            <a:off x="429768" y="4562856"/>
            <a:ext cx="4425696" cy="1005840"/>
          </a:xfrm>
          <a:prstGeom prst="rect">
            <a:avLst/>
          </a:prstGeom>
          <a:solidFill>
            <a:srgbClr val="F4F7FF"/>
          </a:solidFill>
          <a:ln w="9525">
            <a:solidFill>
              <a:srgbClr val="D9D9D9"/>
            </a:solidFill>
          </a:ln>
        </p:spPr>
        <p:txBody>
          <a:bodyPr wrap="square" lIns="109728" tIns="54864" rIns="91440" bIns="54864" rtlCol="0" anchor="ctr">
            <a:noAutofit/>
          </a:bodyPr>
          <a:lstStyle/>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クイズ「サボローを探せ！」の答えを見るボタンが</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「保護者の方／生徒の方／その他の方」。</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楽しみながら答えていただき、保護者か生徒かが分かる。</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配信した方の55%が反応。</a:t>
            </a:r>
            <a:endParaRPr lang="ja-JP" altLang="en-US" sz="1000" dirty="0"/>
          </a:p>
        </p:txBody>
      </p:sp>
      <p:sp>
        <p:nvSpPr>
          <p:cNvPr id="108" name="Rounded Rectangle 107"/>
          <p:cNvSpPr/>
          <p:nvPr/>
        </p:nvSpPr>
        <p:spPr>
          <a:xfrm>
            <a:off x="5047488" y="1481328"/>
            <a:ext cx="4425696"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2　塾に通っていない方へ</a:t>
            </a:r>
            <a:endParaRPr lang="ja-JP" altLang="en-US" sz="1200" dirty="0"/>
          </a:p>
        </p:txBody>
      </p:sp>
      <p:pic>
        <p:nvPicPr>
          <p:cNvPr id="109" name="明光義塾_ステップ配信_2"/>
          <p:cNvPicPr>
            <a:picLocks noChangeAspect="1"/>
          </p:cNvPicPr>
          <p:nvPr/>
        </p:nvPicPr>
        <p:blipFill>
          <a:blip r:embed="rId3"/>
          <a:stretch>
            <a:fillRect/>
          </a:stretch>
        </p:blipFill>
        <p:spPr>
          <a:xfrm>
            <a:off x="5445183" y="1865376"/>
            <a:ext cx="3630304" cy="2606040"/>
          </a:xfrm>
          <a:prstGeom prst="rect">
            <a:avLst/>
          </a:prstGeom>
          <a:ln w="9525">
            <a:solidFill>
              <a:srgbClr val="C6CADD"/>
            </a:solidFill>
          </a:ln>
        </p:spPr>
      </p:pic>
      <p:sp>
        <p:nvSpPr>
          <p:cNvPr id="110" name="Rectangle 109"/>
          <p:cNvSpPr/>
          <p:nvPr/>
        </p:nvSpPr>
        <p:spPr>
          <a:xfrm>
            <a:off x="5047488" y="4562856"/>
            <a:ext cx="4425696" cy="1005840"/>
          </a:xfrm>
          <a:prstGeom prst="rect">
            <a:avLst/>
          </a:prstGeom>
          <a:solidFill>
            <a:srgbClr val="F4F7FF"/>
          </a:solidFill>
          <a:ln w="9525">
            <a:solidFill>
              <a:srgbClr val="D9D9D9"/>
            </a:solidFill>
          </a:ln>
        </p:spPr>
        <p:txBody>
          <a:bodyPr wrap="square" lIns="109728" tIns="54864" rIns="91440" bIns="54864" rtlCol="0" anchor="ctr">
            <a:noAutofit/>
          </a:bodyPr>
          <a:lstStyle/>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「先ほどは友だち登録していただき…」から始まる。</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ボタンは迷い具合で3つ：</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授業を受けてみたい→無料体験／雰囲気を知りたい→</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教室見学／一度検討したい→資料請求。</a:t>
            </a:r>
            <a:endParaRPr lang="ja-JP" altLang="en-US" sz="1000" dirty="0"/>
          </a:p>
        </p:txBody>
      </p:sp>
    </p:spTree>
    <p:extLst>
      <p:ext uri="{BB962C8B-B14F-4D97-AF65-F5344CB8AC3E}">
        <p14:creationId xmlns:p14="http://schemas.microsoft.com/office/powerpoint/2010/main" val="3204760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現状分析｜LINEでできること</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保護者の「迷っている期間」に、LINEでできることは4つ。</a:t>
            </a:r>
          </a:p>
          <a:p>
            <a:pPr algn="l">
              <a:lnSpc>
                <a:spcPct val="128000"/>
              </a:lnSpc>
            </a:pPr>
            <a:r>
              <a:rPr sz="1200">
                <a:solidFill>
                  <a:srgbClr val="333333"/>
                </a:solidFill>
                <a:latin typeface="メイリオ"/>
                <a:ea typeface="メイリオ"/>
                <a:cs typeface="メイリオ"/>
              </a:rPr>
              <a:t>授業の質や合格実績はLINEでは変えられない。LINEで整えられるのは、保護者とのつながりと、体験・入会までの流れ。</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125600" y="1800000"/>
            <a:ext cx="1655999" cy="3024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4" name="Rectangle 13"/>
          <p:cNvSpPr/>
          <p:nvPr/>
        </p:nvSpPr>
        <p:spPr>
          <a:xfrm>
            <a:off x="4215600" y="1998000"/>
            <a:ext cx="1475999" cy="266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5" name="Rectangle 14"/>
          <p:cNvSpPr/>
          <p:nvPr/>
        </p:nvSpPr>
        <p:spPr>
          <a:xfrm>
            <a:off x="4215600" y="1998000"/>
            <a:ext cx="1475999"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16" name="Rounded Rectangle 15"/>
          <p:cNvSpPr/>
          <p:nvPr/>
        </p:nvSpPr>
        <p:spPr>
          <a:xfrm>
            <a:off x="4269600" y="2340000"/>
            <a:ext cx="1332000" cy="468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750" b="0">
                <a:solidFill>
                  <a:srgbClr val="333333"/>
                </a:solidFill>
                <a:latin typeface="メイリオ"/>
                <a:ea typeface="メイリオ"/>
                <a:cs typeface="メイリオ"/>
              </a:rPr>
              <a:t>30秒で、お子さまに</a:t>
            </a:r>
          </a:p>
          <a:p>
            <a:pPr algn="l"/>
            <a:r>
              <a:rPr sz="750" b="0">
                <a:solidFill>
                  <a:srgbClr val="333333"/>
                </a:solidFill>
                <a:latin typeface="メイリオ"/>
                <a:ea typeface="メイリオ"/>
                <a:cs typeface="メイリオ"/>
              </a:rPr>
              <a:t>合う学び方が分かります</a:t>
            </a:r>
          </a:p>
        </p:txBody>
      </p:sp>
      <p:sp>
        <p:nvSpPr>
          <p:cNvPr id="17" name="Rounded Rectangle 16"/>
          <p:cNvSpPr/>
          <p:nvPr/>
        </p:nvSpPr>
        <p:spPr>
          <a:xfrm>
            <a:off x="4287600" y="2898000"/>
            <a:ext cx="1259999" cy="216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800" b="1">
                <a:solidFill>
                  <a:srgbClr val="FFFFFF"/>
                </a:solidFill>
                <a:latin typeface="メイリオ"/>
                <a:ea typeface="メイリオ"/>
                <a:cs typeface="メイリオ"/>
              </a:rPr>
              <a:t>診断をはじめる</a:t>
            </a:r>
          </a:p>
        </p:txBody>
      </p:sp>
      <p:sp>
        <p:nvSpPr>
          <p:cNvPr id="18" name="Rounded Rectangle 17"/>
          <p:cNvSpPr/>
          <p:nvPr/>
        </p:nvSpPr>
        <p:spPr>
          <a:xfrm>
            <a:off x="4269600" y="3221999"/>
            <a:ext cx="1332000" cy="39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750" b="0">
                <a:solidFill>
                  <a:srgbClr val="333333"/>
                </a:solidFill>
                <a:latin typeface="メイリオ"/>
                <a:ea typeface="メイリオ"/>
                <a:cs typeface="メイリオ"/>
              </a:rPr>
              <a:t>コースと料金の資料を</a:t>
            </a:r>
          </a:p>
          <a:p>
            <a:pPr algn="l"/>
            <a:r>
              <a:rPr sz="750" b="0">
                <a:solidFill>
                  <a:srgbClr val="333333"/>
                </a:solidFill>
                <a:latin typeface="メイリオ"/>
                <a:ea typeface="メイリオ"/>
                <a:cs typeface="メイリオ"/>
              </a:rPr>
              <a:t>お送りしました</a:t>
            </a:r>
          </a:p>
        </p:txBody>
      </p:sp>
      <p:sp>
        <p:nvSpPr>
          <p:cNvPr id="19" name="Rounded Rectangle 18"/>
          <p:cNvSpPr/>
          <p:nvPr/>
        </p:nvSpPr>
        <p:spPr>
          <a:xfrm>
            <a:off x="4269600" y="3690000"/>
            <a:ext cx="1332000" cy="39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750" b="0">
                <a:solidFill>
                  <a:srgbClr val="333333"/>
                </a:solidFill>
                <a:latin typeface="メイリオ"/>
                <a:ea typeface="メイリオ"/>
                <a:cs typeface="メイリオ"/>
              </a:rPr>
              <a:t>明日17時、体験授業で</a:t>
            </a:r>
          </a:p>
          <a:p>
            <a:pPr algn="l"/>
            <a:r>
              <a:rPr sz="750" b="0">
                <a:solidFill>
                  <a:srgbClr val="333333"/>
                </a:solidFill>
                <a:latin typeface="メイリオ"/>
                <a:ea typeface="メイリオ"/>
                <a:cs typeface="メイリオ"/>
              </a:rPr>
              <a:t>お待ちしています</a:t>
            </a:r>
          </a:p>
        </p:txBody>
      </p:sp>
      <p:sp>
        <p:nvSpPr>
          <p:cNvPr id="20" name="Rounded Rectangle 19"/>
          <p:cNvSpPr/>
          <p:nvPr/>
        </p:nvSpPr>
        <p:spPr>
          <a:xfrm>
            <a:off x="432000" y="154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1" name="Rounded Rectangle 20"/>
          <p:cNvSpPr/>
          <p:nvPr/>
        </p:nvSpPr>
        <p:spPr>
          <a:xfrm>
            <a:off x="432000" y="154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① タイプ別の診断</a:t>
            </a:r>
          </a:p>
        </p:txBody>
      </p:sp>
      <p:sp>
        <p:nvSpPr>
          <p:cNvPr id="22" name="Rectangle 21"/>
          <p:cNvSpPr/>
          <p:nvPr/>
        </p:nvSpPr>
        <p:spPr>
          <a:xfrm>
            <a:off x="557999" y="199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「うちの子に合うのはどれ？」に、申し込む前に答える</a:t>
            </a:r>
          </a:p>
        </p:txBody>
      </p:sp>
      <p:sp>
        <p:nvSpPr>
          <p:cNvPr id="23" name="Rounded Rectangle 22"/>
          <p:cNvSpPr/>
          <p:nvPr/>
        </p:nvSpPr>
        <p:spPr>
          <a:xfrm>
            <a:off x="557999" y="280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④リード獲得</a:t>
            </a:r>
          </a:p>
        </p:txBody>
      </p:sp>
      <p:sp>
        <p:nvSpPr>
          <p:cNvPr id="24" name="Rounded Rectangle 23"/>
          <p:cNvSpPr/>
          <p:nvPr/>
        </p:nvSpPr>
        <p:spPr>
          <a:xfrm>
            <a:off x="6516000" y="154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5" name="Rounded Rectangle 24"/>
          <p:cNvSpPr/>
          <p:nvPr/>
        </p:nvSpPr>
        <p:spPr>
          <a:xfrm>
            <a:off x="6516000" y="154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② LINEで資料請求</a:t>
            </a:r>
          </a:p>
        </p:txBody>
      </p:sp>
      <p:sp>
        <p:nvSpPr>
          <p:cNvPr id="26" name="Rectangle 25"/>
          <p:cNvSpPr/>
          <p:nvPr/>
        </p:nvSpPr>
        <p:spPr>
          <a:xfrm>
            <a:off x="6642000" y="199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電話や来塾なしで、コースと料金の資料が届く</a:t>
            </a:r>
          </a:p>
        </p:txBody>
      </p:sp>
      <p:sp>
        <p:nvSpPr>
          <p:cNvPr id="27" name="Rounded Rectangle 26"/>
          <p:cNvSpPr/>
          <p:nvPr/>
        </p:nvSpPr>
        <p:spPr>
          <a:xfrm>
            <a:off x="6642000" y="280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④リード獲得（CV①）</a:t>
            </a:r>
          </a:p>
        </p:txBody>
      </p:sp>
      <p:sp>
        <p:nvSpPr>
          <p:cNvPr id="28" name="Rounded Rectangle 27"/>
          <p:cNvSpPr/>
          <p:nvPr/>
        </p:nvSpPr>
        <p:spPr>
          <a:xfrm>
            <a:off x="432000" y="370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9" name="Rounded Rectangle 28"/>
          <p:cNvSpPr/>
          <p:nvPr/>
        </p:nvSpPr>
        <p:spPr>
          <a:xfrm>
            <a:off x="432000" y="370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③ 14日間の配信</a:t>
            </a:r>
          </a:p>
        </p:txBody>
      </p:sp>
      <p:sp>
        <p:nvSpPr>
          <p:cNvPr id="30" name="Rectangle 29"/>
          <p:cNvSpPr/>
          <p:nvPr/>
        </p:nvSpPr>
        <p:spPr>
          <a:xfrm>
            <a:off x="557999" y="415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迷っている間に役立つ情報を届けて、体験へ</a:t>
            </a:r>
          </a:p>
        </p:txBody>
      </p:sp>
      <p:sp>
        <p:nvSpPr>
          <p:cNvPr id="31" name="Rounded Rectangle 30"/>
          <p:cNvSpPr/>
          <p:nvPr/>
        </p:nvSpPr>
        <p:spPr>
          <a:xfrm>
            <a:off x="557999" y="496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③育成・⑤リード有効化</a:t>
            </a:r>
          </a:p>
        </p:txBody>
      </p:sp>
      <p:sp>
        <p:nvSpPr>
          <p:cNvPr id="32" name="Rounded Rectangle 31"/>
          <p:cNvSpPr/>
          <p:nvPr/>
        </p:nvSpPr>
        <p:spPr>
          <a:xfrm>
            <a:off x="6516000" y="370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3" name="Rounded Rectangle 32"/>
          <p:cNvSpPr/>
          <p:nvPr/>
        </p:nvSpPr>
        <p:spPr>
          <a:xfrm>
            <a:off x="6516000" y="370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④ 体験前のリマインド</a:t>
            </a:r>
          </a:p>
        </p:txBody>
      </p:sp>
      <p:sp>
        <p:nvSpPr>
          <p:cNvPr id="34" name="Rectangle 33"/>
          <p:cNvSpPr/>
          <p:nvPr/>
        </p:nvSpPr>
        <p:spPr>
          <a:xfrm>
            <a:off x="6642000" y="415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日時・持ち物・変更方法を前日にお届けし、当日の来塾につなげる</a:t>
            </a:r>
          </a:p>
        </p:txBody>
      </p:sp>
      <p:sp>
        <p:nvSpPr>
          <p:cNvPr id="35" name="Rounded Rectangle 34"/>
          <p:cNvSpPr/>
          <p:nvPr/>
        </p:nvSpPr>
        <p:spPr>
          <a:xfrm>
            <a:off x="6642000" y="496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⑤リード有効化 → ⑦入会</a:t>
            </a:r>
          </a:p>
        </p:txBody>
      </p:sp>
      <p:cxnSp>
        <p:nvCxnSpPr>
          <p:cNvPr id="36" name="Connector 35"/>
          <p:cNvCxnSpPr/>
          <p:nvPr/>
        </p:nvCxnSpPr>
        <p:spPr>
          <a:xfrm>
            <a:off x="3401999" y="2376000"/>
            <a:ext cx="705601"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799600" y="2376000"/>
            <a:ext cx="698400"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401999" y="4176000"/>
            <a:ext cx="705601"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5799600" y="4176000"/>
            <a:ext cx="698400"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32000" y="5526000"/>
            <a:ext cx="9043200" cy="360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0">
                <a:solidFill>
                  <a:srgbClr val="7F7F7F"/>
                </a:solidFill>
                <a:latin typeface="メイリオ"/>
                <a:ea typeface="メイリオ"/>
                <a:cs typeface="メイリオ"/>
              </a:rPr>
              <a:t>LINEではできないこと：授業の質を上げる／合格実績をつくる／講師を採用・育成する</a:t>
            </a:r>
          </a:p>
        </p:txBody>
      </p:sp>
    </p:spTree>
    <p:extLst>
      <p:ext uri="{BB962C8B-B14F-4D97-AF65-F5344CB8AC3E}">
        <p14:creationId xmlns:p14="http://schemas.microsoft.com/office/powerpoint/2010/main" val="466478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全体設計想定</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まず気軽な申し込み（資料請求）でつながり、体験予約、入会へ進んでいただく。</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入会は教室で行うため、LINEで計測するのは資料請求（CV①）と体験予約（CV②）の2つ。</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Pentagon 12"/>
          <p:cNvSpPr/>
          <p:nvPr/>
        </p:nvSpPr>
        <p:spPr>
          <a:xfrm>
            <a:off x="432000" y="1584000"/>
            <a:ext cx="1254857" cy="36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①接触</a:t>
            </a:r>
          </a:p>
        </p:txBody>
      </p:sp>
      <p:sp>
        <p:nvSpPr>
          <p:cNvPr id="14" name="Rounded Rectangle 13"/>
          <p:cNvSpPr/>
          <p:nvPr/>
        </p:nvSpPr>
        <p:spPr>
          <a:xfrm>
            <a:off x="450000"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広告・チラシ</a:t>
            </a:r>
          </a:p>
          <a:p>
            <a:pPr algn="ctr"/>
            <a:r>
              <a:rPr sz="1100" b="0">
                <a:solidFill>
                  <a:srgbClr val="333333"/>
                </a:solidFill>
                <a:latin typeface="メイリオ"/>
                <a:ea typeface="メイリオ"/>
                <a:cs typeface="メイリオ"/>
              </a:rPr>
              <a:t>・口コミ</a:t>
            </a:r>
          </a:p>
        </p:txBody>
      </p:sp>
      <p:sp>
        <p:nvSpPr>
          <p:cNvPr id="15" name="Chevron 14"/>
          <p:cNvSpPr/>
          <p:nvPr/>
        </p:nvSpPr>
        <p:spPr>
          <a:xfrm>
            <a:off x="1730057"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②離脱</a:t>
            </a:r>
          </a:p>
        </p:txBody>
      </p:sp>
      <p:sp>
        <p:nvSpPr>
          <p:cNvPr id="16" name="Rounded Rectangle 15"/>
          <p:cNvSpPr/>
          <p:nvPr/>
        </p:nvSpPr>
        <p:spPr>
          <a:xfrm>
            <a:off x="1748057"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帰る保護者を</a:t>
            </a:r>
          </a:p>
          <a:p>
            <a:pPr algn="ctr"/>
            <a:r>
              <a:rPr sz="1100" b="0">
                <a:solidFill>
                  <a:srgbClr val="333333"/>
                </a:solidFill>
                <a:latin typeface="メイリオ"/>
                <a:ea typeface="メイリオ"/>
                <a:cs typeface="メイリオ"/>
              </a:rPr>
              <a:t>離脱防止でLINEへ</a:t>
            </a:r>
          </a:p>
        </p:txBody>
      </p:sp>
      <p:sp>
        <p:nvSpPr>
          <p:cNvPr id="17" name="Chevron 16"/>
          <p:cNvSpPr/>
          <p:nvPr/>
        </p:nvSpPr>
        <p:spPr>
          <a:xfrm>
            <a:off x="3028114"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③育成</a:t>
            </a:r>
          </a:p>
        </p:txBody>
      </p:sp>
      <p:sp>
        <p:nvSpPr>
          <p:cNvPr id="18" name="Rounded Rectangle 17"/>
          <p:cNvSpPr/>
          <p:nvPr/>
        </p:nvSpPr>
        <p:spPr>
          <a:xfrm>
            <a:off x="3046114"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比べている間</a:t>
            </a:r>
          </a:p>
          <a:p>
            <a:pPr algn="ctr"/>
            <a:r>
              <a:rPr sz="1100" b="0">
                <a:solidFill>
                  <a:srgbClr val="333333"/>
                </a:solidFill>
                <a:latin typeface="メイリオ"/>
                <a:ea typeface="メイリオ"/>
                <a:cs typeface="メイリオ"/>
              </a:rPr>
              <a:t>情報を届ける</a:t>
            </a:r>
          </a:p>
        </p:txBody>
      </p:sp>
      <p:sp>
        <p:nvSpPr>
          <p:cNvPr id="19" name="Chevron 18"/>
          <p:cNvSpPr/>
          <p:nvPr/>
        </p:nvSpPr>
        <p:spPr>
          <a:xfrm>
            <a:off x="4326171"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④リード獲得</a:t>
            </a:r>
          </a:p>
        </p:txBody>
      </p:sp>
      <p:sp>
        <p:nvSpPr>
          <p:cNvPr id="20" name="Rounded Rectangle 19"/>
          <p:cNvSpPr/>
          <p:nvPr/>
        </p:nvSpPr>
        <p:spPr>
          <a:xfrm>
            <a:off x="4344171"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30秒診断 →</a:t>
            </a:r>
          </a:p>
          <a:p>
            <a:pPr algn="ctr"/>
            <a:r>
              <a:rPr sz="1100" b="0">
                <a:solidFill>
                  <a:srgbClr val="333333"/>
                </a:solidFill>
                <a:latin typeface="メイリオ"/>
                <a:ea typeface="メイリオ"/>
                <a:cs typeface="メイリオ"/>
              </a:rPr>
              <a:t>資料をLINEで</a:t>
            </a:r>
          </a:p>
        </p:txBody>
      </p:sp>
      <p:sp>
        <p:nvSpPr>
          <p:cNvPr id="21" name="Chevron 20"/>
          <p:cNvSpPr/>
          <p:nvPr/>
        </p:nvSpPr>
        <p:spPr>
          <a:xfrm>
            <a:off x="5624228"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⑤リード有効化</a:t>
            </a:r>
          </a:p>
        </p:txBody>
      </p:sp>
      <p:sp>
        <p:nvSpPr>
          <p:cNvPr id="22" name="Rounded Rectangle 21"/>
          <p:cNvSpPr/>
          <p:nvPr/>
        </p:nvSpPr>
        <p:spPr>
          <a:xfrm>
            <a:off x="5642228"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資料を読む方へ</a:t>
            </a:r>
          </a:p>
          <a:p>
            <a:pPr algn="ctr"/>
            <a:r>
              <a:rPr sz="1100" b="0">
                <a:solidFill>
                  <a:srgbClr val="333333"/>
                </a:solidFill>
                <a:latin typeface="メイリオ"/>
                <a:ea typeface="メイリオ"/>
                <a:cs typeface="メイリオ"/>
              </a:rPr>
              <a:t>続けて配信→体験予約</a:t>
            </a:r>
          </a:p>
        </p:txBody>
      </p:sp>
      <p:sp>
        <p:nvSpPr>
          <p:cNvPr id="23" name="Chevron 22"/>
          <p:cNvSpPr/>
          <p:nvPr/>
        </p:nvSpPr>
        <p:spPr>
          <a:xfrm>
            <a:off x="6922285"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⑥再育成</a:t>
            </a:r>
          </a:p>
        </p:txBody>
      </p:sp>
      <p:sp>
        <p:nvSpPr>
          <p:cNvPr id="24" name="Rounded Rectangle 23"/>
          <p:cNvSpPr/>
          <p:nvPr/>
        </p:nvSpPr>
        <p:spPr>
          <a:xfrm>
            <a:off x="6940285"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体験に来なかった・</a:t>
            </a:r>
          </a:p>
          <a:p>
            <a:pPr algn="ctr"/>
            <a:r>
              <a:rPr sz="1100" b="0">
                <a:solidFill>
                  <a:srgbClr val="333333"/>
                </a:solidFill>
                <a:latin typeface="メイリオ"/>
                <a:ea typeface="メイリオ"/>
                <a:cs typeface="メイリオ"/>
              </a:rPr>
              <a:t>入会しなかった方へ</a:t>
            </a:r>
          </a:p>
        </p:txBody>
      </p:sp>
      <p:sp>
        <p:nvSpPr>
          <p:cNvPr id="25" name="Chevron 24"/>
          <p:cNvSpPr/>
          <p:nvPr/>
        </p:nvSpPr>
        <p:spPr>
          <a:xfrm>
            <a:off x="8220342"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⑦入会（契約）</a:t>
            </a:r>
          </a:p>
        </p:txBody>
      </p:sp>
      <p:sp>
        <p:nvSpPr>
          <p:cNvPr id="26" name="Rounded Rectangle 25"/>
          <p:cNvSpPr/>
          <p:nvPr/>
        </p:nvSpPr>
        <p:spPr>
          <a:xfrm>
            <a:off x="8238342"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教室で入会</a:t>
            </a:r>
          </a:p>
          <a:p>
            <a:pPr algn="ctr"/>
            <a:r>
              <a:rPr sz="1100" b="0">
                <a:solidFill>
                  <a:srgbClr val="333333"/>
                </a:solidFill>
                <a:latin typeface="メイリオ"/>
                <a:ea typeface="メイリオ"/>
                <a:cs typeface="メイリオ"/>
              </a:rPr>
              <a:t>（LINEでは計測しない）</a:t>
            </a:r>
          </a:p>
        </p:txBody>
      </p:sp>
      <p:cxnSp>
        <p:nvCxnSpPr>
          <p:cNvPr id="27" name="Connector 26"/>
          <p:cNvCxnSpPr/>
          <p:nvPr/>
        </p:nvCxnSpPr>
        <p:spPr>
          <a:xfrm>
            <a:off x="4953600" y="2862000"/>
            <a:ext cx="0" cy="342000"/>
          </a:xfrm>
          <a:prstGeom prst="line">
            <a:avLst/>
          </a:prstGeom>
          <a:ln w="25400">
            <a:solidFill>
              <a:srgbClr val="00897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344171" y="3204000"/>
            <a:ext cx="1218857" cy="432000"/>
          </a:xfrm>
          <a:prstGeom prst="roundRect">
            <a:avLst>
              <a:gd name="adj" fmla="val 20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FFFFFF"/>
                </a:solidFill>
                <a:latin typeface="メイリオ"/>
                <a:ea typeface="メイリオ"/>
                <a:cs typeface="メイリオ"/>
              </a:rPr>
              <a:t>CV①</a:t>
            </a:r>
          </a:p>
          <a:p>
            <a:pPr algn="ctr"/>
            <a:r>
              <a:rPr sz="1000" b="1">
                <a:solidFill>
                  <a:srgbClr val="FFFFFF"/>
                </a:solidFill>
                <a:latin typeface="メイリオ"/>
                <a:ea typeface="メイリオ"/>
                <a:cs typeface="メイリオ"/>
              </a:rPr>
              <a:t>資料請求</a:t>
            </a:r>
          </a:p>
        </p:txBody>
      </p:sp>
      <p:cxnSp>
        <p:nvCxnSpPr>
          <p:cNvPr id="29" name="Connector 28"/>
          <p:cNvCxnSpPr/>
          <p:nvPr/>
        </p:nvCxnSpPr>
        <p:spPr>
          <a:xfrm>
            <a:off x="6251657" y="2862000"/>
            <a:ext cx="0" cy="342000"/>
          </a:xfrm>
          <a:prstGeom prst="line">
            <a:avLst/>
          </a:prstGeom>
          <a:ln w="25400">
            <a:solidFill>
              <a:srgbClr val="00897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642228" y="3204000"/>
            <a:ext cx="1218857" cy="432000"/>
          </a:xfrm>
          <a:prstGeom prst="roundRect">
            <a:avLst>
              <a:gd name="adj" fmla="val 20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FFFFFF"/>
                </a:solidFill>
                <a:latin typeface="メイリオ"/>
                <a:ea typeface="メイリオ"/>
                <a:cs typeface="メイリオ"/>
              </a:rPr>
              <a:t>CV②</a:t>
            </a:r>
          </a:p>
          <a:p>
            <a:pPr algn="ctr"/>
            <a:r>
              <a:rPr sz="1000" b="1">
                <a:solidFill>
                  <a:srgbClr val="FFFFFF"/>
                </a:solidFill>
                <a:latin typeface="メイリオ"/>
                <a:ea typeface="メイリオ"/>
                <a:cs typeface="メイリオ"/>
              </a:rPr>
              <a:t>体験予約</a:t>
            </a:r>
          </a:p>
        </p:txBody>
      </p:sp>
      <p:cxnSp>
        <p:nvCxnSpPr>
          <p:cNvPr id="31" name="Connector 30"/>
          <p:cNvCxnSpPr/>
          <p:nvPr/>
        </p:nvCxnSpPr>
        <p:spPr>
          <a:xfrm>
            <a:off x="8847771" y="2862000"/>
            <a:ext cx="0" cy="342000"/>
          </a:xfrm>
          <a:prstGeom prst="line">
            <a:avLst/>
          </a:prstGeom>
          <a:ln w="25400">
            <a:solidFill>
              <a:srgbClr val="1F285A"/>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238342" y="3204000"/>
            <a:ext cx="1218857" cy="4320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FFFFFF"/>
                </a:solidFill>
                <a:latin typeface="メイリオ"/>
                <a:ea typeface="メイリオ"/>
                <a:cs typeface="メイリオ"/>
              </a:rPr>
              <a:t>入会</a:t>
            </a:r>
          </a:p>
          <a:p>
            <a:pPr algn="ctr"/>
            <a:r>
              <a:rPr sz="1000" b="1">
                <a:solidFill>
                  <a:srgbClr val="FFFFFF"/>
                </a:solidFill>
                <a:latin typeface="メイリオ"/>
                <a:ea typeface="メイリオ"/>
                <a:cs typeface="メイリオ"/>
              </a:rPr>
              <a:t>（契約）</a:t>
            </a:r>
          </a:p>
        </p:txBody>
      </p:sp>
      <p:sp>
        <p:nvSpPr>
          <p:cNvPr id="33" name="Rectangle 32"/>
          <p:cNvSpPr/>
          <p:nvPr/>
        </p:nvSpPr>
        <p:spPr>
          <a:xfrm>
            <a:off x="4218171" y="3643199"/>
            <a:ext cx="2768914" cy="16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850" b="1">
                <a:solidFill>
                  <a:srgbClr val="1F285A"/>
                </a:solidFill>
                <a:latin typeface="メイリオ"/>
                <a:ea typeface="メイリオ"/>
                <a:cs typeface="メイリオ"/>
              </a:rPr>
              <a:t>↑ この間に「読んで・比べて・迷う」期間がある ↑</a:t>
            </a:r>
          </a:p>
        </p:txBody>
      </p:sp>
      <p:sp>
        <p:nvSpPr>
          <p:cNvPr id="34" name="Rounded Rectangle 33"/>
          <p:cNvSpPr/>
          <p:nvPr/>
        </p:nvSpPr>
        <p:spPr>
          <a:xfrm>
            <a:off x="432000" y="3816000"/>
            <a:ext cx="9043200" cy="1475999"/>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ectangle 34"/>
          <p:cNvSpPr/>
          <p:nvPr/>
        </p:nvSpPr>
        <p:spPr>
          <a:xfrm>
            <a:off x="576000" y="3870000"/>
            <a:ext cx="87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1">
                <a:solidFill>
                  <a:srgbClr val="002060"/>
                </a:solidFill>
                <a:latin typeface="メイリオ"/>
                <a:ea typeface="メイリオ"/>
                <a:cs typeface="メイリオ"/>
              </a:rPr>
              <a:t>CVを2段に分ける理由</a:t>
            </a:r>
          </a:p>
        </p:txBody>
      </p:sp>
      <p:sp>
        <p:nvSpPr>
          <p:cNvPr id="36" name="Rectangle 35"/>
          <p:cNvSpPr/>
          <p:nvPr/>
        </p:nvSpPr>
        <p:spPr>
          <a:xfrm>
            <a:off x="576000" y="4212000"/>
            <a:ext cx="4248000" cy="10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1">
                <a:solidFill>
                  <a:srgbClr val="00897B"/>
                </a:solidFill>
                <a:latin typeface="メイリオ"/>
                <a:ea typeface="メイリオ"/>
                <a:cs typeface="メイリオ"/>
              </a:rPr>
              <a:t>CV① 資料請求（気軽な申し込み）</a:t>
            </a:r>
          </a:p>
          <a:p>
            <a:pPr algn="l"/>
            <a:r>
              <a:rPr sz="1250" b="0">
                <a:solidFill>
                  <a:srgbClr val="333333"/>
                </a:solidFill>
                <a:latin typeface="メイリオ"/>
                <a:ea typeface="メイリオ"/>
                <a:cs typeface="メイリオ"/>
              </a:rPr>
              <a:t>・まだ決めていない保護者でも、気軽に申し込める</a:t>
            </a:r>
          </a:p>
          <a:p>
            <a:pPr algn="l"/>
            <a:r>
              <a:rPr sz="1250" b="0">
                <a:solidFill>
                  <a:srgbClr val="333333"/>
                </a:solidFill>
                <a:latin typeface="メイリオ"/>
                <a:ea typeface="メイリオ"/>
                <a:cs typeface="メイリオ"/>
              </a:rPr>
              <a:t>・学年や悩みが分かり、その後の配信を合わせられる</a:t>
            </a:r>
          </a:p>
        </p:txBody>
      </p:sp>
      <p:sp>
        <p:nvSpPr>
          <p:cNvPr id="37" name="Rectangle 36"/>
          <p:cNvSpPr/>
          <p:nvPr/>
        </p:nvSpPr>
        <p:spPr>
          <a:xfrm>
            <a:off x="5004000" y="4212000"/>
            <a:ext cx="4320000" cy="10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00897B"/>
                </a:solidFill>
                <a:latin typeface="メイリオ"/>
                <a:ea typeface="メイリオ"/>
                <a:cs typeface="メイリオ"/>
              </a:rPr>
              <a:t>CV② 体験予約（検討が進んだ申し込み）</a:t>
            </a:r>
          </a:p>
          <a:p>
            <a:pPr algn="l"/>
            <a:r>
              <a:rPr sz="1350" b="0">
                <a:solidFill>
                  <a:srgbClr val="333333"/>
                </a:solidFill>
                <a:latin typeface="メイリオ"/>
                <a:ea typeface="メイリオ"/>
                <a:cs typeface="メイリオ"/>
              </a:rPr>
              <a:t>・資料を読んで「合いそう」と思った保護者が進む</a:t>
            </a:r>
          </a:p>
          <a:p>
            <a:pPr algn="l"/>
            <a:r>
              <a:rPr sz="1350" b="0">
                <a:solidFill>
                  <a:srgbClr val="333333"/>
                </a:solidFill>
                <a:latin typeface="メイリオ"/>
                <a:ea typeface="メイリオ"/>
                <a:cs typeface="メイリオ"/>
              </a:rPr>
              <a:t>・体験に来ていただければ、入会は教室でご案内できる</a:t>
            </a:r>
          </a:p>
        </p:txBody>
      </p:sp>
      <p:sp>
        <p:nvSpPr>
          <p:cNvPr id="38" name="Rounded Rectangle 37"/>
          <p:cNvSpPr/>
          <p:nvPr/>
        </p:nvSpPr>
        <p:spPr>
          <a:xfrm>
            <a:off x="432000" y="5436000"/>
            <a:ext cx="9043200" cy="468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700" b="1">
                <a:solidFill>
                  <a:srgbClr val="FFFFFF"/>
                </a:solidFill>
                <a:latin typeface="メイリオ"/>
                <a:ea typeface="メイリオ"/>
                <a:cs typeface="メイリオ"/>
              </a:rPr>
              <a:t>いきなり体験をおすすめせず、資料請求 → 体験予約 → 入会の順に進んでいただく。</a:t>
            </a:r>
          </a:p>
        </p:txBody>
      </p:sp>
    </p:spTree>
    <p:extLst>
      <p:ext uri="{BB962C8B-B14F-4D97-AF65-F5344CB8AC3E}">
        <p14:creationId xmlns:p14="http://schemas.microsoft.com/office/powerpoint/2010/main" val="3225074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明光義塾の取り組みは、3つの仕組みに分けられる</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公式事例（2023年）と実際の画面（2026年10月）から、3つの仕組みが読み取れる。</a:t>
            </a:r>
          </a:p>
          <a:p>
            <a:pPr algn="l">
              <a:lnSpc>
                <a:spcPct val="128000"/>
              </a:lnSpc>
            </a:pPr>
            <a:r>
              <a:rPr sz="1200" dirty="0" err="1">
                <a:solidFill>
                  <a:srgbClr val="333333"/>
                </a:solidFill>
                <a:latin typeface="メイリオ"/>
                <a:ea typeface="メイリオ"/>
                <a:cs typeface="メイリオ"/>
              </a:rPr>
              <a:t>この仕組みを、入口（P25）・診断（P28）・配信の出し分け（P30）・ステップ配信（P31）に取り入れる。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 出典：LINEヤフー for Business 導入事例（2024年4月5日）・明光義塾 LINE公式アカウント（2026-10-19 弊社確認）。実際の画面はP16。</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FFFFFF"/>
                </a:solidFill>
                <a:latin typeface="メイリオ"/>
                <a:ea typeface="メイリオ"/>
                <a:cs typeface="メイリオ"/>
              </a:rPr>
              <a:t>友だちになっていただき、質問に答えていただき、合う方にお届けする。この時期の資料請求は前年比 約120%（公式事例）。</a:t>
            </a:r>
          </a:p>
        </p:txBody>
      </p:sp>
      <p:sp>
        <p:nvSpPr>
          <p:cNvPr id="105" name="Rounded Rectangle 104"/>
          <p:cNvSpPr/>
          <p:nvPr/>
        </p:nvSpPr>
        <p:spPr>
          <a:xfrm>
            <a:off x="429768" y="1508760"/>
            <a:ext cx="2880360" cy="310896"/>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① サイトから、LINEの友だちに</a:t>
            </a:r>
            <a:endParaRPr lang="ja-JP" altLang="en-US" sz="1250" dirty="0"/>
          </a:p>
        </p:txBody>
      </p:sp>
      <p:sp>
        <p:nvSpPr>
          <p:cNvPr id="106" name="Rounded Rectangle 105"/>
          <p:cNvSpPr/>
          <p:nvPr/>
        </p:nvSpPr>
        <p:spPr>
          <a:xfrm>
            <a:off x="429768" y="1911095"/>
            <a:ext cx="2880360" cy="1600200"/>
          </a:xfrm>
          <a:prstGeom prst="roundRect">
            <a:avLst>
              <a:gd name="adj" fmla="val 5000"/>
            </a:avLst>
          </a:prstGeom>
          <a:solidFill>
            <a:srgbClr val="F4F7FF"/>
          </a:solidFill>
          <a:ln w="9525">
            <a:solidFill>
              <a:srgbClr val="D9D9D9"/>
            </a:solidFill>
          </a:ln>
        </p:spPr>
        <p:txBody>
          <a:bodyPr wrap="square" lIns="109728" tIns="91440" rIns="91440" bIns="54864" rtlCol="0" anchor="t">
            <a:noAutofit/>
          </a:bodyPr>
          <a:lstStyle/>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サイトの初回訪問時・離脱時に、ポップアップで友だち追加を案内。</a:t>
            </a:r>
            <a:endParaRPr lang="ja-JP" altLang="en-US" sz="1100" dirty="0"/>
          </a:p>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2023年は、スタンプの無料配布で、友だちから友だちへ広げた。</a:t>
            </a:r>
            <a:endParaRPr lang="ja-JP" altLang="en-US" sz="1100" dirty="0"/>
          </a:p>
        </p:txBody>
      </p:sp>
      <p:sp>
        <p:nvSpPr>
          <p:cNvPr id="107" name="Rounded Rectangle 106"/>
          <p:cNvSpPr/>
          <p:nvPr/>
        </p:nvSpPr>
        <p:spPr>
          <a:xfrm>
            <a:off x="429768" y="3621024"/>
            <a:ext cx="2880360" cy="914400"/>
          </a:xfrm>
          <a:prstGeom prst="roundRect">
            <a:avLst>
              <a:gd name="adj" fmla="val 5000"/>
            </a:avLst>
          </a:prstGeom>
          <a:solidFill>
            <a:srgbClr val="FFFFFF"/>
          </a:solidFill>
          <a:ln w="9525">
            <a:solidFill>
              <a:srgbClr val="D9D9D9"/>
            </a:solidFill>
          </a:ln>
        </p:spPr>
        <p:txBody>
          <a:bodyPr wrap="square" lIns="91440" tIns="73152" rIns="73152" bIns="36576" rtlCol="0" anchor="t">
            <a:noAutofit/>
          </a:bodyPr>
          <a:lstStyle/>
          <a:p>
            <a:pPr algn="l">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実際の例</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約5か月で友だち約20万人増</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うち約15万人は友だちからの広がり</a:t>
            </a:r>
            <a:endParaRPr lang="ja-JP" altLang="en-US" sz="1100" dirty="0"/>
          </a:p>
        </p:txBody>
      </p:sp>
      <p:sp>
        <p:nvSpPr>
          <p:cNvPr id="108" name="Rounded Rectangle 107"/>
          <p:cNvSpPr/>
          <p:nvPr/>
        </p:nvSpPr>
        <p:spPr>
          <a:xfrm>
            <a:off x="3511296" y="1508760"/>
            <a:ext cx="2880360" cy="310896"/>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② 追加の直後に、診断と予約の案内</a:t>
            </a:r>
            <a:endParaRPr lang="ja-JP" altLang="en-US" sz="1250" dirty="0"/>
          </a:p>
        </p:txBody>
      </p:sp>
      <p:sp>
        <p:nvSpPr>
          <p:cNvPr id="109" name="Rounded Rectangle 108"/>
          <p:cNvSpPr/>
          <p:nvPr/>
        </p:nvSpPr>
        <p:spPr>
          <a:xfrm>
            <a:off x="3511296" y="1911095"/>
            <a:ext cx="2880360" cy="1600200"/>
          </a:xfrm>
          <a:prstGeom prst="roundRect">
            <a:avLst>
              <a:gd name="adj" fmla="val 5000"/>
            </a:avLst>
          </a:prstGeom>
          <a:solidFill>
            <a:srgbClr val="F4F7FF"/>
          </a:solidFill>
          <a:ln w="9525">
            <a:solidFill>
              <a:srgbClr val="D9D9D9"/>
            </a:solidFill>
          </a:ln>
        </p:spPr>
        <p:txBody>
          <a:bodyPr wrap="square" lIns="109728" tIns="91440" rIns="91440" bIns="54864" rtlCol="0" anchor="t">
            <a:noAutofit/>
          </a:bodyPr>
          <a:lstStyle/>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友だち追加の直後に、30秒の相性チェック（ボタンで答える5問）。</a:t>
            </a:r>
            <a:endParaRPr lang="ja-JP" altLang="en-US" sz="1100" dirty="0"/>
          </a:p>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あわせて「このままLINEで無料体験の予約」も案内。予約はトークの中で入力できる。</a:t>
            </a:r>
            <a:endParaRPr lang="ja-JP" altLang="en-US" sz="1100" dirty="0"/>
          </a:p>
        </p:txBody>
      </p:sp>
      <p:sp>
        <p:nvSpPr>
          <p:cNvPr id="110" name="Rounded Rectangle 109"/>
          <p:cNvSpPr/>
          <p:nvPr/>
        </p:nvSpPr>
        <p:spPr>
          <a:xfrm>
            <a:off x="3511296" y="3621024"/>
            <a:ext cx="2880360" cy="914400"/>
          </a:xfrm>
          <a:prstGeom prst="roundRect">
            <a:avLst>
              <a:gd name="adj" fmla="val 5000"/>
            </a:avLst>
          </a:prstGeom>
          <a:solidFill>
            <a:srgbClr val="FFFFFF"/>
          </a:solidFill>
          <a:ln w="9525">
            <a:solidFill>
              <a:srgbClr val="D9D9D9"/>
            </a:solidFill>
          </a:ln>
        </p:spPr>
        <p:txBody>
          <a:bodyPr wrap="square" lIns="91440" tIns="73152" rIns="73152" bIns="36576" rtlCol="0" anchor="t">
            <a:noAutofit/>
          </a:bodyPr>
          <a:lstStyle/>
          <a:p>
            <a:pPr algn="l">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実際の例</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相性チェック 全5問</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体験予約 60秒・全7問</a:t>
            </a:r>
            <a:endParaRPr lang="ja-JP" altLang="en-US" sz="1100" dirty="0"/>
          </a:p>
        </p:txBody>
      </p:sp>
      <p:sp>
        <p:nvSpPr>
          <p:cNvPr id="111" name="Rounded Rectangle 110"/>
          <p:cNvSpPr/>
          <p:nvPr/>
        </p:nvSpPr>
        <p:spPr>
          <a:xfrm>
            <a:off x="6592824" y="1508760"/>
            <a:ext cx="2880360" cy="310896"/>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③ 答えをもとに、配信の相手を絞る</a:t>
            </a:r>
            <a:endParaRPr lang="ja-JP" altLang="en-US" sz="1250" dirty="0"/>
          </a:p>
        </p:txBody>
      </p:sp>
      <p:sp>
        <p:nvSpPr>
          <p:cNvPr id="112" name="Rounded Rectangle 111"/>
          <p:cNvSpPr/>
          <p:nvPr/>
        </p:nvSpPr>
        <p:spPr>
          <a:xfrm>
            <a:off x="6592824" y="1911095"/>
            <a:ext cx="2880360" cy="1600200"/>
          </a:xfrm>
          <a:prstGeom prst="roundRect">
            <a:avLst>
              <a:gd name="adj" fmla="val 5000"/>
            </a:avLst>
          </a:prstGeom>
          <a:solidFill>
            <a:srgbClr val="F4F7FF"/>
          </a:solidFill>
          <a:ln w="9525">
            <a:solidFill>
              <a:srgbClr val="D9D9D9"/>
            </a:solidFill>
          </a:ln>
        </p:spPr>
        <p:txBody>
          <a:bodyPr wrap="square" lIns="109728" tIns="91440" rIns="91440" bIns="54864" rtlCol="0" anchor="t">
            <a:noAutofit/>
          </a:bodyPr>
          <a:lstStyle/>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2023年は、アンケートで保護者か生徒か、塾に通っているかを伺った。</a:t>
            </a:r>
            <a:endParaRPr lang="ja-JP" altLang="en-US" sz="1100" dirty="0"/>
          </a:p>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「まだ塾に通っていない」お子さま・保護者に絞って配信した。</a:t>
            </a:r>
            <a:endParaRPr lang="ja-JP" altLang="en-US" sz="1100" dirty="0"/>
          </a:p>
        </p:txBody>
      </p:sp>
      <p:sp>
        <p:nvSpPr>
          <p:cNvPr id="113" name="Rounded Rectangle 112"/>
          <p:cNvSpPr/>
          <p:nvPr/>
        </p:nvSpPr>
        <p:spPr>
          <a:xfrm>
            <a:off x="6592824" y="3621024"/>
            <a:ext cx="2880360" cy="914400"/>
          </a:xfrm>
          <a:prstGeom prst="roundRect">
            <a:avLst>
              <a:gd name="adj" fmla="val 5000"/>
            </a:avLst>
          </a:prstGeom>
          <a:solidFill>
            <a:srgbClr val="FFFFFF"/>
          </a:solidFill>
          <a:ln w="9525">
            <a:solidFill>
              <a:srgbClr val="D9D9D9"/>
            </a:solidFill>
          </a:ln>
        </p:spPr>
        <p:txBody>
          <a:bodyPr wrap="square" lIns="91440" tIns="73152" rIns="73152" bIns="36576" rtlCol="0" anchor="t">
            <a:noAutofit/>
          </a:bodyPr>
          <a:lstStyle/>
          <a:p>
            <a:pPr algn="l">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実際の例</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答えていない方にクイズ形式の配信</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 配信した方の55%が反応（P17）</a:t>
            </a:r>
            <a:endParaRPr lang="ja-JP" altLang="en-US" sz="1100" dirty="0"/>
          </a:p>
        </p:txBody>
      </p:sp>
    </p:spTree>
    <p:extLst>
      <p:ext uri="{BB962C8B-B14F-4D97-AF65-F5344CB8AC3E}">
        <p14:creationId xmlns:p14="http://schemas.microsoft.com/office/powerpoint/2010/main" val="1537523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700" dirty="0">
                <a:latin typeface="メイリオ" panose="020B0604030504040204" pitchFamily="50" charset="-128"/>
                <a:ea typeface="メイリオ" panose="020B0604030504040204" pitchFamily="50" charset="-128"/>
              </a:rPr>
              <a:t>LINE施策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Web上で資料請求・体験予約などの成果地点に到達しているかどうかを軸に、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配信の流れを組み立てることで、ブロックを抑えながら運用する。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1F285A"/>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1F285A"/>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[LINEで30秒ぴったり診断]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体験予約/見学予約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Web予約の完了率が低い</a:t>
            </a:r>
            <a:endParaRPr sz="1200" b="0" dirty="0">
              <a:solidFill>
                <a:srgbClr val="1C2233"/>
              </a:solidFill>
              <a:latin typeface="メイリオ"/>
            </a:endParaRPr>
          </a:p>
          <a:p>
            <a:r>
              <a:rPr sz="1200" b="0" dirty="0">
                <a:solidFill>
                  <a:srgbClr val="1C2233"/>
                </a:solidFill>
                <a:latin typeface="メイリオ"/>
                <a:ea typeface="メイリオ"/>
              </a:rPr>
              <a:t>✓ 検討初期の保護者を取りこぼしやすい</a:t>
            </a:r>
            <a:endParaRPr sz="1200" b="0" dirty="0">
              <a:solidFill>
                <a:srgbClr val="1C2233"/>
              </a:solidFill>
              <a:latin typeface="メイリオ"/>
            </a:endParaRPr>
          </a:p>
          <a:p>
            <a:r>
              <a:rPr sz="1200" b="0" dirty="0">
                <a:solidFill>
                  <a:srgbClr val="1C2233"/>
                </a:solidFill>
                <a:latin typeface="メイリオ"/>
                <a:ea typeface="メイリオ"/>
              </a:rPr>
              <a:t>✓ 電話の折り返しに手間がかかる</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Web予約は既に機能している</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体験の無断欠席が課題</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通知メッセージを使いたい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体験授業</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⑧継続・講習/友だち紹介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退塾防止・再入塾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体験授業</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⑧継続・講習/友だち紹介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退塾防止・再入塾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導線</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電話や資料請求フォームに「ハードルが高い」と感じる保護者がいる。</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LINEなら、名前も電話番号も入れずに始められる。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※離脱防止ポップアップはSitelead等（別途費用）</a:t>
            </a:r>
          </a:p>
        </p:txBody>
      </p:sp>
      <p:sp>
        <p:nvSpPr>
          <p:cNvPr id="31" name="Pentagon 30"/>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2" name="Chevron 31"/>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33" name="Chevron 32"/>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4" name="Chevron 33"/>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35" name="Chevron 34"/>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6" name="Chevron 35"/>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7" name="Chevron 36"/>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⑦入会（契約）</a:t>
            </a:r>
          </a:p>
        </p:txBody>
      </p:sp>
      <p:sp>
        <p:nvSpPr>
          <p:cNvPr id="38" name="Chevron 3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9" name="Rounded Rectangle 38"/>
          <p:cNvSpPr/>
          <p:nvPr/>
        </p:nvSpPr>
        <p:spPr>
          <a:xfrm>
            <a:off x="432000" y="1800000"/>
            <a:ext cx="1152000" cy="864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333333"/>
                </a:solidFill>
                <a:latin typeface="メイリオ"/>
                <a:ea typeface="メイリオ"/>
                <a:cs typeface="メイリオ"/>
              </a:rPr>
              <a:t>サイトから</a:t>
            </a:r>
          </a:p>
          <a:p>
            <a:pPr algn="ctr"/>
            <a:r>
              <a:rPr sz="1150" b="1">
                <a:solidFill>
                  <a:srgbClr val="333333"/>
                </a:solidFill>
                <a:latin typeface="メイリオ"/>
                <a:ea typeface="メイリオ"/>
                <a:cs typeface="メイリオ"/>
              </a:rPr>
              <a:t>帰ろうとする</a:t>
            </a:r>
          </a:p>
        </p:txBody>
      </p:sp>
      <p:cxnSp>
        <p:nvCxnSpPr>
          <p:cNvPr id="40" name="Connector 39"/>
          <p:cNvCxnSpPr/>
          <p:nvPr/>
        </p:nvCxnSpPr>
        <p:spPr>
          <a:xfrm>
            <a:off x="1594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1746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離脱防止</a:t>
            </a:r>
          </a:p>
          <a:p>
            <a:pPr algn="ctr"/>
            <a:r>
              <a:rPr sz="1150" b="1">
                <a:solidFill>
                  <a:srgbClr val="1F285A"/>
                </a:solidFill>
                <a:latin typeface="メイリオ"/>
                <a:ea typeface="メイリオ"/>
                <a:cs typeface="メイリオ"/>
              </a:rPr>
              <a:t>ポップアップ</a:t>
            </a:r>
          </a:p>
        </p:txBody>
      </p:sp>
      <p:cxnSp>
        <p:nvCxnSpPr>
          <p:cNvPr id="42" name="Connector 41"/>
          <p:cNvCxnSpPr/>
          <p:nvPr/>
        </p:nvCxnSpPr>
        <p:spPr>
          <a:xfrm>
            <a:off x="2908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3060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LINE</a:t>
            </a:r>
          </a:p>
          <a:p>
            <a:pPr algn="ctr"/>
            <a:r>
              <a:rPr sz="1150" b="1">
                <a:solidFill>
                  <a:srgbClr val="1F285A"/>
                </a:solidFill>
                <a:latin typeface="メイリオ"/>
                <a:ea typeface="メイリオ"/>
                <a:cs typeface="メイリオ"/>
              </a:rPr>
              <a:t>友だち追加</a:t>
            </a:r>
          </a:p>
        </p:txBody>
      </p:sp>
      <p:cxnSp>
        <p:nvCxnSpPr>
          <p:cNvPr id="44" name="Connector 43"/>
          <p:cNvCxnSpPr/>
          <p:nvPr/>
        </p:nvCxnSpPr>
        <p:spPr>
          <a:xfrm>
            <a:off x="4222799" y="2232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4374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30秒</a:t>
            </a:r>
          </a:p>
          <a:p>
            <a:pPr algn="ctr"/>
            <a:r>
              <a:rPr sz="1150" b="1">
                <a:solidFill>
                  <a:srgbClr val="1F285A"/>
                </a:solidFill>
                <a:latin typeface="メイリオ"/>
                <a:ea typeface="メイリオ"/>
                <a:cs typeface="メイリオ"/>
              </a:rPr>
              <a:t>診断</a:t>
            </a:r>
          </a:p>
        </p:txBody>
      </p:sp>
      <p:cxnSp>
        <p:nvCxnSpPr>
          <p:cNvPr id="46" name="Connector 45"/>
          <p:cNvCxnSpPr/>
          <p:nvPr/>
        </p:nvCxnSpPr>
        <p:spPr>
          <a:xfrm>
            <a:off x="5536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5688000" y="1800000"/>
            <a:ext cx="1152000" cy="864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FFFFFF"/>
                </a:solidFill>
                <a:latin typeface="メイリオ"/>
                <a:ea typeface="メイリオ"/>
                <a:cs typeface="メイリオ"/>
              </a:rPr>
              <a:t>資料請求</a:t>
            </a:r>
          </a:p>
          <a:p>
            <a:pPr algn="ctr"/>
            <a:r>
              <a:rPr sz="1150" b="1">
                <a:solidFill>
                  <a:srgbClr val="FFFFFF"/>
                </a:solidFill>
                <a:latin typeface="メイリオ"/>
                <a:ea typeface="メイリオ"/>
                <a:cs typeface="メイリオ"/>
              </a:rPr>
              <a:t>（CV①）</a:t>
            </a:r>
          </a:p>
        </p:txBody>
      </p:sp>
      <p:cxnSp>
        <p:nvCxnSpPr>
          <p:cNvPr id="48" name="Connector 47"/>
          <p:cNvCxnSpPr/>
          <p:nvPr/>
        </p:nvCxnSpPr>
        <p:spPr>
          <a:xfrm>
            <a:off x="6850800" y="2232000"/>
            <a:ext cx="140399"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7002000" y="1800000"/>
            <a:ext cx="1152000" cy="864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FFFFFF"/>
                </a:solidFill>
                <a:latin typeface="メイリオ"/>
                <a:ea typeface="メイリオ"/>
                <a:cs typeface="メイリオ"/>
              </a:rPr>
              <a:t>体験予約</a:t>
            </a:r>
          </a:p>
          <a:p>
            <a:pPr algn="ctr"/>
            <a:r>
              <a:rPr sz="1150" b="1">
                <a:solidFill>
                  <a:srgbClr val="FFFFFF"/>
                </a:solidFill>
                <a:latin typeface="メイリオ"/>
                <a:ea typeface="メイリオ"/>
                <a:cs typeface="メイリオ"/>
              </a:rPr>
              <a:t>（CV②）</a:t>
            </a:r>
          </a:p>
        </p:txBody>
      </p:sp>
      <p:cxnSp>
        <p:nvCxnSpPr>
          <p:cNvPr id="50" name="Connector 49"/>
          <p:cNvCxnSpPr/>
          <p:nvPr/>
        </p:nvCxnSpPr>
        <p:spPr>
          <a:xfrm>
            <a:off x="8164800" y="2232000"/>
            <a:ext cx="140399"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8316000" y="1800000"/>
            <a:ext cx="1152000" cy="864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FFFFFF"/>
                </a:solidFill>
                <a:latin typeface="メイリオ"/>
                <a:ea typeface="メイリオ"/>
                <a:cs typeface="メイリオ"/>
              </a:rPr>
              <a:t>入会</a:t>
            </a:r>
          </a:p>
          <a:p>
            <a:pPr algn="ctr"/>
            <a:r>
              <a:rPr sz="1150" b="1">
                <a:solidFill>
                  <a:srgbClr val="FFFFFF"/>
                </a:solidFill>
                <a:latin typeface="メイリオ"/>
                <a:ea typeface="メイリオ"/>
                <a:cs typeface="メイリオ"/>
              </a:rPr>
              <a:t>（契約）</a:t>
            </a:r>
          </a:p>
        </p:txBody>
      </p:sp>
      <p:sp>
        <p:nvSpPr>
          <p:cNvPr id="52" name="Rectangle 51"/>
          <p:cNvSpPr/>
          <p:nvPr/>
        </p:nvSpPr>
        <p:spPr>
          <a:xfrm>
            <a:off x="1746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「まだ決めなくて</a:t>
            </a:r>
          </a:p>
          <a:p>
            <a:pPr algn="ctr"/>
            <a:r>
              <a:rPr sz="1000" b="0">
                <a:solidFill>
                  <a:srgbClr val="7F7F7F"/>
                </a:solidFill>
                <a:latin typeface="メイリオ"/>
                <a:ea typeface="メイリオ"/>
                <a:cs typeface="メイリオ"/>
              </a:rPr>
              <a:t>大丈夫です」</a:t>
            </a:r>
          </a:p>
        </p:txBody>
      </p:sp>
      <p:sp>
        <p:nvSpPr>
          <p:cNvPr id="53" name="Rectangle 52"/>
          <p:cNvSpPr/>
          <p:nvPr/>
        </p:nvSpPr>
        <p:spPr>
          <a:xfrm>
            <a:off x="3060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名前・電話番号</a:t>
            </a:r>
          </a:p>
          <a:p>
            <a:pPr algn="ctr"/>
            <a:r>
              <a:rPr sz="1000" b="0">
                <a:solidFill>
                  <a:srgbClr val="7F7F7F"/>
                </a:solidFill>
                <a:latin typeface="メイリオ"/>
                <a:ea typeface="メイリオ"/>
                <a:cs typeface="メイリオ"/>
              </a:rPr>
              <a:t>は不要</a:t>
            </a:r>
          </a:p>
        </p:txBody>
      </p:sp>
      <p:sp>
        <p:nvSpPr>
          <p:cNvPr id="54" name="Rectangle 53"/>
          <p:cNvSpPr/>
          <p:nvPr/>
        </p:nvSpPr>
        <p:spPr>
          <a:xfrm>
            <a:off x="4374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学年・悩み・性格</a:t>
            </a:r>
          </a:p>
          <a:p>
            <a:pPr algn="ctr"/>
            <a:r>
              <a:rPr sz="1000" b="0">
                <a:solidFill>
                  <a:srgbClr val="7F7F7F"/>
                </a:solidFill>
                <a:latin typeface="メイリオ"/>
                <a:ea typeface="メイリオ"/>
                <a:cs typeface="メイリオ"/>
              </a:rPr>
              <a:t>いつから</a:t>
            </a:r>
          </a:p>
        </p:txBody>
      </p:sp>
      <p:sp>
        <p:nvSpPr>
          <p:cNvPr id="55" name="Rectangle 54"/>
          <p:cNvSpPr/>
          <p:nvPr/>
        </p:nvSpPr>
        <p:spPr>
          <a:xfrm>
            <a:off x="5688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コース・料金の</a:t>
            </a:r>
          </a:p>
          <a:p>
            <a:pPr algn="ctr"/>
            <a:r>
              <a:rPr sz="1000" b="0">
                <a:solidFill>
                  <a:srgbClr val="7F7F7F"/>
                </a:solidFill>
                <a:latin typeface="メイリオ"/>
                <a:ea typeface="メイリオ"/>
                <a:cs typeface="メイリオ"/>
              </a:rPr>
              <a:t>資料が届く</a:t>
            </a:r>
          </a:p>
        </p:txBody>
      </p:sp>
      <p:sp>
        <p:nvSpPr>
          <p:cNvPr id="56" name="Rectangle 55"/>
          <p:cNvSpPr/>
          <p:nvPr/>
        </p:nvSpPr>
        <p:spPr>
          <a:xfrm>
            <a:off x="7002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LINEで日時を</a:t>
            </a:r>
          </a:p>
          <a:p>
            <a:pPr algn="ctr"/>
            <a:r>
              <a:rPr sz="1000" b="0">
                <a:solidFill>
                  <a:srgbClr val="7F7F7F"/>
                </a:solidFill>
                <a:latin typeface="メイリオ"/>
                <a:ea typeface="メイリオ"/>
                <a:cs typeface="メイリオ"/>
              </a:rPr>
              <a:t>選ぶだけ</a:t>
            </a:r>
          </a:p>
        </p:txBody>
      </p:sp>
      <p:sp>
        <p:nvSpPr>
          <p:cNvPr id="57" name="Rectangle 56"/>
          <p:cNvSpPr/>
          <p:nvPr/>
        </p:nvSpPr>
        <p:spPr>
          <a:xfrm>
            <a:off x="8316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教室で</a:t>
            </a:r>
          </a:p>
          <a:p>
            <a:pPr algn="ctr"/>
            <a:r>
              <a:rPr sz="1000" b="0">
                <a:solidFill>
                  <a:srgbClr val="7F7F7F"/>
                </a:solidFill>
                <a:latin typeface="メイリオ"/>
                <a:ea typeface="メイリオ"/>
                <a:cs typeface="メイリオ"/>
              </a:rPr>
              <a:t>入会手続き</a:t>
            </a:r>
          </a:p>
        </p:txBody>
      </p:sp>
      <p:sp>
        <p:nvSpPr>
          <p:cNvPr id="58" name="Rounded Rectangle 57"/>
          <p:cNvSpPr/>
          <p:nvPr/>
        </p:nvSpPr>
        <p:spPr>
          <a:xfrm>
            <a:off x="432000" y="3456000"/>
            <a:ext cx="4428000" cy="1655999"/>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9" name="Rectangle 58"/>
          <p:cNvSpPr/>
          <p:nvPr/>
        </p:nvSpPr>
        <p:spPr>
          <a:xfrm>
            <a:off x="576000" y="3510000"/>
            <a:ext cx="4176000" cy="158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7F7F7F"/>
                </a:solidFill>
                <a:latin typeface="メイリオ"/>
                <a:ea typeface="メイリオ"/>
                <a:cs typeface="メイリオ"/>
              </a:rPr>
              <a:t>フォームだけの場合</a:t>
            </a:r>
          </a:p>
          <a:p>
            <a:pPr algn="l"/>
            <a:r>
              <a:rPr sz="1250" b="0">
                <a:solidFill>
                  <a:srgbClr val="333333"/>
                </a:solidFill>
                <a:latin typeface="メイリオ"/>
                <a:ea typeface="メイリオ"/>
                <a:cs typeface="メイリオ"/>
              </a:rPr>
              <a:t>サイト → 資料請求フォーム／電話 → 体験</a:t>
            </a:r>
          </a:p>
          <a:p>
            <a:pPr algn="l"/>
            <a:r>
              <a:rPr sz="1250" b="0">
                <a:solidFill>
                  <a:srgbClr val="333333"/>
                </a:solidFill>
                <a:latin typeface="メイリオ"/>
                <a:ea typeface="メイリオ"/>
                <a:cs typeface="メイリオ"/>
              </a:rPr>
              <a:t>・フォームに名前・住所・電話番号を入れる</a:t>
            </a:r>
          </a:p>
          <a:p>
            <a:pPr algn="l"/>
            <a:r>
              <a:rPr sz="1250" b="0">
                <a:solidFill>
                  <a:srgbClr val="333333"/>
                </a:solidFill>
                <a:latin typeface="メイリオ"/>
                <a:ea typeface="メイリオ"/>
                <a:cs typeface="メイリオ"/>
              </a:rPr>
              <a:t>・電話がかかってくるかもしれない</a:t>
            </a:r>
          </a:p>
          <a:p>
            <a:pPr algn="l"/>
            <a:r>
              <a:rPr sz="1250" b="1">
                <a:solidFill>
                  <a:srgbClr val="C00000"/>
                </a:solidFill>
                <a:latin typeface="メイリオ"/>
                <a:ea typeface="メイリオ"/>
                <a:cs typeface="メイリオ"/>
              </a:rPr>
              <a:t>→ まだ決めていない保護者は、ここで離れやすい</a:t>
            </a:r>
          </a:p>
        </p:txBody>
      </p:sp>
      <p:sp>
        <p:nvSpPr>
          <p:cNvPr id="60" name="Rounded Rectangle 59"/>
          <p:cNvSpPr/>
          <p:nvPr/>
        </p:nvSpPr>
        <p:spPr>
          <a:xfrm>
            <a:off x="5047200" y="3456000"/>
            <a:ext cx="4428000" cy="1655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1" name="Rectangle 60"/>
          <p:cNvSpPr/>
          <p:nvPr/>
        </p:nvSpPr>
        <p:spPr>
          <a:xfrm>
            <a:off x="5184000" y="3510000"/>
            <a:ext cx="4176000" cy="158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1F285A"/>
                </a:solidFill>
                <a:latin typeface="メイリオ"/>
                <a:ea typeface="メイリオ"/>
                <a:cs typeface="メイリオ"/>
              </a:rPr>
              <a:t>LINEを加えると</a:t>
            </a:r>
          </a:p>
          <a:p>
            <a:pPr algn="l"/>
            <a:r>
              <a:rPr sz="1250" b="0">
                <a:solidFill>
                  <a:srgbClr val="333333"/>
                </a:solidFill>
                <a:latin typeface="メイリオ"/>
                <a:ea typeface="メイリオ"/>
                <a:cs typeface="メイリオ"/>
              </a:rPr>
              <a:t>サイト → LINE → 診断 → 資料 → 体験</a:t>
            </a:r>
          </a:p>
          <a:p>
            <a:pPr algn="l"/>
            <a:r>
              <a:rPr sz="1250" b="0">
                <a:solidFill>
                  <a:srgbClr val="333333"/>
                </a:solidFill>
                <a:latin typeface="メイリオ"/>
                <a:ea typeface="メイリオ"/>
                <a:cs typeface="メイリオ"/>
              </a:rPr>
              <a:t>・タップ1回で友だち追加。入力はいらない</a:t>
            </a:r>
          </a:p>
          <a:p>
            <a:pPr algn="l"/>
            <a:r>
              <a:rPr sz="1250" b="0">
                <a:solidFill>
                  <a:srgbClr val="333333"/>
                </a:solidFill>
                <a:latin typeface="メイリオ"/>
                <a:ea typeface="メイリオ"/>
                <a:cs typeface="メイリオ"/>
              </a:rPr>
              <a:t>・資料を読んでから、体験を決められる</a:t>
            </a:r>
          </a:p>
          <a:p>
            <a:pPr algn="l"/>
            <a:r>
              <a:rPr sz="1250" b="1">
                <a:solidFill>
                  <a:srgbClr val="1F285A"/>
                </a:solidFill>
                <a:latin typeface="メイリオ"/>
                <a:ea typeface="メイリオ"/>
                <a:cs typeface="メイリオ"/>
              </a:rPr>
              <a:t>→ まだ決めていない保護者とも、つながっておける</a:t>
            </a:r>
          </a:p>
        </p:txBody>
      </p:sp>
      <p:sp>
        <p:nvSpPr>
          <p:cNvPr id="62" name="Rounded Rectangle 61"/>
          <p:cNvSpPr/>
          <p:nvPr/>
        </p:nvSpPr>
        <p:spPr>
          <a:xfrm>
            <a:off x="432000" y="5256000"/>
            <a:ext cx="9043200" cy="396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FFFFFF"/>
                </a:solidFill>
                <a:latin typeface="メイリオ"/>
                <a:ea typeface="メイリオ"/>
                <a:cs typeface="メイリオ"/>
              </a:rPr>
              <a:t>入口のハードルを下げて、まだ決めていない保護者ともつながる。</a:t>
            </a:r>
          </a:p>
        </p:txBody>
      </p:sp>
    </p:spTree>
    <p:extLst>
      <p:ext uri="{BB962C8B-B14F-4D97-AF65-F5344CB8AC3E}">
        <p14:creationId xmlns:p14="http://schemas.microsoft.com/office/powerpoint/2010/main" val="22997255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施策全体像</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最初につくるのは、診断・リッチメニュー・14日間の配信。</a:t>
            </a:r>
          </a:p>
          <a:p>
            <a:pPr algn="l">
              <a:lnSpc>
                <a:spcPct val="128000"/>
              </a:lnSpc>
            </a:pPr>
            <a:r>
              <a:rPr sz="1200">
                <a:solidFill>
                  <a:srgbClr val="333333"/>
                </a:solidFill>
                <a:latin typeface="メイリオ"/>
                <a:ea typeface="メイリオ"/>
                <a:cs typeface="メイリオ"/>
              </a:rPr>
              <a:t>その後は毎月、企画配信と出し分け配信を運用する。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32000" y="1512000"/>
            <a:ext cx="44280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最初につくるもの</a:t>
            </a:r>
          </a:p>
        </p:txBody>
      </p:sp>
      <p:sp>
        <p:nvSpPr>
          <p:cNvPr id="14" name="Rounded Rectangle 13"/>
          <p:cNvSpPr/>
          <p:nvPr/>
        </p:nvSpPr>
        <p:spPr>
          <a:xfrm>
            <a:off x="432000" y="1872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LINE公式アカウントの設定（未開設の場合）</a:t>
            </a:r>
          </a:p>
        </p:txBody>
      </p:sp>
      <p:sp>
        <p:nvSpPr>
          <p:cNvPr id="15" name="Rounded Rectangle 14"/>
          <p:cNvSpPr/>
          <p:nvPr/>
        </p:nvSpPr>
        <p:spPr>
          <a:xfrm>
            <a:off x="4068000" y="19440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①</a:t>
            </a:r>
          </a:p>
        </p:txBody>
      </p:sp>
      <p:sp>
        <p:nvSpPr>
          <p:cNvPr id="16" name="Rounded Rectangle 15"/>
          <p:cNvSpPr/>
          <p:nvPr/>
        </p:nvSpPr>
        <p:spPr>
          <a:xfrm>
            <a:off x="432000" y="2296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サイトの離脱防止ポップアップ</a:t>
            </a:r>
          </a:p>
        </p:txBody>
      </p:sp>
      <p:sp>
        <p:nvSpPr>
          <p:cNvPr id="17" name="Rounded Rectangle 16"/>
          <p:cNvSpPr/>
          <p:nvPr/>
        </p:nvSpPr>
        <p:spPr>
          <a:xfrm>
            <a:off x="4068000" y="2368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②</a:t>
            </a:r>
          </a:p>
        </p:txBody>
      </p:sp>
      <p:sp>
        <p:nvSpPr>
          <p:cNvPr id="18" name="Rounded Rectangle 17"/>
          <p:cNvSpPr/>
          <p:nvPr/>
        </p:nvSpPr>
        <p:spPr>
          <a:xfrm>
            <a:off x="432000" y="2721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あいさつメッセージ</a:t>
            </a:r>
          </a:p>
        </p:txBody>
      </p:sp>
      <p:sp>
        <p:nvSpPr>
          <p:cNvPr id="19" name="Rounded Rectangle 18"/>
          <p:cNvSpPr/>
          <p:nvPr/>
        </p:nvSpPr>
        <p:spPr>
          <a:xfrm>
            <a:off x="4068000" y="2793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④</a:t>
            </a:r>
          </a:p>
        </p:txBody>
      </p:sp>
      <p:sp>
        <p:nvSpPr>
          <p:cNvPr id="20" name="Rounded Rectangle 19"/>
          <p:cNvSpPr/>
          <p:nvPr/>
        </p:nvSpPr>
        <p:spPr>
          <a:xfrm>
            <a:off x="432000" y="31464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30秒ぴったり診断（4問）</a:t>
            </a:r>
          </a:p>
        </p:txBody>
      </p:sp>
      <p:sp>
        <p:nvSpPr>
          <p:cNvPr id="21" name="Rounded Rectangle 20"/>
          <p:cNvSpPr/>
          <p:nvPr/>
        </p:nvSpPr>
        <p:spPr>
          <a:xfrm>
            <a:off x="4068000" y="32184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④</a:t>
            </a:r>
          </a:p>
        </p:txBody>
      </p:sp>
      <p:sp>
        <p:nvSpPr>
          <p:cNvPr id="22" name="Rounded Rectangle 21"/>
          <p:cNvSpPr/>
          <p:nvPr/>
        </p:nvSpPr>
        <p:spPr>
          <a:xfrm>
            <a:off x="432000" y="35712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LINEで資料請求の仕組み</a:t>
            </a:r>
          </a:p>
        </p:txBody>
      </p:sp>
      <p:sp>
        <p:nvSpPr>
          <p:cNvPr id="23" name="Rounded Rectangle 22"/>
          <p:cNvSpPr/>
          <p:nvPr/>
        </p:nvSpPr>
        <p:spPr>
          <a:xfrm>
            <a:off x="4068000" y="36431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④</a:t>
            </a:r>
          </a:p>
        </p:txBody>
      </p:sp>
      <p:sp>
        <p:nvSpPr>
          <p:cNvPr id="24" name="Rounded Rectangle 23"/>
          <p:cNvSpPr/>
          <p:nvPr/>
        </p:nvSpPr>
        <p:spPr>
          <a:xfrm>
            <a:off x="432000" y="3996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リッチメニュー（2タブ）</a:t>
            </a:r>
          </a:p>
        </p:txBody>
      </p:sp>
      <p:sp>
        <p:nvSpPr>
          <p:cNvPr id="25" name="Rounded Rectangle 24"/>
          <p:cNvSpPr/>
          <p:nvPr/>
        </p:nvSpPr>
        <p:spPr>
          <a:xfrm>
            <a:off x="4068000" y="40679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全体</a:t>
            </a:r>
          </a:p>
        </p:txBody>
      </p:sp>
      <p:sp>
        <p:nvSpPr>
          <p:cNvPr id="26" name="Rounded Rectangle 25"/>
          <p:cNvSpPr/>
          <p:nvPr/>
        </p:nvSpPr>
        <p:spPr>
          <a:xfrm>
            <a:off x="432000" y="4420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14日間の配信（未入会の保護者向け）</a:t>
            </a:r>
          </a:p>
        </p:txBody>
      </p:sp>
      <p:sp>
        <p:nvSpPr>
          <p:cNvPr id="27" name="Rounded Rectangle 26"/>
          <p:cNvSpPr/>
          <p:nvPr/>
        </p:nvSpPr>
        <p:spPr>
          <a:xfrm>
            <a:off x="4068000" y="4492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③⑤</a:t>
            </a:r>
          </a:p>
        </p:txBody>
      </p:sp>
      <p:sp>
        <p:nvSpPr>
          <p:cNvPr id="28" name="Rounded Rectangle 27"/>
          <p:cNvSpPr/>
          <p:nvPr/>
        </p:nvSpPr>
        <p:spPr>
          <a:xfrm>
            <a:off x="432000" y="4845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キーワード自動応答（料金・体験・持ち物）</a:t>
            </a:r>
          </a:p>
        </p:txBody>
      </p:sp>
      <p:sp>
        <p:nvSpPr>
          <p:cNvPr id="29" name="Rounded Rectangle 28"/>
          <p:cNvSpPr/>
          <p:nvPr/>
        </p:nvSpPr>
        <p:spPr>
          <a:xfrm>
            <a:off x="4068000" y="4917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⑤</a:t>
            </a:r>
          </a:p>
        </p:txBody>
      </p:sp>
      <p:sp>
        <p:nvSpPr>
          <p:cNvPr id="30" name="Rounded Rectangle 29"/>
          <p:cNvSpPr/>
          <p:nvPr/>
        </p:nvSpPr>
        <p:spPr>
          <a:xfrm>
            <a:off x="5047200" y="1512000"/>
            <a:ext cx="4428000" cy="288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毎月運用するもの</a:t>
            </a:r>
          </a:p>
        </p:txBody>
      </p:sp>
      <p:sp>
        <p:nvSpPr>
          <p:cNvPr id="31" name="Rounded Rectangle 30"/>
          <p:cNvSpPr/>
          <p:nvPr/>
        </p:nvSpPr>
        <p:spPr>
          <a:xfrm>
            <a:off x="5047200" y="1872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企画配信（月1〜2本・年間カレンダーに沿って）</a:t>
            </a:r>
          </a:p>
        </p:txBody>
      </p:sp>
      <p:sp>
        <p:nvSpPr>
          <p:cNvPr id="32" name="Rounded Rectangle 31"/>
          <p:cNvSpPr/>
          <p:nvPr/>
        </p:nvSpPr>
        <p:spPr>
          <a:xfrm>
            <a:off x="8676000" y="19440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③</a:t>
            </a:r>
          </a:p>
        </p:txBody>
      </p:sp>
      <p:sp>
        <p:nvSpPr>
          <p:cNvPr id="33" name="Rounded Rectangle 32"/>
          <p:cNvSpPr/>
          <p:nvPr/>
        </p:nvSpPr>
        <p:spPr>
          <a:xfrm>
            <a:off x="5047200" y="2296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診断結果に合わせた出し分け配信</a:t>
            </a:r>
          </a:p>
        </p:txBody>
      </p:sp>
      <p:sp>
        <p:nvSpPr>
          <p:cNvPr id="34" name="Rounded Rectangle 33"/>
          <p:cNvSpPr/>
          <p:nvPr/>
        </p:nvSpPr>
        <p:spPr>
          <a:xfrm>
            <a:off x="8676000" y="2368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⑤⑥</a:t>
            </a:r>
          </a:p>
        </p:txBody>
      </p:sp>
      <p:sp>
        <p:nvSpPr>
          <p:cNvPr id="35" name="Rounded Rectangle 34"/>
          <p:cNvSpPr/>
          <p:nvPr/>
        </p:nvSpPr>
        <p:spPr>
          <a:xfrm>
            <a:off x="5047200" y="2721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体験予約者への前日リマインド（自動）</a:t>
            </a:r>
          </a:p>
        </p:txBody>
      </p:sp>
      <p:sp>
        <p:nvSpPr>
          <p:cNvPr id="36" name="Rounded Rectangle 35"/>
          <p:cNvSpPr/>
          <p:nvPr/>
        </p:nvSpPr>
        <p:spPr>
          <a:xfrm>
            <a:off x="8676000" y="2793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⑤⑦</a:t>
            </a:r>
          </a:p>
        </p:txBody>
      </p:sp>
      <p:sp>
        <p:nvSpPr>
          <p:cNvPr id="37" name="Rounded Rectangle 36"/>
          <p:cNvSpPr/>
          <p:nvPr/>
        </p:nvSpPr>
        <p:spPr>
          <a:xfrm>
            <a:off x="5047200" y="31464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過去に問い合わせた保護者への再案内</a:t>
            </a:r>
          </a:p>
        </p:txBody>
      </p:sp>
      <p:sp>
        <p:nvSpPr>
          <p:cNvPr id="38" name="Rounded Rectangle 37"/>
          <p:cNvSpPr/>
          <p:nvPr/>
        </p:nvSpPr>
        <p:spPr>
          <a:xfrm>
            <a:off x="8676000" y="32184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⑥</a:t>
            </a:r>
          </a:p>
        </p:txBody>
      </p:sp>
      <p:sp>
        <p:nvSpPr>
          <p:cNvPr id="39" name="Rounded Rectangle 38"/>
          <p:cNvSpPr/>
          <p:nvPr/>
        </p:nvSpPr>
        <p:spPr>
          <a:xfrm>
            <a:off x="5047200" y="35712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月次レポートと定例会</a:t>
            </a:r>
          </a:p>
        </p:txBody>
      </p:sp>
      <p:sp>
        <p:nvSpPr>
          <p:cNvPr id="40" name="Rounded Rectangle 39"/>
          <p:cNvSpPr/>
          <p:nvPr/>
        </p:nvSpPr>
        <p:spPr>
          <a:xfrm>
            <a:off x="8676000" y="36431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全体</a:t>
            </a:r>
          </a:p>
        </p:txBody>
      </p:sp>
      <p:sp>
        <p:nvSpPr>
          <p:cNvPr id="41" name="Rounded Rectangle 40"/>
          <p:cNvSpPr/>
          <p:nvPr/>
        </p:nvSpPr>
        <p:spPr>
          <a:xfrm>
            <a:off x="5047200" y="4068000"/>
            <a:ext cx="4428000" cy="1188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333333"/>
                </a:solidFill>
                <a:latin typeface="メイリオ"/>
                <a:ea typeface="メイリオ"/>
                <a:cs typeface="メイリオ"/>
              </a:rPr>
              <a:t>特に作り込むのは、診断・リッチメニュー・14日間の配信の3つ。</a:t>
            </a:r>
          </a:p>
          <a:p>
            <a:pPr algn="ctr"/>
            <a:r>
              <a:rPr sz="1100" b="0">
                <a:solidFill>
                  <a:srgbClr val="333333"/>
                </a:solidFill>
                <a:latin typeface="メイリオ"/>
                <a:ea typeface="メイリオ"/>
                <a:cs typeface="メイリオ"/>
              </a:rPr>
              <a:t>この3つが、その後のすべての配信の土台になる。</a:t>
            </a:r>
          </a:p>
        </p:txBody>
      </p:sp>
      <p:sp>
        <p:nvSpPr>
          <p:cNvPr id="42" name="Rectangle 41"/>
          <p:cNvSpPr/>
          <p:nvPr/>
        </p:nvSpPr>
        <p:spPr>
          <a:xfrm>
            <a:off x="432000" y="5328000"/>
            <a:ext cx="90432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900" b="0">
                <a:solidFill>
                  <a:srgbClr val="7F7F7F"/>
                </a:solidFill>
                <a:latin typeface="メイリオ"/>
                <a:ea typeface="メイリオ"/>
                <a:cs typeface="メイリオ"/>
              </a:rPr>
              <a:t>右の番号は、8フェーズのどこに効くか</a:t>
            </a:r>
          </a:p>
        </p:txBody>
      </p:sp>
    </p:spTree>
    <p:extLst>
      <p:ext uri="{BB962C8B-B14F-4D97-AF65-F5344CB8AC3E}">
        <p14:creationId xmlns:p14="http://schemas.microsoft.com/office/powerpoint/2010/main" val="4224870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1590B-7660-E16F-AF1F-C1B09199CC7C}"/>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構築①｜友だち追加の入口</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決断を急がせず、「資料と診断を受け取るだけ」でつながる入口をつくる。</a:t>
            </a:r>
          </a:p>
          <a:p>
            <a:pPr algn="l">
              <a:lnSpc>
                <a:spcPct val="128000"/>
              </a:lnSpc>
            </a:pPr>
            <a:r>
              <a:rPr sz="1200">
                <a:solidFill>
                  <a:srgbClr val="333333"/>
                </a:solidFill>
                <a:latin typeface="メイリオ"/>
                <a:ea typeface="メイリオ"/>
                <a:cs typeface="メイリオ"/>
              </a:rPr>
              <a:t>ボタンは「今すぐ体験」ではなく「受け取る」。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※ボタンの文言は弊社の見解。離脱防止ポップアップはSitelead等（別途費用）。明光義塾も、サイトの初回訪問時・離脱時のポップアップで友だちを集めていた（公式事例・P15）</a:t>
            </a:r>
          </a:p>
        </p:txBody>
      </p:sp>
      <p:sp>
        <p:nvSpPr>
          <p:cNvPr id="18" name="Pentagon 17"/>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19" name="Chevron 18"/>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20" name="Chevron 19"/>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1" name="Chevron 20"/>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2" name="Chevron 21"/>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3" name="Chevron 22"/>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4" name="Chevron 2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5" name="Chevron 2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26" name="Rounded Rectangle 25"/>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7" name="Rounded Rectangle 26"/>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28" name="Rectangle 27"/>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問い合わせをせずに離れる保護者は多い</a:t>
            </a:r>
          </a:p>
          <a:p>
            <a:pPr algn="l"/>
            <a:r>
              <a:rPr sz="1000" b="0">
                <a:solidFill>
                  <a:srgbClr val="333333"/>
                </a:solidFill>
                <a:latin typeface="メイリオ"/>
                <a:ea typeface="メイリオ"/>
                <a:cs typeface="メイリオ"/>
              </a:rPr>
              <a:t>一番の悩みは「合うか分からない」63.5%（P7）</a:t>
            </a:r>
          </a:p>
        </p:txBody>
      </p:sp>
      <p:cxnSp>
        <p:nvCxnSpPr>
          <p:cNvPr id="29" name="Connector 28"/>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1" name="Rounded Rectangle 30"/>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2" name="Rectangle 31"/>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決めていない保護者でも、</a:t>
            </a:r>
          </a:p>
          <a:p>
            <a:pPr algn="l"/>
            <a:r>
              <a:rPr sz="1000" b="0">
                <a:solidFill>
                  <a:srgbClr val="333333"/>
                </a:solidFill>
                <a:latin typeface="メイリオ"/>
                <a:ea typeface="メイリオ"/>
                <a:cs typeface="メイリオ"/>
              </a:rPr>
              <a:t>気軽につながれる入口をつくる</a:t>
            </a:r>
          </a:p>
        </p:txBody>
      </p:sp>
      <p:cxnSp>
        <p:nvCxnSpPr>
          <p:cNvPr id="33" name="Connector 32"/>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ounded Rectangle 34"/>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36" name="Rectangle 35"/>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入口は3つ：</a:t>
            </a:r>
          </a:p>
          <a:p>
            <a:pPr algn="l"/>
            <a:r>
              <a:rPr sz="1000" b="0">
                <a:solidFill>
                  <a:srgbClr val="FFFFFF"/>
                </a:solidFill>
                <a:latin typeface="メイリオ"/>
                <a:ea typeface="メイリオ"/>
                <a:cs typeface="メイリオ"/>
              </a:rPr>
              <a:t>離脱防止ポップアップ／チラシ・教室のQR／友だちからの紹介</a:t>
            </a:r>
          </a:p>
        </p:txBody>
      </p:sp>
      <p:sp>
        <p:nvSpPr>
          <p:cNvPr id="37" name="Rectangle 36"/>
          <p:cNvSpPr/>
          <p:nvPr/>
        </p:nvSpPr>
        <p:spPr>
          <a:xfrm>
            <a:off x="432000" y="2610000"/>
            <a:ext cx="45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入口は3つ</a:t>
            </a:r>
          </a:p>
        </p:txBody>
      </p:sp>
      <p:sp>
        <p:nvSpPr>
          <p:cNvPr id="38" name="Rounded Rectangle 37"/>
          <p:cNvSpPr/>
          <p:nvPr/>
        </p:nvSpPr>
        <p:spPr>
          <a:xfrm>
            <a:off x="432000" y="2862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サイトの離脱防止ポップアップ</a:t>
            </a:r>
          </a:p>
          <a:p>
            <a:pPr algn="l"/>
            <a:r>
              <a:rPr sz="1200" b="0">
                <a:solidFill>
                  <a:srgbClr val="333333"/>
                </a:solidFill>
                <a:latin typeface="メイリオ"/>
                <a:ea typeface="メイリオ"/>
                <a:cs typeface="メイリオ"/>
              </a:rPr>
              <a:t>サイトを離れようとした時に表示。広告費を増やさずにつながれる</a:t>
            </a:r>
          </a:p>
        </p:txBody>
      </p:sp>
      <p:sp>
        <p:nvSpPr>
          <p:cNvPr id="39" name="Rounded Rectangle 38"/>
          <p:cNvSpPr/>
          <p:nvPr/>
        </p:nvSpPr>
        <p:spPr>
          <a:xfrm>
            <a:off x="432000" y="3654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チラシ・教室掲示のQR</a:t>
            </a:r>
          </a:p>
          <a:p>
            <a:pPr algn="l"/>
            <a:r>
              <a:rPr sz="1200" b="0">
                <a:solidFill>
                  <a:srgbClr val="333333"/>
                </a:solidFill>
                <a:latin typeface="メイリオ"/>
                <a:ea typeface="メイリオ"/>
                <a:cs typeface="メイリオ"/>
              </a:rPr>
              <a:t>今のチラシにQRコードを1つ加えるだけ</a:t>
            </a:r>
          </a:p>
        </p:txBody>
      </p:sp>
      <p:sp>
        <p:nvSpPr>
          <p:cNvPr id="40" name="Rounded Rectangle 39"/>
          <p:cNvSpPr/>
          <p:nvPr/>
        </p:nvSpPr>
        <p:spPr>
          <a:xfrm>
            <a:off x="432000" y="4446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友だちからの紹介（入会前）</a:t>
            </a:r>
          </a:p>
          <a:p>
            <a:pPr algn="l"/>
            <a:r>
              <a:rPr sz="1200" b="0">
                <a:solidFill>
                  <a:srgbClr val="333333"/>
                </a:solidFill>
                <a:latin typeface="メイリオ"/>
                <a:ea typeface="メイリオ"/>
                <a:cs typeface="メイリオ"/>
              </a:rPr>
              <a:t>「一緒に体験しよう」をLINEで送っていただく（P26）</a:t>
            </a:r>
          </a:p>
        </p:txBody>
      </p:sp>
      <p:sp>
        <p:nvSpPr>
          <p:cNvPr id="41" name="Rectangle 40"/>
          <p:cNvSpPr/>
          <p:nvPr/>
        </p:nvSpPr>
        <p:spPr>
          <a:xfrm>
            <a:off x="5148000" y="2610000"/>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離脱防止ポップアップの実文</a:t>
            </a:r>
          </a:p>
        </p:txBody>
      </p:sp>
      <p:sp>
        <p:nvSpPr>
          <p:cNvPr id="42" name="Rounded Rectangle 41"/>
          <p:cNvSpPr/>
          <p:nvPr/>
        </p:nvSpPr>
        <p:spPr>
          <a:xfrm>
            <a:off x="5148000" y="2862000"/>
            <a:ext cx="4320000" cy="2286000"/>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3" name="Rectangle 42"/>
          <p:cNvSpPr/>
          <p:nvPr/>
        </p:nvSpPr>
        <p:spPr>
          <a:xfrm>
            <a:off x="5328000" y="2951999"/>
            <a:ext cx="3960000" cy="154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1">
                <a:solidFill>
                  <a:srgbClr val="002060"/>
                </a:solidFill>
                <a:latin typeface="メイリオ"/>
                <a:ea typeface="メイリオ"/>
                <a:cs typeface="メイリオ"/>
              </a:rPr>
              <a:t>まだ、塾を決めなくて大丈夫です。</a:t>
            </a:r>
          </a:p>
          <a:p>
            <a:pPr algn="l"/>
            <a:r>
              <a:rPr sz="1050" b="0">
                <a:solidFill>
                  <a:srgbClr val="333333"/>
                </a:solidFill>
                <a:latin typeface="メイリオ"/>
                <a:ea typeface="メイリオ"/>
                <a:cs typeface="メイリオ"/>
              </a:rPr>
              <a:t>30秒の診断で、お子さまに合う学び方（集団／個別／映像）と、</a:t>
            </a:r>
          </a:p>
          <a:p>
            <a:pPr algn="l"/>
            <a:r>
              <a:rPr sz="1050" b="0">
                <a:solidFill>
                  <a:srgbClr val="333333"/>
                </a:solidFill>
                <a:latin typeface="メイリオ"/>
                <a:ea typeface="メイリオ"/>
                <a:cs typeface="メイリオ"/>
              </a:rPr>
              <a:t>コース・料金の資料をLINEでお届けします。</a:t>
            </a:r>
          </a:p>
        </p:txBody>
      </p:sp>
      <p:sp>
        <p:nvSpPr>
          <p:cNvPr id="44" name="Rounded Rectangle 43"/>
          <p:cNvSpPr/>
          <p:nvPr/>
        </p:nvSpPr>
        <p:spPr>
          <a:xfrm>
            <a:off x="5688000" y="4176000"/>
            <a:ext cx="3240000" cy="396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LINEで資料と診断を受け取る</a:t>
            </a:r>
          </a:p>
        </p:txBody>
      </p:sp>
      <p:sp>
        <p:nvSpPr>
          <p:cNvPr id="45" name="Rectangle 44"/>
          <p:cNvSpPr/>
          <p:nvPr/>
        </p:nvSpPr>
        <p:spPr>
          <a:xfrm>
            <a:off x="5328000" y="4644000"/>
            <a:ext cx="39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950" b="0">
                <a:solidFill>
                  <a:srgbClr val="7F7F7F"/>
                </a:solidFill>
                <a:latin typeface="メイリオ"/>
                <a:ea typeface="メイリオ"/>
                <a:cs typeface="メイリオ"/>
              </a:rPr>
              <a:t>※お名前・お電話番号は不要です</a:t>
            </a:r>
          </a:p>
        </p:txBody>
      </p:sp>
    </p:spTree>
    <p:extLst>
      <p:ext uri="{BB962C8B-B14F-4D97-AF65-F5344CB8AC3E}">
        <p14:creationId xmlns:p14="http://schemas.microsoft.com/office/powerpoint/2010/main" val="42609803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構築①｜つづき：友だちと一緒に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「友だちと一緒なら行ってみたい」を、体験予約のきっかけにする。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保護者どうしの「どこの塾に行ってる？」を、LINEでつなぐ。</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出典｜POPER「Comiru」保護者と学習塾の意識調査 2022年（保護者300人）。特典の中身は塾ごとに決める</a:t>
            </a:r>
          </a:p>
        </p:txBody>
      </p:sp>
      <p:sp>
        <p:nvSpPr>
          <p:cNvPr id="17" name="Pentagon 16"/>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18" name="Chevron 17"/>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9" name="Chevron 18"/>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0" name="Chevron 19"/>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1" name="Chevron 20"/>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22" name="Chevron 21"/>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3" name="Chevron 22"/>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4" name="Chevron 23"/>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25" name="Rounded Rectangle 24"/>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6" name="Rounded Rectangle 25"/>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27" name="Rectangle 26"/>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0">
                <a:solidFill>
                  <a:srgbClr val="333333"/>
                </a:solidFill>
                <a:latin typeface="メイリオ"/>
                <a:ea typeface="メイリオ"/>
                <a:cs typeface="メイリオ"/>
              </a:rPr>
              <a:t>塾を知ったきっかけの1位は</a:t>
            </a:r>
          </a:p>
          <a:p>
            <a:pPr algn="l"/>
            <a:r>
              <a:rPr sz="1150" b="0">
                <a:solidFill>
                  <a:srgbClr val="333333"/>
                </a:solidFill>
                <a:latin typeface="メイリオ"/>
                <a:ea typeface="メイリオ"/>
                <a:cs typeface="メイリオ"/>
              </a:rPr>
              <a:t>「知人・友人の口コミ」47.0%</a:t>
            </a:r>
          </a:p>
        </p:txBody>
      </p:sp>
      <p:cxnSp>
        <p:nvCxnSpPr>
          <p:cNvPr id="28" name="Connector 27"/>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0" name="Rounded Rectangle 29"/>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1" name="Rectangle 30"/>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0">
                <a:solidFill>
                  <a:srgbClr val="333333"/>
                </a:solidFill>
                <a:latin typeface="メイリオ"/>
                <a:ea typeface="メイリオ"/>
                <a:cs typeface="メイリオ"/>
              </a:rPr>
              <a:t>友だちとの会話を、</a:t>
            </a:r>
          </a:p>
          <a:p>
            <a:pPr algn="l"/>
            <a:r>
              <a:rPr sz="1150" b="0">
                <a:solidFill>
                  <a:srgbClr val="333333"/>
                </a:solidFill>
                <a:latin typeface="メイリオ"/>
                <a:ea typeface="メイリオ"/>
                <a:cs typeface="メイリオ"/>
              </a:rPr>
              <a:t>体験予約のきっかけにする</a:t>
            </a:r>
          </a:p>
        </p:txBody>
      </p:sp>
      <p:cxnSp>
        <p:nvCxnSpPr>
          <p:cNvPr id="32" name="Connector 31"/>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4" name="Rounded Rectangle 33"/>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35" name="Rectangle 34"/>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0">
                <a:solidFill>
                  <a:srgbClr val="FFFFFF"/>
                </a:solidFill>
                <a:latin typeface="メイリオ"/>
                <a:ea typeface="メイリオ"/>
                <a:cs typeface="メイリオ"/>
              </a:rPr>
              <a:t>友だちと一緒の体験枠をLINEで予約</a:t>
            </a:r>
          </a:p>
          <a:p>
            <a:pPr algn="l"/>
            <a:r>
              <a:rPr sz="1150" b="0">
                <a:solidFill>
                  <a:srgbClr val="FFFFFF"/>
                </a:solidFill>
                <a:latin typeface="メイリオ"/>
                <a:ea typeface="メイリオ"/>
                <a:cs typeface="メイリオ"/>
              </a:rPr>
              <a:t>LINEの転送だけで紹介できる</a:t>
            </a:r>
          </a:p>
        </p:txBody>
      </p:sp>
      <p:sp>
        <p:nvSpPr>
          <p:cNvPr id="36" name="Rectangle 35"/>
          <p:cNvSpPr/>
          <p:nvPr/>
        </p:nvSpPr>
        <p:spPr>
          <a:xfrm>
            <a:off x="432000" y="2610000"/>
            <a:ext cx="45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友だちと一緒に通うメリット（保護者に伝えること）</a:t>
            </a:r>
          </a:p>
        </p:txBody>
      </p:sp>
      <p:sp>
        <p:nvSpPr>
          <p:cNvPr id="37" name="Rounded Rectangle 36"/>
          <p:cNvSpPr/>
          <p:nvPr/>
        </p:nvSpPr>
        <p:spPr>
          <a:xfrm>
            <a:off x="432000" y="2862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800" b="0">
                <a:solidFill>
                  <a:srgbClr val="333333"/>
                </a:solidFill>
                <a:latin typeface="メイリオ"/>
                <a:ea typeface="メイリオ"/>
                <a:cs typeface="メイリオ"/>
              </a:rPr>
              <a:t>📚</a:t>
            </a:r>
          </a:p>
        </p:txBody>
      </p:sp>
      <p:sp>
        <p:nvSpPr>
          <p:cNvPr id="38" name="Rounded Rectangle 37"/>
          <p:cNvSpPr/>
          <p:nvPr/>
        </p:nvSpPr>
        <p:spPr>
          <a:xfrm>
            <a:off x="1188000" y="2862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1">
                <a:solidFill>
                  <a:srgbClr val="1F285A"/>
                </a:solidFill>
                <a:latin typeface="メイリオ"/>
                <a:ea typeface="メイリオ"/>
                <a:cs typeface="メイリオ"/>
              </a:rPr>
              <a:t>通う習慣がつきやすい</a:t>
            </a:r>
          </a:p>
          <a:p>
            <a:pPr algn="l"/>
            <a:r>
              <a:rPr sz="1200" b="0">
                <a:solidFill>
                  <a:srgbClr val="333333"/>
                </a:solidFill>
                <a:latin typeface="メイリオ"/>
                <a:ea typeface="メイリオ"/>
                <a:cs typeface="メイリオ"/>
              </a:rPr>
              <a:t>一緒に行く友だちがいると、休みにくくなる</a:t>
            </a:r>
          </a:p>
        </p:txBody>
      </p:sp>
      <p:sp>
        <p:nvSpPr>
          <p:cNvPr id="39" name="Rounded Rectangle 38"/>
          <p:cNvSpPr/>
          <p:nvPr/>
        </p:nvSpPr>
        <p:spPr>
          <a:xfrm>
            <a:off x="432000" y="3654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800" b="0">
                <a:solidFill>
                  <a:srgbClr val="333333"/>
                </a:solidFill>
                <a:latin typeface="メイリオ"/>
                <a:ea typeface="メイリオ"/>
                <a:cs typeface="メイリオ"/>
              </a:rPr>
              <a:t>💪</a:t>
            </a:r>
          </a:p>
        </p:txBody>
      </p:sp>
      <p:sp>
        <p:nvSpPr>
          <p:cNvPr id="40" name="Rounded Rectangle 39"/>
          <p:cNvSpPr/>
          <p:nvPr/>
        </p:nvSpPr>
        <p:spPr>
          <a:xfrm>
            <a:off x="1188000" y="3654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1">
                <a:solidFill>
                  <a:srgbClr val="1F285A"/>
                </a:solidFill>
                <a:latin typeface="メイリオ"/>
                <a:ea typeface="メイリオ"/>
                <a:cs typeface="メイリオ"/>
              </a:rPr>
              <a:t>励まし合える</a:t>
            </a:r>
          </a:p>
          <a:p>
            <a:pPr algn="l"/>
            <a:r>
              <a:rPr sz="1200" b="0">
                <a:solidFill>
                  <a:srgbClr val="333333"/>
                </a:solidFill>
                <a:latin typeface="メイリオ"/>
                <a:ea typeface="メイリオ"/>
                <a:cs typeface="メイリオ"/>
              </a:rPr>
              <a:t>テスト前も「一緒に頑張ろう」がある</a:t>
            </a:r>
          </a:p>
        </p:txBody>
      </p:sp>
      <p:sp>
        <p:nvSpPr>
          <p:cNvPr id="41" name="Rounded Rectangle 40"/>
          <p:cNvSpPr/>
          <p:nvPr/>
        </p:nvSpPr>
        <p:spPr>
          <a:xfrm>
            <a:off x="432000" y="4446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800" b="0">
                <a:solidFill>
                  <a:srgbClr val="333333"/>
                </a:solidFill>
                <a:latin typeface="メイリオ"/>
                <a:ea typeface="メイリオ"/>
                <a:cs typeface="メイリオ"/>
              </a:rPr>
              <a:t>🚗</a:t>
            </a:r>
          </a:p>
        </p:txBody>
      </p:sp>
      <p:sp>
        <p:nvSpPr>
          <p:cNvPr id="42" name="Rounded Rectangle 41"/>
          <p:cNvSpPr/>
          <p:nvPr/>
        </p:nvSpPr>
        <p:spPr>
          <a:xfrm>
            <a:off x="1188000" y="4446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1">
                <a:solidFill>
                  <a:srgbClr val="1F285A"/>
                </a:solidFill>
                <a:latin typeface="メイリオ"/>
                <a:ea typeface="メイリオ"/>
                <a:cs typeface="メイリオ"/>
              </a:rPr>
              <a:t>送り迎えを分担できる</a:t>
            </a:r>
          </a:p>
          <a:p>
            <a:pPr algn="l"/>
            <a:r>
              <a:rPr sz="1200" b="0">
                <a:solidFill>
                  <a:srgbClr val="333333"/>
                </a:solidFill>
                <a:latin typeface="メイリオ"/>
                <a:ea typeface="メイリオ"/>
                <a:cs typeface="メイリオ"/>
              </a:rPr>
              <a:t>保護者どうしで助け合える</a:t>
            </a:r>
          </a:p>
        </p:txBody>
      </p:sp>
      <p:sp>
        <p:nvSpPr>
          <p:cNvPr id="43" name="Rectangle 42"/>
          <p:cNvSpPr/>
          <p:nvPr/>
        </p:nvSpPr>
        <p:spPr>
          <a:xfrm>
            <a:off x="5148000" y="2610000"/>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LINEでの仕組み</a:t>
            </a:r>
          </a:p>
        </p:txBody>
      </p:sp>
      <p:sp>
        <p:nvSpPr>
          <p:cNvPr id="44" name="Rounded Rectangle 43"/>
          <p:cNvSpPr/>
          <p:nvPr/>
        </p:nvSpPr>
        <p:spPr>
          <a:xfrm>
            <a:off x="5148000" y="2844000"/>
            <a:ext cx="1728000" cy="3060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ectangle 44"/>
          <p:cNvSpPr/>
          <p:nvPr/>
        </p:nvSpPr>
        <p:spPr>
          <a:xfrm>
            <a:off x="5238000" y="3042000"/>
            <a:ext cx="1548000" cy="2700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6" name="Rectangle 45"/>
          <p:cNvSpPr/>
          <p:nvPr/>
        </p:nvSpPr>
        <p:spPr>
          <a:xfrm>
            <a:off x="5238000" y="3042000"/>
            <a:ext cx="1548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47" name="Rounded Rectangle 46"/>
          <p:cNvSpPr/>
          <p:nvPr/>
        </p:nvSpPr>
        <p:spPr>
          <a:xfrm>
            <a:off x="5310000" y="3402000"/>
            <a:ext cx="1368000" cy="72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00" b="0">
                <a:solidFill>
                  <a:srgbClr val="333333"/>
                </a:solidFill>
                <a:latin typeface="メイリオ"/>
                <a:ea typeface="メイリオ"/>
                <a:cs typeface="メイリオ"/>
              </a:rPr>
              <a:t>お友だちと一緒の</a:t>
            </a:r>
          </a:p>
          <a:p>
            <a:pPr algn="l"/>
            <a:r>
              <a:rPr sz="800" b="0">
                <a:solidFill>
                  <a:srgbClr val="333333"/>
                </a:solidFill>
                <a:latin typeface="メイリオ"/>
                <a:ea typeface="メイリオ"/>
                <a:cs typeface="メイリオ"/>
              </a:rPr>
              <a:t>体験授業も受け付けて</a:t>
            </a:r>
          </a:p>
          <a:p>
            <a:pPr algn="l"/>
            <a:r>
              <a:rPr sz="800" b="0">
                <a:solidFill>
                  <a:srgbClr val="333333"/>
                </a:solidFill>
                <a:latin typeface="メイリオ"/>
                <a:ea typeface="メイリオ"/>
                <a:cs typeface="メイリオ"/>
              </a:rPr>
              <a:t>います😊 2人とも</a:t>
            </a:r>
          </a:p>
          <a:p>
            <a:pPr algn="l"/>
            <a:r>
              <a:rPr sz="800" b="0">
                <a:solidFill>
                  <a:srgbClr val="333333"/>
                </a:solidFill>
                <a:latin typeface="メイリオ"/>
                <a:ea typeface="メイリオ"/>
                <a:cs typeface="メイリオ"/>
              </a:rPr>
              <a:t>特典があります</a:t>
            </a:r>
          </a:p>
        </p:txBody>
      </p:sp>
      <p:sp>
        <p:nvSpPr>
          <p:cNvPr id="48" name="Rounded Rectangle 47"/>
          <p:cNvSpPr/>
          <p:nvPr/>
        </p:nvSpPr>
        <p:spPr>
          <a:xfrm>
            <a:off x="5310000" y="4194000"/>
            <a:ext cx="1368000" cy="234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800" b="1">
                <a:solidFill>
                  <a:srgbClr val="FFFFFF"/>
                </a:solidFill>
                <a:latin typeface="メイリオ"/>
                <a:ea typeface="メイリオ"/>
                <a:cs typeface="メイリオ"/>
              </a:rPr>
              <a:t>一緒に体験を予約</a:t>
            </a:r>
          </a:p>
        </p:txBody>
      </p:sp>
      <p:sp>
        <p:nvSpPr>
          <p:cNvPr id="49" name="Rounded Rectangle 48"/>
          <p:cNvSpPr/>
          <p:nvPr/>
        </p:nvSpPr>
        <p:spPr>
          <a:xfrm>
            <a:off x="5310000" y="4482000"/>
            <a:ext cx="1368000" cy="234000"/>
          </a:xfrm>
          <a:prstGeom prst="roundRect">
            <a:avLst>
              <a:gd name="adj" fmla="val 30000"/>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800" b="1">
                <a:solidFill>
                  <a:srgbClr val="06C755"/>
                </a:solidFill>
                <a:latin typeface="メイリオ"/>
                <a:ea typeface="メイリオ"/>
                <a:cs typeface="メイリオ"/>
              </a:rPr>
              <a:t>友だちに送る</a:t>
            </a:r>
          </a:p>
        </p:txBody>
      </p:sp>
      <p:sp>
        <p:nvSpPr>
          <p:cNvPr id="50" name="Oval 49"/>
          <p:cNvSpPr/>
          <p:nvPr/>
        </p:nvSpPr>
        <p:spPr>
          <a:xfrm>
            <a:off x="7056000" y="3024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1</a:t>
            </a:r>
          </a:p>
        </p:txBody>
      </p:sp>
      <p:sp>
        <p:nvSpPr>
          <p:cNvPr id="51" name="Rectangle 50"/>
          <p:cNvSpPr/>
          <p:nvPr/>
        </p:nvSpPr>
        <p:spPr>
          <a:xfrm>
            <a:off x="7488000" y="2934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友だちと一緒の体験枠を用意</a:t>
            </a:r>
          </a:p>
          <a:p>
            <a:pPr algn="l"/>
            <a:r>
              <a:rPr sz="950" b="0">
                <a:solidFill>
                  <a:srgbClr val="333333"/>
                </a:solidFill>
                <a:latin typeface="メイリオ"/>
                <a:ea typeface="メイリオ"/>
                <a:cs typeface="メイリオ"/>
              </a:rPr>
              <a:t>LINEで2人分をまとめて予約できる</a:t>
            </a:r>
          </a:p>
        </p:txBody>
      </p:sp>
      <p:sp>
        <p:nvSpPr>
          <p:cNvPr id="52" name="Oval 51"/>
          <p:cNvSpPr/>
          <p:nvPr/>
        </p:nvSpPr>
        <p:spPr>
          <a:xfrm>
            <a:off x="7056000" y="3816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2</a:t>
            </a:r>
          </a:p>
        </p:txBody>
      </p:sp>
      <p:sp>
        <p:nvSpPr>
          <p:cNvPr id="53" name="Rectangle 52"/>
          <p:cNvSpPr/>
          <p:nvPr/>
        </p:nvSpPr>
        <p:spPr>
          <a:xfrm>
            <a:off x="7488000" y="3726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2人とも特典</a:t>
            </a:r>
          </a:p>
          <a:p>
            <a:pPr algn="l"/>
            <a:r>
              <a:rPr sz="950" b="0">
                <a:solidFill>
                  <a:srgbClr val="333333"/>
                </a:solidFill>
                <a:latin typeface="メイリオ"/>
                <a:ea typeface="メイリオ"/>
                <a:cs typeface="メイリオ"/>
              </a:rPr>
              <a:t>例：体験後の学習相談、教材プレゼント</a:t>
            </a:r>
          </a:p>
        </p:txBody>
      </p:sp>
      <p:sp>
        <p:nvSpPr>
          <p:cNvPr id="54" name="Oval 53"/>
          <p:cNvSpPr/>
          <p:nvPr/>
        </p:nvSpPr>
        <p:spPr>
          <a:xfrm>
            <a:off x="7056000" y="4608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3</a:t>
            </a:r>
          </a:p>
        </p:txBody>
      </p:sp>
      <p:sp>
        <p:nvSpPr>
          <p:cNvPr id="55" name="Rectangle 54"/>
          <p:cNvSpPr/>
          <p:nvPr/>
        </p:nvSpPr>
        <p:spPr>
          <a:xfrm>
            <a:off x="7488000" y="4518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LINEの転送で紹介</a:t>
            </a:r>
          </a:p>
          <a:p>
            <a:pPr algn="l"/>
            <a:r>
              <a:rPr sz="950" b="0">
                <a:solidFill>
                  <a:srgbClr val="333333"/>
                </a:solidFill>
                <a:latin typeface="メイリオ"/>
                <a:ea typeface="メイリオ"/>
                <a:cs typeface="メイリオ"/>
              </a:rPr>
              <a:t>トークを友だちの保護者に送るだけ</a:t>
            </a:r>
          </a:p>
        </p:txBody>
      </p:sp>
    </p:spTree>
    <p:extLst>
      <p:ext uri="{BB962C8B-B14F-4D97-AF65-F5344CB8AC3E}">
        <p14:creationId xmlns:p14="http://schemas.microsoft.com/office/powerpoint/2010/main" val="2299358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構築②｜あいさつメッセージ</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友だち追加の直後は、一番メッセージが読まれるタイミング。</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最初の1通で安心できることを先に伝え、診断へ進んでいただく。</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※文面の教室長名・対応時間・配信頻度は、貴塾の運用に合わせて調整する</a:t>
            </a:r>
          </a:p>
        </p:txBody>
      </p:sp>
      <p:sp>
        <p:nvSpPr>
          <p:cNvPr id="22" name="Pentagon 2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23" name="Chevron 2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24" name="Chevron 2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5" name="Chevron 24"/>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6" name="Chevron 25"/>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7" name="Chevron 2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8" name="Chevron 27"/>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9" name="Chevron 2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0" name="Rounded Rectangle 2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1" name="Rounded Rectangle 3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32" name="Rectangle 3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友だち追加の直後は、</a:t>
            </a:r>
          </a:p>
          <a:p>
            <a:pPr algn="l"/>
            <a:r>
              <a:rPr sz="1200" b="0">
                <a:solidFill>
                  <a:srgbClr val="333333"/>
                </a:solidFill>
                <a:latin typeface="メイリオ"/>
                <a:ea typeface="メイリオ"/>
                <a:cs typeface="メイリオ"/>
              </a:rPr>
              <a:t>一番メッセージが読まれる</a:t>
            </a:r>
          </a:p>
        </p:txBody>
      </p:sp>
      <p:cxnSp>
        <p:nvCxnSpPr>
          <p:cNvPr id="33" name="Connector 3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ounded Rectangle 34"/>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6" name="Rectangle 3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安心できることを先に伝えて、</a:t>
            </a:r>
          </a:p>
          <a:p>
            <a:pPr algn="l"/>
            <a:r>
              <a:rPr sz="1200" b="0">
                <a:solidFill>
                  <a:srgbClr val="333333"/>
                </a:solidFill>
                <a:latin typeface="メイリオ"/>
                <a:ea typeface="メイリオ"/>
                <a:cs typeface="メイリオ"/>
              </a:rPr>
              <a:t>診断へ進んでいただく</a:t>
            </a:r>
          </a:p>
        </p:txBody>
      </p:sp>
      <p:cxnSp>
        <p:nvCxnSpPr>
          <p:cNvPr id="37" name="Connector 3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9" name="Rounded Rectangle 3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40" name="Rectangle 3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FFFFFF"/>
                </a:solidFill>
                <a:latin typeface="メイリオ"/>
                <a:ea typeface="メイリオ"/>
                <a:cs typeface="メイリオ"/>
              </a:rPr>
              <a:t>あいさつメッセージの</a:t>
            </a:r>
          </a:p>
          <a:p>
            <a:pPr algn="l"/>
            <a:r>
              <a:rPr sz="1200" b="0">
                <a:solidFill>
                  <a:srgbClr val="FFFFFF"/>
                </a:solidFill>
                <a:latin typeface="メイリオ"/>
                <a:ea typeface="メイリオ"/>
                <a:cs typeface="メイリオ"/>
              </a:rPr>
              <a:t>組み立てを決めておく</a:t>
            </a:r>
          </a:p>
        </p:txBody>
      </p:sp>
      <p:sp>
        <p:nvSpPr>
          <p:cNvPr id="41" name="Rectangle 40"/>
          <p:cNvSpPr/>
          <p:nvPr/>
        </p:nvSpPr>
        <p:spPr>
          <a:xfrm>
            <a:off x="432000" y="2610000"/>
            <a:ext cx="468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メッセージの組み立て</a:t>
            </a:r>
          </a:p>
        </p:txBody>
      </p:sp>
      <p:sp>
        <p:nvSpPr>
          <p:cNvPr id="42" name="Oval 41"/>
          <p:cNvSpPr/>
          <p:nvPr/>
        </p:nvSpPr>
        <p:spPr>
          <a:xfrm>
            <a:off x="432000" y="2951999"/>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1</a:t>
            </a:r>
          </a:p>
        </p:txBody>
      </p:sp>
      <p:sp>
        <p:nvSpPr>
          <p:cNvPr id="43" name="Rounded Rectangle 42"/>
          <p:cNvSpPr/>
          <p:nvPr/>
        </p:nvSpPr>
        <p:spPr>
          <a:xfrm>
            <a:off x="827999" y="28620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教室長の名前を出す</a:t>
            </a:r>
          </a:p>
          <a:p>
            <a:pPr algn="l"/>
            <a:r>
              <a:rPr sz="950" b="0">
                <a:solidFill>
                  <a:srgbClr val="333333"/>
                </a:solidFill>
                <a:latin typeface="メイリオ"/>
                <a:ea typeface="メイリオ"/>
                <a:cs typeface="メイリオ"/>
              </a:rPr>
              <a:t>人の顔が見えると安心できる</a:t>
            </a:r>
          </a:p>
        </p:txBody>
      </p:sp>
      <p:sp>
        <p:nvSpPr>
          <p:cNvPr id="44" name="Oval 43"/>
          <p:cNvSpPr/>
          <p:nvPr/>
        </p:nvSpPr>
        <p:spPr>
          <a:xfrm>
            <a:off x="432000" y="35352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2</a:t>
            </a:r>
          </a:p>
        </p:txBody>
      </p:sp>
      <p:sp>
        <p:nvSpPr>
          <p:cNvPr id="45" name="Rounded Rectangle 44"/>
          <p:cNvSpPr/>
          <p:nvPr/>
        </p:nvSpPr>
        <p:spPr>
          <a:xfrm>
            <a:off x="827999" y="34452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返信できる時間を書く</a:t>
            </a:r>
          </a:p>
          <a:p>
            <a:pPr algn="l"/>
            <a:r>
              <a:rPr sz="950" b="0">
                <a:solidFill>
                  <a:srgbClr val="333333"/>
                </a:solidFill>
                <a:latin typeface="メイリオ"/>
                <a:ea typeface="メイリオ"/>
                <a:cs typeface="メイリオ"/>
              </a:rPr>
              <a:t>例：平日14〜21時</a:t>
            </a:r>
          </a:p>
        </p:txBody>
      </p:sp>
      <p:sp>
        <p:nvSpPr>
          <p:cNvPr id="46" name="Oval 45"/>
          <p:cNvSpPr/>
          <p:nvPr/>
        </p:nvSpPr>
        <p:spPr>
          <a:xfrm>
            <a:off x="432000" y="41184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3</a:t>
            </a:r>
          </a:p>
        </p:txBody>
      </p:sp>
      <p:sp>
        <p:nvSpPr>
          <p:cNvPr id="47" name="Rounded Rectangle 46"/>
          <p:cNvSpPr/>
          <p:nvPr/>
        </p:nvSpPr>
        <p:spPr>
          <a:xfrm>
            <a:off x="827999" y="40284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届く頻度を書く</a:t>
            </a:r>
          </a:p>
          <a:p>
            <a:pPr algn="l"/>
            <a:r>
              <a:rPr sz="950" b="0">
                <a:solidFill>
                  <a:srgbClr val="333333"/>
                </a:solidFill>
                <a:latin typeface="メイリオ"/>
                <a:ea typeface="メイリオ"/>
                <a:cs typeface="メイリオ"/>
              </a:rPr>
              <a:t>例：週1回</a:t>
            </a:r>
          </a:p>
        </p:txBody>
      </p:sp>
      <p:sp>
        <p:nvSpPr>
          <p:cNvPr id="48" name="Oval 47"/>
          <p:cNvSpPr/>
          <p:nvPr/>
        </p:nvSpPr>
        <p:spPr>
          <a:xfrm>
            <a:off x="432000" y="47016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4</a:t>
            </a:r>
          </a:p>
        </p:txBody>
      </p:sp>
      <p:sp>
        <p:nvSpPr>
          <p:cNvPr id="49" name="Rounded Rectangle 48"/>
          <p:cNvSpPr/>
          <p:nvPr/>
        </p:nvSpPr>
        <p:spPr>
          <a:xfrm>
            <a:off x="827999" y="46116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営業のお電話はしないと書く</a:t>
            </a:r>
          </a:p>
          <a:p>
            <a:pPr algn="l"/>
            <a:r>
              <a:rPr sz="950" b="0">
                <a:solidFill>
                  <a:srgbClr val="333333"/>
                </a:solidFill>
                <a:latin typeface="メイリオ"/>
                <a:ea typeface="メイリオ"/>
                <a:cs typeface="メイリオ"/>
              </a:rPr>
              <a:t>連絡先を渡す不安をなくす</a:t>
            </a:r>
          </a:p>
        </p:txBody>
      </p:sp>
      <p:sp>
        <p:nvSpPr>
          <p:cNvPr id="50" name="Oval 49"/>
          <p:cNvSpPr/>
          <p:nvPr/>
        </p:nvSpPr>
        <p:spPr>
          <a:xfrm>
            <a:off x="432000" y="52848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5</a:t>
            </a:r>
          </a:p>
        </p:txBody>
      </p:sp>
      <p:sp>
        <p:nvSpPr>
          <p:cNvPr id="51" name="Rounded Rectangle 50"/>
          <p:cNvSpPr/>
          <p:nvPr/>
        </p:nvSpPr>
        <p:spPr>
          <a:xfrm>
            <a:off x="827999" y="51948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30秒診断へのボタン</a:t>
            </a:r>
          </a:p>
          <a:p>
            <a:pPr algn="l"/>
            <a:r>
              <a:rPr sz="950" b="0">
                <a:solidFill>
                  <a:srgbClr val="333333"/>
                </a:solidFill>
                <a:latin typeface="メイリオ"/>
                <a:ea typeface="メイリオ"/>
                <a:cs typeface="メイリオ"/>
              </a:rPr>
              <a:t>そのまま診断へ進める</a:t>
            </a:r>
          </a:p>
        </p:txBody>
      </p:sp>
      <p:sp>
        <p:nvSpPr>
          <p:cNvPr id="52" name="Rounded Rectangle 51"/>
          <p:cNvSpPr/>
          <p:nvPr/>
        </p:nvSpPr>
        <p:spPr>
          <a:xfrm>
            <a:off x="6048000" y="2610000"/>
            <a:ext cx="2592000" cy="345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3" name="Rectangle 52"/>
          <p:cNvSpPr/>
          <p:nvPr/>
        </p:nvSpPr>
        <p:spPr>
          <a:xfrm>
            <a:off x="6138000" y="2808000"/>
            <a:ext cx="2412000" cy="3096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4" name="Rectangle 53"/>
          <p:cNvSpPr/>
          <p:nvPr/>
        </p:nvSpPr>
        <p:spPr>
          <a:xfrm>
            <a:off x="6138000" y="2808000"/>
            <a:ext cx="2412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55" name="Rounded Rectangle 54"/>
          <p:cNvSpPr/>
          <p:nvPr/>
        </p:nvSpPr>
        <p:spPr>
          <a:xfrm>
            <a:off x="6228000" y="3150000"/>
            <a:ext cx="2088000" cy="2268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00" b="0">
                <a:solidFill>
                  <a:srgbClr val="333333"/>
                </a:solidFill>
                <a:latin typeface="メイリオ"/>
                <a:ea typeface="メイリオ"/>
                <a:cs typeface="メイリオ"/>
              </a:rPr>
              <a:t>はじめまして、◯◯塾 △△教室の</a:t>
            </a:r>
          </a:p>
          <a:p>
            <a:pPr algn="l"/>
            <a:r>
              <a:rPr sz="800" b="0">
                <a:solidFill>
                  <a:srgbClr val="333333"/>
                </a:solidFill>
                <a:latin typeface="メイリオ"/>
                <a:ea typeface="メイリオ"/>
                <a:cs typeface="メイリオ"/>
              </a:rPr>
              <a:t>教室長、佐藤です😊</a:t>
            </a:r>
          </a:p>
          <a:p>
            <a:pPr algn="l"/>
            <a:r>
              <a:rPr sz="800" b="0">
                <a:solidFill>
                  <a:srgbClr val="333333"/>
                </a:solidFill>
                <a:latin typeface="メイリオ"/>
                <a:ea typeface="メイリオ"/>
                <a:cs typeface="メイリオ"/>
              </a:rPr>
              <a:t>友だち追加ありがとうございます。</a:t>
            </a:r>
          </a:p>
          <a:p>
            <a:pPr algn="l"/>
            <a:endParaRPr sz="800" b="0">
              <a:solidFill>
                <a:srgbClr val="333333"/>
              </a:solidFill>
              <a:latin typeface="メイリオ"/>
              <a:ea typeface="メイリオ"/>
              <a:cs typeface="メイリオ"/>
            </a:endParaRPr>
          </a:p>
          <a:p>
            <a:pPr algn="l"/>
            <a:r>
              <a:rPr sz="800" b="0">
                <a:solidFill>
                  <a:srgbClr val="333333"/>
                </a:solidFill>
                <a:latin typeface="メイリオ"/>
                <a:ea typeface="メイリオ"/>
                <a:cs typeface="メイリオ"/>
              </a:rPr>
              <a:t>このLINEでは、お子さまの勉強に</a:t>
            </a:r>
          </a:p>
          <a:p>
            <a:pPr algn="l"/>
            <a:r>
              <a:rPr sz="800" b="0">
                <a:solidFill>
                  <a:srgbClr val="333333"/>
                </a:solidFill>
                <a:latin typeface="メイリオ"/>
                <a:ea typeface="メイリオ"/>
                <a:cs typeface="メイリオ"/>
              </a:rPr>
              <a:t>役立つ情報を週1回お届けします。</a:t>
            </a:r>
          </a:p>
          <a:p>
            <a:pPr algn="l"/>
            <a:r>
              <a:rPr sz="800" b="0">
                <a:solidFill>
                  <a:srgbClr val="333333"/>
                </a:solidFill>
                <a:latin typeface="メイリオ"/>
                <a:ea typeface="メイリオ"/>
                <a:cs typeface="メイリオ"/>
              </a:rPr>
              <a:t>営業のお電話は一切しません。</a:t>
            </a:r>
          </a:p>
          <a:p>
            <a:pPr algn="l"/>
            <a:r>
              <a:rPr sz="800" b="0">
                <a:solidFill>
                  <a:srgbClr val="333333"/>
                </a:solidFill>
                <a:latin typeface="メイリオ"/>
                <a:ea typeface="メイリオ"/>
                <a:cs typeface="メイリオ"/>
              </a:rPr>
              <a:t>ご質問は、平日14〜21時に</a:t>
            </a:r>
          </a:p>
          <a:p>
            <a:pPr algn="l"/>
            <a:r>
              <a:rPr sz="800" b="0">
                <a:solidFill>
                  <a:srgbClr val="333333"/>
                </a:solidFill>
                <a:latin typeface="メイリオ"/>
                <a:ea typeface="メイリオ"/>
                <a:cs typeface="メイリオ"/>
              </a:rPr>
              <a:t>このトークでお返事します。</a:t>
            </a:r>
          </a:p>
          <a:p>
            <a:pPr algn="l"/>
            <a:endParaRPr sz="800" b="0">
              <a:solidFill>
                <a:srgbClr val="333333"/>
              </a:solidFill>
              <a:latin typeface="メイリオ"/>
              <a:ea typeface="メイリオ"/>
              <a:cs typeface="メイリオ"/>
            </a:endParaRPr>
          </a:p>
          <a:p>
            <a:pPr algn="l"/>
            <a:r>
              <a:rPr sz="800" b="0">
                <a:solidFill>
                  <a:srgbClr val="333333"/>
                </a:solidFill>
                <a:latin typeface="メイリオ"/>
                <a:ea typeface="メイリオ"/>
                <a:cs typeface="メイリオ"/>
              </a:rPr>
              <a:t>まずは30秒の診断で、お子さまに</a:t>
            </a:r>
          </a:p>
          <a:p>
            <a:pPr algn="l"/>
            <a:r>
              <a:rPr sz="800" b="0">
                <a:solidFill>
                  <a:srgbClr val="333333"/>
                </a:solidFill>
                <a:latin typeface="メイリオ"/>
                <a:ea typeface="メイリオ"/>
                <a:cs typeface="メイリオ"/>
              </a:rPr>
              <a:t>合う学び方とコース・料金の資料を</a:t>
            </a:r>
          </a:p>
          <a:p>
            <a:pPr algn="l"/>
            <a:r>
              <a:rPr sz="800" b="0">
                <a:solidFill>
                  <a:srgbClr val="333333"/>
                </a:solidFill>
                <a:latin typeface="メイリオ"/>
                <a:ea typeface="メイリオ"/>
                <a:cs typeface="メイリオ"/>
              </a:rPr>
              <a:t>お受け取りください👇</a:t>
            </a:r>
          </a:p>
        </p:txBody>
      </p:sp>
      <p:sp>
        <p:nvSpPr>
          <p:cNvPr id="56" name="Rounded Rectangle 55"/>
          <p:cNvSpPr/>
          <p:nvPr/>
        </p:nvSpPr>
        <p:spPr>
          <a:xfrm>
            <a:off x="6228000" y="5490000"/>
            <a:ext cx="2088000" cy="270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FFFFFF"/>
                </a:solidFill>
                <a:latin typeface="メイリオ"/>
                <a:ea typeface="メイリオ"/>
                <a:cs typeface="メイリオ"/>
              </a:rPr>
              <a:t>30秒診断をはじめる</a:t>
            </a:r>
          </a:p>
        </p:txBody>
      </p:sp>
    </p:spTree>
    <p:extLst>
      <p:ext uri="{BB962C8B-B14F-4D97-AF65-F5344CB8AC3E}">
        <p14:creationId xmlns:p14="http://schemas.microsoft.com/office/powerpoint/2010/main" val="970958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構築③｜30秒ぴったり診断</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申し込む前に「集団・個別・映像のどれが合うか」をお伝えし、納得してから体験へ。</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4問すべて選択式。回答はそのまま配信の出し分けに使う。</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※明光義塾は、相性チェック（5問）と合わせて、LINEの中での体験予約も案内している（P16）。競合の診断（トライの性格別学習法診断など）はP14を参照</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40" name="Rounded Rectangle 3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42" name="Rectangle 4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塾選びで一番困ったこと</a:t>
            </a:r>
          </a:p>
          <a:p>
            <a:pPr algn="l"/>
            <a:r>
              <a:rPr sz="1000" b="0">
                <a:solidFill>
                  <a:srgbClr val="333333"/>
                </a:solidFill>
                <a:latin typeface="メイリオ"/>
                <a:ea typeface="メイリオ"/>
                <a:cs typeface="メイリオ"/>
              </a:rPr>
              <a:t>「うちの子に合う塾が分からない」63.5%</a:t>
            </a:r>
          </a:p>
        </p:txBody>
      </p:sp>
      <p:cxnSp>
        <p:nvCxnSpPr>
          <p:cNvPr id="43" name="Connector 4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ounded Rectangle 44"/>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46" name="Rectangle 4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申し込む前に、</a:t>
            </a:r>
          </a:p>
          <a:p>
            <a:pPr algn="l"/>
            <a:r>
              <a:rPr sz="1000" b="0">
                <a:solidFill>
                  <a:srgbClr val="333333"/>
                </a:solidFill>
                <a:latin typeface="メイリオ"/>
                <a:ea typeface="メイリオ"/>
                <a:cs typeface="メイリオ"/>
              </a:rPr>
              <a:t>「合う・合わない」をお伝えする</a:t>
            </a:r>
          </a:p>
        </p:txBody>
      </p:sp>
      <p:cxnSp>
        <p:nvCxnSpPr>
          <p:cNvPr id="47" name="Connector 4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9" name="Rounded Rectangle 4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50" name="Rectangle 4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30秒診断 → 資料請求（CV①）</a:t>
            </a:r>
          </a:p>
          <a:p>
            <a:pPr algn="l"/>
            <a:r>
              <a:rPr sz="1000" b="0">
                <a:solidFill>
                  <a:srgbClr val="FFFFFF"/>
                </a:solidFill>
                <a:latin typeface="メイリオ"/>
                <a:ea typeface="メイリオ"/>
                <a:cs typeface="メイリオ"/>
              </a:rPr>
              <a:t>→ 体験予約（CV②）</a:t>
            </a:r>
          </a:p>
        </p:txBody>
      </p:sp>
      <p:sp>
        <p:nvSpPr>
          <p:cNvPr id="51" name="Rounded Rectangle 50"/>
          <p:cNvSpPr/>
          <p:nvPr/>
        </p:nvSpPr>
        <p:spPr>
          <a:xfrm>
            <a:off x="432000" y="2628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Q1 お子さまの学年は？</a:t>
            </a:r>
          </a:p>
          <a:p>
            <a:pPr algn="l"/>
            <a:r>
              <a:rPr sz="900" b="0">
                <a:solidFill>
                  <a:srgbClr val="333333"/>
                </a:solidFill>
                <a:latin typeface="メイリオ"/>
                <a:ea typeface="メイリオ"/>
                <a:cs typeface="メイリオ"/>
              </a:rPr>
              <a:t>小1〜4／小5・6／中1・2／中3／高1・2／高3</a:t>
            </a:r>
          </a:p>
        </p:txBody>
      </p:sp>
      <p:sp>
        <p:nvSpPr>
          <p:cNvPr id="52" name="Rounded Rectangle 51"/>
          <p:cNvSpPr/>
          <p:nvPr/>
        </p:nvSpPr>
        <p:spPr>
          <a:xfrm>
            <a:off x="5256000" y="2826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学年</a:t>
            </a:r>
          </a:p>
        </p:txBody>
      </p:sp>
      <p:sp>
        <p:nvSpPr>
          <p:cNvPr id="53" name="Rounded Rectangle 52"/>
          <p:cNvSpPr/>
          <p:nvPr/>
        </p:nvSpPr>
        <p:spPr>
          <a:xfrm>
            <a:off x="432000" y="3384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Q2 いちばん近いお悩みは？</a:t>
            </a:r>
          </a:p>
          <a:p>
            <a:pPr algn="l"/>
            <a:r>
              <a:rPr sz="900" b="0">
                <a:solidFill>
                  <a:srgbClr val="333333"/>
                </a:solidFill>
                <a:latin typeface="メイリオ"/>
                <a:ea typeface="メイリオ"/>
                <a:cs typeface="メイリオ"/>
              </a:rPr>
              <a:t>成績が下がってきた／やる気が出ない／受験対策を始めたい／授業についていけない</a:t>
            </a:r>
          </a:p>
        </p:txBody>
      </p:sp>
      <p:sp>
        <p:nvSpPr>
          <p:cNvPr id="54" name="Rounded Rectangle 53"/>
          <p:cNvSpPr/>
          <p:nvPr/>
        </p:nvSpPr>
        <p:spPr>
          <a:xfrm>
            <a:off x="5256000" y="3582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悩み</a:t>
            </a:r>
          </a:p>
        </p:txBody>
      </p:sp>
      <p:sp>
        <p:nvSpPr>
          <p:cNvPr id="55" name="Rounded Rectangle 54"/>
          <p:cNvSpPr/>
          <p:nvPr/>
        </p:nvSpPr>
        <p:spPr>
          <a:xfrm>
            <a:off x="432000" y="4140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Q3 お子さまの性格に近いのは？</a:t>
            </a:r>
          </a:p>
          <a:p>
            <a:pPr algn="l"/>
            <a:r>
              <a:rPr sz="900" b="0">
                <a:solidFill>
                  <a:srgbClr val="333333"/>
                </a:solidFill>
                <a:latin typeface="メイリオ"/>
                <a:ea typeface="メイリオ"/>
                <a:cs typeface="メイリオ"/>
              </a:rPr>
              <a:t>競争があると燃える／マイペースにコツコツ／質問するのが苦手／集中が続かない</a:t>
            </a:r>
          </a:p>
        </p:txBody>
      </p:sp>
      <p:sp>
        <p:nvSpPr>
          <p:cNvPr id="56" name="Rounded Rectangle 55"/>
          <p:cNvSpPr/>
          <p:nvPr/>
        </p:nvSpPr>
        <p:spPr>
          <a:xfrm>
            <a:off x="5256000" y="4338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性格</a:t>
            </a:r>
          </a:p>
        </p:txBody>
      </p:sp>
      <p:sp>
        <p:nvSpPr>
          <p:cNvPr id="57" name="Rounded Rectangle 56"/>
          <p:cNvSpPr/>
          <p:nvPr/>
        </p:nvSpPr>
        <p:spPr>
          <a:xfrm>
            <a:off x="432000" y="4896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Q4 塾はいつから？</a:t>
            </a:r>
          </a:p>
          <a:p>
            <a:pPr algn="l"/>
            <a:r>
              <a:rPr sz="900" b="0">
                <a:solidFill>
                  <a:srgbClr val="333333"/>
                </a:solidFill>
                <a:latin typeface="メイリオ"/>
                <a:ea typeface="メイリオ"/>
                <a:cs typeface="メイリオ"/>
              </a:rPr>
              <a:t>今すぐ／今学期中に／次の学年から／情報収集だけ</a:t>
            </a:r>
          </a:p>
        </p:txBody>
      </p:sp>
      <p:sp>
        <p:nvSpPr>
          <p:cNvPr id="58" name="Rounded Rectangle 57"/>
          <p:cNvSpPr/>
          <p:nvPr/>
        </p:nvSpPr>
        <p:spPr>
          <a:xfrm>
            <a:off x="5256000" y="5094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時期</a:t>
            </a:r>
          </a:p>
        </p:txBody>
      </p:sp>
      <p:sp>
        <p:nvSpPr>
          <p:cNvPr id="59" name="Rectangle 58"/>
          <p:cNvSpPr/>
          <p:nvPr/>
        </p:nvSpPr>
        <p:spPr>
          <a:xfrm>
            <a:off x="6192000" y="2610000"/>
            <a:ext cx="324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診断結果の流れ</a:t>
            </a:r>
          </a:p>
        </p:txBody>
      </p:sp>
      <p:sp>
        <p:nvSpPr>
          <p:cNvPr id="60" name="Rounded Rectangle 59"/>
          <p:cNvSpPr/>
          <p:nvPr/>
        </p:nvSpPr>
        <p:spPr>
          <a:xfrm>
            <a:off x="6192000" y="28620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333333"/>
                </a:solidFill>
                <a:latin typeface="メイリオ"/>
                <a:ea typeface="メイリオ"/>
                <a:cs typeface="メイリオ"/>
              </a:rPr>
              <a:t>共感</a:t>
            </a:r>
          </a:p>
          <a:p>
            <a:pPr algn="ctr"/>
            <a:r>
              <a:rPr sz="900" b="0">
                <a:solidFill>
                  <a:srgbClr val="333333"/>
                </a:solidFill>
                <a:latin typeface="メイリオ"/>
                <a:ea typeface="メイリオ"/>
                <a:cs typeface="メイリオ"/>
              </a:rPr>
              <a:t>「◯◯タイプのお子さまは、こんな所でつまずきやすい」</a:t>
            </a:r>
          </a:p>
        </p:txBody>
      </p:sp>
      <p:cxnSp>
        <p:nvCxnSpPr>
          <p:cNvPr id="61" name="Connector 60"/>
          <p:cNvCxnSpPr/>
          <p:nvPr/>
        </p:nvCxnSpPr>
        <p:spPr>
          <a:xfrm>
            <a:off x="7830000" y="33516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6192000" y="34452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333333"/>
                </a:solidFill>
                <a:latin typeface="メイリオ"/>
                <a:ea typeface="メイリオ"/>
                <a:cs typeface="メイリオ"/>
              </a:rPr>
              <a:t>合う学び方</a:t>
            </a:r>
          </a:p>
          <a:p>
            <a:pPr algn="ctr"/>
            <a:r>
              <a:rPr sz="900" b="0">
                <a:solidFill>
                  <a:srgbClr val="333333"/>
                </a:solidFill>
                <a:latin typeface="メイリオ"/>
                <a:ea typeface="メイリオ"/>
                <a:cs typeface="メイリオ"/>
              </a:rPr>
              <a:t>集団／個別／映像のどれが合うか</a:t>
            </a:r>
          </a:p>
        </p:txBody>
      </p:sp>
      <p:cxnSp>
        <p:nvCxnSpPr>
          <p:cNvPr id="63" name="Connector 62"/>
          <p:cNvCxnSpPr/>
          <p:nvPr/>
        </p:nvCxnSpPr>
        <p:spPr>
          <a:xfrm>
            <a:off x="7830000" y="39348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6192000" y="40284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333333"/>
                </a:solidFill>
                <a:latin typeface="メイリオ"/>
                <a:ea typeface="メイリオ"/>
                <a:cs typeface="メイリオ"/>
              </a:rPr>
              <a:t>同じタイプの事例</a:t>
            </a:r>
          </a:p>
          <a:p>
            <a:pPr algn="ctr"/>
            <a:r>
              <a:rPr sz="900" b="0">
                <a:solidFill>
                  <a:srgbClr val="333333"/>
                </a:solidFill>
                <a:latin typeface="メイリオ"/>
                <a:ea typeface="メイリオ"/>
                <a:cs typeface="メイリオ"/>
              </a:rPr>
              <a:t>同じ悩みだったお子さまの変化</a:t>
            </a:r>
          </a:p>
        </p:txBody>
      </p:sp>
      <p:cxnSp>
        <p:nvCxnSpPr>
          <p:cNvPr id="65" name="Connector 64"/>
          <p:cNvCxnSpPr/>
          <p:nvPr/>
        </p:nvCxnSpPr>
        <p:spPr>
          <a:xfrm>
            <a:off x="7830000" y="45180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6192000" y="4611600"/>
            <a:ext cx="3276000" cy="486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資料を受け取る</a:t>
            </a:r>
          </a:p>
          <a:p>
            <a:pPr algn="ctr"/>
            <a:r>
              <a:rPr sz="900" b="0">
                <a:solidFill>
                  <a:srgbClr val="FFFFFF"/>
                </a:solidFill>
                <a:latin typeface="メイリオ"/>
                <a:ea typeface="メイリオ"/>
                <a:cs typeface="メイリオ"/>
              </a:rPr>
              <a:t>CV① 資料請求</a:t>
            </a:r>
          </a:p>
        </p:txBody>
      </p:sp>
      <p:cxnSp>
        <p:nvCxnSpPr>
          <p:cNvPr id="67" name="Connector 66"/>
          <p:cNvCxnSpPr/>
          <p:nvPr/>
        </p:nvCxnSpPr>
        <p:spPr>
          <a:xfrm>
            <a:off x="7830000" y="51012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6192000" y="5194800"/>
            <a:ext cx="3276000" cy="486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無料体験を予約する</a:t>
            </a:r>
          </a:p>
          <a:p>
            <a:pPr algn="ctr"/>
            <a:r>
              <a:rPr sz="900" b="0">
                <a:solidFill>
                  <a:srgbClr val="FFFFFF"/>
                </a:solidFill>
                <a:latin typeface="メイリオ"/>
                <a:ea typeface="メイリオ"/>
                <a:cs typeface="メイリオ"/>
              </a:rPr>
              <a:t>CV② 体験予約（LINEの中で受付）</a:t>
            </a:r>
          </a:p>
        </p:txBody>
      </p:sp>
    </p:spTree>
    <p:extLst>
      <p:ext uri="{BB962C8B-B14F-4D97-AF65-F5344CB8AC3E}">
        <p14:creationId xmlns:p14="http://schemas.microsoft.com/office/powerpoint/2010/main" val="125110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8898-91A3-9BC1-3966-7771C36E7509}"/>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構築④｜リッチメニュー</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スマホの親指が一番届きやすいのは、画面の右下。</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最も押していただきたいボタン（無料体験・教室見学の予約）を右下に置く。</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※体験予約済みの方には、タブ②（体験当日の流れ・アクセス・日程変更など）を出し分ける。明光義塾は、一番大きい枠に「授業料シミュレーション」を置いている（P16）</a:t>
            </a:r>
          </a:p>
        </p:txBody>
      </p:sp>
      <p:sp>
        <p:nvSpPr>
          <p:cNvPr id="46" name="Pentagon 45"/>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47" name="Chevron 46"/>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48" name="Chevron 47"/>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49" name="Chevron 48"/>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50" name="Chevron 49"/>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51" name="Chevron 50"/>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52" name="Chevron 51"/>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53" name="Chevron 52"/>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54" name="Rounded Rectangle 53"/>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5" name="Rounded Rectangle 54"/>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56" name="Rectangle 55"/>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スマホを片手で持つと、</a:t>
            </a:r>
          </a:p>
          <a:p>
            <a:pPr algn="l"/>
            <a:r>
              <a:rPr sz="1000" b="0">
                <a:solidFill>
                  <a:srgbClr val="333333"/>
                </a:solidFill>
                <a:latin typeface="メイリオ"/>
                <a:ea typeface="メイリオ"/>
                <a:cs typeface="メイリオ"/>
              </a:rPr>
              <a:t>親指が一番届くのは右下</a:t>
            </a:r>
          </a:p>
        </p:txBody>
      </p:sp>
      <p:cxnSp>
        <p:nvCxnSpPr>
          <p:cNvPr id="57" name="Connector 56"/>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9" name="Rounded Rectangle 58"/>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60" name="Rectangle 59"/>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最も押していただきたいボタンを、</a:t>
            </a:r>
          </a:p>
          <a:p>
            <a:pPr algn="l"/>
            <a:r>
              <a:rPr sz="1000" b="0">
                <a:solidFill>
                  <a:srgbClr val="333333"/>
                </a:solidFill>
                <a:latin typeface="メイリオ"/>
                <a:ea typeface="メイリオ"/>
                <a:cs typeface="メイリオ"/>
              </a:rPr>
              <a:t>右下に置く</a:t>
            </a:r>
          </a:p>
        </p:txBody>
      </p:sp>
      <p:cxnSp>
        <p:nvCxnSpPr>
          <p:cNvPr id="61" name="Connector 60"/>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3" name="Rounded Rectangle 62"/>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64" name="Rectangle 63"/>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右下＝無料体験・教室見学の予約</a:t>
            </a:r>
          </a:p>
          <a:p>
            <a:pPr algn="l"/>
            <a:r>
              <a:rPr sz="1000" b="0">
                <a:solidFill>
                  <a:srgbClr val="FFFFFF"/>
                </a:solidFill>
                <a:latin typeface="メイリオ"/>
                <a:ea typeface="メイリオ"/>
                <a:cs typeface="メイリオ"/>
              </a:rPr>
              <a:t>（体験予約済みの方は日程の確認・変更）</a:t>
            </a:r>
          </a:p>
        </p:txBody>
      </p:sp>
      <p:sp>
        <p:nvSpPr>
          <p:cNvPr id="65" name="Rounded Rectangle 64"/>
          <p:cNvSpPr/>
          <p:nvPr/>
        </p:nvSpPr>
        <p:spPr>
          <a:xfrm>
            <a:off x="432000" y="2592000"/>
            <a:ext cx="2880000" cy="3564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6" name="Rectangle 65"/>
          <p:cNvSpPr/>
          <p:nvPr/>
        </p:nvSpPr>
        <p:spPr>
          <a:xfrm>
            <a:off x="522000" y="2790000"/>
            <a:ext cx="2700000" cy="320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7" name="Rectangle 66"/>
          <p:cNvSpPr/>
          <p:nvPr/>
        </p:nvSpPr>
        <p:spPr>
          <a:xfrm>
            <a:off x="522000" y="2790000"/>
            <a:ext cx="2700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68" name="Rounded Rectangle 67"/>
          <p:cNvSpPr/>
          <p:nvPr/>
        </p:nvSpPr>
        <p:spPr>
          <a:xfrm>
            <a:off x="612000" y="3150000"/>
            <a:ext cx="2268000" cy="432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00" b="0">
                <a:solidFill>
                  <a:srgbClr val="333333"/>
                </a:solidFill>
                <a:latin typeface="メイリオ"/>
                <a:ea typeface="メイリオ"/>
                <a:cs typeface="メイリオ"/>
              </a:rPr>
              <a:t>診断結果とコース・料金の</a:t>
            </a:r>
          </a:p>
          <a:p>
            <a:pPr algn="l"/>
            <a:r>
              <a:rPr sz="800" b="0">
                <a:solidFill>
                  <a:srgbClr val="333333"/>
                </a:solidFill>
                <a:latin typeface="メイリオ"/>
                <a:ea typeface="メイリオ"/>
                <a:cs typeface="メイリオ"/>
              </a:rPr>
              <a:t>資料をお送りしました📄</a:t>
            </a:r>
          </a:p>
        </p:txBody>
      </p:sp>
      <p:sp>
        <p:nvSpPr>
          <p:cNvPr id="69" name="Rectangle 68"/>
          <p:cNvSpPr/>
          <p:nvPr/>
        </p:nvSpPr>
        <p:spPr>
          <a:xfrm>
            <a:off x="5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30秒</a:t>
            </a:r>
          </a:p>
          <a:p>
            <a:pPr algn="ctr"/>
            <a:r>
              <a:rPr sz="900" b="1">
                <a:solidFill>
                  <a:srgbClr val="1F285A"/>
                </a:solidFill>
                <a:latin typeface="メイリオ"/>
                <a:ea typeface="メイリオ"/>
                <a:cs typeface="メイリオ"/>
              </a:rPr>
              <a:t>ぴったり診断</a:t>
            </a:r>
          </a:p>
        </p:txBody>
      </p:sp>
      <p:sp>
        <p:nvSpPr>
          <p:cNvPr id="70" name="Rectangle 69"/>
          <p:cNvSpPr/>
          <p:nvPr/>
        </p:nvSpPr>
        <p:spPr>
          <a:xfrm>
            <a:off x="14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コース・料金</a:t>
            </a:r>
          </a:p>
        </p:txBody>
      </p:sp>
      <p:sp>
        <p:nvSpPr>
          <p:cNvPr id="71" name="Rectangle 70"/>
          <p:cNvSpPr/>
          <p:nvPr/>
        </p:nvSpPr>
        <p:spPr>
          <a:xfrm>
            <a:off x="23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教室・講師</a:t>
            </a:r>
          </a:p>
          <a:p>
            <a:pPr algn="ctr"/>
            <a:r>
              <a:rPr sz="900" b="1">
                <a:solidFill>
                  <a:srgbClr val="1F285A"/>
                </a:solidFill>
                <a:latin typeface="メイリオ"/>
                <a:ea typeface="メイリオ"/>
                <a:cs typeface="メイリオ"/>
              </a:rPr>
              <a:t>紹介</a:t>
            </a:r>
          </a:p>
        </p:txBody>
      </p:sp>
      <p:sp>
        <p:nvSpPr>
          <p:cNvPr id="72" name="Rectangle 71"/>
          <p:cNvSpPr/>
          <p:nvPr/>
        </p:nvSpPr>
        <p:spPr>
          <a:xfrm>
            <a:off x="522000" y="5202000"/>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資料を</a:t>
            </a:r>
          </a:p>
          <a:p>
            <a:pPr algn="ctr"/>
            <a:r>
              <a:rPr sz="900" b="1">
                <a:solidFill>
                  <a:srgbClr val="1F285A"/>
                </a:solidFill>
                <a:latin typeface="メイリオ"/>
                <a:ea typeface="メイリオ"/>
                <a:cs typeface="メイリオ"/>
              </a:rPr>
              <a:t>受け取る</a:t>
            </a:r>
          </a:p>
        </p:txBody>
      </p:sp>
      <p:sp>
        <p:nvSpPr>
          <p:cNvPr id="73" name="Rectangle 72"/>
          <p:cNvSpPr/>
          <p:nvPr/>
        </p:nvSpPr>
        <p:spPr>
          <a:xfrm>
            <a:off x="1422000" y="5202000"/>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友だちと</a:t>
            </a:r>
          </a:p>
          <a:p>
            <a:pPr algn="ctr"/>
            <a:r>
              <a:rPr sz="900" b="1">
                <a:solidFill>
                  <a:srgbClr val="1F285A"/>
                </a:solidFill>
                <a:latin typeface="メイリオ"/>
                <a:ea typeface="メイリオ"/>
                <a:cs typeface="メイリオ"/>
              </a:rPr>
              <a:t>一緒に体験</a:t>
            </a:r>
          </a:p>
        </p:txBody>
      </p:sp>
      <p:sp>
        <p:nvSpPr>
          <p:cNvPr id="74" name="Rectangle 73"/>
          <p:cNvSpPr/>
          <p:nvPr/>
        </p:nvSpPr>
        <p:spPr>
          <a:xfrm>
            <a:off x="2322000" y="5202000"/>
            <a:ext cx="900000" cy="792000"/>
          </a:xfrm>
          <a:prstGeom prst="rect">
            <a:avLst/>
          </a:prstGeom>
          <a:solidFill>
            <a:srgbClr val="C00000"/>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FFFFFF"/>
                </a:solidFill>
                <a:latin typeface="メイリオ"/>
                <a:ea typeface="メイリオ"/>
                <a:cs typeface="メイリオ"/>
              </a:rPr>
              <a:t>無料体験・</a:t>
            </a:r>
          </a:p>
          <a:p>
            <a:pPr algn="ctr"/>
            <a:r>
              <a:rPr sz="900" b="1">
                <a:solidFill>
                  <a:srgbClr val="FFFFFF"/>
                </a:solidFill>
                <a:latin typeface="メイリオ"/>
                <a:ea typeface="メイリオ"/>
                <a:cs typeface="メイリオ"/>
              </a:rPr>
              <a:t>教室見学の予約</a:t>
            </a:r>
          </a:p>
        </p:txBody>
      </p:sp>
      <p:sp>
        <p:nvSpPr>
          <p:cNvPr id="75" name="Rounded Rectangle 74"/>
          <p:cNvSpPr/>
          <p:nvPr/>
        </p:nvSpPr>
        <p:spPr>
          <a:xfrm>
            <a:off x="1602000" y="4139999"/>
            <a:ext cx="1620000" cy="216000"/>
          </a:xfrm>
          <a:prstGeom prst="roundRect">
            <a:avLst>
              <a:gd name="adj" fmla="val 3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800" b="1">
                <a:solidFill>
                  <a:srgbClr val="FFFFFF"/>
                </a:solidFill>
                <a:latin typeface="メイリオ"/>
                <a:ea typeface="メイリオ"/>
                <a:cs typeface="メイリオ"/>
              </a:rPr>
              <a:t>右下＝一番押しやすい ↘</a:t>
            </a:r>
          </a:p>
        </p:txBody>
      </p:sp>
      <p:sp>
        <p:nvSpPr>
          <p:cNvPr id="76" name="Rectangle 75"/>
          <p:cNvSpPr/>
          <p:nvPr/>
        </p:nvSpPr>
        <p:spPr>
          <a:xfrm>
            <a:off x="3671999" y="2610000"/>
            <a:ext cx="57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ボタンの並び（タブ① はじめての方）</a:t>
            </a:r>
          </a:p>
        </p:txBody>
      </p:sp>
      <p:sp>
        <p:nvSpPr>
          <p:cNvPr id="77" name="Rectangle 76"/>
          <p:cNvSpPr/>
          <p:nvPr/>
        </p:nvSpPr>
        <p:spPr>
          <a:xfrm>
            <a:off x="3671999"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30秒ぴったり診断</a:t>
            </a:r>
          </a:p>
        </p:txBody>
      </p:sp>
      <p:sp>
        <p:nvSpPr>
          <p:cNvPr id="78" name="Rectangle 77"/>
          <p:cNvSpPr/>
          <p:nvPr/>
        </p:nvSpPr>
        <p:spPr>
          <a:xfrm>
            <a:off x="5616000"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コース・料金</a:t>
            </a:r>
          </a:p>
        </p:txBody>
      </p:sp>
      <p:sp>
        <p:nvSpPr>
          <p:cNvPr id="79" name="Rectangle 78"/>
          <p:cNvSpPr/>
          <p:nvPr/>
        </p:nvSpPr>
        <p:spPr>
          <a:xfrm>
            <a:off x="7560000"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教室・講師紹介</a:t>
            </a:r>
          </a:p>
        </p:txBody>
      </p:sp>
      <p:sp>
        <p:nvSpPr>
          <p:cNvPr id="80" name="Rectangle 79"/>
          <p:cNvSpPr/>
          <p:nvPr/>
        </p:nvSpPr>
        <p:spPr>
          <a:xfrm>
            <a:off x="3671999" y="3420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資料を受け取る（CV①）</a:t>
            </a:r>
          </a:p>
        </p:txBody>
      </p:sp>
      <p:sp>
        <p:nvSpPr>
          <p:cNvPr id="81" name="Rectangle 80"/>
          <p:cNvSpPr/>
          <p:nvPr/>
        </p:nvSpPr>
        <p:spPr>
          <a:xfrm>
            <a:off x="5616000" y="3420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友だちと一緒に体験</a:t>
            </a:r>
          </a:p>
        </p:txBody>
      </p:sp>
      <p:sp>
        <p:nvSpPr>
          <p:cNvPr id="82" name="Rectangle 81"/>
          <p:cNvSpPr/>
          <p:nvPr/>
        </p:nvSpPr>
        <p:spPr>
          <a:xfrm>
            <a:off x="7560000" y="3420000"/>
            <a:ext cx="1890000" cy="503999"/>
          </a:xfrm>
          <a:prstGeom prst="rect">
            <a:avLst/>
          </a:prstGeom>
          <a:solidFill>
            <a:srgbClr val="C00000"/>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 無料体験・教室見学の予約（CV②）</a:t>
            </a:r>
          </a:p>
        </p:txBody>
      </p:sp>
      <p:sp>
        <p:nvSpPr>
          <p:cNvPr id="83" name="Rectangle 82"/>
          <p:cNvSpPr/>
          <p:nvPr/>
        </p:nvSpPr>
        <p:spPr>
          <a:xfrm>
            <a:off x="3671999" y="4068000"/>
            <a:ext cx="57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置き方の考え方</a:t>
            </a:r>
          </a:p>
        </p:txBody>
      </p:sp>
      <p:sp>
        <p:nvSpPr>
          <p:cNvPr id="84" name="Rectangle 83"/>
          <p:cNvSpPr/>
          <p:nvPr/>
        </p:nvSpPr>
        <p:spPr>
          <a:xfrm>
            <a:off x="3671999" y="4302000"/>
            <a:ext cx="5796000" cy="12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0">
                <a:solidFill>
                  <a:srgbClr val="333333"/>
                </a:solidFill>
                <a:latin typeface="メイリオ"/>
                <a:ea typeface="メイリオ"/>
                <a:cs typeface="メイリオ"/>
              </a:rPr>
              <a:t>・右下：最も押していただきたいボタン。体験・見学の予約（CV②）</a:t>
            </a:r>
          </a:p>
          <a:p>
            <a:pPr algn="l"/>
            <a:r>
              <a:rPr sz="1100" b="0">
                <a:solidFill>
                  <a:srgbClr val="333333"/>
                </a:solidFill>
                <a:latin typeface="メイリオ"/>
                <a:ea typeface="メイリオ"/>
                <a:cs typeface="メイリオ"/>
              </a:rPr>
              <a:t>・左下：資料を受け取る（CV①）。体験はまだ先という保護者の受け皿</a:t>
            </a:r>
          </a:p>
          <a:p>
            <a:pPr algn="l"/>
            <a:r>
              <a:rPr sz="1100" b="0">
                <a:solidFill>
                  <a:srgbClr val="333333"/>
                </a:solidFill>
                <a:latin typeface="メイリオ"/>
                <a:ea typeface="メイリオ"/>
                <a:cs typeface="メイリオ"/>
              </a:rPr>
              <a:t>・上段：比べるときに見たい情報（診断・料金・教室）</a:t>
            </a:r>
          </a:p>
          <a:p>
            <a:pPr algn="l"/>
            <a:r>
              <a:rPr sz="1100" b="0">
                <a:solidFill>
                  <a:srgbClr val="333333"/>
                </a:solidFill>
                <a:latin typeface="メイリオ"/>
                <a:ea typeface="メイリオ"/>
                <a:cs typeface="メイリオ"/>
              </a:rPr>
              <a:t>・体験予約済みの方には、タブ②に切り替えて右下を「日程の確認・変更」にする</a:t>
            </a:r>
          </a:p>
        </p:txBody>
      </p:sp>
      <p:sp>
        <p:nvSpPr>
          <p:cNvPr id="85" name="Rounded Rectangle 84"/>
          <p:cNvSpPr/>
          <p:nvPr/>
        </p:nvSpPr>
        <p:spPr>
          <a:xfrm>
            <a:off x="3671999" y="5580000"/>
            <a:ext cx="5796000" cy="4320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1F285A"/>
                </a:solidFill>
                <a:latin typeface="メイリオ"/>
                <a:ea typeface="メイリオ"/>
                <a:cs typeface="メイリオ"/>
              </a:rPr>
              <a:t>タブ②（体験予約済みの方）：体験当日の流れ／アクセス・持ち物／担当講師の紹介／保護者の声／LINEで質問／日程の確認・変更（右下）</a:t>
            </a:r>
          </a:p>
        </p:txBody>
      </p:sp>
    </p:spTree>
    <p:extLst>
      <p:ext uri="{BB962C8B-B14F-4D97-AF65-F5344CB8AC3E}">
        <p14:creationId xmlns:p14="http://schemas.microsoft.com/office/powerpoint/2010/main" val="20342701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構築⑤｜配信の出し分け</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同じ内容を全員に送ると、合わない方からブロックされやすい。</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診断の回答と、LINEでの行動で、保護者ごとに「うちの子の話」になる配信にする。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3" name="Rounded Rectangle 12"/>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4" name="Rounded Rectangle 13"/>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15" name="Rectangle 14"/>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同じ内容を全員に送ると、</a:t>
            </a:r>
          </a:p>
          <a:p>
            <a:pPr algn="l"/>
            <a:r>
              <a:rPr sz="1200" b="0">
                <a:solidFill>
                  <a:srgbClr val="333333"/>
                </a:solidFill>
                <a:latin typeface="メイリオ"/>
                <a:ea typeface="メイリオ"/>
                <a:cs typeface="メイリオ"/>
              </a:rPr>
              <a:t>合わない方からブロックされやすい</a:t>
            </a:r>
          </a:p>
        </p:txBody>
      </p:sp>
      <p:cxnSp>
        <p:nvCxnSpPr>
          <p:cNvPr id="16" name="Connector 15"/>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8" name="Rounded Rectangle 17"/>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19" name="Rectangle 18"/>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保護者ごとに、</a:t>
            </a:r>
          </a:p>
          <a:p>
            <a:pPr algn="l"/>
            <a:r>
              <a:rPr sz="1200" b="0">
                <a:solidFill>
                  <a:srgbClr val="333333"/>
                </a:solidFill>
                <a:latin typeface="メイリオ"/>
                <a:ea typeface="メイリオ"/>
                <a:cs typeface="メイリオ"/>
              </a:rPr>
              <a:t>「うちの子の話」になる配信にする</a:t>
            </a:r>
          </a:p>
        </p:txBody>
      </p:sp>
      <p:cxnSp>
        <p:nvCxnSpPr>
          <p:cNvPr id="20" name="Connector 19"/>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2" name="Rounded Rectangle 21"/>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23" name="Rectangle 22"/>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FFFFFF"/>
                </a:solidFill>
                <a:latin typeface="メイリオ"/>
                <a:ea typeface="メイリオ"/>
                <a:cs typeface="メイリオ"/>
              </a:rPr>
              <a:t>診断タグ＋行動タグで</a:t>
            </a:r>
          </a:p>
          <a:p>
            <a:pPr algn="l"/>
            <a:r>
              <a:rPr sz="1200" b="0">
                <a:solidFill>
                  <a:srgbClr val="FFFFFF"/>
                </a:solidFill>
                <a:latin typeface="メイリオ"/>
                <a:ea typeface="メイリオ"/>
                <a:cs typeface="メイリオ"/>
              </a:rPr>
              <a:t>配信を出し分ける</a:t>
            </a:r>
          </a:p>
        </p:txBody>
      </p:sp>
      <p:sp>
        <p:nvSpPr>
          <p:cNvPr id="24" name="Rounded Rectangle 23"/>
          <p:cNvSpPr/>
          <p:nvPr/>
        </p:nvSpPr>
        <p:spPr>
          <a:xfrm>
            <a:off x="432000" y="2628000"/>
            <a:ext cx="29088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① 診断タグ（友だち追加の直後）</a:t>
            </a:r>
          </a:p>
        </p:txBody>
      </p:sp>
      <p:sp>
        <p:nvSpPr>
          <p:cNvPr id="25" name="Rounded Rectangle 24"/>
          <p:cNvSpPr/>
          <p:nvPr/>
        </p:nvSpPr>
        <p:spPr>
          <a:xfrm>
            <a:off x="432000" y="29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学年</a:t>
            </a:r>
          </a:p>
        </p:txBody>
      </p:sp>
      <p:sp>
        <p:nvSpPr>
          <p:cNvPr id="26" name="Rounded Rectangle 25"/>
          <p:cNvSpPr/>
          <p:nvPr/>
        </p:nvSpPr>
        <p:spPr>
          <a:xfrm>
            <a:off x="432000" y="34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悩み</a:t>
            </a:r>
          </a:p>
        </p:txBody>
      </p:sp>
      <p:sp>
        <p:nvSpPr>
          <p:cNvPr id="27" name="Rounded Rectangle 26"/>
          <p:cNvSpPr/>
          <p:nvPr/>
        </p:nvSpPr>
        <p:spPr>
          <a:xfrm>
            <a:off x="432000" y="38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性格（集団／個別の判定）</a:t>
            </a:r>
          </a:p>
        </p:txBody>
      </p:sp>
      <p:sp>
        <p:nvSpPr>
          <p:cNvPr id="28" name="Rounded Rectangle 27"/>
          <p:cNvSpPr/>
          <p:nvPr/>
        </p:nvSpPr>
        <p:spPr>
          <a:xfrm>
            <a:off x="432000" y="43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いつから（温度）</a:t>
            </a:r>
          </a:p>
        </p:txBody>
      </p:sp>
      <p:sp>
        <p:nvSpPr>
          <p:cNvPr id="29" name="Rounded Rectangle 28"/>
          <p:cNvSpPr/>
          <p:nvPr/>
        </p:nvSpPr>
        <p:spPr>
          <a:xfrm>
            <a:off x="3499199" y="2628000"/>
            <a:ext cx="29088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② 行動タグ（LINEでの行動）</a:t>
            </a:r>
          </a:p>
        </p:txBody>
      </p:sp>
      <p:sp>
        <p:nvSpPr>
          <p:cNvPr id="30" name="Rounded Rectangle 29"/>
          <p:cNvSpPr/>
          <p:nvPr/>
        </p:nvSpPr>
        <p:spPr>
          <a:xfrm>
            <a:off x="3499199" y="29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どのボタンを押したか</a:t>
            </a:r>
          </a:p>
        </p:txBody>
      </p:sp>
      <p:sp>
        <p:nvSpPr>
          <p:cNvPr id="31" name="Rounded Rectangle 30"/>
          <p:cNvSpPr/>
          <p:nvPr/>
        </p:nvSpPr>
        <p:spPr>
          <a:xfrm>
            <a:off x="3499199" y="34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資料請求したか</a:t>
            </a:r>
          </a:p>
        </p:txBody>
      </p:sp>
      <p:sp>
        <p:nvSpPr>
          <p:cNvPr id="32" name="Rounded Rectangle 31"/>
          <p:cNvSpPr/>
          <p:nvPr/>
        </p:nvSpPr>
        <p:spPr>
          <a:xfrm>
            <a:off x="3499199" y="38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体験予約したか・来たか</a:t>
            </a:r>
          </a:p>
        </p:txBody>
      </p:sp>
      <p:sp>
        <p:nvSpPr>
          <p:cNvPr id="33" name="Rounded Rectangle 32"/>
          <p:cNvSpPr/>
          <p:nvPr/>
        </p:nvSpPr>
        <p:spPr>
          <a:xfrm>
            <a:off x="3499199" y="43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配信を開いているか</a:t>
            </a:r>
          </a:p>
        </p:txBody>
      </p:sp>
      <p:sp>
        <p:nvSpPr>
          <p:cNvPr id="34" name="Rounded Rectangle 33"/>
          <p:cNvSpPr/>
          <p:nvPr/>
        </p:nvSpPr>
        <p:spPr>
          <a:xfrm>
            <a:off x="6566399" y="2628000"/>
            <a:ext cx="2908800" cy="288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何ができるようになるか</a:t>
            </a:r>
          </a:p>
        </p:txBody>
      </p:sp>
      <p:sp>
        <p:nvSpPr>
          <p:cNvPr id="35" name="Rounded Rectangle 34"/>
          <p:cNvSpPr/>
          <p:nvPr/>
        </p:nvSpPr>
        <p:spPr>
          <a:xfrm>
            <a:off x="6566399" y="298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中3で「受験対策」→ 高校受験の情報を中心に</a:t>
            </a:r>
          </a:p>
        </p:txBody>
      </p:sp>
      <p:sp>
        <p:nvSpPr>
          <p:cNvPr id="36" name="Rounded Rectangle 35"/>
          <p:cNvSpPr/>
          <p:nvPr/>
        </p:nvSpPr>
        <p:spPr>
          <a:xfrm>
            <a:off x="6566399" y="343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「質問するのが苦手」→ 個別指導の事例を中心に</a:t>
            </a:r>
          </a:p>
        </p:txBody>
      </p:sp>
      <p:sp>
        <p:nvSpPr>
          <p:cNvPr id="37" name="Rounded Rectangle 36"/>
          <p:cNvSpPr/>
          <p:nvPr/>
        </p:nvSpPr>
        <p:spPr>
          <a:xfrm>
            <a:off x="6566399" y="388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資料請求したが予約なし → 体験の案内を追加で</a:t>
            </a:r>
          </a:p>
        </p:txBody>
      </p:sp>
      <p:sp>
        <p:nvSpPr>
          <p:cNvPr id="38" name="Rounded Rectangle 37"/>
          <p:cNvSpPr/>
          <p:nvPr/>
        </p:nvSpPr>
        <p:spPr>
          <a:xfrm>
            <a:off x="6566399" y="433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「情報収集だけ」→ ご案内は控え、週1回の情報のみ</a:t>
            </a:r>
          </a:p>
        </p:txBody>
      </p:sp>
      <p:sp>
        <p:nvSpPr>
          <p:cNvPr id="39" name="TextBox 4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※明光義塾は、アンケートの回答をもとに「まだ塾に通っていない」お子さま・保護者に絞って配信していた（公式事例・P15）</a:t>
            </a:r>
          </a:p>
        </p:txBody>
      </p:sp>
    </p:spTree>
    <p:extLst>
      <p:ext uri="{BB962C8B-B14F-4D97-AF65-F5344CB8AC3E}">
        <p14:creationId xmlns:p14="http://schemas.microsoft.com/office/powerpoint/2010/main" val="13354487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ステップ配信｜14日間の配信</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比べている間は、ご案内より先に役立つ情報を届け、体験予約に進んでいただく。</a:t>
            </a:r>
          </a:p>
          <a:p>
            <a:pPr algn="l">
              <a:lnSpc>
                <a:spcPct val="128000"/>
              </a:lnSpc>
            </a:pPr>
            <a:r>
              <a:rPr sz="1200">
                <a:solidFill>
                  <a:srgbClr val="333333"/>
                </a:solidFill>
                <a:latin typeface="メイリオ"/>
                <a:ea typeface="メイリオ"/>
                <a:cs typeface="メイリオ"/>
              </a:rPr>
              <a:t>14日のうち、体験の案内は2通だけ（7日後・14日後）。</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※前後検索（P8〜P11）：比べている間は、塾の費用・いつから・口コミを調べている。配信の中身をこれに合わせる。明光義塾のステップ配信の例はP17</a:t>
            </a:r>
          </a:p>
        </p:txBody>
      </p:sp>
      <p:sp>
        <p:nvSpPr>
          <p:cNvPr id="11" name="Pentagon 10"/>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12" name="Chevron 11"/>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3" name="Chevron 12"/>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14" name="Chevron 13"/>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15" name="Chevron 14"/>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6" name="Chevron 15"/>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17" name="Chevron 16"/>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8" name="Chevron 1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9" name="Rounded Rectangle 18"/>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0" name="Rounded Rectangle 19"/>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21" name="Rectangle 20"/>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保護者は比べている間に、</a:t>
            </a:r>
          </a:p>
          <a:p>
            <a:pPr algn="l"/>
            <a:r>
              <a:rPr sz="1000" b="0">
                <a:solidFill>
                  <a:srgbClr val="333333"/>
                </a:solidFill>
                <a:latin typeface="メイリオ"/>
                <a:ea typeface="メイリオ"/>
                <a:cs typeface="メイリオ"/>
              </a:rPr>
              <a:t>費用・時期・口コミを調べている</a:t>
            </a:r>
          </a:p>
          <a:p>
            <a:pPr algn="l"/>
            <a:r>
              <a:rPr sz="1000" b="0">
                <a:solidFill>
                  <a:srgbClr val="333333"/>
                </a:solidFill>
                <a:latin typeface="メイリオ"/>
                <a:ea typeface="メイリオ"/>
                <a:cs typeface="メイリオ"/>
              </a:rPr>
              <a:t>（前後検索・P8〜P11）</a:t>
            </a:r>
          </a:p>
        </p:txBody>
      </p:sp>
      <p:cxnSp>
        <p:nvCxnSpPr>
          <p:cNvPr id="22" name="Connector 21"/>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4" name="Rounded Rectangle 23"/>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25" name="Rectangle 24"/>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ご案内より先に、</a:t>
            </a:r>
          </a:p>
          <a:p>
            <a:pPr algn="l"/>
            <a:r>
              <a:rPr sz="1000" b="0">
                <a:solidFill>
                  <a:srgbClr val="333333"/>
                </a:solidFill>
                <a:latin typeface="メイリオ"/>
                <a:ea typeface="メイリオ"/>
                <a:cs typeface="メイリオ"/>
              </a:rPr>
              <a:t>役に立つ情報を届ける</a:t>
            </a:r>
          </a:p>
        </p:txBody>
      </p:sp>
      <p:cxnSp>
        <p:nvCxnSpPr>
          <p:cNvPr id="26" name="Connector 25"/>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8" name="Rounded Rectangle 27"/>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29" name="Rectangle 28"/>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未入会の保護者向けに</a:t>
            </a:r>
          </a:p>
          <a:p>
            <a:pPr algn="l"/>
            <a:r>
              <a:rPr sz="1000" b="0">
                <a:solidFill>
                  <a:srgbClr val="FFFFFF"/>
                </a:solidFill>
                <a:latin typeface="メイリオ"/>
                <a:ea typeface="メイリオ"/>
                <a:cs typeface="メイリオ"/>
              </a:rPr>
              <a:t>14日間の配信を自動で送る</a:t>
            </a:r>
          </a:p>
        </p:txBody>
      </p:sp>
      <p:cxnSp>
        <p:nvCxnSpPr>
          <p:cNvPr id="30" name="Connector 29"/>
          <p:cNvCxnSpPr/>
          <p:nvPr/>
        </p:nvCxnSpPr>
        <p:spPr>
          <a:xfrm>
            <a:off x="576000" y="2951999"/>
            <a:ext cx="8748000" cy="0"/>
          </a:xfrm>
          <a:prstGeom prst="line">
            <a:avLst/>
          </a:prstGeom>
          <a:ln w="38100">
            <a:solidFill>
              <a:srgbClr val="1F285A"/>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059599"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2" name="Rectangle 31"/>
          <p:cNvSpPr/>
          <p:nvPr/>
        </p:nvSpPr>
        <p:spPr>
          <a:xfrm>
            <a:off x="4320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登録した日</a:t>
            </a:r>
          </a:p>
        </p:txBody>
      </p:sp>
      <p:sp>
        <p:nvSpPr>
          <p:cNvPr id="33" name="Rounded Rectangle 32"/>
          <p:cNvSpPr/>
          <p:nvPr/>
        </p:nvSpPr>
        <p:spPr>
          <a:xfrm>
            <a:off x="4680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友だち追加の直後</a:t>
            </a:r>
          </a:p>
        </p:txBody>
      </p:sp>
      <p:sp>
        <p:nvSpPr>
          <p:cNvPr id="34" name="Rounded Rectangle 33"/>
          <p:cNvSpPr/>
          <p:nvPr/>
        </p:nvSpPr>
        <p:spPr>
          <a:xfrm>
            <a:off x="4680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あいさつ＋30秒診断</a:t>
            </a:r>
          </a:p>
        </p:txBody>
      </p:sp>
      <p:sp>
        <p:nvSpPr>
          <p:cNvPr id="35" name="Oval 34"/>
          <p:cNvSpPr/>
          <p:nvPr/>
        </p:nvSpPr>
        <p:spPr>
          <a:xfrm>
            <a:off x="2566800"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6" name="Rectangle 35"/>
          <p:cNvSpPr/>
          <p:nvPr/>
        </p:nvSpPr>
        <p:spPr>
          <a:xfrm>
            <a:off x="19392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3日後</a:t>
            </a:r>
          </a:p>
        </p:txBody>
      </p:sp>
      <p:sp>
        <p:nvSpPr>
          <p:cNvPr id="37" name="Rounded Rectangle 36"/>
          <p:cNvSpPr/>
          <p:nvPr/>
        </p:nvSpPr>
        <p:spPr>
          <a:xfrm>
            <a:off x="19752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比べ始めたころ</a:t>
            </a:r>
          </a:p>
        </p:txBody>
      </p:sp>
      <p:sp>
        <p:nvSpPr>
          <p:cNvPr id="38" name="Rounded Rectangle 37"/>
          <p:cNvSpPr/>
          <p:nvPr/>
        </p:nvSpPr>
        <p:spPr>
          <a:xfrm>
            <a:off x="19752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家でできる勉強のコツ</a:t>
            </a:r>
          </a:p>
        </p:txBody>
      </p:sp>
      <p:sp>
        <p:nvSpPr>
          <p:cNvPr id="39" name="Oval 38"/>
          <p:cNvSpPr/>
          <p:nvPr/>
        </p:nvSpPr>
        <p:spPr>
          <a:xfrm>
            <a:off x="4074000"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0" name="Rectangle 39"/>
          <p:cNvSpPr/>
          <p:nvPr/>
        </p:nvSpPr>
        <p:spPr>
          <a:xfrm>
            <a:off x="3446399"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5日後</a:t>
            </a:r>
          </a:p>
        </p:txBody>
      </p:sp>
      <p:sp>
        <p:nvSpPr>
          <p:cNvPr id="41" name="Rounded Rectangle 40"/>
          <p:cNvSpPr/>
          <p:nvPr/>
        </p:nvSpPr>
        <p:spPr>
          <a:xfrm>
            <a:off x="3482399"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費用が気になるころ</a:t>
            </a:r>
          </a:p>
        </p:txBody>
      </p:sp>
      <p:sp>
        <p:nvSpPr>
          <p:cNvPr id="42" name="Rounded Rectangle 41"/>
          <p:cNvSpPr/>
          <p:nvPr/>
        </p:nvSpPr>
        <p:spPr>
          <a:xfrm>
            <a:off x="3482399"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月謝＋講習費の年間の目安</a:t>
            </a:r>
          </a:p>
        </p:txBody>
      </p:sp>
      <p:sp>
        <p:nvSpPr>
          <p:cNvPr id="43" name="Oval 42"/>
          <p:cNvSpPr/>
          <p:nvPr/>
        </p:nvSpPr>
        <p:spPr>
          <a:xfrm>
            <a:off x="5581200" y="2826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4" name="Rectangle 43"/>
          <p:cNvSpPr/>
          <p:nvPr/>
        </p:nvSpPr>
        <p:spPr>
          <a:xfrm>
            <a:off x="4953599"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00897B"/>
                </a:solidFill>
                <a:latin typeface="メイリオ"/>
                <a:ea typeface="メイリオ"/>
                <a:cs typeface="メイリオ"/>
              </a:rPr>
              <a:t>7日後</a:t>
            </a:r>
          </a:p>
        </p:txBody>
      </p:sp>
      <p:sp>
        <p:nvSpPr>
          <p:cNvPr id="45" name="Rounded Rectangle 44"/>
          <p:cNvSpPr/>
          <p:nvPr/>
        </p:nvSpPr>
        <p:spPr>
          <a:xfrm>
            <a:off x="4989599"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候補を絞るころ</a:t>
            </a:r>
          </a:p>
        </p:txBody>
      </p:sp>
      <p:sp>
        <p:nvSpPr>
          <p:cNvPr id="46" name="Rounded Rectangle 45"/>
          <p:cNvSpPr/>
          <p:nvPr/>
        </p:nvSpPr>
        <p:spPr>
          <a:xfrm>
            <a:off x="4989599" y="3600000"/>
            <a:ext cx="1435200" cy="1080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同じタイプの子の事例＋体験のご案内①</a:t>
            </a:r>
          </a:p>
        </p:txBody>
      </p:sp>
      <p:sp>
        <p:nvSpPr>
          <p:cNvPr id="47" name="Oval 46"/>
          <p:cNvSpPr/>
          <p:nvPr/>
        </p:nvSpPr>
        <p:spPr>
          <a:xfrm>
            <a:off x="7088399"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8" name="Rectangle 47"/>
          <p:cNvSpPr/>
          <p:nvPr/>
        </p:nvSpPr>
        <p:spPr>
          <a:xfrm>
            <a:off x="64608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10日後</a:t>
            </a:r>
          </a:p>
        </p:txBody>
      </p:sp>
      <p:sp>
        <p:nvSpPr>
          <p:cNvPr id="49" name="Rounded Rectangle 48"/>
          <p:cNvSpPr/>
          <p:nvPr/>
        </p:nvSpPr>
        <p:spPr>
          <a:xfrm>
            <a:off x="64968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まだ予約していない方</a:t>
            </a:r>
          </a:p>
        </p:txBody>
      </p:sp>
      <p:sp>
        <p:nvSpPr>
          <p:cNvPr id="50" name="Rounded Rectangle 49"/>
          <p:cNvSpPr/>
          <p:nvPr/>
        </p:nvSpPr>
        <p:spPr>
          <a:xfrm>
            <a:off x="64968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よくある質問（断ってもいい？総額は？）</a:t>
            </a:r>
          </a:p>
        </p:txBody>
      </p:sp>
      <p:sp>
        <p:nvSpPr>
          <p:cNvPr id="51" name="Oval 50"/>
          <p:cNvSpPr/>
          <p:nvPr/>
        </p:nvSpPr>
        <p:spPr>
          <a:xfrm>
            <a:off x="8595600" y="2826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2" name="Rectangle 51"/>
          <p:cNvSpPr/>
          <p:nvPr/>
        </p:nvSpPr>
        <p:spPr>
          <a:xfrm>
            <a:off x="79680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00897B"/>
                </a:solidFill>
                <a:latin typeface="メイリオ"/>
                <a:ea typeface="メイリオ"/>
                <a:cs typeface="メイリオ"/>
              </a:rPr>
              <a:t>14日後</a:t>
            </a:r>
          </a:p>
        </p:txBody>
      </p:sp>
      <p:sp>
        <p:nvSpPr>
          <p:cNvPr id="53" name="Rounded Rectangle 52"/>
          <p:cNvSpPr/>
          <p:nvPr/>
        </p:nvSpPr>
        <p:spPr>
          <a:xfrm>
            <a:off x="80040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決めるころ</a:t>
            </a:r>
          </a:p>
        </p:txBody>
      </p:sp>
      <p:sp>
        <p:nvSpPr>
          <p:cNvPr id="54" name="Rounded Rectangle 53"/>
          <p:cNvSpPr/>
          <p:nvPr/>
        </p:nvSpPr>
        <p:spPr>
          <a:xfrm>
            <a:off x="8004000" y="3600000"/>
            <a:ext cx="1435200" cy="1080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次の定期テストからの逆算＋体験のご案内②</a:t>
            </a:r>
          </a:p>
        </p:txBody>
      </p:sp>
      <p:sp>
        <p:nvSpPr>
          <p:cNvPr id="55" name="Rounded Rectangle 54"/>
          <p:cNvSpPr/>
          <p:nvPr/>
        </p:nvSpPr>
        <p:spPr>
          <a:xfrm>
            <a:off x="432000" y="4860000"/>
            <a:ext cx="4428000" cy="827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00897B"/>
                </a:solidFill>
                <a:latin typeface="メイリオ"/>
                <a:ea typeface="メイリオ"/>
                <a:cs typeface="メイリオ"/>
              </a:rPr>
              <a:t>体験予約した方</a:t>
            </a:r>
          </a:p>
          <a:p>
            <a:pPr algn="ctr"/>
            <a:r>
              <a:rPr sz="1100" b="0">
                <a:solidFill>
                  <a:srgbClr val="333333"/>
                </a:solidFill>
                <a:latin typeface="メイリオ"/>
                <a:ea typeface="メイリオ"/>
                <a:cs typeface="メイリオ"/>
              </a:rPr>
              <a:t>→ 前日リマインドへ（P33）</a:t>
            </a:r>
          </a:p>
        </p:txBody>
      </p:sp>
      <p:sp>
        <p:nvSpPr>
          <p:cNvPr id="56" name="Rounded Rectangle 55"/>
          <p:cNvSpPr/>
          <p:nvPr/>
        </p:nvSpPr>
        <p:spPr>
          <a:xfrm>
            <a:off x="5047200" y="4860000"/>
            <a:ext cx="4428000" cy="827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予約しなかった方</a:t>
            </a:r>
          </a:p>
          <a:p>
            <a:pPr algn="ctr"/>
            <a:r>
              <a:rPr sz="1100" b="0">
                <a:solidFill>
                  <a:srgbClr val="333333"/>
                </a:solidFill>
                <a:latin typeface="メイリオ"/>
                <a:ea typeface="メイリオ"/>
                <a:cs typeface="メイリオ"/>
              </a:rPr>
              <a:t>→ 週1回の配信へ合流し、講習の時期に再案内（⑥再育成）</a:t>
            </a:r>
          </a:p>
        </p:txBody>
      </p:sp>
    </p:spTree>
    <p:extLst>
      <p:ext uri="{BB962C8B-B14F-4D97-AF65-F5344CB8AC3E}">
        <p14:creationId xmlns:p14="http://schemas.microsoft.com/office/powerpoint/2010/main" val="1738656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ステップ配信｜場面ごとのメッセージ（実文面）</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メッセージごとに「いつ・どの場面で送るか」を決めておく。</a:t>
            </a:r>
          </a:p>
          <a:p>
            <a:pPr algn="l">
              <a:lnSpc>
                <a:spcPct val="128000"/>
              </a:lnSpc>
            </a:pPr>
            <a:r>
              <a:rPr sz="1200">
                <a:solidFill>
                  <a:srgbClr val="333333"/>
                </a:solidFill>
                <a:latin typeface="メイリオ"/>
                <a:ea typeface="メイリオ"/>
                <a:cs typeface="メイリオ"/>
              </a:rPr>
              <a:t>通知の冒頭（最初の15文字ほど）で開封が左右されるため、冒頭も1通ずつ決める。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※事例の数字は、貴塾の実績（学年・期間・通った回数）に合わせて作成する。体験予約の前日のメッセージはP33</a:t>
            </a:r>
          </a:p>
        </p:txBody>
      </p:sp>
      <p:sp>
        <p:nvSpPr>
          <p:cNvPr id="15" name="Pentagon 1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16" name="Chevron 1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7" name="Chevron 1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18" name="Chevron 1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19" name="Chevron 1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20" name="Chevron 1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1" name="Chevron 2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2" name="Chevron 2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23" name="Rounded Rectangle 22"/>
          <p:cNvSpPr/>
          <p:nvPr/>
        </p:nvSpPr>
        <p:spPr>
          <a:xfrm>
            <a:off x="432000"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【登録から3日後】</a:t>
            </a:r>
          </a:p>
          <a:p>
            <a:pPr algn="ctr"/>
            <a:r>
              <a:rPr sz="1000" b="0">
                <a:solidFill>
                  <a:srgbClr val="FFFFFF"/>
                </a:solidFill>
                <a:latin typeface="メイリオ"/>
                <a:ea typeface="メイリオ"/>
                <a:cs typeface="メイリオ"/>
              </a:rPr>
              <a:t>比べ始めたころ</a:t>
            </a:r>
          </a:p>
        </p:txBody>
      </p:sp>
      <p:sp>
        <p:nvSpPr>
          <p:cNvPr id="24" name="Rounded Rectangle 23"/>
          <p:cNvSpPr/>
          <p:nvPr/>
        </p:nvSpPr>
        <p:spPr>
          <a:xfrm>
            <a:off x="432000" y="1980000"/>
            <a:ext cx="2908800" cy="270000"/>
          </a:xfrm>
          <a:prstGeom prst="roundRect">
            <a:avLst>
              <a:gd name="adj" fmla="val 15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1">
                <a:solidFill>
                  <a:srgbClr val="333333"/>
                </a:solidFill>
                <a:latin typeface="メイリオ"/>
                <a:ea typeface="メイリオ"/>
                <a:cs typeface="メイリオ"/>
              </a:rPr>
              <a:t>通知の冒頭：テスト後、9割のご家庭がしない事</a:t>
            </a:r>
          </a:p>
        </p:txBody>
      </p:sp>
      <p:sp>
        <p:nvSpPr>
          <p:cNvPr id="25" name="Rectangle 24"/>
          <p:cNvSpPr/>
          <p:nvPr/>
        </p:nvSpPr>
        <p:spPr>
          <a:xfrm>
            <a:off x="432000" y="2304000"/>
            <a:ext cx="2908800" cy="38519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6" name="Rounded Rectangle 25"/>
          <p:cNvSpPr/>
          <p:nvPr/>
        </p:nvSpPr>
        <p:spPr>
          <a:xfrm>
            <a:off x="540000" y="2394000"/>
            <a:ext cx="2664000" cy="198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50" b="0">
                <a:solidFill>
                  <a:srgbClr val="333333"/>
                </a:solidFill>
                <a:latin typeface="メイリオ"/>
                <a:ea typeface="メイリオ"/>
                <a:cs typeface="メイリオ"/>
              </a:rPr>
              <a:t>◯◯塾の佐藤です📚</a:t>
            </a:r>
          </a:p>
          <a:p>
            <a:pPr algn="l"/>
            <a:r>
              <a:rPr sz="850" b="0">
                <a:solidFill>
                  <a:srgbClr val="333333"/>
                </a:solidFill>
                <a:latin typeface="メイリオ"/>
                <a:ea typeface="メイリオ"/>
                <a:cs typeface="メイリオ"/>
              </a:rPr>
              <a:t>塾を探す前に、今日からできることを1つ</a:t>
            </a:r>
          </a:p>
          <a:p>
            <a:pPr algn="l"/>
            <a:r>
              <a:rPr sz="850" b="0">
                <a:solidFill>
                  <a:srgbClr val="333333"/>
                </a:solidFill>
                <a:latin typeface="メイリオ"/>
                <a:ea typeface="メイリオ"/>
                <a:cs typeface="メイリオ"/>
              </a:rPr>
              <a:t>だけ。</a:t>
            </a:r>
          </a:p>
          <a:p>
            <a:pPr algn="l"/>
            <a:endParaRPr sz="850" b="0">
              <a:solidFill>
                <a:srgbClr val="333333"/>
              </a:solidFill>
              <a:latin typeface="メイリオ"/>
              <a:ea typeface="メイリオ"/>
              <a:cs typeface="メイリオ"/>
            </a:endParaRPr>
          </a:p>
          <a:p>
            <a:pPr algn="l"/>
            <a:r>
              <a:rPr sz="850" b="0">
                <a:solidFill>
                  <a:srgbClr val="333333"/>
                </a:solidFill>
                <a:latin typeface="メイリオ"/>
                <a:ea typeface="メイリオ"/>
                <a:cs typeface="メイリオ"/>
              </a:rPr>
              <a:t>伸びる子の家庭は、テスト返却の日に</a:t>
            </a:r>
          </a:p>
          <a:p>
            <a:pPr algn="l"/>
            <a:r>
              <a:rPr sz="850" b="0">
                <a:solidFill>
                  <a:srgbClr val="333333"/>
                </a:solidFill>
                <a:latin typeface="メイリオ"/>
                <a:ea typeface="メイリオ"/>
                <a:cs typeface="メイリオ"/>
              </a:rPr>
              <a:t>これをやっています👇</a:t>
            </a:r>
          </a:p>
          <a:p>
            <a:pPr algn="l"/>
            <a:r>
              <a:rPr sz="850" b="0">
                <a:solidFill>
                  <a:srgbClr val="333333"/>
                </a:solidFill>
                <a:latin typeface="メイリオ"/>
                <a:ea typeface="メイリオ"/>
                <a:cs typeface="メイリオ"/>
              </a:rPr>
              <a:t>✅ 間違いを「ケアレスミス」と</a:t>
            </a:r>
          </a:p>
          <a:p>
            <a:pPr algn="l"/>
            <a:r>
              <a:rPr sz="850" b="0">
                <a:solidFill>
                  <a:srgbClr val="333333"/>
                </a:solidFill>
                <a:latin typeface="メイリオ"/>
                <a:ea typeface="メイリオ"/>
                <a:cs typeface="メイリオ"/>
              </a:rPr>
              <a:t>　「わからなかった」に仕分け</a:t>
            </a:r>
          </a:p>
          <a:p>
            <a:pPr algn="l"/>
            <a:r>
              <a:rPr sz="850" b="0">
                <a:solidFill>
                  <a:srgbClr val="333333"/>
                </a:solidFill>
                <a:latin typeface="メイリオ"/>
                <a:ea typeface="メイリオ"/>
                <a:cs typeface="メイリオ"/>
              </a:rPr>
              <a:t>✅ 「わからなかった」だけ付箋</a:t>
            </a:r>
          </a:p>
          <a:p>
            <a:pPr algn="l"/>
            <a:r>
              <a:rPr sz="850" b="0">
                <a:solidFill>
                  <a:srgbClr val="333333"/>
                </a:solidFill>
                <a:latin typeface="メイリオ"/>
                <a:ea typeface="メイリオ"/>
                <a:cs typeface="メイリオ"/>
              </a:rPr>
              <a:t>✅ 週末に付箋の問題だけ解き直す</a:t>
            </a:r>
          </a:p>
          <a:p>
            <a:pPr algn="l"/>
            <a:endParaRPr sz="850" b="0">
              <a:solidFill>
                <a:srgbClr val="333333"/>
              </a:solidFill>
              <a:latin typeface="メイリオ"/>
              <a:ea typeface="メイリオ"/>
              <a:cs typeface="メイリオ"/>
            </a:endParaRPr>
          </a:p>
          <a:p>
            <a:pPr algn="l"/>
            <a:r>
              <a:rPr sz="850" b="0">
                <a:solidFill>
                  <a:srgbClr val="333333"/>
                </a:solidFill>
                <a:latin typeface="メイリオ"/>
                <a:ea typeface="メイリオ"/>
                <a:cs typeface="メイリオ"/>
              </a:rPr>
              <a:t>塾はその先、「付箋が多すぎて手に負えな</a:t>
            </a:r>
          </a:p>
          <a:p>
            <a:pPr algn="l"/>
            <a:r>
              <a:rPr sz="850" b="0">
                <a:solidFill>
                  <a:srgbClr val="333333"/>
                </a:solidFill>
                <a:latin typeface="メイリオ"/>
                <a:ea typeface="メイリオ"/>
                <a:cs typeface="メイリオ"/>
              </a:rPr>
              <a:t>い」ときの選択肢で大丈夫です😊</a:t>
            </a:r>
          </a:p>
        </p:txBody>
      </p:sp>
      <p:sp>
        <p:nvSpPr>
          <p:cNvPr id="27" name="Rounded Rectangle 26"/>
          <p:cNvSpPr/>
          <p:nvPr/>
        </p:nvSpPr>
        <p:spPr>
          <a:xfrm>
            <a:off x="3499199"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【登録から7日後】</a:t>
            </a:r>
          </a:p>
          <a:p>
            <a:pPr algn="ctr"/>
            <a:r>
              <a:rPr sz="1000" b="0">
                <a:solidFill>
                  <a:srgbClr val="FFFFFF"/>
                </a:solidFill>
                <a:latin typeface="メイリオ"/>
                <a:ea typeface="メイリオ"/>
                <a:cs typeface="メイリオ"/>
              </a:rPr>
              <a:t>候補を絞るころ</a:t>
            </a:r>
          </a:p>
        </p:txBody>
      </p:sp>
      <p:sp>
        <p:nvSpPr>
          <p:cNvPr id="28" name="Rounded Rectangle 27"/>
          <p:cNvSpPr/>
          <p:nvPr/>
        </p:nvSpPr>
        <p:spPr>
          <a:xfrm>
            <a:off x="3499199" y="1980000"/>
            <a:ext cx="2908800" cy="270000"/>
          </a:xfrm>
          <a:prstGeom prst="roundRect">
            <a:avLst>
              <a:gd name="adj" fmla="val 15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1">
                <a:solidFill>
                  <a:srgbClr val="333333"/>
                </a:solidFill>
                <a:latin typeface="メイリオ"/>
                <a:ea typeface="メイリオ"/>
                <a:cs typeface="メイリオ"/>
              </a:rPr>
              <a:t>通知の冒頭：同じ悩みだった◯年生の話</a:t>
            </a:r>
          </a:p>
        </p:txBody>
      </p:sp>
      <p:sp>
        <p:nvSpPr>
          <p:cNvPr id="29" name="Rectangle 28"/>
          <p:cNvSpPr/>
          <p:nvPr/>
        </p:nvSpPr>
        <p:spPr>
          <a:xfrm>
            <a:off x="3499199" y="2304000"/>
            <a:ext cx="2908800" cy="38519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0" name="Rounded Rectangle 29"/>
          <p:cNvSpPr/>
          <p:nvPr/>
        </p:nvSpPr>
        <p:spPr>
          <a:xfrm>
            <a:off x="3607200" y="2394000"/>
            <a:ext cx="2664000" cy="1692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50" b="0">
                <a:solidFill>
                  <a:srgbClr val="333333"/>
                </a:solidFill>
                <a:latin typeface="メイリオ"/>
                <a:ea typeface="メイリオ"/>
                <a:cs typeface="メイリオ"/>
              </a:rPr>
              <a:t>◯◯塾の佐藤です。</a:t>
            </a:r>
          </a:p>
          <a:p>
            <a:pPr algn="l"/>
            <a:r>
              <a:rPr sz="850" b="0">
                <a:solidFill>
                  <a:srgbClr val="333333"/>
                </a:solidFill>
                <a:latin typeface="メイリオ"/>
                <a:ea typeface="メイリオ"/>
                <a:cs typeface="メイリオ"/>
              </a:rPr>
              <a:t>診断で「◯◯タイプ」だったお子さまと</a:t>
            </a:r>
          </a:p>
          <a:p>
            <a:pPr algn="l"/>
            <a:r>
              <a:rPr sz="850" b="0">
                <a:solidFill>
                  <a:srgbClr val="333333"/>
                </a:solidFill>
                <a:latin typeface="メイリオ"/>
                <a:ea typeface="メイリオ"/>
                <a:cs typeface="メイリオ"/>
              </a:rPr>
              <a:t>同じタイプの、中2のAさんのお話です。</a:t>
            </a:r>
          </a:p>
          <a:p>
            <a:pPr algn="l"/>
            <a:endParaRPr sz="850" b="0">
              <a:solidFill>
                <a:srgbClr val="333333"/>
              </a:solidFill>
              <a:latin typeface="メイリオ"/>
              <a:ea typeface="メイリオ"/>
              <a:cs typeface="メイリオ"/>
            </a:endParaRPr>
          </a:p>
          <a:p>
            <a:pPr algn="l"/>
            <a:r>
              <a:rPr sz="850" b="0">
                <a:solidFill>
                  <a:srgbClr val="333333"/>
                </a:solidFill>
                <a:latin typeface="メイリオ"/>
                <a:ea typeface="メイリオ"/>
                <a:cs typeface="メイリオ"/>
              </a:rPr>
              <a:t>入塾前は「授業についていけない」が</a:t>
            </a:r>
          </a:p>
          <a:p>
            <a:pPr algn="l"/>
            <a:r>
              <a:rPr sz="850" b="0">
                <a:solidFill>
                  <a:srgbClr val="333333"/>
                </a:solidFill>
                <a:latin typeface="メイリオ"/>
                <a:ea typeface="メイリオ"/>
                <a:cs typeface="メイリオ"/>
              </a:rPr>
              <a:t>悩みでしたが、分からない所まで戻った</a:t>
            </a:r>
          </a:p>
          <a:p>
            <a:pPr algn="l"/>
            <a:r>
              <a:rPr sz="850" b="0">
                <a:solidFill>
                  <a:srgbClr val="333333"/>
                </a:solidFill>
                <a:latin typeface="メイリオ"/>
                <a:ea typeface="メイリオ"/>
                <a:cs typeface="メイリオ"/>
              </a:rPr>
              <a:t>ことで、3か月後の定期テストで</a:t>
            </a:r>
          </a:p>
          <a:p>
            <a:pPr algn="l"/>
            <a:r>
              <a:rPr sz="850" b="0">
                <a:solidFill>
                  <a:srgbClr val="333333"/>
                </a:solidFill>
                <a:latin typeface="メイリオ"/>
                <a:ea typeface="メイリオ"/>
                <a:cs typeface="メイリオ"/>
              </a:rPr>
              <a:t>数学が◯点→◯点に。</a:t>
            </a:r>
          </a:p>
          <a:p>
            <a:pPr algn="l"/>
            <a:endParaRPr sz="850" b="0">
              <a:solidFill>
                <a:srgbClr val="333333"/>
              </a:solidFill>
              <a:latin typeface="メイリオ"/>
              <a:ea typeface="メイリオ"/>
              <a:cs typeface="メイリオ"/>
            </a:endParaRPr>
          </a:p>
          <a:p>
            <a:pPr algn="l"/>
            <a:r>
              <a:rPr sz="850" b="0">
                <a:solidFill>
                  <a:srgbClr val="333333"/>
                </a:solidFill>
                <a:latin typeface="メイリオ"/>
                <a:ea typeface="メイリオ"/>
                <a:cs typeface="メイリオ"/>
              </a:rPr>
              <a:t>お子さまに合うかどうかは、</a:t>
            </a:r>
          </a:p>
          <a:p>
            <a:pPr algn="l"/>
            <a:r>
              <a:rPr sz="850" b="0">
                <a:solidFill>
                  <a:srgbClr val="333333"/>
                </a:solidFill>
                <a:latin typeface="メイリオ"/>
                <a:ea typeface="メイリオ"/>
                <a:cs typeface="メイリオ"/>
              </a:rPr>
              <a:t>体験で確かめられます。</a:t>
            </a:r>
          </a:p>
        </p:txBody>
      </p:sp>
      <p:sp>
        <p:nvSpPr>
          <p:cNvPr id="31" name="Rounded Rectangle 30"/>
          <p:cNvSpPr/>
          <p:nvPr/>
        </p:nvSpPr>
        <p:spPr>
          <a:xfrm>
            <a:off x="3607200" y="4158000"/>
            <a:ext cx="2664000" cy="270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FFFFFF"/>
                </a:solidFill>
                <a:latin typeface="メイリオ"/>
                <a:ea typeface="メイリオ"/>
                <a:cs typeface="メイリオ"/>
              </a:rPr>
              <a:t>▶ 無料体験の空き枠を見る</a:t>
            </a:r>
          </a:p>
        </p:txBody>
      </p:sp>
      <p:sp>
        <p:nvSpPr>
          <p:cNvPr id="32" name="Rounded Rectangle 31"/>
          <p:cNvSpPr/>
          <p:nvPr/>
        </p:nvSpPr>
        <p:spPr>
          <a:xfrm>
            <a:off x="6566399"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【登録から14日後】</a:t>
            </a:r>
          </a:p>
          <a:p>
            <a:pPr algn="ctr"/>
            <a:r>
              <a:rPr sz="1000" b="0">
                <a:solidFill>
                  <a:srgbClr val="FFFFFF"/>
                </a:solidFill>
                <a:latin typeface="メイリオ"/>
                <a:ea typeface="メイリオ"/>
                <a:cs typeface="メイリオ"/>
              </a:rPr>
              <a:t>決めるころ</a:t>
            </a:r>
          </a:p>
        </p:txBody>
      </p:sp>
      <p:sp>
        <p:nvSpPr>
          <p:cNvPr id="33" name="Rounded Rectangle 32"/>
          <p:cNvSpPr/>
          <p:nvPr/>
        </p:nvSpPr>
        <p:spPr>
          <a:xfrm>
            <a:off x="6566399" y="1980000"/>
            <a:ext cx="2908800" cy="270000"/>
          </a:xfrm>
          <a:prstGeom prst="roundRect">
            <a:avLst>
              <a:gd name="adj" fmla="val 15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1">
                <a:solidFill>
                  <a:srgbClr val="333333"/>
                </a:solidFill>
                <a:latin typeface="メイリオ"/>
                <a:ea typeface="メイリオ"/>
                <a:cs typeface="メイリオ"/>
              </a:rPr>
              <a:t>通知の冒頭：次のテストまで、あと◯日です</a:t>
            </a:r>
          </a:p>
        </p:txBody>
      </p:sp>
      <p:sp>
        <p:nvSpPr>
          <p:cNvPr id="34" name="Rectangle 33"/>
          <p:cNvSpPr/>
          <p:nvPr/>
        </p:nvSpPr>
        <p:spPr>
          <a:xfrm>
            <a:off x="6566399" y="2304000"/>
            <a:ext cx="2908800" cy="38519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ounded Rectangle 34"/>
          <p:cNvSpPr/>
          <p:nvPr/>
        </p:nvSpPr>
        <p:spPr>
          <a:xfrm>
            <a:off x="6674400" y="2394000"/>
            <a:ext cx="2664000" cy="1692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50" b="0">
                <a:solidFill>
                  <a:srgbClr val="333333"/>
                </a:solidFill>
                <a:latin typeface="メイリオ"/>
                <a:ea typeface="メイリオ"/>
                <a:cs typeface="メイリオ"/>
              </a:rPr>
              <a:t>◯◯塾の佐藤です。</a:t>
            </a:r>
          </a:p>
          <a:p>
            <a:pPr algn="l"/>
            <a:r>
              <a:rPr sz="850" b="0">
                <a:solidFill>
                  <a:srgbClr val="333333"/>
                </a:solidFill>
                <a:latin typeface="メイリオ"/>
                <a:ea typeface="メイリオ"/>
                <a:cs typeface="メイリオ"/>
              </a:rPr>
              <a:t>次の定期テストまで、あと約◯日。</a:t>
            </a:r>
          </a:p>
          <a:p>
            <a:pPr algn="l"/>
            <a:endParaRPr sz="850" b="0">
              <a:solidFill>
                <a:srgbClr val="333333"/>
              </a:solidFill>
              <a:latin typeface="メイリオ"/>
              <a:ea typeface="メイリオ"/>
              <a:cs typeface="メイリオ"/>
            </a:endParaRPr>
          </a:p>
          <a:p>
            <a:pPr algn="l"/>
            <a:r>
              <a:rPr sz="850" b="0">
                <a:solidFill>
                  <a:srgbClr val="333333"/>
                </a:solidFill>
                <a:latin typeface="メイリオ"/>
                <a:ea typeface="メイリオ"/>
                <a:cs typeface="メイリオ"/>
              </a:rPr>
              <a:t>入塾手続きから授業開始まで約1週間、</a:t>
            </a:r>
          </a:p>
          <a:p>
            <a:pPr algn="l"/>
            <a:r>
              <a:rPr sz="850" b="0">
                <a:solidFill>
                  <a:srgbClr val="333333"/>
                </a:solidFill>
                <a:latin typeface="メイリオ"/>
                <a:ea typeface="メイリオ"/>
                <a:cs typeface="メイリオ"/>
              </a:rPr>
              <a:t>テスト対策には3週間ほどかかるため、</a:t>
            </a:r>
          </a:p>
          <a:p>
            <a:pPr algn="l"/>
            <a:r>
              <a:rPr sz="850" b="0">
                <a:solidFill>
                  <a:srgbClr val="333333"/>
                </a:solidFill>
                <a:latin typeface="メイリオ"/>
                <a:ea typeface="メイリオ"/>
                <a:cs typeface="メイリオ"/>
              </a:rPr>
              <a:t>ご検討中なら今週がひとつの分かれ目</a:t>
            </a:r>
          </a:p>
          <a:p>
            <a:pPr algn="l"/>
            <a:r>
              <a:rPr sz="850" b="0">
                <a:solidFill>
                  <a:srgbClr val="333333"/>
                </a:solidFill>
                <a:latin typeface="メイリオ"/>
                <a:ea typeface="メイリオ"/>
                <a:cs typeface="メイリオ"/>
              </a:rPr>
              <a:t>です。</a:t>
            </a:r>
          </a:p>
          <a:p>
            <a:pPr algn="l"/>
            <a:endParaRPr sz="850" b="0">
              <a:solidFill>
                <a:srgbClr val="333333"/>
              </a:solidFill>
              <a:latin typeface="メイリオ"/>
              <a:ea typeface="メイリオ"/>
              <a:cs typeface="メイリオ"/>
            </a:endParaRPr>
          </a:p>
          <a:p>
            <a:pPr algn="l"/>
            <a:r>
              <a:rPr sz="850" b="0">
                <a:solidFill>
                  <a:srgbClr val="333333"/>
                </a:solidFill>
                <a:latin typeface="メイリオ"/>
                <a:ea typeface="メイリオ"/>
                <a:cs typeface="メイリオ"/>
              </a:rPr>
              <a:t>「まだ迷っている」段階でも大丈夫。</a:t>
            </a:r>
          </a:p>
          <a:p>
            <a:pPr algn="l"/>
            <a:r>
              <a:rPr sz="850" b="0">
                <a:solidFill>
                  <a:srgbClr val="333333"/>
                </a:solidFill>
                <a:latin typeface="メイリオ"/>
                <a:ea typeface="メイリオ"/>
                <a:cs typeface="メイリオ"/>
              </a:rPr>
              <a:t>体験だけ受けて、テスト後にゆっくり</a:t>
            </a:r>
          </a:p>
          <a:p>
            <a:pPr algn="l"/>
            <a:r>
              <a:rPr sz="850" b="0">
                <a:solidFill>
                  <a:srgbClr val="333333"/>
                </a:solidFill>
                <a:latin typeface="メイリオ"/>
                <a:ea typeface="メイリオ"/>
                <a:cs typeface="メイリオ"/>
              </a:rPr>
              <a:t>決めたご家庭も多いです😊</a:t>
            </a:r>
          </a:p>
        </p:txBody>
      </p:sp>
      <p:sp>
        <p:nvSpPr>
          <p:cNvPr id="36" name="Rounded Rectangle 35"/>
          <p:cNvSpPr/>
          <p:nvPr/>
        </p:nvSpPr>
        <p:spPr>
          <a:xfrm>
            <a:off x="6674400" y="4158000"/>
            <a:ext cx="2664000" cy="270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FFFFFF"/>
                </a:solidFill>
                <a:latin typeface="メイリオ"/>
                <a:ea typeface="メイリオ"/>
                <a:cs typeface="メイリオ"/>
              </a:rPr>
              <a:t>▶ 今週の体験枠を見る</a:t>
            </a:r>
          </a:p>
        </p:txBody>
      </p:sp>
    </p:spTree>
    <p:extLst>
      <p:ext uri="{BB962C8B-B14F-4D97-AF65-F5344CB8AC3E}">
        <p14:creationId xmlns:p14="http://schemas.microsoft.com/office/powerpoint/2010/main" val="1065560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ステップ配信｜体験予約から入会まで</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体験を予約しても、当日来られない方がいる。理由として多いのは「忘れた」「持ち物が不安」「変更の仕方が分からない」。</a:t>
            </a:r>
          </a:p>
          <a:p>
            <a:pPr algn="l">
              <a:lnSpc>
                <a:spcPct val="128000"/>
              </a:lnSpc>
            </a:pPr>
            <a:r>
              <a:rPr sz="1200">
                <a:solidFill>
                  <a:srgbClr val="333333"/>
                </a:solidFill>
                <a:latin typeface="メイリオ"/>
                <a:ea typeface="メイリオ"/>
                <a:cs typeface="メイリオ"/>
              </a:rPr>
              <a:t>前日までに先回りしてご案内し、体験への来塾と入会につなげる。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※体験に来られない割合・改善の幅は、貴塾の実績をもとに確認する</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40" name="Rounded Rectangle 3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42" name="Rectangle 4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体験を予約しても、</a:t>
            </a:r>
          </a:p>
          <a:p>
            <a:pPr algn="l"/>
            <a:r>
              <a:rPr sz="1000" b="0">
                <a:solidFill>
                  <a:srgbClr val="333333"/>
                </a:solidFill>
                <a:latin typeface="メイリオ"/>
                <a:ea typeface="メイリオ"/>
                <a:cs typeface="メイリオ"/>
              </a:rPr>
              <a:t>当日来られない方がいる</a:t>
            </a:r>
          </a:p>
          <a:p>
            <a:pPr algn="l"/>
            <a:r>
              <a:rPr sz="1000" b="0">
                <a:solidFill>
                  <a:srgbClr val="333333"/>
                </a:solidFill>
                <a:latin typeface="メイリオ"/>
                <a:ea typeface="メイリオ"/>
                <a:cs typeface="メイリオ"/>
              </a:rPr>
              <a:t>（割合は貴塾の実績で確認）</a:t>
            </a:r>
          </a:p>
        </p:txBody>
      </p:sp>
      <p:cxnSp>
        <p:nvCxnSpPr>
          <p:cNvPr id="43" name="Connector 4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ounded Rectangle 44"/>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46" name="Rectangle 4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来られない理由を、</a:t>
            </a:r>
          </a:p>
          <a:p>
            <a:pPr algn="l"/>
            <a:r>
              <a:rPr sz="1000" b="0">
                <a:solidFill>
                  <a:srgbClr val="333333"/>
                </a:solidFill>
                <a:latin typeface="メイリオ"/>
                <a:ea typeface="メイリオ"/>
                <a:cs typeface="メイリオ"/>
              </a:rPr>
              <a:t>前日までに先回りして解消する</a:t>
            </a:r>
          </a:p>
        </p:txBody>
      </p:sp>
      <p:cxnSp>
        <p:nvCxnSpPr>
          <p:cNvPr id="47" name="Connector 4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9" name="Rounded Rectangle 4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50" name="Rectangle 4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予約の直後から翌日まで、</a:t>
            </a:r>
          </a:p>
          <a:p>
            <a:pPr algn="l"/>
            <a:r>
              <a:rPr sz="1000" b="0">
                <a:solidFill>
                  <a:srgbClr val="FFFFFF"/>
                </a:solidFill>
                <a:latin typeface="メイリオ"/>
                <a:ea typeface="メイリオ"/>
                <a:cs typeface="メイリオ"/>
              </a:rPr>
              <a:t>LINEで5回自動で届ける</a:t>
            </a:r>
          </a:p>
        </p:txBody>
      </p:sp>
      <p:cxnSp>
        <p:nvCxnSpPr>
          <p:cNvPr id="51" name="Connector 50"/>
          <p:cNvCxnSpPr/>
          <p:nvPr/>
        </p:nvCxnSpPr>
        <p:spPr>
          <a:xfrm>
            <a:off x="576000" y="2880000"/>
            <a:ext cx="8748000" cy="0"/>
          </a:xfrm>
          <a:prstGeom prst="line">
            <a:avLst/>
          </a:prstGeom>
          <a:ln w="38100">
            <a:solidFill>
              <a:srgbClr val="1F285A"/>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1210319"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3" name="Rectangle 52"/>
          <p:cNvSpPr/>
          <p:nvPr/>
        </p:nvSpPr>
        <p:spPr>
          <a:xfrm>
            <a:off x="43200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予約した直後</a:t>
            </a:r>
          </a:p>
        </p:txBody>
      </p:sp>
      <p:sp>
        <p:nvSpPr>
          <p:cNvPr id="54" name="Rounded Rectangle 53"/>
          <p:cNvSpPr/>
          <p:nvPr/>
        </p:nvSpPr>
        <p:spPr>
          <a:xfrm>
            <a:off x="48599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予約内容の確認</a:t>
            </a:r>
          </a:p>
          <a:p>
            <a:pPr algn="ctr"/>
            <a:r>
              <a:rPr sz="1000" b="0">
                <a:solidFill>
                  <a:srgbClr val="333333"/>
                </a:solidFill>
                <a:latin typeface="メイリオ"/>
                <a:ea typeface="メイリオ"/>
                <a:cs typeface="メイリオ"/>
              </a:rPr>
              <a:t>カレンダー登録</a:t>
            </a:r>
          </a:p>
        </p:txBody>
      </p:sp>
      <p:sp>
        <p:nvSpPr>
          <p:cNvPr id="55" name="Oval 54"/>
          <p:cNvSpPr/>
          <p:nvPr/>
        </p:nvSpPr>
        <p:spPr>
          <a:xfrm>
            <a:off x="3018960"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6" name="Rectangle 55"/>
          <p:cNvSpPr/>
          <p:nvPr/>
        </p:nvSpPr>
        <p:spPr>
          <a:xfrm>
            <a:off x="224064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2日前</a:t>
            </a:r>
          </a:p>
        </p:txBody>
      </p:sp>
      <p:sp>
        <p:nvSpPr>
          <p:cNvPr id="57" name="Rounded Rectangle 56"/>
          <p:cNvSpPr/>
          <p:nvPr/>
        </p:nvSpPr>
        <p:spPr>
          <a:xfrm>
            <a:off x="2294640"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担当講師の紹介</a:t>
            </a:r>
          </a:p>
          <a:p>
            <a:pPr algn="ctr"/>
            <a:r>
              <a:rPr sz="1000" b="0">
                <a:solidFill>
                  <a:srgbClr val="333333"/>
                </a:solidFill>
                <a:latin typeface="メイリオ"/>
                <a:ea typeface="メイリオ"/>
                <a:cs typeface="メイリオ"/>
              </a:rPr>
              <a:t>顔写真とひとこと</a:t>
            </a:r>
          </a:p>
        </p:txBody>
      </p:sp>
      <p:sp>
        <p:nvSpPr>
          <p:cNvPr id="58" name="Oval 57"/>
          <p:cNvSpPr/>
          <p:nvPr/>
        </p:nvSpPr>
        <p:spPr>
          <a:xfrm>
            <a:off x="4827600"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9" name="Rectangle 58"/>
          <p:cNvSpPr/>
          <p:nvPr/>
        </p:nvSpPr>
        <p:spPr>
          <a:xfrm>
            <a:off x="4049279"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前日</a:t>
            </a:r>
          </a:p>
        </p:txBody>
      </p:sp>
      <p:sp>
        <p:nvSpPr>
          <p:cNvPr id="60" name="Rounded Rectangle 59"/>
          <p:cNvSpPr/>
          <p:nvPr/>
        </p:nvSpPr>
        <p:spPr>
          <a:xfrm>
            <a:off x="4103280"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持ち物・アクセス</a:t>
            </a:r>
          </a:p>
          <a:p>
            <a:pPr algn="ctr"/>
            <a:r>
              <a:rPr sz="1000" b="0">
                <a:solidFill>
                  <a:srgbClr val="333333"/>
                </a:solidFill>
                <a:latin typeface="メイリオ"/>
                <a:ea typeface="メイリオ"/>
                <a:cs typeface="メイリオ"/>
              </a:rPr>
              <a:t>日程の変更方法</a:t>
            </a:r>
          </a:p>
        </p:txBody>
      </p:sp>
      <p:sp>
        <p:nvSpPr>
          <p:cNvPr id="61" name="Oval 60"/>
          <p:cNvSpPr/>
          <p:nvPr/>
        </p:nvSpPr>
        <p:spPr>
          <a:xfrm>
            <a:off x="6636239"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2" name="Rectangle 61"/>
          <p:cNvSpPr/>
          <p:nvPr/>
        </p:nvSpPr>
        <p:spPr>
          <a:xfrm>
            <a:off x="5857919"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当日2時間前</a:t>
            </a:r>
          </a:p>
        </p:txBody>
      </p:sp>
      <p:sp>
        <p:nvSpPr>
          <p:cNvPr id="63" name="Rounded Rectangle 62"/>
          <p:cNvSpPr/>
          <p:nvPr/>
        </p:nvSpPr>
        <p:spPr>
          <a:xfrm>
            <a:off x="591191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「お待ちしています」</a:t>
            </a:r>
          </a:p>
          <a:p>
            <a:pPr algn="ctr"/>
            <a:r>
              <a:rPr sz="1000" b="0">
                <a:solidFill>
                  <a:srgbClr val="333333"/>
                </a:solidFill>
                <a:latin typeface="メイリオ"/>
                <a:ea typeface="メイリオ"/>
                <a:cs typeface="メイリオ"/>
              </a:rPr>
              <a:t>短い一言</a:t>
            </a:r>
          </a:p>
        </p:txBody>
      </p:sp>
      <p:sp>
        <p:nvSpPr>
          <p:cNvPr id="64" name="Oval 63"/>
          <p:cNvSpPr/>
          <p:nvPr/>
        </p:nvSpPr>
        <p:spPr>
          <a:xfrm>
            <a:off x="8444880" y="2754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5" name="Rectangle 64"/>
          <p:cNvSpPr/>
          <p:nvPr/>
        </p:nvSpPr>
        <p:spPr>
          <a:xfrm>
            <a:off x="766656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00897B"/>
                </a:solidFill>
                <a:latin typeface="メイリオ"/>
                <a:ea typeface="メイリオ"/>
                <a:cs typeface="メイリオ"/>
              </a:rPr>
              <a:t>翌日</a:t>
            </a:r>
          </a:p>
        </p:txBody>
      </p:sp>
      <p:sp>
        <p:nvSpPr>
          <p:cNvPr id="66" name="Rounded Rectangle 65"/>
          <p:cNvSpPr/>
          <p:nvPr/>
        </p:nvSpPr>
        <p:spPr>
          <a:xfrm>
            <a:off x="772055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お礼＋診断結果</a:t>
            </a:r>
          </a:p>
          <a:p>
            <a:pPr algn="ctr"/>
            <a:r>
              <a:rPr sz="1000" b="0">
                <a:solidFill>
                  <a:srgbClr val="333333"/>
                </a:solidFill>
                <a:latin typeface="メイリオ"/>
                <a:ea typeface="メイリオ"/>
                <a:cs typeface="メイリオ"/>
              </a:rPr>
              <a:t>入会のご相談はこちら</a:t>
            </a:r>
          </a:p>
        </p:txBody>
      </p:sp>
      <p:sp>
        <p:nvSpPr>
          <p:cNvPr id="67" name="Rectangle 66"/>
          <p:cNvSpPr/>
          <p:nvPr/>
        </p:nvSpPr>
        <p:spPr>
          <a:xfrm>
            <a:off x="432000" y="3761999"/>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前日のメッセージ（実文）</a:t>
            </a:r>
          </a:p>
        </p:txBody>
      </p:sp>
      <p:sp>
        <p:nvSpPr>
          <p:cNvPr id="68" name="Rectangle 67"/>
          <p:cNvSpPr/>
          <p:nvPr/>
        </p:nvSpPr>
        <p:spPr>
          <a:xfrm>
            <a:off x="432000" y="3996000"/>
            <a:ext cx="5040000" cy="212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9" name="Rounded Rectangle 68"/>
          <p:cNvSpPr/>
          <p:nvPr/>
        </p:nvSpPr>
        <p:spPr>
          <a:xfrm>
            <a:off x="540000" y="4068000"/>
            <a:ext cx="4824000" cy="198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950" b="0">
                <a:solidFill>
                  <a:srgbClr val="333333"/>
                </a:solidFill>
                <a:latin typeface="メイリオ"/>
                <a:ea typeface="メイリオ"/>
                <a:cs typeface="メイリオ"/>
              </a:rPr>
              <a:t>【明日◯時〜】体験授業のご確認です😊</a:t>
            </a:r>
          </a:p>
          <a:p>
            <a:pPr algn="l"/>
            <a:r>
              <a:rPr sz="950" b="0">
                <a:solidFill>
                  <a:srgbClr val="333333"/>
                </a:solidFill>
                <a:latin typeface="メイリオ"/>
                <a:ea typeface="メイリオ"/>
                <a:cs typeface="メイリオ"/>
              </a:rPr>
              <a:t>◯◯塾 △△教室（地図はこちら▼）</a:t>
            </a:r>
          </a:p>
          <a:p>
            <a:pPr algn="l"/>
            <a:r>
              <a:rPr sz="950" b="0">
                <a:solidFill>
                  <a:srgbClr val="333333"/>
                </a:solidFill>
                <a:latin typeface="メイリオ"/>
                <a:ea typeface="メイリオ"/>
                <a:cs typeface="メイリオ"/>
              </a:rPr>
              <a:t>✏️ 持ち物：筆記用具だけでOK（教材はご用意します）</a:t>
            </a:r>
          </a:p>
          <a:p>
            <a:pPr algn="l"/>
            <a:r>
              <a:rPr sz="950" b="0">
                <a:solidFill>
                  <a:srgbClr val="333333"/>
                </a:solidFill>
                <a:latin typeface="メイリオ"/>
                <a:ea typeface="メイリオ"/>
                <a:cs typeface="メイリオ"/>
              </a:rPr>
              <a:t>🚲 駐輪場：教室裏にあります</a:t>
            </a:r>
          </a:p>
          <a:p>
            <a:pPr algn="l"/>
            <a:r>
              <a:rPr sz="950" b="0">
                <a:solidFill>
                  <a:srgbClr val="333333"/>
                </a:solidFill>
                <a:latin typeface="メイリオ"/>
                <a:ea typeface="メイリオ"/>
                <a:cs typeface="メイリオ"/>
              </a:rPr>
              <a:t>👪 保護者さまは「見学」でも「面談だけ」でも大丈夫です</a:t>
            </a:r>
          </a:p>
          <a:p>
            <a:pPr algn="l"/>
            <a:endParaRPr sz="950" b="0">
              <a:solidFill>
                <a:srgbClr val="333333"/>
              </a:solidFill>
              <a:latin typeface="メイリオ"/>
              <a:ea typeface="メイリオ"/>
              <a:cs typeface="メイリオ"/>
            </a:endParaRPr>
          </a:p>
          <a:p>
            <a:pPr algn="l"/>
            <a:r>
              <a:rPr sz="950" b="0">
                <a:solidFill>
                  <a:srgbClr val="333333"/>
                </a:solidFill>
                <a:latin typeface="メイリオ"/>
                <a:ea typeface="メイリオ"/>
                <a:cs typeface="メイリオ"/>
              </a:rPr>
              <a:t>ご都合が変わったら、このトークに「変更」と送って</a:t>
            </a:r>
          </a:p>
          <a:p>
            <a:pPr algn="l"/>
            <a:r>
              <a:rPr sz="950" b="0">
                <a:solidFill>
                  <a:srgbClr val="333333"/>
                </a:solidFill>
                <a:latin typeface="メイリオ"/>
                <a:ea typeface="メイリオ"/>
                <a:cs typeface="メイリオ"/>
              </a:rPr>
              <a:t>ください。別の日程をご案内します。</a:t>
            </a:r>
          </a:p>
          <a:p>
            <a:pPr algn="l"/>
            <a:r>
              <a:rPr sz="950" b="0">
                <a:solidFill>
                  <a:srgbClr val="333333"/>
                </a:solidFill>
                <a:latin typeface="メイリオ"/>
                <a:ea typeface="メイリオ"/>
                <a:cs typeface="メイリオ"/>
              </a:rPr>
              <a:t>（キャンセル料はありません）</a:t>
            </a:r>
          </a:p>
        </p:txBody>
      </p:sp>
      <p:sp>
        <p:nvSpPr>
          <p:cNvPr id="70" name="Rounded Rectangle 69"/>
          <p:cNvSpPr/>
          <p:nvPr/>
        </p:nvSpPr>
        <p:spPr>
          <a:xfrm>
            <a:off x="5652000" y="3996000"/>
            <a:ext cx="3823199" cy="1007999"/>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333333"/>
                </a:solidFill>
                <a:latin typeface="メイリオ"/>
                <a:ea typeface="メイリオ"/>
                <a:cs typeface="メイリオ"/>
              </a:rPr>
              <a:t>「キャンセル料はありません」を必ず書く</a:t>
            </a:r>
          </a:p>
          <a:p>
            <a:pPr algn="l"/>
            <a:r>
              <a:rPr sz="1200" b="0">
                <a:solidFill>
                  <a:srgbClr val="333333"/>
                </a:solidFill>
                <a:latin typeface="メイリオ"/>
                <a:ea typeface="メイリオ"/>
                <a:cs typeface="メイリオ"/>
              </a:rPr>
              <a:t>変更・キャンセルの自由を先に伝えたほうが、</a:t>
            </a:r>
          </a:p>
          <a:p>
            <a:pPr algn="l"/>
            <a:r>
              <a:rPr sz="1200" b="0">
                <a:solidFill>
                  <a:srgbClr val="333333"/>
                </a:solidFill>
                <a:latin typeface="メイリオ"/>
                <a:ea typeface="メイリオ"/>
                <a:cs typeface="メイリオ"/>
              </a:rPr>
              <a:t>体験に来ていただきやすい</a:t>
            </a:r>
          </a:p>
        </p:txBody>
      </p:sp>
      <p:sp>
        <p:nvSpPr>
          <p:cNvPr id="71" name="Rounded Rectangle 70"/>
          <p:cNvSpPr/>
          <p:nvPr/>
        </p:nvSpPr>
        <p:spPr>
          <a:xfrm>
            <a:off x="5652000" y="5112000"/>
            <a:ext cx="3823199" cy="1007999"/>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翌日のメッセージで入会へ</a:t>
            </a:r>
          </a:p>
          <a:p>
            <a:pPr algn="l"/>
            <a:r>
              <a:rPr sz="1200" b="0">
                <a:solidFill>
                  <a:srgbClr val="333333"/>
                </a:solidFill>
                <a:latin typeface="メイリオ"/>
                <a:ea typeface="メイリオ"/>
                <a:cs typeface="メイリオ"/>
              </a:rPr>
              <a:t>お礼と診断結果を送り、入会の相談は</a:t>
            </a:r>
          </a:p>
          <a:p>
            <a:pPr algn="l"/>
            <a:r>
              <a:rPr sz="1200" b="0">
                <a:solidFill>
                  <a:srgbClr val="333333"/>
                </a:solidFill>
                <a:latin typeface="メイリオ"/>
                <a:ea typeface="メイリオ"/>
                <a:cs typeface="メイリオ"/>
              </a:rPr>
              <a:t>LINEで受け付けて教室へつなぐ</a:t>
            </a:r>
          </a:p>
        </p:txBody>
      </p:sp>
    </p:spTree>
    <p:extLst>
      <p:ext uri="{BB962C8B-B14F-4D97-AF65-F5344CB8AC3E}">
        <p14:creationId xmlns:p14="http://schemas.microsoft.com/office/powerpoint/2010/main" val="2957158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具体企画の構成｜過去に問い合わせた保護者へ</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塾には、資料請求や体験だけで止まった保護者の連絡先が残っている。</a:t>
            </a:r>
          </a:p>
          <a:p>
            <a:pPr algn="l">
              <a:lnSpc>
                <a:spcPct val="128000"/>
              </a:lnSpc>
            </a:pPr>
            <a:r>
              <a:rPr sz="1200">
                <a:solidFill>
                  <a:srgbClr val="333333"/>
                </a:solidFill>
                <a:latin typeface="メイリオ"/>
                <a:ea typeface="メイリオ"/>
                <a:cs typeface="メイリオ"/>
              </a:rPr>
              <a:t>講習の時期に合わせて、もう一度ご案内する。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通知メッセージは別途費用。利用条件・単価はLINEヤフーの規定で変わるため、要件定義の際に最新の条件を確認する</a:t>
            </a:r>
          </a:p>
        </p:txBody>
      </p:sp>
      <p:sp>
        <p:nvSpPr>
          <p:cNvPr id="28" name="Pentagon 27"/>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29" name="Chevron 28"/>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0" name="Chevron 29"/>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1" name="Chevron 30"/>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2" name="Chevron 31"/>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33" name="Chevron 32"/>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34" name="Chevron 3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5" name="Chevron 3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6" name="Rounded Rectangle 35"/>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7" name="Rounded Rectangle 36"/>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38" name="Rectangle 37"/>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資料請求や体験だけで止まった</a:t>
            </a:r>
          </a:p>
          <a:p>
            <a:pPr algn="l"/>
            <a:r>
              <a:rPr sz="1200" b="0">
                <a:solidFill>
                  <a:srgbClr val="333333"/>
                </a:solidFill>
                <a:latin typeface="メイリオ"/>
                <a:ea typeface="メイリオ"/>
                <a:cs typeface="メイリオ"/>
              </a:rPr>
              <a:t>保護者の電話番号が残っている</a:t>
            </a:r>
          </a:p>
        </p:txBody>
      </p:sp>
      <p:cxnSp>
        <p:nvCxnSpPr>
          <p:cNvPr id="39" name="Connector 38"/>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42" name="Rectangle 41"/>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講習の時期に合わせて、</a:t>
            </a:r>
          </a:p>
          <a:p>
            <a:pPr algn="l"/>
            <a:r>
              <a:rPr sz="1200" b="0">
                <a:solidFill>
                  <a:srgbClr val="333333"/>
                </a:solidFill>
                <a:latin typeface="メイリオ"/>
                <a:ea typeface="メイリオ"/>
                <a:cs typeface="メイリオ"/>
              </a:rPr>
              <a:t>もう一度ご案内する</a:t>
            </a:r>
          </a:p>
        </p:txBody>
      </p:sp>
      <p:cxnSp>
        <p:nvCxnSpPr>
          <p:cNvPr id="43" name="Connector 42"/>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ounded Rectangle 44"/>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46" name="Rectangle 45"/>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FFFFFF"/>
                </a:solidFill>
                <a:latin typeface="メイリオ"/>
                <a:ea typeface="メイリオ"/>
                <a:cs typeface="メイリオ"/>
              </a:rPr>
              <a:t>通知メッセージ（電話番号で</a:t>
            </a:r>
          </a:p>
          <a:p>
            <a:pPr algn="l"/>
            <a:r>
              <a:rPr sz="1200" b="0">
                <a:solidFill>
                  <a:srgbClr val="FFFFFF"/>
                </a:solidFill>
                <a:latin typeface="メイリオ"/>
                <a:ea typeface="メイリオ"/>
                <a:cs typeface="メイリオ"/>
              </a:rPr>
              <a:t>LINEに届く機能）で再案内</a:t>
            </a:r>
          </a:p>
        </p:txBody>
      </p:sp>
      <p:sp>
        <p:nvSpPr>
          <p:cNvPr id="47" name="Rounded Rectangle 46"/>
          <p:cNvSpPr/>
          <p:nvPr/>
        </p:nvSpPr>
        <p:spPr>
          <a:xfrm>
            <a:off x="432000" y="2664000"/>
            <a:ext cx="4428000" cy="72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資料請求だけで止まっている保護者</a:t>
            </a:r>
          </a:p>
          <a:p>
            <a:pPr algn="l"/>
            <a:r>
              <a:rPr sz="1200" b="0">
                <a:solidFill>
                  <a:srgbClr val="333333"/>
                </a:solidFill>
                <a:latin typeface="メイリオ"/>
                <a:ea typeface="メイリオ"/>
                <a:cs typeface="メイリオ"/>
              </a:rPr>
              <a:t>資料は読んだが、体験に進まなかった</a:t>
            </a:r>
          </a:p>
        </p:txBody>
      </p:sp>
      <p:sp>
        <p:nvSpPr>
          <p:cNvPr id="48" name="Rounded Rectangle 47"/>
          <p:cNvSpPr/>
          <p:nvPr/>
        </p:nvSpPr>
        <p:spPr>
          <a:xfrm>
            <a:off x="432000" y="3491999"/>
            <a:ext cx="4428000" cy="72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体験に来たが、入会しなかった保護者</a:t>
            </a:r>
          </a:p>
          <a:p>
            <a:pPr algn="l"/>
            <a:r>
              <a:rPr sz="1200" b="0">
                <a:solidFill>
                  <a:srgbClr val="333333"/>
                </a:solidFill>
                <a:latin typeface="メイリオ"/>
                <a:ea typeface="メイリオ"/>
                <a:cs typeface="メイリオ"/>
              </a:rPr>
              <a:t>時期が合わなかった・迷っていた</a:t>
            </a:r>
          </a:p>
        </p:txBody>
      </p:sp>
      <p:sp>
        <p:nvSpPr>
          <p:cNvPr id="49" name="Rectangle 48"/>
          <p:cNvSpPr/>
          <p:nvPr/>
        </p:nvSpPr>
        <p:spPr>
          <a:xfrm>
            <a:off x="50472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送るタイミング</a:t>
            </a:r>
          </a:p>
        </p:txBody>
      </p:sp>
      <p:sp>
        <p:nvSpPr>
          <p:cNvPr id="50" name="Rounded Rectangle 49"/>
          <p:cNvSpPr/>
          <p:nvPr/>
        </p:nvSpPr>
        <p:spPr>
          <a:xfrm>
            <a:off x="5047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夏期講習の前</a:t>
            </a:r>
          </a:p>
        </p:txBody>
      </p:sp>
      <p:sp>
        <p:nvSpPr>
          <p:cNvPr id="51" name="Rounded Rectangle 50"/>
          <p:cNvSpPr/>
          <p:nvPr/>
        </p:nvSpPr>
        <p:spPr>
          <a:xfrm>
            <a:off x="6559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冬期講習の前</a:t>
            </a:r>
          </a:p>
        </p:txBody>
      </p:sp>
      <p:sp>
        <p:nvSpPr>
          <p:cNvPr id="52" name="Rounded Rectangle 51"/>
          <p:cNvSpPr/>
          <p:nvPr/>
        </p:nvSpPr>
        <p:spPr>
          <a:xfrm>
            <a:off x="8071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新学年の前</a:t>
            </a:r>
          </a:p>
        </p:txBody>
      </p:sp>
      <p:sp>
        <p:nvSpPr>
          <p:cNvPr id="53" name="Rounded Rectangle 52"/>
          <p:cNvSpPr/>
          <p:nvPr/>
        </p:nvSpPr>
        <p:spPr>
          <a:xfrm>
            <a:off x="5047200" y="3456000"/>
            <a:ext cx="4428000" cy="7560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0">
                <a:solidFill>
                  <a:srgbClr val="333333"/>
                </a:solidFill>
                <a:latin typeface="メイリオ"/>
                <a:ea typeface="メイリオ"/>
                <a:cs typeface="メイリオ"/>
              </a:rPr>
              <a:t>例：「夏期講習のご案内です。以前いただいた資料請求の</a:t>
            </a:r>
          </a:p>
          <a:p>
            <a:pPr algn="l"/>
            <a:r>
              <a:rPr sz="1100" b="0">
                <a:solidFill>
                  <a:srgbClr val="333333"/>
                </a:solidFill>
                <a:latin typeface="メイリオ"/>
                <a:ea typeface="メイリオ"/>
                <a:cs typeface="メイリオ"/>
              </a:rPr>
              <a:t>内容をもとに、お子さまの学年に合うコースをお送りします」</a:t>
            </a:r>
          </a:p>
        </p:txBody>
      </p:sp>
      <p:sp>
        <p:nvSpPr>
          <p:cNvPr id="54" name="Rounded Rectangle 53"/>
          <p:cNvSpPr/>
          <p:nvPr/>
        </p:nvSpPr>
        <p:spPr>
          <a:xfrm>
            <a:off x="432000" y="4428000"/>
            <a:ext cx="9043200" cy="864000"/>
          </a:xfrm>
          <a:prstGeom prst="roundRect">
            <a:avLst>
              <a:gd name="adj" fmla="val 8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注意すること</a:t>
            </a:r>
          </a:p>
          <a:p>
            <a:pPr algn="l"/>
            <a:r>
              <a:rPr sz="1200" b="0">
                <a:solidFill>
                  <a:srgbClr val="333333"/>
                </a:solidFill>
                <a:latin typeface="メイリオ"/>
                <a:ea typeface="メイリオ"/>
                <a:cs typeface="メイリオ"/>
              </a:rPr>
              <a:t>・関係がはっきりしている相手だけに送る（資料請求・体験をした保護者）</a:t>
            </a:r>
          </a:p>
          <a:p>
            <a:pPr algn="l"/>
            <a:r>
              <a:rPr sz="1200" b="0">
                <a:solidFill>
                  <a:srgbClr val="333333"/>
                </a:solidFill>
                <a:latin typeface="メイリオ"/>
                <a:ea typeface="メイリオ"/>
                <a:cs typeface="メイリオ"/>
              </a:rPr>
              <a:t>・「知らないのに届いた」と思われない文面にする（いつ・何で接点があったかを書く）</a:t>
            </a:r>
          </a:p>
        </p:txBody>
      </p:sp>
    </p:spTree>
    <p:extLst>
      <p:ext uri="{BB962C8B-B14F-4D97-AF65-F5344CB8AC3E}">
        <p14:creationId xmlns:p14="http://schemas.microsoft.com/office/powerpoint/2010/main" val="7743960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年間の配信カレンダー</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検索のピーク（2月・7月）の前から、その時期に保護者が気にしていることに合わせて配信する。</a:t>
            </a:r>
          </a:p>
          <a:p>
            <a:pPr algn="l">
              <a:lnSpc>
                <a:spcPct val="128000"/>
              </a:lnSpc>
            </a:pPr>
            <a:r>
              <a:rPr sz="1200">
                <a:solidFill>
                  <a:srgbClr val="333333"/>
                </a:solidFill>
                <a:latin typeface="メイリオ"/>
                <a:ea typeface="メイリオ"/>
                <a:cs typeface="メイリオ"/>
              </a:rPr>
              <a:t>企画配信は月1〜2本。</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380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Rounded Rectangle 5"/>
          <p:cNvSpPr/>
          <p:nvPr/>
        </p:nvSpPr>
        <p:spPr>
          <a:xfrm>
            <a:off x="432000" y="16380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1月</a:t>
            </a:r>
          </a:p>
        </p:txBody>
      </p:sp>
      <p:sp>
        <p:nvSpPr>
          <p:cNvPr id="7" name="TextBox 6"/>
          <p:cNvSpPr txBox="1"/>
          <p:nvPr/>
        </p:nvSpPr>
        <p:spPr>
          <a:xfrm>
            <a:off x="1475999" y="17842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新学年の準備が動き出す</a:t>
            </a:r>
          </a:p>
        </p:txBody>
      </p:sp>
      <p:sp>
        <p:nvSpPr>
          <p:cNvPr id="8" name="TextBox 7"/>
          <p:cNvSpPr txBox="1"/>
          <p:nvPr/>
        </p:nvSpPr>
        <p:spPr>
          <a:xfrm>
            <a:off x="3491999" y="17858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「塾」の検索は2月上旬がピーク</a:t>
            </a:r>
          </a:p>
        </p:txBody>
      </p:sp>
      <p:sp>
        <p:nvSpPr>
          <p:cNvPr id="9" name="TextBox 8"/>
          <p:cNvSpPr txBox="1"/>
          <p:nvPr/>
        </p:nvSpPr>
        <p:spPr>
          <a:xfrm>
            <a:off x="6552000" y="17858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小5・中2の保護者へ「次学年で変わること」</a:t>
            </a:r>
          </a:p>
        </p:txBody>
      </p:sp>
      <p:sp>
        <p:nvSpPr>
          <p:cNvPr id="10" name="Rounded Rectangle 9"/>
          <p:cNvSpPr/>
          <p:nvPr/>
        </p:nvSpPr>
        <p:spPr>
          <a:xfrm>
            <a:off x="432000" y="22212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Rounded Rectangle 10"/>
          <p:cNvSpPr/>
          <p:nvPr/>
        </p:nvSpPr>
        <p:spPr>
          <a:xfrm>
            <a:off x="432000" y="22212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2-3月</a:t>
            </a:r>
          </a:p>
        </p:txBody>
      </p:sp>
      <p:sp>
        <p:nvSpPr>
          <p:cNvPr id="12" name="TextBox 11"/>
          <p:cNvSpPr txBox="1"/>
          <p:nvPr/>
        </p:nvSpPr>
        <p:spPr>
          <a:xfrm>
            <a:off x="1475999" y="23674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入会の最大期／春期講習</a:t>
            </a:r>
          </a:p>
        </p:txBody>
      </p:sp>
      <p:sp>
        <p:nvSpPr>
          <p:cNvPr id="13" name="TextBox 12"/>
          <p:cNvSpPr txBox="1"/>
          <p:nvPr/>
        </p:nvSpPr>
        <p:spPr>
          <a:xfrm>
            <a:off x="3491999" y="23690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受験3種のピークも1月中旬〜2月上旬</a:t>
            </a:r>
          </a:p>
        </p:txBody>
      </p:sp>
      <p:sp>
        <p:nvSpPr>
          <p:cNvPr id="14" name="TextBox 13"/>
          <p:cNvSpPr txBox="1"/>
          <p:nvPr/>
        </p:nvSpPr>
        <p:spPr>
          <a:xfrm>
            <a:off x="6552000" y="23690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新学年スタート応援。春期講習は夏の1/3規模</a:t>
            </a:r>
          </a:p>
        </p:txBody>
      </p:sp>
      <p:sp>
        <p:nvSpPr>
          <p:cNvPr id="15" name="Rounded Rectangle 14"/>
          <p:cNvSpPr/>
          <p:nvPr/>
        </p:nvSpPr>
        <p:spPr>
          <a:xfrm>
            <a:off x="432000" y="28044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Rounded Rectangle 15"/>
          <p:cNvSpPr/>
          <p:nvPr/>
        </p:nvSpPr>
        <p:spPr>
          <a:xfrm>
            <a:off x="432000" y="28044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4-5月</a:t>
            </a:r>
          </a:p>
        </p:txBody>
      </p:sp>
      <p:sp>
        <p:nvSpPr>
          <p:cNvPr id="17" name="TextBox 16"/>
          <p:cNvSpPr txBox="1"/>
          <p:nvPr/>
        </p:nvSpPr>
        <p:spPr>
          <a:xfrm>
            <a:off x="1475999" y="29506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最初の定期テスト</a:t>
            </a:r>
          </a:p>
        </p:txBody>
      </p:sp>
      <p:sp>
        <p:nvSpPr>
          <p:cNvPr id="18" name="TextBox 17"/>
          <p:cNvSpPr txBox="1"/>
          <p:nvPr/>
        </p:nvSpPr>
        <p:spPr>
          <a:xfrm>
            <a:off x="3491999" y="29522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中間テストで成績不安が顕在化</a:t>
            </a:r>
          </a:p>
        </p:txBody>
      </p:sp>
      <p:sp>
        <p:nvSpPr>
          <p:cNvPr id="19" name="TextBox 18"/>
          <p:cNvSpPr txBox="1"/>
          <p:nvPr/>
        </p:nvSpPr>
        <p:spPr>
          <a:xfrm>
            <a:off x="6552000" y="2856037"/>
            <a:ext cx="2880000" cy="418725"/>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「テスト後、9割の家庭がしない事」（P32）</a:t>
            </a:r>
          </a:p>
        </p:txBody>
      </p:sp>
      <p:sp>
        <p:nvSpPr>
          <p:cNvPr id="20" name="Rounded Rectangle 19"/>
          <p:cNvSpPr/>
          <p:nvPr/>
        </p:nvSpPr>
        <p:spPr>
          <a:xfrm>
            <a:off x="432000" y="33876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1" name="Rounded Rectangle 20"/>
          <p:cNvSpPr/>
          <p:nvPr/>
        </p:nvSpPr>
        <p:spPr>
          <a:xfrm>
            <a:off x="432000" y="33876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6月</a:t>
            </a:r>
          </a:p>
        </p:txBody>
      </p:sp>
      <p:sp>
        <p:nvSpPr>
          <p:cNvPr id="22" name="TextBox 21"/>
          <p:cNvSpPr txBox="1"/>
          <p:nvPr/>
        </p:nvSpPr>
        <p:spPr>
          <a:xfrm>
            <a:off x="1475999" y="35338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夏期講習の配信の準備</a:t>
            </a:r>
          </a:p>
        </p:txBody>
      </p:sp>
      <p:sp>
        <p:nvSpPr>
          <p:cNvPr id="23" name="TextBox 22"/>
          <p:cNvSpPr txBox="1"/>
          <p:nvPr/>
        </p:nvSpPr>
        <p:spPr>
          <a:xfrm>
            <a:off x="3491999" y="35354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夏期講習の検索は7月中旬が山</a:t>
            </a:r>
          </a:p>
        </p:txBody>
      </p:sp>
      <p:sp>
        <p:nvSpPr>
          <p:cNvPr id="24" name="TextBox 23"/>
          <p:cNvSpPr txBox="1"/>
          <p:nvPr/>
        </p:nvSpPr>
        <p:spPr>
          <a:xfrm>
            <a:off x="6552000" y="35354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年間で最も申し込みが集まる時期</a:t>
            </a:r>
          </a:p>
        </p:txBody>
      </p:sp>
      <p:sp>
        <p:nvSpPr>
          <p:cNvPr id="25" name="Rounded Rectangle 24"/>
          <p:cNvSpPr/>
          <p:nvPr/>
        </p:nvSpPr>
        <p:spPr>
          <a:xfrm>
            <a:off x="432000" y="39708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Rounded Rectangle 25"/>
          <p:cNvSpPr/>
          <p:nvPr/>
        </p:nvSpPr>
        <p:spPr>
          <a:xfrm>
            <a:off x="432000" y="39708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7-8月</a:t>
            </a:r>
          </a:p>
        </p:txBody>
      </p:sp>
      <p:sp>
        <p:nvSpPr>
          <p:cNvPr id="27" name="TextBox 26"/>
          <p:cNvSpPr txBox="1"/>
          <p:nvPr/>
        </p:nvSpPr>
        <p:spPr>
          <a:xfrm>
            <a:off x="1475999" y="41170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夏期講習ピーク</a:t>
            </a:r>
          </a:p>
        </p:txBody>
      </p:sp>
      <p:sp>
        <p:nvSpPr>
          <p:cNvPr id="28" name="TextBox 27"/>
          <p:cNvSpPr txBox="1"/>
          <p:nvPr/>
        </p:nvSpPr>
        <p:spPr>
          <a:xfrm>
            <a:off x="3491999" y="41186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冬期・春期の3〜5倍の規模</a:t>
            </a:r>
          </a:p>
        </p:txBody>
      </p:sp>
      <p:sp>
        <p:nvSpPr>
          <p:cNvPr id="29" name="TextBox 28"/>
          <p:cNvSpPr txBox="1"/>
          <p:nvPr/>
        </p:nvSpPr>
        <p:spPr>
          <a:xfrm>
            <a:off x="6552000" y="41186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夏の学習計画・自由研究・受験生の夏</a:t>
            </a:r>
          </a:p>
        </p:txBody>
      </p:sp>
      <p:sp>
        <p:nvSpPr>
          <p:cNvPr id="30" name="Rounded Rectangle 29"/>
          <p:cNvSpPr/>
          <p:nvPr/>
        </p:nvSpPr>
        <p:spPr>
          <a:xfrm>
            <a:off x="432000" y="45540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Rounded Rectangle 30"/>
          <p:cNvSpPr/>
          <p:nvPr/>
        </p:nvSpPr>
        <p:spPr>
          <a:xfrm>
            <a:off x="432000" y="45540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9-10月</a:t>
            </a:r>
          </a:p>
        </p:txBody>
      </p:sp>
      <p:sp>
        <p:nvSpPr>
          <p:cNvPr id="32" name="TextBox 31"/>
          <p:cNvSpPr txBox="1"/>
          <p:nvPr/>
        </p:nvSpPr>
        <p:spPr>
          <a:xfrm>
            <a:off x="1475999" y="47002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2学期の定期テスト</a:t>
            </a:r>
          </a:p>
        </p:txBody>
      </p:sp>
      <p:sp>
        <p:nvSpPr>
          <p:cNvPr id="33" name="TextBox 32"/>
          <p:cNvSpPr txBox="1"/>
          <p:nvPr/>
        </p:nvSpPr>
        <p:spPr>
          <a:xfrm>
            <a:off x="3491999" y="47018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中間・期末テストで成績の不安が出やすい</a:t>
            </a:r>
          </a:p>
        </p:txBody>
      </p:sp>
      <p:sp>
        <p:nvSpPr>
          <p:cNvPr id="34" name="TextBox 33"/>
          <p:cNvSpPr txBox="1"/>
          <p:nvPr/>
        </p:nvSpPr>
        <p:spPr>
          <a:xfrm>
            <a:off x="6552000" y="47018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テスト返却週に「点数の見方」を配信</a:t>
            </a:r>
          </a:p>
        </p:txBody>
      </p:sp>
      <p:sp>
        <p:nvSpPr>
          <p:cNvPr id="35" name="Rounded Rectangle 34"/>
          <p:cNvSpPr/>
          <p:nvPr/>
        </p:nvSpPr>
        <p:spPr>
          <a:xfrm>
            <a:off x="432000" y="51372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6" name="Rounded Rectangle 35"/>
          <p:cNvSpPr/>
          <p:nvPr/>
        </p:nvSpPr>
        <p:spPr>
          <a:xfrm>
            <a:off x="432000" y="51372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11-12月</a:t>
            </a:r>
          </a:p>
        </p:txBody>
      </p:sp>
      <p:sp>
        <p:nvSpPr>
          <p:cNvPr id="37" name="TextBox 36"/>
          <p:cNvSpPr txBox="1"/>
          <p:nvPr/>
        </p:nvSpPr>
        <p:spPr>
          <a:xfrm>
            <a:off x="1475999" y="52834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冬期講習・受験直前</a:t>
            </a:r>
          </a:p>
        </p:txBody>
      </p:sp>
      <p:sp>
        <p:nvSpPr>
          <p:cNvPr id="38" name="TextBox 37"/>
          <p:cNvSpPr txBox="1"/>
          <p:nvPr/>
        </p:nvSpPr>
        <p:spPr>
          <a:xfrm>
            <a:off x="3491999" y="52850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冬期講習は12月下旬がピーク</a:t>
            </a:r>
          </a:p>
        </p:txBody>
      </p:sp>
      <p:sp>
        <p:nvSpPr>
          <p:cNvPr id="39" name="TextBox 38"/>
          <p:cNvSpPr txBox="1"/>
          <p:nvPr/>
        </p:nvSpPr>
        <p:spPr>
          <a:xfrm>
            <a:off x="6552000" y="52850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受験生は直前期、非受験生は「来年こそ」</a:t>
            </a:r>
          </a:p>
        </p:txBody>
      </p:sp>
      <p:sp>
        <p:nvSpPr>
          <p:cNvPr id="40" name="TextBox 3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出典｜Googleトレンド（日本・2026年年初来・週次）。各月の内容は弊社の見解</a:t>
            </a:r>
          </a:p>
        </p:txBody>
      </p:sp>
      <p:sp>
        <p:nvSpPr>
          <p:cNvPr id="41" name="Pentagon 40"/>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42" name="Chevron 41"/>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43" name="Chevron 42"/>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44" name="Chevron 43"/>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45" name="Chevron 44"/>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46" name="Chevron 45"/>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47" name="Chevron 46"/>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48" name="Chevron 4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Tree>
    <p:extLst>
      <p:ext uri="{BB962C8B-B14F-4D97-AF65-F5344CB8AC3E}">
        <p14:creationId xmlns:p14="http://schemas.microsoft.com/office/powerpoint/2010/main" val="2756826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3825-9171-A79A-31F7-FBB36FFE7BAB}"/>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具体企画の構成｜第2の提案軸：友だちと一緒に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塾を知ったきっかけの1位は「知人・友人の口コミ」47.0%。塾の公式サイトより多い。</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保護者どうしの「どこの塾に行ってる？」を、LINEの友だち追加につなげる。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出典｜POPER「Comiru」保護者と学習塾の意識調査 2022年（保護者300人）</a:t>
            </a:r>
          </a:p>
        </p:txBody>
      </p:sp>
      <p:sp>
        <p:nvSpPr>
          <p:cNvPr id="24" name="Pentagon 23"/>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25" name="Chevron 24"/>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26" name="Chevron 25"/>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7" name="Chevron 26"/>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8" name="Chevron 2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9" name="Chevron 2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0" name="Chevron 2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1" name="Chevron 3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2" name="Rounded Rectangle 31"/>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3" name="Rounded Rectangle 32"/>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34" name="Rectangle 33"/>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塾を知ったきっかけ</a:t>
            </a:r>
          </a:p>
          <a:p>
            <a:pPr algn="l"/>
            <a:r>
              <a:rPr sz="1000" b="0">
                <a:solidFill>
                  <a:srgbClr val="333333"/>
                </a:solidFill>
                <a:latin typeface="メイリオ"/>
                <a:ea typeface="メイリオ"/>
                <a:cs typeface="メイリオ"/>
              </a:rPr>
              <a:t>1位「知人・友人の口コミ」47.0%</a:t>
            </a:r>
          </a:p>
          <a:p>
            <a:pPr algn="l"/>
            <a:r>
              <a:rPr sz="1000" b="0">
                <a:solidFill>
                  <a:srgbClr val="333333"/>
                </a:solidFill>
                <a:latin typeface="メイリオ"/>
                <a:ea typeface="メイリオ"/>
                <a:cs typeface="メイリオ"/>
              </a:rPr>
              <a:t>2位「インターネット上の口コミ」28.3%</a:t>
            </a:r>
          </a:p>
        </p:txBody>
      </p:sp>
      <p:cxnSp>
        <p:nvCxnSpPr>
          <p:cNvPr id="35" name="Connector 34"/>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7" name="Rounded Rectangle 36"/>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8" name="Rectangle 37"/>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保護者どうしの会話を、</a:t>
            </a:r>
          </a:p>
          <a:p>
            <a:pPr algn="l"/>
            <a:r>
              <a:rPr sz="1000" b="0">
                <a:solidFill>
                  <a:srgbClr val="333333"/>
                </a:solidFill>
                <a:latin typeface="メイリオ"/>
                <a:ea typeface="メイリオ"/>
                <a:cs typeface="メイリオ"/>
              </a:rPr>
              <a:t>LINEの友だち追加につなげる</a:t>
            </a:r>
          </a:p>
        </p:txBody>
      </p:sp>
      <p:cxnSp>
        <p:nvCxnSpPr>
          <p:cNvPr id="39" name="Connector 38"/>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42" name="Rectangle 41"/>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友だちと一緒の体験枠／</a:t>
            </a:r>
          </a:p>
          <a:p>
            <a:pPr algn="l"/>
            <a:r>
              <a:rPr sz="1000" b="0">
                <a:solidFill>
                  <a:srgbClr val="FFFFFF"/>
                </a:solidFill>
                <a:latin typeface="メイリオ"/>
                <a:ea typeface="メイリオ"/>
                <a:cs typeface="メイリオ"/>
              </a:rPr>
              <a:t>診断結果を友だちに送れる</a:t>
            </a:r>
          </a:p>
        </p:txBody>
      </p:sp>
      <p:sp>
        <p:nvSpPr>
          <p:cNvPr id="43" name="Rectangle 42"/>
          <p:cNvSpPr/>
          <p:nvPr/>
        </p:nvSpPr>
        <p:spPr>
          <a:xfrm>
            <a:off x="4320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塾を知ったきっかけ（上位2つ）</a:t>
            </a:r>
          </a:p>
        </p:txBody>
      </p:sp>
      <p:sp>
        <p:nvSpPr>
          <p:cNvPr id="44" name="Rectangle 43"/>
          <p:cNvSpPr/>
          <p:nvPr/>
        </p:nvSpPr>
        <p:spPr>
          <a:xfrm>
            <a:off x="432000" y="2987999"/>
            <a:ext cx="172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1">
                <a:solidFill>
                  <a:srgbClr val="333333"/>
                </a:solidFill>
                <a:latin typeface="メイリオ"/>
                <a:ea typeface="メイリオ"/>
                <a:cs typeface="メイリオ"/>
              </a:rPr>
              <a:t>知人・友人の口コミ</a:t>
            </a:r>
          </a:p>
        </p:txBody>
      </p:sp>
      <p:sp>
        <p:nvSpPr>
          <p:cNvPr id="45" name="Rectangle 44"/>
          <p:cNvSpPr/>
          <p:nvPr/>
        </p:nvSpPr>
        <p:spPr>
          <a:xfrm>
            <a:off x="2196000" y="2951999"/>
            <a:ext cx="2368800" cy="360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6" name="Rectangle 45"/>
          <p:cNvSpPr/>
          <p:nvPr/>
        </p:nvSpPr>
        <p:spPr>
          <a:xfrm>
            <a:off x="4600800" y="2987999"/>
            <a:ext cx="6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47.0%</a:t>
            </a:r>
          </a:p>
        </p:txBody>
      </p:sp>
      <p:sp>
        <p:nvSpPr>
          <p:cNvPr id="47" name="Rectangle 46"/>
          <p:cNvSpPr/>
          <p:nvPr/>
        </p:nvSpPr>
        <p:spPr>
          <a:xfrm>
            <a:off x="432000" y="3563999"/>
            <a:ext cx="172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1">
                <a:solidFill>
                  <a:srgbClr val="333333"/>
                </a:solidFill>
                <a:latin typeface="メイリオ"/>
                <a:ea typeface="メイリオ"/>
                <a:cs typeface="メイリオ"/>
              </a:rPr>
              <a:t>インターネット上の口コミ</a:t>
            </a:r>
          </a:p>
        </p:txBody>
      </p:sp>
      <p:sp>
        <p:nvSpPr>
          <p:cNvPr id="48" name="Rectangle 47"/>
          <p:cNvSpPr/>
          <p:nvPr/>
        </p:nvSpPr>
        <p:spPr>
          <a:xfrm>
            <a:off x="2196000" y="3527999"/>
            <a:ext cx="1426320" cy="360000"/>
          </a:xfrm>
          <a:prstGeom prst="rect">
            <a:avLst/>
          </a:prstGeom>
          <a:solidFill>
            <a:srgbClr val="8EA9D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9" name="Rectangle 48"/>
          <p:cNvSpPr/>
          <p:nvPr/>
        </p:nvSpPr>
        <p:spPr>
          <a:xfrm>
            <a:off x="3658319" y="3563999"/>
            <a:ext cx="6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28.3%</a:t>
            </a:r>
          </a:p>
        </p:txBody>
      </p:sp>
      <p:sp>
        <p:nvSpPr>
          <p:cNvPr id="50" name="Rectangle 49"/>
          <p:cNvSpPr/>
          <p:nvPr/>
        </p:nvSpPr>
        <p:spPr>
          <a:xfrm>
            <a:off x="50472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LINEでの仕掛け（入会前）</a:t>
            </a:r>
          </a:p>
        </p:txBody>
      </p:sp>
      <p:sp>
        <p:nvSpPr>
          <p:cNvPr id="51" name="Rounded Rectangle 50"/>
          <p:cNvSpPr/>
          <p:nvPr/>
        </p:nvSpPr>
        <p:spPr>
          <a:xfrm>
            <a:off x="5047200" y="2880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友だちと一緒の体験枠</a:t>
            </a:r>
          </a:p>
          <a:p>
            <a:pPr algn="l"/>
            <a:r>
              <a:rPr sz="1100" b="0">
                <a:solidFill>
                  <a:srgbClr val="333333"/>
                </a:solidFill>
                <a:latin typeface="メイリオ"/>
                <a:ea typeface="メイリオ"/>
                <a:cs typeface="メイリオ"/>
              </a:rPr>
              <a:t>2人まとめてLINEで予約（P26）</a:t>
            </a:r>
          </a:p>
        </p:txBody>
      </p:sp>
      <p:sp>
        <p:nvSpPr>
          <p:cNvPr id="52" name="Rounded Rectangle 51"/>
          <p:cNvSpPr/>
          <p:nvPr/>
        </p:nvSpPr>
        <p:spPr>
          <a:xfrm>
            <a:off x="5047200" y="3546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診断結果を友だちに送れる</a:t>
            </a:r>
          </a:p>
          <a:p>
            <a:pPr algn="l"/>
            <a:r>
              <a:rPr sz="1100" b="0">
                <a:solidFill>
                  <a:srgbClr val="333333"/>
                </a:solidFill>
                <a:latin typeface="メイリオ"/>
                <a:ea typeface="メイリオ"/>
                <a:cs typeface="メイリオ"/>
              </a:rPr>
              <a:t>「うちはこのタイプだった」を共有しやすく</a:t>
            </a:r>
          </a:p>
        </p:txBody>
      </p:sp>
      <p:sp>
        <p:nvSpPr>
          <p:cNvPr id="53" name="Rounded Rectangle 52"/>
          <p:cNvSpPr/>
          <p:nvPr/>
        </p:nvSpPr>
        <p:spPr>
          <a:xfrm>
            <a:off x="5047200" y="4212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体験に来た保護者へ案内</a:t>
            </a:r>
          </a:p>
          <a:p>
            <a:pPr algn="l"/>
            <a:r>
              <a:rPr sz="1100" b="0">
                <a:solidFill>
                  <a:srgbClr val="333333"/>
                </a:solidFill>
                <a:latin typeface="メイリオ"/>
                <a:ea typeface="メイリオ"/>
                <a:cs typeface="メイリオ"/>
              </a:rPr>
              <a:t>「お友達も一緒にどうぞ」を翌日のメッセージで</a:t>
            </a:r>
          </a:p>
        </p:txBody>
      </p:sp>
      <p:sp>
        <p:nvSpPr>
          <p:cNvPr id="54" name="Rounded Rectangle 53"/>
          <p:cNvSpPr/>
          <p:nvPr/>
        </p:nvSpPr>
        <p:spPr>
          <a:xfrm>
            <a:off x="432000" y="5004000"/>
            <a:ext cx="9043200" cy="43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FFFFFF"/>
                </a:solidFill>
                <a:latin typeface="メイリオ"/>
                <a:ea typeface="メイリオ"/>
                <a:cs typeface="メイリオ"/>
              </a:rPr>
              <a:t>口コミで選ばれる業界だから、口コミが生まれる場所にLINEの入口を置く。</a:t>
            </a:r>
          </a:p>
        </p:txBody>
      </p:sp>
    </p:spTree>
    <p:extLst>
      <p:ext uri="{BB962C8B-B14F-4D97-AF65-F5344CB8AC3E}">
        <p14:creationId xmlns:p14="http://schemas.microsoft.com/office/powerpoint/2010/main" val="21853059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施策の設計図①　友だち追加の動線</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どこで、何をお伝えして、LINEの友だちになっていただくか。1教室あたり月250人をモデル値とした。</a:t>
            </a:r>
          </a:p>
          <a:p>
            <a:pPr algn="l">
              <a:lnSpc>
                <a:spcPct val="128000"/>
              </a:lnSpc>
            </a:pPr>
            <a:r>
              <a:rPr sz="1200">
                <a:solidFill>
                  <a:srgbClr val="333333"/>
                </a:solidFill>
                <a:latin typeface="メイリオ"/>
                <a:ea typeface="メイリオ"/>
                <a:cs typeface="メイリオ"/>
              </a:rPr>
              <a:t>最も多いのは、サイトを離れようとする保護者に表示する離脱防止ポップアップ。</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※友だち追加数は1教室あたりのモデル値（例）。費用は月額・初期とも税抜。離脱防止ポップアップはSitelead等</a:t>
            </a:r>
          </a:p>
        </p:txBody>
      </p:sp>
      <p:sp>
        <p:nvSpPr>
          <p:cNvPr id="24" name="Pentagon 23"/>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25" name="Chevron 24"/>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26" name="Chevron 25"/>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7" name="Chevron 26"/>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8" name="Chevron 2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9" name="Chevron 2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0" name="Chevron 2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1" name="Chevron 3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2" name="Rectangle 31"/>
          <p:cNvSpPr/>
          <p:nvPr/>
        </p:nvSpPr>
        <p:spPr>
          <a:xfrm>
            <a:off x="432000" y="1494000"/>
            <a:ext cx="1612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箇所</a:t>
            </a:r>
          </a:p>
        </p:txBody>
      </p:sp>
      <p:sp>
        <p:nvSpPr>
          <p:cNvPr id="33" name="Rectangle 32"/>
          <p:cNvSpPr/>
          <p:nvPr/>
        </p:nvSpPr>
        <p:spPr>
          <a:xfrm>
            <a:off x="2088000" y="1494000"/>
            <a:ext cx="355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訴求</a:t>
            </a:r>
          </a:p>
        </p:txBody>
      </p:sp>
      <p:sp>
        <p:nvSpPr>
          <p:cNvPr id="34" name="Rectangle 33"/>
          <p:cNvSpPr/>
          <p:nvPr/>
        </p:nvSpPr>
        <p:spPr>
          <a:xfrm>
            <a:off x="5688000" y="1494000"/>
            <a:ext cx="132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LINE追加</a:t>
            </a:r>
          </a:p>
        </p:txBody>
      </p:sp>
      <p:sp>
        <p:nvSpPr>
          <p:cNvPr id="35" name="Rectangle 34"/>
          <p:cNvSpPr/>
          <p:nvPr/>
        </p:nvSpPr>
        <p:spPr>
          <a:xfrm>
            <a:off x="7056000" y="1494000"/>
            <a:ext cx="118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費用（月）</a:t>
            </a:r>
          </a:p>
        </p:txBody>
      </p:sp>
      <p:sp>
        <p:nvSpPr>
          <p:cNvPr id="36" name="Rectangle 35"/>
          <p:cNvSpPr/>
          <p:nvPr/>
        </p:nvSpPr>
        <p:spPr>
          <a:xfrm>
            <a:off x="8280000" y="1494000"/>
            <a:ext cx="11520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初期費用</a:t>
            </a:r>
          </a:p>
        </p:txBody>
      </p:sp>
      <p:sp>
        <p:nvSpPr>
          <p:cNvPr id="37" name="Rectangle 36"/>
          <p:cNvSpPr/>
          <p:nvPr/>
        </p:nvSpPr>
        <p:spPr>
          <a:xfrm>
            <a:off x="432000" y="1745999"/>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1">
                <a:solidFill>
                  <a:srgbClr val="333333"/>
                </a:solidFill>
                <a:latin typeface="メイリオ"/>
                <a:ea typeface="メイリオ"/>
                <a:cs typeface="メイリオ"/>
              </a:rPr>
              <a:t>00 離脱防止</a:t>
            </a:r>
          </a:p>
          <a:p>
            <a:pPr algn="l"/>
            <a:r>
              <a:rPr sz="1150" b="1">
                <a:solidFill>
                  <a:srgbClr val="333333"/>
                </a:solidFill>
                <a:latin typeface="メイリオ"/>
                <a:ea typeface="メイリオ"/>
                <a:cs typeface="メイリオ"/>
              </a:rPr>
              <a:t>ポップアップ</a:t>
            </a:r>
          </a:p>
        </p:txBody>
      </p:sp>
      <p:cxnSp>
        <p:nvCxnSpPr>
          <p:cNvPr id="38" name="Connector 37"/>
          <p:cNvCxnSpPr/>
          <p:nvPr/>
        </p:nvCxnSpPr>
        <p:spPr>
          <a:xfrm>
            <a:off x="2030400" y="2033999"/>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2088000" y="1745999"/>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0">
                <a:solidFill>
                  <a:srgbClr val="333333"/>
                </a:solidFill>
                <a:latin typeface="メイリオ"/>
                <a:ea typeface="メイリオ"/>
                <a:cs typeface="メイリオ"/>
              </a:rPr>
              <a:t>「まだ決めなくて大丈夫です」</a:t>
            </a:r>
          </a:p>
          <a:p>
            <a:pPr algn="l"/>
            <a:r>
              <a:rPr sz="1150" b="0">
                <a:solidFill>
                  <a:srgbClr val="7F7F7F"/>
                </a:solidFill>
                <a:latin typeface="メイリオ"/>
                <a:ea typeface="メイリオ"/>
                <a:cs typeface="メイリオ"/>
              </a:rPr>
              <a:t>30秒診断と資料をLINEで。営業電話なし</a:t>
            </a:r>
          </a:p>
        </p:txBody>
      </p:sp>
      <p:cxnSp>
        <p:nvCxnSpPr>
          <p:cNvPr id="40" name="Connector 39"/>
          <p:cNvCxnSpPr/>
          <p:nvPr/>
        </p:nvCxnSpPr>
        <p:spPr>
          <a:xfrm>
            <a:off x="5630400" y="2033999"/>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688000" y="1745999"/>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700" b="1">
                <a:solidFill>
                  <a:srgbClr val="FFFFFF"/>
                </a:solidFill>
                <a:latin typeface="メイリオ"/>
                <a:ea typeface="メイリオ"/>
                <a:cs typeface="メイリオ"/>
              </a:rPr>
              <a:t>200人/月</a:t>
            </a:r>
          </a:p>
        </p:txBody>
      </p:sp>
      <p:sp>
        <p:nvSpPr>
          <p:cNvPr id="42" name="Rectangle 41"/>
          <p:cNvSpPr/>
          <p:nvPr/>
        </p:nvSpPr>
        <p:spPr>
          <a:xfrm>
            <a:off x="7056000" y="1745999"/>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3万円</a:t>
            </a:r>
          </a:p>
        </p:txBody>
      </p:sp>
      <p:sp>
        <p:nvSpPr>
          <p:cNvPr id="43" name="Rectangle 42"/>
          <p:cNvSpPr/>
          <p:nvPr/>
        </p:nvSpPr>
        <p:spPr>
          <a:xfrm>
            <a:off x="8280000" y="1745999"/>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1.5万円</a:t>
            </a:r>
          </a:p>
        </p:txBody>
      </p:sp>
      <p:sp>
        <p:nvSpPr>
          <p:cNvPr id="44" name="Rectangle 43"/>
          <p:cNvSpPr/>
          <p:nvPr/>
        </p:nvSpPr>
        <p:spPr>
          <a:xfrm>
            <a:off x="432000" y="2365200"/>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1">
                <a:solidFill>
                  <a:srgbClr val="333333"/>
                </a:solidFill>
                <a:latin typeface="メイリオ"/>
                <a:ea typeface="メイリオ"/>
                <a:cs typeface="メイリオ"/>
              </a:rPr>
              <a:t>01 完了画面</a:t>
            </a:r>
          </a:p>
          <a:p>
            <a:pPr algn="l"/>
            <a:r>
              <a:rPr sz="1150" b="1">
                <a:solidFill>
                  <a:srgbClr val="333333"/>
                </a:solidFill>
                <a:latin typeface="メイリオ"/>
                <a:ea typeface="メイリオ"/>
                <a:cs typeface="メイリオ"/>
              </a:rPr>
              <a:t>からの誘導</a:t>
            </a:r>
          </a:p>
        </p:txBody>
      </p:sp>
      <p:cxnSp>
        <p:nvCxnSpPr>
          <p:cNvPr id="45" name="Connector 44"/>
          <p:cNvCxnSpPr/>
          <p:nvPr/>
        </p:nvCxnSpPr>
        <p:spPr>
          <a:xfrm>
            <a:off x="2030400" y="2653199"/>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2088000" y="2365200"/>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0">
                <a:solidFill>
                  <a:srgbClr val="333333"/>
                </a:solidFill>
                <a:latin typeface="メイリオ"/>
                <a:ea typeface="メイリオ"/>
                <a:cs typeface="メイリオ"/>
              </a:rPr>
              <a:t>資料請求・体験予約の完了画面で</a:t>
            </a:r>
          </a:p>
          <a:p>
            <a:pPr algn="l"/>
            <a:r>
              <a:rPr sz="1150" b="0">
                <a:solidFill>
                  <a:srgbClr val="7F7F7F"/>
                </a:solidFill>
                <a:latin typeface="メイリオ"/>
                <a:ea typeface="メイリオ"/>
                <a:cs typeface="メイリオ"/>
              </a:rPr>
              <a:t>「日程の確認・変更はLINEで」</a:t>
            </a:r>
          </a:p>
        </p:txBody>
      </p:sp>
      <p:cxnSp>
        <p:nvCxnSpPr>
          <p:cNvPr id="47" name="Connector 46"/>
          <p:cNvCxnSpPr/>
          <p:nvPr/>
        </p:nvCxnSpPr>
        <p:spPr>
          <a:xfrm>
            <a:off x="5630400" y="2653199"/>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5688000" y="2365200"/>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700" b="1">
                <a:solidFill>
                  <a:srgbClr val="FFFFFF"/>
                </a:solidFill>
                <a:latin typeface="メイリオ"/>
                <a:ea typeface="メイリオ"/>
                <a:cs typeface="メイリオ"/>
              </a:rPr>
              <a:t>30人/月</a:t>
            </a:r>
          </a:p>
        </p:txBody>
      </p:sp>
      <p:sp>
        <p:nvSpPr>
          <p:cNvPr id="49" name="Rectangle 48"/>
          <p:cNvSpPr/>
          <p:nvPr/>
        </p:nvSpPr>
        <p:spPr>
          <a:xfrm>
            <a:off x="7056000" y="2365200"/>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5万円</a:t>
            </a:r>
          </a:p>
        </p:txBody>
      </p:sp>
      <p:sp>
        <p:nvSpPr>
          <p:cNvPr id="50" name="Rectangle 49"/>
          <p:cNvSpPr/>
          <p:nvPr/>
        </p:nvSpPr>
        <p:spPr>
          <a:xfrm>
            <a:off x="8280000" y="2365200"/>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10万円</a:t>
            </a:r>
          </a:p>
        </p:txBody>
      </p:sp>
      <p:sp>
        <p:nvSpPr>
          <p:cNvPr id="51" name="Rectangle 50"/>
          <p:cNvSpPr/>
          <p:nvPr/>
        </p:nvSpPr>
        <p:spPr>
          <a:xfrm>
            <a:off x="432000" y="2984399"/>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1">
                <a:solidFill>
                  <a:srgbClr val="333333"/>
                </a:solidFill>
                <a:latin typeface="メイリオ"/>
                <a:ea typeface="メイリオ"/>
                <a:cs typeface="メイリオ"/>
              </a:rPr>
              <a:t>02 チラシ・</a:t>
            </a:r>
          </a:p>
          <a:p>
            <a:pPr algn="l"/>
            <a:r>
              <a:rPr sz="1150" b="1">
                <a:solidFill>
                  <a:srgbClr val="333333"/>
                </a:solidFill>
                <a:latin typeface="メイリオ"/>
                <a:ea typeface="メイリオ"/>
                <a:cs typeface="メイリオ"/>
              </a:rPr>
              <a:t>教室のQR</a:t>
            </a:r>
          </a:p>
        </p:txBody>
      </p:sp>
      <p:cxnSp>
        <p:nvCxnSpPr>
          <p:cNvPr id="52" name="Connector 51"/>
          <p:cNvCxnSpPr/>
          <p:nvPr/>
        </p:nvCxnSpPr>
        <p:spPr>
          <a:xfrm>
            <a:off x="2030400" y="3272400"/>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2088000" y="2984399"/>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0">
                <a:solidFill>
                  <a:srgbClr val="333333"/>
                </a:solidFill>
                <a:latin typeface="メイリオ"/>
                <a:ea typeface="メイリオ"/>
                <a:cs typeface="メイリオ"/>
              </a:rPr>
              <a:t>LINE限定</a:t>
            </a:r>
          </a:p>
          <a:p>
            <a:pPr algn="l"/>
            <a:r>
              <a:rPr sz="1150" b="0">
                <a:solidFill>
                  <a:srgbClr val="7F7F7F"/>
                </a:solidFill>
                <a:latin typeface="メイリオ"/>
                <a:ea typeface="メイリオ"/>
                <a:cs typeface="メイリオ"/>
              </a:rPr>
              <a:t>「学年別テスト対策プリント」プレゼント</a:t>
            </a:r>
          </a:p>
        </p:txBody>
      </p:sp>
      <p:cxnSp>
        <p:nvCxnSpPr>
          <p:cNvPr id="54" name="Connector 53"/>
          <p:cNvCxnSpPr/>
          <p:nvPr/>
        </p:nvCxnSpPr>
        <p:spPr>
          <a:xfrm>
            <a:off x="5630400" y="3272400"/>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5688000" y="2984399"/>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700" b="1">
                <a:solidFill>
                  <a:srgbClr val="FFFFFF"/>
                </a:solidFill>
                <a:latin typeface="メイリオ"/>
                <a:ea typeface="メイリオ"/>
                <a:cs typeface="メイリオ"/>
              </a:rPr>
              <a:t>20人/月</a:t>
            </a:r>
          </a:p>
        </p:txBody>
      </p:sp>
      <p:sp>
        <p:nvSpPr>
          <p:cNvPr id="56" name="Rectangle 55"/>
          <p:cNvSpPr/>
          <p:nvPr/>
        </p:nvSpPr>
        <p:spPr>
          <a:xfrm>
            <a:off x="7056000" y="2984399"/>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費用内</a:t>
            </a:r>
          </a:p>
        </p:txBody>
      </p:sp>
      <p:sp>
        <p:nvSpPr>
          <p:cNvPr id="57" name="Rectangle 56"/>
          <p:cNvSpPr/>
          <p:nvPr/>
        </p:nvSpPr>
        <p:spPr>
          <a:xfrm>
            <a:off x="8280000" y="2984399"/>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費用内</a:t>
            </a:r>
          </a:p>
        </p:txBody>
      </p:sp>
      <p:sp>
        <p:nvSpPr>
          <p:cNvPr id="58" name="Rounded Rectangle 57"/>
          <p:cNvSpPr/>
          <p:nvPr/>
        </p:nvSpPr>
        <p:spPr>
          <a:xfrm>
            <a:off x="432000" y="3636000"/>
            <a:ext cx="9043200" cy="360000"/>
          </a:xfrm>
          <a:prstGeom prst="roundRect">
            <a:avLst>
              <a:gd name="adj" fmla="val 2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FFFFFF"/>
                </a:solidFill>
                <a:latin typeface="メイリオ"/>
                <a:ea typeface="メイリオ"/>
                <a:cs typeface="メイリオ"/>
              </a:rPr>
              <a:t>新しい友だち　合計 月250人（1教室あたり）</a:t>
            </a:r>
          </a:p>
        </p:txBody>
      </p:sp>
      <p:sp>
        <p:nvSpPr>
          <p:cNvPr id="59" name="Rectangle 58"/>
          <p:cNvSpPr/>
          <p:nvPr/>
        </p:nvSpPr>
        <p:spPr>
          <a:xfrm>
            <a:off x="432000" y="4068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300" b="1">
                <a:solidFill>
                  <a:srgbClr val="002060"/>
                </a:solidFill>
                <a:latin typeface="メイリオ"/>
                <a:ea typeface="メイリオ"/>
                <a:cs typeface="メイリオ"/>
              </a:rPr>
              <a:t>それぞれの訴求（実文）</a:t>
            </a:r>
          </a:p>
        </p:txBody>
      </p:sp>
      <p:sp>
        <p:nvSpPr>
          <p:cNvPr id="60" name="Rounded Rectangle 59"/>
          <p:cNvSpPr/>
          <p:nvPr/>
        </p:nvSpPr>
        <p:spPr>
          <a:xfrm>
            <a:off x="432000"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1" name="Rectangle 60"/>
          <p:cNvSpPr/>
          <p:nvPr/>
        </p:nvSpPr>
        <p:spPr>
          <a:xfrm>
            <a:off x="5400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7F7F7F"/>
                </a:solidFill>
                <a:latin typeface="メイリオ"/>
                <a:ea typeface="メイリオ"/>
                <a:cs typeface="メイリオ"/>
              </a:rPr>
              <a:t>00 離脱防止ポップアップ</a:t>
            </a:r>
          </a:p>
        </p:txBody>
      </p:sp>
      <p:sp>
        <p:nvSpPr>
          <p:cNvPr id="62" name="Rectangle 61"/>
          <p:cNvSpPr/>
          <p:nvPr/>
        </p:nvSpPr>
        <p:spPr>
          <a:xfrm>
            <a:off x="5400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1">
                <a:solidFill>
                  <a:srgbClr val="002060"/>
                </a:solidFill>
                <a:latin typeface="メイリオ"/>
                <a:ea typeface="メイリオ"/>
                <a:cs typeface="メイリオ"/>
              </a:rPr>
              <a:t>まだ、塾を決めなくて大丈夫です。</a:t>
            </a:r>
          </a:p>
          <a:p>
            <a:pPr algn="l"/>
            <a:r>
              <a:rPr sz="1150" b="0">
                <a:solidFill>
                  <a:srgbClr val="333333"/>
                </a:solidFill>
                <a:latin typeface="メイリオ"/>
                <a:ea typeface="メイリオ"/>
                <a:cs typeface="メイリオ"/>
              </a:rPr>
              <a:t>30秒の診断で、お子さまに合う学び方と</a:t>
            </a:r>
          </a:p>
          <a:p>
            <a:pPr algn="l"/>
            <a:r>
              <a:rPr sz="1150" b="0">
                <a:solidFill>
                  <a:srgbClr val="333333"/>
                </a:solidFill>
                <a:latin typeface="メイリオ"/>
                <a:ea typeface="メイリオ"/>
                <a:cs typeface="メイリオ"/>
              </a:rPr>
              <a:t>コース・料金の資料をLINEでお届けします。</a:t>
            </a:r>
          </a:p>
        </p:txBody>
      </p:sp>
      <p:sp>
        <p:nvSpPr>
          <p:cNvPr id="63" name="Rounded Rectangle 62"/>
          <p:cNvSpPr/>
          <p:nvPr/>
        </p:nvSpPr>
        <p:spPr>
          <a:xfrm>
            <a:off x="647999"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LINEで資料と診断を受け取る</a:t>
            </a:r>
          </a:p>
        </p:txBody>
      </p:sp>
      <p:sp>
        <p:nvSpPr>
          <p:cNvPr id="64" name="Rounded Rectangle 63"/>
          <p:cNvSpPr/>
          <p:nvPr/>
        </p:nvSpPr>
        <p:spPr>
          <a:xfrm>
            <a:off x="3499199"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5" name="Rectangle 64"/>
          <p:cNvSpPr/>
          <p:nvPr/>
        </p:nvSpPr>
        <p:spPr>
          <a:xfrm>
            <a:off x="36072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7F7F7F"/>
                </a:solidFill>
                <a:latin typeface="メイリオ"/>
                <a:ea typeface="メイリオ"/>
                <a:cs typeface="メイリオ"/>
              </a:rPr>
              <a:t>01 完了画面</a:t>
            </a:r>
          </a:p>
        </p:txBody>
      </p:sp>
      <p:sp>
        <p:nvSpPr>
          <p:cNvPr id="66" name="Rectangle 65"/>
          <p:cNvSpPr/>
          <p:nvPr/>
        </p:nvSpPr>
        <p:spPr>
          <a:xfrm>
            <a:off x="36072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1">
                <a:solidFill>
                  <a:srgbClr val="002060"/>
                </a:solidFill>
                <a:latin typeface="メイリオ"/>
                <a:ea typeface="メイリオ"/>
                <a:cs typeface="メイリオ"/>
              </a:rPr>
              <a:t>資料請求ありがとうございます。</a:t>
            </a:r>
          </a:p>
          <a:p>
            <a:pPr algn="l"/>
            <a:r>
              <a:rPr sz="1150" b="0">
                <a:solidFill>
                  <a:srgbClr val="333333"/>
                </a:solidFill>
                <a:latin typeface="メイリオ"/>
                <a:ea typeface="メイリオ"/>
                <a:cs typeface="メイリオ"/>
              </a:rPr>
              <a:t>体験の日程の確認・変更は、</a:t>
            </a:r>
          </a:p>
          <a:p>
            <a:pPr algn="l"/>
            <a:r>
              <a:rPr sz="1150" b="0">
                <a:solidFill>
                  <a:srgbClr val="333333"/>
                </a:solidFill>
                <a:latin typeface="メイリオ"/>
                <a:ea typeface="メイリオ"/>
                <a:cs typeface="メイリオ"/>
              </a:rPr>
              <a:t>LINEからいつでもできます。</a:t>
            </a:r>
          </a:p>
        </p:txBody>
      </p:sp>
      <p:sp>
        <p:nvSpPr>
          <p:cNvPr id="67" name="Rounded Rectangle 66"/>
          <p:cNvSpPr/>
          <p:nvPr/>
        </p:nvSpPr>
        <p:spPr>
          <a:xfrm>
            <a:off x="3715199"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LINEで友だち追加</a:t>
            </a:r>
          </a:p>
        </p:txBody>
      </p:sp>
      <p:sp>
        <p:nvSpPr>
          <p:cNvPr id="68" name="Rounded Rectangle 67"/>
          <p:cNvSpPr/>
          <p:nvPr/>
        </p:nvSpPr>
        <p:spPr>
          <a:xfrm>
            <a:off x="6566399"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9" name="Rectangle 68"/>
          <p:cNvSpPr/>
          <p:nvPr/>
        </p:nvSpPr>
        <p:spPr>
          <a:xfrm>
            <a:off x="66744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7F7F7F"/>
                </a:solidFill>
                <a:latin typeface="メイリオ"/>
                <a:ea typeface="メイリオ"/>
                <a:cs typeface="メイリオ"/>
              </a:rPr>
              <a:t>02 チラシ・教室のQR</a:t>
            </a:r>
          </a:p>
        </p:txBody>
      </p:sp>
      <p:sp>
        <p:nvSpPr>
          <p:cNvPr id="70" name="Rectangle 69"/>
          <p:cNvSpPr/>
          <p:nvPr/>
        </p:nvSpPr>
        <p:spPr>
          <a:xfrm>
            <a:off x="66744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1">
                <a:solidFill>
                  <a:srgbClr val="002060"/>
                </a:solidFill>
                <a:latin typeface="メイリオ"/>
                <a:ea typeface="メイリオ"/>
                <a:cs typeface="メイリオ"/>
              </a:rPr>
              <a:t>LINEの友だち限定</a:t>
            </a:r>
          </a:p>
          <a:p>
            <a:pPr algn="l"/>
            <a:r>
              <a:rPr sz="1150" b="0">
                <a:solidFill>
                  <a:srgbClr val="333333"/>
                </a:solidFill>
                <a:latin typeface="メイリオ"/>
                <a:ea typeface="メイリオ"/>
                <a:cs typeface="メイリオ"/>
              </a:rPr>
              <a:t>学年別「テスト対策プリント」を</a:t>
            </a:r>
          </a:p>
          <a:p>
            <a:pPr algn="l"/>
            <a:r>
              <a:rPr sz="1150" b="0">
                <a:solidFill>
                  <a:srgbClr val="333333"/>
                </a:solidFill>
                <a:latin typeface="メイリオ"/>
                <a:ea typeface="メイリオ"/>
                <a:cs typeface="メイリオ"/>
              </a:rPr>
              <a:t>プレゼントしています。</a:t>
            </a:r>
          </a:p>
        </p:txBody>
      </p:sp>
      <p:sp>
        <p:nvSpPr>
          <p:cNvPr id="71" name="Rounded Rectangle 70"/>
          <p:cNvSpPr/>
          <p:nvPr/>
        </p:nvSpPr>
        <p:spPr>
          <a:xfrm>
            <a:off x="6782400"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QRから受け取る</a:t>
            </a:r>
          </a:p>
        </p:txBody>
      </p:sp>
    </p:spTree>
    <p:extLst>
      <p:ext uri="{BB962C8B-B14F-4D97-AF65-F5344CB8AC3E}">
        <p14:creationId xmlns:p14="http://schemas.microsoft.com/office/powerpoint/2010/main" val="2687779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6516000"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002060"/>
                </a:solidFill>
                <a:latin typeface="メイリオ"/>
                <a:ea typeface="メイリオ"/>
                <a:cs typeface="Meiryo"/>
                <a:sym typeface="Meiryo"/>
              </a:rPr>
              <a:t>施策の設計図②　効率改善（ステップ配信・企画配信）</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8" name="Pentagon 7"/>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9" name="Chevron 8"/>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0" name="Chevron 9"/>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11" name="Chevron 10"/>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12" name="Chevron 11"/>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3" name="Chevron 12"/>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14" name="Chevron 1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5" name="Chevron 1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6" name="Rectangle 15"/>
          <p:cNvSpPr/>
          <p:nvPr/>
        </p:nvSpPr>
        <p:spPr>
          <a:xfrm>
            <a:off x="432000" y="792000"/>
            <a:ext cx="9036000" cy="57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l"/>
            <a:r>
              <a:rPr sz="1200" b="0">
                <a:solidFill>
                  <a:srgbClr val="333333"/>
                </a:solidFill>
                <a:latin typeface="メイリオ"/>
                <a:ea typeface="メイリオ"/>
                <a:cs typeface="メイリオ"/>
              </a:rPr>
              <a:t>友だち追加から14日間はステップ配信で、その後は時期に合わせた企画配信で、</a:t>
            </a:r>
          </a:p>
          <a:p>
            <a:pPr algn="l"/>
            <a:r>
              <a:rPr sz="1200" b="0">
                <a:solidFill>
                  <a:srgbClr val="333333"/>
                </a:solidFill>
                <a:latin typeface="メイリオ"/>
                <a:ea typeface="メイリオ"/>
                <a:cs typeface="メイリオ"/>
              </a:rPr>
              <a:t>資料請求（CV①）と体験予約（CV②）につなげる。</a:t>
            </a:r>
          </a:p>
        </p:txBody>
      </p:sp>
      <p:cxnSp>
        <p:nvCxnSpPr>
          <p:cNvPr id="17" name="Connector 16"/>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32000" y="6246000"/>
            <a:ext cx="9043200" cy="3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750" b="0">
                <a:solidFill>
                  <a:srgbClr val="7F7F7F"/>
                </a:solidFill>
                <a:latin typeface="メイリオ"/>
                <a:ea typeface="メイリオ"/>
                <a:cs typeface="メイリオ"/>
              </a:rPr>
              <a:t>※10教室のモデル値（例）。新しい友だちは1教室あたり月250人（P37）×10教室。開封率・クリック率＝弊社運用の目安（ステップ配信 72.5%×12%／企画配信 78%×10%）。CVR＝0.3〜1.0%。件数は整数（端数は四捨五入）</a:t>
            </a:r>
          </a:p>
        </p:txBody>
      </p:sp>
      <p:sp>
        <p:nvSpPr>
          <p:cNvPr id="19" name="Rectangle 18"/>
          <p:cNvSpPr/>
          <p:nvPr/>
        </p:nvSpPr>
        <p:spPr>
          <a:xfrm>
            <a:off x="432000" y="1475999"/>
            <a:ext cx="9043200" cy="223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l"/>
            <a:r>
              <a:rPr sz="1200" b="1">
                <a:solidFill>
                  <a:srgbClr val="FFFFFF"/>
                </a:solidFill>
                <a:latin typeface="メイリオ"/>
                <a:ea typeface="メイリオ"/>
                <a:cs typeface="メイリオ"/>
              </a:rPr>
              <a:t>[ステップ配信]　友だち追加から14日間・自動（新しい友だち 月2,500人＝10教室）</a:t>
            </a:r>
          </a:p>
        </p:txBody>
      </p:sp>
      <p:sp>
        <p:nvSpPr>
          <p:cNvPr id="20" name="Rectangle 19"/>
          <p:cNvSpPr/>
          <p:nvPr/>
        </p:nvSpPr>
        <p:spPr>
          <a:xfrm>
            <a:off x="432000" y="1720800"/>
            <a:ext cx="964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タイミング</a:t>
            </a:r>
          </a:p>
        </p:txBody>
      </p:sp>
      <p:sp>
        <p:nvSpPr>
          <p:cNvPr id="21" name="Rectangle 20"/>
          <p:cNvSpPr/>
          <p:nvPr/>
        </p:nvSpPr>
        <p:spPr>
          <a:xfrm>
            <a:off x="1440000" y="1720800"/>
            <a:ext cx="157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対象（想定数）</a:t>
            </a:r>
          </a:p>
        </p:txBody>
      </p:sp>
      <p:sp>
        <p:nvSpPr>
          <p:cNvPr id="22" name="Rectangle 21"/>
          <p:cNvSpPr/>
          <p:nvPr/>
        </p:nvSpPr>
        <p:spPr>
          <a:xfrm>
            <a:off x="3060000" y="1720800"/>
            <a:ext cx="2548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訴求</a:t>
            </a:r>
          </a:p>
        </p:txBody>
      </p:sp>
      <p:sp>
        <p:nvSpPr>
          <p:cNvPr id="23" name="Rectangle 22"/>
          <p:cNvSpPr/>
          <p:nvPr/>
        </p:nvSpPr>
        <p:spPr>
          <a:xfrm>
            <a:off x="5652000" y="1720800"/>
            <a:ext cx="190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開封率×クリック率×CVR</a:t>
            </a:r>
          </a:p>
        </p:txBody>
      </p:sp>
      <p:sp>
        <p:nvSpPr>
          <p:cNvPr id="24" name="Rectangle 23"/>
          <p:cNvSpPr/>
          <p:nvPr/>
        </p:nvSpPr>
        <p:spPr>
          <a:xfrm>
            <a:off x="7596000" y="1720800"/>
            <a:ext cx="114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件数</a:t>
            </a:r>
          </a:p>
        </p:txBody>
      </p:sp>
      <p:sp>
        <p:nvSpPr>
          <p:cNvPr id="25" name="Rectangle 24"/>
          <p:cNvSpPr/>
          <p:nvPr/>
        </p:nvSpPr>
        <p:spPr>
          <a:xfrm>
            <a:off x="8784000" y="1720800"/>
            <a:ext cx="6479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費用</a:t>
            </a:r>
          </a:p>
        </p:txBody>
      </p:sp>
      <p:sp>
        <p:nvSpPr>
          <p:cNvPr id="26" name="Rectangle 25"/>
          <p:cNvSpPr/>
          <p:nvPr/>
        </p:nvSpPr>
        <p:spPr>
          <a:xfrm>
            <a:off x="432000" y="19548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0日後</a:t>
            </a:r>
          </a:p>
        </p:txBody>
      </p:sp>
      <p:sp>
        <p:nvSpPr>
          <p:cNvPr id="27" name="Rectangle 26"/>
          <p:cNvSpPr/>
          <p:nvPr/>
        </p:nvSpPr>
        <p:spPr>
          <a:xfrm>
            <a:off x="1440000" y="19548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友だち追加者全員</a:t>
            </a:r>
          </a:p>
          <a:p>
            <a:pPr algn="l"/>
            <a:r>
              <a:rPr sz="950" b="0">
                <a:solidFill>
                  <a:srgbClr val="7F7F7F"/>
                </a:solidFill>
                <a:latin typeface="メイリオ"/>
                <a:ea typeface="メイリオ"/>
                <a:cs typeface="メイリオ"/>
              </a:rPr>
              <a:t>2,500人</a:t>
            </a:r>
          </a:p>
        </p:txBody>
      </p:sp>
      <p:cxnSp>
        <p:nvCxnSpPr>
          <p:cNvPr id="28" name="Connector 27"/>
          <p:cNvCxnSpPr/>
          <p:nvPr/>
        </p:nvCxnSpPr>
        <p:spPr>
          <a:xfrm>
            <a:off x="3013199" y="2129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060000" y="19548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あいさつ＋診断 → 資料を受け取る</a:t>
            </a:r>
          </a:p>
        </p:txBody>
      </p:sp>
      <p:cxnSp>
        <p:nvCxnSpPr>
          <p:cNvPr id="30" name="Connector 29"/>
          <p:cNvCxnSpPr/>
          <p:nvPr/>
        </p:nvCxnSpPr>
        <p:spPr>
          <a:xfrm>
            <a:off x="5605199" y="2129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652000" y="19548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100% × 12% × 1.0%</a:t>
            </a:r>
          </a:p>
        </p:txBody>
      </p:sp>
      <p:cxnSp>
        <p:nvCxnSpPr>
          <p:cNvPr id="32" name="Connector 31"/>
          <p:cNvCxnSpPr/>
          <p:nvPr/>
        </p:nvCxnSpPr>
        <p:spPr>
          <a:xfrm>
            <a:off x="7549200" y="21294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596000" y="19548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3件</a:t>
            </a:r>
          </a:p>
          <a:p>
            <a:pPr algn="ctr"/>
            <a:r>
              <a:rPr sz="950" b="0">
                <a:solidFill>
                  <a:srgbClr val="FFFFFF"/>
                </a:solidFill>
                <a:latin typeface="メイリオ"/>
                <a:ea typeface="メイリオ"/>
                <a:cs typeface="メイリオ"/>
              </a:rPr>
              <a:t>CV① 資料請求</a:t>
            </a:r>
          </a:p>
        </p:txBody>
      </p:sp>
      <p:sp>
        <p:nvSpPr>
          <p:cNvPr id="34" name="Rectangle 33"/>
          <p:cNvSpPr/>
          <p:nvPr/>
        </p:nvSpPr>
        <p:spPr>
          <a:xfrm>
            <a:off x="8784000" y="19548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35" name="Rectangle 34"/>
          <p:cNvSpPr/>
          <p:nvPr/>
        </p:nvSpPr>
        <p:spPr>
          <a:xfrm>
            <a:off x="432000" y="23256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3日後</a:t>
            </a:r>
          </a:p>
        </p:txBody>
      </p:sp>
      <p:sp>
        <p:nvSpPr>
          <p:cNvPr id="36" name="Rectangle 35"/>
          <p:cNvSpPr/>
          <p:nvPr/>
        </p:nvSpPr>
        <p:spPr>
          <a:xfrm>
            <a:off x="1440000" y="23256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全員</a:t>
            </a:r>
          </a:p>
          <a:p>
            <a:pPr algn="l"/>
            <a:r>
              <a:rPr sz="950" b="0">
                <a:solidFill>
                  <a:srgbClr val="7F7F7F"/>
                </a:solidFill>
                <a:latin typeface="メイリオ"/>
                <a:ea typeface="メイリオ"/>
                <a:cs typeface="メイリオ"/>
              </a:rPr>
              <a:t>2,500人</a:t>
            </a:r>
          </a:p>
        </p:txBody>
      </p:sp>
      <p:cxnSp>
        <p:nvCxnSpPr>
          <p:cNvPr id="37" name="Connector 36"/>
          <p:cNvCxnSpPr/>
          <p:nvPr/>
        </p:nvCxnSpPr>
        <p:spPr>
          <a:xfrm>
            <a:off x="3013199" y="2500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060000" y="23256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家でできる勉強のコツ</a:t>
            </a:r>
          </a:p>
        </p:txBody>
      </p:sp>
      <p:cxnSp>
        <p:nvCxnSpPr>
          <p:cNvPr id="39" name="Connector 38"/>
          <p:cNvCxnSpPr/>
          <p:nvPr/>
        </p:nvCxnSpPr>
        <p:spPr>
          <a:xfrm>
            <a:off x="5605199" y="2500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652000" y="23256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a:t>
            </a:r>
          </a:p>
        </p:txBody>
      </p:sp>
      <p:cxnSp>
        <p:nvCxnSpPr>
          <p:cNvPr id="41" name="Connector 40"/>
          <p:cNvCxnSpPr/>
          <p:nvPr/>
        </p:nvCxnSpPr>
        <p:spPr>
          <a:xfrm>
            <a:off x="7549200" y="25002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596000" y="23256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7F7F7F"/>
                </a:solidFill>
                <a:latin typeface="メイリオ"/>
                <a:ea typeface="メイリオ"/>
                <a:cs typeface="メイリオ"/>
              </a:rPr>
              <a:t>案内なし</a:t>
            </a:r>
          </a:p>
          <a:p>
            <a:pPr algn="ctr"/>
            <a:r>
              <a:rPr sz="950" b="0">
                <a:solidFill>
                  <a:srgbClr val="7F7F7F"/>
                </a:solidFill>
                <a:latin typeface="メイリオ"/>
                <a:ea typeface="メイリオ"/>
                <a:cs typeface="メイリオ"/>
              </a:rPr>
              <a:t>信頼関係づくり</a:t>
            </a:r>
          </a:p>
        </p:txBody>
      </p:sp>
      <p:sp>
        <p:nvSpPr>
          <p:cNvPr id="43" name="Rectangle 42"/>
          <p:cNvSpPr/>
          <p:nvPr/>
        </p:nvSpPr>
        <p:spPr>
          <a:xfrm>
            <a:off x="8784000" y="23256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44" name="Rectangle 43"/>
          <p:cNvSpPr/>
          <p:nvPr/>
        </p:nvSpPr>
        <p:spPr>
          <a:xfrm>
            <a:off x="432000" y="26964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5日後</a:t>
            </a:r>
          </a:p>
        </p:txBody>
      </p:sp>
      <p:sp>
        <p:nvSpPr>
          <p:cNvPr id="45" name="Rectangle 44"/>
          <p:cNvSpPr/>
          <p:nvPr/>
        </p:nvSpPr>
        <p:spPr>
          <a:xfrm>
            <a:off x="1440000" y="26964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資料未請求の方</a:t>
            </a:r>
          </a:p>
          <a:p>
            <a:pPr algn="l"/>
            <a:r>
              <a:rPr sz="950" b="0">
                <a:solidFill>
                  <a:srgbClr val="7F7F7F"/>
                </a:solidFill>
                <a:latin typeface="メイリオ"/>
                <a:ea typeface="メイリオ"/>
                <a:cs typeface="メイリオ"/>
              </a:rPr>
              <a:t>約2,500人</a:t>
            </a:r>
          </a:p>
        </p:txBody>
      </p:sp>
      <p:cxnSp>
        <p:nvCxnSpPr>
          <p:cNvPr id="46" name="Connector 45"/>
          <p:cNvCxnSpPr/>
          <p:nvPr/>
        </p:nvCxnSpPr>
        <p:spPr>
          <a:xfrm>
            <a:off x="3013199" y="2871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060000" y="26964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月謝＋講習費の年間の目安</a:t>
            </a:r>
          </a:p>
        </p:txBody>
      </p:sp>
      <p:cxnSp>
        <p:nvCxnSpPr>
          <p:cNvPr id="48" name="Connector 47"/>
          <p:cNvCxnSpPr/>
          <p:nvPr/>
        </p:nvCxnSpPr>
        <p:spPr>
          <a:xfrm>
            <a:off x="5605199" y="2871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652000" y="26964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 × 1.0%</a:t>
            </a:r>
          </a:p>
        </p:txBody>
      </p:sp>
      <p:cxnSp>
        <p:nvCxnSpPr>
          <p:cNvPr id="50" name="Connector 49"/>
          <p:cNvCxnSpPr/>
          <p:nvPr/>
        </p:nvCxnSpPr>
        <p:spPr>
          <a:xfrm>
            <a:off x="7549200" y="28710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7596000" y="26964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2件</a:t>
            </a:r>
          </a:p>
          <a:p>
            <a:pPr algn="ctr"/>
            <a:r>
              <a:rPr sz="950" b="0">
                <a:solidFill>
                  <a:srgbClr val="FFFFFF"/>
                </a:solidFill>
                <a:latin typeface="メイリオ"/>
                <a:ea typeface="メイリオ"/>
                <a:cs typeface="メイリオ"/>
              </a:rPr>
              <a:t>CV① 資料請求</a:t>
            </a:r>
          </a:p>
        </p:txBody>
      </p:sp>
      <p:sp>
        <p:nvSpPr>
          <p:cNvPr id="52" name="Rectangle 51"/>
          <p:cNvSpPr/>
          <p:nvPr/>
        </p:nvSpPr>
        <p:spPr>
          <a:xfrm>
            <a:off x="8784000" y="26964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53" name="Rectangle 52"/>
          <p:cNvSpPr/>
          <p:nvPr/>
        </p:nvSpPr>
        <p:spPr>
          <a:xfrm>
            <a:off x="432000" y="30672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7日後</a:t>
            </a:r>
          </a:p>
        </p:txBody>
      </p:sp>
      <p:sp>
        <p:nvSpPr>
          <p:cNvPr id="54" name="Rectangle 53"/>
          <p:cNvSpPr/>
          <p:nvPr/>
        </p:nvSpPr>
        <p:spPr>
          <a:xfrm>
            <a:off x="1440000" y="30672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全員</a:t>
            </a:r>
          </a:p>
          <a:p>
            <a:pPr algn="l"/>
            <a:r>
              <a:rPr sz="950" b="0">
                <a:solidFill>
                  <a:srgbClr val="7F7F7F"/>
                </a:solidFill>
                <a:latin typeface="メイリオ"/>
                <a:ea typeface="メイリオ"/>
                <a:cs typeface="メイリオ"/>
              </a:rPr>
              <a:t>2,500人</a:t>
            </a:r>
          </a:p>
        </p:txBody>
      </p:sp>
      <p:cxnSp>
        <p:nvCxnSpPr>
          <p:cNvPr id="55" name="Connector 54"/>
          <p:cNvCxnSpPr/>
          <p:nvPr/>
        </p:nvCxnSpPr>
        <p:spPr>
          <a:xfrm>
            <a:off x="3013199" y="3241799"/>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060000" y="30672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事例＋体験のご案内①</a:t>
            </a:r>
          </a:p>
        </p:txBody>
      </p:sp>
      <p:cxnSp>
        <p:nvCxnSpPr>
          <p:cNvPr id="57" name="Connector 56"/>
          <p:cNvCxnSpPr/>
          <p:nvPr/>
        </p:nvCxnSpPr>
        <p:spPr>
          <a:xfrm>
            <a:off x="5605199" y="3241799"/>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5652000" y="30672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 × 0.8%</a:t>
            </a:r>
          </a:p>
        </p:txBody>
      </p:sp>
      <p:cxnSp>
        <p:nvCxnSpPr>
          <p:cNvPr id="59" name="Connector 58"/>
          <p:cNvCxnSpPr/>
          <p:nvPr/>
        </p:nvCxnSpPr>
        <p:spPr>
          <a:xfrm>
            <a:off x="7549200" y="3241799"/>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7596000" y="30672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2件</a:t>
            </a:r>
          </a:p>
          <a:p>
            <a:pPr algn="ctr"/>
            <a:r>
              <a:rPr sz="950" b="0">
                <a:solidFill>
                  <a:srgbClr val="FFFFFF"/>
                </a:solidFill>
                <a:latin typeface="メイリオ"/>
                <a:ea typeface="メイリオ"/>
                <a:cs typeface="メイリオ"/>
              </a:rPr>
              <a:t>CV② 体験予約</a:t>
            </a:r>
          </a:p>
        </p:txBody>
      </p:sp>
      <p:sp>
        <p:nvSpPr>
          <p:cNvPr id="61" name="Rectangle 60"/>
          <p:cNvSpPr/>
          <p:nvPr/>
        </p:nvSpPr>
        <p:spPr>
          <a:xfrm>
            <a:off x="8784000" y="30672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62" name="Rectangle 61"/>
          <p:cNvSpPr/>
          <p:nvPr/>
        </p:nvSpPr>
        <p:spPr>
          <a:xfrm>
            <a:off x="432000" y="34380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14日後</a:t>
            </a:r>
          </a:p>
        </p:txBody>
      </p:sp>
      <p:sp>
        <p:nvSpPr>
          <p:cNvPr id="63" name="Rectangle 62"/>
          <p:cNvSpPr/>
          <p:nvPr/>
        </p:nvSpPr>
        <p:spPr>
          <a:xfrm>
            <a:off x="1440000" y="34380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体験未予約の方</a:t>
            </a:r>
          </a:p>
          <a:p>
            <a:pPr algn="l"/>
            <a:r>
              <a:rPr sz="950" b="0">
                <a:solidFill>
                  <a:srgbClr val="7F7F7F"/>
                </a:solidFill>
                <a:latin typeface="メイリオ"/>
                <a:ea typeface="メイリオ"/>
                <a:cs typeface="メイリオ"/>
              </a:rPr>
              <a:t>約2,500人</a:t>
            </a:r>
          </a:p>
        </p:txBody>
      </p:sp>
      <p:cxnSp>
        <p:nvCxnSpPr>
          <p:cNvPr id="64" name="Connector 63"/>
          <p:cNvCxnSpPr/>
          <p:nvPr/>
        </p:nvCxnSpPr>
        <p:spPr>
          <a:xfrm>
            <a:off x="3013199" y="36126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3060000" y="34380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テストから逆算＋体験の案内②</a:t>
            </a:r>
          </a:p>
        </p:txBody>
      </p:sp>
      <p:cxnSp>
        <p:nvCxnSpPr>
          <p:cNvPr id="66" name="Connector 65"/>
          <p:cNvCxnSpPr/>
          <p:nvPr/>
        </p:nvCxnSpPr>
        <p:spPr>
          <a:xfrm>
            <a:off x="5605199" y="36126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5652000" y="34380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 × 1.0%</a:t>
            </a:r>
          </a:p>
        </p:txBody>
      </p:sp>
      <p:cxnSp>
        <p:nvCxnSpPr>
          <p:cNvPr id="68" name="Connector 67"/>
          <p:cNvCxnSpPr/>
          <p:nvPr/>
        </p:nvCxnSpPr>
        <p:spPr>
          <a:xfrm>
            <a:off x="7549200" y="36126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7596000" y="34380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2件</a:t>
            </a:r>
          </a:p>
          <a:p>
            <a:pPr algn="ctr"/>
            <a:r>
              <a:rPr sz="950" b="0">
                <a:solidFill>
                  <a:srgbClr val="FFFFFF"/>
                </a:solidFill>
                <a:latin typeface="メイリオ"/>
                <a:ea typeface="メイリオ"/>
                <a:cs typeface="メイリオ"/>
              </a:rPr>
              <a:t>CV② 体験予約</a:t>
            </a:r>
          </a:p>
        </p:txBody>
      </p:sp>
      <p:sp>
        <p:nvSpPr>
          <p:cNvPr id="70" name="Rectangle 69"/>
          <p:cNvSpPr/>
          <p:nvPr/>
        </p:nvSpPr>
        <p:spPr>
          <a:xfrm>
            <a:off x="8784000" y="34380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71" name="Rectangle 70"/>
          <p:cNvSpPr/>
          <p:nvPr/>
        </p:nvSpPr>
        <p:spPr>
          <a:xfrm>
            <a:off x="432000" y="3834000"/>
            <a:ext cx="9043200" cy="223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l"/>
            <a:r>
              <a:rPr sz="1200" b="1">
                <a:solidFill>
                  <a:srgbClr val="FFFFFF"/>
                </a:solidFill>
                <a:latin typeface="メイリオ"/>
                <a:ea typeface="メイリオ"/>
                <a:cs typeface="メイリオ"/>
              </a:rPr>
              <a:t>[企画配信]　月1〜2本（友だち 累計約10,000人・ブロックを除いて約6,800人）</a:t>
            </a:r>
          </a:p>
        </p:txBody>
      </p:sp>
      <p:sp>
        <p:nvSpPr>
          <p:cNvPr id="72" name="Rectangle 71"/>
          <p:cNvSpPr/>
          <p:nvPr/>
        </p:nvSpPr>
        <p:spPr>
          <a:xfrm>
            <a:off x="432000" y="4078800"/>
            <a:ext cx="964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タイミング</a:t>
            </a:r>
          </a:p>
        </p:txBody>
      </p:sp>
      <p:sp>
        <p:nvSpPr>
          <p:cNvPr id="73" name="Rectangle 72"/>
          <p:cNvSpPr/>
          <p:nvPr/>
        </p:nvSpPr>
        <p:spPr>
          <a:xfrm>
            <a:off x="1440000" y="4078800"/>
            <a:ext cx="157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対象（想定数）</a:t>
            </a:r>
          </a:p>
        </p:txBody>
      </p:sp>
      <p:sp>
        <p:nvSpPr>
          <p:cNvPr id="74" name="Rectangle 73"/>
          <p:cNvSpPr/>
          <p:nvPr/>
        </p:nvSpPr>
        <p:spPr>
          <a:xfrm>
            <a:off x="3060000" y="4078800"/>
            <a:ext cx="2548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訴求</a:t>
            </a:r>
          </a:p>
        </p:txBody>
      </p:sp>
      <p:sp>
        <p:nvSpPr>
          <p:cNvPr id="75" name="Rectangle 74"/>
          <p:cNvSpPr/>
          <p:nvPr/>
        </p:nvSpPr>
        <p:spPr>
          <a:xfrm>
            <a:off x="5652000" y="4078800"/>
            <a:ext cx="190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開封率×クリック率×CVR</a:t>
            </a:r>
          </a:p>
        </p:txBody>
      </p:sp>
      <p:sp>
        <p:nvSpPr>
          <p:cNvPr id="76" name="Rectangle 75"/>
          <p:cNvSpPr/>
          <p:nvPr/>
        </p:nvSpPr>
        <p:spPr>
          <a:xfrm>
            <a:off x="7596000" y="4078800"/>
            <a:ext cx="114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件数</a:t>
            </a:r>
          </a:p>
        </p:txBody>
      </p:sp>
      <p:sp>
        <p:nvSpPr>
          <p:cNvPr id="77" name="Rectangle 76"/>
          <p:cNvSpPr/>
          <p:nvPr/>
        </p:nvSpPr>
        <p:spPr>
          <a:xfrm>
            <a:off x="8784000" y="4078800"/>
            <a:ext cx="6479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費用</a:t>
            </a:r>
          </a:p>
        </p:txBody>
      </p:sp>
      <p:sp>
        <p:nvSpPr>
          <p:cNvPr id="78" name="Rectangle 77"/>
          <p:cNvSpPr/>
          <p:nvPr/>
        </p:nvSpPr>
        <p:spPr>
          <a:xfrm>
            <a:off x="432000" y="43128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講習の前</a:t>
            </a:r>
          </a:p>
        </p:txBody>
      </p:sp>
      <p:sp>
        <p:nvSpPr>
          <p:cNvPr id="79" name="Rectangle 78"/>
          <p:cNvSpPr/>
          <p:nvPr/>
        </p:nvSpPr>
        <p:spPr>
          <a:xfrm>
            <a:off x="1440000" y="43128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友だち全体</a:t>
            </a:r>
          </a:p>
          <a:p>
            <a:pPr algn="l"/>
            <a:r>
              <a:rPr sz="950" b="0">
                <a:solidFill>
                  <a:srgbClr val="7F7F7F"/>
                </a:solidFill>
                <a:latin typeface="メイリオ"/>
                <a:ea typeface="メイリオ"/>
                <a:cs typeface="メイリオ"/>
              </a:rPr>
              <a:t>約6,800人</a:t>
            </a:r>
          </a:p>
        </p:txBody>
      </p:sp>
      <p:cxnSp>
        <p:nvCxnSpPr>
          <p:cNvPr id="80" name="Connector 79"/>
          <p:cNvCxnSpPr/>
          <p:nvPr/>
        </p:nvCxnSpPr>
        <p:spPr>
          <a:xfrm>
            <a:off x="3013199" y="4487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3060000" y="43128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講習・新学年の先行案内</a:t>
            </a:r>
          </a:p>
        </p:txBody>
      </p:sp>
      <p:cxnSp>
        <p:nvCxnSpPr>
          <p:cNvPr id="82" name="Connector 81"/>
          <p:cNvCxnSpPr/>
          <p:nvPr/>
        </p:nvCxnSpPr>
        <p:spPr>
          <a:xfrm>
            <a:off x="5605199" y="4487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3" name="Rectangle 82"/>
          <p:cNvSpPr/>
          <p:nvPr/>
        </p:nvSpPr>
        <p:spPr>
          <a:xfrm>
            <a:off x="5652000" y="43128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78% × 10% × 1.0%</a:t>
            </a:r>
          </a:p>
        </p:txBody>
      </p:sp>
      <p:cxnSp>
        <p:nvCxnSpPr>
          <p:cNvPr id="84" name="Connector 83"/>
          <p:cNvCxnSpPr/>
          <p:nvPr/>
        </p:nvCxnSpPr>
        <p:spPr>
          <a:xfrm>
            <a:off x="7549200" y="44874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7596000" y="43128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5件</a:t>
            </a:r>
          </a:p>
          <a:p>
            <a:pPr algn="ctr"/>
            <a:r>
              <a:rPr sz="950" b="0">
                <a:solidFill>
                  <a:srgbClr val="FFFFFF"/>
                </a:solidFill>
                <a:latin typeface="メイリオ"/>
                <a:ea typeface="メイリオ"/>
                <a:cs typeface="メイリオ"/>
              </a:rPr>
              <a:t>CV② 体験・講習</a:t>
            </a:r>
          </a:p>
        </p:txBody>
      </p:sp>
      <p:sp>
        <p:nvSpPr>
          <p:cNvPr id="86" name="Rectangle 85"/>
          <p:cNvSpPr/>
          <p:nvPr/>
        </p:nvSpPr>
        <p:spPr>
          <a:xfrm>
            <a:off x="8784000" y="43128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87" name="Rectangle 86"/>
          <p:cNvSpPr/>
          <p:nvPr/>
        </p:nvSpPr>
        <p:spPr>
          <a:xfrm>
            <a:off x="432000" y="46836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テストの前</a:t>
            </a:r>
          </a:p>
        </p:txBody>
      </p:sp>
      <p:sp>
        <p:nvSpPr>
          <p:cNvPr id="88" name="Rectangle 87"/>
          <p:cNvSpPr/>
          <p:nvPr/>
        </p:nvSpPr>
        <p:spPr>
          <a:xfrm>
            <a:off x="1440000" y="46836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中学生の保護者</a:t>
            </a:r>
          </a:p>
          <a:p>
            <a:pPr algn="l"/>
            <a:r>
              <a:rPr sz="950" b="0">
                <a:solidFill>
                  <a:srgbClr val="7F7F7F"/>
                </a:solidFill>
                <a:latin typeface="メイリオ"/>
                <a:ea typeface="メイリオ"/>
                <a:cs typeface="メイリオ"/>
              </a:rPr>
              <a:t>約2,700人</a:t>
            </a:r>
          </a:p>
        </p:txBody>
      </p:sp>
      <p:cxnSp>
        <p:nvCxnSpPr>
          <p:cNvPr id="89" name="Connector 88"/>
          <p:cNvCxnSpPr/>
          <p:nvPr/>
        </p:nvCxnSpPr>
        <p:spPr>
          <a:xfrm>
            <a:off x="3013199" y="4858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3060000" y="46836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テスト対策講座・見直しポイント</a:t>
            </a:r>
          </a:p>
        </p:txBody>
      </p:sp>
      <p:cxnSp>
        <p:nvCxnSpPr>
          <p:cNvPr id="91" name="Connector 90"/>
          <p:cNvCxnSpPr/>
          <p:nvPr/>
        </p:nvCxnSpPr>
        <p:spPr>
          <a:xfrm>
            <a:off x="5605199" y="4858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5652000" y="46836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78% × 10% × 0.5%</a:t>
            </a:r>
          </a:p>
        </p:txBody>
      </p:sp>
      <p:cxnSp>
        <p:nvCxnSpPr>
          <p:cNvPr id="93" name="Connector 92"/>
          <p:cNvCxnSpPr/>
          <p:nvPr/>
        </p:nvCxnSpPr>
        <p:spPr>
          <a:xfrm>
            <a:off x="7549200" y="48582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7596000" y="46836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1件</a:t>
            </a:r>
          </a:p>
          <a:p>
            <a:pPr algn="ctr"/>
            <a:r>
              <a:rPr sz="950" b="0">
                <a:solidFill>
                  <a:srgbClr val="FFFFFF"/>
                </a:solidFill>
                <a:latin typeface="メイリオ"/>
                <a:ea typeface="メイリオ"/>
                <a:cs typeface="メイリオ"/>
              </a:rPr>
              <a:t>CV② 体験予約</a:t>
            </a:r>
          </a:p>
        </p:txBody>
      </p:sp>
      <p:sp>
        <p:nvSpPr>
          <p:cNvPr id="95" name="Rectangle 94"/>
          <p:cNvSpPr/>
          <p:nvPr/>
        </p:nvSpPr>
        <p:spPr>
          <a:xfrm>
            <a:off x="8784000" y="46836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96" name="Rectangle 95"/>
          <p:cNvSpPr/>
          <p:nvPr/>
        </p:nvSpPr>
        <p:spPr>
          <a:xfrm>
            <a:off x="432000" y="50544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資料請求後</a:t>
            </a:r>
          </a:p>
        </p:txBody>
      </p:sp>
      <p:sp>
        <p:nvSpPr>
          <p:cNvPr id="97" name="Rectangle 96"/>
          <p:cNvSpPr/>
          <p:nvPr/>
        </p:nvSpPr>
        <p:spPr>
          <a:xfrm>
            <a:off x="1440000" y="50544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資料を請求した方</a:t>
            </a:r>
          </a:p>
          <a:p>
            <a:pPr algn="l"/>
            <a:r>
              <a:rPr sz="950" b="0">
                <a:solidFill>
                  <a:srgbClr val="7F7F7F"/>
                </a:solidFill>
                <a:latin typeface="メイリオ"/>
                <a:ea typeface="メイリオ"/>
                <a:cs typeface="メイリオ"/>
              </a:rPr>
              <a:t>（件数は実績で）</a:t>
            </a:r>
          </a:p>
        </p:txBody>
      </p:sp>
      <p:cxnSp>
        <p:nvCxnSpPr>
          <p:cNvPr id="98" name="Connector 97"/>
          <p:cNvCxnSpPr/>
          <p:nvPr/>
        </p:nvCxnSpPr>
        <p:spPr>
          <a:xfrm>
            <a:off x="3013199" y="5229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3060000" y="50544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事例・費用のQ&amp;A・教室紹介</a:t>
            </a:r>
          </a:p>
        </p:txBody>
      </p:sp>
      <p:cxnSp>
        <p:nvCxnSpPr>
          <p:cNvPr id="100" name="Connector 99"/>
          <p:cNvCxnSpPr/>
          <p:nvPr/>
        </p:nvCxnSpPr>
        <p:spPr>
          <a:xfrm>
            <a:off x="5605199" y="5229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5652000" y="50544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78% × 10% × 1.0%</a:t>
            </a:r>
          </a:p>
        </p:txBody>
      </p:sp>
      <p:cxnSp>
        <p:nvCxnSpPr>
          <p:cNvPr id="102" name="Connector 101"/>
          <p:cNvCxnSpPr/>
          <p:nvPr/>
        </p:nvCxnSpPr>
        <p:spPr>
          <a:xfrm>
            <a:off x="7549200" y="52290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3" name="Rectangle 102"/>
          <p:cNvSpPr/>
          <p:nvPr/>
        </p:nvSpPr>
        <p:spPr>
          <a:xfrm>
            <a:off x="7596000" y="50544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7F7F7F"/>
                </a:solidFill>
                <a:latin typeface="メイリオ"/>
                <a:ea typeface="メイリオ"/>
                <a:cs typeface="メイリオ"/>
              </a:rPr>
              <a:t>実績で計算</a:t>
            </a:r>
          </a:p>
          <a:p>
            <a:pPr algn="ctr"/>
            <a:r>
              <a:rPr sz="950" b="0">
                <a:solidFill>
                  <a:srgbClr val="7F7F7F"/>
                </a:solidFill>
                <a:latin typeface="メイリオ"/>
                <a:ea typeface="メイリオ"/>
                <a:cs typeface="メイリオ"/>
              </a:rPr>
              <a:t>CV② 体験予約</a:t>
            </a:r>
          </a:p>
        </p:txBody>
      </p:sp>
      <p:sp>
        <p:nvSpPr>
          <p:cNvPr id="104" name="Rectangle 103"/>
          <p:cNvSpPr/>
          <p:nvPr/>
        </p:nvSpPr>
        <p:spPr>
          <a:xfrm>
            <a:off x="8784000" y="50544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105" name="Rectangle 104"/>
          <p:cNvSpPr/>
          <p:nvPr/>
        </p:nvSpPr>
        <p:spPr>
          <a:xfrm>
            <a:off x="432000" y="54252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講習の時期</a:t>
            </a:r>
          </a:p>
        </p:txBody>
      </p:sp>
      <p:sp>
        <p:nvSpPr>
          <p:cNvPr id="106" name="Rectangle 105"/>
          <p:cNvSpPr/>
          <p:nvPr/>
        </p:nvSpPr>
        <p:spPr>
          <a:xfrm>
            <a:off x="1440000" y="54252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体験・入会に</a:t>
            </a:r>
          </a:p>
          <a:p>
            <a:pPr algn="l"/>
            <a:r>
              <a:rPr sz="950" b="0">
                <a:solidFill>
                  <a:srgbClr val="7F7F7F"/>
                </a:solidFill>
                <a:latin typeface="メイリオ"/>
                <a:ea typeface="メイリオ"/>
                <a:cs typeface="メイリオ"/>
              </a:rPr>
              <a:t>至らなかった方</a:t>
            </a:r>
          </a:p>
        </p:txBody>
      </p:sp>
      <p:cxnSp>
        <p:nvCxnSpPr>
          <p:cNvPr id="107" name="Connector 106"/>
          <p:cNvCxnSpPr/>
          <p:nvPr/>
        </p:nvCxnSpPr>
        <p:spPr>
          <a:xfrm>
            <a:off x="3013199" y="55998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8" name="Rectangle 107"/>
          <p:cNvSpPr/>
          <p:nvPr/>
        </p:nvSpPr>
        <p:spPr>
          <a:xfrm>
            <a:off x="3060000" y="54252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講習のご案内（通知メッセージ）</a:t>
            </a:r>
          </a:p>
        </p:txBody>
      </p:sp>
      <p:cxnSp>
        <p:nvCxnSpPr>
          <p:cNvPr id="109" name="Connector 108"/>
          <p:cNvCxnSpPr/>
          <p:nvPr/>
        </p:nvCxnSpPr>
        <p:spPr>
          <a:xfrm>
            <a:off x="5605199" y="55998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10" name="Rectangle 109"/>
          <p:cNvSpPr/>
          <p:nvPr/>
        </p:nvSpPr>
        <p:spPr>
          <a:xfrm>
            <a:off x="5652000" y="54252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通知メッセージ</a:t>
            </a:r>
          </a:p>
        </p:txBody>
      </p:sp>
      <p:cxnSp>
        <p:nvCxnSpPr>
          <p:cNvPr id="111" name="Connector 110"/>
          <p:cNvCxnSpPr/>
          <p:nvPr/>
        </p:nvCxnSpPr>
        <p:spPr>
          <a:xfrm>
            <a:off x="7549200" y="55998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7596000" y="54252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7F7F7F"/>
                </a:solidFill>
                <a:latin typeface="メイリオ"/>
                <a:ea typeface="メイリオ"/>
                <a:cs typeface="メイリオ"/>
              </a:rPr>
              <a:t>実績で計算</a:t>
            </a:r>
          </a:p>
          <a:p>
            <a:pPr algn="ctr"/>
            <a:r>
              <a:rPr sz="950" b="0">
                <a:solidFill>
                  <a:srgbClr val="7F7F7F"/>
                </a:solidFill>
                <a:latin typeface="メイリオ"/>
                <a:ea typeface="メイリオ"/>
                <a:cs typeface="メイリオ"/>
              </a:rPr>
              <a:t>別途費用</a:t>
            </a:r>
          </a:p>
        </p:txBody>
      </p:sp>
      <p:sp>
        <p:nvSpPr>
          <p:cNvPr id="113" name="Rectangle 112"/>
          <p:cNvSpPr/>
          <p:nvPr/>
        </p:nvSpPr>
        <p:spPr>
          <a:xfrm>
            <a:off x="8784000" y="54252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別途</a:t>
            </a:r>
          </a:p>
        </p:txBody>
      </p:sp>
      <p:sp>
        <p:nvSpPr>
          <p:cNvPr id="114" name="Rounded Rectangle 113"/>
          <p:cNvSpPr/>
          <p:nvPr/>
        </p:nvSpPr>
        <p:spPr>
          <a:xfrm>
            <a:off x="432000" y="5813999"/>
            <a:ext cx="9043200" cy="396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333333"/>
                </a:solidFill>
                <a:latin typeface="メイリオ"/>
                <a:ea typeface="メイリオ"/>
                <a:cs typeface="メイリオ"/>
              </a:rPr>
              <a:t>10教室で月に 資料請求 約5件・体験予約 約10件　→　100教室なら 資料請求 約50件・体験予約 約100件</a:t>
            </a:r>
          </a:p>
        </p:txBody>
      </p:sp>
      <p:sp>
        <p:nvSpPr>
          <p:cNvPr id="115" name="Rectangle 114"/>
          <p:cNvSpPr/>
          <p:nvPr/>
        </p:nvSpPr>
        <p:spPr>
          <a:xfrm>
            <a:off x="9216000" y="6580800"/>
            <a:ext cx="576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r"/>
            <a:fld id="{8C1D2E3F-4A5B-4C6D-9E7F-000000000001}" type="slidenum">
              <a:rPr sz="1200" b="1">
                <a:solidFill>
                  <a:srgbClr val="FFFFFF"/>
                </a:solidFill>
                <a:latin typeface="メイリオ"/>
                <a:ea typeface="メイリオ"/>
                <a:cs typeface="メイリオ"/>
              </a:rPr>
              <a:t>38</a:t>
            </a:fld>
            <a:endParaRPr sz="1200" b="1">
              <a:solidFill>
                <a:srgbClr val="FFFFFF"/>
              </a:solidFill>
              <a:latin typeface="メイリオ"/>
              <a:ea typeface="メイリオ"/>
              <a:cs typeface="メイリオ"/>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施策の設計図③　満足度改善（保護者）</a:t>
            </a:r>
            <a:endParaRPr sz="1600" b="1" dirty="0">
              <a:solidFill>
                <a:srgbClr val="002060"/>
              </a:solidFill>
              <a:latin typeface="メイリオ"/>
              <a:ea typeface="メイリオ"/>
              <a:cs typeface="Meiryo"/>
              <a:sym typeface="Meiryo"/>
            </a:endParaRPr>
          </a:p>
        </p:txBody>
      </p:sp>
      <p:sp>
        <p:nvSpPr>
          <p:cNvPr id="46" name="Pentagon 45"/>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47" name="Chevron 46"/>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48" name="Chevron 47"/>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49" name="Chevron 48"/>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50" name="Chevron 49"/>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51" name="Chevron 50"/>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52" name="Chevron 51"/>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53" name="Chevron 52"/>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54" name="Rectangle 53"/>
          <p:cNvSpPr/>
          <p:nvPr/>
        </p:nvSpPr>
        <p:spPr>
          <a:xfrm>
            <a:off x="432000" y="792000"/>
            <a:ext cx="9036000" cy="57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l"/>
            <a:r>
              <a:rPr sz="1200" b="0">
                <a:solidFill>
                  <a:srgbClr val="333333"/>
                </a:solidFill>
                <a:latin typeface="メイリオ"/>
                <a:ea typeface="メイリオ"/>
                <a:cs typeface="メイリオ"/>
              </a:rPr>
              <a:t>保護者の疑問に、待たせずに答える。</a:t>
            </a:r>
          </a:p>
          <a:p>
            <a:pPr algn="l"/>
            <a:r>
              <a:rPr sz="1200" b="0">
                <a:solidFill>
                  <a:srgbClr val="333333"/>
                </a:solidFill>
                <a:latin typeface="メイリオ"/>
                <a:ea typeface="メイリオ"/>
                <a:cs typeface="メイリオ"/>
              </a:rPr>
              <a:t>すぐ答えられることは自動で、相談ごとは人が答える。押していただきたいボタンは右下に置く。</a:t>
            </a:r>
          </a:p>
        </p:txBody>
      </p:sp>
      <p:cxnSp>
        <p:nvCxnSpPr>
          <p:cNvPr id="55" name="Connector 54"/>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432000" y="6246000"/>
            <a:ext cx="9043200" cy="3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900" b="0">
                <a:solidFill>
                  <a:srgbClr val="7F7F7F"/>
                </a:solidFill>
                <a:latin typeface="メイリオ"/>
                <a:ea typeface="メイリオ"/>
                <a:cs typeface="メイリオ"/>
              </a:rPr>
              <a:t>※有人対応の時間帯（平日14〜21時）は例。教室の運用に合わせて決める</a:t>
            </a:r>
          </a:p>
        </p:txBody>
      </p:sp>
      <p:sp>
        <p:nvSpPr>
          <p:cNvPr id="57" name="Rectangle 56"/>
          <p:cNvSpPr/>
          <p:nvPr/>
        </p:nvSpPr>
        <p:spPr>
          <a:xfrm>
            <a:off x="432000" y="1512000"/>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250" b="1">
                <a:solidFill>
                  <a:srgbClr val="FFFFFF"/>
                </a:solidFill>
                <a:latin typeface="メイリオ"/>
                <a:ea typeface="メイリオ"/>
                <a:cs typeface="メイリオ"/>
              </a:rPr>
              <a:t>[QA自動化]</a:t>
            </a:r>
          </a:p>
        </p:txBody>
      </p:sp>
      <p:sp>
        <p:nvSpPr>
          <p:cNvPr id="58" name="Rectangle 57"/>
          <p:cNvSpPr/>
          <p:nvPr/>
        </p:nvSpPr>
        <p:spPr>
          <a:xfrm>
            <a:off x="1692000" y="1512000"/>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0">
                <a:solidFill>
                  <a:srgbClr val="333333"/>
                </a:solidFill>
                <a:latin typeface="メイリオ"/>
                <a:ea typeface="メイリオ"/>
                <a:cs typeface="メイリオ"/>
              </a:rPr>
              <a:t>料金・コース・対象学年・駐車場などは、キーワード自動応答ですぐ答える</a:t>
            </a:r>
          </a:p>
        </p:txBody>
      </p:sp>
      <p:sp>
        <p:nvSpPr>
          <p:cNvPr id="59" name="Rectangle 58"/>
          <p:cNvSpPr/>
          <p:nvPr/>
        </p:nvSpPr>
        <p:spPr>
          <a:xfrm>
            <a:off x="5796000" y="1512000"/>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60" name="Rectangle 59"/>
          <p:cNvSpPr/>
          <p:nvPr/>
        </p:nvSpPr>
        <p:spPr>
          <a:xfrm>
            <a:off x="432000" y="2232000"/>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250" b="1">
                <a:solidFill>
                  <a:srgbClr val="FFFFFF"/>
                </a:solidFill>
                <a:latin typeface="メイリオ"/>
                <a:ea typeface="メイリオ"/>
                <a:cs typeface="メイリオ"/>
              </a:rPr>
              <a:t>[個別チャット]</a:t>
            </a:r>
          </a:p>
        </p:txBody>
      </p:sp>
      <p:sp>
        <p:nvSpPr>
          <p:cNvPr id="61" name="Rectangle 60"/>
          <p:cNvSpPr/>
          <p:nvPr/>
        </p:nvSpPr>
        <p:spPr>
          <a:xfrm>
            <a:off x="1692000" y="2232000"/>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0">
                <a:solidFill>
                  <a:srgbClr val="333333"/>
                </a:solidFill>
                <a:latin typeface="メイリオ"/>
                <a:ea typeface="メイリオ"/>
                <a:cs typeface="メイリオ"/>
              </a:rPr>
              <a:t>志望校の相談や日程の調整は、平日14〜21時に教室スタッフが1対1で対応</a:t>
            </a:r>
          </a:p>
        </p:txBody>
      </p:sp>
      <p:sp>
        <p:nvSpPr>
          <p:cNvPr id="62" name="Rectangle 61"/>
          <p:cNvSpPr/>
          <p:nvPr/>
        </p:nvSpPr>
        <p:spPr>
          <a:xfrm>
            <a:off x="5796000" y="2232000"/>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63" name="Rectangle 62"/>
          <p:cNvSpPr/>
          <p:nvPr/>
        </p:nvSpPr>
        <p:spPr>
          <a:xfrm>
            <a:off x="432000" y="2951999"/>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250" b="1">
                <a:solidFill>
                  <a:srgbClr val="FFFFFF"/>
                </a:solidFill>
                <a:latin typeface="メイリオ"/>
                <a:ea typeface="メイリオ"/>
                <a:cs typeface="メイリオ"/>
              </a:rPr>
              <a:t>[その他]</a:t>
            </a:r>
          </a:p>
        </p:txBody>
      </p:sp>
      <p:sp>
        <p:nvSpPr>
          <p:cNvPr id="64" name="Rectangle 63"/>
          <p:cNvSpPr/>
          <p:nvPr/>
        </p:nvSpPr>
        <p:spPr>
          <a:xfrm>
            <a:off x="1692000" y="2951999"/>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0">
                <a:solidFill>
                  <a:srgbClr val="333333"/>
                </a:solidFill>
                <a:latin typeface="メイリオ"/>
                <a:ea typeface="メイリオ"/>
                <a:cs typeface="メイリオ"/>
              </a:rPr>
              <a:t>リッチメニューの右下に「無料体験・教室見学の予約」を常に置く</a:t>
            </a:r>
          </a:p>
        </p:txBody>
      </p:sp>
      <p:sp>
        <p:nvSpPr>
          <p:cNvPr id="65" name="Rectangle 64"/>
          <p:cNvSpPr/>
          <p:nvPr/>
        </p:nvSpPr>
        <p:spPr>
          <a:xfrm>
            <a:off x="5796000" y="2951999"/>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66" name="Rounded Rectangle 65"/>
          <p:cNvSpPr/>
          <p:nvPr/>
        </p:nvSpPr>
        <p:spPr>
          <a:xfrm>
            <a:off x="6840000" y="1475999"/>
            <a:ext cx="2628000" cy="47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7" name="Rectangle 66"/>
          <p:cNvSpPr/>
          <p:nvPr/>
        </p:nvSpPr>
        <p:spPr>
          <a:xfrm>
            <a:off x="6930000" y="1673999"/>
            <a:ext cx="2448000" cy="4356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8" name="Rectangle 67"/>
          <p:cNvSpPr/>
          <p:nvPr/>
        </p:nvSpPr>
        <p:spPr>
          <a:xfrm>
            <a:off x="6930000" y="1673999"/>
            <a:ext cx="2448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69" name="Rounded Rectangle 68"/>
          <p:cNvSpPr/>
          <p:nvPr/>
        </p:nvSpPr>
        <p:spPr>
          <a:xfrm>
            <a:off x="8082000" y="2033999"/>
            <a:ext cx="1188000" cy="288000"/>
          </a:xfrm>
          <a:prstGeom prst="roundRect">
            <a:avLst>
              <a:gd name="adj" fmla="val 30000"/>
            </a:avLst>
          </a:prstGeom>
          <a:solidFill>
            <a:srgbClr val="A6E3A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0">
                <a:solidFill>
                  <a:srgbClr val="333333"/>
                </a:solidFill>
                <a:latin typeface="メイリオ"/>
                <a:ea typeface="メイリオ"/>
                <a:cs typeface="メイリオ"/>
              </a:rPr>
              <a:t>料金はいくら？</a:t>
            </a:r>
          </a:p>
        </p:txBody>
      </p:sp>
      <p:sp>
        <p:nvSpPr>
          <p:cNvPr id="70" name="Rounded Rectangle 69"/>
          <p:cNvSpPr/>
          <p:nvPr/>
        </p:nvSpPr>
        <p:spPr>
          <a:xfrm>
            <a:off x="7020000" y="2394000"/>
            <a:ext cx="2015999" cy="93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950" b="0">
                <a:solidFill>
                  <a:srgbClr val="333333"/>
                </a:solidFill>
                <a:latin typeface="メイリオ"/>
                <a:ea typeface="メイリオ"/>
                <a:cs typeface="メイリオ"/>
              </a:rPr>
              <a:t>（自動応答）</a:t>
            </a:r>
          </a:p>
          <a:p>
            <a:pPr algn="l"/>
            <a:r>
              <a:rPr sz="950" b="0">
                <a:solidFill>
                  <a:srgbClr val="333333"/>
                </a:solidFill>
                <a:latin typeface="メイリオ"/>
                <a:ea typeface="メイリオ"/>
                <a:cs typeface="メイリオ"/>
              </a:rPr>
              <a:t>コース別の月謝の目安です👇</a:t>
            </a:r>
          </a:p>
          <a:p>
            <a:pPr algn="l"/>
            <a:r>
              <a:rPr sz="950" b="0">
                <a:solidFill>
                  <a:srgbClr val="333333"/>
                </a:solidFill>
                <a:latin typeface="メイリオ"/>
                <a:ea typeface="メイリオ"/>
                <a:cs typeface="メイリオ"/>
              </a:rPr>
              <a:t>・小学生　◯◯円〜</a:t>
            </a:r>
          </a:p>
          <a:p>
            <a:pPr algn="l"/>
            <a:r>
              <a:rPr sz="950" b="0">
                <a:solidFill>
                  <a:srgbClr val="333333"/>
                </a:solidFill>
                <a:latin typeface="メイリオ"/>
                <a:ea typeface="メイリオ"/>
                <a:cs typeface="メイリオ"/>
              </a:rPr>
              <a:t>・中学生　◯◯円〜</a:t>
            </a:r>
          </a:p>
          <a:p>
            <a:pPr algn="l"/>
            <a:r>
              <a:rPr sz="950" b="0">
                <a:solidFill>
                  <a:srgbClr val="333333"/>
                </a:solidFill>
                <a:latin typeface="メイリオ"/>
                <a:ea typeface="メイリオ"/>
                <a:cs typeface="メイリオ"/>
              </a:rPr>
              <a:t>講習費を含めた年間の目安は</a:t>
            </a:r>
          </a:p>
          <a:p>
            <a:pPr algn="l"/>
            <a:r>
              <a:rPr sz="950" b="0">
                <a:solidFill>
                  <a:srgbClr val="333333"/>
                </a:solidFill>
                <a:latin typeface="メイリオ"/>
                <a:ea typeface="メイリオ"/>
                <a:cs typeface="メイリオ"/>
              </a:rPr>
              <a:t>こちら▶</a:t>
            </a:r>
          </a:p>
        </p:txBody>
      </p:sp>
      <p:sp>
        <p:nvSpPr>
          <p:cNvPr id="71" name="Rounded Rectangle 70"/>
          <p:cNvSpPr/>
          <p:nvPr/>
        </p:nvSpPr>
        <p:spPr>
          <a:xfrm>
            <a:off x="7974000" y="3401999"/>
            <a:ext cx="1296000" cy="288000"/>
          </a:xfrm>
          <a:prstGeom prst="roundRect">
            <a:avLst>
              <a:gd name="adj" fmla="val 30000"/>
            </a:avLst>
          </a:prstGeom>
          <a:solidFill>
            <a:srgbClr val="A6E3A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0">
                <a:solidFill>
                  <a:srgbClr val="333333"/>
                </a:solidFill>
                <a:latin typeface="メイリオ"/>
                <a:ea typeface="メイリオ"/>
                <a:cs typeface="メイリオ"/>
              </a:rPr>
              <a:t>志望校の相談をしたい</a:t>
            </a:r>
          </a:p>
        </p:txBody>
      </p:sp>
      <p:sp>
        <p:nvSpPr>
          <p:cNvPr id="72" name="Rounded Rectangle 71"/>
          <p:cNvSpPr/>
          <p:nvPr/>
        </p:nvSpPr>
        <p:spPr>
          <a:xfrm>
            <a:off x="7020000" y="3761999"/>
            <a:ext cx="2015999" cy="684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950" b="0">
                <a:solidFill>
                  <a:srgbClr val="333333"/>
                </a:solidFill>
                <a:latin typeface="メイリオ"/>
                <a:ea typeface="メイリオ"/>
                <a:cs typeface="メイリオ"/>
              </a:rPr>
              <a:t>（教室長の佐藤です）</a:t>
            </a:r>
          </a:p>
          <a:p>
            <a:pPr algn="l"/>
            <a:r>
              <a:rPr sz="950" b="0">
                <a:solidFill>
                  <a:srgbClr val="333333"/>
                </a:solidFill>
                <a:latin typeface="メイリオ"/>
                <a:ea typeface="メイリオ"/>
                <a:cs typeface="メイリオ"/>
              </a:rPr>
              <a:t>ご相談ありがとうございます。</a:t>
            </a:r>
          </a:p>
          <a:p>
            <a:pPr algn="l"/>
            <a:r>
              <a:rPr sz="950" b="0">
                <a:solidFill>
                  <a:srgbClr val="333333"/>
                </a:solidFill>
                <a:latin typeface="メイリオ"/>
                <a:ea typeface="メイリオ"/>
                <a:cs typeface="メイリオ"/>
              </a:rPr>
              <a:t>お子さまの学年を教えて</a:t>
            </a:r>
          </a:p>
          <a:p>
            <a:pPr algn="l"/>
            <a:r>
              <a:rPr sz="950" b="0">
                <a:solidFill>
                  <a:srgbClr val="333333"/>
                </a:solidFill>
                <a:latin typeface="メイリオ"/>
                <a:ea typeface="メイリオ"/>
                <a:cs typeface="メイリオ"/>
              </a:rPr>
              <a:t>いただけますか？</a:t>
            </a:r>
          </a:p>
        </p:txBody>
      </p:sp>
      <p:sp>
        <p:nvSpPr>
          <p:cNvPr id="73" name="Rectangle 72"/>
          <p:cNvSpPr/>
          <p:nvPr/>
        </p:nvSpPr>
        <p:spPr>
          <a:xfrm>
            <a:off x="6930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30秒診断</a:t>
            </a:r>
          </a:p>
        </p:txBody>
      </p:sp>
      <p:sp>
        <p:nvSpPr>
          <p:cNvPr id="74" name="Rectangle 73"/>
          <p:cNvSpPr/>
          <p:nvPr/>
        </p:nvSpPr>
        <p:spPr>
          <a:xfrm>
            <a:off x="7746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コース・料金</a:t>
            </a:r>
          </a:p>
        </p:txBody>
      </p:sp>
      <p:sp>
        <p:nvSpPr>
          <p:cNvPr id="75" name="Rectangle 74"/>
          <p:cNvSpPr/>
          <p:nvPr/>
        </p:nvSpPr>
        <p:spPr>
          <a:xfrm>
            <a:off x="8562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教室・講師</a:t>
            </a:r>
          </a:p>
        </p:txBody>
      </p:sp>
      <p:sp>
        <p:nvSpPr>
          <p:cNvPr id="76" name="Rectangle 75"/>
          <p:cNvSpPr/>
          <p:nvPr/>
        </p:nvSpPr>
        <p:spPr>
          <a:xfrm>
            <a:off x="6930000" y="5418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資料を受け取る</a:t>
            </a:r>
          </a:p>
        </p:txBody>
      </p:sp>
      <p:sp>
        <p:nvSpPr>
          <p:cNvPr id="77" name="Rectangle 76"/>
          <p:cNvSpPr/>
          <p:nvPr/>
        </p:nvSpPr>
        <p:spPr>
          <a:xfrm>
            <a:off x="7746000" y="5418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友だちと体験</a:t>
            </a:r>
          </a:p>
        </p:txBody>
      </p:sp>
      <p:sp>
        <p:nvSpPr>
          <p:cNvPr id="78" name="Rectangle 77"/>
          <p:cNvSpPr/>
          <p:nvPr/>
        </p:nvSpPr>
        <p:spPr>
          <a:xfrm>
            <a:off x="8562000" y="5418000"/>
            <a:ext cx="816000" cy="612000"/>
          </a:xfrm>
          <a:prstGeom prst="rect">
            <a:avLst/>
          </a:prstGeom>
          <a:solidFill>
            <a:srgbClr val="C00000"/>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FFFFFF"/>
                </a:solidFill>
                <a:latin typeface="メイリオ"/>
                <a:ea typeface="メイリオ"/>
                <a:cs typeface="メイリオ"/>
              </a:rPr>
              <a:t>無料体験・</a:t>
            </a:r>
          </a:p>
          <a:p>
            <a:pPr algn="ctr"/>
            <a:r>
              <a:rPr sz="800" b="1">
                <a:solidFill>
                  <a:srgbClr val="FFFFFF"/>
                </a:solidFill>
                <a:latin typeface="メイリオ"/>
                <a:ea typeface="メイリオ"/>
                <a:cs typeface="メイリオ"/>
              </a:rPr>
              <a:t>見学の予約</a:t>
            </a:r>
          </a:p>
        </p:txBody>
      </p:sp>
      <p:sp>
        <p:nvSpPr>
          <p:cNvPr id="79" name="Rounded Rectangle 78"/>
          <p:cNvSpPr/>
          <p:nvPr/>
        </p:nvSpPr>
        <p:spPr>
          <a:xfrm>
            <a:off x="432000" y="3744000"/>
            <a:ext cx="6192000" cy="154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80" name="Rectangle 79"/>
          <p:cNvSpPr/>
          <p:nvPr/>
        </p:nvSpPr>
        <p:spPr>
          <a:xfrm>
            <a:off x="576000" y="3816000"/>
            <a:ext cx="5940000" cy="144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1F285A"/>
                </a:solidFill>
                <a:latin typeface="メイリオ"/>
                <a:ea typeface="メイリオ"/>
                <a:cs typeface="メイリオ"/>
              </a:rPr>
              <a:t>保護者にとって良くなること</a:t>
            </a:r>
          </a:p>
          <a:p>
            <a:pPr algn="l"/>
            <a:r>
              <a:rPr sz="1350" b="0">
                <a:solidFill>
                  <a:srgbClr val="333333"/>
                </a:solidFill>
                <a:latin typeface="メイリオ"/>
                <a:ea typeface="メイリオ"/>
                <a:cs typeface="メイリオ"/>
              </a:rPr>
              <a:t>・夜や休みの日でも、料金やコースがすぐ分かる</a:t>
            </a:r>
          </a:p>
          <a:p>
            <a:pPr algn="l"/>
            <a:r>
              <a:rPr sz="1350" b="0">
                <a:solidFill>
                  <a:srgbClr val="333333"/>
                </a:solidFill>
                <a:latin typeface="メイリオ"/>
                <a:ea typeface="メイリオ"/>
                <a:cs typeface="メイリオ"/>
              </a:rPr>
              <a:t>・電話をしなくても、LINEで気軽に相談できる</a:t>
            </a:r>
          </a:p>
          <a:p>
            <a:pPr algn="l"/>
            <a:r>
              <a:rPr sz="1350" b="0">
                <a:solidFill>
                  <a:srgbClr val="333333"/>
                </a:solidFill>
                <a:latin typeface="メイリオ"/>
                <a:ea typeface="メイリオ"/>
                <a:cs typeface="メイリオ"/>
              </a:rPr>
              <a:t>・体験の予約が、画面の右下からすぐできる</a:t>
            </a:r>
          </a:p>
        </p:txBody>
      </p:sp>
      <p:sp>
        <p:nvSpPr>
          <p:cNvPr id="81" name="Rounded Rectangle 80"/>
          <p:cNvSpPr/>
          <p:nvPr/>
        </p:nvSpPr>
        <p:spPr>
          <a:xfrm>
            <a:off x="432000" y="5436000"/>
            <a:ext cx="6192000" cy="720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すぐ答える仕組みが、</a:t>
            </a:r>
          </a:p>
          <a:p>
            <a:pPr algn="ctr"/>
            <a:r>
              <a:rPr sz="1500" b="1">
                <a:solidFill>
                  <a:srgbClr val="333333"/>
                </a:solidFill>
                <a:latin typeface="メイリオ"/>
                <a:ea typeface="メイリオ"/>
                <a:cs typeface="メイリオ"/>
              </a:rPr>
              <a:t>資料請求・体験予約の取りこぼしを減らす。</a:t>
            </a:r>
          </a:p>
        </p:txBody>
      </p:sp>
      <p:sp>
        <p:nvSpPr>
          <p:cNvPr id="82" name="Rectangle 81"/>
          <p:cNvSpPr/>
          <p:nvPr/>
        </p:nvSpPr>
        <p:spPr>
          <a:xfrm>
            <a:off x="9216000" y="6580800"/>
            <a:ext cx="576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r"/>
            <a:fld id="{8C1D2E3F-4A5B-4C6D-9E7F-000000000002}" type="slidenum">
              <a:rPr sz="1200" b="1">
                <a:solidFill>
                  <a:srgbClr val="FFFFFF"/>
                </a:solidFill>
                <a:latin typeface="メイリオ"/>
                <a:ea typeface="メイリオ"/>
                <a:cs typeface="メイリオ"/>
              </a:rPr>
              <a:t>39</a:t>
            </a:fld>
            <a:endParaRPr sz="1200" b="1">
              <a:solidFill>
                <a:srgbClr val="FFFFFF"/>
              </a:solidFill>
              <a:latin typeface="メイリオ"/>
              <a:ea typeface="メイリオ"/>
              <a:cs typeface="メイリオ"/>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施策の設計図④　効率改善（教室・運用側）</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教室の手間を増やさずに運用する。予約の受付・日程変更・持ち物の案内は、LINEで自動にする。</a:t>
            </a:r>
          </a:p>
          <a:p>
            <a:pPr algn="l">
              <a:lnSpc>
                <a:spcPct val="128000"/>
              </a:lnSpc>
            </a:pPr>
            <a:r>
              <a:rPr sz="1200">
                <a:solidFill>
                  <a:srgbClr val="333333"/>
                </a:solidFill>
                <a:latin typeface="メイリオ"/>
                <a:ea typeface="メイリオ"/>
                <a:cs typeface="メイリオ"/>
              </a:rPr>
              <a:t>LINE経由の資料請求・体験予約の数も、計測できるようにする。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※GA4のパラメータ（utm）でLINE経由の流入と資料請求・体験予約を計測。費用は月額費用内</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40" name="Rectangle 39"/>
          <p:cNvSpPr/>
          <p:nvPr/>
        </p:nvSpPr>
        <p:spPr>
          <a:xfrm>
            <a:off x="432000" y="1512000"/>
            <a:ext cx="1224000" cy="55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550" b="1">
                <a:solidFill>
                  <a:srgbClr val="FFFFFF"/>
                </a:solidFill>
                <a:latin typeface="メイリオ"/>
                <a:ea typeface="メイリオ"/>
                <a:cs typeface="メイリオ"/>
              </a:rPr>
              <a:t>[自動応答]</a:t>
            </a:r>
          </a:p>
        </p:txBody>
      </p:sp>
      <p:sp>
        <p:nvSpPr>
          <p:cNvPr id="41" name="Rectangle 40"/>
          <p:cNvSpPr/>
          <p:nvPr/>
        </p:nvSpPr>
        <p:spPr>
          <a:xfrm>
            <a:off x="1692000" y="1512000"/>
            <a:ext cx="6948000" cy="55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50" b="0">
                <a:solidFill>
                  <a:srgbClr val="333333"/>
                </a:solidFill>
                <a:latin typeface="メイリオ"/>
                <a:ea typeface="メイリオ"/>
                <a:cs typeface="メイリオ"/>
              </a:rPr>
              <a:t>体験予約の受付・日程の変更・持ち物の案内を、24時間自動で受け付ける</a:t>
            </a:r>
          </a:p>
        </p:txBody>
      </p:sp>
      <p:sp>
        <p:nvSpPr>
          <p:cNvPr id="42" name="Rectangle 41"/>
          <p:cNvSpPr/>
          <p:nvPr/>
        </p:nvSpPr>
        <p:spPr>
          <a:xfrm>
            <a:off x="8676000" y="1512000"/>
            <a:ext cx="799200" cy="55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43" name="Rectangle 42"/>
          <p:cNvSpPr/>
          <p:nvPr/>
        </p:nvSpPr>
        <p:spPr>
          <a:xfrm>
            <a:off x="432000" y="2142000"/>
            <a:ext cx="1224000" cy="55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550" b="1">
                <a:solidFill>
                  <a:srgbClr val="FFFFFF"/>
                </a:solidFill>
                <a:latin typeface="メイリオ"/>
                <a:ea typeface="メイリオ"/>
                <a:cs typeface="メイリオ"/>
              </a:rPr>
              <a:t>[その他]</a:t>
            </a:r>
          </a:p>
        </p:txBody>
      </p:sp>
      <p:sp>
        <p:nvSpPr>
          <p:cNvPr id="44" name="Rectangle 43"/>
          <p:cNvSpPr/>
          <p:nvPr/>
        </p:nvSpPr>
        <p:spPr>
          <a:xfrm>
            <a:off x="1692000" y="2142000"/>
            <a:ext cx="6948000" cy="55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50" b="0">
                <a:solidFill>
                  <a:srgbClr val="333333"/>
                </a:solidFill>
                <a:latin typeface="メイリオ"/>
                <a:ea typeface="メイリオ"/>
                <a:cs typeface="メイリオ"/>
              </a:rPr>
              <a:t>GA4のパラメータで、LINE経由の資料請求・体験予約の数を計測する</a:t>
            </a:r>
          </a:p>
        </p:txBody>
      </p:sp>
      <p:sp>
        <p:nvSpPr>
          <p:cNvPr id="45" name="Rectangle 44"/>
          <p:cNvSpPr/>
          <p:nvPr/>
        </p:nvSpPr>
        <p:spPr>
          <a:xfrm>
            <a:off x="8676000" y="2142000"/>
            <a:ext cx="799200" cy="55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46" name="Rectangle 45"/>
          <p:cNvSpPr/>
          <p:nvPr/>
        </p:nvSpPr>
        <p:spPr>
          <a:xfrm>
            <a:off x="432000" y="2826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300" b="1">
                <a:solidFill>
                  <a:srgbClr val="002060"/>
                </a:solidFill>
                <a:latin typeface="メイリオ"/>
                <a:ea typeface="メイリオ"/>
                <a:cs typeface="メイリオ"/>
              </a:rPr>
              <a:t>[自動応答]　体験予約の流れ（教室は当日迎えるだけ）</a:t>
            </a:r>
          </a:p>
        </p:txBody>
      </p:sp>
      <p:sp>
        <p:nvSpPr>
          <p:cNvPr id="47" name="Rounded Rectangle 46"/>
          <p:cNvSpPr/>
          <p:nvPr/>
        </p:nvSpPr>
        <p:spPr>
          <a:xfrm>
            <a:off x="43200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LINEで</a:t>
            </a:r>
          </a:p>
          <a:p>
            <a:pPr algn="ctr"/>
            <a:r>
              <a:rPr sz="1200" b="1">
                <a:solidFill>
                  <a:srgbClr val="1F285A"/>
                </a:solidFill>
                <a:latin typeface="メイリオ"/>
                <a:ea typeface="メイリオ"/>
                <a:cs typeface="メイリオ"/>
              </a:rPr>
              <a:t>「体験予約」</a:t>
            </a:r>
          </a:p>
        </p:txBody>
      </p:sp>
      <p:cxnSp>
        <p:nvCxnSpPr>
          <p:cNvPr id="48" name="Connector 47"/>
          <p:cNvCxnSpPr/>
          <p:nvPr/>
        </p:nvCxnSpPr>
        <p:spPr>
          <a:xfrm>
            <a:off x="177840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197424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日時を選ぶ</a:t>
            </a:r>
          </a:p>
          <a:p>
            <a:pPr algn="ctr"/>
            <a:r>
              <a:rPr sz="1200" b="1">
                <a:solidFill>
                  <a:srgbClr val="1F285A"/>
                </a:solidFill>
                <a:latin typeface="メイリオ"/>
                <a:ea typeface="メイリオ"/>
                <a:cs typeface="メイリオ"/>
              </a:rPr>
              <a:t>（空き枠）</a:t>
            </a:r>
          </a:p>
        </p:txBody>
      </p:sp>
      <p:cxnSp>
        <p:nvCxnSpPr>
          <p:cNvPr id="50" name="Connector 49"/>
          <p:cNvCxnSpPr/>
          <p:nvPr/>
        </p:nvCxnSpPr>
        <p:spPr>
          <a:xfrm>
            <a:off x="332064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3516479"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予約完了を</a:t>
            </a:r>
          </a:p>
          <a:p>
            <a:pPr algn="ctr"/>
            <a:r>
              <a:rPr sz="1200" b="1">
                <a:solidFill>
                  <a:srgbClr val="1F285A"/>
                </a:solidFill>
                <a:latin typeface="メイリオ"/>
                <a:ea typeface="メイリオ"/>
                <a:cs typeface="メイリオ"/>
              </a:rPr>
              <a:t>自動で送る</a:t>
            </a:r>
          </a:p>
        </p:txBody>
      </p:sp>
      <p:cxnSp>
        <p:nvCxnSpPr>
          <p:cNvPr id="52" name="Connector 51"/>
          <p:cNvCxnSpPr/>
          <p:nvPr/>
        </p:nvCxnSpPr>
        <p:spPr>
          <a:xfrm>
            <a:off x="486288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505872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前日に</a:t>
            </a:r>
          </a:p>
          <a:p>
            <a:pPr algn="ctr"/>
            <a:r>
              <a:rPr sz="1200" b="1">
                <a:solidFill>
                  <a:srgbClr val="1F285A"/>
                </a:solidFill>
                <a:latin typeface="メイリオ"/>
                <a:ea typeface="メイリオ"/>
                <a:cs typeface="メイリオ"/>
              </a:rPr>
              <a:t>持ち物・地図</a:t>
            </a:r>
          </a:p>
        </p:txBody>
      </p:sp>
      <p:cxnSp>
        <p:nvCxnSpPr>
          <p:cNvPr id="54" name="Connector 53"/>
          <p:cNvCxnSpPr/>
          <p:nvPr/>
        </p:nvCxnSpPr>
        <p:spPr>
          <a:xfrm>
            <a:off x="6405119" y="3510000"/>
            <a:ext cx="18144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6600959"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変更は</a:t>
            </a:r>
          </a:p>
          <a:p>
            <a:pPr algn="ctr"/>
            <a:r>
              <a:rPr sz="1200" b="1">
                <a:solidFill>
                  <a:srgbClr val="1F285A"/>
                </a:solidFill>
                <a:latin typeface="メイリオ"/>
                <a:ea typeface="メイリオ"/>
                <a:cs typeface="メイリオ"/>
              </a:rPr>
              <a:t>「変更」と送る</a:t>
            </a:r>
          </a:p>
        </p:txBody>
      </p:sp>
      <p:cxnSp>
        <p:nvCxnSpPr>
          <p:cNvPr id="56" name="Connector 55"/>
          <p:cNvCxnSpPr/>
          <p:nvPr/>
        </p:nvCxnSpPr>
        <p:spPr>
          <a:xfrm>
            <a:off x="7947359"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8143199" y="3096000"/>
            <a:ext cx="1332000" cy="827999"/>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教室は</a:t>
            </a:r>
          </a:p>
          <a:p>
            <a:pPr algn="ctr"/>
            <a:r>
              <a:rPr sz="1200" b="1">
                <a:solidFill>
                  <a:srgbClr val="FFFFFF"/>
                </a:solidFill>
                <a:latin typeface="メイリオ"/>
                <a:ea typeface="メイリオ"/>
                <a:cs typeface="メイリオ"/>
              </a:rPr>
              <a:t>迎えるだけ</a:t>
            </a:r>
          </a:p>
        </p:txBody>
      </p:sp>
      <p:sp>
        <p:nvSpPr>
          <p:cNvPr id="58" name="Rectangle 57"/>
          <p:cNvSpPr/>
          <p:nvPr/>
        </p:nvSpPr>
        <p:spPr>
          <a:xfrm>
            <a:off x="432000" y="4086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300" b="1">
                <a:solidFill>
                  <a:srgbClr val="002060"/>
                </a:solidFill>
                <a:latin typeface="メイリオ"/>
                <a:ea typeface="メイリオ"/>
                <a:cs typeface="メイリオ"/>
              </a:rPr>
              <a:t>[その他]　LINE経由の成果を数える</a:t>
            </a:r>
          </a:p>
        </p:txBody>
      </p:sp>
      <p:sp>
        <p:nvSpPr>
          <p:cNvPr id="59" name="Rounded Rectangle 58"/>
          <p:cNvSpPr/>
          <p:nvPr/>
        </p:nvSpPr>
        <p:spPr>
          <a:xfrm>
            <a:off x="4320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1F285A"/>
                </a:solidFill>
                <a:latin typeface="メイリオ"/>
                <a:ea typeface="メイリオ"/>
                <a:cs typeface="メイリオ"/>
              </a:rPr>
              <a:t>LINEの配信</a:t>
            </a:r>
          </a:p>
          <a:p>
            <a:pPr algn="ctr"/>
            <a:r>
              <a:rPr sz="1100" b="0">
                <a:solidFill>
                  <a:srgbClr val="7F7F7F"/>
                </a:solidFill>
                <a:latin typeface="メイリオ"/>
                <a:ea typeface="メイリオ"/>
                <a:cs typeface="メイリオ"/>
              </a:rPr>
              <a:t>リンクに目印を付ける</a:t>
            </a:r>
          </a:p>
        </p:txBody>
      </p:sp>
      <p:cxnSp>
        <p:nvCxnSpPr>
          <p:cNvPr id="60" name="Connector 59"/>
          <p:cNvCxnSpPr/>
          <p:nvPr/>
        </p:nvCxnSpPr>
        <p:spPr>
          <a:xfrm>
            <a:off x="2066400" y="4770000"/>
            <a:ext cx="2070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22878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1F285A"/>
                </a:solidFill>
                <a:latin typeface="メイリオ"/>
                <a:ea typeface="メイリオ"/>
                <a:cs typeface="メイリオ"/>
              </a:rPr>
              <a:t>サイト</a:t>
            </a:r>
          </a:p>
          <a:p>
            <a:pPr algn="ctr"/>
            <a:r>
              <a:rPr sz="1100" b="0">
                <a:solidFill>
                  <a:srgbClr val="7F7F7F"/>
                </a:solidFill>
                <a:latin typeface="メイリオ"/>
                <a:ea typeface="メイリオ"/>
                <a:cs typeface="メイリオ"/>
              </a:rPr>
              <a:t>GA4で見分ける</a:t>
            </a:r>
          </a:p>
        </p:txBody>
      </p:sp>
      <p:cxnSp>
        <p:nvCxnSpPr>
          <p:cNvPr id="62" name="Connector 61"/>
          <p:cNvCxnSpPr/>
          <p:nvPr/>
        </p:nvCxnSpPr>
        <p:spPr>
          <a:xfrm>
            <a:off x="3922200" y="4770000"/>
            <a:ext cx="2070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41436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00897B"/>
                </a:solidFill>
                <a:latin typeface="メイリオ"/>
                <a:ea typeface="メイリオ"/>
                <a:cs typeface="メイリオ"/>
              </a:rPr>
              <a:t>資料請求（CV①）</a:t>
            </a:r>
          </a:p>
          <a:p>
            <a:pPr algn="ctr"/>
            <a:r>
              <a:rPr sz="1100" b="0">
                <a:solidFill>
                  <a:srgbClr val="7F7F7F"/>
                </a:solidFill>
                <a:latin typeface="メイリオ"/>
                <a:ea typeface="メイリオ"/>
                <a:cs typeface="メイリオ"/>
              </a:rPr>
              <a:t>件数を計測</a:t>
            </a:r>
          </a:p>
        </p:txBody>
      </p:sp>
      <p:cxnSp>
        <p:nvCxnSpPr>
          <p:cNvPr id="64" name="Connector 63"/>
          <p:cNvCxnSpPr/>
          <p:nvPr/>
        </p:nvCxnSpPr>
        <p:spPr>
          <a:xfrm>
            <a:off x="5777999" y="4770000"/>
            <a:ext cx="20700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59994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00897B"/>
                </a:solidFill>
                <a:latin typeface="メイリオ"/>
                <a:ea typeface="メイリオ"/>
                <a:cs typeface="メイリオ"/>
              </a:rPr>
              <a:t>体験予約（CV②）</a:t>
            </a:r>
          </a:p>
          <a:p>
            <a:pPr algn="ctr"/>
            <a:r>
              <a:rPr sz="1100" b="0">
                <a:solidFill>
                  <a:srgbClr val="7F7F7F"/>
                </a:solidFill>
                <a:latin typeface="メイリオ"/>
                <a:ea typeface="メイリオ"/>
                <a:cs typeface="メイリオ"/>
              </a:rPr>
              <a:t>件数を計測</a:t>
            </a:r>
          </a:p>
        </p:txBody>
      </p:sp>
      <p:cxnSp>
        <p:nvCxnSpPr>
          <p:cNvPr id="66" name="Connector 65"/>
          <p:cNvCxnSpPr/>
          <p:nvPr/>
        </p:nvCxnSpPr>
        <p:spPr>
          <a:xfrm>
            <a:off x="7633799" y="4770000"/>
            <a:ext cx="20700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78552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1F285A"/>
                </a:solidFill>
                <a:latin typeface="メイリオ"/>
                <a:ea typeface="メイリオ"/>
                <a:cs typeface="メイリオ"/>
              </a:rPr>
              <a:t>月次レポート</a:t>
            </a:r>
          </a:p>
          <a:p>
            <a:pPr algn="ctr"/>
            <a:r>
              <a:rPr sz="1100" b="0">
                <a:solidFill>
                  <a:srgbClr val="7F7F7F"/>
                </a:solidFill>
                <a:latin typeface="メイリオ"/>
                <a:ea typeface="メイリオ"/>
                <a:cs typeface="メイリオ"/>
              </a:rPr>
              <a:t>定例会で共有</a:t>
            </a:r>
          </a:p>
        </p:txBody>
      </p:sp>
      <p:sp>
        <p:nvSpPr>
          <p:cNvPr id="68" name="Rounded Rectangle 67"/>
          <p:cNvSpPr/>
          <p:nvPr/>
        </p:nvSpPr>
        <p:spPr>
          <a:xfrm>
            <a:off x="432000" y="5436000"/>
            <a:ext cx="9043200" cy="684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教室の手間を増やさずに、LINE経由の成果が毎月数字で見える。</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成果の見方</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友だちの数は成果にしない。見るのは、資料請求・体験予約・入会の3つ。</a:t>
            </a:r>
          </a:p>
          <a:p>
            <a:pPr algn="l">
              <a:lnSpc>
                <a:spcPct val="128000"/>
              </a:lnSpc>
            </a:pPr>
            <a:r>
              <a:rPr sz="1200">
                <a:solidFill>
                  <a:srgbClr val="333333"/>
                </a:solidFill>
                <a:latin typeface="メイリオ"/>
                <a:ea typeface="メイリオ"/>
                <a:cs typeface="メイリオ"/>
              </a:rPr>
              <a:t>入会は教室で決まるため、3か月ごとに教室からご報告いただいて確認する。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レポートは月次の定例会で共有（費用内）</a:t>
            </a:r>
          </a:p>
        </p:txBody>
      </p:sp>
      <p:sp>
        <p:nvSpPr>
          <p:cNvPr id="13" name="Pentagon 12"/>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14" name="Chevron 13"/>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15" name="Chevron 14"/>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16" name="Chevron 15"/>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17" name="Chevron 16"/>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8" name="Chevron 17"/>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9" name="Chevron 18"/>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20" name="Chevron 19"/>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1" name="Rounded Rectangle 20"/>
          <p:cNvSpPr/>
          <p:nvPr/>
        </p:nvSpPr>
        <p:spPr>
          <a:xfrm>
            <a:off x="432000" y="1548000"/>
            <a:ext cx="4428000" cy="324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毎月見る</a:t>
            </a:r>
          </a:p>
        </p:txBody>
      </p:sp>
      <p:sp>
        <p:nvSpPr>
          <p:cNvPr id="22" name="Rounded Rectangle 21"/>
          <p:cNvSpPr/>
          <p:nvPr/>
        </p:nvSpPr>
        <p:spPr>
          <a:xfrm>
            <a:off x="432000" y="194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友だち追加数</a:t>
            </a:r>
          </a:p>
        </p:txBody>
      </p:sp>
      <p:sp>
        <p:nvSpPr>
          <p:cNvPr id="23" name="Rounded Rectangle 22"/>
          <p:cNvSpPr/>
          <p:nvPr/>
        </p:nvSpPr>
        <p:spPr>
          <a:xfrm>
            <a:off x="432000" y="2412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診断の回答数</a:t>
            </a:r>
          </a:p>
        </p:txBody>
      </p:sp>
      <p:sp>
        <p:nvSpPr>
          <p:cNvPr id="24" name="Rounded Rectangle 23"/>
          <p:cNvSpPr/>
          <p:nvPr/>
        </p:nvSpPr>
        <p:spPr>
          <a:xfrm>
            <a:off x="432000" y="2880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資料請求数（CV①）</a:t>
            </a:r>
          </a:p>
        </p:txBody>
      </p:sp>
      <p:sp>
        <p:nvSpPr>
          <p:cNvPr id="25" name="Rounded Rectangle 24"/>
          <p:cNvSpPr/>
          <p:nvPr/>
        </p:nvSpPr>
        <p:spPr>
          <a:xfrm>
            <a:off x="432000" y="3348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体験予約数（CV②）</a:t>
            </a:r>
          </a:p>
        </p:txBody>
      </p:sp>
      <p:sp>
        <p:nvSpPr>
          <p:cNvPr id="26" name="Rounded Rectangle 25"/>
          <p:cNvSpPr/>
          <p:nvPr/>
        </p:nvSpPr>
        <p:spPr>
          <a:xfrm>
            <a:off x="432000" y="3816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体験に来た数</a:t>
            </a:r>
          </a:p>
        </p:txBody>
      </p:sp>
      <p:sp>
        <p:nvSpPr>
          <p:cNvPr id="27" name="Rounded Rectangle 26"/>
          <p:cNvSpPr/>
          <p:nvPr/>
        </p:nvSpPr>
        <p:spPr>
          <a:xfrm>
            <a:off x="432000" y="428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ブロック率</a:t>
            </a:r>
          </a:p>
        </p:txBody>
      </p:sp>
      <p:sp>
        <p:nvSpPr>
          <p:cNvPr id="28" name="Rounded Rectangle 27"/>
          <p:cNvSpPr/>
          <p:nvPr/>
        </p:nvSpPr>
        <p:spPr>
          <a:xfrm>
            <a:off x="5047200" y="1548000"/>
            <a:ext cx="4428000" cy="324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3か月ごとに見る</a:t>
            </a:r>
          </a:p>
        </p:txBody>
      </p:sp>
      <p:sp>
        <p:nvSpPr>
          <p:cNvPr id="29" name="Rounded Rectangle 28"/>
          <p:cNvSpPr/>
          <p:nvPr/>
        </p:nvSpPr>
        <p:spPr>
          <a:xfrm>
            <a:off x="5047200" y="194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入会数（教室からご報告いただく）</a:t>
            </a:r>
          </a:p>
        </p:txBody>
      </p:sp>
      <p:sp>
        <p:nvSpPr>
          <p:cNvPr id="30" name="Rounded Rectangle 29"/>
          <p:cNvSpPr/>
          <p:nvPr/>
        </p:nvSpPr>
        <p:spPr>
          <a:xfrm>
            <a:off x="5047200" y="2412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体験 → 入会の割合</a:t>
            </a:r>
          </a:p>
        </p:txBody>
      </p:sp>
      <p:sp>
        <p:nvSpPr>
          <p:cNvPr id="31" name="Rounded Rectangle 30"/>
          <p:cNvSpPr/>
          <p:nvPr/>
        </p:nvSpPr>
        <p:spPr>
          <a:xfrm>
            <a:off x="5047200" y="2880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資料請求 → 体験予約の割合</a:t>
            </a:r>
          </a:p>
        </p:txBody>
      </p:sp>
      <p:sp>
        <p:nvSpPr>
          <p:cNvPr id="32" name="Rounded Rectangle 31"/>
          <p:cNvSpPr/>
          <p:nvPr/>
        </p:nvSpPr>
        <p:spPr>
          <a:xfrm>
            <a:off x="432000" y="4896000"/>
            <a:ext cx="9043200" cy="468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友だちの数ではなく、資料請求・体験予約・入会で見る。</a:t>
            </a:r>
          </a:p>
        </p:txBody>
      </p:sp>
    </p:spTree>
    <p:extLst>
      <p:ext uri="{BB962C8B-B14F-4D97-AF65-F5344CB8AC3E}">
        <p14:creationId xmlns:p14="http://schemas.microsoft.com/office/powerpoint/2010/main" val="35561967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改善したいフロー｜8フェーズのうち最大の課題</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入会までの8フェーズのうち、保護者が一番離れているのはどこか。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塾では、資料請求から体験予約までの間（⑤リード有効化）が、最大の課題になりやすいと考える。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3" name="Rectangle 12"/>
          <p:cNvSpPr/>
          <p:nvPr/>
        </p:nvSpPr>
        <p:spPr>
          <a:xfrm>
            <a:off x="429768" y="1600200"/>
            <a:ext cx="1106424" cy="384048"/>
          </a:xfrm>
          <a:prstGeom prst="homePlate">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①接触</a:t>
            </a:r>
            <a:endParaRPr lang="ja-JP" altLang="en-US" sz="1000" dirty="0"/>
          </a:p>
        </p:txBody>
      </p:sp>
      <p:sp>
        <p:nvSpPr>
          <p:cNvPr id="14" name="Rectangle 13"/>
          <p:cNvSpPr/>
          <p:nvPr/>
        </p:nvSpPr>
        <p:spPr>
          <a:xfrm>
            <a:off x="1560195" y="1600200"/>
            <a:ext cx="1106424" cy="384048"/>
          </a:xfrm>
          <a:prstGeom prst="chevron">
            <a:avLst/>
          </a:prstGeom>
          <a:solidFill>
            <a:srgbClr val="C9D3E6"/>
          </a:solidFill>
          <a:ln>
            <a:noFill/>
          </a:ln>
        </p:spPr>
        <p:txBody>
          <a:bodyPr wrap="square" lIns="91440" tIns="18288" rIns="18288" bIns="18288" rtlCol="0" anchor="ctr">
            <a:noAutofit/>
          </a:bodyPr>
          <a:lstStyle/>
          <a:p>
            <a:pPr algn="ctr">
              <a:buNone/>
            </a:pPr>
            <a:r>
              <a:rPr lang="ja-JP" altLang="en-US" sz="1000" b="1" dirty="0">
                <a:solidFill>
                  <a:srgbClr val="1F285A"/>
                </a:solidFill>
                <a:latin typeface="メイリオ" panose="020B0604030504040204" pitchFamily="50" charset="-128"/>
                <a:ea typeface="メイリオ" panose="020B0604030504040204" pitchFamily="50" charset="-128"/>
              </a:rPr>
              <a:t>②離脱</a:t>
            </a:r>
            <a:endParaRPr lang="ja-JP" altLang="en-US" sz="1000" dirty="0"/>
          </a:p>
        </p:txBody>
      </p:sp>
      <p:sp>
        <p:nvSpPr>
          <p:cNvPr id="15" name="Rectangle 14"/>
          <p:cNvSpPr/>
          <p:nvPr/>
        </p:nvSpPr>
        <p:spPr>
          <a:xfrm>
            <a:off x="2690622"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③育成</a:t>
            </a:r>
            <a:endParaRPr lang="ja-JP" altLang="en-US" sz="1000" dirty="0"/>
          </a:p>
        </p:txBody>
      </p:sp>
      <p:sp>
        <p:nvSpPr>
          <p:cNvPr id="16" name="Rectangle 15"/>
          <p:cNvSpPr/>
          <p:nvPr/>
        </p:nvSpPr>
        <p:spPr>
          <a:xfrm>
            <a:off x="3821049"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④リード獲得</a:t>
            </a:r>
            <a:endParaRPr lang="ja-JP" altLang="en-US" sz="1000" dirty="0"/>
          </a:p>
        </p:txBody>
      </p:sp>
      <p:sp>
        <p:nvSpPr>
          <p:cNvPr id="17" name="Rectangle 16"/>
          <p:cNvSpPr/>
          <p:nvPr/>
        </p:nvSpPr>
        <p:spPr>
          <a:xfrm>
            <a:off x="4951476" y="1600200"/>
            <a:ext cx="1106424" cy="384048"/>
          </a:xfrm>
          <a:prstGeom prst="chevron">
            <a:avLst/>
          </a:prstGeom>
          <a:solidFill>
            <a:srgbClr val="1F285A"/>
          </a:solidFill>
          <a:ln>
            <a:noFill/>
          </a:ln>
        </p:spPr>
        <p:txBody>
          <a:bodyPr wrap="square" lIns="91440" tIns="18288" rIns="18288" bIns="18288" rtlCol="0" anchor="ctr">
            <a:noAutofit/>
          </a:bodyPr>
          <a:lstStyle/>
          <a:p>
            <a:pPr algn="ctr">
              <a:buNone/>
            </a:pPr>
            <a:r>
              <a:rPr lang="ja-JP" altLang="en-US" sz="1000" b="1" dirty="0">
                <a:solidFill>
                  <a:srgbClr val="FFFFFF"/>
                </a:solidFill>
                <a:latin typeface="メイリオ" panose="020B0604030504040204" pitchFamily="50" charset="-128"/>
                <a:ea typeface="メイリオ" panose="020B0604030504040204" pitchFamily="50" charset="-128"/>
              </a:rPr>
              <a:t>⑤リード有効化</a:t>
            </a:r>
            <a:endParaRPr lang="ja-JP" altLang="en-US" sz="1000" dirty="0"/>
          </a:p>
        </p:txBody>
      </p:sp>
      <p:sp>
        <p:nvSpPr>
          <p:cNvPr id="18" name="Rectangle 17"/>
          <p:cNvSpPr/>
          <p:nvPr/>
        </p:nvSpPr>
        <p:spPr>
          <a:xfrm>
            <a:off x="6081903" y="1600200"/>
            <a:ext cx="1106424" cy="384048"/>
          </a:xfrm>
          <a:prstGeom prst="chevron">
            <a:avLst/>
          </a:prstGeom>
          <a:solidFill>
            <a:srgbClr val="C9D3E6"/>
          </a:solidFill>
          <a:ln>
            <a:noFill/>
          </a:ln>
        </p:spPr>
        <p:txBody>
          <a:bodyPr wrap="square" lIns="91440" tIns="18288" rIns="18288" bIns="18288" rtlCol="0" anchor="ctr">
            <a:noAutofit/>
          </a:bodyPr>
          <a:lstStyle/>
          <a:p>
            <a:pPr algn="ctr">
              <a:buNone/>
            </a:pPr>
            <a:r>
              <a:rPr lang="ja-JP" altLang="en-US" sz="1000" b="1" dirty="0">
                <a:solidFill>
                  <a:srgbClr val="1F285A"/>
                </a:solidFill>
                <a:latin typeface="メイリオ" panose="020B0604030504040204" pitchFamily="50" charset="-128"/>
                <a:ea typeface="メイリオ" panose="020B0604030504040204" pitchFamily="50" charset="-128"/>
              </a:rPr>
              <a:t>⑥再育成</a:t>
            </a:r>
            <a:endParaRPr lang="ja-JP" altLang="en-US" sz="1000" dirty="0"/>
          </a:p>
        </p:txBody>
      </p:sp>
      <p:sp>
        <p:nvSpPr>
          <p:cNvPr id="19" name="Rectangle 18"/>
          <p:cNvSpPr/>
          <p:nvPr/>
        </p:nvSpPr>
        <p:spPr>
          <a:xfrm>
            <a:off x="7212330"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⑦入会（契約）</a:t>
            </a:r>
            <a:endParaRPr lang="ja-JP" altLang="en-US" sz="1000" dirty="0"/>
          </a:p>
        </p:txBody>
      </p:sp>
      <p:sp>
        <p:nvSpPr>
          <p:cNvPr id="20" name="Rectangle 19"/>
          <p:cNvSpPr/>
          <p:nvPr/>
        </p:nvSpPr>
        <p:spPr>
          <a:xfrm>
            <a:off x="8342757"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⑧紹介</a:t>
            </a:r>
            <a:endParaRPr lang="ja-JP" altLang="en-US" sz="1000" dirty="0"/>
          </a:p>
        </p:txBody>
      </p:sp>
      <p:sp>
        <p:nvSpPr>
          <p:cNvPr id="21" name="Rounded Rectangle 20"/>
          <p:cNvSpPr/>
          <p:nvPr/>
        </p:nvSpPr>
        <p:spPr>
          <a:xfrm>
            <a:off x="4773168" y="2057400"/>
            <a:ext cx="1463040" cy="274320"/>
          </a:xfrm>
          <a:prstGeom prst="roundRect">
            <a:avLst/>
          </a:prstGeom>
          <a:solidFill>
            <a:srgbClr val="C00000"/>
          </a:solidFill>
          <a:ln>
            <a:noFill/>
          </a:ln>
        </p:spPr>
        <p:txBody>
          <a:bodyPr wrap="square" lIns="18288" tIns="0" rIns="18288"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最大の課題</a:t>
            </a:r>
            <a:endParaRPr lang="ja-JP" altLang="en-US" sz="1100" dirty="0"/>
          </a:p>
        </p:txBody>
      </p:sp>
      <p:sp>
        <p:nvSpPr>
          <p:cNvPr id="22" name="Rounded Rectangle 21"/>
          <p:cNvSpPr/>
          <p:nvPr/>
        </p:nvSpPr>
        <p:spPr>
          <a:xfrm>
            <a:off x="429768" y="2514600"/>
            <a:ext cx="2880360" cy="26060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23" name="Rounded Rectangle 22"/>
          <p:cNvSpPr/>
          <p:nvPr/>
        </p:nvSpPr>
        <p:spPr>
          <a:xfrm>
            <a:off x="429768" y="2514600"/>
            <a:ext cx="2880360" cy="411480"/>
          </a:xfrm>
          <a:prstGeom prst="roundRect">
            <a:avLst>
              <a:gd name="adj" fmla="val 12000"/>
            </a:avLst>
          </a:prstGeom>
          <a:solidFill>
            <a:srgbClr val="C9D3E6"/>
          </a:solidFill>
          <a:ln>
            <a:noFill/>
          </a:ln>
        </p:spPr>
        <p:txBody>
          <a:bodyPr wrap="square" lIns="73152" tIns="36576" rIns="73152" bIns="36576" rtlCol="0" anchor="ctr">
            <a:noAutofit/>
          </a:bodyPr>
          <a:lstStyle/>
          <a:p>
            <a:pPr algn="ctr">
              <a:buNone/>
            </a:pPr>
            <a:r>
              <a:rPr lang="ja-JP" altLang="en-US" sz="1550" b="1" dirty="0">
                <a:solidFill>
                  <a:srgbClr val="1F285A"/>
                </a:solidFill>
                <a:latin typeface="メイリオ" panose="020B0604030504040204" pitchFamily="50" charset="-128"/>
                <a:ea typeface="メイリオ" panose="020B0604030504040204" pitchFamily="50" charset="-128"/>
              </a:rPr>
              <a:t>② 離脱</a:t>
            </a:r>
            <a:endParaRPr lang="ja-JP" altLang="en-US" sz="1550" dirty="0"/>
          </a:p>
        </p:txBody>
      </p:sp>
      <p:sp>
        <p:nvSpPr>
          <p:cNvPr id="24" name="Rectangle 23"/>
          <p:cNvSpPr/>
          <p:nvPr/>
        </p:nvSpPr>
        <p:spPr>
          <a:xfrm>
            <a:off x="566928"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起きやすいこと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サイトを訪れても、問い合わせをせずに離れる保護者が多い。</a:t>
            </a:r>
            <a:endParaRPr lang="ja-JP" altLang="en-US" sz="1250" dirty="0"/>
          </a:p>
        </p:txBody>
      </p:sp>
      <p:sp>
        <p:nvSpPr>
          <p:cNvPr id="25" name="Rectangle 24"/>
          <p:cNvSpPr/>
          <p:nvPr/>
        </p:nvSpPr>
        <p:spPr>
          <a:xfrm>
            <a:off x="566928"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離脱防止ポップアップで、サイトを離れる前にLINEの友だちになっていただく。</a:t>
            </a:r>
            <a:endParaRPr lang="ja-JP" altLang="en-US" sz="1250" dirty="0"/>
          </a:p>
        </p:txBody>
      </p:sp>
      <p:sp>
        <p:nvSpPr>
          <p:cNvPr id="26" name="Rounded Rectangle 25"/>
          <p:cNvSpPr/>
          <p:nvPr/>
        </p:nvSpPr>
        <p:spPr>
          <a:xfrm>
            <a:off x="3511296" y="2514600"/>
            <a:ext cx="2880360" cy="2606040"/>
          </a:xfrm>
          <a:prstGeom prst="roundRect">
            <a:avLst>
              <a:gd name="adj" fmla="val 5000"/>
            </a:avLst>
          </a:prstGeom>
          <a:solidFill>
            <a:srgbClr val="FFFFFF"/>
          </a:solidFill>
          <a:ln w="28575">
            <a:solidFill>
              <a:srgbClr val="1F285A"/>
            </a:solidFill>
          </a:ln>
        </p:spPr>
        <p:txBody>
          <a:bodyPr wrap="square" lIns="73152" tIns="36576" rIns="73152" bIns="36576" rtlCol="0" anchor="ctr">
            <a:noAutofit/>
          </a:bodyPr>
          <a:lstStyle/>
          <a:p>
            <a:pPr algn="l">
              <a:buNone/>
            </a:pPr>
            <a:endParaRPr lang="ja-JP" altLang="en-US" sz="1200" dirty="0"/>
          </a:p>
        </p:txBody>
      </p:sp>
      <p:sp>
        <p:nvSpPr>
          <p:cNvPr id="27" name="Rounded Rectangle 26"/>
          <p:cNvSpPr/>
          <p:nvPr/>
        </p:nvSpPr>
        <p:spPr>
          <a:xfrm>
            <a:off x="3511296" y="2514600"/>
            <a:ext cx="2880360" cy="411480"/>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550" b="1" dirty="0">
                <a:solidFill>
                  <a:srgbClr val="FFFFFF"/>
                </a:solidFill>
                <a:latin typeface="メイリオ" panose="020B0604030504040204" pitchFamily="50" charset="-128"/>
                <a:ea typeface="メイリオ" panose="020B0604030504040204" pitchFamily="50" charset="-128"/>
              </a:rPr>
              <a:t>⑤ リード有効化</a:t>
            </a:r>
            <a:endParaRPr lang="ja-JP" altLang="en-US" sz="1550" dirty="0"/>
          </a:p>
        </p:txBody>
      </p:sp>
      <p:sp>
        <p:nvSpPr>
          <p:cNvPr id="28" name="Rectangle 27"/>
          <p:cNvSpPr/>
          <p:nvPr/>
        </p:nvSpPr>
        <p:spPr>
          <a:xfrm>
            <a:off x="3648456"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起きやすいこと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資料請求のあと、体験予約までの間に「読んで・比べて・迷う」期間があり、ここで他の塾に流れやすい。</a:t>
            </a:r>
            <a:endParaRPr lang="ja-JP" altLang="en-US" sz="1250" dirty="0"/>
          </a:p>
        </p:txBody>
      </p:sp>
      <p:sp>
        <p:nvSpPr>
          <p:cNvPr id="29" name="Rectangle 28"/>
          <p:cNvSpPr/>
          <p:nvPr/>
        </p:nvSpPr>
        <p:spPr>
          <a:xfrm>
            <a:off x="3648456"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迷っている間も配信を届け続け、体験予約につなげる。</a:t>
            </a:r>
            <a:endParaRPr lang="ja-JP" altLang="en-US" sz="1250" dirty="0"/>
          </a:p>
        </p:txBody>
      </p:sp>
      <p:sp>
        <p:nvSpPr>
          <p:cNvPr id="30" name="Rounded Rectangle 29"/>
          <p:cNvSpPr/>
          <p:nvPr/>
        </p:nvSpPr>
        <p:spPr>
          <a:xfrm>
            <a:off x="6592824" y="2514600"/>
            <a:ext cx="2880360" cy="26060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31" name="Rounded Rectangle 30"/>
          <p:cNvSpPr/>
          <p:nvPr/>
        </p:nvSpPr>
        <p:spPr>
          <a:xfrm>
            <a:off x="6592824" y="2514600"/>
            <a:ext cx="2880360" cy="411480"/>
          </a:xfrm>
          <a:prstGeom prst="roundRect">
            <a:avLst>
              <a:gd name="adj" fmla="val 12000"/>
            </a:avLst>
          </a:prstGeom>
          <a:solidFill>
            <a:srgbClr val="C9D3E6"/>
          </a:solidFill>
          <a:ln>
            <a:noFill/>
          </a:ln>
        </p:spPr>
        <p:txBody>
          <a:bodyPr wrap="square" lIns="73152" tIns="36576" rIns="73152" bIns="36576" rtlCol="0" anchor="ctr">
            <a:noAutofit/>
          </a:bodyPr>
          <a:lstStyle/>
          <a:p>
            <a:pPr algn="ctr">
              <a:buNone/>
            </a:pPr>
            <a:r>
              <a:rPr lang="ja-JP" altLang="en-US" sz="1550" b="1" dirty="0">
                <a:solidFill>
                  <a:srgbClr val="1F285A"/>
                </a:solidFill>
                <a:latin typeface="メイリオ" panose="020B0604030504040204" pitchFamily="50" charset="-128"/>
                <a:ea typeface="メイリオ" panose="020B0604030504040204" pitchFamily="50" charset="-128"/>
              </a:rPr>
              <a:t>⑥ 再育成</a:t>
            </a:r>
            <a:endParaRPr lang="ja-JP" altLang="en-US" sz="1550" dirty="0"/>
          </a:p>
        </p:txBody>
      </p:sp>
      <p:sp>
        <p:nvSpPr>
          <p:cNvPr id="32" name="Rectangle 31"/>
          <p:cNvSpPr/>
          <p:nvPr/>
        </p:nvSpPr>
        <p:spPr>
          <a:xfrm>
            <a:off x="6729984"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起きやすいこと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体験に来なかった・入会しなかった保護者とは、つながりが途切れやすい。</a:t>
            </a:r>
            <a:endParaRPr lang="ja-JP" altLang="en-US" sz="1250" dirty="0"/>
          </a:p>
        </p:txBody>
      </p:sp>
      <p:sp>
        <p:nvSpPr>
          <p:cNvPr id="33" name="Rectangle 32"/>
          <p:cNvSpPr/>
          <p:nvPr/>
        </p:nvSpPr>
        <p:spPr>
          <a:xfrm>
            <a:off x="6729984"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時期に合わせた企画配信で、もう一度ご案内する。</a:t>
            </a:r>
            <a:endParaRPr lang="ja-JP" altLang="en-US" sz="1250" dirty="0"/>
          </a:p>
        </p:txBody>
      </p:sp>
      <p:sp>
        <p:nvSpPr>
          <p:cNvPr id="34" name="Rounded Rectangle 33"/>
          <p:cNvSpPr/>
          <p:nvPr/>
        </p:nvSpPr>
        <p:spPr>
          <a:xfrm>
            <a:off x="429768" y="5394960"/>
            <a:ext cx="9043416" cy="457200"/>
          </a:xfrm>
          <a:prstGeom prst="roundRect">
            <a:avLst/>
          </a:prstGeom>
          <a:solidFill>
            <a:srgbClr val="1F285A"/>
          </a:solidFill>
          <a:ln>
            <a:noFill/>
          </a:ln>
        </p:spPr>
        <p:txBody>
          <a:bodyPr wrap="square" lIns="73152" tIns="36576" rIns="73152" bIns="36576" rtlCol="0" anchor="ctr">
            <a:noAutofit/>
          </a:bodyPr>
          <a:lstStyle/>
          <a:p>
            <a:pPr algn="ctr">
              <a:buNone/>
            </a:pPr>
            <a:r>
              <a:rPr lang="ja-JP" altLang="en-US" sz="1550" b="1" dirty="0">
                <a:solidFill>
                  <a:srgbClr val="FFFFFF"/>
                </a:solidFill>
                <a:latin typeface="メイリオ" panose="020B0604030504040204" pitchFamily="50" charset="-128"/>
                <a:ea typeface="メイリオ" panose="020B0604030504040204" pitchFamily="50" charset="-128"/>
              </a:rPr>
              <a:t>貴塾で最も改善したいフェーズを伺い、それに合わせたプランをご提案する。</a:t>
            </a:r>
            <a:endParaRPr lang="ja-JP" altLang="en-US" sz="1550" dirty="0"/>
          </a:p>
        </p:txBody>
      </p:sp>
    </p:spTree>
    <p:extLst>
      <p:ext uri="{BB962C8B-B14F-4D97-AF65-F5344CB8AC3E}">
        <p14:creationId xmlns:p14="http://schemas.microsoft.com/office/powerpoint/2010/main" val="15729428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ご提供プラン</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ご予算と最大の課題に合わせて、3つのプランから選べる。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いずれも6か月〜の契約・税抜。開発やツール導入は別途費用。</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29768" y="1600200"/>
            <a:ext cx="2880360" cy="868680"/>
          </a:xfrm>
          <a:prstGeom prst="roundRect">
            <a:avLst>
              <a:gd name="adj" fmla="val 10000"/>
            </a:avLst>
          </a:prstGeom>
          <a:solidFill>
            <a:srgbClr val="1F285A"/>
          </a:solidFill>
          <a:ln>
            <a:noFill/>
          </a:ln>
        </p:spPr>
        <p:txBody>
          <a:bodyPr wrap="square" lIns="54864" tIns="18288" rIns="54864" bIns="36576" rtlCol="0" anchor="ctr">
            <a:noAutofit/>
          </a:bodyPr>
          <a:lstStyle/>
          <a:p>
            <a:pPr algn="ctr">
              <a:lnSpc>
                <a:spcPct val="100000"/>
              </a:lnSpc>
              <a:buNone/>
            </a:pPr>
            <a:r>
              <a:rPr lang="ja-JP" altLang="en-US" sz="2200" b="1" dirty="0">
                <a:solidFill>
                  <a:srgbClr val="FFFFFF"/>
                </a:solidFill>
                <a:latin typeface="メイリオ" panose="020B0604030504040204" pitchFamily="50" charset="-128"/>
                <a:ea typeface="メイリオ" panose="020B0604030504040204" pitchFamily="50" charset="-128"/>
              </a:rPr>
              <a:t>プラン①</a:t>
            </a:r>
            <a:endParaRPr lang="ja-JP" altLang="en-US" sz="22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構築から配信の運用まで</a:t>
            </a:r>
            <a:endParaRPr lang="ja-JP" altLang="en-US" sz="2200" dirty="0"/>
          </a:p>
        </p:txBody>
      </p:sp>
      <p:sp>
        <p:nvSpPr>
          <p:cNvPr id="14" name="Rounded Rectangle 13"/>
          <p:cNvSpPr/>
          <p:nvPr/>
        </p:nvSpPr>
        <p:spPr>
          <a:xfrm>
            <a:off x="429768"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5" name="Rectangle 14"/>
          <p:cNvSpPr/>
          <p:nvPr/>
        </p:nvSpPr>
        <p:spPr>
          <a:xfrm>
            <a:off x="594359"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・企画配信 月4〜5本（週1回）</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・ステップ配信 10通</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・API連携なども含めて対応可能</a:t>
            </a:r>
            <a:endParaRPr lang="ja-JP" altLang="en-US" sz="1300" dirty="0"/>
          </a:p>
        </p:txBody>
      </p:sp>
      <p:sp>
        <p:nvSpPr>
          <p:cNvPr id="16" name="Rounded Rectangle 15"/>
          <p:cNvSpPr/>
          <p:nvPr/>
        </p:nvSpPr>
        <p:spPr>
          <a:xfrm>
            <a:off x="429768"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30万円〜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10万円〜</a:t>
            </a:r>
            <a:endParaRPr lang="ja-JP" altLang="en-US" sz="1700" dirty="0"/>
          </a:p>
        </p:txBody>
      </p:sp>
      <p:sp>
        <p:nvSpPr>
          <p:cNvPr id="17" name="Rounded Rectangle 16"/>
          <p:cNvSpPr/>
          <p:nvPr/>
        </p:nvSpPr>
        <p:spPr>
          <a:xfrm>
            <a:off x="3511296" y="1600200"/>
            <a:ext cx="2880360" cy="868680"/>
          </a:xfrm>
          <a:prstGeom prst="roundRect">
            <a:avLst>
              <a:gd name="adj" fmla="val 10000"/>
            </a:avLst>
          </a:prstGeom>
          <a:solidFill>
            <a:srgbClr val="3E5B9A"/>
          </a:solidFill>
          <a:ln>
            <a:noFill/>
          </a:ln>
        </p:spPr>
        <p:txBody>
          <a:bodyPr wrap="square" lIns="54864" tIns="18288" rIns="54864" bIns="36576" rtlCol="0" anchor="ctr">
            <a:noAutofit/>
          </a:bodyPr>
          <a:lstStyle/>
          <a:p>
            <a:pPr algn="ctr">
              <a:lnSpc>
                <a:spcPct val="100000"/>
              </a:lnSpc>
              <a:buNone/>
            </a:pPr>
            <a:r>
              <a:rPr lang="ja-JP" altLang="en-US" sz="2200" b="1" dirty="0">
                <a:solidFill>
                  <a:srgbClr val="FFFFFF"/>
                </a:solidFill>
                <a:latin typeface="メイリオ" panose="020B0604030504040204" pitchFamily="50" charset="-128"/>
                <a:ea typeface="メイリオ" panose="020B0604030504040204" pitchFamily="50" charset="-128"/>
              </a:rPr>
              <a:t>プラン②</a:t>
            </a:r>
            <a:endParaRPr lang="ja-JP" altLang="en-US" sz="22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構築＋新しい友だちを増やす</a:t>
            </a:r>
            <a:endParaRPr lang="ja-JP" altLang="en-US" sz="2200" dirty="0"/>
          </a:p>
        </p:txBody>
      </p:sp>
      <p:sp>
        <p:nvSpPr>
          <p:cNvPr id="18" name="Rounded Rectangle 17"/>
          <p:cNvSpPr/>
          <p:nvPr/>
        </p:nvSpPr>
        <p:spPr>
          <a:xfrm>
            <a:off x="3511296"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9" name="Rectangle 18"/>
          <p:cNvSpPr/>
          <p:nvPr/>
        </p:nvSpPr>
        <p:spPr>
          <a:xfrm>
            <a:off x="3675887"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・初期構築</a:t>
            </a:r>
            <a:endParaRPr lang="ja-JP" altLang="en-US" sz="1400" dirty="0"/>
          </a:p>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・企画配信 月1〜2本</a:t>
            </a:r>
            <a:endParaRPr lang="ja-JP" altLang="en-US" sz="1400" dirty="0"/>
          </a:p>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・新しい友だちを増やすツール・機能の導入</a:t>
            </a:r>
            <a:endParaRPr lang="ja-JP" altLang="en-US" sz="1400" dirty="0"/>
          </a:p>
          <a:p>
            <a:pPr marL="146304" indent="-146304" algn="l">
              <a:lnSpc>
                <a:spcPct val="115000"/>
              </a:lnSpc>
              <a:spcAft>
                <a:spcPts val="600"/>
              </a:spcAft>
              <a:buNone/>
            </a:pPr>
            <a:r>
              <a:rPr lang="ja-JP" altLang="en-US" sz="1200" b="0" dirty="0">
                <a:solidFill>
                  <a:srgbClr val="7F7F7F"/>
                </a:solidFill>
                <a:latin typeface="メイリオ" panose="020B0604030504040204" pitchFamily="50" charset="-128"/>
                <a:ea typeface="メイリオ" panose="020B0604030504040204" pitchFamily="50" charset="-128"/>
              </a:rPr>
              <a:t>・例：離脱防止ポップアップ</a:t>
            </a:r>
            <a:endParaRPr lang="ja-JP" altLang="en-US" sz="1400" dirty="0"/>
          </a:p>
        </p:txBody>
      </p:sp>
      <p:sp>
        <p:nvSpPr>
          <p:cNvPr id="20" name="Rounded Rectangle 19"/>
          <p:cNvSpPr/>
          <p:nvPr/>
        </p:nvSpPr>
        <p:spPr>
          <a:xfrm>
            <a:off x="3511296"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5万円〜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5万円〜</a:t>
            </a:r>
            <a:endParaRPr lang="ja-JP" altLang="en-US" sz="1700" dirty="0"/>
          </a:p>
        </p:txBody>
      </p:sp>
      <p:sp>
        <p:nvSpPr>
          <p:cNvPr id="21" name="Rounded Rectangle 20"/>
          <p:cNvSpPr/>
          <p:nvPr/>
        </p:nvSpPr>
        <p:spPr>
          <a:xfrm>
            <a:off x="6592824" y="1600200"/>
            <a:ext cx="2880360" cy="868680"/>
          </a:xfrm>
          <a:prstGeom prst="roundRect">
            <a:avLst>
              <a:gd name="adj" fmla="val 10000"/>
            </a:avLst>
          </a:prstGeom>
          <a:solidFill>
            <a:srgbClr val="C9D3E6"/>
          </a:solidFill>
          <a:ln>
            <a:noFill/>
          </a:ln>
        </p:spPr>
        <p:txBody>
          <a:bodyPr wrap="square" lIns="54864" tIns="18288" rIns="54864" bIns="36576" rtlCol="0" anchor="ctr">
            <a:noAutofit/>
          </a:bodyPr>
          <a:lstStyle/>
          <a:p>
            <a:pPr algn="ctr">
              <a:lnSpc>
                <a:spcPct val="100000"/>
              </a:lnSpc>
              <a:buNone/>
            </a:pPr>
            <a:r>
              <a:rPr lang="ja-JP" altLang="en-US" sz="2200" b="1" dirty="0">
                <a:solidFill>
                  <a:srgbClr val="1F285A"/>
                </a:solidFill>
                <a:latin typeface="メイリオ" panose="020B0604030504040204" pitchFamily="50" charset="-128"/>
                <a:ea typeface="メイリオ" panose="020B0604030504040204" pitchFamily="50" charset="-128"/>
              </a:rPr>
              <a:t>プラン③</a:t>
            </a:r>
            <a:endParaRPr lang="ja-JP" altLang="en-US" sz="2200" dirty="0"/>
          </a:p>
          <a:p>
            <a:pPr algn="ctr">
              <a:lnSpc>
                <a:spcPct val="100000"/>
              </a:lnSpc>
              <a:buNone/>
            </a:pPr>
            <a:r>
              <a:rPr lang="ja-JP" altLang="en-US" sz="1150" b="0" dirty="0">
                <a:solidFill>
                  <a:srgbClr val="1F285A"/>
                </a:solidFill>
                <a:latin typeface="メイリオ" panose="020B0604030504040204" pitchFamily="50" charset="-128"/>
                <a:ea typeface="メイリオ" panose="020B0604030504040204" pitchFamily="50" charset="-128"/>
              </a:rPr>
              <a:t>ツールの導入を支援</a:t>
            </a:r>
            <a:endParaRPr lang="ja-JP" altLang="en-US" sz="2200" dirty="0"/>
          </a:p>
        </p:txBody>
      </p:sp>
      <p:sp>
        <p:nvSpPr>
          <p:cNvPr id="22" name="Rounded Rectangle 21"/>
          <p:cNvSpPr/>
          <p:nvPr/>
        </p:nvSpPr>
        <p:spPr>
          <a:xfrm>
            <a:off x="6592824"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23" name="Rectangle 22"/>
          <p:cNvSpPr/>
          <p:nvPr/>
        </p:nvSpPr>
        <p:spPr>
          <a:xfrm>
            <a:off x="6757416"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・ツールの導入支援</a:t>
            </a:r>
            <a:endParaRPr lang="ja-JP" altLang="en-US" sz="1400" dirty="0"/>
          </a:p>
          <a:p>
            <a:pPr marL="146304" indent="-146304" algn="l">
              <a:lnSpc>
                <a:spcPct val="115000"/>
              </a:lnSpc>
              <a:spcAft>
                <a:spcPts val="600"/>
              </a:spcAft>
              <a:buNone/>
            </a:pPr>
            <a:r>
              <a:rPr lang="ja-JP" altLang="en-US" sz="1200" b="0" dirty="0">
                <a:solidFill>
                  <a:srgbClr val="7F7F7F"/>
                </a:solidFill>
                <a:latin typeface="メイリオ" panose="020B0604030504040204" pitchFamily="50" charset="-128"/>
                <a:ea typeface="メイリオ" panose="020B0604030504040204" pitchFamily="50" charset="-128"/>
              </a:rPr>
              <a:t>・例：サンクスLINE誘導のみ（申し込み完了画面からLINEへ）</a:t>
            </a:r>
            <a:endParaRPr lang="ja-JP" altLang="en-US" sz="1400" dirty="0"/>
          </a:p>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・初期構築</a:t>
            </a:r>
            <a:endParaRPr lang="ja-JP" altLang="en-US" sz="1400" dirty="0"/>
          </a:p>
        </p:txBody>
      </p:sp>
      <p:sp>
        <p:nvSpPr>
          <p:cNvPr id="24" name="Rounded Rectangle 23"/>
          <p:cNvSpPr/>
          <p:nvPr/>
        </p:nvSpPr>
        <p:spPr>
          <a:xfrm>
            <a:off x="6592824"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0円〜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10万円〜</a:t>
            </a:r>
            <a:endParaRPr lang="ja-JP" altLang="en-US" sz="1700" dirty="0"/>
          </a:p>
        </p:txBody>
      </p:sp>
    </p:spTree>
    <p:extLst>
      <p:ext uri="{BB962C8B-B14F-4D97-AF65-F5344CB8AC3E}">
        <p14:creationId xmlns:p14="http://schemas.microsoft.com/office/powerpoint/2010/main" val="32110468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ご提供プラン</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ご予算と最大の課題に合わせて、3つのプランからお選びいただけます。</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いずれも6か月〜の契約・税抜。開発やツール導入の場合は別途費用が発生します。</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29768" y="1600200"/>
            <a:ext cx="2880360" cy="868680"/>
          </a:xfrm>
          <a:prstGeom prst="roundRect">
            <a:avLst>
              <a:gd name="adj" fmla="val 10000"/>
            </a:avLst>
          </a:prstGeom>
          <a:solidFill>
            <a:srgbClr val="1F285A"/>
          </a:solidFill>
          <a:ln>
            <a:noFill/>
          </a:ln>
        </p:spPr>
        <p:txBody>
          <a:bodyPr wrap="square" lIns="54864" tIns="18288" rIns="54864" bIns="36576" rtlCol="0" anchor="ctr">
            <a:noAutofit/>
          </a:bodyPr>
          <a:lstStyle/>
          <a:p>
            <a:pPr algn="ctr">
              <a:lnSpc>
                <a:spcPct val="100000"/>
              </a:lnSpc>
              <a:buNone/>
            </a:pPr>
            <a:r>
              <a:rPr lang="ja-JP" altLang="en-US" sz="2200" b="1" dirty="0">
                <a:solidFill>
                  <a:srgbClr val="FFFFFF"/>
                </a:solidFill>
                <a:latin typeface="メイリオ" panose="020B0604030504040204" pitchFamily="50" charset="-128"/>
                <a:ea typeface="メイリオ" panose="020B0604030504040204" pitchFamily="50" charset="-128"/>
              </a:rPr>
              <a:t>プラン①</a:t>
            </a:r>
            <a:endParaRPr lang="ja-JP" altLang="en-US" sz="22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最適運用プラン（開発を含む）</a:t>
            </a:r>
            <a:endParaRPr lang="ja-JP" altLang="en-US" sz="2200" dirty="0"/>
          </a:p>
        </p:txBody>
      </p:sp>
      <p:sp>
        <p:nvSpPr>
          <p:cNvPr id="14" name="Rounded Rectangle 13"/>
          <p:cNvSpPr/>
          <p:nvPr/>
        </p:nvSpPr>
        <p:spPr>
          <a:xfrm>
            <a:off x="429768"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5" name="Rectangle 14"/>
          <p:cNvSpPr/>
          <p:nvPr/>
        </p:nvSpPr>
        <p:spPr>
          <a:xfrm>
            <a:off x="594359"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・開発を含むプラン</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・Hachidoriなどのツールと連携</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・貴塾に合わせた最適な運用</a:t>
            </a:r>
            <a:endParaRPr lang="ja-JP" altLang="en-US" sz="1300" dirty="0"/>
          </a:p>
        </p:txBody>
      </p:sp>
      <p:sp>
        <p:nvSpPr>
          <p:cNvPr id="16" name="Rounded Rectangle 15"/>
          <p:cNvSpPr/>
          <p:nvPr/>
        </p:nvSpPr>
        <p:spPr>
          <a:xfrm>
            <a:off x="429768"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50万円〜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30万円〜</a:t>
            </a:r>
            <a:endParaRPr lang="ja-JP" altLang="en-US" sz="1700" dirty="0"/>
          </a:p>
        </p:txBody>
      </p:sp>
      <p:sp>
        <p:nvSpPr>
          <p:cNvPr id="17" name="Rounded Rectangle 16"/>
          <p:cNvSpPr/>
          <p:nvPr/>
        </p:nvSpPr>
        <p:spPr>
          <a:xfrm>
            <a:off x="3511296" y="1600200"/>
            <a:ext cx="2880360" cy="868680"/>
          </a:xfrm>
          <a:prstGeom prst="roundRect">
            <a:avLst>
              <a:gd name="adj" fmla="val 10000"/>
            </a:avLst>
          </a:prstGeom>
          <a:solidFill>
            <a:srgbClr val="3E5B9A"/>
          </a:solidFill>
          <a:ln>
            <a:noFill/>
          </a:ln>
        </p:spPr>
        <p:txBody>
          <a:bodyPr wrap="square" lIns="54864" tIns="18288" rIns="54864" bIns="36576" rtlCol="0" anchor="ctr">
            <a:noAutofit/>
          </a:bodyPr>
          <a:lstStyle/>
          <a:p>
            <a:pPr algn="ctr">
              <a:lnSpc>
                <a:spcPct val="100000"/>
              </a:lnSpc>
              <a:buNone/>
            </a:pPr>
            <a:r>
              <a:rPr lang="ja-JP" altLang="en-US" sz="2200" b="1" dirty="0">
                <a:solidFill>
                  <a:srgbClr val="FFFFFF"/>
                </a:solidFill>
                <a:latin typeface="メイリオ" panose="020B0604030504040204" pitchFamily="50" charset="-128"/>
                <a:ea typeface="メイリオ" panose="020B0604030504040204" pitchFamily="50" charset="-128"/>
              </a:rPr>
              <a:t>プラン②</a:t>
            </a:r>
            <a:endParaRPr lang="ja-JP" altLang="en-US" sz="22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構築から配信の運用まで</a:t>
            </a:r>
            <a:endParaRPr lang="ja-JP" altLang="en-US" sz="2200" dirty="0"/>
          </a:p>
        </p:txBody>
      </p:sp>
      <p:sp>
        <p:nvSpPr>
          <p:cNvPr id="18" name="Rounded Rectangle 17"/>
          <p:cNvSpPr/>
          <p:nvPr/>
        </p:nvSpPr>
        <p:spPr>
          <a:xfrm>
            <a:off x="3511296"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9" name="Rectangle 18"/>
          <p:cNvSpPr/>
          <p:nvPr/>
        </p:nvSpPr>
        <p:spPr>
          <a:xfrm>
            <a:off x="3675887"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・企画投稿 月4〜5本（週1回）</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・ステップ配信 10通</a:t>
            </a:r>
            <a:endParaRPr lang="ja-JP" altLang="en-US" sz="1300" dirty="0"/>
          </a:p>
        </p:txBody>
      </p:sp>
      <p:sp>
        <p:nvSpPr>
          <p:cNvPr id="20" name="Rounded Rectangle 19"/>
          <p:cNvSpPr/>
          <p:nvPr/>
        </p:nvSpPr>
        <p:spPr>
          <a:xfrm>
            <a:off x="3511296"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30万円〜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10万円〜</a:t>
            </a:r>
            <a:endParaRPr lang="ja-JP" altLang="en-US" sz="1700" dirty="0"/>
          </a:p>
        </p:txBody>
      </p:sp>
      <p:sp>
        <p:nvSpPr>
          <p:cNvPr id="21" name="Rounded Rectangle 20"/>
          <p:cNvSpPr/>
          <p:nvPr/>
        </p:nvSpPr>
        <p:spPr>
          <a:xfrm>
            <a:off x="6592824" y="1600200"/>
            <a:ext cx="2880360" cy="868680"/>
          </a:xfrm>
          <a:prstGeom prst="roundRect">
            <a:avLst>
              <a:gd name="adj" fmla="val 10000"/>
            </a:avLst>
          </a:prstGeom>
          <a:solidFill>
            <a:srgbClr val="C9D3E6"/>
          </a:solidFill>
          <a:ln>
            <a:noFill/>
          </a:ln>
        </p:spPr>
        <p:txBody>
          <a:bodyPr wrap="square" lIns="54864" tIns="18288" rIns="54864" bIns="36576" rtlCol="0" anchor="ctr">
            <a:noAutofit/>
          </a:bodyPr>
          <a:lstStyle/>
          <a:p>
            <a:pPr algn="ctr">
              <a:lnSpc>
                <a:spcPct val="100000"/>
              </a:lnSpc>
              <a:buNone/>
            </a:pPr>
            <a:r>
              <a:rPr lang="ja-JP" altLang="en-US" sz="2200" b="1" dirty="0">
                <a:solidFill>
                  <a:srgbClr val="1F285A"/>
                </a:solidFill>
                <a:latin typeface="メイリオ" panose="020B0604030504040204" pitchFamily="50" charset="-128"/>
                <a:ea typeface="メイリオ" panose="020B0604030504040204" pitchFamily="50" charset="-128"/>
              </a:rPr>
              <a:t>プラン③</a:t>
            </a:r>
            <a:endParaRPr lang="ja-JP" altLang="en-US" sz="2200" dirty="0"/>
          </a:p>
          <a:p>
            <a:pPr algn="ctr">
              <a:lnSpc>
                <a:spcPct val="100000"/>
              </a:lnSpc>
              <a:buNone/>
            </a:pPr>
            <a:r>
              <a:rPr lang="ja-JP" altLang="en-US" sz="1150" b="0" dirty="0">
                <a:solidFill>
                  <a:srgbClr val="1F285A"/>
                </a:solidFill>
                <a:latin typeface="メイリオ" panose="020B0604030504040204" pitchFamily="50" charset="-128"/>
                <a:ea typeface="メイリオ" panose="020B0604030504040204" pitchFamily="50" charset="-128"/>
              </a:rPr>
              <a:t>サンクスLINE誘導のみ</a:t>
            </a:r>
            <a:endParaRPr lang="ja-JP" altLang="en-US" sz="2200" dirty="0"/>
          </a:p>
        </p:txBody>
      </p:sp>
      <p:sp>
        <p:nvSpPr>
          <p:cNvPr id="22" name="Rounded Rectangle 21"/>
          <p:cNvSpPr/>
          <p:nvPr/>
        </p:nvSpPr>
        <p:spPr>
          <a:xfrm>
            <a:off x="6592824"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23" name="Rectangle 22"/>
          <p:cNvSpPr/>
          <p:nvPr/>
        </p:nvSpPr>
        <p:spPr>
          <a:xfrm>
            <a:off x="6757416"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・サンクスLINE誘導のみ</a:t>
            </a:r>
            <a:endParaRPr lang="ja-JP" altLang="en-US" sz="1300" dirty="0"/>
          </a:p>
          <a:p>
            <a:pPr marL="146304" indent="-146304" algn="l">
              <a:lnSpc>
                <a:spcPct val="115000"/>
              </a:lnSpc>
              <a:spcAft>
                <a:spcPts val="600"/>
              </a:spcAft>
              <a:buNone/>
            </a:pPr>
            <a:r>
              <a:rPr lang="ja-JP" altLang="en-US" sz="1100" b="0" dirty="0">
                <a:solidFill>
                  <a:srgbClr val="7F7F7F"/>
                </a:solidFill>
                <a:latin typeface="メイリオ" panose="020B0604030504040204" pitchFamily="50" charset="-128"/>
                <a:ea typeface="メイリオ" panose="020B0604030504040204" pitchFamily="50" charset="-128"/>
              </a:rPr>
              <a:t>・例：申し込み完了画面からLINEへ</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p:txBody>
      </p:sp>
      <p:sp>
        <p:nvSpPr>
          <p:cNvPr id="24" name="Rounded Rectangle 23"/>
          <p:cNvSpPr/>
          <p:nvPr/>
        </p:nvSpPr>
        <p:spPr>
          <a:xfrm>
            <a:off x="6592824"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0円〜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10万円〜</a:t>
            </a:r>
            <a:endParaRPr lang="ja-JP" altLang="en-US" sz="1700" dirty="0"/>
          </a:p>
        </p:txBody>
      </p:sp>
    </p:spTree>
    <p:extLst>
      <p:ext uri="{BB962C8B-B14F-4D97-AF65-F5344CB8AC3E}">
        <p14:creationId xmlns:p14="http://schemas.microsoft.com/office/powerpoint/2010/main" val="38515943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導入スケジュール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次の申し込みのピークから逆算して着手する。14日間のステップ配信が一巡すると、数字が見え始める。</a:t>
            </a:r>
          </a:p>
          <a:p>
            <a:pPr algn="l">
              <a:lnSpc>
                <a:spcPct val="128000"/>
              </a:lnSpc>
            </a:pPr>
            <a:r>
              <a:rPr sz="1200">
                <a:solidFill>
                  <a:srgbClr val="333333"/>
                </a:solidFill>
                <a:latin typeface="メイリオ"/>
                <a:ea typeface="メイリオ"/>
                <a:cs typeface="メイリオ"/>
              </a:rPr>
              <a:t>2月の入会期なら12月着手、夏期講習なら5月着手が目安。</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Chevron 4"/>
          <p:cNvSpPr/>
          <p:nvPr/>
        </p:nvSpPr>
        <p:spPr>
          <a:xfrm>
            <a:off x="432000" y="1655999"/>
            <a:ext cx="2179800" cy="54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1</a:t>
            </a:r>
          </a:p>
          <a:p>
            <a:pPr algn="ctr">
              <a:lnSpc>
                <a:spcPct val="115000"/>
              </a:lnSpc>
            </a:pPr>
            <a:r>
              <a:rPr sz="1150" b="1">
                <a:solidFill>
                  <a:srgbClr val="FFFFFF"/>
                </a:solidFill>
                <a:latin typeface="メイリオ"/>
                <a:ea typeface="メイリオ"/>
                <a:cs typeface="メイリオ"/>
              </a:rPr>
              <a:t>要件定義・設計</a:t>
            </a:r>
          </a:p>
        </p:txBody>
      </p:sp>
      <p:sp>
        <p:nvSpPr>
          <p:cNvPr id="6" name="TextBox 5"/>
          <p:cNvSpPr txBox="1"/>
          <p:nvPr/>
        </p:nvSpPr>
        <p:spPr>
          <a:xfrm>
            <a:off x="432000" y="2250000"/>
            <a:ext cx="2179800" cy="216000"/>
          </a:xfrm>
          <a:prstGeom prst="rect">
            <a:avLst/>
          </a:prstGeom>
          <a:noFill/>
        </p:spPr>
        <p:txBody>
          <a:bodyPr wrap="square" lIns="50400" tIns="21600" rIns="50400" bIns="21600" anchor="ctr">
            <a:spAutoFit/>
          </a:bodyPr>
          <a:lstStyle/>
          <a:p>
            <a:pPr algn="ctr"/>
            <a:r>
              <a:rPr sz="1000" b="1">
                <a:solidFill>
                  <a:srgbClr val="1F285A"/>
                </a:solidFill>
                <a:latin typeface="メイリオ"/>
                <a:ea typeface="メイリオ"/>
                <a:cs typeface="メイリオ"/>
              </a:rPr>
              <a:t>2週間</a:t>
            </a:r>
          </a:p>
        </p:txBody>
      </p:sp>
      <p:sp>
        <p:nvSpPr>
          <p:cNvPr id="7" name="Rounded Rectangle 6"/>
          <p:cNvSpPr/>
          <p:nvPr/>
        </p:nvSpPr>
        <p:spPr>
          <a:xfrm>
            <a:off x="4320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00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・現状ヒアリング（月謝・広告実績・資料請求と体験予約の件数）</a:t>
            </a:r>
          </a:p>
          <a:p>
            <a:pPr algn="l">
              <a:lnSpc>
                <a:spcPct val="130000"/>
              </a:lnSpc>
              <a:spcAft>
                <a:spcPts val="500"/>
              </a:spcAft>
            </a:pPr>
            <a:r>
              <a:rPr sz="850">
                <a:solidFill>
                  <a:srgbClr val="333333"/>
                </a:solidFill>
                <a:latin typeface="メイリオ"/>
                <a:ea typeface="メイリオ"/>
                <a:cs typeface="メイリオ"/>
              </a:rPr>
              <a:t>・CV（資料請求・体験予約）とタグ設計の確定</a:t>
            </a:r>
          </a:p>
          <a:p>
            <a:pPr algn="l">
              <a:lnSpc>
                <a:spcPct val="130000"/>
              </a:lnSpc>
              <a:spcAft>
                <a:spcPts val="500"/>
              </a:spcAft>
            </a:pPr>
            <a:r>
              <a:rPr sz="850">
                <a:solidFill>
                  <a:srgbClr val="333333"/>
                </a:solidFill>
                <a:latin typeface="メイリオ"/>
                <a:ea typeface="メイリオ"/>
                <a:cs typeface="メイリオ"/>
              </a:rPr>
              <a:t>・LINEで資料請求の仕組みの決定</a:t>
            </a:r>
          </a:p>
          <a:p>
            <a:pPr algn="l">
              <a:lnSpc>
                <a:spcPct val="130000"/>
              </a:lnSpc>
              <a:spcAft>
                <a:spcPts val="500"/>
              </a:spcAft>
            </a:pPr>
            <a:r>
              <a:rPr sz="850">
                <a:solidFill>
                  <a:srgbClr val="333333"/>
                </a:solidFill>
                <a:latin typeface="メイリオ"/>
                <a:ea typeface="メイリオ"/>
                <a:cs typeface="メイリオ"/>
              </a:rPr>
              <a:t>・配信ツールの選定（Lstep / Hachidori）</a:t>
            </a:r>
          </a:p>
        </p:txBody>
      </p:sp>
      <p:sp>
        <p:nvSpPr>
          <p:cNvPr id="9" name="Chevron 8"/>
          <p:cNvSpPr/>
          <p:nvPr/>
        </p:nvSpPr>
        <p:spPr>
          <a:xfrm>
            <a:off x="2719800" y="1655999"/>
            <a:ext cx="2179800" cy="54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2</a:t>
            </a:r>
          </a:p>
          <a:p>
            <a:pPr algn="ctr">
              <a:lnSpc>
                <a:spcPct val="115000"/>
              </a:lnSpc>
            </a:pPr>
            <a:r>
              <a:rPr sz="1150" b="1">
                <a:solidFill>
                  <a:srgbClr val="FFFFFF"/>
                </a:solidFill>
                <a:latin typeface="メイリオ"/>
                <a:ea typeface="メイリオ"/>
                <a:cs typeface="メイリオ"/>
              </a:rPr>
              <a:t>構築・制作</a:t>
            </a:r>
          </a:p>
        </p:txBody>
      </p:sp>
      <p:sp>
        <p:nvSpPr>
          <p:cNvPr id="10" name="TextBox 9"/>
          <p:cNvSpPr txBox="1"/>
          <p:nvPr/>
        </p:nvSpPr>
        <p:spPr>
          <a:xfrm>
            <a:off x="2719800" y="2250000"/>
            <a:ext cx="2179800" cy="216000"/>
          </a:xfrm>
          <a:prstGeom prst="rect">
            <a:avLst/>
          </a:prstGeom>
          <a:noFill/>
        </p:spPr>
        <p:txBody>
          <a:bodyPr wrap="square" lIns="50400" tIns="21600" rIns="50400" bIns="21600" anchor="ctr">
            <a:spAutoFit/>
          </a:bodyPr>
          <a:lstStyle/>
          <a:p>
            <a:pPr algn="ctr"/>
            <a:r>
              <a:rPr sz="1000" b="1">
                <a:solidFill>
                  <a:srgbClr val="1F285A"/>
                </a:solidFill>
                <a:latin typeface="メイリオ"/>
                <a:ea typeface="メイリオ"/>
                <a:cs typeface="メイリオ"/>
              </a:rPr>
              <a:t>3〜4週間</a:t>
            </a:r>
          </a:p>
        </p:txBody>
      </p:sp>
      <p:sp>
        <p:nvSpPr>
          <p:cNvPr id="11" name="Rounded Rectangle 10"/>
          <p:cNvSpPr/>
          <p:nvPr/>
        </p:nvSpPr>
        <p:spPr>
          <a:xfrm>
            <a:off x="27198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278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・アカウント開設・プロフィール（未開設の場合）</a:t>
            </a:r>
          </a:p>
          <a:p>
            <a:pPr algn="l">
              <a:lnSpc>
                <a:spcPct val="130000"/>
              </a:lnSpc>
              <a:spcAft>
                <a:spcPts val="500"/>
              </a:spcAft>
            </a:pPr>
            <a:r>
              <a:rPr sz="850">
                <a:solidFill>
                  <a:srgbClr val="333333"/>
                </a:solidFill>
                <a:latin typeface="メイリオ"/>
                <a:ea typeface="メイリオ"/>
                <a:cs typeface="メイリオ"/>
              </a:rPr>
              <a:t>・30秒診断（4問）の設計と実装</a:t>
            </a:r>
          </a:p>
          <a:p>
            <a:pPr algn="l">
              <a:lnSpc>
                <a:spcPct val="130000"/>
              </a:lnSpc>
              <a:spcAft>
                <a:spcPts val="500"/>
              </a:spcAft>
            </a:pPr>
            <a:r>
              <a:rPr sz="850">
                <a:solidFill>
                  <a:srgbClr val="333333"/>
                </a:solidFill>
                <a:latin typeface="メイリオ"/>
                <a:ea typeface="メイリオ"/>
                <a:cs typeface="メイリオ"/>
              </a:rPr>
              <a:t>・リッチメニュー3タブ×6枠の制作</a:t>
            </a:r>
          </a:p>
          <a:p>
            <a:pPr algn="l">
              <a:lnSpc>
                <a:spcPct val="130000"/>
              </a:lnSpc>
              <a:spcAft>
                <a:spcPts val="500"/>
              </a:spcAft>
            </a:pPr>
            <a:r>
              <a:rPr sz="850">
                <a:solidFill>
                  <a:srgbClr val="333333"/>
                </a:solidFill>
                <a:latin typeface="メイリオ"/>
                <a:ea typeface="メイリオ"/>
                <a:cs typeface="メイリオ"/>
              </a:rPr>
              <a:t>・14日ステップ（14通）の原稿・実装</a:t>
            </a:r>
          </a:p>
          <a:p>
            <a:pPr algn="l">
              <a:lnSpc>
                <a:spcPct val="130000"/>
              </a:lnSpc>
              <a:spcAft>
                <a:spcPts val="500"/>
              </a:spcAft>
            </a:pPr>
            <a:r>
              <a:rPr sz="850">
                <a:solidFill>
                  <a:srgbClr val="333333"/>
                </a:solidFill>
                <a:latin typeface="メイリオ"/>
                <a:ea typeface="メイリオ"/>
                <a:cs typeface="メイリオ"/>
              </a:rPr>
              <a:t>・LP離脱防止の設置</a:t>
            </a:r>
          </a:p>
        </p:txBody>
      </p:sp>
      <p:sp>
        <p:nvSpPr>
          <p:cNvPr id="13" name="Chevron 12"/>
          <p:cNvSpPr/>
          <p:nvPr/>
        </p:nvSpPr>
        <p:spPr>
          <a:xfrm>
            <a:off x="5007600" y="1655999"/>
            <a:ext cx="2179800" cy="540000"/>
          </a:xfrm>
          <a:prstGeom prst="chevron">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3</a:t>
            </a:r>
          </a:p>
          <a:p>
            <a:pPr algn="ctr">
              <a:lnSpc>
                <a:spcPct val="115000"/>
              </a:lnSpc>
            </a:pPr>
            <a:r>
              <a:rPr sz="1150" b="1">
                <a:solidFill>
                  <a:srgbClr val="FFFFFF"/>
                </a:solidFill>
                <a:latin typeface="メイリオ"/>
                <a:ea typeface="メイリオ"/>
                <a:cs typeface="メイリオ"/>
              </a:rPr>
              <a:t>テスト配信・調整</a:t>
            </a:r>
          </a:p>
        </p:txBody>
      </p:sp>
      <p:sp>
        <p:nvSpPr>
          <p:cNvPr id="14" name="TextBox 13"/>
          <p:cNvSpPr txBox="1"/>
          <p:nvPr/>
        </p:nvSpPr>
        <p:spPr>
          <a:xfrm>
            <a:off x="5007600" y="2250000"/>
            <a:ext cx="2179800" cy="216000"/>
          </a:xfrm>
          <a:prstGeom prst="rect">
            <a:avLst/>
          </a:prstGeom>
          <a:noFill/>
        </p:spPr>
        <p:txBody>
          <a:bodyPr wrap="square" lIns="50400" tIns="21600" rIns="50400" bIns="21600" anchor="ctr">
            <a:spAutoFit/>
          </a:bodyPr>
          <a:lstStyle/>
          <a:p>
            <a:pPr algn="ctr"/>
            <a:r>
              <a:rPr sz="1000" b="1">
                <a:solidFill>
                  <a:srgbClr val="1F285A"/>
                </a:solidFill>
                <a:latin typeface="メイリオ"/>
                <a:ea typeface="メイリオ"/>
                <a:cs typeface="メイリオ"/>
              </a:rPr>
              <a:t>1〜2週間</a:t>
            </a:r>
          </a:p>
        </p:txBody>
      </p:sp>
      <p:sp>
        <p:nvSpPr>
          <p:cNvPr id="15" name="Rounded Rectangle 14"/>
          <p:cNvSpPr/>
          <p:nvPr/>
        </p:nvSpPr>
        <p:spPr>
          <a:xfrm>
            <a:off x="50076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156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・社内テスト配信（文面・分岐の確認）</a:t>
            </a:r>
          </a:p>
          <a:p>
            <a:pPr algn="l">
              <a:lnSpc>
                <a:spcPct val="130000"/>
              </a:lnSpc>
              <a:spcAft>
                <a:spcPts val="500"/>
              </a:spcAft>
            </a:pPr>
            <a:r>
              <a:rPr sz="850">
                <a:solidFill>
                  <a:srgbClr val="333333"/>
                </a:solidFill>
                <a:latin typeface="メイリオ"/>
                <a:ea typeface="メイリオ"/>
                <a:cs typeface="メイリオ"/>
              </a:rPr>
              <a:t>・表現の確認（成果の断定・最上級表現がないか）</a:t>
            </a:r>
          </a:p>
          <a:p>
            <a:pPr algn="l">
              <a:lnSpc>
                <a:spcPct val="130000"/>
              </a:lnSpc>
              <a:spcAft>
                <a:spcPts val="500"/>
              </a:spcAft>
            </a:pPr>
            <a:r>
              <a:rPr sz="850">
                <a:solidFill>
                  <a:srgbClr val="333333"/>
                </a:solidFill>
                <a:latin typeface="メイリオ"/>
                <a:ea typeface="メイリオ"/>
                <a:cs typeface="メイリオ"/>
              </a:rPr>
              <a:t>・教室スタッフへの運用説明</a:t>
            </a:r>
          </a:p>
        </p:txBody>
      </p:sp>
      <p:sp>
        <p:nvSpPr>
          <p:cNvPr id="17" name="Chevron 16"/>
          <p:cNvSpPr/>
          <p:nvPr/>
        </p:nvSpPr>
        <p:spPr>
          <a:xfrm>
            <a:off x="7295400" y="1655999"/>
            <a:ext cx="2179800" cy="540000"/>
          </a:xfrm>
          <a:prstGeom prst="chevron">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4</a:t>
            </a:r>
          </a:p>
          <a:p>
            <a:pPr algn="ctr">
              <a:lnSpc>
                <a:spcPct val="115000"/>
              </a:lnSpc>
            </a:pPr>
            <a:r>
              <a:rPr sz="1150" b="1">
                <a:solidFill>
                  <a:srgbClr val="FFFFFF"/>
                </a:solidFill>
                <a:latin typeface="メイリオ"/>
                <a:ea typeface="メイリオ"/>
                <a:cs typeface="メイリオ"/>
              </a:rPr>
              <a:t>本格運用・改善</a:t>
            </a:r>
          </a:p>
        </p:txBody>
      </p:sp>
      <p:sp>
        <p:nvSpPr>
          <p:cNvPr id="18" name="TextBox 17"/>
          <p:cNvSpPr txBox="1"/>
          <p:nvPr/>
        </p:nvSpPr>
        <p:spPr>
          <a:xfrm>
            <a:off x="7295400" y="2250000"/>
            <a:ext cx="2179800" cy="216000"/>
          </a:xfrm>
          <a:prstGeom prst="rect">
            <a:avLst/>
          </a:prstGeom>
          <a:noFill/>
        </p:spPr>
        <p:txBody>
          <a:bodyPr wrap="square" lIns="50400" tIns="21600" rIns="50400" bIns="21600" anchor="ctr">
            <a:spAutoFit/>
          </a:bodyPr>
          <a:lstStyle/>
          <a:p>
            <a:pPr algn="ctr"/>
            <a:r>
              <a:rPr sz="1000" b="1">
                <a:solidFill>
                  <a:srgbClr val="1F285A"/>
                </a:solidFill>
                <a:latin typeface="メイリオ"/>
                <a:ea typeface="メイリオ"/>
                <a:cs typeface="メイリオ"/>
              </a:rPr>
              <a:t>継続</a:t>
            </a:r>
          </a:p>
        </p:txBody>
      </p:sp>
      <p:sp>
        <p:nvSpPr>
          <p:cNvPr id="19" name="Rounded Rectangle 18"/>
          <p:cNvSpPr/>
          <p:nvPr/>
        </p:nvSpPr>
        <p:spPr>
          <a:xfrm>
            <a:off x="72954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034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・企画配信（月1〜2本）</a:t>
            </a:r>
          </a:p>
          <a:p>
            <a:pPr algn="l">
              <a:lnSpc>
                <a:spcPct val="130000"/>
              </a:lnSpc>
              <a:spcAft>
                <a:spcPts val="500"/>
              </a:spcAft>
            </a:pPr>
            <a:r>
              <a:rPr sz="850">
                <a:solidFill>
                  <a:srgbClr val="333333"/>
                </a:solidFill>
                <a:latin typeface="メイリオ"/>
                <a:ea typeface="メイリオ"/>
                <a:cs typeface="メイリオ"/>
              </a:rPr>
              <a:t>・出し分け配信・前日リマインドの稼働</a:t>
            </a:r>
          </a:p>
          <a:p>
            <a:pPr algn="l">
              <a:lnSpc>
                <a:spcPct val="130000"/>
              </a:lnSpc>
              <a:spcAft>
                <a:spcPts val="500"/>
              </a:spcAft>
            </a:pPr>
            <a:r>
              <a:rPr sz="850">
                <a:solidFill>
                  <a:srgbClr val="333333"/>
                </a:solidFill>
                <a:latin typeface="メイリオ"/>
                <a:ea typeface="メイリオ"/>
                <a:cs typeface="メイリオ"/>
              </a:rPr>
              <a:t>・月次レポート＋定例会</a:t>
            </a:r>
          </a:p>
          <a:p>
            <a:pPr algn="l">
              <a:lnSpc>
                <a:spcPct val="130000"/>
              </a:lnSpc>
              <a:spcAft>
                <a:spcPts val="500"/>
              </a:spcAft>
            </a:pPr>
            <a:r>
              <a:rPr sz="850">
                <a:solidFill>
                  <a:srgbClr val="333333"/>
                </a:solidFill>
                <a:latin typeface="メイリオ"/>
                <a:ea typeface="メイリオ"/>
                <a:cs typeface="メイリオ"/>
              </a:rPr>
              <a:t>・3か月ごとに体験→入会の割合を確認</a:t>
            </a:r>
          </a:p>
        </p:txBody>
      </p:sp>
      <p:sp>
        <p:nvSpPr>
          <p:cNvPr id="21" name="TextBox 20"/>
          <p:cNvSpPr txBox="1"/>
          <p:nvPr/>
        </p:nvSpPr>
        <p:spPr>
          <a:xfrm>
            <a:off x="432000" y="4536000"/>
            <a:ext cx="9043200" cy="234000"/>
          </a:xfrm>
          <a:prstGeom prst="rect">
            <a:avLst/>
          </a:prstGeom>
          <a:noFill/>
        </p:spPr>
        <p:txBody>
          <a:bodyPr wrap="square" lIns="50400" tIns="21600" rIns="50400" bIns="21600" anchor="ctr">
            <a:spAutoFit/>
          </a:bodyPr>
          <a:lstStyle/>
          <a:p>
            <a:pPr algn="l"/>
            <a:r>
              <a:rPr sz="1200" b="1">
                <a:solidFill>
                  <a:srgbClr val="1F285A"/>
                </a:solidFill>
                <a:latin typeface="メイリオ"/>
                <a:ea typeface="メイリオ"/>
                <a:cs typeface="メイリオ"/>
              </a:rPr>
              <a:t>逆算のしかた（検索のピークから）</a:t>
            </a:r>
          </a:p>
        </p:txBody>
      </p:sp>
      <p:sp>
        <p:nvSpPr>
          <p:cNvPr id="22" name="Rounded Rectangle 21"/>
          <p:cNvSpPr/>
          <p:nvPr/>
        </p:nvSpPr>
        <p:spPr>
          <a:xfrm>
            <a:off x="432000" y="4823999"/>
            <a:ext cx="9043200" cy="432000"/>
          </a:xfrm>
          <a:prstGeom prst="roundRect">
            <a:avLst>
              <a:gd name="adj" fmla="val 6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0" rIns="108000" bIns="0" rtlCol="0" anchor="ctr"/>
          <a:lstStyle/>
          <a:p>
            <a:pPr algn="l">
              <a:lnSpc>
                <a:spcPct val="120000"/>
              </a:lnSpc>
            </a:pPr>
            <a:r>
              <a:rPr sz="1300" b="1">
                <a:solidFill>
                  <a:srgbClr val="1F285A"/>
                </a:solidFill>
                <a:latin typeface="メイリオ"/>
                <a:ea typeface="メイリオ"/>
                <a:cs typeface="メイリオ"/>
              </a:rPr>
              <a:t>2〜3月の入会期に向けて　→　12月着手 → 1月中旬に配信開始</a:t>
            </a:r>
          </a:p>
        </p:txBody>
      </p:sp>
      <p:sp>
        <p:nvSpPr>
          <p:cNvPr id="23" name="Rounded Rectangle 22"/>
          <p:cNvSpPr/>
          <p:nvPr/>
        </p:nvSpPr>
        <p:spPr>
          <a:xfrm>
            <a:off x="432000" y="5309999"/>
            <a:ext cx="9043200" cy="432000"/>
          </a:xfrm>
          <a:prstGeom prst="roundRect">
            <a:avLst>
              <a:gd name="adj" fmla="val 6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0" rIns="108000" bIns="0" rtlCol="0" anchor="ctr"/>
          <a:lstStyle/>
          <a:p>
            <a:pPr algn="l">
              <a:lnSpc>
                <a:spcPct val="120000"/>
              </a:lnSpc>
            </a:pPr>
            <a:r>
              <a:rPr sz="1300" b="1">
                <a:solidFill>
                  <a:srgbClr val="1F285A"/>
                </a:solidFill>
                <a:latin typeface="メイリオ"/>
                <a:ea typeface="メイリオ"/>
                <a:cs typeface="メイリオ"/>
              </a:rPr>
              <a:t>7〜8月の夏期講習に向けて　→　5月着手 → 6月中旬に配信開始</a:t>
            </a:r>
          </a:p>
        </p:txBody>
      </p:sp>
      <p:sp>
        <p:nvSpPr>
          <p:cNvPr id="24" name="TextBox 2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14日間の配信が一巡してから、数字が見え始める</a:t>
            </a:r>
          </a:p>
        </p:txBody>
      </p:sp>
      <p:sp>
        <p:nvSpPr>
          <p:cNvPr id="25" name="Pentagon 2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26" name="Chevron 2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27" name="Chevron 2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28" name="Chevron 2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29" name="Chevron 2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30" name="Chevron 2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31" name="Chevron 3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32" name="Chevron 3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Tree>
    <p:extLst>
      <p:ext uri="{BB962C8B-B14F-4D97-AF65-F5344CB8AC3E}">
        <p14:creationId xmlns:p14="http://schemas.microsoft.com/office/powerpoint/2010/main" val="38455432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体制</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配信の実務（原稿・制作・設定・分析）は弊社が担当する。</a:t>
            </a:r>
          </a:p>
          <a:p>
            <a:pPr algn="l">
              <a:lnSpc>
                <a:spcPct val="128000"/>
              </a:lnSpc>
            </a:pPr>
            <a:r>
              <a:rPr sz="1200">
                <a:solidFill>
                  <a:srgbClr val="333333"/>
                </a:solidFill>
                <a:latin typeface="メイリオ"/>
                <a:ea typeface="メイリオ"/>
                <a:cs typeface="メイリオ"/>
              </a:rPr>
              <a:t>貴塾にお願いするのは、教室の情報のご提供と、月1回の定例会へのご参加のみ。</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55999"/>
            <a:ext cx="2179800" cy="165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2000" y="1655999"/>
            <a:ext cx="21798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DYM｜運用統括</a:t>
            </a:r>
          </a:p>
        </p:txBody>
      </p:sp>
      <p:sp>
        <p:nvSpPr>
          <p:cNvPr id="7" name="TextBox 6"/>
          <p:cNvSpPr txBox="1"/>
          <p:nvPr/>
        </p:nvSpPr>
        <p:spPr>
          <a:xfrm>
            <a:off x="540000" y="2106000"/>
            <a:ext cx="1963800" cy="786133"/>
          </a:xfrm>
          <a:prstGeom prst="rect">
            <a:avLst/>
          </a:prstGeom>
          <a:noFill/>
        </p:spPr>
        <p:txBody>
          <a:bodyPr wrap="square" lIns="50400" tIns="21600" rIns="50400" bIns="21600" anchor="t">
            <a:spAutoFit/>
          </a:bodyPr>
          <a:lstStyle/>
          <a:p>
            <a:pPr algn="l">
              <a:lnSpc>
                <a:spcPct val="130000"/>
              </a:lnSpc>
              <a:spcAft>
                <a:spcPts val="600"/>
              </a:spcAft>
            </a:pPr>
            <a:r>
              <a:rPr sz="1000">
                <a:solidFill>
                  <a:srgbClr val="333333"/>
                </a:solidFill>
                <a:latin typeface="メイリオ"/>
                <a:ea typeface="メイリオ"/>
                <a:cs typeface="メイリオ"/>
              </a:rPr>
              <a:t>・全体設計・KPI管理</a:t>
            </a:r>
          </a:p>
          <a:p>
            <a:pPr algn="l">
              <a:lnSpc>
                <a:spcPct val="130000"/>
              </a:lnSpc>
              <a:spcAft>
                <a:spcPts val="600"/>
              </a:spcAft>
            </a:pPr>
            <a:r>
              <a:rPr sz="1000">
                <a:solidFill>
                  <a:srgbClr val="333333"/>
                </a:solidFill>
                <a:latin typeface="メイリオ"/>
                <a:ea typeface="メイリオ"/>
                <a:cs typeface="メイリオ"/>
              </a:rPr>
              <a:t>・月次レポートと改善提案</a:t>
            </a:r>
          </a:p>
          <a:p>
            <a:pPr algn="l">
              <a:lnSpc>
                <a:spcPct val="130000"/>
              </a:lnSpc>
              <a:spcAft>
                <a:spcPts val="600"/>
              </a:spcAft>
            </a:pPr>
            <a:r>
              <a:rPr sz="1000">
                <a:solidFill>
                  <a:srgbClr val="333333"/>
                </a:solidFill>
                <a:latin typeface="メイリオ"/>
                <a:ea typeface="メイリオ"/>
                <a:cs typeface="メイリオ"/>
              </a:rPr>
              <a:t>・定例会の進行</a:t>
            </a:r>
          </a:p>
        </p:txBody>
      </p:sp>
      <p:sp>
        <p:nvSpPr>
          <p:cNvPr id="8" name="Rounded Rectangle 7"/>
          <p:cNvSpPr/>
          <p:nvPr/>
        </p:nvSpPr>
        <p:spPr>
          <a:xfrm>
            <a:off x="2719800" y="1655999"/>
            <a:ext cx="2179800" cy="165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19800" y="1655999"/>
            <a:ext cx="21798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DYM｜配信担当</a:t>
            </a:r>
          </a:p>
        </p:txBody>
      </p:sp>
      <p:sp>
        <p:nvSpPr>
          <p:cNvPr id="10" name="TextBox 9"/>
          <p:cNvSpPr txBox="1"/>
          <p:nvPr/>
        </p:nvSpPr>
        <p:spPr>
          <a:xfrm>
            <a:off x="2827800" y="2106000"/>
            <a:ext cx="1963800" cy="786133"/>
          </a:xfrm>
          <a:prstGeom prst="rect">
            <a:avLst/>
          </a:prstGeom>
          <a:noFill/>
        </p:spPr>
        <p:txBody>
          <a:bodyPr wrap="square" lIns="50400" tIns="21600" rIns="50400" bIns="21600" anchor="t">
            <a:spAutoFit/>
          </a:bodyPr>
          <a:lstStyle/>
          <a:p>
            <a:pPr algn="l">
              <a:lnSpc>
                <a:spcPct val="130000"/>
              </a:lnSpc>
              <a:spcAft>
                <a:spcPts val="600"/>
              </a:spcAft>
            </a:pPr>
            <a:r>
              <a:rPr sz="1000">
                <a:solidFill>
                  <a:srgbClr val="333333"/>
                </a:solidFill>
                <a:latin typeface="メイリオ"/>
                <a:ea typeface="メイリオ"/>
                <a:cs typeface="メイリオ"/>
              </a:rPr>
              <a:t>・配信原稿の作成</a:t>
            </a:r>
          </a:p>
          <a:p>
            <a:pPr algn="l">
              <a:lnSpc>
                <a:spcPct val="130000"/>
              </a:lnSpc>
              <a:spcAft>
                <a:spcPts val="600"/>
              </a:spcAft>
            </a:pPr>
            <a:r>
              <a:rPr sz="1000">
                <a:solidFill>
                  <a:srgbClr val="333333"/>
                </a:solidFill>
                <a:latin typeface="メイリオ"/>
                <a:ea typeface="メイリオ"/>
                <a:cs typeface="メイリオ"/>
              </a:rPr>
              <a:t>・セグメント・ステップの設定</a:t>
            </a:r>
          </a:p>
          <a:p>
            <a:pPr algn="l">
              <a:lnSpc>
                <a:spcPct val="130000"/>
              </a:lnSpc>
              <a:spcAft>
                <a:spcPts val="600"/>
              </a:spcAft>
            </a:pPr>
            <a:r>
              <a:rPr sz="1000">
                <a:solidFill>
                  <a:srgbClr val="333333"/>
                </a:solidFill>
                <a:latin typeface="メイリオ"/>
                <a:ea typeface="メイリオ"/>
                <a:cs typeface="メイリオ"/>
              </a:rPr>
              <a:t>・前日リマインドの管理</a:t>
            </a:r>
          </a:p>
        </p:txBody>
      </p:sp>
      <p:sp>
        <p:nvSpPr>
          <p:cNvPr id="11" name="Rounded Rectangle 10"/>
          <p:cNvSpPr/>
          <p:nvPr/>
        </p:nvSpPr>
        <p:spPr>
          <a:xfrm>
            <a:off x="5007600" y="1655999"/>
            <a:ext cx="2179800" cy="165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07600" y="1655999"/>
            <a:ext cx="21798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DYM｜クリエイティブ</a:t>
            </a:r>
          </a:p>
        </p:txBody>
      </p:sp>
      <p:sp>
        <p:nvSpPr>
          <p:cNvPr id="13" name="TextBox 12"/>
          <p:cNvSpPr txBox="1"/>
          <p:nvPr/>
        </p:nvSpPr>
        <p:spPr>
          <a:xfrm>
            <a:off x="5115600" y="2106000"/>
            <a:ext cx="1963800" cy="786133"/>
          </a:xfrm>
          <a:prstGeom prst="rect">
            <a:avLst/>
          </a:prstGeom>
          <a:noFill/>
        </p:spPr>
        <p:txBody>
          <a:bodyPr wrap="square" lIns="50400" tIns="21600" rIns="50400" bIns="21600" anchor="t">
            <a:spAutoFit/>
          </a:bodyPr>
          <a:lstStyle/>
          <a:p>
            <a:pPr algn="l">
              <a:lnSpc>
                <a:spcPct val="130000"/>
              </a:lnSpc>
              <a:spcAft>
                <a:spcPts val="600"/>
              </a:spcAft>
            </a:pPr>
            <a:r>
              <a:rPr sz="1000">
                <a:solidFill>
                  <a:srgbClr val="333333"/>
                </a:solidFill>
                <a:latin typeface="メイリオ"/>
                <a:ea typeface="メイリオ"/>
                <a:cs typeface="メイリオ"/>
              </a:rPr>
              <a:t>・リッチメニュー制作</a:t>
            </a:r>
          </a:p>
          <a:p>
            <a:pPr algn="l">
              <a:lnSpc>
                <a:spcPct val="130000"/>
              </a:lnSpc>
              <a:spcAft>
                <a:spcPts val="600"/>
              </a:spcAft>
            </a:pPr>
            <a:r>
              <a:rPr sz="1000">
                <a:solidFill>
                  <a:srgbClr val="333333"/>
                </a:solidFill>
                <a:latin typeface="メイリオ"/>
                <a:ea typeface="メイリオ"/>
                <a:cs typeface="メイリオ"/>
              </a:rPr>
              <a:t>・配信画像・バナー</a:t>
            </a:r>
          </a:p>
          <a:p>
            <a:pPr algn="l">
              <a:lnSpc>
                <a:spcPct val="130000"/>
              </a:lnSpc>
              <a:spcAft>
                <a:spcPts val="600"/>
              </a:spcAft>
            </a:pPr>
            <a:r>
              <a:rPr sz="1000">
                <a:solidFill>
                  <a:srgbClr val="333333"/>
                </a:solidFill>
                <a:latin typeface="メイリオ"/>
                <a:ea typeface="メイリオ"/>
                <a:cs typeface="メイリオ"/>
              </a:rPr>
              <a:t>・LP離脱防止の設置</a:t>
            </a:r>
          </a:p>
        </p:txBody>
      </p:sp>
      <p:sp>
        <p:nvSpPr>
          <p:cNvPr id="14" name="Rounded Rectangle 13"/>
          <p:cNvSpPr/>
          <p:nvPr/>
        </p:nvSpPr>
        <p:spPr>
          <a:xfrm>
            <a:off x="7295400" y="1655999"/>
            <a:ext cx="2179800" cy="1655999"/>
          </a:xfrm>
          <a:prstGeom prst="roundRect">
            <a:avLst>
              <a:gd name="adj" fmla="val 6000"/>
            </a:avLst>
          </a:prstGeom>
          <a:solidFill>
            <a:srgbClr val="FFFFFF"/>
          </a:solidFill>
          <a:ln w="1587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295400" y="1655999"/>
            <a:ext cx="2179800" cy="360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貴塾｜教室</a:t>
            </a:r>
          </a:p>
        </p:txBody>
      </p:sp>
      <p:sp>
        <p:nvSpPr>
          <p:cNvPr id="16" name="TextBox 15"/>
          <p:cNvSpPr txBox="1"/>
          <p:nvPr/>
        </p:nvSpPr>
        <p:spPr>
          <a:xfrm>
            <a:off x="7403400" y="2106000"/>
            <a:ext cx="2064600" cy="786133"/>
          </a:xfrm>
          <a:prstGeom prst="rect">
            <a:avLst/>
          </a:prstGeom>
          <a:noFill/>
        </p:spPr>
        <p:txBody>
          <a:bodyPr wrap="square" lIns="50400" tIns="21600" rIns="50400" bIns="21600" anchor="t">
            <a:spAutoFit/>
          </a:bodyPr>
          <a:lstStyle/>
          <a:p>
            <a:pPr algn="l">
              <a:lnSpc>
                <a:spcPct val="130000"/>
              </a:lnSpc>
              <a:spcAft>
                <a:spcPts val="600"/>
              </a:spcAft>
            </a:pPr>
            <a:r>
              <a:rPr sz="1000" dirty="0">
                <a:solidFill>
                  <a:srgbClr val="333333"/>
                </a:solidFill>
                <a:latin typeface="メイリオ"/>
                <a:ea typeface="メイリオ"/>
                <a:cs typeface="メイリオ"/>
              </a:rPr>
              <a:t>・</a:t>
            </a:r>
            <a:r>
              <a:rPr sz="1000" dirty="0" err="1">
                <a:solidFill>
                  <a:srgbClr val="333333"/>
                </a:solidFill>
                <a:latin typeface="メイリオ"/>
                <a:ea typeface="メイリオ"/>
                <a:cs typeface="メイリオ"/>
              </a:rPr>
              <a:t>教室の情報提供（実績・講師</a:t>
            </a:r>
            <a:r>
              <a:rPr sz="1000" dirty="0">
                <a:solidFill>
                  <a:srgbClr val="333333"/>
                </a:solidFill>
                <a:latin typeface="メイリオ"/>
                <a:ea typeface="メイリオ"/>
                <a:cs typeface="メイリオ"/>
              </a:rPr>
              <a:t>）</a:t>
            </a:r>
          </a:p>
          <a:p>
            <a:pPr algn="l">
              <a:lnSpc>
                <a:spcPct val="130000"/>
              </a:lnSpc>
              <a:spcAft>
                <a:spcPts val="600"/>
              </a:spcAft>
            </a:pPr>
            <a:r>
              <a:rPr sz="1000" dirty="0">
                <a:solidFill>
                  <a:srgbClr val="333333"/>
                </a:solidFill>
                <a:latin typeface="メイリオ"/>
                <a:ea typeface="メイリオ"/>
                <a:cs typeface="メイリオ"/>
              </a:rPr>
              <a:t>・</a:t>
            </a:r>
            <a:r>
              <a:rPr sz="1000" dirty="0" err="1">
                <a:solidFill>
                  <a:srgbClr val="333333"/>
                </a:solidFill>
                <a:latin typeface="メイリオ"/>
                <a:ea typeface="メイリオ"/>
                <a:cs typeface="メイリオ"/>
              </a:rPr>
              <a:t>体験・面談の実施</a:t>
            </a:r>
            <a:endParaRPr sz="1000" dirty="0">
              <a:solidFill>
                <a:srgbClr val="333333"/>
              </a:solidFill>
              <a:latin typeface="メイリオ"/>
              <a:ea typeface="メイリオ"/>
              <a:cs typeface="メイリオ"/>
            </a:endParaRPr>
          </a:p>
          <a:p>
            <a:pPr algn="l">
              <a:lnSpc>
                <a:spcPct val="130000"/>
              </a:lnSpc>
              <a:spcAft>
                <a:spcPts val="600"/>
              </a:spcAft>
            </a:pPr>
            <a:r>
              <a:rPr sz="1000" dirty="0">
                <a:solidFill>
                  <a:srgbClr val="333333"/>
                </a:solidFill>
                <a:latin typeface="メイリオ"/>
                <a:ea typeface="メイリオ"/>
                <a:cs typeface="メイリオ"/>
              </a:rPr>
              <a:t>・月1回の定例会にご参加</a:t>
            </a:r>
          </a:p>
        </p:txBody>
      </p:sp>
      <p:sp>
        <p:nvSpPr>
          <p:cNvPr id="17" name="TextBox 16"/>
          <p:cNvSpPr txBox="1"/>
          <p:nvPr/>
        </p:nvSpPr>
        <p:spPr>
          <a:xfrm>
            <a:off x="432000" y="3456000"/>
            <a:ext cx="9043200" cy="234000"/>
          </a:xfrm>
          <a:prstGeom prst="rect">
            <a:avLst/>
          </a:prstGeom>
          <a:noFill/>
        </p:spPr>
        <p:txBody>
          <a:bodyPr wrap="square" lIns="50400" tIns="21600" rIns="50400" bIns="21600" anchor="ctr">
            <a:spAutoFit/>
          </a:bodyPr>
          <a:lstStyle/>
          <a:p>
            <a:pPr algn="l"/>
            <a:r>
              <a:rPr sz="1200" b="1">
                <a:solidFill>
                  <a:srgbClr val="1F285A"/>
                </a:solidFill>
                <a:latin typeface="メイリオ"/>
                <a:ea typeface="メイリオ"/>
                <a:cs typeface="メイリオ"/>
              </a:rPr>
              <a:t>進め方のリズム</a:t>
            </a:r>
          </a:p>
        </p:txBody>
      </p:sp>
      <p:sp>
        <p:nvSpPr>
          <p:cNvPr id="18" name="Rounded Rectangle 17"/>
          <p:cNvSpPr/>
          <p:nvPr/>
        </p:nvSpPr>
        <p:spPr>
          <a:xfrm>
            <a:off x="432000" y="3743999"/>
            <a:ext cx="9043200" cy="432000"/>
          </a:xfrm>
          <a:prstGeom prst="roundRect">
            <a:avLst>
              <a:gd name="adj" fmla="val 6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03999" y="3815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毎月</a:t>
            </a:r>
          </a:p>
        </p:txBody>
      </p:sp>
      <p:sp>
        <p:nvSpPr>
          <p:cNvPr id="20" name="TextBox 19"/>
          <p:cNvSpPr txBox="1"/>
          <p:nvPr/>
        </p:nvSpPr>
        <p:spPr>
          <a:xfrm>
            <a:off x="1584000" y="3743999"/>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配信企画のご提案（弊社）→ 貴塾のご確認 → 配信 → レポート</a:t>
            </a:r>
          </a:p>
        </p:txBody>
      </p:sp>
      <p:sp>
        <p:nvSpPr>
          <p:cNvPr id="21" name="Rounded Rectangle 20"/>
          <p:cNvSpPr/>
          <p:nvPr/>
        </p:nvSpPr>
        <p:spPr>
          <a:xfrm>
            <a:off x="432000" y="4229999"/>
            <a:ext cx="9043200" cy="43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03999" y="4301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毎月</a:t>
            </a:r>
          </a:p>
        </p:txBody>
      </p:sp>
      <p:sp>
        <p:nvSpPr>
          <p:cNvPr id="23" name="TextBox 22"/>
          <p:cNvSpPr txBox="1"/>
          <p:nvPr/>
        </p:nvSpPr>
        <p:spPr>
          <a:xfrm>
            <a:off x="1584000" y="4229999"/>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定例会（30〜60分）：先月の数字の振り返りと翌月の企画</a:t>
            </a:r>
          </a:p>
        </p:txBody>
      </p:sp>
      <p:sp>
        <p:nvSpPr>
          <p:cNvPr id="24" name="Rounded Rectangle 23"/>
          <p:cNvSpPr/>
          <p:nvPr/>
        </p:nvSpPr>
        <p:spPr>
          <a:xfrm>
            <a:off x="432000" y="4715999"/>
            <a:ext cx="9043200" cy="432000"/>
          </a:xfrm>
          <a:prstGeom prst="roundRect">
            <a:avLst>
              <a:gd name="adj" fmla="val 6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03999" y="4787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四半期</a:t>
            </a:r>
          </a:p>
        </p:txBody>
      </p:sp>
      <p:sp>
        <p:nvSpPr>
          <p:cNvPr id="26" name="TextBox 25"/>
          <p:cNvSpPr txBox="1"/>
          <p:nvPr/>
        </p:nvSpPr>
        <p:spPr>
          <a:xfrm>
            <a:off x="1584000" y="4715999"/>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体験→入会の割合の確認と、施策の組み替え</a:t>
            </a:r>
          </a:p>
        </p:txBody>
      </p:sp>
      <p:sp>
        <p:nvSpPr>
          <p:cNvPr id="27" name="Rounded Rectangle 26"/>
          <p:cNvSpPr/>
          <p:nvPr/>
        </p:nvSpPr>
        <p:spPr>
          <a:xfrm>
            <a:off x="432000" y="5202000"/>
            <a:ext cx="9043200" cy="43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03999" y="5273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随時</a:t>
            </a:r>
          </a:p>
        </p:txBody>
      </p:sp>
      <p:sp>
        <p:nvSpPr>
          <p:cNvPr id="29" name="TextBox 28"/>
          <p:cNvSpPr txBox="1"/>
          <p:nvPr/>
        </p:nvSpPr>
        <p:spPr>
          <a:xfrm>
            <a:off x="1584000" y="5202000"/>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LINEトークで質問・相談（専用グループ）</a:t>
            </a:r>
          </a:p>
        </p:txBody>
      </p:sp>
      <p:sp>
        <p:nvSpPr>
          <p:cNvPr id="30" name="Rounded Rectangle 29"/>
          <p:cNvSpPr/>
          <p:nvPr/>
        </p:nvSpPr>
        <p:spPr>
          <a:xfrm>
            <a:off x="432000" y="5723999"/>
            <a:ext cx="9043200" cy="3096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0" rIns="72000" bIns="0" rtlCol="0" anchor="ctr"/>
          <a:lstStyle/>
          <a:p>
            <a:pPr algn="ctr"/>
            <a:r>
              <a:rPr sz="1400" b="1">
                <a:solidFill>
                  <a:srgbClr val="FFFFFF"/>
                </a:solidFill>
                <a:latin typeface="メイリオ"/>
                <a:ea typeface="メイリオ"/>
                <a:cs typeface="メイリオ"/>
              </a:rPr>
              <a:t>配信の実務は弊社が担当し、教室は授業と体験に集中できる。</a:t>
            </a:r>
          </a:p>
        </p:txBody>
      </p: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体制の人数・担当者名は契約時に確定する。定例会はオンライン可</a:t>
            </a:r>
          </a:p>
        </p:txBody>
      </p:sp>
      <p:sp>
        <p:nvSpPr>
          <p:cNvPr id="32" name="Pentagon 31"/>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Tree>
    <p:extLst>
      <p:ext uri="{BB962C8B-B14F-4D97-AF65-F5344CB8AC3E}">
        <p14:creationId xmlns:p14="http://schemas.microsoft.com/office/powerpoint/2010/main" val="14827790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700">
                <a:latin typeface="メイリオ" panose="020B0604030504040204" pitchFamily="50" charset="-128"/>
                <a:ea typeface="メイリオ" panose="020B0604030504040204" pitchFamily="50" charset="-128"/>
              </a:rPr>
              <a:t>集客動線</a:t>
            </a:r>
            <a:endParaRPr kumimoji="1" lang="ja-JP" altLang="en-US" sz="17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18の具体施策が、どのフェーズで効くかを1枚にまとめた。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友だち追加までが6施策、追加後が12施策。追加後の施策が多い構成。</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⑦入会（契約）</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300" b="1" dirty="0">
                <a:latin typeface="メイリオ" panose="020B0604030504040204" pitchFamily="50" charset="-128"/>
                <a:ea typeface="メイリオ" panose="020B0604030504040204" pitchFamily="50" charset="-128"/>
              </a:rPr>
              <a:t>⑥ 有効リードの再育成</a:t>
            </a:r>
            <a:endParaRPr lang="ja-JP" altLang="ja-JP" sz="13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⑧継続・紹介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どう友だちになっていただくか（①〜④）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LINE広告（友だち追加）</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〇〇タイプ診断</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LINE登録をゴールに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どう申し込みにつなげるか（⑤〜⑧）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キーワード自動応答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検討度の高い方の検知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未入会の方へ再案内</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時期に合わせた配信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通知メッセージで再案内</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資料請求後のリマインド</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自動応答と有人の切り替え</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入会後のフォロー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通塾状況に合わせた講習案内</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関連コースのご案内</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施策は友だち追加の後に多い。友だちを増やした後の関わり方で差がつく。</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15607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16522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1675046"/>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578878" y="309606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19966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217623"/>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21762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465624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474768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4765128"/>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156281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165425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14089" y="1672216"/>
            <a:ext cx="899146" cy="214480"/>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16722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10941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20085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465815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474959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1615636"/>
            <a:ext cx="859536" cy="282151"/>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1637651"/>
            <a:ext cx="859536" cy="281683"/>
          </a:xfrm>
          <a:prstGeom prst="rect">
            <a:avLst/>
          </a:prstGeom>
          <a:noFill/>
          <a:ln/>
        </p:spPr>
        <p:txBody>
          <a:bodyPr wrap="square" lIns="0" tIns="0" rIns="0" bIns="0" rtlCol="0" anchor="ctr"/>
          <a:lstStyle/>
          <a:p>
            <a:pPr algn="ctr"/>
            <a:r>
              <a:rPr lang="ja-JP" altLang="en-US" sz="900" b="1" dirty="0">
                <a:solidFill>
                  <a:srgbClr val="FDFDFD"/>
                </a:solidFill>
                <a:latin typeface="メイリオ"/>
                <a:ea typeface="メイリオ"/>
              </a:rPr>
              <a:t>流入</a:t>
            </a:r>
            <a:r>
              <a:rPr lang="en-US" altLang="ja-JP" sz="900" b="1" dirty="0">
                <a:solidFill>
                  <a:srgbClr val="FDFDFD"/>
                </a:solidFill>
                <a:latin typeface="メイリオ"/>
                <a:ea typeface="メイリオ"/>
              </a:rPr>
              <a:t>/</a:t>
            </a:r>
            <a:r>
              <a:rPr lang="ja-JP" altLang="en-US" sz="900" b="1" dirty="0">
                <a:solidFill>
                  <a:srgbClr val="FDFDFD"/>
                </a:solidFill>
                <a:latin typeface="メイリオ"/>
                <a:ea typeface="メイリオ"/>
              </a:rPr>
              <a:t>集客</a:t>
            </a:r>
            <a:endParaRPr lang="en-US" altLang="ja-JP" sz="900" b="1" dirty="0">
              <a:solidFill>
                <a:srgbClr val="FDFDFD"/>
              </a:solidFill>
              <a:latin typeface="メイリオ" panose="020B0604030504040204" pitchFamily="50" charset="-128"/>
            </a:endParaRPr>
          </a:p>
          <a:p>
            <a:pPr algn="ctr"/>
            <a:r>
              <a:rPr lang="ja-JP" altLang="en-US" sz="900" b="1" dirty="0">
                <a:solidFill>
                  <a:srgbClr val="FDFDFD"/>
                </a:solidFill>
                <a:latin typeface="メイリオ"/>
                <a:ea typeface="メイリオ"/>
              </a:rPr>
              <a:t>チャネル</a:t>
            </a:r>
            <a:endParaRPr lang="en-US" altLang="ja-JP" sz="400" b="1" dirty="0">
              <a:solidFill>
                <a:srgbClr val="FDFDFD"/>
              </a:solidFill>
              <a:latin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24407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離脱防止</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479209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14089" y="3245261"/>
            <a:ext cx="899146" cy="214480"/>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14089" y="4721862"/>
            <a:ext cx="901097" cy="306738"/>
          </a:xfrm>
          <a:prstGeom prst="roundRect">
            <a:avLst>
              <a:gd name="adj" fmla="val 18182"/>
            </a:avLst>
          </a:prstGeom>
          <a:solidFill>
            <a:srgbClr val="173559"/>
          </a:solidFill>
          <a:ln w="12700">
            <a:solidFill>
              <a:srgbClr val="D8D8E2"/>
            </a:solidFill>
            <a:prstDash val="solid"/>
          </a:ln>
        </p:spPr>
        <p:txBody>
          <a:bodyPr/>
          <a:lstStyle/>
          <a:p>
            <a:pPr algn="ctr"/>
            <a:r>
              <a:rPr lang="ja-JP" altLang="en-US" sz="800" b="1" dirty="0">
                <a:solidFill>
                  <a:srgbClr val="FDFDFD"/>
                </a:solidFill>
                <a:latin typeface="メイリオ" panose="020B0604030504040204" pitchFamily="50" charset="-128"/>
                <a:ea typeface="メイリオ" panose="020B0604030504040204" pitchFamily="50" charset="-128"/>
              </a:rPr>
              <a:t>サンクス</a:t>
            </a:r>
            <a:endParaRPr lang="en-US" altLang="ja-JP" sz="800" b="1" dirty="0">
              <a:solidFill>
                <a:srgbClr val="FDFDFD"/>
              </a:solidFill>
              <a:latin typeface="メイリオ" panose="020B0604030504040204" pitchFamily="50" charset="-128"/>
              <a:ea typeface="メイリオ" panose="020B0604030504040204" pitchFamily="50" charset="-128"/>
            </a:endParaRPr>
          </a:p>
          <a:p>
            <a:pPr algn="ctr"/>
            <a:r>
              <a:rPr lang="en-US" altLang="ja-JP" sz="800" b="1" dirty="0">
                <a:solidFill>
                  <a:srgbClr val="FDFDFD"/>
                </a:solidFill>
                <a:latin typeface="メイリオ" panose="020B0604030504040204" pitchFamily="50" charset="-128"/>
                <a:ea typeface="メイリオ" panose="020B0604030504040204" pitchFamily="50" charset="-128"/>
              </a:rPr>
              <a:t>LINE</a:t>
            </a:r>
            <a:r>
              <a:rPr lang="ja-JP" altLang="en-US" sz="800" b="1" dirty="0">
                <a:solidFill>
                  <a:srgbClr val="FDFDFD"/>
                </a:solidFill>
                <a:latin typeface="メイリオ" panose="020B0604030504040204" pitchFamily="50" charset="-128"/>
                <a:ea typeface="メイリオ" panose="020B0604030504040204" pitchFamily="50" charset="-128"/>
              </a:rPr>
              <a:t>誘導</a:t>
            </a:r>
          </a:p>
        </p:txBody>
      </p:sp>
      <p:sp>
        <p:nvSpPr>
          <p:cNvPr id="25" name="Text 110">
            <a:extLst>
              <a:ext uri="{FF2B5EF4-FFF2-40B4-BE49-F238E27FC236}">
                <a16:creationId xmlns:a16="http://schemas.microsoft.com/office/drawing/2014/main" id="{E8EED7F4-BAE1-D41E-67C4-68F570C48388}"/>
              </a:ext>
            </a:extLst>
          </p:cNvPr>
          <p:cNvSpPr/>
          <p:nvPr/>
        </p:nvSpPr>
        <p:spPr>
          <a:xfrm>
            <a:off x="5514089" y="3218704"/>
            <a:ext cx="899146" cy="183942"/>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4765128"/>
            <a:ext cx="859536" cy="164776"/>
          </a:xfrm>
          <a:prstGeom prst="rect">
            <a:avLst/>
          </a:prstGeom>
          <a:solidFill>
            <a:schemeClr val="tx2"/>
          </a:solidFill>
          <a:ln/>
        </p:spPr>
        <p:txBody>
          <a:bodyPr wrap="square" lIns="0" tIns="0" rIns="0" bIns="0" rtlCol="0" anchor="ctr"/>
          <a:lstStyle/>
          <a:p>
            <a:pPr marL="0" indent="0" algn="ctr">
              <a:buNone/>
            </a:pP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14089" y="1672216"/>
            <a:ext cx="899146" cy="214480"/>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無料特典</a:t>
            </a:r>
            <a:endParaRPr lang="en-US" sz="700" b="1"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1294892"/>
            <a:ext cx="1669123"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1294892"/>
            <a:ext cx="1669123" cy="182880"/>
          </a:xfrm>
          <a:prstGeom prst="rect">
            <a:avLst/>
          </a:prstGeom>
          <a:noFill/>
          <a:ln/>
        </p:spPr>
        <p:txBody>
          <a:bodyPr wrap="square" lIns="0" tIns="0" rIns="0" bIns="0" rtlCol="0" anchor="ctr"/>
          <a:lstStyle/>
          <a:p>
            <a:pPr marL="0" indent="0">
              <a:buNone/>
            </a:pPr>
            <a:r>
              <a:rPr lang="ja-JP" altLang="en-US" sz="9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9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15704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16618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16892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11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3235911"/>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217623"/>
            <a:ext cx="2907792"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1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466523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475667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4729244"/>
            <a:ext cx="859536" cy="256032"/>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再スクリーニング</a:t>
            </a:r>
          </a:p>
        </p:txBody>
      </p:sp>
      <p:sp>
        <p:nvSpPr>
          <p:cNvPr id="343" name="Text 57">
            <a:extLst>
              <a:ext uri="{FF2B5EF4-FFF2-40B4-BE49-F238E27FC236}">
                <a16:creationId xmlns:a16="http://schemas.microsoft.com/office/drawing/2014/main" id="{3D038977-48FB-088C-1A4C-879420FF6CE5}"/>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169050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1672216"/>
            <a:ext cx="3017520" cy="256032"/>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1150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2065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218704"/>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3233944"/>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478584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4767552"/>
            <a:ext cx="859536" cy="2177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1675046"/>
            <a:ext cx="859536" cy="190604"/>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15744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16659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1675046"/>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39813" y="1693334"/>
            <a:ext cx="880670" cy="246248"/>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アフターフォロー</a:t>
            </a:r>
          </a:p>
        </p:txBody>
      </p:sp>
      <p:sp>
        <p:nvSpPr>
          <p:cNvPr id="267" name="Text 21">
            <a:extLst>
              <a:ext uri="{FF2B5EF4-FFF2-40B4-BE49-F238E27FC236}">
                <a16:creationId xmlns:a16="http://schemas.microsoft.com/office/drawing/2014/main" id="{FCE3B029-FE9D-7576-7B05-2585AB5A66B1}"/>
              </a:ext>
            </a:extLst>
          </p:cNvPr>
          <p:cNvSpPr/>
          <p:nvPr/>
        </p:nvSpPr>
        <p:spPr>
          <a:xfrm>
            <a:off x="1993635" y="167504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2621391"/>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37770" y="3231978"/>
            <a:ext cx="882713" cy="241677"/>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217623"/>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469832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475598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47651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37770" y="4765128"/>
            <a:ext cx="882713" cy="206647"/>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紹介キャンペーン</a:t>
            </a:r>
          </a:p>
        </p:txBody>
      </p:sp>
      <p:sp>
        <p:nvSpPr>
          <p:cNvPr id="339" name="Text 57">
            <a:extLst>
              <a:ext uri="{FF2B5EF4-FFF2-40B4-BE49-F238E27FC236}">
                <a16:creationId xmlns:a16="http://schemas.microsoft.com/office/drawing/2014/main" id="{863EF515-E441-C008-46FD-E8772A47BE9A}"/>
              </a:ext>
            </a:extLst>
          </p:cNvPr>
          <p:cNvSpPr/>
          <p:nvPr/>
        </p:nvSpPr>
        <p:spPr>
          <a:xfrm>
            <a:off x="1993635"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169050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167221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11812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20956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23699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218704"/>
            <a:ext cx="859536" cy="189246"/>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4785840"/>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4767551"/>
            <a:ext cx="859536" cy="2042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1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1326857"/>
            <a:ext cx="2361009"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9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1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600354" y="1326857"/>
            <a:ext cx="2635329" cy="219533"/>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9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999987" y="1703397"/>
            <a:ext cx="938784" cy="238470"/>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999987" y="1703396"/>
            <a:ext cx="938784" cy="276035"/>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1663027"/>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1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10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105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2621391"/>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105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2621391"/>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105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25667" y="3207928"/>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25667" y="3207928"/>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999987" y="3230566"/>
            <a:ext cx="947928"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97523" y="3245973"/>
            <a:ext cx="859536"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2011923" y="3205604"/>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1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3643349"/>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10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158910"/>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105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11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105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25667"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25667"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999987" y="4795902"/>
            <a:ext cx="957072" cy="230221"/>
          </a:xfrm>
          <a:prstGeom prst="roundRect">
            <a:avLst>
              <a:gd name="adj" fmla="val 18182"/>
            </a:avLst>
          </a:prstGeom>
          <a:solidFill>
            <a:schemeClr val="tx2"/>
          </a:solidFill>
          <a:ln w="12700">
            <a:solidFill>
              <a:srgbClr val="D8D8E2"/>
            </a:solidFill>
            <a:prstDash val="solid"/>
          </a:ln>
        </p:spPr>
        <p:txBody>
          <a:bodyPr/>
          <a:lstStyle/>
          <a:p>
            <a:endParaRPr lang="ja-JP" altLang="en-US" sz="10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4788631"/>
            <a:ext cx="859536" cy="255874"/>
          </a:xfrm>
          <a:prstGeom prst="rect">
            <a:avLst/>
          </a:prstGeom>
          <a:no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2030211" y="4755532"/>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1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182003"/>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10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10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10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676275"/>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10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1703396"/>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450067" y="1694906"/>
            <a:ext cx="932688" cy="257094"/>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1663027"/>
            <a:ext cx="298094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スタッフにアラート通知</a:t>
            </a:r>
            <a:endParaRPr lang="en-US" sz="11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10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2621391"/>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105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105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a:t>
            </a:r>
            <a:endParaRPr lang="en-US" altLang="ja-JP" sz="1050" b="1" dirty="0">
              <a:solidFill>
                <a:srgbClr val="FFFFFF"/>
              </a:solidFill>
              <a:latin typeface="メイリオ" panose="020B0604030504040204" pitchFamily="50" charset="-128"/>
              <a:ea typeface="メイリオ" panose="020B0604030504040204" pitchFamily="50" charset="-128"/>
              <a:cs typeface="Calibri" pitchFamily="34" charset="-120"/>
            </a:endParaRPr>
          </a:p>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アラート</a:t>
            </a:r>
            <a:endParaRPr lang="en-US" altLang="ja-JP" sz="105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94035" y="3202373"/>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94035" y="3202373"/>
            <a:ext cx="274320" cy="339004"/>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41507" y="3247054"/>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486643" y="3247054"/>
            <a:ext cx="859536" cy="248603"/>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55907" y="3206685"/>
            <a:ext cx="279806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BOT初期対応</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→温度感に応じて人に切り替える</a:t>
            </a:r>
            <a:endParaRPr lang="en-US" sz="11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3609802"/>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10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105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105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105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69651"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69651"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17123" y="4795902"/>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486643" y="4795902"/>
            <a:ext cx="890016" cy="248603"/>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1523" y="4755533"/>
            <a:ext cx="305472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1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163094"/>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10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10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10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10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4070-0F2B-474C-0AD3-89D288BF8607}"/>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企画のご参考</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他塾ではまだ少ない企画の例（ご参考）。</a:t>
            </a:r>
          </a:p>
          <a:p>
            <a:pPr algn="l">
              <a:lnSpc>
                <a:spcPct val="128000"/>
              </a:lnSpc>
            </a:pPr>
            <a:r>
              <a:rPr sz="1200">
                <a:solidFill>
                  <a:srgbClr val="333333"/>
                </a:solidFill>
                <a:latin typeface="メイリオ"/>
                <a:ea typeface="メイリオ"/>
                <a:cs typeface="メイリオ"/>
              </a:rPr>
              <a:t>地域で先行できる企画案。</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55999"/>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3999" y="1781999"/>
            <a:ext cx="432000" cy="43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7" name="TextBox 6"/>
          <p:cNvSpPr txBox="1"/>
          <p:nvPr/>
        </p:nvSpPr>
        <p:spPr>
          <a:xfrm>
            <a:off x="1044000" y="1728000"/>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学年別・逆算カレンダー配信</a:t>
            </a:r>
          </a:p>
        </p:txBody>
      </p:sp>
      <p:sp>
        <p:nvSpPr>
          <p:cNvPr id="8" name="TextBox 7"/>
          <p:cNvSpPr txBox="1"/>
          <p:nvPr/>
        </p:nvSpPr>
        <p:spPr>
          <a:xfrm>
            <a:off x="3780000" y="1728000"/>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小3〜中2の保護者へ、学年ごとに「この時期にやるべきこと」を毎月配信。入塾が多い学年（中学受験は小4／その他は小5・6）の1学年前からつながる</a:t>
            </a:r>
          </a:p>
        </p:txBody>
      </p:sp>
      <p:sp>
        <p:nvSpPr>
          <p:cNvPr id="9" name="Rounded Rectangle 8"/>
          <p:cNvSpPr/>
          <p:nvPr/>
        </p:nvSpPr>
        <p:spPr>
          <a:xfrm>
            <a:off x="432000" y="2430000"/>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3999" y="2556000"/>
            <a:ext cx="432000" cy="43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11" name="TextBox 10"/>
          <p:cNvSpPr txBox="1"/>
          <p:nvPr/>
        </p:nvSpPr>
        <p:spPr>
          <a:xfrm>
            <a:off x="1044000" y="2502000"/>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テスト返却週のピンポイント配信</a:t>
            </a:r>
          </a:p>
        </p:txBody>
      </p:sp>
      <p:sp>
        <p:nvSpPr>
          <p:cNvPr id="12" name="TextBox 11"/>
          <p:cNvSpPr txBox="1"/>
          <p:nvPr/>
        </p:nvSpPr>
        <p:spPr>
          <a:xfrm>
            <a:off x="3780000" y="2502000"/>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定期テストの返却時期に合わせて「点数の見方」を配信。中学生の入塾きっかけ1位は「成績が不安」52.4%</a:t>
            </a:r>
          </a:p>
        </p:txBody>
      </p:sp>
      <p:sp>
        <p:nvSpPr>
          <p:cNvPr id="17" name="Rounded Rectangle 16"/>
          <p:cNvSpPr/>
          <p:nvPr/>
        </p:nvSpPr>
        <p:spPr>
          <a:xfrm>
            <a:off x="432000" y="3203999"/>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03999" y="3329999"/>
            <a:ext cx="432000" cy="43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19" name="TextBox 18"/>
          <p:cNvSpPr txBox="1"/>
          <p:nvPr/>
        </p:nvSpPr>
        <p:spPr>
          <a:xfrm>
            <a:off x="1044000" y="3275999"/>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保護者向け「進路のきほん」ミニ講座</a:t>
            </a:r>
          </a:p>
        </p:txBody>
      </p:sp>
      <p:sp>
        <p:nvSpPr>
          <p:cNvPr id="20" name="TextBox 19"/>
          <p:cNvSpPr txBox="1"/>
          <p:nvPr/>
        </p:nvSpPr>
        <p:spPr>
          <a:xfrm>
            <a:off x="3780000" y="3275999"/>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LINEで完結する3分×5回の配信講座。決定関与は保護者80.5%。保護者自身の知識不足を埋める</a:t>
            </a:r>
          </a:p>
        </p:txBody>
      </p:sp>
      <p:sp>
        <p:nvSpPr>
          <p:cNvPr id="21" name="Rounded Rectangle 20"/>
          <p:cNvSpPr/>
          <p:nvPr/>
        </p:nvSpPr>
        <p:spPr>
          <a:xfrm>
            <a:off x="432000" y="3978000"/>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03999" y="4104000"/>
            <a:ext cx="432000" cy="432000"/>
          </a:xfrm>
          <a:prstGeom prst="roundRect">
            <a:avLst>
              <a:gd name="adj" fmla="val 6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23" name="TextBox 22"/>
          <p:cNvSpPr txBox="1"/>
          <p:nvPr/>
        </p:nvSpPr>
        <p:spPr>
          <a:xfrm>
            <a:off x="1044000" y="4049999"/>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AIによる学習相談ボット</a:t>
            </a:r>
          </a:p>
        </p:txBody>
      </p:sp>
      <p:sp>
        <p:nvSpPr>
          <p:cNvPr id="24" name="TextBox 23"/>
          <p:cNvSpPr txBox="1"/>
          <p:nvPr/>
        </p:nvSpPr>
        <p:spPr>
          <a:xfrm>
            <a:off x="3780000" y="4049999"/>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24時間の質問対応。ただし塾は「先生」で選ばれる業界のため、有人対応の価値を下げない設計が必要</a:t>
            </a:r>
          </a:p>
        </p:txBody>
      </p:sp>
      <p:sp>
        <p:nvSpPr>
          <p:cNvPr id="25" name="Rounded Rectangle 24"/>
          <p:cNvSpPr/>
          <p:nvPr/>
        </p:nvSpPr>
        <p:spPr>
          <a:xfrm>
            <a:off x="432000" y="5580000"/>
            <a:ext cx="9043200" cy="3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76000" y="5598000"/>
            <a:ext cx="8755200" cy="324000"/>
          </a:xfrm>
          <a:prstGeom prst="rect">
            <a:avLst/>
          </a:prstGeom>
          <a:noFill/>
        </p:spPr>
        <p:txBody>
          <a:bodyPr wrap="square" lIns="50400" tIns="21600" rIns="50400" bIns="21600" anchor="ctr">
            <a:spAutoFit/>
          </a:bodyPr>
          <a:lstStyle/>
          <a:p>
            <a:pPr algn="ctr"/>
            <a:r>
              <a:rPr sz="1150">
                <a:solidFill>
                  <a:srgbClr val="333333"/>
                </a:solidFill>
                <a:latin typeface="メイリオ"/>
                <a:ea typeface="メイリオ"/>
                <a:cs typeface="メイリオ"/>
              </a:rPr>
              <a:t>◎＝根拠データあり・すぐ実行できる　／　○＝条件付きで有効　／　△＝この業界では優先度低（弊社の見解）</a:t>
            </a:r>
          </a:p>
        </p:txBody>
      </p: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優先度の判定は弊社の見解。根拠は巻末の出典一覧を参照</a:t>
            </a:r>
          </a:p>
        </p:txBody>
      </p:sp>
      <p:sp>
        <p:nvSpPr>
          <p:cNvPr id="28" name="Pentagon 27"/>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29" name="Chevron 28"/>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30" name="Chevron 29"/>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31" name="Chevron 30"/>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32" name="Chevron 31"/>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33" name="Chevron 32"/>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34" name="Chevron 33"/>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35" name="Chevron 34"/>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Tree>
    <p:extLst>
      <p:ext uri="{BB962C8B-B14F-4D97-AF65-F5344CB8AC3E}">
        <p14:creationId xmlns:p14="http://schemas.microsoft.com/office/powerpoint/2010/main" val="9010635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E1A8-B06F-74B4-1E2A-7416EDA4E82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この資料の出典</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50">
                <a:solidFill>
                  <a:srgbClr val="333333"/>
                </a:solidFill>
                <a:latin typeface="メイリオ"/>
                <a:ea typeface="メイリオ"/>
                <a:cs typeface="メイリオ"/>
              </a:rPr>
              <a:t>この資料で使用した数値の出典一覧。</a:t>
            </a:r>
          </a:p>
          <a:p>
            <a:pPr algn="l">
              <a:lnSpc>
                <a:spcPct val="128000"/>
              </a:lnSpc>
            </a:pPr>
            <a:r>
              <a:rPr sz="1250">
                <a:solidFill>
                  <a:srgbClr val="333333"/>
                </a:solidFill>
                <a:latin typeface="メイリオ"/>
                <a:ea typeface="メイリオ"/>
                <a:cs typeface="メイリオ"/>
              </a:rPr>
              <a:t>出典のない数値は記載していない。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業界指標／自社実績／業界推計値／モデル値は、ラベルを分けて表記している</a:t>
            </a:r>
          </a:p>
        </p:txBody>
      </p:sp>
      <p:sp>
        <p:nvSpPr>
          <p:cNvPr id="13" name="Rectangle 12"/>
          <p:cNvSpPr/>
          <p:nvPr/>
        </p:nvSpPr>
        <p:spPr>
          <a:xfrm>
            <a:off x="432000" y="1512000"/>
            <a:ext cx="1296000" cy="251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ページ</a:t>
            </a:r>
          </a:p>
        </p:txBody>
      </p:sp>
      <p:sp>
        <p:nvSpPr>
          <p:cNvPr id="14" name="Rectangle 13"/>
          <p:cNvSpPr/>
          <p:nvPr/>
        </p:nvSpPr>
        <p:spPr>
          <a:xfrm>
            <a:off x="1764000" y="1512000"/>
            <a:ext cx="7711200" cy="251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出典</a:t>
            </a:r>
          </a:p>
        </p:txBody>
      </p:sp>
      <p:sp>
        <p:nvSpPr>
          <p:cNvPr id="15" name="Rectangle 14"/>
          <p:cNvSpPr/>
          <p:nvPr/>
        </p:nvSpPr>
        <p:spPr>
          <a:xfrm>
            <a:off x="432000" y="1800000"/>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P5</a:t>
            </a:r>
          </a:p>
        </p:txBody>
      </p:sp>
      <p:sp>
        <p:nvSpPr>
          <p:cNvPr id="16" name="Rectangle 15"/>
          <p:cNvSpPr/>
          <p:nvPr/>
        </p:nvSpPr>
        <p:spPr>
          <a:xfrm>
            <a:off x="1764000" y="1800000"/>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厚労省 人口動態統計／経産省 特定サービス産業動態統計／文科省 学校基本調査／矢野経済研究所 2024</a:t>
            </a:r>
          </a:p>
        </p:txBody>
      </p:sp>
      <p:sp>
        <p:nvSpPr>
          <p:cNvPr id="19" name="Rectangle 18"/>
          <p:cNvSpPr/>
          <p:nvPr/>
        </p:nvSpPr>
        <p:spPr>
          <a:xfrm>
            <a:off x="432000" y="2142000"/>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P7</a:t>
            </a:r>
          </a:p>
        </p:txBody>
      </p:sp>
      <p:sp>
        <p:nvSpPr>
          <p:cNvPr id="20" name="Rectangle 19"/>
          <p:cNvSpPr/>
          <p:nvPr/>
        </p:nvSpPr>
        <p:spPr>
          <a:xfrm>
            <a:off x="1764000" y="2142000"/>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LINEヤフー前後検索（実測）／塾ナラ 2025 n=200／塾シル・ユナイトプロジェクト 2026 n=249／明光ネットワークジャパン 2020</a:t>
            </a:r>
          </a:p>
        </p:txBody>
      </p:sp>
      <p:sp>
        <p:nvSpPr>
          <p:cNvPr id="21" name="Rectangle 20"/>
          <p:cNvSpPr/>
          <p:nvPr/>
        </p:nvSpPr>
        <p:spPr>
          <a:xfrm>
            <a:off x="432000" y="2484000"/>
            <a:ext cx="12960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P8〜P11・P13・P31</a:t>
            </a:r>
          </a:p>
        </p:txBody>
      </p:sp>
      <p:sp>
        <p:nvSpPr>
          <p:cNvPr id="22" name="Rectangle 21"/>
          <p:cNvSpPr/>
          <p:nvPr/>
        </p:nvSpPr>
        <p:spPr>
          <a:xfrm>
            <a:off x="1764000" y="2484000"/>
            <a:ext cx="77112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LINEヤフー前後検索（2026年10月取得）起点KW：中学受験 塾／中高一貫 塾／高校受験 塾／英語 塾</a:t>
            </a:r>
          </a:p>
        </p:txBody>
      </p:sp>
      <p:sp>
        <p:nvSpPr>
          <p:cNvPr id="23" name="Rectangle 22"/>
          <p:cNvSpPr/>
          <p:nvPr/>
        </p:nvSpPr>
        <p:spPr>
          <a:xfrm>
            <a:off x="432000" y="2826000"/>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P12・P35</a:t>
            </a:r>
          </a:p>
        </p:txBody>
      </p:sp>
      <p:sp>
        <p:nvSpPr>
          <p:cNvPr id="24" name="Rectangle 23"/>
          <p:cNvSpPr/>
          <p:nvPr/>
        </p:nvSpPr>
        <p:spPr>
          <a:xfrm>
            <a:off x="1764000" y="2826000"/>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Googleトレンド 日本 2026年年初来（実測）</a:t>
            </a:r>
          </a:p>
        </p:txBody>
      </p:sp>
      <p:sp>
        <p:nvSpPr>
          <p:cNvPr id="25" name="Rectangle 24"/>
          <p:cNvSpPr/>
          <p:nvPr/>
        </p:nvSpPr>
        <p:spPr>
          <a:xfrm>
            <a:off x="432000" y="3168000"/>
            <a:ext cx="12960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P14</a:t>
            </a:r>
          </a:p>
        </p:txBody>
      </p:sp>
      <p:sp>
        <p:nvSpPr>
          <p:cNvPr id="26" name="Rectangle 25"/>
          <p:cNvSpPr/>
          <p:nvPr/>
        </p:nvSpPr>
        <p:spPr>
          <a:xfrm>
            <a:off x="1764000" y="3168000"/>
            <a:ext cx="77112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各社LINE公式アカウント（page.line.me）・公式サイト 2026-09-25取得</a:t>
            </a:r>
          </a:p>
        </p:txBody>
      </p:sp>
      <p:sp>
        <p:nvSpPr>
          <p:cNvPr id="27" name="Rectangle 26"/>
          <p:cNvSpPr/>
          <p:nvPr/>
        </p:nvSpPr>
        <p:spPr>
          <a:xfrm>
            <a:off x="432000" y="3851998"/>
            <a:ext cx="12960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P26・P36</a:t>
            </a:r>
          </a:p>
        </p:txBody>
      </p:sp>
      <p:sp>
        <p:nvSpPr>
          <p:cNvPr id="28" name="Rectangle 27"/>
          <p:cNvSpPr/>
          <p:nvPr/>
        </p:nvSpPr>
        <p:spPr>
          <a:xfrm>
            <a:off x="1764000" y="3851998"/>
            <a:ext cx="77112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POPER「Comiru」保護者と学習塾の意識調査 2022年 n=300</a:t>
            </a:r>
          </a:p>
        </p:txBody>
      </p:sp>
      <p:sp>
        <p:nvSpPr>
          <p:cNvPr id="29" name="Rectangle 28"/>
          <p:cNvSpPr/>
          <p:nvPr/>
        </p:nvSpPr>
        <p:spPr>
          <a:xfrm>
            <a:off x="432000" y="4193998"/>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P54</a:t>
            </a:r>
          </a:p>
        </p:txBody>
      </p:sp>
      <p:sp>
        <p:nvSpPr>
          <p:cNvPr id="30" name="Rectangle 29"/>
          <p:cNvSpPr/>
          <p:nvPr/>
        </p:nvSpPr>
        <p:spPr>
          <a:xfrm>
            <a:off x="1764000" y="4193998"/>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オリコンME 2025 学習塾 利用実態データ／インタースペース「ママスタ」2021年 n=1,037</a:t>
            </a:r>
          </a:p>
        </p:txBody>
      </p:sp>
      <p:sp>
        <p:nvSpPr>
          <p:cNvPr id="34" name="Rectangle 27"/>
          <p:cNvSpPr/>
          <p:nvPr/>
        </p:nvSpPr>
        <p:spPr>
          <a:xfrm>
            <a:off x="1764000" y="3509999"/>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LINEヤフー for Business 導入事例 明光義塾（2024年4月5日・掲載の図版を含む）／明光義塾 LINE公式アカウント（2026-10-19 弊社確認）</a:t>
            </a:r>
          </a:p>
        </p:txBody>
      </p:sp>
      <p:sp>
        <p:nvSpPr>
          <p:cNvPr id="33" name="Rectangle 26"/>
          <p:cNvSpPr/>
          <p:nvPr/>
        </p:nvSpPr>
        <p:spPr>
          <a:xfrm>
            <a:off x="432000" y="3509999"/>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P15〜P17・P21</a:t>
            </a:r>
          </a:p>
        </p:txBody>
      </p:sp>
      <p:sp>
        <p:nvSpPr>
          <p:cNvPr id="31" name="Rounded Rectangle 30"/>
          <p:cNvSpPr/>
          <p:nvPr/>
        </p:nvSpPr>
        <p:spPr>
          <a:xfrm>
            <a:off x="432000" y="4644000"/>
            <a:ext cx="9043200" cy="1080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1300" b="1">
                <a:solidFill>
                  <a:srgbClr val="1F285A"/>
                </a:solidFill>
                <a:latin typeface="メイリオ"/>
                <a:ea typeface="メイリオ"/>
                <a:cs typeface="メイリオ"/>
              </a:rPr>
              <a:t>LINEヤフー公式データ</a:t>
            </a:r>
          </a:p>
          <a:p>
            <a:pPr algn="l"/>
            <a:r>
              <a:rPr sz="1150" b="0">
                <a:solidFill>
                  <a:srgbClr val="333333"/>
                </a:solidFill>
                <a:latin typeface="メイリオ"/>
                <a:ea typeface="メイリオ"/>
                <a:cs typeface="メイリオ"/>
              </a:rPr>
              <a:t>・LINE 国内月間利用者数：1億人突破（2025年12月末時点）</a:t>
            </a:r>
          </a:p>
          <a:p>
            <a:pPr algn="l"/>
            <a:r>
              <a:rPr sz="1150" b="0">
                <a:solidFill>
                  <a:srgbClr val="333333"/>
                </a:solidFill>
                <a:latin typeface="メイリオ"/>
                <a:ea typeface="メイリオ"/>
                <a:cs typeface="メイリオ"/>
              </a:rPr>
              <a:t>・メッセージの開封：受信直後 約2割／3〜6時間で約5割／当日中に約8割</a:t>
            </a:r>
          </a:p>
        </p:txBody>
      </p:sp>
    </p:spTree>
    <p:extLst>
      <p:ext uri="{BB962C8B-B14F-4D97-AF65-F5344CB8AC3E}">
        <p14:creationId xmlns:p14="http://schemas.microsoft.com/office/powerpoint/2010/main" val="19326644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141730</TotalTime>
  <Words>8958</Words>
  <Application>Microsoft Office PowerPoint</Application>
  <PresentationFormat>A4 210 x 297 mm</PresentationFormat>
  <Paragraphs>2049</Paragraphs>
  <Slides>56</Slides>
  <Notes>11</Notes>
  <HiddenSlides>5</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56</vt:i4>
      </vt:variant>
    </vt:vector>
  </HeadingPairs>
  <TitlesOfParts>
    <vt:vector size="63" baseType="lpstr">
      <vt:lpstr>ＭＳ Ｐゴシック</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1924</cp:revision>
  <cp:lastPrinted>2022-11-01T11:38:14Z</cp:lastPrinted>
  <dcterms:created xsi:type="dcterms:W3CDTF">2015-09-04T09:21:15Z</dcterms:created>
  <dcterms:modified xsi:type="dcterms:W3CDTF">2026-10-21T07:29:34Z</dcterms:modified>
</cp:coreProperties>
</file>