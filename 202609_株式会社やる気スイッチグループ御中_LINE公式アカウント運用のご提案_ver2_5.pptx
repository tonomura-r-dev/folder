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2"/>
  </p:notesMasterIdLst>
  <p:handoutMasterIdLst>
    <p:handoutMasterId r:id="rId63"/>
  </p:handoutMasterIdLst>
  <p:sldIdLst>
    <p:sldId id="2363" r:id="rId3"/>
    <p:sldId id="2971" r:id="rId4"/>
    <p:sldId id="2993" r:id="rId5"/>
    <p:sldId id="2972" r:id="rId6"/>
    <p:sldId id="3007" r:id="rId7"/>
    <p:sldId id="2994" r:id="rId8"/>
    <p:sldId id="2995" r:id="rId9"/>
    <p:sldId id="3003" r:id="rId10"/>
    <p:sldId id="3002" r:id="rId11"/>
    <p:sldId id="3001" r:id="rId12"/>
    <p:sldId id="2999" r:id="rId13"/>
    <p:sldId id="3004" r:id="rId14"/>
    <p:sldId id="2736" r:id="rId15"/>
    <p:sldId id="2987" r:id="rId16"/>
    <p:sldId id="2997" r:id="rId17"/>
    <p:sldId id="2996" r:id="rId18"/>
    <p:sldId id="2973" r:id="rId19"/>
    <p:sldId id="2977" r:id="rId20"/>
    <p:sldId id="2979" r:id="rId21"/>
    <p:sldId id="3000" r:id="rId22"/>
    <p:sldId id="3008" r:id="rId68"/>
    <p:sldId id="2908" r:id="rId23"/>
    <p:sldId id="2998" r:id="rId24"/>
    <p:sldId id="3009" r:id="rId69"/>
    <p:sldId id="2990" r:id="rId25"/>
    <p:sldId id="3005" r:id="rId26"/>
    <p:sldId id="2986" r:id="rId27"/>
    <p:sldId id="3006" r:id="rId28"/>
    <p:sldId id="2991" r:id="rId29"/>
    <p:sldId id="2737" r:id="rId30"/>
    <p:sldId id="3010" r:id="rId70"/>
    <p:sldId id="2989" r:id="rId31"/>
    <p:sldId id="2563" r:id="rId32"/>
    <p:sldId id="2959" r:id="rId33"/>
    <p:sldId id="2970" r:id="rId34"/>
    <p:sldId id="2968" r:id="rId35"/>
    <p:sldId id="2969" r:id="rId36"/>
    <p:sldId id="2639" r:id="rId37"/>
    <p:sldId id="3011" r:id="rId71"/>
    <p:sldId id="2957" r:id="rId38"/>
    <p:sldId id="2951" r:id="rId39"/>
    <p:sldId id="2841" r:id="rId40"/>
    <p:sldId id="3012" r:id="rId72"/>
    <p:sldId id="2734" r:id="rId41"/>
    <p:sldId id="2595" r:id="rId42"/>
    <p:sldId id="2566" r:id="rId43"/>
    <p:sldId id="2915" r:id="rId44"/>
    <p:sldId id="2619" r:id="rId45"/>
    <p:sldId id="2761" r:id="rId46"/>
    <p:sldId id="2935" r:id="rId47"/>
    <p:sldId id="2919" r:id="rId48"/>
    <p:sldId id="2519" r:id="rId49"/>
    <p:sldId id="2931" r:id="rId50"/>
    <p:sldId id="2749" r:id="rId51"/>
    <p:sldId id="2950" r:id="rId52"/>
    <p:sldId id="2961" r:id="rId53"/>
    <p:sldId id="2849" r:id="rId54"/>
    <p:sldId id="2904" r:id="rId55"/>
    <p:sldId id="2905" r:id="rId56"/>
    <p:sldId id="2906" r:id="rId57"/>
    <p:sldId id="2907" r:id="rId58"/>
    <p:sldId id="2575" r:id="rId59"/>
    <p:sldId id="2910" r:id="rId60"/>
    <p:sldId id="1169" r:id="rId61"/>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notesMaster" Target="notesMasters/notesMaster1.xml"/><Relationship Id="rId63" Type="http://schemas.openxmlformats.org/officeDocument/2006/relationships/handoutMaster" Target="handoutMasters/handout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2026/9/30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297-1C60-1B47-1371-71E9182BCB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8E7FAC-7C31-2BF5-99A0-B567314FF8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D9BB1D-280D-F986-C5BD-B8EA9C52BE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45DE59-8CC7-2B95-A35B-4990F6D674F1}"/>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487588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00FA-BE78-95FE-0350-A4F0396FFF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C15E1A-F54C-3203-065A-E98A027A09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AE28B8-9549-F5B4-6969-5885B85CCC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C20ED0-F80D-F8F8-F1CB-2D28DC68BCAB}"/>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91895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6E8F5-BBD3-0231-A307-D47C566A9F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BFD107-29C2-1C0C-2391-CF3D41D4AE5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60E4A0-B5DF-7E8F-9287-E56FCAFE258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61D2291-B783-1AA7-A21C-3450133A3B7C}"/>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772916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12A7A-9C17-F191-B8A5-07AB24256E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62CB65-47CA-40CE-B910-EFFA15F9EFB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758557-6179-7BE8-A51E-51B7EB03AE8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FF1C258-C7A8-70CB-60F9-410CC6748283}"/>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758864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3C2E-8631-0E38-6C31-C6DED150D2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48057B-4969-D8FF-F0AC-CA210AA37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70A271-6E49-37E3-A907-5C2BD56721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C12D90D-F41A-5474-D369-5759C78B843B}"/>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162817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880EF-6C8C-B780-9BB3-1B0757C006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AB9840-7942-E115-501A-18129D7717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A1841C-729C-28E2-58FF-5212B200D2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47DBBA-098F-116B-BB87-D1F9D32E060E}"/>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790818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91335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8432E-C2C6-89CF-C006-DD360C6CBC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7CA1C0-54B2-C273-9EFA-4A233AA33F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6AE94C-3A31-DE43-5CF3-F8B06624D4B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92184BA-3FBD-5E23-D138-23E1190BD57E}"/>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783841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9F94-460F-5A9A-D53E-BD9AF25C60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80BBC6-A0FB-42D9-3A8A-800D9E47CF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DCB781-2099-65DC-EA96-CC827630AFB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72154FB-F3CF-6922-2040-70A35BD97D62}"/>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023598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949648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3994786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1158505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6D97-D2AE-47E8-CEF6-DF7B01DBF3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7462C0-C3A5-BB88-91F7-226AFC2244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40E553-EB2C-9ACD-C50F-CC21DD6D00A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59E7342-2894-A379-2FAD-61B82347D6FE}"/>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2829730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AC78-50A4-F913-B3AF-274D32241D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EBEBB5-128F-0CAF-8FD7-D219209161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9E3D02-55AC-2638-9F09-898F0C8E63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51B9F10-F34C-A78C-BAAF-5494CD58A784}"/>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985453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40</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59</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7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eg"/><Relationship Id="rId3" Type="http://schemas.openxmlformats.org/officeDocument/2006/relationships/image" Target="../media/image31.jpe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jpe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7.png"/><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5.svg"/><Relationship Id="rId4" Type="http://schemas.openxmlformats.org/officeDocument/2006/relationships/image" Target="../media/image56.svg"/><Relationship Id="rId5" Type="http://schemas.openxmlformats.org/officeDocument/2006/relationships/image" Target="../media/image57.svg"/><Relationship Id="rId6" Type="http://schemas.openxmlformats.org/officeDocument/2006/relationships/image" Target="../media/image58.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emf"/><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image" Target="../media/image76.jpeg"/><Relationship Id="rId7" Type="http://schemas.openxmlformats.org/officeDocument/2006/relationships/image" Target="../media/image77.jpeg"/><Relationship Id="rId8" Type="http://schemas.openxmlformats.org/officeDocument/2006/relationships/image" Target="../media/image78.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株式会社やる気スイッチグループ 御中</a:t>
            </a:r>
          </a:p>
        </p:txBody>
      </p:sp>
      <p:pic>
        <p:nvPicPr>
          <p:cNvPr id="16" name="図 15">
            <a:extLst>
              <a:ext uri="{FF2B5EF4-FFF2-40B4-BE49-F238E27FC236}">
                <a16:creationId xmlns:a16="http://schemas.microsoft.com/office/drawing/2014/main" id="{F5FA6CC7-CA8F-92E6-C244-18831D0C0295}"/>
              </a:ext>
            </a:extLst>
          </p:cNvPr>
          <p:cNvPicPr>
            <a:picLocks noChangeAspect="1"/>
          </p:cNvPicPr>
          <p:nvPr/>
        </p:nvPicPr>
        <p:blipFill>
          <a:blip r:embed="rId3"/>
          <a:stretch>
            <a:fillRect/>
          </a:stretch>
        </p:blipFill>
        <p:spPr>
          <a:xfrm>
            <a:off x="5297860" y="3402512"/>
            <a:ext cx="1763918" cy="511042"/>
          </a:xfrm>
          <a:prstGeom prst="rect">
            <a:avLst/>
          </a:prstGeom>
        </p:spPr>
      </p:pic>
      <p:pic>
        <p:nvPicPr>
          <p:cNvPr id="18" name="図 17">
            <a:extLst>
              <a:ext uri="{FF2B5EF4-FFF2-40B4-BE49-F238E27FC236}">
                <a16:creationId xmlns:a16="http://schemas.microsoft.com/office/drawing/2014/main" id="{A18567FA-559F-28F3-12A5-872E80F869D3}"/>
              </a:ext>
            </a:extLst>
          </p:cNvPr>
          <p:cNvPicPr>
            <a:picLocks noChangeAspect="1"/>
          </p:cNvPicPr>
          <p:nvPr/>
        </p:nvPicPr>
        <p:blipFill>
          <a:blip r:embed="rId4"/>
          <a:stretch>
            <a:fillRect/>
          </a:stretch>
        </p:blipFill>
        <p:spPr>
          <a:xfrm>
            <a:off x="3099814" y="3370502"/>
            <a:ext cx="1694693" cy="575063"/>
          </a:xfrm>
          <a:prstGeom prst="rect">
            <a:avLst/>
          </a:prstGeom>
        </p:spPr>
      </p:pic>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忍者ナイン</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EB2DD2D7-F323-5565-89B7-F197B808D898}"/>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7302A54D-423F-C71A-CF81-E2452E967C73}"/>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17,607</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7,000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D32F8AF1-295B-DEF7-DF39-7ADF991996BA}"/>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780FE50C-6BE9-89A2-9A39-FEB38C461055}"/>
              </a:ext>
            </a:extLst>
          </p:cNvPr>
          <p:cNvSpPr txBox="1"/>
          <p:nvPr/>
        </p:nvSpPr>
        <p:spPr>
          <a:xfrm>
            <a:off x="605520" y="806419"/>
            <a:ext cx="8797260" cy="461665"/>
          </a:xfrm>
          <a:prstGeom prst="rect">
            <a:avLst/>
          </a:prstGeom>
          <a:noFill/>
        </p:spPr>
        <p:txBody>
          <a:bodyPr wrap="square">
            <a:spAutoFit/>
          </a:bodyPr>
          <a:lstStyle/>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サイト流入数は安定していそうだが、</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を図って</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いく。</a:t>
            </a:r>
            <a:endParaRPr lang="ja-JP" altLang="en-US" sz="1400" dirty="0"/>
          </a:p>
        </p:txBody>
      </p:sp>
      <p:pic>
        <p:nvPicPr>
          <p:cNvPr id="11" name="図 10">
            <a:extLst>
              <a:ext uri="{FF2B5EF4-FFF2-40B4-BE49-F238E27FC236}">
                <a16:creationId xmlns:a16="http://schemas.microsoft.com/office/drawing/2014/main" id="{CF50BD48-FC75-6DA2-1A57-02F2D17728F6}"/>
              </a:ext>
            </a:extLst>
          </p:cNvPr>
          <p:cNvPicPr>
            <a:picLocks noChangeAspect="1"/>
          </p:cNvPicPr>
          <p:nvPr/>
        </p:nvPicPr>
        <p:blipFill>
          <a:blip r:embed="rId4"/>
          <a:stretch>
            <a:fillRect/>
          </a:stretch>
        </p:blipFill>
        <p:spPr>
          <a:xfrm>
            <a:off x="495219" y="2017307"/>
            <a:ext cx="1575169" cy="3199306"/>
          </a:xfrm>
          <a:prstGeom prst="rect">
            <a:avLst/>
          </a:prstGeom>
        </p:spPr>
      </p:pic>
      <p:sp>
        <p:nvSpPr>
          <p:cNvPr id="15" name="テキスト ボックス 14">
            <a:extLst>
              <a:ext uri="{FF2B5EF4-FFF2-40B4-BE49-F238E27FC236}">
                <a16:creationId xmlns:a16="http://schemas.microsoft.com/office/drawing/2014/main" id="{721AAE50-63B8-A073-1228-D24794D0EE6B}"/>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FD3AAEC4-2DF3-24CA-07F4-78FF480D3C0B}"/>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9925E0-24D6-764D-FC59-198A43FE162D}"/>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7848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50E5-D5A1-CFDF-111D-4022C3ACFF30}"/>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E31A894-E8DC-C040-E38B-038A8EF528E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D68C335-D806-837C-26CA-E0BD169C64B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F2C0452-B9E6-F1EE-DD53-83755CCCC88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AD2E002-BC79-F49E-26BC-844143DB1CB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チャイルドアイズ</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6DA3B365-02D9-8B5B-1299-3D8406BB3D5C}"/>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F8313A60-EA49-F9B7-6C41-949A968F0600}"/>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6B7452FF-3064-3C53-0009-2FF21E2A20E3}"/>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4DE653A3-6A01-144F-1BF8-1590962028E3}"/>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4BC7545E-7F3F-B8DD-FAA4-D802246C1236}"/>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4FD3FA7D-7FF2-4236-7135-48E5D06D806B}"/>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641B3AFA-24D2-E56E-9A38-AC3FAFF26FEF}"/>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B47911B-0E60-1A54-28E3-4822D0F71546}"/>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786D7DA7-503E-05B5-F9CB-0A21161B6913}"/>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EA788168-7029-078F-5BD8-F04485F4755A}"/>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43A76DAB-1A67-A2FA-CB9F-4E749C2AE08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09C9ADFA-9068-E4AF-1EEA-6AA96D14B0E4}"/>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D9941BFF-1B46-CD45-ED5A-61E32CC889F8}"/>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621AF139-DB4F-043A-C841-17CB34ABE979}"/>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B5121E5-ADDA-2445-CD99-AF7C9748F0F2}"/>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9295423F-6886-C0F9-07E8-99E65DA2F185}"/>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BC9F693C-CE4E-77C8-8651-DCFDCF1173A3}"/>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429EF141-B4B6-BD86-F207-AB9F39A6D6CC}"/>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7C5532CE-88A1-7418-788B-354213D6977B}"/>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4E2A999C-E78C-D828-F3B4-8B46E6CFAC5C}"/>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50BA19F4-53F1-C97B-0713-EC49522B21E8}"/>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0D3F17B7-BE54-FFAB-DA5A-705404A9C08A}"/>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B0DD1EFF-563A-1CD9-9989-968BFFEBCC2C}"/>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CDF3ACE8-A29C-0869-5155-3A40D885312A}"/>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52C94FD-2F48-FE18-F017-6E76C0BDD2F3}"/>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FEDAB5C8-D777-7083-1B4C-F755ADE9FC2B}"/>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4164EE0-C2B2-E301-5AC9-2CA1B7015DD6}"/>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86F2BB75-D087-3536-A5EC-03D24451492A}"/>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B6ADA316-97DB-19DE-5310-2D4AFF7C5555}"/>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18,784</a:t>
            </a:r>
          </a:p>
        </p:txBody>
      </p:sp>
      <p:sp>
        <p:nvSpPr>
          <p:cNvPr id="108" name="テキスト ボックス 107">
            <a:extLst>
              <a:ext uri="{FF2B5EF4-FFF2-40B4-BE49-F238E27FC236}">
                <a16:creationId xmlns:a16="http://schemas.microsoft.com/office/drawing/2014/main" id="{47F3F567-C41D-6459-A492-84B20AAA216D}"/>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4,500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EA12EB97-C2CF-9EF7-68AC-1F725E44C0C6}"/>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C7BA49E9-9AD1-C8F1-045C-F99303CC534D}"/>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7BE2FF98-F2E6-8CBD-5248-49871F114542}"/>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914EF112-00D2-D47D-0B61-A93CBE8BB645}"/>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986694EA-BD3A-DAC6-4DEE-7D91F77FBE22}"/>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55C2042F-3220-C5D3-61DE-7D9D40613A6E}"/>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153D3F2B-14F9-70C0-50BC-B7CB286E2D8F}"/>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2263D4CF-8260-F1E1-BCF7-ED72C65AF07F}"/>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32CFABB8-ADE8-1D5B-7822-D8BF0BA34FC4}"/>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EE5E6FB-FD31-4BA0-5DD6-0E11BBB49851}"/>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E91D57C9-6375-8F5E-0D71-3230B0BA0AC3}"/>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50103491-D71F-7EB5-8BE0-3BC70A0F52D1}"/>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03486B97-EFB2-9F95-C428-B571949EB1AE}"/>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83060EE7-F85C-FEB9-6E07-AD89C879B907}"/>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6E50A20F-2BFB-3695-700C-44F0937245E4}"/>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343ADE76-581F-E366-449C-C73F90D92979}"/>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15C10191-5CA8-D3BE-7847-7FA57C28C1F2}"/>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51BEBC5F-1121-B8DC-54E2-DC8DC1020DB7}"/>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73338154-D562-06D1-6113-0A579EACBBE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429FE883-F81A-EC4E-0F0F-55845FDE0805}"/>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D8447831-C297-CBA7-F3CA-5D43B36CC58C}"/>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37017496-6CD7-3CFD-646C-633B200B3E59}"/>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0E746B-15F9-EC55-3FD1-F7330033C14B}"/>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446BF02-9F13-C513-57CD-571CF79F7E70}"/>
              </a:ext>
            </a:extLst>
          </p:cNvPr>
          <p:cNvPicPr>
            <a:picLocks noChangeAspect="1"/>
          </p:cNvPicPr>
          <p:nvPr/>
        </p:nvPicPr>
        <p:blipFill>
          <a:blip r:embed="rId4"/>
          <a:stretch>
            <a:fillRect/>
          </a:stretch>
        </p:blipFill>
        <p:spPr>
          <a:xfrm>
            <a:off x="495313" y="2013910"/>
            <a:ext cx="1589341" cy="3228091"/>
          </a:xfrm>
          <a:prstGeom prst="rect">
            <a:avLst/>
          </a:prstGeom>
        </p:spPr>
      </p:pic>
      <p:sp>
        <p:nvSpPr>
          <p:cNvPr id="8" name="テキスト ボックス 7">
            <a:extLst>
              <a:ext uri="{FF2B5EF4-FFF2-40B4-BE49-F238E27FC236}">
                <a16:creationId xmlns:a16="http://schemas.microsoft.com/office/drawing/2014/main" id="{BBD7CF6B-43AB-A34E-F20C-7D5A5292AEF4}"/>
              </a:ext>
            </a:extLst>
          </p:cNvPr>
          <p:cNvSpPr txBox="1"/>
          <p:nvPr/>
        </p:nvSpPr>
        <p:spPr>
          <a:xfrm>
            <a:off x="605520" y="806419"/>
            <a:ext cx="8797260" cy="461665"/>
          </a:xfrm>
          <a:prstGeom prst="rect">
            <a:avLst/>
          </a:prstGeom>
          <a:noFill/>
        </p:spPr>
        <p:txBody>
          <a:bodyPr wrap="square">
            <a:spAutoFit/>
          </a:bodyPr>
          <a:lstStyle/>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サイト流入数は安定していそうだが、</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を図って</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いく。</a:t>
            </a:r>
            <a:endParaRPr lang="ja-JP" altLang="en-US" sz="1400" dirty="0"/>
          </a:p>
        </p:txBody>
      </p:sp>
    </p:spTree>
    <p:extLst>
      <p:ext uri="{BB962C8B-B14F-4D97-AF65-F5344CB8AC3E}">
        <p14:creationId xmlns:p14="http://schemas.microsoft.com/office/powerpoint/2010/main" val="3350054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共通 </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 忍者ナイン チャイルドアイズ</a:t>
            </a:r>
            <a:r>
              <a:rPr lang="en-US" altLang="ja-JP" sz="1200" b="1" dirty="0">
                <a:solidFill>
                  <a:srgbClr val="002060"/>
                </a:solidFill>
                <a:latin typeface="Meiryo"/>
                <a:ea typeface="Meiryo"/>
                <a:cs typeface="Meiryo"/>
                <a:sym typeface="Meiryo"/>
              </a:rPr>
              <a:t> - 】</a:t>
            </a:r>
            <a:endParaRPr lang="en-US" altLang="ja-JP"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3689A4E-877A-1305-D91C-502200DDD5CA}"/>
              </a:ext>
            </a:extLst>
          </p:cNvPr>
          <p:cNvSpPr txBox="1"/>
          <p:nvPr/>
        </p:nvSpPr>
        <p:spPr>
          <a:xfrm>
            <a:off x="7408050" y="2633400"/>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B79D75E-D645-6E3E-B433-8F68BE5185B7}"/>
              </a:ext>
            </a:extLst>
          </p:cNvPr>
          <p:cNvSpPr txBox="1"/>
          <p:nvPr/>
        </p:nvSpPr>
        <p:spPr>
          <a:xfrm>
            <a:off x="334303" y="2025747"/>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D26B3D93-E4B8-A140-7F64-AEE99515674C}"/>
              </a:ext>
            </a:extLst>
          </p:cNvPr>
          <p:cNvSpPr txBox="1"/>
          <p:nvPr/>
        </p:nvSpPr>
        <p:spPr>
          <a:xfrm>
            <a:off x="1268358" y="223640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34303" y="3184429"/>
            <a:ext cx="9425943" cy="26649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832206"/>
            <a:ext cx="2757865"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無料体験予約</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4" name="テキスト ボックス 33">
            <a:extLst>
              <a:ext uri="{FF2B5EF4-FFF2-40B4-BE49-F238E27FC236}">
                <a16:creationId xmlns:a16="http://schemas.microsoft.com/office/drawing/2014/main" id="{6EF69A8A-6EFE-81B5-27C6-31715CCA0A13}"/>
              </a:ext>
            </a:extLst>
          </p:cNvPr>
          <p:cNvSpPr txBox="1"/>
          <p:nvPr/>
        </p:nvSpPr>
        <p:spPr>
          <a:xfrm>
            <a:off x="4830777" y="4178949"/>
            <a:ext cx="2352196"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来場</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7" y="4526876"/>
            <a:ext cx="2352195" cy="276999"/>
          </a:xfrm>
          <a:prstGeom prst="rect">
            <a:avLst/>
          </a:prstGeom>
          <a:solidFill>
            <a:srgbClr val="FF0000"/>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入会（有料会員化）</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6" y="3441166"/>
            <a:ext cx="2157994" cy="253916"/>
          </a:xfrm>
          <a:prstGeom prst="rect">
            <a:avLst/>
          </a:prstGeom>
          <a:noFill/>
        </p:spPr>
        <p:txBody>
          <a:bodyPr wrap="square">
            <a:spAutoFit/>
          </a:bodyPr>
          <a:lstStyle/>
          <a:p>
            <a:pPr algn="ctr"/>
            <a:r>
              <a:rPr lang="en-US" altLang="ja-JP" sz="1050" dirty="0">
                <a:latin typeface="メイリオ" panose="020B0604030504040204" pitchFamily="50" charset="-128"/>
                <a:ea typeface="メイリオ" panose="020B0604030504040204" pitchFamily="50" charset="-128"/>
              </a:rPr>
              <a:t>&lt;</a:t>
            </a:r>
            <a:r>
              <a:rPr lang="ja-JP" altLang="en-US" sz="1050" dirty="0">
                <a:latin typeface="メイリオ" panose="020B0604030504040204" pitchFamily="50" charset="-128"/>
                <a:ea typeface="メイリオ" panose="020B0604030504040204" pitchFamily="50" charset="-128"/>
              </a:rPr>
              <a:t>貴社のユーザー動線イメージ</a:t>
            </a:r>
            <a:r>
              <a:rPr lang="en-US" altLang="ja-JP" sz="1050" dirty="0">
                <a:latin typeface="メイリオ" panose="020B0604030504040204" pitchFamily="50" charset="-128"/>
                <a:ea typeface="メイリオ" panose="020B0604030504040204" pitchFamily="50" charset="-128"/>
              </a:rPr>
              <a:t>&gt;</a:t>
            </a:r>
            <a:endParaRPr lang="ja-JP" altLang="en-US" sz="105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5D74B0A9-936D-80CB-D756-D20982A19D5A}"/>
              </a:ext>
            </a:extLst>
          </p:cNvPr>
          <p:cNvSpPr txBox="1"/>
          <p:nvPr/>
        </p:nvSpPr>
        <p:spPr>
          <a:xfrm>
            <a:off x="605949" y="768699"/>
            <a:ext cx="8797260" cy="523220"/>
          </a:xfrm>
          <a:prstGeom prst="rect">
            <a:avLst/>
          </a:prstGeom>
          <a:noFill/>
        </p:spPr>
        <p:txBody>
          <a:bodyPr wrap="square">
            <a:spAutoFit/>
          </a:bodyPr>
          <a:lstStyle/>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入会数の拡大にあたっては</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①無料体験予約の最大化</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を行う必要があり、</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また</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②来場及び入会への誘導強化（有効率の改善）</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を行う必要が同時に出てくる。</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23" name="テキスト ボックス 22">
            <a:extLst>
              <a:ext uri="{FF2B5EF4-FFF2-40B4-BE49-F238E27FC236}">
                <a16:creationId xmlns:a16="http://schemas.microsoft.com/office/drawing/2014/main" id="{5F1C16D1-2056-4E4E-4E76-CCFC2471EFC6}"/>
              </a:ext>
            </a:extLst>
          </p:cNvPr>
          <p:cNvSpPr txBox="1"/>
          <p:nvPr/>
        </p:nvSpPr>
        <p:spPr>
          <a:xfrm>
            <a:off x="7408051" y="4873981"/>
            <a:ext cx="2352195" cy="276999"/>
          </a:xfrm>
          <a:prstGeom prst="rect">
            <a:avLst/>
          </a:prstGeom>
          <a:solidFill>
            <a:schemeClr val="tx1">
              <a:lumMod val="50000"/>
              <a:lumOff val="50000"/>
            </a:schemeClr>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継続</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E0409053-B1D2-9FAA-482E-614CCD2E8297}"/>
              </a:ext>
            </a:extLst>
          </p:cNvPr>
          <p:cNvSpPr txBox="1"/>
          <p:nvPr/>
        </p:nvSpPr>
        <p:spPr>
          <a:xfrm>
            <a:off x="7408050" y="5216548"/>
            <a:ext cx="2352195" cy="276999"/>
          </a:xfrm>
          <a:prstGeom prst="rect">
            <a:avLst/>
          </a:prstGeom>
          <a:solidFill>
            <a:schemeClr val="tx1">
              <a:lumMod val="50000"/>
              <a:lumOff val="50000"/>
            </a:schemeClr>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a:t>
            </a:r>
            <a:r>
              <a:rPr lang="ja-JP" altLang="en-US" sz="1200" dirty="0">
                <a:solidFill>
                  <a:schemeClr val="bg1"/>
                </a:solidFill>
                <a:latin typeface="メイリオ" panose="020B0604030504040204" pitchFamily="50" charset="-128"/>
                <a:ea typeface="メイリオ" panose="020B0604030504040204" pitchFamily="50" charset="-128"/>
              </a:rPr>
              <a:t>他サービスの紹介</a:t>
            </a:r>
            <a:r>
              <a:rPr lang="en-US" altLang="ja-JP" sz="1200" dirty="0">
                <a:solidFill>
                  <a:schemeClr val="bg1"/>
                </a:solidFill>
                <a:latin typeface="メイリオ" panose="020B0604030504040204" pitchFamily="50" charset="-128"/>
                <a:ea typeface="メイリオ" panose="020B0604030504040204" pitchFamily="50" charset="-128"/>
              </a:rPr>
              <a:t>)</a:t>
            </a:r>
          </a:p>
        </p:txBody>
      </p:sp>
      <p:cxnSp>
        <p:nvCxnSpPr>
          <p:cNvPr id="22" name="コネクタ: カギ線 21">
            <a:extLst>
              <a:ext uri="{FF2B5EF4-FFF2-40B4-BE49-F238E27FC236}">
                <a16:creationId xmlns:a16="http://schemas.microsoft.com/office/drawing/2014/main" id="{4CF79249-8FFF-EDBE-79D1-696A739C3207}"/>
              </a:ext>
            </a:extLst>
          </p:cNvPr>
          <p:cNvCxnSpPr>
            <a:cxnSpLocks/>
            <a:stCxn id="32" idx="2"/>
            <a:endCxn id="34" idx="1"/>
          </p:cNvCxnSpPr>
          <p:nvPr/>
        </p:nvCxnSpPr>
        <p:spPr>
          <a:xfrm rot="16200000" flipH="1">
            <a:off x="4568968" y="4055640"/>
            <a:ext cx="208244" cy="315374"/>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CBA42435-77B9-8F10-5F69-E8B6EB26472C}"/>
              </a:ext>
            </a:extLst>
          </p:cNvPr>
          <p:cNvCxnSpPr>
            <a:cxnSpLocks/>
            <a:stCxn id="34" idx="2"/>
            <a:endCxn id="36" idx="1"/>
          </p:cNvCxnSpPr>
          <p:nvPr/>
        </p:nvCxnSpPr>
        <p:spPr>
          <a:xfrm rot="16200000" flipH="1">
            <a:off x="5958432" y="4504391"/>
            <a:ext cx="209428" cy="112542"/>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3C1D6754-7C46-5825-A516-18CBAE22FDE9}"/>
              </a:ext>
            </a:extLst>
          </p:cNvPr>
          <p:cNvSpPr txBox="1"/>
          <p:nvPr/>
        </p:nvSpPr>
        <p:spPr>
          <a:xfrm>
            <a:off x="328349" y="382737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（広告・</a:t>
            </a:r>
            <a:r>
              <a:rPr lang="en-US" altLang="ja-JP" sz="1100" b="1" dirty="0">
                <a:latin typeface="メイリオ" panose="020B0604030504040204" pitchFamily="50" charset="-128"/>
                <a:ea typeface="メイリオ" panose="020B0604030504040204" pitchFamily="50" charset="-128"/>
              </a:rPr>
              <a:t>SEO</a:t>
            </a:r>
            <a:r>
              <a:rPr lang="ja-JP" altLang="en-US" sz="11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567FE63D-B0BB-1B5F-664B-09DD6B6984F7}"/>
              </a:ext>
            </a:extLst>
          </p:cNvPr>
          <p:cNvSpPr txBox="1"/>
          <p:nvPr/>
        </p:nvSpPr>
        <p:spPr>
          <a:xfrm>
            <a:off x="328348" y="412694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貴社他サービスからの紹介</a:t>
            </a:r>
            <a:endParaRPr lang="ja-JP" altLang="ja-JP" sz="1100" b="1" dirty="0">
              <a:latin typeface="メイリオ" panose="020B0604030504040204" pitchFamily="50" charset="-128"/>
              <a:ea typeface="メイリオ" panose="020B0604030504040204" pitchFamily="50" charset="-128"/>
            </a:endParaRPr>
          </a:p>
        </p:txBody>
      </p:sp>
      <p:cxnSp>
        <p:nvCxnSpPr>
          <p:cNvPr id="44" name="コネクタ: カギ線 43">
            <a:extLst>
              <a:ext uri="{FF2B5EF4-FFF2-40B4-BE49-F238E27FC236}">
                <a16:creationId xmlns:a16="http://schemas.microsoft.com/office/drawing/2014/main" id="{49EFBAB0-BCDF-630C-31F0-B7E739627F12}"/>
              </a:ext>
            </a:extLst>
          </p:cNvPr>
          <p:cNvCxnSpPr>
            <a:cxnSpLocks/>
            <a:stCxn id="39" idx="3"/>
            <a:endCxn id="32" idx="1"/>
          </p:cNvCxnSpPr>
          <p:nvPr/>
        </p:nvCxnSpPr>
        <p:spPr>
          <a:xfrm>
            <a:off x="2196460" y="3958178"/>
            <a:ext cx="940010" cy="12528"/>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D1AA445-8212-7660-79B6-1F56575E958B}"/>
              </a:ext>
            </a:extLst>
          </p:cNvPr>
          <p:cNvCxnSpPr>
            <a:cxnSpLocks/>
            <a:stCxn id="43" idx="3"/>
            <a:endCxn id="32" idx="1"/>
          </p:cNvCxnSpPr>
          <p:nvPr/>
        </p:nvCxnSpPr>
        <p:spPr>
          <a:xfrm flipV="1">
            <a:off x="2196459" y="3970706"/>
            <a:ext cx="940011" cy="287042"/>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3D5EBB5F-0314-5C1C-6914-43812C697BBA}"/>
              </a:ext>
            </a:extLst>
          </p:cNvPr>
          <p:cNvSpPr txBox="1"/>
          <p:nvPr/>
        </p:nvSpPr>
        <p:spPr>
          <a:xfrm>
            <a:off x="2397925" y="3832206"/>
            <a:ext cx="538152" cy="338554"/>
          </a:xfrm>
          <a:prstGeom prst="rect">
            <a:avLst/>
          </a:prstGeom>
          <a:solidFill>
            <a:schemeClr val="accent1">
              <a:lumMod val="40000"/>
              <a:lumOff val="60000"/>
            </a:schemeClr>
          </a:solidFill>
        </p:spPr>
        <p:txBody>
          <a:bodyPr wrap="square">
            <a:spAutoFit/>
          </a:bodyPr>
          <a:lstStyle/>
          <a:p>
            <a:pPr algn="ctr"/>
            <a:r>
              <a:rPr lang="ja-JP" altLang="en-US" sz="800" dirty="0">
                <a:solidFill>
                  <a:schemeClr val="bg1"/>
                </a:solidFill>
                <a:latin typeface="メイリオ" panose="020B0604030504040204" pitchFamily="50" charset="-128"/>
                <a:ea typeface="メイリオ" panose="020B0604030504040204" pitchFamily="50" charset="-128"/>
              </a:rPr>
              <a:t>電話</a:t>
            </a:r>
            <a:endParaRPr lang="en-US" altLang="ja-JP" sz="800" dirty="0">
              <a:solidFill>
                <a:schemeClr val="bg1"/>
              </a:solidFill>
              <a:latin typeface="メイリオ" panose="020B0604030504040204" pitchFamily="50" charset="-128"/>
              <a:ea typeface="メイリオ" panose="020B0604030504040204" pitchFamily="50" charset="-128"/>
            </a:endParaRPr>
          </a:p>
          <a:p>
            <a:pPr algn="ctr"/>
            <a:r>
              <a:rPr lang="en-US" altLang="ja-JP" sz="800" dirty="0">
                <a:solidFill>
                  <a:schemeClr val="bg1"/>
                </a:solidFill>
                <a:latin typeface="メイリオ" panose="020B0604030504040204" pitchFamily="50" charset="-128"/>
                <a:ea typeface="メイリオ" panose="020B0604030504040204" pitchFamily="50" charset="-128"/>
              </a:rPr>
              <a:t>WEB</a:t>
            </a: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37160"/>
            <a:ext cx="6858000" cy="365760"/>
          </a:xfrm>
          <a:prstGeom prst="rect">
            <a:avLst/>
          </a:prstGeom>
          <a:noFill/>
        </p:spPr>
        <p:txBody>
          <a:bodyPr wrap="square">
            <a:spAutoFit/>
          </a:bodyPr>
          <a:lstStyle/>
          <a:p>
            <a:pPr algn="l"/>
            <a:r>
              <a:rPr sz="1400" b="1">
                <a:solidFill>
                  <a:srgbClr val="002060"/>
                </a:solidFill>
                <a:latin typeface="メイリオ"/>
                <a:ea typeface="メイリオ"/>
                <a:cs typeface="メイリオ"/>
              </a:rPr>
              <a:t>本提案の考え方</a:t>
            </a:r>
          </a:p>
        </p:txBody>
      </p:sp>
      <p:sp>
        <p:nvSpPr>
          <p:cNvPr id="3" name="TextBox 2"/>
          <p:cNvSpPr txBox="1"/>
          <p:nvPr/>
        </p:nvSpPr>
        <p:spPr>
          <a:xfrm>
            <a:off x="548640" y="720000"/>
            <a:ext cx="8805672" cy="548640"/>
          </a:xfrm>
          <a:prstGeom prst="rect">
            <a:avLst/>
          </a:prstGeom>
          <a:noFill/>
        </p:spPr>
        <p:txBody>
          <a:bodyPr wrap="square">
            <a:spAutoFit/>
          </a:bodyPr>
          <a:lstStyle/>
          <a:p>
            <a:pPr algn="ctr"/>
            <a:r>
              <a:rPr sz="2400" b="1">
                <a:solidFill>
                  <a:srgbClr val="333333"/>
                </a:solidFill>
                <a:latin typeface="メイリオ"/>
                <a:ea typeface="メイリオ"/>
                <a:cs typeface="メイリオ"/>
              </a:rPr>
              <a:t>広告は、CVの瞬間で接点が終わる。</a:t>
            </a:r>
          </a:p>
        </p:txBody>
      </p:sp>
      <p:sp>
        <p:nvSpPr>
          <p:cNvPr id="4" name="TextBox 3"/>
          <p:cNvSpPr txBox="1"/>
          <p:nvPr/>
        </p:nvSpPr>
        <p:spPr>
          <a:xfrm>
            <a:off x="548640" y="1242000"/>
            <a:ext cx="8805672" cy="640080"/>
          </a:xfrm>
          <a:prstGeom prst="rect">
            <a:avLst/>
          </a:prstGeom>
          <a:noFill/>
        </p:spPr>
        <p:txBody>
          <a:bodyPr wrap="square">
            <a:spAutoFit/>
          </a:bodyPr>
          <a:lstStyle/>
          <a:p>
            <a:pPr algn="ctr"/>
            <a:r>
              <a:rPr sz="3000" b="1">
                <a:solidFill>
                  <a:srgbClr val="BF4E0E"/>
                </a:solidFill>
                <a:latin typeface="メイリオ"/>
                <a:ea typeface="メイリオ"/>
                <a:cs typeface="メイリオ"/>
              </a:rPr>
              <a:t>LINEは、CVの先まで追いきれる。</a:t>
            </a:r>
          </a:p>
        </p:txBody>
      </p:sp>
      <p:sp>
        <p:nvSpPr>
          <p:cNvPr id="5" name="TextBox 4"/>
          <p:cNvSpPr txBox="1"/>
          <p:nvPr/>
        </p:nvSpPr>
        <p:spPr>
          <a:xfrm>
            <a:off x="548640" y="1908000"/>
            <a:ext cx="8805672" cy="584775"/>
          </a:xfrm>
          <a:prstGeom prst="rect">
            <a:avLst/>
          </a:prstGeom>
          <a:noFill/>
        </p:spPr>
        <p:txBody>
          <a:bodyPr wrap="square">
            <a:spAutoFit/>
          </a:bodyPr>
          <a:lstStyle/>
          <a:p>
            <a:pPr algn="ctr"/>
            <a:r>
              <a:rPr sz="1400" b="0" dirty="0" err="1">
                <a:solidFill>
                  <a:srgbClr val="333333"/>
                </a:solidFill>
                <a:latin typeface="メイリオ"/>
                <a:ea typeface="メイリオ"/>
                <a:cs typeface="メイリオ"/>
              </a:rPr>
              <a:t>一度つながれば、接点を持ち続けられる。情報を渡し続けられる。</a:t>
            </a:r>
          </a:p>
          <a:p>
            <a:pPr algn="ctr"/>
            <a:r>
              <a:rPr sz="1400" b="0" dirty="0" err="1">
                <a:solidFill>
                  <a:srgbClr val="333333"/>
                </a:solidFill>
                <a:latin typeface="メイリオ"/>
                <a:ea typeface="メイリオ"/>
                <a:cs typeface="メイリオ"/>
              </a:rPr>
              <a:t>体験予約で終わらず、来場 → 入会 → 継続まで並走できる——これがLINE最大の魅力です。</a:t>
            </a:r>
          </a:p>
        </p:txBody>
      </p:sp>
      <p:sp>
        <p:nvSpPr>
          <p:cNvPr id="6" name="TextBox 5"/>
          <p:cNvSpPr txBox="1"/>
          <p:nvPr/>
        </p:nvSpPr>
        <p:spPr>
          <a:xfrm>
            <a:off x="251999" y="2690640"/>
            <a:ext cx="1278000" cy="365760"/>
          </a:xfrm>
          <a:prstGeom prst="rect">
            <a:avLst/>
          </a:prstGeom>
          <a:noFill/>
        </p:spPr>
        <p:txBody>
          <a:bodyPr wrap="square">
            <a:spAutoFit/>
          </a:bodyPr>
          <a:lstStyle/>
          <a:p>
            <a:pPr algn="l"/>
            <a:r>
              <a:rPr sz="1100" b="1">
                <a:solidFill>
                  <a:srgbClr val="333333"/>
                </a:solidFill>
                <a:latin typeface="メイリオ"/>
                <a:ea typeface="メイリオ"/>
                <a:cs typeface="メイリオ"/>
              </a:rPr>
              <a:t>広告・</a:t>
            </a:r>
          </a:p>
          <a:p>
            <a:pPr algn="l"/>
            <a:r>
              <a:rPr sz="1100" b="1">
                <a:solidFill>
                  <a:srgbClr val="333333"/>
                </a:solidFill>
                <a:latin typeface="メイリオ"/>
                <a:ea typeface="メイリオ"/>
                <a:cs typeface="メイリオ"/>
              </a:rPr>
              <a:t>アフィリエイト</a:t>
            </a:r>
          </a:p>
        </p:txBody>
      </p:sp>
      <p:sp>
        <p:nvSpPr>
          <p:cNvPr id="7" name="Rounded Rectangle 6"/>
          <p:cNvSpPr/>
          <p:nvPr/>
        </p:nvSpPr>
        <p:spPr>
          <a:xfrm>
            <a:off x="1554480" y="2644920"/>
            <a:ext cx="132588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333333"/>
                </a:solidFill>
                <a:latin typeface="メイリオ"/>
                <a:ea typeface="メイリオ"/>
                <a:cs typeface="メイリオ"/>
              </a:rPr>
              <a:t>接触</a:t>
            </a:r>
          </a:p>
        </p:txBody>
      </p:sp>
      <p:sp>
        <p:nvSpPr>
          <p:cNvPr id="8" name="TextBox 7"/>
          <p:cNvSpPr txBox="1"/>
          <p:nvPr/>
        </p:nvSpPr>
        <p:spPr>
          <a:xfrm>
            <a:off x="2907792" y="271807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9" name="Rounded Rectangle 8"/>
          <p:cNvSpPr/>
          <p:nvPr/>
        </p:nvSpPr>
        <p:spPr>
          <a:xfrm>
            <a:off x="3218688" y="2644920"/>
            <a:ext cx="173736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333333"/>
                </a:solidFill>
                <a:latin typeface="メイリオ"/>
                <a:ea typeface="メイリオ"/>
                <a:cs typeface="メイリオ"/>
              </a:rPr>
              <a:t>体験予約（CV）</a:t>
            </a:r>
          </a:p>
        </p:txBody>
      </p:sp>
      <p:sp>
        <p:nvSpPr>
          <p:cNvPr id="10" name="TextBox 9"/>
          <p:cNvSpPr txBox="1"/>
          <p:nvPr/>
        </p:nvSpPr>
        <p:spPr>
          <a:xfrm>
            <a:off x="5166360" y="2708928"/>
            <a:ext cx="3108960" cy="307777"/>
          </a:xfrm>
          <a:prstGeom prst="rect">
            <a:avLst/>
          </a:prstGeom>
          <a:noFill/>
        </p:spPr>
        <p:txBody>
          <a:bodyPr wrap="square">
            <a:spAutoFit/>
          </a:bodyPr>
          <a:lstStyle/>
          <a:p>
            <a:pPr algn="l"/>
            <a:r>
              <a:rPr sz="1400" b="1">
                <a:solidFill>
                  <a:srgbClr val="C00000"/>
                </a:solidFill>
                <a:latin typeface="メイリオ"/>
                <a:ea typeface="メイリオ"/>
                <a:cs typeface="メイリオ"/>
              </a:rPr>
              <a:t>✕ ここで接点が途切れる</a:t>
            </a:r>
          </a:p>
        </p:txBody>
      </p:sp>
      <p:sp>
        <p:nvSpPr>
          <p:cNvPr id="11" name="TextBox 10"/>
          <p:cNvSpPr txBox="1"/>
          <p:nvPr/>
        </p:nvSpPr>
        <p:spPr>
          <a:xfrm>
            <a:off x="640080" y="3412080"/>
            <a:ext cx="822960" cy="365760"/>
          </a:xfrm>
          <a:prstGeom prst="rect">
            <a:avLst/>
          </a:prstGeom>
          <a:noFill/>
        </p:spPr>
        <p:txBody>
          <a:bodyPr wrap="square">
            <a:spAutoFit/>
          </a:bodyPr>
          <a:lstStyle/>
          <a:p>
            <a:pPr algn="l"/>
            <a:r>
              <a:rPr sz="1400" b="1">
                <a:solidFill>
                  <a:srgbClr val="1F285A"/>
                </a:solidFill>
                <a:latin typeface="メイリオ"/>
                <a:ea typeface="メイリオ"/>
                <a:cs typeface="メイリオ"/>
              </a:rPr>
              <a:t>LINE</a:t>
            </a:r>
          </a:p>
        </p:txBody>
      </p:sp>
      <p:sp>
        <p:nvSpPr>
          <p:cNvPr id="12" name="Rounded Rectangle 11"/>
          <p:cNvSpPr/>
          <p:nvPr/>
        </p:nvSpPr>
        <p:spPr>
          <a:xfrm>
            <a:off x="1554480" y="3366360"/>
            <a:ext cx="13258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接触</a:t>
            </a:r>
          </a:p>
        </p:txBody>
      </p:sp>
      <p:sp>
        <p:nvSpPr>
          <p:cNvPr id="13" name="TextBox 12"/>
          <p:cNvSpPr txBox="1"/>
          <p:nvPr/>
        </p:nvSpPr>
        <p:spPr>
          <a:xfrm>
            <a:off x="2907792"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4" name="Rounded Rectangle 13"/>
          <p:cNvSpPr/>
          <p:nvPr/>
        </p:nvSpPr>
        <p:spPr>
          <a:xfrm>
            <a:off x="3218688" y="3366360"/>
            <a:ext cx="173736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体験予約（CV）</a:t>
            </a:r>
          </a:p>
        </p:txBody>
      </p:sp>
      <p:sp>
        <p:nvSpPr>
          <p:cNvPr id="15" name="TextBox 14"/>
          <p:cNvSpPr txBox="1"/>
          <p:nvPr/>
        </p:nvSpPr>
        <p:spPr>
          <a:xfrm>
            <a:off x="4983480"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6" name="Rounded Rectangle 15"/>
          <p:cNvSpPr/>
          <p:nvPr/>
        </p:nvSpPr>
        <p:spPr>
          <a:xfrm>
            <a:off x="5294376" y="3366360"/>
            <a:ext cx="10972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来場</a:t>
            </a:r>
          </a:p>
        </p:txBody>
      </p:sp>
      <p:sp>
        <p:nvSpPr>
          <p:cNvPr id="17" name="TextBox 16"/>
          <p:cNvSpPr txBox="1"/>
          <p:nvPr/>
        </p:nvSpPr>
        <p:spPr>
          <a:xfrm>
            <a:off x="6419088"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8" name="Rounded Rectangle 17"/>
          <p:cNvSpPr/>
          <p:nvPr/>
        </p:nvSpPr>
        <p:spPr>
          <a:xfrm>
            <a:off x="6729984" y="3366360"/>
            <a:ext cx="1097280" cy="475488"/>
          </a:xfrm>
          <a:prstGeom prst="roundRect">
            <a:avLst>
              <a:gd name="adj" fmla="val 12000"/>
            </a:avLst>
          </a:prstGeom>
          <a:solidFill>
            <a:srgbClr val="1F285A"/>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メイリオ"/>
                <a:ea typeface="メイリオ"/>
                <a:cs typeface="メイリオ"/>
              </a:rPr>
              <a:t>入会</a:t>
            </a:r>
          </a:p>
        </p:txBody>
      </p:sp>
      <p:sp>
        <p:nvSpPr>
          <p:cNvPr id="19" name="TextBox 18"/>
          <p:cNvSpPr txBox="1"/>
          <p:nvPr/>
        </p:nvSpPr>
        <p:spPr>
          <a:xfrm>
            <a:off x="7854696"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20" name="Rounded Rectangle 19"/>
          <p:cNvSpPr/>
          <p:nvPr/>
        </p:nvSpPr>
        <p:spPr>
          <a:xfrm>
            <a:off x="8165592" y="3366360"/>
            <a:ext cx="123444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継続・紹介</a:t>
            </a:r>
          </a:p>
        </p:txBody>
      </p:sp>
      <p:sp>
        <p:nvSpPr>
          <p:cNvPr id="21" name="Rounded Rectangle 20"/>
          <p:cNvSpPr/>
          <p:nvPr/>
        </p:nvSpPr>
        <p:spPr>
          <a:xfrm>
            <a:off x="1555200" y="4050000"/>
            <a:ext cx="3401999" cy="846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1600" bIns="21600"/>
          <a:lstStyle/>
          <a:p>
            <a:pPr algn="ctr">
              <a:spcAft>
                <a:spcPts val="300"/>
              </a:spcAft>
            </a:pPr>
            <a:r>
              <a:rPr sz="1400" b="1">
                <a:solidFill>
                  <a:srgbClr val="1F285A"/>
                </a:solidFill>
                <a:latin typeface="メイリオ"/>
                <a:ea typeface="メイリオ"/>
                <a:cs typeface="メイリオ"/>
              </a:rPr>
              <a:t>① CPAの改善</a:t>
            </a:r>
          </a:p>
          <a:p>
            <a:pPr algn="ctr">
              <a:lnSpc>
                <a:spcPct val="120000"/>
              </a:lnSpc>
            </a:pPr>
            <a:r>
              <a:rPr sz="1150">
                <a:solidFill>
                  <a:srgbClr val="333333"/>
                </a:solidFill>
                <a:latin typeface="メイリオ"/>
                <a:ea typeface="メイリオ"/>
                <a:cs typeface="メイリオ"/>
              </a:rPr>
              <a:t>LPで離脱した方をLINEで回収し、</a:t>
            </a:r>
          </a:p>
          <a:p>
            <a:pPr algn="ctr">
              <a:lnSpc>
                <a:spcPct val="120000"/>
              </a:lnSpc>
            </a:pPr>
            <a:r>
              <a:rPr sz="1150">
                <a:solidFill>
                  <a:srgbClr val="333333"/>
                </a:solidFill>
                <a:latin typeface="メイリオ"/>
                <a:ea typeface="メイリオ"/>
                <a:cs typeface="メイリオ"/>
              </a:rPr>
              <a:t>同じ広告費で体験予約を増やす</a:t>
            </a:r>
          </a:p>
        </p:txBody>
      </p:sp>
      <p:sp>
        <p:nvSpPr>
          <p:cNvPr id="22" name="Rounded Rectangle 21"/>
          <p:cNvSpPr/>
          <p:nvPr/>
        </p:nvSpPr>
        <p:spPr>
          <a:xfrm>
            <a:off x="5166000" y="4050000"/>
            <a:ext cx="4233600" cy="846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1600" bIns="21600"/>
          <a:lstStyle/>
          <a:p>
            <a:pPr algn="ctr">
              <a:spcAft>
                <a:spcPts val="300"/>
              </a:spcAft>
            </a:pPr>
            <a:r>
              <a:rPr sz="1400" b="1">
                <a:solidFill>
                  <a:srgbClr val="1F285A"/>
                </a:solidFill>
                <a:latin typeface="メイリオ"/>
                <a:ea typeface="メイリオ"/>
                <a:cs typeface="メイリオ"/>
              </a:rPr>
              <a:t>② CPOの改善</a:t>
            </a:r>
          </a:p>
          <a:p>
            <a:pPr algn="ctr">
              <a:lnSpc>
                <a:spcPct val="120000"/>
              </a:lnSpc>
            </a:pPr>
            <a:r>
              <a:rPr sz="1150">
                <a:solidFill>
                  <a:srgbClr val="333333"/>
                </a:solidFill>
                <a:latin typeface="メイリオ"/>
                <a:ea typeface="メイリオ"/>
                <a:cs typeface="メイリオ"/>
              </a:rPr>
              <a:t>体験予約から来場・入会までLINEで後押しし、</a:t>
            </a:r>
          </a:p>
          <a:p>
            <a:pPr algn="ctr">
              <a:lnSpc>
                <a:spcPct val="120000"/>
              </a:lnSpc>
            </a:pPr>
            <a:r>
              <a:rPr sz="1150">
                <a:solidFill>
                  <a:srgbClr val="333333"/>
                </a:solidFill>
                <a:latin typeface="メイリオ"/>
                <a:ea typeface="メイリオ"/>
                <a:cs typeface="メイリオ"/>
              </a:rPr>
              <a:t>入会率を上げる</a:t>
            </a:r>
          </a:p>
        </p:txBody>
      </p:sp>
      <p:sp>
        <p:nvSpPr>
          <p:cNvPr id="23" name="Down Arrow 22"/>
          <p:cNvSpPr/>
          <p:nvPr/>
        </p:nvSpPr>
        <p:spPr>
          <a:xfrm>
            <a:off x="3040200" y="4950000"/>
            <a:ext cx="432000" cy="216000"/>
          </a:xfrm>
          <a:prstGeom prst="down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wn Arrow 23"/>
          <p:cNvSpPr/>
          <p:nvPr/>
        </p:nvSpPr>
        <p:spPr>
          <a:xfrm>
            <a:off x="7066800" y="4950000"/>
            <a:ext cx="432000" cy="216000"/>
          </a:xfrm>
          <a:prstGeom prst="down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7200" y="5220000"/>
            <a:ext cx="8852400" cy="48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0" bIns="0"/>
          <a:lstStyle/>
          <a:p>
            <a:pPr algn="ctr">
              <a:lnSpc>
                <a:spcPct val="125000"/>
              </a:lnSpc>
            </a:pPr>
            <a:r>
              <a:rPr sz="1500" b="1">
                <a:solidFill>
                  <a:srgbClr val="FFFFFF"/>
                </a:solidFill>
                <a:latin typeface="メイリオ"/>
                <a:ea typeface="メイリオ"/>
                <a:cs typeface="メイリオ"/>
              </a:rPr>
              <a:t>①＋②で、許容CPAを引き上げられる ＝ 広告費を増やしても採算が合う</a:t>
            </a:r>
          </a:p>
        </p:txBody>
      </p:sp>
      <p:sp>
        <p:nvSpPr>
          <p:cNvPr id="26" name="TextBox 25"/>
          <p:cNvSpPr txBox="1"/>
          <p:nvPr/>
        </p:nvSpPr>
        <p:spPr>
          <a:xfrm>
            <a:off x="547200" y="5760000"/>
            <a:ext cx="8852400" cy="324000"/>
          </a:xfrm>
          <a:prstGeom prst="rect">
            <a:avLst/>
          </a:prstGeom>
          <a:noFill/>
        </p:spPr>
        <p:txBody>
          <a:bodyPr wrap="square" lIns="0" rIns="0" tIns="21600" bIns="21600" anchor="ctr">
            <a:spAutoFit/>
          </a:bodyPr>
          <a:lstStyle/>
          <a:p>
            <a:pPr algn="ctr"/>
            <a:r>
              <a:rPr sz="1000">
                <a:solidFill>
                  <a:srgbClr val="7F7F7F"/>
                </a:solidFill>
                <a:latin typeface="メイリオ"/>
                <a:ea typeface="メイリオ"/>
                <a:cs typeface="メイリオ"/>
              </a:rPr>
              <a:t>※許容CPA＝入会1件にかけられる費用（許容CPO）×入会率。入会率が上がるほど、体験予約1件にかけられる広告費が増えます。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BEBFCB2D-6FAD-96C0-BD6C-51465F2A4A6E}"/>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市場分析</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41486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AEA3-5B74-7C38-9336-4D6A18C7CFB5}"/>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28982883-62D2-1FB6-448E-4DBFD3487BB8}"/>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B2A895AE-F6EA-11C0-FE80-47B95B614699}"/>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700" dirty="0">
                <a:solidFill>
                  <a:schemeClr val="tx1"/>
                </a:solidFill>
              </a:rPr>
              <a:t>習い事は「3〜5歳」で始める家庭が最も多く、</a:t>
            </a:r>
          </a:p>
          <a:p>
            <a:pPr algn="ctr"/>
            <a:r>
              <a:rPr lang="en-US" altLang="ja-JP" sz="1700" dirty="0">
                <a:solidFill>
                  <a:schemeClr val="tx1"/>
                </a:solidFill>
              </a:rPr>
              <a:t>未就学児の保護者の87.5%が「させたい」と考えています。</a:t>
            </a:r>
          </a:p>
        </p:txBody>
      </p:sp>
      <p:sp>
        <p:nvSpPr>
          <p:cNvPr id="24" name="Rounded Rectangle 2">
            <a:extLst>
              <a:ext uri="{FF2B5EF4-FFF2-40B4-BE49-F238E27FC236}">
                <a16:creationId xmlns:a16="http://schemas.microsoft.com/office/drawing/2014/main" id="{17E8DBF9-A9D2-B706-F31D-87C825EC47BB}"/>
              </a:ext>
            </a:extLst>
          </p:cNvPr>
          <p:cNvSpPr/>
          <p:nvPr/>
        </p:nvSpPr>
        <p:spPr>
          <a:xfrm>
            <a:off x="385572" y="1638300"/>
            <a:ext cx="21488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46%</a:t>
            </a:r>
          </a:p>
          <a:p>
            <a:pPr algn="ctr"/>
            <a:r>
              <a:rPr sz="1100">
                <a:solidFill>
                  <a:srgbClr val="FFFFFF"/>
                </a:solidFill>
                <a:latin typeface="メイリオ" panose="020B0604030504040204" pitchFamily="50" charset="-128"/>
                <a:ea typeface="メイリオ" panose="020B0604030504040204" pitchFamily="50" charset="-128"/>
              </a:rPr>
              <a:t>習い事の開始年齢
「3〜5歳」が最多</a:t>
            </a:r>
          </a:p>
        </p:txBody>
      </p:sp>
      <p:sp>
        <p:nvSpPr>
          <p:cNvPr id="25" name="Rounded Rectangle 3">
            <a:extLst>
              <a:ext uri="{FF2B5EF4-FFF2-40B4-BE49-F238E27FC236}">
                <a16:creationId xmlns:a16="http://schemas.microsoft.com/office/drawing/2014/main" id="{26FA1AA9-A712-DE17-BB8B-F8F64E490409}"/>
              </a:ext>
            </a:extLst>
          </p:cNvPr>
          <p:cNvSpPr/>
          <p:nvPr/>
        </p:nvSpPr>
        <p:spPr>
          <a:xfrm>
            <a:off x="2671572" y="1638300"/>
            <a:ext cx="2148840" cy="1188720"/>
          </a:xfrm>
          <a:prstGeom prst="round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dirty="0">
                <a:solidFill>
                  <a:srgbClr val="FFFFFF"/>
                </a:solidFill>
                <a:latin typeface="メイリオ" panose="020B0604030504040204" pitchFamily="50" charset="-128"/>
                <a:ea typeface="メイリオ" panose="020B0604030504040204" pitchFamily="50" charset="-128"/>
              </a:rPr>
              <a:t>10,146円</a:t>
            </a:r>
          </a:p>
          <a:p>
            <a:pPr algn="ctr"/>
            <a:r>
              <a:rPr sz="1100" dirty="0">
                <a:solidFill>
                  <a:srgbClr val="FFFFFF"/>
                </a:solidFill>
                <a:latin typeface="メイリオ" panose="020B0604030504040204" pitchFamily="50" charset="-128"/>
                <a:ea typeface="メイリオ" panose="020B0604030504040204" pitchFamily="50" charset="-128"/>
              </a:rPr>
              <a:t>4〜6歳の
</a:t>
            </a:r>
            <a:r>
              <a:rPr sz="1100" dirty="0" err="1">
                <a:solidFill>
                  <a:srgbClr val="FFFFFF"/>
                </a:solidFill>
                <a:latin typeface="メイリオ" panose="020B0604030504040204" pitchFamily="50" charset="-128"/>
                <a:ea typeface="メイリオ" panose="020B0604030504040204" pitchFamily="50" charset="-128"/>
              </a:rPr>
              <a:t>月謝合計平均</a:t>
            </a:r>
            <a:endParaRPr sz="1100" dirty="0">
              <a:solidFill>
                <a:srgbClr val="FFFFFF"/>
              </a:solidFill>
              <a:latin typeface="メイリオ" panose="020B0604030504040204" pitchFamily="50" charset="-128"/>
              <a:ea typeface="メイリオ" panose="020B0604030504040204" pitchFamily="50" charset="-128"/>
            </a:endParaRPr>
          </a:p>
        </p:txBody>
      </p:sp>
      <p:sp>
        <p:nvSpPr>
          <p:cNvPr id="26" name="Rounded Rectangle 4">
            <a:extLst>
              <a:ext uri="{FF2B5EF4-FFF2-40B4-BE49-F238E27FC236}">
                <a16:creationId xmlns:a16="http://schemas.microsoft.com/office/drawing/2014/main" id="{1902E2F6-AC7A-D576-8415-3C855D5947A9}"/>
              </a:ext>
            </a:extLst>
          </p:cNvPr>
          <p:cNvSpPr/>
          <p:nvPr/>
        </p:nvSpPr>
        <p:spPr>
          <a:xfrm>
            <a:off x="4957572" y="1638300"/>
            <a:ext cx="2148840" cy="1188720"/>
          </a:xfrm>
          <a:prstGeom prst="round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58%</a:t>
            </a:r>
          </a:p>
          <a:p>
            <a:pPr algn="ctr"/>
            <a:r>
              <a:rPr sz="1100">
                <a:solidFill>
                  <a:srgbClr val="FFFFFF"/>
                </a:solidFill>
                <a:latin typeface="メイリオ" panose="020B0604030504040204" pitchFamily="50" charset="-128"/>
                <a:ea typeface="メイリオ" panose="020B0604030504040204" pitchFamily="50" charset="-128"/>
              </a:rPr>
              <a:t>習い事「1つ」
のみの家庭</a:t>
            </a:r>
          </a:p>
        </p:txBody>
      </p:sp>
      <p:sp>
        <p:nvSpPr>
          <p:cNvPr id="27" name="Rounded Rectangle 5">
            <a:extLst>
              <a:ext uri="{FF2B5EF4-FFF2-40B4-BE49-F238E27FC236}">
                <a16:creationId xmlns:a16="http://schemas.microsoft.com/office/drawing/2014/main" id="{8A74C4D5-CD3A-115D-11F4-4692E83BC2E3}"/>
              </a:ext>
            </a:extLst>
          </p:cNvPr>
          <p:cNvSpPr/>
          <p:nvPr/>
        </p:nvSpPr>
        <p:spPr>
          <a:xfrm>
            <a:off x="7243572" y="1638300"/>
            <a:ext cx="2148840" cy="1188720"/>
          </a:xfrm>
          <a:prstGeom prst="round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dirty="0">
                <a:solidFill>
                  <a:srgbClr val="FFFFFF"/>
                </a:solidFill>
                <a:latin typeface="メイリオ" panose="020B0604030504040204" pitchFamily="50" charset="-128"/>
                <a:ea typeface="メイリオ" panose="020B0604030504040204" pitchFamily="50" charset="-128"/>
              </a:rPr>
              <a:t>87.5%</a:t>
            </a:r>
          </a:p>
          <a:p>
            <a:pPr algn="ctr"/>
            <a:r>
              <a:rPr sz="1100" dirty="0" err="1">
                <a:solidFill>
                  <a:srgbClr val="FFFFFF"/>
                </a:solidFill>
                <a:latin typeface="メイリオ" panose="020B0604030504040204" pitchFamily="50" charset="-128"/>
                <a:ea typeface="メイリオ" panose="020B0604030504040204" pitchFamily="50" charset="-128"/>
              </a:rPr>
              <a:t>未就学児の保護者で</a:t>
            </a:r>
            <a:r>
              <a:rPr sz="1100" dirty="0">
                <a:solidFill>
                  <a:srgbClr val="FFFFFF"/>
                </a:solidFill>
                <a:latin typeface="メイリオ" panose="020B0604030504040204" pitchFamily="50" charset="-128"/>
                <a:ea typeface="メイリオ" panose="020B0604030504040204" pitchFamily="50" charset="-128"/>
              </a:rPr>
              <a:t>
「</a:t>
            </a:r>
            <a:r>
              <a:rPr sz="1100" dirty="0" err="1">
                <a:solidFill>
                  <a:srgbClr val="FFFFFF"/>
                </a:solidFill>
                <a:latin typeface="メイリオ" panose="020B0604030504040204" pitchFamily="50" charset="-128"/>
                <a:ea typeface="メイリオ" panose="020B0604030504040204" pitchFamily="50" charset="-128"/>
              </a:rPr>
              <a:t>させたい」意向</a:t>
            </a:r>
            <a:endParaRPr sz="1100" dirty="0">
              <a:solidFill>
                <a:srgbClr val="FFFFFF"/>
              </a:solidFill>
              <a:latin typeface="メイリオ" panose="020B0604030504040204" pitchFamily="50" charset="-128"/>
              <a:ea typeface="メイリオ" panose="020B0604030504040204" pitchFamily="50" charset="-128"/>
            </a:endParaRPr>
          </a:p>
        </p:txBody>
      </p:sp>
      <p:sp>
        <p:nvSpPr>
          <p:cNvPr id="28" name="TextBox 6">
            <a:extLst>
              <a:ext uri="{FF2B5EF4-FFF2-40B4-BE49-F238E27FC236}">
                <a16:creationId xmlns:a16="http://schemas.microsoft.com/office/drawing/2014/main" id="{F32BB577-D373-15FE-EDE1-B4346239EA20}"/>
              </a:ext>
            </a:extLst>
          </p:cNvPr>
          <p:cNvSpPr txBox="1"/>
          <p:nvPr/>
        </p:nvSpPr>
        <p:spPr>
          <a:xfrm>
            <a:off x="38557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習い事に感じる不安・負担（複数回答）</a:t>
            </a:r>
          </a:p>
        </p:txBody>
      </p:sp>
      <p:pic>
        <p:nvPicPr>
          <p:cNvPr id="29" name="table">
            <a:extLst>
              <a:ext uri="{FF2B5EF4-FFF2-40B4-BE49-F238E27FC236}">
                <a16:creationId xmlns:a16="http://schemas.microsoft.com/office/drawing/2014/main" id="{BD797D6C-2540-BB18-804E-B927E9995453}"/>
              </a:ext>
            </a:extLst>
          </p:cNvPr>
          <p:cNvPicPr>
            <a:picLocks noChangeAspect="1"/>
          </p:cNvPicPr>
          <p:nvPr/>
        </p:nvPicPr>
        <p:blipFill>
          <a:blip r:embed="rId3"/>
          <a:stretch>
            <a:fillRect/>
          </a:stretch>
        </p:blipFill>
        <p:spPr>
          <a:xfrm>
            <a:off x="385572" y="3294380"/>
            <a:ext cx="4389120" cy="1645920"/>
          </a:xfrm>
          <a:prstGeom prst="rect">
            <a:avLst/>
          </a:prstGeom>
        </p:spPr>
      </p:pic>
      <p:sp>
        <p:nvSpPr>
          <p:cNvPr id="30" name="TextBox 8">
            <a:extLst>
              <a:ext uri="{FF2B5EF4-FFF2-40B4-BE49-F238E27FC236}">
                <a16:creationId xmlns:a16="http://schemas.microsoft.com/office/drawing/2014/main" id="{58C905AF-32AC-8815-5B3D-86FCD1554DDB}"/>
              </a:ext>
            </a:extLst>
          </p:cNvPr>
          <p:cNvSpPr txBox="1"/>
          <p:nvPr/>
        </p:nvSpPr>
        <p:spPr>
          <a:xfrm>
            <a:off x="504901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人気の習い事ジャンル</a:t>
            </a:r>
          </a:p>
        </p:txBody>
      </p:sp>
      <p:pic>
        <p:nvPicPr>
          <p:cNvPr id="31" name="table">
            <a:extLst>
              <a:ext uri="{FF2B5EF4-FFF2-40B4-BE49-F238E27FC236}">
                <a16:creationId xmlns:a16="http://schemas.microsoft.com/office/drawing/2014/main" id="{C0285BDD-3E26-1AD3-3CCE-07800130DEB4}"/>
              </a:ext>
            </a:extLst>
          </p:cNvPr>
          <p:cNvPicPr>
            <a:picLocks noChangeAspect="1"/>
          </p:cNvPicPr>
          <p:nvPr/>
        </p:nvPicPr>
        <p:blipFill>
          <a:blip r:embed="rId4"/>
          <a:stretch>
            <a:fillRect/>
          </a:stretch>
        </p:blipFill>
        <p:spPr>
          <a:xfrm>
            <a:off x="5049012" y="3294380"/>
            <a:ext cx="4389120" cy="1645920"/>
          </a:xfrm>
          <a:prstGeom prst="rect">
            <a:avLst/>
          </a:prstGeom>
        </p:spPr>
      </p:pic>
      <p:sp>
        <p:nvSpPr>
          <p:cNvPr id="32" name="TextBox 10">
            <a:extLst>
              <a:ext uri="{FF2B5EF4-FFF2-40B4-BE49-F238E27FC236}">
                <a16:creationId xmlns:a16="http://schemas.microsoft.com/office/drawing/2014/main" id="{4883E9C1-EC1E-8047-ABFB-F3D3B5F83C40}"/>
              </a:ext>
            </a:extLst>
          </p:cNvPr>
          <p:cNvSpPr txBox="1"/>
          <p:nvPr/>
        </p:nvSpPr>
        <p:spPr>
          <a:xfrm>
            <a:off x="385572" y="5214620"/>
            <a:ext cx="9052560" cy="558614"/>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30000"/>
              </a:lnSpc>
            </a:pPr>
            <a:r>
              <a:rPr sz="1200" b="0" dirty="0">
                <a:solidFill>
                  <a:srgbClr val="5A6378"/>
                </a:solidFill>
                <a:latin typeface="メイリオ" panose="020B0604030504040204" pitchFamily="50" charset="-128"/>
                <a:ea typeface="メイリオ" panose="020B0604030504040204" pitchFamily="50" charset="-128"/>
              </a:rPr>
              <a:t>※学年が上がるほど通塾頻度も増加する傾向。未就園児は「0（実施なし）」</a:t>
            </a:r>
            <a:r>
              <a:rPr sz="1200" b="0" dirty="0" err="1">
                <a:solidFill>
                  <a:srgbClr val="5A6378"/>
                </a:solidFill>
                <a:latin typeface="メイリオ" panose="020B0604030504040204" pitchFamily="50" charset="-128"/>
                <a:ea typeface="メイリオ" panose="020B0604030504040204" pitchFamily="50" charset="-128"/>
              </a:rPr>
              <a:t>が中心だが</a:t>
            </a:r>
            <a:r>
              <a:rPr sz="1200" b="0" dirty="0">
                <a:solidFill>
                  <a:srgbClr val="5A6378"/>
                </a:solidFill>
                <a:latin typeface="メイリオ" panose="020B0604030504040204" pitchFamily="50" charset="-128"/>
                <a:ea typeface="メイリオ" panose="020B0604030504040204" pitchFamily="50" charset="-128"/>
              </a:rPr>
              <a:t>、</a:t>
            </a:r>
            <a:endParaRPr lang="en-US" sz="1200" b="0" dirty="0">
              <a:solidFill>
                <a:srgbClr val="5A6378"/>
              </a:solidFill>
              <a:latin typeface="メイリオ" panose="020B0604030504040204" pitchFamily="50" charset="-128"/>
              <a:ea typeface="メイリオ" panose="020B0604030504040204" pitchFamily="50" charset="-128"/>
            </a:endParaRPr>
          </a:p>
          <a:p>
            <a:pPr algn="l">
              <a:lnSpc>
                <a:spcPct val="130000"/>
              </a:lnSpc>
            </a:pPr>
            <a:r>
              <a:rPr lang="ja-JP" altLang="en-US" sz="1200" dirty="0">
                <a:solidFill>
                  <a:srgbClr val="5A6378"/>
                </a:solidFill>
                <a:latin typeface="メイリオ" panose="020B0604030504040204" pitchFamily="50" charset="-128"/>
                <a:ea typeface="メイリオ" panose="020B0604030504040204" pitchFamily="50" charset="-128"/>
              </a:rPr>
              <a:t>　</a:t>
            </a:r>
            <a:r>
              <a:rPr sz="1200" b="0" dirty="0">
                <a:solidFill>
                  <a:srgbClr val="5A6378"/>
                </a:solidFill>
                <a:latin typeface="メイリオ" panose="020B0604030504040204" pitchFamily="50" charset="-128"/>
                <a:ea typeface="メイリオ" panose="020B0604030504040204" pitchFamily="50" charset="-128"/>
              </a:rPr>
              <a:t>小5・小6では「週6日以上」が主流となり、学年進行とともに習い事への時間投資が拡大する</a:t>
            </a:r>
          </a:p>
        </p:txBody>
      </p:sp>
      <p:sp>
        <p:nvSpPr>
          <p:cNvPr id="33" name="TextBox 11">
            <a:extLst>
              <a:ext uri="{FF2B5EF4-FFF2-40B4-BE49-F238E27FC236}">
                <a16:creationId xmlns:a16="http://schemas.microsoft.com/office/drawing/2014/main" id="{657E3036-6E38-E46C-8530-E7FFD3221E4C}"/>
              </a:ext>
            </a:extLst>
          </p:cNvPr>
          <p:cNvSpPr txBox="1"/>
          <p:nvPr/>
        </p:nvSpPr>
        <p:spPr>
          <a:xfrm>
            <a:off x="385572" y="5900420"/>
            <a:ext cx="9052560" cy="399725"/>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20000"/>
              </a:lnSpc>
            </a:pPr>
            <a:r>
              <a:rPr sz="850" b="0" dirty="0" err="1">
                <a:solidFill>
                  <a:srgbClr val="9AA1AE"/>
                </a:solidFill>
                <a:latin typeface="メイリオ" panose="020B0604030504040204" pitchFamily="50" charset="-128"/>
                <a:ea typeface="メイリオ" panose="020B0604030504040204" pitchFamily="50" charset="-128"/>
              </a:rPr>
              <a:t>出典</a:t>
            </a:r>
            <a:r>
              <a:rPr sz="850" b="0" dirty="0">
                <a:solidFill>
                  <a:srgbClr val="9AA1AE"/>
                </a:solidFill>
                <a:latin typeface="メイリオ" panose="020B0604030504040204" pitchFamily="50" charset="-128"/>
                <a:ea typeface="メイリオ" panose="020B0604030504040204" pitchFamily="50" charset="-128"/>
              </a:rPr>
              <a:t>：①np-labo.com（2023年10月, N=300）　②統計データ（4〜6歳 回答者数103）　③マイナビウーマン（2022年8月, N=300）</a:t>
            </a:r>
          </a:p>
          <a:p>
            <a:pPr algn="l">
              <a:lnSpc>
                <a:spcPct val="120000"/>
              </a:lnSpc>
            </a:pPr>
            <a:r>
              <a:rPr sz="850" b="0" dirty="0">
                <a:solidFill>
                  <a:srgbClr val="9AA1AE"/>
                </a:solidFill>
                <a:latin typeface="メイリオ" panose="020B0604030504040204" pitchFamily="50" charset="-128"/>
                <a:ea typeface="メイリオ" panose="020B0604030504040204" pitchFamily="50" charset="-128"/>
              </a:rPr>
              <a:t>④babytech.jp「未就学児の習い事事情2025」（N=1,436）　⑤PR </a:t>
            </a:r>
            <a:r>
              <a:rPr sz="850" b="0" dirty="0" err="1">
                <a:solidFill>
                  <a:srgbClr val="9AA1AE"/>
                </a:solidFill>
                <a:latin typeface="メイリオ" panose="020B0604030504040204" pitchFamily="50" charset="-128"/>
                <a:ea typeface="メイリオ" panose="020B0604030504040204" pitchFamily="50" charset="-128"/>
              </a:rPr>
              <a:t>TIMES（学年別</a:t>
            </a:r>
            <a:r>
              <a:rPr sz="850" b="0" dirty="0">
                <a:solidFill>
                  <a:srgbClr val="9AA1AE"/>
                </a:solidFill>
                <a:latin typeface="メイリオ" panose="020B0604030504040204" pitchFamily="50" charset="-128"/>
                <a:ea typeface="メイリオ" panose="020B0604030504040204" pitchFamily="50" charset="-128"/>
              </a:rPr>
              <a:t> </a:t>
            </a:r>
            <a:r>
              <a:rPr sz="850" b="0" dirty="0" err="1">
                <a:solidFill>
                  <a:srgbClr val="9AA1AE"/>
                </a:solidFill>
                <a:latin typeface="メイリオ" panose="020B0604030504040204" pitchFamily="50" charset="-128"/>
                <a:ea typeface="メイリオ" panose="020B0604030504040204" pitchFamily="50" charset="-128"/>
              </a:rPr>
              <a:t>週あたり実施日数</a:t>
            </a:r>
            <a:r>
              <a:rPr sz="850" b="0" dirty="0">
                <a:solidFill>
                  <a:srgbClr val="9AA1AE"/>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053170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FCDA-60C5-9365-6004-8403C246AD9F}"/>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B2DB17C1-927F-1EC4-4371-E831F96525CB}"/>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前後検索「子ども 習い事」</a:t>
            </a:r>
          </a:p>
        </p:txBody>
      </p:sp>
      <p:sp>
        <p:nvSpPr>
          <p:cNvPr id="5" name="Text 7">
            <a:extLst>
              <a:ext uri="{FF2B5EF4-FFF2-40B4-BE49-F238E27FC236}">
                <a16:creationId xmlns:a16="http://schemas.microsoft.com/office/drawing/2014/main" id="{2CA316B7-4505-4337-6433-44B8AC8C958C}"/>
              </a:ext>
            </a:extLst>
          </p:cNvPr>
          <p:cNvSpPr txBox="1"/>
          <p:nvPr/>
        </p:nvSpPr>
        <p:spPr>
          <a:xfrm>
            <a:off x="385572" y="648000"/>
            <a:ext cx="9134856" cy="666000"/>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300" dirty="0">
                <a:solidFill>
                  <a:schemeClr val="tx1"/>
                </a:solidFill>
              </a:rPr>
              <a:t>習い事の比較は検索当日に集中し、その前後は「家族のお出かけ・楽しみ」と「子育て」への関心が中心です。</a:t>
            </a:r>
          </a:p>
          <a:p>
            <a:pPr algn="ctr"/>
            <a:r>
              <a:rPr lang="en-US" altLang="ja-JP" sz="1300" dirty="0">
                <a:solidFill>
                  <a:schemeClr val="tx1"/>
                </a:solidFill>
              </a:rPr>
              <a:t>当日に決めきれなかった方をLINEでつなぎとめ、日々の関心に合わせた配信で接点を保ちます。</a:t>
            </a:r>
          </a:p>
        </p:txBody>
      </p:sp>
      <p:pic>
        <p:nvPicPr>
          <p:cNvPr id="4" name="図 3">
            <a:extLst>
              <a:ext uri="{FF2B5EF4-FFF2-40B4-BE49-F238E27FC236}">
                <a16:creationId xmlns:a16="http://schemas.microsoft.com/office/drawing/2014/main" id="{4511DE82-BBD2-B022-1764-353E066B0E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33338" y="1677364"/>
            <a:ext cx="7442525" cy="4341473"/>
          </a:xfrm>
          <a:prstGeom prst="rect">
            <a:avLst/>
          </a:prstGeom>
        </p:spPr>
      </p:pic>
      <p:cxnSp>
        <p:nvCxnSpPr>
          <p:cNvPr id="8" name="直線矢印コネクタ 7">
            <a:extLst>
              <a:ext uri="{FF2B5EF4-FFF2-40B4-BE49-F238E27FC236}">
                <a16:creationId xmlns:a16="http://schemas.microsoft.com/office/drawing/2014/main" id="{FACBC0F7-0441-2179-B969-6950551697D2}"/>
              </a:ext>
            </a:extLst>
          </p:cNvPr>
          <p:cNvCxnSpPr>
            <a:cxnSpLocks/>
          </p:cNvCxnSpPr>
          <p:nvPr/>
        </p:nvCxnSpPr>
        <p:spPr>
          <a:xfrm>
            <a:off x="726833" y="5184903"/>
            <a:ext cx="5484091" cy="0"/>
          </a:xfrm>
          <a:prstGeom prst="straightConnector1">
            <a:avLst/>
          </a:prstGeom>
          <a:ln w="57150">
            <a:solidFill>
              <a:schemeClr val="tx1">
                <a:lumMod val="75000"/>
                <a:lumOff val="25000"/>
              </a:schemeClr>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BA0EB23A-0A83-01D0-64EB-40B1ED3DCA8F}"/>
              </a:ext>
            </a:extLst>
          </p:cNvPr>
          <p:cNvCxnSpPr/>
          <p:nvPr/>
        </p:nvCxnSpPr>
        <p:spPr>
          <a:xfrm>
            <a:off x="5518005" y="5692903"/>
            <a:ext cx="2114354" cy="0"/>
          </a:xfrm>
          <a:prstGeom prst="straightConnector1">
            <a:avLst/>
          </a:prstGeom>
          <a:ln w="57150">
            <a:solidFill>
              <a:srgbClr val="04FA0A"/>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6238FDAF-4FF9-608B-5C45-81FE7C1A6423}"/>
              </a:ext>
            </a:extLst>
          </p:cNvPr>
          <p:cNvCxnSpPr/>
          <p:nvPr/>
        </p:nvCxnSpPr>
        <p:spPr>
          <a:xfrm>
            <a:off x="6985063" y="6251703"/>
            <a:ext cx="2533039" cy="0"/>
          </a:xfrm>
          <a:prstGeom prst="straightConnector1">
            <a:avLst/>
          </a:prstGeom>
          <a:ln w="57150">
            <a:solidFill>
              <a:srgbClr val="00B05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DA7B2989-9F56-5DD7-1256-E2B61CE5E5FC}"/>
              </a:ext>
            </a:extLst>
          </p:cNvPr>
          <p:cNvSpPr txBox="1"/>
          <p:nvPr/>
        </p:nvSpPr>
        <p:spPr>
          <a:xfrm>
            <a:off x="968756" y="4805560"/>
            <a:ext cx="4965700" cy="353943"/>
          </a:xfrm>
          <a:prstGeom prst="rect">
            <a:avLst/>
          </a:prstGeom>
          <a:noFill/>
        </p:spPr>
        <p:txBody>
          <a:bodyPr wrap="square">
            <a:spAutoFit/>
          </a:bodyPr>
          <a:lstStyle/>
          <a:p>
            <a:pPr marL="0" indent="0" algn="ctr">
              <a:buNone/>
            </a:pPr>
            <a:r>
              <a:rPr lang="ja-JP" altLang="en-US" sz="1700" b="1" dirty="0">
                <a:solidFill>
                  <a:schemeClr val="bg1">
                    <a:lumMod val="75000"/>
                  </a:schemeClr>
                </a:solidFill>
                <a:latin typeface="Meiryo" pitchFamily="34" charset="0"/>
                <a:ea typeface="Meiryo" pitchFamily="34" charset="-122"/>
                <a:cs typeface="Meiryo" pitchFamily="34" charset="-120"/>
              </a:rPr>
              <a:t>離脱防止バナーの掲載</a:t>
            </a:r>
            <a:endParaRPr lang="en-US" altLang="ja-JP" sz="1700" dirty="0">
              <a:solidFill>
                <a:schemeClr val="bg1">
                  <a:lumMod val="75000"/>
                </a:schemeClr>
              </a:solidFill>
            </a:endParaRPr>
          </a:p>
        </p:txBody>
      </p:sp>
      <p:sp>
        <p:nvSpPr>
          <p:cNvPr id="12" name="テキスト ボックス 11">
            <a:extLst>
              <a:ext uri="{FF2B5EF4-FFF2-40B4-BE49-F238E27FC236}">
                <a16:creationId xmlns:a16="http://schemas.microsoft.com/office/drawing/2014/main" id="{558A8417-6060-6DF0-8F12-53B3635C9DC0}"/>
              </a:ext>
            </a:extLst>
          </p:cNvPr>
          <p:cNvSpPr txBox="1"/>
          <p:nvPr/>
        </p:nvSpPr>
        <p:spPr>
          <a:xfrm>
            <a:off x="5172524" y="5312731"/>
            <a:ext cx="2803009" cy="353943"/>
          </a:xfrm>
          <a:prstGeom prst="rect">
            <a:avLst/>
          </a:prstGeom>
          <a:noFill/>
          <a:ln w="57150">
            <a:noFill/>
          </a:ln>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友だち追加</a:t>
            </a:r>
            <a:endParaRPr lang="en-US" altLang="ja-JP" sz="1700" dirty="0">
              <a:solidFill>
                <a:schemeClr val="bg1">
                  <a:lumMod val="75000"/>
                </a:schemeClr>
              </a:solidFill>
            </a:endParaRPr>
          </a:p>
        </p:txBody>
      </p:sp>
      <p:sp>
        <p:nvSpPr>
          <p:cNvPr id="13" name="テキスト ボックス 12">
            <a:extLst>
              <a:ext uri="{FF2B5EF4-FFF2-40B4-BE49-F238E27FC236}">
                <a16:creationId xmlns:a16="http://schemas.microsoft.com/office/drawing/2014/main" id="{141D629D-A515-AE4F-E000-57CAEA1B1B70}"/>
              </a:ext>
            </a:extLst>
          </p:cNvPr>
          <p:cNvSpPr txBox="1"/>
          <p:nvPr/>
        </p:nvSpPr>
        <p:spPr>
          <a:xfrm>
            <a:off x="6850077" y="5871117"/>
            <a:ext cx="2803009" cy="353943"/>
          </a:xfrm>
          <a:prstGeom prst="rect">
            <a:avLst/>
          </a:prstGeom>
          <a:noFill/>
          <a:ln w="57150">
            <a:noFill/>
          </a:ln>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施策</a:t>
            </a:r>
            <a:r>
              <a:rPr lang="en-US" altLang="ja-JP" sz="1700" b="1" dirty="0">
                <a:solidFill>
                  <a:schemeClr val="bg1">
                    <a:lumMod val="75000"/>
                  </a:schemeClr>
                </a:solidFill>
                <a:latin typeface="Meiryo" pitchFamily="34" charset="0"/>
                <a:ea typeface="Meiryo" pitchFamily="34" charset="-122"/>
                <a:cs typeface="Meiryo" pitchFamily="34" charset="-120"/>
              </a:rPr>
              <a:t>(</a:t>
            </a:r>
            <a:r>
              <a:rPr lang="ja-JP" altLang="en-US" sz="1700" b="1" dirty="0">
                <a:solidFill>
                  <a:schemeClr val="bg1">
                    <a:lumMod val="75000"/>
                  </a:schemeClr>
                </a:solidFill>
                <a:latin typeface="Meiryo" pitchFamily="34" charset="0"/>
                <a:ea typeface="Meiryo" pitchFamily="34" charset="-122"/>
                <a:cs typeface="Meiryo" pitchFamily="34" charset="-120"/>
              </a:rPr>
              <a:t>投稿</a:t>
            </a:r>
            <a:r>
              <a:rPr lang="en-US" altLang="ja-JP" sz="1700" b="1" dirty="0">
                <a:solidFill>
                  <a:schemeClr val="bg1">
                    <a:lumMod val="75000"/>
                  </a:schemeClr>
                </a:solidFill>
                <a:latin typeface="Meiryo" pitchFamily="34" charset="0"/>
                <a:ea typeface="Meiryo" pitchFamily="34" charset="-122"/>
                <a:cs typeface="Meiryo" pitchFamily="34" charset="-120"/>
              </a:rPr>
              <a:t>)</a:t>
            </a:r>
            <a:endParaRPr lang="en-US" altLang="ja-JP" sz="1700" dirty="0">
              <a:solidFill>
                <a:schemeClr val="bg1">
                  <a:lumMod val="75000"/>
                </a:schemeClr>
              </a:solidFill>
            </a:endParaRPr>
          </a:p>
        </p:txBody>
      </p:sp>
      <p:sp>
        <p:nvSpPr>
          <p:cNvPr id="46" name="Rounded Rectangle 45"/>
          <p:cNvSpPr/>
          <p:nvPr/>
        </p:nvSpPr>
        <p:spPr>
          <a:xfrm>
            <a:off x="1332000" y="1422000"/>
            <a:ext cx="1648800" cy="208800"/>
          </a:xfrm>
          <a:prstGeom prst="roundRect">
            <a:avLst>
              <a:gd name="adj" fmla="val 1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習い事の比較・検討</a:t>
            </a:r>
          </a:p>
        </p:txBody>
      </p:sp>
      <p:sp>
        <p:nvSpPr>
          <p:cNvPr id="47" name="Rounded Rectangle 46"/>
          <p:cNvSpPr/>
          <p:nvPr/>
        </p:nvSpPr>
        <p:spPr>
          <a:xfrm>
            <a:off x="3052800" y="1422000"/>
            <a:ext cx="1195200" cy="208800"/>
          </a:xfrm>
          <a:prstGeom prst="roundRect">
            <a:avLst>
              <a:gd name="adj" fmla="val 18000"/>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子育て・学び</a:t>
            </a:r>
          </a:p>
        </p:txBody>
      </p:sp>
      <p:sp>
        <p:nvSpPr>
          <p:cNvPr id="48" name="Rounded Rectangle 47"/>
          <p:cNvSpPr/>
          <p:nvPr/>
        </p:nvSpPr>
        <p:spPr>
          <a:xfrm>
            <a:off x="4320000" y="1422000"/>
            <a:ext cx="1951200" cy="208800"/>
          </a:xfrm>
          <a:prstGeom prst="roundRect">
            <a:avLst>
              <a:gd name="adj" fmla="val 18000"/>
            </a:avLst>
          </a:prstGeom>
          <a:solidFill>
            <a:srgbClr val="8E4E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家族のお出かけ・楽しみ</a:t>
            </a:r>
          </a:p>
        </p:txBody>
      </p:sp>
      <p:sp>
        <p:nvSpPr>
          <p:cNvPr id="49" name="TextBox 48"/>
          <p:cNvSpPr txBox="1"/>
          <p:nvPr/>
        </p:nvSpPr>
        <p:spPr>
          <a:xfrm>
            <a:off x="6379200" y="1422000"/>
            <a:ext cx="2520000" cy="208800"/>
          </a:xfrm>
          <a:prstGeom prst="rect">
            <a:avLst/>
          </a:prstGeom>
          <a:noFill/>
        </p:spPr>
        <p:txBody>
          <a:bodyPr wrap="square" lIns="0" rIns="0" tIns="21600" bIns="21600" anchor="ctr">
            <a:spAutoFit/>
          </a:bodyPr>
          <a:lstStyle/>
          <a:p>
            <a:pPr algn="l"/>
            <a:r>
              <a:rPr sz="900">
                <a:solidFill>
                  <a:srgbClr val="7F7F7F"/>
                </a:solidFill>
                <a:latin typeface="メイリオ"/>
                <a:ea typeface="メイリオ"/>
                <a:cs typeface="メイリオ"/>
              </a:rPr>
              <a:t>色なし：その他</a:t>
            </a:r>
          </a:p>
        </p:txBody>
      </p:sp>
      <p:sp>
        <p:nvSpPr>
          <p:cNvPr id="50" name="TextBox 49"/>
          <p:cNvSpPr txBox="1"/>
          <p:nvPr/>
        </p:nvSpPr>
        <p:spPr>
          <a:xfrm>
            <a:off x="385200" y="6282000"/>
            <a:ext cx="6120000" cy="180000"/>
          </a:xfrm>
          <a:prstGeom prst="rect">
            <a:avLst/>
          </a:prstGeom>
          <a:noFill/>
        </p:spPr>
        <p:txBody>
          <a:bodyPr wrap="square" lIns="0" rIns="0" tIns="21600" bIns="21600" anchor="ctr">
            <a:spAutoFit/>
          </a:bodyPr>
          <a:lstStyle/>
          <a:p>
            <a:pPr algn="l"/>
            <a:r>
              <a:rPr sz="800">
                <a:solidFill>
                  <a:srgbClr val="7F7F7F"/>
                </a:solidFill>
                <a:latin typeface="メイリオ"/>
                <a:ea typeface="メイリオ"/>
                <a:cs typeface="メイリオ"/>
              </a:rPr>
              <a:t>出典：LINEヤフー社提供の前後検索データ（検索起点：「子ども 習い事」）</a:t>
            </a:r>
          </a:p>
        </p:txBody>
      </p:sp>
    </p:spTree>
    <p:extLst>
      <p:ext uri="{BB962C8B-B14F-4D97-AF65-F5344CB8AC3E}">
        <p14:creationId xmlns:p14="http://schemas.microsoft.com/office/powerpoint/2010/main" val="1439330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A4403-1A8A-B352-52D7-3C459B4E9FF3}"/>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3FF53609-3AE6-15F7-F91A-8F9748838B2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前後検索「習い事」</a:t>
            </a:r>
          </a:p>
        </p:txBody>
      </p:sp>
      <p:sp>
        <p:nvSpPr>
          <p:cNvPr id="5" name="Text 7">
            <a:extLst>
              <a:ext uri="{FF2B5EF4-FFF2-40B4-BE49-F238E27FC236}">
                <a16:creationId xmlns:a16="http://schemas.microsoft.com/office/drawing/2014/main" id="{BD6FF840-BD2A-C9D2-6742-4C0E533AE4B4}"/>
              </a:ext>
            </a:extLst>
          </p:cNvPr>
          <p:cNvSpPr txBox="1"/>
          <p:nvPr/>
        </p:nvSpPr>
        <p:spPr>
          <a:xfrm>
            <a:off x="385572" y="648000"/>
            <a:ext cx="9134856" cy="666000"/>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en-US" altLang="ja-JP" sz="1300" dirty="0">
                <a:solidFill>
                  <a:schemeClr val="tx1"/>
                </a:solidFill>
              </a:rPr>
              <a:t>習い事の比較は検索の前から後まで続き、検索後は「忍者ナイン 評判」「くもん 月謝」など評判・費用の確認に進みます。</a:t>
            </a:r>
          </a:p>
          <a:p>
            <a:pPr marL="0" indent="0" algn="ctr">
              <a:buNone/>
            </a:pPr>
            <a:r>
              <a:rPr lang="en-US" altLang="ja-JP" sz="1300" dirty="0">
                <a:solidFill>
                  <a:schemeClr val="tx1"/>
                </a:solidFill>
              </a:rPr>
              <a:t>比較が続くあいだ、LINEで評判・月謝などの疑問にお答えし、体験予約へつなげます。</a:t>
            </a:r>
          </a:p>
        </p:txBody>
      </p:sp>
      <p:pic>
        <p:nvPicPr>
          <p:cNvPr id="7" name="図 6">
            <a:extLst>
              <a:ext uri="{FF2B5EF4-FFF2-40B4-BE49-F238E27FC236}">
                <a16:creationId xmlns:a16="http://schemas.microsoft.com/office/drawing/2014/main" id="{A59C6DB9-8735-BD98-C3AA-EB4C5D2F08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33338" y="1677364"/>
            <a:ext cx="7442525" cy="4341473"/>
          </a:xfrm>
          <a:prstGeom prst="rect">
            <a:avLst/>
          </a:prstGeom>
        </p:spPr>
      </p:pic>
      <p:cxnSp>
        <p:nvCxnSpPr>
          <p:cNvPr id="8" name="直線矢印コネクタ 7">
            <a:extLst>
              <a:ext uri="{FF2B5EF4-FFF2-40B4-BE49-F238E27FC236}">
                <a16:creationId xmlns:a16="http://schemas.microsoft.com/office/drawing/2014/main" id="{49872CA8-26BB-EE48-3AD2-11D59C4D0C02}"/>
              </a:ext>
            </a:extLst>
          </p:cNvPr>
          <p:cNvCxnSpPr>
            <a:cxnSpLocks/>
          </p:cNvCxnSpPr>
          <p:nvPr/>
        </p:nvCxnSpPr>
        <p:spPr>
          <a:xfrm>
            <a:off x="726833" y="5184903"/>
            <a:ext cx="5484091" cy="0"/>
          </a:xfrm>
          <a:prstGeom prst="straightConnector1">
            <a:avLst/>
          </a:prstGeom>
          <a:ln w="57150">
            <a:solidFill>
              <a:schemeClr val="tx1">
                <a:lumMod val="75000"/>
                <a:lumOff val="25000"/>
              </a:schemeClr>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CA0DB759-B7B4-7F5D-1A6C-EA4B3D364ECD}"/>
              </a:ext>
            </a:extLst>
          </p:cNvPr>
          <p:cNvCxnSpPr/>
          <p:nvPr/>
        </p:nvCxnSpPr>
        <p:spPr>
          <a:xfrm>
            <a:off x="5518005" y="5692903"/>
            <a:ext cx="2114354" cy="0"/>
          </a:xfrm>
          <a:prstGeom prst="straightConnector1">
            <a:avLst/>
          </a:prstGeom>
          <a:ln w="57150">
            <a:solidFill>
              <a:srgbClr val="04FA0A"/>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7AF1380E-3FB7-14CD-2323-DE614D5319B0}"/>
              </a:ext>
            </a:extLst>
          </p:cNvPr>
          <p:cNvCxnSpPr/>
          <p:nvPr/>
        </p:nvCxnSpPr>
        <p:spPr>
          <a:xfrm>
            <a:off x="6985063" y="6251703"/>
            <a:ext cx="2533039" cy="0"/>
          </a:xfrm>
          <a:prstGeom prst="straightConnector1">
            <a:avLst/>
          </a:prstGeom>
          <a:ln w="57150">
            <a:solidFill>
              <a:srgbClr val="00B05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16AF5040-A8C5-8998-7D9E-E6C6B73FFFDB}"/>
              </a:ext>
            </a:extLst>
          </p:cNvPr>
          <p:cNvSpPr txBox="1"/>
          <p:nvPr/>
        </p:nvSpPr>
        <p:spPr>
          <a:xfrm>
            <a:off x="968756" y="4805560"/>
            <a:ext cx="4965700" cy="353943"/>
          </a:xfrm>
          <a:prstGeom prst="rect">
            <a:avLst/>
          </a:prstGeom>
          <a:noFill/>
        </p:spPr>
        <p:txBody>
          <a:bodyPr wrap="square">
            <a:spAutoFit/>
          </a:bodyPr>
          <a:lstStyle/>
          <a:p>
            <a:pPr marL="0" indent="0" algn="ctr">
              <a:buNone/>
            </a:pPr>
            <a:r>
              <a:rPr lang="ja-JP" altLang="en-US" sz="1700" b="1" dirty="0">
                <a:solidFill>
                  <a:schemeClr val="bg1">
                    <a:lumMod val="75000"/>
                  </a:schemeClr>
                </a:solidFill>
                <a:latin typeface="Meiryo" pitchFamily="34" charset="0"/>
                <a:ea typeface="Meiryo" pitchFamily="34" charset="-122"/>
                <a:cs typeface="Meiryo" pitchFamily="34" charset="-120"/>
              </a:rPr>
              <a:t>離脱防止バナーの掲載</a:t>
            </a:r>
            <a:endParaRPr lang="en-US" altLang="ja-JP" sz="1700" dirty="0">
              <a:solidFill>
                <a:schemeClr val="bg1">
                  <a:lumMod val="75000"/>
                </a:schemeClr>
              </a:solidFill>
            </a:endParaRPr>
          </a:p>
        </p:txBody>
      </p:sp>
      <p:sp>
        <p:nvSpPr>
          <p:cNvPr id="12" name="テキスト ボックス 11">
            <a:extLst>
              <a:ext uri="{FF2B5EF4-FFF2-40B4-BE49-F238E27FC236}">
                <a16:creationId xmlns:a16="http://schemas.microsoft.com/office/drawing/2014/main" id="{F412C162-0E63-74C5-29D8-B8BA9075D080}"/>
              </a:ext>
            </a:extLst>
          </p:cNvPr>
          <p:cNvSpPr txBox="1"/>
          <p:nvPr/>
        </p:nvSpPr>
        <p:spPr>
          <a:xfrm>
            <a:off x="5172524" y="5312731"/>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友だち追加</a:t>
            </a:r>
            <a:endParaRPr lang="en-US" altLang="ja-JP" sz="1700" dirty="0">
              <a:solidFill>
                <a:schemeClr val="bg1">
                  <a:lumMod val="75000"/>
                </a:schemeClr>
              </a:solidFill>
            </a:endParaRPr>
          </a:p>
        </p:txBody>
      </p:sp>
      <p:sp>
        <p:nvSpPr>
          <p:cNvPr id="13" name="テキスト ボックス 12">
            <a:extLst>
              <a:ext uri="{FF2B5EF4-FFF2-40B4-BE49-F238E27FC236}">
                <a16:creationId xmlns:a16="http://schemas.microsoft.com/office/drawing/2014/main" id="{D32726F4-505A-F02B-9214-D435615CB4EF}"/>
              </a:ext>
            </a:extLst>
          </p:cNvPr>
          <p:cNvSpPr txBox="1"/>
          <p:nvPr/>
        </p:nvSpPr>
        <p:spPr>
          <a:xfrm>
            <a:off x="6850077" y="5871117"/>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施策</a:t>
            </a:r>
            <a:r>
              <a:rPr lang="en-US" altLang="ja-JP" sz="1700" b="1" dirty="0">
                <a:solidFill>
                  <a:schemeClr val="bg1">
                    <a:lumMod val="75000"/>
                  </a:schemeClr>
                </a:solidFill>
                <a:latin typeface="Meiryo" pitchFamily="34" charset="0"/>
                <a:ea typeface="Meiryo" pitchFamily="34" charset="-122"/>
                <a:cs typeface="Meiryo" pitchFamily="34" charset="-120"/>
              </a:rPr>
              <a:t>(</a:t>
            </a:r>
            <a:r>
              <a:rPr lang="ja-JP" altLang="en-US" sz="1700" b="1" dirty="0">
                <a:solidFill>
                  <a:schemeClr val="bg1">
                    <a:lumMod val="75000"/>
                  </a:schemeClr>
                </a:solidFill>
                <a:latin typeface="Meiryo" pitchFamily="34" charset="0"/>
                <a:ea typeface="Meiryo" pitchFamily="34" charset="-122"/>
                <a:cs typeface="Meiryo" pitchFamily="34" charset="-120"/>
              </a:rPr>
              <a:t>投稿</a:t>
            </a:r>
            <a:r>
              <a:rPr lang="en-US" altLang="ja-JP" sz="1700" b="1" dirty="0">
                <a:solidFill>
                  <a:schemeClr val="bg1">
                    <a:lumMod val="75000"/>
                  </a:schemeClr>
                </a:solidFill>
                <a:latin typeface="Meiryo" pitchFamily="34" charset="0"/>
                <a:ea typeface="Meiryo" pitchFamily="34" charset="-122"/>
                <a:cs typeface="Meiryo" pitchFamily="34" charset="-120"/>
              </a:rPr>
              <a:t>)</a:t>
            </a:r>
            <a:endParaRPr lang="en-US" altLang="ja-JP" sz="1700" dirty="0">
              <a:solidFill>
                <a:schemeClr val="bg1">
                  <a:lumMod val="75000"/>
                </a:schemeClr>
              </a:solidFill>
            </a:endParaRPr>
          </a:p>
        </p:txBody>
      </p:sp>
      <p:sp>
        <p:nvSpPr>
          <p:cNvPr id="46" name="Rounded Rectangle 45"/>
          <p:cNvSpPr/>
          <p:nvPr/>
        </p:nvSpPr>
        <p:spPr>
          <a:xfrm>
            <a:off x="1332000" y="1422000"/>
            <a:ext cx="1648800" cy="208800"/>
          </a:xfrm>
          <a:prstGeom prst="roundRect">
            <a:avLst>
              <a:gd name="adj" fmla="val 1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習い事の比較・検討</a:t>
            </a:r>
          </a:p>
        </p:txBody>
      </p:sp>
      <p:sp>
        <p:nvSpPr>
          <p:cNvPr id="47" name="Rounded Rectangle 46"/>
          <p:cNvSpPr/>
          <p:nvPr/>
        </p:nvSpPr>
        <p:spPr>
          <a:xfrm>
            <a:off x="3052800" y="1422000"/>
            <a:ext cx="1195200" cy="208800"/>
          </a:xfrm>
          <a:prstGeom prst="roundRect">
            <a:avLst>
              <a:gd name="adj" fmla="val 18000"/>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子育て・学び</a:t>
            </a:r>
          </a:p>
        </p:txBody>
      </p:sp>
      <p:sp>
        <p:nvSpPr>
          <p:cNvPr id="48" name="Rounded Rectangle 47"/>
          <p:cNvSpPr/>
          <p:nvPr/>
        </p:nvSpPr>
        <p:spPr>
          <a:xfrm>
            <a:off x="4320000" y="1422000"/>
            <a:ext cx="1951200" cy="208800"/>
          </a:xfrm>
          <a:prstGeom prst="roundRect">
            <a:avLst>
              <a:gd name="adj" fmla="val 18000"/>
            </a:avLst>
          </a:prstGeom>
          <a:solidFill>
            <a:srgbClr val="8E4E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家族のお出かけ・楽しみ</a:t>
            </a:r>
          </a:p>
        </p:txBody>
      </p:sp>
      <p:sp>
        <p:nvSpPr>
          <p:cNvPr id="49" name="TextBox 48"/>
          <p:cNvSpPr txBox="1"/>
          <p:nvPr/>
        </p:nvSpPr>
        <p:spPr>
          <a:xfrm>
            <a:off x="6379200" y="1422000"/>
            <a:ext cx="2520000" cy="208800"/>
          </a:xfrm>
          <a:prstGeom prst="rect">
            <a:avLst/>
          </a:prstGeom>
          <a:noFill/>
        </p:spPr>
        <p:txBody>
          <a:bodyPr wrap="square" lIns="0" rIns="0" tIns="21600" bIns="21600" anchor="ctr">
            <a:spAutoFit/>
          </a:bodyPr>
          <a:lstStyle/>
          <a:p>
            <a:pPr algn="l"/>
            <a:r>
              <a:rPr sz="900">
                <a:solidFill>
                  <a:srgbClr val="7F7F7F"/>
                </a:solidFill>
                <a:latin typeface="メイリオ"/>
                <a:ea typeface="メイリオ"/>
                <a:cs typeface="メイリオ"/>
              </a:rPr>
              <a:t>色なし：大人の習い事・趣味、その他</a:t>
            </a:r>
          </a:p>
        </p:txBody>
      </p:sp>
      <p:sp>
        <p:nvSpPr>
          <p:cNvPr id="50" name="TextBox 49"/>
          <p:cNvSpPr txBox="1"/>
          <p:nvPr/>
        </p:nvSpPr>
        <p:spPr>
          <a:xfrm>
            <a:off x="385200" y="6282000"/>
            <a:ext cx="6120000" cy="180000"/>
          </a:xfrm>
          <a:prstGeom prst="rect">
            <a:avLst/>
          </a:prstGeom>
          <a:noFill/>
        </p:spPr>
        <p:txBody>
          <a:bodyPr wrap="square" lIns="0" rIns="0" tIns="21600" bIns="21600" anchor="ctr">
            <a:spAutoFit/>
          </a:bodyPr>
          <a:lstStyle/>
          <a:p>
            <a:pPr algn="l"/>
            <a:r>
              <a:rPr sz="800">
                <a:solidFill>
                  <a:srgbClr val="7F7F7F"/>
                </a:solidFill>
                <a:latin typeface="メイリオ"/>
                <a:ea typeface="メイリオ"/>
                <a:cs typeface="メイリオ"/>
              </a:rPr>
              <a:t>出典：LINEヤフー社提供の前後検索データ（検索起点：「習い事」）</a:t>
            </a:r>
          </a:p>
        </p:txBody>
      </p:sp>
    </p:spTree>
    <p:extLst>
      <p:ext uri="{BB962C8B-B14F-4D97-AF65-F5344CB8AC3E}">
        <p14:creationId xmlns:p14="http://schemas.microsoft.com/office/powerpoint/2010/main" val="3154136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E4EC-2612-49EF-3949-DD4AEE06BA6E}"/>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C179E5F-42D4-89F9-9472-648B520C621A}"/>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前後検索のまとめ（項目別）</a:t>
            </a:r>
          </a:p>
        </p:txBody>
      </p:sp>
      <p:sp>
        <p:nvSpPr>
          <p:cNvPr id="5" name="Text 7">
            <a:extLst>
              <a:ext uri="{FF2B5EF4-FFF2-40B4-BE49-F238E27FC236}">
                <a16:creationId xmlns:a16="http://schemas.microsoft.com/office/drawing/2014/main" id="{3A699E6E-FDC6-D14D-24A9-A9C2E09A8B68}"/>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sz="1400" b="1" dirty="0">
                <a:solidFill>
                  <a:schemeClr val="tx1"/>
                </a:solidFill>
                <a:latin typeface="Meiryo" pitchFamily="34" charset="0"/>
                <a:ea typeface="Meiryo" pitchFamily="34" charset="-122"/>
                <a:cs typeface="Meiryo" pitchFamily="34" charset="-120"/>
              </a:rPr>
              <a:t>習い事の比較は検索の当日から後まで続き、その前後には子育て・家族のお出かけへの関心があります。</a:t>
            </a:r>
          </a:p>
          <a:p>
            <a:pPr marL="0" indent="0" algn="ctr">
              <a:buNone/>
            </a:pPr>
            <a:r>
              <a:rPr lang="ja-JP" altLang="en-US" sz="1400" b="1" dirty="0">
                <a:solidFill>
                  <a:schemeClr val="tx1"/>
                </a:solidFill>
                <a:latin typeface="Meiryo" pitchFamily="34" charset="0"/>
                <a:ea typeface="Meiryo" pitchFamily="34" charset="-122"/>
                <a:cs typeface="Meiryo" pitchFamily="34" charset="-120"/>
              </a:rPr>
              <a:t>項目ごとに、LINEでの打ち手を用意します。</a:t>
            </a:r>
          </a:p>
        </p:txBody>
      </p:sp>
      <p:sp>
        <p:nvSpPr>
          <p:cNvPr id="46" name="Rounded Rectangle 45"/>
          <p:cNvSpPr/>
          <p:nvPr/>
        </p:nvSpPr>
        <p:spPr>
          <a:xfrm>
            <a:off x="1763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50" b="1">
                <a:solidFill>
                  <a:srgbClr val="FFFFFF"/>
                </a:solidFill>
                <a:latin typeface="メイリオ"/>
                <a:ea typeface="メイリオ"/>
                <a:cs typeface="メイリオ"/>
              </a:rPr>
              <a:t>検索前（-15〜-1日）</a:t>
            </a:r>
          </a:p>
        </p:txBody>
      </p:sp>
      <p:sp>
        <p:nvSpPr>
          <p:cNvPr id="47" name="Rounded Rectangle 46"/>
          <p:cNvSpPr/>
          <p:nvPr/>
        </p:nvSpPr>
        <p:spPr>
          <a:xfrm>
            <a:off x="3761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50" b="1">
                <a:solidFill>
                  <a:srgbClr val="FFFFFF"/>
                </a:solidFill>
                <a:latin typeface="メイリオ"/>
                <a:ea typeface="メイリオ"/>
                <a:cs typeface="メイリオ"/>
              </a:rPr>
              <a:t>検索当日</a:t>
            </a:r>
          </a:p>
        </p:txBody>
      </p:sp>
      <p:sp>
        <p:nvSpPr>
          <p:cNvPr id="48" name="Rounded Rectangle 47"/>
          <p:cNvSpPr/>
          <p:nvPr/>
        </p:nvSpPr>
        <p:spPr>
          <a:xfrm>
            <a:off x="5759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50" b="1">
                <a:solidFill>
                  <a:srgbClr val="FFFFFF"/>
                </a:solidFill>
                <a:latin typeface="メイリオ"/>
                <a:ea typeface="メイリオ"/>
                <a:cs typeface="メイリオ"/>
              </a:rPr>
              <a:t>検索後（+1〜15日）</a:t>
            </a:r>
          </a:p>
        </p:txBody>
      </p:sp>
      <p:sp>
        <p:nvSpPr>
          <p:cNvPr id="49" name="Rounded Rectangle 48"/>
          <p:cNvSpPr/>
          <p:nvPr/>
        </p:nvSpPr>
        <p:spPr>
          <a:xfrm>
            <a:off x="7758000" y="1530000"/>
            <a:ext cx="1807199"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50" b="1">
                <a:solidFill>
                  <a:srgbClr val="FFFFFF"/>
                </a:solidFill>
                <a:latin typeface="メイリオ"/>
                <a:ea typeface="メイリオ"/>
                <a:cs typeface="メイリオ"/>
              </a:rPr>
              <a:t>LINEでの打ち手</a:t>
            </a:r>
          </a:p>
        </p:txBody>
      </p:sp>
      <p:sp>
        <p:nvSpPr>
          <p:cNvPr id="50" name="Rounded Rectangle 49"/>
          <p:cNvSpPr/>
          <p:nvPr/>
        </p:nvSpPr>
        <p:spPr>
          <a:xfrm>
            <a:off x="432000" y="1908000"/>
            <a:ext cx="1296000" cy="1242000"/>
          </a:xfrm>
          <a:prstGeom prst="roundRect">
            <a:avLst>
              <a:gd name="adj" fmla="val 6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lnSpc>
                <a:spcPct val="115000"/>
              </a:lnSpc>
            </a:pPr>
            <a:r>
              <a:rPr sz="1450" b="1">
                <a:solidFill>
                  <a:srgbClr val="FFFFFF"/>
                </a:solidFill>
                <a:latin typeface="メイリオ"/>
                <a:ea typeface="メイリオ"/>
                <a:cs typeface="メイリオ"/>
              </a:rPr>
              <a:t>習い事の</a:t>
            </a:r>
          </a:p>
          <a:p>
            <a:pPr algn="ctr">
              <a:lnSpc>
                <a:spcPct val="115000"/>
              </a:lnSpc>
            </a:pPr>
            <a:r>
              <a:rPr sz="1450" b="1">
                <a:solidFill>
                  <a:srgbClr val="FFFFFF"/>
                </a:solidFill>
                <a:latin typeface="メイリオ"/>
                <a:ea typeface="メイリオ"/>
                <a:cs typeface="メイリオ"/>
              </a:rPr>
              <a:t>比較・検討</a:t>
            </a:r>
          </a:p>
        </p:txBody>
      </p:sp>
      <p:sp>
        <p:nvSpPr>
          <p:cNvPr id="51" name="Rounded Rectangle 50"/>
          <p:cNvSpPr/>
          <p:nvPr/>
        </p:nvSpPr>
        <p:spPr>
          <a:xfrm>
            <a:off x="1763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「公文式教室」</a:t>
            </a:r>
          </a:p>
          <a:p>
            <a:pPr algn="ctr">
              <a:spcAft>
                <a:spcPts val="100"/>
              </a:spcAft>
            </a:pPr>
            <a:r>
              <a:rPr sz="1250">
                <a:solidFill>
                  <a:srgbClr val="333333"/>
                </a:solidFill>
                <a:latin typeface="メイリオ"/>
                <a:ea typeface="メイリオ"/>
                <a:cs typeface="メイリオ"/>
              </a:rPr>
              <a:t>「ピアノ 習い事」</a:t>
            </a:r>
          </a:p>
          <a:p>
            <a:pPr algn="ctr">
              <a:spcAft>
                <a:spcPts val="100"/>
              </a:spcAft>
            </a:pPr>
            <a:r>
              <a:rPr sz="1250">
                <a:solidFill>
                  <a:srgbClr val="333333"/>
                </a:solidFill>
                <a:latin typeface="メイリオ"/>
                <a:ea typeface="メイリオ"/>
                <a:cs typeface="メイリオ"/>
              </a:rPr>
              <a:t>「そろばん 効果」</a:t>
            </a:r>
          </a:p>
          <a:p>
            <a:pPr algn="ctr">
              <a:spcAft>
                <a:spcPts val="100"/>
              </a:spcAft>
            </a:pPr>
            <a:r>
              <a:rPr sz="1250">
                <a:solidFill>
                  <a:srgbClr val="333333"/>
                </a:solidFill>
                <a:latin typeface="メイリオ"/>
                <a:ea typeface="メイリオ"/>
                <a:cs typeface="メイリオ"/>
              </a:rPr>
              <a:t>「くもん 英語」</a:t>
            </a:r>
          </a:p>
        </p:txBody>
      </p:sp>
      <p:sp>
        <p:nvSpPr>
          <p:cNvPr id="52" name="Rounded Rectangle 51"/>
          <p:cNvSpPr/>
          <p:nvPr/>
        </p:nvSpPr>
        <p:spPr>
          <a:xfrm>
            <a:off x="3761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「習い事 ランキング」</a:t>
            </a:r>
          </a:p>
          <a:p>
            <a:pPr algn="ctr">
              <a:spcAft>
                <a:spcPts val="100"/>
              </a:spcAft>
            </a:pPr>
            <a:r>
              <a:rPr sz="1250">
                <a:solidFill>
                  <a:srgbClr val="333333"/>
                </a:solidFill>
                <a:latin typeface="メイリオ"/>
                <a:ea typeface="メイリオ"/>
                <a:cs typeface="メイリオ"/>
              </a:rPr>
              <a:t>「ヤマハ音楽教室」</a:t>
            </a:r>
          </a:p>
          <a:p>
            <a:pPr algn="ctr">
              <a:spcAft>
                <a:spcPts val="100"/>
              </a:spcAft>
            </a:pPr>
            <a:r>
              <a:rPr sz="1250">
                <a:solidFill>
                  <a:srgbClr val="333333"/>
                </a:solidFill>
                <a:latin typeface="メイリオ"/>
                <a:ea typeface="メイリオ"/>
                <a:cs typeface="メイリオ"/>
              </a:rPr>
              <a:t>「そろばん」</a:t>
            </a:r>
          </a:p>
          <a:p>
            <a:pPr algn="ctr">
              <a:spcAft>
                <a:spcPts val="100"/>
              </a:spcAft>
            </a:pPr>
            <a:r>
              <a:rPr sz="1250">
                <a:solidFill>
                  <a:srgbClr val="333333"/>
                </a:solidFill>
                <a:latin typeface="メイリオ"/>
                <a:ea typeface="メイリオ"/>
                <a:cs typeface="メイリオ"/>
              </a:rPr>
              <a:t>「体操教室」</a:t>
            </a:r>
          </a:p>
        </p:txBody>
      </p:sp>
      <p:sp>
        <p:nvSpPr>
          <p:cNvPr id="53" name="Rounded Rectangle 52"/>
          <p:cNvSpPr/>
          <p:nvPr/>
        </p:nvSpPr>
        <p:spPr>
          <a:xfrm>
            <a:off x="5759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「忍者ナイン 評判」</a:t>
            </a:r>
          </a:p>
          <a:p>
            <a:pPr algn="ctr">
              <a:spcAft>
                <a:spcPts val="100"/>
              </a:spcAft>
            </a:pPr>
            <a:r>
              <a:rPr sz="1250">
                <a:solidFill>
                  <a:srgbClr val="333333"/>
                </a:solidFill>
                <a:latin typeface="メイリオ"/>
                <a:ea typeface="メイリオ"/>
                <a:cs typeface="メイリオ"/>
              </a:rPr>
              <a:t>「くもん 月謝」</a:t>
            </a:r>
          </a:p>
          <a:p>
            <a:pPr algn="ctr">
              <a:spcAft>
                <a:spcPts val="100"/>
              </a:spcAft>
            </a:pPr>
            <a:r>
              <a:rPr sz="1250">
                <a:solidFill>
                  <a:srgbClr val="333333"/>
                </a:solidFill>
                <a:latin typeface="メイリオ"/>
                <a:ea typeface="メイリオ"/>
                <a:cs typeface="メイリオ"/>
              </a:rPr>
              <a:t>「小学生 習い事 いくつ」</a:t>
            </a:r>
          </a:p>
          <a:p>
            <a:pPr algn="ctr">
              <a:spcAft>
                <a:spcPts val="100"/>
              </a:spcAft>
            </a:pPr>
            <a:r>
              <a:rPr sz="1250">
                <a:solidFill>
                  <a:srgbClr val="333333"/>
                </a:solidFill>
                <a:latin typeface="メイリオ"/>
                <a:ea typeface="メイリオ"/>
                <a:cs typeface="メイリオ"/>
              </a:rPr>
              <a:t>「幼児教室」</a:t>
            </a:r>
          </a:p>
        </p:txBody>
      </p:sp>
      <p:sp>
        <p:nvSpPr>
          <p:cNvPr id="54" name="Rounded Rectangle 53"/>
          <p:cNvSpPr/>
          <p:nvPr/>
        </p:nvSpPr>
        <p:spPr>
          <a:xfrm>
            <a:off x="7758000" y="19080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90000" tIns="21600" bIns="21600"/>
          <a:lstStyle/>
          <a:p>
            <a:pPr algn="l">
              <a:lnSpc>
                <a:spcPct val="125000"/>
              </a:lnSpc>
            </a:pPr>
            <a:r>
              <a:rPr sz="1250" b="1">
                <a:solidFill>
                  <a:srgbClr val="0B7A3B"/>
                </a:solidFill>
                <a:latin typeface="メイリオ"/>
                <a:ea typeface="メイリオ"/>
                <a:cs typeface="メイリオ"/>
              </a:rPr>
              <a:t>比較の最中に友だち追加。評判・月謝の疑問にお答えし、体験予約へ</a:t>
            </a:r>
          </a:p>
        </p:txBody>
      </p:sp>
      <p:sp>
        <p:nvSpPr>
          <p:cNvPr id="55" name="Rounded Rectangle 54"/>
          <p:cNvSpPr/>
          <p:nvPr/>
        </p:nvSpPr>
        <p:spPr>
          <a:xfrm>
            <a:off x="432000" y="3193200"/>
            <a:ext cx="1296000" cy="1242000"/>
          </a:xfrm>
          <a:prstGeom prst="roundRect">
            <a:avLst>
              <a:gd name="adj" fmla="val 6000"/>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lnSpc>
                <a:spcPct val="115000"/>
              </a:lnSpc>
            </a:pPr>
            <a:r>
              <a:rPr sz="1450" b="1">
                <a:solidFill>
                  <a:srgbClr val="FFFFFF"/>
                </a:solidFill>
                <a:latin typeface="メイリオ"/>
                <a:ea typeface="メイリオ"/>
                <a:cs typeface="メイリオ"/>
              </a:rPr>
              <a:t>子育て・</a:t>
            </a:r>
          </a:p>
          <a:p>
            <a:pPr algn="ctr">
              <a:lnSpc>
                <a:spcPct val="115000"/>
              </a:lnSpc>
            </a:pPr>
            <a:r>
              <a:rPr sz="1450" b="1">
                <a:solidFill>
                  <a:srgbClr val="FFFFFF"/>
                </a:solidFill>
                <a:latin typeface="メイリオ"/>
                <a:ea typeface="メイリオ"/>
                <a:cs typeface="メイリオ"/>
              </a:rPr>
              <a:t>学び</a:t>
            </a:r>
          </a:p>
        </p:txBody>
      </p:sp>
      <p:sp>
        <p:nvSpPr>
          <p:cNvPr id="56" name="Rounded Rectangle 55"/>
          <p:cNvSpPr/>
          <p:nvPr/>
        </p:nvSpPr>
        <p:spPr>
          <a:xfrm>
            <a:off x="1763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「こどもちゃれんじ」</a:t>
            </a:r>
          </a:p>
          <a:p>
            <a:pPr algn="ctr">
              <a:spcAft>
                <a:spcPts val="100"/>
              </a:spcAft>
            </a:pPr>
            <a:r>
              <a:rPr sz="1250">
                <a:solidFill>
                  <a:srgbClr val="333333"/>
                </a:solidFill>
                <a:latin typeface="メイリオ"/>
                <a:ea typeface="メイリオ"/>
                <a:cs typeface="メイリオ"/>
              </a:rPr>
              <a:t>「スマイルゼミ」</a:t>
            </a:r>
          </a:p>
          <a:p>
            <a:pPr algn="ctr">
              <a:spcAft>
                <a:spcPts val="100"/>
              </a:spcAft>
            </a:pPr>
            <a:r>
              <a:rPr sz="1250">
                <a:solidFill>
                  <a:srgbClr val="333333"/>
                </a:solidFill>
                <a:latin typeface="メイリオ"/>
                <a:ea typeface="メイリオ"/>
                <a:cs typeface="メイリオ"/>
              </a:rPr>
              <a:t>「子供 イライラする」</a:t>
            </a:r>
          </a:p>
          <a:p>
            <a:pPr algn="ctr">
              <a:spcAft>
                <a:spcPts val="100"/>
              </a:spcAft>
            </a:pPr>
            <a:r>
              <a:rPr sz="1250">
                <a:solidFill>
                  <a:srgbClr val="333333"/>
                </a:solidFill>
                <a:latin typeface="メイリオ"/>
                <a:ea typeface="メイリオ"/>
                <a:cs typeface="メイリオ"/>
              </a:rPr>
              <a:t>「9歳の壁」</a:t>
            </a:r>
          </a:p>
        </p:txBody>
      </p:sp>
      <p:sp>
        <p:nvSpPr>
          <p:cNvPr id="57" name="Rounded Rectangle 56"/>
          <p:cNvSpPr/>
          <p:nvPr/>
        </p:nvSpPr>
        <p:spPr>
          <a:xfrm>
            <a:off x="3761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「rsウイルス」</a:t>
            </a:r>
          </a:p>
        </p:txBody>
      </p:sp>
      <p:sp>
        <p:nvSpPr>
          <p:cNvPr id="58" name="Rounded Rectangle 57"/>
          <p:cNvSpPr/>
          <p:nvPr/>
        </p:nvSpPr>
        <p:spPr>
          <a:xfrm>
            <a:off x="5759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「小学校受験」</a:t>
            </a:r>
          </a:p>
          <a:p>
            <a:pPr algn="ctr">
              <a:spcAft>
                <a:spcPts val="100"/>
              </a:spcAft>
            </a:pPr>
            <a:r>
              <a:rPr sz="1250">
                <a:solidFill>
                  <a:srgbClr val="333333"/>
                </a:solidFill>
                <a:latin typeface="メイリオ"/>
                <a:ea typeface="メイリオ"/>
                <a:cs typeface="メイリオ"/>
              </a:rPr>
              <a:t>「小学校一年生」</a:t>
            </a:r>
          </a:p>
          <a:p>
            <a:pPr algn="ctr">
              <a:spcAft>
                <a:spcPts val="100"/>
              </a:spcAft>
            </a:pPr>
            <a:r>
              <a:rPr sz="1250">
                <a:solidFill>
                  <a:srgbClr val="333333"/>
                </a:solidFill>
                <a:latin typeface="メイリオ"/>
                <a:ea typeface="メイリオ"/>
                <a:cs typeface="メイリオ"/>
              </a:rPr>
              <a:t>「ポピー 教材」</a:t>
            </a:r>
          </a:p>
          <a:p>
            <a:pPr algn="ctr">
              <a:spcAft>
                <a:spcPts val="100"/>
              </a:spcAft>
            </a:pPr>
            <a:r>
              <a:rPr sz="1250">
                <a:solidFill>
                  <a:srgbClr val="333333"/>
                </a:solidFill>
                <a:latin typeface="メイリオ"/>
                <a:ea typeface="メイリオ"/>
                <a:cs typeface="メイリオ"/>
              </a:rPr>
              <a:t>「児童手当」</a:t>
            </a:r>
          </a:p>
        </p:txBody>
      </p:sp>
      <p:sp>
        <p:nvSpPr>
          <p:cNvPr id="59" name="Rounded Rectangle 58"/>
          <p:cNvSpPr/>
          <p:nvPr/>
        </p:nvSpPr>
        <p:spPr>
          <a:xfrm>
            <a:off x="7758000" y="31932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90000" tIns="21600" bIns="21600"/>
          <a:lstStyle/>
          <a:p>
            <a:pPr algn="l">
              <a:lnSpc>
                <a:spcPct val="125000"/>
              </a:lnSpc>
            </a:pPr>
            <a:r>
              <a:rPr sz="1250" b="1">
                <a:solidFill>
                  <a:srgbClr val="0B7A3B"/>
                </a:solidFill>
                <a:latin typeface="メイリオ"/>
                <a:ea typeface="メイリオ"/>
                <a:cs typeface="メイリオ"/>
              </a:rPr>
              <a:t>子どもの成長・悩みに寄り添う情報をお届けし、接点を保つ</a:t>
            </a:r>
          </a:p>
        </p:txBody>
      </p:sp>
      <p:sp>
        <p:nvSpPr>
          <p:cNvPr id="60" name="Rounded Rectangle 59"/>
          <p:cNvSpPr/>
          <p:nvPr/>
        </p:nvSpPr>
        <p:spPr>
          <a:xfrm>
            <a:off x="432000" y="4478400"/>
            <a:ext cx="1296000" cy="1242000"/>
          </a:xfrm>
          <a:prstGeom prst="roundRect">
            <a:avLst>
              <a:gd name="adj" fmla="val 6000"/>
            </a:avLst>
          </a:prstGeom>
          <a:solidFill>
            <a:srgbClr val="8E4E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lnSpc>
                <a:spcPct val="115000"/>
              </a:lnSpc>
            </a:pPr>
            <a:r>
              <a:rPr sz="1450" b="1">
                <a:solidFill>
                  <a:srgbClr val="FFFFFF"/>
                </a:solidFill>
                <a:latin typeface="メイリオ"/>
                <a:ea typeface="メイリオ"/>
                <a:cs typeface="メイリオ"/>
              </a:rPr>
              <a:t>家族の</a:t>
            </a:r>
          </a:p>
          <a:p>
            <a:pPr algn="ctr">
              <a:lnSpc>
                <a:spcPct val="115000"/>
              </a:lnSpc>
            </a:pPr>
            <a:r>
              <a:rPr sz="1450" b="1">
                <a:solidFill>
                  <a:srgbClr val="FFFFFF"/>
                </a:solidFill>
                <a:latin typeface="メイリオ"/>
                <a:ea typeface="メイリオ"/>
                <a:cs typeface="メイリオ"/>
              </a:rPr>
              <a:t>お出かけ・</a:t>
            </a:r>
          </a:p>
          <a:p>
            <a:pPr algn="ctr">
              <a:lnSpc>
                <a:spcPct val="115000"/>
              </a:lnSpc>
            </a:pPr>
            <a:r>
              <a:rPr sz="1450" b="1">
                <a:solidFill>
                  <a:srgbClr val="FFFFFF"/>
                </a:solidFill>
                <a:latin typeface="メイリオ"/>
                <a:ea typeface="メイリオ"/>
                <a:cs typeface="メイリオ"/>
              </a:rPr>
              <a:t>楽しみ</a:t>
            </a:r>
          </a:p>
        </p:txBody>
      </p:sp>
      <p:sp>
        <p:nvSpPr>
          <p:cNvPr id="61" name="Rounded Rectangle 60"/>
          <p:cNvSpPr/>
          <p:nvPr/>
        </p:nvSpPr>
        <p:spPr>
          <a:xfrm>
            <a:off x="1763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「キッザニア」</a:t>
            </a:r>
          </a:p>
          <a:p>
            <a:pPr algn="ctr">
              <a:spcAft>
                <a:spcPts val="100"/>
              </a:spcAft>
            </a:pPr>
            <a:r>
              <a:rPr sz="1250">
                <a:solidFill>
                  <a:srgbClr val="333333"/>
                </a:solidFill>
                <a:latin typeface="メイリオ"/>
                <a:ea typeface="メイリオ"/>
                <a:cs typeface="メイリオ"/>
              </a:rPr>
              <a:t>「スタジオアリス」</a:t>
            </a:r>
          </a:p>
          <a:p>
            <a:pPr algn="ctr">
              <a:spcAft>
                <a:spcPts val="100"/>
              </a:spcAft>
            </a:pPr>
            <a:r>
              <a:rPr sz="1250">
                <a:solidFill>
                  <a:srgbClr val="333333"/>
                </a:solidFill>
                <a:latin typeface="メイリオ"/>
                <a:ea typeface="メイリオ"/>
                <a:cs typeface="メイリオ"/>
              </a:rPr>
              <a:t>「夏休み 子供 過ごし方」</a:t>
            </a:r>
          </a:p>
        </p:txBody>
      </p:sp>
      <p:sp>
        <p:nvSpPr>
          <p:cNvPr id="62" name="Rounded Rectangle 61"/>
          <p:cNvSpPr/>
          <p:nvPr/>
        </p:nvSpPr>
        <p:spPr>
          <a:xfrm>
            <a:off x="3761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a:t>
            </a:r>
          </a:p>
        </p:txBody>
      </p:sp>
      <p:sp>
        <p:nvSpPr>
          <p:cNvPr id="63" name="Rounded Rectangle 62"/>
          <p:cNvSpPr/>
          <p:nvPr/>
        </p:nvSpPr>
        <p:spPr>
          <a:xfrm>
            <a:off x="5759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「ポケモンセンター」</a:t>
            </a:r>
          </a:p>
          <a:p>
            <a:pPr algn="ctr">
              <a:spcAft>
                <a:spcPts val="100"/>
              </a:spcAft>
            </a:pPr>
            <a:r>
              <a:rPr sz="1250">
                <a:solidFill>
                  <a:srgbClr val="333333"/>
                </a:solidFill>
                <a:latin typeface="メイリオ"/>
                <a:ea typeface="メイリオ"/>
                <a:cs typeface="メイリオ"/>
              </a:rPr>
              <a:t>「七五三」</a:t>
            </a:r>
          </a:p>
          <a:p>
            <a:pPr algn="ctr">
              <a:spcAft>
                <a:spcPts val="100"/>
              </a:spcAft>
            </a:pPr>
            <a:r>
              <a:rPr sz="1250">
                <a:solidFill>
                  <a:srgbClr val="333333"/>
                </a:solidFill>
                <a:latin typeface="メイリオ"/>
                <a:ea typeface="メイリオ"/>
                <a:cs typeface="メイリオ"/>
              </a:rPr>
              <a:t>「ハーモニーランド」</a:t>
            </a:r>
          </a:p>
        </p:txBody>
      </p:sp>
      <p:sp>
        <p:nvSpPr>
          <p:cNvPr id="64" name="Rounded Rectangle 63"/>
          <p:cNvSpPr/>
          <p:nvPr/>
        </p:nvSpPr>
        <p:spPr>
          <a:xfrm>
            <a:off x="7758000" y="44784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90000" tIns="21600" bIns="21600"/>
          <a:lstStyle/>
          <a:p>
            <a:pPr algn="l">
              <a:lnSpc>
                <a:spcPct val="125000"/>
              </a:lnSpc>
            </a:pPr>
            <a:r>
              <a:rPr sz="1250" b="1">
                <a:solidFill>
                  <a:srgbClr val="0B7A3B"/>
                </a:solidFill>
                <a:latin typeface="メイリオ"/>
                <a:ea typeface="メイリオ"/>
                <a:cs typeface="メイリオ"/>
              </a:rPr>
              <a:t>季節の行事（七五三・夏休みなど）に合わせた企画配信</a:t>
            </a:r>
          </a:p>
        </p:txBody>
      </p:sp>
      <p:sp>
        <p:nvSpPr>
          <p:cNvPr id="65" name="TextBox 64"/>
          <p:cNvSpPr txBox="1"/>
          <p:nvPr/>
        </p:nvSpPr>
        <p:spPr>
          <a:xfrm>
            <a:off x="432000" y="5806800"/>
            <a:ext cx="1296000" cy="342000"/>
          </a:xfrm>
          <a:prstGeom prst="rect">
            <a:avLst/>
          </a:prstGeom>
          <a:noFill/>
        </p:spPr>
        <p:txBody>
          <a:bodyPr wrap="square" lIns="0" rIns="0" tIns="21600" bIns="21600" anchor="ctr">
            <a:spAutoFit/>
          </a:bodyPr>
          <a:lstStyle/>
          <a:p>
            <a:pPr algn="ctr"/>
            <a:r>
              <a:rPr sz="1200" b="1">
                <a:solidFill>
                  <a:srgbClr val="1F285A"/>
                </a:solidFill>
                <a:latin typeface="メイリオ"/>
                <a:ea typeface="メイリオ"/>
                <a:cs typeface="メイリオ"/>
              </a:rPr>
              <a:t>LINEへの動線</a:t>
            </a:r>
          </a:p>
        </p:txBody>
      </p:sp>
      <p:sp>
        <p:nvSpPr>
          <p:cNvPr id="66" name="Rounded Rectangle 65"/>
          <p:cNvSpPr/>
          <p:nvPr/>
        </p:nvSpPr>
        <p:spPr>
          <a:xfrm>
            <a:off x="1763999" y="58068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離脱防止バナーの掲載</a:t>
            </a:r>
          </a:p>
        </p:txBody>
      </p:sp>
      <p:sp>
        <p:nvSpPr>
          <p:cNvPr id="67" name="Rounded Rectangle 66"/>
          <p:cNvSpPr/>
          <p:nvPr/>
        </p:nvSpPr>
        <p:spPr>
          <a:xfrm>
            <a:off x="3761999" y="5806800"/>
            <a:ext cx="1962000"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LINE友だち追加</a:t>
            </a:r>
          </a:p>
        </p:txBody>
      </p:sp>
      <p:sp>
        <p:nvSpPr>
          <p:cNvPr id="68" name="Rounded Rectangle 67"/>
          <p:cNvSpPr/>
          <p:nvPr/>
        </p:nvSpPr>
        <p:spPr>
          <a:xfrm>
            <a:off x="5759999" y="5806800"/>
            <a:ext cx="1962000"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LINE施策（投稿）</a:t>
            </a:r>
          </a:p>
        </p:txBody>
      </p:sp>
      <p:sp>
        <p:nvSpPr>
          <p:cNvPr id="69" name="TextBox 68"/>
          <p:cNvSpPr txBox="1"/>
          <p:nvPr/>
        </p:nvSpPr>
        <p:spPr>
          <a:xfrm>
            <a:off x="432000" y="6202800"/>
            <a:ext cx="9043200" cy="180000"/>
          </a:xfrm>
          <a:prstGeom prst="rect">
            <a:avLst/>
          </a:prstGeom>
          <a:noFill/>
        </p:spPr>
        <p:txBody>
          <a:bodyPr wrap="square" lIns="0" rIns="0" tIns="21600" bIns="21600" anchor="ctr">
            <a:spAutoFit/>
          </a:bodyPr>
          <a:lstStyle/>
          <a:p>
            <a:pPr algn="l"/>
            <a:r>
              <a:rPr sz="800">
                <a:solidFill>
                  <a:srgbClr val="7F7F7F"/>
                </a:solidFill>
                <a:latin typeface="メイリオ"/>
                <a:ea typeface="メイリオ"/>
                <a:cs typeface="メイリオ"/>
              </a:rPr>
              <a:t>出典：LINEヤフー社提供の前後検索データ（検索起点：「子ども 習い事」「習い事」）</a:t>
            </a:r>
          </a:p>
        </p:txBody>
      </p:sp>
    </p:spTree>
    <p:extLst>
      <p:ext uri="{BB962C8B-B14F-4D97-AF65-F5344CB8AC3E}">
        <p14:creationId xmlns:p14="http://schemas.microsoft.com/office/powerpoint/2010/main" val="995195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BAA-8C2D-2DC3-A995-CBA086D445D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競合分析【忍者ナイン】</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Meiryo" pitchFamily="34" charset="0"/>
                <a:ea typeface="メイリオ" pitchFamily="34" charset="-122"/>
                <a:cs typeface="Meiryo" pitchFamily="34" charset="-120"/>
              </a:rPr>
              <a:t>主要競合5社中、LINE公式アカウントを運用しているのは1社のみ（セントラルスポーツ）</a:t>
            </a:r>
            <a:endParaRPr lang="en-US" altLang="ja-JP" b="0" dirty="0">
              <a:solidFill>
                <a:srgbClr val="333333"/>
              </a:solidFill>
              <a:latin typeface="Meiryo" pitchFamily="34" charset="0"/>
              <a:ea typeface="メイリオ" pitchFamily="34" charset="-122"/>
              <a:cs typeface="Meiryo" pitchFamily="34" charset="-120"/>
            </a:endParaRPr>
          </a:p>
          <a:p>
            <a:pPr marL="0" indent="0" algn="ctr">
              <a:buNone/>
            </a:pPr>
            <a:r>
              <a:rPr lang="ja-JP" altLang="en-US" b="0" dirty="0">
                <a:solidFill>
                  <a:srgbClr val="333333"/>
                </a:solidFill>
                <a:latin typeface="Meiryo" pitchFamily="34" charset="0"/>
                <a:ea typeface="メイリオ" pitchFamily="34" charset="-122"/>
                <a:cs typeface="Meiryo" pitchFamily="34" charset="-120"/>
              </a:rPr>
              <a:t>多くの競合がLINEに未着手のため、先行者優位を取りやすい状況。</a:t>
            </a:r>
            <a:endParaRPr lang="en-US" altLang="ja-JP" sz="1800" b="1" dirty="0">
              <a:solidFill>
                <a:schemeClr val="tx1"/>
              </a:solidFill>
              <a:latin typeface="Meiryo" pitchFamily="34" charset="0"/>
              <a:ea typeface="Meiryo" pitchFamily="34" charset="-122"/>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201898837"/>
              </p:ext>
            </p:extLst>
          </p:nvPr>
        </p:nvGraphicFramePr>
        <p:xfrm>
          <a:off x="384048" y="1600199"/>
          <a:ext cx="9134854" cy="3192348"/>
        </p:xfrm>
        <a:graphic>
          <a:graphicData uri="http://schemas.openxmlformats.org/drawingml/2006/table">
            <a:tbl>
              <a:tblPr firstRow="1" bandRow="1">
                <a:tableStyleId>{5C22544A-7EE6-4342-B048-85BDC9FD1C3A}</a:tableStyleId>
              </a:tblPr>
              <a:tblGrid>
                <a:gridCol w="2298767">
                  <a:extLst>
                    <a:ext uri="{9D8B030D-6E8A-4147-A177-3AD203B41FA5}">
                      <a16:colId xmlns:a16="http://schemas.microsoft.com/office/drawing/2014/main" val="20000"/>
                    </a:ext>
                  </a:extLst>
                </a:gridCol>
                <a:gridCol w="2027208">
                  <a:extLst>
                    <a:ext uri="{9D8B030D-6E8A-4147-A177-3AD203B41FA5}">
                      <a16:colId xmlns:a16="http://schemas.microsoft.com/office/drawing/2014/main" val="20001"/>
                    </a:ext>
                  </a:extLst>
                </a:gridCol>
                <a:gridCol w="2311879">
                  <a:extLst>
                    <a:ext uri="{9D8B030D-6E8A-4147-A177-3AD203B41FA5}">
                      <a16:colId xmlns:a16="http://schemas.microsoft.com/office/drawing/2014/main" val="20002"/>
                    </a:ext>
                  </a:extLst>
                </a:gridCol>
                <a:gridCol w="2497000">
                  <a:extLst>
                    <a:ext uri="{9D8B030D-6E8A-4147-A177-3AD203B41FA5}">
                      <a16:colId xmlns:a16="http://schemas.microsoft.com/office/drawing/2014/main" val="20003"/>
                    </a:ext>
                  </a:extLst>
                </a:gridCol>
              </a:tblGrid>
              <a:tr h="478047">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dirty="0" err="1">
                          <a:solidFill>
                            <a:srgbClr val="FFFFFF"/>
                          </a:solidFill>
                          <a:latin typeface="Meiryo"/>
                          <a:ea typeface="メイリオ"/>
                          <a:cs typeface="Meiryo"/>
                        </a:rPr>
                        <a:t>LINE公式アカウント</a:t>
                      </a:r>
                      <a:endParaRPr sz="1100" b="1" dirty="0">
                        <a:solidFill>
                          <a:srgbClr val="FFFFFF"/>
                        </a:solidFill>
                        <a:latin typeface="Meiryo"/>
                        <a:ea typeface="メイリオ"/>
                        <a:cs typeface="Meiryo"/>
                      </a:endParaRPr>
                    </a:p>
                  </a:txBody>
                  <a:tcPr>
                    <a:solidFill>
                      <a:srgbClr val="1F2A5C"/>
                    </a:solidFill>
                  </a:tcPr>
                </a:tc>
                <a:tc>
                  <a:txBody>
                    <a:bodyPr/>
                    <a:lstStyle/>
                    <a:p>
                      <a:r>
                        <a:rPr sz="1100" b="1" dirty="0" err="1">
                          <a:solidFill>
                            <a:srgbClr val="FFFFFF"/>
                          </a:solidFill>
                          <a:latin typeface="Meiryo"/>
                          <a:ea typeface="メイリオ"/>
                          <a:cs typeface="Meiryo"/>
                        </a:rPr>
                        <a:t>訴求</a:t>
                      </a:r>
                      <a:endParaRPr sz="1100" b="1" dirty="0">
                        <a:solidFill>
                          <a:srgbClr val="FFFFFF"/>
                        </a:solidFill>
                        <a:latin typeface="Meiryo"/>
                        <a:ea typeface="メイリオ"/>
                        <a:cs typeface="Meiryo"/>
                      </a:endParaRPr>
                    </a:p>
                  </a:txBody>
                  <a:tcPr>
                    <a:solidFill>
                      <a:srgbClr val="1F2A5C"/>
                    </a:solidFill>
                  </a:tcPr>
                </a:tc>
                <a:tc>
                  <a:txBody>
                    <a:bodyPr/>
                    <a:lstStyle/>
                    <a:p>
                      <a:r>
                        <a:rPr sz="1100" b="1" dirty="0" err="1">
                          <a:solidFill>
                            <a:srgbClr val="FFFFFF"/>
                          </a:solidFill>
                          <a:latin typeface="Meiryo"/>
                          <a:ea typeface="メイリオ"/>
                          <a:cs typeface="Meiryo"/>
                        </a:rPr>
                        <a:t>忍者ナインとの比較</a:t>
                      </a:r>
                      <a:endParaRPr sz="1100" b="1" dirty="0">
                        <a:solidFill>
                          <a:srgbClr val="FFFFFF"/>
                        </a:solidFill>
                        <a:latin typeface="Meiryo"/>
                        <a:ea typeface="メイリオ"/>
                        <a:cs typeface="Meiryo"/>
                      </a:endParaRPr>
                    </a:p>
                  </a:txBody>
                  <a:tcPr>
                    <a:solidFill>
                      <a:srgbClr val="1F2A5C"/>
                    </a:solidFill>
                  </a:tcPr>
                </a:tc>
                <a:extLst>
                  <a:ext uri="{0D108BD9-81ED-4DB2-BD59-A6C34878D82A}">
                    <a16:rowId xmlns:a16="http://schemas.microsoft.com/office/drawing/2014/main" val="10000"/>
                  </a:ext>
                </a:extLst>
              </a:tr>
              <a:tr h="478047">
                <a:tc>
                  <a:txBody>
                    <a:bodyPr/>
                    <a:lstStyle/>
                    <a:p>
                      <a:r>
                        <a:rPr sz="1200" b="0" dirty="0" err="1">
                          <a:solidFill>
                            <a:srgbClr val="333333"/>
                          </a:solidFill>
                          <a:latin typeface="Meiryo"/>
                          <a:ea typeface="メイリオ"/>
                          <a:cs typeface="Meiryo"/>
                        </a:rPr>
                        <a:t>biima</a:t>
                      </a:r>
                      <a:r>
                        <a:rPr sz="1200" b="0" dirty="0">
                          <a:solidFill>
                            <a:srgbClr val="333333"/>
                          </a:solidFill>
                          <a:latin typeface="Meiryo"/>
                          <a:ea typeface="メイリオ"/>
                          <a:cs typeface="Meiryo"/>
                        </a:rPr>
                        <a:t> sports</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a:solidFill>
                            <a:srgbClr val="333333"/>
                          </a:solidFill>
                          <a:latin typeface="Meiryo"/>
                          <a:ea typeface="メイリオ"/>
                          <a:cs typeface="Meiryo"/>
                        </a:rPr>
                        <a:t>非認知能力×複合種目</a:t>
                      </a:r>
                    </a:p>
                  </a:txBody>
                  <a:tcPr>
                    <a:solidFill>
                      <a:srgbClr val="FFFFFF"/>
                    </a:solidFill>
                  </a:tcPr>
                </a:tc>
                <a:tc>
                  <a:txBody>
                    <a:bodyPr/>
                    <a:lstStyle/>
                    <a:p>
                      <a:r>
                        <a:rPr sz="1200" b="0" dirty="0" err="1">
                          <a:solidFill>
                            <a:srgbClr val="333333"/>
                          </a:solidFill>
                          <a:latin typeface="Meiryo"/>
                          <a:ea typeface="メイリオ"/>
                          <a:cs typeface="Meiryo"/>
                        </a:rPr>
                        <a:t>最も近いポジションだが</a:t>
                      </a:r>
                      <a:r>
                        <a:rPr lang="ja-JP" altLang="en-US" sz="1200" b="0" dirty="0">
                          <a:solidFill>
                            <a:srgbClr val="333333"/>
                          </a:solidFill>
                          <a:latin typeface="Meiryo"/>
                          <a:ea typeface="メイリオ"/>
                          <a:cs typeface="Meiryo"/>
                        </a:rPr>
                        <a:t>、</a:t>
                      </a:r>
                      <a:endParaRPr lang="en-US"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LINE未活用</a:t>
                      </a:r>
                      <a:r>
                        <a:rPr sz="1200" b="0" dirty="0">
                          <a:solidFill>
                            <a:srgbClr val="333333"/>
                          </a:solidFill>
                          <a:latin typeface="Meiryo"/>
                          <a:ea typeface="メイリオ"/>
                          <a:cs typeface="Meiryo"/>
                        </a:rPr>
                        <a:t>。</a:t>
                      </a:r>
                      <a:endParaRPr lang="en-US"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先行できる</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1"/>
                  </a:ext>
                </a:extLst>
              </a:tr>
              <a:tr h="478047">
                <a:tc>
                  <a:txBody>
                    <a:bodyPr/>
                    <a:lstStyle/>
                    <a:p>
                      <a:r>
                        <a:rPr sz="1200" b="0">
                          <a:solidFill>
                            <a:srgbClr val="333333"/>
                          </a:solidFill>
                          <a:latin typeface="Meiryo"/>
                          <a:ea typeface="メイリオ"/>
                          <a:cs typeface="Meiryo"/>
                        </a:rPr>
                        <a:t>ジャクパ</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a:solidFill>
                            <a:srgbClr val="333333"/>
                          </a:solidFill>
                          <a:latin typeface="Meiryo"/>
                          <a:ea typeface="メイリオ"/>
                          <a:cs typeface="Meiryo"/>
                        </a:rPr>
                        <a:t>園内開催・体操/サッカー中心</a:t>
                      </a:r>
                    </a:p>
                  </a:txBody>
                  <a:tcPr>
                    <a:solidFill>
                      <a:srgbClr val="FFFFFF"/>
                    </a:solidFill>
                  </a:tcPr>
                </a:tc>
                <a:tc>
                  <a:txBody>
                    <a:bodyPr/>
                    <a:lstStyle/>
                    <a:p>
                      <a:r>
                        <a:rPr sz="1200" b="0" dirty="0" err="1">
                          <a:solidFill>
                            <a:srgbClr val="333333"/>
                          </a:solidFill>
                          <a:latin typeface="Meiryo"/>
                          <a:ea typeface="メイリオ"/>
                          <a:cs typeface="Meiryo"/>
                        </a:rPr>
                        <a:t>低コストが強みだが</a:t>
                      </a:r>
                      <a:r>
                        <a:rPr lang="ja-JP" altLang="en-US" sz="1200" b="0" dirty="0">
                          <a:solidFill>
                            <a:srgbClr val="333333"/>
                          </a:solidFill>
                          <a:latin typeface="Meiryo"/>
                          <a:ea typeface="メイリオ"/>
                          <a:cs typeface="Meiryo"/>
                        </a:rPr>
                        <a:t>、</a:t>
                      </a:r>
                      <a:endParaRPr lang="en-US" altLang="ja-JP"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デジタル接点は薄い</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78047">
                <a:tc>
                  <a:txBody>
                    <a:bodyPr/>
                    <a:lstStyle/>
                    <a:p>
                      <a:r>
                        <a:rPr sz="1200" b="0" dirty="0" err="1">
                          <a:solidFill>
                            <a:srgbClr val="333333"/>
                          </a:solidFill>
                          <a:latin typeface="Meiryo"/>
                          <a:ea typeface="メイリオ"/>
                          <a:cs typeface="Meiryo"/>
                        </a:rPr>
                        <a:t>コナミスポーツクラブ</a:t>
                      </a:r>
                      <a:r>
                        <a:rPr sz="1200" b="0" dirty="0">
                          <a:solidFill>
                            <a:srgbClr val="333333"/>
                          </a:solidFill>
                          <a:latin typeface="Meiryo"/>
                          <a:ea typeface="メイリオ"/>
                          <a:cs typeface="Meiryo"/>
                        </a:rPr>
                        <a:t> </a:t>
                      </a:r>
                      <a:r>
                        <a:rPr sz="1200" b="0" dirty="0" err="1">
                          <a:solidFill>
                            <a:srgbClr val="333333"/>
                          </a:solidFill>
                          <a:latin typeface="Meiryo"/>
                          <a:ea typeface="メイリオ"/>
                          <a:cs typeface="Meiryo"/>
                        </a:rPr>
                        <a:t>運動塾</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なし</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大手施設・進級テスト制度</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施設力はあるが</a:t>
                      </a:r>
                      <a:r>
                        <a:rPr lang="ja-JP" altLang="en-US" sz="1200" b="0" dirty="0">
                          <a:solidFill>
                            <a:srgbClr val="333333"/>
                          </a:solidFill>
                          <a:latin typeface="Meiryo"/>
                          <a:ea typeface="メイリオ"/>
                          <a:cs typeface="Meiryo"/>
                        </a:rPr>
                        <a:t>、</a:t>
                      </a:r>
                      <a:r>
                        <a:rPr sz="1200" b="0" dirty="0" err="1">
                          <a:solidFill>
                            <a:srgbClr val="333333"/>
                          </a:solidFill>
                          <a:latin typeface="Meiryo"/>
                          <a:ea typeface="メイリオ"/>
                          <a:cs typeface="Meiryo"/>
                        </a:rPr>
                        <a:t>LINE未運用</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78047">
                <a:tc>
                  <a:txBody>
                    <a:bodyPr/>
                    <a:lstStyle/>
                    <a:p>
                      <a:r>
                        <a:rPr sz="1200" b="0">
                          <a:solidFill>
                            <a:srgbClr val="333333"/>
                          </a:solidFill>
                          <a:latin typeface="Meiryo"/>
                          <a:ea typeface="メイリオ"/>
                          <a:cs typeface="Meiryo"/>
                        </a:rPr>
                        <a:t>スポーツクラブ ルネサンス</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dirty="0" err="1">
                          <a:solidFill>
                            <a:srgbClr val="333333"/>
                          </a:solidFill>
                          <a:latin typeface="Meiryo"/>
                          <a:ea typeface="メイリオ"/>
                          <a:cs typeface="Meiryo"/>
                        </a:rPr>
                        <a:t>エンジョイ重視・生きる力</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LINE未活用</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78047">
                <a:tc>
                  <a:txBody>
                    <a:bodyPr/>
                    <a:lstStyle/>
                    <a:p>
                      <a:r>
                        <a:rPr sz="1200" b="0" dirty="0" err="1">
                          <a:solidFill>
                            <a:srgbClr val="1F2A5C"/>
                          </a:solidFill>
                          <a:latin typeface="Meiryo"/>
                          <a:ea typeface="メイリオ"/>
                          <a:cs typeface="Meiryo"/>
                        </a:rPr>
                        <a:t>セントラルスポーツ</a:t>
                      </a:r>
                      <a:r>
                        <a:rPr sz="1200" b="0" dirty="0">
                          <a:solidFill>
                            <a:srgbClr val="1F2A5C"/>
                          </a:solidFill>
                          <a:latin typeface="Meiryo"/>
                          <a:ea typeface="メイリオ"/>
                          <a:cs typeface="Meiryo"/>
                        </a:rPr>
                        <a:t> </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キッズスクール</a:t>
                      </a:r>
                      <a:endParaRPr sz="1200" b="0" dirty="0">
                        <a:solidFill>
                          <a:srgbClr val="1F2A5C"/>
                        </a:solidFill>
                        <a:latin typeface="Meiryo"/>
                        <a:ea typeface="メイリオ"/>
                        <a:cs typeface="Meiryo"/>
                      </a:endParaRPr>
                    </a:p>
                  </a:txBody>
                  <a:tcPr>
                    <a:solidFill>
                      <a:srgbClr val="FFF3E0"/>
                    </a:solidFill>
                  </a:tcPr>
                </a:tc>
                <a:tc>
                  <a:txBody>
                    <a:bodyPr/>
                    <a:lstStyle/>
                    <a:p>
                      <a:r>
                        <a:rPr sz="1200" b="1" dirty="0">
                          <a:solidFill>
                            <a:srgbClr val="1F2A5C"/>
                          </a:solidFill>
                          <a:latin typeface="Meiryo"/>
                          <a:ea typeface="メイリオ"/>
                          <a:cs typeface="Meiryo"/>
                        </a:rPr>
                        <a:t>あり（友だち82,953人）</a:t>
                      </a:r>
                    </a:p>
                  </a:txBody>
                  <a:tcPr>
                    <a:solidFill>
                      <a:srgbClr val="FFF3E0"/>
                    </a:solidFill>
                  </a:tcPr>
                </a:tc>
                <a:tc>
                  <a:txBody>
                    <a:bodyPr/>
                    <a:lstStyle/>
                    <a:p>
                      <a:r>
                        <a:rPr sz="1200" b="0">
                          <a:solidFill>
                            <a:srgbClr val="1F2A5C"/>
                          </a:solidFill>
                          <a:latin typeface="Meiryo"/>
                          <a:ea typeface="メイリオ"/>
                          <a:cs typeface="Meiryo"/>
                        </a:rPr>
                        <a:t>体育補完・進級チェック制度</a:t>
                      </a:r>
                    </a:p>
                  </a:txBody>
                  <a:tcPr>
                    <a:solidFill>
                      <a:srgbClr val="FFF3E0"/>
                    </a:solidFill>
                  </a:tcPr>
                </a:tc>
                <a:tc>
                  <a:txBody>
                    <a:bodyPr/>
                    <a:lstStyle/>
                    <a:p>
                      <a:r>
                        <a:rPr sz="1200" b="0" dirty="0" err="1">
                          <a:solidFill>
                            <a:srgbClr val="1F2A5C"/>
                          </a:solidFill>
                          <a:latin typeface="Meiryo"/>
                          <a:ea typeface="メイリオ"/>
                          <a:cs typeface="Meiryo"/>
                        </a:rPr>
                        <a:t>業界内で唯一LINEを大規模運用</a:t>
                      </a:r>
                      <a:r>
                        <a:rPr sz="1200" b="0" dirty="0">
                          <a:solidFill>
                            <a:srgbClr val="1F2A5C"/>
                          </a:solidFill>
                          <a:latin typeface="Meiryo"/>
                          <a:ea typeface="メイリオ"/>
                          <a:cs typeface="Meiryo"/>
                        </a:rPr>
                        <a:t>。</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水準のベンチマーク</a:t>
                      </a:r>
                      <a:endParaRPr sz="12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5"/>
                  </a:ext>
                </a:extLst>
              </a:tr>
            </a:tbl>
          </a:graphicData>
        </a:graphic>
      </p:graphicFrame>
      <p:sp>
        <p:nvSpPr>
          <p:cNvPr id="47" name="TextBox 46"/>
          <p:cNvSpPr txBox="1"/>
          <p:nvPr/>
        </p:nvSpPr>
        <p:spPr>
          <a:xfrm>
            <a:off x="384048" y="5006659"/>
            <a:ext cx="9134856" cy="338554"/>
          </a:xfrm>
          <a:prstGeom prst="rect">
            <a:avLst/>
          </a:prstGeom>
          <a:noFill/>
        </p:spPr>
        <p:txBody>
          <a:bodyPr wrap="square">
            <a:spAutoFit/>
          </a:bodyPr>
          <a:lstStyle/>
          <a:p>
            <a:r>
              <a:rPr sz="1600" b="1" dirty="0" err="1">
                <a:solidFill>
                  <a:srgbClr val="BF4E0E"/>
                </a:solidFill>
                <a:latin typeface="Meiryo"/>
                <a:ea typeface="メイリオ"/>
                <a:cs typeface="Meiryo"/>
              </a:rPr>
              <a:t>競合の大半が未着手の今なら、LINE運用を始めるだけで業界内の先行者になれる</a:t>
            </a:r>
            <a:r>
              <a:rPr sz="1600" b="1" dirty="0">
                <a:solidFill>
                  <a:srgbClr val="BF4E0E"/>
                </a:solidFill>
                <a:latin typeface="Meiryo"/>
                <a:ea typeface="メイリオ"/>
                <a:cs typeface="Meiryo"/>
              </a:rPr>
              <a:t>。</a:t>
            </a: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extLst>
      <p:ext uri="{BB962C8B-B14F-4D97-AF65-F5344CB8AC3E}">
        <p14:creationId xmlns:p14="http://schemas.microsoft.com/office/powerpoint/2010/main" val="1405796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競合分析【チャイルドアイズ】</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Meiryo" pitchFamily="34" charset="0"/>
                <a:ea typeface="メイリオ" pitchFamily="34" charset="-122"/>
                <a:cs typeface="Meiryo" pitchFamily="34" charset="-120"/>
              </a:rPr>
              <a:t>直接競合4社中、LINE公式アカウントを運用しているのは理英会・どんちゃかの2社。</a:t>
            </a:r>
            <a:endParaRPr lang="en-US" altLang="ja-JP" b="0" dirty="0">
              <a:solidFill>
                <a:srgbClr val="333333"/>
              </a:solidFill>
              <a:latin typeface="Meiryo" pitchFamily="34" charset="0"/>
              <a:ea typeface="メイリオ" pitchFamily="34" charset="-122"/>
              <a:cs typeface="Meiryo" pitchFamily="34" charset="-120"/>
            </a:endParaRPr>
          </a:p>
          <a:p>
            <a:pPr marL="0" indent="0" algn="ctr">
              <a:buNone/>
            </a:pPr>
            <a:r>
              <a:rPr lang="ja-JP" altLang="en-US" b="0" dirty="0">
                <a:solidFill>
                  <a:srgbClr val="333333"/>
                </a:solidFill>
                <a:latin typeface="Meiryo" pitchFamily="34" charset="0"/>
                <a:ea typeface="メイリオ" pitchFamily="34" charset="-122"/>
                <a:cs typeface="Meiryo" pitchFamily="34" charset="-120"/>
              </a:rPr>
              <a:t>知育→受験の2段構成という同じ設計で、すでに先行されている。</a:t>
            </a:r>
            <a:endParaRPr lang="en-US" altLang="ja-JP" sz="1800" b="1" dirty="0">
              <a:solidFill>
                <a:schemeClr val="tx1"/>
              </a:solidFill>
              <a:latin typeface="Meiryo" pitchFamily="34" charset="0"/>
              <a:ea typeface="Meiryo" pitchFamily="34" charset="-122"/>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2833546804"/>
              </p:ext>
            </p:extLst>
          </p:nvPr>
        </p:nvGraphicFramePr>
        <p:xfrm>
          <a:off x="384048" y="1600200"/>
          <a:ext cx="9134854" cy="2480095"/>
        </p:xfrm>
        <a:graphic>
          <a:graphicData uri="http://schemas.openxmlformats.org/drawingml/2006/table">
            <a:tbl>
              <a:tblPr firstRow="1" bandRow="1">
                <a:tableStyleId>{5C22544A-7EE6-4342-B048-85BDC9FD1C3A}</a:tableStyleId>
              </a:tblPr>
              <a:tblGrid>
                <a:gridCol w="1979590">
                  <a:extLst>
                    <a:ext uri="{9D8B030D-6E8A-4147-A177-3AD203B41FA5}">
                      <a16:colId xmlns:a16="http://schemas.microsoft.com/office/drawing/2014/main" val="20000"/>
                    </a:ext>
                  </a:extLst>
                </a:gridCol>
                <a:gridCol w="1871932">
                  <a:extLst>
                    <a:ext uri="{9D8B030D-6E8A-4147-A177-3AD203B41FA5}">
                      <a16:colId xmlns:a16="http://schemas.microsoft.com/office/drawing/2014/main" val="20001"/>
                    </a:ext>
                  </a:extLst>
                </a:gridCol>
                <a:gridCol w="2355011">
                  <a:extLst>
                    <a:ext uri="{9D8B030D-6E8A-4147-A177-3AD203B41FA5}">
                      <a16:colId xmlns:a16="http://schemas.microsoft.com/office/drawing/2014/main" val="20002"/>
                    </a:ext>
                  </a:extLst>
                </a:gridCol>
                <a:gridCol w="2928321">
                  <a:extLst>
                    <a:ext uri="{9D8B030D-6E8A-4147-A177-3AD203B41FA5}">
                      <a16:colId xmlns:a16="http://schemas.microsoft.com/office/drawing/2014/main" val="20003"/>
                    </a:ext>
                  </a:extLst>
                </a:gridCol>
              </a:tblGrid>
              <a:tr h="496019">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a:solidFill>
                            <a:srgbClr val="FFFFFF"/>
                          </a:solidFill>
                          <a:latin typeface="Meiryo"/>
                          <a:ea typeface="メイリオ"/>
                          <a:cs typeface="Meiryo"/>
                        </a:rPr>
                        <a:t>LINE公式アカウント</a:t>
                      </a:r>
                    </a:p>
                  </a:txBody>
                  <a:tcPr>
                    <a:solidFill>
                      <a:srgbClr val="1F2A5C"/>
                    </a:solidFill>
                  </a:tcPr>
                </a:tc>
                <a:tc>
                  <a:txBody>
                    <a:bodyPr/>
                    <a:lstStyle/>
                    <a:p>
                      <a:r>
                        <a:rPr sz="1100" b="1">
                          <a:solidFill>
                            <a:srgbClr val="FFFFFF"/>
                          </a:solidFill>
                          <a:latin typeface="Meiryo"/>
                          <a:ea typeface="メイリオ"/>
                          <a:cs typeface="Meiryo"/>
                        </a:rPr>
                        <a:t>訴求</a:t>
                      </a:r>
                    </a:p>
                  </a:txBody>
                  <a:tcPr>
                    <a:solidFill>
                      <a:srgbClr val="1F2A5C"/>
                    </a:solidFill>
                  </a:tcPr>
                </a:tc>
                <a:tc>
                  <a:txBody>
                    <a:bodyPr/>
                    <a:lstStyle/>
                    <a:p>
                      <a:r>
                        <a:rPr sz="1100" b="1" dirty="0" err="1">
                          <a:solidFill>
                            <a:srgbClr val="FFFFFF"/>
                          </a:solidFill>
                          <a:latin typeface="Meiryo"/>
                          <a:ea typeface="メイリオ"/>
                          <a:cs typeface="Meiryo"/>
                        </a:rPr>
                        <a:t>チャイルドアイズとの比較</a:t>
                      </a:r>
                      <a:endParaRPr sz="1100" b="1" dirty="0">
                        <a:solidFill>
                          <a:srgbClr val="FFFFFF"/>
                        </a:solidFill>
                        <a:latin typeface="Meiryo"/>
                        <a:ea typeface="メイリオ"/>
                        <a:cs typeface="Meiryo"/>
                      </a:endParaRPr>
                    </a:p>
                  </a:txBody>
                  <a:tcPr>
                    <a:solidFill>
                      <a:srgbClr val="1F2A5C"/>
                    </a:solidFill>
                  </a:tcPr>
                </a:tc>
                <a:extLst>
                  <a:ext uri="{0D108BD9-81ED-4DB2-BD59-A6C34878D82A}">
                    <a16:rowId xmlns:a16="http://schemas.microsoft.com/office/drawing/2014/main" val="10000"/>
                  </a:ext>
                </a:extLst>
              </a:tr>
              <a:tr h="496019">
                <a:tc>
                  <a:txBody>
                    <a:bodyPr/>
                    <a:lstStyle/>
                    <a:p>
                      <a:r>
                        <a:rPr sz="1200" b="0" dirty="0" err="1">
                          <a:solidFill>
                            <a:srgbClr val="333333"/>
                          </a:solidFill>
                          <a:latin typeface="Meiryo"/>
                          <a:ea typeface="メイリオ"/>
                          <a:cs typeface="Meiryo"/>
                        </a:rPr>
                        <a:t>ベビーパーク</a:t>
                      </a:r>
                      <a:endParaRPr lang="en-US" sz="1200" b="0" dirty="0">
                        <a:solidFill>
                          <a:srgbClr val="333333"/>
                        </a:solidFill>
                        <a:latin typeface="Meiryo"/>
                        <a:ea typeface="メイリオ"/>
                        <a:cs typeface="Meiryo"/>
                      </a:endParaRPr>
                    </a:p>
                    <a:p>
                      <a:r>
                        <a:rPr lang="ja-JP" altLang="en-US" sz="1200" b="0" dirty="0">
                          <a:solidFill>
                            <a:srgbClr val="333333"/>
                          </a:solidFill>
                          <a:latin typeface="Meiryo"/>
                          <a:ea typeface="メイリオ"/>
                          <a:cs typeface="Meiryo"/>
                        </a:rPr>
                        <a:t>キ</a:t>
                      </a:r>
                      <a:r>
                        <a:rPr sz="1200" b="0" dirty="0" err="1">
                          <a:solidFill>
                            <a:srgbClr val="333333"/>
                          </a:solidFill>
                          <a:latin typeface="Meiryo"/>
                          <a:ea typeface="メイリオ"/>
                          <a:cs typeface="Meiryo"/>
                        </a:rPr>
                        <a:t>ッズアカデミ</a:t>
                      </a:r>
                      <a:r>
                        <a:rPr sz="1200" b="0" dirty="0">
                          <a:solidFill>
                            <a:srgbClr val="333333"/>
                          </a:solidFill>
                          <a:latin typeface="Meiryo"/>
                          <a:ea typeface="メイリオ"/>
                          <a:cs typeface="Meiryo"/>
                        </a:rPr>
                        <a:t>ー</a:t>
                      </a:r>
                    </a:p>
                  </a:txBody>
                  <a:tcPr>
                    <a:solidFill>
                      <a:srgbClr val="FFFFFF"/>
                    </a:solidFill>
                  </a:tcPr>
                </a:tc>
                <a:tc>
                  <a:txBody>
                    <a:bodyPr/>
                    <a:lstStyle/>
                    <a:p>
                      <a:r>
                        <a:rPr sz="1200" b="0" dirty="0" err="1">
                          <a:solidFill>
                            <a:srgbClr val="333333"/>
                          </a:solidFill>
                          <a:latin typeface="Meiryo"/>
                          <a:ea typeface="メイリオ"/>
                          <a:cs typeface="Meiryo"/>
                        </a:rPr>
                        <a:t>なし</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a:solidFill>
                            <a:srgbClr val="333333"/>
                          </a:solidFill>
                          <a:latin typeface="Meiryo"/>
                          <a:ea typeface="メイリオ"/>
                          <a:cs typeface="Meiryo"/>
                        </a:rPr>
                        <a:t>知育特化・超早期（0歳〜）</a:t>
                      </a:r>
                    </a:p>
                  </a:txBody>
                  <a:tcPr>
                    <a:solidFill>
                      <a:srgbClr val="FFFFFF"/>
                    </a:solidFill>
                  </a:tcPr>
                </a:tc>
                <a:tc>
                  <a:txBody>
                    <a:bodyPr/>
                    <a:lstStyle/>
                    <a:p>
                      <a:r>
                        <a:rPr sz="1200" b="0">
                          <a:solidFill>
                            <a:srgbClr val="333333"/>
                          </a:solidFill>
                          <a:latin typeface="Meiryo"/>
                          <a:ea typeface="メイリオ"/>
                          <a:cs typeface="Meiryo"/>
                        </a:rPr>
                        <a:t>LINE未活用。早期囲い込みは強い</a:t>
                      </a:r>
                    </a:p>
                  </a:txBody>
                  <a:tcPr>
                    <a:solidFill>
                      <a:srgbClr val="FFFFFF"/>
                    </a:solidFill>
                  </a:tcPr>
                </a:tc>
                <a:extLst>
                  <a:ext uri="{0D108BD9-81ED-4DB2-BD59-A6C34878D82A}">
                    <a16:rowId xmlns:a16="http://schemas.microsoft.com/office/drawing/2014/main" val="10001"/>
                  </a:ext>
                </a:extLst>
              </a:tr>
              <a:tr h="496019">
                <a:tc>
                  <a:txBody>
                    <a:bodyPr/>
                    <a:lstStyle/>
                    <a:p>
                      <a:r>
                        <a:rPr sz="1200" b="0">
                          <a:solidFill>
                            <a:srgbClr val="333333"/>
                          </a:solidFill>
                          <a:latin typeface="Meiryo"/>
                          <a:ea typeface="メイリオ"/>
                          <a:cs typeface="Meiryo"/>
                        </a:rPr>
                        <a:t>伸芽会</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dirty="0" err="1">
                          <a:solidFill>
                            <a:srgbClr val="333333"/>
                          </a:solidFill>
                          <a:latin typeface="Meiryo"/>
                          <a:ea typeface="メイリオ"/>
                          <a:cs typeface="Meiryo"/>
                        </a:rPr>
                        <a:t>受験対策特化・名門校実績</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LINE未活用。ブランド力で先行</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96019">
                <a:tc>
                  <a:txBody>
                    <a:bodyPr/>
                    <a:lstStyle/>
                    <a:p>
                      <a:r>
                        <a:rPr sz="1200" b="0">
                          <a:solidFill>
                            <a:srgbClr val="1F2A5C"/>
                          </a:solidFill>
                          <a:latin typeface="Meiryo"/>
                          <a:ea typeface="メイリオ"/>
                          <a:cs typeface="Meiryo"/>
                        </a:rPr>
                        <a:t>理英会</a:t>
                      </a:r>
                    </a:p>
                  </a:txBody>
                  <a:tcPr>
                    <a:solidFill>
                      <a:srgbClr val="FFF3E0"/>
                    </a:solidFill>
                  </a:tcPr>
                </a:tc>
                <a:tc>
                  <a:txBody>
                    <a:bodyPr/>
                    <a:lstStyle/>
                    <a:p>
                      <a:r>
                        <a:rPr sz="1200" b="1">
                          <a:solidFill>
                            <a:srgbClr val="1F2A5C"/>
                          </a:solidFill>
                          <a:latin typeface="Meiryo"/>
                          <a:ea typeface="メイリオ"/>
                          <a:cs typeface="Meiryo"/>
                        </a:rPr>
                        <a:t>あり（友だち4,475人）</a:t>
                      </a:r>
                    </a:p>
                  </a:txBody>
                  <a:tcPr>
                    <a:solidFill>
                      <a:srgbClr val="FFF3E0"/>
                    </a:solidFill>
                  </a:tcPr>
                </a:tc>
                <a:tc>
                  <a:txBody>
                    <a:bodyPr/>
                    <a:lstStyle/>
                    <a:p>
                      <a:r>
                        <a:rPr sz="1200" b="0">
                          <a:solidFill>
                            <a:srgbClr val="1F2A5C"/>
                          </a:solidFill>
                          <a:latin typeface="Meiryo"/>
                          <a:ea typeface="メイリオ"/>
                          <a:cs typeface="Meiryo"/>
                        </a:rPr>
                        <a:t>受験ノウハウ配信・体験会案内</a:t>
                      </a:r>
                    </a:p>
                  </a:txBody>
                  <a:tcPr>
                    <a:solidFill>
                      <a:srgbClr val="FFF3E0"/>
                    </a:solidFill>
                  </a:tcPr>
                </a:tc>
                <a:tc>
                  <a:txBody>
                    <a:bodyPr/>
                    <a:lstStyle/>
                    <a:p>
                      <a:r>
                        <a:rPr sz="1200" b="0" dirty="0">
                          <a:solidFill>
                            <a:srgbClr val="1F2A5C"/>
                          </a:solidFill>
                          <a:latin typeface="Meiryo"/>
                          <a:ea typeface="メイリオ"/>
                          <a:cs typeface="Meiryo"/>
                        </a:rPr>
                        <a:t>知育→受験の2段構成が最も近い競合。すでに先行</a:t>
                      </a:r>
                    </a:p>
                  </a:txBody>
                  <a:tcPr>
                    <a:solidFill>
                      <a:srgbClr val="FFF3E0"/>
                    </a:solidFill>
                  </a:tcPr>
                </a:tc>
                <a:extLst>
                  <a:ext uri="{0D108BD9-81ED-4DB2-BD59-A6C34878D82A}">
                    <a16:rowId xmlns:a16="http://schemas.microsoft.com/office/drawing/2014/main" val="10003"/>
                  </a:ext>
                </a:extLst>
              </a:tr>
              <a:tr h="496019">
                <a:tc>
                  <a:txBody>
                    <a:bodyPr/>
                    <a:lstStyle/>
                    <a:p>
                      <a:r>
                        <a:rPr sz="1200" b="0">
                          <a:solidFill>
                            <a:srgbClr val="1F2A5C"/>
                          </a:solidFill>
                          <a:latin typeface="Meiryo"/>
                          <a:ea typeface="メイリオ"/>
                          <a:cs typeface="Meiryo"/>
                        </a:rPr>
                        <a:t>どんちゃか幼児教室</a:t>
                      </a:r>
                    </a:p>
                  </a:txBody>
                  <a:tcPr>
                    <a:solidFill>
                      <a:srgbClr val="FFF3E0"/>
                    </a:solidFill>
                  </a:tcPr>
                </a:tc>
                <a:tc>
                  <a:txBody>
                    <a:bodyPr/>
                    <a:lstStyle/>
                    <a:p>
                      <a:r>
                        <a:rPr sz="1200" b="1">
                          <a:solidFill>
                            <a:srgbClr val="1F2A5C"/>
                          </a:solidFill>
                          <a:latin typeface="Meiryo"/>
                          <a:ea typeface="メイリオ"/>
                          <a:cs typeface="Meiryo"/>
                        </a:rPr>
                        <a:t>あり（友だち2,550人）</a:t>
                      </a:r>
                    </a:p>
                  </a:txBody>
                  <a:tcPr>
                    <a:solidFill>
                      <a:srgbClr val="FFF3E0"/>
                    </a:solidFill>
                  </a:tcPr>
                </a:tc>
                <a:tc>
                  <a:txBody>
                    <a:bodyPr/>
                    <a:lstStyle/>
                    <a:p>
                      <a:r>
                        <a:rPr sz="1200" b="0" dirty="0" err="1">
                          <a:solidFill>
                            <a:srgbClr val="1F2A5C"/>
                          </a:solidFill>
                          <a:latin typeface="Meiryo"/>
                          <a:ea typeface="メイリオ"/>
                          <a:cs typeface="Meiryo"/>
                        </a:rPr>
                        <a:t>育児コラム・季節講習案内</a:t>
                      </a:r>
                      <a:endParaRPr sz="1200" b="0" dirty="0">
                        <a:solidFill>
                          <a:srgbClr val="1F2A5C"/>
                        </a:solidFill>
                        <a:latin typeface="Meiryo"/>
                        <a:ea typeface="メイリオ"/>
                        <a:cs typeface="Meiryo"/>
                      </a:endParaRPr>
                    </a:p>
                  </a:txBody>
                  <a:tcPr>
                    <a:solidFill>
                      <a:srgbClr val="FFF3E0"/>
                    </a:solidFill>
                  </a:tcPr>
                </a:tc>
                <a:tc>
                  <a:txBody>
                    <a:bodyPr/>
                    <a:lstStyle/>
                    <a:p>
                      <a:r>
                        <a:rPr sz="1200" b="0" dirty="0" err="1">
                          <a:solidFill>
                            <a:srgbClr val="1F2A5C"/>
                          </a:solidFill>
                          <a:latin typeface="Meiryo"/>
                          <a:ea typeface="メイリオ"/>
                          <a:cs typeface="Meiryo"/>
                        </a:rPr>
                        <a:t>理英会と同一グループ</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乳幼児期の入口として運用</a:t>
                      </a:r>
                      <a:endParaRPr lang="en-US" sz="12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4"/>
                  </a:ext>
                </a:extLst>
              </a:tr>
            </a:tbl>
          </a:graphicData>
        </a:graphic>
      </p:graphicFrame>
      <p:sp>
        <p:nvSpPr>
          <p:cNvPr id="47" name="TextBox 46"/>
          <p:cNvSpPr txBox="1"/>
          <p:nvPr/>
        </p:nvSpPr>
        <p:spPr>
          <a:xfrm>
            <a:off x="384048" y="4525417"/>
            <a:ext cx="9134856" cy="584775"/>
          </a:xfrm>
          <a:prstGeom prst="rect">
            <a:avLst/>
          </a:prstGeom>
          <a:noFill/>
        </p:spPr>
        <p:txBody>
          <a:bodyPr wrap="square">
            <a:spAutoFit/>
          </a:bodyPr>
          <a:lstStyle/>
          <a:p>
            <a:r>
              <a:rPr sz="1600" b="1" dirty="0" err="1">
                <a:solidFill>
                  <a:srgbClr val="BF4E0E"/>
                </a:solidFill>
                <a:latin typeface="Meiryo"/>
                <a:ea typeface="メイリオ"/>
                <a:cs typeface="Meiryo"/>
              </a:rPr>
              <a:t>理英会・どんちゃかに対しては、同じ「知育→受験」という設計を武器に</a:t>
            </a:r>
            <a:endParaRPr lang="en-US" sz="1600" b="1" dirty="0">
              <a:solidFill>
                <a:srgbClr val="BF4E0E"/>
              </a:solidFill>
              <a:latin typeface="Meiryo"/>
              <a:ea typeface="メイリオ"/>
              <a:cs typeface="Meiryo"/>
            </a:endParaRPr>
          </a:p>
          <a:p>
            <a:r>
              <a:rPr sz="1600" b="1" dirty="0" err="1">
                <a:solidFill>
                  <a:srgbClr val="BF4E0E"/>
                </a:solidFill>
                <a:latin typeface="Meiryo"/>
                <a:ea typeface="メイリオ"/>
                <a:cs typeface="Meiryo"/>
              </a:rPr>
              <a:t>チャイルドアイズならではの強みをLINEの訴求・動線でより磨き込むことが差別化の鍵になる</a:t>
            </a:r>
            <a:r>
              <a:rPr sz="1600" b="1" dirty="0">
                <a:solidFill>
                  <a:srgbClr val="BF4E0E"/>
                </a:solidFill>
                <a:latin typeface="Meiryo"/>
                <a:ea typeface="メイリオ"/>
                <a:cs typeface="Meiryo"/>
              </a:rPr>
              <a:t>。</a:t>
            </a: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施策概要</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6359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前提整理</a:t>
            </a:r>
            <a:endParaRPr sz="1600" b="1" dirty="0">
              <a:solidFill>
                <a:srgbClr val="002060"/>
              </a:solidFill>
              <a:latin typeface="Meiryo"/>
              <a:ea typeface="Meiryo"/>
              <a:cs typeface="Meiryo"/>
              <a:sym typeface="Meiryo"/>
            </a:endParaRPr>
          </a:p>
        </p:txBody>
      </p:sp>
      <p:sp>
        <p:nvSpPr>
          <p:cNvPr id="78" name="テキスト ボックス 77">
            <a:extLst>
              <a:ext uri="{FF2B5EF4-FFF2-40B4-BE49-F238E27FC236}">
                <a16:creationId xmlns:a16="http://schemas.microsoft.com/office/drawing/2014/main" id="{EED395D3-960C-4F52-4CB0-7C6BFD98B4E4}"/>
              </a:ext>
            </a:extLst>
          </p:cNvPr>
          <p:cNvSpPr txBox="1"/>
          <p:nvPr/>
        </p:nvSpPr>
        <p:spPr>
          <a:xfrm>
            <a:off x="561786" y="882657"/>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ご提案にお持ちしているのは費用感の算出ではなく施策方針です。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施策切り出しでのご依頼、複数機能の導入によるディスカウント等の調整もご相談ください。</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79" name="Rounded Rectangle 78"/>
          <p:cNvSpPr/>
          <p:nvPr/>
        </p:nvSpPr>
        <p:spPr>
          <a:xfrm>
            <a:off x="432000" y="1639800"/>
            <a:ext cx="30960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400" b="1">
                <a:solidFill>
                  <a:srgbClr val="FFFFFF"/>
                </a:solidFill>
                <a:latin typeface="メイリオ"/>
                <a:ea typeface="メイリオ"/>
                <a:cs typeface="メイリオ"/>
              </a:rPr>
              <a:t>1　対象範囲（4つの領域）</a:t>
            </a:r>
          </a:p>
        </p:txBody>
      </p:sp>
      <p:sp>
        <p:nvSpPr>
          <p:cNvPr id="80" name="Rounded Rectangle 79"/>
          <p:cNvSpPr/>
          <p:nvPr/>
        </p:nvSpPr>
        <p:spPr>
          <a:xfrm>
            <a:off x="4320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200"/>
              </a:spcAft>
            </a:pPr>
            <a:r>
              <a:rPr sz="1600" b="1">
                <a:solidFill>
                  <a:srgbClr val="FFFFFF"/>
                </a:solidFill>
                <a:latin typeface="メイリオ"/>
                <a:ea typeface="メイリオ"/>
                <a:cs typeface="メイリオ"/>
              </a:rPr>
              <a:t>①</a:t>
            </a:r>
          </a:p>
          <a:p>
            <a:pPr algn="ctr"/>
            <a:r>
              <a:rPr sz="1600" b="1">
                <a:solidFill>
                  <a:srgbClr val="FFFFFF"/>
                </a:solidFill>
                <a:latin typeface="メイリオ"/>
                <a:ea typeface="メイリオ"/>
                <a:cs typeface="メイリオ"/>
              </a:rPr>
              <a:t>友だち追加</a:t>
            </a:r>
          </a:p>
        </p:txBody>
      </p:sp>
      <p:sp>
        <p:nvSpPr>
          <p:cNvPr id="81" name="Rounded Rectangle 80"/>
          <p:cNvSpPr/>
          <p:nvPr/>
        </p:nvSpPr>
        <p:spPr>
          <a:xfrm>
            <a:off x="27288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200"/>
              </a:spcAft>
            </a:pPr>
            <a:r>
              <a:rPr sz="1600" b="1">
                <a:solidFill>
                  <a:srgbClr val="FFFFFF"/>
                </a:solidFill>
                <a:latin typeface="メイリオ"/>
                <a:ea typeface="メイリオ"/>
                <a:cs typeface="メイリオ"/>
              </a:rPr>
              <a:t>②</a:t>
            </a:r>
          </a:p>
          <a:p>
            <a:pPr algn="ctr"/>
            <a:r>
              <a:rPr sz="1600" b="1">
                <a:solidFill>
                  <a:srgbClr val="FFFFFF"/>
                </a:solidFill>
                <a:latin typeface="メイリオ"/>
                <a:ea typeface="メイリオ"/>
                <a:cs typeface="メイリオ"/>
              </a:rPr>
              <a:t>配信の効率改善</a:t>
            </a:r>
          </a:p>
        </p:txBody>
      </p:sp>
      <p:sp>
        <p:nvSpPr>
          <p:cNvPr id="82" name="Rounded Rectangle 81"/>
          <p:cNvSpPr/>
          <p:nvPr/>
        </p:nvSpPr>
        <p:spPr>
          <a:xfrm>
            <a:off x="50256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200"/>
              </a:spcAft>
            </a:pPr>
            <a:r>
              <a:rPr sz="1600" b="1">
                <a:solidFill>
                  <a:srgbClr val="FFFFFF"/>
                </a:solidFill>
                <a:latin typeface="メイリオ"/>
                <a:ea typeface="メイリオ"/>
                <a:cs typeface="メイリオ"/>
              </a:rPr>
              <a:t>③</a:t>
            </a:r>
          </a:p>
          <a:p>
            <a:pPr algn="ctr"/>
            <a:r>
              <a:rPr sz="1600" b="1">
                <a:solidFill>
                  <a:srgbClr val="FFFFFF"/>
                </a:solidFill>
                <a:latin typeface="メイリオ"/>
                <a:ea typeface="メイリオ"/>
                <a:cs typeface="メイリオ"/>
              </a:rPr>
              <a:t>ユーザー満足度改善</a:t>
            </a:r>
          </a:p>
        </p:txBody>
      </p:sp>
      <p:sp>
        <p:nvSpPr>
          <p:cNvPr id="83" name="Rounded Rectangle 82"/>
          <p:cNvSpPr/>
          <p:nvPr/>
        </p:nvSpPr>
        <p:spPr>
          <a:xfrm>
            <a:off x="73224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200"/>
              </a:spcAft>
            </a:pPr>
            <a:r>
              <a:rPr sz="1600" b="1">
                <a:solidFill>
                  <a:srgbClr val="FFFFFF"/>
                </a:solidFill>
                <a:latin typeface="メイリオ"/>
                <a:ea typeface="メイリオ"/>
                <a:cs typeface="メイリオ"/>
              </a:rPr>
              <a:t>④</a:t>
            </a:r>
          </a:p>
          <a:p>
            <a:pPr algn="ctr"/>
            <a:r>
              <a:rPr sz="1600" b="1">
                <a:solidFill>
                  <a:srgbClr val="FFFFFF"/>
                </a:solidFill>
                <a:latin typeface="メイリオ"/>
                <a:ea typeface="メイリオ"/>
                <a:cs typeface="メイリオ"/>
              </a:rPr>
              <a:t>管理側の業務効率化</a:t>
            </a:r>
          </a:p>
        </p:txBody>
      </p:sp>
      <p:sp>
        <p:nvSpPr>
          <p:cNvPr id="84" name="TextBox 83"/>
          <p:cNvSpPr txBox="1"/>
          <p:nvPr/>
        </p:nvSpPr>
        <p:spPr>
          <a:xfrm>
            <a:off x="432000" y="3007799"/>
            <a:ext cx="9043200" cy="324000"/>
          </a:xfrm>
          <a:prstGeom prst="rect">
            <a:avLst/>
          </a:prstGeom>
          <a:noFill/>
        </p:spPr>
        <p:txBody>
          <a:bodyPr wrap="square" lIns="0" rIns="0" tIns="21600" bIns="21600" anchor="ctr">
            <a:spAutoFit/>
          </a:bodyPr>
          <a:lstStyle/>
          <a:p>
            <a:pPr algn="ctr"/>
            <a:r>
              <a:rPr sz="1400">
                <a:solidFill>
                  <a:srgbClr val="333333"/>
                </a:solidFill>
                <a:latin typeface="メイリオ"/>
                <a:ea typeface="メイリオ"/>
                <a:cs typeface="メイリオ"/>
              </a:rPr>
              <a:t>LINE公式アカウントの4つの領域を対象に、施策を設計します。</a:t>
            </a:r>
          </a:p>
        </p:txBody>
      </p:sp>
      <p:sp>
        <p:nvSpPr>
          <p:cNvPr id="85" name="Rounded Rectangle 84"/>
          <p:cNvSpPr/>
          <p:nvPr/>
        </p:nvSpPr>
        <p:spPr>
          <a:xfrm>
            <a:off x="4320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400" b="1">
                <a:solidFill>
                  <a:srgbClr val="FFFFFF"/>
                </a:solidFill>
                <a:latin typeface="メイリオ"/>
                <a:ea typeface="メイリオ"/>
                <a:cs typeface="メイリオ"/>
              </a:rPr>
              <a:t>2　想定UU規模</a:t>
            </a:r>
          </a:p>
        </p:txBody>
      </p:sp>
      <p:sp>
        <p:nvSpPr>
          <p:cNvPr id="86" name="Rounded Rectangle 85"/>
          <p:cNvSpPr/>
          <p:nvPr/>
        </p:nvSpPr>
        <p:spPr>
          <a:xfrm>
            <a:off x="4320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25999" tIns="21600" bIns="21600"/>
          <a:lstStyle/>
          <a:p>
            <a:pPr algn="l">
              <a:lnSpc>
                <a:spcPct val="135000"/>
              </a:lnSpc>
              <a:spcAft>
                <a:spcPts val="1000"/>
              </a:spcAft>
            </a:pPr>
            <a:r>
              <a:rPr sz="1400">
                <a:solidFill>
                  <a:srgbClr val="333333"/>
                </a:solidFill>
                <a:latin typeface="メイリオ"/>
                <a:ea typeface="メイリオ"/>
                <a:cs typeface="メイリオ"/>
              </a:rPr>
              <a:t>・友だち数は、導入できる動線の本数と整備の進み具合で変わります</a:t>
            </a:r>
          </a:p>
          <a:p>
            <a:pPr algn="l">
              <a:lnSpc>
                <a:spcPct val="135000"/>
              </a:lnSpc>
              <a:spcAft>
                <a:spcPts val="1000"/>
              </a:spcAft>
            </a:pPr>
            <a:r>
              <a:rPr sz="1400">
                <a:solidFill>
                  <a:srgbClr val="333333"/>
                </a:solidFill>
                <a:latin typeface="メイリオ"/>
                <a:ea typeface="メイリオ"/>
                <a:cs typeface="メイリオ"/>
              </a:rPr>
              <a:t>・数値はレンジの中間を基準にした試算例です</a:t>
            </a:r>
          </a:p>
        </p:txBody>
      </p:sp>
      <p:sp>
        <p:nvSpPr>
          <p:cNvPr id="87" name="Rounded Rectangle 86"/>
          <p:cNvSpPr/>
          <p:nvPr/>
        </p:nvSpPr>
        <p:spPr>
          <a:xfrm>
            <a:off x="34944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400" b="1">
                <a:solidFill>
                  <a:srgbClr val="FFFFFF"/>
                </a:solidFill>
                <a:latin typeface="メイリオ"/>
                <a:ea typeface="メイリオ"/>
                <a:cs typeface="メイリオ"/>
              </a:rPr>
              <a:t>3　数値の位置づけ</a:t>
            </a:r>
          </a:p>
        </p:txBody>
      </p:sp>
      <p:sp>
        <p:nvSpPr>
          <p:cNvPr id="88" name="Rounded Rectangle 87"/>
          <p:cNvSpPr/>
          <p:nvPr/>
        </p:nvSpPr>
        <p:spPr>
          <a:xfrm>
            <a:off x="34944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25999" tIns="21600" bIns="21600"/>
          <a:lstStyle/>
          <a:p>
            <a:pPr algn="l">
              <a:lnSpc>
                <a:spcPct val="135000"/>
              </a:lnSpc>
              <a:spcAft>
                <a:spcPts val="1000"/>
              </a:spcAft>
            </a:pPr>
            <a:r>
              <a:rPr sz="1400">
                <a:solidFill>
                  <a:srgbClr val="333333"/>
                </a:solidFill>
                <a:latin typeface="メイリオ"/>
                <a:ea typeface="メイリオ"/>
                <a:cs typeface="メイリオ"/>
              </a:rPr>
              <a:t>・開封率・クリック率・CVR・獲得件数は、業界一般値・弊社実績にもとづく数値です</a:t>
            </a:r>
          </a:p>
          <a:p>
            <a:pPr algn="l">
              <a:lnSpc>
                <a:spcPct val="135000"/>
              </a:lnSpc>
              <a:spcAft>
                <a:spcPts val="1000"/>
              </a:spcAft>
            </a:pPr>
            <a:r>
              <a:rPr sz="1400">
                <a:solidFill>
                  <a:srgbClr val="333333"/>
                </a:solidFill>
                <a:latin typeface="メイリオ"/>
                <a:ea typeface="メイリオ"/>
                <a:cs typeface="メイリオ"/>
              </a:rPr>
              <a:t>・実装できる範囲に合わせ、すり合わせのうえ精緻化します</a:t>
            </a:r>
          </a:p>
        </p:txBody>
      </p:sp>
      <p:sp>
        <p:nvSpPr>
          <p:cNvPr id="89" name="Rounded Rectangle 88"/>
          <p:cNvSpPr/>
          <p:nvPr/>
        </p:nvSpPr>
        <p:spPr>
          <a:xfrm>
            <a:off x="65568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400" b="1">
                <a:solidFill>
                  <a:srgbClr val="FFFFFF"/>
                </a:solidFill>
                <a:latin typeface="メイリオ"/>
                <a:ea typeface="メイリオ"/>
                <a:cs typeface="メイリオ"/>
              </a:rPr>
              <a:t>4　費用について</a:t>
            </a:r>
          </a:p>
        </p:txBody>
      </p:sp>
      <p:sp>
        <p:nvSpPr>
          <p:cNvPr id="90" name="Rounded Rectangle 89"/>
          <p:cNvSpPr/>
          <p:nvPr/>
        </p:nvSpPr>
        <p:spPr>
          <a:xfrm>
            <a:off x="65568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25999" tIns="21600" bIns="21600"/>
          <a:lstStyle/>
          <a:p>
            <a:pPr algn="l">
              <a:lnSpc>
                <a:spcPct val="135000"/>
              </a:lnSpc>
              <a:spcAft>
                <a:spcPts val="1000"/>
              </a:spcAft>
            </a:pPr>
            <a:r>
              <a:rPr sz="1400">
                <a:solidFill>
                  <a:srgbClr val="333333"/>
                </a:solidFill>
                <a:latin typeface="メイリオ"/>
                <a:ea typeface="メイリオ"/>
                <a:cs typeface="メイリオ"/>
              </a:rPr>
              <a:t>・記載の費用（初期費用・月額費用）は前提の参考値です</a:t>
            </a:r>
          </a:p>
          <a:p>
            <a:pPr algn="l">
              <a:lnSpc>
                <a:spcPct val="135000"/>
              </a:lnSpc>
              <a:spcAft>
                <a:spcPts val="1000"/>
              </a:spcAft>
            </a:pPr>
            <a:r>
              <a:rPr sz="1400">
                <a:solidFill>
                  <a:srgbClr val="333333"/>
                </a:solidFill>
                <a:latin typeface="メイリオ"/>
                <a:ea typeface="メイリオ"/>
                <a:cs typeface="メイリオ"/>
              </a:rPr>
              <a:t>・施策の範囲が決まったのち、別途お見積りをご案内します</a:t>
            </a:r>
          </a:p>
        </p:txBody>
      </p:sp>
    </p:spTree>
    <p:extLst>
      <p:ext uri="{BB962C8B-B14F-4D97-AF65-F5344CB8AC3E}">
        <p14:creationId xmlns:p14="http://schemas.microsoft.com/office/powerpoint/2010/main" val="1985544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C9E0-2ED9-448E-0518-C4BB6687193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BBA5CE5E-41EC-1762-2B4B-1C21C78DBE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7B94669E-0A81-5BCB-3602-33AE08C292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6F74B94C-3E60-E212-F97E-79756D17F00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7" name="Shape 3">
            <a:extLst>
              <a:ext uri="{FF2B5EF4-FFF2-40B4-BE49-F238E27FC236}">
                <a16:creationId xmlns:a16="http://schemas.microsoft.com/office/drawing/2014/main" id="{05B92B5B-D67F-58CF-8CC2-331F749D479C}"/>
              </a:ext>
            </a:extLst>
          </p:cNvPr>
          <p:cNvSpPr/>
          <p:nvPr/>
        </p:nvSpPr>
        <p:spPr>
          <a:xfrm>
            <a:off x="847998"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Shape 4">
            <a:extLst>
              <a:ext uri="{FF2B5EF4-FFF2-40B4-BE49-F238E27FC236}">
                <a16:creationId xmlns:a16="http://schemas.microsoft.com/office/drawing/2014/main" id="{84E1D0B6-1448-5A19-5CEB-FF4D5F46D6FC}"/>
              </a:ext>
            </a:extLst>
          </p:cNvPr>
          <p:cNvSpPr/>
          <p:nvPr/>
        </p:nvSpPr>
        <p:spPr>
          <a:xfrm>
            <a:off x="1076598" y="2105293"/>
            <a:ext cx="365268" cy="377851"/>
          </a:xfrm>
          <a:prstGeom prst="ellipse">
            <a:avLst/>
          </a:prstGeom>
          <a:solidFill>
            <a:srgbClr val="06C75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1</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13" name="Text 6">
            <a:extLst>
              <a:ext uri="{FF2B5EF4-FFF2-40B4-BE49-F238E27FC236}">
                <a16:creationId xmlns:a16="http://schemas.microsoft.com/office/drawing/2014/main" id="{7E87A6C6-A98D-9DBF-6D4A-E28F254E152A}"/>
              </a:ext>
            </a:extLst>
          </p:cNvPr>
          <p:cNvSpPr txBox="1"/>
          <p:nvPr/>
        </p:nvSpPr>
        <p:spPr>
          <a:xfrm>
            <a:off x="1716678"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友だち追加</a:t>
            </a:r>
            <a:endParaRPr lang="en-US" sz="1700" dirty="0">
              <a:latin typeface="メイリオ" panose="020B0604030504040204" pitchFamily="50" charset="-128"/>
              <a:ea typeface="メイリオ" panose="020B0604030504040204" pitchFamily="50" charset="-128"/>
            </a:endParaRPr>
          </a:p>
        </p:txBody>
      </p:sp>
      <p:sp>
        <p:nvSpPr>
          <p:cNvPr id="15" name="Text 7">
            <a:extLst>
              <a:ext uri="{FF2B5EF4-FFF2-40B4-BE49-F238E27FC236}">
                <a16:creationId xmlns:a16="http://schemas.microsoft.com/office/drawing/2014/main" id="{3D4AF8DD-9D51-A269-6557-0363B326A0A0}"/>
              </a:ext>
            </a:extLst>
          </p:cNvPr>
          <p:cNvSpPr txBox="1"/>
          <p:nvPr/>
        </p:nvSpPr>
        <p:spPr>
          <a:xfrm>
            <a:off x="1716678" y="2344510"/>
            <a:ext cx="3021761" cy="274320"/>
          </a:xfrm>
          <a:prstGeom prst="rect">
            <a:avLst/>
          </a:prstGeom>
          <a:noFill/>
          <a:ln/>
        </p:spPr>
        <p:txBody>
          <a:bodyPr wrap="square" lIns="0" tIns="0" rIns="0" bIns="0" rtlCol="0" anchor="ctr"/>
          <a:lstStyle/>
          <a:p>
            <a:pPr marL="0" indent="0">
              <a:buNone/>
            </a:pPr>
            <a:r>
              <a:rPr lang="en-US" sz="1200" b="1" dirty="0">
                <a:solidFill>
                  <a:srgbClr val="06C755"/>
                </a:solidFill>
                <a:latin typeface="メイリオ" panose="020B0604030504040204" pitchFamily="50" charset="-128"/>
                <a:ea typeface="メイリオ" panose="020B0604030504040204" pitchFamily="50" charset="-128"/>
                <a:cs typeface="Calibri" pitchFamily="34" charset="-120"/>
              </a:rPr>
              <a:t>接点を増やし母数を拡大</a:t>
            </a:r>
            <a:endParaRPr lang="en-US" sz="1200" dirty="0">
              <a:latin typeface="メイリオ" panose="020B0604030504040204" pitchFamily="50" charset="-128"/>
              <a:ea typeface="メイリオ" panose="020B0604030504040204" pitchFamily="50" charset="-128"/>
            </a:endParaRPr>
          </a:p>
        </p:txBody>
      </p:sp>
      <p:sp>
        <p:nvSpPr>
          <p:cNvPr id="17" name="Text 8">
            <a:extLst>
              <a:ext uri="{FF2B5EF4-FFF2-40B4-BE49-F238E27FC236}">
                <a16:creationId xmlns:a16="http://schemas.microsoft.com/office/drawing/2014/main" id="{006EDC0A-D1B3-1FB0-B41A-15583F5C13E9}"/>
              </a:ext>
            </a:extLst>
          </p:cNvPr>
          <p:cNvSpPr txBox="1"/>
          <p:nvPr/>
        </p:nvSpPr>
        <p:spPr>
          <a:xfrm>
            <a:off x="1122318" y="2774278"/>
            <a:ext cx="3616121"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店頭・Web・同梱物など複数の接点から</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訴求とセットでLINE友だち登録へ誘導する</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19" name="Shape 9">
            <a:extLst>
              <a:ext uri="{FF2B5EF4-FFF2-40B4-BE49-F238E27FC236}">
                <a16:creationId xmlns:a16="http://schemas.microsoft.com/office/drawing/2014/main" id="{D46829D5-C4A7-00A2-EB59-4F0181ABF3E8}"/>
              </a:ext>
            </a:extLst>
          </p:cNvPr>
          <p:cNvSpPr/>
          <p:nvPr/>
        </p:nvSpPr>
        <p:spPr>
          <a:xfrm>
            <a:off x="5154385"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1" name="Shape 10">
            <a:extLst>
              <a:ext uri="{FF2B5EF4-FFF2-40B4-BE49-F238E27FC236}">
                <a16:creationId xmlns:a16="http://schemas.microsoft.com/office/drawing/2014/main" id="{5F94C612-6888-B502-7823-012E190DAC5E}"/>
              </a:ext>
            </a:extLst>
          </p:cNvPr>
          <p:cNvSpPr/>
          <p:nvPr/>
        </p:nvSpPr>
        <p:spPr>
          <a:xfrm>
            <a:off x="5382985" y="2105293"/>
            <a:ext cx="365268" cy="377851"/>
          </a:xfrm>
          <a:prstGeom prst="ellipse">
            <a:avLst/>
          </a:prstGeom>
          <a:solidFill>
            <a:schemeClr val="accent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2</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5" name="Text 12">
            <a:extLst>
              <a:ext uri="{FF2B5EF4-FFF2-40B4-BE49-F238E27FC236}">
                <a16:creationId xmlns:a16="http://schemas.microsoft.com/office/drawing/2014/main" id="{63279BBA-A879-BA09-E7B2-0716F8DB89DB}"/>
              </a:ext>
            </a:extLst>
          </p:cNvPr>
          <p:cNvSpPr txBox="1"/>
          <p:nvPr/>
        </p:nvSpPr>
        <p:spPr>
          <a:xfrm>
            <a:off x="6023065"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効率改善（配信）</a:t>
            </a:r>
            <a:endParaRPr lang="en-US" sz="1700" dirty="0">
              <a:latin typeface="メイリオ" panose="020B0604030504040204" pitchFamily="50" charset="-128"/>
              <a:ea typeface="メイリオ" panose="020B0604030504040204" pitchFamily="50" charset="-128"/>
            </a:endParaRPr>
          </a:p>
        </p:txBody>
      </p:sp>
      <p:sp>
        <p:nvSpPr>
          <p:cNvPr id="27" name="Text 13">
            <a:extLst>
              <a:ext uri="{FF2B5EF4-FFF2-40B4-BE49-F238E27FC236}">
                <a16:creationId xmlns:a16="http://schemas.microsoft.com/office/drawing/2014/main" id="{B2834EBB-F184-C52C-D6A4-B76283F84E90}"/>
              </a:ext>
            </a:extLst>
          </p:cNvPr>
          <p:cNvSpPr txBox="1"/>
          <p:nvPr/>
        </p:nvSpPr>
        <p:spPr>
          <a:xfrm>
            <a:off x="6023065" y="2344510"/>
            <a:ext cx="3021761" cy="274320"/>
          </a:xfrm>
          <a:prstGeom prst="rect">
            <a:avLst/>
          </a:prstGeom>
          <a:noFill/>
          <a:ln/>
        </p:spPr>
        <p:txBody>
          <a:bodyPr wrap="square" lIns="0" tIns="0" rIns="0" bIns="0" rtlCol="0" anchor="ctr"/>
          <a:lstStyle/>
          <a:p>
            <a:pPr marL="0" indent="0">
              <a:buNone/>
            </a:pPr>
            <a:r>
              <a:rPr lang="en-US" sz="1200" b="1" dirty="0">
                <a:solidFill>
                  <a:schemeClr val="accent5"/>
                </a:solidFill>
                <a:latin typeface="メイリオ" panose="020B0604030504040204" pitchFamily="50" charset="-128"/>
                <a:ea typeface="メイリオ" panose="020B0604030504040204" pitchFamily="50" charset="-128"/>
                <a:cs typeface="Calibri" pitchFamily="34" charset="-120"/>
              </a:rPr>
              <a:t>ステップ配信・企画配信の設計</a:t>
            </a:r>
            <a:endParaRPr lang="en-US" sz="1200" dirty="0">
              <a:solidFill>
                <a:schemeClr val="accent5"/>
              </a:solidFill>
              <a:latin typeface="メイリオ" panose="020B0604030504040204" pitchFamily="50" charset="-128"/>
              <a:ea typeface="メイリオ" panose="020B0604030504040204" pitchFamily="50" charset="-128"/>
            </a:endParaRPr>
          </a:p>
        </p:txBody>
      </p:sp>
      <p:sp>
        <p:nvSpPr>
          <p:cNvPr id="29" name="Text 14">
            <a:extLst>
              <a:ext uri="{FF2B5EF4-FFF2-40B4-BE49-F238E27FC236}">
                <a16:creationId xmlns:a16="http://schemas.microsoft.com/office/drawing/2014/main" id="{57B1EDEB-4BA3-D781-8DE2-68F5F4A20A81}"/>
              </a:ext>
            </a:extLst>
          </p:cNvPr>
          <p:cNvSpPr txBox="1"/>
          <p:nvPr/>
        </p:nvSpPr>
        <p:spPr>
          <a:xfrm>
            <a:off x="5428705" y="2774278"/>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登録後の自動ステップ配信と</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セグメント別の企画配信で、開封〜CV</a:t>
            </a: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までの導線を最適化する</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31" name="Shape 15">
            <a:extLst>
              <a:ext uri="{FF2B5EF4-FFF2-40B4-BE49-F238E27FC236}">
                <a16:creationId xmlns:a16="http://schemas.microsoft.com/office/drawing/2014/main" id="{756ECCA6-F7D5-C161-4122-409E50DB0B3A}"/>
              </a:ext>
            </a:extLst>
          </p:cNvPr>
          <p:cNvSpPr/>
          <p:nvPr/>
        </p:nvSpPr>
        <p:spPr>
          <a:xfrm>
            <a:off x="847998"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16">
            <a:extLst>
              <a:ext uri="{FF2B5EF4-FFF2-40B4-BE49-F238E27FC236}">
                <a16:creationId xmlns:a16="http://schemas.microsoft.com/office/drawing/2014/main" id="{752C3BA3-61AC-9915-5565-38F14554F3BD}"/>
              </a:ext>
            </a:extLst>
          </p:cNvPr>
          <p:cNvSpPr/>
          <p:nvPr/>
        </p:nvSpPr>
        <p:spPr>
          <a:xfrm>
            <a:off x="1076598" y="4206238"/>
            <a:ext cx="365268" cy="377851"/>
          </a:xfrm>
          <a:prstGeom prst="ellipse">
            <a:avLst/>
          </a:prstGeom>
          <a:solidFill>
            <a:schemeClr val="accent1"/>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3</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7" name="Text 18">
            <a:extLst>
              <a:ext uri="{FF2B5EF4-FFF2-40B4-BE49-F238E27FC236}">
                <a16:creationId xmlns:a16="http://schemas.microsoft.com/office/drawing/2014/main" id="{23D1E819-C691-D0D7-BE43-A76BB729138D}"/>
              </a:ext>
            </a:extLst>
          </p:cNvPr>
          <p:cNvSpPr txBox="1"/>
          <p:nvPr/>
        </p:nvSpPr>
        <p:spPr>
          <a:xfrm>
            <a:off x="1716678"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満足度改善（ユーザー）</a:t>
            </a:r>
            <a:endParaRPr lang="en-US" sz="1700" dirty="0">
              <a:latin typeface="メイリオ" panose="020B0604030504040204" pitchFamily="50" charset="-128"/>
              <a:ea typeface="メイリオ" panose="020B0604030504040204" pitchFamily="50" charset="-128"/>
            </a:endParaRPr>
          </a:p>
        </p:txBody>
      </p:sp>
      <p:sp>
        <p:nvSpPr>
          <p:cNvPr id="40" name="Text 19">
            <a:extLst>
              <a:ext uri="{FF2B5EF4-FFF2-40B4-BE49-F238E27FC236}">
                <a16:creationId xmlns:a16="http://schemas.microsoft.com/office/drawing/2014/main" id="{82D0FC0F-1D31-300C-7AB1-D0912A7E029E}"/>
              </a:ext>
            </a:extLst>
          </p:cNvPr>
          <p:cNvSpPr txBox="1"/>
          <p:nvPr/>
        </p:nvSpPr>
        <p:spPr>
          <a:xfrm>
            <a:off x="1716678" y="4445455"/>
            <a:ext cx="3021761" cy="274320"/>
          </a:xfrm>
          <a:prstGeom prst="rect">
            <a:avLst/>
          </a:prstGeom>
          <a:noFill/>
          <a:ln/>
        </p:spPr>
        <p:txBody>
          <a:bodyPr wrap="square" lIns="0" tIns="0" rIns="0" bIns="0" rtlCol="0" anchor="ctr"/>
          <a:lstStyle/>
          <a:p>
            <a:pPr marL="0" indent="0">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QA自動化・個別対応の強化</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44" name="Text 20">
            <a:extLst>
              <a:ext uri="{FF2B5EF4-FFF2-40B4-BE49-F238E27FC236}">
                <a16:creationId xmlns:a16="http://schemas.microsoft.com/office/drawing/2014/main" id="{DDC03FE7-3F21-E248-3ACE-D83BF971AA2D}"/>
              </a:ext>
            </a:extLst>
          </p:cNvPr>
          <p:cNvSpPr txBox="1"/>
          <p:nvPr/>
        </p:nvSpPr>
        <p:spPr>
          <a:xfrm>
            <a:off x="1122318" y="4875223"/>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よくある質問への自動応答と、必要な場面での個別チャット対応でユーザー体験を</a:t>
            </a: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向上させる</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49" name="Shape 21">
            <a:extLst>
              <a:ext uri="{FF2B5EF4-FFF2-40B4-BE49-F238E27FC236}">
                <a16:creationId xmlns:a16="http://schemas.microsoft.com/office/drawing/2014/main" id="{82BACBFF-FBAA-0B5D-6800-119BCE06D8E4}"/>
              </a:ext>
            </a:extLst>
          </p:cNvPr>
          <p:cNvSpPr/>
          <p:nvPr/>
        </p:nvSpPr>
        <p:spPr>
          <a:xfrm>
            <a:off x="5154385"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22">
            <a:extLst>
              <a:ext uri="{FF2B5EF4-FFF2-40B4-BE49-F238E27FC236}">
                <a16:creationId xmlns:a16="http://schemas.microsoft.com/office/drawing/2014/main" id="{06D0A506-C06B-2472-7C9A-C6A3F8F4DE0C}"/>
              </a:ext>
            </a:extLst>
          </p:cNvPr>
          <p:cNvSpPr/>
          <p:nvPr/>
        </p:nvSpPr>
        <p:spPr>
          <a:xfrm>
            <a:off x="5382985" y="4206238"/>
            <a:ext cx="365268" cy="377851"/>
          </a:xfrm>
          <a:prstGeom prst="ellipse">
            <a:avLst/>
          </a:prstGeom>
          <a:solidFill>
            <a:srgbClr val="2C5364"/>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4</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61" name="Text 24">
            <a:extLst>
              <a:ext uri="{FF2B5EF4-FFF2-40B4-BE49-F238E27FC236}">
                <a16:creationId xmlns:a16="http://schemas.microsoft.com/office/drawing/2014/main" id="{7E387CA0-ACAD-6B69-2324-44C6B8151A62}"/>
              </a:ext>
            </a:extLst>
          </p:cNvPr>
          <p:cNvSpPr txBox="1"/>
          <p:nvPr/>
        </p:nvSpPr>
        <p:spPr>
          <a:xfrm>
            <a:off x="6023065"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効率改善（管理側）</a:t>
            </a:r>
            <a:endParaRPr lang="en-US" sz="1700" dirty="0">
              <a:latin typeface="メイリオ" panose="020B0604030504040204" pitchFamily="50" charset="-128"/>
              <a:ea typeface="メイリオ" panose="020B0604030504040204" pitchFamily="50" charset="-128"/>
            </a:endParaRPr>
          </a:p>
        </p:txBody>
      </p:sp>
      <p:sp>
        <p:nvSpPr>
          <p:cNvPr id="65" name="Text 25">
            <a:extLst>
              <a:ext uri="{FF2B5EF4-FFF2-40B4-BE49-F238E27FC236}">
                <a16:creationId xmlns:a16="http://schemas.microsoft.com/office/drawing/2014/main" id="{DD4F65C4-8B59-E246-52A4-392800008403}"/>
              </a:ext>
            </a:extLst>
          </p:cNvPr>
          <p:cNvSpPr txBox="1"/>
          <p:nvPr/>
        </p:nvSpPr>
        <p:spPr>
          <a:xfrm>
            <a:off x="6023065" y="4445455"/>
            <a:ext cx="3021761" cy="274320"/>
          </a:xfrm>
          <a:prstGeom prst="rect">
            <a:avLst/>
          </a:prstGeom>
          <a:noFill/>
          <a:ln/>
        </p:spPr>
        <p:txBody>
          <a:bodyPr wrap="square" lIns="0" tIns="0" rIns="0" bIns="0" rtlCol="0" anchor="ctr"/>
          <a:lstStyle/>
          <a:p>
            <a:pPr marL="0" indent="0">
              <a:buNone/>
            </a:pPr>
            <a:r>
              <a:rPr lang="en-US" sz="1200" b="1" dirty="0">
                <a:solidFill>
                  <a:srgbClr val="2C5364"/>
                </a:solidFill>
                <a:latin typeface="メイリオ" panose="020B0604030504040204" pitchFamily="50" charset="-128"/>
                <a:ea typeface="メイリオ" panose="020B0604030504040204" pitchFamily="50" charset="-128"/>
                <a:cs typeface="Calibri" pitchFamily="34" charset="-120"/>
              </a:rPr>
              <a:t>自動応答・運用負荷の軽減</a:t>
            </a:r>
            <a:endParaRPr lang="en-US" sz="1200" dirty="0">
              <a:latin typeface="メイリオ" panose="020B0604030504040204" pitchFamily="50" charset="-128"/>
              <a:ea typeface="メイリオ" panose="020B0604030504040204" pitchFamily="50" charset="-128"/>
            </a:endParaRPr>
          </a:p>
        </p:txBody>
      </p:sp>
      <p:sp>
        <p:nvSpPr>
          <p:cNvPr id="69" name="Text 26">
            <a:extLst>
              <a:ext uri="{FF2B5EF4-FFF2-40B4-BE49-F238E27FC236}">
                <a16:creationId xmlns:a16="http://schemas.microsoft.com/office/drawing/2014/main" id="{BF1F9D45-7BE1-B51C-A85A-C438E8EC236C}"/>
              </a:ext>
            </a:extLst>
          </p:cNvPr>
          <p:cNvSpPr txBox="1"/>
          <p:nvPr/>
        </p:nvSpPr>
        <p:spPr>
          <a:xfrm>
            <a:off x="5428705" y="4875223"/>
            <a:ext cx="3420235" cy="1051560"/>
          </a:xfrm>
          <a:prstGeom prst="rect">
            <a:avLst/>
          </a:prstGeom>
          <a:noFill/>
          <a:ln/>
        </p:spPr>
        <p:txBody>
          <a:bodyPr wrap="square" lIns="0" tIns="0" rIns="0" bIns="0" rtlCol="0" anchor="t"/>
          <a:lstStyle/>
          <a:p>
            <a:pPr marL="0" indent="0">
              <a:lnSpc>
                <a:spcPts val="1600"/>
              </a:lnSpc>
              <a:buNone/>
            </a:pP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自動応答の仕組み化や運用フローの整備により、管理側の対応工数を削減する。</a:t>
            </a:r>
            <a:endParaRPr lang="en-US" sz="1400"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1E39E92-BE3C-9C91-B84F-53B25B9196F1}"/>
              </a:ext>
            </a:extLst>
          </p:cNvPr>
          <p:cNvSpPr txBox="1"/>
          <p:nvPr/>
        </p:nvSpPr>
        <p:spPr>
          <a:xfrm>
            <a:off x="561786" y="882657"/>
            <a:ext cx="8797260" cy="523220"/>
          </a:xfrm>
          <a:prstGeom prst="rect">
            <a:avLst/>
          </a:prstGeom>
          <a:noFill/>
        </p:spPr>
        <p:txBody>
          <a:bodyPr wrap="square">
            <a:spAutoFit/>
          </a:bodyPr>
          <a:lstStyle/>
          <a:p>
            <a:pPr algn="ct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DYM</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では基本的に①②の施策を中心に展開させていただきながら、</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事業会社ならではの③④におけるノウハウ共有等が可能です。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97552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7C615-BEE8-3B16-A209-225180EB573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93A1A5A-4695-1785-1F7A-2FFF7723D88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F088CF0-DAD8-024E-9D5D-9E8A5A7610A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CFC8F68-E536-2BAD-437B-4F354ADD7BA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5" name="Heading">
            <a:extLst>
              <a:ext uri="{FF2B5EF4-FFF2-40B4-BE49-F238E27FC236}">
                <a16:creationId xmlns:a16="http://schemas.microsoft.com/office/drawing/2014/main" id="{412505BE-7AC7-15E1-7427-2273456C3176}"/>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LINE運用ツール</a:t>
            </a:r>
            <a:r>
              <a:rPr lang="ja-JP" altLang="en-US" sz="14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7E8BB5F2-25D8-6C40-B6B8-51E193FDD0D5}"/>
              </a:ext>
            </a:extLst>
          </p:cNvPr>
          <p:cNvSpPr txBox="1"/>
          <p:nvPr/>
        </p:nvSpPr>
        <p:spPr>
          <a:xfrm>
            <a:off x="381000" y="1320738"/>
            <a:ext cx="4445000" cy="381000"/>
          </a:xfrm>
          <a:prstGeom prst="rect">
            <a:avLst/>
          </a:prstGeom>
          <a:solidFill>
            <a:srgbClr val="1F2A5C"/>
          </a:solidFill>
          <a:ln>
            <a:noFill/>
          </a:ln>
        </p:spPr>
        <p:txBody>
          <a:bodyPr wrap="square" lIns="152400" tIns="76200" rIns="152400" bIns="76200" anchor="ctr"/>
          <a:lstStyle/>
          <a:p>
            <a:pPr algn="ctr">
              <a:buNone/>
            </a:pPr>
            <a:r>
              <a:rPr lang="ja-JP" altLang="en-US" sz="1600" b="1" dirty="0">
                <a:solidFill>
                  <a:srgbClr val="FFFFFF"/>
                </a:solidFill>
                <a:latin typeface="メイリオ" panose="020B0604030504040204" pitchFamily="50" charset="-128"/>
                <a:ea typeface="メイリオ" panose="020B0604030504040204" pitchFamily="50" charset="-128"/>
              </a:rPr>
              <a:t>なし </a:t>
            </a:r>
            <a:r>
              <a:rPr lang="en-US" altLang="ja-JP" sz="1050" dirty="0">
                <a:solidFill>
                  <a:srgbClr val="FFFFFF"/>
                </a:solidFill>
                <a:latin typeface="メイリオ" panose="020B0604030504040204" pitchFamily="50" charset="-128"/>
                <a:ea typeface="メイリオ" panose="020B0604030504040204" pitchFamily="50" charset="-128"/>
              </a:rPr>
              <a:t>※OAM</a:t>
            </a:r>
            <a:r>
              <a:rPr lang="ja-JP" altLang="en-US" sz="1050" dirty="0">
                <a:solidFill>
                  <a:srgbClr val="FFFFFF"/>
                </a:solidFill>
                <a:latin typeface="メイリオ" panose="020B0604030504040204" pitchFamily="50" charset="-128"/>
                <a:ea typeface="メイリオ" panose="020B0604030504040204" pitchFamily="50" charset="-128"/>
              </a:rPr>
              <a:t>にて運用する</a:t>
            </a:r>
            <a:endParaRPr lang="ja-JP" sz="1600" dirty="0">
              <a:solidFill>
                <a:srgbClr val="FFFFFF"/>
              </a:solidFill>
              <a:latin typeface="メイリオ" panose="020B0604030504040204" pitchFamily="50" charset="-128"/>
              <a:ea typeface="メイリオ" panose="020B0604030504040204" pitchFamily="50" charset="-128"/>
            </a:endParaRPr>
          </a:p>
        </p:txBody>
      </p:sp>
      <p:sp>
        <p:nvSpPr>
          <p:cNvPr id="11" name="RightHeader">
            <a:extLst>
              <a:ext uri="{FF2B5EF4-FFF2-40B4-BE49-F238E27FC236}">
                <a16:creationId xmlns:a16="http://schemas.microsoft.com/office/drawing/2014/main" id="{51D83F88-8CDC-20C8-A161-92ACE9AE14FE}"/>
              </a:ext>
            </a:extLst>
          </p:cNvPr>
          <p:cNvSpPr txBox="1"/>
          <p:nvPr/>
        </p:nvSpPr>
        <p:spPr>
          <a:xfrm>
            <a:off x="5080000" y="1320738"/>
            <a:ext cx="4445000" cy="381000"/>
          </a:xfrm>
          <a:prstGeom prst="rect">
            <a:avLst/>
          </a:prstGeom>
          <a:solidFill>
            <a:srgbClr val="00B050"/>
          </a:solidFill>
          <a:ln>
            <a:noFill/>
          </a:ln>
        </p:spPr>
        <p:txBody>
          <a:bodyPr wrap="square" lIns="152400" tIns="76200" rIns="152400" bIns="76200" anchor="ctr"/>
          <a:lstStyle/>
          <a:p>
            <a:pPr algn="ctr">
              <a:buNone/>
            </a:pPr>
            <a:r>
              <a:rPr lang="ja-JP" altLang="en-US" sz="1600" b="1" dirty="0">
                <a:solidFill>
                  <a:srgbClr val="FFFFFF"/>
                </a:solidFill>
                <a:latin typeface="メイリオ" panose="020B0604030504040204" pitchFamily="50" charset="-128"/>
                <a:ea typeface="メイリオ" panose="020B0604030504040204" pitchFamily="50" charset="-128"/>
              </a:rPr>
              <a:t>あり</a:t>
            </a:r>
            <a:r>
              <a:rPr lang="ja-JP" altLang="en-US" sz="1600" dirty="0">
                <a:solidFill>
                  <a:srgbClr val="FFFFFF"/>
                </a:solidFill>
                <a:latin typeface="メイリオ" panose="020B0604030504040204" pitchFamily="50" charset="-128"/>
                <a:ea typeface="メイリオ" panose="020B0604030504040204" pitchFamily="50" charset="-128"/>
              </a:rPr>
              <a:t> </a:t>
            </a:r>
            <a:r>
              <a:rPr lang="en-US" altLang="ja-JP" sz="1200" dirty="0">
                <a:solidFill>
                  <a:srgbClr val="FFFFFF"/>
                </a:solidFill>
                <a:latin typeface="メイリオ" panose="020B0604030504040204" pitchFamily="50" charset="-128"/>
                <a:ea typeface="メイリオ" panose="020B0604030504040204" pitchFamily="50" charset="-128"/>
              </a:rPr>
              <a:t>※</a:t>
            </a:r>
            <a:r>
              <a:rPr lang="en-US" altLang="ja-JP" sz="1200" dirty="0" err="1">
                <a:solidFill>
                  <a:srgbClr val="FFFFFF"/>
                </a:solidFill>
                <a:latin typeface="メイリオ" panose="020B0604030504040204" pitchFamily="50" charset="-128"/>
                <a:ea typeface="メイリオ" panose="020B0604030504040204" pitchFamily="50" charset="-128"/>
              </a:rPr>
              <a:t>Lstep</a:t>
            </a:r>
            <a:r>
              <a:rPr lang="ja-JP" altLang="en-US" sz="1200" dirty="0">
                <a:solidFill>
                  <a:srgbClr val="FFFFFF"/>
                </a:solidFill>
                <a:latin typeface="メイリオ" panose="020B0604030504040204" pitchFamily="50" charset="-128"/>
                <a:ea typeface="メイリオ" panose="020B0604030504040204" pitchFamily="50" charset="-128"/>
              </a:rPr>
              <a:t>など汎用的なもの</a:t>
            </a:r>
            <a:endParaRPr lang="ja-JP" sz="1600" dirty="0">
              <a:solidFill>
                <a:srgbClr val="FFFFFF"/>
              </a:solidFill>
              <a:latin typeface="メイリオ" panose="020B0604030504040204" pitchFamily="50" charset="-128"/>
              <a:ea typeface="メイリオ" panose="020B0604030504040204" pitchFamily="50" charset="-128"/>
            </a:endParaRPr>
          </a:p>
        </p:txBody>
      </p:sp>
      <p:sp>
        <p:nvSpPr>
          <p:cNvPr id="15" name="Conclusion">
            <a:extLst>
              <a:ext uri="{FF2B5EF4-FFF2-40B4-BE49-F238E27FC236}">
                <a16:creationId xmlns:a16="http://schemas.microsoft.com/office/drawing/2014/main" id="{C4320929-5504-DE1B-B0F4-5AA55B09745C}"/>
              </a:ext>
            </a:extLst>
          </p:cNvPr>
          <p:cNvSpPr txBox="1"/>
          <p:nvPr/>
        </p:nvSpPr>
        <p:spPr>
          <a:xfrm>
            <a:off x="396857" y="4978338"/>
            <a:ext cx="9144000" cy="1244600"/>
          </a:xfrm>
          <a:prstGeom prst="rect">
            <a:avLst/>
          </a:prstGeom>
          <a:solidFill>
            <a:srgbClr val="F0F2F7"/>
          </a:solidFill>
          <a:ln>
            <a:noFill/>
          </a:ln>
        </p:spPr>
        <p:txBody>
          <a:bodyPr wrap="square" lIns="177800" tIns="127000" rIns="177800" bIns="1270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結論・推奨</a:t>
            </a:r>
          </a:p>
          <a:p>
            <a:pPr>
              <a:spcBef>
                <a:spcPts val="200"/>
              </a:spcBef>
              <a:buNone/>
            </a:pPr>
            <a:r>
              <a:rPr lang="ja-JP" sz="1400" dirty="0">
                <a:solidFill>
                  <a:srgbClr val="333333"/>
                </a:solidFill>
                <a:latin typeface="メイリオ" panose="020B0604030504040204" pitchFamily="50" charset="-128"/>
                <a:ea typeface="メイリオ" panose="020B0604030504040204" pitchFamily="50" charset="-128"/>
              </a:rPr>
              <a:t>API連携の有無が今後のデータ活用</a:t>
            </a:r>
            <a:r>
              <a:rPr lang="ja-JP" altLang="en-US" sz="1400" dirty="0">
                <a:solidFill>
                  <a:srgbClr val="333333"/>
                </a:solidFill>
                <a:latin typeface="メイリオ" panose="020B0604030504040204" pitchFamily="50" charset="-128"/>
                <a:ea typeface="メイリオ" panose="020B0604030504040204" pitchFamily="50" charset="-128"/>
              </a:rPr>
              <a:t>や、詳細なセグメント設定</a:t>
            </a:r>
            <a:r>
              <a:rPr lang="ja-JP" sz="1400" dirty="0">
                <a:solidFill>
                  <a:srgbClr val="333333"/>
                </a:solidFill>
                <a:latin typeface="メイリオ" panose="020B0604030504040204" pitchFamily="50" charset="-128"/>
                <a:ea typeface="メイリオ" panose="020B0604030504040204" pitchFamily="50" charset="-128"/>
              </a:rPr>
              <a:t>を左右する</a:t>
            </a:r>
            <a:r>
              <a:rPr lang="ja-JP" altLang="en-US" sz="1400" dirty="0">
                <a:solidFill>
                  <a:srgbClr val="333333"/>
                </a:solidFill>
                <a:latin typeface="メイリオ" panose="020B0604030504040204" pitchFamily="50" charset="-128"/>
                <a:ea typeface="メイリオ" panose="020B0604030504040204" pitchFamily="50" charset="-128"/>
              </a:rPr>
              <a:t>。</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dirty="0">
                <a:solidFill>
                  <a:srgbClr val="333333"/>
                </a:solidFill>
                <a:latin typeface="メイリオ" panose="020B0604030504040204" pitchFamily="50" charset="-128"/>
                <a:ea typeface="メイリオ" panose="020B0604030504040204" pitchFamily="50" charset="-128"/>
              </a:rPr>
              <a:t>ユーザーアンケートを活用して、利用ステータスやユーザー情報の回収→配信に活用といった</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dirty="0">
                <a:solidFill>
                  <a:srgbClr val="333333"/>
                </a:solidFill>
                <a:latin typeface="メイリオ" panose="020B0604030504040204" pitchFamily="50" charset="-128"/>
                <a:ea typeface="メイリオ" panose="020B0604030504040204" pitchFamily="50" charset="-128"/>
              </a:rPr>
              <a:t>フローを踏みたいところ。</a:t>
            </a: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23" name="LeftBody">
            <a:extLst>
              <a:ext uri="{FF2B5EF4-FFF2-40B4-BE49-F238E27FC236}">
                <a16:creationId xmlns:a16="http://schemas.microsoft.com/office/drawing/2014/main" id="{359AC927-F2C5-652F-EEA1-6D298DADB703}"/>
              </a:ext>
            </a:extLst>
          </p:cNvPr>
          <p:cNvSpPr txBox="1"/>
          <p:nvPr/>
        </p:nvSpPr>
        <p:spPr>
          <a:xfrm>
            <a:off x="381000" y="1701738"/>
            <a:ext cx="4445000" cy="980502"/>
          </a:xfrm>
          <a:prstGeom prst="rect">
            <a:avLst/>
          </a:prstGeom>
          <a:solidFill>
            <a:srgbClr val="F5F7FA"/>
          </a:solidFill>
          <a:ln w="6350">
            <a:solidFill>
              <a:srgbClr val="D1D8E0"/>
            </a:solidFill>
          </a:ln>
        </p:spPr>
        <p:txBody>
          <a:bodyPr wrap="square" lIns="177800" tIns="152400" rIns="177800" bIns="1524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400" dirty="0">
                <a:solidFill>
                  <a:srgbClr val="333333"/>
                </a:solidFill>
                <a:latin typeface="メイリオ" panose="020B0604030504040204" pitchFamily="50" charset="-128"/>
                <a:ea typeface="メイリオ" panose="020B0604030504040204" pitchFamily="50" charset="-128"/>
              </a:rPr>
              <a:t>コストが最小限に抑えられる</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en-US" altLang="ja-JP" sz="1400" b="1" dirty="0">
              <a:solidFill>
                <a:srgbClr val="333333"/>
              </a:solidFill>
              <a:latin typeface="メイリオ" panose="020B0604030504040204" pitchFamily="50" charset="-128"/>
              <a:ea typeface="メイリオ" panose="020B0604030504040204" pitchFamily="50" charset="-128"/>
            </a:endParaRPr>
          </a:p>
        </p:txBody>
      </p:sp>
      <p:sp>
        <p:nvSpPr>
          <p:cNvPr id="25" name="RightBody">
            <a:extLst>
              <a:ext uri="{FF2B5EF4-FFF2-40B4-BE49-F238E27FC236}">
                <a16:creationId xmlns:a16="http://schemas.microsoft.com/office/drawing/2014/main" id="{5C2B33B3-486B-54AD-7340-8E91653B11C6}"/>
              </a:ext>
            </a:extLst>
          </p:cNvPr>
          <p:cNvSpPr txBox="1"/>
          <p:nvPr/>
        </p:nvSpPr>
        <p:spPr>
          <a:xfrm>
            <a:off x="5080000" y="1701738"/>
            <a:ext cx="4445000" cy="980502"/>
          </a:xfrm>
          <a:prstGeom prst="rect">
            <a:avLst/>
          </a:prstGeom>
          <a:solidFill>
            <a:srgbClr val="FFFFFF"/>
          </a:solidFill>
          <a:ln w="12700">
            <a:solidFill>
              <a:srgbClr val="00B050"/>
            </a:solidFill>
          </a:ln>
        </p:spPr>
        <p:txBody>
          <a:bodyPr wrap="square" lIns="177800" tIns="152400" rIns="177800" bIns="152400" anchor="t"/>
          <a:lstStyle/>
          <a:p>
            <a:pPr>
              <a:buNone/>
            </a:pPr>
            <a:r>
              <a:rPr lang="ja-JP" sz="14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API連携を前提としたステップ配信に強み</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セグメント配信・タグ管理も柔軟に設計可能</a:t>
            </a:r>
          </a:p>
          <a:p>
            <a:pPr>
              <a:spcBef>
                <a:spcPts val="600"/>
              </a:spcBef>
              <a:buNone/>
            </a:pP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1" name="LeftBody">
            <a:extLst>
              <a:ext uri="{FF2B5EF4-FFF2-40B4-BE49-F238E27FC236}">
                <a16:creationId xmlns:a16="http://schemas.microsoft.com/office/drawing/2014/main" id="{C22CD48D-CDD7-8246-0A2F-0204B2112294}"/>
              </a:ext>
            </a:extLst>
          </p:cNvPr>
          <p:cNvSpPr txBox="1"/>
          <p:nvPr/>
        </p:nvSpPr>
        <p:spPr>
          <a:xfrm>
            <a:off x="396857" y="2743201"/>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顧客情報を活かしたセグメント配信が可能</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altLang="en-US" sz="1400" dirty="0">
                <a:solidFill>
                  <a:srgbClr val="333333"/>
                </a:solidFill>
                <a:latin typeface="メイリオ" panose="020B0604030504040204" pitchFamily="50" charset="-128"/>
                <a:ea typeface="メイリオ" panose="020B0604030504040204" pitchFamily="50" charset="-128"/>
              </a:rPr>
              <a:t>画一的な管理であれば導入が可能</a:t>
            </a: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3" name="RightBody">
            <a:extLst>
              <a:ext uri="{FF2B5EF4-FFF2-40B4-BE49-F238E27FC236}">
                <a16:creationId xmlns:a16="http://schemas.microsoft.com/office/drawing/2014/main" id="{33E816DC-7F71-9436-3A2A-835086253EF7}"/>
              </a:ext>
            </a:extLst>
          </p:cNvPr>
          <p:cNvSpPr txBox="1"/>
          <p:nvPr/>
        </p:nvSpPr>
        <p:spPr>
          <a:xfrm>
            <a:off x="5095857" y="2743201"/>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経過日数・タグ条件を組み合わせた配信設計が可能</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API連携により外部データとの連携もしやすい</a:t>
            </a:r>
          </a:p>
          <a:p>
            <a:pPr>
              <a:spcBef>
                <a:spcPts val="600"/>
              </a:spcBef>
              <a:buNone/>
            </a:pP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5" name="LeftBody">
            <a:extLst>
              <a:ext uri="{FF2B5EF4-FFF2-40B4-BE49-F238E27FC236}">
                <a16:creationId xmlns:a16="http://schemas.microsoft.com/office/drawing/2014/main" id="{C28C8264-FFE5-64B4-9624-4781A568525A}"/>
              </a:ext>
            </a:extLst>
          </p:cNvPr>
          <p:cNvSpPr txBox="1"/>
          <p:nvPr/>
        </p:nvSpPr>
        <p:spPr>
          <a:xfrm>
            <a:off x="396857" y="3784664"/>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現状LINEとAPI連携ができておらず、データ活用が限定的</a:t>
            </a:r>
          </a:p>
        </p:txBody>
      </p:sp>
      <p:sp>
        <p:nvSpPr>
          <p:cNvPr id="37" name="RightBody">
            <a:extLst>
              <a:ext uri="{FF2B5EF4-FFF2-40B4-BE49-F238E27FC236}">
                <a16:creationId xmlns:a16="http://schemas.microsoft.com/office/drawing/2014/main" id="{CD03D279-8570-6C99-6FEA-8EDFE942CC76}"/>
              </a:ext>
            </a:extLst>
          </p:cNvPr>
          <p:cNvSpPr txBox="1"/>
          <p:nvPr/>
        </p:nvSpPr>
        <p:spPr>
          <a:xfrm>
            <a:off x="5095857" y="3784664"/>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デメリット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移行には初期設定・データ移行の工数が発生</a:t>
            </a:r>
          </a:p>
        </p:txBody>
      </p:sp>
    </p:spTree>
    <p:extLst>
      <p:ext uri="{BB962C8B-B14F-4D97-AF65-F5344CB8AC3E}">
        <p14:creationId xmlns:p14="http://schemas.microsoft.com/office/powerpoint/2010/main" val="4161387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507335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6924D46-4ED5-0BE1-9474-C475C9B8B3F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50AF59C-8025-B190-6ED3-B311D27BA69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業界平均値</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EEF4BB1D-1E6E-955A-85D2-2DAF3FCF967B}"/>
              </a:ext>
            </a:extLst>
          </p:cNvPr>
          <p:cNvSpPr/>
          <p:nvPr/>
        </p:nvSpPr>
        <p:spPr>
          <a:xfrm>
            <a:off x="388225" y="159430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6" name="正方形/長方形 5">
            <a:extLst>
              <a:ext uri="{FF2B5EF4-FFF2-40B4-BE49-F238E27FC236}">
                <a16:creationId xmlns:a16="http://schemas.microsoft.com/office/drawing/2014/main" id="{531C33D5-FD17-057E-9ABE-377B289F9790}"/>
              </a:ext>
            </a:extLst>
          </p:cNvPr>
          <p:cNvSpPr/>
          <p:nvPr/>
        </p:nvSpPr>
        <p:spPr>
          <a:xfrm>
            <a:off x="1890454" y="159430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7" name="正方形/長方形 6">
            <a:extLst>
              <a:ext uri="{FF2B5EF4-FFF2-40B4-BE49-F238E27FC236}">
                <a16:creationId xmlns:a16="http://schemas.microsoft.com/office/drawing/2014/main" id="{AFB52975-24F0-82CC-8A36-A65D2F539FA3}"/>
              </a:ext>
            </a:extLst>
          </p:cNvPr>
          <p:cNvSpPr/>
          <p:nvPr/>
        </p:nvSpPr>
        <p:spPr>
          <a:xfrm>
            <a:off x="3392683" y="159430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8" name="矢印: 右 7">
            <a:extLst>
              <a:ext uri="{FF2B5EF4-FFF2-40B4-BE49-F238E27FC236}">
                <a16:creationId xmlns:a16="http://schemas.microsoft.com/office/drawing/2014/main" id="{173A008B-7B40-3834-688E-168FABDF16B8}"/>
              </a:ext>
            </a:extLst>
          </p:cNvPr>
          <p:cNvSpPr/>
          <p:nvPr/>
        </p:nvSpPr>
        <p:spPr>
          <a:xfrm>
            <a:off x="1031359" y="226850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9" name="正方形/長方形 8">
            <a:extLst>
              <a:ext uri="{FF2B5EF4-FFF2-40B4-BE49-F238E27FC236}">
                <a16:creationId xmlns:a16="http://schemas.microsoft.com/office/drawing/2014/main" id="{FD70E0F9-3A37-9791-A2F1-DB53DFA521CA}"/>
              </a:ext>
            </a:extLst>
          </p:cNvPr>
          <p:cNvSpPr/>
          <p:nvPr/>
        </p:nvSpPr>
        <p:spPr>
          <a:xfrm>
            <a:off x="1890454" y="20027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0" name="正方形/長方形 9">
            <a:extLst>
              <a:ext uri="{FF2B5EF4-FFF2-40B4-BE49-F238E27FC236}">
                <a16:creationId xmlns:a16="http://schemas.microsoft.com/office/drawing/2014/main" id="{BC93A6AA-67BF-84C0-0945-45084140FCCE}"/>
              </a:ext>
            </a:extLst>
          </p:cNvPr>
          <p:cNvSpPr/>
          <p:nvPr/>
        </p:nvSpPr>
        <p:spPr>
          <a:xfrm>
            <a:off x="1890454" y="261588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1" name="正方形/長方形 10">
            <a:extLst>
              <a:ext uri="{FF2B5EF4-FFF2-40B4-BE49-F238E27FC236}">
                <a16:creationId xmlns:a16="http://schemas.microsoft.com/office/drawing/2014/main" id="{1B7DB214-408D-A44C-E3F0-2C35AF01311F}"/>
              </a:ext>
            </a:extLst>
          </p:cNvPr>
          <p:cNvSpPr/>
          <p:nvPr/>
        </p:nvSpPr>
        <p:spPr>
          <a:xfrm>
            <a:off x="388225" y="20027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b="1">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b="1"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4FF021F0-AD46-9EC1-0810-C474BA8335D8}"/>
              </a:ext>
            </a:extLst>
          </p:cNvPr>
          <p:cNvSpPr/>
          <p:nvPr/>
        </p:nvSpPr>
        <p:spPr>
          <a:xfrm>
            <a:off x="388225" y="261588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13" name="正方形/長方形 12">
            <a:extLst>
              <a:ext uri="{FF2B5EF4-FFF2-40B4-BE49-F238E27FC236}">
                <a16:creationId xmlns:a16="http://schemas.microsoft.com/office/drawing/2014/main" id="{8A474FF7-4108-C39F-A5EC-7D5691573134}"/>
              </a:ext>
            </a:extLst>
          </p:cNvPr>
          <p:cNvSpPr/>
          <p:nvPr/>
        </p:nvSpPr>
        <p:spPr>
          <a:xfrm>
            <a:off x="3392683" y="199724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矢印: 右 13">
            <a:extLst>
              <a:ext uri="{FF2B5EF4-FFF2-40B4-BE49-F238E27FC236}">
                <a16:creationId xmlns:a16="http://schemas.microsoft.com/office/drawing/2014/main" id="{7386A58D-9B89-4DB0-7216-4E1CB6B454A9}"/>
              </a:ext>
            </a:extLst>
          </p:cNvPr>
          <p:cNvSpPr/>
          <p:nvPr/>
        </p:nvSpPr>
        <p:spPr>
          <a:xfrm>
            <a:off x="1031361" y="322034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5" name="矢印: 右 14">
            <a:extLst>
              <a:ext uri="{FF2B5EF4-FFF2-40B4-BE49-F238E27FC236}">
                <a16:creationId xmlns:a16="http://schemas.microsoft.com/office/drawing/2014/main" id="{D3CE675D-8A5C-D632-6FDA-1C8A7E291893}"/>
              </a:ext>
            </a:extLst>
          </p:cNvPr>
          <p:cNvSpPr/>
          <p:nvPr/>
        </p:nvSpPr>
        <p:spPr>
          <a:xfrm>
            <a:off x="1031360" y="3921407"/>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cxnSp>
        <p:nvCxnSpPr>
          <p:cNvPr id="16" name="直線コネクタ 15">
            <a:extLst>
              <a:ext uri="{FF2B5EF4-FFF2-40B4-BE49-F238E27FC236}">
                <a16:creationId xmlns:a16="http://schemas.microsoft.com/office/drawing/2014/main" id="{8397AEEA-4837-54CF-13BA-F31B80D1393F}"/>
              </a:ext>
            </a:extLst>
          </p:cNvPr>
          <p:cNvCxnSpPr>
            <a:cxnSpLocks/>
          </p:cNvCxnSpPr>
          <p:nvPr/>
        </p:nvCxnSpPr>
        <p:spPr>
          <a:xfrm flipV="1">
            <a:off x="388225" y="387648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4D1C472-525A-CFB1-3C6E-3053F2619881}"/>
              </a:ext>
            </a:extLst>
          </p:cNvPr>
          <p:cNvSpPr/>
          <p:nvPr/>
        </p:nvSpPr>
        <p:spPr>
          <a:xfrm>
            <a:off x="388225" y="322907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CBD188BB-0EA8-4510-DCA0-2AEE1B7CD5EB}"/>
              </a:ext>
            </a:extLst>
          </p:cNvPr>
          <p:cNvSpPr/>
          <p:nvPr/>
        </p:nvSpPr>
        <p:spPr>
          <a:xfrm>
            <a:off x="1890454" y="396535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19" name="正方形/長方形 18">
            <a:extLst>
              <a:ext uri="{FF2B5EF4-FFF2-40B4-BE49-F238E27FC236}">
                <a16:creationId xmlns:a16="http://schemas.microsoft.com/office/drawing/2014/main" id="{29E6B5C9-2FD2-FC57-1789-05FA5F38E1F7}"/>
              </a:ext>
            </a:extLst>
          </p:cNvPr>
          <p:cNvSpPr/>
          <p:nvPr/>
        </p:nvSpPr>
        <p:spPr>
          <a:xfrm>
            <a:off x="388225" y="396535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0" name="正方形/長方形 19">
            <a:extLst>
              <a:ext uri="{FF2B5EF4-FFF2-40B4-BE49-F238E27FC236}">
                <a16:creationId xmlns:a16="http://schemas.microsoft.com/office/drawing/2014/main" id="{533AD0C0-7276-FA17-9FD7-734635201CB2}"/>
              </a:ext>
            </a:extLst>
          </p:cNvPr>
          <p:cNvSpPr/>
          <p:nvPr/>
        </p:nvSpPr>
        <p:spPr>
          <a:xfrm>
            <a:off x="3392682" y="322907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15D5861-B108-7E0A-3377-5601EF82149A}"/>
              </a:ext>
            </a:extLst>
          </p:cNvPr>
          <p:cNvSpPr/>
          <p:nvPr/>
        </p:nvSpPr>
        <p:spPr>
          <a:xfrm>
            <a:off x="3392682" y="396535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矢印: 右 21">
            <a:extLst>
              <a:ext uri="{FF2B5EF4-FFF2-40B4-BE49-F238E27FC236}">
                <a16:creationId xmlns:a16="http://schemas.microsoft.com/office/drawing/2014/main" id="{94AAFD78-CFCD-8AAC-C5DE-8F785D90C401}"/>
              </a:ext>
            </a:extLst>
          </p:cNvPr>
          <p:cNvSpPr/>
          <p:nvPr/>
        </p:nvSpPr>
        <p:spPr>
          <a:xfrm>
            <a:off x="1031359" y="456844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3" name="矢印: 右 22">
            <a:extLst>
              <a:ext uri="{FF2B5EF4-FFF2-40B4-BE49-F238E27FC236}">
                <a16:creationId xmlns:a16="http://schemas.microsoft.com/office/drawing/2014/main" id="{4D8298BD-6809-4C50-E889-0C5F779DE209}"/>
              </a:ext>
            </a:extLst>
          </p:cNvPr>
          <p:cNvSpPr/>
          <p:nvPr/>
        </p:nvSpPr>
        <p:spPr>
          <a:xfrm>
            <a:off x="1031359" y="580008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4" name="矢印: 右 23">
            <a:extLst>
              <a:ext uri="{FF2B5EF4-FFF2-40B4-BE49-F238E27FC236}">
                <a16:creationId xmlns:a16="http://schemas.microsoft.com/office/drawing/2014/main" id="{01F0D3B8-3119-304D-228E-ED46B6CAB67D}"/>
              </a:ext>
            </a:extLst>
          </p:cNvPr>
          <p:cNvSpPr/>
          <p:nvPr/>
        </p:nvSpPr>
        <p:spPr>
          <a:xfrm>
            <a:off x="1031359" y="5189826"/>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5" name="正方形/長方形 24">
            <a:extLst>
              <a:ext uri="{FF2B5EF4-FFF2-40B4-BE49-F238E27FC236}">
                <a16:creationId xmlns:a16="http://schemas.microsoft.com/office/drawing/2014/main" id="{9751A61D-8342-2E71-49E2-6F2A585210CF}"/>
              </a:ext>
            </a:extLst>
          </p:cNvPr>
          <p:cNvSpPr/>
          <p:nvPr/>
        </p:nvSpPr>
        <p:spPr>
          <a:xfrm>
            <a:off x="1890454" y="45840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26" name="正方形/長方形 25">
            <a:extLst>
              <a:ext uri="{FF2B5EF4-FFF2-40B4-BE49-F238E27FC236}">
                <a16:creationId xmlns:a16="http://schemas.microsoft.com/office/drawing/2014/main" id="{069B86FC-7AC9-2579-6747-94409852E6A9}"/>
              </a:ext>
            </a:extLst>
          </p:cNvPr>
          <p:cNvSpPr/>
          <p:nvPr/>
        </p:nvSpPr>
        <p:spPr>
          <a:xfrm>
            <a:off x="388225" y="45840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7" name="正方形/長方形 26">
            <a:extLst>
              <a:ext uri="{FF2B5EF4-FFF2-40B4-BE49-F238E27FC236}">
                <a16:creationId xmlns:a16="http://schemas.microsoft.com/office/drawing/2014/main" id="{259BCB38-DAF2-BC8F-7410-9383C33A3F86}"/>
              </a:ext>
            </a:extLst>
          </p:cNvPr>
          <p:cNvSpPr/>
          <p:nvPr/>
        </p:nvSpPr>
        <p:spPr>
          <a:xfrm>
            <a:off x="388225" y="520264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8" name="正方形/長方形 27">
            <a:extLst>
              <a:ext uri="{FF2B5EF4-FFF2-40B4-BE49-F238E27FC236}">
                <a16:creationId xmlns:a16="http://schemas.microsoft.com/office/drawing/2014/main" id="{1F924E3D-9CB9-CA80-4FF6-D62C50842AEB}"/>
              </a:ext>
            </a:extLst>
          </p:cNvPr>
          <p:cNvSpPr/>
          <p:nvPr/>
        </p:nvSpPr>
        <p:spPr>
          <a:xfrm>
            <a:off x="388225" y="582129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9" name="正方形/長方形 28">
            <a:extLst>
              <a:ext uri="{FF2B5EF4-FFF2-40B4-BE49-F238E27FC236}">
                <a16:creationId xmlns:a16="http://schemas.microsoft.com/office/drawing/2014/main" id="{048444BF-0B54-4CE2-78C3-B78C7FCD001B}"/>
              </a:ext>
            </a:extLst>
          </p:cNvPr>
          <p:cNvSpPr/>
          <p:nvPr/>
        </p:nvSpPr>
        <p:spPr>
          <a:xfrm>
            <a:off x="1890453" y="520264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30" name="正方形/長方形 29">
            <a:extLst>
              <a:ext uri="{FF2B5EF4-FFF2-40B4-BE49-F238E27FC236}">
                <a16:creationId xmlns:a16="http://schemas.microsoft.com/office/drawing/2014/main" id="{AD971EAE-829E-07E1-B15C-D7B9C5538B0F}"/>
              </a:ext>
            </a:extLst>
          </p:cNvPr>
          <p:cNvSpPr/>
          <p:nvPr/>
        </p:nvSpPr>
        <p:spPr>
          <a:xfrm>
            <a:off x="1890453" y="582129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D0E3A14-A5E0-6277-4C0A-37271CE6D04A}"/>
              </a:ext>
            </a:extLst>
          </p:cNvPr>
          <p:cNvSpPr/>
          <p:nvPr/>
        </p:nvSpPr>
        <p:spPr>
          <a:xfrm>
            <a:off x="3392682" y="458400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0F8EFC74-4358-EB59-16A6-D864C62AC931}"/>
              </a:ext>
            </a:extLst>
          </p:cNvPr>
          <p:cNvSpPr/>
          <p:nvPr/>
        </p:nvSpPr>
        <p:spPr>
          <a:xfrm>
            <a:off x="3392682" y="520265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36006927-A8A5-7A4B-A04C-F5D0808A5304}"/>
              </a:ext>
            </a:extLst>
          </p:cNvPr>
          <p:cNvSpPr/>
          <p:nvPr/>
        </p:nvSpPr>
        <p:spPr>
          <a:xfrm>
            <a:off x="3392682" y="581036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4" name="Shape 17">
            <a:extLst>
              <a:ext uri="{FF2B5EF4-FFF2-40B4-BE49-F238E27FC236}">
                <a16:creationId xmlns:a16="http://schemas.microsoft.com/office/drawing/2014/main" id="{B77E1FF1-F589-36AA-D779-FABB807F9501}"/>
              </a:ext>
            </a:extLst>
          </p:cNvPr>
          <p:cNvSpPr/>
          <p:nvPr/>
        </p:nvSpPr>
        <p:spPr>
          <a:xfrm>
            <a:off x="3586732" y="2068120"/>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35" name="Shape 18">
            <a:extLst>
              <a:ext uri="{FF2B5EF4-FFF2-40B4-BE49-F238E27FC236}">
                <a16:creationId xmlns:a16="http://schemas.microsoft.com/office/drawing/2014/main" id="{CA0F439F-8568-5F59-980B-81BDBE16E656}"/>
              </a:ext>
            </a:extLst>
          </p:cNvPr>
          <p:cNvSpPr/>
          <p:nvPr/>
        </p:nvSpPr>
        <p:spPr>
          <a:xfrm>
            <a:off x="5635860" y="2068120"/>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F1667E92-F492-3E12-307D-7E98E48B45D9}"/>
              </a:ext>
            </a:extLst>
          </p:cNvPr>
          <p:cNvCxnSpPr>
            <a:endCxn id="35" idx="1"/>
          </p:cNvCxnSpPr>
          <p:nvPr/>
        </p:nvCxnSpPr>
        <p:spPr>
          <a:xfrm>
            <a:off x="5367201" y="229237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7" name="Shape 17">
            <a:extLst>
              <a:ext uri="{FF2B5EF4-FFF2-40B4-BE49-F238E27FC236}">
                <a16:creationId xmlns:a16="http://schemas.microsoft.com/office/drawing/2014/main" id="{9BCE046A-F0B6-BBFD-BFCA-03015B84F033}"/>
              </a:ext>
            </a:extLst>
          </p:cNvPr>
          <p:cNvSpPr/>
          <p:nvPr/>
        </p:nvSpPr>
        <p:spPr>
          <a:xfrm>
            <a:off x="3586732" y="2602307"/>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38" name="Shape 18">
            <a:extLst>
              <a:ext uri="{FF2B5EF4-FFF2-40B4-BE49-F238E27FC236}">
                <a16:creationId xmlns:a16="http://schemas.microsoft.com/office/drawing/2014/main" id="{14F2BF34-2AB8-9060-75EF-F5ADF9F01344}"/>
              </a:ext>
            </a:extLst>
          </p:cNvPr>
          <p:cNvSpPr/>
          <p:nvPr/>
        </p:nvSpPr>
        <p:spPr>
          <a:xfrm>
            <a:off x="5635860" y="2602307"/>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39" name="直線矢印コネクタ 38">
            <a:extLst>
              <a:ext uri="{FF2B5EF4-FFF2-40B4-BE49-F238E27FC236}">
                <a16:creationId xmlns:a16="http://schemas.microsoft.com/office/drawing/2014/main" id="{B31F7370-9528-F602-262C-2CE6C0CA7D95}"/>
              </a:ext>
            </a:extLst>
          </p:cNvPr>
          <p:cNvCxnSpPr>
            <a:cxnSpLocks/>
            <a:stCxn id="37" idx="3"/>
            <a:endCxn id="38" idx="1"/>
          </p:cNvCxnSpPr>
          <p:nvPr/>
        </p:nvCxnSpPr>
        <p:spPr>
          <a:xfrm>
            <a:off x="5350219" y="283555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102">
            <a:extLst>
              <a:ext uri="{FF2B5EF4-FFF2-40B4-BE49-F238E27FC236}">
                <a16:creationId xmlns:a16="http://schemas.microsoft.com/office/drawing/2014/main" id="{CB5BD751-9EE2-F77E-B237-6EBEA67F4576}"/>
              </a:ext>
            </a:extLst>
          </p:cNvPr>
          <p:cNvSpPr txBox="1"/>
          <p:nvPr/>
        </p:nvSpPr>
        <p:spPr>
          <a:xfrm>
            <a:off x="7643602" y="1550861"/>
            <a:ext cx="1874173" cy="43088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 </a:t>
            </a:r>
            <a:r>
              <a:rPr lang="en-US" altLang="ja-JP" sz="1000" dirty="0">
                <a:solidFill>
                  <a:srgbClr val="FF0000"/>
                </a:solidFill>
                <a:highlight>
                  <a:srgbClr val="FFFF00"/>
                </a:highlight>
                <a:latin typeface="メイリオ" panose="020B0604030504040204" pitchFamily="50" charset="-128"/>
                <a:ea typeface="メイリオ" panose="020B0604030504040204" pitchFamily="50" charset="-128"/>
              </a:rPr>
              <a:t>※CVR</a:t>
            </a:r>
            <a:r>
              <a:rPr lang="ja-JP" altLang="en-US" sz="1000" dirty="0">
                <a:solidFill>
                  <a:srgbClr val="FF0000"/>
                </a:solidFill>
                <a:highlight>
                  <a:srgbClr val="FFFF00"/>
                </a:highlight>
                <a:latin typeface="メイリオ" panose="020B0604030504040204" pitchFamily="50" charset="-128"/>
                <a:ea typeface="メイリオ" panose="020B0604030504040204" pitchFamily="50" charset="-128"/>
              </a:rPr>
              <a:t>ではない</a:t>
            </a:r>
            <a:endParaRPr kumimoji="1" lang="ja-JP" altLang="en-US" sz="1000" dirty="0">
              <a:solidFill>
                <a:srgbClr val="FF0000"/>
              </a:solidFill>
              <a:highlight>
                <a:srgbClr val="FFFF00"/>
              </a:highlight>
              <a:latin typeface="メイリオ" panose="020B0604030504040204" pitchFamily="50" charset="-128"/>
              <a:ea typeface="メイリオ" panose="020B0604030504040204" pitchFamily="50" charset="-128"/>
            </a:endParaRPr>
          </a:p>
        </p:txBody>
      </p:sp>
      <p:sp>
        <p:nvSpPr>
          <p:cNvPr id="41" name="テキスト ボックス 104">
            <a:extLst>
              <a:ext uri="{FF2B5EF4-FFF2-40B4-BE49-F238E27FC236}">
                <a16:creationId xmlns:a16="http://schemas.microsoft.com/office/drawing/2014/main" id="{55562E1F-54CF-8256-1530-F264D924D0C4}"/>
              </a:ext>
            </a:extLst>
          </p:cNvPr>
          <p:cNvSpPr txBox="1"/>
          <p:nvPr/>
        </p:nvSpPr>
        <p:spPr>
          <a:xfrm>
            <a:off x="7795459" y="230210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2" name="テキスト ボックス 106">
            <a:extLst>
              <a:ext uri="{FF2B5EF4-FFF2-40B4-BE49-F238E27FC236}">
                <a16:creationId xmlns:a16="http://schemas.microsoft.com/office/drawing/2014/main" id="{0D6F6472-C1C9-8DD7-5969-2F70988996B7}"/>
              </a:ext>
            </a:extLst>
          </p:cNvPr>
          <p:cNvSpPr txBox="1"/>
          <p:nvPr/>
        </p:nvSpPr>
        <p:spPr>
          <a:xfrm>
            <a:off x="7781456" y="3247026"/>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3" name="テキスト ボックス 108">
            <a:extLst>
              <a:ext uri="{FF2B5EF4-FFF2-40B4-BE49-F238E27FC236}">
                <a16:creationId xmlns:a16="http://schemas.microsoft.com/office/drawing/2014/main" id="{3EBEB224-105E-FCC6-752F-0DC0ACDDFEFC}"/>
              </a:ext>
            </a:extLst>
          </p:cNvPr>
          <p:cNvSpPr txBox="1"/>
          <p:nvPr/>
        </p:nvSpPr>
        <p:spPr>
          <a:xfrm>
            <a:off x="7795459" y="3952829"/>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4" name="テキスト ボックス 110">
            <a:extLst>
              <a:ext uri="{FF2B5EF4-FFF2-40B4-BE49-F238E27FC236}">
                <a16:creationId xmlns:a16="http://schemas.microsoft.com/office/drawing/2014/main" id="{F26B0A2E-9DBA-FEE5-637F-02A225C02C23}"/>
              </a:ext>
            </a:extLst>
          </p:cNvPr>
          <p:cNvSpPr txBox="1"/>
          <p:nvPr/>
        </p:nvSpPr>
        <p:spPr>
          <a:xfrm>
            <a:off x="7781455" y="459296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6" name="テキスト ボックス 112">
            <a:extLst>
              <a:ext uri="{FF2B5EF4-FFF2-40B4-BE49-F238E27FC236}">
                <a16:creationId xmlns:a16="http://schemas.microsoft.com/office/drawing/2014/main" id="{0C0FA132-24D2-97C7-D00F-5A970556EB00}"/>
              </a:ext>
            </a:extLst>
          </p:cNvPr>
          <p:cNvSpPr txBox="1"/>
          <p:nvPr/>
        </p:nvSpPr>
        <p:spPr>
          <a:xfrm>
            <a:off x="7781455" y="5217138"/>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7" name="テキスト ボックス 114">
            <a:extLst>
              <a:ext uri="{FF2B5EF4-FFF2-40B4-BE49-F238E27FC236}">
                <a16:creationId xmlns:a16="http://schemas.microsoft.com/office/drawing/2014/main" id="{FD400E85-93A8-6ADB-337D-4AC8973CAF45}"/>
              </a:ext>
            </a:extLst>
          </p:cNvPr>
          <p:cNvSpPr txBox="1"/>
          <p:nvPr/>
        </p:nvSpPr>
        <p:spPr>
          <a:xfrm>
            <a:off x="7781455" y="5822973"/>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8" name="Shape 17">
            <a:extLst>
              <a:ext uri="{FF2B5EF4-FFF2-40B4-BE49-F238E27FC236}">
                <a16:creationId xmlns:a16="http://schemas.microsoft.com/office/drawing/2014/main" id="{1CA555AB-71AF-EB14-1D64-C35A07A084CC}"/>
              </a:ext>
            </a:extLst>
          </p:cNvPr>
          <p:cNvSpPr/>
          <p:nvPr/>
        </p:nvSpPr>
        <p:spPr>
          <a:xfrm>
            <a:off x="3586732" y="3279991"/>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49" name="Shape 18">
            <a:extLst>
              <a:ext uri="{FF2B5EF4-FFF2-40B4-BE49-F238E27FC236}">
                <a16:creationId xmlns:a16="http://schemas.microsoft.com/office/drawing/2014/main" id="{019053B5-0AD3-160E-B42A-8528F025A84E}"/>
              </a:ext>
            </a:extLst>
          </p:cNvPr>
          <p:cNvSpPr/>
          <p:nvPr/>
        </p:nvSpPr>
        <p:spPr>
          <a:xfrm>
            <a:off x="5635860" y="3279991"/>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50" name="直線矢印コネクタ 49">
            <a:extLst>
              <a:ext uri="{FF2B5EF4-FFF2-40B4-BE49-F238E27FC236}">
                <a16:creationId xmlns:a16="http://schemas.microsoft.com/office/drawing/2014/main" id="{48AC5144-1E7E-4082-003A-97A6D96D2994}"/>
              </a:ext>
            </a:extLst>
          </p:cNvPr>
          <p:cNvCxnSpPr>
            <a:cxnSpLocks/>
            <a:stCxn id="48" idx="3"/>
            <a:endCxn id="49" idx="1"/>
          </p:cNvCxnSpPr>
          <p:nvPr/>
        </p:nvCxnSpPr>
        <p:spPr>
          <a:xfrm>
            <a:off x="5350219" y="351323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Shape 17">
            <a:extLst>
              <a:ext uri="{FF2B5EF4-FFF2-40B4-BE49-F238E27FC236}">
                <a16:creationId xmlns:a16="http://schemas.microsoft.com/office/drawing/2014/main" id="{03AA9053-24E8-182C-23AA-4BEA28F1863B}"/>
              </a:ext>
            </a:extLst>
          </p:cNvPr>
          <p:cNvSpPr/>
          <p:nvPr/>
        </p:nvSpPr>
        <p:spPr>
          <a:xfrm>
            <a:off x="3586732" y="4020849"/>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52" name="Shape 18">
            <a:extLst>
              <a:ext uri="{FF2B5EF4-FFF2-40B4-BE49-F238E27FC236}">
                <a16:creationId xmlns:a16="http://schemas.microsoft.com/office/drawing/2014/main" id="{760C890D-1868-9325-4069-2354337B0399}"/>
              </a:ext>
            </a:extLst>
          </p:cNvPr>
          <p:cNvSpPr/>
          <p:nvPr/>
        </p:nvSpPr>
        <p:spPr>
          <a:xfrm>
            <a:off x="5635860" y="4020849"/>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53" name="直線矢印コネクタ 52">
            <a:extLst>
              <a:ext uri="{FF2B5EF4-FFF2-40B4-BE49-F238E27FC236}">
                <a16:creationId xmlns:a16="http://schemas.microsoft.com/office/drawing/2014/main" id="{CE344BB3-FFA2-50D7-ADEA-7AA9C56BA1E2}"/>
              </a:ext>
            </a:extLst>
          </p:cNvPr>
          <p:cNvCxnSpPr>
            <a:cxnSpLocks/>
            <a:stCxn id="51" idx="3"/>
            <a:endCxn id="52" idx="1"/>
          </p:cNvCxnSpPr>
          <p:nvPr/>
        </p:nvCxnSpPr>
        <p:spPr>
          <a:xfrm>
            <a:off x="5350219" y="425409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Shape 17">
            <a:extLst>
              <a:ext uri="{FF2B5EF4-FFF2-40B4-BE49-F238E27FC236}">
                <a16:creationId xmlns:a16="http://schemas.microsoft.com/office/drawing/2014/main" id="{9439D4FC-6ABA-77F9-BCBC-39518FFF0A4B}"/>
              </a:ext>
            </a:extLst>
          </p:cNvPr>
          <p:cNvSpPr/>
          <p:nvPr/>
        </p:nvSpPr>
        <p:spPr>
          <a:xfrm>
            <a:off x="3586732" y="462723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55" name="Shape 18">
            <a:extLst>
              <a:ext uri="{FF2B5EF4-FFF2-40B4-BE49-F238E27FC236}">
                <a16:creationId xmlns:a16="http://schemas.microsoft.com/office/drawing/2014/main" id="{E23B94EA-C025-B46E-3CFE-6F951848C924}"/>
              </a:ext>
            </a:extLst>
          </p:cNvPr>
          <p:cNvSpPr/>
          <p:nvPr/>
        </p:nvSpPr>
        <p:spPr>
          <a:xfrm>
            <a:off x="5635860" y="462723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56" name="直線矢印コネクタ 55">
            <a:extLst>
              <a:ext uri="{FF2B5EF4-FFF2-40B4-BE49-F238E27FC236}">
                <a16:creationId xmlns:a16="http://schemas.microsoft.com/office/drawing/2014/main" id="{83F28A8E-5BD4-6CFE-A1AB-95F3F23ADFC2}"/>
              </a:ext>
            </a:extLst>
          </p:cNvPr>
          <p:cNvCxnSpPr>
            <a:cxnSpLocks/>
            <a:stCxn id="54" idx="3"/>
            <a:endCxn id="55" idx="1"/>
          </p:cNvCxnSpPr>
          <p:nvPr/>
        </p:nvCxnSpPr>
        <p:spPr>
          <a:xfrm>
            <a:off x="5350219" y="486048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Shape 17">
            <a:extLst>
              <a:ext uri="{FF2B5EF4-FFF2-40B4-BE49-F238E27FC236}">
                <a16:creationId xmlns:a16="http://schemas.microsoft.com/office/drawing/2014/main" id="{6D4CD712-1339-1DEA-1A5F-9F51874CCCB1}"/>
              </a:ext>
            </a:extLst>
          </p:cNvPr>
          <p:cNvSpPr/>
          <p:nvPr/>
        </p:nvSpPr>
        <p:spPr>
          <a:xfrm>
            <a:off x="3586732" y="5251006"/>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58" name="Shape 18">
            <a:extLst>
              <a:ext uri="{FF2B5EF4-FFF2-40B4-BE49-F238E27FC236}">
                <a16:creationId xmlns:a16="http://schemas.microsoft.com/office/drawing/2014/main" id="{5F976E27-1C09-25DE-2664-7D927081F231}"/>
              </a:ext>
            </a:extLst>
          </p:cNvPr>
          <p:cNvSpPr/>
          <p:nvPr/>
        </p:nvSpPr>
        <p:spPr>
          <a:xfrm>
            <a:off x="5635860" y="5251006"/>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59" name="直線矢印コネクタ 58">
            <a:extLst>
              <a:ext uri="{FF2B5EF4-FFF2-40B4-BE49-F238E27FC236}">
                <a16:creationId xmlns:a16="http://schemas.microsoft.com/office/drawing/2014/main" id="{82C1A774-7713-D5A5-03F8-DCE7AD58DB1B}"/>
              </a:ext>
            </a:extLst>
          </p:cNvPr>
          <p:cNvCxnSpPr>
            <a:cxnSpLocks/>
            <a:stCxn id="57" idx="3"/>
            <a:endCxn id="58" idx="1"/>
          </p:cNvCxnSpPr>
          <p:nvPr/>
        </p:nvCxnSpPr>
        <p:spPr>
          <a:xfrm>
            <a:off x="5350219" y="548425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Shape 17">
            <a:extLst>
              <a:ext uri="{FF2B5EF4-FFF2-40B4-BE49-F238E27FC236}">
                <a16:creationId xmlns:a16="http://schemas.microsoft.com/office/drawing/2014/main" id="{CC857E24-C3F9-53FF-5D44-B2CE0DE30602}"/>
              </a:ext>
            </a:extLst>
          </p:cNvPr>
          <p:cNvSpPr/>
          <p:nvPr/>
        </p:nvSpPr>
        <p:spPr>
          <a:xfrm>
            <a:off x="3586732" y="585939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61" name="Shape 18">
            <a:extLst>
              <a:ext uri="{FF2B5EF4-FFF2-40B4-BE49-F238E27FC236}">
                <a16:creationId xmlns:a16="http://schemas.microsoft.com/office/drawing/2014/main" id="{496CBE75-90FF-44E1-05AA-F85C409960A4}"/>
              </a:ext>
            </a:extLst>
          </p:cNvPr>
          <p:cNvSpPr/>
          <p:nvPr/>
        </p:nvSpPr>
        <p:spPr>
          <a:xfrm>
            <a:off x="5635860" y="585939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62" name="直線矢印コネクタ 61">
            <a:extLst>
              <a:ext uri="{FF2B5EF4-FFF2-40B4-BE49-F238E27FC236}">
                <a16:creationId xmlns:a16="http://schemas.microsoft.com/office/drawing/2014/main" id="{D05BCA3B-7E23-AB71-18F0-5A49C04E309D}"/>
              </a:ext>
            </a:extLst>
          </p:cNvPr>
          <p:cNvCxnSpPr>
            <a:cxnSpLocks/>
            <a:stCxn id="60" idx="3"/>
            <a:endCxn id="61" idx="1"/>
          </p:cNvCxnSpPr>
          <p:nvPr/>
        </p:nvCxnSpPr>
        <p:spPr>
          <a:xfrm>
            <a:off x="5350219" y="609264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4" name="テキスト ボックス 63">
            <a:extLst>
              <a:ext uri="{FF2B5EF4-FFF2-40B4-BE49-F238E27FC236}">
                <a16:creationId xmlns:a16="http://schemas.microsoft.com/office/drawing/2014/main" id="{82CD4DCC-2C80-6383-8368-FB0A87EC66CA}"/>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公式</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の友だち追加ユーザーが成果地点（</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 </a:t>
            </a:r>
            <a:r>
              <a:rPr lang="en-US" altLang="ja-JP" sz="800" b="1" dirty="0">
                <a:solidFill>
                  <a:srgbClr val="FF0000"/>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業界業態・地点により変動   </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に到達する割合は</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通算で３</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前後と言われており、</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動線を最適化することはマーケティングにおける重要度が高い。</a:t>
            </a:r>
            <a:endParaRPr lang="en-US" altLang="ja-JP" sz="1400" b="1" dirty="0">
              <a:solidFill>
                <a:srgbClr val="FF0000"/>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51825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3167381"/>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の初期構築と効果の最大化</a:t>
            </a:r>
            <a:endPar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3204084"/>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759311"/>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4180114"/>
            <a:ext cx="8898070" cy="2285834"/>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・豊富な弊社実績を活用した配信設計の構築</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企画投稿</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弊社の豊富な実績や市場調査を活かし、最適なタイミングで最適なメッセージを送付し</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へ</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また、学習コンテンツの展開でサービス理解度を引き上げ、来店意欲</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UP</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を狙う。</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・フェーズ毎に戦略を変えることで来店意欲の醸成</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動線・セグメント設定</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設定セグメント・ターゲティングを変化させ複数回違う訴求にて接触。</a:t>
            </a:r>
            <a:endParaRPr lang="en-US" altLang="ja-JP" sz="1400" dirty="0">
              <a:solidFill>
                <a:schemeClr val="tx2">
                  <a:lumMod val="75000"/>
                </a:schemeClr>
              </a:solidFill>
              <a:latin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・売上計測環境の整備及び</a:t>
            </a:r>
            <a:r>
              <a:rPr lang="en-US" altLang="ja-JP" sz="1600" b="1" dirty="0" err="1">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GoogleAnalytics</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の整備</a:t>
            </a:r>
            <a:endPar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タグを整備することで</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経由の成果可視化を実行。</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企画・動線ごとに成果を可視化し、訴求テストなどを実施しながら効率化を図る。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5"/>
            <a:ext cx="8898070" cy="102115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①離脱ユーザーの再育成による</a:t>
            </a:r>
            <a:r>
              <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数増加 </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②体験予約のみユーザーの削減 → 来店・契約サポート</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中長期施策として展開予定</a:t>
            </a:r>
            <a:endParaRPr lang="en-US" altLang="ja-JP"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151343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CB94-34C8-7DB0-D6CB-991D39D9B9D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r>
              <a:rPr lang="en-US" altLang="ja-JP" sz="1600" b="1" dirty="0">
                <a:solidFill>
                  <a:srgbClr val="002060"/>
                </a:solidFill>
                <a:latin typeface="Meiryo"/>
                <a:ea typeface="Meiryo"/>
                <a:cs typeface="Meiryo"/>
                <a:sym typeface="Meiryo"/>
              </a:rPr>
              <a:t>1</a:t>
            </a:r>
            <a:r>
              <a:rPr lang="ja-JP" altLang="en-US" sz="1600" b="1" dirty="0">
                <a:solidFill>
                  <a:srgbClr val="002060"/>
                </a:solidFill>
                <a:latin typeface="Meiryo"/>
                <a:ea typeface="Meiryo"/>
                <a:cs typeface="Meiryo"/>
                <a:sym typeface="Meiryo"/>
              </a:rPr>
              <a:t>アカウントあたり）</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869BC935-5DB9-4560-B356-B396B93603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7880C836-A2BC-2FC7-3468-9B9075E279C9}"/>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01B38E14-DD7E-D8D3-B41B-B992885905C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¥120,000</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D37009A-88DD-861E-09A2-546B9A58E210}"/>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solidFill>
                <a:latin typeface="メイリオ" panose="020B0604030504040204" pitchFamily="50" charset="-128"/>
                <a:ea typeface="メイリオ" panose="020B0604030504040204" pitchFamily="50" charset="-128"/>
              </a:rPr>
              <a:t>固定： </a:t>
            </a:r>
            <a:r>
              <a:rPr lang="en-US" altLang="ja-JP" sz="1400" dirty="0">
                <a:solidFill>
                  <a:schemeClr val="tx1"/>
                </a:solidFill>
                <a:latin typeface="メイリオ" panose="020B0604030504040204" pitchFamily="50" charset="-128"/>
                <a:ea typeface="メイリオ" panose="020B0604030504040204" pitchFamily="50" charset="-128"/>
              </a:rPr>
              <a:t>¥40,000</a:t>
            </a: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初動</a:t>
            </a:r>
            <a:r>
              <a:rPr lang="en-US" altLang="ja-JP" sz="1000" dirty="0">
                <a:solidFill>
                  <a:schemeClr val="tx1"/>
                </a:solidFill>
                <a:latin typeface="メイリオ" panose="020B0604030504040204" pitchFamily="50" charset="-128"/>
                <a:ea typeface="メイリオ" panose="020B0604030504040204" pitchFamily="50" charset="-128"/>
              </a:rPr>
              <a:t>3</a:t>
            </a:r>
            <a:r>
              <a:rPr lang="ja-JP" altLang="en-US" sz="1000" dirty="0">
                <a:solidFill>
                  <a:schemeClr val="tx1"/>
                </a:solidFill>
                <a:latin typeface="メイリオ" panose="020B0604030504040204" pitchFamily="50" charset="-128"/>
                <a:ea typeface="メイリオ" panose="020B0604030504040204" pitchFamily="50" charset="-128"/>
              </a:rPr>
              <a:t>か月は</a:t>
            </a:r>
            <a:r>
              <a:rPr lang="en-US" altLang="ja-JP" sz="1000" dirty="0">
                <a:solidFill>
                  <a:schemeClr val="tx1"/>
                </a:solidFill>
                <a:latin typeface="メイリオ" panose="020B0604030504040204" pitchFamily="50" charset="-128"/>
                <a:ea typeface="メイリオ" panose="020B0604030504040204" pitchFamily="50" charset="-128"/>
              </a:rPr>
              <a:t>\20,000)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 成果：単価 ¥2,000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 コンサル費（入会案内）： ¥50,000</a:t>
            </a:r>
            <a:endParaRPr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FC496752-169B-38CE-883D-84ADB306D799}"/>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DA148636-1253-1384-2015-E2EB8852C9F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51BCDCE3-E0DC-64C9-5AE4-D62A1BB2F0B2}"/>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93377C5E-E0F0-CDD7-88D4-BB2DFD34BDB7}"/>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423E80D8-0677-EA4F-9E76-E96BE86C80F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月次投稿</a:t>
            </a:r>
          </a:p>
        </p:txBody>
      </p:sp>
      <p:sp>
        <p:nvSpPr>
          <p:cNvPr id="29" name="正方形/長方形 28">
            <a:extLst>
              <a:ext uri="{FF2B5EF4-FFF2-40B4-BE49-F238E27FC236}">
                <a16:creationId xmlns:a16="http://schemas.microsoft.com/office/drawing/2014/main" id="{0D7C10C7-D0BA-2429-4E3C-3C9B1A0BD42B}"/>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lang="en-US" altLang="ja-JP" sz="1000" dirty="0">
                <a:solidFill>
                  <a:schemeClr val="tx1"/>
                </a:solidFill>
                <a:latin typeface="メイリオ" panose="020B0604030504040204" pitchFamily="50" charset="-128"/>
                <a:ea typeface="メイリオ" panose="020B0604030504040204" pitchFamily="50" charset="-128"/>
              </a:rPr>
              <a:t>-3</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33" name="正方形/長方形 32">
            <a:extLst>
              <a:ext uri="{FF2B5EF4-FFF2-40B4-BE49-F238E27FC236}">
                <a16:creationId xmlns:a16="http://schemas.microsoft.com/office/drawing/2014/main" id="{7C01E0B6-089E-D0CB-E2F1-931D297B273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a:p>
            <a:pPr algn="ctr"/>
            <a:r>
              <a:rPr lang="ja-JP" altLang="en-US" sz="1100" dirty="0">
                <a:solidFill>
                  <a:schemeClr val="bg1"/>
                </a:solidFill>
                <a:latin typeface="メイリオ" panose="020B0604030504040204" pitchFamily="50" charset="-128"/>
                <a:ea typeface="メイリオ" panose="020B0604030504040204" pitchFamily="50" charset="-128"/>
              </a:rPr>
              <a:t>修正変更</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8E28FD05-4146-E3E7-076F-F0405244D430}"/>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41" name="正方形/長方形 40">
            <a:extLst>
              <a:ext uri="{FF2B5EF4-FFF2-40B4-BE49-F238E27FC236}">
                <a16:creationId xmlns:a16="http://schemas.microsoft.com/office/drawing/2014/main" id="{0BCA0670-1E25-A137-DE69-4285D1972C41}"/>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BABF4F76-4A93-A922-BEA6-2B8E93EAFA64}"/>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1</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B9BBAE1C-A24C-C8BA-EC21-E3C3004B99D5}"/>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5356490D-00B0-A4A4-46A8-C05373647872}"/>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固定プランのみ実施</a:t>
            </a:r>
          </a:p>
        </p:txBody>
      </p:sp>
      <p:sp>
        <p:nvSpPr>
          <p:cNvPr id="66" name="正方形/長方形 65">
            <a:extLst>
              <a:ext uri="{FF2B5EF4-FFF2-40B4-BE49-F238E27FC236}">
                <a16:creationId xmlns:a16="http://schemas.microsoft.com/office/drawing/2014/main" id="{1B7BC116-FC44-14F8-A570-7E8F4A6BB425}"/>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ステップ配信</a:t>
            </a:r>
          </a:p>
        </p:txBody>
      </p:sp>
      <p:sp>
        <p:nvSpPr>
          <p:cNvPr id="70" name="正方形/長方形 69">
            <a:extLst>
              <a:ext uri="{FF2B5EF4-FFF2-40B4-BE49-F238E27FC236}">
                <a16:creationId xmlns:a16="http://schemas.microsoft.com/office/drawing/2014/main" id="{4F35ECFF-76E2-1684-79A2-B91FDAC2A015}"/>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5-10</a:t>
            </a:r>
            <a:r>
              <a:rPr kumimoji="1" lang="ja-JP" altLang="en-US" sz="1000" dirty="0">
                <a:solidFill>
                  <a:schemeClr val="tx1"/>
                </a:solidFill>
                <a:latin typeface="メイリオ" panose="020B0604030504040204" pitchFamily="50" charset="-128"/>
                <a:ea typeface="メイリオ" panose="020B0604030504040204" pitchFamily="50" charset="-128"/>
              </a:rPr>
              <a:t>本程度</a:t>
            </a:r>
          </a:p>
        </p:txBody>
      </p:sp>
      <p:sp>
        <p:nvSpPr>
          <p:cNvPr id="80" name="正方形/長方形 79">
            <a:extLst>
              <a:ext uri="{FF2B5EF4-FFF2-40B4-BE49-F238E27FC236}">
                <a16:creationId xmlns:a16="http://schemas.microsoft.com/office/drawing/2014/main" id="{4D93C7A0-5D0C-D57D-DA97-71D42D2D5517}"/>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6F215F53-D8D8-2192-C7D6-49E3B32E635B}"/>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開封率</a:t>
            </a:r>
          </a:p>
        </p:txBody>
      </p:sp>
      <p:sp>
        <p:nvSpPr>
          <p:cNvPr id="84" name="正方形/長方形 83">
            <a:extLst>
              <a:ext uri="{FF2B5EF4-FFF2-40B4-BE49-F238E27FC236}">
                <a16:creationId xmlns:a16="http://schemas.microsoft.com/office/drawing/2014/main" id="{F86385E5-9ACB-BD7D-FFF1-9DCAFEF8B9DE}"/>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流入</a:t>
            </a: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CV</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302B5E53-DD1F-7344-CD05-98B03E0E16A4}"/>
              </a:ext>
            </a:extLst>
          </p:cNvPr>
          <p:cNvPicPr>
            <a:picLocks noChangeAspect="1"/>
          </p:cNvPicPr>
          <p:nvPr/>
        </p:nvPicPr>
        <p:blipFill>
          <a:blip r:embed="rId3"/>
          <a:stretch>
            <a:fillRect/>
          </a:stretch>
        </p:blipFill>
        <p:spPr>
          <a:xfrm>
            <a:off x="4313434" y="6065356"/>
            <a:ext cx="913375" cy="353208"/>
          </a:xfrm>
          <a:prstGeom prst="rect">
            <a:avLst/>
          </a:prstGeom>
        </p:spPr>
      </p:pic>
      <p:sp>
        <p:nvSpPr>
          <p:cNvPr id="12" name="正方形/長方形 11">
            <a:extLst>
              <a:ext uri="{FF2B5EF4-FFF2-40B4-BE49-F238E27FC236}">
                <a16:creationId xmlns:a16="http://schemas.microsoft.com/office/drawing/2014/main" id="{70CAF89E-948C-8174-50B7-652B3FB76359}"/>
              </a:ext>
            </a:extLst>
          </p:cNvPr>
          <p:cNvSpPr/>
          <p:nvPr/>
        </p:nvSpPr>
        <p:spPr>
          <a:xfrm>
            <a:off x="37997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挨拶メッセ</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45597D5C-32BC-9BDB-E27E-1B11A18AC67F}"/>
              </a:ext>
            </a:extLst>
          </p:cNvPr>
          <p:cNvSpPr/>
          <p:nvPr/>
        </p:nvSpPr>
        <p:spPr>
          <a:xfrm>
            <a:off x="162912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18" name="正方形/長方形 17">
            <a:extLst>
              <a:ext uri="{FF2B5EF4-FFF2-40B4-BE49-F238E27FC236}">
                <a16:creationId xmlns:a16="http://schemas.microsoft.com/office/drawing/2014/main" id="{090DF4E7-D151-CBC4-8EE6-8BDDE6D781F4}"/>
              </a:ext>
            </a:extLst>
          </p:cNvPr>
          <p:cNvSpPr/>
          <p:nvPr/>
        </p:nvSpPr>
        <p:spPr>
          <a:xfrm>
            <a:off x="37997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BF367B4C-D17E-5506-831E-4FEBA9B6D301}"/>
              </a:ext>
            </a:extLst>
          </p:cNvPr>
          <p:cNvSpPr/>
          <p:nvPr/>
        </p:nvSpPr>
        <p:spPr>
          <a:xfrm>
            <a:off x="162912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E7327D35-78D9-E895-4E23-A03DB4CE4A0C}"/>
              </a:ext>
            </a:extLst>
          </p:cNvPr>
          <p:cNvSpPr/>
          <p:nvPr/>
        </p:nvSpPr>
        <p:spPr>
          <a:xfrm>
            <a:off x="37997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a:t>
            </a:r>
          </a:p>
        </p:txBody>
      </p:sp>
      <p:sp>
        <p:nvSpPr>
          <p:cNvPr id="30" name="正方形/長方形 29">
            <a:extLst>
              <a:ext uri="{FF2B5EF4-FFF2-40B4-BE49-F238E27FC236}">
                <a16:creationId xmlns:a16="http://schemas.microsoft.com/office/drawing/2014/main" id="{A410D671-A6B2-5AE8-F4DD-54B5BBF27257}"/>
              </a:ext>
            </a:extLst>
          </p:cNvPr>
          <p:cNvSpPr/>
          <p:nvPr/>
        </p:nvSpPr>
        <p:spPr>
          <a:xfrm>
            <a:off x="162912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構築</a:t>
            </a:r>
            <a:r>
              <a:rPr kumimoji="1" lang="en-US" altLang="ja-JP" sz="1000" dirty="0">
                <a:solidFill>
                  <a:schemeClr val="tx1"/>
                </a:solidFill>
                <a:latin typeface="メイリオ" panose="020B0604030504040204" pitchFamily="50" charset="-128"/>
                <a:ea typeface="メイリオ" panose="020B0604030504040204" pitchFamily="50" charset="-128"/>
              </a:rPr>
              <a:t>×10</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9B0CC343-76BC-C31F-6705-9435FB623B52}"/>
              </a:ext>
            </a:extLst>
          </p:cNvPr>
          <p:cNvSpPr/>
          <p:nvPr/>
        </p:nvSpPr>
        <p:spPr>
          <a:xfrm>
            <a:off x="37997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ツール契約</a:t>
            </a:r>
          </a:p>
        </p:txBody>
      </p:sp>
      <p:sp>
        <p:nvSpPr>
          <p:cNvPr id="38" name="正方形/長方形 37">
            <a:extLst>
              <a:ext uri="{FF2B5EF4-FFF2-40B4-BE49-F238E27FC236}">
                <a16:creationId xmlns:a16="http://schemas.microsoft.com/office/drawing/2014/main" id="{49ED896C-A686-A829-DAA8-B1457276C2D4}"/>
              </a:ext>
            </a:extLst>
          </p:cNvPr>
          <p:cNvSpPr/>
          <p:nvPr/>
        </p:nvSpPr>
        <p:spPr>
          <a:xfrm>
            <a:off x="162912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代行</a:t>
            </a:r>
          </a:p>
        </p:txBody>
      </p:sp>
      <p:sp>
        <p:nvSpPr>
          <p:cNvPr id="42" name="正方形/長方形 41">
            <a:extLst>
              <a:ext uri="{FF2B5EF4-FFF2-40B4-BE49-F238E27FC236}">
                <a16:creationId xmlns:a16="http://schemas.microsoft.com/office/drawing/2014/main" id="{C65954D2-6D54-912C-BFAD-8EED93525578}"/>
              </a:ext>
            </a:extLst>
          </p:cNvPr>
          <p:cNvSpPr/>
          <p:nvPr/>
        </p:nvSpPr>
        <p:spPr>
          <a:xfrm>
            <a:off x="379976" y="5185247"/>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47" name="正方形/長方形 46">
            <a:extLst>
              <a:ext uri="{FF2B5EF4-FFF2-40B4-BE49-F238E27FC236}">
                <a16:creationId xmlns:a16="http://schemas.microsoft.com/office/drawing/2014/main" id="{2038AF25-F542-6F19-F289-5B1A91D9EA78}"/>
              </a:ext>
            </a:extLst>
          </p:cNvPr>
          <p:cNvSpPr/>
          <p:nvPr/>
        </p:nvSpPr>
        <p:spPr>
          <a:xfrm>
            <a:off x="162912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11" name="テキスト ボックス 10">
            <a:extLst>
              <a:ext uri="{FF2B5EF4-FFF2-40B4-BE49-F238E27FC236}">
                <a16:creationId xmlns:a16="http://schemas.microsoft.com/office/drawing/2014/main" id="{2241A890-8CD9-48E8-BAC6-6130718F79E3}"/>
              </a:ext>
            </a:extLst>
          </p:cNvPr>
          <p:cNvSpPr txBox="1"/>
          <p:nvPr/>
        </p:nvSpPr>
        <p:spPr>
          <a:xfrm>
            <a:off x="8194767" y="2323720"/>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約1,100人</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CA402BB-70E0-1712-5155-FB13E1EFE697}"/>
              </a:ext>
            </a:extLst>
          </p:cNvPr>
          <p:cNvSpPr txBox="1"/>
          <p:nvPr/>
        </p:nvSpPr>
        <p:spPr>
          <a:xfrm>
            <a:off x="8194767" y="2750357"/>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78%</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F1C71F01-1D77-2899-A43D-B86BFA13E86D}"/>
              </a:ext>
            </a:extLst>
          </p:cNvPr>
          <p:cNvSpPr txBox="1"/>
          <p:nvPr/>
        </p:nvSpPr>
        <p:spPr>
          <a:xfrm>
            <a:off x="8175536" y="3152001"/>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約620件/月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194767" y="3561556"/>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12〜13件/月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62E19C90-7458-8C36-243E-9FE1F44520EC}"/>
              </a:ext>
            </a:extLst>
          </p:cNvPr>
          <p:cNvSpPr txBox="1"/>
          <p:nvPr/>
        </p:nvSpPr>
        <p:spPr>
          <a:xfrm>
            <a:off x="8130449" y="3866031"/>
            <a:ext cx="1414960" cy="276999"/>
          </a:xfrm>
          <a:prstGeom prst="rect">
            <a:avLst/>
          </a:prstGeom>
          <a:noFill/>
        </p:spPr>
        <p:txBody>
          <a:bodyPr wrap="square">
            <a:spAutoFit/>
          </a:bodyPr>
          <a:lstStyle/>
          <a:p>
            <a:pPr algn="ctr"/>
            <a:r>
              <a:rPr lang="ja-JP" altLang="en-US" sz="1200" b="1" dirty="0">
                <a:latin typeface="メイリオ" panose="020B0604030504040204" pitchFamily="50" charset="-128"/>
                <a:ea typeface="メイリオ" panose="020B0604030504040204" pitchFamily="50" charset="-128"/>
              </a:rPr>
              <a:t>（CVR：約2%／半年累計44件）</a:t>
            </a:r>
            <a:endParaRPr kumimoji="1" lang="ja-JP" altLang="en-US" sz="1200" b="1" dirty="0">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49DD51C1-FCAA-0EB3-1ED3-B50C2E0837D1}"/>
              </a:ext>
            </a:extLst>
          </p:cNvPr>
          <p:cNvSpPr/>
          <p:nvPr/>
        </p:nvSpPr>
        <p:spPr>
          <a:xfrm>
            <a:off x="3408319" y="5611884"/>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36" name="正方形/長方形 35">
            <a:extLst>
              <a:ext uri="{FF2B5EF4-FFF2-40B4-BE49-F238E27FC236}">
                <a16:creationId xmlns:a16="http://schemas.microsoft.com/office/drawing/2014/main" id="{4742D744-393C-4F54-8842-2CCE1D93DD5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4410000"/>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CPA</a:t>
            </a: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082000" y="4446000"/>
            <a:ext cx="1710000" cy="276999"/>
          </a:xfrm>
          <a:prstGeom prst="rect">
            <a:avLst/>
          </a:prstGeom>
          <a:noFill/>
        </p:spPr>
        <p:txBody>
          <a:bodyPr wrap="square">
            <a:spAutoFit/>
          </a:bodyPr>
          <a:lstStyle/>
          <a:p>
            <a:pPr algn="ctr"/>
            <a:r>
              <a:rPr lang="en-US" altLang="ja-JP" sz="1100" b="1" dirty="0">
                <a:solidFill>
                  <a:srgbClr val="1F285A"/>
                </a:solidFill>
                <a:latin typeface="メイリオ" panose="020B0604030504040204" pitchFamily="50" charset="-128"/>
                <a:ea typeface="メイリオ" panose="020B0604030504040204" pitchFamily="50" charset="-128"/>
              </a:rPr>
              <a:t>5,077〜5,333円</a:t>
            </a: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4834800"/>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CPO</a:t>
            </a: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082000" y="4870800"/>
            <a:ext cx="1710000" cy="276999"/>
          </a:xfrm>
          <a:prstGeom prst="rect">
            <a:avLst/>
          </a:prstGeom>
          <a:noFill/>
        </p:spPr>
        <p:txBody>
          <a:bodyPr wrap="square">
            <a:spAutoFit/>
          </a:bodyPr>
          <a:lstStyle/>
          <a:p>
            <a:pPr algn="ctr"/>
            <a:r>
              <a:rPr lang="en-US" altLang="ja-JP" sz="1100" b="1" dirty="0">
                <a:solidFill>
                  <a:srgbClr val="1F285A"/>
                </a:solidFill>
                <a:latin typeface="メイリオ" panose="020B0604030504040204" pitchFamily="50" charset="-128"/>
                <a:ea typeface="メイリオ" panose="020B0604030504040204" pitchFamily="50" charset="-128"/>
              </a:rPr>
              <a:t>23,200〜38,000円</a:t>
            </a:r>
          </a:p>
        </p:txBody>
      </p:sp>
      <p:sp>
        <p:nvSpPr>
          <p:cNvPr id="87" name="TextBox 86"/>
          <p:cNvSpPr txBox="1"/>
          <p:nvPr/>
        </p:nvSpPr>
        <p:spPr>
          <a:xfrm>
            <a:off x="6840000" y="5292000"/>
            <a:ext cx="2880000" cy="216000"/>
          </a:xfrm>
          <a:prstGeom prst="rect">
            <a:avLst/>
          </a:prstGeom>
          <a:noFill/>
        </p:spPr>
        <p:txBody>
          <a:bodyPr wrap="square" lIns="0" rIns="0" tIns="21600" bIns="21600" anchor="t">
            <a:spAutoFit/>
          </a:bodyPr>
          <a:lstStyle/>
          <a:p>
            <a:pPr algn="l"/>
            <a:r>
              <a:rPr sz="900">
                <a:solidFill>
                  <a:srgbClr val="7F7F7F"/>
                </a:solidFill>
                <a:latin typeface="メイリオ"/>
                <a:ea typeface="メイリオ"/>
                <a:cs typeface="メイリオ"/>
              </a:rPr>
              <a:t>※6か月目の1か月分。月ごとの推移は次ページ</a:t>
            </a:r>
          </a:p>
        </p:txBody>
      </p:sp>
    </p:spTree>
    <p:extLst>
      <p:ext uri="{BB962C8B-B14F-4D97-AF65-F5344CB8AC3E}">
        <p14:creationId xmlns:p14="http://schemas.microsoft.com/office/powerpoint/2010/main" val="2658526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A82F-6F2C-17B3-F79B-7B5B5CE9686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CFE6082-7D98-8143-1FF3-237252E680EE}"/>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954AB23-5BD2-D3D6-314F-6A94411406D6}"/>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施策の詳細（既存の効率化）</a:t>
            </a:r>
          </a:p>
        </p:txBody>
      </p:sp>
    </p:spTree>
    <p:extLst>
      <p:ext uri="{BB962C8B-B14F-4D97-AF65-F5344CB8AC3E}">
        <p14:creationId xmlns:p14="http://schemas.microsoft.com/office/powerpoint/2010/main" val="172401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実施施策【忍者ナイン】</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（未予約者には再アプローチ、体験予約完了者は別シナリオへ分岐）</a:t>
            </a:r>
            <a:endParaRPr kumimoji="1" lang="en-US" sz="14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extLst>
              <p:ext uri="{D42A27DB-BD31-4B8C-83A1-F6EECF244321}">
                <p14:modId xmlns:p14="http://schemas.microsoft.com/office/powerpoint/2010/main" val="849747981"/>
              </p:ext>
            </p:extLst>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dirty="0" err="1">
                          <a:solidFill>
                            <a:srgbClr val="333333"/>
                          </a:solidFill>
                          <a:latin typeface="Meiryo"/>
                          <a:ea typeface="メイリオ"/>
                          <a:cs typeface="Meiryo"/>
                        </a:rPr>
                        <a:t>全員</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あいさつ＋30秒スポーツ適性診断への案内</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dirty="0" err="1">
                          <a:solidFill>
                            <a:srgbClr val="333333"/>
                          </a:solidFill>
                          <a:latin typeface="Meiryo"/>
                          <a:ea typeface="メイリオ"/>
                          <a:cs typeface="Meiryo"/>
                        </a:rPr>
                        <a:t>診断未回答者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診断リマインド</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診断回答者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診断結果配信＋タイプ別おすすめ種目紹介</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4日後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同タイプの在籍生の声・成長エピソード</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体験予約への案内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9日後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a:solidFill>
                            <a:srgbClr val="333333"/>
                          </a:solidFill>
                          <a:latin typeface="Meiryo"/>
                          <a:ea typeface="メイリオ"/>
                          <a:cs typeface="Meiryo"/>
                        </a:rPr>
                        <a:t>「</a:t>
                      </a:r>
                      <a:r>
                        <a:rPr sz="1400" b="0" dirty="0" err="1">
                          <a:solidFill>
                            <a:srgbClr val="333333"/>
                          </a:solidFill>
                          <a:latin typeface="Meiryo"/>
                          <a:ea typeface="メイリオ"/>
                          <a:cs typeface="Meiryo"/>
                        </a:rPr>
                        <a:t>非認知能力」訴求コンテンツ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保護者の疑問Q&amp;A（月謝・送迎・振替等</a:t>
                      </a:r>
                      <a:r>
                        <a:rPr sz="1400" b="0" dirty="0">
                          <a:solidFill>
                            <a:srgbClr val="333333"/>
                          </a:solidFill>
                          <a:latin typeface="Meiryo"/>
                          <a:ea typeface="メイリオ"/>
                          <a:cs typeface="Meiryo"/>
                        </a:rPr>
                        <a:t>）</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体験予約の最終案内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677108"/>
          </a:xfrm>
          <a:prstGeom prst="rect">
            <a:avLst/>
          </a:prstGeom>
          <a:noFill/>
        </p:spPr>
        <p:txBody>
          <a:bodyPr wrap="square">
            <a:spAutoFit/>
          </a:bodyPr>
          <a:lstStyle/>
          <a:p>
            <a:r>
              <a:rPr sz="1400" b="1" dirty="0">
                <a:solidFill>
                  <a:srgbClr val="BF4E0E"/>
                </a:solidFill>
                <a:latin typeface="Meiryo"/>
                <a:ea typeface="メイリオ"/>
                <a:cs typeface="Meiryo"/>
              </a:rPr>
              <a:t>体験予約44件（6ヶ月累計）× 入会引き上げ率40% ＝ 入会17件として算出</a:t>
            </a:r>
          </a:p>
          <a:p>
            <a:r>
              <a:rPr sz="1200" b="1" dirty="0" err="1">
                <a:solidFill>
                  <a:srgbClr val="BF4E0E"/>
                </a:solidFill>
                <a:latin typeface="Meiryo"/>
                <a:ea typeface="メイリオ"/>
                <a:cs typeface="Meiryo"/>
              </a:rPr>
              <a:t>予約で止めず、入会までLINEで追いきります</a:t>
            </a:r>
            <a:endParaRPr lang="en-US" sz="1200" b="1" dirty="0">
              <a:solidFill>
                <a:srgbClr val="BF4E0E"/>
              </a:solidFill>
              <a:latin typeface="Meiryo"/>
              <a:ea typeface="メイリオ"/>
              <a:cs typeface="Meiryo"/>
            </a:endParaRPr>
          </a:p>
          <a:p>
            <a:r>
              <a:rPr sz="1200" b="1" dirty="0">
                <a:solidFill>
                  <a:srgbClr val="BF4E0E"/>
                </a:solidFill>
                <a:latin typeface="Meiryo"/>
                <a:ea typeface="メイリオ"/>
                <a:cs typeface="Meiryo"/>
              </a:rPr>
              <a:t>（</a:t>
            </a:r>
            <a:r>
              <a:rPr sz="1200" b="1" dirty="0" err="1">
                <a:solidFill>
                  <a:srgbClr val="BF4E0E"/>
                </a:solidFill>
                <a:latin typeface="Meiryo"/>
                <a:ea typeface="メイリオ"/>
                <a:cs typeface="Meiryo"/>
              </a:rPr>
              <a:t>体験前リマインド→当日案内→体験後フォロ</a:t>
            </a:r>
            <a:r>
              <a:rPr sz="1200" b="1" dirty="0">
                <a:solidFill>
                  <a:srgbClr val="BF4E0E"/>
                </a:solidFill>
                <a:latin typeface="Meiryo"/>
                <a:ea typeface="メイリオ"/>
                <a:cs typeface="Meiryo"/>
              </a:rPr>
              <a:t>ー→</a:t>
            </a:r>
            <a:r>
              <a:rPr sz="1200" b="1" dirty="0" err="1">
                <a:solidFill>
                  <a:srgbClr val="BF4E0E"/>
                </a:solidFill>
                <a:latin typeface="Meiryo"/>
                <a:ea typeface="メイリオ"/>
                <a:cs typeface="Meiryo"/>
              </a:rPr>
              <a:t>入会のご案内を別シナリオで配信</a:t>
            </a:r>
            <a:r>
              <a:rPr sz="1200" b="1" dirty="0">
                <a:solidFill>
                  <a:srgbClr val="BF4E0E"/>
                </a:solidFill>
                <a:latin typeface="Meiryo"/>
                <a:ea typeface="メイリオ"/>
                <a:cs typeface="Meiryo"/>
              </a:rPr>
              <a:t>）</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出典：Googleトレンド「習い事」／前後検索KW「習い事」／競合調査(biima sports)</a:t>
            </a:r>
          </a:p>
        </p:txBody>
      </p:sp>
    </p:spTree>
    <p:extLst>
      <p:ext uri="{BB962C8B-B14F-4D97-AF65-F5344CB8AC3E}">
        <p14:creationId xmlns:p14="http://schemas.microsoft.com/office/powerpoint/2010/main" val="1451945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実施施策【チャイルドアイズ】</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（未予約者には再アプローチ、体験予約完了者は別シナリオへ分岐）</a:t>
            </a:r>
            <a:endParaRPr kumimoji="1" lang="en-US" sz="14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extLst>
              <p:ext uri="{D42A27DB-BD31-4B8C-83A1-F6EECF244321}">
                <p14:modId xmlns:p14="http://schemas.microsoft.com/office/powerpoint/2010/main" val="239461261"/>
              </p:ext>
            </p:extLst>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a:solidFill>
                            <a:srgbClr val="333333"/>
                          </a:solidFill>
                          <a:latin typeface="Meiryo"/>
                          <a:ea typeface="メイリオ"/>
                          <a:cs typeface="Meiryo"/>
                        </a:rPr>
                        <a:t>全員</a:t>
                      </a:r>
                    </a:p>
                  </a:txBody>
                  <a:tcPr>
                    <a:solidFill>
                      <a:srgbClr val="FFFFFF"/>
                    </a:solidFill>
                  </a:tcPr>
                </a:tc>
                <a:tc>
                  <a:txBody>
                    <a:bodyPr/>
                    <a:lstStyle/>
                    <a:p>
                      <a:r>
                        <a:rPr sz="1400" b="0">
                          <a:solidFill>
                            <a:srgbClr val="333333"/>
                          </a:solidFill>
                          <a:latin typeface="Meiryo"/>
                          <a:ea typeface="メイリオ"/>
                          <a:cs typeface="Meiryo"/>
                        </a:rPr>
                        <a:t>あいさつ＋知育タイプ診断（3問）への案内</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a:solidFill>
                            <a:srgbClr val="333333"/>
                          </a:solidFill>
                          <a:latin typeface="Meiryo"/>
                          <a:ea typeface="メイリオ"/>
                          <a:cs typeface="Meiryo"/>
                        </a:rPr>
                        <a:t>診断未回答者</a:t>
                      </a:r>
                    </a:p>
                  </a:txBody>
                  <a:tcPr>
                    <a:solidFill>
                      <a:srgbClr val="FFFFFF"/>
                    </a:solidFill>
                  </a:tcPr>
                </a:tc>
                <a:tc>
                  <a:txBody>
                    <a:bodyPr/>
                    <a:lstStyle/>
                    <a:p>
                      <a:r>
                        <a:rPr sz="1400" b="0">
                          <a:solidFill>
                            <a:srgbClr val="333333"/>
                          </a:solidFill>
                          <a:latin typeface="Meiryo"/>
                          <a:ea typeface="メイリオ"/>
                          <a:cs typeface="Meiryo"/>
                        </a:rPr>
                        <a:t>診断リマインド</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診断回答者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診断結果配信＋タイプ別学習アプローチ紹介</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4日後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同タイプの卒業生・在籍生の声</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体験予約への案内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dirty="0">
                          <a:solidFill>
                            <a:srgbClr val="333333"/>
                          </a:solidFill>
                          <a:latin typeface="Meiryo"/>
                          <a:ea typeface="メイリオ"/>
                          <a:cs typeface="Meiryo"/>
                        </a:rPr>
                        <a:t>9日後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a:solidFill>
                            <a:srgbClr val="333333"/>
                          </a:solidFill>
                          <a:latin typeface="Meiryo"/>
                          <a:ea typeface="メイリオ"/>
                          <a:cs typeface="Meiryo"/>
                        </a:rPr>
                        <a:t>「知育→受験」の2段階設計を訴求</a:t>
                      </a: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保護者の疑問Q&amp;A（費用・年齢・通塾頻度等</a:t>
                      </a:r>
                      <a:r>
                        <a:rPr sz="1400" b="0" dirty="0">
                          <a:solidFill>
                            <a:srgbClr val="333333"/>
                          </a:solidFill>
                          <a:latin typeface="Meiryo"/>
                          <a:ea typeface="メイリオ"/>
                          <a:cs typeface="Meiryo"/>
                        </a:rPr>
                        <a:t>）</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体験予約の最終案内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738664"/>
          </a:xfrm>
          <a:prstGeom prst="rect">
            <a:avLst/>
          </a:prstGeom>
          <a:noFill/>
        </p:spPr>
        <p:txBody>
          <a:bodyPr wrap="square">
            <a:spAutoFit/>
          </a:bodyPr>
          <a:lstStyle/>
          <a:p>
            <a:r>
              <a:rPr sz="1400" b="1" dirty="0">
                <a:solidFill>
                  <a:srgbClr val="BF4E0E"/>
                </a:solidFill>
                <a:latin typeface="Meiryo"/>
                <a:ea typeface="メイリオ"/>
                <a:cs typeface="Meiryo"/>
              </a:rPr>
              <a:t>体験予約44件（6ヶ月累計）× 入会引き上げ率25% ＝ 入会11件として算出</a:t>
            </a:r>
          </a:p>
          <a:p>
            <a:r>
              <a:rPr sz="1400" b="1" dirty="0" err="1">
                <a:solidFill>
                  <a:srgbClr val="BF4E0E"/>
                </a:solidFill>
                <a:latin typeface="Meiryo"/>
                <a:ea typeface="メイリオ"/>
                <a:cs typeface="Meiryo"/>
              </a:rPr>
              <a:t>予約で止めず、入会までLINEで追いきります</a:t>
            </a:r>
            <a:endParaRPr lang="en-US" sz="1400" b="1" dirty="0">
              <a:solidFill>
                <a:srgbClr val="BF4E0E"/>
              </a:solidFill>
              <a:latin typeface="Meiryo"/>
              <a:ea typeface="メイリオ"/>
              <a:cs typeface="Meiryo"/>
            </a:endParaRPr>
          </a:p>
          <a:p>
            <a:r>
              <a:rPr sz="1400" b="1" dirty="0">
                <a:solidFill>
                  <a:srgbClr val="BF4E0E"/>
                </a:solidFill>
                <a:latin typeface="Meiryo"/>
                <a:ea typeface="メイリオ"/>
                <a:cs typeface="Meiryo"/>
              </a:rPr>
              <a:t>（</a:t>
            </a:r>
            <a:r>
              <a:rPr sz="1400" b="1" dirty="0" err="1">
                <a:solidFill>
                  <a:srgbClr val="BF4E0E"/>
                </a:solidFill>
                <a:latin typeface="Meiryo"/>
                <a:ea typeface="メイリオ"/>
                <a:cs typeface="Meiryo"/>
              </a:rPr>
              <a:t>体験前リマインド→当日案内→体験後フォロ</a:t>
            </a:r>
            <a:r>
              <a:rPr sz="1400" b="1" dirty="0">
                <a:solidFill>
                  <a:srgbClr val="BF4E0E"/>
                </a:solidFill>
                <a:latin typeface="Meiryo"/>
                <a:ea typeface="メイリオ"/>
                <a:cs typeface="Meiryo"/>
              </a:rPr>
              <a:t>ー→</a:t>
            </a:r>
            <a:r>
              <a:rPr sz="1400" b="1" dirty="0" err="1">
                <a:solidFill>
                  <a:srgbClr val="BF4E0E"/>
                </a:solidFill>
                <a:latin typeface="Meiryo"/>
                <a:ea typeface="メイリオ"/>
                <a:cs typeface="Meiryo"/>
              </a:rPr>
              <a:t>入会のご案内を別シナリオで配信</a:t>
            </a:r>
            <a:r>
              <a:rPr sz="1400" b="1" dirty="0">
                <a:solidFill>
                  <a:srgbClr val="BF4E0E"/>
                </a:solidFill>
                <a:latin typeface="Meiryo"/>
                <a:ea typeface="メイリオ"/>
                <a:cs typeface="Meiryo"/>
              </a:rPr>
              <a:t>）</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出典：Googleトレンド「受験」／前後検索KW「幼児教室」／競合調査(理英会／どんちゃか)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2631F-440C-AF04-0C69-2C8669EB804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想定企画【忍者ナイン】</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年間を通じて、新規獲得・友だち増加・満足度向上を狙う企画投稿を月別に配置する</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87126696"/>
              </p:ext>
            </p:extLst>
          </p:nvPr>
        </p:nvGraphicFramePr>
        <p:xfrm>
          <a:off x="457200" y="1371600"/>
          <a:ext cx="8988551" cy="4114800"/>
        </p:xfrm>
        <a:graphic>
          <a:graphicData uri="http://schemas.openxmlformats.org/drawingml/2006/table">
            <a:tbl>
              <a:tblPr firstRow="1" bandRow="1">
                <a:tableStyleId>{5C22544A-7EE6-4342-B048-85BDC9FD1C3A}</a:tableStyleId>
              </a:tblPr>
              <a:tblGrid>
                <a:gridCol w="1438168">
                  <a:extLst>
                    <a:ext uri="{9D8B030D-6E8A-4147-A177-3AD203B41FA5}">
                      <a16:colId xmlns:a16="http://schemas.microsoft.com/office/drawing/2014/main" val="20000"/>
                    </a:ext>
                  </a:extLst>
                </a:gridCol>
                <a:gridCol w="2696565">
                  <a:extLst>
                    <a:ext uri="{9D8B030D-6E8A-4147-A177-3AD203B41FA5}">
                      <a16:colId xmlns:a16="http://schemas.microsoft.com/office/drawing/2014/main" val="20001"/>
                    </a:ext>
                  </a:extLst>
                </a:gridCol>
                <a:gridCol w="4853818">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1-3月</a:t>
                      </a:r>
                    </a:p>
                  </a:txBody>
                  <a:tcPr>
                    <a:solidFill>
                      <a:srgbClr val="FFFFFF"/>
                    </a:solidFill>
                  </a:tcPr>
                </a:tc>
                <a:tc>
                  <a:txBody>
                    <a:bodyPr/>
                    <a:lstStyle/>
                    <a:p>
                      <a:r>
                        <a:rPr sz="1400" b="0">
                          <a:solidFill>
                            <a:srgbClr val="333333"/>
                          </a:solidFill>
                          <a:latin typeface="Meiryo"/>
                          <a:ea typeface="メイリオ"/>
                          <a:cs typeface="Meiryo"/>
                        </a:rPr>
                        <a:t>新学年スタート訴求</a:t>
                      </a:r>
                    </a:p>
                  </a:txBody>
                  <a:tcPr>
                    <a:solidFill>
                      <a:srgbClr val="FFFFFF"/>
                    </a:solidFill>
                  </a:tcPr>
                </a:tc>
                <a:tc>
                  <a:txBody>
                    <a:bodyPr/>
                    <a:lstStyle/>
                    <a:p>
                      <a:r>
                        <a:rPr sz="1400" b="0">
                          <a:solidFill>
                            <a:srgbClr val="333333"/>
                          </a:solidFill>
                          <a:latin typeface="Meiryo"/>
                          <a:ea typeface="メイリオ"/>
                          <a:cs typeface="Meiryo"/>
                        </a:rPr>
                        <a:t>新学年に合わせた習い事検討層への訴求</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1-3月</a:t>
                      </a:r>
                    </a:p>
                  </a:txBody>
                  <a:tcPr>
                    <a:solidFill>
                      <a:srgbClr val="FFFFFF"/>
                    </a:solidFill>
                  </a:tcPr>
                </a:tc>
                <a:tc>
                  <a:txBody>
                    <a:bodyPr/>
                    <a:lstStyle/>
                    <a:p>
                      <a:r>
                        <a:rPr sz="1400" b="0">
                          <a:solidFill>
                            <a:srgbClr val="333333"/>
                          </a:solidFill>
                          <a:latin typeface="Meiryo"/>
                          <a:ea typeface="メイリオ"/>
                          <a:cs typeface="Meiryo"/>
                        </a:rPr>
                        <a:t>入会金半額キャンペーン</a:t>
                      </a:r>
                    </a:p>
                  </a:txBody>
                  <a:tcPr>
                    <a:solidFill>
                      <a:srgbClr val="FFFFFF"/>
                    </a:solidFill>
                  </a:tcPr>
                </a:tc>
                <a:tc>
                  <a:txBody>
                    <a:bodyPr/>
                    <a:lstStyle/>
                    <a:p>
                      <a:r>
                        <a:rPr sz="140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4-5月</a:t>
                      </a:r>
                    </a:p>
                  </a:txBody>
                  <a:tcPr>
                    <a:solidFill>
                      <a:srgbClr val="FFFFFF"/>
                    </a:solidFill>
                  </a:tcPr>
                </a:tc>
                <a:tc>
                  <a:txBody>
                    <a:bodyPr/>
                    <a:lstStyle/>
                    <a:p>
                      <a:r>
                        <a:rPr sz="1400" b="0">
                          <a:solidFill>
                            <a:srgbClr val="333333"/>
                          </a:solidFill>
                          <a:latin typeface="Meiryo"/>
                          <a:ea typeface="メイリオ"/>
                          <a:cs typeface="Meiryo"/>
                        </a:rPr>
                        <a:t>お友だち紹介キャンペーン強化</a:t>
                      </a:r>
                    </a:p>
                  </a:txBody>
                  <a:tcPr>
                    <a:solidFill>
                      <a:srgbClr val="FFFFFF"/>
                    </a:solidFill>
                  </a:tcPr>
                </a:tc>
                <a:tc>
                  <a:txBody>
                    <a:bodyPr/>
                    <a:lstStyle/>
                    <a:p>
                      <a:r>
                        <a:rPr sz="1400" b="0">
                          <a:solidFill>
                            <a:srgbClr val="333333"/>
                          </a:solidFill>
                          <a:latin typeface="Meiryo"/>
                          <a:ea typeface="メイリオ"/>
                          <a:cs typeface="Meiryo"/>
                        </a:rPr>
                        <a:t>在籍生からの紹介を促進</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6月</a:t>
                      </a:r>
                    </a:p>
                  </a:txBody>
                  <a:tcPr>
                    <a:solidFill>
                      <a:srgbClr val="FFFFFF"/>
                    </a:solidFill>
                  </a:tcPr>
                </a:tc>
                <a:tc>
                  <a:txBody>
                    <a:bodyPr/>
                    <a:lstStyle/>
                    <a:p>
                      <a:r>
                        <a:rPr sz="1400" b="0" dirty="0" err="1">
                          <a:solidFill>
                            <a:srgbClr val="333333"/>
                          </a:solidFill>
                          <a:latin typeface="Meiryo"/>
                          <a:ea typeface="メイリオ"/>
                          <a:cs typeface="Meiryo"/>
                        </a:rPr>
                        <a:t>LINEリサーチでニーズ収集</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簡易アンケートで次の企画のネタを収集</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a:solidFill>
                            <a:srgbClr val="333333"/>
                          </a:solidFill>
                          <a:latin typeface="Meiryo"/>
                          <a:ea typeface="メイリオ"/>
                          <a:cs typeface="Meiryo"/>
                        </a:rPr>
                        <a:t>複合種目デー投稿</a:t>
                      </a:r>
                    </a:p>
                  </a:txBody>
                  <a:tcPr>
                    <a:solidFill>
                      <a:srgbClr val="FFFFFF"/>
                    </a:solidFill>
                  </a:tcPr>
                </a:tc>
                <a:tc>
                  <a:txBody>
                    <a:bodyPr/>
                    <a:lstStyle/>
                    <a:p>
                      <a:r>
                        <a:rPr sz="1400" b="0">
                          <a:solidFill>
                            <a:srgbClr val="333333"/>
                          </a:solidFill>
                          <a:latin typeface="Meiryo"/>
                          <a:ea typeface="メイリオ"/>
                          <a:cs typeface="Meiryo"/>
                        </a:rPr>
                        <a:t>月替わりで種目を変える強みを可視化</a:t>
                      </a: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8月</a:t>
                      </a:r>
                    </a:p>
                  </a:txBody>
                  <a:tcPr>
                    <a:solidFill>
                      <a:srgbClr val="FFFFFF"/>
                    </a:solidFill>
                  </a:tcPr>
                </a:tc>
                <a:tc>
                  <a:txBody>
                    <a:bodyPr/>
                    <a:lstStyle/>
                    <a:p>
                      <a:r>
                        <a:rPr sz="1400" b="0" dirty="0" err="1">
                          <a:solidFill>
                            <a:srgbClr val="333333"/>
                          </a:solidFill>
                          <a:latin typeface="Meiryo"/>
                          <a:ea typeface="メイリオ"/>
                          <a:cs typeface="Meiryo"/>
                        </a:rPr>
                        <a:t>短期集中イベント＋先着特典</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夏休み短期教室の告知</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9-10月</a:t>
                      </a:r>
                    </a:p>
                  </a:txBody>
                  <a:tcPr>
                    <a:solidFill>
                      <a:srgbClr val="FFFFFF"/>
                    </a:solidFill>
                  </a:tcPr>
                </a:tc>
                <a:tc>
                  <a:txBody>
                    <a:bodyPr/>
                    <a:lstStyle/>
                    <a:p>
                      <a:r>
                        <a:rPr sz="1400" b="0">
                          <a:solidFill>
                            <a:srgbClr val="333333"/>
                          </a:solidFill>
                          <a:latin typeface="Meiryo"/>
                          <a:ea typeface="メイリオ"/>
                          <a:cs typeface="Meiryo"/>
                        </a:rPr>
                        <a:t>運動会シーズン訴求</a:t>
                      </a:r>
                    </a:p>
                  </a:txBody>
                  <a:tcPr>
                    <a:solidFill>
                      <a:srgbClr val="FFFFFF"/>
                    </a:solidFill>
                  </a:tcPr>
                </a:tc>
                <a:tc>
                  <a:txBody>
                    <a:bodyPr/>
                    <a:lstStyle/>
                    <a:p>
                      <a:r>
                        <a:rPr sz="1400" b="0" dirty="0" err="1">
                          <a:solidFill>
                            <a:srgbClr val="333333"/>
                          </a:solidFill>
                          <a:latin typeface="Meiryo"/>
                          <a:ea typeface="メイリオ"/>
                          <a:cs typeface="Meiryo"/>
                        </a:rPr>
                        <a:t>運動会に向けた訴求コンテンツ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9-10月</a:t>
                      </a:r>
                    </a:p>
                  </a:txBody>
                  <a:tcPr>
                    <a:solidFill>
                      <a:srgbClr val="FFFFFF"/>
                    </a:solidFill>
                  </a:tcPr>
                </a:tc>
                <a:tc>
                  <a:txBody>
                    <a:bodyPr/>
                    <a:lstStyle/>
                    <a:p>
                      <a:r>
                        <a:rPr sz="1400" b="0">
                          <a:solidFill>
                            <a:srgbClr val="333333"/>
                          </a:solidFill>
                          <a:latin typeface="Meiryo"/>
                          <a:ea typeface="メイリオ"/>
                          <a:cs typeface="Meiryo"/>
                        </a:rPr>
                        <a:t>運動能力の見える化企画</a:t>
                      </a:r>
                    </a:p>
                  </a:txBody>
                  <a:tcPr>
                    <a:solidFill>
                      <a:srgbClr val="FFFFFF"/>
                    </a:solidFill>
                  </a:tcPr>
                </a:tc>
                <a:tc>
                  <a:txBody>
                    <a:bodyPr/>
                    <a:lstStyle/>
                    <a:p>
                      <a:r>
                        <a:rPr sz="1400" b="0" dirty="0" err="1">
                          <a:solidFill>
                            <a:srgbClr val="333333"/>
                          </a:solidFill>
                          <a:latin typeface="Meiryo"/>
                          <a:ea typeface="メイリオ"/>
                          <a:cs typeface="Meiryo"/>
                        </a:rPr>
                        <a:t>入会時と現在の適性診断結果を比較</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r h="411480">
                <a:tc>
                  <a:txBody>
                    <a:bodyPr/>
                    <a:lstStyle/>
                    <a:p>
                      <a:r>
                        <a:rPr sz="1400" b="0">
                          <a:solidFill>
                            <a:srgbClr val="333333"/>
                          </a:solidFill>
                          <a:latin typeface="Meiryo"/>
                          <a:ea typeface="メイリオ"/>
                          <a:cs typeface="Meiryo"/>
                        </a:rPr>
                        <a:t>11-12月</a:t>
                      </a:r>
                    </a:p>
                  </a:txBody>
                  <a:tcPr>
                    <a:solidFill>
                      <a:srgbClr val="FFFFFF"/>
                    </a:solidFill>
                  </a:tcPr>
                </a:tc>
                <a:tc>
                  <a:txBody>
                    <a:bodyPr/>
                    <a:lstStyle/>
                    <a:p>
                      <a:r>
                        <a:rPr sz="1400" b="0">
                          <a:solidFill>
                            <a:srgbClr val="333333"/>
                          </a:solidFill>
                          <a:latin typeface="Meiryo"/>
                          <a:ea typeface="メイリオ"/>
                          <a:cs typeface="Meiryo"/>
                        </a:rPr>
                        <a:t>短期集中イベント＋先着特典</a:t>
                      </a:r>
                    </a:p>
                  </a:txBody>
                  <a:tcPr>
                    <a:solidFill>
                      <a:srgbClr val="FFFFFF"/>
                    </a:solidFill>
                  </a:tcPr>
                </a:tc>
                <a:tc>
                  <a:txBody>
                    <a:bodyPr/>
                    <a:lstStyle/>
                    <a:p>
                      <a:r>
                        <a:rPr sz="1400" b="0" dirty="0" err="1">
                          <a:solidFill>
                            <a:srgbClr val="333333"/>
                          </a:solidFill>
                          <a:latin typeface="Meiryo"/>
                          <a:ea typeface="メイリオ"/>
                          <a:cs typeface="Meiryo"/>
                        </a:rPr>
                        <a:t>冬休み短期教室の告知</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9"/>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出典：GoogleトレンドKW「習い事」「運動会」／競合調査（biima sports）</a:t>
            </a:r>
          </a:p>
        </p:txBody>
      </p:sp>
    </p:spTree>
    <p:extLst>
      <p:ext uri="{BB962C8B-B14F-4D97-AF65-F5344CB8AC3E}">
        <p14:creationId xmlns:p14="http://schemas.microsoft.com/office/powerpoint/2010/main" val="1269822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想定企画【チャイルドアイズ】</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年間を通じて、新規獲得・友だち増加・満足度向上を狙う企画投稿を月別に配置する</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2733379206"/>
              </p:ext>
            </p:extLst>
          </p:nvPr>
        </p:nvGraphicFramePr>
        <p:xfrm>
          <a:off x="457200" y="1371600"/>
          <a:ext cx="8988551" cy="2987040"/>
        </p:xfrm>
        <a:graphic>
          <a:graphicData uri="http://schemas.openxmlformats.org/drawingml/2006/table">
            <a:tbl>
              <a:tblPr firstRow="1" bandRow="1">
                <a:tableStyleId>{5C22544A-7EE6-4342-B048-85BDC9FD1C3A}</a:tableStyleId>
              </a:tblPr>
              <a:tblGrid>
                <a:gridCol w="1345721">
                  <a:extLst>
                    <a:ext uri="{9D8B030D-6E8A-4147-A177-3AD203B41FA5}">
                      <a16:colId xmlns:a16="http://schemas.microsoft.com/office/drawing/2014/main" val="20000"/>
                    </a:ext>
                  </a:extLst>
                </a:gridCol>
                <a:gridCol w="2898475">
                  <a:extLst>
                    <a:ext uri="{9D8B030D-6E8A-4147-A177-3AD203B41FA5}">
                      <a16:colId xmlns:a16="http://schemas.microsoft.com/office/drawing/2014/main" val="20001"/>
                    </a:ext>
                  </a:extLst>
                </a:gridCol>
                <a:gridCol w="4744355">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1-2月</a:t>
                      </a:r>
                    </a:p>
                  </a:txBody>
                  <a:tcPr>
                    <a:solidFill>
                      <a:srgbClr val="FFFFFF"/>
                    </a:solidFill>
                  </a:tcPr>
                </a:tc>
                <a:tc>
                  <a:txBody>
                    <a:bodyPr/>
                    <a:lstStyle/>
                    <a:p>
                      <a:r>
                        <a:rPr sz="1400" b="0">
                          <a:solidFill>
                            <a:srgbClr val="333333"/>
                          </a:solidFill>
                          <a:latin typeface="Meiryo"/>
                          <a:ea typeface="メイリオ"/>
                          <a:cs typeface="Meiryo"/>
                        </a:rPr>
                        <a:t>合格実績・成長エピソード配信</a:t>
                      </a:r>
                    </a:p>
                  </a:txBody>
                  <a:tcPr>
                    <a:solidFill>
                      <a:srgbClr val="FFFFFF"/>
                    </a:solidFill>
                  </a:tcPr>
                </a:tc>
                <a:tc>
                  <a:txBody>
                    <a:bodyPr/>
                    <a:lstStyle/>
                    <a:p>
                      <a:r>
                        <a:rPr sz="1400" b="0">
                          <a:solidFill>
                            <a:srgbClr val="333333"/>
                          </a:solidFill>
                          <a:latin typeface="Meiryo"/>
                          <a:ea typeface="メイリオ"/>
                          <a:cs typeface="Meiryo"/>
                        </a:rPr>
                        <a:t>受験シーズン直後に卒業生実績を配信</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2-3月</a:t>
                      </a:r>
                    </a:p>
                  </a:txBody>
                  <a:tcPr>
                    <a:solidFill>
                      <a:srgbClr val="FFFFFF"/>
                    </a:solidFill>
                  </a:tcPr>
                </a:tc>
                <a:tc>
                  <a:txBody>
                    <a:bodyPr/>
                    <a:lstStyle/>
                    <a:p>
                      <a:r>
                        <a:rPr sz="1400" b="0">
                          <a:solidFill>
                            <a:srgbClr val="333333"/>
                          </a:solidFill>
                          <a:latin typeface="Meiryo"/>
                          <a:ea typeface="メイリオ"/>
                          <a:cs typeface="Meiryo"/>
                        </a:rPr>
                        <a:t>入会金半額キャンペーン</a:t>
                      </a:r>
                    </a:p>
                  </a:txBody>
                  <a:tcPr>
                    <a:solidFill>
                      <a:srgbClr val="FFFFFF"/>
                    </a:solidFill>
                  </a:tcPr>
                </a:tc>
                <a:tc>
                  <a:txBody>
                    <a:bodyPr/>
                    <a:lstStyle/>
                    <a:p>
                      <a:r>
                        <a:rPr sz="140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4月</a:t>
                      </a:r>
                    </a:p>
                  </a:txBody>
                  <a:tcPr>
                    <a:solidFill>
                      <a:srgbClr val="FFFFFF"/>
                    </a:solidFill>
                  </a:tcPr>
                </a:tc>
                <a:tc>
                  <a:txBody>
                    <a:bodyPr/>
                    <a:lstStyle/>
                    <a:p>
                      <a:r>
                        <a:rPr sz="1400" b="0" dirty="0" err="1">
                          <a:solidFill>
                            <a:srgbClr val="333333"/>
                          </a:solidFill>
                          <a:latin typeface="Meiryo"/>
                          <a:ea typeface="メイリオ"/>
                          <a:cs typeface="Meiryo"/>
                        </a:rPr>
                        <a:t>ショップカード機能の継続特典</a:t>
                      </a:r>
                      <a:endParaRPr lang="en-US" sz="1400" b="0" dirty="0">
                        <a:solidFill>
                          <a:srgbClr val="333333"/>
                        </a:solidFill>
                        <a:latin typeface="Meiryo"/>
                        <a:ea typeface="メイリオ"/>
                        <a:cs typeface="Meiryo"/>
                      </a:endParaRPr>
                    </a:p>
                    <a:p>
                      <a:r>
                        <a:rPr sz="1400" b="0" dirty="0" err="1">
                          <a:solidFill>
                            <a:srgbClr val="333333"/>
                          </a:solidFill>
                          <a:latin typeface="Meiryo"/>
                          <a:ea typeface="メイリオ"/>
                          <a:cs typeface="Meiryo"/>
                        </a:rPr>
                        <a:t>スタート告知</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継続来塾のインセンティブ設計</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5-6月</a:t>
                      </a:r>
                    </a:p>
                  </a:txBody>
                  <a:tcPr>
                    <a:solidFill>
                      <a:srgbClr val="FFFFFF"/>
                    </a:solidFill>
                  </a:tcPr>
                </a:tc>
                <a:tc>
                  <a:txBody>
                    <a:bodyPr/>
                    <a:lstStyle/>
                    <a:p>
                      <a:r>
                        <a:rPr sz="1400" b="0">
                          <a:solidFill>
                            <a:srgbClr val="333333"/>
                          </a:solidFill>
                          <a:latin typeface="Meiryo"/>
                          <a:ea typeface="メイリオ"/>
                          <a:cs typeface="Meiryo"/>
                        </a:rPr>
                        <a:t>無料ペーパー教材プレゼント企画</a:t>
                      </a:r>
                    </a:p>
                  </a:txBody>
                  <a:tcPr>
                    <a:solidFill>
                      <a:srgbClr val="FFFFFF"/>
                    </a:solidFill>
                  </a:tcPr>
                </a:tc>
                <a:tc>
                  <a:txBody>
                    <a:bodyPr/>
                    <a:lstStyle/>
                    <a:p>
                      <a:r>
                        <a:rPr sz="1400" b="0">
                          <a:solidFill>
                            <a:srgbClr val="333333"/>
                          </a:solidFill>
                          <a:latin typeface="Meiryo"/>
                          <a:ea typeface="メイリオ"/>
                          <a:cs typeface="Meiryo"/>
                        </a:rPr>
                        <a:t>友だち限定の知育プリント配布</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a:solidFill>
                            <a:srgbClr val="333333"/>
                          </a:solidFill>
                          <a:latin typeface="Meiryo"/>
                          <a:ea typeface="メイリオ"/>
                          <a:cs typeface="Meiryo"/>
                        </a:rPr>
                        <a:t>保護者向け合格戦略セミナー案内</a:t>
                      </a:r>
                    </a:p>
                  </a:txBody>
                  <a:tcPr>
                    <a:solidFill>
                      <a:srgbClr val="FFFFFF"/>
                    </a:solidFill>
                  </a:tcPr>
                </a:tc>
                <a:tc>
                  <a:txBody>
                    <a:bodyPr/>
                    <a:lstStyle/>
                    <a:p>
                      <a:r>
                        <a:rPr sz="1400" b="0" dirty="0" err="1">
                          <a:solidFill>
                            <a:srgbClr val="333333"/>
                          </a:solidFill>
                          <a:latin typeface="Meiryo"/>
                          <a:ea typeface="メイリオ"/>
                          <a:cs typeface="Meiryo"/>
                        </a:rPr>
                        <a:t>受験直前期の相談会導線</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dirty="0">
                          <a:solidFill>
                            <a:srgbClr val="333333"/>
                          </a:solidFill>
                          <a:latin typeface="Meiryo"/>
                          <a:ea typeface="メイリオ"/>
                          <a:cs typeface="Meiryo"/>
                        </a:rPr>
                        <a:t>9-11月</a:t>
                      </a:r>
                    </a:p>
                  </a:txBody>
                  <a:tcPr>
                    <a:solidFill>
                      <a:srgbClr val="FFFFFF"/>
                    </a:solidFill>
                  </a:tcPr>
                </a:tc>
                <a:tc>
                  <a:txBody>
                    <a:bodyPr/>
                    <a:lstStyle/>
                    <a:p>
                      <a:r>
                        <a:rPr sz="1400" b="0">
                          <a:solidFill>
                            <a:srgbClr val="333333"/>
                          </a:solidFill>
                          <a:latin typeface="Meiryo"/>
                          <a:ea typeface="メイリオ"/>
                          <a:cs typeface="Meiryo"/>
                        </a:rPr>
                        <a:t>お友だち紹介キャンペーン強化</a:t>
                      </a:r>
                    </a:p>
                  </a:txBody>
                  <a:tcPr>
                    <a:solidFill>
                      <a:srgbClr val="FFFFFF"/>
                    </a:solidFill>
                  </a:tcPr>
                </a:tc>
                <a:tc>
                  <a:txBody>
                    <a:bodyPr/>
                    <a:lstStyle/>
                    <a:p>
                      <a:r>
                        <a:rPr sz="1400" b="0" dirty="0" err="1">
                          <a:solidFill>
                            <a:srgbClr val="333333"/>
                          </a:solidFill>
                          <a:latin typeface="Meiryo"/>
                          <a:ea typeface="メイリオ"/>
                          <a:cs typeface="Meiryo"/>
                        </a:rPr>
                        <a:t>受験本番に向け母数を増やす</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出典：GoogleトレンドKW「受験」／競合調査（理英会／どんちゃか）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a:t>
            </a:r>
            <a:endParaRPr sz="1600" b="1" dirty="0">
              <a:solidFill>
                <a:srgbClr val="002060"/>
              </a:solidFill>
              <a:latin typeface="Meiryo"/>
              <a:ea typeface="Meiryo"/>
              <a:cs typeface="Meiryo"/>
              <a:sym typeface="Meiryo"/>
            </a:endParaRPr>
          </a:p>
        </p:txBody>
      </p:sp>
      <p:sp>
        <p:nvSpPr>
          <p:cNvPr id="2" name="TextBox 2">
            <a:extLst>
              <a:ext uri="{FF2B5EF4-FFF2-40B4-BE49-F238E27FC236}">
                <a16:creationId xmlns:a16="http://schemas.microsoft.com/office/drawing/2014/main" id="{A48C561C-B672-4D7C-E0CB-20192CDA08E0}"/>
              </a:ext>
            </a:extLst>
          </p:cNvPr>
          <p:cNvSpPr/>
          <p:nvPr/>
        </p:nvSpPr>
        <p:spPr>
          <a:xfrm>
            <a:off x="426900" y="1051740"/>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ユーザー対応の質を高める</a:t>
            </a:r>
            <a:r>
              <a:rPr kumimoji="1" lang="en-US" altLang="zh-CN"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3</a:t>
            </a: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つの施策カテゴリ（診断コンテンツ・複数サービスを前提に整理）</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 name="Rounded Rectangle 3">
            <a:extLst>
              <a:ext uri="{FF2B5EF4-FFF2-40B4-BE49-F238E27FC236}">
                <a16:creationId xmlns:a16="http://schemas.microsoft.com/office/drawing/2014/main" id="{48C161C3-997D-031F-FF20-5370159140C1}"/>
              </a:ext>
            </a:extLst>
          </p:cNvPr>
          <p:cNvSpPr/>
          <p:nvPr/>
        </p:nvSpPr>
        <p:spPr>
          <a:xfrm>
            <a:off x="426900" y="1691820"/>
            <a:ext cx="2834280" cy="54828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QA</a:t>
            </a: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自動化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 name="Rounded Rectangle 4">
            <a:extLst>
              <a:ext uri="{FF2B5EF4-FFF2-40B4-BE49-F238E27FC236}">
                <a16:creationId xmlns:a16="http://schemas.microsoft.com/office/drawing/2014/main" id="{6140F136-C536-8CE1-4ABC-27C53A6C98F3}"/>
              </a:ext>
            </a:extLst>
          </p:cNvPr>
          <p:cNvSpPr/>
          <p:nvPr/>
        </p:nvSpPr>
        <p:spPr>
          <a:xfrm>
            <a:off x="42690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・よくある質問（月謝・送迎・振替など）にキーワード応答で自動回答</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・タップで選ぶ形のチャットボットはオプション（別ページ）</a:t>
            </a:r>
          </a:p>
        </p:txBody>
      </p:sp>
      <p:sp>
        <p:nvSpPr>
          <p:cNvPr id="7" name="Rounded Rectangle 5">
            <a:extLst>
              <a:ext uri="{FF2B5EF4-FFF2-40B4-BE49-F238E27FC236}">
                <a16:creationId xmlns:a16="http://schemas.microsoft.com/office/drawing/2014/main" id="{49ED863B-16D0-2D6F-E267-38B524C3E460}"/>
              </a:ext>
            </a:extLst>
          </p:cNvPr>
          <p:cNvSpPr/>
          <p:nvPr/>
        </p:nvSpPr>
        <p:spPr>
          <a:xfrm>
            <a:off x="3444420" y="1691820"/>
            <a:ext cx="2834280" cy="548280"/>
          </a:xfrm>
          <a:prstGeom prst="roundRect">
            <a:avLst>
              <a:gd name="adj" fmla="val 10000"/>
            </a:avLst>
          </a:prstGeom>
          <a:solidFill>
            <a:srgbClr val="4A6FA5"/>
          </a:solidFill>
          <a:ln w="12700" cap="flat" cmpd="sng" algn="ctr">
            <a:solidFill>
              <a:srgbClr val="4A6FA5"/>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個別チャット</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 name="Rounded Rectangle 6">
            <a:extLst>
              <a:ext uri="{FF2B5EF4-FFF2-40B4-BE49-F238E27FC236}">
                <a16:creationId xmlns:a16="http://schemas.microsoft.com/office/drawing/2014/main" id="{2120D6CC-F8E8-A676-5288-0D7CA7AE5EBB}"/>
              </a:ext>
            </a:extLst>
          </p:cNvPr>
          <p:cNvSpPr/>
          <p:nvPr/>
        </p:nvSpPr>
        <p:spPr>
          <a:xfrm>
            <a:off x="344442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・入会手続きなど個別のご相談は有人チャットで対応</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・タグ管理で、入会検討中の方のお問い合わせを優先</a:t>
            </a:r>
          </a:p>
        </p:txBody>
      </p:sp>
      <p:sp>
        <p:nvSpPr>
          <p:cNvPr id="11" name="Rounded Rectangle 7">
            <a:extLst>
              <a:ext uri="{FF2B5EF4-FFF2-40B4-BE49-F238E27FC236}">
                <a16:creationId xmlns:a16="http://schemas.microsoft.com/office/drawing/2014/main" id="{A110E104-86B5-BECB-43FF-305B6025C5CA}"/>
              </a:ext>
            </a:extLst>
          </p:cNvPr>
          <p:cNvSpPr/>
          <p:nvPr/>
        </p:nvSpPr>
        <p:spPr>
          <a:xfrm>
            <a:off x="6461940" y="1691820"/>
            <a:ext cx="2834280" cy="54828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その他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3" name="Rounded Rectangle 8">
            <a:extLst>
              <a:ext uri="{FF2B5EF4-FFF2-40B4-BE49-F238E27FC236}">
                <a16:creationId xmlns:a16="http://schemas.microsoft.com/office/drawing/2014/main" id="{FA298501-38B3-F233-CA41-A026320BA8C3}"/>
              </a:ext>
            </a:extLst>
          </p:cNvPr>
          <p:cNvSpPr/>
          <p:nvPr/>
        </p:nvSpPr>
        <p:spPr>
          <a:xfrm>
            <a:off x="646194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・保護者アンケートをLINEリサーチ機能で実施</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・回答特典を付けて回収率を高める</a:t>
            </a:r>
          </a:p>
        </p:txBody>
      </p:sp>
      <p:sp>
        <p:nvSpPr>
          <p:cNvPr id="15" name="Google Shape;156;p7">
            <a:extLst>
              <a:ext uri="{FF2B5EF4-FFF2-40B4-BE49-F238E27FC236}">
                <a16:creationId xmlns:a16="http://schemas.microsoft.com/office/drawing/2014/main" id="{DCA83424-AED2-9D0C-15FF-C3A1D7D9F90E}"/>
              </a:ext>
            </a:extLst>
          </p:cNvPr>
          <p:cNvSpPr txBox="1"/>
          <p:nvPr/>
        </p:nvSpPr>
        <p:spPr>
          <a:xfrm>
            <a:off x="426900" y="4279347"/>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　　</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工数削減施策</a:t>
            </a:r>
            <a:endParaRPr sz="1600" b="1" dirty="0">
              <a:solidFill>
                <a:srgbClr val="002060"/>
              </a:solidFill>
              <a:latin typeface="Meiryo"/>
              <a:ea typeface="Meiryo"/>
              <a:cs typeface="Meiryo"/>
              <a:sym typeface="Meiryo"/>
            </a:endParaRPr>
          </a:p>
        </p:txBody>
      </p:sp>
      <p:sp>
        <p:nvSpPr>
          <p:cNvPr id="17" name="Rounded Rectangle 3">
            <a:extLst>
              <a:ext uri="{FF2B5EF4-FFF2-40B4-BE49-F238E27FC236}">
                <a16:creationId xmlns:a16="http://schemas.microsoft.com/office/drawing/2014/main" id="{13A2205C-193F-C8D0-D9D5-28D75F02D3A1}"/>
              </a:ext>
            </a:extLst>
          </p:cNvPr>
          <p:cNvSpPr/>
          <p:nvPr/>
        </p:nvSpPr>
        <p:spPr>
          <a:xfrm>
            <a:off x="426900" y="4753795"/>
            <a:ext cx="443448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自動応答</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19" name="Rounded Rectangle 4">
            <a:extLst>
              <a:ext uri="{FF2B5EF4-FFF2-40B4-BE49-F238E27FC236}">
                <a16:creationId xmlns:a16="http://schemas.microsoft.com/office/drawing/2014/main" id="{71004DFF-0445-5182-FDBF-99D37EEA5C3B}"/>
              </a:ext>
            </a:extLst>
          </p:cNvPr>
          <p:cNvSpPr/>
          <p:nvPr/>
        </p:nvSpPr>
        <p:spPr>
          <a:xfrm>
            <a:off x="42690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・キーワード応答＋タグ付けで一次対応を自動化</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・複数エリア（17アカウント）共通のFAQ対応を効率化</a:t>
            </a:r>
          </a:p>
        </p:txBody>
      </p:sp>
      <p:sp>
        <p:nvSpPr>
          <p:cNvPr id="21" name="Rounded Rectangle 5">
            <a:extLst>
              <a:ext uri="{FF2B5EF4-FFF2-40B4-BE49-F238E27FC236}">
                <a16:creationId xmlns:a16="http://schemas.microsoft.com/office/drawing/2014/main" id="{99616B08-D6A8-4286-A691-E62AF335E000}"/>
              </a:ext>
            </a:extLst>
          </p:cNvPr>
          <p:cNvSpPr/>
          <p:nvPr/>
        </p:nvSpPr>
        <p:spPr>
          <a:xfrm>
            <a:off x="5044620" y="4753795"/>
            <a:ext cx="4434480" cy="54828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その他</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23" name="Rounded Rectangle 6">
            <a:extLst>
              <a:ext uri="{FF2B5EF4-FFF2-40B4-BE49-F238E27FC236}">
                <a16:creationId xmlns:a16="http://schemas.microsoft.com/office/drawing/2014/main" id="{C9FC3A12-ACD9-D0EB-C223-270B18E3C1AE}"/>
              </a:ext>
            </a:extLst>
          </p:cNvPr>
          <p:cNvSpPr/>
          <p:nvPr/>
        </p:nvSpPr>
        <p:spPr>
          <a:xfrm>
            <a:off x="504462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・配信ログの自動集計（API連携）でレポーティング工数を削減</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・診断結果送付〜ステップ配信までをGAS等で自動化</a:t>
            </a:r>
          </a:p>
        </p:txBody>
      </p:sp>
      <p:sp>
        <p:nvSpPr>
          <p:cNvPr id="25" name="Rounded Rectangle 3">
            <a:extLst>
              <a:ext uri="{FF2B5EF4-FFF2-40B4-BE49-F238E27FC236}">
                <a16:creationId xmlns:a16="http://schemas.microsoft.com/office/drawing/2014/main" id="{C7F21D87-4A15-CE7E-773C-B513888D6575}"/>
              </a:ext>
            </a:extLst>
          </p:cNvPr>
          <p:cNvSpPr/>
          <p:nvPr/>
        </p:nvSpPr>
        <p:spPr>
          <a:xfrm>
            <a:off x="243659" y="4020903"/>
            <a:ext cx="9425441" cy="2497059"/>
          </a:xfrm>
          <a:prstGeom prst="roundRect">
            <a:avLst>
              <a:gd name="adj" fmla="val 10000"/>
            </a:avLst>
          </a:prstGeom>
          <a:solidFill>
            <a:schemeClr val="bg1">
              <a:alpha val="63000"/>
            </a:schemeClr>
          </a:solidFill>
          <a:ln w="12700">
            <a:noFill/>
            <a:round/>
          </a:ln>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400" b="0" strike="noStrike" spc="-1" dirty="0">
              <a:solidFill>
                <a:srgbClr val="FFFFFF"/>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9377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10" name="TextBox 2">
            <a:extLst>
              <a:ext uri="{FF2B5EF4-FFF2-40B4-BE49-F238E27FC236}">
                <a16:creationId xmlns:a16="http://schemas.microsoft.com/office/drawing/2014/main" id="{88F34F17-1222-19B2-703D-3A639F6FB75B}"/>
              </a:ext>
            </a:extLst>
          </p:cNvPr>
          <p:cNvSpPr/>
          <p:nvPr/>
        </p:nvSpPr>
        <p:spPr>
          <a:xfrm>
            <a:off x="426900" y="1777180"/>
            <a:ext cx="9052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0" strike="noStrike" spc="-1">
                <a:solidFill>
                  <a:srgbClr val="5A6378"/>
                </a:solidFill>
                <a:latin typeface="メイリオ" panose="020B0604030504040204" pitchFamily="50" charset="-128"/>
                <a:ea typeface="メイリオ" panose="020B0604030504040204" pitchFamily="50" charset="-128"/>
              </a:rPr>
              <a:t>各接点（箇所）ごとに訴求を出し分け、LINE友だち追加へつなげる（診断コンテンツを起点に設計）</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690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料金プラン診断コンテンツ</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a:off x="324930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354198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診断結果をLINEで送付</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a:off x="636438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6657060" y="246298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1" strike="noStrike" spc="-1">
                <a:solidFill>
                  <a:srgbClr val="FFFFFF"/>
                </a:solidFill>
                <a:latin typeface="メイリオ" panose="020B0604030504040204" pitchFamily="50" charset="-128"/>
                <a:ea typeface="メイリオ" panose="020B0604030504040204" pitchFamily="50" charset="-128"/>
              </a:rPr>
              <a:t>LINE</a:t>
            </a:r>
            <a:r>
              <a:rPr lang="zh-CN" sz="1050" b="1" strike="noStrike" spc="-1">
                <a:solidFill>
                  <a:srgbClr val="FFFFFF"/>
                </a:solidFill>
                <a:latin typeface="メイリオ" panose="020B0604030504040204" pitchFamily="50" charset="-128"/>
                <a:ea typeface="メイリオ" panose="020B0604030504040204" pitchFamily="50" charset="-128"/>
              </a:rPr>
              <a:t>追加</a:t>
            </a:r>
            <a:endParaRPr lang="en-US" sz="105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42690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会員・保護者向けマイページ登録案内</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a:off x="324930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354198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料金確定通知もLINEで受け取れる</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a:off x="636438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6657060" y="333166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1" strike="noStrike" spc="-1">
                <a:solidFill>
                  <a:srgbClr val="FFFFFF"/>
                </a:solidFill>
                <a:latin typeface="メイリオ" panose="020B0604030504040204" pitchFamily="50" charset="-128"/>
                <a:ea typeface="メイリオ" panose="020B0604030504040204" pitchFamily="50" charset="-128"/>
              </a:rPr>
              <a:t>LINE</a:t>
            </a:r>
            <a:r>
              <a:rPr lang="zh-CN" sz="1050" b="1" strike="noStrike" spc="-1">
                <a:solidFill>
                  <a:srgbClr val="FFFFFF"/>
                </a:solidFill>
                <a:latin typeface="メイリオ" panose="020B0604030504040204" pitchFamily="50" charset="-128"/>
                <a:ea typeface="メイリオ" panose="020B0604030504040204" pitchFamily="50" charset="-128"/>
              </a:rPr>
              <a:t>追加</a:t>
            </a:r>
            <a:endParaRPr lang="en-US" sz="1050" b="0" strike="noStrike" spc="-1">
              <a:solidFill>
                <a:srgbClr val="FFFFFF"/>
              </a:solidFill>
              <a:latin typeface="メイリオ" panose="020B0604030504040204" pitchFamily="50" charset="-128"/>
              <a:ea typeface="メイリオ" panose="020B0604030504040204" pitchFamily="50" charset="-128"/>
            </a:endParaRPr>
          </a:p>
        </p:txBody>
      </p:sp>
      <p:sp>
        <p:nvSpPr>
          <p:cNvPr id="34" name="Rounded Rectangle 13">
            <a:extLst>
              <a:ext uri="{FF2B5EF4-FFF2-40B4-BE49-F238E27FC236}">
                <a16:creationId xmlns:a16="http://schemas.microsoft.com/office/drawing/2014/main" id="{22D948EF-E8AB-9977-D385-ECE4F24EA2A6}"/>
              </a:ext>
            </a:extLst>
          </p:cNvPr>
          <p:cNvSpPr/>
          <p:nvPr/>
        </p:nvSpPr>
        <p:spPr>
          <a:xfrm>
            <a:off x="42690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dirty="0" err="1">
                <a:solidFill>
                  <a:srgbClr val="333333"/>
                </a:solidFill>
                <a:latin typeface="メイリオ" panose="020B0604030504040204" pitchFamily="50" charset="-128"/>
                <a:ea typeface="メイリオ" panose="020B0604030504040204" pitchFamily="50" charset="-128"/>
              </a:rPr>
              <a:t>地域別・体験レッスン</a:t>
            </a:r>
            <a:r>
              <a:rPr lang="ja-JP" altLang="en-US" sz="1050" b="0" strike="noStrike" spc="-1" dirty="0">
                <a:solidFill>
                  <a:srgbClr val="333333"/>
                </a:solidFill>
                <a:latin typeface="メイリオ" panose="020B0604030504040204" pitchFamily="50" charset="-128"/>
                <a:ea typeface="メイリオ" panose="020B0604030504040204" pitchFamily="50" charset="-128"/>
              </a:rPr>
              <a:t>の</a:t>
            </a:r>
            <a:endParaRPr lang="en-US" altLang="ja-JP" sz="1050" b="0" strike="noStrike" spc="-1" dirty="0">
              <a:solidFill>
                <a:srgbClr val="333333"/>
              </a:solidFill>
              <a:latin typeface="メイリオ" panose="020B0604030504040204" pitchFamily="50" charset="-128"/>
              <a:ea typeface="メイリオ" panose="020B0604030504040204" pitchFamily="50" charset="-128"/>
            </a:endParaRPr>
          </a:p>
          <a:p>
            <a:pPr algn="ctr">
              <a:lnSpc>
                <a:spcPct val="100000"/>
              </a:lnSpc>
            </a:pPr>
            <a:r>
              <a:rPr lang="en-US" sz="1050" b="0" strike="noStrike" spc="-1" dirty="0" err="1">
                <a:solidFill>
                  <a:srgbClr val="333333"/>
                </a:solidFill>
                <a:latin typeface="メイリオ" panose="020B0604030504040204" pitchFamily="50" charset="-128"/>
                <a:ea typeface="メイリオ" panose="020B0604030504040204" pitchFamily="50" charset="-128"/>
              </a:rPr>
              <a:t>WEB申込キャンペーン</a:t>
            </a:r>
            <a:endParaRPr lang="en-US" sz="1050" b="0" strike="noStrike" spc="-1" dirty="0">
              <a:solidFill>
                <a:srgbClr val="000000"/>
              </a:solidFill>
              <a:latin typeface="メイリオ" panose="020B0604030504040204" pitchFamily="50" charset="-128"/>
              <a:ea typeface="メイリオ" panose="020B0604030504040204" pitchFamily="50" charset="-128"/>
            </a:endParaRPr>
          </a:p>
        </p:txBody>
      </p:sp>
      <p:sp>
        <p:nvSpPr>
          <p:cNvPr id="35" name="Right Arrow 14">
            <a:extLst>
              <a:ext uri="{FF2B5EF4-FFF2-40B4-BE49-F238E27FC236}">
                <a16:creationId xmlns:a16="http://schemas.microsoft.com/office/drawing/2014/main" id="{ED599AD2-9433-037D-4055-3CD5D868773E}"/>
              </a:ext>
            </a:extLst>
          </p:cNvPr>
          <p:cNvSpPr/>
          <p:nvPr/>
        </p:nvSpPr>
        <p:spPr>
          <a:xfrm>
            <a:off x="324930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36" name="Rounded Rectangle 15">
            <a:extLst>
              <a:ext uri="{FF2B5EF4-FFF2-40B4-BE49-F238E27FC236}">
                <a16:creationId xmlns:a16="http://schemas.microsoft.com/office/drawing/2014/main" id="{AB67C977-69C9-A50F-851E-986C7CB7A3D5}"/>
              </a:ext>
            </a:extLst>
          </p:cNvPr>
          <p:cNvSpPr/>
          <p:nvPr/>
        </p:nvSpPr>
        <p:spPr>
          <a:xfrm>
            <a:off x="354198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申込完了特典をLINEでお届け</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43" name="Right Arrow 16">
            <a:extLst>
              <a:ext uri="{FF2B5EF4-FFF2-40B4-BE49-F238E27FC236}">
                <a16:creationId xmlns:a16="http://schemas.microsoft.com/office/drawing/2014/main" id="{526CE94B-E706-E4C3-FD31-99BF0647BBEF}"/>
              </a:ext>
            </a:extLst>
          </p:cNvPr>
          <p:cNvSpPr/>
          <p:nvPr/>
        </p:nvSpPr>
        <p:spPr>
          <a:xfrm>
            <a:off x="636438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44" name="Rounded Rectangle 17">
            <a:extLst>
              <a:ext uri="{FF2B5EF4-FFF2-40B4-BE49-F238E27FC236}">
                <a16:creationId xmlns:a16="http://schemas.microsoft.com/office/drawing/2014/main" id="{3B4A80AC-373C-53F9-4A7E-460E1983856E}"/>
              </a:ext>
            </a:extLst>
          </p:cNvPr>
          <p:cNvSpPr/>
          <p:nvPr/>
        </p:nvSpPr>
        <p:spPr>
          <a:xfrm>
            <a:off x="6657060" y="420034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1" strike="noStrike" spc="-1">
                <a:solidFill>
                  <a:srgbClr val="FFFFFF"/>
                </a:solidFill>
                <a:latin typeface="メイリオ" panose="020B0604030504040204" pitchFamily="50" charset="-128"/>
                <a:ea typeface="メイリオ" panose="020B0604030504040204" pitchFamily="50" charset="-128"/>
              </a:rPr>
              <a:t>LINE</a:t>
            </a:r>
            <a:r>
              <a:rPr lang="zh-CN" sz="1050" b="1" strike="noStrike" spc="-1">
                <a:solidFill>
                  <a:srgbClr val="FFFFFF"/>
                </a:solidFill>
                <a:latin typeface="メイリオ" panose="020B0604030504040204" pitchFamily="50" charset="-128"/>
                <a:ea typeface="メイリオ" panose="020B0604030504040204" pitchFamily="50" charset="-128"/>
              </a:rPr>
              <a:t>追加</a:t>
            </a:r>
            <a:endParaRPr lang="en-US" sz="105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548883" y="5211344"/>
            <a:ext cx="9052200" cy="2601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100" b="0" strike="noStrike" spc="-1">
                <a:solidFill>
                  <a:srgbClr val="9AA1AE"/>
                </a:solidFill>
                <a:latin typeface="メイリオ" panose="020B0604030504040204" pitchFamily="50" charset="-128"/>
                <a:ea typeface="メイリオ" panose="020B0604030504040204" pitchFamily="50" charset="-128"/>
              </a:rPr>
              <a:t>※「料金プラン診断」はサイト上に簡易診断フォームを設置し、結果をLINEで送付する動線を想定（要開発）</a:t>
            </a:r>
            <a:endParaRPr lang="en-US" sz="11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利用に至るまでナーチャリングが可能</a:t>
            </a:r>
            <a:endParaRPr lang="en-US" altLang="ja-JP" sz="16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初期：15万円</a:t>
            </a:r>
            <a:r>
              <a:rPr lang="en-US" altLang="ja-JP" sz="1400" b="1" i="0" u="none" strike="noStrike" cap="none" dirty="0">
                <a:solidFill>
                  <a:schemeClr val="lt1"/>
                </a:solidFill>
                <a:latin typeface="Meiryo"/>
                <a:ea typeface="Meiryo"/>
                <a:cs typeface="Meiryo"/>
                <a:sym typeface="Meiryo"/>
              </a:rPr>
              <a:t/>
            </a:r>
            <a:r>
              <a:rPr lang="ja-JP" altLang="en-US" sz="1400" b="1" i="0" u="none" strike="noStrike" cap="none" dirty="0">
                <a:solidFill>
                  <a:schemeClr val="lt1"/>
                </a:solidFill>
                <a:latin typeface="Meiryo"/>
                <a:ea typeface="Meiryo"/>
                <a:cs typeface="Meiryo"/>
                <a:sym typeface="Meiryo"/>
              </a:rPr>
              <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月額5万円</a:t>
            </a:r>
            <a:r>
              <a:rPr lang="en-US" altLang="ja-JP" sz="1400" b="1" i="0" u="none" strike="noStrike" cap="none" dirty="0">
                <a:solidFill>
                  <a:schemeClr val="lt1"/>
                </a:solidFill>
                <a:latin typeface="Meiryo"/>
                <a:ea typeface="Meiryo"/>
                <a:cs typeface="Meiryo"/>
                <a:sym typeface="Meiryo"/>
              </a:rPr>
              <a:t/>
            </a:r>
            <a:r>
              <a:rPr lang="ja-JP" altLang="en-US" sz="1400" b="1" i="0" u="none" strike="noStrike" cap="none" dirty="0">
                <a:solidFill>
                  <a:schemeClr val="lt1"/>
                </a:solidFill>
                <a:latin typeface="Meiryo"/>
                <a:ea typeface="Meiryo"/>
                <a:cs typeface="Meiryo"/>
                <a:sym typeface="Meiryo"/>
              </a:rPr>
              <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400" b="1" dirty="0">
                <a:latin typeface="メイリオ" panose="020B0604030504040204" pitchFamily="50" charset="-128"/>
                <a:ea typeface="メイリオ" panose="020B0604030504040204" pitchFamily="50" charset="-128"/>
                <a:cs typeface="Meiryo"/>
                <a:sym typeface="Meiryo"/>
              </a:rPr>
              <a:t>成果報酬型：成果件数に応じた費用で、リスクを抑えて運用を始められます。</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628000"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DYMプラン（成果報酬型）</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保護者ユーザーのカスタマージャーニー（8フェーズ）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接触〜入会・継続までの動線設計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736333"/>
            <a:ext cx="627632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制作業務を一部抽出してご依頼いただくことも可能です。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5596DE8E-ACCE-014A-70C9-C3E723DD7EAE}"/>
              </a:ext>
            </a:extLst>
          </p:cNvPr>
          <p:cNvSpPr txBox="1"/>
          <p:nvPr/>
        </p:nvSpPr>
        <p:spPr>
          <a:xfrm>
            <a:off x="4091225" y="3622978"/>
            <a:ext cx="1723549"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補足資料①</a:t>
            </a:r>
          </a:p>
        </p:txBody>
      </p:sp>
    </p:spTree>
    <p:extLst>
      <p:ext uri="{BB962C8B-B14F-4D97-AF65-F5344CB8AC3E}">
        <p14:creationId xmlns:p14="http://schemas.microsoft.com/office/powerpoint/2010/main" val="3709543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の導線設計でハードルを抑えつつ運用することが可能。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3219190" y="3038429"/>
            <a:ext cx="346761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テキスト ボックス 2">
            <a:extLst>
              <a:ext uri="{FF2B5EF4-FFF2-40B4-BE49-F238E27FC236}">
                <a16:creationId xmlns:a16="http://schemas.microsoft.com/office/drawing/2014/main" id="{DC9A0B48-8F30-4D79-84B9-5021E0F3C9A5}"/>
              </a:ext>
            </a:extLst>
          </p:cNvPr>
          <p:cNvSpPr txBox="1"/>
          <p:nvPr/>
        </p:nvSpPr>
        <p:spPr>
          <a:xfrm>
            <a:off x="4091223" y="3562017"/>
            <a:ext cx="1723549"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補足資料</a:t>
            </a:r>
            <a:r>
              <a:rPr lang="ja-JP" altLang="en-US" sz="2400" dirty="0">
                <a:latin typeface="メイリオ" panose="020B0604030504040204" pitchFamily="50" charset="-128"/>
                <a:ea typeface="メイリオ" panose="020B0604030504040204" pitchFamily="50" charset="-128"/>
              </a:rPr>
              <a:t>②</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想定の費用対効果（CPA・CPOの推移）</a:t>
            </a: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運用が育つにつれて体験予約・入会が増え、6か月目のCPA・CPOは1か月目より大きく下がります。</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（4か月目は固定費が上がるため、一時的に上がります）</a:t>
            </a:r>
          </a:p>
        </p:txBody>
      </p:sp>
      <p:sp>
        <p:nvSpPr>
          <p:cNvPr id="46" name="Rounded Rectangle 45"/>
          <p:cNvSpPr/>
          <p:nvPr/>
        </p:nvSpPr>
        <p:spPr>
          <a:xfrm>
            <a:off x="432000" y="1565999"/>
            <a:ext cx="1800000" cy="28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00" b="1">
                <a:solidFill>
                  <a:srgbClr val="FFFFFF"/>
                </a:solidFill>
                <a:latin typeface="メイリオ"/>
                <a:ea typeface="メイリオ"/>
                <a:cs typeface="メイリオ"/>
              </a:rPr>
              <a:t>忍者ナイン</a:t>
            </a:r>
          </a:p>
        </p:txBody>
      </p:sp>
      <p:graphicFrame>
        <p:nvGraphicFramePr>
          <p:cNvPr id="47" name="Table 46"/>
          <p:cNvGraphicFramePr>
            <a:graphicFrameLocks noGrp="1"/>
          </p:cNvGraphicFramePr>
          <p:nvPr/>
        </p:nvGraphicFramePr>
        <p:xfrm>
          <a:off x="432000" y="1908000"/>
          <a:ext cx="9043200" cy="1440000"/>
        </p:xfrm>
        <a:graphic>
          <a:graphicData uri="http://schemas.openxmlformats.org/drawingml/2006/table">
            <a:tbl>
              <a:tblPr firstRow="1" bandRow="1">
                <a:tableStyleId>{5C22544A-7EE6-4342-B048-85BDC9FD1C3A}</a:tableStyleId>
              </a:tblPr>
              <a:tblGrid>
                <a:gridCol w="2023200"/>
                <a:gridCol w="1170000"/>
                <a:gridCol w="1170000"/>
                <a:gridCol w="1170000"/>
                <a:gridCol w="1170000"/>
                <a:gridCol w="1170000"/>
                <a:gridCol w="1170000"/>
              </a:tblGrid>
              <a:tr h="288000">
                <a:tc>
                  <a:txBody>
                    <a:bodyPr wrap="square" lIns="43200" rIns="43200" tIns="7200" bIns="7200" anchor="ctr"/>
                    <a:lstStyle/>
                    <a:p>
                      <a:pPr algn="ctr"/>
                      <a:r>
                        <a:rPr sz="1100" b="1">
                          <a:solidFill>
                            <a:srgbClr val="FFFFFF"/>
                          </a:solidFill>
                          <a:latin typeface="メイリオ"/>
                          <a:ea typeface="メイリオ"/>
                          <a:cs typeface="メイリオ"/>
                        </a:rPr>
                        <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1か月目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2か月目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3か月目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4か月目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5か月目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6か月目</a:t>
                      </a:r>
                    </a:p>
                  </a:txBody>
                  <a:tcPr anchor="ctr">
                    <a:solidFill>
                      <a:srgbClr val="1F285A"/>
                    </a:solidFill>
                  </a:tcPr>
                </a:tc>
              </a:tr>
              <a:tr h="288000">
                <a:tc>
                  <a:txBody>
                    <a:bodyPr wrap="square" lIns="43200" rIns="43200" tIns="7200" bIns="7200" anchor="ctr"/>
                    <a:lstStyle/>
                    <a:p>
                      <a:pPr algn="l"/>
                      <a:r>
                        <a:rPr sz="1100" b="0">
                          <a:solidFill>
                            <a:srgbClr val="333333"/>
                          </a:solidFill>
                          <a:latin typeface="メイリオ"/>
                          <a:ea typeface="メイリオ"/>
                          <a:cs typeface="メイリオ"/>
                        </a:rPr>
                        <a:t>体験予約</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4件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6件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8件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11件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13件</a:t>
                      </a:r>
                    </a:p>
                  </a:txBody>
                  <a:tcPr anchor="ctr">
                    <a:solidFill>
                      <a:srgbClr val="FFFFFF"/>
                    </a:solidFill>
                  </a:tcPr>
                </a:tc>
              </a:tr>
              <a:tr h="288000">
                <a:tc>
                  <a:txBody>
                    <a:bodyPr wrap="square" lIns="43200" rIns="43200" tIns="7200" bIns="7200" anchor="ctr"/>
                    <a:lstStyle/>
                    <a:p>
                      <a:pPr algn="l"/>
                      <a:r>
                        <a:rPr sz="1100" b="1">
                          <a:solidFill>
                            <a:srgbClr val="333333"/>
                          </a:solidFill>
                          <a:latin typeface="メイリオ"/>
                          <a:ea typeface="メイリオ"/>
                          <a:cs typeface="メイリオ"/>
                        </a:rPr>
                        <a:t>CPA（体験予約1件）</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12,000円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5,333円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5,636円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5,077円</a:t>
                      </a:r>
                    </a:p>
                  </a:txBody>
                  <a:tcPr anchor="ctr">
                    <a:solidFill>
                      <a:srgbClr val="F4F7FF"/>
                    </a:solidFill>
                  </a:tcPr>
                </a:tc>
              </a:tr>
              <a:tr h="288000">
                <a:tc>
                  <a:txBody>
                    <a:bodyPr wrap="square" lIns="43200" rIns="43200" tIns="7200" bIns="7200" anchor="ctr"/>
                    <a:lstStyle/>
                    <a:p>
                      <a:pPr algn="l"/>
                      <a:r>
                        <a:rPr sz="1100" b="0">
                          <a:solidFill>
                            <a:srgbClr val="333333"/>
                          </a:solidFill>
                          <a:latin typeface="メイリオ"/>
                          <a:ea typeface="メイリオ"/>
                          <a:cs typeface="メイリオ"/>
                        </a:rPr>
                        <a:t>入会</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3件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4件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5件</a:t>
                      </a:r>
                    </a:p>
                  </a:txBody>
                  <a:tcPr anchor="ctr">
                    <a:solidFill>
                      <a:srgbClr val="FFFFFF"/>
                    </a:solidFill>
                  </a:tcPr>
                </a:tc>
              </a:tr>
              <a:tr h="288000">
                <a:tc>
                  <a:txBody>
                    <a:bodyPr wrap="square" lIns="43200" rIns="43200" tIns="7200" bIns="7200" anchor="ctr"/>
                    <a:lstStyle/>
                    <a:p>
                      <a:pPr algn="l"/>
                      <a:r>
                        <a:rPr sz="1100" b="1">
                          <a:solidFill>
                            <a:srgbClr val="333333"/>
                          </a:solidFill>
                          <a:latin typeface="メイリオ"/>
                          <a:ea typeface="メイリオ"/>
                          <a:cs typeface="メイリオ"/>
                        </a:rPr>
                        <a:t>CPO（入会1件）</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74,000円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39,000円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41,000円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35,333円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28,000円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23,200円</a:t>
                      </a:r>
                    </a:p>
                  </a:txBody>
                  <a:tcPr anchor="ctr">
                    <a:solidFill>
                      <a:srgbClr val="F4F7FF"/>
                    </a:solidFill>
                  </a:tcPr>
                </a:tc>
              </a:tr>
            </a:tbl>
          </a:graphicData>
        </a:graphic>
      </p:graphicFrame>
      <p:sp>
        <p:nvSpPr>
          <p:cNvPr id="48" name="Rounded Rectangle 47"/>
          <p:cNvSpPr/>
          <p:nvPr/>
        </p:nvSpPr>
        <p:spPr>
          <a:xfrm>
            <a:off x="432000" y="3636000"/>
            <a:ext cx="1800000" cy="28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00" b="1">
                <a:solidFill>
                  <a:srgbClr val="FFFFFF"/>
                </a:solidFill>
                <a:latin typeface="メイリオ"/>
                <a:ea typeface="メイリオ"/>
                <a:cs typeface="メイリオ"/>
              </a:rPr>
              <a:t>チャイルドアイズ</a:t>
            </a:r>
          </a:p>
        </p:txBody>
      </p:sp>
      <p:graphicFrame>
        <p:nvGraphicFramePr>
          <p:cNvPr id="49" name="Table 48"/>
          <p:cNvGraphicFramePr>
            <a:graphicFrameLocks noGrp="1"/>
          </p:cNvGraphicFramePr>
          <p:nvPr/>
        </p:nvGraphicFramePr>
        <p:xfrm>
          <a:off x="432000" y="3977999"/>
          <a:ext cx="9043200" cy="1440000"/>
        </p:xfrm>
        <a:graphic>
          <a:graphicData uri="http://schemas.openxmlformats.org/drawingml/2006/table">
            <a:tbl>
              <a:tblPr firstRow="1" bandRow="1">
                <a:tableStyleId>{5C22544A-7EE6-4342-B048-85BDC9FD1C3A}</a:tableStyleId>
              </a:tblPr>
              <a:tblGrid>
                <a:gridCol w="2023200"/>
                <a:gridCol w="1170000"/>
                <a:gridCol w="1170000"/>
                <a:gridCol w="1170000"/>
                <a:gridCol w="1170000"/>
                <a:gridCol w="1170000"/>
                <a:gridCol w="1170000"/>
              </a:tblGrid>
              <a:tr h="288000">
                <a:tc>
                  <a:txBody>
                    <a:bodyPr wrap="square" lIns="43200" rIns="43200" tIns="7200" bIns="7200" anchor="ctr"/>
                    <a:lstStyle/>
                    <a:p>
                      <a:pPr algn="ctr"/>
                      <a:r>
                        <a:rPr sz="1100" b="1">
                          <a:solidFill>
                            <a:srgbClr val="FFFFFF"/>
                          </a:solidFill>
                          <a:latin typeface="メイリオ"/>
                          <a:ea typeface="メイリオ"/>
                          <a:cs typeface="メイリオ"/>
                        </a:rPr>
                        <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1か月目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2か月目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3か月目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4か月目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5か月目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6か月目</a:t>
                      </a:r>
                    </a:p>
                  </a:txBody>
                  <a:tcPr anchor="ctr">
                    <a:solidFill>
                      <a:srgbClr val="1F285A"/>
                    </a:solidFill>
                  </a:tcPr>
                </a:tc>
              </a:tr>
              <a:tr h="288000">
                <a:tc>
                  <a:txBody>
                    <a:bodyPr wrap="square" lIns="43200" rIns="43200" tIns="7200" bIns="7200" anchor="ctr"/>
                    <a:lstStyle/>
                    <a:p>
                      <a:pPr algn="l"/>
                      <a:r>
                        <a:rPr sz="1100" b="0">
                          <a:solidFill>
                            <a:srgbClr val="333333"/>
                          </a:solidFill>
                          <a:latin typeface="メイリオ"/>
                          <a:ea typeface="メイリオ"/>
                          <a:cs typeface="メイリオ"/>
                        </a:rPr>
                        <a:t>体験予約</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4件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7件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9件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10件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12件</a:t>
                      </a:r>
                    </a:p>
                  </a:txBody>
                  <a:tcPr anchor="ctr">
                    <a:solidFill>
                      <a:srgbClr val="FFFFFF"/>
                    </a:solidFill>
                  </a:tcPr>
                </a:tc>
              </a:tr>
              <a:tr h="288000">
                <a:tc>
                  <a:txBody>
                    <a:bodyPr wrap="square" lIns="43200" rIns="43200" tIns="7200" bIns="7200" anchor="ctr"/>
                    <a:lstStyle/>
                    <a:p>
                      <a:pPr algn="l"/>
                      <a:r>
                        <a:rPr sz="1100" b="1">
                          <a:solidFill>
                            <a:srgbClr val="333333"/>
                          </a:solidFill>
                          <a:latin typeface="メイリオ"/>
                          <a:ea typeface="メイリオ"/>
                          <a:cs typeface="メイリオ"/>
                        </a:rPr>
                        <a:t>CPA（体験予約1件）</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12,000円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4,857円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6,444円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6,000円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5,333円</a:t>
                      </a:r>
                    </a:p>
                  </a:txBody>
                  <a:tcPr anchor="ctr">
                    <a:solidFill>
                      <a:srgbClr val="F4F7FF"/>
                    </a:solidFill>
                  </a:tcPr>
                </a:tc>
              </a:tr>
              <a:tr h="288000">
                <a:tc>
                  <a:txBody>
                    <a:bodyPr wrap="square" lIns="43200" rIns="43200" tIns="7200" bIns="7200" anchor="ctr"/>
                    <a:lstStyle/>
                    <a:p>
                      <a:pPr algn="l"/>
                      <a:r>
                        <a:rPr sz="1100" b="0">
                          <a:solidFill>
                            <a:srgbClr val="333333"/>
                          </a:solidFill>
                          <a:latin typeface="メイリオ"/>
                          <a:ea typeface="メイリオ"/>
                          <a:cs typeface="メイリオ"/>
                        </a:rPr>
                        <a:t>入会</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3件</a:t>
                      </a:r>
                    </a:p>
                  </a:txBody>
                  <a:tcPr anchor="ctr">
                    <a:solidFill>
                      <a:srgbClr val="FFFFFF"/>
                    </a:solidFill>
                  </a:tcPr>
                </a:tc>
              </a:tr>
              <a:tr h="288000">
                <a:tc>
                  <a:txBody>
                    <a:bodyPr wrap="square" lIns="43200" rIns="43200" tIns="7200" bIns="7200" anchor="ctr"/>
                    <a:lstStyle/>
                    <a:p>
                      <a:pPr algn="l"/>
                      <a:r>
                        <a:rPr sz="1100" b="1">
                          <a:solidFill>
                            <a:srgbClr val="333333"/>
                          </a:solidFill>
                          <a:latin typeface="メイリオ"/>
                          <a:ea typeface="メイリオ"/>
                          <a:cs typeface="メイリオ"/>
                        </a:rPr>
                        <a:t>CPO（入会1件）</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74,000円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78,000円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42,000円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54,000円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55,000円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38,000円</a:t>
                      </a:r>
                    </a:p>
                  </a:txBody>
                  <a:tcPr anchor="ctr">
                    <a:solidFill>
                      <a:srgbClr val="F4F7FF"/>
                    </a:solidFill>
                  </a:tcPr>
                </a:tc>
              </a:tr>
            </a:tbl>
          </a:graphicData>
        </a:graphic>
      </p:graphicFrame>
      <p:sp>
        <p:nvSpPr>
          <p:cNvPr id="50" name="TextBox 49"/>
          <p:cNvSpPr txBox="1"/>
          <p:nvPr/>
        </p:nvSpPr>
        <p:spPr>
          <a:xfrm>
            <a:off x="432000" y="5724000"/>
            <a:ext cx="9043200" cy="503999"/>
          </a:xfrm>
          <a:prstGeom prst="rect">
            <a:avLst/>
          </a:prstGeom>
          <a:noFill/>
        </p:spPr>
        <p:txBody>
          <a:bodyPr wrap="square" lIns="0" rIns="0" tIns="21600" bIns="21600" anchor="t">
            <a:spAutoFit/>
          </a:bodyPr>
          <a:lstStyle/>
          <a:p>
            <a:pPr algn="l">
              <a:lnSpc>
                <a:spcPct val="120000"/>
              </a:lnSpc>
            </a:pPr>
            <a:r>
              <a:rPr sz="900">
                <a:solidFill>
                  <a:srgbClr val="7F7F7F"/>
                </a:solidFill>
                <a:latin typeface="メイリオ"/>
                <a:ea typeface="メイリオ"/>
                <a:cs typeface="メイリオ"/>
              </a:rPr>
              <a:t>※CPA＝（固定費＋成果報酬 体験予約1件2,000円）÷体験予約。CPO＝（固定費＋成果報酬＋入会案内のコンサル費 50,000円）÷入会。初期費用は含みません。固定費は1〜3か月目20,000円、4か月目から40,000円。入会＝体験予約×入会引き上げ率（忍者ナイン40%・チャイルドアイズ25%）。各月の入会は整数にし、6か月の合計（17件・11件）に合わせています。サンクスLINE誘導（オプション）の費用は含みません。</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想定動線（既存の効率化）</a:t>
            </a: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このパートでは、友だち追加後の配信と、ユーザー対応・管理側の効率化をご説明します。</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（薄く表示している部分は、新規友だち獲得のパートでご説明します）</a:t>
            </a:r>
          </a:p>
        </p:txBody>
      </p:sp>
      <p:sp>
        <p:nvSpPr>
          <p:cNvPr id="71" name="Rectangle 70"/>
          <p:cNvSpPr/>
          <p:nvPr/>
        </p:nvSpPr>
        <p:spPr>
          <a:xfrm>
            <a:off x="468000" y="1890000"/>
            <a:ext cx="3150000" cy="21420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58000" y="5813999"/>
            <a:ext cx="2628000" cy="5940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想定動線（新規友だち獲得）</a:t>
            </a: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このパートでは、友だち追加までの動線（離脱防止バナー・サンクスLINE誘導など）をご説明します。</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（薄く表示している部分は、既存の効率化のパートでご説明します）</a:t>
            </a:r>
          </a:p>
        </p:txBody>
      </p:sp>
      <p:sp>
        <p:nvSpPr>
          <p:cNvPr id="71" name="Rectangle 70"/>
          <p:cNvSpPr/>
          <p:nvPr/>
        </p:nvSpPr>
        <p:spPr>
          <a:xfrm>
            <a:off x="5238000" y="1530000"/>
            <a:ext cx="4428000" cy="16632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238000" y="3193199"/>
            <a:ext cx="144000" cy="2592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711200" y="3193199"/>
            <a:ext cx="1954800" cy="2592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238000" y="3452400"/>
            <a:ext cx="4428000" cy="5976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726000" y="2718000"/>
            <a:ext cx="1494000" cy="13320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581999" y="4446000"/>
            <a:ext cx="6083999" cy="2015999"/>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58000" y="4644000"/>
            <a:ext cx="1655999" cy="11520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【オプション】QA自動化（タップで選ぶチャットボット）</a:t>
            </a: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キーワード応答（コンサルに含む）に加え、タップで選ぶチャットボットを組み込むオプションです。</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体験予約の前の疑問（月謝・送迎・振替など）に24時間すぐにお答えし、体験予約へつなげます。</a:t>
            </a:r>
          </a:p>
        </p:txBody>
      </p:sp>
      <p:sp>
        <p:nvSpPr>
          <p:cNvPr id="46" name="Rounded Rectangle 45"/>
          <p:cNvSpPr/>
          <p:nvPr/>
        </p:nvSpPr>
        <p:spPr>
          <a:xfrm>
            <a:off x="432000" y="1720800"/>
            <a:ext cx="29184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目的</a:t>
            </a:r>
          </a:p>
        </p:txBody>
      </p:sp>
      <p:sp>
        <p:nvSpPr>
          <p:cNvPr id="47" name="Rounded Rectangle 46"/>
          <p:cNvSpPr/>
          <p:nvPr/>
        </p:nvSpPr>
        <p:spPr>
          <a:xfrm>
            <a:off x="432000" y="2116799"/>
            <a:ext cx="2918400" cy="2988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25999" rIns="108000" tIns="125999" bIns="21600"/>
          <a:lstStyle/>
          <a:p>
            <a:pPr algn="l">
              <a:lnSpc>
                <a:spcPct val="135000"/>
              </a:lnSpc>
              <a:spcAft>
                <a:spcPts val="800"/>
              </a:spcAft>
            </a:pPr>
            <a:r>
              <a:rPr sz="1150">
                <a:solidFill>
                  <a:srgbClr val="333333"/>
                </a:solidFill>
                <a:latin typeface="メイリオ"/>
                <a:ea typeface="メイリオ"/>
                <a:cs typeface="メイリオ"/>
              </a:rPr>
              <a:t>・機会損失を防ぐ：夜間・休日も疑問をその場で解消し、他の教室への流出・離脱を防ぐ</a:t>
            </a:r>
          </a:p>
          <a:p>
            <a:pPr algn="l">
              <a:lnSpc>
                <a:spcPct val="135000"/>
              </a:lnSpc>
              <a:spcAft>
                <a:spcPts val="800"/>
              </a:spcAft>
            </a:pPr>
            <a:r>
              <a:rPr sz="1150">
                <a:solidFill>
                  <a:srgbClr val="333333"/>
                </a:solidFill>
                <a:latin typeface="メイリオ"/>
                <a:ea typeface="メイリオ"/>
                <a:cs typeface="メイリオ"/>
              </a:rPr>
              <a:t>・問い合わせ対応の工数を減らす：電話・メールで多い定型の質問に自動で回答</a:t>
            </a:r>
          </a:p>
          <a:p>
            <a:pPr algn="l">
              <a:lnSpc>
                <a:spcPct val="135000"/>
              </a:lnSpc>
              <a:spcAft>
                <a:spcPts val="800"/>
              </a:spcAft>
            </a:pPr>
            <a:r>
              <a:rPr sz="1150">
                <a:solidFill>
                  <a:srgbClr val="333333"/>
                </a:solidFill>
                <a:latin typeface="メイリオ"/>
                <a:ea typeface="メイリオ"/>
                <a:cs typeface="メイリオ"/>
              </a:rPr>
              <a:t>・大事なご相談に集中：スタッフは個別相談・体験後のフォローに時間を使える</a:t>
            </a:r>
          </a:p>
        </p:txBody>
      </p:sp>
      <p:sp>
        <p:nvSpPr>
          <p:cNvPr id="48" name="Rounded Rectangle 47"/>
          <p:cNvSpPr/>
          <p:nvPr/>
        </p:nvSpPr>
        <p:spPr>
          <a:xfrm>
            <a:off x="3494400" y="1720800"/>
            <a:ext cx="29184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組み込み方</a:t>
            </a:r>
          </a:p>
        </p:txBody>
      </p:sp>
      <p:sp>
        <p:nvSpPr>
          <p:cNvPr id="49" name="Rounded Rectangle 48"/>
          <p:cNvSpPr/>
          <p:nvPr/>
        </p:nvSpPr>
        <p:spPr>
          <a:xfrm>
            <a:off x="3494400" y="2116799"/>
            <a:ext cx="2918400" cy="2988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25999" rIns="108000" tIns="125999" bIns="21600"/>
          <a:lstStyle/>
          <a:p>
            <a:pPr algn="l">
              <a:lnSpc>
                <a:spcPct val="135000"/>
              </a:lnSpc>
              <a:spcAft>
                <a:spcPts val="800"/>
              </a:spcAft>
            </a:pPr>
            <a:r>
              <a:rPr sz="1150">
                <a:solidFill>
                  <a:srgbClr val="333333"/>
                </a:solidFill>
                <a:latin typeface="メイリオ"/>
                <a:ea typeface="メイリオ"/>
                <a:cs typeface="メイリオ"/>
              </a:rPr>
              <a:t>・リッチメニューの押しやすい位置に「よくある質問」「個別相談」を常設</a:t>
            </a:r>
          </a:p>
          <a:p>
            <a:pPr algn="l">
              <a:lnSpc>
                <a:spcPct val="135000"/>
              </a:lnSpc>
              <a:spcAft>
                <a:spcPts val="800"/>
              </a:spcAft>
            </a:pPr>
            <a:r>
              <a:rPr sz="1150">
                <a:solidFill>
                  <a:srgbClr val="333333"/>
                </a:solidFill>
                <a:latin typeface="メイリオ"/>
                <a:ea typeface="メイリオ"/>
                <a:cs typeface="メイリオ"/>
              </a:rPr>
              <a:t>・一次対応：定型の質問はタップで選ぶ形の自動回答ですぐに解決</a:t>
            </a:r>
          </a:p>
          <a:p>
            <a:pPr algn="l">
              <a:lnSpc>
                <a:spcPct val="135000"/>
              </a:lnSpc>
              <a:spcAft>
                <a:spcPts val="800"/>
              </a:spcAft>
            </a:pPr>
            <a:r>
              <a:rPr sz="1150">
                <a:solidFill>
                  <a:srgbClr val="333333"/>
                </a:solidFill>
                <a:latin typeface="メイリオ"/>
                <a:ea typeface="メイリオ"/>
                <a:cs typeface="メイリオ"/>
              </a:rPr>
              <a:t>・二次対応：複雑なご相談だけ1対1のトーク（有人）に引き継ぐ</a:t>
            </a:r>
          </a:p>
        </p:txBody>
      </p:sp>
      <p:sp>
        <p:nvSpPr>
          <p:cNvPr id="50" name="Rounded Rectangle 49"/>
          <p:cNvSpPr/>
          <p:nvPr/>
        </p:nvSpPr>
        <p:spPr>
          <a:xfrm>
            <a:off x="6556800" y="1720800"/>
            <a:ext cx="29184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設計のポイント</a:t>
            </a:r>
          </a:p>
        </p:txBody>
      </p:sp>
      <p:sp>
        <p:nvSpPr>
          <p:cNvPr id="51" name="Rounded Rectangle 50"/>
          <p:cNvSpPr/>
          <p:nvPr/>
        </p:nvSpPr>
        <p:spPr>
          <a:xfrm>
            <a:off x="6556800" y="2116799"/>
            <a:ext cx="2918400" cy="2988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25999" rIns="108000" tIns="125999" bIns="21600"/>
          <a:lstStyle/>
          <a:p>
            <a:pPr algn="l">
              <a:lnSpc>
                <a:spcPct val="135000"/>
              </a:lnSpc>
              <a:spcAft>
                <a:spcPts val="800"/>
              </a:spcAft>
            </a:pPr>
            <a:r>
              <a:rPr sz="1150">
                <a:solidFill>
                  <a:srgbClr val="333333"/>
                </a:solidFill>
                <a:latin typeface="メイリオ"/>
                <a:ea typeface="メイリオ"/>
                <a:cs typeface="メイリオ"/>
              </a:rPr>
              <a:t>・貴社の電話・メールでの問い合わせ実績と競合の情報から、質問を洗い出す</a:t>
            </a:r>
          </a:p>
          <a:p>
            <a:pPr algn="l">
              <a:lnSpc>
                <a:spcPct val="135000"/>
              </a:lnSpc>
              <a:spcAft>
                <a:spcPts val="800"/>
              </a:spcAft>
            </a:pPr>
            <a:r>
              <a:rPr sz="1150">
                <a:solidFill>
                  <a:srgbClr val="333333"/>
                </a:solidFill>
                <a:latin typeface="メイリオ"/>
                <a:ea typeface="メイリオ"/>
                <a:cs typeface="メイリオ"/>
              </a:rPr>
              <a:t>・体験予約の前に必ず気になる点（月謝・入会金・送迎・振替・持ち物）を優先してセット</a:t>
            </a:r>
          </a:p>
          <a:p>
            <a:pPr algn="l">
              <a:lnSpc>
                <a:spcPct val="135000"/>
              </a:lnSpc>
              <a:spcAft>
                <a:spcPts val="800"/>
              </a:spcAft>
            </a:pPr>
            <a:r>
              <a:rPr sz="1150">
                <a:solidFill>
                  <a:srgbClr val="333333"/>
                </a:solidFill>
                <a:latin typeface="メイリオ"/>
                <a:ea typeface="メイリオ"/>
                <a:cs typeface="メイリオ"/>
              </a:rPr>
              <a:t>・質問を増やしすぎず、タップで迷わず答えにたどり着ける階層にする</a:t>
            </a:r>
          </a:p>
        </p:txBody>
      </p:sp>
      <p:sp>
        <p:nvSpPr>
          <p:cNvPr id="52" name="Rounded Rectangle 51"/>
          <p:cNvSpPr/>
          <p:nvPr/>
        </p:nvSpPr>
        <p:spPr>
          <a:xfrm>
            <a:off x="3783600" y="5266800"/>
            <a:ext cx="2340000" cy="396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600" b="1">
                <a:solidFill>
                  <a:srgbClr val="FFFFFF"/>
                </a:solidFill>
                <a:latin typeface="メイリオ"/>
                <a:ea typeface="メイリオ"/>
                <a:cs typeface="メイリオ"/>
              </a:rPr>
              <a:t>初期 5万円〜</a:t>
            </a:r>
          </a:p>
        </p:txBody>
      </p:sp>
      <p:sp>
        <p:nvSpPr>
          <p:cNvPr id="53" name="TextBox 52"/>
          <p:cNvSpPr txBox="1"/>
          <p:nvPr/>
        </p:nvSpPr>
        <p:spPr>
          <a:xfrm>
            <a:off x="432000" y="5698800"/>
            <a:ext cx="9043200" cy="251999"/>
          </a:xfrm>
          <a:prstGeom prst="rect">
            <a:avLst/>
          </a:prstGeom>
          <a:noFill/>
        </p:spPr>
        <p:txBody>
          <a:bodyPr wrap="square" lIns="0" rIns="0" tIns="21600" bIns="21600" anchor="ctr">
            <a:spAutoFit/>
          </a:bodyPr>
          <a:lstStyle/>
          <a:p>
            <a:pPr algn="ctr"/>
            <a:r>
              <a:rPr sz="1000">
                <a:solidFill>
                  <a:srgbClr val="7F7F7F"/>
                </a:solidFill>
                <a:latin typeface="メイリオ"/>
                <a:ea typeface="メイリオ"/>
                <a:cs typeface="メイリオ"/>
              </a:rPr>
              <a:t>※質問の数・階層により変動します</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【オプション】CPO改善のご提案｜サンクスLINE誘導</a:t>
            </a: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体験予約の完了画面からLINEへつなげ、来場・入会までを後押しします。</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入会率が上がるほど、入会1件あたりの費用（CPO）が下がります。</a:t>
            </a:r>
          </a:p>
        </p:txBody>
      </p:sp>
      <p:sp>
        <p:nvSpPr>
          <p:cNvPr id="46" name="Rounded Rectangle 45"/>
          <p:cNvSpPr/>
          <p:nvPr/>
        </p:nvSpPr>
        <p:spPr>
          <a:xfrm>
            <a:off x="432000" y="1999799"/>
            <a:ext cx="1548000" cy="900000"/>
          </a:xfrm>
          <a:prstGeom prst="roundRect">
            <a:avLst>
              <a:gd name="adj" fmla="val 10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lnSpc>
                <a:spcPct val="120000"/>
              </a:lnSpc>
            </a:pPr>
            <a:r>
              <a:rPr sz="1300" b="1">
                <a:solidFill>
                  <a:srgbClr val="1F285A"/>
                </a:solidFill>
                <a:latin typeface="メイリオ"/>
                <a:ea typeface="メイリオ"/>
                <a:cs typeface="メイリオ"/>
              </a:rPr>
              <a:t>体験予約</a:t>
            </a:r>
          </a:p>
          <a:p>
            <a:pPr algn="ctr">
              <a:lnSpc>
                <a:spcPct val="120000"/>
              </a:lnSpc>
            </a:pPr>
            <a:r>
              <a:rPr sz="1100" b="0">
                <a:solidFill>
                  <a:srgbClr val="1F285A"/>
                </a:solidFill>
                <a:latin typeface="メイリオ"/>
                <a:ea typeface="メイリオ"/>
                <a:cs typeface="メイリオ"/>
              </a:rPr>
              <a:t>フォーム</a:t>
            </a:r>
          </a:p>
        </p:txBody>
      </p:sp>
      <p:sp>
        <p:nvSpPr>
          <p:cNvPr id="47" name="Right Arrow 46"/>
          <p:cNvSpPr/>
          <p:nvPr/>
        </p:nvSpPr>
        <p:spPr>
          <a:xfrm>
            <a:off x="2052000" y="2287799"/>
            <a:ext cx="288000" cy="32400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2412000" y="1999799"/>
            <a:ext cx="1548000" cy="900000"/>
          </a:xfrm>
          <a:prstGeom prst="roundRect">
            <a:avLst>
              <a:gd name="adj" fmla="val 10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lnSpc>
                <a:spcPct val="120000"/>
              </a:lnSpc>
            </a:pPr>
            <a:r>
              <a:rPr sz="1300" b="1">
                <a:solidFill>
                  <a:srgbClr val="1F285A"/>
                </a:solidFill>
                <a:latin typeface="メイリオ"/>
                <a:ea typeface="メイリオ"/>
                <a:cs typeface="メイリオ"/>
              </a:rPr>
              <a:t>予約完了</a:t>
            </a:r>
          </a:p>
          <a:p>
            <a:pPr algn="ctr">
              <a:lnSpc>
                <a:spcPct val="120000"/>
              </a:lnSpc>
            </a:pPr>
            <a:r>
              <a:rPr sz="1100" b="0">
                <a:solidFill>
                  <a:srgbClr val="1F285A"/>
                </a:solidFill>
                <a:latin typeface="メイリオ"/>
                <a:ea typeface="メイリオ"/>
                <a:cs typeface="メイリオ"/>
              </a:rPr>
              <a:t>の画面</a:t>
            </a:r>
          </a:p>
        </p:txBody>
      </p:sp>
      <p:sp>
        <p:nvSpPr>
          <p:cNvPr id="49" name="Right Arrow 48"/>
          <p:cNvSpPr/>
          <p:nvPr/>
        </p:nvSpPr>
        <p:spPr>
          <a:xfrm>
            <a:off x="4031999" y="2287799"/>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392000" y="1999799"/>
            <a:ext cx="1440000" cy="90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lnSpc>
                <a:spcPct val="120000"/>
              </a:lnSpc>
            </a:pPr>
            <a:r>
              <a:rPr sz="1300" b="1">
                <a:solidFill>
                  <a:srgbClr val="FFFFFF"/>
                </a:solidFill>
                <a:latin typeface="メイリオ"/>
                <a:ea typeface="メイリオ"/>
                <a:cs typeface="メイリオ"/>
              </a:rPr>
              <a:t>DYMの</a:t>
            </a:r>
          </a:p>
          <a:p>
            <a:pPr algn="ctr">
              <a:lnSpc>
                <a:spcPct val="120000"/>
              </a:lnSpc>
            </a:pPr>
            <a:r>
              <a:rPr sz="1100" b="0">
                <a:solidFill>
                  <a:srgbClr val="FFFFFF"/>
                </a:solidFill>
                <a:latin typeface="メイリオ"/>
                <a:ea typeface="メイリオ"/>
                <a:cs typeface="メイリオ"/>
              </a:rPr>
              <a:t>ツールで</a:t>
            </a:r>
          </a:p>
          <a:p>
            <a:pPr algn="ctr">
              <a:lnSpc>
                <a:spcPct val="120000"/>
              </a:lnSpc>
            </a:pPr>
            <a:r>
              <a:rPr sz="1100" b="0">
                <a:solidFill>
                  <a:srgbClr val="FFFFFF"/>
                </a:solidFill>
                <a:latin typeface="メイリオ"/>
                <a:ea typeface="メイリオ"/>
                <a:cs typeface="メイリオ"/>
              </a:rPr>
              <a:t>LINEへ</a:t>
            </a:r>
          </a:p>
        </p:txBody>
      </p:sp>
      <p:sp>
        <p:nvSpPr>
          <p:cNvPr id="51" name="Right Arrow 50"/>
          <p:cNvSpPr/>
          <p:nvPr/>
        </p:nvSpPr>
        <p:spPr>
          <a:xfrm>
            <a:off x="5903999" y="2287799"/>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263999" y="1999799"/>
            <a:ext cx="1584000" cy="900000"/>
          </a:xfrm>
          <a:prstGeom prst="roundRect">
            <a:avLst>
              <a:gd name="adj" fmla="val 10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lnSpc>
                <a:spcPct val="120000"/>
              </a:lnSpc>
            </a:pPr>
            <a:r>
              <a:rPr sz="1200" b="1">
                <a:solidFill>
                  <a:srgbClr val="0B7A3B"/>
                </a:solidFill>
                <a:latin typeface="メイリオ"/>
                <a:ea typeface="メイリオ"/>
                <a:cs typeface="メイリオ"/>
              </a:rPr>
              <a:t>体験前の案内</a:t>
            </a:r>
          </a:p>
          <a:p>
            <a:pPr algn="ctr">
              <a:lnSpc>
                <a:spcPct val="120000"/>
              </a:lnSpc>
            </a:pPr>
            <a:r>
              <a:rPr sz="1000" b="0">
                <a:solidFill>
                  <a:srgbClr val="0B7A3B"/>
                </a:solidFill>
                <a:latin typeface="メイリオ"/>
                <a:ea typeface="メイリオ"/>
                <a:cs typeface="メイリオ"/>
              </a:rPr>
              <a:t>体験後のフォロー</a:t>
            </a:r>
          </a:p>
        </p:txBody>
      </p:sp>
      <p:sp>
        <p:nvSpPr>
          <p:cNvPr id="53" name="Right Arrow 52"/>
          <p:cNvSpPr/>
          <p:nvPr/>
        </p:nvSpPr>
        <p:spPr>
          <a:xfrm>
            <a:off x="7920000" y="2287799"/>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280000" y="1999799"/>
            <a:ext cx="1195200" cy="90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lnSpc>
                <a:spcPct val="120000"/>
              </a:lnSpc>
            </a:pPr>
            <a:r>
              <a:rPr sz="1500" b="1">
                <a:solidFill>
                  <a:srgbClr val="FFFFFF"/>
                </a:solidFill>
                <a:latin typeface="メイリオ"/>
                <a:ea typeface="メイリオ"/>
                <a:cs typeface="メイリオ"/>
              </a:rPr>
              <a:t>入会</a:t>
            </a:r>
          </a:p>
        </p:txBody>
      </p:sp>
      <p:sp>
        <p:nvSpPr>
          <p:cNvPr id="55" name="Rounded Rectangle 54"/>
          <p:cNvSpPr/>
          <p:nvPr/>
        </p:nvSpPr>
        <p:spPr>
          <a:xfrm>
            <a:off x="432000" y="3079800"/>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5999" rIns="108000" tIns="90000" bIns="54000"/>
          <a:lstStyle/>
          <a:p>
            <a:pPr algn="l">
              <a:spcAft>
                <a:spcPts val="500"/>
              </a:spcAft>
            </a:pPr>
            <a:r>
              <a:rPr sz="1250" b="1">
                <a:solidFill>
                  <a:srgbClr val="1F285A"/>
                </a:solidFill>
                <a:latin typeface="メイリオ"/>
                <a:ea typeface="メイリオ"/>
                <a:cs typeface="メイリオ"/>
              </a:rPr>
              <a:t>予約の直後に案内</a:t>
            </a:r>
          </a:p>
          <a:p>
            <a:pPr algn="l">
              <a:lnSpc>
                <a:spcPct val="125000"/>
              </a:lnSpc>
              <a:spcAft>
                <a:spcPts val="200"/>
              </a:spcAft>
            </a:pPr>
            <a:r>
              <a:rPr sz="1050">
                <a:solidFill>
                  <a:srgbClr val="333333"/>
                </a:solidFill>
                <a:latin typeface="メイリオ"/>
                <a:ea typeface="メイリオ"/>
                <a:cs typeface="メイリオ"/>
              </a:rPr>
              <a:t>関心が一番高いタイミングなので、友だちになっていただきやすい</a:t>
            </a:r>
          </a:p>
        </p:txBody>
      </p:sp>
      <p:sp>
        <p:nvSpPr>
          <p:cNvPr id="56" name="Rounded Rectangle 55"/>
          <p:cNvSpPr/>
          <p:nvPr/>
        </p:nvSpPr>
        <p:spPr>
          <a:xfrm>
            <a:off x="3477600" y="3079800"/>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5999" rIns="108000" tIns="90000" bIns="54000"/>
          <a:lstStyle/>
          <a:p>
            <a:pPr algn="l">
              <a:spcAft>
                <a:spcPts val="500"/>
              </a:spcAft>
            </a:pPr>
            <a:r>
              <a:rPr sz="1250" b="1">
                <a:solidFill>
                  <a:srgbClr val="1F285A"/>
                </a:solidFill>
                <a:latin typeface="メイリオ"/>
                <a:ea typeface="メイリオ"/>
                <a:cs typeface="メイリオ"/>
              </a:rPr>
              <a:t>予約内容をトークに反映</a:t>
            </a:r>
          </a:p>
          <a:p>
            <a:pPr algn="l">
              <a:lnSpc>
                <a:spcPct val="125000"/>
              </a:lnSpc>
              <a:spcAft>
                <a:spcPts val="200"/>
              </a:spcAft>
            </a:pPr>
            <a:r>
              <a:rPr sz="1050">
                <a:solidFill>
                  <a:srgbClr val="333333"/>
                </a:solidFill>
                <a:latin typeface="メイリオ"/>
                <a:ea typeface="メイリオ"/>
                <a:cs typeface="メイリオ"/>
              </a:rPr>
              <a:t>体験内容に合わせて、案内を出し分けます</a:t>
            </a:r>
          </a:p>
        </p:txBody>
      </p:sp>
      <p:sp>
        <p:nvSpPr>
          <p:cNvPr id="57" name="Rounded Rectangle 56"/>
          <p:cNvSpPr/>
          <p:nvPr/>
        </p:nvSpPr>
        <p:spPr>
          <a:xfrm>
            <a:off x="6523200" y="3079800"/>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5999" rIns="108000" tIns="90000" bIns="54000"/>
          <a:lstStyle/>
          <a:p>
            <a:pPr algn="l">
              <a:spcAft>
                <a:spcPts val="500"/>
              </a:spcAft>
            </a:pPr>
            <a:r>
              <a:rPr sz="1250" b="1">
                <a:solidFill>
                  <a:srgbClr val="1F285A"/>
                </a:solidFill>
                <a:latin typeface="メイリオ"/>
                <a:ea typeface="メイリオ"/>
                <a:cs typeface="メイリオ"/>
              </a:rPr>
              <a:t>体験前後のフォロー</a:t>
            </a:r>
          </a:p>
          <a:p>
            <a:pPr algn="l">
              <a:lnSpc>
                <a:spcPct val="125000"/>
              </a:lnSpc>
              <a:spcAft>
                <a:spcPts val="200"/>
              </a:spcAft>
            </a:pPr>
            <a:r>
              <a:rPr sz="1050">
                <a:solidFill>
                  <a:srgbClr val="333333"/>
                </a:solidFill>
                <a:latin typeface="メイリオ"/>
                <a:ea typeface="メイリオ"/>
                <a:cs typeface="メイリオ"/>
              </a:rPr>
              <a:t>体験前の案内で来場を、体験後のフォローで入会を後押しします</a:t>
            </a:r>
          </a:p>
        </p:txBody>
      </p:sp>
      <p:sp>
        <p:nvSpPr>
          <p:cNvPr id="58" name="Rounded Rectangle 57"/>
          <p:cNvSpPr/>
          <p:nvPr/>
        </p:nvSpPr>
        <p:spPr>
          <a:xfrm>
            <a:off x="432000" y="4123800"/>
            <a:ext cx="9043200" cy="468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0" bIns="0"/>
          <a:lstStyle/>
          <a:p>
            <a:pPr algn="ctr">
              <a:lnSpc>
                <a:spcPct val="125000"/>
              </a:lnSpc>
            </a:pPr>
            <a:r>
              <a:rPr sz="1400" b="1">
                <a:solidFill>
                  <a:srgbClr val="FFFFFF"/>
                </a:solidFill>
                <a:latin typeface="メイリオ"/>
                <a:ea typeface="メイリオ"/>
                <a:cs typeface="メイリオ"/>
              </a:rPr>
              <a:t>弊社実績：美容クリニックで、予約後の来院率が40〜50%改善</a:t>
            </a:r>
          </a:p>
        </p:txBody>
      </p:sp>
      <p:sp>
        <p:nvSpPr>
          <p:cNvPr id="59" name="Rounded Rectangle 58"/>
          <p:cNvSpPr/>
          <p:nvPr/>
        </p:nvSpPr>
        <p:spPr>
          <a:xfrm>
            <a:off x="2559600" y="4753800"/>
            <a:ext cx="2340000" cy="46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600" b="1">
                <a:solidFill>
                  <a:srgbClr val="FFFFFF"/>
                </a:solidFill>
                <a:latin typeface="メイリオ"/>
                <a:ea typeface="メイリオ"/>
                <a:cs typeface="メイリオ"/>
              </a:rPr>
              <a:t>初期 15万円</a:t>
            </a:r>
          </a:p>
        </p:txBody>
      </p:sp>
      <p:sp>
        <p:nvSpPr>
          <p:cNvPr id="60" name="Rounded Rectangle 59"/>
          <p:cNvSpPr/>
          <p:nvPr/>
        </p:nvSpPr>
        <p:spPr>
          <a:xfrm>
            <a:off x="5007600" y="4753800"/>
            <a:ext cx="2340000" cy="46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600" b="1">
                <a:solidFill>
                  <a:srgbClr val="FFFFFF"/>
                </a:solidFill>
                <a:latin typeface="メイリオ"/>
                <a:ea typeface="メイリオ"/>
                <a:cs typeface="メイリオ"/>
              </a:rPr>
              <a:t>月額 5万円</a:t>
            </a:r>
          </a:p>
        </p:txBody>
      </p:sp>
      <p:sp>
        <p:nvSpPr>
          <p:cNvPr id="61" name="TextBox 60"/>
          <p:cNvSpPr txBox="1"/>
          <p:nvPr/>
        </p:nvSpPr>
        <p:spPr>
          <a:xfrm>
            <a:off x="432000" y="5275800"/>
            <a:ext cx="9043200" cy="396000"/>
          </a:xfrm>
          <a:prstGeom prst="rect">
            <a:avLst/>
          </a:prstGeom>
          <a:noFill/>
        </p:spPr>
        <p:txBody>
          <a:bodyPr wrap="square" lIns="0" rIns="0" tIns="21600" bIns="21600" anchor="ctr">
            <a:spAutoFit/>
          </a:bodyPr>
          <a:lstStyle/>
          <a:p>
            <a:pPr algn="ctr"/>
            <a:r>
              <a:rPr sz="1000">
                <a:solidFill>
                  <a:srgbClr val="7F7F7F"/>
                </a:solidFill>
                <a:latin typeface="メイリオ"/>
                <a:ea typeface="メイリオ"/>
                <a:cs typeface="メイリオ"/>
              </a:rPr>
              <a:t>※APIツール（Lステップ等）と併用可／完了画面を増やす場合は追加費用</a:t>
            </a:r>
          </a:p>
          <a:p>
            <a:pPr algn="ctr"/>
            <a:r>
              <a:rPr sz="1000">
                <a:solidFill>
                  <a:srgbClr val="7F7F7F"/>
                </a:solidFill>
                <a:latin typeface="メイリオ"/>
                <a:ea typeface="メイリオ"/>
                <a:cs typeface="メイリオ"/>
              </a:rPr>
              <a:t>※「想定の費用対効果」には含まれない、追加のご提案です</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143163</TotalTime>
  <Words>6375</Words>
  <Application>Microsoft Office PowerPoint</Application>
  <PresentationFormat>A4 210 x 297 mm</PresentationFormat>
  <Paragraphs>1621</Paragraphs>
  <Slides>59</Slides>
  <Notes>28</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59</vt:i4>
      </vt:variant>
    </vt:vector>
  </HeadingPairs>
  <TitlesOfParts>
    <vt:vector size="66"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1956</cp:revision>
  <cp:lastPrinted>2022-11-01T11:38:14Z</cp:lastPrinted>
  <dcterms:created xsi:type="dcterms:W3CDTF">2015-09-04T09:21:15Z</dcterms:created>
  <dcterms:modified xsi:type="dcterms:W3CDTF">2026-09-30T10:15:40Z</dcterms:modified>
</cp:coreProperties>
</file>