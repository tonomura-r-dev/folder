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7.xml" ContentType="application/vnd.openxmlformats-officedocument.presentationml.slide+xml"/>
  <Override PartName="/ppt/slides/slide31.xml" ContentType="application/vnd.openxmlformats-officedocument.presentationml.slide+xml"/>
  <Override PartName="/ppt/slides/slide6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35" r:id="rId8"/>
    <p:sldId id="2919" r:id="rId9"/>
    <p:sldId id="2519" r:id="rId10"/>
    <p:sldId id="2931" r:id="rId11"/>
    <p:sldId id="2952" r:id="rId12"/>
    <p:sldId id="2956" r:id="rId13"/>
    <p:sldId id="2639" r:id="rId33"/>
    <p:sldId id="2959" r:id="rId29"/>
    <p:sldId id="2749" r:id="rId14"/>
    <p:sldId id="2736" r:id="rId15"/>
    <p:sldId id="1169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29" Type="http://schemas.openxmlformats.org/officeDocument/2006/relationships/slide" Target="slides/slide27.xml"/><Relationship Id="rId33" Type="http://schemas.openxmlformats.org/officeDocument/2006/relationships/slide" Target="slides/slide3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開封率</c:v>
                </c:pt>
              </c:strCache>
            </c:strRef>
          </c:tx>
          <c:spPr>
            <a:solidFill>
              <a:srgbClr val="3467B2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8/24</c:v>
                </c:pt>
                <c:pt idx="1">
                  <c:v>8/31</c:v>
                </c:pt>
                <c:pt idx="2">
                  <c:v>9/10</c:v>
                </c:pt>
                <c:pt idx="3">
                  <c:v>9/18</c:v>
                </c:pt>
                <c:pt idx="4">
                  <c:v>9/25</c:v>
                </c:pt>
              </c:strCache>
            </c:strRef>
          </c:cat>
          <c:val>
            <c:numRef>
              <c:f>Sheet1!$B$2:$B$6</c:f>
              <c:numCache>
                <c:formatCode>0.0%</c:formatCode>
                <c:ptCount val="5"/>
                <c:pt idx="0">
                  <c:v>0.426</c:v>
                </c:pt>
                <c:pt idx="1">
                  <c:v>0.371</c:v>
                </c:pt>
                <c:pt idx="2">
                  <c:v>0.362</c:v>
                </c:pt>
                <c:pt idx="3">
                  <c:v>0.332</c:v>
                </c:pt>
                <c:pt idx="4">
                  <c:v>0.301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400" b="1">
                  <a:solidFill>
                    <a:srgbClr val="333333"/>
                  </a:solidFill>
                  <a:latin typeface="メイリオ"/>
                  <a:ea typeface="メイリオ"/>
                  <a:cs typeface="メイリオ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333333"/>
          </a:solidFill>
          <a:latin typeface="メイリオ"/>
          <a:ea typeface="メイリオ"/>
          <a:cs typeface="メイリオ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46031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26571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ED428-D571-14FF-D396-D7175DA0F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271AB2A-80AE-D1AA-E70B-86CDF93505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C0C2926-5D95-6624-6AD9-E45C55289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6DFD87-0439-882A-B65E-9CEE51F203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2022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62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2.jpeg"/><Relationship Id="rId3" Type="http://schemas.openxmlformats.org/officeDocument/2006/relationships/image" Target="../media/image43.jpe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jpe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1.jpeg"/><Relationship Id="rId5" Type="http://schemas.openxmlformats.org/officeDocument/2006/relationships/image" Target="../media/image92.jpeg"/><Relationship Id="rId6" Type="http://schemas.openxmlformats.org/officeDocument/2006/relationships/image" Target="../media/image93.jpeg"/><Relationship Id="rId7" Type="http://schemas.openxmlformats.org/officeDocument/2006/relationships/image" Target="../media/image94.jpeg"/><Relationship Id="rId8" Type="http://schemas.openxmlformats.org/officeDocument/2006/relationships/image" Target="../media/image9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822960" y="3038203"/>
            <a:ext cx="825703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/>
                <a:ea typeface="メイリオ"/>
                <a:cs typeface="メイリオ"/>
              </a:rPr>
              <a:t>LINE公式アカウント　10月以降のご提案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  <a:cs typeface="メイリオ"/>
              </a:rPr>
              <a:t>LINEの友だちを「買ったお客様」で増やす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2823677" y="3910946"/>
            <a:ext cx="420624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  <a:cs typeface="メイリオ"/>
              </a:rPr>
              <a:t>インクアート株式会社 御中　2026年10月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9月の結果①　絞り込み配信で、ブロックが減りました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645920"/>
            <a:ext cx="2606040" cy="45720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全員に配信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3952" y="1645920"/>
            <a:ext cx="2651760" cy="45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絞り込み配信（9月）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8805672" cy="164592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2057400" cy="1645920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1回の配信で増えたブロック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286000"/>
            <a:ext cx="2880360" cy="1645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4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19〜37人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15584" y="2880360"/>
            <a:ext cx="41148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2286000"/>
            <a:ext cx="2926080" cy="1645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数人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160520"/>
            <a:ext cx="8805672" cy="164592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60520"/>
            <a:ext cx="2057400" cy="1645920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4160520"/>
            <a:ext cx="2880360" cy="1645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4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17〜21%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15584" y="4754880"/>
            <a:ext cx="41148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4160520"/>
            <a:ext cx="2926080" cy="1645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30〜36%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45352"/>
            <a:ext cx="8805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出典：LINE公式アカウント管理画面。ブロックは6〜8月＝配信当日の増加、9月＝配信日から3日間の増加（配信の無い3日間でも約4人増える）。開封率は7〜8月の全員配信と9月の絞り込み配信。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9月の結果②　申し込みは、リッチメニューから入っています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2423160" cy="100584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配信で開く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50108" y="2057400"/>
            <a:ext cx="41148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39896" y="1783080"/>
            <a:ext cx="2423160" cy="100584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リッチメニュー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341364" y="2057400"/>
            <a:ext cx="41148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1152" y="1783080"/>
            <a:ext cx="2423160" cy="100584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会員登録・購入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805672" cy="237744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8805672" cy="2377440"/>
          </a:xfrm>
          <a:prstGeom prst="rect">
            <a:avLst/>
          </a:prstGeom>
          <a:noFill/>
        </p:spPr>
        <p:txBody>
          <a:bodyPr wrap="square" lIns="411480" rIns="274320" tIns="27432" bIns="27432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LINE経由の会員登録4件・購入4件は、</a:t>
            </a: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すべてリッチメニューから</a:t>
            </a:r>
          </a:p>
          <a:p>
            <a:pPr algn="l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リッチメニューが見られた回数の</a:t>
            </a: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87%</a:t>
            </a:r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は、配信日とその翌日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245352"/>
            <a:ext cx="8805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出典：GA（2026年9月・暫定値）、LINE公式アカウント管理画面（9/1〜9/27）</a:t>
            </a:r>
          </a:p>
        </p:txBody>
      </p:sp>
    </p:spTree>
    <p:extLst>
      <p:ext uri="{BB962C8B-B14F-4D97-AF65-F5344CB8AC3E}">
        <p14:creationId xmlns:p14="http://schemas.microsoft.com/office/powerpoint/2010/main" val="3840222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課題①　同じ方に続けて送り、開封率が下がっています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600200"/>
          <a:ext cx="789127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57800"/>
            <a:ext cx="8805672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約600人の配信先に続けて送った5回で、毎回下がっている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45352"/>
            <a:ext cx="8805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出典：LINE公式アカウント管理画面（各回の配信先は約560〜660人）</a:t>
            </a:r>
          </a:p>
        </p:txBody>
      </p:sp>
    </p:spTree>
    <p:extLst>
      <p:ext uri="{BB962C8B-B14F-4D97-AF65-F5344CB8AC3E}">
        <p14:creationId xmlns:p14="http://schemas.microsoft.com/office/powerpoint/2010/main" val="2447681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D88C4-8CFA-2C0E-C230-F47FCA10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課題②　新しい友だちが、ほとんど増えていません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1448" y="1737360"/>
            <a:ext cx="5029200" cy="274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1874519"/>
            <a:ext cx="50292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9月の新しい友だち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2423160"/>
            <a:ext cx="5029200" cy="1874519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96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7</a:t>
            </a:r>
            <a:r>
              <a:rPr sz="40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8805672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届く人数は、9月だけで</a:t>
            </a:r>
            <a:r>
              <a:rPr sz="20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41人減りました</a:t>
            </a:r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（1,676人→1,635人）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45352"/>
            <a:ext cx="8805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出典：LINE公式アカウント管理画面（2026/9/1〜9/28）</a:t>
            </a:r>
          </a:p>
        </p:txBody>
      </p:sp>
    </p:spTree>
    <p:extLst>
      <p:ext uri="{BB962C8B-B14F-4D97-AF65-F5344CB8AC3E}">
        <p14:creationId xmlns:p14="http://schemas.microsoft.com/office/powerpoint/2010/main" val="2634601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94AA7-C0BE-82BB-F1F1-CEB94F82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課題③　買ったお客様が、LINEに入ってくる道がありません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4206240" cy="274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420624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Google広告経由の購入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4206240" cy="1737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457〜854</a:t>
            </a: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8072" y="1737360"/>
            <a:ext cx="4206240" cy="274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8072" y="1920240"/>
            <a:ext cx="420624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9月の新しい友だち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514600"/>
            <a:ext cx="4206240" cy="1737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66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7</a:t>
            </a:r>
            <a:r>
              <a:rPr sz="28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46320"/>
            <a:ext cx="8805672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ご注文の柱は、名前で検索して戻ってくるお客様（リピート）です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245352"/>
            <a:ext cx="8805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出典：広告レポート（購入＝2026年7月854件・8/1〜25 457件／名前で検索する広告＝8/1〜25 費用17万円・売上1,022万円）、LINE公式アカウント管理画面</a:t>
            </a:r>
          </a:p>
        </p:txBody>
      </p:sp>
    </p:spTree>
    <p:extLst>
      <p:ext uri="{BB962C8B-B14F-4D97-AF65-F5344CB8AC3E}">
        <p14:creationId xmlns:p14="http://schemas.microsoft.com/office/powerpoint/2010/main" val="2719888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ご提案　サイトの「出口」と「入口」で、LINEにご案内します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4206240" cy="324612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206240" cy="64008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出口｜サンクスLINE誘導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931920" cy="141732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購入・会員登録が終わった方を、</a:t>
            </a:r>
          </a:p>
          <a:p>
            <a:pPr algn="l">
              <a:lnSpc>
                <a:spcPct val="115000"/>
              </a:lnSpc>
            </a:pPr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そのままLINEへ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3931920" cy="73152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Google広告経由の購入は月457〜854件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8072" y="1691640"/>
            <a:ext cx="4206240" cy="324612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48072" y="1691640"/>
            <a:ext cx="4206240" cy="64008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入口｜離脱防止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2514600"/>
            <a:ext cx="3931920" cy="141732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買わずに帰ろうとする方に、</a:t>
            </a:r>
          </a:p>
          <a:p>
            <a:pPr algn="l">
              <a:lnSpc>
                <a:spcPct val="115000"/>
              </a:lnSpc>
            </a:pPr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LINEをご案内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4069080"/>
            <a:ext cx="3931920" cy="73152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広告で来た方のうち、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その場で買うのは100人に2〜10人</a:t>
            </a:r>
          </a:p>
        </p:txBody>
      </p:sp>
      <p:sp>
        <p:nvSpPr>
          <p:cNvPr id="15" name="Oval 14"/>
          <p:cNvSpPr/>
          <p:nvPr/>
        </p:nvSpPr>
        <p:spPr>
          <a:xfrm>
            <a:off x="4677156" y="3044952"/>
            <a:ext cx="548640" cy="548640"/>
          </a:xfrm>
          <a:prstGeom prst="ellipse">
            <a:avLst/>
          </a:prstGeom>
          <a:solidFill>
            <a:srgbClr val="1F285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8805672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2つをセットで入れます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45352"/>
            <a:ext cx="8805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出典：広告レポート（2026年7〜8月。その場で買う割合＝CVRは、名前で検索する広告を除き2〜10%）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0E1BE-EA97-1C99-EC9B-9162DE48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期待する効果　3つの課題に、それぞれ効きます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課題①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開封率の低下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28416" y="1874519"/>
            <a:ext cx="41148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67912" y="1645920"/>
            <a:ext cx="5486400" cy="9144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67912" y="1645920"/>
            <a:ext cx="5486400" cy="914400"/>
          </a:xfrm>
          <a:prstGeom prst="rect">
            <a:avLst/>
          </a:prstGeom>
          <a:noFill/>
        </p:spPr>
        <p:txBody>
          <a:bodyPr wrap="square" lIns="2743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買った方に絞って、送り分けられる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2651760" cy="9144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課題②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友だちが増えない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28416" y="2971800"/>
            <a:ext cx="41148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67912" y="2743200"/>
            <a:ext cx="5486400" cy="9144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2" y="2743200"/>
            <a:ext cx="5486400" cy="914400"/>
          </a:xfrm>
          <a:prstGeom prst="rect">
            <a:avLst/>
          </a:prstGeom>
          <a:noFill/>
        </p:spPr>
        <p:txBody>
          <a:bodyPr wrap="square" lIns="2743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入口と出口に、友だちが増える道ができる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2651760" cy="9144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課題③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買ったお客様がいない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28416" y="4069080"/>
            <a:ext cx="41148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67912" y="3840480"/>
            <a:ext cx="5486400" cy="91440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7912" y="3840480"/>
            <a:ext cx="5486400" cy="914400"/>
          </a:xfrm>
          <a:prstGeom prst="rect">
            <a:avLst/>
          </a:prstGeom>
          <a:noFill/>
        </p:spPr>
        <p:txBody>
          <a:bodyPr wrap="square" lIns="2743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次のご注文を、LINEでご案内できる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20640"/>
            <a:ext cx="8805672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11月から入れれば、年賀状・カレンダーのお客様から始められます</a:t>
            </a:r>
          </a:p>
        </p:txBody>
      </p:sp>
    </p:spTree>
    <p:extLst>
      <p:ext uri="{BB962C8B-B14F-4D97-AF65-F5344CB8AC3E}">
        <p14:creationId xmlns:p14="http://schemas.microsoft.com/office/powerpoint/2010/main" val="831316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37160"/>
            <a:ext cx="740664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費用とスケジュール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8805672" cy="1874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286000"/>
                <a:gridCol w="3593592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サンクスLINE誘導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初期10万円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月額3万円〜</a:t>
                      </a:r>
                    </a:p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（＋設定地点追加）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初期1.5万円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月額3万円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合計（2つセット）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初期11.5万円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月額6万円〜</a:t>
                      </a:r>
                    </a:p>
                  </a:txBody>
                  <a:tcPr marL="182880" marR="91440" marT="36576" marB="36576" anchor="ctr">
                    <a:lnL w="12700" cap="flat" cmpd="sng" algn="ctr">
                      <a:solidFill>
                        <a:srgbClr val="D9D9D9"/>
                      </a:solidFill>
                      <a:prstDash val="soli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285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840480"/>
            <a:ext cx="2606040" cy="123444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ご判断・タグの設置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（貴社サイト）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18688" y="4229100"/>
            <a:ext cx="36576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48456" y="3840480"/>
            <a:ext cx="2606040" cy="123444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11月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開始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318504" y="4229100"/>
            <a:ext cx="365760" cy="4572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48272" y="3840480"/>
            <a:ext cx="2606040" cy="123444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12月末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効果の確認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49240"/>
            <a:ext cx="8805672" cy="59436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8805672" cy="5943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確認する数字：</a:t>
            </a:r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友だち追加数／LINE経由のご注文（GA）／開封率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B249BA1-EB38-DDA6-8221-FC109239C49F}"/>
              </a:ext>
            </a:extLst>
          </p:cNvPr>
          <p:cNvSpPr txBox="1"/>
          <p:nvPr/>
        </p:nvSpPr>
        <p:spPr>
          <a:xfrm>
            <a:off x="548883" y="138138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（ポップアップ 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 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離脱防止）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A805D6F-0719-17C7-4E97-2705F1D9A93C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0895EF17-7734-EE92-7BF3-5B0ADCDC65B8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3AD98A9-882F-05AA-BB4E-3FB88AAA7C20}"/>
                </a:ext>
              </a:extLst>
            </p:cNvPr>
            <p:cNvSpPr txBox="1"/>
            <p:nvPr/>
          </p:nvSpPr>
          <p:spPr>
            <a:xfrm>
              <a:off x="687498" y="938979"/>
              <a:ext cx="2746265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ポップアップ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(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離脱防止 など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)</a:t>
              </a:r>
              <a:endParaRPr kumimoji="1" lang="ja-JP" altLang="en-US" sz="1500" b="1" dirty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B668975-CA29-64DD-88DF-17EAAC94AE34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en-US" altLang="ja-JP" sz="1600" dirty="0">
                <a:latin typeface="Meiryo"/>
                <a:ea typeface="Meiryo"/>
                <a:cs typeface="Meiryo"/>
                <a:sym typeface="Meiryo"/>
              </a:rPr>
              <a:t>WEB</a:t>
            </a:r>
            <a:r>
              <a:rPr lang="ja-JP" altLang="en-US" sz="1600" dirty="0">
                <a:latin typeface="Meiryo"/>
                <a:ea typeface="Meiryo"/>
                <a:cs typeface="Meiryo"/>
                <a:sym typeface="Meiryo"/>
              </a:rPr>
              <a:t>サイト上の特定アクションを起こしたユーザーに対して</a:t>
            </a:r>
            <a:endParaRPr lang="en-US" altLang="ja-JP" sz="1600" dirty="0">
              <a:latin typeface="Meiryo"/>
              <a:ea typeface="Meiryo"/>
              <a:cs typeface="Meiryo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Meiryo"/>
                <a:ea typeface="Meiryo"/>
                <a:cs typeface="Meiryo"/>
                <a:sym typeface="Meiryo"/>
              </a:rPr>
              <a:t>ポップアップの形で</a:t>
            </a:r>
            <a:r>
              <a:rPr lang="en-US" altLang="ja-JP" sz="1600" dirty="0">
                <a:latin typeface="Meiryo"/>
                <a:ea typeface="Meiryo"/>
                <a:cs typeface="Meiryo"/>
                <a:sym typeface="Meiryo"/>
              </a:rPr>
              <a:t>LINE</a:t>
            </a:r>
            <a:r>
              <a:rPr lang="ja-JP" altLang="en-US" sz="1600" dirty="0">
                <a:latin typeface="Meiryo"/>
                <a:ea typeface="Meiryo"/>
                <a:cs typeface="Meiryo"/>
                <a:sym typeface="Meiryo"/>
              </a:rPr>
              <a:t>誘導の動線を提示。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BC18E84-0DF3-01E6-D82D-0A9DCD2D5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4329" y="2258734"/>
            <a:ext cx="1524677" cy="30967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0FACA28-BE3D-80E4-091C-39F6141694C7}"/>
              </a:ext>
            </a:extLst>
          </p:cNvPr>
          <p:cNvSpPr txBox="1"/>
          <p:nvPr/>
        </p:nvSpPr>
        <p:spPr>
          <a:xfrm>
            <a:off x="5214938" y="1372940"/>
            <a:ext cx="414813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LINE</a:t>
            </a:r>
            <a:r>
              <a:rPr lang="ja-JP" altLang="en-US" sz="1050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以外の注力動線への誘導も同バナーから実施が可能です。</a:t>
            </a:r>
            <a:endParaRPr lang="ja-JP" altLang="en-US" sz="1050" dirty="0">
              <a:solidFill>
                <a:srgbClr val="FF0000"/>
              </a:solidFill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C908A63-1EE8-A605-1D4F-460FED944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2877" y="2846109"/>
            <a:ext cx="1524677" cy="3096752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C5B2A6E8-796B-963F-0A04-9B9D1A36ADF0}"/>
              </a:ext>
            </a:extLst>
          </p:cNvPr>
          <p:cNvSpPr/>
          <p:nvPr/>
        </p:nvSpPr>
        <p:spPr>
          <a:xfrm>
            <a:off x="7373222" y="3359435"/>
            <a:ext cx="571500" cy="619125"/>
          </a:xfrm>
          <a:prstGeom prst="rightArrow">
            <a:avLst>
              <a:gd name="adj1" fmla="val 64359"/>
              <a:gd name="adj2" fmla="val 50000"/>
            </a:avLst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B49FAB7-0FB8-4D5F-CF13-A19BBA28C8C7}"/>
              </a:ext>
            </a:extLst>
          </p:cNvPr>
          <p:cNvSpPr/>
          <p:nvPr/>
        </p:nvSpPr>
        <p:spPr>
          <a:xfrm>
            <a:off x="8117093" y="3057525"/>
            <a:ext cx="1371145" cy="2585494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Google Shape;51;p19">
            <a:extLst>
              <a:ext uri="{FF2B5EF4-FFF2-40B4-BE49-F238E27FC236}">
                <a16:creationId xmlns:a16="http://schemas.microsoft.com/office/drawing/2014/main" id="{1B34220E-1DA3-AC59-C2DE-15AB3320AC1C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1.5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7" name="Google Shape;51;p19">
            <a:extLst>
              <a:ext uri="{FF2B5EF4-FFF2-40B4-BE49-F238E27FC236}">
                <a16:creationId xmlns:a16="http://schemas.microsoft.com/office/drawing/2014/main" id="{EBA2E7AC-5299-C000-0A43-CCF8CE458AAF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FF8283-5B2F-5018-9D25-736A384B4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942" y="3752836"/>
            <a:ext cx="1062545" cy="1115066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4AE5F6C-0BA5-6768-64B9-9CD156133552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69C67AE-8870-AB99-9BB8-030F3AB8CB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398" y="4259719"/>
            <a:ext cx="5059180" cy="2191534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CFFD213E-DE33-0075-6E07-F24DBD7A94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13" y="1977951"/>
            <a:ext cx="5023065" cy="223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506C2-B2E5-BEA0-384E-7336F080B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新規友だちの追加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（サンクス</a:t>
            </a:r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1254839" y="5195928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友だち追加後</a:t>
            </a:r>
            <a:endParaRPr lang="ja-JP" altLang="en-US" sz="1100" dirty="0">
              <a:solidFill>
                <a:srgbClr val="00C057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Meiryo"/>
                <a:ea typeface="Meiryo"/>
                <a:cs typeface="Meiryo"/>
                <a:sym typeface="Meiryo"/>
              </a:rPr>
              <a:t>サンクス到達時の</a:t>
            </a:r>
            <a:r>
              <a:rPr lang="en-US" altLang="ja-JP" sz="1600" dirty="0">
                <a:latin typeface="Meiryo"/>
                <a:ea typeface="Meiryo"/>
                <a:cs typeface="Meiryo"/>
                <a:sym typeface="Meiryo"/>
              </a:rPr>
              <a:t>LINE</a:t>
            </a:r>
            <a:r>
              <a:rPr lang="ja-JP" altLang="en-US" sz="1600" dirty="0">
                <a:latin typeface="Meiryo"/>
                <a:ea typeface="Meiryo"/>
                <a:cs typeface="Meiryo"/>
                <a:sym typeface="Meiryo"/>
              </a:rPr>
              <a:t>動線が弊社開発により可能に。</a:t>
            </a:r>
            <a:endParaRPr lang="en-US" altLang="ja-JP" sz="1600" dirty="0">
              <a:latin typeface="Meiryo"/>
              <a:ea typeface="Meiryo"/>
              <a:cs typeface="Meiryo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Meiryo"/>
                <a:ea typeface="Meiryo"/>
                <a:cs typeface="Meiryo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549623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10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Meiryo"/>
                <a:ea typeface="Meiryo"/>
                <a:cs typeface="Meiryo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Meiryo"/>
                <a:ea typeface="Meiryo"/>
                <a:cs typeface="Meiryo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ja-JP" altLang="ja-JP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弊社運用の美容クリニック様では、予約後来院率にて40-50%程度の改善を実現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4909011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141439</TotalTime>
  <Words>9951</Words>
  <Application>Microsoft Office PowerPoint</Application>
  <PresentationFormat>A4 210 x 297 mm</PresentationFormat>
  <Paragraphs>2143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1913</cp:revision>
  <cp:lastPrinted>2022-11-01T11:38:14Z</cp:lastPrinted>
  <dcterms:created xsi:type="dcterms:W3CDTF">2015-09-04T09:21:15Z</dcterms:created>
  <dcterms:modified xsi:type="dcterms:W3CDTF">2026-07-14T03:55:58Z</dcterms:modified>
</cp:coreProperties>
</file>