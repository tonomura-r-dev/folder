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7.xml" ContentType="application/vnd.openxmlformats-officedocument.presentationml.slide+xml"/>
  <Override PartName="/ppt/slides/slide31.xml" ContentType="application/vnd.openxmlformats-officedocument.presentationml.slide+xml"/>
  <Override PartName="/ppt/slides/slide6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65"/>
  </p:notesMasterIdLst>
  <p:handoutMasterIdLst>
    <p:handoutMasterId r:id="rId66"/>
  </p:handoutMasterIdLst>
  <p:sldIdLst>
    <p:sldId id="2363" r:id="rId3"/>
    <p:sldId id="2935" r:id="rId8"/>
    <p:sldId id="2919" r:id="rId9"/>
    <p:sldId id="2519" r:id="rId10"/>
    <p:sldId id="2931" r:id="rId11"/>
    <p:sldId id="2952" r:id="rId12"/>
    <p:sldId id="2956" r:id="rId13"/>
    <p:sldId id="2639" r:id="rId33"/>
    <p:sldId id="2959" r:id="rId29"/>
    <p:sldId id="2749" r:id="rId14"/>
    <p:sldId id="2736" r:id="rId15"/>
    <p:sldId id="1169" r:id="rId64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173559"/>
    <a:srgbClr val="04FA0A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1236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29" Type="http://schemas.openxmlformats.org/officeDocument/2006/relationships/slide" Target="slides/slide27.xml"/><Relationship Id="rId33" Type="http://schemas.openxmlformats.org/officeDocument/2006/relationships/slide" Target="slides/slide31.xml"/><Relationship Id="rId64" Type="http://schemas.openxmlformats.org/officeDocument/2006/relationships/slide" Target="slides/slide62.xml"/><Relationship Id="rId65" Type="http://schemas.openxmlformats.org/officeDocument/2006/relationships/notesMaster" Target="notesMasters/notesMaster1.xml"/><Relationship Id="rId66" Type="http://schemas.openxmlformats.org/officeDocument/2006/relationships/handoutMaster" Target="handoutMasters/handout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開封率</c:v>
                </c:pt>
              </c:strCache>
            </c:strRef>
          </c:tx>
          <c:spPr>
            <a:solidFill>
              <a:srgbClr val="3467B2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8/24</c:v>
                </c:pt>
                <c:pt idx="1">
                  <c:v>8/31</c:v>
                </c:pt>
                <c:pt idx="2">
                  <c:v>9/10</c:v>
                </c:pt>
                <c:pt idx="3">
                  <c:v>9/18</c:v>
                </c:pt>
                <c:pt idx="4">
                  <c:v>9/25</c:v>
                </c:pt>
              </c:strCache>
            </c:strRef>
          </c:cat>
          <c:val>
            <c:numRef>
              <c:f>Sheet1!$B$2:$B$6</c:f>
              <c:numCache>
                <c:formatCode>0.0%</c:formatCode>
                <c:ptCount val="5"/>
                <c:pt idx="0">
                  <c:v>0.426</c:v>
                </c:pt>
                <c:pt idx="1">
                  <c:v>0.371</c:v>
                </c:pt>
                <c:pt idx="2">
                  <c:v>0.362</c:v>
                </c:pt>
                <c:pt idx="3">
                  <c:v>0.332</c:v>
                </c:pt>
                <c:pt idx="4">
                  <c:v>0.301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200" b="1">
                  <a:solidFill>
                    <a:srgbClr val="333333"/>
                  </a:solidFill>
                  <a:latin typeface="メイリオ"/>
                  <a:ea typeface="メイリオ"/>
                  <a:cs typeface="メイリオ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333333"/>
          </a:solidFill>
          <a:latin typeface="メイリオ"/>
          <a:ea typeface="メイリオ"/>
          <a:cs typeface="メイリオ"/>
        </a:defRPr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E855B-5535-79F7-D3A0-C0A506787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C6FB8FB-0888-2275-ABE8-A13FDAA10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D71EA6C-9577-A559-064D-4DE5700FB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1C4F904-4503-6BD1-FC32-6AA038134F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5421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46031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26571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ED428-D571-14FF-D396-D7175DA0F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271AB2A-80AE-D1AA-E70B-86CDF93505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C0C2926-5D95-6624-6AD9-E45C552897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B6DFD87-0439-882A-B65E-9CEE51F203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20229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56886">
              <a:defRPr/>
            </a:pPr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56886">
              <a:defRPr/>
            </a:pPr>
            <a:fld id="{929202D6-C1F5-472A-A72F-285F233F82C2}" type="slidenum">
              <a:rPr lang="ja-JP" altLang="en-US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pPr defTabSz="956886">
                <a:defRPr/>
              </a:pPr>
              <a:t>62</a:t>
            </a:fld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20873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jpeg"/><Relationship Id="rId3" Type="http://schemas.openxmlformats.org/officeDocument/2006/relationships/image" Target="../media/image43.jpe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jpe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49.png"/><Relationship Id="rId10" Type="http://schemas.openxmlformats.org/officeDocument/2006/relationships/image" Target="../media/image50.jpe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emf"/><Relationship Id="rId4" Type="http://schemas.openxmlformats.org/officeDocument/2006/relationships/image" Target="../media/image91.jpeg"/><Relationship Id="rId5" Type="http://schemas.openxmlformats.org/officeDocument/2006/relationships/image" Target="../media/image92.jpeg"/><Relationship Id="rId6" Type="http://schemas.openxmlformats.org/officeDocument/2006/relationships/image" Target="../media/image93.jpeg"/><Relationship Id="rId7" Type="http://schemas.openxmlformats.org/officeDocument/2006/relationships/image" Target="../media/image94.jpeg"/><Relationship Id="rId8" Type="http://schemas.openxmlformats.org/officeDocument/2006/relationships/image" Target="../media/image9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822960" y="3038203"/>
            <a:ext cx="82570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/>
                <a:ea typeface="メイリオ"/>
                <a:cs typeface="メイリオ"/>
              </a:rPr>
              <a:t>LINE公式アカウント　10月以降のご提案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13481" y="2729823"/>
            <a:ext cx="66266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/>
                <a:ea typeface="メイリオ"/>
                <a:cs typeface="メイリオ"/>
              </a:rPr>
              <a:t>LINEの友だちを「買ったお客様」で増やす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705064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10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EDEE7F4-9CB5-D481-E92E-3941E7AB9B1C}"/>
              </a:ext>
            </a:extLst>
          </p:cNvPr>
          <p:cNvSpPr/>
          <p:nvPr/>
        </p:nvSpPr>
        <p:spPr>
          <a:xfrm>
            <a:off x="2823677" y="3910946"/>
            <a:ext cx="4206240" cy="4055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/>
                <a:ea typeface="メイリオ"/>
                <a:cs typeface="メイリオ"/>
              </a:rPr>
              <a:t>インクアート株式会社 御中　2026年10月</a:t>
            </a:r>
            <a:endParaRPr kumimoji="1" lang="ja-JP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579F4-FB71-CB84-349D-670C2D29F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5C1533E1-7172-D6F9-4659-AAF59CE221F1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7160"/>
            <a:ext cx="7406640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9月の結果①　絞り込み配信で、ブロックが減りました</a:t>
            </a:r>
          </a:p>
        </p:txBody>
      </p:sp>
      <p:sp>
        <p:nvSpPr>
          <p:cNvPr id="7" name="Rectangle 6"/>
          <p:cNvSpPr/>
          <p:nvPr/>
        </p:nvSpPr>
        <p:spPr>
          <a:xfrm>
            <a:off x="3259836" y="2057400"/>
            <a:ext cx="2148840" cy="365760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全員に配信</a:t>
            </a:r>
          </a:p>
        </p:txBody>
      </p:sp>
      <p:sp>
        <p:nvSpPr>
          <p:cNvPr id="8" name="Rectangle 7"/>
          <p:cNvSpPr/>
          <p:nvPr/>
        </p:nvSpPr>
        <p:spPr>
          <a:xfrm>
            <a:off x="6048756" y="2057400"/>
            <a:ext cx="2148840" cy="36576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絞り込み配信（9月）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293876" y="2560320"/>
            <a:ext cx="7315200" cy="1143000"/>
          </a:xfrm>
          <a:prstGeom prst="rect">
            <a:avLst/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22476" y="2560320"/>
            <a:ext cx="1600200" cy="1143000"/>
          </a:xfrm>
          <a:prstGeom prst="rect">
            <a:avLst/>
          </a:prstGeom>
          <a:noFill/>
        </p:spPr>
        <p:txBody>
          <a:bodyPr wrap="square" lIns="0" rIns="54864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1回の配信で</a:t>
            </a:r>
          </a:p>
          <a:p>
            <a:pPr algn="l"/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増えたブロック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2676" y="2560320"/>
            <a:ext cx="2423160" cy="1143000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/>
            <a:r>
              <a:rPr sz="3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19〜37人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582412" y="2967227"/>
            <a:ext cx="292608" cy="329184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11596" y="2560320"/>
            <a:ext cx="2423160" cy="1143000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/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数人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3876" y="3931920"/>
            <a:ext cx="7315200" cy="1143000"/>
          </a:xfrm>
          <a:prstGeom prst="rect">
            <a:avLst/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22476" y="3931920"/>
            <a:ext cx="1600200" cy="1143000"/>
          </a:xfrm>
          <a:prstGeom prst="rect">
            <a:avLst/>
          </a:prstGeom>
          <a:noFill/>
        </p:spPr>
        <p:txBody>
          <a:bodyPr wrap="square" lIns="0" rIns="54864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開封率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2676" y="3931920"/>
            <a:ext cx="2423160" cy="1143000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/>
            <a:r>
              <a:rPr sz="3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17〜21%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582412" y="4338828"/>
            <a:ext cx="292608" cy="329184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11596" y="3931920"/>
            <a:ext cx="2423160" cy="1143000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/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30〜36%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245352"/>
            <a:ext cx="88056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出典：LINE公式アカウント管理画面。ブロックは6〜8月＝配信当日の増加、9月＝配信日から3日間の増加（配信の無い3日間でも約4人増える）。開封率は7〜8月の全員配信と9月の絞り込み配信。</a:t>
            </a:r>
          </a:p>
        </p:txBody>
      </p:sp>
    </p:spTree>
    <p:extLst>
      <p:ext uri="{BB962C8B-B14F-4D97-AF65-F5344CB8AC3E}">
        <p14:creationId xmlns:p14="http://schemas.microsoft.com/office/powerpoint/2010/main" val="99384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5C1533E1-7172-D6F9-4659-AAF59CE221F1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7160"/>
            <a:ext cx="7406640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9月の結果②　申し込みは、リッチメニューから入っています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1659636" y="2468880"/>
            <a:ext cx="1828800" cy="6858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配信で開く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616452" y="2647188"/>
            <a:ext cx="292608" cy="329184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37076" y="2468880"/>
            <a:ext cx="1828800" cy="6858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リッチメニュー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93892" y="2647188"/>
            <a:ext cx="292608" cy="329184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14516" y="2468880"/>
            <a:ext cx="1828800" cy="6858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会員登録・購入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59636" y="3474720"/>
            <a:ext cx="6583680" cy="1325880"/>
          </a:xfrm>
          <a:prstGeom prst="rect">
            <a:avLst/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59636" y="3474720"/>
            <a:ext cx="6583680" cy="1325880"/>
          </a:xfrm>
          <a:prstGeom prst="rect">
            <a:avLst/>
          </a:prstGeom>
          <a:noFill/>
        </p:spPr>
        <p:txBody>
          <a:bodyPr wrap="square" lIns="365760" rIns="274320" tIns="27432" bIns="27432" anchor="ctr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LINE経由の会員登録4件・購入4件は、</a:t>
            </a: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すべてリッチメニューから</a:t>
            </a:r>
          </a:p>
          <a:p>
            <a:pPr algn="l"/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リッチメニューが見られた回数の</a:t>
            </a: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87%</a:t>
            </a: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は、配信日とその翌日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245352"/>
            <a:ext cx="88056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出典：GA（2026年9月・暫定値）、LINE公式アカウント管理画面（9/1〜9/27）</a:t>
            </a:r>
          </a:p>
        </p:txBody>
      </p:sp>
    </p:spTree>
    <p:extLst>
      <p:ext uri="{BB962C8B-B14F-4D97-AF65-F5344CB8AC3E}">
        <p14:creationId xmlns:p14="http://schemas.microsoft.com/office/powerpoint/2010/main" val="3840222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5C1533E1-7172-D6F9-4659-AAF59CE221F1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7160"/>
            <a:ext cx="7406640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課題①　同じ方に続けて送り、開封率が下がっています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979676" y="2011680"/>
          <a:ext cx="5943600" cy="2651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846320"/>
            <a:ext cx="8805672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約600人の配信先に続けて送った5回で、毎回下がっている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45352"/>
            <a:ext cx="88056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出典：LINE公式アカウント管理画面（各回の配信先は約560〜660人）</a:t>
            </a:r>
          </a:p>
        </p:txBody>
      </p:sp>
    </p:spTree>
    <p:extLst>
      <p:ext uri="{BB962C8B-B14F-4D97-AF65-F5344CB8AC3E}">
        <p14:creationId xmlns:p14="http://schemas.microsoft.com/office/powerpoint/2010/main" val="2447681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D88C4-8CFA-2C0E-C230-F47FCA10F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5C1533E1-7172-D6F9-4659-AAF59CE221F1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7160"/>
            <a:ext cx="7406640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課題②　新しい友だちが、ほとんど増えていません</a:t>
            </a:r>
          </a:p>
        </p:txBody>
      </p:sp>
      <p:sp>
        <p:nvSpPr>
          <p:cNvPr id="7" name="Rectangle 6"/>
          <p:cNvSpPr/>
          <p:nvPr/>
        </p:nvSpPr>
        <p:spPr>
          <a:xfrm>
            <a:off x="3122676" y="2240280"/>
            <a:ext cx="3657600" cy="2057400"/>
          </a:xfrm>
          <a:prstGeom prst="rect">
            <a:avLst/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22676" y="2377440"/>
            <a:ext cx="365760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9月の新しい友だち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22676" y="2788920"/>
            <a:ext cx="3657600" cy="1371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64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7</a:t>
            </a:r>
            <a:r>
              <a:rPr sz="26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72000"/>
            <a:ext cx="8805672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届く人数は、9月だけで</a:t>
            </a:r>
            <a:r>
              <a:rPr sz="16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41人減りました</a:t>
            </a:r>
            <a:r>
              <a:rPr sz="16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（1,676人→1,635人）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45352"/>
            <a:ext cx="88056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出典：LINE公式アカウント管理画面（2026/9/1〜9/28）</a:t>
            </a:r>
          </a:p>
        </p:txBody>
      </p:sp>
    </p:spTree>
    <p:extLst>
      <p:ext uri="{BB962C8B-B14F-4D97-AF65-F5344CB8AC3E}">
        <p14:creationId xmlns:p14="http://schemas.microsoft.com/office/powerpoint/2010/main" val="2634601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94AA7-C0BE-82BB-F1F1-CEB94F822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5C1533E1-7172-D6F9-4659-AAF59CE221F1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7160"/>
            <a:ext cx="7406640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課題③　買ったお客様が、LINEに入ってくる道がありません</a:t>
            </a:r>
          </a:p>
        </p:txBody>
      </p:sp>
      <p:sp>
        <p:nvSpPr>
          <p:cNvPr id="7" name="Rectangle 6"/>
          <p:cNvSpPr/>
          <p:nvPr/>
        </p:nvSpPr>
        <p:spPr>
          <a:xfrm>
            <a:off x="1476756" y="2240280"/>
            <a:ext cx="3291840" cy="2057400"/>
          </a:xfrm>
          <a:prstGeom prst="rect">
            <a:avLst/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76756" y="2377440"/>
            <a:ext cx="329184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Google広告経由の購入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76756" y="2788920"/>
            <a:ext cx="3291840" cy="1371600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/>
            <a:r>
              <a:rPr sz="2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月</a:t>
            </a: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457〜854</a:t>
            </a:r>
            <a:r>
              <a:rPr sz="2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件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34356" y="2240280"/>
            <a:ext cx="3291840" cy="2057400"/>
          </a:xfrm>
          <a:prstGeom prst="rect">
            <a:avLst/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34356" y="2377440"/>
            <a:ext cx="329184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9月の新しい友だち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4356" y="2788920"/>
            <a:ext cx="3291840" cy="1371600"/>
          </a:xfrm>
          <a:prstGeom prst="rect">
            <a:avLst/>
          </a:prstGeom>
          <a:noFill/>
        </p:spPr>
        <p:txBody>
          <a:bodyPr wrap="none" lIns="54864" rIns="54864" tIns="27432" bIns="27432" anchor="ctr">
            <a:spAutoFit/>
          </a:bodyPr>
          <a:lstStyle/>
          <a:p>
            <a:pPr algn="ctr"/>
            <a:r>
              <a:rPr sz="46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7</a:t>
            </a:r>
            <a:r>
              <a:rPr sz="20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72000"/>
            <a:ext cx="8805672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ご注文の柱は、名前で検索して戻ってくるお客様（リピート）です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245352"/>
            <a:ext cx="88056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出典：広告レポート（購入＝2026年7月854件・8/1〜25 457件／名前で検索する広告＝8/1〜25 費用17万円・売上1,022万円）、LINE公式アカウント管理画面</a:t>
            </a:r>
          </a:p>
        </p:txBody>
      </p:sp>
    </p:spTree>
    <p:extLst>
      <p:ext uri="{BB962C8B-B14F-4D97-AF65-F5344CB8AC3E}">
        <p14:creationId xmlns:p14="http://schemas.microsoft.com/office/powerpoint/2010/main" val="2719888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92180-D336-F255-C39D-17584774E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5C1533E1-7172-D6F9-4659-AAF59CE221F1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7160"/>
            <a:ext cx="7406640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ご提案　サイトの「出口」と「入口」で、LINEにご案内します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1385316" y="2057400"/>
            <a:ext cx="3291840" cy="2423160"/>
          </a:xfrm>
          <a:prstGeom prst="rect">
            <a:avLst/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85316" y="2057400"/>
            <a:ext cx="3291840" cy="4572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出口｜サンクスLINE誘導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68195" y="2651760"/>
            <a:ext cx="2926080" cy="960120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購入・会員登録が終わった方を、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そのままLINEへ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68195" y="3749039"/>
            <a:ext cx="2926080" cy="594360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Google広告経由の購入は月457〜854件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25796" y="2057400"/>
            <a:ext cx="3291840" cy="2423160"/>
          </a:xfrm>
          <a:prstGeom prst="rect">
            <a:avLst/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25796" y="2057400"/>
            <a:ext cx="3291840" cy="4572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入口｜離脱防止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8676" y="2651760"/>
            <a:ext cx="2926080" cy="960120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買わずに帰ろうとする方に、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LINEをご案内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8676" y="3749039"/>
            <a:ext cx="2926080" cy="594360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広告で来た方のうち、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その場で買うのは100人に2〜10人</a:t>
            </a:r>
          </a:p>
        </p:txBody>
      </p:sp>
      <p:sp>
        <p:nvSpPr>
          <p:cNvPr id="15" name="Oval 14"/>
          <p:cNvSpPr/>
          <p:nvPr/>
        </p:nvSpPr>
        <p:spPr>
          <a:xfrm>
            <a:off x="4750308" y="3067812"/>
            <a:ext cx="402336" cy="402336"/>
          </a:xfrm>
          <a:prstGeom prst="ellipse">
            <a:avLst/>
          </a:prstGeom>
          <a:solidFill>
            <a:srgbClr val="1F285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54880"/>
            <a:ext cx="8805672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2つをセットで入れます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245352"/>
            <a:ext cx="88056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出典：広告レポート（2026年7〜8月。その場で買う割合＝CVRは、名前で検索する広告を除き2〜10%）</a:t>
            </a:r>
          </a:p>
        </p:txBody>
      </p:sp>
    </p:spTree>
    <p:extLst>
      <p:ext uri="{BB962C8B-B14F-4D97-AF65-F5344CB8AC3E}">
        <p14:creationId xmlns:p14="http://schemas.microsoft.com/office/powerpoint/2010/main" val="676230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0E1BE-EA97-1C99-EC9B-9162DE48D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5C1533E1-7172-D6F9-4659-AAF59CE221F1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7160"/>
            <a:ext cx="7406640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期待する効果　3つの課題に、それぞれ効きます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3876" y="2148840"/>
            <a:ext cx="2103120" cy="658368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課題①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開封率の低下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570732" y="2313432"/>
            <a:ext cx="292608" cy="329184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37076" y="2148840"/>
            <a:ext cx="4572000" cy="658368"/>
          </a:xfrm>
          <a:prstGeom prst="rect">
            <a:avLst/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37076" y="2148840"/>
            <a:ext cx="4572000" cy="658368"/>
          </a:xfrm>
          <a:prstGeom prst="rect">
            <a:avLst/>
          </a:prstGeom>
          <a:noFill/>
        </p:spPr>
        <p:txBody>
          <a:bodyPr wrap="square" lIns="2743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買った方に絞って、送り分けられる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93876" y="2971800"/>
            <a:ext cx="2103120" cy="658368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課題②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友だちが増えない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570732" y="3136392"/>
            <a:ext cx="292608" cy="329184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37076" y="2971800"/>
            <a:ext cx="4572000" cy="658368"/>
          </a:xfrm>
          <a:prstGeom prst="rect">
            <a:avLst/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37076" y="2971800"/>
            <a:ext cx="4572000" cy="658368"/>
          </a:xfrm>
          <a:prstGeom prst="rect">
            <a:avLst/>
          </a:prstGeom>
          <a:noFill/>
        </p:spPr>
        <p:txBody>
          <a:bodyPr wrap="square" lIns="2743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入口と出口に、友だちが増える道ができる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93876" y="3794760"/>
            <a:ext cx="2103120" cy="658368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課題③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買ったお客様がいない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570732" y="3959352"/>
            <a:ext cx="292608" cy="329184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37076" y="3794760"/>
            <a:ext cx="4572000" cy="658368"/>
          </a:xfrm>
          <a:prstGeom prst="rect">
            <a:avLst/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37076" y="3794760"/>
            <a:ext cx="4572000" cy="658368"/>
          </a:xfrm>
          <a:prstGeom prst="rect">
            <a:avLst/>
          </a:prstGeom>
          <a:noFill/>
        </p:spPr>
        <p:txBody>
          <a:bodyPr wrap="square" lIns="274320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次のご注文を、LINEでご案内できる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754880"/>
            <a:ext cx="8805672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11月から入れれば、年賀状・カレンダーのお客様から始められます</a:t>
            </a:r>
          </a:p>
        </p:txBody>
      </p:sp>
    </p:spTree>
    <p:extLst>
      <p:ext uri="{BB962C8B-B14F-4D97-AF65-F5344CB8AC3E}">
        <p14:creationId xmlns:p14="http://schemas.microsoft.com/office/powerpoint/2010/main" val="831316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D501E-4538-865B-06FF-B4530B24F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5C1533E1-7172-D6F9-4659-AAF59CE221F1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37160"/>
            <a:ext cx="7406640" cy="338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費用とスケジュール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476756" y="2011680"/>
          <a:ext cx="6949440" cy="14447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1828800"/>
                <a:gridCol w="274320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サンクスLINE誘導</a:t>
                      </a:r>
                    </a:p>
                  </a:txBody>
                  <a:tcPr marL="182880" marR="91440" marT="36576" marB="36576" anchor="ctr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初期10万円</a:t>
                      </a:r>
                    </a:p>
                  </a:txBody>
                  <a:tcPr marL="182880" marR="91440" marT="36576" marB="36576" anchor="ctr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月額3万円〜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（＋設定地点追加）</a:t>
                      </a:r>
                    </a:p>
                  </a:txBody>
                  <a:tcPr marL="182880" marR="91440" marT="36576" marB="36576" anchor="ctr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</a:t>
                      </a:r>
                    </a:p>
                  </a:txBody>
                  <a:tcPr marL="182880" marR="91440" marT="36576" marB="36576" anchor="ctr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初期1.5万円</a:t>
                      </a:r>
                    </a:p>
                  </a:txBody>
                  <a:tcPr marL="182880" marR="91440" marT="36576" marB="36576" anchor="ctr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月額3万円</a:t>
                      </a:r>
                    </a:p>
                  </a:txBody>
                  <a:tcPr marL="182880" marR="91440" marT="36576" marB="36576" anchor="ctr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合計（2つセット）</a:t>
                      </a:r>
                    </a:p>
                  </a:txBody>
                  <a:tcPr marL="182880" marR="91440" marT="36576" marB="36576" anchor="ctr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初期11.5万円</a:t>
                      </a:r>
                    </a:p>
                  </a:txBody>
                  <a:tcPr marL="182880" marR="91440" marT="36576" marB="36576" anchor="ctr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月額6万円〜</a:t>
                      </a:r>
                    </a:p>
                  </a:txBody>
                  <a:tcPr marL="182880" marR="91440" marT="36576" marB="36576" anchor="ctr">
                    <a:lnL w="12700" cap="flat" cmpd="sng" algn="ctr">
                      <a:solidFill>
                        <a:srgbClr val="D9D9D9"/>
                      </a:solidFill>
                      <a:prstDash val="soli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1F285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476756" y="3749039"/>
            <a:ext cx="2011680" cy="86868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10月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ご判断・タグの設置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（貴社サイト）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570732" y="4018787"/>
            <a:ext cx="292608" cy="329184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45636" y="3749039"/>
            <a:ext cx="2011680" cy="86868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11月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開始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039612" y="4018787"/>
            <a:ext cx="292608" cy="329184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14516" y="3749039"/>
            <a:ext cx="2011680" cy="86868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12月末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効果の確認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76756" y="4892040"/>
            <a:ext cx="6949440" cy="438912"/>
          </a:xfrm>
          <a:prstGeom prst="rect">
            <a:avLst/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76756" y="4892040"/>
            <a:ext cx="6949440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確認する数字：</a:t>
            </a: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友だち追加数／LINE経由のご注文（GA）／開封率</a:t>
            </a:r>
          </a:p>
        </p:txBody>
      </p:sp>
    </p:spTree>
    <p:extLst>
      <p:ext uri="{BB962C8B-B14F-4D97-AF65-F5344CB8AC3E}">
        <p14:creationId xmlns:p14="http://schemas.microsoft.com/office/powerpoint/2010/main" val="31128037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75156-99A2-3647-6F9D-3BD80C59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752;p28">
            <a:extLst>
              <a:ext uri="{FF2B5EF4-FFF2-40B4-BE49-F238E27FC236}">
                <a16:creationId xmlns:a16="http://schemas.microsoft.com/office/drawing/2014/main" id="{AB249BA1-EB38-DDA6-8221-FC109239C49F}"/>
              </a:ext>
            </a:extLst>
          </p:cNvPr>
          <p:cNvSpPr txBox="1"/>
          <p:nvPr/>
        </p:nvSpPr>
        <p:spPr>
          <a:xfrm>
            <a:off x="548883" y="138138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002060"/>
                </a:solidFill>
                <a:latin typeface="Meiryo"/>
                <a:ea typeface="Meiryo"/>
                <a:cs typeface="Meiryo"/>
                <a:sym typeface="Meiryo"/>
              </a:rPr>
              <a:t>新規友だちの追加</a:t>
            </a:r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（ポップアップ </a:t>
            </a:r>
            <a:r>
              <a:rPr lang="en-US" altLang="ja-JP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/ </a:t>
            </a:r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離脱防止）</a:t>
            </a: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EA805D6F-0719-17C7-4E97-2705F1D9A93C}"/>
              </a:ext>
            </a:extLst>
          </p:cNvPr>
          <p:cNvGrpSpPr/>
          <p:nvPr/>
        </p:nvGrpSpPr>
        <p:grpSpPr>
          <a:xfrm>
            <a:off x="543398" y="777681"/>
            <a:ext cx="3105325" cy="485102"/>
            <a:chOff x="507969" y="928495"/>
            <a:chExt cx="3105325" cy="485102"/>
          </a:xfrm>
        </p:grpSpPr>
        <p:sp>
          <p:nvSpPr>
            <p:cNvPr id="4" name="Google Shape;51;p19">
              <a:extLst>
                <a:ext uri="{FF2B5EF4-FFF2-40B4-BE49-F238E27FC236}">
                  <a16:creationId xmlns:a16="http://schemas.microsoft.com/office/drawing/2014/main" id="{0895EF17-7734-EE92-7BF3-5B0ADCDC65B8}"/>
                </a:ext>
              </a:extLst>
            </p:cNvPr>
            <p:cNvSpPr/>
            <p:nvPr/>
          </p:nvSpPr>
          <p:spPr>
            <a:xfrm>
              <a:off x="507969" y="928495"/>
              <a:ext cx="3105325" cy="485102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1" i="0" u="none" strike="noStrike" cap="none" dirty="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23AD98A9-882F-05AA-BB4E-3FB88AAA7C20}"/>
                </a:ext>
              </a:extLst>
            </p:cNvPr>
            <p:cNvSpPr txBox="1"/>
            <p:nvPr/>
          </p:nvSpPr>
          <p:spPr>
            <a:xfrm>
              <a:off x="687498" y="938979"/>
              <a:ext cx="2746265" cy="3577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kumimoji="1" lang="ja-JP" altLang="en-US" sz="1500" b="1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ポップアップ</a:t>
              </a:r>
              <a:r>
                <a:rPr kumimoji="1" lang="en-US" altLang="ja-JP" sz="1500" b="1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(</a:t>
              </a:r>
              <a:r>
                <a:rPr kumimoji="1" lang="ja-JP" altLang="en-US" sz="1500" b="1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離脱防止 など</a:t>
              </a:r>
              <a:r>
                <a:rPr kumimoji="1" lang="en-US" altLang="ja-JP" sz="1500" b="1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)</a:t>
              </a:r>
              <a:endParaRPr kumimoji="1" lang="ja-JP" altLang="en-US" sz="1500" b="1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B668975-CA29-64DD-88DF-17EAAC94AE34}"/>
              </a:ext>
            </a:extLst>
          </p:cNvPr>
          <p:cNvSpPr/>
          <p:nvPr/>
        </p:nvSpPr>
        <p:spPr>
          <a:xfrm>
            <a:off x="3806311" y="788165"/>
            <a:ext cx="588008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chemeClr val="dk1"/>
              </a:buClr>
              <a:buSzPts val="1500"/>
            </a:pPr>
            <a:r>
              <a:rPr lang="en-US" altLang="ja-JP" sz="1600" dirty="0">
                <a:latin typeface="Meiryo"/>
                <a:ea typeface="Meiryo"/>
                <a:cs typeface="Meiryo"/>
                <a:sym typeface="Meiryo"/>
              </a:rPr>
              <a:t>WEB</a:t>
            </a:r>
            <a:r>
              <a:rPr lang="ja-JP" altLang="en-US" sz="1600" dirty="0">
                <a:latin typeface="Meiryo"/>
                <a:ea typeface="Meiryo"/>
                <a:cs typeface="Meiryo"/>
                <a:sym typeface="Meiryo"/>
              </a:rPr>
              <a:t>サイト上の特定アクションを起こしたユーザーに対して</a:t>
            </a:r>
            <a:endParaRPr lang="en-US" altLang="ja-JP" sz="1600" dirty="0">
              <a:latin typeface="Meiryo"/>
              <a:ea typeface="Meiryo"/>
              <a:cs typeface="Meiryo"/>
              <a:sym typeface="Meiryo"/>
            </a:endParaRPr>
          </a:p>
          <a:p>
            <a:pPr lvl="0" algn="ctr">
              <a:buClr>
                <a:schemeClr val="dk1"/>
              </a:buClr>
              <a:buSzPts val="1500"/>
            </a:pPr>
            <a:r>
              <a:rPr lang="ja-JP" altLang="en-US" sz="1600" dirty="0">
                <a:latin typeface="Meiryo"/>
                <a:ea typeface="Meiryo"/>
                <a:cs typeface="Meiryo"/>
                <a:sym typeface="Meiryo"/>
              </a:rPr>
              <a:t>ポップアップの形で</a:t>
            </a:r>
            <a:r>
              <a:rPr lang="en-US" altLang="ja-JP" sz="1600" dirty="0">
                <a:latin typeface="Meiryo"/>
                <a:ea typeface="Meiryo"/>
                <a:cs typeface="Meiryo"/>
                <a:sym typeface="Meiryo"/>
              </a:rPr>
              <a:t>LINE</a:t>
            </a:r>
            <a:r>
              <a:rPr lang="ja-JP" altLang="en-US" sz="1600" dirty="0">
                <a:latin typeface="Meiryo"/>
                <a:ea typeface="Meiryo"/>
                <a:cs typeface="Meiryo"/>
                <a:sym typeface="Meiryo"/>
              </a:rPr>
              <a:t>誘導の動線を提示。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4BC18E84-0DF3-01E6-D82D-0A9DCD2D5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4329" y="2258734"/>
            <a:ext cx="1524677" cy="3096752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0FACA28-BE3D-80E4-091C-39F6141694C7}"/>
              </a:ext>
            </a:extLst>
          </p:cNvPr>
          <p:cNvSpPr txBox="1"/>
          <p:nvPr/>
        </p:nvSpPr>
        <p:spPr>
          <a:xfrm>
            <a:off x="5214938" y="1372940"/>
            <a:ext cx="414813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50" dirty="0">
                <a:solidFill>
                  <a:srgbClr val="FF0000"/>
                </a:solidFill>
                <a:latin typeface="Meiryo"/>
                <a:ea typeface="Meiryo"/>
                <a:cs typeface="Meiryo"/>
                <a:sym typeface="Meiryo"/>
              </a:rPr>
              <a:t>LINE</a:t>
            </a:r>
            <a:r>
              <a:rPr lang="ja-JP" altLang="en-US" sz="1050" dirty="0">
                <a:solidFill>
                  <a:srgbClr val="FF0000"/>
                </a:solidFill>
                <a:latin typeface="Meiryo"/>
                <a:ea typeface="Meiryo"/>
                <a:cs typeface="Meiryo"/>
                <a:sym typeface="Meiryo"/>
              </a:rPr>
              <a:t>以外の注力動線への誘導も同バナーから実施が可能です。</a:t>
            </a:r>
            <a:endParaRPr lang="ja-JP" altLang="en-US" sz="1050" dirty="0">
              <a:solidFill>
                <a:srgbClr val="FF0000"/>
              </a:solidFill>
            </a:endParaRP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FC908A63-1EE8-A605-1D4F-460FED944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2877" y="2846109"/>
            <a:ext cx="1524677" cy="3096752"/>
          </a:xfrm>
          <a:prstGeom prst="rect">
            <a:avLst/>
          </a:prstGeom>
        </p:spPr>
      </p:pic>
      <p:sp>
        <p:nvSpPr>
          <p:cNvPr id="12" name="矢印: 右 11">
            <a:extLst>
              <a:ext uri="{FF2B5EF4-FFF2-40B4-BE49-F238E27FC236}">
                <a16:creationId xmlns:a16="http://schemas.microsoft.com/office/drawing/2014/main" id="{C5B2A6E8-796B-963F-0A04-9B9D1A36ADF0}"/>
              </a:ext>
            </a:extLst>
          </p:cNvPr>
          <p:cNvSpPr/>
          <p:nvPr/>
        </p:nvSpPr>
        <p:spPr>
          <a:xfrm>
            <a:off x="7373222" y="3359435"/>
            <a:ext cx="571500" cy="619125"/>
          </a:xfrm>
          <a:prstGeom prst="rightArrow">
            <a:avLst>
              <a:gd name="adj1" fmla="val 64359"/>
              <a:gd name="adj2" fmla="val 5000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B49FAB7-0FB8-4D5F-CF13-A19BBA28C8C7}"/>
              </a:ext>
            </a:extLst>
          </p:cNvPr>
          <p:cNvSpPr/>
          <p:nvPr/>
        </p:nvSpPr>
        <p:spPr>
          <a:xfrm>
            <a:off x="8117093" y="3057525"/>
            <a:ext cx="1371145" cy="2585494"/>
          </a:xfrm>
          <a:prstGeom prst="rect">
            <a:avLst/>
          </a:prstGeom>
          <a:solidFill>
            <a:schemeClr val="tx1">
              <a:lumMod val="75000"/>
              <a:lumOff val="2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Google Shape;51;p19">
            <a:extLst>
              <a:ext uri="{FF2B5EF4-FFF2-40B4-BE49-F238E27FC236}">
                <a16:creationId xmlns:a16="http://schemas.microsoft.com/office/drawing/2014/main" id="{1B34220E-1DA3-AC59-C2DE-15AB3320AC1C}"/>
              </a:ext>
            </a:extLst>
          </p:cNvPr>
          <p:cNvSpPr/>
          <p:nvPr/>
        </p:nvSpPr>
        <p:spPr>
          <a:xfrm>
            <a:off x="543399" y="1321261"/>
            <a:ext cx="1510826" cy="485102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-JP" altLang="en-US" sz="1400" b="1" i="0" u="none" strike="noStrike" cap="none" dirty="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初期：</a:t>
            </a:r>
            <a:r>
              <a:rPr lang="en-US" altLang="ja-JP" sz="1400" b="1" i="0" u="none" strike="noStrike" cap="none" dirty="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1.5</a:t>
            </a:r>
            <a:r>
              <a:rPr lang="ja-JP" altLang="en-US" sz="1400" b="1" i="0" u="none" strike="noStrike" cap="none" dirty="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万円</a:t>
            </a:r>
            <a:endParaRPr sz="1400" b="1" i="0" u="none" strike="noStrike" cap="none" dirty="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7" name="Google Shape;51;p19">
            <a:extLst>
              <a:ext uri="{FF2B5EF4-FFF2-40B4-BE49-F238E27FC236}">
                <a16:creationId xmlns:a16="http://schemas.microsoft.com/office/drawing/2014/main" id="{EBA2E7AC-5299-C000-0A43-CCF8CE458AAF}"/>
              </a:ext>
            </a:extLst>
          </p:cNvPr>
          <p:cNvSpPr/>
          <p:nvPr/>
        </p:nvSpPr>
        <p:spPr>
          <a:xfrm>
            <a:off x="2137897" y="1321261"/>
            <a:ext cx="1510826" cy="485102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-JP" altLang="en-US" sz="1400" b="1" i="0" u="none" strike="noStrike" cap="none" dirty="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月額</a:t>
            </a:r>
            <a:r>
              <a:rPr lang="en-US" altLang="ja-JP" sz="1400" b="1" i="0" u="none" strike="noStrike" cap="none" dirty="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3</a:t>
            </a:r>
            <a:r>
              <a:rPr lang="ja-JP" altLang="en-US" sz="1400" b="1" i="0" u="none" strike="noStrike" cap="none" dirty="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万円</a:t>
            </a:r>
            <a:endParaRPr sz="1400" b="1" i="0" u="none" strike="noStrike" cap="none" dirty="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98FF8283-5B2F-5018-9D25-736A384B4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3942" y="3752836"/>
            <a:ext cx="1062545" cy="1115066"/>
          </a:xfrm>
          <a:prstGeom prst="rect">
            <a:avLst/>
          </a:prstGeom>
        </p:spPr>
      </p:pic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E4AE5F6C-0BA5-6768-64B9-9CD156133552}"/>
              </a:ext>
            </a:extLst>
          </p:cNvPr>
          <p:cNvSpPr/>
          <p:nvPr/>
        </p:nvSpPr>
        <p:spPr>
          <a:xfrm>
            <a:off x="5769326" y="1938056"/>
            <a:ext cx="3788228" cy="2441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動作イメージ</a:t>
            </a:r>
            <a:endParaRPr kumimoji="1" lang="ja-JP" altLang="en-US" sz="11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669C67AE-8870-AB99-9BB8-030F3AB8CB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398" y="4259719"/>
            <a:ext cx="5059180" cy="2191534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CFFD213E-DE33-0075-6E07-F24DBD7A94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513" y="1977951"/>
            <a:ext cx="5023065" cy="223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9334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506C2-B2E5-BEA0-384E-7336F080B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752;p28">
            <a:extLst>
              <a:ext uri="{FF2B5EF4-FFF2-40B4-BE49-F238E27FC236}">
                <a16:creationId xmlns:a16="http://schemas.microsoft.com/office/drawing/2014/main" id="{AA80CD04-9456-70DB-2E44-D3EDB146193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002060"/>
                </a:solidFill>
                <a:latin typeface="Meiryo"/>
                <a:ea typeface="Meiryo"/>
                <a:cs typeface="Meiryo"/>
                <a:sym typeface="Meiryo"/>
              </a:rPr>
              <a:t>新規友だちの追加</a:t>
            </a:r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（サンクス</a:t>
            </a:r>
            <a:r>
              <a:rPr lang="en-US" altLang="ja-JP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誘導）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89A6A4C-E34E-E7CF-D6DD-C175E600A94D}"/>
              </a:ext>
            </a:extLst>
          </p:cNvPr>
          <p:cNvSpPr/>
          <p:nvPr/>
        </p:nvSpPr>
        <p:spPr>
          <a:xfrm>
            <a:off x="1404798" y="1938056"/>
            <a:ext cx="1859036" cy="2441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WEB</a:t>
            </a:r>
            <a:r>
              <a:rPr kumimoji="1" lang="ja-JP" alt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サイト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2BBF438-B1EF-A61A-EE3D-69CD39766C7E}"/>
              </a:ext>
            </a:extLst>
          </p:cNvPr>
          <p:cNvSpPr/>
          <p:nvPr/>
        </p:nvSpPr>
        <p:spPr>
          <a:xfrm>
            <a:off x="5808682" y="2415743"/>
            <a:ext cx="3748873" cy="1821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A1E4128-77DC-C871-EE20-5BD43326E078}"/>
              </a:ext>
            </a:extLst>
          </p:cNvPr>
          <p:cNvSpPr/>
          <p:nvPr/>
        </p:nvSpPr>
        <p:spPr>
          <a:xfrm>
            <a:off x="5808681" y="4588963"/>
            <a:ext cx="3748873" cy="1821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37BB268-660A-FEE4-BB39-0E338F1DDC23}"/>
              </a:ext>
            </a:extLst>
          </p:cNvPr>
          <p:cNvSpPr/>
          <p:nvPr/>
        </p:nvSpPr>
        <p:spPr>
          <a:xfrm>
            <a:off x="5974632" y="2304788"/>
            <a:ext cx="1859036" cy="2441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非</a:t>
            </a:r>
            <a:r>
              <a:rPr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友だちの場合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9FF4626-FD17-CA1C-8064-F46606D0BCCE}"/>
              </a:ext>
            </a:extLst>
          </p:cNvPr>
          <p:cNvSpPr/>
          <p:nvPr/>
        </p:nvSpPr>
        <p:spPr>
          <a:xfrm>
            <a:off x="5974632" y="4466888"/>
            <a:ext cx="1859036" cy="2441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既存の</a:t>
            </a:r>
            <a:r>
              <a:rPr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友だちの場合</a:t>
            </a: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8F202453-7FF9-8AE7-D10D-66F74A74A2F4}"/>
              </a:ext>
            </a:extLst>
          </p:cNvPr>
          <p:cNvCxnSpPr/>
          <p:nvPr/>
        </p:nvCxnSpPr>
        <p:spPr>
          <a:xfrm>
            <a:off x="4361857" y="3239708"/>
            <a:ext cx="1407469" cy="0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C92F6E28-BBFF-1A56-AC22-CA16D2F1B1EA}"/>
              </a:ext>
            </a:extLst>
          </p:cNvPr>
          <p:cNvCxnSpPr>
            <a:cxnSpLocks/>
          </p:cNvCxnSpPr>
          <p:nvPr/>
        </p:nvCxnSpPr>
        <p:spPr>
          <a:xfrm>
            <a:off x="4361857" y="3392108"/>
            <a:ext cx="1407469" cy="1358385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1D29A9C3-A3E8-0780-A758-0C8E7E376668}"/>
              </a:ext>
            </a:extLst>
          </p:cNvPr>
          <p:cNvSpPr/>
          <p:nvPr/>
        </p:nvSpPr>
        <p:spPr>
          <a:xfrm>
            <a:off x="4867227" y="2304788"/>
            <a:ext cx="374449" cy="3205847"/>
          </a:xfrm>
          <a:prstGeom prst="rect">
            <a:avLst/>
          </a:prstGeom>
          <a:solidFill>
            <a:srgbClr val="00FF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｜</a:t>
            </a:r>
            <a:r>
              <a:rPr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</a:t>
            </a:r>
          </a:p>
          <a:p>
            <a:pPr algn="ctr"/>
            <a:r>
              <a:rPr kumimoji="1"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Y</a:t>
            </a:r>
          </a:p>
          <a:p>
            <a:pPr algn="ctr"/>
            <a:r>
              <a:rPr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M</a:t>
            </a:r>
            <a:r>
              <a:rPr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ツ</a:t>
            </a:r>
            <a:endParaRPr lang="en-US" altLang="ja-JP" sz="11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｜ルで</a:t>
            </a:r>
            <a:endParaRPr kumimoji="1" lang="en-US" altLang="ja-JP" sz="11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</a:t>
            </a:r>
            <a:br>
              <a:rPr kumimoji="1"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kumimoji="1"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</a:t>
            </a:r>
          </a:p>
          <a:p>
            <a:pPr algn="ctr"/>
            <a:r>
              <a:rPr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N</a:t>
            </a:r>
            <a:br>
              <a:rPr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E</a:t>
            </a:r>
          </a:p>
          <a:p>
            <a:pPr algn="ctr"/>
            <a:r>
              <a:rPr kumimoji="1"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動線</a:t>
            </a:r>
            <a:endParaRPr kumimoji="1" lang="en-US" altLang="ja-JP" sz="11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</a:t>
            </a:r>
            <a:endParaRPr kumimoji="1" lang="en-US" altLang="ja-JP" sz="11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｜</a:t>
            </a:r>
          </a:p>
        </p:txBody>
      </p:sp>
      <p:pic>
        <p:nvPicPr>
          <p:cNvPr id="45" name="図 44" descr="グラフィカル ユーザー インターフェイス, アプリケーション, Teams&#10;&#10;AI 生成コンテンツは誤りを含む可能性があります。">
            <a:extLst>
              <a:ext uri="{FF2B5EF4-FFF2-40B4-BE49-F238E27FC236}">
                <a16:creationId xmlns:a16="http://schemas.microsoft.com/office/drawing/2014/main" id="{E91CA7A5-62B3-F1F8-38C3-DDCE33E1CC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7999618" y="2128994"/>
            <a:ext cx="1231081" cy="2085097"/>
          </a:xfrm>
          <a:prstGeom prst="rect">
            <a:avLst/>
          </a:prstGeom>
        </p:spPr>
      </p:pic>
      <p:pic>
        <p:nvPicPr>
          <p:cNvPr id="46" name="図 45" descr="電卓の写真のスマートフォン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31EEAD2C-3BE8-0210-FD8E-46D52B30A0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7999618" y="4325046"/>
            <a:ext cx="1231081" cy="2085098"/>
          </a:xfrm>
          <a:prstGeom prst="rect">
            <a:avLst/>
          </a:prstGeom>
        </p:spPr>
      </p:pic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E989AEB3-EF0E-8885-B426-8B6A5E01F40A}"/>
              </a:ext>
            </a:extLst>
          </p:cNvPr>
          <p:cNvSpPr txBox="1"/>
          <p:nvPr/>
        </p:nvSpPr>
        <p:spPr>
          <a:xfrm>
            <a:off x="5974631" y="2701376"/>
            <a:ext cx="185903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公式アカウントの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友だち</a:t>
            </a:r>
            <a:endParaRPr lang="en-US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登録ページ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へ遷移する。</a:t>
            </a:r>
            <a:endParaRPr kumimoji="1" lang="ja-JP" altLang="en-US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4E6D08E3-E0B3-1DF4-0533-E4EE67240415}"/>
              </a:ext>
            </a:extLst>
          </p:cNvPr>
          <p:cNvSpPr txBox="1"/>
          <p:nvPr/>
        </p:nvSpPr>
        <p:spPr>
          <a:xfrm>
            <a:off x="5971905" y="4914274"/>
            <a:ext cx="185903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公式アカウントの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トーク</a:t>
            </a:r>
            <a:endParaRPr lang="en-US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画面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へ遷移する。</a:t>
            </a:r>
            <a:endParaRPr lang="en-US" altLang="ja-JP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sz="10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kumimoji="1" lang="ja-JP" altLang="en-US" sz="10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設定によりフォーム入力</a:t>
            </a:r>
            <a:endParaRPr kumimoji="1" lang="en-US" altLang="ja-JP" sz="10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0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内容を踏襲した入力画面</a:t>
            </a:r>
            <a:endParaRPr lang="en-US" altLang="ja-JP" sz="10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10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を表示させることが可能。</a:t>
            </a:r>
            <a:endParaRPr kumimoji="1" lang="en-US" altLang="ja-JP" sz="10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10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↓</a:t>
            </a:r>
            <a:endParaRPr lang="en-US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配信セグメントに利用可</a:t>
            </a:r>
            <a:endParaRPr kumimoji="1" lang="ja-JP" altLang="en-US" sz="11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56" name="図 55">
            <a:extLst>
              <a:ext uri="{FF2B5EF4-FFF2-40B4-BE49-F238E27FC236}">
                <a16:creationId xmlns:a16="http://schemas.microsoft.com/office/drawing/2014/main" id="{0B7B313D-7D5F-4357-9B38-DFC3DBC5F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301" y="3085325"/>
            <a:ext cx="1133712" cy="110223"/>
          </a:xfrm>
          <a:prstGeom prst="rect">
            <a:avLst/>
          </a:prstGeom>
        </p:spPr>
      </p:pic>
      <p:pic>
        <p:nvPicPr>
          <p:cNvPr id="57" name="図 56">
            <a:extLst>
              <a:ext uri="{FF2B5EF4-FFF2-40B4-BE49-F238E27FC236}">
                <a16:creationId xmlns:a16="http://schemas.microsoft.com/office/drawing/2014/main" id="{A8EA42C4-338F-850B-B276-B83DC2A731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8027" y="3091633"/>
            <a:ext cx="479964" cy="106659"/>
          </a:xfrm>
          <a:prstGeom prst="rect">
            <a:avLst/>
          </a:prstGeom>
        </p:spPr>
      </p:pic>
      <p:pic>
        <p:nvPicPr>
          <p:cNvPr id="58" name="図 57">
            <a:extLst>
              <a:ext uri="{FF2B5EF4-FFF2-40B4-BE49-F238E27FC236}">
                <a16:creationId xmlns:a16="http://schemas.microsoft.com/office/drawing/2014/main" id="{CCB04072-A708-EEE7-1345-D4C9E9FA9C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5919" y="4322141"/>
            <a:ext cx="334412" cy="74315"/>
          </a:xfrm>
          <a:prstGeom prst="rect">
            <a:avLst/>
          </a:prstGeom>
        </p:spPr>
      </p:pic>
      <p:pic>
        <p:nvPicPr>
          <p:cNvPr id="59" name="図 58">
            <a:extLst>
              <a:ext uri="{FF2B5EF4-FFF2-40B4-BE49-F238E27FC236}">
                <a16:creationId xmlns:a16="http://schemas.microsoft.com/office/drawing/2014/main" id="{EDED354B-362F-AAF7-76A6-52D8547EDC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8319" y="4474541"/>
            <a:ext cx="334412" cy="74315"/>
          </a:xfrm>
          <a:prstGeom prst="rect">
            <a:avLst/>
          </a:prstGeom>
        </p:spPr>
      </p:pic>
      <p:sp>
        <p:nvSpPr>
          <p:cNvPr id="1030" name="楕円 1029">
            <a:extLst>
              <a:ext uri="{FF2B5EF4-FFF2-40B4-BE49-F238E27FC236}">
                <a16:creationId xmlns:a16="http://schemas.microsoft.com/office/drawing/2014/main" id="{A0934BB8-8F8D-D4F0-8D59-8F32A6A6E03A}"/>
              </a:ext>
            </a:extLst>
          </p:cNvPr>
          <p:cNvSpPr/>
          <p:nvPr/>
        </p:nvSpPr>
        <p:spPr>
          <a:xfrm>
            <a:off x="8414131" y="2644225"/>
            <a:ext cx="396000" cy="396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ロゴ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A593FC72-954C-48DC-E845-1A5FCE4C9E00}"/>
              </a:ext>
            </a:extLst>
          </p:cNvPr>
          <p:cNvSpPr/>
          <p:nvPr/>
        </p:nvSpPr>
        <p:spPr>
          <a:xfrm>
            <a:off x="315283" y="2196668"/>
            <a:ext cx="1778402" cy="3994401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二等辺三角形 34">
            <a:extLst>
              <a:ext uri="{FF2B5EF4-FFF2-40B4-BE49-F238E27FC236}">
                <a16:creationId xmlns:a16="http://schemas.microsoft.com/office/drawing/2014/main" id="{D9FB7255-AF30-7B82-6180-D447A3754744}"/>
              </a:ext>
            </a:extLst>
          </p:cNvPr>
          <p:cNvSpPr/>
          <p:nvPr/>
        </p:nvSpPr>
        <p:spPr>
          <a:xfrm rot="5400000">
            <a:off x="2108593" y="2360745"/>
            <a:ext cx="252701" cy="198744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二等辺三角形 35">
            <a:extLst>
              <a:ext uri="{FF2B5EF4-FFF2-40B4-BE49-F238E27FC236}">
                <a16:creationId xmlns:a16="http://schemas.microsoft.com/office/drawing/2014/main" id="{626832A8-575E-5E2B-73F4-BE5567514E57}"/>
              </a:ext>
            </a:extLst>
          </p:cNvPr>
          <p:cNvSpPr/>
          <p:nvPr/>
        </p:nvSpPr>
        <p:spPr>
          <a:xfrm rot="5400000">
            <a:off x="2225165" y="2360745"/>
            <a:ext cx="252701" cy="198744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二等辺三角形 36">
            <a:extLst>
              <a:ext uri="{FF2B5EF4-FFF2-40B4-BE49-F238E27FC236}">
                <a16:creationId xmlns:a16="http://schemas.microsoft.com/office/drawing/2014/main" id="{9D8E2C96-1207-00B8-6FC3-23370EFD7A03}"/>
              </a:ext>
            </a:extLst>
          </p:cNvPr>
          <p:cNvSpPr/>
          <p:nvPr/>
        </p:nvSpPr>
        <p:spPr>
          <a:xfrm rot="5400000">
            <a:off x="2341737" y="2360745"/>
            <a:ext cx="252701" cy="198744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28671F13-F479-AFF6-9832-C7C00D2D05EE}"/>
              </a:ext>
            </a:extLst>
          </p:cNvPr>
          <p:cNvSpPr/>
          <p:nvPr/>
        </p:nvSpPr>
        <p:spPr>
          <a:xfrm>
            <a:off x="614547" y="4198381"/>
            <a:ext cx="1154315" cy="2441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フォーム</a:t>
            </a:r>
          </a:p>
        </p:txBody>
      </p:sp>
      <p:pic>
        <p:nvPicPr>
          <p:cNvPr id="40" name="図 39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2B8DDCE0-83B3-5BAA-0FFE-3D329FBE2D9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663353" y="2289246"/>
            <a:ext cx="1048252" cy="1775437"/>
          </a:xfrm>
          <a:prstGeom prst="rect">
            <a:avLst/>
          </a:prstGeom>
        </p:spPr>
      </p:pic>
      <p:pic>
        <p:nvPicPr>
          <p:cNvPr id="41" name="図 40">
            <a:extLst>
              <a:ext uri="{FF2B5EF4-FFF2-40B4-BE49-F238E27FC236}">
                <a16:creationId xmlns:a16="http://schemas.microsoft.com/office/drawing/2014/main" id="{EE7C7FD3-78CB-4D67-F96A-D6F8017FE2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171" y="2325575"/>
            <a:ext cx="494484" cy="86136"/>
          </a:xfrm>
          <a:prstGeom prst="rect">
            <a:avLst/>
          </a:prstGeom>
        </p:spPr>
      </p:pic>
      <p:pic>
        <p:nvPicPr>
          <p:cNvPr id="42" name="図 41">
            <a:extLst>
              <a:ext uri="{FF2B5EF4-FFF2-40B4-BE49-F238E27FC236}">
                <a16:creationId xmlns:a16="http://schemas.microsoft.com/office/drawing/2014/main" id="{2E6CA8C2-2D04-CD9A-C431-4766768BBF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233" y="2328011"/>
            <a:ext cx="494484" cy="86136"/>
          </a:xfrm>
          <a:prstGeom prst="rect">
            <a:avLst/>
          </a:prstGeom>
        </p:spPr>
      </p:pic>
      <p:pic>
        <p:nvPicPr>
          <p:cNvPr id="47" name="図 46">
            <a:extLst>
              <a:ext uri="{FF2B5EF4-FFF2-40B4-BE49-F238E27FC236}">
                <a16:creationId xmlns:a16="http://schemas.microsoft.com/office/drawing/2014/main" id="{E5BE860E-2799-E5F4-ADCA-4ADBD44E0D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116" y="3773334"/>
            <a:ext cx="494484" cy="86136"/>
          </a:xfrm>
          <a:prstGeom prst="rect">
            <a:avLst/>
          </a:prstGeom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8AF12F67-4C9A-867F-4608-8FE9DA8116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157" y="2445202"/>
            <a:ext cx="1076073" cy="1468487"/>
          </a:xfrm>
          <a:prstGeom prst="rect">
            <a:avLst/>
          </a:prstGeom>
        </p:spPr>
      </p:pic>
      <p:pic>
        <p:nvPicPr>
          <p:cNvPr id="1024" name="図 1023">
            <a:extLst>
              <a:ext uri="{FF2B5EF4-FFF2-40B4-BE49-F238E27FC236}">
                <a16:creationId xmlns:a16="http://schemas.microsoft.com/office/drawing/2014/main" id="{E5E4719A-E6F5-34E0-F2FD-37322E2A76A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324" y="2303179"/>
            <a:ext cx="560995" cy="133465"/>
          </a:xfrm>
          <a:prstGeom prst="rect">
            <a:avLst/>
          </a:prstGeom>
        </p:spPr>
      </p:pic>
      <p:sp>
        <p:nvSpPr>
          <p:cNvPr id="1026" name="テキスト ボックス 1025">
            <a:extLst>
              <a:ext uri="{FF2B5EF4-FFF2-40B4-BE49-F238E27FC236}">
                <a16:creationId xmlns:a16="http://schemas.microsoft.com/office/drawing/2014/main" id="{1B57767B-4EA3-C247-B88C-4D505A95BD20}"/>
              </a:ext>
            </a:extLst>
          </p:cNvPr>
          <p:cNvSpPr txBox="1"/>
          <p:nvPr/>
        </p:nvSpPr>
        <p:spPr>
          <a:xfrm>
            <a:off x="-490844" y="4711039"/>
            <a:ext cx="34055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0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0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入力した内容を</a:t>
            </a:r>
            <a:endParaRPr lang="en-US" altLang="ja-JP" sz="10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0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トークに反映が可能。</a:t>
            </a:r>
            <a:endParaRPr lang="en-US" altLang="ja-JP" sz="10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32" name="正方形/長方形 1031">
            <a:extLst>
              <a:ext uri="{FF2B5EF4-FFF2-40B4-BE49-F238E27FC236}">
                <a16:creationId xmlns:a16="http://schemas.microsoft.com/office/drawing/2014/main" id="{D1D96D42-255C-636E-49E5-2CDA95DD6764}"/>
              </a:ext>
            </a:extLst>
          </p:cNvPr>
          <p:cNvSpPr/>
          <p:nvPr/>
        </p:nvSpPr>
        <p:spPr>
          <a:xfrm>
            <a:off x="2584156" y="2196668"/>
            <a:ext cx="1778402" cy="3994401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4" name="正方形/長方形 1033">
            <a:extLst>
              <a:ext uri="{FF2B5EF4-FFF2-40B4-BE49-F238E27FC236}">
                <a16:creationId xmlns:a16="http://schemas.microsoft.com/office/drawing/2014/main" id="{8693E451-BCB1-207B-6B73-131F2A8588BF}"/>
              </a:ext>
            </a:extLst>
          </p:cNvPr>
          <p:cNvSpPr/>
          <p:nvPr/>
        </p:nvSpPr>
        <p:spPr>
          <a:xfrm>
            <a:off x="2909322" y="4198381"/>
            <a:ext cx="1154315" cy="24415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CV</a:t>
            </a:r>
            <a:endParaRPr kumimoji="1" lang="ja-JP" altLang="en-US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36" name="正方形/長方形 1035">
            <a:extLst>
              <a:ext uri="{FF2B5EF4-FFF2-40B4-BE49-F238E27FC236}">
                <a16:creationId xmlns:a16="http://schemas.microsoft.com/office/drawing/2014/main" id="{43EEA9CC-C52C-B219-FF18-6E6EA44E4D24}"/>
              </a:ext>
            </a:extLst>
          </p:cNvPr>
          <p:cNvSpPr/>
          <p:nvPr/>
        </p:nvSpPr>
        <p:spPr>
          <a:xfrm>
            <a:off x="2692868" y="4436119"/>
            <a:ext cx="1396722" cy="10450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・購入完了</a:t>
            </a:r>
            <a:endParaRPr kumimoji="1" lang="en-US" altLang="ja-JP" sz="1100" b="1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・セミナー予約</a:t>
            </a:r>
            <a:endParaRPr kumimoji="1" lang="en-US" altLang="ja-JP" sz="1100" b="1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・登録完了</a:t>
            </a:r>
            <a:endParaRPr kumimoji="1" lang="en-US" altLang="ja-JP" sz="1100" b="1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・メルマガ登録</a:t>
            </a:r>
            <a:endParaRPr lang="en-US" altLang="ja-JP" sz="1100" b="1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・その他</a:t>
            </a:r>
          </a:p>
        </p:txBody>
      </p:sp>
      <p:pic>
        <p:nvPicPr>
          <p:cNvPr id="1038" name="図 1037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85260668-6C66-A032-FFE0-0276021F943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2977448" y="2296209"/>
            <a:ext cx="1048252" cy="1775437"/>
          </a:xfrm>
          <a:prstGeom prst="rect">
            <a:avLst/>
          </a:prstGeom>
        </p:spPr>
      </p:pic>
      <p:pic>
        <p:nvPicPr>
          <p:cNvPr id="1039" name="Picture 2" descr="買い物完了！イラスト｜無料イラスト・フリー素材なら「イラストAC」">
            <a:extLst>
              <a:ext uri="{FF2B5EF4-FFF2-40B4-BE49-F238E27FC236}">
                <a16:creationId xmlns:a16="http://schemas.microsoft.com/office/drawing/2014/main" id="{23D05307-D6FE-6284-27D3-3433EE0122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70" r="23682"/>
          <a:stretch>
            <a:fillRect/>
          </a:stretch>
        </p:blipFill>
        <p:spPr bwMode="auto">
          <a:xfrm>
            <a:off x="3866329" y="4627146"/>
            <a:ext cx="395417" cy="529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図 1039">
            <a:extLst>
              <a:ext uri="{FF2B5EF4-FFF2-40B4-BE49-F238E27FC236}">
                <a16:creationId xmlns:a16="http://schemas.microsoft.com/office/drawing/2014/main" id="{D40EFC68-F8C8-CACE-392A-C804A102B4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55266" y="2332538"/>
            <a:ext cx="494484" cy="86136"/>
          </a:xfrm>
          <a:prstGeom prst="rect">
            <a:avLst/>
          </a:prstGeom>
        </p:spPr>
      </p:pic>
      <p:pic>
        <p:nvPicPr>
          <p:cNvPr id="1041" name="図 1040">
            <a:extLst>
              <a:ext uri="{FF2B5EF4-FFF2-40B4-BE49-F238E27FC236}">
                <a16:creationId xmlns:a16="http://schemas.microsoft.com/office/drawing/2014/main" id="{BA9B0596-4197-6BA5-B58D-7E67FD1379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44328" y="2334974"/>
            <a:ext cx="494484" cy="86136"/>
          </a:xfrm>
          <a:prstGeom prst="rect">
            <a:avLst/>
          </a:prstGeom>
        </p:spPr>
      </p:pic>
      <p:pic>
        <p:nvPicPr>
          <p:cNvPr id="1042" name="図 1041">
            <a:extLst>
              <a:ext uri="{FF2B5EF4-FFF2-40B4-BE49-F238E27FC236}">
                <a16:creationId xmlns:a16="http://schemas.microsoft.com/office/drawing/2014/main" id="{A3D5D1CE-703D-3244-20B5-0CBB6C5EB4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4211" y="3780297"/>
            <a:ext cx="494484" cy="86136"/>
          </a:xfrm>
          <a:prstGeom prst="rect">
            <a:avLst/>
          </a:prstGeom>
        </p:spPr>
      </p:pic>
      <p:sp>
        <p:nvSpPr>
          <p:cNvPr id="1043" name="テキスト ボックス 1042">
            <a:extLst>
              <a:ext uri="{FF2B5EF4-FFF2-40B4-BE49-F238E27FC236}">
                <a16:creationId xmlns:a16="http://schemas.microsoft.com/office/drawing/2014/main" id="{434489DF-76E5-B08D-AB93-7A020A3C23F0}"/>
              </a:ext>
            </a:extLst>
          </p:cNvPr>
          <p:cNvSpPr txBox="1"/>
          <p:nvPr/>
        </p:nvSpPr>
        <p:spPr>
          <a:xfrm>
            <a:off x="1254839" y="5195928"/>
            <a:ext cx="1679395" cy="338554"/>
          </a:xfrm>
          <a:prstGeom prst="rect">
            <a:avLst/>
          </a:prstGeom>
          <a:solidFill>
            <a:schemeClr val="bg1">
              <a:alpha val="56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800" b="1" dirty="0">
                <a:solidFill>
                  <a:schemeClr val="bg1">
                    <a:lumMod val="8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800" b="1" dirty="0">
                <a:solidFill>
                  <a:schemeClr val="bg1">
                    <a:lumMod val="8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ユーザーの個人情報収集が</a:t>
            </a:r>
            <a:endParaRPr lang="en-US" altLang="ja-JP" sz="800" b="1" dirty="0">
              <a:solidFill>
                <a:schemeClr val="bg1">
                  <a:lumMod val="8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800" b="1" dirty="0">
                <a:solidFill>
                  <a:schemeClr val="bg1">
                    <a:lumMod val="8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完了したタイミング</a:t>
            </a:r>
            <a:endParaRPr kumimoji="1" lang="ja-JP" altLang="en-US" sz="800" b="1" dirty="0">
              <a:solidFill>
                <a:schemeClr val="bg1">
                  <a:lumMod val="8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E76D8F54-2926-2D56-7238-F66ACCBC4F20}"/>
              </a:ext>
            </a:extLst>
          </p:cNvPr>
          <p:cNvGrpSpPr/>
          <p:nvPr/>
        </p:nvGrpSpPr>
        <p:grpSpPr>
          <a:xfrm>
            <a:off x="543398" y="777681"/>
            <a:ext cx="3105325" cy="485102"/>
            <a:chOff x="507969" y="928495"/>
            <a:chExt cx="3105325" cy="485102"/>
          </a:xfrm>
        </p:grpSpPr>
        <p:sp>
          <p:nvSpPr>
            <p:cNvPr id="4" name="Google Shape;51;p19">
              <a:extLst>
                <a:ext uri="{FF2B5EF4-FFF2-40B4-BE49-F238E27FC236}">
                  <a16:creationId xmlns:a16="http://schemas.microsoft.com/office/drawing/2014/main" id="{98F6BB16-EFC6-9846-2A11-E624E876E64B}"/>
                </a:ext>
              </a:extLst>
            </p:cNvPr>
            <p:cNvSpPr/>
            <p:nvPr/>
          </p:nvSpPr>
          <p:spPr>
            <a:xfrm>
              <a:off x="507969" y="928495"/>
              <a:ext cx="3105325" cy="485102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1" i="0" u="none" strike="noStrike" cap="none" dirty="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560EDF30-5F09-B70A-2993-8CD4F9E40EFA}"/>
                </a:ext>
              </a:extLst>
            </p:cNvPr>
            <p:cNvSpPr txBox="1"/>
            <p:nvPr/>
          </p:nvSpPr>
          <p:spPr>
            <a:xfrm>
              <a:off x="1140096" y="988192"/>
              <a:ext cx="1832553" cy="3577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kumimoji="1" lang="ja-JP" altLang="en-US" sz="1500" b="1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サンクス</a:t>
              </a:r>
              <a:r>
                <a:rPr kumimoji="1" lang="en-US" altLang="ja-JP" sz="1500" b="1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LINE</a:t>
              </a:r>
              <a:r>
                <a:rPr kumimoji="1" lang="ja-JP" altLang="en-US" sz="1500" b="1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誘導</a:t>
              </a:r>
            </a:p>
          </p:txBody>
        </p:sp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B20BFF3-9D3E-A4D7-FF5A-70927F78FC9D}"/>
              </a:ext>
            </a:extLst>
          </p:cNvPr>
          <p:cNvSpPr/>
          <p:nvPr/>
        </p:nvSpPr>
        <p:spPr>
          <a:xfrm>
            <a:off x="8247347" y="4702330"/>
            <a:ext cx="899499" cy="7995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コネクタ: カギ線 6">
            <a:extLst>
              <a:ext uri="{FF2B5EF4-FFF2-40B4-BE49-F238E27FC236}">
                <a16:creationId xmlns:a16="http://schemas.microsoft.com/office/drawing/2014/main" id="{C5EB654A-0759-70F8-6BA7-95CA3A0F983F}"/>
              </a:ext>
            </a:extLst>
          </p:cNvPr>
          <p:cNvCxnSpPr>
            <a:cxnSpLocks/>
          </p:cNvCxnSpPr>
          <p:nvPr/>
        </p:nvCxnSpPr>
        <p:spPr>
          <a:xfrm flipV="1">
            <a:off x="7672763" y="5102505"/>
            <a:ext cx="574585" cy="332494"/>
          </a:xfrm>
          <a:prstGeom prst="bentConnector3">
            <a:avLst>
              <a:gd name="adj1" fmla="val 50000"/>
            </a:avLst>
          </a:prstGeom>
          <a:ln w="15875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218E3FE3-7B20-5966-421F-4ECB81603538}"/>
              </a:ext>
            </a:extLst>
          </p:cNvPr>
          <p:cNvCxnSpPr>
            <a:cxnSpLocks/>
            <a:stCxn id="48" idx="2"/>
            <a:endCxn id="21" idx="0"/>
          </p:cNvCxnSpPr>
          <p:nvPr/>
        </p:nvCxnSpPr>
        <p:spPr>
          <a:xfrm>
            <a:off x="6904149" y="3132263"/>
            <a:ext cx="1" cy="1334625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BDB9444-3A0E-B235-58FC-9F8C81BAEA44}"/>
              </a:ext>
            </a:extLst>
          </p:cNvPr>
          <p:cNvSpPr txBox="1"/>
          <p:nvPr/>
        </p:nvSpPr>
        <p:spPr>
          <a:xfrm>
            <a:off x="6323825" y="3523709"/>
            <a:ext cx="1161782" cy="26161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1100" b="1" dirty="0">
                <a:solidFill>
                  <a:srgbClr val="00C057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友だち追加後</a:t>
            </a:r>
            <a:endParaRPr lang="ja-JP" altLang="en-US" sz="1100" dirty="0">
              <a:solidFill>
                <a:srgbClr val="00C057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C4FF56C-47EE-47DB-92F1-3F0EF57613D9}"/>
              </a:ext>
            </a:extLst>
          </p:cNvPr>
          <p:cNvSpPr/>
          <p:nvPr/>
        </p:nvSpPr>
        <p:spPr>
          <a:xfrm>
            <a:off x="3806311" y="788165"/>
            <a:ext cx="588008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chemeClr val="dk1"/>
              </a:buClr>
              <a:buSzPts val="1500"/>
            </a:pPr>
            <a:r>
              <a:rPr lang="ja-JP" altLang="en-US" sz="1600" dirty="0">
                <a:latin typeface="Meiryo"/>
                <a:ea typeface="Meiryo"/>
                <a:cs typeface="Meiryo"/>
                <a:sym typeface="Meiryo"/>
              </a:rPr>
              <a:t>サンクス到達時の</a:t>
            </a:r>
            <a:r>
              <a:rPr lang="en-US" altLang="ja-JP" sz="1600" dirty="0">
                <a:latin typeface="Meiryo"/>
                <a:ea typeface="Meiryo"/>
                <a:cs typeface="Meiryo"/>
                <a:sym typeface="Meiryo"/>
              </a:rPr>
              <a:t>LINE</a:t>
            </a:r>
            <a:r>
              <a:rPr lang="ja-JP" altLang="en-US" sz="1600" dirty="0">
                <a:latin typeface="Meiryo"/>
                <a:ea typeface="Meiryo"/>
                <a:cs typeface="Meiryo"/>
                <a:sym typeface="Meiryo"/>
              </a:rPr>
              <a:t>動線が弊社開発により可能に。</a:t>
            </a:r>
            <a:endParaRPr lang="en-US" altLang="ja-JP" sz="1600" dirty="0">
              <a:latin typeface="Meiryo"/>
              <a:ea typeface="Meiryo"/>
              <a:cs typeface="Meiryo"/>
              <a:sym typeface="Meiryo"/>
            </a:endParaRPr>
          </a:p>
          <a:p>
            <a:pPr lvl="0" algn="ctr">
              <a:buClr>
                <a:schemeClr val="dk1"/>
              </a:buClr>
              <a:buSzPts val="1500"/>
            </a:pPr>
            <a:r>
              <a:rPr lang="ja-JP" altLang="en-US" sz="1600" dirty="0">
                <a:latin typeface="Meiryo"/>
                <a:ea typeface="Meiryo"/>
                <a:cs typeface="Meiryo"/>
                <a:sym typeface="Meiryo"/>
              </a:rPr>
              <a:t>費用を抑えての導入が可能で、新規反響の質改善に寄与。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ED6F7D2-546D-BF9F-9805-58455D7E2831}"/>
              </a:ext>
            </a:extLst>
          </p:cNvPr>
          <p:cNvSpPr txBox="1"/>
          <p:nvPr/>
        </p:nvSpPr>
        <p:spPr>
          <a:xfrm>
            <a:off x="4091506" y="1549623"/>
            <a:ext cx="471862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※</a:t>
            </a:r>
            <a:r>
              <a:rPr lang="ja-JP" altLang="en-US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既存</a:t>
            </a:r>
            <a:r>
              <a:rPr lang="en-US" altLang="ja-JP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API</a:t>
            </a:r>
            <a:r>
              <a:rPr lang="ja-JP" altLang="en-US" sz="9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ツールとの併用についても、問題なく稼働が可能。</a:t>
            </a:r>
            <a:endParaRPr lang="ja-JP" altLang="en-US" sz="900" dirty="0">
              <a:solidFill>
                <a:srgbClr val="FF0000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5B8C83A-7191-D772-EF88-AE268D007E63}"/>
              </a:ext>
            </a:extLst>
          </p:cNvPr>
          <p:cNvSpPr/>
          <p:nvPr/>
        </p:nvSpPr>
        <p:spPr>
          <a:xfrm>
            <a:off x="5769326" y="1938056"/>
            <a:ext cx="3788228" cy="2441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動作イメージ</a:t>
            </a:r>
            <a:endParaRPr kumimoji="1" lang="ja-JP" altLang="en-US" sz="11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" name="Google Shape;51;p19">
            <a:extLst>
              <a:ext uri="{FF2B5EF4-FFF2-40B4-BE49-F238E27FC236}">
                <a16:creationId xmlns:a16="http://schemas.microsoft.com/office/drawing/2014/main" id="{A4070FDA-7C99-27DE-6A9C-437C1D5DD3B3}"/>
              </a:ext>
            </a:extLst>
          </p:cNvPr>
          <p:cNvSpPr/>
          <p:nvPr/>
        </p:nvSpPr>
        <p:spPr>
          <a:xfrm>
            <a:off x="543399" y="1321261"/>
            <a:ext cx="1510826" cy="485102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-JP" altLang="en-US" sz="1400" b="1" i="0" u="none" strike="noStrike" cap="none" dirty="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初期：</a:t>
            </a:r>
            <a:r>
              <a:rPr lang="en-US" altLang="ja-JP" sz="1400" b="1" i="0" u="none" strike="noStrike" cap="none" dirty="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10</a:t>
            </a:r>
            <a:r>
              <a:rPr lang="ja-JP" altLang="en-US" sz="1400" b="1" i="0" u="none" strike="noStrike" cap="none" dirty="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万円</a:t>
            </a:r>
            <a:endParaRPr sz="1400" b="1" i="0" u="none" strike="noStrike" cap="none" dirty="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8" name="Google Shape;51;p19">
            <a:extLst>
              <a:ext uri="{FF2B5EF4-FFF2-40B4-BE49-F238E27FC236}">
                <a16:creationId xmlns:a16="http://schemas.microsoft.com/office/drawing/2014/main" id="{40C4675F-5DCC-DD57-BE14-B3A7697A02CD}"/>
              </a:ext>
            </a:extLst>
          </p:cNvPr>
          <p:cNvSpPr/>
          <p:nvPr/>
        </p:nvSpPr>
        <p:spPr>
          <a:xfrm>
            <a:off x="2137897" y="1321261"/>
            <a:ext cx="1510826" cy="485102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ja-JP" altLang="en-US" sz="1400" b="1" i="0" u="none" strike="noStrike" cap="none" dirty="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月額</a:t>
            </a:r>
            <a:r>
              <a:rPr lang="en-US" altLang="ja-JP" sz="1400" b="1" i="0" u="none" strike="noStrike" cap="none" dirty="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3</a:t>
            </a:r>
            <a:r>
              <a:rPr lang="ja-JP" altLang="en-US" sz="1400" b="1" i="0" u="none" strike="noStrike" cap="none" dirty="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万円～</a:t>
            </a:r>
            <a:endParaRPr lang="en-US" altLang="ja-JP" sz="1400" b="1" i="0" u="none" strike="noStrike" cap="none" dirty="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altLang="ja-JP" sz="1050" b="1" dirty="0">
                <a:solidFill>
                  <a:srgbClr val="FFFF00"/>
                </a:solidFill>
                <a:latin typeface="Meiryo"/>
                <a:ea typeface="Meiryo"/>
                <a:cs typeface="Meiryo"/>
                <a:sym typeface="Meiryo"/>
              </a:rPr>
              <a:t>+</a:t>
            </a:r>
            <a:r>
              <a:rPr lang="ja-JP" altLang="en-US" sz="1050" b="1" dirty="0">
                <a:solidFill>
                  <a:srgbClr val="FFFF00"/>
                </a:solidFill>
                <a:latin typeface="Meiryo"/>
                <a:ea typeface="Meiryo"/>
                <a:cs typeface="Meiryo"/>
                <a:sym typeface="Meiryo"/>
              </a:rPr>
              <a:t>設定地点追加</a:t>
            </a:r>
            <a:endParaRPr sz="1050" b="1" i="0" u="none" strike="noStrike" cap="none" dirty="0">
              <a:solidFill>
                <a:srgbClr val="FFFF0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30" name="コネクタ: カギ線 29">
            <a:extLst>
              <a:ext uri="{FF2B5EF4-FFF2-40B4-BE49-F238E27FC236}">
                <a16:creationId xmlns:a16="http://schemas.microsoft.com/office/drawing/2014/main" id="{D9706AF3-2C8D-6646-76C8-7802A4F734FC}"/>
              </a:ext>
            </a:extLst>
          </p:cNvPr>
          <p:cNvCxnSpPr>
            <a:cxnSpLocks/>
          </p:cNvCxnSpPr>
          <p:nvPr/>
        </p:nvCxnSpPr>
        <p:spPr>
          <a:xfrm rot="16200000" flipH="1">
            <a:off x="3294819" y="3047336"/>
            <a:ext cx="430977" cy="4596748"/>
          </a:xfrm>
          <a:prstGeom prst="bentConnector2">
            <a:avLst/>
          </a:prstGeom>
          <a:ln w="15875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97C92C6B-4F06-7ED3-0627-D0C168299913}"/>
              </a:ext>
            </a:extLst>
          </p:cNvPr>
          <p:cNvSpPr txBox="1"/>
          <p:nvPr/>
        </p:nvSpPr>
        <p:spPr>
          <a:xfrm>
            <a:off x="115187" y="5639542"/>
            <a:ext cx="5785781" cy="461665"/>
          </a:xfrm>
          <a:prstGeom prst="rect">
            <a:avLst/>
          </a:prstGeom>
          <a:solidFill>
            <a:schemeClr val="bg1">
              <a:alpha val="62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高開封率のLINEに誘導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して</a:t>
            </a:r>
            <a:r>
              <a:rPr lang="ja-JP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反響→実売上への引上げ率、リピート率改善。</a:t>
            </a:r>
            <a:endParaRPr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ja-JP" altLang="ja-JP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弊社運用の美容クリニック様では、予約後来院率にて40-50%程度の改善を実現</a:t>
            </a:r>
            <a:r>
              <a:rPr lang="ja-JP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。</a:t>
            </a:r>
            <a:endParaRPr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4909011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18"/>
          <p:cNvSpPr>
            <a:spLocks noChangeArrowheads="1"/>
          </p:cNvSpPr>
          <p:nvPr/>
        </p:nvSpPr>
        <p:spPr bwMode="auto">
          <a:xfrm>
            <a:off x="1649030" y="5820984"/>
            <a:ext cx="6192837" cy="37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31" b="1" dirty="0">
              <a:solidFill>
                <a:prstClr val="black"/>
              </a:solidFill>
              <a:latin typeface="メイリオ"/>
              <a:ea typeface="メイリオ"/>
              <a:cs typeface="メイリオ"/>
            </a:endParaRPr>
          </a:p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2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543897" y="5895365"/>
            <a:ext cx="1100981" cy="22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テキスト ボックス 2"/>
          <p:cNvSpPr txBox="1"/>
          <p:nvPr/>
        </p:nvSpPr>
        <p:spPr>
          <a:xfrm>
            <a:off x="5070232" y="5597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/>
              </a:solidFill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2170038" y="989684"/>
            <a:ext cx="5565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b="1" dirty="0">
                <a:solidFill>
                  <a:prstClr val="black"/>
                </a:solidFill>
                <a:latin typeface="メイリオ" charset="0"/>
                <a:ea typeface="メイリオ" charset="0"/>
                <a:cs typeface="メイリオ" charset="0"/>
              </a:rPr>
              <a:t>貴社の明るい未来に必ず貢献致します。</a:t>
            </a:r>
          </a:p>
        </p:txBody>
      </p:sp>
      <p:sp>
        <p:nvSpPr>
          <p:cNvPr id="14" name="正方形/長方形 13"/>
          <p:cNvSpPr/>
          <p:nvPr/>
        </p:nvSpPr>
        <p:spPr>
          <a:xfrm>
            <a:off x="382695" y="2698377"/>
            <a:ext cx="598220" cy="205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738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sp>
        <p:nvSpPr>
          <p:cNvPr id="15" name="正方形/長方形 14"/>
          <p:cNvSpPr/>
          <p:nvPr/>
        </p:nvSpPr>
        <p:spPr>
          <a:xfrm>
            <a:off x="368300" y="2355213"/>
            <a:ext cx="7566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00" dirty="0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05A1AABC-CDB8-5B83-4CFD-649967A361BF}"/>
              </a:ext>
            </a:extLst>
          </p:cNvPr>
          <p:cNvGrpSpPr/>
          <p:nvPr/>
        </p:nvGrpSpPr>
        <p:grpSpPr>
          <a:xfrm>
            <a:off x="381002" y="1772817"/>
            <a:ext cx="9143999" cy="3314853"/>
            <a:chOff x="1" y="1772816"/>
            <a:chExt cx="9143999" cy="3314853"/>
          </a:xfrm>
        </p:grpSpPr>
        <p:pic>
          <p:nvPicPr>
            <p:cNvPr id="21" name="図 20" descr="ポーズをとる男性グループ&#10;&#10;自動的に生成された説明">
              <a:extLst>
                <a:ext uri="{FF2B5EF4-FFF2-40B4-BE49-F238E27FC236}">
                  <a16:creationId xmlns:a16="http://schemas.microsoft.com/office/drawing/2014/main" id="{4927F40E-D146-C638-5583-C9DC298472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2" r="4076"/>
            <a:stretch/>
          </p:blipFill>
          <p:spPr>
            <a:xfrm>
              <a:off x="6973793" y="3518745"/>
              <a:ext cx="2170207" cy="1567781"/>
            </a:xfrm>
            <a:prstGeom prst="rect">
              <a:avLst/>
            </a:prstGeom>
          </p:spPr>
        </p:pic>
        <p:pic>
          <p:nvPicPr>
            <p:cNvPr id="16" name="図 15" descr="白いシャツを着ている男性&#10;&#10;中程度の精度で自動的に生成された説明">
              <a:extLst>
                <a:ext uri="{FF2B5EF4-FFF2-40B4-BE49-F238E27FC236}">
                  <a16:creationId xmlns:a16="http://schemas.microsoft.com/office/drawing/2014/main" id="{2ECDFCA7-8611-D865-F999-FDCD0EC21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808" y="3519888"/>
              <a:ext cx="1989985" cy="1567781"/>
            </a:xfrm>
            <a:prstGeom prst="rect">
              <a:avLst/>
            </a:prstGeom>
          </p:spPr>
        </p:pic>
        <p:pic>
          <p:nvPicPr>
            <p:cNvPr id="10" name="図 9" descr="スーツを着た男性たち&#10;&#10;自動的に生成された説明">
              <a:extLst>
                <a:ext uri="{FF2B5EF4-FFF2-40B4-BE49-F238E27FC236}">
                  <a16:creationId xmlns:a16="http://schemas.microsoft.com/office/drawing/2014/main" id="{9D3AD52A-1514-4350-FFDD-09984B366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3" r="10363"/>
            <a:stretch/>
          </p:blipFill>
          <p:spPr>
            <a:xfrm>
              <a:off x="7299681" y="1773979"/>
              <a:ext cx="1842624" cy="1745909"/>
            </a:xfrm>
            <a:prstGeom prst="rect">
              <a:avLst/>
            </a:prstGeom>
          </p:spPr>
        </p:pic>
        <p:pic>
          <p:nvPicPr>
            <p:cNvPr id="7" name="図 6" descr="講堂にいる人たち&#10;&#10;中程度の精度で自動的に生成された説明">
              <a:extLst>
                <a:ext uri="{FF2B5EF4-FFF2-40B4-BE49-F238E27FC236}">
                  <a16:creationId xmlns:a16="http://schemas.microsoft.com/office/drawing/2014/main" id="{B1CA0DFF-0DAF-D5BD-8D9F-8AFB103E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2" t="12879" r="2477"/>
            <a:stretch/>
          </p:blipFill>
          <p:spPr>
            <a:xfrm>
              <a:off x="1" y="1772816"/>
              <a:ext cx="5089778" cy="3314853"/>
            </a:xfrm>
            <a:prstGeom prst="rect">
              <a:avLst/>
            </a:prstGeom>
          </p:spPr>
        </p:pic>
        <p:pic>
          <p:nvPicPr>
            <p:cNvPr id="11" name="図 10" descr="スーツを着た男性グループの写真&#10;&#10;低い精度で自動的に生成された説明">
              <a:extLst>
                <a:ext uri="{FF2B5EF4-FFF2-40B4-BE49-F238E27FC236}">
                  <a16:creationId xmlns:a16="http://schemas.microsoft.com/office/drawing/2014/main" id="{FEFAFF33-EFBF-C67E-586A-08D93AF295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95" r="6763"/>
            <a:stretch/>
          </p:blipFill>
          <p:spPr>
            <a:xfrm>
              <a:off x="5089779" y="1772836"/>
              <a:ext cx="2215315" cy="1745909"/>
            </a:xfrm>
            <a:prstGeom prst="rect">
              <a:avLst/>
            </a:prstGeom>
          </p:spPr>
        </p:pic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38B92EF-519D-929F-4345-5BAC445EF234}"/>
              </a:ext>
            </a:extLst>
          </p:cNvPr>
          <p:cNvSpPr/>
          <p:nvPr/>
        </p:nvSpPr>
        <p:spPr>
          <a:xfrm>
            <a:off x="128016" y="6620256"/>
            <a:ext cx="2852928" cy="237744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949B271-D24D-666E-90F2-EA616E1EABC2}"/>
              </a:ext>
            </a:extLst>
          </p:cNvPr>
          <p:cNvSpPr/>
          <p:nvPr/>
        </p:nvSpPr>
        <p:spPr>
          <a:xfrm>
            <a:off x="368300" y="0"/>
            <a:ext cx="9537700" cy="514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5355464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141439</TotalTime>
  <Words>9951</Words>
  <Application>Microsoft Office PowerPoint</Application>
  <PresentationFormat>A4 210 x 297 mm</PresentationFormat>
  <Paragraphs>2143</Paragraphs>
  <Slides>62</Slides>
  <Notes>11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62</vt:i4>
      </vt:variant>
    </vt:vector>
  </HeadingPairs>
  <TitlesOfParts>
    <vt:vector size="69" baseType="lpstr">
      <vt:lpstr>Meiryo</vt:lpstr>
      <vt:lpstr>Meiryo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佐村 徳人</cp:lastModifiedBy>
  <cp:revision>1913</cp:revision>
  <cp:lastPrinted>2022-11-01T11:38:14Z</cp:lastPrinted>
  <dcterms:created xsi:type="dcterms:W3CDTF">2015-09-04T09:21:15Z</dcterms:created>
  <dcterms:modified xsi:type="dcterms:W3CDTF">2026-07-14T03:55:58Z</dcterms:modified>
</cp:coreProperties>
</file>