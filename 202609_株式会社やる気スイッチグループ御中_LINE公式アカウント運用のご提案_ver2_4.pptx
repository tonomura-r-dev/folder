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2"/>
  </p:notesMasterIdLst>
  <p:handoutMasterIdLst>
    <p:handoutMasterId r:id="rId63"/>
  </p:handoutMasterIdLst>
  <p:sldIdLst>
    <p:sldId id="2363" r:id="rId3"/>
    <p:sldId id="2971" r:id="rId4"/>
    <p:sldId id="2993" r:id="rId5"/>
    <p:sldId id="2972" r:id="rId6"/>
    <p:sldId id="3007" r:id="rId7"/>
    <p:sldId id="2994" r:id="rId8"/>
    <p:sldId id="2995" r:id="rId9"/>
    <p:sldId id="3003" r:id="rId10"/>
    <p:sldId id="3002" r:id="rId11"/>
    <p:sldId id="3001" r:id="rId12"/>
    <p:sldId id="2999" r:id="rId13"/>
    <p:sldId id="3004" r:id="rId14"/>
    <p:sldId id="2736" r:id="rId15"/>
    <p:sldId id="2987" r:id="rId16"/>
    <p:sldId id="2997" r:id="rId17"/>
    <p:sldId id="2996" r:id="rId18"/>
    <p:sldId id="2973" r:id="rId19"/>
    <p:sldId id="2977" r:id="rId20"/>
    <p:sldId id="2979" r:id="rId21"/>
    <p:sldId id="3000" r:id="rId22"/>
    <p:sldId id="3008" r:id="rId68"/>
    <p:sldId id="2908" r:id="rId23"/>
    <p:sldId id="2998" r:id="rId24"/>
    <p:sldId id="3009" r:id="rId69"/>
    <p:sldId id="2990" r:id="rId25"/>
    <p:sldId id="3005" r:id="rId26"/>
    <p:sldId id="2986" r:id="rId27"/>
    <p:sldId id="3006" r:id="rId28"/>
    <p:sldId id="2991" r:id="rId29"/>
    <p:sldId id="2737" r:id="rId30"/>
    <p:sldId id="3010" r:id="rId70"/>
    <p:sldId id="2989" r:id="rId31"/>
    <p:sldId id="2563" r:id="rId32"/>
    <p:sldId id="2959" r:id="rId33"/>
    <p:sldId id="2970" r:id="rId34"/>
    <p:sldId id="2968" r:id="rId35"/>
    <p:sldId id="2969" r:id="rId36"/>
    <p:sldId id="2639" r:id="rId37"/>
    <p:sldId id="3011" r:id="rId71"/>
    <p:sldId id="2957" r:id="rId38"/>
    <p:sldId id="2951" r:id="rId39"/>
    <p:sldId id="3012" r:id="rId72"/>
    <p:sldId id="2841" r:id="rId40"/>
    <p:sldId id="2734" r:id="rId41"/>
    <p:sldId id="2595" r:id="rId42"/>
    <p:sldId id="2566" r:id="rId43"/>
    <p:sldId id="2915" r:id="rId44"/>
    <p:sldId id="2619" r:id="rId45"/>
    <p:sldId id="2761" r:id="rId46"/>
    <p:sldId id="2935" r:id="rId47"/>
    <p:sldId id="2919" r:id="rId48"/>
    <p:sldId id="2519" r:id="rId49"/>
    <p:sldId id="2931" r:id="rId50"/>
    <p:sldId id="2749" r:id="rId51"/>
    <p:sldId id="2950" r:id="rId52"/>
    <p:sldId id="2961" r:id="rId53"/>
    <p:sldId id="2849" r:id="rId54"/>
    <p:sldId id="2904" r:id="rId55"/>
    <p:sldId id="2905" r:id="rId56"/>
    <p:sldId id="2906" r:id="rId57"/>
    <p:sldId id="2907" r:id="rId58"/>
    <p:sldId id="2575" r:id="rId59"/>
    <p:sldId id="2910" r:id="rId60"/>
    <p:sldId id="1169" r:id="rId6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notesMaster" Target="notesMasters/notesMaster1.xml"/><Relationship Id="rId63" Type="http://schemas.openxmlformats.org/officeDocument/2006/relationships/handoutMaster" Target="handoutMasters/handout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59</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7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8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72000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2420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1908000"/>
            <a:ext cx="8805672" cy="584775"/>
          </a:xfrm>
          <a:prstGeom prst="rect">
            <a:avLst/>
          </a:prstGeom>
          <a:noFill/>
        </p:spPr>
        <p:txBody>
          <a:bodyPr wrap="square">
            <a:spAutoFit/>
          </a:bodyPr>
          <a:lstStyle/>
          <a:p>
            <a:pPr algn="ctr"/>
            <a:r>
              <a:rPr sz="1400" b="0" dirty="0" err="1">
                <a:solidFill>
                  <a:srgbClr val="333333"/>
                </a:solidFill>
                <a:latin typeface="メイリオ"/>
                <a:ea typeface="メイリオ"/>
                <a:cs typeface="メイリオ"/>
              </a:rPr>
              <a:t>一度つながれば、接点を持ち続けられる。情報を渡し続けられる。</a:t>
            </a:r>
          </a:p>
          <a:p>
            <a:pPr algn="ctr"/>
            <a:r>
              <a:rPr sz="1400" b="0" dirty="0" err="1">
                <a:solidFill>
                  <a:srgbClr val="333333"/>
                </a:solidFill>
                <a:latin typeface="メイリオ"/>
                <a:ea typeface="メイリオ"/>
                <a:cs typeface="メイリオ"/>
              </a:rPr>
              <a:t>体験予約で終わらず、来場 → 入会 → 継続まで並走できる——これがLINE最大の魅力です。</a:t>
            </a:r>
          </a:p>
        </p:txBody>
      </p:sp>
      <p:sp>
        <p:nvSpPr>
          <p:cNvPr id="6" name="TextBox 5"/>
          <p:cNvSpPr txBox="1"/>
          <p:nvPr/>
        </p:nvSpPr>
        <p:spPr>
          <a:xfrm>
            <a:off x="324000" y="2690640"/>
            <a:ext cx="1206000" cy="365760"/>
          </a:xfrm>
          <a:prstGeom prst="rect">
            <a:avLst/>
          </a:prstGeom>
          <a:noFill/>
        </p:spPr>
        <p:txBody>
          <a:bodyPr wrap="square">
            <a:spAutoFit/>
          </a:bodyPr>
          <a:lstStyle/>
          <a:p>
            <a:pPr algn="l"/>
            <a:r>
              <a:rPr sz="1200" b="1">
                <a:solidFill>
                  <a:srgbClr val="333333"/>
                </a:solidFill>
                <a:latin typeface="メイリオ"/>
                <a:ea typeface="メイリオ"/>
                <a:cs typeface="メイリオ"/>
              </a:rPr>
              <a:t>広告・アフィ</a:t>
            </a:r>
          </a:p>
        </p:txBody>
      </p:sp>
      <p:sp>
        <p:nvSpPr>
          <p:cNvPr id="7" name="Rounded Rectangle 6"/>
          <p:cNvSpPr/>
          <p:nvPr/>
        </p:nvSpPr>
        <p:spPr>
          <a:xfrm>
            <a:off x="1554480" y="26449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接触</a:t>
            </a:r>
          </a:p>
        </p:txBody>
      </p:sp>
      <p:sp>
        <p:nvSpPr>
          <p:cNvPr id="8" name="TextBox 7"/>
          <p:cNvSpPr txBox="1"/>
          <p:nvPr/>
        </p:nvSpPr>
        <p:spPr>
          <a:xfrm>
            <a:off x="2907792" y="271807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9" name="Rounded Rectangle 8"/>
          <p:cNvSpPr/>
          <p:nvPr/>
        </p:nvSpPr>
        <p:spPr>
          <a:xfrm>
            <a:off x="3218688" y="26449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体験予約（CV）</a:t>
            </a:r>
          </a:p>
        </p:txBody>
      </p:sp>
      <p:sp>
        <p:nvSpPr>
          <p:cNvPr id="10" name="TextBox 9"/>
          <p:cNvSpPr txBox="1"/>
          <p:nvPr/>
        </p:nvSpPr>
        <p:spPr>
          <a:xfrm>
            <a:off x="5166360" y="2708928"/>
            <a:ext cx="3108960" cy="307777"/>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640080" y="34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33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接触</a:t>
            </a:r>
          </a:p>
        </p:txBody>
      </p:sp>
      <p:sp>
        <p:nvSpPr>
          <p:cNvPr id="13" name="TextBox 12"/>
          <p:cNvSpPr txBox="1"/>
          <p:nvPr/>
        </p:nvSpPr>
        <p:spPr>
          <a:xfrm>
            <a:off x="2907792"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4" name="Rounded Rectangle 13"/>
          <p:cNvSpPr/>
          <p:nvPr/>
        </p:nvSpPr>
        <p:spPr>
          <a:xfrm>
            <a:off x="3218688" y="33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体験予約（CV）</a:t>
            </a:r>
          </a:p>
        </p:txBody>
      </p:sp>
      <p:sp>
        <p:nvSpPr>
          <p:cNvPr id="15" name="TextBox 14"/>
          <p:cNvSpPr txBox="1"/>
          <p:nvPr/>
        </p:nvSpPr>
        <p:spPr>
          <a:xfrm>
            <a:off x="4983480"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6" name="Rounded Rectangle 15"/>
          <p:cNvSpPr/>
          <p:nvPr/>
        </p:nvSpPr>
        <p:spPr>
          <a:xfrm>
            <a:off x="5294376" y="33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来場</a:t>
            </a:r>
          </a:p>
        </p:txBody>
      </p:sp>
      <p:sp>
        <p:nvSpPr>
          <p:cNvPr id="17" name="TextBox 16"/>
          <p:cNvSpPr txBox="1"/>
          <p:nvPr/>
        </p:nvSpPr>
        <p:spPr>
          <a:xfrm>
            <a:off x="6419088"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8" name="Rounded Rectangle 17"/>
          <p:cNvSpPr/>
          <p:nvPr/>
        </p:nvSpPr>
        <p:spPr>
          <a:xfrm>
            <a:off x="6729984" y="33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メイリオ"/>
                <a:ea typeface="メイリオ"/>
                <a:cs typeface="メイリオ"/>
              </a:rPr>
              <a:t>入会</a:t>
            </a:r>
          </a:p>
        </p:txBody>
      </p:sp>
      <p:sp>
        <p:nvSpPr>
          <p:cNvPr id="19" name="TextBox 18"/>
          <p:cNvSpPr txBox="1"/>
          <p:nvPr/>
        </p:nvSpPr>
        <p:spPr>
          <a:xfrm>
            <a:off x="7854696"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20" name="Rounded Rectangle 19"/>
          <p:cNvSpPr/>
          <p:nvPr/>
        </p:nvSpPr>
        <p:spPr>
          <a:xfrm>
            <a:off x="8165592" y="33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継続・紹介</a:t>
            </a:r>
          </a:p>
        </p:txBody>
      </p:sp>
      <p:sp>
        <p:nvSpPr>
          <p:cNvPr id="21" name="Rounded Rectangle 20"/>
          <p:cNvSpPr/>
          <p:nvPr/>
        </p:nvSpPr>
        <p:spPr>
          <a:xfrm>
            <a:off x="1555200" y="4050000"/>
            <a:ext cx="3401999"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spcAft>
                <a:spcPts val="300"/>
              </a:spcAft>
            </a:pPr>
            <a:r>
              <a:rPr sz="1400" b="1">
                <a:solidFill>
                  <a:srgbClr val="1F285A"/>
                </a:solidFill>
                <a:latin typeface="メイリオ"/>
                <a:ea typeface="メイリオ"/>
                <a:cs typeface="メイリオ"/>
              </a:rPr>
              <a:t>① CPAの改善</a:t>
            </a:r>
          </a:p>
          <a:p>
            <a:pPr algn="ctr">
              <a:lnSpc>
                <a:spcPct val="120000"/>
              </a:lnSpc>
            </a:pPr>
            <a:r>
              <a:rPr sz="1150">
                <a:solidFill>
                  <a:srgbClr val="333333"/>
                </a:solidFill>
                <a:latin typeface="メイリオ"/>
                <a:ea typeface="メイリオ"/>
                <a:cs typeface="メイリオ"/>
              </a:rPr>
              <a:t>LPで離脱した方をLINEで回収し、</a:t>
            </a:r>
          </a:p>
          <a:p>
            <a:pPr algn="ctr">
              <a:lnSpc>
                <a:spcPct val="120000"/>
              </a:lnSpc>
            </a:pPr>
            <a:r>
              <a:rPr sz="1150">
                <a:solidFill>
                  <a:srgbClr val="333333"/>
                </a:solidFill>
                <a:latin typeface="メイリオ"/>
                <a:ea typeface="メイリオ"/>
                <a:cs typeface="メイリオ"/>
              </a:rPr>
              <a:t>同じ広告費で体験予約を増やす</a:t>
            </a:r>
          </a:p>
        </p:txBody>
      </p:sp>
      <p:sp>
        <p:nvSpPr>
          <p:cNvPr id="22" name="Rounded Rectangle 21"/>
          <p:cNvSpPr/>
          <p:nvPr/>
        </p:nvSpPr>
        <p:spPr>
          <a:xfrm>
            <a:off x="5166000" y="4050000"/>
            <a:ext cx="4233600"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spcAft>
                <a:spcPts val="300"/>
              </a:spcAft>
            </a:pPr>
            <a:r>
              <a:rPr sz="1400" b="1">
                <a:solidFill>
                  <a:srgbClr val="1F285A"/>
                </a:solidFill>
                <a:latin typeface="メイリオ"/>
                <a:ea typeface="メイリオ"/>
                <a:cs typeface="メイリオ"/>
              </a:rPr>
              <a:t>② CPOの改善</a:t>
            </a:r>
          </a:p>
          <a:p>
            <a:pPr algn="ctr">
              <a:lnSpc>
                <a:spcPct val="120000"/>
              </a:lnSpc>
            </a:pPr>
            <a:r>
              <a:rPr sz="1150">
                <a:solidFill>
                  <a:srgbClr val="333333"/>
                </a:solidFill>
                <a:latin typeface="メイリオ"/>
                <a:ea typeface="メイリオ"/>
                <a:cs typeface="メイリオ"/>
              </a:rPr>
              <a:t>体験予約から来場・入会までLINEで後押しし、</a:t>
            </a:r>
          </a:p>
          <a:p>
            <a:pPr algn="ctr">
              <a:lnSpc>
                <a:spcPct val="120000"/>
              </a:lnSpc>
            </a:pPr>
            <a:r>
              <a:rPr sz="1150">
                <a:solidFill>
                  <a:srgbClr val="333333"/>
                </a:solidFill>
                <a:latin typeface="メイリオ"/>
                <a:ea typeface="メイリオ"/>
                <a:cs typeface="メイリオ"/>
              </a:rPr>
              <a:t>入会率を上げる</a:t>
            </a:r>
          </a:p>
        </p:txBody>
      </p:sp>
      <p:sp>
        <p:nvSpPr>
          <p:cNvPr id="23" name="Down Arrow 22"/>
          <p:cNvSpPr/>
          <p:nvPr/>
        </p:nvSpPr>
        <p:spPr>
          <a:xfrm>
            <a:off x="30402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70668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7200" y="5220000"/>
            <a:ext cx="8852400" cy="48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500" b="1">
                <a:solidFill>
                  <a:srgbClr val="FFFFFF"/>
                </a:solidFill>
                <a:latin typeface="メイリオ"/>
                <a:ea typeface="メイリオ"/>
                <a:cs typeface="メイリオ"/>
              </a:rPr>
              <a:t>①＋②で、許容CPAを引き上げられる ＝ 広告費を増やしても採算が合う</a:t>
            </a:r>
          </a:p>
        </p:txBody>
      </p:sp>
      <p:sp>
        <p:nvSpPr>
          <p:cNvPr id="26" name="TextBox 25"/>
          <p:cNvSpPr txBox="1"/>
          <p:nvPr/>
        </p:nvSpPr>
        <p:spPr>
          <a:xfrm>
            <a:off x="547200" y="5760000"/>
            <a:ext cx="8852400" cy="324000"/>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※許容CPA＝入会1件にかけられる費用（許容CPO）×入会率。入会率が上がるほど、体験予約1件にかけられる広告費が増えます。</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習い事は「3〜5歳」で始める家庭が最も多く、</a:t>
            </a:r>
          </a:p>
          <a:p>
            <a:pPr algn="ctr"/>
            <a:r>
              <a:rPr lang="en-US" altLang="ja-JP" sz="1700" dirty="0">
                <a:solidFill>
                  <a:schemeClr val="tx1"/>
                </a:solidFill>
              </a:rPr>
              <a:t>未就学児の保護者の87.5%が「させたい」と考えています。</a:t>
            </a: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rPr>
              <a:t>が中心だが</a:t>
            </a:r>
            <a:r>
              <a:rPr sz="1200" b="0" dirty="0">
                <a:solidFill>
                  <a:srgbClr val="5A6378"/>
                </a:solidFill>
                <a:latin typeface="メイリオ" panose="020B0604030504040204" pitchFamily="50" charset="-128"/>
                <a:ea typeface="メイリオ" panose="020B0604030504040204" pitchFamily="50" charset="-128"/>
              </a:rPr>
              <a:t>、</a:t>
            </a:r>
            <a:endParaRPr lang="en-US" sz="12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rPr>
              <a:t>　</a:t>
            </a:r>
            <a:r>
              <a:rPr sz="12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rPr>
              <a:t>出典</a:t>
            </a:r>
            <a:r>
              <a:rPr sz="850" b="0" dirty="0">
                <a:solidFill>
                  <a:srgbClr val="9AA1AE"/>
                </a:solidFill>
                <a:latin typeface="メイリオ" panose="020B0604030504040204" pitchFamily="50" charset="-128"/>
                <a:ea typeface="メイリオ" panose="020B0604030504040204" pitchFamily="50" charset="-128"/>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rPr>
              <a:t>TIMES（学年別</a:t>
            </a:r>
            <a:r>
              <a:rPr sz="850" b="0" dirty="0">
                <a:solidFill>
                  <a:srgbClr val="9AA1AE"/>
                </a:solidFill>
                <a:latin typeface="メイリオ" panose="020B0604030504040204" pitchFamily="50" charset="-128"/>
                <a:ea typeface="メイリオ" panose="020B0604030504040204" pitchFamily="50" charset="-128"/>
              </a:rPr>
              <a:t> </a:t>
            </a:r>
            <a:r>
              <a:rPr sz="850" b="0" dirty="0" err="1">
                <a:solidFill>
                  <a:srgbClr val="9AA1AE"/>
                </a:solidFill>
                <a:latin typeface="メイリオ" panose="020B0604030504040204" pitchFamily="50" charset="-128"/>
                <a:ea typeface="メイリオ" panose="020B0604030504040204" pitchFamily="50" charset="-128"/>
              </a:rPr>
              <a:t>週あたり実施日数</a:t>
            </a:r>
            <a:r>
              <a:rPr sz="850" b="0" dirty="0">
                <a:solidFill>
                  <a:srgbClr val="9AA1AE"/>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05317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前後検索「子ども 習い事」</a:t>
            </a:r>
          </a:p>
        </p:txBody>
      </p:sp>
      <p:sp>
        <p:nvSpPr>
          <p:cNvPr id="5" name="Text 7">
            <a:extLst>
              <a:ext uri="{FF2B5EF4-FFF2-40B4-BE49-F238E27FC236}">
                <a16:creationId xmlns:a16="http://schemas.microsoft.com/office/drawing/2014/main" id="{2CA316B7-4505-4337-6433-44B8AC8C958C}"/>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300" dirty="0">
                <a:solidFill>
                  <a:schemeClr val="tx1"/>
                </a:solidFill>
              </a:rPr>
              <a:t>習い事の比較は検索当日に集中し、その前後は「家族のお出かけ・楽しみ」と「子育て」への関心が中心です。</a:t>
            </a:r>
          </a:p>
          <a:p>
            <a:pPr algn="ctr"/>
            <a:r>
              <a:rPr lang="en-US" altLang="ja-JP" sz="1300" dirty="0">
                <a:solidFill>
                  <a:schemeClr val="tx1"/>
                </a:solidFill>
              </a:rPr>
              <a:t>当日に決めきれなかった方をLINEでつなぎとめ、日々の関心に合わせた配信で接点を保ちます。</a:t>
            </a: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
        <p:nvSpPr>
          <p:cNvPr id="46" name="Rounded Rectangle 45"/>
          <p:cNvSpPr/>
          <p:nvPr/>
        </p:nvSpPr>
        <p:spPr>
          <a:xfrm>
            <a:off x="1332000" y="1422000"/>
            <a:ext cx="1648800" cy="208800"/>
          </a:xfrm>
          <a:prstGeom prst="roundRect">
            <a:avLst>
              <a:gd name="adj" fmla="val 1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習い事の比較・検討</a:t>
            </a:r>
          </a:p>
        </p:txBody>
      </p:sp>
      <p:sp>
        <p:nvSpPr>
          <p:cNvPr id="47" name="Rounded Rectangle 46"/>
          <p:cNvSpPr/>
          <p:nvPr/>
        </p:nvSpPr>
        <p:spPr>
          <a:xfrm>
            <a:off x="3052800" y="1422000"/>
            <a:ext cx="1195200" cy="208800"/>
          </a:xfrm>
          <a:prstGeom prst="roundRect">
            <a:avLst>
              <a:gd name="adj" fmla="val 18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子育て・学び</a:t>
            </a:r>
          </a:p>
        </p:txBody>
      </p:sp>
      <p:sp>
        <p:nvSpPr>
          <p:cNvPr id="48" name="Rounded Rectangle 47"/>
          <p:cNvSpPr/>
          <p:nvPr/>
        </p:nvSpPr>
        <p:spPr>
          <a:xfrm>
            <a:off x="4320000" y="1422000"/>
            <a:ext cx="1951200" cy="208800"/>
          </a:xfrm>
          <a:prstGeom prst="roundRect">
            <a:avLst>
              <a:gd name="adj" fmla="val 18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家族のお出かけ・楽しみ</a:t>
            </a:r>
          </a:p>
        </p:txBody>
      </p:sp>
      <p:sp>
        <p:nvSpPr>
          <p:cNvPr id="49" name="TextBox 48"/>
          <p:cNvSpPr txBox="1"/>
          <p:nvPr/>
        </p:nvSpPr>
        <p:spPr>
          <a:xfrm>
            <a:off x="6379200" y="1422000"/>
            <a:ext cx="2520000" cy="208800"/>
          </a:xfrm>
          <a:prstGeom prst="rect">
            <a:avLst/>
          </a:prstGeom>
          <a:noFill/>
        </p:spPr>
        <p:txBody>
          <a:bodyPr wrap="square" lIns="0" rIns="0" tIns="21600" bIns="21600" anchor="ctr">
            <a:spAutoFit/>
          </a:bodyPr>
          <a:lstStyle/>
          <a:p>
            <a:pPr algn="l"/>
            <a:r>
              <a:rPr sz="900">
                <a:solidFill>
                  <a:srgbClr val="7F7F7F"/>
                </a:solidFill>
                <a:latin typeface="メイリオ"/>
                <a:ea typeface="メイリオ"/>
                <a:cs typeface="メイリオ"/>
              </a:rPr>
              <a:t>色なし：その他</a:t>
            </a:r>
          </a:p>
        </p:txBody>
      </p:sp>
      <p:sp>
        <p:nvSpPr>
          <p:cNvPr id="50" name="TextBox 49"/>
          <p:cNvSpPr txBox="1"/>
          <p:nvPr/>
        </p:nvSpPr>
        <p:spPr>
          <a:xfrm>
            <a:off x="385200" y="6282000"/>
            <a:ext cx="61200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a:t>
            </a:r>
          </a:p>
        </p:txBody>
      </p:sp>
    </p:spTree>
    <p:extLst>
      <p:ext uri="{BB962C8B-B14F-4D97-AF65-F5344CB8AC3E}">
        <p14:creationId xmlns:p14="http://schemas.microsoft.com/office/powerpoint/2010/main" val="143933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前後検索「習い事」</a:t>
            </a:r>
          </a:p>
        </p:txBody>
      </p:sp>
      <p:sp>
        <p:nvSpPr>
          <p:cNvPr id="5" name="Text 7">
            <a:extLst>
              <a:ext uri="{FF2B5EF4-FFF2-40B4-BE49-F238E27FC236}">
                <a16:creationId xmlns:a16="http://schemas.microsoft.com/office/drawing/2014/main" id="{BD6FF840-BD2A-C9D2-6742-4C0E533AE4B4}"/>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300" dirty="0">
                <a:solidFill>
                  <a:schemeClr val="tx1"/>
                </a:solidFill>
              </a:rPr>
              <a:t>習い事の比較は検索の前から後まで続き、検索後は「忍者ナイン 評判」「くもん 月謝」など評判・費用の確認に進みます。</a:t>
            </a:r>
          </a:p>
          <a:p>
            <a:pPr marL="0" indent="0" algn="ctr">
              <a:buNone/>
            </a:pPr>
            <a:r>
              <a:rPr lang="en-US" altLang="ja-JP" sz="1300" dirty="0">
                <a:solidFill>
                  <a:schemeClr val="tx1"/>
                </a:solidFill>
              </a:rPr>
              <a:t>比較が続くあいだ、LINEで評判・月謝などの疑問にお答えし、体験予約へつなげます。</a:t>
            </a: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
        <p:nvSpPr>
          <p:cNvPr id="46" name="Rounded Rectangle 45"/>
          <p:cNvSpPr/>
          <p:nvPr/>
        </p:nvSpPr>
        <p:spPr>
          <a:xfrm>
            <a:off x="1332000" y="1422000"/>
            <a:ext cx="1648800" cy="208800"/>
          </a:xfrm>
          <a:prstGeom prst="roundRect">
            <a:avLst>
              <a:gd name="adj" fmla="val 1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習い事の比較・検討</a:t>
            </a:r>
          </a:p>
        </p:txBody>
      </p:sp>
      <p:sp>
        <p:nvSpPr>
          <p:cNvPr id="47" name="Rounded Rectangle 46"/>
          <p:cNvSpPr/>
          <p:nvPr/>
        </p:nvSpPr>
        <p:spPr>
          <a:xfrm>
            <a:off x="3052800" y="1422000"/>
            <a:ext cx="1195200" cy="208800"/>
          </a:xfrm>
          <a:prstGeom prst="roundRect">
            <a:avLst>
              <a:gd name="adj" fmla="val 18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子育て・学び</a:t>
            </a:r>
          </a:p>
        </p:txBody>
      </p:sp>
      <p:sp>
        <p:nvSpPr>
          <p:cNvPr id="48" name="Rounded Rectangle 47"/>
          <p:cNvSpPr/>
          <p:nvPr/>
        </p:nvSpPr>
        <p:spPr>
          <a:xfrm>
            <a:off x="4320000" y="1422000"/>
            <a:ext cx="1951200" cy="208800"/>
          </a:xfrm>
          <a:prstGeom prst="roundRect">
            <a:avLst>
              <a:gd name="adj" fmla="val 18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家族のお出かけ・楽しみ</a:t>
            </a:r>
          </a:p>
        </p:txBody>
      </p:sp>
      <p:sp>
        <p:nvSpPr>
          <p:cNvPr id="49" name="TextBox 48"/>
          <p:cNvSpPr txBox="1"/>
          <p:nvPr/>
        </p:nvSpPr>
        <p:spPr>
          <a:xfrm>
            <a:off x="6379200" y="1422000"/>
            <a:ext cx="2520000" cy="208800"/>
          </a:xfrm>
          <a:prstGeom prst="rect">
            <a:avLst/>
          </a:prstGeom>
          <a:noFill/>
        </p:spPr>
        <p:txBody>
          <a:bodyPr wrap="square" lIns="0" rIns="0" tIns="21600" bIns="21600" anchor="ctr">
            <a:spAutoFit/>
          </a:bodyPr>
          <a:lstStyle/>
          <a:p>
            <a:pPr algn="l"/>
            <a:r>
              <a:rPr sz="900">
                <a:solidFill>
                  <a:srgbClr val="7F7F7F"/>
                </a:solidFill>
                <a:latin typeface="メイリオ"/>
                <a:ea typeface="メイリオ"/>
                <a:cs typeface="メイリオ"/>
              </a:rPr>
              <a:t>色なし：大人の習い事・趣味、その他</a:t>
            </a:r>
          </a:p>
        </p:txBody>
      </p:sp>
      <p:sp>
        <p:nvSpPr>
          <p:cNvPr id="50" name="TextBox 49"/>
          <p:cNvSpPr txBox="1"/>
          <p:nvPr/>
        </p:nvSpPr>
        <p:spPr>
          <a:xfrm>
            <a:off x="385200" y="6282000"/>
            <a:ext cx="61200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出典：LINEヤフー社提供の前後検索データ（検索起点：「習い事」）</a:t>
            </a:r>
          </a:p>
        </p:txBody>
      </p:sp>
    </p:spTree>
    <p:extLst>
      <p:ext uri="{BB962C8B-B14F-4D97-AF65-F5344CB8AC3E}">
        <p14:creationId xmlns:p14="http://schemas.microsoft.com/office/powerpoint/2010/main" val="31541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前後検索のまとめ（項目別）</a:t>
            </a: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300" b="1" dirty="0">
                <a:solidFill>
                  <a:schemeClr val="tx1"/>
                </a:solidFill>
                <a:latin typeface="Meiryo" pitchFamily="34" charset="0"/>
                <a:ea typeface="Meiryo" pitchFamily="34" charset="-122"/>
                <a:cs typeface="Meiryo" pitchFamily="34" charset="-120"/>
              </a:rPr>
              <a:t>習い事の比較は検索の当日から後まで続き、その前後には子育て・家族のお出かけへの関心があります。</a:t>
            </a:r>
          </a:p>
          <a:p>
            <a:pPr marL="0" indent="0" algn="ctr">
              <a:buNone/>
            </a:pPr>
            <a:r>
              <a:rPr lang="ja-JP" altLang="en-US" sz="1300" b="1" dirty="0">
                <a:solidFill>
                  <a:schemeClr val="tx1"/>
                </a:solidFill>
                <a:latin typeface="Meiryo" pitchFamily="34" charset="0"/>
                <a:ea typeface="Meiryo" pitchFamily="34" charset="-122"/>
                <a:cs typeface="Meiryo" pitchFamily="34" charset="-120"/>
              </a:rPr>
              <a:t>項目ごとに、LINEでの打ち手を用意します。</a:t>
            </a:r>
          </a:p>
        </p:txBody>
      </p:sp>
      <p:sp>
        <p:nvSpPr>
          <p:cNvPr id="46" name="Rounded Rectangle 45"/>
          <p:cNvSpPr/>
          <p:nvPr/>
        </p:nvSpPr>
        <p:spPr>
          <a:xfrm>
            <a:off x="2015999" y="1530000"/>
            <a:ext cx="1908000" cy="30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50" b="1">
                <a:solidFill>
                  <a:srgbClr val="FFFFFF"/>
                </a:solidFill>
                <a:latin typeface="メイリオ"/>
                <a:ea typeface="メイリオ"/>
                <a:cs typeface="メイリオ"/>
              </a:rPr>
              <a:t>検索前（-15〜-1日）</a:t>
            </a:r>
          </a:p>
        </p:txBody>
      </p:sp>
      <p:sp>
        <p:nvSpPr>
          <p:cNvPr id="47" name="Rounded Rectangle 46"/>
          <p:cNvSpPr/>
          <p:nvPr/>
        </p:nvSpPr>
        <p:spPr>
          <a:xfrm>
            <a:off x="3959999" y="1530000"/>
            <a:ext cx="1908000" cy="30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50" b="1">
                <a:solidFill>
                  <a:srgbClr val="FFFFFF"/>
                </a:solidFill>
                <a:latin typeface="メイリオ"/>
                <a:ea typeface="メイリオ"/>
                <a:cs typeface="メイリオ"/>
              </a:rPr>
              <a:t>検索当日</a:t>
            </a:r>
          </a:p>
        </p:txBody>
      </p:sp>
      <p:sp>
        <p:nvSpPr>
          <p:cNvPr id="48" name="Rounded Rectangle 47"/>
          <p:cNvSpPr/>
          <p:nvPr/>
        </p:nvSpPr>
        <p:spPr>
          <a:xfrm>
            <a:off x="5903999" y="1530000"/>
            <a:ext cx="1908000" cy="30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50" b="1">
                <a:solidFill>
                  <a:srgbClr val="FFFFFF"/>
                </a:solidFill>
                <a:latin typeface="メイリオ"/>
                <a:ea typeface="メイリオ"/>
                <a:cs typeface="メイリオ"/>
              </a:rPr>
              <a:t>検索後（+1〜+15日）</a:t>
            </a:r>
          </a:p>
        </p:txBody>
      </p:sp>
      <p:sp>
        <p:nvSpPr>
          <p:cNvPr id="49" name="Rounded Rectangle 48"/>
          <p:cNvSpPr/>
          <p:nvPr/>
        </p:nvSpPr>
        <p:spPr>
          <a:xfrm>
            <a:off x="7848000" y="1530000"/>
            <a:ext cx="16992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50" b="1">
                <a:solidFill>
                  <a:srgbClr val="FFFFFF"/>
                </a:solidFill>
                <a:latin typeface="メイリオ"/>
                <a:ea typeface="メイリオ"/>
                <a:cs typeface="メイリオ"/>
              </a:rPr>
              <a:t>LINEでの打ち手</a:t>
            </a:r>
          </a:p>
        </p:txBody>
      </p:sp>
      <p:sp>
        <p:nvSpPr>
          <p:cNvPr id="50" name="Rounded Rectangle 49"/>
          <p:cNvSpPr/>
          <p:nvPr/>
        </p:nvSpPr>
        <p:spPr>
          <a:xfrm>
            <a:off x="432000" y="1872000"/>
            <a:ext cx="1548000" cy="1206000"/>
          </a:xfrm>
          <a:prstGeom prst="roundRect">
            <a:avLst>
              <a:gd name="adj" fmla="val 6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r>
              <a:rPr sz="1250" b="1">
                <a:solidFill>
                  <a:srgbClr val="FFFFFF"/>
                </a:solidFill>
                <a:latin typeface="メイリオ"/>
                <a:ea typeface="メイリオ"/>
                <a:cs typeface="メイリオ"/>
              </a:rPr>
              <a:t>習い事の比較・検討</a:t>
            </a:r>
          </a:p>
        </p:txBody>
      </p:sp>
      <p:sp>
        <p:nvSpPr>
          <p:cNvPr id="51" name="Rounded Rectangle 50"/>
          <p:cNvSpPr/>
          <p:nvPr/>
        </p:nvSpPr>
        <p:spPr>
          <a:xfrm>
            <a:off x="2015999" y="1872000"/>
            <a:ext cx="1908000" cy="1206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「公文式教室」</a:t>
            </a:r>
          </a:p>
          <a:p>
            <a:pPr algn="ctr">
              <a:spcAft>
                <a:spcPts val="100"/>
              </a:spcAft>
            </a:pPr>
            <a:r>
              <a:rPr sz="1050">
                <a:solidFill>
                  <a:srgbClr val="333333"/>
                </a:solidFill>
                <a:latin typeface="メイリオ"/>
                <a:ea typeface="メイリオ"/>
                <a:cs typeface="メイリオ"/>
              </a:rPr>
              <a:t>「ピアノ 習い事」</a:t>
            </a:r>
          </a:p>
          <a:p>
            <a:pPr algn="ctr">
              <a:spcAft>
                <a:spcPts val="100"/>
              </a:spcAft>
            </a:pPr>
            <a:r>
              <a:rPr sz="1050">
                <a:solidFill>
                  <a:srgbClr val="333333"/>
                </a:solidFill>
                <a:latin typeface="メイリオ"/>
                <a:ea typeface="メイリオ"/>
                <a:cs typeface="メイリオ"/>
              </a:rPr>
              <a:t>「そろばん 効果」</a:t>
            </a:r>
          </a:p>
          <a:p>
            <a:pPr algn="ctr">
              <a:spcAft>
                <a:spcPts val="100"/>
              </a:spcAft>
            </a:pPr>
            <a:r>
              <a:rPr sz="1050">
                <a:solidFill>
                  <a:srgbClr val="333333"/>
                </a:solidFill>
                <a:latin typeface="メイリオ"/>
                <a:ea typeface="メイリオ"/>
                <a:cs typeface="メイリオ"/>
              </a:rPr>
              <a:t>「英語教室 おすすめ 子供」</a:t>
            </a:r>
          </a:p>
        </p:txBody>
      </p:sp>
      <p:sp>
        <p:nvSpPr>
          <p:cNvPr id="52" name="Rounded Rectangle 51"/>
          <p:cNvSpPr/>
          <p:nvPr/>
        </p:nvSpPr>
        <p:spPr>
          <a:xfrm>
            <a:off x="3959999" y="1872000"/>
            <a:ext cx="1908000" cy="1206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「習い事 ランキング」</a:t>
            </a:r>
          </a:p>
          <a:p>
            <a:pPr algn="ctr">
              <a:spcAft>
                <a:spcPts val="100"/>
              </a:spcAft>
            </a:pPr>
            <a:r>
              <a:rPr sz="1050">
                <a:solidFill>
                  <a:srgbClr val="333333"/>
                </a:solidFill>
                <a:latin typeface="メイリオ"/>
                <a:ea typeface="メイリオ"/>
                <a:cs typeface="メイリオ"/>
              </a:rPr>
              <a:t>「ヤマハ音楽教室」</a:t>
            </a:r>
          </a:p>
          <a:p>
            <a:pPr algn="ctr">
              <a:spcAft>
                <a:spcPts val="100"/>
              </a:spcAft>
            </a:pPr>
            <a:r>
              <a:rPr sz="1050">
                <a:solidFill>
                  <a:srgbClr val="333333"/>
                </a:solidFill>
                <a:latin typeface="メイリオ"/>
                <a:ea typeface="メイリオ"/>
                <a:cs typeface="メイリオ"/>
              </a:rPr>
              <a:t>「そろばん」</a:t>
            </a:r>
          </a:p>
          <a:p>
            <a:pPr algn="ctr">
              <a:spcAft>
                <a:spcPts val="100"/>
              </a:spcAft>
            </a:pPr>
            <a:r>
              <a:rPr sz="1050">
                <a:solidFill>
                  <a:srgbClr val="333333"/>
                </a:solidFill>
                <a:latin typeface="メイリオ"/>
                <a:ea typeface="メイリオ"/>
                <a:cs typeface="メイリオ"/>
              </a:rPr>
              <a:t>「体操教室」</a:t>
            </a:r>
          </a:p>
        </p:txBody>
      </p:sp>
      <p:sp>
        <p:nvSpPr>
          <p:cNvPr id="53" name="Rounded Rectangle 52"/>
          <p:cNvSpPr/>
          <p:nvPr/>
        </p:nvSpPr>
        <p:spPr>
          <a:xfrm>
            <a:off x="5903999" y="1872000"/>
            <a:ext cx="1908000" cy="1206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「忍者ナイン 評判」</a:t>
            </a:r>
          </a:p>
          <a:p>
            <a:pPr algn="ctr">
              <a:spcAft>
                <a:spcPts val="100"/>
              </a:spcAft>
            </a:pPr>
            <a:r>
              <a:rPr sz="1050">
                <a:solidFill>
                  <a:srgbClr val="333333"/>
                </a:solidFill>
                <a:latin typeface="メイリオ"/>
                <a:ea typeface="メイリオ"/>
                <a:cs typeface="メイリオ"/>
              </a:rPr>
              <a:t>「くもん 月謝」</a:t>
            </a:r>
          </a:p>
          <a:p>
            <a:pPr algn="ctr">
              <a:spcAft>
                <a:spcPts val="100"/>
              </a:spcAft>
            </a:pPr>
            <a:r>
              <a:rPr sz="1050">
                <a:solidFill>
                  <a:srgbClr val="333333"/>
                </a:solidFill>
                <a:latin typeface="メイリオ"/>
                <a:ea typeface="メイリオ"/>
                <a:cs typeface="メイリオ"/>
              </a:rPr>
              <a:t>「小学生 習い事 いくつ」</a:t>
            </a:r>
          </a:p>
          <a:p>
            <a:pPr algn="ctr">
              <a:spcAft>
                <a:spcPts val="100"/>
              </a:spcAft>
            </a:pPr>
            <a:r>
              <a:rPr sz="1050">
                <a:solidFill>
                  <a:srgbClr val="333333"/>
                </a:solidFill>
                <a:latin typeface="メイリオ"/>
                <a:ea typeface="メイリオ"/>
                <a:cs typeface="メイリオ"/>
              </a:rPr>
              <a:t>「幼児教室」</a:t>
            </a:r>
          </a:p>
        </p:txBody>
      </p:sp>
      <p:sp>
        <p:nvSpPr>
          <p:cNvPr id="54" name="Rounded Rectangle 53"/>
          <p:cNvSpPr/>
          <p:nvPr/>
        </p:nvSpPr>
        <p:spPr>
          <a:xfrm>
            <a:off x="7848000" y="1872000"/>
            <a:ext cx="1699200" cy="1206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050" b="1">
                <a:solidFill>
                  <a:srgbClr val="0B7A3B"/>
                </a:solidFill>
                <a:latin typeface="メイリオ"/>
                <a:ea typeface="メイリオ"/>
                <a:cs typeface="メイリオ"/>
              </a:rPr>
              <a:t>比較の最中に友だち追加していただき、評判・月謝などの疑問にお答えして体験予約へ</a:t>
            </a:r>
          </a:p>
        </p:txBody>
      </p:sp>
      <p:sp>
        <p:nvSpPr>
          <p:cNvPr id="55" name="Rounded Rectangle 54"/>
          <p:cNvSpPr/>
          <p:nvPr/>
        </p:nvSpPr>
        <p:spPr>
          <a:xfrm>
            <a:off x="432000" y="3121200"/>
            <a:ext cx="1548000" cy="1206000"/>
          </a:xfrm>
          <a:prstGeom prst="roundRect">
            <a:avLst>
              <a:gd name="adj" fmla="val 6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r>
              <a:rPr sz="1250" b="1">
                <a:solidFill>
                  <a:srgbClr val="FFFFFF"/>
                </a:solidFill>
                <a:latin typeface="メイリオ"/>
                <a:ea typeface="メイリオ"/>
                <a:cs typeface="メイリオ"/>
              </a:rPr>
              <a:t>子育て・学び</a:t>
            </a:r>
          </a:p>
        </p:txBody>
      </p:sp>
      <p:sp>
        <p:nvSpPr>
          <p:cNvPr id="56" name="Rounded Rectangle 55"/>
          <p:cNvSpPr/>
          <p:nvPr/>
        </p:nvSpPr>
        <p:spPr>
          <a:xfrm>
            <a:off x="2015999" y="3121200"/>
            <a:ext cx="1908000" cy="1206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「こどもちゃれんじ」</a:t>
            </a:r>
          </a:p>
          <a:p>
            <a:pPr algn="ctr">
              <a:spcAft>
                <a:spcPts val="100"/>
              </a:spcAft>
            </a:pPr>
            <a:r>
              <a:rPr sz="1050">
                <a:solidFill>
                  <a:srgbClr val="333333"/>
                </a:solidFill>
                <a:latin typeface="メイリオ"/>
                <a:ea typeface="メイリオ"/>
                <a:cs typeface="メイリオ"/>
              </a:rPr>
              <a:t>「スマイルゼミ」</a:t>
            </a:r>
          </a:p>
          <a:p>
            <a:pPr algn="ctr">
              <a:spcAft>
                <a:spcPts val="100"/>
              </a:spcAft>
            </a:pPr>
            <a:r>
              <a:rPr sz="1050">
                <a:solidFill>
                  <a:srgbClr val="333333"/>
                </a:solidFill>
                <a:latin typeface="メイリオ"/>
                <a:ea typeface="メイリオ"/>
                <a:cs typeface="メイリオ"/>
              </a:rPr>
              <a:t>「集団行動が苦手な子供」</a:t>
            </a:r>
          </a:p>
          <a:p>
            <a:pPr algn="ctr">
              <a:spcAft>
                <a:spcPts val="100"/>
              </a:spcAft>
            </a:pPr>
            <a:r>
              <a:rPr sz="1050">
                <a:solidFill>
                  <a:srgbClr val="333333"/>
                </a:solidFill>
                <a:latin typeface="メイリオ"/>
                <a:ea typeface="メイリオ"/>
                <a:cs typeface="メイリオ"/>
              </a:rPr>
              <a:t>「9歳の壁」</a:t>
            </a:r>
          </a:p>
        </p:txBody>
      </p:sp>
      <p:sp>
        <p:nvSpPr>
          <p:cNvPr id="57" name="Rounded Rectangle 56"/>
          <p:cNvSpPr/>
          <p:nvPr/>
        </p:nvSpPr>
        <p:spPr>
          <a:xfrm>
            <a:off x="3959999" y="3121200"/>
            <a:ext cx="1908000" cy="1206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「rsウイルス」</a:t>
            </a:r>
          </a:p>
        </p:txBody>
      </p:sp>
      <p:sp>
        <p:nvSpPr>
          <p:cNvPr id="58" name="Rounded Rectangle 57"/>
          <p:cNvSpPr/>
          <p:nvPr/>
        </p:nvSpPr>
        <p:spPr>
          <a:xfrm>
            <a:off x="5903999" y="3121200"/>
            <a:ext cx="1908000" cy="1206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「小学校受験」</a:t>
            </a:r>
          </a:p>
          <a:p>
            <a:pPr algn="ctr">
              <a:spcAft>
                <a:spcPts val="100"/>
              </a:spcAft>
            </a:pPr>
            <a:r>
              <a:rPr sz="1050">
                <a:solidFill>
                  <a:srgbClr val="333333"/>
                </a:solidFill>
                <a:latin typeface="メイリオ"/>
                <a:ea typeface="メイリオ"/>
                <a:cs typeface="メイリオ"/>
              </a:rPr>
              <a:t>「小学校一年生」</a:t>
            </a:r>
          </a:p>
          <a:p>
            <a:pPr algn="ctr">
              <a:spcAft>
                <a:spcPts val="100"/>
              </a:spcAft>
            </a:pPr>
            <a:r>
              <a:rPr sz="1050">
                <a:solidFill>
                  <a:srgbClr val="333333"/>
                </a:solidFill>
                <a:latin typeface="メイリオ"/>
                <a:ea typeface="メイリオ"/>
                <a:cs typeface="メイリオ"/>
              </a:rPr>
              <a:t>「ポピー 教材」</a:t>
            </a:r>
          </a:p>
          <a:p>
            <a:pPr algn="ctr">
              <a:spcAft>
                <a:spcPts val="100"/>
              </a:spcAft>
            </a:pPr>
            <a:r>
              <a:rPr sz="1050">
                <a:solidFill>
                  <a:srgbClr val="333333"/>
                </a:solidFill>
                <a:latin typeface="メイリオ"/>
                <a:ea typeface="メイリオ"/>
                <a:cs typeface="メイリオ"/>
              </a:rPr>
              <a:t>「児童手当」</a:t>
            </a:r>
          </a:p>
        </p:txBody>
      </p:sp>
      <p:sp>
        <p:nvSpPr>
          <p:cNvPr id="59" name="Rounded Rectangle 58"/>
          <p:cNvSpPr/>
          <p:nvPr/>
        </p:nvSpPr>
        <p:spPr>
          <a:xfrm>
            <a:off x="7848000" y="3121200"/>
            <a:ext cx="1699200" cy="1206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050" b="1">
                <a:solidFill>
                  <a:srgbClr val="0B7A3B"/>
                </a:solidFill>
                <a:latin typeface="メイリオ"/>
                <a:ea typeface="メイリオ"/>
                <a:cs typeface="メイリオ"/>
              </a:rPr>
              <a:t>子どもの成長・悩みに寄り添う情報をお届けし、接点を保つ</a:t>
            </a:r>
          </a:p>
        </p:txBody>
      </p:sp>
      <p:sp>
        <p:nvSpPr>
          <p:cNvPr id="60" name="Rounded Rectangle 59"/>
          <p:cNvSpPr/>
          <p:nvPr/>
        </p:nvSpPr>
        <p:spPr>
          <a:xfrm>
            <a:off x="432000" y="4370400"/>
            <a:ext cx="1548000" cy="1206000"/>
          </a:xfrm>
          <a:prstGeom prst="roundRect">
            <a:avLst>
              <a:gd name="adj" fmla="val 6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r>
              <a:rPr sz="1250" b="1">
                <a:solidFill>
                  <a:srgbClr val="FFFFFF"/>
                </a:solidFill>
                <a:latin typeface="メイリオ"/>
                <a:ea typeface="メイリオ"/>
                <a:cs typeface="メイリオ"/>
              </a:rPr>
              <a:t>家族のお出かけ・楽しみ</a:t>
            </a:r>
          </a:p>
        </p:txBody>
      </p:sp>
      <p:sp>
        <p:nvSpPr>
          <p:cNvPr id="61" name="Rounded Rectangle 60"/>
          <p:cNvSpPr/>
          <p:nvPr/>
        </p:nvSpPr>
        <p:spPr>
          <a:xfrm>
            <a:off x="2015999" y="4370400"/>
            <a:ext cx="1908000" cy="1206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「キッザニア」</a:t>
            </a:r>
          </a:p>
          <a:p>
            <a:pPr algn="ctr">
              <a:spcAft>
                <a:spcPts val="100"/>
              </a:spcAft>
            </a:pPr>
            <a:r>
              <a:rPr sz="1050">
                <a:solidFill>
                  <a:srgbClr val="333333"/>
                </a:solidFill>
                <a:latin typeface="メイリオ"/>
                <a:ea typeface="メイリオ"/>
                <a:cs typeface="メイリオ"/>
              </a:rPr>
              <a:t>「スタジオアリス」</a:t>
            </a:r>
          </a:p>
          <a:p>
            <a:pPr algn="ctr">
              <a:spcAft>
                <a:spcPts val="100"/>
              </a:spcAft>
            </a:pPr>
            <a:r>
              <a:rPr sz="1050">
                <a:solidFill>
                  <a:srgbClr val="333333"/>
                </a:solidFill>
                <a:latin typeface="メイリオ"/>
                <a:ea typeface="メイリオ"/>
                <a:cs typeface="メイリオ"/>
              </a:rPr>
              <a:t>「夏休み 子供 過ごし方」</a:t>
            </a:r>
          </a:p>
        </p:txBody>
      </p:sp>
      <p:sp>
        <p:nvSpPr>
          <p:cNvPr id="62" name="Rounded Rectangle 61"/>
          <p:cNvSpPr/>
          <p:nvPr/>
        </p:nvSpPr>
        <p:spPr>
          <a:xfrm>
            <a:off x="3959999" y="4370400"/>
            <a:ext cx="1908000" cy="1206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a:t>
            </a:r>
          </a:p>
        </p:txBody>
      </p:sp>
      <p:sp>
        <p:nvSpPr>
          <p:cNvPr id="63" name="Rounded Rectangle 62"/>
          <p:cNvSpPr/>
          <p:nvPr/>
        </p:nvSpPr>
        <p:spPr>
          <a:xfrm>
            <a:off x="5903999" y="4370400"/>
            <a:ext cx="1908000" cy="1206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「ポケモンセンター」</a:t>
            </a:r>
          </a:p>
          <a:p>
            <a:pPr algn="ctr">
              <a:spcAft>
                <a:spcPts val="100"/>
              </a:spcAft>
            </a:pPr>
            <a:r>
              <a:rPr sz="1050">
                <a:solidFill>
                  <a:srgbClr val="333333"/>
                </a:solidFill>
                <a:latin typeface="メイリオ"/>
                <a:ea typeface="メイリオ"/>
                <a:cs typeface="メイリオ"/>
              </a:rPr>
              <a:t>「七五三」</a:t>
            </a:r>
          </a:p>
          <a:p>
            <a:pPr algn="ctr">
              <a:spcAft>
                <a:spcPts val="100"/>
              </a:spcAft>
            </a:pPr>
            <a:r>
              <a:rPr sz="1050">
                <a:solidFill>
                  <a:srgbClr val="333333"/>
                </a:solidFill>
                <a:latin typeface="メイリオ"/>
                <a:ea typeface="メイリオ"/>
                <a:cs typeface="メイリオ"/>
              </a:rPr>
              <a:t>「ハーモニーランド」</a:t>
            </a:r>
          </a:p>
        </p:txBody>
      </p:sp>
      <p:sp>
        <p:nvSpPr>
          <p:cNvPr id="64" name="Rounded Rectangle 63"/>
          <p:cNvSpPr/>
          <p:nvPr/>
        </p:nvSpPr>
        <p:spPr>
          <a:xfrm>
            <a:off x="7848000" y="4370400"/>
            <a:ext cx="1699200" cy="1206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050" b="1">
                <a:solidFill>
                  <a:srgbClr val="0B7A3B"/>
                </a:solidFill>
                <a:latin typeface="メイリオ"/>
                <a:ea typeface="メイリオ"/>
                <a:cs typeface="メイリオ"/>
              </a:rPr>
              <a:t>季節の行事（七五三・夏休みなど）に合わせた企画配信</a:t>
            </a:r>
          </a:p>
        </p:txBody>
      </p:sp>
      <p:sp>
        <p:nvSpPr>
          <p:cNvPr id="65" name="TextBox 64"/>
          <p:cNvSpPr txBox="1"/>
          <p:nvPr/>
        </p:nvSpPr>
        <p:spPr>
          <a:xfrm>
            <a:off x="432000" y="5655600"/>
            <a:ext cx="1548000" cy="288000"/>
          </a:xfrm>
          <a:prstGeom prst="rect">
            <a:avLst/>
          </a:prstGeom>
          <a:noFill/>
        </p:spPr>
        <p:txBody>
          <a:bodyPr wrap="square" lIns="0" rIns="0" tIns="21600" bIns="21600" anchor="ctr">
            <a:spAutoFit/>
          </a:bodyPr>
          <a:lstStyle/>
          <a:p>
            <a:pPr algn="ctr"/>
            <a:r>
              <a:rPr sz="1100" b="1">
                <a:solidFill>
                  <a:srgbClr val="1F285A"/>
                </a:solidFill>
                <a:latin typeface="メイリオ"/>
                <a:ea typeface="メイリオ"/>
                <a:cs typeface="メイリオ"/>
              </a:rPr>
              <a:t>LINEへの動線</a:t>
            </a:r>
          </a:p>
        </p:txBody>
      </p:sp>
      <p:sp>
        <p:nvSpPr>
          <p:cNvPr id="66" name="Rounded Rectangle 65"/>
          <p:cNvSpPr/>
          <p:nvPr/>
        </p:nvSpPr>
        <p:spPr>
          <a:xfrm>
            <a:off x="2015999" y="5655600"/>
            <a:ext cx="1908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00" b="1">
                <a:solidFill>
                  <a:srgbClr val="FFFFFF"/>
                </a:solidFill>
                <a:latin typeface="メイリオ"/>
                <a:ea typeface="メイリオ"/>
                <a:cs typeface="メイリオ"/>
              </a:rPr>
              <a:t>離脱防止バナーの掲載</a:t>
            </a:r>
          </a:p>
        </p:txBody>
      </p:sp>
      <p:sp>
        <p:nvSpPr>
          <p:cNvPr id="67" name="Rounded Rectangle 66"/>
          <p:cNvSpPr/>
          <p:nvPr/>
        </p:nvSpPr>
        <p:spPr>
          <a:xfrm>
            <a:off x="3959999" y="5655600"/>
            <a:ext cx="1908000" cy="288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00" b="1">
                <a:solidFill>
                  <a:srgbClr val="FFFFFF"/>
                </a:solidFill>
                <a:latin typeface="メイリオ"/>
                <a:ea typeface="メイリオ"/>
                <a:cs typeface="メイリオ"/>
              </a:rPr>
              <a:t>LINE友だち追加</a:t>
            </a:r>
          </a:p>
        </p:txBody>
      </p:sp>
      <p:sp>
        <p:nvSpPr>
          <p:cNvPr id="68" name="Rounded Rectangle 67"/>
          <p:cNvSpPr/>
          <p:nvPr/>
        </p:nvSpPr>
        <p:spPr>
          <a:xfrm>
            <a:off x="5903999" y="5655600"/>
            <a:ext cx="1908000" cy="288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00" b="1">
                <a:solidFill>
                  <a:srgbClr val="FFFFFF"/>
                </a:solidFill>
                <a:latin typeface="メイリオ"/>
                <a:ea typeface="メイリオ"/>
                <a:cs typeface="メイリオ"/>
              </a:rPr>
              <a:t>LINE施策（投稿）</a:t>
            </a:r>
          </a:p>
        </p:txBody>
      </p:sp>
      <p:sp>
        <p:nvSpPr>
          <p:cNvPr id="69" name="TextBox 68"/>
          <p:cNvSpPr txBox="1"/>
          <p:nvPr/>
        </p:nvSpPr>
        <p:spPr>
          <a:xfrm>
            <a:off x="432000" y="6015600"/>
            <a:ext cx="90432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習い事」「習い事」）</a:t>
            </a: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01898837"/>
              </p:ext>
            </p:extLst>
          </p:nvPr>
        </p:nvGraphicFramePr>
        <p:xfrm>
          <a:off x="384048" y="1600199"/>
          <a:ext cx="9134854" cy="3192348"/>
        </p:xfrm>
        <a:graphic>
          <a:graphicData uri="http://schemas.openxmlformats.org/drawingml/2006/table">
            <a:tbl>
              <a:tblPr firstRow="1" bandRow="1">
                <a:tableStyleId>{5C22544A-7EE6-4342-B048-85BDC9FD1C3A}</a:tableStyleId>
              </a:tblPr>
              <a:tblGrid>
                <a:gridCol w="2298767">
                  <a:extLst>
                    <a:ext uri="{9D8B030D-6E8A-4147-A177-3AD203B41FA5}">
                      <a16:colId xmlns:a16="http://schemas.microsoft.com/office/drawing/2014/main" val="20000"/>
                    </a:ext>
                  </a:extLst>
                </a:gridCol>
                <a:gridCol w="2027208">
                  <a:extLst>
                    <a:ext uri="{9D8B030D-6E8A-4147-A177-3AD203B41FA5}">
                      <a16:colId xmlns:a16="http://schemas.microsoft.com/office/drawing/2014/main" val="20001"/>
                    </a:ext>
                  </a:extLst>
                </a:gridCol>
                <a:gridCol w="2311879">
                  <a:extLst>
                    <a:ext uri="{9D8B030D-6E8A-4147-A177-3AD203B41FA5}">
                      <a16:colId xmlns:a16="http://schemas.microsoft.com/office/drawing/2014/main" val="20002"/>
                    </a:ext>
                  </a:extLst>
                </a:gridCol>
                <a:gridCol w="2497000">
                  <a:extLst>
                    <a:ext uri="{9D8B030D-6E8A-4147-A177-3AD203B41FA5}">
                      <a16:colId xmlns:a16="http://schemas.microsoft.com/office/drawing/2014/main" val="20003"/>
                    </a:ext>
                  </a:extLst>
                </a:gridCol>
              </a:tblGrid>
              <a:tr h="478047">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dirty="0" err="1">
                          <a:solidFill>
                            <a:srgbClr val="FFFFFF"/>
                          </a:solidFill>
                          <a:latin typeface="Meiryo"/>
                          <a:ea typeface="メイリオ"/>
                          <a:cs typeface="Meiryo"/>
                        </a:rPr>
                        <a:t>LINE公式アカウント</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訴求</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忍者ナインとの比較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Meiryo"/>
                          <a:ea typeface="メイリオ"/>
                          <a:cs typeface="Meiryo"/>
                        </a:rPr>
                        <a:t>biima</a:t>
                      </a:r>
                      <a:r>
                        <a:rPr sz="1200" b="0" dirty="0">
                          <a:solidFill>
                            <a:srgbClr val="333333"/>
                          </a:solidFill>
                          <a:latin typeface="Meiryo"/>
                          <a:ea typeface="メイリオ"/>
                          <a:cs typeface="Meiryo"/>
                        </a:rPr>
                        <a:t> sports</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非認知能力×複合種目</a:t>
                      </a:r>
                    </a:p>
                  </a:txBody>
                  <a:tcPr>
                    <a:solidFill>
                      <a:srgbClr val="FFFFFF"/>
                    </a:solidFill>
                  </a:tcPr>
                </a:tc>
                <a:tc>
                  <a:txBody>
                    <a:bodyPr/>
                    <a:lstStyle/>
                    <a:p>
                      <a:r>
                        <a:rPr sz="1200" b="0" dirty="0" err="1">
                          <a:solidFill>
                            <a:srgbClr val="333333"/>
                          </a:solidFill>
                          <a:latin typeface="Meiryo"/>
                          <a:ea typeface="メイリオ"/>
                          <a:cs typeface="Meiryo"/>
                        </a:rPr>
                        <a:t>最も近いポジションだが</a:t>
                      </a:r>
                      <a:r>
                        <a:rPr lang="ja-JP" altLang="en-US"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LINE未活用</a:t>
                      </a:r>
                      <a:r>
                        <a:rPr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先行できる</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Meiryo"/>
                          <a:ea typeface="メイリオ"/>
                          <a:cs typeface="Meiryo"/>
                        </a:rPr>
                        <a:t>ジャクパ</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園内開催・体操/サッカー中心</a:t>
                      </a:r>
                    </a:p>
                  </a:txBody>
                  <a:tcPr>
                    <a:solidFill>
                      <a:srgbClr val="FFFFFF"/>
                    </a:solidFill>
                  </a:tcPr>
                </a:tc>
                <a:tc>
                  <a:txBody>
                    <a:bodyPr/>
                    <a:lstStyle/>
                    <a:p>
                      <a:r>
                        <a:rPr sz="1200" b="0" dirty="0" err="1">
                          <a:solidFill>
                            <a:srgbClr val="333333"/>
                          </a:solidFill>
                          <a:latin typeface="Meiryo"/>
                          <a:ea typeface="メイリオ"/>
                          <a:cs typeface="Meiryo"/>
                        </a:rPr>
                        <a:t>低コストが強みだが</a:t>
                      </a:r>
                      <a:r>
                        <a:rPr lang="ja-JP" altLang="en-US" sz="1200" b="0" dirty="0">
                          <a:solidFill>
                            <a:srgbClr val="333333"/>
                          </a:solidFill>
                          <a:latin typeface="Meiryo"/>
                          <a:ea typeface="メイリオ"/>
                          <a:cs typeface="Meiryo"/>
                        </a:rPr>
                        <a:t>、</a:t>
                      </a:r>
                      <a:endParaRPr lang="en-US" altLang="ja-JP"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デジタル接点は薄い</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dirty="0" err="1">
                          <a:solidFill>
                            <a:srgbClr val="333333"/>
                          </a:solidFill>
                          <a:latin typeface="Meiryo"/>
                          <a:ea typeface="メイリオ"/>
                          <a:cs typeface="Meiryo"/>
                        </a:rPr>
                        <a:t>コナミスポーツクラブ</a:t>
                      </a:r>
                      <a:r>
                        <a:rPr sz="1200" b="0" dirty="0">
                          <a:solidFill>
                            <a:srgbClr val="333333"/>
                          </a:solidFill>
                          <a:latin typeface="Meiryo"/>
                          <a:ea typeface="メイリオ"/>
                          <a:cs typeface="Meiryo"/>
                        </a:rPr>
                        <a:t> </a:t>
                      </a:r>
                      <a:r>
                        <a:rPr sz="1200" b="0" dirty="0" err="1">
                          <a:solidFill>
                            <a:srgbClr val="333333"/>
                          </a:solidFill>
                          <a:latin typeface="Meiryo"/>
                          <a:ea typeface="メイリオ"/>
                          <a:cs typeface="Meiryo"/>
                        </a:rPr>
                        <a:t>運動塾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大手施設・進級テスト制度</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施設力はあるが</a:t>
                      </a:r>
                      <a:r>
                        <a:rPr lang="ja-JP" altLang="en-US" sz="1200" b="0" dirty="0">
                          <a:solidFill>
                            <a:srgbClr val="333333"/>
                          </a:solidFill>
                          <a:latin typeface="Meiryo"/>
                          <a:ea typeface="メイリオ"/>
                          <a:cs typeface="Meiryo"/>
                        </a:rPr>
                        <a:t>、</a:t>
                      </a:r>
                      <a:r>
                        <a:rPr sz="1200" b="0" dirty="0" err="1">
                          <a:solidFill>
                            <a:srgbClr val="333333"/>
                          </a:solidFill>
                          <a:latin typeface="Meiryo"/>
                          <a:ea typeface="メイリオ"/>
                          <a:cs typeface="Meiryo"/>
                        </a:rPr>
                        <a:t>LINE未運用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Meiryo"/>
                          <a:ea typeface="メイリオ"/>
                          <a:cs typeface="Meiryo"/>
                        </a:rPr>
                        <a:t>スポーツクラブ ルネサンス</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エンジョイ重視・生きる力</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Meiryo"/>
                          <a:ea typeface="メイリオ"/>
                          <a:cs typeface="Meiryo"/>
                        </a:rPr>
                        <a:t>セントラルスポーツ</a:t>
                      </a:r>
                      <a:r>
                        <a:rPr sz="1200" b="0" dirty="0">
                          <a:solidFill>
                            <a:srgbClr val="1F2A5C"/>
                          </a:solidFill>
                          <a:latin typeface="Meiryo"/>
                          <a:ea typeface="メイリオ"/>
                          <a:cs typeface="Meiryo"/>
                        </a:rPr>
                        <a:t> </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キッズスクール</a:t>
                      </a:r>
                      <a:endParaRPr sz="1200" b="0" dirty="0">
                        <a:solidFill>
                          <a:srgbClr val="1F2A5C"/>
                        </a:solidFill>
                        <a:latin typeface="Meiryo"/>
                        <a:ea typeface="メイリオ"/>
                        <a:cs typeface="Meiryo"/>
                      </a:endParaRPr>
                    </a:p>
                  </a:txBody>
                  <a:tcPr>
                    <a:solidFill>
                      <a:srgbClr val="FFF3E0"/>
                    </a:solidFill>
                  </a:tcPr>
                </a:tc>
                <a:tc>
                  <a:txBody>
                    <a:bodyPr/>
                    <a:lstStyle/>
                    <a:p>
                      <a:r>
                        <a:rPr sz="1200" b="1" dirty="0">
                          <a:solidFill>
                            <a:srgbClr val="1F2A5C"/>
                          </a:solidFill>
                          <a:latin typeface="Meiryo"/>
                          <a:ea typeface="メイリオ"/>
                          <a:cs typeface="Meiryo"/>
                        </a:rPr>
                        <a:t>あり（友だち82,953人）</a:t>
                      </a:r>
                    </a:p>
                  </a:txBody>
                  <a:tcPr>
                    <a:solidFill>
                      <a:srgbClr val="FFF3E0"/>
                    </a:solidFill>
                  </a:tcPr>
                </a:tc>
                <a:tc>
                  <a:txBody>
                    <a:bodyPr/>
                    <a:lstStyle/>
                    <a:p>
                      <a:r>
                        <a:rPr sz="1200" b="0">
                          <a:solidFill>
                            <a:srgbClr val="1F2A5C"/>
                          </a:solidFill>
                          <a:latin typeface="Meiryo"/>
                          <a:ea typeface="メイリオ"/>
                          <a:cs typeface="Meiryo"/>
                        </a:rPr>
                        <a:t>体育補完・進級チェック制度</a:t>
                      </a:r>
                    </a:p>
                  </a:txBody>
                  <a:tcPr>
                    <a:solidFill>
                      <a:srgbClr val="FFF3E0"/>
                    </a:solidFill>
                  </a:tcPr>
                </a:tc>
                <a:tc>
                  <a:txBody>
                    <a:bodyPr/>
                    <a:lstStyle/>
                    <a:p>
                      <a:r>
                        <a:rPr sz="1200" b="0" dirty="0" err="1">
                          <a:solidFill>
                            <a:srgbClr val="1F2A5C"/>
                          </a:solidFill>
                          <a:latin typeface="Meiryo"/>
                          <a:ea typeface="メイリオ"/>
                          <a:cs typeface="Meiryo"/>
                        </a:rPr>
                        <a:t>業界内で唯一LINEを大規模運用</a:t>
                      </a:r>
                      <a:r>
                        <a:rPr sz="1200" b="0" dirty="0">
                          <a:solidFill>
                            <a:srgbClr val="1F2A5C"/>
                          </a:solidFill>
                          <a:latin typeface="Meiryo"/>
                          <a:ea typeface="メイリオ"/>
                          <a:cs typeface="Meiryo"/>
                        </a:rPr>
                        <a:t>。</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水準のベンチマーク</a:t>
                      </a:r>
                      <a:endParaRPr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5006659"/>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dirty="0" err="1">
                          <a:solidFill>
                            <a:srgbClr val="FFFFFF"/>
                          </a:solidFill>
                          <a:latin typeface="Meiryo"/>
                          <a:ea typeface="メイリオ"/>
                          <a:cs typeface="Meiryo"/>
                        </a:rPr>
                        <a:t>チャイルドアイズとの比較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Meiryo"/>
                          <a:ea typeface="メイリオ"/>
                          <a:cs typeface="Meiryo"/>
                        </a:rPr>
                        <a:t>ベビーパーク</a:t>
                      </a:r>
                      <a:endParaRPr lang="en-US" sz="1200" b="0" dirty="0">
                        <a:solidFill>
                          <a:srgbClr val="333333"/>
                        </a:solidFill>
                        <a:latin typeface="Meiryo"/>
                        <a:ea typeface="メイリオ"/>
                        <a:cs typeface="Meiryo"/>
                      </a:endParaRPr>
                    </a:p>
                    <a:p>
                      <a:r>
                        <a:rPr lang="ja-JP" altLang="en-US" sz="1200" b="0" dirty="0">
                          <a:solidFill>
                            <a:srgbClr val="333333"/>
                          </a:solidFill>
                          <a:latin typeface="Meiryo"/>
                          <a:ea typeface="メイリオ"/>
                          <a:cs typeface="Meiryo"/>
                        </a:rPr>
                        <a:t>キ</a:t>
                      </a:r>
                      <a:r>
                        <a:rPr sz="1200" b="0" dirty="0" err="1">
                          <a:solidFill>
                            <a:srgbClr val="333333"/>
                          </a:solidFill>
                          <a:latin typeface="Meiryo"/>
                          <a:ea typeface="メイリオ"/>
                          <a:cs typeface="Meiryo"/>
                        </a:rPr>
                        <a:t>ッズアカデミ</a:t>
                      </a:r>
                      <a:r>
                        <a:rPr sz="1200" b="0" dirty="0">
                          <a:solidFill>
                            <a:srgbClr val="333333"/>
                          </a:solidFill>
                          <a:latin typeface="Meiryo"/>
                          <a:ea typeface="メイリオ"/>
                          <a:cs typeface="Meiryo"/>
                        </a:rPr>
                        <a:t>ー</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a:solidFill>
                            <a:srgbClr val="333333"/>
                          </a:solidFill>
                          <a:latin typeface="Meiryo"/>
                          <a:ea typeface="メイリオ"/>
                          <a:cs typeface="Meiryo"/>
                        </a:rPr>
                        <a:t>知育特化・超早期（0歳〜）</a:t>
                      </a:r>
                    </a:p>
                  </a:txBody>
                  <a:tcPr>
                    <a:solidFill>
                      <a:srgbClr val="FFFFFF"/>
                    </a:solidFill>
                  </a:tcPr>
                </a:tc>
                <a:tc>
                  <a:txBody>
                    <a:bodyPr/>
                    <a:lstStyle/>
                    <a:p>
                      <a:r>
                        <a:rPr sz="12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Meiryo"/>
                          <a:ea typeface="メイリオ"/>
                          <a:cs typeface="Meiryo"/>
                        </a:rPr>
                        <a:t>伸芽会</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受験対策特化・名門校実績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LINE未活用。ブランド力で先行</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Meiryo"/>
                          <a:ea typeface="メイリオ"/>
                          <a:cs typeface="Meiryo"/>
                        </a:rPr>
                        <a:t>理英会</a:t>
                      </a:r>
                    </a:p>
                  </a:txBody>
                  <a:tcPr>
                    <a:solidFill>
                      <a:srgbClr val="FFF3E0"/>
                    </a:solidFill>
                  </a:tcPr>
                </a:tc>
                <a:tc>
                  <a:txBody>
                    <a:bodyPr/>
                    <a:lstStyle/>
                    <a:p>
                      <a:r>
                        <a:rPr sz="1200" b="1">
                          <a:solidFill>
                            <a:srgbClr val="1F2A5C"/>
                          </a:solidFill>
                          <a:latin typeface="Meiryo"/>
                          <a:ea typeface="メイリオ"/>
                          <a:cs typeface="Meiryo"/>
                        </a:rPr>
                        <a:t>あり（友だち4,475人）</a:t>
                      </a:r>
                    </a:p>
                  </a:txBody>
                  <a:tcPr>
                    <a:solidFill>
                      <a:srgbClr val="FFF3E0"/>
                    </a:solidFill>
                  </a:tcPr>
                </a:tc>
                <a:tc>
                  <a:txBody>
                    <a:bodyPr/>
                    <a:lstStyle/>
                    <a:p>
                      <a:r>
                        <a:rPr sz="1200" b="0">
                          <a:solidFill>
                            <a:srgbClr val="1F2A5C"/>
                          </a:solidFill>
                          <a:latin typeface="Meiryo"/>
                          <a:ea typeface="メイリオ"/>
                          <a:cs typeface="Meiryo"/>
                        </a:rPr>
                        <a:t>受験ノウハウ配信・体験会案内</a:t>
                      </a:r>
                    </a:p>
                  </a:txBody>
                  <a:tcPr>
                    <a:solidFill>
                      <a:srgbClr val="FFF3E0"/>
                    </a:solidFill>
                  </a:tcPr>
                </a:tc>
                <a:tc>
                  <a:txBody>
                    <a:bodyPr/>
                    <a:lstStyle/>
                    <a:p>
                      <a:r>
                        <a:rPr sz="12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Meiryo"/>
                          <a:ea typeface="メイリオ"/>
                          <a:cs typeface="Meiryo"/>
                        </a:rPr>
                        <a:t>どんちゃか幼児教室</a:t>
                      </a:r>
                    </a:p>
                  </a:txBody>
                  <a:tcPr>
                    <a:solidFill>
                      <a:srgbClr val="FFF3E0"/>
                    </a:solidFill>
                  </a:tcPr>
                </a:tc>
                <a:tc>
                  <a:txBody>
                    <a:bodyPr/>
                    <a:lstStyle/>
                    <a:p>
                      <a:r>
                        <a:rPr sz="1200" b="1">
                          <a:solidFill>
                            <a:srgbClr val="1F2A5C"/>
                          </a:solidFill>
                          <a:latin typeface="Meiryo"/>
                          <a:ea typeface="メイリオ"/>
                          <a:cs typeface="Meiryo"/>
                        </a:rPr>
                        <a:t>あり（友だち2,550人）</a:t>
                      </a:r>
                    </a:p>
                  </a:txBody>
                  <a:tcPr>
                    <a:solidFill>
                      <a:srgbClr val="FFF3E0"/>
                    </a:solidFill>
                  </a:tcPr>
                </a:tc>
                <a:tc>
                  <a:txBody>
                    <a:bodyPr/>
                    <a:lstStyle/>
                    <a:p>
                      <a:r>
                        <a:rPr sz="1200" b="0" dirty="0" err="1">
                          <a:solidFill>
                            <a:srgbClr val="1F2A5C"/>
                          </a:solidFill>
                          <a:latin typeface="Meiryo"/>
                          <a:ea typeface="メイリオ"/>
                          <a:cs typeface="Meiryo"/>
                        </a:rPr>
                        <a:t>育児コラム・季節講習案内</a:t>
                      </a:r>
                      <a:endParaRPr sz="1200" b="0" dirty="0">
                        <a:solidFill>
                          <a:srgbClr val="1F2A5C"/>
                        </a:solidFill>
                        <a:latin typeface="Meiryo"/>
                        <a:ea typeface="メイリオ"/>
                        <a:cs typeface="Meiryo"/>
                      </a:endParaRPr>
                    </a:p>
                  </a:txBody>
                  <a:tcPr>
                    <a:solidFill>
                      <a:srgbClr val="FFF3E0"/>
                    </a:solidFill>
                  </a:tcPr>
                </a:tc>
                <a:tc>
                  <a:txBody>
                    <a:bodyPr/>
                    <a:lstStyle/>
                    <a:p>
                      <a:r>
                        <a:rPr sz="1200" b="0" dirty="0" err="1">
                          <a:solidFill>
                            <a:srgbClr val="1F2A5C"/>
                          </a:solidFill>
                          <a:latin typeface="Meiryo"/>
                          <a:ea typeface="メイリオ"/>
                          <a:cs typeface="Meiryo"/>
                        </a:rPr>
                        <a:t>理英会と同一グループ</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乳幼児期の入口として運用</a:t>
                      </a:r>
                      <a:endParaRPr lang="en-US"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79" name="Rounded Rectangle 78"/>
          <p:cNvSpPr/>
          <p:nvPr/>
        </p:nvSpPr>
        <p:spPr>
          <a:xfrm>
            <a:off x="432000" y="1639800"/>
            <a:ext cx="30960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400" b="1">
                <a:solidFill>
                  <a:srgbClr val="FFFFFF"/>
                </a:solidFill>
                <a:latin typeface="メイリオ"/>
                <a:ea typeface="メイリオ"/>
                <a:cs typeface="メイリオ"/>
              </a:rPr>
              <a:t>1　対象範囲（4つの領域）</a:t>
            </a:r>
          </a:p>
        </p:txBody>
      </p:sp>
      <p:sp>
        <p:nvSpPr>
          <p:cNvPr id="80" name="Rounded Rectangle 79"/>
          <p:cNvSpPr/>
          <p:nvPr/>
        </p:nvSpPr>
        <p:spPr>
          <a:xfrm>
            <a:off x="4320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200"/>
              </a:spcAft>
            </a:pPr>
            <a:r>
              <a:rPr sz="1600" b="1">
                <a:solidFill>
                  <a:srgbClr val="FFFFFF"/>
                </a:solidFill>
                <a:latin typeface="メイリオ"/>
                <a:ea typeface="メイリオ"/>
                <a:cs typeface="メイリオ"/>
              </a:rPr>
              <a:t>①</a:t>
            </a:r>
          </a:p>
          <a:p>
            <a:pPr algn="ctr"/>
            <a:r>
              <a:rPr sz="1600" b="1">
                <a:solidFill>
                  <a:srgbClr val="FFFFFF"/>
                </a:solidFill>
                <a:latin typeface="メイリオ"/>
                <a:ea typeface="メイリオ"/>
                <a:cs typeface="メイリオ"/>
              </a:rPr>
              <a:t>友だち追加</a:t>
            </a:r>
          </a:p>
        </p:txBody>
      </p:sp>
      <p:sp>
        <p:nvSpPr>
          <p:cNvPr id="81" name="Rounded Rectangle 80"/>
          <p:cNvSpPr/>
          <p:nvPr/>
        </p:nvSpPr>
        <p:spPr>
          <a:xfrm>
            <a:off x="27288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200"/>
              </a:spcAft>
            </a:pPr>
            <a:r>
              <a:rPr sz="1600" b="1">
                <a:solidFill>
                  <a:srgbClr val="FFFFFF"/>
                </a:solidFill>
                <a:latin typeface="メイリオ"/>
                <a:ea typeface="メイリオ"/>
                <a:cs typeface="メイリオ"/>
              </a:rPr>
              <a:t>②</a:t>
            </a:r>
          </a:p>
          <a:p>
            <a:pPr algn="ctr"/>
            <a:r>
              <a:rPr sz="1600" b="1">
                <a:solidFill>
                  <a:srgbClr val="FFFFFF"/>
                </a:solidFill>
                <a:latin typeface="メイリオ"/>
                <a:ea typeface="メイリオ"/>
                <a:cs typeface="メイリオ"/>
              </a:rPr>
              <a:t>配信の効率改善</a:t>
            </a:r>
          </a:p>
        </p:txBody>
      </p:sp>
      <p:sp>
        <p:nvSpPr>
          <p:cNvPr id="82" name="Rounded Rectangle 81"/>
          <p:cNvSpPr/>
          <p:nvPr/>
        </p:nvSpPr>
        <p:spPr>
          <a:xfrm>
            <a:off x="50256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200"/>
              </a:spcAft>
            </a:pPr>
            <a:r>
              <a:rPr sz="1600" b="1">
                <a:solidFill>
                  <a:srgbClr val="FFFFFF"/>
                </a:solidFill>
                <a:latin typeface="メイリオ"/>
                <a:ea typeface="メイリオ"/>
                <a:cs typeface="メイリオ"/>
              </a:rPr>
              <a:t>③</a:t>
            </a:r>
          </a:p>
          <a:p>
            <a:pPr algn="ctr"/>
            <a:r>
              <a:rPr sz="1600" b="1">
                <a:solidFill>
                  <a:srgbClr val="FFFFFF"/>
                </a:solidFill>
                <a:latin typeface="メイリオ"/>
                <a:ea typeface="メイリオ"/>
                <a:cs typeface="メイリオ"/>
              </a:rPr>
              <a:t>ユーザー満足度改善</a:t>
            </a:r>
          </a:p>
        </p:txBody>
      </p:sp>
      <p:sp>
        <p:nvSpPr>
          <p:cNvPr id="83" name="Rounded Rectangle 82"/>
          <p:cNvSpPr/>
          <p:nvPr/>
        </p:nvSpPr>
        <p:spPr>
          <a:xfrm>
            <a:off x="73224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200"/>
              </a:spcAft>
            </a:pPr>
            <a:r>
              <a:rPr sz="1600" b="1">
                <a:solidFill>
                  <a:srgbClr val="FFFFFF"/>
                </a:solidFill>
                <a:latin typeface="メイリオ"/>
                <a:ea typeface="メイリオ"/>
                <a:cs typeface="メイリオ"/>
              </a:rPr>
              <a:t>④</a:t>
            </a:r>
          </a:p>
          <a:p>
            <a:pPr algn="ctr"/>
            <a:r>
              <a:rPr sz="1600" b="1">
                <a:solidFill>
                  <a:srgbClr val="FFFFFF"/>
                </a:solidFill>
                <a:latin typeface="メイリオ"/>
                <a:ea typeface="メイリオ"/>
                <a:cs typeface="メイリオ"/>
              </a:rPr>
              <a:t>管理側の業務効率化</a:t>
            </a:r>
          </a:p>
        </p:txBody>
      </p:sp>
      <p:sp>
        <p:nvSpPr>
          <p:cNvPr id="84" name="TextBox 83"/>
          <p:cNvSpPr txBox="1"/>
          <p:nvPr/>
        </p:nvSpPr>
        <p:spPr>
          <a:xfrm>
            <a:off x="432000" y="3007799"/>
            <a:ext cx="9043200" cy="324000"/>
          </a:xfrm>
          <a:prstGeom prst="rect">
            <a:avLst/>
          </a:prstGeom>
          <a:noFill/>
        </p:spPr>
        <p:txBody>
          <a:bodyPr wrap="square" lIns="0" rIns="0" tIns="21600" bIns="21600" anchor="ctr">
            <a:spAutoFit/>
          </a:bodyPr>
          <a:lstStyle/>
          <a:p>
            <a:pPr algn="ctr"/>
            <a:r>
              <a:rPr sz="1400">
                <a:solidFill>
                  <a:srgbClr val="333333"/>
                </a:solidFill>
                <a:latin typeface="メイリオ"/>
                <a:ea typeface="メイリオ"/>
                <a:cs typeface="メイリオ"/>
              </a:rPr>
              <a:t>LINE公式アカウントの4つの領域を対象に、施策を設計します。</a:t>
            </a:r>
          </a:p>
        </p:txBody>
      </p:sp>
      <p:sp>
        <p:nvSpPr>
          <p:cNvPr id="85" name="Rounded Rectangle 84"/>
          <p:cNvSpPr/>
          <p:nvPr/>
        </p:nvSpPr>
        <p:spPr>
          <a:xfrm>
            <a:off x="4320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400" b="1">
                <a:solidFill>
                  <a:srgbClr val="FFFFFF"/>
                </a:solidFill>
                <a:latin typeface="メイリオ"/>
                <a:ea typeface="メイリオ"/>
                <a:cs typeface="メイリオ"/>
              </a:rPr>
              <a:t>2　想定UU規模</a:t>
            </a:r>
          </a:p>
        </p:txBody>
      </p:sp>
      <p:sp>
        <p:nvSpPr>
          <p:cNvPr id="86" name="Rounded Rectangle 85"/>
          <p:cNvSpPr/>
          <p:nvPr/>
        </p:nvSpPr>
        <p:spPr>
          <a:xfrm>
            <a:off x="4320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25999" tIns="21600" bIns="21600"/>
          <a:lstStyle/>
          <a:p>
            <a:pPr algn="l">
              <a:lnSpc>
                <a:spcPct val="135000"/>
              </a:lnSpc>
              <a:spcAft>
                <a:spcPts val="1000"/>
              </a:spcAft>
            </a:pPr>
            <a:r>
              <a:rPr sz="1400">
                <a:solidFill>
                  <a:srgbClr val="333333"/>
                </a:solidFill>
                <a:latin typeface="メイリオ"/>
                <a:ea typeface="メイリオ"/>
                <a:cs typeface="メイリオ"/>
              </a:rPr>
              <a:t>・友だち数は、導入できる動線の本数と整備の進み具合で変わります</a:t>
            </a:r>
          </a:p>
          <a:p>
            <a:pPr algn="l">
              <a:lnSpc>
                <a:spcPct val="135000"/>
              </a:lnSpc>
              <a:spcAft>
                <a:spcPts val="1000"/>
              </a:spcAft>
            </a:pPr>
            <a:r>
              <a:rPr sz="1400">
                <a:solidFill>
                  <a:srgbClr val="333333"/>
                </a:solidFill>
                <a:latin typeface="メイリオ"/>
                <a:ea typeface="メイリオ"/>
                <a:cs typeface="メイリオ"/>
              </a:rPr>
              <a:t>・数値はレンジの中間を基準にした試算例です</a:t>
            </a:r>
          </a:p>
        </p:txBody>
      </p:sp>
      <p:sp>
        <p:nvSpPr>
          <p:cNvPr id="87" name="Rounded Rectangle 86"/>
          <p:cNvSpPr/>
          <p:nvPr/>
        </p:nvSpPr>
        <p:spPr>
          <a:xfrm>
            <a:off x="34944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400" b="1">
                <a:solidFill>
                  <a:srgbClr val="FFFFFF"/>
                </a:solidFill>
                <a:latin typeface="メイリオ"/>
                <a:ea typeface="メイリオ"/>
                <a:cs typeface="メイリオ"/>
              </a:rPr>
              <a:t>3　数値の位置づけ</a:t>
            </a:r>
          </a:p>
        </p:txBody>
      </p:sp>
      <p:sp>
        <p:nvSpPr>
          <p:cNvPr id="88" name="Rounded Rectangle 87"/>
          <p:cNvSpPr/>
          <p:nvPr/>
        </p:nvSpPr>
        <p:spPr>
          <a:xfrm>
            <a:off x="34944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25999" tIns="21600" bIns="21600"/>
          <a:lstStyle/>
          <a:p>
            <a:pPr algn="l">
              <a:lnSpc>
                <a:spcPct val="135000"/>
              </a:lnSpc>
              <a:spcAft>
                <a:spcPts val="1000"/>
              </a:spcAft>
            </a:pPr>
            <a:r>
              <a:rPr sz="1400">
                <a:solidFill>
                  <a:srgbClr val="333333"/>
                </a:solidFill>
                <a:latin typeface="メイリオ"/>
                <a:ea typeface="メイリオ"/>
                <a:cs typeface="メイリオ"/>
              </a:rPr>
              <a:t>・開封率・クリック率・CVR・獲得件数は、業界一般値・弊社実績にもとづく数値です</a:t>
            </a:r>
          </a:p>
          <a:p>
            <a:pPr algn="l">
              <a:lnSpc>
                <a:spcPct val="135000"/>
              </a:lnSpc>
              <a:spcAft>
                <a:spcPts val="1000"/>
              </a:spcAft>
            </a:pPr>
            <a:r>
              <a:rPr sz="1400">
                <a:solidFill>
                  <a:srgbClr val="333333"/>
                </a:solidFill>
                <a:latin typeface="メイリオ"/>
                <a:ea typeface="メイリオ"/>
                <a:cs typeface="メイリオ"/>
              </a:rPr>
              <a:t>・実装できる範囲に合わせ、すり合わせのうえ精緻化します</a:t>
            </a:r>
          </a:p>
        </p:txBody>
      </p:sp>
      <p:sp>
        <p:nvSpPr>
          <p:cNvPr id="89" name="Rounded Rectangle 88"/>
          <p:cNvSpPr/>
          <p:nvPr/>
        </p:nvSpPr>
        <p:spPr>
          <a:xfrm>
            <a:off x="65568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400" b="1">
                <a:solidFill>
                  <a:srgbClr val="FFFFFF"/>
                </a:solidFill>
                <a:latin typeface="メイリオ"/>
                <a:ea typeface="メイリオ"/>
                <a:cs typeface="メイリオ"/>
              </a:rPr>
              <a:t>4　費用について</a:t>
            </a:r>
          </a:p>
        </p:txBody>
      </p:sp>
      <p:sp>
        <p:nvSpPr>
          <p:cNvPr id="90" name="Rounded Rectangle 89"/>
          <p:cNvSpPr/>
          <p:nvPr/>
        </p:nvSpPr>
        <p:spPr>
          <a:xfrm>
            <a:off x="65568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25999" tIns="21600" bIns="21600"/>
          <a:lstStyle/>
          <a:p>
            <a:pPr algn="l">
              <a:lnSpc>
                <a:spcPct val="135000"/>
              </a:lnSpc>
              <a:spcAft>
                <a:spcPts val="1000"/>
              </a:spcAft>
            </a:pPr>
            <a:r>
              <a:rPr sz="1400">
                <a:solidFill>
                  <a:srgbClr val="333333"/>
                </a:solidFill>
                <a:latin typeface="メイリオ"/>
                <a:ea typeface="メイリオ"/>
                <a:cs typeface="メイリオ"/>
              </a:rPr>
              <a:t>・記載の費用（初期費用・月額費用）は前提の参考値です</a:t>
            </a:r>
          </a:p>
          <a:p>
            <a:pPr algn="l">
              <a:lnSpc>
                <a:spcPct val="135000"/>
              </a:lnSpc>
              <a:spcAft>
                <a:spcPts val="1000"/>
              </a:spcAft>
            </a:pPr>
            <a:r>
              <a:rPr sz="1400">
                <a:solidFill>
                  <a:srgbClr val="333333"/>
                </a:solidFill>
                <a:latin typeface="メイリオ"/>
                <a:ea typeface="メイリオ"/>
                <a:cs typeface="メイリオ"/>
              </a:rPr>
              <a:t>・施策の範囲が決まったのち、別途お見積りをご案内します</a:t>
            </a: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2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616121"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2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セグメント別の企画配信で、開封〜CV</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までの導線を最適化する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向上させる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2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4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なし </a:t>
            </a:r>
            <a:r>
              <a:rPr lang="en-US" altLang="ja-JP" sz="1050" dirty="0">
                <a:solidFill>
                  <a:srgbClr val="FFFFFF"/>
                </a:solidFill>
                <a:latin typeface="メイリオ" panose="020B0604030504040204" pitchFamily="50" charset="-128"/>
                <a:ea typeface="メイリオ" panose="020B0604030504040204" pitchFamily="50" charset="-128"/>
              </a:rPr>
              <a:t>※OAM</a:t>
            </a:r>
            <a:r>
              <a:rPr lang="ja-JP" altLang="en-US" sz="1050" dirty="0">
                <a:solidFill>
                  <a:srgbClr val="FFFFFF"/>
                </a:solidFill>
                <a:latin typeface="メイリオ" panose="020B0604030504040204" pitchFamily="50" charset="-128"/>
                <a:ea typeface="メイリオ" panose="020B0604030504040204" pitchFamily="50" charset="-128"/>
              </a:rPr>
              <a:t>にて運用する</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あり</a:t>
            </a:r>
            <a:r>
              <a:rPr lang="ja-JP" altLang="en-US" sz="16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244600"/>
          </a:xfrm>
          <a:prstGeom prst="rect">
            <a:avLst/>
          </a:prstGeom>
          <a:solidFill>
            <a:srgbClr val="F0F2F7"/>
          </a:solidFill>
          <a:ln>
            <a:noFill/>
          </a:ln>
        </p:spPr>
        <p:txBody>
          <a:bodyPr wrap="square" lIns="177800" tIns="127000" rIns="177800" bIns="1270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4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400" dirty="0">
                <a:solidFill>
                  <a:srgbClr val="333333"/>
                </a:solidFill>
                <a:latin typeface="メイリオ" panose="020B0604030504040204" pitchFamily="50" charset="-128"/>
                <a:ea typeface="メイリオ" panose="020B0604030504040204" pitchFamily="50" charset="-128"/>
              </a:rPr>
              <a:t>や、詳細なセグメント設定</a:t>
            </a:r>
            <a:r>
              <a:rPr lang="ja-JP" sz="1400" dirty="0">
                <a:solidFill>
                  <a:srgbClr val="333333"/>
                </a:solidFill>
                <a:latin typeface="メイリオ" panose="020B0604030504040204" pitchFamily="50" charset="-128"/>
                <a:ea typeface="メイリオ" panose="020B0604030504040204" pitchFamily="50" charset="-128"/>
              </a:rPr>
              <a:t>を左右する</a:t>
            </a:r>
            <a:r>
              <a:rPr lang="ja-JP" altLang="en-US" sz="1400" dirty="0">
                <a:solidFill>
                  <a:srgbClr val="333333"/>
                </a:solidFill>
                <a:latin typeface="メイリオ" panose="020B0604030504040204" pitchFamily="50" charset="-128"/>
                <a:ea typeface="メイリオ" panose="020B0604030504040204" pitchFamily="50" charset="-128"/>
              </a:rPr>
              <a:t>。</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フローを踏みたいところ。</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4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4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デメリット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44100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CPA</a:t>
            </a: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082000" y="44460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5,077〜5,333円</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48348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CPO</a:t>
            </a: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082000" y="48708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23,200〜38,000円</a:t>
            </a:r>
          </a:p>
        </p:txBody>
      </p:sp>
      <p:sp>
        <p:nvSpPr>
          <p:cNvPr id="87" name="TextBox 86"/>
          <p:cNvSpPr txBox="1"/>
          <p:nvPr/>
        </p:nvSpPr>
        <p:spPr>
          <a:xfrm>
            <a:off x="6840000" y="5292000"/>
            <a:ext cx="2880000" cy="216000"/>
          </a:xfrm>
          <a:prstGeom prst="rect">
            <a:avLst/>
          </a:prstGeom>
          <a:noFill/>
        </p:spPr>
        <p:txBody>
          <a:bodyPr wrap="square" lIns="0" rIns="0" tIns="21600" bIns="21600" anchor="t">
            <a:spAutoFit/>
          </a:bodyPr>
          <a:lstStyle/>
          <a:p>
            <a:pPr algn="l"/>
            <a:r>
              <a:rPr sz="900">
                <a:solidFill>
                  <a:srgbClr val="7F7F7F"/>
                </a:solidFill>
                <a:latin typeface="メイリオ"/>
                <a:ea typeface="メイリオ"/>
                <a:cs typeface="メイリオ"/>
              </a:rPr>
              <a:t>※6か月目の1か月分。月ごとの推移は次ページ</a:t>
            </a: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施策の詳細（既存の効率化）</a:t>
            </a:r>
          </a:p>
        </p:txBody>
      </p:sp>
    </p:spTree>
    <p:extLst>
      <p:ext uri="{BB962C8B-B14F-4D97-AF65-F5344CB8AC3E}">
        <p14:creationId xmlns:p14="http://schemas.microsoft.com/office/powerpoint/2010/main" val="172401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診断未回答者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診断リマインド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診断結果配信＋タイプ別おすすめ種目紹介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同タイプの在籍生の声・成長エピソード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a:t>
                      </a:r>
                      <a:r>
                        <a:rPr sz="1400" b="0" dirty="0" err="1">
                          <a:solidFill>
                            <a:srgbClr val="333333"/>
                          </a:solidFill>
                          <a:latin typeface="Meiryo"/>
                          <a:ea typeface="メイリオ"/>
                          <a:cs typeface="Meiryo"/>
                        </a:rPr>
                        <a:t>非認知能力」訴求コンテンツ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保護者の疑問Q&amp;A（月謝・送迎・振替等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入会引き上げ率40% ＝ 入会17件として算出</a:t>
            </a:r>
          </a:p>
          <a:p>
            <a:r>
              <a:rPr sz="1200" b="1" dirty="0" err="1">
                <a:solidFill>
                  <a:srgbClr val="BF4E0E"/>
                </a:solidFill>
                <a:latin typeface="Meiryo"/>
                <a:ea typeface="メイリオ"/>
                <a:cs typeface="Meiryo"/>
              </a:rPr>
              <a:t>予約で止めず、入会までLINEで追いきります</a:t>
            </a:r>
            <a:endParaRPr lang="en-US" sz="1200" b="1" dirty="0">
              <a:solidFill>
                <a:srgbClr val="BF4E0E"/>
              </a:solidFill>
              <a:latin typeface="Meiryo"/>
              <a:ea typeface="メイリオ"/>
              <a:cs typeface="Meiryo"/>
            </a:endParaRPr>
          </a:p>
          <a:p>
            <a:r>
              <a:rPr sz="1200" b="1" dirty="0">
                <a:solidFill>
                  <a:srgbClr val="BF4E0E"/>
                </a:solidFill>
                <a:latin typeface="Meiryo"/>
                <a:ea typeface="メイリオ"/>
                <a:cs typeface="Meiryo"/>
              </a:rPr>
              <a:t>（</a:t>
            </a:r>
            <a:r>
              <a:rPr sz="1200" b="1" dirty="0" err="1">
                <a:solidFill>
                  <a:srgbClr val="BF4E0E"/>
                </a:solidFill>
                <a:latin typeface="Meiryo"/>
                <a:ea typeface="メイリオ"/>
                <a:cs typeface="Meiryo"/>
              </a:rPr>
              <a:t>体験前リマインド→当日案内→体験後フォロ</a:t>
            </a:r>
            <a:r>
              <a:rPr sz="1200" b="1" dirty="0">
                <a:solidFill>
                  <a:srgbClr val="BF4E0E"/>
                </a:solidFill>
                <a:latin typeface="Meiryo"/>
                <a:ea typeface="メイリオ"/>
                <a:cs typeface="Meiryo"/>
              </a:rPr>
              <a:t>ー→</a:t>
            </a:r>
            <a:r>
              <a:rPr sz="1200" b="1" dirty="0" err="1">
                <a:solidFill>
                  <a:srgbClr val="BF4E0E"/>
                </a:solidFill>
                <a:latin typeface="Meiryo"/>
                <a:ea typeface="メイリオ"/>
                <a:cs typeface="Meiryo"/>
              </a:rPr>
              <a:t>入会のご案内を別シナリオで配信</a:t>
            </a:r>
            <a:r>
              <a:rPr sz="12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23946126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a:solidFill>
                            <a:srgbClr val="333333"/>
                          </a:solidFill>
                          <a:latin typeface="Meiryo"/>
                          <a:ea typeface="メイリオ"/>
                          <a:cs typeface="Meiryo"/>
                        </a:rPr>
                        <a:t>全員</a:t>
                      </a:r>
                    </a:p>
                  </a:txBody>
                  <a:tcPr>
                    <a:solidFill>
                      <a:srgbClr val="FFFFFF"/>
                    </a:solidFill>
                  </a:tcPr>
                </a:tc>
                <a:tc>
                  <a:txBody>
                    <a:bodyPr/>
                    <a:lstStyle/>
                    <a:p>
                      <a:r>
                        <a:rPr sz="140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a:solidFill>
                            <a:srgbClr val="333333"/>
                          </a:solidFill>
                          <a:latin typeface="Meiryo"/>
                          <a:ea typeface="メイリオ"/>
                          <a:cs typeface="Meiryo"/>
                        </a:rPr>
                        <a:t>診断未回答者</a:t>
                      </a:r>
                    </a:p>
                  </a:txBody>
                  <a:tcPr>
                    <a:solidFill>
                      <a:srgbClr val="FFFFFF"/>
                    </a:solidFill>
                  </a:tcPr>
                </a:tc>
                <a:tc>
                  <a:txBody>
                    <a:bodyPr/>
                    <a:lstStyle/>
                    <a:p>
                      <a:r>
                        <a:rPr sz="140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同タイプの卒業生・在籍生の声</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保護者の疑問Q&amp;A（費用・年齢・通塾頻度等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入会引き上げ率25% ＝ 入会11件として算出</a:t>
            </a:r>
          </a:p>
          <a:p>
            <a:r>
              <a:rPr sz="1400" b="1" dirty="0" err="1">
                <a:solidFill>
                  <a:srgbClr val="BF4E0E"/>
                </a:solidFill>
                <a:latin typeface="Meiryo"/>
                <a:ea typeface="メイリオ"/>
                <a:cs typeface="Meiryo"/>
              </a:rPr>
              <a:t>予約で止めず、入会までLINEで追いきります</a:t>
            </a:r>
            <a:endParaRPr lang="en-US" sz="1400" b="1" dirty="0">
              <a:solidFill>
                <a:srgbClr val="BF4E0E"/>
              </a:solidFill>
              <a:latin typeface="Meiryo"/>
              <a:ea typeface="メイリオ"/>
              <a:cs typeface="Meiryo"/>
            </a:endParaRPr>
          </a:p>
          <a:p>
            <a:r>
              <a:rPr sz="1400" b="1" dirty="0">
                <a:solidFill>
                  <a:srgbClr val="BF4E0E"/>
                </a:solidFill>
                <a:latin typeface="Meiryo"/>
                <a:ea typeface="メイリオ"/>
                <a:cs typeface="Meiryo"/>
              </a:rPr>
              <a:t>（</a:t>
            </a:r>
            <a:r>
              <a:rPr sz="1400" b="1" dirty="0" err="1">
                <a:solidFill>
                  <a:srgbClr val="BF4E0E"/>
                </a:solidFill>
                <a:latin typeface="Meiryo"/>
                <a:ea typeface="メイリオ"/>
                <a:cs typeface="Meiryo"/>
              </a:rPr>
              <a:t>体験前リマインド→当日案内→体験後フォロ</a:t>
            </a:r>
            <a:r>
              <a:rPr sz="1400" b="1" dirty="0">
                <a:solidFill>
                  <a:srgbClr val="BF4E0E"/>
                </a:solidFill>
                <a:latin typeface="Meiryo"/>
                <a:ea typeface="メイリオ"/>
                <a:cs typeface="Meiryo"/>
              </a:rPr>
              <a:t>ー→</a:t>
            </a:r>
            <a:r>
              <a:rPr sz="1400" b="1" dirty="0" err="1">
                <a:solidFill>
                  <a:srgbClr val="BF4E0E"/>
                </a:solidFill>
                <a:latin typeface="Meiryo"/>
                <a:ea typeface="メイリオ"/>
                <a:cs typeface="Meiryo"/>
              </a:rPr>
              <a:t>入会のご案内を別シナリオで配信</a:t>
            </a:r>
            <a:r>
              <a:rPr sz="14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新学年スタート訴求</a:t>
                      </a:r>
                    </a:p>
                  </a:txBody>
                  <a:tcPr>
                    <a:solidFill>
                      <a:srgbClr val="FFFFFF"/>
                    </a:solidFill>
                  </a:tcPr>
                </a:tc>
                <a:tc>
                  <a:txBody>
                    <a:bodyPr/>
                    <a:lstStyle/>
                    <a:p>
                      <a:r>
                        <a:rPr sz="140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4-5月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dirty="0" err="1">
                          <a:solidFill>
                            <a:srgbClr val="333333"/>
                          </a:solidFill>
                          <a:latin typeface="Meiryo"/>
                          <a:ea typeface="メイリオ"/>
                          <a:cs typeface="Meiryo"/>
                        </a:rPr>
                        <a:t>LINEリサーチでニーズ収集</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複合種目デー投稿</a:t>
                      </a:r>
                    </a:p>
                  </a:txBody>
                  <a:tcPr>
                    <a:solidFill>
                      <a:srgbClr val="FFFFFF"/>
                    </a:solidFill>
                  </a:tcPr>
                </a:tc>
                <a:tc>
                  <a:txBody>
                    <a:bodyPr/>
                    <a:lstStyle/>
                    <a:p>
                      <a:r>
                        <a:rPr sz="140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8月</a:t>
                      </a:r>
                    </a:p>
                  </a:txBody>
                  <a:tcPr>
                    <a:solidFill>
                      <a:srgbClr val="FFFFFF"/>
                    </a:solidFill>
                  </a:tcPr>
                </a:tc>
                <a:tc>
                  <a:txBody>
                    <a:bodyPr/>
                    <a:lstStyle/>
                    <a:p>
                      <a:r>
                        <a:rPr sz="1400" b="0" dirty="0" err="1">
                          <a:solidFill>
                            <a:srgbClr val="333333"/>
                          </a:solidFill>
                          <a:latin typeface="Meiryo"/>
                          <a:ea typeface="メイリオ"/>
                          <a:cs typeface="Meiryo"/>
                        </a:rPr>
                        <a:t>短期集中イベント＋先着特典</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運動会シーズン訴求</a:t>
                      </a:r>
                    </a:p>
                  </a:txBody>
                  <a:tcPr>
                    <a:solidFill>
                      <a:srgbClr val="FFFFFF"/>
                    </a:solidFill>
                  </a:tcPr>
                </a:tc>
                <a:tc>
                  <a:txBody>
                    <a:bodyPr/>
                    <a:lstStyle/>
                    <a:p>
                      <a:r>
                        <a:rPr sz="1400" b="0" dirty="0" err="1">
                          <a:solidFill>
                            <a:srgbClr val="333333"/>
                          </a:solidFill>
                          <a:latin typeface="Meiryo"/>
                          <a:ea typeface="メイリオ"/>
                          <a:cs typeface="Meiryo"/>
                        </a:rPr>
                        <a:t>運動会に向けた訴求コンテンツ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運動能力の見える化企画</a:t>
                      </a:r>
                    </a:p>
                  </a:txBody>
                  <a:tcPr>
                    <a:solidFill>
                      <a:srgbClr val="FFFFFF"/>
                    </a:solidFill>
                  </a:tcPr>
                </a:tc>
                <a:tc>
                  <a:txBody>
                    <a:bodyPr/>
                    <a:lstStyle/>
                    <a:p>
                      <a:r>
                        <a:rPr sz="1400" b="0" dirty="0" err="1">
                          <a:solidFill>
                            <a:srgbClr val="333333"/>
                          </a:solidFill>
                          <a:latin typeface="Meiryo"/>
                          <a:ea typeface="メイリオ"/>
                          <a:cs typeface="Meiryo"/>
                        </a:rPr>
                        <a:t>入会時と現在の適性診断結果を比較</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11-12月</a:t>
                      </a:r>
                    </a:p>
                  </a:txBody>
                  <a:tcPr>
                    <a:solidFill>
                      <a:srgbClr val="FFFFFF"/>
                    </a:solidFill>
                  </a:tcPr>
                </a:tc>
                <a:tc>
                  <a:txBody>
                    <a:bodyPr/>
                    <a:lstStyle/>
                    <a:p>
                      <a:r>
                        <a:rPr sz="1400" b="0">
                          <a:solidFill>
                            <a:srgbClr val="333333"/>
                          </a:solidFill>
                          <a:latin typeface="Meiryo"/>
                          <a:ea typeface="メイリオ"/>
                          <a:cs typeface="Meiryo"/>
                        </a:rPr>
                        <a:t>短期集中イベント＋先着特典</a:t>
                      </a:r>
                    </a:p>
                  </a:txBody>
                  <a:tcPr>
                    <a:solidFill>
                      <a:srgbClr val="FFFFFF"/>
                    </a:solidFill>
                  </a:tcPr>
                </a:tc>
                <a:tc>
                  <a:txBody>
                    <a:bodyPr/>
                    <a:lstStyle/>
                    <a:p>
                      <a:r>
                        <a:rPr sz="1400" b="0" dirty="0" err="1">
                          <a:solidFill>
                            <a:srgbClr val="333333"/>
                          </a:solidFill>
                          <a:latin typeface="Meiryo"/>
                          <a:ea typeface="メイリオ"/>
                          <a:cs typeface="Meiryo"/>
                        </a:rPr>
                        <a:t>冬休み短期教室の告知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2733379206"/>
              </p:ext>
            </p:extLst>
          </p:nvPr>
        </p:nvGraphicFramePr>
        <p:xfrm>
          <a:off x="457200" y="1371600"/>
          <a:ext cx="8988551" cy="2987040"/>
        </p:xfrm>
        <a:graphic>
          <a:graphicData uri="http://schemas.openxmlformats.org/drawingml/2006/table">
            <a:tbl>
              <a:tblPr firstRow="1" bandRow="1">
                <a:tableStyleId>{5C22544A-7EE6-4342-B048-85BDC9FD1C3A}</a:tableStyleId>
              </a:tblPr>
              <a:tblGrid>
                <a:gridCol w="1345721">
                  <a:extLst>
                    <a:ext uri="{9D8B030D-6E8A-4147-A177-3AD203B41FA5}">
                      <a16:colId xmlns:a16="http://schemas.microsoft.com/office/drawing/2014/main" val="20000"/>
                    </a:ext>
                  </a:extLst>
                </a:gridCol>
                <a:gridCol w="2898475">
                  <a:extLst>
                    <a:ext uri="{9D8B030D-6E8A-4147-A177-3AD203B41FA5}">
                      <a16:colId xmlns:a16="http://schemas.microsoft.com/office/drawing/2014/main" val="20001"/>
                    </a:ext>
                  </a:extLst>
                </a:gridCol>
                <a:gridCol w="4744355">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合格実績・成長エピソード配信</a:t>
                      </a:r>
                    </a:p>
                  </a:txBody>
                  <a:tcPr>
                    <a:solidFill>
                      <a:srgbClr val="FFFFFF"/>
                    </a:solidFill>
                  </a:tcPr>
                </a:tc>
                <a:tc>
                  <a:txBody>
                    <a:bodyPr/>
                    <a:lstStyle/>
                    <a:p>
                      <a:r>
                        <a:rPr sz="140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2-3月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4月</a:t>
                      </a:r>
                    </a:p>
                  </a:txBody>
                  <a:tcPr>
                    <a:solidFill>
                      <a:srgbClr val="FFFFFF"/>
                    </a:solidFill>
                  </a:tcPr>
                </a:tc>
                <a:tc>
                  <a:txBody>
                    <a:bodyPr/>
                    <a:lstStyle/>
                    <a:p>
                      <a:r>
                        <a:rPr sz="1400" b="0" dirty="0" err="1">
                          <a:solidFill>
                            <a:srgbClr val="333333"/>
                          </a:solidFill>
                          <a:latin typeface="Meiryo"/>
                          <a:ea typeface="メイリオ"/>
                          <a:cs typeface="Meiryo"/>
                        </a:rPr>
                        <a:t>ショップカード機能の継続特典</a:t>
                      </a:r>
                      <a:endParaRPr lang="en-US" sz="1400" b="0" dirty="0">
                        <a:solidFill>
                          <a:srgbClr val="333333"/>
                        </a:solidFill>
                        <a:latin typeface="Meiryo"/>
                        <a:ea typeface="メイリオ"/>
                        <a:cs typeface="Meiryo"/>
                      </a:endParaRPr>
                    </a:p>
                    <a:p>
                      <a:r>
                        <a:rPr sz="1400" b="0" dirty="0" err="1">
                          <a:solidFill>
                            <a:srgbClr val="333333"/>
                          </a:solidFill>
                          <a:latin typeface="Meiryo"/>
                          <a:ea typeface="メイリオ"/>
                          <a:cs typeface="Meiryo"/>
                        </a:rPr>
                        <a:t>スタート告知</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5-6月</a:t>
                      </a:r>
                    </a:p>
                  </a:txBody>
                  <a:tcPr>
                    <a:solidFill>
                      <a:srgbClr val="FFFFFF"/>
                    </a:solidFill>
                  </a:tcPr>
                </a:tc>
                <a:tc>
                  <a:txBody>
                    <a:bodyPr/>
                    <a:lstStyle/>
                    <a:p>
                      <a:r>
                        <a:rPr sz="140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40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400" b="0" dirty="0" err="1">
                          <a:solidFill>
                            <a:srgbClr val="333333"/>
                          </a:solidFill>
                          <a:latin typeface="Meiryo"/>
                          <a:ea typeface="メイリオ"/>
                          <a:cs typeface="Meiryo"/>
                        </a:rPr>
                        <a:t>受験直前期の相談会導線</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9-11月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dirty="0" err="1">
                          <a:solidFill>
                            <a:srgbClr val="333333"/>
                          </a:solidFill>
                          <a:latin typeface="Meiryo"/>
                          <a:ea typeface="メイリオ"/>
                          <a:cs typeface="Meiryo"/>
                        </a:rPr>
                        <a:t>受験本番に向け母数を増やす</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・よくある質問（月謝・送迎・振替など）にLINEで自動回答</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・営業時間外の疑問も解消し、体験予約前の離脱を防ぐ</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・入会手続きなど個別のご相談は有人チャットで対応</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・タグ管理で、入会検討中の方のお問い合わせを優先</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・保護者アンケートをLINEリサーチ機能で実施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会員・保護者向けマイページ登録案内</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地域別・体験レッスン</a:t>
            </a:r>
            <a:r>
              <a:rPr lang="ja-JP" altLang="en-US" sz="1050" b="0" strike="noStrike" spc="-1" dirty="0">
                <a:solidFill>
                  <a:srgbClr val="333333"/>
                </a:solidFill>
                <a:latin typeface="メイリオ" panose="020B0604030504040204" pitchFamily="50" charset="-128"/>
                <a:ea typeface="メイリオ" panose="020B0604030504040204" pitchFamily="50" charset="-128"/>
              </a:rPr>
              <a:t>の</a:t>
            </a:r>
            <a:endParaRPr lang="en-US" altLang="ja-JP" sz="1050" b="0" strike="noStrike" spc="-1" dirty="0">
              <a:solidFill>
                <a:srgbClr val="333333"/>
              </a:solidFill>
              <a:latin typeface="メイリオ" panose="020B0604030504040204" pitchFamily="50" charset="-128"/>
              <a:ea typeface="メイリオ" panose="020B0604030504040204" pitchFamily="50" charset="-128"/>
            </a:endParaRPr>
          </a:p>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WEB申込キャンペーン</a:t>
            </a:r>
            <a:endParaRPr lang="en-US" sz="1050" b="0" strike="noStrike" spc="-1" dirty="0">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利用に至るまでナーチャリングが可能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r>
              <a:rPr lang="en-US" altLang="ja-JP" sz="1400" b="1" i="0" u="none" strike="noStrike" cap="none" dirty="0">
                <a:solidFill>
                  <a:schemeClr val="lt1"/>
                </a:solidFill>
                <a:latin typeface="Meiryo"/>
                <a:ea typeface="Meiryo"/>
                <a:cs typeface="Meiryo"/>
                <a:sym typeface="Meiryo"/>
              </a:rPr>
              <a:t/>
            </a:r>
            <a:r>
              <a:rPr lang="ja-JP" altLang="en-US" sz="1400" b="1" i="0" u="none" strike="noStrike" cap="none" dirty="0">
                <a:solidFill>
                  <a:schemeClr val="lt1"/>
                </a:solidFill>
                <a:latin typeface="Meiryo"/>
                <a:ea typeface="Meiryo"/>
                <a:cs typeface="Meiryo"/>
                <a:sym typeface="Meiryo"/>
              </a:rPr>
              <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月額5万円</a:t>
            </a:r>
            <a:r>
              <a:rPr lang="en-US" altLang="ja-JP" sz="1400" b="1" i="0" u="none" strike="noStrike" cap="none" dirty="0">
                <a:solidFill>
                  <a:schemeClr val="lt1"/>
                </a:solidFill>
                <a:latin typeface="Meiryo"/>
                <a:ea typeface="Meiryo"/>
                <a:cs typeface="Meiryo"/>
                <a:sym typeface="Meiryo"/>
              </a:rPr>
              <a:t/>
            </a:r>
            <a:r>
              <a:rPr lang="ja-JP" altLang="en-US" sz="1400" b="1" i="0" u="none" strike="noStrike" cap="none" dirty="0">
                <a:solidFill>
                  <a:schemeClr val="lt1"/>
                </a:solidFill>
                <a:latin typeface="Meiryo"/>
                <a:ea typeface="Meiryo"/>
                <a:cs typeface="Meiryo"/>
                <a:sym typeface="Meiryo"/>
              </a:rPr>
              <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400" b="1" dirty="0">
                <a:latin typeface="メイリオ" panose="020B0604030504040204" pitchFamily="50" charset="-128"/>
                <a:ea typeface="メイリオ" panose="020B0604030504040204" pitchFamily="50" charset="-128"/>
                <a:cs typeface="Meiryo"/>
                <a:sym typeface="Meiryo"/>
              </a:rPr>
              <a:t>成果報酬型：成果件数に応じた費用で、リスクを抑えて運用を始められます。</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628000"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DYMプラン（成果報酬型）</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736333"/>
            <a:ext cx="627632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制作業務を一部抽出してご依頼いただくことも可能です。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テキスト ボックス 5">
            <a:extLst>
              <a:ext uri="{FF2B5EF4-FFF2-40B4-BE49-F238E27FC236}">
                <a16:creationId xmlns:a16="http://schemas.microsoft.com/office/drawing/2014/main" id="{5596DE8E-ACCE-014A-70C9-C3E723DD7EAE}"/>
              </a:ext>
            </a:extLst>
          </p:cNvPr>
          <p:cNvSpPr txBox="1"/>
          <p:nvPr/>
        </p:nvSpPr>
        <p:spPr>
          <a:xfrm>
            <a:off x="4091225" y="3622978"/>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補足資料①</a:t>
            </a:r>
          </a:p>
        </p:txBody>
      </p:sp>
    </p:spTree>
    <p:extLst>
      <p:ext uri="{BB962C8B-B14F-4D97-AF65-F5344CB8AC3E}">
        <p14:creationId xmlns:p14="http://schemas.microsoft.com/office/powerpoint/2010/main" val="3709543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3219190" y="3038429"/>
            <a:ext cx="346761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 ボックス 2">
            <a:extLst>
              <a:ext uri="{FF2B5EF4-FFF2-40B4-BE49-F238E27FC236}">
                <a16:creationId xmlns:a16="http://schemas.microsoft.com/office/drawing/2014/main" id="{DC9A0B48-8F30-4D79-84B9-5021E0F3C9A5}"/>
              </a:ext>
            </a:extLst>
          </p:cNvPr>
          <p:cNvSpPr txBox="1"/>
          <p:nvPr/>
        </p:nvSpPr>
        <p:spPr>
          <a:xfrm>
            <a:off x="4091223" y="3562017"/>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a:t>
            </a:r>
            <a:r>
              <a:rPr lang="ja-JP" altLang="en-US" sz="2400" dirty="0">
                <a:latin typeface="メイリオ" panose="020B0604030504040204" pitchFamily="50" charset="-128"/>
                <a:ea typeface="メイリオ" panose="020B0604030504040204" pitchFamily="50" charset="-128"/>
              </a:rPr>
              <a:t>②</a:t>
            </a:r>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想定の費用対効果（CPA・CPOの推移）</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運用が育つにつれて体験予約・入会が増え、</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体験予約1件あたり（CPA）・入会1件あたり（CPO）の費用は下がっていきます。</a:t>
            </a:r>
          </a:p>
        </p:txBody>
      </p:sp>
      <p:sp>
        <p:nvSpPr>
          <p:cNvPr id="46" name="Rounded Rectangle 45"/>
          <p:cNvSpPr/>
          <p:nvPr/>
        </p:nvSpPr>
        <p:spPr>
          <a:xfrm>
            <a:off x="432000" y="1565999"/>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忍者ナイン</a:t>
            </a:r>
          </a:p>
        </p:txBody>
      </p:sp>
      <p:graphicFrame>
        <p:nvGraphicFramePr>
          <p:cNvPr id="47" name="Table 46"/>
          <p:cNvGraphicFramePr>
            <a:graphicFrameLocks noGrp="1"/>
          </p:cNvGraphicFramePr>
          <p:nvPr/>
        </p:nvGraphicFramePr>
        <p:xfrm>
          <a:off x="432000" y="1908000"/>
          <a:ext cx="9043200" cy="1440000"/>
        </p:xfrm>
        <a:graphic>
          <a:graphicData uri="http://schemas.openxmlformats.org/drawingml/2006/table">
            <a:tbl>
              <a:tblPr firstRow="1" bandRow="1">
                <a:tableStyleId>{5C22544A-7EE6-4342-B048-85BDC9FD1C3A}</a:tableStyleId>
              </a:tblPr>
              <a:tblGrid>
                <a:gridCol w="2023200"/>
                <a:gridCol w="1170000"/>
                <a:gridCol w="1170000"/>
                <a:gridCol w="1170000"/>
                <a:gridCol w="1170000"/>
                <a:gridCol w="1170000"/>
                <a:gridCol w="1170000"/>
              </a:tblGrid>
              <a:tr h="288000">
                <a:tc>
                  <a:txBody>
                    <a:bodyPr wrap="square" lIns="43200" rIns="43200" tIns="7200" bIns="7200" anchor="ctr"/>
                    <a:lstStyle/>
                    <a:p>
                      <a:pPr algn="ctr"/>
                      <a:r>
                        <a:rPr sz="1100" b="1">
                          <a:solidFill>
                            <a:srgbClr val="FFFFFF"/>
                          </a:solidFill>
                          <a:latin typeface="メイリオ"/>
                          <a:ea typeface="メイリオ"/>
                          <a:cs typeface="メイリオ"/>
                        </a:rPr>
                        <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6か月目</a:t>
                      </a:r>
                    </a:p>
                  </a:txBody>
                  <a:tcPr anchor="ctr">
                    <a:solidFill>
                      <a:srgbClr val="1F285A"/>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6件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8件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13件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5,333円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5,636円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5,077円</a:t>
                      </a:r>
                    </a:p>
                  </a:txBody>
                  <a:tcPr anchor="ctr">
                    <a:solidFill>
                      <a:srgbClr val="F4F7FF"/>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3件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5件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39,000円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41,000円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35,333円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28,000円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23,200円</a:t>
                      </a:r>
                    </a:p>
                  </a:txBody>
                  <a:tcPr anchor="ctr">
                    <a:solidFill>
                      <a:srgbClr val="F4F7FF"/>
                    </a:solidFill>
                  </a:tcPr>
                </a:tc>
              </a:tr>
            </a:tbl>
          </a:graphicData>
        </a:graphic>
      </p:graphicFrame>
      <p:sp>
        <p:nvSpPr>
          <p:cNvPr id="48" name="Rounded Rectangle 47"/>
          <p:cNvSpPr/>
          <p:nvPr/>
        </p:nvSpPr>
        <p:spPr>
          <a:xfrm>
            <a:off x="432000" y="3636000"/>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チャイルドアイズ</a:t>
            </a:r>
          </a:p>
        </p:txBody>
      </p:sp>
      <p:graphicFrame>
        <p:nvGraphicFramePr>
          <p:cNvPr id="49" name="Table 48"/>
          <p:cNvGraphicFramePr>
            <a:graphicFrameLocks noGrp="1"/>
          </p:cNvGraphicFramePr>
          <p:nvPr/>
        </p:nvGraphicFramePr>
        <p:xfrm>
          <a:off x="432000" y="3977999"/>
          <a:ext cx="9043200" cy="1440000"/>
        </p:xfrm>
        <a:graphic>
          <a:graphicData uri="http://schemas.openxmlformats.org/drawingml/2006/table">
            <a:tbl>
              <a:tblPr firstRow="1" bandRow="1">
                <a:tableStyleId>{5C22544A-7EE6-4342-B048-85BDC9FD1C3A}</a:tableStyleId>
              </a:tblPr>
              <a:tblGrid>
                <a:gridCol w="2023200"/>
                <a:gridCol w="1170000"/>
                <a:gridCol w="1170000"/>
                <a:gridCol w="1170000"/>
                <a:gridCol w="1170000"/>
                <a:gridCol w="1170000"/>
                <a:gridCol w="1170000"/>
              </a:tblGrid>
              <a:tr h="288000">
                <a:tc>
                  <a:txBody>
                    <a:bodyPr wrap="square" lIns="43200" rIns="43200" tIns="7200" bIns="7200" anchor="ctr"/>
                    <a:lstStyle/>
                    <a:p>
                      <a:pPr algn="ctr"/>
                      <a:r>
                        <a:rPr sz="1100" b="1">
                          <a:solidFill>
                            <a:srgbClr val="FFFFFF"/>
                          </a:solidFill>
                          <a:latin typeface="メイリオ"/>
                          <a:ea typeface="メイリオ"/>
                          <a:cs typeface="メイリオ"/>
                        </a:rPr>
                        <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6か月目</a:t>
                      </a:r>
                    </a:p>
                  </a:txBody>
                  <a:tcPr anchor="ctr">
                    <a:solidFill>
                      <a:srgbClr val="1F285A"/>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7件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9件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10件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12件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4,857円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6,444円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6,000円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5,333円</a:t>
                      </a:r>
                    </a:p>
                  </a:txBody>
                  <a:tcPr anchor="ctr">
                    <a:solidFill>
                      <a:srgbClr val="F4F7FF"/>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3件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78,000円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55,000円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38,000円</a:t>
                      </a:r>
                    </a:p>
                  </a:txBody>
                  <a:tcPr anchor="ctr">
                    <a:solidFill>
                      <a:srgbClr val="F4F7FF"/>
                    </a:solidFill>
                  </a:tcPr>
                </a:tc>
              </a:tr>
            </a:tbl>
          </a:graphicData>
        </a:graphic>
      </p:graphicFrame>
      <p:sp>
        <p:nvSpPr>
          <p:cNvPr id="50" name="TextBox 49"/>
          <p:cNvSpPr txBox="1"/>
          <p:nvPr/>
        </p:nvSpPr>
        <p:spPr>
          <a:xfrm>
            <a:off x="432000" y="5724000"/>
            <a:ext cx="9043200" cy="503999"/>
          </a:xfrm>
          <a:prstGeom prst="rect">
            <a:avLst/>
          </a:prstGeom>
          <a:noFill/>
        </p:spPr>
        <p:txBody>
          <a:bodyPr wrap="square" lIns="0" rIns="0" tIns="21600" bIns="21600" anchor="t">
            <a:spAutoFit/>
          </a:bodyPr>
          <a:lstStyle/>
          <a:p>
            <a:pPr algn="l">
              <a:lnSpc>
                <a:spcPct val="120000"/>
              </a:lnSpc>
            </a:pPr>
            <a:r>
              <a:rPr sz="900">
                <a:solidFill>
                  <a:srgbClr val="7F7F7F"/>
                </a:solidFill>
                <a:latin typeface="メイリオ"/>
                <a:ea typeface="メイリオ"/>
                <a:cs typeface="メイリオ"/>
              </a:rPr>
              <a:t>※CPA＝（固定費＋成果報酬 体験予約1件2,000円）÷体験予約。CPO＝（固定費＋成果報酬＋入会案内のコンサル費 50,000円）÷入会。初期費用は含みません。固定費は1〜3か月目20,000円、4か月目から40,000円。入会＝体験予約×入会引き上げ率（忍者ナイン40%・チャイルドアイズ25%）。各月の入会は整数にし、6か月の合計（17件・11件）に合わせています。</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想定動線（既存の効率化）</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このパートでは、友だち追加後の配信と、ユーザー対応・管理側の効率化をご説明します。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（薄く表示している部分は、新規友だち獲得のパートでご説明します）</a:t>
            </a:r>
          </a:p>
        </p:txBody>
      </p:sp>
      <p:sp>
        <p:nvSpPr>
          <p:cNvPr id="71" name="Rectangle 70"/>
          <p:cNvSpPr/>
          <p:nvPr/>
        </p:nvSpPr>
        <p:spPr>
          <a:xfrm>
            <a:off x="468000" y="1890000"/>
            <a:ext cx="3150000" cy="214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58000" y="5813999"/>
            <a:ext cx="2628000" cy="594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想定動線（新規友だち獲得）</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このパートでは、友だち追加までの動線（離脱防止バナー・サンクスLINE誘導など）をご説明します。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（薄く表示している部分は、既存の効率化のパートでご説明します）</a:t>
            </a:r>
          </a:p>
        </p:txBody>
      </p:sp>
      <p:sp>
        <p:nvSpPr>
          <p:cNvPr id="71" name="Rectangle 70"/>
          <p:cNvSpPr/>
          <p:nvPr/>
        </p:nvSpPr>
        <p:spPr>
          <a:xfrm>
            <a:off x="5238000" y="1530000"/>
            <a:ext cx="4428000" cy="2520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726000" y="2718000"/>
            <a:ext cx="1494000" cy="133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581999" y="4446000"/>
            <a:ext cx="6083999" cy="2015999"/>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8000" y="4644000"/>
            <a:ext cx="1655999" cy="115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【オプション】QA自動化（チャットボット）</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体験予約の前に保護者が気にする疑問（月謝・送迎・振替など）に、</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LINEで24時間すぐにお答えし、熱量が下がる前に体験予約へつなげます。</a:t>
            </a:r>
          </a:p>
        </p:txBody>
      </p:sp>
      <p:sp>
        <p:nvSpPr>
          <p:cNvPr id="46" name="Rounded Rectangle 45"/>
          <p:cNvSpPr/>
          <p:nvPr/>
        </p:nvSpPr>
        <p:spPr>
          <a:xfrm>
            <a:off x="4320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目的</a:t>
            </a:r>
          </a:p>
        </p:txBody>
      </p:sp>
      <p:sp>
        <p:nvSpPr>
          <p:cNvPr id="47" name="Rounded Rectangle 46"/>
          <p:cNvSpPr/>
          <p:nvPr/>
        </p:nvSpPr>
        <p:spPr>
          <a:xfrm>
            <a:off x="4320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・機会損失を防ぐ：夜間・休日も疑問をその場で解消し、他の教室への流出・離脱を防ぐ</a:t>
            </a:r>
          </a:p>
          <a:p>
            <a:pPr algn="l">
              <a:lnSpc>
                <a:spcPct val="135000"/>
              </a:lnSpc>
              <a:spcAft>
                <a:spcPts val="800"/>
              </a:spcAft>
            </a:pPr>
            <a:r>
              <a:rPr sz="1150">
                <a:solidFill>
                  <a:srgbClr val="333333"/>
                </a:solidFill>
                <a:latin typeface="メイリオ"/>
                <a:ea typeface="メイリオ"/>
                <a:cs typeface="メイリオ"/>
              </a:rPr>
              <a:t>・問い合わせ対応の工数を減らす：電話・メールで多い定型の質問に自動で回答</a:t>
            </a:r>
          </a:p>
          <a:p>
            <a:pPr algn="l">
              <a:lnSpc>
                <a:spcPct val="135000"/>
              </a:lnSpc>
              <a:spcAft>
                <a:spcPts val="800"/>
              </a:spcAft>
            </a:pPr>
            <a:r>
              <a:rPr sz="1150">
                <a:solidFill>
                  <a:srgbClr val="333333"/>
                </a:solidFill>
                <a:latin typeface="メイリオ"/>
                <a:ea typeface="メイリオ"/>
                <a:cs typeface="メイリオ"/>
              </a:rPr>
              <a:t>・大事なご相談に集中：スタッフは個別相談・体験後のフォローに時間を使える</a:t>
            </a:r>
          </a:p>
        </p:txBody>
      </p:sp>
      <p:sp>
        <p:nvSpPr>
          <p:cNvPr id="48" name="Rounded Rectangle 47"/>
          <p:cNvSpPr/>
          <p:nvPr/>
        </p:nvSpPr>
        <p:spPr>
          <a:xfrm>
            <a:off x="34944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組み込み方</a:t>
            </a:r>
          </a:p>
        </p:txBody>
      </p:sp>
      <p:sp>
        <p:nvSpPr>
          <p:cNvPr id="49" name="Rounded Rectangle 48"/>
          <p:cNvSpPr/>
          <p:nvPr/>
        </p:nvSpPr>
        <p:spPr>
          <a:xfrm>
            <a:off x="34944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・リッチメニューの押しやすい位置に「よくある質問」「個別相談」を常設</a:t>
            </a:r>
          </a:p>
          <a:p>
            <a:pPr algn="l">
              <a:lnSpc>
                <a:spcPct val="135000"/>
              </a:lnSpc>
              <a:spcAft>
                <a:spcPts val="800"/>
              </a:spcAft>
            </a:pPr>
            <a:r>
              <a:rPr sz="1150">
                <a:solidFill>
                  <a:srgbClr val="333333"/>
                </a:solidFill>
                <a:latin typeface="メイリオ"/>
                <a:ea typeface="メイリオ"/>
                <a:cs typeface="メイリオ"/>
              </a:rPr>
              <a:t>・一次対応：定型の質問はタップで選ぶ形の自動回答ですぐに解決</a:t>
            </a:r>
          </a:p>
          <a:p>
            <a:pPr algn="l">
              <a:lnSpc>
                <a:spcPct val="135000"/>
              </a:lnSpc>
              <a:spcAft>
                <a:spcPts val="800"/>
              </a:spcAft>
            </a:pPr>
            <a:r>
              <a:rPr sz="1150">
                <a:solidFill>
                  <a:srgbClr val="333333"/>
                </a:solidFill>
                <a:latin typeface="メイリオ"/>
                <a:ea typeface="メイリオ"/>
                <a:cs typeface="メイリオ"/>
              </a:rPr>
              <a:t>・二次対応：複雑なご相談だけ1対1のトーク（有人）に引き継ぐ</a:t>
            </a:r>
          </a:p>
        </p:txBody>
      </p:sp>
      <p:sp>
        <p:nvSpPr>
          <p:cNvPr id="50" name="Rounded Rectangle 49"/>
          <p:cNvSpPr/>
          <p:nvPr/>
        </p:nvSpPr>
        <p:spPr>
          <a:xfrm>
            <a:off x="65568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設計のポイント</a:t>
            </a:r>
          </a:p>
        </p:txBody>
      </p:sp>
      <p:sp>
        <p:nvSpPr>
          <p:cNvPr id="51" name="Rounded Rectangle 50"/>
          <p:cNvSpPr/>
          <p:nvPr/>
        </p:nvSpPr>
        <p:spPr>
          <a:xfrm>
            <a:off x="65568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・貴社の電話・メールでの問い合わせ実績と競合の情報から、質問を洗い出す</a:t>
            </a:r>
          </a:p>
          <a:p>
            <a:pPr algn="l">
              <a:lnSpc>
                <a:spcPct val="135000"/>
              </a:lnSpc>
              <a:spcAft>
                <a:spcPts val="800"/>
              </a:spcAft>
            </a:pPr>
            <a:r>
              <a:rPr sz="1150">
                <a:solidFill>
                  <a:srgbClr val="333333"/>
                </a:solidFill>
                <a:latin typeface="メイリオ"/>
                <a:ea typeface="メイリオ"/>
                <a:cs typeface="メイリオ"/>
              </a:rPr>
              <a:t>・体験予約の前に必ず気になる点（月謝・入会金・送迎・振替・持ち物）を優先してセット</a:t>
            </a:r>
          </a:p>
          <a:p>
            <a:pPr algn="l">
              <a:lnSpc>
                <a:spcPct val="135000"/>
              </a:lnSpc>
              <a:spcAft>
                <a:spcPts val="800"/>
              </a:spcAft>
            </a:pPr>
            <a:r>
              <a:rPr sz="1150">
                <a:solidFill>
                  <a:srgbClr val="333333"/>
                </a:solidFill>
                <a:latin typeface="メイリオ"/>
                <a:ea typeface="メイリオ"/>
                <a:cs typeface="メイリオ"/>
              </a:rPr>
              <a:t>・質問を増やしすぎず、タップで迷わず答えにたどり着ける階層にする</a:t>
            </a:r>
          </a:p>
        </p:txBody>
      </p:sp>
      <p:sp>
        <p:nvSpPr>
          <p:cNvPr id="52" name="Rounded Rectangle 51"/>
          <p:cNvSpPr/>
          <p:nvPr/>
        </p:nvSpPr>
        <p:spPr>
          <a:xfrm>
            <a:off x="3783600" y="5266800"/>
            <a:ext cx="2340000" cy="39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初期 5万円〜</a:t>
            </a:r>
          </a:p>
        </p:txBody>
      </p:sp>
      <p:sp>
        <p:nvSpPr>
          <p:cNvPr id="53" name="TextBox 52"/>
          <p:cNvSpPr txBox="1"/>
          <p:nvPr/>
        </p:nvSpPr>
        <p:spPr>
          <a:xfrm>
            <a:off x="432000" y="5698800"/>
            <a:ext cx="9043200" cy="251999"/>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※質問の数・階層により変動します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CPO改善のご提案｜サンクスLINE誘導</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体験予約の完了画面からLINEへつなげ、来場・入会までを後押しします。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入会率が上がるほど、入会1件あたりの費用（CPO）が下がります。</a:t>
            </a:r>
          </a:p>
        </p:txBody>
      </p:sp>
      <p:sp>
        <p:nvSpPr>
          <p:cNvPr id="46" name="Rounded Rectangle 45"/>
          <p:cNvSpPr/>
          <p:nvPr/>
        </p:nvSpPr>
        <p:spPr>
          <a:xfrm>
            <a:off x="43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1F285A"/>
                </a:solidFill>
                <a:latin typeface="メイリオ"/>
                <a:ea typeface="メイリオ"/>
                <a:cs typeface="メイリオ"/>
              </a:rPr>
              <a:t>体験予約</a:t>
            </a:r>
          </a:p>
          <a:p>
            <a:pPr algn="ctr">
              <a:lnSpc>
                <a:spcPct val="120000"/>
              </a:lnSpc>
            </a:pPr>
            <a:r>
              <a:rPr sz="1100" b="0">
                <a:solidFill>
                  <a:srgbClr val="1F285A"/>
                </a:solidFill>
                <a:latin typeface="メイリオ"/>
                <a:ea typeface="メイリオ"/>
                <a:cs typeface="メイリオ"/>
              </a:rPr>
              <a:t>フォーム</a:t>
            </a:r>
          </a:p>
        </p:txBody>
      </p:sp>
      <p:sp>
        <p:nvSpPr>
          <p:cNvPr id="47" name="Right Arrow 46"/>
          <p:cNvSpPr/>
          <p:nvPr/>
        </p:nvSpPr>
        <p:spPr>
          <a:xfrm>
            <a:off x="2052000" y="2359800"/>
            <a:ext cx="288000" cy="324000"/>
          </a:xfrm>
          <a:prstGeom prst="right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41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1F285A"/>
                </a:solidFill>
                <a:latin typeface="メイリオ"/>
                <a:ea typeface="メイリオ"/>
                <a:cs typeface="メイリオ"/>
              </a:rPr>
              <a:t>予約完了</a:t>
            </a:r>
          </a:p>
          <a:p>
            <a:pPr algn="ctr">
              <a:lnSpc>
                <a:spcPct val="120000"/>
              </a:lnSpc>
            </a:pPr>
            <a:r>
              <a:rPr sz="1100" b="0">
                <a:solidFill>
                  <a:srgbClr val="1F285A"/>
                </a:solidFill>
                <a:latin typeface="メイリオ"/>
                <a:ea typeface="メイリオ"/>
                <a:cs typeface="メイリオ"/>
              </a:rPr>
              <a:t>の画面</a:t>
            </a:r>
          </a:p>
        </p:txBody>
      </p:sp>
      <p:sp>
        <p:nvSpPr>
          <p:cNvPr id="49" name="Right Arrow 48"/>
          <p:cNvSpPr/>
          <p:nvPr/>
        </p:nvSpPr>
        <p:spPr>
          <a:xfrm>
            <a:off x="4031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392000" y="2071800"/>
            <a:ext cx="14400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FFFFFF"/>
                </a:solidFill>
                <a:latin typeface="メイリオ"/>
                <a:ea typeface="メイリオ"/>
                <a:cs typeface="メイリオ"/>
              </a:rPr>
              <a:t>DYMの</a:t>
            </a:r>
          </a:p>
          <a:p>
            <a:pPr algn="ctr">
              <a:lnSpc>
                <a:spcPct val="120000"/>
              </a:lnSpc>
            </a:pPr>
            <a:r>
              <a:rPr sz="1100" b="0">
                <a:solidFill>
                  <a:srgbClr val="FFFFFF"/>
                </a:solidFill>
                <a:latin typeface="メイリオ"/>
                <a:ea typeface="メイリオ"/>
                <a:cs typeface="メイリオ"/>
              </a:rPr>
              <a:t>ツールで</a:t>
            </a:r>
          </a:p>
          <a:p>
            <a:pPr algn="ctr">
              <a:lnSpc>
                <a:spcPct val="120000"/>
              </a:lnSpc>
            </a:pPr>
            <a:r>
              <a:rPr sz="1100" b="0">
                <a:solidFill>
                  <a:srgbClr val="FFFFFF"/>
                </a:solidFill>
                <a:latin typeface="メイリオ"/>
                <a:ea typeface="メイリオ"/>
                <a:cs typeface="メイリオ"/>
              </a:rPr>
              <a:t>LINEへ</a:t>
            </a:r>
          </a:p>
        </p:txBody>
      </p:sp>
      <p:sp>
        <p:nvSpPr>
          <p:cNvPr id="51" name="Right Arrow 50"/>
          <p:cNvSpPr/>
          <p:nvPr/>
        </p:nvSpPr>
        <p:spPr>
          <a:xfrm>
            <a:off x="5903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263999" y="2071800"/>
            <a:ext cx="1584000" cy="900000"/>
          </a:xfrm>
          <a:prstGeom prst="roundRect">
            <a:avLst>
              <a:gd name="adj" fmla="val 10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200" b="1">
                <a:solidFill>
                  <a:srgbClr val="0B7A3B"/>
                </a:solidFill>
                <a:latin typeface="メイリオ"/>
                <a:ea typeface="メイリオ"/>
                <a:cs typeface="メイリオ"/>
              </a:rPr>
              <a:t>体験前の案内</a:t>
            </a:r>
          </a:p>
          <a:p>
            <a:pPr algn="ctr">
              <a:lnSpc>
                <a:spcPct val="120000"/>
              </a:lnSpc>
            </a:pPr>
            <a:r>
              <a:rPr sz="1000" b="0">
                <a:solidFill>
                  <a:srgbClr val="0B7A3B"/>
                </a:solidFill>
                <a:latin typeface="メイリオ"/>
                <a:ea typeface="メイリオ"/>
                <a:cs typeface="メイリオ"/>
              </a:rPr>
              <a:t>体験後のフォロー</a:t>
            </a:r>
          </a:p>
        </p:txBody>
      </p:sp>
      <p:sp>
        <p:nvSpPr>
          <p:cNvPr id="53" name="Right Arrow 52"/>
          <p:cNvSpPr/>
          <p:nvPr/>
        </p:nvSpPr>
        <p:spPr>
          <a:xfrm>
            <a:off x="7920000"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80000" y="2071800"/>
            <a:ext cx="11952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500" b="1">
                <a:solidFill>
                  <a:srgbClr val="FFFFFF"/>
                </a:solidFill>
                <a:latin typeface="メイリオ"/>
                <a:ea typeface="メイリオ"/>
                <a:cs typeface="メイリオ"/>
              </a:rPr>
              <a:t>入会</a:t>
            </a:r>
          </a:p>
        </p:txBody>
      </p:sp>
      <p:sp>
        <p:nvSpPr>
          <p:cNvPr id="55" name="Rounded Rectangle 54"/>
          <p:cNvSpPr/>
          <p:nvPr/>
        </p:nvSpPr>
        <p:spPr>
          <a:xfrm>
            <a:off x="4320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予約の直後に案内</a:t>
            </a:r>
          </a:p>
          <a:p>
            <a:pPr algn="l">
              <a:lnSpc>
                <a:spcPct val="125000"/>
              </a:lnSpc>
              <a:spcAft>
                <a:spcPts val="200"/>
              </a:spcAft>
            </a:pPr>
            <a:r>
              <a:rPr sz="1050">
                <a:solidFill>
                  <a:srgbClr val="333333"/>
                </a:solidFill>
                <a:latin typeface="メイリオ"/>
                <a:ea typeface="メイリオ"/>
                <a:cs typeface="メイリオ"/>
              </a:rPr>
              <a:t>関心が一番高いタイミングなので、友だちになっていただきやすい</a:t>
            </a:r>
          </a:p>
        </p:txBody>
      </p:sp>
      <p:sp>
        <p:nvSpPr>
          <p:cNvPr id="56" name="Rounded Rectangle 55"/>
          <p:cNvSpPr/>
          <p:nvPr/>
        </p:nvSpPr>
        <p:spPr>
          <a:xfrm>
            <a:off x="34776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予約内容をトークに反映</a:t>
            </a:r>
          </a:p>
          <a:p>
            <a:pPr algn="l">
              <a:lnSpc>
                <a:spcPct val="125000"/>
              </a:lnSpc>
              <a:spcAft>
                <a:spcPts val="200"/>
              </a:spcAft>
            </a:pPr>
            <a:r>
              <a:rPr sz="1050">
                <a:solidFill>
                  <a:srgbClr val="333333"/>
                </a:solidFill>
                <a:latin typeface="メイリオ"/>
                <a:ea typeface="メイリオ"/>
                <a:cs typeface="メイリオ"/>
              </a:rPr>
              <a:t>体験内容に合わせて、案内を出し分けます</a:t>
            </a:r>
          </a:p>
        </p:txBody>
      </p:sp>
      <p:sp>
        <p:nvSpPr>
          <p:cNvPr id="57" name="Rounded Rectangle 56"/>
          <p:cNvSpPr/>
          <p:nvPr/>
        </p:nvSpPr>
        <p:spPr>
          <a:xfrm>
            <a:off x="65232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体験後のフォロー</a:t>
            </a:r>
          </a:p>
          <a:p>
            <a:pPr algn="l">
              <a:lnSpc>
                <a:spcPct val="125000"/>
              </a:lnSpc>
              <a:spcAft>
                <a:spcPts val="200"/>
              </a:spcAft>
            </a:pPr>
            <a:r>
              <a:rPr sz="1050">
                <a:solidFill>
                  <a:srgbClr val="333333"/>
                </a:solidFill>
                <a:latin typeface="メイリオ"/>
                <a:ea typeface="メイリオ"/>
                <a:cs typeface="メイリオ"/>
              </a:rPr>
              <a:t>来場・入会までLINEで後押しします</a:t>
            </a:r>
          </a:p>
        </p:txBody>
      </p:sp>
      <p:sp>
        <p:nvSpPr>
          <p:cNvPr id="58" name="Rounded Rectangle 57"/>
          <p:cNvSpPr/>
          <p:nvPr/>
        </p:nvSpPr>
        <p:spPr>
          <a:xfrm>
            <a:off x="432000" y="4195801"/>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400" b="1">
                <a:solidFill>
                  <a:srgbClr val="FFFFFF"/>
                </a:solidFill>
                <a:latin typeface="メイリオ"/>
                <a:ea typeface="メイリオ"/>
                <a:cs typeface="メイリオ"/>
              </a:rPr>
              <a:t>弊社実績：美容クリニックで、予約後の来院率が40〜50%改善</a:t>
            </a:r>
          </a:p>
        </p:txBody>
      </p:sp>
      <p:sp>
        <p:nvSpPr>
          <p:cNvPr id="59" name="Rounded Rectangle 58"/>
          <p:cNvSpPr/>
          <p:nvPr/>
        </p:nvSpPr>
        <p:spPr>
          <a:xfrm>
            <a:off x="2559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初期 15万円</a:t>
            </a:r>
          </a:p>
        </p:txBody>
      </p:sp>
      <p:sp>
        <p:nvSpPr>
          <p:cNvPr id="60" name="Rounded Rectangle 59"/>
          <p:cNvSpPr/>
          <p:nvPr/>
        </p:nvSpPr>
        <p:spPr>
          <a:xfrm>
            <a:off x="5007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月額 5万円</a:t>
            </a:r>
          </a:p>
        </p:txBody>
      </p:sp>
      <p:sp>
        <p:nvSpPr>
          <p:cNvPr id="61" name="TextBox 60"/>
          <p:cNvSpPr txBox="1"/>
          <p:nvPr/>
        </p:nvSpPr>
        <p:spPr>
          <a:xfrm>
            <a:off x="432000" y="5347801"/>
            <a:ext cx="9043200" cy="251999"/>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※APIツール（Lステップ等）と併用可／完了画面を増やす場合は追加費用</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143163</TotalTime>
  <Words>6375</Words>
  <Application>Microsoft Office PowerPoint</Application>
  <PresentationFormat>A4 210 x 297 mm</PresentationFormat>
  <Paragraphs>1621</Paragraphs>
  <Slides>59</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59</vt:i4>
      </vt:variant>
    </vt:vector>
  </HeadingPairs>
  <TitlesOfParts>
    <vt:vector size="66"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2026-09-30T10:15:40Z</dcterms:modified>
</cp:coreProperties>
</file>