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2"/>
  </p:notesMasterIdLst>
  <p:handoutMasterIdLst>
    <p:handoutMasterId r:id="rId63"/>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68"/>
    <p:sldId id="2908" r:id="rId23"/>
    <p:sldId id="2998" r:id="rId24"/>
    <p:sldId id="3009" r:id="rId69"/>
    <p:sldId id="2990" r:id="rId25"/>
    <p:sldId id="3005" r:id="rId26"/>
    <p:sldId id="2986" r:id="rId27"/>
    <p:sldId id="3006" r:id="rId28"/>
    <p:sldId id="2991" r:id="rId29"/>
    <p:sldId id="2737" r:id="rId30"/>
    <p:sldId id="3010" r:id="rId70"/>
    <p:sldId id="2989" r:id="rId31"/>
    <p:sldId id="2563" r:id="rId32"/>
    <p:sldId id="2959" r:id="rId33"/>
    <p:sldId id="2970" r:id="rId34"/>
    <p:sldId id="2968" r:id="rId35"/>
    <p:sldId id="2969" r:id="rId36"/>
    <p:sldId id="2639" r:id="rId37"/>
    <p:sldId id="3011" r:id="rId71"/>
    <p:sldId id="2957" r:id="rId38"/>
    <p:sldId id="2951" r:id="rId39"/>
    <p:sldId id="3012" r:id="rId72"/>
    <p:sldId id="2841" r:id="rId40"/>
    <p:sldId id="2734" r:id="rId41"/>
    <p:sldId id="2595" r:id="rId42"/>
    <p:sldId id="2566" r:id="rId43"/>
    <p:sldId id="2915" r:id="rId44"/>
    <p:sldId id="2619" r:id="rId45"/>
    <p:sldId id="2761" r:id="rId46"/>
    <p:sldId id="2935" r:id="rId47"/>
    <p:sldId id="2919" r:id="rId48"/>
    <p:sldId id="2519" r:id="rId49"/>
    <p:sldId id="2931" r:id="rId50"/>
    <p:sldId id="2749" r:id="rId51"/>
    <p:sldId id="2950" r:id="rId52"/>
    <p:sldId id="2961" r:id="rId53"/>
    <p:sldId id="2849" r:id="rId54"/>
    <p:sldId id="2904" r:id="rId55"/>
    <p:sldId id="2905" r:id="rId56"/>
    <p:sldId id="2906" r:id="rId57"/>
    <p:sldId id="2907" r:id="rId58"/>
    <p:sldId id="2575" r:id="rId59"/>
    <p:sldId id="2910" r:id="rId60"/>
    <p:sldId id="1169" r:id="rId6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notesMaster" Target="notesMasters/notesMaster1.xml"/><Relationship Id="rId63" Type="http://schemas.openxmlformats.org/officeDocument/2006/relationships/handoutMaster" Target="handoutMasters/handout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59</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1908000"/>
            <a:ext cx="8805672" cy="584775"/>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 → 入会 → 継続まで並走できる——これがLINE最大の魅力です。</a:t>
            </a:r>
          </a:p>
        </p:txBody>
      </p:sp>
      <p:sp>
        <p:nvSpPr>
          <p:cNvPr id="6" name="TextBox 5"/>
          <p:cNvSpPr txBox="1"/>
          <p:nvPr/>
        </p:nvSpPr>
        <p:spPr>
          <a:xfrm>
            <a:off x="324000" y="2690640"/>
            <a:ext cx="1206000" cy="365760"/>
          </a:xfrm>
          <a:prstGeom prst="rect">
            <a:avLst/>
          </a:prstGeom>
          <a:noFill/>
        </p:spPr>
        <p:txBody>
          <a:bodyPr wrap="square">
            <a:spAutoFit/>
          </a:bodyPr>
          <a:lstStyle/>
          <a:p>
            <a:pPr algn="l"/>
            <a:r>
              <a:rPr sz="1200" b="1">
                <a:solidFill>
                  <a:srgbClr val="333333"/>
                </a:solidFill>
                <a:latin typeface="メイリオ"/>
                <a:ea typeface="メイリオ"/>
                <a:cs typeface="メイリオ"/>
              </a:rPr>
              <a:t>広告・アフィ</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① CPAの改善</a:t>
            </a:r>
          </a:p>
          <a:p>
            <a:pPr algn="ctr">
              <a:lnSpc>
                <a:spcPct val="120000"/>
              </a:lnSpc>
            </a:pPr>
            <a:r>
              <a:rPr sz="1150">
                <a:solidFill>
                  <a:srgbClr val="333333"/>
                </a:solidFill>
                <a:latin typeface="メイリオ"/>
                <a:ea typeface="メイリオ"/>
                <a:cs typeface="メイリオ"/>
              </a:rPr>
              <a:t>LPで離脱した方をLINEで回収し、</a:t>
            </a:r>
          </a:p>
          <a:p>
            <a:pPr algn="ctr">
              <a:lnSpc>
                <a:spcPct val="120000"/>
              </a:lnSpc>
            </a:pPr>
            <a:r>
              <a:rPr sz="1150">
                <a:solidFill>
                  <a:srgbClr val="333333"/>
                </a:solidFill>
                <a:latin typeface="メイリオ"/>
                <a:ea typeface="メイリオ"/>
                <a:cs typeface="メイリオ"/>
              </a:rPr>
              <a:t>同じ広告費で体験予約を増やす</a:t>
            </a: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② CPOの改善</a:t>
            </a:r>
          </a:p>
          <a:p>
            <a:pPr algn="ctr">
              <a:lnSpc>
                <a:spcPct val="120000"/>
              </a:lnSpc>
            </a:pPr>
            <a:r>
              <a:rPr sz="1150">
                <a:solidFill>
                  <a:srgbClr val="333333"/>
                </a:solidFill>
                <a:latin typeface="メイリオ"/>
                <a:ea typeface="メイリオ"/>
                <a:cs typeface="メイリオ"/>
              </a:rPr>
              <a:t>体験予約から来場・入会までLINEで後押しし、</a:t>
            </a:r>
          </a:p>
          <a:p>
            <a:pPr algn="ctr">
              <a:lnSpc>
                <a:spcPct val="120000"/>
              </a:lnSpc>
            </a:pPr>
            <a:r>
              <a:rPr sz="1150">
                <a:solidFill>
                  <a:srgbClr val="333333"/>
                </a:solidFill>
                <a:latin typeface="メイリオ"/>
                <a:ea typeface="メイリオ"/>
                <a:cs typeface="メイリオ"/>
              </a:rPr>
              <a:t>入会率を上げる</a:t>
            </a: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※許容CPA＝入会1件にかけられる費用（許容CPO）×入会率。入会率が上がるほど、体験予約1件にかけられる広告費が増えます。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習い事は「3〜5歳」で始める家庭が最も多く、</a:t>
            </a:r>
          </a:p>
          <a:p>
            <a:pPr algn="ctr"/>
            <a:r>
              <a:rPr lang="en-US" altLang="ja-JP" sz="1700" dirty="0">
                <a:solidFill>
                  <a:schemeClr val="tx1"/>
                </a:solidFill>
              </a:rPr>
              <a:t>未就学児の保護者の87.5%が「させたい」と考えています。</a:t>
            </a: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79" name="Rounded Rectangle 78"/>
          <p:cNvSpPr/>
          <p:nvPr/>
        </p:nvSpPr>
        <p:spPr>
          <a:xfrm>
            <a:off x="432000" y="2116800"/>
            <a:ext cx="25920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1　対象範囲（4つの領域）</a:t>
            </a:r>
          </a:p>
        </p:txBody>
      </p:sp>
      <p:sp>
        <p:nvSpPr>
          <p:cNvPr id="80" name="Rounded Rectangle 79"/>
          <p:cNvSpPr/>
          <p:nvPr/>
        </p:nvSpPr>
        <p:spPr>
          <a:xfrm>
            <a:off x="4320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① 友だち追加</a:t>
            </a:r>
          </a:p>
        </p:txBody>
      </p:sp>
      <p:sp>
        <p:nvSpPr>
          <p:cNvPr id="81" name="Rounded Rectangle 80"/>
          <p:cNvSpPr/>
          <p:nvPr/>
        </p:nvSpPr>
        <p:spPr>
          <a:xfrm>
            <a:off x="27288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② 配信の効率改善</a:t>
            </a:r>
          </a:p>
        </p:txBody>
      </p:sp>
      <p:sp>
        <p:nvSpPr>
          <p:cNvPr id="82" name="Rounded Rectangle 81"/>
          <p:cNvSpPr/>
          <p:nvPr/>
        </p:nvSpPr>
        <p:spPr>
          <a:xfrm>
            <a:off x="50256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③ ユーザー満足度改善</a:t>
            </a:r>
          </a:p>
        </p:txBody>
      </p:sp>
      <p:sp>
        <p:nvSpPr>
          <p:cNvPr id="83" name="Rounded Rectangle 82"/>
          <p:cNvSpPr/>
          <p:nvPr/>
        </p:nvSpPr>
        <p:spPr>
          <a:xfrm>
            <a:off x="73224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④ 管理側の業務効率化</a:t>
            </a:r>
          </a:p>
        </p:txBody>
      </p:sp>
      <p:sp>
        <p:nvSpPr>
          <p:cNvPr id="84" name="TextBox 83"/>
          <p:cNvSpPr txBox="1"/>
          <p:nvPr/>
        </p:nvSpPr>
        <p:spPr>
          <a:xfrm>
            <a:off x="432000" y="3250801"/>
            <a:ext cx="9043200" cy="288000"/>
          </a:xfrm>
          <a:prstGeom prst="rect">
            <a:avLst/>
          </a:prstGeom>
          <a:noFill/>
        </p:spPr>
        <p:txBody>
          <a:bodyPr wrap="square" lIns="0" rIns="0" tIns="21600" bIns="21600" anchor="ctr">
            <a:spAutoFit/>
          </a:bodyPr>
          <a:lstStyle/>
          <a:p>
            <a:pPr algn="ctr"/>
            <a:r>
              <a:rPr sz="1200">
                <a:solidFill>
                  <a:srgbClr val="333333"/>
                </a:solidFill>
                <a:latin typeface="メイリオ"/>
                <a:ea typeface="メイリオ"/>
                <a:cs typeface="メイリオ"/>
              </a:rPr>
              <a:t>LINE公式アカウントの4つの領域を対象に、施策を設計します。</a:t>
            </a:r>
          </a:p>
        </p:txBody>
      </p:sp>
      <p:sp>
        <p:nvSpPr>
          <p:cNvPr id="85" name="Rounded Rectangle 84"/>
          <p:cNvSpPr/>
          <p:nvPr/>
        </p:nvSpPr>
        <p:spPr>
          <a:xfrm>
            <a:off x="4320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2　想定UU規模</a:t>
            </a:r>
          </a:p>
        </p:txBody>
      </p:sp>
      <p:sp>
        <p:nvSpPr>
          <p:cNvPr id="86" name="Rounded Rectangle 85"/>
          <p:cNvSpPr/>
          <p:nvPr/>
        </p:nvSpPr>
        <p:spPr>
          <a:xfrm>
            <a:off x="4320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・友だち数は、導入できる動線の本数と整備の進み具合で変わります</a:t>
            </a:r>
          </a:p>
          <a:p>
            <a:pPr algn="l">
              <a:lnSpc>
                <a:spcPct val="130000"/>
              </a:lnSpc>
              <a:spcAft>
                <a:spcPts val="600"/>
              </a:spcAft>
            </a:pPr>
            <a:r>
              <a:rPr sz="1150">
                <a:solidFill>
                  <a:srgbClr val="333333"/>
                </a:solidFill>
                <a:latin typeface="メイリオ"/>
                <a:ea typeface="メイリオ"/>
                <a:cs typeface="メイリオ"/>
              </a:rPr>
              <a:t>・数値はレンジの中間を基準にした試算例です</a:t>
            </a:r>
          </a:p>
        </p:txBody>
      </p:sp>
      <p:sp>
        <p:nvSpPr>
          <p:cNvPr id="87" name="Rounded Rectangle 86"/>
          <p:cNvSpPr/>
          <p:nvPr/>
        </p:nvSpPr>
        <p:spPr>
          <a:xfrm>
            <a:off x="34944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3　数値の位置づけ</a:t>
            </a:r>
          </a:p>
        </p:txBody>
      </p:sp>
      <p:sp>
        <p:nvSpPr>
          <p:cNvPr id="88" name="Rounded Rectangle 87"/>
          <p:cNvSpPr/>
          <p:nvPr/>
        </p:nvSpPr>
        <p:spPr>
          <a:xfrm>
            <a:off x="34944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・開封率・クリック率・CVR・獲得件数は、業界一般値・弊社実績にもとづく数値です</a:t>
            </a:r>
          </a:p>
          <a:p>
            <a:pPr algn="l">
              <a:lnSpc>
                <a:spcPct val="130000"/>
              </a:lnSpc>
              <a:spcAft>
                <a:spcPts val="600"/>
              </a:spcAft>
            </a:pPr>
            <a:r>
              <a:rPr sz="1150">
                <a:solidFill>
                  <a:srgbClr val="333333"/>
                </a:solidFill>
                <a:latin typeface="メイリオ"/>
                <a:ea typeface="メイリオ"/>
                <a:cs typeface="メイリオ"/>
              </a:rPr>
              <a:t>・実装できる範囲に合わせ、すり合わせのうえ精緻化します</a:t>
            </a:r>
          </a:p>
        </p:txBody>
      </p:sp>
      <p:sp>
        <p:nvSpPr>
          <p:cNvPr id="89" name="Rounded Rectangle 88"/>
          <p:cNvSpPr/>
          <p:nvPr/>
        </p:nvSpPr>
        <p:spPr>
          <a:xfrm>
            <a:off x="65568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4　費用について</a:t>
            </a:r>
          </a:p>
        </p:txBody>
      </p:sp>
      <p:sp>
        <p:nvSpPr>
          <p:cNvPr id="90" name="Rounded Rectangle 89"/>
          <p:cNvSpPr/>
          <p:nvPr/>
        </p:nvSpPr>
        <p:spPr>
          <a:xfrm>
            <a:off x="65568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・記載の費用（初期費用・月額費用）は前提の参考値です</a:t>
            </a:r>
          </a:p>
          <a:p>
            <a:pPr algn="l">
              <a:lnSpc>
                <a:spcPct val="130000"/>
              </a:lnSpc>
              <a:spcAft>
                <a:spcPts val="600"/>
              </a:spcAft>
            </a:pPr>
            <a:r>
              <a:rPr sz="1150">
                <a:solidFill>
                  <a:srgbClr val="333333"/>
                </a:solidFill>
                <a:latin typeface="メイリオ"/>
                <a:ea typeface="メイリオ"/>
                <a:cs typeface="メイリオ"/>
              </a:rPr>
              <a:t>・施策の範囲が決まったのち、別途お見積りをご案内します</a:t>
            </a: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向上させる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r>
              <a:rPr lang="ja-JP" altLang="en-US" sz="1400" dirty="0">
                <a:solidFill>
                  <a:srgbClr val="333333"/>
                </a:solidFill>
                <a:latin typeface="メイリオ" panose="020B0604030504040204" pitchFamily="50" charset="-128"/>
                <a:ea typeface="メイリオ" panose="020B0604030504040204" pitchFamily="50" charset="-128"/>
              </a:rPr>
              <a:t>。</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フローを踏みたいところ。</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CPA</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5,077〜5,333円</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CPO</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23,200〜38,000円</a:t>
            </a:r>
          </a:p>
        </p:txBody>
      </p:sp>
      <p:sp>
        <p:nvSpPr>
          <p:cNvPr id="87" name="TextBox 86"/>
          <p:cNvSpPr txBox="1"/>
          <p:nvPr/>
        </p:nvSpPr>
        <p:spPr>
          <a:xfrm>
            <a:off x="6840000" y="5292000"/>
            <a:ext cx="2880000" cy="216000"/>
          </a:xfrm>
          <a:prstGeom prst="rect">
            <a:avLst/>
          </a:prstGeom>
          <a:noFill/>
        </p:spPr>
        <p:txBody>
          <a:bodyPr wrap="square" lIns="0" rIns="0" tIns="2160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200" b="1" dirty="0" err="1">
                <a:solidFill>
                  <a:srgbClr val="BF4E0E"/>
                </a:solidFill>
                <a:latin typeface="Meiryo"/>
                <a:ea typeface="メイリオ"/>
                <a:cs typeface="Meiryo"/>
              </a:rPr>
              <a:t>予約で止めず、入会までLINEで追いきります</a:t>
            </a:r>
            <a:endParaRPr lang="en-US" sz="1200" b="1" dirty="0">
              <a:solidFill>
                <a:srgbClr val="BF4E0E"/>
              </a:solidFill>
              <a:latin typeface="Meiryo"/>
              <a:ea typeface="メイリオ"/>
              <a:cs typeface="Meiryo"/>
            </a:endParaRPr>
          </a:p>
          <a:p>
            <a:r>
              <a:rPr sz="1200" b="1" dirty="0">
                <a:solidFill>
                  <a:srgbClr val="BF4E0E"/>
                </a:solidFill>
                <a:latin typeface="Meiryo"/>
                <a:ea typeface="メイリオ"/>
                <a:cs typeface="Meiryo"/>
              </a:rPr>
              <a:t>（</a:t>
            </a:r>
            <a:r>
              <a:rPr sz="1200" b="1" dirty="0" err="1">
                <a:solidFill>
                  <a:srgbClr val="BF4E0E"/>
                </a:solidFill>
                <a:latin typeface="Meiryo"/>
                <a:ea typeface="メイリオ"/>
                <a:cs typeface="Meiryo"/>
              </a:rPr>
              <a:t>体験前リマインド→当日案内→体験後フォロ</a:t>
            </a:r>
            <a:r>
              <a:rPr sz="1200" b="1" dirty="0">
                <a:solidFill>
                  <a:srgbClr val="BF4E0E"/>
                </a:solidFill>
                <a:latin typeface="Meiryo"/>
                <a:ea typeface="メイリオ"/>
                <a:cs typeface="Meiryo"/>
              </a:rPr>
              <a:t>ー→</a:t>
            </a:r>
            <a:r>
              <a:rPr sz="1200" b="1" dirty="0" err="1">
                <a:solidFill>
                  <a:srgbClr val="BF4E0E"/>
                </a:solidFill>
                <a:latin typeface="Meiryo"/>
                <a:ea typeface="メイリオ"/>
                <a:cs typeface="Meiryo"/>
              </a:rPr>
              <a:t>入会のご案内を別シナリオで配信</a:t>
            </a:r>
            <a:r>
              <a:rPr sz="12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入会11件として算出</a:t>
            </a:r>
          </a:p>
          <a:p>
            <a:r>
              <a:rPr sz="1400" b="1" dirty="0" err="1">
                <a:solidFill>
                  <a:srgbClr val="BF4E0E"/>
                </a:solidFill>
                <a:latin typeface="Meiryo"/>
                <a:ea typeface="メイリオ"/>
                <a:cs typeface="Meiryo"/>
              </a:rPr>
              <a:t>予約で止めず、入会までLINEで追いきります</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05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05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05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Meiryo"/>
                <a:sym typeface="Meiryo"/>
              </a:rPr>
              <a:t>成果報酬型：成果件数に応じた費用で、リスクを抑えて運用を始められます。</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補足資料①</a:t>
            </a: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a:t>
            </a:r>
            <a:r>
              <a:rPr lang="ja-JP" altLang="en-US" sz="2400" dirty="0">
                <a:latin typeface="メイリオ" panose="020B0604030504040204" pitchFamily="50" charset="-128"/>
                <a:ea typeface="メイリオ" panose="020B0604030504040204" pitchFamily="50" charset="-128"/>
              </a:rPr>
              <a:t>②</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運用が育つにつれて体験予約・入会が増え、</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体験予約1件あたり（CPA）・入会1件あたり（CPO）の費用は下がっていきます。</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6件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8件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5,077円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5件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23,200円</a:t>
                      </a:r>
                    </a:p>
                  </a:txBody>
                  <a:tcPr anchor="ctr">
                    <a:solidFill>
                      <a:srgbClr val="F4F7FF"/>
                    </a:solidFill>
                  </a:tcPr>
                </a:tc>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7件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9件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10件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12件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38,000円</a:t>
                      </a:r>
                    </a:p>
                  </a:txBody>
                  <a:tcPr anchor="ctr">
                    <a:solidFill>
                      <a:srgbClr val="F4F7FF"/>
                    </a:solidFill>
                  </a:tcPr>
                </a:tc>
              </a:tr>
            </a:tbl>
          </a:graphicData>
        </a:graphic>
      </p:graphicFrame>
      <p:sp>
        <p:nvSpPr>
          <p:cNvPr id="50" name="TextBox 49"/>
          <p:cNvSpPr txBox="1"/>
          <p:nvPr/>
        </p:nvSpPr>
        <p:spPr>
          <a:xfrm>
            <a:off x="432000" y="5724000"/>
            <a:ext cx="9043200" cy="503999"/>
          </a:xfrm>
          <a:prstGeom prst="rect">
            <a:avLst/>
          </a:prstGeom>
          <a:noFill/>
        </p:spPr>
        <p:txBody>
          <a:bodyPr wrap="square" lIns="0" rIns="0" tIns="2160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みません。固定費は1〜3か月目20,000円、4か月目から40,000円。入会＝体験予約×入会引き上げ率（忍者ナイン40%・チャイルドアイズ25%）。各月の入会は整数にし、6か月の合計（17件・11件）に合わせていま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このパートでは、友だち追加後の配信と、ユーザー対応・管理側の効率化をご説明します。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（薄く表示している部分は、新規友だち獲得のパートでご説明します）</a:t>
            </a:r>
          </a:p>
        </p:txBody>
      </p:sp>
      <p:sp>
        <p:nvSpPr>
          <p:cNvPr id="71" name="Rectangle 70"/>
          <p:cNvSpPr/>
          <p:nvPr/>
        </p:nvSpPr>
        <p:spPr>
          <a:xfrm>
            <a:off x="468000" y="1890000"/>
            <a:ext cx="3150000" cy="214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8000" y="5813999"/>
            <a:ext cx="2628000" cy="594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このパートでは、友だち追加までの動線（離脱防止バナー・サンクスLINE誘導など）をご説明します。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（薄く表示している部分は、既存の効率化のパートでご説明します）</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726000" y="2718000"/>
            <a:ext cx="1494000" cy="133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581999" y="4446000"/>
            <a:ext cx="6083999" cy="2015999"/>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8000" y="4644000"/>
            <a:ext cx="1655999" cy="115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【オプション】QA自動化（チャットボット）</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体験予約の前に保護者が気にする疑問（月謝・送迎・振替など）に、</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LINEで24時間すぐにお答えし、熱量が下がる前に体験予約へつなげます。</a:t>
            </a:r>
          </a:p>
        </p:txBody>
      </p:sp>
      <p:sp>
        <p:nvSpPr>
          <p:cNvPr id="46" name="Rounded Rectangle 45"/>
          <p:cNvSpPr/>
          <p:nvPr/>
        </p:nvSpPr>
        <p:spPr>
          <a:xfrm>
            <a:off x="4320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目的</a:t>
            </a:r>
          </a:p>
        </p:txBody>
      </p:sp>
      <p:sp>
        <p:nvSpPr>
          <p:cNvPr id="47" name="Rounded Rectangle 46"/>
          <p:cNvSpPr/>
          <p:nvPr/>
        </p:nvSpPr>
        <p:spPr>
          <a:xfrm>
            <a:off x="4320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・機会損失を防ぐ：夜間・休日も疑問をその場で解消し、他の教室への流出・離脱を防ぐ</a:t>
            </a:r>
          </a:p>
          <a:p>
            <a:pPr algn="l">
              <a:lnSpc>
                <a:spcPct val="135000"/>
              </a:lnSpc>
              <a:spcAft>
                <a:spcPts val="800"/>
              </a:spcAft>
            </a:pPr>
            <a:r>
              <a:rPr sz="1150">
                <a:solidFill>
                  <a:srgbClr val="333333"/>
                </a:solidFill>
                <a:latin typeface="メイリオ"/>
                <a:ea typeface="メイリオ"/>
                <a:cs typeface="メイリオ"/>
              </a:rPr>
              <a:t>・問い合わせ対応の工数を減らす：電話・メールで多い定型の質問に自動で回答</a:t>
            </a:r>
          </a:p>
          <a:p>
            <a:pPr algn="l">
              <a:lnSpc>
                <a:spcPct val="135000"/>
              </a:lnSpc>
              <a:spcAft>
                <a:spcPts val="800"/>
              </a:spcAft>
            </a:pPr>
            <a:r>
              <a:rPr sz="1150">
                <a:solidFill>
                  <a:srgbClr val="333333"/>
                </a:solidFill>
                <a:latin typeface="メイリオ"/>
                <a:ea typeface="メイリオ"/>
                <a:cs typeface="メイリオ"/>
              </a:rPr>
              <a:t>・大事なご相談に集中：スタッフは個別相談・体験後のフォローに時間を使える</a:t>
            </a:r>
          </a:p>
        </p:txBody>
      </p:sp>
      <p:sp>
        <p:nvSpPr>
          <p:cNvPr id="48" name="Rounded Rectangle 47"/>
          <p:cNvSpPr/>
          <p:nvPr/>
        </p:nvSpPr>
        <p:spPr>
          <a:xfrm>
            <a:off x="34944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組み込み方</a:t>
            </a:r>
          </a:p>
        </p:txBody>
      </p:sp>
      <p:sp>
        <p:nvSpPr>
          <p:cNvPr id="49" name="Rounded Rectangle 48"/>
          <p:cNvSpPr/>
          <p:nvPr/>
        </p:nvSpPr>
        <p:spPr>
          <a:xfrm>
            <a:off x="34944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・リッチメニューの押しやすい位置に「よくある質問」「個別相談」を常設</a:t>
            </a:r>
          </a:p>
          <a:p>
            <a:pPr algn="l">
              <a:lnSpc>
                <a:spcPct val="135000"/>
              </a:lnSpc>
              <a:spcAft>
                <a:spcPts val="800"/>
              </a:spcAft>
            </a:pPr>
            <a:r>
              <a:rPr sz="1150">
                <a:solidFill>
                  <a:srgbClr val="333333"/>
                </a:solidFill>
                <a:latin typeface="メイリオ"/>
                <a:ea typeface="メイリオ"/>
                <a:cs typeface="メイリオ"/>
              </a:rPr>
              <a:t>・一次対応：定型の質問はタップで選ぶ形の自動回答ですぐに解決</a:t>
            </a:r>
          </a:p>
          <a:p>
            <a:pPr algn="l">
              <a:lnSpc>
                <a:spcPct val="135000"/>
              </a:lnSpc>
              <a:spcAft>
                <a:spcPts val="800"/>
              </a:spcAft>
            </a:pPr>
            <a:r>
              <a:rPr sz="1150">
                <a:solidFill>
                  <a:srgbClr val="333333"/>
                </a:solidFill>
                <a:latin typeface="メイリオ"/>
                <a:ea typeface="メイリオ"/>
                <a:cs typeface="メイリオ"/>
              </a:rPr>
              <a:t>・二次対応：複雑なご相談だけ1対1のトーク（有人）に引き継ぐ</a:t>
            </a:r>
          </a:p>
        </p:txBody>
      </p:sp>
      <p:sp>
        <p:nvSpPr>
          <p:cNvPr id="50" name="Rounded Rectangle 49"/>
          <p:cNvSpPr/>
          <p:nvPr/>
        </p:nvSpPr>
        <p:spPr>
          <a:xfrm>
            <a:off x="65568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設計のポイント</a:t>
            </a:r>
          </a:p>
        </p:txBody>
      </p:sp>
      <p:sp>
        <p:nvSpPr>
          <p:cNvPr id="51" name="Rounded Rectangle 50"/>
          <p:cNvSpPr/>
          <p:nvPr/>
        </p:nvSpPr>
        <p:spPr>
          <a:xfrm>
            <a:off x="65568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・貴社の電話・メールでの問い合わせ実績と競合の情報から、質問を洗い出す</a:t>
            </a:r>
          </a:p>
          <a:p>
            <a:pPr algn="l">
              <a:lnSpc>
                <a:spcPct val="135000"/>
              </a:lnSpc>
              <a:spcAft>
                <a:spcPts val="800"/>
              </a:spcAft>
            </a:pPr>
            <a:r>
              <a:rPr sz="1150">
                <a:solidFill>
                  <a:srgbClr val="333333"/>
                </a:solidFill>
                <a:latin typeface="メイリオ"/>
                <a:ea typeface="メイリオ"/>
                <a:cs typeface="メイリオ"/>
              </a:rPr>
              <a:t>・体験予約の前に必ず気になる点（月謝・入会金・送迎・振替・持ち物）を優先してセット</a:t>
            </a:r>
          </a:p>
          <a:p>
            <a:pPr algn="l">
              <a:lnSpc>
                <a:spcPct val="135000"/>
              </a:lnSpc>
              <a:spcAft>
                <a:spcPts val="800"/>
              </a:spcAft>
            </a:pPr>
            <a:r>
              <a:rPr sz="1150">
                <a:solidFill>
                  <a:srgbClr val="333333"/>
                </a:solidFill>
                <a:latin typeface="メイリオ"/>
                <a:ea typeface="メイリオ"/>
                <a:cs typeface="メイリオ"/>
              </a:rPr>
              <a:t>・質問を増やしすぎず、タップで迷わず答えにたどり着ける階層にする</a:t>
            </a:r>
          </a:p>
        </p:txBody>
      </p:sp>
      <p:sp>
        <p:nvSpPr>
          <p:cNvPr id="52" name="Rounded Rectangle 51"/>
          <p:cNvSpPr/>
          <p:nvPr/>
        </p:nvSpPr>
        <p:spPr>
          <a:xfrm>
            <a:off x="3783600" y="5266800"/>
            <a:ext cx="2340000" cy="39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5万円〜</a:t>
            </a:r>
          </a:p>
        </p:txBody>
      </p:sp>
      <p:sp>
        <p:nvSpPr>
          <p:cNvPr id="53" name="TextBox 52"/>
          <p:cNvSpPr txBox="1"/>
          <p:nvPr/>
        </p:nvSpPr>
        <p:spPr>
          <a:xfrm>
            <a:off x="432000" y="5698800"/>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※質問の数・階層により変動します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体験予約の完了画面からLINEへつなげ、来場・入会までを後押しします。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入会率が上がるほど、入会1件あたりの費用（CPO）が下がります。</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体験内容に合わせて、案内を出し分けます</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体験後のフォロー</a:t>
            </a:r>
          </a:p>
          <a:p>
            <a:pPr algn="l">
              <a:lnSpc>
                <a:spcPct val="125000"/>
              </a:lnSpc>
              <a:spcAft>
                <a:spcPts val="200"/>
              </a:spcAft>
            </a:pPr>
            <a:r>
              <a:rPr sz="1050">
                <a:solidFill>
                  <a:srgbClr val="333333"/>
                </a:solidFill>
                <a:latin typeface="メイリオ"/>
                <a:ea typeface="メイリオ"/>
                <a:cs typeface="メイリオ"/>
              </a:rPr>
              <a:t>来場・入会までLINEで後押しします</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143163</TotalTime>
  <Words>6375</Words>
  <Application>Microsoft Office PowerPoint</Application>
  <PresentationFormat>A4 210 x 297 mm</PresentationFormat>
  <Paragraphs>1621</Paragraphs>
  <Slides>59</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59</vt:i4>
      </vt:variant>
    </vt:vector>
  </HeadingPairs>
  <TitlesOfParts>
    <vt:vector size="66"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2026-09-30T10:15:40Z</dcterms:modified>
</cp:coreProperties>
</file>