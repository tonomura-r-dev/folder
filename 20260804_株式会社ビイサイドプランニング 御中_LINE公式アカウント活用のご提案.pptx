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1528" r:id="rId2"/>
    <p:sldId id="257" r:id="rId3"/>
    <p:sldId id="2917" r:id="rId4"/>
    <p:sldId id="3201" r:id="rId5"/>
    <p:sldId id="3202" r:id="rId6"/>
    <p:sldId id="3203" r:id="rId7"/>
    <p:sldId id="3204" r:id="rId8"/>
    <p:sldId id="2947" r:id="rId9"/>
    <p:sldId id="2948" r:id="rId10"/>
    <p:sldId id="3205" r:id="rId11"/>
    <p:sldId id="2949" r:id="rId12"/>
    <p:sldId id="3207" r:id="rId13"/>
    <p:sldId id="273" r:id="rId14"/>
    <p:sldId id="274" r:id="rId15"/>
    <p:sldId id="275" r:id="rId16"/>
    <p:sldId id="2890" r:id="rId17"/>
    <p:sldId id="3135" r:id="rId18"/>
    <p:sldId id="3229" r:id="rId48"/>
    <p:sldId id="3230" r:id="rId49"/>
    <p:sldId id="3232" r:id="rId51"/>
    <p:sldId id="3233" r:id="rId52"/>
    <p:sldId id="3234" r:id="rId53"/>
    <p:sldId id="3237" r:id="rId36"/>
    <p:sldId id="3235" r:id="rId54"/>
    <p:sldId id="3213" r:id="rId24"/>
    <p:sldId id="3236" r:id="rId55"/>
    <p:sldId id="356" r:id="rId37"/>
    <p:sldId id="2866" r:id="rId38"/>
    <p:sldId id="282" r:id="rId39"/>
    <p:sldId id="1865" r:id="rId40"/>
    <p:sldId id="1866" r:id="rId41"/>
    <p:sldId id="1672" r:id="rId42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2A"/>
    <a:srgbClr val="254061"/>
    <a:srgbClr val="00A896"/>
    <a:srgbClr val="191F54"/>
    <a:srgbClr val="DEDEDE"/>
    <a:srgbClr val="296FD6"/>
    <a:srgbClr val="EAEDEF"/>
    <a:srgbClr val="073763"/>
    <a:srgbClr val="00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4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76" y="36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slide" Target="slides/slide25.xml"/><Relationship Id="rId36" Type="http://schemas.openxmlformats.org/officeDocument/2006/relationships/slide" Target="slides/slide23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4.xml"/><Relationship Id="rId55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03556-6033-4E9C-8AB2-DAEBDF7D05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A7E7C-2592-421B-8120-0CB7E8FF1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66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4375" y="744538"/>
            <a:ext cx="537527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6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>
              <a:latin typeface="Calibri" charset="0"/>
              <a:ea typeface="ＭＳ Ｐゴシック" charset="0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11268" name="スライド番号プレースホルダー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3025" indent="-285778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11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360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60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851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2096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343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588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B3F40B-8A17-7147-97C6-D00DC1719EA3}" type="slidenum">
              <a:rPr lang="ja-JP" altLang="en-US" sz="1300">
                <a:latin typeface="Calibri" charset="0"/>
              </a:rPr>
              <a:pPr/>
              <a:t>1</a:t>
            </a:fld>
            <a:endParaRPr lang="ja-JP" altLang="en-US" sz="13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892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9202D6-C1F5-472A-A72F-285F233F82C2}" type="slidenum">
              <a:rPr lang="ja-JP" altLang="en-US" smtClean="0"/>
              <a:pPr>
                <a:defRPr/>
              </a:pPr>
              <a:t>41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18722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63586272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46547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74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>
  <p:cSld name="5_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Calibri"/>
              <a:sym typeface="Calibri"/>
            </a:endParaRPr>
          </a:p>
        </p:txBody>
      </p:sp>
      <p:cxnSp>
        <p:nvCxnSpPr>
          <p:cNvPr id="17" name="Google Shape;17;p75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5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96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34D6-5E1A-4239-A455-4125CCFD96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388E-87E0-4CDF-9AC5-13B331764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24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 preserve="1">
  <p:cSld name="3_タイトル スライド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4"/>
          <p:cNvSpPr txBox="1">
            <a:spLocks noGrp="1"/>
          </p:cNvSpPr>
          <p:nvPr>
            <p:ph type="dt" idx="10"/>
          </p:nvPr>
        </p:nvSpPr>
        <p:spPr>
          <a:xfrm>
            <a:off x="495300" y="6356363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Google Shape;20;p54"/>
          <p:cNvSpPr txBox="1">
            <a:spLocks noGrp="1"/>
          </p:cNvSpPr>
          <p:nvPr>
            <p:ph type="ftr" idx="11"/>
          </p:nvPr>
        </p:nvSpPr>
        <p:spPr>
          <a:xfrm>
            <a:off x="3384550" y="6356363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1" name="Google Shape;21;p54"/>
          <p:cNvSpPr txBox="1">
            <a:spLocks noGrp="1"/>
          </p:cNvSpPr>
          <p:nvPr>
            <p:ph type="sldNum" idx="12"/>
          </p:nvPr>
        </p:nvSpPr>
        <p:spPr>
          <a:xfrm>
            <a:off x="9345488" y="655075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2" name="Google Shape;22;p54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54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9771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7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/>
          <p:cNvSpPr/>
          <p:nvPr userDrawn="1"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47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CB9164-B3F8-4467-A9B9-02B828EFAA2F}"/>
              </a:ext>
            </a:extLst>
          </p:cNvPr>
          <p:cNvCxnSpPr>
            <a:cxnSpLocks/>
          </p:cNvCxnSpPr>
          <p:nvPr userDrawn="1"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9970966-7ADA-4DAA-8EE5-666B7BC84C85}"/>
              </a:ext>
            </a:extLst>
          </p:cNvPr>
          <p:cNvSpPr/>
          <p:nvPr userDrawn="1"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コンテンツ プレースホルダー 9"/>
          <p:cNvSpPr>
            <a:spLocks noGrp="1"/>
          </p:cNvSpPr>
          <p:nvPr>
            <p:ph sz="quarter" idx="10"/>
          </p:nvPr>
        </p:nvSpPr>
        <p:spPr>
          <a:xfrm>
            <a:off x="0" y="608400"/>
            <a:ext cx="9906000" cy="3816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1625" b="0" i="0" u="none" strike="noStrike" cap="none" spc="488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Arial"/>
              </a:defRPr>
            </a:lvl1pPr>
            <a:lvl2pPr algn="ctr"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1"/>
          </p:nvPr>
        </p:nvSpPr>
        <p:spPr>
          <a:xfrm>
            <a:off x="0" y="972000"/>
            <a:ext cx="9906000" cy="4032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4774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451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5F8949-241D-EB50-98A8-24BF64D8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5" y="182288"/>
            <a:ext cx="8543925" cy="366392"/>
          </a:xfrm>
          <a:prstGeom prst="rect">
            <a:avLst/>
          </a:prstGeom>
        </p:spPr>
        <p:txBody>
          <a:bodyPr/>
          <a:lstStyle>
            <a:lvl1pPr algn="l">
              <a:defRPr sz="1800" b="1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357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856712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737560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5169507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65" y="72271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1357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45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138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138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65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281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  <p:sldLayoutId id="2147483676" r:id="rId14"/>
    <p:sldLayoutId id="2147483677" r:id="rId1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37147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74295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11442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48590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278606" indent="-27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3647" indent="-2321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microsoft.com/office/2007/relationships/hdphoto" Target="../media/hdphoto1.wdp"/><Relationship Id="rId7" Type="http://schemas.openxmlformats.org/officeDocument/2006/relationships/image" Target="../media/image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1.png"/><Relationship Id="rId10" Type="http://schemas.microsoft.com/office/2007/relationships/hdphoto" Target="../media/hdphoto1.wdp"/><Relationship Id="rId11" Type="http://schemas.openxmlformats.org/officeDocument/2006/relationships/image" Target="../media/image58.png"/><Relationship Id="rId12" Type="http://schemas.openxmlformats.org/officeDocument/2006/relationships/image" Target="../media/image5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0.emf"/><Relationship Id="rId4" Type="http://schemas.openxmlformats.org/officeDocument/2006/relationships/image" Target="../media/image61.jpeg"/><Relationship Id="rId5" Type="http://schemas.openxmlformats.org/officeDocument/2006/relationships/image" Target="../media/image62.jpeg"/><Relationship Id="rId6" Type="http://schemas.openxmlformats.org/officeDocument/2006/relationships/image" Target="../media/image63.jpe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9541755" y="6597352"/>
            <a:ext cx="272352" cy="266131"/>
          </a:xfrm>
          <a:prstGeom prst="rect">
            <a:avLst/>
          </a:prstGeom>
          <a:solidFill>
            <a:srgbClr val="191F54"/>
          </a:solidFill>
          <a:ln>
            <a:solidFill>
              <a:srgbClr val="191F54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/>
          <p:cNvSpPr/>
          <p:nvPr/>
        </p:nvSpPr>
        <p:spPr>
          <a:xfrm>
            <a:off x="0" y="2650248"/>
            <a:ext cx="9906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44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LINE公式アカウント活用のご提案</a:t>
            </a:r>
            <a:endParaRPr lang="en-US" altLang="ja-JP" sz="4400" b="1" spc="-200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D77CEE-5E42-4BAB-83E5-A9C2DE05C891}"/>
              </a:ext>
            </a:extLst>
          </p:cNvPr>
          <p:cNvSpPr/>
          <p:nvPr/>
        </p:nvSpPr>
        <p:spPr>
          <a:xfrm>
            <a:off x="187885" y="186161"/>
            <a:ext cx="75238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/>
              <a:t>株式会社ビイサイドプランニング 御中</a:t>
            </a:r>
            <a:endParaRPr lang="en-US" altLang="ja-JP" b="1" cap="all" dirty="0">
              <a:ln w="9000" cmpd="sng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A3D0E9-B8A2-4AFC-ACA7-821EE615DBC3}"/>
              </a:ext>
            </a:extLst>
          </p:cNvPr>
          <p:cNvSpPr/>
          <p:nvPr/>
        </p:nvSpPr>
        <p:spPr>
          <a:xfrm>
            <a:off x="645972" y="3399029"/>
            <a:ext cx="8614056" cy="45719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288A21-60C7-C139-A247-DC9BC3FD3E52}"/>
              </a:ext>
            </a:extLst>
          </p:cNvPr>
          <p:cNvGrpSpPr/>
          <p:nvPr/>
        </p:nvGrpSpPr>
        <p:grpSpPr>
          <a:xfrm>
            <a:off x="5286064" y="3772997"/>
            <a:ext cx="1934257" cy="662664"/>
            <a:chOff x="5185984" y="3712612"/>
            <a:chExt cx="1934257" cy="662664"/>
          </a:xfrm>
        </p:grpSpPr>
        <p:sp>
          <p:nvSpPr>
            <p:cNvPr id="9" name="正方形/長方形 8"/>
            <p:cNvSpPr/>
            <p:nvPr/>
          </p:nvSpPr>
          <p:spPr>
            <a:xfrm>
              <a:off x="5185984" y="3859278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×</a:t>
              </a:r>
              <a:endParaRPr lang="ja-JP" altLang="en-US" dirty="0"/>
            </a:p>
          </p:txBody>
        </p:sp>
        <p:pic>
          <p:nvPicPr>
            <p:cNvPr id="12" name="Picture 4" descr="株式会社DYM — 世界で一番社会を変える会社を創る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8024" y="3712612"/>
              <a:ext cx="1262217" cy="662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/>
          <p:cNvSpPr txBox="1"/>
          <p:nvPr/>
        </p:nvSpPr>
        <p:spPr>
          <a:xfrm>
            <a:off x="1828800" y="3776472"/>
            <a:ext cx="324612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500" b="1">
                <a:solidFill>
                  <a:srgbClr val="1A2A5E"/>
                </a:solidFill>
                <a:latin typeface="Meiryo"/>
                <a:ea typeface="Meiryo"/>
              </a:rPr>
              <a:t>株式会社ビイサイドプランニング</a:t>
            </a:r>
          </a:p>
        </p:txBody>
      </p:sp>
    </p:spTree>
    <p:extLst>
      <p:ext uri="{BB962C8B-B14F-4D97-AF65-F5344CB8AC3E}">
        <p14:creationId xmlns:p14="http://schemas.microsoft.com/office/powerpoint/2010/main" val="193086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7;p2">
            <a:extLst>
              <a:ext uri="{FF2B5EF4-FFF2-40B4-BE49-F238E27FC236}">
                <a16:creationId xmlns:a16="http://schemas.microsoft.com/office/drawing/2014/main" id="{352DFCD7-1D17-ECBA-6B6B-640BED3836CD}"/>
              </a:ext>
            </a:extLst>
          </p:cNvPr>
          <p:cNvSpPr txBox="1"/>
          <p:nvPr/>
        </p:nvSpPr>
        <p:spPr>
          <a:xfrm>
            <a:off x="1170567" y="3136631"/>
            <a:ext cx="256693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目次</a:t>
            </a:r>
            <a:endParaRPr sz="32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A2F6FA-77D0-A271-D854-6929ADBED07E}"/>
              </a:ext>
            </a:extLst>
          </p:cNvPr>
          <p:cNvSpPr/>
          <p:nvPr/>
        </p:nvSpPr>
        <p:spPr>
          <a:xfrm>
            <a:off x="4926594" y="1210900"/>
            <a:ext cx="62651" cy="4436198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2E8983-8218-01B9-9CD5-932DF916F290}"/>
              </a:ext>
            </a:extLst>
          </p:cNvPr>
          <p:cNvSpPr txBox="1"/>
          <p:nvPr/>
        </p:nvSpPr>
        <p:spPr>
          <a:xfrm>
            <a:off x="5559552" y="13716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弊社のご紹介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8BFE4A0-282F-6F07-2D19-C145541699B5}"/>
              </a:ext>
            </a:extLst>
          </p:cNvPr>
          <p:cNvSpPr txBox="1"/>
          <p:nvPr/>
        </p:nvSpPr>
        <p:spPr>
          <a:xfrm>
            <a:off x="5559552" y="214884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ご与件の整理と課題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F19B48A4-8E57-5462-3F3F-2424A5BB1AAE}"/>
              </a:ext>
            </a:extLst>
          </p:cNvPr>
          <p:cNvSpPr txBox="1"/>
          <p:nvPr/>
        </p:nvSpPr>
        <p:spPr>
          <a:xfrm>
            <a:off x="5559552" y="448056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進行スケジュール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E6476A8-E44B-56D8-EA86-DB542A52992E}"/>
              </a:ext>
            </a:extLst>
          </p:cNvPr>
          <p:cNvSpPr txBox="1"/>
          <p:nvPr/>
        </p:nvSpPr>
        <p:spPr>
          <a:xfrm>
            <a:off x="5559552" y="52578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メディア運営強化・体制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3996C6-7085-76B9-1EFA-44D61B2A8E73}"/>
              </a:ext>
            </a:extLst>
          </p:cNvPr>
          <p:cNvSpPr txBox="1"/>
          <p:nvPr/>
        </p:nvSpPr>
        <p:spPr>
          <a:xfrm>
            <a:off x="5559552" y="370332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配信シミュレーション・費用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698A79-6E89-D3F1-868B-AB1D7060F6A4}"/>
              </a:ext>
            </a:extLst>
          </p:cNvPr>
          <p:cNvSpPr txBox="1"/>
          <p:nvPr/>
        </p:nvSpPr>
        <p:spPr>
          <a:xfrm>
            <a:off x="5559552" y="292608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LINE公式アカウント活用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DEC9-3AA0-CE9B-729E-2A37D8DC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3F0AFF7-8167-4CD6-88CB-40687DA87964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弊社のご紹介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EBB660-6A2B-C567-82B4-AE6D46ABEEA4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917393C5-431A-CBC0-8A2C-4ED8B735066D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B12405-9CA7-2DED-AD1F-9A1AAAD18FEC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Chapter.1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E59366-8380-4F50-2B77-2DBF8810BCB2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173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169424" y="2959994"/>
            <a:ext cx="3094400" cy="3408703"/>
          </a:xfrm>
          <a:prstGeom prst="rect">
            <a:avLst/>
          </a:prstGeom>
        </p:spPr>
        <p:txBody>
          <a:bodyPr vert="horz" wrap="square" lIns="0" tIns="29922" rIns="0" bIns="0" rtlCol="0">
            <a:spAutoFit/>
          </a:bodyPr>
          <a:lstStyle/>
          <a:p>
            <a:pPr marL="86826" indent="-80323">
              <a:spcBef>
                <a:spcPts val="235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DYMメディカルセンターベトナム（ベトナム・ホーチミン1区院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37754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Unit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B103,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plaza,39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Duan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Street,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Ben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Nghe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Ward,</a:t>
            </a:r>
            <a:r>
              <a:rPr sz="614" spc="7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District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Ho</a:t>
            </a:r>
            <a:r>
              <a:rPr sz="614" spc="5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Chi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City,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3521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0172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DYMベトナム（ベトナム・ホーチミン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Đ.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Võ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Văn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Ki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ệ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ườ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Cô</a:t>
            </a:r>
            <a:r>
              <a:rPr sz="614" spc="8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Giang,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Thành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ố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ồ</a:t>
            </a:r>
            <a:r>
              <a:rPr sz="614" spc="121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Chí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Samco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DYMアメリカ（アメリカ・ニューヨーク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97330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315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Madison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Avenue,Floor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17th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New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York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NY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10017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DYM⾹港（太古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4747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1302,13/F,Kornhill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PlazaOffice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Tower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Kornhill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road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Quarry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Bay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TEL︓+852-2651-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DYMタイ（タイ・バンコク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016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No.139,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RQ49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Floor,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541,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Soi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Klongton-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Wattana,Bangkok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</a:t>
            </a:r>
            <a:r>
              <a:rPr sz="614" spc="3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(0)94-725-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2301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DYMインターナショナルクリニック（タイ・バンコク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2356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593/29-41Soi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33/1,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Rd.,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Khlong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Tan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Watthana,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Bangkok</a:t>
            </a:r>
            <a:r>
              <a:rPr sz="614" spc="12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TEL︓+66(0)2-107-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1039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DYMメディカルクリニックインドネシア（インドネシア・ジャカルタ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7089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Menara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Astra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Lantai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3,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Jl.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Jenderal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Sudirman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KAV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5-6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Karet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Tengsin,Tanah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Abang,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Jakarta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Pusat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1022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TEL︓62-(0)21-8665-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6830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0111" y="913464"/>
            <a:ext cx="141937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株式会社DYM</a:t>
            </a:r>
            <a:r>
              <a:rPr sz="614" spc="2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(英語表記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co.,ltd)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003" y="906958"/>
            <a:ext cx="486570" cy="8121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algn="just">
              <a:spcBef>
                <a:spcPts val="51"/>
              </a:spcBef>
            </a:pPr>
            <a:r>
              <a:rPr sz="717" b="1" spc="138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     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 algn="just">
              <a:lnSpc>
                <a:spcPct val="220200"/>
              </a:lnSpc>
            </a:pPr>
            <a:r>
              <a:rPr sz="717" b="1" spc="24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代表取締役</a:t>
            </a:r>
            <a:r>
              <a:rPr sz="717" b="1" spc="-5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従 業 員 数</a:t>
            </a: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会 社 設 ⽴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0110" y="1160653"/>
            <a:ext cx="332403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spc="-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⽔⾕佑毅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0110" y="1401334"/>
            <a:ext cx="182658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連結2,744名、単体682名（2025年4⽉1⽇現在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0110" y="1642018"/>
            <a:ext cx="607887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2003年8⽉22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⽇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0110" y="1882700"/>
            <a:ext cx="40460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5,000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万円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0003" y="1869690"/>
            <a:ext cx="477462" cy="3555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資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⾦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034"/>
              </a:spcBef>
              <a:tabLst>
                <a:tab pos="375598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売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上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0110" y="2067440"/>
            <a:ext cx="1403766" cy="441559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74144">
              <a:lnSpc>
                <a:spcPct val="152800"/>
              </a:lnSpc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第23期売上⾼ 462.4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億円(連結⽬標)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第21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258.0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389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第19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161.1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06472" y="2067440"/>
            <a:ext cx="1459384" cy="455538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22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324.6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第20</a:t>
            </a:r>
            <a:r>
              <a:rPr sz="617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212.6</a:t>
            </a:r>
            <a:r>
              <a:rPr sz="617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spc="-13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18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134.2</a:t>
            </a:r>
            <a:r>
              <a:rPr lang="ja-JP" altLang="en-US" sz="617" spc="-1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ja-JP" altLang="en-US" sz="617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9802" y="2963897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関 連 会 社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0003" y="3144658"/>
            <a:ext cx="477462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所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在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0003" y="2624263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 業 内 容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6615" y="2773878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11993" algn="l"/>
                <a:tab pos="1330038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ウェルフェアステーション事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不動産仲介・オフィスコンサルティング事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6615" y="2916985"/>
            <a:ext cx="2478383" cy="3060161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431856" algn="l"/>
                <a:tab pos="549901" algn="l"/>
                <a:tab pos="951840" algn="l"/>
                <a:tab pos="1069559" algn="l"/>
                <a:tab pos="1632143" algn="l"/>
                <a:tab pos="1749863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M&amp;A事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医療事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スポーツ事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コールセンター事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1106"/>
              </a:spcBef>
              <a:buChar char="■"/>
              <a:tabLst>
                <a:tab pos="115769" algn="l"/>
              </a:tabLst>
            </a:pP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本社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043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東京都品川区⼤崎1-11-2</a:t>
            </a:r>
            <a:r>
              <a:rPr sz="614" spc="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ゲートシティ⼤崎イーストタワー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TEL︓03-5745-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0200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札幌事業所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69656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北海道札幌市北区北6条⻄1-3-8</a:t>
            </a:r>
            <a:r>
              <a:rPr sz="614" spc="2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⼭京ビル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TEL︓011-374-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6112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仙台事業所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7673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宮城県仙台市⻘葉区花京院1-1-20</a:t>
            </a:r>
            <a:r>
              <a:rPr sz="614" spc="4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花京院スクエア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TEL︓022-797-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5205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名古屋事業所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348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愛知県名古屋市中村区名駅⼀丁⽬1番1</a:t>
            </a:r>
            <a:r>
              <a:rPr sz="614" spc="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号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JP</a:t>
            </a:r>
            <a:r>
              <a:rPr sz="614" spc="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タワー名古屋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TEL︓052-485-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7676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65510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⼤阪府⼤阪市北区堂島2丁⽬2­2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近鉄堂島ビル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TEL︓06-6131-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6292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838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広島県広島市中区基町13-9</a:t>
            </a:r>
            <a:r>
              <a:rPr sz="614" spc="3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東洋証券広島スクエア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8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TEL︓082-846-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6873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86648">
              <a:lnSpc>
                <a:spcPct val="1528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福岡県福岡市中央区天神2-14-13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天神三井ビル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TEL︓092-751-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6602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94594" y="2916986"/>
            <a:ext cx="36980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4223" algn="l"/>
              </a:tabLst>
            </a:pP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飲⾷業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pic>
        <p:nvPicPr>
          <p:cNvPr id="28" name="図 2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65D9970-FA05-EC8A-5338-E713B104C1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27697" r="1459" b="1448"/>
          <a:stretch>
            <a:fillRect/>
          </a:stretch>
        </p:blipFill>
        <p:spPr>
          <a:xfrm>
            <a:off x="5349802" y="788749"/>
            <a:ext cx="4053408" cy="2000356"/>
          </a:xfrm>
          <a:prstGeom prst="rect">
            <a:avLst/>
          </a:prstGeom>
        </p:spPr>
      </p:pic>
      <p:sp>
        <p:nvSpPr>
          <p:cNvPr id="3" name="object 24">
            <a:extLst>
              <a:ext uri="{FF2B5EF4-FFF2-40B4-BE49-F238E27FC236}">
                <a16:creationId xmlns:a16="http://schemas.microsoft.com/office/drawing/2014/main" id="{F8531498-3EF8-652D-B021-8284A8139542}"/>
              </a:ext>
            </a:extLst>
          </p:cNvPr>
          <p:cNvSpPr txBox="1"/>
          <p:nvPr/>
        </p:nvSpPr>
        <p:spPr>
          <a:xfrm>
            <a:off x="1540110" y="2628313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13008">
              <a:spcBef>
                <a:spcPts val="1055"/>
              </a:spcBef>
              <a:tabLst>
                <a:tab pos="439986" algn="l"/>
                <a:tab pos="557705" algn="l"/>
                <a:tab pos="959644" algn="l"/>
                <a:tab pos="1077364" algn="l"/>
              </a:tabLst>
            </a:pPr>
            <a:r>
              <a:rPr lang="en" altLang="ja-JP"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WEB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⼈材事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研修事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エグゼパート事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投資育成事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lang="ja-JP" altLang="en-US" sz="614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5DA068-01CB-743E-56E0-1783126A615C}"/>
              </a:ext>
            </a:extLst>
          </p:cNvPr>
          <p:cNvSpPr/>
          <p:nvPr/>
        </p:nvSpPr>
        <p:spPr>
          <a:xfrm>
            <a:off x="521735" y="144518"/>
            <a:ext cx="5247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会社概要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業務範囲</a:t>
            </a:r>
          </a:p>
        </p:txBody>
      </p:sp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EC2E04F-6D64-47B8-91F6-F5449BBE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9" y="1117819"/>
            <a:ext cx="9336947" cy="492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64B00C-F14D-91EE-EE2B-CE390B92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788"/>
            <a:ext cx="5281651" cy="74532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557F50E-C22C-4446-CC4B-12375AD62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7" y="1250766"/>
            <a:ext cx="9568206" cy="524592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F4B95F-4E95-6689-E1EF-E9C4C4B8D8FE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21798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3D15C8-D3B0-6220-377A-AEDB99F2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"/>
          <a:stretch>
            <a:fillRect/>
          </a:stretch>
        </p:blipFill>
        <p:spPr>
          <a:xfrm>
            <a:off x="0" y="1013975"/>
            <a:ext cx="9881597" cy="548569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5CE1334-1393-1D43-894E-F405E5C0ED2E}"/>
              </a:ext>
            </a:extLst>
          </p:cNvPr>
          <p:cNvSpPr/>
          <p:nvPr/>
        </p:nvSpPr>
        <p:spPr>
          <a:xfrm>
            <a:off x="0" y="666650"/>
            <a:ext cx="4458878" cy="556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D524B95-ACC7-282E-9EA4-FFFCEE14C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54" y="596438"/>
            <a:ext cx="4746193" cy="69660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37628B-B04D-7C3B-0E95-D96EA8971096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351735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0AD337-A79C-3467-1945-9DC164C6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7" y="1289048"/>
            <a:ext cx="9459645" cy="522042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5420B2F-C285-DD0C-B4C2-7EA6B349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5" r="1"/>
          <a:stretch>
            <a:fillRect/>
          </a:stretch>
        </p:blipFill>
        <p:spPr>
          <a:xfrm>
            <a:off x="0" y="562202"/>
            <a:ext cx="4835573" cy="64779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E6A4B6-FFC1-8CD5-98BE-73C3E0908F31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292277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9C82CDF-ED3A-E422-C71E-89F82AC0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"/>
            <a:ext cx="9678751" cy="584916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A0897A-1863-1E08-A408-A16034FF4DAC}"/>
              </a:ext>
            </a:extLst>
          </p:cNvPr>
          <p:cNvSpPr/>
          <p:nvPr/>
        </p:nvSpPr>
        <p:spPr>
          <a:xfrm>
            <a:off x="8090262" y="609600"/>
            <a:ext cx="1558835" cy="48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B2FF0C-52D5-7024-1D1C-5EF784C48933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14147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50BC315-954B-5CC3-F006-5FE305224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1" y="609533"/>
            <a:ext cx="8817334" cy="6384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B6BDCB-A11D-98A7-C719-4AC2D5B22EAC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17D346-9399-7927-F888-031D294C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7" y="1293137"/>
            <a:ext cx="945964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9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795F1D-64A8-82FD-FC35-08568E76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701"/>
            <a:ext cx="9678751" cy="588727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9BFFE1-CF3E-F9E1-9CB4-A9D34A271A02}"/>
              </a:ext>
            </a:extLst>
          </p:cNvPr>
          <p:cNvSpPr/>
          <p:nvPr/>
        </p:nvSpPr>
        <p:spPr>
          <a:xfrm>
            <a:off x="521735" y="144518"/>
            <a:ext cx="458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78325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49C2BD-FABA-8776-A6BE-48E3BC3B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4" y="1266934"/>
            <a:ext cx="9521072" cy="521521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794034D-E76C-7C17-7D28-6FE1339CC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408"/>
            <a:ext cx="7248525" cy="68994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429ADB0-723A-E76E-020B-9881A571E75D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67607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6;p16"/>
          <p:cNvPicPr preferRelativeResize="0"/>
          <p:nvPr/>
        </p:nvPicPr>
        <p:blipFill rotWithShape="1">
          <a:blip r:embed="rId2">
            <a:alphaModFix/>
          </a:blip>
          <a:srcRect t="14658" b="1438"/>
          <a:stretch/>
        </p:blipFill>
        <p:spPr>
          <a:xfrm>
            <a:off x="144754" y="1318051"/>
            <a:ext cx="9689518" cy="506302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4" y="144518"/>
            <a:ext cx="71422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l="1012" b="-969"/>
          <a:stretch/>
        </p:blipFill>
        <p:spPr>
          <a:xfrm>
            <a:off x="0" y="619066"/>
            <a:ext cx="4571999" cy="7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5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4" y="144518"/>
            <a:ext cx="76933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55" y="1356536"/>
            <a:ext cx="8925041" cy="4960444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491"/>
            <a:ext cx="5486400" cy="70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8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5" y="144518"/>
            <a:ext cx="43224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弊社の強み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218"/>
            <a:ext cx="4622645" cy="733482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409700"/>
            <a:ext cx="9130465" cy="50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3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DCD6-5DC2-5860-ECFE-34F71C04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EAC3157-6E31-F16D-0835-82A7D28FE481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ご提案の全体像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9193CD-99FF-8381-458D-0EFDC97B37C6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C13FF028-C3B5-57E7-B29E-FEF1932CE993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8E24A9-B5FD-23BC-D7EE-F04C90522F0D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Chapter.2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386284-F5CB-0810-AE43-79DE1445F801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821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D44D-7235-166F-331C-FA7B72D0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>
            <a:extLst>
              <a:ext uri="{FF2B5EF4-FFF2-40B4-BE49-F238E27FC236}">
                <a16:creationId xmlns:a16="http://schemas.microsoft.com/office/drawing/2014/main" id="{FB7444B7-D5DF-A980-082D-209BFEDFDB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ja-JP" altLang="en-US" dirty="0"/>
              <a:t>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1D6B46-91B1-C0DE-6F1B-A72F4BE85B1B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ご与件の整理</a:t>
            </a:r>
          </a:p>
        </p:txBody>
      </p:sp>
      <p:sp>
        <p:nvSpPr>
          <p:cNvPr id="5" name="Google Shape;64;p3">
            <a:extLst>
              <a:ext uri="{FF2B5EF4-FFF2-40B4-BE49-F238E27FC236}">
                <a16:creationId xmlns:a16="http://schemas.microsoft.com/office/drawing/2014/main" id="{A7DF77A5-29E1-283A-D67C-CF9611890CA3}"/>
              </a:ext>
            </a:extLst>
          </p:cNvPr>
          <p:cNvSpPr txBox="1"/>
          <p:nvPr/>
        </p:nvSpPr>
        <p:spPr>
          <a:xfrm>
            <a:off x="501705" y="85085"/>
            <a:ext cx="3859901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  <a:buNone/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提案概要</a:t>
            </a:r>
            <a:endParaRPr kumimoji="1" sz="1600" spc="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C336C0E-A98D-5B65-4E2F-8CAB665A9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532733"/>
              </p:ext>
            </p:extLst>
          </p:nvPr>
        </p:nvGraphicFramePr>
        <p:xfrm>
          <a:off x="532486" y="1605590"/>
          <a:ext cx="8837604" cy="4174112"/>
        </p:xfrm>
        <a:graphic>
          <a:graphicData uri="http://schemas.openxmlformats.org/drawingml/2006/table">
            <a:tbl>
              <a:tblPr firstCol="1"/>
              <a:tblGrid>
                <a:gridCol w="2160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項目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内容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dirty="0" err="1">
                          <a:latin typeface="メイリオ"/>
                        </a:rPr>
                        <a:t>業界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人材・求人（合同企業面談会「しが就職・転職フェア」／求人メディア「vivical」運営）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 dirty="0" err="1">
                          <a:latin typeface="メイリオ"/>
                        </a:rPr>
                        <a:t>事業概要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滋賀県特化の就職・転職支援。年9会場規模の合同面談会で、出展企業と20〜30代求職者をマッチング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メイリオ"/>
                        </a:rPr>
                        <a:t>現状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Meta広告中心で申込単価 約10,000円・申込約80件。ただし来場率が6〜7割に留まり、来場ベースの単価が悪化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74430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目標KPI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b="1">
                          <a:latin typeface="メイリオ"/>
                        </a:rPr>
                        <a:t>申込単価10,000円を維持したまま、来場数・来場単価を改善する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想定月額予算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月額100万円（現状の広告予算と同規模）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配信エリア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滋賀県全域（東近江・草津・甲賀・彦根の4会場圏を軸に設定）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7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直近日程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8/28(金)エントリー受付開始 → 9/26 東近江・10/3 草津・10/31 水口・11/8 彦根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17476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現状分析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申込単価は目標水準を達成済み。課題は申込→来場で約3割を取りこぼす構造にある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参照元：貴社ヒアリング（2026年7月／申込単価 約1万円・申込約80件・来場率6〜7割）に基づく概算モデル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2679192" cy="1874519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24963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2A5E"/>
                </a:solidFill>
                <a:latin typeface="Meiryo"/>
                <a:ea typeface="Meiryo"/>
              </a:rPr>
              <a:t>SNS広告 → 申込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24963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1A2A5E"/>
                </a:solidFill>
                <a:latin typeface="Meiryo"/>
                <a:ea typeface="Meiryo"/>
              </a:rPr>
              <a:t>80件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2496312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申込単価 10,000円（目標達成）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148840"/>
            <a:ext cx="2679192" cy="1874519"/>
          </a:xfrm>
          <a:prstGeom prst="roundRect">
            <a:avLst/>
          </a:prstGeom>
          <a:solidFill>
            <a:srgbClr val="FCEAC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286000"/>
            <a:ext cx="24963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2A5E"/>
                </a:solidFill>
                <a:latin typeface="Meiryo"/>
                <a:ea typeface="Meiryo"/>
              </a:rPr>
              <a:t>申込 → 来場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97480"/>
            <a:ext cx="24963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39800"/>
                </a:solidFill>
                <a:latin typeface="Meiryo"/>
                <a:ea typeface="Meiryo"/>
              </a:rPr>
              <a:t>52名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474720"/>
            <a:ext cx="2496312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来場率 65%｜28件を取りこぼし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148840"/>
            <a:ext cx="2679192" cy="1874519"/>
          </a:xfrm>
          <a:prstGeom prst="roundRect">
            <a:avLst/>
          </a:prstGeom>
          <a:solidFill>
            <a:srgbClr val="FCEAC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79" y="2286000"/>
            <a:ext cx="249631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2A5E"/>
                </a:solidFill>
                <a:latin typeface="Meiryo"/>
                <a:ea typeface="Meiryo"/>
              </a:rPr>
              <a:t>実質の来場単価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2697480"/>
            <a:ext cx="24963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F39800"/>
                </a:solidFill>
                <a:latin typeface="Meiryo"/>
                <a:ea typeface="Meiryo"/>
              </a:rPr>
              <a:t>約15,400円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3474720"/>
            <a:ext cx="2496312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申込単価の約1.5倍に悪化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36976" y="2944368"/>
            <a:ext cx="292608" cy="329184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6345936" y="2944368"/>
            <a:ext cx="292608" cy="329184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34840"/>
            <a:ext cx="8897112" cy="96012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34840"/>
            <a:ext cx="8531352" cy="9601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主施策 ＝ LINE公式アカウントで「取りこぼしの3割」を回収し、来場率を改善する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</a:rPr>
              <a:t>広告側は現状の勝ちパターン（申込単価1万円）を維持する前提。伸びしろを来場率に集中させる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ご提案の全体像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目の前のフェアの来場率と、次につながる友だち資産。LINEで二段の成果を設計する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※来場率の改善幅は仮説値です。会場ごとの実測値で見直します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86207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103120"/>
            <a:ext cx="2862072" cy="566928"/>
          </a:xfrm>
          <a:prstGeom prst="round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103120"/>
            <a:ext cx="27157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</a:rPr>
              <a:t>① フェア来場率の改善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43400"/>
            <a:ext cx="264261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39800"/>
                </a:solidFill>
                <a:latin typeface="Meiryo"/>
                <a:ea typeface="Meiryo"/>
              </a:rPr>
              <a:t>KPI：来場率 65% → 85%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103120"/>
            <a:ext cx="286207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11880" y="2103120"/>
            <a:ext cx="2862072" cy="566928"/>
          </a:xfrm>
          <a:prstGeom prst="round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103120"/>
            <a:ext cx="27157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</a:rPr>
              <a:t>② 友だち資産の通年活用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343400"/>
            <a:ext cx="264261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39800"/>
                </a:solidFill>
                <a:latin typeface="Meiryo"/>
                <a:ea typeface="Meiryo"/>
              </a:rPr>
              <a:t>KPI：次回フェアへ再送客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103120"/>
            <a:ext cx="286207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2103120"/>
            <a:ext cx="2862072" cy="566928"/>
          </a:xfrm>
          <a:prstGeom prst="round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2103120"/>
            <a:ext cx="27157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</a:rPr>
              <a:t>③ メディア運営強化(＋α)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7" y="2834640"/>
            <a:ext cx="2496312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・求人vivicalのSEO・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　応募導線を改善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・広告に依存しない応募基盤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4343400"/>
            <a:ext cx="264261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39800"/>
                </a:solidFill>
                <a:latin typeface="Meiryo"/>
                <a:ea typeface="Meiryo"/>
              </a:rPr>
              <a:t>KPI：自然流入・通年応募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57800"/>
            <a:ext cx="8897112" cy="566928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57800"/>
            <a:ext cx="853135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A2A5E"/>
                </a:solidFill>
                <a:latin typeface="Meiryo"/>
                <a:ea typeface="Meiryo"/>
              </a:rPr>
              <a:t>①は 8/28(金)エントリー受付開始 と同時に稼働／②③は9月以降の中期テーマとして並走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2834640"/>
            <a:ext cx="2496312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・前日・当日朝のリマインドで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　「忘れによる不来場」を防止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・不来場者は翌日に次会場へ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　振替をご案内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048" y="2834640"/>
            <a:ext cx="2496312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・新着求人・特集の定期配信で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　登録者との接点を維持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・次回フェアを友だちへ先行案内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87168" y="1938528"/>
            <a:ext cx="877824" cy="329184"/>
          </a:xfrm>
          <a:prstGeom prst="roundRect">
            <a:avLst/>
          </a:prstGeom>
          <a:solidFill>
            <a:srgbClr val="F3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7168" y="1938528"/>
            <a:ext cx="877824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主施策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LINE公式アカウント活用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申込完了からLINEへ自動接続し、1回の申込を4会場すべての来場チャンスに変える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参照元：しが就職・転職フェア公式LP（開催日程・来場特典・公式LINE）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039112" cy="1188720"/>
          </a:xfrm>
          <a:prstGeom prst="round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Meiryo"/>
                <a:ea typeface="Meiryo"/>
              </a:rPr>
              <a:t>フォーム申込完了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eiryo"/>
                <a:ea typeface="Meiryo"/>
              </a:rPr>
              <a:t>現状のCV地点は変えない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69463" y="2532888"/>
            <a:ext cx="237744" cy="310896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39" y="2103120"/>
            <a:ext cx="2039112" cy="1188720"/>
          </a:xfrm>
          <a:prstGeom prst="roundRect">
            <a:avLst/>
          </a:prstGeom>
          <a:solidFill>
            <a:srgbClr val="1A2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59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LINE友だち追加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59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完了ページで案内。特典・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自己紹介シートの受取窓口に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01183" y="2532888"/>
            <a:ext cx="237744" cy="310896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59" y="2103120"/>
            <a:ext cx="2039112" cy="1188720"/>
          </a:xfrm>
          <a:prstGeom prst="roundRect">
            <a:avLst/>
          </a:prstGeom>
          <a:solidFill>
            <a:srgbClr val="1A2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リマインド配信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1週間前・前日・当日朝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32903" y="2532888"/>
            <a:ext cx="237744" cy="310896"/>
          </a:xfrm>
          <a:prstGeom prst="rightArrow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79" y="2103120"/>
            <a:ext cx="2039112" cy="1188720"/>
          </a:xfrm>
          <a:prstGeom prst="roundRect">
            <a:avLst/>
          </a:prstGeom>
          <a:solidFill>
            <a:srgbClr val="1A2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212848"/>
            <a:ext cx="194767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来場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615184"/>
            <a:ext cx="1947672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受付で予約確認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</a:rPr>
              <a:t>→お礼・次回案内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75320" y="3364992"/>
            <a:ext cx="310896" cy="274320"/>
          </a:xfrm>
          <a:prstGeom prst="downArrow">
            <a:avLst/>
          </a:prstGeom>
          <a:solidFill>
            <a:srgbClr val="F3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703320"/>
            <a:ext cx="8897112" cy="868680"/>
          </a:xfrm>
          <a:prstGeom prst="roundRect">
            <a:avLst/>
          </a:prstGeom>
          <a:solidFill>
            <a:srgbClr val="FCEACF"/>
          </a:solidFill>
          <a:ln w="9525">
            <a:solidFill>
              <a:srgbClr val="F3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843991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Meiryo"/>
                <a:ea typeface="Meiryo"/>
              </a:rPr>
              <a:t>不来場でも終わらせない：翌日に「次回は10/3草津で開催」と振替をご案内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Meiryo"/>
                <a:ea typeface="Meiryo"/>
              </a:rPr>
              <a:t>9/26 東近江 → 10/3 草津 → 10/31 水口 → 11/8 彦根 の4会場リレーで、1件の申込を使い切る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46320"/>
            <a:ext cx="8897112" cy="109728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19472"/>
            <a:ext cx="8439912" cy="9509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A5E"/>
                </a:solidFill>
                <a:latin typeface="Meiryo"/>
                <a:ea typeface="Meiryo"/>
              </a:rPr>
              <a:t>実装ポイント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・既存の「vivical正社員」公式LINEをそのまま活用（新規開設は不要）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・受付での予約確認で来場を計測し、不来場者への振替配信とシミュレーション更新に活用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LINE公式アカウント活用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登録直後から不来場フォローまで自動配信し、「忘れによる不来場」を仕組みで防ぐ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691640"/>
          <a:ext cx="9171432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846320"/>
                <a:gridCol w="277063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タイミング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配信内容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狙い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申込直後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受付完了メッセージ＋開催概要・よくある質問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友だち化・不安解消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1週間前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自己紹介シートの配布・記入のご案内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当日スムーズ入場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前日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会場アクセス・受付時間(12:30〜)・服装自由のリマインド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不来場の防止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当日朝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「本日13時開催」＋会場マップ＋500円ギフトのご案内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最後のひと押し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来場翌日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お礼＋簡易アンケート＋次回会場のご案内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満足度把握・再来場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不来場翌日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「次回は10/3草津」など次会場への振替のご案内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申込の再活用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以降 週1回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vivicalの新着求人・特集の定期配信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通年ナーチャリング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※配信文面・頻度は貴社と協議の上で確定し、ブロック率を確認しながら調整します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配信シミュレーション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広告は現状のまま。来場率+20ptで、LINE費用を含めても来場単価は約19%改善する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691640"/>
          <a:ext cx="9171432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9112"/>
                <a:gridCol w="237744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現状（参考値）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ご提案①（保守）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ご提案②（標準）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広告費（変更なし）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80万円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申込単価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10,000円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10,000円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10,000円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申込数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80件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来場率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65%（6〜7割）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来場数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52名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60名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68名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来場単価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約15,400円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約13,300円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約11,800円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LINE費用込み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来場単価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約14,200円（▲8%）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約12,500円（▲19%）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参照元：現状値は貴社ヒアリング（2026年7月）。来場率75%/85%は仮説値。LINE費用は月5万円（初動設計）を仮置きし初期費用は含まない（試算参考値）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LINE公式アカウント 費用プラン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本件は「初動設計＋運用代行」の組み合わせを想定し、8/28までの短期構築に最適化する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3931920"/>
                <a:gridCol w="14630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プラン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初期費用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月額費用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初動設計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（本件推奨）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フォーム完了→LINE遷移・ステップ配信・リッチメニュー等の初期構築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10万円〜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5万円〜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運用代行・効率改善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（本件推奨）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配信運用・セグメント管理・4会場ごとのPDCA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10万円〜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0円〜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（アカウント費のみ）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コンサルティング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企画立案・分析・定例会までのフル支援（月3〜9投稿）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10万円〜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20万円〜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成果報酬型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成果1件あたりの単価×成果数＋固定費（アカウント費等）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5万円〜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成果連動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※金額は標準体系の目安（税抜）。契約期間6か月〜。LINE公式アカウント利用料・APIツール等の実費は別途。正式条件は個別お見積りにてご提示します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5074920"/>
            <a:ext cx="9171432" cy="73152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8805672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2A5E"/>
                </a:solidFill>
                <a:latin typeface="Meiryo"/>
                <a:ea typeface="Meiryo"/>
              </a:rPr>
              <a:t>基本費用内（無償）で対応：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Meiryo"/>
                <a:ea typeface="Meiryo"/>
              </a:rPr>
              <a:t>アカウント開設／リッチメニュー／あいさつ設定／ステップ・セグメント配信の設定／タグ管理／レポート／定例会 など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進行スケジュール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8/28の受付開始までに動線を構築し、今期4会場すべてで効果検証する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846320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時期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進行内容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ご協力いただきたい事項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8月中旬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ご発注・キックオフ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ご発注のご判断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8月中〜下旬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LINE動線構築（完了ページ遷移・ステップ配信・リッチメニュー等）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来場計測の設計（受付での予約確認フロー）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公式LINEの管理権限共有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申込完了ページへの導線設置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8/28(金)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エントリー受付開始 ＝ LINE動線 稼働開始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9/26〜11/8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4会場で運用（東近江→草津→水口→彦根）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会場ごとに来場実測値でPDCA・シミュレーション更新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会場での来場実績の共有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12月〜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通年ナーチャリング・メディア運営強化フェーズへ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次期開催計画のご共有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※スケジュールはご発注時期により前後します。8/28受付開始への間に合わせを最優先します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504C-5147-787D-2380-F39B7143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A588532-12F9-06DF-F5FA-4B4D2B87DF7D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メディア運営強化（＋α）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D927B4-5023-01A9-4B5D-7E6FF0874F88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73217C47-97C7-0499-D2AF-59EC1F23E8E6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70566C-24C0-AE77-16D9-C3D165ABABEB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Chapter.3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1CA16B-DE31-E5A6-189A-38352C2E583D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7349624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メディア運営強化（＋α）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掲載607件の自社メディアを、広告に依存しない通年の応募基盤へ育てる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514600"/>
          <a:ext cx="9171432" cy="2596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206240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打ち手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期待効果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検索流入の拡大（SEO）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「職種×市区町村」ページの拡充・サイト内部構造の最適化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地域求人キーワードの受け皿を最大化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コンテンツ強化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面接対策などの記事から、フェア申込・LINE登録へ回遊する導線設計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記事読者を応募・友だちへ転換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応募CVR改善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応募フォームの改善・LINE応募導線の追加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サイト訪問者もLINEで資産化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参照元：求人vivical滋賀 公式サイト（2026年8月時点・掲載607件）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en-US" altLang="ja-JP" sz="900" b="1">
                <a:solidFill>
                  <a:srgbClr val="FFFFFF"/>
                </a:solidFill>
                <a:latin typeface="Meiryo"/>
              </a:rPr>
              <a:t>21</a:t>
            </a:fld>
            <a:endParaRPr lang="ja-JP" sz="900" b="1">
              <a:solidFill>
                <a:srgbClr val="FFFFFF"/>
              </a:solidFill>
              <a:latin typeface="Meiry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1691640"/>
            <a:ext cx="9171432" cy="640080"/>
          </a:xfrm>
          <a:prstGeom prst="rect">
            <a:avLst/>
          </a:prstGeom>
          <a:solidFill>
            <a:srgbClr val="F1F3F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88056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2A5E"/>
                </a:solidFill>
                <a:latin typeface="Meiryo"/>
                <a:ea typeface="Meiryo"/>
              </a:rPr>
              <a:t>現状：求人vivical滋賀 ＝ 掲載607件・15職種・滋賀全域＋近隣県。会員登録・応募導線、ノウハウ記事を保有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349240"/>
            <a:ext cx="9171432" cy="56692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8805672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eiryo"/>
                <a:ea typeface="Meiryo"/>
              </a:rPr>
              <a:t>まずは無料のサイト診断（アクセス・流入構成の拝見）から、具体的な運用プランをご提示します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1;p37"/>
          <p:cNvSpPr/>
          <p:nvPr/>
        </p:nvSpPr>
        <p:spPr>
          <a:xfrm>
            <a:off x="300536" y="841196"/>
            <a:ext cx="5377057" cy="447277"/>
          </a:xfrm>
          <a:prstGeom prst="roundRect">
            <a:avLst>
              <a:gd name="adj" fmla="val 8900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【無償対応】制作可能なデザイン数の目安（3か月単位）</a:t>
            </a:r>
            <a:endParaRPr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Google Shape;1102;p37"/>
          <p:cNvSpPr/>
          <p:nvPr/>
        </p:nvSpPr>
        <p:spPr>
          <a:xfrm>
            <a:off x="5698853" y="874212"/>
            <a:ext cx="42847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月額広告費用に対して手数料率20％をベースとして算出しております。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下記対応本数はあくまで</a:t>
            </a:r>
            <a:r>
              <a:rPr lang="ja-JP" sz="1100" b="1" i="0" u="sng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上限参考</a:t>
            </a: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となり、効果により上下します。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4" name="Google Shape;1103;p37"/>
          <p:cNvGraphicFramePr/>
          <p:nvPr/>
        </p:nvGraphicFramePr>
        <p:xfrm>
          <a:off x="562955" y="1496289"/>
          <a:ext cx="3327400" cy="1437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付与Pt/期間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¥10,000,000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Google Shape;1104;p37"/>
          <p:cNvSpPr txBox="1"/>
          <p:nvPr/>
        </p:nvSpPr>
        <p:spPr>
          <a:xfrm>
            <a:off x="210938" y="3186537"/>
            <a:ext cx="513414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▽ご利用イメージ </a:t>
            </a:r>
            <a:r>
              <a:rPr lang="ja-JP" sz="12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（※最低３ヶ月~ の契約とさせていただきます）</a:t>
            </a:r>
            <a:endParaRPr sz="1200" b="1" i="0" u="none" strike="noStrike" cap="none" dirty="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6" name="Google Shape;1105;p37"/>
          <p:cNvGraphicFramePr/>
          <p:nvPr/>
        </p:nvGraphicFramePr>
        <p:xfrm>
          <a:off x="562957" y="3516283"/>
          <a:ext cx="8543900" cy="2435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付与Pt/月別</a:t>
                      </a:r>
                      <a:endParaRPr sz="9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使用Pt/期間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なし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バナー7パターン(7pt)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バナー3パターン(3pt)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900" b="0" i="0" u="none" strike="noStrike" cap="none" dirty="0">
                        <a:solidFill>
                          <a:srgbClr val="FF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oogle Shape;1106;p37"/>
          <p:cNvGraphicFramePr/>
          <p:nvPr/>
        </p:nvGraphicFramePr>
        <p:xfrm>
          <a:off x="4277185" y="1505389"/>
          <a:ext cx="4829700" cy="1428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1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制作メニュー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備考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必要Pt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（リサイズ込）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（パターン複製）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（リサイズなど）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Google Shape;1107;p37"/>
          <p:cNvSpPr/>
          <p:nvPr/>
        </p:nvSpPr>
        <p:spPr>
          <a:xfrm>
            <a:off x="568265" y="6004659"/>
            <a:ext cx="66441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3ヶ月を1契約期間とし、Pt持ち越しは原則行いません。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4ヶ月目以降に関しては、再度ご相談の上で無償対策量を決定いたします。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47">
            <a:extLst>
              <a:ext uri="{FF2B5EF4-FFF2-40B4-BE49-F238E27FC236}">
                <a16:creationId xmlns:a16="http://schemas.microsoft.com/office/drawing/2014/main" id="{EEA0A5E5-1C00-480C-A6B5-B757AC55500B}"/>
              </a:ext>
            </a:extLst>
          </p:cNvPr>
          <p:cNvSpPr txBox="1">
            <a:spLocks noChangeArrowheads="1"/>
          </p:cNvSpPr>
          <p:nvPr/>
        </p:nvSpPr>
        <p:spPr>
          <a:xfrm>
            <a:off x="538802" y="131742"/>
            <a:ext cx="70784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auto">
              <a:spcBef>
                <a:spcPct val="20000"/>
              </a:spcBef>
              <a:spcAft>
                <a:spcPts val="0"/>
              </a:spcAft>
            </a:pPr>
            <a:r>
              <a:rPr lang="ja-JP" altLang="en-US" sz="1600" b="1" spc="277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クリエイティブに関して</a:t>
            </a:r>
          </a:p>
        </p:txBody>
      </p:sp>
    </p:spTree>
    <p:extLst>
      <p:ext uri="{BB962C8B-B14F-4D97-AF65-F5344CB8AC3E}">
        <p14:creationId xmlns:p14="http://schemas.microsoft.com/office/powerpoint/2010/main" val="2539015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9D71-896C-7AE2-51E3-267E422B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F62979-289B-7D31-00DC-E435CBDAA4E1}"/>
              </a:ext>
            </a:extLst>
          </p:cNvPr>
          <p:cNvSpPr txBox="1"/>
          <p:nvPr/>
        </p:nvSpPr>
        <p:spPr>
          <a:xfrm>
            <a:off x="2302379" y="251652"/>
            <a:ext cx="515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84F379E-92FC-0EFC-0648-4BDEB53E703A}"/>
              </a:ext>
            </a:extLst>
          </p:cNvPr>
          <p:cNvSpPr/>
          <p:nvPr/>
        </p:nvSpPr>
        <p:spPr>
          <a:xfrm>
            <a:off x="0" y="3013501"/>
            <a:ext cx="99567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b="1" spc="3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体制について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2D251B4-EB82-B5D7-B578-6818DEE80171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B045B048-0F03-F943-2959-BB4FD6029862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B75F47-2EAD-DED4-5DB6-862B994DCBF5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Chapter.4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5690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E416A61-B302-4BF8-8730-14A0C8808ABA}"/>
              </a:ext>
            </a:extLst>
          </p:cNvPr>
          <p:cNvSpPr/>
          <p:nvPr/>
        </p:nvSpPr>
        <p:spPr>
          <a:xfrm>
            <a:off x="0" y="577940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E7EFC7D-B7AF-4F5F-A5EE-DC1CF6812281}"/>
              </a:ext>
            </a:extLst>
          </p:cNvPr>
          <p:cNvSpPr/>
          <p:nvPr/>
        </p:nvSpPr>
        <p:spPr>
          <a:xfrm>
            <a:off x="6775971" y="2491815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CF9FEBC-45F2-4FAC-85EA-6585A7BD003A}"/>
              </a:ext>
            </a:extLst>
          </p:cNvPr>
          <p:cNvSpPr/>
          <p:nvPr/>
        </p:nvSpPr>
        <p:spPr>
          <a:xfrm>
            <a:off x="2183068" y="2490480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EBAA8CBA-DA12-4557-BF83-1BC8182E34D6}"/>
              </a:ext>
            </a:extLst>
          </p:cNvPr>
          <p:cNvSpPr/>
          <p:nvPr/>
        </p:nvSpPr>
        <p:spPr>
          <a:xfrm>
            <a:off x="4568622" y="5565259"/>
            <a:ext cx="2593112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・バナー制作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・動画制作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909655E-EBEC-46F0-AA81-70B478469DD0}"/>
              </a:ext>
            </a:extLst>
          </p:cNvPr>
          <p:cNvSpPr/>
          <p:nvPr/>
        </p:nvSpPr>
        <p:spPr>
          <a:xfrm>
            <a:off x="384687" y="5571105"/>
            <a:ext cx="4020630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・入稿作業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10A909E8-C5F8-496D-85DA-20041A2AA73B}"/>
              </a:ext>
            </a:extLst>
          </p:cNvPr>
          <p:cNvSpPr/>
          <p:nvPr/>
        </p:nvSpPr>
        <p:spPr>
          <a:xfrm>
            <a:off x="2656404" y="4171951"/>
            <a:ext cx="2091813" cy="560933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・クリエイティブディレクション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35F2DCF1-E97E-4FE4-B996-90411A667116}"/>
              </a:ext>
            </a:extLst>
          </p:cNvPr>
          <p:cNvSpPr/>
          <p:nvPr/>
        </p:nvSpPr>
        <p:spPr>
          <a:xfrm>
            <a:off x="384687" y="3041049"/>
            <a:ext cx="4377813" cy="371471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6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取り組み体制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AEF6E63-47A4-4978-9853-A9B3DA58DBC0}"/>
              </a:ext>
            </a:extLst>
          </p:cNvPr>
          <p:cNvSpPr/>
          <p:nvPr/>
        </p:nvSpPr>
        <p:spPr>
          <a:xfrm>
            <a:off x="384687" y="2685704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広告運用統括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戦略コンサル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DA77D064-C94F-4890-A80B-4336A4D8D89D}"/>
              </a:ext>
            </a:extLst>
          </p:cNvPr>
          <p:cNvSpPr/>
          <p:nvPr/>
        </p:nvSpPr>
        <p:spPr>
          <a:xfrm>
            <a:off x="384687" y="5321352"/>
            <a:ext cx="4020630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運用サポート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552973B-DC8F-48E2-BA86-2FB98F76EB81}"/>
              </a:ext>
            </a:extLst>
          </p:cNvPr>
          <p:cNvSpPr/>
          <p:nvPr/>
        </p:nvSpPr>
        <p:spPr>
          <a:xfrm>
            <a:off x="4568622" y="5315506"/>
            <a:ext cx="2593112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0EFCAE9-2B25-4FEF-BBD9-5EA944752B1D}"/>
              </a:ext>
            </a:extLst>
          </p:cNvPr>
          <p:cNvSpPr/>
          <p:nvPr/>
        </p:nvSpPr>
        <p:spPr>
          <a:xfrm>
            <a:off x="2656404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9310468-21A6-4B66-BC56-CCC5F6874444}"/>
              </a:ext>
            </a:extLst>
          </p:cNvPr>
          <p:cNvSpPr/>
          <p:nvPr/>
        </p:nvSpPr>
        <p:spPr>
          <a:xfrm>
            <a:off x="3606606" y="4813810"/>
            <a:ext cx="2435284" cy="1995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F922913-1B91-431A-8799-C026700970ED}"/>
              </a:ext>
            </a:extLst>
          </p:cNvPr>
          <p:cNvSpPr/>
          <p:nvPr/>
        </p:nvSpPr>
        <p:spPr>
          <a:xfrm>
            <a:off x="384687" y="1962153"/>
            <a:ext cx="9064113" cy="52832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・お申込書やご請求書等、契約周りのやり取り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6643843-3FE5-430B-B120-9C828A9A4E4D}"/>
              </a:ext>
            </a:extLst>
          </p:cNvPr>
          <p:cNvSpPr/>
          <p:nvPr/>
        </p:nvSpPr>
        <p:spPr>
          <a:xfrm>
            <a:off x="5080512" y="3038476"/>
            <a:ext cx="4368289" cy="374045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・お申込書やご請求書の作成等、事務面までサポート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FE89FBD-BF37-47F6-A485-903D88526BC1}"/>
              </a:ext>
            </a:extLst>
          </p:cNvPr>
          <p:cNvSpPr/>
          <p:nvPr/>
        </p:nvSpPr>
        <p:spPr>
          <a:xfrm>
            <a:off x="384687" y="1611919"/>
            <a:ext cx="9073638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フロント対応（全体統括）</a:t>
            </a:r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93414EB5-833E-4B6F-9C05-5A82DBFCD8B3}"/>
              </a:ext>
            </a:extLst>
          </p:cNvPr>
          <p:cNvSpPr/>
          <p:nvPr/>
        </p:nvSpPr>
        <p:spPr>
          <a:xfrm>
            <a:off x="1011614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矢印: 下 80">
            <a:extLst>
              <a:ext uri="{FF2B5EF4-FFF2-40B4-BE49-F238E27FC236}">
                <a16:creationId xmlns:a16="http://schemas.microsoft.com/office/drawing/2014/main" id="{C5898C2B-9033-461D-8A0A-625951E6ECE6}"/>
              </a:ext>
            </a:extLst>
          </p:cNvPr>
          <p:cNvSpPr/>
          <p:nvPr/>
        </p:nvSpPr>
        <p:spPr>
          <a:xfrm>
            <a:off x="3187627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469D74A-A48B-4EE7-A468-771807FC99AF}"/>
              </a:ext>
            </a:extLst>
          </p:cNvPr>
          <p:cNvSpPr/>
          <p:nvPr/>
        </p:nvSpPr>
        <p:spPr>
          <a:xfrm>
            <a:off x="384687" y="4171951"/>
            <a:ext cx="2091813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4AE3D69-ECE1-425C-821D-9514146C16D0}"/>
              </a:ext>
            </a:extLst>
          </p:cNvPr>
          <p:cNvSpPr/>
          <p:nvPr/>
        </p:nvSpPr>
        <p:spPr>
          <a:xfrm>
            <a:off x="384687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LINE公式アカウント運用</a:t>
            </a:r>
          </a:p>
        </p:txBody>
      </p:sp>
      <p:sp>
        <p:nvSpPr>
          <p:cNvPr id="93" name="矢印: 下 92">
            <a:extLst>
              <a:ext uri="{FF2B5EF4-FFF2-40B4-BE49-F238E27FC236}">
                <a16:creationId xmlns:a16="http://schemas.microsoft.com/office/drawing/2014/main" id="{10539C9A-84F2-493E-87A3-603687A7289E}"/>
              </a:ext>
            </a:extLst>
          </p:cNvPr>
          <p:cNvSpPr/>
          <p:nvPr/>
        </p:nvSpPr>
        <p:spPr>
          <a:xfrm>
            <a:off x="1011613" y="4732883"/>
            <a:ext cx="837957" cy="560932"/>
          </a:xfrm>
          <a:prstGeom prst="downArrow">
            <a:avLst>
              <a:gd name="adj1" fmla="val 50000"/>
              <a:gd name="adj2" fmla="val 2962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矢印: 下 93">
            <a:extLst>
              <a:ext uri="{FF2B5EF4-FFF2-40B4-BE49-F238E27FC236}">
                <a16:creationId xmlns:a16="http://schemas.microsoft.com/office/drawing/2014/main" id="{DB5EB9E2-E7A1-47CB-BBAF-E3BF8FD997CA}"/>
              </a:ext>
            </a:extLst>
          </p:cNvPr>
          <p:cNvSpPr/>
          <p:nvPr/>
        </p:nvSpPr>
        <p:spPr>
          <a:xfrm>
            <a:off x="3187627" y="4746652"/>
            <a:ext cx="837957" cy="560932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矢印: 下 132">
            <a:extLst>
              <a:ext uri="{FF2B5EF4-FFF2-40B4-BE49-F238E27FC236}">
                <a16:creationId xmlns:a16="http://schemas.microsoft.com/office/drawing/2014/main" id="{B849FD0E-FC23-4EDF-A0D3-44E316662AFF}"/>
              </a:ext>
            </a:extLst>
          </p:cNvPr>
          <p:cNvSpPr/>
          <p:nvPr/>
        </p:nvSpPr>
        <p:spPr>
          <a:xfrm>
            <a:off x="5439645" y="4813809"/>
            <a:ext cx="837957" cy="480005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5181B3B-7215-486E-A45F-1A27D9A313A0}"/>
              </a:ext>
            </a:extLst>
          </p:cNvPr>
          <p:cNvSpPr/>
          <p:nvPr/>
        </p:nvSpPr>
        <p:spPr>
          <a:xfrm>
            <a:off x="5080512" y="2685703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フロント対応（サブ）</a:t>
            </a: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5FA12942-71A1-48A4-BC87-97757C5B3EB2}"/>
              </a:ext>
            </a:extLst>
          </p:cNvPr>
          <p:cNvSpPr/>
          <p:nvPr/>
        </p:nvSpPr>
        <p:spPr>
          <a:xfrm>
            <a:off x="7245607" y="4472585"/>
            <a:ext cx="2206784" cy="2602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媒体担当</a:t>
            </a: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5087800-6208-4E3C-91FB-0077440A00B8}"/>
              </a:ext>
            </a:extLst>
          </p:cNvPr>
          <p:cNvSpPr/>
          <p:nvPr/>
        </p:nvSpPr>
        <p:spPr>
          <a:xfrm>
            <a:off x="7245607" y="4732883"/>
            <a:ext cx="2203194" cy="1393308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b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各媒体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1~2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名ほど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itchFamily="50" charset="-128"/>
            </a:endParaRPr>
          </a:p>
        </p:txBody>
      </p:sp>
      <p:pic>
        <p:nvPicPr>
          <p:cNvPr id="3" name="図 2" descr="ロゴ, アイコン&#10;&#10;自動的に生成された説明">
            <a:extLst>
              <a:ext uri="{FF2B5EF4-FFF2-40B4-BE49-F238E27FC236}">
                <a16:creationId xmlns:a16="http://schemas.microsoft.com/office/drawing/2014/main" id="{E3044091-F452-42DD-A626-70D355490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7" y="5323520"/>
            <a:ext cx="378896" cy="375287"/>
          </a:xfrm>
          <a:prstGeom prst="rect">
            <a:avLst/>
          </a:prstGeom>
        </p:spPr>
      </p:pic>
      <p:pic>
        <p:nvPicPr>
          <p:cNvPr id="5" name="図 4" descr="アイコン&#10;&#10;自動的に生成された説明">
            <a:extLst>
              <a:ext uri="{FF2B5EF4-FFF2-40B4-BE49-F238E27FC236}">
                <a16:creationId xmlns:a16="http://schemas.microsoft.com/office/drawing/2014/main" id="{FA55F388-9490-48F8-963F-3B8368DBD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922" y="5314642"/>
            <a:ext cx="422159" cy="384165"/>
          </a:xfrm>
          <a:prstGeom prst="rect">
            <a:avLst/>
          </a:prstGeom>
        </p:spPr>
      </p:pic>
      <p:pic>
        <p:nvPicPr>
          <p:cNvPr id="7" name="図 6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1B9257ED-EB52-403B-B632-9738545D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577" y="5338818"/>
            <a:ext cx="930088" cy="289842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B5A1E54-894E-4608-9E6A-105530FEAA49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各ポジションの役割を明確にし、業務をスムーズに遂行できる体制を組みます。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必要に応じて、連絡窓口の変更も柔軟に対応いたします。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DAC8D2DA-EFB0-4614-B57E-C7F0D81D4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196" y="4858002"/>
            <a:ext cx="804162" cy="291736"/>
          </a:xfrm>
          <a:prstGeom prst="rect">
            <a:avLst/>
          </a:prstGeom>
        </p:spPr>
      </p:pic>
      <p:pic>
        <p:nvPicPr>
          <p:cNvPr id="8" name="図 7" descr="テキスト, ロゴ&#10;&#10;自動的に生成された説明">
            <a:extLst>
              <a:ext uri="{FF2B5EF4-FFF2-40B4-BE49-F238E27FC236}">
                <a16:creationId xmlns:a16="http://schemas.microsoft.com/office/drawing/2014/main" id="{CC86DD24-6CC0-4170-A4BD-0B8D6715C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358" y="4858002"/>
            <a:ext cx="920225" cy="309959"/>
          </a:xfrm>
          <a:prstGeom prst="rect">
            <a:avLst/>
          </a:prstGeom>
        </p:spPr>
      </p:pic>
      <p:sp>
        <p:nvSpPr>
          <p:cNvPr id="2" name="テキスト ボックス 47">
            <a:extLst>
              <a:ext uri="{FF2B5EF4-FFF2-40B4-BE49-F238E27FC236}">
                <a16:creationId xmlns:a16="http://schemas.microsoft.com/office/drawing/2014/main" id="{C9BB91C8-F7FC-83DF-347B-747FF60D460C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23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07D128-6039-B9DA-B552-F1282481065F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096" y="329773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73" y="303842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貴社側でも、進捗確認を週単位で行えるような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報告体制を敷くことも可能です。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貴社のご要望に応じた形でカスタマイズし、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両社間でスムーズに実績共有できるよう設計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日次報告レポート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週次報告レポート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2E5BEB0-D1DA-4B88-9430-83449DE8705C}"/>
              </a:ext>
            </a:extLst>
          </p:cNvPr>
          <p:cNvSpPr txBox="1"/>
          <p:nvPr/>
        </p:nvSpPr>
        <p:spPr>
          <a:xfrm>
            <a:off x="1072072" y="2206524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スプレッドシート等を用いて、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デイリーの実績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を貴社へ共有。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258853" y="2196999"/>
            <a:ext cx="4120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月次レポートのフォーマットを</a:t>
            </a:r>
            <a:endParaRPr lang="en-US" altLang="ja-JP" sz="1400" b="1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週次でも提出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・送付可能です。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8CBD4755-1975-4922-A903-FF2FD458B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" y="2674052"/>
            <a:ext cx="4194176" cy="2719877"/>
          </a:xfrm>
          <a:prstGeom prst="rect">
            <a:avLst/>
          </a:prstGeom>
        </p:spPr>
      </p:pic>
      <p:pic>
        <p:nvPicPr>
          <p:cNvPr id="20" name="図 19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D1BA4D14-5891-4119-8F11-6B716CFF3D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r="76609" b="97224"/>
          <a:stretch/>
        </p:blipFill>
        <p:spPr>
          <a:xfrm>
            <a:off x="460375" y="2674051"/>
            <a:ext cx="981075" cy="75498"/>
          </a:xfrm>
          <a:prstGeom prst="rect">
            <a:avLst/>
          </a:prstGeom>
        </p:spPr>
      </p:pic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5" name="図 4" descr="カレンダー&#10;&#10;自動的に生成された説明">
            <a:extLst>
              <a:ext uri="{FF2B5EF4-FFF2-40B4-BE49-F238E27FC236}">
                <a16:creationId xmlns:a16="http://schemas.microsoft.com/office/drawing/2014/main" id="{BA69C1FC-1C73-470F-9BA4-8AFBFADC5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8853" y="2700345"/>
            <a:ext cx="3067760" cy="2118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3FB7097-3916-4469-B7A5-9B0760A444A7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47">
            <a:extLst>
              <a:ext uri="{FF2B5EF4-FFF2-40B4-BE49-F238E27FC236}">
                <a16:creationId xmlns:a16="http://schemas.microsoft.com/office/drawing/2014/main" id="{F9147576-E12D-B7F2-B336-4EDA87A5A8A0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38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D3297D4-4A28-4297-B737-8B914A9E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618" y="4093743"/>
            <a:ext cx="1809750" cy="12577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図 14" descr="テーブル&#10;&#10;自動的に生成された説明">
            <a:extLst>
              <a:ext uri="{FF2B5EF4-FFF2-40B4-BE49-F238E27FC236}">
                <a16:creationId xmlns:a16="http://schemas.microsoft.com/office/drawing/2014/main" id="{DF4E4E7B-69D2-4E09-9B7D-B9B229B7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172" y="3918635"/>
            <a:ext cx="1809750" cy="12477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図 16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EC9E2081-84E9-4FB1-8674-38E98421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175" y="3663438"/>
            <a:ext cx="1809751" cy="1254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図 12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CF3CDF81-18CF-4EAB-96B3-801EE98C7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944" y="3145495"/>
            <a:ext cx="1812916" cy="1255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図 10" descr="テーブル&#10;&#10;自動的に生成された説明">
            <a:extLst>
              <a:ext uri="{FF2B5EF4-FFF2-40B4-BE49-F238E27FC236}">
                <a16:creationId xmlns:a16="http://schemas.microsoft.com/office/drawing/2014/main" id="{0856CA05-6001-4F5F-A139-8A674E740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221" y="2897629"/>
            <a:ext cx="1812916" cy="12630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618" y="328067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95" y="302136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レポート以外にも必要なデータを報告書にまとめて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整理し、報告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月間の実績を細かく確認できるレポートを毎月作成、また定例会にて担当が詳細を報告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月次報告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・定例会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回実施予定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特殊レポート（定例会にて共有）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085723" y="2196999"/>
            <a:ext cx="446626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月次レポートのフォーマットでは不足するデータや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実績の振り返り・方針資料を必要に応じて作成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し報告。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4" name="図 3" descr="グラフィカル ユーザー インターフェイス, アプリケーション, テーブル, Excel&#10;&#10;自動的に生成された説明">
            <a:extLst>
              <a:ext uri="{FF2B5EF4-FFF2-40B4-BE49-F238E27FC236}">
                <a16:creationId xmlns:a16="http://schemas.microsoft.com/office/drawing/2014/main" id="{7DD310ED-03FE-4A7F-B3BD-6FB12FC14C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3" y="2787768"/>
            <a:ext cx="3067760" cy="2096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4157D867-9EC6-408E-BE66-2BBEBEF1FE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7308" y="2707990"/>
            <a:ext cx="1812916" cy="1253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A475715-D691-41ED-ACD2-FD3B8E891B30}"/>
              </a:ext>
            </a:extLst>
          </p:cNvPr>
          <p:cNvSpPr txBox="1"/>
          <p:nvPr/>
        </p:nvSpPr>
        <p:spPr>
          <a:xfrm>
            <a:off x="548883" y="2206524"/>
            <a:ext cx="406051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各媒体・広告メニュー単位の細かな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数値報告書を月次で提出＋定例会の実施。</a:t>
            </a:r>
            <a:endParaRPr lang="en-US" altLang="ja-JP" sz="11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D69AB4-8BC3-EDE4-06EC-1B3D84290867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B168CD-C1AE-8A1E-CFDC-3106A017BCC2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57D429C-5068-F322-BB19-EE0F784F798A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68B819F-9CDE-60A7-3FF6-62A6934B006A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47">
            <a:extLst>
              <a:ext uri="{FF2B5EF4-FFF2-40B4-BE49-F238E27FC236}">
                <a16:creationId xmlns:a16="http://schemas.microsoft.com/office/drawing/2014/main" id="{4657A025-2E82-3724-90EE-CC48DE4ABC62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772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715705" y="5772714"/>
            <a:ext cx="6067864" cy="367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</a:pP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14" b="1" dirty="0">
              <a:latin typeface="メイリオ"/>
              <a:ea typeface="メイリオ"/>
              <a:cs typeface="メイリオ"/>
            </a:endParaRPr>
          </a:p>
          <a:p>
            <a:pPr lvl="1">
              <a:spcBef>
                <a:spcPct val="20000"/>
              </a:spcBef>
            </a:pP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632874" y="5838721"/>
            <a:ext cx="1078763" cy="22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67867" y="5554003"/>
            <a:ext cx="184731" cy="237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941"/>
          </a:p>
        </p:txBody>
      </p:sp>
      <p:sp>
        <p:nvSpPr>
          <p:cNvPr id="18" name="正方形/長方形 17"/>
          <p:cNvSpPr/>
          <p:nvPr/>
        </p:nvSpPr>
        <p:spPr>
          <a:xfrm>
            <a:off x="2226199" y="1038910"/>
            <a:ext cx="5453603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ja-JP" altLang="en-US" sz="1960" b="1" dirty="0">
                <a:latin typeface="メイリオ" charset="0"/>
                <a:ea typeface="メイリオ" charset="0"/>
                <a:cs typeface="メイリオ" charset="0"/>
              </a:rPr>
              <a:t>貴社の明るい未来に必ず貢献いたします。</a:t>
            </a:r>
          </a:p>
        </p:txBody>
      </p:sp>
      <p:pic>
        <p:nvPicPr>
          <p:cNvPr id="8" name="図 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B96EA89-222D-7EE1-4654-F560D9B96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12017" r="1459" b="1448"/>
          <a:stretch/>
        </p:blipFill>
        <p:spPr>
          <a:xfrm>
            <a:off x="473264" y="2017903"/>
            <a:ext cx="4214295" cy="2539973"/>
          </a:xfrm>
          <a:prstGeom prst="rect">
            <a:avLst/>
          </a:prstGeom>
        </p:spPr>
      </p:pic>
      <p:pic>
        <p:nvPicPr>
          <p:cNvPr id="14" name="図 13" descr="ポーズをとる男性グループ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48298A5-1C37-819D-EC16-7AFB32FEC8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2" t="20620" r="13252" b="5453"/>
          <a:stretch/>
        </p:blipFill>
        <p:spPr>
          <a:xfrm>
            <a:off x="4661055" y="3366451"/>
            <a:ext cx="1775014" cy="1191427"/>
          </a:xfrm>
          <a:prstGeom prst="rect">
            <a:avLst/>
          </a:prstGeom>
        </p:spPr>
      </p:pic>
      <p:pic>
        <p:nvPicPr>
          <p:cNvPr id="20" name="図 19" descr="人, 屋内, 女性, ボック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C8EB868-EEC1-599C-50C4-34233465F8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4" t="3253" r="23882" b="24218"/>
          <a:stretch/>
        </p:blipFill>
        <p:spPr>
          <a:xfrm>
            <a:off x="8076765" y="3352909"/>
            <a:ext cx="1372706" cy="1204968"/>
          </a:xfrm>
          <a:prstGeom prst="rect">
            <a:avLst/>
          </a:prstGeom>
        </p:spPr>
      </p:pic>
      <p:pic>
        <p:nvPicPr>
          <p:cNvPr id="6" name="図 5" descr="スーツを着た男性と文字&#10;&#10;低い精度で自動的に生成された説明">
            <a:extLst>
              <a:ext uri="{FF2B5EF4-FFF2-40B4-BE49-F238E27FC236}">
                <a16:creationId xmlns:a16="http://schemas.microsoft.com/office/drawing/2014/main" id="{DCA0A1E3-BE99-513C-E589-1E8C035070E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2" r="10622" b="20845"/>
          <a:stretch/>
        </p:blipFill>
        <p:spPr>
          <a:xfrm>
            <a:off x="6410361" y="3333753"/>
            <a:ext cx="1666406" cy="1224125"/>
          </a:xfrm>
          <a:prstGeom prst="rect">
            <a:avLst/>
          </a:prstGeom>
        </p:spPr>
      </p:pic>
      <p:pic>
        <p:nvPicPr>
          <p:cNvPr id="12" name="図 11" descr="並んで立っている数人の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AA5C9AE-0C20-1FF0-8570-964DF9391E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147" y="2017497"/>
            <a:ext cx="2408590" cy="1352022"/>
          </a:xfrm>
          <a:prstGeom prst="rect">
            <a:avLst/>
          </a:prstGeom>
        </p:spPr>
      </p:pic>
      <p:pic>
        <p:nvPicPr>
          <p:cNvPr id="17" name="図 16" descr="白い壁の前に立っている子供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F5A2749-D4AC-2F37-FC68-2734BC439C6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055" y="2017903"/>
            <a:ext cx="2408591" cy="135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495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プロモーションのご提案.potx.pptx" id="{3FC551FC-C7A7-4268-A07A-7C6543520743}" vid="{DD85DC60-A8C2-4D3B-8834-8CE9D53FF6D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WEBプロモーションのご提案</Template>
  <TotalTime>22430</TotalTime>
  <Words>3263</Words>
  <Application>Microsoft Office PowerPoint</Application>
  <PresentationFormat>A4 210 x 297 mm</PresentationFormat>
  <Paragraphs>620</Paragraphs>
  <Slides>41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9" baseType="lpstr">
      <vt:lpstr>Hiragino Sans GB W6</vt:lpstr>
      <vt:lpstr>Meiryo UI</vt:lpstr>
      <vt:lpstr>Meiryo</vt:lpstr>
      <vt:lpstr>Meiryo</vt:lpstr>
      <vt:lpstr>游ゴシック</vt:lpstr>
      <vt:lpstr>Arial</vt:lpstr>
      <vt:lpstr>Calibri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星澤 一磨</dc:creator>
  <cp:lastModifiedBy>殿村 亮太</cp:lastModifiedBy>
  <cp:revision>87</cp:revision>
  <dcterms:created xsi:type="dcterms:W3CDTF">2024-09-04T02:13:33Z</dcterms:created>
  <dcterms:modified xsi:type="dcterms:W3CDTF">2026-07-08T21:59:18Z</dcterms:modified>
</cp:coreProperties>
</file>