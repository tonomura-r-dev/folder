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48.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50"/>
  </p:notesMasterIdLst>
  <p:handoutMasterIdLst>
    <p:handoutMasterId r:id="rId51"/>
  </p:handoutMasterIdLst>
  <p:sldIdLst>
    <p:sldId id="2363" r:id="rId3"/>
    <p:sldId id="2993" r:id="rId4"/>
    <p:sldId id="2972" r:id="rId5"/>
    <p:sldId id="2996" r:id="rId6"/>
    <p:sldId id="2994" r:id="rId7"/>
    <p:sldId id="2736" r:id="rId8"/>
    <p:sldId id="2987" r:id="rId9"/>
    <p:sldId id="2973" r:id="rId10"/>
    <p:sldId id="2977" r:id="rId11"/>
    <p:sldId id="2908" r:id="rId12"/>
    <p:sldId id="2988" r:id="rId13"/>
    <p:sldId id="2979" r:id="rId14"/>
    <p:sldId id="2978" r:id="rId15"/>
    <p:sldId id="2990" r:id="rId16"/>
    <p:sldId id="2991" r:id="rId17"/>
    <p:sldId id="2989" r:id="rId19"/>
    <p:sldId id="2563" r:id="rId20"/>
    <p:sldId id="2959" r:id="rId21"/>
    <p:sldId id="2970" r:id="rId22"/>
    <p:sldId id="2968" r:id="rId23"/>
    <p:sldId id="2969" r:id="rId24"/>
    <p:sldId id="2639" r:id="rId25"/>
    <p:sldId id="2957" r:id="rId26"/>
    <p:sldId id="2951" r:id="rId27"/>
    <p:sldId id="2841" r:id="rId28"/>
    <p:sldId id="2734" r:id="rId29"/>
    <p:sldId id="2595" r:id="rId30"/>
    <p:sldId id="2566" r:id="rId31"/>
    <p:sldId id="2915" r:id="rId32"/>
    <p:sldId id="2619" r:id="rId33"/>
    <p:sldId id="2761" r:id="rId34"/>
    <p:sldId id="2935" r:id="rId35"/>
    <p:sldId id="2919" r:id="rId36"/>
    <p:sldId id="2519" r:id="rId37"/>
    <p:sldId id="2931" r:id="rId38"/>
    <p:sldId id="2749" r:id="rId39"/>
    <p:sldId id="2950" r:id="rId40"/>
    <p:sldId id="2961" r:id="rId41"/>
    <p:sldId id="2849" r:id="rId42"/>
    <p:sldId id="2904" r:id="rId43"/>
    <p:sldId id="2905" r:id="rId44"/>
    <p:sldId id="2906" r:id="rId45"/>
    <p:sldId id="2907" r:id="rId46"/>
    <p:sldId id="2575" r:id="rId47"/>
    <p:sldId id="2910" r:id="rId48"/>
    <p:sldId id="1169" r:id="rId49"/>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57" autoAdjust="0"/>
    <p:restoredTop sz="94424" autoAdjust="0"/>
  </p:normalViewPr>
  <p:slideViewPr>
    <p:cSldViewPr snapToGrid="0">
      <p:cViewPr>
        <p:scale>
          <a:sx n="75" d="100"/>
          <a:sy n="75" d="100"/>
        </p:scale>
        <p:origin x="624" y="24"/>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notesMaster" Target="notesMasters/notesMaster1.xml"/><Relationship Id="rId51" Type="http://schemas.openxmlformats.org/officeDocument/2006/relationships/handoutMaster" Target="handoutMasters/handout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2026/10/12</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EE297-1C60-1B47-1371-71E9182BCB3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48E7FAC-7C31-2BF5-99A0-B567314FF81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9D9BB1D-280D-F986-C5BD-B8EA9C52BE9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845DE59-8CC7-2B95-A35B-4990F6D674F1}"/>
              </a:ext>
            </a:extLst>
          </p:cNvPr>
          <p:cNvSpPr>
            <a:spLocks noGrp="1"/>
          </p:cNvSpPr>
          <p:nvPr>
            <p:ph type="sldNum" sz="quarter" idx="10"/>
          </p:nvPr>
        </p:nvSpPr>
        <p:spPr/>
        <p:txBody>
          <a:bodyPr/>
          <a:lstStyle/>
          <a:p>
            <a:fld id="{022E43C0-6795-4B13-B37C-259C826D4B6A}" type="slidenum">
              <a:rPr kumimoji="1" lang="ja-JP" altLang="en-US" smtClean="0"/>
              <a:t>2</a:t>
            </a:fld>
            <a:endParaRPr kumimoji="1" lang="ja-JP" altLang="en-US"/>
          </a:p>
        </p:txBody>
      </p:sp>
    </p:spTree>
    <p:extLst>
      <p:ext uri="{BB962C8B-B14F-4D97-AF65-F5344CB8AC3E}">
        <p14:creationId xmlns:p14="http://schemas.microsoft.com/office/powerpoint/2010/main" val="24875882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E38FE-6104-025A-CDFE-30FAA389094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58D8639-E90A-9B18-DC6D-71623D31594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E72E54-C9CA-B2DD-C033-09A6FA4C06A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8F05396-62B1-69E9-2915-961C6B4E4747}"/>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30688154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7BDD3-88EE-99A9-AEE2-C1F41DDABDF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50017B6-5C78-4075-2708-AC5DB83D5C7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ECFD86C-83D9-B8F9-9012-A14834B2031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02F5ACB-1F4C-FA7D-D366-8DCBB1214FD9}"/>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36624079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8DFB9-1A0E-AC56-86AB-C554ECA5907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6E74640-8F62-6E74-5A21-E69A7415BF6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566DD76-369D-9DB0-5CDC-B936C94EBB6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AB7A0C4-A336-4C2C-E97A-0E6D7798D43D}"/>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35471180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C3D0E-521D-4421-8E6F-5B072E39273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A4E99E-E573-FB69-824A-6A64B973F18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C7418EF-CD86-6501-70F8-B9DD0191527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CB86D95-C452-2BDC-5841-170929F80D7E}"/>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9492019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F372C-6DE5-FF13-3A5F-C9A5DA8D257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22B9EF9-4EBB-274F-A1AD-FF4E683E4A5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CAC0E09-6858-2196-AFC4-29D0C88AFAE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517F6BB-CD63-0BD6-0237-3E95594ABBBB}"/>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31870556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12</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FF2DF-2549-03DE-BF99-3816DBF142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608DAE1-5EDB-4906-5B89-172988954E2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AF08AA4-BBDC-950C-3480-F13DD87CF93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72BACB-FF67-5073-CAB4-B7DC30D31CAB}"/>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28182318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BE411-4324-1BAD-C78B-91DF91FD9CC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D549732-A76E-5601-F486-7A42B1789D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3275E6F-98B5-9B49-8F3C-8CAF75C8D6E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553E365-D354-3F82-CA83-108FC9376A62}"/>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18155914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DBF5B-1845-D193-7974-D86F6501AA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41EA19-E230-7BF9-50E1-64D71F07CF8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0FCC320-6462-2E53-372E-51E35D6A4C3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1D45867-3EDE-BF64-D973-FA5EA5D84F7E}"/>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6514995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28</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29</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30</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31</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33</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34</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35</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36</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38</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47</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7.jpeg"/><Relationship Id="rId5" Type="http://schemas.openxmlformats.org/officeDocument/2006/relationships/image" Target="../media/image8.jpeg"/><Relationship Id="rId6" Type="http://schemas.openxmlformats.org/officeDocument/2006/relationships/image" Target="../media/image9.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eg"/><Relationship Id="rId3" Type="http://schemas.openxmlformats.org/officeDocument/2006/relationships/image" Target="../media/image26.jpe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jpeg"/><Relationship Id="rId7" Type="http://schemas.openxmlformats.org/officeDocument/2006/relationships/image" Target="../media/image30.png"/><Relationship Id="rId8" Type="http://schemas.openxmlformats.org/officeDocument/2006/relationships/image" Target="../media/image31.png"/><Relationship Id="rId9" Type="http://schemas.openxmlformats.org/officeDocument/2006/relationships/image" Target="../media/image32.png"/><Relationship Id="rId10" Type="http://schemas.openxmlformats.org/officeDocument/2006/relationships/image" Target="../media/image33.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png"/><Relationship Id="rId8" Type="http://schemas.openxmlformats.org/officeDocument/2006/relationships/image" Target="../media/image39.png"/><Relationship Id="rId9" Type="http://schemas.openxmlformats.org/officeDocument/2006/relationships/image" Target="../media/image40.png"/><Relationship Id="rId10" Type="http://schemas.openxmlformats.org/officeDocument/2006/relationships/image" Target="../media/image4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2.png"/><Relationship Id="rId4" Type="http://schemas.openxmlformats.org/officeDocument/2006/relationships/image" Target="../media/image4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svg"/><Relationship Id="rId8" Type="http://schemas.openxmlformats.org/officeDocument/2006/relationships/image" Target="../media/image4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0.svg"/><Relationship Id="rId4" Type="http://schemas.openxmlformats.org/officeDocument/2006/relationships/image" Target="../media/image51.svg"/><Relationship Id="rId5" Type="http://schemas.openxmlformats.org/officeDocument/2006/relationships/image" Target="../media/image52.svg"/><Relationship Id="rId6" Type="http://schemas.openxmlformats.org/officeDocument/2006/relationships/image" Target="../media/image53.sv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image" Target="../media/image6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6.png"/><Relationship Id="rId3" Type="http://schemas.openxmlformats.org/officeDocument/2006/relationships/image" Target="../media/image67.png"/><Relationship Id="rId4" Type="http://schemas.openxmlformats.org/officeDocument/2006/relationships/image" Target="../media/image6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emf"/><Relationship Id="rId4" Type="http://schemas.openxmlformats.org/officeDocument/2006/relationships/image" Target="../media/image69.jpeg"/><Relationship Id="rId5" Type="http://schemas.openxmlformats.org/officeDocument/2006/relationships/image" Target="../media/image70.jpeg"/><Relationship Id="rId6" Type="http://schemas.openxmlformats.org/officeDocument/2006/relationships/image" Target="../media/image71.jpeg"/><Relationship Id="rId7" Type="http://schemas.openxmlformats.org/officeDocument/2006/relationships/image" Target="../media/image72.jpeg"/><Relationship Id="rId8" Type="http://schemas.openxmlformats.org/officeDocument/2006/relationships/image" Target="../media/image7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103120"/>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335024" y="2999232"/>
            <a:ext cx="7232904" cy="1051560"/>
          </a:xfrm>
          <a:prstGeom prst="rect">
            <a:avLst/>
          </a:prstGeom>
          <a:solidFill>
            <a:srgbClr val="F4F7FF"/>
          </a:solidFill>
          <a:ln>
            <a:noFill/>
          </a:ln>
        </p:spPr>
        <p:txBody>
          <a:bodyPr wrap="square" lIns="182880" tIns="91440" rIns="182880" bIns="91440" anchor="ctr">
            <a:noAutofit/>
          </a:bodyPr>
          <a:lstStyle/>
          <a:p>
            <a:pPr algn="ctr"/>
            <a:r>
              <a:rPr lang="ja-JP" altLang="en-US" sz="2200" dirty="0" b="1">
                <a:solidFill>
                  <a:srgbClr val="1F285A"/>
                </a:solidFill>
                <a:latin typeface="Meiryo" panose="020B0604030504040204" pitchFamily="34" charset="-128"/>
                <a:ea typeface="Meiryo" panose="020B0604030504040204" pitchFamily="34" charset="-128"/>
              </a:rPr>
              <a:t>LINEへの流入と友だち追加後の導線を整備し、</a:t>
            </a:r>
          </a:p>
          <a:p>
            <a:pPr algn="ctr"/>
            <a:r>
              <a:rPr lang="ja-JP" altLang="en-US" sz="2200" dirty="0" b="1">
                <a:solidFill>
                  <a:srgbClr val="C00000"/>
                </a:solidFill>
                <a:latin typeface="Meiryo" panose="020B0604030504040204" pitchFamily="34" charset="-128"/>
                <a:ea typeface="Meiryo" panose="020B0604030504040204" pitchFamily="34" charset="-128"/>
              </a:rPr>
              <a:t>物件問い合わせの増加</a:t>
            </a:r>
            <a:r>
              <a:rPr lang="ja-JP" altLang="en-US" sz="2200" dirty="0" b="1">
                <a:solidFill>
                  <a:srgbClr val="1F285A"/>
                </a:solidFill>
                <a:latin typeface="Meiryo" panose="020B0604030504040204" pitchFamily="34" charset="-128"/>
                <a:ea typeface="Meiryo" panose="020B0604030504040204" pitchFamily="34" charset="-128"/>
              </a:rPr>
              <a:t>を実現する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2770632"/>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ja-JP" altLang="en-US" sz="1600" b="1" dirty="0">
                <a:solidFill>
                  <a:schemeClr val="tx1">
                    <a:lumMod val="50000"/>
                    <a:lumOff val="50000"/>
                  </a:schemeClr>
                </a:solidFill>
                <a:latin typeface="Meiryo" panose="020B0604030504040204" pitchFamily="34" charset="-128"/>
                <a:ea typeface="Meiryo" panose="020B0604030504040204" pitchFamily="34" charset="-128"/>
              </a:rPr>
              <a:t>株式会社あらうち 御中</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850E5-D5A1-CFDF-111D-4022C3ACFF30}"/>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E31A894-E8DC-C040-E38B-038A8EF528E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AD68C335-D806-837C-26CA-E0BD169C64B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9F2C0452-B9E6-F1EE-DD53-83755CCCC880}"/>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AD2E002-BC79-F49E-26BC-844143DB1CB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現状把握</a:t>
            </a:r>
            <a:endParaRPr sz="1600" b="1" dirty="0">
              <a:solidFill>
                <a:srgbClr val="002060"/>
              </a:solidFill>
              <a:latin typeface="Meiryo"/>
              <a:ea typeface="Meiryo"/>
              <a:cs typeface="Meiryo"/>
              <a:sym typeface="Meiryo"/>
            </a:endParaRPr>
          </a:p>
        </p:txBody>
      </p:sp>
      <p:sp>
        <p:nvSpPr>
          <p:cNvPr id="29" name="テキスト ボックス 28">
            <a:extLst>
              <a:ext uri="{FF2B5EF4-FFF2-40B4-BE49-F238E27FC236}">
                <a16:creationId xmlns:a16="http://schemas.microsoft.com/office/drawing/2014/main" id="{6DA3B365-02D9-8B5B-1299-3D8406BB3D5C}"/>
              </a:ext>
            </a:extLst>
          </p:cNvPr>
          <p:cNvSpPr txBox="1"/>
          <p:nvPr/>
        </p:nvSpPr>
        <p:spPr>
          <a:xfrm>
            <a:off x="4983480" y="1499616"/>
            <a:ext cx="4498848" cy="347472"/>
          </a:xfrm>
          <a:prstGeom prst="rect">
            <a:avLst/>
          </a:prstGeom>
          <a:solidFill>
            <a:srgbClr val="04FA0A"/>
          </a:solidFill>
        </p:spPr>
        <p:txBody>
          <a:bodyPr wrap="square" anchor="ctr">
            <a:noAutofit/>
          </a:bodyPr>
          <a:lstStyle/>
          <a:p>
            <a:pPr algn="ctr"/>
            <a:r>
              <a:rPr lang="en-US" altLang="ja-JP" sz="1400" b="1" dirty="0">
                <a:solidFill>
                  <a:schemeClr val="bg1"/>
                </a:solidFill>
                <a:latin typeface="メイリオ" panose="020B0604030504040204" pitchFamily="50" charset="-128"/>
                <a:ea typeface="メイリオ" panose="020B0604030504040204" pitchFamily="50" charset="-128"/>
              </a:rPr>
              <a:t>LINE</a:t>
            </a:r>
            <a:r>
              <a:rPr lang="ja-JP" altLang="en-US" sz="1400" b="1" dirty="0">
                <a:solidFill>
                  <a:schemeClr val="bg1"/>
                </a:solidFill>
                <a:latin typeface="メイリオ" panose="020B0604030504040204" pitchFamily="50" charset="-128"/>
                <a:ea typeface="メイリオ" panose="020B0604030504040204" pitchFamily="50" charset="-128"/>
              </a:rPr>
              <a:t>ステータス</a:t>
            </a:r>
            <a:endParaRPr lang="ja-JP" altLang="en-US" sz="1400" b="1" dirty="0">
              <a:solidFill>
                <a:schemeClr val="bg1"/>
              </a:solidFill>
            </a:endParaRPr>
          </a:p>
        </p:txBody>
      </p:sp>
      <p:sp>
        <p:nvSpPr>
          <p:cNvPr id="31" name="テキスト ボックス 30">
            <a:extLst>
              <a:ext uri="{FF2B5EF4-FFF2-40B4-BE49-F238E27FC236}">
                <a16:creationId xmlns:a16="http://schemas.microsoft.com/office/drawing/2014/main" id="{F8313A60-EA49-F9B7-6C41-949A968F0600}"/>
              </a:ext>
            </a:extLst>
          </p:cNvPr>
          <p:cNvSpPr txBox="1"/>
          <p:nvPr/>
        </p:nvSpPr>
        <p:spPr>
          <a:xfrm>
            <a:off x="365760" y="1499616"/>
            <a:ext cx="4389119" cy="347472"/>
          </a:xfrm>
          <a:prstGeom prst="rect">
            <a:avLst/>
          </a:prstGeom>
          <a:solidFill>
            <a:schemeClr val="tx1"/>
          </a:solidFill>
        </p:spPr>
        <p:txBody>
          <a:bodyPr wrap="square" anchor="ctr">
            <a:noAutofit/>
          </a:bodyPr>
          <a:lstStyle/>
          <a:p>
            <a:pPr algn="ctr"/>
            <a:r>
              <a:rPr lang="en-US" altLang="ja-JP" sz="1400" dirty="0">
                <a:solidFill>
                  <a:schemeClr val="bg1"/>
                </a:solidFill>
                <a:latin typeface="メイリオ" panose="020B0604030504040204" pitchFamily="50" charset="-128"/>
                <a:ea typeface="メイリオ" panose="020B0604030504040204" pitchFamily="50" charset="-128"/>
              </a:rPr>
              <a:t>WEB</a:t>
            </a:r>
            <a:r>
              <a:rPr lang="ja-JP" altLang="en-US" sz="1400" dirty="0">
                <a:solidFill>
                  <a:schemeClr val="bg1"/>
                </a:solidFill>
                <a:latin typeface="メイリオ" panose="020B0604030504040204" pitchFamily="50" charset="-128"/>
                <a:ea typeface="メイリオ" panose="020B0604030504040204" pitchFamily="50" charset="-128"/>
              </a:rPr>
              <a:t>サイトステータス</a:t>
            </a:r>
            <a:endParaRPr lang="ja-JP" altLang="en-US" sz="1400" dirty="0">
              <a:solidFill>
                <a:schemeClr val="bg1"/>
              </a:solidFill>
            </a:endParaRPr>
          </a:p>
        </p:txBody>
      </p:sp>
      <p:sp>
        <p:nvSpPr>
          <p:cNvPr id="43" name="テキスト ボックス 42">
            <a:extLst>
              <a:ext uri="{FF2B5EF4-FFF2-40B4-BE49-F238E27FC236}">
                <a16:creationId xmlns:a16="http://schemas.microsoft.com/office/drawing/2014/main" id="{6B7452FF-3064-3C53-0009-2FF21E2A20E3}"/>
              </a:ext>
            </a:extLst>
          </p:cNvPr>
          <p:cNvSpPr txBox="1"/>
          <p:nvPr/>
        </p:nvSpPr>
        <p:spPr>
          <a:xfrm>
            <a:off x="365760" y="5660136"/>
            <a:ext cx="4389119" cy="548640"/>
          </a:xfrm>
          <a:prstGeom prst="rect">
            <a:avLst/>
          </a:prstGeom>
          <a:solidFill>
            <a:schemeClr val="bg1">
              <a:lumMod val="95000"/>
            </a:schemeClr>
          </a:solidFill>
        </p:spPr>
        <p:txBody>
          <a:bodyPr wrap="square" anchor="ctr" lIns="45720" rIns="45720">
            <a:noAutofit/>
          </a:bodyPr>
          <a:lstStyle/>
          <a:p>
            <a:pPr algn="ctr"/>
            <a:r>
              <a:rPr lang="ja-JP" altLang="en-US" sz="1200" dirty="0">
                <a:latin typeface="メイリオ" panose="020B0604030504040204" pitchFamily="50" charset="-128"/>
                <a:ea typeface="メイリオ" panose="020B0604030504040204" pitchFamily="50" charset="-128"/>
              </a:rPr>
              <a:t>全ページに「LINEでお問い合わせ」ボタンを設置。</a:t>
            </a:r>
            <a:endParaRPr lang="en-US" altLang="ja-JP" sz="1200"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100円チェッカー・内見依頼</a:t>
            </a:r>
            <a:r>
              <a:rPr lang="ja-JP" altLang="en-US" sz="1200" b="0" dirty="0">
                <a:latin typeface="メイリオ" panose="020B0604030504040204" pitchFamily="50" charset="-128"/>
                <a:ea typeface="メイリオ" panose="020B0604030504040204" pitchFamily="50" charset="-128"/>
              </a:rPr>
              <a:t>など、問い合わせ入口を整備。</a:t>
            </a:r>
            <a:endParaRPr lang="en-US" altLang="ja-JP" sz="1200" dirty="0">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4DE653A3-6A01-144F-1BF8-1590962028E3}"/>
              </a:ext>
            </a:extLst>
          </p:cNvPr>
          <p:cNvSpPr txBox="1"/>
          <p:nvPr/>
        </p:nvSpPr>
        <p:spPr>
          <a:xfrm>
            <a:off x="4983480" y="5660136"/>
            <a:ext cx="4498848" cy="548640"/>
          </a:xfrm>
          <a:prstGeom prst="rect">
            <a:avLst/>
          </a:prstGeom>
          <a:solidFill>
            <a:schemeClr val="bg1">
              <a:lumMod val="95000"/>
            </a:schemeClr>
          </a:solidFill>
        </p:spPr>
        <p:txBody>
          <a:bodyPr wrap="square" anchor="ctr" lIns="45720" rIns="45720">
            <a:noAutofit/>
          </a:bodyPr>
          <a:lstStyle/>
          <a:p>
            <a:pPr algn="ctr"/>
            <a:r>
              <a:rPr lang="ja-JP" altLang="en-US" sz="1200" b="1" dirty="0">
                <a:latin typeface="メイリオ" panose="020B0604030504040204" pitchFamily="50" charset="-128"/>
                <a:ea typeface="メイリオ" panose="020B0604030504040204" pitchFamily="50" charset="-128"/>
              </a:rPr>
              <a:t>リッチメニュー未設置・あいさつにボタンなし。</a:t>
            </a:r>
            <a:br>
              <a:rPr lang="ja-JP" altLang="en-US" sz="1200" b="1" dirty="0">
                <a:latin typeface="メイリオ" panose="020B0604030504040204" pitchFamily="50" charset="-128"/>
                <a:ea typeface="メイリオ" panose="020B0604030504040204" pitchFamily="50" charset="-128"/>
              </a:rPr>
            </a:br>
            <a:r>
              <a:rPr lang="ja-JP" altLang="en-US" sz="1200" b="1" dirty="0">
                <a:latin typeface="メイリオ" panose="020B0604030504040204" pitchFamily="50" charset="-128"/>
                <a:ea typeface="メイリオ" panose="020B0604030504040204" pitchFamily="50" charset="-128"/>
              </a:rPr>
              <a:t>改善の余地あり。</a:t>
            </a:r>
            <a:endParaRPr lang="en-US" altLang="ja-JP" sz="1200" b="1" dirty="0">
              <a:latin typeface="メイリオ" panose="020B0604030504040204" pitchFamily="50" charset="-128"/>
              <a:ea typeface="メイリオ" panose="020B0604030504040204" pitchFamily="50" charset="-128"/>
            </a:endParaRPr>
          </a:p>
        </p:txBody>
      </p:sp>
      <p:pic>
        <p:nvPicPr>
          <p:cNvPr id="55" name="図 54">
            <a:extLst>
              <a:ext uri="{FF2B5EF4-FFF2-40B4-BE49-F238E27FC236}">
                <a16:creationId xmlns:a16="http://schemas.microsoft.com/office/drawing/2014/main" id="{4BC7545E-7F3F-B8DD-FAA4-D802246C1236}"/>
              </a:ext>
            </a:extLst>
          </p:cNvPr>
          <p:cNvPicPr>
            <a:picLocks noChangeAspect="1"/>
          </p:cNvPicPr>
          <p:nvPr/>
        </p:nvPicPr>
        <p:blipFill>
          <a:blip r:embed="rId3"/>
          <a:stretch>
            <a:fillRect/>
          </a:stretch>
        </p:blipFill>
        <p:spPr>
          <a:xfrm>
            <a:off x="4983480" y="1920241"/>
            <a:ext cx="1420803" cy="2885775"/>
          </a:xfrm>
          <a:prstGeom prst="rect">
            <a:avLst/>
          </a:prstGeom>
        </p:spPr>
      </p:pic>
      <p:sp>
        <p:nvSpPr>
          <p:cNvPr id="61" name="テキスト ボックス 60">
            <a:extLst>
              <a:ext uri="{FF2B5EF4-FFF2-40B4-BE49-F238E27FC236}">
                <a16:creationId xmlns:a16="http://schemas.microsoft.com/office/drawing/2014/main" id="{4FD3FA7D-7FF2-4236-7135-48E5D06D806B}"/>
              </a:ext>
            </a:extLst>
          </p:cNvPr>
          <p:cNvSpPr txBox="1"/>
          <p:nvPr/>
        </p:nvSpPr>
        <p:spPr>
          <a:xfrm>
            <a:off x="5057917" y="2134667"/>
            <a:ext cx="1265927" cy="2347104"/>
          </a:xfrm>
          <a:prstGeom prst="rect">
            <a:avLst/>
          </a:prstGeom>
          <a:solidFill>
            <a:schemeClr val="bg1"/>
          </a:solidFill>
        </p:spPr>
        <p:txBody>
          <a:bodyPr wrap="square">
            <a:no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65" name="テキスト ボックス 64">
            <a:extLst>
              <a:ext uri="{FF2B5EF4-FFF2-40B4-BE49-F238E27FC236}">
                <a16:creationId xmlns:a16="http://schemas.microsoft.com/office/drawing/2014/main" id="{CB47911B-0E60-1A54-28E3-4822D0F71546}"/>
              </a:ext>
            </a:extLst>
          </p:cNvPr>
          <p:cNvSpPr txBox="1"/>
          <p:nvPr/>
        </p:nvSpPr>
        <p:spPr>
          <a:xfrm>
            <a:off x="1783080" y="1920240"/>
            <a:ext cx="1280160" cy="292608"/>
          </a:xfrm>
          <a:prstGeom prst="rect">
            <a:avLst/>
          </a:prstGeom>
          <a:solidFill>
            <a:schemeClr val="tx1">
              <a:lumMod val="50000"/>
              <a:lumOff val="50000"/>
            </a:schemeClr>
          </a:solidFill>
        </p:spPr>
        <p:txBody>
          <a:bodyPr wrap="square" anchor="ctr" lIns="45720" rIns="45720">
            <a:no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サイト</a:t>
            </a:r>
            <a:r>
              <a:rPr lang="en-US" altLang="ja-JP" sz="1200" dirty="0">
                <a:solidFill>
                  <a:schemeClr val="bg1"/>
                </a:solidFill>
                <a:latin typeface="メイリオ" panose="020B0604030504040204" pitchFamily="50" charset="-128"/>
                <a:ea typeface="メイリオ" panose="020B0604030504040204" pitchFamily="50" charset="-128"/>
              </a:rPr>
              <a:t>UU</a:t>
            </a:r>
          </a:p>
        </p:txBody>
      </p:sp>
      <p:sp>
        <p:nvSpPr>
          <p:cNvPr id="67" name="テキスト ボックス 66">
            <a:extLst>
              <a:ext uri="{FF2B5EF4-FFF2-40B4-BE49-F238E27FC236}">
                <a16:creationId xmlns:a16="http://schemas.microsoft.com/office/drawing/2014/main" id="{786D7DA7-503E-05B5-F9CB-0A21161B6913}"/>
              </a:ext>
            </a:extLst>
          </p:cNvPr>
          <p:cNvSpPr txBox="1"/>
          <p:nvPr/>
        </p:nvSpPr>
        <p:spPr>
          <a:xfrm>
            <a:off x="1783080" y="5180076"/>
            <a:ext cx="2971800" cy="457200"/>
          </a:xfrm>
          <a:prstGeom prst="rect">
            <a:avLst/>
          </a:prstGeom>
          <a:noFill/>
        </p:spPr>
        <p:txBody>
          <a:bodyPr wrap="square" anchor="t">
            <a:noAutofit/>
          </a:bodyPr>
          <a:lstStyle/>
          <a:p>
            <a:r>
              <a:rPr lang="en-US" altLang="ja-JP" sz="1100" dirty="0">
                <a:solidFill>
                  <a:srgbClr val="595959"/>
                </a:solidFill>
                <a:latin typeface="メイリオ" panose="020B0604030504040204" pitchFamily="50" charset="-128"/>
                <a:ea typeface="メイリオ" panose="020B0604030504040204" pitchFamily="50" charset="-128"/>
              </a:rPr>
              <a:t>※いずれも貴社ヒヤリング、外部計測</a:t>
            </a:r>
          </a:p>
          <a:p>
            <a:r>
              <a:rPr lang="ja-JP" altLang="en-US" sz="1100" dirty="0">
                <a:solidFill>
                  <a:srgbClr val="595959"/>
                </a:solidFill>
                <a:latin typeface="メイリオ" panose="020B0604030504040204" pitchFamily="50" charset="-128"/>
                <a:ea typeface="メイリオ" panose="020B0604030504040204" pitchFamily="50" charset="-128"/>
              </a:rPr>
              <a:t>　をもとにした想定。（仮）は仮置き。</a:t>
            </a:r>
            <a:endParaRPr lang="ja-JP" altLang="en-US" sz="1100" dirty="0">
              <a:solidFill>
                <a:schemeClr val="bg1">
                  <a:lumMod val="65000"/>
                </a:schemeClr>
              </a:solidFill>
            </a:endParaRPr>
          </a:p>
        </p:txBody>
      </p:sp>
      <p:sp>
        <p:nvSpPr>
          <p:cNvPr id="69" name="テキスト ボックス 68">
            <a:extLst>
              <a:ext uri="{FF2B5EF4-FFF2-40B4-BE49-F238E27FC236}">
                <a16:creationId xmlns:a16="http://schemas.microsoft.com/office/drawing/2014/main" id="{EA788168-7029-078F-5BD8-F04485F4755A}"/>
              </a:ext>
            </a:extLst>
          </p:cNvPr>
          <p:cNvSpPr txBox="1"/>
          <p:nvPr/>
        </p:nvSpPr>
        <p:spPr>
          <a:xfrm>
            <a:off x="1783080" y="2244852"/>
            <a:ext cx="1280160" cy="292608"/>
          </a:xfrm>
          <a:prstGeom prst="rect">
            <a:avLst/>
          </a:prstGeom>
          <a:solidFill>
            <a:schemeClr val="tx1">
              <a:lumMod val="50000"/>
              <a:lumOff val="50000"/>
            </a:schemeClr>
          </a:solidFill>
        </p:spPr>
        <p:txBody>
          <a:bodyPr wrap="square" anchor="ctr" lIns="45720" rIns="45720">
            <a:no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広告</a:t>
            </a:r>
            <a:r>
              <a:rPr lang="en-US" altLang="ja-JP" sz="1200" dirty="0">
                <a:solidFill>
                  <a:schemeClr val="bg1"/>
                </a:solidFill>
                <a:latin typeface="メイリオ" panose="020B0604030504040204" pitchFamily="50" charset="-128"/>
                <a:ea typeface="メイリオ" panose="020B0604030504040204" pitchFamily="50" charset="-128"/>
              </a:rPr>
              <a:t>UU</a:t>
            </a:r>
          </a:p>
        </p:txBody>
      </p:sp>
      <p:sp>
        <p:nvSpPr>
          <p:cNvPr id="71" name="テキスト ボックス 70">
            <a:extLst>
              <a:ext uri="{FF2B5EF4-FFF2-40B4-BE49-F238E27FC236}">
                <a16:creationId xmlns:a16="http://schemas.microsoft.com/office/drawing/2014/main" id="{43A76DAB-1A67-A2FA-CB9F-4E749C2AE087}"/>
              </a:ext>
            </a:extLst>
          </p:cNvPr>
          <p:cNvSpPr txBox="1"/>
          <p:nvPr/>
        </p:nvSpPr>
        <p:spPr>
          <a:xfrm>
            <a:off x="1783080" y="2569464"/>
            <a:ext cx="1280160" cy="292608"/>
          </a:xfrm>
          <a:prstGeom prst="rect">
            <a:avLst/>
          </a:prstGeom>
          <a:solidFill>
            <a:schemeClr val="tx1">
              <a:lumMod val="50000"/>
              <a:lumOff val="50000"/>
            </a:schemeClr>
          </a:solidFill>
        </p:spPr>
        <p:txBody>
          <a:bodyPr wrap="square" anchor="ctr" lIns="45720" rIns="45720">
            <a:no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広告費用</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09C9ADFA-9068-E4AF-1EEA-6AA96D14B0E4}"/>
              </a:ext>
            </a:extLst>
          </p:cNvPr>
          <p:cNvSpPr txBox="1"/>
          <p:nvPr/>
        </p:nvSpPr>
        <p:spPr>
          <a:xfrm>
            <a:off x="1783080" y="4841748"/>
            <a:ext cx="1280160" cy="292608"/>
          </a:xfrm>
          <a:prstGeom prst="rect">
            <a:avLst/>
          </a:prstGeom>
          <a:solidFill>
            <a:schemeClr val="tx1">
              <a:lumMod val="50000"/>
              <a:lumOff val="50000"/>
            </a:schemeClr>
          </a:solidFill>
        </p:spPr>
        <p:txBody>
          <a:bodyPr wrap="square" anchor="ctr" lIns="45720" rIns="45720">
            <a:no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メイン流入元</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75" name="テキスト ボックス 74">
            <a:extLst>
              <a:ext uri="{FF2B5EF4-FFF2-40B4-BE49-F238E27FC236}">
                <a16:creationId xmlns:a16="http://schemas.microsoft.com/office/drawing/2014/main" id="{D9941BFF-1B46-CD45-ED5A-61E32CC889F8}"/>
              </a:ext>
            </a:extLst>
          </p:cNvPr>
          <p:cNvSpPr txBox="1"/>
          <p:nvPr/>
        </p:nvSpPr>
        <p:spPr>
          <a:xfrm>
            <a:off x="1783080" y="4517136"/>
            <a:ext cx="1280160" cy="292608"/>
          </a:xfrm>
          <a:prstGeom prst="rect">
            <a:avLst/>
          </a:prstGeom>
          <a:solidFill>
            <a:schemeClr val="tx1">
              <a:lumMod val="50000"/>
              <a:lumOff val="50000"/>
            </a:schemeClr>
          </a:solidFill>
        </p:spPr>
        <p:txBody>
          <a:bodyPr wrap="square" anchor="ctr" lIns="45720" rIns="45720">
            <a:no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他</a:t>
            </a:r>
            <a:r>
              <a:rPr lang="en-US" altLang="ja-JP" sz="1200" dirty="0">
                <a:solidFill>
                  <a:schemeClr val="bg1"/>
                </a:solidFill>
                <a:latin typeface="メイリオ" panose="020B0604030504040204" pitchFamily="50" charset="-128"/>
                <a:ea typeface="メイリオ" panose="020B0604030504040204" pitchFamily="50" charset="-128"/>
              </a:rPr>
              <a:t>SNS</a:t>
            </a:r>
          </a:p>
        </p:txBody>
      </p:sp>
      <p:sp>
        <p:nvSpPr>
          <p:cNvPr id="76" name="テキスト ボックス 75">
            <a:extLst>
              <a:ext uri="{FF2B5EF4-FFF2-40B4-BE49-F238E27FC236}">
                <a16:creationId xmlns:a16="http://schemas.microsoft.com/office/drawing/2014/main" id="{621AF139-DB4F-043A-C841-17CB34ABE979}"/>
              </a:ext>
            </a:extLst>
          </p:cNvPr>
          <p:cNvSpPr txBox="1"/>
          <p:nvPr/>
        </p:nvSpPr>
        <p:spPr>
          <a:xfrm>
            <a:off x="1783080" y="4192524"/>
            <a:ext cx="1280160" cy="292608"/>
          </a:xfrm>
          <a:prstGeom prst="rect">
            <a:avLst/>
          </a:prstGeom>
          <a:solidFill>
            <a:schemeClr val="tx1">
              <a:lumMod val="50000"/>
              <a:lumOff val="50000"/>
            </a:schemeClr>
          </a:solidFill>
        </p:spPr>
        <p:txBody>
          <a:bodyPr wrap="square" anchor="ctr" lIns="45720" rIns="45720">
            <a:no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リード保有数</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7B5121E5-ADDA-2445-CD99-AF7C9748F0F2}"/>
              </a:ext>
            </a:extLst>
          </p:cNvPr>
          <p:cNvSpPr txBox="1"/>
          <p:nvPr/>
        </p:nvSpPr>
        <p:spPr>
          <a:xfrm>
            <a:off x="1783080" y="2894076"/>
            <a:ext cx="1280160" cy="292608"/>
          </a:xfrm>
          <a:prstGeom prst="rect">
            <a:avLst/>
          </a:prstGeom>
          <a:solidFill>
            <a:schemeClr val="tx1">
              <a:lumMod val="50000"/>
              <a:lumOff val="50000"/>
            </a:schemeClr>
          </a:solidFill>
        </p:spPr>
        <p:txBody>
          <a:bodyPr wrap="square" anchor="ctr" lIns="45720" rIns="45720">
            <a:no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月間</a:t>
            </a:r>
            <a:r>
              <a:rPr lang="en-US" altLang="ja-JP" sz="1200" dirty="0">
                <a:solidFill>
                  <a:schemeClr val="bg1"/>
                </a:solidFill>
                <a:latin typeface="メイリオ" panose="020B0604030504040204" pitchFamily="50" charset="-128"/>
                <a:ea typeface="メイリオ" panose="020B0604030504040204" pitchFamily="50" charset="-128"/>
              </a:rPr>
              <a:t>CV</a:t>
            </a:r>
            <a:r>
              <a:rPr lang="ja-JP" altLang="en-US" sz="1200" dirty="0">
                <a:solidFill>
                  <a:schemeClr val="bg1"/>
                </a:solidFill>
                <a:latin typeface="メイリオ" panose="020B0604030504040204" pitchFamily="50" charset="-128"/>
                <a:ea typeface="メイリオ" panose="020B0604030504040204" pitchFamily="50" charset="-128"/>
              </a:rPr>
              <a:t>数</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9295423F-6886-C0F9-07E8-99E65DA2F185}"/>
              </a:ext>
            </a:extLst>
          </p:cNvPr>
          <p:cNvSpPr txBox="1"/>
          <p:nvPr/>
        </p:nvSpPr>
        <p:spPr>
          <a:xfrm>
            <a:off x="1783080" y="3218688"/>
            <a:ext cx="1280160" cy="292608"/>
          </a:xfrm>
          <a:prstGeom prst="rect">
            <a:avLst/>
          </a:prstGeom>
          <a:solidFill>
            <a:schemeClr val="tx1">
              <a:lumMod val="50000"/>
              <a:lumOff val="50000"/>
            </a:schemeClr>
          </a:solidFill>
        </p:spPr>
        <p:txBody>
          <a:bodyPr wrap="square" anchor="ctr" lIns="45720" rIns="45720">
            <a:no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CV</a:t>
            </a:r>
            <a:r>
              <a:rPr lang="ja-JP" altLang="en-US" sz="1200" dirty="0">
                <a:solidFill>
                  <a:schemeClr val="bg1"/>
                </a:solidFill>
                <a:latin typeface="メイリオ" panose="020B0604030504040204" pitchFamily="50" charset="-128"/>
                <a:ea typeface="メイリオ" panose="020B0604030504040204" pitchFamily="50" charset="-128"/>
              </a:rPr>
              <a:t>地点</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82" name="テキスト ボックス 81">
            <a:extLst>
              <a:ext uri="{FF2B5EF4-FFF2-40B4-BE49-F238E27FC236}">
                <a16:creationId xmlns:a16="http://schemas.microsoft.com/office/drawing/2014/main" id="{BC9F693C-CE4E-77C8-8651-DCFDCF1173A3}"/>
              </a:ext>
            </a:extLst>
          </p:cNvPr>
          <p:cNvSpPr txBox="1"/>
          <p:nvPr/>
        </p:nvSpPr>
        <p:spPr>
          <a:xfrm>
            <a:off x="1783080" y="3543300"/>
            <a:ext cx="1280160" cy="292608"/>
          </a:xfrm>
          <a:prstGeom prst="rect">
            <a:avLst/>
          </a:prstGeom>
          <a:solidFill>
            <a:schemeClr val="tx1">
              <a:lumMod val="50000"/>
              <a:lumOff val="50000"/>
            </a:schemeClr>
          </a:solidFill>
        </p:spPr>
        <p:txBody>
          <a:bodyPr wrap="square" anchor="ctr" lIns="45720" rIns="45720">
            <a:no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LINE</a:t>
            </a:r>
            <a:r>
              <a:rPr lang="ja-JP" altLang="en-US" sz="1200" dirty="0">
                <a:solidFill>
                  <a:schemeClr val="bg1"/>
                </a:solidFill>
                <a:latin typeface="メイリオ" panose="020B0604030504040204" pitchFamily="50" charset="-128"/>
                <a:ea typeface="メイリオ" panose="020B0604030504040204" pitchFamily="50" charset="-128"/>
              </a:rPr>
              <a:t>動線</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84" name="テキスト ボックス 83">
            <a:extLst>
              <a:ext uri="{FF2B5EF4-FFF2-40B4-BE49-F238E27FC236}">
                <a16:creationId xmlns:a16="http://schemas.microsoft.com/office/drawing/2014/main" id="{429EF141-B4B6-BD86-F207-AB9F39A6D6CC}"/>
              </a:ext>
            </a:extLst>
          </p:cNvPr>
          <p:cNvSpPr txBox="1"/>
          <p:nvPr/>
        </p:nvSpPr>
        <p:spPr>
          <a:xfrm>
            <a:off x="1783080" y="3867912"/>
            <a:ext cx="1280160" cy="292608"/>
          </a:xfrm>
          <a:prstGeom prst="rect">
            <a:avLst/>
          </a:prstGeom>
          <a:solidFill>
            <a:schemeClr val="tx1">
              <a:lumMod val="50000"/>
              <a:lumOff val="50000"/>
            </a:schemeClr>
          </a:solidFill>
        </p:spPr>
        <p:txBody>
          <a:bodyPr wrap="square" anchor="ctr" lIns="45720" rIns="45720">
            <a:no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広告比率</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86" name="テキスト ボックス 85">
            <a:extLst>
              <a:ext uri="{FF2B5EF4-FFF2-40B4-BE49-F238E27FC236}">
                <a16:creationId xmlns:a16="http://schemas.microsoft.com/office/drawing/2014/main" id="{7C5532CE-88A1-7418-788B-354213D6977B}"/>
              </a:ext>
            </a:extLst>
          </p:cNvPr>
          <p:cNvSpPr txBox="1"/>
          <p:nvPr/>
        </p:nvSpPr>
        <p:spPr>
          <a:xfrm>
            <a:off x="6510528" y="1920240"/>
            <a:ext cx="1280160" cy="292608"/>
          </a:xfrm>
          <a:prstGeom prst="rect">
            <a:avLst/>
          </a:prstGeom>
          <a:solidFill>
            <a:schemeClr val="tx1">
              <a:lumMod val="50000"/>
              <a:lumOff val="50000"/>
            </a:schemeClr>
          </a:solidFill>
        </p:spPr>
        <p:txBody>
          <a:bodyPr wrap="square" anchor="ctr" lIns="45720" rIns="45720">
            <a:no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友だち数</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88" name="テキスト ボックス 87">
            <a:extLst>
              <a:ext uri="{FF2B5EF4-FFF2-40B4-BE49-F238E27FC236}">
                <a16:creationId xmlns:a16="http://schemas.microsoft.com/office/drawing/2014/main" id="{4E2A999C-E78C-D828-F3B4-8B46E6CFAC5C}"/>
              </a:ext>
            </a:extLst>
          </p:cNvPr>
          <p:cNvSpPr txBox="1"/>
          <p:nvPr/>
        </p:nvSpPr>
        <p:spPr>
          <a:xfrm>
            <a:off x="6510528" y="2244852"/>
            <a:ext cx="1280160" cy="292608"/>
          </a:xfrm>
          <a:prstGeom prst="rect">
            <a:avLst/>
          </a:prstGeom>
          <a:solidFill>
            <a:schemeClr val="tx1">
              <a:lumMod val="50000"/>
              <a:lumOff val="50000"/>
            </a:schemeClr>
          </a:solidFill>
        </p:spPr>
        <p:txBody>
          <a:bodyPr wrap="square" anchor="ctr" lIns="45720" rIns="45720">
            <a:no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アクティブ数</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90" name="テキスト ボックス 89">
            <a:extLst>
              <a:ext uri="{FF2B5EF4-FFF2-40B4-BE49-F238E27FC236}">
                <a16:creationId xmlns:a16="http://schemas.microsoft.com/office/drawing/2014/main" id="{50BA19F4-53F1-C97B-0713-EC49522B21E8}"/>
              </a:ext>
            </a:extLst>
          </p:cNvPr>
          <p:cNvSpPr txBox="1"/>
          <p:nvPr/>
        </p:nvSpPr>
        <p:spPr>
          <a:xfrm>
            <a:off x="6510528" y="2569464"/>
            <a:ext cx="1280160" cy="292608"/>
          </a:xfrm>
          <a:prstGeom prst="rect">
            <a:avLst/>
          </a:prstGeom>
          <a:solidFill>
            <a:schemeClr val="tx1">
              <a:lumMod val="50000"/>
              <a:lumOff val="50000"/>
            </a:schemeClr>
          </a:solidFill>
        </p:spPr>
        <p:txBody>
          <a:bodyPr wrap="square" anchor="ctr" lIns="45720" rIns="45720">
            <a:no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ブロック率</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92" name="テキスト ボックス 91">
            <a:extLst>
              <a:ext uri="{FF2B5EF4-FFF2-40B4-BE49-F238E27FC236}">
                <a16:creationId xmlns:a16="http://schemas.microsoft.com/office/drawing/2014/main" id="{0D3F17B7-BE54-FFAB-DA5A-705404A9C08A}"/>
              </a:ext>
            </a:extLst>
          </p:cNvPr>
          <p:cNvSpPr txBox="1"/>
          <p:nvPr/>
        </p:nvSpPr>
        <p:spPr>
          <a:xfrm>
            <a:off x="6510528" y="4841748"/>
            <a:ext cx="1280160" cy="292608"/>
          </a:xfrm>
          <a:prstGeom prst="rect">
            <a:avLst/>
          </a:prstGeom>
          <a:solidFill>
            <a:schemeClr val="tx1">
              <a:lumMod val="50000"/>
              <a:lumOff val="50000"/>
            </a:schemeClr>
          </a:solidFill>
        </p:spPr>
        <p:txBody>
          <a:bodyPr wrap="square" lIns="45720" rIns="45720" anchor="ctr">
            <a:no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リッチメニュー</a:t>
            </a:r>
          </a:p>
        </p:txBody>
      </p:sp>
      <p:sp>
        <p:nvSpPr>
          <p:cNvPr id="94" name="テキスト ボックス 93">
            <a:extLst>
              <a:ext uri="{FF2B5EF4-FFF2-40B4-BE49-F238E27FC236}">
                <a16:creationId xmlns:a16="http://schemas.microsoft.com/office/drawing/2014/main" id="{B0DD1EFF-563A-1CD9-9989-968BFFEBCC2C}"/>
              </a:ext>
            </a:extLst>
          </p:cNvPr>
          <p:cNvSpPr txBox="1"/>
          <p:nvPr/>
        </p:nvSpPr>
        <p:spPr>
          <a:xfrm>
            <a:off x="6510528" y="4517136"/>
            <a:ext cx="1280160" cy="292608"/>
          </a:xfrm>
          <a:prstGeom prst="rect">
            <a:avLst/>
          </a:prstGeom>
          <a:solidFill>
            <a:schemeClr val="tx1">
              <a:lumMod val="50000"/>
              <a:lumOff val="50000"/>
            </a:schemeClr>
          </a:solidFill>
        </p:spPr>
        <p:txBody>
          <a:bodyPr wrap="square" anchor="ctr" lIns="45720" rIns="45720">
            <a:no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ツール</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96" name="テキスト ボックス 95">
            <a:extLst>
              <a:ext uri="{FF2B5EF4-FFF2-40B4-BE49-F238E27FC236}">
                <a16:creationId xmlns:a16="http://schemas.microsoft.com/office/drawing/2014/main" id="{CDF3ACE8-A29C-0869-5155-3A40D885312A}"/>
              </a:ext>
            </a:extLst>
          </p:cNvPr>
          <p:cNvSpPr txBox="1"/>
          <p:nvPr/>
        </p:nvSpPr>
        <p:spPr>
          <a:xfrm>
            <a:off x="6510528" y="4192524"/>
            <a:ext cx="1280160" cy="292608"/>
          </a:xfrm>
          <a:prstGeom prst="rect">
            <a:avLst/>
          </a:prstGeom>
          <a:solidFill>
            <a:schemeClr val="tx1">
              <a:lumMod val="50000"/>
              <a:lumOff val="50000"/>
            </a:schemeClr>
          </a:solidFill>
        </p:spPr>
        <p:txBody>
          <a:bodyPr wrap="square" anchor="ctr" lIns="45720" rIns="45720">
            <a:no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想定コスト</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98" name="テキスト ボックス 97">
            <a:extLst>
              <a:ext uri="{FF2B5EF4-FFF2-40B4-BE49-F238E27FC236}">
                <a16:creationId xmlns:a16="http://schemas.microsoft.com/office/drawing/2014/main" id="{052C94FD-2F48-FE18-F017-6E76C0BDD2F3}"/>
              </a:ext>
            </a:extLst>
          </p:cNvPr>
          <p:cNvSpPr txBox="1"/>
          <p:nvPr/>
        </p:nvSpPr>
        <p:spPr>
          <a:xfrm>
            <a:off x="6510528" y="2894076"/>
            <a:ext cx="1280160" cy="292608"/>
          </a:xfrm>
          <a:prstGeom prst="rect">
            <a:avLst/>
          </a:prstGeom>
          <a:solidFill>
            <a:schemeClr val="tx1">
              <a:lumMod val="50000"/>
              <a:lumOff val="50000"/>
            </a:schemeClr>
          </a:solidFill>
        </p:spPr>
        <p:txBody>
          <a:bodyPr wrap="square" anchor="ctr" lIns="45720" rIns="45720">
            <a:no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月間投稿数</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100" name="テキスト ボックス 99">
            <a:extLst>
              <a:ext uri="{FF2B5EF4-FFF2-40B4-BE49-F238E27FC236}">
                <a16:creationId xmlns:a16="http://schemas.microsoft.com/office/drawing/2014/main" id="{FEDAB5C8-D777-7083-1B4C-F755ADE9FC2B}"/>
              </a:ext>
            </a:extLst>
          </p:cNvPr>
          <p:cNvSpPr txBox="1"/>
          <p:nvPr/>
        </p:nvSpPr>
        <p:spPr>
          <a:xfrm>
            <a:off x="6510528" y="3218688"/>
            <a:ext cx="1280160" cy="292608"/>
          </a:xfrm>
          <a:prstGeom prst="rect">
            <a:avLst/>
          </a:prstGeom>
          <a:solidFill>
            <a:schemeClr val="tx1">
              <a:lumMod val="50000"/>
              <a:lumOff val="50000"/>
            </a:schemeClr>
          </a:solidFill>
        </p:spPr>
        <p:txBody>
          <a:bodyPr wrap="square" anchor="ctr" lIns="45720" rIns="45720">
            <a:no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ステップ実施</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102" name="テキスト ボックス 101">
            <a:extLst>
              <a:ext uri="{FF2B5EF4-FFF2-40B4-BE49-F238E27FC236}">
                <a16:creationId xmlns:a16="http://schemas.microsoft.com/office/drawing/2014/main" id="{F4164EE0-C2B2-E301-5AC9-2CA1B7015DD6}"/>
              </a:ext>
            </a:extLst>
          </p:cNvPr>
          <p:cNvSpPr txBox="1"/>
          <p:nvPr/>
        </p:nvSpPr>
        <p:spPr>
          <a:xfrm>
            <a:off x="6510528" y="3543300"/>
            <a:ext cx="1280160" cy="292608"/>
          </a:xfrm>
          <a:prstGeom prst="rect">
            <a:avLst/>
          </a:prstGeom>
          <a:solidFill>
            <a:schemeClr val="tx1">
              <a:lumMod val="50000"/>
              <a:lumOff val="50000"/>
            </a:schemeClr>
          </a:solidFill>
        </p:spPr>
        <p:txBody>
          <a:bodyPr wrap="square" anchor="ctr" lIns="45720" rIns="45720">
            <a:no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アンケート実施</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104" name="テキスト ボックス 103">
            <a:extLst>
              <a:ext uri="{FF2B5EF4-FFF2-40B4-BE49-F238E27FC236}">
                <a16:creationId xmlns:a16="http://schemas.microsoft.com/office/drawing/2014/main" id="{86F2BB75-D087-3536-A5EC-03D24451492A}"/>
              </a:ext>
            </a:extLst>
          </p:cNvPr>
          <p:cNvSpPr txBox="1"/>
          <p:nvPr/>
        </p:nvSpPr>
        <p:spPr>
          <a:xfrm>
            <a:off x="6510528" y="3867912"/>
            <a:ext cx="1280160" cy="292608"/>
          </a:xfrm>
          <a:prstGeom prst="rect">
            <a:avLst/>
          </a:prstGeom>
          <a:solidFill>
            <a:schemeClr val="tx1">
              <a:lumMod val="50000"/>
              <a:lumOff val="50000"/>
            </a:schemeClr>
          </a:solidFill>
        </p:spPr>
        <p:txBody>
          <a:bodyPr wrap="square" anchor="ctr" lIns="45720" rIns="45720">
            <a:no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プロフ動線</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106" name="テキスト ボックス 105">
            <a:extLst>
              <a:ext uri="{FF2B5EF4-FFF2-40B4-BE49-F238E27FC236}">
                <a16:creationId xmlns:a16="http://schemas.microsoft.com/office/drawing/2014/main" id="{B6ADA316-97DB-19DE-5310-2D4AFF7C5555}"/>
              </a:ext>
            </a:extLst>
          </p:cNvPr>
          <p:cNvSpPr txBox="1"/>
          <p:nvPr/>
        </p:nvSpPr>
        <p:spPr>
          <a:xfrm>
            <a:off x="3081527" y="1920240"/>
            <a:ext cx="1673352" cy="292608"/>
          </a:xfrm>
          <a:prstGeom prst="rect">
            <a:avLst/>
          </a:prstGeom>
          <a:solidFill>
            <a:schemeClr val="bg1">
              <a:lumMod val="95000"/>
            </a:schemeClr>
          </a:solidFill>
        </p:spPr>
        <p:txBody>
          <a:bodyPr wrap="square" anchor="ctr" lIns="45720" rIns="45720">
            <a:noAutofit/>
          </a:bodyPr>
          <a:lstStyle/>
          <a:p>
            <a:pPr algn="ctr"/>
            <a:r>
              <a:rPr lang="en-US" altLang="ja-JP" sz="1200" b="1" dirty="0">
                <a:latin typeface="メイリオ" panose="020B0604030504040204" pitchFamily="50" charset="-128"/>
                <a:ea typeface="メイリオ" panose="020B0604030504040204" pitchFamily="50" charset="-128"/>
              </a:rPr>
              <a:t>1,737</a:t>
            </a:r>
          </a:p>
        </p:txBody>
      </p:sp>
      <p:sp>
        <p:nvSpPr>
          <p:cNvPr id="108" name="テキスト ボックス 107">
            <a:extLst>
              <a:ext uri="{FF2B5EF4-FFF2-40B4-BE49-F238E27FC236}">
                <a16:creationId xmlns:a16="http://schemas.microsoft.com/office/drawing/2014/main" id="{47F3F567-C41D-6459-A492-84B20AAA216D}"/>
              </a:ext>
            </a:extLst>
          </p:cNvPr>
          <p:cNvSpPr txBox="1"/>
          <p:nvPr/>
        </p:nvSpPr>
        <p:spPr>
          <a:xfrm>
            <a:off x="3081527" y="2244852"/>
            <a:ext cx="1673352" cy="292608"/>
          </a:xfrm>
          <a:prstGeom prst="rect">
            <a:avLst/>
          </a:prstGeom>
          <a:solidFill>
            <a:schemeClr val="bg1">
              <a:lumMod val="95000"/>
            </a:schemeClr>
          </a:solidFill>
        </p:spPr>
        <p:txBody>
          <a:bodyPr wrap="square" anchor="ctr" lIns="45720" rIns="45720">
            <a:noAutofit/>
          </a:bodyPr>
          <a:lstStyle/>
          <a:p>
            <a:pPr algn="ctr"/>
            <a:r>
              <a:rPr lang="ja-JP" altLang="en-US" sz="1200" b="1" dirty="0">
                <a:latin typeface="メイリオ" panose="020B0604030504040204" pitchFamily="50" charset="-128"/>
                <a:ea typeface="メイリオ" panose="020B0604030504040204" pitchFamily="50" charset="-128"/>
              </a:rPr>
              <a:t>0（広告なし）</a:t>
            </a:r>
            <a:endParaRPr lang="en-US" altLang="ja-JP" sz="1200" b="1" dirty="0">
              <a:latin typeface="メイリオ" panose="020B0604030504040204" pitchFamily="50" charset="-128"/>
              <a:ea typeface="メイリオ" panose="020B0604030504040204" pitchFamily="50" charset="-128"/>
            </a:endParaRPr>
          </a:p>
        </p:txBody>
      </p:sp>
      <p:sp>
        <p:nvSpPr>
          <p:cNvPr id="110" name="テキスト ボックス 109">
            <a:extLst>
              <a:ext uri="{FF2B5EF4-FFF2-40B4-BE49-F238E27FC236}">
                <a16:creationId xmlns:a16="http://schemas.microsoft.com/office/drawing/2014/main" id="{EA12EB97-C2CF-9EF7-68AC-1F725E44C0C6}"/>
              </a:ext>
            </a:extLst>
          </p:cNvPr>
          <p:cNvSpPr txBox="1"/>
          <p:nvPr/>
        </p:nvSpPr>
        <p:spPr>
          <a:xfrm>
            <a:off x="3081527" y="2569464"/>
            <a:ext cx="1673352" cy="292608"/>
          </a:xfrm>
          <a:prstGeom prst="rect">
            <a:avLst/>
          </a:prstGeom>
          <a:solidFill>
            <a:schemeClr val="bg1">
              <a:lumMod val="95000"/>
            </a:schemeClr>
          </a:solidFill>
        </p:spPr>
        <p:txBody>
          <a:bodyPr wrap="square" anchor="ctr" lIns="45720" rIns="45720">
            <a:noAutofit/>
          </a:bodyPr>
          <a:lstStyle/>
          <a:p>
            <a:pPr algn="ctr"/>
            <a:r>
              <a:rPr lang="en-US" altLang="ja-JP" sz="1200" b="1" dirty="0">
                <a:solidFill>
                  <a:schemeClr val="tx1">
                    <a:lumMod val="85000"/>
                    <a:lumOff val="15000"/>
                  </a:schemeClr>
                </a:solidFill>
                <a:latin typeface="メイリオ" panose="020B0604030504040204" pitchFamily="50" charset="-128"/>
                <a:ea typeface="メイリオ" panose="020B0604030504040204" pitchFamily="50" charset="-128"/>
              </a:rPr>
              <a:t>なし</a:t>
            </a:r>
            <a:endParaRPr lang="en-US" altLang="ja-JP" sz="1200"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112" name="テキスト ボックス 111">
            <a:extLst>
              <a:ext uri="{FF2B5EF4-FFF2-40B4-BE49-F238E27FC236}">
                <a16:creationId xmlns:a16="http://schemas.microsoft.com/office/drawing/2014/main" id="{C7BA49E9-9AD1-C8F1-045C-F99303CC534D}"/>
              </a:ext>
            </a:extLst>
          </p:cNvPr>
          <p:cNvSpPr txBox="1"/>
          <p:nvPr/>
        </p:nvSpPr>
        <p:spPr>
          <a:xfrm>
            <a:off x="3081527" y="4841748"/>
            <a:ext cx="1673352" cy="292608"/>
          </a:xfrm>
          <a:prstGeom prst="rect">
            <a:avLst/>
          </a:prstGeom>
          <a:solidFill>
            <a:schemeClr val="bg1">
              <a:lumMod val="95000"/>
            </a:schemeClr>
          </a:solidFill>
        </p:spPr>
        <p:txBody>
          <a:bodyPr wrap="square" anchor="ctr" lIns="45720" rIns="45720">
            <a:noAutofit/>
          </a:bodyPr>
          <a:lstStyle/>
          <a:p>
            <a:pPr algn="ctr"/>
            <a:r>
              <a:rPr lang="ja-JP" altLang="en-US" sz="1200" b="1" dirty="0">
                <a:latin typeface="メイリオ" panose="020B0604030504040204" pitchFamily="50" charset="-128"/>
                <a:ea typeface="メイリオ" panose="020B0604030504040204" pitchFamily="50" charset="-128"/>
              </a:rPr>
              <a:t>不明（広告なし）</a:t>
            </a:r>
          </a:p>
        </p:txBody>
      </p:sp>
      <p:sp>
        <p:nvSpPr>
          <p:cNvPr id="114" name="テキスト ボックス 113">
            <a:extLst>
              <a:ext uri="{FF2B5EF4-FFF2-40B4-BE49-F238E27FC236}">
                <a16:creationId xmlns:a16="http://schemas.microsoft.com/office/drawing/2014/main" id="{7BE2FF98-F2E6-8CBD-5248-49871F114542}"/>
              </a:ext>
            </a:extLst>
          </p:cNvPr>
          <p:cNvSpPr txBox="1"/>
          <p:nvPr/>
        </p:nvSpPr>
        <p:spPr>
          <a:xfrm>
            <a:off x="3081527" y="4517136"/>
            <a:ext cx="1673352" cy="292608"/>
          </a:xfrm>
          <a:prstGeom prst="rect">
            <a:avLst/>
          </a:prstGeom>
          <a:solidFill>
            <a:schemeClr val="bg1">
              <a:lumMod val="95000"/>
            </a:schemeClr>
          </a:solidFill>
        </p:spPr>
        <p:txBody>
          <a:bodyPr wrap="square" anchor="ctr" lIns="45720" rIns="45720">
            <a:noAutofit/>
          </a:bodyPr>
          <a:lstStyle/>
          <a:p>
            <a:pPr algn="ctr"/>
            <a:r>
              <a:rPr lang="en-US" altLang="ja-JP" sz="1200" b="1" dirty="0" err="1">
                <a:latin typeface="メイリオ" panose="020B0604030504040204" pitchFamily="50" charset="-128"/>
                <a:ea typeface="メイリオ" panose="020B0604030504040204" pitchFamily="50" charset="-128"/>
              </a:rPr>
              <a:t>YouTube</a:t>
            </a:r>
            <a:endParaRPr lang="en-US" altLang="ja-JP" sz="1200" b="1" dirty="0">
              <a:latin typeface="メイリオ" panose="020B0604030504040204" pitchFamily="50" charset="-128"/>
              <a:ea typeface="メイリオ" panose="020B0604030504040204" pitchFamily="50" charset="-128"/>
            </a:endParaRPr>
          </a:p>
        </p:txBody>
      </p:sp>
      <p:sp>
        <p:nvSpPr>
          <p:cNvPr id="116" name="テキスト ボックス 115">
            <a:extLst>
              <a:ext uri="{FF2B5EF4-FFF2-40B4-BE49-F238E27FC236}">
                <a16:creationId xmlns:a16="http://schemas.microsoft.com/office/drawing/2014/main" id="{914EF112-00D2-D47D-0B61-A93CBE8BB645}"/>
              </a:ext>
            </a:extLst>
          </p:cNvPr>
          <p:cNvSpPr txBox="1"/>
          <p:nvPr/>
        </p:nvSpPr>
        <p:spPr>
          <a:xfrm>
            <a:off x="3081527" y="4192524"/>
            <a:ext cx="1673352" cy="292608"/>
          </a:xfrm>
          <a:prstGeom prst="rect">
            <a:avLst/>
          </a:prstGeom>
          <a:solidFill>
            <a:schemeClr val="bg1">
              <a:lumMod val="95000"/>
            </a:schemeClr>
          </a:solidFill>
        </p:spPr>
        <p:txBody>
          <a:bodyPr wrap="square" anchor="ctr" lIns="45720" rIns="45720">
            <a:noAutofit/>
          </a:bodyPr>
          <a:lstStyle/>
          <a:p>
            <a:pPr algn="ctr"/>
            <a:r>
              <a:rPr lang="ja-JP" altLang="en-US" sz="1200" b="1" dirty="0">
                <a:latin typeface="メイリオ" panose="020B0604030504040204" pitchFamily="50" charset="-128"/>
                <a:ea typeface="メイリオ" panose="020B0604030504040204" pitchFamily="50" charset="-128"/>
              </a:rPr>
              <a:t>不明</a:t>
            </a:r>
            <a:endParaRPr lang="en-US" altLang="ja-JP" sz="1200" b="1" dirty="0">
              <a:latin typeface="メイリオ" panose="020B0604030504040204" pitchFamily="50" charset="-128"/>
              <a:ea typeface="メイリオ" panose="020B0604030504040204" pitchFamily="50" charset="-128"/>
            </a:endParaRPr>
          </a:p>
        </p:txBody>
      </p:sp>
      <p:sp>
        <p:nvSpPr>
          <p:cNvPr id="118" name="テキスト ボックス 117">
            <a:extLst>
              <a:ext uri="{FF2B5EF4-FFF2-40B4-BE49-F238E27FC236}">
                <a16:creationId xmlns:a16="http://schemas.microsoft.com/office/drawing/2014/main" id="{986694EA-BD3A-DAC6-4DEE-7D91F77FBE22}"/>
              </a:ext>
            </a:extLst>
          </p:cNvPr>
          <p:cNvSpPr txBox="1"/>
          <p:nvPr/>
        </p:nvSpPr>
        <p:spPr>
          <a:xfrm>
            <a:off x="3081527" y="2894076"/>
            <a:ext cx="1673352" cy="292608"/>
          </a:xfrm>
          <a:prstGeom prst="rect">
            <a:avLst/>
          </a:prstGeom>
          <a:solidFill>
            <a:schemeClr val="bg1">
              <a:lumMod val="95000"/>
            </a:schemeClr>
          </a:solidFill>
        </p:spPr>
        <p:txBody>
          <a:bodyPr wrap="square" anchor="ctr" lIns="45720" rIns="45720">
            <a:noAutofit/>
          </a:bodyPr>
          <a:lstStyle/>
          <a:p>
            <a:pPr algn="ctr"/>
            <a:r>
              <a:rPr lang="ja-JP" altLang="en-US" sz="1200" b="1" dirty="0">
                <a:latin typeface="メイリオ" panose="020B0604030504040204" pitchFamily="50" charset="-128"/>
                <a:ea typeface="メイリオ" panose="020B0604030504040204" pitchFamily="50" charset="-128"/>
              </a:rPr>
              <a:t>30件（仮）</a:t>
            </a:r>
            <a:endParaRPr lang="en-US" altLang="ja-JP" sz="1200" b="1" dirty="0">
              <a:latin typeface="メイリオ" panose="020B0604030504040204" pitchFamily="50" charset="-128"/>
              <a:ea typeface="メイリオ" panose="020B0604030504040204" pitchFamily="50" charset="-128"/>
            </a:endParaRPr>
          </a:p>
        </p:txBody>
      </p:sp>
      <p:sp>
        <p:nvSpPr>
          <p:cNvPr id="120" name="テキスト ボックス 119">
            <a:extLst>
              <a:ext uri="{FF2B5EF4-FFF2-40B4-BE49-F238E27FC236}">
                <a16:creationId xmlns:a16="http://schemas.microsoft.com/office/drawing/2014/main" id="{55C2042F-3220-C5D3-61DE-7D9D40613A6E}"/>
              </a:ext>
            </a:extLst>
          </p:cNvPr>
          <p:cNvSpPr txBox="1"/>
          <p:nvPr/>
        </p:nvSpPr>
        <p:spPr>
          <a:xfrm>
            <a:off x="3081527" y="3218688"/>
            <a:ext cx="1673352" cy="292608"/>
          </a:xfrm>
          <a:prstGeom prst="rect">
            <a:avLst/>
          </a:prstGeom>
          <a:solidFill>
            <a:schemeClr val="bg1">
              <a:lumMod val="95000"/>
            </a:schemeClr>
          </a:solidFill>
        </p:spPr>
        <p:txBody>
          <a:bodyPr wrap="square" anchor="ctr" lIns="45720" rIns="45720">
            <a:noAutofit/>
          </a:bodyPr>
          <a:lstStyle/>
          <a:p>
            <a:pPr algn="ctr"/>
            <a:r>
              <a:rPr lang="ja-JP" altLang="en-US" sz="1200" b="1" dirty="0">
                <a:solidFill>
                  <a:srgbClr val="FF0000"/>
                </a:solidFill>
                <a:latin typeface="メイリオ" panose="020B0604030504040204" pitchFamily="50" charset="-128"/>
                <a:ea typeface="メイリオ" panose="020B0604030504040204" pitchFamily="50" charset="-128"/>
              </a:rPr>
              <a:t>問い合わせ</a:t>
            </a:r>
            <a:endParaRPr lang="en-US" altLang="ja-JP" sz="1200" b="1" dirty="0">
              <a:solidFill>
                <a:srgbClr val="FF0000"/>
              </a:solidFill>
              <a:latin typeface="メイリオ" panose="020B0604030504040204" pitchFamily="50" charset="-128"/>
              <a:ea typeface="メイリオ" panose="020B0604030504040204" pitchFamily="50" charset="-128"/>
            </a:endParaRPr>
          </a:p>
        </p:txBody>
      </p:sp>
      <p:sp>
        <p:nvSpPr>
          <p:cNvPr id="122" name="テキスト ボックス 121">
            <a:extLst>
              <a:ext uri="{FF2B5EF4-FFF2-40B4-BE49-F238E27FC236}">
                <a16:creationId xmlns:a16="http://schemas.microsoft.com/office/drawing/2014/main" id="{153D3F2B-14F9-70C0-50BC-B7CB286E2D8F}"/>
              </a:ext>
            </a:extLst>
          </p:cNvPr>
          <p:cNvSpPr txBox="1"/>
          <p:nvPr/>
        </p:nvSpPr>
        <p:spPr>
          <a:xfrm>
            <a:off x="3081527" y="3543300"/>
            <a:ext cx="1673352" cy="292608"/>
          </a:xfrm>
          <a:prstGeom prst="rect">
            <a:avLst/>
          </a:prstGeom>
          <a:solidFill>
            <a:schemeClr val="bg1">
              <a:lumMod val="95000"/>
            </a:schemeClr>
          </a:solidFill>
        </p:spPr>
        <p:txBody>
          <a:bodyPr wrap="square" anchor="ctr" lIns="45720" rIns="45720">
            <a:noAutofit/>
          </a:bodyPr>
          <a:lstStyle/>
          <a:p>
            <a:pPr algn="ctr"/>
            <a:r>
              <a:rPr lang="ja-JP" altLang="en-US" sz="1200" b="1" dirty="0">
                <a:latin typeface="メイリオ" panose="020B0604030504040204" pitchFamily="50" charset="-128"/>
                <a:ea typeface="メイリオ" panose="020B0604030504040204" pitchFamily="50" charset="-128"/>
              </a:rPr>
              <a:t>有</a:t>
            </a:r>
            <a:endParaRPr lang="en-US" altLang="ja-JP" sz="1200" b="1" dirty="0">
              <a:latin typeface="メイリオ" panose="020B0604030504040204" pitchFamily="50" charset="-128"/>
              <a:ea typeface="メイリオ" panose="020B0604030504040204" pitchFamily="50" charset="-128"/>
            </a:endParaRPr>
          </a:p>
        </p:txBody>
      </p:sp>
      <p:sp>
        <p:nvSpPr>
          <p:cNvPr id="124" name="テキスト ボックス 123">
            <a:extLst>
              <a:ext uri="{FF2B5EF4-FFF2-40B4-BE49-F238E27FC236}">
                <a16:creationId xmlns:a16="http://schemas.microsoft.com/office/drawing/2014/main" id="{2263D4CF-8260-F1E1-BCF7-ED72C65AF07F}"/>
              </a:ext>
            </a:extLst>
          </p:cNvPr>
          <p:cNvSpPr txBox="1"/>
          <p:nvPr/>
        </p:nvSpPr>
        <p:spPr>
          <a:xfrm>
            <a:off x="3081527" y="3867912"/>
            <a:ext cx="1673352" cy="292608"/>
          </a:xfrm>
          <a:prstGeom prst="rect">
            <a:avLst/>
          </a:prstGeom>
          <a:solidFill>
            <a:schemeClr val="bg1">
              <a:lumMod val="95000"/>
            </a:schemeClr>
          </a:solidFill>
        </p:spPr>
        <p:txBody>
          <a:bodyPr wrap="square" anchor="ctr" lIns="45720" rIns="45720">
            <a:noAutofit/>
          </a:bodyPr>
          <a:lstStyle/>
          <a:p>
            <a:pPr algn="ctr"/>
            <a:r>
              <a:rPr lang="en-US" altLang="ja-JP" sz="1200" b="1" dirty="0">
                <a:latin typeface="メイリオ" panose="020B0604030504040204" pitchFamily="50" charset="-128"/>
                <a:ea typeface="メイリオ" panose="020B0604030504040204" pitchFamily="50" charset="-128"/>
              </a:rPr>
              <a:t>0％</a:t>
            </a:r>
          </a:p>
        </p:txBody>
      </p:sp>
      <p:sp>
        <p:nvSpPr>
          <p:cNvPr id="169" name="テキスト ボックス 168">
            <a:extLst>
              <a:ext uri="{FF2B5EF4-FFF2-40B4-BE49-F238E27FC236}">
                <a16:creationId xmlns:a16="http://schemas.microsoft.com/office/drawing/2014/main" id="{32CFABB8-ADE8-1D5B-7822-D8BF0BA34FC4}"/>
              </a:ext>
            </a:extLst>
          </p:cNvPr>
          <p:cNvSpPr txBox="1"/>
          <p:nvPr/>
        </p:nvSpPr>
        <p:spPr>
          <a:xfrm>
            <a:off x="6510528" y="5166360"/>
            <a:ext cx="1280160" cy="292608"/>
          </a:xfrm>
          <a:prstGeom prst="rect">
            <a:avLst/>
          </a:prstGeom>
          <a:solidFill>
            <a:schemeClr val="tx1">
              <a:lumMod val="50000"/>
              <a:lumOff val="50000"/>
            </a:schemeClr>
          </a:solidFill>
        </p:spPr>
        <p:txBody>
          <a:bodyPr wrap="square" anchor="ctr" lIns="45720" rIns="45720">
            <a:no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あいさつ</a:t>
            </a:r>
          </a:p>
        </p:txBody>
      </p:sp>
      <p:sp>
        <p:nvSpPr>
          <p:cNvPr id="171" name="テキスト ボックス 170">
            <a:extLst>
              <a:ext uri="{FF2B5EF4-FFF2-40B4-BE49-F238E27FC236}">
                <a16:creationId xmlns:a16="http://schemas.microsoft.com/office/drawing/2014/main" id="{CEE5E6FB-FD31-4BA0-5DD6-0E11BBB49851}"/>
              </a:ext>
            </a:extLst>
          </p:cNvPr>
          <p:cNvSpPr txBox="1"/>
          <p:nvPr/>
        </p:nvSpPr>
        <p:spPr>
          <a:xfrm>
            <a:off x="7808975" y="1920240"/>
            <a:ext cx="1673352" cy="292608"/>
          </a:xfrm>
          <a:prstGeom prst="rect">
            <a:avLst/>
          </a:prstGeom>
          <a:solidFill>
            <a:schemeClr val="bg1">
              <a:lumMod val="95000"/>
            </a:schemeClr>
          </a:solidFill>
        </p:spPr>
        <p:txBody>
          <a:bodyPr wrap="square" anchor="ctr" lIns="45720" rIns="45720">
            <a:noAutofit/>
          </a:bodyPr>
          <a:lstStyle/>
          <a:p>
            <a:pPr algn="ctr"/>
            <a:r>
              <a:rPr lang="en-US" altLang="ja-JP" sz="1200" b="1" dirty="0">
                <a:latin typeface="メイリオ" panose="020B0604030504040204" pitchFamily="50" charset="-128"/>
                <a:ea typeface="メイリオ" panose="020B0604030504040204" pitchFamily="50" charset="-128"/>
              </a:rPr>
              <a:t>1,241</a:t>
            </a:r>
          </a:p>
        </p:txBody>
      </p:sp>
      <p:sp>
        <p:nvSpPr>
          <p:cNvPr id="173" name="テキスト ボックス 172">
            <a:extLst>
              <a:ext uri="{FF2B5EF4-FFF2-40B4-BE49-F238E27FC236}">
                <a16:creationId xmlns:a16="http://schemas.microsoft.com/office/drawing/2014/main" id="{E91D57C9-6375-8F5E-0D71-3230B0BA0AC3}"/>
              </a:ext>
            </a:extLst>
          </p:cNvPr>
          <p:cNvSpPr txBox="1"/>
          <p:nvPr/>
        </p:nvSpPr>
        <p:spPr>
          <a:xfrm>
            <a:off x="7808975" y="2244852"/>
            <a:ext cx="1673352" cy="292608"/>
          </a:xfrm>
          <a:prstGeom prst="rect">
            <a:avLst/>
          </a:prstGeom>
          <a:solidFill>
            <a:schemeClr val="bg1">
              <a:lumMod val="95000"/>
            </a:schemeClr>
          </a:solidFill>
        </p:spPr>
        <p:txBody>
          <a:bodyPr wrap="square" anchor="ctr" lIns="45720" rIns="45720">
            <a:noAutofit/>
          </a:bodyPr>
          <a:lstStyle/>
          <a:p>
            <a:pPr algn="ctr"/>
            <a:r>
              <a:rPr lang="en-US" altLang="ja-JP" sz="1200" b="1" dirty="0">
                <a:latin typeface="メイリオ" panose="020B0604030504040204" pitchFamily="50" charset="-128"/>
                <a:ea typeface="メイリオ" panose="020B0604030504040204" pitchFamily="50" charset="-128"/>
              </a:rPr>
              <a:t>約807（仮）</a:t>
            </a:r>
          </a:p>
        </p:txBody>
      </p:sp>
      <p:sp>
        <p:nvSpPr>
          <p:cNvPr id="175" name="テキスト ボックス 174">
            <a:extLst>
              <a:ext uri="{FF2B5EF4-FFF2-40B4-BE49-F238E27FC236}">
                <a16:creationId xmlns:a16="http://schemas.microsoft.com/office/drawing/2014/main" id="{50103491-D71F-7EB5-8BE0-3BC70A0F52D1}"/>
              </a:ext>
            </a:extLst>
          </p:cNvPr>
          <p:cNvSpPr txBox="1"/>
          <p:nvPr/>
        </p:nvSpPr>
        <p:spPr>
          <a:xfrm>
            <a:off x="7808975" y="2569464"/>
            <a:ext cx="1673352" cy="292608"/>
          </a:xfrm>
          <a:prstGeom prst="rect">
            <a:avLst/>
          </a:prstGeom>
          <a:solidFill>
            <a:schemeClr val="bg1">
              <a:lumMod val="95000"/>
            </a:schemeClr>
          </a:solidFill>
        </p:spPr>
        <p:txBody>
          <a:bodyPr wrap="square" anchor="ctr" lIns="45720" rIns="45720">
            <a:noAutofit/>
          </a:bodyPr>
          <a:lstStyle/>
          <a:p>
            <a:pPr algn="ctr"/>
            <a:r>
              <a:rPr lang="en-US" altLang="ja-JP" sz="1200" b="1" dirty="0">
                <a:latin typeface="メイリオ" panose="020B0604030504040204" pitchFamily="50" charset="-128"/>
                <a:ea typeface="メイリオ" panose="020B0604030504040204" pitchFamily="50" charset="-128"/>
              </a:rPr>
              <a:t>35%（仮）</a:t>
            </a:r>
          </a:p>
        </p:txBody>
      </p:sp>
      <p:sp>
        <p:nvSpPr>
          <p:cNvPr id="177" name="テキスト ボックス 176">
            <a:extLst>
              <a:ext uri="{FF2B5EF4-FFF2-40B4-BE49-F238E27FC236}">
                <a16:creationId xmlns:a16="http://schemas.microsoft.com/office/drawing/2014/main" id="{03486B97-EFB2-9F95-C428-B571949EB1AE}"/>
              </a:ext>
            </a:extLst>
          </p:cNvPr>
          <p:cNvSpPr txBox="1"/>
          <p:nvPr/>
        </p:nvSpPr>
        <p:spPr>
          <a:xfrm>
            <a:off x="7808975" y="4841748"/>
            <a:ext cx="1673352" cy="292608"/>
          </a:xfrm>
          <a:prstGeom prst="rect">
            <a:avLst/>
          </a:prstGeom>
          <a:solidFill>
            <a:schemeClr val="bg1">
              <a:lumMod val="95000"/>
            </a:schemeClr>
          </a:solidFill>
        </p:spPr>
        <p:txBody>
          <a:bodyPr wrap="square" anchor="ctr" lIns="45720" rIns="45720">
            <a:noAutofit/>
          </a:bodyPr>
          <a:lstStyle/>
          <a:p>
            <a:pPr algn="ctr"/>
            <a:r>
              <a:rPr lang="en-US" altLang="ja-JP" sz="1200" b="1" dirty="0">
                <a:latin typeface="メイリオ" panose="020B0604030504040204" pitchFamily="50" charset="-128"/>
                <a:ea typeface="メイリオ" panose="020B0604030504040204" pitchFamily="50" charset="-128"/>
              </a:rPr>
              <a:t>なし</a:t>
            </a:r>
          </a:p>
        </p:txBody>
      </p:sp>
      <p:sp>
        <p:nvSpPr>
          <p:cNvPr id="179" name="テキスト ボックス 178">
            <a:extLst>
              <a:ext uri="{FF2B5EF4-FFF2-40B4-BE49-F238E27FC236}">
                <a16:creationId xmlns:a16="http://schemas.microsoft.com/office/drawing/2014/main" id="{83060EE7-F85C-FEB9-6E07-AD89C879B907}"/>
              </a:ext>
            </a:extLst>
          </p:cNvPr>
          <p:cNvSpPr txBox="1"/>
          <p:nvPr/>
        </p:nvSpPr>
        <p:spPr>
          <a:xfrm>
            <a:off x="7808975" y="4517136"/>
            <a:ext cx="1673352" cy="292608"/>
          </a:xfrm>
          <a:prstGeom prst="rect">
            <a:avLst/>
          </a:prstGeom>
          <a:solidFill>
            <a:schemeClr val="bg1">
              <a:lumMod val="95000"/>
            </a:schemeClr>
          </a:solidFill>
        </p:spPr>
        <p:txBody>
          <a:bodyPr wrap="square" anchor="ctr" lIns="45720" rIns="45720">
            <a:noAutofit/>
          </a:bodyPr>
          <a:lstStyle/>
          <a:p>
            <a:pPr algn="ctr"/>
            <a:r>
              <a:rPr lang="en-US" altLang="ja-JP" sz="1200" b="1" dirty="0" err="1">
                <a:latin typeface="メイリオ" panose="020B0604030504040204" pitchFamily="50" charset="-128"/>
                <a:ea typeface="メイリオ" panose="020B0604030504040204" pitchFamily="50" charset="-128"/>
              </a:rPr>
              <a:t>なし（標準機能）</a:t>
            </a:r>
            <a:endParaRPr lang="en-US" altLang="ja-JP" sz="1200" b="1" dirty="0">
              <a:latin typeface="メイリオ" panose="020B0604030504040204" pitchFamily="50" charset="-128"/>
              <a:ea typeface="メイリオ" panose="020B0604030504040204" pitchFamily="50" charset="-128"/>
            </a:endParaRPr>
          </a:p>
        </p:txBody>
      </p:sp>
      <p:sp>
        <p:nvSpPr>
          <p:cNvPr id="181" name="テキスト ボックス 180">
            <a:extLst>
              <a:ext uri="{FF2B5EF4-FFF2-40B4-BE49-F238E27FC236}">
                <a16:creationId xmlns:a16="http://schemas.microsoft.com/office/drawing/2014/main" id="{6E50A20F-2BFB-3695-700C-44F0937245E4}"/>
              </a:ext>
            </a:extLst>
          </p:cNvPr>
          <p:cNvSpPr txBox="1"/>
          <p:nvPr/>
        </p:nvSpPr>
        <p:spPr>
          <a:xfrm>
            <a:off x="7808975" y="4192524"/>
            <a:ext cx="1673352" cy="292608"/>
          </a:xfrm>
          <a:prstGeom prst="rect">
            <a:avLst/>
          </a:prstGeom>
          <a:solidFill>
            <a:schemeClr val="bg1">
              <a:lumMod val="95000"/>
            </a:schemeClr>
          </a:solidFill>
        </p:spPr>
        <p:txBody>
          <a:bodyPr wrap="square" anchor="ctr" lIns="45720" rIns="45720">
            <a:noAutofit/>
          </a:bodyPr>
          <a:lstStyle/>
          <a:p>
            <a:pPr algn="ctr"/>
            <a:r>
              <a:rPr lang="en-US" altLang="ja-JP" sz="1200" b="1" dirty="0">
                <a:latin typeface="メイリオ" panose="020B0604030504040204" pitchFamily="50" charset="-128"/>
                <a:ea typeface="メイリオ" panose="020B0604030504040204" pitchFamily="50" charset="-128"/>
              </a:rPr>
              <a:t>--</a:t>
            </a:r>
          </a:p>
        </p:txBody>
      </p:sp>
      <p:sp>
        <p:nvSpPr>
          <p:cNvPr id="183" name="テキスト ボックス 182">
            <a:extLst>
              <a:ext uri="{FF2B5EF4-FFF2-40B4-BE49-F238E27FC236}">
                <a16:creationId xmlns:a16="http://schemas.microsoft.com/office/drawing/2014/main" id="{343ADE76-581F-E366-449C-C73F90D92979}"/>
              </a:ext>
            </a:extLst>
          </p:cNvPr>
          <p:cNvSpPr txBox="1"/>
          <p:nvPr/>
        </p:nvSpPr>
        <p:spPr>
          <a:xfrm>
            <a:off x="7808975" y="2894076"/>
            <a:ext cx="1673352" cy="292608"/>
          </a:xfrm>
          <a:prstGeom prst="rect">
            <a:avLst/>
          </a:prstGeom>
          <a:solidFill>
            <a:schemeClr val="bg1">
              <a:lumMod val="95000"/>
            </a:schemeClr>
          </a:solidFill>
        </p:spPr>
        <p:txBody>
          <a:bodyPr wrap="square" anchor="ctr" lIns="45720" rIns="45720">
            <a:noAutofit/>
          </a:bodyPr>
          <a:lstStyle/>
          <a:p>
            <a:pPr algn="ctr"/>
            <a:r>
              <a:rPr lang="en-US" altLang="ja-JP" sz="1200" b="1" dirty="0">
                <a:latin typeface="メイリオ" panose="020B0604030504040204" pitchFamily="50" charset="-128"/>
                <a:ea typeface="メイリオ" panose="020B0604030504040204" pitchFamily="50" charset="-128"/>
              </a:rPr>
              <a:t>--</a:t>
            </a:r>
          </a:p>
        </p:txBody>
      </p:sp>
      <p:sp>
        <p:nvSpPr>
          <p:cNvPr id="185" name="テキスト ボックス 184">
            <a:extLst>
              <a:ext uri="{FF2B5EF4-FFF2-40B4-BE49-F238E27FC236}">
                <a16:creationId xmlns:a16="http://schemas.microsoft.com/office/drawing/2014/main" id="{15C10191-5CA8-D3BE-7847-7FA57C28C1F2}"/>
              </a:ext>
            </a:extLst>
          </p:cNvPr>
          <p:cNvSpPr txBox="1"/>
          <p:nvPr/>
        </p:nvSpPr>
        <p:spPr>
          <a:xfrm>
            <a:off x="7808975" y="3218688"/>
            <a:ext cx="1673352" cy="292608"/>
          </a:xfrm>
          <a:prstGeom prst="rect">
            <a:avLst/>
          </a:prstGeom>
          <a:solidFill>
            <a:schemeClr val="bg1">
              <a:lumMod val="95000"/>
            </a:schemeClr>
          </a:solidFill>
        </p:spPr>
        <p:txBody>
          <a:bodyPr wrap="square" anchor="ctr" lIns="45720" rIns="45720">
            <a:noAutofit/>
          </a:bodyPr>
          <a:lstStyle/>
          <a:p>
            <a:pPr algn="ctr"/>
            <a:r>
              <a:rPr lang="en-US" altLang="ja-JP" sz="1200" b="1" dirty="0">
                <a:latin typeface="メイリオ" panose="020B0604030504040204" pitchFamily="50" charset="-128"/>
                <a:ea typeface="メイリオ" panose="020B0604030504040204" pitchFamily="50" charset="-128"/>
              </a:rPr>
              <a:t>--</a:t>
            </a:r>
          </a:p>
        </p:txBody>
      </p:sp>
      <p:sp>
        <p:nvSpPr>
          <p:cNvPr id="187" name="テキスト ボックス 186">
            <a:extLst>
              <a:ext uri="{FF2B5EF4-FFF2-40B4-BE49-F238E27FC236}">
                <a16:creationId xmlns:a16="http://schemas.microsoft.com/office/drawing/2014/main" id="{51BEBC5F-1121-B8DC-54E2-DC8DC1020DB7}"/>
              </a:ext>
            </a:extLst>
          </p:cNvPr>
          <p:cNvSpPr txBox="1"/>
          <p:nvPr/>
        </p:nvSpPr>
        <p:spPr>
          <a:xfrm>
            <a:off x="7808975" y="3543300"/>
            <a:ext cx="1673352" cy="292608"/>
          </a:xfrm>
          <a:prstGeom prst="rect">
            <a:avLst/>
          </a:prstGeom>
          <a:solidFill>
            <a:schemeClr val="bg1">
              <a:lumMod val="95000"/>
            </a:schemeClr>
          </a:solidFill>
        </p:spPr>
        <p:txBody>
          <a:bodyPr wrap="square" anchor="ctr" lIns="45720" rIns="45720">
            <a:noAutofit/>
          </a:bodyPr>
          <a:lstStyle/>
          <a:p>
            <a:pPr algn="ctr"/>
            <a:r>
              <a:rPr lang="en-US" altLang="ja-JP" sz="1200" b="1" dirty="0">
                <a:latin typeface="メイリオ" panose="020B0604030504040204" pitchFamily="50" charset="-128"/>
                <a:ea typeface="メイリオ" panose="020B0604030504040204" pitchFamily="50" charset="-128"/>
              </a:rPr>
              <a:t>--</a:t>
            </a:r>
          </a:p>
        </p:txBody>
      </p:sp>
      <p:sp>
        <p:nvSpPr>
          <p:cNvPr id="189" name="テキスト ボックス 188">
            <a:extLst>
              <a:ext uri="{FF2B5EF4-FFF2-40B4-BE49-F238E27FC236}">
                <a16:creationId xmlns:a16="http://schemas.microsoft.com/office/drawing/2014/main" id="{73338154-D562-06D1-6113-0A579EACBBE0}"/>
              </a:ext>
            </a:extLst>
          </p:cNvPr>
          <p:cNvSpPr txBox="1"/>
          <p:nvPr/>
        </p:nvSpPr>
        <p:spPr>
          <a:xfrm>
            <a:off x="7808975" y="3867912"/>
            <a:ext cx="1673352" cy="292608"/>
          </a:xfrm>
          <a:prstGeom prst="rect">
            <a:avLst/>
          </a:prstGeom>
          <a:solidFill>
            <a:schemeClr val="bg1">
              <a:lumMod val="95000"/>
            </a:schemeClr>
          </a:solidFill>
        </p:spPr>
        <p:txBody>
          <a:bodyPr wrap="square" anchor="ctr" lIns="45720" rIns="45720">
            <a:noAutofit/>
          </a:bodyPr>
          <a:lstStyle/>
          <a:p>
            <a:pPr algn="ctr"/>
            <a:r>
              <a:rPr lang="en-US" altLang="ja-JP" sz="1200" b="1" dirty="0">
                <a:latin typeface="メイリオ" panose="020B0604030504040204" pitchFamily="50" charset="-128"/>
                <a:ea typeface="メイリオ" panose="020B0604030504040204" pitchFamily="50" charset="-128"/>
              </a:rPr>
              <a:t>有（サイト・動画）</a:t>
            </a:r>
          </a:p>
        </p:txBody>
      </p:sp>
      <p:sp>
        <p:nvSpPr>
          <p:cNvPr id="191" name="テキスト ボックス 190">
            <a:extLst>
              <a:ext uri="{FF2B5EF4-FFF2-40B4-BE49-F238E27FC236}">
                <a16:creationId xmlns:a16="http://schemas.microsoft.com/office/drawing/2014/main" id="{429FE883-F81A-EC4E-0F0F-55845FDE0805}"/>
              </a:ext>
            </a:extLst>
          </p:cNvPr>
          <p:cNvSpPr txBox="1"/>
          <p:nvPr/>
        </p:nvSpPr>
        <p:spPr>
          <a:xfrm>
            <a:off x="7808975" y="5166360"/>
            <a:ext cx="1673352" cy="292608"/>
          </a:xfrm>
          <a:prstGeom prst="rect">
            <a:avLst/>
          </a:prstGeom>
          <a:solidFill>
            <a:schemeClr val="bg1">
              <a:lumMod val="95000"/>
            </a:schemeClr>
          </a:solidFill>
        </p:spPr>
        <p:txBody>
          <a:bodyPr wrap="square" anchor="ctr" lIns="45720" rIns="45720">
            <a:noAutofit/>
          </a:bodyPr>
          <a:lstStyle/>
          <a:p>
            <a:pPr algn="ctr"/>
            <a:r>
              <a:rPr lang="en-US" altLang="ja-JP" sz="1200" b="1" dirty="0">
                <a:latin typeface="メイリオ" panose="020B0604030504040204" pitchFamily="50" charset="-128"/>
                <a:ea typeface="メイリオ" panose="020B0604030504040204" pitchFamily="50" charset="-128"/>
              </a:rPr>
              <a:t>ボタンなし</a:t>
            </a:r>
          </a:p>
        </p:txBody>
      </p:sp>
      <p:sp>
        <p:nvSpPr>
          <p:cNvPr id="23" name="テキスト ボックス 22">
            <a:extLst>
              <a:ext uri="{FF2B5EF4-FFF2-40B4-BE49-F238E27FC236}">
                <a16:creationId xmlns:a16="http://schemas.microsoft.com/office/drawing/2014/main" id="{B40D587B-11A9-2453-DDAB-83F9EE52B8BC}"/>
              </a:ext>
            </a:extLst>
          </p:cNvPr>
          <p:cNvSpPr txBox="1"/>
          <p:nvPr/>
        </p:nvSpPr>
        <p:spPr>
          <a:xfrm>
            <a:off x="8928643" y="451067"/>
            <a:ext cx="977357" cy="3554819"/>
          </a:xfrm>
          <a:prstGeom prst="rect">
            <a:avLst/>
          </a:prstGeom>
          <a:solidFill>
            <a:schemeClr val="bg1">
              <a:alpha val="30000"/>
            </a:schemeClr>
          </a:solidFill>
        </p:spPr>
        <p:txBody>
          <a:bodyPr wrap="square">
            <a:no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pic>
        <p:nvPicPr>
          <p:cNvPr id="9" name="図 8">
            <a:extLst>
              <a:ext uri="{FF2B5EF4-FFF2-40B4-BE49-F238E27FC236}">
                <a16:creationId xmlns:a16="http://schemas.microsoft.com/office/drawing/2014/main" id="{82CF626D-2943-A2F1-3A4D-8BC9EFDFB745}"/>
              </a:ext>
            </a:extLst>
          </p:cNvPr>
          <p:cNvPicPr>
            <a:picLocks noChangeAspect="1"/>
          </p:cNvPicPr>
          <p:nvPr/>
        </p:nvPicPr>
        <p:blipFill>
          <a:blip r:embed="rId4"/>
          <a:stretch>
            <a:fillRect/>
          </a:stretch>
        </p:blipFill>
        <p:spPr>
          <a:xfrm>
            <a:off x="365760" y="1920240"/>
            <a:ext cx="1328298" cy="2697466"/>
          </a:xfrm>
          <a:prstGeom prst="rect">
            <a:avLst/>
          </a:prstGeom>
        </p:spPr>
      </p:pic>
      <p:pic>
        <p:nvPicPr>
          <p:cNvPr id="24" name="図 23">
            <a:extLst>
              <a:ext uri="{FF2B5EF4-FFF2-40B4-BE49-F238E27FC236}">
                <a16:creationId xmlns:a16="http://schemas.microsoft.com/office/drawing/2014/main" id="{92F81D7F-9363-313C-9519-8D698FD92819}"/>
              </a:ext>
            </a:extLst>
          </p:cNvPr>
          <p:cNvPicPr>
            <a:picLocks noChangeAspect="1"/>
          </p:cNvPicPr>
          <p:nvPr/>
        </p:nvPicPr>
        <p:blipFill>
          <a:blip r:embed="rId5" cstate="print">
            <a:extLst>
              <a:ext uri="{28A0092B-C50C-407E-A947-70E740481C1C}">
                <a14:useLocalDpi xmlns:a14="http://schemas.microsoft.com/office/drawing/2010/main" val="0"/>
              </a:ext>
            </a:extLst>
          </a:blip>
          <a:srcRect t="4912" b="4367"/>
          <a:stretch>
            <a:fillRect/>
          </a:stretch>
        </p:blipFill>
        <p:spPr>
          <a:xfrm>
            <a:off x="5064439" y="2088276"/>
            <a:ext cx="1268904" cy="2490919"/>
          </a:xfrm>
          <a:prstGeom prst="rect">
            <a:avLst/>
          </a:prstGeom>
        </p:spPr>
      </p:pic>
      <p:sp>
        <p:nvSpPr>
          <p:cNvPr id="26" name="テキスト ボックス 25">
            <a:extLst>
              <a:ext uri="{FF2B5EF4-FFF2-40B4-BE49-F238E27FC236}">
                <a16:creationId xmlns:a16="http://schemas.microsoft.com/office/drawing/2014/main" id="{91691AF8-B769-8CB6-FE3F-9445764E2031}"/>
              </a:ext>
            </a:extLst>
          </p:cNvPr>
          <p:cNvSpPr txBox="1"/>
          <p:nvPr/>
        </p:nvSpPr>
        <p:spPr>
          <a:xfrm>
            <a:off x="426110" y="635508"/>
            <a:ext cx="9069019" cy="698601"/>
          </a:xfrm>
          <a:prstGeom prst="rect">
            <a:avLst/>
          </a:prstGeom>
          <a:noFill/>
        </p:spPr>
        <p:txBody>
          <a:bodyPr wrap="square" anchor="ctr">
            <a:noAutofit/>
          </a:bodyPr>
          <a:lstStyle/>
          <a:p>
            <a:pPr algn="ctr"/>
            <a:r>
              <a:rPr lang="en-US" altLang="ja-JP" sz="1400" dirty="0" err="1">
                <a:latin typeface="メイリオ" panose="020B0604030504040204" pitchFamily="50" charset="-128"/>
                <a:ea typeface="メイリオ" panose="020B0604030504040204" pitchFamily="50" charset="-128"/>
              </a:rPr>
              <a:t>LINE公式アカウントの標準機能で運用中（Lステップ等のツールなし）。</a:t>
            </a:r>
            <a:endParaRPr lang="en-US" altLang="ja-JP" sz="1400" dirty="0">
              <a:latin typeface="メイリオ" panose="020B0604030504040204" pitchFamily="50" charset="-128"/>
              <a:ea typeface="メイリオ" panose="020B0604030504040204" pitchFamily="50" charset="-128"/>
            </a:endParaRPr>
          </a:p>
          <a:p>
            <a:pPr algn="ctr"/>
            <a:r>
              <a:rPr lang="ja-JP" altLang="en-US" sz="1400" b="1" dirty="0">
                <a:latin typeface="メイリオ" panose="020B0604030504040204" pitchFamily="50" charset="-128"/>
                <a:ea typeface="メイリオ" panose="020B0604030504040204" pitchFamily="50" charset="-128"/>
              </a:rPr>
              <a:t>友だち追加の入口・追加後の動線ともに、改善の余地があると想定。</a:t>
            </a:r>
            <a:endParaRPr lang="en-US" altLang="ja-JP"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350054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想定動線</a:t>
            </a:r>
            <a:endParaRPr lang="en-US" altLang="ja-JP"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1938528"/>
            <a:ext cx="2351836" cy="329184"/>
          </a:xfrm>
          <a:prstGeom prst="rect">
            <a:avLst/>
          </a:prstGeom>
          <a:solidFill>
            <a:schemeClr val="tx2">
              <a:lumMod val="40000"/>
              <a:lumOff val="60000"/>
              <a:alpha val="30000"/>
            </a:schemeClr>
          </a:solidFill>
        </p:spPr>
        <p:txBody>
          <a:bodyPr wrap="square" anchor="t">
            <a:noAutofit/>
          </a:bodyPr>
          <a:lstStyle/>
          <a:p>
            <a:pPr>
              <a:buNone/>
            </a:pPr>
            <a:r>
              <a:rPr lang="ja-JP" altLang="en-US" sz="1200" b="1" dirty="0">
                <a:latin typeface="メイリオ" panose="020B0604030504040204" pitchFamily="50" charset="-128"/>
                <a:ea typeface="メイリオ" panose="020B0604030504040204" pitchFamily="50" charset="-128"/>
              </a:rPr>
              <a:t>⑤ リード有効化</a:t>
            </a:r>
            <a:endParaRPr lang="ja-JP" altLang="ja-JP" sz="12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3" y="2468880"/>
            <a:ext cx="2351836" cy="329184"/>
          </a:xfrm>
          <a:prstGeom prst="rect">
            <a:avLst/>
          </a:prstGeom>
          <a:solidFill>
            <a:schemeClr val="tx2">
              <a:lumMod val="40000"/>
              <a:lumOff val="60000"/>
              <a:alpha val="30000"/>
            </a:schemeClr>
          </a:solidFill>
        </p:spPr>
        <p:txBody>
          <a:bodyPr wrap="square" anchor="t">
            <a:noAutofit/>
          </a:bodyPr>
          <a:lstStyle/>
          <a:p>
            <a:pPr>
              <a:buNone/>
            </a:pPr>
            <a:r>
              <a:rPr lang="ja-JP" altLang="en-US" sz="1200" b="1" dirty="0">
                <a:latin typeface="メイリオ" panose="020B0604030504040204" pitchFamily="50" charset="-128"/>
                <a:ea typeface="メイリオ" panose="020B0604030504040204" pitchFamily="50" charset="-128"/>
              </a:rPr>
              <a:t>⑦マネタイズ</a:t>
            </a:r>
            <a:r>
              <a:rPr lang="ja-JP" altLang="en-US" sz="1100" b="1" dirty="0">
                <a:latin typeface="メイリオ" panose="020B0604030504040204" pitchFamily="50" charset="-128"/>
                <a:ea typeface="メイリオ" panose="020B0604030504040204" pitchFamily="50" charset="-128"/>
              </a:rPr>
              <a:t>(成約)</a:t>
            </a:r>
            <a:endParaRPr lang="ja-JP" altLang="ja-JP" sz="12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6" y="2203704"/>
            <a:ext cx="2351836" cy="329184"/>
          </a:xfrm>
          <a:prstGeom prst="rect">
            <a:avLst/>
          </a:prstGeom>
          <a:solidFill>
            <a:schemeClr val="tx2">
              <a:lumMod val="40000"/>
              <a:lumOff val="60000"/>
              <a:alpha val="30000"/>
            </a:schemeClr>
          </a:solidFill>
        </p:spPr>
        <p:txBody>
          <a:bodyPr wrap="square" anchor="t">
            <a:noAutofit/>
          </a:bodyPr>
          <a:lstStyle/>
          <a:p>
            <a:pPr>
              <a:buNone/>
            </a:pPr>
            <a:r>
              <a:rPr lang="ja-JP" altLang="en-US" sz="1200" b="1" dirty="0">
                <a:latin typeface="メイリオ" panose="020B0604030504040204" pitchFamily="50" charset="-128"/>
                <a:ea typeface="メイリオ" panose="020B0604030504040204" pitchFamily="50" charset="-128"/>
              </a:rPr>
              <a:t>⑥ 有効リードの再育成</a:t>
            </a:r>
            <a:endParaRPr lang="ja-JP" altLang="ja-JP" sz="1200" b="1" dirty="0">
              <a:latin typeface="メイリオ" panose="020B0604030504040204" pitchFamily="50" charset="-128"/>
              <a:ea typeface="メイリオ" panose="020B0604030504040204" pitchFamily="50" charset="-128"/>
            </a:endParaRPr>
          </a:p>
        </p:txBody>
      </p:sp>
      <p:sp>
        <p:nvSpPr>
          <p:cNvPr id="9" name="テキスト ボックス 8">
            <a:extLst>
              <a:ext uri="{FF2B5EF4-FFF2-40B4-BE49-F238E27FC236}">
                <a16:creationId xmlns:a16="http://schemas.microsoft.com/office/drawing/2014/main" id="{03689A4E-877A-1305-D91C-502200DDD5CA}"/>
              </a:ext>
            </a:extLst>
          </p:cNvPr>
          <p:cNvSpPr txBox="1"/>
          <p:nvPr/>
        </p:nvSpPr>
        <p:spPr>
          <a:xfrm>
            <a:off x="7408050" y="2734056"/>
            <a:ext cx="2351836" cy="402336"/>
          </a:xfrm>
          <a:prstGeom prst="rect">
            <a:avLst/>
          </a:prstGeom>
          <a:solidFill>
            <a:schemeClr val="tx2">
              <a:lumMod val="40000"/>
              <a:lumOff val="60000"/>
              <a:alpha val="30000"/>
            </a:schemeClr>
          </a:solidFill>
        </p:spPr>
        <p:txBody>
          <a:bodyPr wrap="square" anchor="t">
            <a:noAutofit/>
          </a:bodyPr>
          <a:lstStyle/>
          <a:p>
            <a:pPr>
              <a:buNone/>
            </a:pPr>
            <a:r>
              <a:rPr lang="ja-JP" altLang="en-US" sz="1200" b="1" dirty="0">
                <a:latin typeface="メイリオ" panose="020B0604030504040204" pitchFamily="50" charset="-128"/>
                <a:ea typeface="メイリオ" panose="020B0604030504040204" pitchFamily="50" charset="-128"/>
              </a:rPr>
              <a:t>⑧</a:t>
            </a:r>
            <a:r>
              <a:rPr lang="en-US" altLang="ja-JP" sz="1200" b="1" dirty="0">
                <a:latin typeface="メイリオ" panose="020B0604030504040204" pitchFamily="50" charset="-128"/>
                <a:ea typeface="メイリオ" panose="020B0604030504040204" pitchFamily="50" charset="-128"/>
              </a:rPr>
              <a:t>LTV</a:t>
            </a:r>
            <a:r>
              <a:rPr lang="ja-JP" altLang="en-US" sz="1200" b="1" dirty="0">
                <a:latin typeface="メイリオ" panose="020B0604030504040204" pitchFamily="50" charset="-128"/>
                <a:ea typeface="メイリオ" panose="020B0604030504040204" pitchFamily="50" charset="-128"/>
              </a:rPr>
              <a:t>最大化・紹介</a:t>
            </a:r>
            <a:endParaRPr lang="en-US" altLang="ja-JP" sz="1200" b="1" dirty="0">
              <a:latin typeface="メイリオ" panose="020B0604030504040204" pitchFamily="50" charset="-128"/>
              <a:ea typeface="メイリオ" panose="020B0604030504040204" pitchFamily="50" charset="-128"/>
            </a:endParaRPr>
          </a:p>
          <a:p>
            <a:pPr>
              <a:buNone/>
            </a:pP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6B79D75E-D645-6E3E-B433-8F68BE5185B7}"/>
              </a:ext>
            </a:extLst>
          </p:cNvPr>
          <p:cNvSpPr txBox="1"/>
          <p:nvPr/>
        </p:nvSpPr>
        <p:spPr>
          <a:xfrm>
            <a:off x="334303" y="1938528"/>
            <a:ext cx="2103120" cy="329184"/>
          </a:xfrm>
          <a:prstGeom prst="rect">
            <a:avLst/>
          </a:prstGeom>
          <a:solidFill>
            <a:schemeClr val="accent6">
              <a:lumMod val="40000"/>
              <a:lumOff val="60000"/>
              <a:alpha val="30000"/>
            </a:schemeClr>
          </a:solidFill>
        </p:spPr>
        <p:txBody>
          <a:bodyPr wrap="square" anchor="t" lIns="64008" rIns="64008">
            <a:noAutofit/>
          </a:bodyPr>
          <a:lstStyle/>
          <a:p>
            <a:pPr>
              <a:buNone/>
            </a:pPr>
            <a:r>
              <a:rPr lang="ja-JP" altLang="ja-JP" sz="1200" b="1" dirty="0">
                <a:latin typeface="メイリオ" panose="020B0604030504040204" pitchFamily="50" charset="-128"/>
                <a:ea typeface="メイリオ" panose="020B0604030504040204" pitchFamily="50" charset="-128"/>
              </a:rPr>
              <a:t>① 接触（認知・流入）</a:t>
            </a:r>
          </a:p>
        </p:txBody>
      </p:sp>
      <p:sp>
        <p:nvSpPr>
          <p:cNvPr id="11" name="テキスト ボックス 10">
            <a:extLst>
              <a:ext uri="{FF2B5EF4-FFF2-40B4-BE49-F238E27FC236}">
                <a16:creationId xmlns:a16="http://schemas.microsoft.com/office/drawing/2014/main" id="{D26B3D93-E4B8-A140-7F64-AEE99515674C}"/>
              </a:ext>
            </a:extLst>
          </p:cNvPr>
          <p:cNvSpPr txBox="1"/>
          <p:nvPr/>
        </p:nvSpPr>
        <p:spPr>
          <a:xfrm>
            <a:off x="1268358" y="2203704"/>
            <a:ext cx="2103120" cy="329184"/>
          </a:xfrm>
          <a:prstGeom prst="rect">
            <a:avLst/>
          </a:prstGeom>
          <a:solidFill>
            <a:schemeClr val="accent6">
              <a:lumMod val="40000"/>
              <a:lumOff val="60000"/>
              <a:alpha val="30000"/>
            </a:schemeClr>
          </a:solidFill>
        </p:spPr>
        <p:txBody>
          <a:bodyPr wrap="square" anchor="t" lIns="64008" rIns="64008">
            <a:noAutofit/>
          </a:bodyPr>
          <a:lstStyle/>
          <a:p>
            <a:pPr>
              <a:buNone/>
            </a:pPr>
            <a:r>
              <a:rPr lang="ja-JP" altLang="ja-JP" sz="1200" b="1" dirty="0">
                <a:latin typeface="メイリオ" panose="020B0604030504040204" pitchFamily="50" charset="-128"/>
                <a:ea typeface="メイリオ" panose="020B0604030504040204" pitchFamily="50" charset="-128"/>
              </a:rPr>
              <a:t>② サイト離脱</a:t>
            </a:r>
            <a:r>
              <a:rPr lang="ja-JP" altLang="en-US" sz="1200" b="1" dirty="0">
                <a:latin typeface="メイリオ" panose="020B0604030504040204" pitchFamily="50" charset="-128"/>
                <a:ea typeface="メイリオ" panose="020B0604030504040204" pitchFamily="50" charset="-128"/>
              </a:rPr>
              <a:t>（対策）</a:t>
            </a:r>
            <a:endParaRPr lang="ja-JP" altLang="ja-JP" sz="1200" b="1"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3" y="2468880"/>
            <a:ext cx="2103120" cy="329184"/>
          </a:xfrm>
          <a:prstGeom prst="rect">
            <a:avLst/>
          </a:prstGeom>
          <a:solidFill>
            <a:schemeClr val="accent6">
              <a:lumMod val="40000"/>
              <a:lumOff val="60000"/>
              <a:alpha val="30000"/>
            </a:schemeClr>
          </a:solidFill>
        </p:spPr>
        <p:txBody>
          <a:bodyPr wrap="square" anchor="t" lIns="64008" rIns="64008">
            <a:noAutofit/>
          </a:bodyPr>
          <a:lstStyle/>
          <a:p>
            <a:pPr>
              <a:buNone/>
            </a:pPr>
            <a:r>
              <a:rPr lang="ja-JP" altLang="ja-JP" sz="1200" b="1" dirty="0">
                <a:latin typeface="メイリオ" panose="020B0604030504040204" pitchFamily="50" charset="-128"/>
                <a:ea typeface="メイリオ" panose="020B0604030504040204" pitchFamily="50" charset="-128"/>
              </a:rPr>
              <a:t>③ 育成（興味</a:t>
            </a:r>
            <a:r>
              <a:rPr lang="ja-JP" altLang="en-US" sz="1200" b="1" dirty="0">
                <a:latin typeface="メイリオ" panose="020B0604030504040204" pitchFamily="50" charset="-128"/>
                <a:ea typeface="メイリオ" panose="020B0604030504040204" pitchFamily="50" charset="-128"/>
              </a:rPr>
              <a:t>喚起</a:t>
            </a:r>
            <a:r>
              <a:rPr lang="ja-JP" altLang="ja-JP" sz="1200" b="1" dirty="0">
                <a:latin typeface="メイリオ" panose="020B0604030504040204" pitchFamily="50" charset="-128"/>
                <a:ea typeface="メイリオ" panose="020B0604030504040204" pitchFamily="50" charset="-128"/>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734056"/>
            <a:ext cx="2103120" cy="329184"/>
          </a:xfrm>
          <a:prstGeom prst="rect">
            <a:avLst/>
          </a:prstGeom>
          <a:solidFill>
            <a:schemeClr val="accent6">
              <a:lumMod val="40000"/>
              <a:lumOff val="60000"/>
              <a:alpha val="30000"/>
            </a:schemeClr>
          </a:solidFill>
        </p:spPr>
        <p:txBody>
          <a:bodyPr wrap="square" anchor="t" lIns="64008" rIns="64008">
            <a:noAutofit/>
          </a:bodyPr>
          <a:lstStyle/>
          <a:p>
            <a:pPr>
              <a:buNone/>
            </a:pPr>
            <a:r>
              <a:rPr lang="ja-JP" altLang="en-US" sz="1200" b="1" dirty="0">
                <a:latin typeface="メイリオ" panose="020B0604030504040204" pitchFamily="50" charset="-128"/>
                <a:ea typeface="メイリオ" panose="020B0604030504040204" pitchFamily="50" charset="-128"/>
              </a:rPr>
              <a:t>④リード獲得 </a:t>
            </a:r>
            <a:r>
              <a:rPr lang="en-US" altLang="ja-JP" sz="11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p:cNvCxnSpPr>
          <p:nvPr/>
        </p:nvCxnSpPr>
        <p:spPr>
          <a:xfrm rot="5400000" flipH="1" flipV="1">
            <a:off x="4319771" y="2335769"/>
            <a:ext cx="466344" cy="330228"/>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55D1671E-E029-A7B0-F0FE-5B3AEA581FA7}"/>
              </a:ext>
            </a:extLst>
          </p:cNvPr>
          <p:cNvSpPr/>
          <p:nvPr/>
        </p:nvSpPr>
        <p:spPr>
          <a:xfrm>
            <a:off x="334303" y="1481328"/>
            <a:ext cx="9425943" cy="40233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682496"/>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3898151" y="1536192"/>
            <a:ext cx="2651760" cy="292608"/>
          </a:xfrm>
          <a:prstGeom prst="rect">
            <a:avLst/>
          </a:prstGeom>
          <a:solidFill>
            <a:schemeClr val="bg1">
              <a:lumMod val="95000"/>
            </a:schemeClr>
          </a:solidFill>
        </p:spPr>
        <p:txBody>
          <a:bodyPr wrap="square" anchor="ctr">
            <a:noAutofit/>
          </a:bodyPr>
          <a:lstStyle/>
          <a:p>
            <a:pPr algn="ctr"/>
            <a:r>
              <a:rPr lang="ja-JP" altLang="en-US" sz="120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200" dirty="0"/>
          </a:p>
        </p:txBody>
      </p:sp>
      <p:sp>
        <p:nvSpPr>
          <p:cNvPr id="28" name="正方形/長方形 27">
            <a:extLst>
              <a:ext uri="{FF2B5EF4-FFF2-40B4-BE49-F238E27FC236}">
                <a16:creationId xmlns:a16="http://schemas.microsoft.com/office/drawing/2014/main" id="{985D0F3D-E958-2764-0030-33A43FBBB844}"/>
              </a:ext>
            </a:extLst>
          </p:cNvPr>
          <p:cNvSpPr/>
          <p:nvPr/>
        </p:nvSpPr>
        <p:spPr>
          <a:xfrm>
            <a:off x="334303" y="3246120"/>
            <a:ext cx="9425943" cy="310896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6EF69A8A-6EFE-81B5-27C6-31715CCA0A13}"/>
              </a:ext>
            </a:extLst>
          </p:cNvPr>
          <p:cNvSpPr txBox="1"/>
          <p:nvPr/>
        </p:nvSpPr>
        <p:spPr>
          <a:xfrm>
            <a:off x="3542385" y="4133087"/>
            <a:ext cx="3641140" cy="329184"/>
          </a:xfrm>
          <a:prstGeom prst="rect">
            <a:avLst/>
          </a:prstGeom>
          <a:solidFill>
            <a:srgbClr val="173559"/>
          </a:solidFill>
        </p:spPr>
        <p:txBody>
          <a:bodyPr wrap="square" anchor="ctr">
            <a:noAutofit/>
          </a:bodyPr>
          <a:lstStyle/>
          <a:p>
            <a:pPr algn="ctr"/>
            <a:r>
              <a:rPr lang="ja-JP" altLang="en-US" sz="1300" b="1" dirty="0">
                <a:solidFill>
                  <a:schemeClr val="bg1"/>
                </a:solidFill>
                <a:latin typeface="メイリオ" panose="020B0604030504040204" pitchFamily="50" charset="-128"/>
                <a:ea typeface="メイリオ" panose="020B0604030504040204" pitchFamily="50" charset="-128"/>
              </a:rPr>
              <a:t>問い合わせ（空室確認・内見の手配）</a:t>
            </a:r>
            <a:endParaRPr lang="en-US" altLang="ja-JP" sz="1300" b="1" dirty="0">
              <a:solidFill>
                <a:schemeClr val="bg1"/>
              </a:solidFill>
              <a:latin typeface="メイリオ" panose="020B0604030504040204" pitchFamily="50" charset="-128"/>
              <a:ea typeface="メイリオ" panose="020B0604030504040204" pitchFamily="50" charset="-128"/>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164" y="5074920"/>
            <a:ext cx="2351836" cy="329184"/>
          </a:xfrm>
          <a:prstGeom prst="rect">
            <a:avLst/>
          </a:prstGeom>
          <a:solidFill>
            <a:srgbClr val="FF0000"/>
          </a:solidFill>
        </p:spPr>
        <p:txBody>
          <a:bodyPr wrap="square" anchor="ctr">
            <a:noAutofit/>
          </a:bodyPr>
          <a:lstStyle/>
          <a:p>
            <a:pPr algn="ctr"/>
            <a:r>
              <a:rPr lang="ja-JP" altLang="en-US" sz="1300" b="1" dirty="0">
                <a:solidFill>
                  <a:schemeClr val="bg1"/>
                </a:solidFill>
                <a:latin typeface="メイリオ" panose="020B0604030504040204" pitchFamily="50" charset="-128"/>
                <a:ea typeface="メイリオ" panose="020B0604030504040204" pitchFamily="50" charset="-128"/>
              </a:rPr>
              <a:t>ご契約</a:t>
            </a:r>
            <a:endParaRPr lang="en-US" altLang="ja-JP" sz="1300" b="1" dirty="0">
              <a:solidFill>
                <a:schemeClr val="bg1"/>
              </a:solidFill>
              <a:latin typeface="メイリオ" panose="020B0604030504040204" pitchFamily="50" charset="-128"/>
              <a:ea typeface="メイリオ" panose="020B0604030504040204" pitchFamily="50" charset="-128"/>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29184" y="3310128"/>
            <a:ext cx="2743200" cy="310896"/>
          </a:xfrm>
          <a:prstGeom prst="rect">
            <a:avLst/>
          </a:prstGeom>
          <a:noFill/>
        </p:spPr>
        <p:txBody>
          <a:bodyPr wrap="square" anchor="ctr">
            <a:noAutofit/>
          </a:bodyPr>
          <a:lstStyle/>
          <a:p>
            <a:pPr algn="ctr"/>
            <a:r>
              <a:rPr lang="en-US" altLang="ja-JP" sz="1200" dirty="0">
                <a:latin typeface="メイリオ" panose="020B0604030504040204" pitchFamily="50" charset="-128"/>
                <a:ea typeface="メイリオ" panose="020B0604030504040204" pitchFamily="50" charset="-128"/>
              </a:rPr>
              <a:t>&lt;</a:t>
            </a:r>
            <a:r>
              <a:rPr lang="ja-JP" altLang="en-US" sz="1200" dirty="0">
                <a:latin typeface="メイリオ" panose="020B0604030504040204" pitchFamily="50" charset="-128"/>
                <a:ea typeface="メイリオ" panose="020B0604030504040204" pitchFamily="50" charset="-128"/>
              </a:rPr>
              <a:t>貴社のユーザー動線イメージ</a:t>
            </a:r>
            <a:r>
              <a:rPr lang="en-US" altLang="ja-JP" sz="1200" dirty="0">
                <a:latin typeface="メイリオ" panose="020B0604030504040204" pitchFamily="50" charset="-128"/>
                <a:ea typeface="メイリオ" panose="020B0604030504040204" pitchFamily="50" charset="-128"/>
              </a:rPr>
              <a:t>&gt;</a:t>
            </a:r>
            <a:endParaRPr lang="ja-JP" altLang="en-US" sz="1200" dirty="0">
              <a:latin typeface="メイリオ" panose="020B0604030504040204" pitchFamily="50" charset="-128"/>
              <a:ea typeface="メイリオ" panose="020B0604030504040204" pitchFamily="50" charset="-128"/>
            </a:endParaRPr>
          </a:p>
        </p:txBody>
      </p:sp>
      <p:sp>
        <p:nvSpPr>
          <p:cNvPr id="39" name="テキスト ボックス 38">
            <a:extLst>
              <a:ext uri="{FF2B5EF4-FFF2-40B4-BE49-F238E27FC236}">
                <a16:creationId xmlns:a16="http://schemas.microsoft.com/office/drawing/2014/main" id="{3C1D6754-7C46-5825-A516-18CBAE22FDE9}"/>
              </a:ext>
            </a:extLst>
          </p:cNvPr>
          <p:cNvSpPr txBox="1"/>
          <p:nvPr/>
        </p:nvSpPr>
        <p:spPr>
          <a:xfrm>
            <a:off x="365760" y="3730752"/>
            <a:ext cx="1965960" cy="329184"/>
          </a:xfrm>
          <a:prstGeom prst="rect">
            <a:avLst/>
          </a:prstGeom>
          <a:solidFill>
            <a:schemeClr val="bg1">
              <a:lumMod val="75000"/>
              <a:alpha val="30000"/>
            </a:schemeClr>
          </a:solidFill>
        </p:spPr>
        <p:txBody>
          <a:bodyPr wrap="square" lIns="0" rIns="0" anchor="ctr">
            <a:noAutofit/>
          </a:bodyPr>
          <a:lstStyle/>
          <a:p>
            <a:pPr algn="ctr">
              <a:buNone/>
            </a:pPr>
            <a:r>
              <a:rPr lang="ja-JP" altLang="en-US" sz="1300" b="1" dirty="0">
                <a:latin typeface="メイリオ" panose="020B0604030504040204" pitchFamily="50" charset="-128"/>
                <a:ea typeface="メイリオ" panose="020B0604030504040204" pitchFamily="50" charset="-128"/>
              </a:rPr>
              <a:t>①ポータルで物件検索</a:t>
            </a:r>
            <a:endParaRPr lang="ja-JP" altLang="ja-JP" sz="1300" b="1" dirty="0">
              <a:latin typeface="メイリオ" panose="020B0604030504040204" pitchFamily="50" charset="-128"/>
              <a:ea typeface="メイリオ" panose="020B0604030504040204" pitchFamily="50" charset="-128"/>
            </a:endParaRPr>
          </a:p>
        </p:txBody>
      </p:sp>
      <p:sp>
        <p:nvSpPr>
          <p:cNvPr id="26" name="テキスト ボックス 25">
            <a:extLst>
              <a:ext uri="{FF2B5EF4-FFF2-40B4-BE49-F238E27FC236}">
                <a16:creationId xmlns:a16="http://schemas.microsoft.com/office/drawing/2014/main" id="{D15D32A5-89C7-7801-F56B-48100CAD6CC5}"/>
              </a:ext>
            </a:extLst>
          </p:cNvPr>
          <p:cNvSpPr txBox="1"/>
          <p:nvPr/>
        </p:nvSpPr>
        <p:spPr>
          <a:xfrm>
            <a:off x="365760" y="4133087"/>
            <a:ext cx="1965960" cy="329184"/>
          </a:xfrm>
          <a:prstGeom prst="rect">
            <a:avLst/>
          </a:prstGeom>
          <a:solidFill>
            <a:schemeClr val="bg1">
              <a:lumMod val="75000"/>
              <a:alpha val="30000"/>
            </a:schemeClr>
          </a:solidFill>
        </p:spPr>
        <p:txBody>
          <a:bodyPr wrap="square" lIns="0" rIns="0" anchor="ctr">
            <a:noAutofit/>
          </a:bodyPr>
          <a:lstStyle/>
          <a:p>
            <a:pPr algn="ctr">
              <a:buNone/>
            </a:pPr>
            <a:r>
              <a:rPr lang="ja-JP" altLang="en-US" sz="1300" b="1" dirty="0">
                <a:latin typeface="メイリオ" panose="020B0604030504040204" pitchFamily="50" charset="-128"/>
                <a:ea typeface="メイリオ" panose="020B0604030504040204" pitchFamily="50" charset="-128"/>
              </a:rPr>
              <a:t>②100円賃貸のサイト</a:t>
            </a:r>
            <a:endParaRPr lang="ja-JP" altLang="ja-JP" sz="1300" b="1" dirty="0">
              <a:latin typeface="メイリオ" panose="020B0604030504040204" pitchFamily="50" charset="-128"/>
              <a:ea typeface="メイリオ" panose="020B0604030504040204" pitchFamily="50" charset="-128"/>
            </a:endParaRPr>
          </a:p>
        </p:txBody>
      </p:sp>
      <p:sp>
        <p:nvSpPr>
          <p:cNvPr id="37" name="テキスト ボックス 36">
            <a:extLst>
              <a:ext uri="{FF2B5EF4-FFF2-40B4-BE49-F238E27FC236}">
                <a16:creationId xmlns:a16="http://schemas.microsoft.com/office/drawing/2014/main" id="{BAB083D9-279E-97D0-AE6A-D93C9B88589A}"/>
              </a:ext>
            </a:extLst>
          </p:cNvPr>
          <p:cNvSpPr txBox="1"/>
          <p:nvPr/>
        </p:nvSpPr>
        <p:spPr>
          <a:xfrm>
            <a:off x="365760" y="5394960"/>
            <a:ext cx="1965960" cy="329184"/>
          </a:xfrm>
          <a:prstGeom prst="rect">
            <a:avLst/>
          </a:prstGeom>
          <a:solidFill>
            <a:schemeClr val="bg1">
              <a:lumMod val="75000"/>
              <a:alpha val="30000"/>
            </a:schemeClr>
          </a:solidFill>
        </p:spPr>
        <p:txBody>
          <a:bodyPr wrap="square" lIns="0" rIns="0" anchor="ctr">
            <a:noAutofit/>
          </a:bodyPr>
          <a:lstStyle/>
          <a:p>
            <a:pPr algn="ctr">
              <a:buNone/>
            </a:pPr>
            <a:r>
              <a:rPr lang="ja-JP" altLang="en-US" sz="1300" b="1" dirty="0">
                <a:latin typeface="メイリオ" panose="020B0604030504040204" pitchFamily="50" charset="-128"/>
                <a:ea typeface="メイリオ" panose="020B0604030504040204" pitchFamily="50" charset="-128"/>
              </a:rPr>
              <a:t>③LINEで友だち追加</a:t>
            </a:r>
            <a:endParaRPr lang="ja-JP" altLang="ja-JP" sz="1300" b="1" dirty="0">
              <a:latin typeface="メイリオ" panose="020B0604030504040204" pitchFamily="50" charset="-128"/>
              <a:ea typeface="メイリオ" panose="020B0604030504040204" pitchFamily="50" charset="-128"/>
            </a:endParaRPr>
          </a:p>
        </p:txBody>
      </p:sp>
      <p:sp>
        <p:nvSpPr>
          <p:cNvPr id="46" name="テキスト ボックス 45">
            <a:extLst>
              <a:ext uri="{FF2B5EF4-FFF2-40B4-BE49-F238E27FC236}">
                <a16:creationId xmlns:a16="http://schemas.microsoft.com/office/drawing/2014/main" id="{8CA7E237-5705-C3A2-3BA2-3D5CEA05AC50}"/>
              </a:ext>
            </a:extLst>
          </p:cNvPr>
          <p:cNvSpPr txBox="1"/>
          <p:nvPr/>
        </p:nvSpPr>
        <p:spPr>
          <a:xfrm>
            <a:off x="365760" y="5797296"/>
            <a:ext cx="1965960" cy="329184"/>
          </a:xfrm>
          <a:prstGeom prst="rect">
            <a:avLst/>
          </a:prstGeom>
          <a:solidFill>
            <a:schemeClr val="bg1">
              <a:lumMod val="75000"/>
              <a:alpha val="30000"/>
            </a:schemeClr>
          </a:solidFill>
        </p:spPr>
        <p:txBody>
          <a:bodyPr wrap="square" lIns="0" rIns="0" anchor="ctr">
            <a:noAutofit/>
          </a:bodyPr>
          <a:lstStyle/>
          <a:p>
            <a:pPr algn="ctr">
              <a:buNone/>
            </a:pPr>
            <a:r>
              <a:rPr lang="ja-JP" altLang="en-US" sz="1300" b="1" dirty="0">
                <a:latin typeface="メイリオ" panose="020B0604030504040204" pitchFamily="50" charset="-128"/>
                <a:ea typeface="メイリオ" panose="020B0604030504040204" pitchFamily="50" charset="-128"/>
              </a:rPr>
              <a:t>④物件の情報を送信</a:t>
            </a:r>
            <a:endParaRPr lang="ja-JP" altLang="ja-JP" sz="1300" b="1" dirty="0">
              <a:latin typeface="メイリオ" panose="020B0604030504040204" pitchFamily="50" charset="-128"/>
              <a:ea typeface="メイリオ" panose="020B0604030504040204" pitchFamily="50" charset="-128"/>
            </a:endParaRPr>
          </a:p>
        </p:txBody>
      </p:sp>
      <p:cxnSp>
        <p:nvCxnSpPr>
          <p:cNvPr id="47" name="コネクタ: カギ線 46">
            <a:extLst>
              <a:ext uri="{FF2B5EF4-FFF2-40B4-BE49-F238E27FC236}">
                <a16:creationId xmlns:a16="http://schemas.microsoft.com/office/drawing/2014/main" id="{B9856E8F-73DC-42CA-5603-0929EAEE24B3}"/>
              </a:ext>
            </a:extLst>
          </p:cNvPr>
          <p:cNvCxnSpPr>
            <a:cxnSpLocks/>
            <a:stCxn id="46" idx="3"/>
            <a:endCxn id="34" idx="1"/>
          </p:cNvCxnSpPr>
          <p:nvPr/>
        </p:nvCxnSpPr>
        <p:spPr>
          <a:xfrm flipV="1">
            <a:off x="2331720" y="4297679"/>
            <a:ext cx="1210665" cy="1664208"/>
          </a:xfrm>
          <a:prstGeom prst="bentConnector3">
            <a:avLst>
              <a:gd name="adj1" fmla="val 50000"/>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5" name="テキスト ボックス 54">
            <a:extLst>
              <a:ext uri="{FF2B5EF4-FFF2-40B4-BE49-F238E27FC236}">
                <a16:creationId xmlns:a16="http://schemas.microsoft.com/office/drawing/2014/main" id="{596EB3ED-1574-7170-0376-F4EEF28A9DB9}"/>
              </a:ext>
            </a:extLst>
          </p:cNvPr>
          <p:cNvSpPr txBox="1"/>
          <p:nvPr/>
        </p:nvSpPr>
        <p:spPr>
          <a:xfrm>
            <a:off x="2662732" y="5340096"/>
            <a:ext cx="548640" cy="310896"/>
          </a:xfrm>
          <a:prstGeom prst="rect">
            <a:avLst/>
          </a:prstGeom>
          <a:solidFill>
            <a:schemeClr val="accent1">
              <a:lumMod val="40000"/>
              <a:lumOff val="60000"/>
            </a:schemeClr>
          </a:solidFill>
        </p:spPr>
        <p:txBody>
          <a:bodyPr wrap="square" anchor="ctr" lIns="18288" rIns="18288">
            <a:noAutofit/>
          </a:bodyPr>
          <a:lstStyle/>
          <a:p>
            <a:pPr algn="ctr"/>
            <a:r>
              <a:rPr lang="ja-JP" altLang="en-US" sz="1100" dirty="0">
                <a:solidFill>
                  <a:srgbClr val="1F285A"/>
                </a:solidFill>
                <a:latin typeface="メイリオ" panose="020B0604030504040204" pitchFamily="50" charset="-128"/>
                <a:ea typeface="メイリオ" panose="020B0604030504040204" pitchFamily="50" charset="-128"/>
              </a:rPr>
              <a:t>LINE</a:t>
            </a:r>
            <a:endParaRPr lang="en-US" altLang="ja-JP" sz="1100" dirty="0">
              <a:solidFill>
                <a:schemeClr val="bg1"/>
              </a:solidFill>
              <a:latin typeface="メイリオ" panose="020B0604030504040204" pitchFamily="50" charset="-128"/>
              <a:ea typeface="メイリオ" panose="020B0604030504040204" pitchFamily="50" charset="-128"/>
            </a:endParaRPr>
          </a:p>
        </p:txBody>
      </p:sp>
      <p:sp>
        <p:nvSpPr>
          <p:cNvPr id="74" name="テキスト ボックス 73">
            <a:extLst>
              <a:ext uri="{FF2B5EF4-FFF2-40B4-BE49-F238E27FC236}">
                <a16:creationId xmlns:a16="http://schemas.microsoft.com/office/drawing/2014/main" id="{4D7511B7-38C6-2819-BA2E-507529687344}"/>
              </a:ext>
            </a:extLst>
          </p:cNvPr>
          <p:cNvSpPr txBox="1"/>
          <p:nvPr/>
        </p:nvSpPr>
        <p:spPr>
          <a:xfrm>
            <a:off x="7408468" y="5550408"/>
            <a:ext cx="2351836" cy="292608"/>
          </a:xfrm>
          <a:prstGeom prst="rect">
            <a:avLst/>
          </a:prstGeom>
          <a:solidFill>
            <a:schemeClr val="bg1">
              <a:lumMod val="75000"/>
            </a:schemeClr>
          </a:solidFill>
        </p:spPr>
        <p:txBody>
          <a:bodyPr wrap="square" anchor="ctr" lIns="45720" rIns="45720">
            <a:noAutofit/>
          </a:bodyPr>
          <a:lstStyle/>
          <a:p>
            <a:pPr algn="ctr"/>
            <a:r>
              <a:rPr lang="en-US" altLang="ja-JP" sz="1200" dirty="0">
                <a:solidFill>
                  <a:srgbClr val="595959"/>
                </a:solidFill>
                <a:latin typeface="メイリオ" panose="020B0604030504040204" pitchFamily="50" charset="-128"/>
                <a:ea typeface="メイリオ" panose="020B0604030504040204" pitchFamily="50" charset="-128"/>
              </a:rPr>
              <a:t>（鍵のお渡し・お引っ越し）</a:t>
            </a:r>
          </a:p>
        </p:txBody>
      </p:sp>
      <p:cxnSp>
        <p:nvCxnSpPr>
          <p:cNvPr id="22" name="コネクタ: カギ線 21">
            <a:extLst>
              <a:ext uri="{FF2B5EF4-FFF2-40B4-BE49-F238E27FC236}">
                <a16:creationId xmlns:a16="http://schemas.microsoft.com/office/drawing/2014/main" id="{C98FFC8F-E32E-63C2-0769-E61F54F92AA8}"/>
              </a:ext>
            </a:extLst>
          </p:cNvPr>
          <p:cNvCxnSpPr>
            <a:cxnSpLocks/>
          </p:cNvCxnSpPr>
          <p:nvPr/>
        </p:nvCxnSpPr>
        <p:spPr>
          <a:xfrm>
            <a:off x="2331720" y="4297679"/>
            <a:ext cx="1210665" cy="0"/>
          </a:xfrm>
          <a:prstGeom prst="bentConnector3">
            <a:avLst>
              <a:gd name="adj1" fmla="val 50000"/>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459F6DDB-7C9E-8820-DF35-6AA3914041C2}"/>
              </a:ext>
            </a:extLst>
          </p:cNvPr>
          <p:cNvSpPr txBox="1"/>
          <p:nvPr/>
        </p:nvSpPr>
        <p:spPr>
          <a:xfrm>
            <a:off x="426110" y="598932"/>
            <a:ext cx="9069019" cy="768096"/>
          </a:xfrm>
          <a:prstGeom prst="rect">
            <a:avLst/>
          </a:prstGeom>
          <a:noFill/>
        </p:spPr>
        <p:txBody>
          <a:bodyPr wrap="square" anchor="ctr">
            <a:noAutofit/>
          </a:bodyPr>
          <a:lstStyle/>
          <a:p>
            <a:pPr algn="ctr"/>
            <a:r>
              <a:rPr lang="ja-JP" altLang="en-US" sz="1400" dirty="0">
                <a:solidFill>
                  <a:schemeClr val="tx1">
                    <a:lumMod val="65000"/>
                    <a:lumOff val="35000"/>
                  </a:schemeClr>
                </a:solidFill>
                <a:latin typeface="メイリオ" panose="020B0604030504040204" pitchFamily="50" charset="-128"/>
                <a:ea typeface="メイリオ" panose="020B0604030504040204" pitchFamily="50" charset="-128"/>
              </a:rPr>
              <a:t>ポータルサイトで物件検索 → サイト閲覧 → LINE追加 → </a:t>
            </a:r>
            <a:br>
              <a:rPr lang="ja-JP" altLang="en-US" sz="1400" dirty="0">
                <a:solidFill>
                  <a:schemeClr val="tx1">
                    <a:lumMod val="65000"/>
                    <a:lumOff val="35000"/>
                  </a:schemeClr>
                </a:solidFill>
                <a:latin typeface="メイリオ" panose="020B0604030504040204" pitchFamily="50" charset="-128"/>
                <a:ea typeface="メイリオ" panose="020B0604030504040204" pitchFamily="50" charset="-128"/>
              </a:rPr>
            </a:br>
            <a:r>
              <a:rPr lang="ja-JP" altLang="en-US" sz="1400" dirty="0">
                <a:solidFill>
                  <a:schemeClr val="tx1">
                    <a:lumMod val="65000"/>
                    <a:lumOff val="35000"/>
                  </a:schemeClr>
                </a:solidFill>
                <a:latin typeface="メイリオ" panose="020B0604030504040204" pitchFamily="50" charset="-128"/>
                <a:ea typeface="メイリオ" panose="020B0604030504040204" pitchFamily="50" charset="-128"/>
              </a:rPr>
              <a:t>物件情報の送信 → 問い合わせ、の流れに沿って設計します。</a:t>
            </a:r>
            <a:endParaRPr lang="en-US" altLang="ja-JP" sz="14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rPr>
              <a:t>サイトを見て離れる方・友だち追加後に物件を送らない方への対策</a:t>
            </a:r>
            <a:r>
              <a:rPr lang="ja-JP" altLang="en-US" sz="1400" b="0" dirty="0">
                <a:solidFill>
                  <a:schemeClr val="tx1">
                    <a:lumMod val="65000"/>
                    <a:lumOff val="35000"/>
                  </a:schemeClr>
                </a:solidFill>
                <a:latin typeface="メイリオ" panose="020B0604030504040204" pitchFamily="50" charset="-128"/>
                <a:ea typeface="メイリオ" panose="020B0604030504040204" pitchFamily="50" charset="-128"/>
              </a:rPr>
              <a:t>をご提案します。</a:t>
            </a:r>
            <a:endParaRPr lang="en-US" altLang="ja-JP" sz="14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85EB9568-4DC5-72DF-DEB2-4CBA53EB5832}"/>
              </a:ext>
            </a:extLst>
          </p:cNvPr>
          <p:cNvSpPr txBox="1"/>
          <p:nvPr/>
        </p:nvSpPr>
        <p:spPr>
          <a:xfrm>
            <a:off x="4830775" y="4553712"/>
            <a:ext cx="2351836" cy="329184"/>
          </a:xfrm>
          <a:prstGeom prst="rect">
            <a:avLst/>
          </a:prstGeom>
          <a:solidFill>
            <a:srgbClr val="173559"/>
          </a:solidFill>
        </p:spPr>
        <p:txBody>
          <a:bodyPr wrap="square" anchor="ctr">
            <a:noAutofit/>
          </a:bodyPr>
          <a:lstStyle/>
          <a:p>
            <a:pPr algn="ctr"/>
            <a:r>
              <a:rPr lang="ja-JP" altLang="en-US" sz="1300" b="1" dirty="0">
                <a:solidFill>
                  <a:schemeClr val="bg1"/>
                </a:solidFill>
                <a:latin typeface="メイリオ" panose="020B0604030504040204" pitchFamily="50" charset="-128"/>
                <a:ea typeface="メイリオ" panose="020B0604030504040204" pitchFamily="50" charset="-128"/>
              </a:rPr>
              <a:t>お申込み</a:t>
            </a:r>
            <a:endParaRPr lang="en-US" altLang="ja-JP" sz="1300" b="1" dirty="0">
              <a:solidFill>
                <a:schemeClr val="bg1"/>
              </a:solidFill>
              <a:latin typeface="メイリオ" panose="020B0604030504040204" pitchFamily="50" charset="-128"/>
              <a:ea typeface="メイリオ" panose="020B0604030504040204" pitchFamily="50" charset="-128"/>
            </a:endParaRPr>
          </a:p>
        </p:txBody>
      </p:sp>
      <p:cxnSp>
        <p:nvCxnSpPr>
          <p:cNvPr id="41" name="コネクタ: カギ線 40">
            <a:extLst>
              <a:ext uri="{FF2B5EF4-FFF2-40B4-BE49-F238E27FC236}">
                <a16:creationId xmlns:a16="http://schemas.microsoft.com/office/drawing/2014/main" id="{63806D73-8539-6547-72CE-B5899B02FCBB}"/>
              </a:ext>
            </a:extLst>
          </p:cNvPr>
          <p:cNvCxnSpPr>
            <a:cxnSpLocks/>
            <a:stCxn id="40" idx="2"/>
            <a:endCxn id="36" idx="0"/>
          </p:cNvCxnSpPr>
          <p:nvPr/>
        </p:nvCxnSpPr>
        <p:spPr>
          <a:xfrm rot="16200000" flipH="1">
            <a:off x="6554876" y="4334713"/>
            <a:ext cx="192023" cy="1288389"/>
          </a:xfrm>
          <a:prstGeom prst="bentConnector3">
            <a:avLst>
              <a:gd name="adj1" fmla="val 36733"/>
            </a:avLst>
          </a:prstGeom>
          <a:ln w="127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78340F29-D7A4-35EA-E52D-EC31842DDDEB}"/>
              </a:ext>
            </a:extLst>
          </p:cNvPr>
          <p:cNvSpPr txBox="1"/>
          <p:nvPr/>
        </p:nvSpPr>
        <p:spPr>
          <a:xfrm>
            <a:off x="2434132" y="4069079"/>
            <a:ext cx="530352" cy="457200"/>
          </a:xfrm>
          <a:prstGeom prst="rect">
            <a:avLst/>
          </a:prstGeom>
          <a:solidFill>
            <a:schemeClr val="accent1">
              <a:lumMod val="40000"/>
              <a:lumOff val="60000"/>
            </a:schemeClr>
          </a:solidFill>
        </p:spPr>
        <p:txBody>
          <a:bodyPr wrap="square" anchor="ctr" lIns="18288" rIns="18288">
            <a:noAutofit/>
          </a:bodyPr>
          <a:lstStyle/>
          <a:p>
            <a:pPr algn="ctr"/>
            <a:r>
              <a:rPr lang="ja-JP" altLang="en-US" sz="1100" dirty="0">
                <a:solidFill>
                  <a:srgbClr val="1F285A"/>
                </a:solidFill>
                <a:latin typeface="メイリオ" panose="020B0604030504040204" pitchFamily="50" charset="-128"/>
                <a:ea typeface="メイリオ" panose="020B0604030504040204" pitchFamily="50" charset="-128"/>
              </a:rPr>
              <a:t>電話</a:t>
            </a:r>
            <a:endParaRPr lang="en-US" altLang="ja-JP" sz="1100" dirty="0">
              <a:solidFill>
                <a:schemeClr val="bg1"/>
              </a:solidFill>
              <a:latin typeface="メイリオ" panose="020B0604030504040204" pitchFamily="50" charset="-128"/>
              <a:ea typeface="メイリオ" panose="020B0604030504040204" pitchFamily="50" charset="-128"/>
            </a:endParaRPr>
          </a:p>
          <a:p>
            <a:pPr algn="ctr"/>
            <a:r>
              <a:rPr lang="en-US" altLang="ja-JP" sz="1100" dirty="0">
                <a:solidFill>
                  <a:srgbClr val="1F285A"/>
                </a:solidFill>
                <a:latin typeface="メイリオ" panose="020B0604030504040204" pitchFamily="50" charset="-128"/>
                <a:ea typeface="メイリオ" panose="020B0604030504040204" pitchFamily="50" charset="-128"/>
              </a:rPr>
              <a:t>WEB</a:t>
            </a:r>
          </a:p>
        </p:txBody>
      </p:sp>
      <p:cxnSp>
        <p:nvCxnSpPr>
          <p:cNvPr id="75" name="矢印 ②→③"/>
          <p:cNvCxnSpPr>
            <a:cxnSpLocks/>
          </p:cNvCxnSpPr>
          <p:nvPr/>
        </p:nvCxnSpPr>
        <p:spPr>
          <a:xfrm>
            <a:off x="1348740" y="4462272"/>
            <a:ext cx="0" cy="932688"/>
          </a:xfrm>
          <a:prstGeom prst="straightConnector1">
            <a:avLst>
              <a:gd name="adj1" fmla="val 50000"/>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5909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A1C99-7C4C-B3D1-EC94-9144492BA24D}"/>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F00B9F75-0688-D750-AFD8-BF8814C9625E}"/>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LINEアカウントの現状</a:t>
            </a:r>
            <a:endParaRPr lang="en-US" altLang="ja-JP" sz="1600" b="1" dirty="0">
              <a:solidFill>
                <a:srgbClr val="002060"/>
              </a:solidFill>
              <a:latin typeface="Meiryo"/>
              <a:ea typeface="Meiryo"/>
              <a:cs typeface="Meiryo"/>
              <a:sym typeface="Meiryo"/>
            </a:endParaRPr>
          </a:p>
        </p:txBody>
      </p:sp>
      <p:pic>
        <p:nvPicPr>
          <p:cNvPr id="41" name="図 40">
            <a:extLst>
              <a:ext uri="{FF2B5EF4-FFF2-40B4-BE49-F238E27FC236}">
                <a16:creationId xmlns:a16="http://schemas.microsoft.com/office/drawing/2014/main" id="{0494CA84-CE11-4173-2FC7-2892CA9AC721}"/>
              </a:ext>
            </a:extLst>
          </p:cNvPr>
          <p:cNvPicPr>
            <a:picLocks noChangeAspect="1"/>
          </p:cNvPicPr>
          <p:nvPr/>
        </p:nvPicPr>
        <p:blipFill>
          <a:blip r:embed="rId3"/>
          <a:stretch>
            <a:fillRect/>
          </a:stretch>
        </p:blipFill>
        <p:spPr>
          <a:xfrm>
            <a:off x="411481" y="1490472"/>
            <a:ext cx="1732686" cy="3519238"/>
          </a:xfrm>
          <a:prstGeom prst="rect">
            <a:avLst/>
          </a:prstGeom>
        </p:spPr>
      </p:pic>
      <p:sp>
        <p:nvSpPr>
          <p:cNvPr id="46" name="テキスト ボックス 45">
            <a:extLst>
              <a:ext uri="{FF2B5EF4-FFF2-40B4-BE49-F238E27FC236}">
                <a16:creationId xmlns:a16="http://schemas.microsoft.com/office/drawing/2014/main" id="{992E1926-E52E-BC52-CC73-BA1EFC0084E7}"/>
              </a:ext>
            </a:extLst>
          </p:cNvPr>
          <p:cNvSpPr txBox="1"/>
          <p:nvPr/>
        </p:nvSpPr>
        <p:spPr>
          <a:xfrm>
            <a:off x="502258" y="1751967"/>
            <a:ext cx="1543813" cy="2862322"/>
          </a:xfrm>
          <a:prstGeom prst="rect">
            <a:avLst/>
          </a:prstGeom>
          <a:solidFill>
            <a:schemeClr val="bg1"/>
          </a:solidFill>
        </p:spPr>
        <p:txBody>
          <a:bodyPr wrap="square">
            <a:no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E9DC2323-9B53-FAAC-3A85-BED460CCEDD4}"/>
              </a:ext>
            </a:extLst>
          </p:cNvPr>
          <p:cNvPicPr>
            <a:picLocks noChangeAspect="1"/>
          </p:cNvPicPr>
          <p:nvPr/>
        </p:nvPicPr>
        <p:blipFill>
          <a:blip r:embed="rId4" cstate="print">
            <a:extLst>
              <a:ext uri="{28A0092B-C50C-407E-A947-70E740481C1C}">
                <a14:useLocalDpi xmlns:a14="http://schemas.microsoft.com/office/drawing/2010/main" val="0"/>
              </a:ext>
            </a:extLst>
          </a:blip>
          <a:srcRect t="4912" b="4367"/>
          <a:stretch>
            <a:fillRect/>
          </a:stretch>
        </p:blipFill>
        <p:spPr>
          <a:xfrm>
            <a:off x="510967" y="1733947"/>
            <a:ext cx="1547444" cy="3037706"/>
          </a:xfrm>
          <a:prstGeom prst="rect">
            <a:avLst/>
          </a:prstGeom>
        </p:spPr>
      </p:pic>
      <p:pic>
        <p:nvPicPr>
          <p:cNvPr id="9" name="図 8">
            <a:extLst>
              <a:ext uri="{FF2B5EF4-FFF2-40B4-BE49-F238E27FC236}">
                <a16:creationId xmlns:a16="http://schemas.microsoft.com/office/drawing/2014/main" id="{BDBCD9E7-F68E-48D3-42CB-B66B303BC937}"/>
              </a:ext>
            </a:extLst>
          </p:cNvPr>
          <p:cNvPicPr>
            <a:picLocks noChangeAspect="1"/>
          </p:cNvPicPr>
          <p:nvPr/>
        </p:nvPicPr>
        <p:blipFill>
          <a:blip r:embed="rId3"/>
          <a:stretch>
            <a:fillRect/>
          </a:stretch>
        </p:blipFill>
        <p:spPr>
          <a:xfrm>
            <a:off x="5166360" y="1490472"/>
            <a:ext cx="1615479" cy="3281181"/>
          </a:xfrm>
          <a:prstGeom prst="rect">
            <a:avLst/>
          </a:prstGeom>
        </p:spPr>
      </p:pic>
      <p:pic>
        <p:nvPicPr>
          <p:cNvPr id="11" name="図 10">
            <a:extLst>
              <a:ext uri="{FF2B5EF4-FFF2-40B4-BE49-F238E27FC236}">
                <a16:creationId xmlns:a16="http://schemas.microsoft.com/office/drawing/2014/main" id="{EBE403EF-3C68-CA9F-CC1C-B80F0D13560F}"/>
              </a:ext>
            </a:extLst>
          </p:cNvPr>
          <p:cNvPicPr>
            <a:picLocks noChangeAspect="1"/>
          </p:cNvPicPr>
          <p:nvPr/>
        </p:nvPicPr>
        <p:blipFill>
          <a:blip r:embed="rId3"/>
          <a:stretch>
            <a:fillRect/>
          </a:stretch>
        </p:blipFill>
        <p:spPr>
          <a:xfrm>
            <a:off x="2283644" y="1490472"/>
            <a:ext cx="1732686" cy="3519238"/>
          </a:xfrm>
          <a:prstGeom prst="rect">
            <a:avLst/>
          </a:prstGeom>
        </p:spPr>
      </p:pic>
      <p:pic>
        <p:nvPicPr>
          <p:cNvPr id="13" name="図 12">
            <a:extLst>
              <a:ext uri="{FF2B5EF4-FFF2-40B4-BE49-F238E27FC236}">
                <a16:creationId xmlns:a16="http://schemas.microsoft.com/office/drawing/2014/main" id="{D69012D9-4BBE-7A07-2E00-34BB3E1BB700}"/>
              </a:ext>
            </a:extLst>
          </p:cNvPr>
          <p:cNvPicPr>
            <a:picLocks noChangeAspect="1"/>
          </p:cNvPicPr>
          <p:nvPr/>
        </p:nvPicPr>
        <p:blipFill>
          <a:blip r:embed="rId5" cstate="print">
            <a:extLst>
              <a:ext uri="{28A0092B-C50C-407E-A947-70E740481C1C}">
                <a14:useLocalDpi xmlns:a14="http://schemas.microsoft.com/office/drawing/2010/main" val="0"/>
              </a:ext>
            </a:extLst>
          </a:blip>
          <a:srcRect t="5783" b="2175"/>
          <a:stretch>
            <a:fillRect/>
          </a:stretch>
        </p:blipFill>
        <p:spPr>
          <a:xfrm>
            <a:off x="5265286" y="1710539"/>
            <a:ext cx="1435042" cy="2858089"/>
          </a:xfrm>
          <a:prstGeom prst="rect">
            <a:avLst/>
          </a:prstGeom>
        </p:spPr>
      </p:pic>
      <p:sp>
        <p:nvSpPr>
          <p:cNvPr id="17" name="テキスト ボックス 16">
            <a:extLst>
              <a:ext uri="{FF2B5EF4-FFF2-40B4-BE49-F238E27FC236}">
                <a16:creationId xmlns:a16="http://schemas.microsoft.com/office/drawing/2014/main" id="{609B120E-C0E2-E12F-1F80-8D6AF883DEB0}"/>
              </a:ext>
            </a:extLst>
          </p:cNvPr>
          <p:cNvSpPr txBox="1"/>
          <p:nvPr/>
        </p:nvSpPr>
        <p:spPr>
          <a:xfrm>
            <a:off x="411480" y="5102352"/>
            <a:ext cx="4617720" cy="548640"/>
          </a:xfrm>
          <a:prstGeom prst="rect">
            <a:avLst/>
          </a:prstGeom>
          <a:solidFill>
            <a:schemeClr val="bg1">
              <a:lumMod val="95000"/>
            </a:schemeClr>
          </a:solidFill>
        </p:spPr>
        <p:txBody>
          <a:bodyPr wrap="square" anchor="ctr" lIns="45720" rIns="45720">
            <a:noAutofit/>
          </a:bodyPr>
          <a:lstStyle/>
          <a:p>
            <a:pPr algn="ctr"/>
            <a:r>
              <a:rPr lang="ja-JP" altLang="en-US" sz="1300" dirty="0">
                <a:solidFill>
                  <a:schemeClr val="tx1">
                    <a:lumMod val="65000"/>
                    <a:lumOff val="35000"/>
                  </a:schemeClr>
                </a:solidFill>
                <a:latin typeface="メイリオ" panose="020B0604030504040204" pitchFamily="50" charset="-128"/>
                <a:ea typeface="メイリオ" panose="020B0604030504040204" pitchFamily="50" charset="-128"/>
              </a:rPr>
              <a:t>あいさつで「気になる物件名」と「物件ページのURL」の</a:t>
            </a:r>
            <a:endParaRPr lang="en-US" altLang="ja-JP" sz="13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300" dirty="0">
                <a:solidFill>
                  <a:schemeClr val="tx1">
                    <a:lumMod val="65000"/>
                    <a:lumOff val="35000"/>
                  </a:schemeClr>
                </a:solidFill>
                <a:latin typeface="メイリオ" panose="020B0604030504040204" pitchFamily="50" charset="-128"/>
                <a:ea typeface="メイリオ" panose="020B0604030504040204" pitchFamily="50" charset="-128"/>
              </a:rPr>
              <a:t>送信をお願いし、やり取りが始まる形。</a:t>
            </a:r>
            <a:endParaRPr lang="en-US" altLang="ja-JP" sz="13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24ECA0A3-F246-44A7-250E-E610BF2A2FC0}"/>
              </a:ext>
            </a:extLst>
          </p:cNvPr>
          <p:cNvSpPr txBox="1"/>
          <p:nvPr/>
        </p:nvSpPr>
        <p:spPr>
          <a:xfrm>
            <a:off x="5166360" y="5102352"/>
            <a:ext cx="4480560" cy="768096"/>
          </a:xfrm>
          <a:prstGeom prst="rect">
            <a:avLst/>
          </a:prstGeom>
          <a:solidFill>
            <a:schemeClr val="bg1">
              <a:lumMod val="95000"/>
            </a:schemeClr>
          </a:solidFill>
        </p:spPr>
        <p:txBody>
          <a:bodyPr wrap="square" anchor="ctr" lIns="45720" rIns="45720">
            <a:noAutofit/>
          </a:bodyPr>
          <a:lstStyle/>
          <a:p>
            <a:pPr algn="ctr"/>
            <a:r>
              <a:rPr lang="ja-JP" altLang="en-US" sz="1300" dirty="0">
                <a:solidFill>
                  <a:schemeClr val="tx1">
                    <a:lumMod val="65000"/>
                    <a:lumOff val="35000"/>
                  </a:schemeClr>
                </a:solidFill>
                <a:latin typeface="メイリオ" panose="020B0604030504040204" pitchFamily="50" charset="-128"/>
                <a:ea typeface="メイリオ" panose="020B0604030504040204" pitchFamily="50" charset="-128"/>
              </a:rPr>
              <a:t>プロフィールにサイト・紹介動画へのリンクを掲載。</a:t>
            </a:r>
            <a:endParaRPr lang="en-US" altLang="ja-JP" sz="13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300" dirty="0">
                <a:solidFill>
                  <a:schemeClr val="tx1">
                    <a:lumMod val="65000"/>
                    <a:lumOff val="35000"/>
                  </a:schemeClr>
                </a:solidFill>
                <a:latin typeface="メイリオ" panose="020B0604030504040204" pitchFamily="50" charset="-128"/>
                <a:ea typeface="メイリオ" panose="020B0604030504040204" pitchFamily="50" charset="-128"/>
              </a:rPr>
              <a:t>リッチメニューは未設置で、</a:t>
            </a:r>
            <a:br>
              <a:rPr lang="ja-JP" altLang="en-US" sz="1300" dirty="0">
                <a:solidFill>
                  <a:schemeClr val="tx1">
                    <a:lumMod val="65000"/>
                    <a:lumOff val="35000"/>
                  </a:schemeClr>
                </a:solidFill>
                <a:latin typeface="メイリオ" panose="020B0604030504040204" pitchFamily="50" charset="-128"/>
                <a:ea typeface="メイリオ" panose="020B0604030504040204" pitchFamily="50" charset="-128"/>
              </a:rPr>
            </a:br>
            <a:r>
              <a:rPr lang="ja-JP" altLang="en-US" sz="1300" dirty="0">
                <a:solidFill>
                  <a:schemeClr val="tx1">
                    <a:lumMod val="65000"/>
                    <a:lumOff val="35000"/>
                  </a:schemeClr>
                </a:solidFill>
                <a:latin typeface="メイリオ" panose="020B0604030504040204" pitchFamily="50" charset="-128"/>
                <a:ea typeface="メイリオ" panose="020B0604030504040204" pitchFamily="50" charset="-128"/>
              </a:rPr>
              <a:t>友だち追加後に次へ進む導線がない。</a:t>
            </a:r>
            <a:endParaRPr lang="en-US" altLang="ja-JP" sz="13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21" name="図 20">
            <a:extLst>
              <a:ext uri="{FF2B5EF4-FFF2-40B4-BE49-F238E27FC236}">
                <a16:creationId xmlns:a16="http://schemas.microsoft.com/office/drawing/2014/main" id="{CB51CD21-C4B4-80F4-49C0-B6B85C78326E}"/>
              </a:ext>
            </a:extLst>
          </p:cNvPr>
          <p:cNvPicPr>
            <a:picLocks noChangeAspect="1"/>
          </p:cNvPicPr>
          <p:nvPr/>
        </p:nvPicPr>
        <p:blipFill>
          <a:blip r:embed="rId6" cstate="print">
            <a:extLst>
              <a:ext uri="{28A0092B-C50C-407E-A947-70E740481C1C}">
                <a14:useLocalDpi xmlns:a14="http://schemas.microsoft.com/office/drawing/2010/main" val="0"/>
              </a:ext>
            </a:extLst>
          </a:blip>
          <a:srcRect t="4505" b="3454"/>
          <a:stretch>
            <a:fillRect/>
          </a:stretch>
        </p:blipFill>
        <p:spPr>
          <a:xfrm>
            <a:off x="2376266" y="1726562"/>
            <a:ext cx="1547443" cy="3081893"/>
          </a:xfrm>
          <a:prstGeom prst="rect">
            <a:avLst/>
          </a:prstGeom>
        </p:spPr>
      </p:pic>
      <p:sp>
        <p:nvSpPr>
          <p:cNvPr id="23" name="テキスト ボックス 22">
            <a:extLst>
              <a:ext uri="{FF2B5EF4-FFF2-40B4-BE49-F238E27FC236}">
                <a16:creationId xmlns:a16="http://schemas.microsoft.com/office/drawing/2014/main" id="{C459C0B8-DD35-D170-781E-F9893F99D37D}"/>
              </a:ext>
            </a:extLst>
          </p:cNvPr>
          <p:cNvSpPr txBox="1"/>
          <p:nvPr/>
        </p:nvSpPr>
        <p:spPr>
          <a:xfrm>
            <a:off x="411480" y="5724144"/>
            <a:ext cx="4617720" cy="548640"/>
          </a:xfrm>
          <a:prstGeom prst="rect">
            <a:avLst/>
          </a:prstGeom>
          <a:solidFill>
            <a:schemeClr val="bg1">
              <a:lumMod val="95000"/>
            </a:schemeClr>
          </a:solidFill>
        </p:spPr>
        <p:txBody>
          <a:bodyPr wrap="square" anchor="ctr" lIns="45720" rIns="45720">
            <a:noAutofit/>
          </a:bodyPr>
          <a:lstStyle/>
          <a:p>
            <a:pPr algn="ctr"/>
            <a:r>
              <a:rPr lang="ja-JP" altLang="en-US" sz="1300" dirty="0">
                <a:solidFill>
                  <a:schemeClr val="tx1">
                    <a:lumMod val="65000"/>
                    <a:lumOff val="35000"/>
                  </a:schemeClr>
                </a:solidFill>
                <a:latin typeface="メイリオ" panose="020B0604030504040204" pitchFamily="50" charset="-128"/>
                <a:ea typeface="メイリオ" panose="020B0604030504040204" pitchFamily="50" charset="-128"/>
              </a:rPr>
              <a:t>あいさつの後にマンガ・動画を送り、</a:t>
            </a:r>
            <a:br>
              <a:rPr lang="ja-JP" altLang="en-US" sz="1300" dirty="0">
                <a:solidFill>
                  <a:schemeClr val="tx1">
                    <a:lumMod val="65000"/>
                    <a:lumOff val="35000"/>
                  </a:schemeClr>
                </a:solidFill>
                <a:latin typeface="メイリオ" panose="020B0604030504040204" pitchFamily="50" charset="-128"/>
                <a:ea typeface="メイリオ" panose="020B0604030504040204" pitchFamily="50" charset="-128"/>
              </a:rPr>
            </a:br>
            <a:r>
              <a:rPr lang="ja-JP" altLang="en-US" sz="1300" dirty="0">
                <a:solidFill>
                  <a:schemeClr val="tx1">
                    <a:lumMod val="65000"/>
                    <a:lumOff val="35000"/>
                  </a:schemeClr>
                </a:solidFill>
                <a:latin typeface="メイリオ" panose="020B0604030504040204" pitchFamily="50" charset="-128"/>
                <a:ea typeface="メイリオ" panose="020B0604030504040204" pitchFamily="50" charset="-128"/>
              </a:rPr>
              <a:t>サービスの理解を促している。</a:t>
            </a:r>
            <a:endParaRPr lang="en-US" altLang="ja-JP" sz="13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cxnSp>
        <p:nvCxnSpPr>
          <p:cNvPr id="25" name="直線コネクタ 24">
            <a:extLst>
              <a:ext uri="{FF2B5EF4-FFF2-40B4-BE49-F238E27FC236}">
                <a16:creationId xmlns:a16="http://schemas.microsoft.com/office/drawing/2014/main" id="{44DF5BBC-64AE-5A6F-8D0B-DF3272A3F176}"/>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28" name="テキスト ボックス 27">
            <a:extLst>
              <a:ext uri="{FF2B5EF4-FFF2-40B4-BE49-F238E27FC236}">
                <a16:creationId xmlns:a16="http://schemas.microsoft.com/office/drawing/2014/main" id="{F15D3943-CE6D-1B24-32DB-6327BC6AAB96}"/>
              </a:ext>
            </a:extLst>
          </p:cNvPr>
          <p:cNvSpPr txBox="1"/>
          <p:nvPr/>
        </p:nvSpPr>
        <p:spPr>
          <a:xfrm>
            <a:off x="426110" y="635508"/>
            <a:ext cx="9069019" cy="698601"/>
          </a:xfrm>
          <a:prstGeom prst="rect">
            <a:avLst/>
          </a:prstGeom>
          <a:noFill/>
        </p:spPr>
        <p:txBody>
          <a:bodyPr wrap="square" anchor="ctr">
            <a:noAutofit/>
          </a:bodyPr>
          <a:lstStyle/>
          <a:p>
            <a:pPr algn="ctr"/>
            <a:r>
              <a:rPr lang="ja-JP" altLang="en-US" sz="1400" dirty="0">
                <a:solidFill>
                  <a:schemeClr val="tx1">
                    <a:lumMod val="65000"/>
                    <a:lumOff val="35000"/>
                  </a:schemeClr>
                </a:solidFill>
                <a:latin typeface="メイリオ" panose="020B0604030504040204" pitchFamily="50" charset="-128"/>
                <a:ea typeface="メイリオ" panose="020B0604030504040204" pitchFamily="50" charset="-128"/>
              </a:rPr>
              <a:t>あいさつで物件名・URLの送信をお願いする形は、100円賃貸の使い方に合っています。</a:t>
            </a:r>
            <a:endParaRPr lang="en-US" altLang="ja-JP" sz="14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400" b="0" dirty="0">
                <a:solidFill>
                  <a:schemeClr val="tx1">
                    <a:lumMod val="65000"/>
                    <a:lumOff val="35000"/>
                  </a:schemeClr>
                </a:solidFill>
                <a:latin typeface="メイリオ" panose="020B0604030504040204" pitchFamily="50" charset="-128"/>
                <a:ea typeface="メイリオ" panose="020B0604030504040204" pitchFamily="50" charset="-128"/>
              </a:rPr>
              <a:t>一方で、</a:t>
            </a: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rPr>
              <a:t>あいさつに送るメリット・安心材料やボタンがなく、リッチメニューも未設置</a:t>
            </a:r>
            <a:r>
              <a:rPr lang="ja-JP" altLang="en-US" sz="1400" b="0" dirty="0">
                <a:solidFill>
                  <a:schemeClr val="tx1">
                    <a:lumMod val="65000"/>
                    <a:lumOff val="35000"/>
                  </a:schemeClr>
                </a:solidFill>
                <a:latin typeface="メイリオ" panose="020B0604030504040204" pitchFamily="50" charset="-128"/>
                <a:ea typeface="メイリオ" panose="020B0604030504040204" pitchFamily="50" charset="-128"/>
              </a:rPr>
              <a:t>です。</a:t>
            </a:r>
            <a:endParaRPr lang="en-US" altLang="ja-JP" sz="14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13319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6375E-1E7D-4890-1258-5DB3117640D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DFBA01A-1ABD-808E-C272-C7AE180BC12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市場分析</a:t>
            </a:r>
          </a:p>
        </p:txBody>
      </p:sp>
      <p:sp>
        <p:nvSpPr>
          <p:cNvPr id="5"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6"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7"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32" name="テキスト ボックス 30">
            <a:extLst>
              <a:ext uri="{FF2B5EF4-FFF2-40B4-BE49-F238E27FC236}">
                <a16:creationId xmlns:a16="http://schemas.microsoft.com/office/drawing/2014/main" id="{459F6DDB-7C9E-8820-DF35-6AA3914041C2}"/>
              </a:ext>
            </a:extLst>
          </p:cNvPr>
          <p:cNvSpPr txBox="1"/>
          <p:nvPr/>
        </p:nvSpPr>
        <p:spPr>
          <a:xfrm>
            <a:off x="426110" y="635508"/>
            <a:ext cx="9069019" cy="698601"/>
          </a:xfrm>
          <a:prstGeom prst="rect">
            <a:avLst/>
          </a:prstGeom>
          <a:noFill/>
        </p:spPr>
        <p:txBody>
          <a:bodyPr wrap="square" anchor="ctr">
            <a:noAutofit/>
          </a:bodyPr>
          <a:lstStyle/>
          <a:p>
            <a:pPr algn="ctr"/>
            <a:r>
              <a:rPr lang="ja-JP" altLang="en-US" sz="1400" dirty="0">
                <a:solidFill>
                  <a:schemeClr val="tx1">
                    <a:lumMod val="65000"/>
                    <a:lumOff val="35000"/>
                  </a:schemeClr>
                </a:solidFill>
                <a:latin typeface="メイリオ" panose="020B0604030504040204" pitchFamily="50" charset="-128"/>
                <a:ea typeface="メイリオ" panose="020B0604030504040204" pitchFamily="50" charset="-128"/>
              </a:rPr>
              <a:t>家賃が上がり、東京23区のシングル向きマンションは平均10万円を超えました。</a:t>
            </a:r>
            <a:endParaRPr lang="en-US" altLang="ja-JP" sz="14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rPr>
              <a:t>物件はポータルサイトで自分で探し、問い合わせ先は別に選ぶ流れが主流</a:t>
            </a:r>
            <a:r>
              <a:rPr lang="ja-JP" altLang="en-US" sz="1400" b="0" dirty="0">
                <a:solidFill>
                  <a:schemeClr val="tx1">
                    <a:lumMod val="65000"/>
                    <a:lumOff val="35000"/>
                  </a:schemeClr>
                </a:solidFill>
                <a:latin typeface="メイリオ" panose="020B0604030504040204" pitchFamily="50" charset="-128"/>
                <a:ea typeface="メイリオ" panose="020B0604030504040204" pitchFamily="50" charset="-128"/>
              </a:rPr>
              <a:t>です。</a:t>
            </a:r>
            <a:endParaRPr lang="en-US" altLang="ja-JP" sz="14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3" name="Card1_Num">
            <a:extLst>
              <a:ext uri="{FF2B5EF4-FFF2-40B4-BE49-F238E27FC236}">
                <a16:creationId xmlns:a16="http://schemas.microsoft.com/office/drawing/2014/main" id="{99100708-28B5-0C64-45B6-17FF3C22A099}"/>
              </a:ext>
            </a:extLst>
          </p:cNvPr>
          <p:cNvSpPr txBox="1"/>
          <p:nvPr/>
        </p:nvSpPr>
        <p:spPr>
          <a:xfrm>
            <a:off x="381000" y="1517904"/>
            <a:ext cx="2921000" cy="566928"/>
          </a:xfrm>
          <a:prstGeom prst="rect">
            <a:avLst/>
          </a:prstGeom>
          <a:solidFill>
            <a:srgbClr val="1F2A5C"/>
          </a:solidFill>
          <a:ln>
            <a:noFill/>
          </a:ln>
        </p:spPr>
        <p:txBody>
          <a:bodyPr wrap="square" lIns="203200" tIns="101600" rIns="203200" bIns="101600" anchor="ctr"/>
          <a:lstStyle/>
          <a:p>
            <a:pPr algn="l">
              <a:buNone/>
            </a:pPr>
            <a:r>
              <a:rPr lang="ja-JP" sz="2400" b="1" dirty="0">
                <a:solidFill>
                  <a:srgbClr val="FFFFFF"/>
                </a:solidFill>
              </a:rPr>
              <a:t>01</a:t>
            </a:r>
          </a:p>
        </p:txBody>
      </p:sp>
      <p:sp>
        <p:nvSpPr>
          <p:cNvPr id="34" name="Card1_Title">
            <a:extLst>
              <a:ext uri="{FF2B5EF4-FFF2-40B4-BE49-F238E27FC236}">
                <a16:creationId xmlns:a16="http://schemas.microsoft.com/office/drawing/2014/main" id="{A00E1BD8-B14A-9E83-AD58-EF16846CB3A4}"/>
              </a:ext>
            </a:extLst>
          </p:cNvPr>
          <p:cNvSpPr txBox="1"/>
          <p:nvPr/>
        </p:nvSpPr>
        <p:spPr>
          <a:xfrm>
            <a:off x="381000" y="2084831"/>
            <a:ext cx="2921000" cy="475488"/>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rPr>
              <a:t>家賃の上昇</a:t>
            </a:r>
          </a:p>
        </p:txBody>
      </p:sp>
      <p:sp>
        <p:nvSpPr>
          <p:cNvPr id="35" name="Card1_Body">
            <a:extLst>
              <a:ext uri="{FF2B5EF4-FFF2-40B4-BE49-F238E27FC236}">
                <a16:creationId xmlns:a16="http://schemas.microsoft.com/office/drawing/2014/main" id="{400EE71C-7EE5-0652-6E8D-BFDA5B8F0AE3}"/>
              </a:ext>
            </a:extLst>
          </p:cNvPr>
          <p:cNvSpPr txBox="1"/>
          <p:nvPr/>
        </p:nvSpPr>
        <p:spPr>
          <a:xfrm>
            <a:off x="381000" y="2560320"/>
            <a:ext cx="2921000" cy="2249424"/>
          </a:xfrm>
          <a:prstGeom prst="rect">
            <a:avLst/>
          </a:prstGeom>
          <a:solidFill>
            <a:srgbClr val="F5F7FA"/>
          </a:solidFill>
          <a:ln w="6350">
            <a:solidFill>
              <a:srgbClr val="D1D8E0"/>
            </a:solidFill>
          </a:ln>
        </p:spPr>
        <p:txBody>
          <a:bodyPr wrap="square" lIns="177800" tIns="152400" rIns="177800" bIns="152400" anchor="t"/>
          <a:lstStyle/>
          <a:p>
            <a:pPr>
              <a:spcBef>
                <a:spcPts val="200"/>
              </a:spcBef>
              <a:buClr>
                <a:srgbClr val="1F2A5C"/>
              </a:buClr>
            </a:pPr>
            <a:r>
              <a:rPr lang="ja-JP" sz="1400" dirty="0">
                <a:solidFill>
                  <a:srgbClr val="333333"/>
                </a:solidFill>
              </a:rPr>
              <a:t>・東京23区のシングル向き（30㎡以下）マンションの平均家賃は、2025年5月に初めて10万円を超えた</a:t>
            </a:r>
          </a:p>
        </p:txBody>
      </p:sp>
      <p:sp>
        <p:nvSpPr>
          <p:cNvPr id="36" name="Card2_Num">
            <a:extLst>
              <a:ext uri="{FF2B5EF4-FFF2-40B4-BE49-F238E27FC236}">
                <a16:creationId xmlns:a16="http://schemas.microsoft.com/office/drawing/2014/main" id="{1E55EC9A-E347-B84B-262B-EF1A6E14096B}"/>
              </a:ext>
            </a:extLst>
          </p:cNvPr>
          <p:cNvSpPr txBox="1"/>
          <p:nvPr/>
        </p:nvSpPr>
        <p:spPr>
          <a:xfrm>
            <a:off x="3492500" y="1517904"/>
            <a:ext cx="2921000" cy="566928"/>
          </a:xfrm>
          <a:prstGeom prst="rect">
            <a:avLst/>
          </a:prstGeom>
          <a:solidFill>
            <a:srgbClr val="4A6FA5"/>
          </a:solidFill>
          <a:ln>
            <a:noFill/>
          </a:ln>
        </p:spPr>
        <p:txBody>
          <a:bodyPr wrap="square" lIns="203200" tIns="101600" rIns="203200" bIns="101600" anchor="ctr"/>
          <a:lstStyle/>
          <a:p>
            <a:pPr algn="l">
              <a:buNone/>
            </a:pPr>
            <a:r>
              <a:rPr lang="ja-JP" sz="2400" b="1" dirty="0">
                <a:solidFill>
                  <a:srgbClr val="FFFFFF"/>
                </a:solidFill>
              </a:rPr>
              <a:t>02</a:t>
            </a:r>
          </a:p>
        </p:txBody>
      </p:sp>
      <p:sp>
        <p:nvSpPr>
          <p:cNvPr id="37" name="Card2_Title">
            <a:extLst>
              <a:ext uri="{FF2B5EF4-FFF2-40B4-BE49-F238E27FC236}">
                <a16:creationId xmlns:a16="http://schemas.microsoft.com/office/drawing/2014/main" id="{7EA7999B-288A-E255-3A8D-51DA3754E17B}"/>
              </a:ext>
            </a:extLst>
          </p:cNvPr>
          <p:cNvSpPr txBox="1"/>
          <p:nvPr/>
        </p:nvSpPr>
        <p:spPr>
          <a:xfrm>
            <a:off x="3492500" y="2084831"/>
            <a:ext cx="2921000" cy="475488"/>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rPr>
              <a:t>物件はポータルサイトで探す</a:t>
            </a:r>
          </a:p>
        </p:txBody>
      </p:sp>
      <p:sp>
        <p:nvSpPr>
          <p:cNvPr id="38" name="Card2_Body">
            <a:extLst>
              <a:ext uri="{FF2B5EF4-FFF2-40B4-BE49-F238E27FC236}">
                <a16:creationId xmlns:a16="http://schemas.microsoft.com/office/drawing/2014/main" id="{E7A27D28-3DE5-B65B-3078-06258585755F}"/>
              </a:ext>
            </a:extLst>
          </p:cNvPr>
          <p:cNvSpPr txBox="1"/>
          <p:nvPr/>
        </p:nvSpPr>
        <p:spPr>
          <a:xfrm>
            <a:off x="3492500" y="2560320"/>
            <a:ext cx="2921000" cy="2249424"/>
          </a:xfrm>
          <a:prstGeom prst="rect">
            <a:avLst/>
          </a:prstGeom>
          <a:solidFill>
            <a:srgbClr val="F5F7FA"/>
          </a:solidFill>
          <a:ln w="6350">
            <a:solidFill>
              <a:srgbClr val="D1D8E0"/>
            </a:solidFill>
          </a:ln>
        </p:spPr>
        <p:txBody>
          <a:bodyPr wrap="square" lIns="177800" tIns="152400" rIns="177800" bIns="152400" anchor="t"/>
          <a:lstStyle/>
          <a:p>
            <a:pPr>
              <a:spcBef>
                <a:spcPts val="200"/>
              </a:spcBef>
              <a:buClr>
                <a:srgbClr val="4A6FA5"/>
              </a:buClr>
            </a:pPr>
            <a:r>
              <a:rPr lang="ja-JP" sz="1400" dirty="0">
                <a:solidFill>
                  <a:srgbClr val="333333"/>
                </a:solidFill>
              </a:rPr>
              <a:t>・住まいの探し方は「不動産ポータルサイトで検索」がトップ（引越し経験者66.8％・検討者73.2％）</a:t>
            </a:r>
          </a:p>
        </p:txBody>
      </p:sp>
      <p:sp>
        <p:nvSpPr>
          <p:cNvPr id="39" name="Card3_Num">
            <a:extLst>
              <a:ext uri="{FF2B5EF4-FFF2-40B4-BE49-F238E27FC236}">
                <a16:creationId xmlns:a16="http://schemas.microsoft.com/office/drawing/2014/main" id="{70237F12-5482-737F-1B32-66F14BE63393}"/>
              </a:ext>
            </a:extLst>
          </p:cNvPr>
          <p:cNvSpPr txBox="1"/>
          <p:nvPr/>
        </p:nvSpPr>
        <p:spPr>
          <a:xfrm>
            <a:off x="6604000" y="1517904"/>
            <a:ext cx="2921000" cy="566928"/>
          </a:xfrm>
          <a:prstGeom prst="rect">
            <a:avLst/>
          </a:prstGeom>
          <a:solidFill>
            <a:schemeClr val="bg1">
              <a:lumMod val="75000"/>
            </a:schemeClr>
          </a:solidFill>
          <a:ln>
            <a:noFill/>
          </a:ln>
        </p:spPr>
        <p:txBody>
          <a:bodyPr wrap="square" lIns="203200" tIns="101600" rIns="203200" bIns="101600" anchor="ctr"/>
          <a:lstStyle/>
          <a:p>
            <a:pPr algn="l">
              <a:buNone/>
            </a:pPr>
            <a:r>
              <a:rPr lang="ja-JP" sz="2400" b="1" dirty="0">
                <a:solidFill>
                  <a:srgbClr val="FFFFFF"/>
                </a:solidFill>
              </a:rPr>
              <a:t>03</a:t>
            </a:r>
          </a:p>
        </p:txBody>
      </p:sp>
      <p:sp>
        <p:nvSpPr>
          <p:cNvPr id="40" name="Card3_Title">
            <a:extLst>
              <a:ext uri="{FF2B5EF4-FFF2-40B4-BE49-F238E27FC236}">
                <a16:creationId xmlns:a16="http://schemas.microsoft.com/office/drawing/2014/main" id="{E3518035-C567-1D4B-318D-78C25A6B9E43}"/>
              </a:ext>
            </a:extLst>
          </p:cNvPr>
          <p:cNvSpPr txBox="1"/>
          <p:nvPr/>
        </p:nvSpPr>
        <p:spPr>
          <a:xfrm>
            <a:off x="6604000" y="2084831"/>
            <a:ext cx="2921000" cy="475488"/>
          </a:xfrm>
          <a:prstGeom prst="rect">
            <a:avLst/>
          </a:prstGeom>
          <a:solidFill>
            <a:srgbClr val="FFFFFF"/>
          </a:solidFill>
          <a:ln w="6350">
            <a:solidFill>
              <a:schemeClr val="bg1">
                <a:lumMod val="75000"/>
              </a:schemeClr>
            </a:solidFill>
          </a:ln>
        </p:spPr>
        <p:txBody>
          <a:bodyPr wrap="square" lIns="177800" tIns="101600" rIns="177800" bIns="101600" anchor="ctr"/>
          <a:lstStyle/>
          <a:p>
            <a:pPr>
              <a:buNone/>
            </a:pPr>
            <a:r>
              <a:rPr lang="ja-JP" sz="1400" b="1" dirty="0">
                <a:solidFill>
                  <a:schemeClr val="tx1">
                    <a:lumMod val="65000"/>
                    <a:lumOff val="35000"/>
                  </a:schemeClr>
                </a:solidFill>
              </a:rPr>
              <a:t>問い合わせ先は物件数で選ぶ</a:t>
            </a:r>
          </a:p>
        </p:txBody>
      </p:sp>
      <p:sp>
        <p:nvSpPr>
          <p:cNvPr id="41" name="Card3_Body">
            <a:extLst>
              <a:ext uri="{FF2B5EF4-FFF2-40B4-BE49-F238E27FC236}">
                <a16:creationId xmlns:a16="http://schemas.microsoft.com/office/drawing/2014/main" id="{6E2E9F62-4250-ED13-4C52-FC6B502E56E4}"/>
              </a:ext>
            </a:extLst>
          </p:cNvPr>
          <p:cNvSpPr txBox="1"/>
          <p:nvPr/>
        </p:nvSpPr>
        <p:spPr>
          <a:xfrm>
            <a:off x="6604000" y="2560320"/>
            <a:ext cx="2921000" cy="2249424"/>
          </a:xfrm>
          <a:prstGeom prst="rect">
            <a:avLst/>
          </a:prstGeom>
          <a:solidFill>
            <a:srgbClr val="F5F7FA"/>
          </a:solidFill>
          <a:ln w="6350">
            <a:solidFill>
              <a:srgbClr val="D1D8E0"/>
            </a:solidFill>
          </a:ln>
        </p:spPr>
        <p:txBody>
          <a:bodyPr wrap="square" lIns="177800" tIns="152400" rIns="177800" bIns="152400" anchor="t"/>
          <a:lstStyle/>
          <a:p>
            <a:pPr>
              <a:spcBef>
                <a:spcPts val="200"/>
              </a:spcBef>
              <a:buClr>
                <a:srgbClr val="C8102E"/>
              </a:buClr>
            </a:pPr>
            <a:r>
              <a:rPr lang="ja-JP" sz="1400" dirty="0">
                <a:solidFill>
                  <a:srgbClr val="333333"/>
                </a:solidFill>
              </a:rPr>
              <a:t>・問い合わせる不動産会社を選ぶ基準は「取り扱っている物件数が多い」が1位（経験者26.6％・検討者47.7％）</a:t>
            </a:r>
          </a:p>
          <a:p>
            <a:pPr>
              <a:spcBef>
                <a:spcPts val="200"/>
              </a:spcBef>
              <a:buClr>
                <a:srgbClr val="C8102E"/>
              </a:buClr>
            </a:pPr>
            <a:r>
              <a:rPr lang="ja-JP" sz="1400" dirty="0">
                <a:solidFill>
                  <a:srgbClr val="333333"/>
                </a:solidFill>
              </a:rPr>
              <a:t>・100円賃貸は、お客様が見つけた物件の仲介に対応（100円賃貸が対応できる物件に限ります）</a:t>
            </a:r>
            <a:endParaRPr lang="en-US" altLang="ja-JP" sz="1400" dirty="0">
              <a:solidFill>
                <a:srgbClr val="333333"/>
              </a:solidFill>
            </a:endParaRPr>
          </a:p>
        </p:txBody>
      </p:sp>
      <p:sp>
        <p:nvSpPr>
          <p:cNvPr id="42" name="Conclusion">
            <a:extLst>
              <a:ext uri="{FF2B5EF4-FFF2-40B4-BE49-F238E27FC236}">
                <a16:creationId xmlns:a16="http://schemas.microsoft.com/office/drawing/2014/main" id="{ED3146E7-9955-F215-581D-DD3180418A87}"/>
              </a:ext>
            </a:extLst>
          </p:cNvPr>
          <p:cNvSpPr txBox="1"/>
          <p:nvPr/>
        </p:nvSpPr>
        <p:spPr>
          <a:xfrm>
            <a:off x="381000" y="4937760"/>
            <a:ext cx="9144000" cy="1353312"/>
          </a:xfrm>
          <a:prstGeom prst="rect">
            <a:avLst/>
          </a:prstGeom>
          <a:solidFill>
            <a:srgbClr val="F0F2F7"/>
          </a:solidFill>
          <a:ln>
            <a:noFill/>
          </a:ln>
        </p:spPr>
        <p:txBody>
          <a:bodyPr wrap="square" lIns="177800" tIns="127000" rIns="177800" bIns="127000" anchor="t"/>
          <a:lstStyle/>
          <a:p>
            <a:pPr>
              <a:buNone/>
            </a:pPr>
            <a:r>
              <a:rPr lang="ja-JP" sz="1100" b="1" dirty="0">
                <a:solidFill>
                  <a:srgbClr val="1F2A5C"/>
                </a:solidFill>
                <a:latin typeface="メイリオ" panose="020B0604030504040204" pitchFamily="50" charset="-128"/>
                <a:ea typeface="メイリオ" panose="020B0604030504040204" pitchFamily="50" charset="-128"/>
              </a:rPr>
              <a:t>出典（2026年10月9日確認）</a:t>
            </a:r>
          </a:p>
          <a:p>
            <a:pPr>
              <a:spcBef>
                <a:spcPts val="200"/>
              </a:spcBef>
              <a:buNone/>
            </a:pPr>
            <a:r>
              <a:rPr lang="ja-JP" sz="1000" b="0" dirty="0">
                <a:solidFill>
                  <a:srgbClr val="333333"/>
                </a:solidFill>
                <a:latin typeface="メイリオ" panose="020B0604030504040204" pitchFamily="50" charset="-128"/>
                <a:ea typeface="メイリオ" panose="020B0604030504040204" pitchFamily="50" charset="-128"/>
              </a:rPr>
              <a:t>・アットホーム「2025年の賃貸市場における4大ニュース」</a:t>
            </a:r>
          </a:p>
          <a:p>
            <a:pPr>
              <a:spcBef>
                <a:spcPts val="200"/>
              </a:spcBef>
              <a:buNone/>
            </a:pPr>
            <a:r>
              <a:rPr lang="ja-JP" sz="1000" b="0" dirty="0">
                <a:solidFill>
                  <a:srgbClr val="333333"/>
                </a:solidFill>
                <a:latin typeface="メイリオ" panose="020B0604030504040204" pitchFamily="50" charset="-128"/>
                <a:ea typeface="メイリオ" panose="020B0604030504040204" pitchFamily="50" charset="-128"/>
              </a:rPr>
              <a:t>　https://www.athome.co.jp/corporate/news/data/questionnaire/yondai-news-202512/</a:t>
            </a:r>
          </a:p>
          <a:p>
            <a:pPr>
              <a:spcBef>
                <a:spcPts val="200"/>
              </a:spcBef>
              <a:buNone/>
            </a:pPr>
            <a:r>
              <a:rPr lang="ja-JP" sz="1000" b="0" dirty="0">
                <a:solidFill>
                  <a:srgbClr val="333333"/>
                </a:solidFill>
                <a:latin typeface="メイリオ" panose="020B0604030504040204" pitchFamily="50" charset="-128"/>
                <a:ea typeface="メイリオ" panose="020B0604030504040204" pitchFamily="50" charset="-128"/>
              </a:rPr>
              <a:t>・アットホーム「オンラインでの住まい探しに関する調査 2025 賃貸編」</a:t>
            </a:r>
          </a:p>
          <a:p>
            <a:pPr>
              <a:spcBef>
                <a:spcPts val="200"/>
              </a:spcBef>
              <a:buNone/>
            </a:pPr>
            <a:r>
              <a:rPr lang="ja-JP" sz="1000" b="0" dirty="0">
                <a:solidFill>
                  <a:srgbClr val="333333"/>
                </a:solidFill>
                <a:latin typeface="メイリオ" panose="020B0604030504040204" pitchFamily="50" charset="-128"/>
                <a:ea typeface="メイリオ" panose="020B0604030504040204" pitchFamily="50" charset="-128"/>
              </a:rPr>
              <a:t>　https://www.athome.co.jp/corporate/news/data/questionnaire/online-chintai-202510/</a:t>
            </a:r>
          </a:p>
          <a:p>
            <a:pPr>
              <a:spcBef>
                <a:spcPts val="200"/>
              </a:spcBef>
              <a:buNone/>
            </a:pPr>
            <a:r>
              <a:rPr lang="ja-JP" sz="1000" b="0" dirty="0">
                <a:solidFill>
                  <a:srgbClr val="333333"/>
                </a:solidFill>
                <a:latin typeface="メイリオ" panose="020B0604030504040204" pitchFamily="50" charset="-128"/>
                <a:ea typeface="メイリオ" panose="020B0604030504040204" pitchFamily="50" charset="-128"/>
              </a:rPr>
              <a:t>・100円賃貸　https://100en.net/</a:t>
            </a:r>
          </a:p>
        </p:txBody>
      </p:sp>
    </p:spTree>
    <p:extLst>
      <p:ext uri="{BB962C8B-B14F-4D97-AF65-F5344CB8AC3E}">
        <p14:creationId xmlns:p14="http://schemas.microsoft.com/office/powerpoint/2010/main" val="28414866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市場分析</a:t>
            </a:r>
          </a:p>
        </p:txBody>
      </p:sp>
      <p:sp>
        <p:nvSpPr>
          <p:cNvPr id="5"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6"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7"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32" name="テキスト ボックス 30">
            <a:extLst>
              <a:ext uri="{FF2B5EF4-FFF2-40B4-BE49-F238E27FC236}">
                <a16:creationId xmlns:a16="http://schemas.microsoft.com/office/drawing/2014/main" id="{459F6DDB-7C9E-8820-DF35-6AA3914041C2}"/>
              </a:ext>
            </a:extLst>
          </p:cNvPr>
          <p:cNvSpPr txBox="1"/>
          <p:nvPr/>
        </p:nvSpPr>
        <p:spPr>
          <a:xfrm>
            <a:off x="426110" y="635508"/>
            <a:ext cx="9069019" cy="698601"/>
          </a:xfrm>
          <a:prstGeom prst="rect">
            <a:avLst/>
          </a:prstGeom>
          <a:noFill/>
        </p:spPr>
        <p:txBody>
          <a:bodyPr wrap="square" anchor="ctr">
            <a:noAutofit/>
          </a:bodyPr>
          <a:lstStyle/>
          <a:p>
            <a:pPr algn="ctr"/>
            <a:r>
              <a:rPr lang="ja-JP" altLang="en-US" sz="1400" dirty="0">
                <a:solidFill>
                  <a:schemeClr val="tx1">
                    <a:lumMod val="65000"/>
                    <a:lumOff val="35000"/>
                  </a:schemeClr>
                </a:solidFill>
                <a:latin typeface="メイリオ" panose="020B0604030504040204" pitchFamily="50" charset="-128"/>
                <a:ea typeface="メイリオ" panose="020B0604030504040204" pitchFamily="50" charset="-128"/>
              </a:rPr>
              <a:t>内見予約のやり取りは、電話よりメール・SMSを希望する方が多くいます。</a:t>
            </a:r>
            <a:endParaRPr lang="en-US" altLang="ja-JP" sz="14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rPr>
              <a:t>物件のURLをLINEで送るだけで相談できるサービスも出ており、LINEでの受け口が欠かせません</a:t>
            </a:r>
            <a:r>
              <a:rPr lang="ja-JP" altLang="en-US" sz="1400" b="0"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14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3" name="Card1_Num">
            <a:extLst>
              <a:ext uri="{FF2B5EF4-FFF2-40B4-BE49-F238E27FC236}">
                <a16:creationId xmlns:a16="http://schemas.microsoft.com/office/drawing/2014/main" id="{99100708-28B5-0C64-45B6-17FF3C22A099}"/>
              </a:ext>
            </a:extLst>
          </p:cNvPr>
          <p:cNvSpPr txBox="1"/>
          <p:nvPr/>
        </p:nvSpPr>
        <p:spPr>
          <a:xfrm>
            <a:off x="381000" y="1517904"/>
            <a:ext cx="2921000" cy="566928"/>
          </a:xfrm>
          <a:prstGeom prst="rect">
            <a:avLst/>
          </a:prstGeom>
          <a:solidFill>
            <a:srgbClr val="1F2A5C"/>
          </a:solidFill>
          <a:ln>
            <a:noFill/>
          </a:ln>
        </p:spPr>
        <p:txBody>
          <a:bodyPr wrap="square" lIns="203200" tIns="101600" rIns="203200" bIns="101600" anchor="ctr"/>
          <a:lstStyle/>
          <a:p>
            <a:pPr algn="l">
              <a:buNone/>
            </a:pPr>
            <a:r>
              <a:rPr lang="ja-JP" sz="2400" b="1" dirty="0">
                <a:solidFill>
                  <a:srgbClr val="FFFFFF"/>
                </a:solidFill>
              </a:rPr>
              <a:t>01</a:t>
            </a:r>
          </a:p>
        </p:txBody>
      </p:sp>
      <p:sp>
        <p:nvSpPr>
          <p:cNvPr id="34" name="Card1_Title">
            <a:extLst>
              <a:ext uri="{FF2B5EF4-FFF2-40B4-BE49-F238E27FC236}">
                <a16:creationId xmlns:a16="http://schemas.microsoft.com/office/drawing/2014/main" id="{A00E1BD8-B14A-9E83-AD58-EF16846CB3A4}"/>
              </a:ext>
            </a:extLst>
          </p:cNvPr>
          <p:cNvSpPr txBox="1"/>
          <p:nvPr/>
        </p:nvSpPr>
        <p:spPr>
          <a:xfrm>
            <a:off x="381000" y="2084831"/>
            <a:ext cx="2921000" cy="475488"/>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rPr>
              <a:t>電話より、文字でのやり取り</a:t>
            </a:r>
          </a:p>
        </p:txBody>
      </p:sp>
      <p:sp>
        <p:nvSpPr>
          <p:cNvPr id="35" name="Card1_Body">
            <a:extLst>
              <a:ext uri="{FF2B5EF4-FFF2-40B4-BE49-F238E27FC236}">
                <a16:creationId xmlns:a16="http://schemas.microsoft.com/office/drawing/2014/main" id="{400EE71C-7EE5-0652-6E8D-BFDA5B8F0AE3}"/>
              </a:ext>
            </a:extLst>
          </p:cNvPr>
          <p:cNvSpPr txBox="1"/>
          <p:nvPr/>
        </p:nvSpPr>
        <p:spPr>
          <a:xfrm>
            <a:off x="381000" y="2560320"/>
            <a:ext cx="2921000" cy="2249424"/>
          </a:xfrm>
          <a:prstGeom prst="rect">
            <a:avLst/>
          </a:prstGeom>
          <a:solidFill>
            <a:srgbClr val="F5F7FA"/>
          </a:solidFill>
          <a:ln w="6350">
            <a:solidFill>
              <a:srgbClr val="D1D8E0"/>
            </a:solidFill>
          </a:ln>
        </p:spPr>
        <p:txBody>
          <a:bodyPr wrap="square" lIns="177800" tIns="152400" rIns="177800" bIns="152400" anchor="t"/>
          <a:lstStyle/>
          <a:p>
            <a:pPr>
              <a:spcBef>
                <a:spcPts val="200"/>
              </a:spcBef>
              <a:buClr>
                <a:srgbClr val="1F2A5C"/>
              </a:buClr>
            </a:pPr>
            <a:r>
              <a:rPr lang="ja-JP" sz="1400" dirty="0">
                <a:solidFill>
                  <a:srgbClr val="333333"/>
                </a:solidFill>
              </a:rPr>
              <a:t>・内見予約のやり取りの希望は、電話33.4％に対し、メール・SMSが52.6％</a:t>
            </a:r>
          </a:p>
        </p:txBody>
      </p:sp>
      <p:sp>
        <p:nvSpPr>
          <p:cNvPr id="36" name="Card2_Num">
            <a:extLst>
              <a:ext uri="{FF2B5EF4-FFF2-40B4-BE49-F238E27FC236}">
                <a16:creationId xmlns:a16="http://schemas.microsoft.com/office/drawing/2014/main" id="{1E55EC9A-E347-B84B-262B-EF1A6E14096B}"/>
              </a:ext>
            </a:extLst>
          </p:cNvPr>
          <p:cNvSpPr txBox="1"/>
          <p:nvPr/>
        </p:nvSpPr>
        <p:spPr>
          <a:xfrm>
            <a:off x="3492500" y="1517904"/>
            <a:ext cx="2921000" cy="566928"/>
          </a:xfrm>
          <a:prstGeom prst="rect">
            <a:avLst/>
          </a:prstGeom>
          <a:solidFill>
            <a:srgbClr val="4A6FA5"/>
          </a:solidFill>
          <a:ln>
            <a:noFill/>
          </a:ln>
        </p:spPr>
        <p:txBody>
          <a:bodyPr wrap="square" lIns="203200" tIns="101600" rIns="203200" bIns="101600" anchor="ctr"/>
          <a:lstStyle/>
          <a:p>
            <a:pPr algn="l">
              <a:buNone/>
            </a:pPr>
            <a:r>
              <a:rPr lang="ja-JP" sz="2400" b="1" dirty="0">
                <a:solidFill>
                  <a:srgbClr val="FFFFFF"/>
                </a:solidFill>
              </a:rPr>
              <a:t>02</a:t>
            </a:r>
          </a:p>
        </p:txBody>
      </p:sp>
      <p:sp>
        <p:nvSpPr>
          <p:cNvPr id="37" name="Card2_Title">
            <a:extLst>
              <a:ext uri="{FF2B5EF4-FFF2-40B4-BE49-F238E27FC236}">
                <a16:creationId xmlns:a16="http://schemas.microsoft.com/office/drawing/2014/main" id="{7EA7999B-288A-E255-3A8D-51DA3754E17B}"/>
              </a:ext>
            </a:extLst>
          </p:cNvPr>
          <p:cNvSpPr txBox="1"/>
          <p:nvPr/>
        </p:nvSpPr>
        <p:spPr>
          <a:xfrm>
            <a:off x="3492500" y="2084831"/>
            <a:ext cx="2921000" cy="475488"/>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rPr>
              <a:t>手続きもオンラインで</a:t>
            </a:r>
          </a:p>
        </p:txBody>
      </p:sp>
      <p:sp>
        <p:nvSpPr>
          <p:cNvPr id="38" name="Card2_Body">
            <a:extLst>
              <a:ext uri="{FF2B5EF4-FFF2-40B4-BE49-F238E27FC236}">
                <a16:creationId xmlns:a16="http://schemas.microsoft.com/office/drawing/2014/main" id="{E7A27D28-3DE5-B65B-3078-06258585755F}"/>
              </a:ext>
            </a:extLst>
          </p:cNvPr>
          <p:cNvSpPr txBox="1"/>
          <p:nvPr/>
        </p:nvSpPr>
        <p:spPr>
          <a:xfrm>
            <a:off x="3492500" y="2560320"/>
            <a:ext cx="2921000" cy="2249424"/>
          </a:xfrm>
          <a:prstGeom prst="rect">
            <a:avLst/>
          </a:prstGeom>
          <a:solidFill>
            <a:srgbClr val="F5F7FA"/>
          </a:solidFill>
          <a:ln w="6350">
            <a:solidFill>
              <a:srgbClr val="D1D8E0"/>
            </a:solidFill>
          </a:ln>
        </p:spPr>
        <p:txBody>
          <a:bodyPr wrap="square" lIns="177800" tIns="152400" rIns="177800" bIns="152400" anchor="t"/>
          <a:lstStyle/>
          <a:p>
            <a:pPr>
              <a:spcBef>
                <a:spcPts val="200"/>
              </a:spcBef>
              <a:buClr>
                <a:srgbClr val="4A6FA5"/>
              </a:buClr>
            </a:pPr>
            <a:r>
              <a:rPr lang="ja-JP" sz="1400" dirty="0">
                <a:solidFill>
                  <a:srgbClr val="333333"/>
                </a:solidFill>
              </a:rPr>
              <a:t>・オンラインで契約したい検討者は36.4％、オンラインで重要事項説明を受けたい検討者は29.6％</a:t>
            </a:r>
          </a:p>
          <a:p>
            <a:pPr>
              <a:spcBef>
                <a:spcPts val="200"/>
              </a:spcBef>
              <a:buClr>
                <a:srgbClr val="4A6FA5"/>
              </a:buClr>
            </a:pPr>
            <a:r>
              <a:rPr lang="ja-JP" sz="1400" dirty="0">
                <a:solidFill>
                  <a:srgbClr val="333333"/>
                </a:solidFill>
              </a:rPr>
              <a:t>・100円賃貸は、テレビ電話・郵送・ネットでのお申込み・ご契約に対応</a:t>
            </a:r>
            <a:endParaRPr lang="en-US" altLang="ja-JP" sz="1400" dirty="0">
              <a:solidFill>
                <a:srgbClr val="333333"/>
              </a:solidFill>
            </a:endParaRPr>
          </a:p>
        </p:txBody>
      </p:sp>
      <p:sp>
        <p:nvSpPr>
          <p:cNvPr id="39" name="Card3_Num">
            <a:extLst>
              <a:ext uri="{FF2B5EF4-FFF2-40B4-BE49-F238E27FC236}">
                <a16:creationId xmlns:a16="http://schemas.microsoft.com/office/drawing/2014/main" id="{70237F12-5482-737F-1B32-66F14BE63393}"/>
              </a:ext>
            </a:extLst>
          </p:cNvPr>
          <p:cNvSpPr txBox="1"/>
          <p:nvPr/>
        </p:nvSpPr>
        <p:spPr>
          <a:xfrm>
            <a:off x="6604000" y="1517904"/>
            <a:ext cx="2921000" cy="566928"/>
          </a:xfrm>
          <a:prstGeom prst="rect">
            <a:avLst/>
          </a:prstGeom>
          <a:solidFill>
            <a:schemeClr val="bg1">
              <a:lumMod val="75000"/>
            </a:schemeClr>
          </a:solidFill>
          <a:ln>
            <a:noFill/>
          </a:ln>
        </p:spPr>
        <p:txBody>
          <a:bodyPr wrap="square" lIns="203200" tIns="101600" rIns="203200" bIns="101600" anchor="ctr"/>
          <a:lstStyle/>
          <a:p>
            <a:pPr algn="l">
              <a:buNone/>
            </a:pPr>
            <a:r>
              <a:rPr lang="ja-JP" sz="2400" b="1" dirty="0">
                <a:solidFill>
                  <a:srgbClr val="FFFFFF"/>
                </a:solidFill>
              </a:rPr>
              <a:t>03</a:t>
            </a:r>
          </a:p>
        </p:txBody>
      </p:sp>
      <p:sp>
        <p:nvSpPr>
          <p:cNvPr id="40" name="Card3_Title">
            <a:extLst>
              <a:ext uri="{FF2B5EF4-FFF2-40B4-BE49-F238E27FC236}">
                <a16:creationId xmlns:a16="http://schemas.microsoft.com/office/drawing/2014/main" id="{E3518035-C567-1D4B-318D-78C25A6B9E43}"/>
              </a:ext>
            </a:extLst>
          </p:cNvPr>
          <p:cNvSpPr txBox="1"/>
          <p:nvPr/>
        </p:nvSpPr>
        <p:spPr>
          <a:xfrm>
            <a:off x="6604000" y="2084831"/>
            <a:ext cx="2921000" cy="475488"/>
          </a:xfrm>
          <a:prstGeom prst="rect">
            <a:avLst/>
          </a:prstGeom>
          <a:solidFill>
            <a:srgbClr val="FFFFFF"/>
          </a:solidFill>
          <a:ln w="6350">
            <a:solidFill>
              <a:schemeClr val="bg1">
                <a:lumMod val="75000"/>
              </a:schemeClr>
            </a:solidFill>
          </a:ln>
        </p:spPr>
        <p:txBody>
          <a:bodyPr wrap="square" lIns="177800" tIns="101600" rIns="177800" bIns="101600" anchor="ctr"/>
          <a:lstStyle/>
          <a:p>
            <a:pPr>
              <a:buNone/>
            </a:pPr>
            <a:r>
              <a:rPr lang="ja-JP" sz="1400" b="1" dirty="0">
                <a:solidFill>
                  <a:schemeClr val="tx1">
                    <a:lumMod val="65000"/>
                    <a:lumOff val="35000"/>
                  </a:schemeClr>
                </a:solidFill>
              </a:rPr>
              <a:t>URLを送るだけの競合も</a:t>
            </a:r>
          </a:p>
        </p:txBody>
      </p:sp>
      <p:sp>
        <p:nvSpPr>
          <p:cNvPr id="41" name="Card3_Body">
            <a:extLst>
              <a:ext uri="{FF2B5EF4-FFF2-40B4-BE49-F238E27FC236}">
                <a16:creationId xmlns:a16="http://schemas.microsoft.com/office/drawing/2014/main" id="{6E2E9F62-4250-ED13-4C52-FC6B502E56E4}"/>
              </a:ext>
            </a:extLst>
          </p:cNvPr>
          <p:cNvSpPr txBox="1"/>
          <p:nvPr/>
        </p:nvSpPr>
        <p:spPr>
          <a:xfrm>
            <a:off x="6604000" y="2560320"/>
            <a:ext cx="2921000" cy="2249424"/>
          </a:xfrm>
          <a:prstGeom prst="rect">
            <a:avLst/>
          </a:prstGeom>
          <a:solidFill>
            <a:srgbClr val="F5F7FA"/>
          </a:solidFill>
          <a:ln w="6350">
            <a:solidFill>
              <a:srgbClr val="D1D8E0"/>
            </a:solidFill>
          </a:ln>
        </p:spPr>
        <p:txBody>
          <a:bodyPr wrap="square" lIns="177800" tIns="152400" rIns="177800" bIns="152400" anchor="t"/>
          <a:lstStyle/>
          <a:p>
            <a:pPr>
              <a:spcBef>
                <a:spcPts val="200"/>
              </a:spcBef>
              <a:buClr>
                <a:srgbClr val="C8102E"/>
              </a:buClr>
            </a:pPr>
            <a:r>
              <a:rPr lang="ja-JP" sz="1400" dirty="0">
                <a:solidFill>
                  <a:srgbClr val="333333"/>
                </a:solidFill>
              </a:rPr>
              <a:t>・タダスム：見つけた物件のURLをLINEで送ると、空室確認・内見調整。仲介手数料は「0円or最大50%」</a:t>
            </a:r>
          </a:p>
        </p:txBody>
      </p:sp>
      <p:sp>
        <p:nvSpPr>
          <p:cNvPr id="42" name="Conclusion">
            <a:extLst>
              <a:ext uri="{FF2B5EF4-FFF2-40B4-BE49-F238E27FC236}">
                <a16:creationId xmlns:a16="http://schemas.microsoft.com/office/drawing/2014/main" id="{ED3146E7-9955-F215-581D-DD3180418A87}"/>
              </a:ext>
            </a:extLst>
          </p:cNvPr>
          <p:cNvSpPr txBox="1"/>
          <p:nvPr/>
        </p:nvSpPr>
        <p:spPr>
          <a:xfrm>
            <a:off x="381000" y="4937760"/>
            <a:ext cx="9144000" cy="1353312"/>
          </a:xfrm>
          <a:prstGeom prst="rect">
            <a:avLst/>
          </a:prstGeom>
          <a:solidFill>
            <a:srgbClr val="F0F2F7"/>
          </a:solidFill>
          <a:ln>
            <a:noFill/>
          </a:ln>
        </p:spPr>
        <p:txBody>
          <a:bodyPr wrap="square" lIns="177800" tIns="127000" rIns="177800" bIns="127000" anchor="t"/>
          <a:lstStyle/>
          <a:p>
            <a:pPr>
              <a:buNone/>
            </a:pPr>
            <a:r>
              <a:rPr lang="ja-JP" sz="1100" b="1" dirty="0">
                <a:solidFill>
                  <a:srgbClr val="1F2A5C"/>
                </a:solidFill>
                <a:latin typeface="メイリオ" panose="020B0604030504040204" pitchFamily="50" charset="-128"/>
                <a:ea typeface="メイリオ" panose="020B0604030504040204" pitchFamily="50" charset="-128"/>
              </a:rPr>
              <a:t>出典（2026年10月9日確認）</a:t>
            </a:r>
          </a:p>
          <a:p>
            <a:pPr>
              <a:spcBef>
                <a:spcPts val="200"/>
              </a:spcBef>
              <a:buNone/>
            </a:pPr>
            <a:r>
              <a:rPr lang="ja-JP" sz="1000" b="0" dirty="0">
                <a:solidFill>
                  <a:srgbClr val="333333"/>
                </a:solidFill>
                <a:latin typeface="メイリオ" panose="020B0604030504040204" pitchFamily="50" charset="-128"/>
                <a:ea typeface="メイリオ" panose="020B0604030504040204" pitchFamily="50" charset="-128"/>
              </a:rPr>
              <a:t>・アットホーム「オンラインでの住まい探しに関する調査 2025 賃貸編」</a:t>
            </a:r>
          </a:p>
          <a:p>
            <a:pPr>
              <a:spcBef>
                <a:spcPts val="200"/>
              </a:spcBef>
              <a:buNone/>
            </a:pPr>
            <a:r>
              <a:rPr lang="ja-JP" sz="1000" b="0" dirty="0">
                <a:solidFill>
                  <a:srgbClr val="333333"/>
                </a:solidFill>
                <a:latin typeface="メイリオ" panose="020B0604030504040204" pitchFamily="50" charset="-128"/>
                <a:ea typeface="メイリオ" panose="020B0604030504040204" pitchFamily="50" charset="-128"/>
              </a:rPr>
              <a:t>　https://www.athome.co.jp/corporate/news/data/questionnaire/online-chintai-202510/</a:t>
            </a:r>
          </a:p>
          <a:p>
            <a:pPr>
              <a:spcBef>
                <a:spcPts val="200"/>
              </a:spcBef>
              <a:buNone/>
            </a:pPr>
            <a:r>
              <a:rPr lang="ja-JP" sz="1000" b="0" dirty="0">
                <a:solidFill>
                  <a:srgbClr val="333333"/>
                </a:solidFill>
                <a:latin typeface="メイリオ" panose="020B0604030504040204" pitchFamily="50" charset="-128"/>
                <a:ea typeface="メイリオ" panose="020B0604030504040204" pitchFamily="50" charset="-128"/>
              </a:rPr>
              <a:t>・タダスム　https://tadasumu.com/　https://tadasumu.com/navi/tadasumu-toha/</a:t>
            </a:r>
          </a:p>
          <a:p>
            <a:pPr>
              <a:spcBef>
                <a:spcPts val="200"/>
              </a:spcBef>
              <a:buNone/>
            </a:pPr>
            <a:r>
              <a:rPr lang="ja-JP" sz="1000" b="0" dirty="0">
                <a:solidFill>
                  <a:srgbClr val="333333"/>
                </a:solidFill>
                <a:latin typeface="メイリオ" panose="020B0604030504040204" pitchFamily="50" charset="-128"/>
                <a:ea typeface="メイリオ" panose="020B0604030504040204" pitchFamily="50" charset="-128"/>
              </a:rPr>
              <a:t>・100円賃貸　https://100en.net/</a:t>
            </a:r>
          </a:p>
        </p:txBody>
      </p:sp>
    </p:spTree>
    <p:extLst>
      <p:ext uri="{BB962C8B-B14F-4D97-AF65-F5344CB8AC3E}">
        <p14:creationId xmlns:p14="http://schemas.microsoft.com/office/powerpoint/2010/main" val="2859172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95DA1-C4AC-9E84-EE81-C643FC320A1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0A4C04F-D2D9-01C2-E8A6-1461C3D732EF}"/>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E18DA7C5-B4CE-72EF-0BE5-E52C6EDDE85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0D487FC4-7DBC-58FC-7A30-5F63295AAB2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要件定義</a:t>
            </a:r>
            <a:endParaRPr sz="1600" b="1" dirty="0">
              <a:solidFill>
                <a:srgbClr val="002060"/>
              </a:solidFill>
              <a:latin typeface="Meiryo"/>
              <a:ea typeface="Meiryo"/>
              <a:cs typeface="Meiryo"/>
              <a:sym typeface="Meiryo"/>
            </a:endParaRPr>
          </a:p>
        </p:txBody>
      </p:sp>
      <p:sp>
        <p:nvSpPr>
          <p:cNvPr id="5" name="Heading">
            <a:extLst>
              <a:ext uri="{FF2B5EF4-FFF2-40B4-BE49-F238E27FC236}">
                <a16:creationId xmlns:a16="http://schemas.microsoft.com/office/drawing/2014/main" id="{72D111CA-9C32-B454-53E5-199EF4E6ABE1}"/>
              </a:ext>
            </a:extLst>
          </p:cNvPr>
          <p:cNvSpPr txBox="1"/>
          <p:nvPr/>
        </p:nvSpPr>
        <p:spPr>
          <a:xfrm>
            <a:off x="365143" y="835933"/>
            <a:ext cx="9144000" cy="279400"/>
          </a:xfrm>
          <a:prstGeom prst="rect">
            <a:avLst/>
          </a:prstGeom>
          <a:noFill/>
          <a:ln>
            <a:noFill/>
          </a:ln>
        </p:spPr>
        <p:txBody>
          <a:bodyPr wrap="square" lIns="101600" tIns="76200" rIns="101600" bIns="76200" anchor="t"/>
          <a:lstStyle/>
          <a:p>
            <a:pPr>
              <a:buNone/>
            </a:pPr>
            <a:r>
              <a:rPr lang="ja-JP" sz="1400" b="1" dirty="0">
                <a:solidFill>
                  <a:srgbClr val="1F2A5C"/>
                </a:solidFill>
                <a:latin typeface="メイリオ" panose="020B0604030504040204" pitchFamily="50" charset="-128"/>
                <a:ea typeface="メイリオ" panose="020B0604030504040204" pitchFamily="50" charset="-128"/>
              </a:rPr>
              <a:t>LINE運用ツール</a:t>
            </a:r>
            <a:r>
              <a:rPr lang="ja-JP" altLang="en-US" sz="1400" b="1" dirty="0">
                <a:solidFill>
                  <a:srgbClr val="1F2A5C"/>
                </a:solidFill>
                <a:latin typeface="メイリオ" panose="020B0604030504040204" pitchFamily="50" charset="-128"/>
                <a:ea typeface="メイリオ" panose="020B0604030504040204" pitchFamily="50" charset="-128"/>
              </a:rPr>
              <a:t>の選定</a:t>
            </a:r>
            <a:endParaRPr lang="ja-JP" sz="1400" b="1" dirty="0">
              <a:solidFill>
                <a:srgbClr val="1F2A5C"/>
              </a:solidFill>
              <a:latin typeface="メイリオ" panose="020B0604030504040204" pitchFamily="50" charset="-128"/>
              <a:ea typeface="メイリオ" panose="020B0604030504040204" pitchFamily="50" charset="-128"/>
            </a:endParaRPr>
          </a:p>
        </p:txBody>
      </p:sp>
      <p:sp>
        <p:nvSpPr>
          <p:cNvPr id="7" name="LeftHeader">
            <a:extLst>
              <a:ext uri="{FF2B5EF4-FFF2-40B4-BE49-F238E27FC236}">
                <a16:creationId xmlns:a16="http://schemas.microsoft.com/office/drawing/2014/main" id="{CB5A9197-C4B7-57D9-941C-59337584B1D9}"/>
              </a:ext>
            </a:extLst>
          </p:cNvPr>
          <p:cNvSpPr txBox="1"/>
          <p:nvPr/>
        </p:nvSpPr>
        <p:spPr>
          <a:xfrm>
            <a:off x="381000" y="1320738"/>
            <a:ext cx="4445000" cy="420624"/>
          </a:xfrm>
          <a:prstGeom prst="rect">
            <a:avLst/>
          </a:prstGeom>
          <a:solidFill>
            <a:srgbClr val="1F2A5C"/>
          </a:solidFill>
          <a:ln>
            <a:noFill/>
          </a:ln>
        </p:spPr>
        <p:txBody>
          <a:bodyPr wrap="square" lIns="73152" tIns="76200" rIns="73152" bIns="76200" anchor="ct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標準機能で運用 </a:t>
            </a:r>
            <a:r>
              <a:rPr lang="ja-JP" altLang="en-US" sz="1200" b="0" dirty="0">
                <a:solidFill>
                  <a:srgbClr val="FFFFFF"/>
                </a:solidFill>
                <a:latin typeface="メイリオ" panose="020B0604030504040204" pitchFamily="50" charset="-128"/>
                <a:ea typeface="メイリオ" panose="020B0604030504040204" pitchFamily="50" charset="-128"/>
              </a:rPr>
              <a:t>※今回はこちらで運用</a:t>
            </a:r>
            <a:endParaRPr lang="ja-JP" sz="1400" dirty="0">
              <a:solidFill>
                <a:srgbClr val="FFFFFF"/>
              </a:solidFill>
              <a:latin typeface="メイリオ" panose="020B0604030504040204" pitchFamily="50" charset="-128"/>
              <a:ea typeface="メイリオ" panose="020B0604030504040204" pitchFamily="50" charset="-128"/>
            </a:endParaRPr>
          </a:p>
        </p:txBody>
      </p:sp>
      <p:sp>
        <p:nvSpPr>
          <p:cNvPr id="9" name="LeftBody">
            <a:extLst>
              <a:ext uri="{FF2B5EF4-FFF2-40B4-BE49-F238E27FC236}">
                <a16:creationId xmlns:a16="http://schemas.microsoft.com/office/drawing/2014/main" id="{1F03C4B4-E554-D5BC-620E-6E684192FEBB}"/>
              </a:ext>
            </a:extLst>
          </p:cNvPr>
          <p:cNvSpPr txBox="1"/>
          <p:nvPr/>
        </p:nvSpPr>
        <p:spPr>
          <a:xfrm>
            <a:off x="381000" y="1741017"/>
            <a:ext cx="4445000" cy="3566160"/>
          </a:xfrm>
          <a:prstGeom prst="rect">
            <a:avLst/>
          </a:prstGeom>
          <a:solidFill>
            <a:srgbClr val="F5F7FA"/>
          </a:solidFill>
          <a:ln w="6350">
            <a:solidFill>
              <a:srgbClr val="D1D8E0"/>
            </a:solidFill>
          </a:ln>
        </p:spPr>
        <p:txBody>
          <a:bodyPr wrap="square" lIns="128016" tIns="152400" rIns="128016" bIns="152400" anchor="t"/>
          <a:lstStyle/>
          <a:p>
            <a:pPr>
              <a:buNone/>
            </a:pPr>
            <a:r>
              <a:rPr lang="ja-JP" sz="1400" b="1" dirty="0">
                <a:solidFill>
                  <a:srgbClr val="1F2A5C"/>
                </a:solidFill>
                <a:latin typeface="メイリオ" panose="020B0604030504040204" pitchFamily="50" charset="-128"/>
                <a:ea typeface="メイリオ" panose="020B0604030504040204" pitchFamily="50" charset="-128"/>
              </a:rPr>
              <a:t>特徴</a:t>
            </a:r>
          </a:p>
          <a:p>
            <a:pPr>
              <a:spcBef>
                <a:spcPts val="200"/>
              </a:spcBef>
              <a:buClr>
                <a:srgbClr val="1F2A5C"/>
              </a:buClr>
            </a:pPr>
            <a:r>
              <a:rPr lang="ja-JP" altLang="en-US" sz="1400" b="0" dirty="0">
                <a:solidFill>
                  <a:srgbClr val="333333"/>
                </a:solidFill>
                <a:latin typeface="メイリオ" panose="020B0604030504040204" pitchFamily="50" charset="-128"/>
                <a:ea typeface="メイリオ" panose="020B0604030504040204" pitchFamily="50" charset="-128"/>
              </a:rPr>
              <a:t>ツール費がかからず、LINE公式アカウントの管理画面だけで運用できる</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600"/>
              </a:spcBef>
              <a:buClr>
                <a:srgbClr val="1F2A5C"/>
              </a:buClr>
            </a:pPr>
            <a:r>
              <a:rPr lang="ja-JP" sz="1400" b="1" dirty="0">
                <a:solidFill>
                  <a:srgbClr val="1F2A5C"/>
                </a:solidFill>
                <a:latin typeface="メイリオ" panose="020B0604030504040204" pitchFamily="50" charset="-128"/>
                <a:ea typeface="メイリオ" panose="020B0604030504040204" pitchFamily="50" charset="-128"/>
              </a:rPr>
              <a:t>メリット</a:t>
            </a:r>
            <a:endParaRPr lang="en-US" altLang="ja-JP" sz="1400" b="1" dirty="0">
              <a:solidFill>
                <a:srgbClr val="333333"/>
              </a:solidFill>
              <a:latin typeface="メイリオ" panose="020B0604030504040204" pitchFamily="50" charset="-128"/>
              <a:ea typeface="メイリオ" panose="020B0604030504040204" pitchFamily="50" charset="-128"/>
            </a:endParaRPr>
          </a:p>
          <a:p>
            <a:pPr>
              <a:spcBef>
                <a:spcPts val="200"/>
              </a:spcBef>
              <a:buClr>
                <a:srgbClr val="1F2A5C"/>
              </a:buClr>
            </a:pPr>
            <a:r>
              <a:rPr lang="ja-JP" sz="1400" b="0" dirty="0">
                <a:solidFill>
                  <a:srgbClr val="333333"/>
                </a:solidFill>
                <a:latin typeface="メイリオ" panose="020B0604030504040204" pitchFamily="50" charset="-128"/>
                <a:ea typeface="メイリオ" panose="020B0604030504040204" pitchFamily="50" charset="-128"/>
              </a:rPr>
              <a:t>ステップ配信・問い合わせ済みの方を除く配信・キーワード応答・チャットタグなど、LINE上の施策はすべて標準機能で実現できる</a:t>
            </a:r>
            <a:endParaRPr lang="en-US" altLang="ja-JP" sz="1400" b="1" dirty="0">
              <a:solidFill>
                <a:srgbClr val="1F2A5C"/>
              </a:solidFill>
              <a:latin typeface="メイリオ" panose="020B0604030504040204" pitchFamily="50" charset="-128"/>
              <a:ea typeface="メイリオ" panose="020B0604030504040204" pitchFamily="50" charset="-128"/>
            </a:endParaRPr>
          </a:p>
          <a:p>
            <a:pPr>
              <a:spcBef>
                <a:spcPts val="600"/>
              </a:spcBef>
              <a:buNone/>
            </a:pPr>
            <a:r>
              <a:rPr lang="ja-JP" sz="1400" b="1" dirty="0">
                <a:solidFill>
                  <a:srgbClr val="1F2A5C"/>
                </a:solidFill>
                <a:latin typeface="メイリオ" panose="020B0604030504040204" pitchFamily="50" charset="-128"/>
                <a:ea typeface="メイリオ" panose="020B0604030504040204" pitchFamily="50" charset="-128"/>
              </a:rPr>
              <a:t>デメリット</a:t>
            </a:r>
          </a:p>
          <a:p>
            <a:pPr>
              <a:spcBef>
                <a:spcPts val="200"/>
              </a:spcBef>
              <a:buClr>
                <a:srgbClr val="1F2A5C"/>
              </a:buClr>
            </a:pPr>
            <a:r>
              <a:rPr lang="ja-JP" sz="1400" b="0" dirty="0">
                <a:solidFill>
                  <a:srgbClr val="333333"/>
                </a:solidFill>
                <a:latin typeface="メイリオ" panose="020B0604030504040204" pitchFamily="50" charset="-128"/>
                <a:ea typeface="メイリオ" panose="020B0604030504040204" pitchFamily="50" charset="-128"/>
              </a:rPr>
              <a:t>離脱防止ポップアップとサイトのボタンなど、同じ友だち追加URLから入った方は、経路で分けて配信できない</a:t>
            </a:r>
          </a:p>
        </p:txBody>
      </p:sp>
      <p:sp>
        <p:nvSpPr>
          <p:cNvPr id="11" name="RightHeader">
            <a:extLst>
              <a:ext uri="{FF2B5EF4-FFF2-40B4-BE49-F238E27FC236}">
                <a16:creationId xmlns:a16="http://schemas.microsoft.com/office/drawing/2014/main" id="{AAFEC56F-C547-3D3E-AA1C-0DCD55A22EF5}"/>
              </a:ext>
            </a:extLst>
          </p:cNvPr>
          <p:cNvSpPr txBox="1"/>
          <p:nvPr/>
        </p:nvSpPr>
        <p:spPr>
          <a:xfrm>
            <a:off x="5080000" y="1320738"/>
            <a:ext cx="4445000" cy="420624"/>
          </a:xfrm>
          <a:prstGeom prst="rect">
            <a:avLst/>
          </a:prstGeom>
          <a:solidFill>
            <a:srgbClr val="00B050"/>
          </a:solidFill>
          <a:ln>
            <a:noFill/>
          </a:ln>
        </p:spPr>
        <p:txBody>
          <a:bodyPr wrap="square" lIns="73152" tIns="76200" rIns="73152" bIns="76200" anchor="ct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外部の運用ツール</a:t>
            </a:r>
            <a:r>
              <a:rPr lang="ja-JP" altLang="en-US" sz="1400" b="0" dirty="0">
                <a:solidFill>
                  <a:srgbClr val="FFFFFF"/>
                </a:solidFill>
                <a:latin typeface="メイリオ" panose="020B0604030504040204" pitchFamily="50" charset="-128"/>
                <a:ea typeface="メイリオ" panose="020B0604030504040204" pitchFamily="50" charset="-128"/>
              </a:rPr>
              <a:t> </a:t>
            </a:r>
            <a:r>
              <a:rPr lang="ja-JP" altLang="en-US" sz="1200" b="0" dirty="0">
                <a:solidFill>
                  <a:srgbClr val="FFFFFF"/>
                </a:solidFill>
                <a:latin typeface="メイリオ" panose="020B0604030504040204" pitchFamily="50" charset="-128"/>
                <a:ea typeface="メイリオ" panose="020B0604030504040204" pitchFamily="50" charset="-128"/>
              </a:rPr>
              <a:t>※Lステップ等・今回は導入しない</a:t>
            </a:r>
            <a:endParaRPr lang="ja-JP" sz="1400" dirty="0">
              <a:solidFill>
                <a:srgbClr val="FFFFFF"/>
              </a:solidFill>
              <a:latin typeface="メイリオ" panose="020B0604030504040204" pitchFamily="50" charset="-128"/>
              <a:ea typeface="メイリオ" panose="020B0604030504040204" pitchFamily="50" charset="-128"/>
            </a:endParaRPr>
          </a:p>
        </p:txBody>
      </p:sp>
      <p:sp>
        <p:nvSpPr>
          <p:cNvPr id="13" name="RightBody">
            <a:extLst>
              <a:ext uri="{FF2B5EF4-FFF2-40B4-BE49-F238E27FC236}">
                <a16:creationId xmlns:a16="http://schemas.microsoft.com/office/drawing/2014/main" id="{1BC513A8-5C8C-B4A4-BC10-AD5348F343F6}"/>
              </a:ext>
            </a:extLst>
          </p:cNvPr>
          <p:cNvSpPr txBox="1"/>
          <p:nvPr/>
        </p:nvSpPr>
        <p:spPr>
          <a:xfrm>
            <a:off x="5080000" y="1741017"/>
            <a:ext cx="4445000" cy="3566160"/>
          </a:xfrm>
          <a:prstGeom prst="rect">
            <a:avLst/>
          </a:prstGeom>
          <a:solidFill>
            <a:srgbClr val="FFFFFF"/>
          </a:solidFill>
          <a:ln w="12700">
            <a:solidFill>
              <a:srgbClr val="00B050"/>
            </a:solidFill>
          </a:ln>
        </p:spPr>
        <p:txBody>
          <a:bodyPr wrap="square" lIns="128016" tIns="152400" rIns="128016" bIns="152400" anchor="t"/>
          <a:lstStyle/>
          <a:p>
            <a:pPr>
              <a:buNone/>
            </a:pPr>
            <a:r>
              <a:rPr lang="ja-JP" sz="1400" b="1" dirty="0">
                <a:solidFill>
                  <a:srgbClr val="00B050"/>
                </a:solidFill>
                <a:latin typeface="メイリオ" panose="020B0604030504040204" pitchFamily="50" charset="-128"/>
                <a:ea typeface="メイリオ" panose="020B0604030504040204" pitchFamily="50" charset="-128"/>
              </a:rPr>
              <a:t>特徴</a:t>
            </a:r>
          </a:p>
          <a:p>
            <a:pPr>
              <a:spcBef>
                <a:spcPts val="200"/>
              </a:spcBef>
              <a:buClr>
                <a:srgbClr val="1F2A5C"/>
              </a:buClr>
            </a:pPr>
            <a:r>
              <a:rPr lang="ja-JP" sz="1400" b="0" dirty="0">
                <a:solidFill>
                  <a:srgbClr val="333333"/>
                </a:solidFill>
                <a:latin typeface="メイリオ" panose="020B0604030504040204" pitchFamily="50" charset="-128"/>
                <a:ea typeface="メイリオ" panose="020B0604030504040204" pitchFamily="50" charset="-128"/>
              </a:rPr>
              <a:t>タグや流入経路を細かく管理でき、外部データ連携に強い</a:t>
            </a:r>
          </a:p>
          <a:p>
            <a:pPr>
              <a:spcBef>
                <a:spcPts val="600"/>
              </a:spcBef>
              <a:buClr>
                <a:srgbClr val="1F2A5C"/>
              </a:buClr>
            </a:pPr>
            <a:r>
              <a:rPr lang="ja-JP" sz="1400" b="1" dirty="0">
                <a:solidFill>
                  <a:srgbClr val="00B050"/>
                </a:solidFill>
                <a:latin typeface="メイリオ" panose="020B0604030504040204" pitchFamily="50" charset="-128"/>
                <a:ea typeface="メイリオ" panose="020B0604030504040204" pitchFamily="50" charset="-128"/>
              </a:rPr>
              <a:t>メリット</a:t>
            </a:r>
          </a:p>
          <a:p>
            <a:pPr>
              <a:spcBef>
                <a:spcPts val="200"/>
              </a:spcBef>
              <a:buClr>
                <a:srgbClr val="1F2A5C"/>
              </a:buClr>
            </a:pPr>
            <a:r>
              <a:rPr lang="ja-JP" sz="1400" b="0" dirty="0">
                <a:solidFill>
                  <a:srgbClr val="333333"/>
                </a:solidFill>
                <a:latin typeface="メイリオ" panose="020B0604030504040204" pitchFamily="50" charset="-128"/>
                <a:ea typeface="メイリオ" panose="020B0604030504040204" pitchFamily="50" charset="-128"/>
              </a:rPr>
              <a:t>流入元ごとに、配信を細かく出し分けられる</a:t>
            </a:r>
            <a:endParaRPr lang="en-US" altLang="ja-JP" sz="1400" b="1" dirty="0">
              <a:solidFill>
                <a:srgbClr val="00B050"/>
              </a:solidFill>
              <a:latin typeface="メイリオ" panose="020B0604030504040204" pitchFamily="50" charset="-128"/>
              <a:ea typeface="メイリオ" panose="020B0604030504040204" pitchFamily="50" charset="-128"/>
            </a:endParaRPr>
          </a:p>
          <a:p>
            <a:pPr>
              <a:spcBef>
                <a:spcPts val="600"/>
              </a:spcBef>
              <a:buNone/>
            </a:pPr>
            <a:r>
              <a:rPr lang="ja-JP" sz="1400" b="1" dirty="0">
                <a:solidFill>
                  <a:srgbClr val="00B050"/>
                </a:solidFill>
                <a:latin typeface="メイリオ" panose="020B0604030504040204" pitchFamily="50" charset="-128"/>
                <a:ea typeface="メイリオ" panose="020B0604030504040204" pitchFamily="50" charset="-128"/>
              </a:rPr>
              <a:t>デメリット</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1F2A5C"/>
              </a:buClr>
            </a:pPr>
            <a:r>
              <a:rPr lang="ja-JP" sz="1400" b="0" dirty="0">
                <a:solidFill>
                  <a:srgbClr val="333333"/>
                </a:solidFill>
                <a:latin typeface="メイリオ" panose="020B0604030504040204" pitchFamily="50" charset="-128"/>
                <a:ea typeface="メイリオ" panose="020B0604030504040204" pitchFamily="50" charset="-128"/>
              </a:rPr>
              <a:t>月額のツール費と、初期設定・移行の工数がかかる</a:t>
            </a:r>
          </a:p>
        </p:txBody>
      </p:sp>
      <p:sp>
        <p:nvSpPr>
          <p:cNvPr id="15" name="Conclusion">
            <a:extLst>
              <a:ext uri="{FF2B5EF4-FFF2-40B4-BE49-F238E27FC236}">
                <a16:creationId xmlns:a16="http://schemas.microsoft.com/office/drawing/2014/main" id="{B1500BE8-1C08-1F79-1D96-C1B5F87124E6}"/>
              </a:ext>
            </a:extLst>
          </p:cNvPr>
          <p:cNvSpPr txBox="1"/>
          <p:nvPr/>
        </p:nvSpPr>
        <p:spPr>
          <a:xfrm>
            <a:off x="381000" y="5422392"/>
            <a:ext cx="9144000" cy="1033271"/>
          </a:xfrm>
          <a:prstGeom prst="rect">
            <a:avLst/>
          </a:prstGeom>
          <a:solidFill>
            <a:srgbClr val="F0F2F7"/>
          </a:solidFill>
          <a:ln>
            <a:noFill/>
          </a:ln>
        </p:spPr>
        <p:txBody>
          <a:bodyPr wrap="square" lIns="177800" tIns="127000" rIns="177800" bIns="127000" anchor="t"/>
          <a:lstStyle/>
          <a:p>
            <a:pPr>
              <a:buNone/>
            </a:pPr>
            <a:r>
              <a:rPr lang="ja-JP" sz="1400" b="1" dirty="0">
                <a:solidFill>
                  <a:srgbClr val="1F2A5C"/>
                </a:solidFill>
                <a:latin typeface="メイリオ" panose="020B0604030504040204" pitchFamily="50" charset="-128"/>
                <a:ea typeface="メイリオ" panose="020B0604030504040204" pitchFamily="50" charset="-128"/>
              </a:rPr>
              <a:t>結論</a:t>
            </a:r>
          </a:p>
          <a:p>
            <a:pPr>
              <a:spcBef>
                <a:spcPts val="200"/>
              </a:spcBef>
              <a:buNone/>
            </a:pPr>
            <a:r>
              <a:rPr lang="ja-JP" sz="1400" b="0" dirty="0">
                <a:solidFill>
                  <a:srgbClr val="333333"/>
                </a:solidFill>
                <a:latin typeface="メイリオ" panose="020B0604030504040204" pitchFamily="50" charset="-128"/>
                <a:ea typeface="メイリオ" panose="020B0604030504040204" pitchFamily="50" charset="-128"/>
              </a:rPr>
              <a:t>LINE公式アカウントの標準機能で運用します（外部の運用ツールは導入しません）。</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None/>
            </a:pPr>
            <a:r>
              <a:rPr lang="ja-JP" altLang="en-US" sz="1400" b="0" dirty="0">
                <a:solidFill>
                  <a:srgbClr val="333333"/>
                </a:solidFill>
                <a:latin typeface="メイリオ" panose="020B0604030504040204" pitchFamily="50" charset="-128"/>
                <a:ea typeface="メイリオ" panose="020B0604030504040204" pitchFamily="50" charset="-128"/>
              </a:rPr>
              <a:t>※離脱防止ポップアップは、LINE公式アカウントの機能ではなく、サイト側に別途導入する施策です。</a:t>
            </a:r>
            <a:endParaRPr lang="ja-JP" sz="1400" dirty="0">
              <a:solidFill>
                <a:srgbClr val="333333"/>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178392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4C018-2F1E-8306-707D-71C186D40816}"/>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CBE7AF1-A707-0419-01A2-C566FDAD2E7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0D60058-2F60-08D5-B4FD-0E0AADF146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想定動線</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D3328ECE-A991-2276-8887-D875DA94A5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91D529F5-1969-8F22-8508-5967D82F7783}"/>
              </a:ext>
            </a:extLst>
          </p:cNvPr>
          <p:cNvSpPr/>
          <p:nvPr/>
        </p:nvSpPr>
        <p:spPr>
          <a:xfrm>
            <a:off x="453390" y="1755648"/>
            <a:ext cx="9190811" cy="2432304"/>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0D32EA92-3996-F5BA-08AE-72B08F79535C}"/>
              </a:ext>
            </a:extLst>
          </p:cNvPr>
          <p:cNvSpPr/>
          <p:nvPr/>
        </p:nvSpPr>
        <p:spPr>
          <a:xfrm>
            <a:off x="453390" y="4544568"/>
            <a:ext cx="9190811" cy="1920240"/>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7" name="テキスト ボックス 7">
            <a:extLst>
              <a:ext uri="{FF2B5EF4-FFF2-40B4-BE49-F238E27FC236}">
                <a16:creationId xmlns:a16="http://schemas.microsoft.com/office/drawing/2014/main" id="{C7E38EC2-DE76-A5FE-A6B8-3B48F7BD7B46}"/>
              </a:ext>
            </a:extLst>
          </p:cNvPr>
          <p:cNvSpPr txBox="1"/>
          <p:nvPr/>
        </p:nvSpPr>
        <p:spPr>
          <a:xfrm>
            <a:off x="453390" y="1417320"/>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対新規ユーザー領域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8" name="テキスト ボックス 8">
            <a:extLst>
              <a:ext uri="{FF2B5EF4-FFF2-40B4-BE49-F238E27FC236}">
                <a16:creationId xmlns:a16="http://schemas.microsoft.com/office/drawing/2014/main" id="{315E4FD7-BF96-305B-4DFF-0204D305BAAE}"/>
              </a:ext>
            </a:extLst>
          </p:cNvPr>
          <p:cNvSpPr txBox="1"/>
          <p:nvPr/>
        </p:nvSpPr>
        <p:spPr>
          <a:xfrm>
            <a:off x="453390" y="4215384"/>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&lt;友だち追加後・問い合わせ後の継続配信&gt;</a:t>
            </a:r>
            <a:endParaRPr lang="ja-JP" altLang="en-US" sz="1400" dirty="0">
              <a:solidFill>
                <a:schemeClr val="tx1">
                  <a:lumMod val="50000"/>
                  <a:lumOff val="50000"/>
                </a:schemeClr>
              </a:solidFill>
            </a:endParaRPr>
          </a:p>
        </p:txBody>
      </p:sp>
      <p:sp>
        <p:nvSpPr>
          <p:cNvPr id="9" name="正方形/長方形 8">
            <a:extLst>
              <a:ext uri="{FF2B5EF4-FFF2-40B4-BE49-F238E27FC236}">
                <a16:creationId xmlns:a16="http://schemas.microsoft.com/office/drawing/2014/main" id="{72450FBF-2EA8-4582-869E-9B2A7C4946D7}"/>
              </a:ext>
            </a:extLst>
          </p:cNvPr>
          <p:cNvSpPr/>
          <p:nvPr/>
        </p:nvSpPr>
        <p:spPr>
          <a:xfrm>
            <a:off x="566928" y="1847088"/>
            <a:ext cx="1645920" cy="265176"/>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576" rIns="36576" rtlCol="0" anchor="ctr" tIns="0"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100円賃貸のサイト</a:t>
            </a:r>
            <a:endParaRPr kumimoji="1" lang="ja-JP" altLang="en-US" sz="1200" b="1" dirty="0">
              <a:solidFill>
                <a:schemeClr val="bg1"/>
              </a:solidFill>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13127993-BF51-568A-20FB-A9FB1DB6C913}"/>
              </a:ext>
            </a:extLst>
          </p:cNvPr>
          <p:cNvSpPr/>
          <p:nvPr/>
        </p:nvSpPr>
        <p:spPr>
          <a:xfrm>
            <a:off x="8211312" y="2171700"/>
            <a:ext cx="1371600" cy="265176"/>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18288" tIns="0" rIns="18288"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物件の問い合わせ</a:t>
            </a:r>
            <a:endParaRPr kumimoji="1" lang="ja-JP" altLang="en-US" sz="1200" b="1" dirty="0">
              <a:solidFill>
                <a:schemeClr val="bg1"/>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2E81D74A-E79F-C90A-80AF-4F6BDF853777}"/>
              </a:ext>
            </a:extLst>
          </p:cNvPr>
          <p:cNvSpPr/>
          <p:nvPr/>
        </p:nvSpPr>
        <p:spPr>
          <a:xfrm>
            <a:off x="566928" y="2542032"/>
            <a:ext cx="2560320" cy="493776"/>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lnSpc>
                <a:spcPct val="100000"/>
              </a:lnSpc>
            </a:pPr>
            <a:r>
              <a:rPr lang="ja-JP" altLang="en-US" sz="1200" b="1" dirty="0">
                <a:solidFill>
                  <a:srgbClr val="FFFFFF"/>
                </a:solidFill>
                <a:latin typeface="メイリオ" panose="020B0604030504040204" pitchFamily="50" charset="-128"/>
                <a:ea typeface="メイリオ" panose="020B0604030504040204" pitchFamily="50" charset="-128"/>
              </a:rPr>
              <a:t>サイトの</a:t>
            </a:r>
            <a:br>
              <a:rPr lang="ja-JP" altLang="en-US" sz="1200" b="1" dirty="0">
                <a:solidFill>
                  <a:srgbClr val="FFFFFF"/>
                </a:solidFill>
                <a:latin typeface="メイリオ" panose="020B0604030504040204" pitchFamily="50" charset="-128"/>
                <a:ea typeface="メイリオ" panose="020B0604030504040204" pitchFamily="50" charset="-128"/>
              </a:rPr>
            </a:br>
            <a:r>
              <a:rPr lang="ja-JP" altLang="en-US" sz="1200" b="1" dirty="0">
                <a:solidFill>
                  <a:srgbClr val="FFFFFF"/>
                </a:solidFill>
                <a:latin typeface="メイリオ" panose="020B0604030504040204" pitchFamily="50" charset="-128"/>
                <a:ea typeface="メイリオ" panose="020B0604030504040204" pitchFamily="50" charset="-128"/>
              </a:rPr>
              <a:t>「LINEでお問い合わせ」ボタン</a:t>
            </a:r>
            <a:endParaRPr kumimoji="1" lang="ja-JP" altLang="en-US" sz="12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85B73343-1515-8075-50D7-828D2C7D0482}"/>
              </a:ext>
            </a:extLst>
          </p:cNvPr>
          <p:cNvSpPr/>
          <p:nvPr/>
        </p:nvSpPr>
        <p:spPr>
          <a:xfrm>
            <a:off x="566928" y="2167128"/>
            <a:ext cx="2560320" cy="29260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200" b="1" dirty="0">
                <a:solidFill>
                  <a:schemeClr val="bg1"/>
                </a:solidFill>
                <a:latin typeface="メイリオ" panose="020B0604030504040204" pitchFamily="50" charset="-128"/>
                <a:ea typeface="メイリオ" panose="020B0604030504040204" pitchFamily="50" charset="-128"/>
              </a:rPr>
              <a:t>離脱防止ポップアップ</a:t>
            </a:r>
            <a:endParaRPr kumimoji="1" lang="ja-JP" altLang="en-US" sz="1200" b="1" dirty="0">
              <a:solidFill>
                <a:schemeClr val="bg1"/>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AB39E10C-FA5C-42F3-51FF-A98C96D3A9FE}"/>
              </a:ext>
            </a:extLst>
          </p:cNvPr>
          <p:cNvSpPr/>
          <p:nvPr/>
        </p:nvSpPr>
        <p:spPr>
          <a:xfrm>
            <a:off x="8211312" y="1847088"/>
            <a:ext cx="1371600" cy="265176"/>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18288" tIns="0" rIns="18288"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空室確認・内見</a:t>
            </a:r>
          </a:p>
        </p:txBody>
      </p:sp>
      <p:sp>
        <p:nvSpPr>
          <p:cNvPr id="20" name="正方形/長方形 19">
            <a:extLst>
              <a:ext uri="{FF2B5EF4-FFF2-40B4-BE49-F238E27FC236}">
                <a16:creationId xmlns:a16="http://schemas.microsoft.com/office/drawing/2014/main" id="{EF3EB03D-B886-80C5-4DDF-AD318BB1E8CB}"/>
              </a:ext>
            </a:extLst>
          </p:cNvPr>
          <p:cNvSpPr/>
          <p:nvPr/>
        </p:nvSpPr>
        <p:spPr>
          <a:xfrm>
            <a:off x="6675120" y="4978908"/>
            <a:ext cx="2578608" cy="256032"/>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200" dirty="0">
                <a:solidFill>
                  <a:schemeClr val="bg1"/>
                </a:solidFill>
                <a:latin typeface="メイリオ" panose="020B0604030504040204" pitchFamily="50" charset="-128"/>
                <a:ea typeface="メイリオ" panose="020B0604030504040204" pitchFamily="50" charset="-128"/>
              </a:rPr>
              <a:t>アクセス解析での効果測定</a:t>
            </a:r>
          </a:p>
        </p:txBody>
      </p:sp>
      <p:sp>
        <p:nvSpPr>
          <p:cNvPr id="21" name="正方形/長方形 20">
            <a:extLst>
              <a:ext uri="{FF2B5EF4-FFF2-40B4-BE49-F238E27FC236}">
                <a16:creationId xmlns:a16="http://schemas.microsoft.com/office/drawing/2014/main" id="{8185B158-D6FD-FC9A-D842-E0184FC04A2F}"/>
              </a:ext>
            </a:extLst>
          </p:cNvPr>
          <p:cNvSpPr/>
          <p:nvPr/>
        </p:nvSpPr>
        <p:spPr>
          <a:xfrm>
            <a:off x="6675120" y="5266944"/>
            <a:ext cx="2578608" cy="256032"/>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投稿スケジュール確認</a:t>
            </a:r>
            <a:endParaRPr kumimoji="1"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CAF16DCF-7CE0-97CD-A1FD-09B08149FF7B}"/>
              </a:ext>
            </a:extLst>
          </p:cNvPr>
          <p:cNvSpPr/>
          <p:nvPr/>
        </p:nvSpPr>
        <p:spPr>
          <a:xfrm>
            <a:off x="6675120" y="5843016"/>
            <a:ext cx="2578608" cy="256032"/>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200" dirty="0">
                <a:solidFill>
                  <a:schemeClr val="bg1"/>
                </a:solidFill>
                <a:latin typeface="メイリオ" panose="020B0604030504040204" pitchFamily="50" charset="-128"/>
                <a:ea typeface="メイリオ" panose="020B0604030504040204" pitchFamily="50" charset="-128"/>
              </a:rPr>
              <a:t>受付時間外の自動応答</a:t>
            </a:r>
            <a:endParaRPr kumimoji="1"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DE164E19-C9CA-ADE8-FE9B-4A4096DD13BE}"/>
              </a:ext>
            </a:extLst>
          </p:cNvPr>
          <p:cNvSpPr/>
          <p:nvPr/>
        </p:nvSpPr>
        <p:spPr>
          <a:xfrm>
            <a:off x="6675120" y="5554980"/>
            <a:ext cx="2578608" cy="256032"/>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200" dirty="0">
                <a:solidFill>
                  <a:schemeClr val="bg1"/>
                </a:solidFill>
                <a:latin typeface="メイリオ" panose="020B0604030504040204" pitchFamily="50" charset="-128"/>
                <a:ea typeface="メイリオ" panose="020B0604030504040204" pitchFamily="50" charset="-128"/>
              </a:rPr>
              <a:t>キーワード応答の見直し</a:t>
            </a:r>
            <a:endParaRPr kumimoji="1"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FF9A810E-B53B-2631-3BD5-00395512E9C0}"/>
              </a:ext>
            </a:extLst>
          </p:cNvPr>
          <p:cNvSpPr/>
          <p:nvPr/>
        </p:nvSpPr>
        <p:spPr>
          <a:xfrm>
            <a:off x="6675120" y="6131052"/>
            <a:ext cx="2578608" cy="256032"/>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配信結果の振り返り</a:t>
            </a:r>
          </a:p>
        </p:txBody>
      </p:sp>
      <p:sp>
        <p:nvSpPr>
          <p:cNvPr id="25" name="正方形/長方形 24">
            <a:extLst>
              <a:ext uri="{FF2B5EF4-FFF2-40B4-BE49-F238E27FC236}">
                <a16:creationId xmlns:a16="http://schemas.microsoft.com/office/drawing/2014/main" id="{1DF80BB2-F1C3-A39C-D441-B75E4795CC5B}"/>
              </a:ext>
            </a:extLst>
          </p:cNvPr>
          <p:cNvSpPr/>
          <p:nvPr/>
        </p:nvSpPr>
        <p:spPr>
          <a:xfrm>
            <a:off x="6675120" y="4690872"/>
            <a:ext cx="1920240" cy="256032"/>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lIns="27432" rIns="27432">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dirty="0">
                <a:solidFill>
                  <a:srgbClr val="595959"/>
                </a:solidFill>
                <a:latin typeface="メイリオ" panose="020B0604030504040204" pitchFamily="50" charset="-128"/>
                <a:ea typeface="メイリオ" panose="020B0604030504040204" pitchFamily="50" charset="-128"/>
              </a:rPr>
              <a:t>定期対応項目</a:t>
            </a:r>
            <a:r>
              <a:rPr kumimoji="1" lang="en-US" altLang="ja-JP" sz="1200" dirty="0">
                <a:solidFill>
                  <a:srgbClr val="595959"/>
                </a:solidFill>
                <a:latin typeface="メイリオ" panose="020B0604030504040204" pitchFamily="50" charset="-128"/>
                <a:ea typeface="メイリオ" panose="020B0604030504040204" pitchFamily="50" charset="-128"/>
              </a:rPr>
              <a:t>(</a:t>
            </a:r>
            <a:r>
              <a:rPr kumimoji="1" lang="ja-JP" altLang="en-US" sz="1200" dirty="0">
                <a:solidFill>
                  <a:srgbClr val="595959"/>
                </a:solidFill>
                <a:latin typeface="メイリオ" panose="020B0604030504040204" pitchFamily="50" charset="-128"/>
                <a:ea typeface="メイリオ" panose="020B0604030504040204" pitchFamily="50" charset="-128"/>
              </a:rPr>
              <a:t>一部抽出</a:t>
            </a:r>
            <a:r>
              <a:rPr kumimoji="1" lang="en-US" altLang="ja-JP" sz="1200" dirty="0">
                <a:solidFill>
                  <a:srgbClr val="595959"/>
                </a:solidFill>
                <a:latin typeface="メイリオ" panose="020B0604030504040204" pitchFamily="50" charset="-128"/>
                <a:ea typeface="メイリオ" panose="020B0604030504040204" pitchFamily="50" charset="-128"/>
              </a:rPr>
              <a:t>)</a:t>
            </a:r>
          </a:p>
        </p:txBody>
      </p:sp>
      <p:sp>
        <p:nvSpPr>
          <p:cNvPr id="26" name="正方形/長方形 25">
            <a:extLst>
              <a:ext uri="{FF2B5EF4-FFF2-40B4-BE49-F238E27FC236}">
                <a16:creationId xmlns:a16="http://schemas.microsoft.com/office/drawing/2014/main" id="{CABD8985-CFB7-BFB4-C5CA-334F6DD3C337}"/>
              </a:ext>
            </a:extLst>
          </p:cNvPr>
          <p:cNvSpPr/>
          <p:nvPr/>
        </p:nvSpPr>
        <p:spPr>
          <a:xfrm>
            <a:off x="3310128" y="1792224"/>
            <a:ext cx="4535424" cy="2322576"/>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27" name="正方形/長方形 26">
            <a:extLst>
              <a:ext uri="{FF2B5EF4-FFF2-40B4-BE49-F238E27FC236}">
                <a16:creationId xmlns:a16="http://schemas.microsoft.com/office/drawing/2014/main" id="{498D1E1C-883A-4348-5898-29B2849E59E6}"/>
              </a:ext>
            </a:extLst>
          </p:cNvPr>
          <p:cNvSpPr/>
          <p:nvPr/>
        </p:nvSpPr>
        <p:spPr>
          <a:xfrm>
            <a:off x="3401568" y="1847088"/>
            <a:ext cx="1517904" cy="27432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友だち追加</a:t>
            </a:r>
          </a:p>
        </p:txBody>
      </p:sp>
      <p:cxnSp>
        <p:nvCxnSpPr>
          <p:cNvPr id="28" name="コネクタ: カギ線 27">
            <a:extLst>
              <a:ext uri="{FF2B5EF4-FFF2-40B4-BE49-F238E27FC236}">
                <a16:creationId xmlns:a16="http://schemas.microsoft.com/office/drawing/2014/main" id="{2981AEA5-C263-1A76-AF6F-7D4F94F3AC3F}"/>
              </a:ext>
            </a:extLst>
          </p:cNvPr>
          <p:cNvCxnSpPr>
            <a:cxnSpLocks/>
            <a:stCxn id="15" idx="3"/>
            <a:endCxn id="27" idx="1"/>
          </p:cNvCxnSpPr>
          <p:nvPr/>
        </p:nvCxnSpPr>
        <p:spPr>
          <a:xfrm flipV="1">
            <a:off x="3127248" y="1984248"/>
            <a:ext cx="274320" cy="804671"/>
          </a:xfrm>
          <a:prstGeom prst="bentConnector3">
            <a:avLst>
              <a:gd name="adj1" fmla="val 43333"/>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コネクタ: カギ線 29">
            <a:extLst>
              <a:ext uri="{FF2B5EF4-FFF2-40B4-BE49-F238E27FC236}">
                <a16:creationId xmlns:a16="http://schemas.microsoft.com/office/drawing/2014/main" id="{4194983F-AFC0-FB2F-1207-1AF108AFDA19}"/>
              </a:ext>
            </a:extLst>
          </p:cNvPr>
          <p:cNvCxnSpPr>
            <a:cxnSpLocks/>
            <a:stCxn id="17" idx="3"/>
            <a:endCxn id="27" idx="1"/>
          </p:cNvCxnSpPr>
          <p:nvPr/>
        </p:nvCxnSpPr>
        <p:spPr>
          <a:xfrm flipV="1">
            <a:off x="3127248" y="1984248"/>
            <a:ext cx="274320" cy="329184"/>
          </a:xfrm>
          <a:prstGeom prst="bentConnector3">
            <a:avLst>
              <a:gd name="adj1" fmla="val 43333"/>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1" name="正方形/長方形 30">
            <a:extLst>
              <a:ext uri="{FF2B5EF4-FFF2-40B4-BE49-F238E27FC236}">
                <a16:creationId xmlns:a16="http://schemas.microsoft.com/office/drawing/2014/main" id="{B20DB094-045E-2E0D-7026-B0BFFA8F2374}"/>
              </a:ext>
            </a:extLst>
          </p:cNvPr>
          <p:cNvSpPr/>
          <p:nvPr/>
        </p:nvSpPr>
        <p:spPr>
          <a:xfrm>
            <a:off x="5193792" y="1847088"/>
            <a:ext cx="2578608" cy="265176"/>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企画配信（月4本）</a:t>
            </a:r>
          </a:p>
        </p:txBody>
      </p:sp>
      <p:sp>
        <p:nvSpPr>
          <p:cNvPr id="32" name="正方形/長方形 31">
            <a:extLst>
              <a:ext uri="{FF2B5EF4-FFF2-40B4-BE49-F238E27FC236}">
                <a16:creationId xmlns:a16="http://schemas.microsoft.com/office/drawing/2014/main" id="{960DE889-CA21-9C03-FD30-9F8BA1C11BE0}"/>
              </a:ext>
            </a:extLst>
          </p:cNvPr>
          <p:cNvSpPr/>
          <p:nvPr/>
        </p:nvSpPr>
        <p:spPr>
          <a:xfrm>
            <a:off x="5193792" y="2171700"/>
            <a:ext cx="2578608" cy="265176"/>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ステップ配信（全10通・14日）</a:t>
            </a:r>
          </a:p>
        </p:txBody>
      </p:sp>
      <p:sp>
        <p:nvSpPr>
          <p:cNvPr id="33" name="正方形/長方形 32">
            <a:extLst>
              <a:ext uri="{FF2B5EF4-FFF2-40B4-BE49-F238E27FC236}">
                <a16:creationId xmlns:a16="http://schemas.microsoft.com/office/drawing/2014/main" id="{B0198902-7C67-1321-611C-A528F8B056D6}"/>
              </a:ext>
            </a:extLst>
          </p:cNvPr>
          <p:cNvSpPr/>
          <p:nvPr/>
        </p:nvSpPr>
        <p:spPr>
          <a:xfrm>
            <a:off x="5193792" y="2496312"/>
            <a:ext cx="1261872" cy="265176"/>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リサーチ</a:t>
            </a:r>
          </a:p>
        </p:txBody>
      </p:sp>
      <p:sp>
        <p:nvSpPr>
          <p:cNvPr id="34" name="正方形/長方形 33">
            <a:extLst>
              <a:ext uri="{FF2B5EF4-FFF2-40B4-BE49-F238E27FC236}">
                <a16:creationId xmlns:a16="http://schemas.microsoft.com/office/drawing/2014/main" id="{EC9DC48F-C12B-8A2A-8E49-C82DF8C2398F}"/>
              </a:ext>
            </a:extLst>
          </p:cNvPr>
          <p:cNvSpPr/>
          <p:nvPr/>
        </p:nvSpPr>
        <p:spPr>
          <a:xfrm>
            <a:off x="3401568" y="2185416"/>
            <a:ext cx="1517904" cy="237744"/>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lIns="27432" rIns="27432">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dirty="0">
                <a:solidFill>
                  <a:srgbClr val="595959"/>
                </a:solidFill>
                <a:latin typeface="メイリオ" panose="020B0604030504040204" pitchFamily="50" charset="-128"/>
                <a:ea typeface="メイリオ" panose="020B0604030504040204" pitchFamily="50" charset="-128"/>
              </a:rPr>
              <a:t>初期設計項目↓</a:t>
            </a:r>
          </a:p>
        </p:txBody>
      </p:sp>
      <p:sp>
        <p:nvSpPr>
          <p:cNvPr id="35" name="テキスト ボックス 67">
            <a:extLst>
              <a:ext uri="{FF2B5EF4-FFF2-40B4-BE49-F238E27FC236}">
                <a16:creationId xmlns:a16="http://schemas.microsoft.com/office/drawing/2014/main" id="{7FD4C92A-1BF4-DC29-74E5-5DDCAEC47D74}"/>
              </a:ext>
            </a:extLst>
          </p:cNvPr>
          <p:cNvSpPr txBox="1"/>
          <p:nvPr/>
        </p:nvSpPr>
        <p:spPr>
          <a:xfrm>
            <a:off x="3401568" y="2441448"/>
            <a:ext cx="1572768" cy="1554480"/>
          </a:xfrm>
          <a:prstGeom prst="rect">
            <a:avLst/>
          </a:prstGeom>
          <a:noFill/>
        </p:spPr>
        <p:txBody>
          <a:bodyPr wrap="square" lIns="45720" tIns="18288" rIns="18288" bIns="18288"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ts val="1450"/>
              </a:lnSpc>
            </a:pPr>
            <a:r>
              <a:rPr kumimoji="1" lang="ja-JP" altLang="en-US" sz="1200" dirty="0">
                <a:solidFill>
                  <a:srgbClr val="595959"/>
                </a:solidFill>
                <a:latin typeface="メイリオ" panose="020B0604030504040204" pitchFamily="50" charset="-128"/>
                <a:ea typeface="メイリオ" panose="020B0604030504040204" pitchFamily="50" charset="-128"/>
              </a:rPr>
              <a:t>・プロフィール</a:t>
            </a:r>
            <a:endPar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nSpc>
                <a:spcPts val="1450"/>
              </a:lnSpc>
            </a:pPr>
            <a:r>
              <a:rPr lang="ja-JP" altLang="en-US" sz="1200" dirty="0">
                <a:solidFill>
                  <a:srgbClr val="595959"/>
                </a:solidFill>
                <a:latin typeface="メイリオ" panose="020B0604030504040204" pitchFamily="50" charset="-128"/>
                <a:ea typeface="メイリオ" panose="020B0604030504040204" pitchFamily="50" charset="-128"/>
              </a:rPr>
              <a:t>・リッチメニュー</a:t>
            </a:r>
            <a:endPar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nSpc>
                <a:spcPts val="1450"/>
              </a:lnSpc>
            </a:pPr>
            <a:r>
              <a:rPr lang="ja-JP" altLang="en-US" sz="1200" dirty="0">
                <a:solidFill>
                  <a:srgbClr val="595959"/>
                </a:solidFill>
                <a:latin typeface="メイリオ" panose="020B0604030504040204" pitchFamily="50" charset="-128"/>
                <a:ea typeface="メイリオ" panose="020B0604030504040204" pitchFamily="50" charset="-128"/>
              </a:rPr>
              <a:t>・あいさつ</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nSpc>
                <a:spcPts val="1450"/>
              </a:lnSpc>
            </a:pPr>
            <a:r>
              <a:rPr lang="ja-JP" altLang="en-US" sz="1200" dirty="0">
                <a:solidFill>
                  <a:srgbClr val="595959"/>
                </a:solidFill>
                <a:latin typeface="メイリオ" panose="020B0604030504040204" pitchFamily="50" charset="-128"/>
                <a:ea typeface="メイリオ" panose="020B0604030504040204" pitchFamily="50" charset="-128"/>
              </a:rPr>
              <a:t>・応答メッセージ</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nSpc>
                <a:spcPts val="1450"/>
              </a:lnSpc>
            </a:pPr>
            <a:r>
              <a:rPr lang="ja-JP" altLang="en-US" sz="1200" dirty="0">
                <a:solidFill>
                  <a:srgbClr val="595959"/>
                </a:solidFill>
                <a:latin typeface="メイリオ" panose="020B0604030504040204" pitchFamily="50" charset="-128"/>
                <a:ea typeface="メイリオ" panose="020B0604030504040204" pitchFamily="50" charset="-128"/>
              </a:rPr>
              <a:t>・チャットタグ</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nSpc>
                <a:spcPts val="1450"/>
              </a:lnSpc>
            </a:pPr>
            <a:r>
              <a:rPr lang="ja-JP" altLang="en-US" sz="1200" dirty="0">
                <a:solidFill>
                  <a:srgbClr val="595959"/>
                </a:solidFill>
                <a:latin typeface="メイリオ" panose="020B0604030504040204" pitchFamily="50" charset="-128"/>
                <a:ea typeface="メイリオ" panose="020B0604030504040204" pitchFamily="50" charset="-128"/>
              </a:rPr>
              <a:t>・計測タグ</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nSpc>
                <a:spcPts val="1450"/>
              </a:lnSpc>
            </a:pPr>
            <a:r>
              <a:rPr lang="ja-JP" altLang="en-US" sz="1200" dirty="0">
                <a:solidFill>
                  <a:srgbClr val="595959"/>
                </a:solidFill>
                <a:latin typeface="メイリオ" panose="020B0604030504040204" pitchFamily="50" charset="-128"/>
                <a:ea typeface="メイリオ" panose="020B0604030504040204" pitchFamily="50" charset="-128"/>
              </a:rPr>
              <a:t>・離脱防止（別途）</a:t>
            </a:r>
            <a:endParaRPr lang="en-US" altLang="ja-JP" sz="1200" dirty="0">
              <a:solidFill>
                <a:srgbClr val="FF0000"/>
              </a:solidFill>
              <a:latin typeface="メイリオ" panose="020B0604030504040204" pitchFamily="50" charset="-128"/>
              <a:ea typeface="メイリオ" panose="020B0604030504040204" pitchFamily="50" charset="-128"/>
            </a:endParaRPr>
          </a:p>
          <a:p>
            <a:pPr>
              <a:lnSpc>
                <a:spcPts val="1450"/>
              </a:lnSpc>
            </a:pPr>
            <a:r>
              <a:rPr lang="ja-JP" altLang="en-US" sz="1200" dirty="0">
                <a:solidFill>
                  <a:srgbClr val="595959"/>
                </a:solidFill>
                <a:latin typeface="メイリオ" panose="020B0604030504040204" pitchFamily="50" charset="-128"/>
                <a:ea typeface="メイリオ" panose="020B0604030504040204" pitchFamily="50" charset="-128"/>
              </a:rPr>
              <a:t>・サイトのボタン</a:t>
            </a:r>
            <a:endParaRPr lang="en-US" altLang="ja-JP" sz="1200" dirty="0">
              <a:solidFill>
                <a:srgbClr val="FF0000"/>
              </a:solidFill>
              <a:latin typeface="メイリオ" panose="020B0604030504040204" pitchFamily="50" charset="-128"/>
              <a:ea typeface="メイリオ" panose="020B0604030504040204" pitchFamily="50" charset="-128"/>
            </a:endParaRPr>
          </a:p>
        </p:txBody>
      </p:sp>
      <p:sp>
        <p:nvSpPr>
          <p:cNvPr id="36" name="正方形/長方形 35">
            <a:extLst>
              <a:ext uri="{FF2B5EF4-FFF2-40B4-BE49-F238E27FC236}">
                <a16:creationId xmlns:a16="http://schemas.microsoft.com/office/drawing/2014/main" id="{3C7CD555-05D0-53EC-B6D5-ED734EBA27DF}"/>
              </a:ext>
            </a:extLst>
          </p:cNvPr>
          <p:cNvSpPr/>
          <p:nvPr/>
        </p:nvSpPr>
        <p:spPr>
          <a:xfrm>
            <a:off x="5193792" y="2820924"/>
            <a:ext cx="2578608" cy="265176"/>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問い合わせ済みの方を除く配信</a:t>
            </a:r>
          </a:p>
        </p:txBody>
      </p:sp>
      <p:sp>
        <p:nvSpPr>
          <p:cNvPr id="37" name="正方形/長方形 36">
            <a:extLst>
              <a:ext uri="{FF2B5EF4-FFF2-40B4-BE49-F238E27FC236}">
                <a16:creationId xmlns:a16="http://schemas.microsoft.com/office/drawing/2014/main" id="{64296BD6-7E19-AF65-3C1F-3AA68F3DB296}"/>
              </a:ext>
            </a:extLst>
          </p:cNvPr>
          <p:cNvSpPr/>
          <p:nvPr/>
        </p:nvSpPr>
        <p:spPr>
          <a:xfrm>
            <a:off x="5193792" y="3470148"/>
            <a:ext cx="2578608" cy="265176"/>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リッチメニュー（6ボタン）</a:t>
            </a:r>
          </a:p>
        </p:txBody>
      </p:sp>
      <p:sp>
        <p:nvSpPr>
          <p:cNvPr id="38" name="正方形/長方形 37">
            <a:extLst>
              <a:ext uri="{FF2B5EF4-FFF2-40B4-BE49-F238E27FC236}">
                <a16:creationId xmlns:a16="http://schemas.microsoft.com/office/drawing/2014/main" id="{2B391CFB-A763-8F28-0B80-C4699C620787}"/>
              </a:ext>
            </a:extLst>
          </p:cNvPr>
          <p:cNvSpPr/>
          <p:nvPr/>
        </p:nvSpPr>
        <p:spPr>
          <a:xfrm>
            <a:off x="5193792" y="3145536"/>
            <a:ext cx="2578608" cy="265176"/>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200" b="1">
                <a:solidFill>
                  <a:schemeClr val="bg1"/>
                </a:solidFill>
                <a:latin typeface="メイリオ" panose="020B0604030504040204" pitchFamily="50" charset="-128"/>
                <a:ea typeface="メイリオ" panose="020B0604030504040204" pitchFamily="50" charset="-128"/>
              </a:rPr>
              <a:t>よくある質問（キーワード応答）</a:t>
            </a:r>
            <a:endParaRPr lang="ja-JP" altLang="en-US" sz="1200" b="1" dirty="0">
              <a:solidFill>
                <a:schemeClr val="bg1"/>
              </a:solidFill>
              <a:latin typeface="メイリオ" panose="020B0604030504040204" pitchFamily="50" charset="-128"/>
              <a:ea typeface="メイリオ" panose="020B0604030504040204" pitchFamily="50" charset="-128"/>
            </a:endParaRPr>
          </a:p>
        </p:txBody>
      </p:sp>
      <p:sp>
        <p:nvSpPr>
          <p:cNvPr id="39" name="正方形/長方形 38">
            <a:extLst>
              <a:ext uri="{FF2B5EF4-FFF2-40B4-BE49-F238E27FC236}">
                <a16:creationId xmlns:a16="http://schemas.microsoft.com/office/drawing/2014/main" id="{78BE8892-FE50-BF73-B15E-567C1CFD9A8A}"/>
              </a:ext>
            </a:extLst>
          </p:cNvPr>
          <p:cNvSpPr/>
          <p:nvPr/>
        </p:nvSpPr>
        <p:spPr>
          <a:xfrm>
            <a:off x="6510528" y="2496312"/>
            <a:ext cx="1261872" cy="265176"/>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 配信に反映</a:t>
            </a:r>
          </a:p>
        </p:txBody>
      </p:sp>
      <p:sp>
        <p:nvSpPr>
          <p:cNvPr id="40" name="正方形/長方形 39">
            <a:extLst>
              <a:ext uri="{FF2B5EF4-FFF2-40B4-BE49-F238E27FC236}">
                <a16:creationId xmlns:a16="http://schemas.microsoft.com/office/drawing/2014/main" id="{5FB8C9E8-13C6-54AE-CC6C-E66EB44BEE66}"/>
              </a:ext>
            </a:extLst>
          </p:cNvPr>
          <p:cNvSpPr/>
          <p:nvPr/>
        </p:nvSpPr>
        <p:spPr>
          <a:xfrm>
            <a:off x="5193792" y="3794760"/>
            <a:ext cx="2578608" cy="265176"/>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個別チャット（物件の確認）</a:t>
            </a:r>
          </a:p>
        </p:txBody>
      </p:sp>
      <p:cxnSp>
        <p:nvCxnSpPr>
          <p:cNvPr id="41" name="コネクタ: カギ線 40">
            <a:extLst>
              <a:ext uri="{FF2B5EF4-FFF2-40B4-BE49-F238E27FC236}">
                <a16:creationId xmlns:a16="http://schemas.microsoft.com/office/drawing/2014/main" id="{A0B29E3B-5447-4104-E77E-C26EB1CB0F8A}"/>
              </a:ext>
            </a:extLst>
          </p:cNvPr>
          <p:cNvCxnSpPr>
            <a:cxnSpLocks/>
            <a:stCxn id="40" idx="3"/>
          </p:cNvCxnSpPr>
          <p:nvPr/>
        </p:nvCxnSpPr>
        <p:spPr>
          <a:xfrm flipV="1">
            <a:off x="7772400" y="1979676"/>
            <a:ext cx="438912" cy="1947672"/>
          </a:xfrm>
          <a:prstGeom prst="bentConnector3">
            <a:avLst>
              <a:gd name="adj1" fmla="val 62500"/>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2" name="コネクタ: カギ線 41">
            <a:extLst>
              <a:ext uri="{FF2B5EF4-FFF2-40B4-BE49-F238E27FC236}">
                <a16:creationId xmlns:a16="http://schemas.microsoft.com/office/drawing/2014/main" id="{6F60DF78-AC16-9662-17BD-3EBCD4677BB3}"/>
              </a:ext>
            </a:extLst>
          </p:cNvPr>
          <p:cNvCxnSpPr>
            <a:cxnSpLocks/>
            <a:stCxn id="37" idx="3"/>
          </p:cNvCxnSpPr>
          <p:nvPr/>
        </p:nvCxnSpPr>
        <p:spPr>
          <a:xfrm flipV="1">
            <a:off x="7772400" y="2304288"/>
            <a:ext cx="438912" cy="1298448"/>
          </a:xfrm>
          <a:prstGeom prst="bentConnector3">
            <a:avLst>
              <a:gd name="adj1" fmla="val 35417"/>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3" name="コネクタ: カギ線 42">
            <a:extLst>
              <a:ext uri="{FF2B5EF4-FFF2-40B4-BE49-F238E27FC236}">
                <a16:creationId xmlns:a16="http://schemas.microsoft.com/office/drawing/2014/main" id="{9ACE7516-910E-229D-8D61-02389EE1209F}"/>
              </a:ext>
            </a:extLst>
          </p:cNvPr>
          <p:cNvCxnSpPr>
            <a:cxnSpLocks/>
            <a:stCxn id="38" idx="3"/>
          </p:cNvCxnSpPr>
          <p:nvPr/>
        </p:nvCxnSpPr>
        <p:spPr>
          <a:xfrm flipV="1">
            <a:off x="7772400" y="2304288"/>
            <a:ext cx="438912" cy="973836"/>
          </a:xfrm>
          <a:prstGeom prst="bentConnector3">
            <a:avLst>
              <a:gd name="adj1" fmla="val 35417"/>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コネクタ: カギ線 43">
            <a:extLst>
              <a:ext uri="{FF2B5EF4-FFF2-40B4-BE49-F238E27FC236}">
                <a16:creationId xmlns:a16="http://schemas.microsoft.com/office/drawing/2014/main" id="{CFEF0AA5-73C6-3E02-7EDB-57BE374DCDBF}"/>
              </a:ext>
            </a:extLst>
          </p:cNvPr>
          <p:cNvCxnSpPr>
            <a:cxnSpLocks/>
            <a:stCxn id="36" idx="3"/>
          </p:cNvCxnSpPr>
          <p:nvPr/>
        </p:nvCxnSpPr>
        <p:spPr>
          <a:xfrm flipV="1">
            <a:off x="7772400" y="2304288"/>
            <a:ext cx="438912" cy="649224"/>
          </a:xfrm>
          <a:prstGeom prst="bentConnector3">
            <a:avLst>
              <a:gd name="adj1" fmla="val 35417"/>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6" name="コネクタ: カギ線 45">
            <a:extLst>
              <a:ext uri="{FF2B5EF4-FFF2-40B4-BE49-F238E27FC236}">
                <a16:creationId xmlns:a16="http://schemas.microsoft.com/office/drawing/2014/main" id="{994CBAF5-3A55-5F8D-2FE3-7E89A4D5C622}"/>
              </a:ext>
            </a:extLst>
          </p:cNvPr>
          <p:cNvCxnSpPr>
            <a:cxnSpLocks/>
            <a:stCxn id="39" idx="3"/>
          </p:cNvCxnSpPr>
          <p:nvPr/>
        </p:nvCxnSpPr>
        <p:spPr>
          <a:xfrm flipV="1">
            <a:off x="7772400" y="2304288"/>
            <a:ext cx="438912" cy="324612"/>
          </a:xfrm>
          <a:prstGeom prst="bentConnector3">
            <a:avLst>
              <a:gd name="adj1" fmla="val 35417"/>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7" name="コネクタ: カギ線 46">
            <a:extLst>
              <a:ext uri="{FF2B5EF4-FFF2-40B4-BE49-F238E27FC236}">
                <a16:creationId xmlns:a16="http://schemas.microsoft.com/office/drawing/2014/main" id="{95AFF09E-E9EC-B83D-758F-AB3E03B91C26}"/>
              </a:ext>
            </a:extLst>
          </p:cNvPr>
          <p:cNvCxnSpPr>
            <a:cxnSpLocks/>
            <a:stCxn id="32" idx="3"/>
          </p:cNvCxnSpPr>
          <p:nvPr/>
        </p:nvCxnSpPr>
        <p:spPr>
          <a:xfrm>
            <a:off x="7772400" y="2304288"/>
            <a:ext cx="438912" cy="1"/>
          </a:xfrm>
          <a:prstGeom prst="bentConnector3">
            <a:avLst>
              <a:gd name="adj1" fmla="val 35417"/>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8" name="コネクタ: カギ線 47">
            <a:extLst>
              <a:ext uri="{FF2B5EF4-FFF2-40B4-BE49-F238E27FC236}">
                <a16:creationId xmlns:a16="http://schemas.microsoft.com/office/drawing/2014/main" id="{81E043B6-4E27-2700-F284-741B1F2B6E99}"/>
              </a:ext>
            </a:extLst>
          </p:cNvPr>
          <p:cNvCxnSpPr>
            <a:cxnSpLocks/>
            <a:stCxn id="31" idx="3"/>
          </p:cNvCxnSpPr>
          <p:nvPr/>
        </p:nvCxnSpPr>
        <p:spPr>
          <a:xfrm>
            <a:off x="7772400" y="1979676"/>
            <a:ext cx="438912" cy="324612"/>
          </a:xfrm>
          <a:prstGeom prst="bentConnector3">
            <a:avLst>
              <a:gd name="adj1" fmla="val 35417"/>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9" name="左中かっこ 48">
            <a:extLst>
              <a:ext uri="{FF2B5EF4-FFF2-40B4-BE49-F238E27FC236}">
                <a16:creationId xmlns:a16="http://schemas.microsoft.com/office/drawing/2014/main" id="{3EB6A587-08D7-7B0D-8BB4-704F3A9413A8}"/>
              </a:ext>
            </a:extLst>
          </p:cNvPr>
          <p:cNvSpPr/>
          <p:nvPr/>
        </p:nvSpPr>
        <p:spPr>
          <a:xfrm>
            <a:off x="5010912" y="1819656"/>
            <a:ext cx="146304" cy="2267712"/>
          </a:xfrm>
          <a:prstGeom prst="leftBrace">
            <a:avLst>
              <a:gd name="adj1" fmla="val 8333"/>
              <a:gd name="adj2" fmla="val 23194"/>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endParaRPr kumimoji="1" lang="ja-JP" altLang="en-US"/>
          </a:p>
        </p:txBody>
      </p:sp>
      <p:sp>
        <p:nvSpPr>
          <p:cNvPr id="50" name="正方形/長方形 49">
            <a:extLst>
              <a:ext uri="{FF2B5EF4-FFF2-40B4-BE49-F238E27FC236}">
                <a16:creationId xmlns:a16="http://schemas.microsoft.com/office/drawing/2014/main" id="{13F6801A-CC8C-370B-47CD-0E9A8F78DA92}"/>
              </a:ext>
            </a:extLst>
          </p:cNvPr>
          <p:cNvSpPr/>
          <p:nvPr/>
        </p:nvSpPr>
        <p:spPr>
          <a:xfrm>
            <a:off x="530352" y="4636008"/>
            <a:ext cx="5769864" cy="1796795"/>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2" name="正方形/長方形 51">
            <a:extLst>
              <a:ext uri="{FF2B5EF4-FFF2-40B4-BE49-F238E27FC236}">
                <a16:creationId xmlns:a16="http://schemas.microsoft.com/office/drawing/2014/main" id="{1A52527A-0CF0-029E-8E86-430BD9DEAAA1}"/>
              </a:ext>
            </a:extLst>
          </p:cNvPr>
          <p:cNvSpPr/>
          <p:nvPr/>
        </p:nvSpPr>
        <p:spPr>
          <a:xfrm>
            <a:off x="640080" y="4690872"/>
            <a:ext cx="960120" cy="256032"/>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tIns="0"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200" b="1" dirty="0">
                <a:solidFill>
                  <a:srgbClr val="595959"/>
                </a:solidFill>
                <a:latin typeface="メイリオ" panose="020B0604030504040204" pitchFamily="50" charset="-128"/>
                <a:ea typeface="メイリオ" panose="020B0604030504040204" pitchFamily="50" charset="-128"/>
              </a:rPr>
              <a:t>問い合わせ</a:t>
            </a:r>
            <a:endParaRPr kumimoji="1" lang="ja-JP" altLang="en-US" sz="1200" b="1" dirty="0">
              <a:solidFill>
                <a:schemeClr val="bg1"/>
              </a:solidFill>
              <a:latin typeface="メイリオ" panose="020B0604030504040204" pitchFamily="50" charset="-128"/>
              <a:ea typeface="メイリオ" panose="020B0604030504040204" pitchFamily="50" charset="-128"/>
            </a:endParaRPr>
          </a:p>
        </p:txBody>
      </p:sp>
      <p:cxnSp>
        <p:nvCxnSpPr>
          <p:cNvPr id="53" name="コネクタ: カギ線 52">
            <a:extLst>
              <a:ext uri="{FF2B5EF4-FFF2-40B4-BE49-F238E27FC236}">
                <a16:creationId xmlns:a16="http://schemas.microsoft.com/office/drawing/2014/main" id="{898B747D-663D-3118-8C11-74EB0324AD5C}"/>
              </a:ext>
            </a:extLst>
          </p:cNvPr>
          <p:cNvCxnSpPr>
            <a:stCxn id="52" idx="0"/>
          </p:cNvCxnSpPr>
          <p:nvPr/>
        </p:nvCxnSpPr>
        <p:spPr>
          <a:xfrm rot="5400000" flipH="1" flipV="1">
            <a:off x="3881628" y="-324612"/>
            <a:ext cx="2253996" cy="7776972"/>
          </a:xfrm>
          <a:prstGeom prst="bentConnector3">
            <a:avLst>
              <a:gd name="adj1" fmla="val 4057"/>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57" name="正方形/長方形 56">
            <a:extLst>
              <a:ext uri="{FF2B5EF4-FFF2-40B4-BE49-F238E27FC236}">
                <a16:creationId xmlns:a16="http://schemas.microsoft.com/office/drawing/2014/main" id="{9927067B-793F-D21C-B90A-7C7E46812D7F}"/>
              </a:ext>
            </a:extLst>
          </p:cNvPr>
          <p:cNvSpPr/>
          <p:nvPr/>
        </p:nvSpPr>
        <p:spPr>
          <a:xfrm>
            <a:off x="3611880" y="4690872"/>
            <a:ext cx="2578608" cy="256032"/>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内見・お申込みの案内</a:t>
            </a:r>
          </a:p>
        </p:txBody>
      </p:sp>
      <p:sp>
        <p:nvSpPr>
          <p:cNvPr id="58" name="正方形/長方形 57">
            <a:extLst>
              <a:ext uri="{FF2B5EF4-FFF2-40B4-BE49-F238E27FC236}">
                <a16:creationId xmlns:a16="http://schemas.microsoft.com/office/drawing/2014/main" id="{BD2E83D5-3372-C439-208D-783F428C9D84}"/>
              </a:ext>
            </a:extLst>
          </p:cNvPr>
          <p:cNvSpPr/>
          <p:nvPr/>
        </p:nvSpPr>
        <p:spPr>
          <a:xfrm>
            <a:off x="3611880" y="4978908"/>
            <a:ext cx="2578608" cy="256032"/>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別の物件URLの受付</a:t>
            </a:r>
          </a:p>
        </p:txBody>
      </p:sp>
      <p:sp>
        <p:nvSpPr>
          <p:cNvPr id="59" name="正方形/長方形 58">
            <a:extLst>
              <a:ext uri="{FF2B5EF4-FFF2-40B4-BE49-F238E27FC236}">
                <a16:creationId xmlns:a16="http://schemas.microsoft.com/office/drawing/2014/main" id="{087D59E0-E0CE-3934-C1B4-0EF4D82E0B2E}"/>
              </a:ext>
            </a:extLst>
          </p:cNvPr>
          <p:cNvSpPr/>
          <p:nvPr/>
        </p:nvSpPr>
        <p:spPr>
          <a:xfrm>
            <a:off x="3611880" y="5266944"/>
            <a:ext cx="1261872" cy="256032"/>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ご成約</a:t>
            </a:r>
          </a:p>
        </p:txBody>
      </p:sp>
      <p:sp>
        <p:nvSpPr>
          <p:cNvPr id="60" name="正方形/長方形 59">
            <a:extLst>
              <a:ext uri="{FF2B5EF4-FFF2-40B4-BE49-F238E27FC236}">
                <a16:creationId xmlns:a16="http://schemas.microsoft.com/office/drawing/2014/main" id="{78BB80E0-2482-846A-E4FE-C1770384E88E}"/>
              </a:ext>
            </a:extLst>
          </p:cNvPr>
          <p:cNvSpPr/>
          <p:nvPr/>
        </p:nvSpPr>
        <p:spPr>
          <a:xfrm>
            <a:off x="3611880" y="5554980"/>
            <a:ext cx="2578608" cy="256032"/>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チャットタグで対応状況を管理</a:t>
            </a:r>
          </a:p>
        </p:txBody>
      </p:sp>
      <p:sp>
        <p:nvSpPr>
          <p:cNvPr id="61" name="正方形/長方形 60">
            <a:extLst>
              <a:ext uri="{FF2B5EF4-FFF2-40B4-BE49-F238E27FC236}">
                <a16:creationId xmlns:a16="http://schemas.microsoft.com/office/drawing/2014/main" id="{C885333E-56CE-B011-72B9-07B332849355}"/>
              </a:ext>
            </a:extLst>
          </p:cNvPr>
          <p:cNvSpPr/>
          <p:nvPr/>
        </p:nvSpPr>
        <p:spPr>
          <a:xfrm>
            <a:off x="4928616" y="5266944"/>
            <a:ext cx="1261872" cy="256032"/>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入居までの案内</a:t>
            </a:r>
          </a:p>
        </p:txBody>
      </p:sp>
      <p:cxnSp>
        <p:nvCxnSpPr>
          <p:cNvPr id="62" name="コネクタ: カギ線 61">
            <a:extLst>
              <a:ext uri="{FF2B5EF4-FFF2-40B4-BE49-F238E27FC236}">
                <a16:creationId xmlns:a16="http://schemas.microsoft.com/office/drawing/2014/main" id="{BDA83037-5C06-C2D0-EF8B-90AE0F4336B5}"/>
              </a:ext>
            </a:extLst>
          </p:cNvPr>
          <p:cNvCxnSpPr>
            <a:cxnSpLocks/>
            <a:stCxn id="52" idx="3"/>
            <a:endCxn id="57" idx="1"/>
          </p:cNvCxnSpPr>
          <p:nvPr/>
        </p:nvCxnSpPr>
        <p:spPr>
          <a:xfrm>
            <a:off x="1600200" y="4818888"/>
            <a:ext cx="2011680" cy="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3" name="コネクタ: カギ線 62">
            <a:extLst>
              <a:ext uri="{FF2B5EF4-FFF2-40B4-BE49-F238E27FC236}">
                <a16:creationId xmlns:a16="http://schemas.microsoft.com/office/drawing/2014/main" id="{BA23D5BC-C7EC-06D4-215C-2852A68F0F9B}"/>
              </a:ext>
            </a:extLst>
          </p:cNvPr>
          <p:cNvCxnSpPr>
            <a:cxnSpLocks/>
            <a:stCxn id="52" idx="3"/>
            <a:endCxn id="58" idx="1"/>
          </p:cNvCxnSpPr>
          <p:nvPr/>
        </p:nvCxnSpPr>
        <p:spPr>
          <a:xfrm>
            <a:off x="1600200" y="4818888"/>
            <a:ext cx="2011680" cy="28803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4" name="コネクタ: カギ線 63">
            <a:extLst>
              <a:ext uri="{FF2B5EF4-FFF2-40B4-BE49-F238E27FC236}">
                <a16:creationId xmlns:a16="http://schemas.microsoft.com/office/drawing/2014/main" id="{F8AA6994-29BC-2C26-DE5F-C0C21F502236}"/>
              </a:ext>
            </a:extLst>
          </p:cNvPr>
          <p:cNvCxnSpPr>
            <a:cxnSpLocks/>
            <a:stCxn id="52" idx="3"/>
            <a:endCxn id="59" idx="1"/>
          </p:cNvCxnSpPr>
          <p:nvPr/>
        </p:nvCxnSpPr>
        <p:spPr>
          <a:xfrm>
            <a:off x="1600200" y="4818888"/>
            <a:ext cx="2011680" cy="57607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3AE4A3D0-6C1F-7BCD-3ED2-5F066684CE21}"/>
              </a:ext>
            </a:extLst>
          </p:cNvPr>
          <p:cNvCxnSpPr>
            <a:cxnSpLocks/>
            <a:stCxn id="52" idx="3"/>
            <a:endCxn id="60" idx="1"/>
          </p:cNvCxnSpPr>
          <p:nvPr/>
        </p:nvCxnSpPr>
        <p:spPr>
          <a:xfrm>
            <a:off x="1600200" y="4818888"/>
            <a:ext cx="2011680" cy="86410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F922E2DE-5C74-6CAA-736C-BAC94D2952DF}"/>
              </a:ext>
            </a:extLst>
          </p:cNvPr>
          <p:cNvSpPr/>
          <p:nvPr/>
        </p:nvSpPr>
        <p:spPr>
          <a:xfrm>
            <a:off x="3611880" y="5843016"/>
            <a:ext cx="2578608" cy="256032"/>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企画配信（月4本）・リサーチ</a:t>
            </a:r>
          </a:p>
        </p:txBody>
      </p:sp>
      <p:sp>
        <p:nvSpPr>
          <p:cNvPr id="67" name="正方形/長方形 66">
            <a:extLst>
              <a:ext uri="{FF2B5EF4-FFF2-40B4-BE49-F238E27FC236}">
                <a16:creationId xmlns:a16="http://schemas.microsoft.com/office/drawing/2014/main" id="{03175683-57AB-6FFA-0F27-7E81645CA47B}"/>
              </a:ext>
            </a:extLst>
          </p:cNvPr>
          <p:cNvSpPr/>
          <p:nvPr/>
        </p:nvSpPr>
        <p:spPr>
          <a:xfrm>
            <a:off x="3611880" y="6131052"/>
            <a:ext cx="2578608" cy="256032"/>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個別チャット</a:t>
            </a:r>
          </a:p>
        </p:txBody>
      </p:sp>
      <p:sp>
        <p:nvSpPr>
          <p:cNvPr id="69" name="正方形/長方形 68">
            <a:extLst>
              <a:ext uri="{FF2B5EF4-FFF2-40B4-BE49-F238E27FC236}">
                <a16:creationId xmlns:a16="http://schemas.microsoft.com/office/drawing/2014/main" id="{5EB01514-8877-C931-E7AA-81B28EB77681}"/>
              </a:ext>
            </a:extLst>
          </p:cNvPr>
          <p:cNvSpPr/>
          <p:nvPr/>
        </p:nvSpPr>
        <p:spPr>
          <a:xfrm>
            <a:off x="6718096" y="1449324"/>
            <a:ext cx="2926080" cy="27432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0" rIns="45720"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200" b="1" dirty="0">
                <a:solidFill>
                  <a:srgbClr val="00B050"/>
                </a:solidFill>
                <a:latin typeface="メイリオ" panose="020B0604030504040204" pitchFamily="50" charset="-128"/>
                <a:ea typeface="メイリオ" panose="020B0604030504040204" pitchFamily="50" charset="-128"/>
              </a:rPr>
              <a:t>LINE公式アカウントの標準機能で運用</a:t>
            </a:r>
            <a:endParaRPr kumimoji="1" lang="ja-JP" altLang="en-US" sz="1200" b="1" dirty="0">
              <a:solidFill>
                <a:srgbClr val="00B050"/>
              </a:solidFill>
              <a:latin typeface="メイリオ" panose="020B0604030504040204" pitchFamily="50" charset="-128"/>
              <a:ea typeface="メイリオ" panose="020B0604030504040204" pitchFamily="50" charset="-128"/>
            </a:endParaRPr>
          </a:p>
        </p:txBody>
      </p:sp>
      <p:sp>
        <p:nvSpPr>
          <p:cNvPr id="71" name="テキスト ボックス 70">
            <a:extLst>
              <a:ext uri="{FF2B5EF4-FFF2-40B4-BE49-F238E27FC236}">
                <a16:creationId xmlns:a16="http://schemas.microsoft.com/office/drawing/2014/main" id="{29811250-0A12-BBDB-9A73-5B0FCA43DC62}"/>
              </a:ext>
            </a:extLst>
          </p:cNvPr>
          <p:cNvSpPr txBox="1"/>
          <p:nvPr/>
        </p:nvSpPr>
        <p:spPr>
          <a:xfrm>
            <a:off x="320040" y="630936"/>
            <a:ext cx="9262872" cy="713232"/>
          </a:xfrm>
          <a:prstGeom prst="rect">
            <a:avLst/>
          </a:prstGeom>
          <a:noFill/>
        </p:spPr>
        <p:txBody>
          <a:bodyPr wrap="square" anchor="ctr" lIns="45720" rIns="45720">
            <a:noAutofit/>
          </a:bodyPr>
          <a:lstStyle/>
          <a:p>
            <a:pPr algn="ctr"/>
            <a:r>
              <a:rPr lang="ja-JP" altLang="en-US" sz="1400" dirty="0">
                <a:solidFill>
                  <a:schemeClr val="tx1">
                    <a:lumMod val="65000"/>
                    <a:lumOff val="35000"/>
                  </a:schemeClr>
                </a:solidFill>
                <a:latin typeface="メイリオ" panose="020B0604030504040204" pitchFamily="50" charset="-128"/>
                <a:ea typeface="メイリオ" panose="020B0604030504040204" pitchFamily="50" charset="-128"/>
              </a:rPr>
              <a:t>離脱防止ポップアップとサイトのLINEボタンから友だち追加し、物件の問い合わせと継続配信につなげます。</a:t>
            </a:r>
            <a:endParaRPr lang="en-US" altLang="ja-JP" sz="14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1400" dirty="0">
                <a:solidFill>
                  <a:schemeClr val="tx1">
                    <a:lumMod val="65000"/>
                    <a:lumOff val="35000"/>
                  </a:schemeClr>
                </a:solidFill>
                <a:latin typeface="メイリオ" panose="020B0604030504040204" pitchFamily="50" charset="-128"/>
                <a:ea typeface="メイリオ" panose="020B0604030504040204" pitchFamily="50" charset="-128"/>
              </a:rPr>
              <a:t>LINE公式アカウントの標準機能で運用（離脱防止ポップアップは別途導入）</a:t>
            </a:r>
          </a:p>
        </p:txBody>
      </p:sp>
    </p:spTree>
    <p:extLst>
      <p:ext uri="{BB962C8B-B14F-4D97-AF65-F5344CB8AC3E}">
        <p14:creationId xmlns:p14="http://schemas.microsoft.com/office/powerpoint/2010/main" val="18539075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05794-10C5-A163-5F03-DB8F5144F62B}"/>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6924D46-4ED5-0BE1-9474-C475C9B8B3F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B52FA9B6-1E96-AE6B-376B-08DEB38C8F2E}"/>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想定セグメント</a:t>
            </a:r>
            <a:r>
              <a:rPr lang="en-US" altLang="ja-JP" sz="1600" b="1" dirty="0">
                <a:solidFill>
                  <a:srgbClr val="002060"/>
                </a:solidFill>
                <a:latin typeface="Meiryo"/>
                <a:ea typeface="Meiryo"/>
                <a:cs typeface="Meiryo"/>
                <a:sym typeface="Meiryo"/>
              </a:rPr>
              <a:t>×</a:t>
            </a:r>
            <a:r>
              <a:rPr lang="ja-JP" altLang="en-US" sz="1600" b="1" dirty="0">
                <a:solidFill>
                  <a:srgbClr val="002060"/>
                </a:solidFill>
                <a:latin typeface="Meiryo"/>
                <a:ea typeface="Meiryo"/>
                <a:cs typeface="Meiryo"/>
                <a:sym typeface="Meiryo"/>
              </a:rPr>
              <a:t>成果</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9466EA77-01E0-CA5D-3176-998FC02FE7DB}"/>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EEF4BB1D-1E6E-955A-85D2-2DAF3FCF967B}"/>
              </a:ext>
            </a:extLst>
          </p:cNvPr>
          <p:cNvSpPr/>
          <p:nvPr/>
        </p:nvSpPr>
        <p:spPr>
          <a:xfrm>
            <a:off x="388225" y="1594309"/>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300" b="1" dirty="0">
                <a:latin typeface="メイリオ" panose="020B0604030504040204" pitchFamily="50" charset="-128"/>
                <a:ea typeface="メイリオ" panose="020B0604030504040204" pitchFamily="50" charset="-128"/>
              </a:rPr>
              <a:t>流入元</a:t>
            </a:r>
          </a:p>
        </p:txBody>
      </p:sp>
      <p:sp>
        <p:nvSpPr>
          <p:cNvPr id="6" name="正方形/長方形 5">
            <a:extLst>
              <a:ext uri="{FF2B5EF4-FFF2-40B4-BE49-F238E27FC236}">
                <a16:creationId xmlns:a16="http://schemas.microsoft.com/office/drawing/2014/main" id="{531C33D5-FD17-057E-9ABE-377B289F9790}"/>
              </a:ext>
            </a:extLst>
          </p:cNvPr>
          <p:cNvSpPr/>
          <p:nvPr/>
        </p:nvSpPr>
        <p:spPr>
          <a:xfrm>
            <a:off x="1890454" y="1594308"/>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300" b="1" dirty="0">
                <a:latin typeface="メイリオ" panose="020B0604030504040204" pitchFamily="50" charset="-128"/>
                <a:ea typeface="メイリオ" panose="020B0604030504040204" pitchFamily="50" charset="-128"/>
              </a:rPr>
              <a:t>LINE</a:t>
            </a:r>
            <a:r>
              <a:rPr kumimoji="1" lang="ja-JP" altLang="en-US" sz="1300" b="1" dirty="0">
                <a:latin typeface="メイリオ" panose="020B0604030504040204" pitchFamily="50" charset="-128"/>
                <a:ea typeface="メイリオ" panose="020B0604030504040204" pitchFamily="50" charset="-128"/>
              </a:rPr>
              <a:t>誘導</a:t>
            </a:r>
          </a:p>
        </p:txBody>
      </p:sp>
      <p:sp>
        <p:nvSpPr>
          <p:cNvPr id="7" name="正方形/長方形 6">
            <a:extLst>
              <a:ext uri="{FF2B5EF4-FFF2-40B4-BE49-F238E27FC236}">
                <a16:creationId xmlns:a16="http://schemas.microsoft.com/office/drawing/2014/main" id="{AFB52975-24F0-82CC-8A36-A65D2F539FA3}"/>
              </a:ext>
            </a:extLst>
          </p:cNvPr>
          <p:cNvSpPr/>
          <p:nvPr/>
        </p:nvSpPr>
        <p:spPr>
          <a:xfrm>
            <a:off x="3392683" y="1594308"/>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300" dirty="0">
                <a:latin typeface="メイリオ" panose="020B0604030504040204" pitchFamily="50" charset="-128"/>
                <a:ea typeface="メイリオ" panose="020B0604030504040204" pitchFamily="50" charset="-128"/>
              </a:rPr>
              <a:t>具体の施策方針</a:t>
            </a:r>
          </a:p>
        </p:txBody>
      </p:sp>
      <p:sp>
        <p:nvSpPr>
          <p:cNvPr id="8" name="矢印: 右 7">
            <a:extLst>
              <a:ext uri="{FF2B5EF4-FFF2-40B4-BE49-F238E27FC236}">
                <a16:creationId xmlns:a16="http://schemas.microsoft.com/office/drawing/2014/main" id="{173A008B-7B40-3834-688E-168FABDF16B8}"/>
              </a:ext>
            </a:extLst>
          </p:cNvPr>
          <p:cNvSpPr/>
          <p:nvPr/>
        </p:nvSpPr>
        <p:spPr>
          <a:xfrm>
            <a:off x="1031359" y="2268501"/>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9" name="正方形/長方形 8">
            <a:extLst>
              <a:ext uri="{FF2B5EF4-FFF2-40B4-BE49-F238E27FC236}">
                <a16:creationId xmlns:a16="http://schemas.microsoft.com/office/drawing/2014/main" id="{FD70E0F9-3A37-9791-A2F1-DB53DFA521CA}"/>
              </a:ext>
            </a:extLst>
          </p:cNvPr>
          <p:cNvSpPr/>
          <p:nvPr/>
        </p:nvSpPr>
        <p:spPr>
          <a:xfrm>
            <a:off x="1890454" y="200270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r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lnSpc>
                <a:spcPct val="100000"/>
              </a:lnSpc>
            </a:pPr>
            <a:r>
              <a:rPr lang="ja-JP" altLang="en-US" sz="11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lnSpc>
                <a:spcPct val="100000"/>
              </a:lnSpc>
            </a:pP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ポップアップ</a:t>
            </a:r>
          </a:p>
        </p:txBody>
      </p:sp>
      <p:sp>
        <p:nvSpPr>
          <p:cNvPr id="10" name="正方形/長方形 9">
            <a:extLst>
              <a:ext uri="{FF2B5EF4-FFF2-40B4-BE49-F238E27FC236}">
                <a16:creationId xmlns:a16="http://schemas.microsoft.com/office/drawing/2014/main" id="{BC93A6AA-67BF-84C0-0945-45084140FCCE}"/>
              </a:ext>
            </a:extLst>
          </p:cNvPr>
          <p:cNvSpPr/>
          <p:nvPr/>
        </p:nvSpPr>
        <p:spPr>
          <a:xfrm>
            <a:off x="1890454" y="261588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r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lnSpc>
                <a:spcPct val="100000"/>
              </a:lnSpc>
            </a:pP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LINEでお問い合わせ</a:t>
            </a:r>
            <a:endParaRPr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lnSpc>
                <a:spcPct val="100000"/>
              </a:lnSpc>
            </a:pP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ボタン（全ページ）</a:t>
            </a:r>
          </a:p>
        </p:txBody>
      </p:sp>
      <p:sp>
        <p:nvSpPr>
          <p:cNvPr id="11" name="正方形/長方形 10">
            <a:extLst>
              <a:ext uri="{FF2B5EF4-FFF2-40B4-BE49-F238E27FC236}">
                <a16:creationId xmlns:a16="http://schemas.microsoft.com/office/drawing/2014/main" id="{1B7DB214-408D-A44C-E3F0-2C35AF01311F}"/>
              </a:ext>
            </a:extLst>
          </p:cNvPr>
          <p:cNvSpPr/>
          <p:nvPr/>
        </p:nvSpPr>
        <p:spPr>
          <a:xfrm>
            <a:off x="388225" y="200270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r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lnSpc>
                <a:spcPct val="100000"/>
              </a:lnSpc>
            </a:pPr>
            <a:r>
              <a:rPr lang="en-US" altLang="ja-JP" sz="1100">
                <a:solidFill>
                  <a:schemeClr val="tx1">
                    <a:lumMod val="75000"/>
                    <a:lumOff val="25000"/>
                  </a:schemeClr>
                </a:solidFill>
                <a:latin typeface="メイリオ" panose="020B0604030504040204" pitchFamily="50" charset="-128"/>
                <a:ea typeface="メイリオ" panose="020B0604030504040204" pitchFamily="50" charset="-128"/>
              </a:rPr>
              <a:t>100円賃貸のサイト</a:t>
            </a:r>
            <a:endPar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4FF021F0-AD46-9EC1-0810-C474BA8335D8}"/>
              </a:ext>
            </a:extLst>
          </p:cNvPr>
          <p:cNvSpPr/>
          <p:nvPr/>
        </p:nvSpPr>
        <p:spPr>
          <a:xfrm>
            <a:off x="388225" y="261588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r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lnSpc>
                <a:spcPct val="100000"/>
              </a:lnSpc>
            </a:pP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100円賃貸のサイト</a:t>
            </a:r>
          </a:p>
        </p:txBody>
      </p:sp>
      <p:sp>
        <p:nvSpPr>
          <p:cNvPr id="13" name="正方形/長方形 12">
            <a:extLst>
              <a:ext uri="{FF2B5EF4-FFF2-40B4-BE49-F238E27FC236}">
                <a16:creationId xmlns:a16="http://schemas.microsoft.com/office/drawing/2014/main" id="{8A474FF7-4108-C39F-A5EC-7D5691573134}"/>
              </a:ext>
            </a:extLst>
          </p:cNvPr>
          <p:cNvSpPr/>
          <p:nvPr/>
        </p:nvSpPr>
        <p:spPr>
          <a:xfrm>
            <a:off x="3392683" y="1997243"/>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矢印: 右 13">
            <a:extLst>
              <a:ext uri="{FF2B5EF4-FFF2-40B4-BE49-F238E27FC236}">
                <a16:creationId xmlns:a16="http://schemas.microsoft.com/office/drawing/2014/main" id="{7386A58D-9B89-4DB0-7216-4E1CB6B454A9}"/>
              </a:ext>
            </a:extLst>
          </p:cNvPr>
          <p:cNvSpPr/>
          <p:nvPr/>
        </p:nvSpPr>
        <p:spPr>
          <a:xfrm>
            <a:off x="1031361" y="3220341"/>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15" name="矢印: 右 14">
            <a:extLst>
              <a:ext uri="{FF2B5EF4-FFF2-40B4-BE49-F238E27FC236}">
                <a16:creationId xmlns:a16="http://schemas.microsoft.com/office/drawing/2014/main" id="{D3CE675D-8A5C-D632-6FDA-1C8A7E291893}"/>
              </a:ext>
            </a:extLst>
          </p:cNvPr>
          <p:cNvSpPr/>
          <p:nvPr/>
        </p:nvSpPr>
        <p:spPr>
          <a:xfrm>
            <a:off x="1031360" y="3921407"/>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cxnSp>
        <p:nvCxnSpPr>
          <p:cNvPr id="16" name="直線コネクタ 15">
            <a:extLst>
              <a:ext uri="{FF2B5EF4-FFF2-40B4-BE49-F238E27FC236}">
                <a16:creationId xmlns:a16="http://schemas.microsoft.com/office/drawing/2014/main" id="{8397AEEA-4837-54CF-13BA-F31B80D1393F}"/>
              </a:ext>
            </a:extLst>
          </p:cNvPr>
          <p:cNvCxnSpPr>
            <a:cxnSpLocks/>
          </p:cNvCxnSpPr>
          <p:nvPr/>
        </p:nvCxnSpPr>
        <p:spPr>
          <a:xfrm flipV="1">
            <a:off x="388225" y="3876481"/>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正方形/長方形 16">
            <a:extLst>
              <a:ext uri="{FF2B5EF4-FFF2-40B4-BE49-F238E27FC236}">
                <a16:creationId xmlns:a16="http://schemas.microsoft.com/office/drawing/2014/main" id="{24D1C472-525A-CFB1-3C6E-3053F2619881}"/>
              </a:ext>
            </a:extLst>
          </p:cNvPr>
          <p:cNvSpPr/>
          <p:nvPr/>
        </p:nvSpPr>
        <p:spPr>
          <a:xfrm>
            <a:off x="388225" y="3229075"/>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r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lnSpc>
                <a:spcPct val="100000"/>
              </a:lnSpc>
            </a:pPr>
            <a:r>
              <a:rPr kumimoji="1" lang="en-US" altLang="ja-JP" sz="1100" dirty="0">
                <a:solidFill>
                  <a:schemeClr val="tx1">
                    <a:lumMod val="65000"/>
                    <a:lumOff val="35000"/>
                  </a:schemeClr>
                </a:solidFill>
                <a:latin typeface="メイリオ" panose="020B0604030504040204" pitchFamily="50" charset="-128"/>
                <a:ea typeface="メイリオ" panose="020B0604030504040204" pitchFamily="50" charset="-128"/>
              </a:rPr>
              <a:t>今の友だち（1,241人）</a:t>
            </a:r>
          </a:p>
          <a:p>
            <a:pPr algn="ctr">
              <a:lnSpc>
                <a:spcPct val="100000"/>
              </a:lnSpc>
            </a:pPr>
            <a:r>
              <a:rPr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新しい友だち</a:t>
            </a:r>
            <a:endParaRPr kumimoji="1" lang="ja-JP" altLang="en-US" sz="11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CBD188BB-0EA8-4510-DCA0-2AEE1B7CD5EB}"/>
              </a:ext>
            </a:extLst>
          </p:cNvPr>
          <p:cNvSpPr/>
          <p:nvPr/>
        </p:nvSpPr>
        <p:spPr>
          <a:xfrm>
            <a:off x="1890454" y="396535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r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lnSpc>
                <a:spcPct val="100000"/>
              </a:lnSpc>
            </a:pPr>
            <a:r>
              <a:rPr kumimoji="1"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個別チャット</a:t>
            </a:r>
          </a:p>
        </p:txBody>
      </p:sp>
      <p:sp>
        <p:nvSpPr>
          <p:cNvPr id="19" name="正方形/長方形 18">
            <a:extLst>
              <a:ext uri="{FF2B5EF4-FFF2-40B4-BE49-F238E27FC236}">
                <a16:creationId xmlns:a16="http://schemas.microsoft.com/office/drawing/2014/main" id="{29E6B5C9-2FD2-FC57-1789-05FA5F38E1F7}"/>
              </a:ext>
            </a:extLst>
          </p:cNvPr>
          <p:cNvSpPr/>
          <p:nvPr/>
        </p:nvSpPr>
        <p:spPr>
          <a:xfrm>
            <a:off x="388225" y="396535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r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lnSpc>
                <a:spcPct val="100000"/>
              </a:lnSpc>
            </a:pPr>
            <a:r>
              <a:rPr kumimoji="1" lang="en-US" altLang="ja-JP" sz="1100" dirty="0">
                <a:solidFill>
                  <a:schemeClr val="tx1">
                    <a:lumMod val="65000"/>
                    <a:lumOff val="35000"/>
                  </a:schemeClr>
                </a:solidFill>
                <a:latin typeface="メイリオ" panose="020B0604030504040204" pitchFamily="50" charset="-128"/>
                <a:ea typeface="メイリオ" panose="020B0604030504040204" pitchFamily="50" charset="-128"/>
              </a:rPr>
              <a:t>問い合わせた方</a:t>
            </a:r>
          </a:p>
        </p:txBody>
      </p:sp>
      <p:sp>
        <p:nvSpPr>
          <p:cNvPr id="20" name="正方形/長方形 19">
            <a:extLst>
              <a:ext uri="{FF2B5EF4-FFF2-40B4-BE49-F238E27FC236}">
                <a16:creationId xmlns:a16="http://schemas.microsoft.com/office/drawing/2014/main" id="{533AD0C0-7276-FA17-9FD7-734635201CB2}"/>
              </a:ext>
            </a:extLst>
          </p:cNvPr>
          <p:cNvSpPr/>
          <p:nvPr/>
        </p:nvSpPr>
        <p:spPr>
          <a:xfrm>
            <a:off x="3392682" y="322907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1" name="正方形/長方形 20">
            <a:extLst>
              <a:ext uri="{FF2B5EF4-FFF2-40B4-BE49-F238E27FC236}">
                <a16:creationId xmlns:a16="http://schemas.microsoft.com/office/drawing/2014/main" id="{415D5861-B108-7E0A-3377-5601EF82149A}"/>
              </a:ext>
            </a:extLst>
          </p:cNvPr>
          <p:cNvSpPr/>
          <p:nvPr/>
        </p:nvSpPr>
        <p:spPr>
          <a:xfrm>
            <a:off x="3392682" y="396535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矢印: 右 21">
            <a:extLst>
              <a:ext uri="{FF2B5EF4-FFF2-40B4-BE49-F238E27FC236}">
                <a16:creationId xmlns:a16="http://schemas.microsoft.com/office/drawing/2014/main" id="{94AAFD78-CFCD-8AAC-C5DE-8F785D90C401}"/>
              </a:ext>
            </a:extLst>
          </p:cNvPr>
          <p:cNvSpPr/>
          <p:nvPr/>
        </p:nvSpPr>
        <p:spPr>
          <a:xfrm>
            <a:off x="1031359" y="4568440"/>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23" name="矢印: 右 22">
            <a:extLst>
              <a:ext uri="{FF2B5EF4-FFF2-40B4-BE49-F238E27FC236}">
                <a16:creationId xmlns:a16="http://schemas.microsoft.com/office/drawing/2014/main" id="{4D8298BD-6809-4C50-E889-0C5F779DE209}"/>
              </a:ext>
            </a:extLst>
          </p:cNvPr>
          <p:cNvSpPr/>
          <p:nvPr/>
        </p:nvSpPr>
        <p:spPr>
          <a:xfrm>
            <a:off x="1031359" y="5800080"/>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24" name="矢印: 右 23">
            <a:extLst>
              <a:ext uri="{FF2B5EF4-FFF2-40B4-BE49-F238E27FC236}">
                <a16:creationId xmlns:a16="http://schemas.microsoft.com/office/drawing/2014/main" id="{01F0D3B8-3119-304D-228E-ED46B6CAB67D}"/>
              </a:ext>
            </a:extLst>
          </p:cNvPr>
          <p:cNvSpPr/>
          <p:nvPr/>
        </p:nvSpPr>
        <p:spPr>
          <a:xfrm>
            <a:off x="1031359" y="5189826"/>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25" name="正方形/長方形 24">
            <a:extLst>
              <a:ext uri="{FF2B5EF4-FFF2-40B4-BE49-F238E27FC236}">
                <a16:creationId xmlns:a16="http://schemas.microsoft.com/office/drawing/2014/main" id="{9751A61D-8342-2E71-49E2-6F2A585210CF}"/>
              </a:ext>
            </a:extLst>
          </p:cNvPr>
          <p:cNvSpPr/>
          <p:nvPr/>
        </p:nvSpPr>
        <p:spPr>
          <a:xfrm>
            <a:off x="1890454" y="458400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r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lnSpc>
                <a:spcPct val="100000"/>
              </a:lnSpc>
            </a:pPr>
            <a:r>
              <a:rPr kumimoji="1"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自動応答</a:t>
            </a:r>
          </a:p>
        </p:txBody>
      </p:sp>
      <p:sp>
        <p:nvSpPr>
          <p:cNvPr id="26" name="正方形/長方形 25">
            <a:extLst>
              <a:ext uri="{FF2B5EF4-FFF2-40B4-BE49-F238E27FC236}">
                <a16:creationId xmlns:a16="http://schemas.microsoft.com/office/drawing/2014/main" id="{069B86FC-7AC9-2579-6747-94409852E6A9}"/>
              </a:ext>
            </a:extLst>
          </p:cNvPr>
          <p:cNvSpPr/>
          <p:nvPr/>
        </p:nvSpPr>
        <p:spPr>
          <a:xfrm>
            <a:off x="388225" y="458400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r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lnSpc>
                <a:spcPct val="100000"/>
              </a:lnSpc>
            </a:pPr>
            <a:r>
              <a:rPr kumimoji="1" lang="en-US" altLang="ja-JP" sz="1100" dirty="0">
                <a:solidFill>
                  <a:schemeClr val="tx1">
                    <a:lumMod val="65000"/>
                    <a:lumOff val="35000"/>
                  </a:schemeClr>
                </a:solidFill>
                <a:latin typeface="メイリオ" panose="020B0604030504040204" pitchFamily="50" charset="-128"/>
                <a:ea typeface="メイリオ" panose="020B0604030504040204" pitchFamily="50" charset="-128"/>
              </a:rPr>
              <a:t>受付時間外の方</a:t>
            </a:r>
          </a:p>
        </p:txBody>
      </p:sp>
      <p:sp>
        <p:nvSpPr>
          <p:cNvPr id="27" name="正方形/長方形 26">
            <a:extLst>
              <a:ext uri="{FF2B5EF4-FFF2-40B4-BE49-F238E27FC236}">
                <a16:creationId xmlns:a16="http://schemas.microsoft.com/office/drawing/2014/main" id="{259BCB38-DAF2-BC8F-7410-9383C33A3F86}"/>
              </a:ext>
            </a:extLst>
          </p:cNvPr>
          <p:cNvSpPr/>
          <p:nvPr/>
        </p:nvSpPr>
        <p:spPr>
          <a:xfrm>
            <a:off x="388225" y="520264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r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lnSpc>
                <a:spcPct val="100000"/>
              </a:lnSpc>
            </a:pPr>
            <a:r>
              <a:rPr kumimoji="1"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迷っている方</a:t>
            </a:r>
          </a:p>
        </p:txBody>
      </p:sp>
      <p:sp>
        <p:nvSpPr>
          <p:cNvPr id="28" name="正方形/長方形 27">
            <a:extLst>
              <a:ext uri="{FF2B5EF4-FFF2-40B4-BE49-F238E27FC236}">
                <a16:creationId xmlns:a16="http://schemas.microsoft.com/office/drawing/2014/main" id="{1F924E3D-9CB9-CA80-4FF6-D62C50842AEB}"/>
              </a:ext>
            </a:extLst>
          </p:cNvPr>
          <p:cNvSpPr/>
          <p:nvPr/>
        </p:nvSpPr>
        <p:spPr>
          <a:xfrm>
            <a:off x="388225" y="582129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r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lnSpc>
                <a:spcPct val="100000"/>
              </a:lnSpc>
            </a:pPr>
            <a:r>
              <a:rPr kumimoji="1"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他社で内見済みの方</a:t>
            </a:r>
          </a:p>
        </p:txBody>
      </p:sp>
      <p:sp>
        <p:nvSpPr>
          <p:cNvPr id="29" name="正方形/長方形 28">
            <a:extLst>
              <a:ext uri="{FF2B5EF4-FFF2-40B4-BE49-F238E27FC236}">
                <a16:creationId xmlns:a16="http://schemas.microsoft.com/office/drawing/2014/main" id="{048444BF-0B54-4CE2-78C3-B78C7FCD001B}"/>
              </a:ext>
            </a:extLst>
          </p:cNvPr>
          <p:cNvSpPr/>
          <p:nvPr/>
        </p:nvSpPr>
        <p:spPr>
          <a:xfrm>
            <a:off x="1890453" y="520264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r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lnSpc>
                <a:spcPct val="100000"/>
              </a:lnSpc>
            </a:pPr>
            <a:r>
              <a:rPr kumimoji="1"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リッチメニュー</a:t>
            </a:r>
          </a:p>
        </p:txBody>
      </p:sp>
      <p:sp>
        <p:nvSpPr>
          <p:cNvPr id="30" name="正方形/長方形 29">
            <a:extLst>
              <a:ext uri="{FF2B5EF4-FFF2-40B4-BE49-F238E27FC236}">
                <a16:creationId xmlns:a16="http://schemas.microsoft.com/office/drawing/2014/main" id="{AD971EAE-829E-07E1-B15C-D7B9C5538B0F}"/>
              </a:ext>
            </a:extLst>
          </p:cNvPr>
          <p:cNvSpPr/>
          <p:nvPr/>
        </p:nvSpPr>
        <p:spPr>
          <a:xfrm>
            <a:off x="1890453" y="582129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r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lnSpc>
                <a:spcPct val="100000"/>
              </a:lnSpc>
            </a:pPr>
            <a:r>
              <a:rPr kumimoji="1"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企画配信</a:t>
            </a:r>
            <a:endParaRPr kumimoji="1" lang="en-US" altLang="ja-JP" sz="11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1D0E3A14-A5E0-6277-4C0A-37271CE6D04A}"/>
              </a:ext>
            </a:extLst>
          </p:cNvPr>
          <p:cNvSpPr/>
          <p:nvPr/>
        </p:nvSpPr>
        <p:spPr>
          <a:xfrm>
            <a:off x="3392682" y="458400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0F8EFC74-4358-EB59-16A6-D864C62AC931}"/>
              </a:ext>
            </a:extLst>
          </p:cNvPr>
          <p:cNvSpPr/>
          <p:nvPr/>
        </p:nvSpPr>
        <p:spPr>
          <a:xfrm>
            <a:off x="3392682" y="5202650"/>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36006927-A8A5-7A4B-A04C-F5D0808A5304}"/>
              </a:ext>
            </a:extLst>
          </p:cNvPr>
          <p:cNvSpPr/>
          <p:nvPr/>
        </p:nvSpPr>
        <p:spPr>
          <a:xfrm>
            <a:off x="3392682" y="581036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4" name="Shape 17">
            <a:extLst>
              <a:ext uri="{FF2B5EF4-FFF2-40B4-BE49-F238E27FC236}">
                <a16:creationId xmlns:a16="http://schemas.microsoft.com/office/drawing/2014/main" id="{B77E1FF1-F589-36AA-D779-FABB807F9501}"/>
              </a:ext>
            </a:extLst>
          </p:cNvPr>
          <p:cNvSpPr/>
          <p:nvPr/>
        </p:nvSpPr>
        <p:spPr>
          <a:xfrm>
            <a:off x="3586732" y="2068120"/>
            <a:ext cx="1763487" cy="466492"/>
          </a:xfrm>
          <a:prstGeom prst="rect">
            <a:avLst/>
          </a:prstGeom>
          <a:solidFill>
            <a:srgbClr val="F2F2F2"/>
          </a:solidFill>
          <a:ln w="12700">
            <a:solidFill>
              <a:srgbClr val="CCCCCC"/>
            </a:solidFill>
            <a:prstDash val="solid"/>
          </a:ln>
        </p:spPr>
        <p:txBody>
          <a:bodyPr anchor="ctr" lIns="27432" tIns="27432" rIns="27432" bIns="27432"/>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en-US" altLang="ja-JP" sz="1100" dirty="0" err="1">
                <a:solidFill>
                  <a:srgbClr val="595959"/>
                </a:solidFill>
                <a:latin typeface="メイリオ" panose="020B0604030504040204" pitchFamily="50" charset="-128"/>
                <a:ea typeface="メイリオ" panose="020B0604030504040204" pitchFamily="50" charset="-128"/>
                <a:cs typeface="Calibri" pitchFamily="34" charset="-120"/>
              </a:rPr>
              <a:t>あいさつ</a:t>
            </a:r>
            <a:endParaRPr lang="en-US" altLang="ja-JP" sz="1100" dirty="0">
              <a:solidFill>
                <a:schemeClr val="bg1">
                  <a:lumMod val="65000"/>
                </a:schemeClr>
              </a:solidFill>
              <a:latin typeface="メイリオ" panose="020B0604030504040204" pitchFamily="50" charset="-128"/>
              <a:ea typeface="メイリオ" panose="020B0604030504040204" pitchFamily="50" charset="-128"/>
            </a:endParaRPr>
          </a:p>
          <a:p>
            <a:pPr>
              <a:lnSpc>
                <a:spcPct val="100000"/>
              </a:lnSpc>
            </a:pPr>
            <a:r>
              <a:rPr lang="en-US" altLang="ja-JP" sz="1100" dirty="0" err="1">
                <a:solidFill>
                  <a:srgbClr val="595959"/>
                </a:solidFill>
                <a:latin typeface="メイリオ" panose="020B0604030504040204" pitchFamily="50" charset="-128"/>
                <a:ea typeface="メイリオ" panose="020B0604030504040204" pitchFamily="50" charset="-128"/>
                <a:cs typeface="Calibri" pitchFamily="34" charset="-120"/>
              </a:rPr>
              <a:t>物件の送り方を案内</a:t>
            </a:r>
            <a:endParaRPr lang="en-US" altLang="ja-JP" sz="11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35" name="Shape 18">
            <a:extLst>
              <a:ext uri="{FF2B5EF4-FFF2-40B4-BE49-F238E27FC236}">
                <a16:creationId xmlns:a16="http://schemas.microsoft.com/office/drawing/2014/main" id="{CA0F439F-8568-5F59-980B-81BDBE16E656}"/>
              </a:ext>
            </a:extLst>
          </p:cNvPr>
          <p:cNvSpPr/>
          <p:nvPr/>
        </p:nvSpPr>
        <p:spPr>
          <a:xfrm>
            <a:off x="5635860" y="2068120"/>
            <a:ext cx="1763486" cy="466492"/>
          </a:xfrm>
          <a:prstGeom prst="rect">
            <a:avLst/>
          </a:prstGeom>
          <a:solidFill>
            <a:srgbClr val="F2F2F2"/>
          </a:solidFill>
          <a:ln w="12700">
            <a:solidFill>
              <a:srgbClr val="CCCCCC"/>
            </a:solidFill>
            <a:prstDash val="solid"/>
          </a:ln>
        </p:spPr>
        <p:txBody>
          <a:bodyPr anchor="ctr" lIns="27432" tIns="27432" rIns="27432" bIns="27432"/>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en-US" altLang="ja-JP" sz="1100">
                <a:solidFill>
                  <a:srgbClr val="595959"/>
                </a:solidFill>
                <a:latin typeface="メイリオ" panose="020B0604030504040204" pitchFamily="50" charset="-128"/>
                <a:ea typeface="メイリオ" panose="020B0604030504040204" pitchFamily="50" charset="-128"/>
                <a:cs typeface="Calibri" pitchFamily="34" charset="-120"/>
              </a:rPr>
              <a:t>ステップ配信（全10通）</a:t>
            </a:r>
            <a:endParaRPr lang="en-US" altLang="ja-JP" sz="1100">
              <a:solidFill>
                <a:schemeClr val="bg1">
                  <a:lumMod val="65000"/>
                </a:schemeClr>
              </a:solidFill>
              <a:latin typeface="メイリオ" panose="020B0604030504040204" pitchFamily="50" charset="-128"/>
              <a:ea typeface="メイリオ" panose="020B0604030504040204" pitchFamily="50" charset="-128"/>
            </a:endParaRPr>
          </a:p>
          <a:p>
            <a:pPr>
              <a:lnSpc>
                <a:spcPct val="100000"/>
              </a:lnSpc>
            </a:pPr>
            <a:r>
              <a:rPr lang="en-US" altLang="ja-JP" sz="1100">
                <a:solidFill>
                  <a:srgbClr val="595959"/>
                </a:solidFill>
                <a:latin typeface="メイリオ" panose="020B0604030504040204" pitchFamily="50" charset="-128"/>
                <a:ea typeface="メイリオ" panose="020B0604030504040204" pitchFamily="50" charset="-128"/>
                <a:cs typeface="Calibri" pitchFamily="34" charset="-120"/>
              </a:rPr>
              <a:t>→ 物件URLの送信</a:t>
            </a:r>
            <a:endParaRPr lang="en-US" altLang="ja-JP" sz="1100" dirty="0">
              <a:solidFill>
                <a:schemeClr val="bg1">
                  <a:lumMod val="65000"/>
                </a:schemeClr>
              </a:solidFill>
              <a:latin typeface="メイリオ" panose="020B0604030504040204" pitchFamily="50" charset="-128"/>
              <a:ea typeface="メイリオ" panose="020B0604030504040204" pitchFamily="50" charset="-128"/>
            </a:endParaRPr>
          </a:p>
        </p:txBody>
      </p:sp>
      <p:cxnSp>
        <p:nvCxnSpPr>
          <p:cNvPr id="36" name="直線矢印コネクタ 35">
            <a:extLst>
              <a:ext uri="{FF2B5EF4-FFF2-40B4-BE49-F238E27FC236}">
                <a16:creationId xmlns:a16="http://schemas.microsoft.com/office/drawing/2014/main" id="{F1667E92-F492-3E12-307D-7E98E48B45D9}"/>
              </a:ext>
            </a:extLst>
          </p:cNvPr>
          <p:cNvCxnSpPr>
            <a:endCxn id="35" idx="1"/>
          </p:cNvCxnSpPr>
          <p:nvPr/>
        </p:nvCxnSpPr>
        <p:spPr>
          <a:xfrm>
            <a:off x="5367201" y="2292370"/>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7" name="Shape 17">
            <a:extLst>
              <a:ext uri="{FF2B5EF4-FFF2-40B4-BE49-F238E27FC236}">
                <a16:creationId xmlns:a16="http://schemas.microsoft.com/office/drawing/2014/main" id="{9BCE046A-F0B6-BBFD-BFCA-03015B84F033}"/>
              </a:ext>
            </a:extLst>
          </p:cNvPr>
          <p:cNvSpPr/>
          <p:nvPr/>
        </p:nvSpPr>
        <p:spPr>
          <a:xfrm>
            <a:off x="3586732" y="2602307"/>
            <a:ext cx="1763487" cy="466492"/>
          </a:xfrm>
          <a:prstGeom prst="rect">
            <a:avLst/>
          </a:prstGeom>
          <a:solidFill>
            <a:srgbClr val="F2F2F2"/>
          </a:solidFill>
          <a:ln w="12700">
            <a:solidFill>
              <a:srgbClr val="CCCCCC"/>
            </a:solidFill>
            <a:prstDash val="solid"/>
          </a:ln>
        </p:spPr>
        <p:txBody>
          <a:bodyPr anchor="ctr" lIns="27432" tIns="27432" rIns="27432" bIns="27432"/>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en-US" altLang="ja-JP" sz="1100" dirty="0">
                <a:solidFill>
                  <a:srgbClr val="595959"/>
                </a:solidFill>
                <a:latin typeface="メイリオ" panose="020B0604030504040204" pitchFamily="50" charset="-128"/>
                <a:ea typeface="メイリオ" panose="020B0604030504040204" pitchFamily="50" charset="-128"/>
                <a:cs typeface="Calibri" pitchFamily="34" charset="-120"/>
              </a:rPr>
              <a:t>キーワード応答</a:t>
            </a:r>
          </a:p>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 よくある質問に返信</a:t>
            </a:r>
          </a:p>
        </p:txBody>
      </p:sp>
      <p:sp>
        <p:nvSpPr>
          <p:cNvPr id="38" name="Shape 18">
            <a:extLst>
              <a:ext uri="{FF2B5EF4-FFF2-40B4-BE49-F238E27FC236}">
                <a16:creationId xmlns:a16="http://schemas.microsoft.com/office/drawing/2014/main" id="{14F2BF34-2AB8-9060-75EF-F5ADF9F01344}"/>
              </a:ext>
            </a:extLst>
          </p:cNvPr>
          <p:cNvSpPr/>
          <p:nvPr/>
        </p:nvSpPr>
        <p:spPr>
          <a:xfrm>
            <a:off x="5635860" y="2602307"/>
            <a:ext cx="1763486" cy="466492"/>
          </a:xfrm>
          <a:prstGeom prst="rect">
            <a:avLst/>
          </a:prstGeom>
          <a:solidFill>
            <a:srgbClr val="F2F2F2"/>
          </a:solidFill>
          <a:ln w="12700">
            <a:solidFill>
              <a:srgbClr val="CCCCCC"/>
            </a:solidFill>
            <a:prstDash val="solid"/>
          </a:ln>
        </p:spPr>
        <p:txBody>
          <a:bodyPr anchor="ctr" lIns="27432" tIns="27432" rIns="27432" bIns="27432"/>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個別チャット</a:t>
            </a:r>
          </a:p>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 空室確認・内見の手配</a:t>
            </a:r>
          </a:p>
        </p:txBody>
      </p:sp>
      <p:cxnSp>
        <p:nvCxnSpPr>
          <p:cNvPr id="39" name="直線矢印コネクタ 38">
            <a:extLst>
              <a:ext uri="{FF2B5EF4-FFF2-40B4-BE49-F238E27FC236}">
                <a16:creationId xmlns:a16="http://schemas.microsoft.com/office/drawing/2014/main" id="{B31F7370-9528-F602-262C-2CE6C0CA7D95}"/>
              </a:ext>
            </a:extLst>
          </p:cNvPr>
          <p:cNvCxnSpPr>
            <a:cxnSpLocks/>
            <a:stCxn id="37" idx="3"/>
            <a:endCxn id="38" idx="1"/>
          </p:cNvCxnSpPr>
          <p:nvPr/>
        </p:nvCxnSpPr>
        <p:spPr>
          <a:xfrm>
            <a:off x="5350219" y="283555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102">
            <a:extLst>
              <a:ext uri="{FF2B5EF4-FFF2-40B4-BE49-F238E27FC236}">
                <a16:creationId xmlns:a16="http://schemas.microsoft.com/office/drawing/2014/main" id="{CB5BD751-9EE2-F77E-B237-6EBEA67F4576}"/>
              </a:ext>
            </a:extLst>
          </p:cNvPr>
          <p:cNvSpPr txBox="1"/>
          <p:nvPr/>
        </p:nvSpPr>
        <p:spPr>
          <a:xfrm>
            <a:off x="7643602" y="1550861"/>
            <a:ext cx="1874173" cy="43088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kumimoji="1" lang="en-US" altLang="ja-JP" sz="1200" b="1" dirty="0">
                <a:solidFill>
                  <a:srgbClr val="FF0000"/>
                </a:solidFill>
                <a:latin typeface="メイリオ" panose="020B0604030504040204" pitchFamily="50" charset="-128"/>
                <a:ea typeface="メイリオ" panose="020B0604030504040204" pitchFamily="50" charset="-128"/>
              </a:rPr>
              <a:t>問い合わせ率</a:t>
            </a:r>
          </a:p>
          <a:p>
            <a:pPr algn="ctr"/>
            <a:r>
              <a:rPr lang="en-US" altLang="ja-JP" sz="1200" dirty="0">
                <a:solidFill>
                  <a:srgbClr val="FF0000"/>
                </a:solidFill>
                <a:latin typeface="メイリオ" panose="020B0604030504040204" pitchFamily="50" charset="-128"/>
                <a:ea typeface="メイリオ" panose="020B0604030504040204" pitchFamily="50" charset="-128"/>
              </a:rPr>
              <a:t>※試算の想定</a:t>
            </a:r>
            <a:endParaRPr kumimoji="1" lang="ja-JP" altLang="en-US" sz="1200" dirty="0">
              <a:solidFill>
                <a:srgbClr val="FF0000"/>
              </a:solidFill>
              <a:latin typeface="メイリオ" panose="020B0604030504040204" pitchFamily="50" charset="-128"/>
              <a:ea typeface="メイリオ" panose="020B0604030504040204" pitchFamily="50" charset="-128"/>
            </a:endParaRPr>
          </a:p>
        </p:txBody>
      </p:sp>
      <p:sp>
        <p:nvSpPr>
          <p:cNvPr id="41" name="テキスト ボックス 104">
            <a:extLst>
              <a:ext uri="{FF2B5EF4-FFF2-40B4-BE49-F238E27FC236}">
                <a16:creationId xmlns:a16="http://schemas.microsoft.com/office/drawing/2014/main" id="{55562E1F-54CF-8256-1530-F264D924D0C4}"/>
              </a:ext>
            </a:extLst>
          </p:cNvPr>
          <p:cNvSpPr txBox="1"/>
          <p:nvPr/>
        </p:nvSpPr>
        <p:spPr>
          <a:xfrm>
            <a:off x="7498079" y="2247241"/>
            <a:ext cx="1783080" cy="523220"/>
          </a:xfrm>
          <a:prstGeom prst="rect">
            <a:avLst/>
          </a:prstGeom>
          <a:noFill/>
        </p:spPr>
        <p:txBody>
          <a:bodyPr wrap="square" lIns="0" rIns="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ja-JP" altLang="en-US" sz="2000" b="1" dirty="0">
                <a:solidFill>
                  <a:srgbClr val="FF0000"/>
                </a:solidFill>
                <a:latin typeface="メイリオ" panose="020B0604030504040204" pitchFamily="50" charset="-128"/>
                <a:ea typeface="メイリオ" panose="020B0604030504040204" pitchFamily="50" charset="-128"/>
              </a:rPr>
              <a:t>25→52</a:t>
            </a:r>
            <a:r>
              <a:rPr kumimoji="1" lang="ja-JP" altLang="en-US" sz="1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a:p>
            <a:pPr algn="r"/>
            <a:r>
              <a:rPr kumimoji="1" lang="ja-JP" altLang="en-US" sz="1100" b="0" dirty="0">
                <a:solidFill>
                  <a:srgbClr val="FF0000"/>
                </a:solidFill>
                <a:latin typeface="メイリオ" panose="020B0604030504040204" pitchFamily="50" charset="-128"/>
                <a:ea typeface="メイリオ" panose="020B0604030504040204" pitchFamily="50" charset="-128"/>
              </a:rPr>
              <a:t>友だち追加直後に</a:t>
            </a:r>
            <a:endParaRPr lang="ja-JP" altLang="en-US" sz="1100" dirty="0">
              <a:solidFill>
                <a:srgbClr val="FF0000"/>
              </a:solidFill>
            </a:endParaRPr>
          </a:p>
          <a:p>
            <a:pPr algn="r"/>
            <a:r>
              <a:rPr kumimoji="1" lang="ja-JP" altLang="en-US" sz="1100" b="0" dirty="0">
                <a:solidFill>
                  <a:srgbClr val="FF0000"/>
                </a:solidFill>
                <a:latin typeface="メイリオ" panose="020B0604030504040204" pitchFamily="50" charset="-128"/>
                <a:ea typeface="メイリオ" panose="020B0604030504040204" pitchFamily="50" charset="-128"/>
              </a:rPr>
              <a:t>物件を送る方（仮）</a:t>
            </a:r>
            <a:endParaRPr lang="ja-JP" altLang="en-US" sz="1100" dirty="0">
              <a:solidFill>
                <a:srgbClr val="FF0000"/>
              </a:solidFill>
            </a:endParaRPr>
          </a:p>
        </p:txBody>
      </p:sp>
      <p:sp>
        <p:nvSpPr>
          <p:cNvPr id="42" name="テキスト ボックス 106">
            <a:extLst>
              <a:ext uri="{FF2B5EF4-FFF2-40B4-BE49-F238E27FC236}">
                <a16:creationId xmlns:a16="http://schemas.microsoft.com/office/drawing/2014/main" id="{0D6F6472-C1C9-8DD7-5969-2F70988996B7}"/>
              </a:ext>
            </a:extLst>
          </p:cNvPr>
          <p:cNvSpPr txBox="1"/>
          <p:nvPr/>
        </p:nvSpPr>
        <p:spPr>
          <a:xfrm>
            <a:off x="7498079" y="3192162"/>
            <a:ext cx="1783080" cy="523220"/>
          </a:xfrm>
          <a:prstGeom prst="rect">
            <a:avLst/>
          </a:prstGeom>
          <a:noFill/>
        </p:spPr>
        <p:txBody>
          <a:bodyPr wrap="square" lIns="0" rIns="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000" b="1" dirty="0">
                <a:solidFill>
                  <a:srgbClr val="FF0000"/>
                </a:solidFill>
                <a:latin typeface="メイリオ" panose="020B0604030504040204" pitchFamily="50" charset="-128"/>
                <a:ea typeface="メイリオ" panose="020B0604030504040204" pitchFamily="50" charset="-128"/>
              </a:rPr>
              <a:t>0.3→1.2</a:t>
            </a:r>
            <a:r>
              <a:rPr kumimoji="1" lang="en-US" altLang="ja-JP" sz="1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a:p>
            <a:pPr algn="r"/>
            <a:r>
              <a:rPr kumimoji="1" lang="en-US" altLang="ja-JP" sz="1100" b="0" dirty="0">
                <a:solidFill>
                  <a:srgbClr val="FF0000"/>
                </a:solidFill>
                <a:latin typeface="メイリオ" panose="020B0604030504040204" pitchFamily="50" charset="-128"/>
                <a:ea typeface="メイリオ" panose="020B0604030504040204" pitchFamily="50" charset="-128"/>
              </a:rPr>
              <a:t>クリックからの</a:t>
            </a:r>
            <a:endParaRPr lang="ja-JP" altLang="en-US" sz="1100" dirty="0">
              <a:solidFill>
                <a:srgbClr val="FF0000"/>
              </a:solidFill>
            </a:endParaRPr>
          </a:p>
          <a:p>
            <a:pPr algn="r"/>
            <a:r>
              <a:rPr kumimoji="1" lang="en-US" altLang="ja-JP" sz="1100" b="0" dirty="0">
                <a:solidFill>
                  <a:srgbClr val="FF0000"/>
                </a:solidFill>
                <a:latin typeface="メイリオ" panose="020B0604030504040204" pitchFamily="50" charset="-128"/>
                <a:ea typeface="メイリオ" panose="020B0604030504040204" pitchFamily="50" charset="-128"/>
              </a:rPr>
              <a:t>問い合わせ（CVR）</a:t>
            </a:r>
            <a:endParaRPr lang="ja-JP" altLang="en-US" sz="1100" dirty="0">
              <a:solidFill>
                <a:srgbClr val="FF0000"/>
              </a:solidFill>
            </a:endParaRPr>
          </a:p>
        </p:txBody>
      </p:sp>
      <p:sp>
        <p:nvSpPr>
          <p:cNvPr id="43" name="テキスト ボックス 108">
            <a:extLst>
              <a:ext uri="{FF2B5EF4-FFF2-40B4-BE49-F238E27FC236}">
                <a16:creationId xmlns:a16="http://schemas.microsoft.com/office/drawing/2014/main" id="{3EBEB224-105E-FCC6-752F-0DC0ACDDFEFC}"/>
              </a:ext>
            </a:extLst>
          </p:cNvPr>
          <p:cNvSpPr txBox="1"/>
          <p:nvPr/>
        </p:nvSpPr>
        <p:spPr>
          <a:xfrm>
            <a:off x="7795459" y="3952829"/>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4" name="テキスト ボックス 110">
            <a:extLst>
              <a:ext uri="{FF2B5EF4-FFF2-40B4-BE49-F238E27FC236}">
                <a16:creationId xmlns:a16="http://schemas.microsoft.com/office/drawing/2014/main" id="{F26B0A2E-9DBA-FEE5-637F-02A225C02C23}"/>
              </a:ext>
            </a:extLst>
          </p:cNvPr>
          <p:cNvSpPr txBox="1"/>
          <p:nvPr/>
        </p:nvSpPr>
        <p:spPr>
          <a:xfrm>
            <a:off x="7781455" y="4592965"/>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6" name="テキスト ボックス 112">
            <a:extLst>
              <a:ext uri="{FF2B5EF4-FFF2-40B4-BE49-F238E27FC236}">
                <a16:creationId xmlns:a16="http://schemas.microsoft.com/office/drawing/2014/main" id="{0C0FA132-24D2-97C7-D00F-5A970556EB00}"/>
              </a:ext>
            </a:extLst>
          </p:cNvPr>
          <p:cNvSpPr txBox="1"/>
          <p:nvPr/>
        </p:nvSpPr>
        <p:spPr>
          <a:xfrm>
            <a:off x="7781455" y="5217138"/>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7" name="テキスト ボックス 114">
            <a:extLst>
              <a:ext uri="{FF2B5EF4-FFF2-40B4-BE49-F238E27FC236}">
                <a16:creationId xmlns:a16="http://schemas.microsoft.com/office/drawing/2014/main" id="{FD400E85-93A8-6ADB-337D-4AC8973CAF45}"/>
              </a:ext>
            </a:extLst>
          </p:cNvPr>
          <p:cNvSpPr txBox="1"/>
          <p:nvPr/>
        </p:nvSpPr>
        <p:spPr>
          <a:xfrm>
            <a:off x="7781455" y="5822973"/>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8" name="Shape 17">
            <a:extLst>
              <a:ext uri="{FF2B5EF4-FFF2-40B4-BE49-F238E27FC236}">
                <a16:creationId xmlns:a16="http://schemas.microsoft.com/office/drawing/2014/main" id="{1CA555AB-71AF-EB14-1D64-C35A07A084CC}"/>
              </a:ext>
            </a:extLst>
          </p:cNvPr>
          <p:cNvSpPr/>
          <p:nvPr/>
        </p:nvSpPr>
        <p:spPr>
          <a:xfrm>
            <a:off x="3586732" y="3279991"/>
            <a:ext cx="1763487" cy="466492"/>
          </a:xfrm>
          <a:prstGeom prst="rect">
            <a:avLst/>
          </a:prstGeom>
          <a:solidFill>
            <a:srgbClr val="F2F2F2"/>
          </a:solidFill>
          <a:ln w="12700">
            <a:solidFill>
              <a:srgbClr val="CCCCCC"/>
            </a:solidFill>
            <a:prstDash val="solid"/>
          </a:ln>
        </p:spPr>
        <p:txBody>
          <a:bodyPr anchor="ctr" lIns="27432" tIns="27432" rIns="27432" bIns="27432"/>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企画配信（月4本）</a:t>
            </a:r>
          </a:p>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 送り方・費用など</a:t>
            </a:r>
          </a:p>
        </p:txBody>
      </p:sp>
      <p:sp>
        <p:nvSpPr>
          <p:cNvPr id="49" name="Shape 18">
            <a:extLst>
              <a:ext uri="{FF2B5EF4-FFF2-40B4-BE49-F238E27FC236}">
                <a16:creationId xmlns:a16="http://schemas.microsoft.com/office/drawing/2014/main" id="{019053B5-0AD3-160E-B42A-8528F025A84E}"/>
              </a:ext>
            </a:extLst>
          </p:cNvPr>
          <p:cNvSpPr/>
          <p:nvPr/>
        </p:nvSpPr>
        <p:spPr>
          <a:xfrm>
            <a:off x="5635860" y="3279991"/>
            <a:ext cx="1763486" cy="466492"/>
          </a:xfrm>
          <a:prstGeom prst="rect">
            <a:avLst/>
          </a:prstGeom>
          <a:solidFill>
            <a:srgbClr val="F2F2F2"/>
          </a:solidFill>
          <a:ln w="12700">
            <a:solidFill>
              <a:srgbClr val="CCCCCC"/>
            </a:solidFill>
            <a:prstDash val="solid"/>
          </a:ln>
        </p:spPr>
        <p:txBody>
          <a:bodyPr anchor="ctr" lIns="27432" tIns="27432" rIns="27432" bIns="27432"/>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リッチメニュー</a:t>
            </a:r>
          </a:p>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 100円チェッカーなど</a:t>
            </a:r>
          </a:p>
        </p:txBody>
      </p:sp>
      <p:cxnSp>
        <p:nvCxnSpPr>
          <p:cNvPr id="50" name="直線矢印コネクタ 49">
            <a:extLst>
              <a:ext uri="{FF2B5EF4-FFF2-40B4-BE49-F238E27FC236}">
                <a16:creationId xmlns:a16="http://schemas.microsoft.com/office/drawing/2014/main" id="{48AC5144-1E7E-4082-003A-97A6D96D2994}"/>
              </a:ext>
            </a:extLst>
          </p:cNvPr>
          <p:cNvCxnSpPr>
            <a:cxnSpLocks/>
            <a:stCxn id="48" idx="3"/>
            <a:endCxn id="49" idx="1"/>
          </p:cNvCxnSpPr>
          <p:nvPr/>
        </p:nvCxnSpPr>
        <p:spPr>
          <a:xfrm>
            <a:off x="5350219" y="3513237"/>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1" name="Shape 17">
            <a:extLst>
              <a:ext uri="{FF2B5EF4-FFF2-40B4-BE49-F238E27FC236}">
                <a16:creationId xmlns:a16="http://schemas.microsoft.com/office/drawing/2014/main" id="{03AA9053-24E8-182C-23AA-4BEA28F1863B}"/>
              </a:ext>
            </a:extLst>
          </p:cNvPr>
          <p:cNvSpPr/>
          <p:nvPr/>
        </p:nvSpPr>
        <p:spPr>
          <a:xfrm>
            <a:off x="3586732" y="4020849"/>
            <a:ext cx="1763487" cy="466492"/>
          </a:xfrm>
          <a:prstGeom prst="rect">
            <a:avLst/>
          </a:prstGeom>
          <a:solidFill>
            <a:srgbClr val="F2F2F2"/>
          </a:solidFill>
          <a:ln w="12700">
            <a:solidFill>
              <a:srgbClr val="CCCCCC"/>
            </a:solidFill>
            <a:prstDash val="solid"/>
          </a:ln>
        </p:spPr>
        <p:txBody>
          <a:bodyPr anchor="ctr" lIns="27432" tIns="27432" rIns="27432" bIns="27432"/>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空室確認・内見の手配</a:t>
            </a:r>
          </a:p>
        </p:txBody>
      </p:sp>
      <p:sp>
        <p:nvSpPr>
          <p:cNvPr id="52" name="Shape 18">
            <a:extLst>
              <a:ext uri="{FF2B5EF4-FFF2-40B4-BE49-F238E27FC236}">
                <a16:creationId xmlns:a16="http://schemas.microsoft.com/office/drawing/2014/main" id="{760C890D-1868-9325-4069-2354337B0399}"/>
              </a:ext>
            </a:extLst>
          </p:cNvPr>
          <p:cNvSpPr/>
          <p:nvPr/>
        </p:nvSpPr>
        <p:spPr>
          <a:xfrm>
            <a:off x="5635860" y="4020849"/>
            <a:ext cx="1763486" cy="466492"/>
          </a:xfrm>
          <a:prstGeom prst="rect">
            <a:avLst/>
          </a:prstGeom>
          <a:solidFill>
            <a:srgbClr val="F2F2F2"/>
          </a:solidFill>
          <a:ln w="12700">
            <a:solidFill>
              <a:srgbClr val="CCCCCC"/>
            </a:solidFill>
            <a:prstDash val="solid"/>
          </a:ln>
        </p:spPr>
        <p:txBody>
          <a:bodyPr anchor="ctr" lIns="27432" tIns="27432" rIns="27432" bIns="27432"/>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お申込み・ご契約の案内</a:t>
            </a:r>
          </a:p>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（オンラインでも可）</a:t>
            </a:r>
          </a:p>
        </p:txBody>
      </p:sp>
      <p:cxnSp>
        <p:nvCxnSpPr>
          <p:cNvPr id="53" name="直線矢印コネクタ 52">
            <a:extLst>
              <a:ext uri="{FF2B5EF4-FFF2-40B4-BE49-F238E27FC236}">
                <a16:creationId xmlns:a16="http://schemas.microsoft.com/office/drawing/2014/main" id="{CE344BB3-FFA2-50D7-ADEA-7AA9C56BA1E2}"/>
              </a:ext>
            </a:extLst>
          </p:cNvPr>
          <p:cNvCxnSpPr>
            <a:cxnSpLocks/>
            <a:stCxn id="51" idx="3"/>
            <a:endCxn id="52" idx="1"/>
          </p:cNvCxnSpPr>
          <p:nvPr/>
        </p:nvCxnSpPr>
        <p:spPr>
          <a:xfrm>
            <a:off x="5350219" y="425409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4" name="Shape 17">
            <a:extLst>
              <a:ext uri="{FF2B5EF4-FFF2-40B4-BE49-F238E27FC236}">
                <a16:creationId xmlns:a16="http://schemas.microsoft.com/office/drawing/2014/main" id="{9439D4FC-6ABA-77F9-BCBC-39518FFF0A4B}"/>
              </a:ext>
            </a:extLst>
          </p:cNvPr>
          <p:cNvSpPr/>
          <p:nvPr/>
        </p:nvSpPr>
        <p:spPr>
          <a:xfrm>
            <a:off x="3586732" y="4627235"/>
            <a:ext cx="1763487" cy="466492"/>
          </a:xfrm>
          <a:prstGeom prst="rect">
            <a:avLst/>
          </a:prstGeom>
          <a:solidFill>
            <a:srgbClr val="F2F2F2"/>
          </a:solidFill>
          <a:ln w="12700">
            <a:solidFill>
              <a:srgbClr val="CCCCCC"/>
            </a:solidFill>
            <a:prstDash val="solid"/>
          </a:ln>
        </p:spPr>
        <p:txBody>
          <a:bodyPr anchor="ctr" lIns="27432" tIns="27432" rIns="27432" bIns="27432"/>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受付時間外は</a:t>
            </a:r>
          </a:p>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受け付けた旨を自動で返信</a:t>
            </a:r>
          </a:p>
        </p:txBody>
      </p:sp>
      <p:sp>
        <p:nvSpPr>
          <p:cNvPr id="55" name="Shape 18">
            <a:extLst>
              <a:ext uri="{FF2B5EF4-FFF2-40B4-BE49-F238E27FC236}">
                <a16:creationId xmlns:a16="http://schemas.microsoft.com/office/drawing/2014/main" id="{E23B94EA-C025-B46E-3CFE-6F951848C924}"/>
              </a:ext>
            </a:extLst>
          </p:cNvPr>
          <p:cNvSpPr/>
          <p:nvPr/>
        </p:nvSpPr>
        <p:spPr>
          <a:xfrm>
            <a:off x="5635860" y="4627235"/>
            <a:ext cx="1763486" cy="466492"/>
          </a:xfrm>
          <a:prstGeom prst="rect">
            <a:avLst/>
          </a:prstGeom>
          <a:solidFill>
            <a:srgbClr val="F2F2F2"/>
          </a:solidFill>
          <a:ln w="12700">
            <a:solidFill>
              <a:srgbClr val="CCCCCC"/>
            </a:solidFill>
            <a:prstDash val="solid"/>
          </a:ln>
        </p:spPr>
        <p:txBody>
          <a:bodyPr anchor="ctr" lIns="27432" tIns="27432" rIns="27432" bIns="27432"/>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受付時間（11〜18時）</a:t>
            </a:r>
          </a:p>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内に担当者が確認</a:t>
            </a:r>
          </a:p>
        </p:txBody>
      </p:sp>
      <p:cxnSp>
        <p:nvCxnSpPr>
          <p:cNvPr id="56" name="直線矢印コネクタ 55">
            <a:extLst>
              <a:ext uri="{FF2B5EF4-FFF2-40B4-BE49-F238E27FC236}">
                <a16:creationId xmlns:a16="http://schemas.microsoft.com/office/drawing/2014/main" id="{83F28A8E-5BD4-6CFE-A1AB-95F3F23ADFC2}"/>
              </a:ext>
            </a:extLst>
          </p:cNvPr>
          <p:cNvCxnSpPr>
            <a:cxnSpLocks/>
            <a:stCxn id="54" idx="3"/>
            <a:endCxn id="55" idx="1"/>
          </p:cNvCxnSpPr>
          <p:nvPr/>
        </p:nvCxnSpPr>
        <p:spPr>
          <a:xfrm>
            <a:off x="5350219" y="486048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7" name="Shape 17">
            <a:extLst>
              <a:ext uri="{FF2B5EF4-FFF2-40B4-BE49-F238E27FC236}">
                <a16:creationId xmlns:a16="http://schemas.microsoft.com/office/drawing/2014/main" id="{6D4CD712-1339-1DEA-1A5F-9F51874CCCB1}"/>
              </a:ext>
            </a:extLst>
          </p:cNvPr>
          <p:cNvSpPr/>
          <p:nvPr/>
        </p:nvSpPr>
        <p:spPr>
          <a:xfrm>
            <a:off x="3586732" y="5251006"/>
            <a:ext cx="1763487" cy="466492"/>
          </a:xfrm>
          <a:prstGeom prst="rect">
            <a:avLst/>
          </a:prstGeom>
          <a:solidFill>
            <a:srgbClr val="F2F2F2"/>
          </a:solidFill>
          <a:ln w="12700">
            <a:solidFill>
              <a:srgbClr val="CCCCCC"/>
            </a:solidFill>
            <a:prstDash val="solid"/>
          </a:ln>
        </p:spPr>
        <p:txBody>
          <a:bodyPr anchor="ctr" lIns="27432" tIns="27432" rIns="27432" bIns="27432"/>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100円チェッカー</a:t>
            </a:r>
          </a:p>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（名前・電話番号は不要）</a:t>
            </a:r>
          </a:p>
        </p:txBody>
      </p:sp>
      <p:sp>
        <p:nvSpPr>
          <p:cNvPr id="58" name="Shape 18">
            <a:extLst>
              <a:ext uri="{FF2B5EF4-FFF2-40B4-BE49-F238E27FC236}">
                <a16:creationId xmlns:a16="http://schemas.microsoft.com/office/drawing/2014/main" id="{5F976E27-1C09-25DE-2664-7D927081F231}"/>
              </a:ext>
            </a:extLst>
          </p:cNvPr>
          <p:cNvSpPr/>
          <p:nvPr/>
        </p:nvSpPr>
        <p:spPr>
          <a:xfrm>
            <a:off x="5635860" y="5251006"/>
            <a:ext cx="1763486" cy="466492"/>
          </a:xfrm>
          <a:prstGeom prst="rect">
            <a:avLst/>
          </a:prstGeom>
          <a:solidFill>
            <a:srgbClr val="F2F2F2"/>
          </a:solidFill>
          <a:ln w="12700">
            <a:solidFill>
              <a:srgbClr val="CCCCCC"/>
            </a:solidFill>
            <a:prstDash val="solid"/>
          </a:ln>
        </p:spPr>
        <p:txBody>
          <a:bodyPr anchor="ctr" lIns="27432" tIns="27432" rIns="27432" bIns="27432"/>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 物件の送信</a:t>
            </a:r>
          </a:p>
        </p:txBody>
      </p:sp>
      <p:cxnSp>
        <p:nvCxnSpPr>
          <p:cNvPr id="59" name="直線矢印コネクタ 58">
            <a:extLst>
              <a:ext uri="{FF2B5EF4-FFF2-40B4-BE49-F238E27FC236}">
                <a16:creationId xmlns:a16="http://schemas.microsoft.com/office/drawing/2014/main" id="{82C1A774-7713-D5A5-03F8-DCE7AD58DB1B}"/>
              </a:ext>
            </a:extLst>
          </p:cNvPr>
          <p:cNvCxnSpPr>
            <a:cxnSpLocks/>
            <a:stCxn id="57" idx="3"/>
            <a:endCxn id="58" idx="1"/>
          </p:cNvCxnSpPr>
          <p:nvPr/>
        </p:nvCxnSpPr>
        <p:spPr>
          <a:xfrm>
            <a:off x="5350219" y="5484252"/>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0" name="Shape 17">
            <a:extLst>
              <a:ext uri="{FF2B5EF4-FFF2-40B4-BE49-F238E27FC236}">
                <a16:creationId xmlns:a16="http://schemas.microsoft.com/office/drawing/2014/main" id="{CC857E24-C3F9-53FF-5D44-B2CE0DE30602}"/>
              </a:ext>
            </a:extLst>
          </p:cNvPr>
          <p:cNvSpPr/>
          <p:nvPr/>
        </p:nvSpPr>
        <p:spPr>
          <a:xfrm>
            <a:off x="3586732" y="5859395"/>
            <a:ext cx="1763487" cy="466492"/>
          </a:xfrm>
          <a:prstGeom prst="rect">
            <a:avLst/>
          </a:prstGeom>
          <a:solidFill>
            <a:srgbClr val="F2F2F2"/>
          </a:solidFill>
          <a:ln w="12700">
            <a:solidFill>
              <a:srgbClr val="CCCCCC"/>
            </a:solidFill>
            <a:prstDash val="solid"/>
          </a:ln>
        </p:spPr>
        <p:txBody>
          <a:bodyPr anchor="ctr" lIns="27432" tIns="27432" rIns="27432" bIns="27432"/>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en-US" altLang="ja-JP" sz="1100" dirty="0">
                <a:solidFill>
                  <a:srgbClr val="595959"/>
                </a:solidFill>
                <a:latin typeface="メイリオ" panose="020B0604030504040204" pitchFamily="50" charset="-128"/>
                <a:ea typeface="メイリオ" panose="020B0604030504040204" pitchFamily="50" charset="-128"/>
                <a:cs typeface="Calibri" pitchFamily="34" charset="-120"/>
              </a:rPr>
              <a:t>内見済みでも相談可</a:t>
            </a:r>
          </a:p>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（お受けできない場合も）</a:t>
            </a:r>
          </a:p>
        </p:txBody>
      </p:sp>
      <p:sp>
        <p:nvSpPr>
          <p:cNvPr id="61" name="Shape 18">
            <a:extLst>
              <a:ext uri="{FF2B5EF4-FFF2-40B4-BE49-F238E27FC236}">
                <a16:creationId xmlns:a16="http://schemas.microsoft.com/office/drawing/2014/main" id="{496CBE75-90FF-44E1-05AA-F85C409960A4}"/>
              </a:ext>
            </a:extLst>
          </p:cNvPr>
          <p:cNvSpPr/>
          <p:nvPr/>
        </p:nvSpPr>
        <p:spPr>
          <a:xfrm>
            <a:off x="5635860" y="5859395"/>
            <a:ext cx="1763486" cy="466492"/>
          </a:xfrm>
          <a:prstGeom prst="rect">
            <a:avLst/>
          </a:prstGeom>
          <a:solidFill>
            <a:srgbClr val="F2F2F2"/>
          </a:solidFill>
          <a:ln w="12700">
            <a:solidFill>
              <a:srgbClr val="CCCCCC"/>
            </a:solidFill>
            <a:prstDash val="solid"/>
          </a:ln>
        </p:spPr>
        <p:txBody>
          <a:bodyPr anchor="ctr" lIns="27432" tIns="27432" rIns="27432" bIns="27432"/>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en-US" altLang="ja-JP" sz="1100" dirty="0">
                <a:solidFill>
                  <a:srgbClr val="595959"/>
                </a:solidFill>
                <a:latin typeface="メイリオ" panose="020B0604030504040204" pitchFamily="50" charset="-128"/>
                <a:ea typeface="メイリオ" panose="020B0604030504040204" pitchFamily="50" charset="-128"/>
                <a:cs typeface="Calibri" pitchFamily="34" charset="-120"/>
              </a:rPr>
              <a:t>→ 物件の送信</a:t>
            </a:r>
          </a:p>
        </p:txBody>
      </p:sp>
      <p:cxnSp>
        <p:nvCxnSpPr>
          <p:cNvPr id="62" name="直線矢印コネクタ 61">
            <a:extLst>
              <a:ext uri="{FF2B5EF4-FFF2-40B4-BE49-F238E27FC236}">
                <a16:creationId xmlns:a16="http://schemas.microsoft.com/office/drawing/2014/main" id="{D05BCA3B-7E23-AB71-18F0-5A49C04E309D}"/>
              </a:ext>
            </a:extLst>
          </p:cNvPr>
          <p:cNvCxnSpPr>
            <a:cxnSpLocks/>
            <a:stCxn id="60" idx="3"/>
            <a:endCxn id="61" idx="1"/>
          </p:cNvCxnSpPr>
          <p:nvPr/>
        </p:nvCxnSpPr>
        <p:spPr>
          <a:xfrm>
            <a:off x="5350219" y="609264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8" name="テキスト ボックス 67">
            <a:extLst>
              <a:ext uri="{FF2B5EF4-FFF2-40B4-BE49-F238E27FC236}">
                <a16:creationId xmlns:a16="http://schemas.microsoft.com/office/drawing/2014/main" id="{C11D28DB-EF3F-3A24-C802-7CC621C247C9}"/>
              </a:ext>
            </a:extLst>
          </p:cNvPr>
          <p:cNvSpPr txBox="1"/>
          <p:nvPr/>
        </p:nvSpPr>
        <p:spPr>
          <a:xfrm>
            <a:off x="556089" y="700200"/>
            <a:ext cx="8793822" cy="461665"/>
          </a:xfrm>
          <a:prstGeom prst="rect">
            <a:avLst/>
          </a:prstGeom>
          <a:noFill/>
        </p:spPr>
        <p:txBody>
          <a:bodyPr wrap="square">
            <a:spAutoFit/>
          </a:bodyPr>
          <a:lstStyle/>
          <a:p>
            <a:pPr algn="ctr"/>
            <a:r>
              <a:rPr lang="ja-JP" altLang="en-US" sz="1300" dirty="0">
                <a:solidFill>
                  <a:schemeClr val="tx1">
                    <a:lumMod val="65000"/>
                    <a:lumOff val="35000"/>
                  </a:schemeClr>
                </a:solidFill>
                <a:latin typeface="メイリオ" panose="020B0604030504040204" pitchFamily="50" charset="-128"/>
                <a:ea typeface="メイリオ" panose="020B0604030504040204" pitchFamily="50" charset="-128"/>
              </a:rPr>
              <a:t>新しい友だちには物件の送り方を、今の友だちには配信とリッチメニューで問い合わせのきっかけを届けます。</a:t>
            </a:r>
            <a:endParaRPr lang="en-US" altLang="ja-JP" sz="13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300" b="1" dirty="0">
                <a:solidFill>
                  <a:schemeClr val="tx1">
                    <a:lumMod val="65000"/>
                    <a:lumOff val="35000"/>
                  </a:schemeClr>
                </a:solidFill>
                <a:latin typeface="メイリオ" panose="020B0604030504040204" pitchFamily="50" charset="-128"/>
                <a:ea typeface="メイリオ" panose="020B0604030504040204" pitchFamily="50" charset="-128"/>
              </a:rPr>
              <a:t>「どの物件が対象か」が分からないこと</a:t>
            </a:r>
            <a:r>
              <a:rPr lang="ja-JP" altLang="en-US" sz="1300" b="0" dirty="0">
                <a:solidFill>
                  <a:schemeClr val="tx1">
                    <a:lumMod val="65000"/>
                    <a:lumOff val="35000"/>
                  </a:schemeClr>
                </a:solidFill>
                <a:latin typeface="メイリオ" panose="020B0604030504040204" pitchFamily="50" charset="-128"/>
                <a:ea typeface="メイリオ" panose="020B0604030504040204" pitchFamily="50" charset="-128"/>
              </a:rPr>
              <a:t>がハードルになっていると考え、100円チェッカーを前面に出します。</a:t>
            </a:r>
            <a:endParaRPr lang="en-US" altLang="ja-JP" sz="13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75379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Meiryo"/>
                <a:ea typeface="Meiryo"/>
                <a:cs typeface="Meiryo"/>
                <a:sym typeface="Meiryo"/>
              </a:rPr>
              <a:t>LINE</a:t>
            </a:r>
            <a:r>
              <a:rPr lang="ja-JP" altLang="en-US" sz="1600" b="1" dirty="0">
                <a:solidFill>
                  <a:schemeClr val="tx1">
                    <a:lumMod val="50000"/>
                    <a:lumOff val="50000"/>
                  </a:schemeClr>
                </a:solidFill>
                <a:latin typeface="Meiryo"/>
                <a:ea typeface="Meiryo"/>
                <a:cs typeface="Meiryo"/>
                <a:sym typeface="Meiryo"/>
              </a:rPr>
              <a:t>施策における重要な考え方</a:t>
            </a:r>
            <a:endParaRPr lang="en-US" altLang="ja-JP" sz="1600" b="1" dirty="0">
              <a:solidFill>
                <a:schemeClr val="tx1">
                  <a:lumMod val="50000"/>
                  <a:lumOff val="50000"/>
                </a:schemeClr>
              </a:solidFill>
              <a:latin typeface="Meiryo"/>
              <a:ea typeface="Meiryo"/>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32122905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C66C8-9A67-CF78-E9A3-0EAF925C3F2C}"/>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DD4BAE5-A1D4-5D4A-9181-EF488E332EE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621DD27D-4369-4CAC-482F-78E216F0A304}"/>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85FA1D1-CF12-A6BD-7D2D-2D76A99BCFCC}"/>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要件定義</a:t>
            </a:r>
            <a:endParaRPr sz="1600" b="1" dirty="0">
              <a:solidFill>
                <a:srgbClr val="002060"/>
              </a:solidFill>
              <a:latin typeface="Meiryo"/>
              <a:ea typeface="Meiryo"/>
              <a:cs typeface="Meiryo"/>
              <a:sym typeface="Meiryo"/>
            </a:endParaRPr>
          </a:p>
        </p:txBody>
      </p:sp>
      <p:sp>
        <p:nvSpPr>
          <p:cNvPr id="15" name="Conclusion">
            <a:extLst>
              <a:ext uri="{FF2B5EF4-FFF2-40B4-BE49-F238E27FC236}">
                <a16:creationId xmlns:a16="http://schemas.microsoft.com/office/drawing/2014/main" id="{ED3146E7-9955-F215-581D-DD3180418A87}"/>
              </a:ext>
            </a:extLst>
          </p:cNvPr>
          <p:cNvSpPr txBox="1"/>
          <p:nvPr/>
        </p:nvSpPr>
        <p:spPr>
          <a:xfrm>
            <a:off x="381000" y="5266944"/>
            <a:ext cx="9144000" cy="1005840"/>
          </a:xfrm>
          <a:prstGeom prst="rect">
            <a:avLst/>
          </a:prstGeom>
          <a:solidFill>
            <a:srgbClr val="F0F2F7"/>
          </a:solidFill>
          <a:ln>
            <a:noFill/>
          </a:ln>
        </p:spPr>
        <p:txBody>
          <a:bodyPr wrap="square" lIns="177800" tIns="127000" rIns="177800" bIns="127000" anchor="t"/>
          <a:lstStyle/>
          <a:p>
            <a:pPr>
              <a:buNone/>
            </a:pPr>
            <a:r>
              <a:rPr lang="ja-JP" sz="1400" b="1" dirty="0">
                <a:solidFill>
                  <a:srgbClr val="1F2A5C"/>
                </a:solidFill>
                <a:latin typeface="メイリオ" panose="020B0604030504040204" pitchFamily="50" charset="-128"/>
                <a:ea typeface="メイリオ" panose="020B0604030504040204" pitchFamily="50" charset="-128"/>
              </a:rPr>
              <a:t>結論</a:t>
            </a:r>
          </a:p>
          <a:p>
            <a:pPr>
              <a:spcBef>
                <a:spcPts val="200"/>
              </a:spcBef>
              <a:buNone/>
            </a:pPr>
            <a:r>
              <a:rPr lang="ja-JP" sz="1400" b="0" dirty="0">
                <a:solidFill>
                  <a:srgbClr val="333333"/>
                </a:solidFill>
                <a:latin typeface="メイリオ" panose="020B0604030504040204" pitchFamily="50" charset="-128"/>
                <a:ea typeface="メイリオ" panose="020B0604030504040204" pitchFamily="50" charset="-128"/>
              </a:rPr>
              <a:t>サイトの入口（離脱防止ポップアップ・LINEボタン）を整え、</a:t>
            </a:r>
            <a:br>
              <a:rPr lang="ja-JP" sz="1400" b="0" dirty="0">
                <a:solidFill>
                  <a:srgbClr val="333333"/>
                </a:solidFill>
                <a:latin typeface="メイリオ" panose="020B0604030504040204" pitchFamily="50" charset="-128"/>
                <a:ea typeface="メイリオ" panose="020B0604030504040204" pitchFamily="50" charset="-128"/>
              </a:rPr>
            </a:br>
            <a:r>
              <a:rPr lang="ja-JP" sz="1400" b="0" dirty="0">
                <a:solidFill>
                  <a:srgbClr val="333333"/>
                </a:solidFill>
                <a:latin typeface="メイリオ" panose="020B0604030504040204" pitchFamily="50" charset="-128"/>
                <a:ea typeface="メイリオ" panose="020B0604030504040204" pitchFamily="50" charset="-128"/>
              </a:rPr>
              <a:t>友だち追加後はあいさつ・リッチメニュー・ステップ配信で「物件を送る」まで案内します。</a:t>
            </a:r>
          </a:p>
        </p:txBody>
      </p:sp>
      <p:sp>
        <p:nvSpPr>
          <p:cNvPr id="6" name="Card1_Num">
            <a:extLst>
              <a:ext uri="{FF2B5EF4-FFF2-40B4-BE49-F238E27FC236}">
                <a16:creationId xmlns:a16="http://schemas.microsoft.com/office/drawing/2014/main" id="{99100708-28B5-0C64-45B6-17FF3C22A099}"/>
              </a:ext>
            </a:extLst>
          </p:cNvPr>
          <p:cNvSpPr txBox="1"/>
          <p:nvPr/>
        </p:nvSpPr>
        <p:spPr>
          <a:xfrm>
            <a:off x="381000" y="1270000"/>
            <a:ext cx="2921000" cy="635000"/>
          </a:xfrm>
          <a:prstGeom prst="rect">
            <a:avLst/>
          </a:prstGeom>
          <a:solidFill>
            <a:srgbClr val="1F2A5C"/>
          </a:solidFill>
          <a:ln>
            <a:noFill/>
          </a:ln>
        </p:spPr>
        <p:txBody>
          <a:bodyPr wrap="square" lIns="203200" tIns="101600" rIns="203200" bIns="101600" anchor="ctr"/>
          <a:lstStyle/>
          <a:p>
            <a:pPr algn="l">
              <a:buNone/>
            </a:pPr>
            <a:r>
              <a:rPr lang="ja-JP" sz="2400" b="1" dirty="0">
                <a:solidFill>
                  <a:srgbClr val="FFFFFF"/>
                </a:solidFill>
              </a:rPr>
              <a:t>01</a:t>
            </a:r>
          </a:p>
        </p:txBody>
      </p:sp>
      <p:sp>
        <p:nvSpPr>
          <p:cNvPr id="10" name="Card1_Title">
            <a:extLst>
              <a:ext uri="{FF2B5EF4-FFF2-40B4-BE49-F238E27FC236}">
                <a16:creationId xmlns:a16="http://schemas.microsoft.com/office/drawing/2014/main" id="{A00E1BD8-B14A-9E83-AD58-EF16846CB3A4}"/>
              </a:ext>
            </a:extLst>
          </p:cNvPr>
          <p:cNvSpPr txBox="1"/>
          <p:nvPr/>
        </p:nvSpPr>
        <p:spPr>
          <a:xfrm>
            <a:off x="381000" y="1905000"/>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rPr>
              <a:t>サイト訪問者の取りこぼし</a:t>
            </a:r>
          </a:p>
        </p:txBody>
      </p:sp>
      <p:sp>
        <p:nvSpPr>
          <p:cNvPr id="14" name="Card1_Body">
            <a:extLst>
              <a:ext uri="{FF2B5EF4-FFF2-40B4-BE49-F238E27FC236}">
                <a16:creationId xmlns:a16="http://schemas.microsoft.com/office/drawing/2014/main" id="{400EE71C-7EE5-0652-6E8D-BFDA5B8F0AE3}"/>
              </a:ext>
            </a:extLst>
          </p:cNvPr>
          <p:cNvSpPr txBox="1"/>
          <p:nvPr/>
        </p:nvSpPr>
        <p:spPr>
          <a:xfrm>
            <a:off x="381000" y="2362200"/>
            <a:ext cx="2921000" cy="2770632"/>
          </a:xfrm>
          <a:prstGeom prst="rect">
            <a:avLst/>
          </a:prstGeom>
          <a:solidFill>
            <a:srgbClr val="F5F7FA"/>
          </a:solidFill>
          <a:ln w="6350">
            <a:solidFill>
              <a:srgbClr val="D1D8E0"/>
            </a:solidFill>
          </a:ln>
        </p:spPr>
        <p:txBody>
          <a:bodyPr wrap="square" lIns="177800" tIns="152400" rIns="177800" bIns="152400" anchor="t"/>
          <a:lstStyle/>
          <a:p>
            <a:pPr>
              <a:spcBef>
                <a:spcPts val="200"/>
              </a:spcBef>
              <a:buClr>
                <a:srgbClr val="1F2A5C"/>
              </a:buClr>
            </a:pPr>
            <a:r>
              <a:rPr lang="ja-JP" sz="1400" dirty="0">
                <a:solidFill>
                  <a:srgbClr val="333333"/>
                </a:solidFill>
              </a:rPr>
              <a:t>・サイトの月間訪問者（UU）は1,737。広告は出しておらず、友だちの入口はサイトの「LINEでお問い合わせ」ボタンだけ</a:t>
            </a:r>
          </a:p>
          <a:p>
            <a:pPr>
              <a:spcBef>
                <a:spcPts val="200"/>
              </a:spcBef>
              <a:buClr>
                <a:srgbClr val="1F2A5C"/>
              </a:buClr>
            </a:pPr>
            <a:r>
              <a:rPr lang="ja-JP" sz="1400" dirty="0">
                <a:solidFill>
                  <a:srgbClr val="333333"/>
                </a:solidFill>
              </a:rPr>
              <a:t>・問い合わせずにサイトを離れる方へ、もう一度案内する手段がない</a:t>
            </a:r>
            <a:endParaRPr lang="en-US" altLang="ja-JP" sz="1400" dirty="0">
              <a:solidFill>
                <a:srgbClr val="333333"/>
              </a:solidFill>
            </a:endParaRPr>
          </a:p>
          <a:p>
            <a:pPr>
              <a:spcBef>
                <a:spcPts val="200"/>
              </a:spcBef>
              <a:buClr>
                <a:srgbClr val="1F2A5C"/>
              </a:buClr>
            </a:pPr>
            <a:r>
              <a:rPr lang="ja-JP" sz="1400" dirty="0">
                <a:solidFill>
                  <a:srgbClr val="333333"/>
                </a:solidFill>
              </a:rPr>
              <a:t>・友だちは1,241人で、増やす仕組みが少ない</a:t>
            </a:r>
          </a:p>
        </p:txBody>
      </p:sp>
      <p:sp>
        <p:nvSpPr>
          <p:cNvPr id="17" name="Card2_Num">
            <a:extLst>
              <a:ext uri="{FF2B5EF4-FFF2-40B4-BE49-F238E27FC236}">
                <a16:creationId xmlns:a16="http://schemas.microsoft.com/office/drawing/2014/main" id="{1E55EC9A-E347-B84B-262B-EF1A6E14096B}"/>
              </a:ext>
            </a:extLst>
          </p:cNvPr>
          <p:cNvSpPr txBox="1"/>
          <p:nvPr/>
        </p:nvSpPr>
        <p:spPr>
          <a:xfrm>
            <a:off x="3492500" y="1270000"/>
            <a:ext cx="2921000" cy="635000"/>
          </a:xfrm>
          <a:prstGeom prst="rect">
            <a:avLst/>
          </a:prstGeom>
          <a:solidFill>
            <a:srgbClr val="4A6FA5"/>
          </a:solidFill>
          <a:ln>
            <a:noFill/>
          </a:ln>
        </p:spPr>
        <p:txBody>
          <a:bodyPr wrap="square" lIns="203200" tIns="101600" rIns="203200" bIns="101600" anchor="ctr"/>
          <a:lstStyle/>
          <a:p>
            <a:pPr algn="l">
              <a:buNone/>
            </a:pPr>
            <a:r>
              <a:rPr lang="ja-JP" sz="2400" b="1" dirty="0">
                <a:solidFill>
                  <a:srgbClr val="FFFFFF"/>
                </a:solidFill>
              </a:rPr>
              <a:t>02</a:t>
            </a:r>
          </a:p>
        </p:txBody>
      </p:sp>
      <p:sp>
        <p:nvSpPr>
          <p:cNvPr id="19" name="Card2_Title">
            <a:extLst>
              <a:ext uri="{FF2B5EF4-FFF2-40B4-BE49-F238E27FC236}">
                <a16:creationId xmlns:a16="http://schemas.microsoft.com/office/drawing/2014/main" id="{7EA7999B-288A-E255-3A8D-51DA3754E17B}"/>
              </a:ext>
            </a:extLst>
          </p:cNvPr>
          <p:cNvSpPr txBox="1"/>
          <p:nvPr/>
        </p:nvSpPr>
        <p:spPr>
          <a:xfrm>
            <a:off x="3492500" y="1905000"/>
            <a:ext cx="2921000" cy="457200"/>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rPr>
              <a:t>問い合わせへの心理的ハードル</a:t>
            </a:r>
          </a:p>
        </p:txBody>
      </p:sp>
      <p:sp>
        <p:nvSpPr>
          <p:cNvPr id="21" name="Card2_Body">
            <a:extLst>
              <a:ext uri="{FF2B5EF4-FFF2-40B4-BE49-F238E27FC236}">
                <a16:creationId xmlns:a16="http://schemas.microsoft.com/office/drawing/2014/main" id="{E7A27D28-3DE5-B65B-3078-06258585755F}"/>
              </a:ext>
            </a:extLst>
          </p:cNvPr>
          <p:cNvSpPr txBox="1"/>
          <p:nvPr/>
        </p:nvSpPr>
        <p:spPr>
          <a:xfrm>
            <a:off x="3492500" y="2362200"/>
            <a:ext cx="2921000" cy="2770632"/>
          </a:xfrm>
          <a:prstGeom prst="rect">
            <a:avLst/>
          </a:prstGeom>
          <a:solidFill>
            <a:srgbClr val="F5F7FA"/>
          </a:solidFill>
          <a:ln w="6350">
            <a:solidFill>
              <a:srgbClr val="D1D8E0"/>
            </a:solidFill>
          </a:ln>
        </p:spPr>
        <p:txBody>
          <a:bodyPr wrap="square" lIns="177800" tIns="152400" rIns="177800" bIns="152400" anchor="t"/>
          <a:lstStyle/>
          <a:p>
            <a:pPr>
              <a:spcBef>
                <a:spcPts val="200"/>
              </a:spcBef>
              <a:buClr>
                <a:srgbClr val="4A6FA5"/>
              </a:buClr>
            </a:pPr>
            <a:r>
              <a:rPr lang="ja-JP" sz="1400" dirty="0">
                <a:solidFill>
                  <a:srgbClr val="333333"/>
                </a:solidFill>
              </a:rPr>
              <a:t>・「どの物件が対象か」「本当に100円になるか」が分からないと、物件を送るのをためらう可能性がある</a:t>
            </a:r>
          </a:p>
          <a:p>
            <a:pPr>
              <a:spcBef>
                <a:spcPts val="200"/>
              </a:spcBef>
              <a:buClr>
                <a:srgbClr val="4A6FA5"/>
              </a:buClr>
            </a:pPr>
            <a:r>
              <a:rPr lang="ja-JP" sz="1400" dirty="0">
                <a:solidFill>
                  <a:srgbClr val="333333"/>
                </a:solidFill>
              </a:rPr>
              <a:t>・内見予約のやり取りは、電話（33.4％）よりメール・SMS（52.6％）を希望する方が多い（出典は6ページ）</a:t>
            </a:r>
            <a:endParaRPr lang="en-US" altLang="ja-JP" sz="1400" dirty="0">
              <a:solidFill>
                <a:srgbClr val="333333"/>
              </a:solidFill>
            </a:endParaRPr>
          </a:p>
        </p:txBody>
      </p:sp>
      <p:sp>
        <p:nvSpPr>
          <p:cNvPr id="23" name="Card3_Num">
            <a:extLst>
              <a:ext uri="{FF2B5EF4-FFF2-40B4-BE49-F238E27FC236}">
                <a16:creationId xmlns:a16="http://schemas.microsoft.com/office/drawing/2014/main" id="{70237F12-5482-737F-1B32-66F14BE63393}"/>
              </a:ext>
            </a:extLst>
          </p:cNvPr>
          <p:cNvSpPr txBox="1"/>
          <p:nvPr/>
        </p:nvSpPr>
        <p:spPr>
          <a:xfrm>
            <a:off x="6604000" y="1270000"/>
            <a:ext cx="2921000" cy="635000"/>
          </a:xfrm>
          <a:prstGeom prst="rect">
            <a:avLst/>
          </a:prstGeom>
          <a:solidFill>
            <a:schemeClr val="bg1">
              <a:lumMod val="75000"/>
            </a:schemeClr>
          </a:solidFill>
          <a:ln>
            <a:noFill/>
          </a:ln>
        </p:spPr>
        <p:txBody>
          <a:bodyPr wrap="square" lIns="203200" tIns="101600" rIns="203200" bIns="101600" anchor="ctr"/>
          <a:lstStyle/>
          <a:p>
            <a:pPr algn="l">
              <a:buNone/>
            </a:pPr>
            <a:r>
              <a:rPr lang="ja-JP" sz="2400" b="1" dirty="0">
                <a:solidFill>
                  <a:srgbClr val="FFFFFF"/>
                </a:solidFill>
              </a:rPr>
              <a:t>03</a:t>
            </a:r>
          </a:p>
        </p:txBody>
      </p:sp>
      <p:sp>
        <p:nvSpPr>
          <p:cNvPr id="25" name="Card3_Title">
            <a:extLst>
              <a:ext uri="{FF2B5EF4-FFF2-40B4-BE49-F238E27FC236}">
                <a16:creationId xmlns:a16="http://schemas.microsoft.com/office/drawing/2014/main" id="{E3518035-C567-1D4B-318D-78C25A6B9E43}"/>
              </a:ext>
            </a:extLst>
          </p:cNvPr>
          <p:cNvSpPr txBox="1"/>
          <p:nvPr/>
        </p:nvSpPr>
        <p:spPr>
          <a:xfrm>
            <a:off x="6604000" y="1905000"/>
            <a:ext cx="2921000" cy="457200"/>
          </a:xfrm>
          <a:prstGeom prst="rect">
            <a:avLst/>
          </a:prstGeom>
          <a:solidFill>
            <a:srgbClr val="FFFFFF"/>
          </a:solidFill>
          <a:ln w="6350">
            <a:solidFill>
              <a:schemeClr val="bg1">
                <a:lumMod val="75000"/>
              </a:schemeClr>
            </a:solidFill>
          </a:ln>
        </p:spPr>
        <p:txBody>
          <a:bodyPr wrap="square" lIns="177800" tIns="101600" rIns="177800" bIns="101600" anchor="ctr"/>
          <a:lstStyle/>
          <a:p>
            <a:pPr>
              <a:buNone/>
            </a:pPr>
            <a:r>
              <a:rPr lang="ja-JP" sz="1400" b="1" dirty="0">
                <a:solidFill>
                  <a:schemeClr val="tx1">
                    <a:lumMod val="65000"/>
                    <a:lumOff val="35000"/>
                  </a:schemeClr>
                </a:solidFill>
              </a:rPr>
              <a:t>友だち追加後の配信・導線不足</a:t>
            </a:r>
          </a:p>
        </p:txBody>
      </p:sp>
      <p:sp>
        <p:nvSpPr>
          <p:cNvPr id="27" name="Card3_Body">
            <a:extLst>
              <a:ext uri="{FF2B5EF4-FFF2-40B4-BE49-F238E27FC236}">
                <a16:creationId xmlns:a16="http://schemas.microsoft.com/office/drawing/2014/main" id="{6E2E9F62-4250-ED13-4C52-FC6B502E56E4}"/>
              </a:ext>
            </a:extLst>
          </p:cNvPr>
          <p:cNvSpPr txBox="1"/>
          <p:nvPr/>
        </p:nvSpPr>
        <p:spPr>
          <a:xfrm>
            <a:off x="6604000" y="2362200"/>
            <a:ext cx="2921000" cy="2770632"/>
          </a:xfrm>
          <a:prstGeom prst="rect">
            <a:avLst/>
          </a:prstGeom>
          <a:solidFill>
            <a:srgbClr val="F5F7FA"/>
          </a:solidFill>
          <a:ln w="6350">
            <a:solidFill>
              <a:srgbClr val="D1D8E0"/>
            </a:solidFill>
          </a:ln>
        </p:spPr>
        <p:txBody>
          <a:bodyPr wrap="square" lIns="177800" tIns="152400" rIns="177800" bIns="152400" anchor="t"/>
          <a:lstStyle/>
          <a:p>
            <a:pPr>
              <a:spcBef>
                <a:spcPts val="200"/>
              </a:spcBef>
              <a:buClr>
                <a:srgbClr val="C8102E"/>
              </a:buClr>
            </a:pPr>
            <a:r>
              <a:rPr lang="ja-JP" sz="1400" dirty="0">
                <a:solidFill>
                  <a:srgbClr val="333333"/>
                </a:solidFill>
              </a:rPr>
              <a:t>・リッチメニューが未設置で、友だち追加後に次の行動へ進むボタンがない</a:t>
            </a:r>
          </a:p>
          <a:p>
            <a:pPr>
              <a:spcBef>
                <a:spcPts val="200"/>
              </a:spcBef>
              <a:buClr>
                <a:srgbClr val="C8102E"/>
              </a:buClr>
            </a:pPr>
            <a:r>
              <a:rPr lang="ja-JP" sz="1400" dirty="0">
                <a:solidFill>
                  <a:srgbClr val="333333"/>
                </a:solidFill>
              </a:rPr>
              <a:t>・あいさつは物件名・URLの送信のお願いが中心で、</a:t>
            </a:r>
            <a:br>
              <a:rPr lang="ja-JP" sz="1400" dirty="0">
                <a:solidFill>
                  <a:srgbClr val="333333"/>
                </a:solidFill>
              </a:rPr>
            </a:br>
            <a:r>
              <a:rPr lang="ja-JP" sz="1400" dirty="0">
                <a:solidFill>
                  <a:srgbClr val="333333"/>
                </a:solidFill>
              </a:rPr>
              <a:t>送るメリットや安心材料が伝わりにくい</a:t>
            </a:r>
            <a:endParaRPr lang="en-US" altLang="ja-JP" sz="1400" dirty="0">
              <a:solidFill>
                <a:srgbClr val="333333"/>
              </a:solidFill>
            </a:endParaRPr>
          </a:p>
          <a:p>
            <a:pPr>
              <a:spcBef>
                <a:spcPts val="200"/>
              </a:spcBef>
              <a:buClr>
                <a:srgbClr val="C8102E"/>
              </a:buClr>
            </a:pPr>
            <a:r>
              <a:rPr lang="ja-JP" sz="1400" dirty="0">
                <a:solidFill>
                  <a:srgbClr val="333333"/>
                </a:solidFill>
              </a:rPr>
              <a:t>・物件を送らなかった方へ、続けて案内する配信の設計が必要</a:t>
            </a:r>
          </a:p>
        </p:txBody>
      </p:sp>
    </p:spTree>
    <p:extLst>
      <p:ext uri="{BB962C8B-B14F-4D97-AF65-F5344CB8AC3E}">
        <p14:creationId xmlns:p14="http://schemas.microsoft.com/office/powerpoint/2010/main" val="35833595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11A65C8-17C8-D684-CB75-56D55121F8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52E0E886-3FF7-1177-80B0-EC2CDD9EFAA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要件定義</a:t>
            </a:r>
            <a:endParaRPr sz="1600" b="1" dirty="0">
              <a:solidFill>
                <a:srgbClr val="002060"/>
              </a:solidFill>
              <a:latin typeface="Meiryo"/>
              <a:ea typeface="Meiryo"/>
              <a:cs typeface="Meiryo"/>
              <a:sym typeface="Meiryo"/>
            </a:endParaRPr>
          </a:p>
        </p:txBody>
      </p:sp>
      <p:sp>
        <p:nvSpPr>
          <p:cNvPr id="25" name="二等辺三角形 24">
            <a:extLst>
              <a:ext uri="{FF2B5EF4-FFF2-40B4-BE49-F238E27FC236}">
                <a16:creationId xmlns:a16="http://schemas.microsoft.com/office/drawing/2014/main" id="{3FDFECE2-9923-BB50-13D2-3D4A9E65C558}"/>
              </a:ext>
            </a:extLst>
          </p:cNvPr>
          <p:cNvSpPr/>
          <p:nvPr/>
        </p:nvSpPr>
        <p:spPr>
          <a:xfrm rot="10800000">
            <a:off x="1013700" y="2766784"/>
            <a:ext cx="7965031" cy="486852"/>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26" name="正方形/長方形 25">
            <a:extLst>
              <a:ext uri="{FF2B5EF4-FFF2-40B4-BE49-F238E27FC236}">
                <a16:creationId xmlns:a16="http://schemas.microsoft.com/office/drawing/2014/main" id="{C4E20CB5-EE4A-545E-031C-B0FF76AEE517}"/>
              </a:ext>
            </a:extLst>
          </p:cNvPr>
          <p:cNvSpPr/>
          <p:nvPr/>
        </p:nvSpPr>
        <p:spPr>
          <a:xfrm>
            <a:off x="503966" y="775227"/>
            <a:ext cx="8898070" cy="297590"/>
          </a:xfrm>
          <a:prstGeom prst="rect">
            <a:avLst/>
          </a:prstGeom>
          <a:solidFill>
            <a:schemeClr val="tx2">
              <a:lumMod val="75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0" rtlCol="0" anchor="ctr" bIns="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sz="1800">
                <a:effectLst/>
                <a:latin typeface="メイリオ" panose="020B0604030504040204" pitchFamily="50" charset="-128"/>
                <a:ea typeface="メイリオ" panose="020B0604030504040204" pitchFamily="50" charset="-128"/>
                <a:cs typeface="メイリオ" panose="020B0604030504040204" pitchFamily="50" charset="-128"/>
              </a:rPr>
              <a:t>プロモーション目的</a:t>
            </a:r>
          </a:p>
        </p:txBody>
      </p:sp>
      <p:sp>
        <p:nvSpPr>
          <p:cNvPr id="27" name="正方形/長方形 26">
            <a:extLst>
              <a:ext uri="{FF2B5EF4-FFF2-40B4-BE49-F238E27FC236}">
                <a16:creationId xmlns:a16="http://schemas.microsoft.com/office/drawing/2014/main" id="{A773DE68-F51A-B2B7-A85F-DDEF158DE1E8}"/>
              </a:ext>
            </a:extLst>
          </p:cNvPr>
          <p:cNvSpPr/>
          <p:nvPr/>
        </p:nvSpPr>
        <p:spPr>
          <a:xfrm>
            <a:off x="503967" y="1090870"/>
            <a:ext cx="8898070" cy="525365"/>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LINE経由の物件問い合わせを増やす</a:t>
            </a:r>
          </a:p>
        </p:txBody>
      </p:sp>
      <p:sp>
        <p:nvSpPr>
          <p:cNvPr id="28" name="テキスト ボックス 4">
            <a:extLst>
              <a:ext uri="{FF2B5EF4-FFF2-40B4-BE49-F238E27FC236}">
                <a16:creationId xmlns:a16="http://schemas.microsoft.com/office/drawing/2014/main" id="{D82D8E99-CD5B-56FF-33CE-071E3712BDD6}"/>
              </a:ext>
            </a:extLst>
          </p:cNvPr>
          <p:cNvSpPr txBox="1"/>
          <p:nvPr/>
        </p:nvSpPr>
        <p:spPr>
          <a:xfrm>
            <a:off x="3893204" y="2803487"/>
            <a:ext cx="2236946"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b="1" dirty="0" sz="180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弊社からのご提案</a:t>
            </a:r>
            <a:endParaRPr kumimoji="1" lang="ja-JP" altLang="en-US" b="1" dirty="0" sz="180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3" name="正方形/長方形 32">
            <a:extLst>
              <a:ext uri="{FF2B5EF4-FFF2-40B4-BE49-F238E27FC236}">
                <a16:creationId xmlns:a16="http://schemas.microsoft.com/office/drawing/2014/main" id="{ADCEEB55-8D79-5D37-18D6-691241A3FC15}"/>
              </a:ext>
            </a:extLst>
          </p:cNvPr>
          <p:cNvSpPr/>
          <p:nvPr/>
        </p:nvSpPr>
        <p:spPr>
          <a:xfrm>
            <a:off x="503965" y="1675570"/>
            <a:ext cx="8898070" cy="38600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18288" rtlCol="0" anchor="ctr" bIns="18288"/>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sz="1800">
                <a:effectLst/>
                <a:latin typeface="メイリオ" panose="020B0604030504040204" pitchFamily="50" charset="-128"/>
                <a:ea typeface="メイリオ" panose="020B0604030504040204" pitchFamily="50" charset="-128"/>
                <a:cs typeface="メイリオ" panose="020B0604030504040204" pitchFamily="50" charset="-128"/>
              </a:rPr>
              <a:t>配信目標</a:t>
            </a:r>
          </a:p>
        </p:txBody>
      </p:sp>
      <p:sp>
        <p:nvSpPr>
          <p:cNvPr id="34" name="正方形/長方形 33">
            <a:extLst>
              <a:ext uri="{FF2B5EF4-FFF2-40B4-BE49-F238E27FC236}">
                <a16:creationId xmlns:a16="http://schemas.microsoft.com/office/drawing/2014/main" id="{36696439-35BA-93A5-530C-51E6DC29272E}"/>
              </a:ext>
            </a:extLst>
          </p:cNvPr>
          <p:cNvSpPr/>
          <p:nvPr/>
        </p:nvSpPr>
        <p:spPr>
          <a:xfrm>
            <a:off x="503965" y="2077536"/>
            <a:ext cx="8898070" cy="626072"/>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LINE経由の問い合わせ 1か月目 月8件→6か月目 月18件（試算）</a:t>
            </a:r>
            <a:endParaRPr lang="en-US" altLang="ja-JP"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 name="正方形/長方形 1">
            <a:extLst>
              <a:ext uri="{FF2B5EF4-FFF2-40B4-BE49-F238E27FC236}">
                <a16:creationId xmlns:a16="http://schemas.microsoft.com/office/drawing/2014/main" id="{6CB99AAC-0BEA-E7FB-6909-1C7C68EDF323}"/>
              </a:ext>
            </a:extLst>
          </p:cNvPr>
          <p:cNvSpPr/>
          <p:nvPr/>
        </p:nvSpPr>
        <p:spPr>
          <a:xfrm>
            <a:off x="1574596" y="3727094"/>
            <a:ext cx="2697480" cy="603504"/>
          </a:xfrm>
          <a:prstGeom prst="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離脱防止ポップアップ</a:t>
            </a:r>
            <a:endParaRPr lang="en-US" altLang="ja-JP"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正方形/長方形 4">
            <a:extLst>
              <a:ext uri="{FF2B5EF4-FFF2-40B4-BE49-F238E27FC236}">
                <a16:creationId xmlns:a16="http://schemas.microsoft.com/office/drawing/2014/main" id="{28DEF766-24DA-2EE3-9966-E5F26397AF6F}"/>
              </a:ext>
            </a:extLst>
          </p:cNvPr>
          <p:cNvSpPr/>
          <p:nvPr/>
        </p:nvSpPr>
        <p:spPr>
          <a:xfrm>
            <a:off x="1574596" y="4385462"/>
            <a:ext cx="2697480" cy="603504"/>
          </a:xfrm>
          <a:prstGeom prst="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あいさつメッセージの改善</a:t>
            </a:r>
            <a:endParaRPr lang="en-US" altLang="ja-JP"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93EBFD5C-B1C9-4553-7E8F-9C0C9C314CF4}"/>
              </a:ext>
            </a:extLst>
          </p:cNvPr>
          <p:cNvSpPr/>
          <p:nvPr/>
        </p:nvSpPr>
        <p:spPr>
          <a:xfrm>
            <a:off x="1574596" y="5043830"/>
            <a:ext cx="2697480" cy="603504"/>
          </a:xfrm>
          <a:prstGeom prst="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リッチメニュー・自動応答</a:t>
            </a:r>
            <a:endParaRPr lang="en-US" altLang="ja-JP"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 name="正方形/長方形 6">
            <a:extLst>
              <a:ext uri="{FF2B5EF4-FFF2-40B4-BE49-F238E27FC236}">
                <a16:creationId xmlns:a16="http://schemas.microsoft.com/office/drawing/2014/main" id="{D98C923A-1216-14F4-2ED5-A311A85ED8E3}"/>
              </a:ext>
            </a:extLst>
          </p:cNvPr>
          <p:cNvSpPr/>
          <p:nvPr/>
        </p:nvSpPr>
        <p:spPr>
          <a:xfrm>
            <a:off x="1574596" y="5702198"/>
            <a:ext cx="2697480" cy="603504"/>
          </a:xfrm>
          <a:prstGeom prst="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ステップ配信・企画配信</a:t>
            </a:r>
            <a:endParaRPr lang="en-US" altLang="ja-JP"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 name="正方形/長方形 7">
            <a:extLst>
              <a:ext uri="{FF2B5EF4-FFF2-40B4-BE49-F238E27FC236}">
                <a16:creationId xmlns:a16="http://schemas.microsoft.com/office/drawing/2014/main" id="{E5B64E4E-8E78-E3FA-521B-27A28AE8C886}"/>
              </a:ext>
            </a:extLst>
          </p:cNvPr>
          <p:cNvSpPr/>
          <p:nvPr/>
        </p:nvSpPr>
        <p:spPr>
          <a:xfrm>
            <a:off x="4336999" y="3727094"/>
            <a:ext cx="5012740" cy="603504"/>
          </a:xfrm>
          <a:prstGeom prst="rect">
            <a:avLst/>
          </a:prstGeom>
          <a:noFill/>
          <a:ln w="190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tIns="27432" rIns="73152" b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サイトを離れようとした方に、LINEでの物件の問い合わせを案内（LINE公式アカウントとは別に導入）</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正方形/長方形 8">
            <a:extLst>
              <a:ext uri="{FF2B5EF4-FFF2-40B4-BE49-F238E27FC236}">
                <a16:creationId xmlns:a16="http://schemas.microsoft.com/office/drawing/2014/main" id="{D8F17522-2B4E-7589-5AA4-4B807C76E486}"/>
              </a:ext>
            </a:extLst>
          </p:cNvPr>
          <p:cNvSpPr/>
          <p:nvPr/>
        </p:nvSpPr>
        <p:spPr>
          <a:xfrm>
            <a:off x="4336999" y="4385462"/>
            <a:ext cx="5012740" cy="603504"/>
          </a:xfrm>
          <a:prstGeom prst="rect">
            <a:avLst/>
          </a:prstGeom>
          <a:noFill/>
          <a:ln w="190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tIns="27432" rIns="73152" b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物件の送り方に加え、営業電話なし・確認だけでも可などの送る理由と、ボタンを追加</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0" name="正方形/長方形 9">
            <a:extLst>
              <a:ext uri="{FF2B5EF4-FFF2-40B4-BE49-F238E27FC236}">
                <a16:creationId xmlns:a16="http://schemas.microsoft.com/office/drawing/2014/main" id="{4EA197D1-87E1-A7E0-10DC-A97B3E9CE242}"/>
              </a:ext>
            </a:extLst>
          </p:cNvPr>
          <p:cNvSpPr/>
          <p:nvPr/>
        </p:nvSpPr>
        <p:spPr>
          <a:xfrm>
            <a:off x="4336999" y="5043830"/>
            <a:ext cx="5012740" cy="603504"/>
          </a:xfrm>
          <a:prstGeom prst="rect">
            <a:avLst/>
          </a:prstGeom>
          <a:noFill/>
          <a:ln w="190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tIns="27432" rIns="73152" b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「物件を送る」「100円になるか確認」などを常に表示。よくある質問はキーワード応答で即時に回答</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1" name="正方形/長方形 10">
            <a:extLst>
              <a:ext uri="{FF2B5EF4-FFF2-40B4-BE49-F238E27FC236}">
                <a16:creationId xmlns:a16="http://schemas.microsoft.com/office/drawing/2014/main" id="{F77C2B00-62DD-3F17-C580-88FF79772D67}"/>
              </a:ext>
            </a:extLst>
          </p:cNvPr>
          <p:cNvSpPr/>
          <p:nvPr/>
        </p:nvSpPr>
        <p:spPr>
          <a:xfrm>
            <a:off x="4336999" y="5702198"/>
            <a:ext cx="5012740" cy="603504"/>
          </a:xfrm>
          <a:prstGeom prst="rect">
            <a:avLst/>
          </a:prstGeom>
          <a:noFill/>
          <a:ln w="190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tIns="27432" rIns="73152" b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友だち追加から14日間・全10通で物件の送信を後押しし、月4本の企画配信で今の友だちにも案内</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2" name="正方形/長方形 11">
            <a:extLst>
              <a:ext uri="{FF2B5EF4-FFF2-40B4-BE49-F238E27FC236}">
                <a16:creationId xmlns:a16="http://schemas.microsoft.com/office/drawing/2014/main" id="{43593DC4-44C8-70F2-9B54-7FF41602B0D5}"/>
              </a:ext>
            </a:extLst>
          </p:cNvPr>
          <p:cNvSpPr/>
          <p:nvPr/>
        </p:nvSpPr>
        <p:spPr>
          <a:xfrm>
            <a:off x="595274" y="3727094"/>
            <a:ext cx="914400" cy="1261872"/>
          </a:xfrm>
          <a:prstGeom prst="rect">
            <a:avLst/>
          </a:prstGeom>
          <a:solidFill>
            <a:schemeClr val="accent1">
              <a:lumMod val="20000"/>
              <a:lumOff val="80000"/>
            </a:schemeClr>
          </a:solid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27432" r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入口・</a:t>
            </a:r>
          </a:p>
          <a:p>
            <a:pPr algn="ctr"/>
            <a:r>
              <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あいさつ</a:t>
            </a:r>
            <a:endParaRPr lang="en-US" altLang="ja-JP"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3" name="正方形/長方形 12">
            <a:extLst>
              <a:ext uri="{FF2B5EF4-FFF2-40B4-BE49-F238E27FC236}">
                <a16:creationId xmlns:a16="http://schemas.microsoft.com/office/drawing/2014/main" id="{2531A44D-6AD0-F803-BAD2-393C8D512170}"/>
              </a:ext>
            </a:extLst>
          </p:cNvPr>
          <p:cNvSpPr/>
          <p:nvPr/>
        </p:nvSpPr>
        <p:spPr>
          <a:xfrm>
            <a:off x="595274" y="5043830"/>
            <a:ext cx="914400" cy="1261872"/>
          </a:xfrm>
          <a:prstGeom prst="rect">
            <a:avLst/>
          </a:prstGeom>
          <a:solidFill>
            <a:schemeClr val="accent1">
              <a:lumMod val="20000"/>
              <a:lumOff val="80000"/>
            </a:schemeClr>
          </a:solid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27432" r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追加後の</a:t>
            </a:r>
          </a:p>
          <a:p>
            <a:pPr algn="ctr"/>
            <a:r>
              <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案内</a:t>
            </a:r>
            <a:endParaRPr lang="en-US" altLang="ja-JP"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7" name="正方形/長方形 16">
            <a:extLst>
              <a:ext uri="{FF2B5EF4-FFF2-40B4-BE49-F238E27FC236}">
                <a16:creationId xmlns:a16="http://schemas.microsoft.com/office/drawing/2014/main" id="{293BFA5E-B3C0-35B6-6EFD-E308F58F4E4D}"/>
              </a:ext>
            </a:extLst>
          </p:cNvPr>
          <p:cNvSpPr/>
          <p:nvPr/>
        </p:nvSpPr>
        <p:spPr>
          <a:xfrm>
            <a:off x="503965" y="3316813"/>
            <a:ext cx="8898070" cy="366112"/>
          </a:xfrm>
          <a:prstGeom prst="rect">
            <a:avLst/>
          </a:prstGeom>
          <a:solidFill>
            <a:schemeClr val="accent1">
              <a:lumMod val="20000"/>
              <a:lumOff val="80000"/>
            </a:schemeClr>
          </a:solidFill>
          <a:ln>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tIns="18288" rtlCol="0" anchor="ctr" bIns="18288"/>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sz="1800">
                <a:solidFill>
                  <a:schemeClr val="accent1">
                    <a:lumMod val="75000"/>
                  </a:schemeClr>
                </a:solidFill>
                <a:effectLst/>
                <a:latin typeface="メイリオ" panose="020B0604030504040204" pitchFamily="50" charset="-128"/>
                <a:ea typeface="メイリオ" panose="020B0604030504040204" pitchFamily="50" charset="-128"/>
                <a:cs typeface="メイリオ" panose="020B0604030504040204" pitchFamily="50" charset="-128"/>
              </a:rPr>
              <a:t>手法</a:t>
            </a:r>
          </a:p>
        </p:txBody>
      </p:sp>
    </p:spTree>
    <p:extLst>
      <p:ext uri="{BB962C8B-B14F-4D97-AF65-F5344CB8AC3E}">
        <p14:creationId xmlns:p14="http://schemas.microsoft.com/office/powerpoint/2010/main" val="31366202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5A3DF-C10C-8FE5-7F9E-31ABEE07B25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0EE3F49-35DE-76F6-E16B-C5295151470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D5F65FCA-9F11-3F13-D2F2-A6E61F22080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0ED16010-4596-5D53-EEA4-CE60ADBA0ED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想定の費用対効果</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FAC7DBDD-AB66-4379-9061-7EE7673C8D36}"/>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57B12960-F95F-F815-42F4-98678B7CBC86}"/>
              </a:ext>
            </a:extLst>
          </p:cNvPr>
          <p:cNvSpPr/>
          <p:nvPr/>
        </p:nvSpPr>
        <p:spPr>
          <a:xfrm>
            <a:off x="261257" y="1517904"/>
            <a:ext cx="2899954" cy="38404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latin typeface="メイリオ" panose="020B0604030504040204" pitchFamily="50" charset="-128"/>
                <a:ea typeface="メイリオ" panose="020B0604030504040204" pitchFamily="50" charset="-128"/>
              </a:rPr>
              <a:t>初期</a:t>
            </a:r>
          </a:p>
        </p:txBody>
      </p:sp>
      <p:sp>
        <p:nvSpPr>
          <p:cNvPr id="7" name="正方形/長方形 6">
            <a:extLst>
              <a:ext uri="{FF2B5EF4-FFF2-40B4-BE49-F238E27FC236}">
                <a16:creationId xmlns:a16="http://schemas.microsoft.com/office/drawing/2014/main" id="{2D73F25E-11E1-6B69-BF72-02319EB2875A}"/>
              </a:ext>
            </a:extLst>
          </p:cNvPr>
          <p:cNvSpPr/>
          <p:nvPr/>
        </p:nvSpPr>
        <p:spPr>
          <a:xfrm>
            <a:off x="3337560" y="1517904"/>
            <a:ext cx="2899954" cy="38404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latin typeface="メイリオ" panose="020B0604030504040204" pitchFamily="50" charset="-128"/>
                <a:ea typeface="メイリオ" panose="020B0604030504040204" pitchFamily="50" charset="-128"/>
              </a:rPr>
              <a:t>月次</a:t>
            </a:r>
          </a:p>
        </p:txBody>
      </p:sp>
      <p:sp>
        <p:nvSpPr>
          <p:cNvPr id="8" name="正方形/長方形 7">
            <a:extLst>
              <a:ext uri="{FF2B5EF4-FFF2-40B4-BE49-F238E27FC236}">
                <a16:creationId xmlns:a16="http://schemas.microsoft.com/office/drawing/2014/main" id="{199847F9-D2D7-C50C-BB87-1E906E928D4B}"/>
              </a:ext>
            </a:extLst>
          </p:cNvPr>
          <p:cNvSpPr/>
          <p:nvPr/>
        </p:nvSpPr>
        <p:spPr>
          <a:xfrm>
            <a:off x="261257" y="1956816"/>
            <a:ext cx="2899954" cy="67665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chemeClr val="tx1"/>
                </a:solidFill>
                <a:latin typeface="メイリオ" panose="020B0604030504040204" pitchFamily="50" charset="-128"/>
                <a:ea typeface="メイリオ" panose="020B0604030504040204" pitchFamily="50" charset="-128"/>
              </a:rPr>
              <a:t>¥215,000</a:t>
            </a:r>
            <a:endParaRPr kumimoji="1" lang="ja-JP" altLang="en-US" sz="1600" b="1"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63A7B228-99E2-EBCF-6198-F3D1FAD9898F}"/>
              </a:ext>
            </a:extLst>
          </p:cNvPr>
          <p:cNvSpPr/>
          <p:nvPr/>
        </p:nvSpPr>
        <p:spPr>
          <a:xfrm>
            <a:off x="3337560" y="1956816"/>
            <a:ext cx="2899954" cy="67665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chemeClr val="tx1"/>
                </a:solidFill>
                <a:latin typeface="メイリオ" panose="020B0604030504040204" pitchFamily="50" charset="-128"/>
                <a:ea typeface="メイリオ" panose="020B0604030504040204" pitchFamily="50" charset="-128"/>
              </a:rPr>
              <a:t>¥135,000</a:t>
            </a:r>
            <a:endParaRPr lang="ja-JP" altLang="en-US" sz="1600" b="1" dirty="0">
              <a:solidFill>
                <a:schemeClr val="tx1"/>
              </a:solidFill>
              <a:latin typeface="メイリオ" panose="020B0604030504040204" pitchFamily="50" charset="-128"/>
              <a:ea typeface="メイリオ" panose="020B0604030504040204" pitchFamily="50" charset="-128"/>
            </a:endParaRPr>
          </a:p>
        </p:txBody>
      </p:sp>
      <p:sp>
        <p:nvSpPr>
          <p:cNvPr id="15" name="矢印: 右 14">
            <a:extLst>
              <a:ext uri="{FF2B5EF4-FFF2-40B4-BE49-F238E27FC236}">
                <a16:creationId xmlns:a16="http://schemas.microsoft.com/office/drawing/2014/main" id="{C9D5333B-E781-F21F-8A3E-D6FE2FD21602}"/>
              </a:ext>
            </a:extLst>
          </p:cNvPr>
          <p:cNvSpPr/>
          <p:nvPr/>
        </p:nvSpPr>
        <p:spPr>
          <a:xfrm>
            <a:off x="6379031" y="1956816"/>
            <a:ext cx="365760" cy="2798064"/>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EEF41587-0DB5-E870-CE7C-9CC369CE0FEE}"/>
              </a:ext>
            </a:extLst>
          </p:cNvPr>
          <p:cNvSpPr/>
          <p:nvPr/>
        </p:nvSpPr>
        <p:spPr>
          <a:xfrm>
            <a:off x="6744791" y="1517904"/>
            <a:ext cx="2899952" cy="38404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bg1"/>
                </a:solidFill>
                <a:latin typeface="メイリオ" panose="020B0604030504040204" pitchFamily="50" charset="-128"/>
                <a:ea typeface="メイリオ" panose="020B0604030504040204" pitchFamily="50" charset="-128"/>
              </a:rPr>
              <a:t>6</a:t>
            </a:r>
            <a:r>
              <a:rPr kumimoji="1" lang="ja-JP" altLang="en-US" sz="1400" dirty="0">
                <a:solidFill>
                  <a:schemeClr val="bg1"/>
                </a:solidFill>
                <a:latin typeface="メイリオ" panose="020B0604030504040204" pitchFamily="50" charset="-128"/>
                <a:ea typeface="メイリオ" panose="020B0604030504040204" pitchFamily="50" charset="-128"/>
              </a:rPr>
              <a:t>か月後</a:t>
            </a:r>
          </a:p>
        </p:txBody>
      </p:sp>
      <p:sp>
        <p:nvSpPr>
          <p:cNvPr id="19" name="テキスト ボックス 18">
            <a:extLst>
              <a:ext uri="{FF2B5EF4-FFF2-40B4-BE49-F238E27FC236}">
                <a16:creationId xmlns:a16="http://schemas.microsoft.com/office/drawing/2014/main" id="{310A0391-C27F-47EB-C4DA-F30ADEFF5697}"/>
              </a:ext>
            </a:extLst>
          </p:cNvPr>
          <p:cNvSpPr txBox="1"/>
          <p:nvPr/>
        </p:nvSpPr>
        <p:spPr>
          <a:xfrm>
            <a:off x="261518" y="2688336"/>
            <a:ext cx="2899562" cy="347472"/>
          </a:xfrm>
          <a:prstGeom prst="rect">
            <a:avLst/>
          </a:prstGeom>
          <a:noFill/>
        </p:spPr>
        <p:txBody>
          <a:bodyPr wrap="square" anchor="ctr">
            <a:noAutofit/>
          </a:bodyPr>
          <a:lstStyle/>
          <a:p>
            <a:pPr algn="ctr"/>
            <a:r>
              <a:rPr kumimoji="1" lang="en-US" altLang="ja-JP" sz="1400" dirty="0">
                <a:solidFill>
                  <a:schemeClr val="tx1"/>
                </a:solidFill>
                <a:latin typeface="メイリオ" panose="020B0604030504040204" pitchFamily="50" charset="-128"/>
                <a:ea typeface="メイリオ" panose="020B0604030504040204" pitchFamily="50" charset="-128"/>
              </a:rPr>
              <a:t>&lt;</a:t>
            </a:r>
            <a:r>
              <a:rPr kumimoji="1" lang="ja-JP" altLang="en-US" sz="1400" dirty="0">
                <a:solidFill>
                  <a:schemeClr val="tx1"/>
                </a:solidFill>
                <a:latin typeface="メイリオ" panose="020B0604030504040204" pitchFamily="50" charset="-128"/>
                <a:ea typeface="メイリオ" panose="020B0604030504040204" pitchFamily="50" charset="-128"/>
              </a:rPr>
              <a:t>実施内容</a:t>
            </a:r>
            <a:r>
              <a:rPr kumimoji="1" lang="en-US" altLang="ja-JP" sz="1400" dirty="0">
                <a:solidFill>
                  <a:schemeClr val="tx1"/>
                </a:solidFill>
                <a:latin typeface="メイリオ" panose="020B0604030504040204" pitchFamily="50" charset="-128"/>
                <a:ea typeface="メイリオ" panose="020B0604030504040204" pitchFamily="50" charset="-128"/>
              </a:rPr>
              <a:t>&gt;</a:t>
            </a:r>
            <a:endParaRPr kumimoji="1" lang="ja-JP" altLang="en-US" sz="1400" dirty="0">
              <a:solidFill>
                <a:schemeClr val="tx1"/>
              </a:solidFill>
              <a:latin typeface="メイリオ" panose="020B0604030504040204" pitchFamily="50" charset="-128"/>
              <a:ea typeface="メイリオ" panose="020B0604030504040204" pitchFamily="50" charset="-128"/>
            </a:endParaRPr>
          </a:p>
        </p:txBody>
      </p:sp>
      <p:sp>
        <p:nvSpPr>
          <p:cNvPr id="21" name="テキスト ボックス 20">
            <a:extLst>
              <a:ext uri="{FF2B5EF4-FFF2-40B4-BE49-F238E27FC236}">
                <a16:creationId xmlns:a16="http://schemas.microsoft.com/office/drawing/2014/main" id="{A604517E-5D11-7843-773C-E3FD1B8C7C60}"/>
              </a:ext>
            </a:extLst>
          </p:cNvPr>
          <p:cNvSpPr txBox="1"/>
          <p:nvPr/>
        </p:nvSpPr>
        <p:spPr>
          <a:xfrm>
            <a:off x="3337560" y="2688336"/>
            <a:ext cx="2899562" cy="347472"/>
          </a:xfrm>
          <a:prstGeom prst="rect">
            <a:avLst/>
          </a:prstGeom>
          <a:noFill/>
        </p:spPr>
        <p:txBody>
          <a:bodyPr wrap="square" anchor="ctr">
            <a:noAutofit/>
          </a:bodyPr>
          <a:lstStyle/>
          <a:p>
            <a:pPr algn="ctr"/>
            <a:r>
              <a:rPr kumimoji="1" lang="en-US" altLang="ja-JP" sz="1400" dirty="0">
                <a:solidFill>
                  <a:schemeClr val="tx1"/>
                </a:solidFill>
                <a:latin typeface="メイリオ" panose="020B0604030504040204" pitchFamily="50" charset="-128"/>
                <a:ea typeface="メイリオ" panose="020B0604030504040204" pitchFamily="50" charset="-128"/>
              </a:rPr>
              <a:t>&lt;</a:t>
            </a:r>
            <a:r>
              <a:rPr kumimoji="1" lang="ja-JP" altLang="en-US" sz="1400" dirty="0">
                <a:solidFill>
                  <a:schemeClr val="tx1"/>
                </a:solidFill>
                <a:latin typeface="メイリオ" panose="020B0604030504040204" pitchFamily="50" charset="-128"/>
                <a:ea typeface="メイリオ" panose="020B0604030504040204" pitchFamily="50" charset="-128"/>
              </a:rPr>
              <a:t>実施内容</a:t>
            </a:r>
            <a:r>
              <a:rPr kumimoji="1" lang="en-US" altLang="ja-JP" sz="1400" dirty="0">
                <a:solidFill>
                  <a:schemeClr val="tx1"/>
                </a:solidFill>
                <a:latin typeface="メイリオ" panose="020B0604030504040204" pitchFamily="50" charset="-128"/>
                <a:ea typeface="メイリオ" panose="020B0604030504040204" pitchFamily="50" charset="-128"/>
              </a:rPr>
              <a:t>&gt;</a:t>
            </a:r>
            <a:endParaRPr kumimoji="1" lang="ja-JP" altLang="en-US" sz="1400" dirty="0">
              <a:solidFill>
                <a:schemeClr val="tx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873C1A32-DE1E-D85A-180C-1A75241C4F24}"/>
              </a:ext>
            </a:extLst>
          </p:cNvPr>
          <p:cNvSpPr/>
          <p:nvPr/>
        </p:nvSpPr>
        <p:spPr>
          <a:xfrm>
            <a:off x="3383279" y="3090672"/>
            <a:ext cx="1426464" cy="448056"/>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kumimoji="1" lang="ja-JP" altLang="en-US" sz="1300" dirty="0">
                <a:solidFill>
                  <a:schemeClr val="bg1"/>
                </a:solidFill>
                <a:latin typeface="メイリオ" panose="020B0604030504040204" pitchFamily="50" charset="-128"/>
                <a:ea typeface="メイリオ" panose="020B0604030504040204" pitchFamily="50" charset="-128"/>
              </a:rPr>
              <a:t>企画配信</a:t>
            </a:r>
          </a:p>
        </p:txBody>
      </p:sp>
      <p:sp>
        <p:nvSpPr>
          <p:cNvPr id="29" name="正方形/長方形 28">
            <a:extLst>
              <a:ext uri="{FF2B5EF4-FFF2-40B4-BE49-F238E27FC236}">
                <a16:creationId xmlns:a16="http://schemas.microsoft.com/office/drawing/2014/main" id="{E77B38CC-6FB3-2601-37C4-A87B4DFC868D}"/>
              </a:ext>
            </a:extLst>
          </p:cNvPr>
          <p:cNvSpPr/>
          <p:nvPr/>
        </p:nvSpPr>
        <p:spPr>
          <a:xfrm>
            <a:off x="4846320" y="3090672"/>
            <a:ext cx="1344168" cy="4480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kumimoji="1" lang="en-US" altLang="ja-JP" sz="1300" dirty="0">
                <a:solidFill>
                  <a:schemeClr val="tx1"/>
                </a:solidFill>
                <a:latin typeface="メイリオ" panose="020B0604030504040204" pitchFamily="50" charset="-128"/>
                <a:ea typeface="メイリオ" panose="020B0604030504040204" pitchFamily="50" charset="-128"/>
              </a:rPr>
              <a:t>月4本</a:t>
            </a:r>
          </a:p>
        </p:txBody>
      </p:sp>
      <p:sp>
        <p:nvSpPr>
          <p:cNvPr id="33" name="正方形/長方形 32">
            <a:extLst>
              <a:ext uri="{FF2B5EF4-FFF2-40B4-BE49-F238E27FC236}">
                <a16:creationId xmlns:a16="http://schemas.microsoft.com/office/drawing/2014/main" id="{4B713AEE-1C5C-F6A9-5475-72211BDE4D2B}"/>
              </a:ext>
            </a:extLst>
          </p:cNvPr>
          <p:cNvSpPr/>
          <p:nvPr/>
        </p:nvSpPr>
        <p:spPr>
          <a:xfrm>
            <a:off x="3383279" y="3579876"/>
            <a:ext cx="1426464" cy="448056"/>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lnSpc>
                <a:spcPct val="90000"/>
              </a:lnSpc>
            </a:pPr>
            <a:r>
              <a:rPr kumimoji="1" lang="ja-JP" altLang="en-US" sz="1300" dirty="0">
                <a:solidFill>
                  <a:schemeClr val="bg1"/>
                </a:solidFill>
                <a:latin typeface="メイリオ" panose="020B0604030504040204" pitchFamily="50" charset="-128"/>
                <a:ea typeface="メイリオ" panose="020B0604030504040204" pitchFamily="50" charset="-128"/>
              </a:rPr>
              <a:t>リッチメニュー</a:t>
            </a:r>
            <a:endParaRPr kumimoji="1" lang="en-US" altLang="ja-JP" sz="1300" dirty="0">
              <a:solidFill>
                <a:schemeClr val="bg1"/>
              </a:solidFill>
              <a:latin typeface="メイリオ" panose="020B0604030504040204" pitchFamily="50" charset="-128"/>
              <a:ea typeface="メイリオ" panose="020B0604030504040204" pitchFamily="50" charset="-128"/>
            </a:endParaRPr>
          </a:p>
          <a:p>
            <a:pPr algn="ctr">
              <a:lnSpc>
                <a:spcPct val="90000"/>
              </a:lnSpc>
            </a:pPr>
            <a:r>
              <a:rPr lang="ja-JP" altLang="en-US" sz="1300" dirty="0">
                <a:solidFill>
                  <a:schemeClr val="bg1"/>
                </a:solidFill>
                <a:latin typeface="メイリオ" panose="020B0604030504040204" pitchFamily="50" charset="-128"/>
                <a:ea typeface="メイリオ" panose="020B0604030504040204" pitchFamily="50" charset="-128"/>
              </a:rPr>
              <a:t>修正変更</a:t>
            </a:r>
            <a:endParaRPr kumimoji="1" lang="ja-JP" altLang="en-US" sz="1300" dirty="0">
              <a:solidFill>
                <a:schemeClr val="bg1"/>
              </a:solidFill>
              <a:latin typeface="メイリオ" panose="020B0604030504040204" pitchFamily="50" charset="-128"/>
              <a:ea typeface="メイリオ" panose="020B0604030504040204" pitchFamily="50" charset="-128"/>
            </a:endParaRPr>
          </a:p>
        </p:txBody>
      </p:sp>
      <p:sp>
        <p:nvSpPr>
          <p:cNvPr id="37" name="正方形/長方形 36">
            <a:extLst>
              <a:ext uri="{FF2B5EF4-FFF2-40B4-BE49-F238E27FC236}">
                <a16:creationId xmlns:a16="http://schemas.microsoft.com/office/drawing/2014/main" id="{421C035C-EA8F-E32B-4A4F-7F063B546AE6}"/>
              </a:ext>
            </a:extLst>
          </p:cNvPr>
          <p:cNvSpPr/>
          <p:nvPr/>
        </p:nvSpPr>
        <p:spPr>
          <a:xfrm>
            <a:off x="4846320" y="3579876"/>
            <a:ext cx="1344168" cy="4480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kumimoji="1" lang="ja-JP" altLang="en-US" sz="1300" dirty="0">
                <a:solidFill>
                  <a:schemeClr val="tx1"/>
                </a:solidFill>
                <a:latin typeface="メイリオ" panose="020B0604030504040204" pitchFamily="50" charset="-128"/>
                <a:ea typeface="メイリオ" panose="020B0604030504040204" pitchFamily="50" charset="-128"/>
              </a:rPr>
              <a:t>♾️</a:t>
            </a:r>
          </a:p>
        </p:txBody>
      </p:sp>
      <p:sp>
        <p:nvSpPr>
          <p:cNvPr id="41" name="正方形/長方形 40">
            <a:extLst>
              <a:ext uri="{FF2B5EF4-FFF2-40B4-BE49-F238E27FC236}">
                <a16:creationId xmlns:a16="http://schemas.microsoft.com/office/drawing/2014/main" id="{9BA75733-C506-7AAF-689C-0566D38B8516}"/>
              </a:ext>
            </a:extLst>
          </p:cNvPr>
          <p:cNvSpPr/>
          <p:nvPr/>
        </p:nvSpPr>
        <p:spPr>
          <a:xfrm>
            <a:off x="3383279" y="4069080"/>
            <a:ext cx="1426464" cy="448056"/>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kumimoji="1" lang="ja-JP" altLang="en-US" sz="1300" dirty="0">
                <a:solidFill>
                  <a:schemeClr val="bg1"/>
                </a:solidFill>
                <a:latin typeface="メイリオ" panose="020B0604030504040204" pitchFamily="50" charset="-128"/>
                <a:ea typeface="メイリオ" panose="020B0604030504040204" pitchFamily="50" charset="-128"/>
              </a:rPr>
              <a:t>月次レポート</a:t>
            </a:r>
          </a:p>
        </p:txBody>
      </p:sp>
      <p:sp>
        <p:nvSpPr>
          <p:cNvPr id="46" name="正方形/長方形 45">
            <a:extLst>
              <a:ext uri="{FF2B5EF4-FFF2-40B4-BE49-F238E27FC236}">
                <a16:creationId xmlns:a16="http://schemas.microsoft.com/office/drawing/2014/main" id="{5CB780A3-73E3-5BDA-9BFB-9390DF84F0D0}"/>
              </a:ext>
            </a:extLst>
          </p:cNvPr>
          <p:cNvSpPr/>
          <p:nvPr/>
        </p:nvSpPr>
        <p:spPr>
          <a:xfrm>
            <a:off x="4846320" y="4069080"/>
            <a:ext cx="1344168" cy="4480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kumimoji="1" lang="en-US" altLang="ja-JP" sz="1300" dirty="0">
                <a:solidFill>
                  <a:schemeClr val="tx1"/>
                </a:solidFill>
                <a:latin typeface="メイリオ" panose="020B0604030504040204" pitchFamily="50" charset="-128"/>
                <a:ea typeface="メイリオ" panose="020B0604030504040204" pitchFamily="50" charset="-128"/>
              </a:rPr>
              <a:t>1</a:t>
            </a:r>
            <a:r>
              <a:rPr kumimoji="1" lang="ja-JP" altLang="en-US" sz="1300" dirty="0">
                <a:solidFill>
                  <a:schemeClr val="tx1"/>
                </a:solidFill>
                <a:latin typeface="メイリオ" panose="020B0604030504040204" pitchFamily="50" charset="-128"/>
                <a:ea typeface="メイリオ" panose="020B0604030504040204" pitchFamily="50" charset="-128"/>
              </a:rPr>
              <a:t>回</a:t>
            </a:r>
          </a:p>
        </p:txBody>
      </p:sp>
      <p:sp>
        <p:nvSpPr>
          <p:cNvPr id="50" name="正方形/長方形 49">
            <a:extLst>
              <a:ext uri="{FF2B5EF4-FFF2-40B4-BE49-F238E27FC236}">
                <a16:creationId xmlns:a16="http://schemas.microsoft.com/office/drawing/2014/main" id="{9A17F9B0-0885-311C-7DC8-7C9FF52B6FF3}"/>
              </a:ext>
            </a:extLst>
          </p:cNvPr>
          <p:cNvSpPr/>
          <p:nvPr/>
        </p:nvSpPr>
        <p:spPr>
          <a:xfrm>
            <a:off x="3383279" y="4558283"/>
            <a:ext cx="1426464" cy="448056"/>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lang="ja-JP" altLang="en-US" sz="1300" dirty="0">
                <a:solidFill>
                  <a:schemeClr val="bg1"/>
                </a:solidFill>
                <a:latin typeface="メイリオ" panose="020B0604030504040204" pitchFamily="50" charset="-128"/>
                <a:ea typeface="メイリオ" panose="020B0604030504040204" pitchFamily="50" charset="-128"/>
              </a:rPr>
              <a:t>月次定例会</a:t>
            </a:r>
          </a:p>
        </p:txBody>
      </p:sp>
      <p:sp>
        <p:nvSpPr>
          <p:cNvPr id="54" name="正方形/長方形 53">
            <a:extLst>
              <a:ext uri="{FF2B5EF4-FFF2-40B4-BE49-F238E27FC236}">
                <a16:creationId xmlns:a16="http://schemas.microsoft.com/office/drawing/2014/main" id="{F4669313-6B42-E8D5-C8B6-A97BB8BC94F4}"/>
              </a:ext>
            </a:extLst>
          </p:cNvPr>
          <p:cNvSpPr/>
          <p:nvPr/>
        </p:nvSpPr>
        <p:spPr>
          <a:xfrm>
            <a:off x="4846320" y="4558283"/>
            <a:ext cx="1344168" cy="4480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lang="en-US" altLang="ja-JP" sz="1300" dirty="0">
                <a:solidFill>
                  <a:schemeClr val="tx1"/>
                </a:solidFill>
                <a:latin typeface="メイリオ" panose="020B0604030504040204" pitchFamily="50" charset="-128"/>
                <a:ea typeface="メイリオ" panose="020B0604030504040204" pitchFamily="50" charset="-128"/>
              </a:rPr>
              <a:t>1</a:t>
            </a:r>
            <a:r>
              <a:rPr lang="ja-JP" altLang="en-US" sz="1300" dirty="0">
                <a:solidFill>
                  <a:schemeClr val="tx1"/>
                </a:solidFill>
                <a:latin typeface="メイリオ" panose="020B0604030504040204" pitchFamily="50" charset="-128"/>
                <a:ea typeface="メイリオ" panose="020B0604030504040204" pitchFamily="50" charset="-128"/>
              </a:rPr>
              <a:t>回</a:t>
            </a:r>
          </a:p>
        </p:txBody>
      </p:sp>
      <p:sp>
        <p:nvSpPr>
          <p:cNvPr id="58" name="正方形/長方形 57">
            <a:extLst>
              <a:ext uri="{FF2B5EF4-FFF2-40B4-BE49-F238E27FC236}">
                <a16:creationId xmlns:a16="http://schemas.microsoft.com/office/drawing/2014/main" id="{698C9C70-FB31-54F8-9443-6462495BED4A}"/>
              </a:ext>
            </a:extLst>
          </p:cNvPr>
          <p:cNvSpPr/>
          <p:nvPr/>
        </p:nvSpPr>
        <p:spPr>
          <a:xfrm>
            <a:off x="3383279" y="5047488"/>
            <a:ext cx="1426464" cy="448056"/>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kumimoji="1" lang="ja-JP" altLang="en-US" sz="1300" dirty="0">
                <a:solidFill>
                  <a:schemeClr val="bg1"/>
                </a:solidFill>
                <a:latin typeface="メイリオ" panose="020B0604030504040204" pitchFamily="50" charset="-128"/>
                <a:ea typeface="メイリオ" panose="020B0604030504040204" pitchFamily="50" charset="-128"/>
              </a:rPr>
              <a:t>離脱防止</a:t>
            </a:r>
          </a:p>
        </p:txBody>
      </p:sp>
      <p:sp>
        <p:nvSpPr>
          <p:cNvPr id="62" name="正方形/長方形 61">
            <a:extLst>
              <a:ext uri="{FF2B5EF4-FFF2-40B4-BE49-F238E27FC236}">
                <a16:creationId xmlns:a16="http://schemas.microsoft.com/office/drawing/2014/main" id="{45C7D931-8FBA-8147-09CA-92E32FE63F69}"/>
              </a:ext>
            </a:extLst>
          </p:cNvPr>
          <p:cNvSpPr/>
          <p:nvPr/>
        </p:nvSpPr>
        <p:spPr>
          <a:xfrm>
            <a:off x="4846320" y="5047488"/>
            <a:ext cx="1344168" cy="4480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kumimoji="1" lang="ja-JP" altLang="en-US" sz="1300" dirty="0">
                <a:solidFill>
                  <a:schemeClr val="tx1"/>
                </a:solidFill>
                <a:latin typeface="メイリオ" panose="020B0604030504040204" pitchFamily="50" charset="-128"/>
                <a:ea typeface="メイリオ" panose="020B0604030504040204" pitchFamily="50" charset="-128"/>
              </a:rPr>
              <a:t>運用</a:t>
            </a:r>
          </a:p>
        </p:txBody>
      </p:sp>
      <p:sp>
        <p:nvSpPr>
          <p:cNvPr id="66" name="正方形/長方形 65">
            <a:extLst>
              <a:ext uri="{FF2B5EF4-FFF2-40B4-BE49-F238E27FC236}">
                <a16:creationId xmlns:a16="http://schemas.microsoft.com/office/drawing/2014/main" id="{FE41AB20-AB68-BF5F-43C9-2A5086821C68}"/>
              </a:ext>
            </a:extLst>
          </p:cNvPr>
          <p:cNvSpPr/>
          <p:nvPr/>
        </p:nvSpPr>
        <p:spPr>
          <a:xfrm>
            <a:off x="3383279" y="5536692"/>
            <a:ext cx="1426464" cy="448056"/>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kumimoji="1" lang="ja-JP" altLang="en-US" sz="1300" dirty="0">
                <a:solidFill>
                  <a:schemeClr val="bg1"/>
                </a:solidFill>
                <a:latin typeface="メイリオ" panose="020B0604030504040204" pitchFamily="50" charset="-128"/>
                <a:ea typeface="メイリオ" panose="020B0604030504040204" pitchFamily="50" charset="-128"/>
              </a:rPr>
              <a:t>ステップ配信</a:t>
            </a:r>
          </a:p>
        </p:txBody>
      </p:sp>
      <p:sp>
        <p:nvSpPr>
          <p:cNvPr id="70" name="正方形/長方形 69">
            <a:extLst>
              <a:ext uri="{FF2B5EF4-FFF2-40B4-BE49-F238E27FC236}">
                <a16:creationId xmlns:a16="http://schemas.microsoft.com/office/drawing/2014/main" id="{F5281D63-B2A2-FEAB-75B0-2FFB9F84A7A2}"/>
              </a:ext>
            </a:extLst>
          </p:cNvPr>
          <p:cNvSpPr/>
          <p:nvPr/>
        </p:nvSpPr>
        <p:spPr>
          <a:xfrm>
            <a:off x="4846320" y="5536692"/>
            <a:ext cx="1344168" cy="4480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kumimoji="1" lang="en-US" altLang="ja-JP" sz="1300" dirty="0">
                <a:solidFill>
                  <a:schemeClr val="tx1"/>
                </a:solidFill>
                <a:latin typeface="メイリオ" panose="020B0604030504040204" pitchFamily="50" charset="-128"/>
                <a:ea typeface="メイリオ" panose="020B0604030504040204" pitchFamily="50" charset="-128"/>
              </a:rPr>
              <a:t>10通の改善</a:t>
            </a:r>
          </a:p>
        </p:txBody>
      </p:sp>
      <p:sp>
        <p:nvSpPr>
          <p:cNvPr id="80" name="正方形/長方形 79">
            <a:extLst>
              <a:ext uri="{FF2B5EF4-FFF2-40B4-BE49-F238E27FC236}">
                <a16:creationId xmlns:a16="http://schemas.microsoft.com/office/drawing/2014/main" id="{86997BA3-366F-8070-9874-EFC0BCA759C0}"/>
              </a:ext>
            </a:extLst>
          </p:cNvPr>
          <p:cNvSpPr/>
          <p:nvPr/>
        </p:nvSpPr>
        <p:spPr>
          <a:xfrm>
            <a:off x="6812280" y="1956816"/>
            <a:ext cx="1426464" cy="402336"/>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rIns="45720"/>
          <a:lstStyle/>
          <a:p>
            <a:pPr algn="ctr"/>
            <a:r>
              <a:rPr lang="ja-JP" altLang="en-US" sz="1400" b="1" dirty="0">
                <a:solidFill>
                  <a:schemeClr val="bg1"/>
                </a:solidFill>
                <a:latin typeface="メイリオ" panose="020B0604030504040204" pitchFamily="50" charset="-128"/>
                <a:ea typeface="メイリオ" panose="020B0604030504040204" pitchFamily="50" charset="-128"/>
              </a:rPr>
              <a:t>友だち数</a:t>
            </a:r>
            <a:endParaRPr kumimoji="1" lang="ja-JP" altLang="en-US" sz="1400" b="1" dirty="0">
              <a:solidFill>
                <a:schemeClr val="bg1"/>
              </a:solidFill>
              <a:latin typeface="メイリオ" panose="020B0604030504040204" pitchFamily="50" charset="-128"/>
              <a:ea typeface="メイリオ" panose="020B0604030504040204" pitchFamily="50" charset="-128"/>
            </a:endParaRPr>
          </a:p>
        </p:txBody>
      </p:sp>
      <p:sp>
        <p:nvSpPr>
          <p:cNvPr id="82" name="正方形/長方形 81">
            <a:extLst>
              <a:ext uri="{FF2B5EF4-FFF2-40B4-BE49-F238E27FC236}">
                <a16:creationId xmlns:a16="http://schemas.microsoft.com/office/drawing/2014/main" id="{C030D946-0A5B-51B8-4D2E-5BECA1C1AE9E}"/>
              </a:ext>
            </a:extLst>
          </p:cNvPr>
          <p:cNvSpPr/>
          <p:nvPr/>
        </p:nvSpPr>
        <p:spPr>
          <a:xfrm>
            <a:off x="6812280" y="2432304"/>
            <a:ext cx="1426464" cy="402336"/>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rIns="45720"/>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rPr>
              <a:t>問い合わせ①</a:t>
            </a:r>
          </a:p>
        </p:txBody>
      </p:sp>
      <p:sp>
        <p:nvSpPr>
          <p:cNvPr id="84" name="正方形/長方形 83">
            <a:extLst>
              <a:ext uri="{FF2B5EF4-FFF2-40B4-BE49-F238E27FC236}">
                <a16:creationId xmlns:a16="http://schemas.microsoft.com/office/drawing/2014/main" id="{83345E18-97D5-E0ED-7743-080BEDECAE73}"/>
              </a:ext>
            </a:extLst>
          </p:cNvPr>
          <p:cNvSpPr/>
          <p:nvPr/>
        </p:nvSpPr>
        <p:spPr>
          <a:xfrm>
            <a:off x="6812280" y="2907792"/>
            <a:ext cx="1426464" cy="402336"/>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rIns="45720"/>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rPr>
              <a:t>問い合わせ②</a:t>
            </a:r>
          </a:p>
        </p:txBody>
      </p:sp>
      <p:sp>
        <p:nvSpPr>
          <p:cNvPr id="86" name="正方形/長方形 85">
            <a:extLst>
              <a:ext uri="{FF2B5EF4-FFF2-40B4-BE49-F238E27FC236}">
                <a16:creationId xmlns:a16="http://schemas.microsoft.com/office/drawing/2014/main" id="{C8115FEC-D115-724E-119C-CA4DA501F779}"/>
              </a:ext>
            </a:extLst>
          </p:cNvPr>
          <p:cNvSpPr/>
          <p:nvPr/>
        </p:nvSpPr>
        <p:spPr>
          <a:xfrm>
            <a:off x="6812280" y="3383280"/>
            <a:ext cx="1426464" cy="402336"/>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rIns="45720"/>
          <a:lstStyle/>
          <a:p>
            <a:pPr algn="ctr"/>
            <a:r>
              <a:rPr kumimoji="1" lang="en-US" altLang="ja-JP" sz="1400" b="1" dirty="0">
                <a:solidFill>
                  <a:schemeClr val="bg1"/>
                </a:solidFill>
                <a:latin typeface="メイリオ" panose="020B0604030504040204" pitchFamily="50" charset="-128"/>
                <a:ea typeface="メイリオ" panose="020B0604030504040204" pitchFamily="50" charset="-128"/>
              </a:rPr>
              <a:t>合計</a:t>
            </a:r>
            <a:endParaRPr kumimoji="1" lang="ja-JP" altLang="en-US" sz="1400" b="1" dirty="0">
              <a:solidFill>
                <a:schemeClr val="bg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875C2E-C3E8-B767-914C-D6C0F2DFE0F4}"/>
              </a:ext>
            </a:extLst>
          </p:cNvPr>
          <p:cNvSpPr/>
          <p:nvPr/>
        </p:nvSpPr>
        <p:spPr>
          <a:xfrm>
            <a:off x="307238" y="3090672"/>
            <a:ext cx="1426464" cy="448056"/>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kumimoji="1" lang="ja-JP" altLang="en-US" sz="1300" dirty="0">
                <a:solidFill>
                  <a:schemeClr val="bg1"/>
                </a:solidFill>
                <a:latin typeface="メイリオ" panose="020B0604030504040204" pitchFamily="50" charset="-128"/>
                <a:ea typeface="メイリオ" panose="020B0604030504040204" pitchFamily="50" charset="-128"/>
              </a:rPr>
              <a:t>あいさつ</a:t>
            </a:r>
          </a:p>
        </p:txBody>
      </p:sp>
      <p:sp>
        <p:nvSpPr>
          <p:cNvPr id="14" name="正方形/長方形 13">
            <a:extLst>
              <a:ext uri="{FF2B5EF4-FFF2-40B4-BE49-F238E27FC236}">
                <a16:creationId xmlns:a16="http://schemas.microsoft.com/office/drawing/2014/main" id="{6A51F581-11ED-01C9-5756-5F5E0AB144D9}"/>
              </a:ext>
            </a:extLst>
          </p:cNvPr>
          <p:cNvSpPr/>
          <p:nvPr/>
        </p:nvSpPr>
        <p:spPr>
          <a:xfrm>
            <a:off x="1770278" y="3090672"/>
            <a:ext cx="1344168" cy="4480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kumimoji="1" lang="en-US" altLang="ja-JP" sz="1300" dirty="0">
                <a:solidFill>
                  <a:schemeClr val="tx1"/>
                </a:solidFill>
                <a:latin typeface="メイリオ" panose="020B0604030504040204" pitchFamily="50" charset="-128"/>
                <a:ea typeface="メイリオ" panose="020B0604030504040204" pitchFamily="50" charset="-128"/>
              </a:rPr>
              <a:t>改善</a:t>
            </a:r>
          </a:p>
        </p:txBody>
      </p:sp>
      <p:sp>
        <p:nvSpPr>
          <p:cNvPr id="18" name="正方形/長方形 17">
            <a:extLst>
              <a:ext uri="{FF2B5EF4-FFF2-40B4-BE49-F238E27FC236}">
                <a16:creationId xmlns:a16="http://schemas.microsoft.com/office/drawing/2014/main" id="{3895398F-633D-A0A2-5E8D-34C4C8E66416}"/>
              </a:ext>
            </a:extLst>
          </p:cNvPr>
          <p:cNvSpPr/>
          <p:nvPr/>
        </p:nvSpPr>
        <p:spPr>
          <a:xfrm>
            <a:off x="307238" y="3579876"/>
            <a:ext cx="1426464" cy="448056"/>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kumimoji="1" lang="ja-JP" altLang="en-US" sz="1300" dirty="0">
                <a:solidFill>
                  <a:schemeClr val="bg1"/>
                </a:solidFill>
                <a:latin typeface="メイリオ" panose="020B0604030504040204" pitchFamily="50" charset="-128"/>
                <a:ea typeface="メイリオ" panose="020B0604030504040204" pitchFamily="50" charset="-128"/>
              </a:rPr>
              <a:t>リッチメニュー</a:t>
            </a:r>
            <a:endParaRPr kumimoji="1" lang="en-US" altLang="ja-JP" sz="1300" dirty="0">
              <a:solidFill>
                <a:schemeClr val="bg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AE5F6194-101E-2C0F-EC87-0FF8E59D82C0}"/>
              </a:ext>
            </a:extLst>
          </p:cNvPr>
          <p:cNvSpPr/>
          <p:nvPr/>
        </p:nvSpPr>
        <p:spPr>
          <a:xfrm>
            <a:off x="1770278" y="3579876"/>
            <a:ext cx="1344168" cy="4480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kumimoji="1" lang="ja-JP" altLang="en-US" sz="1300" dirty="0">
                <a:solidFill>
                  <a:schemeClr val="tx1"/>
                </a:solidFill>
                <a:latin typeface="メイリオ" panose="020B0604030504040204" pitchFamily="50" charset="-128"/>
                <a:ea typeface="メイリオ" panose="020B0604030504040204" pitchFamily="50" charset="-128"/>
              </a:rPr>
              <a:t>新規作成</a:t>
            </a:r>
          </a:p>
        </p:txBody>
      </p:sp>
      <p:sp>
        <p:nvSpPr>
          <p:cNvPr id="26" name="正方形/長方形 25">
            <a:extLst>
              <a:ext uri="{FF2B5EF4-FFF2-40B4-BE49-F238E27FC236}">
                <a16:creationId xmlns:a16="http://schemas.microsoft.com/office/drawing/2014/main" id="{98DCF835-0DB5-EA3F-AB90-2036AE2C6924}"/>
              </a:ext>
            </a:extLst>
          </p:cNvPr>
          <p:cNvSpPr/>
          <p:nvPr/>
        </p:nvSpPr>
        <p:spPr>
          <a:xfrm>
            <a:off x="307238" y="4069080"/>
            <a:ext cx="1426464" cy="448056"/>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kumimoji="1" lang="ja-JP" altLang="en-US" sz="1300" dirty="0">
                <a:solidFill>
                  <a:schemeClr val="bg1"/>
                </a:solidFill>
                <a:latin typeface="メイリオ" panose="020B0604030504040204" pitchFamily="50" charset="-128"/>
                <a:ea typeface="メイリオ" panose="020B0604030504040204" pitchFamily="50" charset="-128"/>
              </a:rPr>
              <a:t>ステップ配信</a:t>
            </a:r>
          </a:p>
        </p:txBody>
      </p:sp>
      <p:sp>
        <p:nvSpPr>
          <p:cNvPr id="30" name="正方形/長方形 29">
            <a:extLst>
              <a:ext uri="{FF2B5EF4-FFF2-40B4-BE49-F238E27FC236}">
                <a16:creationId xmlns:a16="http://schemas.microsoft.com/office/drawing/2014/main" id="{8BC6593C-0EB3-4DA4-0080-AD58D961A0D1}"/>
              </a:ext>
            </a:extLst>
          </p:cNvPr>
          <p:cNvSpPr/>
          <p:nvPr/>
        </p:nvSpPr>
        <p:spPr>
          <a:xfrm>
            <a:off x="1770278" y="4069080"/>
            <a:ext cx="1344168" cy="4480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kumimoji="1" lang="ja-JP" altLang="en-US" sz="1300" dirty="0">
                <a:solidFill>
                  <a:schemeClr val="tx1"/>
                </a:solidFill>
                <a:latin typeface="メイリオ" panose="020B0604030504040204" pitchFamily="50" charset="-128"/>
                <a:ea typeface="メイリオ" panose="020B0604030504040204" pitchFamily="50" charset="-128"/>
              </a:rPr>
              <a:t>10通を構築</a:t>
            </a:r>
          </a:p>
        </p:txBody>
      </p:sp>
      <p:sp>
        <p:nvSpPr>
          <p:cNvPr id="34" name="正方形/長方形 33">
            <a:extLst>
              <a:ext uri="{FF2B5EF4-FFF2-40B4-BE49-F238E27FC236}">
                <a16:creationId xmlns:a16="http://schemas.microsoft.com/office/drawing/2014/main" id="{F4623201-6547-9A0F-2297-B2529649C6D3}"/>
              </a:ext>
            </a:extLst>
          </p:cNvPr>
          <p:cNvSpPr/>
          <p:nvPr/>
        </p:nvSpPr>
        <p:spPr>
          <a:xfrm>
            <a:off x="307238" y="4558283"/>
            <a:ext cx="1426464" cy="448056"/>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lang="ja-JP" altLang="en-US" sz="1300" dirty="0">
                <a:solidFill>
                  <a:schemeClr val="bg1"/>
                </a:solidFill>
                <a:latin typeface="メイリオ" panose="020B0604030504040204" pitchFamily="50" charset="-128"/>
                <a:ea typeface="メイリオ" panose="020B0604030504040204" pitchFamily="50" charset="-128"/>
              </a:rPr>
              <a:t>自動応答</a:t>
            </a:r>
          </a:p>
        </p:txBody>
      </p:sp>
      <p:sp>
        <p:nvSpPr>
          <p:cNvPr id="38" name="正方形/長方形 37">
            <a:extLst>
              <a:ext uri="{FF2B5EF4-FFF2-40B4-BE49-F238E27FC236}">
                <a16:creationId xmlns:a16="http://schemas.microsoft.com/office/drawing/2014/main" id="{47B9617A-CA0F-EDAF-61F2-07A8AB4FDE89}"/>
              </a:ext>
            </a:extLst>
          </p:cNvPr>
          <p:cNvSpPr/>
          <p:nvPr/>
        </p:nvSpPr>
        <p:spPr>
          <a:xfrm>
            <a:off x="1770278" y="4558283"/>
            <a:ext cx="1344168" cy="4480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lang="ja-JP" altLang="en-US" sz="1300" dirty="0">
                <a:solidFill>
                  <a:schemeClr val="tx1"/>
                </a:solidFill>
                <a:latin typeface="メイリオ" panose="020B0604030504040204" pitchFamily="50" charset="-128"/>
                <a:ea typeface="メイリオ" panose="020B0604030504040204" pitchFamily="50" charset="-128"/>
              </a:rPr>
              <a:t>設定</a:t>
            </a:r>
          </a:p>
        </p:txBody>
      </p:sp>
      <p:sp>
        <p:nvSpPr>
          <p:cNvPr id="42" name="正方形/長方形 41">
            <a:extLst>
              <a:ext uri="{FF2B5EF4-FFF2-40B4-BE49-F238E27FC236}">
                <a16:creationId xmlns:a16="http://schemas.microsoft.com/office/drawing/2014/main" id="{26CDC681-1C46-FC47-0F4E-05A36BE26DCB}"/>
              </a:ext>
            </a:extLst>
          </p:cNvPr>
          <p:cNvSpPr/>
          <p:nvPr/>
        </p:nvSpPr>
        <p:spPr>
          <a:xfrm>
            <a:off x="307238" y="5047488"/>
            <a:ext cx="1426464" cy="448056"/>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kumimoji="1" lang="ja-JP" altLang="en-US" sz="1300" dirty="0">
                <a:solidFill>
                  <a:schemeClr val="bg1"/>
                </a:solidFill>
                <a:latin typeface="メイリオ" panose="020B0604030504040204" pitchFamily="50" charset="-128"/>
                <a:ea typeface="メイリオ" panose="020B0604030504040204" pitchFamily="50" charset="-128"/>
              </a:rPr>
              <a:t>離脱防止</a:t>
            </a:r>
          </a:p>
        </p:txBody>
      </p:sp>
      <p:sp>
        <p:nvSpPr>
          <p:cNvPr id="47" name="正方形/長方形 46">
            <a:extLst>
              <a:ext uri="{FF2B5EF4-FFF2-40B4-BE49-F238E27FC236}">
                <a16:creationId xmlns:a16="http://schemas.microsoft.com/office/drawing/2014/main" id="{2DCD6556-D3E5-AAB5-6E43-9320FDD6C882}"/>
              </a:ext>
            </a:extLst>
          </p:cNvPr>
          <p:cNvSpPr/>
          <p:nvPr/>
        </p:nvSpPr>
        <p:spPr>
          <a:xfrm>
            <a:off x="1770278" y="5047488"/>
            <a:ext cx="1344168" cy="4480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kumimoji="1" lang="ja-JP" altLang="en-US" sz="1300" dirty="0">
                <a:solidFill>
                  <a:schemeClr val="tx1"/>
                </a:solidFill>
                <a:latin typeface="メイリオ" panose="020B0604030504040204" pitchFamily="50" charset="-128"/>
                <a:ea typeface="メイリオ" panose="020B0604030504040204" pitchFamily="50" charset="-128"/>
              </a:rPr>
              <a:t>導入</a:t>
            </a:r>
          </a:p>
        </p:txBody>
      </p:sp>
      <p:sp>
        <p:nvSpPr>
          <p:cNvPr id="11" name="テキスト ボックス 10">
            <a:extLst>
              <a:ext uri="{FF2B5EF4-FFF2-40B4-BE49-F238E27FC236}">
                <a16:creationId xmlns:a16="http://schemas.microsoft.com/office/drawing/2014/main" id="{7C137CDC-5584-B43B-0B2E-4A1DDC4552B2}"/>
              </a:ext>
            </a:extLst>
          </p:cNvPr>
          <p:cNvSpPr txBox="1"/>
          <p:nvPr/>
        </p:nvSpPr>
        <p:spPr>
          <a:xfrm>
            <a:off x="8257031" y="1956816"/>
            <a:ext cx="1325880" cy="402336"/>
          </a:xfrm>
          <a:prstGeom prst="rect">
            <a:avLst/>
          </a:prstGeom>
          <a:noFill/>
        </p:spPr>
        <p:txBody>
          <a:bodyPr wrap="square" anchor="ctr">
            <a:noAutofit/>
          </a:bodyPr>
          <a:lstStyle/>
          <a:p>
            <a:pPr algn="ctr"/>
            <a:r>
              <a:rPr lang="en-US" altLang="ja-JP" sz="1400" b="1" dirty="0">
                <a:solidFill>
                  <a:srgbClr val="FF0000"/>
                </a:solidFill>
                <a:latin typeface="メイリオ" panose="020B0604030504040204" pitchFamily="50" charset="-128"/>
                <a:ea typeface="メイリオ" panose="020B0604030504040204" pitchFamily="50" charset="-128"/>
              </a:rPr>
              <a:t>1,377人</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DA174F3D-0309-7C22-438E-40B5BFC405F6}"/>
              </a:ext>
            </a:extLst>
          </p:cNvPr>
          <p:cNvSpPr txBox="1"/>
          <p:nvPr/>
        </p:nvSpPr>
        <p:spPr>
          <a:xfrm>
            <a:off x="8257031" y="2432304"/>
            <a:ext cx="1325880" cy="402336"/>
          </a:xfrm>
          <a:prstGeom prst="rect">
            <a:avLst/>
          </a:prstGeom>
          <a:noFill/>
        </p:spPr>
        <p:txBody>
          <a:bodyPr wrap="square" anchor="ctr">
            <a:noAutofit/>
          </a:bodyPr>
          <a:lstStyle/>
          <a:p>
            <a:pPr algn="ctr"/>
            <a:r>
              <a:rPr lang="en-US" altLang="ja-JP" sz="1400" b="1" dirty="0">
                <a:solidFill>
                  <a:srgbClr val="FF0000"/>
                </a:solidFill>
                <a:latin typeface="メイリオ" panose="020B0604030504040204" pitchFamily="50" charset="-128"/>
                <a:ea typeface="メイリオ" panose="020B0604030504040204" pitchFamily="50" charset="-128"/>
              </a:rPr>
              <a:t>12件/月</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3" name="テキスト ボックス 22">
            <a:extLst>
              <a:ext uri="{FF2B5EF4-FFF2-40B4-BE49-F238E27FC236}">
                <a16:creationId xmlns:a16="http://schemas.microsoft.com/office/drawing/2014/main" id="{588260A5-44FC-C8E5-549E-7D23A899ABD5}"/>
              </a:ext>
            </a:extLst>
          </p:cNvPr>
          <p:cNvSpPr txBox="1"/>
          <p:nvPr/>
        </p:nvSpPr>
        <p:spPr>
          <a:xfrm>
            <a:off x="8257031" y="2907792"/>
            <a:ext cx="1325880" cy="402336"/>
          </a:xfrm>
          <a:prstGeom prst="rect">
            <a:avLst/>
          </a:prstGeom>
          <a:noFill/>
        </p:spPr>
        <p:txBody>
          <a:bodyPr wrap="square" anchor="ctr">
            <a:noAutofit/>
          </a:bodyPr>
          <a:lstStyle/>
          <a:p>
            <a:pPr algn="ctr"/>
            <a:r>
              <a:rPr lang="en-US" altLang="ja-JP" sz="1400" b="1" dirty="0">
                <a:solidFill>
                  <a:srgbClr val="FF0000"/>
                </a:solidFill>
                <a:latin typeface="メイリオ" panose="020B0604030504040204" pitchFamily="50" charset="-128"/>
                <a:ea typeface="メイリオ" panose="020B0604030504040204" pitchFamily="50" charset="-128"/>
              </a:rPr>
              <a:t>6件/月</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9B021CC4-B451-89AD-3F9E-C80556C07471}"/>
              </a:ext>
            </a:extLst>
          </p:cNvPr>
          <p:cNvSpPr txBox="1"/>
          <p:nvPr/>
        </p:nvSpPr>
        <p:spPr>
          <a:xfrm>
            <a:off x="8257031" y="3383280"/>
            <a:ext cx="1325880" cy="402336"/>
          </a:xfrm>
          <a:prstGeom prst="rect">
            <a:avLst/>
          </a:prstGeom>
          <a:noFill/>
        </p:spPr>
        <p:txBody>
          <a:bodyPr wrap="square" anchor="ctr">
            <a:noAutofit/>
          </a:bodyPr>
          <a:lstStyle/>
          <a:p>
            <a:pPr algn="ctr"/>
            <a:r>
              <a:rPr lang="en-US" altLang="ja-JP" sz="1400" b="1" dirty="0">
                <a:solidFill>
                  <a:srgbClr val="FF0000"/>
                </a:solidFill>
                <a:latin typeface="メイリオ" panose="020B0604030504040204" pitchFamily="50" charset="-128"/>
                <a:ea typeface="メイリオ" panose="020B0604030504040204" pitchFamily="50" charset="-128"/>
              </a:rPr>
              <a:t>18件/月</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582A1340-F5BE-686F-6CCA-FC4C92159723}"/>
              </a:ext>
            </a:extLst>
          </p:cNvPr>
          <p:cNvSpPr txBox="1"/>
          <p:nvPr/>
        </p:nvSpPr>
        <p:spPr>
          <a:xfrm>
            <a:off x="7959851" y="3858768"/>
            <a:ext cx="1920240" cy="365760"/>
          </a:xfrm>
          <a:prstGeom prst="rect">
            <a:avLst/>
          </a:prstGeom>
          <a:noFill/>
        </p:spPr>
        <p:txBody>
          <a:bodyPr wrap="square" lIns="18288" rIns="18288" anchor="ctr">
            <a:noAutofit/>
          </a:bodyPr>
          <a:lstStyle/>
          <a:p>
            <a:pPr algn="ctr"/>
            <a:r>
              <a:rPr lang="ja-JP" altLang="en-US" sz="1400" b="1" dirty="0">
                <a:latin typeface="メイリオ" panose="020B0604030504040204" pitchFamily="50" charset="-128"/>
                <a:ea typeface="メイリオ" panose="020B0604030504040204" pitchFamily="50" charset="-128"/>
              </a:rPr>
              <a:t>（6か月で77件）</a:t>
            </a:r>
            <a:endParaRPr kumimoji="1" lang="ja-JP" altLang="en-US" sz="1400" b="1" dirty="0">
              <a:latin typeface="メイリオ" panose="020B0604030504040204" pitchFamily="50" charset="-128"/>
              <a:ea typeface="メイリオ" panose="020B0604030504040204" pitchFamily="50" charset="-128"/>
            </a:endParaRPr>
          </a:p>
        </p:txBody>
      </p:sp>
      <p:sp>
        <p:nvSpPr>
          <p:cNvPr id="87" name="テキスト ボックス 18">
            <a:extLst>
              <a:ext uri="{FF2B5EF4-FFF2-40B4-BE49-F238E27FC236}">
                <a16:creationId xmlns:a16="http://schemas.microsoft.com/office/drawing/2014/main" id="{310A0391-C27F-47EB-C4DA-F30ADEFF5697}"/>
              </a:ext>
            </a:extLst>
          </p:cNvPr>
          <p:cNvSpPr txBox="1"/>
          <p:nvPr/>
        </p:nvSpPr>
        <p:spPr>
          <a:xfrm>
            <a:off x="265176" y="6035040"/>
            <a:ext cx="9418320" cy="438912"/>
          </a:xfrm>
          <a:prstGeom prst="rect">
            <a:avLst/>
          </a:prstGeom>
          <a:noFill/>
        </p:spPr>
        <p:txBody>
          <a:bodyPr wrap="square">
            <a:noAutofit/>
          </a:bodyPr>
          <a:lstStyle/>
          <a:p>
            <a:pPr algn="l"/>
            <a:r>
              <a:rPr kumimoji="1" lang="en-US" altLang="ja-JP" sz="1000" dirty="0">
                <a:solidFill>
                  <a:schemeClr val="tx1"/>
                </a:solidFill>
                <a:latin typeface="メイリオ" panose="020B0604030504040204" pitchFamily="50" charset="-128"/>
                <a:ea typeface="メイリオ" panose="020B0604030504040204" pitchFamily="50" charset="-128"/>
              </a:rPr>
              <a:t>※初期＝コンサル20万円＋離脱防止1.5万円／月額＝コンサル10万円＋離脱防止3万円＋LINE公式アカウント0.5万円</a:t>
            </a:r>
            <a:endParaRPr kumimoji="1" lang="ja-JP" altLang="en-US" sz="1000" dirty="0">
              <a:solidFill>
                <a:schemeClr val="tx1"/>
              </a:solidFill>
              <a:latin typeface="メイリオ" panose="020B0604030504040204" pitchFamily="50" charset="-128"/>
              <a:ea typeface="メイリオ" panose="020B0604030504040204" pitchFamily="50" charset="-128"/>
            </a:endParaRPr>
          </a:p>
          <a:p>
            <a:pPr algn="l"/>
            <a:r>
              <a:rPr kumimoji="1" lang="en-US" altLang="ja-JP" sz="1000" dirty="0">
                <a:solidFill>
                  <a:schemeClr val="tx1"/>
                </a:solidFill>
                <a:latin typeface="メイリオ" panose="020B0604030504040204" pitchFamily="50" charset="-128"/>
                <a:ea typeface="メイリオ" panose="020B0604030504040204" pitchFamily="50" charset="-128"/>
              </a:rPr>
              <a:t>※6か月後は6か月目の月間の試算。問い合わせ①＝友だち追加直後の物件の問い合わせ（送る方の割合は仮）、②＝配信・リッチメニューから</a:t>
            </a: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8" name="テキスト ボックス 30">
            <a:extLst>
              <a:ext uri="{FF2B5EF4-FFF2-40B4-BE49-F238E27FC236}">
                <a16:creationId xmlns:a16="http://schemas.microsoft.com/office/drawing/2014/main" id="{459F6DDB-7C9E-8820-DF35-6AA3914041C2}"/>
              </a:ext>
            </a:extLst>
          </p:cNvPr>
          <p:cNvSpPr txBox="1"/>
          <p:nvPr/>
        </p:nvSpPr>
        <p:spPr>
          <a:xfrm>
            <a:off x="426110" y="635508"/>
            <a:ext cx="9069019" cy="698601"/>
          </a:xfrm>
          <a:prstGeom prst="rect">
            <a:avLst/>
          </a:prstGeom>
          <a:noFill/>
        </p:spPr>
        <p:txBody>
          <a:bodyPr wrap="square" anchor="ctr">
            <a:noAutofit/>
          </a:bodyPr>
          <a:lstStyle/>
          <a:p>
            <a:pPr algn="ctr"/>
            <a:r>
              <a:rPr lang="ja-JP" altLang="en-US" sz="1400" dirty="0">
                <a:solidFill>
                  <a:schemeClr val="tx1">
                    <a:lumMod val="65000"/>
                    <a:lumOff val="35000"/>
                  </a:schemeClr>
                </a:solidFill>
                <a:latin typeface="メイリオ" panose="020B0604030504040204" pitchFamily="50" charset="-128"/>
                <a:ea typeface="メイリオ" panose="020B0604030504040204" pitchFamily="50" charset="-128"/>
              </a:rPr>
              <a:t>初期21.5万円・月額13.5万円で運用します。</a:t>
            </a:r>
            <a:endParaRPr lang="en-US" altLang="ja-JP" sz="14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rPr>
              <a:t>6か月目にLINE経由の問い合わせ月18件を見込みます（試算）</a:t>
            </a:r>
            <a:r>
              <a:rPr lang="ja-JP" altLang="en-US" sz="1400" b="0"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14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2972215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82CB4-E2E4-29F5-FA9B-848F31DADC7C}"/>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4CBB36F-6A78-6E75-241B-56F5E546F31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DD972FB4-83F9-0440-88DE-3A1A2ED666D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F192099F-5377-81D7-2989-7E200A0D8A4C}"/>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実施施策</a:t>
            </a:r>
            <a:endParaRPr sz="1600" b="1" dirty="0">
              <a:solidFill>
                <a:srgbClr val="002060"/>
              </a:solidFill>
              <a:latin typeface="Meiryo"/>
              <a:ea typeface="Meiryo"/>
              <a:cs typeface="Meiryo"/>
              <a:sym typeface="Meiryo"/>
            </a:endParaRPr>
          </a:p>
        </p:txBody>
      </p:sp>
      <p:sp>
        <p:nvSpPr>
          <p:cNvPr id="6" name="TextBox 2">
            <a:extLst>
              <a:ext uri="{FF2B5EF4-FFF2-40B4-BE49-F238E27FC236}">
                <a16:creationId xmlns:a16="http://schemas.microsoft.com/office/drawing/2014/main" id="{A90345F6-8F45-3463-0674-D84ECC52E45F}"/>
              </a:ext>
            </a:extLst>
          </p:cNvPr>
          <p:cNvSpPr/>
          <p:nvPr/>
        </p:nvSpPr>
        <p:spPr>
          <a:xfrm>
            <a:off x="426110" y="635508"/>
            <a:ext cx="9069019" cy="698601"/>
          </a:xfrm>
          <a:prstGeom prst="rect">
            <a:avLst/>
          </a:prstGeom>
          <a:noFill/>
          <a:ln w="0">
            <a:noFill/>
          </a:ln>
          <a:effectLst/>
        </p:spPr>
        <p:txBody>
          <a:bodyPr lIns="90000" tIns="45000" rIns="9000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400" b="0" i="0" u="none" strike="noStrike" kern="1200" cap="none" spc="-1" normalizeH="0" baseline="0" noProof="0">
                <a:ln>
                  <a:noFill/>
                </a:ln>
                <a:solidFill>
                  <a:srgbClr val="5A6378"/>
                </a:solidFill>
                <a:effectLst/>
                <a:uLnTx/>
                <a:uFillTx/>
                <a:latin typeface="メイリオ" panose="020B0604030504040204" pitchFamily="50" charset="-128"/>
                <a:ea typeface="メイリオ" panose="020B0604030504040204" pitchFamily="50" charset="-128"/>
              </a:rPr>
              <a:t>友だち追加から14日間のステップ配信（全10通）と月4本の企画配信で、物件URLの送信を後押しします</a:t>
            </a:r>
            <a:endParaRPr kumimoji="1" lang="en-US" sz="14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3" name="TextBox 3">
            <a:extLst>
              <a:ext uri="{FF2B5EF4-FFF2-40B4-BE49-F238E27FC236}">
                <a16:creationId xmlns:a16="http://schemas.microsoft.com/office/drawing/2014/main" id="{731799BD-0CDF-B1A8-CC48-DE7F17D3A9C6}"/>
              </a:ext>
            </a:extLst>
          </p:cNvPr>
          <p:cNvSpPr/>
          <p:nvPr/>
        </p:nvSpPr>
        <p:spPr>
          <a:xfrm>
            <a:off x="384048" y="1371600"/>
            <a:ext cx="3657600" cy="292608"/>
          </a:xfrm>
          <a:prstGeom prst="rect">
            <a:avLst/>
          </a:prstGeom>
          <a:noFill/>
          <a:ln w="0">
            <a:noFill/>
          </a:ln>
          <a:effectLst/>
        </p:spPr>
        <p:txBody>
          <a:bodyPr lIns="45720" tIns="0" rIns="45720" bIns="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400" b="1" i="0" u="none" strike="noStrike" kern="1200" cap="none" spc="-1" normalizeH="0" baseline="0" noProof="0">
                <a:ln>
                  <a:noFill/>
                </a:ln>
                <a:solidFill>
                  <a:srgbClr val="1F2A5C"/>
                </a:solidFill>
                <a:effectLst/>
                <a:uLnTx/>
                <a:uFillTx/>
                <a:latin typeface="メイリオ" panose="020B0604030504040204" pitchFamily="50" charset="-128"/>
                <a:ea typeface="メイリオ" panose="020B0604030504040204" pitchFamily="50" charset="-128"/>
              </a:rPr>
              <a:t>[ステップ配信・全10通]</a:t>
            </a:r>
            <a:endParaRPr kumimoji="1" lang="en-US" sz="14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20" name="Rounded Rectangle 4">
            <a:extLst>
              <a:ext uri="{FF2B5EF4-FFF2-40B4-BE49-F238E27FC236}">
                <a16:creationId xmlns:a16="http://schemas.microsoft.com/office/drawing/2014/main" id="{B07AFB34-2BBF-5EA7-D265-725DBBDEC073}"/>
              </a:ext>
            </a:extLst>
          </p:cNvPr>
          <p:cNvSpPr/>
          <p:nvPr/>
        </p:nvSpPr>
        <p:spPr>
          <a:xfrm>
            <a:off x="384048" y="1920240"/>
            <a:ext cx="987552" cy="484632"/>
          </a:xfrm>
          <a:prstGeom prst="roundRect">
            <a:avLst>
              <a:gd name="adj" fmla="val 10000"/>
            </a:avLst>
          </a:prstGeom>
          <a:solidFill>
            <a:srgbClr val="5A6378"/>
          </a:solidFill>
          <a:ln w="12700" cap="flat" cmpd="sng" algn="ctr">
            <a:solidFill>
              <a:srgbClr val="5A6378"/>
            </a:solidFill>
            <a:prstDash val="solid"/>
            <a:round/>
          </a:ln>
          <a:effectLst>
            <a:outerShdw blurRad="39960" dist="23040" dir="5400000" rotWithShape="0">
              <a:srgbClr val="000000">
                <a:alpha val="35000"/>
              </a:srgbClr>
            </a:outerShdw>
          </a:effectLst>
        </p:spPr>
        <p:txBody>
          <a:bodyPr lIns="0" tIns="18288" rIns="0"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US" sz="12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1〜3日後</a:t>
            </a:r>
            <a:endParaRPr kumimoji="1" lang="en-US" sz="12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24" name="Rounded Rectangle 5">
            <a:extLst>
              <a:ext uri="{FF2B5EF4-FFF2-40B4-BE49-F238E27FC236}">
                <a16:creationId xmlns:a16="http://schemas.microsoft.com/office/drawing/2014/main" id="{5198DCAB-7FC4-526C-A3A3-5198706E25EB}"/>
              </a:ext>
            </a:extLst>
          </p:cNvPr>
          <p:cNvSpPr/>
          <p:nvPr/>
        </p:nvSpPr>
        <p:spPr>
          <a:xfrm>
            <a:off x="1426464" y="1920240"/>
            <a:ext cx="118872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新しい友だち</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28" name="Right Arrow 6">
            <a:extLst>
              <a:ext uri="{FF2B5EF4-FFF2-40B4-BE49-F238E27FC236}">
                <a16:creationId xmlns:a16="http://schemas.microsoft.com/office/drawing/2014/main" id="{56D5EAC7-41BC-0102-17C5-1A1D29A08452}"/>
              </a:ext>
            </a:extLst>
          </p:cNvPr>
          <p:cNvSpPr/>
          <p:nvPr/>
        </p:nvSpPr>
        <p:spPr>
          <a:xfrm>
            <a:off x="2615184" y="2089861"/>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32" name="Rounded Rectangle 7">
            <a:extLst>
              <a:ext uri="{FF2B5EF4-FFF2-40B4-BE49-F238E27FC236}">
                <a16:creationId xmlns:a16="http://schemas.microsoft.com/office/drawing/2014/main" id="{3BCB7237-62EF-96DD-1421-6E8CF76DFE5B}"/>
              </a:ext>
            </a:extLst>
          </p:cNvPr>
          <p:cNvSpPr/>
          <p:nvPr/>
        </p:nvSpPr>
        <p:spPr>
          <a:xfrm>
            <a:off x="2852928" y="1920240"/>
            <a:ext cx="146304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追加後に自動配信</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35" name="Right Arrow 8">
            <a:extLst>
              <a:ext uri="{FF2B5EF4-FFF2-40B4-BE49-F238E27FC236}">
                <a16:creationId xmlns:a16="http://schemas.microsoft.com/office/drawing/2014/main" id="{008B76BD-548C-0954-C979-339DBDCB8134}"/>
              </a:ext>
            </a:extLst>
          </p:cNvPr>
          <p:cNvSpPr/>
          <p:nvPr/>
        </p:nvSpPr>
        <p:spPr>
          <a:xfrm>
            <a:off x="4315968" y="2089861"/>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36" name="Rounded Rectangle 9">
            <a:extLst>
              <a:ext uri="{FF2B5EF4-FFF2-40B4-BE49-F238E27FC236}">
                <a16:creationId xmlns:a16="http://schemas.microsoft.com/office/drawing/2014/main" id="{09CEFD02-EB42-0055-DFEF-9D383DFC8903}"/>
              </a:ext>
            </a:extLst>
          </p:cNvPr>
          <p:cNvSpPr/>
          <p:nvPr/>
        </p:nvSpPr>
        <p:spPr>
          <a:xfrm>
            <a:off x="4553712" y="1920240"/>
            <a:ext cx="1591056"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仲介手数料のしくみ</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100円チェッカー</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39" name="Right Arrow 10">
            <a:extLst>
              <a:ext uri="{FF2B5EF4-FFF2-40B4-BE49-F238E27FC236}">
                <a16:creationId xmlns:a16="http://schemas.microsoft.com/office/drawing/2014/main" id="{FA4EA334-8F09-A106-E6EE-785881684EF3}"/>
              </a:ext>
            </a:extLst>
          </p:cNvPr>
          <p:cNvSpPr/>
          <p:nvPr/>
        </p:nvSpPr>
        <p:spPr>
          <a:xfrm>
            <a:off x="6144768" y="2089861"/>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40" name="Rounded Rectangle 11">
            <a:extLst>
              <a:ext uri="{FF2B5EF4-FFF2-40B4-BE49-F238E27FC236}">
                <a16:creationId xmlns:a16="http://schemas.microsoft.com/office/drawing/2014/main" id="{73C9C641-49D4-E528-B9D5-73D83C98C60E}"/>
              </a:ext>
            </a:extLst>
          </p:cNvPr>
          <p:cNvSpPr/>
          <p:nvPr/>
        </p:nvSpPr>
        <p:spPr>
          <a:xfrm>
            <a:off x="6382512" y="1920240"/>
            <a:ext cx="1591056"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物件URLの送信</a:t>
            </a:r>
            <a:endParaRPr kumimoji="1" lang="en-US" sz="12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43" name="Right Arrow 12">
            <a:extLst>
              <a:ext uri="{FF2B5EF4-FFF2-40B4-BE49-F238E27FC236}">
                <a16:creationId xmlns:a16="http://schemas.microsoft.com/office/drawing/2014/main" id="{23CD0EDC-7CF2-5430-7943-EC5B2618609B}"/>
              </a:ext>
            </a:extLst>
          </p:cNvPr>
          <p:cNvSpPr/>
          <p:nvPr/>
        </p:nvSpPr>
        <p:spPr>
          <a:xfrm>
            <a:off x="7973568" y="2089861"/>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44" name="Rounded Rectangle 13">
            <a:extLst>
              <a:ext uri="{FF2B5EF4-FFF2-40B4-BE49-F238E27FC236}">
                <a16:creationId xmlns:a16="http://schemas.microsoft.com/office/drawing/2014/main" id="{361BBFC9-4B3C-4E5F-E218-C98B004A0A03}"/>
              </a:ext>
            </a:extLst>
          </p:cNvPr>
          <p:cNvSpPr/>
          <p:nvPr/>
        </p:nvSpPr>
        <p:spPr>
          <a:xfrm>
            <a:off x="8211312" y="1920240"/>
            <a:ext cx="1298448" cy="484632"/>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US" sz="12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問い合わせへ</a:t>
            </a:r>
            <a:endParaRPr kumimoji="1" lang="en-US" sz="12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48" name="Rounded Rectangle 14">
            <a:extLst>
              <a:ext uri="{FF2B5EF4-FFF2-40B4-BE49-F238E27FC236}">
                <a16:creationId xmlns:a16="http://schemas.microsoft.com/office/drawing/2014/main" id="{9CB10698-B82C-A164-346B-73E075B02AD4}"/>
              </a:ext>
            </a:extLst>
          </p:cNvPr>
          <p:cNvSpPr/>
          <p:nvPr/>
        </p:nvSpPr>
        <p:spPr>
          <a:xfrm>
            <a:off x="384048" y="2468880"/>
            <a:ext cx="987552" cy="484632"/>
          </a:xfrm>
          <a:prstGeom prst="roundRect">
            <a:avLst>
              <a:gd name="adj" fmla="val 10000"/>
            </a:avLst>
          </a:prstGeom>
          <a:solidFill>
            <a:srgbClr val="5A6378"/>
          </a:solidFill>
          <a:ln w="12700" cap="flat" cmpd="sng" algn="ctr">
            <a:solidFill>
              <a:srgbClr val="5A6378"/>
            </a:solidFill>
            <a:prstDash val="solid"/>
            <a:round/>
          </a:ln>
          <a:effectLst>
            <a:outerShdw blurRad="39960" dist="23040" dir="5400000" rotWithShape="0">
              <a:srgbClr val="000000">
                <a:alpha val="35000"/>
              </a:srgbClr>
            </a:outerShdw>
          </a:effectLst>
        </p:spPr>
        <p:txBody>
          <a:bodyPr lIns="0" tIns="18288" rIns="0"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US" sz="12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4〜7日後</a:t>
            </a:r>
            <a:endParaRPr kumimoji="1" lang="en-US" sz="12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49" name="Rounded Rectangle 15">
            <a:extLst>
              <a:ext uri="{FF2B5EF4-FFF2-40B4-BE49-F238E27FC236}">
                <a16:creationId xmlns:a16="http://schemas.microsoft.com/office/drawing/2014/main" id="{B8D5CDAE-53E5-B8C0-A243-DFA2FF1E285D}"/>
              </a:ext>
            </a:extLst>
          </p:cNvPr>
          <p:cNvSpPr/>
          <p:nvPr/>
        </p:nvSpPr>
        <p:spPr>
          <a:xfrm>
            <a:off x="1426464" y="2468880"/>
            <a:ext cx="118872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新しい友だち</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51" name="Right Arrow 16">
            <a:extLst>
              <a:ext uri="{FF2B5EF4-FFF2-40B4-BE49-F238E27FC236}">
                <a16:creationId xmlns:a16="http://schemas.microsoft.com/office/drawing/2014/main" id="{A9BC8A93-9C1A-ECD2-C6F9-6924AD85B604}"/>
              </a:ext>
            </a:extLst>
          </p:cNvPr>
          <p:cNvSpPr/>
          <p:nvPr/>
        </p:nvSpPr>
        <p:spPr>
          <a:xfrm>
            <a:off x="2615184" y="2638501"/>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52" name="Rounded Rectangle 17">
            <a:extLst>
              <a:ext uri="{FF2B5EF4-FFF2-40B4-BE49-F238E27FC236}">
                <a16:creationId xmlns:a16="http://schemas.microsoft.com/office/drawing/2014/main" id="{D8B4E446-E275-936B-B44B-6691FD32530B}"/>
              </a:ext>
            </a:extLst>
          </p:cNvPr>
          <p:cNvSpPr/>
          <p:nvPr/>
        </p:nvSpPr>
        <p:spPr>
          <a:xfrm>
            <a:off x="2852928" y="2468880"/>
            <a:ext cx="146304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追加後に自動配信</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53" name="Right Arrow 18">
            <a:extLst>
              <a:ext uri="{FF2B5EF4-FFF2-40B4-BE49-F238E27FC236}">
                <a16:creationId xmlns:a16="http://schemas.microsoft.com/office/drawing/2014/main" id="{06716D1B-7F7E-7898-6F00-48097C5F9A38}"/>
              </a:ext>
            </a:extLst>
          </p:cNvPr>
          <p:cNvSpPr/>
          <p:nvPr/>
        </p:nvSpPr>
        <p:spPr>
          <a:xfrm>
            <a:off x="4315968" y="2638501"/>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55" name="Rounded Rectangle 19">
            <a:extLst>
              <a:ext uri="{FF2B5EF4-FFF2-40B4-BE49-F238E27FC236}">
                <a16:creationId xmlns:a16="http://schemas.microsoft.com/office/drawing/2014/main" id="{D9036C8E-7E1A-B405-4D1F-518E7A672572}"/>
              </a:ext>
            </a:extLst>
          </p:cNvPr>
          <p:cNvSpPr/>
          <p:nvPr/>
        </p:nvSpPr>
        <p:spPr>
          <a:xfrm>
            <a:off x="4553712" y="2468880"/>
            <a:ext cx="1591056"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ポータルでの探し方</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内見済みでも相談可</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56" name="Right Arrow 20">
            <a:extLst>
              <a:ext uri="{FF2B5EF4-FFF2-40B4-BE49-F238E27FC236}">
                <a16:creationId xmlns:a16="http://schemas.microsoft.com/office/drawing/2014/main" id="{1B03BE52-B246-1655-43EB-2C40BC8F49D6}"/>
              </a:ext>
            </a:extLst>
          </p:cNvPr>
          <p:cNvSpPr/>
          <p:nvPr/>
        </p:nvSpPr>
        <p:spPr>
          <a:xfrm>
            <a:off x="6144768" y="2638501"/>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57" name="Rounded Rectangle 21">
            <a:extLst>
              <a:ext uri="{FF2B5EF4-FFF2-40B4-BE49-F238E27FC236}">
                <a16:creationId xmlns:a16="http://schemas.microsoft.com/office/drawing/2014/main" id="{A3BCEB8B-56A5-06DD-85B0-C5A0E5F546DF}"/>
              </a:ext>
            </a:extLst>
          </p:cNvPr>
          <p:cNvSpPr/>
          <p:nvPr/>
        </p:nvSpPr>
        <p:spPr>
          <a:xfrm>
            <a:off x="6382512" y="2468880"/>
            <a:ext cx="1591056"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比較中の方の後押し</a:t>
            </a:r>
            <a:endParaRPr kumimoji="1" lang="en-US" sz="12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59" name="Right Arrow 22">
            <a:extLst>
              <a:ext uri="{FF2B5EF4-FFF2-40B4-BE49-F238E27FC236}">
                <a16:creationId xmlns:a16="http://schemas.microsoft.com/office/drawing/2014/main" id="{827C345C-6C2F-50EC-99EE-5E2A36FAA495}"/>
              </a:ext>
            </a:extLst>
          </p:cNvPr>
          <p:cNvSpPr/>
          <p:nvPr/>
        </p:nvSpPr>
        <p:spPr>
          <a:xfrm>
            <a:off x="7973568" y="2638501"/>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60" name="Rounded Rectangle 23">
            <a:extLst>
              <a:ext uri="{FF2B5EF4-FFF2-40B4-BE49-F238E27FC236}">
                <a16:creationId xmlns:a16="http://schemas.microsoft.com/office/drawing/2014/main" id="{6A54A830-3BF0-B09C-1E08-7BE7371AB39F}"/>
              </a:ext>
            </a:extLst>
          </p:cNvPr>
          <p:cNvSpPr/>
          <p:nvPr/>
        </p:nvSpPr>
        <p:spPr>
          <a:xfrm>
            <a:off x="8211312" y="2468880"/>
            <a:ext cx="1298448" cy="484632"/>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US" sz="12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問い合わせへ</a:t>
            </a:r>
            <a:endParaRPr kumimoji="1" lang="en-US" sz="12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61" name="Rounded Rectangle 24">
            <a:extLst>
              <a:ext uri="{FF2B5EF4-FFF2-40B4-BE49-F238E27FC236}">
                <a16:creationId xmlns:a16="http://schemas.microsoft.com/office/drawing/2014/main" id="{02EC47B3-BB1D-F1C6-D8FB-AFF6474BEE45}"/>
              </a:ext>
            </a:extLst>
          </p:cNvPr>
          <p:cNvSpPr/>
          <p:nvPr/>
        </p:nvSpPr>
        <p:spPr>
          <a:xfrm>
            <a:off x="384048" y="3017520"/>
            <a:ext cx="987552" cy="484632"/>
          </a:xfrm>
          <a:prstGeom prst="roundRect">
            <a:avLst>
              <a:gd name="adj" fmla="val 10000"/>
            </a:avLst>
          </a:prstGeom>
          <a:solidFill>
            <a:srgbClr val="5A6378"/>
          </a:solidFill>
          <a:ln w="12700" cap="flat" cmpd="sng" algn="ctr">
            <a:solidFill>
              <a:srgbClr val="5A6378"/>
            </a:solidFill>
            <a:prstDash val="solid"/>
            <a:round/>
          </a:ln>
          <a:effectLst>
            <a:outerShdw blurRad="39960" dist="23040" dir="5400000" rotWithShape="0">
              <a:srgbClr val="000000">
                <a:alpha val="35000"/>
              </a:srgbClr>
            </a:outerShdw>
          </a:effectLst>
        </p:spPr>
        <p:txBody>
          <a:bodyPr lIns="0" tIns="18288" rIns="0"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US" sz="12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9〜14日後</a:t>
            </a:r>
            <a:endParaRPr kumimoji="1" lang="en-US" sz="12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63" name="Rounded Rectangle 25">
            <a:extLst>
              <a:ext uri="{FF2B5EF4-FFF2-40B4-BE49-F238E27FC236}">
                <a16:creationId xmlns:a16="http://schemas.microsoft.com/office/drawing/2014/main" id="{9B380151-0E5F-2493-D534-E10C05966FAF}"/>
              </a:ext>
            </a:extLst>
          </p:cNvPr>
          <p:cNvSpPr/>
          <p:nvPr/>
        </p:nvSpPr>
        <p:spPr>
          <a:xfrm>
            <a:off x="1426464" y="3017520"/>
            <a:ext cx="118872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新しい友だち</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64" name="Right Arrow 26">
            <a:extLst>
              <a:ext uri="{FF2B5EF4-FFF2-40B4-BE49-F238E27FC236}">
                <a16:creationId xmlns:a16="http://schemas.microsoft.com/office/drawing/2014/main" id="{3F6D6E42-09C5-022A-2DD9-A7A159007FA2}"/>
              </a:ext>
            </a:extLst>
          </p:cNvPr>
          <p:cNvSpPr/>
          <p:nvPr/>
        </p:nvSpPr>
        <p:spPr>
          <a:xfrm>
            <a:off x="2615184" y="3187141"/>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65" name="Rounded Rectangle 27">
            <a:extLst>
              <a:ext uri="{FF2B5EF4-FFF2-40B4-BE49-F238E27FC236}">
                <a16:creationId xmlns:a16="http://schemas.microsoft.com/office/drawing/2014/main" id="{19C1CD11-957A-BE24-A382-F4E7C2253757}"/>
              </a:ext>
            </a:extLst>
          </p:cNvPr>
          <p:cNvSpPr/>
          <p:nvPr/>
        </p:nvSpPr>
        <p:spPr>
          <a:xfrm>
            <a:off x="2852928" y="3017520"/>
            <a:ext cx="146304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追加後に自動配信</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67" name="Right Arrow 28">
            <a:extLst>
              <a:ext uri="{FF2B5EF4-FFF2-40B4-BE49-F238E27FC236}">
                <a16:creationId xmlns:a16="http://schemas.microsoft.com/office/drawing/2014/main" id="{544558A7-B034-6ECF-A05C-EAAB92FAB11F}"/>
              </a:ext>
            </a:extLst>
          </p:cNvPr>
          <p:cNvSpPr/>
          <p:nvPr/>
        </p:nvSpPr>
        <p:spPr>
          <a:xfrm>
            <a:off x="4315968" y="3187141"/>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68" name="Rounded Rectangle 29">
            <a:extLst>
              <a:ext uri="{FF2B5EF4-FFF2-40B4-BE49-F238E27FC236}">
                <a16:creationId xmlns:a16="http://schemas.microsoft.com/office/drawing/2014/main" id="{A2F3DEED-0432-5F2C-CBA1-390AA377A2E6}"/>
              </a:ext>
            </a:extLst>
          </p:cNvPr>
          <p:cNvSpPr/>
          <p:nvPr/>
        </p:nvSpPr>
        <p:spPr>
          <a:xfrm>
            <a:off x="4553712" y="3017520"/>
            <a:ext cx="1591056"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初期費用の交渉</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入居までの流れ</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69" name="Right Arrow 30">
            <a:extLst>
              <a:ext uri="{FF2B5EF4-FFF2-40B4-BE49-F238E27FC236}">
                <a16:creationId xmlns:a16="http://schemas.microsoft.com/office/drawing/2014/main" id="{EBF3599F-C0CE-A27A-B94E-335FBD85F9D6}"/>
              </a:ext>
            </a:extLst>
          </p:cNvPr>
          <p:cNvSpPr/>
          <p:nvPr/>
        </p:nvSpPr>
        <p:spPr>
          <a:xfrm>
            <a:off x="6144768" y="3187141"/>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71" name="Rounded Rectangle 31">
            <a:extLst>
              <a:ext uri="{FF2B5EF4-FFF2-40B4-BE49-F238E27FC236}">
                <a16:creationId xmlns:a16="http://schemas.microsoft.com/office/drawing/2014/main" id="{078697A3-89B2-A9C1-66E6-41FD49ABD6E3}"/>
              </a:ext>
            </a:extLst>
          </p:cNvPr>
          <p:cNvSpPr/>
          <p:nvPr/>
        </p:nvSpPr>
        <p:spPr>
          <a:xfrm>
            <a:off x="6382512" y="3017520"/>
            <a:ext cx="1591056"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お申込みの後押し</a:t>
            </a:r>
            <a:endParaRPr kumimoji="1" lang="en-US" sz="12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72" name="Right Arrow 32">
            <a:extLst>
              <a:ext uri="{FF2B5EF4-FFF2-40B4-BE49-F238E27FC236}">
                <a16:creationId xmlns:a16="http://schemas.microsoft.com/office/drawing/2014/main" id="{BFFDEA0A-D313-0A7B-C4B5-7EAF684EFBB2}"/>
              </a:ext>
            </a:extLst>
          </p:cNvPr>
          <p:cNvSpPr/>
          <p:nvPr/>
        </p:nvSpPr>
        <p:spPr>
          <a:xfrm>
            <a:off x="7973568" y="3187141"/>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73" name="Rounded Rectangle 33">
            <a:extLst>
              <a:ext uri="{FF2B5EF4-FFF2-40B4-BE49-F238E27FC236}">
                <a16:creationId xmlns:a16="http://schemas.microsoft.com/office/drawing/2014/main" id="{2A867502-9B54-7125-E886-C2C81EC00AF2}"/>
              </a:ext>
            </a:extLst>
          </p:cNvPr>
          <p:cNvSpPr/>
          <p:nvPr/>
        </p:nvSpPr>
        <p:spPr>
          <a:xfrm>
            <a:off x="8211312" y="3017520"/>
            <a:ext cx="1298448" cy="484632"/>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US" sz="12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問い合わせへ</a:t>
            </a:r>
            <a:endParaRPr kumimoji="1" lang="en-US" sz="12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74" name="TextBox 34">
            <a:extLst>
              <a:ext uri="{FF2B5EF4-FFF2-40B4-BE49-F238E27FC236}">
                <a16:creationId xmlns:a16="http://schemas.microsoft.com/office/drawing/2014/main" id="{11F9C51C-A808-3BBD-B48C-F0C2707CC2F9}"/>
              </a:ext>
            </a:extLst>
          </p:cNvPr>
          <p:cNvSpPr/>
          <p:nvPr/>
        </p:nvSpPr>
        <p:spPr>
          <a:xfrm>
            <a:off x="384048" y="3712463"/>
            <a:ext cx="3657600" cy="292608"/>
          </a:xfrm>
          <a:prstGeom prst="rect">
            <a:avLst/>
          </a:prstGeom>
          <a:noFill/>
          <a:ln w="0">
            <a:noFill/>
          </a:ln>
          <a:effectLst/>
        </p:spPr>
        <p:txBody>
          <a:bodyPr lIns="45720" tIns="0" rIns="45720" bIns="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400" b="1" i="0" u="none" strike="noStrike" kern="1200" cap="none" spc="-1" normalizeH="0" baseline="0" noProof="0">
                <a:ln>
                  <a:noFill/>
                </a:ln>
                <a:solidFill>
                  <a:srgbClr val="1F2A5C"/>
                </a:solidFill>
                <a:effectLst/>
                <a:uLnTx/>
                <a:uFillTx/>
                <a:latin typeface="メイリオ" panose="020B0604030504040204" pitchFamily="50" charset="-128"/>
                <a:ea typeface="メイリオ" panose="020B0604030504040204" pitchFamily="50" charset="-128"/>
              </a:rPr>
              <a:t>[</a:t>
            </a:r>
            <a:r>
              <a:rPr kumimoji="1" lang="zh-CN" altLang="en-US" sz="1400" b="1" i="0" u="none" strike="noStrike" kern="1200" cap="none" spc="-1" normalizeH="0" baseline="0" noProof="0">
                <a:ln>
                  <a:noFill/>
                </a:ln>
                <a:solidFill>
                  <a:srgbClr val="1F2A5C"/>
                </a:solidFill>
                <a:effectLst/>
                <a:uLnTx/>
                <a:uFillTx/>
                <a:latin typeface="メイリオ" panose="020B0604030504040204" pitchFamily="50" charset="-128"/>
                <a:ea typeface="メイリオ" panose="020B0604030504040204" pitchFamily="50" charset="-128"/>
              </a:rPr>
              <a:t>企画配信</a:t>
            </a:r>
            <a:r>
              <a:rPr kumimoji="1" lang="en-US" sz="1400" b="1" i="0" u="none" strike="noStrike" kern="1200" cap="none" spc="-1" normalizeH="0" baseline="0" noProof="0">
                <a:ln>
                  <a:noFill/>
                </a:ln>
                <a:solidFill>
                  <a:srgbClr val="1F2A5C"/>
                </a:solidFill>
                <a:effectLst/>
                <a:uLnTx/>
                <a:uFillTx/>
                <a:latin typeface="メイリオ" panose="020B0604030504040204" pitchFamily="50" charset="-128"/>
                <a:ea typeface="メイリオ" panose="020B0604030504040204" pitchFamily="50" charset="-128"/>
              </a:rPr>
              <a:t>]</a:t>
            </a:r>
            <a:endParaRPr kumimoji="1" lang="en-US" sz="14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75" name="Rounded Rectangle 35">
            <a:extLst>
              <a:ext uri="{FF2B5EF4-FFF2-40B4-BE49-F238E27FC236}">
                <a16:creationId xmlns:a16="http://schemas.microsoft.com/office/drawing/2014/main" id="{6A926E60-66AB-C567-7F58-99FEB19885EE}"/>
              </a:ext>
            </a:extLst>
          </p:cNvPr>
          <p:cNvSpPr/>
          <p:nvPr/>
        </p:nvSpPr>
        <p:spPr>
          <a:xfrm>
            <a:off x="384048" y="4261104"/>
            <a:ext cx="173736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友だち全員</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76" name="Right Arrow 36">
            <a:extLst>
              <a:ext uri="{FF2B5EF4-FFF2-40B4-BE49-F238E27FC236}">
                <a16:creationId xmlns:a16="http://schemas.microsoft.com/office/drawing/2014/main" id="{C20201FF-BFEE-846F-C3DD-9E471A23D2FC}"/>
              </a:ext>
            </a:extLst>
          </p:cNvPr>
          <p:cNvSpPr/>
          <p:nvPr/>
        </p:nvSpPr>
        <p:spPr>
          <a:xfrm>
            <a:off x="2121408" y="4430725"/>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77" name="Rounded Rectangle 37">
            <a:extLst>
              <a:ext uri="{FF2B5EF4-FFF2-40B4-BE49-F238E27FC236}">
                <a16:creationId xmlns:a16="http://schemas.microsoft.com/office/drawing/2014/main" id="{236634AA-C36F-ABE3-F794-84C92819E608}"/>
              </a:ext>
            </a:extLst>
          </p:cNvPr>
          <p:cNvSpPr/>
          <p:nvPr/>
        </p:nvSpPr>
        <p:spPr>
          <a:xfrm>
            <a:off x="2359152" y="4261104"/>
            <a:ext cx="173736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絞り込みなし</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78" name="Right Arrow 38">
            <a:extLst>
              <a:ext uri="{FF2B5EF4-FFF2-40B4-BE49-F238E27FC236}">
                <a16:creationId xmlns:a16="http://schemas.microsoft.com/office/drawing/2014/main" id="{170D629B-83EF-9AC6-873A-697FE13DC4A2}"/>
              </a:ext>
            </a:extLst>
          </p:cNvPr>
          <p:cNvSpPr/>
          <p:nvPr/>
        </p:nvSpPr>
        <p:spPr>
          <a:xfrm>
            <a:off x="4096512" y="4430725"/>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79" name="Rounded Rectangle 39">
            <a:extLst>
              <a:ext uri="{FF2B5EF4-FFF2-40B4-BE49-F238E27FC236}">
                <a16:creationId xmlns:a16="http://schemas.microsoft.com/office/drawing/2014/main" id="{E3796355-9664-5C7F-5671-C39FCC4A6D3C}"/>
              </a:ext>
            </a:extLst>
          </p:cNvPr>
          <p:cNvSpPr/>
          <p:nvPr/>
        </p:nvSpPr>
        <p:spPr>
          <a:xfrm>
            <a:off x="4334256" y="4261104"/>
            <a:ext cx="164592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物件URLの送り方</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81" name="Right Arrow 40">
            <a:extLst>
              <a:ext uri="{FF2B5EF4-FFF2-40B4-BE49-F238E27FC236}">
                <a16:creationId xmlns:a16="http://schemas.microsoft.com/office/drawing/2014/main" id="{67427884-FB17-D7E5-1A96-30090962817E}"/>
              </a:ext>
            </a:extLst>
          </p:cNvPr>
          <p:cNvSpPr/>
          <p:nvPr/>
        </p:nvSpPr>
        <p:spPr>
          <a:xfrm>
            <a:off x="5980176" y="4430725"/>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83" name="Rounded Rectangle 41">
            <a:extLst>
              <a:ext uri="{FF2B5EF4-FFF2-40B4-BE49-F238E27FC236}">
                <a16:creationId xmlns:a16="http://schemas.microsoft.com/office/drawing/2014/main" id="{5DE7101C-6578-4E47-F6CF-55CDB2BC2F88}"/>
              </a:ext>
            </a:extLst>
          </p:cNvPr>
          <p:cNvSpPr/>
          <p:nvPr/>
        </p:nvSpPr>
        <p:spPr>
          <a:xfrm>
            <a:off x="6217920" y="4261104"/>
            <a:ext cx="1591056"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物件の送信</a:t>
            </a:r>
            <a:endParaRPr kumimoji="1" lang="en-US" sz="12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85" name="Right Arrow 42">
            <a:extLst>
              <a:ext uri="{FF2B5EF4-FFF2-40B4-BE49-F238E27FC236}">
                <a16:creationId xmlns:a16="http://schemas.microsoft.com/office/drawing/2014/main" id="{85034EAC-53F4-1D17-2A61-DBEF0411F280}"/>
              </a:ext>
            </a:extLst>
          </p:cNvPr>
          <p:cNvSpPr/>
          <p:nvPr/>
        </p:nvSpPr>
        <p:spPr>
          <a:xfrm>
            <a:off x="7808976" y="4430725"/>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87" name="Rounded Rectangle 43">
            <a:extLst>
              <a:ext uri="{FF2B5EF4-FFF2-40B4-BE49-F238E27FC236}">
                <a16:creationId xmlns:a16="http://schemas.microsoft.com/office/drawing/2014/main" id="{7C36E549-D437-EC3A-6A41-4F8B91A13FAD}"/>
              </a:ext>
            </a:extLst>
          </p:cNvPr>
          <p:cNvSpPr/>
          <p:nvPr/>
        </p:nvSpPr>
        <p:spPr>
          <a:xfrm>
            <a:off x="8046720" y="4261104"/>
            <a:ext cx="1463040" cy="484632"/>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US" sz="12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問い合わせへ</a:t>
            </a:r>
            <a:endParaRPr kumimoji="1" lang="en-US" sz="12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88" name="Rounded Rectangle 44">
            <a:extLst>
              <a:ext uri="{FF2B5EF4-FFF2-40B4-BE49-F238E27FC236}">
                <a16:creationId xmlns:a16="http://schemas.microsoft.com/office/drawing/2014/main" id="{3509AA31-8BB4-CD7E-42E1-9F6BB58ADDF2}"/>
              </a:ext>
            </a:extLst>
          </p:cNvPr>
          <p:cNvSpPr/>
          <p:nvPr/>
        </p:nvSpPr>
        <p:spPr>
          <a:xfrm>
            <a:off x="384048" y="4809744"/>
            <a:ext cx="173736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友だち全員</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89" name="Right Arrow 45">
            <a:extLst>
              <a:ext uri="{FF2B5EF4-FFF2-40B4-BE49-F238E27FC236}">
                <a16:creationId xmlns:a16="http://schemas.microsoft.com/office/drawing/2014/main" id="{2F08F878-E171-CBAF-5ACE-E97442C7CDAC}"/>
              </a:ext>
            </a:extLst>
          </p:cNvPr>
          <p:cNvSpPr/>
          <p:nvPr/>
        </p:nvSpPr>
        <p:spPr>
          <a:xfrm>
            <a:off x="2121408" y="4979365"/>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90" name="Rounded Rectangle 46">
            <a:extLst>
              <a:ext uri="{FF2B5EF4-FFF2-40B4-BE49-F238E27FC236}">
                <a16:creationId xmlns:a16="http://schemas.microsoft.com/office/drawing/2014/main" id="{4A9564DA-D72D-BE22-4B36-8B7397654E5B}"/>
              </a:ext>
            </a:extLst>
          </p:cNvPr>
          <p:cNvSpPr/>
          <p:nvPr/>
        </p:nvSpPr>
        <p:spPr>
          <a:xfrm>
            <a:off x="2359152" y="4809744"/>
            <a:ext cx="173736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絞り込みなし</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91" name="Right Arrow 47">
            <a:extLst>
              <a:ext uri="{FF2B5EF4-FFF2-40B4-BE49-F238E27FC236}">
                <a16:creationId xmlns:a16="http://schemas.microsoft.com/office/drawing/2014/main" id="{9EE3F565-D1FC-FAA4-FD0C-E10E03557E83}"/>
              </a:ext>
            </a:extLst>
          </p:cNvPr>
          <p:cNvSpPr/>
          <p:nvPr/>
        </p:nvSpPr>
        <p:spPr>
          <a:xfrm>
            <a:off x="4096512" y="4979365"/>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92" name="Rounded Rectangle 48">
            <a:extLst>
              <a:ext uri="{FF2B5EF4-FFF2-40B4-BE49-F238E27FC236}">
                <a16:creationId xmlns:a16="http://schemas.microsoft.com/office/drawing/2014/main" id="{67D2510F-50F4-0118-37C7-386991E5C2A3}"/>
              </a:ext>
            </a:extLst>
          </p:cNvPr>
          <p:cNvSpPr/>
          <p:nvPr/>
        </p:nvSpPr>
        <p:spPr>
          <a:xfrm>
            <a:off x="4334256" y="4809744"/>
            <a:ext cx="164592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初期費用の内訳</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（家賃10万円の例）</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93" name="Right Arrow 49">
            <a:extLst>
              <a:ext uri="{FF2B5EF4-FFF2-40B4-BE49-F238E27FC236}">
                <a16:creationId xmlns:a16="http://schemas.microsoft.com/office/drawing/2014/main" id="{3373337A-E65C-AE53-F9A5-2F7A6E336571}"/>
              </a:ext>
            </a:extLst>
          </p:cNvPr>
          <p:cNvSpPr/>
          <p:nvPr/>
        </p:nvSpPr>
        <p:spPr>
          <a:xfrm>
            <a:off x="5980176" y="4979365"/>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94" name="Rounded Rectangle 50">
            <a:extLst>
              <a:ext uri="{FF2B5EF4-FFF2-40B4-BE49-F238E27FC236}">
                <a16:creationId xmlns:a16="http://schemas.microsoft.com/office/drawing/2014/main" id="{7B2D9D92-DC6A-BA17-D3AB-9EEC29847B44}"/>
              </a:ext>
            </a:extLst>
          </p:cNvPr>
          <p:cNvSpPr/>
          <p:nvPr/>
        </p:nvSpPr>
        <p:spPr>
          <a:xfrm>
            <a:off x="6217920" y="4809744"/>
            <a:ext cx="1591056"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費用の不安を解消</a:t>
            </a:r>
            <a:endParaRPr kumimoji="1" lang="en-US" sz="12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95" name="Right Arrow 51">
            <a:extLst>
              <a:ext uri="{FF2B5EF4-FFF2-40B4-BE49-F238E27FC236}">
                <a16:creationId xmlns:a16="http://schemas.microsoft.com/office/drawing/2014/main" id="{7B273A5A-6485-DC58-FE9D-66E32064C6BA}"/>
              </a:ext>
            </a:extLst>
          </p:cNvPr>
          <p:cNvSpPr/>
          <p:nvPr/>
        </p:nvSpPr>
        <p:spPr>
          <a:xfrm>
            <a:off x="7808976" y="4979365"/>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96" name="Rounded Rectangle 52">
            <a:extLst>
              <a:ext uri="{FF2B5EF4-FFF2-40B4-BE49-F238E27FC236}">
                <a16:creationId xmlns:a16="http://schemas.microsoft.com/office/drawing/2014/main" id="{3E174E44-E11C-D8A6-8593-84B4BD852C3C}"/>
              </a:ext>
            </a:extLst>
          </p:cNvPr>
          <p:cNvSpPr/>
          <p:nvPr/>
        </p:nvSpPr>
        <p:spPr>
          <a:xfrm>
            <a:off x="8046720" y="4809744"/>
            <a:ext cx="1463040" cy="484632"/>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US" sz="12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問い合わせへ</a:t>
            </a:r>
            <a:endParaRPr kumimoji="1" lang="en-US" sz="12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97" name="Rounded Rectangle 53">
            <a:extLst>
              <a:ext uri="{FF2B5EF4-FFF2-40B4-BE49-F238E27FC236}">
                <a16:creationId xmlns:a16="http://schemas.microsoft.com/office/drawing/2014/main" id="{FE709356-918E-E7F2-F3E1-B4BD115559DF}"/>
              </a:ext>
            </a:extLst>
          </p:cNvPr>
          <p:cNvSpPr/>
          <p:nvPr/>
        </p:nvSpPr>
        <p:spPr>
          <a:xfrm>
            <a:off x="384048" y="5358384"/>
            <a:ext cx="173736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物件を送っていない方</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98" name="Right Arrow 54">
            <a:extLst>
              <a:ext uri="{FF2B5EF4-FFF2-40B4-BE49-F238E27FC236}">
                <a16:creationId xmlns:a16="http://schemas.microsoft.com/office/drawing/2014/main" id="{606E10D2-6C3B-CA37-E18B-DB4789958107}"/>
              </a:ext>
            </a:extLst>
          </p:cNvPr>
          <p:cNvSpPr/>
          <p:nvPr/>
        </p:nvSpPr>
        <p:spPr>
          <a:xfrm>
            <a:off x="2121408" y="5528005"/>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99" name="Rounded Rectangle 55">
            <a:extLst>
              <a:ext uri="{FF2B5EF4-FFF2-40B4-BE49-F238E27FC236}">
                <a16:creationId xmlns:a16="http://schemas.microsoft.com/office/drawing/2014/main" id="{20D02818-4FDF-B0AE-5F99-DD27442A6DD8}"/>
              </a:ext>
            </a:extLst>
          </p:cNvPr>
          <p:cNvSpPr/>
          <p:nvPr/>
        </p:nvSpPr>
        <p:spPr>
          <a:xfrm>
            <a:off x="2359152" y="5358384"/>
            <a:ext cx="173736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問い合わせ済みを除く</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（チャットタグ）</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00" name="Right Arrow 56">
            <a:extLst>
              <a:ext uri="{FF2B5EF4-FFF2-40B4-BE49-F238E27FC236}">
                <a16:creationId xmlns:a16="http://schemas.microsoft.com/office/drawing/2014/main" id="{98FBF640-C93B-3832-D8BC-6F2B63E4E050}"/>
              </a:ext>
            </a:extLst>
          </p:cNvPr>
          <p:cNvSpPr/>
          <p:nvPr/>
        </p:nvSpPr>
        <p:spPr>
          <a:xfrm>
            <a:off x="4096512" y="5528005"/>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01" name="Rounded Rectangle 57">
            <a:extLst>
              <a:ext uri="{FF2B5EF4-FFF2-40B4-BE49-F238E27FC236}">
                <a16:creationId xmlns:a16="http://schemas.microsoft.com/office/drawing/2014/main" id="{D8F5335A-6069-7376-BC09-FF796F2F08E2}"/>
              </a:ext>
            </a:extLst>
          </p:cNvPr>
          <p:cNvSpPr/>
          <p:nvPr/>
        </p:nvSpPr>
        <p:spPr>
          <a:xfrm>
            <a:off x="4334256" y="5358384"/>
            <a:ext cx="164592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内見済みでも相談可</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100円チェッカー</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02" name="Right Arrow 58">
            <a:extLst>
              <a:ext uri="{FF2B5EF4-FFF2-40B4-BE49-F238E27FC236}">
                <a16:creationId xmlns:a16="http://schemas.microsoft.com/office/drawing/2014/main" id="{6F22DD59-A692-BE78-98F2-2A69DB20C8D8}"/>
              </a:ext>
            </a:extLst>
          </p:cNvPr>
          <p:cNvSpPr/>
          <p:nvPr/>
        </p:nvSpPr>
        <p:spPr>
          <a:xfrm>
            <a:off x="5980176" y="5528005"/>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03" name="Rounded Rectangle 59">
            <a:extLst>
              <a:ext uri="{FF2B5EF4-FFF2-40B4-BE49-F238E27FC236}">
                <a16:creationId xmlns:a16="http://schemas.microsoft.com/office/drawing/2014/main" id="{332041F0-252C-90C7-821C-A7C25230B63D}"/>
              </a:ext>
            </a:extLst>
          </p:cNvPr>
          <p:cNvSpPr/>
          <p:nvPr/>
        </p:nvSpPr>
        <p:spPr>
          <a:xfrm>
            <a:off x="6217920" y="5358384"/>
            <a:ext cx="1591056"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物件の送信</a:t>
            </a:r>
            <a:endParaRPr kumimoji="1" lang="en-US" sz="12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04" name="Right Arrow 60">
            <a:extLst>
              <a:ext uri="{FF2B5EF4-FFF2-40B4-BE49-F238E27FC236}">
                <a16:creationId xmlns:a16="http://schemas.microsoft.com/office/drawing/2014/main" id="{D3B2D85C-2942-5837-41FA-4CDD86C50ADB}"/>
              </a:ext>
            </a:extLst>
          </p:cNvPr>
          <p:cNvSpPr/>
          <p:nvPr/>
        </p:nvSpPr>
        <p:spPr>
          <a:xfrm>
            <a:off x="7808976" y="5528005"/>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05" name="Rounded Rectangle 61">
            <a:extLst>
              <a:ext uri="{FF2B5EF4-FFF2-40B4-BE49-F238E27FC236}">
                <a16:creationId xmlns:a16="http://schemas.microsoft.com/office/drawing/2014/main" id="{3FE6E2F3-B8DC-0BC9-E506-DAC09607D1F6}"/>
              </a:ext>
            </a:extLst>
          </p:cNvPr>
          <p:cNvSpPr/>
          <p:nvPr/>
        </p:nvSpPr>
        <p:spPr>
          <a:xfrm>
            <a:off x="8046720" y="5358384"/>
            <a:ext cx="1463040" cy="484632"/>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US" sz="12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問い合わせへ</a:t>
            </a:r>
            <a:endParaRPr kumimoji="1" lang="en-US" sz="12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06" name="Rounded Rectangle 62">
            <a:extLst>
              <a:ext uri="{FF2B5EF4-FFF2-40B4-BE49-F238E27FC236}">
                <a16:creationId xmlns:a16="http://schemas.microsoft.com/office/drawing/2014/main" id="{31BC816E-863E-27AE-E5EB-DA22ED19D939}"/>
              </a:ext>
            </a:extLst>
          </p:cNvPr>
          <p:cNvSpPr/>
          <p:nvPr/>
        </p:nvSpPr>
        <p:spPr>
          <a:xfrm>
            <a:off x="384048" y="5907024"/>
            <a:ext cx="173736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友だち全員</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07" name="Right Arrow 63">
            <a:extLst>
              <a:ext uri="{FF2B5EF4-FFF2-40B4-BE49-F238E27FC236}">
                <a16:creationId xmlns:a16="http://schemas.microsoft.com/office/drawing/2014/main" id="{AAF9729B-F573-AD53-94AA-E5CCE5ED8ED4}"/>
              </a:ext>
            </a:extLst>
          </p:cNvPr>
          <p:cNvSpPr/>
          <p:nvPr/>
        </p:nvSpPr>
        <p:spPr>
          <a:xfrm>
            <a:off x="2121408" y="6076645"/>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08" name="Rounded Rectangle 64">
            <a:extLst>
              <a:ext uri="{FF2B5EF4-FFF2-40B4-BE49-F238E27FC236}">
                <a16:creationId xmlns:a16="http://schemas.microsoft.com/office/drawing/2014/main" id="{1EA392E1-BB3D-0558-5DF5-133DB92CF9ED}"/>
              </a:ext>
            </a:extLst>
          </p:cNvPr>
          <p:cNvSpPr/>
          <p:nvPr/>
        </p:nvSpPr>
        <p:spPr>
          <a:xfrm>
            <a:off x="2359152" y="5907024"/>
            <a:ext cx="173736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絞り込みなし</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09" name="Right Arrow 65">
            <a:extLst>
              <a:ext uri="{FF2B5EF4-FFF2-40B4-BE49-F238E27FC236}">
                <a16:creationId xmlns:a16="http://schemas.microsoft.com/office/drawing/2014/main" id="{22FC96E8-D408-8B2D-C299-8DDA239E000C}"/>
              </a:ext>
            </a:extLst>
          </p:cNvPr>
          <p:cNvSpPr/>
          <p:nvPr/>
        </p:nvSpPr>
        <p:spPr>
          <a:xfrm>
            <a:off x="4096512" y="6076645"/>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10" name="Rounded Rectangle 66">
            <a:extLst>
              <a:ext uri="{FF2B5EF4-FFF2-40B4-BE49-F238E27FC236}">
                <a16:creationId xmlns:a16="http://schemas.microsoft.com/office/drawing/2014/main" id="{D14896B7-B487-01EB-8E6B-7B72174B76FF}"/>
              </a:ext>
            </a:extLst>
          </p:cNvPr>
          <p:cNvSpPr/>
          <p:nvPr/>
        </p:nvSpPr>
        <p:spPr>
          <a:xfrm>
            <a:off x="4334256" y="5907024"/>
            <a:ext cx="164592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お申込みの準備</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入居までの流れ</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11" name="Right Arrow 67">
            <a:extLst>
              <a:ext uri="{FF2B5EF4-FFF2-40B4-BE49-F238E27FC236}">
                <a16:creationId xmlns:a16="http://schemas.microsoft.com/office/drawing/2014/main" id="{8B1B518E-2F2F-8BE7-1CB9-F1842F99BC56}"/>
              </a:ext>
            </a:extLst>
          </p:cNvPr>
          <p:cNvSpPr/>
          <p:nvPr/>
        </p:nvSpPr>
        <p:spPr>
          <a:xfrm>
            <a:off x="5980176" y="6076645"/>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12" name="Rounded Rectangle 68">
            <a:extLst>
              <a:ext uri="{FF2B5EF4-FFF2-40B4-BE49-F238E27FC236}">
                <a16:creationId xmlns:a16="http://schemas.microsoft.com/office/drawing/2014/main" id="{B4B9C4DC-7417-5001-BF5A-F0E11BF15352}"/>
              </a:ext>
            </a:extLst>
          </p:cNvPr>
          <p:cNvSpPr/>
          <p:nvPr/>
        </p:nvSpPr>
        <p:spPr>
          <a:xfrm>
            <a:off x="6217920" y="5907024"/>
            <a:ext cx="1591056"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お申込みの後押し</a:t>
            </a:r>
            <a:endParaRPr kumimoji="1" lang="en-US" sz="12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13" name="Right Arrow 69">
            <a:extLst>
              <a:ext uri="{FF2B5EF4-FFF2-40B4-BE49-F238E27FC236}">
                <a16:creationId xmlns:a16="http://schemas.microsoft.com/office/drawing/2014/main" id="{D1BC55EB-7607-A91E-7382-CF2D4B9D7783}"/>
              </a:ext>
            </a:extLst>
          </p:cNvPr>
          <p:cNvSpPr/>
          <p:nvPr/>
        </p:nvSpPr>
        <p:spPr>
          <a:xfrm>
            <a:off x="7808976" y="6076645"/>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14" name="Rounded Rectangle 70">
            <a:extLst>
              <a:ext uri="{FF2B5EF4-FFF2-40B4-BE49-F238E27FC236}">
                <a16:creationId xmlns:a16="http://schemas.microsoft.com/office/drawing/2014/main" id="{74629097-D7F7-19A3-656B-8B02BB3A10F1}"/>
              </a:ext>
            </a:extLst>
          </p:cNvPr>
          <p:cNvSpPr/>
          <p:nvPr/>
        </p:nvSpPr>
        <p:spPr>
          <a:xfrm>
            <a:off x="8046720" y="5907024"/>
            <a:ext cx="1463040" cy="484632"/>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US" sz="12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問い合わせへ</a:t>
            </a:r>
            <a:endParaRPr kumimoji="1" lang="en-US" sz="12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2198953-22C2-94BD-F872-5AE92CDDCDF0}"/>
              </a:ext>
            </a:extLst>
          </p:cNvPr>
          <p:cNvSpPr txBox="1"/>
          <p:nvPr/>
        </p:nvSpPr>
        <p:spPr>
          <a:xfrm>
            <a:off x="1426464" y="1664208"/>
            <a:ext cx="1188720" cy="256032"/>
          </a:xfrm>
          <a:prstGeom prst="rect">
            <a:avLst/>
          </a:prstGeom>
          <a:noFill/>
        </p:spPr>
        <p:txBody>
          <a:bodyPr wrap="square" lIns="18288" tIns="0" rIns="18288" bIns="18288"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1"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rPr>
              <a:t>ターゲット層</a:t>
            </a:r>
            <a:endParaRPr kumimoji="1" lang="en-US" altLang="ja-JP"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45872C22-E4CF-8D77-4619-56AE8E363A15}"/>
              </a:ext>
            </a:extLst>
          </p:cNvPr>
          <p:cNvSpPr txBox="1"/>
          <p:nvPr/>
        </p:nvSpPr>
        <p:spPr>
          <a:xfrm>
            <a:off x="2852928" y="1664208"/>
            <a:ext cx="1463040" cy="256032"/>
          </a:xfrm>
          <a:prstGeom prst="rect">
            <a:avLst/>
          </a:prstGeom>
          <a:noFill/>
        </p:spPr>
        <p:txBody>
          <a:bodyPr wrap="square" lIns="18288" tIns="0" rIns="18288" bIns="18288"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セグメント方法</a:t>
            </a:r>
            <a:endParaRPr kumimoji="1" lang="en-US" altLang="ja-JP"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4B495D1F-2E7E-91CE-AA55-67D1AED0FD52}"/>
              </a:ext>
            </a:extLst>
          </p:cNvPr>
          <p:cNvSpPr txBox="1"/>
          <p:nvPr/>
        </p:nvSpPr>
        <p:spPr>
          <a:xfrm>
            <a:off x="4553712" y="1664208"/>
            <a:ext cx="1591056" cy="256032"/>
          </a:xfrm>
          <a:prstGeom prst="rect">
            <a:avLst/>
          </a:prstGeom>
          <a:noFill/>
        </p:spPr>
        <p:txBody>
          <a:bodyPr wrap="square" lIns="18288" tIns="0" rIns="18288" bIns="18288"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1"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rPr>
              <a:t>配信コンテンツ</a:t>
            </a:r>
            <a:endParaRPr kumimoji="1" lang="en-US" altLang="ja-JP"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2CA8F8DC-BFE6-04E9-FE02-BB98C2602D22}"/>
              </a:ext>
            </a:extLst>
          </p:cNvPr>
          <p:cNvSpPr txBox="1"/>
          <p:nvPr/>
        </p:nvSpPr>
        <p:spPr>
          <a:xfrm>
            <a:off x="6382512" y="1664208"/>
            <a:ext cx="1591056" cy="256032"/>
          </a:xfrm>
          <a:prstGeom prst="rect">
            <a:avLst/>
          </a:prstGeom>
          <a:noFill/>
        </p:spPr>
        <p:txBody>
          <a:bodyPr wrap="square" lIns="18288" tIns="0" rIns="18288" bIns="18288"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1" normalizeH="0" baseline="0" noProof="0" dirty="0">
                <a:ln>
                  <a:noFill/>
                </a:ln>
                <a:solidFill>
                  <a:srgbClr val="FF0000"/>
                </a:solidFill>
                <a:effectLst/>
                <a:uLnTx/>
                <a:uFillTx/>
                <a:latin typeface="メイリオ" panose="020B0604030504040204" pitchFamily="50" charset="-128"/>
                <a:ea typeface="メイリオ" panose="020B0604030504040204" pitchFamily="50" charset="-128"/>
              </a:rPr>
              <a:t>ねらい</a:t>
            </a:r>
            <a:endParaRPr kumimoji="1" lang="en-US" altLang="ja-JP" sz="1200" b="0" i="0" u="none" strike="noStrike" kern="1200" cap="none" spc="-1" normalizeH="0" baseline="0" noProof="0" dirty="0">
              <a:ln>
                <a:noFill/>
              </a:ln>
              <a:solidFill>
                <a:srgbClr val="FF0000"/>
              </a:solidFill>
              <a:effectLst/>
              <a:uLnTx/>
              <a:uFillTx/>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3AC25444-1EE4-FD71-4FB1-84DD26B16711}"/>
              </a:ext>
            </a:extLst>
          </p:cNvPr>
          <p:cNvSpPr txBox="1"/>
          <p:nvPr/>
        </p:nvSpPr>
        <p:spPr>
          <a:xfrm>
            <a:off x="384047" y="4005072"/>
            <a:ext cx="1737360" cy="256032"/>
          </a:xfrm>
          <a:prstGeom prst="rect">
            <a:avLst/>
          </a:prstGeom>
          <a:noFill/>
        </p:spPr>
        <p:txBody>
          <a:bodyPr wrap="square" lIns="18288" tIns="0" rIns="18288" bIns="18288"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1"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rPr>
              <a:t>ターゲット層</a:t>
            </a:r>
            <a:endParaRPr kumimoji="1" lang="en-US" altLang="ja-JP"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D4227666-88BC-C20C-B62E-C7059CBE8461}"/>
              </a:ext>
            </a:extLst>
          </p:cNvPr>
          <p:cNvSpPr txBox="1"/>
          <p:nvPr/>
        </p:nvSpPr>
        <p:spPr>
          <a:xfrm>
            <a:off x="2359152" y="4005072"/>
            <a:ext cx="1737360" cy="256032"/>
          </a:xfrm>
          <a:prstGeom prst="rect">
            <a:avLst/>
          </a:prstGeom>
          <a:noFill/>
        </p:spPr>
        <p:txBody>
          <a:bodyPr wrap="square" lIns="18288" tIns="0" rIns="18288" bIns="18288"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セグメント方法</a:t>
            </a:r>
            <a:endParaRPr kumimoji="1" lang="en-US" altLang="ja-JP"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869552FF-EFA0-03CB-9D4F-8653B4E42388}"/>
              </a:ext>
            </a:extLst>
          </p:cNvPr>
          <p:cNvSpPr txBox="1"/>
          <p:nvPr/>
        </p:nvSpPr>
        <p:spPr>
          <a:xfrm>
            <a:off x="4334256" y="4005072"/>
            <a:ext cx="1645920" cy="256032"/>
          </a:xfrm>
          <a:prstGeom prst="rect">
            <a:avLst/>
          </a:prstGeom>
          <a:noFill/>
        </p:spPr>
        <p:txBody>
          <a:bodyPr wrap="square" lIns="18288" tIns="0" rIns="18288" bIns="18288"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1"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rPr>
              <a:t>配信コンテンツ</a:t>
            </a:r>
            <a:endParaRPr kumimoji="1" lang="en-US" altLang="ja-JP"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59C40FD9-9474-881D-DA53-5CA81AAC4510}"/>
              </a:ext>
            </a:extLst>
          </p:cNvPr>
          <p:cNvSpPr txBox="1"/>
          <p:nvPr/>
        </p:nvSpPr>
        <p:spPr>
          <a:xfrm>
            <a:off x="6217920" y="4005072"/>
            <a:ext cx="1591056" cy="256032"/>
          </a:xfrm>
          <a:prstGeom prst="rect">
            <a:avLst/>
          </a:prstGeom>
          <a:noFill/>
        </p:spPr>
        <p:txBody>
          <a:bodyPr wrap="square" lIns="18288" tIns="0" rIns="18288" bIns="18288"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1" normalizeH="0" baseline="0" noProof="0" dirty="0">
                <a:ln>
                  <a:noFill/>
                </a:ln>
                <a:solidFill>
                  <a:srgbClr val="FF0000"/>
                </a:solidFill>
                <a:effectLst/>
                <a:uLnTx/>
                <a:uFillTx/>
                <a:latin typeface="メイリオ" panose="020B0604030504040204" pitchFamily="50" charset="-128"/>
                <a:ea typeface="メイリオ" panose="020B0604030504040204" pitchFamily="50" charset="-128"/>
              </a:rPr>
              <a:t>ねらい</a:t>
            </a:r>
            <a:endParaRPr kumimoji="1" lang="en-US" altLang="ja-JP" sz="1200" b="0" i="0" u="none" strike="noStrike" kern="1200" cap="none" spc="-1" normalizeH="0" baseline="0" noProof="0" dirty="0">
              <a:ln>
                <a:noFill/>
              </a:ln>
              <a:solidFill>
                <a:srgbClr val="FF0000"/>
              </a:solidFill>
              <a:effectLst/>
              <a:uLnTx/>
              <a:uFillTx/>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519451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7C1D4-87AF-B047-12E0-A214281205E2}"/>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23771C4-6264-E0B7-0A8B-36CFE432F84D}"/>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LINEによる問い合わせ対応の効率化</a:t>
            </a:r>
            <a:endParaRPr sz="1600" b="1" dirty="0">
              <a:solidFill>
                <a:srgbClr val="002060"/>
              </a:solidFill>
              <a:latin typeface="Meiryo"/>
              <a:ea typeface="Meiryo"/>
              <a:cs typeface="Meiryo"/>
              <a:sym typeface="Meiryo"/>
            </a:endParaRPr>
          </a:p>
        </p:txBody>
      </p:sp>
      <p:sp>
        <p:nvSpPr>
          <p:cNvPr id="2" name="TextBox 2">
            <a:extLst>
              <a:ext uri="{FF2B5EF4-FFF2-40B4-BE49-F238E27FC236}">
                <a16:creationId xmlns:a16="http://schemas.microsoft.com/office/drawing/2014/main" id="{A48C561C-B672-4D7C-E0CB-20192CDA08E0}"/>
              </a:ext>
            </a:extLst>
          </p:cNvPr>
          <p:cNvSpPr/>
          <p:nvPr/>
        </p:nvSpPr>
        <p:spPr>
          <a:xfrm>
            <a:off x="429768" y="896112"/>
            <a:ext cx="9052560" cy="566928"/>
          </a:xfrm>
          <a:prstGeom prst="rect">
            <a:avLst/>
          </a:prstGeom>
          <a:noFill/>
          <a:ln w="0">
            <a:noFill/>
          </a:ln>
          <a:effectLst/>
        </p:spPr>
        <p:txBody>
          <a:bodyPr lIns="90000" tIns="45000" rIns="90000" bIns="45000"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400" b="0" i="0" u="none" strike="noStrike" kern="1200" cap="none" spc="-1" normalizeH="0" baseline="0" noProof="0">
                <a:ln>
                  <a:noFill/>
                </a:ln>
                <a:solidFill>
                  <a:srgbClr val="5A6378"/>
                </a:solidFill>
                <a:effectLst/>
                <a:uLnTx/>
                <a:uFillTx/>
                <a:latin typeface="メイリオ" panose="020B0604030504040204" pitchFamily="50" charset="-128"/>
                <a:ea typeface="メイリオ" panose="020B0604030504040204" pitchFamily="50" charset="-128"/>
              </a:rPr>
              <a:t>LINEの機能で、問い合わせへの一次対応と対応状況の管理を効率化します。</a:t>
            </a:r>
            <a:endParaRPr kumimoji="1" lang="en-US" sz="14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400" b="1" i="0" u="none" strike="noStrike" kern="1200" cap="none" spc="-1" normalizeH="0" baseline="0" noProof="0">
                <a:ln>
                  <a:noFill/>
                </a:ln>
                <a:solidFill>
                  <a:srgbClr val="5A6378"/>
                </a:solidFill>
                <a:effectLst/>
                <a:uLnTx/>
                <a:uFillTx/>
                <a:latin typeface="メイリオ" panose="020B0604030504040204" pitchFamily="50" charset="-128"/>
                <a:ea typeface="メイリオ" panose="020B0604030504040204" pitchFamily="50" charset="-128"/>
              </a:rPr>
              <a:t>お客様への個別対応はあらうち様、仕組みづくりと改善支援は当社が担当します。</a:t>
            </a:r>
            <a:endParaRPr kumimoji="1" lang="en-US" sz="14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5" name="Rounded Rectangle 3">
            <a:extLst>
              <a:ext uri="{FF2B5EF4-FFF2-40B4-BE49-F238E27FC236}">
                <a16:creationId xmlns:a16="http://schemas.microsoft.com/office/drawing/2014/main" id="{48C161C3-997D-031F-FF20-5370159140C1}"/>
              </a:ext>
            </a:extLst>
          </p:cNvPr>
          <p:cNvSpPr/>
          <p:nvPr/>
        </p:nvSpPr>
        <p:spPr>
          <a:xfrm>
            <a:off x="429768" y="1481328"/>
            <a:ext cx="2788920" cy="411480"/>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16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① 自動応答</a:t>
            </a:r>
            <a:endParaRPr kumimoji="1" lang="en-US" sz="16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6" name="Rounded Rectangle 4">
            <a:extLst>
              <a:ext uri="{FF2B5EF4-FFF2-40B4-BE49-F238E27FC236}">
                <a16:creationId xmlns:a16="http://schemas.microsoft.com/office/drawing/2014/main" id="{6140F136-C536-8CE1-4ABC-27C53A6C98F3}"/>
              </a:ext>
            </a:extLst>
          </p:cNvPr>
          <p:cNvSpPr/>
          <p:nvPr/>
        </p:nvSpPr>
        <p:spPr>
          <a:xfrm>
            <a:off x="429768" y="1938528"/>
            <a:ext cx="2788920" cy="2761488"/>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wrap="square" lIns="91440" tIns="91440" rIns="73152" bIns="54864"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1" sz="1400" b="1" i="0" u="none" strike="noStrike" kern="1200" cap="none" spc="0" normalizeH="0" baseline="0" noProof="0">
                <a:ln>
                  <a:noFill/>
                </a:ln>
                <a:solidFill>
                  <a:srgbClr val="1F2A5C"/>
                </a:solidFill>
                <a:effectLst/>
                <a:uLnTx/>
                <a:uFillTx/>
                <a:latin typeface="メイリオ" panose="020B0604030504040204" pitchFamily="50" charset="-128"/>
                <a:ea typeface="メイリオ" panose="020B0604030504040204" pitchFamily="50" charset="-128"/>
              </a:rPr>
              <a:t>設定：当社　対応：自動</a:t>
            </a:r>
            <a:endParaRPr kumimoji="1" lang="en-US" sz="14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1" sz="14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・よくある質問（初期費用・お申込みの流れなど）にキーワード応答で自動回答</a:t>
            </a:r>
          </a:p>
          <a:p>
            <a:pPr marL="0" marR="0" lvl="0" indent="0" algn="l" defTabSz="914400" rtl="0" eaLnBrk="1" fontAlgn="auto" latinLnBrk="0" hangingPunct="1">
              <a:lnSpc>
                <a:spcPct val="100000"/>
              </a:lnSpc>
              <a:spcBef>
                <a:spcPts val="300"/>
              </a:spcBef>
              <a:spcAft>
                <a:spcPts val="0"/>
              </a:spcAft>
              <a:buClrTx/>
              <a:buSzTx/>
              <a:buFontTx/>
              <a:buNone/>
              <a:tabLst/>
              <a:defRPr/>
            </a:pPr>
            <a:r>
              <a:rPr kumimoji="1" sz="14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・リッチメニューのボタンと同じ言葉で応答を用意</a:t>
            </a:r>
          </a:p>
          <a:p>
            <a:pPr marL="0" marR="0" lvl="0" indent="0" algn="l" defTabSz="914400" rtl="0" eaLnBrk="1" fontAlgn="auto" latinLnBrk="0" hangingPunct="1">
              <a:lnSpc>
                <a:spcPct val="100000"/>
              </a:lnSpc>
              <a:spcBef>
                <a:spcPts val="300"/>
              </a:spcBef>
              <a:spcAft>
                <a:spcPts val="0"/>
              </a:spcAft>
              <a:buClrTx/>
              <a:buSzTx/>
              <a:buFontTx/>
              <a:buNone/>
              <a:tabLst/>
              <a:defRPr/>
            </a:pPr>
            <a:r>
              <a:rPr kumimoji="1" sz="14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・受付時間外は、時間を指定して受付の旨を自動で返信</a:t>
            </a:r>
          </a:p>
          <a:p>
            <a:pPr marL="0" marR="0" lvl="0" indent="0" algn="l" defTabSz="914400" rtl="0" eaLnBrk="1" fontAlgn="auto" latinLnBrk="0" hangingPunct="1">
              <a:lnSpc>
                <a:spcPct val="100000"/>
              </a:lnSpc>
              <a:spcBef>
                <a:spcPts val="300"/>
              </a:spcBef>
              <a:spcAft>
                <a:spcPts val="0"/>
              </a:spcAft>
              <a:buClrTx/>
              <a:buSzTx/>
              <a:buFontTx/>
              <a:buNone/>
              <a:tabLst/>
              <a:defRPr/>
            </a:pPr>
            <a:r>
              <a:rPr kumimoji="1" sz="14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・リッチメニューから100円チェッカーへ案内</a:t>
            </a:r>
          </a:p>
        </p:txBody>
      </p:sp>
      <p:sp>
        <p:nvSpPr>
          <p:cNvPr id="7" name="Rounded Rectangle 5">
            <a:extLst>
              <a:ext uri="{FF2B5EF4-FFF2-40B4-BE49-F238E27FC236}">
                <a16:creationId xmlns:a16="http://schemas.microsoft.com/office/drawing/2014/main" id="{49ED863B-16D0-2D6F-E267-38B524C3E460}"/>
              </a:ext>
            </a:extLst>
          </p:cNvPr>
          <p:cNvSpPr/>
          <p:nvPr/>
        </p:nvSpPr>
        <p:spPr>
          <a:xfrm>
            <a:off x="3493008" y="1481328"/>
            <a:ext cx="2788920" cy="411480"/>
          </a:xfrm>
          <a:prstGeom prst="roundRect">
            <a:avLst>
              <a:gd name="adj" fmla="val 10000"/>
            </a:avLst>
          </a:prstGeom>
          <a:solidFill>
            <a:srgbClr val="4A6FA5"/>
          </a:solidFill>
          <a:ln w="12700" cap="flat" cmpd="sng" algn="ctr">
            <a:solidFill>
              <a:srgbClr val="4A6FA5"/>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6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② 個別チャット</a:t>
            </a:r>
            <a:endParaRPr kumimoji="1" lang="en-US" sz="16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9" name="Rounded Rectangle 6">
            <a:extLst>
              <a:ext uri="{FF2B5EF4-FFF2-40B4-BE49-F238E27FC236}">
                <a16:creationId xmlns:a16="http://schemas.microsoft.com/office/drawing/2014/main" id="{2120D6CC-F8E8-A676-5288-0D7CA7AE5EBB}"/>
              </a:ext>
            </a:extLst>
          </p:cNvPr>
          <p:cNvSpPr/>
          <p:nvPr/>
        </p:nvSpPr>
        <p:spPr>
          <a:xfrm>
            <a:off x="3493008" y="1938528"/>
            <a:ext cx="2788920" cy="2761488"/>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wrap="square" lIns="91440" tIns="91440" rIns="73152" bIns="54864"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1" sz="1400" b="1" i="0" u="none" strike="noStrike" kern="1200" cap="none" spc="0" normalizeH="0" baseline="0" noProof="0">
                <a:ln>
                  <a:noFill/>
                </a:ln>
                <a:solidFill>
                  <a:srgbClr val="4A6FA5"/>
                </a:solidFill>
                <a:effectLst/>
                <a:uLnTx/>
                <a:uFillTx/>
                <a:latin typeface="メイリオ" panose="020B0604030504040204" pitchFamily="50" charset="-128"/>
                <a:ea typeface="メイリオ" panose="020B0604030504040204" pitchFamily="50" charset="-128"/>
              </a:rPr>
              <a:t>対応：あらうち様</a:t>
            </a:r>
            <a:endParaRPr kumimoji="1" lang="en-US" sz="14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1" sz="14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・ご担当者様が、物件に関する相談・問い合わせに対応</a:t>
            </a:r>
          </a:p>
          <a:p>
            <a:pPr marL="0" marR="0" lvl="0" indent="0" algn="l" defTabSz="914400" rtl="0" eaLnBrk="1" fontAlgn="auto" latinLnBrk="0" hangingPunct="1">
              <a:lnSpc>
                <a:spcPct val="100000"/>
              </a:lnSpc>
              <a:spcBef>
                <a:spcPts val="300"/>
              </a:spcBef>
              <a:spcAft>
                <a:spcPts val="0"/>
              </a:spcAft>
              <a:buClrTx/>
              <a:buSzTx/>
              <a:buFontTx/>
              <a:buNone/>
              <a:tabLst/>
              <a:defRPr/>
            </a:pPr>
            <a:r>
              <a:rPr kumimoji="1" sz="14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・送られた物件（URL・物件名・画像）の空室確認・内見の手配</a:t>
            </a:r>
          </a:p>
          <a:p>
            <a:pPr marL="0" marR="0" lvl="0" indent="0" algn="l" defTabSz="914400" rtl="0" eaLnBrk="1" fontAlgn="auto" latinLnBrk="0" hangingPunct="1">
              <a:lnSpc>
                <a:spcPct val="100000"/>
              </a:lnSpc>
              <a:spcBef>
                <a:spcPts val="300"/>
              </a:spcBef>
              <a:spcAft>
                <a:spcPts val="0"/>
              </a:spcAft>
              <a:buClrTx/>
              <a:buSzTx/>
              <a:buFontTx/>
              <a:buNone/>
              <a:tabLst/>
              <a:defRPr/>
            </a:pPr>
            <a:r>
              <a:rPr kumimoji="1" sz="14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・一次対応は自動応答に任せ、物件の確認に集中</a:t>
            </a:r>
          </a:p>
        </p:txBody>
      </p:sp>
      <p:sp>
        <p:nvSpPr>
          <p:cNvPr id="11" name="Rounded Rectangle 7">
            <a:extLst>
              <a:ext uri="{FF2B5EF4-FFF2-40B4-BE49-F238E27FC236}">
                <a16:creationId xmlns:a16="http://schemas.microsoft.com/office/drawing/2014/main" id="{A110E104-86B5-BECB-43FF-305B6025C5CA}"/>
              </a:ext>
            </a:extLst>
          </p:cNvPr>
          <p:cNvSpPr/>
          <p:nvPr/>
        </p:nvSpPr>
        <p:spPr>
          <a:xfrm>
            <a:off x="6556248" y="1481328"/>
            <a:ext cx="2788920" cy="411480"/>
          </a:xfrm>
          <a:prstGeom prst="roundRect">
            <a:avLst>
              <a:gd name="adj" fmla="val 10000"/>
            </a:avLst>
          </a:prstGeom>
          <a:solidFill>
            <a:srgbClr val="5A6378"/>
          </a:solidFill>
          <a:ln w="12700" cap="flat" cmpd="sng" algn="ctr">
            <a:solidFill>
              <a:srgbClr val="5A6378"/>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6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③ チャットタグ</a:t>
            </a:r>
            <a:endParaRPr kumimoji="1" lang="en-US" sz="16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3" name="Rounded Rectangle 8">
            <a:extLst>
              <a:ext uri="{FF2B5EF4-FFF2-40B4-BE49-F238E27FC236}">
                <a16:creationId xmlns:a16="http://schemas.microsoft.com/office/drawing/2014/main" id="{FA298501-38B3-F233-CA41-A026320BA8C3}"/>
              </a:ext>
            </a:extLst>
          </p:cNvPr>
          <p:cNvSpPr/>
          <p:nvPr/>
        </p:nvSpPr>
        <p:spPr>
          <a:xfrm>
            <a:off x="6556248" y="1938528"/>
            <a:ext cx="2788920" cy="2761488"/>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wrap="square" lIns="91440" tIns="91440" rIns="73152" bIns="54864"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1" sz="1400" b="1" i="0" u="none" strike="noStrike" kern="1200" cap="none" spc="0" normalizeH="0" baseline="0" noProof="0">
                <a:ln>
                  <a:noFill/>
                </a:ln>
                <a:solidFill>
                  <a:srgbClr val="5B6478"/>
                </a:solidFill>
                <a:effectLst/>
                <a:uLnTx/>
                <a:uFillTx/>
                <a:latin typeface="メイリオ" panose="020B0604030504040204" pitchFamily="50" charset="-128"/>
                <a:ea typeface="メイリオ" panose="020B0604030504040204" pitchFamily="50" charset="-128"/>
              </a:rPr>
              <a:t>設計・設定：当社</a:t>
            </a:r>
            <a:endParaRPr kumimoji="1" lang="en-US" sz="14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1" sz="14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・問い合わせ状況・対応ステータス（受付・確認中・返信済）を管理</a:t>
            </a:r>
          </a:p>
          <a:p>
            <a:pPr marL="0" marR="0" lvl="0" indent="0" algn="l" defTabSz="914400" rtl="0" eaLnBrk="1" fontAlgn="auto" latinLnBrk="0" hangingPunct="1">
              <a:lnSpc>
                <a:spcPct val="100000"/>
              </a:lnSpc>
              <a:spcBef>
                <a:spcPts val="300"/>
              </a:spcBef>
              <a:spcAft>
                <a:spcPts val="0"/>
              </a:spcAft>
              <a:buClrTx/>
              <a:buSzTx/>
              <a:buFontTx/>
              <a:buNone/>
              <a:tabLst/>
              <a:defRPr/>
            </a:pPr>
            <a:r>
              <a:rPr kumimoji="1" sz="14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・タグの付け替えで、確認漏れ・返信漏れを防止</a:t>
            </a:r>
          </a:p>
          <a:p>
            <a:pPr marL="0" marR="0" lvl="0" indent="0" algn="l" defTabSz="914400" rtl="0" eaLnBrk="1" fontAlgn="auto" latinLnBrk="0" hangingPunct="1">
              <a:lnSpc>
                <a:spcPct val="100000"/>
              </a:lnSpc>
              <a:spcBef>
                <a:spcPts val="300"/>
              </a:spcBef>
              <a:spcAft>
                <a:spcPts val="0"/>
              </a:spcAft>
              <a:buClrTx/>
              <a:buSzTx/>
              <a:buFontTx/>
              <a:buNone/>
              <a:tabLst/>
              <a:defRPr/>
            </a:pPr>
            <a:r>
              <a:rPr kumimoji="1" sz="14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・問い合わせ済みの方を除いた再案内で、重複配信を防止</a:t>
            </a:r>
          </a:p>
        </p:txBody>
      </p:sp>
      <p:sp>
        <p:nvSpPr>
          <p:cNvPr id="15" name="Google Shape;156;p7">
            <a:extLst>
              <a:ext uri="{FF2B5EF4-FFF2-40B4-BE49-F238E27FC236}">
                <a16:creationId xmlns:a16="http://schemas.microsoft.com/office/drawing/2014/main" id="{DCA83424-AED2-9D0C-15FF-C3A1D7D9F90E}"/>
              </a:ext>
            </a:extLst>
          </p:cNvPr>
          <p:cNvSpPr txBox="1"/>
          <p:nvPr/>
        </p:nvSpPr>
        <p:spPr>
          <a:xfrm>
            <a:off x="429768" y="4727448"/>
            <a:ext cx="8915400" cy="338328"/>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役割分担</a:t>
            </a:r>
            <a:r>
              <a:rPr lang="ja-JP" altLang="en-US" sz="1200" b="0" dirty="0">
                <a:solidFill>
                  <a:srgbClr val="002060"/>
                </a:solidFill>
                <a:latin typeface="Meiryo"/>
                <a:ea typeface="Meiryo"/>
                <a:cs typeface="Meiryo"/>
                <a:sym typeface="Meiryo"/>
              </a:rPr>
              <a:t>　※当社の対応は運用コンサル費用に含みます</a:t>
            </a:r>
            <a:endParaRPr sz="1600" b="1" dirty="0">
              <a:solidFill>
                <a:srgbClr val="002060"/>
              </a:solidFill>
              <a:latin typeface="Meiryo"/>
              <a:ea typeface="Meiryo"/>
              <a:cs typeface="Meiryo"/>
              <a:sym typeface="Meiryo"/>
            </a:endParaRPr>
          </a:p>
        </p:txBody>
      </p:sp>
      <p:sp>
        <p:nvSpPr>
          <p:cNvPr id="17" name="Rounded Rectangle 3">
            <a:extLst>
              <a:ext uri="{FF2B5EF4-FFF2-40B4-BE49-F238E27FC236}">
                <a16:creationId xmlns:a16="http://schemas.microsoft.com/office/drawing/2014/main" id="{13A2205C-193F-C8D0-D9D5-28D75F02D3A1}"/>
              </a:ext>
            </a:extLst>
          </p:cNvPr>
          <p:cNvSpPr/>
          <p:nvPr/>
        </p:nvSpPr>
        <p:spPr>
          <a:xfrm>
            <a:off x="429768" y="5056632"/>
            <a:ext cx="4320540" cy="36576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zh-CN" sz="1400" b="1" strike="noStrike" spc="-1">
                <a:solidFill>
                  <a:srgbClr val="FFFFFF"/>
                </a:solidFill>
                <a:latin typeface="メイリオ" panose="020B0604030504040204" pitchFamily="50" charset="-128"/>
                <a:ea typeface="メイリオ" panose="020B0604030504040204" pitchFamily="50" charset="-128"/>
              </a:rPr>
              <a:t>当社（DYM）｜仕組みづくり・改善支援</a:t>
            </a:r>
            <a:endParaRPr lang="en-US" sz="1400" b="0" strike="noStrike" spc="-1">
              <a:solidFill>
                <a:srgbClr val="FFFFFF"/>
              </a:solidFill>
              <a:latin typeface="メイリオ" panose="020B0604030504040204" pitchFamily="50" charset="-128"/>
              <a:ea typeface="メイリオ" panose="020B0604030504040204" pitchFamily="50" charset="-128"/>
            </a:endParaRPr>
          </a:p>
        </p:txBody>
      </p:sp>
      <p:sp>
        <p:nvSpPr>
          <p:cNvPr id="19" name="Rounded Rectangle 4">
            <a:extLst>
              <a:ext uri="{FF2B5EF4-FFF2-40B4-BE49-F238E27FC236}">
                <a16:creationId xmlns:a16="http://schemas.microsoft.com/office/drawing/2014/main" id="{71004DFF-0445-5182-FDBF-99D37EEA5C3B}"/>
              </a:ext>
            </a:extLst>
          </p:cNvPr>
          <p:cNvSpPr/>
          <p:nvPr/>
        </p:nvSpPr>
        <p:spPr>
          <a:xfrm>
            <a:off x="429768" y="5458968"/>
            <a:ext cx="4320540" cy="100584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wrap="square" lIns="109728" tIns="36576" rIns="73152" bIns="36576"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a:lnSpc>
                <a:spcPct val="100000"/>
              </a:lnSpc>
              <a:spcBef>
                <a:spcPts val="0"/>
              </a:spcBef>
              <a:spcAft>
                <a:spcPts val="0"/>
              </a:spcAft>
            </a:pPr>
            <a:r>
              <a:rPr sz="1400">
                <a:solidFill>
                  <a:srgbClr val="333333"/>
                </a:solidFill>
                <a:latin typeface="メイリオ" panose="020B0604030504040204" pitchFamily="50" charset="-128"/>
                <a:ea typeface="メイリオ" panose="020B0604030504040204" pitchFamily="50" charset="-128"/>
              </a:rPr>
              <a:t>・LINE公式アカウントの初期設計</a:t>
            </a:r>
            <a:endParaRPr lang="en-US" sz="1400" b="0" strike="noStrike" spc="-1">
              <a:solidFill>
                <a:srgbClr val="000000"/>
              </a:solidFill>
              <a:latin typeface="メイリオ" panose="020B0604030504040204" pitchFamily="50" charset="-128"/>
              <a:ea typeface="メイリオ" panose="020B0604030504040204" pitchFamily="50" charset="-128"/>
            </a:endParaRPr>
          </a:p>
          <a:p>
            <a:pPr algn="l">
              <a:lnSpc>
                <a:spcPct val="100000"/>
              </a:lnSpc>
              <a:spcBef>
                <a:spcPts val="0"/>
              </a:spcBef>
              <a:spcAft>
                <a:spcPts val="0"/>
              </a:spcAft>
            </a:pPr>
            <a:r>
              <a:rPr sz="1400">
                <a:solidFill>
                  <a:srgbClr val="333333"/>
                </a:solidFill>
                <a:latin typeface="メイリオ" panose="020B0604030504040204" pitchFamily="50" charset="-128"/>
                <a:ea typeface="メイリオ" panose="020B0604030504040204" pitchFamily="50" charset="-128"/>
              </a:rPr>
              <a:t>・自動応答の設定</a:t>
            </a:r>
          </a:p>
          <a:p>
            <a:pPr algn="l">
              <a:lnSpc>
                <a:spcPct val="100000"/>
              </a:lnSpc>
              <a:spcBef>
                <a:spcPts val="0"/>
              </a:spcBef>
              <a:spcAft>
                <a:spcPts val="0"/>
              </a:spcAft>
            </a:pPr>
            <a:r>
              <a:rPr sz="1400">
                <a:solidFill>
                  <a:srgbClr val="333333"/>
                </a:solidFill>
                <a:latin typeface="メイリオ" panose="020B0604030504040204" pitchFamily="50" charset="-128"/>
                <a:ea typeface="メイリオ" panose="020B0604030504040204" pitchFamily="50" charset="-128"/>
              </a:rPr>
              <a:t>・チャットタグの設計・設定</a:t>
            </a:r>
          </a:p>
          <a:p>
            <a:pPr algn="l">
              <a:lnSpc>
                <a:spcPct val="100000"/>
              </a:lnSpc>
              <a:spcBef>
                <a:spcPts val="0"/>
              </a:spcBef>
              <a:spcAft>
                <a:spcPts val="0"/>
              </a:spcAft>
            </a:pPr>
            <a:r>
              <a:rPr sz="1400">
                <a:solidFill>
                  <a:srgbClr val="333333"/>
                </a:solidFill>
                <a:latin typeface="メイリオ" panose="020B0604030504040204" pitchFamily="50" charset="-128"/>
                <a:ea typeface="メイリオ" panose="020B0604030504040204" pitchFamily="50" charset="-128"/>
              </a:rPr>
              <a:t>・配信運用・改善支援</a:t>
            </a:r>
          </a:p>
        </p:txBody>
      </p:sp>
      <p:sp>
        <p:nvSpPr>
          <p:cNvPr id="21" name="Rounded Rectangle 5">
            <a:extLst>
              <a:ext uri="{FF2B5EF4-FFF2-40B4-BE49-F238E27FC236}">
                <a16:creationId xmlns:a16="http://schemas.microsoft.com/office/drawing/2014/main" id="{99616B08-D6A8-4286-A691-E62AF335E000}"/>
              </a:ext>
            </a:extLst>
          </p:cNvPr>
          <p:cNvSpPr/>
          <p:nvPr/>
        </p:nvSpPr>
        <p:spPr>
          <a:xfrm>
            <a:off x="5024628" y="5056632"/>
            <a:ext cx="4320540" cy="365760"/>
          </a:xfrm>
          <a:prstGeom prst="roundRect">
            <a:avLst>
              <a:gd name="adj" fmla="val 10000"/>
            </a:avLst>
          </a:prstGeom>
          <a:solidFill>
            <a:srgbClr val="4A6FA5"/>
          </a:solidFill>
          <a:ln w="12700">
            <a:solidFill>
              <a:srgbClr val="4A6FA5"/>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zh-CN" sz="1400" b="1" strike="noStrike" spc="-1">
                <a:solidFill>
                  <a:srgbClr val="FFFFFF"/>
                </a:solidFill>
                <a:latin typeface="メイリオ" panose="020B0604030504040204" pitchFamily="50" charset="-128"/>
                <a:ea typeface="メイリオ" panose="020B0604030504040204" pitchFamily="50" charset="-128"/>
              </a:rPr>
              <a:t>あらうち様｜お客様への個別対応</a:t>
            </a:r>
            <a:endParaRPr lang="en-US" sz="1400" b="0" strike="noStrike" spc="-1">
              <a:solidFill>
                <a:srgbClr val="FFFFFF"/>
              </a:solidFill>
              <a:latin typeface="メイリオ" panose="020B0604030504040204" pitchFamily="50" charset="-128"/>
              <a:ea typeface="メイリオ" panose="020B0604030504040204" pitchFamily="50" charset="-128"/>
            </a:endParaRPr>
          </a:p>
        </p:txBody>
      </p:sp>
      <p:sp>
        <p:nvSpPr>
          <p:cNvPr id="23" name="Rounded Rectangle 6">
            <a:extLst>
              <a:ext uri="{FF2B5EF4-FFF2-40B4-BE49-F238E27FC236}">
                <a16:creationId xmlns:a16="http://schemas.microsoft.com/office/drawing/2014/main" id="{C9FC3A12-ACD9-D0EB-C223-270B18E3C1AE}"/>
              </a:ext>
            </a:extLst>
          </p:cNvPr>
          <p:cNvSpPr/>
          <p:nvPr/>
        </p:nvSpPr>
        <p:spPr>
          <a:xfrm>
            <a:off x="5024628" y="5458968"/>
            <a:ext cx="4320540" cy="100584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wrap="square" lIns="109728" tIns="36576" rIns="73152" bIns="36576"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a:lnSpc>
                <a:spcPct val="100000"/>
              </a:lnSpc>
              <a:spcBef>
                <a:spcPts val="0"/>
              </a:spcBef>
              <a:spcAft>
                <a:spcPts val="0"/>
              </a:spcAft>
            </a:pPr>
            <a:r>
              <a:rPr sz="1400">
                <a:solidFill>
                  <a:srgbClr val="333333"/>
                </a:solidFill>
                <a:latin typeface="メイリオ" panose="020B0604030504040204" pitchFamily="50" charset="-128"/>
                <a:ea typeface="メイリオ" panose="020B0604030504040204" pitchFamily="50" charset="-128"/>
              </a:rPr>
              <a:t>・個別チャットでの返信</a:t>
            </a:r>
            <a:endParaRPr lang="en-US" sz="1400" b="0" strike="noStrike" spc="-1">
              <a:solidFill>
                <a:srgbClr val="000000"/>
              </a:solidFill>
              <a:latin typeface="メイリオ" panose="020B0604030504040204" pitchFamily="50" charset="-128"/>
              <a:ea typeface="メイリオ" panose="020B0604030504040204" pitchFamily="50" charset="-128"/>
            </a:endParaRPr>
          </a:p>
          <a:p>
            <a:pPr algn="l">
              <a:lnSpc>
                <a:spcPct val="100000"/>
              </a:lnSpc>
              <a:spcBef>
                <a:spcPts val="0"/>
              </a:spcBef>
              <a:spcAft>
                <a:spcPts val="0"/>
              </a:spcAft>
            </a:pPr>
            <a:r>
              <a:rPr sz="1400">
                <a:solidFill>
                  <a:srgbClr val="333333"/>
                </a:solidFill>
                <a:latin typeface="メイリオ" panose="020B0604030504040204" pitchFamily="50" charset="-128"/>
                <a:ea typeface="メイリオ" panose="020B0604030504040204" pitchFamily="50" charset="-128"/>
              </a:rPr>
              <a:t>・物件の空室確認</a:t>
            </a:r>
          </a:p>
          <a:p>
            <a:pPr algn="l">
              <a:lnSpc>
                <a:spcPct val="100000"/>
              </a:lnSpc>
              <a:spcBef>
                <a:spcPts val="0"/>
              </a:spcBef>
              <a:spcAft>
                <a:spcPts val="0"/>
              </a:spcAft>
            </a:pPr>
            <a:r>
              <a:rPr sz="1400">
                <a:solidFill>
                  <a:srgbClr val="333333"/>
                </a:solidFill>
                <a:latin typeface="メイリオ" panose="020B0604030504040204" pitchFamily="50" charset="-128"/>
                <a:ea typeface="メイリオ" panose="020B0604030504040204" pitchFamily="50" charset="-128"/>
              </a:rPr>
              <a:t>・内見の手配</a:t>
            </a:r>
          </a:p>
          <a:p>
            <a:pPr algn="l">
              <a:lnSpc>
                <a:spcPct val="100000"/>
              </a:lnSpc>
              <a:spcBef>
                <a:spcPts val="0"/>
              </a:spcBef>
              <a:spcAft>
                <a:spcPts val="0"/>
              </a:spcAft>
            </a:pPr>
            <a:r>
              <a:rPr sz="1400">
                <a:solidFill>
                  <a:srgbClr val="333333"/>
                </a:solidFill>
                <a:latin typeface="メイリオ" panose="020B0604030504040204" pitchFamily="50" charset="-128"/>
                <a:ea typeface="メイリオ" panose="020B0604030504040204" pitchFamily="50" charset="-128"/>
              </a:rPr>
              <a:t>・お申込み・ご契約の対応</a:t>
            </a:r>
          </a:p>
        </p:txBody>
      </p:sp>
      <p:sp>
        <p:nvSpPr>
          <p:cNvPr id="46" name="Right Arrow 4"/>
          <p:cNvSpPr/>
          <p:nvPr/>
        </p:nvSpPr>
        <p:spPr>
          <a:xfrm>
            <a:off x="3250692" y="3218688"/>
            <a:ext cx="210312" cy="201168"/>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47" name="Right Arrow 4"/>
          <p:cNvSpPr/>
          <p:nvPr/>
        </p:nvSpPr>
        <p:spPr>
          <a:xfrm>
            <a:off x="6313932" y="3218688"/>
            <a:ext cx="210312" cy="201168"/>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93779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A8C22-A859-569A-8EEC-58728B6BD665}"/>
            </a:ext>
          </a:extLst>
        </p:cNvPr>
        <p:cNvGrpSpPr/>
        <p:nvPr/>
      </p:nvGrpSpPr>
      <p:grpSpPr>
        <a:xfrm>
          <a:off x="0" y="0"/>
          <a:ext cx="0" cy="0"/>
          <a:chOff x="0" y="0"/>
          <a:chExt cx="0" cy="0"/>
        </a:xfrm>
      </p:grpSpPr>
      <p:sp>
        <p:nvSpPr>
          <p:cNvPr id="3" name="Google Shape;752;p28">
            <a:extLst>
              <a:ext uri="{FF2B5EF4-FFF2-40B4-BE49-F238E27FC236}">
                <a16:creationId xmlns:a16="http://schemas.microsoft.com/office/drawing/2014/main" id="{6C96E678-C87E-58F4-6415-8E923AFE9CA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施策詳細｜新規友だちの獲得</a:t>
            </a:r>
          </a:p>
        </p:txBody>
      </p:sp>
      <p:sp>
        <p:nvSpPr>
          <p:cNvPr id="10" name="TextBox 2">
            <a:extLst>
              <a:ext uri="{FF2B5EF4-FFF2-40B4-BE49-F238E27FC236}">
                <a16:creationId xmlns:a16="http://schemas.microsoft.com/office/drawing/2014/main" id="{88F34F17-1222-19B2-703D-3A639F6FB75B}"/>
              </a:ext>
            </a:extLst>
          </p:cNvPr>
          <p:cNvSpPr/>
          <p:nvPr/>
        </p:nvSpPr>
        <p:spPr>
          <a:xfrm>
            <a:off x="429768" y="914400"/>
            <a:ext cx="9052560" cy="41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zh-CN" sz="1600" b="0" strike="noStrike" spc="-1">
                <a:solidFill>
                  <a:srgbClr val="5A6378"/>
                </a:solidFill>
                <a:latin typeface="メイリオ" panose="020B0604030504040204" pitchFamily="50" charset="-128"/>
                <a:ea typeface="メイリオ" panose="020B0604030504040204" pitchFamily="50" charset="-128"/>
              </a:rPr>
              <a:t>サイトの2つの接点から、LINEの友だち追加へつなげます</a:t>
            </a:r>
            <a:endParaRPr lang="en-US" sz="1600" b="0" strike="noStrike" spc="-1">
              <a:solidFill>
                <a:srgbClr val="000000"/>
              </a:solidFill>
              <a:latin typeface="メイリオ" panose="020B0604030504040204" pitchFamily="50" charset="-128"/>
              <a:ea typeface="メイリオ" panose="020B0604030504040204" pitchFamily="50" charset="-128"/>
            </a:endParaRPr>
          </a:p>
        </p:txBody>
      </p:sp>
      <p:sp>
        <p:nvSpPr>
          <p:cNvPr id="15" name="Rounded Rectangle 3">
            <a:extLst>
              <a:ext uri="{FF2B5EF4-FFF2-40B4-BE49-F238E27FC236}">
                <a16:creationId xmlns:a16="http://schemas.microsoft.com/office/drawing/2014/main" id="{C4925BB9-D79E-FFBF-0C62-AA4DA1B53D1C}"/>
              </a:ext>
            </a:extLst>
          </p:cNvPr>
          <p:cNvSpPr/>
          <p:nvPr/>
        </p:nvSpPr>
        <p:spPr>
          <a:xfrm>
            <a:off x="429768" y="2724912"/>
            <a:ext cx="4389120" cy="804672"/>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500" b="0" strike="noStrike" spc="-1">
                <a:solidFill>
                  <a:srgbClr val="333333"/>
                </a:solidFill>
                <a:latin typeface="メイリオ" panose="020B0604030504040204" pitchFamily="50" charset="-128"/>
                <a:ea typeface="メイリオ" panose="020B0604030504040204" pitchFamily="50" charset="-128"/>
              </a:rPr>
              <a:t>サイトを離れようとした方</a:t>
            </a:r>
            <a:endParaRPr lang="en-US" sz="1500" b="0" strike="noStrike" spc="-1">
              <a:solidFill>
                <a:srgbClr val="000000"/>
              </a:solidFill>
              <a:latin typeface="メイリオ" panose="020B0604030504040204" pitchFamily="50" charset="-128"/>
              <a:ea typeface="メイリオ" panose="020B0604030504040204" pitchFamily="50" charset="-128"/>
            </a:endParaRPr>
          </a:p>
          <a:p>
            <a:pPr algn="ctr">
              <a:lnSpc>
                <a:spcPct val="100000"/>
              </a:lnSpc>
            </a:pPr>
            <a:r>
              <a:rPr lang="en-US" sz="1500" b="0" strike="noStrike" spc="-1">
                <a:solidFill>
                  <a:srgbClr val="333333"/>
                </a:solidFill>
                <a:latin typeface="メイリオ" panose="020B0604030504040204" pitchFamily="50" charset="-128"/>
                <a:ea typeface="メイリオ" panose="020B0604030504040204" pitchFamily="50" charset="-128"/>
              </a:rPr>
              <a:t>（離脱防止ポップアップ）</a:t>
            </a:r>
            <a:endParaRPr lang="en-US" sz="1500" b="0" strike="noStrike" spc="-1">
              <a:solidFill>
                <a:srgbClr val="000000"/>
              </a:solidFill>
              <a:latin typeface="メイリオ" panose="020B0604030504040204" pitchFamily="50" charset="-128"/>
              <a:ea typeface="メイリオ" panose="020B0604030504040204" pitchFamily="50" charset="-128"/>
            </a:endParaRPr>
          </a:p>
        </p:txBody>
      </p:sp>
      <p:sp>
        <p:nvSpPr>
          <p:cNvPr id="18" name="Right Arrow 4">
            <a:extLst>
              <a:ext uri="{FF2B5EF4-FFF2-40B4-BE49-F238E27FC236}">
                <a16:creationId xmlns:a16="http://schemas.microsoft.com/office/drawing/2014/main" id="{88BC1F8F-F7F1-CC07-4381-CFB49926A52D}"/>
              </a:ext>
            </a:extLst>
          </p:cNvPr>
          <p:cNvSpPr/>
          <p:nvPr/>
        </p:nvSpPr>
        <p:spPr>
          <a:xfrm rot="5400000">
            <a:off x="2487168" y="3621024"/>
            <a:ext cx="274320" cy="201168"/>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26" name="Rounded Rectangle 5">
            <a:extLst>
              <a:ext uri="{FF2B5EF4-FFF2-40B4-BE49-F238E27FC236}">
                <a16:creationId xmlns:a16="http://schemas.microsoft.com/office/drawing/2014/main" id="{43F406FA-C08A-D91A-4E14-2D8412F195E6}"/>
              </a:ext>
            </a:extLst>
          </p:cNvPr>
          <p:cNvSpPr/>
          <p:nvPr/>
        </p:nvSpPr>
        <p:spPr>
          <a:xfrm>
            <a:off x="429768" y="3895344"/>
            <a:ext cx="4389120" cy="804672"/>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500" b="0" strike="noStrike" spc="-1">
                <a:solidFill>
                  <a:srgbClr val="333333"/>
                </a:solidFill>
                <a:latin typeface="メイリオ" panose="020B0604030504040204" pitchFamily="50" charset="-128"/>
                <a:ea typeface="メイリオ" panose="020B0604030504040204" pitchFamily="50" charset="-128"/>
              </a:rPr>
              <a:t>物件のURLを送るだけで仲介手数料100円</a:t>
            </a:r>
            <a:endParaRPr lang="en-US" sz="1500" b="0" strike="noStrike" spc="-1">
              <a:solidFill>
                <a:srgbClr val="000000"/>
              </a:solidFill>
              <a:latin typeface="メイリオ" panose="020B0604030504040204" pitchFamily="50" charset="-128"/>
              <a:ea typeface="メイリオ" panose="020B0604030504040204" pitchFamily="50" charset="-128"/>
            </a:endParaRPr>
          </a:p>
          <a:p>
            <a:pPr algn="ctr">
              <a:lnSpc>
                <a:spcPct val="100000"/>
              </a:lnSpc>
            </a:pPr>
            <a:r>
              <a:rPr lang="en-US" sz="1500" b="0" strike="noStrike" spc="-1">
                <a:solidFill>
                  <a:srgbClr val="333333"/>
                </a:solidFill>
                <a:latin typeface="メイリオ" panose="020B0604030504040204" pitchFamily="50" charset="-128"/>
                <a:ea typeface="メイリオ" panose="020B0604030504040204" pitchFamily="50" charset="-128"/>
              </a:rPr>
              <a:t>（100円賃貸が対応できる物件に限ります）</a:t>
            </a:r>
            <a:endParaRPr lang="en-US" sz="1500" b="0" strike="noStrike" spc="-1">
              <a:solidFill>
                <a:srgbClr val="000000"/>
              </a:solidFill>
              <a:latin typeface="メイリオ" panose="020B0604030504040204" pitchFamily="50" charset="-128"/>
              <a:ea typeface="メイリオ" panose="020B0604030504040204" pitchFamily="50" charset="-128"/>
            </a:endParaRPr>
          </a:p>
        </p:txBody>
      </p:sp>
      <p:sp>
        <p:nvSpPr>
          <p:cNvPr id="27" name="Right Arrow 6">
            <a:extLst>
              <a:ext uri="{FF2B5EF4-FFF2-40B4-BE49-F238E27FC236}">
                <a16:creationId xmlns:a16="http://schemas.microsoft.com/office/drawing/2014/main" id="{7D9F3C04-6BFD-7CFA-B759-ACDA786DAC87}"/>
              </a:ext>
            </a:extLst>
          </p:cNvPr>
          <p:cNvSpPr/>
          <p:nvPr/>
        </p:nvSpPr>
        <p:spPr>
          <a:xfrm rot="5400000">
            <a:off x="2487168" y="4791456"/>
            <a:ext cx="274320" cy="201168"/>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28" name="Rounded Rectangle 7">
            <a:extLst>
              <a:ext uri="{FF2B5EF4-FFF2-40B4-BE49-F238E27FC236}">
                <a16:creationId xmlns:a16="http://schemas.microsoft.com/office/drawing/2014/main" id="{56BFF9D2-5CEA-F780-1665-E25342AA7BC9}"/>
              </a:ext>
            </a:extLst>
          </p:cNvPr>
          <p:cNvSpPr/>
          <p:nvPr/>
        </p:nvSpPr>
        <p:spPr>
          <a:xfrm>
            <a:off x="978407" y="5065776"/>
            <a:ext cx="3291839" cy="475488"/>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500" b="1" strike="noStrike" spc="-1">
                <a:solidFill>
                  <a:srgbClr val="FFFFFF"/>
                </a:solidFill>
                <a:latin typeface="メイリオ" panose="020B0604030504040204" pitchFamily="50" charset="-128"/>
                <a:ea typeface="メイリオ" panose="020B0604030504040204" pitchFamily="50" charset="-128"/>
              </a:rPr>
              <a:t>LINEの友だち追加</a:t>
            </a:r>
            <a:endParaRPr lang="en-US" sz="1500" b="0" strike="noStrike" spc="-1">
              <a:solidFill>
                <a:srgbClr val="FFFFFF"/>
              </a:solidFill>
              <a:latin typeface="メイリオ" panose="020B0604030504040204" pitchFamily="50" charset="-128"/>
              <a:ea typeface="メイリオ" panose="020B0604030504040204" pitchFamily="50" charset="-128"/>
            </a:endParaRPr>
          </a:p>
        </p:txBody>
      </p:sp>
      <p:sp>
        <p:nvSpPr>
          <p:cNvPr id="29" name="Rounded Rectangle 8">
            <a:extLst>
              <a:ext uri="{FF2B5EF4-FFF2-40B4-BE49-F238E27FC236}">
                <a16:creationId xmlns:a16="http://schemas.microsoft.com/office/drawing/2014/main" id="{F2D5D985-2571-C6B2-6BD5-E19E0FEA1435}"/>
              </a:ext>
            </a:extLst>
          </p:cNvPr>
          <p:cNvSpPr/>
          <p:nvPr/>
        </p:nvSpPr>
        <p:spPr>
          <a:xfrm>
            <a:off x="5093208" y="2724912"/>
            <a:ext cx="4389120" cy="804672"/>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500" b="0" strike="noStrike" spc="-1">
                <a:solidFill>
                  <a:srgbClr val="333333"/>
                </a:solidFill>
                <a:latin typeface="メイリオ" panose="020B0604030504040204" pitchFamily="50" charset="-128"/>
                <a:ea typeface="メイリオ" panose="020B0604030504040204" pitchFamily="50" charset="-128"/>
              </a:rPr>
              <a:t>サイト内の「LINEでお問い合わせ」</a:t>
            </a:r>
            <a:endParaRPr lang="en-US" sz="1500" b="0" strike="noStrike" spc="-1">
              <a:solidFill>
                <a:srgbClr val="000000"/>
              </a:solidFill>
              <a:latin typeface="メイリオ" panose="020B0604030504040204" pitchFamily="50" charset="-128"/>
              <a:ea typeface="メイリオ" panose="020B0604030504040204" pitchFamily="50" charset="-128"/>
            </a:endParaRPr>
          </a:p>
          <a:p>
            <a:pPr algn="ctr">
              <a:lnSpc>
                <a:spcPct val="100000"/>
              </a:lnSpc>
            </a:pPr>
            <a:r>
              <a:rPr lang="en-US" sz="1500" b="0" strike="noStrike" spc="-1">
                <a:solidFill>
                  <a:srgbClr val="333333"/>
                </a:solidFill>
                <a:latin typeface="メイリオ" panose="020B0604030504040204" pitchFamily="50" charset="-128"/>
                <a:ea typeface="メイリオ" panose="020B0604030504040204" pitchFamily="50" charset="-128"/>
              </a:rPr>
              <a:t>ボタン（全ページ）</a:t>
            </a:r>
            <a:endParaRPr lang="en-US" sz="1500" b="0" strike="noStrike" spc="-1">
              <a:solidFill>
                <a:srgbClr val="000000"/>
              </a:solidFill>
              <a:latin typeface="メイリオ" panose="020B0604030504040204" pitchFamily="50" charset="-128"/>
              <a:ea typeface="メイリオ" panose="020B0604030504040204" pitchFamily="50" charset="-128"/>
            </a:endParaRPr>
          </a:p>
        </p:txBody>
      </p:sp>
      <p:sp>
        <p:nvSpPr>
          <p:cNvPr id="30" name="Right Arrow 9">
            <a:extLst>
              <a:ext uri="{FF2B5EF4-FFF2-40B4-BE49-F238E27FC236}">
                <a16:creationId xmlns:a16="http://schemas.microsoft.com/office/drawing/2014/main" id="{E511E491-CBEA-6A51-3351-3AB67CE6168D}"/>
              </a:ext>
            </a:extLst>
          </p:cNvPr>
          <p:cNvSpPr/>
          <p:nvPr/>
        </p:nvSpPr>
        <p:spPr>
          <a:xfrm rot="5400000">
            <a:off x="7150608" y="3621024"/>
            <a:ext cx="274320" cy="201168"/>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31" name="Rounded Rectangle 10">
            <a:extLst>
              <a:ext uri="{FF2B5EF4-FFF2-40B4-BE49-F238E27FC236}">
                <a16:creationId xmlns:a16="http://schemas.microsoft.com/office/drawing/2014/main" id="{BF05E24B-C8E2-ED81-489E-0A7E354F89B3}"/>
              </a:ext>
            </a:extLst>
          </p:cNvPr>
          <p:cNvSpPr/>
          <p:nvPr/>
        </p:nvSpPr>
        <p:spPr>
          <a:xfrm>
            <a:off x="5093208" y="3895344"/>
            <a:ext cx="4389120" cy="804672"/>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500" b="0" strike="noStrike" spc="-1">
                <a:solidFill>
                  <a:srgbClr val="333333"/>
                </a:solidFill>
                <a:latin typeface="メイリオ" panose="020B0604030504040204" pitchFamily="50" charset="-128"/>
                <a:ea typeface="メイリオ" panose="020B0604030504040204" pitchFamily="50" charset="-128"/>
              </a:rPr>
              <a:t>物件のURL・物件名・画像を送るだけで、</a:t>
            </a:r>
            <a:endParaRPr lang="en-US" sz="1500" b="0" strike="noStrike" spc="-1">
              <a:solidFill>
                <a:srgbClr val="000000"/>
              </a:solidFill>
              <a:latin typeface="メイリオ" panose="020B0604030504040204" pitchFamily="50" charset="-128"/>
              <a:ea typeface="メイリオ" panose="020B0604030504040204" pitchFamily="50" charset="-128"/>
            </a:endParaRPr>
          </a:p>
          <a:p>
            <a:pPr algn="ctr">
              <a:lnSpc>
                <a:spcPct val="100000"/>
              </a:lnSpc>
            </a:pPr>
            <a:r>
              <a:rPr lang="en-US" sz="1500" b="0" strike="noStrike" spc="-1">
                <a:solidFill>
                  <a:srgbClr val="333333"/>
                </a:solidFill>
                <a:latin typeface="メイリオ" panose="020B0604030504040204" pitchFamily="50" charset="-128"/>
                <a:ea typeface="メイリオ" panose="020B0604030504040204" pitchFamily="50" charset="-128"/>
              </a:rPr>
              <a:t>空室確認から内見の手配まで</a:t>
            </a:r>
            <a:endParaRPr lang="en-US" sz="1500" b="0" strike="noStrike" spc="-1">
              <a:solidFill>
                <a:srgbClr val="000000"/>
              </a:solidFill>
              <a:latin typeface="メイリオ" panose="020B0604030504040204" pitchFamily="50" charset="-128"/>
              <a:ea typeface="メイリオ" panose="020B0604030504040204" pitchFamily="50" charset="-128"/>
            </a:endParaRPr>
          </a:p>
        </p:txBody>
      </p:sp>
      <p:sp>
        <p:nvSpPr>
          <p:cNvPr id="32" name="Right Arrow 11">
            <a:extLst>
              <a:ext uri="{FF2B5EF4-FFF2-40B4-BE49-F238E27FC236}">
                <a16:creationId xmlns:a16="http://schemas.microsoft.com/office/drawing/2014/main" id="{48B569E4-489C-51C8-663D-44B3897EEAAF}"/>
              </a:ext>
            </a:extLst>
          </p:cNvPr>
          <p:cNvSpPr/>
          <p:nvPr/>
        </p:nvSpPr>
        <p:spPr>
          <a:xfrm rot="5400000">
            <a:off x="7150608" y="4791456"/>
            <a:ext cx="274320" cy="201168"/>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33" name="Rounded Rectangle 12">
            <a:extLst>
              <a:ext uri="{FF2B5EF4-FFF2-40B4-BE49-F238E27FC236}">
                <a16:creationId xmlns:a16="http://schemas.microsoft.com/office/drawing/2014/main" id="{5FC51B9B-AA21-8F66-E3AB-3462FCD63368}"/>
              </a:ext>
            </a:extLst>
          </p:cNvPr>
          <p:cNvSpPr/>
          <p:nvPr/>
        </p:nvSpPr>
        <p:spPr>
          <a:xfrm>
            <a:off x="5641848" y="5065776"/>
            <a:ext cx="3291839" cy="475488"/>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500" b="1" strike="noStrike" spc="-1">
                <a:solidFill>
                  <a:srgbClr val="FFFFFF"/>
                </a:solidFill>
                <a:latin typeface="メイリオ" panose="020B0604030504040204" pitchFamily="50" charset="-128"/>
                <a:ea typeface="メイリオ" panose="020B0604030504040204" pitchFamily="50" charset="-128"/>
              </a:rPr>
              <a:t>LINEの友だち追加</a:t>
            </a:r>
            <a:endParaRPr lang="en-US" sz="1500" b="0" strike="noStrike" spc="-1">
              <a:solidFill>
                <a:srgbClr val="FFFFFF"/>
              </a:solidFill>
              <a:latin typeface="メイリオ" panose="020B0604030504040204" pitchFamily="50" charset="-128"/>
              <a:ea typeface="メイリオ" panose="020B0604030504040204" pitchFamily="50" charset="-128"/>
            </a:endParaRPr>
          </a:p>
        </p:txBody>
      </p:sp>
      <p:sp>
        <p:nvSpPr>
          <p:cNvPr id="45" name="TextBox 18">
            <a:extLst>
              <a:ext uri="{FF2B5EF4-FFF2-40B4-BE49-F238E27FC236}">
                <a16:creationId xmlns:a16="http://schemas.microsoft.com/office/drawing/2014/main" id="{0E624A20-F489-CA81-0820-C9C371152A6C}"/>
              </a:ext>
            </a:extLst>
          </p:cNvPr>
          <p:cNvSpPr/>
          <p:nvPr/>
        </p:nvSpPr>
        <p:spPr>
          <a:xfrm>
            <a:off x="429768" y="5687568"/>
            <a:ext cx="4389120" cy="603504"/>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en-US" sz="1300" b="0" strike="noStrike" spc="-1">
                <a:solidFill>
                  <a:srgbClr val="7F7F7F"/>
                </a:solidFill>
                <a:latin typeface="メイリオ" panose="020B0604030504040204" pitchFamily="50" charset="-128"/>
                <a:ea typeface="メイリオ" panose="020B0604030504040204" pitchFamily="50" charset="-128"/>
              </a:rPr>
              <a:t>※離脱防止ポップアップは、LINE公式アカウントとは別に導入する施策です（初期1.5万円・月3万円）。</a:t>
            </a:r>
            <a:endParaRPr lang="en-US" sz="1300" b="0" strike="noStrike" spc="-1">
              <a:solidFill>
                <a:srgbClr val="000000"/>
              </a:solidFill>
              <a:latin typeface="メイリオ" panose="020B0604030504040204" pitchFamily="50" charset="-128"/>
              <a:ea typeface="メイリオ" panose="020B0604030504040204" pitchFamily="50" charset="-128"/>
            </a:endParaRPr>
          </a:p>
        </p:txBody>
      </p:sp>
      <p:sp>
        <p:nvSpPr>
          <p:cNvPr id="46" name="Rounded Rectangle 7"/>
          <p:cNvSpPr/>
          <p:nvPr/>
        </p:nvSpPr>
        <p:spPr>
          <a:xfrm>
            <a:off x="429768" y="1444752"/>
            <a:ext cx="4389120" cy="475488"/>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500" b="1" strike="noStrike" spc="-1">
                <a:solidFill>
                  <a:srgbClr val="FFFFFF"/>
                </a:solidFill>
                <a:latin typeface="メイリオ" panose="020B0604030504040204" pitchFamily="50" charset="-128"/>
                <a:ea typeface="メイリオ" panose="020B0604030504040204" pitchFamily="50" charset="-128"/>
              </a:rPr>
              <a:t>① 離脱防止ポップアップ</a:t>
            </a:r>
            <a:endParaRPr lang="en-US" sz="1500" b="0" strike="noStrike" spc="-1">
              <a:solidFill>
                <a:srgbClr val="FFFFFF"/>
              </a:solidFill>
              <a:latin typeface="メイリオ" panose="020B0604030504040204" pitchFamily="50" charset="-128"/>
              <a:ea typeface="メイリオ" panose="020B0604030504040204" pitchFamily="50" charset="-128"/>
            </a:endParaRPr>
          </a:p>
        </p:txBody>
      </p:sp>
      <p:sp>
        <p:nvSpPr>
          <p:cNvPr id="47" name="Rounded Rectangle 7"/>
          <p:cNvSpPr/>
          <p:nvPr/>
        </p:nvSpPr>
        <p:spPr>
          <a:xfrm>
            <a:off x="5093208" y="1444752"/>
            <a:ext cx="4389120" cy="475488"/>
          </a:xfrm>
          <a:prstGeom prst="roundRect">
            <a:avLst>
              <a:gd name="adj" fmla="val 10000"/>
            </a:avLst>
          </a:prstGeom>
          <a:solidFill>
            <a:srgbClr val="4A6FA5"/>
          </a:solidFill>
          <a:ln w="12700">
            <a:solidFill>
              <a:srgbClr val="4A6FA5"/>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500" b="1" strike="noStrike" spc="-1">
                <a:solidFill>
                  <a:srgbClr val="FFFFFF"/>
                </a:solidFill>
                <a:latin typeface="メイリオ" panose="020B0604030504040204" pitchFamily="50" charset="-128"/>
                <a:ea typeface="メイリオ" panose="020B0604030504040204" pitchFamily="50" charset="-128"/>
              </a:rPr>
              <a:t>② サイト内の「LINEでお問い合わせ」ボタン</a:t>
            </a:r>
            <a:endParaRPr lang="en-US" sz="1500" b="0" strike="noStrike" spc="-1">
              <a:solidFill>
                <a:srgbClr val="FFFFFF"/>
              </a:solidFill>
              <a:latin typeface="メイリオ" panose="020B0604030504040204" pitchFamily="50" charset="-128"/>
              <a:ea typeface="メイリオ" panose="020B0604030504040204" pitchFamily="50" charset="-128"/>
            </a:endParaRPr>
          </a:p>
        </p:txBody>
      </p:sp>
      <p:sp>
        <p:nvSpPr>
          <p:cNvPr id="48" name="TextBox 2"/>
          <p:cNvSpPr/>
          <p:nvPr/>
        </p:nvSpPr>
        <p:spPr>
          <a:xfrm>
            <a:off x="429768" y="1993392"/>
            <a:ext cx="4389120" cy="6400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zh-CN" sz="1400" b="1" strike="noStrike" spc="-1">
                <a:solidFill>
                  <a:srgbClr val="5A6378"/>
                </a:solidFill>
                <a:latin typeface="メイリオ" panose="020B0604030504040204" pitchFamily="50" charset="-128"/>
                <a:ea typeface="メイリオ" panose="020B0604030504040204" pitchFamily="50" charset="-128"/>
              </a:rPr>
              <a:t>役割：</a:t>
            </a:r>
            <a:r>
              <a:rPr lang="zh-CN" sz="1400" b="0" strike="noStrike" spc="-1">
                <a:solidFill>
                  <a:srgbClr val="5A6378"/>
                </a:solidFill>
                <a:latin typeface="メイリオ" panose="020B0604030504040204" pitchFamily="50" charset="-128"/>
                <a:ea typeface="メイリオ" panose="020B0604030504040204" pitchFamily="50" charset="-128"/>
              </a:rPr>
              <a:t>サイトを離れようとした方を引き留め、LINEの友だち追加につなげる</a:t>
            </a:r>
            <a:endParaRPr lang="en-US" sz="1400" b="0" strike="noStrike" spc="-1">
              <a:solidFill>
                <a:srgbClr val="000000"/>
              </a:solidFill>
              <a:latin typeface="メイリオ" panose="020B0604030504040204" pitchFamily="50" charset="-128"/>
              <a:ea typeface="メイリオ" panose="020B0604030504040204" pitchFamily="50" charset="-128"/>
            </a:endParaRPr>
          </a:p>
        </p:txBody>
      </p:sp>
      <p:sp>
        <p:nvSpPr>
          <p:cNvPr id="49" name="TextBox 2"/>
          <p:cNvSpPr/>
          <p:nvPr/>
        </p:nvSpPr>
        <p:spPr>
          <a:xfrm>
            <a:off x="5093208" y="1993392"/>
            <a:ext cx="4389120" cy="6400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zh-CN" sz="1400" b="1" strike="noStrike" spc="-1">
                <a:solidFill>
                  <a:srgbClr val="5A6378"/>
                </a:solidFill>
                <a:latin typeface="メイリオ" panose="020B0604030504040204" pitchFamily="50" charset="-128"/>
                <a:ea typeface="メイリオ" panose="020B0604030504040204" pitchFamily="50" charset="-128"/>
              </a:rPr>
              <a:t>役割：</a:t>
            </a:r>
            <a:r>
              <a:rPr lang="zh-CN" sz="1400" b="0" strike="noStrike" spc="-1">
                <a:solidFill>
                  <a:srgbClr val="5A6378"/>
                </a:solidFill>
                <a:latin typeface="メイリオ" panose="020B0604030504040204" pitchFamily="50" charset="-128"/>
                <a:ea typeface="メイリオ" panose="020B0604030504040204" pitchFamily="50" charset="-128"/>
              </a:rPr>
              <a:t>問い合わせを考えている方を、LINEの友だち追加につなげる</a:t>
            </a:r>
            <a:endParaRPr lang="en-US" sz="1400" b="0" strike="noStrike" spc="-1">
              <a:solidFill>
                <a:srgbClr val="000000"/>
              </a:solidFill>
              <a:latin typeface="メイリオ" panose="020B0604030504040204" pitchFamily="50" charset="-128"/>
              <a:ea typeface="メイリオ" panose="020B0604030504040204" pitchFamily="50" charset="-128"/>
            </a:endParaRPr>
          </a:p>
        </p:txBody>
      </p:sp>
      <p:sp>
        <p:nvSpPr>
          <p:cNvPr id="50" name="TextBox 18"/>
          <p:cNvSpPr/>
          <p:nvPr/>
        </p:nvSpPr>
        <p:spPr>
          <a:xfrm>
            <a:off x="5093208" y="5687568"/>
            <a:ext cx="4389120" cy="603504"/>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en-US" sz="1300" b="0" strike="noStrike" spc="-1">
                <a:solidFill>
                  <a:srgbClr val="7F7F7F"/>
                </a:solidFill>
                <a:latin typeface="メイリオ" panose="020B0604030504040204" pitchFamily="50" charset="-128"/>
                <a:ea typeface="メイリオ" panose="020B0604030504040204" pitchFamily="50" charset="-128"/>
              </a:rPr>
              <a:t>※サイトのボタンは、リンク先を友だち追加用のURLに変更します。</a:t>
            </a:r>
            <a:endParaRPr lang="en-US" sz="1300" b="0" strike="noStrike" spc="-1">
              <a:solidFill>
                <a:srgbClr val="00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7346628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離脱防止バナー</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bg1">
              <a:lumMod val="95000"/>
            </a:schemeClr>
          </a:solidFill>
          <a:ln w="25400" cap="flat" cmpd="sng" algn="ctr">
            <a:solidFill>
              <a:schemeClr val="tx1">
                <a:lumMod val="50000"/>
                <a:lumOff val="50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368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準顕在（獲得見込みが高い）層を効率よく取れる動線を用意し運用します。</a:t>
            </a:r>
            <a:endParaRPr lang="en-US" altLang="ja-JP" sz="1400" b="1" dirty="0">
              <a:latin typeface="Meiryo"/>
              <a:ea typeface="Meiryo"/>
              <a:cs typeface="Meiryo"/>
              <a:sym typeface="Meiryo"/>
            </a:endParaRPr>
          </a:p>
          <a:p>
            <a:pPr lvl="0" algn="ctr">
              <a:buClr>
                <a:schemeClr val="dk1"/>
              </a:buClr>
              <a:buSzPts val="1500"/>
            </a:pPr>
            <a:r>
              <a:rPr lang="en-US" altLang="ja-JP" sz="1100" dirty="0">
                <a:solidFill>
                  <a:srgbClr val="FF0000"/>
                </a:solidFill>
                <a:latin typeface="Meiryo"/>
                <a:ea typeface="Meiryo"/>
                <a:cs typeface="Meiryo"/>
                <a:sym typeface="Meiryo"/>
              </a:rPr>
              <a:t>※</a:t>
            </a:r>
            <a:r>
              <a:rPr lang="ja-JP" altLang="en-US" sz="1100" dirty="0">
                <a:solidFill>
                  <a:srgbClr val="FF0000"/>
                </a:solidFill>
                <a:latin typeface="Meiryo"/>
                <a:ea typeface="Meiryo"/>
                <a:cs typeface="Meiryo"/>
                <a:sym typeface="Meiryo"/>
              </a:rPr>
              <a:t>実施想定の友だち追加動線について、★を記載しております。</a:t>
            </a:r>
            <a:endParaRPr lang="en-US" altLang="ja-JP" sz="1600" dirty="0">
              <a:solidFill>
                <a:srgbClr val="FF0000"/>
              </a:solidFill>
              <a:latin typeface="Meiryo"/>
              <a:ea typeface="Meiryo"/>
              <a:cs typeface="Meiryo"/>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 name="星: 5 pt 14">
            <a:extLst>
              <a:ext uri="{FF2B5EF4-FFF2-40B4-BE49-F238E27FC236}">
                <a16:creationId xmlns:a16="http://schemas.microsoft.com/office/drawing/2014/main" id="{E7B29608-5299-2165-6DD5-597E992E7B04}"/>
              </a:ext>
            </a:extLst>
          </p:cNvPr>
          <p:cNvSpPr/>
          <p:nvPr/>
        </p:nvSpPr>
        <p:spPr>
          <a:xfrm>
            <a:off x="9252865" y="1672104"/>
            <a:ext cx="540000" cy="54000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30001345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00"/>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06C2-B2E5-BEA0-384E-7336F080BD96}"/>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rPr>
              <a:t>WEB</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非</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既存の</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a:t>
            </a:r>
            <a:r>
              <a:rPr lang="en-US" altLang="ja-JP" sz="1100" b="1" dirty="0">
                <a:solidFill>
                  <a:schemeClr val="tx1"/>
                </a:solidFill>
                <a:latin typeface="メイリオ" panose="020B0604030504040204" pitchFamily="50" charset="-128"/>
                <a:ea typeface="メイリオ" panose="020B0604030504040204" pitchFamily="50" charset="-128"/>
              </a:rPr>
              <a:t>D</a:t>
            </a: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Y</a:t>
            </a:r>
          </a:p>
          <a:p>
            <a:pPr algn="ctr"/>
            <a:r>
              <a:rPr lang="en-US" altLang="ja-JP" sz="1100" b="1" dirty="0">
                <a:solidFill>
                  <a:schemeClr val="tx1"/>
                </a:solidFill>
                <a:latin typeface="メイリオ" panose="020B0604030504040204" pitchFamily="50" charset="-128"/>
                <a:ea typeface="メイリオ" panose="020B0604030504040204" pitchFamily="50" charset="-128"/>
              </a:rPr>
              <a:t>M</a:t>
            </a:r>
            <a:r>
              <a:rPr lang="ja-JP" altLang="en-US" sz="1100" b="1" dirty="0">
                <a:solidFill>
                  <a:schemeClr val="tx1"/>
                </a:solidFill>
                <a:latin typeface="メイリオ" panose="020B0604030504040204" pitchFamily="50" charset="-128"/>
                <a:ea typeface="メイリオ" panose="020B0604030504040204" pitchFamily="50" charset="-128"/>
              </a:rPr>
              <a:t>ツ</a:t>
            </a:r>
            <a:endParaRPr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｜ルで</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L</a:t>
            </a:r>
            <a:br>
              <a:rPr kumimoji="1" lang="en-US" altLang="ja-JP" sz="1100" b="1" dirty="0">
                <a:solidFill>
                  <a:schemeClr val="tx1"/>
                </a:solidFill>
                <a:latin typeface="メイリオ" panose="020B0604030504040204" pitchFamily="50" charset="-128"/>
                <a:ea typeface="メイリオ" panose="020B0604030504040204" pitchFamily="50" charset="-128"/>
              </a:rPr>
            </a:br>
            <a:r>
              <a:rPr kumimoji="1" lang="en-US" altLang="ja-JP" sz="1100" b="1" dirty="0">
                <a:solidFill>
                  <a:schemeClr val="tx1"/>
                </a:solidFill>
                <a:latin typeface="メイリオ" panose="020B0604030504040204" pitchFamily="50" charset="-128"/>
                <a:ea typeface="メイリオ" panose="020B0604030504040204" pitchFamily="50" charset="-128"/>
              </a:rPr>
              <a:t>I</a:t>
            </a:r>
          </a:p>
          <a:p>
            <a:pPr algn="ctr"/>
            <a:r>
              <a:rPr lang="en-US" altLang="ja-JP" sz="1100" b="1" dirty="0">
                <a:solidFill>
                  <a:schemeClr val="tx1"/>
                </a:solidFill>
                <a:latin typeface="メイリオ" panose="020B0604030504040204" pitchFamily="50" charset="-128"/>
                <a:ea typeface="メイリオ" panose="020B0604030504040204" pitchFamily="50" charset="-128"/>
              </a:rPr>
              <a:t>N</a:t>
            </a:r>
            <a:br>
              <a:rPr lang="en-US" altLang="ja-JP" sz="1100" b="1" dirty="0">
                <a:solidFill>
                  <a:schemeClr val="tx1"/>
                </a:solidFill>
                <a:latin typeface="メイリオ" panose="020B0604030504040204" pitchFamily="50" charset="-128"/>
                <a:ea typeface="メイリオ" panose="020B0604030504040204" pitchFamily="50" charset="-128"/>
              </a:rPr>
            </a:br>
            <a:r>
              <a:rPr lang="en-US" altLang="ja-JP" sz="1100" b="1" dirty="0">
                <a:solidFill>
                  <a:schemeClr val="tx1"/>
                </a:solidFill>
                <a:latin typeface="メイリオ" panose="020B0604030504040204" pitchFamily="50" charset="-128"/>
                <a:ea typeface="メイリオ" panose="020B0604030504040204" pitchFamily="50" charset="-128"/>
              </a:rPr>
              <a:t>E</a:t>
            </a: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動線</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lang="ja-JP" altLang="en-US" sz="1100" b="1" dirty="0">
                <a:solidFill>
                  <a:schemeClr val="tx1"/>
                </a:solidFill>
                <a:latin typeface="メイリオ" panose="020B0604030504040204" pitchFamily="50" charset="-128"/>
                <a:ea typeface="メイリオ" panose="020B0604030504040204" pitchFamily="50" charset="-128"/>
              </a:rPr>
              <a:t>に</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友だち</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登録ページ</a:t>
            </a:r>
            <a:r>
              <a:rPr lang="ja-JP" altLang="en-US" sz="1100" dirty="0">
                <a:latin typeface="メイリオ" panose="020B0604030504040204" pitchFamily="50" charset="-128"/>
                <a:ea typeface="メイリオ" panose="020B0604030504040204" pitchFamily="50" charset="-128"/>
              </a:rPr>
              <a:t>へ遷移する。</a:t>
            </a:r>
            <a:endParaRPr kumimoji="1" lang="ja-JP" altLang="en-US" sz="1100" dirty="0">
              <a:latin typeface="メイリオ" panose="020B0604030504040204" pitchFamily="50" charset="-128"/>
              <a:ea typeface="メイリオ" panose="020B0604030504040204" pitchFamily="50" charset="-128"/>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トーク</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画面</a:t>
            </a:r>
            <a:r>
              <a:rPr lang="ja-JP" altLang="en-US" sz="1100" dirty="0">
                <a:latin typeface="メイリオ" panose="020B0604030504040204" pitchFamily="50" charset="-128"/>
                <a:ea typeface="メイリオ" panose="020B0604030504040204" pitchFamily="50" charset="-128"/>
              </a:rPr>
              <a:t>へ遷移する。</a:t>
            </a:r>
            <a:endParaRPr lang="en-US" altLang="ja-JP" sz="1100" dirty="0">
              <a:latin typeface="メイリオ" panose="020B0604030504040204" pitchFamily="50" charset="-128"/>
              <a:ea typeface="メイリオ" panose="020B0604030504040204" pitchFamily="50" charset="-128"/>
            </a:endParaRPr>
          </a:p>
          <a:p>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設定によりフォーム入力</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000" dirty="0">
                <a:solidFill>
                  <a:srgbClr val="FF0000"/>
                </a:solidFill>
                <a:latin typeface="メイリオ" panose="020B0604030504040204" pitchFamily="50" charset="-128"/>
                <a:ea typeface="メイリオ" panose="020B0604030504040204" pitchFamily="50" charset="-128"/>
              </a:rPr>
              <a:t>　内容を踏襲した入力画面</a:t>
            </a:r>
            <a:endParaRPr lang="en-US" altLang="ja-JP" sz="1000" dirty="0">
              <a:solidFill>
                <a:srgbClr val="FF0000"/>
              </a:solidFill>
              <a:latin typeface="メイリオ" panose="020B0604030504040204" pitchFamily="50" charset="-128"/>
              <a:ea typeface="メイリオ" panose="020B0604030504040204" pitchFamily="50" charset="-128"/>
            </a:endParaRPr>
          </a:p>
          <a:p>
            <a:r>
              <a:rPr kumimoji="1" lang="ja-JP" altLang="en-US" sz="1000" dirty="0">
                <a:solidFill>
                  <a:srgbClr val="FF0000"/>
                </a:solidFill>
                <a:latin typeface="メイリオ" panose="020B0604030504040204" pitchFamily="50" charset="-128"/>
                <a:ea typeface="メイリオ" panose="020B0604030504040204" pitchFamily="50" charset="-128"/>
              </a:rPr>
              <a:t>　を表示させることが可能。</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endParaRPr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a:p>
            <a:r>
              <a:rPr kumimoji="1" lang="ja-JP" altLang="en-US" sz="1100" b="1" dirty="0">
                <a:latin typeface="メイリオ" panose="020B0604030504040204" pitchFamily="50" charset="-128"/>
                <a:ea typeface="メイリオ" panose="020B0604030504040204" pitchFamily="50" charset="-128"/>
              </a:rPr>
              <a:t>配信セグメントに利用可</a:t>
            </a:r>
            <a:endParaRPr kumimoji="1" lang="ja-JP" altLang="en-US" sz="1100" dirty="0">
              <a:latin typeface="メイリオ" panose="020B0604030504040204" pitchFamily="50" charset="-128"/>
              <a:ea typeface="メイリオ" panose="020B0604030504040204" pitchFamily="50" charset="-128"/>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panose="020B0604030504040204" pitchFamily="50" charset="-128"/>
                <a:ea typeface="メイリオ" panose="020B0604030504040204" pitchFamily="50" charset="-128"/>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FF0000"/>
                </a:solidFill>
                <a:latin typeface="メイリオ" panose="020B0604030504040204" pitchFamily="50" charset="-128"/>
                <a:ea typeface="メイリオ" panose="020B0604030504040204" pitchFamily="50" charset="-128"/>
              </a:rPr>
              <a:t>※</a:t>
            </a:r>
            <a:r>
              <a:rPr lang="ja-JP" altLang="en-US" sz="1000" b="1" dirty="0">
                <a:solidFill>
                  <a:srgbClr val="FF0000"/>
                </a:solidFill>
                <a:latin typeface="メイリオ" panose="020B0604030504040204" pitchFamily="50" charset="-128"/>
                <a:ea typeface="メイリオ" panose="020B0604030504040204" pitchFamily="50" charset="-128"/>
              </a:rPr>
              <a:t>入力した内容を</a:t>
            </a:r>
            <a:endParaRPr lang="en-US" altLang="ja-JP" sz="1000" b="1" dirty="0">
              <a:solidFill>
                <a:srgbClr val="FF0000"/>
              </a:solidFill>
              <a:latin typeface="メイリオ" panose="020B0604030504040204" pitchFamily="50" charset="-128"/>
              <a:ea typeface="メイリオ" panose="020B0604030504040204" pitchFamily="50" charset="-128"/>
            </a:endParaRPr>
          </a:p>
          <a:p>
            <a:pPr algn="ctr"/>
            <a:r>
              <a:rPr lang="ja-JP" altLang="en-US" sz="1000" b="1" dirty="0">
                <a:solidFill>
                  <a:srgbClr val="FF0000"/>
                </a:solidFill>
                <a:latin typeface="メイリオ" panose="020B0604030504040204" pitchFamily="50" charset="-128"/>
                <a:ea typeface="メイリオ" panose="020B0604030504040204" pitchFamily="50" charset="-128"/>
              </a:rPr>
              <a:t>トークに反映が可能。</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panose="020B0604030504040204" pitchFamily="50" charset="-128"/>
                <a:ea typeface="メイリオ" panose="020B0604030504040204" pitchFamily="50" charset="-128"/>
              </a:rPr>
              <a:t>CV</a:t>
            </a:r>
            <a:endParaRPr kumimoji="1" lang="ja-JP" altLang="en-US" sz="1100" b="1" dirty="0">
              <a:latin typeface="メイリオ" panose="020B0604030504040204" pitchFamily="50" charset="-128"/>
              <a:ea typeface="メイリオ" panose="020B0604030504040204" pitchFamily="50" charset="-128"/>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・購入完了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・セミナー予約</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・登録完了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・メルマガ登録</a:t>
            </a:r>
            <a:endPar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panose="020B0604030504040204" pitchFamily="50" charset="-128"/>
                <a:ea typeface="メイリオ" panose="020B0604030504040204" pitchFamily="50" charset="-128"/>
              </a:rPr>
              <a:t>※</a:t>
            </a:r>
            <a:r>
              <a:rPr lang="ja-JP" altLang="en-US" sz="800" b="1" dirty="0">
                <a:solidFill>
                  <a:schemeClr val="bg1">
                    <a:lumMod val="85000"/>
                  </a:schemeClr>
                </a:solidFill>
                <a:latin typeface="メイリオ" panose="020B0604030504040204" pitchFamily="50" charset="-128"/>
                <a:ea typeface="メイリオ" panose="020B0604030504040204" pitchFamily="50" charset="-128"/>
              </a:rPr>
              <a:t>ユーザーの個人情報収集が</a:t>
            </a:r>
            <a:endParaRPr lang="en-US" altLang="ja-JP" sz="800" b="1" dirty="0">
              <a:solidFill>
                <a:schemeClr val="bg1">
                  <a:lumMod val="85000"/>
                </a:schemeClr>
              </a:solidFill>
              <a:latin typeface="メイリオ" panose="020B0604030504040204" pitchFamily="50" charset="-128"/>
              <a:ea typeface="メイリオ" panose="020B0604030504040204" pitchFamily="50" charset="-128"/>
            </a:endParaRPr>
          </a:p>
          <a:p>
            <a:pPr algn="ctr"/>
            <a:r>
              <a:rPr lang="ja-JP" altLang="en-US" sz="800" b="1" dirty="0">
                <a:solidFill>
                  <a:schemeClr val="bg1">
                    <a:lumMod val="85000"/>
                  </a:schemeClr>
                </a:solidFill>
                <a:latin typeface="メイリオ" panose="020B0604030504040204" pitchFamily="50" charset="-128"/>
                <a:ea typeface="メイリオ" panose="020B0604030504040204" pitchFamily="50" charset="-128"/>
              </a:rPr>
              <a:t>完了したタイミング</a:t>
            </a:r>
            <a:endParaRPr kumimoji="1" lang="ja-JP" altLang="en-US" sz="800" b="1" dirty="0">
              <a:solidFill>
                <a:schemeClr val="bg1">
                  <a:lumMod val="85000"/>
                </a:schemeClr>
              </a:solidFill>
              <a:latin typeface="メイリオ" panose="020B0604030504040204" pitchFamily="50" charset="-128"/>
              <a:ea typeface="メイリオ" panose="020B0604030504040204" pitchFamily="50" charset="-128"/>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サンクス</a:t>
              </a:r>
              <a:r>
                <a:rPr kumimoji="1" lang="en-US" altLang="ja-JP" sz="1500" b="1" dirty="0">
                  <a:solidFill>
                    <a:schemeClr val="bg1"/>
                  </a:solidFill>
                  <a:latin typeface="Meiryo" panose="020B0604030504040204" pitchFamily="34" charset="-128"/>
                  <a:ea typeface="Meiryo" panose="020B0604030504040204" pitchFamily="34" charset="-128"/>
                </a:rPr>
                <a:t>LINE</a:t>
              </a:r>
              <a:r>
                <a:rPr kumimoji="1" lang="ja-JP" altLang="en-US" sz="1500" b="1" dirty="0">
                  <a:solidFill>
                    <a:schemeClr val="bg1"/>
                  </a:solidFill>
                  <a:latin typeface="Meiryo" panose="020B0604030504040204" pitchFamily="34" charset="-128"/>
                  <a:ea typeface="Meiryo"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8247347" y="4702330"/>
            <a:ext cx="899499" cy="7995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panose="020B0604030504040204" pitchFamily="50" charset="-128"/>
                <a:ea typeface="メイリオ" panose="020B0604030504040204" pitchFamily="50" charset="-128"/>
              </a:rPr>
              <a:t>友だち追加後</a:t>
            </a:r>
            <a:endParaRPr lang="ja-JP" altLang="en-US" sz="1100" dirty="0">
              <a:solidFill>
                <a:srgbClr val="00C057"/>
              </a:solidFill>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Meiryo"/>
                <a:ea typeface="Meiryo"/>
                <a:cs typeface="Meiryo"/>
                <a:sym typeface="Meiryo"/>
              </a:rPr>
              <a:t>サンクス到達時の</a:t>
            </a:r>
            <a:r>
              <a:rPr lang="en-US" altLang="ja-JP" sz="1600" dirty="0">
                <a:latin typeface="Meiryo"/>
                <a:ea typeface="Meiryo"/>
                <a:cs typeface="Meiryo"/>
                <a:sym typeface="Meiryo"/>
              </a:rPr>
              <a:t>LINE</a:t>
            </a:r>
            <a:r>
              <a:rPr lang="ja-JP" altLang="en-US" sz="1600" dirty="0">
                <a:latin typeface="Meiryo"/>
                <a:ea typeface="Meiryo"/>
                <a:cs typeface="Meiryo"/>
                <a:sym typeface="Meiryo"/>
              </a:rPr>
              <a:t>動線が弊社開発により可能に。</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費用を抑えての導入が可能で、新規反響の質改善に寄与。</a:t>
            </a:r>
          </a:p>
        </p:txBody>
      </p:sp>
      <p:sp>
        <p:nvSpPr>
          <p:cNvPr id="10" name="テキスト ボックス 9">
            <a:extLst>
              <a:ext uri="{FF2B5EF4-FFF2-40B4-BE49-F238E27FC236}">
                <a16:creationId xmlns:a16="http://schemas.microsoft.com/office/drawing/2014/main" id="{3EACBB40-B311-2012-88DC-7E4CD6FCFF28}"/>
              </a:ext>
            </a:extLst>
          </p:cNvPr>
          <p:cNvSpPr txBox="1"/>
          <p:nvPr/>
        </p:nvSpPr>
        <p:spPr>
          <a:xfrm>
            <a:off x="4091506" y="1391612"/>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暫定措置として導入済アカウントについては</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2026</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年</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7</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月～の価格改定の予定</a:t>
            </a:r>
            <a:endParaRPr lang="ja-JP" altLang="en-US" sz="900" dirty="0">
              <a:solidFill>
                <a:srgbClr val="FF0000"/>
              </a:solidFill>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既存</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ツールとの併用についても、問題なく稼働が可能。</a:t>
            </a:r>
            <a:endParaRPr lang="ja-JP" altLang="en-US" sz="900" dirty="0">
              <a:solidFill>
                <a:srgbClr val="FF0000"/>
              </a:solidFill>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設定地点追加</a:t>
            </a:r>
            <a:endParaRPr sz="1050" b="1" i="0" u="none" strike="noStrike" cap="none" dirty="0">
              <a:solidFill>
                <a:srgbClr val="FFFF00"/>
              </a:solidFill>
              <a:latin typeface="Meiryo"/>
              <a:ea typeface="Meiryo"/>
              <a:cs typeface="Meiryo"/>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panose="020B0604030504040204" pitchFamily="50" charset="-128"/>
                <a:ea typeface="メイリオ" panose="020B0604030504040204" pitchFamily="50" charset="-128"/>
              </a:rPr>
              <a:t>高開封率のLINEに誘導</a:t>
            </a:r>
            <a:r>
              <a:rPr lang="ja-JP" altLang="en-US" sz="1200" dirty="0">
                <a:latin typeface="メイリオ" panose="020B0604030504040204" pitchFamily="50" charset="-128"/>
                <a:ea typeface="メイリオ" panose="020B0604030504040204" pitchFamily="50" charset="-128"/>
              </a:rPr>
              <a:t>して</a:t>
            </a:r>
            <a:r>
              <a:rPr lang="ja-JP" altLang="ja-JP" sz="1200" dirty="0">
                <a:latin typeface="メイリオ" panose="020B0604030504040204" pitchFamily="50" charset="-128"/>
                <a:ea typeface="メイリオ" panose="020B0604030504040204" pitchFamily="50" charset="-128"/>
              </a:rPr>
              <a:t>反響→実売上への引上げ率、リピート率改善。</a:t>
            </a:r>
            <a:endParaRPr lang="en-US" altLang="ja-JP" sz="1200" dirty="0">
              <a:latin typeface="メイリオ" panose="020B0604030504040204" pitchFamily="50" charset="-128"/>
              <a:ea typeface="メイリオ" panose="020B0604030504040204" pitchFamily="50" charset="-128"/>
            </a:endParaRPr>
          </a:p>
          <a:p>
            <a:pPr algn="ctr"/>
            <a:r>
              <a:rPr lang="ja-JP" altLang="ja-JP" sz="1200" dirty="0">
                <a:latin typeface="メイリオ" panose="020B0604030504040204" pitchFamily="50" charset="-128"/>
                <a:ea typeface="メイリオ" panose="020B0604030504040204" pitchFamily="50" charset="-128"/>
              </a:rPr>
              <a:t> </a:t>
            </a:r>
            <a:r>
              <a:rPr lang="ja-JP" altLang="ja-JP" sz="1200" b="1" dirty="0">
                <a:solidFill>
                  <a:srgbClr val="FF0000"/>
                </a:solidFill>
                <a:latin typeface="メイリオ" panose="020B0604030504040204" pitchFamily="50" charset="-128"/>
                <a:ea typeface="メイリオ" panose="020B0604030504040204" pitchFamily="50" charset="-128"/>
              </a:rPr>
              <a:t>弊社運用の美容クリニック様では、予約後来院率にて40-50%程度の改善を実現</a:t>
            </a:r>
            <a:r>
              <a:rPr lang="ja-JP" altLang="ja-JP" sz="1200" dirty="0">
                <a:latin typeface="メイリオ" panose="020B0604030504040204" pitchFamily="50" charset="-128"/>
                <a:ea typeface="メイリオ" panose="020B0604030504040204" pitchFamily="50" charset="-128"/>
              </a:rPr>
              <a:t>。</a:t>
            </a:r>
            <a:endParaRPr lang="ja-JP" altLang="en-US" sz="1200" dirty="0">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EA70A0F9-54E5-2057-0898-CA95AFFCCD29}"/>
              </a:ext>
            </a:extLst>
          </p:cNvPr>
          <p:cNvSpPr/>
          <p:nvPr/>
        </p:nvSpPr>
        <p:spPr>
          <a:xfrm>
            <a:off x="396674" y="694337"/>
            <a:ext cx="3469656" cy="1189138"/>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9490901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費用感</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サービス内容</a:t>
            </a:r>
            <a:endParaRPr kumimoji="1" lang="ja-JP" altLang="en-US" sz="1400"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転職ユーザーのカスタマージャーニー（8フェーズ）</a:t>
            </a:r>
            <a:endParaRPr lang="en-US" sz="1300" dirty="0">
              <a:latin typeface="メイリオ" panose="020B0604030504040204" pitchFamily="50" charset="-128"/>
              <a:ea typeface="メイリオ" panose="020B0604030504040204" pitchFamily="50" charset="-128"/>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接触〜リピートまでの動線設計</a:t>
            </a:r>
            <a:endParaRPr lang="en-US" sz="10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02</a:t>
            </a:r>
            <a:endParaRPr lang="en-US" sz="1300" dirty="0">
              <a:latin typeface="メイリオ" panose="020B0604030504040204" pitchFamily="50" charset="-128"/>
              <a:ea typeface="メイリオ" panose="020B0604030504040204" pitchFamily="50" charset="-128"/>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4</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-8</a:t>
            </a:r>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sz="1300" dirty="0">
              <a:latin typeface="メイリオ" panose="020B0604030504040204" pitchFamily="50" charset="-128"/>
              <a:ea typeface="メイリオ" panose="020B0604030504040204" pitchFamily="50" charset="-128"/>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友だち追加直後〜成約誘導まで</a:t>
            </a:r>
            <a:endParaRPr lang="en-US" sz="1000" dirty="0">
              <a:latin typeface="メイリオ" panose="020B0604030504040204" pitchFamily="50" charset="-128"/>
              <a:ea typeface="メイリオ" panose="020B0604030504040204" pitchFamily="50" charset="-128"/>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03</a:t>
            </a:r>
            <a:endParaRPr lang="en-US" sz="1300" dirty="0">
              <a:latin typeface="メイリオ" panose="020B0604030504040204" pitchFamily="50" charset="-128"/>
              <a:ea typeface="メイリオ" panose="020B0604030504040204" pitchFamily="50" charset="-128"/>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04</a:t>
            </a:r>
            <a:endParaRPr lang="en-US" sz="1300" dirty="0">
              <a:latin typeface="メイリオ" panose="020B0604030504040204" pitchFamily="50" charset="-128"/>
              <a:ea typeface="メイリオ" panose="020B0604030504040204" pitchFamily="50" charset="-128"/>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セグメント設定</a:t>
            </a:r>
            <a:endParaRPr lang="en-US" sz="1300" dirty="0">
              <a:latin typeface="メイリオ" panose="020B0604030504040204" pitchFamily="50" charset="-128"/>
              <a:ea typeface="メイリオ" panose="020B0604030504040204" pitchFamily="50" charset="-128"/>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00" dirty="0">
              <a:latin typeface="メイリオ" panose="020B0604030504040204" pitchFamily="50" charset="-128"/>
              <a:ea typeface="メイリオ" panose="020B0604030504040204" pitchFamily="50" charset="-128"/>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a:latin typeface="メイリオ" panose="020B0604030504040204" pitchFamily="50" charset="-128"/>
                <a:ea typeface="メイリオ" panose="020B0604030504040204" pitchFamily="50" charset="-128"/>
              </a:rPr>
              <a:t>WEB</a:t>
            </a:r>
            <a:r>
              <a:rPr lang="ja-JP" altLang="en-US" sz="1000" dirty="0">
                <a:latin typeface="メイリオ" panose="020B0604030504040204" pitchFamily="50" charset="-128"/>
                <a:ea typeface="メイリオ" panose="020B0604030504040204" pitchFamily="50" charset="-128"/>
              </a:rPr>
              <a:t>サイトアクション、</a:t>
            </a:r>
            <a:r>
              <a:rPr lang="en-US" altLang="ja-JP" sz="1000" dirty="0">
                <a:latin typeface="メイリオ" panose="020B0604030504040204" pitchFamily="50" charset="-128"/>
                <a:ea typeface="メイリオ" panose="020B0604030504040204" pitchFamily="50" charset="-128"/>
              </a:rPr>
              <a:t>LINE</a:t>
            </a:r>
            <a:r>
              <a:rPr lang="ja-JP" altLang="en-US" sz="1000" dirty="0">
                <a:latin typeface="メイリオ" panose="020B0604030504040204" pitchFamily="50" charset="-128"/>
                <a:ea typeface="メイリオ" panose="020B0604030504040204" pitchFamily="50" charset="-128"/>
              </a:rPr>
              <a:t>上アクションのスコアリング 等を活用</a:t>
            </a:r>
            <a:endParaRPr lang="en-US" altLang="ja-JP" sz="1000" dirty="0">
              <a:latin typeface="メイリオ" panose="020B0604030504040204" pitchFamily="50" charset="-128"/>
              <a:ea typeface="メイリオ" panose="020B0604030504040204" pitchFamily="50" charset="-128"/>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sz="1300" dirty="0">
              <a:latin typeface="メイリオ" panose="020B0604030504040204" pitchFamily="50" charset="-128"/>
              <a:ea typeface="メイリオ" panose="020B0604030504040204" pitchFamily="50" charset="-128"/>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06</a:t>
            </a:r>
            <a:endParaRPr lang="en-US" sz="1300" dirty="0">
              <a:latin typeface="メイリオ" panose="020B0604030504040204" pitchFamily="50" charset="-128"/>
              <a:ea typeface="メイリオ" panose="020B0604030504040204" pitchFamily="50" charset="-128"/>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季節・時期ごとの企画配信</a:t>
            </a:r>
            <a:endParaRPr lang="en-US" altLang="ja-JP" sz="1300" dirty="0">
              <a:latin typeface="メイリオ" panose="020B0604030504040204" pitchFamily="50" charset="-128"/>
              <a:ea typeface="メイリオ" panose="020B0604030504040204" pitchFamily="50" charset="-128"/>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Calibri"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したキャンペーン案</a:t>
            </a:r>
            <a:endParaRPr lang="en-US" altLang="ja-JP" sz="1000" dirty="0">
              <a:latin typeface="メイリオ" panose="020B0604030504040204" pitchFamily="50" charset="-128"/>
              <a:ea typeface="メイリオ" panose="020B0604030504040204" pitchFamily="50" charset="-128"/>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07</a:t>
            </a:r>
            <a:endParaRPr lang="en-US" sz="1300" dirty="0">
              <a:latin typeface="メイリオ" panose="020B0604030504040204" pitchFamily="50" charset="-128"/>
              <a:ea typeface="メイリオ" panose="020B0604030504040204" pitchFamily="50" charset="-128"/>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各種設定の更新・改善</a:t>
            </a:r>
            <a:endParaRPr lang="en-US" altLang="ja-JP" sz="1300" dirty="0">
              <a:latin typeface="メイリオ" panose="020B0604030504040204" pitchFamily="50" charset="-128"/>
              <a:ea typeface="メイリオ" panose="020B0604030504040204" pitchFamily="50" charset="-128"/>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000" dirty="0">
                <a:latin typeface="メイリオ" panose="020B0604030504040204" pitchFamily="50" charset="-128"/>
                <a:ea typeface="メイリオ" panose="020B0604030504040204" pitchFamily="50" charset="-128"/>
              </a:rPr>
              <a:t>あいさつメッセージ、リッチメニュー、</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の改修（</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は別途費用）</a:t>
            </a:r>
            <a:endParaRPr lang="en-US" altLang="ja-JP" sz="1000"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初期費用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月額費用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FFF00">
              <a:alpha val="70000"/>
            </a:srgb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altLang="ja-JP" sz="1400" dirty="0">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rPr>
              <a:t>～　　　 の修正・調整も</a:t>
            </a:r>
            <a:endParaRPr lang="en-US" altLang="ja-JP" sz="1400" b="1" dirty="0">
              <a:latin typeface="メイリオ" panose="020B0604030504040204" pitchFamily="50" charset="-128"/>
              <a:ea typeface="メイリオ" panose="020B0604030504040204" pitchFamily="50" charset="-128"/>
            </a:endParaRPr>
          </a:p>
          <a:p>
            <a:endParaRPr kumimoji="1" lang="en-US" altLang="ja-JP" sz="1400" b="1" dirty="0">
              <a:latin typeface="メイリオ" panose="020B0604030504040204" pitchFamily="50" charset="-128"/>
              <a:ea typeface="メイリオ" panose="020B0604030504040204" pitchFamily="50" charset="-128"/>
            </a:endParaRPr>
          </a:p>
          <a:p>
            <a:r>
              <a:rPr lang="ja-JP" altLang="en-US" sz="1400" b="1" dirty="0">
                <a:latin typeface="メイリオ" panose="020B0604030504040204" pitchFamily="50" charset="-128"/>
                <a:ea typeface="メイリオ" panose="020B0604030504040204" pitchFamily="50" charset="-128"/>
              </a:rPr>
              <a:t>月次対応内に含んでおります。</a:t>
            </a:r>
            <a:endParaRPr kumimoji="1" lang="en-US" altLang="ja-JP"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3693530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の運用業務・</a:t>
            </a:r>
            <a:r>
              <a:rPr lang="en-US" altLang="ja-JP" sz="1600" b="1" dirty="0">
                <a:latin typeface="メイリオ" panose="020B0604030504040204" pitchFamily="50" charset="-128"/>
                <a:ea typeface="メイリオ" panose="020B0604030504040204" pitchFamily="50" charset="-128"/>
                <a:cs typeface="Meiryo"/>
                <a:sym typeface="Meiryo"/>
              </a:rPr>
              <a:t>CR</a:t>
            </a:r>
            <a:r>
              <a:rPr lang="ja-JP" altLang="en-US" sz="1600" b="1" dirty="0">
                <a:latin typeface="メイリオ" panose="020B0604030504040204" pitchFamily="50" charset="-128"/>
                <a:ea typeface="メイリオ" panose="020B0604030504040204" pitchFamily="50" charset="-128"/>
                <a:cs typeface="Meiryo"/>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追加作業における費用感　</a:t>
            </a:r>
            <a:r>
              <a:rPr lang="en-US" altLang="ja-JP" sz="900" dirty="0">
                <a:solidFill>
                  <a:srgbClr val="FF0000"/>
                </a:solidFill>
                <a:latin typeface="メイリオ" panose="020B0604030504040204" pitchFamily="50" charset="-128"/>
                <a:ea typeface="メイリオ" panose="020B0604030504040204" pitchFamily="50" charset="-128"/>
                <a:sym typeface="Meiryo"/>
              </a:rPr>
              <a:t>※</a:t>
            </a:r>
            <a:r>
              <a:rPr lang="ja-JP" altLang="en-US" sz="900" dirty="0">
                <a:solidFill>
                  <a:srgbClr val="FF0000"/>
                </a:solidFill>
                <a:latin typeface="メイリオ" panose="020B0604030504040204" pitchFamily="50" charset="-128"/>
                <a:ea typeface="メイリオ" panose="020B0604030504040204" pitchFamily="50" charset="-128"/>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&gt;</a:t>
            </a:r>
            <a:endParaRPr lang="ja-JP" altLang="en-US" sz="1050" dirty="0">
              <a:solidFill>
                <a:schemeClr val="tx1">
                  <a:lumMod val="65000"/>
                  <a:lumOff val="35000"/>
                </a:schemeClr>
              </a:solidFill>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¥200,000~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チャット対応</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 </a:t>
                      </a:r>
                      <a:r>
                        <a:rPr lang="en-US" altLang="ja-JP" sz="700" b="0" i="0" u="none" strike="noStrike" dirty="0">
                          <a:solidFill>
                            <a:srgbClr val="FF0000"/>
                          </a:solidFill>
                          <a:effectLst/>
                          <a:latin typeface="メイリオ" panose="020B0604030504040204" pitchFamily="50" charset="-128"/>
                          <a:ea typeface="メイリオ" panose="020B0604030504040204" pitchFamily="50" charset="-128"/>
                        </a:rPr>
                        <a:t>※</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サポートは可能</a:t>
                      </a:r>
                      <a:endParaRPr lang="ja-JP" altLang="en-US" sz="1100" b="0" i="0" u="none" strike="noStrike" dirty="0">
                        <a:solidFill>
                          <a:srgbClr val="FF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FF0000"/>
                </a:solidFill>
                <a:latin typeface="メイリオ" panose="020B0604030504040204" pitchFamily="50" charset="-128"/>
                <a:ea typeface="メイリオ" panose="020B0604030504040204" pitchFamily="50" charset="-128"/>
                <a:sym typeface="Meiryo"/>
              </a:rPr>
              <a:t>貴社リソースの状況に応じて都度発注でのご依頼も各単価で受けさせていただきます。</a:t>
            </a:r>
            <a:endParaRPr lang="ja-JP" altLang="en-US" sz="1400" dirty="0"/>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880881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rPr>
              <a:t>WEB</a:t>
            </a:r>
            <a:r>
              <a:rPr lang="ja-JP" altLang="en-US" sz="2400" dirty="0">
                <a:solidFill>
                  <a:schemeClr val="bg1"/>
                </a:solidFill>
                <a:latin typeface="メイリオ" panose="020B0604030504040204" pitchFamily="50" charset="-128"/>
                <a:ea typeface="メイリオ" panose="020B0604030504040204" pitchFamily="50" charset="-128"/>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rPr>
              <a:t>☑</a:t>
            </a:r>
            <a:endParaRPr lang="ja-JP" altLang="en-US" sz="3600" dirty="0"/>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endParaRPr>
          </a:p>
          <a:p>
            <a:pPr algn="ctr"/>
            <a:r>
              <a:rPr lang="ja-JP" altLang="en-US" sz="1400" dirty="0">
                <a:solidFill>
                  <a:schemeClr val="bg1"/>
                </a:solidFill>
                <a:latin typeface="メイリオ" panose="020B0604030504040204" pitchFamily="50" charset="-128"/>
                <a:ea typeface="メイリオ" panose="020B0604030504040204" pitchFamily="50" charset="-128"/>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ツールなし</a:t>
            </a:r>
            <a:endParaRPr kumimoji="1" lang="ja-JP" altLang="en-US" sz="1200" b="1" dirty="0">
              <a:latin typeface="メイリオ" panose="020B0604030504040204" pitchFamily="50" charset="-128"/>
              <a:ea typeface="メイリオ" panose="020B0604030504040204" pitchFamily="50" charset="-128"/>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kumimoji="1" lang="ja-JP" altLang="en-US" sz="1200" b="1" dirty="0">
                <a:latin typeface="メイリオ" panose="020B0604030504040204" pitchFamily="50" charset="-128"/>
                <a:ea typeface="メイリオ" panose="020B0604030504040204" pitchFamily="50" charset="-128"/>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ツール有無</a:t>
            </a:r>
            <a:endParaRPr lang="en-US" altLang="ja-JP" sz="1200" b="1" dirty="0">
              <a:latin typeface="メイリオ" panose="020B0604030504040204" pitchFamily="50" charset="-128"/>
              <a:ea typeface="メイリオ" panose="020B0604030504040204" pitchFamily="50" charset="-128"/>
            </a:endParaRPr>
          </a:p>
          <a:p>
            <a:pPr algn="ctr"/>
            <a:r>
              <a:rPr kumimoji="1" lang="ja-JP" altLang="en-US" sz="1200" b="1" dirty="0">
                <a:latin typeface="メイリオ" panose="020B0604030504040204" pitchFamily="50" charset="-128"/>
                <a:ea typeface="メイリオ" panose="020B0604030504040204" pitchFamily="50" charset="-128"/>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rPr>
              <a:t>定期投稿、シナリオ、リッチメニュー等に設定の</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リンクについて、</a:t>
            </a:r>
            <a:r>
              <a:rPr lang="en-US" altLang="ja-JP" sz="1400" dirty="0">
                <a:solidFill>
                  <a:srgbClr val="FF0000"/>
                </a:solidFill>
                <a:latin typeface="メイリオ" panose="020B0604030504040204" pitchFamily="50" charset="-128"/>
                <a:ea typeface="メイリオ" panose="020B0604030504040204" pitchFamily="50" charset="-128"/>
              </a:rPr>
              <a:t>GA</a:t>
            </a:r>
            <a:r>
              <a:rPr lang="ja-JP" altLang="en-US" sz="1400" dirty="0" err="1">
                <a:solidFill>
                  <a:srgbClr val="FF0000"/>
                </a:solidFill>
                <a:latin typeface="メイリオ" panose="020B0604030504040204" pitchFamily="50" charset="-128"/>
                <a:ea typeface="メイリオ" panose="020B0604030504040204" pitchFamily="50" charset="-128"/>
              </a:rPr>
              <a:t>、</a:t>
            </a:r>
            <a:r>
              <a:rPr lang="en-US" altLang="ja-JP" sz="1400" dirty="0">
                <a:solidFill>
                  <a:srgbClr val="FF0000"/>
                </a:solidFill>
                <a:latin typeface="メイリオ" panose="020B0604030504040204" pitchFamily="50" charset="-128"/>
                <a:ea typeface="メイリオ" panose="020B0604030504040204" pitchFamily="50" charset="-128"/>
              </a:rPr>
              <a:t>MA</a:t>
            </a:r>
            <a:r>
              <a:rPr lang="ja-JP" altLang="en-US" sz="1400" dirty="0">
                <a:solidFill>
                  <a:srgbClr val="FF0000"/>
                </a:solidFill>
                <a:latin typeface="メイリオ" panose="020B0604030504040204" pitchFamily="50" charset="-128"/>
                <a:ea typeface="メイリオ" panose="020B0604030504040204" pitchFamily="50" charset="-128"/>
              </a:rPr>
              <a:t>ツールでの計測可能</a:t>
            </a:r>
            <a:r>
              <a:rPr lang="ja-JP" altLang="en-US" sz="1400" dirty="0">
                <a:latin typeface="メイリオ" panose="020B0604030504040204" pitchFamily="50" charset="-128"/>
                <a:ea typeface="メイリオ" panose="020B0604030504040204" pitchFamily="50" charset="-128"/>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rPr>
              <a:t>DYM</a:t>
            </a:r>
            <a:endParaRPr lang="ja-JP" altLang="en-US" dirty="0">
              <a:latin typeface="メイリオ" panose="020B0604030504040204" pitchFamily="50" charset="-128"/>
              <a:ea typeface="メイリオ" panose="020B0604030504040204" pitchFamily="50" charset="-128"/>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レポート（日次）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kumimoji="1"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レポート（月次）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rPr>
              <a:t>投稿別</a:t>
            </a:r>
            <a:r>
              <a:rPr lang="en-US" altLang="ja-JP"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セグメント別でデータ化でき、</a:t>
            </a:r>
            <a:r>
              <a:rPr lang="en-US" altLang="ja-JP" sz="1400" dirty="0">
                <a:latin typeface="メイリオ" panose="020B0604030504040204" pitchFamily="50" charset="-128"/>
                <a:ea typeface="メイリオ" panose="020B0604030504040204" pitchFamily="50" charset="-128"/>
              </a:rPr>
              <a:t>AB</a:t>
            </a:r>
            <a:r>
              <a:rPr lang="ja-JP" altLang="en-US" sz="1400" dirty="0">
                <a:latin typeface="メイリオ" panose="020B0604030504040204" pitchFamily="50" charset="-128"/>
                <a:ea typeface="メイリオ" panose="020B0604030504040204" pitchFamily="50" charset="-128"/>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弊社体制図</a:t>
            </a:r>
            <a:endParaRPr kumimoji="1" lang="ja-JP" altLang="en-US" sz="1600" b="1" dirty="0">
              <a:latin typeface="メイリオ" panose="020B0604030504040204" pitchFamily="50" charset="-128"/>
              <a:ea typeface="メイリオ" panose="020B0604030504040204" pitchFamily="50" charset="-128"/>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体制図（イメージ）</a:t>
            </a:r>
            <a:endParaRPr sz="1600" b="1" dirty="0">
              <a:solidFill>
                <a:srgbClr val="002060"/>
              </a:solidFill>
              <a:latin typeface="Meiryo"/>
              <a:ea typeface="Meiryo"/>
              <a:cs typeface="Meiryo"/>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endParaRPr lang="en-US" altLang="ja-JP" sz="1200" dirty="0">
              <a:latin typeface="メイリオ" panose="020B0604030504040204" pitchFamily="50" charset="-128"/>
              <a:ea typeface="メイリオ" panose="020B0604030504040204" pitchFamily="50" charset="-128"/>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latin typeface="メイリオ" panose="020B0604030504040204" pitchFamily="50" charset="-128"/>
              <a:ea typeface="メイリオ" panose="020B0604030504040204" pitchFamily="50" charset="-128"/>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SNS運用</a:t>
            </a:r>
            <a:endParaRPr lang="en-US" altLang="ja-JP" sz="1350" dirty="0">
              <a:latin typeface="メイリオ" panose="020B0604030504040204" pitchFamily="50" charset="-128"/>
              <a:ea typeface="メイリオ" panose="020B0604030504040204" pitchFamily="50" charset="-128"/>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入稿作業</a:t>
            </a:r>
            <a:endParaRPr lang="en-US" altLang="ja-JP" sz="1200" dirty="0">
              <a:latin typeface="メイリオ" panose="020B0604030504040204" pitchFamily="50" charset="-128"/>
              <a:ea typeface="メイリオ" panose="020B0604030504040204" pitchFamily="50" charset="-128"/>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運用サポート</a:t>
            </a:r>
            <a:endParaRPr lang="en-US" altLang="ja-JP" sz="1200" dirty="0">
              <a:latin typeface="メイリオ" panose="020B0604030504040204" pitchFamily="50" charset="-128"/>
              <a:ea typeface="メイリオ" panose="020B0604030504040204" pitchFamily="50" charset="-128"/>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制作</a:t>
            </a:r>
            <a:endParaRPr lang="en-US" altLang="ja-JP" sz="1200" dirty="0">
              <a:latin typeface="メイリオ" panose="020B0604030504040204" pitchFamily="50" charset="-128"/>
              <a:ea typeface="メイリオ" panose="020B0604030504040204" pitchFamily="50" charset="-128"/>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FFC000"/>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LINEOA運用</a:t>
            </a:r>
            <a:endParaRPr lang="en-US" altLang="ja-JP" sz="1350" dirty="0">
              <a:latin typeface="メイリオ" panose="020B0604030504040204" pitchFamily="50" charset="-128"/>
              <a:ea typeface="メイリオ" panose="020B0604030504040204" pitchFamily="50" charset="-128"/>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endParaRPr lang="en-US" altLang="ja-JP" sz="1350" dirty="0">
              <a:latin typeface="メイリオ" panose="020B0604030504040204" pitchFamily="50" charset="-128"/>
              <a:ea typeface="メイリオ" panose="020B0604030504040204" pitchFamily="50" charset="-128"/>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広告運用統括・コンサル</a:t>
            </a:r>
            <a:endParaRPr lang="en-US" altLang="ja-JP" sz="1350" dirty="0">
              <a:latin typeface="メイリオ" panose="020B0604030504040204" pitchFamily="50" charset="-128"/>
              <a:ea typeface="メイリオ" panose="020B0604030504040204" pitchFamily="50" charset="-128"/>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　</a:t>
            </a:r>
            <a:endParaRPr lang="en-US" altLang="ja-JP" sz="1350" dirty="0">
              <a:latin typeface="メイリオ" panose="020B0604030504040204" pitchFamily="50" charset="-128"/>
              <a:ea typeface="メイリオ" panose="020B0604030504040204" pitchFamily="50" charset="-128"/>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440024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運用スケジュール</a:t>
            </a:r>
            <a:endParaRPr sz="1600" b="1" dirty="0">
              <a:solidFill>
                <a:srgbClr val="002060"/>
              </a:solidFill>
              <a:latin typeface="Meiryo"/>
              <a:ea typeface="Meiryo"/>
              <a:cs typeface="Meiryo"/>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rPr>
              <a:t>サイト</a:t>
            </a:r>
            <a:r>
              <a:rPr lang="en-US" altLang="ja-JP" sz="2400" dirty="0">
                <a:latin typeface="メイリオ" panose="020B0604030504040204" pitchFamily="50" charset="-128"/>
                <a:ea typeface="メイリオ" panose="020B0604030504040204" pitchFamily="50" charset="-128"/>
              </a:rPr>
              <a:t>/LINE</a:t>
            </a:r>
            <a:r>
              <a:rPr lang="ja-JP" altLang="en-US" sz="2400" dirty="0">
                <a:latin typeface="メイリオ" panose="020B0604030504040204" pitchFamily="50" charset="-128"/>
                <a:ea typeface="メイリオ" panose="020B0604030504040204" pitchFamily="50" charset="-128"/>
              </a:rPr>
              <a:t>上への実装については、約</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か月程度を頂き進行。</a:t>
            </a:r>
            <a:endParaRPr lang="ja-JP" altLang="en-US" sz="2400" dirty="0"/>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貴社作業・確認にかかる時間により前後する可能性がございます。</a:t>
            </a:r>
          </a:p>
        </p:txBody>
      </p:sp>
      <p:cxnSp>
        <p:nvCxnSpPr>
          <p:cNvPr id="21" name="直線矢印コネクタ 20"/>
          <p:cNvCxnSpPr/>
          <p:nvPr/>
        </p:nvCxnSpPr>
        <p:spPr>
          <a:xfrm>
            <a:off x="6985106" y="2256762"/>
            <a:ext cx="0" cy="3086100"/>
          </a:xfrm>
          <a:prstGeom prst="straightConnector1">
            <a:avLst/>
          </a:prstGeom>
          <a:ln w="38100">
            <a:solidFill>
              <a:schemeClr val="tx1">
                <a:lumMod val="75000"/>
                <a:lumOff val="2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7042256" y="2130871"/>
            <a:ext cx="742511" cy="276999"/>
          </a:xfrm>
          <a:prstGeom prst="rect">
            <a:avLst/>
          </a:prstGeom>
          <a:solidFill>
            <a:schemeClr val="accent1">
              <a:lumMod val="20000"/>
              <a:lumOff val="80000"/>
            </a:schemeClr>
          </a:solidFill>
        </p:spPr>
        <p:txBody>
          <a:bodyPr wrap="none">
            <a:spAutoFit/>
          </a:bodyPr>
          <a:lstStyle/>
          <a:p>
            <a:r>
              <a:rPr lang="ja-JP" altLang="en-US" sz="1200" dirty="0">
                <a:latin typeface="メイリオ" panose="020B0604030504040204" pitchFamily="50" charset="-128"/>
                <a:ea typeface="メイリオ" panose="020B0604030504040204" pitchFamily="50" charset="-128"/>
              </a:rPr>
              <a:t>約</a:t>
            </a:r>
            <a:r>
              <a:rPr lang="en-US" altLang="ja-JP" sz="1200" dirty="0">
                <a:latin typeface="メイリオ" panose="020B0604030504040204" pitchFamily="50" charset="-128"/>
                <a:ea typeface="メイリオ" panose="020B0604030504040204" pitchFamily="50" charset="-128"/>
              </a:rPr>
              <a:t>1</a:t>
            </a:r>
            <a:r>
              <a:rPr lang="ja-JP" altLang="en-US" sz="1200" dirty="0">
                <a:latin typeface="メイリオ" panose="020B0604030504040204" pitchFamily="50" charset="-128"/>
                <a:ea typeface="メイリオ" panose="020B0604030504040204" pitchFamily="50" charset="-128"/>
              </a:rPr>
              <a:t>か月</a:t>
            </a:r>
            <a:endParaRPr lang="ja-JP" altLang="en-US" sz="1200" dirty="0"/>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Tree>
    <p:extLst>
      <p:ext uri="{BB962C8B-B14F-4D97-AF65-F5344CB8AC3E}">
        <p14:creationId xmlns:p14="http://schemas.microsoft.com/office/powerpoint/2010/main" val="21214348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460711" y="3038203"/>
            <a:ext cx="6984604"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公式アカウント運用のメリット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友だち追加 </a:t>
            </a:r>
            <a:r>
              <a:rPr lang="en-US" altLang="ja-JP" sz="1400" dirty="0">
                <a:solidFill>
                  <a:srgbClr val="343434"/>
                </a:solidFill>
                <a:latin typeface="メイリオ" panose="020B0604030504040204" pitchFamily="50" charset="-128"/>
                <a:ea typeface="メイリオ" panose="020B0604030504040204" pitchFamily="50" charset="-128"/>
              </a:rPr>
              <a:t>&gt;&gt; LINE</a:t>
            </a:r>
            <a:r>
              <a:rPr lang="ja-JP" altLang="en-US" sz="1400" dirty="0">
                <a:solidFill>
                  <a:srgbClr val="343434"/>
                </a:solidFill>
                <a:latin typeface="メイリオ" panose="020B0604030504040204" pitchFamily="50" charset="-128"/>
                <a:ea typeface="メイリオ" panose="020B0604030504040204" pitchFamily="50" charset="-128"/>
              </a:rPr>
              <a:t>で学習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の動線での</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※ID</a:t>
            </a:r>
            <a:r>
              <a:rPr kumimoji="1" lang="ja-JP" altLang="en-US" sz="9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ミニアプリ・診断 →</a:t>
            </a:r>
            <a:r>
              <a:rPr lang="en-US" altLang="ja-JP" sz="900" b="1" dirty="0">
                <a:solidFill>
                  <a:schemeClr val="bg1"/>
                </a:solidFill>
                <a:latin typeface="メイリオ" panose="020B0604030504040204" pitchFamily="50" charset="-128"/>
                <a:ea typeface="メイリオ" panose="020B0604030504040204" pitchFamily="50" charset="-128"/>
              </a:rPr>
              <a:t> </a:t>
            </a:r>
            <a:r>
              <a:rPr lang="ja-JP" altLang="en-US" sz="900" b="1" dirty="0">
                <a:solidFill>
                  <a:schemeClr val="bg1"/>
                </a:solidFill>
                <a:latin typeface="メイリオ" panose="020B0604030504040204" pitchFamily="50" charset="-128"/>
                <a:ea typeface="メイリオ" panose="020B0604030504040204" pitchFamily="50" charset="-128"/>
              </a:rPr>
              <a:t>特典</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ja-JP" altLang="en-US" sz="100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Tree>
    <p:extLst>
      <p:ext uri="{BB962C8B-B14F-4D97-AF65-F5344CB8AC3E}">
        <p14:creationId xmlns:p14="http://schemas.microsoft.com/office/powerpoint/2010/main" val="42651367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rPr>
              <a:t>法人</a:t>
            </a:r>
            <a:r>
              <a:rPr lang="en-US" altLang="ja-JP" sz="1400" dirty="0">
                <a:solidFill>
                  <a:srgbClr val="343434"/>
                </a:solidFill>
                <a:latin typeface="メイリオ" panose="020B0604030504040204" pitchFamily="50" charset="-128"/>
                <a:ea typeface="メイリオ" panose="020B0604030504040204" pitchFamily="50" charset="-128"/>
              </a:rPr>
              <a:t>が</a:t>
            </a:r>
            <a:r>
              <a:rPr lang="ja-JP" altLang="en-US" sz="1400" dirty="0">
                <a:solidFill>
                  <a:srgbClr val="343434"/>
                </a:solidFill>
                <a:latin typeface="メイリオ" panose="020B0604030504040204" pitchFamily="50" charset="-128"/>
                <a:ea typeface="メイリオ" panose="020B0604030504040204" pitchFamily="50" charset="-128"/>
              </a:rPr>
              <a:t>増加傾向</a:t>
            </a:r>
            <a:r>
              <a:rPr lang="en-US" altLang="ja-JP" sz="1400" dirty="0">
                <a:solidFill>
                  <a:srgbClr val="343434"/>
                </a:solidFill>
                <a:latin typeface="メイリオ" panose="020B0604030504040204" pitchFamily="50" charset="-128"/>
                <a:ea typeface="メイリオ" panose="020B0604030504040204" pitchFamily="50" charset="-128"/>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rPr>
                <a:t>　　　　</a:t>
              </a:r>
              <a:r>
                <a:rPr lang="en-US" sz="1400" dirty="0" err="1">
                  <a:solidFill>
                    <a:srgbClr val="040606"/>
                  </a:solidFill>
                  <a:latin typeface="メイリオ" panose="020B0604030504040204" pitchFamily="50" charset="-128"/>
                  <a:ea typeface="メイリオ" panose="020B0604030504040204" pitchFamily="50" charset="-128"/>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rPr>
                <a:t>、</a:t>
              </a:r>
              <a:r>
                <a:rPr lang="ja-JP" altLang="en-US" sz="1400" dirty="0">
                  <a:solidFill>
                    <a:srgbClr val="040606"/>
                  </a:solidFill>
                  <a:latin typeface="メイリオ" panose="020B0604030504040204" pitchFamily="50" charset="-128"/>
                  <a:ea typeface="メイリオ" panose="020B0604030504040204" pitchFamily="50" charset="-128"/>
                </a:rPr>
                <a:t>テレマーケティング </a:t>
              </a:r>
              <a:r>
                <a:rPr lang="en-US" sz="1400" dirty="0" err="1">
                  <a:solidFill>
                    <a:srgbClr val="040606"/>
                  </a:solidFill>
                  <a:latin typeface="メイリオ" panose="020B0604030504040204" pitchFamily="50" charset="-128"/>
                  <a:ea typeface="メイリオ" panose="020B0604030504040204" pitchFamily="50" charset="-128"/>
                </a:rPr>
                <a:t>が主流</a:t>
              </a:r>
              <a:endParaRPr lang="en-US" sz="1400" dirty="0">
                <a:solidFill>
                  <a:srgbClr val="040606"/>
                </a:solidFill>
                <a:latin typeface="メイリオ" panose="020B0604030504040204" pitchFamily="50" charset="-128"/>
                <a:ea typeface="メイリオ" panose="020B0604030504040204" pitchFamily="50" charset="-128"/>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rPr>
                <a:t>　　　　＋</a:t>
              </a:r>
              <a:r>
                <a:rPr lang="en-US" sz="1400" b="1" dirty="0">
                  <a:solidFill>
                    <a:srgbClr val="00B900"/>
                  </a:solidFill>
                  <a:latin typeface="メイリオ" panose="020B0604030504040204" pitchFamily="50" charset="-128"/>
                  <a:ea typeface="メイリオ" panose="020B0604030504040204" pitchFamily="50" charset="-128"/>
                </a:rPr>
                <a:t>LINE</a:t>
              </a:r>
              <a:r>
                <a:rPr lang="ja-JP" altLang="en-US" sz="1400" b="1" dirty="0">
                  <a:solidFill>
                    <a:srgbClr val="00B900"/>
                  </a:solidFill>
                  <a:latin typeface="メイリオ" panose="020B0604030504040204" pitchFamily="50" charset="-128"/>
                  <a:ea typeface="メイリオ" panose="020B0604030504040204" pitchFamily="50" charset="-128"/>
                </a:rPr>
                <a:t>公式アカウント</a:t>
              </a:r>
              <a:r>
                <a:rPr lang="en-US" sz="1400" b="1" dirty="0">
                  <a:solidFill>
                    <a:srgbClr val="00B900"/>
                  </a:solidFill>
                  <a:latin typeface="メイリオ" panose="020B0604030504040204" pitchFamily="50" charset="-128"/>
                  <a:ea typeface="メイリオ" panose="020B0604030504040204" pitchFamily="50" charset="-128"/>
                </a:rPr>
                <a:t> </a:t>
              </a:r>
              <a:r>
                <a:rPr lang="en-US" sz="1400" dirty="0" err="1">
                  <a:solidFill>
                    <a:srgbClr val="00B900"/>
                  </a:solidFill>
                  <a:latin typeface="メイリオ" panose="020B0604030504040204" pitchFamily="50" charset="-128"/>
                  <a:ea typeface="メイリオ" panose="020B0604030504040204" pitchFamily="50" charset="-128"/>
                </a:rPr>
                <a:t>が主流</a:t>
              </a:r>
              <a:endParaRPr lang="en-US" sz="1400" dirty="0">
                <a:solidFill>
                  <a:srgbClr val="00B900"/>
                </a:solidFill>
                <a:latin typeface="メイリオ" panose="020B0604030504040204" pitchFamily="50" charset="-128"/>
                <a:ea typeface="メイリオ" panose="020B0604030504040204" pitchFamily="50" charset="-128"/>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rPr>
              <a:t>「</a:t>
            </a:r>
            <a:r>
              <a:rPr lang="en-US" altLang="ja-JP" sz="1400" dirty="0" err="1">
                <a:solidFill>
                  <a:srgbClr val="343434"/>
                </a:solidFill>
                <a:latin typeface="メイリオ" panose="020B0604030504040204" pitchFamily="50" charset="-128"/>
                <a:ea typeface="メイリオ" panose="020B0604030504040204" pitchFamily="50" charset="-128"/>
              </a:rPr>
              <a:t>今すぐ客」以外の</a:t>
            </a:r>
            <a:r>
              <a:rPr lang="ja-JP" altLang="en-US" sz="1400" dirty="0">
                <a:solidFill>
                  <a:srgbClr val="343434"/>
                </a:solidFill>
                <a:latin typeface="メイリオ" panose="020B0604030504040204" pitchFamily="50" charset="-128"/>
                <a:ea typeface="メイリオ" panose="020B0604030504040204" pitchFamily="50" charset="-128"/>
              </a:rPr>
              <a:t>約</a:t>
            </a:r>
            <a:r>
              <a:rPr lang="en-US" altLang="ja-JP" sz="1400" dirty="0">
                <a:solidFill>
                  <a:srgbClr val="343434"/>
                </a:solidFill>
                <a:latin typeface="メイリオ" panose="020B0604030504040204" pitchFamily="50" charset="-128"/>
                <a:ea typeface="メイリオ" panose="020B0604030504040204" pitchFamily="50" charset="-128"/>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rPr>
              <a:t>結果として</a:t>
            </a:r>
            <a:r>
              <a:rPr lang="ja-JP" altLang="en-US" sz="1400" dirty="0" err="1">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rPr>
              <a:t>げ</a:t>
            </a:r>
            <a:r>
              <a:rPr lang="en-US" altLang="ja-JP" sz="1400" dirty="0">
                <a:solidFill>
                  <a:srgbClr val="343434"/>
                </a:solidFill>
                <a:latin typeface="メイリオ" panose="020B0604030504040204" pitchFamily="50" charset="-128"/>
                <a:ea typeface="メイリオ" panose="020B0604030504040204" pitchFamily="50" charset="-128"/>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rPr>
              <a:t>9-</a:t>
            </a:r>
            <a:r>
              <a:rPr lang="en-US" sz="1554" dirty="0">
                <a:solidFill>
                  <a:srgbClr val="494848"/>
                </a:solidFill>
                <a:latin typeface="メイリオ" panose="020B0604030504040204" pitchFamily="50" charset="-128"/>
                <a:ea typeface="メイリオ" panose="020B0604030504040204" pitchFamily="50" charset="-128"/>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en-US" sz="1200" b="1" dirty="0" err="1">
                <a:solidFill>
                  <a:srgbClr val="494848"/>
                </a:solidFill>
                <a:latin typeface="メイリオ" panose="020B0604030504040204" pitchFamily="50" charset="-128"/>
                <a:ea typeface="メイリオ" panose="020B0604030504040204" pitchFamily="50" charset="-128"/>
              </a:rPr>
              <a:t>今すぐ</a:t>
            </a:r>
            <a:r>
              <a:rPr lang="ja-JP" altLang="en-US" sz="1200" b="1" dirty="0">
                <a:solidFill>
                  <a:srgbClr val="494848"/>
                </a:solidFill>
                <a:latin typeface="メイリオ" panose="020B0604030504040204" pitchFamily="50" charset="-128"/>
                <a:ea typeface="メイリオ" panose="020B0604030504040204" pitchFamily="50" charset="-128"/>
              </a:rPr>
              <a:t>顧</a:t>
            </a:r>
            <a:r>
              <a:rPr lang="en-US" sz="1200" b="1" dirty="0" err="1">
                <a:solidFill>
                  <a:srgbClr val="494848"/>
                </a:solidFill>
                <a:latin typeface="メイリオ" panose="020B0604030504040204" pitchFamily="50" charset="-128"/>
                <a:ea typeface="メイリオ" panose="020B0604030504040204" pitchFamily="50" charset="-128"/>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rPr>
              <a:t>のは</a:t>
            </a:r>
            <a:r>
              <a:rPr lang="ja-JP" altLang="en-US" sz="1200" b="1" dirty="0">
                <a:solidFill>
                  <a:srgbClr val="494848"/>
                </a:solidFill>
                <a:latin typeface="メイリオ" panose="020B0604030504040204" pitchFamily="50" charset="-128"/>
                <a:ea typeface="メイリオ" panose="020B0604030504040204" pitchFamily="50" charset="-128"/>
              </a:rPr>
              <a:t>リスクが大きい。</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ja-JP" altLang="en-US" sz="1200" b="1" dirty="0">
                <a:solidFill>
                  <a:srgbClr val="494848"/>
                </a:solidFill>
                <a:latin typeface="メイリオ" panose="020B0604030504040204" pitchFamily="50" charset="-128"/>
                <a:ea typeface="メイリオ" panose="020B0604030504040204" pitchFamily="50" charset="-128"/>
              </a:rPr>
              <a:t>将来的な顧</a:t>
            </a:r>
            <a:r>
              <a:rPr lang="en-US" sz="1200" b="1" dirty="0" err="1">
                <a:solidFill>
                  <a:srgbClr val="494848"/>
                </a:solidFill>
                <a:latin typeface="メイリオ" panose="020B0604030504040204" pitchFamily="50" charset="-128"/>
                <a:ea typeface="メイリオ" panose="020B0604030504040204" pitchFamily="50" charset="-128"/>
              </a:rPr>
              <a:t>客」教育をLINE</a:t>
            </a:r>
            <a:r>
              <a:rPr lang="ja-JP" altLang="en-US" sz="1200" b="1" dirty="0">
                <a:solidFill>
                  <a:srgbClr val="494848"/>
                </a:solidFill>
                <a:latin typeface="メイリオ" panose="020B0604030504040204" pitchFamily="50" charset="-128"/>
                <a:ea typeface="メイリオ" panose="020B0604030504040204" pitchFamily="50" charset="-128"/>
              </a:rPr>
              <a:t>上で構築し</a:t>
            </a:r>
            <a:r>
              <a:rPr lang="en-US" sz="1200" b="1" dirty="0">
                <a:solidFill>
                  <a:srgbClr val="494848"/>
                </a:solidFill>
                <a:latin typeface="メイリオ" panose="020B0604030504040204" pitchFamily="50" charset="-128"/>
                <a:ea typeface="メイリオ" panose="020B0604030504040204" pitchFamily="50" charset="-128"/>
              </a:rPr>
              <a:t>行</a:t>
            </a:r>
            <a:r>
              <a:rPr lang="ja-JP" altLang="en-US" sz="1200" b="1" dirty="0">
                <a:solidFill>
                  <a:srgbClr val="494848"/>
                </a:solidFill>
                <a:latin typeface="メイリオ" panose="020B0604030504040204" pitchFamily="50" charset="-128"/>
                <a:ea typeface="メイリオ" panose="020B0604030504040204" pitchFamily="50" charset="-128"/>
              </a:rPr>
              <a:t>う。</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Meiryo"/>
                <a:ea typeface="Meiryo"/>
                <a:cs typeface="Meiryo"/>
                <a:sym typeface="Meiryo"/>
              </a:rPr>
              <a:t>WEB</a:t>
            </a:r>
            <a:r>
              <a:rPr lang="ja-JP" altLang="en-US" sz="1400" dirty="0">
                <a:latin typeface="Meiryo"/>
                <a:ea typeface="Meiryo"/>
                <a:cs typeface="Meiryo"/>
                <a:sym typeface="Meiryo"/>
              </a:rPr>
              <a:t>広告における</a:t>
            </a:r>
            <a:r>
              <a:rPr lang="ja-JP" altLang="en-US" sz="1400" b="1" dirty="0">
                <a:latin typeface="Meiryo"/>
                <a:ea typeface="Meiryo"/>
                <a:cs typeface="Meiryo"/>
                <a:sym typeface="Meiryo"/>
              </a:rPr>
              <a:t>競合性が高</a:t>
            </a:r>
            <a:r>
              <a:rPr lang="ja-JP" altLang="en-US" sz="1400" dirty="0">
                <a:latin typeface="Meiryo"/>
                <a:ea typeface="Meiryo"/>
                <a:cs typeface="Meiryo"/>
                <a:sym typeface="Meiryo"/>
              </a:rPr>
              <a:t>くなり</a:t>
            </a:r>
            <a:endParaRPr lang="en-US" altLang="ja-JP" sz="1400" dirty="0">
              <a:latin typeface="Meiryo"/>
              <a:ea typeface="Meiryo"/>
              <a:cs typeface="Meiryo"/>
              <a:sym typeface="Meiryo"/>
            </a:endParaRPr>
          </a:p>
          <a:p>
            <a:pPr algn="ctr"/>
            <a:r>
              <a:rPr lang="ja-JP" altLang="en-US" sz="1400" b="1" dirty="0">
                <a:solidFill>
                  <a:srgbClr val="FF0000"/>
                </a:solidFill>
                <a:latin typeface="Meiryo"/>
                <a:ea typeface="Meiryo"/>
                <a:cs typeface="Meiryo"/>
                <a:sym typeface="Meiryo"/>
              </a:rPr>
              <a:t>単価指標（</a:t>
            </a:r>
            <a:r>
              <a:rPr lang="en-US" altLang="ja-JP" sz="1400" b="1" dirty="0">
                <a:solidFill>
                  <a:srgbClr val="FF0000"/>
                </a:solidFill>
                <a:latin typeface="Meiryo"/>
                <a:ea typeface="Meiryo"/>
                <a:cs typeface="Meiryo"/>
                <a:sym typeface="Meiryo"/>
              </a:rPr>
              <a:t>CPC</a:t>
            </a:r>
            <a:r>
              <a:rPr lang="ja-JP" altLang="en-US" sz="1400" b="1" dirty="0">
                <a:solidFill>
                  <a:srgbClr val="FF0000"/>
                </a:solidFill>
                <a:latin typeface="Meiryo"/>
                <a:ea typeface="Meiryo"/>
                <a:cs typeface="Meiryo"/>
                <a:sym typeface="Meiryo"/>
              </a:rPr>
              <a:t>及び</a:t>
            </a:r>
            <a:r>
              <a:rPr lang="en-US" altLang="ja-JP" sz="1400" b="1" dirty="0">
                <a:solidFill>
                  <a:srgbClr val="FF0000"/>
                </a:solidFill>
                <a:latin typeface="Meiryo"/>
                <a:ea typeface="Meiryo"/>
                <a:cs typeface="Meiryo"/>
                <a:sym typeface="Meiryo"/>
              </a:rPr>
              <a:t>CPA</a:t>
            </a:r>
            <a:r>
              <a:rPr lang="ja-JP" altLang="en-US" sz="1400" b="1" dirty="0">
                <a:solidFill>
                  <a:srgbClr val="FF0000"/>
                </a:solidFill>
                <a:latin typeface="Meiryo"/>
                <a:ea typeface="Meiryo"/>
                <a:cs typeface="Meiryo"/>
                <a:sym typeface="Meiryo"/>
              </a:rPr>
              <a:t>）が高騰</a:t>
            </a:r>
            <a:r>
              <a:rPr lang="ja-JP" altLang="en-US" sz="1400" dirty="0">
                <a:latin typeface="Meiryo"/>
                <a:ea typeface="Meiryo"/>
                <a:cs typeface="Meiryo"/>
                <a:sym typeface="Meiryo"/>
              </a:rPr>
              <a:t>。</a:t>
            </a:r>
            <a:endParaRPr lang="en-US" altLang="ja-JP" sz="1400" dirty="0">
              <a:latin typeface="Meiryo"/>
              <a:ea typeface="Meiryo"/>
              <a:cs typeface="Meiryo"/>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Meiryo"/>
                <a:ea typeface="Meiryo"/>
                <a:sym typeface="Meiryo"/>
              </a:rPr>
              <a:t>集客施策における</a:t>
            </a:r>
            <a:r>
              <a:rPr lang="en-US" altLang="ja-JP" sz="1400" b="1" dirty="0">
                <a:latin typeface="Meiryo"/>
                <a:ea typeface="Meiryo"/>
                <a:sym typeface="Meiryo"/>
              </a:rPr>
              <a:t>CVR</a:t>
            </a:r>
            <a:r>
              <a:rPr lang="ja-JP" altLang="en-US" sz="1400" b="1" dirty="0">
                <a:latin typeface="Meiryo"/>
                <a:ea typeface="Meiryo"/>
                <a:sym typeface="Meiryo"/>
              </a:rPr>
              <a:t>は高くても</a:t>
            </a:r>
            <a:r>
              <a:rPr lang="en-US" altLang="ja-JP" sz="1400" b="1" dirty="0">
                <a:latin typeface="Meiryo"/>
                <a:ea typeface="Meiryo"/>
                <a:sym typeface="Meiryo"/>
              </a:rPr>
              <a:t>2%</a:t>
            </a:r>
            <a:r>
              <a:rPr lang="ja-JP" altLang="en-US" sz="1400" b="1" dirty="0">
                <a:latin typeface="Meiryo"/>
                <a:ea typeface="Meiryo"/>
                <a:sym typeface="Meiryo"/>
              </a:rPr>
              <a:t>程度</a:t>
            </a:r>
            <a:r>
              <a:rPr lang="ja-JP" altLang="en-US" sz="1400" dirty="0">
                <a:latin typeface="Meiryo"/>
                <a:ea typeface="Meiryo"/>
                <a:sym typeface="Meiryo"/>
              </a:rPr>
              <a:t>。</a:t>
            </a:r>
            <a:endParaRPr lang="en-US" altLang="ja-JP" sz="1400" dirty="0">
              <a:latin typeface="Meiryo"/>
              <a:ea typeface="Meiryo"/>
              <a:sym typeface="Meiryo"/>
            </a:endParaRPr>
          </a:p>
          <a:p>
            <a:pPr algn="ctr"/>
            <a:r>
              <a:rPr lang="en-US" altLang="ja-JP" sz="1400" dirty="0">
                <a:solidFill>
                  <a:srgbClr val="FF0000"/>
                </a:solidFill>
                <a:latin typeface="Meiryo"/>
                <a:ea typeface="Meiryo"/>
                <a:sym typeface="Meiryo"/>
              </a:rPr>
              <a:t>CV</a:t>
            </a:r>
            <a:r>
              <a:rPr lang="ja-JP" altLang="en-US" sz="1400" dirty="0">
                <a:solidFill>
                  <a:srgbClr val="FF0000"/>
                </a:solidFill>
                <a:latin typeface="Meiryo"/>
                <a:ea typeface="Meiryo"/>
                <a:sym typeface="Meiryo"/>
              </a:rPr>
              <a:t>に至らず離脱するユーザーが大部分</a:t>
            </a:r>
            <a:r>
              <a:rPr lang="ja-JP" altLang="en-US" sz="1400" dirty="0">
                <a:latin typeface="Meiryo"/>
                <a:ea typeface="Meiryo"/>
                <a:sym typeface="Meiryo"/>
              </a:rPr>
              <a:t>。</a:t>
            </a:r>
            <a:endParaRPr lang="ja-JP" altLang="en-US" sz="1400" dirty="0"/>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CVR</a:t>
            </a:r>
            <a:endParaRPr lang="ja-JP" altLang="en-US" b="1" dirty="0">
              <a:latin typeface="メイリオ" panose="020B0604030504040204" pitchFamily="50" charset="-128"/>
              <a:ea typeface="メイリオ" panose="020B0604030504040204" pitchFamily="50" charset="-128"/>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CPC</a:t>
            </a: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621484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rPr>
              <a:t>10-40</a:t>
            </a:r>
            <a:r>
              <a:rPr lang="ja-JP" altLang="en-US" sz="1400" dirty="0">
                <a:solidFill>
                  <a:srgbClr val="343434"/>
                </a:solidFill>
                <a:latin typeface="メイリオ" panose="020B0604030504040204" pitchFamily="50" charset="-128"/>
                <a:ea typeface="メイリオ" panose="020B0604030504040204" pitchFamily="50" charset="-128"/>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rPr>
              <a:t>LINEOA</a:t>
            </a:r>
            <a:r>
              <a:rPr lang="ja-JP" altLang="en-US" sz="1400" b="1" dirty="0">
                <a:solidFill>
                  <a:srgbClr val="343434"/>
                </a:solidFill>
                <a:latin typeface="メイリオ" panose="020B0604030504040204" pitchFamily="50" charset="-128"/>
                <a:ea typeface="メイリオ" panose="020B0604030504040204" pitchFamily="50" charset="-128"/>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rPr>
              <a:t>される。</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LINE</a:t>
            </a:r>
            <a:r>
              <a:rPr lang="ja-JP" altLang="en-US" sz="1400" dirty="0">
                <a:latin typeface="メイリオ" panose="020B0604030504040204" pitchFamily="50" charset="-128"/>
                <a:ea typeface="メイリオ" panose="020B0604030504040204" pitchFamily="50" charset="-128"/>
                <a:cs typeface="Meiryo"/>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Meiryo"/>
                <a:sym typeface="Meiryo"/>
              </a:rPr>
              <a:t>CV</a:t>
            </a:r>
            <a:r>
              <a:rPr lang="ja-JP" altLang="en-US" sz="1400" dirty="0">
                <a:latin typeface="メイリオ" panose="020B0604030504040204" pitchFamily="50" charset="-128"/>
                <a:ea typeface="メイリオ" panose="020B0604030504040204" pitchFamily="50" charset="-128"/>
                <a:cs typeface="Meiryo"/>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Meiryo"/>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endParaRPr kumimoji="1" lang="ja-JP" altLang="en-US" sz="1050" b="1" dirty="0">
              <a:solidFill>
                <a:schemeClr val="bg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FF0000"/>
                </a:solidFill>
                <a:latin typeface="メイリオ" panose="020B0604030504040204" pitchFamily="50" charset="-128"/>
                <a:ea typeface="メイリオ" panose="020B0604030504040204" pitchFamily="50" charset="-128"/>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rPr>
              <a:t>（</a:t>
            </a:r>
            <a:r>
              <a:rPr kumimoji="1" lang="en-US" altLang="ja-JP" sz="1100" dirty="0">
                <a:solidFill>
                  <a:schemeClr val="tx2"/>
                </a:solidFill>
                <a:latin typeface="メイリオ" panose="020B0604030504040204" pitchFamily="50" charset="-128"/>
                <a:ea typeface="メイリオ" panose="020B0604030504040204" pitchFamily="50" charset="-128"/>
              </a:rPr>
              <a:t>LINE</a:t>
            </a:r>
            <a:r>
              <a:rPr kumimoji="1" lang="ja-JP" altLang="en-US" sz="1100" dirty="0">
                <a:solidFill>
                  <a:schemeClr val="tx2"/>
                </a:solidFill>
                <a:latin typeface="メイリオ" panose="020B0604030504040204" pitchFamily="50" charset="-128"/>
                <a:ea typeface="メイリオ" panose="020B0604030504040204" pitchFamily="50" charset="-128"/>
              </a:rPr>
              <a:t>施策内</a:t>
            </a:r>
            <a:r>
              <a:rPr lang="ja-JP" altLang="en-US" sz="1100" dirty="0">
                <a:solidFill>
                  <a:schemeClr val="tx2"/>
                </a:solidFill>
                <a:latin typeface="メイリオ" panose="020B0604030504040204" pitchFamily="50" charset="-128"/>
                <a:ea typeface="メイリオ" panose="020B0604030504040204" pitchFamily="50" charset="-128"/>
              </a:rPr>
              <a:t>）</a:t>
            </a:r>
            <a:endParaRPr kumimoji="1" lang="ja-JP" altLang="en-US" sz="1100" dirty="0">
              <a:solidFill>
                <a:schemeClr val="tx2"/>
              </a:solidFill>
              <a:latin typeface="メイリオ" panose="020B0604030504040204" pitchFamily="50" charset="-128"/>
              <a:ea typeface="メイリオ" panose="020B0604030504040204" pitchFamily="50" charset="-128"/>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アクティブ数</a:t>
            </a:r>
            <a:endParaRPr kumimoji="1" lang="en-US" altLang="ja-JP" sz="1000" b="1" dirty="0">
              <a:latin typeface="メイリオ" panose="020B0604030504040204" pitchFamily="50" charset="-128"/>
              <a:ea typeface="メイリオ" panose="020B0604030504040204" pitchFamily="50" charset="-128"/>
            </a:endParaRPr>
          </a:p>
          <a:p>
            <a:pPr algn="ctr"/>
            <a:r>
              <a:rPr kumimoji="1" lang="ja-JP" altLang="en-US" sz="800" dirty="0">
                <a:latin typeface="メイリオ" panose="020B0604030504040204" pitchFamily="50" charset="-128"/>
                <a:ea typeface="メイリオ" panose="020B0604030504040204" pitchFamily="50" charset="-128"/>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セグメント率</a:t>
            </a:r>
            <a:endParaRPr kumimoji="1" lang="en-US" altLang="ja-JP" sz="1000" b="1" dirty="0">
              <a:latin typeface="メイリオ" panose="020B0604030504040204" pitchFamily="50" charset="-128"/>
              <a:ea typeface="メイリオ" panose="020B0604030504040204" pitchFamily="50" charset="-128"/>
            </a:endParaRPr>
          </a:p>
          <a:p>
            <a:pPr algn="ctr"/>
            <a:r>
              <a:rPr lang="en-US" altLang="ja-JP" sz="1000" dirty="0">
                <a:latin typeface="メイリオ" panose="020B0604030504040204" pitchFamily="50" charset="-128"/>
                <a:ea typeface="メイリオ" panose="020B0604030504040204" pitchFamily="50" charset="-128"/>
              </a:rPr>
              <a:t>or</a:t>
            </a:r>
          </a:p>
          <a:p>
            <a:pPr algn="ctr"/>
            <a:r>
              <a:rPr kumimoji="1" lang="ja-JP" altLang="en-US" sz="1000" b="1" dirty="0">
                <a:latin typeface="メイリオ" panose="020B0604030504040204" pitchFamily="50" charset="-128"/>
                <a:ea typeface="メイリオ" panose="020B0604030504040204" pitchFamily="50" charset="-128"/>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FF0000"/>
                </a:solidFill>
                <a:latin typeface="メイリオ" panose="020B0604030504040204" pitchFamily="50" charset="-128"/>
                <a:ea typeface="メイリオ" panose="020B0604030504040204" pitchFamily="50" charset="-128"/>
              </a:rPr>
              <a:t>85 </a:t>
            </a:r>
            <a:r>
              <a:rPr lang="en-US" altLang="ja-JP" sz="1400" b="1" dirty="0">
                <a:solidFill>
                  <a:srgbClr val="FF0000"/>
                </a:solidFill>
                <a:latin typeface="メイリオ" panose="020B0604030504040204" pitchFamily="50" charset="-128"/>
                <a:ea typeface="メイリオ" panose="020B0604030504040204" pitchFamily="50" charset="-128"/>
              </a:rPr>
              <a:t>%</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FF0000"/>
                </a:solidFill>
                <a:latin typeface="メイリオ" panose="020B0604030504040204" pitchFamily="50" charset="-128"/>
                <a:ea typeface="メイリオ" panose="020B0604030504040204" pitchFamily="50" charset="-128"/>
              </a:rPr>
              <a:t>12.5 </a:t>
            </a:r>
            <a:r>
              <a:rPr lang="en-US" altLang="ja-JP" sz="1400" b="1" dirty="0">
                <a:solidFill>
                  <a:srgbClr val="FF0000"/>
                </a:solidFill>
                <a:latin typeface="メイリオ" panose="020B0604030504040204" pitchFamily="50" charset="-128"/>
                <a:ea typeface="メイリオ" panose="020B0604030504040204" pitchFamily="50" charset="-128"/>
              </a:rPr>
              <a:t>%</a:t>
            </a:r>
            <a:endParaRPr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FF0000"/>
                </a:solidFill>
                <a:latin typeface="メイリオ" panose="020B0604030504040204" pitchFamily="50" charset="-128"/>
                <a:ea typeface="メイリオ" panose="020B0604030504040204" pitchFamily="50" charset="-128"/>
              </a:rPr>
              <a:t>0.5</a:t>
            </a:r>
            <a:r>
              <a:rPr kumimoji="1" lang="en-US" altLang="ja-JP" sz="1400" b="1" dirty="0">
                <a:solidFill>
                  <a:srgbClr val="FF0000"/>
                </a:solidFill>
                <a:latin typeface="メイリオ" panose="020B0604030504040204" pitchFamily="50" charset="-128"/>
                <a:ea typeface="メイリオ" panose="020B0604030504040204" pitchFamily="50" charset="-128"/>
              </a:rPr>
              <a:t> %</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70 %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8.25 %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rPr>
              <a:t>0.3 %</a:t>
            </a:r>
            <a:endParaRPr kumimoji="1"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C000"/>
                </a:solidFill>
                <a:latin typeface="メイリオ" panose="020B0604030504040204" pitchFamily="50" charset="-128"/>
                <a:ea typeface="メイリオ" panose="020B0604030504040204" pitchFamily="50" charset="-128"/>
              </a:rPr>
              <a:t>DYM</a:t>
            </a:r>
            <a:r>
              <a:rPr kumimoji="1" lang="ja-JP" altLang="en-US" sz="1200" b="1" dirty="0">
                <a:solidFill>
                  <a:srgbClr val="FFC000"/>
                </a:solidFill>
                <a:latin typeface="メイリオ" panose="020B0604030504040204" pitchFamily="50" charset="-128"/>
                <a:ea typeface="メイリオ" panose="020B0604030504040204" pitchFamily="50" charset="-128"/>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業界平均</a:t>
            </a:r>
            <a:endParaRPr lang="en-US" altLang="ja-JP" sz="1200" b="1" dirty="0">
              <a:solidFill>
                <a:schemeClr val="bg1"/>
              </a:solidFill>
              <a:latin typeface="メイリオ" panose="020B0604030504040204" pitchFamily="50" charset="-128"/>
              <a:ea typeface="メイリオ" panose="020B0604030504040204" pitchFamily="50" charset="-128"/>
            </a:endParaRPr>
          </a:p>
          <a:p>
            <a:pPr algn="ctr"/>
            <a:r>
              <a:rPr lang="en-US" altLang="ja-JP" sz="800" b="1" dirty="0">
                <a:solidFill>
                  <a:schemeClr val="bg1"/>
                </a:solidFill>
                <a:latin typeface="メイリオ" panose="020B0604030504040204" pitchFamily="50" charset="-128"/>
                <a:ea typeface="メイリオ" panose="020B0604030504040204" pitchFamily="50" charset="-128"/>
              </a:rPr>
              <a:t>(LINE</a:t>
            </a:r>
            <a:r>
              <a:rPr lang="ja-JP" altLang="en-US" sz="800" b="1" dirty="0">
                <a:solidFill>
                  <a:schemeClr val="bg1"/>
                </a:solidFill>
                <a:latin typeface="メイリオ" panose="020B0604030504040204" pitchFamily="50" charset="-128"/>
                <a:ea typeface="メイリオ" panose="020B0604030504040204" pitchFamily="50" charset="-128"/>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C000"/>
                </a:solidFill>
                <a:latin typeface="メイリオ" panose="020B0604030504040204" pitchFamily="50" charset="-128"/>
                <a:ea typeface="メイリオ" panose="020B0604030504040204" pitchFamily="50" charset="-128"/>
              </a:rPr>
              <a:t>施策の流れ</a:t>
            </a:r>
          </a:p>
        </p:txBody>
      </p:sp>
    </p:spTree>
    <p:extLst>
      <p:ext uri="{BB962C8B-B14F-4D97-AF65-F5344CB8AC3E}">
        <p14:creationId xmlns:p14="http://schemas.microsoft.com/office/powerpoint/2010/main" val="24218423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業態平均で</a:t>
            </a:r>
            <a:r>
              <a:rPr lang="ja-JP" altLang="en-US" sz="1400" b="1" dirty="0">
                <a:solidFill>
                  <a:srgbClr val="FF0000"/>
                </a:solidFill>
                <a:latin typeface="メイリオ" panose="020B0604030504040204" pitchFamily="50" charset="-128"/>
                <a:ea typeface="メイリオ" panose="020B0604030504040204" pitchFamily="50" charset="-128"/>
              </a:rPr>
              <a:t>最大３</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のユーザーは有効化</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マネタイズ可能</a:t>
            </a:r>
            <a:r>
              <a:rPr lang="ja-JP" altLang="en-US" sz="1400" dirty="0">
                <a:solidFill>
                  <a:srgbClr val="343434"/>
                </a:solidFill>
                <a:latin typeface="メイリオ" panose="020B0604030504040204" pitchFamily="50" charset="-128"/>
                <a:ea typeface="メイリオ" panose="020B0604030504040204" pitchFamily="50" charset="-128"/>
              </a:rPr>
              <a:t> とされている。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rPr>
              <a:t>LINE</a:t>
            </a:r>
            <a:r>
              <a:rPr lang="ja-JP" altLang="en-US" sz="1400" dirty="0">
                <a:solidFill>
                  <a:srgbClr val="343434"/>
                </a:solidFill>
                <a:latin typeface="メイリオ" panose="020B0604030504040204" pitchFamily="50" charset="-128"/>
                <a:ea typeface="メイリオ" panose="020B0604030504040204" pitchFamily="50" charset="-128"/>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FF0000"/>
                </a:solidFill>
                <a:latin typeface="メイリオ" panose="020B0604030504040204" pitchFamily="50" charset="-128"/>
                <a:ea typeface="メイリオ" panose="020B0604030504040204" pitchFamily="50" charset="-128"/>
              </a:rPr>
              <a:t>CV</a:t>
            </a:r>
            <a:r>
              <a:rPr kumimoji="1" lang="ja-JP" altLang="en-US" sz="1100" b="1" dirty="0">
                <a:solidFill>
                  <a:srgbClr val="FF0000"/>
                </a:solidFill>
                <a:latin typeface="メイリオ" panose="020B0604030504040204" pitchFamily="50" charset="-128"/>
                <a:ea typeface="メイリオ" panose="020B0604030504040204" pitchFamily="50" charset="-128"/>
              </a:rPr>
              <a:t>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FF0000"/>
                </a:solidFill>
                <a:latin typeface="メイリオ" panose="020B0604030504040204" pitchFamily="50" charset="-128"/>
                <a:ea typeface="メイリオ" panose="020B0604030504040204" pitchFamily="50" charset="-128"/>
              </a:rPr>
              <a:t>※</a:t>
            </a:r>
            <a:r>
              <a:rPr lang="ja-JP" altLang="en-US" sz="1000" dirty="0">
                <a:solidFill>
                  <a:srgbClr val="FF0000"/>
                </a:solidFill>
                <a:latin typeface="メイリオ" panose="020B0604030504040204" pitchFamily="50" charset="-128"/>
                <a:ea typeface="メイリオ" panose="020B0604030504040204" pitchFamily="50" charset="-128"/>
              </a:rPr>
              <a:t>平均値</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FF0000"/>
                </a:solidFill>
                <a:latin typeface="メイリオ" panose="020B0604030504040204" pitchFamily="50" charset="-128"/>
                <a:ea typeface="メイリオ" panose="020B0604030504040204" pitchFamily="50" charset="-128"/>
              </a:rPr>
              <a:t>３</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1.5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2808838"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a:t>
            </a: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　</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[CRM</a:t>
            </a:r>
            <a:r>
              <a:rPr lang="ja-JP" altLang="en-US" sz="1400" b="1" dirty="0">
                <a:solidFill>
                  <a:srgbClr val="FF0000"/>
                </a:solidFill>
                <a:latin typeface="メイリオ" panose="020B0604030504040204" pitchFamily="50" charset="-128"/>
                <a:ea typeface="メイリオ" panose="020B0604030504040204" pitchFamily="50" charset="-128"/>
                <a:cs typeface="Meiryo"/>
                <a:sym typeface="Meiryo"/>
              </a:rPr>
              <a:t>及び</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1400" b="1" dirty="0">
                <a:solidFill>
                  <a:srgbClr val="FF0000"/>
                </a:solidFill>
                <a:latin typeface="メイリオ" panose="020B0604030504040204" pitchFamily="50" charset="-128"/>
                <a:ea typeface="メイリオ" panose="020B0604030504040204" pitchFamily="50" charset="-128"/>
                <a:cs typeface="Meiryo"/>
                <a:sym typeface="Meiryo"/>
              </a:rPr>
              <a:t>ツールとの連携</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rPr>
              <a:t>「</a:t>
            </a:r>
            <a:r>
              <a:rPr kumimoji="1" lang="en-US" altLang="ja-JP" sz="1400" dirty="0">
                <a:solidFill>
                  <a:srgbClr val="073763"/>
                </a:solidFill>
                <a:latin typeface="メイリオ" panose="020B0604030504040204" pitchFamily="50" charset="-128"/>
                <a:ea typeface="メイリオ" panose="020B0604030504040204" pitchFamily="50" charset="-128"/>
              </a:rPr>
              <a:t>CRM</a:t>
            </a:r>
            <a:r>
              <a:rPr kumimoji="1" lang="ja-JP" altLang="en-US" sz="1400" dirty="0">
                <a:solidFill>
                  <a:srgbClr val="073763"/>
                </a:solidFill>
                <a:latin typeface="メイリオ" panose="020B0604030504040204" pitchFamily="50" charset="-128"/>
                <a:ea typeface="メイリオ" panose="020B0604030504040204" pitchFamily="50" charset="-128"/>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rPr>
              <a:t>が重要</a:t>
            </a:r>
            <a:br>
              <a:rPr lang="en-US" altLang="ja-JP" sz="1400" dirty="0">
                <a:solidFill>
                  <a:srgbClr val="073763"/>
                </a:solidFill>
                <a:latin typeface="メイリオ" panose="020B0604030504040204" pitchFamily="50" charset="-128"/>
                <a:ea typeface="メイリオ" panose="020B0604030504040204" pitchFamily="50" charset="-128"/>
              </a:rPr>
            </a:br>
            <a:r>
              <a:rPr lang="ja-JP" altLang="en-US" sz="1400" b="1" dirty="0">
                <a:solidFill>
                  <a:srgbClr val="073763"/>
                </a:solidFill>
                <a:latin typeface="メイリオ" panose="020B0604030504040204" pitchFamily="50" charset="-128"/>
                <a:ea typeface="メイリオ" panose="020B0604030504040204" pitchFamily="50" charset="-128"/>
              </a:rPr>
              <a:t>要件定義</a:t>
            </a:r>
            <a:r>
              <a:rPr lang="ja-JP" altLang="en-US" sz="1400" dirty="0">
                <a:solidFill>
                  <a:srgbClr val="073763"/>
                </a:solidFill>
                <a:latin typeface="メイリオ" panose="020B0604030504040204" pitchFamily="50" charset="-128"/>
                <a:ea typeface="メイリオ" panose="020B0604030504040204" pitchFamily="50" charset="-128"/>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CRM</a:t>
            </a:r>
            <a:r>
              <a:rPr lang="ja-JP" altLang="en-US" sz="1400" dirty="0">
                <a:latin typeface="メイリオ" panose="020B0604030504040204" pitchFamily="50" charset="-128"/>
                <a:ea typeface="メイリオ" panose="020B0604030504040204" pitchFamily="50" charset="-128"/>
                <a:cs typeface="Meiryo"/>
                <a:sym typeface="Meiryo"/>
              </a:rPr>
              <a:t>、</a:t>
            </a:r>
            <a:r>
              <a:rPr lang="en-US" altLang="ja-JP" sz="1400" dirty="0">
                <a:latin typeface="メイリオ" panose="020B0604030504040204" pitchFamily="50" charset="-128"/>
                <a:ea typeface="メイリオ" panose="020B0604030504040204" pitchFamily="50" charset="-128"/>
                <a:cs typeface="Meiryo"/>
                <a:sym typeface="Meiryo"/>
              </a:rPr>
              <a:t>API</a:t>
            </a:r>
            <a:r>
              <a:rPr lang="ja-JP" altLang="en-US" sz="1400" dirty="0">
                <a:latin typeface="メイリオ" panose="020B0604030504040204" pitchFamily="50" charset="-128"/>
                <a:ea typeface="メイリオ" panose="020B0604030504040204" pitchFamily="50" charset="-128"/>
                <a:cs typeface="Meiryo"/>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貴社内の顧客管理（</a:t>
            </a:r>
            <a:r>
              <a:rPr lang="en-US" altLang="ja-JP" sz="1400" dirty="0">
                <a:latin typeface="メイリオ" panose="020B0604030504040204" pitchFamily="50" charset="-128"/>
                <a:ea typeface="メイリオ" panose="020B0604030504040204" pitchFamily="50" charset="-128"/>
                <a:cs typeface="Meiryo"/>
                <a:sym typeface="Meiryo"/>
              </a:rPr>
              <a:t>CRM</a:t>
            </a:r>
            <a:r>
              <a:rPr lang="ja-JP" altLang="en-US" sz="1400" dirty="0">
                <a:latin typeface="メイリオ" panose="020B0604030504040204" pitchFamily="50" charset="-128"/>
                <a:ea typeface="メイリオ" panose="020B0604030504040204" pitchFamily="50" charset="-128"/>
                <a:cs typeface="Meiryo"/>
                <a:sym typeface="Meiryo"/>
              </a:rPr>
              <a:t>）ツールとの連携の実施も可能です。</a:t>
            </a:r>
            <a:r>
              <a:rPr lang="ja-JP" altLang="en-US" sz="1100" dirty="0">
                <a:solidFill>
                  <a:srgbClr val="FF0000"/>
                </a:solidFill>
                <a:latin typeface="メイリオ" panose="020B0604030504040204" pitchFamily="50" charset="-128"/>
                <a:ea typeface="メイリオ" panose="020B0604030504040204" pitchFamily="50" charset="-128"/>
                <a:cs typeface="Meiryo"/>
                <a:sym typeface="Meiryo"/>
              </a:rPr>
              <a:t> </a:t>
            </a:r>
            <a:r>
              <a:rPr lang="en-US" altLang="ja-JP" sz="11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100" dirty="0">
                <a:solidFill>
                  <a:srgbClr val="FF0000"/>
                </a:solidFill>
                <a:latin typeface="メイリオ" panose="020B0604030504040204" pitchFamily="50" charset="-128"/>
                <a:ea typeface="メイリオ" panose="020B0604030504040204" pitchFamily="50" charset="-128"/>
                <a:cs typeface="Meiryo"/>
                <a:sym typeface="Meiryo"/>
              </a:rPr>
              <a:t>開発は別途費用</a:t>
            </a:r>
            <a:endParaRPr lang="en-US" altLang="ja-JP" sz="1400" dirty="0">
              <a:solidFill>
                <a:srgbClr val="FF0000"/>
              </a:solidFill>
              <a:latin typeface="メイリオ" panose="020B0604030504040204" pitchFamily="50" charset="-128"/>
              <a:ea typeface="メイリオ" panose="020B0604030504040204" pitchFamily="50" charset="-128"/>
              <a:cs typeface="Meiryo"/>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メッセ送信</a:t>
            </a:r>
          </a:p>
        </p:txBody>
      </p:sp>
    </p:spTree>
    <p:extLst>
      <p:ext uri="{BB962C8B-B14F-4D97-AF65-F5344CB8AC3E}">
        <p14:creationId xmlns:p14="http://schemas.microsoft.com/office/powerpoint/2010/main" val="9826497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その他 代表的な活用機能</a:t>
            </a:r>
            <a:endParaRPr sz="1600" b="1" dirty="0">
              <a:solidFill>
                <a:srgbClr val="002060"/>
              </a:solidFill>
              <a:latin typeface="Meiryo"/>
              <a:ea typeface="Meiryo"/>
              <a:cs typeface="Meiryo"/>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ミニアプリ</a:t>
            </a:r>
            <a:endParaRPr lang="en-US" altLang="ja-JP" sz="1600" b="1" dirty="0">
              <a:latin typeface="メイリオ" panose="020B0604030504040204" pitchFamily="50" charset="-128"/>
              <a:ea typeface="メイリオ" panose="020B0604030504040204" pitchFamily="50" charset="-128"/>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内で活用できるミニアプリでは、ゲームや抽選といった機能を</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アプリ開発よりも大幅に格安な価格帯で利用できるサービス。</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チャット</a:t>
            </a:r>
            <a:r>
              <a:rPr lang="en-US" altLang="ja-JP" sz="1600" b="1" dirty="0">
                <a:solidFill>
                  <a:schemeClr val="tx1">
                    <a:lumMod val="65000"/>
                    <a:lumOff val="35000"/>
                  </a:schemeClr>
                </a:solidFill>
                <a:latin typeface="Meiryo"/>
                <a:ea typeface="Meiryo"/>
                <a:cs typeface="Meiryo"/>
                <a:sym typeface="Meiryo"/>
              </a:rPr>
              <a:t>Plus</a:t>
            </a:r>
            <a:r>
              <a:rPr lang="ja-JP" altLang="en-US" sz="1600" b="1" dirty="0">
                <a:solidFill>
                  <a:schemeClr val="tx1">
                    <a:lumMod val="65000"/>
                    <a:lumOff val="35000"/>
                  </a:schemeClr>
                </a:solidFill>
                <a:latin typeface="Meiryo"/>
                <a:ea typeface="Meiryo"/>
                <a:cs typeface="Meiryo"/>
                <a:sym typeface="Meiryo"/>
              </a:rPr>
              <a:t>」は、</a:t>
            </a:r>
            <a:r>
              <a:rPr lang="en-US" altLang="ja-JP" sz="1600" b="1" dirty="0">
                <a:solidFill>
                  <a:schemeClr val="tx1">
                    <a:lumMod val="65000"/>
                    <a:lumOff val="35000"/>
                  </a:schemeClr>
                </a:solidFill>
                <a:latin typeface="Meiryo"/>
                <a:ea typeface="Meiryo"/>
                <a:cs typeface="Meiryo"/>
                <a:sym typeface="Meiryo"/>
              </a:rPr>
              <a:t>FAQ</a:t>
            </a:r>
            <a:r>
              <a:rPr lang="ja-JP" altLang="en-US" sz="1600" b="1" dirty="0">
                <a:solidFill>
                  <a:schemeClr val="tx1">
                    <a:lumMod val="65000"/>
                    <a:lumOff val="35000"/>
                  </a:schemeClr>
                </a:solidFill>
                <a:latin typeface="Meiryo"/>
                <a:ea typeface="Meiryo"/>
                <a:cs typeface="Meiryo"/>
                <a:sym typeface="Meiryo"/>
              </a:rPr>
              <a:t>をもとにした</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による自動応答や、</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Meiryo"/>
              <a:ea typeface="Meiryo"/>
              <a:cs typeface="Meiryo"/>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a:t>
            </a:r>
            <a:r>
              <a:rPr lang="en-US" altLang="ja-JP" sz="1600" b="1" dirty="0" err="1">
                <a:latin typeface="メイリオ" panose="020B0604030504040204" pitchFamily="50" charset="-128"/>
                <a:ea typeface="メイリオ" panose="020B0604030504040204" pitchFamily="50" charset="-128"/>
              </a:rPr>
              <a:t>LINE】Chat</a:t>
            </a:r>
            <a:r>
              <a:rPr lang="en-US" altLang="ja-JP" sz="1600" b="1" dirty="0">
                <a:latin typeface="メイリオ" panose="020B0604030504040204" pitchFamily="50" charset="-128"/>
                <a:ea typeface="メイリオ" panose="020B0604030504040204" pitchFamily="50" charset="-128"/>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ホームページから気軽にチャットで</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問い合わせができるようになり</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資料請求や商品の購入に繋がる。</a:t>
            </a:r>
            <a:endParaRPr lang="en-US" altLang="ja-JP" sz="1600" b="1" dirty="0">
              <a:solidFill>
                <a:schemeClr val="tx1">
                  <a:lumMod val="65000"/>
                  <a:lumOff val="35000"/>
                </a:schemeClr>
              </a:solidFill>
              <a:latin typeface="Meiryo"/>
              <a:ea typeface="Meiryo"/>
              <a:cs typeface="Meiryo"/>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できる</a:t>
            </a:r>
            <a:endParaRPr lang="en-US" sz="1554" b="1" dirty="0">
              <a:solidFill>
                <a:srgbClr val="494848"/>
              </a:solidFill>
              <a:latin typeface="メイリオ" panose="020B0604030504040204" pitchFamily="50" charset="-128"/>
              <a:ea typeface="メイリオ" panose="020B0604030504040204" pitchFamily="50" charset="-128"/>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公式</a:t>
            </a:r>
            <a:r>
              <a:rPr lang="en-US" altLang="ja-JP" sz="1554" b="1" dirty="0">
                <a:solidFill>
                  <a:srgbClr val="494848"/>
                </a:solidFill>
                <a:latin typeface="メイリオ" panose="020B0604030504040204" pitchFamily="50" charset="-128"/>
                <a:ea typeface="メイリオ" panose="020B0604030504040204" pitchFamily="50" charset="-128"/>
              </a:rPr>
              <a:t>LINE</a:t>
            </a:r>
            <a:r>
              <a:rPr lang="ja-JP" altLang="en-US" sz="1554" b="1" dirty="0">
                <a:solidFill>
                  <a:srgbClr val="494848"/>
                </a:solidFill>
                <a:latin typeface="メイリオ" panose="020B0604030504040204" pitchFamily="50" charset="-128"/>
                <a:ea typeface="メイリオ" panose="020B0604030504040204" pitchFamily="50" charset="-128"/>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rPr>
              <a:t>LINE</a:t>
            </a:r>
            <a:r>
              <a:rPr lang="ja-JP" altLang="en-US" sz="1554" b="1" dirty="0">
                <a:solidFill>
                  <a:srgbClr val="494848"/>
                </a:solidFill>
                <a:latin typeface="メイリオ" panose="020B0604030504040204" pitchFamily="50" charset="-128"/>
                <a:ea typeface="メイリオ" panose="020B0604030504040204" pitchFamily="50" charset="-128"/>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できる</a:t>
            </a:r>
            <a:endParaRPr lang="en-US" sz="1554" b="1" dirty="0">
              <a:solidFill>
                <a:srgbClr val="494848"/>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6927665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コール</a:t>
            </a:r>
            <a:r>
              <a:rPr lang="en-US" altLang="ja-JP" sz="1600" b="1" dirty="0">
                <a:solidFill>
                  <a:schemeClr val="tx1">
                    <a:lumMod val="65000"/>
                    <a:lumOff val="35000"/>
                  </a:schemeClr>
                </a:solidFill>
                <a:latin typeface="Meiryo"/>
                <a:ea typeface="Meiryo"/>
                <a:cs typeface="Meiryo"/>
                <a:sym typeface="Meiryo"/>
              </a:rPr>
              <a:t>Plus</a:t>
            </a:r>
            <a:r>
              <a:rPr lang="ja-JP" altLang="en-US" sz="1600" b="1" dirty="0">
                <a:solidFill>
                  <a:schemeClr val="tx1">
                    <a:lumMod val="65000"/>
                    <a:lumOff val="35000"/>
                  </a:schemeClr>
                </a:solidFill>
                <a:latin typeface="Meiryo"/>
                <a:ea typeface="Meiryo"/>
                <a:cs typeface="Meiryo"/>
                <a:sym typeface="Meiryo"/>
              </a:rPr>
              <a:t>」は、</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公式アカウントの有料オプション機能で、</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a:t>
            </a:r>
            <a:r>
              <a:rPr lang="en-US" altLang="ja-JP" sz="1600" b="1" dirty="0" err="1">
                <a:latin typeface="メイリオ" panose="020B0604030504040204" pitchFamily="50" charset="-128"/>
                <a:ea typeface="メイリオ" panose="020B0604030504040204" pitchFamily="50" charset="-128"/>
              </a:rPr>
              <a:t>LINE】Call</a:t>
            </a:r>
            <a:r>
              <a:rPr lang="en-US" altLang="ja-JP" sz="1600" b="1" dirty="0">
                <a:latin typeface="メイリオ" panose="020B0604030504040204" pitchFamily="50" charset="-128"/>
                <a:ea typeface="メイリオ" panose="020B0604030504040204" pitchFamily="50" charset="-128"/>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Meiryo"/>
                <a:ea typeface="Meiryo"/>
                <a:cs typeface="Meiryo"/>
                <a:sym typeface="Meiryo"/>
              </a:rPr>
              <a:t>引用：</a:t>
            </a:r>
            <a:r>
              <a:rPr lang="en-US" altLang="ja-JP" sz="1000" b="1" dirty="0">
                <a:solidFill>
                  <a:schemeClr val="tx1">
                    <a:lumMod val="65000"/>
                    <a:lumOff val="35000"/>
                  </a:schemeClr>
                </a:solidFill>
                <a:latin typeface="Meiryo"/>
                <a:ea typeface="Meiryo"/>
                <a:cs typeface="Meiryo"/>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さらに「</a:t>
            </a:r>
            <a:r>
              <a:rPr lang="en-US" altLang="ja-JP" sz="1600" b="1" dirty="0">
                <a:solidFill>
                  <a:schemeClr val="tx1">
                    <a:lumMod val="65000"/>
                    <a:lumOff val="35000"/>
                  </a:schemeClr>
                </a:solidFill>
                <a:latin typeface="Meiryo"/>
                <a:ea typeface="Meiryo"/>
                <a:cs typeface="Meiryo"/>
                <a:sym typeface="Meiryo"/>
              </a:rPr>
              <a:t>LINE Ai Call</a:t>
            </a:r>
            <a:r>
              <a:rPr lang="ja-JP" altLang="en-US" sz="1600" b="1" dirty="0">
                <a:solidFill>
                  <a:schemeClr val="tx1">
                    <a:lumMod val="65000"/>
                    <a:lumOff val="35000"/>
                  </a:schemeClr>
                </a:solidFill>
                <a:latin typeface="Meiryo"/>
                <a:ea typeface="Meiryo"/>
                <a:cs typeface="Meiryo"/>
                <a:sym typeface="Meiryo"/>
              </a:rPr>
              <a:t>」を活用するとユーザーの要望に対して</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による自然な</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対話応答が可能に。要件に応じて</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と有人オペレータの振り分け業務効率化を支援。</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でログイン</a:t>
            </a:r>
            <a:endParaRPr lang="en-US" altLang="ja-JP" sz="16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Meiryo"/>
                <a:ea typeface="Meiryo"/>
                <a:cs typeface="Meiryo"/>
                <a:sym typeface="Meiryo"/>
              </a:rPr>
              <a:t>引用：</a:t>
            </a:r>
            <a:r>
              <a:rPr lang="en-US" altLang="ja-JP" sz="1000" b="1" dirty="0">
                <a:solidFill>
                  <a:schemeClr val="tx1">
                    <a:lumMod val="65000"/>
                    <a:lumOff val="35000"/>
                  </a:schemeClr>
                </a:solidFill>
                <a:latin typeface="Meiryo"/>
                <a:ea typeface="Meiryo"/>
                <a:cs typeface="Meiryo"/>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でログイン」は、</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上のユーザー情報を活用して</a:t>
            </a:r>
            <a:r>
              <a:rPr lang="en-US" altLang="ja-JP" sz="1600" b="1" dirty="0">
                <a:solidFill>
                  <a:schemeClr val="tx1">
                    <a:lumMod val="65000"/>
                    <a:lumOff val="35000"/>
                  </a:schemeClr>
                </a:solidFill>
                <a:latin typeface="Meiryo"/>
                <a:ea typeface="Meiryo"/>
                <a:cs typeface="Meiryo"/>
                <a:sym typeface="Meiryo"/>
              </a:rPr>
              <a:t>WEB</a:t>
            </a:r>
            <a:r>
              <a:rPr lang="ja-JP" altLang="en-US" sz="1600" b="1" dirty="0">
                <a:solidFill>
                  <a:schemeClr val="tx1">
                    <a:lumMod val="65000"/>
                    <a:lumOff val="35000"/>
                  </a:schemeClr>
                </a:solidFill>
                <a:latin typeface="Meiryo"/>
                <a:ea typeface="Meiryo"/>
                <a:cs typeface="Meiryo"/>
                <a:sym typeface="Meiryo"/>
              </a:rPr>
              <a:t>サイト登録が出来る仕組み。</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ID</a:t>
            </a:r>
            <a:r>
              <a:rPr lang="ja-JP" altLang="en-US" sz="1600" b="1" dirty="0">
                <a:solidFill>
                  <a:schemeClr val="tx1">
                    <a:lumMod val="65000"/>
                    <a:lumOff val="35000"/>
                  </a:schemeClr>
                </a:solidFill>
                <a:latin typeface="Meiryo"/>
                <a:ea typeface="Meiryo"/>
                <a:cs typeface="Meiryo"/>
                <a:sym typeface="Meiryo"/>
              </a:rPr>
              <a:t>連携を完了することにより、サービス</a:t>
            </a:r>
            <a:r>
              <a:rPr lang="en-US" altLang="ja-JP" sz="1600" b="1" dirty="0">
                <a:solidFill>
                  <a:schemeClr val="tx1">
                    <a:lumMod val="65000"/>
                    <a:lumOff val="35000"/>
                  </a:schemeClr>
                </a:solidFill>
                <a:latin typeface="Meiryo"/>
                <a:ea typeface="Meiryo"/>
                <a:cs typeface="Meiryo"/>
                <a:sym typeface="Meiryo"/>
              </a:rPr>
              <a:t>(WEB) </a:t>
            </a:r>
            <a:r>
              <a:rPr lang="ja-JP" altLang="en-US" sz="1600" b="1" dirty="0">
                <a:solidFill>
                  <a:schemeClr val="tx1">
                    <a:lumMod val="65000"/>
                    <a:lumOff val="35000"/>
                  </a:schemeClr>
                </a:solidFill>
                <a:latin typeface="Meiryo"/>
                <a:ea typeface="Meiryo"/>
                <a:cs typeface="Meiryo"/>
                <a:sym typeface="Meiryo"/>
              </a:rPr>
              <a:t>⇔ </a:t>
            </a:r>
            <a:r>
              <a:rPr lang="en-US" altLang="ja-JP" sz="1600" b="1" dirty="0">
                <a:solidFill>
                  <a:schemeClr val="tx1">
                    <a:lumMod val="65000"/>
                    <a:lumOff val="35000"/>
                  </a:schemeClr>
                </a:solidFill>
                <a:latin typeface="Meiryo"/>
                <a:ea typeface="Meiryo"/>
                <a:cs typeface="Meiryo"/>
                <a:sym typeface="Meiryo"/>
              </a:rPr>
              <a:t>LINE </a:t>
            </a:r>
            <a:r>
              <a:rPr lang="ja-JP" altLang="en-US" sz="1600" b="1" dirty="0">
                <a:solidFill>
                  <a:schemeClr val="tx1">
                    <a:lumMod val="65000"/>
                    <a:lumOff val="35000"/>
                  </a:schemeClr>
                </a:solidFill>
                <a:latin typeface="Meiryo"/>
                <a:ea typeface="Meiryo"/>
                <a:cs typeface="Meiryo"/>
                <a:sym typeface="Meiryo"/>
              </a:rPr>
              <a:t>での効果的なメッセージが可能に。</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00"/>
                </a:solidFill>
                <a:latin typeface="メイリオ" panose="020B0604030504040204" pitchFamily="50" charset="-128"/>
                <a:ea typeface="メイリオ" panose="020B0604030504040204" pitchFamily="50" charset="-128"/>
              </a:rPr>
              <a:t>※CPF</a:t>
            </a:r>
            <a:r>
              <a:rPr lang="ja-JP" altLang="en-US" sz="1200" b="1" dirty="0">
                <a:solidFill>
                  <a:srgbClr val="FFFF00"/>
                </a:solidFill>
                <a:latin typeface="メイリオ" panose="020B0604030504040204" pitchFamily="50" charset="-128"/>
                <a:ea typeface="メイリオ" panose="020B0604030504040204" pitchFamily="50" charset="-128"/>
              </a:rPr>
              <a:t>広告</a:t>
            </a:r>
            <a:r>
              <a:rPr lang="en-US" altLang="ja-JP" sz="1200" b="1" dirty="0">
                <a:solidFill>
                  <a:srgbClr val="FFFF00"/>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060081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143137</TotalTime>
  <Words>5594</Words>
  <Application>Microsoft Office PowerPoint</Application>
  <PresentationFormat>A4 210 x 297 mm</PresentationFormat>
  <Paragraphs>1142</Paragraphs>
  <Slides>47</Slides>
  <Notes>21</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47</vt:i4>
      </vt:variant>
    </vt:vector>
  </HeadingPairs>
  <TitlesOfParts>
    <vt:vector size="54" baseType="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1962</cp:revision>
  <cp:lastPrinted>2022-11-01T11:38:14Z</cp:lastPrinted>
  <dcterms:created xsi:type="dcterms:W3CDTF">2015-09-04T09:21:15Z</dcterms:created>
  <dcterms:modified xsi:type="dcterms:W3CDTF">2026-10-12T04:56:31Z</dcterms:modified>
</cp:coreProperties>
</file>