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8"/>
  </p:notesMasterIdLst>
  <p:handoutMasterIdLst>
    <p:handoutMasterId r:id="rId9"/>
  </p:handoutMasterIdLst>
  <p:sldIdLst>
    <p:sldId id="3043" r:id="rId3"/>
    <p:sldId id="3044" r:id="rId4"/>
    <p:sldId id="3039" r:id="rId5"/>
    <p:sldId id="3041" r:id="rId6"/>
    <p:sldId id="3042" r:id="rId7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450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12192119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7476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7474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12192119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9880719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広告と一緒にサンクスLINEを実施する理由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広告はCVまで、サンクスLINEはCVの後を担う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2000" y="1800000"/>
            <a:ext cx="1655999" cy="574200"/>
          </a:xfrm>
          <a:prstGeom prst="rect">
            <a:avLst/>
          </a:prstGeom>
          <a:noFill/>
        </p:spPr>
        <p:txBody>
          <a:bodyPr wrap="square" anchor="b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CV獲得まで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8000" y="2405520"/>
            <a:ext cx="936000" cy="251999"/>
          </a:xfrm>
          <a:prstGeom prst="roundRect">
            <a:avLst>
              <a:gd name="adj" fmla="val 50000"/>
            </a:avLst>
          </a:prstGeom>
          <a:solidFill>
            <a:srgbClr val="FE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AD領域</a:t>
            </a:r>
          </a:p>
        </p:txBody>
      </p:sp>
      <p:sp>
        <p:nvSpPr>
          <p:cNvPr id="8" name="Pentagon 7"/>
          <p:cNvSpPr/>
          <p:nvPr/>
        </p:nvSpPr>
        <p:spPr>
          <a:xfrm>
            <a:off x="2556000" y="1800000"/>
            <a:ext cx="1591807" cy="1044000"/>
          </a:xfrm>
          <a:prstGeom prst="homePlate">
            <a:avLst>
              <a:gd name="adj" fmla="val 22000"/>
            </a:avLst>
          </a:prstGeom>
          <a:solidFill>
            <a:srgbClr val="F59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64000" y="1800000"/>
            <a:ext cx="1285807" cy="104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</a:t>
            </a:r>
          </a:p>
        </p:txBody>
      </p:sp>
      <p:sp>
        <p:nvSpPr>
          <p:cNvPr id="10" name="Chevron 9"/>
          <p:cNvSpPr/>
          <p:nvPr/>
        </p:nvSpPr>
        <p:spPr>
          <a:xfrm>
            <a:off x="4021807" y="1800000"/>
            <a:ext cx="1591807" cy="1044000"/>
          </a:xfrm>
          <a:prstGeom prst="chevron">
            <a:avLst>
              <a:gd name="adj" fmla="val 22000"/>
            </a:avLst>
          </a:prstGeom>
          <a:solidFill>
            <a:srgbClr val="FE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5807" y="1800000"/>
            <a:ext cx="1159807" cy="104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LP</a:t>
            </a:r>
          </a:p>
        </p:txBody>
      </p:sp>
      <p:sp>
        <p:nvSpPr>
          <p:cNvPr id="12" name="Chevron 11"/>
          <p:cNvSpPr/>
          <p:nvPr/>
        </p:nvSpPr>
        <p:spPr>
          <a:xfrm>
            <a:off x="5487614" y="1800000"/>
            <a:ext cx="1830578" cy="1044000"/>
          </a:xfrm>
          <a:prstGeom prst="chevron">
            <a:avLst>
              <a:gd name="adj" fmla="val 22000"/>
            </a:avLst>
          </a:prstGeom>
          <a:solidFill>
            <a:srgbClr val="FEF0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21614" y="1800000"/>
            <a:ext cx="1398578" cy="104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離脱防止施策</a:t>
            </a:r>
          </a:p>
        </p:txBody>
      </p:sp>
      <p:sp>
        <p:nvSpPr>
          <p:cNvPr id="14" name="Chevron 13"/>
          <p:cNvSpPr/>
          <p:nvPr/>
        </p:nvSpPr>
        <p:spPr>
          <a:xfrm>
            <a:off x="7192192" y="1800000"/>
            <a:ext cx="1591807" cy="1044000"/>
          </a:xfrm>
          <a:prstGeom prst="chevron">
            <a:avLst>
              <a:gd name="adj" fmla="val 22000"/>
            </a:avLst>
          </a:prstGeom>
          <a:solidFill>
            <a:srgbClr val="F59B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26192" y="1800000"/>
            <a:ext cx="1159807" cy="104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16000" y="1800000"/>
            <a:ext cx="2195999" cy="1044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B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000" b="1">
                <a:solidFill>
                  <a:srgbClr val="C46A00"/>
                </a:solidFill>
                <a:latin typeface="メイリオ"/>
                <a:ea typeface="メイリオ"/>
                <a:cs typeface="メイリオ"/>
              </a:rPr>
              <a:t>CPA改善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CV1件あたりの広告費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6000" y="2880000"/>
            <a:ext cx="6227999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離脱しそうなユーザーを引き止め、CVの取りこぼしを減らす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2000" y="3438000"/>
            <a:ext cx="1062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92000" y="3708000"/>
            <a:ext cx="1655999" cy="574200"/>
          </a:xfrm>
          <a:prstGeom prst="rect">
            <a:avLst/>
          </a:prstGeom>
          <a:noFill/>
        </p:spPr>
        <p:txBody>
          <a:bodyPr wrap="square" anchor="b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CV獲得後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000" y="4313520"/>
            <a:ext cx="936000" cy="251999"/>
          </a:xfrm>
          <a:prstGeom prst="roundRect">
            <a:avLst>
              <a:gd name="adj" fmla="val 50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LINE領域</a:t>
            </a:r>
          </a:p>
        </p:txBody>
      </p:sp>
      <p:sp>
        <p:nvSpPr>
          <p:cNvPr id="21" name="Pentagon 20"/>
          <p:cNvSpPr/>
          <p:nvPr/>
        </p:nvSpPr>
        <p:spPr>
          <a:xfrm>
            <a:off x="2556000" y="3708000"/>
            <a:ext cx="1124425" cy="1044000"/>
          </a:xfrm>
          <a:prstGeom prst="homePlate">
            <a:avLst>
              <a:gd name="adj" fmla="val 22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64000" y="3708000"/>
            <a:ext cx="818425" cy="104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CV</a:t>
            </a:r>
          </a:p>
        </p:txBody>
      </p:sp>
      <p:sp>
        <p:nvSpPr>
          <p:cNvPr id="23" name="Chevron 22"/>
          <p:cNvSpPr/>
          <p:nvPr/>
        </p:nvSpPr>
        <p:spPr>
          <a:xfrm>
            <a:off x="3554425" y="3708000"/>
            <a:ext cx="1756914" cy="1044000"/>
          </a:xfrm>
          <a:prstGeom prst="chevron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88425" y="3708000"/>
            <a:ext cx="1324914" cy="104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sp>
        <p:nvSpPr>
          <p:cNvPr id="25" name="Chevron 24"/>
          <p:cNvSpPr/>
          <p:nvPr/>
        </p:nvSpPr>
        <p:spPr>
          <a:xfrm>
            <a:off x="5185340" y="3708000"/>
            <a:ext cx="1756914" cy="1044000"/>
          </a:xfrm>
          <a:prstGeom prst="chevron">
            <a:avLst>
              <a:gd name="adj" fmla="val 22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19340" y="3708000"/>
            <a:ext cx="1324914" cy="104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LINEで継続フォロー</a:t>
            </a:r>
          </a:p>
        </p:txBody>
      </p:sp>
      <p:sp>
        <p:nvSpPr>
          <p:cNvPr id="27" name="Chevron 26"/>
          <p:cNvSpPr/>
          <p:nvPr/>
        </p:nvSpPr>
        <p:spPr>
          <a:xfrm>
            <a:off x="6816255" y="3708000"/>
            <a:ext cx="1967744" cy="104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50255" y="3708000"/>
            <a:ext cx="1535744" cy="104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来店・面談・購入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16000" y="3708000"/>
            <a:ext cx="2195999" cy="1044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CPO改善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D9DCEA"/>
                </a:solidFill>
                <a:latin typeface="メイリオ"/>
                <a:ea typeface="メイリオ"/>
                <a:cs typeface="メイリオ"/>
              </a:rPr>
              <a:t>来店・面談・購入1件あたりの費用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5340" y="4788000"/>
            <a:ext cx="3598659" cy="251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リマインド・情報提供で、CVの後の離脱を防ぐ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2000" y="5544000"/>
            <a:ext cx="10620000" cy="50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広告のCPA改善だけではなく、CV後まで含めて事業全体の獲得効率を改善する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11070119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lang="ja-JP" altLang="en-US" sz="1600" b="1" dirty="0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サンクスLINE｜機能・費用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92000" y="864000"/>
            <a:ext cx="3384000" cy="46800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2000" y="1404000"/>
            <a:ext cx="1620000" cy="540000"/>
          </a:xfrm>
          <a:prstGeom prst="roundRect">
            <a:avLst>
              <a:gd name="adj" fmla="val 1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初期：15万円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56000" y="1404000"/>
            <a:ext cx="1620000" cy="540000"/>
          </a:xfrm>
          <a:prstGeom prst="roundRect">
            <a:avLst>
              <a:gd name="adj" fmla="val 15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000" tIns="0" rIns="36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月額3万円〜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D966"/>
                </a:solidFill>
                <a:latin typeface="メイリオ"/>
                <a:ea typeface="メイリオ"/>
                <a:cs typeface="メイリオ"/>
              </a:rPr>
              <a:t>+設定地点追加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0" y="864000"/>
            <a:ext cx="6732000" cy="503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フォーム送信後のLINE誘導を自動化するツール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0" y="1386000"/>
            <a:ext cx="6732000" cy="251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C00000"/>
                </a:solidFill>
                <a:latin typeface="メイリオ"/>
                <a:ea typeface="メイリオ"/>
                <a:cs typeface="メイリオ"/>
              </a:rPr>
              <a:t>※既存APIツールとの併用についても、問題なく稼働が可能。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440000" y="2015999"/>
            <a:ext cx="2160000" cy="270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WEBサイト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2322000"/>
            <a:ext cx="4009499" cy="3131999"/>
          </a:xfrm>
          <a:prstGeom prst="rect">
            <a:avLst/>
          </a:prstGeom>
          <a:solidFill>
            <a:srgbClr val="FFFFFF"/>
          </a:solidFill>
          <a:ln w="12700">
            <a:solidFill>
              <a:srgbClr val="C9D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000" y="2448000"/>
            <a:ext cx="1846597" cy="252000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12" name="Rectangle 11"/>
          <p:cNvSpPr/>
          <p:nvPr/>
        </p:nvSpPr>
        <p:spPr>
          <a:xfrm>
            <a:off x="936000" y="5040000"/>
            <a:ext cx="1846597" cy="288000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フォーム入力</a:t>
            </a:r>
          </a:p>
        </p:txBody>
      </p:sp>
      <p:sp>
        <p:nvSpPr>
          <p:cNvPr id="13" name="Chevron 12"/>
          <p:cNvSpPr/>
          <p:nvPr/>
        </p:nvSpPr>
        <p:spPr>
          <a:xfrm>
            <a:off x="2880000" y="3528000"/>
            <a:ext cx="270000" cy="360000"/>
          </a:xfrm>
          <a:prstGeom prst="chevron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000" y="2448000"/>
            <a:ext cx="1417500" cy="252000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3311999" y="2599200"/>
            <a:ext cx="1273500" cy="19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WEBサイト名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0000" y="5040000"/>
            <a:ext cx="1417500" cy="28800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サンクス画面へ</a:t>
            </a:r>
          </a:p>
        </p:txBody>
      </p:sp>
      <p:sp>
        <p:nvSpPr>
          <p:cNvPr id="17" name="Rectangular Callout 16"/>
          <p:cNvSpPr/>
          <p:nvPr/>
        </p:nvSpPr>
        <p:spPr>
          <a:xfrm>
            <a:off x="5040000" y="2628000"/>
            <a:ext cx="1872000" cy="936000"/>
          </a:xfrm>
          <a:prstGeom prst="wedgeRectCallout">
            <a:avLst>
              <a:gd name="adj1" fmla="val 0"/>
              <a:gd name="adj2" fmla="val 8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44000" tIns="36000" rIns="72000" bIns="36000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CV完了後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約2〜3秒で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LINEへ自動遷移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68000" y="3816000"/>
            <a:ext cx="2015999" cy="68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092000" y="2880000"/>
            <a:ext cx="936000" cy="2340000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DYM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開発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ツール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24000" y="2015999"/>
            <a:ext cx="2988000" cy="27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動作イメージ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24000" y="2358000"/>
            <a:ext cx="2988000" cy="154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96000" y="2430000"/>
            <a:ext cx="1655999" cy="234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LINE未追加の場合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96000" y="2718000"/>
            <a:ext cx="1655999" cy="1115999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友だち登録ページへ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遷移する。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9657" y="2412000"/>
            <a:ext cx="810342" cy="144000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10565657" y="2764800"/>
            <a:ext cx="738342" cy="3024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8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ロゴ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29657" y="3096000"/>
            <a:ext cx="810342" cy="14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24000" y="3978000"/>
            <a:ext cx="2988000" cy="1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96000" y="4050000"/>
            <a:ext cx="1655999" cy="234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LINE追加済みの場合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96000" y="4338000"/>
            <a:ext cx="1655999" cy="11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トーク画面へ遷移する。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9140" y="4032000"/>
            <a:ext cx="850859" cy="151200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10676329" y="4100040"/>
            <a:ext cx="357360" cy="125999"/>
          </a:xfrm>
          <a:prstGeom prst="rect">
            <a:avLst/>
          </a:prstGeom>
          <a:noFill/>
        </p:spPr>
        <p:txBody>
          <a:bodyPr wrap="non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5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アカウント名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718872" y="4425120"/>
            <a:ext cx="493498" cy="400680"/>
          </a:xfrm>
          <a:prstGeom prst="rect">
            <a:avLst/>
          </a:prstGeom>
          <a:noFill/>
          <a:ln w="1905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8028000" y="2628000"/>
            <a:ext cx="359999" cy="828000"/>
          </a:xfrm>
          <a:prstGeom prst="line">
            <a:avLst/>
          </a:prstGeom>
          <a:ln w="19050">
            <a:solidFill>
              <a:srgbClr val="06C75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028000" y="4320000"/>
            <a:ext cx="359999" cy="324000"/>
          </a:xfrm>
          <a:prstGeom prst="line">
            <a:avLst/>
          </a:prstGeom>
          <a:ln w="19050">
            <a:solidFill>
              <a:srgbClr val="06C75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520000" y="5616000"/>
            <a:ext cx="5580000" cy="720000"/>
          </a:xfrm>
          <a:prstGeom prst="roundRect">
            <a:avLst>
              <a:gd name="adj" fmla="val 30000"/>
            </a:avLst>
          </a:prstGeom>
          <a:solidFill>
            <a:srgbClr val="E2F7E1"/>
          </a:solidFill>
          <a:ln w="12700">
            <a:solidFill>
              <a:srgbClr val="92D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フォーム入力内容を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LINEトーク入力画面へ引き継ぎ可能</a:t>
            </a:r>
          </a:p>
        </p:txBody>
      </p:sp>
      <p:cxnSp>
        <p:nvCxnSpPr>
          <p:cNvPr id="36" name="Connector 35"/>
          <p:cNvCxnSpPr/>
          <p:nvPr/>
        </p:nvCxnSpPr>
        <p:spPr>
          <a:xfrm flipH="1" flipV="1">
            <a:off x="1152000" y="5346000"/>
            <a:ext cx="1368000" cy="486000"/>
          </a:xfrm>
          <a:prstGeom prst="line">
            <a:avLst/>
          </a:prstGeom>
          <a:ln w="19050">
            <a:solidFill>
              <a:srgbClr val="06C75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100000" y="4843800"/>
            <a:ext cx="2726872" cy="1024200"/>
          </a:xfrm>
          <a:prstGeom prst="line">
            <a:avLst/>
          </a:prstGeom>
          <a:ln w="19050">
            <a:solidFill>
              <a:srgbClr val="06C755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61078"/>
            <a:ext cx="11070119" cy="289843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 dirty="0" err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実例｜予約後の来院率</a:t>
            </a:r>
            <a:endParaRPr sz="1600" b="1" dirty="0">
              <a:solidFill>
                <a:srgbClr val="00206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予約直後にLINEでつながり、前日のお知らせで来院につなげた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2000" y="1620000"/>
            <a:ext cx="3600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美容クリニック</a:t>
            </a:r>
          </a:p>
        </p:txBody>
      </p:sp>
      <p:sp>
        <p:nvSpPr>
          <p:cNvPr id="7" name="Rectangle 6"/>
          <p:cNvSpPr/>
          <p:nvPr/>
        </p:nvSpPr>
        <p:spPr>
          <a:xfrm>
            <a:off x="792000" y="2052000"/>
            <a:ext cx="2736000" cy="306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課題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792000" y="2358000"/>
            <a:ext cx="2736000" cy="27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3600000" y="3600000"/>
            <a:ext cx="216000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888000" y="2052000"/>
            <a:ext cx="4176000" cy="3060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導入・活用方法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88000" y="2358000"/>
            <a:ext cx="4176000" cy="27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8135999" y="3600000"/>
            <a:ext cx="216001" cy="0"/>
          </a:xfrm>
          <a:prstGeom prst="line">
            <a:avLst/>
          </a:prstGeom>
          <a:ln w="2540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424000" y="2052000"/>
            <a:ext cx="2988000" cy="30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24000" y="2358000"/>
            <a:ext cx="2988000" cy="27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2000" y="2556000"/>
            <a:ext cx="2376000" cy="237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予約から来院日まで、接点がない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予約後に来院しない方が一定数いる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76000" y="2538000"/>
            <a:ext cx="3600000" cy="418500"/>
          </a:xfrm>
          <a:prstGeom prst="rect">
            <a:avLst/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予約完了画面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76000" y="2967300"/>
            <a:ext cx="0" cy="194399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176000" y="3172500"/>
            <a:ext cx="3600000" cy="4185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サンクスLINE誘導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76000" y="3601799"/>
            <a:ext cx="0" cy="1944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176000" y="3806999"/>
            <a:ext cx="3600000" cy="418500"/>
          </a:xfrm>
          <a:prstGeom prst="rect">
            <a:avLst/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LINE友だち追加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76000" y="4236299"/>
            <a:ext cx="0" cy="194400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176000" y="4441500"/>
            <a:ext cx="3600000" cy="4185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予約確認・前日のお知らせをLINEで配信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4000" y="2520000"/>
            <a:ext cx="2988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予約後の来院率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4000" y="2916000"/>
            <a:ext cx="2988000" cy="12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4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40〜50%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4000" y="4140000"/>
            <a:ext cx="2988000" cy="432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改善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2000" y="5400000"/>
            <a:ext cx="1062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2000" y="5472000"/>
            <a:ext cx="10620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参考｜LINEでつながった後の活用例（LINEヤフー公式の導入事例）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000" y="5706000"/>
            <a:ext cx="5202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観光バス：高速バスの予約後、乗車前日の案内をLINEで配信（琴平バス）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02000" y="5706000"/>
            <a:ext cx="5310000" cy="36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皮膚科クリニック：友だち追加後のステップ配信で、カウンセリング予約へ（アクネクリニック）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000" y="6120000"/>
            <a:ext cx="10620000" cy="18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※参考の2例はサンクスLINE誘導の成果ではなく、LINEでつながった後の活用例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ターゲット業界別｜サンクスLINE活用イメージ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CVの後にLINEで送る内容は、業界ごとに変わる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096000" y="1728000"/>
            <a:ext cx="0" cy="4500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92000" y="3978000"/>
            <a:ext cx="10608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thanks_scen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168" y="1692000"/>
            <a:ext cx="1771831" cy="2214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792000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24000" y="1746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2322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70000" y="2700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4480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21999" y="2700000"/>
            <a:ext cx="832169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2000" y="3221999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3420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前日リマインド／求人紹介／選考のご案内</a:t>
            </a:r>
          </a:p>
        </p:txBody>
      </p:sp>
      <p:pic>
        <p:nvPicPr>
          <p:cNvPr id="17" name="Picture 16" descr="thanks_scen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168" y="1692000"/>
            <a:ext cx="1771831" cy="2214000"/>
          </a:xfrm>
          <a:prstGeom prst="rect">
            <a:avLst/>
          </a:prstGeom>
        </p:spPr>
      </p:pic>
      <p:sp>
        <p:nvSpPr>
          <p:cNvPr id="18" name="Oval 17"/>
          <p:cNvSpPr/>
          <p:nvPr/>
        </p:nvSpPr>
        <p:spPr>
          <a:xfrm>
            <a:off x="6312000" y="1782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4000" y="1746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不動産投資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12000" y="2322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相談予約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90000" y="2700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7968000" y="2340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42000" y="2700000"/>
            <a:ext cx="832168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312000" y="3221999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2000" y="3420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面談リマインド／セミナー案内／物件情報</a:t>
            </a:r>
          </a:p>
        </p:txBody>
      </p:sp>
      <p:pic>
        <p:nvPicPr>
          <p:cNvPr id="26" name="Picture 25" descr="thanks_scen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8168" y="4050000"/>
            <a:ext cx="1771831" cy="2214000"/>
          </a:xfrm>
          <a:prstGeom prst="rect">
            <a:avLst/>
          </a:prstGeom>
        </p:spPr>
      </p:pic>
      <p:sp>
        <p:nvSpPr>
          <p:cNvPr id="27" name="Oval 26"/>
          <p:cNvSpPr/>
          <p:nvPr/>
        </p:nvSpPr>
        <p:spPr>
          <a:xfrm>
            <a:off x="792000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24000" y="4104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ホビー（toC）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2000" y="4680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購入・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会員登録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070000" y="5058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24480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21999" y="5058000"/>
            <a:ext cx="832169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92000" y="5580000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000" y="5778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限定商品の案内／キャンペーン・クーポン</a:t>
            </a:r>
          </a:p>
        </p:txBody>
      </p:sp>
      <p:pic>
        <p:nvPicPr>
          <p:cNvPr id="35" name="Picture 34" descr="thanks_scen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8168" y="4050000"/>
            <a:ext cx="1771831" cy="2214000"/>
          </a:xfrm>
          <a:prstGeom prst="rect">
            <a:avLst/>
          </a:prstGeom>
        </p:spPr>
      </p:pic>
      <p:sp>
        <p:nvSpPr>
          <p:cNvPr id="36" name="Oval 35"/>
          <p:cNvSpPr/>
          <p:nvPr/>
        </p:nvSpPr>
        <p:spPr>
          <a:xfrm>
            <a:off x="6312000" y="4140000"/>
            <a:ext cx="342000" cy="34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44000" y="4104000"/>
            <a:ext cx="2520000" cy="413999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ハウスメーカー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12000" y="4680000"/>
            <a:ext cx="1224000" cy="756000"/>
          </a:xfrm>
          <a:prstGeom prst="roundRect">
            <a:avLst>
              <a:gd name="adj" fmla="val 15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資料請求・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来場予約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590000" y="5058000"/>
            <a:ext cx="324000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968000" y="4698000"/>
            <a:ext cx="720000" cy="720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742000" y="5058000"/>
            <a:ext cx="832168" cy="0"/>
          </a:xfrm>
          <a:prstGeom prst="line">
            <a:avLst/>
          </a:prstGeom>
          <a:ln w="22225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12000" y="5580000"/>
            <a:ext cx="3244168" cy="21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その後の配信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12000" y="5778000"/>
            <a:ext cx="3244168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見学会の案内／土地情報／個別相談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11070119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DYMのコンサル支援内容・費用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11214119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ツール導入だけではなく、CPO改善に向けたLINE運用まで支援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12192119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1800000"/>
            <a:ext cx="2749500" cy="864000"/>
          </a:xfrm>
          <a:prstGeom prst="homePlate">
            <a:avLst>
              <a:gd name="adj" fmla="val 22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1800000"/>
            <a:ext cx="2443500" cy="86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サンクスLINE導入</a:t>
            </a:r>
          </a:p>
        </p:txBody>
      </p:sp>
      <p:sp>
        <p:nvSpPr>
          <p:cNvPr id="8" name="Chevron 7"/>
          <p:cNvSpPr/>
          <p:nvPr/>
        </p:nvSpPr>
        <p:spPr>
          <a:xfrm>
            <a:off x="3415500" y="1800000"/>
            <a:ext cx="2749500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9500" y="1800000"/>
            <a:ext cx="2317500" cy="86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LINE配信設計</a:t>
            </a:r>
          </a:p>
        </p:txBody>
      </p:sp>
      <p:sp>
        <p:nvSpPr>
          <p:cNvPr id="10" name="Chevron 9"/>
          <p:cNvSpPr/>
          <p:nvPr/>
        </p:nvSpPr>
        <p:spPr>
          <a:xfrm>
            <a:off x="6039000" y="1800000"/>
            <a:ext cx="2749500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3000" y="1800000"/>
            <a:ext cx="2317500" cy="86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効果計測</a:t>
            </a:r>
          </a:p>
        </p:txBody>
      </p:sp>
      <p:sp>
        <p:nvSpPr>
          <p:cNvPr id="12" name="Chevron 11"/>
          <p:cNvSpPr/>
          <p:nvPr/>
        </p:nvSpPr>
        <p:spPr>
          <a:xfrm>
            <a:off x="8662500" y="1800000"/>
            <a:ext cx="2749500" cy="864000"/>
          </a:xfrm>
          <a:prstGeom prst="chevron">
            <a:avLst>
              <a:gd name="adj" fmla="val 22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96500" y="1800000"/>
            <a:ext cx="2317500" cy="86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改善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6000" y="2844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導線設計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6000" y="3186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設定支援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59500" y="2844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あいさつメッセージ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59500" y="3186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59500" y="3528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リマインド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59500" y="3870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セグメント配信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83000" y="2844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3000" y="3186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LINE経由CV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3000" y="3528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来店・面談・購入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06500" y="2844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配信内容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06500" y="3186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配信タイミング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06500" y="3528000"/>
            <a:ext cx="2389500" cy="288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8000" tIns="0" rIns="18000" bIns="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導線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06500" y="3870000"/>
            <a:ext cx="23895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を継続改善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01250" y="4212000"/>
            <a:ext cx="0" cy="251999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754250" y="4463999"/>
            <a:ext cx="5247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4754250" y="4230000"/>
            <a:ext cx="0" cy="233999"/>
          </a:xfrm>
          <a:prstGeom prst="line">
            <a:avLst/>
          </a:prstGeom>
          <a:ln w="190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862250" y="4482000"/>
            <a:ext cx="36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計測結果をもとに、配信・導線を見直す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2000" y="4878000"/>
            <a:ext cx="1062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792000" y="5029200"/>
            <a:ext cx="64800" cy="1800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000" y="4986000"/>
            <a:ext cx="5040000" cy="27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サンクスLINE誘導ツール｜費用目安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2000" y="5292000"/>
            <a:ext cx="2583000" cy="48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15万円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375000" y="5364000"/>
            <a:ext cx="0" cy="34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375000" y="5292000"/>
            <a:ext cx="2583000" cy="48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3万円〜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46000" y="5029200"/>
            <a:ext cx="64800" cy="180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72000" y="4986000"/>
            <a:ext cx="5040000" cy="27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LINE運用コンサル｜費用目安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46000" y="5292000"/>
            <a:ext cx="1722000" cy="48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10万円〜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968000" y="5364000"/>
            <a:ext cx="0" cy="34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968000" y="5292000"/>
            <a:ext cx="1722000" cy="48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月額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20万円〜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690000" y="5364000"/>
            <a:ext cx="0" cy="34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690000" y="5292000"/>
            <a:ext cx="1722000" cy="48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期間　</a:t>
            </a: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6か月〜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102000" y="4986000"/>
            <a:ext cx="0" cy="79200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792000" y="5814000"/>
            <a:ext cx="10620000" cy="19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※施策内容・配信本数・連携範囲等により、費用は個別にお見積もりいたします。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143272</TotalTime>
  <Words>400</Words>
  <Application>Microsoft Office PowerPoint</Application>
  <PresentationFormat>ワイド画面</PresentationFormat>
  <Paragraphs>148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5</vt:i4>
      </vt:variant>
    </vt:vector>
  </HeadingPairs>
  <TitlesOfParts>
    <vt:vector size="11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1969</cp:revision>
  <cp:lastPrinted>2022-11-01T11:38:14Z</cp:lastPrinted>
  <dcterms:created xsi:type="dcterms:W3CDTF">2015-09-04T09:21:15Z</dcterms:created>
  <dcterms:modified xsi:type="dcterms:W3CDTF">2026-10-06T05:43:09Z</dcterms:modified>
</cp:coreProperties>
</file>