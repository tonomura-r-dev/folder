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10"/>
  </p:notesMasterIdLst>
  <p:handoutMasterIdLst>
    <p:handoutMasterId r:id="rId11"/>
  </p:handoutMasterIdLst>
  <p:sldIdLst>
    <p:sldId id="256" r:id="rId4"/>
    <p:sldId id="259" r:id="rId5"/>
    <p:sldId id="260" r:id="rId6"/>
    <p:sldId id="262" r:id="rId7"/>
    <p:sldId id="258" r:id="rId8"/>
    <p:sldId id="261" r:id="rId9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74" d="100"/>
          <a:sy n="74" d="100"/>
        </p:scale>
        <p:origin x="784" y="44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課題｜一度外れた応募者が、そのまま離れている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644400" y="817200"/>
            <a:ext cx="9111600" cy="3456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警備を含む保安職業の求人倍率は6.41倍。集めた応募者を、選考の途中で手放さない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4400" y="1634400"/>
            <a:ext cx="54000" cy="1872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0400" y="1584000"/>
            <a:ext cx="8503200" cy="28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警備員の採用環境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0400" y="1944000"/>
            <a:ext cx="3240000" cy="251999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保安職業の有効求人倍率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400" y="2142000"/>
            <a:ext cx="3240000" cy="864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5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6.41</a:t>
            </a:r>
            <a:r>
              <a:rPr sz="2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76000" y="2070000"/>
            <a:ext cx="1260000" cy="288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保安職業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72000" y="2098800"/>
            <a:ext cx="3456000" cy="234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81999" y="2070000"/>
            <a:ext cx="1080000" cy="288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6.41倍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76000" y="2520000"/>
            <a:ext cx="1260000" cy="288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職業全体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72000" y="2548800"/>
            <a:ext cx="593073" cy="234000"/>
          </a:xfrm>
          <a:prstGeom prst="rect">
            <a:avLst/>
          </a:prstGeom>
          <a:solidFill>
            <a:srgbClr val="8E9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19073" y="2520000"/>
            <a:ext cx="1080000" cy="288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1.10倍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400" y="3114000"/>
            <a:ext cx="8503200" cy="180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出典：労働政策研究・研修機構「職業別にみた有効求人倍率、平均求人賃金」（2025年度）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400" y="3452400"/>
            <a:ext cx="54000" cy="1872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0400" y="3402000"/>
            <a:ext cx="8503200" cy="28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選考の途中で起きていること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0400" y="3762000"/>
            <a:ext cx="1923300" cy="7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 rIns="72000" bIns="36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729700" y="4122000"/>
            <a:ext cx="198000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963700" y="3762000"/>
            <a:ext cx="1923300" cy="7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 rIns="72000" bIns="36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面接のご案内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923000" y="4122000"/>
            <a:ext cx="198000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157000" y="3762000"/>
            <a:ext cx="1923300" cy="7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 rIns="72000" bIns="36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面接に来ない・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辞退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16300" y="4122000"/>
            <a:ext cx="198000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50300" y="3762000"/>
            <a:ext cx="1923300" cy="720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 rIns="72000" bIns="36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連絡が途切れ、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そのまま離れる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0400" y="4662000"/>
            <a:ext cx="4143600" cy="1044000"/>
          </a:xfrm>
          <a:prstGeom prst="roundRect">
            <a:avLst>
              <a:gd name="adj" fmla="val 8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 rIns="72000" bIns="3600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0400" y="4662000"/>
            <a:ext cx="64800" cy="1044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400" y="4752000"/>
            <a:ext cx="3855599" cy="251999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外れた方の共通点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400" y="5004000"/>
            <a:ext cx="3855599" cy="64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一度は応募している＝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警備の仕事に関心がある方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30000" y="4662000"/>
            <a:ext cx="4143600" cy="1044000"/>
          </a:xfrm>
          <a:prstGeom prst="roundRect">
            <a:avLst>
              <a:gd name="adj" fmla="val 8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 rIns="72000" bIns="3600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130000" y="4662000"/>
            <a:ext cx="64800" cy="1044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10000" y="4752000"/>
            <a:ext cx="3855599" cy="251999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いまの対応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10000" y="5004000"/>
            <a:ext cx="3855599" cy="64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電話・メールでの再連絡は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手間がかかり、続けにくい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方針｜過去・新規の応募者をLINEでつなぎ、追い続ける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644400" y="817200"/>
            <a:ext cx="9111600" cy="3456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2つの入口からLINEの友だちを増やし、Lステップで応募・面接予約につなげる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4400" y="1620000"/>
            <a:ext cx="2736000" cy="1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 rIns="72000" bIns="3600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4400" y="1620000"/>
            <a:ext cx="2736000" cy="342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入口①　過去の応募者（重点）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0400" y="2015999"/>
            <a:ext cx="2484000" cy="503999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面接に来なかった方・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辞退した方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400" y="2628000"/>
            <a:ext cx="2484000" cy="720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SMS・メール等で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LINEの友だち追加を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ご案内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400" y="3618000"/>
            <a:ext cx="2736000" cy="1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 rIns="72000" bIns="3600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4400" y="3618000"/>
            <a:ext cx="2736000" cy="342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入口②　今後の新規応募者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0400" y="4014000"/>
            <a:ext cx="2484000" cy="251999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これから応募する方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0400" y="4374000"/>
            <a:ext cx="2484000" cy="720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応募完了後に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サンクスLINE誘導で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80400" y="2520000"/>
            <a:ext cx="180000" cy="0"/>
          </a:xfrm>
          <a:prstGeom prst="line">
            <a:avLst/>
          </a:prstGeom>
          <a:ln w="2540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380400" y="4518000"/>
            <a:ext cx="180000" cy="0"/>
          </a:xfrm>
          <a:prstGeom prst="line">
            <a:avLst/>
          </a:prstGeom>
          <a:ln w="2540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560400" y="2520000"/>
            <a:ext cx="0" cy="1998000"/>
          </a:xfrm>
          <a:prstGeom prst="line">
            <a:avLst/>
          </a:prstGeom>
          <a:ln w="2540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560400" y="3519000"/>
            <a:ext cx="223200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812400" y="3051000"/>
            <a:ext cx="1260000" cy="936000"/>
          </a:xfrm>
          <a:prstGeom prst="roundRect">
            <a:avLst>
              <a:gd name="adj" fmla="val 8000"/>
            </a:avLst>
          </a:prstGeom>
          <a:solidFill>
            <a:srgbClr val="06C755"/>
          </a:solidFill>
          <a:ln w="127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 rIns="72000" bIns="36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01200" y="3519000"/>
            <a:ext cx="194400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324400" y="2619000"/>
            <a:ext cx="2088000" cy="1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72000" rIns="108000" bIns="72000"/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Lステップで追客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・タグで状況を管理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・状況に合わせて配信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・LINEで面接予約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12400" y="3519000"/>
            <a:ext cx="126000" cy="0"/>
          </a:xfrm>
          <a:prstGeom prst="line">
            <a:avLst/>
          </a:prstGeom>
          <a:ln w="2540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538400" y="2997000"/>
            <a:ext cx="0" cy="1044000"/>
          </a:xfrm>
          <a:prstGeom prst="line">
            <a:avLst/>
          </a:prstGeom>
          <a:ln w="2540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682400" y="2619000"/>
            <a:ext cx="1591200" cy="756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CV①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応募数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（再応募を含む）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538400" y="2997000"/>
            <a:ext cx="115200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682400" y="3663000"/>
            <a:ext cx="1591200" cy="756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CV②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面接予約数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538400" y="4041000"/>
            <a:ext cx="115200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4400" y="5562000"/>
            <a:ext cx="8629200" cy="432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※過去の応募者へのご案内は、連絡先の利用目的・ご連絡の許諾を確認のうえ実施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※サンクスLINE誘導は、採用管理サービスとの連携可否を確認のうえ実施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ステップ配信｜働き方を少しずつ届ける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44400" y="817200"/>
            <a:ext cx="9111600" cy="3456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給与・働き方・現場の様子を順番に届け、もう一度応募したくなる状態をつくる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4400" y="1634400"/>
            <a:ext cx="54000" cy="1872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0400" y="1584000"/>
            <a:ext cx="8503200" cy="28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配信の流れ（例）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34000" y="2034000"/>
            <a:ext cx="7176000" cy="0"/>
          </a:xfrm>
          <a:prstGeom prst="line">
            <a:avLst/>
          </a:prstGeom>
          <a:ln w="317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333200" y="1933200"/>
            <a:ext cx="201600" cy="2016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0400" y="2232000"/>
            <a:ext cx="1327200" cy="306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7200" rIns="18000" bIns="72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登録直後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0400" y="2610000"/>
            <a:ext cx="1327200" cy="1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 rIns="72000" bIns="3600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400" y="2664000"/>
            <a:ext cx="1219200" cy="46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お礼・働き方の紹介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400" y="3186000"/>
            <a:ext cx="1219200" cy="118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「ご応募ありがとうございました。改めて働き方をご紹介します」</a:t>
            </a:r>
          </a:p>
        </p:txBody>
      </p:sp>
      <p:sp>
        <p:nvSpPr>
          <p:cNvPr id="14" name="Oval 13"/>
          <p:cNvSpPr/>
          <p:nvPr/>
        </p:nvSpPr>
        <p:spPr>
          <a:xfrm>
            <a:off x="2768400" y="1933200"/>
            <a:ext cx="201600" cy="2016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205600" y="2232000"/>
            <a:ext cx="1327200" cy="306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7200" rIns="18000" bIns="72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3日後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05600" y="2610000"/>
            <a:ext cx="1327200" cy="1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 rIns="72000" bIns="360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59600" y="2664000"/>
            <a:ext cx="1219200" cy="46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給与・条件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59600" y="3186000"/>
            <a:ext cx="1219200" cy="118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「1現場10,500円（2現場で19,500円）。直行直帰OK・夜勤なし」</a:t>
            </a:r>
          </a:p>
        </p:txBody>
      </p:sp>
      <p:sp>
        <p:nvSpPr>
          <p:cNvPr id="19" name="Oval 18"/>
          <p:cNvSpPr/>
          <p:nvPr/>
        </p:nvSpPr>
        <p:spPr>
          <a:xfrm>
            <a:off x="4203600" y="1933200"/>
            <a:ext cx="201600" cy="2016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40800" y="2232000"/>
            <a:ext cx="1327200" cy="306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7200" rIns="18000" bIns="72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1週間後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40800" y="2610000"/>
            <a:ext cx="1327200" cy="1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 rIns="72000" bIns="3600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94800" y="2664000"/>
            <a:ext cx="1219200" cy="46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働く方の声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94800" y="3186000"/>
            <a:ext cx="1219200" cy="118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「平均年齢64歳。84歳の方も活躍しています」</a:t>
            </a:r>
          </a:p>
        </p:txBody>
      </p:sp>
      <p:sp>
        <p:nvSpPr>
          <p:cNvPr id="24" name="Oval 23"/>
          <p:cNvSpPr/>
          <p:nvPr/>
        </p:nvSpPr>
        <p:spPr>
          <a:xfrm>
            <a:off x="5638800" y="1933200"/>
            <a:ext cx="201600" cy="2016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76000" y="2232000"/>
            <a:ext cx="1327200" cy="306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7200" rIns="18000" bIns="72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2週間後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76000" y="2610000"/>
            <a:ext cx="1327200" cy="1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 rIns="72000" bIns="3600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30000" y="2664000"/>
            <a:ext cx="1219200" cy="46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短期・スポット勤務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30000" y="3186000"/>
            <a:ext cx="1219200" cy="118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「年末年始だけ、などのスポット勤務もあります」</a:t>
            </a:r>
          </a:p>
        </p:txBody>
      </p:sp>
      <p:sp>
        <p:nvSpPr>
          <p:cNvPr id="29" name="Oval 28"/>
          <p:cNvSpPr/>
          <p:nvPr/>
        </p:nvSpPr>
        <p:spPr>
          <a:xfrm>
            <a:off x="7073999" y="1933200"/>
            <a:ext cx="201600" cy="2016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511200" y="2232000"/>
            <a:ext cx="1327200" cy="306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7200" rIns="18000" bIns="72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1か月後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11200" y="2610000"/>
            <a:ext cx="1327200" cy="1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 rIns="72000" bIns="3600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65199" y="2664000"/>
            <a:ext cx="1219200" cy="46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現場・面接のご案内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5199" y="3186000"/>
            <a:ext cx="1219200" cy="118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「柏・松戸・熊谷で現場があります。面接日はこちら」</a:t>
            </a:r>
          </a:p>
        </p:txBody>
      </p:sp>
      <p:sp>
        <p:nvSpPr>
          <p:cNvPr id="34" name="Oval 33"/>
          <p:cNvSpPr/>
          <p:nvPr/>
        </p:nvSpPr>
        <p:spPr>
          <a:xfrm>
            <a:off x="8509200" y="1933200"/>
            <a:ext cx="201600" cy="2016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946400" y="2232000"/>
            <a:ext cx="1327200" cy="306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7200" rIns="18000" bIns="72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以降 月1回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46400" y="2610000"/>
            <a:ext cx="1327200" cy="1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 rIns="72000" bIns="3600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00400" y="2664000"/>
            <a:ext cx="1219200" cy="46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募集のお知らせ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0400" y="3186000"/>
            <a:ext cx="1219200" cy="118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「今月の募集をお知らせします」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4400" y="4640400"/>
            <a:ext cx="54000" cy="1872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0400" y="4590000"/>
            <a:ext cx="8503200" cy="28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そのほかに伝えられること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0400" y="4932000"/>
            <a:ext cx="4143600" cy="756000"/>
          </a:xfrm>
          <a:prstGeom prst="roundRect">
            <a:avLst>
              <a:gd name="adj" fmla="val 8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 rIns="72000" bIns="36000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0400" y="4932000"/>
            <a:ext cx="64800" cy="756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400" y="4986000"/>
            <a:ext cx="864000" cy="648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待遇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78399" y="4986000"/>
            <a:ext cx="3081599" cy="648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ガソリン代・駐車場代の全額支給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空調服・ネッククーラー支給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0000" y="4932000"/>
            <a:ext cx="4143600" cy="756000"/>
          </a:xfrm>
          <a:prstGeom prst="roundRect">
            <a:avLst>
              <a:gd name="adj" fmla="val 8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 rIns="72000" bIns="36000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130000" y="4932000"/>
            <a:ext cx="64800" cy="756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10000" y="4986000"/>
            <a:ext cx="864000" cy="648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安心材料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38000" y="4986000"/>
            <a:ext cx="3081599" cy="648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資格取得の支援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月15日以上の勤務で社会保険に加入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Lステップ｜応募者の状況ごとに配信を変える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44400" y="817200"/>
            <a:ext cx="9111600" cy="3456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タグで応募者の状況を管理し、状況・希望に合わせた配信で面接予約までつなげる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4400" y="1634400"/>
            <a:ext cx="54000" cy="1872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0400" y="1584000"/>
            <a:ext cx="8503200" cy="28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タグごとに配信を変える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0400" y="1908000"/>
            <a:ext cx="2304000" cy="216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タグ（応募者の状況）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98400" y="1908000"/>
            <a:ext cx="3600000" cy="216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配信の内容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0400" y="2124000"/>
            <a:ext cx="2304000" cy="450000"/>
          </a:xfrm>
          <a:prstGeom prst="roundRect">
            <a:avLst>
              <a:gd name="adj" fmla="val 8000"/>
            </a:avLst>
          </a:prstGeom>
          <a:solidFill>
            <a:srgbClr val="E8F8EE"/>
          </a:solidFill>
          <a:ln w="1905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 rIns="72000" bIns="36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面接未参加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17600" y="2349000"/>
            <a:ext cx="237600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98400" y="2124000"/>
            <a:ext cx="5875200" cy="4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18000" rIns="108000" bIns="18000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面接日程の再案内と、LINEでの面接予約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0400" y="2674800"/>
            <a:ext cx="2304000" cy="450000"/>
          </a:xfrm>
          <a:prstGeom prst="roundRect">
            <a:avLst>
              <a:gd name="adj" fmla="val 8000"/>
            </a:avLst>
          </a:prstGeom>
          <a:solidFill>
            <a:srgbClr val="E8F8EE"/>
          </a:solidFill>
          <a:ln w="1905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 rIns="72000" bIns="36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辞退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17600" y="2899800"/>
            <a:ext cx="237600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398400" y="2674800"/>
            <a:ext cx="5875200" cy="4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18000" rIns="108000" bIns="18000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時期をあけて、新しい募集・現場のお知らせ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0400" y="3225600"/>
            <a:ext cx="2304000" cy="450000"/>
          </a:xfrm>
          <a:prstGeom prst="roundRect">
            <a:avLst>
              <a:gd name="adj" fmla="val 8000"/>
            </a:avLst>
          </a:prstGeom>
          <a:solidFill>
            <a:srgbClr val="E8F8EE"/>
          </a:solidFill>
          <a:ln w="1905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 rIns="72000" bIns="36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再応募希望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117600" y="3450600"/>
            <a:ext cx="237600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398400" y="3225600"/>
            <a:ext cx="5875200" cy="4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18000" rIns="108000" bIns="18000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LINEの中で面接日を選んで予約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0400" y="3776400"/>
            <a:ext cx="2304000" cy="450000"/>
          </a:xfrm>
          <a:prstGeom prst="roundRect">
            <a:avLst>
              <a:gd name="adj" fmla="val 8000"/>
            </a:avLst>
          </a:prstGeom>
          <a:solidFill>
            <a:srgbClr val="E8F8EE"/>
          </a:solidFill>
          <a:ln w="1905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 rIns="72000" bIns="36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面接予約済み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17600" y="4001400"/>
            <a:ext cx="237600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398400" y="3776400"/>
            <a:ext cx="5875200" cy="4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18000" rIns="108000" bIns="18000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面接前日のリマインド・会場までのアクセス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0400" y="4327200"/>
            <a:ext cx="2304000" cy="450000"/>
          </a:xfrm>
          <a:prstGeom prst="roundRect">
            <a:avLst>
              <a:gd name="adj" fmla="val 8000"/>
            </a:avLst>
          </a:prstGeom>
          <a:solidFill>
            <a:srgbClr val="E8F8EE"/>
          </a:solidFill>
          <a:ln w="1905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 rIns="72000" bIns="36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希望勤務地・勤務条件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17600" y="4552200"/>
            <a:ext cx="237600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398400" y="4327200"/>
            <a:ext cx="5875200" cy="4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18000" rIns="108000" bIns="18000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希望に合う現場・働き方（中途・アルバイト・スポット）のご案内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400" y="5018400"/>
            <a:ext cx="54000" cy="1872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0400" y="4968000"/>
            <a:ext cx="8503200" cy="28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Lステップでできること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0400" y="5310000"/>
            <a:ext cx="2044800" cy="630000"/>
          </a:xfrm>
          <a:prstGeom prst="roundRect">
            <a:avLst>
              <a:gd name="adj" fmla="val 8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 rIns="72000" bIns="36000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タグ管理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応募者の状況を記録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23200" y="5310000"/>
            <a:ext cx="2044800" cy="630000"/>
          </a:xfrm>
          <a:prstGeom prst="roundRect">
            <a:avLst>
              <a:gd name="adj" fmla="val 8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 rIns="72000" bIns="36000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セグメント配信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状況・希望ごとに送り分け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76000" y="5310000"/>
            <a:ext cx="2044800" cy="630000"/>
          </a:xfrm>
          <a:prstGeom prst="roundRect">
            <a:avLst>
              <a:gd name="adj" fmla="val 8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 rIns="72000" bIns="36000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面接予約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LINEの中で日程を選択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28800" y="5310000"/>
            <a:ext cx="2044800" cy="630000"/>
          </a:xfrm>
          <a:prstGeom prst="roundRect">
            <a:avLst>
              <a:gd name="adj" fmla="val 8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 rIns="72000" bIns="36000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反応の確認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押されたリンクを確認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0400" y="6012000"/>
            <a:ext cx="8503200" cy="216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※採用管理サービスとの連携方法・タグ付けの具体的な方法は、導入時にご相談のうえ決定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進め方｜アカウント開設から運用・改善まで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44400" y="817200"/>
            <a:ext cx="9111600" cy="3456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lang="ja-JP" altLang="en-US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LINE公式アカウントの開設から、運用・改善までまとめて支援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4400" y="1634400"/>
            <a:ext cx="54000" cy="1872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0400" y="1584000"/>
            <a:ext cx="8503200" cy="28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導入の流れ</a:t>
            </a:r>
          </a:p>
        </p:txBody>
      </p:sp>
      <p:sp>
        <p:nvSpPr>
          <p:cNvPr id="8" name="Oval 7"/>
          <p:cNvSpPr/>
          <p:nvPr/>
        </p:nvSpPr>
        <p:spPr>
          <a:xfrm>
            <a:off x="1383120" y="1926000"/>
            <a:ext cx="302400" cy="3024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0400" y="2304000"/>
            <a:ext cx="1527840" cy="684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800" tIns="18000" rIns="288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LINE公式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アカウント開設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27040" y="2646000"/>
            <a:ext cx="158400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70400" y="3060000"/>
            <a:ext cx="1527840" cy="151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 rIns="72000" bIns="3600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600" y="3132000"/>
            <a:ext cx="1441440" cy="136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LINE公式アカウントの開設・初期設定</a:t>
            </a:r>
          </a:p>
        </p:txBody>
      </p:sp>
      <p:sp>
        <p:nvSpPr>
          <p:cNvPr id="13" name="Oval 12"/>
          <p:cNvSpPr/>
          <p:nvPr/>
        </p:nvSpPr>
        <p:spPr>
          <a:xfrm>
            <a:off x="3126960" y="1926000"/>
            <a:ext cx="302400" cy="3024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14240" y="2304000"/>
            <a:ext cx="1527840" cy="684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800" tIns="18000" rIns="288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Lステップ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構築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70880" y="2646000"/>
            <a:ext cx="158400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514240" y="3060000"/>
            <a:ext cx="1527840" cy="151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 rIns="72000" bIns="360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57440" y="3132000"/>
            <a:ext cx="1441440" cy="136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タグ・セグメント・面接予約の設計と設定</a:t>
            </a:r>
          </a:p>
        </p:txBody>
      </p:sp>
      <p:sp>
        <p:nvSpPr>
          <p:cNvPr id="18" name="Oval 17"/>
          <p:cNvSpPr/>
          <p:nvPr/>
        </p:nvSpPr>
        <p:spPr>
          <a:xfrm>
            <a:off x="4870800" y="1926000"/>
            <a:ext cx="302400" cy="3024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8080" y="2304000"/>
            <a:ext cx="1527840" cy="684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800" tIns="18000" rIns="288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友だち獲得の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導線整備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814720" y="2646000"/>
            <a:ext cx="158400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258080" y="3060000"/>
            <a:ext cx="1527840" cy="151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 rIns="72000" bIns="3600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01280" y="3132000"/>
            <a:ext cx="1441440" cy="136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過去の応募者：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SMS・メール等で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ご案内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新規応募者：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サンクスLINE誘導</a:t>
            </a:r>
          </a:p>
        </p:txBody>
      </p:sp>
      <p:sp>
        <p:nvSpPr>
          <p:cNvPr id="23" name="Oval 22"/>
          <p:cNvSpPr/>
          <p:nvPr/>
        </p:nvSpPr>
        <p:spPr>
          <a:xfrm>
            <a:off x="6614640" y="1926000"/>
            <a:ext cx="302400" cy="3024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01920" y="2304000"/>
            <a:ext cx="1527840" cy="684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800" tIns="18000" rIns="288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配信設定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558559" y="2646000"/>
            <a:ext cx="158401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001920" y="3060000"/>
            <a:ext cx="1527840" cy="151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 rIns="72000" bIns="3600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45120" y="3132000"/>
            <a:ext cx="1441440" cy="136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ステップ配信・募集のお知らせの作成</a:t>
            </a:r>
          </a:p>
        </p:txBody>
      </p:sp>
      <p:sp>
        <p:nvSpPr>
          <p:cNvPr id="28" name="Oval 27"/>
          <p:cNvSpPr/>
          <p:nvPr/>
        </p:nvSpPr>
        <p:spPr>
          <a:xfrm>
            <a:off x="8358480" y="1926000"/>
            <a:ext cx="302400" cy="3024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45760" y="2304000"/>
            <a:ext cx="1527840" cy="684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800" tIns="18000" rIns="288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運用・改善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45760" y="3060000"/>
            <a:ext cx="1527840" cy="151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 rIns="72000" bIns="3600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88960" y="3132000"/>
            <a:ext cx="1441440" cy="136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応募数・面接予約数を見て、配信の内容・タイミングを見直す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70400" y="4698000"/>
            <a:ext cx="675936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70400" y="4608000"/>
            <a:ext cx="0" cy="9000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529760" y="4608000"/>
            <a:ext cx="0" cy="9000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70400" y="4734000"/>
            <a:ext cx="6759360" cy="251999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初期構築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745760" y="4698000"/>
            <a:ext cx="1527840" cy="0"/>
          </a:xfrm>
          <a:prstGeom prst="line">
            <a:avLst/>
          </a:prstGeom>
          <a:ln w="19050">
            <a:solidFill>
              <a:srgbClr val="06C7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745760" y="4608000"/>
            <a:ext cx="0" cy="90000"/>
          </a:xfrm>
          <a:prstGeom prst="line">
            <a:avLst/>
          </a:prstGeom>
          <a:ln w="19050">
            <a:solidFill>
              <a:srgbClr val="06C7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273600" y="4608000"/>
            <a:ext cx="0" cy="90000"/>
          </a:xfrm>
          <a:prstGeom prst="line">
            <a:avLst/>
          </a:prstGeom>
          <a:ln w="19050">
            <a:solidFill>
              <a:srgbClr val="06C7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745760" y="4734000"/>
            <a:ext cx="1527840" cy="251999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月額の運用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4400" y="5162400"/>
            <a:ext cx="54000" cy="1872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0400" y="5112000"/>
            <a:ext cx="8503200" cy="28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改善で見る指標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0400" y="5454000"/>
            <a:ext cx="4143600" cy="540000"/>
          </a:xfrm>
          <a:prstGeom prst="roundRect">
            <a:avLst>
              <a:gd name="adj" fmla="val 8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 rIns="72000" bIns="36000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78400" y="5544000"/>
            <a:ext cx="648000" cy="360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34400" y="5454000"/>
            <a:ext cx="3207600" cy="540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応募数（再応募を含む）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0000" y="5454000"/>
            <a:ext cx="4143600" cy="540000"/>
          </a:xfrm>
          <a:prstGeom prst="roundRect">
            <a:avLst>
              <a:gd name="adj" fmla="val 8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 rIns="72000" bIns="36000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238000" y="5544000"/>
            <a:ext cx="648000" cy="360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93999" y="5454000"/>
            <a:ext cx="3207600" cy="540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面接予約数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費用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44400" y="817200"/>
            <a:ext cx="9111600" cy="3456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初期構築費10万円・月額費用30万円で、開設から運用・改善まで支援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4400" y="1634400"/>
            <a:ext cx="54000" cy="1872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0400" y="1584000"/>
            <a:ext cx="8503200" cy="28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内訳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0400" y="1926000"/>
            <a:ext cx="4107600" cy="1800000"/>
          </a:xfrm>
          <a:prstGeom prst="roundRect">
            <a:avLst>
              <a:gd name="adj" fmla="val 8000"/>
            </a:avLst>
          </a:prstGeom>
          <a:solidFill>
            <a:srgbClr val="F4F7FF"/>
          </a:solidFill>
          <a:ln w="1905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 rIns="72000" bIns="360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0400" y="2070000"/>
            <a:ext cx="4107600" cy="324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初期構築費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400" y="2448000"/>
            <a:ext cx="4107600" cy="1080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4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100,000円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8400" y="3888000"/>
            <a:ext cx="4107600" cy="251999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含まれるもの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8400" y="4158000"/>
            <a:ext cx="3999600" cy="1620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・LINE公式アカウントの開設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・Lステップの構築（タグ・配信の設計）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・友だち獲得の導線整備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・ステップ配信の作成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000" y="1926000"/>
            <a:ext cx="4107600" cy="1800000"/>
          </a:xfrm>
          <a:prstGeom prst="roundRect">
            <a:avLst>
              <a:gd name="adj" fmla="val 8000"/>
            </a:avLst>
          </a:prstGeom>
          <a:solidFill>
            <a:srgbClr val="F4F7FF"/>
          </a:solidFill>
          <a:ln w="1905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 rIns="72000" bIns="360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000" y="2070000"/>
            <a:ext cx="4107600" cy="324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月額費用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000" y="2448000"/>
            <a:ext cx="4107600" cy="1080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4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300,000円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4000" y="3888000"/>
            <a:ext cx="4107600" cy="251999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含まれるもの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4000" y="4158000"/>
            <a:ext cx="3999600" cy="1620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・ステップ配信・募集のお知らせの運用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・タグ付け・リストの管理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・応募数・面接予約数を見た改善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・LINE公式アカウント・Lステップの利用料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143371</TotalTime>
  <Words>576</Words>
  <Application>Microsoft Office PowerPoint</Application>
  <PresentationFormat>A4 210 x 297 mm</PresentationFormat>
  <Paragraphs>191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7</vt:i4>
      </vt:variant>
    </vt:vector>
  </HeadingPairs>
  <TitlesOfParts>
    <vt:vector size="14" baseType="lpstr">
      <vt:lpstr>メイリオ</vt:lpstr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1969</cp:revision>
  <cp:lastPrinted>2022-11-01T11:38:14Z</cp:lastPrinted>
  <dcterms:created xsi:type="dcterms:W3CDTF">2015-09-04T09:21:15Z</dcterms:created>
  <dcterms:modified xsi:type="dcterms:W3CDTF">2026-10-08T09:10:34Z</dcterms:modified>
</cp:coreProperties>
</file>