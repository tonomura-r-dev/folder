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10"/>
  </p:notesMasterIdLst>
  <p:handoutMasterIdLst>
    <p:handoutMasterId r:id="rId11"/>
  </p:handoutMasterIdLst>
  <p:sldIdLst>
    <p:sldId id="263" r:id="rId16"/>
    <p:sldId id="264" r:id="rId17"/>
    <p:sldId id="265" r:id="rId18"/>
    <p:sldId id="257" r:id="rId3"/>
    <p:sldId id="256" r:id="rId4"/>
    <p:sldId id="259" r:id="rId5"/>
    <p:sldId id="260" r:id="rId6"/>
    <p:sldId id="262" r:id="rId7"/>
    <p:sldId id="258" r:id="rId8"/>
    <p:sldId id="261" r:id="rId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jpg"/><Relationship Id="rId8" Type="http://schemas.openxmlformats.org/officeDocument/2006/relationships/image" Target="../media/image10.jpe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hyperlink" Target="https://youtube.com/shorts/0qI4QgrOppQ"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課題｜一度外れた応募者が、そのまま離れている</a:t>
            </a:r>
            <a:endParaRPr sz="1600" b="1" dirty="0">
              <a:solidFill>
                <a:srgbClr val="002060"/>
              </a:solidFill>
              <a:latin typeface="メイリオ"/>
              <a:ea typeface="メイリオ"/>
              <a:cs typeface="メイリオ"/>
            </a:endParaRP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警備を含む保安職業の求人倍率は6.41倍。</a:t>
            </a:r>
            <a:endParaRPr sz="1050" dirty="0">
              <a:solidFill>
                <a:srgbClr val="333333"/>
              </a:solidFill>
              <a:latin typeface="メイリオ"/>
              <a:ea typeface="メイリオ"/>
              <a:cs typeface="メイリオ"/>
            </a:endParaRPr>
          </a:p>
          <a:p>
            <a:pPr algn="l">
              <a:lnSpc>
                <a:spcPct val="130000"/>
              </a:lnSpc>
            </a:pPr>
            <a:r>
              <a:rPr sz="1600" dirty="0" err="1">
                <a:solidFill>
                  <a:srgbClr val="333333"/>
                </a:solidFill>
                <a:latin typeface="メイリオ"/>
                <a:ea typeface="メイリオ"/>
                <a:cs typeface="メイリオ"/>
              </a:rPr>
              <a:t>一度応募した方との接点を維持・再構築する導線を設計</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警備員の採用環境</a:t>
            </a:r>
          </a:p>
        </p:txBody>
      </p:sp>
      <p:sp>
        <p:nvSpPr>
          <p:cNvPr id="8" name="TextBox 7"/>
          <p:cNvSpPr txBox="1"/>
          <p:nvPr/>
        </p:nvSpPr>
        <p:spPr>
          <a:xfrm>
            <a:off x="770400" y="1944000"/>
            <a:ext cx="3240000" cy="251999"/>
          </a:xfrm>
          <a:prstGeom prst="rect">
            <a:avLst/>
          </a:prstGeom>
          <a:noFill/>
        </p:spPr>
        <p:txBody>
          <a:bodyPr wrap="square" anchor="t" lIns="36000" rIns="36000" tIns="10800" bIns="10800">
            <a:spAutoFit/>
          </a:bodyPr>
          <a:lstStyle/>
          <a:p>
            <a:pPr algn="l">
              <a:lnSpc>
                <a:spcPct val="105000"/>
              </a:lnSpc>
              <a:spcAft>
                <a:spcPts val="200"/>
              </a:spcAft>
            </a:pPr>
            <a:r>
              <a:rPr sz="1400" b="0">
                <a:solidFill>
                  <a:srgbClr val="333333"/>
                </a:solidFill>
                <a:latin typeface="メイリオ"/>
                <a:ea typeface="メイリオ"/>
                <a:cs typeface="メイリオ"/>
              </a:rPr>
              <a:t>保安職業の有効求人倍率</a:t>
            </a:r>
          </a:p>
        </p:txBody>
      </p:sp>
      <p:sp>
        <p:nvSpPr>
          <p:cNvPr id="9" name="TextBox 8"/>
          <p:cNvSpPr txBox="1"/>
          <p:nvPr/>
        </p:nvSpPr>
        <p:spPr>
          <a:xfrm>
            <a:off x="770400" y="2142000"/>
            <a:ext cx="3240000" cy="864000"/>
          </a:xfrm>
          <a:prstGeom prst="rect">
            <a:avLst/>
          </a:prstGeom>
          <a:noFill/>
        </p:spPr>
        <p:txBody>
          <a:bodyPr wrap="square" anchor="t" lIns="36000" rIns="36000" tIns="10800" bIns="10800">
            <a:spAutoFit/>
          </a:bodyPr>
          <a:lstStyle/>
          <a:p>
            <a:pPr algn="l">
              <a:lnSpc>
                <a:spcPct val="105000"/>
              </a:lnSpc>
              <a:spcAft>
                <a:spcPts val="200"/>
              </a:spcAft>
            </a:pPr>
            <a:r>
              <a:rPr sz="5400" b="1">
                <a:solidFill>
                  <a:srgbClr val="1F285A"/>
                </a:solidFill>
                <a:latin typeface="メイリオ"/>
                <a:ea typeface="メイリオ"/>
                <a:cs typeface="メイリオ"/>
              </a:rPr>
              <a:t>6.41</a:t>
            </a:r>
            <a:r>
              <a:rPr sz="2600" b="1">
                <a:solidFill>
                  <a:srgbClr val="1F285A"/>
                </a:solidFill>
                <a:latin typeface="メイリオ"/>
                <a:ea typeface="メイリオ"/>
                <a:cs typeface="メイリオ"/>
              </a:rPr>
              <a:t>倍</a:t>
            </a:r>
          </a:p>
        </p:txBody>
      </p:sp>
      <p:sp>
        <p:nvSpPr>
          <p:cNvPr id="10" name="TextBox 9"/>
          <p:cNvSpPr txBox="1"/>
          <p:nvPr/>
        </p:nvSpPr>
        <p:spPr>
          <a:xfrm>
            <a:off x="4176000" y="2070000"/>
            <a:ext cx="1260000" cy="288000"/>
          </a:xfrm>
          <a:prstGeom prst="rect">
            <a:avLst/>
          </a:prstGeom>
          <a:noFill/>
        </p:spPr>
        <p:txBody>
          <a:bodyPr wrap="square" anchor="ctr" lIns="36000" rIns="36000" tIns="10800" bIns="10800">
            <a:spAutoFit/>
          </a:bodyPr>
          <a:lstStyle/>
          <a:p>
            <a:pPr algn="l">
              <a:lnSpc>
                <a:spcPct val="105000"/>
              </a:lnSpc>
              <a:spcAft>
                <a:spcPts val="200"/>
              </a:spcAft>
            </a:pPr>
            <a:r>
              <a:rPr sz="1400" b="1">
                <a:solidFill>
                  <a:srgbClr val="333333"/>
                </a:solidFill>
                <a:latin typeface="メイリオ"/>
                <a:ea typeface="メイリオ"/>
                <a:cs typeface="メイリオ"/>
              </a:rPr>
              <a:t>保安職業</a:t>
            </a:r>
          </a:p>
        </p:txBody>
      </p:sp>
      <p:sp>
        <p:nvSpPr>
          <p:cNvPr id="11" name="Rectangle 10"/>
          <p:cNvSpPr/>
          <p:nvPr/>
        </p:nvSpPr>
        <p:spPr>
          <a:xfrm>
            <a:off x="5472000" y="2098800"/>
            <a:ext cx="3456000" cy="234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TextBox 11"/>
          <p:cNvSpPr txBox="1"/>
          <p:nvPr/>
        </p:nvSpPr>
        <p:spPr>
          <a:xfrm>
            <a:off x="8981999" y="2070000"/>
            <a:ext cx="1080000" cy="288000"/>
          </a:xfrm>
          <a:prstGeom prst="rect">
            <a:avLst/>
          </a:prstGeom>
          <a:noFill/>
        </p:spPr>
        <p:txBody>
          <a:bodyPr wrap="square" anchor="ctr" lIns="36000" rIns="36000" tIns="10800" bIns="10800">
            <a:spAutoFit/>
          </a:bodyPr>
          <a:lstStyle/>
          <a:p>
            <a:pPr algn="l">
              <a:lnSpc>
                <a:spcPct val="105000"/>
              </a:lnSpc>
              <a:spcAft>
                <a:spcPts val="200"/>
              </a:spcAft>
            </a:pPr>
            <a:r>
              <a:rPr sz="1400" b="1">
                <a:solidFill>
                  <a:srgbClr val="1F285A"/>
                </a:solidFill>
                <a:latin typeface="メイリオ"/>
                <a:ea typeface="メイリオ"/>
                <a:cs typeface="メイリオ"/>
              </a:rPr>
              <a:t>6.41倍</a:t>
            </a:r>
          </a:p>
        </p:txBody>
      </p:sp>
      <p:sp>
        <p:nvSpPr>
          <p:cNvPr id="13" name="TextBox 12"/>
          <p:cNvSpPr txBox="1"/>
          <p:nvPr/>
        </p:nvSpPr>
        <p:spPr>
          <a:xfrm>
            <a:off x="4176000" y="2520000"/>
            <a:ext cx="1260000" cy="288000"/>
          </a:xfrm>
          <a:prstGeom prst="rect">
            <a:avLst/>
          </a:prstGeom>
          <a:noFill/>
        </p:spPr>
        <p:txBody>
          <a:bodyPr wrap="square" anchor="ctr" lIns="36000" rIns="36000" tIns="10800" bIns="10800">
            <a:spAutoFit/>
          </a:bodyPr>
          <a:lstStyle/>
          <a:p>
            <a:pPr algn="l">
              <a:lnSpc>
                <a:spcPct val="105000"/>
              </a:lnSpc>
              <a:spcAft>
                <a:spcPts val="200"/>
              </a:spcAft>
            </a:pPr>
            <a:r>
              <a:rPr sz="1400" b="1">
                <a:solidFill>
                  <a:srgbClr val="333333"/>
                </a:solidFill>
                <a:latin typeface="メイリオ"/>
                <a:ea typeface="メイリオ"/>
                <a:cs typeface="メイリオ"/>
              </a:rPr>
              <a:t>職業全体</a:t>
            </a:r>
          </a:p>
        </p:txBody>
      </p:sp>
      <p:sp>
        <p:nvSpPr>
          <p:cNvPr id="14" name="Rectangle 13"/>
          <p:cNvSpPr/>
          <p:nvPr/>
        </p:nvSpPr>
        <p:spPr>
          <a:xfrm>
            <a:off x="5472000" y="2548800"/>
            <a:ext cx="593073" cy="234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5" name="TextBox 14"/>
          <p:cNvSpPr txBox="1"/>
          <p:nvPr/>
        </p:nvSpPr>
        <p:spPr>
          <a:xfrm>
            <a:off x="6119073" y="2520000"/>
            <a:ext cx="1080000" cy="288000"/>
          </a:xfrm>
          <a:prstGeom prst="rect">
            <a:avLst/>
          </a:prstGeom>
          <a:noFill/>
        </p:spPr>
        <p:txBody>
          <a:bodyPr wrap="square" anchor="ctr" lIns="36000" rIns="36000" tIns="10800" bIns="10800">
            <a:spAutoFit/>
          </a:bodyPr>
          <a:lstStyle/>
          <a:p>
            <a:pPr algn="l">
              <a:lnSpc>
                <a:spcPct val="105000"/>
              </a:lnSpc>
              <a:spcAft>
                <a:spcPts val="200"/>
              </a:spcAft>
            </a:pPr>
            <a:r>
              <a:rPr sz="1400" b="1">
                <a:solidFill>
                  <a:srgbClr val="333333"/>
                </a:solidFill>
                <a:latin typeface="メイリオ"/>
                <a:ea typeface="メイリオ"/>
                <a:cs typeface="メイリオ"/>
              </a:rPr>
              <a:t>1.10倍</a:t>
            </a:r>
          </a:p>
        </p:txBody>
      </p:sp>
      <p:sp>
        <p:nvSpPr>
          <p:cNvPr id="16" name="TextBox 15"/>
          <p:cNvSpPr txBox="1"/>
          <p:nvPr/>
        </p:nvSpPr>
        <p:spPr>
          <a:xfrm>
            <a:off x="770400" y="3114000"/>
            <a:ext cx="8503200" cy="180000"/>
          </a:xfrm>
          <a:prstGeom prst="rect">
            <a:avLst/>
          </a:prstGeom>
          <a:noFill/>
        </p:spPr>
        <p:txBody>
          <a:bodyPr wrap="square" anchor="t" lIns="36000" rIns="36000" tIns="10800" bIns="10800">
            <a:spAutoFit/>
          </a:bodyPr>
          <a:lstStyle/>
          <a:p>
            <a:pPr algn="l">
              <a:lnSpc>
                <a:spcPct val="105000"/>
              </a:lnSpc>
              <a:spcAft>
                <a:spcPts val="200"/>
              </a:spcAft>
            </a:pPr>
            <a:r>
              <a:rPr sz="1050" b="0">
                <a:solidFill>
                  <a:srgbClr val="7F7F7F"/>
                </a:solidFill>
                <a:latin typeface="メイリオ"/>
                <a:ea typeface="メイリオ"/>
                <a:cs typeface="メイリオ"/>
              </a:rPr>
              <a:t>出典：労働政策研究・研修機構「職業別にみた有効求人倍率、平均求人賃金」（2025年度）</a:t>
            </a:r>
          </a:p>
        </p:txBody>
      </p:sp>
      <p:sp>
        <p:nvSpPr>
          <p:cNvPr id="17" name="Rectangle 16"/>
          <p:cNvSpPr/>
          <p:nvPr/>
        </p:nvSpPr>
        <p:spPr>
          <a:xfrm>
            <a:off x="644400" y="3452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TextBox 17"/>
          <p:cNvSpPr txBox="1"/>
          <p:nvPr/>
        </p:nvSpPr>
        <p:spPr>
          <a:xfrm>
            <a:off x="770400" y="3402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選考の途中で起きていること</a:t>
            </a:r>
          </a:p>
        </p:txBody>
      </p:sp>
      <p:sp>
        <p:nvSpPr>
          <p:cNvPr id="19" name="Rounded Rectangle 18"/>
          <p:cNvSpPr/>
          <p:nvPr/>
        </p:nvSpPr>
        <p:spPr>
          <a:xfrm>
            <a:off x="770400" y="3762000"/>
            <a:ext cx="1923300"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500" b="0">
                <a:solidFill>
                  <a:srgbClr val="333333"/>
                </a:solidFill>
                <a:latin typeface="メイリオ"/>
                <a:ea typeface="メイリオ"/>
                <a:cs typeface="メイリオ"/>
              </a:rPr>
              <a:t>応募</a:t>
            </a:r>
          </a:p>
        </p:txBody>
      </p:sp>
      <p:cxnSp>
        <p:nvCxnSpPr>
          <p:cNvPr id="20" name="Connector 19"/>
          <p:cNvCxnSpPr/>
          <p:nvPr/>
        </p:nvCxnSpPr>
        <p:spPr>
          <a:xfrm>
            <a:off x="2729700" y="4122000"/>
            <a:ext cx="1980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2963700" y="3762000"/>
            <a:ext cx="1923300"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500" b="0">
                <a:solidFill>
                  <a:srgbClr val="333333"/>
                </a:solidFill>
                <a:latin typeface="メイリオ"/>
                <a:ea typeface="メイリオ"/>
                <a:cs typeface="メイリオ"/>
              </a:rPr>
              <a:t>面接のご案内</a:t>
            </a:r>
          </a:p>
        </p:txBody>
      </p:sp>
      <p:cxnSp>
        <p:nvCxnSpPr>
          <p:cNvPr id="22" name="Connector 21"/>
          <p:cNvCxnSpPr/>
          <p:nvPr/>
        </p:nvCxnSpPr>
        <p:spPr>
          <a:xfrm>
            <a:off x="4923000" y="4122000"/>
            <a:ext cx="1980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3" name="Rounded Rectangle 22"/>
          <p:cNvSpPr/>
          <p:nvPr/>
        </p:nvSpPr>
        <p:spPr>
          <a:xfrm>
            <a:off x="5157000" y="3762000"/>
            <a:ext cx="1923300"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500" b="0">
                <a:solidFill>
                  <a:srgbClr val="333333"/>
                </a:solidFill>
                <a:latin typeface="メイリオ"/>
                <a:ea typeface="メイリオ"/>
                <a:cs typeface="メイリオ"/>
              </a:rPr>
              <a:t>面接に来ない・</a:t>
            </a:r>
          </a:p>
          <a:p>
            <a:pPr algn="ctr">
              <a:lnSpc>
                <a:spcPct val="110000"/>
              </a:lnSpc>
              <a:spcAft>
                <a:spcPts val="0"/>
              </a:spcAft>
            </a:pPr>
            <a:r>
              <a:rPr sz="1500" b="0">
                <a:solidFill>
                  <a:srgbClr val="333333"/>
                </a:solidFill>
                <a:latin typeface="メイリオ"/>
                <a:ea typeface="メイリオ"/>
                <a:cs typeface="メイリオ"/>
              </a:rPr>
              <a:t>辞退</a:t>
            </a:r>
          </a:p>
        </p:txBody>
      </p:sp>
      <p:cxnSp>
        <p:nvCxnSpPr>
          <p:cNvPr id="24" name="Connector 23"/>
          <p:cNvCxnSpPr/>
          <p:nvPr/>
        </p:nvCxnSpPr>
        <p:spPr>
          <a:xfrm>
            <a:off x="7116300" y="4122000"/>
            <a:ext cx="1980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350300" y="3762000"/>
            <a:ext cx="1923300" cy="720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500" b="1">
                <a:solidFill>
                  <a:srgbClr val="FFFFFF"/>
                </a:solidFill>
                <a:latin typeface="メイリオ"/>
                <a:ea typeface="メイリオ"/>
                <a:cs typeface="メイリオ"/>
              </a:rPr>
              <a:t>連絡が途切れ、</a:t>
            </a:r>
          </a:p>
          <a:p>
            <a:pPr algn="ctr">
              <a:lnSpc>
                <a:spcPct val="110000"/>
              </a:lnSpc>
              <a:spcAft>
                <a:spcPts val="0"/>
              </a:spcAft>
            </a:pPr>
            <a:r>
              <a:rPr sz="1500" b="1">
                <a:solidFill>
                  <a:srgbClr val="FFFFFF"/>
                </a:solidFill>
                <a:latin typeface="メイリオ"/>
                <a:ea typeface="メイリオ"/>
                <a:cs typeface="メイリオ"/>
              </a:rPr>
              <a:t>そのまま離れる</a:t>
            </a:r>
          </a:p>
        </p:txBody>
      </p:sp>
      <p:sp>
        <p:nvSpPr>
          <p:cNvPr id="26" name="Rounded Rectangle 25"/>
          <p:cNvSpPr/>
          <p:nvPr/>
        </p:nvSpPr>
        <p:spPr>
          <a:xfrm>
            <a:off x="770400" y="4662000"/>
            <a:ext cx="4143600" cy="122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27" name="Rectangle 26"/>
          <p:cNvSpPr/>
          <p:nvPr/>
        </p:nvSpPr>
        <p:spPr>
          <a:xfrm>
            <a:off x="770400" y="4662000"/>
            <a:ext cx="64800" cy="1224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8" name="TextBox 27"/>
          <p:cNvSpPr txBox="1"/>
          <p:nvPr/>
        </p:nvSpPr>
        <p:spPr>
          <a:xfrm>
            <a:off x="950400" y="4752000"/>
            <a:ext cx="3855599" cy="251999"/>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85A"/>
                </a:solidFill>
                <a:latin typeface="メイリオ"/>
                <a:ea typeface="メイリオ"/>
                <a:cs typeface="メイリオ"/>
              </a:rPr>
              <a:t>再アプローチ対象の特徴</a:t>
            </a:r>
          </a:p>
        </p:txBody>
      </p:sp>
      <p:sp>
        <p:nvSpPr>
          <p:cNvPr id="29" name="TextBox 28"/>
          <p:cNvSpPr txBox="1"/>
          <p:nvPr/>
        </p:nvSpPr>
        <p:spPr>
          <a:xfrm>
            <a:off x="950400" y="5004000"/>
            <a:ext cx="3855599" cy="827999"/>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333333"/>
                </a:solidFill>
                <a:latin typeface="メイリオ"/>
                <a:ea typeface="メイリオ"/>
                <a:cs typeface="メイリオ"/>
              </a:rPr>
              <a:t>一度は警備の仕事に関心を示し、</a:t>
            </a:r>
          </a:p>
          <a:p>
            <a:pPr algn="l">
              <a:lnSpc>
                <a:spcPct val="105000"/>
              </a:lnSpc>
              <a:spcAft>
                <a:spcPts val="200"/>
              </a:spcAft>
            </a:pPr>
            <a:r>
              <a:rPr sz="1500" b="1">
                <a:solidFill>
                  <a:srgbClr val="333333"/>
                </a:solidFill>
                <a:latin typeface="メイリオ"/>
                <a:ea typeface="メイリオ"/>
                <a:cs typeface="メイリオ"/>
              </a:rPr>
              <a:t>応募した方</a:t>
            </a:r>
          </a:p>
        </p:txBody>
      </p:sp>
      <p:sp>
        <p:nvSpPr>
          <p:cNvPr id="30" name="Rounded Rectangle 29"/>
          <p:cNvSpPr/>
          <p:nvPr/>
        </p:nvSpPr>
        <p:spPr>
          <a:xfrm>
            <a:off x="5130000" y="4662000"/>
            <a:ext cx="4143600" cy="122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31" name="Rectangle 30"/>
          <p:cNvSpPr/>
          <p:nvPr/>
        </p:nvSpPr>
        <p:spPr>
          <a:xfrm>
            <a:off x="5130000" y="4662000"/>
            <a:ext cx="64800" cy="1224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2" name="TextBox 31"/>
          <p:cNvSpPr txBox="1"/>
          <p:nvPr/>
        </p:nvSpPr>
        <p:spPr>
          <a:xfrm>
            <a:off x="5310000" y="4752000"/>
            <a:ext cx="3855599" cy="251999"/>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85A"/>
                </a:solidFill>
                <a:latin typeface="メイリオ"/>
                <a:ea typeface="メイリオ"/>
                <a:cs typeface="メイリオ"/>
              </a:rPr>
              <a:t>再アプローチの課題</a:t>
            </a:r>
          </a:p>
        </p:txBody>
      </p:sp>
      <p:sp>
        <p:nvSpPr>
          <p:cNvPr id="33" name="TextBox 32"/>
          <p:cNvSpPr txBox="1"/>
          <p:nvPr/>
        </p:nvSpPr>
        <p:spPr>
          <a:xfrm>
            <a:off x="5310000" y="5004000"/>
            <a:ext cx="3855599" cy="827999"/>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333333"/>
                </a:solidFill>
                <a:latin typeface="メイリオ"/>
                <a:ea typeface="メイリオ"/>
                <a:cs typeface="メイリオ"/>
              </a:rPr>
              <a:t>メール・電話での一人ずつの連絡は</a:t>
            </a:r>
          </a:p>
          <a:p>
            <a:pPr algn="l">
              <a:lnSpc>
                <a:spcPct val="105000"/>
              </a:lnSpc>
              <a:spcAft>
                <a:spcPts val="200"/>
              </a:spcAft>
            </a:pPr>
            <a:r>
              <a:rPr sz="1500" b="1">
                <a:solidFill>
                  <a:srgbClr val="333333"/>
                </a:solidFill>
                <a:latin typeface="メイリオ"/>
                <a:ea typeface="メイリオ"/>
                <a:cs typeface="メイリオ"/>
              </a:rPr>
              <a:t>手間がかかり、</a:t>
            </a:r>
          </a:p>
          <a:p>
            <a:pPr algn="l">
              <a:lnSpc>
                <a:spcPct val="105000"/>
              </a:lnSpc>
              <a:spcAft>
                <a:spcPts val="200"/>
              </a:spcAft>
            </a:pPr>
            <a:r>
              <a:rPr sz="1500" b="1">
                <a:solidFill>
                  <a:srgbClr val="333333"/>
                </a:solidFill>
                <a:latin typeface="メイリオ"/>
                <a:ea typeface="メイリオ"/>
                <a:cs typeface="メイリオ"/>
              </a:rPr>
              <a:t>次の募集を届け続ける仕組みがない</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方針｜応募の時点でLINEにつなぎ、追い続ける</a:t>
            </a:r>
            <a:endParaRPr sz="1600" b="1" dirty="0">
              <a:solidFill>
                <a:srgbClr val="002060"/>
              </a:solidFill>
              <a:latin typeface="メイリオ"/>
              <a:ea typeface="メイリオ"/>
              <a:cs typeface="メイリオ"/>
            </a:endParaRP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応募時からLINEでつながり、外れても応募・面接予約まで追い続ける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追客の流れ</a:t>
            </a:r>
          </a:p>
        </p:txBody>
      </p:sp>
      <p:sp>
        <p:nvSpPr>
          <p:cNvPr id="8" name="Rounded Rectangle 7"/>
          <p:cNvSpPr/>
          <p:nvPr/>
        </p:nvSpPr>
        <p:spPr>
          <a:xfrm>
            <a:off x="644400" y="2034000"/>
            <a:ext cx="2736000" cy="1800000"/>
          </a:xfrm>
          <a:prstGeom prst="roundRect">
            <a:avLst>
              <a:gd name="adj" fmla="val 8000"/>
            </a:avLst>
          </a:prstGeom>
          <a:solidFill>
            <a:srgbClr val="FFFF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9" name="Rectangle 8"/>
          <p:cNvSpPr/>
          <p:nvPr/>
        </p:nvSpPr>
        <p:spPr>
          <a:xfrm>
            <a:off x="644400" y="2034000"/>
            <a:ext cx="27360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50" b="1">
                <a:solidFill>
                  <a:srgbClr val="FFFFFF"/>
                </a:solidFill>
                <a:latin typeface="メイリオ"/>
                <a:ea typeface="メイリオ"/>
                <a:cs typeface="メイリオ"/>
              </a:rPr>
              <a:t>入口①　応募したとき（主）</a:t>
            </a:r>
          </a:p>
        </p:txBody>
      </p:sp>
      <p:sp>
        <p:nvSpPr>
          <p:cNvPr id="10" name="TextBox 9"/>
          <p:cNvSpPr txBox="1"/>
          <p:nvPr/>
        </p:nvSpPr>
        <p:spPr>
          <a:xfrm>
            <a:off x="770400" y="2430000"/>
            <a:ext cx="2484000" cy="270000"/>
          </a:xfrm>
          <a:prstGeom prst="rect">
            <a:avLst/>
          </a:prstGeom>
          <a:noFill/>
        </p:spPr>
        <p:txBody>
          <a:bodyPr wrap="square" anchor="t" lIns="36000" rIns="36000" tIns="10800" bIns="10800">
            <a:spAutoFit/>
          </a:bodyPr>
          <a:lstStyle/>
          <a:p>
            <a:pPr algn="l">
              <a:lnSpc>
                <a:spcPct val="105000"/>
              </a:lnSpc>
              <a:spcAft>
                <a:spcPts val="200"/>
              </a:spcAft>
            </a:pPr>
            <a:r>
              <a:rPr sz="1550" b="1">
                <a:solidFill>
                  <a:srgbClr val="1F285A"/>
                </a:solidFill>
                <a:latin typeface="メイリオ"/>
                <a:ea typeface="メイリオ"/>
                <a:cs typeface="メイリオ"/>
              </a:rPr>
              <a:t>これから応募する方</a:t>
            </a:r>
          </a:p>
        </p:txBody>
      </p:sp>
      <p:sp>
        <p:nvSpPr>
          <p:cNvPr id="11" name="TextBox 10"/>
          <p:cNvSpPr txBox="1"/>
          <p:nvPr/>
        </p:nvSpPr>
        <p:spPr>
          <a:xfrm>
            <a:off x="770400" y="2700000"/>
            <a:ext cx="2484000" cy="468000"/>
          </a:xfrm>
          <a:prstGeom prst="rect">
            <a:avLst/>
          </a:prstGeom>
          <a:noFill/>
        </p:spPr>
        <p:txBody>
          <a:bodyPr wrap="square" anchor="t" lIns="36000" rIns="36000" tIns="10800" bIns="10800">
            <a:spAutoFit/>
          </a:bodyPr>
          <a:lstStyle/>
          <a:p>
            <a:pPr algn="l">
              <a:lnSpc>
                <a:spcPct val="105000"/>
              </a:lnSpc>
              <a:spcAft>
                <a:spcPts val="200"/>
              </a:spcAft>
            </a:pPr>
            <a:r>
              <a:rPr sz="1350" b="0">
                <a:solidFill>
                  <a:srgbClr val="333333"/>
                </a:solidFill>
                <a:latin typeface="メイリオ"/>
                <a:ea typeface="メイリオ"/>
                <a:cs typeface="メイリオ"/>
              </a:rPr>
              <a:t>採用管理サービスのSMSで</a:t>
            </a:r>
          </a:p>
          <a:p>
            <a:pPr algn="l">
              <a:lnSpc>
                <a:spcPct val="105000"/>
              </a:lnSpc>
              <a:spcAft>
                <a:spcPts val="200"/>
              </a:spcAft>
            </a:pPr>
            <a:r>
              <a:rPr sz="1350" b="0">
                <a:solidFill>
                  <a:srgbClr val="333333"/>
                </a:solidFill>
                <a:latin typeface="メイリオ"/>
                <a:ea typeface="メイリオ"/>
                <a:cs typeface="メイリオ"/>
              </a:rPr>
              <a:t>LINEの友だち追加をご案内</a:t>
            </a:r>
          </a:p>
        </p:txBody>
      </p:sp>
      <p:sp>
        <p:nvSpPr>
          <p:cNvPr id="12" name="Rounded Rectangle 11"/>
          <p:cNvSpPr/>
          <p:nvPr/>
        </p:nvSpPr>
        <p:spPr>
          <a:xfrm>
            <a:off x="770400" y="3221999"/>
            <a:ext cx="2484000" cy="522000"/>
          </a:xfrm>
          <a:prstGeom prst="roundRect">
            <a:avLst>
              <a:gd name="adj" fmla="val 8000"/>
            </a:avLst>
          </a:prstGeom>
          <a:solidFill>
            <a:srgbClr val="E8F8EE"/>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0B7A3B"/>
                </a:solidFill>
                <a:latin typeface="メイリオ"/>
                <a:ea typeface="メイリオ"/>
                <a:cs typeface="メイリオ"/>
              </a:rPr>
              <a:t>「面接の日程・場所は</a:t>
            </a:r>
          </a:p>
          <a:p>
            <a:pPr algn="ctr">
              <a:lnSpc>
                <a:spcPct val="110000"/>
              </a:lnSpc>
              <a:spcAft>
                <a:spcPts val="0"/>
              </a:spcAft>
            </a:pPr>
            <a:r>
              <a:rPr sz="1250" b="1">
                <a:solidFill>
                  <a:srgbClr val="0B7A3B"/>
                </a:solidFill>
                <a:latin typeface="メイリオ"/>
                <a:ea typeface="メイリオ"/>
                <a:cs typeface="メイリオ"/>
              </a:rPr>
              <a:t>LINEでお送りします」</a:t>
            </a:r>
          </a:p>
        </p:txBody>
      </p:sp>
      <p:sp>
        <p:nvSpPr>
          <p:cNvPr id="13" name="Rounded Rectangle 12"/>
          <p:cNvSpPr/>
          <p:nvPr/>
        </p:nvSpPr>
        <p:spPr>
          <a:xfrm>
            <a:off x="644400" y="3960000"/>
            <a:ext cx="2736000" cy="1548000"/>
          </a:xfrm>
          <a:prstGeom prst="roundRect">
            <a:avLst>
              <a:gd name="adj" fmla="val 8000"/>
            </a:avLst>
          </a:prstGeom>
          <a:solidFill>
            <a:srgbClr val="FFFFFF"/>
          </a:solidFill>
          <a:ln w="15875">
            <a:solidFill>
              <a:srgbClr val="8E9BC4"/>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4" name="Rectangle 13"/>
          <p:cNvSpPr/>
          <p:nvPr/>
        </p:nvSpPr>
        <p:spPr>
          <a:xfrm>
            <a:off x="644400" y="3960000"/>
            <a:ext cx="2736000" cy="342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50" b="1">
                <a:solidFill>
                  <a:srgbClr val="FFFFFF"/>
                </a:solidFill>
                <a:latin typeface="メイリオ"/>
                <a:ea typeface="メイリオ"/>
                <a:cs typeface="メイリオ"/>
              </a:rPr>
              <a:t>入口②　過去の応募者（補助）</a:t>
            </a:r>
          </a:p>
        </p:txBody>
      </p:sp>
      <p:sp>
        <p:nvSpPr>
          <p:cNvPr id="15" name="TextBox 14"/>
          <p:cNvSpPr txBox="1"/>
          <p:nvPr/>
        </p:nvSpPr>
        <p:spPr>
          <a:xfrm>
            <a:off x="770400" y="4356000"/>
            <a:ext cx="2484000" cy="468000"/>
          </a:xfrm>
          <a:prstGeom prst="rect">
            <a:avLst/>
          </a:prstGeom>
          <a:noFill/>
        </p:spPr>
        <p:txBody>
          <a:bodyPr wrap="square" anchor="t" lIns="36000" rIns="36000" tIns="10800" bIns="10800">
            <a:spAutoFit/>
          </a:bodyPr>
          <a:lstStyle/>
          <a:p>
            <a:pPr algn="l">
              <a:lnSpc>
                <a:spcPct val="105000"/>
              </a:lnSpc>
              <a:spcAft>
                <a:spcPts val="200"/>
              </a:spcAft>
            </a:pPr>
            <a:r>
              <a:rPr sz="1450" b="1">
                <a:solidFill>
                  <a:srgbClr val="1F285A"/>
                </a:solidFill>
                <a:latin typeface="メイリオ"/>
                <a:ea typeface="メイリオ"/>
                <a:cs typeface="メイリオ"/>
              </a:rPr>
              <a:t>面接に来なかった方・</a:t>
            </a:r>
          </a:p>
          <a:p>
            <a:pPr algn="l">
              <a:lnSpc>
                <a:spcPct val="105000"/>
              </a:lnSpc>
              <a:spcAft>
                <a:spcPts val="200"/>
              </a:spcAft>
            </a:pPr>
            <a:r>
              <a:rPr sz="1450" b="1">
                <a:solidFill>
                  <a:srgbClr val="1F285A"/>
                </a:solidFill>
                <a:latin typeface="メイリオ"/>
                <a:ea typeface="メイリオ"/>
                <a:cs typeface="メイリオ"/>
              </a:rPr>
              <a:t>辞退した方</a:t>
            </a:r>
          </a:p>
        </p:txBody>
      </p:sp>
      <p:sp>
        <p:nvSpPr>
          <p:cNvPr id="16" name="TextBox 15"/>
          <p:cNvSpPr txBox="1"/>
          <p:nvPr/>
        </p:nvSpPr>
        <p:spPr>
          <a:xfrm>
            <a:off x="770400" y="4896000"/>
            <a:ext cx="2484000" cy="468000"/>
          </a:xfrm>
          <a:prstGeom prst="rect">
            <a:avLst/>
          </a:prstGeom>
          <a:noFill/>
        </p:spPr>
        <p:txBody>
          <a:bodyPr wrap="square" anchor="t" lIns="36000" rIns="36000" tIns="10800" bIns="10800">
            <a:spAutoFit/>
          </a:bodyPr>
          <a:lstStyle/>
          <a:p>
            <a:pPr algn="l">
              <a:lnSpc>
                <a:spcPct val="105000"/>
              </a:lnSpc>
              <a:spcAft>
                <a:spcPts val="200"/>
              </a:spcAft>
            </a:pPr>
            <a:r>
              <a:rPr sz="1350" b="0">
                <a:solidFill>
                  <a:srgbClr val="333333"/>
                </a:solidFill>
                <a:latin typeface="メイリオ"/>
                <a:ea typeface="メイリオ"/>
                <a:cs typeface="メイリオ"/>
              </a:rPr>
              <a:t>SMS・メール等で</a:t>
            </a:r>
          </a:p>
          <a:p>
            <a:pPr algn="l">
              <a:lnSpc>
                <a:spcPct val="105000"/>
              </a:lnSpc>
              <a:spcAft>
                <a:spcPts val="200"/>
              </a:spcAft>
            </a:pPr>
            <a:r>
              <a:rPr sz="1350" b="0">
                <a:solidFill>
                  <a:srgbClr val="333333"/>
                </a:solidFill>
                <a:latin typeface="メイリオ"/>
                <a:ea typeface="メイリオ"/>
                <a:cs typeface="メイリオ"/>
              </a:rPr>
              <a:t>LINEの友だち追加をご案内</a:t>
            </a:r>
          </a:p>
        </p:txBody>
      </p:sp>
      <p:cxnSp>
        <p:nvCxnSpPr>
          <p:cNvPr id="17" name="Connector 16"/>
          <p:cNvCxnSpPr/>
          <p:nvPr/>
        </p:nvCxnSpPr>
        <p:spPr>
          <a:xfrm>
            <a:off x="3380400" y="2934000"/>
            <a:ext cx="180000" cy="0"/>
          </a:xfrm>
          <a:prstGeom prst="line">
            <a:avLst/>
          </a:prstGeom>
          <a:ln w="2540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3380400" y="4734000"/>
            <a:ext cx="180000" cy="0"/>
          </a:xfrm>
          <a:prstGeom prst="line">
            <a:avLst/>
          </a:prstGeom>
          <a:ln w="2540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3560400" y="2934000"/>
            <a:ext cx="0" cy="1800000"/>
          </a:xfrm>
          <a:prstGeom prst="line">
            <a:avLst/>
          </a:prstGeom>
          <a:ln w="2540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3560400" y="3834000"/>
            <a:ext cx="2232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3812400" y="3366000"/>
            <a:ext cx="1260000" cy="936000"/>
          </a:xfrm>
          <a:prstGeom prst="roundRect">
            <a:avLst>
              <a:gd name="adj" fmla="val 8000"/>
            </a:avLst>
          </a:prstGeom>
          <a:solidFill>
            <a:srgbClr val="06C755"/>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500" b="1">
                <a:solidFill>
                  <a:srgbClr val="FFFFFF"/>
                </a:solidFill>
                <a:latin typeface="メイリオ"/>
                <a:ea typeface="メイリオ"/>
                <a:cs typeface="メイリオ"/>
              </a:rPr>
              <a:t>LINE</a:t>
            </a:r>
          </a:p>
          <a:p>
            <a:pPr algn="ctr">
              <a:lnSpc>
                <a:spcPct val="110000"/>
              </a:lnSpc>
              <a:spcAft>
                <a:spcPts val="0"/>
              </a:spcAft>
            </a:pPr>
            <a:r>
              <a:rPr sz="1500" b="1">
                <a:solidFill>
                  <a:srgbClr val="FFFFFF"/>
                </a:solidFill>
                <a:latin typeface="メイリオ"/>
                <a:ea typeface="メイリオ"/>
                <a:cs typeface="メイリオ"/>
              </a:rPr>
              <a:t>友だち追加</a:t>
            </a:r>
          </a:p>
        </p:txBody>
      </p:sp>
      <p:cxnSp>
        <p:nvCxnSpPr>
          <p:cNvPr id="22" name="Connector 21"/>
          <p:cNvCxnSpPr/>
          <p:nvPr/>
        </p:nvCxnSpPr>
        <p:spPr>
          <a:xfrm>
            <a:off x="5101200" y="3834000"/>
            <a:ext cx="194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3" name="Rounded Rectangle 22"/>
          <p:cNvSpPr/>
          <p:nvPr/>
        </p:nvSpPr>
        <p:spPr>
          <a:xfrm>
            <a:off x="5324400" y="2934000"/>
            <a:ext cx="2088000" cy="1800000"/>
          </a:xfrm>
          <a:prstGeom prst="roundRect">
            <a:avLst>
              <a:gd name="adj" fmla="val 8000"/>
            </a:avLst>
          </a:prstGeom>
          <a:solidFill>
            <a:srgbClr val="FFFF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44000" tIns="72000" rIns="108000" bIns="72000"/>
          <a:lstStyle/>
          <a:p>
            <a:pPr algn="l">
              <a:lnSpc>
                <a:spcPct val="110000"/>
              </a:lnSpc>
              <a:spcAft>
                <a:spcPts val="1000"/>
              </a:spcAft>
            </a:pPr>
            <a:r>
              <a:rPr sz="1550" b="1">
                <a:solidFill>
                  <a:srgbClr val="1F285A"/>
                </a:solidFill>
                <a:latin typeface="メイリオ"/>
                <a:ea typeface="メイリオ"/>
                <a:cs typeface="メイリオ"/>
              </a:rPr>
              <a:t>Lステップで追客</a:t>
            </a:r>
          </a:p>
          <a:p>
            <a:pPr algn="l">
              <a:lnSpc>
                <a:spcPct val="110000"/>
              </a:lnSpc>
              <a:spcAft>
                <a:spcPts val="400"/>
              </a:spcAft>
            </a:pPr>
            <a:r>
              <a:rPr sz="1350" b="0">
                <a:solidFill>
                  <a:srgbClr val="333333"/>
                </a:solidFill>
                <a:latin typeface="メイリオ"/>
                <a:ea typeface="メイリオ"/>
                <a:cs typeface="メイリオ"/>
              </a:rPr>
              <a:t>・タグで状況を管理</a:t>
            </a:r>
          </a:p>
          <a:p>
            <a:pPr algn="l">
              <a:lnSpc>
                <a:spcPct val="110000"/>
              </a:lnSpc>
              <a:spcAft>
                <a:spcPts val="400"/>
              </a:spcAft>
            </a:pPr>
            <a:r>
              <a:rPr sz="1350" b="0">
                <a:solidFill>
                  <a:srgbClr val="333333"/>
                </a:solidFill>
                <a:latin typeface="メイリオ"/>
                <a:ea typeface="メイリオ"/>
                <a:cs typeface="メイリオ"/>
              </a:rPr>
              <a:t>・状況に合わせて配信</a:t>
            </a:r>
          </a:p>
          <a:p>
            <a:pPr algn="l">
              <a:lnSpc>
                <a:spcPct val="110000"/>
              </a:lnSpc>
              <a:spcAft>
                <a:spcPts val="0"/>
              </a:spcAft>
            </a:pPr>
            <a:r>
              <a:rPr sz="1350" b="0">
                <a:solidFill>
                  <a:srgbClr val="333333"/>
                </a:solidFill>
                <a:latin typeface="メイリオ"/>
                <a:ea typeface="メイリオ"/>
                <a:cs typeface="メイリオ"/>
              </a:rPr>
              <a:t>・LINEで面接予約</a:t>
            </a:r>
          </a:p>
        </p:txBody>
      </p:sp>
      <p:cxnSp>
        <p:nvCxnSpPr>
          <p:cNvPr id="24" name="Connector 23"/>
          <p:cNvCxnSpPr/>
          <p:nvPr/>
        </p:nvCxnSpPr>
        <p:spPr>
          <a:xfrm>
            <a:off x="7441199" y="3312000"/>
            <a:ext cx="212401"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682400" y="2934000"/>
            <a:ext cx="1591200" cy="756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36000" tIns="18000" rIns="36000" bIns="18000"/>
          <a:lstStyle/>
          <a:p>
            <a:pPr algn="ctr">
              <a:lnSpc>
                <a:spcPct val="110000"/>
              </a:lnSpc>
              <a:spcAft>
                <a:spcPts val="0"/>
              </a:spcAft>
            </a:pPr>
            <a:r>
              <a:rPr sz="1200" b="1">
                <a:solidFill>
                  <a:srgbClr val="FFFFFF"/>
                </a:solidFill>
                <a:latin typeface="メイリオ"/>
                <a:ea typeface="メイリオ"/>
                <a:cs typeface="メイリオ"/>
              </a:rPr>
              <a:t>CV①</a:t>
            </a:r>
          </a:p>
          <a:p>
            <a:pPr algn="ctr">
              <a:lnSpc>
                <a:spcPct val="110000"/>
              </a:lnSpc>
              <a:spcAft>
                <a:spcPts val="0"/>
              </a:spcAft>
            </a:pPr>
            <a:r>
              <a:rPr sz="1800" b="1">
                <a:solidFill>
                  <a:srgbClr val="FFFFFF"/>
                </a:solidFill>
                <a:latin typeface="メイリオ"/>
                <a:ea typeface="メイリオ"/>
                <a:cs typeface="メイリオ"/>
              </a:rPr>
              <a:t>応募数</a:t>
            </a:r>
          </a:p>
          <a:p>
            <a:pPr algn="ctr">
              <a:lnSpc>
                <a:spcPct val="110000"/>
              </a:lnSpc>
              <a:spcAft>
                <a:spcPts val="0"/>
              </a:spcAft>
            </a:pPr>
            <a:r>
              <a:rPr sz="1100" b="0">
                <a:solidFill>
                  <a:srgbClr val="FFFFFF"/>
                </a:solidFill>
                <a:latin typeface="メイリオ"/>
                <a:ea typeface="メイリオ"/>
                <a:cs typeface="メイリオ"/>
              </a:rPr>
              <a:t>（再応募を含む）</a:t>
            </a:r>
          </a:p>
        </p:txBody>
      </p:sp>
      <p:sp>
        <p:nvSpPr>
          <p:cNvPr id="26" name="Rounded Rectangle 25"/>
          <p:cNvSpPr/>
          <p:nvPr/>
        </p:nvSpPr>
        <p:spPr>
          <a:xfrm>
            <a:off x="7682400" y="3978000"/>
            <a:ext cx="1591200" cy="756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36000" tIns="18000" rIns="36000" bIns="18000"/>
          <a:lstStyle/>
          <a:p>
            <a:pPr algn="ctr">
              <a:lnSpc>
                <a:spcPct val="110000"/>
              </a:lnSpc>
              <a:spcAft>
                <a:spcPts val="0"/>
              </a:spcAft>
            </a:pPr>
            <a:r>
              <a:rPr sz="1200" b="1">
                <a:solidFill>
                  <a:srgbClr val="FFFFFF"/>
                </a:solidFill>
                <a:latin typeface="メイリオ"/>
                <a:ea typeface="メイリオ"/>
                <a:cs typeface="メイリオ"/>
              </a:rPr>
              <a:t>CV②</a:t>
            </a:r>
          </a:p>
          <a:p>
            <a:pPr algn="ctr">
              <a:lnSpc>
                <a:spcPct val="110000"/>
              </a:lnSpc>
              <a:spcAft>
                <a:spcPts val="0"/>
              </a:spcAft>
            </a:pPr>
            <a:r>
              <a:rPr sz="1800" b="1">
                <a:solidFill>
                  <a:srgbClr val="FFFFFF"/>
                </a:solidFill>
                <a:latin typeface="メイリオ"/>
                <a:ea typeface="メイリオ"/>
                <a:cs typeface="メイリオ"/>
              </a:rPr>
              <a:t>面接予約数</a:t>
            </a:r>
          </a:p>
        </p:txBody>
      </p:sp>
      <p:cxnSp>
        <p:nvCxnSpPr>
          <p:cNvPr id="27" name="Connector 26"/>
          <p:cNvCxnSpPr/>
          <p:nvPr/>
        </p:nvCxnSpPr>
        <p:spPr>
          <a:xfrm>
            <a:off x="8478000" y="3718800"/>
            <a:ext cx="0" cy="23040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ステップ配信｜14日間で応募・面接予約を目指す</a:t>
            </a:r>
            <a:endParaRPr sz="1600" b="1" dirty="0">
              <a:solidFill>
                <a:srgbClr val="002060"/>
              </a:solidFill>
              <a:latin typeface="メイリオ"/>
              <a:ea typeface="メイリオ"/>
              <a:cs typeface="メイリオ"/>
            </a:endParaRP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友だち追加から14日間、働き方を順番に届け、応募・面接予約につなげる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14日間のステップ配信（例）</a:t>
            </a:r>
          </a:p>
        </p:txBody>
      </p:sp>
      <p:cxnSp>
        <p:nvCxnSpPr>
          <p:cNvPr id="8" name="Connector 7"/>
          <p:cNvCxnSpPr/>
          <p:nvPr/>
        </p:nvCxnSpPr>
        <p:spPr>
          <a:xfrm>
            <a:off x="1577519" y="2034000"/>
            <a:ext cx="6888961" cy="0"/>
          </a:xfrm>
          <a:prstGeom prst="line">
            <a:avLst/>
          </a:prstGeom>
          <a:ln w="31750">
            <a:solidFill>
              <a:srgbClr val="1F285A"/>
            </a:solidFill>
          </a:ln>
        </p:spPr>
        <p:style>
          <a:lnRef idx="2">
            <a:schemeClr val="accent1"/>
          </a:lnRef>
          <a:fillRef idx="0">
            <a:schemeClr val="accent1"/>
          </a:fillRef>
          <a:effectRef idx="0">
            <a:schemeClr val="accent1"/>
          </a:effectRef>
          <a:fontRef idx="minor">
            <a:schemeClr val="tx1"/>
          </a:fontRef>
        </p:style>
      </p:cxnSp>
      <p:sp>
        <p:nvSpPr>
          <p:cNvPr id="9" name="Oval 8"/>
          <p:cNvSpPr/>
          <p:nvPr/>
        </p:nvSpPr>
        <p:spPr>
          <a:xfrm>
            <a:off x="146952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0" name="Rounded Rectangle 9"/>
          <p:cNvSpPr/>
          <p:nvPr/>
        </p:nvSpPr>
        <p:spPr>
          <a:xfrm>
            <a:off x="77040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登録直後</a:t>
            </a:r>
          </a:p>
        </p:txBody>
      </p:sp>
      <p:sp>
        <p:nvSpPr>
          <p:cNvPr id="11" name="Rounded Rectangle 10"/>
          <p:cNvSpPr/>
          <p:nvPr/>
        </p:nvSpPr>
        <p:spPr>
          <a:xfrm>
            <a:off x="77040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2" name="TextBox 11"/>
          <p:cNvSpPr txBox="1"/>
          <p:nvPr/>
        </p:nvSpPr>
        <p:spPr>
          <a:xfrm>
            <a:off x="842400" y="2700000"/>
            <a:ext cx="1470239" cy="522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お礼・</a:t>
            </a:r>
          </a:p>
          <a:p>
            <a:pPr algn="l">
              <a:lnSpc>
                <a:spcPct val="105000"/>
              </a:lnSpc>
              <a:spcAft>
                <a:spcPts val="200"/>
              </a:spcAft>
            </a:pPr>
            <a:r>
              <a:rPr sz="1500" b="1">
                <a:solidFill>
                  <a:srgbClr val="1F285A"/>
                </a:solidFill>
                <a:latin typeface="メイリオ"/>
                <a:ea typeface="メイリオ"/>
                <a:cs typeface="メイリオ"/>
              </a:rPr>
              <a:t>働き方の紹介</a:t>
            </a:r>
          </a:p>
        </p:txBody>
      </p:sp>
      <p:sp>
        <p:nvSpPr>
          <p:cNvPr id="13" name="TextBox 12"/>
          <p:cNvSpPr txBox="1"/>
          <p:nvPr/>
        </p:nvSpPr>
        <p:spPr>
          <a:xfrm>
            <a:off x="842400" y="3258000"/>
            <a:ext cx="1470239" cy="612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興味喚起</a:t>
            </a:r>
          </a:p>
        </p:txBody>
      </p:sp>
      <p:sp>
        <p:nvSpPr>
          <p:cNvPr id="14" name="Rounded Rectangle 13"/>
          <p:cNvSpPr/>
          <p:nvPr/>
        </p:nvSpPr>
        <p:spPr>
          <a:xfrm>
            <a:off x="82440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43200" tIns="36000" rIns="10800" bIns="36000"/>
          <a:lstStyle/>
          <a:p>
            <a:pPr algn="l">
              <a:lnSpc>
                <a:spcPct val="110000"/>
              </a:lnSpc>
              <a:spcAft>
                <a:spcPts val="200"/>
              </a:spcAft>
            </a:pPr>
            <a:r>
              <a:rPr sz="1200" b="0">
                <a:solidFill>
                  <a:srgbClr val="333333"/>
                </a:solidFill>
                <a:latin typeface="メイリオ"/>
                <a:ea typeface="メイリオ"/>
                <a:cs typeface="メイリオ"/>
              </a:rPr>
              <a:t>ご応募ありがとう</a:t>
            </a:r>
          </a:p>
          <a:p>
            <a:pPr algn="l">
              <a:lnSpc>
                <a:spcPct val="110000"/>
              </a:lnSpc>
              <a:spcAft>
                <a:spcPts val="200"/>
              </a:spcAft>
            </a:pPr>
            <a:r>
              <a:rPr sz="1200" b="0">
                <a:solidFill>
                  <a:srgbClr val="333333"/>
                </a:solidFill>
                <a:latin typeface="メイリオ"/>
                <a:ea typeface="メイリオ"/>
                <a:cs typeface="メイリオ"/>
              </a:rPr>
              <a:t>ございました。</a:t>
            </a:r>
          </a:p>
          <a:p>
            <a:pPr algn="l">
              <a:lnSpc>
                <a:spcPct val="110000"/>
              </a:lnSpc>
              <a:spcAft>
                <a:spcPts val="200"/>
              </a:spcAft>
            </a:pPr>
            <a:r>
              <a:rPr sz="1200" b="0">
                <a:solidFill>
                  <a:srgbClr val="333333"/>
                </a:solidFill>
                <a:latin typeface="メイリオ"/>
                <a:ea typeface="メイリオ"/>
                <a:cs typeface="メイリオ"/>
              </a:rPr>
              <a:t>改めて働き方を</a:t>
            </a:r>
          </a:p>
          <a:p>
            <a:pPr algn="l">
              <a:lnSpc>
                <a:spcPct val="110000"/>
              </a:lnSpc>
              <a:spcAft>
                <a:spcPts val="200"/>
              </a:spcAft>
            </a:pPr>
            <a:r>
              <a:rPr sz="1200" b="0">
                <a:solidFill>
                  <a:srgbClr val="333333"/>
                </a:solidFill>
                <a:latin typeface="メイリオ"/>
                <a:ea typeface="メイリオ"/>
                <a:cs typeface="メイリオ"/>
              </a:rPr>
              <a:t>ご紹介します</a:t>
            </a:r>
          </a:p>
        </p:txBody>
      </p:sp>
      <p:sp>
        <p:nvSpPr>
          <p:cNvPr id="15" name="Oval 14"/>
          <p:cNvSpPr/>
          <p:nvPr/>
        </p:nvSpPr>
        <p:spPr>
          <a:xfrm>
            <a:off x="319176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6" name="Rounded Rectangle 15"/>
          <p:cNvSpPr/>
          <p:nvPr/>
        </p:nvSpPr>
        <p:spPr>
          <a:xfrm>
            <a:off x="249264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3日後</a:t>
            </a:r>
          </a:p>
        </p:txBody>
      </p:sp>
      <p:sp>
        <p:nvSpPr>
          <p:cNvPr id="17" name="Rounded Rectangle 16"/>
          <p:cNvSpPr/>
          <p:nvPr/>
        </p:nvSpPr>
        <p:spPr>
          <a:xfrm>
            <a:off x="249264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8" name="TextBox 17"/>
          <p:cNvSpPr txBox="1"/>
          <p:nvPr/>
        </p:nvSpPr>
        <p:spPr>
          <a:xfrm>
            <a:off x="2564640" y="2700000"/>
            <a:ext cx="1470239" cy="522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勤務条件の</a:t>
            </a:r>
          </a:p>
          <a:p>
            <a:pPr algn="l">
              <a:lnSpc>
                <a:spcPct val="105000"/>
              </a:lnSpc>
              <a:spcAft>
                <a:spcPts val="200"/>
              </a:spcAft>
            </a:pPr>
            <a:r>
              <a:rPr sz="1500" b="1">
                <a:solidFill>
                  <a:srgbClr val="1F285A"/>
                </a:solidFill>
                <a:latin typeface="メイリオ"/>
                <a:ea typeface="メイリオ"/>
                <a:cs typeface="メイリオ"/>
              </a:rPr>
              <a:t>紹介</a:t>
            </a:r>
          </a:p>
        </p:txBody>
      </p:sp>
      <p:sp>
        <p:nvSpPr>
          <p:cNvPr id="19" name="TextBox 18"/>
          <p:cNvSpPr txBox="1"/>
          <p:nvPr/>
        </p:nvSpPr>
        <p:spPr>
          <a:xfrm>
            <a:off x="2564640" y="3258000"/>
            <a:ext cx="1470239" cy="612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条件面の理解</a:t>
            </a:r>
          </a:p>
        </p:txBody>
      </p:sp>
      <p:sp>
        <p:nvSpPr>
          <p:cNvPr id="20" name="Rounded Rectangle 19"/>
          <p:cNvSpPr/>
          <p:nvPr/>
        </p:nvSpPr>
        <p:spPr>
          <a:xfrm>
            <a:off x="254664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43200" tIns="36000" rIns="10800" bIns="36000"/>
          <a:lstStyle/>
          <a:p>
            <a:pPr algn="l">
              <a:lnSpc>
                <a:spcPct val="110000"/>
              </a:lnSpc>
              <a:spcAft>
                <a:spcPts val="200"/>
              </a:spcAft>
            </a:pPr>
            <a:r>
              <a:rPr sz="1200" b="0">
                <a:solidFill>
                  <a:srgbClr val="333333"/>
                </a:solidFill>
                <a:latin typeface="メイリオ"/>
                <a:ea typeface="メイリオ"/>
                <a:cs typeface="メイリオ"/>
              </a:rPr>
              <a:t>1現場あたり</a:t>
            </a:r>
          </a:p>
          <a:p>
            <a:pPr algn="l">
              <a:lnSpc>
                <a:spcPct val="110000"/>
              </a:lnSpc>
              <a:spcAft>
                <a:spcPts val="200"/>
              </a:spcAft>
            </a:pPr>
            <a:r>
              <a:rPr sz="1200" b="0">
                <a:solidFill>
                  <a:srgbClr val="333333"/>
                </a:solidFill>
                <a:latin typeface="メイリオ"/>
                <a:ea typeface="メイリオ"/>
                <a:cs typeface="メイリオ"/>
              </a:rPr>
              <a:t>3〜5時間。</a:t>
            </a:r>
          </a:p>
          <a:p>
            <a:pPr algn="l">
              <a:lnSpc>
                <a:spcPct val="110000"/>
              </a:lnSpc>
              <a:spcAft>
                <a:spcPts val="200"/>
              </a:spcAft>
            </a:pPr>
            <a:r>
              <a:rPr sz="1200" b="0">
                <a:solidFill>
                  <a:srgbClr val="333333"/>
                </a:solidFill>
                <a:latin typeface="メイリオ"/>
                <a:ea typeface="メイリオ"/>
                <a:cs typeface="メイリオ"/>
              </a:rPr>
              <a:t>直行直帰OK・</a:t>
            </a:r>
          </a:p>
          <a:p>
            <a:pPr algn="l">
              <a:lnSpc>
                <a:spcPct val="110000"/>
              </a:lnSpc>
              <a:spcAft>
                <a:spcPts val="200"/>
              </a:spcAft>
            </a:pPr>
            <a:r>
              <a:rPr sz="1200" b="0">
                <a:solidFill>
                  <a:srgbClr val="333333"/>
                </a:solidFill>
                <a:latin typeface="メイリオ"/>
                <a:ea typeface="メイリオ"/>
                <a:cs typeface="メイリオ"/>
              </a:rPr>
              <a:t>日勤メインで</a:t>
            </a:r>
          </a:p>
          <a:p>
            <a:pPr algn="l">
              <a:lnSpc>
                <a:spcPct val="110000"/>
              </a:lnSpc>
              <a:spcAft>
                <a:spcPts val="200"/>
              </a:spcAft>
            </a:pPr>
            <a:r>
              <a:rPr sz="1200" b="0">
                <a:solidFill>
                  <a:srgbClr val="333333"/>
                </a:solidFill>
                <a:latin typeface="メイリオ"/>
                <a:ea typeface="メイリオ"/>
                <a:cs typeface="メイリオ"/>
              </a:rPr>
              <a:t>夜勤なし</a:t>
            </a:r>
          </a:p>
        </p:txBody>
      </p:sp>
      <p:sp>
        <p:nvSpPr>
          <p:cNvPr id="21" name="Oval 20"/>
          <p:cNvSpPr/>
          <p:nvPr/>
        </p:nvSpPr>
        <p:spPr>
          <a:xfrm>
            <a:off x="4913999"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2" name="Rounded Rectangle 21"/>
          <p:cNvSpPr/>
          <p:nvPr/>
        </p:nvSpPr>
        <p:spPr>
          <a:xfrm>
            <a:off x="421488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7日後</a:t>
            </a:r>
          </a:p>
        </p:txBody>
      </p:sp>
      <p:sp>
        <p:nvSpPr>
          <p:cNvPr id="23" name="Rounded Rectangle 22"/>
          <p:cNvSpPr/>
          <p:nvPr/>
        </p:nvSpPr>
        <p:spPr>
          <a:xfrm>
            <a:off x="421488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24" name="TextBox 23"/>
          <p:cNvSpPr txBox="1"/>
          <p:nvPr/>
        </p:nvSpPr>
        <p:spPr>
          <a:xfrm>
            <a:off x="4286880" y="2700000"/>
            <a:ext cx="1470239" cy="522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働く方の声・</a:t>
            </a:r>
          </a:p>
          <a:p>
            <a:pPr algn="l">
              <a:lnSpc>
                <a:spcPct val="105000"/>
              </a:lnSpc>
              <a:spcAft>
                <a:spcPts val="200"/>
              </a:spcAft>
            </a:pPr>
            <a:r>
              <a:rPr sz="1500" b="1">
                <a:solidFill>
                  <a:srgbClr val="1F285A"/>
                </a:solidFill>
                <a:latin typeface="メイリオ"/>
                <a:ea typeface="メイリオ"/>
                <a:cs typeface="メイリオ"/>
              </a:rPr>
              <a:t>安心材料</a:t>
            </a:r>
          </a:p>
        </p:txBody>
      </p:sp>
      <p:sp>
        <p:nvSpPr>
          <p:cNvPr id="25" name="TextBox 24"/>
          <p:cNvSpPr txBox="1"/>
          <p:nvPr/>
        </p:nvSpPr>
        <p:spPr>
          <a:xfrm>
            <a:off x="4286880" y="3258000"/>
            <a:ext cx="1470239" cy="612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不安の解消</a:t>
            </a:r>
          </a:p>
        </p:txBody>
      </p:sp>
      <p:sp>
        <p:nvSpPr>
          <p:cNvPr id="26" name="Rounded Rectangle 25"/>
          <p:cNvSpPr/>
          <p:nvPr/>
        </p:nvSpPr>
        <p:spPr>
          <a:xfrm>
            <a:off x="426888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43200" tIns="36000" rIns="10800" bIns="36000"/>
          <a:lstStyle/>
          <a:p>
            <a:pPr algn="l">
              <a:lnSpc>
                <a:spcPct val="110000"/>
              </a:lnSpc>
              <a:spcAft>
                <a:spcPts val="200"/>
              </a:spcAft>
            </a:pPr>
            <a:r>
              <a:rPr sz="1200" b="0">
                <a:solidFill>
                  <a:srgbClr val="333333"/>
                </a:solidFill>
                <a:latin typeface="メイリオ"/>
                <a:ea typeface="メイリオ"/>
                <a:cs typeface="メイリオ"/>
              </a:rPr>
              <a:t>平均年齢64歳。</a:t>
            </a:r>
          </a:p>
          <a:p>
            <a:pPr algn="l">
              <a:lnSpc>
                <a:spcPct val="110000"/>
              </a:lnSpc>
              <a:spcAft>
                <a:spcPts val="200"/>
              </a:spcAft>
            </a:pPr>
            <a:r>
              <a:rPr sz="1200" b="0">
                <a:solidFill>
                  <a:srgbClr val="333333"/>
                </a:solidFill>
                <a:latin typeface="メイリオ"/>
                <a:ea typeface="メイリオ"/>
                <a:cs typeface="メイリオ"/>
              </a:rPr>
              <a:t>84歳の方も</a:t>
            </a:r>
          </a:p>
          <a:p>
            <a:pPr algn="l">
              <a:lnSpc>
                <a:spcPct val="110000"/>
              </a:lnSpc>
              <a:spcAft>
                <a:spcPts val="200"/>
              </a:spcAft>
            </a:pPr>
            <a:r>
              <a:rPr sz="1200" b="0">
                <a:solidFill>
                  <a:srgbClr val="333333"/>
                </a:solidFill>
                <a:latin typeface="メイリオ"/>
                <a:ea typeface="メイリオ"/>
                <a:cs typeface="メイリオ"/>
              </a:rPr>
              <a:t>活躍中。</a:t>
            </a:r>
          </a:p>
          <a:p>
            <a:pPr algn="l">
              <a:lnSpc>
                <a:spcPct val="110000"/>
              </a:lnSpc>
              <a:spcAft>
                <a:spcPts val="200"/>
              </a:spcAft>
            </a:pPr>
            <a:r>
              <a:rPr sz="1200" b="0">
                <a:solidFill>
                  <a:srgbClr val="333333"/>
                </a:solidFill>
                <a:latin typeface="メイリオ"/>
                <a:ea typeface="メイリオ"/>
                <a:cs typeface="メイリオ"/>
              </a:rPr>
              <a:t>資格取得の支援も</a:t>
            </a:r>
          </a:p>
          <a:p>
            <a:pPr algn="l">
              <a:lnSpc>
                <a:spcPct val="110000"/>
              </a:lnSpc>
              <a:spcAft>
                <a:spcPts val="200"/>
              </a:spcAft>
            </a:pPr>
            <a:r>
              <a:rPr sz="1200" b="0">
                <a:solidFill>
                  <a:srgbClr val="333333"/>
                </a:solidFill>
                <a:latin typeface="メイリオ"/>
                <a:ea typeface="メイリオ"/>
                <a:cs typeface="メイリオ"/>
              </a:rPr>
              <a:t>あります</a:t>
            </a:r>
          </a:p>
        </p:txBody>
      </p:sp>
      <p:sp>
        <p:nvSpPr>
          <p:cNvPr id="27" name="Oval 26"/>
          <p:cNvSpPr/>
          <p:nvPr/>
        </p:nvSpPr>
        <p:spPr>
          <a:xfrm>
            <a:off x="663624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8" name="Rounded Rectangle 27"/>
          <p:cNvSpPr/>
          <p:nvPr/>
        </p:nvSpPr>
        <p:spPr>
          <a:xfrm>
            <a:off x="593712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10日後</a:t>
            </a:r>
          </a:p>
        </p:txBody>
      </p:sp>
      <p:sp>
        <p:nvSpPr>
          <p:cNvPr id="29" name="Rounded Rectangle 28"/>
          <p:cNvSpPr/>
          <p:nvPr/>
        </p:nvSpPr>
        <p:spPr>
          <a:xfrm>
            <a:off x="593712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30" name="TextBox 29"/>
          <p:cNvSpPr txBox="1"/>
          <p:nvPr/>
        </p:nvSpPr>
        <p:spPr>
          <a:xfrm>
            <a:off x="6009120" y="2700000"/>
            <a:ext cx="1470239" cy="522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スポット勤務・</a:t>
            </a:r>
          </a:p>
          <a:p>
            <a:pPr algn="l">
              <a:lnSpc>
                <a:spcPct val="105000"/>
              </a:lnSpc>
              <a:spcAft>
                <a:spcPts val="200"/>
              </a:spcAft>
            </a:pPr>
            <a:r>
              <a:rPr sz="1500" b="1">
                <a:solidFill>
                  <a:srgbClr val="1F285A"/>
                </a:solidFill>
                <a:latin typeface="メイリオ"/>
                <a:ea typeface="メイリオ"/>
                <a:cs typeface="メイリオ"/>
              </a:rPr>
              <a:t>希望条件の確認</a:t>
            </a:r>
          </a:p>
        </p:txBody>
      </p:sp>
      <p:sp>
        <p:nvSpPr>
          <p:cNvPr id="31" name="TextBox 30"/>
          <p:cNvSpPr txBox="1"/>
          <p:nvPr/>
        </p:nvSpPr>
        <p:spPr>
          <a:xfrm>
            <a:off x="6009120" y="3258000"/>
            <a:ext cx="1470239" cy="612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応募ハードルの</a:t>
            </a:r>
          </a:p>
          <a:p>
            <a:pPr algn="l">
              <a:lnSpc>
                <a:spcPct val="105000"/>
              </a:lnSpc>
              <a:spcAft>
                <a:spcPts val="200"/>
              </a:spcAft>
            </a:pPr>
            <a:r>
              <a:rPr sz="1350" b="1">
                <a:solidFill>
                  <a:srgbClr val="0B7A3B"/>
                </a:solidFill>
                <a:latin typeface="メイリオ"/>
                <a:ea typeface="メイリオ"/>
                <a:cs typeface="メイリオ"/>
              </a:rPr>
              <a:t>低減</a:t>
            </a:r>
          </a:p>
        </p:txBody>
      </p:sp>
      <p:sp>
        <p:nvSpPr>
          <p:cNvPr id="32" name="Rounded Rectangle 31"/>
          <p:cNvSpPr/>
          <p:nvPr/>
        </p:nvSpPr>
        <p:spPr>
          <a:xfrm>
            <a:off x="599112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43200" tIns="36000" rIns="10800" bIns="36000"/>
          <a:lstStyle/>
          <a:p>
            <a:pPr algn="l">
              <a:lnSpc>
                <a:spcPct val="110000"/>
              </a:lnSpc>
              <a:spcAft>
                <a:spcPts val="200"/>
              </a:spcAft>
            </a:pPr>
            <a:r>
              <a:rPr sz="1200" b="0">
                <a:solidFill>
                  <a:srgbClr val="333333"/>
                </a:solidFill>
                <a:latin typeface="メイリオ"/>
                <a:ea typeface="メイリオ"/>
                <a:cs typeface="メイリオ"/>
              </a:rPr>
              <a:t>スポット勤務も</a:t>
            </a:r>
          </a:p>
          <a:p>
            <a:pPr algn="l">
              <a:lnSpc>
                <a:spcPct val="110000"/>
              </a:lnSpc>
              <a:spcAft>
                <a:spcPts val="200"/>
              </a:spcAft>
            </a:pPr>
            <a:r>
              <a:rPr sz="1200" b="0">
                <a:solidFill>
                  <a:srgbClr val="333333"/>
                </a:solidFill>
                <a:latin typeface="メイリオ"/>
                <a:ea typeface="メイリオ"/>
                <a:cs typeface="メイリオ"/>
              </a:rPr>
              <a:t>あります。</a:t>
            </a:r>
          </a:p>
          <a:p>
            <a:pPr algn="l">
              <a:lnSpc>
                <a:spcPct val="110000"/>
              </a:lnSpc>
              <a:spcAft>
                <a:spcPts val="200"/>
              </a:spcAft>
            </a:pPr>
            <a:r>
              <a:rPr sz="1200" b="0">
                <a:solidFill>
                  <a:srgbClr val="333333"/>
                </a:solidFill>
                <a:latin typeface="メイリオ"/>
                <a:ea typeface="メイリオ"/>
                <a:cs typeface="メイリオ"/>
              </a:rPr>
              <a:t>ご希望の勤務地・</a:t>
            </a:r>
          </a:p>
          <a:p>
            <a:pPr algn="l">
              <a:lnSpc>
                <a:spcPct val="110000"/>
              </a:lnSpc>
              <a:spcAft>
                <a:spcPts val="200"/>
              </a:spcAft>
            </a:pPr>
            <a:r>
              <a:rPr sz="1200" b="0">
                <a:solidFill>
                  <a:srgbClr val="333333"/>
                </a:solidFill>
                <a:latin typeface="メイリオ"/>
                <a:ea typeface="メイリオ"/>
                <a:cs typeface="メイリオ"/>
              </a:rPr>
              <a:t>日数を教えて</a:t>
            </a:r>
          </a:p>
          <a:p>
            <a:pPr algn="l">
              <a:lnSpc>
                <a:spcPct val="110000"/>
              </a:lnSpc>
              <a:spcAft>
                <a:spcPts val="200"/>
              </a:spcAft>
            </a:pPr>
            <a:r>
              <a:rPr sz="1200" b="0">
                <a:solidFill>
                  <a:srgbClr val="333333"/>
                </a:solidFill>
                <a:latin typeface="メイリオ"/>
                <a:ea typeface="メイリオ"/>
                <a:cs typeface="メイリオ"/>
              </a:rPr>
              <a:t>ください</a:t>
            </a:r>
          </a:p>
        </p:txBody>
      </p:sp>
      <p:sp>
        <p:nvSpPr>
          <p:cNvPr id="33" name="Oval 32"/>
          <p:cNvSpPr/>
          <p:nvPr/>
        </p:nvSpPr>
        <p:spPr>
          <a:xfrm>
            <a:off x="8358480" y="1926000"/>
            <a:ext cx="216000" cy="216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4" name="Rounded Rectangle 33"/>
          <p:cNvSpPr/>
          <p:nvPr/>
        </p:nvSpPr>
        <p:spPr>
          <a:xfrm>
            <a:off x="7659360" y="2232000"/>
            <a:ext cx="1614240" cy="324000"/>
          </a:xfrm>
          <a:prstGeom prst="roundRect">
            <a:avLst>
              <a:gd name="adj" fmla="val 8000"/>
            </a:avLst>
          </a:prstGeom>
          <a:solidFill>
            <a:srgbClr val="06C755"/>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14日後</a:t>
            </a:r>
          </a:p>
        </p:txBody>
      </p:sp>
      <p:sp>
        <p:nvSpPr>
          <p:cNvPr id="35" name="Rounded Rectangle 34"/>
          <p:cNvSpPr/>
          <p:nvPr/>
        </p:nvSpPr>
        <p:spPr>
          <a:xfrm>
            <a:off x="7659360" y="2628000"/>
            <a:ext cx="1614240" cy="2916000"/>
          </a:xfrm>
          <a:prstGeom prst="roundRect">
            <a:avLst>
              <a:gd name="adj" fmla="val 8000"/>
            </a:avLst>
          </a:prstGeom>
          <a:solidFill>
            <a:srgbClr val="1F285A"/>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36" name="TextBox 35"/>
          <p:cNvSpPr txBox="1"/>
          <p:nvPr/>
        </p:nvSpPr>
        <p:spPr>
          <a:xfrm>
            <a:off x="7731360" y="2700000"/>
            <a:ext cx="1470239" cy="522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FFFFFF"/>
                </a:solidFill>
                <a:latin typeface="メイリオ"/>
                <a:ea typeface="メイリオ"/>
                <a:cs typeface="メイリオ"/>
              </a:rPr>
              <a:t>再応募・</a:t>
            </a:r>
          </a:p>
          <a:p>
            <a:pPr algn="l">
              <a:lnSpc>
                <a:spcPct val="105000"/>
              </a:lnSpc>
              <a:spcAft>
                <a:spcPts val="200"/>
              </a:spcAft>
            </a:pPr>
            <a:r>
              <a:rPr sz="1500" b="1">
                <a:solidFill>
                  <a:srgbClr val="FFFFFF"/>
                </a:solidFill>
                <a:latin typeface="メイリオ"/>
                <a:ea typeface="メイリオ"/>
                <a:cs typeface="メイリオ"/>
              </a:rPr>
              <a:t>面接予約の案内</a:t>
            </a:r>
          </a:p>
        </p:txBody>
      </p:sp>
      <p:sp>
        <p:nvSpPr>
          <p:cNvPr id="37" name="TextBox 36"/>
          <p:cNvSpPr txBox="1"/>
          <p:nvPr/>
        </p:nvSpPr>
        <p:spPr>
          <a:xfrm>
            <a:off x="7731360" y="3258000"/>
            <a:ext cx="1470239" cy="612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FFFFFF"/>
                </a:solidFill>
                <a:latin typeface="メイリオ"/>
                <a:ea typeface="メイリオ"/>
                <a:cs typeface="メイリオ"/>
              </a:rPr>
              <a:t>狙い</a:t>
            </a:r>
          </a:p>
          <a:p>
            <a:pPr algn="l">
              <a:lnSpc>
                <a:spcPct val="105000"/>
              </a:lnSpc>
              <a:spcAft>
                <a:spcPts val="200"/>
              </a:spcAft>
            </a:pPr>
            <a:r>
              <a:rPr sz="1350" b="1">
                <a:solidFill>
                  <a:srgbClr val="FFFFFF"/>
                </a:solidFill>
                <a:latin typeface="メイリオ"/>
                <a:ea typeface="メイリオ"/>
                <a:cs typeface="メイリオ"/>
              </a:rPr>
              <a:t>CV①・CV②</a:t>
            </a:r>
          </a:p>
          <a:p>
            <a:pPr algn="l">
              <a:lnSpc>
                <a:spcPct val="105000"/>
              </a:lnSpc>
              <a:spcAft>
                <a:spcPts val="200"/>
              </a:spcAft>
            </a:pPr>
            <a:r>
              <a:rPr sz="1350" b="1">
                <a:solidFill>
                  <a:srgbClr val="FFFFFF"/>
                </a:solidFill>
                <a:latin typeface="メイリオ"/>
                <a:ea typeface="メイリオ"/>
                <a:cs typeface="メイリオ"/>
              </a:rPr>
              <a:t>への誘導</a:t>
            </a:r>
          </a:p>
        </p:txBody>
      </p:sp>
      <p:sp>
        <p:nvSpPr>
          <p:cNvPr id="38" name="Rounded Rectangle 37"/>
          <p:cNvSpPr/>
          <p:nvPr/>
        </p:nvSpPr>
        <p:spPr>
          <a:xfrm>
            <a:off x="7713359" y="4032000"/>
            <a:ext cx="1506240" cy="1440000"/>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43200" tIns="36000" rIns="10800" bIns="36000"/>
          <a:lstStyle/>
          <a:p>
            <a:pPr algn="l">
              <a:lnSpc>
                <a:spcPct val="110000"/>
              </a:lnSpc>
              <a:spcAft>
                <a:spcPts val="200"/>
              </a:spcAft>
            </a:pPr>
            <a:r>
              <a:rPr sz="1200" b="0">
                <a:solidFill>
                  <a:srgbClr val="1F285A"/>
                </a:solidFill>
                <a:latin typeface="メイリオ"/>
                <a:ea typeface="メイリオ"/>
                <a:cs typeface="メイリオ"/>
              </a:rPr>
              <a:t>ご希望に合う</a:t>
            </a:r>
          </a:p>
          <a:p>
            <a:pPr algn="l">
              <a:lnSpc>
                <a:spcPct val="110000"/>
              </a:lnSpc>
              <a:spcAft>
                <a:spcPts val="200"/>
              </a:spcAft>
            </a:pPr>
            <a:r>
              <a:rPr sz="1200" b="0">
                <a:solidFill>
                  <a:srgbClr val="1F285A"/>
                </a:solidFill>
                <a:latin typeface="メイリオ"/>
                <a:ea typeface="メイリオ"/>
                <a:cs typeface="メイリオ"/>
              </a:rPr>
              <a:t>現場・日程を</a:t>
            </a:r>
          </a:p>
          <a:p>
            <a:pPr algn="l">
              <a:lnSpc>
                <a:spcPct val="110000"/>
              </a:lnSpc>
              <a:spcAft>
                <a:spcPts val="200"/>
              </a:spcAft>
            </a:pPr>
            <a:r>
              <a:rPr sz="1200" b="0">
                <a:solidFill>
                  <a:srgbClr val="1F285A"/>
                </a:solidFill>
                <a:latin typeface="メイリオ"/>
                <a:ea typeface="メイリオ"/>
                <a:cs typeface="メイリオ"/>
              </a:rPr>
              <a:t>ご案内します。</a:t>
            </a:r>
          </a:p>
          <a:p>
            <a:pPr algn="l">
              <a:lnSpc>
                <a:spcPct val="110000"/>
              </a:lnSpc>
              <a:spcAft>
                <a:spcPts val="200"/>
              </a:spcAft>
            </a:pPr>
            <a:r>
              <a:rPr sz="1200" b="0">
                <a:solidFill>
                  <a:srgbClr val="1F285A"/>
                </a:solidFill>
                <a:latin typeface="メイリオ"/>
                <a:ea typeface="メイリオ"/>
                <a:cs typeface="メイリオ"/>
              </a:rPr>
              <a:t>応募・面接予約は</a:t>
            </a:r>
          </a:p>
          <a:p>
            <a:pPr algn="l">
              <a:lnSpc>
                <a:spcPct val="110000"/>
              </a:lnSpc>
              <a:spcAft>
                <a:spcPts val="200"/>
              </a:spcAft>
            </a:pPr>
            <a:r>
              <a:rPr sz="1200" b="0">
                <a:solidFill>
                  <a:srgbClr val="1F285A"/>
                </a:solidFill>
                <a:latin typeface="メイリオ"/>
                <a:ea typeface="メイリオ"/>
                <a:cs typeface="メイリオ"/>
              </a:rPr>
              <a:t>こちら</a:t>
            </a:r>
          </a:p>
        </p:txBody>
      </p:sp>
      <p:sp>
        <p:nvSpPr>
          <p:cNvPr id="39" name="Rounded Rectangle 38"/>
          <p:cNvSpPr/>
          <p:nvPr/>
        </p:nvSpPr>
        <p:spPr>
          <a:xfrm>
            <a:off x="770400" y="5706000"/>
            <a:ext cx="8503200" cy="432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40" name="Rounded Rectangle 39"/>
          <p:cNvSpPr/>
          <p:nvPr/>
        </p:nvSpPr>
        <p:spPr>
          <a:xfrm>
            <a:off x="842400" y="5778000"/>
            <a:ext cx="1080000" cy="288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300" b="1">
                <a:solidFill>
                  <a:srgbClr val="FFFFFF"/>
                </a:solidFill>
                <a:latin typeface="メイリオ"/>
                <a:ea typeface="メイリオ"/>
                <a:cs typeface="メイリオ"/>
              </a:rPr>
              <a:t>自動で配信</a:t>
            </a:r>
          </a:p>
        </p:txBody>
      </p:sp>
      <p:sp>
        <p:nvSpPr>
          <p:cNvPr id="41" name="TextBox 40"/>
          <p:cNvSpPr txBox="1"/>
          <p:nvPr/>
        </p:nvSpPr>
        <p:spPr>
          <a:xfrm>
            <a:off x="2030400" y="5706000"/>
            <a:ext cx="7171200" cy="432000"/>
          </a:xfrm>
          <a:prstGeom prst="rect">
            <a:avLst/>
          </a:prstGeom>
          <a:noFill/>
        </p:spPr>
        <p:txBody>
          <a:bodyPr wrap="square" anchor="ctr" lIns="36000" rIns="36000" tIns="10800" bIns="10800">
            <a:spAutoFit/>
          </a:bodyPr>
          <a:lstStyle/>
          <a:p>
            <a:pPr algn="l">
              <a:lnSpc>
                <a:spcPct val="105000"/>
              </a:lnSpc>
              <a:spcAft>
                <a:spcPts val="200"/>
              </a:spcAft>
            </a:pPr>
            <a:r>
              <a:rPr sz="1350" b="0">
                <a:solidFill>
                  <a:srgbClr val="333333"/>
                </a:solidFill>
                <a:latin typeface="メイリオ"/>
                <a:ea typeface="メイリオ"/>
                <a:cs typeface="メイリオ"/>
              </a:rPr>
              <a:t>友だち追加の日から、Lステップが順番に配信。担当者の個別連絡は不要</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長期ステップ｜14日以降も接点を持ち続ける</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14日で応募に至らなかった方にも、時期をあけて声をかけ続ける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長期ステップ（例）</a:t>
            </a:r>
          </a:p>
        </p:txBody>
      </p:sp>
      <p:sp>
        <p:nvSpPr>
          <p:cNvPr id="8" name="TextBox 7"/>
          <p:cNvSpPr txBox="1"/>
          <p:nvPr/>
        </p:nvSpPr>
        <p:spPr>
          <a:xfrm>
            <a:off x="4010400" y="1638000"/>
            <a:ext cx="5263200" cy="216000"/>
          </a:xfrm>
          <a:prstGeom prst="rect">
            <a:avLst/>
          </a:prstGeom>
          <a:noFill/>
        </p:spPr>
        <p:txBody>
          <a:bodyPr wrap="square" anchor="t" lIns="36000" rIns="36000" tIns="10800" bIns="10800">
            <a:spAutoFit/>
          </a:bodyPr>
          <a:lstStyle/>
          <a:p>
            <a:pPr algn="r">
              <a:lnSpc>
                <a:spcPct val="105000"/>
              </a:lnSpc>
              <a:spcAft>
                <a:spcPts val="200"/>
              </a:spcAft>
            </a:pPr>
            <a:r>
              <a:rPr sz="1050" b="0">
                <a:solidFill>
                  <a:srgbClr val="7F7F7F"/>
                </a:solidFill>
                <a:latin typeface="メイリオ"/>
                <a:ea typeface="メイリオ"/>
                <a:cs typeface="メイリオ"/>
              </a:rPr>
              <a:t>※どの配信にも応募・面接予約の入口を付け、応募・面接予約済みの方には送らない</a:t>
            </a:r>
          </a:p>
        </p:txBody>
      </p:sp>
      <p:cxnSp>
        <p:nvCxnSpPr>
          <p:cNvPr id="9" name="Connector 8"/>
          <p:cNvCxnSpPr/>
          <p:nvPr/>
        </p:nvCxnSpPr>
        <p:spPr>
          <a:xfrm>
            <a:off x="2127600" y="2034000"/>
            <a:ext cx="5788799" cy="0"/>
          </a:xfrm>
          <a:prstGeom prst="line">
            <a:avLst/>
          </a:prstGeom>
          <a:ln w="31750">
            <a:solidFill>
              <a:srgbClr val="1F285A"/>
            </a:solidFill>
          </a:ln>
        </p:spPr>
        <p:style>
          <a:lnRef idx="2">
            <a:schemeClr val="accent1"/>
          </a:lnRef>
          <a:fillRef idx="0">
            <a:schemeClr val="accent1"/>
          </a:fillRef>
          <a:effectRef idx="0">
            <a:schemeClr val="accent1"/>
          </a:effectRef>
          <a:fontRef idx="minor">
            <a:schemeClr val="tx1"/>
          </a:fontRef>
        </p:style>
      </p:cxnSp>
      <p:sp>
        <p:nvSpPr>
          <p:cNvPr id="10" name="Oval 9"/>
          <p:cNvSpPr/>
          <p:nvPr/>
        </p:nvSpPr>
        <p:spPr>
          <a:xfrm>
            <a:off x="201960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1" name="Rounded Rectangle 10"/>
          <p:cNvSpPr/>
          <p:nvPr/>
        </p:nvSpPr>
        <p:spPr>
          <a:xfrm>
            <a:off x="770400" y="2232000"/>
            <a:ext cx="271440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1か月後</a:t>
            </a:r>
          </a:p>
        </p:txBody>
      </p:sp>
      <p:sp>
        <p:nvSpPr>
          <p:cNvPr id="12" name="Rounded Rectangle 11"/>
          <p:cNvSpPr/>
          <p:nvPr/>
        </p:nvSpPr>
        <p:spPr>
          <a:xfrm>
            <a:off x="770400" y="2628000"/>
            <a:ext cx="2714400" cy="180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3" name="TextBox 12"/>
          <p:cNvSpPr txBox="1"/>
          <p:nvPr/>
        </p:nvSpPr>
        <p:spPr>
          <a:xfrm>
            <a:off x="860400" y="2700000"/>
            <a:ext cx="2534400" cy="270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近況・希望の確認</a:t>
            </a:r>
          </a:p>
        </p:txBody>
      </p:sp>
      <p:sp>
        <p:nvSpPr>
          <p:cNvPr id="14" name="TextBox 13"/>
          <p:cNvSpPr txBox="1"/>
          <p:nvPr/>
        </p:nvSpPr>
        <p:spPr>
          <a:xfrm>
            <a:off x="860400" y="2970000"/>
            <a:ext cx="2534400" cy="234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　</a:t>
            </a:r>
            <a:r>
              <a:rPr sz="1300" b="1">
                <a:solidFill>
                  <a:srgbClr val="0B7A3B"/>
                </a:solidFill>
                <a:latin typeface="メイリオ"/>
                <a:ea typeface="メイリオ"/>
                <a:cs typeface="メイリオ"/>
              </a:rPr>
              <a:t>希望条件の更新</a:t>
            </a:r>
          </a:p>
        </p:txBody>
      </p:sp>
      <p:sp>
        <p:nvSpPr>
          <p:cNvPr id="15" name="Rounded Rectangle 14"/>
          <p:cNvSpPr/>
          <p:nvPr/>
        </p:nvSpPr>
        <p:spPr>
          <a:xfrm>
            <a:off x="842400" y="3258000"/>
            <a:ext cx="2570400" cy="108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36000" bIns="36000"/>
          <a:lstStyle/>
          <a:p>
            <a:pPr algn="l">
              <a:lnSpc>
                <a:spcPct val="110000"/>
              </a:lnSpc>
              <a:spcAft>
                <a:spcPts val="0"/>
              </a:spcAft>
            </a:pPr>
            <a:r>
              <a:rPr sz="1300" b="0">
                <a:solidFill>
                  <a:srgbClr val="333333"/>
                </a:solidFill>
                <a:latin typeface="メイリオ"/>
                <a:ea typeface="メイリオ"/>
                <a:cs typeface="メイリオ"/>
              </a:rPr>
              <a:t>その後いかがですか？</a:t>
            </a:r>
          </a:p>
          <a:p>
            <a:pPr algn="l">
              <a:lnSpc>
                <a:spcPct val="110000"/>
              </a:lnSpc>
              <a:spcAft>
                <a:spcPts val="0"/>
              </a:spcAft>
            </a:pPr>
            <a:r>
              <a:rPr sz="1300" b="0">
                <a:solidFill>
                  <a:srgbClr val="333333"/>
                </a:solidFill>
                <a:latin typeface="メイリオ"/>
                <a:ea typeface="メイリオ"/>
                <a:cs typeface="メイリオ"/>
              </a:rPr>
              <a:t>ご希望の勤務地・日数を</a:t>
            </a:r>
          </a:p>
          <a:p>
            <a:pPr algn="l">
              <a:lnSpc>
                <a:spcPct val="110000"/>
              </a:lnSpc>
              <a:spcAft>
                <a:spcPts val="0"/>
              </a:spcAft>
            </a:pPr>
            <a:r>
              <a:rPr sz="1300" b="0">
                <a:solidFill>
                  <a:srgbClr val="333333"/>
                </a:solidFill>
                <a:latin typeface="メイリオ"/>
                <a:ea typeface="メイリオ"/>
                <a:cs typeface="メイリオ"/>
              </a:rPr>
              <a:t>教えてください</a:t>
            </a:r>
          </a:p>
        </p:txBody>
      </p:sp>
      <p:sp>
        <p:nvSpPr>
          <p:cNvPr id="16" name="Oval 15"/>
          <p:cNvSpPr/>
          <p:nvPr/>
        </p:nvSpPr>
        <p:spPr>
          <a:xfrm>
            <a:off x="4913999"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7" name="Rounded Rectangle 16"/>
          <p:cNvSpPr/>
          <p:nvPr/>
        </p:nvSpPr>
        <p:spPr>
          <a:xfrm>
            <a:off x="3664800" y="2232000"/>
            <a:ext cx="271440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3か月後</a:t>
            </a:r>
          </a:p>
        </p:txBody>
      </p:sp>
      <p:sp>
        <p:nvSpPr>
          <p:cNvPr id="18" name="Rounded Rectangle 17"/>
          <p:cNvSpPr/>
          <p:nvPr/>
        </p:nvSpPr>
        <p:spPr>
          <a:xfrm>
            <a:off x="3664800" y="2628000"/>
            <a:ext cx="2714400" cy="180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9" name="TextBox 18"/>
          <p:cNvSpPr txBox="1"/>
          <p:nvPr/>
        </p:nvSpPr>
        <p:spPr>
          <a:xfrm>
            <a:off x="3754800" y="2700000"/>
            <a:ext cx="2534400" cy="270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待遇のご紹介</a:t>
            </a:r>
          </a:p>
        </p:txBody>
      </p:sp>
      <p:sp>
        <p:nvSpPr>
          <p:cNvPr id="20" name="TextBox 19"/>
          <p:cNvSpPr txBox="1"/>
          <p:nvPr/>
        </p:nvSpPr>
        <p:spPr>
          <a:xfrm>
            <a:off x="3754800" y="2970000"/>
            <a:ext cx="2534400" cy="234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　</a:t>
            </a:r>
            <a:r>
              <a:rPr sz="1300" b="1">
                <a:solidFill>
                  <a:srgbClr val="0B7A3B"/>
                </a:solidFill>
                <a:latin typeface="メイリオ"/>
                <a:ea typeface="メイリオ"/>
                <a:cs typeface="メイリオ"/>
              </a:rPr>
              <a:t>関心の再喚起</a:t>
            </a:r>
          </a:p>
        </p:txBody>
      </p:sp>
      <p:sp>
        <p:nvSpPr>
          <p:cNvPr id="21" name="Rounded Rectangle 20"/>
          <p:cNvSpPr/>
          <p:nvPr/>
        </p:nvSpPr>
        <p:spPr>
          <a:xfrm>
            <a:off x="3736799" y="3258000"/>
            <a:ext cx="2570400" cy="108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36000" bIns="36000"/>
          <a:lstStyle/>
          <a:p>
            <a:pPr algn="l">
              <a:lnSpc>
                <a:spcPct val="110000"/>
              </a:lnSpc>
              <a:spcAft>
                <a:spcPts val="0"/>
              </a:spcAft>
            </a:pPr>
            <a:r>
              <a:rPr sz="1300" b="0">
                <a:solidFill>
                  <a:srgbClr val="333333"/>
                </a:solidFill>
                <a:latin typeface="メイリオ"/>
                <a:ea typeface="メイリオ"/>
                <a:cs typeface="メイリオ"/>
              </a:rPr>
              <a:t>ガソリン代・駐車場代は</a:t>
            </a:r>
          </a:p>
          <a:p>
            <a:pPr algn="l">
              <a:lnSpc>
                <a:spcPct val="110000"/>
              </a:lnSpc>
              <a:spcAft>
                <a:spcPts val="0"/>
              </a:spcAft>
            </a:pPr>
            <a:r>
              <a:rPr sz="1300" b="0">
                <a:solidFill>
                  <a:srgbClr val="333333"/>
                </a:solidFill>
                <a:latin typeface="メイリオ"/>
                <a:ea typeface="メイリオ"/>
                <a:cs typeface="メイリオ"/>
              </a:rPr>
              <a:t>全額支給。</a:t>
            </a:r>
          </a:p>
          <a:p>
            <a:pPr algn="l">
              <a:lnSpc>
                <a:spcPct val="110000"/>
              </a:lnSpc>
              <a:spcAft>
                <a:spcPts val="0"/>
              </a:spcAft>
            </a:pPr>
            <a:r>
              <a:rPr sz="1300" b="0">
                <a:solidFill>
                  <a:srgbClr val="333333"/>
                </a:solidFill>
                <a:latin typeface="メイリオ"/>
                <a:ea typeface="メイリオ"/>
                <a:cs typeface="メイリオ"/>
              </a:rPr>
              <a:t>空調服・ネッククーラーも支給</a:t>
            </a:r>
          </a:p>
        </p:txBody>
      </p:sp>
      <p:sp>
        <p:nvSpPr>
          <p:cNvPr id="22" name="Oval 21"/>
          <p:cNvSpPr/>
          <p:nvPr/>
        </p:nvSpPr>
        <p:spPr>
          <a:xfrm>
            <a:off x="7808399"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3" name="Rounded Rectangle 22"/>
          <p:cNvSpPr/>
          <p:nvPr/>
        </p:nvSpPr>
        <p:spPr>
          <a:xfrm>
            <a:off x="6559200" y="2232000"/>
            <a:ext cx="271440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50" b="1">
                <a:solidFill>
                  <a:srgbClr val="FFFFFF"/>
                </a:solidFill>
                <a:latin typeface="メイリオ"/>
                <a:ea typeface="メイリオ"/>
                <a:cs typeface="メイリオ"/>
              </a:rPr>
              <a:t>6か月後</a:t>
            </a:r>
          </a:p>
        </p:txBody>
      </p:sp>
      <p:sp>
        <p:nvSpPr>
          <p:cNvPr id="24" name="Rounded Rectangle 23"/>
          <p:cNvSpPr/>
          <p:nvPr/>
        </p:nvSpPr>
        <p:spPr>
          <a:xfrm>
            <a:off x="6559200" y="2628000"/>
            <a:ext cx="2714400" cy="180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25" name="TextBox 24"/>
          <p:cNvSpPr txBox="1"/>
          <p:nvPr/>
        </p:nvSpPr>
        <p:spPr>
          <a:xfrm>
            <a:off x="6649200" y="2700000"/>
            <a:ext cx="2534400" cy="270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長く働ける安心材料</a:t>
            </a:r>
          </a:p>
        </p:txBody>
      </p:sp>
      <p:sp>
        <p:nvSpPr>
          <p:cNvPr id="26" name="TextBox 25"/>
          <p:cNvSpPr txBox="1"/>
          <p:nvPr/>
        </p:nvSpPr>
        <p:spPr>
          <a:xfrm>
            <a:off x="6649200" y="2970000"/>
            <a:ext cx="2534400" cy="234000"/>
          </a:xfrm>
          <a:prstGeom prst="rect">
            <a:avLst/>
          </a:prstGeom>
          <a:noFill/>
        </p:spPr>
        <p:txBody>
          <a:bodyPr wrap="square" anchor="t" lIns="36000" rIns="36000" tIns="10800" bIns="10800">
            <a:spAutoFit/>
          </a:bodyPr>
          <a:lstStyle/>
          <a:p>
            <a:pPr algn="l">
              <a:lnSpc>
                <a:spcPct val="105000"/>
              </a:lnSpc>
              <a:spcAft>
                <a:spcPts val="200"/>
              </a:spcAft>
            </a:pPr>
            <a:r>
              <a:rPr sz="1100" b="1">
                <a:solidFill>
                  <a:srgbClr val="7F7F7F"/>
                </a:solidFill>
                <a:latin typeface="メイリオ"/>
                <a:ea typeface="メイリオ"/>
                <a:cs typeface="メイリオ"/>
              </a:rPr>
              <a:t>狙い　</a:t>
            </a:r>
            <a:r>
              <a:rPr sz="1300" b="1">
                <a:solidFill>
                  <a:srgbClr val="0B7A3B"/>
                </a:solidFill>
                <a:latin typeface="メイリオ"/>
                <a:ea typeface="メイリオ"/>
                <a:cs typeface="メイリオ"/>
              </a:rPr>
              <a:t>応募の後押し</a:t>
            </a:r>
          </a:p>
        </p:txBody>
      </p:sp>
      <p:sp>
        <p:nvSpPr>
          <p:cNvPr id="27" name="Rounded Rectangle 26"/>
          <p:cNvSpPr/>
          <p:nvPr/>
        </p:nvSpPr>
        <p:spPr>
          <a:xfrm>
            <a:off x="6631199" y="3258000"/>
            <a:ext cx="2570400" cy="108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36000" bIns="36000"/>
          <a:lstStyle/>
          <a:p>
            <a:pPr algn="l">
              <a:lnSpc>
                <a:spcPct val="110000"/>
              </a:lnSpc>
              <a:spcAft>
                <a:spcPts val="0"/>
              </a:spcAft>
            </a:pPr>
            <a:r>
              <a:rPr sz="1300" b="0">
                <a:solidFill>
                  <a:srgbClr val="333333"/>
                </a:solidFill>
                <a:latin typeface="メイリオ"/>
                <a:ea typeface="メイリオ"/>
                <a:cs typeface="メイリオ"/>
              </a:rPr>
              <a:t>月15日以上の勤務で</a:t>
            </a:r>
          </a:p>
          <a:p>
            <a:pPr algn="l">
              <a:lnSpc>
                <a:spcPct val="110000"/>
              </a:lnSpc>
              <a:spcAft>
                <a:spcPts val="0"/>
              </a:spcAft>
            </a:pPr>
            <a:r>
              <a:rPr sz="1300" b="0">
                <a:solidFill>
                  <a:srgbClr val="333333"/>
                </a:solidFill>
                <a:latin typeface="メイリオ"/>
                <a:ea typeface="メイリオ"/>
                <a:cs typeface="メイリオ"/>
              </a:rPr>
              <a:t>社会保険に加入できます。</a:t>
            </a:r>
          </a:p>
          <a:p>
            <a:pPr algn="l">
              <a:lnSpc>
                <a:spcPct val="110000"/>
              </a:lnSpc>
              <a:spcAft>
                <a:spcPts val="0"/>
              </a:spcAft>
            </a:pPr>
            <a:r>
              <a:rPr sz="1300" b="0">
                <a:solidFill>
                  <a:srgbClr val="333333"/>
                </a:solidFill>
                <a:latin typeface="メイリオ"/>
                <a:ea typeface="メイリオ"/>
                <a:cs typeface="メイリオ"/>
              </a:rPr>
              <a:t>面接日はこちら</a:t>
            </a:r>
          </a:p>
        </p:txBody>
      </p:sp>
      <p:sp>
        <p:nvSpPr>
          <p:cNvPr id="28" name="Rectangle 27"/>
          <p:cNvSpPr/>
          <p:nvPr/>
        </p:nvSpPr>
        <p:spPr>
          <a:xfrm>
            <a:off x="644400" y="4622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9" name="TextBox 28"/>
          <p:cNvSpPr txBox="1"/>
          <p:nvPr/>
        </p:nvSpPr>
        <p:spPr>
          <a:xfrm>
            <a:off x="770400" y="4572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企画配信（随時）</a:t>
            </a:r>
          </a:p>
        </p:txBody>
      </p:sp>
      <p:sp>
        <p:nvSpPr>
          <p:cNvPr id="30" name="TextBox 29"/>
          <p:cNvSpPr txBox="1"/>
          <p:nvPr/>
        </p:nvSpPr>
        <p:spPr>
          <a:xfrm>
            <a:off x="770400" y="4896000"/>
            <a:ext cx="8503200" cy="251999"/>
          </a:xfrm>
          <a:prstGeom prst="rect">
            <a:avLst/>
          </a:prstGeom>
          <a:noFill/>
        </p:spPr>
        <p:txBody>
          <a:bodyPr wrap="square" anchor="t" lIns="36000" rIns="36000" tIns="10800" bIns="10800">
            <a:spAutoFit/>
          </a:bodyPr>
          <a:lstStyle/>
          <a:p>
            <a:pPr algn="l">
              <a:lnSpc>
                <a:spcPct val="105000"/>
              </a:lnSpc>
              <a:spcAft>
                <a:spcPts val="200"/>
              </a:spcAft>
            </a:pPr>
            <a:r>
              <a:rPr sz="1350" b="0">
                <a:solidFill>
                  <a:srgbClr val="333333"/>
                </a:solidFill>
                <a:latin typeface="メイリオ"/>
                <a:ea typeface="メイリオ"/>
                <a:cs typeface="メイリオ"/>
              </a:rPr>
              <a:t>新しい現場・募集が出るたびに、希望勤務地・勤務条件のタグごとに配信</a:t>
            </a:r>
          </a:p>
        </p:txBody>
      </p:sp>
      <p:sp>
        <p:nvSpPr>
          <p:cNvPr id="31" name="Rounded Rectangle 30"/>
          <p:cNvSpPr/>
          <p:nvPr/>
        </p:nvSpPr>
        <p:spPr>
          <a:xfrm>
            <a:off x="770400" y="5184000"/>
            <a:ext cx="2714400" cy="90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32" name="Rectangle 31"/>
          <p:cNvSpPr/>
          <p:nvPr/>
        </p:nvSpPr>
        <p:spPr>
          <a:xfrm>
            <a:off x="770400" y="5184000"/>
            <a:ext cx="64800" cy="900000"/>
          </a:xfrm>
          <a:prstGeom prst="rect">
            <a:avLst/>
          </a:prstGeom>
          <a:solidFill>
            <a:srgbClr val="7F7F7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3" name="TextBox 32"/>
          <p:cNvSpPr txBox="1"/>
          <p:nvPr/>
        </p:nvSpPr>
        <p:spPr>
          <a:xfrm>
            <a:off x="932400" y="5238000"/>
            <a:ext cx="2498400" cy="234000"/>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85A"/>
                </a:solidFill>
                <a:latin typeface="メイリオ"/>
                <a:ea typeface="メイリオ"/>
                <a:cs typeface="メイリオ"/>
              </a:rPr>
              <a:t>新しい現場が出たとき</a:t>
            </a:r>
          </a:p>
        </p:txBody>
      </p:sp>
      <p:sp>
        <p:nvSpPr>
          <p:cNvPr id="34" name="TextBox 33"/>
          <p:cNvSpPr txBox="1"/>
          <p:nvPr/>
        </p:nvSpPr>
        <p:spPr>
          <a:xfrm>
            <a:off x="932400" y="5472000"/>
            <a:ext cx="2498400" cy="216000"/>
          </a:xfrm>
          <a:prstGeom prst="rect">
            <a:avLst/>
          </a:prstGeom>
          <a:noFill/>
        </p:spPr>
        <p:txBody>
          <a:bodyPr wrap="square" anchor="t" lIns="36000" rIns="36000" tIns="10800" bIns="10800">
            <a:spAutoFit/>
          </a:bodyPr>
          <a:lstStyle/>
          <a:p>
            <a:pPr algn="l">
              <a:lnSpc>
                <a:spcPct val="105000"/>
              </a:lnSpc>
              <a:spcAft>
                <a:spcPts val="200"/>
              </a:spcAft>
            </a:pPr>
            <a:r>
              <a:rPr sz="1250" b="1">
                <a:solidFill>
                  <a:srgbClr val="0B7A3B"/>
                </a:solidFill>
                <a:latin typeface="メイリオ"/>
                <a:ea typeface="メイリオ"/>
                <a:cs typeface="メイリオ"/>
              </a:rPr>
              <a:t>→ 希望勤務地が近い方へ</a:t>
            </a:r>
          </a:p>
        </p:txBody>
      </p:sp>
      <p:sp>
        <p:nvSpPr>
          <p:cNvPr id="35" name="TextBox 34"/>
          <p:cNvSpPr txBox="1"/>
          <p:nvPr/>
        </p:nvSpPr>
        <p:spPr>
          <a:xfrm>
            <a:off x="896400" y="5724000"/>
            <a:ext cx="2552400" cy="28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「お近くで新しい現場があります」</a:t>
            </a:r>
          </a:p>
        </p:txBody>
      </p:sp>
      <p:sp>
        <p:nvSpPr>
          <p:cNvPr id="36" name="Rounded Rectangle 35"/>
          <p:cNvSpPr/>
          <p:nvPr/>
        </p:nvSpPr>
        <p:spPr>
          <a:xfrm>
            <a:off x="3664800" y="5184000"/>
            <a:ext cx="2714400" cy="90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37" name="Rectangle 36"/>
          <p:cNvSpPr/>
          <p:nvPr/>
        </p:nvSpPr>
        <p:spPr>
          <a:xfrm>
            <a:off x="3664800" y="5184000"/>
            <a:ext cx="64800" cy="900000"/>
          </a:xfrm>
          <a:prstGeom prst="rect">
            <a:avLst/>
          </a:prstGeom>
          <a:solidFill>
            <a:srgbClr val="7F7F7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8" name="TextBox 37"/>
          <p:cNvSpPr txBox="1"/>
          <p:nvPr/>
        </p:nvSpPr>
        <p:spPr>
          <a:xfrm>
            <a:off x="3826799" y="5238000"/>
            <a:ext cx="2498400" cy="234000"/>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85A"/>
                </a:solidFill>
                <a:latin typeface="メイリオ"/>
                <a:ea typeface="メイリオ"/>
                <a:cs typeface="メイリオ"/>
              </a:rPr>
              <a:t>スポット募集が出たとき</a:t>
            </a:r>
          </a:p>
        </p:txBody>
      </p:sp>
      <p:sp>
        <p:nvSpPr>
          <p:cNvPr id="39" name="TextBox 38"/>
          <p:cNvSpPr txBox="1"/>
          <p:nvPr/>
        </p:nvSpPr>
        <p:spPr>
          <a:xfrm>
            <a:off x="3826799" y="5472000"/>
            <a:ext cx="2498400" cy="216000"/>
          </a:xfrm>
          <a:prstGeom prst="rect">
            <a:avLst/>
          </a:prstGeom>
          <a:noFill/>
        </p:spPr>
        <p:txBody>
          <a:bodyPr wrap="square" anchor="t" lIns="36000" rIns="36000" tIns="10800" bIns="10800">
            <a:spAutoFit/>
          </a:bodyPr>
          <a:lstStyle/>
          <a:p>
            <a:pPr algn="l">
              <a:lnSpc>
                <a:spcPct val="105000"/>
              </a:lnSpc>
              <a:spcAft>
                <a:spcPts val="200"/>
              </a:spcAft>
            </a:pPr>
            <a:r>
              <a:rPr sz="1250" b="1">
                <a:solidFill>
                  <a:srgbClr val="0B7A3B"/>
                </a:solidFill>
                <a:latin typeface="メイリオ"/>
                <a:ea typeface="メイリオ"/>
                <a:cs typeface="メイリオ"/>
              </a:rPr>
              <a:t>→ 短期・スポット希望の方へ</a:t>
            </a:r>
          </a:p>
        </p:txBody>
      </p:sp>
      <p:sp>
        <p:nvSpPr>
          <p:cNvPr id="40" name="TextBox 39"/>
          <p:cNvSpPr txBox="1"/>
          <p:nvPr/>
        </p:nvSpPr>
        <p:spPr>
          <a:xfrm>
            <a:off x="3790800" y="5724000"/>
            <a:ext cx="2552400" cy="28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「年末年始だけの募集があります」</a:t>
            </a:r>
          </a:p>
        </p:txBody>
      </p:sp>
      <p:sp>
        <p:nvSpPr>
          <p:cNvPr id="41" name="Rounded Rectangle 40"/>
          <p:cNvSpPr/>
          <p:nvPr/>
        </p:nvSpPr>
        <p:spPr>
          <a:xfrm>
            <a:off x="6559200" y="5184000"/>
            <a:ext cx="2714400" cy="90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42" name="Rectangle 41"/>
          <p:cNvSpPr/>
          <p:nvPr/>
        </p:nvSpPr>
        <p:spPr>
          <a:xfrm>
            <a:off x="6559200" y="5184000"/>
            <a:ext cx="64800" cy="900000"/>
          </a:xfrm>
          <a:prstGeom prst="rect">
            <a:avLst/>
          </a:prstGeom>
          <a:solidFill>
            <a:srgbClr val="7F7F7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3" name="TextBox 42"/>
          <p:cNvSpPr txBox="1"/>
          <p:nvPr/>
        </p:nvSpPr>
        <p:spPr>
          <a:xfrm>
            <a:off x="6721199" y="5238000"/>
            <a:ext cx="2498400" cy="234000"/>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85A"/>
                </a:solidFill>
                <a:latin typeface="メイリオ"/>
                <a:ea typeface="メイリオ"/>
                <a:cs typeface="メイリオ"/>
              </a:rPr>
              <a:t>面接日を追加したとき</a:t>
            </a:r>
          </a:p>
        </p:txBody>
      </p:sp>
      <p:sp>
        <p:nvSpPr>
          <p:cNvPr id="44" name="TextBox 43"/>
          <p:cNvSpPr txBox="1"/>
          <p:nvPr/>
        </p:nvSpPr>
        <p:spPr>
          <a:xfrm>
            <a:off x="6721199" y="5472000"/>
            <a:ext cx="2498400" cy="216000"/>
          </a:xfrm>
          <a:prstGeom prst="rect">
            <a:avLst/>
          </a:prstGeom>
          <a:noFill/>
        </p:spPr>
        <p:txBody>
          <a:bodyPr wrap="square" anchor="t" lIns="36000" rIns="36000" tIns="10800" bIns="10800">
            <a:spAutoFit/>
          </a:bodyPr>
          <a:lstStyle/>
          <a:p>
            <a:pPr algn="l">
              <a:lnSpc>
                <a:spcPct val="105000"/>
              </a:lnSpc>
              <a:spcAft>
                <a:spcPts val="200"/>
              </a:spcAft>
            </a:pPr>
            <a:r>
              <a:rPr sz="1250" b="1">
                <a:solidFill>
                  <a:srgbClr val="0B7A3B"/>
                </a:solidFill>
                <a:latin typeface="メイリオ"/>
                <a:ea typeface="メイリオ"/>
                <a:cs typeface="メイリオ"/>
              </a:rPr>
              <a:t>→ 面接未参加・辞退の方へ</a:t>
            </a:r>
          </a:p>
        </p:txBody>
      </p:sp>
      <p:sp>
        <p:nvSpPr>
          <p:cNvPr id="45" name="TextBox 44"/>
          <p:cNvSpPr txBox="1"/>
          <p:nvPr/>
        </p:nvSpPr>
        <p:spPr>
          <a:xfrm>
            <a:off x="6685200" y="5724000"/>
            <a:ext cx="2552400" cy="28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「新しい面接日をご案内します」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Lステップ｜応募者の状況ごとに配信を変える</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タグで応募者の状況を管理し、状況・希望に合わせた配信で面接予約までつなげる</a:t>
            </a:r>
            <a:endParaRPr sz="100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タグごとに配信を変える</a:t>
            </a:r>
          </a:p>
        </p:txBody>
      </p:sp>
      <p:sp>
        <p:nvSpPr>
          <p:cNvPr id="8" name="TextBox 7"/>
          <p:cNvSpPr txBox="1"/>
          <p:nvPr/>
        </p:nvSpPr>
        <p:spPr>
          <a:xfrm>
            <a:off x="770400" y="1908000"/>
            <a:ext cx="2304000" cy="216000"/>
          </a:xfrm>
          <a:prstGeom prst="rect">
            <a:avLst/>
          </a:prstGeom>
          <a:noFill/>
        </p:spPr>
        <p:txBody>
          <a:bodyPr wrap="square" anchor="t" lIns="36000" rIns="36000" tIns="10800" bIns="10800">
            <a:spAutoFit/>
          </a:bodyPr>
          <a:lstStyle/>
          <a:p>
            <a:pPr algn="ctr">
              <a:lnSpc>
                <a:spcPct val="105000"/>
              </a:lnSpc>
              <a:spcAft>
                <a:spcPts val="200"/>
              </a:spcAft>
            </a:pPr>
            <a:r>
              <a:rPr sz="1200" b="1">
                <a:solidFill>
                  <a:srgbClr val="7F7F7F"/>
                </a:solidFill>
                <a:latin typeface="メイリオ"/>
                <a:ea typeface="メイリオ"/>
                <a:cs typeface="メイリオ"/>
              </a:rPr>
              <a:t>タグ（応募者の状況）</a:t>
            </a:r>
          </a:p>
        </p:txBody>
      </p:sp>
      <p:sp>
        <p:nvSpPr>
          <p:cNvPr id="9" name="TextBox 8"/>
          <p:cNvSpPr txBox="1"/>
          <p:nvPr/>
        </p:nvSpPr>
        <p:spPr>
          <a:xfrm>
            <a:off x="3398400" y="1908000"/>
            <a:ext cx="3600000" cy="216000"/>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7F7F7F"/>
                </a:solidFill>
                <a:latin typeface="メイリオ"/>
                <a:ea typeface="メイリオ"/>
                <a:cs typeface="メイリオ"/>
              </a:rPr>
              <a:t>配信の内容</a:t>
            </a:r>
          </a:p>
        </p:txBody>
      </p:sp>
      <p:sp>
        <p:nvSpPr>
          <p:cNvPr id="10" name="Rounded Rectangle 9"/>
          <p:cNvSpPr/>
          <p:nvPr/>
        </p:nvSpPr>
        <p:spPr>
          <a:xfrm>
            <a:off x="770400" y="21240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400" b="1">
                <a:solidFill>
                  <a:srgbClr val="0B7A3B"/>
                </a:solidFill>
                <a:latin typeface="メイリオ"/>
                <a:ea typeface="メイリオ"/>
                <a:cs typeface="メイリオ"/>
              </a:rPr>
              <a:t>面接未参加</a:t>
            </a:r>
          </a:p>
        </p:txBody>
      </p:sp>
      <p:cxnSp>
        <p:nvCxnSpPr>
          <p:cNvPr id="11" name="Connector 10"/>
          <p:cNvCxnSpPr/>
          <p:nvPr/>
        </p:nvCxnSpPr>
        <p:spPr>
          <a:xfrm>
            <a:off x="3117600" y="23490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2" name="Rounded Rectangle 11"/>
          <p:cNvSpPr/>
          <p:nvPr/>
        </p:nvSpPr>
        <p:spPr>
          <a:xfrm>
            <a:off x="3398400" y="21240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144000" tIns="18000" rIns="108000" bIns="18000"/>
          <a:lstStyle/>
          <a:p>
            <a:pPr algn="l">
              <a:lnSpc>
                <a:spcPct val="110000"/>
              </a:lnSpc>
              <a:spcAft>
                <a:spcPts val="0"/>
              </a:spcAft>
            </a:pPr>
            <a:r>
              <a:rPr sz="1400" b="0">
                <a:solidFill>
                  <a:srgbClr val="333333"/>
                </a:solidFill>
                <a:latin typeface="メイリオ"/>
                <a:ea typeface="メイリオ"/>
                <a:cs typeface="メイリオ"/>
              </a:rPr>
              <a:t>面接日程の再案内と、LINEでの面接予約</a:t>
            </a:r>
          </a:p>
        </p:txBody>
      </p:sp>
      <p:sp>
        <p:nvSpPr>
          <p:cNvPr id="13" name="Rounded Rectangle 12"/>
          <p:cNvSpPr/>
          <p:nvPr/>
        </p:nvSpPr>
        <p:spPr>
          <a:xfrm>
            <a:off x="770400" y="26748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400" b="1">
                <a:solidFill>
                  <a:srgbClr val="0B7A3B"/>
                </a:solidFill>
                <a:latin typeface="メイリオ"/>
                <a:ea typeface="メイリオ"/>
                <a:cs typeface="メイリオ"/>
              </a:rPr>
              <a:t>辞退</a:t>
            </a:r>
          </a:p>
        </p:txBody>
      </p:sp>
      <p:cxnSp>
        <p:nvCxnSpPr>
          <p:cNvPr id="14" name="Connector 13"/>
          <p:cNvCxnSpPr/>
          <p:nvPr/>
        </p:nvCxnSpPr>
        <p:spPr>
          <a:xfrm>
            <a:off x="3117600" y="28998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3398400" y="26748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144000" tIns="18000" rIns="108000" bIns="18000"/>
          <a:lstStyle/>
          <a:p>
            <a:pPr algn="l">
              <a:lnSpc>
                <a:spcPct val="110000"/>
              </a:lnSpc>
              <a:spcAft>
                <a:spcPts val="0"/>
              </a:spcAft>
            </a:pPr>
            <a:r>
              <a:rPr sz="1400" b="0">
                <a:solidFill>
                  <a:srgbClr val="333333"/>
                </a:solidFill>
                <a:latin typeface="メイリオ"/>
                <a:ea typeface="メイリオ"/>
                <a:cs typeface="メイリオ"/>
              </a:rPr>
              <a:t>時期をあけて、新しい募集・現場のお知らせ</a:t>
            </a:r>
          </a:p>
        </p:txBody>
      </p:sp>
      <p:sp>
        <p:nvSpPr>
          <p:cNvPr id="16" name="Rounded Rectangle 15"/>
          <p:cNvSpPr/>
          <p:nvPr/>
        </p:nvSpPr>
        <p:spPr>
          <a:xfrm>
            <a:off x="770400" y="32256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400" b="1">
                <a:solidFill>
                  <a:srgbClr val="0B7A3B"/>
                </a:solidFill>
                <a:latin typeface="メイリオ"/>
                <a:ea typeface="メイリオ"/>
                <a:cs typeface="メイリオ"/>
              </a:rPr>
              <a:t>再応募希望</a:t>
            </a:r>
          </a:p>
        </p:txBody>
      </p:sp>
      <p:cxnSp>
        <p:nvCxnSpPr>
          <p:cNvPr id="17" name="Connector 16"/>
          <p:cNvCxnSpPr/>
          <p:nvPr/>
        </p:nvCxnSpPr>
        <p:spPr>
          <a:xfrm>
            <a:off x="3117600" y="34506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Rounded Rectangle 17"/>
          <p:cNvSpPr/>
          <p:nvPr/>
        </p:nvSpPr>
        <p:spPr>
          <a:xfrm>
            <a:off x="3398400" y="32256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144000" tIns="18000" rIns="108000" bIns="18000"/>
          <a:lstStyle/>
          <a:p>
            <a:pPr algn="l">
              <a:lnSpc>
                <a:spcPct val="110000"/>
              </a:lnSpc>
              <a:spcAft>
                <a:spcPts val="0"/>
              </a:spcAft>
            </a:pPr>
            <a:r>
              <a:rPr sz="1400" b="0">
                <a:solidFill>
                  <a:srgbClr val="333333"/>
                </a:solidFill>
                <a:latin typeface="メイリオ"/>
                <a:ea typeface="メイリオ"/>
                <a:cs typeface="メイリオ"/>
              </a:rPr>
              <a:t>LINEの中で面接日を選んで予約</a:t>
            </a:r>
          </a:p>
        </p:txBody>
      </p:sp>
      <p:sp>
        <p:nvSpPr>
          <p:cNvPr id="19" name="Rounded Rectangle 18"/>
          <p:cNvSpPr/>
          <p:nvPr/>
        </p:nvSpPr>
        <p:spPr>
          <a:xfrm>
            <a:off x="770400" y="37764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400" b="1">
                <a:solidFill>
                  <a:srgbClr val="0B7A3B"/>
                </a:solidFill>
                <a:latin typeface="メイリオ"/>
                <a:ea typeface="メイリオ"/>
                <a:cs typeface="メイリオ"/>
              </a:rPr>
              <a:t>面接予約済み</a:t>
            </a:r>
          </a:p>
        </p:txBody>
      </p:sp>
      <p:cxnSp>
        <p:nvCxnSpPr>
          <p:cNvPr id="20" name="Connector 19"/>
          <p:cNvCxnSpPr/>
          <p:nvPr/>
        </p:nvCxnSpPr>
        <p:spPr>
          <a:xfrm>
            <a:off x="3117600" y="40014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3398400" y="37764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144000" tIns="18000" rIns="108000" bIns="18000"/>
          <a:lstStyle/>
          <a:p>
            <a:pPr algn="l">
              <a:lnSpc>
                <a:spcPct val="110000"/>
              </a:lnSpc>
              <a:spcAft>
                <a:spcPts val="0"/>
              </a:spcAft>
            </a:pPr>
            <a:r>
              <a:rPr sz="1400" b="0">
                <a:solidFill>
                  <a:srgbClr val="333333"/>
                </a:solidFill>
                <a:latin typeface="メイリオ"/>
                <a:ea typeface="メイリオ"/>
                <a:cs typeface="メイリオ"/>
              </a:rPr>
              <a:t>面接前日のリマインド・会場までのアクセス</a:t>
            </a:r>
          </a:p>
        </p:txBody>
      </p:sp>
      <p:sp>
        <p:nvSpPr>
          <p:cNvPr id="22" name="Rounded Rectangle 21"/>
          <p:cNvSpPr/>
          <p:nvPr/>
        </p:nvSpPr>
        <p:spPr>
          <a:xfrm>
            <a:off x="770400" y="43272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0"/>
              </a:spcAft>
            </a:pPr>
            <a:r>
              <a:rPr sz="1400" b="1">
                <a:solidFill>
                  <a:srgbClr val="0B7A3B"/>
                </a:solidFill>
                <a:latin typeface="メイリオ"/>
                <a:ea typeface="メイリオ"/>
                <a:cs typeface="メイリオ"/>
              </a:rPr>
              <a:t>希望勤務地・勤務条件</a:t>
            </a:r>
          </a:p>
        </p:txBody>
      </p:sp>
      <p:cxnSp>
        <p:nvCxnSpPr>
          <p:cNvPr id="23" name="Connector 22"/>
          <p:cNvCxnSpPr/>
          <p:nvPr/>
        </p:nvCxnSpPr>
        <p:spPr>
          <a:xfrm>
            <a:off x="3117600" y="45522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3398400" y="43272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144000" tIns="18000" rIns="108000" bIns="18000"/>
          <a:lstStyle/>
          <a:p>
            <a:pPr algn="l">
              <a:lnSpc>
                <a:spcPct val="110000"/>
              </a:lnSpc>
              <a:spcAft>
                <a:spcPts val="0"/>
              </a:spcAft>
            </a:pPr>
            <a:r>
              <a:rPr sz="1400" b="0">
                <a:solidFill>
                  <a:srgbClr val="333333"/>
                </a:solidFill>
                <a:latin typeface="メイリオ"/>
                <a:ea typeface="メイリオ"/>
                <a:cs typeface="メイリオ"/>
              </a:rPr>
              <a:t>希望に合う現場・働き方（中途・アルバイト・スポット）のご案内</a:t>
            </a:r>
          </a:p>
        </p:txBody>
      </p:sp>
      <p:sp>
        <p:nvSpPr>
          <p:cNvPr id="25" name="Rectangle 24"/>
          <p:cNvSpPr/>
          <p:nvPr/>
        </p:nvSpPr>
        <p:spPr>
          <a:xfrm>
            <a:off x="644400" y="5018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6" name="TextBox 25"/>
          <p:cNvSpPr txBox="1"/>
          <p:nvPr/>
        </p:nvSpPr>
        <p:spPr>
          <a:xfrm>
            <a:off x="770400" y="4968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Lステップでできること</a:t>
            </a:r>
          </a:p>
        </p:txBody>
      </p:sp>
      <p:sp>
        <p:nvSpPr>
          <p:cNvPr id="27" name="Rounded Rectangle 26"/>
          <p:cNvSpPr/>
          <p:nvPr/>
        </p:nvSpPr>
        <p:spPr>
          <a:xfrm>
            <a:off x="7704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400"/>
              </a:spcAft>
            </a:pPr>
            <a:r>
              <a:rPr sz="1400" b="1">
                <a:solidFill>
                  <a:srgbClr val="1F285A"/>
                </a:solidFill>
                <a:latin typeface="メイリオ"/>
                <a:ea typeface="メイリオ"/>
                <a:cs typeface="メイリオ"/>
              </a:rPr>
              <a:t>タグ管理</a:t>
            </a:r>
          </a:p>
          <a:p>
            <a:pPr algn="ctr">
              <a:lnSpc>
                <a:spcPct val="110000"/>
              </a:lnSpc>
              <a:spcAft>
                <a:spcPts val="0"/>
              </a:spcAft>
            </a:pPr>
            <a:r>
              <a:rPr sz="1200" b="0">
                <a:solidFill>
                  <a:srgbClr val="333333"/>
                </a:solidFill>
                <a:latin typeface="メイリオ"/>
                <a:ea typeface="メイリオ"/>
                <a:cs typeface="メイリオ"/>
              </a:rPr>
              <a:t>応募者の状況を記録</a:t>
            </a:r>
          </a:p>
        </p:txBody>
      </p:sp>
      <p:sp>
        <p:nvSpPr>
          <p:cNvPr id="28" name="Rounded Rectangle 27"/>
          <p:cNvSpPr/>
          <p:nvPr/>
        </p:nvSpPr>
        <p:spPr>
          <a:xfrm>
            <a:off x="29232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400"/>
              </a:spcAft>
            </a:pPr>
            <a:r>
              <a:rPr sz="1400" b="1">
                <a:solidFill>
                  <a:srgbClr val="1F285A"/>
                </a:solidFill>
                <a:latin typeface="メイリオ"/>
                <a:ea typeface="メイリオ"/>
                <a:cs typeface="メイリオ"/>
              </a:rPr>
              <a:t>セグメント配信</a:t>
            </a:r>
          </a:p>
          <a:p>
            <a:pPr algn="ctr">
              <a:lnSpc>
                <a:spcPct val="110000"/>
              </a:lnSpc>
              <a:spcAft>
                <a:spcPts val="0"/>
              </a:spcAft>
            </a:pPr>
            <a:r>
              <a:rPr sz="1200" b="0">
                <a:solidFill>
                  <a:srgbClr val="333333"/>
                </a:solidFill>
                <a:latin typeface="メイリオ"/>
                <a:ea typeface="メイリオ"/>
                <a:cs typeface="メイリオ"/>
              </a:rPr>
              <a:t>状況・希望ごとに送り分け</a:t>
            </a:r>
          </a:p>
        </p:txBody>
      </p:sp>
      <p:sp>
        <p:nvSpPr>
          <p:cNvPr id="29" name="Rounded Rectangle 28"/>
          <p:cNvSpPr/>
          <p:nvPr/>
        </p:nvSpPr>
        <p:spPr>
          <a:xfrm>
            <a:off x="50760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400"/>
              </a:spcAft>
            </a:pPr>
            <a:r>
              <a:rPr sz="1400" b="1">
                <a:solidFill>
                  <a:srgbClr val="1F285A"/>
                </a:solidFill>
                <a:latin typeface="メイリオ"/>
                <a:ea typeface="メイリオ"/>
                <a:cs typeface="メイリオ"/>
              </a:rPr>
              <a:t>面接予約</a:t>
            </a:r>
          </a:p>
          <a:p>
            <a:pPr algn="ctr">
              <a:lnSpc>
                <a:spcPct val="110000"/>
              </a:lnSpc>
              <a:spcAft>
                <a:spcPts val="0"/>
              </a:spcAft>
            </a:pPr>
            <a:r>
              <a:rPr sz="1200" b="0">
                <a:solidFill>
                  <a:srgbClr val="333333"/>
                </a:solidFill>
                <a:latin typeface="メイリオ"/>
                <a:ea typeface="メイリオ"/>
                <a:cs typeface="メイリオ"/>
              </a:rPr>
              <a:t>LINEの中で日程を選択</a:t>
            </a:r>
          </a:p>
        </p:txBody>
      </p:sp>
      <p:sp>
        <p:nvSpPr>
          <p:cNvPr id="30" name="Rounded Rectangle 29"/>
          <p:cNvSpPr/>
          <p:nvPr/>
        </p:nvSpPr>
        <p:spPr>
          <a:xfrm>
            <a:off x="72288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lnSpc>
                <a:spcPct val="110000"/>
              </a:lnSpc>
              <a:spcAft>
                <a:spcPts val="400"/>
              </a:spcAft>
            </a:pPr>
            <a:r>
              <a:rPr sz="1400" b="1">
                <a:solidFill>
                  <a:srgbClr val="1F285A"/>
                </a:solidFill>
                <a:latin typeface="メイリオ"/>
                <a:ea typeface="メイリオ"/>
                <a:cs typeface="メイリオ"/>
              </a:rPr>
              <a:t>反応の確認</a:t>
            </a:r>
          </a:p>
          <a:p>
            <a:pPr algn="ctr">
              <a:lnSpc>
                <a:spcPct val="110000"/>
              </a:lnSpc>
              <a:spcAft>
                <a:spcPts val="0"/>
              </a:spcAft>
            </a:pPr>
            <a:r>
              <a:rPr sz="1200" b="0">
                <a:solidFill>
                  <a:srgbClr val="333333"/>
                </a:solidFill>
                <a:latin typeface="メイリオ"/>
                <a:ea typeface="メイリオ"/>
                <a:cs typeface="メイリオ"/>
              </a:rPr>
              <a:t>押されたリンクを確認</a:t>
            </a:r>
          </a:p>
        </p:txBody>
      </p:sp>
      <p:sp>
        <p:nvSpPr>
          <p:cNvPr id="31" name="TextBox 30"/>
          <p:cNvSpPr txBox="1"/>
          <p:nvPr/>
        </p:nvSpPr>
        <p:spPr>
          <a:xfrm>
            <a:off x="770400" y="6012000"/>
            <a:ext cx="8503200" cy="216000"/>
          </a:xfrm>
          <a:prstGeom prst="rect">
            <a:avLst/>
          </a:prstGeom>
          <a:noFill/>
        </p:spPr>
        <p:txBody>
          <a:bodyPr wrap="square" anchor="t" lIns="36000" rIns="36000" tIns="10800" bIns="10800">
            <a:spAutoFit/>
          </a:bodyPr>
          <a:lstStyle/>
          <a:p>
            <a:pPr algn="l">
              <a:lnSpc>
                <a:spcPct val="105000"/>
              </a:lnSpc>
              <a:spcAft>
                <a:spcPts val="200"/>
              </a:spcAft>
            </a:pPr>
            <a:r>
              <a:rPr sz="1150" b="0">
                <a:solidFill>
                  <a:srgbClr val="7F7F7F"/>
                </a:solidFill>
                <a:latin typeface="メイリオ"/>
                <a:ea typeface="メイリオ"/>
                <a:cs typeface="メイリオ"/>
              </a:rPr>
              <a:t>※採用管理サービスとの連携方法・タグ付けの具体的な方法は、導入時にご相談のうえ決定</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進め方｜アカウント開設から運用・改善まで</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lang="ja-JP" altLang="en-US" sz="1600" dirty="0">
                <a:solidFill>
                  <a:srgbClr val="333333"/>
                </a:solidFill>
                <a:latin typeface="メイリオ"/>
                <a:ea typeface="メイリオ"/>
                <a:cs typeface="メイリオ"/>
              </a:rPr>
              <a:t>LINE公式アカウントの開設から、運用・改善までまとめて支援</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導入の流れ</a:t>
            </a:r>
          </a:p>
        </p:txBody>
      </p:sp>
      <p:sp>
        <p:nvSpPr>
          <p:cNvPr id="8" name="Oval 7"/>
          <p:cNvSpPr/>
          <p:nvPr/>
        </p:nvSpPr>
        <p:spPr>
          <a:xfrm>
            <a:off x="138312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1</a:t>
            </a:r>
          </a:p>
        </p:txBody>
      </p:sp>
      <p:sp>
        <p:nvSpPr>
          <p:cNvPr id="9" name="Rounded Rectangle 8"/>
          <p:cNvSpPr/>
          <p:nvPr/>
        </p:nvSpPr>
        <p:spPr>
          <a:xfrm>
            <a:off x="77040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0"/>
              </a:spcAft>
            </a:pPr>
            <a:r>
              <a:rPr sz="1350" b="1">
                <a:solidFill>
                  <a:srgbClr val="FFFFFF"/>
                </a:solidFill>
                <a:latin typeface="メイリオ"/>
                <a:ea typeface="メイリオ"/>
                <a:cs typeface="メイリオ"/>
              </a:rPr>
              <a:t>LINE公式</a:t>
            </a:r>
          </a:p>
          <a:p>
            <a:pPr algn="ctr">
              <a:lnSpc>
                <a:spcPct val="110000"/>
              </a:lnSpc>
              <a:spcAft>
                <a:spcPts val="0"/>
              </a:spcAft>
            </a:pPr>
            <a:r>
              <a:rPr sz="1350" b="1">
                <a:solidFill>
                  <a:srgbClr val="FFFFFF"/>
                </a:solidFill>
                <a:latin typeface="メイリオ"/>
                <a:ea typeface="メイリオ"/>
                <a:cs typeface="メイリオ"/>
              </a:rPr>
              <a:t>アカウント開設</a:t>
            </a:r>
          </a:p>
        </p:txBody>
      </p:sp>
      <p:cxnSp>
        <p:nvCxnSpPr>
          <p:cNvPr id="10" name="Connector 9"/>
          <p:cNvCxnSpPr/>
          <p:nvPr/>
        </p:nvCxnSpPr>
        <p:spPr>
          <a:xfrm>
            <a:off x="2327040" y="2646000"/>
            <a:ext cx="158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77040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2" name="TextBox 11"/>
          <p:cNvSpPr txBox="1"/>
          <p:nvPr/>
        </p:nvSpPr>
        <p:spPr>
          <a:xfrm>
            <a:off x="813600" y="3132000"/>
            <a:ext cx="1441440" cy="136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LINE公式アカウントの開設・初期設定</a:t>
            </a:r>
          </a:p>
        </p:txBody>
      </p:sp>
      <p:sp>
        <p:nvSpPr>
          <p:cNvPr id="13" name="Oval 12"/>
          <p:cNvSpPr/>
          <p:nvPr/>
        </p:nvSpPr>
        <p:spPr>
          <a:xfrm>
            <a:off x="312696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2</a:t>
            </a:r>
          </a:p>
        </p:txBody>
      </p:sp>
      <p:sp>
        <p:nvSpPr>
          <p:cNvPr id="14" name="Rounded Rectangle 13"/>
          <p:cNvSpPr/>
          <p:nvPr/>
        </p:nvSpPr>
        <p:spPr>
          <a:xfrm>
            <a:off x="251424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0"/>
              </a:spcAft>
            </a:pPr>
            <a:r>
              <a:rPr sz="1350" b="1">
                <a:solidFill>
                  <a:srgbClr val="FFFFFF"/>
                </a:solidFill>
                <a:latin typeface="メイリオ"/>
                <a:ea typeface="メイリオ"/>
                <a:cs typeface="メイリオ"/>
              </a:rPr>
              <a:t>Lステップ</a:t>
            </a:r>
          </a:p>
          <a:p>
            <a:pPr algn="ctr">
              <a:lnSpc>
                <a:spcPct val="110000"/>
              </a:lnSpc>
              <a:spcAft>
                <a:spcPts val="0"/>
              </a:spcAft>
            </a:pPr>
            <a:r>
              <a:rPr sz="1350" b="1">
                <a:solidFill>
                  <a:srgbClr val="FFFFFF"/>
                </a:solidFill>
                <a:latin typeface="メイリオ"/>
                <a:ea typeface="メイリオ"/>
                <a:cs typeface="メイリオ"/>
              </a:rPr>
              <a:t>構築</a:t>
            </a:r>
          </a:p>
        </p:txBody>
      </p:sp>
      <p:cxnSp>
        <p:nvCxnSpPr>
          <p:cNvPr id="15" name="Connector 14"/>
          <p:cNvCxnSpPr/>
          <p:nvPr/>
        </p:nvCxnSpPr>
        <p:spPr>
          <a:xfrm>
            <a:off x="4070880" y="2646000"/>
            <a:ext cx="158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251424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7" name="TextBox 16"/>
          <p:cNvSpPr txBox="1"/>
          <p:nvPr/>
        </p:nvSpPr>
        <p:spPr>
          <a:xfrm>
            <a:off x="2557440" y="3132000"/>
            <a:ext cx="1441440" cy="136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タグ・セグメント・面接予約の設計と設定</a:t>
            </a:r>
          </a:p>
        </p:txBody>
      </p:sp>
      <p:sp>
        <p:nvSpPr>
          <p:cNvPr id="18" name="Oval 17"/>
          <p:cNvSpPr/>
          <p:nvPr/>
        </p:nvSpPr>
        <p:spPr>
          <a:xfrm>
            <a:off x="487080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3</a:t>
            </a:r>
          </a:p>
        </p:txBody>
      </p:sp>
      <p:sp>
        <p:nvSpPr>
          <p:cNvPr id="19" name="Rounded Rectangle 18"/>
          <p:cNvSpPr/>
          <p:nvPr/>
        </p:nvSpPr>
        <p:spPr>
          <a:xfrm>
            <a:off x="425808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0"/>
              </a:spcAft>
            </a:pPr>
            <a:r>
              <a:rPr sz="1350" b="1">
                <a:solidFill>
                  <a:srgbClr val="FFFFFF"/>
                </a:solidFill>
                <a:latin typeface="メイリオ"/>
                <a:ea typeface="メイリオ"/>
                <a:cs typeface="メイリオ"/>
              </a:rPr>
              <a:t>友だち獲得の</a:t>
            </a:r>
          </a:p>
          <a:p>
            <a:pPr algn="ctr">
              <a:lnSpc>
                <a:spcPct val="110000"/>
              </a:lnSpc>
              <a:spcAft>
                <a:spcPts val="0"/>
              </a:spcAft>
            </a:pPr>
            <a:r>
              <a:rPr sz="1350" b="1">
                <a:solidFill>
                  <a:srgbClr val="FFFFFF"/>
                </a:solidFill>
                <a:latin typeface="メイリオ"/>
                <a:ea typeface="メイリオ"/>
                <a:cs typeface="メイリオ"/>
              </a:rPr>
              <a:t>導線整備</a:t>
            </a:r>
          </a:p>
        </p:txBody>
      </p:sp>
      <p:cxnSp>
        <p:nvCxnSpPr>
          <p:cNvPr id="20" name="Connector 19"/>
          <p:cNvCxnSpPr/>
          <p:nvPr/>
        </p:nvCxnSpPr>
        <p:spPr>
          <a:xfrm>
            <a:off x="5814720" y="2646000"/>
            <a:ext cx="158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425808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22" name="TextBox 21"/>
          <p:cNvSpPr txBox="1"/>
          <p:nvPr/>
        </p:nvSpPr>
        <p:spPr>
          <a:xfrm>
            <a:off x="4301280" y="3132000"/>
            <a:ext cx="1441440" cy="136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応募時：</a:t>
            </a:r>
          </a:p>
          <a:p>
            <a:pPr algn="l">
              <a:lnSpc>
                <a:spcPct val="105000"/>
              </a:lnSpc>
              <a:spcAft>
                <a:spcPts val="200"/>
              </a:spcAft>
            </a:pPr>
            <a:r>
              <a:rPr sz="1200" b="0">
                <a:solidFill>
                  <a:srgbClr val="333333"/>
                </a:solidFill>
                <a:latin typeface="メイリオ"/>
                <a:ea typeface="メイリオ"/>
                <a:cs typeface="メイリオ"/>
              </a:rPr>
              <a:t>採用管理サービス</a:t>
            </a:r>
          </a:p>
          <a:p>
            <a:pPr algn="l">
              <a:lnSpc>
                <a:spcPct val="105000"/>
              </a:lnSpc>
              <a:spcAft>
                <a:spcPts val="200"/>
              </a:spcAft>
            </a:pPr>
            <a:r>
              <a:rPr sz="1200" b="0">
                <a:solidFill>
                  <a:srgbClr val="333333"/>
                </a:solidFill>
                <a:latin typeface="メイリオ"/>
                <a:ea typeface="メイリオ"/>
                <a:cs typeface="メイリオ"/>
              </a:rPr>
              <a:t>のSMSでご案内</a:t>
            </a:r>
          </a:p>
          <a:p>
            <a:pPr algn="l">
              <a:lnSpc>
                <a:spcPct val="105000"/>
              </a:lnSpc>
              <a:spcAft>
                <a:spcPts val="200"/>
              </a:spcAft>
            </a:pPr>
            <a:r>
              <a:rPr sz="1200" b="0">
                <a:solidFill>
                  <a:srgbClr val="333333"/>
                </a:solidFill>
                <a:latin typeface="メイリオ"/>
                <a:ea typeface="メイリオ"/>
                <a:cs typeface="メイリオ"/>
              </a:rPr>
              <a:t>過去の応募者：</a:t>
            </a:r>
          </a:p>
          <a:p>
            <a:pPr algn="l">
              <a:lnSpc>
                <a:spcPct val="105000"/>
              </a:lnSpc>
              <a:spcAft>
                <a:spcPts val="200"/>
              </a:spcAft>
            </a:pPr>
            <a:r>
              <a:rPr sz="1200" b="0">
                <a:solidFill>
                  <a:srgbClr val="333333"/>
                </a:solidFill>
                <a:latin typeface="メイリオ"/>
                <a:ea typeface="メイリオ"/>
                <a:cs typeface="メイリオ"/>
              </a:rPr>
              <a:t>SMS・メール等で</a:t>
            </a:r>
          </a:p>
          <a:p>
            <a:pPr algn="l">
              <a:lnSpc>
                <a:spcPct val="105000"/>
              </a:lnSpc>
              <a:spcAft>
                <a:spcPts val="200"/>
              </a:spcAft>
            </a:pPr>
            <a:r>
              <a:rPr sz="1200" b="0">
                <a:solidFill>
                  <a:srgbClr val="333333"/>
                </a:solidFill>
                <a:latin typeface="メイリオ"/>
                <a:ea typeface="メイリオ"/>
                <a:cs typeface="メイリオ"/>
              </a:rPr>
              <a:t>ご案内</a:t>
            </a:r>
          </a:p>
        </p:txBody>
      </p:sp>
      <p:sp>
        <p:nvSpPr>
          <p:cNvPr id="23" name="Oval 22"/>
          <p:cNvSpPr/>
          <p:nvPr/>
        </p:nvSpPr>
        <p:spPr>
          <a:xfrm>
            <a:off x="661464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4</a:t>
            </a:r>
          </a:p>
        </p:txBody>
      </p:sp>
      <p:sp>
        <p:nvSpPr>
          <p:cNvPr id="24" name="Rounded Rectangle 23"/>
          <p:cNvSpPr/>
          <p:nvPr/>
        </p:nvSpPr>
        <p:spPr>
          <a:xfrm>
            <a:off x="600192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0"/>
              </a:spcAft>
            </a:pPr>
            <a:r>
              <a:rPr sz="1350" b="1">
                <a:solidFill>
                  <a:srgbClr val="FFFFFF"/>
                </a:solidFill>
                <a:latin typeface="メイリオ"/>
                <a:ea typeface="メイリオ"/>
                <a:cs typeface="メイリオ"/>
              </a:rPr>
              <a:t>配信設定</a:t>
            </a:r>
          </a:p>
        </p:txBody>
      </p:sp>
      <p:cxnSp>
        <p:nvCxnSpPr>
          <p:cNvPr id="25" name="Connector 24"/>
          <p:cNvCxnSpPr/>
          <p:nvPr/>
        </p:nvCxnSpPr>
        <p:spPr>
          <a:xfrm>
            <a:off x="7558559" y="2646000"/>
            <a:ext cx="158401"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6" name="Rounded Rectangle 25"/>
          <p:cNvSpPr/>
          <p:nvPr/>
        </p:nvSpPr>
        <p:spPr>
          <a:xfrm>
            <a:off x="600192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27" name="TextBox 26"/>
          <p:cNvSpPr txBox="1"/>
          <p:nvPr/>
        </p:nvSpPr>
        <p:spPr>
          <a:xfrm>
            <a:off x="6045120" y="3132000"/>
            <a:ext cx="1441440" cy="136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ステップ配信・募集のお知らせの作成</a:t>
            </a:r>
          </a:p>
        </p:txBody>
      </p:sp>
      <p:sp>
        <p:nvSpPr>
          <p:cNvPr id="28" name="Oval 27"/>
          <p:cNvSpPr/>
          <p:nvPr/>
        </p:nvSpPr>
        <p:spPr>
          <a:xfrm>
            <a:off x="8358480" y="1926000"/>
            <a:ext cx="302400" cy="3024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5</a:t>
            </a:r>
          </a:p>
        </p:txBody>
      </p:sp>
      <p:sp>
        <p:nvSpPr>
          <p:cNvPr id="29" name="Rounded Rectangle 28"/>
          <p:cNvSpPr/>
          <p:nvPr/>
        </p:nvSpPr>
        <p:spPr>
          <a:xfrm>
            <a:off x="774576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0"/>
              </a:spcAft>
            </a:pPr>
            <a:r>
              <a:rPr sz="1350" b="1">
                <a:solidFill>
                  <a:srgbClr val="FFFFFF"/>
                </a:solidFill>
                <a:latin typeface="メイリオ"/>
                <a:ea typeface="メイリオ"/>
                <a:cs typeface="メイリオ"/>
              </a:rPr>
              <a:t>運用・改善</a:t>
            </a:r>
          </a:p>
        </p:txBody>
      </p:sp>
      <p:sp>
        <p:nvSpPr>
          <p:cNvPr id="30" name="Rounded Rectangle 29"/>
          <p:cNvSpPr/>
          <p:nvPr/>
        </p:nvSpPr>
        <p:spPr>
          <a:xfrm>
            <a:off x="774576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31" name="TextBox 30"/>
          <p:cNvSpPr txBox="1"/>
          <p:nvPr/>
        </p:nvSpPr>
        <p:spPr>
          <a:xfrm>
            <a:off x="7788960" y="3132000"/>
            <a:ext cx="1441440" cy="1368000"/>
          </a:xfrm>
          <a:prstGeom prst="rect">
            <a:avLst/>
          </a:prstGeom>
          <a:noFill/>
        </p:spPr>
        <p:txBody>
          <a:bodyPr wrap="square" anchor="t" lIns="36000" rIns="36000" tIns="10800" bIns="10800">
            <a:spAutoFit/>
          </a:bodyPr>
          <a:lstStyle/>
          <a:p>
            <a:pPr algn="l">
              <a:lnSpc>
                <a:spcPct val="105000"/>
              </a:lnSpc>
              <a:spcAft>
                <a:spcPts val="200"/>
              </a:spcAft>
            </a:pPr>
            <a:r>
              <a:rPr sz="1200" b="0">
                <a:solidFill>
                  <a:srgbClr val="333333"/>
                </a:solidFill>
                <a:latin typeface="メイリオ"/>
                <a:ea typeface="メイリオ"/>
                <a:cs typeface="メイリオ"/>
              </a:rPr>
              <a:t>応募数・面接予約数を見て、配信の内容・タイミングを見直す</a:t>
            </a:r>
          </a:p>
        </p:txBody>
      </p:sp>
      <p:cxnSp>
        <p:nvCxnSpPr>
          <p:cNvPr id="32" name="Connector 31"/>
          <p:cNvCxnSpPr/>
          <p:nvPr/>
        </p:nvCxnSpPr>
        <p:spPr>
          <a:xfrm>
            <a:off x="770400" y="4698000"/>
            <a:ext cx="6759360" cy="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770400" y="4608000"/>
            <a:ext cx="0" cy="9000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7529760" y="4608000"/>
            <a:ext cx="0" cy="9000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770400" y="4734000"/>
            <a:ext cx="6759360" cy="251999"/>
          </a:xfrm>
          <a:prstGeom prst="rect">
            <a:avLst/>
          </a:prstGeom>
          <a:noFill/>
        </p:spPr>
        <p:txBody>
          <a:bodyPr wrap="square" anchor="t" lIns="36000" rIns="36000" tIns="10800" bIns="10800">
            <a:spAutoFit/>
          </a:bodyPr>
          <a:lstStyle/>
          <a:p>
            <a:pPr algn="ctr">
              <a:lnSpc>
                <a:spcPct val="105000"/>
              </a:lnSpc>
              <a:spcAft>
                <a:spcPts val="200"/>
              </a:spcAft>
            </a:pPr>
            <a:r>
              <a:rPr sz="1500" b="1">
                <a:solidFill>
                  <a:srgbClr val="1F285A"/>
                </a:solidFill>
                <a:latin typeface="メイリオ"/>
                <a:ea typeface="メイリオ"/>
                <a:cs typeface="メイリオ"/>
              </a:rPr>
              <a:t>初期構築</a:t>
            </a:r>
          </a:p>
        </p:txBody>
      </p:sp>
      <p:cxnSp>
        <p:nvCxnSpPr>
          <p:cNvPr id="36" name="Connector 35"/>
          <p:cNvCxnSpPr/>
          <p:nvPr/>
        </p:nvCxnSpPr>
        <p:spPr>
          <a:xfrm>
            <a:off x="7745760" y="4698000"/>
            <a:ext cx="1527840" cy="0"/>
          </a:xfrm>
          <a:prstGeom prst="line">
            <a:avLst/>
          </a:prstGeom>
          <a:ln w="19050">
            <a:solidFill>
              <a:srgbClr val="06C755"/>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7745760" y="4608000"/>
            <a:ext cx="0" cy="90000"/>
          </a:xfrm>
          <a:prstGeom prst="line">
            <a:avLst/>
          </a:prstGeom>
          <a:ln w="19050">
            <a:solidFill>
              <a:srgbClr val="06C755"/>
            </a:solidFill>
          </a:ln>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9273600" y="4608000"/>
            <a:ext cx="0" cy="90000"/>
          </a:xfrm>
          <a:prstGeom prst="line">
            <a:avLst/>
          </a:prstGeom>
          <a:ln w="19050">
            <a:solidFill>
              <a:srgbClr val="06C755"/>
            </a:solidFill>
          </a:ln>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7745760" y="4734000"/>
            <a:ext cx="1527840" cy="251999"/>
          </a:xfrm>
          <a:prstGeom prst="rect">
            <a:avLst/>
          </a:prstGeom>
          <a:noFill/>
        </p:spPr>
        <p:txBody>
          <a:bodyPr wrap="square" anchor="t" lIns="36000" rIns="36000" tIns="10800" bIns="10800">
            <a:spAutoFit/>
          </a:bodyPr>
          <a:lstStyle/>
          <a:p>
            <a:pPr algn="ctr">
              <a:lnSpc>
                <a:spcPct val="105000"/>
              </a:lnSpc>
              <a:spcAft>
                <a:spcPts val="200"/>
              </a:spcAft>
            </a:pPr>
            <a:r>
              <a:rPr sz="1500" b="1">
                <a:solidFill>
                  <a:srgbClr val="0B7A3B"/>
                </a:solidFill>
                <a:latin typeface="メイリオ"/>
                <a:ea typeface="メイリオ"/>
                <a:cs typeface="メイリオ"/>
              </a:rPr>
              <a:t>月額の運用</a:t>
            </a:r>
          </a:p>
        </p:txBody>
      </p:sp>
      <p:sp>
        <p:nvSpPr>
          <p:cNvPr id="40" name="Rectangle 39"/>
          <p:cNvSpPr/>
          <p:nvPr/>
        </p:nvSpPr>
        <p:spPr>
          <a:xfrm>
            <a:off x="644400" y="5162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1" name="TextBox 40"/>
          <p:cNvSpPr txBox="1"/>
          <p:nvPr/>
        </p:nvSpPr>
        <p:spPr>
          <a:xfrm>
            <a:off x="770400" y="5112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改善で見る指標</a:t>
            </a:r>
          </a:p>
        </p:txBody>
      </p:sp>
      <p:cxnSp>
        <p:nvCxnSpPr>
          <p:cNvPr id="42" name="Connector 41"/>
          <p:cNvCxnSpPr/>
          <p:nvPr/>
        </p:nvCxnSpPr>
        <p:spPr>
          <a:xfrm>
            <a:off x="4860000" y="5724000"/>
            <a:ext cx="324000" cy="0"/>
          </a:xfrm>
          <a:prstGeom prst="line">
            <a:avLst/>
          </a:prstGeom>
          <a:ln w="317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43" name="Rounded Rectangle 42"/>
          <p:cNvSpPr/>
          <p:nvPr/>
        </p:nvSpPr>
        <p:spPr>
          <a:xfrm>
            <a:off x="770400" y="5454000"/>
            <a:ext cx="3999600" cy="5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44" name="Rounded Rectangle 43"/>
          <p:cNvSpPr/>
          <p:nvPr/>
        </p:nvSpPr>
        <p:spPr>
          <a:xfrm>
            <a:off x="878400" y="5544000"/>
            <a:ext cx="648000" cy="360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CV①</a:t>
            </a:r>
          </a:p>
        </p:txBody>
      </p:sp>
      <p:sp>
        <p:nvSpPr>
          <p:cNvPr id="45" name="TextBox 44"/>
          <p:cNvSpPr txBox="1"/>
          <p:nvPr/>
        </p:nvSpPr>
        <p:spPr>
          <a:xfrm>
            <a:off x="1634400" y="5454000"/>
            <a:ext cx="3063600" cy="540000"/>
          </a:xfrm>
          <a:prstGeom prst="rect">
            <a:avLst/>
          </a:prstGeom>
          <a:noFill/>
        </p:spPr>
        <p:txBody>
          <a:bodyPr wrap="square" anchor="ctr" lIns="36000" rIns="36000" tIns="10800" bIns="10800">
            <a:spAutoFit/>
          </a:bodyPr>
          <a:lstStyle/>
          <a:p>
            <a:pPr algn="l">
              <a:lnSpc>
                <a:spcPct val="105000"/>
              </a:lnSpc>
              <a:spcAft>
                <a:spcPts val="200"/>
              </a:spcAft>
            </a:pPr>
            <a:r>
              <a:rPr sz="1600" b="1">
                <a:solidFill>
                  <a:srgbClr val="1F285A"/>
                </a:solidFill>
                <a:latin typeface="メイリオ"/>
                <a:ea typeface="メイリオ"/>
                <a:cs typeface="メイリオ"/>
              </a:rPr>
              <a:t>応募数（再応募を含む）</a:t>
            </a:r>
          </a:p>
        </p:txBody>
      </p:sp>
      <p:sp>
        <p:nvSpPr>
          <p:cNvPr id="46" name="Rounded Rectangle 45"/>
          <p:cNvSpPr/>
          <p:nvPr/>
        </p:nvSpPr>
        <p:spPr>
          <a:xfrm>
            <a:off x="5274000" y="5454000"/>
            <a:ext cx="3999600" cy="5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47" name="Rounded Rectangle 46"/>
          <p:cNvSpPr/>
          <p:nvPr/>
        </p:nvSpPr>
        <p:spPr>
          <a:xfrm>
            <a:off x="5382000" y="5544000"/>
            <a:ext cx="648000" cy="360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lnSpc>
                <a:spcPct val="110000"/>
              </a:lnSpc>
              <a:spcAft>
                <a:spcPts val="0"/>
              </a:spcAft>
            </a:pPr>
            <a:r>
              <a:rPr sz="1400" b="1">
                <a:solidFill>
                  <a:srgbClr val="FFFFFF"/>
                </a:solidFill>
                <a:latin typeface="メイリオ"/>
                <a:ea typeface="メイリオ"/>
                <a:cs typeface="メイリオ"/>
              </a:rPr>
              <a:t>CV②</a:t>
            </a:r>
          </a:p>
        </p:txBody>
      </p:sp>
      <p:sp>
        <p:nvSpPr>
          <p:cNvPr id="48" name="TextBox 47"/>
          <p:cNvSpPr txBox="1"/>
          <p:nvPr/>
        </p:nvSpPr>
        <p:spPr>
          <a:xfrm>
            <a:off x="6138000" y="5454000"/>
            <a:ext cx="3063600" cy="540000"/>
          </a:xfrm>
          <a:prstGeom prst="rect">
            <a:avLst/>
          </a:prstGeom>
          <a:noFill/>
        </p:spPr>
        <p:txBody>
          <a:bodyPr wrap="square" anchor="ctr" lIns="36000" rIns="36000" tIns="10800" bIns="10800">
            <a:spAutoFit/>
          </a:bodyPr>
          <a:lstStyle/>
          <a:p>
            <a:pPr algn="l">
              <a:lnSpc>
                <a:spcPct val="105000"/>
              </a:lnSpc>
              <a:spcAft>
                <a:spcPts val="200"/>
              </a:spcAft>
            </a:pPr>
            <a:r>
              <a:rPr sz="1600" b="1">
                <a:solidFill>
                  <a:srgbClr val="1F285A"/>
                </a:solidFill>
                <a:latin typeface="メイリオ"/>
                <a:ea typeface="メイリオ"/>
                <a:cs typeface="メイリオ"/>
              </a:rPr>
              <a:t>面接予約数</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費用</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初期構築費10万円・月額費用20万円で、開設から運用・改善まで支援</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584000"/>
            <a:ext cx="8503200" cy="288000"/>
          </a:xfrm>
          <a:prstGeom prst="rect">
            <a:avLst/>
          </a:prstGeom>
          <a:noFill/>
        </p:spPr>
        <p:txBody>
          <a:bodyPr wrap="square" anchor="t" lIns="36000" rIns="36000" tIns="10800" bIns="10800">
            <a:spAutoFit/>
          </a:bodyPr>
          <a:lstStyle/>
          <a:p>
            <a:pPr algn="l">
              <a:lnSpc>
                <a:spcPct val="105000"/>
              </a:lnSpc>
              <a:spcAft>
                <a:spcPts val="200"/>
              </a:spcAft>
            </a:pPr>
            <a:r>
              <a:rPr sz="1500" b="1">
                <a:solidFill>
                  <a:srgbClr val="1F285A"/>
                </a:solidFill>
                <a:latin typeface="メイリオ"/>
                <a:ea typeface="メイリオ"/>
                <a:cs typeface="メイリオ"/>
              </a:rPr>
              <a:t>内訳</a:t>
            </a:r>
          </a:p>
        </p:txBody>
      </p:sp>
      <p:sp>
        <p:nvSpPr>
          <p:cNvPr id="8" name="Rounded Rectangle 7"/>
          <p:cNvSpPr/>
          <p:nvPr/>
        </p:nvSpPr>
        <p:spPr>
          <a:xfrm>
            <a:off x="770400" y="1926000"/>
            <a:ext cx="4107600" cy="1800000"/>
          </a:xfrm>
          <a:prstGeom prst="roundRect">
            <a:avLst>
              <a:gd name="adj" fmla="val 8000"/>
            </a:avLst>
          </a:prstGeom>
          <a:solidFill>
            <a:srgbClr val="F4F7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9" name="TextBox 8"/>
          <p:cNvSpPr txBox="1"/>
          <p:nvPr/>
        </p:nvSpPr>
        <p:spPr>
          <a:xfrm>
            <a:off x="770400" y="2070000"/>
            <a:ext cx="4107600" cy="324000"/>
          </a:xfrm>
          <a:prstGeom prst="rect">
            <a:avLst/>
          </a:prstGeom>
          <a:noFill/>
        </p:spPr>
        <p:txBody>
          <a:bodyPr wrap="square" anchor="t" lIns="36000" rIns="36000" tIns="10800" bIns="10800">
            <a:spAutoFit/>
          </a:bodyPr>
          <a:lstStyle/>
          <a:p>
            <a:pPr algn="ctr">
              <a:lnSpc>
                <a:spcPct val="105000"/>
              </a:lnSpc>
              <a:spcAft>
                <a:spcPts val="200"/>
              </a:spcAft>
            </a:pPr>
            <a:r>
              <a:rPr sz="1800" b="1">
                <a:solidFill>
                  <a:srgbClr val="1F285A"/>
                </a:solidFill>
                <a:latin typeface="メイリオ"/>
                <a:ea typeface="メイリオ"/>
                <a:cs typeface="メイリオ"/>
              </a:rPr>
              <a:t>初期構築費</a:t>
            </a:r>
          </a:p>
        </p:txBody>
      </p:sp>
      <p:sp>
        <p:nvSpPr>
          <p:cNvPr id="10" name="TextBox 9"/>
          <p:cNvSpPr txBox="1"/>
          <p:nvPr/>
        </p:nvSpPr>
        <p:spPr>
          <a:xfrm>
            <a:off x="770400" y="2448000"/>
            <a:ext cx="4107600" cy="1080000"/>
          </a:xfrm>
          <a:prstGeom prst="rect">
            <a:avLst/>
          </a:prstGeom>
          <a:noFill/>
        </p:spPr>
        <p:txBody>
          <a:bodyPr wrap="square" anchor="ctr" lIns="36000" rIns="36000" tIns="10800" bIns="10800">
            <a:spAutoFit/>
          </a:bodyPr>
          <a:lstStyle/>
          <a:p>
            <a:pPr algn="ctr">
              <a:lnSpc>
                <a:spcPct val="105000"/>
              </a:lnSpc>
              <a:spcAft>
                <a:spcPts val="200"/>
              </a:spcAft>
            </a:pPr>
            <a:r>
              <a:rPr sz="4600" b="1">
                <a:solidFill>
                  <a:srgbClr val="1F285A"/>
                </a:solidFill>
                <a:latin typeface="メイリオ"/>
                <a:ea typeface="メイリオ"/>
                <a:cs typeface="メイリオ"/>
              </a:rPr>
              <a:t>100,000円</a:t>
            </a:r>
          </a:p>
        </p:txBody>
      </p:sp>
      <p:sp>
        <p:nvSpPr>
          <p:cNvPr id="11" name="TextBox 10"/>
          <p:cNvSpPr txBox="1"/>
          <p:nvPr/>
        </p:nvSpPr>
        <p:spPr>
          <a:xfrm>
            <a:off x="878400" y="3888000"/>
            <a:ext cx="4107600" cy="251999"/>
          </a:xfrm>
          <a:prstGeom prst="rect">
            <a:avLst/>
          </a:prstGeom>
          <a:noFill/>
        </p:spPr>
        <p:txBody>
          <a:bodyPr wrap="square" anchor="t" lIns="36000" rIns="36000" tIns="10800" bIns="10800">
            <a:spAutoFit/>
          </a:bodyPr>
          <a:lstStyle/>
          <a:p>
            <a:pPr algn="l">
              <a:lnSpc>
                <a:spcPct val="105000"/>
              </a:lnSpc>
              <a:spcAft>
                <a:spcPts val="200"/>
              </a:spcAft>
            </a:pPr>
            <a:r>
              <a:rPr sz="1400" b="1">
                <a:solidFill>
                  <a:srgbClr val="7F7F7F"/>
                </a:solidFill>
                <a:latin typeface="メイリオ"/>
                <a:ea typeface="メイリオ"/>
                <a:cs typeface="メイリオ"/>
              </a:rPr>
              <a:t>含まれるもの</a:t>
            </a:r>
          </a:p>
        </p:txBody>
      </p:sp>
      <p:sp>
        <p:nvSpPr>
          <p:cNvPr id="12" name="TextBox 11"/>
          <p:cNvSpPr txBox="1"/>
          <p:nvPr/>
        </p:nvSpPr>
        <p:spPr>
          <a:xfrm>
            <a:off x="878400" y="4158000"/>
            <a:ext cx="3999600" cy="1620000"/>
          </a:xfrm>
          <a:prstGeom prst="rect">
            <a:avLst/>
          </a:prstGeom>
          <a:noFill/>
        </p:spPr>
        <p:txBody>
          <a:bodyPr wrap="square" anchor="t" lIns="36000" rIns="36000" tIns="10800" bIns="10800">
            <a:spAutoFit/>
          </a:bodyPr>
          <a:lstStyle/>
          <a:p>
            <a:pPr algn="l">
              <a:lnSpc>
                <a:spcPct val="105000"/>
              </a:lnSpc>
              <a:spcAft>
                <a:spcPts val="200"/>
              </a:spcAft>
            </a:pPr>
            <a:r>
              <a:rPr sz="1400" b="0">
                <a:solidFill>
                  <a:srgbClr val="333333"/>
                </a:solidFill>
                <a:latin typeface="メイリオ"/>
                <a:ea typeface="メイリオ"/>
                <a:cs typeface="メイリオ"/>
              </a:rPr>
              <a:t>・LINE公式アカウントの開設</a:t>
            </a:r>
          </a:p>
          <a:p>
            <a:pPr algn="l">
              <a:lnSpc>
                <a:spcPct val="105000"/>
              </a:lnSpc>
              <a:spcAft>
                <a:spcPts val="200"/>
              </a:spcAft>
            </a:pPr>
            <a:r>
              <a:rPr sz="1400" b="0">
                <a:solidFill>
                  <a:srgbClr val="333333"/>
                </a:solidFill>
                <a:latin typeface="メイリオ"/>
                <a:ea typeface="メイリオ"/>
                <a:cs typeface="メイリオ"/>
              </a:rPr>
              <a:t>・Lステップの構築（タグ・配信の設計）</a:t>
            </a:r>
          </a:p>
          <a:p>
            <a:pPr algn="l">
              <a:lnSpc>
                <a:spcPct val="105000"/>
              </a:lnSpc>
              <a:spcAft>
                <a:spcPts val="200"/>
              </a:spcAft>
            </a:pPr>
            <a:r>
              <a:rPr sz="1400" b="0">
                <a:solidFill>
                  <a:srgbClr val="333333"/>
                </a:solidFill>
                <a:latin typeface="メイリオ"/>
                <a:ea typeface="メイリオ"/>
                <a:cs typeface="メイリオ"/>
              </a:rPr>
              <a:t>・友だち獲得の導線整備</a:t>
            </a:r>
          </a:p>
          <a:p>
            <a:pPr algn="l">
              <a:lnSpc>
                <a:spcPct val="105000"/>
              </a:lnSpc>
              <a:spcAft>
                <a:spcPts val="200"/>
              </a:spcAft>
            </a:pPr>
            <a:r>
              <a:rPr sz="1400" b="0">
                <a:solidFill>
                  <a:srgbClr val="333333"/>
                </a:solidFill>
                <a:latin typeface="メイリオ"/>
                <a:ea typeface="メイリオ"/>
                <a:cs typeface="メイリオ"/>
              </a:rPr>
              <a:t>・ステップ配信の作成</a:t>
            </a:r>
          </a:p>
        </p:txBody>
      </p:sp>
      <p:sp>
        <p:nvSpPr>
          <p:cNvPr id="13" name="Rounded Rectangle 12"/>
          <p:cNvSpPr/>
          <p:nvPr/>
        </p:nvSpPr>
        <p:spPr>
          <a:xfrm>
            <a:off x="5166000" y="1926000"/>
            <a:ext cx="4107600" cy="1800000"/>
          </a:xfrm>
          <a:prstGeom prst="roundRect">
            <a:avLst>
              <a:gd name="adj" fmla="val 8000"/>
            </a:avLst>
          </a:prstGeom>
          <a:solidFill>
            <a:srgbClr val="F4F7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36000" rIns="72000" bIns="36000"/>
          <a:lstStyle/>
          <a:p>
            <a:pPr algn="ctr"/>
          </a:p>
        </p:txBody>
      </p:sp>
      <p:sp>
        <p:nvSpPr>
          <p:cNvPr id="14" name="TextBox 13"/>
          <p:cNvSpPr txBox="1"/>
          <p:nvPr/>
        </p:nvSpPr>
        <p:spPr>
          <a:xfrm>
            <a:off x="5166000" y="2070000"/>
            <a:ext cx="4107600" cy="324000"/>
          </a:xfrm>
          <a:prstGeom prst="rect">
            <a:avLst/>
          </a:prstGeom>
          <a:noFill/>
        </p:spPr>
        <p:txBody>
          <a:bodyPr wrap="square" anchor="t" lIns="36000" rIns="36000" tIns="10800" bIns="10800">
            <a:spAutoFit/>
          </a:bodyPr>
          <a:lstStyle/>
          <a:p>
            <a:pPr algn="ctr">
              <a:lnSpc>
                <a:spcPct val="105000"/>
              </a:lnSpc>
              <a:spcAft>
                <a:spcPts val="200"/>
              </a:spcAft>
            </a:pPr>
            <a:r>
              <a:rPr sz="1800" b="1">
                <a:solidFill>
                  <a:srgbClr val="1F285A"/>
                </a:solidFill>
                <a:latin typeface="メイリオ"/>
                <a:ea typeface="メイリオ"/>
                <a:cs typeface="メイリオ"/>
              </a:rPr>
              <a:t>月額費用</a:t>
            </a:r>
          </a:p>
        </p:txBody>
      </p:sp>
      <p:sp>
        <p:nvSpPr>
          <p:cNvPr id="15" name="TextBox 14"/>
          <p:cNvSpPr txBox="1"/>
          <p:nvPr/>
        </p:nvSpPr>
        <p:spPr>
          <a:xfrm>
            <a:off x="5166000" y="2448000"/>
            <a:ext cx="4107600" cy="1080000"/>
          </a:xfrm>
          <a:prstGeom prst="rect">
            <a:avLst/>
          </a:prstGeom>
          <a:noFill/>
        </p:spPr>
        <p:txBody>
          <a:bodyPr wrap="square" anchor="ctr" lIns="36000" rIns="36000" tIns="10800" bIns="10800">
            <a:spAutoFit/>
          </a:bodyPr>
          <a:lstStyle/>
          <a:p>
            <a:pPr algn="ctr">
              <a:lnSpc>
                <a:spcPct val="105000"/>
              </a:lnSpc>
              <a:spcAft>
                <a:spcPts val="200"/>
              </a:spcAft>
            </a:pPr>
            <a:r>
              <a:rPr sz="4600" b="1">
                <a:solidFill>
                  <a:srgbClr val="1F285A"/>
                </a:solidFill>
                <a:latin typeface="メイリオ"/>
                <a:ea typeface="メイリオ"/>
                <a:cs typeface="メイリオ"/>
              </a:rPr>
              <a:t>200,000円</a:t>
            </a:r>
          </a:p>
        </p:txBody>
      </p:sp>
      <p:sp>
        <p:nvSpPr>
          <p:cNvPr id="16" name="TextBox 15"/>
          <p:cNvSpPr txBox="1"/>
          <p:nvPr/>
        </p:nvSpPr>
        <p:spPr>
          <a:xfrm>
            <a:off x="5274000" y="3888000"/>
            <a:ext cx="4107600" cy="251999"/>
          </a:xfrm>
          <a:prstGeom prst="rect">
            <a:avLst/>
          </a:prstGeom>
          <a:noFill/>
        </p:spPr>
        <p:txBody>
          <a:bodyPr wrap="square" anchor="t" lIns="36000" rIns="36000" tIns="10800" bIns="10800">
            <a:spAutoFit/>
          </a:bodyPr>
          <a:lstStyle/>
          <a:p>
            <a:pPr algn="l">
              <a:lnSpc>
                <a:spcPct val="105000"/>
              </a:lnSpc>
              <a:spcAft>
                <a:spcPts val="200"/>
              </a:spcAft>
            </a:pPr>
            <a:r>
              <a:rPr sz="1400" b="1">
                <a:solidFill>
                  <a:srgbClr val="7F7F7F"/>
                </a:solidFill>
                <a:latin typeface="メイリオ"/>
                <a:ea typeface="メイリオ"/>
                <a:cs typeface="メイリオ"/>
              </a:rPr>
              <a:t>含まれるもの</a:t>
            </a:r>
          </a:p>
        </p:txBody>
      </p:sp>
      <p:sp>
        <p:nvSpPr>
          <p:cNvPr id="17" name="TextBox 16"/>
          <p:cNvSpPr txBox="1"/>
          <p:nvPr/>
        </p:nvSpPr>
        <p:spPr>
          <a:xfrm>
            <a:off x="5274000" y="4158000"/>
            <a:ext cx="3999600" cy="1620000"/>
          </a:xfrm>
          <a:prstGeom prst="rect">
            <a:avLst/>
          </a:prstGeom>
          <a:noFill/>
        </p:spPr>
        <p:txBody>
          <a:bodyPr wrap="square" anchor="t" lIns="36000" rIns="36000" tIns="10800" bIns="10800">
            <a:spAutoFit/>
          </a:bodyPr>
          <a:lstStyle/>
          <a:p>
            <a:pPr algn="l">
              <a:lnSpc>
                <a:spcPct val="105000"/>
              </a:lnSpc>
              <a:spcAft>
                <a:spcPts val="200"/>
              </a:spcAft>
            </a:pPr>
            <a:r>
              <a:rPr sz="1400" b="0">
                <a:solidFill>
                  <a:srgbClr val="333333"/>
                </a:solidFill>
                <a:latin typeface="メイリオ"/>
                <a:ea typeface="メイリオ"/>
                <a:cs typeface="メイリオ"/>
              </a:rPr>
              <a:t>・ステップ配信・募集のお知らせの運用</a:t>
            </a:r>
          </a:p>
          <a:p>
            <a:pPr algn="l">
              <a:lnSpc>
                <a:spcPct val="105000"/>
              </a:lnSpc>
              <a:spcAft>
                <a:spcPts val="200"/>
              </a:spcAft>
            </a:pPr>
            <a:r>
              <a:rPr sz="1400" b="0">
                <a:solidFill>
                  <a:srgbClr val="333333"/>
                </a:solidFill>
                <a:latin typeface="メイリオ"/>
                <a:ea typeface="メイリオ"/>
                <a:cs typeface="メイリオ"/>
              </a:rPr>
              <a:t>・タグ付け・リストの管理</a:t>
            </a:r>
          </a:p>
          <a:p>
            <a:pPr algn="l">
              <a:lnSpc>
                <a:spcPct val="105000"/>
              </a:lnSpc>
              <a:spcAft>
                <a:spcPts val="200"/>
              </a:spcAft>
            </a:pPr>
            <a:r>
              <a:rPr sz="1400" b="0">
                <a:solidFill>
                  <a:srgbClr val="333333"/>
                </a:solidFill>
                <a:latin typeface="メイリオ"/>
                <a:ea typeface="メイリオ"/>
                <a:cs typeface="メイリオ"/>
              </a:rPr>
              <a:t>・応募数・面接予約数を見た改善</a:t>
            </a:r>
          </a:p>
          <a:p>
            <a:pPr algn="l">
              <a:lnSpc>
                <a:spcPct val="105000"/>
              </a:lnSpc>
              <a:spcAft>
                <a:spcPts val="200"/>
              </a:spcAft>
            </a:pPr>
            <a:r>
              <a:rPr sz="1400" b="1">
                <a:solidFill>
                  <a:srgbClr val="1F285A"/>
                </a:solidFill>
                <a:latin typeface="メイリオ"/>
                <a:ea typeface="メイリオ"/>
                <a:cs typeface="メイリオ"/>
              </a:rPr>
              <a:t>・LINE公式アカウント・Lステップの利用料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3"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5"/>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7"/>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143371</TotalTime>
  <Words>576</Words>
  <Application>Microsoft Office PowerPoint</Application>
  <PresentationFormat>A4 210 x 297 mm</PresentationFormat>
  <Paragraphs>191</Paragraphs>
  <Slides>7</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7</vt:i4>
      </vt:variant>
    </vt:vector>
  </HeadingPairs>
  <TitlesOfParts>
    <vt:vector size="14"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1969</cp:revision>
  <cp:lastPrinted>2022-11-01T11:38:14Z</cp:lastPrinted>
  <dcterms:created xsi:type="dcterms:W3CDTF">2015-09-04T09:21:15Z</dcterms:created>
  <dcterms:modified xsi:type="dcterms:W3CDTF">2026-10-08T09:10:34Z</dcterms:modified>
</cp:coreProperties>
</file>