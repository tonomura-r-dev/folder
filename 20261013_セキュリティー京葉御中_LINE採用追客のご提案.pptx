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9"/>
  </p:notesMasterIdLst>
  <p:handoutMasterIdLst>
    <p:handoutMasterId r:id="rId10"/>
  </p:handoutMasterIdLst>
  <p:sldIdLst>
    <p:sldId id="256" r:id="rId3"/>
    <p:sldId id="259" r:id="rId4"/>
    <p:sldId id="260" r:id="rId5"/>
    <p:sldId id="262" r:id="rId6"/>
    <p:sldId id="258" r:id="rId7"/>
    <p:sldId id="261" r:id="rId8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74" d="100"/>
          <a:sy n="74" d="100"/>
        </p:scale>
        <p:origin x="784" y="44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presProps" Target="presProps.xml"/><Relationship Id="rId5" Type="http://schemas.openxmlformats.org/officeDocument/2006/relationships/slide" Target="slides/slide3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2026/10/13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課題｜一度外れた応募者が、そのまま離れている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警備を含む保安職業の求人倍率は6.41倍。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一度応募した方との接点を維持・再構築する導線を設計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lIns="36000" tIns="10800" rIns="36000" bIns="1080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警備員の採用環境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0400" y="1944000"/>
            <a:ext cx="3240000" cy="251999"/>
          </a:xfrm>
          <a:prstGeom prst="rect">
            <a:avLst/>
          </a:prstGeom>
          <a:noFill/>
        </p:spPr>
        <p:txBody>
          <a:bodyPr wrap="square" lIns="36000" tIns="10800" rIns="36000" bIns="1080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保安職業の有効求人倍率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" y="2142000"/>
            <a:ext cx="3240000" cy="864000"/>
          </a:xfrm>
          <a:prstGeom prst="rect">
            <a:avLst/>
          </a:prstGeom>
          <a:noFill/>
        </p:spPr>
        <p:txBody>
          <a:bodyPr wrap="square" lIns="36000" tIns="10800" rIns="36000" bIns="1080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5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6.41</a:t>
            </a:r>
            <a:r>
              <a:rPr sz="2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76000" y="2070000"/>
            <a:ext cx="1260000" cy="288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保安職業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72000" y="2098800"/>
            <a:ext cx="3456000" cy="23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981999" y="2070000"/>
            <a:ext cx="1080000" cy="288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6.41倍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76000" y="2520000"/>
            <a:ext cx="1260000" cy="288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職業全体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72000" y="2548800"/>
            <a:ext cx="593073" cy="234000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119073" y="2520000"/>
            <a:ext cx="1080000" cy="288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1.10倍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0400" y="3114000"/>
            <a:ext cx="8503200" cy="180000"/>
          </a:xfrm>
          <a:prstGeom prst="rect">
            <a:avLst/>
          </a:prstGeom>
          <a:noFill/>
        </p:spPr>
        <p:txBody>
          <a:bodyPr wrap="square" lIns="36000" tIns="10800" rIns="36000" bIns="1080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出典：労働政策研究・研修機構「職業別にみた有効求人倍率、平均求人賃金」（2025年度）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400" y="3452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0400" y="3402000"/>
            <a:ext cx="8503200" cy="288000"/>
          </a:xfrm>
          <a:prstGeom prst="rect">
            <a:avLst/>
          </a:prstGeom>
          <a:noFill/>
        </p:spPr>
        <p:txBody>
          <a:bodyPr wrap="square" lIns="36000" tIns="10800" rIns="36000" bIns="1080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選考の途中で起きていること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0400" y="3762000"/>
            <a:ext cx="19233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36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729700" y="4122000"/>
            <a:ext cx="1980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963700" y="3762000"/>
            <a:ext cx="19233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36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面接のご案内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923000" y="4122000"/>
            <a:ext cx="1980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157000" y="3762000"/>
            <a:ext cx="19233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36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面接に来ない・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辞退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116300" y="4122000"/>
            <a:ext cx="1980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50300" y="3762000"/>
            <a:ext cx="1923300" cy="72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36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連絡が途切れ、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そのまま離れる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0400" y="4662000"/>
            <a:ext cx="4143600" cy="1224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36000"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770400" y="4662000"/>
            <a:ext cx="64800" cy="122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50400" y="4752000"/>
            <a:ext cx="3855599" cy="251999"/>
          </a:xfrm>
          <a:prstGeom prst="rect">
            <a:avLst/>
          </a:prstGeom>
          <a:noFill/>
        </p:spPr>
        <p:txBody>
          <a:bodyPr wrap="square" lIns="36000" tIns="10800" rIns="36000" bIns="1080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再アプローチ対象の特徴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400" y="5004000"/>
            <a:ext cx="3855599" cy="827999"/>
          </a:xfrm>
          <a:prstGeom prst="rect">
            <a:avLst/>
          </a:prstGeom>
          <a:noFill/>
        </p:spPr>
        <p:txBody>
          <a:bodyPr wrap="square" lIns="36000" tIns="10800" rIns="36000" bIns="1080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一度は警備の仕事に関心を示し、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応募した方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30000" y="4662000"/>
            <a:ext cx="4143600" cy="1224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36000"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130000" y="4662000"/>
            <a:ext cx="64800" cy="122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310000" y="4752000"/>
            <a:ext cx="3855599" cy="251999"/>
          </a:xfrm>
          <a:prstGeom prst="rect">
            <a:avLst/>
          </a:prstGeom>
          <a:noFill/>
        </p:spPr>
        <p:txBody>
          <a:bodyPr wrap="square" lIns="36000" tIns="10800" rIns="36000" bIns="1080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再アプローチの課題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10000" y="5004000"/>
            <a:ext cx="3855599" cy="827999"/>
          </a:xfrm>
          <a:prstGeom prst="rect">
            <a:avLst/>
          </a:prstGeom>
          <a:noFill/>
        </p:spPr>
        <p:txBody>
          <a:bodyPr wrap="square" lIns="36000" tIns="10800" rIns="36000" bIns="1080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メール・電話での一人ずつの連絡は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手間がかかり、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次の募集を届け続ける仕組みがない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方針｜応募の時点でLINEにつなぎ、追い続ける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応募時からLINEでつながり、外れても応募・面接予約まで追い続ける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lIns="36000" tIns="10800" rIns="36000" bIns="1080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追客の流れ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400" y="2034000"/>
            <a:ext cx="2736000" cy="18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36000"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4400" y="2034000"/>
            <a:ext cx="2736000" cy="342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入口①　応募したとき（主）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400" y="2430000"/>
            <a:ext cx="2484000" cy="270000"/>
          </a:xfrm>
          <a:prstGeom prst="rect">
            <a:avLst/>
          </a:prstGeom>
          <a:noFill/>
        </p:spPr>
        <p:txBody>
          <a:bodyPr wrap="square" lIns="36000" tIns="10800" rIns="36000" bIns="1080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これから応募する方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0400" y="2700000"/>
            <a:ext cx="2484000" cy="468000"/>
          </a:xfrm>
          <a:prstGeom prst="rect">
            <a:avLst/>
          </a:prstGeom>
          <a:noFill/>
        </p:spPr>
        <p:txBody>
          <a:bodyPr wrap="square" lIns="36000" tIns="10800" rIns="36000" bIns="1080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採用管理サービスのSMSで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LINEの友だち追加をご案内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0400" y="3221999"/>
            <a:ext cx="2484000" cy="522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「面接の日程・場所は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LINEでお送りします」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4400" y="3960000"/>
            <a:ext cx="2736000" cy="154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8E9B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36000"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4400" y="3960000"/>
            <a:ext cx="2736000" cy="342000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入口②　過去の応募者（補助）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0400" y="4356000"/>
            <a:ext cx="2484000" cy="468000"/>
          </a:xfrm>
          <a:prstGeom prst="rect">
            <a:avLst/>
          </a:prstGeom>
          <a:noFill/>
        </p:spPr>
        <p:txBody>
          <a:bodyPr wrap="square" lIns="36000" tIns="10800" rIns="36000" bIns="1080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面接に来なかった方・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辞退した方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0400" y="4896000"/>
            <a:ext cx="2484000" cy="468000"/>
          </a:xfrm>
          <a:prstGeom prst="rect">
            <a:avLst/>
          </a:prstGeom>
          <a:noFill/>
        </p:spPr>
        <p:txBody>
          <a:bodyPr wrap="square" lIns="36000" tIns="10800" rIns="36000" bIns="1080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SMS・メール等で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LINEの友だち追加をご案内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380400" y="2934000"/>
            <a:ext cx="180000" cy="0"/>
          </a:xfrm>
          <a:prstGeom prst="line">
            <a:avLst/>
          </a:prstGeom>
          <a:ln w="2540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380400" y="4734000"/>
            <a:ext cx="180000" cy="0"/>
          </a:xfrm>
          <a:prstGeom prst="line">
            <a:avLst/>
          </a:prstGeom>
          <a:ln w="2540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560400" y="2934000"/>
            <a:ext cx="0" cy="1800000"/>
          </a:xfrm>
          <a:prstGeom prst="line">
            <a:avLst/>
          </a:prstGeom>
          <a:ln w="2540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560400" y="3834000"/>
            <a:ext cx="2232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812400" y="3366000"/>
            <a:ext cx="1260000" cy="936000"/>
          </a:xfrm>
          <a:prstGeom prst="roundRect">
            <a:avLst>
              <a:gd name="adj" fmla="val 8000"/>
            </a:avLst>
          </a:prstGeom>
          <a:solidFill>
            <a:srgbClr val="06C755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36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友だち追加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101200" y="3834000"/>
            <a:ext cx="1944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324400" y="2934000"/>
            <a:ext cx="2088000" cy="18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72000" rIns="108000" bIns="72000" rtlCol="0" anchor="ctr"/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5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Lステップで追客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・タグで状況を管理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・状況に合わせて配信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・LINEで面接予約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441199" y="3312000"/>
            <a:ext cx="212401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682400" y="2934000"/>
            <a:ext cx="1591200" cy="75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応募数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（再応募を含む）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682400" y="3978000"/>
            <a:ext cx="1591200" cy="75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36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面接予約数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478000" y="3718800"/>
            <a:ext cx="0" cy="23040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ステップ配信｜14日間で応募・面接予約を目指す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友だち追加から14日間、働き方を順番に届け、応募・面接予約につなげる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lIns="36000" tIns="10800" rIns="36000" bIns="1080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14日間のステップ配信（例）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570320" y="2034000"/>
            <a:ext cx="6903360" cy="0"/>
          </a:xfrm>
          <a:prstGeom prst="line">
            <a:avLst/>
          </a:prstGeom>
          <a:ln w="317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1462320" y="1926000"/>
            <a:ext cx="216000" cy="216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70400" y="2232000"/>
            <a:ext cx="1599840" cy="30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7200" rIns="18000" bIns="72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登録直後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0400" y="2610000"/>
            <a:ext cx="1599840" cy="207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36000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2400" y="2664000"/>
            <a:ext cx="1455840" cy="468000"/>
          </a:xfrm>
          <a:prstGeom prst="rect">
            <a:avLst/>
          </a:prstGeom>
          <a:noFill/>
        </p:spPr>
        <p:txBody>
          <a:bodyPr wrap="square" lIns="36000" tIns="10800" rIns="36000" bIns="1080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お礼・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働き方の紹介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2400" y="3150000"/>
            <a:ext cx="1455840" cy="522000"/>
          </a:xfrm>
          <a:prstGeom prst="rect">
            <a:avLst/>
          </a:prstGeom>
          <a:noFill/>
        </p:spPr>
        <p:txBody>
          <a:bodyPr wrap="square" lIns="36000" tIns="10800" rIns="36000" bIns="1080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狙い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興味喚起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2400" y="3798000"/>
            <a:ext cx="1455840" cy="864000"/>
          </a:xfrm>
          <a:prstGeom prst="rect">
            <a:avLst/>
          </a:prstGeom>
          <a:noFill/>
        </p:spPr>
        <p:txBody>
          <a:bodyPr wrap="square" lIns="36000" tIns="10800" rIns="36000" bIns="1080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「ご応募ありがとうございました。改めて働き方をご紹介します」</a:t>
            </a:r>
          </a:p>
        </p:txBody>
      </p:sp>
      <p:sp>
        <p:nvSpPr>
          <p:cNvPr id="15" name="Oval 14"/>
          <p:cNvSpPr/>
          <p:nvPr/>
        </p:nvSpPr>
        <p:spPr>
          <a:xfrm>
            <a:off x="3188160" y="1926000"/>
            <a:ext cx="216000" cy="216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2496240" y="2232000"/>
            <a:ext cx="1599840" cy="30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7200" rIns="18000" bIns="72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3日後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96240" y="2610000"/>
            <a:ext cx="1599840" cy="207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36000"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568240" y="2664000"/>
            <a:ext cx="1455840" cy="468000"/>
          </a:xfrm>
          <a:prstGeom prst="rect">
            <a:avLst/>
          </a:prstGeom>
          <a:noFill/>
        </p:spPr>
        <p:txBody>
          <a:bodyPr wrap="square" lIns="36000" tIns="10800" rIns="36000" bIns="1080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勤務条件の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紹介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8240" y="3150000"/>
            <a:ext cx="1455840" cy="522000"/>
          </a:xfrm>
          <a:prstGeom prst="rect">
            <a:avLst/>
          </a:prstGeom>
          <a:noFill/>
        </p:spPr>
        <p:txBody>
          <a:bodyPr wrap="square" lIns="36000" tIns="10800" rIns="36000" bIns="1080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狙い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条件面の理解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8240" y="3798000"/>
            <a:ext cx="1455840" cy="864000"/>
          </a:xfrm>
          <a:prstGeom prst="rect">
            <a:avLst/>
          </a:prstGeom>
          <a:noFill/>
        </p:spPr>
        <p:txBody>
          <a:bodyPr wrap="square" lIns="36000" tIns="10800" rIns="36000" bIns="1080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「1現場3〜5時間で負担少なめ。直行直帰OK・日勤メインで夜勤なし」</a:t>
            </a:r>
          </a:p>
        </p:txBody>
      </p:sp>
      <p:sp>
        <p:nvSpPr>
          <p:cNvPr id="21" name="Oval 20"/>
          <p:cNvSpPr/>
          <p:nvPr/>
        </p:nvSpPr>
        <p:spPr>
          <a:xfrm>
            <a:off x="4914000" y="1926000"/>
            <a:ext cx="216000" cy="216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4222080" y="2232000"/>
            <a:ext cx="1599840" cy="30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7200" rIns="18000" bIns="72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7日後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2080" y="2610000"/>
            <a:ext cx="1599840" cy="207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36000"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294080" y="2664000"/>
            <a:ext cx="1455840" cy="468000"/>
          </a:xfrm>
          <a:prstGeom prst="rect">
            <a:avLst/>
          </a:prstGeom>
          <a:noFill/>
        </p:spPr>
        <p:txBody>
          <a:bodyPr wrap="square" lIns="36000" tIns="10800" rIns="36000" bIns="1080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働く方の声・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安心材料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4080" y="3150000"/>
            <a:ext cx="1455840" cy="522000"/>
          </a:xfrm>
          <a:prstGeom prst="rect">
            <a:avLst/>
          </a:prstGeom>
          <a:noFill/>
        </p:spPr>
        <p:txBody>
          <a:bodyPr wrap="square" lIns="36000" tIns="10800" rIns="36000" bIns="1080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狙い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不安の解消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4080" y="3798000"/>
            <a:ext cx="1455840" cy="864000"/>
          </a:xfrm>
          <a:prstGeom prst="rect">
            <a:avLst/>
          </a:prstGeom>
          <a:noFill/>
        </p:spPr>
        <p:txBody>
          <a:bodyPr wrap="square" lIns="36000" tIns="10800" rIns="36000" bIns="1080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「平均年齢64歳。84歳の方も活躍中。資格取得の支援もあります」</a:t>
            </a:r>
          </a:p>
        </p:txBody>
      </p:sp>
      <p:sp>
        <p:nvSpPr>
          <p:cNvPr id="27" name="Oval 26"/>
          <p:cNvSpPr/>
          <p:nvPr/>
        </p:nvSpPr>
        <p:spPr>
          <a:xfrm>
            <a:off x="6639840" y="1926000"/>
            <a:ext cx="216000" cy="216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5947920" y="2232000"/>
            <a:ext cx="1599840" cy="30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7200" rIns="18000" bIns="72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10日後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7920" y="2610000"/>
            <a:ext cx="1599840" cy="207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36000"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019920" y="2664000"/>
            <a:ext cx="1455840" cy="468000"/>
          </a:xfrm>
          <a:prstGeom prst="rect">
            <a:avLst/>
          </a:prstGeom>
          <a:noFill/>
        </p:spPr>
        <p:txBody>
          <a:bodyPr wrap="square" lIns="36000" tIns="10800" rIns="36000" bIns="1080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スポット勤務・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希望条件の確認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19920" y="3150000"/>
            <a:ext cx="1455840" cy="522000"/>
          </a:xfrm>
          <a:prstGeom prst="rect">
            <a:avLst/>
          </a:prstGeom>
          <a:noFill/>
        </p:spPr>
        <p:txBody>
          <a:bodyPr wrap="square" lIns="36000" tIns="10800" rIns="36000" bIns="1080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狙い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応募ハードルの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低減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19920" y="3798000"/>
            <a:ext cx="1455840" cy="864000"/>
          </a:xfrm>
          <a:prstGeom prst="rect">
            <a:avLst/>
          </a:prstGeom>
          <a:noFill/>
        </p:spPr>
        <p:txBody>
          <a:bodyPr wrap="square" lIns="36000" tIns="10800" rIns="36000" bIns="1080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「スポット勤務もあります。ご希望の勤務地・日数を教えてください」</a:t>
            </a:r>
          </a:p>
        </p:txBody>
      </p:sp>
      <p:sp>
        <p:nvSpPr>
          <p:cNvPr id="33" name="Oval 32"/>
          <p:cNvSpPr/>
          <p:nvPr/>
        </p:nvSpPr>
        <p:spPr>
          <a:xfrm>
            <a:off x="8365680" y="1926000"/>
            <a:ext cx="216000" cy="2160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7673760" y="2232000"/>
            <a:ext cx="1599840" cy="306000"/>
          </a:xfrm>
          <a:prstGeom prst="roundRect">
            <a:avLst>
              <a:gd name="adj" fmla="val 8000"/>
            </a:avLst>
          </a:prstGeom>
          <a:solidFill>
            <a:srgbClr val="06C755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7200" rIns="18000" bIns="72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14日後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673760" y="2610000"/>
            <a:ext cx="1599840" cy="207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36000"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745760" y="2664000"/>
            <a:ext cx="1455840" cy="468000"/>
          </a:xfrm>
          <a:prstGeom prst="rect">
            <a:avLst/>
          </a:prstGeom>
          <a:noFill/>
        </p:spPr>
        <p:txBody>
          <a:bodyPr wrap="square" lIns="36000" tIns="10800" rIns="36000" bIns="1080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再応募・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面接予約の案内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45760" y="3150000"/>
            <a:ext cx="1455840" cy="522000"/>
          </a:xfrm>
          <a:prstGeom prst="rect">
            <a:avLst/>
          </a:prstGeom>
          <a:noFill/>
        </p:spPr>
        <p:txBody>
          <a:bodyPr wrap="square" lIns="36000" tIns="10800" rIns="36000" bIns="1080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狙い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CV①・CV②への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誘導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45760" y="3798000"/>
            <a:ext cx="1455840" cy="864000"/>
          </a:xfrm>
          <a:prstGeom prst="rect">
            <a:avLst/>
          </a:prstGeom>
          <a:noFill/>
        </p:spPr>
        <p:txBody>
          <a:bodyPr wrap="square" lIns="36000" tIns="10800" rIns="36000" bIns="1080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「ご希望に合う現場・日程をご案内します。応募・面接予約はこちら」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4400" y="4820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70400" y="4770000"/>
            <a:ext cx="8503200" cy="288000"/>
          </a:xfrm>
          <a:prstGeom prst="rect">
            <a:avLst/>
          </a:prstGeom>
          <a:noFill/>
        </p:spPr>
        <p:txBody>
          <a:bodyPr wrap="square" lIns="36000" tIns="10800" rIns="36000" bIns="1080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14日以降の長期ステップ（例）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10400" y="4824000"/>
            <a:ext cx="5263200" cy="216000"/>
          </a:xfrm>
          <a:prstGeom prst="rect">
            <a:avLst/>
          </a:prstGeom>
          <a:noFill/>
        </p:spPr>
        <p:txBody>
          <a:bodyPr wrap="square" lIns="36000" tIns="10800" rIns="36000" bIns="10800" anchor="t">
            <a:spAutoFit/>
          </a:bodyPr>
          <a:lstStyle/>
          <a:p>
            <a:pPr algn="r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※どの配信にも応募・面接予約の入口を付け、応募・面接予約済みの方には送らない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70400" y="5112000"/>
            <a:ext cx="2738400" cy="792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36000"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842400" y="5166000"/>
            <a:ext cx="720000" cy="23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" tIns="7200" rIns="7200" bIns="72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1か月後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616400" y="5155200"/>
            <a:ext cx="1838400" cy="25199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近況・希望の確認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2400" y="5436000"/>
            <a:ext cx="2594400" cy="450000"/>
          </a:xfrm>
          <a:prstGeom prst="rect">
            <a:avLst/>
          </a:prstGeom>
          <a:noFill/>
        </p:spPr>
        <p:txBody>
          <a:bodyPr wrap="square" lIns="36000" tIns="10800" rIns="36000" bIns="1080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「その後いかがですか？ご希望の勤務地・日数を教えてください」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3652800" y="5112000"/>
            <a:ext cx="2738400" cy="792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36000"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3724799" y="5166000"/>
            <a:ext cx="720000" cy="23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" tIns="7200" rIns="7200" bIns="72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3か月後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498800" y="5155200"/>
            <a:ext cx="1838400" cy="25199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待遇のご紹介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24799" y="5436000"/>
            <a:ext cx="2594400" cy="450000"/>
          </a:xfrm>
          <a:prstGeom prst="rect">
            <a:avLst/>
          </a:prstGeom>
          <a:noFill/>
        </p:spPr>
        <p:txBody>
          <a:bodyPr wrap="square" lIns="36000" tIns="10800" rIns="36000" bIns="1080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「ガソリン代・駐車場代は全額支給。空調服・ネッククーラーも支給」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535200" y="5112000"/>
            <a:ext cx="2738400" cy="792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36000"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6607199" y="5166000"/>
            <a:ext cx="720000" cy="23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" tIns="7200" rIns="7200" bIns="72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6か月後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81200" y="5155200"/>
            <a:ext cx="1838400" cy="251999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長く働ける安心材料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07199" y="5436000"/>
            <a:ext cx="2594400" cy="450000"/>
          </a:xfrm>
          <a:prstGeom prst="rect">
            <a:avLst/>
          </a:prstGeom>
          <a:noFill/>
        </p:spPr>
        <p:txBody>
          <a:bodyPr wrap="square" lIns="36000" tIns="10800" rIns="36000" bIns="1080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「月15日以上の勤務で社会保険に加入できます。面接日はこちら」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70400" y="5976000"/>
            <a:ext cx="8503200" cy="37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36000"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842400" y="6030000"/>
            <a:ext cx="1512000" cy="270000"/>
          </a:xfrm>
          <a:prstGeom prst="roundRect">
            <a:avLst>
              <a:gd name="adj" fmla="val 8000"/>
            </a:avLst>
          </a:prstGeom>
          <a:solidFill>
            <a:srgbClr val="7F7F7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7200" rIns="18000" bIns="72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企画配信（随時）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444400" y="5976000"/>
            <a:ext cx="6739200" cy="378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新しい現場・募集が出るたびに、希望勤務地・勤務条件のタグごとに配信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Lステップ｜応募者の状況ごとに配信を変える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タグで応募者の状況を管理し、状況・希望に合わせた配信で面接予約までつなげる</a:t>
            </a:r>
            <a:endParaRPr sz="10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lIns="36000" tIns="10800" rIns="36000" bIns="1080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タグごとに配信を変える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0400" y="1908000"/>
            <a:ext cx="2304000" cy="216000"/>
          </a:xfrm>
          <a:prstGeom prst="rect">
            <a:avLst/>
          </a:prstGeom>
          <a:noFill/>
        </p:spPr>
        <p:txBody>
          <a:bodyPr wrap="square" lIns="36000" tIns="10800" rIns="36000" bIns="1080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タグ（応募者の状況）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98400" y="1908000"/>
            <a:ext cx="3600000" cy="216000"/>
          </a:xfrm>
          <a:prstGeom prst="rect">
            <a:avLst/>
          </a:prstGeom>
          <a:noFill/>
        </p:spPr>
        <p:txBody>
          <a:bodyPr wrap="square" lIns="36000" tIns="10800" rIns="36000" bIns="1080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配信の内容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0400" y="21240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36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面接未参加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17600" y="23490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398400" y="21240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18000" rIns="108000" bIns="18000" rtlCol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面接日程の再案内と、LINEでの面接予約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0400" y="26748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36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辞退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117600" y="28998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398400" y="26748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18000" rIns="108000" bIns="18000" rtlCol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時期をあけて、新しい募集・現場のお知らせ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0400" y="32256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36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再応募希望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17600" y="34506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398400" y="32256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18000" rIns="108000" bIns="18000" rtlCol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LINEの中で面接日を選んで予約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0400" y="37764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36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面接予約済み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117600" y="40014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398400" y="37764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18000" rIns="108000" bIns="18000" rtlCol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面接前日のリマインド・会場までのアクセス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0400" y="43272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36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希望勤務地・勤務条件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17600" y="45522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3398400" y="43272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18000" rIns="108000" bIns="18000" rtlCol="0" anchor="ctr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希望に合う現場・働き方（中途・アルバイト・スポット）のご案内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4400" y="5018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70400" y="4968000"/>
            <a:ext cx="8503200" cy="288000"/>
          </a:xfrm>
          <a:prstGeom prst="rect">
            <a:avLst/>
          </a:prstGeom>
          <a:noFill/>
        </p:spPr>
        <p:txBody>
          <a:bodyPr wrap="square" lIns="36000" tIns="10800" rIns="36000" bIns="1080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Lステップでできること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0400" y="5310000"/>
            <a:ext cx="2044800" cy="63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36000" rtlCol="0" anchor="ctr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タグ管理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応募者の状況を記録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923200" y="5310000"/>
            <a:ext cx="2044800" cy="63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36000" rtlCol="0" anchor="ctr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セグメント配信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状況・希望ごとに送り分け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76000" y="5310000"/>
            <a:ext cx="2044800" cy="63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36000" rtlCol="0" anchor="ctr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面接予約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LINEの中で日程を選択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28800" y="5310000"/>
            <a:ext cx="2044800" cy="63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36000" rtlCol="0" anchor="ctr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反応の確認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押されたリンクを確認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0400" y="6012000"/>
            <a:ext cx="8503200" cy="216000"/>
          </a:xfrm>
          <a:prstGeom prst="rect">
            <a:avLst/>
          </a:prstGeom>
          <a:noFill/>
        </p:spPr>
        <p:txBody>
          <a:bodyPr wrap="square" lIns="36000" tIns="10800" rIns="36000" bIns="1080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※採用管理サービスとの連携方法・タグ付けの具体的な方法は、導入時にご相談のうえ決定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進め方｜アカウント開設から運用・改善まで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LINE公式アカウントの開設から、運用・改善までまとめて支援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lIns="36000" tIns="10800" rIns="36000" bIns="1080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導入の流れ</a:t>
            </a:r>
          </a:p>
        </p:txBody>
      </p:sp>
      <p:sp>
        <p:nvSpPr>
          <p:cNvPr id="8" name="Oval 7"/>
          <p:cNvSpPr/>
          <p:nvPr/>
        </p:nvSpPr>
        <p:spPr>
          <a:xfrm>
            <a:off x="1383120" y="1926000"/>
            <a:ext cx="302400" cy="3024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040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8800" tIns="18000" rIns="288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LINE公式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アカウント開設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327040" y="2646000"/>
            <a:ext cx="1584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7040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36000"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3600" y="3132000"/>
            <a:ext cx="1441440" cy="1368000"/>
          </a:xfrm>
          <a:prstGeom prst="rect">
            <a:avLst/>
          </a:prstGeom>
          <a:noFill/>
        </p:spPr>
        <p:txBody>
          <a:bodyPr wrap="square" lIns="36000" tIns="10800" rIns="36000" bIns="1080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LINE公式アカウントの開設・初期設定</a:t>
            </a:r>
          </a:p>
        </p:txBody>
      </p:sp>
      <p:sp>
        <p:nvSpPr>
          <p:cNvPr id="13" name="Oval 12"/>
          <p:cNvSpPr/>
          <p:nvPr/>
        </p:nvSpPr>
        <p:spPr>
          <a:xfrm>
            <a:off x="3126960" y="1926000"/>
            <a:ext cx="302400" cy="3024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1424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8800" tIns="18000" rIns="288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Lステップ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構築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70880" y="2646000"/>
            <a:ext cx="1584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51424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36000"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557440" y="3132000"/>
            <a:ext cx="1441440" cy="1368000"/>
          </a:xfrm>
          <a:prstGeom prst="rect">
            <a:avLst/>
          </a:prstGeom>
          <a:noFill/>
        </p:spPr>
        <p:txBody>
          <a:bodyPr wrap="square" lIns="36000" tIns="10800" rIns="36000" bIns="1080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タグ・セグメント・面接予約の設計と設定</a:t>
            </a:r>
          </a:p>
        </p:txBody>
      </p:sp>
      <p:sp>
        <p:nvSpPr>
          <p:cNvPr id="18" name="Oval 17"/>
          <p:cNvSpPr/>
          <p:nvPr/>
        </p:nvSpPr>
        <p:spPr>
          <a:xfrm>
            <a:off x="4870800" y="1926000"/>
            <a:ext cx="302400" cy="3024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5808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8800" tIns="18000" rIns="288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友だち獲得の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導線整備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814720" y="2646000"/>
            <a:ext cx="1584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25808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36000"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301280" y="3132000"/>
            <a:ext cx="1441440" cy="1368000"/>
          </a:xfrm>
          <a:prstGeom prst="rect">
            <a:avLst/>
          </a:prstGeom>
          <a:noFill/>
        </p:spPr>
        <p:txBody>
          <a:bodyPr wrap="square" lIns="36000" tIns="10800" rIns="36000" bIns="1080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応募時：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採用管理サービス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のSMSでご案内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過去の応募者：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SMS・メール等で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ご案内</a:t>
            </a:r>
          </a:p>
        </p:txBody>
      </p:sp>
      <p:sp>
        <p:nvSpPr>
          <p:cNvPr id="23" name="Oval 22"/>
          <p:cNvSpPr/>
          <p:nvPr/>
        </p:nvSpPr>
        <p:spPr>
          <a:xfrm>
            <a:off x="6614640" y="1926000"/>
            <a:ext cx="302400" cy="3024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0192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8800" tIns="18000" rIns="288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配信設定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558559" y="2646000"/>
            <a:ext cx="158401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00192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36000"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045120" y="3132000"/>
            <a:ext cx="1441440" cy="1368000"/>
          </a:xfrm>
          <a:prstGeom prst="rect">
            <a:avLst/>
          </a:prstGeom>
          <a:noFill/>
        </p:spPr>
        <p:txBody>
          <a:bodyPr wrap="square" lIns="36000" tIns="10800" rIns="36000" bIns="1080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ステップ配信・募集のお知らせの作成</a:t>
            </a:r>
          </a:p>
        </p:txBody>
      </p:sp>
      <p:sp>
        <p:nvSpPr>
          <p:cNvPr id="28" name="Oval 27"/>
          <p:cNvSpPr/>
          <p:nvPr/>
        </p:nvSpPr>
        <p:spPr>
          <a:xfrm>
            <a:off x="8358480" y="1926000"/>
            <a:ext cx="302400" cy="3024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4576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8800" tIns="18000" rIns="288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運用・改善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4576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36000"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788960" y="3132000"/>
            <a:ext cx="1441440" cy="1368000"/>
          </a:xfrm>
          <a:prstGeom prst="rect">
            <a:avLst/>
          </a:prstGeom>
          <a:noFill/>
        </p:spPr>
        <p:txBody>
          <a:bodyPr wrap="square" lIns="36000" tIns="10800" rIns="36000" bIns="1080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応募数・面接予約数を見て、配信の内容・タイミングを見直す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70400" y="4698000"/>
            <a:ext cx="6759360" cy="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70400" y="4608000"/>
            <a:ext cx="0" cy="9000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529760" y="4608000"/>
            <a:ext cx="0" cy="9000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770400" y="4734000"/>
            <a:ext cx="6759360" cy="251999"/>
          </a:xfrm>
          <a:prstGeom prst="rect">
            <a:avLst/>
          </a:prstGeom>
          <a:noFill/>
        </p:spPr>
        <p:txBody>
          <a:bodyPr wrap="square" lIns="36000" tIns="10800" rIns="36000" bIns="1080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初期構築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745760" y="4698000"/>
            <a:ext cx="1527840" cy="0"/>
          </a:xfrm>
          <a:prstGeom prst="line">
            <a:avLst/>
          </a:prstGeom>
          <a:ln w="19050">
            <a:solidFill>
              <a:srgbClr val="06C7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7745760" y="4608000"/>
            <a:ext cx="0" cy="90000"/>
          </a:xfrm>
          <a:prstGeom prst="line">
            <a:avLst/>
          </a:prstGeom>
          <a:ln w="19050">
            <a:solidFill>
              <a:srgbClr val="06C7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273600" y="4608000"/>
            <a:ext cx="0" cy="90000"/>
          </a:xfrm>
          <a:prstGeom prst="line">
            <a:avLst/>
          </a:prstGeom>
          <a:ln w="19050">
            <a:solidFill>
              <a:srgbClr val="06C7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745760" y="4734000"/>
            <a:ext cx="1527840" cy="251999"/>
          </a:xfrm>
          <a:prstGeom prst="rect">
            <a:avLst/>
          </a:prstGeom>
          <a:noFill/>
        </p:spPr>
        <p:txBody>
          <a:bodyPr wrap="square" lIns="36000" tIns="10800" rIns="36000" bIns="1080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月額の運用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4400" y="5162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70400" y="5112000"/>
            <a:ext cx="8503200" cy="288000"/>
          </a:xfrm>
          <a:prstGeom prst="rect">
            <a:avLst/>
          </a:prstGeom>
          <a:noFill/>
        </p:spPr>
        <p:txBody>
          <a:bodyPr wrap="square" lIns="36000" tIns="10800" rIns="36000" bIns="1080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改善で見る指標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860000" y="5724000"/>
            <a:ext cx="324000" cy="0"/>
          </a:xfrm>
          <a:prstGeom prst="line">
            <a:avLst/>
          </a:prstGeom>
          <a:ln w="317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770400" y="5454000"/>
            <a:ext cx="3999600" cy="54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36000"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878400" y="5544000"/>
            <a:ext cx="648000" cy="36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34400" y="5454000"/>
            <a:ext cx="3063600" cy="540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応募数（再応募を含む）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274000" y="5454000"/>
            <a:ext cx="3999600" cy="54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36000"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5382000" y="5544000"/>
            <a:ext cx="648000" cy="36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38000" y="5454000"/>
            <a:ext cx="3063600" cy="540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面接予約数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費用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初期構築費10万円・月額費用20万円で、開設から運用・改善まで支援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lIns="36000" tIns="10800" rIns="36000" bIns="1080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内訳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0400" y="1926000"/>
            <a:ext cx="4107600" cy="180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36000"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0400" y="2070000"/>
            <a:ext cx="4107600" cy="324000"/>
          </a:xfrm>
          <a:prstGeom prst="rect">
            <a:avLst/>
          </a:prstGeom>
          <a:noFill/>
        </p:spPr>
        <p:txBody>
          <a:bodyPr wrap="square" lIns="36000" tIns="10800" rIns="36000" bIns="1080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初期構築費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400" y="2448000"/>
            <a:ext cx="4107600" cy="1080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4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100,000円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8400" y="3888000"/>
            <a:ext cx="4107600" cy="251999"/>
          </a:xfrm>
          <a:prstGeom prst="rect">
            <a:avLst/>
          </a:prstGeom>
          <a:noFill/>
        </p:spPr>
        <p:txBody>
          <a:bodyPr wrap="square" lIns="36000" tIns="10800" rIns="36000" bIns="1080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含まれるもの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8400" y="4158000"/>
            <a:ext cx="3999600" cy="1620000"/>
          </a:xfrm>
          <a:prstGeom prst="rect">
            <a:avLst/>
          </a:prstGeom>
          <a:noFill/>
        </p:spPr>
        <p:txBody>
          <a:bodyPr wrap="square" lIns="36000" tIns="10800" rIns="36000" bIns="1080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・LINE公式アカウントの開設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・Lステップの構築（タグ・配信の設計）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・友だち獲得の導線整備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・ステップ配信の作成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66000" y="1926000"/>
            <a:ext cx="4107600" cy="180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36000" rIns="72000" bIns="36000"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66000" y="2070000"/>
            <a:ext cx="4107600" cy="324000"/>
          </a:xfrm>
          <a:prstGeom prst="rect">
            <a:avLst/>
          </a:prstGeom>
          <a:noFill/>
        </p:spPr>
        <p:txBody>
          <a:bodyPr wrap="square" lIns="36000" tIns="10800" rIns="36000" bIns="10800" anchor="t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月額費用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000" y="2448000"/>
            <a:ext cx="4107600" cy="1080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4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200,000円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4000" y="3888000"/>
            <a:ext cx="4107600" cy="251999"/>
          </a:xfrm>
          <a:prstGeom prst="rect">
            <a:avLst/>
          </a:prstGeom>
          <a:noFill/>
        </p:spPr>
        <p:txBody>
          <a:bodyPr wrap="square" lIns="36000" tIns="10800" rIns="36000" bIns="1080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含まれるもの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74000" y="4158000"/>
            <a:ext cx="3999600" cy="1620000"/>
          </a:xfrm>
          <a:prstGeom prst="rect">
            <a:avLst/>
          </a:prstGeom>
          <a:noFill/>
        </p:spPr>
        <p:txBody>
          <a:bodyPr wrap="square" lIns="36000" tIns="10800" rIns="36000" bIns="10800" anchor="t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・ステップ配信・募集のお知らせの運用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・タグ付け・リストの管理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・応募数・面接予約数を見た改善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・LINE公式アカウント・Lステップの利用料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143372</TotalTime>
  <Words>482</Words>
  <Application>Microsoft Office PowerPoint</Application>
  <PresentationFormat>A4 210 x 297 mm</PresentationFormat>
  <Paragraphs>173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6</vt:i4>
      </vt:variant>
    </vt:vector>
  </HeadingPairs>
  <TitlesOfParts>
    <vt:vector size="12" baseType="lpstr"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1970</cp:revision>
  <cp:lastPrinted>2022-11-01T11:38:14Z</cp:lastPrinted>
  <dcterms:created xsi:type="dcterms:W3CDTF">2015-09-04T09:21:15Z</dcterms:created>
  <dcterms:modified xsi:type="dcterms:W3CDTF">2026-10-13T03:10:43Z</dcterms:modified>
</cp:coreProperties>
</file>