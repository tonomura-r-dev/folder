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10"/>
  </p:notesMasterIdLst>
  <p:handoutMasterIdLst>
    <p:handoutMasterId r:id="rId11"/>
  </p:handoutMasterIdLst>
  <p:sldIdLst>
    <p:sldId id="257" r:id="rId3"/>
    <p:sldId id="256" r:id="rId4"/>
    <p:sldId id="259" r:id="rId5"/>
    <p:sldId id="260" r:id="rId6"/>
    <p:sldId id="262" r:id="rId7"/>
    <p:sldId id="258" r:id="rId8"/>
    <p:sldId id="261" r:id="rId9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4FA0A"/>
    <a:srgbClr val="173559"/>
    <a:srgbClr val="FDFDFD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74" d="100"/>
          <a:sy n="74" d="100"/>
        </p:scale>
        <p:origin x="784" y="44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notesMaster" Target="notesMasters/notesMaster1.xml"/><Relationship Id="rId11" Type="http://schemas.openxmlformats.org/officeDocument/2006/relationships/handoutMaster" Target="handoutMasters/handout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2026/10/8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jpeg"/><Relationship Id="rId3" Type="http://schemas.openxmlformats.org/officeDocument/2006/relationships/image" Target="../media/image5.jpe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jpg"/><Relationship Id="rId8" Type="http://schemas.openxmlformats.org/officeDocument/2006/relationships/image" Target="../media/image10.jpeg"/><Relationship Id="rId9" Type="http://schemas.openxmlformats.org/officeDocument/2006/relationships/image" Target="../media/image11.png"/><Relationship Id="rId10" Type="http://schemas.openxmlformats.org/officeDocument/2006/relationships/image" Target="../media/image12.png"/><Relationship Id="rId11" Type="http://schemas.openxmlformats.org/officeDocument/2006/relationships/hyperlink" Target="https://youtube.com/shorts/0qI4QgrOppQ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課題｜一度外れた応募者が、そのまま離れている</a:t>
            </a:r>
            <a:endParaRPr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警備を含む保安職業の求人倍率は6.41倍。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一度応募した方との接点を維持・再構築する導線を設計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634400"/>
            <a:ext cx="54000" cy="18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0400" y="1584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警備員の採用環境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0400" y="1944000"/>
            <a:ext cx="3240000" cy="251999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保安職業の有効求人倍率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" y="2142000"/>
            <a:ext cx="3240000" cy="864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5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6.41</a:t>
            </a:r>
            <a:r>
              <a:rPr sz="2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76000" y="2070000"/>
            <a:ext cx="1260000" cy="288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保安職業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72000" y="2098800"/>
            <a:ext cx="3456000" cy="234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81999" y="2070000"/>
            <a:ext cx="1080000" cy="288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6.41倍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76000" y="2520000"/>
            <a:ext cx="1260000" cy="288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職業全体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72000" y="2548800"/>
            <a:ext cx="593073" cy="234000"/>
          </a:xfrm>
          <a:prstGeom prst="rect">
            <a:avLst/>
          </a:prstGeom>
          <a:solidFill>
            <a:srgbClr val="8E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19073" y="2520000"/>
            <a:ext cx="1080000" cy="288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1.10倍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0400" y="3114000"/>
            <a:ext cx="8503200" cy="180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出典：労働政策研究・研修機構「職業別にみた有効求人倍率、平均求人賃金」（2025年度）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4400" y="3452400"/>
            <a:ext cx="54000" cy="18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0400" y="3402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選考の途中で起きていること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0400" y="3762000"/>
            <a:ext cx="1923300" cy="7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729700" y="4122000"/>
            <a:ext cx="1980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2963700" y="3762000"/>
            <a:ext cx="1923300" cy="7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面接のご案内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923000" y="4122000"/>
            <a:ext cx="1980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5157000" y="3762000"/>
            <a:ext cx="1923300" cy="7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面接に来ない・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辞退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116300" y="4122000"/>
            <a:ext cx="1980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350300" y="3762000"/>
            <a:ext cx="1923300" cy="72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連絡が途切れ、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そのまま離れる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0400" y="4662000"/>
            <a:ext cx="4143600" cy="1224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0400" y="4662000"/>
            <a:ext cx="64800" cy="1224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0400" y="4752000"/>
            <a:ext cx="3855599" cy="251999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再アプローチ対象の特徴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400" y="5004000"/>
            <a:ext cx="3855599" cy="827999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一度は警備の仕事に関心を示し、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応募した方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130000" y="4662000"/>
            <a:ext cx="4143600" cy="1224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130000" y="4662000"/>
            <a:ext cx="64800" cy="1224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310000" y="4752000"/>
            <a:ext cx="3855599" cy="251999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再アプローチの課題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10000" y="5004000"/>
            <a:ext cx="3855599" cy="827999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メール・電話での一人ずつの連絡は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手間がかかり、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次の募集を届け続ける仕組みがない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方針｜応募の時点でLINEにつなぎ、追い続ける</a:t>
            </a:r>
            <a:endParaRPr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応募時からLINEでつながり、外れても応募・面接予約まで追い続ける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634400"/>
            <a:ext cx="54000" cy="18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0400" y="1584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追客の流れ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4400" y="2034000"/>
            <a:ext cx="2736000" cy="180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4400" y="2034000"/>
            <a:ext cx="2736000" cy="342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入口①　応募したとき（主）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0400" y="2430000"/>
            <a:ext cx="2484000" cy="270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これから応募する方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0400" y="2700000"/>
            <a:ext cx="2484000" cy="46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採用管理サービスのSMSで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LINEの友だち追加をご案内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400" y="3221999"/>
            <a:ext cx="2484000" cy="522000"/>
          </a:xfrm>
          <a:prstGeom prst="roundRect">
            <a:avLst>
              <a:gd name="adj" fmla="val 8000"/>
            </a:avLst>
          </a:prstGeom>
          <a:solidFill>
            <a:srgbClr val="E8F8EE"/>
          </a:solidFill>
          <a:ln w="1270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54000" tIns="18000" rIns="54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5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「面接の日程・場所は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5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LINEでお送りします」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4400" y="3960000"/>
            <a:ext cx="2736000" cy="15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8E9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4400" y="3960000"/>
            <a:ext cx="2736000" cy="342000"/>
          </a:xfrm>
          <a:prstGeom prst="rect">
            <a:avLst/>
          </a:prstGeom>
          <a:solidFill>
            <a:srgbClr val="8E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入口②　過去の応募者（補助）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0400" y="4356000"/>
            <a:ext cx="2484000" cy="46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面接に来なかった方・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辞退した方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0400" y="4896000"/>
            <a:ext cx="2484000" cy="46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SMS・メール等で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LINEの友だち追加をご案内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380400" y="2934000"/>
            <a:ext cx="180000" cy="0"/>
          </a:xfrm>
          <a:prstGeom prst="line">
            <a:avLst/>
          </a:prstGeom>
          <a:ln w="25400">
            <a:solidFill>
              <a:srgbClr val="1F2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3380400" y="4734000"/>
            <a:ext cx="180000" cy="0"/>
          </a:xfrm>
          <a:prstGeom prst="line">
            <a:avLst/>
          </a:prstGeom>
          <a:ln w="25400">
            <a:solidFill>
              <a:srgbClr val="1F2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560400" y="2934000"/>
            <a:ext cx="0" cy="1800000"/>
          </a:xfrm>
          <a:prstGeom prst="line">
            <a:avLst/>
          </a:prstGeom>
          <a:ln w="25400">
            <a:solidFill>
              <a:srgbClr val="1F2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560400" y="3834000"/>
            <a:ext cx="2232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3812400" y="3366000"/>
            <a:ext cx="1260000" cy="936000"/>
          </a:xfrm>
          <a:prstGeom prst="roundRect">
            <a:avLst>
              <a:gd name="adj" fmla="val 8000"/>
            </a:avLst>
          </a:prstGeom>
          <a:solidFill>
            <a:srgbClr val="06C755"/>
          </a:solidFill>
          <a:ln w="1270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友だち追加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101200" y="3834000"/>
            <a:ext cx="1944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5324400" y="2934000"/>
            <a:ext cx="2088000" cy="180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tIns="72000" rIns="108000" bIns="72000"/>
          <a:lstStyle/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5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Lステップで追客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・タグで状況を管理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・状況に合わせて配信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・LINEで面接予約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441199" y="3312000"/>
            <a:ext cx="212401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682400" y="2934000"/>
            <a:ext cx="1591200" cy="756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CV①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応募数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（再応募を含む）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682400" y="3978000"/>
            <a:ext cx="1591200" cy="756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CV②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面接予約数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478000" y="3718800"/>
            <a:ext cx="0" cy="23040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ステップ配信｜14日間で応募・面接予約を目指す</a:t>
            </a:r>
            <a:endParaRPr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友だち追加から14日間、働き方を順番に届け、応募・面接予約につなげる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634400"/>
            <a:ext cx="54000" cy="18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0400" y="1584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14日間のステップ配信（例）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577519" y="2034000"/>
            <a:ext cx="6888961" cy="0"/>
          </a:xfrm>
          <a:prstGeom prst="line">
            <a:avLst/>
          </a:prstGeom>
          <a:ln w="31750">
            <a:solidFill>
              <a:srgbClr val="1F2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1469520" y="1926000"/>
            <a:ext cx="216000" cy="216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70400" y="2232000"/>
            <a:ext cx="1614240" cy="324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登録直後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0400" y="2628000"/>
            <a:ext cx="1614240" cy="291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2400" y="2700000"/>
            <a:ext cx="1470239" cy="522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お礼・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働き方の紹介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2400" y="3258000"/>
            <a:ext cx="1470239" cy="612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狙い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興味喚起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4400" y="4032000"/>
            <a:ext cx="1506240" cy="144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43200" tIns="36000" rIns="10800" bIns="36000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ご応募ありがとう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ございました。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改めて働き方を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ご紹介します</a:t>
            </a:r>
          </a:p>
        </p:txBody>
      </p:sp>
      <p:sp>
        <p:nvSpPr>
          <p:cNvPr id="15" name="Oval 14"/>
          <p:cNvSpPr/>
          <p:nvPr/>
        </p:nvSpPr>
        <p:spPr>
          <a:xfrm>
            <a:off x="3191760" y="1926000"/>
            <a:ext cx="216000" cy="216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492640" y="2232000"/>
            <a:ext cx="1614240" cy="324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3日後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492640" y="2628000"/>
            <a:ext cx="1614240" cy="291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64640" y="2700000"/>
            <a:ext cx="1470239" cy="522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勤務条件の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紹介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4640" y="3258000"/>
            <a:ext cx="1470239" cy="612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狙い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条件面の理解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546640" y="4032000"/>
            <a:ext cx="1506240" cy="144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43200" tIns="36000" rIns="10800" bIns="36000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1現場あたり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3〜5時間。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直行直帰OK・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日勤メインで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夜勤なし</a:t>
            </a:r>
          </a:p>
        </p:txBody>
      </p:sp>
      <p:sp>
        <p:nvSpPr>
          <p:cNvPr id="21" name="Oval 20"/>
          <p:cNvSpPr/>
          <p:nvPr/>
        </p:nvSpPr>
        <p:spPr>
          <a:xfrm>
            <a:off x="4913999" y="1926000"/>
            <a:ext cx="216000" cy="216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214880" y="2232000"/>
            <a:ext cx="1614240" cy="324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7日後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14880" y="2628000"/>
            <a:ext cx="1614240" cy="291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86880" y="2700000"/>
            <a:ext cx="1470239" cy="522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働く方の声・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安心材料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86880" y="3258000"/>
            <a:ext cx="1470239" cy="612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狙い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不安の解消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68880" y="4032000"/>
            <a:ext cx="1506240" cy="144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43200" tIns="36000" rIns="10800" bIns="36000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平均年齢64歳。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84歳の方も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活躍中。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資格取得の支援も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あります</a:t>
            </a:r>
          </a:p>
        </p:txBody>
      </p:sp>
      <p:sp>
        <p:nvSpPr>
          <p:cNvPr id="27" name="Oval 26"/>
          <p:cNvSpPr/>
          <p:nvPr/>
        </p:nvSpPr>
        <p:spPr>
          <a:xfrm>
            <a:off x="6636240" y="1926000"/>
            <a:ext cx="216000" cy="216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937120" y="2232000"/>
            <a:ext cx="1614240" cy="324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10日後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37120" y="2628000"/>
            <a:ext cx="1614240" cy="291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09120" y="2700000"/>
            <a:ext cx="1470239" cy="522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スポット勤務・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希望条件の確認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09120" y="3258000"/>
            <a:ext cx="1470239" cy="612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狙い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応募ハードルの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低減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91120" y="4032000"/>
            <a:ext cx="1506240" cy="144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43200" tIns="36000" rIns="10800" bIns="36000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スポット勤務も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あります。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ご希望の勤務地・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日数を教えて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ください</a:t>
            </a:r>
          </a:p>
        </p:txBody>
      </p:sp>
      <p:sp>
        <p:nvSpPr>
          <p:cNvPr id="33" name="Oval 32"/>
          <p:cNvSpPr/>
          <p:nvPr/>
        </p:nvSpPr>
        <p:spPr>
          <a:xfrm>
            <a:off x="8358480" y="1926000"/>
            <a:ext cx="216000" cy="216000"/>
          </a:xfrm>
          <a:prstGeom prst="ellipse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659360" y="2232000"/>
            <a:ext cx="1614240" cy="324000"/>
          </a:xfrm>
          <a:prstGeom prst="roundRect">
            <a:avLst>
              <a:gd name="adj" fmla="val 8000"/>
            </a:avLst>
          </a:prstGeom>
          <a:solidFill>
            <a:srgbClr val="06C755"/>
          </a:solidFill>
          <a:ln w="1270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14日後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659360" y="2628000"/>
            <a:ext cx="1614240" cy="2916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31360" y="2700000"/>
            <a:ext cx="1470239" cy="522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再応募・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面接予約の案内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31360" y="3258000"/>
            <a:ext cx="1470239" cy="612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狙い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CV①・CV②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への誘導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713359" y="4032000"/>
            <a:ext cx="1506240" cy="144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43200" tIns="36000" rIns="10800" bIns="36000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ご希望に合う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現場・日程を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ご案内します。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応募・面接予約は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こちら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70400" y="5706000"/>
            <a:ext cx="8503200" cy="43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842400" y="5778000"/>
            <a:ext cx="1080000" cy="288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自動で配信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030400" y="5706000"/>
            <a:ext cx="7171200" cy="432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友だち追加の日から、Lステップが順番に配信。担当者の個別連絡は不要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長期ステップ｜14日以降も接点を持ち続ける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14日で応募に至らなかった方にも、時期をあけて声をかけ続ける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634400"/>
            <a:ext cx="54000" cy="18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0400" y="1584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長期ステップ（例）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10400" y="1638000"/>
            <a:ext cx="5263200" cy="216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※どの配信にも応募・面接予約の入口を付け、応募・面接予約済みの方には送らない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127600" y="2034000"/>
            <a:ext cx="5788799" cy="0"/>
          </a:xfrm>
          <a:prstGeom prst="line">
            <a:avLst/>
          </a:prstGeom>
          <a:ln w="31750">
            <a:solidFill>
              <a:srgbClr val="1F2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2019600" y="1926000"/>
            <a:ext cx="216000" cy="216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70400" y="2232000"/>
            <a:ext cx="2714400" cy="324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1か月後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400" y="2628000"/>
            <a:ext cx="2714400" cy="180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0400" y="2700000"/>
            <a:ext cx="2534400" cy="270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近況・希望の確認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0400" y="2970000"/>
            <a:ext cx="2534400" cy="234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狙い　</a:t>
            </a:r>
            <a:r>
              <a:rPr sz="13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希望条件の更新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2400" y="3258000"/>
            <a:ext cx="2570400" cy="108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36000" bIns="3600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その後いかがですか？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ご希望の勤務地・日数を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教えてください</a:t>
            </a:r>
          </a:p>
        </p:txBody>
      </p:sp>
      <p:sp>
        <p:nvSpPr>
          <p:cNvPr id="16" name="Oval 15"/>
          <p:cNvSpPr/>
          <p:nvPr/>
        </p:nvSpPr>
        <p:spPr>
          <a:xfrm>
            <a:off x="4913999" y="1926000"/>
            <a:ext cx="216000" cy="216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664800" y="2232000"/>
            <a:ext cx="2714400" cy="324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3か月後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64800" y="2628000"/>
            <a:ext cx="2714400" cy="180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54800" y="2700000"/>
            <a:ext cx="2534400" cy="270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待遇のご紹介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54800" y="2970000"/>
            <a:ext cx="2534400" cy="234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狙い　</a:t>
            </a:r>
            <a:r>
              <a:rPr sz="13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関心の再喚起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736799" y="3258000"/>
            <a:ext cx="2570400" cy="108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36000" bIns="3600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ガソリン代・駐車場代は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全額支給。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空調服・ネッククーラーも支給</a:t>
            </a:r>
          </a:p>
        </p:txBody>
      </p:sp>
      <p:sp>
        <p:nvSpPr>
          <p:cNvPr id="22" name="Oval 21"/>
          <p:cNvSpPr/>
          <p:nvPr/>
        </p:nvSpPr>
        <p:spPr>
          <a:xfrm>
            <a:off x="7808399" y="1926000"/>
            <a:ext cx="216000" cy="216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559200" y="2232000"/>
            <a:ext cx="2714400" cy="324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6か月後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59200" y="2628000"/>
            <a:ext cx="2714400" cy="180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49200" y="2700000"/>
            <a:ext cx="2534400" cy="270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長く働ける安心材料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49200" y="2970000"/>
            <a:ext cx="2534400" cy="234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狙い　</a:t>
            </a:r>
            <a:r>
              <a:rPr sz="13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応募の後押し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631199" y="3258000"/>
            <a:ext cx="2570400" cy="108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36000" bIns="3600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月15日以上の勤務で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社会保険に加入できます。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面接日はこちら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4400" y="4622400"/>
            <a:ext cx="54000" cy="18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0400" y="4572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企画配信（随時）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0400" y="4896000"/>
            <a:ext cx="8503200" cy="251999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新しい現場・募集が出るたびに、希望勤務地・勤務条件のタグごとに配信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70400" y="5184000"/>
            <a:ext cx="2714400" cy="90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0400" y="5184000"/>
            <a:ext cx="64800" cy="900000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32400" y="5238000"/>
            <a:ext cx="2498400" cy="234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新しい現場が出たとき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2400" y="5472000"/>
            <a:ext cx="2498400" cy="216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5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→ 希望勤務地が近い方へ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6400" y="5724000"/>
            <a:ext cx="25524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「お近くで新しい現場があります」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664800" y="5184000"/>
            <a:ext cx="2714400" cy="90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664800" y="5184000"/>
            <a:ext cx="64800" cy="900000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826799" y="5238000"/>
            <a:ext cx="2498400" cy="234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スポット募集が出たとき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26799" y="5472000"/>
            <a:ext cx="2498400" cy="216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5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→ 短期・スポット希望の方へ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790800" y="5724000"/>
            <a:ext cx="25524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「年末年始だけの募集があります」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559200" y="5184000"/>
            <a:ext cx="2714400" cy="90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559200" y="5184000"/>
            <a:ext cx="64800" cy="900000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721199" y="5238000"/>
            <a:ext cx="2498400" cy="234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面接日を追加したとき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21199" y="5472000"/>
            <a:ext cx="2498400" cy="216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5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→ 面接未参加・辞退の方へ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685200" y="5724000"/>
            <a:ext cx="25524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「新しい面接日をご案内します」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Lステップ｜応募者の状況ごとに配信を変える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タグで応募者の状況を管理し、状況・希望に合わせた配信で面接予約までつなげる</a:t>
            </a:r>
            <a:endParaRPr sz="10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634400"/>
            <a:ext cx="54000" cy="18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0400" y="1584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タグごとに配信を変える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0400" y="1908000"/>
            <a:ext cx="2304000" cy="216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タグ（応募者の状況）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98400" y="1908000"/>
            <a:ext cx="3600000" cy="216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配信の内容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0400" y="2124000"/>
            <a:ext cx="2304000" cy="450000"/>
          </a:xfrm>
          <a:prstGeom prst="roundRect">
            <a:avLst>
              <a:gd name="adj" fmla="val 8000"/>
            </a:avLst>
          </a:prstGeom>
          <a:solidFill>
            <a:srgbClr val="E8F8EE"/>
          </a:solidFill>
          <a:ln w="1905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面接未参加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117600" y="2349000"/>
            <a:ext cx="2376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3398400" y="2124000"/>
            <a:ext cx="5875200" cy="45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tIns="18000" rIns="108000" bIns="1800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面接日程の再案内と、LINEでの面接予約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0400" y="2674800"/>
            <a:ext cx="2304000" cy="450000"/>
          </a:xfrm>
          <a:prstGeom prst="roundRect">
            <a:avLst>
              <a:gd name="adj" fmla="val 8000"/>
            </a:avLst>
          </a:prstGeom>
          <a:solidFill>
            <a:srgbClr val="E8F8EE"/>
          </a:solidFill>
          <a:ln w="1905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辞退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117600" y="2899800"/>
            <a:ext cx="2376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398400" y="2674800"/>
            <a:ext cx="5875200" cy="45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tIns="18000" rIns="108000" bIns="1800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時期をあけて、新しい募集・現場のお知らせ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0400" y="3225600"/>
            <a:ext cx="2304000" cy="450000"/>
          </a:xfrm>
          <a:prstGeom prst="roundRect">
            <a:avLst>
              <a:gd name="adj" fmla="val 8000"/>
            </a:avLst>
          </a:prstGeom>
          <a:solidFill>
            <a:srgbClr val="E8F8EE"/>
          </a:solidFill>
          <a:ln w="1905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再応募希望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117600" y="3450600"/>
            <a:ext cx="2376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3398400" y="3225600"/>
            <a:ext cx="5875200" cy="45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tIns="18000" rIns="108000" bIns="1800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LINEの中で面接日を選んで予約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0400" y="3776400"/>
            <a:ext cx="2304000" cy="450000"/>
          </a:xfrm>
          <a:prstGeom prst="roundRect">
            <a:avLst>
              <a:gd name="adj" fmla="val 8000"/>
            </a:avLst>
          </a:prstGeom>
          <a:solidFill>
            <a:srgbClr val="E8F8EE"/>
          </a:solidFill>
          <a:ln w="1905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面接予約済み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117600" y="4001400"/>
            <a:ext cx="2376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3398400" y="3776400"/>
            <a:ext cx="5875200" cy="45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tIns="18000" rIns="108000" bIns="1800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面接前日のリマインド・会場までのアクセス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0400" y="4327200"/>
            <a:ext cx="2304000" cy="450000"/>
          </a:xfrm>
          <a:prstGeom prst="roundRect">
            <a:avLst>
              <a:gd name="adj" fmla="val 8000"/>
            </a:avLst>
          </a:prstGeom>
          <a:solidFill>
            <a:srgbClr val="E8F8EE"/>
          </a:solidFill>
          <a:ln w="1905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希望勤務地・勤務条件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117600" y="4552200"/>
            <a:ext cx="2376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3398400" y="4327200"/>
            <a:ext cx="5875200" cy="45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tIns="18000" rIns="108000" bIns="1800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希望に合う現場・働き方（中途・アルバイト・スポット）のご案内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4400" y="5018400"/>
            <a:ext cx="54000" cy="18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0400" y="4968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Lステップでできること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0400" y="5310000"/>
            <a:ext cx="2044800" cy="63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タグ管理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応募者の状況を記録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923200" y="5310000"/>
            <a:ext cx="2044800" cy="63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セグメント配信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状況・希望ごとに送り分け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76000" y="5310000"/>
            <a:ext cx="2044800" cy="63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面接予約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LINEの中で日程を選択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228800" y="5310000"/>
            <a:ext cx="2044800" cy="63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反応の確認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押されたリンクを確認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0400" y="6012000"/>
            <a:ext cx="8503200" cy="216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※採用管理サービスとの連携方法・タグ付けの具体的な方法は、導入時にご相談のうえ決定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進め方｜アカウント開設から運用・改善まで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lang="ja-JP" altLang="en-US" sz="16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LINE公式アカウントの開設から、運用・改善までまとめて支援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634400"/>
            <a:ext cx="54000" cy="18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0400" y="1584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導入の流れ</a:t>
            </a:r>
          </a:p>
        </p:txBody>
      </p:sp>
      <p:sp>
        <p:nvSpPr>
          <p:cNvPr id="8" name="Oval 7"/>
          <p:cNvSpPr/>
          <p:nvPr/>
        </p:nvSpPr>
        <p:spPr>
          <a:xfrm>
            <a:off x="1383120" y="1926000"/>
            <a:ext cx="302400" cy="3024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0400" y="2304000"/>
            <a:ext cx="1527840" cy="684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8800" tIns="18000" rIns="288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LINE公式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アカウント開設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327040" y="2646000"/>
            <a:ext cx="1584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770400" y="3060000"/>
            <a:ext cx="1527840" cy="151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600" y="3132000"/>
            <a:ext cx="1441440" cy="136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LINE公式アカウントの開設・初期設定</a:t>
            </a:r>
          </a:p>
        </p:txBody>
      </p:sp>
      <p:sp>
        <p:nvSpPr>
          <p:cNvPr id="13" name="Oval 12"/>
          <p:cNvSpPr/>
          <p:nvPr/>
        </p:nvSpPr>
        <p:spPr>
          <a:xfrm>
            <a:off x="3126960" y="1926000"/>
            <a:ext cx="302400" cy="3024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514240" y="2304000"/>
            <a:ext cx="1527840" cy="684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8800" tIns="18000" rIns="288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Lステップ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構築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070880" y="2646000"/>
            <a:ext cx="1584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514240" y="3060000"/>
            <a:ext cx="1527840" cy="151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557440" y="3132000"/>
            <a:ext cx="1441440" cy="136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タグ・セグメント・面接予約の設計と設定</a:t>
            </a:r>
          </a:p>
        </p:txBody>
      </p:sp>
      <p:sp>
        <p:nvSpPr>
          <p:cNvPr id="18" name="Oval 17"/>
          <p:cNvSpPr/>
          <p:nvPr/>
        </p:nvSpPr>
        <p:spPr>
          <a:xfrm>
            <a:off x="4870800" y="1926000"/>
            <a:ext cx="302400" cy="3024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58080" y="2304000"/>
            <a:ext cx="1527840" cy="684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8800" tIns="18000" rIns="288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友だち獲得の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導線整備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814720" y="2646000"/>
            <a:ext cx="1584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258080" y="3060000"/>
            <a:ext cx="1527840" cy="151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01280" y="3132000"/>
            <a:ext cx="1441440" cy="136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応募時：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採用管理サービス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のSMSでご案内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過去の応募者：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SMS・メール等で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ご案内</a:t>
            </a:r>
          </a:p>
        </p:txBody>
      </p:sp>
      <p:sp>
        <p:nvSpPr>
          <p:cNvPr id="23" name="Oval 22"/>
          <p:cNvSpPr/>
          <p:nvPr/>
        </p:nvSpPr>
        <p:spPr>
          <a:xfrm>
            <a:off x="6614640" y="1926000"/>
            <a:ext cx="302400" cy="3024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001920" y="2304000"/>
            <a:ext cx="1527840" cy="684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8800" tIns="18000" rIns="288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配信設定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558559" y="2646000"/>
            <a:ext cx="158401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001920" y="3060000"/>
            <a:ext cx="1527840" cy="151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45120" y="3132000"/>
            <a:ext cx="1441440" cy="136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ステップ配信・募集のお知らせの作成</a:t>
            </a:r>
          </a:p>
        </p:txBody>
      </p:sp>
      <p:sp>
        <p:nvSpPr>
          <p:cNvPr id="28" name="Oval 27"/>
          <p:cNvSpPr/>
          <p:nvPr/>
        </p:nvSpPr>
        <p:spPr>
          <a:xfrm>
            <a:off x="8358480" y="1926000"/>
            <a:ext cx="302400" cy="302400"/>
          </a:xfrm>
          <a:prstGeom prst="ellipse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5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45760" y="2304000"/>
            <a:ext cx="1527840" cy="684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8800" tIns="18000" rIns="288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運用・改善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45760" y="3060000"/>
            <a:ext cx="1527840" cy="151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88960" y="3132000"/>
            <a:ext cx="1441440" cy="136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応募数・面接予約数を見て、配信の内容・タイミングを見直す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770400" y="4698000"/>
            <a:ext cx="6759360" cy="0"/>
          </a:xfrm>
          <a:prstGeom prst="line">
            <a:avLst/>
          </a:prstGeom>
          <a:ln w="19050">
            <a:solidFill>
              <a:srgbClr val="1F2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770400" y="4608000"/>
            <a:ext cx="0" cy="90000"/>
          </a:xfrm>
          <a:prstGeom prst="line">
            <a:avLst/>
          </a:prstGeom>
          <a:ln w="19050">
            <a:solidFill>
              <a:srgbClr val="1F2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7529760" y="4608000"/>
            <a:ext cx="0" cy="90000"/>
          </a:xfrm>
          <a:prstGeom prst="line">
            <a:avLst/>
          </a:prstGeom>
          <a:ln w="19050">
            <a:solidFill>
              <a:srgbClr val="1F2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770400" y="4734000"/>
            <a:ext cx="6759360" cy="251999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初期構築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7745760" y="4698000"/>
            <a:ext cx="1527840" cy="0"/>
          </a:xfrm>
          <a:prstGeom prst="line">
            <a:avLst/>
          </a:prstGeom>
          <a:ln w="19050">
            <a:solidFill>
              <a:srgbClr val="06C7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7745760" y="4608000"/>
            <a:ext cx="0" cy="90000"/>
          </a:xfrm>
          <a:prstGeom prst="line">
            <a:avLst/>
          </a:prstGeom>
          <a:ln w="19050">
            <a:solidFill>
              <a:srgbClr val="06C7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9273600" y="4608000"/>
            <a:ext cx="0" cy="90000"/>
          </a:xfrm>
          <a:prstGeom prst="line">
            <a:avLst/>
          </a:prstGeom>
          <a:ln w="19050">
            <a:solidFill>
              <a:srgbClr val="06C7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745760" y="4734000"/>
            <a:ext cx="1527840" cy="251999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月額の運用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4400" y="5162400"/>
            <a:ext cx="54000" cy="18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0400" y="5112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改善で見る指標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4860000" y="5724000"/>
            <a:ext cx="324000" cy="0"/>
          </a:xfrm>
          <a:prstGeom prst="line">
            <a:avLst/>
          </a:prstGeom>
          <a:ln w="317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770400" y="5454000"/>
            <a:ext cx="3999600" cy="54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878400" y="5544000"/>
            <a:ext cx="648000" cy="36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CV①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634400" y="5454000"/>
            <a:ext cx="3063600" cy="540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応募数（再応募を含む）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274000" y="5454000"/>
            <a:ext cx="3999600" cy="54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382000" y="5544000"/>
            <a:ext cx="648000" cy="36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CV②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138000" y="5454000"/>
            <a:ext cx="3063600" cy="540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面接予約数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費用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初期構築費10万円・月額費用20万円で、開設から運用・改善まで支援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634400"/>
            <a:ext cx="54000" cy="18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0400" y="1584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内訳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0400" y="1926000"/>
            <a:ext cx="4107600" cy="180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0400" y="2070000"/>
            <a:ext cx="4107600" cy="324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初期構築費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0400" y="2448000"/>
            <a:ext cx="4107600" cy="1080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4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100,000円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8400" y="3888000"/>
            <a:ext cx="4107600" cy="251999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含まれるもの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8400" y="4158000"/>
            <a:ext cx="3999600" cy="1620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・LINE公式アカウントの開設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・Lステップの構築（タグ・配信の設計）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・友だち獲得の導線整備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・ステップ配信の作成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66000" y="1926000"/>
            <a:ext cx="4107600" cy="180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66000" y="2070000"/>
            <a:ext cx="4107600" cy="324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月額費用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66000" y="2448000"/>
            <a:ext cx="4107600" cy="1080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4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200,000円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74000" y="3888000"/>
            <a:ext cx="4107600" cy="251999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含まれるもの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74000" y="4158000"/>
            <a:ext cx="3999600" cy="1620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・ステップ配信・募集のお知らせの運用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・タグ付け・リストの管理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・応募数・面接予約数を見た改善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・LINE公式アカウント・Lステップの利用料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143371</TotalTime>
  <Words>576</Words>
  <Application>Microsoft Office PowerPoint</Application>
  <PresentationFormat>A4 210 x 297 mm</PresentationFormat>
  <Paragraphs>191</Paragraphs>
  <Slides>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7</vt:i4>
      </vt:variant>
    </vt:vector>
  </HeadingPairs>
  <TitlesOfParts>
    <vt:vector size="14" baseType="lpstr">
      <vt:lpstr>メイリオ</vt:lpstr>
      <vt:lpstr>メイリオ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1969</cp:revision>
  <cp:lastPrinted>2022-11-01T11:38:14Z</cp:lastPrinted>
  <dcterms:created xsi:type="dcterms:W3CDTF">2015-09-04T09:21:15Z</dcterms:created>
  <dcterms:modified xsi:type="dcterms:W3CDTF">2026-10-08T09:10:34Z</dcterms:modified>
</cp:coreProperties>
</file>