
<file path=[Content_Types].xml><?xml version="1.0" encoding="utf-8"?>
<Types xmlns="http://schemas.openxmlformats.org/package/2006/content-types">
  <Default Extension="emf" ContentType="image/x-emf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0"/>
  </p:notesMasterIdLst>
  <p:handoutMasterIdLst>
    <p:handoutMasterId r:id="rId11"/>
  </p:handoutMasterIdLst>
  <p:sldIdLst>
    <p:sldId id="256" r:id="rId4"/>
    <p:sldId id="259" r:id="rId5"/>
    <p:sldId id="260" r:id="rId6"/>
    <p:sldId id="262" r:id="rId7"/>
    <p:sldId id="258" r:id="rId8"/>
    <p:sldId id="261" r:id="rId9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74" d="100"/>
          <a:sy n="74" d="100"/>
        </p:scale>
        <p:origin x="784" y="44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課題｜一度外れた応募者が、そのまま離れている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警備を含む保安職業の求人倍率は6.41倍。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一度応募した方との接点を維持・再構築する導線を設計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警備員の採用環境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44000"/>
            <a:ext cx="32400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保安職業の有効求人倍率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0400" y="2142000"/>
            <a:ext cx="324000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5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</a:t>
            </a:r>
            <a:r>
              <a:rPr sz="2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76000" y="207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保安職業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72000" y="2098800"/>
            <a:ext cx="3456000" cy="23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81999" y="207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6.41倍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76000" y="2520000"/>
            <a:ext cx="126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職業全体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72000" y="2548800"/>
            <a:ext cx="593073" cy="234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19073" y="2520000"/>
            <a:ext cx="1080000" cy="288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1.10倍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0400" y="3114000"/>
            <a:ext cx="8503200" cy="18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出典：労働政策研究・研修機構「職業別にみた有効求人倍率、平均求人賃金」（2025年度）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400" y="345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0400" y="340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選考の途中で起きていること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7297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29637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面接のご案内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9230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1570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面接に来ない・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16300" y="4122000"/>
            <a:ext cx="1980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350300" y="3762000"/>
            <a:ext cx="1923300" cy="72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連絡が途切れ、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そのまま離れる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04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704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4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再アプローチ対象の特徴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4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一度は警備の仕事に関心を示し、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30000" y="4662000"/>
            <a:ext cx="4143600" cy="122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130000" y="4662000"/>
            <a:ext cx="64800" cy="122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10000" y="4752000"/>
            <a:ext cx="3855599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再アプローチの課題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10000" y="5004000"/>
            <a:ext cx="3855599" cy="82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メール・電話での一人ずつの連絡は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手間がかかり、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次の募集を届け続ける仕組みがない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方針｜過去の応募者をLINEでつなぎ、追い続ける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面接に来なかった方・辞退した方をLINEでつなぎ、応募・面接予約まで追う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追客の流れ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4400" y="2412000"/>
            <a:ext cx="2880000" cy="230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400" y="2412000"/>
            <a:ext cx="2880000" cy="360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過去の応募者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6400" y="2898000"/>
            <a:ext cx="2556000" cy="57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面接に来なかった方・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辞退した方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6400" y="3581999"/>
            <a:ext cx="2556000" cy="1007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LINEの友だち追加を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ご案内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53199" y="3564000"/>
            <a:ext cx="212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3794399" y="3096000"/>
            <a:ext cx="1260000" cy="93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083200" y="3564000"/>
            <a:ext cx="194399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306399" y="2664000"/>
            <a:ext cx="2088000" cy="18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72000" rIns="108000" bIns="72000"/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15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Lステップで追客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・タグで状況を管理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・状況に合わせて配信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・LINEで面接予約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423199" y="3042000"/>
            <a:ext cx="212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64400" y="2664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応募数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（再応募を含む）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64400" y="3708000"/>
            <a:ext cx="1609200" cy="75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36000" tIns="18000" rIns="360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469000" y="3448800"/>
            <a:ext cx="0" cy="23040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44400" y="5562000"/>
            <a:ext cx="8629200" cy="43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※過去の応募者へのご案内は、連絡先の利用目的・ご連絡の許諾を確認のうえ実施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※今後の応募者も、応募完了後にLINEへご案内可能（採用管理サービスと連携できる場合）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ステップ配信｜14日間で応募・面接予約を目指す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友だち追加から14日間、働き方を順番に届け、応募・面接予約につなげる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14日間のステップ配信（例）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0320" y="2034000"/>
            <a:ext cx="6903360" cy="0"/>
          </a:xfrm>
          <a:prstGeom prst="line">
            <a:avLst/>
          </a:prstGeom>
          <a:ln w="317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146232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7040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登録直後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040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240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お礼・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働き方の紹介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240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興味喚起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240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「ご応募ありがとうございました。改めて働き方をご紹介します」</a:t>
            </a:r>
          </a:p>
        </p:txBody>
      </p:sp>
      <p:sp>
        <p:nvSpPr>
          <p:cNvPr id="15" name="Oval 14"/>
          <p:cNvSpPr/>
          <p:nvPr/>
        </p:nvSpPr>
        <p:spPr>
          <a:xfrm>
            <a:off x="318816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49624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3日後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9624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6824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給与・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勤務条件の紹介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824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条件面の理解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56824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「1現場10,500円（2現場で19,500円）。直行直帰OK・夜勤なし」</a:t>
            </a:r>
          </a:p>
        </p:txBody>
      </p:sp>
      <p:sp>
        <p:nvSpPr>
          <p:cNvPr id="21" name="Oval 20"/>
          <p:cNvSpPr/>
          <p:nvPr/>
        </p:nvSpPr>
        <p:spPr>
          <a:xfrm>
            <a:off x="491400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22208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7日後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2208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9408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働く方の声・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408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不安の解消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408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「平均年齢64歳。84歳の方も活躍中。資格取得の支援もあります」</a:t>
            </a:r>
          </a:p>
        </p:txBody>
      </p:sp>
      <p:sp>
        <p:nvSpPr>
          <p:cNvPr id="27" name="Oval 26"/>
          <p:cNvSpPr/>
          <p:nvPr/>
        </p:nvSpPr>
        <p:spPr>
          <a:xfrm>
            <a:off x="6639840" y="1926000"/>
            <a:ext cx="216000" cy="2160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94792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10日後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792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1992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スポット勤務・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希望条件の確認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1992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応募ハードルの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低減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1992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「スポット勤務もあります。ご希望の勤務地・日数を教えてください」</a:t>
            </a:r>
          </a:p>
        </p:txBody>
      </p:sp>
      <p:sp>
        <p:nvSpPr>
          <p:cNvPr id="33" name="Oval 32"/>
          <p:cNvSpPr/>
          <p:nvPr/>
        </p:nvSpPr>
        <p:spPr>
          <a:xfrm>
            <a:off x="8365680" y="1926000"/>
            <a:ext cx="216000" cy="2160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673760" y="2232000"/>
            <a:ext cx="1599840" cy="306000"/>
          </a:xfrm>
          <a:prstGeom prst="roundRect">
            <a:avLst>
              <a:gd name="adj" fmla="val 8000"/>
            </a:avLst>
          </a:prstGeom>
          <a:solidFill>
            <a:srgbClr val="06C755"/>
          </a:solidFill>
          <a:ln w="1270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14日後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73760" y="2610000"/>
            <a:ext cx="1599840" cy="207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45760" y="2664000"/>
            <a:ext cx="1455840" cy="4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再応募・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面接予約の案内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45760" y="3150000"/>
            <a:ext cx="1455840" cy="522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狙い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CV①・CV②への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誘導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45760" y="3798000"/>
            <a:ext cx="1455840" cy="86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「ご希望に合う現場・日程をご案内します。応募・面接予約はこちら」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70400" y="4806000"/>
            <a:ext cx="8503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60400" y="4878000"/>
            <a:ext cx="1944000" cy="306000"/>
          </a:xfrm>
          <a:prstGeom prst="roundRect">
            <a:avLst>
              <a:gd name="adj" fmla="val 8000"/>
            </a:avLst>
          </a:prstGeom>
          <a:solidFill>
            <a:srgbClr val="7F7F7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8000" tIns="7200" rIns="18000" bIns="72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14日以降（企画配信）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2400" y="4806000"/>
            <a:ext cx="6271200" cy="45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新しい現場・募集が出るたびに、希望勤務地・勤務条件のタグごとに配信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4400" y="537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0400" y="532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そのほかに伝えられること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04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04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04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待遇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778399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ガソリン代・駐車場代の全額支給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空調服・ネッククーラー支給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130000" y="5670000"/>
            <a:ext cx="4143600" cy="684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130000" y="5670000"/>
            <a:ext cx="64800" cy="684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0000" y="5706000"/>
            <a:ext cx="864000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安心材料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38000" y="5706000"/>
            <a:ext cx="3081599" cy="612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資格取得の支援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月15日以上の勤務で社会保険に加入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Lステップ｜応募者の状況ごとに配信を変える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タグで応募者の状況を管理し、状況・希望に合わせた配信で面接予約までつなげる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タグごとに配信を変える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0400" y="1908000"/>
            <a:ext cx="2304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タグ（応募者の状況）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98400" y="1908000"/>
            <a:ext cx="36000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配信の内容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0400" y="21240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面接未参加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117600" y="23490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398400" y="21240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面接日程の再案内と、LINEでの面接予約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0400" y="26748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辞退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117600" y="28998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398400" y="26748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時期をあけて、新しい募集・現場のお知らせ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0400" y="32256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再応募希望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17600" y="34506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398400" y="32256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LINEの中で面接日を選んで予約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0400" y="37764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面接予約済み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117600" y="40014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98400" y="37764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面接前日のリマインド・会場までのアクセス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0400" y="4327200"/>
            <a:ext cx="2304000" cy="450000"/>
          </a:xfrm>
          <a:prstGeom prst="roundRect">
            <a:avLst>
              <a:gd name="adj" fmla="val 8000"/>
            </a:avLst>
          </a:prstGeom>
          <a:solidFill>
            <a:srgbClr val="E8F8EE"/>
          </a:solidFill>
          <a:ln w="19050">
            <a:solidFill>
              <a:srgbClr val="06C7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希望勤務地・勤務条件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117600" y="4552200"/>
            <a:ext cx="2376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398400" y="4327200"/>
            <a:ext cx="5875200" cy="4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44000" tIns="18000" rIns="108000" bIns="18000"/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希望に合う現場・働き方（中途・アルバイト・スポット）のご案内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400" y="5018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0400" y="4968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Lステップでできること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704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タグ管理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応募者の状況を記録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9232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状況・希望ごとに送り分け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760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LINEの中で日程を選択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28800" y="5310000"/>
            <a:ext cx="2044800" cy="63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反応の確認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押されたリンクを確認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0400" y="6012000"/>
            <a:ext cx="8503200" cy="216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※採用管理サービスとの連携方法・タグ付けの具体的な方法は、導入時にご相談のうえ決定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進め方｜アカウント開設から運用・改善まで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lang="ja-JP" altLang="en-US" sz="160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LINE公式アカウントの開設から、運用・改善までまとめて支援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導入の流れ</a:t>
            </a:r>
          </a:p>
        </p:txBody>
      </p:sp>
      <p:sp>
        <p:nvSpPr>
          <p:cNvPr id="8" name="Oval 7"/>
          <p:cNvSpPr/>
          <p:nvPr/>
        </p:nvSpPr>
        <p:spPr>
          <a:xfrm>
            <a:off x="138312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040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LINE公式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アカウント開設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2704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7040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60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LINE公式アカウントの開設・初期設定</a:t>
            </a:r>
          </a:p>
        </p:txBody>
      </p:sp>
      <p:sp>
        <p:nvSpPr>
          <p:cNvPr id="13" name="Oval 12"/>
          <p:cNvSpPr/>
          <p:nvPr/>
        </p:nvSpPr>
        <p:spPr>
          <a:xfrm>
            <a:off x="312696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1424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Lステップ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構築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07088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51424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55744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タグ・セグメント・面接予約の設計と設定</a:t>
            </a:r>
          </a:p>
        </p:txBody>
      </p:sp>
      <p:sp>
        <p:nvSpPr>
          <p:cNvPr id="18" name="Oval 17"/>
          <p:cNvSpPr/>
          <p:nvPr/>
        </p:nvSpPr>
        <p:spPr>
          <a:xfrm>
            <a:off x="487080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5808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友だち獲得の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導線整備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814720" y="2646000"/>
            <a:ext cx="158400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425808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0128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過去の応募者へ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SMS・メール等で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LINEの友だち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追加をご案内</a:t>
            </a:r>
          </a:p>
        </p:txBody>
      </p:sp>
      <p:sp>
        <p:nvSpPr>
          <p:cNvPr id="23" name="Oval 22"/>
          <p:cNvSpPr/>
          <p:nvPr/>
        </p:nvSpPr>
        <p:spPr>
          <a:xfrm>
            <a:off x="6614640" y="1926000"/>
            <a:ext cx="302400" cy="302400"/>
          </a:xfrm>
          <a:prstGeom prst="ellips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0192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配信設定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558559" y="2646000"/>
            <a:ext cx="158401" cy="0"/>
          </a:xfrm>
          <a:prstGeom prst="line">
            <a:avLst/>
          </a:prstGeom>
          <a:ln w="2540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0192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4512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ステップ配信・募集のお知らせの作成</a:t>
            </a:r>
          </a:p>
        </p:txBody>
      </p:sp>
      <p:sp>
        <p:nvSpPr>
          <p:cNvPr id="28" name="Oval 27"/>
          <p:cNvSpPr/>
          <p:nvPr/>
        </p:nvSpPr>
        <p:spPr>
          <a:xfrm>
            <a:off x="8358480" y="1926000"/>
            <a:ext cx="302400" cy="302400"/>
          </a:xfrm>
          <a:prstGeom prst="ellipse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45760" y="2304000"/>
            <a:ext cx="1527840" cy="684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28800" tIns="18000" rIns="28800" bIns="1800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運用・改善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5760" y="3060000"/>
            <a:ext cx="1527840" cy="1512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88960" y="3132000"/>
            <a:ext cx="1441440" cy="136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応募数・面接予約数を見て、配信の内容・タイミングを見直す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770400" y="4698000"/>
            <a:ext cx="675936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7040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529760" y="4608000"/>
            <a:ext cx="0" cy="90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770400" y="4734000"/>
            <a:ext cx="675936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745760" y="4698000"/>
            <a:ext cx="1527840" cy="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774576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9273600" y="4608000"/>
            <a:ext cx="0" cy="90000"/>
          </a:xfrm>
          <a:prstGeom prst="line">
            <a:avLst/>
          </a:prstGeom>
          <a:ln w="19050">
            <a:solidFill>
              <a:srgbClr val="06C75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7745760" y="4734000"/>
            <a:ext cx="152784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月額の運用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4400" y="5162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70400" y="5112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改善で見る指標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4860000" y="5724000"/>
            <a:ext cx="324000" cy="0"/>
          </a:xfrm>
          <a:prstGeom prst="line">
            <a:avLst/>
          </a:prstGeom>
          <a:ln w="317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7704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8784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CV①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6344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応募数（再応募を含む）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74000" y="5454000"/>
            <a:ext cx="3999600" cy="54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82000" y="5544000"/>
            <a:ext cx="648000" cy="360000"/>
          </a:xfrm>
          <a:prstGeom prst="roundRect">
            <a:avLst>
              <a:gd name="adj" fmla="val 8000"/>
            </a:avLst>
          </a:prstGeom>
          <a:solidFill>
            <a:srgbClr val="1F285A"/>
          </a:solidFill>
          <a:ln w="1270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0" tIns="0" rIns="0" bIns="0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38000" y="5454000"/>
            <a:ext cx="3063600" cy="54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面接予約数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400" y="817200"/>
            <a:ext cx="9111600" cy="3456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初期構築費10万円・月額費用20万円で、開設から運用・改善まで支援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634400"/>
            <a:ext cx="54000" cy="1872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0400" y="1584000"/>
            <a:ext cx="8503200" cy="288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5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内訳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04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04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初期構築費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04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100,000円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84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4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・LINE公式アカウントの開設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・Lステップの構築（タグ・配信の設計）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・友だち獲得の導線整備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・ステップ配信の作成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66000" y="1926000"/>
            <a:ext cx="4107600" cy="1800000"/>
          </a:xfrm>
          <a:prstGeom prst="roundRect">
            <a:avLst>
              <a:gd name="adj" fmla="val 8000"/>
            </a:avLst>
          </a:prstGeom>
          <a:solidFill>
            <a:srgbClr val="F4F7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36000" rIns="72000" bIns="3600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000" y="2070000"/>
            <a:ext cx="4107600" cy="324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8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000" y="2448000"/>
            <a:ext cx="4107600" cy="1080000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46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200,000円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74000" y="3888000"/>
            <a:ext cx="4107600" cy="251999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含まれるもの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74000" y="4158000"/>
            <a:ext cx="3999600" cy="1620000"/>
          </a:xfrm>
          <a:prstGeom prst="rect">
            <a:avLst/>
          </a:prstGeom>
          <a:noFill/>
        </p:spPr>
        <p:txBody>
          <a:bodyPr wrap="square" anchor="t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・ステップ配信・募集のお知らせの運用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・タグ付け・リストの管理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・応募数・面接予約数を見た改善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・LINE公式アカウント・Lステップの利用料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143371</TotalTime>
  <Words>576</Words>
  <Application>Microsoft Office PowerPoint</Application>
  <PresentationFormat>A4 210 x 297 mm</PresentationFormat>
  <Paragraphs>191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7</vt:i4>
      </vt:variant>
    </vt:vector>
  </HeadingPairs>
  <TitlesOfParts>
    <vt:vector size="14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1969</cp:revision>
  <cp:lastPrinted>2022-11-01T11:38:14Z</cp:lastPrinted>
  <dcterms:created xsi:type="dcterms:W3CDTF">2015-09-04T09:21:15Z</dcterms:created>
  <dcterms:modified xsi:type="dcterms:W3CDTF">2026-10-08T09:10:34Z</dcterms:modified>
</cp:coreProperties>
</file>