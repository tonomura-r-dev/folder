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32"/>
  </p:notesMasterIdLst>
  <p:handoutMasterIdLst>
    <p:handoutMasterId r:id="rId33"/>
  </p:handoutMasterIdLst>
  <p:sldIdLst>
    <p:sldId id="2363" r:id="rId3"/>
    <p:sldId id="2721" r:id="rId4"/>
    <p:sldId id="2714" r:id="rId5"/>
    <p:sldId id="2761" r:id="rId6"/>
    <p:sldId id="2919" r:id="rId7"/>
    <p:sldId id="2519" r:id="rId8"/>
    <p:sldId id="2749" r:id="rId9"/>
    <p:sldId id="2736" r:id="rId10"/>
    <p:sldId id="2996" r:id="rId11"/>
    <p:sldId id="2997" r:id="rId12"/>
    <p:sldId id="2998" r:id="rId13"/>
    <p:sldId id="2999" r:id="rId14"/>
    <p:sldId id="3000" r:id="rId15"/>
    <p:sldId id="2841" r:id="rId16"/>
    <p:sldId id="3002" r:id="rId17"/>
    <p:sldId id="2913" r:id="rId18"/>
    <p:sldId id="3003" r:id="rId19"/>
    <p:sldId id="3001" r:id="rId20"/>
    <p:sldId id="2849" r:id="rId21"/>
    <p:sldId id="2959" r:id="rId22"/>
    <p:sldId id="2957" r:id="rId23"/>
    <p:sldId id="3004" r:id="rId24"/>
    <p:sldId id="3008" r:id="rId25"/>
    <p:sldId id="3009" r:id="rId26"/>
    <p:sldId id="2951" r:id="rId27"/>
    <p:sldId id="2566" r:id="rId28"/>
    <p:sldId id="3007" r:id="rId29"/>
    <p:sldId id="2619" r:id="rId30"/>
    <p:sldId id="1169" r:id="rId31"/>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899" autoAdjust="0"/>
    <p:restoredTop sz="94424" autoAdjust="0"/>
  </p:normalViewPr>
  <p:slideViewPr>
    <p:cSldViewPr snapToGrid="0">
      <p:cViewPr>
        <p:scale>
          <a:sx n="100" d="100"/>
          <a:sy n="100" d="100"/>
        </p:scale>
        <p:origin x="1374" y="318"/>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2026/8/4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28</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29</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3.emf"/><Relationship Id="rId7" Type="http://schemas.openxmlformats.org/officeDocument/2006/relationships/image" Target="../media/image21.jpe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LINE公式アカウント活用のご提案</a:t>
            </a: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求人vivical『しが就職・転職フェア』様向け</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978408" y="3910946"/>
            <a:ext cx="7955279"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〜「直前辞退の防止」と「次回イベントへの継続囲い込み」による採用成果の最大化〜</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401568" y="4341752"/>
            <a:ext cx="3108960"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2026年8月｜株式会社DYM</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公式アカウントの取扱社数は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spTree>
    <p:extLst>
      <p:ext uri="{BB962C8B-B14F-4D97-AF65-F5344CB8AC3E}">
        <p14:creationId xmlns:p14="http://schemas.microsoft.com/office/powerpoint/2010/main" val="2814499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rotWithShape="1">
          <a:blip r:embed="rId2"/>
          <a:srcRect t="757"/>
          <a:stretch/>
        </p:blipFill>
        <p:spPr>
          <a:xfrm>
            <a:off x="295976" y="1434465"/>
            <a:ext cx="9387073" cy="4996347"/>
          </a:xfrm>
          <a:prstGeom prst="rect">
            <a:avLst/>
          </a:prstGeom>
        </p:spPr>
      </p:pic>
      <p:sp>
        <p:nvSpPr>
          <p:cNvPr id="4" name="Google Shape;752;p28">
            <a:extLst>
              <a:ext uri="{FF2B5EF4-FFF2-40B4-BE49-F238E27FC236}">
                <a16:creationId xmlns:a16="http://schemas.microsoft.com/office/drawing/2014/main" id="{FDC206AF-704B-C667-AC7C-8A98250C47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弊社の強み</a:t>
            </a:r>
          </a:p>
        </p:txBody>
      </p:sp>
      <p:sp>
        <p:nvSpPr>
          <p:cNvPr id="7" name="正方形/長方形 6">
            <a:extLst>
              <a:ext uri="{FF2B5EF4-FFF2-40B4-BE49-F238E27FC236}">
                <a16:creationId xmlns:a16="http://schemas.microsoft.com/office/drawing/2014/main" id="{5B599DE5-990B-7CA4-B34C-8BC9D9739CAB}"/>
              </a:ext>
            </a:extLst>
          </p:cNvPr>
          <p:cNvSpPr/>
          <p:nvPr/>
        </p:nvSpPr>
        <p:spPr>
          <a:xfrm>
            <a:off x="486784" y="613850"/>
            <a:ext cx="9005456" cy="6777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b="1" dirty="0">
                <a:solidFill>
                  <a:schemeClr val="tx1"/>
                </a:solidFill>
                <a:latin typeface="メイリオ" panose="020B0604030504040204" pitchFamily="50" charset="-128"/>
                <a:ea typeface="メイリオ" panose="020B0604030504040204" pitchFamily="50" charset="-128"/>
              </a:rPr>
              <a:t>プランニング</a:t>
            </a:r>
            <a:r>
              <a:rPr lang="en-US" altLang="ja-JP" sz="1600" b="1" dirty="0">
                <a:solidFill>
                  <a:schemeClr val="tx1"/>
                </a:solidFill>
                <a:latin typeface="メイリオ" panose="020B0604030504040204" pitchFamily="50" charset="-128"/>
                <a:ea typeface="メイリオ" panose="020B0604030504040204" pitchFamily="50" charset="-128"/>
              </a:rPr>
              <a:t>~</a:t>
            </a:r>
            <a:r>
              <a:rPr lang="ja-JP" altLang="en-US" sz="1600" b="1" dirty="0">
                <a:solidFill>
                  <a:schemeClr val="tx1"/>
                </a:solidFill>
                <a:latin typeface="メイリオ" panose="020B0604030504040204" pitchFamily="50" charset="-128"/>
                <a:ea typeface="メイリオ" panose="020B0604030504040204" pitchFamily="50" charset="-128"/>
              </a:rPr>
              <a:t>運用・クリエイティブを一気通貫で行うことで、成果にコミットしやすい体制。</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chemeClr val="tx1"/>
                </a:solidFill>
                <a:latin typeface="メイリオ" panose="020B0604030504040204" pitchFamily="50" charset="-128"/>
                <a:ea typeface="メイリオ" panose="020B0604030504040204" pitchFamily="50" charset="-128"/>
              </a:rPr>
              <a:t>貴社としても窓口・依頼の工数を大きく削減しながらの施策スタートが可能です。</a:t>
            </a:r>
          </a:p>
        </p:txBody>
      </p:sp>
    </p:spTree>
    <p:extLst>
      <p:ext uri="{BB962C8B-B14F-4D97-AF65-F5344CB8AC3E}">
        <p14:creationId xmlns:p14="http://schemas.microsoft.com/office/powerpoint/2010/main" val="2911739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rPr>
              <a:t>「</a:t>
            </a:r>
            <a:r>
              <a:rPr lang="en-US" altLang="ja-JP" sz="1400" dirty="0" err="1">
                <a:solidFill>
                  <a:srgbClr val="343434"/>
                </a:solidFill>
                <a:latin typeface="メイリオ" panose="020B0604030504040204" pitchFamily="50" charset="-128"/>
                <a:ea typeface="メイリオ" panose="020B0604030504040204" pitchFamily="50" charset="-128"/>
              </a:rPr>
              <a:t>今すぐ客」以外の</a:t>
            </a:r>
            <a:r>
              <a:rPr lang="ja-JP" altLang="en-US" sz="1400" dirty="0">
                <a:solidFill>
                  <a:srgbClr val="343434"/>
                </a:solidFill>
                <a:latin typeface="メイリオ" panose="020B0604030504040204" pitchFamily="50" charset="-128"/>
                <a:ea typeface="メイリオ" panose="020B0604030504040204" pitchFamily="50" charset="-128"/>
              </a:rPr>
              <a:t>約</a:t>
            </a:r>
            <a:r>
              <a:rPr lang="en-US" altLang="ja-JP" sz="1400" dirty="0">
                <a:solidFill>
                  <a:srgbClr val="343434"/>
                </a:solidFill>
                <a:latin typeface="メイリオ" panose="020B0604030504040204" pitchFamily="50" charset="-128"/>
                <a:ea typeface="メイリオ" panose="020B0604030504040204" pitchFamily="50" charset="-128"/>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rPr>
              <a:t>結果として</a:t>
            </a:r>
            <a:r>
              <a:rPr lang="ja-JP" altLang="en-US" sz="1400" dirty="0" err="1">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rPr>
              <a:t>げ</a:t>
            </a:r>
            <a:r>
              <a:rPr lang="en-US" altLang="ja-JP" sz="1400" dirty="0">
                <a:solidFill>
                  <a:srgbClr val="343434"/>
                </a:solidFill>
                <a:latin typeface="メイリオ" panose="020B0604030504040204" pitchFamily="50" charset="-128"/>
                <a:ea typeface="メイリオ" panose="020B0604030504040204" pitchFamily="50" charset="-128"/>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rPr>
              <a:t>9-</a:t>
            </a:r>
            <a:r>
              <a:rPr lang="en-US" sz="1554" dirty="0">
                <a:solidFill>
                  <a:srgbClr val="494848"/>
                </a:solidFill>
                <a:latin typeface="メイリオ" panose="020B0604030504040204" pitchFamily="50" charset="-128"/>
                <a:ea typeface="メイリオ" panose="020B0604030504040204" pitchFamily="50" charset="-128"/>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en-US" sz="1200" b="1" dirty="0" err="1">
                <a:solidFill>
                  <a:srgbClr val="494848"/>
                </a:solidFill>
                <a:latin typeface="メイリオ" panose="020B0604030504040204" pitchFamily="50" charset="-128"/>
                <a:ea typeface="メイリオ" panose="020B0604030504040204" pitchFamily="50" charset="-128"/>
              </a:rPr>
              <a:t>今すぐ</a:t>
            </a:r>
            <a:r>
              <a:rPr lang="ja-JP" altLang="en-US" sz="1200" b="1" dirty="0">
                <a:solidFill>
                  <a:srgbClr val="494848"/>
                </a:solidFill>
                <a:latin typeface="メイリオ" panose="020B0604030504040204" pitchFamily="50" charset="-128"/>
                <a:ea typeface="メイリオ" panose="020B0604030504040204" pitchFamily="50" charset="-128"/>
              </a:rPr>
              <a:t>顧</a:t>
            </a:r>
            <a:r>
              <a:rPr lang="en-US" sz="1200" b="1" dirty="0" err="1">
                <a:solidFill>
                  <a:srgbClr val="494848"/>
                </a:solidFill>
                <a:latin typeface="メイリオ" panose="020B0604030504040204" pitchFamily="50" charset="-128"/>
                <a:ea typeface="メイリオ" panose="020B0604030504040204" pitchFamily="50" charset="-128"/>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rPr>
              <a:t>のは</a:t>
            </a:r>
            <a:r>
              <a:rPr lang="ja-JP" altLang="en-US" sz="1200" b="1" dirty="0">
                <a:solidFill>
                  <a:srgbClr val="494848"/>
                </a:solidFill>
                <a:latin typeface="メイリオ" panose="020B0604030504040204" pitchFamily="50" charset="-128"/>
                <a:ea typeface="メイリオ" panose="020B0604030504040204" pitchFamily="50" charset="-128"/>
              </a:rPr>
              <a:t>リスクが大きい。</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ja-JP" altLang="en-US" sz="1200" b="1" dirty="0">
                <a:solidFill>
                  <a:srgbClr val="494848"/>
                </a:solidFill>
                <a:latin typeface="メイリオ" panose="020B0604030504040204" pitchFamily="50" charset="-128"/>
                <a:ea typeface="メイリオ" panose="020B0604030504040204" pitchFamily="50" charset="-128"/>
              </a:rPr>
              <a:t>将来的な顧</a:t>
            </a:r>
            <a:r>
              <a:rPr lang="en-US" sz="1200" b="1" dirty="0" err="1">
                <a:solidFill>
                  <a:srgbClr val="494848"/>
                </a:solidFill>
                <a:latin typeface="メイリオ" panose="020B0604030504040204" pitchFamily="50" charset="-128"/>
                <a:ea typeface="メイリオ" panose="020B0604030504040204" pitchFamily="50" charset="-128"/>
              </a:rPr>
              <a:t>客」教育をLINE</a:t>
            </a:r>
            <a:r>
              <a:rPr lang="ja-JP" altLang="en-US" sz="1200" b="1" dirty="0">
                <a:solidFill>
                  <a:srgbClr val="494848"/>
                </a:solidFill>
                <a:latin typeface="メイリオ" panose="020B0604030504040204" pitchFamily="50" charset="-128"/>
                <a:ea typeface="メイリオ" panose="020B0604030504040204" pitchFamily="50" charset="-128"/>
              </a:rPr>
              <a:t>上で構築し</a:t>
            </a:r>
            <a:r>
              <a:rPr lang="en-US" sz="1200" b="1" dirty="0">
                <a:solidFill>
                  <a:srgbClr val="494848"/>
                </a:solidFill>
                <a:latin typeface="メイリオ" panose="020B0604030504040204" pitchFamily="50" charset="-128"/>
                <a:ea typeface="メイリオ" panose="020B0604030504040204" pitchFamily="50" charset="-128"/>
              </a:rPr>
              <a:t>行</a:t>
            </a:r>
            <a:r>
              <a:rPr lang="ja-JP" altLang="en-US" sz="1200" b="1" dirty="0">
                <a:solidFill>
                  <a:srgbClr val="494848"/>
                </a:solidFill>
                <a:latin typeface="メイリオ" panose="020B0604030504040204" pitchFamily="50" charset="-128"/>
                <a:ea typeface="メイリオ" panose="020B0604030504040204" pitchFamily="50" charset="-128"/>
              </a:rPr>
              <a:t>う。</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Meiryo"/>
                <a:ea typeface="Meiryo"/>
                <a:cs typeface="Meiryo"/>
                <a:sym typeface="Meiryo"/>
              </a:rPr>
              <a:t>WEB</a:t>
            </a:r>
            <a:r>
              <a:rPr lang="ja-JP" altLang="en-US" sz="1400" dirty="0">
                <a:latin typeface="Meiryo"/>
                <a:ea typeface="Meiryo"/>
                <a:cs typeface="Meiryo"/>
                <a:sym typeface="Meiryo"/>
              </a:rPr>
              <a:t>広告における</a:t>
            </a:r>
            <a:r>
              <a:rPr lang="ja-JP" altLang="en-US" sz="1400" b="1" dirty="0">
                <a:latin typeface="Meiryo"/>
                <a:ea typeface="Meiryo"/>
                <a:cs typeface="Meiryo"/>
                <a:sym typeface="Meiryo"/>
              </a:rPr>
              <a:t>競合性が高</a:t>
            </a:r>
            <a:r>
              <a:rPr lang="ja-JP" altLang="en-US" sz="1400" dirty="0">
                <a:latin typeface="Meiryo"/>
                <a:ea typeface="Meiryo"/>
                <a:cs typeface="Meiryo"/>
                <a:sym typeface="Meiryo"/>
              </a:rPr>
              <a:t>くなり</a:t>
            </a:r>
            <a:endParaRPr lang="en-US" altLang="ja-JP" sz="1400" dirty="0">
              <a:latin typeface="Meiryo"/>
              <a:ea typeface="Meiryo"/>
              <a:cs typeface="Meiryo"/>
              <a:sym typeface="Meiryo"/>
            </a:endParaRPr>
          </a:p>
          <a:p>
            <a:pPr algn="ctr"/>
            <a:r>
              <a:rPr lang="ja-JP" altLang="en-US" sz="1400" b="1" dirty="0">
                <a:solidFill>
                  <a:srgbClr val="FF0000"/>
                </a:solidFill>
                <a:latin typeface="Meiryo"/>
                <a:ea typeface="Meiryo"/>
                <a:cs typeface="Meiryo"/>
                <a:sym typeface="Meiryo"/>
              </a:rPr>
              <a:t>単価指標（</a:t>
            </a:r>
            <a:r>
              <a:rPr lang="en-US" altLang="ja-JP" sz="1400" b="1" dirty="0">
                <a:solidFill>
                  <a:srgbClr val="FF0000"/>
                </a:solidFill>
                <a:latin typeface="Meiryo"/>
                <a:ea typeface="Meiryo"/>
                <a:cs typeface="Meiryo"/>
                <a:sym typeface="Meiryo"/>
              </a:rPr>
              <a:t>CPC</a:t>
            </a:r>
            <a:r>
              <a:rPr lang="ja-JP" altLang="en-US" sz="1400" b="1" dirty="0">
                <a:solidFill>
                  <a:srgbClr val="FF0000"/>
                </a:solidFill>
                <a:latin typeface="Meiryo"/>
                <a:ea typeface="Meiryo"/>
                <a:cs typeface="Meiryo"/>
                <a:sym typeface="Meiryo"/>
              </a:rPr>
              <a:t>及び</a:t>
            </a:r>
            <a:r>
              <a:rPr lang="en-US" altLang="ja-JP" sz="1400" b="1" dirty="0">
                <a:solidFill>
                  <a:srgbClr val="FF0000"/>
                </a:solidFill>
                <a:latin typeface="Meiryo"/>
                <a:ea typeface="Meiryo"/>
                <a:cs typeface="Meiryo"/>
                <a:sym typeface="Meiryo"/>
              </a:rPr>
              <a:t>CPA</a:t>
            </a:r>
            <a:r>
              <a:rPr lang="ja-JP" altLang="en-US" sz="1400" b="1" dirty="0">
                <a:solidFill>
                  <a:srgbClr val="FF0000"/>
                </a:solidFill>
                <a:latin typeface="Meiryo"/>
                <a:ea typeface="Meiryo"/>
                <a:cs typeface="Meiryo"/>
                <a:sym typeface="Meiryo"/>
              </a:rPr>
              <a:t>）が高騰</a:t>
            </a:r>
            <a:r>
              <a:rPr lang="ja-JP" altLang="en-US" sz="1400" dirty="0">
                <a:latin typeface="Meiryo"/>
                <a:ea typeface="Meiryo"/>
                <a:cs typeface="Meiryo"/>
                <a:sym typeface="Meiryo"/>
              </a:rPr>
              <a:t>。</a:t>
            </a:r>
            <a:endParaRPr lang="en-US" altLang="ja-JP" sz="1400" dirty="0">
              <a:latin typeface="Meiryo"/>
              <a:ea typeface="Meiryo"/>
              <a:cs typeface="Meiryo"/>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Meiryo"/>
                <a:ea typeface="Meiryo"/>
                <a:sym typeface="Meiryo"/>
              </a:rPr>
              <a:t>集客施策における</a:t>
            </a:r>
            <a:r>
              <a:rPr lang="en-US" altLang="ja-JP" sz="1400" b="1" dirty="0">
                <a:latin typeface="Meiryo"/>
                <a:ea typeface="Meiryo"/>
                <a:sym typeface="Meiryo"/>
              </a:rPr>
              <a:t>CVR</a:t>
            </a:r>
            <a:r>
              <a:rPr lang="ja-JP" altLang="en-US" sz="1400" b="1" dirty="0">
                <a:latin typeface="Meiryo"/>
                <a:ea typeface="Meiryo"/>
                <a:sym typeface="Meiryo"/>
              </a:rPr>
              <a:t>は高くても</a:t>
            </a:r>
            <a:r>
              <a:rPr lang="en-US" altLang="ja-JP" sz="1400" b="1" dirty="0">
                <a:latin typeface="Meiryo"/>
                <a:ea typeface="Meiryo"/>
                <a:sym typeface="Meiryo"/>
              </a:rPr>
              <a:t>2%</a:t>
            </a:r>
            <a:r>
              <a:rPr lang="ja-JP" altLang="en-US" sz="1400" b="1" dirty="0">
                <a:latin typeface="Meiryo"/>
                <a:ea typeface="Meiryo"/>
                <a:sym typeface="Meiryo"/>
              </a:rPr>
              <a:t>程度</a:t>
            </a:r>
            <a:r>
              <a:rPr lang="ja-JP" altLang="en-US" sz="1400" dirty="0">
                <a:latin typeface="Meiryo"/>
                <a:ea typeface="Meiryo"/>
                <a:sym typeface="Meiryo"/>
              </a:rPr>
              <a:t>。</a:t>
            </a:r>
            <a:endParaRPr lang="en-US" altLang="ja-JP" sz="1400" dirty="0">
              <a:latin typeface="Meiryo"/>
              <a:ea typeface="Meiryo"/>
              <a:sym typeface="Meiryo"/>
            </a:endParaRPr>
          </a:p>
          <a:p>
            <a:pPr algn="ctr"/>
            <a:r>
              <a:rPr lang="en-US" altLang="ja-JP" sz="1400" dirty="0">
                <a:solidFill>
                  <a:srgbClr val="FF0000"/>
                </a:solidFill>
                <a:latin typeface="Meiryo"/>
                <a:ea typeface="Meiryo"/>
                <a:sym typeface="Meiryo"/>
              </a:rPr>
              <a:t>CV</a:t>
            </a:r>
            <a:r>
              <a:rPr lang="ja-JP" altLang="en-US" sz="1400" dirty="0">
                <a:solidFill>
                  <a:srgbClr val="FF0000"/>
                </a:solidFill>
                <a:latin typeface="Meiryo"/>
                <a:ea typeface="Meiryo"/>
                <a:sym typeface="Meiryo"/>
              </a:rPr>
              <a:t>に至らず離脱するユーザーが大部分</a:t>
            </a:r>
            <a:r>
              <a:rPr lang="ja-JP" altLang="en-US" sz="1400" dirty="0">
                <a:latin typeface="Meiryo"/>
                <a:ea typeface="Meiryo"/>
                <a:sym typeface="Meiryo"/>
              </a:rPr>
              <a:t>。</a:t>
            </a:r>
            <a:endParaRPr lang="ja-JP" altLang="en-US" sz="1400" dirty="0"/>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CVR</a:t>
            </a:r>
            <a:endParaRPr lang="ja-JP" altLang="en-US" b="1" dirty="0">
              <a:latin typeface="メイリオ" panose="020B0604030504040204" pitchFamily="50" charset="-128"/>
              <a:ea typeface="メイリオ" panose="020B0604030504040204" pitchFamily="50" charset="-128"/>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CPC</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62148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LINE</a:t>
            </a:r>
            <a:r>
              <a:rPr lang="ja-JP" altLang="en-US" sz="1400" dirty="0">
                <a:latin typeface="メイリオ" panose="020B0604030504040204" pitchFamily="50" charset="-128"/>
                <a:ea typeface="メイリオ" panose="020B0604030504040204" pitchFamily="50" charset="-128"/>
                <a:cs typeface="Meiryo"/>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Meiryo"/>
                <a:sym typeface="Meiryo"/>
              </a:rPr>
              <a:t>CV</a:t>
            </a:r>
            <a:r>
              <a:rPr lang="ja-JP" altLang="en-US" sz="1400" dirty="0">
                <a:latin typeface="メイリオ" panose="020B0604030504040204" pitchFamily="50" charset="-128"/>
                <a:ea typeface="メイリオ" panose="020B0604030504040204" pitchFamily="50" charset="-128"/>
                <a:cs typeface="Meiryo"/>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Meiryo"/>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endParaRPr kumimoji="1" lang="ja-JP" altLang="en-US" sz="1050" b="1"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rPr>
              <a:t>（</a:t>
            </a:r>
            <a:r>
              <a:rPr kumimoji="1" lang="en-US" altLang="ja-JP" sz="1100" dirty="0">
                <a:solidFill>
                  <a:schemeClr val="tx2"/>
                </a:solidFill>
                <a:latin typeface="メイリオ" panose="020B0604030504040204" pitchFamily="50" charset="-128"/>
                <a:ea typeface="メイリオ" panose="020B0604030504040204" pitchFamily="50" charset="-128"/>
              </a:rPr>
              <a:t>LINE</a:t>
            </a:r>
            <a:r>
              <a:rPr kumimoji="1" lang="ja-JP" altLang="en-US" sz="1100" dirty="0">
                <a:solidFill>
                  <a:schemeClr val="tx2"/>
                </a:solidFill>
                <a:latin typeface="メイリオ" panose="020B0604030504040204" pitchFamily="50" charset="-128"/>
                <a:ea typeface="メイリオ" panose="020B0604030504040204" pitchFamily="50" charset="-128"/>
              </a:rPr>
              <a:t>施策内</a:t>
            </a:r>
            <a:r>
              <a:rPr lang="ja-JP" altLang="en-US" sz="1100" dirty="0">
                <a:solidFill>
                  <a:schemeClr val="tx2"/>
                </a:solidFill>
                <a:latin typeface="メイリオ" panose="020B0604030504040204" pitchFamily="50" charset="-128"/>
                <a:ea typeface="メイリオ" panose="020B0604030504040204" pitchFamily="50" charset="-128"/>
              </a:rPr>
              <a:t>）</a:t>
            </a:r>
            <a:endParaRPr kumimoji="1" lang="ja-JP" altLang="en-US" sz="1100" dirty="0">
              <a:solidFill>
                <a:schemeClr val="tx2"/>
              </a:solidFill>
              <a:latin typeface="メイリオ" panose="020B0604030504040204" pitchFamily="50" charset="-128"/>
              <a:ea typeface="メイリオ" panose="020B0604030504040204" pitchFamily="50" charset="-128"/>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アクティブ数</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セグメント率</a:t>
            </a:r>
            <a:endParaRPr kumimoji="1" lang="en-US" altLang="ja-JP" sz="1000" b="1"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or</a:t>
            </a:r>
          </a:p>
          <a:p>
            <a:pPr algn="ctr"/>
            <a:r>
              <a:rPr kumimoji="1" lang="ja-JP" altLang="en-US" sz="1000" b="1" dirty="0">
                <a:latin typeface="メイリオ" panose="020B0604030504040204" pitchFamily="50" charset="-128"/>
                <a:ea typeface="メイリオ" panose="020B0604030504040204" pitchFamily="50" charset="-128"/>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rPr>
              <a:t>85 </a:t>
            </a:r>
            <a:r>
              <a:rPr lang="en-US" altLang="ja-JP" sz="1400" b="1" dirty="0">
                <a:solidFill>
                  <a:srgbClr val="FF0000"/>
                </a:solidFill>
                <a:latin typeface="メイリオ" panose="020B0604030504040204" pitchFamily="50" charset="-128"/>
                <a:ea typeface="メイリオ" panose="020B0604030504040204" pitchFamily="50" charset="-128"/>
              </a:rPr>
              <a:t>%</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rPr>
              <a:t>12.5 </a:t>
            </a:r>
            <a:r>
              <a:rPr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rPr>
              <a:t>0.5</a:t>
            </a:r>
            <a:r>
              <a:rPr kumimoji="1" lang="en-US" altLang="ja-JP" sz="1400" b="1" dirty="0">
                <a:solidFill>
                  <a:srgbClr val="FF0000"/>
                </a:solidFill>
                <a:latin typeface="メイリオ" panose="020B0604030504040204" pitchFamily="50" charset="-128"/>
                <a:ea typeface="メイリオ" panose="020B0604030504040204" pitchFamily="50" charset="-128"/>
              </a:rPr>
              <a:t> %</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70 %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8.25 %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rPr>
              <a:t>0.3 %</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rPr>
              <a:t>DYM</a:t>
            </a:r>
            <a:r>
              <a:rPr kumimoji="1" lang="ja-JP" altLang="en-US" sz="1200" b="1" dirty="0">
                <a:solidFill>
                  <a:srgbClr val="FFC000"/>
                </a:solidFill>
                <a:latin typeface="メイリオ" panose="020B0604030504040204" pitchFamily="50" charset="-128"/>
                <a:ea typeface="メイリオ" panose="020B0604030504040204" pitchFamily="50" charset="-128"/>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業界平均</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lang="en-US" altLang="ja-JP" sz="800" b="1" dirty="0">
                <a:solidFill>
                  <a:schemeClr val="bg1"/>
                </a:solidFill>
                <a:latin typeface="メイリオ" panose="020B0604030504040204" pitchFamily="50" charset="-128"/>
                <a:ea typeface="メイリオ" panose="020B0604030504040204" pitchFamily="50" charset="-128"/>
              </a:rPr>
              <a:t>(LINE</a:t>
            </a:r>
            <a:r>
              <a:rPr lang="ja-JP" altLang="en-US" sz="800" b="1" dirty="0">
                <a:solidFill>
                  <a:schemeClr val="bg1"/>
                </a:solidFill>
                <a:latin typeface="メイリオ" panose="020B0604030504040204" pitchFamily="50" charset="-128"/>
                <a:ea typeface="メイリオ" panose="020B0604030504040204" pitchFamily="50" charset="-128"/>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rPr>
              <a:t>施策の流れ</a:t>
            </a:r>
          </a:p>
        </p:txBody>
      </p:sp>
    </p:spTree>
    <p:extLst>
      <p:ext uri="{BB962C8B-B14F-4D97-AF65-F5344CB8AC3E}">
        <p14:creationId xmlns:p14="http://schemas.microsoft.com/office/powerpoint/2010/main" val="2421842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DYMによる想定施策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36576" rIns="0" bIns="36576" anchor="ctr">
            <a:spAutoFit/>
          </a:bodyPr>
          <a:lstStyle/>
          <a:p>
            <a:pPr algn="l"/>
            <a:r>
              <a:rPr sz="2000" b="1">
                <a:solidFill>
                  <a:srgbClr val="002060"/>
                </a:solidFill>
                <a:latin typeface="メイリオ"/>
                <a:ea typeface="メイリオ"/>
                <a:cs typeface="メイリオ"/>
              </a:rPr>
              <a:t>現状分析｜求人vivical様の現状とボトルネック</a:t>
            </a:r>
          </a:p>
        </p:txBody>
      </p:sp>
      <p:sp>
        <p:nvSpPr>
          <p:cNvPr id="3" name="TextBox 2"/>
          <p:cNvSpPr txBox="1"/>
          <p:nvPr/>
        </p:nvSpPr>
        <p:spPr>
          <a:xfrm>
            <a:off x="548640" y="640080"/>
            <a:ext cx="8778240" cy="530352"/>
          </a:xfrm>
          <a:prstGeom prst="rect">
            <a:avLst/>
          </a:prstGeom>
          <a:noFill/>
        </p:spPr>
        <p:txBody>
          <a:bodyPr wrap="square" lIns="0" tIns="36576" rIns="0" bIns="36576" anchor="ctr">
            <a:spAutoFit/>
          </a:bodyPr>
          <a:lstStyle/>
          <a:p>
            <a:pPr algn="l">
              <a:lnSpc>
                <a:spcPct val="110000"/>
              </a:lnSpc>
            </a:pPr>
            <a:r>
              <a:rPr sz="1400" b="1">
                <a:solidFill>
                  <a:srgbClr val="333333"/>
                </a:solidFill>
                <a:latin typeface="メイリオ"/>
                <a:ea typeface="メイリオ"/>
                <a:cs typeface="メイリオ"/>
              </a:rPr>
              <a:t>目標予約数は達成している一方、予約者の3〜4割が直前辞退し、実質来場単価が16,000〜18,000円に高騰しています。</a:t>
            </a:r>
          </a:p>
        </p:txBody>
      </p:sp>
      <p:sp>
        <p:nvSpPr>
          <p:cNvPr id="4" name="TextBox 3"/>
          <p:cNvSpPr txBox="1"/>
          <p:nvPr/>
        </p:nvSpPr>
        <p:spPr>
          <a:xfrm>
            <a:off x="548640" y="1298448"/>
            <a:ext cx="4206240" cy="292608"/>
          </a:xfrm>
          <a:prstGeom prst="rect">
            <a:avLst/>
          </a:prstGeom>
          <a:noFill/>
        </p:spPr>
        <p:txBody>
          <a:bodyPr wrap="square" lIns="0" tIns="36576" rIns="73152" bIns="36576" anchor="t">
            <a:spAutoFit/>
          </a:bodyPr>
          <a:lstStyle/>
          <a:p>
            <a:pPr algn="l"/>
            <a:r>
              <a:rPr sz="1300" b="1">
                <a:solidFill>
                  <a:srgbClr val="1F285A"/>
                </a:solidFill>
                <a:latin typeface="メイリオ"/>
                <a:ea typeface="メイリオ"/>
                <a:cs typeface="メイリオ"/>
              </a:rPr>
              <a:t>現状の実績（Meta広告）</a:t>
            </a:r>
          </a:p>
        </p:txBody>
      </p:sp>
      <p:sp>
        <p:nvSpPr>
          <p:cNvPr id="5" name="Rounded Rectangle 4"/>
          <p:cNvSpPr/>
          <p:nvPr/>
        </p:nvSpPr>
        <p:spPr>
          <a:xfrm>
            <a:off x="548640" y="1664208"/>
            <a:ext cx="4206240" cy="676656"/>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0" bIns="0" rtlCol="0" anchor="ctr"/>
          <a:lstStyle/>
          <a:p>
            <a:pPr algn="l"/>
            <a:r>
              <a:rPr sz="1200">
                <a:solidFill>
                  <a:srgbClr val="333333"/>
                </a:solidFill>
                <a:latin typeface="メイリオ"/>
                <a:ea typeface="メイリオ"/>
                <a:cs typeface="メイリオ"/>
              </a:rPr>
              <a:t>月額広告予算　</a:t>
            </a:r>
            <a:r>
              <a:rPr sz="1700" b="1">
                <a:solidFill>
                  <a:srgbClr val="1F285A"/>
                </a:solidFill>
                <a:latin typeface="メイリオ"/>
                <a:ea typeface="メイリオ"/>
                <a:cs typeface="メイリオ"/>
              </a:rPr>
              <a:t>80万円</a:t>
            </a:r>
          </a:p>
        </p:txBody>
      </p:sp>
      <p:sp>
        <p:nvSpPr>
          <p:cNvPr id="6" name="Rounded Rectangle 5"/>
          <p:cNvSpPr/>
          <p:nvPr/>
        </p:nvSpPr>
        <p:spPr>
          <a:xfrm>
            <a:off x="548640" y="2450592"/>
            <a:ext cx="4206240" cy="676656"/>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0" bIns="0" rtlCol="0" anchor="ctr"/>
          <a:lstStyle/>
          <a:p>
            <a:pPr algn="l"/>
            <a:r>
              <a:rPr sz="1200">
                <a:solidFill>
                  <a:srgbClr val="333333"/>
                </a:solidFill>
                <a:latin typeface="メイリオ"/>
                <a:ea typeface="メイリオ"/>
                <a:cs typeface="メイリオ"/>
              </a:rPr>
              <a:t>事前予約単価（CPA）　</a:t>
            </a:r>
            <a:r>
              <a:rPr sz="1700" b="1">
                <a:solidFill>
                  <a:srgbClr val="1F285A"/>
                </a:solidFill>
                <a:latin typeface="メイリオ"/>
                <a:ea typeface="メイリオ"/>
                <a:cs typeface="メイリオ"/>
              </a:rPr>
              <a:t>10,000円</a:t>
            </a:r>
          </a:p>
        </p:txBody>
      </p:sp>
      <p:sp>
        <p:nvSpPr>
          <p:cNvPr id="7" name="Rounded Rectangle 6"/>
          <p:cNvSpPr/>
          <p:nvPr/>
        </p:nvSpPr>
        <p:spPr>
          <a:xfrm>
            <a:off x="548640" y="3236976"/>
            <a:ext cx="4206240" cy="676656"/>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0" bIns="0" rtlCol="0" anchor="ctr"/>
          <a:lstStyle/>
          <a:p>
            <a:pPr algn="l"/>
            <a:r>
              <a:rPr sz="1200">
                <a:solidFill>
                  <a:srgbClr val="333333"/>
                </a:solidFill>
                <a:latin typeface="メイリオ"/>
                <a:ea typeface="メイリオ"/>
                <a:cs typeface="メイリオ"/>
              </a:rPr>
              <a:t>月間事前予約数　</a:t>
            </a:r>
            <a:r>
              <a:rPr sz="1700" b="1">
                <a:solidFill>
                  <a:srgbClr val="1F285A"/>
                </a:solidFill>
                <a:latin typeface="メイリオ"/>
                <a:ea typeface="メイリオ"/>
                <a:cs typeface="メイリオ"/>
              </a:rPr>
              <a:t>80名</a:t>
            </a:r>
          </a:p>
        </p:txBody>
      </p:sp>
      <p:sp>
        <p:nvSpPr>
          <p:cNvPr id="8" name="TextBox 7"/>
          <p:cNvSpPr txBox="1"/>
          <p:nvPr/>
        </p:nvSpPr>
        <p:spPr>
          <a:xfrm>
            <a:off x="548640" y="4078224"/>
            <a:ext cx="4206240" cy="365760"/>
          </a:xfrm>
          <a:prstGeom prst="rect">
            <a:avLst/>
          </a:prstGeom>
          <a:noFill/>
        </p:spPr>
        <p:txBody>
          <a:bodyPr wrap="square" lIns="0" tIns="36576" rIns="73152" bIns="36576" anchor="t">
            <a:spAutoFit/>
          </a:bodyPr>
          <a:lstStyle/>
          <a:p>
            <a:pPr algn="l"/>
            <a:r>
              <a:rPr sz="1150">
                <a:solidFill>
                  <a:srgbClr val="333333"/>
                </a:solidFill>
                <a:latin typeface="メイリオ"/>
                <a:ea typeface="メイリオ"/>
                <a:cs typeface="メイリオ"/>
              </a:rPr>
              <a:t>目標予約数は達成（各会場合計）。獲得面の課題はない。</a:t>
            </a:r>
          </a:p>
        </p:txBody>
      </p:sp>
      <p:sp>
        <p:nvSpPr>
          <p:cNvPr id="9" name="TextBox 8"/>
          <p:cNvSpPr txBox="1"/>
          <p:nvPr/>
        </p:nvSpPr>
        <p:spPr>
          <a:xfrm>
            <a:off x="5074920" y="1298448"/>
            <a:ext cx="4251960" cy="292608"/>
          </a:xfrm>
          <a:prstGeom prst="rect">
            <a:avLst/>
          </a:prstGeom>
          <a:noFill/>
        </p:spPr>
        <p:txBody>
          <a:bodyPr wrap="square" lIns="0" tIns="36576" rIns="73152" bIns="36576" anchor="t">
            <a:spAutoFit/>
          </a:bodyPr>
          <a:lstStyle/>
          <a:p>
            <a:pPr algn="l"/>
            <a:r>
              <a:rPr sz="1300" b="1">
                <a:solidFill>
                  <a:srgbClr val="C00000"/>
                </a:solidFill>
                <a:latin typeface="メイリオ"/>
                <a:ea typeface="メイリオ"/>
                <a:cs typeface="メイリオ"/>
              </a:rPr>
              <a:t>ボトルネック（来場フェーズ）</a:t>
            </a:r>
          </a:p>
        </p:txBody>
      </p:sp>
      <p:sp>
        <p:nvSpPr>
          <p:cNvPr id="10" name="Rounded Rectangle 9"/>
          <p:cNvSpPr/>
          <p:nvPr/>
        </p:nvSpPr>
        <p:spPr>
          <a:xfrm>
            <a:off x="5074920" y="1664208"/>
            <a:ext cx="4251960" cy="1170432"/>
          </a:xfrm>
          <a:prstGeom prst="roundRect">
            <a:avLst>
              <a:gd name="adj" fmla="val 8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400" b="1" dirty="0" err="1">
                <a:solidFill>
                  <a:srgbClr val="C00000"/>
                </a:solidFill>
                <a:latin typeface="メイリオ"/>
                <a:ea typeface="メイリオ"/>
                <a:cs typeface="メイリオ"/>
              </a:rPr>
              <a:t>課題</a:t>
            </a:r>
            <a:r>
              <a:rPr sz="1400" b="1" dirty="0">
                <a:solidFill>
                  <a:srgbClr val="C00000"/>
                </a:solidFill>
                <a:latin typeface="メイリオ"/>
                <a:ea typeface="メイリオ"/>
                <a:cs typeface="メイリオ"/>
              </a:rPr>
              <a:t>① </a:t>
            </a:r>
            <a:r>
              <a:rPr sz="1400" b="1" dirty="0" err="1">
                <a:solidFill>
                  <a:srgbClr val="C00000"/>
                </a:solidFill>
                <a:latin typeface="メイリオ"/>
                <a:ea typeface="メイリオ"/>
                <a:cs typeface="メイリオ"/>
              </a:rPr>
              <a:t>予約後の直前辞退</a:t>
            </a:r>
            <a:endParaRPr sz="1400" b="1" dirty="0">
              <a:solidFill>
                <a:srgbClr val="C00000"/>
              </a:solidFill>
              <a:latin typeface="メイリオ"/>
              <a:ea typeface="メイリオ"/>
              <a:cs typeface="メイリオ"/>
            </a:endParaRPr>
          </a:p>
          <a:p>
            <a:pPr algn="l">
              <a:lnSpc>
                <a:spcPct val="115000"/>
              </a:lnSpc>
            </a:pPr>
            <a:r>
              <a:rPr sz="1200" dirty="0">
                <a:solidFill>
                  <a:srgbClr val="333333"/>
                </a:solidFill>
                <a:latin typeface="メイリオ"/>
                <a:ea typeface="メイリオ"/>
                <a:cs typeface="メイリオ"/>
              </a:rPr>
              <a:t>予約者の3〜4割が当日辞退。予約→来場の引き上げ率は60〜70%にとどまる。</a:t>
            </a:r>
          </a:p>
        </p:txBody>
      </p:sp>
      <p:sp>
        <p:nvSpPr>
          <p:cNvPr id="11" name="Rounded Rectangle 10"/>
          <p:cNvSpPr/>
          <p:nvPr/>
        </p:nvSpPr>
        <p:spPr>
          <a:xfrm>
            <a:off x="5074920" y="2944368"/>
            <a:ext cx="4251960" cy="1170432"/>
          </a:xfrm>
          <a:prstGeom prst="roundRect">
            <a:avLst>
              <a:gd name="adj" fmla="val 8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400" b="1">
                <a:solidFill>
                  <a:srgbClr val="C00000"/>
                </a:solidFill>
                <a:latin typeface="メイリオ"/>
                <a:ea typeface="メイリオ"/>
                <a:cs typeface="メイリオ"/>
              </a:rPr>
              <a:t>課題② 実質来場単価の高騰</a:t>
            </a:r>
          </a:p>
          <a:p>
            <a:pPr algn="l">
              <a:lnSpc>
                <a:spcPct val="115000"/>
              </a:lnSpc>
            </a:pPr>
            <a:r>
              <a:rPr sz="1200">
                <a:solidFill>
                  <a:srgbClr val="333333"/>
                </a:solidFill>
                <a:latin typeface="メイリオ"/>
                <a:ea typeface="メイリオ"/>
                <a:cs typeface="メイリオ"/>
              </a:rPr>
              <a:t>予約単価は10,000円だが、来場ベースでは16,000〜18,000円まで上昇。</a:t>
            </a:r>
          </a:p>
        </p:txBody>
      </p:sp>
      <p:sp>
        <p:nvSpPr>
          <p:cNvPr id="12" name="Rounded Rectangle 11"/>
          <p:cNvSpPr/>
          <p:nvPr/>
        </p:nvSpPr>
        <p:spPr>
          <a:xfrm>
            <a:off x="5074920" y="4224528"/>
            <a:ext cx="4251960" cy="1170432"/>
          </a:xfrm>
          <a:prstGeom prst="roundRect">
            <a:avLst>
              <a:gd name="adj" fmla="val 8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400" b="1">
                <a:solidFill>
                  <a:srgbClr val="C00000"/>
                </a:solidFill>
                <a:latin typeface="メイリオ"/>
                <a:ea typeface="メイリオ"/>
                <a:cs typeface="メイリオ"/>
              </a:rPr>
              <a:t>課題③ 未応募層が資産化されない</a:t>
            </a:r>
          </a:p>
          <a:p>
            <a:pPr algn="l">
              <a:lnSpc>
                <a:spcPct val="115000"/>
              </a:lnSpc>
            </a:pPr>
            <a:r>
              <a:rPr sz="1200">
                <a:solidFill>
                  <a:srgbClr val="333333"/>
                </a:solidFill>
                <a:latin typeface="メイリオ"/>
                <a:ea typeface="メイリオ"/>
                <a:cs typeface="メイリオ"/>
              </a:rPr>
              <a:t>来場後・未応募の求職者と接点が切れ、次回フェアへ再案内できていない。</a:t>
            </a:r>
          </a:p>
        </p:txBody>
      </p:sp>
      <p:sp>
        <p:nvSpPr>
          <p:cNvPr id="13" name="Rounded Rectangle 12"/>
          <p:cNvSpPr/>
          <p:nvPr/>
        </p:nvSpPr>
        <p:spPr>
          <a:xfrm>
            <a:off x="548640" y="5577840"/>
            <a:ext cx="8778240" cy="47548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課題は「予約の獲得」ではなく「予約後の引き上げ」にある</a:t>
            </a:r>
          </a:p>
        </p:txBody>
      </p:sp>
      <p:sp>
        <p:nvSpPr>
          <p:cNvPr id="14" name="TextBox 13"/>
          <p:cNvSpPr txBox="1"/>
          <p:nvPr/>
        </p:nvSpPr>
        <p:spPr>
          <a:xfrm>
            <a:off x="548640" y="6126480"/>
            <a:ext cx="8778240" cy="274320"/>
          </a:xfrm>
          <a:prstGeom prst="rect">
            <a:avLst/>
          </a:prstGeom>
          <a:noFill/>
        </p:spPr>
        <p:txBody>
          <a:bodyPr wrap="square" lIns="0" tIns="36576" rIns="73152" bIns="36576" anchor="t">
            <a:spAutoFit/>
          </a:bodyPr>
          <a:lstStyle/>
          <a:p>
            <a:pPr algn="l"/>
            <a:r>
              <a:rPr sz="1000">
                <a:solidFill>
                  <a:srgbClr val="808080"/>
                </a:solidFill>
                <a:latin typeface="メイリオ"/>
                <a:ea typeface="メイリオ"/>
                <a:cs typeface="メイリオ"/>
              </a:rPr>
              <a:t>参照元：貴社ご提供の実績数値（2026年6〜7月開催／3会場）</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36576" rIns="0" bIns="36576" anchor="ctr">
            <a:spAutoFit/>
          </a:bodyPr>
          <a:lstStyle/>
          <a:p>
            <a:pPr algn="l"/>
            <a:r>
              <a:rPr sz="2000" b="1">
                <a:solidFill>
                  <a:srgbClr val="002060"/>
                </a:solidFill>
                <a:latin typeface="メイリオ"/>
                <a:ea typeface="メイリオ"/>
                <a:cs typeface="メイリオ"/>
              </a:rPr>
              <a:t>解決の方向性</a:t>
            </a:r>
          </a:p>
        </p:txBody>
      </p:sp>
      <p:sp>
        <p:nvSpPr>
          <p:cNvPr id="3" name="TextBox 2"/>
          <p:cNvSpPr txBox="1"/>
          <p:nvPr/>
        </p:nvSpPr>
        <p:spPr>
          <a:xfrm>
            <a:off x="548640" y="640080"/>
            <a:ext cx="8778240" cy="530352"/>
          </a:xfrm>
          <a:prstGeom prst="rect">
            <a:avLst/>
          </a:prstGeom>
          <a:noFill/>
        </p:spPr>
        <p:txBody>
          <a:bodyPr wrap="square" lIns="0" tIns="18288" rIns="0" bIns="18288" anchor="ctr">
            <a:spAutoFit/>
          </a:bodyPr>
          <a:lstStyle/>
          <a:p>
            <a:pPr algn="l">
              <a:lnSpc>
                <a:spcPct val="110000"/>
              </a:lnSpc>
            </a:pPr>
            <a:r>
              <a:rPr sz="1400" b="1">
                <a:solidFill>
                  <a:srgbClr val="333333"/>
                </a:solidFill>
                <a:latin typeface="メイリオ"/>
                <a:ea typeface="メイリオ"/>
                <a:cs typeface="メイリオ"/>
              </a:rPr>
              <a:t>「予約後の接点」をLINEで設計し、予約から来場への参加率を60%→77%（＋17pt）へ引き上げます。</a:t>
            </a:r>
          </a:p>
        </p:txBody>
      </p:sp>
      <p:sp>
        <p:nvSpPr>
          <p:cNvPr id="4" name="Rounded Rectangle 3"/>
          <p:cNvSpPr/>
          <p:nvPr/>
        </p:nvSpPr>
        <p:spPr>
          <a:xfrm>
            <a:off x="548640" y="1371600"/>
            <a:ext cx="2377440" cy="1051560"/>
          </a:xfrm>
          <a:prstGeom prst="roundRect">
            <a:avLst>
              <a:gd name="adj" fmla="val 8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Aft>
                <a:spcPts val="200"/>
              </a:spcAft>
            </a:pPr>
            <a:r>
              <a:rPr sz="1400" b="1">
                <a:solidFill>
                  <a:srgbClr val="C00000"/>
                </a:solidFill>
                <a:latin typeface="メイリオ"/>
                <a:ea typeface="メイリオ"/>
                <a:cs typeface="メイリオ"/>
              </a:rPr>
              <a:t>課題①</a:t>
            </a:r>
          </a:p>
          <a:p>
            <a:pPr algn="ctr"/>
            <a:r>
              <a:rPr sz="1400" b="1">
                <a:solidFill>
                  <a:srgbClr val="C00000"/>
                </a:solidFill>
                <a:latin typeface="メイリオ"/>
                <a:ea typeface="メイリオ"/>
                <a:cs typeface="メイリオ"/>
              </a:rPr>
              <a:t>直前辞退</a:t>
            </a:r>
          </a:p>
        </p:txBody>
      </p:sp>
      <p:sp>
        <p:nvSpPr>
          <p:cNvPr id="5" name="Right Arrow 4"/>
          <p:cNvSpPr/>
          <p:nvPr/>
        </p:nvSpPr>
        <p:spPr>
          <a:xfrm>
            <a:off x="3035808" y="1700784"/>
            <a:ext cx="475488" cy="402336"/>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11880" y="1371600"/>
            <a:ext cx="5715000" cy="105156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500" b="1">
                <a:solidFill>
                  <a:srgbClr val="1F285A"/>
                </a:solidFill>
                <a:latin typeface="メイリオ"/>
                <a:ea typeface="メイリオ"/>
                <a:cs typeface="メイリオ"/>
              </a:rPr>
              <a:t>① Meta広告×LINE連携（オフラインCV最適化）</a:t>
            </a:r>
          </a:p>
          <a:p>
            <a:pPr algn="l">
              <a:lnSpc>
                <a:spcPct val="115000"/>
              </a:lnSpc>
            </a:pPr>
            <a:r>
              <a:rPr sz="1200">
                <a:solidFill>
                  <a:srgbClr val="333333"/>
                </a:solidFill>
                <a:latin typeface="メイリオ"/>
                <a:ea typeface="メイリオ"/>
                <a:cs typeface="メイリオ"/>
              </a:rPr>
              <a:t>来場・未来場データをMeta広告へ還元し、来場につながる層へ配信を最適化。</a:t>
            </a:r>
          </a:p>
        </p:txBody>
      </p:sp>
      <p:sp>
        <p:nvSpPr>
          <p:cNvPr id="7" name="Rounded Rectangle 6"/>
          <p:cNvSpPr/>
          <p:nvPr/>
        </p:nvSpPr>
        <p:spPr>
          <a:xfrm>
            <a:off x="548640" y="2578608"/>
            <a:ext cx="2377440" cy="1051560"/>
          </a:xfrm>
          <a:prstGeom prst="roundRect">
            <a:avLst>
              <a:gd name="adj" fmla="val 8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Aft>
                <a:spcPts val="200"/>
              </a:spcAft>
            </a:pPr>
            <a:r>
              <a:rPr sz="1400" b="1">
                <a:solidFill>
                  <a:srgbClr val="C00000"/>
                </a:solidFill>
                <a:latin typeface="メイリオ"/>
                <a:ea typeface="メイリオ"/>
                <a:cs typeface="メイリオ"/>
              </a:rPr>
              <a:t>課題②</a:t>
            </a:r>
          </a:p>
          <a:p>
            <a:pPr algn="ctr"/>
            <a:r>
              <a:rPr sz="1400" b="1">
                <a:solidFill>
                  <a:srgbClr val="C00000"/>
                </a:solidFill>
                <a:latin typeface="メイリオ"/>
                <a:ea typeface="メイリオ"/>
                <a:cs typeface="メイリオ"/>
              </a:rPr>
              <a:t>不安・迷い</a:t>
            </a:r>
          </a:p>
        </p:txBody>
      </p:sp>
      <p:sp>
        <p:nvSpPr>
          <p:cNvPr id="8" name="Right Arrow 7"/>
          <p:cNvSpPr/>
          <p:nvPr/>
        </p:nvSpPr>
        <p:spPr>
          <a:xfrm>
            <a:off x="3035808" y="2907792"/>
            <a:ext cx="475488" cy="402336"/>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611880" y="2578608"/>
            <a:ext cx="5715000" cy="105156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500" b="1">
                <a:solidFill>
                  <a:srgbClr val="1F285A"/>
                </a:solidFill>
                <a:latin typeface="メイリオ"/>
                <a:ea typeface="メイリオ"/>
                <a:cs typeface="メイリオ"/>
              </a:rPr>
              <a:t>② 直前リマインド・安心コンテンツ配信</a:t>
            </a:r>
          </a:p>
          <a:p>
            <a:pPr algn="l">
              <a:lnSpc>
                <a:spcPct val="115000"/>
              </a:lnSpc>
            </a:pPr>
            <a:r>
              <a:rPr sz="1200">
                <a:solidFill>
                  <a:srgbClr val="333333"/>
                </a:solidFill>
                <a:latin typeface="メイリオ"/>
                <a:ea typeface="メイリオ"/>
                <a:cs typeface="メイリオ"/>
              </a:rPr>
              <a:t>前日・当日朝のリマインドと「服装自由・履歴書不要」等のQ&amp;Aで参加辞退を抑止。</a:t>
            </a:r>
          </a:p>
        </p:txBody>
      </p:sp>
      <p:sp>
        <p:nvSpPr>
          <p:cNvPr id="10" name="Rounded Rectangle 9"/>
          <p:cNvSpPr/>
          <p:nvPr/>
        </p:nvSpPr>
        <p:spPr>
          <a:xfrm>
            <a:off x="548640" y="3785616"/>
            <a:ext cx="2377440" cy="1051560"/>
          </a:xfrm>
          <a:prstGeom prst="roundRect">
            <a:avLst>
              <a:gd name="adj" fmla="val 8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Aft>
                <a:spcPts val="200"/>
              </a:spcAft>
            </a:pPr>
            <a:r>
              <a:rPr sz="1400" b="1">
                <a:solidFill>
                  <a:srgbClr val="C00000"/>
                </a:solidFill>
                <a:latin typeface="メイリオ"/>
                <a:ea typeface="メイリオ"/>
                <a:cs typeface="メイリオ"/>
              </a:rPr>
              <a:t>課題③</a:t>
            </a:r>
          </a:p>
          <a:p>
            <a:pPr algn="ctr"/>
            <a:r>
              <a:rPr sz="1400" b="1">
                <a:solidFill>
                  <a:srgbClr val="C00000"/>
                </a:solidFill>
                <a:latin typeface="メイリオ"/>
                <a:ea typeface="メイリオ"/>
                <a:cs typeface="メイリオ"/>
              </a:rPr>
              <a:t>未応募層の離脱</a:t>
            </a:r>
          </a:p>
        </p:txBody>
      </p:sp>
      <p:sp>
        <p:nvSpPr>
          <p:cNvPr id="11" name="Right Arrow 10"/>
          <p:cNvSpPr/>
          <p:nvPr/>
        </p:nvSpPr>
        <p:spPr>
          <a:xfrm>
            <a:off x="3035808" y="4114800"/>
            <a:ext cx="475488" cy="402336"/>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611880" y="3785616"/>
            <a:ext cx="5715000" cy="105156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500" b="1">
                <a:solidFill>
                  <a:srgbClr val="1F285A"/>
                </a:solidFill>
                <a:latin typeface="メイリオ"/>
                <a:ea typeface="メイリオ"/>
                <a:cs typeface="メイリオ"/>
              </a:rPr>
              <a:t>③ 属性セグメント配信による再アプローチ</a:t>
            </a:r>
          </a:p>
          <a:p>
            <a:pPr algn="l">
              <a:lnSpc>
                <a:spcPct val="115000"/>
              </a:lnSpc>
            </a:pPr>
            <a:r>
              <a:rPr sz="1200">
                <a:solidFill>
                  <a:srgbClr val="333333"/>
                </a:solidFill>
                <a:latin typeface="メイリオ"/>
                <a:ea typeface="メイリオ"/>
                <a:cs typeface="メイリオ"/>
              </a:rPr>
              <a:t>アンケート取得した希望職種・年代をもとに、次回フェア・個別求人へ再案内。</a:t>
            </a:r>
          </a:p>
        </p:txBody>
      </p:sp>
      <p:sp>
        <p:nvSpPr>
          <p:cNvPr id="13" name="Rounded Rectangle 12"/>
          <p:cNvSpPr/>
          <p:nvPr/>
        </p:nvSpPr>
        <p:spPr>
          <a:xfrm>
            <a:off x="548640" y="5047488"/>
            <a:ext cx="8778240" cy="1005840"/>
          </a:xfrm>
          <a:prstGeom prst="roundRect">
            <a:avLst>
              <a:gd name="adj" fmla="val 8000"/>
            </a:avLst>
          </a:prstGeom>
          <a:solidFill>
            <a:srgbClr val="FFFF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200" b="1">
                <a:solidFill>
                  <a:srgbClr val="1F285A"/>
                </a:solidFill>
                <a:latin typeface="メイリオ"/>
                <a:ea typeface="メイリオ"/>
                <a:cs typeface="メイリオ"/>
              </a:rPr>
              <a:t>目標効果</a:t>
            </a:r>
          </a:p>
          <a:p>
            <a:pPr algn="ctr"/>
            <a:r>
              <a:rPr sz="1300">
                <a:solidFill>
                  <a:srgbClr val="333333"/>
                </a:solidFill>
                <a:latin typeface="メイリオ"/>
                <a:ea typeface="メイリオ"/>
                <a:cs typeface="メイリオ"/>
              </a:rPr>
              <a:t>予約→来場の参加率　</a:t>
            </a:r>
            <a:r>
              <a:rPr sz="1500" b="1">
                <a:solidFill>
                  <a:srgbClr val="333333"/>
                </a:solidFill>
                <a:latin typeface="メイリオ"/>
                <a:ea typeface="メイリオ"/>
                <a:cs typeface="メイリオ"/>
              </a:rPr>
              <a:t>60%</a:t>
            </a:r>
            <a:r>
              <a:rPr sz="1300">
                <a:solidFill>
                  <a:srgbClr val="808080"/>
                </a:solidFill>
                <a:latin typeface="メイリオ"/>
                <a:ea typeface="メイリオ"/>
                <a:cs typeface="メイリオ"/>
              </a:rPr>
              <a:t> → </a:t>
            </a:r>
            <a:r>
              <a:rPr sz="2400" b="1">
                <a:solidFill>
                  <a:srgbClr val="1F285A"/>
                </a:solidFill>
                <a:latin typeface="メイリオ"/>
                <a:ea typeface="メイリオ"/>
                <a:cs typeface="メイリオ"/>
              </a:rPr>
              <a:t>77%</a:t>
            </a:r>
            <a:r>
              <a:rPr sz="1200">
                <a:solidFill>
                  <a:srgbClr val="333333"/>
                </a:solidFill>
                <a:latin typeface="メイリオ"/>
                <a:ea typeface="メイリオ"/>
                <a:cs typeface="メイリオ"/>
              </a:rPr>
              <a:t>　（＋17pt）</a:t>
            </a:r>
          </a:p>
        </p:txBody>
      </p:sp>
      <p:sp>
        <p:nvSpPr>
          <p:cNvPr id="14" name="TextBox 13"/>
          <p:cNvSpPr txBox="1"/>
          <p:nvPr/>
        </p:nvSpPr>
        <p:spPr>
          <a:xfrm>
            <a:off x="548640" y="6126480"/>
            <a:ext cx="8778240" cy="274320"/>
          </a:xfrm>
          <a:prstGeom prst="rect">
            <a:avLst/>
          </a:prstGeom>
          <a:noFill/>
        </p:spPr>
        <p:txBody>
          <a:bodyPr wrap="square" lIns="0" tIns="18288" rIns="0" bIns="18288" anchor="t">
            <a:spAutoFit/>
          </a:bodyPr>
          <a:lstStyle/>
          <a:p>
            <a:pPr algn="l"/>
            <a:r>
              <a:rPr sz="1000">
                <a:solidFill>
                  <a:srgbClr val="808080"/>
                </a:solidFill>
                <a:latin typeface="メイリオ"/>
                <a:ea typeface="メイリオ"/>
                <a:cs typeface="メイリオ"/>
              </a:rPr>
              <a:t>※参加率はMeta広告シミュレーション（当社作成）の想定値と統一。提案後の数値は本施策の実行を前提とした目標値です。</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36576" rIns="0" bIns="36576" anchor="ctr">
            <a:spAutoFit/>
          </a:bodyPr>
          <a:lstStyle/>
          <a:p>
            <a:pPr algn="l"/>
            <a:r>
              <a:rPr sz="2000" b="1">
                <a:solidFill>
                  <a:srgbClr val="002060"/>
                </a:solidFill>
                <a:latin typeface="メイリオ"/>
                <a:ea typeface="メイリオ"/>
                <a:cs typeface="メイリオ"/>
              </a:rPr>
              <a:t>施策① メッセージ設計 Before / After</a:t>
            </a:r>
          </a:p>
        </p:txBody>
      </p:sp>
      <p:sp>
        <p:nvSpPr>
          <p:cNvPr id="3" name="TextBox 2"/>
          <p:cNvSpPr txBox="1"/>
          <p:nvPr/>
        </p:nvSpPr>
        <p:spPr>
          <a:xfrm>
            <a:off x="548640" y="640080"/>
            <a:ext cx="8778240" cy="530352"/>
          </a:xfrm>
          <a:prstGeom prst="rect">
            <a:avLst/>
          </a:prstGeom>
          <a:noFill/>
        </p:spPr>
        <p:txBody>
          <a:bodyPr wrap="square" lIns="0" tIns="36576" rIns="0" bIns="36576" anchor="ctr">
            <a:spAutoFit/>
          </a:bodyPr>
          <a:lstStyle/>
          <a:p>
            <a:pPr algn="l">
              <a:lnSpc>
                <a:spcPct val="110000"/>
              </a:lnSpc>
            </a:pPr>
            <a:r>
              <a:rPr sz="1400" b="1">
                <a:solidFill>
                  <a:srgbClr val="333333"/>
                </a:solidFill>
                <a:latin typeface="メイリオ"/>
                <a:ea typeface="メイリオ"/>
                <a:cs typeface="メイリオ"/>
              </a:rPr>
              <a:t>「予約して終わり」から「予約後に接点を持ち続ける」へ。同じ予約数でも、来場率が変わります。</a:t>
            </a:r>
          </a:p>
        </p:txBody>
      </p:sp>
      <p:sp>
        <p:nvSpPr>
          <p:cNvPr id="4" name="Rounded Rectangle 3"/>
          <p:cNvSpPr/>
          <p:nvPr/>
        </p:nvSpPr>
        <p:spPr>
          <a:xfrm>
            <a:off x="548640" y="1298448"/>
            <a:ext cx="4206240" cy="187451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2880" tIns="128016" rIns="146304" bIns="36576" rtlCol="0" anchor="t"/>
          <a:lstStyle/>
          <a:p>
            <a:pPr algn="l">
              <a:spcAft>
                <a:spcPts val="600"/>
              </a:spcAft>
            </a:pPr>
            <a:r>
              <a:rPr sz="1400" b="1">
                <a:solidFill>
                  <a:srgbClr val="C00000"/>
                </a:solidFill>
                <a:latin typeface="メイリオ"/>
                <a:ea typeface="メイリオ"/>
                <a:cs typeface="メイリオ"/>
              </a:rPr>
              <a:t>Before（現状）</a:t>
            </a:r>
          </a:p>
          <a:p>
            <a:pPr algn="l">
              <a:lnSpc>
                <a:spcPct val="115000"/>
              </a:lnSpc>
              <a:spcAft>
                <a:spcPts val="400"/>
              </a:spcAft>
            </a:pPr>
            <a:r>
              <a:rPr sz="1200">
                <a:solidFill>
                  <a:srgbClr val="333333"/>
                </a:solidFill>
                <a:latin typeface="メイリオ"/>
                <a:ea typeface="メイリオ"/>
                <a:cs typeface="メイリオ"/>
              </a:rPr>
              <a:t>・予約完了後はメールでの一方的な案内のみ</a:t>
            </a:r>
          </a:p>
          <a:p>
            <a:pPr algn="l">
              <a:lnSpc>
                <a:spcPct val="115000"/>
              </a:lnSpc>
              <a:spcAft>
                <a:spcPts val="400"/>
              </a:spcAft>
            </a:pPr>
            <a:r>
              <a:rPr sz="1200">
                <a:solidFill>
                  <a:srgbClr val="333333"/>
                </a:solidFill>
                <a:latin typeface="メイリオ"/>
                <a:ea typeface="メイリオ"/>
                <a:cs typeface="メイリオ"/>
              </a:rPr>
              <a:t>・当日までの数週間、接点が実質ゼロ</a:t>
            </a:r>
          </a:p>
          <a:p>
            <a:pPr algn="l">
              <a:lnSpc>
                <a:spcPct val="115000"/>
              </a:lnSpc>
            </a:pPr>
            <a:r>
              <a:rPr sz="1200">
                <a:solidFill>
                  <a:srgbClr val="333333"/>
                </a:solidFill>
                <a:latin typeface="メイリオ"/>
                <a:ea typeface="メイリオ"/>
                <a:cs typeface="メイリオ"/>
              </a:rPr>
              <a:t>・服装や持ち物への不安が解消されないまま当日を迎える</a:t>
            </a:r>
          </a:p>
        </p:txBody>
      </p:sp>
      <p:sp>
        <p:nvSpPr>
          <p:cNvPr id="5" name="Right Arrow 4"/>
          <p:cNvSpPr/>
          <p:nvPr/>
        </p:nvSpPr>
        <p:spPr>
          <a:xfrm>
            <a:off x="4846320" y="1993392"/>
            <a:ext cx="566928" cy="475488"/>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0" y="1298448"/>
            <a:ext cx="3840480" cy="1874519"/>
          </a:xfrm>
          <a:prstGeom prst="roundRect">
            <a:avLst>
              <a:gd name="adj" fmla="val 8000"/>
            </a:avLst>
          </a:prstGeom>
          <a:solidFill>
            <a:srgbClr val="F4F7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182880" tIns="128016" rIns="146304" bIns="36576" rtlCol="0" anchor="t"/>
          <a:lstStyle/>
          <a:p>
            <a:pPr algn="l">
              <a:spcAft>
                <a:spcPts val="600"/>
              </a:spcAft>
            </a:pPr>
            <a:r>
              <a:rPr sz="1400" b="1">
                <a:solidFill>
                  <a:srgbClr val="1F285A"/>
                </a:solidFill>
                <a:latin typeface="メイリオ"/>
                <a:ea typeface="メイリオ"/>
                <a:cs typeface="メイリオ"/>
              </a:rPr>
              <a:t>After（改善後）</a:t>
            </a:r>
          </a:p>
          <a:p>
            <a:pPr algn="l">
              <a:lnSpc>
                <a:spcPct val="115000"/>
              </a:lnSpc>
              <a:spcAft>
                <a:spcPts val="400"/>
              </a:spcAft>
            </a:pPr>
            <a:r>
              <a:rPr sz="1200">
                <a:solidFill>
                  <a:srgbClr val="333333"/>
                </a:solidFill>
                <a:latin typeface="メイリオ"/>
                <a:ea typeface="メイリオ"/>
                <a:cs typeface="メイリオ"/>
              </a:rPr>
              <a:t>・友だち追加直後にアンケート（希望職種・年代）</a:t>
            </a:r>
          </a:p>
          <a:p>
            <a:pPr algn="l">
              <a:lnSpc>
                <a:spcPct val="115000"/>
              </a:lnSpc>
              <a:spcAft>
                <a:spcPts val="400"/>
              </a:spcAft>
            </a:pPr>
            <a:r>
              <a:rPr sz="1200">
                <a:solidFill>
                  <a:srgbClr val="333333"/>
                </a:solidFill>
                <a:latin typeface="メイリオ"/>
                <a:ea typeface="メイリオ"/>
                <a:cs typeface="メイリオ"/>
              </a:rPr>
              <a:t>・「服装自由・履歴書不要」等の安心Q&amp;Aを自動送付</a:t>
            </a:r>
          </a:p>
          <a:p>
            <a:pPr algn="l">
              <a:lnSpc>
                <a:spcPct val="115000"/>
              </a:lnSpc>
            </a:pPr>
            <a:r>
              <a:rPr sz="1200">
                <a:solidFill>
                  <a:srgbClr val="333333"/>
                </a:solidFill>
                <a:latin typeface="メイリオ"/>
                <a:ea typeface="メイリオ"/>
                <a:cs typeface="メイリオ"/>
              </a:rPr>
              <a:t>・前日・当日朝にリマインドで来場を後押し</a:t>
            </a:r>
          </a:p>
        </p:txBody>
      </p:sp>
      <p:sp>
        <p:nvSpPr>
          <p:cNvPr id="7" name="TextBox 6"/>
          <p:cNvSpPr txBox="1"/>
          <p:nvPr/>
        </p:nvSpPr>
        <p:spPr>
          <a:xfrm>
            <a:off x="548640" y="3346704"/>
            <a:ext cx="8778240" cy="310896"/>
          </a:xfrm>
          <a:prstGeom prst="rect">
            <a:avLst/>
          </a:prstGeom>
          <a:noFill/>
        </p:spPr>
        <p:txBody>
          <a:bodyPr wrap="square" lIns="0" tIns="36576" rIns="73152" bIns="36576" anchor="t">
            <a:spAutoFit/>
          </a:bodyPr>
          <a:lstStyle/>
          <a:p>
            <a:pPr algn="l"/>
            <a:r>
              <a:rPr sz="1300" b="1">
                <a:solidFill>
                  <a:srgbClr val="1F285A"/>
                </a:solidFill>
                <a:latin typeface="メイリオ"/>
                <a:ea typeface="メイリオ"/>
                <a:cs typeface="メイリオ"/>
              </a:rPr>
              <a:t>設計の考え方｜「情報を送る」のではなく「不安を消す」</a:t>
            </a:r>
          </a:p>
        </p:txBody>
      </p:sp>
      <p:sp>
        <p:nvSpPr>
          <p:cNvPr id="8" name="Rounded Rectangle 7"/>
          <p:cNvSpPr/>
          <p:nvPr/>
        </p:nvSpPr>
        <p:spPr>
          <a:xfrm>
            <a:off x="548640" y="3712463"/>
            <a:ext cx="2788920" cy="146304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300" b="1">
                <a:solidFill>
                  <a:srgbClr val="1F285A"/>
                </a:solidFill>
                <a:latin typeface="メイリオ"/>
                <a:ea typeface="メイリオ"/>
                <a:cs typeface="メイリオ"/>
              </a:rPr>
              <a:t>① 価値を先に渡す</a:t>
            </a:r>
          </a:p>
          <a:p>
            <a:pPr algn="l">
              <a:lnSpc>
                <a:spcPct val="115000"/>
              </a:lnSpc>
            </a:pPr>
            <a:r>
              <a:rPr sz="1200">
                <a:solidFill>
                  <a:srgbClr val="333333"/>
                </a:solidFill>
                <a:latin typeface="メイリオ"/>
                <a:ea typeface="メイリオ"/>
                <a:cs typeface="メイリオ"/>
              </a:rPr>
              <a:t>登録直後に診断・特典を提供し、「登録してよかった」を作る</a:t>
            </a:r>
          </a:p>
        </p:txBody>
      </p:sp>
      <p:sp>
        <p:nvSpPr>
          <p:cNvPr id="9" name="Rounded Rectangle 8"/>
          <p:cNvSpPr/>
          <p:nvPr/>
        </p:nvSpPr>
        <p:spPr>
          <a:xfrm>
            <a:off x="3547872" y="3712463"/>
            <a:ext cx="2788920" cy="146304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300" b="1">
                <a:solidFill>
                  <a:srgbClr val="1F285A"/>
                </a:solidFill>
                <a:latin typeface="メイリオ"/>
                <a:ea typeface="メイリオ"/>
                <a:cs typeface="メイリオ"/>
              </a:rPr>
              <a:t>② 不安を先回りで消す</a:t>
            </a:r>
          </a:p>
          <a:p>
            <a:pPr algn="l">
              <a:lnSpc>
                <a:spcPct val="115000"/>
              </a:lnSpc>
            </a:pPr>
            <a:r>
              <a:rPr sz="1200">
                <a:solidFill>
                  <a:srgbClr val="333333"/>
                </a:solidFill>
                <a:latin typeface="メイリオ"/>
                <a:ea typeface="メイリオ"/>
                <a:cs typeface="メイリオ"/>
              </a:rPr>
              <a:t>服装・持ち物・回り方など、当日を具体的に想像できる状態に</a:t>
            </a:r>
          </a:p>
        </p:txBody>
      </p:sp>
      <p:sp>
        <p:nvSpPr>
          <p:cNvPr id="10" name="Rounded Rectangle 9"/>
          <p:cNvSpPr/>
          <p:nvPr/>
        </p:nvSpPr>
        <p:spPr>
          <a:xfrm>
            <a:off x="6547103" y="3712463"/>
            <a:ext cx="2788920" cy="146304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300" b="1">
                <a:solidFill>
                  <a:srgbClr val="1F285A"/>
                </a:solidFill>
                <a:latin typeface="メイリオ"/>
                <a:ea typeface="メイリオ"/>
                <a:cs typeface="メイリオ"/>
              </a:rPr>
              <a:t>③ 決断を後押しする</a:t>
            </a:r>
          </a:p>
          <a:p>
            <a:pPr algn="l">
              <a:lnSpc>
                <a:spcPct val="115000"/>
              </a:lnSpc>
            </a:pPr>
            <a:r>
              <a:rPr sz="1200">
                <a:solidFill>
                  <a:srgbClr val="333333"/>
                </a:solidFill>
                <a:latin typeface="メイリオ"/>
                <a:ea typeface="メイリオ"/>
                <a:cs typeface="メイリオ"/>
              </a:rPr>
              <a:t>前日・当日朝のリマインドで「行く」を最後に確定させる</a:t>
            </a:r>
          </a:p>
        </p:txBody>
      </p:sp>
      <p:sp>
        <p:nvSpPr>
          <p:cNvPr id="11" name="Rounded Rectangle 10"/>
          <p:cNvSpPr/>
          <p:nvPr/>
        </p:nvSpPr>
        <p:spPr>
          <a:xfrm>
            <a:off x="548640" y="5394960"/>
            <a:ext cx="8778240" cy="47548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予約後の空白期間を埋めることが、来場率を左右する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7772400" cy="365760"/>
          </a:xfrm>
          <a:prstGeom prst="rect">
            <a:avLst/>
          </a:prstGeom>
          <a:noFill/>
        </p:spPr>
        <p:txBody>
          <a:bodyPr wrap="none">
            <a:spAutoFit/>
          </a:bodyPr>
          <a:lstStyle/>
          <a:p>
            <a:r>
              <a:rPr sz="2000" b="1">
                <a:solidFill>
                  <a:srgbClr val="002060"/>
                </a:solidFill>
                <a:latin typeface="メイリオ"/>
              </a:rPr>
              <a:t>参考：人材・イベント業界の運用事例（ツナグバ）</a:t>
            </a:r>
          </a:p>
        </p:txBody>
      </p:sp>
      <p:sp>
        <p:nvSpPr>
          <p:cNvPr id="3" name="TextBox 2"/>
          <p:cNvSpPr txBox="1"/>
          <p:nvPr/>
        </p:nvSpPr>
        <p:spPr>
          <a:xfrm>
            <a:off x="548640" y="640080"/>
            <a:ext cx="8778240" cy="502920"/>
          </a:xfrm>
          <a:prstGeom prst="rect">
            <a:avLst/>
          </a:prstGeom>
          <a:noFill/>
        </p:spPr>
        <p:txBody>
          <a:bodyPr wrap="square">
            <a:spAutoFit/>
          </a:bodyPr>
          <a:lstStyle/>
          <a:p>
            <a:r>
              <a:rPr sz="1400" b="1">
                <a:solidFill>
                  <a:srgbClr val="333333"/>
                </a:solidFill>
                <a:latin typeface="メイリオ"/>
              </a:rPr>
              <a:t>認証済みアカウントで実現できる配信の実例です。診断コンテンツ・パーソナライズ配信・事例カードが、目指す姿になります。</a:t>
            </a:r>
          </a:p>
        </p:txBody>
      </p:sp>
      <p:pic>
        <p:nvPicPr>
          <p:cNvPr id="4" name="Picture 3" descr="0c1f4d51-f7d1-4112-a0fc-6e972ba73fd5.jpg"/>
          <p:cNvPicPr>
            <a:picLocks noChangeAspect="1"/>
          </p:cNvPicPr>
          <p:nvPr/>
        </p:nvPicPr>
        <p:blipFill>
          <a:blip r:embed="rId2"/>
          <a:stretch>
            <a:fillRect/>
          </a:stretch>
        </p:blipFill>
        <p:spPr>
          <a:xfrm>
            <a:off x="968157" y="1371600"/>
            <a:ext cx="1858446" cy="4023360"/>
          </a:xfrm>
          <a:prstGeom prst="rect">
            <a:avLst/>
          </a:prstGeom>
        </p:spPr>
      </p:pic>
      <p:sp>
        <p:nvSpPr>
          <p:cNvPr id="5" name="TextBox 4"/>
          <p:cNvSpPr txBox="1"/>
          <p:nvPr/>
        </p:nvSpPr>
        <p:spPr>
          <a:xfrm>
            <a:off x="548640" y="5440680"/>
            <a:ext cx="2697480" cy="320040"/>
          </a:xfrm>
          <a:prstGeom prst="rect">
            <a:avLst/>
          </a:prstGeom>
          <a:noFill/>
        </p:spPr>
        <p:txBody>
          <a:bodyPr wrap="none">
            <a:spAutoFit/>
          </a:bodyPr>
          <a:lstStyle/>
          <a:p>
            <a:pPr algn="ctr"/>
            <a:r>
              <a:rPr sz="1300" b="1">
                <a:solidFill>
                  <a:srgbClr val="1F285A"/>
                </a:solidFill>
                <a:latin typeface="メイリオ"/>
              </a:rPr>
              <a:t>① マッチ度診断への誘導配信</a:t>
            </a:r>
          </a:p>
        </p:txBody>
      </p:sp>
      <p:pic>
        <p:nvPicPr>
          <p:cNvPr id="6" name="Picture 5" descr="5d942e0a-4bc9-4f34-b0eb-b13ae690f562.jpg"/>
          <p:cNvPicPr>
            <a:picLocks noChangeAspect="1"/>
          </p:cNvPicPr>
          <p:nvPr/>
        </p:nvPicPr>
        <p:blipFill>
          <a:blip r:embed="rId3"/>
          <a:stretch>
            <a:fillRect/>
          </a:stretch>
        </p:blipFill>
        <p:spPr>
          <a:xfrm>
            <a:off x="3848517" y="1371600"/>
            <a:ext cx="1858446" cy="4023360"/>
          </a:xfrm>
          <a:prstGeom prst="rect">
            <a:avLst/>
          </a:prstGeom>
        </p:spPr>
      </p:pic>
      <p:sp>
        <p:nvSpPr>
          <p:cNvPr id="7" name="TextBox 6"/>
          <p:cNvSpPr txBox="1"/>
          <p:nvPr/>
        </p:nvSpPr>
        <p:spPr>
          <a:xfrm>
            <a:off x="3429000" y="5440680"/>
            <a:ext cx="2697480" cy="320040"/>
          </a:xfrm>
          <a:prstGeom prst="rect">
            <a:avLst/>
          </a:prstGeom>
          <a:noFill/>
        </p:spPr>
        <p:txBody>
          <a:bodyPr wrap="none">
            <a:spAutoFit/>
          </a:bodyPr>
          <a:lstStyle/>
          <a:p>
            <a:pPr algn="ctr"/>
            <a:r>
              <a:rPr sz="1300" b="1">
                <a:solidFill>
                  <a:srgbClr val="1F285A"/>
                </a:solidFill>
                <a:latin typeface="メイリオ"/>
              </a:rPr>
              <a:t>② 診断カード（リッチメッセージ）</a:t>
            </a:r>
          </a:p>
        </p:txBody>
      </p:sp>
      <p:pic>
        <p:nvPicPr>
          <p:cNvPr id="8" name="Picture 7" descr="e435654c-90ad-4653-8c1b-58ad2c2b6dc1.jpg"/>
          <p:cNvPicPr>
            <a:picLocks noChangeAspect="1"/>
          </p:cNvPicPr>
          <p:nvPr/>
        </p:nvPicPr>
        <p:blipFill>
          <a:blip r:embed="rId4"/>
          <a:stretch>
            <a:fillRect/>
          </a:stretch>
        </p:blipFill>
        <p:spPr>
          <a:xfrm>
            <a:off x="6728877" y="1371600"/>
            <a:ext cx="1858446" cy="4023360"/>
          </a:xfrm>
          <a:prstGeom prst="rect">
            <a:avLst/>
          </a:prstGeom>
        </p:spPr>
      </p:pic>
      <p:sp>
        <p:nvSpPr>
          <p:cNvPr id="9" name="TextBox 8"/>
          <p:cNvSpPr txBox="1"/>
          <p:nvPr/>
        </p:nvSpPr>
        <p:spPr>
          <a:xfrm>
            <a:off x="6309360" y="5440680"/>
            <a:ext cx="2697480" cy="320040"/>
          </a:xfrm>
          <a:prstGeom prst="rect">
            <a:avLst/>
          </a:prstGeom>
          <a:noFill/>
        </p:spPr>
        <p:txBody>
          <a:bodyPr wrap="none">
            <a:spAutoFit/>
          </a:bodyPr>
          <a:lstStyle/>
          <a:p>
            <a:pPr algn="ctr"/>
            <a:r>
              <a:rPr sz="1300" b="1">
                <a:solidFill>
                  <a:srgbClr val="1F285A"/>
                </a:solidFill>
                <a:latin typeface="メイリオ"/>
              </a:rPr>
              <a:t>③ 年収アップ事例＋面談予約</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36576" rIns="0" bIns="36576" anchor="ctr">
            <a:spAutoFit/>
          </a:bodyPr>
          <a:lstStyle/>
          <a:p>
            <a:pPr algn="l"/>
            <a:r>
              <a:rPr sz="2000" b="1">
                <a:solidFill>
                  <a:srgbClr val="002060"/>
                </a:solidFill>
                <a:latin typeface="メイリオ"/>
                <a:ea typeface="メイリオ"/>
                <a:cs typeface="メイリオ"/>
              </a:rPr>
              <a:t>具体施策① 友だち追加直後の属性取得アンケート</a:t>
            </a:r>
          </a:p>
        </p:txBody>
      </p:sp>
      <p:sp>
        <p:nvSpPr>
          <p:cNvPr id="3" name="TextBox 2"/>
          <p:cNvSpPr txBox="1"/>
          <p:nvPr/>
        </p:nvSpPr>
        <p:spPr>
          <a:xfrm>
            <a:off x="548640" y="640080"/>
            <a:ext cx="8778240" cy="530352"/>
          </a:xfrm>
          <a:prstGeom prst="rect">
            <a:avLst/>
          </a:prstGeom>
          <a:noFill/>
        </p:spPr>
        <p:txBody>
          <a:bodyPr wrap="square" lIns="0" tIns="36576" rIns="0" bIns="36576" anchor="ctr">
            <a:spAutoFit/>
          </a:bodyPr>
          <a:lstStyle/>
          <a:p>
            <a:pPr algn="l">
              <a:lnSpc>
                <a:spcPct val="110000"/>
              </a:lnSpc>
            </a:pPr>
            <a:r>
              <a:rPr sz="1400" b="1">
                <a:solidFill>
                  <a:srgbClr val="333333"/>
                </a:solidFill>
                <a:latin typeface="メイリオ"/>
                <a:ea typeface="メイリオ"/>
                <a:cs typeface="メイリオ"/>
              </a:rPr>
              <a:t>「30秒でわかる希望条件診断」で回答ハードルを下げ、取得した属性を来場後の追客まで活用します。</a:t>
            </a:r>
          </a:p>
        </p:txBody>
      </p:sp>
      <p:sp>
        <p:nvSpPr>
          <p:cNvPr id="4" name="TextBox 3"/>
          <p:cNvSpPr txBox="1"/>
          <p:nvPr/>
        </p:nvSpPr>
        <p:spPr>
          <a:xfrm>
            <a:off x="548640" y="1280160"/>
            <a:ext cx="4297680" cy="292608"/>
          </a:xfrm>
          <a:prstGeom prst="rect">
            <a:avLst/>
          </a:prstGeom>
          <a:noFill/>
        </p:spPr>
        <p:txBody>
          <a:bodyPr wrap="square" lIns="0" tIns="36576" rIns="73152" bIns="36576" anchor="t">
            <a:spAutoFit/>
          </a:bodyPr>
          <a:lstStyle/>
          <a:p>
            <a:pPr algn="l"/>
            <a:r>
              <a:rPr sz="1300" b="1">
                <a:solidFill>
                  <a:srgbClr val="1F285A"/>
                </a:solidFill>
                <a:latin typeface="メイリオ"/>
                <a:ea typeface="メイリオ"/>
                <a:cs typeface="メイリオ"/>
              </a:rPr>
              <a:t>アンケート設問（案）</a:t>
            </a:r>
          </a:p>
        </p:txBody>
      </p:sp>
      <p:sp>
        <p:nvSpPr>
          <p:cNvPr id="5" name="Rounded Rectangle 4"/>
          <p:cNvSpPr/>
          <p:nvPr/>
        </p:nvSpPr>
        <p:spPr>
          <a:xfrm>
            <a:off x="548640" y="1627632"/>
            <a:ext cx="4297680" cy="91440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54864" rIns="109728" bIns="54864" rtlCol="0" anchor="ctr"/>
          <a:lstStyle/>
          <a:p>
            <a:pPr algn="l">
              <a:spcAft>
                <a:spcPts val="400"/>
              </a:spcAft>
            </a:pPr>
            <a:r>
              <a:rPr sz="1200" b="1">
                <a:solidFill>
                  <a:srgbClr val="1F285A"/>
                </a:solidFill>
                <a:latin typeface="メイリオ"/>
                <a:ea typeface="メイリオ"/>
                <a:cs typeface="メイリオ"/>
              </a:rPr>
              <a:t>Q1　</a:t>
            </a:r>
            <a:r>
              <a:rPr sz="1300" b="1">
                <a:solidFill>
                  <a:srgbClr val="333333"/>
                </a:solidFill>
                <a:latin typeface="メイリオ"/>
                <a:ea typeface="メイリオ"/>
                <a:cs typeface="メイリオ"/>
              </a:rPr>
              <a:t>希望職種は？</a:t>
            </a:r>
          </a:p>
          <a:p>
            <a:pPr algn="l">
              <a:lnSpc>
                <a:spcPct val="115000"/>
              </a:lnSpc>
            </a:pPr>
            <a:r>
              <a:rPr sz="1100">
                <a:solidFill>
                  <a:srgbClr val="333333"/>
                </a:solidFill>
                <a:latin typeface="メイリオ"/>
                <a:ea typeface="メイリオ"/>
                <a:cs typeface="メイリオ"/>
              </a:rPr>
              <a:t>事務／製造・軽作業／販売・サービス／営業／その他</a:t>
            </a:r>
          </a:p>
        </p:txBody>
      </p:sp>
      <p:sp>
        <p:nvSpPr>
          <p:cNvPr id="6" name="Rounded Rectangle 5"/>
          <p:cNvSpPr/>
          <p:nvPr/>
        </p:nvSpPr>
        <p:spPr>
          <a:xfrm>
            <a:off x="548640" y="2688336"/>
            <a:ext cx="4297680" cy="91440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54864" rIns="109728" bIns="54864" rtlCol="0" anchor="ctr"/>
          <a:lstStyle/>
          <a:p>
            <a:pPr algn="l">
              <a:spcAft>
                <a:spcPts val="400"/>
              </a:spcAft>
            </a:pPr>
            <a:r>
              <a:rPr sz="1200" b="1">
                <a:solidFill>
                  <a:srgbClr val="1F285A"/>
                </a:solidFill>
                <a:latin typeface="メイリオ"/>
                <a:ea typeface="メイリオ"/>
                <a:cs typeface="メイリオ"/>
              </a:rPr>
              <a:t>Q2　</a:t>
            </a:r>
            <a:r>
              <a:rPr sz="1300" b="1">
                <a:solidFill>
                  <a:srgbClr val="333333"/>
                </a:solidFill>
                <a:latin typeface="メイリオ"/>
                <a:ea typeface="メイリオ"/>
                <a:cs typeface="メイリオ"/>
              </a:rPr>
              <a:t>就職・転職の希望時期は？</a:t>
            </a:r>
          </a:p>
          <a:p>
            <a:pPr algn="l">
              <a:lnSpc>
                <a:spcPct val="115000"/>
              </a:lnSpc>
            </a:pPr>
            <a:r>
              <a:rPr sz="1100">
                <a:solidFill>
                  <a:srgbClr val="333333"/>
                </a:solidFill>
                <a:latin typeface="メイリオ"/>
                <a:ea typeface="メイリオ"/>
                <a:cs typeface="メイリオ"/>
              </a:rPr>
              <a:t>すぐにでも／3ヶ月以内／半年以内／情報収集中</a:t>
            </a:r>
          </a:p>
        </p:txBody>
      </p:sp>
      <p:sp>
        <p:nvSpPr>
          <p:cNvPr id="7" name="Rounded Rectangle 6"/>
          <p:cNvSpPr/>
          <p:nvPr/>
        </p:nvSpPr>
        <p:spPr>
          <a:xfrm>
            <a:off x="548640" y="3749039"/>
            <a:ext cx="4297680" cy="91440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54864" rIns="109728" bIns="54864" rtlCol="0" anchor="ctr"/>
          <a:lstStyle/>
          <a:p>
            <a:pPr algn="l">
              <a:spcAft>
                <a:spcPts val="400"/>
              </a:spcAft>
            </a:pPr>
            <a:r>
              <a:rPr sz="1200" b="1">
                <a:solidFill>
                  <a:srgbClr val="1F285A"/>
                </a:solidFill>
                <a:latin typeface="メイリオ"/>
                <a:ea typeface="メイリオ"/>
                <a:cs typeface="メイリオ"/>
              </a:rPr>
              <a:t>Q3　</a:t>
            </a:r>
            <a:r>
              <a:rPr sz="1300" b="1">
                <a:solidFill>
                  <a:srgbClr val="333333"/>
                </a:solidFill>
                <a:latin typeface="メイリオ"/>
                <a:ea typeface="メイリオ"/>
                <a:cs typeface="メイリオ"/>
              </a:rPr>
              <a:t>重視する条件は？</a:t>
            </a:r>
          </a:p>
          <a:p>
            <a:pPr algn="l">
              <a:lnSpc>
                <a:spcPct val="115000"/>
              </a:lnSpc>
            </a:pPr>
            <a:r>
              <a:rPr sz="1100">
                <a:solidFill>
                  <a:srgbClr val="333333"/>
                </a:solidFill>
                <a:latin typeface="メイリオ"/>
                <a:ea typeface="メイリオ"/>
                <a:cs typeface="メイリオ"/>
              </a:rPr>
              <a:t>給与／勤務地／休日／未経験歓迎</a:t>
            </a:r>
          </a:p>
        </p:txBody>
      </p:sp>
      <p:sp>
        <p:nvSpPr>
          <p:cNvPr id="8" name="TextBox 7"/>
          <p:cNvSpPr txBox="1"/>
          <p:nvPr/>
        </p:nvSpPr>
        <p:spPr>
          <a:xfrm>
            <a:off x="548640" y="4846320"/>
            <a:ext cx="4297680" cy="310896"/>
          </a:xfrm>
          <a:prstGeom prst="rect">
            <a:avLst/>
          </a:prstGeom>
          <a:noFill/>
        </p:spPr>
        <p:txBody>
          <a:bodyPr wrap="square" lIns="0" tIns="36576" rIns="73152" bIns="36576" anchor="t">
            <a:spAutoFit/>
          </a:bodyPr>
          <a:lstStyle/>
          <a:p>
            <a:pPr algn="l"/>
            <a:r>
              <a:rPr sz="1150">
                <a:solidFill>
                  <a:srgbClr val="333333"/>
                </a:solidFill>
                <a:latin typeface="メイリオ"/>
                <a:ea typeface="メイリオ"/>
                <a:cs typeface="メイリオ"/>
              </a:rPr>
              <a:t>いずれもボタン選択式。所要30秒で完了します。</a:t>
            </a:r>
          </a:p>
        </p:txBody>
      </p:sp>
      <p:sp>
        <p:nvSpPr>
          <p:cNvPr id="9" name="TextBox 8"/>
          <p:cNvSpPr txBox="1"/>
          <p:nvPr/>
        </p:nvSpPr>
        <p:spPr>
          <a:xfrm>
            <a:off x="5120640" y="1280160"/>
            <a:ext cx="4206240" cy="292608"/>
          </a:xfrm>
          <a:prstGeom prst="rect">
            <a:avLst/>
          </a:prstGeom>
          <a:noFill/>
        </p:spPr>
        <p:txBody>
          <a:bodyPr wrap="square" lIns="0" tIns="36576" rIns="73152" bIns="36576" anchor="t">
            <a:spAutoFit/>
          </a:bodyPr>
          <a:lstStyle/>
          <a:p>
            <a:pPr algn="l"/>
            <a:r>
              <a:rPr sz="1300" b="1">
                <a:solidFill>
                  <a:srgbClr val="1F285A"/>
                </a:solidFill>
                <a:latin typeface="メイリオ"/>
                <a:ea typeface="メイリオ"/>
                <a:cs typeface="メイリオ"/>
              </a:rPr>
              <a:t>取得した属性の活用</a:t>
            </a:r>
          </a:p>
        </p:txBody>
      </p:sp>
      <p:sp>
        <p:nvSpPr>
          <p:cNvPr id="10" name="Rounded Rectangle 9"/>
          <p:cNvSpPr/>
          <p:nvPr/>
        </p:nvSpPr>
        <p:spPr>
          <a:xfrm>
            <a:off x="5120640" y="1627632"/>
            <a:ext cx="4206240" cy="9144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300" b="1">
                <a:solidFill>
                  <a:srgbClr val="1F285A"/>
                </a:solidFill>
                <a:latin typeface="メイリオ"/>
                <a:ea typeface="メイリオ"/>
                <a:cs typeface="メイリオ"/>
              </a:rPr>
              <a:t>① タグ付けによる自動仕分け</a:t>
            </a:r>
          </a:p>
          <a:p>
            <a:pPr algn="l">
              <a:lnSpc>
                <a:spcPct val="115000"/>
              </a:lnSpc>
            </a:pPr>
            <a:r>
              <a:rPr sz="1150">
                <a:solidFill>
                  <a:srgbClr val="333333"/>
                </a:solidFill>
                <a:latin typeface="メイリオ"/>
                <a:ea typeface="メイリオ"/>
                <a:cs typeface="メイリオ"/>
              </a:rPr>
              <a:t>回答内容をタグとして自動付与し、希望職種・時期別にリスト化。</a:t>
            </a:r>
          </a:p>
        </p:txBody>
      </p:sp>
      <p:sp>
        <p:nvSpPr>
          <p:cNvPr id="11" name="Rounded Rectangle 10"/>
          <p:cNvSpPr/>
          <p:nvPr/>
        </p:nvSpPr>
        <p:spPr>
          <a:xfrm>
            <a:off x="5120640" y="2688336"/>
            <a:ext cx="4206240" cy="9144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300" b="1">
                <a:solidFill>
                  <a:srgbClr val="1F285A"/>
                </a:solidFill>
                <a:latin typeface="メイリオ"/>
                <a:ea typeface="メイリオ"/>
                <a:cs typeface="メイリオ"/>
              </a:rPr>
              <a:t>② セグメント配信</a:t>
            </a:r>
          </a:p>
          <a:p>
            <a:pPr algn="l">
              <a:lnSpc>
                <a:spcPct val="115000"/>
              </a:lnSpc>
            </a:pPr>
            <a:r>
              <a:rPr sz="1150">
                <a:solidFill>
                  <a:srgbClr val="333333"/>
                </a:solidFill>
                <a:latin typeface="メイリオ"/>
                <a:ea typeface="メイリオ"/>
                <a:cs typeface="メイリオ"/>
              </a:rPr>
              <a:t>「事務希望×すぐにでも」など、条件に合う出展企業だけを案内。</a:t>
            </a:r>
          </a:p>
        </p:txBody>
      </p:sp>
      <p:sp>
        <p:nvSpPr>
          <p:cNvPr id="12" name="Rounded Rectangle 11"/>
          <p:cNvSpPr/>
          <p:nvPr/>
        </p:nvSpPr>
        <p:spPr>
          <a:xfrm>
            <a:off x="5120640" y="3749039"/>
            <a:ext cx="4206240" cy="9144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300" b="1">
                <a:solidFill>
                  <a:srgbClr val="1F285A"/>
                </a:solidFill>
                <a:latin typeface="メイリオ"/>
                <a:ea typeface="メイリオ"/>
                <a:cs typeface="メイリオ"/>
              </a:rPr>
              <a:t>③ イベント後の追客</a:t>
            </a:r>
          </a:p>
          <a:p>
            <a:pPr algn="l">
              <a:lnSpc>
                <a:spcPct val="115000"/>
              </a:lnSpc>
            </a:pPr>
            <a:r>
              <a:rPr sz="1150">
                <a:solidFill>
                  <a:srgbClr val="333333"/>
                </a:solidFill>
                <a:latin typeface="メイリオ"/>
                <a:ea typeface="メイリオ"/>
                <a:cs typeface="メイリオ"/>
              </a:rPr>
              <a:t>未応募の求職者へ、次回フェア・個別求人をタグ別に再案内。</a:t>
            </a:r>
          </a:p>
        </p:txBody>
      </p:sp>
      <p:sp>
        <p:nvSpPr>
          <p:cNvPr id="13" name="Rounded Rectangle 12"/>
          <p:cNvSpPr/>
          <p:nvPr/>
        </p:nvSpPr>
        <p:spPr>
          <a:xfrm>
            <a:off x="548640" y="5358384"/>
            <a:ext cx="8778240" cy="47548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アンケートは「聞く」ためではなく、配信を当てるための設計</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36576" rIns="0" bIns="36576" anchor="ctr">
            <a:spAutoFit/>
          </a:bodyPr>
          <a:lstStyle/>
          <a:p>
            <a:pPr algn="l"/>
            <a:r>
              <a:rPr sz="2000" b="1">
                <a:solidFill>
                  <a:srgbClr val="002060"/>
                </a:solidFill>
                <a:latin typeface="メイリオ"/>
                <a:ea typeface="メイリオ"/>
                <a:cs typeface="メイリオ"/>
              </a:rPr>
              <a:t>具体施策② リッチメニュー設計（曜日・時間帯別の出し分け）</a:t>
            </a:r>
          </a:p>
        </p:txBody>
      </p:sp>
      <p:sp>
        <p:nvSpPr>
          <p:cNvPr id="3" name="TextBox 2"/>
          <p:cNvSpPr txBox="1"/>
          <p:nvPr/>
        </p:nvSpPr>
        <p:spPr>
          <a:xfrm>
            <a:off x="548640" y="640080"/>
            <a:ext cx="8778240" cy="530352"/>
          </a:xfrm>
          <a:prstGeom prst="rect">
            <a:avLst/>
          </a:prstGeom>
          <a:noFill/>
        </p:spPr>
        <p:txBody>
          <a:bodyPr wrap="square" lIns="0" tIns="36576" rIns="0" bIns="36576" anchor="ctr">
            <a:spAutoFit/>
          </a:bodyPr>
          <a:lstStyle/>
          <a:p>
            <a:pPr algn="l">
              <a:lnSpc>
                <a:spcPct val="110000"/>
              </a:lnSpc>
            </a:pPr>
            <a:r>
              <a:rPr sz="1400" b="1">
                <a:solidFill>
                  <a:srgbClr val="333333"/>
                </a:solidFill>
                <a:latin typeface="メイリオ"/>
                <a:ea typeface="メイリオ"/>
                <a:cs typeface="メイリオ"/>
              </a:rPr>
              <a:t>求める情報へ1タップで遷移できる6エリア構成とし、週末は「決断を促す」構成へ切り替えます。</a:t>
            </a:r>
          </a:p>
        </p:txBody>
      </p:sp>
      <p:sp>
        <p:nvSpPr>
          <p:cNvPr id="4" name="Rectangle 3"/>
          <p:cNvSpPr/>
          <p:nvPr/>
        </p:nvSpPr>
        <p:spPr>
          <a:xfrm>
            <a:off x="548640" y="1325880"/>
            <a:ext cx="4160520" cy="3246120"/>
          </a:xfrm>
          <a:prstGeom prst="rect">
            <a:avLst/>
          </a:prstGeom>
          <a:solidFill>
            <a:srgbClr val="FFFFFF"/>
          </a:solidFill>
          <a:ln w="2222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371600"/>
            <a:ext cx="1325880" cy="1554480"/>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15000"/>
              </a:lnSpc>
            </a:pPr>
            <a:r>
              <a:rPr sz="1100" b="1">
                <a:solidFill>
                  <a:srgbClr val="1F285A"/>
                </a:solidFill>
                <a:latin typeface="メイリオ"/>
                <a:ea typeface="メイリオ"/>
                <a:cs typeface="メイリオ"/>
              </a:rPr>
              <a:t>出展企業一覧</a:t>
            </a:r>
          </a:p>
        </p:txBody>
      </p:sp>
      <p:sp>
        <p:nvSpPr>
          <p:cNvPr id="6" name="Rectangle 5"/>
          <p:cNvSpPr/>
          <p:nvPr/>
        </p:nvSpPr>
        <p:spPr>
          <a:xfrm>
            <a:off x="1965960" y="1371600"/>
            <a:ext cx="1325880" cy="1554480"/>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15000"/>
              </a:lnSpc>
            </a:pPr>
            <a:r>
              <a:rPr sz="1100" b="1">
                <a:solidFill>
                  <a:srgbClr val="1F285A"/>
                </a:solidFill>
                <a:latin typeface="メイリオ"/>
                <a:ea typeface="メイリオ"/>
                <a:cs typeface="メイリオ"/>
              </a:rPr>
              <a:t>会場MAP</a:t>
            </a:r>
          </a:p>
          <a:p>
            <a:pPr algn="ctr">
              <a:lnSpc>
                <a:spcPct val="115000"/>
              </a:lnSpc>
            </a:pPr>
            <a:r>
              <a:rPr sz="1100" b="1">
                <a:solidFill>
                  <a:srgbClr val="1F285A"/>
                </a:solidFill>
                <a:latin typeface="メイリオ"/>
                <a:ea typeface="メイリオ"/>
                <a:cs typeface="メイリオ"/>
              </a:rPr>
              <a:t>アクセス</a:t>
            </a:r>
          </a:p>
        </p:txBody>
      </p:sp>
      <p:sp>
        <p:nvSpPr>
          <p:cNvPr id="7" name="Rectangle 6"/>
          <p:cNvSpPr/>
          <p:nvPr/>
        </p:nvSpPr>
        <p:spPr>
          <a:xfrm>
            <a:off x="3337560" y="1371600"/>
            <a:ext cx="1325880" cy="1554480"/>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15000"/>
              </a:lnSpc>
            </a:pPr>
            <a:r>
              <a:rPr sz="1100" b="1">
                <a:solidFill>
                  <a:srgbClr val="1F285A"/>
                </a:solidFill>
                <a:latin typeface="メイリオ"/>
                <a:ea typeface="メイリオ"/>
                <a:cs typeface="メイリオ"/>
              </a:rPr>
              <a:t>開催日程</a:t>
            </a:r>
          </a:p>
        </p:txBody>
      </p:sp>
      <p:sp>
        <p:nvSpPr>
          <p:cNvPr id="8" name="Rectangle 7"/>
          <p:cNvSpPr/>
          <p:nvPr/>
        </p:nvSpPr>
        <p:spPr>
          <a:xfrm>
            <a:off x="594360" y="2971800"/>
            <a:ext cx="1325880" cy="155448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15000"/>
              </a:lnSpc>
            </a:pPr>
            <a:r>
              <a:rPr sz="1100" b="1">
                <a:solidFill>
                  <a:srgbClr val="FFFFFF"/>
                </a:solidFill>
                <a:latin typeface="メイリオ"/>
                <a:ea typeface="メイリオ"/>
                <a:cs typeface="メイリオ"/>
              </a:rPr>
              <a:t>事前予約</a:t>
            </a:r>
          </a:p>
          <a:p>
            <a:pPr algn="ctr">
              <a:lnSpc>
                <a:spcPct val="115000"/>
              </a:lnSpc>
            </a:pPr>
            <a:r>
              <a:rPr sz="1100" b="1">
                <a:solidFill>
                  <a:srgbClr val="FFFFFF"/>
                </a:solidFill>
                <a:latin typeface="メイリオ"/>
                <a:ea typeface="メイリオ"/>
                <a:cs typeface="メイリオ"/>
              </a:rPr>
              <a:t>特典受取</a:t>
            </a:r>
          </a:p>
        </p:txBody>
      </p:sp>
      <p:sp>
        <p:nvSpPr>
          <p:cNvPr id="9" name="Rectangle 8"/>
          <p:cNvSpPr/>
          <p:nvPr/>
        </p:nvSpPr>
        <p:spPr>
          <a:xfrm>
            <a:off x="1965960" y="2971800"/>
            <a:ext cx="1325880" cy="155448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15000"/>
              </a:lnSpc>
            </a:pPr>
            <a:r>
              <a:rPr sz="1100" b="1">
                <a:solidFill>
                  <a:srgbClr val="FFFFFF"/>
                </a:solidFill>
                <a:latin typeface="メイリオ"/>
                <a:ea typeface="メイリオ"/>
                <a:cs typeface="メイリオ"/>
              </a:rPr>
              <a:t>キャリア相談</a:t>
            </a:r>
          </a:p>
          <a:p>
            <a:pPr algn="ctr">
              <a:lnSpc>
                <a:spcPct val="115000"/>
              </a:lnSpc>
            </a:pPr>
            <a:r>
              <a:rPr sz="1100" b="1">
                <a:solidFill>
                  <a:srgbClr val="FFFFFF"/>
                </a:solidFill>
                <a:latin typeface="メイリオ"/>
                <a:ea typeface="メイリオ"/>
                <a:cs typeface="メイリオ"/>
              </a:rPr>
              <a:t>（1on1）</a:t>
            </a:r>
          </a:p>
        </p:txBody>
      </p:sp>
      <p:sp>
        <p:nvSpPr>
          <p:cNvPr id="10" name="Rectangle 9"/>
          <p:cNvSpPr/>
          <p:nvPr/>
        </p:nvSpPr>
        <p:spPr>
          <a:xfrm>
            <a:off x="3337560" y="2971800"/>
            <a:ext cx="1325880" cy="155448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15000"/>
              </a:lnSpc>
            </a:pPr>
            <a:r>
              <a:rPr sz="1100" b="1">
                <a:solidFill>
                  <a:srgbClr val="FFFFFF"/>
                </a:solidFill>
                <a:latin typeface="メイリオ"/>
                <a:ea typeface="メイリオ"/>
                <a:cs typeface="メイリオ"/>
              </a:rPr>
              <a:t>よくある質問</a:t>
            </a:r>
          </a:p>
        </p:txBody>
      </p:sp>
      <p:sp>
        <p:nvSpPr>
          <p:cNvPr id="11" name="TextBox 10"/>
          <p:cNvSpPr txBox="1"/>
          <p:nvPr/>
        </p:nvSpPr>
        <p:spPr>
          <a:xfrm>
            <a:off x="548640" y="4626864"/>
            <a:ext cx="4160520" cy="274320"/>
          </a:xfrm>
          <a:prstGeom prst="rect">
            <a:avLst/>
          </a:prstGeom>
          <a:noFill/>
        </p:spPr>
        <p:txBody>
          <a:bodyPr wrap="square" lIns="0" tIns="36576" rIns="0" bIns="36576" anchor="t">
            <a:spAutoFit/>
          </a:bodyPr>
          <a:lstStyle/>
          <a:p>
            <a:pPr algn="ctr"/>
            <a:r>
              <a:rPr sz="1100">
                <a:solidFill>
                  <a:srgbClr val="808080"/>
                </a:solidFill>
                <a:latin typeface="メイリオ"/>
                <a:ea typeface="メイリオ"/>
                <a:cs typeface="メイリオ"/>
              </a:rPr>
              <a:t>上段＝情報提供／下段＝アクション誘導</a:t>
            </a:r>
          </a:p>
        </p:txBody>
      </p:sp>
      <p:sp>
        <p:nvSpPr>
          <p:cNvPr id="12" name="Rounded Rectangle 11"/>
          <p:cNvSpPr/>
          <p:nvPr/>
        </p:nvSpPr>
        <p:spPr>
          <a:xfrm>
            <a:off x="4983480" y="1325880"/>
            <a:ext cx="4343400" cy="105156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400" b="1">
                <a:solidFill>
                  <a:srgbClr val="1F285A"/>
                </a:solidFill>
                <a:latin typeface="メイリオ"/>
                <a:ea typeface="メイリオ"/>
                <a:cs typeface="メイリオ"/>
              </a:rPr>
              <a:t>通常時</a:t>
            </a:r>
          </a:p>
          <a:p>
            <a:pPr algn="l">
              <a:lnSpc>
                <a:spcPct val="115000"/>
              </a:lnSpc>
            </a:pPr>
            <a:r>
              <a:rPr sz="1200">
                <a:solidFill>
                  <a:srgbClr val="333333"/>
                </a:solidFill>
                <a:latin typeface="メイリオ"/>
                <a:ea typeface="メイリオ"/>
                <a:cs typeface="メイリオ"/>
              </a:rPr>
              <a:t>情報収集フェーズ。出展企業・会場MAP・開催日程を上段に配置し、比較検討を促す。</a:t>
            </a:r>
          </a:p>
        </p:txBody>
      </p:sp>
      <p:sp>
        <p:nvSpPr>
          <p:cNvPr id="13" name="Rounded Rectangle 12"/>
          <p:cNvSpPr/>
          <p:nvPr/>
        </p:nvSpPr>
        <p:spPr>
          <a:xfrm>
            <a:off x="4983480" y="2514600"/>
            <a:ext cx="4343400" cy="105156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400" b="1">
                <a:solidFill>
                  <a:srgbClr val="1F285A"/>
                </a:solidFill>
                <a:latin typeface="メイリオ"/>
                <a:ea typeface="メイリオ"/>
                <a:cs typeface="メイリオ"/>
              </a:rPr>
              <a:t>週末（土曜夜・日曜夜）</a:t>
            </a:r>
          </a:p>
          <a:p>
            <a:pPr algn="l">
              <a:lnSpc>
                <a:spcPct val="115000"/>
              </a:lnSpc>
            </a:pPr>
            <a:r>
              <a:rPr sz="1200">
                <a:solidFill>
                  <a:srgbClr val="333333"/>
                </a:solidFill>
                <a:latin typeface="メイリオ"/>
                <a:ea typeface="メイリオ"/>
                <a:cs typeface="メイリオ"/>
              </a:rPr>
              <a:t>決断フェーズ。「事前予約」「特典受取」を最上段に入れ替え、申込への最短動線に切り替える。</a:t>
            </a:r>
          </a:p>
        </p:txBody>
      </p:sp>
      <p:sp>
        <p:nvSpPr>
          <p:cNvPr id="14" name="Rounded Rectangle 13"/>
          <p:cNvSpPr/>
          <p:nvPr/>
        </p:nvSpPr>
        <p:spPr>
          <a:xfrm>
            <a:off x="4983480" y="3703320"/>
            <a:ext cx="4343400" cy="8686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400" b="1">
                <a:solidFill>
                  <a:srgbClr val="1F285A"/>
                </a:solidFill>
                <a:latin typeface="メイリオ"/>
                <a:ea typeface="メイリオ"/>
                <a:cs typeface="メイリオ"/>
              </a:rPr>
              <a:t>フェア直前（3日前〜当日）</a:t>
            </a:r>
          </a:p>
          <a:p>
            <a:pPr algn="l">
              <a:lnSpc>
                <a:spcPct val="115000"/>
              </a:lnSpc>
            </a:pPr>
            <a:r>
              <a:rPr sz="1200">
                <a:solidFill>
                  <a:srgbClr val="333333"/>
                </a:solidFill>
                <a:latin typeface="メイリオ"/>
                <a:ea typeface="メイリオ"/>
                <a:cs typeface="メイリオ"/>
              </a:rPr>
              <a:t>「会場MAP・アクセス」を最上段へ。当日の迷いを解消し、来場を後押しする。</a:t>
            </a:r>
          </a:p>
        </p:txBody>
      </p:sp>
      <p:sp>
        <p:nvSpPr>
          <p:cNvPr id="15" name="Rounded Rectangle 14"/>
          <p:cNvSpPr/>
          <p:nvPr/>
        </p:nvSpPr>
        <p:spPr>
          <a:xfrm>
            <a:off x="548640" y="5047488"/>
            <a:ext cx="8778240" cy="47548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メニューは固定せず、求職者の検討フェーズに合わせて入れ替える</a:t>
            </a:r>
          </a:p>
        </p:txBody>
      </p:sp>
      <p:sp>
        <p:nvSpPr>
          <p:cNvPr id="16" name="TextBox 15"/>
          <p:cNvSpPr txBox="1"/>
          <p:nvPr/>
        </p:nvSpPr>
        <p:spPr>
          <a:xfrm>
            <a:off x="548640" y="5614416"/>
            <a:ext cx="8778240" cy="274320"/>
          </a:xfrm>
          <a:prstGeom prst="rect">
            <a:avLst/>
          </a:prstGeom>
          <a:noFill/>
        </p:spPr>
        <p:txBody>
          <a:bodyPr wrap="square" lIns="0" tIns="36576" rIns="73152" bIns="36576" anchor="t">
            <a:spAutoFit/>
          </a:bodyPr>
          <a:lstStyle/>
          <a:p>
            <a:pPr algn="l"/>
            <a:r>
              <a:rPr sz="1000">
                <a:solidFill>
                  <a:srgbClr val="808080"/>
                </a:solidFill>
                <a:latin typeface="メイリオ"/>
                <a:ea typeface="メイリオ"/>
                <a:cs typeface="メイリオ"/>
              </a:rPr>
              <a:t>※メニュー項目・文言は貴社と協議のうえ確定します</a:t>
            </a:r>
          </a:p>
        </p:txBody>
      </p:sp>
    </p:spTree>
    <p:extLst>
      <p:ext uri="{BB962C8B-B14F-4D97-AF65-F5344CB8AC3E}">
        <p14:creationId xmlns:p14="http://schemas.microsoft.com/office/powerpoint/2010/main" val="288088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36576" rIns="0" bIns="36576" anchor="ctr">
            <a:spAutoFit/>
          </a:bodyPr>
          <a:lstStyle/>
          <a:p>
            <a:pPr algn="l"/>
            <a:r>
              <a:rPr sz="2000" b="1">
                <a:solidFill>
                  <a:srgbClr val="002060"/>
                </a:solidFill>
                <a:latin typeface="メイリオ"/>
                <a:ea typeface="メイリオ"/>
                <a:cs typeface="メイリオ"/>
              </a:rPr>
              <a:t>具体施策③ 曜日別コンテンツ配信方針（転職熱量のピーク活用）</a:t>
            </a:r>
          </a:p>
        </p:txBody>
      </p:sp>
      <p:sp>
        <p:nvSpPr>
          <p:cNvPr id="3" name="TextBox 2"/>
          <p:cNvSpPr txBox="1"/>
          <p:nvPr/>
        </p:nvSpPr>
        <p:spPr>
          <a:xfrm>
            <a:off x="548640" y="640080"/>
            <a:ext cx="8778240" cy="530352"/>
          </a:xfrm>
          <a:prstGeom prst="rect">
            <a:avLst/>
          </a:prstGeom>
          <a:noFill/>
        </p:spPr>
        <p:txBody>
          <a:bodyPr wrap="square" lIns="0" tIns="36576" rIns="0" bIns="36576" anchor="ctr">
            <a:spAutoFit/>
          </a:bodyPr>
          <a:lstStyle/>
          <a:p>
            <a:pPr algn="l">
              <a:lnSpc>
                <a:spcPct val="110000"/>
              </a:lnSpc>
            </a:pPr>
            <a:r>
              <a:rPr sz="1400" b="1">
                <a:solidFill>
                  <a:srgbClr val="333333"/>
                </a:solidFill>
                <a:latin typeface="メイリオ"/>
                <a:ea typeface="メイリオ"/>
                <a:cs typeface="メイリオ"/>
              </a:rPr>
              <a:t>転職意欲のピークは日曜夜。週末2段構えで「種まき」→「決断の後押し」を設計します。</a:t>
            </a:r>
          </a:p>
        </p:txBody>
      </p:sp>
      <p:sp>
        <p:nvSpPr>
          <p:cNvPr id="4" name="Rectangle 3"/>
          <p:cNvSpPr/>
          <p:nvPr/>
        </p:nvSpPr>
        <p:spPr>
          <a:xfrm>
            <a:off x="548640" y="1325880"/>
            <a:ext cx="4251960" cy="475488"/>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土曜 夜　｜　種まき｜じっくり見る</a:t>
            </a:r>
          </a:p>
        </p:txBody>
      </p:sp>
      <p:sp>
        <p:nvSpPr>
          <p:cNvPr id="5" name="Rounded Rectangle 4"/>
          <p:cNvSpPr/>
          <p:nvPr/>
        </p:nvSpPr>
        <p:spPr>
          <a:xfrm>
            <a:off x="548640" y="1874519"/>
            <a:ext cx="4251960" cy="2103120"/>
          </a:xfrm>
          <a:prstGeom prst="roundRect">
            <a:avLst>
              <a:gd name="adj" fmla="val 8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182880" tIns="91440" rIns="146304" bIns="91440" rtlCol="0" anchor="ctr"/>
          <a:lstStyle/>
          <a:p>
            <a:pPr algn="l">
              <a:spcAft>
                <a:spcPts val="800"/>
              </a:spcAft>
            </a:pPr>
            <a:r>
              <a:rPr sz="1700" b="1">
                <a:solidFill>
                  <a:srgbClr val="1F285A"/>
                </a:solidFill>
                <a:latin typeface="メイリオ"/>
                <a:ea typeface="メイリオ"/>
                <a:cs typeface="メイリオ"/>
              </a:rPr>
              <a:t>注目企業TOP5</a:t>
            </a:r>
          </a:p>
          <a:p>
            <a:pPr algn="l">
              <a:lnSpc>
                <a:spcPct val="120000"/>
              </a:lnSpc>
            </a:pPr>
            <a:r>
              <a:rPr sz="1200">
                <a:solidFill>
                  <a:srgbClr val="333333"/>
                </a:solidFill>
                <a:latin typeface="メイリオ"/>
                <a:ea typeface="メイリオ"/>
                <a:cs typeface="メイリオ"/>
              </a:rPr>
              <a:t>腰を据えて情報収集する時間帯。出展企業の魅力を比較形式で提示し、興味を醸成する。</a:t>
            </a:r>
          </a:p>
        </p:txBody>
      </p:sp>
      <p:sp>
        <p:nvSpPr>
          <p:cNvPr id="6" name="Rectangle 5"/>
          <p:cNvSpPr/>
          <p:nvPr/>
        </p:nvSpPr>
        <p:spPr>
          <a:xfrm>
            <a:off x="5074920" y="1325880"/>
            <a:ext cx="4251960" cy="475488"/>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日曜 夜　｜　後押し｜決断させる</a:t>
            </a:r>
          </a:p>
        </p:txBody>
      </p:sp>
      <p:sp>
        <p:nvSpPr>
          <p:cNvPr id="7" name="Rounded Rectangle 6"/>
          <p:cNvSpPr/>
          <p:nvPr/>
        </p:nvSpPr>
        <p:spPr>
          <a:xfrm>
            <a:off x="5074920" y="1874519"/>
            <a:ext cx="4251960" cy="210312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91440" rIns="146304" bIns="91440" rtlCol="0" anchor="ctr"/>
          <a:lstStyle/>
          <a:p>
            <a:pPr algn="l">
              <a:spcAft>
                <a:spcPts val="800"/>
              </a:spcAft>
            </a:pPr>
            <a:r>
              <a:rPr sz="1700" b="1">
                <a:solidFill>
                  <a:srgbClr val="FFFFFF"/>
                </a:solidFill>
                <a:latin typeface="メイリオ"/>
                <a:ea typeface="メイリオ"/>
                <a:cs typeface="メイリオ"/>
              </a:rPr>
              <a:t>背中を押す配信</a:t>
            </a:r>
          </a:p>
          <a:p>
            <a:pPr algn="l">
              <a:lnSpc>
                <a:spcPct val="120000"/>
              </a:lnSpc>
            </a:pPr>
            <a:r>
              <a:rPr sz="1200">
                <a:solidFill>
                  <a:srgbClr val="FFFFFF"/>
                </a:solidFill>
                <a:latin typeface="メイリオ"/>
                <a:ea typeface="メイリオ"/>
                <a:cs typeface="メイリオ"/>
              </a:rPr>
              <a:t>「明日からまた仕事…」の心理が最も高まるタイミング。事前予約への最短導線を提示する。</a:t>
            </a:r>
          </a:p>
        </p:txBody>
      </p:sp>
      <p:sp>
        <p:nvSpPr>
          <p:cNvPr id="8" name="TextBox 7"/>
          <p:cNvSpPr txBox="1"/>
          <p:nvPr/>
        </p:nvSpPr>
        <p:spPr>
          <a:xfrm>
            <a:off x="548640" y="4187952"/>
            <a:ext cx="8778240" cy="310896"/>
          </a:xfrm>
          <a:prstGeom prst="rect">
            <a:avLst/>
          </a:prstGeom>
          <a:noFill/>
        </p:spPr>
        <p:txBody>
          <a:bodyPr wrap="square" lIns="0" tIns="36576" rIns="73152" bIns="36576" anchor="t">
            <a:spAutoFit/>
          </a:bodyPr>
          <a:lstStyle/>
          <a:p>
            <a:pPr algn="l"/>
            <a:r>
              <a:rPr sz="1300" b="1">
                <a:solidFill>
                  <a:srgbClr val="1F285A"/>
                </a:solidFill>
                <a:latin typeface="メイリオ"/>
                <a:ea typeface="メイリオ"/>
                <a:cs typeface="メイリオ"/>
              </a:rPr>
              <a:t>配信を「しない」日の設計</a:t>
            </a:r>
          </a:p>
        </p:txBody>
      </p:sp>
      <p:sp>
        <p:nvSpPr>
          <p:cNvPr id="9" name="Rounded Rectangle 8"/>
          <p:cNvSpPr/>
          <p:nvPr/>
        </p:nvSpPr>
        <p:spPr>
          <a:xfrm>
            <a:off x="548640" y="4535424"/>
            <a:ext cx="4251960" cy="100584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300" b="1">
                <a:solidFill>
                  <a:srgbClr val="1F285A"/>
                </a:solidFill>
                <a:latin typeface="メイリオ"/>
                <a:ea typeface="メイリオ"/>
                <a:cs typeface="メイリオ"/>
              </a:rPr>
              <a:t>月曜朝は配信しない</a:t>
            </a:r>
          </a:p>
          <a:p>
            <a:pPr algn="l">
              <a:lnSpc>
                <a:spcPct val="115000"/>
              </a:lnSpc>
            </a:pPr>
            <a:r>
              <a:rPr sz="1150">
                <a:solidFill>
                  <a:srgbClr val="333333"/>
                </a:solidFill>
                <a:latin typeface="メイリオ"/>
                <a:ea typeface="メイリオ"/>
                <a:cs typeface="メイリオ"/>
              </a:rPr>
              <a:t>意欲は高いが、出勤直後で行動に移せない。開封されても流れて終わるため配信対象外とする。</a:t>
            </a:r>
          </a:p>
        </p:txBody>
      </p:sp>
      <p:sp>
        <p:nvSpPr>
          <p:cNvPr id="10" name="Rounded Rectangle 9"/>
          <p:cNvSpPr/>
          <p:nvPr/>
        </p:nvSpPr>
        <p:spPr>
          <a:xfrm>
            <a:off x="5074920" y="4535424"/>
            <a:ext cx="4251960" cy="100584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300" b="1">
                <a:solidFill>
                  <a:srgbClr val="1F285A"/>
                </a:solidFill>
                <a:latin typeface="メイリオ"/>
                <a:ea typeface="メイリオ"/>
                <a:cs typeface="メイリオ"/>
              </a:rPr>
              <a:t>平日日中は最小限</a:t>
            </a:r>
          </a:p>
          <a:p>
            <a:pPr algn="l">
              <a:lnSpc>
                <a:spcPct val="115000"/>
              </a:lnSpc>
            </a:pPr>
            <a:r>
              <a:rPr sz="1150">
                <a:solidFill>
                  <a:srgbClr val="333333"/>
                </a:solidFill>
                <a:latin typeface="メイリオ"/>
                <a:ea typeface="メイリオ"/>
                <a:cs typeface="メイリオ"/>
              </a:rPr>
              <a:t>勤務中で反応が取れない。お役立ちコラム等の軽い接点にとどめる。</a:t>
            </a:r>
          </a:p>
        </p:txBody>
      </p:sp>
      <p:sp>
        <p:nvSpPr>
          <p:cNvPr id="11" name="Rounded Rectangle 10"/>
          <p:cNvSpPr/>
          <p:nvPr/>
        </p:nvSpPr>
        <p:spPr>
          <a:xfrm>
            <a:off x="548640" y="5687568"/>
            <a:ext cx="8778240" cy="438912"/>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50" b="1">
                <a:solidFill>
                  <a:srgbClr val="FFFFFF"/>
                </a:solidFill>
                <a:latin typeface="メイリオ"/>
                <a:ea typeface="メイリオ"/>
                <a:cs typeface="メイリオ"/>
              </a:rPr>
              <a:t>「いつ送るか」で反応は変わる。週末2段設計で来場予約を積み上げる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36576" rIns="0" bIns="36576" anchor="ctr">
            <a:spAutoFit/>
          </a:bodyPr>
          <a:lstStyle/>
          <a:p>
            <a:pPr algn="l"/>
            <a:r>
              <a:rPr sz="2000" b="1">
                <a:solidFill>
                  <a:srgbClr val="002060"/>
                </a:solidFill>
                <a:latin typeface="メイリオ"/>
                <a:ea typeface="メイリオ"/>
                <a:cs typeface="メイリオ"/>
              </a:rPr>
              <a:t>具体施策④ 時間帯別コンテンツ配信方針（朝・昼・夜）</a:t>
            </a:r>
          </a:p>
        </p:txBody>
      </p:sp>
      <p:sp>
        <p:nvSpPr>
          <p:cNvPr id="3" name="TextBox 2"/>
          <p:cNvSpPr txBox="1"/>
          <p:nvPr/>
        </p:nvSpPr>
        <p:spPr>
          <a:xfrm>
            <a:off x="548640" y="640080"/>
            <a:ext cx="8778240" cy="530352"/>
          </a:xfrm>
          <a:prstGeom prst="rect">
            <a:avLst/>
          </a:prstGeom>
          <a:noFill/>
        </p:spPr>
        <p:txBody>
          <a:bodyPr wrap="square" lIns="0" tIns="36576" rIns="0" bIns="36576" anchor="ctr">
            <a:spAutoFit/>
          </a:bodyPr>
          <a:lstStyle/>
          <a:p>
            <a:pPr algn="l">
              <a:lnSpc>
                <a:spcPct val="110000"/>
              </a:lnSpc>
            </a:pPr>
            <a:r>
              <a:rPr sz="1400" b="1">
                <a:solidFill>
                  <a:srgbClr val="333333"/>
                </a:solidFill>
                <a:latin typeface="メイリオ"/>
                <a:ea typeface="メイリオ"/>
                <a:cs typeface="メイリオ"/>
              </a:rPr>
              <a:t>1日の中でも求職者の状態は変わります。時間帯ごとに「読める内容」を出し分けます。</a:t>
            </a:r>
          </a:p>
        </p:txBody>
      </p:sp>
      <p:sp>
        <p:nvSpPr>
          <p:cNvPr id="4" name="Rectangle 3"/>
          <p:cNvSpPr/>
          <p:nvPr/>
        </p:nvSpPr>
        <p:spPr>
          <a:xfrm>
            <a:off x="548640" y="1325880"/>
            <a:ext cx="2788920" cy="658368"/>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Aft>
                <a:spcPts val="200"/>
              </a:spcAft>
            </a:pPr>
            <a:r>
              <a:rPr sz="1500" b="1">
                <a:solidFill>
                  <a:srgbClr val="FFFFFF"/>
                </a:solidFill>
                <a:latin typeface="メイリオ"/>
                <a:ea typeface="メイリオ"/>
                <a:cs typeface="メイリオ"/>
              </a:rPr>
              <a:t>朝　7時台</a:t>
            </a:r>
          </a:p>
          <a:p>
            <a:pPr algn="ctr"/>
            <a:r>
              <a:rPr sz="1050">
                <a:solidFill>
                  <a:srgbClr val="FFFFFF"/>
                </a:solidFill>
                <a:latin typeface="メイリオ"/>
                <a:ea typeface="メイリオ"/>
                <a:cs typeface="メイリオ"/>
              </a:rPr>
              <a:t>通勤前のスキマ時間</a:t>
            </a:r>
          </a:p>
        </p:txBody>
      </p:sp>
      <p:sp>
        <p:nvSpPr>
          <p:cNvPr id="5" name="Rounded Rectangle 4"/>
          <p:cNvSpPr/>
          <p:nvPr/>
        </p:nvSpPr>
        <p:spPr>
          <a:xfrm>
            <a:off x="548640" y="2057400"/>
            <a:ext cx="2788920" cy="260604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46304" rIns="128016" bIns="36576" rtlCol="0" anchor="t"/>
          <a:lstStyle/>
          <a:p>
            <a:pPr algn="l">
              <a:lnSpc>
                <a:spcPct val="115000"/>
              </a:lnSpc>
              <a:spcAft>
                <a:spcPts val="800"/>
              </a:spcAft>
            </a:pPr>
            <a:r>
              <a:rPr sz="1300" b="1">
                <a:solidFill>
                  <a:srgbClr val="1F285A"/>
                </a:solidFill>
                <a:latin typeface="メイリオ"/>
                <a:ea typeface="メイリオ"/>
                <a:cs typeface="メイリオ"/>
              </a:rPr>
              <a:t>新着参加企業・会場アクセス情報</a:t>
            </a:r>
          </a:p>
          <a:p>
            <a:pPr algn="l">
              <a:lnSpc>
                <a:spcPct val="120000"/>
              </a:lnSpc>
            </a:pPr>
            <a:r>
              <a:rPr sz="1150">
                <a:solidFill>
                  <a:srgbClr val="333333"/>
                </a:solidFill>
                <a:latin typeface="メイリオ"/>
                <a:ea typeface="メイリオ"/>
                <a:cs typeface="メイリオ"/>
              </a:rPr>
              <a:t>短時間で読める情報を配信。「今日も仕事か」という気持ちが動くタイミングで接点を持つ。</a:t>
            </a:r>
          </a:p>
        </p:txBody>
      </p:sp>
      <p:sp>
        <p:nvSpPr>
          <p:cNvPr id="6" name="Rectangle 5"/>
          <p:cNvSpPr/>
          <p:nvPr/>
        </p:nvSpPr>
        <p:spPr>
          <a:xfrm>
            <a:off x="3547872" y="1325880"/>
            <a:ext cx="2788920" cy="658368"/>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Aft>
                <a:spcPts val="200"/>
              </a:spcAft>
            </a:pPr>
            <a:r>
              <a:rPr sz="1500" b="1">
                <a:solidFill>
                  <a:srgbClr val="FFFFFF"/>
                </a:solidFill>
                <a:latin typeface="メイリオ"/>
                <a:ea typeface="メイリオ"/>
                <a:cs typeface="メイリオ"/>
              </a:rPr>
              <a:t>昼　12時台</a:t>
            </a:r>
          </a:p>
          <a:p>
            <a:pPr algn="ctr"/>
            <a:r>
              <a:rPr sz="1050">
                <a:solidFill>
                  <a:srgbClr val="FFFFFF"/>
                </a:solidFill>
                <a:latin typeface="メイリオ"/>
                <a:ea typeface="メイリオ"/>
                <a:cs typeface="メイリオ"/>
              </a:rPr>
              <a:t>休憩中のリラックス時間</a:t>
            </a:r>
          </a:p>
        </p:txBody>
      </p:sp>
      <p:sp>
        <p:nvSpPr>
          <p:cNvPr id="7" name="Rounded Rectangle 6"/>
          <p:cNvSpPr/>
          <p:nvPr/>
        </p:nvSpPr>
        <p:spPr>
          <a:xfrm>
            <a:off x="3547872" y="2057400"/>
            <a:ext cx="2788920" cy="260604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46304" rIns="128016" bIns="36576" rtlCol="0" anchor="t"/>
          <a:lstStyle/>
          <a:p>
            <a:pPr algn="l">
              <a:lnSpc>
                <a:spcPct val="115000"/>
              </a:lnSpc>
              <a:spcAft>
                <a:spcPts val="800"/>
              </a:spcAft>
            </a:pPr>
            <a:r>
              <a:rPr sz="1300" b="1">
                <a:solidFill>
                  <a:srgbClr val="1F285A"/>
                </a:solidFill>
                <a:latin typeface="メイリオ"/>
                <a:ea typeface="メイリオ"/>
                <a:cs typeface="メイリオ"/>
              </a:rPr>
              <a:t>お役立ちコラム（面接対策・履歴書の書き方）</a:t>
            </a:r>
          </a:p>
          <a:p>
            <a:pPr algn="l">
              <a:lnSpc>
                <a:spcPct val="120000"/>
              </a:lnSpc>
            </a:pPr>
            <a:r>
              <a:rPr sz="1150">
                <a:solidFill>
                  <a:srgbClr val="333333"/>
                </a:solidFill>
                <a:latin typeface="メイリオ"/>
                <a:ea typeface="メイリオ"/>
                <a:cs typeface="メイリオ"/>
              </a:rPr>
              <a:t>すぐの行動は求めず、有益情報の提供でアカウントの価値を高め、ブロックを防ぐ。</a:t>
            </a:r>
          </a:p>
        </p:txBody>
      </p:sp>
      <p:sp>
        <p:nvSpPr>
          <p:cNvPr id="8" name="Rectangle 7"/>
          <p:cNvSpPr/>
          <p:nvPr/>
        </p:nvSpPr>
        <p:spPr>
          <a:xfrm>
            <a:off x="6547103" y="1325880"/>
            <a:ext cx="2788920" cy="658368"/>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Aft>
                <a:spcPts val="200"/>
              </a:spcAft>
            </a:pPr>
            <a:r>
              <a:rPr sz="1500" b="1">
                <a:solidFill>
                  <a:srgbClr val="FFFFFF"/>
                </a:solidFill>
                <a:latin typeface="メイリオ"/>
                <a:ea typeface="メイリオ"/>
                <a:cs typeface="メイリオ"/>
              </a:rPr>
              <a:t>夜　19〜21時</a:t>
            </a:r>
          </a:p>
          <a:p>
            <a:pPr algn="ctr"/>
            <a:r>
              <a:rPr sz="1050">
                <a:solidFill>
                  <a:srgbClr val="FFFFFF"/>
                </a:solidFill>
                <a:latin typeface="メイリオ"/>
                <a:ea typeface="メイリオ"/>
                <a:cs typeface="メイリオ"/>
              </a:rPr>
              <a:t>帰宅後の検討時間</a:t>
            </a:r>
          </a:p>
        </p:txBody>
      </p:sp>
      <p:sp>
        <p:nvSpPr>
          <p:cNvPr id="9" name="Rounded Rectangle 8"/>
          <p:cNvSpPr/>
          <p:nvPr/>
        </p:nvSpPr>
        <p:spPr>
          <a:xfrm>
            <a:off x="6547103" y="2057400"/>
            <a:ext cx="2788920" cy="260604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46304" rIns="128016" bIns="36576" rtlCol="0" anchor="t"/>
          <a:lstStyle/>
          <a:p>
            <a:pPr algn="l">
              <a:lnSpc>
                <a:spcPct val="115000"/>
              </a:lnSpc>
              <a:spcAft>
                <a:spcPts val="800"/>
              </a:spcAft>
            </a:pPr>
            <a:r>
              <a:rPr sz="1300" b="1">
                <a:solidFill>
                  <a:srgbClr val="1F285A"/>
                </a:solidFill>
                <a:latin typeface="メイリオ"/>
                <a:ea typeface="メイリオ"/>
                <a:cs typeface="メイリオ"/>
              </a:rPr>
              <a:t>イベント事前予約・特典受け取りオファー</a:t>
            </a:r>
          </a:p>
          <a:p>
            <a:pPr algn="l">
              <a:lnSpc>
                <a:spcPct val="120000"/>
              </a:lnSpc>
            </a:pPr>
            <a:r>
              <a:rPr sz="1150">
                <a:solidFill>
                  <a:srgbClr val="333333"/>
                </a:solidFill>
                <a:latin typeface="メイリオ"/>
                <a:ea typeface="メイリオ"/>
                <a:cs typeface="メイリオ"/>
              </a:rPr>
              <a:t>最も反応が取れる時間帯。予約フォームへの誘導と限定特典で、その場での申込を促す。</a:t>
            </a:r>
          </a:p>
        </p:txBody>
      </p:sp>
      <p:sp>
        <p:nvSpPr>
          <p:cNvPr id="10" name="TextBox 9"/>
          <p:cNvSpPr txBox="1"/>
          <p:nvPr/>
        </p:nvSpPr>
        <p:spPr>
          <a:xfrm>
            <a:off x="548640" y="4846320"/>
            <a:ext cx="8778240" cy="310896"/>
          </a:xfrm>
          <a:prstGeom prst="rect">
            <a:avLst/>
          </a:prstGeom>
          <a:noFill/>
        </p:spPr>
        <p:txBody>
          <a:bodyPr wrap="square" lIns="0" tIns="36576" rIns="73152" bIns="36576" anchor="t">
            <a:spAutoFit/>
          </a:bodyPr>
          <a:lstStyle/>
          <a:p>
            <a:pPr algn="l"/>
            <a:r>
              <a:rPr sz="1300" b="1">
                <a:solidFill>
                  <a:srgbClr val="1F285A"/>
                </a:solidFill>
                <a:latin typeface="メイリオ"/>
                <a:ea typeface="メイリオ"/>
                <a:cs typeface="メイリオ"/>
              </a:rPr>
              <a:t>配信量の目安</a:t>
            </a:r>
          </a:p>
        </p:txBody>
      </p:sp>
      <p:sp>
        <p:nvSpPr>
          <p:cNvPr id="11" name="TextBox 10"/>
          <p:cNvSpPr txBox="1"/>
          <p:nvPr/>
        </p:nvSpPr>
        <p:spPr>
          <a:xfrm>
            <a:off x="548640" y="5175504"/>
            <a:ext cx="8778240" cy="512064"/>
          </a:xfrm>
          <a:prstGeom prst="rect">
            <a:avLst/>
          </a:prstGeom>
          <a:noFill/>
        </p:spPr>
        <p:txBody>
          <a:bodyPr wrap="square" lIns="0" tIns="36576" rIns="73152" bIns="36576" anchor="t">
            <a:spAutoFit/>
          </a:bodyPr>
          <a:lstStyle/>
          <a:p>
            <a:pPr algn="l">
              <a:lnSpc>
                <a:spcPct val="120000"/>
              </a:lnSpc>
            </a:pPr>
            <a:r>
              <a:rPr sz="1200">
                <a:solidFill>
                  <a:srgbClr val="333333"/>
                </a:solidFill>
                <a:latin typeface="メイリオ"/>
                <a:ea typeface="メイリオ"/>
                <a:cs typeface="メイリオ"/>
              </a:rPr>
              <a:t>通常週は週2〜3通、フェア直前週は最大週5通まで。開封率・ブロック率を見ながら通数を調整し、「送りすぎ」による離脱を防ぎます。</a:t>
            </a:r>
          </a:p>
        </p:txBody>
      </p:sp>
      <p:sp>
        <p:nvSpPr>
          <p:cNvPr id="12" name="Rounded Rectangle 11"/>
          <p:cNvSpPr/>
          <p:nvPr/>
        </p:nvSpPr>
        <p:spPr>
          <a:xfrm>
            <a:off x="548640" y="5742432"/>
            <a:ext cx="8778240" cy="438912"/>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50" b="1">
                <a:solidFill>
                  <a:srgbClr val="FFFFFF"/>
                </a:solidFill>
                <a:latin typeface="メイリオ"/>
                <a:ea typeface="メイリオ"/>
                <a:cs typeface="メイリオ"/>
              </a:rPr>
              <a:t>夜19〜21時が予約獲得の主戦場。朝・昼は関係構築に使う</a:t>
            </a:r>
          </a:p>
        </p:txBody>
      </p:sp>
    </p:spTree>
    <p:extLst>
      <p:ext uri="{BB962C8B-B14F-4D97-AF65-F5344CB8AC3E}">
        <p14:creationId xmlns:p14="http://schemas.microsoft.com/office/powerpoint/2010/main" val="3960976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36576" rIns="0" bIns="36576" anchor="ctr">
            <a:spAutoFit/>
          </a:bodyPr>
          <a:lstStyle/>
          <a:p>
            <a:pPr algn="l"/>
            <a:r>
              <a:rPr sz="2000" b="1">
                <a:solidFill>
                  <a:srgbClr val="002060"/>
                </a:solidFill>
                <a:latin typeface="メイリオ"/>
                <a:ea typeface="メイリオ"/>
                <a:cs typeface="メイリオ"/>
              </a:rPr>
              <a:t>具体施策⑤ 季節・イベント開催サイクル別のコンテンツ方針</a:t>
            </a:r>
          </a:p>
        </p:txBody>
      </p:sp>
      <p:sp>
        <p:nvSpPr>
          <p:cNvPr id="3" name="TextBox 2"/>
          <p:cNvSpPr txBox="1"/>
          <p:nvPr/>
        </p:nvSpPr>
        <p:spPr>
          <a:xfrm>
            <a:off x="548640" y="640080"/>
            <a:ext cx="8778240" cy="530352"/>
          </a:xfrm>
          <a:prstGeom prst="rect">
            <a:avLst/>
          </a:prstGeom>
          <a:noFill/>
        </p:spPr>
        <p:txBody>
          <a:bodyPr wrap="square" lIns="0" tIns="36576" rIns="0" bIns="36576" anchor="ctr">
            <a:spAutoFit/>
          </a:bodyPr>
          <a:lstStyle/>
          <a:p>
            <a:pPr algn="l">
              <a:lnSpc>
                <a:spcPct val="110000"/>
              </a:lnSpc>
            </a:pPr>
            <a:r>
              <a:rPr sz="1400" b="1">
                <a:solidFill>
                  <a:srgbClr val="333333"/>
                </a:solidFill>
                <a:latin typeface="メイリオ"/>
                <a:ea typeface="メイリオ"/>
                <a:cs typeface="メイリオ"/>
              </a:rPr>
              <a:t>フェア開催サイクルに合わせ、「直前の追い込み」と「開催後の資産化」を年間で繰り返します。</a:t>
            </a:r>
          </a:p>
        </p:txBody>
      </p:sp>
      <p:sp>
        <p:nvSpPr>
          <p:cNvPr id="4" name="Rectangle 3"/>
          <p:cNvSpPr/>
          <p:nvPr/>
        </p:nvSpPr>
        <p:spPr>
          <a:xfrm>
            <a:off x="548640" y="1325880"/>
            <a:ext cx="2084831" cy="62179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sz="1350" b="1">
                <a:solidFill>
                  <a:srgbClr val="FFFFFF"/>
                </a:solidFill>
                <a:latin typeface="メイリオ"/>
                <a:ea typeface="メイリオ"/>
                <a:cs typeface="メイリオ"/>
              </a:rPr>
              <a:t>① 告知期</a:t>
            </a:r>
          </a:p>
          <a:p>
            <a:pPr algn="ctr"/>
            <a:r>
              <a:rPr sz="1000">
                <a:solidFill>
                  <a:srgbClr val="FFFFFF"/>
                </a:solidFill>
                <a:latin typeface="メイリオ"/>
                <a:ea typeface="メイリオ"/>
                <a:cs typeface="メイリオ"/>
              </a:rPr>
              <a:t>開催3〜4週間前</a:t>
            </a:r>
          </a:p>
        </p:txBody>
      </p:sp>
      <p:sp>
        <p:nvSpPr>
          <p:cNvPr id="5" name="Right Arrow 4"/>
          <p:cNvSpPr/>
          <p:nvPr/>
        </p:nvSpPr>
        <p:spPr>
          <a:xfrm>
            <a:off x="2651760" y="1499616"/>
            <a:ext cx="128016" cy="2743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2020824"/>
            <a:ext cx="2084831" cy="15544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09728" bIns="36576" rtlCol="0" anchor="t"/>
          <a:lstStyle/>
          <a:p>
            <a:pPr algn="l">
              <a:lnSpc>
                <a:spcPct val="120000"/>
              </a:lnSpc>
            </a:pPr>
            <a:r>
              <a:rPr sz="1150">
                <a:solidFill>
                  <a:srgbClr val="333333"/>
                </a:solidFill>
                <a:latin typeface="メイリオ"/>
                <a:ea typeface="メイリオ"/>
                <a:cs typeface="メイリオ"/>
              </a:rPr>
              <a:t>受付開始のお知らせ・出展企業の先行公開で、予約の母数をつくる。</a:t>
            </a:r>
          </a:p>
        </p:txBody>
      </p:sp>
      <p:sp>
        <p:nvSpPr>
          <p:cNvPr id="7" name="Rectangle 6"/>
          <p:cNvSpPr/>
          <p:nvPr/>
        </p:nvSpPr>
        <p:spPr>
          <a:xfrm>
            <a:off x="2798064" y="1325880"/>
            <a:ext cx="2084831" cy="62179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sz="1350" b="1">
                <a:solidFill>
                  <a:srgbClr val="FFFFFF"/>
                </a:solidFill>
                <a:latin typeface="メイリオ"/>
                <a:ea typeface="メイリオ"/>
                <a:cs typeface="メイリオ"/>
              </a:rPr>
              <a:t>② 追い込み期</a:t>
            </a:r>
          </a:p>
          <a:p>
            <a:pPr algn="ctr"/>
            <a:r>
              <a:rPr sz="1000">
                <a:solidFill>
                  <a:srgbClr val="FFFFFF"/>
                </a:solidFill>
                <a:latin typeface="メイリオ"/>
                <a:ea typeface="メイリオ"/>
                <a:cs typeface="メイリオ"/>
              </a:rPr>
              <a:t>開催1週間前〜前日</a:t>
            </a:r>
          </a:p>
        </p:txBody>
      </p:sp>
      <p:sp>
        <p:nvSpPr>
          <p:cNvPr id="8" name="Right Arrow 7"/>
          <p:cNvSpPr/>
          <p:nvPr/>
        </p:nvSpPr>
        <p:spPr>
          <a:xfrm>
            <a:off x="4901183" y="1499616"/>
            <a:ext cx="128016" cy="2743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798064" y="2020824"/>
            <a:ext cx="2084831" cy="15544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09728" bIns="36576" rtlCol="0" anchor="t"/>
          <a:lstStyle/>
          <a:p>
            <a:pPr algn="l">
              <a:lnSpc>
                <a:spcPct val="120000"/>
              </a:lnSpc>
            </a:pPr>
            <a:r>
              <a:rPr sz="1150">
                <a:solidFill>
                  <a:srgbClr val="333333"/>
                </a:solidFill>
                <a:latin typeface="メイリオ"/>
                <a:ea typeface="メイリオ"/>
                <a:cs typeface="メイリオ"/>
              </a:rPr>
              <a:t>リマインドと安心Q&amp;Aを集中配信。予約者の来場を確実にする。</a:t>
            </a:r>
          </a:p>
        </p:txBody>
      </p:sp>
      <p:sp>
        <p:nvSpPr>
          <p:cNvPr id="10" name="Rectangle 9"/>
          <p:cNvSpPr/>
          <p:nvPr/>
        </p:nvSpPr>
        <p:spPr>
          <a:xfrm>
            <a:off x="5047488" y="1325880"/>
            <a:ext cx="2084831" cy="62179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sz="1350" b="1">
                <a:solidFill>
                  <a:srgbClr val="FFFFFF"/>
                </a:solidFill>
                <a:latin typeface="メイリオ"/>
                <a:ea typeface="メイリオ"/>
                <a:cs typeface="メイリオ"/>
              </a:rPr>
              <a:t>③ 当日</a:t>
            </a:r>
          </a:p>
          <a:p>
            <a:pPr algn="ctr"/>
            <a:r>
              <a:rPr sz="1000">
                <a:solidFill>
                  <a:srgbClr val="FFFFFF"/>
                </a:solidFill>
                <a:latin typeface="メイリオ"/>
                <a:ea typeface="メイリオ"/>
                <a:cs typeface="メイリオ"/>
              </a:rPr>
              <a:t>開催当日 朝〜</a:t>
            </a:r>
          </a:p>
        </p:txBody>
      </p:sp>
      <p:sp>
        <p:nvSpPr>
          <p:cNvPr id="11" name="Right Arrow 10"/>
          <p:cNvSpPr/>
          <p:nvPr/>
        </p:nvSpPr>
        <p:spPr>
          <a:xfrm>
            <a:off x="7150607" y="1499616"/>
            <a:ext cx="128016" cy="2743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47488" y="2020824"/>
            <a:ext cx="2084831" cy="15544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09728" bIns="36576" rtlCol="0" anchor="t"/>
          <a:lstStyle/>
          <a:p>
            <a:pPr algn="l">
              <a:lnSpc>
                <a:spcPct val="120000"/>
              </a:lnSpc>
            </a:pPr>
            <a:r>
              <a:rPr sz="1150">
                <a:solidFill>
                  <a:srgbClr val="333333"/>
                </a:solidFill>
                <a:latin typeface="メイリオ"/>
                <a:ea typeface="メイリオ"/>
                <a:cs typeface="メイリオ"/>
              </a:rPr>
              <a:t>会場MAP付きの最終通知。当日の迷いをなくし、来場を最大化する。</a:t>
            </a:r>
          </a:p>
        </p:txBody>
      </p:sp>
      <p:sp>
        <p:nvSpPr>
          <p:cNvPr id="13" name="Rectangle 12"/>
          <p:cNvSpPr/>
          <p:nvPr/>
        </p:nvSpPr>
        <p:spPr>
          <a:xfrm>
            <a:off x="7296912" y="1325880"/>
            <a:ext cx="2084831" cy="62179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sz="1350" b="1">
                <a:solidFill>
                  <a:srgbClr val="FFFFFF"/>
                </a:solidFill>
                <a:latin typeface="メイリオ"/>
                <a:ea typeface="メイリオ"/>
                <a:cs typeface="メイリオ"/>
              </a:rPr>
              <a:t>④ 資産化期</a:t>
            </a:r>
          </a:p>
          <a:p>
            <a:pPr algn="ctr"/>
            <a:r>
              <a:rPr sz="1000">
                <a:solidFill>
                  <a:srgbClr val="FFFFFF"/>
                </a:solidFill>
                <a:latin typeface="メイリオ"/>
                <a:ea typeface="メイリオ"/>
                <a:cs typeface="メイリオ"/>
              </a:rPr>
              <a:t>開催後〜次回告知まで</a:t>
            </a:r>
          </a:p>
        </p:txBody>
      </p:sp>
      <p:sp>
        <p:nvSpPr>
          <p:cNvPr id="14" name="Rounded Rectangle 13"/>
          <p:cNvSpPr/>
          <p:nvPr/>
        </p:nvSpPr>
        <p:spPr>
          <a:xfrm>
            <a:off x="7296912" y="2020824"/>
            <a:ext cx="2084831" cy="15544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09728" bIns="36576" rtlCol="0" anchor="t"/>
          <a:lstStyle/>
          <a:p>
            <a:pPr algn="l">
              <a:lnSpc>
                <a:spcPct val="120000"/>
              </a:lnSpc>
            </a:pPr>
            <a:r>
              <a:rPr sz="1150">
                <a:solidFill>
                  <a:srgbClr val="333333"/>
                </a:solidFill>
                <a:latin typeface="メイリオ"/>
                <a:ea typeface="メイリオ"/>
                <a:cs typeface="メイリオ"/>
              </a:rPr>
              <a:t>お礼と個別相談の案内。未応募層を次回フェアへ引き継ぐ。</a:t>
            </a:r>
          </a:p>
        </p:txBody>
      </p:sp>
      <p:sp>
        <p:nvSpPr>
          <p:cNvPr id="15" name="TextBox 14"/>
          <p:cNvSpPr txBox="1"/>
          <p:nvPr/>
        </p:nvSpPr>
        <p:spPr>
          <a:xfrm>
            <a:off x="548640" y="3749039"/>
            <a:ext cx="8778240" cy="310896"/>
          </a:xfrm>
          <a:prstGeom prst="rect">
            <a:avLst/>
          </a:prstGeom>
          <a:noFill/>
        </p:spPr>
        <p:txBody>
          <a:bodyPr wrap="square" lIns="0" tIns="36576" rIns="73152" bIns="36576" anchor="t">
            <a:spAutoFit/>
          </a:bodyPr>
          <a:lstStyle/>
          <a:p>
            <a:pPr algn="l"/>
            <a:r>
              <a:rPr sz="1300" b="1">
                <a:solidFill>
                  <a:srgbClr val="1F285A"/>
                </a:solidFill>
                <a:latin typeface="メイリオ"/>
                <a:ea typeface="メイリオ"/>
                <a:cs typeface="メイリオ"/>
              </a:rPr>
              <a:t>2026年 秋クールの開催スケジュール</a:t>
            </a:r>
          </a:p>
        </p:txBody>
      </p:sp>
      <p:sp>
        <p:nvSpPr>
          <p:cNvPr id="16" name="Rounded Rectangle 15"/>
          <p:cNvSpPr/>
          <p:nvPr/>
        </p:nvSpPr>
        <p:spPr>
          <a:xfrm>
            <a:off x="548640" y="4114800"/>
            <a:ext cx="1645920" cy="713232"/>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sz="1400" b="1">
                <a:solidFill>
                  <a:srgbClr val="1F285A"/>
                </a:solidFill>
                <a:latin typeface="メイリオ"/>
                <a:ea typeface="メイリオ"/>
                <a:cs typeface="メイリオ"/>
              </a:rPr>
              <a:t>8/28</a:t>
            </a:r>
          </a:p>
          <a:p>
            <a:pPr algn="ctr"/>
            <a:r>
              <a:rPr sz="1150">
                <a:solidFill>
                  <a:srgbClr val="333333"/>
                </a:solidFill>
                <a:latin typeface="メイリオ"/>
                <a:ea typeface="メイリオ"/>
                <a:cs typeface="メイリオ"/>
              </a:rPr>
              <a:t>受付開始</a:t>
            </a:r>
          </a:p>
        </p:txBody>
      </p:sp>
      <p:sp>
        <p:nvSpPr>
          <p:cNvPr id="17" name="Rounded Rectangle 16"/>
          <p:cNvSpPr/>
          <p:nvPr/>
        </p:nvSpPr>
        <p:spPr>
          <a:xfrm>
            <a:off x="2331720" y="4114800"/>
            <a:ext cx="1645920" cy="713232"/>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sz="1400" b="1">
                <a:solidFill>
                  <a:srgbClr val="1F285A"/>
                </a:solidFill>
                <a:latin typeface="メイリオ"/>
                <a:ea typeface="メイリオ"/>
                <a:cs typeface="メイリオ"/>
              </a:rPr>
              <a:t>9/26</a:t>
            </a:r>
          </a:p>
          <a:p>
            <a:pPr algn="ctr"/>
            <a:r>
              <a:rPr sz="1150">
                <a:solidFill>
                  <a:srgbClr val="333333"/>
                </a:solidFill>
                <a:latin typeface="メイリオ"/>
                <a:ea typeface="メイリオ"/>
                <a:cs typeface="メイリオ"/>
              </a:rPr>
              <a:t>東近江</a:t>
            </a:r>
          </a:p>
        </p:txBody>
      </p:sp>
      <p:sp>
        <p:nvSpPr>
          <p:cNvPr id="18" name="Rounded Rectangle 17"/>
          <p:cNvSpPr/>
          <p:nvPr/>
        </p:nvSpPr>
        <p:spPr>
          <a:xfrm>
            <a:off x="4114800" y="4114800"/>
            <a:ext cx="1645920" cy="713232"/>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sz="1400" b="1">
                <a:solidFill>
                  <a:srgbClr val="1F285A"/>
                </a:solidFill>
                <a:latin typeface="メイリオ"/>
                <a:ea typeface="メイリオ"/>
                <a:cs typeface="メイリオ"/>
              </a:rPr>
              <a:t>10/3</a:t>
            </a:r>
          </a:p>
          <a:p>
            <a:pPr algn="ctr"/>
            <a:r>
              <a:rPr sz="1150">
                <a:solidFill>
                  <a:srgbClr val="333333"/>
                </a:solidFill>
                <a:latin typeface="メイリオ"/>
                <a:ea typeface="メイリオ"/>
                <a:cs typeface="メイリオ"/>
              </a:rPr>
              <a:t>草津</a:t>
            </a:r>
          </a:p>
        </p:txBody>
      </p:sp>
      <p:sp>
        <p:nvSpPr>
          <p:cNvPr id="19" name="Rounded Rectangle 18"/>
          <p:cNvSpPr/>
          <p:nvPr/>
        </p:nvSpPr>
        <p:spPr>
          <a:xfrm>
            <a:off x="5897879" y="4114800"/>
            <a:ext cx="1645920" cy="713232"/>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sz="1400" b="1">
                <a:solidFill>
                  <a:srgbClr val="1F285A"/>
                </a:solidFill>
                <a:latin typeface="メイリオ"/>
                <a:ea typeface="メイリオ"/>
                <a:cs typeface="メイリオ"/>
              </a:rPr>
              <a:t>10/31</a:t>
            </a:r>
          </a:p>
          <a:p>
            <a:pPr algn="ctr"/>
            <a:r>
              <a:rPr sz="1150">
                <a:solidFill>
                  <a:srgbClr val="333333"/>
                </a:solidFill>
                <a:latin typeface="メイリオ"/>
                <a:ea typeface="メイリオ"/>
                <a:cs typeface="メイリオ"/>
              </a:rPr>
              <a:t>水口</a:t>
            </a:r>
          </a:p>
        </p:txBody>
      </p:sp>
      <p:sp>
        <p:nvSpPr>
          <p:cNvPr id="20" name="Rounded Rectangle 19"/>
          <p:cNvSpPr/>
          <p:nvPr/>
        </p:nvSpPr>
        <p:spPr>
          <a:xfrm>
            <a:off x="7680960" y="4114800"/>
            <a:ext cx="1645920" cy="713232"/>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sz="1400" b="1">
                <a:solidFill>
                  <a:srgbClr val="1F285A"/>
                </a:solidFill>
                <a:latin typeface="メイリオ"/>
                <a:ea typeface="メイリオ"/>
                <a:cs typeface="メイリオ"/>
              </a:rPr>
              <a:t>11/8</a:t>
            </a:r>
          </a:p>
          <a:p>
            <a:pPr algn="ctr"/>
            <a:r>
              <a:rPr sz="1150">
                <a:solidFill>
                  <a:srgbClr val="333333"/>
                </a:solidFill>
                <a:latin typeface="メイリオ"/>
                <a:ea typeface="メイリオ"/>
                <a:cs typeface="メイリオ"/>
              </a:rPr>
              <a:t>彦根</a:t>
            </a:r>
          </a:p>
        </p:txBody>
      </p:sp>
      <p:sp>
        <p:nvSpPr>
          <p:cNvPr id="21" name="TextBox 20"/>
          <p:cNvSpPr txBox="1"/>
          <p:nvPr/>
        </p:nvSpPr>
        <p:spPr>
          <a:xfrm>
            <a:off x="548640" y="4956048"/>
            <a:ext cx="8778240" cy="512064"/>
          </a:xfrm>
          <a:prstGeom prst="rect">
            <a:avLst/>
          </a:prstGeom>
          <a:noFill/>
        </p:spPr>
        <p:txBody>
          <a:bodyPr wrap="square" lIns="0" tIns="36576" rIns="73152" bIns="36576" anchor="t">
            <a:spAutoFit/>
          </a:bodyPr>
          <a:lstStyle/>
          <a:p>
            <a:pPr algn="l">
              <a:lnSpc>
                <a:spcPct val="120000"/>
              </a:lnSpc>
            </a:pPr>
            <a:r>
              <a:rPr sz="1200">
                <a:solidFill>
                  <a:srgbClr val="333333"/>
                </a:solidFill>
                <a:latin typeface="メイリオ"/>
                <a:ea typeface="メイリオ"/>
                <a:cs typeface="メイリオ"/>
              </a:rPr>
              <a:t>4会場を約6週間で回るサイクルのため、「告知→追い込み→当日→資産化」を会場ごとに重ねて運用します。前会場の来場データを次会場の配信・広告最適化に反映できる点が、複数会場開催の強みです。</a:t>
            </a:r>
          </a:p>
        </p:txBody>
      </p:sp>
      <p:sp>
        <p:nvSpPr>
          <p:cNvPr id="22" name="Rounded Rectangle 21"/>
          <p:cNvSpPr/>
          <p:nvPr/>
        </p:nvSpPr>
        <p:spPr>
          <a:xfrm>
            <a:off x="548640" y="5614416"/>
            <a:ext cx="8778240" cy="438912"/>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50" b="1">
                <a:solidFill>
                  <a:srgbClr val="FFFFFF"/>
                </a:solidFill>
                <a:latin typeface="メイリオ"/>
                <a:ea typeface="メイリオ"/>
                <a:cs typeface="メイリオ"/>
              </a:rPr>
              <a:t>4会場のデータを次の会場へ引き継ぎ、開催ごとに精度を高める</a:t>
            </a:r>
          </a:p>
        </p:txBody>
      </p:sp>
      <p:sp>
        <p:nvSpPr>
          <p:cNvPr id="23" name="TextBox 22"/>
          <p:cNvSpPr txBox="1"/>
          <p:nvPr/>
        </p:nvSpPr>
        <p:spPr>
          <a:xfrm>
            <a:off x="548640" y="6126480"/>
            <a:ext cx="8778240" cy="274320"/>
          </a:xfrm>
          <a:prstGeom prst="rect">
            <a:avLst/>
          </a:prstGeom>
          <a:noFill/>
        </p:spPr>
        <p:txBody>
          <a:bodyPr wrap="square" lIns="0" tIns="36576" rIns="73152" bIns="36576" anchor="t">
            <a:spAutoFit/>
          </a:bodyPr>
          <a:lstStyle/>
          <a:p>
            <a:pPr algn="l"/>
            <a:r>
              <a:rPr sz="1000">
                <a:solidFill>
                  <a:srgbClr val="808080"/>
                </a:solidFill>
                <a:latin typeface="メイリオ"/>
                <a:ea typeface="メイリオ"/>
                <a:cs typeface="メイリオ"/>
              </a:rPr>
              <a:t>出典：しが就職・転職フェア 公式サイト（2026年秋開催情報）</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36576" rIns="0" bIns="36576" anchor="ctr">
            <a:spAutoFit/>
          </a:bodyPr>
          <a:lstStyle/>
          <a:p>
            <a:pPr algn="l"/>
            <a:r>
              <a:rPr sz="2000" b="1">
                <a:solidFill>
                  <a:srgbClr val="002060"/>
                </a:solidFill>
                <a:latin typeface="メイリオ"/>
                <a:ea typeface="メイリオ"/>
                <a:cs typeface="メイリオ"/>
              </a:rPr>
              <a:t>具体施策⑥ ステップ配信設計（Day 0 〜 Day 14）</a:t>
            </a:r>
          </a:p>
        </p:txBody>
      </p:sp>
      <p:sp>
        <p:nvSpPr>
          <p:cNvPr id="3" name="TextBox 2"/>
          <p:cNvSpPr txBox="1"/>
          <p:nvPr/>
        </p:nvSpPr>
        <p:spPr>
          <a:xfrm>
            <a:off x="548640" y="640080"/>
            <a:ext cx="8778240" cy="530352"/>
          </a:xfrm>
          <a:prstGeom prst="rect">
            <a:avLst/>
          </a:prstGeom>
          <a:noFill/>
        </p:spPr>
        <p:txBody>
          <a:bodyPr wrap="square" lIns="0" tIns="36576" rIns="0" bIns="36576" anchor="ctr">
            <a:spAutoFit/>
          </a:bodyPr>
          <a:lstStyle/>
          <a:p>
            <a:pPr algn="l">
              <a:lnSpc>
                <a:spcPct val="110000"/>
              </a:lnSpc>
            </a:pPr>
            <a:r>
              <a:rPr sz="1400" b="1">
                <a:solidFill>
                  <a:srgbClr val="333333"/>
                </a:solidFill>
                <a:latin typeface="メイリオ"/>
                <a:ea typeface="メイリオ"/>
                <a:cs typeface="メイリオ"/>
              </a:rPr>
              <a:t>アクティブ率が最も高い追加直後に価値を渡し、開催前後の6ステップで来場と再接点を確保します。</a:t>
            </a:r>
          </a:p>
        </p:txBody>
      </p:sp>
      <p:sp>
        <p:nvSpPr>
          <p:cNvPr id="4" name="Rectangle 3"/>
          <p:cNvSpPr/>
          <p:nvPr/>
        </p:nvSpPr>
        <p:spPr>
          <a:xfrm>
            <a:off x="548640" y="1325880"/>
            <a:ext cx="2788920" cy="457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300" b="1">
                <a:solidFill>
                  <a:srgbClr val="FFFFFF"/>
                </a:solidFill>
                <a:latin typeface="メイリオ"/>
                <a:ea typeface="メイリオ"/>
                <a:cs typeface="メイリオ"/>
              </a:rPr>
              <a:t>Day 0　</a:t>
            </a:r>
            <a:r>
              <a:rPr sz="1200" b="1">
                <a:solidFill>
                  <a:srgbClr val="FFFFFF"/>
                </a:solidFill>
                <a:latin typeface="メイリオ"/>
                <a:ea typeface="メイリオ"/>
                <a:cs typeface="メイリオ"/>
              </a:rPr>
              <a:t>友だち追加・アンケート</a:t>
            </a:r>
          </a:p>
        </p:txBody>
      </p:sp>
      <p:sp>
        <p:nvSpPr>
          <p:cNvPr id="5" name="Rounded Rectangle 4"/>
          <p:cNvSpPr/>
          <p:nvPr/>
        </p:nvSpPr>
        <p:spPr>
          <a:xfrm>
            <a:off x="548640" y="1837943"/>
            <a:ext cx="2788920" cy="10972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09728" bIns="54864" rtlCol="0" anchor="ctr"/>
          <a:lstStyle/>
          <a:p>
            <a:pPr algn="l">
              <a:lnSpc>
                <a:spcPct val="120000"/>
              </a:lnSpc>
            </a:pPr>
            <a:r>
              <a:rPr sz="1150">
                <a:solidFill>
                  <a:srgbClr val="333333"/>
                </a:solidFill>
                <a:latin typeface="メイリオ"/>
                <a:ea typeface="メイリオ"/>
                <a:cs typeface="メイリオ"/>
              </a:rPr>
              <a:t>サンクスメッセージ＋希望条件診断（30秒）</a:t>
            </a:r>
          </a:p>
        </p:txBody>
      </p:sp>
      <p:sp>
        <p:nvSpPr>
          <p:cNvPr id="6" name="Right Arrow 5"/>
          <p:cNvSpPr/>
          <p:nvPr/>
        </p:nvSpPr>
        <p:spPr>
          <a:xfrm>
            <a:off x="3355848" y="1444752"/>
            <a:ext cx="146304" cy="237744"/>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547872" y="1325880"/>
            <a:ext cx="2788920" cy="457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300" b="1">
                <a:solidFill>
                  <a:srgbClr val="FFFFFF"/>
                </a:solidFill>
                <a:latin typeface="メイリオ"/>
                <a:ea typeface="メイリオ"/>
                <a:cs typeface="メイリオ"/>
              </a:rPr>
              <a:t>Day 1　</a:t>
            </a:r>
            <a:r>
              <a:rPr sz="1200" b="1">
                <a:solidFill>
                  <a:srgbClr val="FFFFFF"/>
                </a:solidFill>
                <a:latin typeface="メイリオ"/>
                <a:ea typeface="メイリオ"/>
                <a:cs typeface="メイリオ"/>
              </a:rPr>
              <a:t>診断結果＆企業提示</a:t>
            </a:r>
          </a:p>
        </p:txBody>
      </p:sp>
      <p:sp>
        <p:nvSpPr>
          <p:cNvPr id="8" name="Rounded Rectangle 7"/>
          <p:cNvSpPr/>
          <p:nvPr/>
        </p:nvSpPr>
        <p:spPr>
          <a:xfrm>
            <a:off x="3547872" y="1837943"/>
            <a:ext cx="2788920" cy="10972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09728" bIns="54864" rtlCol="0" anchor="ctr"/>
          <a:lstStyle/>
          <a:p>
            <a:pPr algn="l">
              <a:lnSpc>
                <a:spcPct val="120000"/>
              </a:lnSpc>
            </a:pPr>
            <a:r>
              <a:rPr sz="1150">
                <a:solidFill>
                  <a:srgbClr val="333333"/>
                </a:solidFill>
                <a:latin typeface="メイリオ"/>
                <a:ea typeface="メイリオ"/>
                <a:cs typeface="メイリオ"/>
              </a:rPr>
              <a:t>回答に合う出展企業をピックアップして提示</a:t>
            </a:r>
          </a:p>
        </p:txBody>
      </p:sp>
      <p:sp>
        <p:nvSpPr>
          <p:cNvPr id="9" name="Right Arrow 8"/>
          <p:cNvSpPr/>
          <p:nvPr/>
        </p:nvSpPr>
        <p:spPr>
          <a:xfrm>
            <a:off x="6355079" y="1444752"/>
            <a:ext cx="146304" cy="237744"/>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547103" y="1325880"/>
            <a:ext cx="2788920" cy="457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300" b="1">
                <a:solidFill>
                  <a:srgbClr val="FFFFFF"/>
                </a:solidFill>
                <a:latin typeface="メイリオ"/>
                <a:ea typeface="メイリオ"/>
                <a:cs typeface="メイリオ"/>
              </a:rPr>
              <a:t>Day 3　</a:t>
            </a:r>
            <a:r>
              <a:rPr sz="1200" b="1">
                <a:solidFill>
                  <a:srgbClr val="FFFFFF"/>
                </a:solidFill>
                <a:latin typeface="メイリオ"/>
                <a:ea typeface="メイリオ"/>
                <a:cs typeface="メイリオ"/>
              </a:rPr>
              <a:t>不安解消コンテンツ</a:t>
            </a:r>
          </a:p>
        </p:txBody>
      </p:sp>
      <p:sp>
        <p:nvSpPr>
          <p:cNvPr id="11" name="Rounded Rectangle 10"/>
          <p:cNvSpPr/>
          <p:nvPr/>
        </p:nvSpPr>
        <p:spPr>
          <a:xfrm>
            <a:off x="6547103" y="1837943"/>
            <a:ext cx="2788920" cy="10972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09728" bIns="54864" rtlCol="0" anchor="ctr"/>
          <a:lstStyle/>
          <a:p>
            <a:pPr algn="l">
              <a:lnSpc>
                <a:spcPct val="120000"/>
              </a:lnSpc>
            </a:pPr>
            <a:r>
              <a:rPr sz="1150">
                <a:solidFill>
                  <a:srgbClr val="333333"/>
                </a:solidFill>
                <a:latin typeface="メイリオ"/>
                <a:ea typeface="メイリオ"/>
                <a:cs typeface="メイリオ"/>
              </a:rPr>
              <a:t>服装・持ち物・ブースの回り方をQ&amp;A形式で</a:t>
            </a:r>
          </a:p>
        </p:txBody>
      </p:sp>
      <p:sp>
        <p:nvSpPr>
          <p:cNvPr id="12" name="Rectangle 11"/>
          <p:cNvSpPr/>
          <p:nvPr/>
        </p:nvSpPr>
        <p:spPr>
          <a:xfrm>
            <a:off x="548640" y="3200400"/>
            <a:ext cx="2788920" cy="457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300" b="1">
                <a:solidFill>
                  <a:srgbClr val="FFFFFF"/>
                </a:solidFill>
                <a:latin typeface="メイリオ"/>
                <a:ea typeface="メイリオ"/>
                <a:cs typeface="メイリオ"/>
              </a:rPr>
              <a:t>Day 6　</a:t>
            </a:r>
            <a:r>
              <a:rPr sz="1200" b="1">
                <a:solidFill>
                  <a:srgbClr val="FFFFFF"/>
                </a:solidFill>
                <a:latin typeface="メイリオ"/>
                <a:ea typeface="メイリオ"/>
                <a:cs typeface="メイリオ"/>
              </a:rPr>
              <a:t>開催前日リマインド</a:t>
            </a:r>
          </a:p>
        </p:txBody>
      </p:sp>
      <p:sp>
        <p:nvSpPr>
          <p:cNvPr id="13" name="Rounded Rectangle 12"/>
          <p:cNvSpPr/>
          <p:nvPr/>
        </p:nvSpPr>
        <p:spPr>
          <a:xfrm>
            <a:off x="548640" y="3712464"/>
            <a:ext cx="2788920" cy="10972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09728" bIns="54864" rtlCol="0" anchor="ctr"/>
          <a:lstStyle/>
          <a:p>
            <a:pPr algn="l">
              <a:lnSpc>
                <a:spcPct val="120000"/>
              </a:lnSpc>
            </a:pPr>
            <a:r>
              <a:rPr sz="1150">
                <a:solidFill>
                  <a:srgbClr val="333333"/>
                </a:solidFill>
                <a:latin typeface="メイリオ"/>
                <a:ea typeface="メイリオ"/>
                <a:cs typeface="メイリオ"/>
              </a:rPr>
              <a:t>アクセスMAP付きで来場を後押し</a:t>
            </a:r>
          </a:p>
        </p:txBody>
      </p:sp>
      <p:sp>
        <p:nvSpPr>
          <p:cNvPr id="14" name="Right Arrow 13"/>
          <p:cNvSpPr/>
          <p:nvPr/>
        </p:nvSpPr>
        <p:spPr>
          <a:xfrm>
            <a:off x="3355848" y="3319272"/>
            <a:ext cx="146304" cy="237744"/>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547872" y="3200400"/>
            <a:ext cx="2788920" cy="457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300" b="1">
                <a:solidFill>
                  <a:srgbClr val="FFFFFF"/>
                </a:solidFill>
                <a:latin typeface="メイリオ"/>
                <a:ea typeface="メイリオ"/>
                <a:cs typeface="メイリオ"/>
              </a:rPr>
              <a:t>Day 7　</a:t>
            </a:r>
            <a:r>
              <a:rPr sz="1200" b="1">
                <a:solidFill>
                  <a:srgbClr val="FFFFFF"/>
                </a:solidFill>
                <a:latin typeface="メイリオ"/>
                <a:ea typeface="メイリオ"/>
                <a:cs typeface="メイリオ"/>
              </a:rPr>
              <a:t>当日朝の最終通知</a:t>
            </a:r>
          </a:p>
        </p:txBody>
      </p:sp>
      <p:sp>
        <p:nvSpPr>
          <p:cNvPr id="16" name="Rounded Rectangle 15"/>
          <p:cNvSpPr/>
          <p:nvPr/>
        </p:nvSpPr>
        <p:spPr>
          <a:xfrm>
            <a:off x="3547872" y="3712464"/>
            <a:ext cx="2788920" cy="10972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09728" bIns="54864" rtlCol="0" anchor="ctr"/>
          <a:lstStyle/>
          <a:p>
            <a:pPr algn="l">
              <a:lnSpc>
                <a:spcPct val="120000"/>
              </a:lnSpc>
            </a:pPr>
            <a:r>
              <a:rPr sz="1150">
                <a:solidFill>
                  <a:srgbClr val="333333"/>
                </a:solidFill>
                <a:latin typeface="メイリオ"/>
                <a:ea typeface="メイリオ"/>
                <a:cs typeface="メイリオ"/>
              </a:rPr>
              <a:t>開催時間・会場を再通知し、当日の迷いを解消</a:t>
            </a:r>
          </a:p>
        </p:txBody>
      </p:sp>
      <p:sp>
        <p:nvSpPr>
          <p:cNvPr id="17" name="Right Arrow 16"/>
          <p:cNvSpPr/>
          <p:nvPr/>
        </p:nvSpPr>
        <p:spPr>
          <a:xfrm>
            <a:off x="6355079" y="3319272"/>
            <a:ext cx="146304" cy="237744"/>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547103" y="3200400"/>
            <a:ext cx="2788920" cy="457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300" b="1">
                <a:solidFill>
                  <a:srgbClr val="FFFFFF"/>
                </a:solidFill>
                <a:latin typeface="メイリオ"/>
                <a:ea typeface="メイリオ"/>
                <a:cs typeface="メイリオ"/>
              </a:rPr>
              <a:t>Day 14　</a:t>
            </a:r>
            <a:r>
              <a:rPr sz="1200" b="1">
                <a:solidFill>
                  <a:srgbClr val="FFFFFF"/>
                </a:solidFill>
                <a:latin typeface="メイリオ"/>
                <a:ea typeface="メイリオ"/>
                <a:cs typeface="メイリオ"/>
              </a:rPr>
              <a:t>イベント後フォロー</a:t>
            </a:r>
          </a:p>
        </p:txBody>
      </p:sp>
      <p:sp>
        <p:nvSpPr>
          <p:cNvPr id="19" name="Rounded Rectangle 18"/>
          <p:cNvSpPr/>
          <p:nvPr/>
        </p:nvSpPr>
        <p:spPr>
          <a:xfrm>
            <a:off x="6547103" y="3712464"/>
            <a:ext cx="2788920" cy="10972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09728" bIns="54864" rtlCol="0" anchor="ctr"/>
          <a:lstStyle/>
          <a:p>
            <a:pPr algn="l">
              <a:lnSpc>
                <a:spcPct val="120000"/>
              </a:lnSpc>
            </a:pPr>
            <a:r>
              <a:rPr sz="1150">
                <a:solidFill>
                  <a:srgbClr val="333333"/>
                </a:solidFill>
                <a:latin typeface="メイリオ"/>
                <a:ea typeface="メイリオ"/>
                <a:cs typeface="メイリオ"/>
              </a:rPr>
              <a:t>お礼＋無料個別キャリア相談への誘導</a:t>
            </a:r>
          </a:p>
        </p:txBody>
      </p:sp>
      <p:sp>
        <p:nvSpPr>
          <p:cNvPr id="20" name="TextBox 19"/>
          <p:cNvSpPr txBox="1"/>
          <p:nvPr/>
        </p:nvSpPr>
        <p:spPr>
          <a:xfrm>
            <a:off x="548640" y="5138928"/>
            <a:ext cx="8778240" cy="512064"/>
          </a:xfrm>
          <a:prstGeom prst="rect">
            <a:avLst/>
          </a:prstGeom>
          <a:noFill/>
        </p:spPr>
        <p:txBody>
          <a:bodyPr wrap="square" lIns="0" tIns="36576" rIns="73152" bIns="36576" anchor="t">
            <a:spAutoFit/>
          </a:bodyPr>
          <a:lstStyle/>
          <a:p>
            <a:pPr algn="l">
              <a:lnSpc>
                <a:spcPct val="120000"/>
              </a:lnSpc>
            </a:pPr>
            <a:r>
              <a:rPr sz="1200">
                <a:solidFill>
                  <a:srgbClr val="333333"/>
                </a:solidFill>
                <a:latin typeface="メイリオ"/>
                <a:ea typeface="メイリオ"/>
                <a:cs typeface="メイリオ"/>
              </a:rPr>
              <a:t>Day 0〜3で「登録してよかった」を作り、Day 6〜7で来場を確定させ、Day 14で次の接点につなげます。開催日程に合わせてDay数は自動調整します。</a:t>
            </a:r>
          </a:p>
        </p:txBody>
      </p:sp>
      <p:sp>
        <p:nvSpPr>
          <p:cNvPr id="21" name="Rounded Rectangle 20"/>
          <p:cNvSpPr/>
          <p:nvPr/>
        </p:nvSpPr>
        <p:spPr>
          <a:xfrm>
            <a:off x="548640" y="5705856"/>
            <a:ext cx="8778240" cy="438912"/>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50" b="1">
                <a:solidFill>
                  <a:srgbClr val="FFFFFF"/>
                </a:solidFill>
                <a:latin typeface="メイリオ"/>
                <a:ea typeface="メイリオ"/>
                <a:cs typeface="メイリオ"/>
              </a:rPr>
              <a:t>6ステップすべて自動配信。運用工数を増やさずに来場率を高める</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36576" rIns="0" bIns="36576" anchor="ctr">
            <a:spAutoFit/>
          </a:bodyPr>
          <a:lstStyle/>
          <a:p>
            <a:pPr algn="l"/>
            <a:r>
              <a:rPr sz="2000" b="1">
                <a:solidFill>
                  <a:srgbClr val="002060"/>
                </a:solidFill>
                <a:latin typeface="メイリオ"/>
                <a:ea typeface="メイリオ"/>
                <a:cs typeface="メイリオ"/>
              </a:rPr>
              <a:t>具体施策⑦ Meta広告×LINE連携（オフラインCV最適化）</a:t>
            </a:r>
          </a:p>
        </p:txBody>
      </p:sp>
      <p:sp>
        <p:nvSpPr>
          <p:cNvPr id="3" name="TextBox 2"/>
          <p:cNvSpPr txBox="1"/>
          <p:nvPr/>
        </p:nvSpPr>
        <p:spPr>
          <a:xfrm>
            <a:off x="548640" y="640080"/>
            <a:ext cx="8778240" cy="530352"/>
          </a:xfrm>
          <a:prstGeom prst="rect">
            <a:avLst/>
          </a:prstGeom>
          <a:noFill/>
        </p:spPr>
        <p:txBody>
          <a:bodyPr wrap="square" lIns="0" tIns="36576" rIns="0" bIns="36576" anchor="ctr">
            <a:spAutoFit/>
          </a:bodyPr>
          <a:lstStyle/>
          <a:p>
            <a:pPr algn="l">
              <a:lnSpc>
                <a:spcPct val="110000"/>
              </a:lnSpc>
            </a:pPr>
            <a:r>
              <a:rPr sz="1400" b="1">
                <a:solidFill>
                  <a:srgbClr val="333333"/>
                </a:solidFill>
                <a:latin typeface="メイリオ"/>
                <a:ea typeface="メイリオ"/>
                <a:cs typeface="メイリオ"/>
              </a:rPr>
              <a:t>「未来場者データの自動除外」により、予約からの来場引き上げ率を8割まで改善します。</a:t>
            </a:r>
          </a:p>
        </p:txBody>
      </p:sp>
      <p:sp>
        <p:nvSpPr>
          <p:cNvPr id="4" name="Rectangle 3"/>
          <p:cNvSpPr/>
          <p:nvPr/>
        </p:nvSpPr>
        <p:spPr>
          <a:xfrm>
            <a:off x="548640" y="1325880"/>
            <a:ext cx="2084831"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1150" b="1">
                <a:solidFill>
                  <a:srgbClr val="333333"/>
                </a:solidFill>
                <a:latin typeface="メイリオ"/>
                <a:ea typeface="メイリオ"/>
                <a:cs typeface="メイリオ"/>
              </a:rPr>
              <a:t>Meta広告</a:t>
            </a:r>
          </a:p>
        </p:txBody>
      </p:sp>
      <p:sp>
        <p:nvSpPr>
          <p:cNvPr id="5" name="Rectangle 4"/>
          <p:cNvSpPr/>
          <p:nvPr/>
        </p:nvSpPr>
        <p:spPr>
          <a:xfrm>
            <a:off x="548640" y="1801368"/>
            <a:ext cx="2084831" cy="1188720"/>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28016" tIns="109728" bIns="36576" rtlCol="0" anchor="t"/>
          <a:lstStyle/>
          <a:p>
            <a:pPr algn="l">
              <a:lnSpc>
                <a:spcPct val="120000"/>
              </a:lnSpc>
            </a:pPr>
            <a:r>
              <a:rPr sz="1150">
                <a:solidFill>
                  <a:srgbClr val="333333"/>
                </a:solidFill>
                <a:latin typeface="メイリオ"/>
                <a:ea typeface="メイリオ"/>
                <a:cs typeface="メイリオ"/>
              </a:rPr>
              <a:t>予約・来場につながりやすいユーザーを獲得</a:t>
            </a:r>
          </a:p>
        </p:txBody>
      </p:sp>
      <p:sp>
        <p:nvSpPr>
          <p:cNvPr id="6" name="Right Arrow 5"/>
          <p:cNvSpPr/>
          <p:nvPr/>
        </p:nvSpPr>
        <p:spPr>
          <a:xfrm>
            <a:off x="2651760" y="2231136"/>
            <a:ext cx="128016" cy="274320"/>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98064" y="1325880"/>
            <a:ext cx="2084831" cy="420624"/>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1150" b="1">
                <a:solidFill>
                  <a:srgbClr val="FFFFFF"/>
                </a:solidFill>
                <a:latin typeface="メイリオ"/>
                <a:ea typeface="メイリオ"/>
                <a:cs typeface="メイリオ"/>
              </a:rPr>
              <a:t>LINE公式アカウント</a:t>
            </a:r>
          </a:p>
        </p:txBody>
      </p:sp>
      <p:sp>
        <p:nvSpPr>
          <p:cNvPr id="8" name="Rectangle 7"/>
          <p:cNvSpPr/>
          <p:nvPr/>
        </p:nvSpPr>
        <p:spPr>
          <a:xfrm>
            <a:off x="2798064" y="1801368"/>
            <a:ext cx="2084831" cy="1188720"/>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28016" tIns="109728" bIns="36576" rtlCol="0" anchor="t"/>
          <a:lstStyle/>
          <a:p>
            <a:pPr algn="l">
              <a:lnSpc>
                <a:spcPct val="120000"/>
              </a:lnSpc>
            </a:pPr>
            <a:r>
              <a:rPr sz="1150">
                <a:solidFill>
                  <a:srgbClr val="333333"/>
                </a:solidFill>
                <a:latin typeface="メイリオ"/>
                <a:ea typeface="メイリオ"/>
                <a:cs typeface="メイリオ"/>
              </a:rPr>
              <a:t>予約フォーム送信後にLINEへ自動登録・リマインド配信</a:t>
            </a:r>
          </a:p>
        </p:txBody>
      </p:sp>
      <p:sp>
        <p:nvSpPr>
          <p:cNvPr id="9" name="Right Arrow 8"/>
          <p:cNvSpPr/>
          <p:nvPr/>
        </p:nvSpPr>
        <p:spPr>
          <a:xfrm>
            <a:off x="4901183" y="2231136"/>
            <a:ext cx="128016" cy="274320"/>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47488" y="1325880"/>
            <a:ext cx="2084831" cy="420624"/>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1150" b="1">
                <a:solidFill>
                  <a:srgbClr val="FFFFFF"/>
                </a:solidFill>
                <a:latin typeface="メイリオ"/>
                <a:ea typeface="メイリオ"/>
                <a:cs typeface="メイリオ"/>
              </a:rPr>
              <a:t>LINE公式アカウント</a:t>
            </a:r>
          </a:p>
        </p:txBody>
      </p:sp>
      <p:sp>
        <p:nvSpPr>
          <p:cNvPr id="11" name="Rectangle 10"/>
          <p:cNvSpPr/>
          <p:nvPr/>
        </p:nvSpPr>
        <p:spPr>
          <a:xfrm>
            <a:off x="5047488" y="1801368"/>
            <a:ext cx="2084831" cy="1188720"/>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28016" tIns="109728" bIns="36576" rtlCol="0" anchor="t"/>
          <a:lstStyle/>
          <a:p>
            <a:pPr algn="l">
              <a:lnSpc>
                <a:spcPct val="120000"/>
              </a:lnSpc>
            </a:pPr>
            <a:r>
              <a:rPr sz="1150">
                <a:solidFill>
                  <a:srgbClr val="333333"/>
                </a:solidFill>
                <a:latin typeface="メイリオ"/>
                <a:ea typeface="メイリオ"/>
                <a:cs typeface="メイリオ"/>
              </a:rPr>
              <a:t>当日の来場判定をデータ化（オフラインCV）</a:t>
            </a:r>
          </a:p>
        </p:txBody>
      </p:sp>
      <p:sp>
        <p:nvSpPr>
          <p:cNvPr id="12" name="Right Arrow 11"/>
          <p:cNvSpPr/>
          <p:nvPr/>
        </p:nvSpPr>
        <p:spPr>
          <a:xfrm>
            <a:off x="7150607" y="2231136"/>
            <a:ext cx="128016" cy="274320"/>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296912" y="1325880"/>
            <a:ext cx="2084831"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1150" b="1">
                <a:solidFill>
                  <a:srgbClr val="333333"/>
                </a:solidFill>
                <a:latin typeface="メイリオ"/>
                <a:ea typeface="メイリオ"/>
                <a:cs typeface="メイリオ"/>
              </a:rPr>
              <a:t>Meta広告へ連携</a:t>
            </a:r>
          </a:p>
        </p:txBody>
      </p:sp>
      <p:sp>
        <p:nvSpPr>
          <p:cNvPr id="14" name="Rectangle 13"/>
          <p:cNvSpPr/>
          <p:nvPr/>
        </p:nvSpPr>
        <p:spPr>
          <a:xfrm>
            <a:off x="7296912" y="1801368"/>
            <a:ext cx="2084831" cy="1188720"/>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28016" tIns="109728" bIns="36576" rtlCol="0" anchor="t"/>
          <a:lstStyle/>
          <a:p>
            <a:pPr algn="l">
              <a:lnSpc>
                <a:spcPct val="120000"/>
              </a:lnSpc>
            </a:pPr>
            <a:r>
              <a:rPr sz="1150">
                <a:solidFill>
                  <a:srgbClr val="333333"/>
                </a:solidFill>
                <a:latin typeface="メイリオ"/>
                <a:ea typeface="メイリオ"/>
                <a:cs typeface="メイリオ"/>
              </a:rPr>
              <a:t>非来場ユーザーを除外し、配信精度がさらに向上</a:t>
            </a:r>
          </a:p>
        </p:txBody>
      </p:sp>
      <p:sp>
        <p:nvSpPr>
          <p:cNvPr id="15" name="Left Arrow 14"/>
          <p:cNvSpPr/>
          <p:nvPr/>
        </p:nvSpPr>
        <p:spPr>
          <a:xfrm>
            <a:off x="914400" y="3127248"/>
            <a:ext cx="8046720" cy="402336"/>
          </a:xfrm>
          <a:prstGeom prst="leftArrow">
            <a:avLst/>
          </a:prstGeom>
          <a:solidFill>
            <a:srgbClr val="F4F7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502920" tIns="0" bIns="0" rtlCol="0" anchor="ctr"/>
          <a:lstStyle/>
          <a:p>
            <a:pPr algn="ctr"/>
            <a:r>
              <a:rPr sz="1200" b="1">
                <a:solidFill>
                  <a:srgbClr val="1F285A"/>
                </a:solidFill>
                <a:latin typeface="メイリオ"/>
                <a:ea typeface="メイリオ"/>
                <a:cs typeface="メイリオ"/>
              </a:rPr>
              <a:t>来場・非来場データをMeta広告へ連携 → 「来場する人」へ配信を最適化（ドタキャン層を除外）</a:t>
            </a:r>
          </a:p>
        </p:txBody>
      </p:sp>
      <p:sp>
        <p:nvSpPr>
          <p:cNvPr id="16" name="Rounded Rectangle 15"/>
          <p:cNvSpPr/>
          <p:nvPr/>
        </p:nvSpPr>
        <p:spPr>
          <a:xfrm>
            <a:off x="548640" y="3749039"/>
            <a:ext cx="5120640" cy="1325880"/>
          </a:xfrm>
          <a:prstGeom prst="roundRect">
            <a:avLst>
              <a:gd name="adj" fmla="val 8000"/>
            </a:avLst>
          </a:prstGeom>
          <a:solidFill>
            <a:srgbClr val="F4F7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28016" bIns="54864" rtlCol="0" anchor="ctr"/>
          <a:lstStyle/>
          <a:p>
            <a:pPr algn="l">
              <a:spcAft>
                <a:spcPts val="500"/>
              </a:spcAft>
            </a:pPr>
            <a:r>
              <a:rPr sz="1200" b="1">
                <a:solidFill>
                  <a:srgbClr val="1F285A"/>
                </a:solidFill>
                <a:latin typeface="メイリオ"/>
                <a:ea typeface="メイリオ"/>
                <a:cs typeface="メイリオ"/>
              </a:rPr>
              <a:t>期待効果</a:t>
            </a:r>
          </a:p>
          <a:p>
            <a:pPr algn="l">
              <a:spcAft>
                <a:spcPts val="400"/>
              </a:spcAft>
            </a:pPr>
            <a:r>
              <a:rPr sz="1200">
                <a:solidFill>
                  <a:srgbClr val="333333"/>
                </a:solidFill>
                <a:latin typeface="メイリオ"/>
                <a:ea typeface="メイリオ"/>
                <a:cs typeface="メイリオ"/>
              </a:rPr>
              <a:t>予約→来場の引き上げ率　</a:t>
            </a:r>
            <a:r>
              <a:rPr sz="1400" b="1">
                <a:solidFill>
                  <a:srgbClr val="333333"/>
                </a:solidFill>
                <a:latin typeface="メイリオ"/>
                <a:ea typeface="メイリオ"/>
                <a:cs typeface="メイリオ"/>
              </a:rPr>
              <a:t>60〜70%</a:t>
            </a:r>
            <a:r>
              <a:rPr sz="1200">
                <a:solidFill>
                  <a:srgbClr val="808080"/>
                </a:solidFill>
                <a:latin typeface="メイリオ"/>
                <a:ea typeface="メイリオ"/>
                <a:cs typeface="メイリオ"/>
              </a:rPr>
              <a:t> → </a:t>
            </a:r>
            <a:r>
              <a:rPr sz="2000" b="1">
                <a:solidFill>
                  <a:srgbClr val="1F285A"/>
                </a:solidFill>
                <a:latin typeface="メイリオ"/>
                <a:ea typeface="メイリオ"/>
                <a:cs typeface="メイリオ"/>
              </a:rPr>
              <a:t>80%</a:t>
            </a:r>
          </a:p>
          <a:p>
            <a:pPr algn="l">
              <a:spcAft>
                <a:spcPts val="400"/>
              </a:spcAft>
            </a:pPr>
            <a:r>
              <a:rPr sz="1200">
                <a:solidFill>
                  <a:srgbClr val="333333"/>
                </a:solidFill>
                <a:latin typeface="メイリオ"/>
                <a:ea typeface="メイリオ"/>
                <a:cs typeface="メイリオ"/>
              </a:rPr>
              <a:t>実質来場コスト　</a:t>
            </a:r>
            <a:r>
              <a:rPr sz="1400" b="1">
                <a:solidFill>
                  <a:srgbClr val="1F285A"/>
                </a:solidFill>
                <a:latin typeface="メイリオ"/>
                <a:ea typeface="メイリオ"/>
                <a:cs typeface="メイリオ"/>
              </a:rPr>
              <a:t>最大30〜40%削減</a:t>
            </a:r>
          </a:p>
          <a:p>
            <a:pPr algn="l"/>
            <a:r>
              <a:rPr sz="1000">
                <a:solidFill>
                  <a:srgbClr val="808080"/>
                </a:solidFill>
                <a:latin typeface="メイリオ"/>
                <a:ea typeface="メイリオ"/>
                <a:cs typeface="メイリオ"/>
              </a:rPr>
              <a:t>他クライアントの実績値ベース（参照元：社内配信実績）</a:t>
            </a:r>
          </a:p>
        </p:txBody>
      </p:sp>
      <p:sp>
        <p:nvSpPr>
          <p:cNvPr id="17" name="Rounded Rectangle 16"/>
          <p:cNvSpPr/>
          <p:nvPr/>
        </p:nvSpPr>
        <p:spPr>
          <a:xfrm>
            <a:off x="5897880" y="3749039"/>
            <a:ext cx="3429000" cy="132588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64592" tIns="54864" rIns="128016" bIns="54864" rtlCol="0" anchor="ctr"/>
          <a:lstStyle/>
          <a:p>
            <a:pPr algn="l">
              <a:spcAft>
                <a:spcPts val="500"/>
              </a:spcAft>
            </a:pPr>
            <a:r>
              <a:rPr sz="1200" b="1">
                <a:solidFill>
                  <a:srgbClr val="1F285A"/>
                </a:solidFill>
                <a:latin typeface="メイリオ"/>
                <a:ea typeface="メイリオ"/>
                <a:cs typeface="メイリオ"/>
              </a:rPr>
              <a:t>「知らぬ間の登録」へのご配慮</a:t>
            </a:r>
          </a:p>
          <a:p>
            <a:pPr algn="l">
              <a:lnSpc>
                <a:spcPct val="120000"/>
              </a:lnSpc>
            </a:pPr>
            <a:r>
              <a:rPr sz="1100">
                <a:solidFill>
                  <a:srgbClr val="333333"/>
                </a:solidFill>
                <a:latin typeface="メイリオ"/>
                <a:ea typeface="メイリオ"/>
                <a:cs typeface="メイリオ"/>
              </a:rPr>
              <a:t>申込フォーム送信後、予約完了通知・会場案内をLINEでお届けする自然な遷移導線のため、ユーザーの違和感が生じにくい設計です。</a:t>
            </a:r>
          </a:p>
        </p:txBody>
      </p:sp>
      <p:sp>
        <p:nvSpPr>
          <p:cNvPr id="18" name="Rounded Rectangle 17"/>
          <p:cNvSpPr/>
          <p:nvPr/>
        </p:nvSpPr>
        <p:spPr>
          <a:xfrm>
            <a:off x="548640" y="5257800"/>
            <a:ext cx="8778240" cy="47548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この導線の中核はLINE公式アカウント ─ LINE運用の質が、広告配信の精度まで左右する</a:t>
            </a:r>
          </a:p>
        </p:txBody>
      </p:sp>
    </p:spTree>
    <p:extLst>
      <p:ext uri="{BB962C8B-B14F-4D97-AF65-F5344CB8AC3E}">
        <p14:creationId xmlns:p14="http://schemas.microsoft.com/office/powerpoint/2010/main" val="9826497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36576" rIns="0" bIns="36576" anchor="ctr">
            <a:spAutoFit/>
          </a:bodyPr>
          <a:lstStyle/>
          <a:p>
            <a:pPr algn="l"/>
            <a:r>
              <a:rPr sz="2000" b="1">
                <a:solidFill>
                  <a:srgbClr val="002060"/>
                </a:solidFill>
                <a:latin typeface="メイリオ"/>
                <a:ea typeface="メイリオ"/>
                <a:cs typeface="メイリオ"/>
              </a:rPr>
              <a:t>具体施策⑧ LP離脱防止ポップアップ・LINE誘導導線</a:t>
            </a:r>
          </a:p>
        </p:txBody>
      </p:sp>
      <p:sp>
        <p:nvSpPr>
          <p:cNvPr id="3" name="TextBox 2"/>
          <p:cNvSpPr txBox="1"/>
          <p:nvPr/>
        </p:nvSpPr>
        <p:spPr>
          <a:xfrm>
            <a:off x="548640" y="640080"/>
            <a:ext cx="8778240" cy="530352"/>
          </a:xfrm>
          <a:prstGeom prst="rect">
            <a:avLst/>
          </a:prstGeom>
          <a:noFill/>
        </p:spPr>
        <p:txBody>
          <a:bodyPr wrap="square" lIns="0" tIns="36576" rIns="0" bIns="36576" anchor="ctr">
            <a:spAutoFit/>
          </a:bodyPr>
          <a:lstStyle/>
          <a:p>
            <a:pPr algn="l">
              <a:lnSpc>
                <a:spcPct val="110000"/>
              </a:lnSpc>
            </a:pPr>
            <a:r>
              <a:rPr sz="1400" b="1">
                <a:solidFill>
                  <a:srgbClr val="333333"/>
                </a:solidFill>
                <a:latin typeface="メイリオ"/>
                <a:ea typeface="メイリオ"/>
                <a:cs typeface="メイリオ"/>
              </a:rPr>
              <a:t>特典をフックにLINE登録率を底上げし、「予約に至らなかった訪問者」も友だち資産に変えます。</a:t>
            </a:r>
          </a:p>
        </p:txBody>
      </p:sp>
      <p:sp>
        <p:nvSpPr>
          <p:cNvPr id="4" name="Rounded Rectangle 3"/>
          <p:cNvSpPr/>
          <p:nvPr/>
        </p:nvSpPr>
        <p:spPr>
          <a:xfrm>
            <a:off x="548640" y="1325880"/>
            <a:ext cx="3977639" cy="2103120"/>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2880" tIns="128016" rIns="146304" bIns="36576" rtlCol="0" anchor="t"/>
          <a:lstStyle/>
          <a:p>
            <a:pPr algn="l">
              <a:spcAft>
                <a:spcPts val="600"/>
              </a:spcAft>
            </a:pPr>
            <a:r>
              <a:rPr sz="1400" b="1">
                <a:solidFill>
                  <a:srgbClr val="C00000"/>
                </a:solidFill>
                <a:latin typeface="メイリオ"/>
                <a:ea typeface="メイリオ"/>
                <a:cs typeface="メイリオ"/>
              </a:rPr>
              <a:t>Before（現状）</a:t>
            </a:r>
          </a:p>
          <a:p>
            <a:pPr algn="l">
              <a:lnSpc>
                <a:spcPct val="115000"/>
              </a:lnSpc>
              <a:spcAft>
                <a:spcPts val="400"/>
              </a:spcAft>
            </a:pPr>
            <a:r>
              <a:rPr sz="1200">
                <a:solidFill>
                  <a:srgbClr val="333333"/>
                </a:solidFill>
                <a:latin typeface="メイリオ"/>
                <a:ea typeface="メイリオ"/>
                <a:cs typeface="メイリオ"/>
              </a:rPr>
              <a:t>・LP内のLINE導線は「最新情報配信中」の告知のみ</a:t>
            </a:r>
          </a:p>
          <a:p>
            <a:pPr algn="l">
              <a:lnSpc>
                <a:spcPct val="115000"/>
              </a:lnSpc>
              <a:spcAft>
                <a:spcPts val="400"/>
              </a:spcAft>
            </a:pPr>
            <a:r>
              <a:rPr sz="1200">
                <a:solidFill>
                  <a:srgbClr val="333333"/>
                </a:solidFill>
                <a:latin typeface="メイリオ"/>
                <a:ea typeface="メイリオ"/>
                <a:cs typeface="メイリオ"/>
              </a:rPr>
              <a:t>・登録するメリットが提示されていない</a:t>
            </a:r>
          </a:p>
          <a:p>
            <a:pPr algn="l">
              <a:lnSpc>
                <a:spcPct val="115000"/>
              </a:lnSpc>
            </a:pPr>
            <a:r>
              <a:rPr sz="1200">
                <a:solidFill>
                  <a:srgbClr val="333333"/>
                </a:solidFill>
                <a:latin typeface="メイリオ"/>
                <a:ea typeface="メイリオ"/>
                <a:cs typeface="メイリオ"/>
              </a:rPr>
              <a:t>・予約に至らなかった訪問者は、そのまま離脱</a:t>
            </a:r>
          </a:p>
        </p:txBody>
      </p:sp>
      <p:sp>
        <p:nvSpPr>
          <p:cNvPr id="5" name="Right Arrow 4"/>
          <p:cNvSpPr/>
          <p:nvPr/>
        </p:nvSpPr>
        <p:spPr>
          <a:xfrm>
            <a:off x="4617720" y="2157984"/>
            <a:ext cx="566928" cy="457200"/>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349240" y="1325880"/>
            <a:ext cx="3977639" cy="2103120"/>
          </a:xfrm>
          <a:prstGeom prst="roundRect">
            <a:avLst>
              <a:gd name="adj" fmla="val 8000"/>
            </a:avLst>
          </a:prstGeom>
          <a:solidFill>
            <a:srgbClr val="F4F7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182880" tIns="128016" rIns="146304" bIns="36576" rtlCol="0" anchor="t"/>
          <a:lstStyle/>
          <a:p>
            <a:pPr algn="l">
              <a:spcAft>
                <a:spcPts val="600"/>
              </a:spcAft>
            </a:pPr>
            <a:r>
              <a:rPr sz="1400" b="1">
                <a:solidFill>
                  <a:srgbClr val="1F285A"/>
                </a:solidFill>
                <a:latin typeface="メイリオ"/>
                <a:ea typeface="メイリオ"/>
                <a:cs typeface="メイリオ"/>
              </a:rPr>
              <a:t>After（ご提案）</a:t>
            </a:r>
          </a:p>
          <a:p>
            <a:pPr algn="l">
              <a:lnSpc>
                <a:spcPct val="115000"/>
              </a:lnSpc>
              <a:spcAft>
                <a:spcPts val="400"/>
              </a:spcAft>
            </a:pPr>
            <a:r>
              <a:rPr sz="1200">
                <a:solidFill>
                  <a:srgbClr val="333333"/>
                </a:solidFill>
                <a:latin typeface="メイリオ"/>
                <a:ea typeface="メイリオ"/>
                <a:cs typeface="メイリオ"/>
              </a:rPr>
              <a:t>・離脱の兆候を検知してポップアップを表示</a:t>
            </a:r>
          </a:p>
          <a:p>
            <a:pPr algn="l">
              <a:lnSpc>
                <a:spcPct val="115000"/>
              </a:lnSpc>
              <a:spcAft>
                <a:spcPts val="400"/>
              </a:spcAft>
            </a:pPr>
            <a:r>
              <a:rPr sz="1200">
                <a:solidFill>
                  <a:srgbClr val="333333"/>
                </a:solidFill>
                <a:latin typeface="メイリオ"/>
                <a:ea typeface="メイリオ"/>
                <a:cs typeface="メイリオ"/>
              </a:rPr>
              <a:t>・『滋賀県内 業界別平均年収＆面接対策シート』を特典化</a:t>
            </a:r>
          </a:p>
          <a:p>
            <a:pPr algn="l">
              <a:lnSpc>
                <a:spcPct val="115000"/>
              </a:lnSpc>
            </a:pPr>
            <a:r>
              <a:rPr sz="1200">
                <a:solidFill>
                  <a:srgbClr val="333333"/>
                </a:solidFill>
                <a:latin typeface="メイリオ"/>
                <a:ea typeface="メイリオ"/>
                <a:cs typeface="メイリオ"/>
              </a:rPr>
              <a:t>・登録メリットを明示し、友だち追加率を底上げ</a:t>
            </a:r>
          </a:p>
        </p:txBody>
      </p:sp>
      <p:sp>
        <p:nvSpPr>
          <p:cNvPr id="7" name="TextBox 6"/>
          <p:cNvSpPr txBox="1"/>
          <p:nvPr/>
        </p:nvSpPr>
        <p:spPr>
          <a:xfrm>
            <a:off x="548640" y="3584448"/>
            <a:ext cx="8778240" cy="310896"/>
          </a:xfrm>
          <a:prstGeom prst="rect">
            <a:avLst/>
          </a:prstGeom>
          <a:noFill/>
        </p:spPr>
        <p:txBody>
          <a:bodyPr wrap="square" lIns="0" tIns="36576" rIns="73152" bIns="36576" anchor="t">
            <a:spAutoFit/>
          </a:bodyPr>
          <a:lstStyle/>
          <a:p>
            <a:pPr algn="l"/>
            <a:r>
              <a:rPr sz="1300" b="1">
                <a:solidFill>
                  <a:srgbClr val="1F285A"/>
                </a:solidFill>
                <a:latin typeface="メイリオ"/>
                <a:ea typeface="メイリオ"/>
                <a:cs typeface="メイリオ"/>
              </a:rPr>
              <a:t>ご提供特典（案）</a:t>
            </a:r>
          </a:p>
        </p:txBody>
      </p:sp>
      <p:sp>
        <p:nvSpPr>
          <p:cNvPr id="8" name="Rounded Rectangle 7"/>
          <p:cNvSpPr/>
          <p:nvPr/>
        </p:nvSpPr>
        <p:spPr>
          <a:xfrm>
            <a:off x="548640" y="3931920"/>
            <a:ext cx="4251960" cy="96012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300" b="1">
                <a:solidFill>
                  <a:srgbClr val="1F285A"/>
                </a:solidFill>
                <a:latin typeface="メイリオ"/>
                <a:ea typeface="メイリオ"/>
                <a:cs typeface="メイリオ"/>
              </a:rPr>
              <a:t>① 滋賀県内 業界別平均年収シート</a:t>
            </a:r>
          </a:p>
          <a:p>
            <a:pPr algn="l">
              <a:lnSpc>
                <a:spcPct val="115000"/>
              </a:lnSpc>
            </a:pPr>
            <a:r>
              <a:rPr sz="1150">
                <a:solidFill>
                  <a:srgbClr val="333333"/>
                </a:solidFill>
                <a:latin typeface="メイリオ"/>
                <a:ea typeface="メイリオ"/>
                <a:cs typeface="メイリオ"/>
              </a:rPr>
              <a:t>地元の相場観を提示し、転職検討の材料として活用いただく。</a:t>
            </a:r>
          </a:p>
        </p:txBody>
      </p:sp>
      <p:sp>
        <p:nvSpPr>
          <p:cNvPr id="9" name="Rounded Rectangle 8"/>
          <p:cNvSpPr/>
          <p:nvPr/>
        </p:nvSpPr>
        <p:spPr>
          <a:xfrm>
            <a:off x="5074920" y="3931920"/>
            <a:ext cx="4251960" cy="96012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300" b="1">
                <a:solidFill>
                  <a:srgbClr val="1F285A"/>
                </a:solidFill>
                <a:latin typeface="メイリオ"/>
                <a:ea typeface="メイリオ"/>
                <a:cs typeface="メイリオ"/>
              </a:rPr>
              <a:t>② 面接・自己PR対策チェックシート</a:t>
            </a:r>
          </a:p>
          <a:p>
            <a:pPr algn="l">
              <a:lnSpc>
                <a:spcPct val="115000"/>
              </a:lnSpc>
            </a:pPr>
            <a:r>
              <a:rPr sz="1150">
                <a:solidFill>
                  <a:srgbClr val="333333"/>
                </a:solidFill>
                <a:latin typeface="メイリオ"/>
                <a:ea typeface="メイリオ"/>
                <a:cs typeface="メイリオ"/>
              </a:rPr>
              <a:t>当日のブース面談で使える実用コンテンツとして提供。</a:t>
            </a:r>
          </a:p>
        </p:txBody>
      </p:sp>
      <p:sp>
        <p:nvSpPr>
          <p:cNvPr id="10" name="Rounded Rectangle 9"/>
          <p:cNvSpPr/>
          <p:nvPr/>
        </p:nvSpPr>
        <p:spPr>
          <a:xfrm>
            <a:off x="548640" y="5138928"/>
            <a:ext cx="8778240" cy="47548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予約に至らなかった訪問者こそ、次回フェアの見込み客になる</a:t>
            </a:r>
          </a:p>
        </p:txBody>
      </p:sp>
      <p:sp>
        <p:nvSpPr>
          <p:cNvPr id="11" name="TextBox 10"/>
          <p:cNvSpPr txBox="1"/>
          <p:nvPr/>
        </p:nvSpPr>
        <p:spPr>
          <a:xfrm>
            <a:off x="548640" y="5705856"/>
            <a:ext cx="8778240" cy="274320"/>
          </a:xfrm>
          <a:prstGeom prst="rect">
            <a:avLst/>
          </a:prstGeom>
          <a:noFill/>
        </p:spPr>
        <p:txBody>
          <a:bodyPr wrap="square" lIns="0" tIns="36576" rIns="73152" bIns="36576" anchor="t">
            <a:spAutoFit/>
          </a:bodyPr>
          <a:lstStyle/>
          <a:p>
            <a:pPr algn="l"/>
            <a:r>
              <a:rPr sz="1000">
                <a:solidFill>
                  <a:srgbClr val="808080"/>
                </a:solidFill>
                <a:latin typeface="メイリオ"/>
                <a:ea typeface="メイリオ"/>
                <a:cs typeface="メイリオ"/>
              </a:rPr>
              <a:t>※特典の内容・名称は貴社と協議のうえ確定します</a:t>
            </a:r>
          </a:p>
        </p:txBody>
      </p:sp>
    </p:spTree>
    <p:extLst>
      <p:ext uri="{BB962C8B-B14F-4D97-AF65-F5344CB8AC3E}">
        <p14:creationId xmlns:p14="http://schemas.microsoft.com/office/powerpoint/2010/main" val="1058933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プラン・シミュレーション／サポート体制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37160"/>
            <a:ext cx="6510528" cy="365760"/>
          </a:xfrm>
          <a:prstGeom prst="rect">
            <a:avLst/>
          </a:prstGeom>
          <a:noFill/>
        </p:spPr>
        <p:txBody>
          <a:bodyPr wrap="square" lIns="0" tIns="18288" rIns="0" bIns="18288" anchor="ctr">
            <a:spAutoFit/>
          </a:bodyPr>
          <a:lstStyle/>
          <a:p>
            <a:pPr algn="l"/>
            <a:r>
              <a:rPr sz="1600" b="1" dirty="0" err="1">
                <a:solidFill>
                  <a:srgbClr val="002060"/>
                </a:solidFill>
                <a:latin typeface="メイリオ"/>
                <a:ea typeface="メイリオ"/>
                <a:cs typeface="メイリオ"/>
              </a:rPr>
              <a:t>想定の費用対効果</a:t>
            </a:r>
            <a:endParaRPr sz="1600" b="1" dirty="0">
              <a:solidFill>
                <a:srgbClr val="002060"/>
              </a:solidFill>
              <a:latin typeface="メイリオ"/>
              <a:ea typeface="メイリオ"/>
              <a:cs typeface="メイリオ"/>
            </a:endParaRPr>
          </a:p>
        </p:txBody>
      </p:sp>
      <p:sp>
        <p:nvSpPr>
          <p:cNvPr id="3" name="TextBox 2"/>
          <p:cNvSpPr txBox="1"/>
          <p:nvPr/>
        </p:nvSpPr>
        <p:spPr>
          <a:xfrm>
            <a:off x="384048" y="713232"/>
            <a:ext cx="9144000" cy="365760"/>
          </a:xfrm>
          <a:prstGeom prst="rect">
            <a:avLst/>
          </a:prstGeom>
          <a:noFill/>
        </p:spPr>
        <p:txBody>
          <a:bodyPr wrap="square" lIns="0" tIns="18288" rIns="0" bIns="18288" anchor="ctr">
            <a:spAutoFit/>
          </a:bodyPr>
          <a:lstStyle/>
          <a:p>
            <a:pPr algn="l"/>
            <a:r>
              <a:rPr sz="1300" b="1">
                <a:solidFill>
                  <a:srgbClr val="333333"/>
                </a:solidFill>
                <a:latin typeface="メイリオ"/>
                <a:ea typeface="メイリオ"/>
                <a:cs typeface="メイリオ"/>
              </a:rPr>
              <a:t>コンサル運営プラン（企画投稿5本／ステップ配信／リッチメニュー運用）</a:t>
            </a:r>
          </a:p>
        </p:txBody>
      </p:sp>
      <p:sp>
        <p:nvSpPr>
          <p:cNvPr id="4" name="Rectangle 3"/>
          <p:cNvSpPr/>
          <p:nvPr/>
        </p:nvSpPr>
        <p:spPr>
          <a:xfrm>
            <a:off x="265176" y="1078992"/>
            <a:ext cx="2898648" cy="41148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rgbClr val="FFFFFF"/>
                </a:solidFill>
                <a:latin typeface="メイリオ"/>
                <a:ea typeface="メイリオ"/>
                <a:cs typeface="メイリオ"/>
              </a:rPr>
              <a:t>初期</a:t>
            </a:r>
          </a:p>
        </p:txBody>
      </p:sp>
      <p:sp>
        <p:nvSpPr>
          <p:cNvPr id="5" name="Rectangle 4"/>
          <p:cNvSpPr/>
          <p:nvPr/>
        </p:nvSpPr>
        <p:spPr>
          <a:xfrm>
            <a:off x="3337560" y="1078992"/>
            <a:ext cx="2898648" cy="41148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rgbClr val="FFFFFF"/>
                </a:solidFill>
                <a:latin typeface="メイリオ"/>
                <a:ea typeface="メイリオ"/>
                <a:cs typeface="メイリオ"/>
              </a:rPr>
              <a:t>月次</a:t>
            </a:r>
          </a:p>
        </p:txBody>
      </p:sp>
      <p:sp>
        <p:nvSpPr>
          <p:cNvPr id="6" name="Rectangle 5"/>
          <p:cNvSpPr/>
          <p:nvPr/>
        </p:nvSpPr>
        <p:spPr>
          <a:xfrm>
            <a:off x="6748272" y="1078992"/>
            <a:ext cx="2898648" cy="41148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rgbClr val="FFFFFF"/>
                </a:solidFill>
                <a:latin typeface="メイリオ"/>
                <a:ea typeface="メイリオ"/>
                <a:cs typeface="メイリオ"/>
              </a:rPr>
              <a:t>6か月後</a:t>
            </a:r>
          </a:p>
        </p:txBody>
      </p:sp>
      <p:sp>
        <p:nvSpPr>
          <p:cNvPr id="7" name="Rectangle 6"/>
          <p:cNvSpPr/>
          <p:nvPr/>
        </p:nvSpPr>
        <p:spPr>
          <a:xfrm>
            <a:off x="265176" y="1554480"/>
            <a:ext cx="2898648" cy="868680"/>
          </a:xfrm>
          <a:prstGeom prst="rect">
            <a:avLst/>
          </a:prstGeom>
          <a:solidFill>
            <a:srgbClr val="FFFF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800" b="1">
                <a:solidFill>
                  <a:srgbClr val="1F285A"/>
                </a:solidFill>
                <a:latin typeface="メイリオ"/>
                <a:ea typeface="メイリオ"/>
                <a:cs typeface="メイリオ"/>
              </a:rPr>
              <a:t>23.5万円</a:t>
            </a:r>
          </a:p>
        </p:txBody>
      </p:sp>
      <p:sp>
        <p:nvSpPr>
          <p:cNvPr id="8" name="Rectangle 7"/>
          <p:cNvSpPr/>
          <p:nvPr/>
        </p:nvSpPr>
        <p:spPr>
          <a:xfrm>
            <a:off x="3337560" y="1554480"/>
            <a:ext cx="2898648" cy="868680"/>
          </a:xfrm>
          <a:prstGeom prst="rect">
            <a:avLst/>
          </a:prstGeom>
          <a:solidFill>
            <a:srgbClr val="FFFF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800" b="1">
                <a:solidFill>
                  <a:srgbClr val="1F285A"/>
                </a:solidFill>
                <a:latin typeface="メイリオ"/>
                <a:ea typeface="メイリオ"/>
                <a:cs typeface="メイリオ"/>
              </a:rPr>
              <a:t>25.98万円</a:t>
            </a:r>
          </a:p>
        </p:txBody>
      </p:sp>
      <p:sp>
        <p:nvSpPr>
          <p:cNvPr id="9" name="TextBox 8"/>
          <p:cNvSpPr txBox="1"/>
          <p:nvPr/>
        </p:nvSpPr>
        <p:spPr>
          <a:xfrm>
            <a:off x="448056" y="2487168"/>
            <a:ext cx="2532888" cy="274320"/>
          </a:xfrm>
          <a:prstGeom prst="rect">
            <a:avLst/>
          </a:prstGeom>
          <a:noFill/>
        </p:spPr>
        <p:txBody>
          <a:bodyPr wrap="square" lIns="0" tIns="18288" rIns="0" bIns="18288" anchor="ctr">
            <a:spAutoFit/>
          </a:bodyPr>
          <a:lstStyle/>
          <a:p>
            <a:pPr algn="l"/>
            <a:r>
              <a:rPr sz="1200" b="1">
                <a:solidFill>
                  <a:srgbClr val="1F285A"/>
                </a:solidFill>
                <a:latin typeface="メイリオ"/>
                <a:ea typeface="メイリオ"/>
                <a:cs typeface="メイリオ"/>
              </a:rPr>
              <a:t>＜実施内容＞</a:t>
            </a:r>
          </a:p>
        </p:txBody>
      </p:sp>
      <p:sp>
        <p:nvSpPr>
          <p:cNvPr id="10" name="Rectangle 9"/>
          <p:cNvSpPr/>
          <p:nvPr/>
        </p:nvSpPr>
        <p:spPr>
          <a:xfrm>
            <a:off x="329184" y="2798064"/>
            <a:ext cx="1216152" cy="356616"/>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r>
              <a:rPr sz="1100" b="1">
                <a:solidFill>
                  <a:srgbClr val="FFFFFF"/>
                </a:solidFill>
                <a:latin typeface="メイリオ"/>
                <a:ea typeface="メイリオ"/>
                <a:cs typeface="メイリオ"/>
              </a:rPr>
              <a:t>プロフ設定</a:t>
            </a:r>
          </a:p>
        </p:txBody>
      </p:sp>
      <p:sp>
        <p:nvSpPr>
          <p:cNvPr id="11" name="Rectangle 10"/>
          <p:cNvSpPr/>
          <p:nvPr/>
        </p:nvSpPr>
        <p:spPr>
          <a:xfrm>
            <a:off x="1581912" y="2798064"/>
            <a:ext cx="1472184" cy="356616"/>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pPr>
            <a:r>
              <a:rPr sz="1000">
                <a:solidFill>
                  <a:srgbClr val="333333"/>
                </a:solidFill>
                <a:latin typeface="メイリオ"/>
                <a:ea typeface="メイリオ"/>
                <a:cs typeface="メイリオ"/>
              </a:rPr>
              <a:t>動線設計・整備</a:t>
            </a:r>
          </a:p>
        </p:txBody>
      </p:sp>
      <p:sp>
        <p:nvSpPr>
          <p:cNvPr id="12" name="Rectangle 11"/>
          <p:cNvSpPr/>
          <p:nvPr/>
        </p:nvSpPr>
        <p:spPr>
          <a:xfrm>
            <a:off x="329184" y="3227832"/>
            <a:ext cx="1216152" cy="356616"/>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r>
              <a:rPr sz="1100" b="1">
                <a:solidFill>
                  <a:srgbClr val="FFFFFF"/>
                </a:solidFill>
                <a:latin typeface="メイリオ"/>
                <a:ea typeface="メイリオ"/>
                <a:cs typeface="メイリオ"/>
              </a:rPr>
              <a:t>タグ設定</a:t>
            </a:r>
          </a:p>
        </p:txBody>
      </p:sp>
      <p:sp>
        <p:nvSpPr>
          <p:cNvPr id="13" name="Rectangle 12"/>
          <p:cNvSpPr/>
          <p:nvPr/>
        </p:nvSpPr>
        <p:spPr>
          <a:xfrm>
            <a:off x="1581912" y="3227832"/>
            <a:ext cx="1472184" cy="356616"/>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pPr>
            <a:r>
              <a:rPr sz="1000">
                <a:solidFill>
                  <a:srgbClr val="333333"/>
                </a:solidFill>
                <a:latin typeface="メイリオ"/>
                <a:ea typeface="メイリオ"/>
                <a:cs typeface="メイリオ"/>
              </a:rPr>
              <a:t>アンケート／セグメント設計</a:t>
            </a:r>
          </a:p>
        </p:txBody>
      </p:sp>
      <p:sp>
        <p:nvSpPr>
          <p:cNvPr id="14" name="Rectangle 13"/>
          <p:cNvSpPr/>
          <p:nvPr/>
        </p:nvSpPr>
        <p:spPr>
          <a:xfrm>
            <a:off x="329184" y="3657600"/>
            <a:ext cx="1216152" cy="356616"/>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r>
              <a:rPr sz="1100" b="1">
                <a:solidFill>
                  <a:srgbClr val="FFFFFF"/>
                </a:solidFill>
                <a:latin typeface="メイリオ"/>
                <a:ea typeface="メイリオ"/>
                <a:cs typeface="メイリオ"/>
              </a:rPr>
              <a:t>ツール導入</a:t>
            </a:r>
          </a:p>
        </p:txBody>
      </p:sp>
      <p:sp>
        <p:nvSpPr>
          <p:cNvPr id="15" name="Rectangle 14"/>
          <p:cNvSpPr/>
          <p:nvPr/>
        </p:nvSpPr>
        <p:spPr>
          <a:xfrm>
            <a:off x="1581912" y="3657600"/>
            <a:ext cx="1472184" cy="356616"/>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pPr>
            <a:r>
              <a:rPr sz="1000">
                <a:solidFill>
                  <a:srgbClr val="333333"/>
                </a:solidFill>
                <a:latin typeface="メイリオ"/>
                <a:ea typeface="メイリオ"/>
                <a:cs typeface="メイリオ"/>
              </a:rPr>
              <a:t>Lstep想定</a:t>
            </a:r>
          </a:p>
        </p:txBody>
      </p:sp>
      <p:sp>
        <p:nvSpPr>
          <p:cNvPr id="16" name="Rectangle 15"/>
          <p:cNvSpPr/>
          <p:nvPr/>
        </p:nvSpPr>
        <p:spPr>
          <a:xfrm>
            <a:off x="329184" y="4087368"/>
            <a:ext cx="1216152" cy="356616"/>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r>
              <a:rPr sz="1100" b="1">
                <a:solidFill>
                  <a:srgbClr val="FFFFFF"/>
                </a:solidFill>
                <a:latin typeface="メイリオ"/>
                <a:ea typeface="メイリオ"/>
                <a:cs typeface="メイリオ"/>
              </a:rPr>
              <a:t>外部ツール</a:t>
            </a:r>
          </a:p>
        </p:txBody>
      </p:sp>
      <p:sp>
        <p:nvSpPr>
          <p:cNvPr id="17" name="Rectangle 16"/>
          <p:cNvSpPr/>
          <p:nvPr/>
        </p:nvSpPr>
        <p:spPr>
          <a:xfrm>
            <a:off x="1581912" y="4087368"/>
            <a:ext cx="1472184" cy="356616"/>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pPr>
            <a:r>
              <a:rPr sz="1000">
                <a:solidFill>
                  <a:srgbClr val="333333"/>
                </a:solidFill>
                <a:latin typeface="メイリオ"/>
                <a:ea typeface="メイリオ"/>
                <a:cs typeface="メイリオ"/>
              </a:rPr>
              <a:t>離脱防止ポップアップ</a:t>
            </a:r>
          </a:p>
        </p:txBody>
      </p:sp>
      <p:sp>
        <p:nvSpPr>
          <p:cNvPr id="18" name="Rectangle 17"/>
          <p:cNvSpPr/>
          <p:nvPr/>
        </p:nvSpPr>
        <p:spPr>
          <a:xfrm>
            <a:off x="329184" y="4517136"/>
            <a:ext cx="1216152" cy="356616"/>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r>
              <a:rPr sz="1100" b="1">
                <a:solidFill>
                  <a:srgbClr val="FFFFFF"/>
                </a:solidFill>
                <a:latin typeface="メイリオ"/>
                <a:ea typeface="メイリオ"/>
                <a:cs typeface="メイリオ"/>
              </a:rPr>
              <a:t>ステップ構築</a:t>
            </a:r>
          </a:p>
        </p:txBody>
      </p:sp>
      <p:sp>
        <p:nvSpPr>
          <p:cNvPr id="19" name="Rectangle 18"/>
          <p:cNvSpPr/>
          <p:nvPr/>
        </p:nvSpPr>
        <p:spPr>
          <a:xfrm>
            <a:off x="1581912" y="4517136"/>
            <a:ext cx="1472184" cy="356616"/>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pPr>
            <a:r>
              <a:rPr sz="1000">
                <a:solidFill>
                  <a:srgbClr val="333333"/>
                </a:solidFill>
                <a:latin typeface="メイリオ"/>
                <a:ea typeface="メイリオ"/>
                <a:cs typeface="メイリオ"/>
              </a:rPr>
              <a:t>Day0〜14の6ステップ</a:t>
            </a:r>
          </a:p>
        </p:txBody>
      </p:sp>
      <p:sp>
        <p:nvSpPr>
          <p:cNvPr id="20" name="TextBox 19"/>
          <p:cNvSpPr txBox="1"/>
          <p:nvPr/>
        </p:nvSpPr>
        <p:spPr>
          <a:xfrm>
            <a:off x="3502152" y="2487168"/>
            <a:ext cx="2532888" cy="274320"/>
          </a:xfrm>
          <a:prstGeom prst="rect">
            <a:avLst/>
          </a:prstGeom>
          <a:noFill/>
        </p:spPr>
        <p:txBody>
          <a:bodyPr wrap="square" lIns="0" tIns="18288" rIns="0" bIns="18288" anchor="ctr">
            <a:spAutoFit/>
          </a:bodyPr>
          <a:lstStyle/>
          <a:p>
            <a:pPr algn="l"/>
            <a:r>
              <a:rPr sz="1200" b="1">
                <a:solidFill>
                  <a:srgbClr val="1F285A"/>
                </a:solidFill>
                <a:latin typeface="メイリオ"/>
                <a:ea typeface="メイリオ"/>
                <a:cs typeface="メイリオ"/>
              </a:rPr>
              <a:t>＜実施内容＞</a:t>
            </a:r>
          </a:p>
        </p:txBody>
      </p:sp>
      <p:sp>
        <p:nvSpPr>
          <p:cNvPr id="21" name="Rectangle 20"/>
          <p:cNvSpPr/>
          <p:nvPr/>
        </p:nvSpPr>
        <p:spPr>
          <a:xfrm>
            <a:off x="3410712" y="2798064"/>
            <a:ext cx="1216152" cy="356616"/>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r>
              <a:rPr sz="1100" b="1">
                <a:solidFill>
                  <a:srgbClr val="FFFFFF"/>
                </a:solidFill>
                <a:latin typeface="メイリオ"/>
                <a:ea typeface="メイリオ"/>
                <a:cs typeface="メイリオ"/>
              </a:rPr>
              <a:t>企画投稿</a:t>
            </a:r>
          </a:p>
        </p:txBody>
      </p:sp>
      <p:sp>
        <p:nvSpPr>
          <p:cNvPr id="22" name="Rectangle 21"/>
          <p:cNvSpPr/>
          <p:nvPr/>
        </p:nvSpPr>
        <p:spPr>
          <a:xfrm>
            <a:off x="4663440" y="2798064"/>
            <a:ext cx="1472184" cy="356616"/>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pPr>
            <a:r>
              <a:rPr sz="1000">
                <a:solidFill>
                  <a:srgbClr val="333333"/>
                </a:solidFill>
                <a:latin typeface="メイリオ"/>
                <a:ea typeface="メイリオ"/>
                <a:cs typeface="メイリオ"/>
              </a:rPr>
              <a:t>5回／月</a:t>
            </a:r>
          </a:p>
        </p:txBody>
      </p:sp>
      <p:sp>
        <p:nvSpPr>
          <p:cNvPr id="23" name="Rectangle 22"/>
          <p:cNvSpPr/>
          <p:nvPr/>
        </p:nvSpPr>
        <p:spPr>
          <a:xfrm>
            <a:off x="3410712" y="3227832"/>
            <a:ext cx="1216152" cy="1362456"/>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r>
              <a:rPr sz="1100" b="1">
                <a:solidFill>
                  <a:srgbClr val="FFFFFF"/>
                </a:solidFill>
                <a:latin typeface="メイリオ"/>
                <a:ea typeface="メイリオ"/>
                <a:cs typeface="メイリオ"/>
              </a:rPr>
              <a:t>修正・改善</a:t>
            </a:r>
          </a:p>
        </p:txBody>
      </p:sp>
      <p:sp>
        <p:nvSpPr>
          <p:cNvPr id="24" name="Rectangle 23"/>
          <p:cNvSpPr/>
          <p:nvPr/>
        </p:nvSpPr>
        <p:spPr>
          <a:xfrm>
            <a:off x="4663440" y="3227832"/>
            <a:ext cx="1472184" cy="1362456"/>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tIns="36576" rIns="54864" bIns="36576" rtlCol="0" anchor="ctr"/>
          <a:lstStyle/>
          <a:p>
            <a:pPr algn="l">
              <a:lnSpc>
                <a:spcPct val="105000"/>
              </a:lnSpc>
              <a:spcAft>
                <a:spcPts val="200"/>
              </a:spcAft>
            </a:pPr>
            <a:r>
              <a:rPr sz="1000">
                <a:solidFill>
                  <a:srgbClr val="333333"/>
                </a:solidFill>
                <a:latin typeface="メイリオ"/>
                <a:ea typeface="メイリオ"/>
                <a:cs typeface="メイリオ"/>
              </a:rPr>
              <a:t>・配信セグメント</a:t>
            </a:r>
          </a:p>
          <a:p>
            <a:pPr algn="l">
              <a:lnSpc>
                <a:spcPct val="105000"/>
              </a:lnSpc>
              <a:spcAft>
                <a:spcPts val="200"/>
              </a:spcAft>
            </a:pPr>
            <a:r>
              <a:rPr sz="1000">
                <a:solidFill>
                  <a:srgbClr val="333333"/>
                </a:solidFill>
                <a:latin typeface="メイリオ"/>
                <a:ea typeface="メイリオ"/>
                <a:cs typeface="メイリオ"/>
              </a:rPr>
              <a:t>・ステップ配信</a:t>
            </a:r>
          </a:p>
          <a:p>
            <a:pPr algn="l">
              <a:lnSpc>
                <a:spcPct val="105000"/>
              </a:lnSpc>
              <a:spcAft>
                <a:spcPts val="200"/>
              </a:spcAft>
            </a:pPr>
            <a:r>
              <a:rPr sz="1000">
                <a:solidFill>
                  <a:srgbClr val="333333"/>
                </a:solidFill>
                <a:latin typeface="メイリオ"/>
                <a:ea typeface="メイリオ"/>
                <a:cs typeface="メイリオ"/>
              </a:rPr>
              <a:t>・リッチメニュー</a:t>
            </a:r>
          </a:p>
          <a:p>
            <a:pPr algn="l">
              <a:lnSpc>
                <a:spcPct val="105000"/>
              </a:lnSpc>
              <a:spcAft>
                <a:spcPts val="200"/>
              </a:spcAft>
            </a:pPr>
            <a:r>
              <a:rPr sz="1000">
                <a:solidFill>
                  <a:srgbClr val="333333"/>
                </a:solidFill>
                <a:latin typeface="メイリオ"/>
                <a:ea typeface="メイリオ"/>
                <a:cs typeface="メイリオ"/>
              </a:rPr>
              <a:t>・離脱防止バナー</a:t>
            </a:r>
          </a:p>
        </p:txBody>
      </p:sp>
      <p:sp>
        <p:nvSpPr>
          <p:cNvPr id="25" name="Rectangle 24"/>
          <p:cNvSpPr/>
          <p:nvPr/>
        </p:nvSpPr>
        <p:spPr>
          <a:xfrm>
            <a:off x="3410712" y="4654296"/>
            <a:ext cx="1216152" cy="356616"/>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r>
              <a:rPr sz="1100" b="1">
                <a:solidFill>
                  <a:srgbClr val="FFFFFF"/>
                </a:solidFill>
                <a:latin typeface="メイリオ"/>
                <a:ea typeface="メイリオ"/>
                <a:cs typeface="メイリオ"/>
              </a:rPr>
              <a:t>レポート</a:t>
            </a:r>
          </a:p>
        </p:txBody>
      </p:sp>
      <p:sp>
        <p:nvSpPr>
          <p:cNvPr id="26" name="Rectangle 25"/>
          <p:cNvSpPr/>
          <p:nvPr/>
        </p:nvSpPr>
        <p:spPr>
          <a:xfrm>
            <a:off x="4663440" y="4654296"/>
            <a:ext cx="1472184" cy="356616"/>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pPr>
            <a:r>
              <a:rPr sz="1000">
                <a:solidFill>
                  <a:srgbClr val="333333"/>
                </a:solidFill>
                <a:latin typeface="メイリオ"/>
                <a:ea typeface="メイリオ"/>
                <a:cs typeface="メイリオ"/>
              </a:rPr>
              <a:t>1回／月</a:t>
            </a:r>
          </a:p>
        </p:txBody>
      </p:sp>
      <p:sp>
        <p:nvSpPr>
          <p:cNvPr id="27" name="Rectangle 26"/>
          <p:cNvSpPr/>
          <p:nvPr/>
        </p:nvSpPr>
        <p:spPr>
          <a:xfrm>
            <a:off x="3410712" y="5084064"/>
            <a:ext cx="1216152" cy="356616"/>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r>
              <a:rPr sz="1100" b="1">
                <a:solidFill>
                  <a:srgbClr val="FFFFFF"/>
                </a:solidFill>
                <a:latin typeface="メイリオ"/>
                <a:ea typeface="メイリオ"/>
                <a:cs typeface="メイリオ"/>
              </a:rPr>
              <a:t>定例会</a:t>
            </a:r>
          </a:p>
        </p:txBody>
      </p:sp>
      <p:sp>
        <p:nvSpPr>
          <p:cNvPr id="28" name="Rectangle 27"/>
          <p:cNvSpPr/>
          <p:nvPr/>
        </p:nvSpPr>
        <p:spPr>
          <a:xfrm>
            <a:off x="4663440" y="5084064"/>
            <a:ext cx="1472184" cy="356616"/>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pPr>
            <a:r>
              <a:rPr sz="1000">
                <a:solidFill>
                  <a:srgbClr val="333333"/>
                </a:solidFill>
                <a:latin typeface="メイリオ"/>
                <a:ea typeface="メイリオ"/>
                <a:cs typeface="メイリオ"/>
              </a:rPr>
              <a:t>1回／月</a:t>
            </a:r>
          </a:p>
        </p:txBody>
      </p:sp>
      <p:sp>
        <p:nvSpPr>
          <p:cNvPr id="29" name="Rectangle 28"/>
          <p:cNvSpPr/>
          <p:nvPr/>
        </p:nvSpPr>
        <p:spPr>
          <a:xfrm>
            <a:off x="6885432" y="1554480"/>
            <a:ext cx="1216152" cy="356616"/>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r>
              <a:rPr sz="1100" b="1">
                <a:solidFill>
                  <a:srgbClr val="FFFFFF"/>
                </a:solidFill>
                <a:latin typeface="メイリオ"/>
                <a:ea typeface="メイリオ"/>
                <a:cs typeface="メイリオ"/>
              </a:rPr>
              <a:t>友だち数</a:t>
            </a:r>
          </a:p>
        </p:txBody>
      </p:sp>
      <p:sp>
        <p:nvSpPr>
          <p:cNvPr id="30" name="Rectangle 29"/>
          <p:cNvSpPr/>
          <p:nvPr/>
        </p:nvSpPr>
        <p:spPr>
          <a:xfrm>
            <a:off x="8138160" y="1554480"/>
            <a:ext cx="1399032" cy="356616"/>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00000"/>
              </a:lnSpc>
            </a:pPr>
            <a:r>
              <a:rPr sz="850">
                <a:solidFill>
                  <a:srgbClr val="333333"/>
                </a:solidFill>
                <a:latin typeface="メイリオ"/>
                <a:ea typeface="メイリオ"/>
                <a:cs typeface="メイリオ"/>
              </a:rPr>
              <a:t>2,601人</a:t>
            </a:r>
          </a:p>
          <a:p>
            <a:pPr algn="ctr">
              <a:lnSpc>
                <a:spcPct val="100000"/>
              </a:lnSpc>
            </a:pPr>
            <a:r>
              <a:rPr sz="850">
                <a:solidFill>
                  <a:srgbClr val="333333"/>
                </a:solidFill>
                <a:latin typeface="メイリオ"/>
                <a:ea typeface="メイリオ"/>
                <a:cs typeface="メイリオ"/>
              </a:rPr>
              <a:t>（アクティブ約1,849人）</a:t>
            </a:r>
          </a:p>
        </p:txBody>
      </p:sp>
      <p:sp>
        <p:nvSpPr>
          <p:cNvPr id="31" name="Rectangle 30"/>
          <p:cNvSpPr/>
          <p:nvPr/>
        </p:nvSpPr>
        <p:spPr>
          <a:xfrm>
            <a:off x="6885432" y="1984247"/>
            <a:ext cx="1216152" cy="356616"/>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r>
              <a:rPr sz="1100" b="1">
                <a:solidFill>
                  <a:srgbClr val="FFFFFF"/>
                </a:solidFill>
                <a:latin typeface="メイリオ"/>
                <a:ea typeface="メイリオ"/>
                <a:cs typeface="メイリオ"/>
              </a:rPr>
              <a:t>メッセ数</a:t>
            </a:r>
          </a:p>
        </p:txBody>
      </p:sp>
      <p:sp>
        <p:nvSpPr>
          <p:cNvPr id="32" name="Rectangle 31"/>
          <p:cNvSpPr/>
          <p:nvPr/>
        </p:nvSpPr>
        <p:spPr>
          <a:xfrm>
            <a:off x="8138160" y="1984247"/>
            <a:ext cx="1399032" cy="356616"/>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00000"/>
              </a:lnSpc>
            </a:pPr>
            <a:r>
              <a:rPr sz="950">
                <a:solidFill>
                  <a:srgbClr val="333333"/>
                </a:solidFill>
                <a:latin typeface="メイリオ"/>
                <a:ea typeface="メイリオ"/>
                <a:cs typeface="メイリオ"/>
              </a:rPr>
              <a:t>15,000〜18,000通／月</a:t>
            </a:r>
          </a:p>
        </p:txBody>
      </p:sp>
      <p:sp>
        <p:nvSpPr>
          <p:cNvPr id="33" name="Rectangle 32"/>
          <p:cNvSpPr/>
          <p:nvPr/>
        </p:nvSpPr>
        <p:spPr>
          <a:xfrm>
            <a:off x="6885432" y="2414016"/>
            <a:ext cx="1216152" cy="356616"/>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r>
              <a:rPr sz="1100" b="1">
                <a:solidFill>
                  <a:srgbClr val="FFFFFF"/>
                </a:solidFill>
                <a:latin typeface="メイリオ"/>
                <a:ea typeface="メイリオ"/>
                <a:cs typeface="メイリオ"/>
              </a:rPr>
              <a:t>コスト</a:t>
            </a:r>
          </a:p>
        </p:txBody>
      </p:sp>
      <p:sp>
        <p:nvSpPr>
          <p:cNvPr id="34" name="Rectangle 33"/>
          <p:cNvSpPr/>
          <p:nvPr/>
        </p:nvSpPr>
        <p:spPr>
          <a:xfrm>
            <a:off x="8138160" y="2414016"/>
            <a:ext cx="1399032" cy="356616"/>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00000"/>
              </a:lnSpc>
            </a:pPr>
            <a:r>
              <a:rPr sz="950">
                <a:solidFill>
                  <a:srgbClr val="333333"/>
                </a:solidFill>
                <a:latin typeface="メイリオ"/>
                <a:ea typeface="メイリオ"/>
                <a:cs typeface="メイリオ"/>
              </a:rPr>
              <a:t>259,800円／月</a:t>
            </a:r>
          </a:p>
        </p:txBody>
      </p:sp>
      <p:sp>
        <p:nvSpPr>
          <p:cNvPr id="35" name="Rectangle 34"/>
          <p:cNvSpPr/>
          <p:nvPr/>
        </p:nvSpPr>
        <p:spPr>
          <a:xfrm>
            <a:off x="6885432" y="2843784"/>
            <a:ext cx="1216152" cy="356616"/>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r>
              <a:rPr sz="1100" b="1">
                <a:solidFill>
                  <a:srgbClr val="FFFFFF"/>
                </a:solidFill>
                <a:latin typeface="メイリオ"/>
                <a:ea typeface="メイリオ"/>
                <a:cs typeface="メイリオ"/>
              </a:rPr>
              <a:t>CV</a:t>
            </a:r>
          </a:p>
        </p:txBody>
      </p:sp>
      <p:sp>
        <p:nvSpPr>
          <p:cNvPr id="36" name="Rectangle 35"/>
          <p:cNvSpPr/>
          <p:nvPr/>
        </p:nvSpPr>
        <p:spPr>
          <a:xfrm>
            <a:off x="8138160" y="2843784"/>
            <a:ext cx="1399032" cy="356616"/>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00000"/>
              </a:lnSpc>
            </a:pPr>
            <a:r>
              <a:rPr sz="950">
                <a:solidFill>
                  <a:srgbClr val="333333"/>
                </a:solidFill>
                <a:latin typeface="メイリオ"/>
                <a:ea typeface="メイリオ"/>
                <a:cs typeface="メイリオ"/>
              </a:rPr>
              <a:t>135件（半年累計）</a:t>
            </a:r>
          </a:p>
        </p:txBody>
      </p:sp>
      <p:sp>
        <p:nvSpPr>
          <p:cNvPr id="37" name="Rectangle 36"/>
          <p:cNvSpPr/>
          <p:nvPr/>
        </p:nvSpPr>
        <p:spPr>
          <a:xfrm>
            <a:off x="6885432" y="3273551"/>
            <a:ext cx="1216152" cy="356616"/>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r>
              <a:rPr sz="1100" b="1">
                <a:solidFill>
                  <a:srgbClr val="FFFFFF"/>
                </a:solidFill>
                <a:latin typeface="メイリオ"/>
                <a:ea typeface="メイリオ"/>
                <a:cs typeface="メイリオ"/>
              </a:rPr>
              <a:t>CPA</a:t>
            </a:r>
          </a:p>
        </p:txBody>
      </p:sp>
      <p:sp>
        <p:nvSpPr>
          <p:cNvPr id="38" name="Rectangle 37"/>
          <p:cNvSpPr/>
          <p:nvPr/>
        </p:nvSpPr>
        <p:spPr>
          <a:xfrm>
            <a:off x="8138160" y="3273551"/>
            <a:ext cx="1399032" cy="356616"/>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00000"/>
              </a:lnSpc>
            </a:pPr>
            <a:r>
              <a:rPr sz="950">
                <a:solidFill>
                  <a:srgbClr val="333333"/>
                </a:solidFill>
                <a:latin typeface="メイリオ"/>
                <a:ea typeface="メイリオ"/>
                <a:cs typeface="メイリオ"/>
              </a:rPr>
              <a:t>13,287円</a:t>
            </a:r>
          </a:p>
        </p:txBody>
      </p:sp>
      <p:sp>
        <p:nvSpPr>
          <p:cNvPr id="39" name="TextBox 38"/>
          <p:cNvSpPr txBox="1"/>
          <p:nvPr/>
        </p:nvSpPr>
        <p:spPr>
          <a:xfrm>
            <a:off x="6748272" y="3767328"/>
            <a:ext cx="2898648" cy="822960"/>
          </a:xfrm>
          <a:prstGeom prst="rect">
            <a:avLst/>
          </a:prstGeom>
          <a:noFill/>
        </p:spPr>
        <p:txBody>
          <a:bodyPr wrap="square" lIns="0" tIns="18288" rIns="0" bIns="18288" anchor="t">
            <a:spAutoFit/>
          </a:bodyPr>
          <a:lstStyle/>
          <a:p>
            <a:pPr algn="l">
              <a:spcAft>
                <a:spcPts val="300"/>
              </a:spcAft>
            </a:pPr>
            <a:r>
              <a:rPr sz="1100" b="1">
                <a:solidFill>
                  <a:srgbClr val="1F285A"/>
                </a:solidFill>
                <a:latin typeface="メイリオ"/>
                <a:ea typeface="メイリオ"/>
                <a:cs typeface="メイリオ"/>
              </a:rPr>
              <a:t>＜費用内訳＞</a:t>
            </a:r>
          </a:p>
          <a:p>
            <a:pPr algn="l">
              <a:lnSpc>
                <a:spcPct val="115000"/>
              </a:lnSpc>
              <a:spcAft>
                <a:spcPts val="200"/>
              </a:spcAft>
            </a:pPr>
            <a:r>
              <a:rPr sz="900">
                <a:solidFill>
                  <a:srgbClr val="333333"/>
                </a:solidFill>
                <a:latin typeface="メイリオ"/>
                <a:ea typeface="メイリオ"/>
                <a:cs typeface="メイリオ"/>
              </a:rPr>
              <a:t>初期：構築20万＋離脱防止1.5万＋ツール2万</a:t>
            </a:r>
          </a:p>
          <a:p>
            <a:pPr algn="l">
              <a:lnSpc>
                <a:spcPct val="115000"/>
              </a:lnSpc>
            </a:pPr>
            <a:r>
              <a:rPr sz="900">
                <a:solidFill>
                  <a:srgbClr val="333333"/>
                </a:solidFill>
                <a:latin typeface="メイリオ"/>
                <a:ea typeface="メイリオ"/>
                <a:cs typeface="メイリオ"/>
              </a:rPr>
              <a:t>月次：コンサル20万＋ツール2.98万＋アカウント1.5万＋離脱防止1.5万</a:t>
            </a:r>
          </a:p>
        </p:txBody>
      </p:sp>
      <p:sp>
        <p:nvSpPr>
          <p:cNvPr id="40" name="Rectangle 39"/>
          <p:cNvSpPr/>
          <p:nvPr/>
        </p:nvSpPr>
        <p:spPr>
          <a:xfrm>
            <a:off x="384048" y="5655346"/>
            <a:ext cx="9262872" cy="475488"/>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l">
              <a:lnSpc>
                <a:spcPct val="110000"/>
              </a:lnSpc>
            </a:pPr>
            <a:r>
              <a:rPr sz="1050" b="1">
                <a:solidFill>
                  <a:srgbClr val="1F285A"/>
                </a:solidFill>
                <a:latin typeface="メイリオ"/>
                <a:ea typeface="メイリオ"/>
                <a:cs typeface="メイリオ"/>
              </a:rPr>
              <a:t>［成果報酬プランの場合］</a:t>
            </a:r>
            <a:r>
              <a:rPr sz="1000">
                <a:solidFill>
                  <a:srgbClr val="333333"/>
                </a:solidFill>
                <a:latin typeface="メイリオ"/>
                <a:ea typeface="メイリオ"/>
                <a:cs typeface="メイリオ"/>
              </a:rPr>
              <a:t>　初期23.5万円＋月次5.98万円＋成果報酬（事前申込7,500円／来場9,000円）＝半年171.0万円・CPA 12,665円</a:t>
            </a:r>
          </a:p>
        </p:txBody>
      </p:sp>
      <p:sp>
        <p:nvSpPr>
          <p:cNvPr id="41" name="TextBox 40"/>
          <p:cNvSpPr txBox="1"/>
          <p:nvPr/>
        </p:nvSpPr>
        <p:spPr>
          <a:xfrm>
            <a:off x="6748272" y="6108192"/>
            <a:ext cx="2898648" cy="475488"/>
          </a:xfrm>
          <a:prstGeom prst="rect">
            <a:avLst/>
          </a:prstGeom>
          <a:noFill/>
        </p:spPr>
        <p:txBody>
          <a:bodyPr wrap="square" lIns="0" tIns="18288" rIns="0" bIns="18288" anchor="ctr">
            <a:spAutoFit/>
          </a:bodyPr>
          <a:lstStyle/>
          <a:p>
            <a:pPr algn="l">
              <a:lnSpc>
                <a:spcPct val="110000"/>
              </a:lnSpc>
            </a:pPr>
            <a:r>
              <a:rPr sz="900">
                <a:solidFill>
                  <a:srgbClr val="808080"/>
                </a:solidFill>
                <a:latin typeface="メイリオ"/>
                <a:ea typeface="メイリオ"/>
                <a:cs typeface="メイリオ"/>
              </a:rPr>
              <a:t>※CV＝フェア事前申込＋来場引き上げの合計</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4E3DF40A-DD2E-F81E-9FFF-7BAD56D0EFC5}"/>
              </a:ext>
            </a:extLst>
          </p:cNvPr>
          <p:cNvSpPr txBox="1"/>
          <p:nvPr/>
        </p:nvSpPr>
        <p:spPr>
          <a:xfrm>
            <a:off x="539932" y="122460"/>
            <a:ext cx="4963884" cy="338554"/>
          </a:xfrm>
          <a:prstGeom prst="rect">
            <a:avLst/>
          </a:prstGeom>
          <a:noFill/>
        </p:spPr>
        <p:txBody>
          <a:bodyPr wrap="square">
            <a:spAutoFit/>
          </a:bodyPr>
          <a:lstStyle/>
          <a:p>
            <a:pPr algn="l"/>
            <a:r>
              <a:rPr lang="ja-JP" altLang="en-US" sz="1600" b="1" dirty="0">
                <a:solidFill>
                  <a:srgbClr val="002060"/>
                </a:solidFill>
                <a:latin typeface="メイリオ"/>
                <a:ea typeface="メイリオ"/>
                <a:cs typeface="メイリオ"/>
              </a:rPr>
              <a:t>想定の費用対効果</a:t>
            </a:r>
          </a:p>
        </p:txBody>
      </p:sp>
      <p:graphicFrame>
        <p:nvGraphicFramePr>
          <p:cNvPr id="5" name="表 4">
            <a:extLst>
              <a:ext uri="{FF2B5EF4-FFF2-40B4-BE49-F238E27FC236}">
                <a16:creationId xmlns:a16="http://schemas.microsoft.com/office/drawing/2014/main" id="{5F175676-A3D9-DFEE-7D8E-75C3325FA917}"/>
              </a:ext>
            </a:extLst>
          </p:cNvPr>
          <p:cNvGraphicFramePr>
            <a:graphicFrameLocks noGrp="1"/>
          </p:cNvGraphicFramePr>
          <p:nvPr>
            <p:extLst>
              <p:ext uri="{D42A27DB-BD31-4B8C-83A1-F6EECF244321}">
                <p14:modId xmlns:p14="http://schemas.microsoft.com/office/powerpoint/2010/main" val="933863846"/>
              </p:ext>
            </p:extLst>
          </p:nvPr>
        </p:nvGraphicFramePr>
        <p:xfrm>
          <a:off x="342900" y="981075"/>
          <a:ext cx="9353546" cy="5295898"/>
        </p:xfrm>
        <a:graphic>
          <a:graphicData uri="http://schemas.openxmlformats.org/drawingml/2006/table">
            <a:tbl>
              <a:tblPr/>
              <a:tblGrid>
                <a:gridCol w="866623">
                  <a:extLst>
                    <a:ext uri="{9D8B030D-6E8A-4147-A177-3AD203B41FA5}">
                      <a16:colId xmlns:a16="http://schemas.microsoft.com/office/drawing/2014/main" val="1728256068"/>
                    </a:ext>
                  </a:extLst>
                </a:gridCol>
                <a:gridCol w="1314875">
                  <a:extLst>
                    <a:ext uri="{9D8B030D-6E8A-4147-A177-3AD203B41FA5}">
                      <a16:colId xmlns:a16="http://schemas.microsoft.com/office/drawing/2014/main" val="198000666"/>
                    </a:ext>
                  </a:extLst>
                </a:gridCol>
                <a:gridCol w="896506">
                  <a:extLst>
                    <a:ext uri="{9D8B030D-6E8A-4147-A177-3AD203B41FA5}">
                      <a16:colId xmlns:a16="http://schemas.microsoft.com/office/drawing/2014/main" val="2637758123"/>
                    </a:ext>
                  </a:extLst>
                </a:gridCol>
                <a:gridCol w="896506">
                  <a:extLst>
                    <a:ext uri="{9D8B030D-6E8A-4147-A177-3AD203B41FA5}">
                      <a16:colId xmlns:a16="http://schemas.microsoft.com/office/drawing/2014/main" val="790406102"/>
                    </a:ext>
                  </a:extLst>
                </a:gridCol>
                <a:gridCol w="896506">
                  <a:extLst>
                    <a:ext uri="{9D8B030D-6E8A-4147-A177-3AD203B41FA5}">
                      <a16:colId xmlns:a16="http://schemas.microsoft.com/office/drawing/2014/main" val="3514611458"/>
                    </a:ext>
                  </a:extLst>
                </a:gridCol>
                <a:gridCol w="896506">
                  <a:extLst>
                    <a:ext uri="{9D8B030D-6E8A-4147-A177-3AD203B41FA5}">
                      <a16:colId xmlns:a16="http://schemas.microsoft.com/office/drawing/2014/main" val="2101998188"/>
                    </a:ext>
                  </a:extLst>
                </a:gridCol>
                <a:gridCol w="896506">
                  <a:extLst>
                    <a:ext uri="{9D8B030D-6E8A-4147-A177-3AD203B41FA5}">
                      <a16:colId xmlns:a16="http://schemas.microsoft.com/office/drawing/2014/main" val="3983425825"/>
                    </a:ext>
                  </a:extLst>
                </a:gridCol>
                <a:gridCol w="896506">
                  <a:extLst>
                    <a:ext uri="{9D8B030D-6E8A-4147-A177-3AD203B41FA5}">
                      <a16:colId xmlns:a16="http://schemas.microsoft.com/office/drawing/2014/main" val="184613968"/>
                    </a:ext>
                  </a:extLst>
                </a:gridCol>
                <a:gridCol w="896506">
                  <a:extLst>
                    <a:ext uri="{9D8B030D-6E8A-4147-A177-3AD203B41FA5}">
                      <a16:colId xmlns:a16="http://schemas.microsoft.com/office/drawing/2014/main" val="715443403"/>
                    </a:ext>
                  </a:extLst>
                </a:gridCol>
                <a:gridCol w="896506">
                  <a:extLst>
                    <a:ext uri="{9D8B030D-6E8A-4147-A177-3AD203B41FA5}">
                      <a16:colId xmlns:a16="http://schemas.microsoft.com/office/drawing/2014/main" val="1791665487"/>
                    </a:ext>
                  </a:extLst>
                </a:gridCol>
              </a:tblGrid>
              <a:tr h="149421">
                <a:tc>
                  <a:txBody>
                    <a:bodyPr/>
                    <a:lstStyle/>
                    <a:p>
                      <a:pPr algn="l"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■要件定義</a:t>
                      </a: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地点</a:t>
                      </a: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名称</a:t>
                      </a: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成果単価</a:t>
                      </a: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extLst>
                  <a:ext uri="{0D108BD9-81ED-4DB2-BD59-A6C34878D82A}">
                    <a16:rowId xmlns:a16="http://schemas.microsoft.com/office/drawing/2014/main" val="28402996"/>
                  </a:ext>
                </a:extLst>
              </a:tr>
              <a:tr h="149421">
                <a:tc rowSpan="2">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新規CV</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①_CV地点</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フェア事前申込</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¥7,500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UU</a:t>
                      </a:r>
                    </a:p>
                  </a:txBody>
                  <a:tcPr marL="3412" marR="3412" marT="3412" marB="0" anchor="ctr">
                    <a:lnL>
                      <a:noFill/>
                    </a:lnL>
                    <a:lnR>
                      <a:noFill/>
                    </a:lnR>
                    <a:lnT>
                      <a:noFill/>
                    </a:lnT>
                    <a:lnB>
                      <a:noFill/>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8,200</a:t>
                      </a:r>
                    </a:p>
                  </a:txBody>
                  <a:tcPr marL="3412" marR="3412" marT="3412" marB="0" anchor="ctr">
                    <a:lnL>
                      <a:noFill/>
                    </a:lnL>
                    <a:lnR>
                      <a:noFill/>
                    </a:lnR>
                    <a:lnT>
                      <a:noFill/>
                    </a:lnT>
                    <a:lnB>
                      <a:noFill/>
                    </a:lnB>
                    <a:solidFill>
                      <a:srgbClr val="FBE2D5"/>
                    </a:solid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想定顧客リスト</a:t>
                      </a:r>
                    </a:p>
                  </a:txBody>
                  <a:tcPr marL="3412" marR="3412" marT="3412" marB="0" anchor="ctr">
                    <a:lnL>
                      <a:noFill/>
                    </a:lnL>
                    <a:lnR>
                      <a:noFill/>
                    </a:lnR>
                    <a:lnT>
                      <a:noFill/>
                    </a:lnT>
                    <a:lnB>
                      <a:noFill/>
                    </a:lnB>
                    <a:noFill/>
                  </a:tcPr>
                </a:tc>
                <a:extLst>
                  <a:ext uri="{0D108BD9-81ED-4DB2-BD59-A6C34878D82A}">
                    <a16:rowId xmlns:a16="http://schemas.microsoft.com/office/drawing/2014/main" val="2158534151"/>
                  </a:ext>
                </a:extLst>
              </a:tr>
              <a:tr h="149421">
                <a:tc vMerge="1">
                  <a:txBody>
                    <a:bodyPr/>
                    <a:lstStyle/>
                    <a:p>
                      <a:endParaRPr kumimoji="1" lang="ja-JP" altLang="en-US"/>
                    </a:p>
                  </a:txBody>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②_CV地点</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フェア来場</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¥9,000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広告・アフィUU</a:t>
                      </a:r>
                    </a:p>
                  </a:txBody>
                  <a:tcPr marL="3412" marR="3412" marT="3412" marB="0" anchor="ctr">
                    <a:lnL>
                      <a:noFill/>
                    </a:lnL>
                    <a:lnR>
                      <a:noFill/>
                    </a:lnR>
                    <a:lnT>
                      <a:noFill/>
                    </a:lnT>
                    <a:lnB>
                      <a:noFill/>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3,700</a:t>
                      </a:r>
                    </a:p>
                  </a:txBody>
                  <a:tcPr marL="3412" marR="3412" marT="3412" marB="0" anchor="ctr">
                    <a:lnL>
                      <a:noFill/>
                    </a:lnL>
                    <a:lnR>
                      <a:noFill/>
                    </a:lnR>
                    <a:lnT>
                      <a:noFill/>
                    </a:lnT>
                    <a:lnB>
                      <a:noFill/>
                    </a:lnB>
                    <a:solidFill>
                      <a:srgbClr val="FBE2D5"/>
                    </a:solid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extLst>
                  <a:ext uri="{0D108BD9-81ED-4DB2-BD59-A6C34878D82A}">
                    <a16:rowId xmlns:a16="http://schemas.microsoft.com/office/drawing/2014/main" val="2825636976"/>
                  </a:ext>
                </a:extLst>
              </a:tr>
              <a:tr h="149421">
                <a:tc rowSpan="2">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リピートCV</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CV（別施策）1</a:t>
                      </a:r>
                    </a:p>
                  </a:txBody>
                  <a:tcPr marL="3412" marR="3412" marT="3412" marB="0" anchor="ctr">
                    <a:lnL>
                      <a:noFill/>
                    </a:lnL>
                    <a:lnR>
                      <a:noFill/>
                    </a:lnR>
                    <a:lnT>
                      <a:noFill/>
                    </a:lnT>
                    <a:lnB>
                      <a:noFill/>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80</a:t>
                      </a:r>
                    </a:p>
                  </a:txBody>
                  <a:tcPr marL="3412" marR="3412" marT="3412" marB="0" anchor="ctr">
                    <a:lnL>
                      <a:noFill/>
                    </a:lnL>
                    <a:lnR>
                      <a:noFill/>
                    </a:lnR>
                    <a:lnT>
                      <a:noFill/>
                    </a:lnT>
                    <a:lnB>
                      <a:noFill/>
                    </a:lnB>
                    <a:solidFill>
                      <a:srgbClr val="FBE2D5"/>
                    </a:solid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extLst>
                  <a:ext uri="{0D108BD9-81ED-4DB2-BD59-A6C34878D82A}">
                    <a16:rowId xmlns:a16="http://schemas.microsoft.com/office/drawing/2014/main" val="649375500"/>
                  </a:ext>
                </a:extLst>
              </a:tr>
              <a:tr h="149421">
                <a:tc vMerge="1">
                  <a:txBody>
                    <a:bodyPr/>
                    <a:lstStyle/>
                    <a:p>
                      <a:endParaRPr kumimoji="1" lang="ja-JP" altLang="en-US"/>
                    </a:p>
                  </a:txBody>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CV（別施策）2</a:t>
                      </a:r>
                    </a:p>
                  </a:txBody>
                  <a:tcPr marL="3412" marR="3412" marT="3412" marB="0" anchor="ctr">
                    <a:lnL>
                      <a:noFill/>
                    </a:lnL>
                    <a:lnR>
                      <a:noFill/>
                    </a:lnR>
                    <a:lnT>
                      <a:noFill/>
                    </a:lnT>
                    <a:lnB>
                      <a:noFill/>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a:noFill/>
                    </a:lnL>
                    <a:lnR>
                      <a:noFill/>
                    </a:lnR>
                    <a:lnT>
                      <a:noFill/>
                    </a:lnT>
                    <a:lnB>
                      <a:noFill/>
                    </a:lnB>
                    <a:solidFill>
                      <a:srgbClr val="FBE2D5"/>
                    </a:solid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extLst>
                  <a:ext uri="{0D108BD9-81ED-4DB2-BD59-A6C34878D82A}">
                    <a16:rowId xmlns:a16="http://schemas.microsoft.com/office/drawing/2014/main" val="352004389"/>
                  </a:ext>
                </a:extLst>
              </a:tr>
              <a:tr h="149421">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a:t>
                      </a: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9084537"/>
                  </a:ext>
                </a:extLst>
              </a:tr>
              <a:tr h="149421">
                <a:tc gridSpan="2">
                  <a:txBody>
                    <a:bodyPr/>
                    <a:lstStyle/>
                    <a:p>
                      <a:pPr algn="ctr" fontAlgn="ctr">
                        <a:buNone/>
                      </a:pPr>
                      <a:r>
                        <a:rPr lang="ja-JP" sz="600" b="1" i="0" u="none" strike="noStrike">
                          <a:solidFill>
                            <a:srgbClr val="FFFFFF"/>
                          </a:solidFill>
                          <a:effectLst/>
                          <a:latin typeface="メイリオ" panose="020B0604030504040204" pitchFamily="50" charset="-128"/>
                          <a:ea typeface="メイリオ" panose="020B0604030504040204" pitchFamily="50" charset="-128"/>
                        </a:rPr>
                        <a:t>項目</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hMerge="1">
                  <a:txBody>
                    <a:bodyPr/>
                    <a:lstStyle/>
                    <a:p>
                      <a:endParaRPr kumimoji="1" lang="ja-JP" altLang="en-US"/>
                    </a:p>
                  </a:txBody>
                  <a:tcPr/>
                </a:tc>
                <a:tc>
                  <a:txBody>
                    <a:bodyPr/>
                    <a:lstStyle/>
                    <a:p>
                      <a:pPr algn="ctr" fontAlgn="ctr">
                        <a:buNone/>
                      </a:pPr>
                      <a:r>
                        <a:rPr lang="ja-JP" sz="600" b="1" i="0" u="none" strike="noStrike">
                          <a:solidFill>
                            <a:srgbClr val="FFFFFF"/>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l"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　※↓現状数値</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ja-JP" sz="600" b="1" i="0" u="none" strike="noStrike">
                          <a:solidFill>
                            <a:srgbClr val="FFFFFF"/>
                          </a:solidFill>
                          <a:effectLst/>
                          <a:latin typeface="メイリオ" panose="020B0604030504040204" pitchFamily="50" charset="-128"/>
                          <a:ea typeface="メイリオ" panose="020B0604030504040204" pitchFamily="50" charset="-128"/>
                        </a:rPr>
                        <a:t>1か月目(8月)</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600" b="1" i="0" u="none" strike="noStrike">
                          <a:solidFill>
                            <a:srgbClr val="FFFFFF"/>
                          </a:solidFill>
                          <a:effectLst/>
                          <a:latin typeface="メイリオ" panose="020B0604030504040204" pitchFamily="50" charset="-128"/>
                          <a:ea typeface="メイリオ" panose="020B0604030504040204" pitchFamily="50" charset="-128"/>
                        </a:rPr>
                        <a:t>2か月目(9月)</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600" b="1" i="0" u="none" strike="noStrike">
                          <a:solidFill>
                            <a:srgbClr val="FFFFFF"/>
                          </a:solidFill>
                          <a:effectLst/>
                          <a:latin typeface="メイリオ" panose="020B0604030504040204" pitchFamily="50" charset="-128"/>
                          <a:ea typeface="メイリオ" panose="020B0604030504040204" pitchFamily="50" charset="-128"/>
                        </a:rPr>
                        <a:t>3か月目(10月)</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600" b="1" i="0" u="none" strike="noStrike">
                          <a:solidFill>
                            <a:srgbClr val="FFFFFF"/>
                          </a:solidFill>
                          <a:effectLst/>
                          <a:latin typeface="メイリオ" panose="020B0604030504040204" pitchFamily="50" charset="-128"/>
                          <a:ea typeface="メイリオ" panose="020B0604030504040204" pitchFamily="50" charset="-128"/>
                        </a:rPr>
                        <a:t>4か月目(11月)</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600" b="1" i="0" u="none" strike="noStrike">
                          <a:solidFill>
                            <a:srgbClr val="FFFFFF"/>
                          </a:solidFill>
                          <a:effectLst/>
                          <a:latin typeface="メイリオ" panose="020B0604030504040204" pitchFamily="50" charset="-128"/>
                          <a:ea typeface="メイリオ" panose="020B0604030504040204" pitchFamily="50" charset="-128"/>
                        </a:rPr>
                        <a:t>5か月目(12月)</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600" b="1" i="0" u="none" strike="noStrike">
                          <a:solidFill>
                            <a:srgbClr val="FFFFFF"/>
                          </a:solidFill>
                          <a:effectLst/>
                          <a:latin typeface="メイリオ" panose="020B0604030504040204" pitchFamily="50" charset="-128"/>
                          <a:ea typeface="メイリオ" panose="020B0604030504040204" pitchFamily="50" charset="-128"/>
                        </a:rPr>
                        <a:t>6か月目(1月)</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extLst>
                  <a:ext uri="{0D108BD9-81ED-4DB2-BD59-A6C34878D82A}">
                    <a16:rowId xmlns:a16="http://schemas.microsoft.com/office/drawing/2014/main" val="2025993693"/>
                  </a:ext>
                </a:extLst>
              </a:tr>
              <a:tr h="162228">
                <a:tc rowSpan="3">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WEBサイト</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UU全体</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8,200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8,200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8,200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8,200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8,200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8,200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8,200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3538023"/>
                  </a:ext>
                </a:extLst>
              </a:tr>
              <a:tr h="162228">
                <a:tc vMerge="1">
                  <a:txBody>
                    <a:bodyPr/>
                    <a:lstStyle/>
                    <a:p>
                      <a:endParaRPr kumimoji="1" lang="ja-JP" altLang="en-US"/>
                    </a:p>
                  </a:txBody>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UU(うち広告)</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3,700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3,700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3,700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3,700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3,700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3,700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3,700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3550020"/>
                  </a:ext>
                </a:extLst>
              </a:tr>
              <a:tr h="162228">
                <a:tc vMerge="1">
                  <a:txBody>
                    <a:bodyPr/>
                    <a:lstStyle/>
                    <a:p>
                      <a:endParaRPr kumimoji="1" lang="ja-JP" altLang="en-US"/>
                    </a:p>
                  </a:txBody>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CV（別施策） ※想定</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600" b="1" i="0" u="none" strike="noStrike" dirty="0">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80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80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80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80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80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80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80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2234733"/>
                  </a:ext>
                </a:extLst>
              </a:tr>
              <a:tr h="149421">
                <a:tc rowSpan="5">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施策</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600" b="0" i="0" u="none" strike="noStrike">
                          <a:solidFill>
                            <a:srgbClr val="A6A6A6"/>
                          </a:solidFill>
                          <a:effectLst/>
                          <a:latin typeface="メイリオ" panose="020B0604030504040204" pitchFamily="50" charset="-128"/>
                          <a:ea typeface="メイリオ" panose="020B0604030504040204" pitchFamily="50" charset="-128"/>
                        </a:rPr>
                        <a:t>CPF</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600" b="0" i="0" u="none" strike="noStrike">
                        <a:solidFill>
                          <a:srgbClr val="A6A6A6"/>
                        </a:solidFill>
                        <a:effectLst/>
                        <a:latin typeface="メイリオ" panose="020B0604030504040204" pitchFamily="50" charset="-128"/>
                        <a:ea typeface="メイリオ" panose="020B0604030504040204" pitchFamily="50" charset="-128"/>
                      </a:endParaRP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93017"/>
                  </a:ext>
                </a:extLst>
              </a:tr>
              <a:tr h="149421">
                <a:tc vMerge="1">
                  <a:txBody>
                    <a:bodyPr/>
                    <a:lstStyle/>
                    <a:p>
                      <a:endParaRPr kumimoji="1" lang="ja-JP" altLang="en-US"/>
                    </a:p>
                  </a:txBody>
                  <a:tcPr/>
                </a:tc>
                <a:tc>
                  <a:txBody>
                    <a:bodyPr/>
                    <a:lstStyle/>
                    <a:p>
                      <a:pPr algn="ctr" fontAlgn="ctr">
                        <a:buNone/>
                      </a:pPr>
                      <a:r>
                        <a:rPr lang="ja-JP" sz="600" b="0" i="0" u="none" strike="noStrike">
                          <a:solidFill>
                            <a:srgbClr val="A6A6A6"/>
                          </a:solidFill>
                          <a:effectLst/>
                          <a:latin typeface="メイリオ" panose="020B0604030504040204" pitchFamily="50" charset="-128"/>
                          <a:ea typeface="メイリオ" panose="020B0604030504040204" pitchFamily="50" charset="-128"/>
                        </a:rPr>
                        <a:t>離脱防止</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600" b="0" i="0" u="none" strike="noStrike">
                        <a:solidFill>
                          <a:srgbClr val="A6A6A6"/>
                        </a:solidFill>
                        <a:effectLst/>
                        <a:latin typeface="メイリオ" panose="020B0604030504040204" pitchFamily="50" charset="-128"/>
                        <a:ea typeface="メイリオ" panose="020B0604030504040204" pitchFamily="50" charset="-128"/>
                      </a:endParaRP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TRUE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TRUE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TRUE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TRUE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TRUE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2663736"/>
                  </a:ext>
                </a:extLst>
              </a:tr>
              <a:tr h="149421">
                <a:tc vMerge="1">
                  <a:txBody>
                    <a:bodyPr/>
                    <a:lstStyle/>
                    <a:p>
                      <a:endParaRPr kumimoji="1" lang="ja-JP" altLang="en-US"/>
                    </a:p>
                  </a:txBody>
                  <a:tcPr/>
                </a:tc>
                <a:tc>
                  <a:txBody>
                    <a:bodyPr/>
                    <a:lstStyle/>
                    <a:p>
                      <a:pPr algn="ctr" fontAlgn="ctr">
                        <a:buNone/>
                      </a:pPr>
                      <a:r>
                        <a:rPr lang="ja-JP" sz="600" b="0" i="0" u="none" strike="noStrike">
                          <a:solidFill>
                            <a:srgbClr val="A6A6A6"/>
                          </a:solidFill>
                          <a:effectLst/>
                          <a:latin typeface="メイリオ" panose="020B0604030504040204" pitchFamily="50" charset="-128"/>
                          <a:ea typeface="メイリオ" panose="020B0604030504040204" pitchFamily="50" charset="-128"/>
                        </a:rPr>
                        <a:t>サンクスLINE誘導</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600" b="0" i="0" u="none" strike="noStrike">
                        <a:solidFill>
                          <a:srgbClr val="A6A6A6"/>
                        </a:solidFill>
                        <a:effectLst/>
                        <a:latin typeface="メイリオ" panose="020B0604030504040204" pitchFamily="50" charset="-128"/>
                        <a:ea typeface="メイリオ" panose="020B0604030504040204" pitchFamily="50" charset="-128"/>
                      </a:endParaRP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TRUE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TRUE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TRUE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TRUE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TRUE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TRUE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13028258"/>
                  </a:ext>
                </a:extLst>
              </a:tr>
              <a:tr h="149421">
                <a:tc vMerge="1">
                  <a:txBody>
                    <a:bodyPr/>
                    <a:lstStyle/>
                    <a:p>
                      <a:endParaRPr kumimoji="1" lang="ja-JP" altLang="en-US"/>
                    </a:p>
                  </a:txBody>
                  <a:tcPr/>
                </a:tc>
                <a:tc>
                  <a:txBody>
                    <a:bodyPr/>
                    <a:lstStyle/>
                    <a:p>
                      <a:pPr algn="ctr" fontAlgn="ctr">
                        <a:buNone/>
                      </a:pPr>
                      <a:r>
                        <a:rPr lang="ja-JP" sz="600" b="0" i="0" u="none" strike="noStrike">
                          <a:solidFill>
                            <a:srgbClr val="A6A6A6"/>
                          </a:solidFill>
                          <a:effectLst/>
                          <a:latin typeface="メイリオ" panose="020B0604030504040204" pitchFamily="50" charset="-128"/>
                          <a:ea typeface="メイリオ" panose="020B0604030504040204" pitchFamily="50" charset="-128"/>
                        </a:rPr>
                        <a:t>通知メッセージ_CV</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600" b="0" i="0" u="none" strike="noStrike">
                        <a:solidFill>
                          <a:srgbClr val="A6A6A6"/>
                        </a:solidFill>
                        <a:effectLst/>
                        <a:latin typeface="メイリオ" panose="020B0604030504040204" pitchFamily="50" charset="-128"/>
                        <a:ea typeface="メイリオ" panose="020B0604030504040204" pitchFamily="50" charset="-128"/>
                      </a:endParaRP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9076236"/>
                  </a:ext>
                </a:extLst>
              </a:tr>
              <a:tr h="149421">
                <a:tc vMerge="1">
                  <a:txBody>
                    <a:bodyPr/>
                    <a:lstStyle/>
                    <a:p>
                      <a:endParaRPr kumimoji="1" lang="ja-JP" altLang="en-US"/>
                    </a:p>
                  </a:txBody>
                  <a:tcPr/>
                </a:tc>
                <a:tc>
                  <a:txBody>
                    <a:bodyPr/>
                    <a:lstStyle/>
                    <a:p>
                      <a:pPr algn="ctr" fontAlgn="ctr">
                        <a:buNone/>
                      </a:pPr>
                      <a:r>
                        <a:rPr lang="ja-JP" sz="600" b="0" i="0" u="none" strike="noStrike">
                          <a:solidFill>
                            <a:srgbClr val="A6A6A6"/>
                          </a:solidFill>
                          <a:effectLst/>
                          <a:latin typeface="メイリオ" panose="020B0604030504040204" pitchFamily="50" charset="-128"/>
                          <a:ea typeface="メイリオ" panose="020B0604030504040204" pitchFamily="50" charset="-128"/>
                        </a:rPr>
                        <a:t>通知メッセージ_既存リスト</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600" b="0" i="0" u="none" strike="noStrike">
                        <a:solidFill>
                          <a:srgbClr val="A6A6A6"/>
                        </a:solidFill>
                        <a:effectLst/>
                        <a:latin typeface="メイリオ" panose="020B0604030504040204" pitchFamily="50" charset="-128"/>
                        <a:ea typeface="メイリオ" panose="020B0604030504040204" pitchFamily="50" charset="-128"/>
                      </a:endParaRP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Arial" panose="020B0604020202020204" pitchFamily="34" charset="0"/>
                          <a:ea typeface="游ゴシック" panose="020B0400000000000000" pitchFamily="50" charset="-128"/>
                        </a:rPr>
                        <a:t>FALSE</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79434724"/>
                  </a:ext>
                </a:extLst>
              </a:tr>
              <a:tr h="160093">
                <a:tc rowSpan="4">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施策増分</a:t>
                      </a:r>
                      <a:br>
                        <a:rPr lang="ja-JP" sz="600" b="0" i="0" u="none" strike="noStrike">
                          <a:solidFill>
                            <a:srgbClr val="000000"/>
                          </a:solidFill>
                          <a:effectLst/>
                          <a:latin typeface="メイリオ" panose="020B0604030504040204" pitchFamily="50" charset="-128"/>
                          <a:ea typeface="メイリオ" panose="020B0604030504040204" pitchFamily="50" charset="-128"/>
                        </a:rPr>
                      </a:br>
                      <a:r>
                        <a:rPr lang="ja-JP" sz="600" b="0" i="0" u="none" strike="noStrike">
                          <a:solidFill>
                            <a:srgbClr val="000000"/>
                          </a:solidFill>
                          <a:effectLst/>
                          <a:latin typeface="メイリオ" panose="020B0604030504040204" pitchFamily="50" charset="-128"/>
                          <a:ea typeface="メイリオ" panose="020B0604030504040204" pitchFamily="50" charset="-128"/>
                        </a:rPr>
                        <a:t>※友だち</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CPF</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6609616"/>
                  </a:ext>
                </a:extLst>
              </a:tr>
              <a:tr h="162228">
                <a:tc vMerge="1">
                  <a:txBody>
                    <a:bodyPr/>
                    <a:lstStyle/>
                    <a:p>
                      <a:endParaRPr kumimoji="1" lang="ja-JP" altLang="en-US"/>
                    </a:p>
                  </a:txBody>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離脱防止</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17</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17</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17</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17</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17</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3146924"/>
                  </a:ext>
                </a:extLst>
              </a:tr>
              <a:tr h="162228">
                <a:tc vMerge="1">
                  <a:txBody>
                    <a:bodyPr/>
                    <a:lstStyle/>
                    <a:p>
                      <a:endParaRPr kumimoji="1" lang="ja-JP" altLang="en-US"/>
                    </a:p>
                  </a:txBody>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サンクスLINE誘導</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600" b="0" i="0" u="none" strike="noStrike" dirty="0">
                          <a:solidFill>
                            <a:srgbClr val="000000"/>
                          </a:solidFill>
                          <a:effectLst/>
                          <a:latin typeface="メイリオ" panose="020B0604030504040204" pitchFamily="50" charset="-128"/>
                          <a:ea typeface="メイリオ" panose="020B0604030504040204" pitchFamily="50" charset="-128"/>
                        </a:rPr>
                        <a:t>18</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18</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18</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19</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19</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19</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287927"/>
                  </a:ext>
                </a:extLst>
              </a:tr>
              <a:tr h="162228">
                <a:tc vMerge="1">
                  <a:txBody>
                    <a:bodyPr/>
                    <a:lstStyle/>
                    <a:p>
                      <a:endParaRPr kumimoji="1" lang="ja-JP" altLang="en-US"/>
                    </a:p>
                  </a:txBody>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9302490"/>
                  </a:ext>
                </a:extLst>
              </a:tr>
              <a:tr h="162228">
                <a:tc gridSpan="2">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友だち数_増加数</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133</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151</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2454866"/>
                  </a:ext>
                </a:extLst>
              </a:tr>
              <a:tr h="162228">
                <a:tc gridSpan="2">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ブロック率</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30.6%</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31.20%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30.73%</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30.27%</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29.82%</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29.37%</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28.93%</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3968656"/>
                  </a:ext>
                </a:extLst>
              </a:tr>
              <a:tr h="162228">
                <a:tc gridSpan="2">
                  <a:txBody>
                    <a:bodyPr/>
                    <a:lstStyle/>
                    <a:p>
                      <a:pPr algn="ctr" fontAlgn="ctr">
                        <a:buNone/>
                      </a:pPr>
                      <a:r>
                        <a:rPr lang="ja-JP" sz="600" b="0" i="0" u="none" strike="noStrike">
                          <a:solidFill>
                            <a:srgbClr val="FF0000"/>
                          </a:solidFill>
                          <a:effectLst/>
                          <a:latin typeface="メイリオ" panose="020B0604030504040204" pitchFamily="50" charset="-128"/>
                          <a:ea typeface="メイリオ" panose="020B0604030504040204" pitchFamily="50" charset="-128"/>
                        </a:rPr>
                        <a:t>友だち数</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ctr" fontAlgn="ctr">
                        <a:buNone/>
                      </a:pPr>
                      <a:r>
                        <a:rPr lang="ja-JP" sz="600" b="0" i="0" u="none" strike="noStrike">
                          <a:solidFill>
                            <a:srgbClr val="FF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BFBFBF"/>
                    </a:solidFill>
                  </a:tcPr>
                </a:tc>
                <a:tc>
                  <a:txBody>
                    <a:bodyPr/>
                    <a:lstStyle/>
                    <a:p>
                      <a:pPr algn="r" rtl="0" fontAlgn="ctr">
                        <a:buNone/>
                      </a:pPr>
                      <a:r>
                        <a:rPr lang="ja-JP" sz="600" b="0" i="0" u="none" strike="noStrike">
                          <a:solidFill>
                            <a:srgbClr val="FF0000"/>
                          </a:solidFill>
                          <a:effectLst/>
                          <a:latin typeface="メイリオ" panose="020B0604030504040204" pitchFamily="50" charset="-128"/>
                          <a:ea typeface="メイリオ" panose="020B0604030504040204" pitchFamily="50" charset="-128"/>
                        </a:rPr>
                        <a:t>1,700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600" b="0" i="0" u="none" strike="noStrike">
                          <a:solidFill>
                            <a:srgbClr val="FF0000"/>
                          </a:solidFill>
                          <a:effectLst/>
                          <a:latin typeface="メイリオ" panose="020B0604030504040204" pitchFamily="50" charset="-128"/>
                          <a:ea typeface="メイリオ" panose="020B0604030504040204" pitchFamily="50" charset="-128"/>
                        </a:rPr>
                        <a:t>1,833</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FF0000"/>
                          </a:solidFill>
                          <a:effectLst/>
                          <a:latin typeface="メイリオ" panose="020B0604030504040204" pitchFamily="50" charset="-128"/>
                          <a:ea typeface="メイリオ" panose="020B0604030504040204" pitchFamily="50" charset="-128"/>
                        </a:rPr>
                        <a:t>1,983</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FF0000"/>
                          </a:solidFill>
                          <a:effectLst/>
                          <a:latin typeface="メイリオ" panose="020B0604030504040204" pitchFamily="50" charset="-128"/>
                          <a:ea typeface="メイリオ" panose="020B0604030504040204" pitchFamily="50" charset="-128"/>
                        </a:rPr>
                        <a:t>2,133</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FF0000"/>
                          </a:solidFill>
                          <a:effectLst/>
                          <a:latin typeface="メイリオ" panose="020B0604030504040204" pitchFamily="50" charset="-128"/>
                          <a:ea typeface="メイリオ" panose="020B0604030504040204" pitchFamily="50" charset="-128"/>
                        </a:rPr>
                        <a:t>2,283</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FF0000"/>
                          </a:solidFill>
                          <a:effectLst/>
                          <a:latin typeface="メイリオ" panose="020B0604030504040204" pitchFamily="50" charset="-128"/>
                          <a:ea typeface="メイリオ" panose="020B0604030504040204" pitchFamily="50" charset="-128"/>
                        </a:rPr>
                        <a:t>2,434</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FF0000"/>
                          </a:solidFill>
                          <a:effectLst/>
                          <a:latin typeface="メイリオ" panose="020B0604030504040204" pitchFamily="50" charset="-128"/>
                          <a:ea typeface="メイリオ" panose="020B0604030504040204" pitchFamily="50" charset="-128"/>
                        </a:rPr>
                        <a:t>2,584</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2115697"/>
                  </a:ext>
                </a:extLst>
              </a:tr>
              <a:tr h="162228">
                <a:tc gridSpan="2">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ターゲット数</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BFBFBF"/>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1,261</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1,374</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1,487</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1,602</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1,719</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1,837</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7995803"/>
                  </a:ext>
                </a:extLst>
              </a:tr>
              <a:tr h="162228">
                <a:tc gridSpan="2">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企画投稿数</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rtl="0" fontAlgn="ctr">
                        <a:buNone/>
                      </a:pPr>
                      <a:r>
                        <a:rPr lang="ja-JP" sz="600" b="0" i="0" u="none" strike="noStrike">
                          <a:solidFill>
                            <a:srgbClr val="FF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77461923"/>
                  </a:ext>
                </a:extLst>
              </a:tr>
              <a:tr h="162228">
                <a:tc gridSpan="2">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企画投稿からの流入</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498</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542</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587</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506</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542</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580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9614836"/>
                  </a:ext>
                </a:extLst>
              </a:tr>
              <a:tr h="162228">
                <a:tc gridSpan="2">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ステップ配信本数</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rtl="0" fontAlgn="ctr">
                        <a:buNone/>
                      </a:pPr>
                      <a:r>
                        <a:rPr lang="ja-JP" sz="600" b="0" i="0" u="none" strike="noStrike">
                          <a:solidFill>
                            <a:srgbClr val="FF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363301"/>
                  </a:ext>
                </a:extLst>
              </a:tr>
              <a:tr h="162228">
                <a:tc gridSpan="2">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ステップ配信からの流入</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1,110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1,209</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1,309</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1,128</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1,210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1,293</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3832967"/>
                  </a:ext>
                </a:extLst>
              </a:tr>
              <a:tr h="162228">
                <a:tc gridSpan="2">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配信数</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BFBFBF"/>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15,133</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16,482</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17,847</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15,383</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16,501</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17,632</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63247042"/>
                  </a:ext>
                </a:extLst>
              </a:tr>
              <a:tr h="162228">
                <a:tc gridSpan="2">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想定Click数</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rtl="0"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3,295</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3,589</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3,886</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3,349</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3,593</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3,839</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2370421"/>
                  </a:ext>
                </a:extLst>
              </a:tr>
              <a:tr h="149421">
                <a:tc rowSpan="2">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新規CV</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フェア事前申込</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17</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6</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13</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03113262"/>
                  </a:ext>
                </a:extLst>
              </a:tr>
              <a:tr h="149421">
                <a:tc vMerge="1">
                  <a:txBody>
                    <a:bodyPr/>
                    <a:lstStyle/>
                    <a:p>
                      <a:endParaRPr kumimoji="1" lang="ja-JP" altLang="en-US"/>
                    </a:p>
                  </a:txBody>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フェア来場</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13</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25</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16</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89488830"/>
                  </a:ext>
                </a:extLst>
              </a:tr>
              <a:tr h="149421">
                <a:tc rowSpan="2">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リピートCV</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8359156"/>
                  </a:ext>
                </a:extLst>
              </a:tr>
              <a:tr h="149421">
                <a:tc vMerge="1">
                  <a:txBody>
                    <a:bodyPr/>
                    <a:lstStyle/>
                    <a:p>
                      <a:endParaRPr kumimoji="1" lang="ja-JP" altLang="en-US"/>
                    </a:p>
                  </a:txBody>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3581135"/>
                  </a:ext>
                </a:extLst>
              </a:tr>
              <a:tr h="149421">
                <a:tc gridSpan="2">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合計CV</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p>
                  </a:txBody>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28</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42</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26</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6</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dirty="0">
                          <a:solidFill>
                            <a:srgbClr val="000000"/>
                          </a:solidFill>
                          <a:effectLst/>
                          <a:latin typeface="メイリオ" panose="020B0604030504040204" pitchFamily="50" charset="-128"/>
                          <a:ea typeface="メイリオ" panose="020B0604030504040204" pitchFamily="50" charset="-128"/>
                        </a:rPr>
                        <a:t>28</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7882491"/>
                  </a:ext>
                </a:extLst>
              </a:tr>
            </a:tbl>
          </a:graphicData>
        </a:graphic>
      </p:graphicFrame>
    </p:spTree>
    <p:extLst>
      <p:ext uri="{BB962C8B-B14F-4D97-AF65-F5344CB8AC3E}">
        <p14:creationId xmlns:p14="http://schemas.microsoft.com/office/powerpoint/2010/main" val="2320508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93D22975-37D7-E561-1946-A3D341774F73}"/>
              </a:ext>
            </a:extLst>
          </p:cNvPr>
          <p:cNvGraphicFramePr>
            <a:graphicFrameLocks noGrp="1"/>
          </p:cNvGraphicFramePr>
          <p:nvPr>
            <p:extLst>
              <p:ext uri="{D42A27DB-BD31-4B8C-83A1-F6EECF244321}">
                <p14:modId xmlns:p14="http://schemas.microsoft.com/office/powerpoint/2010/main" val="2834500634"/>
              </p:ext>
            </p:extLst>
          </p:nvPr>
        </p:nvGraphicFramePr>
        <p:xfrm>
          <a:off x="314325" y="933449"/>
          <a:ext cx="9267824" cy="5324484"/>
        </p:xfrm>
        <a:graphic>
          <a:graphicData uri="http://schemas.openxmlformats.org/drawingml/2006/table">
            <a:tbl>
              <a:tblPr/>
              <a:tblGrid>
                <a:gridCol w="858680">
                  <a:extLst>
                    <a:ext uri="{9D8B030D-6E8A-4147-A177-3AD203B41FA5}">
                      <a16:colId xmlns:a16="http://schemas.microsoft.com/office/drawing/2014/main" val="3643716922"/>
                    </a:ext>
                  </a:extLst>
                </a:gridCol>
                <a:gridCol w="1302824">
                  <a:extLst>
                    <a:ext uri="{9D8B030D-6E8A-4147-A177-3AD203B41FA5}">
                      <a16:colId xmlns:a16="http://schemas.microsoft.com/office/drawing/2014/main" val="151226341"/>
                    </a:ext>
                  </a:extLst>
                </a:gridCol>
                <a:gridCol w="888290">
                  <a:extLst>
                    <a:ext uri="{9D8B030D-6E8A-4147-A177-3AD203B41FA5}">
                      <a16:colId xmlns:a16="http://schemas.microsoft.com/office/drawing/2014/main" val="3076045230"/>
                    </a:ext>
                  </a:extLst>
                </a:gridCol>
                <a:gridCol w="888290">
                  <a:extLst>
                    <a:ext uri="{9D8B030D-6E8A-4147-A177-3AD203B41FA5}">
                      <a16:colId xmlns:a16="http://schemas.microsoft.com/office/drawing/2014/main" val="2156947539"/>
                    </a:ext>
                  </a:extLst>
                </a:gridCol>
                <a:gridCol w="888290">
                  <a:extLst>
                    <a:ext uri="{9D8B030D-6E8A-4147-A177-3AD203B41FA5}">
                      <a16:colId xmlns:a16="http://schemas.microsoft.com/office/drawing/2014/main" val="3971355739"/>
                    </a:ext>
                  </a:extLst>
                </a:gridCol>
                <a:gridCol w="888290">
                  <a:extLst>
                    <a:ext uri="{9D8B030D-6E8A-4147-A177-3AD203B41FA5}">
                      <a16:colId xmlns:a16="http://schemas.microsoft.com/office/drawing/2014/main" val="1586265831"/>
                    </a:ext>
                  </a:extLst>
                </a:gridCol>
                <a:gridCol w="888290">
                  <a:extLst>
                    <a:ext uri="{9D8B030D-6E8A-4147-A177-3AD203B41FA5}">
                      <a16:colId xmlns:a16="http://schemas.microsoft.com/office/drawing/2014/main" val="3477344076"/>
                    </a:ext>
                  </a:extLst>
                </a:gridCol>
                <a:gridCol w="888290">
                  <a:extLst>
                    <a:ext uri="{9D8B030D-6E8A-4147-A177-3AD203B41FA5}">
                      <a16:colId xmlns:a16="http://schemas.microsoft.com/office/drawing/2014/main" val="2628653496"/>
                    </a:ext>
                  </a:extLst>
                </a:gridCol>
                <a:gridCol w="888290">
                  <a:extLst>
                    <a:ext uri="{9D8B030D-6E8A-4147-A177-3AD203B41FA5}">
                      <a16:colId xmlns:a16="http://schemas.microsoft.com/office/drawing/2014/main" val="2245475702"/>
                    </a:ext>
                  </a:extLst>
                </a:gridCol>
                <a:gridCol w="888290">
                  <a:extLst>
                    <a:ext uri="{9D8B030D-6E8A-4147-A177-3AD203B41FA5}">
                      <a16:colId xmlns:a16="http://schemas.microsoft.com/office/drawing/2014/main" val="1642441747"/>
                    </a:ext>
                  </a:extLst>
                </a:gridCol>
              </a:tblGrid>
              <a:tr h="179729">
                <a:tc>
                  <a:txBody>
                    <a:bodyPr/>
                    <a:lstStyle/>
                    <a:p>
                      <a:pPr algn="l"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■成果報酬運営</a:t>
                      </a: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現状数値</a:t>
                      </a: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初期</a:t>
                      </a: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07735928"/>
                  </a:ext>
                </a:extLst>
              </a:tr>
              <a:tr h="179729">
                <a:tc gridSpan="2">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従量課金</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747474"/>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747474"/>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747474"/>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747474"/>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747474"/>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747474"/>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2981367"/>
                  </a:ext>
                </a:extLst>
              </a:tr>
              <a:tr h="179729">
                <a:tc gridSpan="2">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コスト想定(固定費)</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¥235,000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64637256"/>
                  </a:ext>
                </a:extLst>
              </a:tr>
              <a:tr h="179729">
                <a:tc gridSpan="2">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友だち獲得単価</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¥113</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0005390"/>
                  </a:ext>
                </a:extLst>
              </a:tr>
              <a:tr h="179729">
                <a:tc gridSpan="2">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CPC想定</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¥30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¥81</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¥106</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¥83</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¥29</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¥76</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04118571"/>
                  </a:ext>
                </a:extLst>
              </a:tr>
              <a:tr h="179729">
                <a:tc gridSpan="2">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CVR想定</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0.15%</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0.78%</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1.08%</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0.78%</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0.17%</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0.73%</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0180596"/>
                  </a:ext>
                </a:extLst>
              </a:tr>
              <a:tr h="179729">
                <a:tc gridSpan="2">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CPA想定</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p>
                  </a:txBody>
                  <a:tcPr/>
                </a:tc>
                <a:tc>
                  <a:txBody>
                    <a:bodyPr/>
                    <a:lstStyle/>
                    <a:p>
                      <a:pPr algn="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¥19,460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¥10,332</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¥9,817</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¥10,723</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¥17,467</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¥10,439</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7085887"/>
                  </a:ext>
                </a:extLst>
              </a:tr>
              <a:tr h="179729">
                <a:tc gridSpan="2">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成果報酬_費用発生</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p>
                  </a:txBody>
                  <a:tcPr/>
                </a:tc>
                <a:tc>
                  <a:txBody>
                    <a:bodyPr/>
                    <a:lstStyle/>
                    <a:p>
                      <a:pPr algn="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¥37,500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¥229,500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¥352,500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¥219,000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¥45,000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¥232,500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98922"/>
                  </a:ext>
                </a:extLst>
              </a:tr>
              <a:tr h="179729">
                <a:tc gridSpan="2">
                  <a:txBody>
                    <a:bodyPr/>
                    <a:lstStyle/>
                    <a:p>
                      <a:pPr algn="ctr" fontAlgn="ctr">
                        <a:buNone/>
                      </a:pPr>
                      <a:r>
                        <a:rPr lang="ja-JP" sz="600" b="1" i="0" u="none" strike="noStrike">
                          <a:solidFill>
                            <a:srgbClr val="FFFFFF"/>
                          </a:solidFill>
                          <a:effectLst/>
                          <a:latin typeface="メイリオ" panose="020B0604030504040204" pitchFamily="50" charset="-128"/>
                          <a:ea typeface="メイリオ" panose="020B0604030504040204" pitchFamily="50" charset="-128"/>
                        </a:rPr>
                        <a:t>総計コスト</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hMerge="1">
                  <a:txBody>
                    <a:bodyPr/>
                    <a:lstStyle/>
                    <a:p>
                      <a:endParaRPr kumimoji="1" lang="ja-JP" altLang="en-US"/>
                    </a:p>
                  </a:txBody>
                  <a:tcPr/>
                </a:tc>
                <a:tc>
                  <a:txBody>
                    <a:bodyPr/>
                    <a:lstStyle/>
                    <a:p>
                      <a:pPr algn="r" fontAlgn="ctr">
                        <a:buNone/>
                      </a:pPr>
                      <a:r>
                        <a:rPr lang="ja-JP" sz="600" b="1" i="0" u="none" strike="noStrike">
                          <a:solidFill>
                            <a:srgbClr val="FFFFFF"/>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¥235,000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¥97,300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¥289,300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¥412,300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¥278,800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¥104,800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¥292,300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327116"/>
                  </a:ext>
                </a:extLst>
              </a:tr>
              <a:tr h="179729">
                <a:tc>
                  <a:txBody>
                    <a:bodyPr/>
                    <a:lstStyle/>
                    <a:p>
                      <a:pPr algn="ctr" fontAlgn="ctr">
                        <a:buNone/>
                      </a:pPr>
                      <a:endParaRPr lang="ja-JP" sz="600" b="1"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endParaRPr lang="ja-JP" sz="600" b="1"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endParaRPr lang="ja-JP" sz="600" b="1"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59189326"/>
                  </a:ext>
                </a:extLst>
              </a:tr>
              <a:tr h="179729">
                <a:tc>
                  <a:txBody>
                    <a:bodyPr/>
                    <a:lstStyle/>
                    <a:p>
                      <a:pPr algn="l"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■コンサル運営</a:t>
                      </a: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8582259"/>
                  </a:ext>
                </a:extLst>
              </a:tr>
              <a:tr h="179729">
                <a:tc gridSpan="2">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従量課金</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5795897"/>
                  </a:ext>
                </a:extLst>
              </a:tr>
              <a:tr h="179729">
                <a:tc gridSpan="2">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コスト想定(固定費)</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¥235,000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96424928"/>
                  </a:ext>
                </a:extLst>
              </a:tr>
              <a:tr h="179729">
                <a:tc gridSpan="2">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友だち獲得単価</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¥113</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7543084"/>
                  </a:ext>
                </a:extLst>
              </a:tr>
              <a:tr h="179729">
                <a:tc gridSpan="2">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CPC想定</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¥79</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¥72</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¥67</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¥78</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¥72</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¥68</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3818168"/>
                  </a:ext>
                </a:extLst>
              </a:tr>
              <a:tr h="179729">
                <a:tc gridSpan="2">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CVR想定</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0.15%</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0.78%</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1.08%</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0.78%</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0.17%</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0.73%</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05265572"/>
                  </a:ext>
                </a:extLst>
              </a:tr>
              <a:tr h="179729">
                <a:tc gridSpan="2">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CPA想定</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p>
                  </a:txBody>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¥51,960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¥9,279</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¥6,186</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¥9,992</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¥43,300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¥9,279</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6397859"/>
                  </a:ext>
                </a:extLst>
              </a:tr>
              <a:tr h="179729">
                <a:tc gridSpan="2">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成果報酬_費用発生</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p>
                  </a:txBody>
                  <a:tcPr/>
                </a:tc>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53020696"/>
                  </a:ext>
                </a:extLst>
              </a:tr>
              <a:tr h="179729">
                <a:tc gridSpan="2">
                  <a:txBody>
                    <a:bodyPr/>
                    <a:lstStyle/>
                    <a:p>
                      <a:pPr algn="ctr" fontAlgn="ctr">
                        <a:buNone/>
                      </a:pPr>
                      <a:r>
                        <a:rPr lang="ja-JP" sz="600" b="1" i="0" u="none" strike="noStrike">
                          <a:solidFill>
                            <a:srgbClr val="FFFFFF"/>
                          </a:solidFill>
                          <a:effectLst/>
                          <a:latin typeface="メイリオ" panose="020B0604030504040204" pitchFamily="50" charset="-128"/>
                          <a:ea typeface="メイリオ" panose="020B0604030504040204" pitchFamily="50" charset="-128"/>
                        </a:rPr>
                        <a:t>総計コスト</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hMerge="1">
                  <a:txBody>
                    <a:bodyPr/>
                    <a:lstStyle/>
                    <a:p>
                      <a:endParaRPr kumimoji="1" lang="ja-JP" altLang="en-US"/>
                    </a:p>
                  </a:txBody>
                  <a:tcPr/>
                </a:tc>
                <a:tc>
                  <a:txBody>
                    <a:bodyPr/>
                    <a:lstStyle/>
                    <a:p>
                      <a:pPr algn="ctr" fontAlgn="ctr">
                        <a:buNone/>
                      </a:pPr>
                      <a:r>
                        <a:rPr lang="ja-JP" sz="600" b="1" i="0" u="none" strike="noStrike">
                          <a:solidFill>
                            <a:srgbClr val="FFFFFF"/>
                          </a:solidFill>
                          <a:effectLst/>
                          <a:latin typeface="メイリオ" panose="020B0604030504040204" pitchFamily="50" charset="-128"/>
                          <a:ea typeface="メイリオ" panose="020B0604030504040204" pitchFamily="50" charset="-128"/>
                        </a:rPr>
                        <a:t>　</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¥235,000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2563392"/>
                  </a:ext>
                </a:extLst>
              </a:tr>
              <a:tr h="179729">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379408772"/>
                  </a:ext>
                </a:extLst>
              </a:tr>
              <a:tr h="157264">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extLst>
                  <a:ext uri="{0D108BD9-81ED-4DB2-BD59-A6C34878D82A}">
                    <a16:rowId xmlns:a16="http://schemas.microsoft.com/office/drawing/2014/main" val="3070921970"/>
                  </a:ext>
                </a:extLst>
              </a:tr>
              <a:tr h="157264">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a:noFill/>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現状数値</a:t>
                      </a: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初期</a:t>
                      </a: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734913"/>
                  </a:ext>
                </a:extLst>
              </a:tr>
              <a:tr h="157264">
                <a:tc>
                  <a:txBody>
                    <a:bodyPr/>
                    <a:lstStyle/>
                    <a:p>
                      <a:pPr algn="ctr" fontAlgn="ctr">
                        <a:buNone/>
                      </a:pPr>
                      <a:r>
                        <a:rPr lang="ja-JP" sz="500" b="0" i="0" u="none" strike="noStrike">
                          <a:solidFill>
                            <a:srgbClr val="000000"/>
                          </a:solidFill>
                          <a:effectLst/>
                          <a:latin typeface="メイリオ" panose="020B0604030504040204" pitchFamily="50" charset="-128"/>
                          <a:ea typeface="メイリオ" panose="020B0604030504040204" pitchFamily="50" charset="-128"/>
                        </a:rPr>
                        <a:t>コスト備考</a:t>
                      </a:r>
                    </a:p>
                  </a:txBody>
                  <a:tcPr marL="3412" marR="3412" marT="3412"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従量課金</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7583460"/>
                  </a:ext>
                </a:extLst>
              </a:tr>
              <a:tr h="157264">
                <a:tc>
                  <a:txBody>
                    <a:bodyPr/>
                    <a:lstStyle/>
                    <a:p>
                      <a:pPr algn="ctr" fontAlgn="ctr">
                        <a:buNone/>
                      </a:pPr>
                      <a:r>
                        <a:rPr lang="ja-JP" sz="500" b="1" i="0" u="none" strike="noStrike">
                          <a:solidFill>
                            <a:srgbClr val="000000"/>
                          </a:solidFill>
                          <a:effectLst/>
                          <a:latin typeface="メイリオ" panose="020B0604030504040204" pitchFamily="50" charset="-128"/>
                          <a:ea typeface="メイリオ" panose="020B0604030504040204" pitchFamily="50" charset="-128"/>
                        </a:rPr>
                        <a:t>※コンサル</a:t>
                      </a:r>
                    </a:p>
                  </a:txBody>
                  <a:tcPr marL="3412" marR="3412" marT="3412"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離脱防止</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476751"/>
                  </a:ext>
                </a:extLst>
              </a:tr>
              <a:tr h="157264">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サンクス誘導</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6866694"/>
                  </a:ext>
                </a:extLst>
              </a:tr>
              <a:tr h="157264">
                <a:tc>
                  <a:txBody>
                    <a:bodyPr/>
                    <a:lstStyle/>
                    <a:p>
                      <a:pPr algn="l" fontAlgn="ctr">
                        <a:buNone/>
                      </a:pPr>
                      <a:endParaRPr lang="ja-JP" sz="5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アカウント費</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¥15,000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22605375"/>
                  </a:ext>
                </a:extLst>
              </a:tr>
              <a:tr h="157264">
                <a:tc>
                  <a:txBody>
                    <a:bodyPr/>
                    <a:lstStyle/>
                    <a:p>
                      <a:pPr algn="l" fontAlgn="ctr">
                        <a:buNone/>
                      </a:pPr>
                      <a:endParaRPr lang="ja-JP" sz="5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コンサル費①</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5411016"/>
                  </a:ext>
                </a:extLst>
              </a:tr>
              <a:tr h="157264">
                <a:tc>
                  <a:txBody>
                    <a:bodyPr/>
                    <a:lstStyle/>
                    <a:p>
                      <a:pPr algn="l" fontAlgn="ctr">
                        <a:buNone/>
                      </a:pPr>
                      <a:endParaRPr lang="ja-JP" sz="5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コンサル費②</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¥200,000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¥200,000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¥200,000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¥200,000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¥200,000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¥200,000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¥200,000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490187202"/>
                  </a:ext>
                </a:extLst>
              </a:tr>
              <a:tr h="157264">
                <a:tc>
                  <a:txBody>
                    <a:bodyPr/>
                    <a:lstStyle/>
                    <a:p>
                      <a:pPr algn="l" fontAlgn="ctr">
                        <a:buNone/>
                      </a:pPr>
                      <a:endParaRPr lang="ja-JP" sz="5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機能拡張</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2319428"/>
                  </a:ext>
                </a:extLst>
              </a:tr>
              <a:tr h="157264">
                <a:tc>
                  <a:txBody>
                    <a:bodyPr/>
                    <a:lstStyle/>
                    <a:p>
                      <a:pPr algn="l" fontAlgn="ctr">
                        <a:buNone/>
                      </a:pPr>
                      <a:endParaRPr lang="ja-JP" sz="5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APIツール費</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¥20,000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¥29,800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172533699"/>
                  </a:ext>
                </a:extLst>
              </a:tr>
              <a:tr h="157264">
                <a:tc>
                  <a:txBody>
                    <a:bodyPr/>
                    <a:lstStyle/>
                    <a:p>
                      <a:pPr algn="l" fontAlgn="ctr">
                        <a:buNone/>
                      </a:pPr>
                      <a:endParaRPr lang="ja-JP" sz="500" b="0" i="0" u="none" strike="noStrike">
                        <a:solidFill>
                          <a:srgbClr val="000000"/>
                        </a:solidFill>
                        <a:effectLst/>
                        <a:latin typeface="メイリオ" panose="020B0604030504040204" pitchFamily="50" charset="-128"/>
                        <a:ea typeface="メイリオ" panose="020B0604030504040204" pitchFamily="50" charset="-128"/>
                      </a:endParaRPr>
                    </a:p>
                  </a:txBody>
                  <a:tcPr marL="3412" marR="3412" marT="3412"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コスト総計</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¥235,000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¥259,800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¥259,800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¥259,800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¥259,800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¥259,800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600" b="1" i="0" u="none" strike="noStrike" dirty="0">
                          <a:solidFill>
                            <a:srgbClr val="000000"/>
                          </a:solidFill>
                          <a:effectLst/>
                          <a:latin typeface="メイリオ" panose="020B0604030504040204" pitchFamily="50" charset="-128"/>
                          <a:ea typeface="メイリオ" panose="020B0604030504040204" pitchFamily="50" charset="-128"/>
                        </a:rPr>
                        <a:t>¥259,800</a:t>
                      </a:r>
                    </a:p>
                  </a:txBody>
                  <a:tcPr marL="3412" marR="3412" marT="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048038731"/>
                  </a:ext>
                </a:extLst>
              </a:tr>
            </a:tbl>
          </a:graphicData>
        </a:graphic>
      </p:graphicFrame>
      <p:sp>
        <p:nvSpPr>
          <p:cNvPr id="5" name="TextBox 1">
            <a:extLst>
              <a:ext uri="{FF2B5EF4-FFF2-40B4-BE49-F238E27FC236}">
                <a16:creationId xmlns:a16="http://schemas.microsoft.com/office/drawing/2014/main" id="{FB9F93A5-E797-D2D9-9CCF-9FFBF2202ED3}"/>
              </a:ext>
            </a:extLst>
          </p:cNvPr>
          <p:cNvSpPr txBox="1"/>
          <p:nvPr/>
        </p:nvSpPr>
        <p:spPr>
          <a:xfrm>
            <a:off x="548640" y="137160"/>
            <a:ext cx="6510528" cy="365760"/>
          </a:xfrm>
          <a:prstGeom prst="rect">
            <a:avLst/>
          </a:prstGeom>
          <a:noFill/>
        </p:spPr>
        <p:txBody>
          <a:bodyPr wrap="square" lIns="0" tIns="18288" rIns="0" bIns="18288" anchor="ctr">
            <a:spAutoFit/>
          </a:bodyPr>
          <a:lstStyle/>
          <a:p>
            <a:pPr algn="l"/>
            <a:r>
              <a:rPr sz="1600" b="1" dirty="0" err="1">
                <a:solidFill>
                  <a:srgbClr val="002060"/>
                </a:solidFill>
                <a:latin typeface="メイリオ"/>
                <a:ea typeface="メイリオ"/>
                <a:cs typeface="メイリオ"/>
              </a:rPr>
              <a:t>想定の費用対効果</a:t>
            </a:r>
            <a:endParaRPr sz="1600" b="1" dirty="0">
              <a:solidFill>
                <a:srgbClr val="002060"/>
              </a:solidFill>
              <a:latin typeface="メイリオ"/>
              <a:ea typeface="メイリオ"/>
              <a:cs typeface="メイリオ"/>
            </a:endParaRPr>
          </a:p>
        </p:txBody>
      </p:sp>
    </p:spTree>
    <p:extLst>
      <p:ext uri="{BB962C8B-B14F-4D97-AF65-F5344CB8AC3E}">
        <p14:creationId xmlns:p14="http://schemas.microsoft.com/office/powerpoint/2010/main" val="17071096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err="1">
                <a:solidFill>
                  <a:srgbClr val="1E2761"/>
                </a:solidFill>
                <a:latin typeface="メイリオ" panose="020B0604030504040204" pitchFamily="50" charset="-128"/>
                <a:ea typeface="メイリオ" panose="020B0604030504040204" pitchFamily="50" charset="-128"/>
                <a:cs typeface="Calibri" pitchFamily="34" charset="-120"/>
              </a:rPr>
              <a:t>ユーザーのカスタマージャーニ</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接触〜リピートまでの動線設計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アンケート設計（初回）</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設問・分岐ロジックの設計、診断フローの構築</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アンケート運用・改善（月次）</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配信結果を見ての設問見直し・セグメント精度の改善提案</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3041576"/>
            <a:ext cx="875635" cy="16231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altLang="ja-JP" sz="1400"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rPr>
              <a:t>～　　　 の修正・調整も</a:t>
            </a:r>
            <a:endParaRPr lang="en-US" altLang="ja-JP" sz="1400" b="1" dirty="0">
              <a:latin typeface="メイリオ" panose="020B0604030504040204" pitchFamily="50" charset="-128"/>
              <a:ea typeface="メイリオ" panose="020B0604030504040204" pitchFamily="50" charset="-128"/>
            </a:endParaRPr>
          </a:p>
          <a:p>
            <a:endParaRPr kumimoji="1" lang="en-US" altLang="ja-JP" sz="1400" b="1" dirty="0">
              <a:latin typeface="メイリオ" panose="020B0604030504040204" pitchFamily="50" charset="-128"/>
              <a:ea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rPr>
              <a:t>月次対応内に含んでおります。</a:t>
            </a:r>
            <a:endParaRPr kumimoji="1" lang="en-US" altLang="ja-JP"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693530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36576" rIns="0" bIns="36576" anchor="ctr">
            <a:spAutoFit/>
          </a:bodyPr>
          <a:lstStyle/>
          <a:p>
            <a:pPr algn="l"/>
            <a:r>
              <a:rPr sz="2000" b="1">
                <a:solidFill>
                  <a:srgbClr val="002060"/>
                </a:solidFill>
                <a:latin typeface="メイリオ"/>
                <a:ea typeface="メイリオ"/>
                <a:cs typeface="メイリオ"/>
              </a:rPr>
              <a:t>計測環境の構築（オフラインCV連携＆GA計測）</a:t>
            </a:r>
          </a:p>
        </p:txBody>
      </p:sp>
      <p:sp>
        <p:nvSpPr>
          <p:cNvPr id="3" name="TextBox 2"/>
          <p:cNvSpPr txBox="1"/>
          <p:nvPr/>
        </p:nvSpPr>
        <p:spPr>
          <a:xfrm>
            <a:off x="548640" y="640080"/>
            <a:ext cx="8778240" cy="530352"/>
          </a:xfrm>
          <a:prstGeom prst="rect">
            <a:avLst/>
          </a:prstGeom>
          <a:noFill/>
        </p:spPr>
        <p:txBody>
          <a:bodyPr wrap="square" lIns="0" tIns="36576" rIns="0" bIns="36576" anchor="ctr">
            <a:spAutoFit/>
          </a:bodyPr>
          <a:lstStyle/>
          <a:p>
            <a:pPr algn="l">
              <a:lnSpc>
                <a:spcPct val="110000"/>
              </a:lnSpc>
            </a:pPr>
            <a:r>
              <a:rPr sz="1400" b="1">
                <a:solidFill>
                  <a:srgbClr val="333333"/>
                </a:solidFill>
                <a:latin typeface="メイリオ"/>
                <a:ea typeface="メイリオ"/>
                <a:cs typeface="メイリオ"/>
              </a:rPr>
              <a:t>LINE上のアクションと、LP・Meta広告側の成果を紐づけて計測できる環境を構築します。</a:t>
            </a:r>
          </a:p>
        </p:txBody>
      </p:sp>
      <p:sp>
        <p:nvSpPr>
          <p:cNvPr id="4" name="Rounded Rectangle 3"/>
          <p:cNvSpPr/>
          <p:nvPr/>
        </p:nvSpPr>
        <p:spPr>
          <a:xfrm>
            <a:off x="548640" y="1298448"/>
            <a:ext cx="2514600" cy="859536"/>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spcAft>
                <a:spcPts val="300"/>
              </a:spcAft>
            </a:pPr>
            <a:r>
              <a:rPr sz="1250" b="1">
                <a:solidFill>
                  <a:srgbClr val="FFFFFF"/>
                </a:solidFill>
                <a:latin typeface="メイリオ"/>
                <a:ea typeface="メイリオ"/>
                <a:cs typeface="メイリオ"/>
              </a:rPr>
              <a:t>① LP／申込フォーム</a:t>
            </a:r>
          </a:p>
          <a:p>
            <a:pPr algn="ctr"/>
            <a:r>
              <a:rPr sz="1050">
                <a:solidFill>
                  <a:srgbClr val="FFFFFF"/>
                </a:solidFill>
                <a:latin typeface="メイリオ"/>
                <a:ea typeface="メイリオ"/>
                <a:cs typeface="メイリオ"/>
              </a:rPr>
              <a:t>GA4パラメータ管理</a:t>
            </a:r>
          </a:p>
        </p:txBody>
      </p:sp>
      <p:sp>
        <p:nvSpPr>
          <p:cNvPr id="5" name="Right Arrow 4"/>
          <p:cNvSpPr/>
          <p:nvPr/>
        </p:nvSpPr>
        <p:spPr>
          <a:xfrm>
            <a:off x="3172968" y="1572768"/>
            <a:ext cx="384048" cy="310896"/>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0" y="1298448"/>
            <a:ext cx="5669280" cy="859536"/>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54864" rIns="128016" bIns="54864" rtlCol="0" anchor="ctr"/>
          <a:lstStyle/>
          <a:p>
            <a:pPr algn="l">
              <a:lnSpc>
                <a:spcPct val="120000"/>
              </a:lnSpc>
            </a:pPr>
            <a:r>
              <a:rPr sz="1200">
                <a:solidFill>
                  <a:srgbClr val="333333"/>
                </a:solidFill>
                <a:latin typeface="メイリオ"/>
                <a:ea typeface="メイリオ"/>
                <a:cs typeface="メイリオ"/>
              </a:rPr>
              <a:t>LINE経由の流入をパラメータで判別し、予約フォーム到達・完了までを計測。</a:t>
            </a:r>
          </a:p>
        </p:txBody>
      </p:sp>
      <p:sp>
        <p:nvSpPr>
          <p:cNvPr id="7" name="Rounded Rectangle 6"/>
          <p:cNvSpPr/>
          <p:nvPr/>
        </p:nvSpPr>
        <p:spPr>
          <a:xfrm>
            <a:off x="548640" y="2304288"/>
            <a:ext cx="2514600" cy="859536"/>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spcAft>
                <a:spcPts val="300"/>
              </a:spcAft>
            </a:pPr>
            <a:r>
              <a:rPr sz="1250" b="1">
                <a:solidFill>
                  <a:srgbClr val="FFFFFF"/>
                </a:solidFill>
                <a:latin typeface="メイリオ"/>
                <a:ea typeface="メイリオ"/>
                <a:cs typeface="メイリオ"/>
              </a:rPr>
              <a:t>② LINE公式アカウント</a:t>
            </a:r>
          </a:p>
          <a:p>
            <a:pPr algn="ctr"/>
            <a:r>
              <a:rPr sz="1050">
                <a:solidFill>
                  <a:srgbClr val="FFFFFF"/>
                </a:solidFill>
                <a:latin typeface="メイリオ"/>
                <a:ea typeface="メイリオ"/>
                <a:cs typeface="メイリオ"/>
              </a:rPr>
              <a:t>友だち・配信・反応の計測</a:t>
            </a:r>
          </a:p>
        </p:txBody>
      </p:sp>
      <p:sp>
        <p:nvSpPr>
          <p:cNvPr id="8" name="Right Arrow 7"/>
          <p:cNvSpPr/>
          <p:nvPr/>
        </p:nvSpPr>
        <p:spPr>
          <a:xfrm>
            <a:off x="3172968" y="2578608"/>
            <a:ext cx="384048" cy="310896"/>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657600" y="2304288"/>
            <a:ext cx="5669280" cy="859536"/>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54864" rIns="128016" bIns="54864" rtlCol="0" anchor="ctr"/>
          <a:lstStyle/>
          <a:p>
            <a:pPr algn="l">
              <a:lnSpc>
                <a:spcPct val="120000"/>
              </a:lnSpc>
            </a:pPr>
            <a:r>
              <a:rPr sz="1200">
                <a:solidFill>
                  <a:srgbClr val="333333"/>
                </a:solidFill>
                <a:latin typeface="メイリオ"/>
                <a:ea typeface="メイリオ"/>
                <a:cs typeface="メイリオ"/>
              </a:rPr>
              <a:t>友だち数、ブロック率、開封率、クリック率、タグ別のセグメント反応を管理画面で取得。</a:t>
            </a:r>
          </a:p>
        </p:txBody>
      </p:sp>
      <p:sp>
        <p:nvSpPr>
          <p:cNvPr id="10" name="Rounded Rectangle 9"/>
          <p:cNvSpPr/>
          <p:nvPr/>
        </p:nvSpPr>
        <p:spPr>
          <a:xfrm>
            <a:off x="548640" y="3310128"/>
            <a:ext cx="2514600" cy="859536"/>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spcAft>
                <a:spcPts val="300"/>
              </a:spcAft>
            </a:pPr>
            <a:r>
              <a:rPr sz="1250" b="1">
                <a:solidFill>
                  <a:srgbClr val="FFFFFF"/>
                </a:solidFill>
                <a:latin typeface="メイリオ"/>
                <a:ea typeface="メイリオ"/>
                <a:cs typeface="メイリオ"/>
              </a:rPr>
              <a:t>③ フェア当日（オフライン）</a:t>
            </a:r>
          </a:p>
          <a:p>
            <a:pPr algn="ctr"/>
            <a:r>
              <a:rPr sz="1050">
                <a:solidFill>
                  <a:srgbClr val="FFFFFF"/>
                </a:solidFill>
                <a:latin typeface="メイリオ"/>
                <a:ea typeface="メイリオ"/>
                <a:cs typeface="メイリオ"/>
              </a:rPr>
              <a:t>来場判定のデータ化</a:t>
            </a:r>
          </a:p>
        </p:txBody>
      </p:sp>
      <p:sp>
        <p:nvSpPr>
          <p:cNvPr id="11" name="Right Arrow 10"/>
          <p:cNvSpPr/>
          <p:nvPr/>
        </p:nvSpPr>
        <p:spPr>
          <a:xfrm>
            <a:off x="3172968" y="3584448"/>
            <a:ext cx="384048" cy="310896"/>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657600" y="3310128"/>
            <a:ext cx="5669280" cy="859536"/>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54864" rIns="128016" bIns="54864" rtlCol="0" anchor="ctr"/>
          <a:lstStyle/>
          <a:p>
            <a:pPr algn="l">
              <a:lnSpc>
                <a:spcPct val="120000"/>
              </a:lnSpc>
            </a:pPr>
            <a:r>
              <a:rPr sz="1200">
                <a:solidFill>
                  <a:srgbClr val="333333"/>
                </a:solidFill>
                <a:latin typeface="メイリオ"/>
                <a:ea typeface="メイリオ"/>
                <a:cs typeface="メイリオ"/>
              </a:rPr>
              <a:t>受付での来場確認をデータ化し、予約者のうち誰が来場したかを紐づけ。</a:t>
            </a:r>
          </a:p>
        </p:txBody>
      </p:sp>
      <p:sp>
        <p:nvSpPr>
          <p:cNvPr id="13" name="Rounded Rectangle 12"/>
          <p:cNvSpPr/>
          <p:nvPr/>
        </p:nvSpPr>
        <p:spPr>
          <a:xfrm>
            <a:off x="548640" y="4315968"/>
            <a:ext cx="2514600" cy="859536"/>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spcAft>
                <a:spcPts val="300"/>
              </a:spcAft>
            </a:pPr>
            <a:r>
              <a:rPr sz="1250" b="1">
                <a:solidFill>
                  <a:srgbClr val="FFFFFF"/>
                </a:solidFill>
                <a:latin typeface="メイリオ"/>
                <a:ea typeface="メイリオ"/>
                <a:cs typeface="メイリオ"/>
              </a:rPr>
              <a:t>④ Meta広告</a:t>
            </a:r>
          </a:p>
          <a:p>
            <a:pPr algn="ctr"/>
            <a:r>
              <a:rPr sz="1050">
                <a:solidFill>
                  <a:srgbClr val="FFFFFF"/>
                </a:solidFill>
                <a:latin typeface="メイリオ"/>
                <a:ea typeface="メイリオ"/>
                <a:cs typeface="メイリオ"/>
              </a:rPr>
              <a:t>オフラインCVの還元</a:t>
            </a:r>
          </a:p>
        </p:txBody>
      </p:sp>
      <p:sp>
        <p:nvSpPr>
          <p:cNvPr id="14" name="Right Arrow 13"/>
          <p:cNvSpPr/>
          <p:nvPr/>
        </p:nvSpPr>
        <p:spPr>
          <a:xfrm>
            <a:off x="3172968" y="4590288"/>
            <a:ext cx="384048" cy="310896"/>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657600" y="4315968"/>
            <a:ext cx="5669280" cy="859536"/>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54864" rIns="128016" bIns="54864" rtlCol="0" anchor="ctr"/>
          <a:lstStyle/>
          <a:p>
            <a:pPr algn="l">
              <a:lnSpc>
                <a:spcPct val="120000"/>
              </a:lnSpc>
            </a:pPr>
            <a:r>
              <a:rPr sz="1200">
                <a:solidFill>
                  <a:srgbClr val="333333"/>
                </a:solidFill>
                <a:latin typeface="メイリオ"/>
                <a:ea typeface="メイリオ"/>
                <a:cs typeface="メイリオ"/>
              </a:rPr>
              <a:t>来場・非来場データを広告側へ連携し、配信対象の最適化に活用。</a:t>
            </a:r>
          </a:p>
        </p:txBody>
      </p:sp>
      <p:sp>
        <p:nvSpPr>
          <p:cNvPr id="16" name="TextBox 15"/>
          <p:cNvSpPr txBox="1"/>
          <p:nvPr/>
        </p:nvSpPr>
        <p:spPr>
          <a:xfrm>
            <a:off x="548640" y="5413248"/>
            <a:ext cx="8778240" cy="512064"/>
          </a:xfrm>
          <a:prstGeom prst="rect">
            <a:avLst/>
          </a:prstGeom>
          <a:noFill/>
        </p:spPr>
        <p:txBody>
          <a:bodyPr wrap="square" lIns="0" tIns="36576" rIns="73152" bIns="36576" anchor="t">
            <a:spAutoFit/>
          </a:bodyPr>
          <a:lstStyle/>
          <a:p>
            <a:pPr algn="l">
              <a:lnSpc>
                <a:spcPct val="120000"/>
              </a:lnSpc>
            </a:pPr>
            <a:r>
              <a:rPr sz="1200">
                <a:solidFill>
                  <a:srgbClr val="333333"/>
                </a:solidFill>
                <a:latin typeface="メイリオ"/>
                <a:ea typeface="メイリオ"/>
                <a:cs typeface="メイリオ"/>
              </a:rPr>
              <a:t>これにより「広告→予約→来場」までを一本の数値で追跡でき、会場ごとの費用対効果を開催のたびに検証できます。</a:t>
            </a:r>
          </a:p>
        </p:txBody>
      </p:sp>
      <p:sp>
        <p:nvSpPr>
          <p:cNvPr id="17" name="Rounded Rectangle 16"/>
          <p:cNvSpPr/>
          <p:nvPr/>
        </p:nvSpPr>
        <p:spPr>
          <a:xfrm>
            <a:off x="548640" y="5760720"/>
            <a:ext cx="8778240" cy="438912"/>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50" b="1">
                <a:solidFill>
                  <a:srgbClr val="FFFFFF"/>
                </a:solidFill>
                <a:latin typeface="メイリオ"/>
                <a:ea typeface="メイリオ"/>
                <a:cs typeface="メイリオ"/>
              </a:rPr>
              <a:t>「予約まで」ではなく「来場まで」を計測できる状態をつくる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36576" rIns="0" bIns="36576" anchor="ctr">
            <a:spAutoFit/>
          </a:bodyPr>
          <a:lstStyle/>
          <a:p>
            <a:pPr algn="l"/>
            <a:r>
              <a:rPr sz="2000" b="1">
                <a:solidFill>
                  <a:srgbClr val="002060"/>
                </a:solidFill>
                <a:latin typeface="メイリオ"/>
                <a:ea typeface="メイリオ"/>
                <a:cs typeface="メイリオ"/>
              </a:rPr>
              <a:t>運用スケジュール（キックオフから運用開始まで約1ヶ月）</a:t>
            </a:r>
          </a:p>
        </p:txBody>
      </p:sp>
      <p:sp>
        <p:nvSpPr>
          <p:cNvPr id="3" name="TextBox 2"/>
          <p:cNvSpPr txBox="1"/>
          <p:nvPr/>
        </p:nvSpPr>
        <p:spPr>
          <a:xfrm>
            <a:off x="548640" y="640080"/>
            <a:ext cx="8778240" cy="530352"/>
          </a:xfrm>
          <a:prstGeom prst="rect">
            <a:avLst/>
          </a:prstGeom>
          <a:noFill/>
        </p:spPr>
        <p:txBody>
          <a:bodyPr wrap="square" lIns="0" tIns="36576" rIns="0" bIns="36576" anchor="ctr">
            <a:spAutoFit/>
          </a:bodyPr>
          <a:lstStyle/>
          <a:p>
            <a:pPr algn="l">
              <a:lnSpc>
                <a:spcPct val="110000"/>
              </a:lnSpc>
            </a:pPr>
            <a:r>
              <a:rPr sz="1400" b="1">
                <a:solidFill>
                  <a:srgbClr val="333333"/>
                </a:solidFill>
                <a:latin typeface="メイリオ"/>
                <a:ea typeface="メイリオ"/>
                <a:cs typeface="メイリオ"/>
              </a:rPr>
              <a:t>8月中に構築を完了させ、8/28の受付開始から9/26の初回フェアに間に合わせます。</a:t>
            </a:r>
          </a:p>
        </p:txBody>
      </p:sp>
      <p:sp>
        <p:nvSpPr>
          <p:cNvPr id="4" name="Rounded Rectangle 3"/>
          <p:cNvSpPr/>
          <p:nvPr/>
        </p:nvSpPr>
        <p:spPr>
          <a:xfrm>
            <a:off x="548640" y="1325880"/>
            <a:ext cx="1417320" cy="694944"/>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メイリオ"/>
                <a:ea typeface="メイリオ"/>
                <a:cs typeface="メイリオ"/>
              </a:rPr>
              <a:t>STEP 1</a:t>
            </a:r>
          </a:p>
        </p:txBody>
      </p:sp>
      <p:sp>
        <p:nvSpPr>
          <p:cNvPr id="5" name="Rounded Rectangle 4"/>
          <p:cNvSpPr/>
          <p:nvPr/>
        </p:nvSpPr>
        <p:spPr>
          <a:xfrm>
            <a:off x="2103120" y="1325880"/>
            <a:ext cx="7223760" cy="694944"/>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28016" bIns="36576" rtlCol="0" anchor="ctr"/>
          <a:lstStyle/>
          <a:p>
            <a:pPr algn="l"/>
            <a:r>
              <a:rPr sz="1300" b="1">
                <a:solidFill>
                  <a:srgbClr val="1F285A"/>
                </a:solidFill>
                <a:latin typeface="メイリオ"/>
                <a:ea typeface="メイリオ"/>
                <a:cs typeface="メイリオ"/>
              </a:rPr>
              <a:t>お申込み　</a:t>
            </a:r>
            <a:r>
              <a:rPr sz="1150">
                <a:solidFill>
                  <a:srgbClr val="333333"/>
                </a:solidFill>
                <a:latin typeface="メイリオ"/>
                <a:ea typeface="メイリオ"/>
                <a:cs typeface="メイリオ"/>
              </a:rPr>
              <a:t>3ヶ月契約（秋開催4会場分）の書類締結</a:t>
            </a:r>
          </a:p>
        </p:txBody>
      </p:sp>
      <p:sp>
        <p:nvSpPr>
          <p:cNvPr id="6" name="Rounded Rectangle 5"/>
          <p:cNvSpPr/>
          <p:nvPr/>
        </p:nvSpPr>
        <p:spPr>
          <a:xfrm>
            <a:off x="548640" y="2167128"/>
            <a:ext cx="1417320" cy="694944"/>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メイリオ"/>
                <a:ea typeface="メイリオ"/>
                <a:cs typeface="メイリオ"/>
              </a:rPr>
              <a:t>STEP 2</a:t>
            </a:r>
          </a:p>
        </p:txBody>
      </p:sp>
      <p:sp>
        <p:nvSpPr>
          <p:cNvPr id="7" name="Rounded Rectangle 6"/>
          <p:cNvSpPr/>
          <p:nvPr/>
        </p:nvSpPr>
        <p:spPr>
          <a:xfrm>
            <a:off x="2103120" y="2167128"/>
            <a:ext cx="7223760" cy="694944"/>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28016" bIns="36576" rtlCol="0" anchor="ctr"/>
          <a:lstStyle/>
          <a:p>
            <a:pPr algn="l"/>
            <a:r>
              <a:rPr sz="1300" b="1">
                <a:solidFill>
                  <a:srgbClr val="1F285A"/>
                </a:solidFill>
                <a:latin typeface="メイリオ"/>
                <a:ea typeface="メイリオ"/>
                <a:cs typeface="メイリオ"/>
              </a:rPr>
              <a:t>キックオフMTG　</a:t>
            </a:r>
            <a:r>
              <a:rPr sz="1150">
                <a:solidFill>
                  <a:srgbClr val="333333"/>
                </a:solidFill>
                <a:latin typeface="メイリオ"/>
                <a:ea typeface="メイリオ"/>
                <a:cs typeface="メイリオ"/>
              </a:rPr>
              <a:t>目標数値・役割分担・スケジュールの確定</a:t>
            </a:r>
          </a:p>
        </p:txBody>
      </p:sp>
      <p:sp>
        <p:nvSpPr>
          <p:cNvPr id="8" name="Rounded Rectangle 7"/>
          <p:cNvSpPr/>
          <p:nvPr/>
        </p:nvSpPr>
        <p:spPr>
          <a:xfrm>
            <a:off x="548640" y="3008376"/>
            <a:ext cx="1417320" cy="694944"/>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メイリオ"/>
                <a:ea typeface="メイリオ"/>
                <a:cs typeface="メイリオ"/>
              </a:rPr>
              <a:t>STEP 3</a:t>
            </a:r>
          </a:p>
        </p:txBody>
      </p:sp>
      <p:sp>
        <p:nvSpPr>
          <p:cNvPr id="9" name="Rounded Rectangle 8"/>
          <p:cNvSpPr/>
          <p:nvPr/>
        </p:nvSpPr>
        <p:spPr>
          <a:xfrm>
            <a:off x="2103120" y="3008376"/>
            <a:ext cx="7223760" cy="694944"/>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28016" bIns="36576" rtlCol="0" anchor="ctr"/>
          <a:lstStyle/>
          <a:p>
            <a:pPr algn="l"/>
            <a:r>
              <a:rPr sz="1300" b="1">
                <a:solidFill>
                  <a:srgbClr val="1F285A"/>
                </a:solidFill>
                <a:latin typeface="メイリオ"/>
                <a:ea typeface="メイリオ"/>
                <a:cs typeface="メイリオ"/>
              </a:rPr>
              <a:t>連携設定・タグ確認　</a:t>
            </a:r>
            <a:r>
              <a:rPr sz="1150">
                <a:solidFill>
                  <a:srgbClr val="333333"/>
                </a:solidFill>
                <a:latin typeface="メイリオ"/>
                <a:ea typeface="メイリオ"/>
                <a:cs typeface="メイリオ"/>
              </a:rPr>
              <a:t>GA4パラメータ設定、Metaデータ連携の設計</a:t>
            </a:r>
          </a:p>
        </p:txBody>
      </p:sp>
      <p:sp>
        <p:nvSpPr>
          <p:cNvPr id="10" name="Rounded Rectangle 9"/>
          <p:cNvSpPr/>
          <p:nvPr/>
        </p:nvSpPr>
        <p:spPr>
          <a:xfrm>
            <a:off x="548640" y="3849624"/>
            <a:ext cx="1417320" cy="694944"/>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メイリオ"/>
                <a:ea typeface="メイリオ"/>
                <a:cs typeface="メイリオ"/>
              </a:rPr>
              <a:t>STEP 4</a:t>
            </a:r>
          </a:p>
        </p:txBody>
      </p:sp>
      <p:sp>
        <p:nvSpPr>
          <p:cNvPr id="11" name="Rounded Rectangle 10"/>
          <p:cNvSpPr/>
          <p:nvPr/>
        </p:nvSpPr>
        <p:spPr>
          <a:xfrm>
            <a:off x="2103120" y="3849624"/>
            <a:ext cx="7223760" cy="694944"/>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28016" bIns="36576" rtlCol="0" anchor="ctr"/>
          <a:lstStyle/>
          <a:p>
            <a:pPr algn="l"/>
            <a:r>
              <a:rPr sz="1300" b="1">
                <a:solidFill>
                  <a:srgbClr val="1F285A"/>
                </a:solidFill>
                <a:latin typeface="メイリオ"/>
                <a:ea typeface="メイリオ"/>
                <a:cs typeface="メイリオ"/>
              </a:rPr>
              <a:t>初期構築　</a:t>
            </a:r>
            <a:r>
              <a:rPr sz="1150">
                <a:solidFill>
                  <a:srgbClr val="333333"/>
                </a:solidFill>
                <a:latin typeface="メイリオ"/>
                <a:ea typeface="メイリオ"/>
                <a:cs typeface="メイリオ"/>
              </a:rPr>
              <a:t>リッチメニュー・アンケート・シナリオ制作、動画クリエイティブ確認</a:t>
            </a:r>
          </a:p>
        </p:txBody>
      </p:sp>
      <p:sp>
        <p:nvSpPr>
          <p:cNvPr id="12" name="Rounded Rectangle 11"/>
          <p:cNvSpPr/>
          <p:nvPr/>
        </p:nvSpPr>
        <p:spPr>
          <a:xfrm>
            <a:off x="548640" y="4690872"/>
            <a:ext cx="1417320" cy="694944"/>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メイリオ"/>
                <a:ea typeface="メイリオ"/>
                <a:cs typeface="メイリオ"/>
              </a:rPr>
              <a:t>STEP 5</a:t>
            </a:r>
          </a:p>
        </p:txBody>
      </p:sp>
      <p:sp>
        <p:nvSpPr>
          <p:cNvPr id="13" name="Rounded Rectangle 12"/>
          <p:cNvSpPr/>
          <p:nvPr/>
        </p:nvSpPr>
        <p:spPr>
          <a:xfrm>
            <a:off x="2103120" y="4690872"/>
            <a:ext cx="7223760" cy="694944"/>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28016" bIns="36576" rtlCol="0" anchor="ctr"/>
          <a:lstStyle/>
          <a:p>
            <a:pPr algn="l"/>
            <a:r>
              <a:rPr sz="1300" b="1">
                <a:solidFill>
                  <a:srgbClr val="1F285A"/>
                </a:solidFill>
                <a:latin typeface="メイリオ"/>
                <a:ea typeface="メイリオ"/>
                <a:cs typeface="メイリオ"/>
              </a:rPr>
              <a:t>運用開始・検証　</a:t>
            </a:r>
            <a:r>
              <a:rPr sz="1150">
                <a:solidFill>
                  <a:srgbClr val="333333"/>
                </a:solidFill>
                <a:latin typeface="メイリオ"/>
                <a:ea typeface="メイリオ"/>
                <a:cs typeface="メイリオ"/>
              </a:rPr>
              <a:t>8/28受付開始に合わせて配信開始、9/26フェアで初回検証</a:t>
            </a:r>
          </a:p>
        </p:txBody>
      </p:sp>
      <p:sp>
        <p:nvSpPr>
          <p:cNvPr id="14" name="Rounded Rectangle 13"/>
          <p:cNvSpPr/>
          <p:nvPr/>
        </p:nvSpPr>
        <p:spPr>
          <a:xfrm>
            <a:off x="548640" y="5577840"/>
            <a:ext cx="8778240" cy="47548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8月中の構築完了により、秋クール4会場すべてで施策を稼働できます</a:t>
            </a:r>
          </a:p>
        </p:txBody>
      </p:sp>
      <p:sp>
        <p:nvSpPr>
          <p:cNvPr id="15" name="TextBox 14"/>
          <p:cNvSpPr txBox="1"/>
          <p:nvPr/>
        </p:nvSpPr>
        <p:spPr>
          <a:xfrm>
            <a:off x="548640" y="6126480"/>
            <a:ext cx="8778240" cy="274320"/>
          </a:xfrm>
          <a:prstGeom prst="rect">
            <a:avLst/>
          </a:prstGeom>
          <a:noFill/>
        </p:spPr>
        <p:txBody>
          <a:bodyPr wrap="square" lIns="0" tIns="36576" rIns="73152" bIns="36576" anchor="t">
            <a:spAutoFit/>
          </a:bodyPr>
          <a:lstStyle/>
          <a:p>
            <a:pPr algn="l"/>
            <a:r>
              <a:rPr sz="1000">
                <a:solidFill>
                  <a:srgbClr val="808080"/>
                </a:solidFill>
                <a:latin typeface="メイリオ"/>
                <a:ea typeface="メイリオ"/>
                <a:cs typeface="メイリオ"/>
              </a:rPr>
              <a:t>※貴社作業・確認にかかる時間により前後する可能性がございます。</a:t>
            </a:r>
          </a:p>
        </p:txBody>
      </p:sp>
    </p:spTree>
    <p:extLst>
      <p:ext uri="{BB962C8B-B14F-4D97-AF65-F5344CB8AC3E}">
        <p14:creationId xmlns:p14="http://schemas.microsoft.com/office/powerpoint/2010/main" val="21214348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l"/>
            <a:r>
              <a:rPr sz="1000" b="1">
                <a:solidFill>
                  <a:srgbClr val="FFFFFF"/>
                </a:solidFill>
                <a:latin typeface="メイリオ"/>
                <a:ea typeface="メイリオ"/>
                <a:cs typeface="メイリオ"/>
              </a:rPr>
              <a:t>Copyright(c) DYM Co., Ltd.  All Rights Reserved.</a:t>
            </a: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148820</TotalTime>
  <Words>3264</Words>
  <Application>Microsoft Office PowerPoint</Application>
  <PresentationFormat>A4 210 x 297 mm</PresentationFormat>
  <Paragraphs>976</Paragraphs>
  <Slides>29</Slides>
  <Notes>5</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29</vt:i4>
      </vt:variant>
    </vt:vector>
  </HeadingPairs>
  <TitlesOfParts>
    <vt:vector size="36" baseType="lpstr">
      <vt:lpstr>Meiryo</vt:lpstr>
      <vt:lpstr>Meiryo</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1957</cp:revision>
  <cp:lastPrinted>2022-11-01T11:38:14Z</cp:lastPrinted>
  <dcterms:created xsi:type="dcterms:W3CDTF">2015-09-04T09:21:15Z</dcterms:created>
  <dcterms:modified xsi:type="dcterms:W3CDTF">2026-08-04T06:11:39Z</dcterms:modified>
</cp:coreProperties>
</file>