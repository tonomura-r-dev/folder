
<file path=[Content_Types].xml><?xml version="1.0" encoding="utf-8"?>
<Types xmlns="http://schemas.openxmlformats.org/package/2006/content-types">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media/image35.svg" ContentType="image/svg+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0" r:id="rId1"/>
  </p:sldMasterIdLst>
  <p:notesMasterIdLst>
    <p:notesMasterId r:id="rId36"/>
  </p:notesMasterIdLst>
  <p:sldIdLst>
    <p:sldId id="256" r:id="rId2"/>
    <p:sldId id="2721" r:id="rId3"/>
    <p:sldId id="2724" r:id="rId4"/>
    <p:sldId id="2714" r:id="rId5"/>
    <p:sldId id="257"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3" r:id="rId19"/>
    <p:sldId id="274" r:id="rId20"/>
    <p:sldId id="275" r:id="rId21"/>
    <p:sldId id="276" r:id="rId22"/>
    <p:sldId id="277" r:id="rId23"/>
    <p:sldId id="278" r:id="rId24"/>
    <p:sldId id="279" r:id="rId25"/>
    <p:sldId id="280" r:id="rId26"/>
    <p:sldId id="281" r:id="rId27"/>
    <p:sldId id="2734" r:id="rId28"/>
    <p:sldId id="2595" r:id="rId29"/>
    <p:sldId id="2566" r:id="rId30"/>
    <p:sldId id="2569" r:id="rId31"/>
    <p:sldId id="2915" r:id="rId32"/>
    <p:sldId id="2619" r:id="rId33"/>
    <p:sldId id="2913" r:id="rId34"/>
    <p:sldId id="1169" r:id="rId35"/>
  </p:sldIdLst>
  <p:sldSz cx="9906000" cy="6858000" type="A4"/>
  <p:notesSz cx="6807200" cy="9939338"/>
  <p:embeddedFontLst>
    <p:embeddedFont>
      <p:font typeface="Century Gothic" panose="020B0502020202020204" pitchFamily="34" charset="0"/>
      <p:regular r:id="rId37"/>
      <p:bold r:id="rId38"/>
      <p:italic r:id="rId39"/>
      <p:boldItalic r:id="rId40"/>
    </p:embeddedFont>
    <p:embeddedFont>
      <p:font typeface="メイリオ" panose="020B0604030504040204" pitchFamily="50" charset="-128"/>
      <p:regular r:id="rId41"/>
      <p:bold r:id="rId42"/>
      <p:italic r:id="rId43"/>
      <p:boldItalic r:id="rId44"/>
    </p:embeddedFont>
    <p:embeddedFont>
      <p:font typeface="メイリオ" panose="020B0604030504040204" pitchFamily="50" charset="-128"/>
      <p:regular r:id="rId41"/>
      <p:bold r:id="rId42"/>
      <p:italic r:id="rId43"/>
      <p:boldItalic r:id="rId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120">
          <p15:clr>
            <a:srgbClr val="A4A3A4"/>
          </p15:clr>
        </p15:guide>
        <p15:guide id="3" orient="horz" pos="3475">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25" roundtripDataSignature="AMtx7miZGwmVzhSrNF3mIomHliXJQjFOk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032D"/>
    <a:srgbClr val="FFFFFF"/>
    <a:srgbClr val="3D4647"/>
    <a:srgbClr val="C00000"/>
    <a:srgbClr val="DBEEF4"/>
    <a:srgbClr val="FD0D2C"/>
    <a:srgbClr val="0000FF"/>
    <a:srgbClr val="FFFF99"/>
    <a:srgbClr val="A6A6A6"/>
    <a:srgbClr val="F59A2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0819C4C-175D-492D-BAEF-4A6233BE45D2}">
  <a:tblStyle styleId="{00819C4C-175D-492D-BAEF-4A6233BE45D2}"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076" autoAdjust="0"/>
    <p:restoredTop sz="95320" autoAdjust="0"/>
  </p:normalViewPr>
  <p:slideViewPr>
    <p:cSldViewPr snapToGrid="0">
      <p:cViewPr varScale="1">
        <p:scale>
          <a:sx n="110" d="100"/>
          <a:sy n="110" d="100"/>
        </p:scale>
        <p:origin x="1644" y="102"/>
      </p:cViewPr>
      <p:guideLst>
        <p:guide orient="horz" pos="2160"/>
        <p:guide pos="3120"/>
        <p:guide orient="horz" pos="3475"/>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font" Target="fonts/font1.fntdata"/><Relationship Id="rId38" Type="http://schemas.openxmlformats.org/officeDocument/2006/relationships/font" Target="fonts/font2.fntdata"/><Relationship Id="rId39" Type="http://schemas.openxmlformats.org/officeDocument/2006/relationships/font" Target="fonts/font3.fntdata"/><Relationship Id="rId40" Type="http://schemas.openxmlformats.org/officeDocument/2006/relationships/font" Target="fonts/font4.fntdata"/><Relationship Id="rId41" Type="http://schemas.openxmlformats.org/officeDocument/2006/relationships/font" Target="fonts/font5.fntdata"/><Relationship Id="rId42" Type="http://schemas.openxmlformats.org/officeDocument/2006/relationships/font" Target="fonts/font6.fntdata"/><Relationship Id="rId43" Type="http://schemas.openxmlformats.org/officeDocument/2006/relationships/font" Target="fonts/font7.fntdata"/><Relationship Id="rId44" Type="http://schemas.openxmlformats.org/officeDocument/2006/relationships/font" Target="fonts/font8.fntdata"/><Relationship Id="rId125" Type="http://customschemas.google.com/relationships/presentationmetadata" Target="metadata"/><Relationship Id="rId126" Type="http://schemas.openxmlformats.org/officeDocument/2006/relationships/presProps" Target="presProps.xml"/><Relationship Id="rId127" Type="http://schemas.openxmlformats.org/officeDocument/2006/relationships/viewProps" Target="viewProps.xml"/><Relationship Id="rId128" Type="http://schemas.openxmlformats.org/officeDocument/2006/relationships/theme" Target="theme/theme1.xml"/><Relationship Id="rId129"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1"/>
  <c:style val="2"/>
  <c:chart>
    <c:autoTitleDeleted val="0"/>
    <c:plotArea>
      <c:layout/>
      <c:barChart>
        <c:barDir val="col"/>
        <c:grouping val="stacked"/>
        <c:varyColors val="1"/>
        <c:ser>
          <c:idx val="0"/>
          <c:order val="0"/>
          <c:tx>
            <c:strRef>
              <c:f>Sheet1!$B$1</c:f>
              <c:strCache>
                <c:ptCount val="1"/>
                <c:pt idx="0">
                  <c:v>休眠の掘り起こし</c:v>
                </c:pt>
              </c:strCache>
            </c:strRef>
          </c:tx>
          <c:spPr>
            <a:solidFill>
              <a:srgbClr val="24345A"/>
            </a:solidFill>
          </c:spPr>
          <c:invertIfNegative val="1"/>
          <c:dLbls>
            <c:numFmt formatCode="0.0" sourceLinked="0"/>
            <c:spPr>
              <a:noFill/>
              <a:ln>
                <a:noFill/>
              </a:ln>
              <a:effectLst/>
            </c:spPr>
            <c:txPr>
              <a:bodyPr/>
              <a:lstStyle/>
              <a:p>
                <a:pPr>
                  <a:defRPr sz="900">
                    <a:solidFill>
                      <a:srgbClr val="FFFFFF"/>
                    </a:solidFill>
                  </a:defRPr>
                </a:pPr>
                <a:endParaRPr lang="ja-JP"/>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12月</c:v>
                </c:pt>
                <c:pt idx="1">
                  <c:v>1月</c:v>
                </c:pt>
                <c:pt idx="2">
                  <c:v>2月</c:v>
                </c:pt>
                <c:pt idx="3">
                  <c:v>3月</c:v>
                </c:pt>
                <c:pt idx="4">
                  <c:v>4月</c:v>
                </c:pt>
                <c:pt idx="5">
                  <c:v>5月</c:v>
                </c:pt>
              </c:strCache>
            </c:strRef>
          </c:cat>
          <c:val>
            <c:numRef>
              <c:f>Sheet1!$B$2:$B$7</c:f>
              <c:numCache>
                <c:formatCode>General</c:formatCode>
                <c:ptCount val="6"/>
                <c:pt idx="0">
                  <c:v>2.8</c:v>
                </c:pt>
                <c:pt idx="1">
                  <c:v>4.0999999999999996</c:v>
                </c:pt>
                <c:pt idx="2">
                  <c:v>5</c:v>
                </c:pt>
                <c:pt idx="3">
                  <c:v>6.5</c:v>
                </c:pt>
                <c:pt idx="4">
                  <c:v>6</c:v>
                </c:pt>
                <c:pt idx="5">
                  <c:v>5.5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296A-4A3B-B144-9C6543CFC3B8}"/>
            </c:ext>
          </c:extLst>
        </c:ser>
        <c:ser>
          <c:idx val="1"/>
          <c:order val="1"/>
          <c:tx>
            <c:strRef>
              <c:f>Sheet1!$C$1</c:f>
              <c:strCache>
                <c:ptCount val="1"/>
                <c:pt idx="0">
                  <c:v>新規（ステップ配信）</c:v>
                </c:pt>
              </c:strCache>
            </c:strRef>
          </c:tx>
          <c:spPr>
            <a:solidFill>
              <a:srgbClr val="06C755"/>
            </a:solidFill>
          </c:spPr>
          <c:invertIfNegative val="1"/>
          <c:dLbls>
            <c:numFmt formatCode="0.0" sourceLinked="0"/>
            <c:spPr>
              <a:noFill/>
              <a:ln>
                <a:noFill/>
              </a:ln>
              <a:effectLst/>
            </c:spPr>
            <c:txPr>
              <a:bodyPr/>
              <a:lstStyle/>
              <a:p>
                <a:pPr>
                  <a:defRPr sz="900">
                    <a:solidFill>
                      <a:srgbClr val="FFFFFF"/>
                    </a:solidFill>
                  </a:defRPr>
                </a:pPr>
                <a:endParaRPr lang="ja-JP"/>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12月</c:v>
                </c:pt>
                <c:pt idx="1">
                  <c:v>1月</c:v>
                </c:pt>
                <c:pt idx="2">
                  <c:v>2月</c:v>
                </c:pt>
                <c:pt idx="3">
                  <c:v>3月</c:v>
                </c:pt>
                <c:pt idx="4">
                  <c:v>4月</c:v>
                </c:pt>
                <c:pt idx="5">
                  <c:v>5月</c:v>
                </c:pt>
              </c:strCache>
            </c:strRef>
          </c:cat>
          <c:val>
            <c:numRef>
              <c:f>Sheet1!$C$2:$C$7</c:f>
              <c:numCache>
                <c:formatCode>General</c:formatCode>
                <c:ptCount val="6"/>
                <c:pt idx="0">
                  <c:v>1.9</c:v>
                </c:pt>
                <c:pt idx="1">
                  <c:v>2.7</c:v>
                </c:pt>
                <c:pt idx="2">
                  <c:v>3.3</c:v>
                </c:pt>
                <c:pt idx="3">
                  <c:v>4.3</c:v>
                </c:pt>
                <c:pt idx="4">
                  <c:v>4</c:v>
                </c:pt>
                <c:pt idx="5">
                  <c:v>3.7</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296A-4A3B-B144-9C6543CFC3B8}"/>
            </c:ext>
          </c:extLst>
        </c:ser>
        <c:dLbls>
          <c:showLegendKey val="0"/>
          <c:showVal val="0"/>
          <c:showCatName val="0"/>
          <c:showSerName val="0"/>
          <c:showPercent val="0"/>
          <c:showBubbleSize val="0"/>
        </c:dLbls>
        <c:gapWidth val="60"/>
        <c:overlap val="100"/>
        <c:axId val="-2068027336"/>
        <c:axId val="-2113994440"/>
      </c:barChart>
      <c:catAx>
        <c:axId val="-2068027336"/>
        <c:scaling>
          <c:orientation val="minMax"/>
        </c:scaling>
        <c:delete val="0"/>
        <c:axPos val="b"/>
        <c:numFmt formatCode="General" sourceLinked="0"/>
        <c:majorTickMark val="out"/>
        <c:minorTickMark val="none"/>
        <c:tickLblPos val="nextTo"/>
        <c:txPr>
          <a:bodyPr/>
          <a:lstStyle/>
          <a:p>
            <a:pPr>
              <a:defRPr sz="1000"/>
            </a:pPr>
            <a:endParaRPr lang="ja-JP"/>
          </a:p>
        </c:txPr>
        <c:crossAx val="-2113994440"/>
        <c:crosses val="autoZero"/>
        <c:auto val="1"/>
        <c:lblAlgn val="ctr"/>
        <c:lblOffset val="100"/>
        <c:noMultiLvlLbl val="0"/>
      </c:catAx>
      <c:valAx>
        <c:axId val="-2113994440"/>
        <c:scaling>
          <c:orientation val="minMax"/>
        </c:scaling>
        <c:delete val="0"/>
        <c:axPos val="l"/>
        <c:majorGridlines>
          <c:spPr>
            <a:ln>
              <a:solidFill>
                <a:srgbClr val="E3E6EC"/>
              </a:solidFill>
            </a:ln>
          </c:spPr>
        </c:majorGridlines>
        <c:numFmt formatCode="General" sourceLinked="1"/>
        <c:majorTickMark val="out"/>
        <c:minorTickMark val="none"/>
        <c:tickLblPos val="nextTo"/>
        <c:txPr>
          <a:bodyPr/>
          <a:lstStyle/>
          <a:p>
            <a:pPr>
              <a:defRPr sz="900"/>
            </a:pPr>
            <a:endParaRPr lang="ja-JP"/>
          </a:p>
        </c:txPr>
        <c:crossAx val="-2068027336"/>
        <c:crosses val="autoZero"/>
        <c:crossBetween val="between"/>
      </c:valAx>
    </c:plotArea>
    <c:legend>
      <c:legendPos val="b"/>
      <c:overlay val="0"/>
      <c:txPr>
        <a:bodyPr/>
        <a:lstStyle/>
        <a:p>
          <a:pPr>
            <a:defRPr sz="1000"/>
          </a:pPr>
          <a:endParaRPr lang="ja-JP"/>
        </a:p>
      </c:txPr>
    </c:legend>
    <c:plotVisOnly val="1"/>
    <c:dispBlanksAs val="gap"/>
    <c:showDLblsOverMax val="1"/>
  </c:chart>
  <c:txPr>
    <a:bodyPr/>
    <a:lstStyle/>
    <a:p>
      <a:pPr>
        <a:defRPr sz="1800">
          <a:latin typeface="メイリオ"/>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1" y="0"/>
            <a:ext cx="2949533" cy="496428"/>
          </a:xfrm>
          <a:prstGeom prst="rect">
            <a:avLst/>
          </a:prstGeom>
          <a:noFill/>
          <a:ln>
            <a:noFill/>
          </a:ln>
        </p:spPr>
        <p:txBody>
          <a:bodyPr spcFirstLastPara="1" wrap="square" lIns="88271" tIns="44123" rIns="88271" bIns="44123"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56148" y="0"/>
            <a:ext cx="2949532" cy="496428"/>
          </a:xfrm>
          <a:prstGeom prst="rect">
            <a:avLst/>
          </a:prstGeom>
          <a:noFill/>
          <a:ln>
            <a:noFill/>
          </a:ln>
        </p:spPr>
        <p:txBody>
          <a:bodyPr spcFirstLastPara="1" wrap="square" lIns="88271" tIns="44123" rIns="88271" bIns="44123"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711200" y="744538"/>
            <a:ext cx="5384800" cy="372903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1481" y="4720685"/>
            <a:ext cx="5445760" cy="4472471"/>
          </a:xfrm>
          <a:prstGeom prst="rect">
            <a:avLst/>
          </a:prstGeom>
          <a:noFill/>
          <a:ln>
            <a:noFill/>
          </a:ln>
        </p:spPr>
        <p:txBody>
          <a:bodyPr spcFirstLastPara="1" wrap="square" lIns="88271" tIns="44123" rIns="88271" bIns="44123"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1" y="9441368"/>
            <a:ext cx="2949533" cy="496428"/>
          </a:xfrm>
          <a:prstGeom prst="rect">
            <a:avLst/>
          </a:prstGeom>
          <a:noFill/>
          <a:ln>
            <a:noFill/>
          </a:ln>
        </p:spPr>
        <p:txBody>
          <a:bodyPr spcFirstLastPara="1" wrap="square" lIns="88271" tIns="44123" rIns="88271" bIns="44123"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56148" y="9441368"/>
            <a:ext cx="2949532" cy="496428"/>
          </a:xfrm>
          <a:prstGeom prst="rect">
            <a:avLst/>
          </a:prstGeom>
          <a:noFill/>
          <a:ln>
            <a:noFill/>
          </a:ln>
        </p:spPr>
        <p:txBody>
          <a:bodyPr spcFirstLastPara="1" wrap="square" lIns="88271" tIns="44123" rIns="88271" bIns="44123" anchor="b" anchorCtr="0">
            <a:noAutofit/>
          </a:bodyPr>
          <a:lstStyle/>
          <a:p>
            <a:pPr algn="r"/>
            <a:fld id="{00000000-1234-1234-1234-123412341234}" type="slidenum">
              <a:rPr lang="en-US" altLang="ja-JP" sz="1200" smtClean="0">
                <a:solidFill>
                  <a:schemeClr val="dk1"/>
                </a:solidFill>
                <a:latin typeface="Calibri"/>
                <a:ea typeface="Calibri"/>
                <a:cs typeface="Calibri"/>
                <a:sym typeface="Calibri"/>
              </a:rPr>
              <a:pPr algn="r"/>
              <a:t>‹#›</a:t>
            </a:fld>
            <a:endParaRPr lang="en-US" sz="1200">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solidFill>
                <a:schemeClr val="tx1">
                  <a:lumMod val="65000"/>
                  <a:lumOff val="35000"/>
                </a:schemeClr>
              </a:solidFill>
            </a:endParaRPr>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28</a:t>
            </a:fld>
            <a:endParaRPr kumimoji="1" lang="ja-JP" altLang="en-US"/>
          </a:p>
        </p:txBody>
      </p:sp>
    </p:spTree>
    <p:extLst>
      <p:ext uri="{BB962C8B-B14F-4D97-AF65-F5344CB8AC3E}">
        <p14:creationId xmlns:p14="http://schemas.microsoft.com/office/powerpoint/2010/main" val="15223248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29</a:t>
            </a:fld>
            <a:endParaRPr kumimoji="1" lang="ja-JP" altLang="en-US"/>
          </a:p>
        </p:txBody>
      </p:sp>
    </p:spTree>
    <p:extLst>
      <p:ext uri="{BB962C8B-B14F-4D97-AF65-F5344CB8AC3E}">
        <p14:creationId xmlns:p14="http://schemas.microsoft.com/office/powerpoint/2010/main" val="18350644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30</a:t>
            </a:fld>
            <a:endParaRPr kumimoji="1" lang="ja-JP" altLang="en-US"/>
          </a:p>
        </p:txBody>
      </p:sp>
    </p:spTree>
    <p:extLst>
      <p:ext uri="{BB962C8B-B14F-4D97-AF65-F5344CB8AC3E}">
        <p14:creationId xmlns:p14="http://schemas.microsoft.com/office/powerpoint/2010/main" val="3250212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B6ADA-9EE0-91AA-01F0-865797FB336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48D7824-B497-EEC9-3C27-6A309145FC0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893DCE5-B0D5-3EB2-202E-F260807F710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8AE7A32-4756-AD3E-9E41-6DB0BE31AC45}"/>
              </a:ext>
            </a:extLst>
          </p:cNvPr>
          <p:cNvSpPr>
            <a:spLocks noGrp="1"/>
          </p:cNvSpPr>
          <p:nvPr>
            <p:ph type="sldNum" sz="quarter" idx="10"/>
          </p:nvPr>
        </p:nvSpPr>
        <p:spPr/>
        <p:txBody>
          <a:bodyPr/>
          <a:lstStyle/>
          <a:p>
            <a:fld id="{022E43C0-6795-4B13-B37C-259C826D4B6A}" type="slidenum">
              <a:rPr kumimoji="1" lang="ja-JP" altLang="en-US" smtClean="0"/>
              <a:t>31</a:t>
            </a:fld>
            <a:endParaRPr kumimoji="1" lang="ja-JP" altLang="en-US"/>
          </a:p>
        </p:txBody>
      </p:sp>
    </p:spTree>
    <p:extLst>
      <p:ext uri="{BB962C8B-B14F-4D97-AF65-F5344CB8AC3E}">
        <p14:creationId xmlns:p14="http://schemas.microsoft.com/office/powerpoint/2010/main" val="32261468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32</a:t>
            </a:fld>
            <a:endParaRPr kumimoji="1" lang="ja-JP" altLang="en-US"/>
          </a:p>
        </p:txBody>
      </p:sp>
    </p:spTree>
    <p:extLst>
      <p:ext uri="{BB962C8B-B14F-4D97-AF65-F5344CB8AC3E}">
        <p14:creationId xmlns:p14="http://schemas.microsoft.com/office/powerpoint/2010/main" val="37176224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フッター プレースホルダー 3"/>
          <p:cNvSpPr>
            <a:spLocks noGrp="1"/>
          </p:cNvSpPr>
          <p:nvPr>
            <p:ph type="ftr" sz="quarter" idx="10"/>
          </p:nvPr>
        </p:nvSpPr>
        <p:spPr/>
        <p:txBody>
          <a:bodyPr/>
          <a:lstStyle/>
          <a:p>
            <a:pPr defTabSz="956886">
              <a:defRPr/>
            </a:pPr>
            <a:endParaRPr lang="ja-JP" altLang="en-US">
              <a:solidFill>
                <a:prstClr val="black"/>
              </a:solidFill>
              <a:latin typeface="Calibri"/>
              <a:ea typeface="ＭＳ Ｐゴシック" panose="020B0600070205080204" pitchFamily="50" charset="-128"/>
            </a:endParaRPr>
          </a:p>
        </p:txBody>
      </p:sp>
      <p:sp>
        <p:nvSpPr>
          <p:cNvPr id="5" name="スライド番号プレースホルダー 4"/>
          <p:cNvSpPr>
            <a:spLocks noGrp="1"/>
          </p:cNvSpPr>
          <p:nvPr>
            <p:ph type="sldNum" sz="quarter" idx="11"/>
          </p:nvPr>
        </p:nvSpPr>
        <p:spPr/>
        <p:txBody>
          <a:bodyPr/>
          <a:lstStyle/>
          <a:p>
            <a:pPr defTabSz="956886">
              <a:defRPr/>
            </a:pPr>
            <a:fld id="{929202D6-C1F5-472A-A72F-285F233F82C2}" type="slidenum">
              <a:rPr lang="ja-JP" altLang="en-US">
                <a:solidFill>
                  <a:prstClr val="black"/>
                </a:solidFill>
                <a:latin typeface="Calibri"/>
                <a:ea typeface="ＭＳ Ｐゴシック" panose="020B0600070205080204" pitchFamily="50" charset="-128"/>
              </a:rPr>
              <a:pPr defTabSz="956886">
                <a:defRPr/>
              </a:pPr>
              <a:t>34</a:t>
            </a:fld>
            <a:endParaRPr lang="ja-JP" altLang="en-US">
              <a:solidFill>
                <a:prstClr val="black"/>
              </a:solidFill>
              <a:latin typeface="Calibri"/>
              <a:ea typeface="ＭＳ Ｐゴシック" panose="020B0600070205080204" pitchFamily="50" charset="-128"/>
            </a:endParaRPr>
          </a:p>
        </p:txBody>
      </p:sp>
    </p:spTree>
    <p:extLst>
      <p:ext uri="{BB962C8B-B14F-4D97-AF65-F5344CB8AC3E}">
        <p14:creationId xmlns:p14="http://schemas.microsoft.com/office/powerpoint/2010/main" val="37920873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4_タイトルとコンテンツ">
    <p:spTree>
      <p:nvGrpSpPr>
        <p:cNvPr id="1" name=""/>
        <p:cNvGrpSpPr/>
        <p:nvPr/>
      </p:nvGrpSpPr>
      <p:grpSpPr>
        <a:xfrm>
          <a:off x="0" y="0"/>
          <a:ext cx="0" cy="0"/>
          <a:chOff x="0" y="0"/>
          <a:chExt cx="0" cy="0"/>
        </a:xfrm>
      </p:grpSpPr>
    </p:spTree>
    <p:extLst>
      <p:ext uri="{BB962C8B-B14F-4D97-AF65-F5344CB8AC3E}">
        <p14:creationId xmlns:p14="http://schemas.microsoft.com/office/powerpoint/2010/main" val="840143933"/>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337521792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5"/>
        <p:cNvGrpSpPr/>
        <p:nvPr/>
      </p:nvGrpSpPr>
      <p:grpSpPr>
        <a:xfrm>
          <a:off x="0" y="0"/>
          <a:ext cx="0" cy="0"/>
          <a:chOff x="0" y="0"/>
          <a:chExt cx="0" cy="0"/>
        </a:xfrm>
      </p:grpSpPr>
      <p:sp>
        <p:nvSpPr>
          <p:cNvPr id="16" name="Google Shape;16;p56"/>
          <p:cNvSpPr/>
          <p:nvPr/>
        </p:nvSpPr>
        <p:spPr>
          <a:xfrm>
            <a:off x="0" y="6552728"/>
            <a:ext cx="9906000" cy="332656"/>
          </a:xfrm>
          <a:prstGeom prst="rect">
            <a:avLst/>
          </a:prstGeom>
          <a:solidFill>
            <a:srgbClr val="00206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 name="Google Shape;17;p56"/>
          <p:cNvSpPr txBox="1"/>
          <p:nvPr/>
        </p:nvSpPr>
        <p:spPr>
          <a:xfrm>
            <a:off x="116569" y="6597932"/>
            <a:ext cx="3666301"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sz="800" b="1">
                <a:solidFill>
                  <a:schemeClr val="lt1"/>
                </a:solidFill>
                <a:latin typeface="Meiryo"/>
                <a:ea typeface="Meiryo"/>
                <a:cs typeface="Meiryo"/>
                <a:sym typeface="Meiryo"/>
              </a:rPr>
              <a:t>Copyright(c) DYM Co., Ltd.All Rights Reserved.</a:t>
            </a:r>
            <a:endParaRPr/>
          </a:p>
        </p:txBody>
      </p:sp>
      <p:sp>
        <p:nvSpPr>
          <p:cNvPr id="18" name="Google Shape;18;p56"/>
          <p:cNvSpPr/>
          <p:nvPr/>
        </p:nvSpPr>
        <p:spPr>
          <a:xfrm>
            <a:off x="0" y="0"/>
            <a:ext cx="416496" cy="548680"/>
          </a:xfrm>
          <a:prstGeom prst="rect">
            <a:avLst/>
          </a:prstGeom>
          <a:solidFill>
            <a:srgbClr val="00206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19" name="Google Shape;19;p56"/>
          <p:cNvCxnSpPr/>
          <p:nvPr/>
        </p:nvCxnSpPr>
        <p:spPr>
          <a:xfrm>
            <a:off x="0" y="548680"/>
            <a:ext cx="9906000" cy="0"/>
          </a:xfrm>
          <a:prstGeom prst="straightConnector1">
            <a:avLst/>
          </a:prstGeom>
          <a:noFill/>
          <a:ln w="25400" cap="flat" cmpd="sng">
            <a:solidFill>
              <a:srgbClr val="002060"/>
            </a:solidFill>
            <a:prstDash val="solid"/>
            <a:round/>
            <a:headEnd type="none" w="sm" len="sm"/>
            <a:tailEnd type="none" w="sm" len="sm"/>
          </a:ln>
        </p:spPr>
      </p:cxnSp>
      <p:pic>
        <p:nvPicPr>
          <p:cNvPr id="20" name="Google Shape;20;p56"/>
          <p:cNvPicPr preferRelativeResize="0"/>
          <p:nvPr/>
        </p:nvPicPr>
        <p:blipFill rotWithShape="1">
          <a:blip r:embed="rId4">
            <a:alphaModFix/>
          </a:blip>
          <a:srcRect l="-1647" r="-11170"/>
          <a:stretch/>
        </p:blipFill>
        <p:spPr>
          <a:xfrm>
            <a:off x="8619408" y="161057"/>
            <a:ext cx="1192729" cy="263314"/>
          </a:xfrm>
          <a:prstGeom prst="rect">
            <a:avLst/>
          </a:prstGeom>
          <a:noFill/>
          <a:ln>
            <a:noFill/>
          </a:ln>
        </p:spPr>
      </p:pic>
      <p:sp>
        <p:nvSpPr>
          <p:cNvPr id="21" name="Google Shape;21;p56"/>
          <p:cNvSpPr txBox="1"/>
          <p:nvPr/>
        </p:nvSpPr>
        <p:spPr>
          <a:xfrm>
            <a:off x="7545288" y="6571255"/>
            <a:ext cx="2133600" cy="216000"/>
          </a:xfrm>
          <a:prstGeom prst="rect">
            <a:avLst/>
          </a:prstGeom>
          <a:noFill/>
          <a:ln>
            <a:noFill/>
          </a:ln>
        </p:spPr>
        <p:txBody>
          <a:bodyPr spcFirstLastPara="1" wrap="square" lIns="91425" tIns="25200" rIns="91425" bIns="45700" anchor="t" anchorCtr="0">
            <a:noAutofit/>
          </a:bodyPr>
          <a:lstStyle/>
          <a:p>
            <a:pPr marL="0" marR="0" lvl="0" indent="0" algn="r" rtl="0">
              <a:spcBef>
                <a:spcPts val="0"/>
              </a:spcBef>
              <a:spcAft>
                <a:spcPts val="0"/>
              </a:spcAft>
              <a:buNone/>
            </a:pPr>
            <a:fld id="{00000000-1234-1234-1234-123412341234}" type="slidenum">
              <a:rPr lang="ja-JP" sz="1400" i="1">
                <a:solidFill>
                  <a:schemeClr val="lt1"/>
                </a:solidFill>
                <a:latin typeface="Century Gothic"/>
                <a:ea typeface="Century Gothic"/>
                <a:cs typeface="Century Gothic"/>
                <a:sym typeface="Century Gothic"/>
              </a:rPr>
              <a:t>‹#›</a:t>
            </a:fld>
            <a:endParaRPr sz="1400" i="1">
              <a:solidFill>
                <a:schemeClr val="lt1"/>
              </a:solidFill>
              <a:latin typeface="Century Gothic"/>
              <a:ea typeface="Century Gothic"/>
              <a:cs typeface="Century Gothic"/>
              <a:sym typeface="Century Gothic"/>
            </a:endParaRPr>
          </a:p>
        </p:txBody>
      </p:sp>
    </p:spTree>
  </p:cSld>
  <p:clrMap bg1="lt1" tx1="dk1" bg2="dk2" tx2="lt2" accent1="accent1" accent2="accent2" accent3="accent3" accent4="accent4" accent5="accent5" accent6="accent6" hlink="hlink" folHlink="folHlink"/>
  <p:sldLayoutIdLst>
    <p:sldLayoutId id="2147483658" r:id="rId1"/>
    <p:sldLayoutId id="2147483659" r:id="rId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3.jpe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1.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3.png"/><Relationship Id="rId3" Type="http://schemas.openxmlformats.org/officeDocument/2006/relationships/image" Target="../media/image14.jpg"/><Relationship Id="rId4" Type="http://schemas.openxmlformats.org/officeDocument/2006/relationships/image" Target="../media/image15.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19.png"/><Relationship Id="rId7" Type="http://schemas.openxmlformats.org/officeDocument/2006/relationships/image" Target="../media/image20.png"/><Relationship Id="rId8" Type="http://schemas.openxmlformats.org/officeDocument/2006/relationships/image" Target="../media/image21.png"/><Relationship Id="rId9" Type="http://schemas.openxmlformats.org/officeDocument/2006/relationships/image" Target="../media/image22.png"/><Relationship Id="rId10" Type="http://schemas.openxmlformats.org/officeDocument/2006/relationships/image" Target="../media/image2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4.png"/><Relationship Id="rId4" Type="http://schemas.openxmlformats.org/officeDocument/2006/relationships/image" Target="../media/image2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6.jpeg"/><Relationship Id="rId4" Type="http://schemas.openxmlformats.org/officeDocument/2006/relationships/image" Target="../media/image27.jpeg"/><Relationship Id="rId5" Type="http://schemas.openxmlformats.org/officeDocument/2006/relationships/image" Target="../media/image28.png"/><Relationship Id="rId6" Type="http://schemas.openxmlformats.org/officeDocument/2006/relationships/image" Target="../media/image29.png"/><Relationship Id="rId7" Type="http://schemas.openxmlformats.org/officeDocument/2006/relationships/image" Target="../media/image3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1.png"/><Relationship Id="rId4" Type="http://schemas.openxmlformats.org/officeDocument/2006/relationships/image" Target="../media/image32.png"/><Relationship Id="rId5" Type="http://schemas.openxmlformats.org/officeDocument/2006/relationships/image" Target="../media/image33.png"/><Relationship Id="rId6" Type="http://schemas.openxmlformats.org/officeDocument/2006/relationships/image" Target="../media/image34.png"/><Relationship Id="rId7" Type="http://schemas.openxmlformats.org/officeDocument/2006/relationships/image" Target="../media/image35.svg"/><Relationship Id="rId8" Type="http://schemas.openxmlformats.org/officeDocument/2006/relationships/image" Target="../media/image3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7.emf"/><Relationship Id="rId4" Type="http://schemas.openxmlformats.org/officeDocument/2006/relationships/image" Target="../media/image38.jpeg"/><Relationship Id="rId5" Type="http://schemas.openxmlformats.org/officeDocument/2006/relationships/image" Target="../media/image39.jpeg"/><Relationship Id="rId6" Type="http://schemas.openxmlformats.org/officeDocument/2006/relationships/image" Target="../media/image40.jpeg"/><Relationship Id="rId7" Type="http://schemas.openxmlformats.org/officeDocument/2006/relationships/image" Target="../media/image41.jpeg"/><Relationship Id="rId8" Type="http://schemas.openxmlformats.org/officeDocument/2006/relationships/image" Target="../media/image4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8580000" cy="575000"/>
          </a:xfrm>
          <a:prstGeom prst="rect">
            <a:avLst/>
          </a:prstGeom>
          <a:solidFill>
            <a:srgbClr val="FFFFFF"/>
          </a:solidFill>
          <a:ln>
            <a:noFill/>
          </a:ln>
          <a:effectLst/>
        </p:spPr>
        <p:txBody>
          <a:bodyPr rtlCol="0" anchor="ctr"/>
          <a:lstStyle/>
          <a:p>
            <a:pPr algn="ctr"/>
            <a:endParaRPr/>
          </a:p>
        </p:txBody>
      </p:sp>
      <p:sp>
        <p:nvSpPr>
          <p:cNvPr id="3" name="TextBox 2"/>
          <p:cNvSpPr txBox="1"/>
          <p:nvPr/>
        </p:nvSpPr>
        <p:spPr>
          <a:xfrm>
            <a:off x="384048" y="2390538"/>
            <a:ext cx="9134856" cy="318924"/>
          </a:xfrm>
          <a:prstGeom prst="rect">
            <a:avLst/>
          </a:prstGeom>
          <a:noFill/>
        </p:spPr>
        <p:txBody>
          <a:bodyPr wrap="square" lIns="72000" tIns="36000" rIns="72000" bIns="36000" anchor="ctr">
            <a:spAutoFit/>
          </a:bodyPr>
          <a:lstStyle/>
          <a:p>
            <a:pPr algn="ctr"/>
            <a:r>
              <a:rPr lang="ja-JP" altLang="en-US" sz="1600" b="0" dirty="0">
                <a:solidFill>
                  <a:srgbClr val="7F7F7F"/>
                </a:solidFill>
                <a:latin typeface="メイリオ"/>
                <a:ea typeface="メイリオ"/>
                <a:cs typeface="メイリオ"/>
              </a:rPr>
              <a:t>「</a:t>
            </a:r>
            <a:r>
              <a:rPr sz="1600" b="0" dirty="0" err="1">
                <a:solidFill>
                  <a:srgbClr val="7F7F7F"/>
                </a:solidFill>
                <a:latin typeface="メイリオ"/>
                <a:ea typeface="メイリオ"/>
                <a:cs typeface="メイリオ"/>
              </a:rPr>
              <a:t>友だちを集める」から「予約に変える」へ</a:t>
            </a:r>
            <a:endParaRPr sz="1600" b="0" dirty="0">
              <a:solidFill>
                <a:srgbClr val="7F7F7F"/>
              </a:solidFill>
              <a:latin typeface="メイリオ"/>
              <a:ea typeface="メイリオ"/>
              <a:cs typeface="メイリオ"/>
            </a:endParaRPr>
          </a:p>
        </p:txBody>
      </p:sp>
      <p:sp>
        <p:nvSpPr>
          <p:cNvPr id="4" name="TextBox 3"/>
          <p:cNvSpPr txBox="1"/>
          <p:nvPr/>
        </p:nvSpPr>
        <p:spPr>
          <a:xfrm>
            <a:off x="384048" y="2850000"/>
            <a:ext cx="9134856" cy="800000"/>
          </a:xfrm>
          <a:prstGeom prst="rect">
            <a:avLst/>
          </a:prstGeom>
          <a:noFill/>
        </p:spPr>
        <p:txBody>
          <a:bodyPr wrap="square" lIns="72000" tIns="36000" rIns="72000" bIns="36000" anchor="ctr">
            <a:spAutoFit/>
          </a:bodyPr>
          <a:lstStyle/>
          <a:p>
            <a:pPr algn="ctr"/>
            <a:r>
              <a:rPr sz="3200" b="1">
                <a:solidFill>
                  <a:srgbClr val="404040"/>
                </a:solidFill>
                <a:latin typeface="メイリオ"/>
                <a:ea typeface="メイリオ"/>
                <a:cs typeface="メイリオ"/>
              </a:rPr>
              <a:t>LINE公式アカウント運用のご提案</a:t>
            </a:r>
          </a:p>
        </p:txBody>
      </p:sp>
      <p:cxnSp>
        <p:nvCxnSpPr>
          <p:cNvPr id="5" name="Connector 4"/>
          <p:cNvCxnSpPr/>
          <p:nvPr/>
        </p:nvCxnSpPr>
        <p:spPr>
          <a:xfrm>
            <a:off x="1337175" y="3705064"/>
            <a:ext cx="7231660" cy="0"/>
          </a:xfrm>
          <a:prstGeom prst="line">
            <a:avLst/>
          </a:prstGeom>
          <a:ln w="19050">
            <a:solidFill>
              <a:srgbClr val="7F7F7F"/>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3905628" y="3900000"/>
            <a:ext cx="2094755" cy="380000"/>
          </a:xfrm>
          <a:prstGeom prst="rect">
            <a:avLst/>
          </a:prstGeom>
          <a:solidFill>
            <a:srgbClr val="F2F2F2"/>
          </a:solidFill>
          <a:ln>
            <a:noFill/>
          </a:ln>
          <a:effectLst/>
        </p:spPr>
        <p:txBody>
          <a:bodyPr wrap="square" lIns="72000" tIns="36000" rIns="72000" bIns="36000" rtlCol="0" anchor="ctr"/>
          <a:lstStyle/>
          <a:p>
            <a:pPr algn="ctr"/>
            <a:r>
              <a:rPr sz="1200" b="0">
                <a:solidFill>
                  <a:srgbClr val="404040"/>
                </a:solidFill>
                <a:latin typeface="メイリオ"/>
                <a:ea typeface="メイリオ"/>
                <a:cs typeface="メイリオ"/>
              </a:rPr>
              <a:t>- 2026年10月 -</a:t>
            </a:r>
          </a:p>
        </p:txBody>
      </p:sp>
      <p:sp>
        <p:nvSpPr>
          <p:cNvPr id="7" name="Rectangle 6"/>
          <p:cNvSpPr/>
          <p:nvPr/>
        </p:nvSpPr>
        <p:spPr>
          <a:xfrm>
            <a:off x="2483345" y="4330000"/>
            <a:ext cx="4939321" cy="440000"/>
          </a:xfrm>
          <a:prstGeom prst="rect">
            <a:avLst/>
          </a:prstGeom>
          <a:solidFill>
            <a:srgbClr val="C5D7EF"/>
          </a:solidFill>
          <a:ln>
            <a:noFill/>
          </a:ln>
          <a:effectLst/>
        </p:spPr>
        <p:txBody>
          <a:bodyPr wrap="square" lIns="72000" tIns="36000" rIns="72000" bIns="36000" rtlCol="0" anchor="ctr"/>
          <a:lstStyle/>
          <a:p>
            <a:pPr algn="ctr"/>
            <a:r>
              <a:rPr sz="1400" b="1">
                <a:solidFill>
                  <a:srgbClr val="FFFFFF"/>
                </a:solidFill>
                <a:latin typeface="メイリオ"/>
                <a:ea typeface="メイリオ"/>
                <a:cs typeface="メイリオ"/>
              </a:rPr>
              <a:t>株式会社エムアンドエムサービス 御中（お宿ねっと様）</a:t>
            </a:r>
          </a:p>
        </p:txBody>
      </p:sp>
      <p:sp>
        <p:nvSpPr>
          <p:cNvPr id="8" name="TextBox 7"/>
          <p:cNvSpPr txBox="1"/>
          <p:nvPr/>
        </p:nvSpPr>
        <p:spPr>
          <a:xfrm>
            <a:off x="384048" y="5300000"/>
            <a:ext cx="9134856" cy="300000"/>
          </a:xfrm>
          <a:prstGeom prst="rect">
            <a:avLst/>
          </a:prstGeom>
          <a:noFill/>
        </p:spPr>
        <p:txBody>
          <a:bodyPr wrap="square" lIns="72000" tIns="36000" rIns="72000" bIns="36000" anchor="ctr">
            <a:spAutoFit/>
          </a:bodyPr>
          <a:lstStyle/>
          <a:p>
            <a:pPr algn="ctr"/>
            <a:r>
              <a:rPr sz="1200" b="0">
                <a:solidFill>
                  <a:srgbClr val="7F7F7F"/>
                </a:solidFill>
                <a:latin typeface="メイリオ"/>
                <a:ea typeface="メイリオ"/>
                <a:cs typeface="メイリオ"/>
              </a:rPr>
              <a:t>DYM株式会社 Web事業部</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9E1EF-F184-F7BC-2DF2-9E9641908D82}"/>
            </a:ext>
          </a:extLst>
        </p:cNvPr>
        <p:cNvGrpSpPr/>
        <p:nvPr/>
      </p:nvGrpSpPr>
      <p:grpSpPr>
        <a:xfrm>
          <a:off x="0" y="0"/>
          <a:ext cx="0" cy="0"/>
          <a:chOff x="0" y="0"/>
          <a:chExt cx="0" cy="0"/>
        </a:xfrm>
      </p:grpSpPr>
      <p:pic>
        <p:nvPicPr>
          <p:cNvPr id="58" name="図 57" descr="文字と写真のスクリーンショット&#10;&#10;AI 生成コンテンツは誤りを含む可能性があります。">
            <a:extLst>
              <a:ext uri="{FF2B5EF4-FFF2-40B4-BE49-F238E27FC236}">
                <a16:creationId xmlns:a16="http://schemas.microsoft.com/office/drawing/2014/main" id="{BC098C34-07FA-B015-C970-B8433D9E8BE3}"/>
              </a:ext>
            </a:extLst>
          </p:cNvPr>
          <p:cNvPicPr>
            <a:picLocks noChangeAspect="1"/>
          </p:cNvPicPr>
          <p:nvPr/>
        </p:nvPicPr>
        <p:blipFill>
          <a:blip r:embed="rId2" cstate="print">
            <a:extLst>
              <a:ext uri="{28A0092B-C50C-407E-A947-70E740481C1C}">
                <a14:useLocalDpi xmlns:a14="http://schemas.microsoft.com/office/drawing/2010/main" val="0"/>
              </a:ext>
            </a:extLst>
          </a:blip>
          <a:srcRect l="33846" t="3967" r="34188" b="52442"/>
          <a:stretch>
            <a:fillRect/>
          </a:stretch>
        </p:blipFill>
        <p:spPr>
          <a:xfrm>
            <a:off x="489022" y="5068469"/>
            <a:ext cx="2046003" cy="1464812"/>
          </a:xfrm>
          <a:prstGeom prst="rect">
            <a:avLst/>
          </a:prstGeom>
        </p:spPr>
      </p:pic>
      <p:sp>
        <p:nvSpPr>
          <p:cNvPr id="33" name="正方形/長方形 32">
            <a:extLst>
              <a:ext uri="{FF2B5EF4-FFF2-40B4-BE49-F238E27FC236}">
                <a16:creationId xmlns:a16="http://schemas.microsoft.com/office/drawing/2014/main" id="{1E52F929-5FD7-9413-24A8-2725B04E4908}"/>
              </a:ext>
            </a:extLst>
          </p:cNvPr>
          <p:cNvSpPr/>
          <p:nvPr/>
        </p:nvSpPr>
        <p:spPr>
          <a:xfrm>
            <a:off x="388723" y="1082314"/>
            <a:ext cx="9129600" cy="100564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2025</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年</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11</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月、株式会社</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ヤフー社が主催する </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ヤフー </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Partner Award 2025” </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に株式会社</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DYM</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が参加。</a:t>
            </a:r>
            <a:b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b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弊社は</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公式アカウントによるビジネス拡大に最も貢献したとして、</a:t>
            </a:r>
            <a:r>
              <a:rPr lang="ja-JP" altLang="en-US" sz="1200" b="1" dirty="0">
                <a:solidFill>
                  <a:srgbClr val="C00000"/>
                </a:solidFill>
                <a:latin typeface="メイリオ" panose="020B0604030504040204" pitchFamily="50" charset="-128"/>
                <a:ea typeface="メイリオ" panose="020B0604030504040204" pitchFamily="50" charset="-128"/>
              </a:rPr>
              <a:t>「</a:t>
            </a:r>
            <a:r>
              <a:rPr lang="en-US" altLang="ja-JP" sz="1200" b="1" dirty="0">
                <a:solidFill>
                  <a:srgbClr val="C00000"/>
                </a:solidFill>
                <a:latin typeface="メイリオ" panose="020B0604030504040204" pitchFamily="50" charset="-128"/>
                <a:ea typeface="メイリオ" panose="020B0604030504040204" pitchFamily="50" charset="-128"/>
              </a:rPr>
              <a:t>Best LINE</a:t>
            </a:r>
            <a:r>
              <a:rPr lang="ja-JP" altLang="en-US" sz="1200" b="1" dirty="0">
                <a:solidFill>
                  <a:srgbClr val="C00000"/>
                </a:solidFill>
                <a:latin typeface="メイリオ" panose="020B0604030504040204" pitchFamily="50" charset="-128"/>
                <a:ea typeface="メイリオ" panose="020B0604030504040204" pitchFamily="50" charset="-128"/>
              </a:rPr>
              <a:t>公式アカウント </a:t>
            </a:r>
            <a:r>
              <a:rPr lang="en-US" altLang="ja-JP" sz="1200" b="1" dirty="0">
                <a:solidFill>
                  <a:srgbClr val="C00000"/>
                </a:solidFill>
                <a:latin typeface="メイリオ" panose="020B0604030504040204" pitchFamily="50" charset="-128"/>
                <a:ea typeface="メイリオ" panose="020B0604030504040204" pitchFamily="50" charset="-128"/>
              </a:rPr>
              <a:t>Growth</a:t>
            </a:r>
            <a:r>
              <a:rPr lang="en-US" altLang="ja-JP" sz="700" b="1" dirty="0">
                <a:solidFill>
                  <a:srgbClr val="C00000"/>
                </a:solidFill>
                <a:latin typeface="メイリオ" panose="020B0604030504040204" pitchFamily="50" charset="-128"/>
                <a:ea typeface="メイリオ" panose="020B0604030504040204" pitchFamily="50" charset="-128"/>
              </a:rPr>
              <a:t>※</a:t>
            </a:r>
            <a:r>
              <a:rPr lang="ja-JP" altLang="en-US" sz="1200" b="1" dirty="0">
                <a:solidFill>
                  <a:srgbClr val="C00000"/>
                </a:solidFill>
                <a:latin typeface="メイリオ" panose="020B0604030504040204" pitchFamily="50" charset="-128"/>
                <a:ea typeface="メイリオ" panose="020B0604030504040204" pitchFamily="50" charset="-128"/>
              </a:rPr>
              <a:t>」</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を受賞。</a:t>
            </a:r>
            <a:b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b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2025</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年</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10</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月現在、</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公式アカウントの取扱社数は</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100</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社以上、</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400</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アカウント以上まで拡大しており関連サービスも展開中。</a:t>
            </a:r>
            <a:endPar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endParaRPr>
          </a:p>
          <a:p>
            <a:pPr algn="r"/>
            <a:r>
              <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rPr>
              <a:t>※ LINE</a:t>
            </a:r>
            <a:r>
              <a:rPr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公式アカウントを活用し、ビジネス拡大に最も貢献したパートナーに贈られる賞です。</a:t>
            </a:r>
            <a:endPar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2" name="Google Shape;752;p28">
            <a:extLst>
              <a:ext uri="{FF2B5EF4-FFF2-40B4-BE49-F238E27FC236}">
                <a16:creationId xmlns:a16="http://schemas.microsoft.com/office/drawing/2014/main" id="{C34101C7-CA6C-6ED6-33D4-C2B82BDA547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a:solidFill>
                  <a:srgbClr val="323366"/>
                </a:solidFill>
                <a:latin typeface="メイリオ" panose="020B0604030504040204" pitchFamily="50" charset="-128"/>
                <a:ea typeface="メイリオ" panose="020B0604030504040204" pitchFamily="50" charset="-128"/>
                <a:cs typeface="Meiryo"/>
                <a:sym typeface="Meiryo"/>
              </a:rPr>
              <a:t>弊社実績</a:t>
            </a:r>
            <a:endPar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49" name="正方形/長方形 48">
            <a:extLst>
              <a:ext uri="{FF2B5EF4-FFF2-40B4-BE49-F238E27FC236}">
                <a16:creationId xmlns:a16="http://schemas.microsoft.com/office/drawing/2014/main" id="{9685C0AB-6B7A-94C5-EFA8-756E59EE714E}"/>
              </a:ext>
            </a:extLst>
          </p:cNvPr>
          <p:cNvSpPr/>
          <p:nvPr/>
        </p:nvSpPr>
        <p:spPr>
          <a:xfrm>
            <a:off x="388723" y="2116303"/>
            <a:ext cx="9128554" cy="307777"/>
          </a:xfrm>
          <a:prstGeom prst="rect">
            <a:avLst/>
          </a:prstGeom>
          <a:solidFill>
            <a:schemeClr val="bg1">
              <a:lumMod val="65000"/>
            </a:schemeClr>
          </a:solidFill>
          <a:ln>
            <a:solidFill>
              <a:schemeClr val="bg1">
                <a:lumMod val="65000"/>
              </a:schemeClr>
            </a:solidFill>
          </a:ln>
        </p:spPr>
        <p:txBody>
          <a:bodyPr wrap="square">
            <a:spAutoFit/>
          </a:bodyPr>
          <a:lstStyle/>
          <a:p>
            <a:pPr lvl="0" algn="ctr">
              <a:buClr>
                <a:srgbClr val="002060"/>
              </a:buClr>
              <a:buSzPts val="1600"/>
            </a:pPr>
            <a:r>
              <a:rPr lang="ja-JP" altLang="en-US" sz="1400" b="1">
                <a:solidFill>
                  <a:schemeClr val="bg1"/>
                </a:solidFill>
                <a:latin typeface="Meiryo"/>
                <a:ea typeface="Meiryo"/>
                <a:cs typeface="Meiryo"/>
                <a:sym typeface="Meiryo"/>
              </a:rPr>
              <a:t>弊社受賞遍歴 </a:t>
            </a:r>
            <a:r>
              <a:rPr lang="en-US" altLang="ja-JP" sz="1400" b="1">
                <a:solidFill>
                  <a:schemeClr val="bg1"/>
                </a:solidFill>
                <a:latin typeface="Meiryo"/>
                <a:ea typeface="Meiryo"/>
                <a:cs typeface="Meiryo"/>
                <a:sym typeface="Meiryo"/>
              </a:rPr>
              <a:t>Since.2024</a:t>
            </a:r>
            <a:r>
              <a:rPr lang="ja-JP" altLang="en-US" sz="1400" b="1">
                <a:solidFill>
                  <a:schemeClr val="bg1"/>
                </a:solidFill>
                <a:latin typeface="Meiryo"/>
                <a:ea typeface="Meiryo"/>
                <a:cs typeface="Meiryo"/>
                <a:sym typeface="Meiryo"/>
              </a:rPr>
              <a:t>年</a:t>
            </a:r>
            <a:r>
              <a:rPr lang="en-US" altLang="ja-JP" sz="1400" b="1">
                <a:solidFill>
                  <a:schemeClr val="bg1"/>
                </a:solidFill>
                <a:latin typeface="Meiryo"/>
                <a:ea typeface="Meiryo"/>
                <a:cs typeface="Meiryo"/>
                <a:sym typeface="Meiryo"/>
              </a:rPr>
              <a:t>5</a:t>
            </a:r>
            <a:r>
              <a:rPr lang="ja-JP" altLang="en-US" sz="1400" b="1">
                <a:solidFill>
                  <a:schemeClr val="bg1"/>
                </a:solidFill>
                <a:latin typeface="Meiryo"/>
                <a:ea typeface="Meiryo"/>
                <a:cs typeface="Meiryo"/>
                <a:sym typeface="Meiryo"/>
              </a:rPr>
              <a:t>月～</a:t>
            </a:r>
            <a:endParaRPr lang="en-US" altLang="ja-JP" sz="1400" b="1" dirty="0">
              <a:solidFill>
                <a:schemeClr val="bg1"/>
              </a:solidFill>
              <a:latin typeface="Meiryo"/>
              <a:ea typeface="Meiryo"/>
              <a:cs typeface="Meiryo"/>
              <a:sym typeface="Meiryo"/>
            </a:endParaRPr>
          </a:p>
        </p:txBody>
      </p:sp>
      <p:sp>
        <p:nvSpPr>
          <p:cNvPr id="50" name="テキスト プレースホルダー 2">
            <a:extLst>
              <a:ext uri="{FF2B5EF4-FFF2-40B4-BE49-F238E27FC236}">
                <a16:creationId xmlns:a16="http://schemas.microsoft.com/office/drawing/2014/main" id="{18B78559-32E9-7E98-9E42-625866BF0637}"/>
              </a:ext>
            </a:extLst>
          </p:cNvPr>
          <p:cNvSpPr txBox="1">
            <a:spLocks/>
          </p:cNvSpPr>
          <p:nvPr/>
        </p:nvSpPr>
        <p:spPr>
          <a:xfrm>
            <a:off x="4741655" y="135388"/>
            <a:ext cx="3604551" cy="356140"/>
          </a:xfrm>
          <a:prstGeom prst="rect">
            <a:avLst/>
          </a:prstGeom>
        </p:spPr>
        <p:txBody>
          <a:bodyPr lIns="0" tIns="0" rIns="0" bIns="0" anchor="t"/>
          <a:lstStyle>
            <a:lvl1pPr marL="0" indent="0" algn="l" defTabSz="914400" rtl="0" eaLnBrk="1" latinLnBrk="0" hangingPunct="1">
              <a:lnSpc>
                <a:spcPct val="130000"/>
              </a:lnSpc>
              <a:spcBef>
                <a:spcPts val="0"/>
              </a:spcBef>
              <a:buFont typeface="Arial" panose="020B0604020202020204" pitchFamily="34" charset="0"/>
              <a:buNone/>
              <a:defRPr kumimoji="1" sz="1400" kern="1200">
                <a:solidFill>
                  <a:schemeClr val="tx1">
                    <a:lumMod val="95000"/>
                    <a:lumOff val="5000"/>
                  </a:schemeClr>
                </a:solidFill>
                <a:latin typeface="Meiryo" panose="020B0604030504040204" pitchFamily="34" charset="-128"/>
                <a:ea typeface="Meiryo" panose="020B0604030504040204"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539750" lvl="0" indent="-539750">
              <a:tabLst>
                <a:tab pos="447675" algn="l"/>
              </a:tabLst>
              <a:defRPr/>
            </a:pPr>
            <a:r>
              <a:rPr lang="en-US" altLang="ja-JP" sz="800" dirty="0">
                <a:solidFill>
                  <a:srgbClr val="000000">
                    <a:lumMod val="95000"/>
                    <a:lumOff val="5000"/>
                  </a:srgbClr>
                </a:solidFill>
              </a:rPr>
              <a:t>【</a:t>
            </a:r>
            <a:r>
              <a:rPr lang="ja-JP" altLang="en-US" sz="800" dirty="0">
                <a:solidFill>
                  <a:srgbClr val="000000">
                    <a:lumMod val="95000"/>
                    <a:lumOff val="5000"/>
                  </a:srgbClr>
                </a:solidFill>
              </a:rPr>
              <a:t>参考情報</a:t>
            </a:r>
            <a:r>
              <a:rPr lang="en-US" altLang="ja-JP" sz="800" dirty="0">
                <a:solidFill>
                  <a:srgbClr val="000000">
                    <a:lumMod val="95000"/>
                    <a:lumOff val="5000"/>
                  </a:srgbClr>
                </a:solidFill>
              </a:rPr>
              <a:t>】</a:t>
            </a:r>
          </a:p>
          <a:p>
            <a:pPr marL="88900" lvl="0">
              <a:tabLst>
                <a:tab pos="447675" algn="l"/>
              </a:tabLst>
              <a:defRPr/>
            </a:pPr>
            <a:r>
              <a:rPr lang="en-US" altLang="ja-JP" sz="800" dirty="0">
                <a:solidFill>
                  <a:srgbClr val="000000">
                    <a:lumMod val="95000"/>
                    <a:lumOff val="5000"/>
                  </a:srgbClr>
                </a:solidFill>
              </a:rPr>
              <a:t>https://prtimes.jp/main/html/rd/p/000000412.000027235.html</a:t>
            </a:r>
            <a:endParaRPr lang="en-US" altLang="ja-JP" sz="1100" dirty="0">
              <a:solidFill>
                <a:srgbClr val="000000">
                  <a:lumMod val="95000"/>
                  <a:lumOff val="5000"/>
                </a:srgbClr>
              </a:solidFill>
            </a:endParaRPr>
          </a:p>
        </p:txBody>
      </p:sp>
      <p:sp>
        <p:nvSpPr>
          <p:cNvPr id="45" name="正方形/長方形 44">
            <a:extLst>
              <a:ext uri="{FF2B5EF4-FFF2-40B4-BE49-F238E27FC236}">
                <a16:creationId xmlns:a16="http://schemas.microsoft.com/office/drawing/2014/main" id="{02177995-9B5C-9C4B-3202-5DD03969179E}"/>
              </a:ext>
            </a:extLst>
          </p:cNvPr>
          <p:cNvSpPr/>
          <p:nvPr/>
        </p:nvSpPr>
        <p:spPr>
          <a:xfrm>
            <a:off x="495424" y="4784484"/>
            <a:ext cx="3561143" cy="276999"/>
          </a:xfrm>
          <a:prstGeom prst="rect">
            <a:avLst/>
          </a:prstGeom>
          <a:solidFill>
            <a:schemeClr val="bg1">
              <a:lumMod val="65000"/>
            </a:schemeClr>
          </a:solidFill>
          <a:ln>
            <a:solidFill>
              <a:schemeClr val="bg1">
                <a:lumMod val="65000"/>
              </a:schemeClr>
            </a:solidFill>
          </a:ln>
        </p:spPr>
        <p:txBody>
          <a:bodyPr wrap="square">
            <a:spAutoFit/>
          </a:bodyPr>
          <a:lstStyle/>
          <a:p>
            <a:pPr lvl="0" algn="ctr">
              <a:buClr>
                <a:srgbClr val="002060"/>
              </a:buClr>
              <a:buSzPts val="1600"/>
            </a:pPr>
            <a:r>
              <a:rPr lang="ja-JP" altLang="en-US" sz="1200" b="1" dirty="0">
                <a:solidFill>
                  <a:schemeClr val="bg1"/>
                </a:solidFill>
                <a:latin typeface="Meiryo"/>
                <a:ea typeface="Meiryo"/>
                <a:cs typeface="Meiryo"/>
                <a:sym typeface="Meiryo"/>
              </a:rPr>
              <a:t>最上位となる </a:t>
            </a:r>
            <a:r>
              <a:rPr lang="en-US" altLang="ja-JP" sz="1200" b="1" dirty="0">
                <a:solidFill>
                  <a:schemeClr val="bg1"/>
                </a:solidFill>
                <a:latin typeface="Meiryo"/>
                <a:ea typeface="Meiryo"/>
                <a:cs typeface="Meiryo"/>
                <a:sym typeface="Meiryo"/>
              </a:rPr>
              <a:t>Sales Partner Premier</a:t>
            </a:r>
          </a:p>
        </p:txBody>
      </p:sp>
      <p:sp>
        <p:nvSpPr>
          <p:cNvPr id="55" name="正方形/長方形 54">
            <a:extLst>
              <a:ext uri="{FF2B5EF4-FFF2-40B4-BE49-F238E27FC236}">
                <a16:creationId xmlns:a16="http://schemas.microsoft.com/office/drawing/2014/main" id="{0E12B4F2-0482-55A4-443A-115FC30E22E8}"/>
              </a:ext>
            </a:extLst>
          </p:cNvPr>
          <p:cNvSpPr/>
          <p:nvPr/>
        </p:nvSpPr>
        <p:spPr>
          <a:xfrm>
            <a:off x="4362995" y="4784484"/>
            <a:ext cx="5165666" cy="276999"/>
          </a:xfrm>
          <a:prstGeom prst="rect">
            <a:avLst/>
          </a:prstGeom>
          <a:solidFill>
            <a:schemeClr val="bg1">
              <a:lumMod val="65000"/>
            </a:schemeClr>
          </a:solidFill>
          <a:ln>
            <a:solidFill>
              <a:schemeClr val="bg1">
                <a:lumMod val="65000"/>
              </a:schemeClr>
            </a:solidFill>
          </a:ln>
        </p:spPr>
        <p:txBody>
          <a:bodyPr wrap="square">
            <a:spAutoFit/>
          </a:bodyPr>
          <a:lstStyle/>
          <a:p>
            <a:pPr algn="ctr">
              <a:buClr>
                <a:srgbClr val="002060"/>
              </a:buClr>
              <a:buSzPts val="1600"/>
            </a:pPr>
            <a:r>
              <a:rPr lang="en-US" altLang="ja-JP" sz="1200" b="1" dirty="0">
                <a:solidFill>
                  <a:schemeClr val="bg1"/>
                </a:solidFill>
                <a:latin typeface="Meiryo"/>
                <a:ea typeface="Meiryo"/>
                <a:cs typeface="Meiryo"/>
                <a:sym typeface="Meiryo"/>
              </a:rPr>
              <a:t>Best LINE</a:t>
            </a:r>
            <a:r>
              <a:rPr lang="ja-JP" altLang="en-US" sz="1200" b="1" dirty="0">
                <a:solidFill>
                  <a:schemeClr val="bg1"/>
                </a:solidFill>
                <a:latin typeface="Meiryo"/>
                <a:ea typeface="Meiryo"/>
                <a:cs typeface="Meiryo"/>
                <a:sym typeface="Meiryo"/>
              </a:rPr>
              <a:t>公式アカウント </a:t>
            </a:r>
            <a:r>
              <a:rPr lang="en-US" altLang="ja-JP" sz="1200" b="1" dirty="0">
                <a:solidFill>
                  <a:schemeClr val="bg1"/>
                </a:solidFill>
                <a:latin typeface="Meiryo"/>
                <a:ea typeface="Meiryo"/>
                <a:cs typeface="Meiryo"/>
                <a:sym typeface="Meiryo"/>
              </a:rPr>
              <a:t>Growth </a:t>
            </a:r>
            <a:r>
              <a:rPr lang="ja-JP" altLang="en-US" sz="1200" b="1" dirty="0">
                <a:solidFill>
                  <a:schemeClr val="bg1"/>
                </a:solidFill>
                <a:latin typeface="Meiryo"/>
                <a:ea typeface="Meiryo"/>
                <a:cs typeface="Meiryo"/>
                <a:sym typeface="Meiryo"/>
              </a:rPr>
              <a:t>の受賞を受ける</a:t>
            </a:r>
            <a:endParaRPr lang="en-US" altLang="ja-JP" sz="1200" b="1" dirty="0">
              <a:solidFill>
                <a:schemeClr val="bg1"/>
              </a:solidFill>
              <a:latin typeface="Meiryo"/>
              <a:ea typeface="Meiryo"/>
              <a:cs typeface="Meiryo"/>
              <a:sym typeface="Meiryo"/>
            </a:endParaRPr>
          </a:p>
        </p:txBody>
      </p:sp>
      <p:cxnSp>
        <p:nvCxnSpPr>
          <p:cNvPr id="2082" name="直線コネクタ 2081">
            <a:extLst>
              <a:ext uri="{FF2B5EF4-FFF2-40B4-BE49-F238E27FC236}">
                <a16:creationId xmlns:a16="http://schemas.microsoft.com/office/drawing/2014/main" id="{530411FF-29F9-73B2-C470-CBF0BA20AC73}"/>
              </a:ext>
            </a:extLst>
          </p:cNvPr>
          <p:cNvCxnSpPr>
            <a:cxnSpLocks/>
          </p:cNvCxnSpPr>
          <p:nvPr/>
        </p:nvCxnSpPr>
        <p:spPr>
          <a:xfrm>
            <a:off x="3212877" y="2980676"/>
            <a:ext cx="6240687" cy="0"/>
          </a:xfrm>
          <a:prstGeom prst="line">
            <a:avLst/>
          </a:prstGeom>
          <a:ln w="76200">
            <a:solidFill>
              <a:srgbClr val="10253F"/>
            </a:solidFill>
          </a:ln>
        </p:spPr>
        <p:style>
          <a:lnRef idx="1">
            <a:schemeClr val="accent1"/>
          </a:lnRef>
          <a:fillRef idx="0">
            <a:schemeClr val="accent1"/>
          </a:fillRef>
          <a:effectRef idx="0">
            <a:schemeClr val="accent1"/>
          </a:effectRef>
          <a:fontRef idx="minor">
            <a:schemeClr val="tx1"/>
          </a:fontRef>
        </p:style>
      </p:cxnSp>
      <p:cxnSp>
        <p:nvCxnSpPr>
          <p:cNvPr id="2085" name="直線コネクタ 2084">
            <a:extLst>
              <a:ext uri="{FF2B5EF4-FFF2-40B4-BE49-F238E27FC236}">
                <a16:creationId xmlns:a16="http://schemas.microsoft.com/office/drawing/2014/main" id="{D7948E6E-45A1-2B8A-2983-5CE3031B129A}"/>
              </a:ext>
            </a:extLst>
          </p:cNvPr>
          <p:cNvCxnSpPr>
            <a:cxnSpLocks/>
          </p:cNvCxnSpPr>
          <p:nvPr/>
        </p:nvCxnSpPr>
        <p:spPr>
          <a:xfrm>
            <a:off x="412752" y="3985954"/>
            <a:ext cx="5253034" cy="0"/>
          </a:xfrm>
          <a:prstGeom prst="line">
            <a:avLst/>
          </a:prstGeom>
          <a:ln w="76200">
            <a:solidFill>
              <a:srgbClr val="10253F"/>
            </a:solidFill>
          </a:ln>
        </p:spPr>
        <p:style>
          <a:lnRef idx="1">
            <a:schemeClr val="accent1"/>
          </a:lnRef>
          <a:fillRef idx="0">
            <a:schemeClr val="accent1"/>
          </a:fillRef>
          <a:effectRef idx="0">
            <a:schemeClr val="accent1"/>
          </a:effectRef>
          <a:fontRef idx="minor">
            <a:schemeClr val="tx1"/>
          </a:fontRef>
        </p:style>
      </p:cxnSp>
      <p:sp>
        <p:nvSpPr>
          <p:cNvPr id="2086" name="フローチャート: 結合子 2085">
            <a:extLst>
              <a:ext uri="{FF2B5EF4-FFF2-40B4-BE49-F238E27FC236}">
                <a16:creationId xmlns:a16="http://schemas.microsoft.com/office/drawing/2014/main" id="{19617C5C-724A-7FCE-22E5-5B2ECC96F048}"/>
              </a:ext>
            </a:extLst>
          </p:cNvPr>
          <p:cNvSpPr/>
          <p:nvPr/>
        </p:nvSpPr>
        <p:spPr>
          <a:xfrm>
            <a:off x="3076995"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87" name="フローチャート: 結合子 2086">
            <a:extLst>
              <a:ext uri="{FF2B5EF4-FFF2-40B4-BE49-F238E27FC236}">
                <a16:creationId xmlns:a16="http://schemas.microsoft.com/office/drawing/2014/main" id="{C7AB064F-FD75-D23A-C3F2-7F831805457C}"/>
              </a:ext>
            </a:extLst>
          </p:cNvPr>
          <p:cNvSpPr/>
          <p:nvPr/>
        </p:nvSpPr>
        <p:spPr>
          <a:xfrm>
            <a:off x="970449" y="3759595"/>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89" name="フローチャート: 結合子 2088">
            <a:extLst>
              <a:ext uri="{FF2B5EF4-FFF2-40B4-BE49-F238E27FC236}">
                <a16:creationId xmlns:a16="http://schemas.microsoft.com/office/drawing/2014/main" id="{CE0B51F4-2695-E1D7-F353-BA60386FABE4}"/>
              </a:ext>
            </a:extLst>
          </p:cNvPr>
          <p:cNvSpPr/>
          <p:nvPr/>
        </p:nvSpPr>
        <p:spPr>
          <a:xfrm>
            <a:off x="7801859"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0" name="フローチャート: 結合子 2089">
            <a:extLst>
              <a:ext uri="{FF2B5EF4-FFF2-40B4-BE49-F238E27FC236}">
                <a16:creationId xmlns:a16="http://schemas.microsoft.com/office/drawing/2014/main" id="{6F2861A8-2376-2999-4214-6F268B03A3E1}"/>
              </a:ext>
            </a:extLst>
          </p:cNvPr>
          <p:cNvSpPr/>
          <p:nvPr/>
        </p:nvSpPr>
        <p:spPr>
          <a:xfrm>
            <a:off x="5439427"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2" name="フローチャート: 結合子 2091">
            <a:extLst>
              <a:ext uri="{FF2B5EF4-FFF2-40B4-BE49-F238E27FC236}">
                <a16:creationId xmlns:a16="http://schemas.microsoft.com/office/drawing/2014/main" id="{11455BE0-024C-CCCF-549A-5895CCF6FCA5}"/>
              </a:ext>
            </a:extLst>
          </p:cNvPr>
          <p:cNvSpPr/>
          <p:nvPr/>
        </p:nvSpPr>
        <p:spPr>
          <a:xfrm>
            <a:off x="5454960" y="3739586"/>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3" name="フローチャート: 結合子 2092">
            <a:extLst>
              <a:ext uri="{FF2B5EF4-FFF2-40B4-BE49-F238E27FC236}">
                <a16:creationId xmlns:a16="http://schemas.microsoft.com/office/drawing/2014/main" id="{6A2B7AEE-64D5-5687-4D90-BFEBFB87978F}"/>
              </a:ext>
            </a:extLst>
          </p:cNvPr>
          <p:cNvSpPr/>
          <p:nvPr/>
        </p:nvSpPr>
        <p:spPr>
          <a:xfrm>
            <a:off x="3076995" y="3776603"/>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4" name="テキスト ボックス 2093">
            <a:extLst>
              <a:ext uri="{FF2B5EF4-FFF2-40B4-BE49-F238E27FC236}">
                <a16:creationId xmlns:a16="http://schemas.microsoft.com/office/drawing/2014/main" id="{F181EC8C-1DAE-5AF7-1C4D-4C86090B08E7}"/>
              </a:ext>
            </a:extLst>
          </p:cNvPr>
          <p:cNvSpPr txBox="1"/>
          <p:nvPr/>
        </p:nvSpPr>
        <p:spPr>
          <a:xfrm>
            <a:off x="2824561" y="2498440"/>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2024</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5</a:t>
            </a:r>
            <a:r>
              <a:rPr kumimoji="1" lang="ja-JP" altLang="en-US" sz="1000">
                <a:latin typeface="メイリオ" panose="020B0604030504040204" pitchFamily="50" charset="-128"/>
                <a:ea typeface="メイリオ" panose="020B0604030504040204" pitchFamily="50" charset="-128"/>
              </a:rPr>
              <a:t>月</a:t>
            </a:r>
          </a:p>
        </p:txBody>
      </p:sp>
      <p:sp>
        <p:nvSpPr>
          <p:cNvPr id="2095" name="テキスト ボックス 2094">
            <a:extLst>
              <a:ext uri="{FF2B5EF4-FFF2-40B4-BE49-F238E27FC236}">
                <a16:creationId xmlns:a16="http://schemas.microsoft.com/office/drawing/2014/main" id="{E9F47648-05F6-7064-8968-91D3649440CE}"/>
              </a:ext>
            </a:extLst>
          </p:cNvPr>
          <p:cNvSpPr txBox="1"/>
          <p:nvPr/>
        </p:nvSpPr>
        <p:spPr>
          <a:xfrm>
            <a:off x="5232177" y="2496209"/>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2024</a:t>
            </a:r>
            <a:r>
              <a:rPr kumimoji="1" lang="ja-JP" altLang="en-US" sz="1000">
                <a:latin typeface="メイリオ" panose="020B0604030504040204" pitchFamily="50" charset="-128"/>
                <a:ea typeface="メイリオ" panose="020B0604030504040204" pitchFamily="50" charset="-128"/>
              </a:rPr>
              <a:t>年</a:t>
            </a:r>
            <a:r>
              <a:rPr lang="en-US" altLang="ja-JP" sz="1000">
                <a:latin typeface="メイリオ" panose="020B0604030504040204" pitchFamily="50" charset="-128"/>
                <a:ea typeface="メイリオ" panose="020B0604030504040204" pitchFamily="50" charset="-128"/>
              </a:rPr>
              <a:t>12</a:t>
            </a:r>
            <a:r>
              <a:rPr kumimoji="1" lang="ja-JP" altLang="en-US" sz="1000">
                <a:latin typeface="メイリオ" panose="020B0604030504040204" pitchFamily="50" charset="-128"/>
                <a:ea typeface="メイリオ" panose="020B0604030504040204" pitchFamily="50" charset="-128"/>
              </a:rPr>
              <a:t>月</a:t>
            </a:r>
          </a:p>
        </p:txBody>
      </p:sp>
      <p:sp>
        <p:nvSpPr>
          <p:cNvPr id="2096" name="テキスト ボックス 2095">
            <a:extLst>
              <a:ext uri="{FF2B5EF4-FFF2-40B4-BE49-F238E27FC236}">
                <a16:creationId xmlns:a16="http://schemas.microsoft.com/office/drawing/2014/main" id="{2C8EEABD-6A90-AA4E-FBA6-2819EBF654DE}"/>
              </a:ext>
            </a:extLst>
          </p:cNvPr>
          <p:cNvSpPr txBox="1"/>
          <p:nvPr/>
        </p:nvSpPr>
        <p:spPr>
          <a:xfrm>
            <a:off x="7623567" y="2492162"/>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5</a:t>
            </a:r>
            <a:r>
              <a:rPr kumimoji="1" lang="ja-JP" altLang="en-US" sz="1000">
                <a:latin typeface="メイリオ" panose="020B0604030504040204" pitchFamily="50" charset="-128"/>
                <a:ea typeface="メイリオ" panose="020B0604030504040204" pitchFamily="50" charset="-128"/>
              </a:rPr>
              <a:t>月</a:t>
            </a:r>
          </a:p>
        </p:txBody>
      </p:sp>
      <p:sp>
        <p:nvSpPr>
          <p:cNvPr id="2098" name="テキスト ボックス 2097">
            <a:extLst>
              <a:ext uri="{FF2B5EF4-FFF2-40B4-BE49-F238E27FC236}">
                <a16:creationId xmlns:a16="http://schemas.microsoft.com/office/drawing/2014/main" id="{CE12257A-0E7E-B895-AF8E-D15F7AA1D62A}"/>
              </a:ext>
            </a:extLst>
          </p:cNvPr>
          <p:cNvSpPr txBox="1"/>
          <p:nvPr/>
        </p:nvSpPr>
        <p:spPr>
          <a:xfrm>
            <a:off x="2895696" y="3511221"/>
            <a:ext cx="957586" cy="246221"/>
          </a:xfrm>
          <a:prstGeom prst="rect">
            <a:avLst/>
          </a:prstGeom>
          <a:noFill/>
          <a:ln>
            <a:noFill/>
          </a:ln>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lang="en-US" altLang="ja-JP" sz="1000">
                <a:latin typeface="メイリオ" panose="020B0604030504040204" pitchFamily="50" charset="-128"/>
                <a:ea typeface="メイリオ" panose="020B0604030504040204" pitchFamily="50" charset="-128"/>
              </a:rPr>
              <a:t>10</a:t>
            </a:r>
            <a:r>
              <a:rPr kumimoji="1" lang="ja-JP" altLang="en-US" sz="1000">
                <a:latin typeface="メイリオ" panose="020B0604030504040204" pitchFamily="50" charset="-128"/>
                <a:ea typeface="メイリオ" panose="020B0604030504040204" pitchFamily="50" charset="-128"/>
              </a:rPr>
              <a:t>月</a:t>
            </a:r>
          </a:p>
        </p:txBody>
      </p:sp>
      <p:sp>
        <p:nvSpPr>
          <p:cNvPr id="2099" name="テキスト ボックス 2098">
            <a:extLst>
              <a:ext uri="{FF2B5EF4-FFF2-40B4-BE49-F238E27FC236}">
                <a16:creationId xmlns:a16="http://schemas.microsoft.com/office/drawing/2014/main" id="{82EEA8C2-D18D-B5B9-3D3F-C9BE318BD901}"/>
              </a:ext>
            </a:extLst>
          </p:cNvPr>
          <p:cNvSpPr txBox="1"/>
          <p:nvPr/>
        </p:nvSpPr>
        <p:spPr>
          <a:xfrm>
            <a:off x="589609" y="3475317"/>
            <a:ext cx="957586" cy="246221"/>
          </a:xfrm>
          <a:prstGeom prst="rect">
            <a:avLst/>
          </a:prstGeom>
          <a:noFill/>
          <a:ln>
            <a:noFill/>
          </a:ln>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8</a:t>
            </a:r>
            <a:r>
              <a:rPr kumimoji="1" lang="ja-JP" altLang="en-US" sz="1000">
                <a:latin typeface="メイリオ" panose="020B0604030504040204" pitchFamily="50" charset="-128"/>
                <a:ea typeface="メイリオ" panose="020B0604030504040204" pitchFamily="50" charset="-128"/>
              </a:rPr>
              <a:t>月</a:t>
            </a:r>
          </a:p>
        </p:txBody>
      </p:sp>
      <p:sp>
        <p:nvSpPr>
          <p:cNvPr id="2101" name="テキスト ボックス 2100">
            <a:extLst>
              <a:ext uri="{FF2B5EF4-FFF2-40B4-BE49-F238E27FC236}">
                <a16:creationId xmlns:a16="http://schemas.microsoft.com/office/drawing/2014/main" id="{E6D4C90C-BD24-1939-D716-C6450E2AD8FC}"/>
              </a:ext>
            </a:extLst>
          </p:cNvPr>
          <p:cNvSpPr txBox="1"/>
          <p:nvPr/>
        </p:nvSpPr>
        <p:spPr>
          <a:xfrm>
            <a:off x="309563" y="4310547"/>
            <a:ext cx="1966105" cy="215444"/>
          </a:xfrm>
          <a:prstGeom prst="rect">
            <a:avLst/>
          </a:prstGeom>
          <a:noFill/>
          <a:ln>
            <a:noFill/>
          </a:ln>
        </p:spPr>
        <p:txBody>
          <a:bodyPr wrap="square" rtlCol="0">
            <a:spAutoFit/>
          </a:bodyPr>
          <a:lstStyle/>
          <a:p>
            <a:pPr algn="ctr"/>
            <a:r>
              <a:rPr lang="ja-JP" altLang="en-US" sz="800" b="1">
                <a:solidFill>
                  <a:srgbClr val="C00000"/>
                </a:solidFill>
                <a:latin typeface="メイリオ" panose="020B0604030504040204" pitchFamily="50" charset="-128"/>
                <a:ea typeface="メイリオ" panose="020B0604030504040204" pitchFamily="50" charset="-128"/>
              </a:rPr>
              <a:t>単月</a:t>
            </a:r>
            <a:r>
              <a:rPr lang="en-US" altLang="ja-JP" sz="800" b="1">
                <a:solidFill>
                  <a:srgbClr val="C00000"/>
                </a:solidFill>
                <a:latin typeface="メイリオ" panose="020B0604030504040204" pitchFamily="50" charset="-128"/>
                <a:ea typeface="メイリオ" panose="020B0604030504040204" pitchFamily="50" charset="-128"/>
              </a:rPr>
              <a:t>6000</a:t>
            </a:r>
            <a:r>
              <a:rPr lang="ja-JP" altLang="en-US" sz="800" b="1">
                <a:solidFill>
                  <a:srgbClr val="C00000"/>
                </a:solidFill>
                <a:latin typeface="メイリオ" panose="020B0604030504040204" pitchFamily="50" charset="-128"/>
                <a:ea typeface="メイリオ" panose="020B0604030504040204" pitchFamily="50" charset="-128"/>
              </a:rPr>
              <a:t>万円</a:t>
            </a:r>
            <a:r>
              <a:rPr lang="ja-JP" altLang="en-US" sz="800">
                <a:latin typeface="メイリオ" panose="020B0604030504040204" pitchFamily="50" charset="-128"/>
                <a:ea typeface="メイリオ" panose="020B0604030504040204" pitchFamily="50" charset="-128"/>
              </a:rPr>
              <a:t>の取り扱いを突破。</a:t>
            </a:r>
            <a:endParaRPr kumimoji="1" lang="ja-JP" altLang="en-US" sz="800">
              <a:latin typeface="メイリオ" panose="020B0604030504040204" pitchFamily="50" charset="-128"/>
              <a:ea typeface="メイリオ" panose="020B0604030504040204" pitchFamily="50" charset="-128"/>
            </a:endParaRPr>
          </a:p>
        </p:txBody>
      </p:sp>
      <p:sp>
        <p:nvSpPr>
          <p:cNvPr id="2102" name="テキスト ボックス 2101">
            <a:extLst>
              <a:ext uri="{FF2B5EF4-FFF2-40B4-BE49-F238E27FC236}">
                <a16:creationId xmlns:a16="http://schemas.microsoft.com/office/drawing/2014/main" id="{756F6552-3CAE-3310-D96A-5D847F286859}"/>
              </a:ext>
            </a:extLst>
          </p:cNvPr>
          <p:cNvSpPr txBox="1"/>
          <p:nvPr/>
        </p:nvSpPr>
        <p:spPr>
          <a:xfrm>
            <a:off x="2105787" y="3209363"/>
            <a:ext cx="2612987" cy="338554"/>
          </a:xfrm>
          <a:prstGeom prst="rect">
            <a:avLst/>
          </a:prstGeom>
          <a:noFill/>
          <a:ln>
            <a:noFill/>
          </a:ln>
        </p:spPr>
        <p:txBody>
          <a:bodyPr wrap="square" rtlCol="0">
            <a:spAutoFit/>
          </a:bodyPr>
          <a:lstStyle/>
          <a:p>
            <a:pPr algn="ctr"/>
            <a:r>
              <a:rPr kumimoji="1" lang="en-US" altLang="ja-JP" sz="800" dirty="0">
                <a:latin typeface="メイリオ" panose="020B0604030504040204" pitchFamily="50" charset="-128"/>
                <a:ea typeface="メイリオ" panose="020B0604030504040204" pitchFamily="50" charset="-128"/>
              </a:rPr>
              <a:t>2024</a:t>
            </a:r>
            <a:r>
              <a:rPr kumimoji="1" lang="ja-JP" altLang="en-US" sz="800" dirty="0">
                <a:latin typeface="メイリオ" panose="020B0604030504040204" pitchFamily="50" charset="-128"/>
                <a:ea typeface="メイリオ" panose="020B0604030504040204" pitchFamily="50" charset="-128"/>
              </a:rPr>
              <a:t>年度上半期の</a:t>
            </a:r>
            <a:r>
              <a:rPr kumimoji="1" lang="en-US" altLang="ja-JP" sz="800" dirty="0">
                <a:latin typeface="メイリオ" panose="020B0604030504040204" pitchFamily="50" charset="-128"/>
                <a:ea typeface="メイリオ" panose="020B0604030504040204" pitchFamily="50" charset="-128"/>
              </a:rPr>
              <a:t>Sales Partner</a:t>
            </a:r>
            <a:r>
              <a:rPr kumimoji="1" lang="ja-JP" altLang="en-US" sz="800" dirty="0">
                <a:latin typeface="メイリオ" panose="020B0604030504040204" pitchFamily="50" charset="-128"/>
                <a:ea typeface="メイリオ" panose="020B0604030504040204" pitchFamily="50" charset="-128"/>
              </a:rPr>
              <a:t>「</a:t>
            </a:r>
            <a:r>
              <a:rPr kumimoji="1" lang="en-US" altLang="ja-JP" sz="800" dirty="0">
                <a:latin typeface="メイリオ" panose="020B0604030504040204" pitchFamily="50" charset="-128"/>
                <a:ea typeface="メイリオ" panose="020B0604030504040204" pitchFamily="50" charset="-128"/>
              </a:rPr>
              <a:t>Premier</a:t>
            </a:r>
            <a:r>
              <a:rPr kumimoji="1" lang="ja-JP" altLang="en-US" sz="800" dirty="0">
                <a:latin typeface="メイリオ" panose="020B0604030504040204" pitchFamily="50" charset="-128"/>
                <a:ea typeface="メイリオ" panose="020B0604030504040204" pitchFamily="50" charset="-128"/>
              </a:rPr>
              <a:t>」に認定</a:t>
            </a:r>
            <a:r>
              <a:rPr lang="ja-JP" altLang="en-US" sz="800" dirty="0">
                <a:latin typeface="メイリオ" panose="020B0604030504040204" pitchFamily="50" charset="-128"/>
                <a:ea typeface="メイリオ" panose="020B0604030504040204" pitchFamily="50" charset="-128"/>
              </a:rPr>
              <a:t>。</a:t>
            </a:r>
            <a:endParaRPr lang="en-US" altLang="ja-JP" sz="800" dirty="0">
              <a:latin typeface="メイリオ" panose="020B0604030504040204" pitchFamily="50" charset="-128"/>
              <a:ea typeface="メイリオ" panose="020B0604030504040204" pitchFamily="50" charset="-128"/>
            </a:endParaRPr>
          </a:p>
          <a:p>
            <a:pPr algn="ctr"/>
            <a:r>
              <a:rPr lang="ja-JP" altLang="en-US" sz="800" b="1" dirty="0">
                <a:solidFill>
                  <a:srgbClr val="C00000"/>
                </a:solidFill>
                <a:latin typeface="メイリオ" panose="020B0604030504040204" pitchFamily="50" charset="-128"/>
                <a:ea typeface="メイリオ" panose="020B0604030504040204" pitchFamily="50" charset="-128"/>
              </a:rPr>
              <a:t>上位</a:t>
            </a:r>
            <a:r>
              <a:rPr lang="en-US" altLang="ja-JP" sz="800" b="1" dirty="0">
                <a:solidFill>
                  <a:srgbClr val="C00000"/>
                </a:solidFill>
                <a:latin typeface="メイリオ" panose="020B0604030504040204" pitchFamily="50" charset="-128"/>
                <a:ea typeface="メイリオ" panose="020B0604030504040204" pitchFamily="50" charset="-128"/>
              </a:rPr>
              <a:t>20</a:t>
            </a:r>
            <a:r>
              <a:rPr lang="ja-JP" altLang="en-US" sz="800" b="1" dirty="0">
                <a:solidFill>
                  <a:srgbClr val="C00000"/>
                </a:solidFill>
                <a:latin typeface="メイリオ" panose="020B0604030504040204" pitchFamily="50" charset="-128"/>
                <a:ea typeface="メイリオ" panose="020B0604030504040204" pitchFamily="50" charset="-128"/>
              </a:rPr>
              <a:t>位タイ</a:t>
            </a:r>
            <a:endParaRPr lang="en-US" altLang="ja-JP" sz="800" b="1" dirty="0">
              <a:solidFill>
                <a:srgbClr val="C00000"/>
              </a:solidFill>
              <a:latin typeface="メイリオ" panose="020B0604030504040204" pitchFamily="50" charset="-128"/>
              <a:ea typeface="メイリオ" panose="020B0604030504040204" pitchFamily="50" charset="-128"/>
            </a:endParaRPr>
          </a:p>
        </p:txBody>
      </p:sp>
      <p:sp>
        <p:nvSpPr>
          <p:cNvPr id="2103" name="テキスト ボックス 2102">
            <a:extLst>
              <a:ext uri="{FF2B5EF4-FFF2-40B4-BE49-F238E27FC236}">
                <a16:creationId xmlns:a16="http://schemas.microsoft.com/office/drawing/2014/main" id="{D5793D3E-32A5-A172-B93D-F2E02806685C}"/>
              </a:ext>
            </a:extLst>
          </p:cNvPr>
          <p:cNvSpPr txBox="1"/>
          <p:nvPr/>
        </p:nvSpPr>
        <p:spPr>
          <a:xfrm>
            <a:off x="4837113" y="3209363"/>
            <a:ext cx="1767520" cy="215444"/>
          </a:xfrm>
          <a:prstGeom prst="rect">
            <a:avLst/>
          </a:prstGeom>
          <a:noFill/>
          <a:ln>
            <a:noFill/>
          </a:ln>
        </p:spPr>
        <p:txBody>
          <a:bodyPr wrap="square" rtlCol="0">
            <a:spAutoFit/>
          </a:bodyPr>
          <a:lstStyle/>
          <a:p>
            <a:pPr algn="ctr"/>
            <a:r>
              <a:rPr lang="ja-JP" altLang="en-US" sz="800" b="1">
                <a:solidFill>
                  <a:srgbClr val="C00000"/>
                </a:solidFill>
                <a:latin typeface="メイリオ" panose="020B0604030504040204" pitchFamily="50" charset="-128"/>
                <a:ea typeface="メイリオ" panose="020B0604030504040204" pitchFamily="50" charset="-128"/>
              </a:rPr>
              <a:t>単月</a:t>
            </a:r>
            <a:r>
              <a:rPr lang="en-US" altLang="ja-JP" sz="800" b="1">
                <a:solidFill>
                  <a:srgbClr val="C00000"/>
                </a:solidFill>
                <a:latin typeface="メイリオ" panose="020B0604030504040204" pitchFamily="50" charset="-128"/>
                <a:ea typeface="メイリオ" panose="020B0604030504040204" pitchFamily="50" charset="-128"/>
              </a:rPr>
              <a:t>2000</a:t>
            </a:r>
            <a:r>
              <a:rPr lang="ja-JP" altLang="en-US" sz="800" b="1">
                <a:solidFill>
                  <a:srgbClr val="C00000"/>
                </a:solidFill>
                <a:latin typeface="メイリオ" panose="020B0604030504040204" pitchFamily="50" charset="-128"/>
                <a:ea typeface="メイリオ" panose="020B0604030504040204" pitchFamily="50" charset="-128"/>
              </a:rPr>
              <a:t>万円</a:t>
            </a:r>
            <a:r>
              <a:rPr lang="ja-JP" altLang="en-US" sz="800">
                <a:latin typeface="メイリオ" panose="020B0604030504040204" pitchFamily="50" charset="-128"/>
                <a:ea typeface="メイリオ" panose="020B0604030504040204" pitchFamily="50" charset="-128"/>
              </a:rPr>
              <a:t>の取り扱いを突破。</a:t>
            </a:r>
            <a:endParaRPr lang="en-US" altLang="ja-JP" sz="800">
              <a:latin typeface="メイリオ" panose="020B0604030504040204" pitchFamily="50" charset="-128"/>
              <a:ea typeface="メイリオ" panose="020B0604030504040204" pitchFamily="50" charset="-128"/>
            </a:endParaRPr>
          </a:p>
        </p:txBody>
      </p:sp>
      <p:sp>
        <p:nvSpPr>
          <p:cNvPr id="2104" name="テキスト ボックス 2103">
            <a:extLst>
              <a:ext uri="{FF2B5EF4-FFF2-40B4-BE49-F238E27FC236}">
                <a16:creationId xmlns:a16="http://schemas.microsoft.com/office/drawing/2014/main" id="{89EE1600-592C-F991-FBB3-472A73DB5551}"/>
              </a:ext>
            </a:extLst>
          </p:cNvPr>
          <p:cNvSpPr txBox="1"/>
          <p:nvPr/>
        </p:nvSpPr>
        <p:spPr>
          <a:xfrm>
            <a:off x="1858111" y="4310547"/>
            <a:ext cx="3234807" cy="338554"/>
          </a:xfrm>
          <a:prstGeom prst="rect">
            <a:avLst/>
          </a:prstGeom>
          <a:noFill/>
          <a:ln>
            <a:noFill/>
          </a:ln>
        </p:spPr>
        <p:txBody>
          <a:bodyPr wrap="square" rtlCol="0">
            <a:spAutoFit/>
          </a:bodyPr>
          <a:lstStyle/>
          <a:p>
            <a:pPr algn="ctr"/>
            <a:r>
              <a:rPr kumimoji="1" lang="ja-JP" altLang="en-US" sz="800">
                <a:latin typeface="メイリオ" panose="020B0604030504040204" pitchFamily="50" charset="-128"/>
                <a:ea typeface="メイリオ" panose="020B0604030504040204" pitchFamily="50" charset="-128"/>
              </a:rPr>
              <a:t>前回に続き、最高グレードである</a:t>
            </a:r>
            <a:r>
              <a:rPr lang="ja-JP" altLang="en-US" sz="800">
                <a:latin typeface="メイリオ" panose="020B0604030504040204" pitchFamily="50" charset="-128"/>
                <a:ea typeface="メイリオ" panose="020B0604030504040204" pitchFamily="50" charset="-128"/>
              </a:rPr>
              <a:t>「</a:t>
            </a:r>
            <a:r>
              <a:rPr lang="en-US" altLang="ja-JP" sz="800">
                <a:latin typeface="メイリオ" panose="020B0604030504040204" pitchFamily="50" charset="-128"/>
                <a:ea typeface="メイリオ" panose="020B0604030504040204" pitchFamily="50" charset="-128"/>
              </a:rPr>
              <a:t>Premier</a:t>
            </a:r>
            <a:r>
              <a:rPr lang="ja-JP" altLang="en-US" sz="800">
                <a:latin typeface="メイリオ" panose="020B0604030504040204" pitchFamily="50" charset="-128"/>
                <a:ea typeface="メイリオ" panose="020B0604030504040204" pitchFamily="50" charset="-128"/>
              </a:rPr>
              <a:t>」に認定。</a:t>
            </a:r>
            <a:endParaRPr lang="en-US" altLang="ja-JP" sz="800">
              <a:latin typeface="メイリオ" panose="020B0604030504040204" pitchFamily="50" charset="-128"/>
              <a:ea typeface="メイリオ" panose="020B0604030504040204" pitchFamily="50" charset="-128"/>
            </a:endParaRPr>
          </a:p>
          <a:p>
            <a:pPr algn="ctr"/>
            <a:r>
              <a:rPr kumimoji="1" lang="ja-JP" altLang="en-US" sz="800" b="1">
                <a:solidFill>
                  <a:srgbClr val="C00000"/>
                </a:solidFill>
                <a:latin typeface="メイリオ" panose="020B0604030504040204" pitchFamily="50" charset="-128"/>
                <a:ea typeface="メイリオ" panose="020B0604030504040204" pitchFamily="50" charset="-128"/>
              </a:rPr>
              <a:t>上位</a:t>
            </a:r>
            <a:r>
              <a:rPr kumimoji="1" lang="en-US" altLang="ja-JP" sz="800" b="1">
                <a:solidFill>
                  <a:srgbClr val="C00000"/>
                </a:solidFill>
                <a:latin typeface="メイリオ" panose="020B0604030504040204" pitchFamily="50" charset="-128"/>
                <a:ea typeface="メイリオ" panose="020B0604030504040204" pitchFamily="50" charset="-128"/>
              </a:rPr>
              <a:t>12</a:t>
            </a:r>
            <a:r>
              <a:rPr kumimoji="1" lang="ja-JP" altLang="en-US" sz="800" b="1">
                <a:solidFill>
                  <a:srgbClr val="C00000"/>
                </a:solidFill>
                <a:latin typeface="メイリオ" panose="020B0604030504040204" pitchFamily="50" charset="-128"/>
                <a:ea typeface="メイリオ" panose="020B0604030504040204" pitchFamily="50" charset="-128"/>
              </a:rPr>
              <a:t>位タイ</a:t>
            </a:r>
          </a:p>
        </p:txBody>
      </p:sp>
      <p:sp>
        <p:nvSpPr>
          <p:cNvPr id="2105" name="テキスト ボックス 2104">
            <a:extLst>
              <a:ext uri="{FF2B5EF4-FFF2-40B4-BE49-F238E27FC236}">
                <a16:creationId xmlns:a16="http://schemas.microsoft.com/office/drawing/2014/main" id="{735B8649-944E-38AC-EFE9-3FF466013418}"/>
              </a:ext>
            </a:extLst>
          </p:cNvPr>
          <p:cNvSpPr txBox="1"/>
          <p:nvPr/>
        </p:nvSpPr>
        <p:spPr>
          <a:xfrm>
            <a:off x="6722972" y="3209363"/>
            <a:ext cx="2758776" cy="338554"/>
          </a:xfrm>
          <a:prstGeom prst="rect">
            <a:avLst/>
          </a:prstGeom>
          <a:noFill/>
          <a:ln>
            <a:noFill/>
          </a:ln>
        </p:spPr>
        <p:txBody>
          <a:bodyPr wrap="square" rtlCol="0">
            <a:spAutoFit/>
          </a:bodyPr>
          <a:lstStyle/>
          <a:p>
            <a:pPr algn="ctr"/>
            <a:r>
              <a:rPr lang="ja-JP" altLang="en-US" sz="800">
                <a:latin typeface="メイリオ" panose="020B0604030504040204" pitchFamily="50" charset="-128"/>
                <a:ea typeface="メイリオ" panose="020B0604030504040204" pitchFamily="50" charset="-128"/>
              </a:rPr>
              <a:t>前回に続き、最高グレードである「</a:t>
            </a:r>
            <a:r>
              <a:rPr lang="en-US" altLang="ja-JP" sz="800">
                <a:latin typeface="メイリオ" panose="020B0604030504040204" pitchFamily="50" charset="-128"/>
                <a:ea typeface="メイリオ" panose="020B0604030504040204" pitchFamily="50" charset="-128"/>
              </a:rPr>
              <a:t>Premier</a:t>
            </a:r>
            <a:r>
              <a:rPr lang="ja-JP" altLang="en-US" sz="800">
                <a:latin typeface="メイリオ" panose="020B0604030504040204" pitchFamily="50" charset="-128"/>
                <a:ea typeface="メイリオ" panose="020B0604030504040204" pitchFamily="50" charset="-128"/>
              </a:rPr>
              <a:t>」に認定。</a:t>
            </a:r>
            <a:r>
              <a:rPr lang="ja-JP" altLang="en-US" sz="800" b="1">
                <a:solidFill>
                  <a:srgbClr val="C00000"/>
                </a:solidFill>
                <a:latin typeface="メイリオ" panose="020B0604030504040204" pitchFamily="50" charset="-128"/>
                <a:ea typeface="メイリオ" panose="020B0604030504040204" pitchFamily="50" charset="-128"/>
              </a:rPr>
              <a:t>上位</a:t>
            </a:r>
            <a:r>
              <a:rPr lang="en-US" altLang="ja-JP" sz="800" b="1">
                <a:solidFill>
                  <a:srgbClr val="C00000"/>
                </a:solidFill>
                <a:latin typeface="メイリオ" panose="020B0604030504040204" pitchFamily="50" charset="-128"/>
                <a:ea typeface="メイリオ" panose="020B0604030504040204" pitchFamily="50" charset="-128"/>
              </a:rPr>
              <a:t>15</a:t>
            </a:r>
            <a:r>
              <a:rPr lang="ja-JP" altLang="en-US" sz="800" b="1">
                <a:solidFill>
                  <a:srgbClr val="C00000"/>
                </a:solidFill>
                <a:latin typeface="メイリオ" panose="020B0604030504040204" pitchFamily="50" charset="-128"/>
                <a:ea typeface="メイリオ" panose="020B0604030504040204" pitchFamily="50" charset="-128"/>
              </a:rPr>
              <a:t>位タイ</a:t>
            </a:r>
            <a:endParaRPr lang="en-US" altLang="ja-JP" sz="800" b="1">
              <a:solidFill>
                <a:srgbClr val="C00000"/>
              </a:solidFill>
              <a:latin typeface="メイリオ" panose="020B0604030504040204" pitchFamily="50" charset="-128"/>
              <a:ea typeface="メイリオ" panose="020B0604030504040204" pitchFamily="50" charset="-128"/>
            </a:endParaRPr>
          </a:p>
        </p:txBody>
      </p:sp>
      <p:sp>
        <p:nvSpPr>
          <p:cNvPr id="2110" name="テキスト ボックス 2109">
            <a:extLst>
              <a:ext uri="{FF2B5EF4-FFF2-40B4-BE49-F238E27FC236}">
                <a16:creationId xmlns:a16="http://schemas.microsoft.com/office/drawing/2014/main" id="{9364E84A-3501-3480-3E86-4181D9EDDE0D}"/>
              </a:ext>
            </a:extLst>
          </p:cNvPr>
          <p:cNvSpPr txBox="1"/>
          <p:nvPr/>
        </p:nvSpPr>
        <p:spPr>
          <a:xfrm>
            <a:off x="5204477" y="3512494"/>
            <a:ext cx="957586" cy="246221"/>
          </a:xfrm>
          <a:prstGeom prst="rect">
            <a:avLst/>
          </a:prstGeom>
          <a:noFill/>
          <a:ln>
            <a:noFill/>
          </a:ln>
        </p:spPr>
        <p:txBody>
          <a:bodyPr wrap="square" rtlCol="0">
            <a:spAutoFit/>
          </a:bodyPr>
          <a:lstStyle/>
          <a:p>
            <a:pPr algn="ctr"/>
            <a:r>
              <a:rPr kumimoji="1" lang="ja-JP" altLang="en-US" sz="1000">
                <a:latin typeface="メイリオ" panose="020B0604030504040204" pitchFamily="50" charset="-128"/>
                <a:ea typeface="メイリオ" panose="020B0604030504040204" pitchFamily="50" charset="-128"/>
              </a:rPr>
              <a:t>現在</a:t>
            </a:r>
          </a:p>
        </p:txBody>
      </p:sp>
      <p:sp>
        <p:nvSpPr>
          <p:cNvPr id="2111" name="テキスト ボックス 2110">
            <a:extLst>
              <a:ext uri="{FF2B5EF4-FFF2-40B4-BE49-F238E27FC236}">
                <a16:creationId xmlns:a16="http://schemas.microsoft.com/office/drawing/2014/main" id="{915149AC-7723-29BD-6D17-D471CC831F56}"/>
              </a:ext>
            </a:extLst>
          </p:cNvPr>
          <p:cNvSpPr txBox="1"/>
          <p:nvPr/>
        </p:nvSpPr>
        <p:spPr>
          <a:xfrm>
            <a:off x="4684085" y="4310547"/>
            <a:ext cx="2335280" cy="338554"/>
          </a:xfrm>
          <a:prstGeom prst="rect">
            <a:avLst/>
          </a:prstGeom>
          <a:noFill/>
          <a:ln>
            <a:noFill/>
          </a:ln>
        </p:spPr>
        <p:txBody>
          <a:bodyPr wrap="square" rtlCol="0">
            <a:spAutoFit/>
          </a:bodyPr>
          <a:lstStyle/>
          <a:p>
            <a:pPr algn="ctr"/>
            <a:r>
              <a:rPr lang="ja-JP" altLang="en-US" sz="800" dirty="0">
                <a:latin typeface="メイリオ" panose="020B0604030504040204" pitchFamily="50" charset="-128"/>
                <a:ea typeface="メイリオ" panose="020B0604030504040204" pitchFamily="50" charset="-128"/>
              </a:rPr>
              <a:t>「</a:t>
            </a:r>
            <a:r>
              <a:rPr lang="en-US" altLang="ja-JP" sz="800" dirty="0">
                <a:latin typeface="メイリオ" panose="020B0604030504040204" pitchFamily="50" charset="-128"/>
                <a:ea typeface="メイリオ" panose="020B0604030504040204" pitchFamily="50" charset="-128"/>
              </a:rPr>
              <a:t>Best LINE</a:t>
            </a:r>
            <a:r>
              <a:rPr lang="ja-JP" altLang="en-US" sz="800" dirty="0">
                <a:latin typeface="メイリオ" panose="020B0604030504040204" pitchFamily="50" charset="-128"/>
                <a:ea typeface="メイリオ" panose="020B0604030504040204" pitchFamily="50" charset="-128"/>
              </a:rPr>
              <a:t>公式アカウント </a:t>
            </a:r>
            <a:r>
              <a:rPr lang="en-US" altLang="ja-JP" sz="800" dirty="0">
                <a:latin typeface="メイリオ" panose="020B0604030504040204" pitchFamily="50" charset="-128"/>
                <a:ea typeface="メイリオ" panose="020B0604030504040204" pitchFamily="50" charset="-128"/>
              </a:rPr>
              <a:t>Growth</a:t>
            </a:r>
            <a:r>
              <a:rPr lang="ja-JP" altLang="en-US" sz="800" dirty="0">
                <a:latin typeface="メイリオ" panose="020B0604030504040204" pitchFamily="50" charset="-128"/>
                <a:ea typeface="メイリオ" panose="020B0604030504040204" pitchFamily="50" charset="-128"/>
              </a:rPr>
              <a:t>」部門で</a:t>
            </a:r>
            <a:r>
              <a:rPr lang="en-US" altLang="ja-JP" sz="800" dirty="0">
                <a:latin typeface="メイリオ" panose="020B0604030504040204" pitchFamily="50" charset="-128"/>
                <a:ea typeface="メイリオ" panose="020B0604030504040204" pitchFamily="50" charset="-128"/>
              </a:rPr>
              <a:t>LINE</a:t>
            </a:r>
            <a:r>
              <a:rPr lang="ja-JP" altLang="en-US" sz="800" dirty="0">
                <a:latin typeface="メイリオ" panose="020B0604030504040204" pitchFamily="50" charset="-128"/>
                <a:ea typeface="メイリオ" panose="020B0604030504040204" pitchFamily="50" charset="-128"/>
              </a:rPr>
              <a:t>ヤフー社から表彰をいただきました。</a:t>
            </a:r>
            <a:endParaRPr kumimoji="1" lang="ja-JP" altLang="en-US" sz="800" dirty="0">
              <a:latin typeface="メイリオ" panose="020B0604030504040204" pitchFamily="50" charset="-128"/>
              <a:ea typeface="メイリオ" panose="020B0604030504040204" pitchFamily="50" charset="-128"/>
            </a:endParaRPr>
          </a:p>
        </p:txBody>
      </p:sp>
      <p:sp>
        <p:nvSpPr>
          <p:cNvPr id="8" name="正方形/長方形 7">
            <a:extLst>
              <a:ext uri="{FF2B5EF4-FFF2-40B4-BE49-F238E27FC236}">
                <a16:creationId xmlns:a16="http://schemas.microsoft.com/office/drawing/2014/main" id="{F974FA57-9312-73D0-6461-C65486B6B90A}"/>
              </a:ext>
            </a:extLst>
          </p:cNvPr>
          <p:cNvSpPr/>
          <p:nvPr/>
        </p:nvSpPr>
        <p:spPr>
          <a:xfrm>
            <a:off x="388723" y="675734"/>
            <a:ext cx="9128556" cy="349010"/>
          </a:xfrm>
          <a:prstGeom prst="rect">
            <a:avLst/>
          </a:prstGeom>
          <a:solidFill>
            <a:schemeClr val="bg1">
              <a:lumMod val="6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正方形/長方形 2">
            <a:extLst>
              <a:ext uri="{FF2B5EF4-FFF2-40B4-BE49-F238E27FC236}">
                <a16:creationId xmlns:a16="http://schemas.microsoft.com/office/drawing/2014/main" id="{4661DF32-128A-6B77-5F5D-76D78A1B8378}"/>
              </a:ext>
            </a:extLst>
          </p:cNvPr>
          <p:cNvSpPr/>
          <p:nvPr/>
        </p:nvSpPr>
        <p:spPr>
          <a:xfrm>
            <a:off x="2853632" y="700332"/>
            <a:ext cx="6663645" cy="306000"/>
          </a:xfrm>
          <a:prstGeom prst="rect">
            <a:avLst/>
          </a:prstGeom>
          <a:solidFill>
            <a:srgbClr val="10253F"/>
          </a:solidFill>
        </p:spPr>
        <p:txBody>
          <a:bodyPr wrap="square">
            <a:spAutoFit/>
          </a:bodyPr>
          <a:lstStyle/>
          <a:p>
            <a:pPr lvl="0">
              <a:buClr>
                <a:srgbClr val="002060"/>
              </a:buClr>
              <a:buSzPts val="1600"/>
            </a:pPr>
            <a:r>
              <a:rPr lang="en-US" altLang="ja-JP" sz="1300" b="1">
                <a:solidFill>
                  <a:schemeClr val="bg1"/>
                </a:solidFill>
                <a:latin typeface="Meiryo"/>
                <a:ea typeface="Meiryo"/>
                <a:cs typeface="Meiryo"/>
                <a:sym typeface="Meiryo"/>
              </a:rPr>
              <a:t>LINE</a:t>
            </a:r>
            <a:r>
              <a:rPr lang="ja-JP" altLang="en-US" sz="1300" b="1">
                <a:solidFill>
                  <a:schemeClr val="bg1"/>
                </a:solidFill>
                <a:latin typeface="Meiryo"/>
                <a:ea typeface="Meiryo"/>
                <a:cs typeface="Meiryo"/>
                <a:sym typeface="Meiryo"/>
              </a:rPr>
              <a:t>ヤフー </a:t>
            </a:r>
            <a:r>
              <a:rPr lang="en-US" altLang="ja-JP" sz="1300" b="1">
                <a:solidFill>
                  <a:schemeClr val="bg1"/>
                </a:solidFill>
                <a:latin typeface="Meiryo"/>
                <a:ea typeface="Meiryo"/>
                <a:cs typeface="Meiryo"/>
                <a:sym typeface="Meiryo"/>
              </a:rPr>
              <a:t>Partner Award 2025</a:t>
            </a:r>
            <a:r>
              <a:rPr lang="ja-JP" altLang="en-US" sz="1300" b="1">
                <a:solidFill>
                  <a:schemeClr val="bg1"/>
                </a:solidFill>
                <a:latin typeface="Meiryo"/>
                <a:ea typeface="Meiryo"/>
                <a:cs typeface="Meiryo"/>
                <a:sym typeface="Meiryo"/>
              </a:rPr>
              <a:t>にて「</a:t>
            </a:r>
            <a:r>
              <a:rPr lang="en-US" altLang="ja-JP" sz="1300" b="1">
                <a:solidFill>
                  <a:schemeClr val="bg1"/>
                </a:solidFill>
                <a:latin typeface="Meiryo"/>
                <a:ea typeface="Meiryo"/>
                <a:cs typeface="Meiryo"/>
                <a:sym typeface="Meiryo"/>
              </a:rPr>
              <a:t>Best LINE</a:t>
            </a:r>
            <a:r>
              <a:rPr lang="ja-JP" altLang="en-US" sz="1300" b="1">
                <a:solidFill>
                  <a:schemeClr val="bg1"/>
                </a:solidFill>
                <a:latin typeface="Meiryo"/>
                <a:ea typeface="Meiryo"/>
                <a:cs typeface="Meiryo"/>
                <a:sym typeface="Meiryo"/>
              </a:rPr>
              <a:t>公式アカウント </a:t>
            </a:r>
            <a:r>
              <a:rPr lang="en-US" altLang="ja-JP" sz="1300" b="1">
                <a:solidFill>
                  <a:schemeClr val="bg1"/>
                </a:solidFill>
                <a:latin typeface="Meiryo"/>
                <a:ea typeface="Meiryo"/>
                <a:cs typeface="Meiryo"/>
                <a:sym typeface="Meiryo"/>
              </a:rPr>
              <a:t>Growth</a:t>
            </a:r>
            <a:r>
              <a:rPr lang="ja-JP" altLang="en-US" sz="1300" b="1">
                <a:solidFill>
                  <a:schemeClr val="bg1"/>
                </a:solidFill>
                <a:latin typeface="Meiryo"/>
                <a:ea typeface="Meiryo"/>
                <a:cs typeface="Meiryo"/>
                <a:sym typeface="Meiryo"/>
              </a:rPr>
              <a:t>」受賞</a:t>
            </a:r>
            <a:endParaRPr lang="en-US" altLang="ja-JP" sz="1300" b="1" dirty="0">
              <a:solidFill>
                <a:schemeClr val="bg1"/>
              </a:solidFill>
              <a:latin typeface="Meiryo"/>
              <a:ea typeface="Meiryo"/>
              <a:cs typeface="Meiryo"/>
              <a:sym typeface="Meiryo"/>
            </a:endParaRPr>
          </a:p>
        </p:txBody>
      </p:sp>
      <p:sp>
        <p:nvSpPr>
          <p:cNvPr id="6" name="正方形/長方形 5">
            <a:extLst>
              <a:ext uri="{FF2B5EF4-FFF2-40B4-BE49-F238E27FC236}">
                <a16:creationId xmlns:a16="http://schemas.microsoft.com/office/drawing/2014/main" id="{DEE7F595-5FAC-C5CD-0B26-580B6DF09A53}"/>
              </a:ext>
            </a:extLst>
          </p:cNvPr>
          <p:cNvSpPr/>
          <p:nvPr/>
        </p:nvSpPr>
        <p:spPr>
          <a:xfrm>
            <a:off x="432943" y="700332"/>
            <a:ext cx="2391617" cy="306000"/>
          </a:xfrm>
          <a:prstGeom prst="rect">
            <a:avLst/>
          </a:prstGeom>
          <a:solidFill>
            <a:srgbClr val="10253F"/>
          </a:solidFill>
        </p:spPr>
        <p:txBody>
          <a:bodyPr wrap="square">
            <a:spAutoFit/>
          </a:bodyPr>
          <a:lstStyle/>
          <a:p>
            <a:pPr lvl="0" algn="ctr">
              <a:buClr>
                <a:srgbClr val="002060"/>
              </a:buClr>
              <a:buSzPts val="1600"/>
            </a:pPr>
            <a:r>
              <a:rPr lang="en-US" altLang="ja-JP" sz="1400" b="1">
                <a:solidFill>
                  <a:schemeClr val="bg1"/>
                </a:solidFill>
                <a:latin typeface="Meiryo"/>
                <a:ea typeface="Meiryo"/>
                <a:cs typeface="Meiryo"/>
                <a:sym typeface="Meiryo"/>
              </a:rPr>
              <a:t>DYM × LINEOA</a:t>
            </a:r>
            <a:endParaRPr lang="en-US" altLang="ja-JP" sz="1400" b="1" dirty="0">
              <a:solidFill>
                <a:schemeClr val="bg1"/>
              </a:solidFill>
              <a:latin typeface="Meiryo"/>
              <a:ea typeface="Meiryo"/>
              <a:cs typeface="Meiryo"/>
              <a:sym typeface="Meiryo"/>
            </a:endParaRPr>
          </a:p>
        </p:txBody>
      </p:sp>
      <p:pic>
        <p:nvPicPr>
          <p:cNvPr id="56" name="Picture 2">
            <a:extLst>
              <a:ext uri="{FF2B5EF4-FFF2-40B4-BE49-F238E27FC236}">
                <a16:creationId xmlns:a16="http://schemas.microsoft.com/office/drawing/2014/main" id="{6B503BF7-985B-8770-4643-5E3EB6E5562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69689" y="5150774"/>
            <a:ext cx="1929199" cy="1286131"/>
          </a:xfrm>
          <a:prstGeom prst="rect">
            <a:avLst/>
          </a:prstGeom>
          <a:noFill/>
          <a:extLst>
            <a:ext uri="{909E8E84-426E-40DD-AFC4-6F175D3DCCD1}">
              <a14:hiddenFill xmlns:a14="http://schemas.microsoft.com/office/drawing/2010/main">
                <a:solidFill>
                  <a:srgbClr val="FFFFFF"/>
                </a:solidFill>
              </a14:hiddenFill>
            </a:ext>
          </a:extLst>
        </p:spPr>
      </p:pic>
      <p:sp>
        <p:nvSpPr>
          <p:cNvPr id="2" name="テキスト プレースホルダー 2">
            <a:extLst>
              <a:ext uri="{FF2B5EF4-FFF2-40B4-BE49-F238E27FC236}">
                <a16:creationId xmlns:a16="http://schemas.microsoft.com/office/drawing/2014/main" id="{761ADAB8-B668-8B05-EDE6-B5003466E015}"/>
              </a:ext>
            </a:extLst>
          </p:cNvPr>
          <p:cNvSpPr txBox="1">
            <a:spLocks/>
          </p:cNvSpPr>
          <p:nvPr/>
        </p:nvSpPr>
        <p:spPr>
          <a:xfrm>
            <a:off x="8209814" y="6217102"/>
            <a:ext cx="676273" cy="157797"/>
          </a:xfrm>
          <a:prstGeom prst="rect">
            <a:avLst/>
          </a:prstGeom>
        </p:spPr>
        <p:txBody>
          <a:bodyPr lIns="0" tIns="0" rIns="0" bIns="0" anchor="t"/>
          <a:lstStyle>
            <a:lvl1pPr marL="0" indent="0" algn="l" defTabSz="914400" rtl="0" eaLnBrk="1" latinLnBrk="0" hangingPunct="1">
              <a:lnSpc>
                <a:spcPct val="130000"/>
              </a:lnSpc>
              <a:spcBef>
                <a:spcPts val="0"/>
              </a:spcBef>
              <a:buFont typeface="Arial" panose="020B0604020202020204" pitchFamily="34" charset="0"/>
              <a:buNone/>
              <a:defRPr kumimoji="1" sz="1400" kern="1200">
                <a:solidFill>
                  <a:schemeClr val="tx1">
                    <a:lumMod val="95000"/>
                    <a:lumOff val="5000"/>
                  </a:schemeClr>
                </a:solidFill>
                <a:latin typeface="Meiryo" panose="020B0604030504040204" pitchFamily="34" charset="-128"/>
                <a:ea typeface="Meiryo" panose="020B0604030504040204"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defRPr/>
            </a:pPr>
            <a:r>
              <a:rPr lang="en-US" altLang="ja-JP" sz="700">
                <a:solidFill>
                  <a:schemeClr val="bg1"/>
                </a:solidFill>
              </a:rPr>
              <a:t>※</a:t>
            </a:r>
            <a:r>
              <a:rPr lang="ja-JP" altLang="en-US" sz="700">
                <a:solidFill>
                  <a:schemeClr val="bg1"/>
                </a:solidFill>
              </a:rPr>
              <a:t>受賞時の</a:t>
            </a:r>
            <a:r>
              <a:rPr lang="en-US" altLang="ja-JP" sz="700">
                <a:solidFill>
                  <a:schemeClr val="bg1"/>
                </a:solidFill>
              </a:rPr>
              <a:t>1</a:t>
            </a:r>
            <a:r>
              <a:rPr lang="ja-JP" altLang="en-US" sz="700">
                <a:solidFill>
                  <a:schemeClr val="bg1"/>
                </a:solidFill>
              </a:rPr>
              <a:t>枚</a:t>
            </a:r>
            <a:endParaRPr lang="en-US" altLang="ja-JP" sz="700" dirty="0">
              <a:solidFill>
                <a:schemeClr val="bg1"/>
              </a:solidFill>
            </a:endParaRPr>
          </a:p>
        </p:txBody>
      </p:sp>
      <p:pic>
        <p:nvPicPr>
          <p:cNvPr id="7" name="図 6" descr="アイコン が含まれている画像&#10;&#10;AI 生成コンテンツは誤りを含む可能性があります。">
            <a:extLst>
              <a:ext uri="{FF2B5EF4-FFF2-40B4-BE49-F238E27FC236}">
                <a16:creationId xmlns:a16="http://schemas.microsoft.com/office/drawing/2014/main" id="{1FAB445F-372A-C0D2-7552-790613769A3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408069" y="4654614"/>
            <a:ext cx="2886575" cy="2294826"/>
          </a:xfrm>
          <a:prstGeom prst="rect">
            <a:avLst/>
          </a:prstGeom>
        </p:spPr>
      </p:pic>
      <p:sp>
        <p:nvSpPr>
          <p:cNvPr id="10" name="テキスト ボックス 9">
            <a:extLst>
              <a:ext uri="{FF2B5EF4-FFF2-40B4-BE49-F238E27FC236}">
                <a16:creationId xmlns:a16="http://schemas.microsoft.com/office/drawing/2014/main" id="{F7A1F49B-800C-42EE-5308-93E8C2B2E88F}"/>
              </a:ext>
            </a:extLst>
          </p:cNvPr>
          <p:cNvSpPr txBox="1"/>
          <p:nvPr/>
        </p:nvSpPr>
        <p:spPr>
          <a:xfrm>
            <a:off x="2535025" y="5767731"/>
            <a:ext cx="4963884" cy="646331"/>
          </a:xfrm>
          <a:prstGeom prst="rect">
            <a:avLst/>
          </a:prstGeom>
          <a:noFill/>
        </p:spPr>
        <p:txBody>
          <a:bodyPr wrap="square">
            <a:spAutoFit/>
          </a:bodyPr>
          <a:lstStyle/>
          <a:p>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現在</a:t>
            </a:r>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Sales Partner Premier</a:t>
            </a:r>
          </a:p>
          <a:p>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は</a:t>
            </a:r>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DYM</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を合わせて</a:t>
            </a:r>
            <a:r>
              <a:rPr lang="en-US" altLang="ja-JP" sz="900" b="1" dirty="0">
                <a:solidFill>
                  <a:srgbClr val="000000">
                    <a:lumMod val="95000"/>
                    <a:lumOff val="5000"/>
                  </a:srgbClr>
                </a:solidFill>
                <a:latin typeface="メイリオ" panose="020B0604030504040204" pitchFamily="50" charset="-128"/>
                <a:ea typeface="メイリオ" panose="020B0604030504040204" pitchFamily="50" charset="-128"/>
              </a:rPr>
              <a:t>12</a:t>
            </a:r>
            <a:r>
              <a:rPr lang="ja-JP" altLang="en-US" sz="900" b="1" dirty="0">
                <a:solidFill>
                  <a:srgbClr val="000000">
                    <a:lumMod val="95000"/>
                    <a:lumOff val="5000"/>
                  </a:srgbClr>
                </a:solidFill>
                <a:latin typeface="メイリオ" panose="020B0604030504040204" pitchFamily="50" charset="-128"/>
                <a:ea typeface="メイリオ" panose="020B0604030504040204" pitchFamily="50" charset="-128"/>
              </a:rPr>
              <a:t>社が認定</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a:t>
            </a:r>
            <a:endPar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endParaRPr>
          </a:p>
          <a:p>
            <a:endPar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endParaRPr>
          </a:p>
          <a:p>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未上場企業では</a:t>
            </a:r>
            <a:r>
              <a:rPr lang="ja-JP" altLang="en-US" sz="900" b="1" dirty="0">
                <a:solidFill>
                  <a:srgbClr val="000000">
                    <a:lumMod val="95000"/>
                    <a:lumOff val="5000"/>
                  </a:srgbClr>
                </a:solidFill>
                <a:latin typeface="メイリオ" panose="020B0604030504040204" pitchFamily="50" charset="-128"/>
                <a:ea typeface="メイリオ" panose="020B0604030504040204" pitchFamily="50" charset="-128"/>
              </a:rPr>
              <a:t>唯一で最上位</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a:t>
            </a:r>
            <a:endParaRPr lang="ja-JP" altLang="en-US" sz="900" dirty="0"/>
          </a:p>
        </p:txBody>
      </p:sp>
    </p:spTree>
    <p:extLst>
      <p:ext uri="{BB962C8B-B14F-4D97-AF65-F5344CB8AC3E}">
        <p14:creationId xmlns:p14="http://schemas.microsoft.com/office/powerpoint/2010/main" val="30142225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E5861D-E2B1-5330-6864-9B051B1B450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10815731-3923-DF64-2497-E7A37D053AD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弊社ポジショニング</a:t>
            </a:r>
          </a:p>
        </p:txBody>
      </p:sp>
      <p:sp>
        <p:nvSpPr>
          <p:cNvPr id="2" name="正方形/長方形 1">
            <a:extLst>
              <a:ext uri="{FF2B5EF4-FFF2-40B4-BE49-F238E27FC236}">
                <a16:creationId xmlns:a16="http://schemas.microsoft.com/office/drawing/2014/main" id="{6EE73D80-19A8-1B22-3E67-207FD67693A3}"/>
              </a:ext>
            </a:extLst>
          </p:cNvPr>
          <p:cNvSpPr/>
          <p:nvPr/>
        </p:nvSpPr>
        <p:spPr>
          <a:xfrm>
            <a:off x="414745" y="1861522"/>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CD2306FC-4175-2C00-0D17-32F2AAC51C82}"/>
              </a:ext>
            </a:extLst>
          </p:cNvPr>
          <p:cNvSpPr/>
          <p:nvPr/>
        </p:nvSpPr>
        <p:spPr>
          <a:xfrm>
            <a:off x="4892040" y="1861522"/>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0" name="正方形/長方形 9">
            <a:extLst>
              <a:ext uri="{FF2B5EF4-FFF2-40B4-BE49-F238E27FC236}">
                <a16:creationId xmlns:a16="http://schemas.microsoft.com/office/drawing/2014/main" id="{9ED6AD3F-541D-3FC5-0062-3F2A923253C9}"/>
              </a:ext>
            </a:extLst>
          </p:cNvPr>
          <p:cNvSpPr/>
          <p:nvPr/>
        </p:nvSpPr>
        <p:spPr>
          <a:xfrm>
            <a:off x="414745" y="4308273"/>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1" name="正方形/長方形 10">
            <a:extLst>
              <a:ext uri="{FF2B5EF4-FFF2-40B4-BE49-F238E27FC236}">
                <a16:creationId xmlns:a16="http://schemas.microsoft.com/office/drawing/2014/main" id="{D4D20F90-DB1A-B6A0-8607-C0C93118158E}"/>
              </a:ext>
            </a:extLst>
          </p:cNvPr>
          <p:cNvSpPr/>
          <p:nvPr/>
        </p:nvSpPr>
        <p:spPr>
          <a:xfrm>
            <a:off x="4892040" y="4308273"/>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2" name="正方形/長方形 11">
            <a:extLst>
              <a:ext uri="{FF2B5EF4-FFF2-40B4-BE49-F238E27FC236}">
                <a16:creationId xmlns:a16="http://schemas.microsoft.com/office/drawing/2014/main" id="{94608CEE-4C85-001A-2579-A0A698688995}"/>
              </a:ext>
            </a:extLst>
          </p:cNvPr>
          <p:cNvSpPr/>
          <p:nvPr/>
        </p:nvSpPr>
        <p:spPr>
          <a:xfrm>
            <a:off x="414745" y="1861523"/>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rPr>
              <a:t>ツール会社　</a:t>
            </a:r>
          </a:p>
        </p:txBody>
      </p:sp>
      <p:sp>
        <p:nvSpPr>
          <p:cNvPr id="13" name="正方形/長方形 12">
            <a:extLst>
              <a:ext uri="{FF2B5EF4-FFF2-40B4-BE49-F238E27FC236}">
                <a16:creationId xmlns:a16="http://schemas.microsoft.com/office/drawing/2014/main" id="{59A99E6E-D460-C2CE-3554-D4177944BCC1}"/>
              </a:ext>
            </a:extLst>
          </p:cNvPr>
          <p:cNvSpPr/>
          <p:nvPr/>
        </p:nvSpPr>
        <p:spPr>
          <a:xfrm>
            <a:off x="4892040" y="1861523"/>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rPr>
              <a:t> コンサル会社</a:t>
            </a:r>
          </a:p>
        </p:txBody>
      </p:sp>
      <p:sp>
        <p:nvSpPr>
          <p:cNvPr id="14" name="正方形/長方形 13">
            <a:extLst>
              <a:ext uri="{FF2B5EF4-FFF2-40B4-BE49-F238E27FC236}">
                <a16:creationId xmlns:a16="http://schemas.microsoft.com/office/drawing/2014/main" id="{B9B23A0A-C181-F52D-CE83-83252D57916D}"/>
              </a:ext>
            </a:extLst>
          </p:cNvPr>
          <p:cNvSpPr/>
          <p:nvPr/>
        </p:nvSpPr>
        <p:spPr>
          <a:xfrm>
            <a:off x="414745" y="4295574"/>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rPr>
              <a:t>広告専業の代理店</a:t>
            </a:r>
          </a:p>
        </p:txBody>
      </p:sp>
      <p:sp>
        <p:nvSpPr>
          <p:cNvPr id="15" name="正方形/長方形 14">
            <a:extLst>
              <a:ext uri="{FF2B5EF4-FFF2-40B4-BE49-F238E27FC236}">
                <a16:creationId xmlns:a16="http://schemas.microsoft.com/office/drawing/2014/main" id="{735511C6-7F11-A23D-F1BA-0FACD703798D}"/>
              </a:ext>
            </a:extLst>
          </p:cNvPr>
          <p:cNvSpPr/>
          <p:nvPr/>
        </p:nvSpPr>
        <p:spPr>
          <a:xfrm>
            <a:off x="4892040" y="4295574"/>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rPr>
              <a:t>他</a:t>
            </a:r>
            <a:r>
              <a:rPr kumimoji="1" lang="en-US" altLang="ja-JP" sz="1000" b="1" dirty="0">
                <a:solidFill>
                  <a:schemeClr val="tx1"/>
                </a:solidFill>
                <a:latin typeface="メイリオ" panose="020B0604030504040204" pitchFamily="50" charset="-128"/>
                <a:ea typeface="メイリオ" panose="020B0604030504040204" pitchFamily="50" charset="-128"/>
              </a:rPr>
              <a:t>CRM</a:t>
            </a:r>
            <a:r>
              <a:rPr kumimoji="1" lang="ja-JP" altLang="en-US" sz="1000" b="1" dirty="0">
                <a:solidFill>
                  <a:schemeClr val="tx1"/>
                </a:solidFill>
                <a:latin typeface="メイリオ" panose="020B0604030504040204" pitchFamily="50" charset="-128"/>
                <a:ea typeface="メイリオ" panose="020B0604030504040204" pitchFamily="50" charset="-128"/>
              </a:rPr>
              <a:t>の会社</a:t>
            </a:r>
          </a:p>
        </p:txBody>
      </p:sp>
      <p:pic>
        <p:nvPicPr>
          <p:cNvPr id="21" name="図 20" descr="文字が書かれている&#10;&#10;AI 生成コンテンツは誤りを含む可能性があります。">
            <a:extLst>
              <a:ext uri="{FF2B5EF4-FFF2-40B4-BE49-F238E27FC236}">
                <a16:creationId xmlns:a16="http://schemas.microsoft.com/office/drawing/2014/main" id="{2521257E-D1E1-307C-8244-A7D93D470795}"/>
              </a:ext>
            </a:extLst>
          </p:cNvPr>
          <p:cNvPicPr>
            <a:picLocks noChangeAspect="1"/>
          </p:cNvPicPr>
          <p:nvPr/>
        </p:nvPicPr>
        <p:blipFill>
          <a:blip r:embed="rId2"/>
          <a:stretch>
            <a:fillRect/>
          </a:stretch>
        </p:blipFill>
        <p:spPr>
          <a:xfrm>
            <a:off x="1086533" y="2273664"/>
            <a:ext cx="1323427" cy="315679"/>
          </a:xfrm>
          <a:prstGeom prst="rect">
            <a:avLst/>
          </a:prstGeom>
        </p:spPr>
      </p:pic>
      <p:pic>
        <p:nvPicPr>
          <p:cNvPr id="1026" name="Picture 2" descr="特定商取引法に関する表示 | Lステップ（エルステップ）公式_LINE公式アカウント特化のマーケティングツール">
            <a:extLst>
              <a:ext uri="{FF2B5EF4-FFF2-40B4-BE49-F238E27FC236}">
                <a16:creationId xmlns:a16="http://schemas.microsoft.com/office/drawing/2014/main" id="{E86AB3B4-1E56-4227-88BE-FA673F02334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36417" y="2184166"/>
            <a:ext cx="831168" cy="467532"/>
          </a:xfrm>
          <a:prstGeom prst="rect">
            <a:avLst/>
          </a:prstGeom>
          <a:noFill/>
          <a:extLst>
            <a:ext uri="{909E8E84-426E-40DD-AFC4-6F175D3DCCD1}">
              <a14:hiddenFill xmlns:a14="http://schemas.microsoft.com/office/drawing/2010/main">
                <a:solidFill>
                  <a:srgbClr val="FFFFFF"/>
                </a:solidFill>
              </a14:hiddenFill>
            </a:ext>
          </a:extLst>
        </p:spPr>
      </p:pic>
      <p:sp>
        <p:nvSpPr>
          <p:cNvPr id="26" name="乗算記号 25">
            <a:extLst>
              <a:ext uri="{FF2B5EF4-FFF2-40B4-BE49-F238E27FC236}">
                <a16:creationId xmlns:a16="http://schemas.microsoft.com/office/drawing/2014/main" id="{676235DE-33EB-2E33-33D6-74D321860C39}"/>
              </a:ext>
            </a:extLst>
          </p:cNvPr>
          <p:cNvSpPr/>
          <p:nvPr/>
        </p:nvSpPr>
        <p:spPr>
          <a:xfrm>
            <a:off x="6198323" y="1838911"/>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乗算記号 26">
            <a:extLst>
              <a:ext uri="{FF2B5EF4-FFF2-40B4-BE49-F238E27FC236}">
                <a16:creationId xmlns:a16="http://schemas.microsoft.com/office/drawing/2014/main" id="{7C31A50F-57BD-64E8-DE3F-3A8FB722D839}"/>
              </a:ext>
            </a:extLst>
          </p:cNvPr>
          <p:cNvSpPr/>
          <p:nvPr/>
        </p:nvSpPr>
        <p:spPr>
          <a:xfrm>
            <a:off x="1472312" y="4277918"/>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乗算記号 27">
            <a:extLst>
              <a:ext uri="{FF2B5EF4-FFF2-40B4-BE49-F238E27FC236}">
                <a16:creationId xmlns:a16="http://schemas.microsoft.com/office/drawing/2014/main" id="{9B7C9A4B-096B-D2DD-08B8-D421AB634155}"/>
              </a:ext>
            </a:extLst>
          </p:cNvPr>
          <p:cNvSpPr/>
          <p:nvPr/>
        </p:nvSpPr>
        <p:spPr>
          <a:xfrm>
            <a:off x="1734353" y="1838911"/>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9" name="乗算記号 28">
            <a:extLst>
              <a:ext uri="{FF2B5EF4-FFF2-40B4-BE49-F238E27FC236}">
                <a16:creationId xmlns:a16="http://schemas.microsoft.com/office/drawing/2014/main" id="{E3AD3032-8560-946E-0D20-D2977D17F027}"/>
              </a:ext>
            </a:extLst>
          </p:cNvPr>
          <p:cNvSpPr/>
          <p:nvPr/>
        </p:nvSpPr>
        <p:spPr>
          <a:xfrm>
            <a:off x="6128651" y="4274166"/>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28" name="Picture 4" descr="Salesforceってなに？初心者でも簡単にわかる！導入のメリットと基本機能について | CONCENTO">
            <a:extLst>
              <a:ext uri="{FF2B5EF4-FFF2-40B4-BE49-F238E27FC236}">
                <a16:creationId xmlns:a16="http://schemas.microsoft.com/office/drawing/2014/main" id="{A10BCEF0-052F-BF99-39E9-5BA577F00F7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l="23384" t="14322" r="25004" b="16405"/>
          <a:stretch>
            <a:fillRect/>
          </a:stretch>
        </p:blipFill>
        <p:spPr bwMode="auto">
          <a:xfrm>
            <a:off x="5388428" y="4659089"/>
            <a:ext cx="441441" cy="311537"/>
          </a:xfrm>
          <a:prstGeom prst="rect">
            <a:avLst/>
          </a:prstGeom>
          <a:ln>
            <a:noFill/>
          </a:ln>
        </p:spPr>
        <p:style>
          <a:lnRef idx="2">
            <a:schemeClr val="dk1"/>
          </a:lnRef>
          <a:fillRef idx="1">
            <a:schemeClr val="lt1"/>
          </a:fillRef>
          <a:effectRef idx="0">
            <a:schemeClr val="dk1"/>
          </a:effectRef>
          <a:fontRef idx="minor">
            <a:schemeClr val="dk1"/>
          </a:fontRef>
        </p:style>
      </p:pic>
      <p:pic>
        <p:nvPicPr>
          <p:cNvPr id="31" name="図 30" descr="挿絵, 抽象 が含まれている画像&#10;&#10;AI 生成コンテンツは誤りを含む可能性があります。">
            <a:extLst>
              <a:ext uri="{FF2B5EF4-FFF2-40B4-BE49-F238E27FC236}">
                <a16:creationId xmlns:a16="http://schemas.microsoft.com/office/drawing/2014/main" id="{172999E0-2479-CF51-1EFC-C4CA794CEC4E}"/>
              </a:ext>
            </a:extLst>
          </p:cNvPr>
          <p:cNvPicPr>
            <a:picLocks noChangeAspect="1"/>
          </p:cNvPicPr>
          <p:nvPr/>
        </p:nvPicPr>
        <p:blipFill>
          <a:blip r:embed="rId5"/>
          <a:stretch>
            <a:fillRect/>
          </a:stretch>
        </p:blipFill>
        <p:spPr>
          <a:xfrm>
            <a:off x="5864283" y="4715948"/>
            <a:ext cx="682242" cy="197819"/>
          </a:xfrm>
          <a:prstGeom prst="rect">
            <a:avLst/>
          </a:prstGeom>
        </p:spPr>
      </p:pic>
      <p:pic>
        <p:nvPicPr>
          <p:cNvPr id="33" name="図 32" descr="黒い背景に白い文字がある&#10;&#10;AI 生成コンテンツは誤りを含む可能性があります。">
            <a:extLst>
              <a:ext uri="{FF2B5EF4-FFF2-40B4-BE49-F238E27FC236}">
                <a16:creationId xmlns:a16="http://schemas.microsoft.com/office/drawing/2014/main" id="{474C051E-B596-1651-549B-F1BDC6EA898F}"/>
              </a:ext>
            </a:extLst>
          </p:cNvPr>
          <p:cNvPicPr>
            <a:picLocks noChangeAspect="1"/>
          </p:cNvPicPr>
          <p:nvPr/>
        </p:nvPicPr>
        <p:blipFill>
          <a:blip r:embed="rId6"/>
          <a:stretch>
            <a:fillRect/>
          </a:stretch>
        </p:blipFill>
        <p:spPr>
          <a:xfrm>
            <a:off x="6580939" y="4694453"/>
            <a:ext cx="1225076" cy="219314"/>
          </a:xfrm>
          <a:prstGeom prst="rect">
            <a:avLst/>
          </a:prstGeom>
        </p:spPr>
      </p:pic>
      <p:sp>
        <p:nvSpPr>
          <p:cNvPr id="35" name="テキスト ボックス 34">
            <a:extLst>
              <a:ext uri="{FF2B5EF4-FFF2-40B4-BE49-F238E27FC236}">
                <a16:creationId xmlns:a16="http://schemas.microsoft.com/office/drawing/2014/main" id="{A53AB6D9-AEB5-ECF4-8C73-A7EFC4F05EF1}"/>
              </a:ext>
            </a:extLst>
          </p:cNvPr>
          <p:cNvSpPr txBox="1"/>
          <p:nvPr/>
        </p:nvSpPr>
        <p:spPr>
          <a:xfrm>
            <a:off x="4866072" y="2273664"/>
            <a:ext cx="4459715" cy="246221"/>
          </a:xfrm>
          <a:prstGeom prst="rect">
            <a:avLst/>
          </a:prstGeom>
          <a:no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rPr>
              <a:t>システム管理会社・ツール運用会社・デザイン会社</a:t>
            </a: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pic>
        <p:nvPicPr>
          <p:cNvPr id="1030" name="Picture 6" descr="お知らせ一覧｜LINEマーケティングや販促・顧客管理ならLiny">
            <a:extLst>
              <a:ext uri="{FF2B5EF4-FFF2-40B4-BE49-F238E27FC236}">
                <a16:creationId xmlns:a16="http://schemas.microsoft.com/office/drawing/2014/main" id="{A11EE7F3-23DE-A03C-6953-9FC6DABEDA85}"/>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21448" t="26478" r="21237" b="27778"/>
          <a:stretch>
            <a:fillRect/>
          </a:stretch>
        </p:blipFill>
        <p:spPr bwMode="auto">
          <a:xfrm>
            <a:off x="3335235" y="2279400"/>
            <a:ext cx="571287" cy="304207"/>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Shopify Japan 株式会社のプレスリリース｜PR TIMES">
            <a:extLst>
              <a:ext uri="{FF2B5EF4-FFF2-40B4-BE49-F238E27FC236}">
                <a16:creationId xmlns:a16="http://schemas.microsoft.com/office/drawing/2014/main" id="{1BF2471A-3689-B39E-D841-0A5CEE63B028}"/>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938796" y="4694711"/>
            <a:ext cx="799200" cy="228571"/>
          </a:xfrm>
          <a:prstGeom prst="rect">
            <a:avLst/>
          </a:prstGeom>
          <a:noFill/>
          <a:extLst>
            <a:ext uri="{909E8E84-426E-40DD-AFC4-6F175D3DCCD1}">
              <a14:hiddenFill xmlns:a14="http://schemas.microsoft.com/office/drawing/2010/main">
                <a:solidFill>
                  <a:srgbClr val="FFFFFF"/>
                </a:solidFill>
              </a14:hiddenFill>
            </a:ext>
          </a:extLst>
        </p:spPr>
      </p:pic>
      <p:sp>
        <p:nvSpPr>
          <p:cNvPr id="36" name="テキスト ボックス 35">
            <a:extLst>
              <a:ext uri="{FF2B5EF4-FFF2-40B4-BE49-F238E27FC236}">
                <a16:creationId xmlns:a16="http://schemas.microsoft.com/office/drawing/2014/main" id="{EB20A091-C336-4BDE-54E9-33ECF6B1EC77}"/>
              </a:ext>
            </a:extLst>
          </p:cNvPr>
          <p:cNvSpPr txBox="1"/>
          <p:nvPr/>
        </p:nvSpPr>
        <p:spPr>
          <a:xfrm>
            <a:off x="362665" y="4709164"/>
            <a:ext cx="4459715" cy="246221"/>
          </a:xfrm>
          <a:prstGeom prst="rect">
            <a:avLst/>
          </a:prstGeom>
          <a:noFill/>
        </p:spPr>
        <p:txBody>
          <a:bodyPr wrap="square">
            <a:spAutoFit/>
          </a:bodyPr>
          <a:lstStyle/>
          <a:p>
            <a:pPr algn="ctr"/>
            <a:r>
              <a:rPr lang="en-US" altLang="ja-JP" sz="1000" b="1" dirty="0">
                <a:latin typeface="メイリオ" panose="020B0604030504040204" pitchFamily="50" charset="-128"/>
                <a:ea typeface="メイリオ" panose="020B0604030504040204" pitchFamily="50" charset="-128"/>
              </a:rPr>
              <a:t>LINE</a:t>
            </a:r>
            <a:r>
              <a:rPr lang="ja-JP" altLang="en-US" sz="1000" b="1" dirty="0">
                <a:latin typeface="メイリオ" panose="020B0604030504040204" pitchFamily="50" charset="-128"/>
                <a:ea typeface="メイリオ" panose="020B0604030504040204" pitchFamily="50" charset="-128"/>
              </a:rPr>
              <a:t>ヤフーのパッケージ商品などの拡販</a:t>
            </a: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sp>
        <p:nvSpPr>
          <p:cNvPr id="6" name="テキスト ボックス 5">
            <a:extLst>
              <a:ext uri="{FF2B5EF4-FFF2-40B4-BE49-F238E27FC236}">
                <a16:creationId xmlns:a16="http://schemas.microsoft.com/office/drawing/2014/main" id="{63CD4067-EE53-3C90-C918-C15397527FBF}"/>
              </a:ext>
            </a:extLst>
          </p:cNvPr>
          <p:cNvSpPr txBox="1"/>
          <p:nvPr/>
        </p:nvSpPr>
        <p:spPr>
          <a:xfrm>
            <a:off x="459470" y="2738645"/>
            <a:ext cx="4311647" cy="646331"/>
          </a:xfrm>
          <a:prstGeom prst="rect">
            <a:avLst/>
          </a:prstGeom>
          <a:noFill/>
        </p:spPr>
        <p:txBody>
          <a:bodyPr wrap="square">
            <a:spAutoFit/>
          </a:bodyPr>
          <a:lstStyle/>
          <a:p>
            <a:pPr algn="ctr"/>
            <a:r>
              <a:rPr kumimoji="1"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・ツールによって、適用される機能自体に差分がある。</a:t>
            </a:r>
            <a:endParaRPr kumimoji="1" lang="en-US" altLang="ja-JP" sz="12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 </a:t>
            </a:r>
            <a:r>
              <a:rPr kumimoji="1" lang="en-US" altLang="ja-JP" sz="1200" dirty="0">
                <a:solidFill>
                  <a:schemeClr val="tx1">
                    <a:lumMod val="50000"/>
                    <a:lumOff val="50000"/>
                  </a:schemeClr>
                </a:solidFill>
                <a:latin typeface="メイリオ" panose="020B0604030504040204" pitchFamily="50" charset="-128"/>
                <a:ea typeface="メイリオ" panose="020B0604030504040204" pitchFamily="50" charset="-128"/>
              </a:rPr>
              <a:t>API</a:t>
            </a:r>
            <a:r>
              <a:rPr kumimoji="1"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ツールが</a:t>
            </a:r>
            <a:r>
              <a:rPr kumimoji="1" lang="en-US" altLang="ja-JP" sz="1200" dirty="0">
                <a:solidFill>
                  <a:schemeClr val="tx1">
                    <a:lumMod val="50000"/>
                    <a:lumOff val="50000"/>
                  </a:schemeClr>
                </a:solidFill>
                <a:latin typeface="メイリオ" panose="020B0604030504040204" pitchFamily="50" charset="-128"/>
                <a:ea typeface="メイリオ" panose="020B0604030504040204" pitchFamily="50" charset="-128"/>
              </a:rPr>
              <a:t>1</a:t>
            </a:r>
            <a:r>
              <a:rPr kumimoji="1"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社のみの独占となり、切替えが難しい。</a:t>
            </a:r>
            <a:endParaRPr kumimoji="1" lang="en-US" altLang="ja-JP" sz="12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・コンサルも依頼の場合に費用が大きくなるリスク。</a:t>
            </a:r>
            <a:endParaRPr kumimoji="1" lang="ja-JP" altLang="en-US" sz="1200"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EBA4D737-3559-5FE1-B418-3302CBFCB9A9}"/>
              </a:ext>
            </a:extLst>
          </p:cNvPr>
          <p:cNvSpPr txBox="1"/>
          <p:nvPr/>
        </p:nvSpPr>
        <p:spPr>
          <a:xfrm>
            <a:off x="4928055" y="2733229"/>
            <a:ext cx="4311647" cy="646331"/>
          </a:xfrm>
          <a:prstGeom prst="rect">
            <a:avLst/>
          </a:prstGeom>
          <a:noFill/>
        </p:spPr>
        <p:txBody>
          <a:bodyPr wrap="square">
            <a:spAutoFit/>
          </a:bodyPr>
          <a:lstStyle/>
          <a:p>
            <a:pPr algn="ct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・ツール外注により費用が大きくなる可能性がある。</a:t>
            </a:r>
            <a:endPar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運用自体に対する知見が少ない。</a:t>
            </a:r>
            <a:endPar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・一部利用できない機能が存在する（</a:t>
            </a:r>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rPr>
              <a:t>Option API</a:t>
            </a: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他）。</a:t>
            </a:r>
          </a:p>
        </p:txBody>
      </p:sp>
      <p:sp>
        <p:nvSpPr>
          <p:cNvPr id="8" name="テキスト ボックス 7">
            <a:extLst>
              <a:ext uri="{FF2B5EF4-FFF2-40B4-BE49-F238E27FC236}">
                <a16:creationId xmlns:a16="http://schemas.microsoft.com/office/drawing/2014/main" id="{C16446F7-FB27-00FA-5115-4A5251550BE6}"/>
              </a:ext>
            </a:extLst>
          </p:cNvPr>
          <p:cNvSpPr txBox="1"/>
          <p:nvPr/>
        </p:nvSpPr>
        <p:spPr>
          <a:xfrm>
            <a:off x="461608" y="5199061"/>
            <a:ext cx="4311647" cy="646331"/>
          </a:xfrm>
          <a:prstGeom prst="rect">
            <a:avLst/>
          </a:prstGeom>
          <a:noFill/>
        </p:spPr>
        <p:txBody>
          <a:bodyPr wrap="square">
            <a:spAutoFit/>
          </a:bodyPr>
          <a:lstStyle/>
          <a:p>
            <a:pPr algn="ct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運用部隊を備えていない可能性がある。</a:t>
            </a:r>
            <a:endPar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・パッケージ売りが中心で非アクティブユーザーが増加。</a:t>
            </a:r>
            <a:endPar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・コンサルも依頼の場合に費用が大きくなるリスク。</a:t>
            </a:r>
          </a:p>
        </p:txBody>
      </p:sp>
      <p:sp>
        <p:nvSpPr>
          <p:cNvPr id="9" name="テキスト ボックス 8">
            <a:extLst>
              <a:ext uri="{FF2B5EF4-FFF2-40B4-BE49-F238E27FC236}">
                <a16:creationId xmlns:a16="http://schemas.microsoft.com/office/drawing/2014/main" id="{19EE3868-DB7E-927E-8B36-00939FCE4211}"/>
              </a:ext>
            </a:extLst>
          </p:cNvPr>
          <p:cNvSpPr txBox="1"/>
          <p:nvPr/>
        </p:nvSpPr>
        <p:spPr>
          <a:xfrm>
            <a:off x="4930193" y="5285978"/>
            <a:ext cx="4311647" cy="461665"/>
          </a:xfrm>
          <a:prstGeom prst="rect">
            <a:avLst/>
          </a:prstGeom>
          <a:noFill/>
        </p:spPr>
        <p:txBody>
          <a:bodyPr wrap="square" anchor="ctr">
            <a:spAutoFit/>
          </a:bodyPr>
          <a:lstStyle/>
          <a:p>
            <a:pPr algn="ct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rPr>
              <a:t>CRM</a:t>
            </a: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側の</a:t>
            </a:r>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rPr>
              <a:t>API</a:t>
            </a: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利用時に通常より高単価になりやすい。</a:t>
            </a:r>
            <a:endPar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単体での運用知見の乏しさ。</a:t>
            </a:r>
            <a:endPar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17" name="正方形/長方形 16">
            <a:extLst>
              <a:ext uri="{FF2B5EF4-FFF2-40B4-BE49-F238E27FC236}">
                <a16:creationId xmlns:a16="http://schemas.microsoft.com/office/drawing/2014/main" id="{189FFC9F-CF2D-25AD-00C7-208E47BC4C66}"/>
              </a:ext>
            </a:extLst>
          </p:cNvPr>
          <p:cNvSpPr/>
          <p:nvPr/>
        </p:nvSpPr>
        <p:spPr>
          <a:xfrm>
            <a:off x="3361317" y="1908015"/>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自動化・効率化</a:t>
            </a:r>
          </a:p>
        </p:txBody>
      </p:sp>
      <p:sp>
        <p:nvSpPr>
          <p:cNvPr id="18" name="正方形/長方形 17">
            <a:extLst>
              <a:ext uri="{FF2B5EF4-FFF2-40B4-BE49-F238E27FC236}">
                <a16:creationId xmlns:a16="http://schemas.microsoft.com/office/drawing/2014/main" id="{122AB27F-120A-6587-2E9E-7D2F5F3B4407}"/>
              </a:ext>
            </a:extLst>
          </p:cNvPr>
          <p:cNvSpPr/>
          <p:nvPr/>
        </p:nvSpPr>
        <p:spPr>
          <a:xfrm>
            <a:off x="7854818" y="1902839"/>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リッチ化</a:t>
            </a:r>
          </a:p>
        </p:txBody>
      </p:sp>
      <p:sp>
        <p:nvSpPr>
          <p:cNvPr id="19" name="正方形/長方形 18">
            <a:extLst>
              <a:ext uri="{FF2B5EF4-FFF2-40B4-BE49-F238E27FC236}">
                <a16:creationId xmlns:a16="http://schemas.microsoft.com/office/drawing/2014/main" id="{56DB3229-AC80-A545-1A7F-30968AF568EC}"/>
              </a:ext>
            </a:extLst>
          </p:cNvPr>
          <p:cNvSpPr/>
          <p:nvPr/>
        </p:nvSpPr>
        <p:spPr>
          <a:xfrm>
            <a:off x="3386263" y="4343224"/>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リード母数拡大</a:t>
            </a:r>
          </a:p>
        </p:txBody>
      </p:sp>
      <p:sp>
        <p:nvSpPr>
          <p:cNvPr id="20" name="正方形/長方形 19">
            <a:extLst>
              <a:ext uri="{FF2B5EF4-FFF2-40B4-BE49-F238E27FC236}">
                <a16:creationId xmlns:a16="http://schemas.microsoft.com/office/drawing/2014/main" id="{21D29B7F-EC01-1021-44F2-D37D7A2E27DC}"/>
              </a:ext>
            </a:extLst>
          </p:cNvPr>
          <p:cNvSpPr/>
          <p:nvPr/>
        </p:nvSpPr>
        <p:spPr>
          <a:xfrm>
            <a:off x="7879764" y="4338048"/>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自動化・効率化</a:t>
            </a:r>
          </a:p>
        </p:txBody>
      </p:sp>
      <p:sp>
        <p:nvSpPr>
          <p:cNvPr id="22" name="正方形/長方形 21">
            <a:extLst>
              <a:ext uri="{FF2B5EF4-FFF2-40B4-BE49-F238E27FC236}">
                <a16:creationId xmlns:a16="http://schemas.microsoft.com/office/drawing/2014/main" id="{2B94E779-B2D3-DA1A-5386-88EC8B7F7A2A}"/>
              </a:ext>
            </a:extLst>
          </p:cNvPr>
          <p:cNvSpPr/>
          <p:nvPr/>
        </p:nvSpPr>
        <p:spPr>
          <a:xfrm>
            <a:off x="486784" y="683522"/>
            <a:ext cx="9005456" cy="8694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600" b="1" dirty="0">
                <a:solidFill>
                  <a:schemeClr val="tx1"/>
                </a:solidFill>
                <a:latin typeface="メイリオ" panose="020B0604030504040204" pitchFamily="50" charset="-128"/>
                <a:ea typeface="メイリオ" panose="020B0604030504040204" pitchFamily="50" charset="-128"/>
              </a:rPr>
              <a:t>各種パートナー企業との連携から、幅広い</a:t>
            </a:r>
            <a:r>
              <a:rPr lang="en-US" altLang="ja-JP" sz="1600" b="1" dirty="0">
                <a:solidFill>
                  <a:schemeClr val="tx1"/>
                </a:solidFill>
                <a:latin typeface="メイリオ" panose="020B0604030504040204" pitchFamily="50" charset="-128"/>
                <a:ea typeface="メイリオ" panose="020B0604030504040204" pitchFamily="50" charset="-128"/>
              </a:rPr>
              <a:t>LINEOA</a:t>
            </a:r>
            <a:r>
              <a:rPr lang="ja-JP" altLang="en-US" sz="1600" b="1" dirty="0">
                <a:solidFill>
                  <a:schemeClr val="tx1"/>
                </a:solidFill>
                <a:latin typeface="メイリオ" panose="020B0604030504040204" pitchFamily="50" charset="-128"/>
                <a:ea typeface="メイリオ" panose="020B0604030504040204" pitchFamily="50" charset="-128"/>
              </a:rPr>
              <a:t>業務に対して対応が可能。</a:t>
            </a:r>
            <a:endParaRPr lang="en-US" altLang="ja-JP" sz="1600" b="1" dirty="0">
              <a:solidFill>
                <a:schemeClr val="tx1"/>
              </a:solidFill>
              <a:latin typeface="メイリオ" panose="020B0604030504040204" pitchFamily="50" charset="-128"/>
              <a:ea typeface="メイリオ" panose="020B0604030504040204" pitchFamily="50" charset="-128"/>
            </a:endParaRPr>
          </a:p>
          <a:p>
            <a:pPr algn="ctr"/>
            <a:r>
              <a:rPr lang="ja-JP" altLang="en-US" sz="1600" b="1" dirty="0">
                <a:solidFill>
                  <a:schemeClr val="tx1"/>
                </a:solidFill>
                <a:latin typeface="メイリオ" panose="020B0604030504040204" pitchFamily="50" charset="-128"/>
                <a:ea typeface="メイリオ" panose="020B0604030504040204" pitchFamily="50" charset="-128"/>
              </a:rPr>
              <a:t>貴社社内運用部隊と連携して、一部業務の委託についてもご相談いただけます。</a:t>
            </a:r>
            <a:endParaRPr lang="en-US" altLang="ja-JP" sz="1600" b="1" dirty="0">
              <a:solidFill>
                <a:schemeClr val="tx1"/>
              </a:solidFill>
              <a:latin typeface="メイリオ" panose="020B0604030504040204" pitchFamily="50" charset="-128"/>
              <a:ea typeface="メイリオ" panose="020B0604030504040204" pitchFamily="50" charset="-128"/>
            </a:endParaRPr>
          </a:p>
          <a:p>
            <a:pPr algn="ctr"/>
            <a:r>
              <a:rPr lang="en-US" altLang="ja-JP" sz="1200" b="1" dirty="0">
                <a:solidFill>
                  <a:srgbClr val="FF0000"/>
                </a:solidFill>
                <a:latin typeface="メイリオ" panose="020B0604030504040204" pitchFamily="50" charset="-128"/>
                <a:ea typeface="メイリオ" panose="020B0604030504040204" pitchFamily="50" charset="-128"/>
              </a:rPr>
              <a:t>※</a:t>
            </a:r>
            <a:r>
              <a:rPr lang="ja-JP" altLang="en-US" sz="1200" b="1" dirty="0">
                <a:solidFill>
                  <a:srgbClr val="FF0000"/>
                </a:solidFill>
                <a:latin typeface="メイリオ" panose="020B0604030504040204" pitchFamily="50" charset="-128"/>
                <a:ea typeface="メイリオ" panose="020B0604030504040204" pitchFamily="50" charset="-128"/>
              </a:rPr>
              <a:t>現状運用環境に合わせた成果報酬プランやコストカットの監修なども提示が可能です。</a:t>
            </a:r>
            <a:endParaRPr lang="ja-JP" altLang="en-US" sz="1600" b="1" dirty="0">
              <a:solidFill>
                <a:srgbClr val="FF0000"/>
              </a:solidFill>
              <a:latin typeface="メイリオ" panose="020B0604030504040204" pitchFamily="50" charset="-128"/>
              <a:ea typeface="メイリオ" panose="020B0604030504040204" pitchFamily="50" charset="-128"/>
            </a:endParaRPr>
          </a:p>
        </p:txBody>
      </p:sp>
      <p:sp>
        <p:nvSpPr>
          <p:cNvPr id="30" name="テキスト ボックス 29">
            <a:extLst>
              <a:ext uri="{FF2B5EF4-FFF2-40B4-BE49-F238E27FC236}">
                <a16:creationId xmlns:a16="http://schemas.microsoft.com/office/drawing/2014/main" id="{DB41465D-5D30-6E80-78F0-EEE5C4A9C571}"/>
              </a:ext>
            </a:extLst>
          </p:cNvPr>
          <p:cNvSpPr txBox="1"/>
          <p:nvPr/>
        </p:nvSpPr>
        <p:spPr>
          <a:xfrm>
            <a:off x="269967" y="3632378"/>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34" name="テキスト ボックス 33">
            <a:extLst>
              <a:ext uri="{FF2B5EF4-FFF2-40B4-BE49-F238E27FC236}">
                <a16:creationId xmlns:a16="http://schemas.microsoft.com/office/drawing/2014/main" id="{0144DC71-37E5-DA34-FDBB-69F2A1BEA8E0}"/>
              </a:ext>
            </a:extLst>
          </p:cNvPr>
          <p:cNvSpPr txBox="1"/>
          <p:nvPr/>
        </p:nvSpPr>
        <p:spPr>
          <a:xfrm>
            <a:off x="4741544" y="3629460"/>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38" name="テキスト ボックス 37">
            <a:extLst>
              <a:ext uri="{FF2B5EF4-FFF2-40B4-BE49-F238E27FC236}">
                <a16:creationId xmlns:a16="http://schemas.microsoft.com/office/drawing/2014/main" id="{AF15CFA9-BA43-360D-D26E-040407A743A9}"/>
              </a:ext>
            </a:extLst>
          </p:cNvPr>
          <p:cNvSpPr txBox="1"/>
          <p:nvPr/>
        </p:nvSpPr>
        <p:spPr>
          <a:xfrm>
            <a:off x="269967" y="6081294"/>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40" name="テキスト ボックス 39">
            <a:extLst>
              <a:ext uri="{FF2B5EF4-FFF2-40B4-BE49-F238E27FC236}">
                <a16:creationId xmlns:a16="http://schemas.microsoft.com/office/drawing/2014/main" id="{240BE338-3054-2BB1-6A31-C90BDCFE06A9}"/>
              </a:ext>
            </a:extLst>
          </p:cNvPr>
          <p:cNvSpPr txBox="1"/>
          <p:nvPr/>
        </p:nvSpPr>
        <p:spPr>
          <a:xfrm>
            <a:off x="4741544" y="6078376"/>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41" name="テキスト ボックス 40">
            <a:extLst>
              <a:ext uri="{FF2B5EF4-FFF2-40B4-BE49-F238E27FC236}">
                <a16:creationId xmlns:a16="http://schemas.microsoft.com/office/drawing/2014/main" id="{C0326F10-43FF-1E4A-8F3D-ED5A80FA014B}"/>
              </a:ext>
            </a:extLst>
          </p:cNvPr>
          <p:cNvSpPr txBox="1"/>
          <p:nvPr/>
        </p:nvSpPr>
        <p:spPr>
          <a:xfrm>
            <a:off x="956972" y="3530330"/>
            <a:ext cx="3842445" cy="461665"/>
          </a:xfrm>
          <a:prstGeom prst="rect">
            <a:avLst/>
          </a:prstGeom>
          <a:noFill/>
        </p:spPr>
        <p:txBody>
          <a:bodyPr wrap="square">
            <a:spAutoFit/>
          </a:bodyPr>
          <a:lstStyle/>
          <a:p>
            <a:pPr algn="ctr"/>
            <a:r>
              <a:rPr lang="ja-JP" altLang="en-US" sz="1200" b="1" dirty="0">
                <a:solidFill>
                  <a:schemeClr val="tx2"/>
                </a:solidFill>
                <a:latin typeface="メイリオ" panose="020B0604030504040204" pitchFamily="50" charset="-128"/>
                <a:ea typeface="メイリオ" panose="020B0604030504040204" pitchFamily="50" charset="-128"/>
              </a:rPr>
              <a:t>各種実績の多いツール企業と連携している為、</a:t>
            </a:r>
            <a:endParaRPr lang="en-US" altLang="ja-JP" sz="1200" b="1">
              <a:solidFill>
                <a:schemeClr val="tx2"/>
              </a:solidFill>
              <a:latin typeface="メイリオ" panose="020B0604030504040204" pitchFamily="50" charset="-128"/>
              <a:ea typeface="メイリオ" panose="020B0604030504040204" pitchFamily="50" charset="-128"/>
            </a:endParaRPr>
          </a:p>
          <a:p>
            <a:pPr algn="ctr"/>
            <a:r>
              <a:rPr kumimoji="1" lang="ja-JP" altLang="en-US" sz="1200" b="1">
                <a:solidFill>
                  <a:schemeClr val="tx2"/>
                </a:solidFill>
                <a:latin typeface="メイリオ" panose="020B0604030504040204" pitchFamily="50" charset="-128"/>
                <a:ea typeface="メイリオ" panose="020B0604030504040204" pitchFamily="50" charset="-128"/>
              </a:rPr>
              <a:t>将来的</a:t>
            </a:r>
            <a:r>
              <a:rPr kumimoji="1" lang="ja-JP" altLang="en-US" sz="1200" b="1" dirty="0">
                <a:solidFill>
                  <a:schemeClr val="tx2"/>
                </a:solidFill>
                <a:latin typeface="メイリオ" panose="020B0604030504040204" pitchFamily="50" charset="-128"/>
                <a:ea typeface="メイリオ" panose="020B0604030504040204" pitchFamily="50" charset="-128"/>
              </a:rPr>
              <a:t>な運用プランに合わせてツール選定をサポート。</a:t>
            </a:r>
          </a:p>
        </p:txBody>
      </p:sp>
      <p:sp>
        <p:nvSpPr>
          <p:cNvPr id="42" name="テキスト ボックス 41">
            <a:extLst>
              <a:ext uri="{FF2B5EF4-FFF2-40B4-BE49-F238E27FC236}">
                <a16:creationId xmlns:a16="http://schemas.microsoft.com/office/drawing/2014/main" id="{D6EF5007-A21E-89B0-31EE-98FC1F7BE5FB}"/>
              </a:ext>
            </a:extLst>
          </p:cNvPr>
          <p:cNvSpPr txBox="1"/>
          <p:nvPr/>
        </p:nvSpPr>
        <p:spPr>
          <a:xfrm>
            <a:off x="5428549" y="3527412"/>
            <a:ext cx="3842445" cy="461665"/>
          </a:xfrm>
          <a:prstGeom prst="rect">
            <a:avLst/>
          </a:prstGeom>
          <a:noFill/>
        </p:spPr>
        <p:txBody>
          <a:bodyPr wrap="square">
            <a:spAutoFit/>
          </a:bodyPr>
          <a:lstStyle/>
          <a:p>
            <a:pPr algn="ctr"/>
            <a:r>
              <a:rPr lang="en-US" altLang="ja-JP" sz="1200" b="1" dirty="0">
                <a:solidFill>
                  <a:schemeClr val="tx2"/>
                </a:solidFill>
                <a:latin typeface="メイリオ" panose="020B0604030504040204" pitchFamily="50" charset="-128"/>
                <a:ea typeface="メイリオ" panose="020B0604030504040204" pitchFamily="50" charset="-128"/>
              </a:rPr>
              <a:t>DYM</a:t>
            </a:r>
            <a:r>
              <a:rPr lang="ja-JP" altLang="en-US" sz="1200" b="1" dirty="0">
                <a:solidFill>
                  <a:schemeClr val="tx2"/>
                </a:solidFill>
                <a:latin typeface="メイリオ" panose="020B0604030504040204" pitchFamily="50" charset="-128"/>
                <a:ea typeface="メイリオ" panose="020B0604030504040204" pitchFamily="50" charset="-128"/>
              </a:rPr>
              <a:t>が商流に入ることにより限定の割引プランや</a:t>
            </a:r>
            <a:endParaRPr lang="en-US" altLang="ja-JP" sz="1200" b="1" dirty="0">
              <a:solidFill>
                <a:schemeClr val="tx2"/>
              </a:solidFill>
              <a:latin typeface="メイリオ" panose="020B0604030504040204" pitchFamily="50" charset="-128"/>
              <a:ea typeface="メイリオ" panose="020B0604030504040204" pitchFamily="50" charset="-128"/>
            </a:endParaRPr>
          </a:p>
          <a:p>
            <a:pPr algn="ctr"/>
            <a:r>
              <a:rPr kumimoji="1" lang="ja-JP" altLang="en-US" sz="1200" b="1" dirty="0">
                <a:solidFill>
                  <a:schemeClr val="tx2"/>
                </a:solidFill>
                <a:latin typeface="メイリオ" panose="020B0604030504040204" pitchFamily="50" charset="-128"/>
                <a:ea typeface="メイリオ" panose="020B0604030504040204" pitchFamily="50" charset="-128"/>
              </a:rPr>
              <a:t>拡張機能（一部</a:t>
            </a:r>
            <a:r>
              <a:rPr kumimoji="1" lang="en-US" altLang="ja-JP" sz="1200" b="1" dirty="0">
                <a:solidFill>
                  <a:schemeClr val="tx2"/>
                </a:solidFill>
                <a:latin typeface="メイリオ" panose="020B0604030504040204" pitchFamily="50" charset="-128"/>
                <a:ea typeface="メイリオ" panose="020B0604030504040204" pitchFamily="50" charset="-128"/>
              </a:rPr>
              <a:t>β</a:t>
            </a:r>
            <a:r>
              <a:rPr lang="ja-JP" altLang="en-US" sz="1200" b="1" dirty="0">
                <a:solidFill>
                  <a:schemeClr val="tx2"/>
                </a:solidFill>
                <a:latin typeface="メイリオ" panose="020B0604030504040204" pitchFamily="50" charset="-128"/>
                <a:ea typeface="メイリオ" panose="020B0604030504040204" pitchFamily="50" charset="-128"/>
              </a:rPr>
              <a:t>版）の展開を可能に。</a:t>
            </a:r>
            <a:endParaRPr kumimoji="1" lang="ja-JP" altLang="en-US" sz="1200" b="1" dirty="0">
              <a:solidFill>
                <a:schemeClr val="tx2"/>
              </a:solidFill>
              <a:latin typeface="メイリオ" panose="020B0604030504040204" pitchFamily="50" charset="-128"/>
              <a:ea typeface="メイリオ" panose="020B0604030504040204" pitchFamily="50" charset="-128"/>
            </a:endParaRPr>
          </a:p>
        </p:txBody>
      </p:sp>
      <p:sp>
        <p:nvSpPr>
          <p:cNvPr id="43" name="テキスト ボックス 42">
            <a:extLst>
              <a:ext uri="{FF2B5EF4-FFF2-40B4-BE49-F238E27FC236}">
                <a16:creationId xmlns:a16="http://schemas.microsoft.com/office/drawing/2014/main" id="{674B7463-4A8E-D0FC-FDB4-5BB44B5E2FB2}"/>
              </a:ext>
            </a:extLst>
          </p:cNvPr>
          <p:cNvSpPr txBox="1"/>
          <p:nvPr/>
        </p:nvSpPr>
        <p:spPr>
          <a:xfrm>
            <a:off x="956972" y="5979246"/>
            <a:ext cx="3842445" cy="461665"/>
          </a:xfrm>
          <a:prstGeom prst="rect">
            <a:avLst/>
          </a:prstGeom>
          <a:noFill/>
        </p:spPr>
        <p:txBody>
          <a:bodyPr wrap="square">
            <a:spAutoFit/>
          </a:bodyPr>
          <a:lstStyle/>
          <a:p>
            <a:pPr algn="ctr"/>
            <a:r>
              <a:rPr lang="ja-JP" altLang="en-US" sz="1200" b="1" dirty="0">
                <a:solidFill>
                  <a:schemeClr val="tx2"/>
                </a:solidFill>
                <a:latin typeface="メイリオ" panose="020B0604030504040204" pitchFamily="50" charset="-128"/>
                <a:ea typeface="メイリオ" panose="020B0604030504040204" pitchFamily="50" charset="-128"/>
              </a:rPr>
              <a:t>運用実務におけるアウトソースとして活用し、</a:t>
            </a:r>
            <a:endParaRPr lang="en-US" altLang="ja-JP" sz="1200" b="1" dirty="0">
              <a:solidFill>
                <a:schemeClr val="tx2"/>
              </a:solidFill>
              <a:latin typeface="メイリオ" panose="020B0604030504040204" pitchFamily="50" charset="-128"/>
              <a:ea typeface="メイリオ" panose="020B0604030504040204" pitchFamily="50" charset="-128"/>
            </a:endParaRPr>
          </a:p>
          <a:p>
            <a:pPr algn="ctr"/>
            <a:r>
              <a:rPr kumimoji="1" lang="ja-JP" altLang="en-US" sz="1200" b="1" dirty="0">
                <a:solidFill>
                  <a:schemeClr val="tx2"/>
                </a:solidFill>
                <a:latin typeface="メイリオ" panose="020B0604030504040204" pitchFamily="50" charset="-128"/>
                <a:ea typeface="メイリオ" panose="020B0604030504040204" pitchFamily="50" charset="-128"/>
              </a:rPr>
              <a:t>既存の運用領域における効率化をサポート。</a:t>
            </a:r>
          </a:p>
        </p:txBody>
      </p:sp>
      <p:sp>
        <p:nvSpPr>
          <p:cNvPr id="44" name="テキスト ボックス 43">
            <a:extLst>
              <a:ext uri="{FF2B5EF4-FFF2-40B4-BE49-F238E27FC236}">
                <a16:creationId xmlns:a16="http://schemas.microsoft.com/office/drawing/2014/main" id="{C373F1E9-22BB-9E8C-628E-A261897C133F}"/>
              </a:ext>
            </a:extLst>
          </p:cNvPr>
          <p:cNvSpPr txBox="1"/>
          <p:nvPr/>
        </p:nvSpPr>
        <p:spPr>
          <a:xfrm>
            <a:off x="5428549" y="5976328"/>
            <a:ext cx="3842445" cy="461665"/>
          </a:xfrm>
          <a:prstGeom prst="rect">
            <a:avLst/>
          </a:prstGeom>
          <a:noFill/>
        </p:spPr>
        <p:txBody>
          <a:bodyPr wrap="square">
            <a:spAutoFit/>
          </a:bodyPr>
          <a:lstStyle/>
          <a:p>
            <a:pPr algn="ctr"/>
            <a:r>
              <a:rPr kumimoji="1" lang="en-US" altLang="ja-JP" sz="1200" b="1" dirty="0">
                <a:solidFill>
                  <a:schemeClr val="tx2"/>
                </a:solidFill>
                <a:latin typeface="メイリオ" panose="020B0604030504040204" pitchFamily="50" charset="-128"/>
                <a:ea typeface="メイリオ" panose="020B0604030504040204" pitchFamily="50" charset="-128"/>
              </a:rPr>
              <a:t>OAM(</a:t>
            </a:r>
            <a:r>
              <a:rPr kumimoji="1" lang="ja-JP" altLang="en-US" sz="1200" b="1" dirty="0">
                <a:solidFill>
                  <a:schemeClr val="tx2"/>
                </a:solidFill>
                <a:latin typeface="メイリオ" panose="020B0604030504040204" pitchFamily="50" charset="-128"/>
                <a:ea typeface="メイリオ" panose="020B0604030504040204" pitchFamily="50" charset="-128"/>
              </a:rPr>
              <a:t>公式管理画面</a:t>
            </a:r>
            <a:r>
              <a:rPr kumimoji="1" lang="en-US" altLang="ja-JP" sz="1200" b="1" dirty="0">
                <a:solidFill>
                  <a:schemeClr val="tx2"/>
                </a:solidFill>
                <a:latin typeface="メイリオ" panose="020B0604030504040204" pitchFamily="50" charset="-128"/>
                <a:ea typeface="メイリオ" panose="020B0604030504040204" pitchFamily="50" charset="-128"/>
              </a:rPr>
              <a:t>)</a:t>
            </a:r>
            <a:r>
              <a:rPr kumimoji="1" lang="ja-JP" altLang="en-US" sz="1200" b="1" dirty="0">
                <a:solidFill>
                  <a:schemeClr val="tx2"/>
                </a:solidFill>
                <a:latin typeface="メイリオ" panose="020B0604030504040204" pitchFamily="50" charset="-128"/>
                <a:ea typeface="メイリオ" panose="020B0604030504040204" pitchFamily="50" charset="-128"/>
              </a:rPr>
              <a:t>と併用しながらコストカット。</a:t>
            </a:r>
            <a:endParaRPr kumimoji="1" lang="en-US" altLang="ja-JP" sz="1200" b="1" dirty="0">
              <a:solidFill>
                <a:schemeClr val="tx2"/>
              </a:solidFill>
              <a:latin typeface="メイリオ" panose="020B0604030504040204" pitchFamily="50" charset="-128"/>
              <a:ea typeface="メイリオ" panose="020B0604030504040204" pitchFamily="50" charset="-128"/>
            </a:endParaRPr>
          </a:p>
          <a:p>
            <a:pPr algn="ctr"/>
            <a:r>
              <a:rPr lang="ja-JP" altLang="en-US" sz="1200" b="1" dirty="0">
                <a:solidFill>
                  <a:schemeClr val="tx2"/>
                </a:solidFill>
                <a:latin typeface="メイリオ" panose="020B0604030504040204" pitchFamily="50" charset="-128"/>
                <a:ea typeface="メイリオ" panose="020B0604030504040204" pitchFamily="50" charset="-128"/>
              </a:rPr>
              <a:t>また複数ステップ配信の組み合わせで効率化も。</a:t>
            </a:r>
            <a:endParaRPr kumimoji="1" lang="ja-JP" altLang="en-US" sz="1200" b="1" dirty="0">
              <a:solidFill>
                <a:schemeClr val="tx2"/>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0181044"/>
      </p:ext>
    </p:extLst>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図 1"/>
          <p:cNvPicPr>
            <a:picLocks noChangeAspect="1"/>
          </p:cNvPicPr>
          <p:nvPr/>
        </p:nvPicPr>
        <p:blipFill rotWithShape="1">
          <a:blip r:embed="rId2"/>
          <a:srcRect t="756" b="22252"/>
          <a:stretch>
            <a:fillRect/>
          </a:stretch>
        </p:blipFill>
        <p:spPr>
          <a:xfrm>
            <a:off x="295975" y="1723516"/>
            <a:ext cx="9387073" cy="3876095"/>
          </a:xfrm>
          <a:prstGeom prst="rect">
            <a:avLst/>
          </a:prstGeom>
        </p:spPr>
      </p:pic>
      <p:sp>
        <p:nvSpPr>
          <p:cNvPr id="4" name="Google Shape;752;p28">
            <a:extLst>
              <a:ext uri="{FF2B5EF4-FFF2-40B4-BE49-F238E27FC236}">
                <a16:creationId xmlns:a16="http://schemas.microsoft.com/office/drawing/2014/main" id="{FDC206AF-704B-C667-AC7C-8A98250C47FA}"/>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弊社の強み</a:t>
            </a:r>
          </a:p>
        </p:txBody>
      </p:sp>
      <p:sp>
        <p:nvSpPr>
          <p:cNvPr id="7" name="正方形/長方形 6">
            <a:extLst>
              <a:ext uri="{FF2B5EF4-FFF2-40B4-BE49-F238E27FC236}">
                <a16:creationId xmlns:a16="http://schemas.microsoft.com/office/drawing/2014/main" id="{5B599DE5-990B-7CA4-B34C-8BC9D9739CAB}"/>
              </a:ext>
            </a:extLst>
          </p:cNvPr>
          <p:cNvSpPr/>
          <p:nvPr/>
        </p:nvSpPr>
        <p:spPr>
          <a:xfrm>
            <a:off x="486784" y="613850"/>
            <a:ext cx="9005456" cy="67773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600" b="1" dirty="0">
                <a:solidFill>
                  <a:schemeClr val="tx1"/>
                </a:solidFill>
                <a:latin typeface="メイリオ" panose="020B0604030504040204" pitchFamily="50" charset="-128"/>
                <a:ea typeface="メイリオ" panose="020B0604030504040204" pitchFamily="50" charset="-128"/>
              </a:rPr>
              <a:t>プランニング</a:t>
            </a:r>
            <a:r>
              <a:rPr lang="en-US" altLang="ja-JP" sz="1600" b="1" dirty="0">
                <a:solidFill>
                  <a:schemeClr val="tx1"/>
                </a:solidFill>
                <a:latin typeface="メイリオ" panose="020B0604030504040204" pitchFamily="50" charset="-128"/>
                <a:ea typeface="メイリオ" panose="020B0604030504040204" pitchFamily="50" charset="-128"/>
              </a:rPr>
              <a:t>~</a:t>
            </a:r>
            <a:r>
              <a:rPr lang="ja-JP" altLang="en-US" sz="1600" b="1" dirty="0">
                <a:solidFill>
                  <a:schemeClr val="tx1"/>
                </a:solidFill>
                <a:latin typeface="メイリオ" panose="020B0604030504040204" pitchFamily="50" charset="-128"/>
                <a:ea typeface="メイリオ" panose="020B0604030504040204" pitchFamily="50" charset="-128"/>
              </a:rPr>
              <a:t>運用・クリエイティブを一気通貫で行うことで、成果にコミットしやすい体制。</a:t>
            </a:r>
            <a:endParaRPr lang="en-US" altLang="ja-JP" sz="1600" b="1" dirty="0">
              <a:solidFill>
                <a:schemeClr val="tx1"/>
              </a:solidFill>
              <a:latin typeface="メイリオ" panose="020B0604030504040204" pitchFamily="50" charset="-128"/>
              <a:ea typeface="メイリオ" panose="020B0604030504040204" pitchFamily="50" charset="-128"/>
            </a:endParaRPr>
          </a:p>
          <a:p>
            <a:pPr algn="ctr"/>
            <a:r>
              <a:rPr lang="ja-JP" altLang="en-US" sz="1600" b="1" dirty="0">
                <a:solidFill>
                  <a:schemeClr val="tx1"/>
                </a:solidFill>
                <a:latin typeface="メイリオ" panose="020B0604030504040204" pitchFamily="50" charset="-128"/>
                <a:ea typeface="メイリオ" panose="020B0604030504040204" pitchFamily="50" charset="-128"/>
              </a:rPr>
              <a:t>貴社としても窓口・依頼の工数を大きく削減しながらの施策スタートが可能です。</a:t>
            </a:r>
          </a:p>
        </p:txBody>
      </p:sp>
    </p:spTree>
    <p:extLst>
      <p:ext uri="{BB962C8B-B14F-4D97-AF65-F5344CB8AC3E}">
        <p14:creationId xmlns:p14="http://schemas.microsoft.com/office/powerpoint/2010/main" val="16457041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LeadBand"/>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anchor="ctr"/>
          <a:lstStyle/>
          <a:p>
            <a:endParaRPr lang="ja-JP"/>
          </a:p>
        </p:txBody>
      </p:sp>
      <p:cxnSp>
        <p:nvCxnSpPr>
          <p:cNvPr id="901" name="LeadBandLine"/>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902" name="TextBox 901"/>
          <p:cNvSpPr txBox="1"/>
          <p:nvPr/>
        </p:nvSpPr>
        <p:spPr>
          <a:xfrm>
            <a:off x="379976" y="635062"/>
            <a:ext cx="9160881" cy="698492"/>
          </a:xfrm>
          <a:prstGeom prst="rect">
            <a:avLst/>
          </a:prstGeom>
          <a:noFill/>
        </p:spPr>
        <p:txBody>
          <a:bodyPr wrap="square" lIns="72000" tIns="36000" rIns="72000" bIns="36000" anchor="ctr">
            <a:spAutoFit/>
          </a:bodyPr>
          <a:lstStyle/>
          <a:p>
            <a:pPr algn="ctr"/>
            <a:r>
              <a:rPr sz="1200" b="0">
                <a:solidFill>
                  <a:srgbClr val="333333"/>
                </a:solidFill>
                <a:latin typeface="メイリオ"/>
                <a:ea typeface="メイリオ"/>
                <a:cs typeface="メイリオ"/>
              </a:rPr>
              <a:t>月額は今と同じ20万円のまま、集めた友だちを予約に変える仕組みを作ります</a:t>
            </a:r>
          </a:p>
        </p:txBody>
      </p:sp>
      <p:sp>
        <p:nvSpPr>
          <p:cNvPr id="903" name="TextBox 902"/>
          <p:cNvSpPr txBox="1"/>
          <p:nvPr/>
        </p:nvSpPr>
        <p:spPr>
          <a:xfrm>
            <a:off x="548883" y="138118"/>
            <a:ext cx="7900000" cy="338554"/>
          </a:xfrm>
          <a:prstGeom prst="rect">
            <a:avLst/>
          </a:prstGeom>
          <a:noFill/>
        </p:spPr>
        <p:txBody>
          <a:bodyPr wrap="square" lIns="72000" tIns="0" rIns="72000" bIns="0" anchor="ctr">
            <a:spAutoFit/>
          </a:bodyPr>
          <a:lstStyle/>
          <a:p>
            <a:pPr algn="l"/>
            <a:r>
              <a:rPr sz="1600" b="1">
                <a:solidFill>
                  <a:srgbClr val="002060"/>
                </a:solidFill>
                <a:latin typeface="メイリオ"/>
                <a:ea typeface="メイリオ"/>
                <a:cs typeface="メイリオ"/>
              </a:rPr>
              <a:t>本日のご提案（サマリー）</a:t>
            </a:r>
          </a:p>
        </p:txBody>
      </p:sp>
      <p:sp>
        <p:nvSpPr>
          <p:cNvPr id="904" name="Rounded Rectangle 903"/>
          <p:cNvSpPr/>
          <p:nvPr/>
        </p:nvSpPr>
        <p:spPr>
          <a:xfrm>
            <a:off x="384048" y="1530000"/>
            <a:ext cx="9134856" cy="620000"/>
          </a:xfrm>
          <a:prstGeom prst="roundRect">
            <a:avLst>
              <a:gd name="adj" fmla="val 12000"/>
            </a:avLst>
          </a:prstGeom>
          <a:solidFill>
            <a:srgbClr val="24345A"/>
          </a:solidFill>
          <a:ln>
            <a:noFill/>
          </a:ln>
          <a:effectLst/>
        </p:spPr>
        <p:txBody>
          <a:bodyPr wrap="square" lIns="72000" tIns="36000" rIns="72000" bIns="36000" rtlCol="0" anchor="ctr"/>
          <a:lstStyle/>
          <a:p>
            <a:pPr algn="ctr"/>
            <a:r>
              <a:rPr sz="1300" b="1">
                <a:solidFill>
                  <a:srgbClr val="FFFFFF"/>
                </a:solidFill>
                <a:latin typeface="メイリオ"/>
                <a:ea typeface="メイリオ"/>
                <a:cs typeface="メイリオ"/>
              </a:rPr>
              <a:t>結論：</a:t>
            </a:r>
            <a:r>
              <a:rPr sz="1300" b="0">
                <a:solidFill>
                  <a:srgbClr val="FFFFFF"/>
                </a:solidFill>
                <a:latin typeface="メイリオ"/>
                <a:ea typeface="メイリオ"/>
                <a:cs typeface="メイリオ"/>
              </a:rPr>
              <a:t>CPF広告を20万円→10万円に組み替え、残り10万円で「ステップ配信」と「月1企画投稿」を回す</a:t>
            </a:r>
          </a:p>
        </p:txBody>
      </p:sp>
      <p:sp>
        <p:nvSpPr>
          <p:cNvPr id="905" name="Rounded Rectangle 904"/>
          <p:cNvSpPr/>
          <p:nvPr/>
        </p:nvSpPr>
        <p:spPr>
          <a:xfrm>
            <a:off x="384048" y="2330000"/>
            <a:ext cx="2849880" cy="2300000"/>
          </a:xfrm>
          <a:prstGeom prst="roundRect">
            <a:avLst>
              <a:gd name="adj" fmla="val 5000"/>
            </a:avLst>
          </a:prstGeom>
          <a:solidFill>
            <a:srgbClr val="EEF1F5"/>
          </a:solidFill>
          <a:ln w="12700">
            <a:solidFill>
              <a:srgbClr val="7F8896"/>
            </a:solidFill>
          </a:ln>
          <a:effectLst/>
        </p:spPr>
        <p:txBody>
          <a:bodyPr rtlCol="0" anchor="ctr"/>
          <a:lstStyle/>
          <a:p>
            <a:pPr algn="ctr"/>
            <a:endParaRPr/>
          </a:p>
        </p:txBody>
      </p:sp>
      <p:sp>
        <p:nvSpPr>
          <p:cNvPr id="906" name="Rounded Rectangle 905"/>
          <p:cNvSpPr/>
          <p:nvPr/>
        </p:nvSpPr>
        <p:spPr>
          <a:xfrm>
            <a:off x="384048" y="2330000"/>
            <a:ext cx="2849880" cy="400000"/>
          </a:xfrm>
          <a:prstGeom prst="roundRect">
            <a:avLst>
              <a:gd name="adj" fmla="val 20000"/>
            </a:avLst>
          </a:prstGeom>
          <a:solidFill>
            <a:srgbClr val="24345A"/>
          </a:solidFill>
          <a:ln>
            <a:noFill/>
          </a:ln>
          <a:effectLst/>
        </p:spPr>
        <p:txBody>
          <a:bodyPr wrap="square" lIns="72000" tIns="36000" rIns="72000" bIns="36000" rtlCol="0" anchor="ctr"/>
          <a:lstStyle/>
          <a:p>
            <a:pPr algn="ctr"/>
            <a:r>
              <a:rPr sz="1300" b="1">
                <a:solidFill>
                  <a:srgbClr val="FFFFFF"/>
                </a:solidFill>
                <a:latin typeface="メイリオ"/>
                <a:ea typeface="メイリオ"/>
                <a:cs typeface="メイリオ"/>
              </a:rPr>
              <a:t>① 予算は同額</a:t>
            </a:r>
          </a:p>
        </p:txBody>
      </p:sp>
      <p:sp>
        <p:nvSpPr>
          <p:cNvPr id="907" name="TextBox 906"/>
          <p:cNvSpPr txBox="1"/>
          <p:nvPr/>
        </p:nvSpPr>
        <p:spPr>
          <a:xfrm>
            <a:off x="444048" y="2780000"/>
            <a:ext cx="2729880" cy="1810000"/>
          </a:xfrm>
          <a:prstGeom prst="rect">
            <a:avLst/>
          </a:prstGeom>
          <a:noFill/>
        </p:spPr>
        <p:txBody>
          <a:bodyPr wrap="square" lIns="72000" tIns="36000" rIns="72000" bIns="36000" anchor="t">
            <a:spAutoFit/>
          </a:bodyPr>
          <a:lstStyle/>
          <a:p>
            <a:pPr algn="l">
              <a:spcAft>
                <a:spcPts val="400"/>
              </a:spcAft>
            </a:pPr>
            <a:r>
              <a:rPr sz="950" b="0">
                <a:solidFill>
                  <a:srgbClr val="1F3A5F"/>
                </a:solidFill>
                <a:latin typeface="メイリオ"/>
                <a:ea typeface="メイリオ"/>
                <a:cs typeface="メイリオ"/>
              </a:rPr>
              <a:t>● </a:t>
            </a:r>
            <a:r>
              <a:rPr sz="1250" b="0">
                <a:solidFill>
                  <a:srgbClr val="333333"/>
                </a:solidFill>
                <a:latin typeface="メイリオ"/>
                <a:ea typeface="メイリオ"/>
                <a:cs typeface="メイリオ"/>
              </a:rPr>
              <a:t>月額合計は現状と同じ20万円</a:t>
            </a:r>
          </a:p>
          <a:p>
            <a:pPr algn="l">
              <a:spcAft>
                <a:spcPts val="400"/>
              </a:spcAft>
            </a:pPr>
            <a:r>
              <a:rPr sz="950" b="0">
                <a:solidFill>
                  <a:srgbClr val="1F3A5F"/>
                </a:solidFill>
                <a:latin typeface="メイリオ"/>
                <a:ea typeface="メイリオ"/>
                <a:cs typeface="メイリオ"/>
              </a:rPr>
              <a:t>● </a:t>
            </a:r>
            <a:r>
              <a:rPr sz="1250" b="0">
                <a:solidFill>
                  <a:srgbClr val="333333"/>
                </a:solidFill>
                <a:latin typeface="メイリオ"/>
                <a:ea typeface="メイリオ"/>
                <a:cs typeface="メイリオ"/>
              </a:rPr>
              <a:t>CPFは10万円残すので、友だちの増加は止めない</a:t>
            </a:r>
          </a:p>
          <a:p>
            <a:pPr algn="l">
              <a:spcAft>
                <a:spcPts val="400"/>
              </a:spcAft>
            </a:pPr>
            <a:r>
              <a:rPr sz="950" b="0">
                <a:solidFill>
                  <a:srgbClr val="1F3A5F"/>
                </a:solidFill>
                <a:latin typeface="メイリオ"/>
                <a:ea typeface="メイリオ"/>
                <a:cs typeface="メイリオ"/>
              </a:rPr>
              <a:t>● </a:t>
            </a:r>
            <a:r>
              <a:rPr sz="1250" b="0">
                <a:solidFill>
                  <a:srgbClr val="333333"/>
                </a:solidFill>
                <a:latin typeface="メイリオ"/>
                <a:ea typeface="メイリオ"/>
                <a:cs typeface="メイリオ"/>
              </a:rPr>
              <a:t>初期構築25万円（一回）</a:t>
            </a:r>
          </a:p>
        </p:txBody>
      </p:sp>
      <p:sp>
        <p:nvSpPr>
          <p:cNvPr id="908" name="Rounded Rectangle 907"/>
          <p:cNvSpPr/>
          <p:nvPr/>
        </p:nvSpPr>
        <p:spPr>
          <a:xfrm>
            <a:off x="3526536" y="2330000"/>
            <a:ext cx="2849880" cy="2300000"/>
          </a:xfrm>
          <a:prstGeom prst="roundRect">
            <a:avLst>
              <a:gd name="adj" fmla="val 5000"/>
            </a:avLst>
          </a:prstGeom>
          <a:solidFill>
            <a:srgbClr val="EEF1F5"/>
          </a:solidFill>
          <a:ln w="12700">
            <a:solidFill>
              <a:srgbClr val="7F8896"/>
            </a:solidFill>
          </a:ln>
          <a:effectLst/>
        </p:spPr>
        <p:txBody>
          <a:bodyPr rtlCol="0" anchor="ctr"/>
          <a:lstStyle/>
          <a:p>
            <a:pPr algn="ctr"/>
            <a:endParaRPr/>
          </a:p>
        </p:txBody>
      </p:sp>
      <p:sp>
        <p:nvSpPr>
          <p:cNvPr id="909" name="Rounded Rectangle 908"/>
          <p:cNvSpPr/>
          <p:nvPr/>
        </p:nvSpPr>
        <p:spPr>
          <a:xfrm>
            <a:off x="3526536" y="2330000"/>
            <a:ext cx="2849880" cy="400000"/>
          </a:xfrm>
          <a:prstGeom prst="roundRect">
            <a:avLst>
              <a:gd name="adj" fmla="val 20000"/>
            </a:avLst>
          </a:prstGeom>
          <a:solidFill>
            <a:srgbClr val="06C755"/>
          </a:solidFill>
          <a:ln>
            <a:noFill/>
          </a:ln>
          <a:effectLst/>
        </p:spPr>
        <p:txBody>
          <a:bodyPr wrap="square" lIns="72000" tIns="36000" rIns="72000" bIns="36000" rtlCol="0" anchor="ctr"/>
          <a:lstStyle/>
          <a:p>
            <a:pPr algn="ctr"/>
            <a:r>
              <a:rPr sz="1300" b="1">
                <a:solidFill>
                  <a:srgbClr val="FFFFFF"/>
                </a:solidFill>
                <a:latin typeface="メイリオ"/>
                <a:ea typeface="メイリオ"/>
                <a:cs typeface="メイリオ"/>
              </a:rPr>
              <a:t>② 施策は2本柱</a:t>
            </a:r>
          </a:p>
        </p:txBody>
      </p:sp>
      <p:sp>
        <p:nvSpPr>
          <p:cNvPr id="910" name="TextBox 909"/>
          <p:cNvSpPr txBox="1"/>
          <p:nvPr/>
        </p:nvSpPr>
        <p:spPr>
          <a:xfrm>
            <a:off x="3586536" y="2780000"/>
            <a:ext cx="2729880" cy="1810000"/>
          </a:xfrm>
          <a:prstGeom prst="rect">
            <a:avLst/>
          </a:prstGeom>
          <a:noFill/>
        </p:spPr>
        <p:txBody>
          <a:bodyPr wrap="square" lIns="72000" tIns="36000" rIns="72000" bIns="36000" anchor="t">
            <a:spAutoFit/>
          </a:bodyPr>
          <a:lstStyle/>
          <a:p>
            <a:pPr algn="l">
              <a:spcAft>
                <a:spcPts val="400"/>
              </a:spcAft>
            </a:pPr>
            <a:r>
              <a:rPr sz="950" b="0">
                <a:solidFill>
                  <a:srgbClr val="06C755"/>
                </a:solidFill>
                <a:latin typeface="メイリオ"/>
                <a:ea typeface="メイリオ"/>
                <a:cs typeface="メイリオ"/>
              </a:rPr>
              <a:t>● </a:t>
            </a:r>
            <a:r>
              <a:rPr sz="1250" b="0">
                <a:solidFill>
                  <a:srgbClr val="333333"/>
                </a:solidFill>
                <a:latin typeface="メイリオ"/>
                <a:ea typeface="メイリオ"/>
                <a:cs typeface="メイリオ"/>
              </a:rPr>
              <a:t>ステップ配信：友だち追加から30日・6通で初回予約へ</a:t>
            </a:r>
          </a:p>
          <a:p>
            <a:pPr algn="l">
              <a:spcAft>
                <a:spcPts val="400"/>
              </a:spcAft>
            </a:pPr>
            <a:r>
              <a:rPr sz="950" b="0">
                <a:solidFill>
                  <a:srgbClr val="06C755"/>
                </a:solidFill>
                <a:latin typeface="メイリオ"/>
                <a:ea typeface="メイリオ"/>
                <a:cs typeface="メイリオ"/>
              </a:rPr>
              <a:t>● </a:t>
            </a:r>
            <a:r>
              <a:rPr sz="1250" b="0">
                <a:solidFill>
                  <a:srgbClr val="333333"/>
                </a:solidFill>
                <a:latin typeface="メイリオ"/>
                <a:ea typeface="メイリオ"/>
                <a:cs typeface="メイリオ"/>
              </a:rPr>
              <a:t>月1企画投稿：季節ごとに「行く理由」を届ける</a:t>
            </a:r>
          </a:p>
          <a:p>
            <a:pPr algn="l">
              <a:spcAft>
                <a:spcPts val="400"/>
              </a:spcAft>
            </a:pPr>
            <a:r>
              <a:rPr sz="950" b="0">
                <a:solidFill>
                  <a:srgbClr val="06C755"/>
                </a:solidFill>
                <a:latin typeface="メイリオ"/>
                <a:ea typeface="メイリオ"/>
                <a:cs typeface="メイリオ"/>
              </a:rPr>
              <a:t>● </a:t>
            </a:r>
            <a:r>
              <a:rPr sz="1250" b="0">
                <a:solidFill>
                  <a:srgbClr val="333333"/>
                </a:solidFill>
                <a:latin typeface="メイリオ"/>
                <a:ea typeface="メイリオ"/>
                <a:cs typeface="メイリオ"/>
              </a:rPr>
              <a:t>ツールは導入済みのtunaとLINE標準機能のみ</a:t>
            </a:r>
          </a:p>
        </p:txBody>
      </p:sp>
      <p:sp>
        <p:nvSpPr>
          <p:cNvPr id="911" name="Rounded Rectangle 910"/>
          <p:cNvSpPr/>
          <p:nvPr/>
        </p:nvSpPr>
        <p:spPr>
          <a:xfrm>
            <a:off x="6669024" y="2330000"/>
            <a:ext cx="2849880" cy="2300000"/>
          </a:xfrm>
          <a:prstGeom prst="roundRect">
            <a:avLst>
              <a:gd name="adj" fmla="val 5000"/>
            </a:avLst>
          </a:prstGeom>
          <a:solidFill>
            <a:srgbClr val="EEF1F5"/>
          </a:solidFill>
          <a:ln w="12700">
            <a:solidFill>
              <a:srgbClr val="7F8896"/>
            </a:solidFill>
          </a:ln>
          <a:effectLst/>
        </p:spPr>
        <p:txBody>
          <a:bodyPr rtlCol="0" anchor="ctr"/>
          <a:lstStyle/>
          <a:p>
            <a:pPr algn="ctr"/>
            <a:endParaRPr/>
          </a:p>
        </p:txBody>
      </p:sp>
      <p:sp>
        <p:nvSpPr>
          <p:cNvPr id="912" name="Rounded Rectangle 911"/>
          <p:cNvSpPr/>
          <p:nvPr/>
        </p:nvSpPr>
        <p:spPr>
          <a:xfrm>
            <a:off x="6669024" y="2330000"/>
            <a:ext cx="2849880" cy="400000"/>
          </a:xfrm>
          <a:prstGeom prst="roundRect">
            <a:avLst>
              <a:gd name="adj" fmla="val 20000"/>
            </a:avLst>
          </a:prstGeom>
          <a:solidFill>
            <a:srgbClr val="24345A"/>
          </a:solidFill>
          <a:ln>
            <a:noFill/>
          </a:ln>
          <a:effectLst/>
        </p:spPr>
        <p:txBody>
          <a:bodyPr wrap="square" lIns="72000" tIns="36000" rIns="72000" bIns="36000" rtlCol="0" anchor="ctr"/>
          <a:lstStyle/>
          <a:p>
            <a:pPr algn="ctr"/>
            <a:r>
              <a:rPr sz="1300" b="1">
                <a:solidFill>
                  <a:srgbClr val="FFFFFF"/>
                </a:solidFill>
                <a:latin typeface="メイリオ"/>
                <a:ea typeface="メイリオ"/>
                <a:cs typeface="メイリオ"/>
              </a:rPr>
              <a:t>③ 半年でCV約50件</a:t>
            </a:r>
          </a:p>
        </p:txBody>
      </p:sp>
      <p:sp>
        <p:nvSpPr>
          <p:cNvPr id="913" name="TextBox 912"/>
          <p:cNvSpPr txBox="1"/>
          <p:nvPr/>
        </p:nvSpPr>
        <p:spPr>
          <a:xfrm>
            <a:off x="6729024" y="2780000"/>
            <a:ext cx="2729880" cy="1810000"/>
          </a:xfrm>
          <a:prstGeom prst="rect">
            <a:avLst/>
          </a:prstGeom>
          <a:noFill/>
        </p:spPr>
        <p:txBody>
          <a:bodyPr wrap="square" lIns="72000" tIns="36000" rIns="72000" bIns="36000" anchor="t">
            <a:spAutoFit/>
          </a:bodyPr>
          <a:lstStyle/>
          <a:p>
            <a:pPr algn="l">
              <a:spcAft>
                <a:spcPts val="400"/>
              </a:spcAft>
            </a:pPr>
            <a:r>
              <a:rPr sz="950" b="0">
                <a:solidFill>
                  <a:srgbClr val="1F3A5F"/>
                </a:solidFill>
                <a:latin typeface="メイリオ"/>
                <a:ea typeface="メイリオ"/>
                <a:cs typeface="メイリオ"/>
              </a:rPr>
              <a:t>● </a:t>
            </a:r>
            <a:r>
              <a:rPr sz="1250" b="0">
                <a:solidFill>
                  <a:srgbClr val="333333"/>
                </a:solidFill>
                <a:latin typeface="メイリオ"/>
                <a:ea typeface="メイリオ"/>
                <a:cs typeface="メイリオ"/>
              </a:rPr>
              <a:t>12月スタート・6ヶ月の試算（中位ケース）</a:t>
            </a:r>
          </a:p>
          <a:p>
            <a:pPr algn="l">
              <a:spcAft>
                <a:spcPts val="400"/>
              </a:spcAft>
            </a:pPr>
            <a:r>
              <a:rPr sz="950" b="0">
                <a:solidFill>
                  <a:srgbClr val="1F3A5F"/>
                </a:solidFill>
                <a:latin typeface="メイリオ"/>
                <a:ea typeface="メイリオ"/>
                <a:cs typeface="メイリオ"/>
              </a:rPr>
              <a:t>● </a:t>
            </a:r>
            <a:r>
              <a:rPr sz="1250" b="0">
                <a:solidFill>
                  <a:srgbClr val="333333"/>
                </a:solidFill>
                <a:latin typeface="メイリオ"/>
                <a:ea typeface="メイリオ"/>
                <a:cs typeface="メイリオ"/>
              </a:rPr>
              <a:t>休眠の掘り起こし約30件＋新規約20件</a:t>
            </a:r>
          </a:p>
          <a:p>
            <a:pPr algn="l">
              <a:spcAft>
                <a:spcPts val="400"/>
              </a:spcAft>
            </a:pPr>
            <a:r>
              <a:rPr sz="950" b="0">
                <a:solidFill>
                  <a:srgbClr val="1F3A5F"/>
                </a:solidFill>
                <a:latin typeface="メイリオ"/>
                <a:ea typeface="メイリオ"/>
                <a:cs typeface="メイリオ"/>
              </a:rPr>
              <a:t>● </a:t>
            </a:r>
            <a:r>
              <a:rPr sz="1250" b="0">
                <a:solidFill>
                  <a:srgbClr val="333333"/>
                </a:solidFill>
                <a:latin typeface="メイリオ"/>
                <a:ea typeface="メイリオ"/>
                <a:cs typeface="メイリオ"/>
              </a:rPr>
              <a:t>低39件〜高60件のレンジ</a:t>
            </a:r>
          </a:p>
        </p:txBody>
      </p:sp>
      <p:sp>
        <p:nvSpPr>
          <p:cNvPr id="914" name="TextBox 913"/>
          <p:cNvSpPr txBox="1"/>
          <p:nvPr/>
        </p:nvSpPr>
        <p:spPr>
          <a:xfrm>
            <a:off x="384048" y="4780000"/>
            <a:ext cx="9134856" cy="300000"/>
          </a:xfrm>
          <a:prstGeom prst="rect">
            <a:avLst/>
          </a:prstGeom>
          <a:noFill/>
        </p:spPr>
        <p:txBody>
          <a:bodyPr wrap="square" lIns="72000" tIns="36000" rIns="72000" bIns="36000" anchor="t">
            <a:spAutoFit/>
          </a:bodyPr>
          <a:lstStyle/>
          <a:p>
            <a:pPr algn="l"/>
            <a:r>
              <a:rPr sz="900" b="0">
                <a:solidFill>
                  <a:srgbClr val="555555"/>
                </a:solidFill>
                <a:latin typeface="メイリオ"/>
                <a:ea typeface="メイリオ"/>
                <a:cs typeface="メイリオ"/>
              </a:rPr>
              <a:t>※CV数は仮置きの前提による試算です。実数をいただいて精緻化します（P.27）</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883" y="138118"/>
            <a:ext cx="7900000" cy="338554"/>
          </a:xfrm>
          <a:prstGeom prst="rect">
            <a:avLst/>
          </a:prstGeom>
          <a:noFill/>
        </p:spPr>
        <p:txBody>
          <a:bodyPr wrap="square" lIns="72000" tIns="0" rIns="72000" bIns="0" anchor="ctr">
            <a:spAutoFit/>
          </a:bodyPr>
          <a:lstStyle/>
          <a:p>
            <a:pPr algn="l"/>
            <a:r>
              <a:rPr sz="1600" b="1">
                <a:solidFill>
                  <a:srgbClr val="002060"/>
                </a:solidFill>
                <a:latin typeface="メイリオ"/>
                <a:ea typeface="メイリオ"/>
                <a:cs typeface="メイリオ"/>
              </a:rPr>
              <a:t>資料アジェンダ</a:t>
            </a:r>
          </a:p>
        </p:txBody>
      </p:sp>
      <p:sp>
        <p:nvSpPr>
          <p:cNvPr id="3" name="TextBox 2"/>
          <p:cNvSpPr txBox="1"/>
          <p:nvPr/>
        </p:nvSpPr>
        <p:spPr>
          <a:xfrm>
            <a:off x="384048" y="2350000"/>
            <a:ext cx="9134856" cy="360000"/>
          </a:xfrm>
          <a:prstGeom prst="rect">
            <a:avLst/>
          </a:prstGeom>
          <a:noFill/>
        </p:spPr>
        <p:txBody>
          <a:bodyPr wrap="square" lIns="72000" tIns="36000" rIns="72000" bIns="36000" anchor="ctr">
            <a:spAutoFit/>
          </a:bodyPr>
          <a:lstStyle/>
          <a:p>
            <a:pPr algn="ctr"/>
            <a:r>
              <a:rPr sz="1200" b="1">
                <a:solidFill>
                  <a:srgbClr val="7F8896"/>
                </a:solidFill>
                <a:latin typeface="メイリオ"/>
                <a:ea typeface="メイリオ"/>
                <a:cs typeface="メイリオ"/>
              </a:rPr>
              <a:t>SECTION 1</a:t>
            </a:r>
          </a:p>
        </p:txBody>
      </p:sp>
      <p:sp>
        <p:nvSpPr>
          <p:cNvPr id="4" name="TextBox 3"/>
          <p:cNvSpPr txBox="1"/>
          <p:nvPr/>
        </p:nvSpPr>
        <p:spPr>
          <a:xfrm>
            <a:off x="384048" y="2750000"/>
            <a:ext cx="9134856" cy="700000"/>
          </a:xfrm>
          <a:prstGeom prst="rect">
            <a:avLst/>
          </a:prstGeom>
          <a:noFill/>
        </p:spPr>
        <p:txBody>
          <a:bodyPr wrap="square" lIns="72000" tIns="36000" rIns="72000" bIns="36000" anchor="ctr">
            <a:spAutoFit/>
          </a:bodyPr>
          <a:lstStyle/>
          <a:p>
            <a:pPr algn="ctr"/>
            <a:r>
              <a:rPr sz="3200" b="1">
                <a:solidFill>
                  <a:srgbClr val="404040"/>
                </a:solidFill>
                <a:latin typeface="メイリオ"/>
                <a:ea typeface="メイリオ"/>
                <a:cs typeface="メイリオ"/>
              </a:rPr>
              <a:t>現状と課題</a:t>
            </a:r>
          </a:p>
        </p:txBody>
      </p:sp>
      <p:sp>
        <p:nvSpPr>
          <p:cNvPr id="5" name="TextBox 4"/>
          <p:cNvSpPr txBox="1"/>
          <p:nvPr/>
        </p:nvSpPr>
        <p:spPr>
          <a:xfrm>
            <a:off x="384048" y="3563621"/>
            <a:ext cx="9134856" cy="272758"/>
          </a:xfrm>
          <a:prstGeom prst="rect">
            <a:avLst/>
          </a:prstGeom>
          <a:noFill/>
        </p:spPr>
        <p:txBody>
          <a:bodyPr wrap="square" lIns="72000" tIns="36000" rIns="72000" bIns="36000" anchor="ctr">
            <a:spAutoFit/>
          </a:bodyPr>
          <a:lstStyle/>
          <a:p>
            <a:pPr algn="ctr"/>
            <a:r>
              <a:rPr lang="en-US" altLang="ja-JP" sz="1300" b="0" dirty="0">
                <a:solidFill>
                  <a:srgbClr val="7F7F7F"/>
                </a:solidFill>
                <a:latin typeface="メイリオ"/>
                <a:ea typeface="メイリオ"/>
                <a:cs typeface="メイリオ"/>
              </a:rPr>
              <a:t>CPF</a:t>
            </a:r>
            <a:r>
              <a:rPr lang="ja-JP" altLang="en-US" sz="1300" b="0" dirty="0">
                <a:solidFill>
                  <a:srgbClr val="7F7F7F"/>
                </a:solidFill>
                <a:latin typeface="メイリオ"/>
                <a:ea typeface="メイリオ"/>
                <a:cs typeface="メイリオ"/>
              </a:rPr>
              <a:t>で集めたともだちを有効リードへ引き上げる</a:t>
            </a:r>
            <a:r>
              <a:rPr sz="1300" b="0" dirty="0">
                <a:solidFill>
                  <a:srgbClr val="7F7F7F"/>
                </a:solidFill>
                <a:latin typeface="メイリオ"/>
                <a:ea typeface="メイリオ"/>
                <a:cs typeface="メイリオ"/>
              </a:rPr>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LeadBand"/>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anchor="ctr"/>
          <a:lstStyle/>
          <a:p>
            <a:endParaRPr lang="ja-JP"/>
          </a:p>
        </p:txBody>
      </p:sp>
      <p:cxnSp>
        <p:nvCxnSpPr>
          <p:cNvPr id="901" name="LeadBandLine"/>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902" name="TextBox 901"/>
          <p:cNvSpPr txBox="1"/>
          <p:nvPr/>
        </p:nvSpPr>
        <p:spPr>
          <a:xfrm>
            <a:off x="379976" y="635062"/>
            <a:ext cx="9160881" cy="698492"/>
          </a:xfrm>
          <a:prstGeom prst="rect">
            <a:avLst/>
          </a:prstGeom>
          <a:noFill/>
        </p:spPr>
        <p:txBody>
          <a:bodyPr wrap="square" lIns="72000" tIns="36000" rIns="72000" bIns="36000" anchor="ctr">
            <a:spAutoFit/>
          </a:bodyPr>
          <a:lstStyle/>
          <a:p>
            <a:pPr algn="ctr"/>
            <a:r>
              <a:rPr sz="1200" b="0">
                <a:solidFill>
                  <a:srgbClr val="333333"/>
                </a:solidFill>
                <a:latin typeface="メイリオ"/>
                <a:ea typeface="メイリオ"/>
                <a:cs typeface="メイリオ"/>
              </a:rPr>
              <a:t>友だち・会員制度・ツール・集客導線はすでにある。足りないのは「中身の設計」です</a:t>
            </a:r>
          </a:p>
        </p:txBody>
      </p:sp>
      <p:sp>
        <p:nvSpPr>
          <p:cNvPr id="903" name="TextBox 902"/>
          <p:cNvSpPr txBox="1"/>
          <p:nvPr/>
        </p:nvSpPr>
        <p:spPr>
          <a:xfrm>
            <a:off x="548883" y="138118"/>
            <a:ext cx="7900000" cy="338554"/>
          </a:xfrm>
          <a:prstGeom prst="rect">
            <a:avLst/>
          </a:prstGeom>
          <a:noFill/>
        </p:spPr>
        <p:txBody>
          <a:bodyPr wrap="square" lIns="72000" tIns="0" rIns="72000" bIns="0" anchor="ctr">
            <a:spAutoFit/>
          </a:bodyPr>
          <a:lstStyle/>
          <a:p>
            <a:pPr algn="l"/>
            <a:r>
              <a:rPr sz="1600" b="1">
                <a:solidFill>
                  <a:srgbClr val="002060"/>
                </a:solidFill>
                <a:latin typeface="メイリオ"/>
                <a:ea typeface="メイリオ"/>
                <a:cs typeface="メイリオ"/>
              </a:rPr>
              <a:t>現状：LINEの資産はすでに揃っている</a:t>
            </a:r>
          </a:p>
        </p:txBody>
      </p:sp>
      <p:sp>
        <p:nvSpPr>
          <p:cNvPr id="904" name="Rounded Rectangle 903"/>
          <p:cNvSpPr/>
          <p:nvPr/>
        </p:nvSpPr>
        <p:spPr>
          <a:xfrm>
            <a:off x="384048" y="1630000"/>
            <a:ext cx="2150000" cy="2800000"/>
          </a:xfrm>
          <a:prstGeom prst="roundRect">
            <a:avLst>
              <a:gd name="adj" fmla="val 5000"/>
            </a:avLst>
          </a:prstGeom>
          <a:solidFill>
            <a:srgbClr val="EEF1F5"/>
          </a:solidFill>
          <a:ln w="12700">
            <a:solidFill>
              <a:srgbClr val="7F8896"/>
            </a:solidFill>
          </a:ln>
          <a:effectLst/>
        </p:spPr>
        <p:txBody>
          <a:bodyPr rtlCol="0" anchor="ctr"/>
          <a:lstStyle/>
          <a:p>
            <a:pPr algn="ctr"/>
            <a:endParaRPr/>
          </a:p>
        </p:txBody>
      </p:sp>
      <p:sp>
        <p:nvSpPr>
          <p:cNvPr id="905" name="Rounded Rectangle 904"/>
          <p:cNvSpPr/>
          <p:nvPr/>
        </p:nvSpPr>
        <p:spPr>
          <a:xfrm>
            <a:off x="384048" y="1630000"/>
            <a:ext cx="2150000" cy="400000"/>
          </a:xfrm>
          <a:prstGeom prst="roundRect">
            <a:avLst>
              <a:gd name="adj" fmla="val 20000"/>
            </a:avLst>
          </a:prstGeom>
          <a:solidFill>
            <a:srgbClr val="24345A"/>
          </a:solidFill>
          <a:ln>
            <a:noFill/>
          </a:ln>
          <a:effectLst/>
        </p:spPr>
        <p:txBody>
          <a:bodyPr wrap="square" lIns="72000" tIns="36000" rIns="72000" bIns="36000" rtlCol="0" anchor="ctr"/>
          <a:lstStyle/>
          <a:p>
            <a:pPr algn="ctr"/>
            <a:r>
              <a:rPr sz="1300" b="1">
                <a:solidFill>
                  <a:srgbClr val="FFFFFF"/>
                </a:solidFill>
                <a:latin typeface="メイリオ"/>
                <a:ea typeface="メイリオ"/>
                <a:cs typeface="メイリオ"/>
              </a:rPr>
              <a:t>友だち数</a:t>
            </a:r>
          </a:p>
        </p:txBody>
      </p:sp>
      <p:sp>
        <p:nvSpPr>
          <p:cNvPr id="906" name="TextBox 905"/>
          <p:cNvSpPr txBox="1"/>
          <p:nvPr/>
        </p:nvSpPr>
        <p:spPr>
          <a:xfrm>
            <a:off x="384048" y="2330000"/>
            <a:ext cx="2150000" cy="600000"/>
          </a:xfrm>
          <a:prstGeom prst="rect">
            <a:avLst/>
          </a:prstGeom>
          <a:noFill/>
        </p:spPr>
        <p:txBody>
          <a:bodyPr wrap="square" lIns="72000" tIns="36000" rIns="72000" bIns="36000" anchor="ctr">
            <a:spAutoFit/>
          </a:bodyPr>
          <a:lstStyle/>
          <a:p>
            <a:pPr algn="ctr"/>
            <a:r>
              <a:rPr sz="1900" b="1">
                <a:solidFill>
                  <a:srgbClr val="C00000"/>
                </a:solidFill>
                <a:latin typeface="メイリオ"/>
                <a:ea typeface="メイリオ"/>
                <a:cs typeface="メイリオ"/>
              </a:rPr>
              <a:t>35,154人</a:t>
            </a:r>
          </a:p>
        </p:txBody>
      </p:sp>
      <p:sp>
        <p:nvSpPr>
          <p:cNvPr id="907" name="TextBox 906"/>
          <p:cNvSpPr txBox="1"/>
          <p:nvPr/>
        </p:nvSpPr>
        <p:spPr>
          <a:xfrm>
            <a:off x="464048" y="3130000"/>
            <a:ext cx="1990000" cy="1600000"/>
          </a:xfrm>
          <a:prstGeom prst="rect">
            <a:avLst/>
          </a:prstGeom>
          <a:noFill/>
        </p:spPr>
        <p:txBody>
          <a:bodyPr wrap="square" lIns="72000" tIns="36000" rIns="72000" bIns="36000" anchor="t">
            <a:spAutoFit/>
          </a:bodyPr>
          <a:lstStyle/>
          <a:p>
            <a:pPr algn="ctr"/>
            <a:r>
              <a:rPr sz="1100" b="0">
                <a:solidFill>
                  <a:srgbClr val="333333"/>
                </a:solidFill>
                <a:latin typeface="メイリオ"/>
                <a:ea typeface="メイリオ"/>
                <a:cs typeface="メイリオ"/>
              </a:rPr>
              <a:t>（2026年10月20日時点）</a:t>
            </a:r>
          </a:p>
          <a:p>
            <a:pPr algn="ctr"/>
            <a:r>
              <a:rPr sz="1100" b="0">
                <a:solidFill>
                  <a:srgbClr val="333333"/>
                </a:solidFill>
                <a:latin typeface="メイリオ"/>
                <a:ea typeface="メイリオ"/>
                <a:cs typeface="メイリオ"/>
              </a:rPr>
              <a:t>サイトの全ページバナーから継続的に流入</a:t>
            </a:r>
          </a:p>
        </p:txBody>
      </p:sp>
      <p:sp>
        <p:nvSpPr>
          <p:cNvPr id="908" name="Rounded Rectangle 907"/>
          <p:cNvSpPr/>
          <p:nvPr/>
        </p:nvSpPr>
        <p:spPr>
          <a:xfrm>
            <a:off x="2712333" y="1630000"/>
            <a:ext cx="2150000" cy="2800000"/>
          </a:xfrm>
          <a:prstGeom prst="roundRect">
            <a:avLst>
              <a:gd name="adj" fmla="val 5000"/>
            </a:avLst>
          </a:prstGeom>
          <a:solidFill>
            <a:srgbClr val="EEF1F5"/>
          </a:solidFill>
          <a:ln w="12700">
            <a:solidFill>
              <a:srgbClr val="7F8896"/>
            </a:solidFill>
          </a:ln>
          <a:effectLst/>
        </p:spPr>
        <p:txBody>
          <a:bodyPr rtlCol="0" anchor="ctr"/>
          <a:lstStyle/>
          <a:p>
            <a:pPr algn="ctr"/>
            <a:endParaRPr/>
          </a:p>
        </p:txBody>
      </p:sp>
      <p:sp>
        <p:nvSpPr>
          <p:cNvPr id="909" name="Rounded Rectangle 908"/>
          <p:cNvSpPr/>
          <p:nvPr/>
        </p:nvSpPr>
        <p:spPr>
          <a:xfrm>
            <a:off x="2712333" y="1630000"/>
            <a:ext cx="2150000" cy="400000"/>
          </a:xfrm>
          <a:prstGeom prst="roundRect">
            <a:avLst>
              <a:gd name="adj" fmla="val 20000"/>
            </a:avLst>
          </a:prstGeom>
          <a:solidFill>
            <a:srgbClr val="24345A"/>
          </a:solidFill>
          <a:ln>
            <a:noFill/>
          </a:ln>
          <a:effectLst/>
        </p:spPr>
        <p:txBody>
          <a:bodyPr wrap="square" lIns="72000" tIns="36000" rIns="72000" bIns="36000" rtlCol="0" anchor="ctr"/>
          <a:lstStyle/>
          <a:p>
            <a:pPr algn="ctr"/>
            <a:r>
              <a:rPr sz="1300" b="1">
                <a:solidFill>
                  <a:srgbClr val="FFFFFF"/>
                </a:solidFill>
                <a:latin typeface="メイリオ"/>
                <a:ea typeface="メイリオ"/>
                <a:cs typeface="メイリオ"/>
              </a:rPr>
              <a:t>会員制度</a:t>
            </a:r>
          </a:p>
        </p:txBody>
      </p:sp>
      <p:sp>
        <p:nvSpPr>
          <p:cNvPr id="910" name="TextBox 909"/>
          <p:cNvSpPr txBox="1"/>
          <p:nvPr/>
        </p:nvSpPr>
        <p:spPr>
          <a:xfrm>
            <a:off x="2712333" y="2330000"/>
            <a:ext cx="2150000" cy="600000"/>
          </a:xfrm>
          <a:prstGeom prst="rect">
            <a:avLst/>
          </a:prstGeom>
          <a:noFill/>
        </p:spPr>
        <p:txBody>
          <a:bodyPr wrap="square" lIns="72000" tIns="36000" rIns="72000" bIns="36000" anchor="ctr">
            <a:spAutoFit/>
          </a:bodyPr>
          <a:lstStyle/>
          <a:p>
            <a:pPr algn="ctr"/>
            <a:r>
              <a:rPr sz="1900" b="1">
                <a:solidFill>
                  <a:srgbClr val="C00000"/>
                </a:solidFill>
                <a:latin typeface="メイリオ"/>
                <a:ea typeface="メイリオ"/>
                <a:cs typeface="メイリオ"/>
              </a:rPr>
              <a:t>倶楽部メンバーズ</a:t>
            </a:r>
          </a:p>
        </p:txBody>
      </p:sp>
      <p:sp>
        <p:nvSpPr>
          <p:cNvPr id="911" name="TextBox 910"/>
          <p:cNvSpPr txBox="1"/>
          <p:nvPr/>
        </p:nvSpPr>
        <p:spPr>
          <a:xfrm>
            <a:off x="2792333" y="3130000"/>
            <a:ext cx="1990000" cy="1600000"/>
          </a:xfrm>
          <a:prstGeom prst="rect">
            <a:avLst/>
          </a:prstGeom>
          <a:noFill/>
        </p:spPr>
        <p:txBody>
          <a:bodyPr wrap="square" lIns="72000" tIns="36000" rIns="72000" bIns="36000" anchor="t">
            <a:spAutoFit/>
          </a:bodyPr>
          <a:lstStyle/>
          <a:p>
            <a:pPr algn="ctr"/>
            <a:r>
              <a:rPr sz="1100" b="0">
                <a:solidFill>
                  <a:srgbClr val="333333"/>
                </a:solidFill>
                <a:latin typeface="メイリオ"/>
                <a:ea typeface="メイリオ"/>
                <a:cs typeface="メイリオ"/>
              </a:rPr>
              <a:t>LINEから会員登録</a:t>
            </a:r>
          </a:p>
          <a:p>
            <a:pPr algn="ctr"/>
            <a:r>
              <a:rPr sz="1100" b="0">
                <a:solidFill>
                  <a:srgbClr val="333333"/>
                </a:solidFill>
                <a:latin typeface="メイリオ"/>
                <a:ea typeface="メイリオ"/>
                <a:cs typeface="メイリオ"/>
              </a:rPr>
              <a:t>最大12,000円OFFクーポン、スタンプ、</a:t>
            </a:r>
          </a:p>
          <a:p>
            <a:pPr algn="ctr"/>
            <a:r>
              <a:rPr sz="1100" b="0">
                <a:solidFill>
                  <a:srgbClr val="333333"/>
                </a:solidFill>
                <a:latin typeface="メイリオ"/>
                <a:ea typeface="メイリオ"/>
                <a:cs typeface="メイリオ"/>
              </a:rPr>
              <a:t>シークレットプランなど</a:t>
            </a:r>
          </a:p>
        </p:txBody>
      </p:sp>
      <p:sp>
        <p:nvSpPr>
          <p:cNvPr id="912" name="Rounded Rectangle 911"/>
          <p:cNvSpPr/>
          <p:nvPr/>
        </p:nvSpPr>
        <p:spPr>
          <a:xfrm>
            <a:off x="5040618" y="1630000"/>
            <a:ext cx="2150000" cy="2800000"/>
          </a:xfrm>
          <a:prstGeom prst="roundRect">
            <a:avLst>
              <a:gd name="adj" fmla="val 5000"/>
            </a:avLst>
          </a:prstGeom>
          <a:solidFill>
            <a:srgbClr val="EEF1F5"/>
          </a:solidFill>
          <a:ln w="12700">
            <a:solidFill>
              <a:srgbClr val="7F8896"/>
            </a:solidFill>
          </a:ln>
          <a:effectLst/>
        </p:spPr>
        <p:txBody>
          <a:bodyPr rtlCol="0" anchor="ctr"/>
          <a:lstStyle/>
          <a:p>
            <a:pPr algn="ctr"/>
            <a:endParaRPr/>
          </a:p>
        </p:txBody>
      </p:sp>
      <p:sp>
        <p:nvSpPr>
          <p:cNvPr id="913" name="Rounded Rectangle 912"/>
          <p:cNvSpPr/>
          <p:nvPr/>
        </p:nvSpPr>
        <p:spPr>
          <a:xfrm>
            <a:off x="5040618" y="1630000"/>
            <a:ext cx="2150000" cy="400000"/>
          </a:xfrm>
          <a:prstGeom prst="roundRect">
            <a:avLst>
              <a:gd name="adj" fmla="val 20000"/>
            </a:avLst>
          </a:prstGeom>
          <a:solidFill>
            <a:srgbClr val="24345A"/>
          </a:solidFill>
          <a:ln>
            <a:noFill/>
          </a:ln>
          <a:effectLst/>
        </p:spPr>
        <p:txBody>
          <a:bodyPr wrap="square" lIns="72000" tIns="36000" rIns="72000" bIns="36000" rtlCol="0" anchor="ctr"/>
          <a:lstStyle/>
          <a:p>
            <a:pPr algn="ctr"/>
            <a:r>
              <a:rPr sz="1300" b="1">
                <a:solidFill>
                  <a:srgbClr val="FFFFFF"/>
                </a:solidFill>
                <a:latin typeface="メイリオ"/>
                <a:ea typeface="メイリオ"/>
                <a:cs typeface="メイリオ"/>
              </a:rPr>
              <a:t>ツール</a:t>
            </a:r>
          </a:p>
        </p:txBody>
      </p:sp>
      <p:sp>
        <p:nvSpPr>
          <p:cNvPr id="914" name="TextBox 913"/>
          <p:cNvSpPr txBox="1"/>
          <p:nvPr/>
        </p:nvSpPr>
        <p:spPr>
          <a:xfrm>
            <a:off x="5040618" y="2330000"/>
            <a:ext cx="2150000" cy="600000"/>
          </a:xfrm>
          <a:prstGeom prst="rect">
            <a:avLst/>
          </a:prstGeom>
          <a:noFill/>
        </p:spPr>
        <p:txBody>
          <a:bodyPr wrap="square" lIns="72000" tIns="36000" rIns="72000" bIns="36000" anchor="ctr">
            <a:spAutoFit/>
          </a:bodyPr>
          <a:lstStyle/>
          <a:p>
            <a:pPr algn="ctr"/>
            <a:r>
              <a:rPr sz="1900" b="1">
                <a:solidFill>
                  <a:srgbClr val="C00000"/>
                </a:solidFill>
                <a:latin typeface="メイリオ"/>
                <a:ea typeface="メイリオ"/>
                <a:cs typeface="メイリオ"/>
              </a:rPr>
              <a:t>tuna 導入済み</a:t>
            </a:r>
          </a:p>
        </p:txBody>
      </p:sp>
      <p:sp>
        <p:nvSpPr>
          <p:cNvPr id="915" name="TextBox 914"/>
          <p:cNvSpPr txBox="1"/>
          <p:nvPr/>
        </p:nvSpPr>
        <p:spPr>
          <a:xfrm>
            <a:off x="5120618" y="3130000"/>
            <a:ext cx="1990000" cy="1600000"/>
          </a:xfrm>
          <a:prstGeom prst="rect">
            <a:avLst/>
          </a:prstGeom>
          <a:noFill/>
        </p:spPr>
        <p:txBody>
          <a:bodyPr wrap="square" lIns="72000" tIns="36000" rIns="72000" bIns="36000" anchor="t">
            <a:spAutoFit/>
          </a:bodyPr>
          <a:lstStyle/>
          <a:p>
            <a:pPr algn="ctr"/>
            <a:r>
              <a:rPr sz="1100" b="0">
                <a:solidFill>
                  <a:srgbClr val="333333"/>
                </a:solidFill>
                <a:latin typeface="メイリオ"/>
                <a:ea typeface="メイリオ"/>
                <a:cs typeface="メイリオ"/>
              </a:rPr>
              <a:t>予約情報とLINE IDの紐付け、</a:t>
            </a:r>
          </a:p>
          <a:p>
            <a:pPr algn="ctr"/>
            <a:r>
              <a:rPr sz="1100" b="0">
                <a:solidFill>
                  <a:srgbClr val="333333"/>
                </a:solidFill>
                <a:latin typeface="メイリオ"/>
                <a:ea typeface="メイリオ"/>
                <a:cs typeface="メイリオ"/>
              </a:rPr>
              <a:t>ラベル管理、旅後の配信、企画ページ作成</a:t>
            </a:r>
          </a:p>
        </p:txBody>
      </p:sp>
      <p:sp>
        <p:nvSpPr>
          <p:cNvPr id="916" name="Rounded Rectangle 915"/>
          <p:cNvSpPr/>
          <p:nvPr/>
        </p:nvSpPr>
        <p:spPr>
          <a:xfrm>
            <a:off x="7368903" y="1630000"/>
            <a:ext cx="2150000" cy="2800000"/>
          </a:xfrm>
          <a:prstGeom prst="roundRect">
            <a:avLst>
              <a:gd name="adj" fmla="val 5000"/>
            </a:avLst>
          </a:prstGeom>
          <a:solidFill>
            <a:srgbClr val="EEF1F5"/>
          </a:solidFill>
          <a:ln w="12700">
            <a:solidFill>
              <a:srgbClr val="7F8896"/>
            </a:solidFill>
          </a:ln>
          <a:effectLst/>
        </p:spPr>
        <p:txBody>
          <a:bodyPr rtlCol="0" anchor="ctr"/>
          <a:lstStyle/>
          <a:p>
            <a:pPr algn="ctr"/>
            <a:endParaRPr/>
          </a:p>
        </p:txBody>
      </p:sp>
      <p:sp>
        <p:nvSpPr>
          <p:cNvPr id="917" name="Rounded Rectangle 916"/>
          <p:cNvSpPr/>
          <p:nvPr/>
        </p:nvSpPr>
        <p:spPr>
          <a:xfrm>
            <a:off x="7368903" y="1630000"/>
            <a:ext cx="2150000" cy="400000"/>
          </a:xfrm>
          <a:prstGeom prst="roundRect">
            <a:avLst>
              <a:gd name="adj" fmla="val 20000"/>
            </a:avLst>
          </a:prstGeom>
          <a:solidFill>
            <a:srgbClr val="24345A"/>
          </a:solidFill>
          <a:ln>
            <a:noFill/>
          </a:ln>
          <a:effectLst/>
        </p:spPr>
        <p:txBody>
          <a:bodyPr wrap="square" lIns="72000" tIns="36000" rIns="72000" bIns="36000" rtlCol="0" anchor="ctr"/>
          <a:lstStyle/>
          <a:p>
            <a:pPr algn="ctr"/>
            <a:r>
              <a:rPr sz="1300" b="1">
                <a:solidFill>
                  <a:srgbClr val="FFFFFF"/>
                </a:solidFill>
                <a:latin typeface="メイリオ"/>
                <a:ea typeface="メイリオ"/>
                <a:cs typeface="メイリオ"/>
              </a:rPr>
              <a:t>集客投資</a:t>
            </a:r>
          </a:p>
        </p:txBody>
      </p:sp>
      <p:sp>
        <p:nvSpPr>
          <p:cNvPr id="918" name="TextBox 917"/>
          <p:cNvSpPr txBox="1"/>
          <p:nvPr/>
        </p:nvSpPr>
        <p:spPr>
          <a:xfrm>
            <a:off x="7368903" y="2330000"/>
            <a:ext cx="2150000" cy="600000"/>
          </a:xfrm>
          <a:prstGeom prst="rect">
            <a:avLst/>
          </a:prstGeom>
          <a:noFill/>
        </p:spPr>
        <p:txBody>
          <a:bodyPr wrap="square" lIns="72000" tIns="36000" rIns="72000" bIns="36000" anchor="ctr">
            <a:spAutoFit/>
          </a:bodyPr>
          <a:lstStyle/>
          <a:p>
            <a:pPr algn="ctr"/>
            <a:r>
              <a:rPr sz="1900" b="1">
                <a:solidFill>
                  <a:srgbClr val="C00000"/>
                </a:solidFill>
                <a:latin typeface="メイリオ"/>
                <a:ea typeface="メイリオ"/>
                <a:cs typeface="メイリオ"/>
              </a:rPr>
              <a:t>CPF 月20万円</a:t>
            </a:r>
          </a:p>
        </p:txBody>
      </p:sp>
      <p:sp>
        <p:nvSpPr>
          <p:cNvPr id="919" name="TextBox 918"/>
          <p:cNvSpPr txBox="1"/>
          <p:nvPr/>
        </p:nvSpPr>
        <p:spPr>
          <a:xfrm>
            <a:off x="7448903" y="3130000"/>
            <a:ext cx="1990000" cy="1600000"/>
          </a:xfrm>
          <a:prstGeom prst="rect">
            <a:avLst/>
          </a:prstGeom>
          <a:noFill/>
        </p:spPr>
        <p:txBody>
          <a:bodyPr wrap="square" lIns="72000" tIns="36000" rIns="72000" bIns="36000" anchor="t">
            <a:spAutoFit/>
          </a:bodyPr>
          <a:lstStyle/>
          <a:p>
            <a:pPr algn="ctr"/>
            <a:r>
              <a:rPr sz="1100" b="0">
                <a:solidFill>
                  <a:srgbClr val="333333"/>
                </a:solidFill>
                <a:latin typeface="メイリオ"/>
                <a:ea typeface="メイリオ"/>
                <a:cs typeface="メイリオ"/>
              </a:rPr>
              <a:t>友だち追加広告で新規の友だちを</a:t>
            </a:r>
          </a:p>
          <a:p>
            <a:pPr algn="ctr"/>
            <a:r>
              <a:rPr sz="1100" b="0">
                <a:solidFill>
                  <a:srgbClr val="333333"/>
                </a:solidFill>
                <a:latin typeface="メイリオ"/>
                <a:ea typeface="メイリオ"/>
                <a:cs typeface="メイリオ"/>
              </a:rPr>
              <a:t>毎月獲得している</a:t>
            </a:r>
          </a:p>
        </p:txBody>
      </p:sp>
      <p:sp>
        <p:nvSpPr>
          <p:cNvPr id="920" name="Rounded Rectangle 919"/>
          <p:cNvSpPr/>
          <p:nvPr/>
        </p:nvSpPr>
        <p:spPr>
          <a:xfrm>
            <a:off x="384048" y="4680000"/>
            <a:ext cx="9134856" cy="620000"/>
          </a:xfrm>
          <a:prstGeom prst="roundRect">
            <a:avLst>
              <a:gd name="adj" fmla="val 12000"/>
            </a:avLst>
          </a:prstGeom>
          <a:solidFill>
            <a:srgbClr val="24345A"/>
          </a:solidFill>
          <a:ln>
            <a:noFill/>
          </a:ln>
          <a:effectLst/>
        </p:spPr>
        <p:txBody>
          <a:bodyPr wrap="square" lIns="72000" tIns="36000" rIns="72000" bIns="36000" rtlCol="0" anchor="ctr"/>
          <a:lstStyle/>
          <a:p>
            <a:pPr algn="ctr"/>
            <a:r>
              <a:rPr sz="1300" b="1">
                <a:solidFill>
                  <a:srgbClr val="FFFFFF"/>
                </a:solidFill>
                <a:latin typeface="メイリオ"/>
                <a:ea typeface="メイリオ"/>
                <a:cs typeface="メイリオ"/>
              </a:rPr>
              <a:t>集客の仕組みは整っている。次の打ち手は「集めた友だちを予約に変える」こと</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LeadBand"/>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anchor="ctr"/>
          <a:lstStyle/>
          <a:p>
            <a:endParaRPr lang="ja-JP"/>
          </a:p>
        </p:txBody>
      </p:sp>
      <p:cxnSp>
        <p:nvCxnSpPr>
          <p:cNvPr id="901" name="LeadBandLine"/>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902" name="TextBox 901"/>
          <p:cNvSpPr txBox="1"/>
          <p:nvPr/>
        </p:nvSpPr>
        <p:spPr>
          <a:xfrm>
            <a:off x="379976" y="635062"/>
            <a:ext cx="9160881" cy="698492"/>
          </a:xfrm>
          <a:prstGeom prst="rect">
            <a:avLst/>
          </a:prstGeom>
          <a:noFill/>
        </p:spPr>
        <p:txBody>
          <a:bodyPr wrap="square" lIns="72000" tIns="36000" rIns="72000" bIns="36000" anchor="ctr">
            <a:spAutoFit/>
          </a:bodyPr>
          <a:lstStyle/>
          <a:p>
            <a:pPr algn="ctr"/>
            <a:r>
              <a:rPr sz="1200" b="0">
                <a:solidFill>
                  <a:srgbClr val="333333"/>
                </a:solidFill>
                <a:latin typeface="メイリオ"/>
                <a:ea typeface="メイリオ"/>
                <a:cs typeface="メイリオ"/>
              </a:rPr>
              <a:t>検証用アカウントで友だち追加したところ、7日間で予約につながる接点は0回でした</a:t>
            </a:r>
          </a:p>
        </p:txBody>
      </p:sp>
      <p:sp>
        <p:nvSpPr>
          <p:cNvPr id="903" name="TextBox 902"/>
          <p:cNvSpPr txBox="1"/>
          <p:nvPr/>
        </p:nvSpPr>
        <p:spPr>
          <a:xfrm>
            <a:off x="548883" y="138118"/>
            <a:ext cx="7900000" cy="338554"/>
          </a:xfrm>
          <a:prstGeom prst="rect">
            <a:avLst/>
          </a:prstGeom>
          <a:noFill/>
        </p:spPr>
        <p:txBody>
          <a:bodyPr wrap="square" lIns="72000" tIns="0" rIns="72000" bIns="0" anchor="ctr">
            <a:spAutoFit/>
          </a:bodyPr>
          <a:lstStyle/>
          <a:p>
            <a:pPr algn="l"/>
            <a:r>
              <a:rPr sz="1600" b="1">
                <a:solidFill>
                  <a:srgbClr val="002060"/>
                </a:solidFill>
                <a:latin typeface="メイリオ"/>
                <a:ea typeface="メイリオ"/>
                <a:cs typeface="メイリオ"/>
              </a:rPr>
              <a:t>現状：友だち追加後7日間の体験</a:t>
            </a:r>
          </a:p>
        </p:txBody>
      </p:sp>
      <p:sp>
        <p:nvSpPr>
          <p:cNvPr id="906" name="TextBox 905"/>
          <p:cNvSpPr txBox="1"/>
          <p:nvPr/>
        </p:nvSpPr>
        <p:spPr>
          <a:xfrm>
            <a:off x="384048" y="4860000"/>
            <a:ext cx="3800000" cy="300000"/>
          </a:xfrm>
          <a:prstGeom prst="rect">
            <a:avLst/>
          </a:prstGeom>
          <a:noFill/>
        </p:spPr>
        <p:txBody>
          <a:bodyPr wrap="square" lIns="72000" tIns="36000" rIns="72000" bIns="36000" anchor="t">
            <a:spAutoFit/>
          </a:bodyPr>
          <a:lstStyle/>
          <a:p>
            <a:pPr algn="l"/>
            <a:r>
              <a:rPr sz="900" b="0">
                <a:solidFill>
                  <a:srgbClr val="555555"/>
                </a:solidFill>
                <a:latin typeface="メイリオ"/>
                <a:ea typeface="メイリオ"/>
                <a:cs typeface="メイリオ"/>
              </a:rPr>
              <a:t>友だち追加直後に届いたメッセージ（10/20 17:59）※氏名は伏せています</a:t>
            </a:r>
          </a:p>
        </p:txBody>
      </p:sp>
      <p:sp>
        <p:nvSpPr>
          <p:cNvPr id="907" name="TextBox 906"/>
          <p:cNvSpPr txBox="1"/>
          <p:nvPr/>
        </p:nvSpPr>
        <p:spPr>
          <a:xfrm>
            <a:off x="4400000" y="1530000"/>
            <a:ext cx="5118904" cy="330000"/>
          </a:xfrm>
          <a:prstGeom prst="rect">
            <a:avLst/>
          </a:prstGeom>
          <a:noFill/>
        </p:spPr>
        <p:txBody>
          <a:bodyPr wrap="square" lIns="72000" tIns="36000" rIns="72000" bIns="36000" anchor="t">
            <a:spAutoFit/>
          </a:bodyPr>
          <a:lstStyle/>
          <a:p>
            <a:pPr algn="l"/>
            <a:r>
              <a:rPr sz="1200" b="1">
                <a:solidFill>
                  <a:srgbClr val="1F3A5F"/>
                </a:solidFill>
                <a:latin typeface="メイリオ"/>
                <a:ea typeface="メイリオ"/>
                <a:cs typeface="メイリオ"/>
              </a:rPr>
              <a:t>友だち追加後のタイムライン</a:t>
            </a:r>
          </a:p>
        </p:txBody>
      </p:sp>
      <p:sp>
        <p:nvSpPr>
          <p:cNvPr id="908" name="Rounded Rectangle 907"/>
          <p:cNvSpPr/>
          <p:nvPr/>
        </p:nvSpPr>
        <p:spPr>
          <a:xfrm>
            <a:off x="4400000" y="1950000"/>
            <a:ext cx="1050000" cy="620000"/>
          </a:xfrm>
          <a:prstGeom prst="roundRect">
            <a:avLst>
              <a:gd name="adj" fmla="val 15000"/>
            </a:avLst>
          </a:prstGeom>
          <a:solidFill>
            <a:srgbClr val="24345A"/>
          </a:solidFill>
          <a:ln>
            <a:noFill/>
          </a:ln>
          <a:effectLst/>
        </p:spPr>
        <p:txBody>
          <a:bodyPr wrap="square" lIns="72000" tIns="36000" rIns="72000" bIns="36000" rtlCol="0" anchor="ctr"/>
          <a:lstStyle/>
          <a:p>
            <a:pPr algn="ctr"/>
            <a:r>
              <a:rPr sz="1200" b="1">
                <a:solidFill>
                  <a:srgbClr val="FFFFFF"/>
                </a:solidFill>
                <a:latin typeface="メイリオ"/>
                <a:ea typeface="メイリオ"/>
                <a:cs typeface="メイリオ"/>
              </a:rPr>
              <a:t>0日目</a:t>
            </a:r>
          </a:p>
        </p:txBody>
      </p:sp>
      <p:sp>
        <p:nvSpPr>
          <p:cNvPr id="909" name="TextBox 908"/>
          <p:cNvSpPr txBox="1"/>
          <p:nvPr/>
        </p:nvSpPr>
        <p:spPr>
          <a:xfrm>
            <a:off x="5550000" y="1950000"/>
            <a:ext cx="3968904" cy="620000"/>
          </a:xfrm>
          <a:prstGeom prst="rect">
            <a:avLst/>
          </a:prstGeom>
          <a:noFill/>
        </p:spPr>
        <p:txBody>
          <a:bodyPr wrap="square" lIns="72000" tIns="36000" rIns="72000" bIns="36000" anchor="ctr">
            <a:spAutoFit/>
          </a:bodyPr>
          <a:lstStyle/>
          <a:p>
            <a:pPr algn="l"/>
            <a:r>
              <a:rPr sz="1100" b="0">
                <a:solidFill>
                  <a:srgbClr val="333333"/>
                </a:solidFill>
                <a:latin typeface="メイリオ"/>
                <a:ea typeface="メイリオ"/>
                <a:cs typeface="メイリオ"/>
              </a:rPr>
              <a:t>あいさつ文（長文）</a:t>
            </a:r>
          </a:p>
          <a:p>
            <a:pPr algn="l"/>
            <a:r>
              <a:rPr sz="1100" b="0">
                <a:solidFill>
                  <a:srgbClr val="333333"/>
                </a:solidFill>
                <a:latin typeface="メイリオ"/>
                <a:ea typeface="メイリオ"/>
                <a:cs typeface="メイリオ"/>
              </a:rPr>
              <a:t>ECショップのカード</a:t>
            </a:r>
          </a:p>
          <a:p>
            <a:pPr algn="l"/>
            <a:r>
              <a:rPr sz="1100" b="0">
                <a:solidFill>
                  <a:srgbClr val="333333"/>
                </a:solidFill>
                <a:latin typeface="メイリオ"/>
                <a:ea typeface="メイリオ"/>
                <a:cs typeface="メイリオ"/>
              </a:rPr>
              <a:t>サイトのカルーセル</a:t>
            </a:r>
          </a:p>
        </p:txBody>
      </p:sp>
      <p:sp>
        <p:nvSpPr>
          <p:cNvPr id="910" name="Rounded Rectangle 909"/>
          <p:cNvSpPr/>
          <p:nvPr/>
        </p:nvSpPr>
        <p:spPr>
          <a:xfrm>
            <a:off x="4400000" y="2670000"/>
            <a:ext cx="1050000" cy="420000"/>
          </a:xfrm>
          <a:prstGeom prst="roundRect">
            <a:avLst>
              <a:gd name="adj" fmla="val 15000"/>
            </a:avLst>
          </a:prstGeom>
          <a:solidFill>
            <a:srgbClr val="9AA3B5"/>
          </a:solidFill>
          <a:ln>
            <a:noFill/>
          </a:ln>
          <a:effectLst/>
        </p:spPr>
        <p:txBody>
          <a:bodyPr wrap="square" lIns="72000" tIns="36000" rIns="72000" bIns="36000" rtlCol="0" anchor="ctr"/>
          <a:lstStyle/>
          <a:p>
            <a:pPr algn="ctr"/>
            <a:r>
              <a:rPr sz="1200" b="1">
                <a:solidFill>
                  <a:srgbClr val="FFFFFF"/>
                </a:solidFill>
                <a:latin typeface="メイリオ"/>
                <a:ea typeface="メイリオ"/>
                <a:cs typeface="メイリオ"/>
              </a:rPr>
              <a:t>1〜3日目</a:t>
            </a:r>
          </a:p>
        </p:txBody>
      </p:sp>
      <p:sp>
        <p:nvSpPr>
          <p:cNvPr id="911" name="TextBox 910"/>
          <p:cNvSpPr txBox="1"/>
          <p:nvPr/>
        </p:nvSpPr>
        <p:spPr>
          <a:xfrm>
            <a:off x="5550000" y="2670000"/>
            <a:ext cx="3968904" cy="420000"/>
          </a:xfrm>
          <a:prstGeom prst="rect">
            <a:avLst/>
          </a:prstGeom>
          <a:noFill/>
        </p:spPr>
        <p:txBody>
          <a:bodyPr wrap="square" lIns="72000" tIns="36000" rIns="72000" bIns="36000" anchor="ctr">
            <a:spAutoFit/>
          </a:bodyPr>
          <a:lstStyle/>
          <a:p>
            <a:pPr algn="l"/>
            <a:r>
              <a:rPr sz="1100" b="0">
                <a:solidFill>
                  <a:srgbClr val="555555"/>
                </a:solidFill>
                <a:latin typeface="メイリオ"/>
                <a:ea typeface="メイリオ"/>
                <a:cs typeface="メイリオ"/>
              </a:rPr>
              <a:t>配信なし</a:t>
            </a:r>
          </a:p>
        </p:txBody>
      </p:sp>
      <p:sp>
        <p:nvSpPr>
          <p:cNvPr id="912" name="Rounded Rectangle 911"/>
          <p:cNvSpPr/>
          <p:nvPr/>
        </p:nvSpPr>
        <p:spPr>
          <a:xfrm>
            <a:off x="4400000" y="3170000"/>
            <a:ext cx="1050000" cy="420000"/>
          </a:xfrm>
          <a:prstGeom prst="roundRect">
            <a:avLst>
              <a:gd name="adj" fmla="val 15000"/>
            </a:avLst>
          </a:prstGeom>
          <a:solidFill>
            <a:srgbClr val="9AA3B5"/>
          </a:solidFill>
          <a:ln>
            <a:noFill/>
          </a:ln>
          <a:effectLst/>
        </p:spPr>
        <p:txBody>
          <a:bodyPr wrap="square" lIns="72000" tIns="36000" rIns="72000" bIns="36000" rtlCol="0" anchor="ctr"/>
          <a:lstStyle/>
          <a:p>
            <a:pPr algn="ctr"/>
            <a:r>
              <a:rPr sz="1200" b="1">
                <a:solidFill>
                  <a:srgbClr val="FFFFFF"/>
                </a:solidFill>
                <a:latin typeface="メイリオ"/>
                <a:ea typeface="メイリオ"/>
                <a:cs typeface="メイリオ"/>
              </a:rPr>
              <a:t>4〜7日目</a:t>
            </a:r>
          </a:p>
        </p:txBody>
      </p:sp>
      <p:sp>
        <p:nvSpPr>
          <p:cNvPr id="913" name="TextBox 912"/>
          <p:cNvSpPr txBox="1"/>
          <p:nvPr/>
        </p:nvSpPr>
        <p:spPr>
          <a:xfrm>
            <a:off x="5550000" y="3170000"/>
            <a:ext cx="3968904" cy="420000"/>
          </a:xfrm>
          <a:prstGeom prst="rect">
            <a:avLst/>
          </a:prstGeom>
          <a:noFill/>
        </p:spPr>
        <p:txBody>
          <a:bodyPr wrap="square" lIns="72000" tIns="36000" rIns="72000" bIns="36000" anchor="ctr">
            <a:spAutoFit/>
          </a:bodyPr>
          <a:lstStyle/>
          <a:p>
            <a:pPr algn="l"/>
            <a:r>
              <a:rPr sz="1100" b="0">
                <a:solidFill>
                  <a:srgbClr val="555555"/>
                </a:solidFill>
                <a:latin typeface="メイリオ"/>
                <a:ea typeface="メイリオ"/>
                <a:cs typeface="メイリオ"/>
              </a:rPr>
              <a:t>配信なし</a:t>
            </a:r>
          </a:p>
        </p:txBody>
      </p:sp>
      <p:sp>
        <p:nvSpPr>
          <p:cNvPr id="914" name="Rounded Rectangle 913"/>
          <p:cNvSpPr/>
          <p:nvPr/>
        </p:nvSpPr>
        <p:spPr>
          <a:xfrm>
            <a:off x="4400000" y="3750000"/>
            <a:ext cx="5118904" cy="1000000"/>
          </a:xfrm>
          <a:prstGeom prst="roundRect">
            <a:avLst>
              <a:gd name="adj" fmla="val 6000"/>
            </a:avLst>
          </a:prstGeom>
          <a:solidFill>
            <a:srgbClr val="EEF1F5"/>
          </a:solidFill>
          <a:ln w="12700">
            <a:solidFill>
              <a:srgbClr val="7F8896"/>
            </a:solidFill>
          </a:ln>
          <a:effectLst/>
        </p:spPr>
        <p:txBody>
          <a:bodyPr rtlCol="0" anchor="ctr"/>
          <a:lstStyle/>
          <a:p>
            <a:pPr algn="ctr"/>
            <a:endParaRPr/>
          </a:p>
        </p:txBody>
      </p:sp>
      <p:sp>
        <p:nvSpPr>
          <p:cNvPr id="915" name="TextBox 914"/>
          <p:cNvSpPr txBox="1"/>
          <p:nvPr/>
        </p:nvSpPr>
        <p:spPr>
          <a:xfrm>
            <a:off x="4500000" y="3790000"/>
            <a:ext cx="4918904" cy="400000"/>
          </a:xfrm>
          <a:prstGeom prst="rect">
            <a:avLst/>
          </a:prstGeom>
          <a:noFill/>
        </p:spPr>
        <p:txBody>
          <a:bodyPr wrap="square" lIns="72000" tIns="36000" rIns="72000" bIns="36000" anchor="t">
            <a:spAutoFit/>
          </a:bodyPr>
          <a:lstStyle/>
          <a:p>
            <a:pPr algn="l"/>
            <a:r>
              <a:rPr sz="1100" b="1">
                <a:solidFill>
                  <a:srgbClr val="1F3A5F"/>
                </a:solidFill>
                <a:latin typeface="メイリオ"/>
                <a:ea typeface="メイリオ"/>
                <a:cs typeface="メイリオ"/>
              </a:rPr>
              <a:t>7日間の接点数（予約につながるもの）</a:t>
            </a:r>
          </a:p>
        </p:txBody>
      </p:sp>
      <p:sp>
        <p:nvSpPr>
          <p:cNvPr id="916" name="TextBox 915"/>
          <p:cNvSpPr txBox="1"/>
          <p:nvPr/>
        </p:nvSpPr>
        <p:spPr>
          <a:xfrm>
            <a:off x="4500000" y="4150000"/>
            <a:ext cx="4918904" cy="500000"/>
          </a:xfrm>
          <a:prstGeom prst="rect">
            <a:avLst/>
          </a:prstGeom>
          <a:noFill/>
        </p:spPr>
        <p:txBody>
          <a:bodyPr wrap="square" lIns="72000" tIns="36000" rIns="72000" bIns="36000" anchor="ctr">
            <a:spAutoFit/>
          </a:bodyPr>
          <a:lstStyle/>
          <a:p>
            <a:pPr algn="ctr"/>
            <a:r>
              <a:rPr sz="2800" b="1">
                <a:solidFill>
                  <a:srgbClr val="C00000"/>
                </a:solidFill>
                <a:latin typeface="メイリオ"/>
                <a:ea typeface="メイリオ"/>
                <a:cs typeface="メイリオ"/>
              </a:rPr>
              <a:t>0</a:t>
            </a:r>
            <a:r>
              <a:rPr sz="1400" b="1">
                <a:solidFill>
                  <a:srgbClr val="C00000"/>
                </a:solidFill>
                <a:latin typeface="メイリオ"/>
                <a:ea typeface="メイリオ"/>
                <a:cs typeface="メイリオ"/>
              </a:rPr>
              <a:t> 回</a:t>
            </a:r>
          </a:p>
        </p:txBody>
      </p:sp>
      <p:sp>
        <p:nvSpPr>
          <p:cNvPr id="917" name="Rounded Rectangle 916"/>
          <p:cNvSpPr/>
          <p:nvPr/>
        </p:nvSpPr>
        <p:spPr>
          <a:xfrm>
            <a:off x="384048" y="5280000"/>
            <a:ext cx="9134856" cy="560000"/>
          </a:xfrm>
          <a:prstGeom prst="roundRect">
            <a:avLst>
              <a:gd name="adj" fmla="val 12000"/>
            </a:avLst>
          </a:prstGeom>
          <a:solidFill>
            <a:srgbClr val="24345A"/>
          </a:solidFill>
          <a:ln>
            <a:noFill/>
          </a:ln>
          <a:effectLst/>
        </p:spPr>
        <p:txBody>
          <a:bodyPr wrap="square" lIns="72000" tIns="36000" rIns="72000" bIns="36000" rtlCol="0" anchor="ctr"/>
          <a:lstStyle/>
          <a:p>
            <a:pPr algn="ctr"/>
            <a:r>
              <a:rPr sz="1200" b="1">
                <a:solidFill>
                  <a:srgbClr val="FFFFFF"/>
                </a:solidFill>
                <a:latin typeface="メイリオ"/>
                <a:ea typeface="メイリオ"/>
                <a:cs typeface="メイリオ"/>
              </a:rPr>
              <a:t>CPFでお金をかけて集めた見込み客も、追加後は何も届かない状態です</a:t>
            </a:r>
          </a:p>
        </p:txBody>
      </p:sp>
      <p:pic>
        <p:nvPicPr>
          <p:cNvPr id="3" name="図 2">
            <a:extLst>
              <a:ext uri="{FF2B5EF4-FFF2-40B4-BE49-F238E27FC236}">
                <a16:creationId xmlns:a16="http://schemas.microsoft.com/office/drawing/2014/main" id="{F853E845-3D46-4DC5-5052-F38DBE837BEE}"/>
              </a:ext>
            </a:extLst>
          </p:cNvPr>
          <p:cNvPicPr>
            <a:picLocks noChangeAspect="1"/>
          </p:cNvPicPr>
          <p:nvPr/>
        </p:nvPicPr>
        <p:blipFill>
          <a:blip r:embed="rId2"/>
          <a:stretch>
            <a:fillRect/>
          </a:stretch>
        </p:blipFill>
        <p:spPr>
          <a:xfrm>
            <a:off x="599709" y="1676881"/>
            <a:ext cx="1495870" cy="3086215"/>
          </a:xfrm>
          <a:prstGeom prst="rect">
            <a:avLst/>
          </a:prstGeom>
        </p:spPr>
      </p:pic>
      <p:pic>
        <p:nvPicPr>
          <p:cNvPr id="5" name="図 4">
            <a:extLst>
              <a:ext uri="{FF2B5EF4-FFF2-40B4-BE49-F238E27FC236}">
                <a16:creationId xmlns:a16="http://schemas.microsoft.com/office/drawing/2014/main" id="{78B4E70F-D794-94FD-7D3E-8D48980F411A}"/>
              </a:ext>
            </a:extLst>
          </p:cNvPr>
          <p:cNvPicPr>
            <a:picLocks noChangeAspect="1"/>
          </p:cNvPicPr>
          <p:nvPr/>
        </p:nvPicPr>
        <p:blipFill>
          <a:blip r:embed="rId2"/>
          <a:stretch>
            <a:fillRect/>
          </a:stretch>
        </p:blipFill>
        <p:spPr>
          <a:xfrm>
            <a:off x="2541727" y="1676881"/>
            <a:ext cx="1495870" cy="3086215"/>
          </a:xfrm>
          <a:prstGeom prst="rect">
            <a:avLst/>
          </a:prstGeom>
        </p:spPr>
      </p:pic>
      <p:pic>
        <p:nvPicPr>
          <p:cNvPr id="904" name="Picture 903" descr="shot_greet.jpg"/>
          <p:cNvPicPr>
            <a:picLocks noChangeAspect="1"/>
          </p:cNvPicPr>
          <p:nvPr/>
        </p:nvPicPr>
        <p:blipFill>
          <a:blip r:embed="rId3"/>
          <a:stretch>
            <a:fillRect/>
          </a:stretch>
        </p:blipFill>
        <p:spPr>
          <a:xfrm>
            <a:off x="660148" y="1949204"/>
            <a:ext cx="1352882" cy="2322241"/>
          </a:xfrm>
          <a:prstGeom prst="rect">
            <a:avLst/>
          </a:prstGeom>
        </p:spPr>
      </p:pic>
      <p:pic>
        <p:nvPicPr>
          <p:cNvPr id="905" name="Picture 904" descr="shot_cards.jpg"/>
          <p:cNvPicPr>
            <a:picLocks noChangeAspect="1"/>
          </p:cNvPicPr>
          <p:nvPr/>
        </p:nvPicPr>
        <p:blipFill>
          <a:blip r:embed="rId4"/>
          <a:stretch>
            <a:fillRect/>
          </a:stretch>
        </p:blipFill>
        <p:spPr>
          <a:xfrm>
            <a:off x="2610148" y="1949204"/>
            <a:ext cx="1352882" cy="232224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LeadBand"/>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anchor="ctr"/>
          <a:lstStyle/>
          <a:p>
            <a:endParaRPr lang="ja-JP"/>
          </a:p>
        </p:txBody>
      </p:sp>
      <p:cxnSp>
        <p:nvCxnSpPr>
          <p:cNvPr id="901" name="LeadBandLine"/>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902" name="TextBox 901"/>
          <p:cNvSpPr txBox="1"/>
          <p:nvPr/>
        </p:nvSpPr>
        <p:spPr>
          <a:xfrm>
            <a:off x="379976" y="635062"/>
            <a:ext cx="9160881" cy="698492"/>
          </a:xfrm>
          <a:prstGeom prst="rect">
            <a:avLst/>
          </a:prstGeom>
          <a:noFill/>
        </p:spPr>
        <p:txBody>
          <a:bodyPr wrap="square" lIns="72000" tIns="36000" rIns="72000" bIns="36000" anchor="ctr">
            <a:spAutoFit/>
          </a:bodyPr>
          <a:lstStyle/>
          <a:p>
            <a:pPr algn="ctr"/>
            <a:r>
              <a:rPr sz="1200" b="0">
                <a:solidFill>
                  <a:srgbClr val="333333"/>
                </a:solidFill>
                <a:latin typeface="メイリオ"/>
                <a:ea typeface="メイリオ"/>
                <a:cs typeface="メイリオ"/>
              </a:rPr>
              <a:t>集客は太いのに、友だち追加の後が細い。CPF広告の効果もここで目減りしています</a:t>
            </a:r>
          </a:p>
        </p:txBody>
      </p:sp>
      <p:sp>
        <p:nvSpPr>
          <p:cNvPr id="903" name="TextBox 902"/>
          <p:cNvSpPr txBox="1"/>
          <p:nvPr/>
        </p:nvSpPr>
        <p:spPr>
          <a:xfrm>
            <a:off x="548883" y="138118"/>
            <a:ext cx="7900000" cy="338554"/>
          </a:xfrm>
          <a:prstGeom prst="rect">
            <a:avLst/>
          </a:prstGeom>
          <a:noFill/>
        </p:spPr>
        <p:txBody>
          <a:bodyPr wrap="square" lIns="72000" tIns="0" rIns="72000" bIns="0" anchor="ctr">
            <a:spAutoFit/>
          </a:bodyPr>
          <a:lstStyle/>
          <a:p>
            <a:pPr algn="l"/>
            <a:r>
              <a:rPr sz="1600" b="1">
                <a:solidFill>
                  <a:srgbClr val="002060"/>
                </a:solidFill>
                <a:latin typeface="メイリオ"/>
                <a:ea typeface="メイリオ"/>
                <a:cs typeface="メイリオ"/>
              </a:rPr>
              <a:t>課題整理：入口で取りこぼしている</a:t>
            </a:r>
          </a:p>
        </p:txBody>
      </p:sp>
      <p:sp>
        <p:nvSpPr>
          <p:cNvPr id="904" name="Rectangle 903"/>
          <p:cNvSpPr/>
          <p:nvPr/>
        </p:nvSpPr>
        <p:spPr>
          <a:xfrm>
            <a:off x="384048" y="2030598"/>
            <a:ext cx="3500000" cy="640000"/>
          </a:xfrm>
          <a:prstGeom prst="rect">
            <a:avLst/>
          </a:prstGeom>
          <a:solidFill>
            <a:srgbClr val="24345A"/>
          </a:solidFill>
          <a:ln>
            <a:noFill/>
          </a:ln>
          <a:effectLst/>
        </p:spPr>
        <p:txBody>
          <a:bodyPr wrap="square" lIns="72000" tIns="36000" rIns="72000" bIns="36000" rtlCol="0" anchor="ctr"/>
          <a:lstStyle/>
          <a:p>
            <a:pPr algn="ctr"/>
            <a:r>
              <a:rPr sz="1100" b="1">
                <a:solidFill>
                  <a:srgbClr val="FFFFFF"/>
                </a:solidFill>
                <a:latin typeface="メイリオ"/>
                <a:ea typeface="メイリオ"/>
                <a:cs typeface="メイリオ"/>
              </a:rPr>
              <a:t>CPF・サイトバナーで友だち追加</a:t>
            </a:r>
          </a:p>
        </p:txBody>
      </p:sp>
      <p:sp>
        <p:nvSpPr>
          <p:cNvPr id="905" name="Rectangle 904"/>
          <p:cNvSpPr/>
          <p:nvPr/>
        </p:nvSpPr>
        <p:spPr>
          <a:xfrm>
            <a:off x="684048" y="2790598"/>
            <a:ext cx="2900000" cy="640000"/>
          </a:xfrm>
          <a:prstGeom prst="rect">
            <a:avLst/>
          </a:prstGeom>
          <a:solidFill>
            <a:srgbClr val="4A5A7E"/>
          </a:solidFill>
          <a:ln>
            <a:noFill/>
          </a:ln>
          <a:effectLst/>
        </p:spPr>
        <p:txBody>
          <a:bodyPr wrap="square" lIns="72000" tIns="36000" rIns="72000" bIns="36000" rtlCol="0" anchor="ctr"/>
          <a:lstStyle/>
          <a:p>
            <a:pPr algn="ctr"/>
            <a:r>
              <a:rPr sz="1100" b="1">
                <a:solidFill>
                  <a:srgbClr val="FFFFFF"/>
                </a:solidFill>
                <a:latin typeface="メイリオ"/>
                <a:ea typeface="メイリオ"/>
                <a:cs typeface="メイリオ"/>
              </a:rPr>
              <a:t>あいさつで「何が得か」が伝わる</a:t>
            </a:r>
          </a:p>
        </p:txBody>
      </p:sp>
      <p:sp>
        <p:nvSpPr>
          <p:cNvPr id="906" name="Rectangle 905"/>
          <p:cNvSpPr/>
          <p:nvPr/>
        </p:nvSpPr>
        <p:spPr>
          <a:xfrm>
            <a:off x="984048" y="3550598"/>
            <a:ext cx="2300000" cy="640000"/>
          </a:xfrm>
          <a:prstGeom prst="rect">
            <a:avLst/>
          </a:prstGeom>
          <a:solidFill>
            <a:srgbClr val="7F8896"/>
          </a:solidFill>
          <a:ln>
            <a:noFill/>
          </a:ln>
          <a:effectLst/>
        </p:spPr>
        <p:txBody>
          <a:bodyPr wrap="square" lIns="72000" tIns="36000" rIns="72000" bIns="36000" rtlCol="0" anchor="ctr"/>
          <a:lstStyle/>
          <a:p>
            <a:pPr algn="ctr"/>
            <a:r>
              <a:rPr sz="1100" b="1">
                <a:solidFill>
                  <a:srgbClr val="FFFFFF"/>
                </a:solidFill>
                <a:latin typeface="メイリオ"/>
                <a:ea typeface="メイリオ"/>
                <a:cs typeface="メイリオ"/>
              </a:rPr>
              <a:t>会員登録・興味の喚起</a:t>
            </a:r>
          </a:p>
        </p:txBody>
      </p:sp>
      <p:sp>
        <p:nvSpPr>
          <p:cNvPr id="907" name="Rectangle 906"/>
          <p:cNvSpPr/>
          <p:nvPr/>
        </p:nvSpPr>
        <p:spPr>
          <a:xfrm>
            <a:off x="1284048" y="4310598"/>
            <a:ext cx="1700000" cy="640000"/>
          </a:xfrm>
          <a:prstGeom prst="rect">
            <a:avLst/>
          </a:prstGeom>
          <a:solidFill>
            <a:srgbClr val="06C755"/>
          </a:solidFill>
          <a:ln>
            <a:noFill/>
          </a:ln>
          <a:effectLst/>
        </p:spPr>
        <p:txBody>
          <a:bodyPr wrap="square" lIns="72000" tIns="36000" rIns="72000" bIns="36000" rtlCol="0" anchor="ctr"/>
          <a:lstStyle/>
          <a:p>
            <a:pPr algn="ctr"/>
            <a:r>
              <a:rPr sz="1100" b="1">
                <a:solidFill>
                  <a:srgbClr val="FFFFFF"/>
                </a:solidFill>
                <a:latin typeface="メイリオ"/>
                <a:ea typeface="メイリオ"/>
                <a:cs typeface="メイリオ"/>
              </a:rPr>
              <a:t>初回予約</a:t>
            </a:r>
          </a:p>
        </p:txBody>
      </p:sp>
      <p:sp>
        <p:nvSpPr>
          <p:cNvPr id="908" name="TextBox 907"/>
          <p:cNvSpPr txBox="1"/>
          <p:nvPr/>
        </p:nvSpPr>
        <p:spPr>
          <a:xfrm>
            <a:off x="384048" y="5070598"/>
            <a:ext cx="3500000" cy="500000"/>
          </a:xfrm>
          <a:prstGeom prst="rect">
            <a:avLst/>
          </a:prstGeom>
          <a:noFill/>
        </p:spPr>
        <p:txBody>
          <a:bodyPr wrap="square" lIns="72000" tIns="36000" rIns="72000" bIns="36000" anchor="t">
            <a:spAutoFit/>
          </a:bodyPr>
          <a:lstStyle/>
          <a:p>
            <a:pPr algn="ctr"/>
            <a:r>
              <a:rPr sz="1000" b="1">
                <a:solidFill>
                  <a:srgbClr val="06C755"/>
                </a:solidFill>
                <a:latin typeface="メイリオ"/>
                <a:ea typeface="メイリオ"/>
                <a:cs typeface="メイリオ"/>
              </a:rPr>
              <a:t>▲ 2段目以降をLINEの設計で太くする</a:t>
            </a:r>
          </a:p>
        </p:txBody>
      </p:sp>
      <p:sp>
        <p:nvSpPr>
          <p:cNvPr id="909" name="Rounded Rectangle 908"/>
          <p:cNvSpPr/>
          <p:nvPr/>
        </p:nvSpPr>
        <p:spPr>
          <a:xfrm>
            <a:off x="4184048" y="2030598"/>
            <a:ext cx="5334856" cy="820000"/>
          </a:xfrm>
          <a:prstGeom prst="roundRect">
            <a:avLst>
              <a:gd name="adj" fmla="val 8000"/>
            </a:avLst>
          </a:prstGeom>
          <a:solidFill>
            <a:srgbClr val="EEF1F5"/>
          </a:solidFill>
          <a:ln w="12700">
            <a:solidFill>
              <a:srgbClr val="7F8896"/>
            </a:solidFill>
          </a:ln>
          <a:effectLst/>
        </p:spPr>
        <p:txBody>
          <a:bodyPr rtlCol="0" anchor="ctr"/>
          <a:lstStyle/>
          <a:p>
            <a:pPr algn="ctr"/>
            <a:endParaRPr/>
          </a:p>
        </p:txBody>
      </p:sp>
      <p:sp>
        <p:nvSpPr>
          <p:cNvPr id="910" name="Oval 909"/>
          <p:cNvSpPr/>
          <p:nvPr/>
        </p:nvSpPr>
        <p:spPr>
          <a:xfrm>
            <a:off x="4304048" y="2270598"/>
            <a:ext cx="340000" cy="340000"/>
          </a:xfrm>
          <a:prstGeom prst="ellipse">
            <a:avLst/>
          </a:prstGeom>
          <a:solidFill>
            <a:srgbClr val="24345A"/>
          </a:solidFill>
          <a:ln>
            <a:noFill/>
          </a:ln>
          <a:effectLst/>
        </p:spPr>
        <p:txBody>
          <a:bodyPr wrap="square" lIns="0" tIns="0" rIns="0" bIns="0" rtlCol="0" anchor="ctr"/>
          <a:lstStyle/>
          <a:p>
            <a:pPr algn="ctr"/>
            <a:r>
              <a:rPr sz="1300" b="1">
                <a:solidFill>
                  <a:srgbClr val="FFFFFF"/>
                </a:solidFill>
                <a:latin typeface="メイリオ"/>
                <a:ea typeface="メイリオ"/>
                <a:cs typeface="メイリオ"/>
              </a:rPr>
              <a:t>1</a:t>
            </a:r>
          </a:p>
        </p:txBody>
      </p:sp>
      <p:sp>
        <p:nvSpPr>
          <p:cNvPr id="911" name="TextBox 910"/>
          <p:cNvSpPr txBox="1"/>
          <p:nvPr/>
        </p:nvSpPr>
        <p:spPr>
          <a:xfrm>
            <a:off x="4744048" y="2090598"/>
            <a:ext cx="4694856" cy="720000"/>
          </a:xfrm>
          <a:prstGeom prst="rect">
            <a:avLst/>
          </a:prstGeom>
          <a:noFill/>
        </p:spPr>
        <p:txBody>
          <a:bodyPr wrap="square" lIns="72000" tIns="36000" rIns="72000" bIns="36000" anchor="ctr">
            <a:spAutoFit/>
          </a:bodyPr>
          <a:lstStyle/>
          <a:p>
            <a:pPr algn="l"/>
            <a:r>
              <a:rPr sz="1200" b="1">
                <a:solidFill>
                  <a:srgbClr val="1F3A5F"/>
                </a:solidFill>
                <a:latin typeface="メイリオ"/>
                <a:ea typeface="メイリオ"/>
                <a:cs typeface="メイリオ"/>
              </a:rPr>
              <a:t>あいさつ文が読まれにくい</a:t>
            </a:r>
          </a:p>
          <a:p>
            <a:pPr algn="l"/>
            <a:r>
              <a:rPr sz="1100" b="0">
                <a:solidFill>
                  <a:srgbClr val="333333"/>
                </a:solidFill>
                <a:latin typeface="メイリオ"/>
                <a:ea typeface="メイリオ"/>
                <a:cs typeface="メイリオ"/>
              </a:rPr>
              <a:t>3パターンの説明を1通の長文に詰め込み、ボタンもない</a:t>
            </a:r>
          </a:p>
        </p:txBody>
      </p:sp>
      <p:sp>
        <p:nvSpPr>
          <p:cNvPr id="912" name="Rounded Rectangle 911"/>
          <p:cNvSpPr/>
          <p:nvPr/>
        </p:nvSpPr>
        <p:spPr>
          <a:xfrm>
            <a:off x="4184048" y="2950598"/>
            <a:ext cx="5334856" cy="820000"/>
          </a:xfrm>
          <a:prstGeom prst="roundRect">
            <a:avLst>
              <a:gd name="adj" fmla="val 8000"/>
            </a:avLst>
          </a:prstGeom>
          <a:solidFill>
            <a:srgbClr val="EEF1F5"/>
          </a:solidFill>
          <a:ln w="12700">
            <a:solidFill>
              <a:srgbClr val="7F8896"/>
            </a:solidFill>
          </a:ln>
          <a:effectLst/>
        </p:spPr>
        <p:txBody>
          <a:bodyPr rtlCol="0" anchor="ctr"/>
          <a:lstStyle/>
          <a:p>
            <a:pPr algn="ctr"/>
            <a:endParaRPr/>
          </a:p>
        </p:txBody>
      </p:sp>
      <p:sp>
        <p:nvSpPr>
          <p:cNvPr id="913" name="Oval 912"/>
          <p:cNvSpPr/>
          <p:nvPr/>
        </p:nvSpPr>
        <p:spPr>
          <a:xfrm>
            <a:off x="4304048" y="3190598"/>
            <a:ext cx="340000" cy="340000"/>
          </a:xfrm>
          <a:prstGeom prst="ellipse">
            <a:avLst/>
          </a:prstGeom>
          <a:solidFill>
            <a:srgbClr val="24345A"/>
          </a:solidFill>
          <a:ln>
            <a:noFill/>
          </a:ln>
          <a:effectLst/>
        </p:spPr>
        <p:txBody>
          <a:bodyPr wrap="square" lIns="0" tIns="0" rIns="0" bIns="0" rtlCol="0" anchor="ctr"/>
          <a:lstStyle/>
          <a:p>
            <a:pPr algn="ctr"/>
            <a:r>
              <a:rPr sz="1300" b="1">
                <a:solidFill>
                  <a:srgbClr val="FFFFFF"/>
                </a:solidFill>
                <a:latin typeface="メイリオ"/>
                <a:ea typeface="メイリオ"/>
                <a:cs typeface="メイリオ"/>
              </a:rPr>
              <a:t>2</a:t>
            </a:r>
          </a:p>
        </p:txBody>
      </p:sp>
      <p:sp>
        <p:nvSpPr>
          <p:cNvPr id="914" name="TextBox 913"/>
          <p:cNvSpPr txBox="1"/>
          <p:nvPr/>
        </p:nvSpPr>
        <p:spPr>
          <a:xfrm>
            <a:off x="4744048" y="3010598"/>
            <a:ext cx="4694856" cy="720000"/>
          </a:xfrm>
          <a:prstGeom prst="rect">
            <a:avLst/>
          </a:prstGeom>
          <a:noFill/>
        </p:spPr>
        <p:txBody>
          <a:bodyPr wrap="square" lIns="72000" tIns="36000" rIns="72000" bIns="36000" anchor="ctr">
            <a:spAutoFit/>
          </a:bodyPr>
          <a:lstStyle/>
          <a:p>
            <a:pPr algn="l"/>
            <a:r>
              <a:rPr sz="1200" b="1">
                <a:solidFill>
                  <a:srgbClr val="1F3A5F"/>
                </a:solidFill>
                <a:latin typeface="メイリオ"/>
                <a:ea typeface="メイリオ"/>
                <a:cs typeface="メイリオ"/>
              </a:rPr>
              <a:t>優先順位が逆</a:t>
            </a:r>
          </a:p>
          <a:p>
            <a:pPr algn="l"/>
            <a:r>
              <a:rPr sz="1100" b="0">
                <a:solidFill>
                  <a:srgbClr val="333333"/>
                </a:solidFill>
                <a:latin typeface="メイリオ"/>
                <a:ea typeface="メイリオ"/>
                <a:cs typeface="メイリオ"/>
              </a:rPr>
              <a:t>あいさつの2番目がECショップ。宿の予約・会員登録が後回し</a:t>
            </a:r>
          </a:p>
        </p:txBody>
      </p:sp>
      <p:sp>
        <p:nvSpPr>
          <p:cNvPr id="915" name="Rounded Rectangle 914"/>
          <p:cNvSpPr/>
          <p:nvPr/>
        </p:nvSpPr>
        <p:spPr>
          <a:xfrm>
            <a:off x="4184048" y="3870598"/>
            <a:ext cx="5334856" cy="820000"/>
          </a:xfrm>
          <a:prstGeom prst="roundRect">
            <a:avLst>
              <a:gd name="adj" fmla="val 8000"/>
            </a:avLst>
          </a:prstGeom>
          <a:solidFill>
            <a:srgbClr val="EEF1F5"/>
          </a:solidFill>
          <a:ln w="12700">
            <a:solidFill>
              <a:srgbClr val="7F8896"/>
            </a:solidFill>
          </a:ln>
          <a:effectLst/>
        </p:spPr>
        <p:txBody>
          <a:bodyPr rtlCol="0" anchor="ctr"/>
          <a:lstStyle/>
          <a:p>
            <a:pPr algn="ctr"/>
            <a:endParaRPr/>
          </a:p>
        </p:txBody>
      </p:sp>
      <p:sp>
        <p:nvSpPr>
          <p:cNvPr id="916" name="Oval 915"/>
          <p:cNvSpPr/>
          <p:nvPr/>
        </p:nvSpPr>
        <p:spPr>
          <a:xfrm>
            <a:off x="4304048" y="4110598"/>
            <a:ext cx="340000" cy="340000"/>
          </a:xfrm>
          <a:prstGeom prst="ellipse">
            <a:avLst/>
          </a:prstGeom>
          <a:solidFill>
            <a:srgbClr val="24345A"/>
          </a:solidFill>
          <a:ln>
            <a:noFill/>
          </a:ln>
          <a:effectLst/>
        </p:spPr>
        <p:txBody>
          <a:bodyPr wrap="square" lIns="0" tIns="0" rIns="0" bIns="0" rtlCol="0" anchor="ctr"/>
          <a:lstStyle/>
          <a:p>
            <a:pPr algn="ctr"/>
            <a:r>
              <a:rPr sz="1300" b="1">
                <a:solidFill>
                  <a:srgbClr val="FFFFFF"/>
                </a:solidFill>
                <a:latin typeface="メイリオ"/>
                <a:ea typeface="メイリオ"/>
                <a:cs typeface="メイリオ"/>
              </a:rPr>
              <a:t>3</a:t>
            </a:r>
          </a:p>
        </p:txBody>
      </p:sp>
      <p:sp>
        <p:nvSpPr>
          <p:cNvPr id="917" name="TextBox 916"/>
          <p:cNvSpPr txBox="1"/>
          <p:nvPr/>
        </p:nvSpPr>
        <p:spPr>
          <a:xfrm>
            <a:off x="4744048" y="3930598"/>
            <a:ext cx="4694856" cy="720000"/>
          </a:xfrm>
          <a:prstGeom prst="rect">
            <a:avLst/>
          </a:prstGeom>
          <a:noFill/>
        </p:spPr>
        <p:txBody>
          <a:bodyPr wrap="square" lIns="72000" tIns="36000" rIns="72000" bIns="36000" anchor="ctr">
            <a:spAutoFit/>
          </a:bodyPr>
          <a:lstStyle/>
          <a:p>
            <a:pPr algn="l"/>
            <a:r>
              <a:rPr sz="1200" b="1">
                <a:solidFill>
                  <a:srgbClr val="1F3A5F"/>
                </a:solidFill>
                <a:latin typeface="メイリオ"/>
                <a:ea typeface="メイリオ"/>
                <a:cs typeface="メイリオ"/>
              </a:rPr>
              <a:t>期待値のずれ</a:t>
            </a:r>
          </a:p>
          <a:p>
            <a:pPr algn="l"/>
            <a:r>
              <a:rPr sz="1100" b="0">
                <a:solidFill>
                  <a:srgbClr val="333333"/>
                </a:solidFill>
                <a:latin typeface="メイリオ"/>
                <a:ea typeface="メイリオ"/>
                <a:cs typeface="メイリオ"/>
              </a:rPr>
              <a:t>バナーの「12,000円off」に、あいさつで触れていない</a:t>
            </a:r>
          </a:p>
        </p:txBody>
      </p:sp>
      <p:sp>
        <p:nvSpPr>
          <p:cNvPr id="918" name="Rounded Rectangle 917"/>
          <p:cNvSpPr/>
          <p:nvPr/>
        </p:nvSpPr>
        <p:spPr>
          <a:xfrm>
            <a:off x="4184048" y="4790598"/>
            <a:ext cx="5334856" cy="820000"/>
          </a:xfrm>
          <a:prstGeom prst="roundRect">
            <a:avLst>
              <a:gd name="adj" fmla="val 8000"/>
            </a:avLst>
          </a:prstGeom>
          <a:solidFill>
            <a:srgbClr val="EEF1F5"/>
          </a:solidFill>
          <a:ln w="12700">
            <a:solidFill>
              <a:srgbClr val="7F8896"/>
            </a:solidFill>
          </a:ln>
          <a:effectLst/>
        </p:spPr>
        <p:txBody>
          <a:bodyPr rtlCol="0" anchor="ctr"/>
          <a:lstStyle/>
          <a:p>
            <a:pPr algn="ctr"/>
            <a:endParaRPr/>
          </a:p>
        </p:txBody>
      </p:sp>
      <p:sp>
        <p:nvSpPr>
          <p:cNvPr id="919" name="Oval 918"/>
          <p:cNvSpPr/>
          <p:nvPr/>
        </p:nvSpPr>
        <p:spPr>
          <a:xfrm>
            <a:off x="4304048" y="5030598"/>
            <a:ext cx="340000" cy="340000"/>
          </a:xfrm>
          <a:prstGeom prst="ellipse">
            <a:avLst/>
          </a:prstGeom>
          <a:solidFill>
            <a:srgbClr val="24345A"/>
          </a:solidFill>
          <a:ln>
            <a:noFill/>
          </a:ln>
          <a:effectLst/>
        </p:spPr>
        <p:txBody>
          <a:bodyPr wrap="square" lIns="0" tIns="0" rIns="0" bIns="0" rtlCol="0" anchor="ctr"/>
          <a:lstStyle/>
          <a:p>
            <a:pPr algn="ctr"/>
            <a:r>
              <a:rPr sz="1300" b="1">
                <a:solidFill>
                  <a:srgbClr val="FFFFFF"/>
                </a:solidFill>
                <a:latin typeface="メイリオ"/>
                <a:ea typeface="メイリオ"/>
                <a:cs typeface="メイリオ"/>
              </a:rPr>
              <a:t>4</a:t>
            </a:r>
          </a:p>
        </p:txBody>
      </p:sp>
      <p:sp>
        <p:nvSpPr>
          <p:cNvPr id="920" name="TextBox 919"/>
          <p:cNvSpPr txBox="1"/>
          <p:nvPr/>
        </p:nvSpPr>
        <p:spPr>
          <a:xfrm>
            <a:off x="4744048" y="4850598"/>
            <a:ext cx="4694856" cy="720000"/>
          </a:xfrm>
          <a:prstGeom prst="rect">
            <a:avLst/>
          </a:prstGeom>
          <a:noFill/>
        </p:spPr>
        <p:txBody>
          <a:bodyPr wrap="square" lIns="72000" tIns="36000" rIns="72000" bIns="36000" anchor="ctr">
            <a:spAutoFit/>
          </a:bodyPr>
          <a:lstStyle/>
          <a:p>
            <a:pPr algn="l"/>
            <a:r>
              <a:rPr sz="1200" b="1">
                <a:solidFill>
                  <a:srgbClr val="1F3A5F"/>
                </a:solidFill>
                <a:latin typeface="メイリオ"/>
                <a:ea typeface="メイリオ"/>
                <a:cs typeface="メイリオ"/>
              </a:rPr>
              <a:t>追客がない</a:t>
            </a:r>
          </a:p>
          <a:p>
            <a:pPr algn="l"/>
            <a:r>
              <a:rPr sz="1100" b="0">
                <a:solidFill>
                  <a:srgbClr val="333333"/>
                </a:solidFill>
                <a:latin typeface="メイリオ"/>
                <a:ea typeface="メイリオ"/>
                <a:cs typeface="メイリオ"/>
              </a:rPr>
              <a:t>友だち追加の後、予約に向けた配信が届かない</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LeadBand"/>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anchor="ctr"/>
          <a:lstStyle/>
          <a:p>
            <a:endParaRPr lang="ja-JP"/>
          </a:p>
        </p:txBody>
      </p:sp>
      <p:cxnSp>
        <p:nvCxnSpPr>
          <p:cNvPr id="901" name="LeadBandLine"/>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902" name="TextBox 901"/>
          <p:cNvSpPr txBox="1"/>
          <p:nvPr/>
        </p:nvSpPr>
        <p:spPr>
          <a:xfrm>
            <a:off x="379976" y="635062"/>
            <a:ext cx="9160881" cy="698492"/>
          </a:xfrm>
          <a:prstGeom prst="rect">
            <a:avLst/>
          </a:prstGeom>
          <a:noFill/>
        </p:spPr>
        <p:txBody>
          <a:bodyPr wrap="square" lIns="72000" tIns="36000" rIns="72000" bIns="36000" anchor="ctr">
            <a:spAutoFit/>
          </a:bodyPr>
          <a:lstStyle/>
          <a:p>
            <a:pPr algn="ctr"/>
            <a:r>
              <a:rPr sz="1200" b="0">
                <a:solidFill>
                  <a:srgbClr val="333333"/>
                </a:solidFill>
                <a:latin typeface="メイリオ"/>
                <a:ea typeface="メイリオ"/>
                <a:cs typeface="メイリオ"/>
              </a:rPr>
              <a:t>予約サイト・宿泊チェーンは、連携の即時特典や宿泊前の案内で「登録する理由」を作っています</a:t>
            </a:r>
          </a:p>
        </p:txBody>
      </p:sp>
      <p:sp>
        <p:nvSpPr>
          <p:cNvPr id="903" name="TextBox 902"/>
          <p:cNvSpPr txBox="1"/>
          <p:nvPr/>
        </p:nvSpPr>
        <p:spPr>
          <a:xfrm>
            <a:off x="548883" y="138118"/>
            <a:ext cx="7900000" cy="338554"/>
          </a:xfrm>
          <a:prstGeom prst="rect">
            <a:avLst/>
          </a:prstGeom>
          <a:noFill/>
        </p:spPr>
        <p:txBody>
          <a:bodyPr wrap="square" lIns="72000" tIns="0" rIns="72000" bIns="0" anchor="ctr">
            <a:spAutoFit/>
          </a:bodyPr>
          <a:lstStyle/>
          <a:p>
            <a:pPr algn="l"/>
            <a:r>
              <a:rPr sz="1400" b="1">
                <a:solidFill>
                  <a:srgbClr val="002060"/>
                </a:solidFill>
                <a:latin typeface="メイリオ"/>
                <a:ea typeface="メイリオ"/>
                <a:cs typeface="メイリオ"/>
              </a:rPr>
              <a:t>競合比較：友だちになった瞬間に「得」か「便利」を返している</a:t>
            </a:r>
          </a:p>
        </p:txBody>
      </p:sp>
      <p:graphicFrame>
        <p:nvGraphicFramePr>
          <p:cNvPr id="904" name="Table 903"/>
          <p:cNvGraphicFramePr>
            <a:graphicFrameLocks noGrp="1"/>
          </p:cNvGraphicFramePr>
          <p:nvPr/>
        </p:nvGraphicFramePr>
        <p:xfrm>
          <a:off x="384048" y="1530000"/>
          <a:ext cx="9134853" cy="3760000"/>
        </p:xfrm>
        <a:graphic>
          <a:graphicData uri="http://schemas.openxmlformats.org/drawingml/2006/table">
            <a:tbl>
              <a:tblPr>
                <a:tableStyleId>{5940675A-B579-460E-94D1-54222C63F5DA}</a:tableStyleId>
              </a:tblPr>
              <a:tblGrid>
                <a:gridCol w="1182157">
                  <a:extLst>
                    <a:ext uri="{9D8B030D-6E8A-4147-A177-3AD203B41FA5}">
                      <a16:colId xmlns:a16="http://schemas.microsoft.com/office/drawing/2014/main" val="20000"/>
                    </a:ext>
                  </a:extLst>
                </a:gridCol>
                <a:gridCol w="2041908">
                  <a:extLst>
                    <a:ext uri="{9D8B030D-6E8A-4147-A177-3AD203B41FA5}">
                      <a16:colId xmlns:a16="http://schemas.microsoft.com/office/drawing/2014/main" val="20001"/>
                    </a:ext>
                  </a:extLst>
                </a:gridCol>
                <a:gridCol w="3439004">
                  <a:extLst>
                    <a:ext uri="{9D8B030D-6E8A-4147-A177-3AD203B41FA5}">
                      <a16:colId xmlns:a16="http://schemas.microsoft.com/office/drawing/2014/main" val="20002"/>
                    </a:ext>
                  </a:extLst>
                </a:gridCol>
                <a:gridCol w="2471784">
                  <a:extLst>
                    <a:ext uri="{9D8B030D-6E8A-4147-A177-3AD203B41FA5}">
                      <a16:colId xmlns:a16="http://schemas.microsoft.com/office/drawing/2014/main" val="20003"/>
                    </a:ext>
                  </a:extLst>
                </a:gridCol>
              </a:tblGrid>
              <a:tr h="470000">
                <a:tc>
                  <a:txBody>
                    <a:bodyPr/>
                    <a:lstStyle/>
                    <a:p>
                      <a:pPr algn="l"/>
                      <a:r>
                        <a:rPr sz="950" b="1">
                          <a:solidFill>
                            <a:srgbClr val="FFFFFF"/>
                          </a:solidFill>
                          <a:latin typeface="メイリオ"/>
                          <a:ea typeface="メイリオ"/>
                          <a:cs typeface="メイリオ"/>
                        </a:rPr>
                        <a:t>企業</a:t>
                      </a:r>
                    </a:p>
                  </a:txBody>
                  <a:tcPr marR="72000" marT="30000" marB="30000" anchor="ctr">
                    <a:solidFill>
                      <a:srgbClr val="24345A"/>
                    </a:solidFill>
                  </a:tcPr>
                </a:tc>
                <a:tc>
                  <a:txBody>
                    <a:bodyPr/>
                    <a:lstStyle/>
                    <a:p>
                      <a:pPr algn="l"/>
                      <a:r>
                        <a:rPr sz="950" b="1">
                          <a:solidFill>
                            <a:srgbClr val="FFFFFF"/>
                          </a:solidFill>
                          <a:latin typeface="メイリオ"/>
                          <a:ea typeface="メイリオ"/>
                          <a:cs typeface="メイリオ"/>
                        </a:rPr>
                        <a:t>業態</a:t>
                      </a:r>
                    </a:p>
                  </a:txBody>
                  <a:tcPr marR="72000" marT="30000" marB="30000" anchor="ctr">
                    <a:solidFill>
                      <a:srgbClr val="24345A"/>
                    </a:solidFill>
                  </a:tcPr>
                </a:tc>
                <a:tc>
                  <a:txBody>
                    <a:bodyPr/>
                    <a:lstStyle/>
                    <a:p>
                      <a:pPr algn="l"/>
                      <a:r>
                        <a:rPr sz="950" b="1">
                          <a:solidFill>
                            <a:srgbClr val="FFFFFF"/>
                          </a:solidFill>
                          <a:latin typeface="メイリオ"/>
                          <a:ea typeface="メイリオ"/>
                          <a:cs typeface="メイリオ"/>
                        </a:rPr>
                        <a:t>LINEでの主な打ち手</a:t>
                      </a:r>
                    </a:p>
                  </a:txBody>
                  <a:tcPr marR="72000" marT="30000" marB="30000" anchor="ctr">
                    <a:solidFill>
                      <a:srgbClr val="24345A"/>
                    </a:solidFill>
                  </a:tcPr>
                </a:tc>
                <a:tc>
                  <a:txBody>
                    <a:bodyPr/>
                    <a:lstStyle/>
                    <a:p>
                      <a:pPr algn="l"/>
                      <a:r>
                        <a:rPr sz="950" b="1">
                          <a:solidFill>
                            <a:srgbClr val="FFFFFF"/>
                          </a:solidFill>
                          <a:latin typeface="メイリオ"/>
                          <a:ea typeface="メイリオ"/>
                          <a:cs typeface="メイリオ"/>
                        </a:rPr>
                        <a:t>お宿ねっとへの示唆</a:t>
                      </a:r>
                    </a:p>
                  </a:txBody>
                  <a:tcPr marR="72000" marT="30000" marB="30000" anchor="ctr">
                    <a:solidFill>
                      <a:srgbClr val="24345A"/>
                    </a:solidFill>
                  </a:tcPr>
                </a:tc>
                <a:extLst>
                  <a:ext uri="{0D108BD9-81ED-4DB2-BD59-A6C34878D82A}">
                    <a16:rowId xmlns:a16="http://schemas.microsoft.com/office/drawing/2014/main" val="10000"/>
                  </a:ext>
                </a:extLst>
              </a:tr>
              <a:tr h="470000">
                <a:tc>
                  <a:txBody>
                    <a:bodyPr/>
                    <a:lstStyle/>
                    <a:p>
                      <a:pPr algn="l"/>
                      <a:r>
                        <a:rPr sz="950" b="1">
                          <a:solidFill>
                            <a:srgbClr val="1F3A5F"/>
                          </a:solidFill>
                          <a:latin typeface="メイリオ"/>
                          <a:ea typeface="メイリオ"/>
                          <a:cs typeface="メイリオ"/>
                        </a:rPr>
                        <a:t>ゆこゆこ</a:t>
                      </a:r>
                    </a:p>
                  </a:txBody>
                  <a:tcPr marR="72000" marT="30000" marB="30000" anchor="ctr">
                    <a:solidFill>
                      <a:srgbClr val="FFFFFF"/>
                    </a:solidFill>
                  </a:tcPr>
                </a:tc>
                <a:tc>
                  <a:txBody>
                    <a:bodyPr/>
                    <a:lstStyle/>
                    <a:p>
                      <a:pPr algn="l"/>
                      <a:r>
                        <a:rPr sz="950" b="0">
                          <a:solidFill>
                            <a:srgbClr val="555555"/>
                          </a:solidFill>
                          <a:latin typeface="メイリオ"/>
                          <a:ea typeface="メイリオ"/>
                          <a:cs typeface="メイリオ"/>
                        </a:rPr>
                        <a:t>温泉宿の予約サイト（友だち約53万）</a:t>
                      </a:r>
                    </a:p>
                  </a:txBody>
                  <a:tcPr marR="72000" marT="30000" marB="30000" anchor="ctr">
                    <a:solidFill>
                      <a:srgbClr val="FFFFFF"/>
                    </a:solidFill>
                  </a:tcPr>
                </a:tc>
                <a:tc>
                  <a:txBody>
                    <a:bodyPr/>
                    <a:lstStyle/>
                    <a:p>
                      <a:pPr algn="l"/>
                      <a:r>
                        <a:rPr sz="950" b="0">
                          <a:solidFill>
                            <a:srgbClr val="555555"/>
                          </a:solidFill>
                          <a:latin typeface="メイリオ"/>
                          <a:ea typeface="メイリオ"/>
                          <a:cs typeface="メイリオ"/>
                        </a:rPr>
                        <a:t>友だち限定キャンペーン、地域・宿限定クーポン、季節・エリアの読み物</a:t>
                      </a:r>
                    </a:p>
                  </a:txBody>
                  <a:tcPr marR="72000" marT="30000" marB="30000" anchor="ctr">
                    <a:solidFill>
                      <a:srgbClr val="FFFFFF"/>
                    </a:solidFill>
                  </a:tcPr>
                </a:tc>
                <a:tc>
                  <a:txBody>
                    <a:bodyPr/>
                    <a:lstStyle/>
                    <a:p>
                      <a:pPr algn="l"/>
                      <a:r>
                        <a:rPr sz="950" b="0">
                          <a:solidFill>
                            <a:srgbClr val="555555"/>
                          </a:solidFill>
                          <a:latin typeface="メイリオ"/>
                          <a:ea typeface="メイリオ"/>
                          <a:cs typeface="メイリオ"/>
                        </a:rPr>
                        <a:t>「お得情報＋季節の読み物」の2本立て</a:t>
                      </a:r>
                    </a:p>
                  </a:txBody>
                  <a:tcPr marR="72000" marT="30000" marB="30000" anchor="ctr">
                    <a:solidFill>
                      <a:srgbClr val="FFFFFF"/>
                    </a:solidFill>
                  </a:tcPr>
                </a:tc>
                <a:extLst>
                  <a:ext uri="{0D108BD9-81ED-4DB2-BD59-A6C34878D82A}">
                    <a16:rowId xmlns:a16="http://schemas.microsoft.com/office/drawing/2014/main" val="10001"/>
                  </a:ext>
                </a:extLst>
              </a:tr>
              <a:tr h="470000">
                <a:tc>
                  <a:txBody>
                    <a:bodyPr/>
                    <a:lstStyle/>
                    <a:p>
                      <a:pPr algn="l"/>
                      <a:r>
                        <a:rPr sz="950" b="1">
                          <a:solidFill>
                            <a:srgbClr val="1F3A5F"/>
                          </a:solidFill>
                          <a:latin typeface="メイリオ"/>
                          <a:ea typeface="メイリオ"/>
                          <a:cs typeface="メイリオ"/>
                        </a:rPr>
                        <a:t>ゆめやど</a:t>
                      </a:r>
                    </a:p>
                  </a:txBody>
                  <a:tcPr marR="72000" marT="30000" marB="30000" anchor="ctr">
                    <a:solidFill>
                      <a:srgbClr val="F2F5F9"/>
                    </a:solidFill>
                  </a:tcPr>
                </a:tc>
                <a:tc>
                  <a:txBody>
                    <a:bodyPr/>
                    <a:lstStyle/>
                    <a:p>
                      <a:pPr algn="l"/>
                      <a:r>
                        <a:rPr sz="950" b="0">
                          <a:solidFill>
                            <a:srgbClr val="555555"/>
                          </a:solidFill>
                          <a:latin typeface="メイリオ"/>
                          <a:ea typeface="メイリオ"/>
                          <a:cs typeface="メイリオ"/>
                        </a:rPr>
                        <a:t>厳選温泉宿の予約（友だち約4万）</a:t>
                      </a:r>
                    </a:p>
                  </a:txBody>
                  <a:tcPr marR="72000" marT="30000" marB="30000" anchor="ctr">
                    <a:solidFill>
                      <a:srgbClr val="F2F5F9"/>
                    </a:solidFill>
                  </a:tcPr>
                </a:tc>
                <a:tc>
                  <a:txBody>
                    <a:bodyPr/>
                    <a:lstStyle/>
                    <a:p>
                      <a:pPr algn="l"/>
                      <a:r>
                        <a:rPr sz="950" b="0">
                          <a:solidFill>
                            <a:srgbClr val="555555"/>
                          </a:solidFill>
                          <a:latin typeface="メイリオ"/>
                          <a:ea typeface="メイリオ"/>
                          <a:cs typeface="メイリオ"/>
                        </a:rPr>
                        <a:t>目的別・エリア別の特集、季節セール・早割</a:t>
                      </a:r>
                    </a:p>
                  </a:txBody>
                  <a:tcPr marR="72000" marT="30000" marB="30000" anchor="ctr">
                    <a:solidFill>
                      <a:srgbClr val="F2F5F9"/>
                    </a:solidFill>
                  </a:tcPr>
                </a:tc>
                <a:tc>
                  <a:txBody>
                    <a:bodyPr/>
                    <a:lstStyle/>
                    <a:p>
                      <a:pPr algn="l"/>
                      <a:r>
                        <a:rPr sz="950" b="0">
                          <a:solidFill>
                            <a:srgbClr val="555555"/>
                          </a:solidFill>
                          <a:latin typeface="メイリオ"/>
                          <a:ea typeface="メイリオ"/>
                          <a:cs typeface="メイリオ"/>
                        </a:rPr>
                        <a:t>業態・規模が最も近い比較対象</a:t>
                      </a:r>
                    </a:p>
                  </a:txBody>
                  <a:tcPr marR="72000" marT="30000" marB="30000" anchor="ctr">
                    <a:solidFill>
                      <a:srgbClr val="F2F5F9"/>
                    </a:solidFill>
                  </a:tcPr>
                </a:tc>
                <a:extLst>
                  <a:ext uri="{0D108BD9-81ED-4DB2-BD59-A6C34878D82A}">
                    <a16:rowId xmlns:a16="http://schemas.microsoft.com/office/drawing/2014/main" val="10002"/>
                  </a:ext>
                </a:extLst>
              </a:tr>
              <a:tr h="470000">
                <a:tc>
                  <a:txBody>
                    <a:bodyPr/>
                    <a:lstStyle/>
                    <a:p>
                      <a:pPr algn="l"/>
                      <a:r>
                        <a:rPr sz="950" b="1">
                          <a:solidFill>
                            <a:srgbClr val="1F3A5F"/>
                          </a:solidFill>
                          <a:latin typeface="メイリオ"/>
                          <a:ea typeface="メイリオ"/>
                          <a:cs typeface="メイリオ"/>
                        </a:rPr>
                        <a:t>Relux</a:t>
                      </a:r>
                    </a:p>
                  </a:txBody>
                  <a:tcPr marR="72000" marT="30000" marB="30000" anchor="ctr">
                    <a:solidFill>
                      <a:srgbClr val="FFFFFF"/>
                    </a:solidFill>
                  </a:tcPr>
                </a:tc>
                <a:tc>
                  <a:txBody>
                    <a:bodyPr/>
                    <a:lstStyle/>
                    <a:p>
                      <a:pPr algn="l"/>
                      <a:r>
                        <a:rPr sz="950" b="0">
                          <a:solidFill>
                            <a:srgbClr val="555555"/>
                          </a:solidFill>
                          <a:latin typeface="メイリオ"/>
                          <a:ea typeface="メイリオ"/>
                          <a:cs typeface="メイリオ"/>
                        </a:rPr>
                        <a:t>厳選宿の予約サイト</a:t>
                      </a:r>
                    </a:p>
                  </a:txBody>
                  <a:tcPr marR="72000" marT="30000" marB="30000" anchor="ctr">
                    <a:solidFill>
                      <a:srgbClr val="FFFFFF"/>
                    </a:solidFill>
                  </a:tcPr>
                </a:tc>
                <a:tc>
                  <a:txBody>
                    <a:bodyPr/>
                    <a:lstStyle/>
                    <a:p>
                      <a:pPr algn="l"/>
                      <a:r>
                        <a:rPr sz="950" b="0">
                          <a:solidFill>
                            <a:srgbClr val="555555"/>
                          </a:solidFill>
                          <a:latin typeface="メイリオ"/>
                          <a:ea typeface="メイリオ"/>
                          <a:cs typeface="メイリオ"/>
                        </a:rPr>
                        <a:t>SNS限定クーポン、LINEでの宿相談、誕生日クーポン</a:t>
                      </a:r>
                    </a:p>
                  </a:txBody>
                  <a:tcPr marR="72000" marT="30000" marB="30000" anchor="ctr">
                    <a:solidFill>
                      <a:srgbClr val="FFFFFF"/>
                    </a:solidFill>
                  </a:tcPr>
                </a:tc>
                <a:tc>
                  <a:txBody>
                    <a:bodyPr/>
                    <a:lstStyle/>
                    <a:p>
                      <a:pPr algn="l"/>
                      <a:r>
                        <a:rPr sz="950" b="0">
                          <a:solidFill>
                            <a:srgbClr val="555555"/>
                          </a:solidFill>
                          <a:latin typeface="メイリオ"/>
                          <a:ea typeface="メイリオ"/>
                          <a:cs typeface="メイリオ"/>
                        </a:rPr>
                        <a:t>LINE相談で平日日中以外の窓口に</a:t>
                      </a:r>
                    </a:p>
                  </a:txBody>
                  <a:tcPr marR="72000" marT="30000" marB="30000" anchor="ctr">
                    <a:solidFill>
                      <a:srgbClr val="FFFFFF"/>
                    </a:solidFill>
                  </a:tcPr>
                </a:tc>
                <a:extLst>
                  <a:ext uri="{0D108BD9-81ED-4DB2-BD59-A6C34878D82A}">
                    <a16:rowId xmlns:a16="http://schemas.microsoft.com/office/drawing/2014/main" val="10003"/>
                  </a:ext>
                </a:extLst>
              </a:tr>
              <a:tr h="470000">
                <a:tc>
                  <a:txBody>
                    <a:bodyPr/>
                    <a:lstStyle/>
                    <a:p>
                      <a:pPr algn="l"/>
                      <a:r>
                        <a:rPr sz="950" b="1">
                          <a:solidFill>
                            <a:srgbClr val="1F3A5F"/>
                          </a:solidFill>
                          <a:latin typeface="メイリオ"/>
                          <a:ea typeface="メイリオ"/>
                          <a:cs typeface="メイリオ"/>
                        </a:rPr>
                        <a:t>一休.com</a:t>
                      </a:r>
                    </a:p>
                  </a:txBody>
                  <a:tcPr marR="72000" marT="30000" marB="30000" anchor="ctr">
                    <a:solidFill>
                      <a:srgbClr val="F2F5F9"/>
                    </a:solidFill>
                  </a:tcPr>
                </a:tc>
                <a:tc>
                  <a:txBody>
                    <a:bodyPr/>
                    <a:lstStyle/>
                    <a:p>
                      <a:pPr algn="l"/>
                      <a:r>
                        <a:rPr sz="950" b="0">
                          <a:solidFill>
                            <a:srgbClr val="555555"/>
                          </a:solidFill>
                          <a:latin typeface="メイリオ"/>
                          <a:ea typeface="メイリオ"/>
                          <a:cs typeface="メイリオ"/>
                        </a:rPr>
                        <a:t>高級宿の予約サイト</a:t>
                      </a:r>
                    </a:p>
                  </a:txBody>
                  <a:tcPr marR="72000" marT="30000" marB="30000" anchor="ctr">
                    <a:solidFill>
                      <a:srgbClr val="F2F5F9"/>
                    </a:solidFill>
                  </a:tcPr>
                </a:tc>
                <a:tc>
                  <a:txBody>
                    <a:bodyPr/>
                    <a:lstStyle/>
                    <a:p>
                      <a:pPr algn="l"/>
                      <a:r>
                        <a:rPr sz="950" b="0">
                          <a:solidFill>
                            <a:srgbClr val="555555"/>
                          </a:solidFill>
                          <a:latin typeface="メイリオ"/>
                          <a:ea typeface="メイリオ"/>
                          <a:cs typeface="メイリオ"/>
                        </a:rPr>
                        <a:t>LINE連携で「宿泊前のお知らせ」をLINEに配信</a:t>
                      </a:r>
                    </a:p>
                  </a:txBody>
                  <a:tcPr marR="72000" marT="30000" marB="30000" anchor="ctr">
                    <a:solidFill>
                      <a:srgbClr val="F2F5F9"/>
                    </a:solidFill>
                  </a:tcPr>
                </a:tc>
                <a:tc>
                  <a:txBody>
                    <a:bodyPr/>
                    <a:lstStyle/>
                    <a:p>
                      <a:pPr algn="l"/>
                      <a:r>
                        <a:rPr sz="950" b="0">
                          <a:solidFill>
                            <a:srgbClr val="555555"/>
                          </a:solidFill>
                          <a:latin typeface="メイリオ"/>
                          <a:ea typeface="メイリオ"/>
                          <a:cs typeface="メイリオ"/>
                        </a:rPr>
                        <a:t>連携する理由を実用面で作る</a:t>
                      </a:r>
                    </a:p>
                  </a:txBody>
                  <a:tcPr marR="72000" marT="30000" marB="30000" anchor="ctr">
                    <a:solidFill>
                      <a:srgbClr val="F2F5F9"/>
                    </a:solidFill>
                  </a:tcPr>
                </a:tc>
                <a:extLst>
                  <a:ext uri="{0D108BD9-81ED-4DB2-BD59-A6C34878D82A}">
                    <a16:rowId xmlns:a16="http://schemas.microsoft.com/office/drawing/2014/main" val="10004"/>
                  </a:ext>
                </a:extLst>
              </a:tr>
              <a:tr h="470000">
                <a:tc>
                  <a:txBody>
                    <a:bodyPr/>
                    <a:lstStyle/>
                    <a:p>
                      <a:pPr algn="l"/>
                      <a:r>
                        <a:rPr sz="950" b="1">
                          <a:solidFill>
                            <a:srgbClr val="1F3A5F"/>
                          </a:solidFill>
                          <a:latin typeface="メイリオ"/>
                          <a:ea typeface="メイリオ"/>
                          <a:cs typeface="メイリオ"/>
                        </a:rPr>
                        <a:t>日本旅行</a:t>
                      </a:r>
                    </a:p>
                  </a:txBody>
                  <a:tcPr marR="72000" marT="30000" marB="30000" anchor="ctr">
                    <a:solidFill>
                      <a:srgbClr val="FFFFFF"/>
                    </a:solidFill>
                  </a:tcPr>
                </a:tc>
                <a:tc>
                  <a:txBody>
                    <a:bodyPr/>
                    <a:lstStyle/>
                    <a:p>
                      <a:pPr algn="l"/>
                      <a:r>
                        <a:rPr sz="950" b="0">
                          <a:solidFill>
                            <a:srgbClr val="555555"/>
                          </a:solidFill>
                          <a:latin typeface="メイリオ"/>
                          <a:ea typeface="メイリオ"/>
                          <a:cs typeface="メイリオ"/>
                        </a:rPr>
                        <a:t>旅行会社</a:t>
                      </a:r>
                    </a:p>
                  </a:txBody>
                  <a:tcPr marR="72000" marT="30000" marB="30000" anchor="ctr">
                    <a:solidFill>
                      <a:srgbClr val="FFFFFF"/>
                    </a:solidFill>
                  </a:tcPr>
                </a:tc>
                <a:tc>
                  <a:txBody>
                    <a:bodyPr/>
                    <a:lstStyle/>
                    <a:p>
                      <a:pPr algn="l"/>
                      <a:r>
                        <a:rPr sz="950" b="0">
                          <a:solidFill>
                            <a:srgbClr val="555555"/>
                          </a:solidFill>
                          <a:latin typeface="メイリオ"/>
                          <a:ea typeface="メイリオ"/>
                          <a:cs typeface="メイリオ"/>
                        </a:rPr>
                        <a:t>LINE連携で500円クーポン＋出発前の旅先情報</a:t>
                      </a:r>
                    </a:p>
                  </a:txBody>
                  <a:tcPr marR="72000" marT="30000" marB="30000" anchor="ctr">
                    <a:solidFill>
                      <a:srgbClr val="FFFFFF"/>
                    </a:solidFill>
                  </a:tcPr>
                </a:tc>
                <a:tc>
                  <a:txBody>
                    <a:bodyPr/>
                    <a:lstStyle/>
                    <a:p>
                      <a:pPr algn="l"/>
                      <a:r>
                        <a:rPr sz="950" b="0">
                          <a:solidFill>
                            <a:srgbClr val="555555"/>
                          </a:solidFill>
                          <a:latin typeface="メイリオ"/>
                          <a:ea typeface="メイリオ"/>
                          <a:cs typeface="メイリオ"/>
                        </a:rPr>
                        <a:t>連携の即時特典</a:t>
                      </a:r>
                    </a:p>
                  </a:txBody>
                  <a:tcPr marR="72000" marT="30000" marB="30000" anchor="ctr">
                    <a:solidFill>
                      <a:srgbClr val="FFFFFF"/>
                    </a:solidFill>
                  </a:tcPr>
                </a:tc>
                <a:extLst>
                  <a:ext uri="{0D108BD9-81ED-4DB2-BD59-A6C34878D82A}">
                    <a16:rowId xmlns:a16="http://schemas.microsoft.com/office/drawing/2014/main" val="10005"/>
                  </a:ext>
                </a:extLst>
              </a:tr>
              <a:tr h="470000">
                <a:tc>
                  <a:txBody>
                    <a:bodyPr/>
                    <a:lstStyle/>
                    <a:p>
                      <a:pPr algn="l"/>
                      <a:r>
                        <a:rPr sz="950" b="1">
                          <a:solidFill>
                            <a:srgbClr val="1F3A5F"/>
                          </a:solidFill>
                          <a:latin typeface="メイリオ"/>
                          <a:ea typeface="メイリオ"/>
                          <a:cs typeface="メイリオ"/>
                        </a:rPr>
                        <a:t>大江戸温泉物語</a:t>
                      </a:r>
                    </a:p>
                  </a:txBody>
                  <a:tcPr marR="72000" marT="30000" marB="30000" anchor="ctr">
                    <a:solidFill>
                      <a:srgbClr val="F2F5F9"/>
                    </a:solidFill>
                  </a:tcPr>
                </a:tc>
                <a:tc>
                  <a:txBody>
                    <a:bodyPr/>
                    <a:lstStyle/>
                    <a:p>
                      <a:pPr algn="l"/>
                      <a:r>
                        <a:rPr sz="950" b="0">
                          <a:solidFill>
                            <a:srgbClr val="555555"/>
                          </a:solidFill>
                          <a:latin typeface="メイリオ"/>
                          <a:ea typeface="メイリオ"/>
                          <a:cs typeface="メイリオ"/>
                        </a:rPr>
                        <a:t>温泉宿チェーン（友だち約44万）</a:t>
                      </a:r>
                    </a:p>
                  </a:txBody>
                  <a:tcPr marR="72000" marT="30000" marB="30000" anchor="ctr">
                    <a:solidFill>
                      <a:srgbClr val="F2F5F9"/>
                    </a:solidFill>
                  </a:tcPr>
                </a:tc>
                <a:tc>
                  <a:txBody>
                    <a:bodyPr/>
                    <a:lstStyle/>
                    <a:p>
                      <a:pPr algn="l"/>
                      <a:r>
                        <a:rPr sz="950" b="0">
                          <a:solidFill>
                            <a:srgbClr val="555555"/>
                          </a:solidFill>
                          <a:latin typeface="メイリオ"/>
                          <a:ea typeface="メイリオ"/>
                          <a:cs typeface="メイリオ"/>
                        </a:rPr>
                        <a:t>LINEログイン連携で500円クーポン、宿泊実績による会員ランク</a:t>
                      </a:r>
                    </a:p>
                  </a:txBody>
                  <a:tcPr marR="72000" marT="30000" marB="30000" anchor="ctr">
                    <a:solidFill>
                      <a:srgbClr val="F2F5F9"/>
                    </a:solidFill>
                  </a:tcPr>
                </a:tc>
                <a:tc>
                  <a:txBody>
                    <a:bodyPr/>
                    <a:lstStyle/>
                    <a:p>
                      <a:pPr algn="l"/>
                      <a:r>
                        <a:rPr sz="950" b="0">
                          <a:solidFill>
                            <a:srgbClr val="555555"/>
                          </a:solidFill>
                          <a:latin typeface="メイリオ"/>
                          <a:ea typeface="メイリオ"/>
                          <a:cs typeface="メイリオ"/>
                        </a:rPr>
                        <a:t>即時特典＋リピートの仕組み</a:t>
                      </a:r>
                    </a:p>
                  </a:txBody>
                  <a:tcPr marR="72000" marT="30000" marB="30000" anchor="ctr">
                    <a:solidFill>
                      <a:srgbClr val="F2F5F9"/>
                    </a:solidFill>
                  </a:tcPr>
                </a:tc>
                <a:extLst>
                  <a:ext uri="{0D108BD9-81ED-4DB2-BD59-A6C34878D82A}">
                    <a16:rowId xmlns:a16="http://schemas.microsoft.com/office/drawing/2014/main" val="10006"/>
                  </a:ext>
                </a:extLst>
              </a:tr>
              <a:tr h="470000">
                <a:tc>
                  <a:txBody>
                    <a:bodyPr/>
                    <a:lstStyle/>
                    <a:p>
                      <a:pPr algn="l"/>
                      <a:r>
                        <a:rPr sz="950" b="1">
                          <a:solidFill>
                            <a:srgbClr val="06C755"/>
                          </a:solidFill>
                          <a:latin typeface="メイリオ"/>
                          <a:ea typeface="メイリオ"/>
                          <a:cs typeface="メイリオ"/>
                        </a:rPr>
                        <a:t>お宿ねっと</a:t>
                      </a:r>
                    </a:p>
                  </a:txBody>
                  <a:tcPr marR="72000" marT="30000" marB="30000" anchor="ctr">
                    <a:solidFill>
                      <a:srgbClr val="FFFFFF"/>
                    </a:solidFill>
                  </a:tcPr>
                </a:tc>
                <a:tc>
                  <a:txBody>
                    <a:bodyPr/>
                    <a:lstStyle/>
                    <a:p>
                      <a:pPr algn="l"/>
                      <a:r>
                        <a:rPr sz="950" b="0">
                          <a:solidFill>
                            <a:srgbClr val="555555"/>
                          </a:solidFill>
                          <a:latin typeface="メイリオ"/>
                          <a:ea typeface="メイリオ"/>
                          <a:cs typeface="メイリオ"/>
                        </a:rPr>
                        <a:t>厳選宿のポータル（友だち約3.5万）</a:t>
                      </a:r>
                    </a:p>
                  </a:txBody>
                  <a:tcPr marR="72000" marT="30000" marB="30000" anchor="ctr">
                    <a:solidFill>
                      <a:srgbClr val="FFFFFF"/>
                    </a:solidFill>
                  </a:tcPr>
                </a:tc>
                <a:tc>
                  <a:txBody>
                    <a:bodyPr/>
                    <a:lstStyle/>
                    <a:p>
                      <a:pPr algn="l"/>
                      <a:r>
                        <a:rPr sz="950" b="1">
                          <a:solidFill>
                            <a:srgbClr val="C00000"/>
                          </a:solidFill>
                          <a:latin typeface="メイリオ"/>
                          <a:ea typeface="メイリオ"/>
                          <a:cs typeface="メイリオ"/>
                        </a:rPr>
                        <a:t>会員登録の案内のみ。特典は次回宿泊から</a:t>
                      </a:r>
                    </a:p>
                  </a:txBody>
                  <a:tcPr marR="72000" marT="30000" marB="30000" anchor="ctr">
                    <a:solidFill>
                      <a:srgbClr val="FFFFFF"/>
                    </a:solidFill>
                  </a:tcPr>
                </a:tc>
                <a:tc>
                  <a:txBody>
                    <a:bodyPr/>
                    <a:lstStyle/>
                    <a:p>
                      <a:pPr algn="l"/>
                      <a:r>
                        <a:rPr sz="950" b="0">
                          <a:solidFill>
                            <a:srgbClr val="555555"/>
                          </a:solidFill>
                          <a:latin typeface="メイリオ"/>
                          <a:ea typeface="メイリオ"/>
                          <a:cs typeface="メイリオ"/>
                        </a:rPr>
                        <a:t>─</a:t>
                      </a:r>
                    </a:p>
                  </a:txBody>
                  <a:tcPr marR="72000" marT="30000" marB="30000" anchor="ctr">
                    <a:solidFill>
                      <a:srgbClr val="FFFFFF"/>
                    </a:solidFill>
                  </a:tcPr>
                </a:tc>
                <a:extLst>
                  <a:ext uri="{0D108BD9-81ED-4DB2-BD59-A6C34878D82A}">
                    <a16:rowId xmlns:a16="http://schemas.microsoft.com/office/drawing/2014/main" val="10007"/>
                  </a:ext>
                </a:extLst>
              </a:tr>
            </a:tbl>
          </a:graphicData>
        </a:graphic>
      </p:graphicFrame>
      <p:sp>
        <p:nvSpPr>
          <p:cNvPr id="905" name="Rounded Rectangle 904"/>
          <p:cNvSpPr/>
          <p:nvPr/>
        </p:nvSpPr>
        <p:spPr>
          <a:xfrm>
            <a:off x="384048" y="5410000"/>
            <a:ext cx="9134856" cy="520000"/>
          </a:xfrm>
          <a:prstGeom prst="roundRect">
            <a:avLst>
              <a:gd name="adj" fmla="val 12000"/>
            </a:avLst>
          </a:prstGeom>
          <a:solidFill>
            <a:srgbClr val="24345A"/>
          </a:solidFill>
          <a:ln>
            <a:noFill/>
          </a:ln>
          <a:effectLst/>
        </p:spPr>
        <p:txBody>
          <a:bodyPr wrap="square" lIns="72000" tIns="36000" rIns="72000" bIns="36000" rtlCol="0" anchor="ctr"/>
          <a:lstStyle/>
          <a:p>
            <a:pPr algn="ctr"/>
            <a:r>
              <a:rPr sz="1200" b="1">
                <a:solidFill>
                  <a:srgbClr val="FFFFFF"/>
                </a:solidFill>
                <a:latin typeface="メイリオ"/>
                <a:ea typeface="メイリオ"/>
                <a:cs typeface="メイリオ"/>
              </a:rPr>
              <a:t>お宿ねっとの勝ち筋は「お得さの量」ではなく、16施設の厳選と「まるごとおもてなし®」＝この宿に行く理由</a:t>
            </a:r>
          </a:p>
        </p:txBody>
      </p:sp>
      <p:sp>
        <p:nvSpPr>
          <p:cNvPr id="906" name="TextBox 905"/>
          <p:cNvSpPr txBox="1"/>
          <p:nvPr/>
        </p:nvSpPr>
        <p:spPr>
          <a:xfrm>
            <a:off x="384048" y="6200000"/>
            <a:ext cx="9134856" cy="250000"/>
          </a:xfrm>
          <a:prstGeom prst="rect">
            <a:avLst/>
          </a:prstGeom>
          <a:noFill/>
        </p:spPr>
        <p:txBody>
          <a:bodyPr wrap="square" lIns="72000" tIns="36000" rIns="72000" bIns="36000" anchor="t">
            <a:spAutoFit/>
          </a:bodyPr>
          <a:lstStyle/>
          <a:p>
            <a:pPr algn="l"/>
            <a:r>
              <a:rPr sz="900" b="0">
                <a:solidFill>
                  <a:srgbClr val="555555"/>
                </a:solidFill>
                <a:latin typeface="メイリオ"/>
                <a:ea typeface="メイリオ"/>
                <a:cs typeface="メイリオ"/>
              </a:rPr>
              <a:t>※友だち数は各社LINE公式アカウントのプロフィール（2026年10月時点）、施策は各社公開情報より</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883" y="138118"/>
            <a:ext cx="7900000" cy="338554"/>
          </a:xfrm>
          <a:prstGeom prst="rect">
            <a:avLst/>
          </a:prstGeom>
          <a:noFill/>
        </p:spPr>
        <p:txBody>
          <a:bodyPr wrap="square" lIns="72000" tIns="0" rIns="72000" bIns="0" anchor="ctr">
            <a:spAutoFit/>
          </a:bodyPr>
          <a:lstStyle/>
          <a:p>
            <a:pPr algn="l"/>
            <a:r>
              <a:rPr sz="1600" b="1">
                <a:solidFill>
                  <a:srgbClr val="002060"/>
                </a:solidFill>
                <a:latin typeface="メイリオ"/>
                <a:ea typeface="メイリオ"/>
                <a:cs typeface="メイリオ"/>
              </a:rPr>
              <a:t>資料アジェンダ</a:t>
            </a:r>
          </a:p>
        </p:txBody>
      </p:sp>
      <p:sp>
        <p:nvSpPr>
          <p:cNvPr id="3" name="TextBox 2"/>
          <p:cNvSpPr txBox="1"/>
          <p:nvPr/>
        </p:nvSpPr>
        <p:spPr>
          <a:xfrm>
            <a:off x="384048" y="2350000"/>
            <a:ext cx="9134856" cy="360000"/>
          </a:xfrm>
          <a:prstGeom prst="rect">
            <a:avLst/>
          </a:prstGeom>
          <a:noFill/>
        </p:spPr>
        <p:txBody>
          <a:bodyPr wrap="square" lIns="72000" tIns="36000" rIns="72000" bIns="36000" anchor="ctr">
            <a:spAutoFit/>
          </a:bodyPr>
          <a:lstStyle/>
          <a:p>
            <a:pPr algn="ctr"/>
            <a:r>
              <a:rPr sz="1200" b="1">
                <a:solidFill>
                  <a:srgbClr val="7F8896"/>
                </a:solidFill>
                <a:latin typeface="メイリオ"/>
                <a:ea typeface="メイリオ"/>
                <a:cs typeface="メイリオ"/>
              </a:rPr>
              <a:t>SECTION 2</a:t>
            </a:r>
          </a:p>
        </p:txBody>
      </p:sp>
      <p:sp>
        <p:nvSpPr>
          <p:cNvPr id="4" name="TextBox 3"/>
          <p:cNvSpPr txBox="1"/>
          <p:nvPr/>
        </p:nvSpPr>
        <p:spPr>
          <a:xfrm>
            <a:off x="384048" y="2750000"/>
            <a:ext cx="9134856" cy="700000"/>
          </a:xfrm>
          <a:prstGeom prst="rect">
            <a:avLst/>
          </a:prstGeom>
          <a:noFill/>
        </p:spPr>
        <p:txBody>
          <a:bodyPr wrap="square" lIns="72000" tIns="36000" rIns="72000" bIns="36000" anchor="ctr">
            <a:spAutoFit/>
          </a:bodyPr>
          <a:lstStyle/>
          <a:p>
            <a:pPr algn="ctr"/>
            <a:r>
              <a:rPr sz="3200" b="1">
                <a:solidFill>
                  <a:srgbClr val="404040"/>
                </a:solidFill>
                <a:latin typeface="メイリオ"/>
                <a:ea typeface="メイリオ"/>
                <a:cs typeface="メイリオ"/>
              </a:rPr>
              <a:t>ご提案</a:t>
            </a:r>
          </a:p>
        </p:txBody>
      </p:sp>
      <p:sp>
        <p:nvSpPr>
          <p:cNvPr id="5" name="TextBox 4"/>
          <p:cNvSpPr txBox="1"/>
          <p:nvPr/>
        </p:nvSpPr>
        <p:spPr>
          <a:xfrm>
            <a:off x="384048" y="3500000"/>
            <a:ext cx="9134856" cy="400000"/>
          </a:xfrm>
          <a:prstGeom prst="rect">
            <a:avLst/>
          </a:prstGeom>
          <a:noFill/>
        </p:spPr>
        <p:txBody>
          <a:bodyPr wrap="square" lIns="72000" tIns="36000" rIns="72000" bIns="36000" anchor="ctr">
            <a:spAutoFit/>
          </a:bodyPr>
          <a:lstStyle/>
          <a:p>
            <a:pPr algn="ctr"/>
            <a:r>
              <a:rPr sz="1300" b="0">
                <a:solidFill>
                  <a:srgbClr val="7F7F7F"/>
                </a:solidFill>
                <a:latin typeface="メイリオ"/>
                <a:ea typeface="メイリオ"/>
                <a:cs typeface="メイリオ"/>
              </a:rPr>
              <a:t>予算配分・初期構築・ステップ配信・月1企画投稿</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LeadBand"/>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anchor="ctr"/>
          <a:lstStyle/>
          <a:p>
            <a:endParaRPr lang="ja-JP"/>
          </a:p>
        </p:txBody>
      </p:sp>
      <p:cxnSp>
        <p:nvCxnSpPr>
          <p:cNvPr id="901" name="LeadBandLine"/>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902" name="TextBox 901"/>
          <p:cNvSpPr txBox="1"/>
          <p:nvPr/>
        </p:nvSpPr>
        <p:spPr>
          <a:xfrm>
            <a:off x="379976" y="635062"/>
            <a:ext cx="9160881" cy="698492"/>
          </a:xfrm>
          <a:prstGeom prst="rect">
            <a:avLst/>
          </a:prstGeom>
          <a:noFill/>
        </p:spPr>
        <p:txBody>
          <a:bodyPr wrap="square" lIns="72000" tIns="36000" rIns="72000" bIns="36000" anchor="ctr">
            <a:spAutoFit/>
          </a:bodyPr>
          <a:lstStyle/>
          <a:p>
            <a:pPr algn="ctr"/>
            <a:r>
              <a:rPr sz="1200" b="0">
                <a:solidFill>
                  <a:srgbClr val="333333"/>
                </a:solidFill>
                <a:latin typeface="メイリオ"/>
                <a:ea typeface="メイリオ"/>
                <a:cs typeface="メイリオ"/>
              </a:rPr>
              <a:t>予算を「集める」だけに使う形から、「予約に変える」にも配分します</a:t>
            </a:r>
          </a:p>
        </p:txBody>
      </p:sp>
      <p:sp>
        <p:nvSpPr>
          <p:cNvPr id="903" name="TextBox 902"/>
          <p:cNvSpPr txBox="1"/>
          <p:nvPr/>
        </p:nvSpPr>
        <p:spPr>
          <a:xfrm>
            <a:off x="548883" y="138118"/>
            <a:ext cx="7900000" cy="338554"/>
          </a:xfrm>
          <a:prstGeom prst="rect">
            <a:avLst/>
          </a:prstGeom>
          <a:noFill/>
        </p:spPr>
        <p:txBody>
          <a:bodyPr wrap="square" lIns="72000" tIns="0" rIns="72000" bIns="0" anchor="ctr">
            <a:spAutoFit/>
          </a:bodyPr>
          <a:lstStyle/>
          <a:p>
            <a:pPr algn="l"/>
            <a:r>
              <a:rPr sz="1600" b="1">
                <a:solidFill>
                  <a:srgbClr val="002060"/>
                </a:solidFill>
                <a:latin typeface="メイリオ"/>
                <a:ea typeface="メイリオ"/>
                <a:cs typeface="メイリオ"/>
              </a:rPr>
              <a:t>提案方針：穴を塞いでから、水を注ぐ</a:t>
            </a:r>
          </a:p>
        </p:txBody>
      </p:sp>
      <p:sp>
        <p:nvSpPr>
          <p:cNvPr id="904" name="Rounded Rectangle 903"/>
          <p:cNvSpPr/>
          <p:nvPr/>
        </p:nvSpPr>
        <p:spPr>
          <a:xfrm>
            <a:off x="384048" y="1730000"/>
            <a:ext cx="2849880" cy="2300000"/>
          </a:xfrm>
          <a:prstGeom prst="roundRect">
            <a:avLst>
              <a:gd name="adj" fmla="val 5000"/>
            </a:avLst>
          </a:prstGeom>
          <a:solidFill>
            <a:srgbClr val="EEF1F5"/>
          </a:solidFill>
          <a:ln w="12700">
            <a:solidFill>
              <a:srgbClr val="7F8896"/>
            </a:solidFill>
          </a:ln>
          <a:effectLst/>
        </p:spPr>
        <p:txBody>
          <a:bodyPr rtlCol="0" anchor="ctr"/>
          <a:lstStyle/>
          <a:p>
            <a:pPr algn="ctr"/>
            <a:endParaRPr/>
          </a:p>
        </p:txBody>
      </p:sp>
      <p:sp>
        <p:nvSpPr>
          <p:cNvPr id="905" name="Rounded Rectangle 904"/>
          <p:cNvSpPr/>
          <p:nvPr/>
        </p:nvSpPr>
        <p:spPr>
          <a:xfrm>
            <a:off x="384048" y="1730000"/>
            <a:ext cx="2849880" cy="400000"/>
          </a:xfrm>
          <a:prstGeom prst="roundRect">
            <a:avLst>
              <a:gd name="adj" fmla="val 20000"/>
            </a:avLst>
          </a:prstGeom>
          <a:solidFill>
            <a:srgbClr val="24345A"/>
          </a:solidFill>
          <a:ln>
            <a:noFill/>
          </a:ln>
          <a:effectLst/>
        </p:spPr>
        <p:txBody>
          <a:bodyPr wrap="square" lIns="72000" tIns="36000" rIns="72000" bIns="36000" rtlCol="0" anchor="ctr"/>
          <a:lstStyle/>
          <a:p>
            <a:pPr algn="ctr"/>
            <a:r>
              <a:rPr sz="1300" b="1">
                <a:solidFill>
                  <a:srgbClr val="FFFFFF"/>
                </a:solidFill>
                <a:latin typeface="メイリオ"/>
                <a:ea typeface="メイリオ"/>
                <a:cs typeface="メイリオ"/>
              </a:rPr>
              <a:t>現状</a:t>
            </a:r>
          </a:p>
        </p:txBody>
      </p:sp>
      <p:sp>
        <p:nvSpPr>
          <p:cNvPr id="906" name="TextBox 905"/>
          <p:cNvSpPr txBox="1"/>
          <p:nvPr/>
        </p:nvSpPr>
        <p:spPr>
          <a:xfrm>
            <a:off x="444048" y="2180000"/>
            <a:ext cx="2729880" cy="1483346"/>
          </a:xfrm>
          <a:prstGeom prst="rect">
            <a:avLst/>
          </a:prstGeom>
          <a:noFill/>
        </p:spPr>
        <p:txBody>
          <a:bodyPr wrap="square" lIns="72000" tIns="36000" rIns="72000" bIns="36000" anchor="t">
            <a:spAutoFit/>
          </a:bodyPr>
          <a:lstStyle/>
          <a:p>
            <a:pPr algn="l">
              <a:spcAft>
                <a:spcPts val="400"/>
              </a:spcAft>
            </a:pPr>
            <a:r>
              <a:rPr sz="950" b="0" dirty="0">
                <a:solidFill>
                  <a:srgbClr val="1F3A5F"/>
                </a:solidFill>
                <a:latin typeface="メイリオ"/>
                <a:ea typeface="メイリオ"/>
                <a:cs typeface="メイリオ"/>
              </a:rPr>
              <a:t>● </a:t>
            </a:r>
            <a:r>
              <a:rPr sz="1250" b="0" dirty="0">
                <a:solidFill>
                  <a:srgbClr val="333333"/>
                </a:solidFill>
                <a:latin typeface="メイリオ"/>
                <a:ea typeface="メイリオ"/>
                <a:cs typeface="メイリオ"/>
              </a:rPr>
              <a:t>CPF20万円で友だちを集める</a:t>
            </a:r>
            <a:endParaRPr lang="en-US" sz="1250" b="0" dirty="0">
              <a:solidFill>
                <a:srgbClr val="333333"/>
              </a:solidFill>
              <a:latin typeface="メイリオ"/>
              <a:ea typeface="メイリオ"/>
              <a:cs typeface="メイリオ"/>
            </a:endParaRPr>
          </a:p>
          <a:p>
            <a:pPr algn="l">
              <a:spcAft>
                <a:spcPts val="400"/>
              </a:spcAft>
            </a:pPr>
            <a:endParaRPr sz="1250" b="0" dirty="0">
              <a:solidFill>
                <a:srgbClr val="333333"/>
              </a:solidFill>
              <a:latin typeface="メイリオ"/>
              <a:ea typeface="メイリオ"/>
              <a:cs typeface="メイリオ"/>
            </a:endParaRPr>
          </a:p>
          <a:p>
            <a:pPr algn="l">
              <a:spcAft>
                <a:spcPts val="400"/>
              </a:spcAft>
            </a:pPr>
            <a:r>
              <a:rPr sz="950" b="0" dirty="0">
                <a:solidFill>
                  <a:srgbClr val="1F3A5F"/>
                </a:solidFill>
                <a:latin typeface="メイリオ"/>
                <a:ea typeface="メイリオ"/>
                <a:cs typeface="メイリオ"/>
              </a:rPr>
              <a:t>● </a:t>
            </a:r>
            <a:r>
              <a:rPr sz="1250" b="0" dirty="0" err="1">
                <a:solidFill>
                  <a:srgbClr val="333333"/>
                </a:solidFill>
                <a:latin typeface="メイリオ"/>
                <a:ea typeface="メイリオ"/>
                <a:cs typeface="メイリオ"/>
              </a:rPr>
              <a:t>あいさつの後は配信なし</a:t>
            </a:r>
            <a:endParaRPr lang="en-US" sz="1250" b="0" dirty="0">
              <a:solidFill>
                <a:srgbClr val="333333"/>
              </a:solidFill>
              <a:latin typeface="メイリオ"/>
              <a:ea typeface="メイリオ"/>
              <a:cs typeface="メイリオ"/>
            </a:endParaRPr>
          </a:p>
          <a:p>
            <a:pPr algn="l">
              <a:spcAft>
                <a:spcPts val="400"/>
              </a:spcAft>
            </a:pPr>
            <a:endParaRPr sz="1250" b="0" dirty="0">
              <a:solidFill>
                <a:srgbClr val="333333"/>
              </a:solidFill>
              <a:latin typeface="メイリオ"/>
              <a:ea typeface="メイリオ"/>
              <a:cs typeface="メイリオ"/>
            </a:endParaRPr>
          </a:p>
          <a:p>
            <a:pPr algn="l">
              <a:spcAft>
                <a:spcPts val="400"/>
              </a:spcAft>
            </a:pPr>
            <a:r>
              <a:rPr sz="950" b="0" dirty="0">
                <a:solidFill>
                  <a:srgbClr val="1F3A5F"/>
                </a:solidFill>
                <a:latin typeface="メイリオ"/>
                <a:ea typeface="メイリオ"/>
                <a:cs typeface="メイリオ"/>
              </a:rPr>
              <a:t>● </a:t>
            </a:r>
            <a:r>
              <a:rPr sz="1250" b="0" dirty="0" err="1">
                <a:solidFill>
                  <a:srgbClr val="333333"/>
                </a:solidFill>
                <a:latin typeface="メイリオ"/>
                <a:ea typeface="メイリオ"/>
                <a:cs typeface="メイリオ"/>
              </a:rPr>
              <a:t>集めた友だちが予約に変わらない</a:t>
            </a:r>
            <a:endParaRPr lang="en-US" sz="1250" b="0" dirty="0">
              <a:solidFill>
                <a:srgbClr val="333333"/>
              </a:solidFill>
              <a:latin typeface="メイリオ"/>
              <a:ea typeface="メイリオ"/>
              <a:cs typeface="メイリオ"/>
            </a:endParaRPr>
          </a:p>
          <a:p>
            <a:pPr algn="l">
              <a:spcAft>
                <a:spcPts val="400"/>
              </a:spcAft>
            </a:pPr>
            <a:endParaRPr sz="1250" b="0" dirty="0">
              <a:solidFill>
                <a:srgbClr val="333333"/>
              </a:solidFill>
              <a:latin typeface="メイリオ"/>
              <a:ea typeface="メイリオ"/>
              <a:cs typeface="メイリオ"/>
            </a:endParaRPr>
          </a:p>
        </p:txBody>
      </p:sp>
      <p:sp>
        <p:nvSpPr>
          <p:cNvPr id="907" name="Right Arrow 906"/>
          <p:cNvSpPr/>
          <p:nvPr/>
        </p:nvSpPr>
        <p:spPr>
          <a:xfrm>
            <a:off x="3248928" y="2730000"/>
            <a:ext cx="260000" cy="300000"/>
          </a:xfrm>
          <a:prstGeom prst="rightArrow">
            <a:avLst/>
          </a:prstGeom>
          <a:solidFill>
            <a:srgbClr val="24345A"/>
          </a:solidFill>
          <a:ln>
            <a:noFill/>
          </a:ln>
          <a:effectLst/>
        </p:spPr>
        <p:txBody>
          <a:bodyPr rtlCol="0" anchor="ctr"/>
          <a:lstStyle/>
          <a:p>
            <a:pPr algn="ctr"/>
            <a:endParaRPr/>
          </a:p>
        </p:txBody>
      </p:sp>
      <p:sp>
        <p:nvSpPr>
          <p:cNvPr id="908" name="Rounded Rectangle 907"/>
          <p:cNvSpPr/>
          <p:nvPr/>
        </p:nvSpPr>
        <p:spPr>
          <a:xfrm>
            <a:off x="3526536" y="1730000"/>
            <a:ext cx="2849880" cy="2300000"/>
          </a:xfrm>
          <a:prstGeom prst="roundRect">
            <a:avLst>
              <a:gd name="adj" fmla="val 5000"/>
            </a:avLst>
          </a:prstGeom>
          <a:solidFill>
            <a:srgbClr val="EEF1F5"/>
          </a:solidFill>
          <a:ln w="12700">
            <a:solidFill>
              <a:srgbClr val="7F8896"/>
            </a:solidFill>
          </a:ln>
          <a:effectLst/>
        </p:spPr>
        <p:txBody>
          <a:bodyPr rtlCol="0" anchor="ctr"/>
          <a:lstStyle/>
          <a:p>
            <a:pPr algn="ctr"/>
            <a:endParaRPr/>
          </a:p>
        </p:txBody>
      </p:sp>
      <p:sp>
        <p:nvSpPr>
          <p:cNvPr id="909" name="Rounded Rectangle 908"/>
          <p:cNvSpPr/>
          <p:nvPr/>
        </p:nvSpPr>
        <p:spPr>
          <a:xfrm>
            <a:off x="3526536" y="1730000"/>
            <a:ext cx="2849880" cy="400000"/>
          </a:xfrm>
          <a:prstGeom prst="roundRect">
            <a:avLst>
              <a:gd name="adj" fmla="val 20000"/>
            </a:avLst>
          </a:prstGeom>
          <a:solidFill>
            <a:srgbClr val="06C755"/>
          </a:solidFill>
          <a:ln>
            <a:noFill/>
          </a:ln>
          <a:effectLst/>
        </p:spPr>
        <p:txBody>
          <a:bodyPr wrap="square" lIns="72000" tIns="36000" rIns="72000" bIns="36000" rtlCol="0" anchor="ctr"/>
          <a:lstStyle/>
          <a:p>
            <a:pPr algn="ctr"/>
            <a:r>
              <a:rPr sz="1300" b="1">
                <a:solidFill>
                  <a:srgbClr val="FFFFFF"/>
                </a:solidFill>
                <a:latin typeface="メイリオ"/>
                <a:ea typeface="メイリオ"/>
                <a:cs typeface="メイリオ"/>
              </a:rPr>
              <a:t>LINEの仕組み</a:t>
            </a:r>
          </a:p>
        </p:txBody>
      </p:sp>
      <p:sp>
        <p:nvSpPr>
          <p:cNvPr id="910" name="TextBox 909"/>
          <p:cNvSpPr txBox="1"/>
          <p:nvPr/>
        </p:nvSpPr>
        <p:spPr>
          <a:xfrm>
            <a:off x="3586536" y="2180000"/>
            <a:ext cx="2729880" cy="1624410"/>
          </a:xfrm>
          <a:prstGeom prst="rect">
            <a:avLst/>
          </a:prstGeom>
          <a:noFill/>
        </p:spPr>
        <p:txBody>
          <a:bodyPr wrap="square" lIns="72000" tIns="36000" rIns="72000" bIns="36000" anchor="t">
            <a:spAutoFit/>
          </a:bodyPr>
          <a:lstStyle/>
          <a:p>
            <a:pPr algn="l">
              <a:spcAft>
                <a:spcPts val="400"/>
              </a:spcAft>
            </a:pPr>
            <a:r>
              <a:rPr sz="950" b="0" dirty="0">
                <a:solidFill>
                  <a:srgbClr val="06C755"/>
                </a:solidFill>
                <a:latin typeface="メイリオ"/>
                <a:ea typeface="メイリオ"/>
                <a:cs typeface="メイリオ"/>
              </a:rPr>
              <a:t>● </a:t>
            </a:r>
            <a:r>
              <a:rPr sz="1250" b="0" dirty="0" err="1">
                <a:solidFill>
                  <a:srgbClr val="333333"/>
                </a:solidFill>
                <a:latin typeface="メイリオ"/>
                <a:ea typeface="メイリオ"/>
                <a:cs typeface="メイリオ"/>
              </a:rPr>
              <a:t>あいさつで「何が得か」を伝える</a:t>
            </a:r>
            <a:endParaRPr lang="en-US" sz="1250" b="0" dirty="0">
              <a:solidFill>
                <a:srgbClr val="333333"/>
              </a:solidFill>
              <a:latin typeface="メイリオ"/>
              <a:ea typeface="メイリオ"/>
              <a:cs typeface="メイリオ"/>
            </a:endParaRPr>
          </a:p>
          <a:p>
            <a:pPr algn="l">
              <a:spcAft>
                <a:spcPts val="400"/>
              </a:spcAft>
            </a:pPr>
            <a:endParaRPr sz="1250" b="0" dirty="0">
              <a:solidFill>
                <a:srgbClr val="333333"/>
              </a:solidFill>
              <a:latin typeface="メイリオ"/>
              <a:ea typeface="メイリオ"/>
              <a:cs typeface="メイリオ"/>
            </a:endParaRPr>
          </a:p>
          <a:p>
            <a:pPr algn="l">
              <a:spcAft>
                <a:spcPts val="400"/>
              </a:spcAft>
            </a:pPr>
            <a:r>
              <a:rPr sz="950" b="0" dirty="0">
                <a:solidFill>
                  <a:srgbClr val="06C755"/>
                </a:solidFill>
                <a:latin typeface="メイリオ"/>
                <a:ea typeface="メイリオ"/>
                <a:cs typeface="メイリオ"/>
              </a:rPr>
              <a:t>● </a:t>
            </a:r>
            <a:r>
              <a:rPr sz="1250" b="0" dirty="0">
                <a:solidFill>
                  <a:srgbClr val="333333"/>
                </a:solidFill>
                <a:latin typeface="メイリオ"/>
                <a:ea typeface="メイリオ"/>
                <a:cs typeface="メイリオ"/>
              </a:rPr>
              <a:t>30日間のステップ配信で初回予約へ</a:t>
            </a:r>
            <a:endParaRPr lang="en-US" sz="1250" b="0" dirty="0">
              <a:solidFill>
                <a:srgbClr val="333333"/>
              </a:solidFill>
              <a:latin typeface="メイリオ"/>
              <a:ea typeface="メイリオ"/>
              <a:cs typeface="メイリオ"/>
            </a:endParaRPr>
          </a:p>
          <a:p>
            <a:pPr algn="l">
              <a:spcAft>
                <a:spcPts val="400"/>
              </a:spcAft>
            </a:pPr>
            <a:endParaRPr sz="1250" b="0" dirty="0">
              <a:solidFill>
                <a:srgbClr val="333333"/>
              </a:solidFill>
              <a:latin typeface="メイリオ"/>
              <a:ea typeface="メイリオ"/>
              <a:cs typeface="メイリオ"/>
            </a:endParaRPr>
          </a:p>
          <a:p>
            <a:pPr algn="l">
              <a:spcAft>
                <a:spcPts val="400"/>
              </a:spcAft>
            </a:pPr>
            <a:r>
              <a:rPr sz="950" b="0" dirty="0">
                <a:solidFill>
                  <a:srgbClr val="06C755"/>
                </a:solidFill>
                <a:latin typeface="メイリオ"/>
                <a:ea typeface="メイリオ"/>
                <a:cs typeface="メイリオ"/>
              </a:rPr>
              <a:t>● </a:t>
            </a:r>
            <a:r>
              <a:rPr sz="1250" b="0" dirty="0">
                <a:solidFill>
                  <a:srgbClr val="333333"/>
                </a:solidFill>
                <a:latin typeface="メイリオ"/>
                <a:ea typeface="メイリオ"/>
                <a:cs typeface="メイリオ"/>
              </a:rPr>
              <a:t>月1企画で既存3.5万人を掘り起こす</a:t>
            </a:r>
          </a:p>
        </p:txBody>
      </p:sp>
      <p:sp>
        <p:nvSpPr>
          <p:cNvPr id="911" name="Right Arrow 910"/>
          <p:cNvSpPr/>
          <p:nvPr/>
        </p:nvSpPr>
        <p:spPr>
          <a:xfrm>
            <a:off x="6391416" y="2730000"/>
            <a:ext cx="260000" cy="300000"/>
          </a:xfrm>
          <a:prstGeom prst="rightArrow">
            <a:avLst/>
          </a:prstGeom>
          <a:solidFill>
            <a:srgbClr val="24345A"/>
          </a:solidFill>
          <a:ln>
            <a:noFill/>
          </a:ln>
          <a:effectLst/>
        </p:spPr>
        <p:txBody>
          <a:bodyPr rtlCol="0" anchor="ctr"/>
          <a:lstStyle/>
          <a:p>
            <a:pPr algn="ctr"/>
            <a:endParaRPr/>
          </a:p>
        </p:txBody>
      </p:sp>
      <p:sp>
        <p:nvSpPr>
          <p:cNvPr id="912" name="Rounded Rectangle 911"/>
          <p:cNvSpPr/>
          <p:nvPr/>
        </p:nvSpPr>
        <p:spPr>
          <a:xfrm>
            <a:off x="6669024" y="1730000"/>
            <a:ext cx="2849880" cy="2300000"/>
          </a:xfrm>
          <a:prstGeom prst="roundRect">
            <a:avLst>
              <a:gd name="adj" fmla="val 5000"/>
            </a:avLst>
          </a:prstGeom>
          <a:solidFill>
            <a:srgbClr val="EEF1F5"/>
          </a:solidFill>
          <a:ln w="12700">
            <a:solidFill>
              <a:srgbClr val="7F8896"/>
            </a:solidFill>
          </a:ln>
          <a:effectLst/>
        </p:spPr>
        <p:txBody>
          <a:bodyPr rtlCol="0" anchor="ctr"/>
          <a:lstStyle/>
          <a:p>
            <a:pPr algn="ctr"/>
            <a:endParaRPr/>
          </a:p>
        </p:txBody>
      </p:sp>
      <p:sp>
        <p:nvSpPr>
          <p:cNvPr id="913" name="Rounded Rectangle 912"/>
          <p:cNvSpPr/>
          <p:nvPr/>
        </p:nvSpPr>
        <p:spPr>
          <a:xfrm>
            <a:off x="6669024" y="1730000"/>
            <a:ext cx="2849880" cy="400000"/>
          </a:xfrm>
          <a:prstGeom prst="roundRect">
            <a:avLst>
              <a:gd name="adj" fmla="val 20000"/>
            </a:avLst>
          </a:prstGeom>
          <a:solidFill>
            <a:srgbClr val="24345A"/>
          </a:solidFill>
          <a:ln>
            <a:noFill/>
          </a:ln>
          <a:effectLst/>
        </p:spPr>
        <p:txBody>
          <a:bodyPr wrap="square" lIns="72000" tIns="36000" rIns="72000" bIns="36000" rtlCol="0" anchor="ctr"/>
          <a:lstStyle/>
          <a:p>
            <a:pPr algn="ctr"/>
            <a:r>
              <a:rPr sz="1300" b="1">
                <a:solidFill>
                  <a:srgbClr val="FFFFFF"/>
                </a:solidFill>
                <a:latin typeface="メイリオ"/>
                <a:ea typeface="メイリオ"/>
                <a:cs typeface="メイリオ"/>
              </a:rPr>
              <a:t>効果</a:t>
            </a:r>
          </a:p>
        </p:txBody>
      </p:sp>
      <p:sp>
        <p:nvSpPr>
          <p:cNvPr id="914" name="TextBox 913"/>
          <p:cNvSpPr txBox="1"/>
          <p:nvPr/>
        </p:nvSpPr>
        <p:spPr>
          <a:xfrm>
            <a:off x="6729024" y="2180000"/>
            <a:ext cx="2729880" cy="1239689"/>
          </a:xfrm>
          <a:prstGeom prst="rect">
            <a:avLst/>
          </a:prstGeom>
          <a:noFill/>
        </p:spPr>
        <p:txBody>
          <a:bodyPr wrap="square" lIns="72000" tIns="36000" rIns="72000" bIns="36000" anchor="t">
            <a:spAutoFit/>
          </a:bodyPr>
          <a:lstStyle/>
          <a:p>
            <a:pPr algn="l">
              <a:spcAft>
                <a:spcPts val="400"/>
              </a:spcAft>
            </a:pPr>
            <a:r>
              <a:rPr sz="950" b="0" dirty="0">
                <a:solidFill>
                  <a:srgbClr val="1F3A5F"/>
                </a:solidFill>
                <a:latin typeface="メイリオ"/>
                <a:ea typeface="メイリオ"/>
                <a:cs typeface="メイリオ"/>
              </a:rPr>
              <a:t>● </a:t>
            </a:r>
            <a:r>
              <a:rPr sz="1250" b="0" dirty="0" err="1">
                <a:solidFill>
                  <a:srgbClr val="333333"/>
                </a:solidFill>
                <a:latin typeface="メイリオ"/>
                <a:ea typeface="メイリオ"/>
                <a:cs typeface="メイリオ"/>
              </a:rPr>
              <a:t>新規の友だちが予約に変わる</a:t>
            </a:r>
            <a:endParaRPr lang="en-US" sz="1250" b="0" dirty="0">
              <a:solidFill>
                <a:srgbClr val="333333"/>
              </a:solidFill>
              <a:latin typeface="メイリオ"/>
              <a:ea typeface="メイリオ"/>
              <a:cs typeface="メイリオ"/>
            </a:endParaRPr>
          </a:p>
          <a:p>
            <a:pPr algn="l">
              <a:spcAft>
                <a:spcPts val="400"/>
              </a:spcAft>
            </a:pPr>
            <a:endParaRPr sz="1250" b="0" dirty="0">
              <a:solidFill>
                <a:srgbClr val="333333"/>
              </a:solidFill>
              <a:latin typeface="メイリオ"/>
              <a:ea typeface="メイリオ"/>
              <a:cs typeface="メイリオ"/>
            </a:endParaRPr>
          </a:p>
          <a:p>
            <a:pPr algn="l">
              <a:spcAft>
                <a:spcPts val="400"/>
              </a:spcAft>
            </a:pPr>
            <a:r>
              <a:rPr sz="950" b="0" dirty="0">
                <a:solidFill>
                  <a:srgbClr val="1F3A5F"/>
                </a:solidFill>
                <a:latin typeface="メイリオ"/>
                <a:ea typeface="メイリオ"/>
                <a:cs typeface="メイリオ"/>
              </a:rPr>
              <a:t>● </a:t>
            </a:r>
            <a:r>
              <a:rPr sz="1250" b="0" dirty="0" err="1">
                <a:solidFill>
                  <a:srgbClr val="333333"/>
                </a:solidFill>
                <a:latin typeface="メイリオ"/>
                <a:ea typeface="メイリオ"/>
                <a:cs typeface="メイリオ"/>
              </a:rPr>
              <a:t>眠っている既存の友だちが動く</a:t>
            </a:r>
            <a:endParaRPr lang="en-US" sz="1250" b="0" dirty="0">
              <a:solidFill>
                <a:srgbClr val="333333"/>
              </a:solidFill>
              <a:latin typeface="メイリオ"/>
              <a:ea typeface="メイリオ"/>
              <a:cs typeface="メイリオ"/>
            </a:endParaRPr>
          </a:p>
          <a:p>
            <a:pPr algn="l">
              <a:spcAft>
                <a:spcPts val="400"/>
              </a:spcAft>
            </a:pPr>
            <a:endParaRPr sz="1250" b="0" dirty="0">
              <a:solidFill>
                <a:srgbClr val="333333"/>
              </a:solidFill>
              <a:latin typeface="メイリオ"/>
              <a:ea typeface="メイリオ"/>
              <a:cs typeface="メイリオ"/>
            </a:endParaRPr>
          </a:p>
          <a:p>
            <a:pPr algn="l">
              <a:spcAft>
                <a:spcPts val="400"/>
              </a:spcAft>
            </a:pPr>
            <a:r>
              <a:rPr sz="950" b="0" dirty="0">
                <a:solidFill>
                  <a:srgbClr val="1F3A5F"/>
                </a:solidFill>
                <a:latin typeface="メイリオ"/>
                <a:ea typeface="メイリオ"/>
                <a:cs typeface="メイリオ"/>
              </a:rPr>
              <a:t>● </a:t>
            </a:r>
            <a:r>
              <a:rPr sz="1250" b="0" dirty="0">
                <a:solidFill>
                  <a:srgbClr val="333333"/>
                </a:solidFill>
                <a:latin typeface="メイリオ"/>
                <a:ea typeface="メイリオ"/>
                <a:cs typeface="メイリオ"/>
              </a:rPr>
              <a:t>半年でCV約50件の見込み</a:t>
            </a:r>
          </a:p>
        </p:txBody>
      </p:sp>
      <p:sp>
        <p:nvSpPr>
          <p:cNvPr id="915" name="Rounded Rectangle 914"/>
          <p:cNvSpPr/>
          <p:nvPr/>
        </p:nvSpPr>
        <p:spPr>
          <a:xfrm>
            <a:off x="384048" y="4280000"/>
            <a:ext cx="9134856" cy="800000"/>
          </a:xfrm>
          <a:prstGeom prst="roundRect">
            <a:avLst>
              <a:gd name="adj" fmla="val 12000"/>
            </a:avLst>
          </a:prstGeom>
          <a:solidFill>
            <a:srgbClr val="24345A"/>
          </a:solidFill>
          <a:ln>
            <a:noFill/>
          </a:ln>
          <a:effectLst/>
        </p:spPr>
        <p:txBody>
          <a:bodyPr wrap="square" lIns="72000" tIns="36000" rIns="72000" bIns="36000" rtlCol="0" anchor="ctr"/>
          <a:lstStyle/>
          <a:p>
            <a:pPr algn="ctr"/>
            <a:r>
              <a:rPr sz="1200" b="0">
                <a:solidFill>
                  <a:srgbClr val="FFFFFF"/>
                </a:solidFill>
                <a:latin typeface="メイリオ"/>
                <a:ea typeface="メイリオ"/>
                <a:cs typeface="メイリオ"/>
              </a:rPr>
              <a:t>CPFはやめずに半分残す。友だちの増加は止めずに、受け皿を作る</a:t>
            </a:r>
          </a:p>
          <a:p>
            <a:pPr algn="ctr"/>
            <a:r>
              <a:rPr sz="1200" b="0">
                <a:solidFill>
                  <a:srgbClr val="FFFFFF"/>
                </a:solidFill>
                <a:latin typeface="メイリオ"/>
                <a:ea typeface="メイリオ"/>
                <a:cs typeface="メイリオ"/>
              </a:rPr>
              <a:t>受け皿ができたら、友だち1人あたりのCVを見てCPFの増額を判断します</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LeadBand"/>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anchor="ctr"/>
          <a:lstStyle/>
          <a:p>
            <a:endParaRPr lang="ja-JP"/>
          </a:p>
        </p:txBody>
      </p:sp>
      <p:cxnSp>
        <p:nvCxnSpPr>
          <p:cNvPr id="901" name="LeadBandLine"/>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902" name="TextBox 901"/>
          <p:cNvSpPr txBox="1"/>
          <p:nvPr/>
        </p:nvSpPr>
        <p:spPr>
          <a:xfrm>
            <a:off x="379976" y="635062"/>
            <a:ext cx="9160881" cy="698492"/>
          </a:xfrm>
          <a:prstGeom prst="rect">
            <a:avLst/>
          </a:prstGeom>
          <a:noFill/>
        </p:spPr>
        <p:txBody>
          <a:bodyPr wrap="square" lIns="72000" tIns="36000" rIns="72000" bIns="36000" anchor="ctr">
            <a:spAutoFit/>
          </a:bodyPr>
          <a:lstStyle/>
          <a:p>
            <a:pPr algn="ctr"/>
            <a:r>
              <a:rPr sz="1200" b="0">
                <a:solidFill>
                  <a:srgbClr val="333333"/>
                </a:solidFill>
                <a:latin typeface="メイリオ"/>
                <a:ea typeface="メイリオ"/>
                <a:cs typeface="メイリオ"/>
              </a:rPr>
              <a:t>CPFを20万円→10万円に組み替え、残り10万円を「予約に変える運用」に充てます</a:t>
            </a:r>
          </a:p>
        </p:txBody>
      </p:sp>
      <p:sp>
        <p:nvSpPr>
          <p:cNvPr id="903" name="TextBox 902"/>
          <p:cNvSpPr txBox="1"/>
          <p:nvPr/>
        </p:nvSpPr>
        <p:spPr>
          <a:xfrm>
            <a:off x="548883" y="138118"/>
            <a:ext cx="7900000" cy="338554"/>
          </a:xfrm>
          <a:prstGeom prst="rect">
            <a:avLst/>
          </a:prstGeom>
          <a:noFill/>
        </p:spPr>
        <p:txBody>
          <a:bodyPr wrap="square" lIns="72000" tIns="0" rIns="72000" bIns="0" anchor="ctr">
            <a:spAutoFit/>
          </a:bodyPr>
          <a:lstStyle/>
          <a:p>
            <a:pPr algn="l"/>
            <a:r>
              <a:rPr sz="1600" b="1">
                <a:solidFill>
                  <a:srgbClr val="002060"/>
                </a:solidFill>
                <a:latin typeface="メイリオ"/>
                <a:ea typeface="メイリオ"/>
                <a:cs typeface="メイリオ"/>
              </a:rPr>
              <a:t>予算配分：月額は今と同じ20万円</a:t>
            </a:r>
          </a:p>
        </p:txBody>
      </p:sp>
      <p:sp>
        <p:nvSpPr>
          <p:cNvPr id="904" name="Rectangle 903"/>
          <p:cNvSpPr/>
          <p:nvPr/>
        </p:nvSpPr>
        <p:spPr>
          <a:xfrm>
            <a:off x="684048" y="2130000"/>
            <a:ext cx="1300000" cy="3000000"/>
          </a:xfrm>
          <a:prstGeom prst="rect">
            <a:avLst/>
          </a:prstGeom>
          <a:solidFill>
            <a:srgbClr val="9AA3B5"/>
          </a:solidFill>
          <a:ln w="12700">
            <a:solidFill>
              <a:srgbClr val="FFFFFF"/>
            </a:solidFill>
          </a:ln>
          <a:effectLst/>
        </p:spPr>
        <p:txBody>
          <a:bodyPr wrap="square" lIns="72000" tIns="36000" rIns="72000" bIns="36000" rtlCol="0" anchor="ctr"/>
          <a:lstStyle/>
          <a:p>
            <a:pPr algn="ctr"/>
            <a:r>
              <a:rPr sz="1200" b="1">
                <a:solidFill>
                  <a:srgbClr val="FFFFFF"/>
                </a:solidFill>
                <a:latin typeface="メイリオ"/>
                <a:ea typeface="メイリオ"/>
                <a:cs typeface="メイリオ"/>
              </a:rPr>
              <a:t>CPF 20万</a:t>
            </a:r>
          </a:p>
        </p:txBody>
      </p:sp>
      <p:sp>
        <p:nvSpPr>
          <p:cNvPr id="905" name="TextBox 904"/>
          <p:cNvSpPr txBox="1"/>
          <p:nvPr/>
        </p:nvSpPr>
        <p:spPr>
          <a:xfrm>
            <a:off x="484048" y="5190000"/>
            <a:ext cx="1700000" cy="300000"/>
          </a:xfrm>
          <a:prstGeom prst="rect">
            <a:avLst/>
          </a:prstGeom>
          <a:noFill/>
        </p:spPr>
        <p:txBody>
          <a:bodyPr wrap="square" lIns="72000" tIns="36000" rIns="72000" bIns="36000" anchor="t">
            <a:spAutoFit/>
          </a:bodyPr>
          <a:lstStyle/>
          <a:p>
            <a:pPr algn="ctr"/>
            <a:r>
              <a:rPr sz="1200" b="1">
                <a:solidFill>
                  <a:srgbClr val="1F3A5F"/>
                </a:solidFill>
                <a:latin typeface="メイリオ"/>
                <a:ea typeface="メイリオ"/>
                <a:cs typeface="メイリオ"/>
              </a:rPr>
              <a:t>現状</a:t>
            </a:r>
          </a:p>
        </p:txBody>
      </p:sp>
      <p:sp>
        <p:nvSpPr>
          <p:cNvPr id="906" name="Rectangle 905"/>
          <p:cNvSpPr/>
          <p:nvPr/>
        </p:nvSpPr>
        <p:spPr>
          <a:xfrm>
            <a:off x="2684048" y="3630000"/>
            <a:ext cx="1300000" cy="1500000"/>
          </a:xfrm>
          <a:prstGeom prst="rect">
            <a:avLst/>
          </a:prstGeom>
          <a:solidFill>
            <a:srgbClr val="9AA3B5"/>
          </a:solidFill>
          <a:ln w="12700">
            <a:solidFill>
              <a:srgbClr val="FFFFFF"/>
            </a:solidFill>
          </a:ln>
          <a:effectLst/>
        </p:spPr>
        <p:txBody>
          <a:bodyPr wrap="square" lIns="72000" tIns="36000" rIns="72000" bIns="36000" rtlCol="0" anchor="ctr"/>
          <a:lstStyle/>
          <a:p>
            <a:pPr algn="ctr"/>
            <a:r>
              <a:rPr sz="1200" b="1">
                <a:solidFill>
                  <a:srgbClr val="FFFFFF"/>
                </a:solidFill>
                <a:latin typeface="メイリオ"/>
                <a:ea typeface="メイリオ"/>
                <a:cs typeface="メイリオ"/>
              </a:rPr>
              <a:t>CPF 10万</a:t>
            </a:r>
          </a:p>
        </p:txBody>
      </p:sp>
      <p:sp>
        <p:nvSpPr>
          <p:cNvPr id="907" name="Rectangle 906"/>
          <p:cNvSpPr/>
          <p:nvPr/>
        </p:nvSpPr>
        <p:spPr>
          <a:xfrm>
            <a:off x="2684048" y="2130000"/>
            <a:ext cx="1300000" cy="1500000"/>
          </a:xfrm>
          <a:prstGeom prst="rect">
            <a:avLst/>
          </a:prstGeom>
          <a:solidFill>
            <a:srgbClr val="06C755"/>
          </a:solidFill>
          <a:ln w="12700">
            <a:solidFill>
              <a:srgbClr val="FFFFFF"/>
            </a:solidFill>
          </a:ln>
          <a:effectLst/>
        </p:spPr>
        <p:txBody>
          <a:bodyPr wrap="square" lIns="72000" tIns="36000" rIns="72000" bIns="36000" rtlCol="0" anchor="ctr"/>
          <a:lstStyle/>
          <a:p>
            <a:pPr algn="ctr"/>
            <a:r>
              <a:rPr sz="1200" b="1">
                <a:solidFill>
                  <a:srgbClr val="FFFFFF"/>
                </a:solidFill>
                <a:latin typeface="メイリオ"/>
                <a:ea typeface="メイリオ"/>
                <a:cs typeface="メイリオ"/>
              </a:rPr>
              <a:t>運用 10万</a:t>
            </a:r>
          </a:p>
        </p:txBody>
      </p:sp>
      <p:sp>
        <p:nvSpPr>
          <p:cNvPr id="908" name="TextBox 907"/>
          <p:cNvSpPr txBox="1"/>
          <p:nvPr/>
        </p:nvSpPr>
        <p:spPr>
          <a:xfrm>
            <a:off x="2484048" y="5190000"/>
            <a:ext cx="1700000" cy="300000"/>
          </a:xfrm>
          <a:prstGeom prst="rect">
            <a:avLst/>
          </a:prstGeom>
          <a:noFill/>
        </p:spPr>
        <p:txBody>
          <a:bodyPr wrap="square" lIns="72000" tIns="36000" rIns="72000" bIns="36000" anchor="t">
            <a:spAutoFit/>
          </a:bodyPr>
          <a:lstStyle/>
          <a:p>
            <a:pPr algn="ctr"/>
            <a:r>
              <a:rPr sz="1200" b="1">
                <a:solidFill>
                  <a:srgbClr val="1F3A5F"/>
                </a:solidFill>
                <a:latin typeface="メイリオ"/>
                <a:ea typeface="メイリオ"/>
                <a:cs typeface="メイリオ"/>
              </a:rPr>
              <a:t>ご提案</a:t>
            </a:r>
          </a:p>
        </p:txBody>
      </p:sp>
      <p:sp>
        <p:nvSpPr>
          <p:cNvPr id="909" name="Right Arrow 908"/>
          <p:cNvSpPr/>
          <p:nvPr/>
        </p:nvSpPr>
        <p:spPr>
          <a:xfrm>
            <a:off x="2084048" y="3430000"/>
            <a:ext cx="450000" cy="380000"/>
          </a:xfrm>
          <a:prstGeom prst="rightArrow">
            <a:avLst/>
          </a:prstGeom>
          <a:solidFill>
            <a:srgbClr val="24345A"/>
          </a:solidFill>
          <a:ln>
            <a:noFill/>
          </a:ln>
          <a:effectLst/>
        </p:spPr>
        <p:txBody>
          <a:bodyPr rtlCol="0" anchor="ctr"/>
          <a:lstStyle/>
          <a:p>
            <a:pPr algn="ctr"/>
            <a:endParaRPr/>
          </a:p>
        </p:txBody>
      </p:sp>
      <p:graphicFrame>
        <p:nvGraphicFramePr>
          <p:cNvPr id="910" name="Table 909"/>
          <p:cNvGraphicFramePr>
            <a:graphicFrameLocks noGrp="1"/>
          </p:cNvGraphicFramePr>
          <p:nvPr/>
        </p:nvGraphicFramePr>
        <p:xfrm>
          <a:off x="4984048" y="1730000"/>
          <a:ext cx="4534855" cy="2600000"/>
        </p:xfrm>
        <a:graphic>
          <a:graphicData uri="http://schemas.openxmlformats.org/drawingml/2006/table">
            <a:tbl>
              <a:tblPr>
                <a:tableStyleId>{5940675A-B579-460E-94D1-54222C63F5DA}</a:tableStyleId>
              </a:tblPr>
              <a:tblGrid>
                <a:gridCol w="2473557">
                  <a:extLst>
                    <a:ext uri="{9D8B030D-6E8A-4147-A177-3AD203B41FA5}">
                      <a16:colId xmlns:a16="http://schemas.microsoft.com/office/drawing/2014/main" val="20000"/>
                    </a:ext>
                  </a:extLst>
                </a:gridCol>
                <a:gridCol w="1030649">
                  <a:extLst>
                    <a:ext uri="{9D8B030D-6E8A-4147-A177-3AD203B41FA5}">
                      <a16:colId xmlns:a16="http://schemas.microsoft.com/office/drawing/2014/main" val="20001"/>
                    </a:ext>
                  </a:extLst>
                </a:gridCol>
                <a:gridCol w="1030649">
                  <a:extLst>
                    <a:ext uri="{9D8B030D-6E8A-4147-A177-3AD203B41FA5}">
                      <a16:colId xmlns:a16="http://schemas.microsoft.com/office/drawing/2014/main" val="20002"/>
                    </a:ext>
                  </a:extLst>
                </a:gridCol>
              </a:tblGrid>
              <a:tr h="520000">
                <a:tc>
                  <a:txBody>
                    <a:bodyPr/>
                    <a:lstStyle/>
                    <a:p>
                      <a:pPr algn="l"/>
                      <a:r>
                        <a:rPr sz="1100" b="1">
                          <a:solidFill>
                            <a:srgbClr val="FFFFFF"/>
                          </a:solidFill>
                          <a:latin typeface="メイリオ"/>
                          <a:ea typeface="メイリオ"/>
                          <a:cs typeface="メイリオ"/>
                        </a:rPr>
                        <a:t>項目</a:t>
                      </a:r>
                    </a:p>
                  </a:txBody>
                  <a:tcPr marR="72000" marT="30000" marB="30000" anchor="ctr">
                    <a:solidFill>
                      <a:srgbClr val="24345A"/>
                    </a:solidFill>
                  </a:tcPr>
                </a:tc>
                <a:tc>
                  <a:txBody>
                    <a:bodyPr/>
                    <a:lstStyle/>
                    <a:p>
                      <a:pPr algn="l"/>
                      <a:r>
                        <a:rPr sz="1100" b="1">
                          <a:solidFill>
                            <a:srgbClr val="FFFFFF"/>
                          </a:solidFill>
                          <a:latin typeface="メイリオ"/>
                          <a:ea typeface="メイリオ"/>
                          <a:cs typeface="メイリオ"/>
                        </a:rPr>
                        <a:t>現状</a:t>
                      </a:r>
                    </a:p>
                  </a:txBody>
                  <a:tcPr marR="72000" marT="30000" marB="30000" anchor="ctr">
                    <a:solidFill>
                      <a:srgbClr val="24345A"/>
                    </a:solidFill>
                  </a:tcPr>
                </a:tc>
                <a:tc>
                  <a:txBody>
                    <a:bodyPr/>
                    <a:lstStyle/>
                    <a:p>
                      <a:pPr algn="l"/>
                      <a:r>
                        <a:rPr sz="1100" b="1">
                          <a:solidFill>
                            <a:srgbClr val="FFFFFF"/>
                          </a:solidFill>
                          <a:latin typeface="メイリオ"/>
                          <a:ea typeface="メイリオ"/>
                          <a:cs typeface="メイリオ"/>
                        </a:rPr>
                        <a:t>ご提案</a:t>
                      </a:r>
                    </a:p>
                  </a:txBody>
                  <a:tcPr marR="72000" marT="30000" marB="30000" anchor="ctr">
                    <a:solidFill>
                      <a:srgbClr val="24345A"/>
                    </a:solidFill>
                  </a:tcPr>
                </a:tc>
                <a:extLst>
                  <a:ext uri="{0D108BD9-81ED-4DB2-BD59-A6C34878D82A}">
                    <a16:rowId xmlns:a16="http://schemas.microsoft.com/office/drawing/2014/main" val="10000"/>
                  </a:ext>
                </a:extLst>
              </a:tr>
              <a:tr h="520000">
                <a:tc>
                  <a:txBody>
                    <a:bodyPr/>
                    <a:lstStyle/>
                    <a:p>
                      <a:pPr algn="l"/>
                      <a:r>
                        <a:rPr sz="1100" b="1">
                          <a:solidFill>
                            <a:srgbClr val="1F3A5F"/>
                          </a:solidFill>
                          <a:latin typeface="メイリオ"/>
                          <a:ea typeface="メイリオ"/>
                          <a:cs typeface="メイリオ"/>
                        </a:rPr>
                        <a:t>CPF（友だち追加広告）</a:t>
                      </a:r>
                    </a:p>
                  </a:txBody>
                  <a:tcPr marR="72000" marT="30000" marB="30000" anchor="ctr">
                    <a:solidFill>
                      <a:srgbClr val="FFFFFF"/>
                    </a:solidFill>
                  </a:tcPr>
                </a:tc>
                <a:tc>
                  <a:txBody>
                    <a:bodyPr/>
                    <a:lstStyle/>
                    <a:p>
                      <a:pPr algn="l"/>
                      <a:r>
                        <a:rPr sz="1100" b="0">
                          <a:solidFill>
                            <a:srgbClr val="555555"/>
                          </a:solidFill>
                          <a:latin typeface="メイリオ"/>
                          <a:ea typeface="メイリオ"/>
                          <a:cs typeface="メイリオ"/>
                        </a:rPr>
                        <a:t>20万円/月</a:t>
                      </a:r>
                    </a:p>
                  </a:txBody>
                  <a:tcPr marR="72000" marT="30000" marB="30000" anchor="ctr">
                    <a:solidFill>
                      <a:srgbClr val="FFFFFF"/>
                    </a:solidFill>
                  </a:tcPr>
                </a:tc>
                <a:tc>
                  <a:txBody>
                    <a:bodyPr/>
                    <a:lstStyle/>
                    <a:p>
                      <a:pPr algn="l"/>
                      <a:r>
                        <a:rPr sz="1100" b="0">
                          <a:solidFill>
                            <a:srgbClr val="555555"/>
                          </a:solidFill>
                          <a:latin typeface="メイリオ"/>
                          <a:ea typeface="メイリオ"/>
                          <a:cs typeface="メイリオ"/>
                        </a:rPr>
                        <a:t>10万円/月</a:t>
                      </a:r>
                    </a:p>
                  </a:txBody>
                  <a:tcPr marR="72000" marT="30000" marB="30000" anchor="ctr">
                    <a:solidFill>
                      <a:srgbClr val="FFFFFF"/>
                    </a:solidFill>
                  </a:tcPr>
                </a:tc>
                <a:extLst>
                  <a:ext uri="{0D108BD9-81ED-4DB2-BD59-A6C34878D82A}">
                    <a16:rowId xmlns:a16="http://schemas.microsoft.com/office/drawing/2014/main" val="10001"/>
                  </a:ext>
                </a:extLst>
              </a:tr>
              <a:tr h="520000">
                <a:tc>
                  <a:txBody>
                    <a:bodyPr/>
                    <a:lstStyle/>
                    <a:p>
                      <a:pPr algn="l"/>
                      <a:r>
                        <a:rPr sz="1100" b="1">
                          <a:solidFill>
                            <a:srgbClr val="1F3A5F"/>
                          </a:solidFill>
                          <a:latin typeface="メイリオ"/>
                          <a:ea typeface="メイリオ"/>
                          <a:cs typeface="メイリオ"/>
                        </a:rPr>
                        <a:t>運用（ステップ配信・月1企画・レポート）</a:t>
                      </a:r>
                    </a:p>
                  </a:txBody>
                  <a:tcPr marR="72000" marT="30000" marB="30000" anchor="ctr">
                    <a:solidFill>
                      <a:srgbClr val="F2F5F9"/>
                    </a:solidFill>
                  </a:tcPr>
                </a:tc>
                <a:tc>
                  <a:txBody>
                    <a:bodyPr/>
                    <a:lstStyle/>
                    <a:p>
                      <a:pPr algn="l"/>
                      <a:r>
                        <a:rPr sz="1100" b="0">
                          <a:solidFill>
                            <a:srgbClr val="555555"/>
                          </a:solidFill>
                          <a:latin typeface="メイリオ"/>
                          <a:ea typeface="メイリオ"/>
                          <a:cs typeface="メイリオ"/>
                        </a:rPr>
                        <a:t>─</a:t>
                      </a:r>
                    </a:p>
                  </a:txBody>
                  <a:tcPr marR="72000" marT="30000" marB="30000" anchor="ctr">
                    <a:solidFill>
                      <a:srgbClr val="F2F5F9"/>
                    </a:solidFill>
                  </a:tcPr>
                </a:tc>
                <a:tc>
                  <a:txBody>
                    <a:bodyPr/>
                    <a:lstStyle/>
                    <a:p>
                      <a:pPr algn="l"/>
                      <a:r>
                        <a:rPr sz="1100" b="0">
                          <a:solidFill>
                            <a:srgbClr val="555555"/>
                          </a:solidFill>
                          <a:latin typeface="メイリオ"/>
                          <a:ea typeface="メイリオ"/>
                          <a:cs typeface="メイリオ"/>
                        </a:rPr>
                        <a:t>10万円/月</a:t>
                      </a:r>
                    </a:p>
                  </a:txBody>
                  <a:tcPr marR="72000" marT="30000" marB="30000" anchor="ctr">
                    <a:solidFill>
                      <a:srgbClr val="F2F5F9"/>
                    </a:solidFill>
                  </a:tcPr>
                </a:tc>
                <a:extLst>
                  <a:ext uri="{0D108BD9-81ED-4DB2-BD59-A6C34878D82A}">
                    <a16:rowId xmlns:a16="http://schemas.microsoft.com/office/drawing/2014/main" val="10002"/>
                  </a:ext>
                </a:extLst>
              </a:tr>
              <a:tr h="520000">
                <a:tc>
                  <a:txBody>
                    <a:bodyPr/>
                    <a:lstStyle/>
                    <a:p>
                      <a:pPr algn="l"/>
                      <a:r>
                        <a:rPr sz="1100" b="1">
                          <a:solidFill>
                            <a:srgbClr val="1F3A5F"/>
                          </a:solidFill>
                          <a:latin typeface="メイリオ"/>
                          <a:ea typeface="メイリオ"/>
                          <a:cs typeface="メイリオ"/>
                        </a:rPr>
                        <a:t>月額合計</a:t>
                      </a:r>
                    </a:p>
                  </a:txBody>
                  <a:tcPr marR="72000" marT="30000" marB="30000" anchor="ctr">
                    <a:solidFill>
                      <a:srgbClr val="FFFFFF"/>
                    </a:solidFill>
                  </a:tcPr>
                </a:tc>
                <a:tc>
                  <a:txBody>
                    <a:bodyPr/>
                    <a:lstStyle/>
                    <a:p>
                      <a:pPr algn="l"/>
                      <a:r>
                        <a:rPr sz="1100" b="0">
                          <a:solidFill>
                            <a:srgbClr val="555555"/>
                          </a:solidFill>
                          <a:latin typeface="メイリオ"/>
                          <a:ea typeface="メイリオ"/>
                          <a:cs typeface="メイリオ"/>
                        </a:rPr>
                        <a:t>20万円</a:t>
                      </a:r>
                    </a:p>
                  </a:txBody>
                  <a:tcPr marR="72000" marT="30000" marB="30000" anchor="ctr">
                    <a:solidFill>
                      <a:srgbClr val="FFFFFF"/>
                    </a:solidFill>
                  </a:tcPr>
                </a:tc>
                <a:tc>
                  <a:txBody>
                    <a:bodyPr/>
                    <a:lstStyle/>
                    <a:p>
                      <a:pPr algn="l"/>
                      <a:r>
                        <a:rPr sz="1100" b="1">
                          <a:solidFill>
                            <a:srgbClr val="C00000"/>
                          </a:solidFill>
                          <a:latin typeface="メイリオ"/>
                          <a:ea typeface="メイリオ"/>
                          <a:cs typeface="メイリオ"/>
                        </a:rPr>
                        <a:t>20万円</a:t>
                      </a:r>
                    </a:p>
                  </a:txBody>
                  <a:tcPr marR="72000" marT="30000" marB="30000" anchor="ctr">
                    <a:solidFill>
                      <a:srgbClr val="FFFFFF"/>
                    </a:solidFill>
                  </a:tcPr>
                </a:tc>
                <a:extLst>
                  <a:ext uri="{0D108BD9-81ED-4DB2-BD59-A6C34878D82A}">
                    <a16:rowId xmlns:a16="http://schemas.microsoft.com/office/drawing/2014/main" val="10003"/>
                  </a:ext>
                </a:extLst>
              </a:tr>
              <a:tr h="520000">
                <a:tc>
                  <a:txBody>
                    <a:bodyPr/>
                    <a:lstStyle/>
                    <a:p>
                      <a:pPr algn="l"/>
                      <a:r>
                        <a:rPr sz="1100" b="1">
                          <a:solidFill>
                            <a:srgbClr val="1F3A5F"/>
                          </a:solidFill>
                          <a:latin typeface="メイリオ"/>
                          <a:ea typeface="メイリオ"/>
                          <a:cs typeface="メイリオ"/>
                        </a:rPr>
                        <a:t>初期構築（一回）</a:t>
                      </a:r>
                    </a:p>
                  </a:txBody>
                  <a:tcPr marR="72000" marT="30000" marB="30000" anchor="ctr">
                    <a:solidFill>
                      <a:srgbClr val="F2F5F9"/>
                    </a:solidFill>
                  </a:tcPr>
                </a:tc>
                <a:tc>
                  <a:txBody>
                    <a:bodyPr/>
                    <a:lstStyle/>
                    <a:p>
                      <a:pPr algn="l"/>
                      <a:r>
                        <a:rPr sz="1100" b="0">
                          <a:solidFill>
                            <a:srgbClr val="555555"/>
                          </a:solidFill>
                          <a:latin typeface="メイリオ"/>
                          <a:ea typeface="メイリオ"/>
                          <a:cs typeface="メイリオ"/>
                        </a:rPr>
                        <a:t>─</a:t>
                      </a:r>
                    </a:p>
                  </a:txBody>
                  <a:tcPr marR="72000" marT="30000" marB="30000" anchor="ctr">
                    <a:solidFill>
                      <a:srgbClr val="F2F5F9"/>
                    </a:solidFill>
                  </a:tcPr>
                </a:tc>
                <a:tc>
                  <a:txBody>
                    <a:bodyPr/>
                    <a:lstStyle/>
                    <a:p>
                      <a:pPr algn="l"/>
                      <a:r>
                        <a:rPr sz="1100" b="1">
                          <a:solidFill>
                            <a:srgbClr val="C00000"/>
                          </a:solidFill>
                          <a:latin typeface="メイリオ"/>
                          <a:ea typeface="メイリオ"/>
                          <a:cs typeface="メイリオ"/>
                        </a:rPr>
                        <a:t>25万円</a:t>
                      </a:r>
                    </a:p>
                  </a:txBody>
                  <a:tcPr marR="72000" marT="30000" marB="30000" anchor="ctr">
                    <a:solidFill>
                      <a:srgbClr val="F2F5F9"/>
                    </a:solidFill>
                  </a:tcPr>
                </a:tc>
                <a:extLst>
                  <a:ext uri="{0D108BD9-81ED-4DB2-BD59-A6C34878D82A}">
                    <a16:rowId xmlns:a16="http://schemas.microsoft.com/office/drawing/2014/main" val="10004"/>
                  </a:ext>
                </a:extLst>
              </a:tr>
            </a:tbl>
          </a:graphicData>
        </a:graphic>
      </p:graphicFrame>
      <p:sp>
        <p:nvSpPr>
          <p:cNvPr id="911" name="TextBox 910"/>
          <p:cNvSpPr txBox="1"/>
          <p:nvPr/>
        </p:nvSpPr>
        <p:spPr>
          <a:xfrm>
            <a:off x="384048" y="5630000"/>
            <a:ext cx="9134856" cy="300000"/>
          </a:xfrm>
          <a:prstGeom prst="rect">
            <a:avLst/>
          </a:prstGeom>
          <a:noFill/>
        </p:spPr>
        <p:txBody>
          <a:bodyPr wrap="square" lIns="72000" tIns="36000" rIns="72000" bIns="36000" anchor="t">
            <a:spAutoFit/>
          </a:bodyPr>
          <a:lstStyle/>
          <a:p>
            <a:pPr algn="l"/>
            <a:r>
              <a:rPr sz="900" b="0">
                <a:solidFill>
                  <a:srgbClr val="555555"/>
                </a:solidFill>
                <a:latin typeface="メイリオ"/>
                <a:ea typeface="メイリオ"/>
                <a:cs typeface="メイリオ"/>
              </a:rPr>
              <a:t>※金額はすべて税別。CPFは広告費（媒体費）です</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LeadBand"/>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anchor="ctr"/>
          <a:lstStyle/>
          <a:p>
            <a:endParaRPr lang="ja-JP"/>
          </a:p>
        </p:txBody>
      </p:sp>
      <p:cxnSp>
        <p:nvCxnSpPr>
          <p:cNvPr id="901" name="LeadBandLine"/>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902" name="TextBox 901"/>
          <p:cNvSpPr txBox="1"/>
          <p:nvPr/>
        </p:nvSpPr>
        <p:spPr>
          <a:xfrm>
            <a:off x="379976" y="635062"/>
            <a:ext cx="9160881" cy="698492"/>
          </a:xfrm>
          <a:prstGeom prst="rect">
            <a:avLst/>
          </a:prstGeom>
          <a:noFill/>
        </p:spPr>
        <p:txBody>
          <a:bodyPr wrap="square" lIns="72000" tIns="36000" rIns="72000" bIns="36000" anchor="ctr">
            <a:spAutoFit/>
          </a:bodyPr>
          <a:lstStyle/>
          <a:p>
            <a:pPr algn="ctr"/>
            <a:r>
              <a:rPr sz="1200" b="0">
                <a:solidFill>
                  <a:srgbClr val="333333"/>
                </a:solidFill>
                <a:latin typeface="メイリオ"/>
                <a:ea typeface="メイリオ"/>
                <a:cs typeface="メイリオ"/>
              </a:rPr>
              <a:t>導入済みのtunaとLINE公式アカウントの標準機能だけで実現します。ツールの追加費用はありません</a:t>
            </a:r>
          </a:p>
        </p:txBody>
      </p:sp>
      <p:sp>
        <p:nvSpPr>
          <p:cNvPr id="903" name="TextBox 902"/>
          <p:cNvSpPr txBox="1"/>
          <p:nvPr/>
        </p:nvSpPr>
        <p:spPr>
          <a:xfrm>
            <a:off x="548883" y="138118"/>
            <a:ext cx="7900000" cy="338554"/>
          </a:xfrm>
          <a:prstGeom prst="rect">
            <a:avLst/>
          </a:prstGeom>
          <a:noFill/>
        </p:spPr>
        <p:txBody>
          <a:bodyPr wrap="square" lIns="72000" tIns="0" rIns="72000" bIns="0" anchor="ctr">
            <a:spAutoFit/>
          </a:bodyPr>
          <a:lstStyle/>
          <a:p>
            <a:pPr algn="l"/>
            <a:r>
              <a:rPr sz="1600" b="1">
                <a:solidFill>
                  <a:srgbClr val="002060"/>
                </a:solidFill>
                <a:latin typeface="メイリオ"/>
                <a:ea typeface="メイリオ"/>
                <a:cs typeface="メイリオ"/>
              </a:rPr>
              <a:t>初期構築の内容（25万円）</a:t>
            </a:r>
          </a:p>
        </p:txBody>
      </p:sp>
      <p:sp>
        <p:nvSpPr>
          <p:cNvPr id="904" name="Rounded Rectangle 903"/>
          <p:cNvSpPr/>
          <p:nvPr/>
        </p:nvSpPr>
        <p:spPr>
          <a:xfrm>
            <a:off x="384048" y="1630000"/>
            <a:ext cx="2849880" cy="1500000"/>
          </a:xfrm>
          <a:prstGeom prst="roundRect">
            <a:avLst>
              <a:gd name="adj" fmla="val 6000"/>
            </a:avLst>
          </a:prstGeom>
          <a:solidFill>
            <a:srgbClr val="EEF1F5"/>
          </a:solidFill>
          <a:ln w="12700">
            <a:solidFill>
              <a:srgbClr val="7F8896"/>
            </a:solidFill>
          </a:ln>
          <a:effectLst/>
        </p:spPr>
        <p:txBody>
          <a:bodyPr rtlCol="0" anchor="ctr"/>
          <a:lstStyle/>
          <a:p>
            <a:pPr algn="ctr"/>
            <a:endParaRPr/>
          </a:p>
        </p:txBody>
      </p:sp>
      <p:sp>
        <p:nvSpPr>
          <p:cNvPr id="905" name="Oval 904"/>
          <p:cNvSpPr/>
          <p:nvPr/>
        </p:nvSpPr>
        <p:spPr>
          <a:xfrm>
            <a:off x="484048" y="1750000"/>
            <a:ext cx="330000" cy="330000"/>
          </a:xfrm>
          <a:prstGeom prst="ellipse">
            <a:avLst/>
          </a:prstGeom>
          <a:solidFill>
            <a:srgbClr val="24345A"/>
          </a:solidFill>
          <a:ln>
            <a:noFill/>
          </a:ln>
          <a:effectLst/>
        </p:spPr>
        <p:txBody>
          <a:bodyPr wrap="square" lIns="0" tIns="0" rIns="0" bIns="0" rtlCol="0" anchor="ctr"/>
          <a:lstStyle/>
          <a:p>
            <a:pPr algn="ctr"/>
            <a:r>
              <a:rPr sz="1300" b="1">
                <a:solidFill>
                  <a:srgbClr val="FFFFFF"/>
                </a:solidFill>
                <a:latin typeface="メイリオ"/>
                <a:ea typeface="メイリオ"/>
                <a:cs typeface="メイリオ"/>
              </a:rPr>
              <a:t>1</a:t>
            </a:r>
          </a:p>
        </p:txBody>
      </p:sp>
      <p:sp>
        <p:nvSpPr>
          <p:cNvPr id="906" name="TextBox 905"/>
          <p:cNvSpPr txBox="1"/>
          <p:nvPr/>
        </p:nvSpPr>
        <p:spPr>
          <a:xfrm>
            <a:off x="864048" y="1720000"/>
            <a:ext cx="2309880" cy="400000"/>
          </a:xfrm>
          <a:prstGeom prst="rect">
            <a:avLst/>
          </a:prstGeom>
          <a:noFill/>
        </p:spPr>
        <p:txBody>
          <a:bodyPr wrap="square" lIns="72000" tIns="36000" rIns="72000" bIns="36000" anchor="ctr">
            <a:spAutoFit/>
          </a:bodyPr>
          <a:lstStyle/>
          <a:p>
            <a:pPr algn="l"/>
            <a:r>
              <a:rPr sz="1200" b="1">
                <a:solidFill>
                  <a:srgbClr val="1F3A5F"/>
                </a:solidFill>
                <a:latin typeface="メイリオ"/>
                <a:ea typeface="メイリオ"/>
                <a:cs typeface="メイリオ"/>
              </a:rPr>
              <a:t>あいさつメッセージの作り直し</a:t>
            </a:r>
          </a:p>
        </p:txBody>
      </p:sp>
      <p:sp>
        <p:nvSpPr>
          <p:cNvPr id="907" name="TextBox 906"/>
          <p:cNvSpPr txBox="1"/>
          <p:nvPr/>
        </p:nvSpPr>
        <p:spPr>
          <a:xfrm>
            <a:off x="484048" y="2190000"/>
            <a:ext cx="2649880" cy="560000"/>
          </a:xfrm>
          <a:prstGeom prst="rect">
            <a:avLst/>
          </a:prstGeom>
          <a:noFill/>
        </p:spPr>
        <p:txBody>
          <a:bodyPr wrap="square" lIns="72000" tIns="36000" rIns="72000" bIns="36000" anchor="t">
            <a:spAutoFit/>
          </a:bodyPr>
          <a:lstStyle/>
          <a:p>
            <a:pPr algn="l"/>
            <a:r>
              <a:rPr sz="1100" b="0">
                <a:solidFill>
                  <a:srgbClr val="333333"/>
                </a:solidFill>
                <a:latin typeface="メイリオ"/>
                <a:ea typeface="メイリオ"/>
                <a:cs typeface="メイリオ"/>
              </a:rPr>
              <a:t>「何が得か」と「次に何をするか」が分かる3吹き出しに</a:t>
            </a:r>
          </a:p>
        </p:txBody>
      </p:sp>
      <p:sp>
        <p:nvSpPr>
          <p:cNvPr id="908" name="Rounded Rectangle 907"/>
          <p:cNvSpPr/>
          <p:nvPr/>
        </p:nvSpPr>
        <p:spPr>
          <a:xfrm>
            <a:off x="484048" y="2750000"/>
            <a:ext cx="1800000" cy="280000"/>
          </a:xfrm>
          <a:prstGeom prst="roundRect">
            <a:avLst>
              <a:gd name="adj" fmla="val 30000"/>
            </a:avLst>
          </a:prstGeom>
          <a:solidFill>
            <a:srgbClr val="FFFFFF"/>
          </a:solidFill>
          <a:ln w="12700">
            <a:solidFill>
              <a:srgbClr val="B0B4CC"/>
            </a:solidFill>
          </a:ln>
          <a:effectLst/>
        </p:spPr>
        <p:txBody>
          <a:bodyPr wrap="square" lIns="72000" tIns="36000" rIns="72000" bIns="36000" rtlCol="0" anchor="ctr"/>
          <a:lstStyle/>
          <a:p>
            <a:pPr algn="ctr"/>
            <a:r>
              <a:rPr sz="900" b="0">
                <a:solidFill>
                  <a:srgbClr val="1F3A5F"/>
                </a:solidFill>
                <a:latin typeface="メイリオ"/>
                <a:ea typeface="メイリオ"/>
                <a:cs typeface="メイリオ"/>
              </a:rPr>
              <a:t>使う機能：管理画面</a:t>
            </a:r>
          </a:p>
        </p:txBody>
      </p:sp>
      <p:sp>
        <p:nvSpPr>
          <p:cNvPr id="909" name="Rounded Rectangle 908"/>
          <p:cNvSpPr/>
          <p:nvPr/>
        </p:nvSpPr>
        <p:spPr>
          <a:xfrm>
            <a:off x="3526536" y="1630000"/>
            <a:ext cx="2849880" cy="1500000"/>
          </a:xfrm>
          <a:prstGeom prst="roundRect">
            <a:avLst>
              <a:gd name="adj" fmla="val 6000"/>
            </a:avLst>
          </a:prstGeom>
          <a:solidFill>
            <a:srgbClr val="EEF1F5"/>
          </a:solidFill>
          <a:ln w="12700">
            <a:solidFill>
              <a:srgbClr val="7F8896"/>
            </a:solidFill>
          </a:ln>
          <a:effectLst/>
        </p:spPr>
        <p:txBody>
          <a:bodyPr rtlCol="0" anchor="ctr"/>
          <a:lstStyle/>
          <a:p>
            <a:pPr algn="ctr"/>
            <a:endParaRPr/>
          </a:p>
        </p:txBody>
      </p:sp>
      <p:sp>
        <p:nvSpPr>
          <p:cNvPr id="910" name="Oval 909"/>
          <p:cNvSpPr/>
          <p:nvPr/>
        </p:nvSpPr>
        <p:spPr>
          <a:xfrm>
            <a:off x="3626536" y="1750000"/>
            <a:ext cx="330000" cy="330000"/>
          </a:xfrm>
          <a:prstGeom prst="ellipse">
            <a:avLst/>
          </a:prstGeom>
          <a:solidFill>
            <a:srgbClr val="24345A"/>
          </a:solidFill>
          <a:ln>
            <a:noFill/>
          </a:ln>
          <a:effectLst/>
        </p:spPr>
        <p:txBody>
          <a:bodyPr wrap="square" lIns="0" tIns="0" rIns="0" bIns="0" rtlCol="0" anchor="ctr"/>
          <a:lstStyle/>
          <a:p>
            <a:pPr algn="ctr"/>
            <a:r>
              <a:rPr sz="1300" b="1">
                <a:solidFill>
                  <a:srgbClr val="FFFFFF"/>
                </a:solidFill>
                <a:latin typeface="メイリオ"/>
                <a:ea typeface="メイリオ"/>
                <a:cs typeface="メイリオ"/>
              </a:rPr>
              <a:t>2</a:t>
            </a:r>
          </a:p>
        </p:txBody>
      </p:sp>
      <p:sp>
        <p:nvSpPr>
          <p:cNvPr id="911" name="TextBox 910"/>
          <p:cNvSpPr txBox="1"/>
          <p:nvPr/>
        </p:nvSpPr>
        <p:spPr>
          <a:xfrm>
            <a:off x="4006536" y="1720000"/>
            <a:ext cx="2309880" cy="400000"/>
          </a:xfrm>
          <a:prstGeom prst="rect">
            <a:avLst/>
          </a:prstGeom>
          <a:noFill/>
        </p:spPr>
        <p:txBody>
          <a:bodyPr wrap="square" lIns="72000" tIns="36000" rIns="72000" bIns="36000" anchor="ctr">
            <a:spAutoFit/>
          </a:bodyPr>
          <a:lstStyle/>
          <a:p>
            <a:pPr algn="l"/>
            <a:r>
              <a:rPr sz="1200" b="1">
                <a:solidFill>
                  <a:srgbClr val="1F3A5F"/>
                </a:solidFill>
                <a:latin typeface="メイリオ"/>
                <a:ea typeface="メイリオ"/>
                <a:cs typeface="メイリオ"/>
              </a:rPr>
              <a:t>ステップ配信の設計・設定</a:t>
            </a:r>
          </a:p>
        </p:txBody>
      </p:sp>
      <p:sp>
        <p:nvSpPr>
          <p:cNvPr id="912" name="TextBox 911"/>
          <p:cNvSpPr txBox="1"/>
          <p:nvPr/>
        </p:nvSpPr>
        <p:spPr>
          <a:xfrm>
            <a:off x="3626536" y="2190000"/>
            <a:ext cx="2649880" cy="560000"/>
          </a:xfrm>
          <a:prstGeom prst="rect">
            <a:avLst/>
          </a:prstGeom>
          <a:noFill/>
        </p:spPr>
        <p:txBody>
          <a:bodyPr wrap="square" lIns="72000" tIns="36000" rIns="72000" bIns="36000" anchor="t">
            <a:spAutoFit/>
          </a:bodyPr>
          <a:lstStyle/>
          <a:p>
            <a:pPr algn="l"/>
            <a:r>
              <a:rPr sz="1100" b="0">
                <a:solidFill>
                  <a:srgbClr val="333333"/>
                </a:solidFill>
                <a:latin typeface="メイリオ"/>
                <a:ea typeface="メイリオ"/>
                <a:cs typeface="メイリオ"/>
              </a:rPr>
              <a:t>友だち追加から30日間・6通で初回予約へ</a:t>
            </a:r>
          </a:p>
        </p:txBody>
      </p:sp>
      <p:sp>
        <p:nvSpPr>
          <p:cNvPr id="913" name="Rounded Rectangle 912"/>
          <p:cNvSpPr/>
          <p:nvPr/>
        </p:nvSpPr>
        <p:spPr>
          <a:xfrm>
            <a:off x="3626536" y="2750000"/>
            <a:ext cx="1800000" cy="280000"/>
          </a:xfrm>
          <a:prstGeom prst="roundRect">
            <a:avLst>
              <a:gd name="adj" fmla="val 30000"/>
            </a:avLst>
          </a:prstGeom>
          <a:solidFill>
            <a:srgbClr val="FFFFFF"/>
          </a:solidFill>
          <a:ln w="12700">
            <a:solidFill>
              <a:srgbClr val="B0B4CC"/>
            </a:solidFill>
          </a:ln>
          <a:effectLst/>
        </p:spPr>
        <p:txBody>
          <a:bodyPr wrap="square" lIns="72000" tIns="36000" rIns="72000" bIns="36000" rtlCol="0" anchor="ctr"/>
          <a:lstStyle/>
          <a:p>
            <a:pPr algn="ctr"/>
            <a:r>
              <a:rPr sz="900" b="0">
                <a:solidFill>
                  <a:srgbClr val="1F3A5F"/>
                </a:solidFill>
                <a:latin typeface="メイリオ"/>
                <a:ea typeface="メイリオ"/>
                <a:cs typeface="メイリオ"/>
              </a:rPr>
              <a:t>使う機能：管理画面</a:t>
            </a:r>
          </a:p>
        </p:txBody>
      </p:sp>
      <p:sp>
        <p:nvSpPr>
          <p:cNvPr id="914" name="Rounded Rectangle 913"/>
          <p:cNvSpPr/>
          <p:nvPr/>
        </p:nvSpPr>
        <p:spPr>
          <a:xfrm>
            <a:off x="6669024" y="1630000"/>
            <a:ext cx="2849880" cy="1500000"/>
          </a:xfrm>
          <a:prstGeom prst="roundRect">
            <a:avLst>
              <a:gd name="adj" fmla="val 6000"/>
            </a:avLst>
          </a:prstGeom>
          <a:solidFill>
            <a:srgbClr val="EEF1F5"/>
          </a:solidFill>
          <a:ln w="12700">
            <a:solidFill>
              <a:srgbClr val="7F8896"/>
            </a:solidFill>
          </a:ln>
          <a:effectLst/>
        </p:spPr>
        <p:txBody>
          <a:bodyPr rtlCol="0" anchor="ctr"/>
          <a:lstStyle/>
          <a:p>
            <a:pPr algn="ctr"/>
            <a:endParaRPr/>
          </a:p>
        </p:txBody>
      </p:sp>
      <p:sp>
        <p:nvSpPr>
          <p:cNvPr id="915" name="Oval 914"/>
          <p:cNvSpPr/>
          <p:nvPr/>
        </p:nvSpPr>
        <p:spPr>
          <a:xfrm>
            <a:off x="6769024" y="1750000"/>
            <a:ext cx="330000" cy="330000"/>
          </a:xfrm>
          <a:prstGeom prst="ellipse">
            <a:avLst/>
          </a:prstGeom>
          <a:solidFill>
            <a:srgbClr val="24345A"/>
          </a:solidFill>
          <a:ln>
            <a:noFill/>
          </a:ln>
          <a:effectLst/>
        </p:spPr>
        <p:txBody>
          <a:bodyPr wrap="square" lIns="0" tIns="0" rIns="0" bIns="0" rtlCol="0" anchor="ctr"/>
          <a:lstStyle/>
          <a:p>
            <a:pPr algn="ctr"/>
            <a:r>
              <a:rPr sz="1300" b="1">
                <a:solidFill>
                  <a:srgbClr val="FFFFFF"/>
                </a:solidFill>
                <a:latin typeface="メイリオ"/>
                <a:ea typeface="メイリオ"/>
                <a:cs typeface="メイリオ"/>
              </a:rPr>
              <a:t>3</a:t>
            </a:r>
          </a:p>
        </p:txBody>
      </p:sp>
      <p:sp>
        <p:nvSpPr>
          <p:cNvPr id="916" name="TextBox 915"/>
          <p:cNvSpPr txBox="1"/>
          <p:nvPr/>
        </p:nvSpPr>
        <p:spPr>
          <a:xfrm>
            <a:off x="7149024" y="1720000"/>
            <a:ext cx="2309880" cy="400000"/>
          </a:xfrm>
          <a:prstGeom prst="rect">
            <a:avLst/>
          </a:prstGeom>
          <a:noFill/>
        </p:spPr>
        <p:txBody>
          <a:bodyPr wrap="square" lIns="72000" tIns="36000" rIns="72000" bIns="36000" anchor="ctr">
            <a:spAutoFit/>
          </a:bodyPr>
          <a:lstStyle/>
          <a:p>
            <a:pPr algn="l"/>
            <a:r>
              <a:rPr sz="1200" b="1">
                <a:solidFill>
                  <a:srgbClr val="1F3A5F"/>
                </a:solidFill>
                <a:latin typeface="メイリオ"/>
                <a:ea typeface="メイリオ"/>
                <a:cs typeface="メイリオ"/>
              </a:rPr>
              <a:t>リッチメニューの作り直し</a:t>
            </a:r>
          </a:p>
        </p:txBody>
      </p:sp>
      <p:sp>
        <p:nvSpPr>
          <p:cNvPr id="917" name="TextBox 916"/>
          <p:cNvSpPr txBox="1"/>
          <p:nvPr/>
        </p:nvSpPr>
        <p:spPr>
          <a:xfrm>
            <a:off x="6769024" y="2190000"/>
            <a:ext cx="2649880" cy="560000"/>
          </a:xfrm>
          <a:prstGeom prst="rect">
            <a:avLst/>
          </a:prstGeom>
          <a:noFill/>
        </p:spPr>
        <p:txBody>
          <a:bodyPr wrap="square" lIns="72000" tIns="36000" rIns="72000" bIns="36000" anchor="t">
            <a:spAutoFit/>
          </a:bodyPr>
          <a:lstStyle/>
          <a:p>
            <a:pPr algn="l"/>
            <a:r>
              <a:rPr sz="1100" b="0">
                <a:solidFill>
                  <a:srgbClr val="333333"/>
                </a:solidFill>
                <a:latin typeface="メイリオ"/>
                <a:ea typeface="メイリオ"/>
                <a:cs typeface="メイリオ"/>
              </a:rPr>
              <a:t>サイトの「探す」軸（目的・同行者・エリア）に揃える</a:t>
            </a:r>
          </a:p>
        </p:txBody>
      </p:sp>
      <p:sp>
        <p:nvSpPr>
          <p:cNvPr id="918" name="Rounded Rectangle 917"/>
          <p:cNvSpPr/>
          <p:nvPr/>
        </p:nvSpPr>
        <p:spPr>
          <a:xfrm>
            <a:off x="6769024" y="2750000"/>
            <a:ext cx="1800000" cy="280000"/>
          </a:xfrm>
          <a:prstGeom prst="roundRect">
            <a:avLst>
              <a:gd name="adj" fmla="val 30000"/>
            </a:avLst>
          </a:prstGeom>
          <a:solidFill>
            <a:srgbClr val="FFFFFF"/>
          </a:solidFill>
          <a:ln w="12700">
            <a:solidFill>
              <a:srgbClr val="B0B4CC"/>
            </a:solidFill>
          </a:ln>
          <a:effectLst/>
        </p:spPr>
        <p:txBody>
          <a:bodyPr wrap="square" lIns="72000" tIns="36000" rIns="72000" bIns="36000" rtlCol="0" anchor="ctr"/>
          <a:lstStyle/>
          <a:p>
            <a:pPr algn="ctr"/>
            <a:r>
              <a:rPr sz="900" b="0">
                <a:solidFill>
                  <a:srgbClr val="1F3A5F"/>
                </a:solidFill>
                <a:latin typeface="メイリオ"/>
                <a:ea typeface="メイリオ"/>
                <a:cs typeface="メイリオ"/>
              </a:rPr>
              <a:t>使う機能：管理画面／tuna</a:t>
            </a:r>
          </a:p>
        </p:txBody>
      </p:sp>
      <p:sp>
        <p:nvSpPr>
          <p:cNvPr id="919" name="Rounded Rectangle 918"/>
          <p:cNvSpPr/>
          <p:nvPr/>
        </p:nvSpPr>
        <p:spPr>
          <a:xfrm>
            <a:off x="384048" y="3330000"/>
            <a:ext cx="2849880" cy="1500000"/>
          </a:xfrm>
          <a:prstGeom prst="roundRect">
            <a:avLst>
              <a:gd name="adj" fmla="val 6000"/>
            </a:avLst>
          </a:prstGeom>
          <a:solidFill>
            <a:srgbClr val="EEF1F5"/>
          </a:solidFill>
          <a:ln w="12700">
            <a:solidFill>
              <a:srgbClr val="7F8896"/>
            </a:solidFill>
          </a:ln>
          <a:effectLst/>
        </p:spPr>
        <p:txBody>
          <a:bodyPr rtlCol="0" anchor="ctr"/>
          <a:lstStyle/>
          <a:p>
            <a:pPr algn="ctr"/>
            <a:endParaRPr/>
          </a:p>
        </p:txBody>
      </p:sp>
      <p:sp>
        <p:nvSpPr>
          <p:cNvPr id="920" name="Oval 919"/>
          <p:cNvSpPr/>
          <p:nvPr/>
        </p:nvSpPr>
        <p:spPr>
          <a:xfrm>
            <a:off x="484048" y="3450000"/>
            <a:ext cx="330000" cy="330000"/>
          </a:xfrm>
          <a:prstGeom prst="ellipse">
            <a:avLst/>
          </a:prstGeom>
          <a:solidFill>
            <a:srgbClr val="24345A"/>
          </a:solidFill>
          <a:ln>
            <a:noFill/>
          </a:ln>
          <a:effectLst/>
        </p:spPr>
        <p:txBody>
          <a:bodyPr wrap="square" lIns="0" tIns="0" rIns="0" bIns="0" rtlCol="0" anchor="ctr"/>
          <a:lstStyle/>
          <a:p>
            <a:pPr algn="ctr"/>
            <a:r>
              <a:rPr sz="1300" b="1">
                <a:solidFill>
                  <a:srgbClr val="FFFFFF"/>
                </a:solidFill>
                <a:latin typeface="メイリオ"/>
                <a:ea typeface="メイリオ"/>
                <a:cs typeface="メイリオ"/>
              </a:rPr>
              <a:t>4</a:t>
            </a:r>
          </a:p>
        </p:txBody>
      </p:sp>
      <p:sp>
        <p:nvSpPr>
          <p:cNvPr id="921" name="TextBox 920"/>
          <p:cNvSpPr txBox="1"/>
          <p:nvPr/>
        </p:nvSpPr>
        <p:spPr>
          <a:xfrm>
            <a:off x="864048" y="3420000"/>
            <a:ext cx="2309880" cy="400000"/>
          </a:xfrm>
          <a:prstGeom prst="rect">
            <a:avLst/>
          </a:prstGeom>
          <a:noFill/>
        </p:spPr>
        <p:txBody>
          <a:bodyPr wrap="square" lIns="72000" tIns="36000" rIns="72000" bIns="36000" anchor="ctr">
            <a:spAutoFit/>
          </a:bodyPr>
          <a:lstStyle/>
          <a:p>
            <a:pPr algn="l"/>
            <a:r>
              <a:rPr sz="1200" b="1">
                <a:solidFill>
                  <a:srgbClr val="1F3A5F"/>
                </a:solidFill>
                <a:latin typeface="メイリオ"/>
                <a:ea typeface="メイリオ"/>
                <a:cs typeface="メイリオ"/>
              </a:rPr>
              <a:t>tunaのラベル設計</a:t>
            </a:r>
          </a:p>
        </p:txBody>
      </p:sp>
      <p:sp>
        <p:nvSpPr>
          <p:cNvPr id="922" name="TextBox 921"/>
          <p:cNvSpPr txBox="1"/>
          <p:nvPr/>
        </p:nvSpPr>
        <p:spPr>
          <a:xfrm>
            <a:off x="484048" y="3890000"/>
            <a:ext cx="2649880" cy="560000"/>
          </a:xfrm>
          <a:prstGeom prst="rect">
            <a:avLst/>
          </a:prstGeom>
          <a:noFill/>
        </p:spPr>
        <p:txBody>
          <a:bodyPr wrap="square" lIns="72000" tIns="36000" rIns="72000" bIns="36000" anchor="t">
            <a:spAutoFit/>
          </a:bodyPr>
          <a:lstStyle/>
          <a:p>
            <a:pPr algn="l"/>
            <a:r>
              <a:rPr sz="1100" b="0">
                <a:solidFill>
                  <a:srgbClr val="333333"/>
                </a:solidFill>
                <a:latin typeface="メイリオ"/>
                <a:ea typeface="メイリオ"/>
                <a:cs typeface="メイリオ"/>
              </a:rPr>
              <a:t>会員・非会員、予約済み、宿泊済みなどで出し分け</a:t>
            </a:r>
          </a:p>
        </p:txBody>
      </p:sp>
      <p:sp>
        <p:nvSpPr>
          <p:cNvPr id="923" name="Rounded Rectangle 922"/>
          <p:cNvSpPr/>
          <p:nvPr/>
        </p:nvSpPr>
        <p:spPr>
          <a:xfrm>
            <a:off x="484048" y="4450000"/>
            <a:ext cx="1800000" cy="280000"/>
          </a:xfrm>
          <a:prstGeom prst="roundRect">
            <a:avLst>
              <a:gd name="adj" fmla="val 30000"/>
            </a:avLst>
          </a:prstGeom>
          <a:solidFill>
            <a:srgbClr val="FFFFFF"/>
          </a:solidFill>
          <a:ln w="12700">
            <a:solidFill>
              <a:srgbClr val="B0B4CC"/>
            </a:solidFill>
          </a:ln>
          <a:effectLst/>
        </p:spPr>
        <p:txBody>
          <a:bodyPr wrap="square" lIns="72000" tIns="36000" rIns="72000" bIns="36000" rtlCol="0" anchor="ctr"/>
          <a:lstStyle/>
          <a:p>
            <a:pPr algn="ctr"/>
            <a:r>
              <a:rPr sz="900" b="0">
                <a:solidFill>
                  <a:srgbClr val="1F3A5F"/>
                </a:solidFill>
                <a:latin typeface="メイリオ"/>
                <a:ea typeface="メイリオ"/>
                <a:cs typeface="メイリオ"/>
              </a:rPr>
              <a:t>使う機能：tuna</a:t>
            </a:r>
          </a:p>
        </p:txBody>
      </p:sp>
      <p:sp>
        <p:nvSpPr>
          <p:cNvPr id="924" name="Rounded Rectangle 923"/>
          <p:cNvSpPr/>
          <p:nvPr/>
        </p:nvSpPr>
        <p:spPr>
          <a:xfrm>
            <a:off x="3526536" y="3330000"/>
            <a:ext cx="2849880" cy="1500000"/>
          </a:xfrm>
          <a:prstGeom prst="roundRect">
            <a:avLst>
              <a:gd name="adj" fmla="val 6000"/>
            </a:avLst>
          </a:prstGeom>
          <a:solidFill>
            <a:srgbClr val="EEF1F5"/>
          </a:solidFill>
          <a:ln w="12700">
            <a:solidFill>
              <a:srgbClr val="7F8896"/>
            </a:solidFill>
          </a:ln>
          <a:effectLst/>
        </p:spPr>
        <p:txBody>
          <a:bodyPr rtlCol="0" anchor="ctr"/>
          <a:lstStyle/>
          <a:p>
            <a:pPr algn="ctr"/>
            <a:endParaRPr/>
          </a:p>
        </p:txBody>
      </p:sp>
      <p:sp>
        <p:nvSpPr>
          <p:cNvPr id="925" name="Oval 924"/>
          <p:cNvSpPr/>
          <p:nvPr/>
        </p:nvSpPr>
        <p:spPr>
          <a:xfrm>
            <a:off x="3626536" y="3450000"/>
            <a:ext cx="330000" cy="330000"/>
          </a:xfrm>
          <a:prstGeom prst="ellipse">
            <a:avLst/>
          </a:prstGeom>
          <a:solidFill>
            <a:srgbClr val="24345A"/>
          </a:solidFill>
          <a:ln>
            <a:noFill/>
          </a:ln>
          <a:effectLst/>
        </p:spPr>
        <p:txBody>
          <a:bodyPr wrap="square" lIns="0" tIns="0" rIns="0" bIns="0" rtlCol="0" anchor="ctr"/>
          <a:lstStyle/>
          <a:p>
            <a:pPr algn="ctr"/>
            <a:r>
              <a:rPr sz="1300" b="1">
                <a:solidFill>
                  <a:srgbClr val="FFFFFF"/>
                </a:solidFill>
                <a:latin typeface="メイリオ"/>
                <a:ea typeface="メイリオ"/>
                <a:cs typeface="メイリオ"/>
              </a:rPr>
              <a:t>5</a:t>
            </a:r>
          </a:p>
        </p:txBody>
      </p:sp>
      <p:sp>
        <p:nvSpPr>
          <p:cNvPr id="926" name="TextBox 925"/>
          <p:cNvSpPr txBox="1"/>
          <p:nvPr/>
        </p:nvSpPr>
        <p:spPr>
          <a:xfrm>
            <a:off x="4006536" y="3420000"/>
            <a:ext cx="2309880" cy="400000"/>
          </a:xfrm>
          <a:prstGeom prst="rect">
            <a:avLst/>
          </a:prstGeom>
          <a:noFill/>
        </p:spPr>
        <p:txBody>
          <a:bodyPr wrap="square" lIns="72000" tIns="36000" rIns="72000" bIns="36000" anchor="ctr">
            <a:spAutoFit/>
          </a:bodyPr>
          <a:lstStyle/>
          <a:p>
            <a:pPr algn="l"/>
            <a:r>
              <a:rPr sz="1200" b="1">
                <a:solidFill>
                  <a:srgbClr val="1F3A5F"/>
                </a:solidFill>
                <a:latin typeface="メイリオ"/>
                <a:ea typeface="メイリオ"/>
                <a:cs typeface="メイリオ"/>
              </a:rPr>
              <a:t>宿泊後の配信設定</a:t>
            </a:r>
          </a:p>
        </p:txBody>
      </p:sp>
      <p:sp>
        <p:nvSpPr>
          <p:cNvPr id="927" name="TextBox 926"/>
          <p:cNvSpPr txBox="1"/>
          <p:nvPr/>
        </p:nvSpPr>
        <p:spPr>
          <a:xfrm>
            <a:off x="3626536" y="3890000"/>
            <a:ext cx="2649880" cy="560000"/>
          </a:xfrm>
          <a:prstGeom prst="rect">
            <a:avLst/>
          </a:prstGeom>
          <a:noFill/>
        </p:spPr>
        <p:txBody>
          <a:bodyPr wrap="square" lIns="72000" tIns="36000" rIns="72000" bIns="36000" anchor="t">
            <a:spAutoFit/>
          </a:bodyPr>
          <a:lstStyle/>
          <a:p>
            <a:pPr algn="l"/>
            <a:r>
              <a:rPr sz="1100" b="0">
                <a:solidFill>
                  <a:srgbClr val="333333"/>
                </a:solidFill>
                <a:latin typeface="メイリオ"/>
                <a:ea typeface="メイリオ"/>
                <a:cs typeface="メイリオ"/>
              </a:rPr>
              <a:t>お礼メッセージ、リピーター特典、別施設のご提案</a:t>
            </a:r>
          </a:p>
        </p:txBody>
      </p:sp>
      <p:sp>
        <p:nvSpPr>
          <p:cNvPr id="928" name="Rounded Rectangle 927"/>
          <p:cNvSpPr/>
          <p:nvPr/>
        </p:nvSpPr>
        <p:spPr>
          <a:xfrm>
            <a:off x="3626536" y="4450000"/>
            <a:ext cx="1800000" cy="280000"/>
          </a:xfrm>
          <a:prstGeom prst="roundRect">
            <a:avLst>
              <a:gd name="adj" fmla="val 30000"/>
            </a:avLst>
          </a:prstGeom>
          <a:solidFill>
            <a:srgbClr val="FFFFFF"/>
          </a:solidFill>
          <a:ln w="12700">
            <a:solidFill>
              <a:srgbClr val="B0B4CC"/>
            </a:solidFill>
          </a:ln>
          <a:effectLst/>
        </p:spPr>
        <p:txBody>
          <a:bodyPr wrap="square" lIns="72000" tIns="36000" rIns="72000" bIns="36000" rtlCol="0" anchor="ctr"/>
          <a:lstStyle/>
          <a:p>
            <a:pPr algn="ctr"/>
            <a:r>
              <a:rPr sz="900" b="0">
                <a:solidFill>
                  <a:srgbClr val="1F3A5F"/>
                </a:solidFill>
                <a:latin typeface="メイリオ"/>
                <a:ea typeface="メイリオ"/>
                <a:cs typeface="メイリオ"/>
              </a:rPr>
              <a:t>使う機能：tuna</a:t>
            </a:r>
          </a:p>
        </p:txBody>
      </p:sp>
      <p:sp>
        <p:nvSpPr>
          <p:cNvPr id="929" name="Rounded Rectangle 928"/>
          <p:cNvSpPr/>
          <p:nvPr/>
        </p:nvSpPr>
        <p:spPr>
          <a:xfrm>
            <a:off x="6669024" y="3330000"/>
            <a:ext cx="2849880" cy="1500000"/>
          </a:xfrm>
          <a:prstGeom prst="roundRect">
            <a:avLst>
              <a:gd name="adj" fmla="val 6000"/>
            </a:avLst>
          </a:prstGeom>
          <a:solidFill>
            <a:srgbClr val="EEF1F5"/>
          </a:solidFill>
          <a:ln w="12700">
            <a:solidFill>
              <a:srgbClr val="7F8896"/>
            </a:solidFill>
          </a:ln>
          <a:effectLst/>
        </p:spPr>
        <p:txBody>
          <a:bodyPr rtlCol="0" anchor="ctr"/>
          <a:lstStyle/>
          <a:p>
            <a:pPr algn="ctr"/>
            <a:endParaRPr/>
          </a:p>
        </p:txBody>
      </p:sp>
      <p:sp>
        <p:nvSpPr>
          <p:cNvPr id="930" name="Oval 929"/>
          <p:cNvSpPr/>
          <p:nvPr/>
        </p:nvSpPr>
        <p:spPr>
          <a:xfrm>
            <a:off x="6769024" y="3450000"/>
            <a:ext cx="330000" cy="330000"/>
          </a:xfrm>
          <a:prstGeom prst="ellipse">
            <a:avLst/>
          </a:prstGeom>
          <a:solidFill>
            <a:srgbClr val="24345A"/>
          </a:solidFill>
          <a:ln>
            <a:noFill/>
          </a:ln>
          <a:effectLst/>
        </p:spPr>
        <p:txBody>
          <a:bodyPr wrap="square" lIns="0" tIns="0" rIns="0" bIns="0" rtlCol="0" anchor="ctr"/>
          <a:lstStyle/>
          <a:p>
            <a:pPr algn="ctr"/>
            <a:r>
              <a:rPr sz="1300" b="1">
                <a:solidFill>
                  <a:srgbClr val="FFFFFF"/>
                </a:solidFill>
                <a:latin typeface="メイリオ"/>
                <a:ea typeface="メイリオ"/>
                <a:cs typeface="メイリオ"/>
              </a:rPr>
              <a:t>6</a:t>
            </a:r>
          </a:p>
        </p:txBody>
      </p:sp>
      <p:sp>
        <p:nvSpPr>
          <p:cNvPr id="931" name="TextBox 930"/>
          <p:cNvSpPr txBox="1"/>
          <p:nvPr/>
        </p:nvSpPr>
        <p:spPr>
          <a:xfrm>
            <a:off x="7149024" y="3420000"/>
            <a:ext cx="2309880" cy="400000"/>
          </a:xfrm>
          <a:prstGeom prst="rect">
            <a:avLst/>
          </a:prstGeom>
          <a:noFill/>
        </p:spPr>
        <p:txBody>
          <a:bodyPr wrap="square" lIns="72000" tIns="36000" rIns="72000" bIns="36000" anchor="ctr">
            <a:spAutoFit/>
          </a:bodyPr>
          <a:lstStyle/>
          <a:p>
            <a:pPr algn="l"/>
            <a:r>
              <a:rPr sz="1200" b="1">
                <a:solidFill>
                  <a:srgbClr val="1F3A5F"/>
                </a:solidFill>
                <a:latin typeface="メイリオ"/>
                <a:ea typeface="メイリオ"/>
                <a:cs typeface="メイリオ"/>
              </a:rPr>
              <a:t>会員登録カードの作り直し</a:t>
            </a:r>
          </a:p>
        </p:txBody>
      </p:sp>
      <p:sp>
        <p:nvSpPr>
          <p:cNvPr id="932" name="TextBox 931"/>
          <p:cNvSpPr txBox="1"/>
          <p:nvPr/>
        </p:nvSpPr>
        <p:spPr>
          <a:xfrm>
            <a:off x="6769024" y="3890000"/>
            <a:ext cx="2649880" cy="560000"/>
          </a:xfrm>
          <a:prstGeom prst="rect">
            <a:avLst/>
          </a:prstGeom>
          <a:noFill/>
        </p:spPr>
        <p:txBody>
          <a:bodyPr wrap="square" lIns="72000" tIns="36000" rIns="72000" bIns="36000" anchor="t">
            <a:spAutoFit/>
          </a:bodyPr>
          <a:lstStyle/>
          <a:p>
            <a:pPr algn="l"/>
            <a:r>
              <a:rPr sz="1100" b="0">
                <a:solidFill>
                  <a:srgbClr val="333333"/>
                </a:solidFill>
                <a:latin typeface="メイリオ"/>
                <a:ea typeface="メイリオ"/>
                <a:cs typeface="メイリオ"/>
              </a:rPr>
              <a:t>「会員登録はこちら」→登録すると得られる特典が伝わる文言へ</a:t>
            </a:r>
          </a:p>
        </p:txBody>
      </p:sp>
      <p:sp>
        <p:nvSpPr>
          <p:cNvPr id="933" name="Rounded Rectangle 932"/>
          <p:cNvSpPr/>
          <p:nvPr/>
        </p:nvSpPr>
        <p:spPr>
          <a:xfrm>
            <a:off x="6769024" y="4450000"/>
            <a:ext cx="1800000" cy="280000"/>
          </a:xfrm>
          <a:prstGeom prst="roundRect">
            <a:avLst>
              <a:gd name="adj" fmla="val 30000"/>
            </a:avLst>
          </a:prstGeom>
          <a:solidFill>
            <a:srgbClr val="FFFFFF"/>
          </a:solidFill>
          <a:ln w="12700">
            <a:solidFill>
              <a:srgbClr val="B0B4CC"/>
            </a:solidFill>
          </a:ln>
          <a:effectLst/>
        </p:spPr>
        <p:txBody>
          <a:bodyPr wrap="square" lIns="72000" tIns="36000" rIns="72000" bIns="36000" rtlCol="0" anchor="ctr"/>
          <a:lstStyle/>
          <a:p>
            <a:pPr algn="ctr"/>
            <a:r>
              <a:rPr sz="900" b="0">
                <a:solidFill>
                  <a:srgbClr val="1F3A5F"/>
                </a:solidFill>
                <a:latin typeface="メイリオ"/>
                <a:ea typeface="メイリオ"/>
                <a:cs typeface="メイリオ"/>
              </a:rPr>
              <a:t>使う機能：tuna</a:t>
            </a:r>
          </a:p>
        </p:txBody>
      </p:sp>
      <p:sp>
        <p:nvSpPr>
          <p:cNvPr id="934" name="TextBox 933"/>
          <p:cNvSpPr txBox="1"/>
          <p:nvPr/>
        </p:nvSpPr>
        <p:spPr>
          <a:xfrm>
            <a:off x="384048" y="5180000"/>
            <a:ext cx="9134856" cy="500000"/>
          </a:xfrm>
          <a:prstGeom prst="rect">
            <a:avLst/>
          </a:prstGeom>
          <a:noFill/>
        </p:spPr>
        <p:txBody>
          <a:bodyPr wrap="square" lIns="72000" tIns="36000" rIns="72000" bIns="36000" anchor="t">
            <a:spAutoFit/>
          </a:bodyPr>
          <a:lstStyle/>
          <a:p>
            <a:pPr algn="l"/>
            <a:r>
              <a:rPr sz="900" b="0">
                <a:solidFill>
                  <a:srgbClr val="555555"/>
                </a:solidFill>
                <a:latin typeface="メイリオ"/>
                <a:ea typeface="メイリオ"/>
                <a:cs typeface="メイリオ"/>
              </a:rPr>
              <a:t>※tunaの機能範囲（ステップ配信・自動ラベル付け・リッチメニューの出し分け）は提供元に確認中です。tunaでできない場合はLINE公式アカウントの標準機能で実装します</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LeadBand"/>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anchor="ctr"/>
          <a:lstStyle/>
          <a:p>
            <a:endParaRPr lang="ja-JP"/>
          </a:p>
        </p:txBody>
      </p:sp>
      <p:cxnSp>
        <p:nvCxnSpPr>
          <p:cNvPr id="901" name="LeadBandLine"/>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902" name="TextBox 901"/>
          <p:cNvSpPr txBox="1"/>
          <p:nvPr/>
        </p:nvSpPr>
        <p:spPr>
          <a:xfrm>
            <a:off x="379976" y="635062"/>
            <a:ext cx="9160881" cy="698492"/>
          </a:xfrm>
          <a:prstGeom prst="rect">
            <a:avLst/>
          </a:prstGeom>
          <a:noFill/>
        </p:spPr>
        <p:txBody>
          <a:bodyPr wrap="square" lIns="72000" tIns="36000" rIns="72000" bIns="36000" anchor="ctr">
            <a:spAutoFit/>
          </a:bodyPr>
          <a:lstStyle/>
          <a:p>
            <a:pPr algn="ctr"/>
            <a:r>
              <a:rPr sz="1200" b="0">
                <a:solidFill>
                  <a:srgbClr val="333333"/>
                </a:solidFill>
                <a:latin typeface="メイリオ"/>
                <a:ea typeface="メイリオ"/>
                <a:cs typeface="メイリオ"/>
              </a:rPr>
              <a:t>最初の3つの吹き出しで「何が得か」と「次に何をするか」が分かる形にします</a:t>
            </a:r>
          </a:p>
        </p:txBody>
      </p:sp>
      <p:sp>
        <p:nvSpPr>
          <p:cNvPr id="903" name="TextBox 902"/>
          <p:cNvSpPr txBox="1"/>
          <p:nvPr/>
        </p:nvSpPr>
        <p:spPr>
          <a:xfrm>
            <a:off x="548883" y="138118"/>
            <a:ext cx="7900000" cy="338554"/>
          </a:xfrm>
          <a:prstGeom prst="rect">
            <a:avLst/>
          </a:prstGeom>
          <a:noFill/>
        </p:spPr>
        <p:txBody>
          <a:bodyPr wrap="square" lIns="72000" tIns="0" rIns="72000" bIns="0" anchor="ctr">
            <a:spAutoFit/>
          </a:bodyPr>
          <a:lstStyle/>
          <a:p>
            <a:pPr algn="l"/>
            <a:r>
              <a:rPr sz="1600" b="1">
                <a:solidFill>
                  <a:srgbClr val="002060"/>
                </a:solidFill>
                <a:latin typeface="メイリオ"/>
                <a:ea typeface="メイリオ"/>
                <a:cs typeface="メイリオ"/>
              </a:rPr>
              <a:t>あいさつメッセージの改善</a:t>
            </a:r>
          </a:p>
        </p:txBody>
      </p:sp>
      <p:pic>
        <p:nvPicPr>
          <p:cNvPr id="904" name="Picture 903" descr="shot_greet.jpg"/>
          <p:cNvPicPr>
            <a:picLocks noChangeAspect="1"/>
          </p:cNvPicPr>
          <p:nvPr/>
        </p:nvPicPr>
        <p:blipFill>
          <a:blip r:embed="rId2"/>
          <a:stretch>
            <a:fillRect/>
          </a:stretch>
        </p:blipFill>
        <p:spPr>
          <a:xfrm>
            <a:off x="584048" y="1930000"/>
            <a:ext cx="2039015" cy="3500000"/>
          </a:xfrm>
          <a:prstGeom prst="rect">
            <a:avLst/>
          </a:prstGeom>
        </p:spPr>
      </p:pic>
      <p:sp>
        <p:nvSpPr>
          <p:cNvPr id="905" name="Rounded Rectangle 904"/>
          <p:cNvSpPr/>
          <p:nvPr/>
        </p:nvSpPr>
        <p:spPr>
          <a:xfrm>
            <a:off x="384048" y="1530000"/>
            <a:ext cx="2400000" cy="330000"/>
          </a:xfrm>
          <a:prstGeom prst="roundRect">
            <a:avLst>
              <a:gd name="adj" fmla="val 20000"/>
            </a:avLst>
          </a:prstGeom>
          <a:solidFill>
            <a:srgbClr val="9AA3B5"/>
          </a:solidFill>
          <a:ln>
            <a:noFill/>
          </a:ln>
          <a:effectLst/>
        </p:spPr>
        <p:txBody>
          <a:bodyPr wrap="square" lIns="72000" tIns="36000" rIns="72000" bIns="36000" rtlCol="0" anchor="ctr"/>
          <a:lstStyle/>
          <a:p>
            <a:pPr algn="ctr"/>
            <a:r>
              <a:rPr sz="1200" b="1">
                <a:solidFill>
                  <a:srgbClr val="FFFFFF"/>
                </a:solidFill>
                <a:latin typeface="メイリオ"/>
                <a:ea typeface="メイリオ"/>
                <a:cs typeface="メイリオ"/>
              </a:rPr>
              <a:t>現状</a:t>
            </a:r>
          </a:p>
        </p:txBody>
      </p:sp>
      <p:sp>
        <p:nvSpPr>
          <p:cNvPr id="906" name="Right Arrow 905"/>
          <p:cNvSpPr/>
          <p:nvPr/>
        </p:nvSpPr>
        <p:spPr>
          <a:xfrm>
            <a:off x="3084048" y="3430000"/>
            <a:ext cx="420000" cy="380000"/>
          </a:xfrm>
          <a:prstGeom prst="rightArrow">
            <a:avLst/>
          </a:prstGeom>
          <a:solidFill>
            <a:srgbClr val="24345A"/>
          </a:solidFill>
          <a:ln>
            <a:noFill/>
          </a:ln>
          <a:effectLst/>
        </p:spPr>
        <p:txBody>
          <a:bodyPr rtlCol="0" anchor="ctr"/>
          <a:lstStyle/>
          <a:p>
            <a:pPr algn="ctr"/>
            <a:endParaRPr/>
          </a:p>
        </p:txBody>
      </p:sp>
      <p:sp>
        <p:nvSpPr>
          <p:cNvPr id="907" name="Rounded Rectangle 906"/>
          <p:cNvSpPr/>
          <p:nvPr/>
        </p:nvSpPr>
        <p:spPr>
          <a:xfrm>
            <a:off x="3734048" y="1530000"/>
            <a:ext cx="5784856" cy="330000"/>
          </a:xfrm>
          <a:prstGeom prst="roundRect">
            <a:avLst>
              <a:gd name="adj" fmla="val 20000"/>
            </a:avLst>
          </a:prstGeom>
          <a:solidFill>
            <a:srgbClr val="06C755"/>
          </a:solidFill>
          <a:ln>
            <a:noFill/>
          </a:ln>
          <a:effectLst/>
        </p:spPr>
        <p:txBody>
          <a:bodyPr wrap="square" lIns="72000" tIns="36000" rIns="72000" bIns="36000" rtlCol="0" anchor="ctr"/>
          <a:lstStyle/>
          <a:p>
            <a:pPr algn="ctr"/>
            <a:r>
              <a:rPr sz="1200" b="1">
                <a:solidFill>
                  <a:srgbClr val="FFFFFF"/>
                </a:solidFill>
                <a:latin typeface="メイリオ"/>
                <a:ea typeface="メイリオ"/>
                <a:cs typeface="メイリオ"/>
              </a:rPr>
              <a:t>改善後</a:t>
            </a:r>
          </a:p>
        </p:txBody>
      </p:sp>
      <p:sp>
        <p:nvSpPr>
          <p:cNvPr id="908" name="Rounded Rectangle 907"/>
          <p:cNvSpPr/>
          <p:nvPr/>
        </p:nvSpPr>
        <p:spPr>
          <a:xfrm>
            <a:off x="3734048" y="1960000"/>
            <a:ext cx="5784856" cy="1080000"/>
          </a:xfrm>
          <a:prstGeom prst="roundRect">
            <a:avLst>
              <a:gd name="adj" fmla="val 6000"/>
            </a:avLst>
          </a:prstGeom>
          <a:solidFill>
            <a:srgbClr val="EEF1F5"/>
          </a:solidFill>
          <a:ln w="12700">
            <a:solidFill>
              <a:srgbClr val="7F8896"/>
            </a:solidFill>
          </a:ln>
          <a:effectLst/>
        </p:spPr>
        <p:txBody>
          <a:bodyPr rtlCol="0" anchor="ctr"/>
          <a:lstStyle/>
          <a:p>
            <a:pPr algn="ctr"/>
            <a:endParaRPr/>
          </a:p>
        </p:txBody>
      </p:sp>
      <p:sp>
        <p:nvSpPr>
          <p:cNvPr id="909" name="TextBox 908"/>
          <p:cNvSpPr txBox="1"/>
          <p:nvPr/>
        </p:nvSpPr>
        <p:spPr>
          <a:xfrm>
            <a:off x="3814048" y="2000000"/>
            <a:ext cx="5624856" cy="1100000"/>
          </a:xfrm>
          <a:prstGeom prst="rect">
            <a:avLst/>
          </a:prstGeom>
          <a:noFill/>
        </p:spPr>
        <p:txBody>
          <a:bodyPr wrap="square" lIns="72000" tIns="36000" rIns="72000" bIns="36000" anchor="t">
            <a:spAutoFit/>
          </a:bodyPr>
          <a:lstStyle/>
          <a:p>
            <a:pPr algn="l"/>
            <a:r>
              <a:rPr sz="1200" b="1">
                <a:solidFill>
                  <a:srgbClr val="1F3A5F"/>
                </a:solidFill>
                <a:latin typeface="メイリオ"/>
                <a:ea typeface="メイリオ"/>
                <a:cs typeface="メイリオ"/>
              </a:rPr>
              <a:t>吹き出し①　紹介と特典</a:t>
            </a:r>
          </a:p>
          <a:p>
            <a:pPr algn="l">
              <a:spcAft>
                <a:spcPts val="200"/>
              </a:spcAft>
            </a:pPr>
            <a:r>
              <a:rPr sz="750" b="0">
                <a:solidFill>
                  <a:srgbClr val="06C755"/>
                </a:solidFill>
                <a:latin typeface="メイリオ"/>
                <a:ea typeface="メイリオ"/>
                <a:cs typeface="メイリオ"/>
              </a:rPr>
              <a:t>● </a:t>
            </a:r>
            <a:r>
              <a:rPr sz="1050" b="0">
                <a:solidFill>
                  <a:srgbClr val="333333"/>
                </a:solidFill>
                <a:latin typeface="メイリオ"/>
                <a:ea typeface="メイリオ"/>
                <a:cs typeface="メイリオ"/>
              </a:rPr>
              <a:t>全国16の厳選宿に、会員特典付きで泊まれる「お宿ねっと」です</a:t>
            </a:r>
          </a:p>
          <a:p>
            <a:pPr algn="l">
              <a:spcAft>
                <a:spcPts val="200"/>
              </a:spcAft>
            </a:pPr>
            <a:r>
              <a:rPr sz="750" b="0">
                <a:solidFill>
                  <a:srgbClr val="06C755"/>
                </a:solidFill>
                <a:latin typeface="メイリオ"/>
                <a:ea typeface="メイリオ"/>
                <a:cs typeface="メイリオ"/>
              </a:rPr>
              <a:t>● </a:t>
            </a:r>
            <a:r>
              <a:rPr sz="1050" b="0">
                <a:solidFill>
                  <a:srgbClr val="333333"/>
                </a:solidFill>
                <a:latin typeface="メイリオ"/>
                <a:ea typeface="メイリオ"/>
                <a:cs typeface="メイリオ"/>
              </a:rPr>
              <a:t>特典3つを条件付きで正直に（スタンプ5個で5,000円OFF／シークレットプラン／記念日のデザート）</a:t>
            </a:r>
          </a:p>
        </p:txBody>
      </p:sp>
      <p:sp>
        <p:nvSpPr>
          <p:cNvPr id="910" name="Rounded Rectangle 909"/>
          <p:cNvSpPr/>
          <p:nvPr/>
        </p:nvSpPr>
        <p:spPr>
          <a:xfrm>
            <a:off x="3734048" y="3120000"/>
            <a:ext cx="5784856" cy="1080000"/>
          </a:xfrm>
          <a:prstGeom prst="roundRect">
            <a:avLst>
              <a:gd name="adj" fmla="val 6000"/>
            </a:avLst>
          </a:prstGeom>
          <a:solidFill>
            <a:srgbClr val="EEF1F5"/>
          </a:solidFill>
          <a:ln w="12700">
            <a:solidFill>
              <a:srgbClr val="7F8896"/>
            </a:solidFill>
          </a:ln>
          <a:effectLst/>
        </p:spPr>
        <p:txBody>
          <a:bodyPr rtlCol="0" anchor="ctr"/>
          <a:lstStyle/>
          <a:p>
            <a:pPr algn="ctr"/>
            <a:endParaRPr/>
          </a:p>
        </p:txBody>
      </p:sp>
      <p:sp>
        <p:nvSpPr>
          <p:cNvPr id="911" name="TextBox 910"/>
          <p:cNvSpPr txBox="1"/>
          <p:nvPr/>
        </p:nvSpPr>
        <p:spPr>
          <a:xfrm>
            <a:off x="3814048" y="3160000"/>
            <a:ext cx="5624856" cy="1100000"/>
          </a:xfrm>
          <a:prstGeom prst="rect">
            <a:avLst/>
          </a:prstGeom>
          <a:noFill/>
        </p:spPr>
        <p:txBody>
          <a:bodyPr wrap="square" lIns="72000" tIns="36000" rIns="72000" bIns="36000" anchor="t">
            <a:spAutoFit/>
          </a:bodyPr>
          <a:lstStyle/>
          <a:p>
            <a:pPr algn="l"/>
            <a:r>
              <a:rPr sz="1200" b="1">
                <a:solidFill>
                  <a:srgbClr val="1F3A5F"/>
                </a:solidFill>
                <a:latin typeface="メイリオ"/>
                <a:ea typeface="メイリオ"/>
                <a:cs typeface="メイリオ"/>
              </a:rPr>
              <a:t>吹き出し②　ボタンで分岐</a:t>
            </a:r>
          </a:p>
          <a:p>
            <a:pPr algn="l">
              <a:spcAft>
                <a:spcPts val="200"/>
              </a:spcAft>
            </a:pPr>
            <a:r>
              <a:rPr sz="750" b="0">
                <a:solidFill>
                  <a:srgbClr val="06C755"/>
                </a:solidFill>
                <a:latin typeface="メイリオ"/>
                <a:ea typeface="メイリオ"/>
                <a:cs typeface="メイリオ"/>
              </a:rPr>
              <a:t>● </a:t>
            </a:r>
            <a:r>
              <a:rPr sz="1050" b="0">
                <a:solidFill>
                  <a:srgbClr val="333333"/>
                </a:solidFill>
                <a:latin typeface="メイリオ"/>
                <a:ea typeface="メイリオ"/>
                <a:cs typeface="メイリオ"/>
              </a:rPr>
              <a:t>［宿を探す］［会員登録（1分）］［予約済みの方はこちら］</a:t>
            </a:r>
          </a:p>
          <a:p>
            <a:pPr algn="l">
              <a:spcAft>
                <a:spcPts val="200"/>
              </a:spcAft>
            </a:pPr>
            <a:r>
              <a:rPr sz="750" b="0">
                <a:solidFill>
                  <a:srgbClr val="06C755"/>
                </a:solidFill>
                <a:latin typeface="メイリオ"/>
                <a:ea typeface="メイリオ"/>
                <a:cs typeface="メイリオ"/>
              </a:rPr>
              <a:t>● </a:t>
            </a:r>
            <a:r>
              <a:rPr sz="1050" b="0">
                <a:solidFill>
                  <a:srgbClr val="333333"/>
                </a:solidFill>
                <a:latin typeface="メイリオ"/>
                <a:ea typeface="メイリオ"/>
                <a:cs typeface="メイリオ"/>
              </a:rPr>
              <a:t>電話番号の送付は「予約済み」を押した人にだけ案内</a:t>
            </a:r>
          </a:p>
        </p:txBody>
      </p:sp>
      <p:sp>
        <p:nvSpPr>
          <p:cNvPr id="912" name="Rounded Rectangle 911"/>
          <p:cNvSpPr/>
          <p:nvPr/>
        </p:nvSpPr>
        <p:spPr>
          <a:xfrm>
            <a:off x="3734048" y="4280000"/>
            <a:ext cx="5784856" cy="1080000"/>
          </a:xfrm>
          <a:prstGeom prst="roundRect">
            <a:avLst>
              <a:gd name="adj" fmla="val 6000"/>
            </a:avLst>
          </a:prstGeom>
          <a:solidFill>
            <a:srgbClr val="EEF1F5"/>
          </a:solidFill>
          <a:ln w="12700">
            <a:solidFill>
              <a:srgbClr val="7F8896"/>
            </a:solidFill>
          </a:ln>
          <a:effectLst/>
        </p:spPr>
        <p:txBody>
          <a:bodyPr rtlCol="0" anchor="ctr"/>
          <a:lstStyle/>
          <a:p>
            <a:pPr algn="ctr"/>
            <a:endParaRPr/>
          </a:p>
        </p:txBody>
      </p:sp>
      <p:sp>
        <p:nvSpPr>
          <p:cNvPr id="913" name="TextBox 912"/>
          <p:cNvSpPr txBox="1"/>
          <p:nvPr/>
        </p:nvSpPr>
        <p:spPr>
          <a:xfrm>
            <a:off x="3814048" y="4320000"/>
            <a:ext cx="5624856" cy="1100000"/>
          </a:xfrm>
          <a:prstGeom prst="rect">
            <a:avLst/>
          </a:prstGeom>
          <a:noFill/>
        </p:spPr>
        <p:txBody>
          <a:bodyPr wrap="square" lIns="72000" tIns="36000" rIns="72000" bIns="36000" anchor="t">
            <a:spAutoFit/>
          </a:bodyPr>
          <a:lstStyle/>
          <a:p>
            <a:pPr algn="l"/>
            <a:r>
              <a:rPr sz="1200" b="1">
                <a:solidFill>
                  <a:srgbClr val="1F3A5F"/>
                </a:solidFill>
                <a:latin typeface="メイリオ"/>
                <a:ea typeface="メイリオ"/>
                <a:cs typeface="メイリオ"/>
              </a:rPr>
              <a:t>吹き出し③　会員登録カード</a:t>
            </a:r>
          </a:p>
          <a:p>
            <a:pPr algn="l">
              <a:spcAft>
                <a:spcPts val="200"/>
              </a:spcAft>
            </a:pPr>
            <a:r>
              <a:rPr sz="750" b="0">
                <a:solidFill>
                  <a:srgbClr val="06C755"/>
                </a:solidFill>
                <a:latin typeface="メイリオ"/>
                <a:ea typeface="メイリオ"/>
                <a:cs typeface="メイリオ"/>
              </a:rPr>
              <a:t>● </a:t>
            </a:r>
            <a:r>
              <a:rPr sz="1050" b="0">
                <a:solidFill>
                  <a:srgbClr val="333333"/>
                </a:solidFill>
                <a:latin typeface="メイリオ"/>
                <a:ea typeface="メイリオ"/>
                <a:cs typeface="メイリオ"/>
              </a:rPr>
              <a:t>「会員登録はこちら」→「登録で使える特典を受け取る」など、中身が伝わる文言に</a:t>
            </a:r>
          </a:p>
          <a:p>
            <a:pPr algn="l">
              <a:spcAft>
                <a:spcPts val="200"/>
              </a:spcAft>
            </a:pPr>
            <a:r>
              <a:rPr sz="750" b="0">
                <a:solidFill>
                  <a:srgbClr val="06C755"/>
                </a:solidFill>
                <a:latin typeface="メイリオ"/>
                <a:ea typeface="メイリオ"/>
                <a:cs typeface="メイリオ"/>
              </a:rPr>
              <a:t>● </a:t>
            </a:r>
            <a:r>
              <a:rPr sz="1050" b="0">
                <a:solidFill>
                  <a:srgbClr val="333333"/>
                </a:solidFill>
                <a:latin typeface="メイリオ"/>
                <a:ea typeface="メイリオ"/>
                <a:cs typeface="メイリオ"/>
              </a:rPr>
              <a:t>ECショップのカードはステップ配信の後半へ移動</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LeadBand"/>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anchor="ctr"/>
          <a:lstStyle/>
          <a:p>
            <a:endParaRPr lang="ja-JP"/>
          </a:p>
        </p:txBody>
      </p:sp>
      <p:cxnSp>
        <p:nvCxnSpPr>
          <p:cNvPr id="901" name="LeadBandLine"/>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902" name="TextBox 901"/>
          <p:cNvSpPr txBox="1"/>
          <p:nvPr/>
        </p:nvSpPr>
        <p:spPr>
          <a:xfrm>
            <a:off x="379976" y="635062"/>
            <a:ext cx="9160881" cy="698492"/>
          </a:xfrm>
          <a:prstGeom prst="rect">
            <a:avLst/>
          </a:prstGeom>
          <a:noFill/>
        </p:spPr>
        <p:txBody>
          <a:bodyPr wrap="square" lIns="72000" tIns="36000" rIns="72000" bIns="36000" anchor="ctr">
            <a:spAutoFit/>
          </a:bodyPr>
          <a:lstStyle/>
          <a:p>
            <a:pPr algn="ctr"/>
            <a:r>
              <a:rPr sz="1200" b="0">
                <a:solidFill>
                  <a:srgbClr val="333333"/>
                </a:solidFill>
                <a:latin typeface="メイリオ"/>
                <a:ea typeface="メイリオ"/>
                <a:cs typeface="メイリオ"/>
              </a:rPr>
              <a:t>現状「7日間で0回」の接点を、30日間で6回に。初回予約まで段階的に運びます</a:t>
            </a:r>
          </a:p>
        </p:txBody>
      </p:sp>
      <p:sp>
        <p:nvSpPr>
          <p:cNvPr id="903" name="TextBox 902"/>
          <p:cNvSpPr txBox="1"/>
          <p:nvPr/>
        </p:nvSpPr>
        <p:spPr>
          <a:xfrm>
            <a:off x="548883" y="138118"/>
            <a:ext cx="7900000" cy="338554"/>
          </a:xfrm>
          <a:prstGeom prst="rect">
            <a:avLst/>
          </a:prstGeom>
          <a:noFill/>
        </p:spPr>
        <p:txBody>
          <a:bodyPr wrap="square" lIns="72000" tIns="0" rIns="72000" bIns="0" anchor="ctr">
            <a:spAutoFit/>
          </a:bodyPr>
          <a:lstStyle/>
          <a:p>
            <a:pPr algn="l"/>
            <a:r>
              <a:rPr sz="1600" b="1">
                <a:solidFill>
                  <a:srgbClr val="002060"/>
                </a:solidFill>
                <a:latin typeface="メイリオ"/>
                <a:ea typeface="メイリオ"/>
                <a:cs typeface="メイリオ"/>
              </a:rPr>
              <a:t>ステップ配信の設計（友だち追加から30日間）</a:t>
            </a:r>
          </a:p>
        </p:txBody>
      </p:sp>
      <p:sp>
        <p:nvSpPr>
          <p:cNvPr id="904" name="Pentagon 903"/>
          <p:cNvSpPr/>
          <p:nvPr/>
        </p:nvSpPr>
        <p:spPr>
          <a:xfrm>
            <a:off x="384048" y="1630000"/>
            <a:ext cx="1582476" cy="480000"/>
          </a:xfrm>
          <a:prstGeom prst="homePlate">
            <a:avLst>
              <a:gd name="adj" fmla="val 30000"/>
            </a:avLst>
          </a:prstGeom>
          <a:solidFill>
            <a:srgbClr val="D0D7E3"/>
          </a:solidFill>
          <a:ln>
            <a:noFill/>
          </a:ln>
          <a:effectLst/>
        </p:spPr>
        <p:txBody>
          <a:bodyPr wrap="square" lIns="72000" tIns="36000" rIns="72000" bIns="36000" rtlCol="0" anchor="ctr"/>
          <a:lstStyle/>
          <a:p>
            <a:pPr algn="ctr"/>
            <a:r>
              <a:rPr sz="1200" b="1">
                <a:solidFill>
                  <a:srgbClr val="1F3A5F"/>
                </a:solidFill>
                <a:latin typeface="メイリオ"/>
                <a:ea typeface="メイリオ"/>
                <a:cs typeface="メイリオ"/>
              </a:rPr>
              <a:t>0日目</a:t>
            </a:r>
          </a:p>
        </p:txBody>
      </p:sp>
      <p:sp>
        <p:nvSpPr>
          <p:cNvPr id="905" name="Rounded Rectangle 904"/>
          <p:cNvSpPr/>
          <p:nvPr/>
        </p:nvSpPr>
        <p:spPr>
          <a:xfrm>
            <a:off x="414048" y="2250000"/>
            <a:ext cx="1462476" cy="1700000"/>
          </a:xfrm>
          <a:prstGeom prst="roundRect">
            <a:avLst>
              <a:gd name="adj" fmla="val 6000"/>
            </a:avLst>
          </a:prstGeom>
          <a:solidFill>
            <a:srgbClr val="EEF1F5"/>
          </a:solidFill>
          <a:ln w="12700">
            <a:solidFill>
              <a:srgbClr val="7F8896"/>
            </a:solidFill>
          </a:ln>
          <a:effectLst/>
        </p:spPr>
        <p:txBody>
          <a:bodyPr rtlCol="0" anchor="ctr"/>
          <a:lstStyle/>
          <a:p>
            <a:pPr algn="ctr"/>
            <a:endParaRPr/>
          </a:p>
        </p:txBody>
      </p:sp>
      <p:sp>
        <p:nvSpPr>
          <p:cNvPr id="906" name="TextBox 905"/>
          <p:cNvSpPr txBox="1"/>
          <p:nvPr/>
        </p:nvSpPr>
        <p:spPr>
          <a:xfrm>
            <a:off x="424048" y="2290000"/>
            <a:ext cx="1442476" cy="1620000"/>
          </a:xfrm>
          <a:prstGeom prst="rect">
            <a:avLst/>
          </a:prstGeom>
          <a:noFill/>
        </p:spPr>
        <p:txBody>
          <a:bodyPr wrap="square" lIns="72000" tIns="36000" rIns="72000" bIns="36000" anchor="ctr">
            <a:spAutoFit/>
          </a:bodyPr>
          <a:lstStyle/>
          <a:p>
            <a:pPr algn="ctr"/>
            <a:r>
              <a:rPr sz="1050" b="0">
                <a:solidFill>
                  <a:srgbClr val="333333"/>
                </a:solidFill>
                <a:latin typeface="メイリオ"/>
                <a:ea typeface="メイリオ"/>
                <a:cs typeface="メイリオ"/>
              </a:rPr>
              <a:t>あいさつ</a:t>
            </a:r>
          </a:p>
          <a:p>
            <a:pPr algn="ctr"/>
            <a:r>
              <a:rPr sz="1050" b="0">
                <a:solidFill>
                  <a:srgbClr val="333333"/>
                </a:solidFill>
                <a:latin typeface="メイリオ"/>
                <a:ea typeface="メイリオ"/>
                <a:cs typeface="メイリオ"/>
              </a:rPr>
              <a:t>＋ボタン分岐</a:t>
            </a:r>
          </a:p>
        </p:txBody>
      </p:sp>
      <p:sp>
        <p:nvSpPr>
          <p:cNvPr id="907" name="Rounded Rectangle 906"/>
          <p:cNvSpPr/>
          <p:nvPr/>
        </p:nvSpPr>
        <p:spPr>
          <a:xfrm>
            <a:off x="414048" y="4050000"/>
            <a:ext cx="1462476" cy="780000"/>
          </a:xfrm>
          <a:prstGeom prst="roundRect">
            <a:avLst>
              <a:gd name="adj" fmla="val 10000"/>
            </a:avLst>
          </a:prstGeom>
          <a:solidFill>
            <a:srgbClr val="FFFFFF"/>
          </a:solidFill>
          <a:ln w="12700">
            <a:solidFill>
              <a:srgbClr val="B0B4CC"/>
            </a:solidFill>
          </a:ln>
          <a:effectLst/>
        </p:spPr>
        <p:txBody>
          <a:bodyPr rtlCol="0" anchor="ctr"/>
          <a:lstStyle/>
          <a:p>
            <a:pPr algn="ctr"/>
            <a:endParaRPr/>
          </a:p>
        </p:txBody>
      </p:sp>
      <p:sp>
        <p:nvSpPr>
          <p:cNvPr id="908" name="TextBox 907"/>
          <p:cNvSpPr txBox="1"/>
          <p:nvPr/>
        </p:nvSpPr>
        <p:spPr>
          <a:xfrm>
            <a:off x="424048" y="4070000"/>
            <a:ext cx="1442476" cy="740000"/>
          </a:xfrm>
          <a:prstGeom prst="rect">
            <a:avLst/>
          </a:prstGeom>
          <a:noFill/>
        </p:spPr>
        <p:txBody>
          <a:bodyPr wrap="square" lIns="72000" tIns="36000" rIns="72000" bIns="36000" anchor="ctr">
            <a:spAutoFit/>
          </a:bodyPr>
          <a:lstStyle/>
          <a:p>
            <a:pPr algn="ctr"/>
            <a:r>
              <a:rPr sz="900" b="0">
                <a:solidFill>
                  <a:srgbClr val="555555"/>
                </a:solidFill>
                <a:latin typeface="メイリオ"/>
                <a:ea typeface="メイリオ"/>
                <a:cs typeface="メイリオ"/>
              </a:rPr>
              <a:t>狙い</a:t>
            </a:r>
          </a:p>
          <a:p>
            <a:pPr algn="ctr"/>
            <a:r>
              <a:rPr sz="1000" b="1">
                <a:solidFill>
                  <a:srgbClr val="1F3A5F"/>
                </a:solidFill>
                <a:latin typeface="メイリオ"/>
                <a:ea typeface="メイリオ"/>
                <a:cs typeface="メイリオ"/>
              </a:rPr>
              <a:t>自分ごと化と</a:t>
            </a:r>
          </a:p>
          <a:p>
            <a:pPr algn="ctr"/>
            <a:r>
              <a:rPr sz="1000" b="1">
                <a:solidFill>
                  <a:srgbClr val="1F3A5F"/>
                </a:solidFill>
                <a:latin typeface="メイリオ"/>
                <a:ea typeface="メイリオ"/>
                <a:cs typeface="メイリオ"/>
              </a:rPr>
              <a:t>会員登録</a:t>
            </a:r>
          </a:p>
        </p:txBody>
      </p:sp>
      <p:sp>
        <p:nvSpPr>
          <p:cNvPr id="909" name="Chevron 908"/>
          <p:cNvSpPr/>
          <p:nvPr/>
        </p:nvSpPr>
        <p:spPr>
          <a:xfrm>
            <a:off x="1906524" y="1630000"/>
            <a:ext cx="1582476" cy="480000"/>
          </a:xfrm>
          <a:prstGeom prst="chevron">
            <a:avLst>
              <a:gd name="adj" fmla="val 30000"/>
            </a:avLst>
          </a:prstGeom>
          <a:solidFill>
            <a:srgbClr val="B9C3D3"/>
          </a:solidFill>
          <a:ln>
            <a:noFill/>
          </a:ln>
          <a:effectLst/>
        </p:spPr>
        <p:txBody>
          <a:bodyPr wrap="square" lIns="72000" tIns="36000" rIns="72000" bIns="36000" rtlCol="0" anchor="ctr"/>
          <a:lstStyle/>
          <a:p>
            <a:pPr algn="ctr"/>
            <a:r>
              <a:rPr sz="1200" b="1">
                <a:solidFill>
                  <a:srgbClr val="1F3A5F"/>
                </a:solidFill>
                <a:latin typeface="メイリオ"/>
                <a:ea typeface="メイリオ"/>
                <a:cs typeface="メイリオ"/>
              </a:rPr>
              <a:t>1日目</a:t>
            </a:r>
          </a:p>
        </p:txBody>
      </p:sp>
      <p:sp>
        <p:nvSpPr>
          <p:cNvPr id="910" name="Rounded Rectangle 909"/>
          <p:cNvSpPr/>
          <p:nvPr/>
        </p:nvSpPr>
        <p:spPr>
          <a:xfrm>
            <a:off x="1936524" y="2250000"/>
            <a:ext cx="1462476" cy="1700000"/>
          </a:xfrm>
          <a:prstGeom prst="roundRect">
            <a:avLst>
              <a:gd name="adj" fmla="val 6000"/>
            </a:avLst>
          </a:prstGeom>
          <a:solidFill>
            <a:srgbClr val="EEF1F5"/>
          </a:solidFill>
          <a:ln w="12700">
            <a:solidFill>
              <a:srgbClr val="7F8896"/>
            </a:solidFill>
          </a:ln>
          <a:effectLst/>
        </p:spPr>
        <p:txBody>
          <a:bodyPr rtlCol="0" anchor="ctr"/>
          <a:lstStyle/>
          <a:p>
            <a:pPr algn="ctr"/>
            <a:endParaRPr/>
          </a:p>
        </p:txBody>
      </p:sp>
      <p:sp>
        <p:nvSpPr>
          <p:cNvPr id="911" name="TextBox 910"/>
          <p:cNvSpPr txBox="1"/>
          <p:nvPr/>
        </p:nvSpPr>
        <p:spPr>
          <a:xfrm>
            <a:off x="1946524" y="2290000"/>
            <a:ext cx="1442476" cy="1620000"/>
          </a:xfrm>
          <a:prstGeom prst="rect">
            <a:avLst/>
          </a:prstGeom>
          <a:noFill/>
        </p:spPr>
        <p:txBody>
          <a:bodyPr wrap="square" lIns="72000" tIns="36000" rIns="72000" bIns="36000" anchor="ctr">
            <a:spAutoFit/>
          </a:bodyPr>
          <a:lstStyle/>
          <a:p>
            <a:pPr algn="ctr"/>
            <a:r>
              <a:rPr sz="1050" b="0">
                <a:solidFill>
                  <a:srgbClr val="333333"/>
                </a:solidFill>
                <a:latin typeface="メイリオ"/>
                <a:ea typeface="メイリオ"/>
                <a:cs typeface="メイリオ"/>
              </a:rPr>
              <a:t>会員特典の使い方</a:t>
            </a:r>
          </a:p>
          <a:p>
            <a:pPr algn="ctr"/>
            <a:r>
              <a:rPr sz="1050" b="0">
                <a:solidFill>
                  <a:srgbClr val="333333"/>
                </a:solidFill>
                <a:latin typeface="メイリオ"/>
                <a:ea typeface="メイリオ"/>
                <a:cs typeface="メイリオ"/>
              </a:rPr>
              <a:t>（クーポン条件の早見表）</a:t>
            </a:r>
          </a:p>
        </p:txBody>
      </p:sp>
      <p:sp>
        <p:nvSpPr>
          <p:cNvPr id="912" name="Rounded Rectangle 911"/>
          <p:cNvSpPr/>
          <p:nvPr/>
        </p:nvSpPr>
        <p:spPr>
          <a:xfrm>
            <a:off x="1936524" y="4050000"/>
            <a:ext cx="1462476" cy="780000"/>
          </a:xfrm>
          <a:prstGeom prst="roundRect">
            <a:avLst>
              <a:gd name="adj" fmla="val 10000"/>
            </a:avLst>
          </a:prstGeom>
          <a:solidFill>
            <a:srgbClr val="FFFFFF"/>
          </a:solidFill>
          <a:ln w="12700">
            <a:solidFill>
              <a:srgbClr val="B0B4CC"/>
            </a:solidFill>
          </a:ln>
          <a:effectLst/>
        </p:spPr>
        <p:txBody>
          <a:bodyPr rtlCol="0" anchor="ctr"/>
          <a:lstStyle/>
          <a:p>
            <a:pPr algn="ctr"/>
            <a:endParaRPr/>
          </a:p>
        </p:txBody>
      </p:sp>
      <p:sp>
        <p:nvSpPr>
          <p:cNvPr id="913" name="TextBox 912"/>
          <p:cNvSpPr txBox="1"/>
          <p:nvPr/>
        </p:nvSpPr>
        <p:spPr>
          <a:xfrm>
            <a:off x="1946524" y="4070000"/>
            <a:ext cx="1442476" cy="740000"/>
          </a:xfrm>
          <a:prstGeom prst="rect">
            <a:avLst/>
          </a:prstGeom>
          <a:noFill/>
        </p:spPr>
        <p:txBody>
          <a:bodyPr wrap="square" lIns="72000" tIns="36000" rIns="72000" bIns="36000" anchor="ctr">
            <a:spAutoFit/>
          </a:bodyPr>
          <a:lstStyle/>
          <a:p>
            <a:pPr algn="ctr"/>
            <a:r>
              <a:rPr sz="900" b="0">
                <a:solidFill>
                  <a:srgbClr val="555555"/>
                </a:solidFill>
                <a:latin typeface="メイリオ"/>
                <a:ea typeface="メイリオ"/>
                <a:cs typeface="メイリオ"/>
              </a:rPr>
              <a:t>狙い</a:t>
            </a:r>
          </a:p>
          <a:p>
            <a:pPr algn="ctr"/>
            <a:r>
              <a:rPr sz="1000" b="1">
                <a:solidFill>
                  <a:srgbClr val="1F3A5F"/>
                </a:solidFill>
                <a:latin typeface="メイリオ"/>
                <a:ea typeface="メイリオ"/>
                <a:cs typeface="メイリオ"/>
              </a:rPr>
              <a:t>期待値のずれを防ぐ</a:t>
            </a:r>
          </a:p>
        </p:txBody>
      </p:sp>
      <p:sp>
        <p:nvSpPr>
          <p:cNvPr id="914" name="Chevron 913"/>
          <p:cNvSpPr/>
          <p:nvPr/>
        </p:nvSpPr>
        <p:spPr>
          <a:xfrm>
            <a:off x="3429000" y="1630000"/>
            <a:ext cx="1582476" cy="480000"/>
          </a:xfrm>
          <a:prstGeom prst="chevron">
            <a:avLst>
              <a:gd name="adj" fmla="val 30000"/>
            </a:avLst>
          </a:prstGeom>
          <a:solidFill>
            <a:srgbClr val="A7B3C7"/>
          </a:solidFill>
          <a:ln>
            <a:noFill/>
          </a:ln>
          <a:effectLst/>
        </p:spPr>
        <p:txBody>
          <a:bodyPr wrap="square" lIns="72000" tIns="36000" rIns="72000" bIns="36000" rtlCol="0" anchor="ctr"/>
          <a:lstStyle/>
          <a:p>
            <a:pPr algn="ctr"/>
            <a:r>
              <a:rPr sz="1200" b="1">
                <a:solidFill>
                  <a:srgbClr val="1F3A5F"/>
                </a:solidFill>
                <a:latin typeface="メイリオ"/>
                <a:ea typeface="メイリオ"/>
                <a:cs typeface="メイリオ"/>
              </a:rPr>
              <a:t>3日目</a:t>
            </a:r>
          </a:p>
        </p:txBody>
      </p:sp>
      <p:sp>
        <p:nvSpPr>
          <p:cNvPr id="915" name="Rounded Rectangle 914"/>
          <p:cNvSpPr/>
          <p:nvPr/>
        </p:nvSpPr>
        <p:spPr>
          <a:xfrm>
            <a:off x="3459000" y="2250000"/>
            <a:ext cx="1462476" cy="1700000"/>
          </a:xfrm>
          <a:prstGeom prst="roundRect">
            <a:avLst>
              <a:gd name="adj" fmla="val 6000"/>
            </a:avLst>
          </a:prstGeom>
          <a:solidFill>
            <a:srgbClr val="EEF1F5"/>
          </a:solidFill>
          <a:ln w="12700">
            <a:solidFill>
              <a:srgbClr val="7F8896"/>
            </a:solidFill>
          </a:ln>
          <a:effectLst/>
        </p:spPr>
        <p:txBody>
          <a:bodyPr rtlCol="0" anchor="ctr"/>
          <a:lstStyle/>
          <a:p>
            <a:pPr algn="ctr"/>
            <a:endParaRPr/>
          </a:p>
        </p:txBody>
      </p:sp>
      <p:sp>
        <p:nvSpPr>
          <p:cNvPr id="916" name="TextBox 915"/>
          <p:cNvSpPr txBox="1"/>
          <p:nvPr/>
        </p:nvSpPr>
        <p:spPr>
          <a:xfrm>
            <a:off x="3469000" y="2290000"/>
            <a:ext cx="1442476" cy="1620000"/>
          </a:xfrm>
          <a:prstGeom prst="rect">
            <a:avLst/>
          </a:prstGeom>
          <a:noFill/>
        </p:spPr>
        <p:txBody>
          <a:bodyPr wrap="square" lIns="72000" tIns="36000" rIns="72000" bIns="36000" anchor="ctr">
            <a:spAutoFit/>
          </a:bodyPr>
          <a:lstStyle/>
          <a:p>
            <a:pPr algn="ctr"/>
            <a:r>
              <a:rPr sz="1050" b="0">
                <a:solidFill>
                  <a:srgbClr val="333333"/>
                </a:solidFill>
                <a:latin typeface="メイリオ"/>
                <a:ea typeface="メイリオ"/>
                <a:cs typeface="メイリオ"/>
              </a:rPr>
              <a:t>目的別のおすすめ宿</a:t>
            </a:r>
          </a:p>
          <a:p>
            <a:pPr algn="ctr"/>
            <a:r>
              <a:rPr sz="1050" b="0">
                <a:solidFill>
                  <a:srgbClr val="333333"/>
                </a:solidFill>
                <a:latin typeface="メイリオ"/>
                <a:ea typeface="メイリオ"/>
                <a:cs typeface="メイリオ"/>
              </a:rPr>
              <a:t>（温泉・グルメ・記念日・家族）</a:t>
            </a:r>
          </a:p>
        </p:txBody>
      </p:sp>
      <p:sp>
        <p:nvSpPr>
          <p:cNvPr id="917" name="Rounded Rectangle 916"/>
          <p:cNvSpPr/>
          <p:nvPr/>
        </p:nvSpPr>
        <p:spPr>
          <a:xfrm>
            <a:off x="3459000" y="4050000"/>
            <a:ext cx="1462476" cy="780000"/>
          </a:xfrm>
          <a:prstGeom prst="roundRect">
            <a:avLst>
              <a:gd name="adj" fmla="val 10000"/>
            </a:avLst>
          </a:prstGeom>
          <a:solidFill>
            <a:srgbClr val="FFFFFF"/>
          </a:solidFill>
          <a:ln w="12700">
            <a:solidFill>
              <a:srgbClr val="B0B4CC"/>
            </a:solidFill>
          </a:ln>
          <a:effectLst/>
        </p:spPr>
        <p:txBody>
          <a:bodyPr rtlCol="0" anchor="ctr"/>
          <a:lstStyle/>
          <a:p>
            <a:pPr algn="ctr"/>
            <a:endParaRPr/>
          </a:p>
        </p:txBody>
      </p:sp>
      <p:sp>
        <p:nvSpPr>
          <p:cNvPr id="918" name="TextBox 917"/>
          <p:cNvSpPr txBox="1"/>
          <p:nvPr/>
        </p:nvSpPr>
        <p:spPr>
          <a:xfrm>
            <a:off x="3469000" y="4070000"/>
            <a:ext cx="1442476" cy="740000"/>
          </a:xfrm>
          <a:prstGeom prst="rect">
            <a:avLst/>
          </a:prstGeom>
          <a:noFill/>
        </p:spPr>
        <p:txBody>
          <a:bodyPr wrap="square" lIns="72000" tIns="36000" rIns="72000" bIns="36000" anchor="ctr">
            <a:spAutoFit/>
          </a:bodyPr>
          <a:lstStyle/>
          <a:p>
            <a:pPr algn="ctr"/>
            <a:r>
              <a:rPr sz="900" b="0">
                <a:solidFill>
                  <a:srgbClr val="555555"/>
                </a:solidFill>
                <a:latin typeface="メイリオ"/>
                <a:ea typeface="メイリオ"/>
                <a:cs typeface="メイリオ"/>
              </a:rPr>
              <a:t>狙い</a:t>
            </a:r>
          </a:p>
          <a:p>
            <a:pPr algn="ctr"/>
            <a:r>
              <a:rPr sz="1000" b="1">
                <a:solidFill>
                  <a:srgbClr val="1F3A5F"/>
                </a:solidFill>
                <a:latin typeface="メイリオ"/>
                <a:ea typeface="メイリオ"/>
                <a:cs typeface="メイリオ"/>
              </a:rPr>
              <a:t>行きたい宿を</a:t>
            </a:r>
          </a:p>
          <a:p>
            <a:pPr algn="ctr"/>
            <a:r>
              <a:rPr sz="1000" b="1">
                <a:solidFill>
                  <a:srgbClr val="1F3A5F"/>
                </a:solidFill>
                <a:latin typeface="メイリオ"/>
                <a:ea typeface="メイリオ"/>
                <a:cs typeface="メイリオ"/>
              </a:rPr>
              <a:t>見つけてもらう</a:t>
            </a:r>
          </a:p>
        </p:txBody>
      </p:sp>
      <p:sp>
        <p:nvSpPr>
          <p:cNvPr id="919" name="Chevron 918"/>
          <p:cNvSpPr/>
          <p:nvPr/>
        </p:nvSpPr>
        <p:spPr>
          <a:xfrm>
            <a:off x="4951476" y="1630000"/>
            <a:ext cx="1582476" cy="480000"/>
          </a:xfrm>
          <a:prstGeom prst="chevron">
            <a:avLst>
              <a:gd name="adj" fmla="val 30000"/>
            </a:avLst>
          </a:prstGeom>
          <a:solidFill>
            <a:srgbClr val="8E99AE"/>
          </a:solidFill>
          <a:ln>
            <a:noFill/>
          </a:ln>
          <a:effectLst/>
        </p:spPr>
        <p:txBody>
          <a:bodyPr wrap="square" lIns="72000" tIns="36000" rIns="72000" bIns="36000" rtlCol="0" anchor="ctr"/>
          <a:lstStyle/>
          <a:p>
            <a:pPr algn="ctr"/>
            <a:r>
              <a:rPr sz="1200" b="1">
                <a:solidFill>
                  <a:srgbClr val="FFFFFF"/>
                </a:solidFill>
                <a:latin typeface="メイリオ"/>
                <a:ea typeface="メイリオ"/>
                <a:cs typeface="メイリオ"/>
              </a:rPr>
              <a:t>7日目</a:t>
            </a:r>
          </a:p>
        </p:txBody>
      </p:sp>
      <p:sp>
        <p:nvSpPr>
          <p:cNvPr id="920" name="Rounded Rectangle 919"/>
          <p:cNvSpPr/>
          <p:nvPr/>
        </p:nvSpPr>
        <p:spPr>
          <a:xfrm>
            <a:off x="4981476" y="2250000"/>
            <a:ext cx="1462476" cy="1700000"/>
          </a:xfrm>
          <a:prstGeom prst="roundRect">
            <a:avLst>
              <a:gd name="adj" fmla="val 6000"/>
            </a:avLst>
          </a:prstGeom>
          <a:solidFill>
            <a:srgbClr val="EEF1F5"/>
          </a:solidFill>
          <a:ln w="12700">
            <a:solidFill>
              <a:srgbClr val="7F8896"/>
            </a:solidFill>
          </a:ln>
          <a:effectLst/>
        </p:spPr>
        <p:txBody>
          <a:bodyPr rtlCol="0" anchor="ctr"/>
          <a:lstStyle/>
          <a:p>
            <a:pPr algn="ctr"/>
            <a:endParaRPr/>
          </a:p>
        </p:txBody>
      </p:sp>
      <p:sp>
        <p:nvSpPr>
          <p:cNvPr id="921" name="TextBox 920"/>
          <p:cNvSpPr txBox="1"/>
          <p:nvPr/>
        </p:nvSpPr>
        <p:spPr>
          <a:xfrm>
            <a:off x="4991476" y="2290000"/>
            <a:ext cx="1442476" cy="1620000"/>
          </a:xfrm>
          <a:prstGeom prst="rect">
            <a:avLst/>
          </a:prstGeom>
          <a:noFill/>
        </p:spPr>
        <p:txBody>
          <a:bodyPr wrap="square" lIns="72000" tIns="36000" rIns="72000" bIns="36000" anchor="ctr">
            <a:spAutoFit/>
          </a:bodyPr>
          <a:lstStyle/>
          <a:p>
            <a:pPr algn="ctr"/>
            <a:r>
              <a:rPr sz="1050" b="0">
                <a:solidFill>
                  <a:srgbClr val="333333"/>
                </a:solidFill>
                <a:latin typeface="メイリオ"/>
                <a:ea typeface="メイリオ"/>
                <a:cs typeface="メイリオ"/>
              </a:rPr>
              <a:t>まるごとおもてなし®</a:t>
            </a:r>
          </a:p>
          <a:p>
            <a:pPr algn="ctr"/>
            <a:r>
              <a:rPr sz="1050" b="0">
                <a:solidFill>
                  <a:srgbClr val="333333"/>
                </a:solidFill>
                <a:latin typeface="メイリオ"/>
                <a:ea typeface="メイリオ"/>
                <a:cs typeface="メイリオ"/>
              </a:rPr>
              <a:t>特集＋宿泊体験談</a:t>
            </a:r>
          </a:p>
        </p:txBody>
      </p:sp>
      <p:sp>
        <p:nvSpPr>
          <p:cNvPr id="922" name="Rounded Rectangle 921"/>
          <p:cNvSpPr/>
          <p:nvPr/>
        </p:nvSpPr>
        <p:spPr>
          <a:xfrm>
            <a:off x="4981476" y="4050000"/>
            <a:ext cx="1462476" cy="780000"/>
          </a:xfrm>
          <a:prstGeom prst="roundRect">
            <a:avLst>
              <a:gd name="adj" fmla="val 10000"/>
            </a:avLst>
          </a:prstGeom>
          <a:solidFill>
            <a:srgbClr val="FFFFFF"/>
          </a:solidFill>
          <a:ln w="12700">
            <a:solidFill>
              <a:srgbClr val="B0B4CC"/>
            </a:solidFill>
          </a:ln>
          <a:effectLst/>
        </p:spPr>
        <p:txBody>
          <a:bodyPr rtlCol="0" anchor="ctr"/>
          <a:lstStyle/>
          <a:p>
            <a:pPr algn="ctr"/>
            <a:endParaRPr/>
          </a:p>
        </p:txBody>
      </p:sp>
      <p:sp>
        <p:nvSpPr>
          <p:cNvPr id="923" name="TextBox 922"/>
          <p:cNvSpPr txBox="1"/>
          <p:nvPr/>
        </p:nvSpPr>
        <p:spPr>
          <a:xfrm>
            <a:off x="4991476" y="4070000"/>
            <a:ext cx="1442476" cy="740000"/>
          </a:xfrm>
          <a:prstGeom prst="rect">
            <a:avLst/>
          </a:prstGeom>
          <a:noFill/>
        </p:spPr>
        <p:txBody>
          <a:bodyPr wrap="square" lIns="72000" tIns="36000" rIns="72000" bIns="36000" anchor="ctr">
            <a:spAutoFit/>
          </a:bodyPr>
          <a:lstStyle/>
          <a:p>
            <a:pPr algn="ctr"/>
            <a:r>
              <a:rPr sz="900" b="0">
                <a:solidFill>
                  <a:srgbClr val="555555"/>
                </a:solidFill>
                <a:latin typeface="メイリオ"/>
                <a:ea typeface="メイリオ"/>
                <a:cs typeface="メイリオ"/>
              </a:rPr>
              <a:t>狙い</a:t>
            </a:r>
          </a:p>
          <a:p>
            <a:pPr algn="ctr"/>
            <a:r>
              <a:rPr sz="1000" b="1">
                <a:solidFill>
                  <a:srgbClr val="1F3A5F"/>
                </a:solidFill>
                <a:latin typeface="メイリオ"/>
                <a:ea typeface="メイリオ"/>
                <a:cs typeface="メイリオ"/>
              </a:rPr>
              <a:t>独自の強みで</a:t>
            </a:r>
          </a:p>
          <a:p>
            <a:pPr algn="ctr"/>
            <a:r>
              <a:rPr sz="1000" b="1">
                <a:solidFill>
                  <a:srgbClr val="1F3A5F"/>
                </a:solidFill>
                <a:latin typeface="メイリオ"/>
                <a:ea typeface="メイリオ"/>
                <a:cs typeface="メイリオ"/>
              </a:rPr>
              <a:t>差別化</a:t>
            </a:r>
          </a:p>
        </p:txBody>
      </p:sp>
      <p:sp>
        <p:nvSpPr>
          <p:cNvPr id="924" name="Chevron 923"/>
          <p:cNvSpPr/>
          <p:nvPr/>
        </p:nvSpPr>
        <p:spPr>
          <a:xfrm>
            <a:off x="6473952" y="1630000"/>
            <a:ext cx="1582476" cy="480000"/>
          </a:xfrm>
          <a:prstGeom prst="chevron">
            <a:avLst>
              <a:gd name="adj" fmla="val 30000"/>
            </a:avLst>
          </a:prstGeom>
          <a:solidFill>
            <a:srgbClr val="7F8896"/>
          </a:solidFill>
          <a:ln>
            <a:noFill/>
          </a:ln>
          <a:effectLst/>
        </p:spPr>
        <p:txBody>
          <a:bodyPr wrap="square" lIns="72000" tIns="36000" rIns="72000" bIns="36000" rtlCol="0" anchor="ctr"/>
          <a:lstStyle/>
          <a:p>
            <a:pPr algn="ctr"/>
            <a:r>
              <a:rPr sz="1200" b="1">
                <a:solidFill>
                  <a:srgbClr val="FFFFFF"/>
                </a:solidFill>
                <a:latin typeface="メイリオ"/>
                <a:ea typeface="メイリオ"/>
                <a:cs typeface="メイリオ"/>
              </a:rPr>
              <a:t>14日目</a:t>
            </a:r>
          </a:p>
        </p:txBody>
      </p:sp>
      <p:sp>
        <p:nvSpPr>
          <p:cNvPr id="925" name="Rounded Rectangle 924"/>
          <p:cNvSpPr/>
          <p:nvPr/>
        </p:nvSpPr>
        <p:spPr>
          <a:xfrm>
            <a:off x="6503952" y="2250000"/>
            <a:ext cx="1462476" cy="1700000"/>
          </a:xfrm>
          <a:prstGeom prst="roundRect">
            <a:avLst>
              <a:gd name="adj" fmla="val 6000"/>
            </a:avLst>
          </a:prstGeom>
          <a:solidFill>
            <a:srgbClr val="EEF1F5"/>
          </a:solidFill>
          <a:ln w="12700">
            <a:solidFill>
              <a:srgbClr val="7F8896"/>
            </a:solidFill>
          </a:ln>
          <a:effectLst/>
        </p:spPr>
        <p:txBody>
          <a:bodyPr rtlCol="0" anchor="ctr"/>
          <a:lstStyle/>
          <a:p>
            <a:pPr algn="ctr"/>
            <a:endParaRPr/>
          </a:p>
        </p:txBody>
      </p:sp>
      <p:sp>
        <p:nvSpPr>
          <p:cNvPr id="926" name="TextBox 925"/>
          <p:cNvSpPr txBox="1"/>
          <p:nvPr/>
        </p:nvSpPr>
        <p:spPr>
          <a:xfrm>
            <a:off x="6513952" y="2290000"/>
            <a:ext cx="1442476" cy="1620000"/>
          </a:xfrm>
          <a:prstGeom prst="rect">
            <a:avLst/>
          </a:prstGeom>
          <a:noFill/>
        </p:spPr>
        <p:txBody>
          <a:bodyPr wrap="square" lIns="72000" tIns="36000" rIns="72000" bIns="36000" anchor="ctr">
            <a:spAutoFit/>
          </a:bodyPr>
          <a:lstStyle/>
          <a:p>
            <a:pPr algn="ctr"/>
            <a:r>
              <a:rPr sz="1050" b="0">
                <a:solidFill>
                  <a:srgbClr val="333333"/>
                </a:solidFill>
                <a:latin typeface="メイリオ"/>
                <a:ea typeface="メイリオ"/>
                <a:cs typeface="メイリオ"/>
              </a:rPr>
              <a:t>早割・シークレットプラン</a:t>
            </a:r>
          </a:p>
          <a:p>
            <a:pPr algn="ctr"/>
            <a:r>
              <a:rPr sz="1050" b="0">
                <a:solidFill>
                  <a:srgbClr val="333333"/>
                </a:solidFill>
                <a:latin typeface="メイリオ"/>
                <a:ea typeface="メイリオ"/>
                <a:cs typeface="メイリオ"/>
              </a:rPr>
              <a:t>＋記念日の登録案内</a:t>
            </a:r>
          </a:p>
        </p:txBody>
      </p:sp>
      <p:sp>
        <p:nvSpPr>
          <p:cNvPr id="927" name="Rounded Rectangle 926"/>
          <p:cNvSpPr/>
          <p:nvPr/>
        </p:nvSpPr>
        <p:spPr>
          <a:xfrm>
            <a:off x="6503952" y="4050000"/>
            <a:ext cx="1462476" cy="780000"/>
          </a:xfrm>
          <a:prstGeom prst="roundRect">
            <a:avLst>
              <a:gd name="adj" fmla="val 10000"/>
            </a:avLst>
          </a:prstGeom>
          <a:solidFill>
            <a:srgbClr val="FFFFFF"/>
          </a:solidFill>
          <a:ln w="12700">
            <a:solidFill>
              <a:srgbClr val="B0B4CC"/>
            </a:solidFill>
          </a:ln>
          <a:effectLst/>
        </p:spPr>
        <p:txBody>
          <a:bodyPr rtlCol="0" anchor="ctr"/>
          <a:lstStyle/>
          <a:p>
            <a:pPr algn="ctr"/>
            <a:endParaRPr/>
          </a:p>
        </p:txBody>
      </p:sp>
      <p:sp>
        <p:nvSpPr>
          <p:cNvPr id="928" name="TextBox 927"/>
          <p:cNvSpPr txBox="1"/>
          <p:nvPr/>
        </p:nvSpPr>
        <p:spPr>
          <a:xfrm>
            <a:off x="6513952" y="4070000"/>
            <a:ext cx="1442476" cy="740000"/>
          </a:xfrm>
          <a:prstGeom prst="rect">
            <a:avLst/>
          </a:prstGeom>
          <a:noFill/>
        </p:spPr>
        <p:txBody>
          <a:bodyPr wrap="square" lIns="72000" tIns="36000" rIns="72000" bIns="36000" anchor="ctr">
            <a:spAutoFit/>
          </a:bodyPr>
          <a:lstStyle/>
          <a:p>
            <a:pPr algn="ctr"/>
            <a:r>
              <a:rPr sz="900" b="0">
                <a:solidFill>
                  <a:srgbClr val="555555"/>
                </a:solidFill>
                <a:latin typeface="メイリオ"/>
                <a:ea typeface="メイリオ"/>
                <a:cs typeface="メイリオ"/>
              </a:rPr>
              <a:t>狙い</a:t>
            </a:r>
          </a:p>
          <a:p>
            <a:pPr algn="ctr"/>
            <a:r>
              <a:rPr sz="1000" b="1">
                <a:solidFill>
                  <a:srgbClr val="1F3A5F"/>
                </a:solidFill>
                <a:latin typeface="メイリオ"/>
                <a:ea typeface="メイリオ"/>
                <a:cs typeface="メイリオ"/>
              </a:rPr>
              <a:t>初回予約の後押し</a:t>
            </a:r>
          </a:p>
        </p:txBody>
      </p:sp>
      <p:sp>
        <p:nvSpPr>
          <p:cNvPr id="929" name="Chevron 928"/>
          <p:cNvSpPr/>
          <p:nvPr/>
        </p:nvSpPr>
        <p:spPr>
          <a:xfrm>
            <a:off x="7996428" y="1630000"/>
            <a:ext cx="1582476" cy="480000"/>
          </a:xfrm>
          <a:prstGeom prst="chevron">
            <a:avLst>
              <a:gd name="adj" fmla="val 30000"/>
            </a:avLst>
          </a:prstGeom>
          <a:solidFill>
            <a:srgbClr val="06C755"/>
          </a:solidFill>
          <a:ln>
            <a:noFill/>
          </a:ln>
          <a:effectLst/>
        </p:spPr>
        <p:txBody>
          <a:bodyPr wrap="square" lIns="72000" tIns="36000" rIns="72000" bIns="36000" rtlCol="0" anchor="ctr"/>
          <a:lstStyle/>
          <a:p>
            <a:pPr algn="ctr"/>
            <a:r>
              <a:rPr sz="1200" b="1">
                <a:solidFill>
                  <a:srgbClr val="FFFFFF"/>
                </a:solidFill>
                <a:latin typeface="メイリオ"/>
                <a:ea typeface="メイリオ"/>
                <a:cs typeface="メイリオ"/>
              </a:rPr>
              <a:t>30日目</a:t>
            </a:r>
          </a:p>
        </p:txBody>
      </p:sp>
      <p:sp>
        <p:nvSpPr>
          <p:cNvPr id="930" name="Rounded Rectangle 929"/>
          <p:cNvSpPr/>
          <p:nvPr/>
        </p:nvSpPr>
        <p:spPr>
          <a:xfrm>
            <a:off x="8026428" y="2250000"/>
            <a:ext cx="1462476" cy="1700000"/>
          </a:xfrm>
          <a:prstGeom prst="roundRect">
            <a:avLst>
              <a:gd name="adj" fmla="val 6000"/>
            </a:avLst>
          </a:prstGeom>
          <a:solidFill>
            <a:srgbClr val="EEF1F5"/>
          </a:solidFill>
          <a:ln w="12700">
            <a:solidFill>
              <a:srgbClr val="7F8896"/>
            </a:solidFill>
          </a:ln>
          <a:effectLst/>
        </p:spPr>
        <p:txBody>
          <a:bodyPr rtlCol="0" anchor="ctr"/>
          <a:lstStyle/>
          <a:p>
            <a:pPr algn="ctr"/>
            <a:endParaRPr/>
          </a:p>
        </p:txBody>
      </p:sp>
      <p:sp>
        <p:nvSpPr>
          <p:cNvPr id="931" name="TextBox 930"/>
          <p:cNvSpPr txBox="1"/>
          <p:nvPr/>
        </p:nvSpPr>
        <p:spPr>
          <a:xfrm>
            <a:off x="8036428" y="2290000"/>
            <a:ext cx="1442476" cy="1620000"/>
          </a:xfrm>
          <a:prstGeom prst="rect">
            <a:avLst/>
          </a:prstGeom>
          <a:noFill/>
        </p:spPr>
        <p:txBody>
          <a:bodyPr wrap="square" lIns="72000" tIns="36000" rIns="72000" bIns="36000" anchor="ctr">
            <a:spAutoFit/>
          </a:bodyPr>
          <a:lstStyle/>
          <a:p>
            <a:pPr algn="ctr"/>
            <a:r>
              <a:rPr sz="1050" b="0">
                <a:solidFill>
                  <a:srgbClr val="333333"/>
                </a:solidFill>
                <a:latin typeface="メイリオ"/>
                <a:ea typeface="メイリオ"/>
                <a:cs typeface="メイリオ"/>
              </a:rPr>
              <a:t>クーポン期限の</a:t>
            </a:r>
          </a:p>
          <a:p>
            <a:pPr algn="ctr"/>
            <a:r>
              <a:rPr sz="1050" b="0">
                <a:solidFill>
                  <a:srgbClr val="333333"/>
                </a:solidFill>
                <a:latin typeface="メイリオ"/>
                <a:ea typeface="メイリオ"/>
                <a:cs typeface="メイリオ"/>
              </a:rPr>
              <a:t>リマインド＋EC案内</a:t>
            </a:r>
          </a:p>
        </p:txBody>
      </p:sp>
      <p:sp>
        <p:nvSpPr>
          <p:cNvPr id="932" name="Rounded Rectangle 931"/>
          <p:cNvSpPr/>
          <p:nvPr/>
        </p:nvSpPr>
        <p:spPr>
          <a:xfrm>
            <a:off x="8026428" y="4050000"/>
            <a:ext cx="1462476" cy="780000"/>
          </a:xfrm>
          <a:prstGeom prst="roundRect">
            <a:avLst>
              <a:gd name="adj" fmla="val 10000"/>
            </a:avLst>
          </a:prstGeom>
          <a:solidFill>
            <a:srgbClr val="FFFFFF"/>
          </a:solidFill>
          <a:ln w="12700">
            <a:solidFill>
              <a:srgbClr val="B0B4CC"/>
            </a:solidFill>
          </a:ln>
          <a:effectLst/>
        </p:spPr>
        <p:txBody>
          <a:bodyPr rtlCol="0" anchor="ctr"/>
          <a:lstStyle/>
          <a:p>
            <a:pPr algn="ctr"/>
            <a:endParaRPr/>
          </a:p>
        </p:txBody>
      </p:sp>
      <p:sp>
        <p:nvSpPr>
          <p:cNvPr id="933" name="TextBox 932"/>
          <p:cNvSpPr txBox="1"/>
          <p:nvPr/>
        </p:nvSpPr>
        <p:spPr>
          <a:xfrm>
            <a:off x="8036428" y="4070000"/>
            <a:ext cx="1442476" cy="740000"/>
          </a:xfrm>
          <a:prstGeom prst="rect">
            <a:avLst/>
          </a:prstGeom>
          <a:noFill/>
        </p:spPr>
        <p:txBody>
          <a:bodyPr wrap="square" lIns="72000" tIns="36000" rIns="72000" bIns="36000" anchor="ctr">
            <a:spAutoFit/>
          </a:bodyPr>
          <a:lstStyle/>
          <a:p>
            <a:pPr algn="ctr"/>
            <a:r>
              <a:rPr sz="900" b="0">
                <a:solidFill>
                  <a:srgbClr val="555555"/>
                </a:solidFill>
                <a:latin typeface="メイリオ"/>
                <a:ea typeface="メイリオ"/>
                <a:cs typeface="メイリオ"/>
              </a:rPr>
              <a:t>狙い</a:t>
            </a:r>
          </a:p>
          <a:p>
            <a:pPr algn="ctr"/>
            <a:r>
              <a:rPr sz="1000" b="1">
                <a:solidFill>
                  <a:srgbClr val="06C755"/>
                </a:solidFill>
                <a:latin typeface="メイリオ"/>
                <a:ea typeface="メイリオ"/>
                <a:cs typeface="メイリオ"/>
              </a:rPr>
              <a:t>迷っている人の</a:t>
            </a:r>
          </a:p>
          <a:p>
            <a:pPr algn="ctr"/>
            <a:r>
              <a:rPr sz="1000" b="1">
                <a:solidFill>
                  <a:srgbClr val="06C755"/>
                </a:solidFill>
                <a:latin typeface="メイリオ"/>
                <a:ea typeface="メイリオ"/>
                <a:cs typeface="メイリオ"/>
              </a:rPr>
              <a:t>刈り取り</a:t>
            </a:r>
          </a:p>
        </p:txBody>
      </p:sp>
      <p:sp>
        <p:nvSpPr>
          <p:cNvPr id="934" name="Rounded Rectangle 933"/>
          <p:cNvSpPr/>
          <p:nvPr/>
        </p:nvSpPr>
        <p:spPr>
          <a:xfrm>
            <a:off x="384048" y="5030000"/>
            <a:ext cx="9134856" cy="650000"/>
          </a:xfrm>
          <a:prstGeom prst="roundRect">
            <a:avLst>
              <a:gd name="adj" fmla="val 12000"/>
            </a:avLst>
          </a:prstGeom>
          <a:solidFill>
            <a:srgbClr val="24345A"/>
          </a:solidFill>
          <a:ln>
            <a:noFill/>
          </a:ln>
          <a:effectLst/>
        </p:spPr>
        <p:txBody>
          <a:bodyPr wrap="square" lIns="72000" tIns="36000" rIns="72000" bIns="36000" rtlCol="0" anchor="ctr"/>
          <a:lstStyle/>
          <a:p>
            <a:pPr algn="ctr"/>
            <a:r>
              <a:rPr sz="1200" b="0">
                <a:solidFill>
                  <a:srgbClr val="FFFFFF"/>
                </a:solidFill>
                <a:latin typeface="メイリオ"/>
                <a:ea typeface="メイリオ"/>
                <a:cs typeface="メイリオ"/>
              </a:rPr>
              <a:t>30日を過ぎた友だちは「月1企画投稿」に合流し、季節ごとに予約のきっかけを届け続けます</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LeadBand"/>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anchor="ctr"/>
          <a:lstStyle/>
          <a:p>
            <a:endParaRPr lang="ja-JP"/>
          </a:p>
        </p:txBody>
      </p:sp>
      <p:cxnSp>
        <p:nvCxnSpPr>
          <p:cNvPr id="901" name="LeadBandLine"/>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902" name="TextBox 901"/>
          <p:cNvSpPr txBox="1"/>
          <p:nvPr/>
        </p:nvSpPr>
        <p:spPr>
          <a:xfrm>
            <a:off x="379976" y="635062"/>
            <a:ext cx="9160881" cy="698492"/>
          </a:xfrm>
          <a:prstGeom prst="rect">
            <a:avLst/>
          </a:prstGeom>
          <a:noFill/>
        </p:spPr>
        <p:txBody>
          <a:bodyPr wrap="square" lIns="72000" tIns="36000" rIns="72000" bIns="36000" anchor="ctr">
            <a:spAutoFit/>
          </a:bodyPr>
          <a:lstStyle/>
          <a:p>
            <a:pPr algn="ctr"/>
            <a:r>
              <a:rPr sz="1200" b="0">
                <a:solidFill>
                  <a:srgbClr val="333333"/>
                </a:solidFill>
                <a:latin typeface="メイリオ"/>
                <a:ea typeface="メイリオ"/>
                <a:cs typeface="メイリオ"/>
              </a:rPr>
              <a:t>宿泊時期の約1.5ヶ月前に、季節の「行く理由」を届けます</a:t>
            </a:r>
          </a:p>
        </p:txBody>
      </p:sp>
      <p:sp>
        <p:nvSpPr>
          <p:cNvPr id="903" name="TextBox 902"/>
          <p:cNvSpPr txBox="1"/>
          <p:nvPr/>
        </p:nvSpPr>
        <p:spPr>
          <a:xfrm>
            <a:off x="548883" y="138118"/>
            <a:ext cx="7900000" cy="338554"/>
          </a:xfrm>
          <a:prstGeom prst="rect">
            <a:avLst/>
          </a:prstGeom>
          <a:noFill/>
        </p:spPr>
        <p:txBody>
          <a:bodyPr wrap="square" lIns="72000" tIns="0" rIns="72000" bIns="0" anchor="ctr">
            <a:spAutoFit/>
          </a:bodyPr>
          <a:lstStyle/>
          <a:p>
            <a:pPr algn="l"/>
            <a:r>
              <a:rPr sz="1600" b="1">
                <a:solidFill>
                  <a:srgbClr val="002060"/>
                </a:solidFill>
                <a:latin typeface="メイリオ"/>
                <a:ea typeface="メイリオ"/>
                <a:cs typeface="メイリオ"/>
              </a:rPr>
              <a:t>月1企画投稿（ご契約6ヶ月分）</a:t>
            </a:r>
          </a:p>
        </p:txBody>
      </p:sp>
      <p:sp>
        <p:nvSpPr>
          <p:cNvPr id="904" name="Rounded Rectangle 903"/>
          <p:cNvSpPr/>
          <p:nvPr/>
        </p:nvSpPr>
        <p:spPr>
          <a:xfrm>
            <a:off x="384048" y="1580000"/>
            <a:ext cx="1447476" cy="420000"/>
          </a:xfrm>
          <a:prstGeom prst="roundRect">
            <a:avLst>
              <a:gd name="adj" fmla="val 30000"/>
            </a:avLst>
          </a:prstGeom>
          <a:solidFill>
            <a:srgbClr val="1F3A5F"/>
          </a:solidFill>
          <a:ln>
            <a:noFill/>
          </a:ln>
          <a:effectLst/>
        </p:spPr>
        <p:txBody>
          <a:bodyPr wrap="square" lIns="72000" tIns="36000" rIns="72000" bIns="36000" rtlCol="0" anchor="ctr"/>
          <a:lstStyle/>
          <a:p>
            <a:pPr algn="ctr"/>
            <a:r>
              <a:rPr sz="1300" b="1">
                <a:solidFill>
                  <a:srgbClr val="FFFFFF"/>
                </a:solidFill>
                <a:latin typeface="メイリオ"/>
                <a:ea typeface="メイリオ"/>
                <a:cs typeface="メイリオ"/>
              </a:rPr>
              <a:t>12月配信</a:t>
            </a:r>
          </a:p>
        </p:txBody>
      </p:sp>
      <p:sp>
        <p:nvSpPr>
          <p:cNvPr id="905" name="Rounded Rectangle 904"/>
          <p:cNvSpPr/>
          <p:nvPr/>
        </p:nvSpPr>
        <p:spPr>
          <a:xfrm>
            <a:off x="384048" y="2100000"/>
            <a:ext cx="1447476" cy="2150000"/>
          </a:xfrm>
          <a:prstGeom prst="roundRect">
            <a:avLst>
              <a:gd name="adj" fmla="val 6000"/>
            </a:avLst>
          </a:prstGeom>
          <a:solidFill>
            <a:srgbClr val="EEF1F5"/>
          </a:solidFill>
          <a:ln w="12700">
            <a:solidFill>
              <a:srgbClr val="7F8896"/>
            </a:solidFill>
          </a:ln>
          <a:effectLst/>
        </p:spPr>
        <p:txBody>
          <a:bodyPr rtlCol="0" anchor="ctr"/>
          <a:lstStyle/>
          <a:p>
            <a:pPr algn="ctr"/>
            <a:endParaRPr/>
          </a:p>
        </p:txBody>
      </p:sp>
      <p:sp>
        <p:nvSpPr>
          <p:cNvPr id="906" name="TextBox 905"/>
          <p:cNvSpPr txBox="1"/>
          <p:nvPr/>
        </p:nvSpPr>
        <p:spPr>
          <a:xfrm>
            <a:off x="434048" y="2150000"/>
            <a:ext cx="1347476" cy="2400000"/>
          </a:xfrm>
          <a:prstGeom prst="rect">
            <a:avLst/>
          </a:prstGeom>
          <a:noFill/>
        </p:spPr>
        <p:txBody>
          <a:bodyPr wrap="square" lIns="72000" tIns="36000" rIns="72000" bIns="36000" anchor="t">
            <a:spAutoFit/>
          </a:bodyPr>
          <a:lstStyle/>
          <a:p>
            <a:pPr algn="ctr"/>
            <a:r>
              <a:rPr sz="900" b="0">
                <a:solidFill>
                  <a:srgbClr val="555555"/>
                </a:solidFill>
                <a:latin typeface="メイリオ"/>
                <a:ea typeface="メイリオ"/>
                <a:cs typeface="メイリオ"/>
              </a:rPr>
              <a:t>宿泊時期</a:t>
            </a:r>
          </a:p>
          <a:p>
            <a:pPr algn="ctr">
              <a:spcAft>
                <a:spcPts val="800"/>
              </a:spcAft>
            </a:pPr>
            <a:r>
              <a:rPr sz="1200" b="1">
                <a:solidFill>
                  <a:srgbClr val="1F3A5F"/>
                </a:solidFill>
                <a:latin typeface="メイリオ"/>
                <a:ea typeface="メイリオ"/>
                <a:cs typeface="メイリオ"/>
              </a:rPr>
              <a:t>1〜2月</a:t>
            </a:r>
          </a:p>
          <a:p>
            <a:pPr algn="ctr"/>
            <a:r>
              <a:rPr sz="900" b="0">
                <a:solidFill>
                  <a:srgbClr val="555555"/>
                </a:solidFill>
                <a:latin typeface="メイリオ"/>
                <a:ea typeface="メイリオ"/>
                <a:cs typeface="メイリオ"/>
              </a:rPr>
              <a:t>テーマ</a:t>
            </a:r>
          </a:p>
          <a:p>
            <a:pPr algn="ctr">
              <a:spcAft>
                <a:spcPts val="800"/>
              </a:spcAft>
            </a:pPr>
            <a:r>
              <a:rPr sz="1150" b="1">
                <a:solidFill>
                  <a:srgbClr val="1F3A5F"/>
                </a:solidFill>
                <a:latin typeface="メイリオ"/>
                <a:ea typeface="メイリオ"/>
                <a:cs typeface="メイリオ"/>
              </a:rPr>
              <a:t>新春・冬の温泉</a:t>
            </a:r>
          </a:p>
          <a:p>
            <a:pPr algn="ctr"/>
            <a:r>
              <a:rPr sz="900" b="0">
                <a:solidFill>
                  <a:srgbClr val="555555"/>
                </a:solidFill>
                <a:latin typeface="メイリオ"/>
                <a:ea typeface="メイリオ"/>
                <a:cs typeface="メイリオ"/>
              </a:rPr>
              <a:t>内容</a:t>
            </a:r>
          </a:p>
          <a:p>
            <a:pPr algn="ctr"/>
            <a:r>
              <a:rPr sz="1050" b="0">
                <a:solidFill>
                  <a:srgbClr val="333333"/>
                </a:solidFill>
                <a:latin typeface="メイリオ"/>
                <a:ea typeface="メイリオ"/>
                <a:cs typeface="メイリオ"/>
              </a:rPr>
              <a:t>閑散期の平日シークレットプラン</a:t>
            </a:r>
          </a:p>
        </p:txBody>
      </p:sp>
      <p:sp>
        <p:nvSpPr>
          <p:cNvPr id="907" name="Rounded Rectangle 906"/>
          <p:cNvSpPr/>
          <p:nvPr/>
        </p:nvSpPr>
        <p:spPr>
          <a:xfrm>
            <a:off x="1921524" y="1580000"/>
            <a:ext cx="1447476" cy="420000"/>
          </a:xfrm>
          <a:prstGeom prst="roundRect">
            <a:avLst>
              <a:gd name="adj" fmla="val 30000"/>
            </a:avLst>
          </a:prstGeom>
          <a:solidFill>
            <a:srgbClr val="1F3A5F"/>
          </a:solidFill>
          <a:ln>
            <a:noFill/>
          </a:ln>
          <a:effectLst/>
        </p:spPr>
        <p:txBody>
          <a:bodyPr wrap="square" lIns="72000" tIns="36000" rIns="72000" bIns="36000" rtlCol="0" anchor="ctr"/>
          <a:lstStyle/>
          <a:p>
            <a:pPr algn="ctr"/>
            <a:r>
              <a:rPr sz="1300" b="1">
                <a:solidFill>
                  <a:srgbClr val="FFFFFF"/>
                </a:solidFill>
                <a:latin typeface="メイリオ"/>
                <a:ea typeface="メイリオ"/>
                <a:cs typeface="メイリオ"/>
              </a:rPr>
              <a:t>1月配信</a:t>
            </a:r>
          </a:p>
        </p:txBody>
      </p:sp>
      <p:sp>
        <p:nvSpPr>
          <p:cNvPr id="908" name="Rounded Rectangle 907"/>
          <p:cNvSpPr/>
          <p:nvPr/>
        </p:nvSpPr>
        <p:spPr>
          <a:xfrm>
            <a:off x="1921524" y="2100000"/>
            <a:ext cx="1447476" cy="2150000"/>
          </a:xfrm>
          <a:prstGeom prst="roundRect">
            <a:avLst>
              <a:gd name="adj" fmla="val 6000"/>
            </a:avLst>
          </a:prstGeom>
          <a:solidFill>
            <a:srgbClr val="EEF1F5"/>
          </a:solidFill>
          <a:ln w="12700">
            <a:solidFill>
              <a:srgbClr val="7F8896"/>
            </a:solidFill>
          </a:ln>
          <a:effectLst/>
        </p:spPr>
        <p:txBody>
          <a:bodyPr rtlCol="0" anchor="ctr"/>
          <a:lstStyle/>
          <a:p>
            <a:pPr algn="ctr"/>
            <a:endParaRPr/>
          </a:p>
        </p:txBody>
      </p:sp>
      <p:sp>
        <p:nvSpPr>
          <p:cNvPr id="909" name="TextBox 908"/>
          <p:cNvSpPr txBox="1"/>
          <p:nvPr/>
        </p:nvSpPr>
        <p:spPr>
          <a:xfrm>
            <a:off x="1971524" y="2150000"/>
            <a:ext cx="1347476" cy="2400000"/>
          </a:xfrm>
          <a:prstGeom prst="rect">
            <a:avLst/>
          </a:prstGeom>
          <a:noFill/>
        </p:spPr>
        <p:txBody>
          <a:bodyPr wrap="square" lIns="72000" tIns="36000" rIns="72000" bIns="36000" anchor="t">
            <a:spAutoFit/>
          </a:bodyPr>
          <a:lstStyle/>
          <a:p>
            <a:pPr algn="ctr"/>
            <a:r>
              <a:rPr sz="900" b="0">
                <a:solidFill>
                  <a:srgbClr val="555555"/>
                </a:solidFill>
                <a:latin typeface="メイリオ"/>
                <a:ea typeface="メイリオ"/>
                <a:cs typeface="メイリオ"/>
              </a:rPr>
              <a:t>宿泊時期</a:t>
            </a:r>
          </a:p>
          <a:p>
            <a:pPr algn="ctr">
              <a:spcAft>
                <a:spcPts val="800"/>
              </a:spcAft>
            </a:pPr>
            <a:r>
              <a:rPr sz="1200" b="1">
                <a:solidFill>
                  <a:srgbClr val="1F3A5F"/>
                </a:solidFill>
                <a:latin typeface="メイリオ"/>
                <a:ea typeface="メイリオ"/>
                <a:cs typeface="メイリオ"/>
              </a:rPr>
              <a:t>2〜3月</a:t>
            </a:r>
          </a:p>
          <a:p>
            <a:pPr algn="ctr"/>
            <a:r>
              <a:rPr sz="900" b="0">
                <a:solidFill>
                  <a:srgbClr val="555555"/>
                </a:solidFill>
                <a:latin typeface="メイリオ"/>
                <a:ea typeface="メイリオ"/>
                <a:cs typeface="メイリオ"/>
              </a:rPr>
              <a:t>テーマ</a:t>
            </a:r>
          </a:p>
          <a:p>
            <a:pPr algn="ctr">
              <a:spcAft>
                <a:spcPts val="800"/>
              </a:spcAft>
            </a:pPr>
            <a:r>
              <a:rPr sz="1150" b="1">
                <a:solidFill>
                  <a:srgbClr val="1F3A5F"/>
                </a:solidFill>
                <a:latin typeface="メイリオ"/>
                <a:ea typeface="メイリオ"/>
                <a:cs typeface="メイリオ"/>
              </a:rPr>
              <a:t>天然温泉特集・記念日旅</a:t>
            </a:r>
          </a:p>
          <a:p>
            <a:pPr algn="ctr"/>
            <a:r>
              <a:rPr sz="900" b="0">
                <a:solidFill>
                  <a:srgbClr val="555555"/>
                </a:solidFill>
                <a:latin typeface="メイリオ"/>
                <a:ea typeface="メイリオ"/>
                <a:cs typeface="メイリオ"/>
              </a:rPr>
              <a:t>内容</a:t>
            </a:r>
          </a:p>
          <a:p>
            <a:pPr algn="ctr"/>
            <a:r>
              <a:rPr sz="1050" b="0">
                <a:solidFill>
                  <a:srgbClr val="333333"/>
                </a:solidFill>
                <a:latin typeface="メイリオ"/>
                <a:ea typeface="メイリオ"/>
                <a:cs typeface="メイリオ"/>
              </a:rPr>
              <a:t>記念日タグ向けにデザートプレート特典</a:t>
            </a:r>
          </a:p>
        </p:txBody>
      </p:sp>
      <p:sp>
        <p:nvSpPr>
          <p:cNvPr id="910" name="Rounded Rectangle 909"/>
          <p:cNvSpPr/>
          <p:nvPr/>
        </p:nvSpPr>
        <p:spPr>
          <a:xfrm>
            <a:off x="3459000" y="1580000"/>
            <a:ext cx="1447476" cy="420000"/>
          </a:xfrm>
          <a:prstGeom prst="roundRect">
            <a:avLst>
              <a:gd name="adj" fmla="val 30000"/>
            </a:avLst>
          </a:prstGeom>
          <a:solidFill>
            <a:srgbClr val="1F3A5F"/>
          </a:solidFill>
          <a:ln>
            <a:noFill/>
          </a:ln>
          <a:effectLst/>
        </p:spPr>
        <p:txBody>
          <a:bodyPr wrap="square" lIns="72000" tIns="36000" rIns="72000" bIns="36000" rtlCol="0" anchor="ctr"/>
          <a:lstStyle/>
          <a:p>
            <a:pPr algn="ctr"/>
            <a:r>
              <a:rPr sz="1300" b="1">
                <a:solidFill>
                  <a:srgbClr val="FFFFFF"/>
                </a:solidFill>
                <a:latin typeface="メイリオ"/>
                <a:ea typeface="メイリオ"/>
                <a:cs typeface="メイリオ"/>
              </a:rPr>
              <a:t>2月配信</a:t>
            </a:r>
          </a:p>
        </p:txBody>
      </p:sp>
      <p:sp>
        <p:nvSpPr>
          <p:cNvPr id="911" name="Rounded Rectangle 910"/>
          <p:cNvSpPr/>
          <p:nvPr/>
        </p:nvSpPr>
        <p:spPr>
          <a:xfrm>
            <a:off x="3459000" y="2100000"/>
            <a:ext cx="1447476" cy="2150000"/>
          </a:xfrm>
          <a:prstGeom prst="roundRect">
            <a:avLst>
              <a:gd name="adj" fmla="val 6000"/>
            </a:avLst>
          </a:prstGeom>
          <a:solidFill>
            <a:srgbClr val="EEF1F5"/>
          </a:solidFill>
          <a:ln w="12700">
            <a:solidFill>
              <a:srgbClr val="7F8896"/>
            </a:solidFill>
          </a:ln>
          <a:effectLst/>
        </p:spPr>
        <p:txBody>
          <a:bodyPr rtlCol="0" anchor="ctr"/>
          <a:lstStyle/>
          <a:p>
            <a:pPr algn="ctr"/>
            <a:endParaRPr/>
          </a:p>
        </p:txBody>
      </p:sp>
      <p:sp>
        <p:nvSpPr>
          <p:cNvPr id="912" name="TextBox 911"/>
          <p:cNvSpPr txBox="1"/>
          <p:nvPr/>
        </p:nvSpPr>
        <p:spPr>
          <a:xfrm>
            <a:off x="3509000" y="2150000"/>
            <a:ext cx="1347476" cy="2400000"/>
          </a:xfrm>
          <a:prstGeom prst="rect">
            <a:avLst/>
          </a:prstGeom>
          <a:noFill/>
        </p:spPr>
        <p:txBody>
          <a:bodyPr wrap="square" lIns="72000" tIns="36000" rIns="72000" bIns="36000" anchor="t">
            <a:spAutoFit/>
          </a:bodyPr>
          <a:lstStyle/>
          <a:p>
            <a:pPr algn="ctr"/>
            <a:r>
              <a:rPr sz="900" b="0">
                <a:solidFill>
                  <a:srgbClr val="555555"/>
                </a:solidFill>
                <a:latin typeface="メイリオ"/>
                <a:ea typeface="メイリオ"/>
                <a:cs typeface="メイリオ"/>
              </a:rPr>
              <a:t>宿泊時期</a:t>
            </a:r>
          </a:p>
          <a:p>
            <a:pPr algn="ctr">
              <a:spcAft>
                <a:spcPts val="800"/>
              </a:spcAft>
            </a:pPr>
            <a:r>
              <a:rPr sz="1200" b="1">
                <a:solidFill>
                  <a:srgbClr val="1F3A5F"/>
                </a:solidFill>
                <a:latin typeface="メイリオ"/>
                <a:ea typeface="メイリオ"/>
                <a:cs typeface="メイリオ"/>
              </a:rPr>
              <a:t>3〜4月</a:t>
            </a:r>
          </a:p>
          <a:p>
            <a:pPr algn="ctr"/>
            <a:r>
              <a:rPr sz="900" b="0">
                <a:solidFill>
                  <a:srgbClr val="555555"/>
                </a:solidFill>
                <a:latin typeface="メイリオ"/>
                <a:ea typeface="メイリオ"/>
                <a:cs typeface="メイリオ"/>
              </a:rPr>
              <a:t>テーマ</a:t>
            </a:r>
          </a:p>
          <a:p>
            <a:pPr algn="ctr">
              <a:spcAft>
                <a:spcPts val="800"/>
              </a:spcAft>
            </a:pPr>
            <a:r>
              <a:rPr sz="1150" b="1">
                <a:solidFill>
                  <a:srgbClr val="1F3A5F"/>
                </a:solidFill>
                <a:latin typeface="メイリオ"/>
                <a:ea typeface="メイリオ"/>
                <a:cs typeface="メイリオ"/>
              </a:rPr>
              <a:t>春休みの家族旅</a:t>
            </a:r>
          </a:p>
          <a:p>
            <a:pPr algn="ctr"/>
            <a:r>
              <a:rPr sz="900" b="0">
                <a:solidFill>
                  <a:srgbClr val="555555"/>
                </a:solidFill>
                <a:latin typeface="メイリオ"/>
                <a:ea typeface="メイリオ"/>
                <a:cs typeface="メイリオ"/>
              </a:rPr>
              <a:t>内容</a:t>
            </a:r>
          </a:p>
          <a:p>
            <a:pPr algn="ctr"/>
            <a:r>
              <a:rPr sz="1050" b="0">
                <a:solidFill>
                  <a:srgbClr val="333333"/>
                </a:solidFill>
                <a:latin typeface="メイリオ"/>
                <a:ea typeface="メイリオ"/>
                <a:cs typeface="メイリオ"/>
              </a:rPr>
              <a:t>家族タグ向け＋GW早割の予告</a:t>
            </a:r>
          </a:p>
        </p:txBody>
      </p:sp>
      <p:sp>
        <p:nvSpPr>
          <p:cNvPr id="913" name="Rounded Rectangle 912"/>
          <p:cNvSpPr/>
          <p:nvPr/>
        </p:nvSpPr>
        <p:spPr>
          <a:xfrm>
            <a:off x="4996476" y="1580000"/>
            <a:ext cx="1447476" cy="420000"/>
          </a:xfrm>
          <a:prstGeom prst="roundRect">
            <a:avLst>
              <a:gd name="adj" fmla="val 30000"/>
            </a:avLst>
          </a:prstGeom>
          <a:solidFill>
            <a:srgbClr val="06C755"/>
          </a:solidFill>
          <a:ln>
            <a:noFill/>
          </a:ln>
          <a:effectLst/>
        </p:spPr>
        <p:txBody>
          <a:bodyPr wrap="square" lIns="72000" tIns="36000" rIns="72000" bIns="36000" rtlCol="0" anchor="ctr"/>
          <a:lstStyle/>
          <a:p>
            <a:pPr algn="ctr"/>
            <a:r>
              <a:rPr sz="1300" b="1">
                <a:solidFill>
                  <a:srgbClr val="FFFFFF"/>
                </a:solidFill>
                <a:latin typeface="メイリオ"/>
                <a:ea typeface="メイリオ"/>
                <a:cs typeface="メイリオ"/>
              </a:rPr>
              <a:t>3月配信</a:t>
            </a:r>
          </a:p>
        </p:txBody>
      </p:sp>
      <p:sp>
        <p:nvSpPr>
          <p:cNvPr id="914" name="Rounded Rectangle 913"/>
          <p:cNvSpPr/>
          <p:nvPr/>
        </p:nvSpPr>
        <p:spPr>
          <a:xfrm>
            <a:off x="4996476" y="2100000"/>
            <a:ext cx="1447476" cy="2150000"/>
          </a:xfrm>
          <a:prstGeom prst="roundRect">
            <a:avLst>
              <a:gd name="adj" fmla="val 6000"/>
            </a:avLst>
          </a:prstGeom>
          <a:solidFill>
            <a:srgbClr val="EEF1F5"/>
          </a:solidFill>
          <a:ln w="12700">
            <a:solidFill>
              <a:srgbClr val="7F8896"/>
            </a:solidFill>
          </a:ln>
          <a:effectLst/>
        </p:spPr>
        <p:txBody>
          <a:bodyPr rtlCol="0" anchor="ctr"/>
          <a:lstStyle/>
          <a:p>
            <a:pPr algn="ctr"/>
            <a:endParaRPr/>
          </a:p>
        </p:txBody>
      </p:sp>
      <p:sp>
        <p:nvSpPr>
          <p:cNvPr id="915" name="TextBox 914"/>
          <p:cNvSpPr txBox="1"/>
          <p:nvPr/>
        </p:nvSpPr>
        <p:spPr>
          <a:xfrm>
            <a:off x="5046476" y="2150000"/>
            <a:ext cx="1347476" cy="2400000"/>
          </a:xfrm>
          <a:prstGeom prst="rect">
            <a:avLst/>
          </a:prstGeom>
          <a:noFill/>
        </p:spPr>
        <p:txBody>
          <a:bodyPr wrap="square" lIns="72000" tIns="36000" rIns="72000" bIns="36000" anchor="t">
            <a:spAutoFit/>
          </a:bodyPr>
          <a:lstStyle/>
          <a:p>
            <a:pPr algn="ctr"/>
            <a:r>
              <a:rPr sz="900" b="0">
                <a:solidFill>
                  <a:srgbClr val="555555"/>
                </a:solidFill>
                <a:latin typeface="メイリオ"/>
                <a:ea typeface="メイリオ"/>
                <a:cs typeface="メイリオ"/>
              </a:rPr>
              <a:t>宿泊時期</a:t>
            </a:r>
          </a:p>
          <a:p>
            <a:pPr algn="ctr">
              <a:spcAft>
                <a:spcPts val="800"/>
              </a:spcAft>
            </a:pPr>
            <a:r>
              <a:rPr sz="1200" b="1">
                <a:solidFill>
                  <a:srgbClr val="1F3A5F"/>
                </a:solidFill>
                <a:latin typeface="メイリオ"/>
                <a:ea typeface="メイリオ"/>
                <a:cs typeface="メイリオ"/>
              </a:rPr>
              <a:t>4〜5月</a:t>
            </a:r>
          </a:p>
          <a:p>
            <a:pPr algn="ctr"/>
            <a:r>
              <a:rPr sz="900" b="0">
                <a:solidFill>
                  <a:srgbClr val="555555"/>
                </a:solidFill>
                <a:latin typeface="メイリオ"/>
                <a:ea typeface="メイリオ"/>
                <a:cs typeface="メイリオ"/>
              </a:rPr>
              <a:t>テーマ</a:t>
            </a:r>
          </a:p>
          <a:p>
            <a:pPr algn="ctr">
              <a:spcAft>
                <a:spcPts val="800"/>
              </a:spcAft>
            </a:pPr>
            <a:r>
              <a:rPr sz="1150" b="1">
                <a:solidFill>
                  <a:srgbClr val="06C755"/>
                </a:solidFill>
                <a:latin typeface="メイリオ"/>
                <a:ea typeface="メイリオ"/>
                <a:cs typeface="メイリオ"/>
              </a:rPr>
              <a:t>GW直前・桜</a:t>
            </a:r>
          </a:p>
          <a:p>
            <a:pPr algn="ctr"/>
            <a:r>
              <a:rPr sz="900" b="0">
                <a:solidFill>
                  <a:srgbClr val="555555"/>
                </a:solidFill>
                <a:latin typeface="メイリオ"/>
                <a:ea typeface="メイリオ"/>
                <a:cs typeface="メイリオ"/>
              </a:rPr>
              <a:t>内容</a:t>
            </a:r>
          </a:p>
          <a:p>
            <a:pPr algn="ctr"/>
            <a:r>
              <a:rPr sz="1050" b="0">
                <a:solidFill>
                  <a:srgbClr val="333333"/>
                </a:solidFill>
                <a:latin typeface="メイリオ"/>
                <a:ea typeface="メイリオ"/>
                <a:cs typeface="メイリオ"/>
              </a:rPr>
              <a:t>GW予約のピーク。空室案内</a:t>
            </a:r>
          </a:p>
        </p:txBody>
      </p:sp>
      <p:sp>
        <p:nvSpPr>
          <p:cNvPr id="916" name="Rounded Rectangle 915"/>
          <p:cNvSpPr/>
          <p:nvPr/>
        </p:nvSpPr>
        <p:spPr>
          <a:xfrm>
            <a:off x="6533952" y="1580000"/>
            <a:ext cx="1447476" cy="420000"/>
          </a:xfrm>
          <a:prstGeom prst="roundRect">
            <a:avLst>
              <a:gd name="adj" fmla="val 30000"/>
            </a:avLst>
          </a:prstGeom>
          <a:solidFill>
            <a:srgbClr val="06C755"/>
          </a:solidFill>
          <a:ln>
            <a:noFill/>
          </a:ln>
          <a:effectLst/>
        </p:spPr>
        <p:txBody>
          <a:bodyPr wrap="square" lIns="72000" tIns="36000" rIns="72000" bIns="36000" rtlCol="0" anchor="ctr"/>
          <a:lstStyle/>
          <a:p>
            <a:pPr algn="ctr"/>
            <a:r>
              <a:rPr sz="1300" b="1">
                <a:solidFill>
                  <a:srgbClr val="FFFFFF"/>
                </a:solidFill>
                <a:latin typeface="メイリオ"/>
                <a:ea typeface="メイリオ"/>
                <a:cs typeface="メイリオ"/>
              </a:rPr>
              <a:t>4月配信</a:t>
            </a:r>
          </a:p>
        </p:txBody>
      </p:sp>
      <p:sp>
        <p:nvSpPr>
          <p:cNvPr id="917" name="Rounded Rectangle 916"/>
          <p:cNvSpPr/>
          <p:nvPr/>
        </p:nvSpPr>
        <p:spPr>
          <a:xfrm>
            <a:off x="6533952" y="2100000"/>
            <a:ext cx="1447476" cy="2150000"/>
          </a:xfrm>
          <a:prstGeom prst="roundRect">
            <a:avLst>
              <a:gd name="adj" fmla="val 6000"/>
            </a:avLst>
          </a:prstGeom>
          <a:solidFill>
            <a:srgbClr val="EEF1F5"/>
          </a:solidFill>
          <a:ln w="12700">
            <a:solidFill>
              <a:srgbClr val="7F8896"/>
            </a:solidFill>
          </a:ln>
          <a:effectLst/>
        </p:spPr>
        <p:txBody>
          <a:bodyPr rtlCol="0" anchor="ctr"/>
          <a:lstStyle/>
          <a:p>
            <a:pPr algn="ctr"/>
            <a:endParaRPr/>
          </a:p>
        </p:txBody>
      </p:sp>
      <p:sp>
        <p:nvSpPr>
          <p:cNvPr id="918" name="TextBox 917"/>
          <p:cNvSpPr txBox="1"/>
          <p:nvPr/>
        </p:nvSpPr>
        <p:spPr>
          <a:xfrm>
            <a:off x="6583952" y="2150000"/>
            <a:ext cx="1347476" cy="2400000"/>
          </a:xfrm>
          <a:prstGeom prst="rect">
            <a:avLst/>
          </a:prstGeom>
          <a:noFill/>
        </p:spPr>
        <p:txBody>
          <a:bodyPr wrap="square" lIns="72000" tIns="36000" rIns="72000" bIns="36000" anchor="t">
            <a:spAutoFit/>
          </a:bodyPr>
          <a:lstStyle/>
          <a:p>
            <a:pPr algn="ctr"/>
            <a:r>
              <a:rPr sz="900" b="0">
                <a:solidFill>
                  <a:srgbClr val="555555"/>
                </a:solidFill>
                <a:latin typeface="メイリオ"/>
                <a:ea typeface="メイリオ"/>
                <a:cs typeface="メイリオ"/>
              </a:rPr>
              <a:t>宿泊時期</a:t>
            </a:r>
          </a:p>
          <a:p>
            <a:pPr algn="ctr">
              <a:spcAft>
                <a:spcPts val="800"/>
              </a:spcAft>
            </a:pPr>
            <a:r>
              <a:rPr sz="1200" b="1">
                <a:solidFill>
                  <a:srgbClr val="1F3A5F"/>
                </a:solidFill>
                <a:latin typeface="メイリオ"/>
                <a:ea typeface="メイリオ"/>
                <a:cs typeface="メイリオ"/>
              </a:rPr>
              <a:t>5〜6月</a:t>
            </a:r>
          </a:p>
          <a:p>
            <a:pPr algn="ctr"/>
            <a:r>
              <a:rPr sz="900" b="0">
                <a:solidFill>
                  <a:srgbClr val="555555"/>
                </a:solidFill>
                <a:latin typeface="メイリオ"/>
                <a:ea typeface="メイリオ"/>
                <a:cs typeface="メイリオ"/>
              </a:rPr>
              <a:t>テーマ</a:t>
            </a:r>
          </a:p>
          <a:p>
            <a:pPr algn="ctr">
              <a:spcAft>
                <a:spcPts val="800"/>
              </a:spcAft>
            </a:pPr>
            <a:r>
              <a:rPr sz="1150" b="1">
                <a:solidFill>
                  <a:srgbClr val="06C755"/>
                </a:solidFill>
                <a:latin typeface="メイリオ"/>
                <a:ea typeface="メイリオ"/>
                <a:cs typeface="メイリオ"/>
              </a:rPr>
              <a:t>母の日・父の日</a:t>
            </a:r>
          </a:p>
          <a:p>
            <a:pPr algn="ctr"/>
            <a:r>
              <a:rPr sz="900" b="0">
                <a:solidFill>
                  <a:srgbClr val="555555"/>
                </a:solidFill>
                <a:latin typeface="メイリオ"/>
                <a:ea typeface="メイリオ"/>
                <a:cs typeface="メイリオ"/>
              </a:rPr>
              <a:t>内容</a:t>
            </a:r>
          </a:p>
          <a:p>
            <a:pPr algn="ctr"/>
            <a:r>
              <a:rPr sz="1050" b="0">
                <a:solidFill>
                  <a:srgbClr val="333333"/>
                </a:solidFill>
                <a:latin typeface="メイリオ"/>
                <a:ea typeface="メイリオ"/>
                <a:cs typeface="メイリオ"/>
              </a:rPr>
              <a:t>宿泊ギフト、会員限定ECとの連動</a:t>
            </a:r>
          </a:p>
        </p:txBody>
      </p:sp>
      <p:sp>
        <p:nvSpPr>
          <p:cNvPr id="919" name="Rounded Rectangle 918"/>
          <p:cNvSpPr/>
          <p:nvPr/>
        </p:nvSpPr>
        <p:spPr>
          <a:xfrm>
            <a:off x="8071428" y="1580000"/>
            <a:ext cx="1447476" cy="420000"/>
          </a:xfrm>
          <a:prstGeom prst="roundRect">
            <a:avLst>
              <a:gd name="adj" fmla="val 30000"/>
            </a:avLst>
          </a:prstGeom>
          <a:solidFill>
            <a:srgbClr val="1F3A5F"/>
          </a:solidFill>
          <a:ln>
            <a:noFill/>
          </a:ln>
          <a:effectLst/>
        </p:spPr>
        <p:txBody>
          <a:bodyPr wrap="square" lIns="72000" tIns="36000" rIns="72000" bIns="36000" rtlCol="0" anchor="ctr"/>
          <a:lstStyle/>
          <a:p>
            <a:pPr algn="ctr"/>
            <a:r>
              <a:rPr sz="1300" b="1">
                <a:solidFill>
                  <a:srgbClr val="FFFFFF"/>
                </a:solidFill>
                <a:latin typeface="メイリオ"/>
                <a:ea typeface="メイリオ"/>
                <a:cs typeface="メイリオ"/>
              </a:rPr>
              <a:t>5月配信</a:t>
            </a:r>
          </a:p>
        </p:txBody>
      </p:sp>
      <p:sp>
        <p:nvSpPr>
          <p:cNvPr id="920" name="Rounded Rectangle 919"/>
          <p:cNvSpPr/>
          <p:nvPr/>
        </p:nvSpPr>
        <p:spPr>
          <a:xfrm>
            <a:off x="8071428" y="2100000"/>
            <a:ext cx="1447476" cy="2150000"/>
          </a:xfrm>
          <a:prstGeom prst="roundRect">
            <a:avLst>
              <a:gd name="adj" fmla="val 6000"/>
            </a:avLst>
          </a:prstGeom>
          <a:solidFill>
            <a:srgbClr val="EEF1F5"/>
          </a:solidFill>
          <a:ln w="12700">
            <a:solidFill>
              <a:srgbClr val="7F8896"/>
            </a:solidFill>
          </a:ln>
          <a:effectLst/>
        </p:spPr>
        <p:txBody>
          <a:bodyPr rtlCol="0" anchor="ctr"/>
          <a:lstStyle/>
          <a:p>
            <a:pPr algn="ctr"/>
            <a:endParaRPr/>
          </a:p>
        </p:txBody>
      </p:sp>
      <p:sp>
        <p:nvSpPr>
          <p:cNvPr id="921" name="TextBox 920"/>
          <p:cNvSpPr txBox="1"/>
          <p:nvPr/>
        </p:nvSpPr>
        <p:spPr>
          <a:xfrm>
            <a:off x="8121428" y="2150000"/>
            <a:ext cx="1347476" cy="2400000"/>
          </a:xfrm>
          <a:prstGeom prst="rect">
            <a:avLst/>
          </a:prstGeom>
          <a:noFill/>
        </p:spPr>
        <p:txBody>
          <a:bodyPr wrap="square" lIns="72000" tIns="36000" rIns="72000" bIns="36000" anchor="t">
            <a:spAutoFit/>
          </a:bodyPr>
          <a:lstStyle/>
          <a:p>
            <a:pPr algn="ctr"/>
            <a:r>
              <a:rPr sz="900" b="0">
                <a:solidFill>
                  <a:srgbClr val="555555"/>
                </a:solidFill>
                <a:latin typeface="メイリオ"/>
                <a:ea typeface="メイリオ"/>
                <a:cs typeface="メイリオ"/>
              </a:rPr>
              <a:t>宿泊時期</a:t>
            </a:r>
          </a:p>
          <a:p>
            <a:pPr algn="ctr">
              <a:spcAft>
                <a:spcPts val="800"/>
              </a:spcAft>
            </a:pPr>
            <a:r>
              <a:rPr sz="1200" b="1">
                <a:solidFill>
                  <a:srgbClr val="1F3A5F"/>
                </a:solidFill>
                <a:latin typeface="メイリオ"/>
                <a:ea typeface="メイリオ"/>
                <a:cs typeface="メイリオ"/>
              </a:rPr>
              <a:t>6〜7月</a:t>
            </a:r>
          </a:p>
          <a:p>
            <a:pPr algn="ctr"/>
            <a:r>
              <a:rPr sz="900" b="0">
                <a:solidFill>
                  <a:srgbClr val="555555"/>
                </a:solidFill>
                <a:latin typeface="メイリオ"/>
                <a:ea typeface="メイリオ"/>
                <a:cs typeface="メイリオ"/>
              </a:rPr>
              <a:t>テーマ</a:t>
            </a:r>
          </a:p>
          <a:p>
            <a:pPr algn="ctr">
              <a:spcAft>
                <a:spcPts val="800"/>
              </a:spcAft>
            </a:pPr>
            <a:r>
              <a:rPr sz="1150" b="1">
                <a:solidFill>
                  <a:srgbClr val="1F3A5F"/>
                </a:solidFill>
                <a:latin typeface="メイリオ"/>
                <a:ea typeface="メイリオ"/>
                <a:cs typeface="メイリオ"/>
              </a:rPr>
              <a:t>夏休み早割</a:t>
            </a:r>
          </a:p>
          <a:p>
            <a:pPr algn="ctr"/>
            <a:r>
              <a:rPr sz="900" b="0">
                <a:solidFill>
                  <a:srgbClr val="555555"/>
                </a:solidFill>
                <a:latin typeface="メイリオ"/>
                <a:ea typeface="メイリオ"/>
                <a:cs typeface="メイリオ"/>
              </a:rPr>
              <a:t>内容</a:t>
            </a:r>
          </a:p>
          <a:p>
            <a:pPr algn="ctr"/>
            <a:r>
              <a:rPr sz="1050" b="0">
                <a:solidFill>
                  <a:srgbClr val="333333"/>
                </a:solidFill>
                <a:latin typeface="メイリオ"/>
                <a:ea typeface="メイリオ"/>
                <a:cs typeface="メイリオ"/>
              </a:rPr>
              <a:t>繁忙期（7/19〜）の前に早割を告知</a:t>
            </a:r>
          </a:p>
        </p:txBody>
      </p:sp>
      <p:sp>
        <p:nvSpPr>
          <p:cNvPr id="922" name="Rounded Rectangle 921"/>
          <p:cNvSpPr/>
          <p:nvPr/>
        </p:nvSpPr>
        <p:spPr>
          <a:xfrm>
            <a:off x="384048" y="4430000"/>
            <a:ext cx="2849880" cy="1100000"/>
          </a:xfrm>
          <a:prstGeom prst="roundRect">
            <a:avLst>
              <a:gd name="adj" fmla="val 5000"/>
            </a:avLst>
          </a:prstGeom>
          <a:solidFill>
            <a:srgbClr val="EEF1F5"/>
          </a:solidFill>
          <a:ln w="12700">
            <a:solidFill>
              <a:srgbClr val="7F8896"/>
            </a:solidFill>
          </a:ln>
          <a:effectLst/>
        </p:spPr>
        <p:txBody>
          <a:bodyPr rtlCol="0" anchor="ctr"/>
          <a:lstStyle/>
          <a:p>
            <a:pPr algn="ctr"/>
            <a:endParaRPr/>
          </a:p>
        </p:txBody>
      </p:sp>
      <p:sp>
        <p:nvSpPr>
          <p:cNvPr id="923" name="Rounded Rectangle 922"/>
          <p:cNvSpPr/>
          <p:nvPr/>
        </p:nvSpPr>
        <p:spPr>
          <a:xfrm>
            <a:off x="384048" y="4430000"/>
            <a:ext cx="2849880" cy="330000"/>
          </a:xfrm>
          <a:prstGeom prst="roundRect">
            <a:avLst>
              <a:gd name="adj" fmla="val 20000"/>
            </a:avLst>
          </a:prstGeom>
          <a:solidFill>
            <a:srgbClr val="24345A"/>
          </a:solidFill>
          <a:ln>
            <a:noFill/>
          </a:ln>
          <a:effectLst/>
        </p:spPr>
        <p:txBody>
          <a:bodyPr wrap="square" lIns="72000" tIns="36000" rIns="72000" bIns="36000" rtlCol="0" anchor="ctr"/>
          <a:lstStyle/>
          <a:p>
            <a:pPr algn="ctr"/>
            <a:r>
              <a:rPr sz="1150" b="1">
                <a:solidFill>
                  <a:srgbClr val="FFFFFF"/>
                </a:solidFill>
                <a:latin typeface="メイリオ"/>
                <a:ea typeface="メイリオ"/>
                <a:cs typeface="メイリオ"/>
              </a:rPr>
              <a:t>毎月やること</a:t>
            </a:r>
          </a:p>
        </p:txBody>
      </p:sp>
      <p:sp>
        <p:nvSpPr>
          <p:cNvPr id="924" name="TextBox 923"/>
          <p:cNvSpPr txBox="1"/>
          <p:nvPr/>
        </p:nvSpPr>
        <p:spPr>
          <a:xfrm>
            <a:off x="444048" y="4810000"/>
            <a:ext cx="2729880" cy="680000"/>
          </a:xfrm>
          <a:prstGeom prst="rect">
            <a:avLst/>
          </a:prstGeom>
          <a:noFill/>
        </p:spPr>
        <p:txBody>
          <a:bodyPr wrap="square" lIns="72000" tIns="36000" rIns="72000" bIns="36000" anchor="t">
            <a:spAutoFit/>
          </a:bodyPr>
          <a:lstStyle/>
          <a:p>
            <a:pPr algn="l">
              <a:spcAft>
                <a:spcPts val="400"/>
              </a:spcAft>
            </a:pPr>
            <a:r>
              <a:rPr sz="1050" b="0">
                <a:solidFill>
                  <a:srgbClr val="333333"/>
                </a:solidFill>
                <a:latin typeface="メイリオ"/>
                <a:ea typeface="メイリオ"/>
                <a:cs typeface="メイリオ"/>
              </a:rPr>
              <a:t>企画立案・クリエイティブ1点・tunaで受け皿ページ作成・配信設定</a:t>
            </a:r>
          </a:p>
        </p:txBody>
      </p:sp>
      <p:sp>
        <p:nvSpPr>
          <p:cNvPr id="925" name="Rounded Rectangle 924"/>
          <p:cNvSpPr/>
          <p:nvPr/>
        </p:nvSpPr>
        <p:spPr>
          <a:xfrm>
            <a:off x="3526536" y="4430000"/>
            <a:ext cx="2849880" cy="1100000"/>
          </a:xfrm>
          <a:prstGeom prst="roundRect">
            <a:avLst>
              <a:gd name="adj" fmla="val 5000"/>
            </a:avLst>
          </a:prstGeom>
          <a:solidFill>
            <a:srgbClr val="EEF1F5"/>
          </a:solidFill>
          <a:ln w="12700">
            <a:solidFill>
              <a:srgbClr val="7F8896"/>
            </a:solidFill>
          </a:ln>
          <a:effectLst/>
        </p:spPr>
        <p:txBody>
          <a:bodyPr rtlCol="0" anchor="ctr"/>
          <a:lstStyle/>
          <a:p>
            <a:pPr algn="ctr"/>
            <a:endParaRPr/>
          </a:p>
        </p:txBody>
      </p:sp>
      <p:sp>
        <p:nvSpPr>
          <p:cNvPr id="926" name="Rounded Rectangle 925"/>
          <p:cNvSpPr/>
          <p:nvPr/>
        </p:nvSpPr>
        <p:spPr>
          <a:xfrm>
            <a:off x="3526536" y="4430000"/>
            <a:ext cx="2849880" cy="330000"/>
          </a:xfrm>
          <a:prstGeom prst="roundRect">
            <a:avLst>
              <a:gd name="adj" fmla="val 20000"/>
            </a:avLst>
          </a:prstGeom>
          <a:solidFill>
            <a:srgbClr val="24345A"/>
          </a:solidFill>
          <a:ln>
            <a:noFill/>
          </a:ln>
          <a:effectLst/>
        </p:spPr>
        <p:txBody>
          <a:bodyPr wrap="square" lIns="72000" tIns="36000" rIns="72000" bIns="36000" rtlCol="0" anchor="ctr"/>
          <a:lstStyle/>
          <a:p>
            <a:pPr algn="ctr"/>
            <a:r>
              <a:rPr sz="1150" b="1">
                <a:solidFill>
                  <a:srgbClr val="FFFFFF"/>
                </a:solidFill>
                <a:latin typeface="メイリオ"/>
                <a:ea typeface="メイリオ"/>
                <a:cs typeface="メイリオ"/>
              </a:rPr>
              <a:t>送る相手</a:t>
            </a:r>
          </a:p>
        </p:txBody>
      </p:sp>
      <p:sp>
        <p:nvSpPr>
          <p:cNvPr id="927" name="TextBox 926"/>
          <p:cNvSpPr txBox="1"/>
          <p:nvPr/>
        </p:nvSpPr>
        <p:spPr>
          <a:xfrm>
            <a:off x="3586536" y="4810000"/>
            <a:ext cx="2729880" cy="680000"/>
          </a:xfrm>
          <a:prstGeom prst="rect">
            <a:avLst/>
          </a:prstGeom>
          <a:noFill/>
        </p:spPr>
        <p:txBody>
          <a:bodyPr wrap="square" lIns="72000" tIns="36000" rIns="72000" bIns="36000" anchor="t">
            <a:spAutoFit/>
          </a:bodyPr>
          <a:lstStyle/>
          <a:p>
            <a:pPr algn="l">
              <a:spcAft>
                <a:spcPts val="400"/>
              </a:spcAft>
            </a:pPr>
            <a:r>
              <a:rPr sz="1050" b="0">
                <a:solidFill>
                  <a:srgbClr val="333333"/>
                </a:solidFill>
                <a:latin typeface="メイリオ"/>
                <a:ea typeface="メイリオ"/>
                <a:cs typeface="メイリオ"/>
              </a:rPr>
              <a:t>tunaのラベルで出し分け（家族・記念日・エリアなど）</a:t>
            </a:r>
          </a:p>
        </p:txBody>
      </p:sp>
      <p:sp>
        <p:nvSpPr>
          <p:cNvPr id="928" name="Rounded Rectangle 927"/>
          <p:cNvSpPr/>
          <p:nvPr/>
        </p:nvSpPr>
        <p:spPr>
          <a:xfrm>
            <a:off x="6669024" y="4430000"/>
            <a:ext cx="2849880" cy="1100000"/>
          </a:xfrm>
          <a:prstGeom prst="roundRect">
            <a:avLst>
              <a:gd name="adj" fmla="val 5000"/>
            </a:avLst>
          </a:prstGeom>
          <a:solidFill>
            <a:srgbClr val="EEF1F5"/>
          </a:solidFill>
          <a:ln w="12700">
            <a:solidFill>
              <a:srgbClr val="7F8896"/>
            </a:solidFill>
          </a:ln>
          <a:effectLst/>
        </p:spPr>
        <p:txBody>
          <a:bodyPr rtlCol="0" anchor="ctr"/>
          <a:lstStyle/>
          <a:p>
            <a:pPr algn="ctr"/>
            <a:endParaRPr/>
          </a:p>
        </p:txBody>
      </p:sp>
      <p:sp>
        <p:nvSpPr>
          <p:cNvPr id="929" name="Rounded Rectangle 928"/>
          <p:cNvSpPr/>
          <p:nvPr/>
        </p:nvSpPr>
        <p:spPr>
          <a:xfrm>
            <a:off x="6669024" y="4430000"/>
            <a:ext cx="2849880" cy="330000"/>
          </a:xfrm>
          <a:prstGeom prst="roundRect">
            <a:avLst>
              <a:gd name="adj" fmla="val 20000"/>
            </a:avLst>
          </a:prstGeom>
          <a:solidFill>
            <a:srgbClr val="24345A"/>
          </a:solidFill>
          <a:ln>
            <a:noFill/>
          </a:ln>
          <a:effectLst/>
        </p:spPr>
        <p:txBody>
          <a:bodyPr wrap="square" lIns="72000" tIns="36000" rIns="72000" bIns="36000" rtlCol="0" anchor="ctr"/>
          <a:lstStyle/>
          <a:p>
            <a:pPr algn="ctr"/>
            <a:r>
              <a:rPr sz="1150" b="1">
                <a:solidFill>
                  <a:srgbClr val="FFFFFF"/>
                </a:solidFill>
                <a:latin typeface="メイリオ"/>
                <a:ea typeface="メイリオ"/>
                <a:cs typeface="メイリオ"/>
              </a:rPr>
              <a:t>通数の抑制</a:t>
            </a:r>
          </a:p>
        </p:txBody>
      </p:sp>
      <p:sp>
        <p:nvSpPr>
          <p:cNvPr id="930" name="TextBox 929"/>
          <p:cNvSpPr txBox="1"/>
          <p:nvPr/>
        </p:nvSpPr>
        <p:spPr>
          <a:xfrm>
            <a:off x="6729024" y="4810000"/>
            <a:ext cx="2729880" cy="680000"/>
          </a:xfrm>
          <a:prstGeom prst="rect">
            <a:avLst/>
          </a:prstGeom>
          <a:noFill/>
        </p:spPr>
        <p:txBody>
          <a:bodyPr wrap="square" lIns="72000" tIns="36000" rIns="72000" bIns="36000" anchor="t">
            <a:spAutoFit/>
          </a:bodyPr>
          <a:lstStyle/>
          <a:p>
            <a:pPr algn="l">
              <a:spcAft>
                <a:spcPts val="400"/>
              </a:spcAft>
            </a:pPr>
            <a:r>
              <a:rPr sz="1050" b="0">
                <a:solidFill>
                  <a:srgbClr val="333333"/>
                </a:solidFill>
                <a:latin typeface="メイリオ"/>
                <a:ea typeface="メイリオ"/>
                <a:cs typeface="メイリオ"/>
              </a:rPr>
              <a:t>全員一斉ではなく、絞り込みで配信通数のコストを抑える</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883" y="138118"/>
            <a:ext cx="7900000" cy="338554"/>
          </a:xfrm>
          <a:prstGeom prst="rect">
            <a:avLst/>
          </a:prstGeom>
          <a:noFill/>
        </p:spPr>
        <p:txBody>
          <a:bodyPr wrap="square" lIns="72000" tIns="0" rIns="72000" bIns="0" anchor="ctr">
            <a:spAutoFit/>
          </a:bodyPr>
          <a:lstStyle/>
          <a:p>
            <a:pPr algn="l"/>
            <a:r>
              <a:rPr sz="1600" b="1">
                <a:solidFill>
                  <a:srgbClr val="002060"/>
                </a:solidFill>
                <a:latin typeface="メイリオ"/>
                <a:ea typeface="メイリオ"/>
                <a:cs typeface="メイリオ"/>
              </a:rPr>
              <a:t>資料アジェンダ</a:t>
            </a:r>
          </a:p>
        </p:txBody>
      </p:sp>
      <p:sp>
        <p:nvSpPr>
          <p:cNvPr id="3" name="TextBox 2"/>
          <p:cNvSpPr txBox="1"/>
          <p:nvPr/>
        </p:nvSpPr>
        <p:spPr>
          <a:xfrm>
            <a:off x="384048" y="2350000"/>
            <a:ext cx="9134856" cy="360000"/>
          </a:xfrm>
          <a:prstGeom prst="rect">
            <a:avLst/>
          </a:prstGeom>
          <a:noFill/>
        </p:spPr>
        <p:txBody>
          <a:bodyPr wrap="square" lIns="72000" tIns="36000" rIns="72000" bIns="36000" anchor="ctr">
            <a:spAutoFit/>
          </a:bodyPr>
          <a:lstStyle/>
          <a:p>
            <a:pPr algn="ctr"/>
            <a:r>
              <a:rPr sz="1200" b="1">
                <a:solidFill>
                  <a:srgbClr val="7F8896"/>
                </a:solidFill>
                <a:latin typeface="メイリオ"/>
                <a:ea typeface="メイリオ"/>
                <a:cs typeface="メイリオ"/>
              </a:rPr>
              <a:t>SECTION 3</a:t>
            </a:r>
          </a:p>
        </p:txBody>
      </p:sp>
      <p:sp>
        <p:nvSpPr>
          <p:cNvPr id="4" name="TextBox 3"/>
          <p:cNvSpPr txBox="1"/>
          <p:nvPr/>
        </p:nvSpPr>
        <p:spPr>
          <a:xfrm>
            <a:off x="384048" y="2817427"/>
            <a:ext cx="9134856" cy="565146"/>
          </a:xfrm>
          <a:prstGeom prst="rect">
            <a:avLst/>
          </a:prstGeom>
          <a:noFill/>
        </p:spPr>
        <p:txBody>
          <a:bodyPr wrap="square" lIns="72000" tIns="36000" rIns="72000" bIns="36000" anchor="ctr">
            <a:spAutoFit/>
          </a:bodyPr>
          <a:lstStyle/>
          <a:p>
            <a:pPr algn="ctr"/>
            <a:r>
              <a:rPr lang="ja-JP" altLang="en-US" sz="3200" b="1" dirty="0">
                <a:solidFill>
                  <a:srgbClr val="404040"/>
                </a:solidFill>
                <a:latin typeface="メイリオ"/>
                <a:ea typeface="メイリオ"/>
                <a:cs typeface="メイリオ"/>
              </a:rPr>
              <a:t>シミュレーション</a:t>
            </a:r>
            <a:endParaRPr sz="3200" b="1" dirty="0">
              <a:solidFill>
                <a:srgbClr val="404040"/>
              </a:solidFill>
              <a:latin typeface="メイリオ"/>
              <a:ea typeface="メイリオ"/>
              <a:cs typeface="メイリオ"/>
            </a:endParaRPr>
          </a:p>
        </p:txBody>
      </p:sp>
      <p:sp>
        <p:nvSpPr>
          <p:cNvPr id="5" name="TextBox 4"/>
          <p:cNvSpPr txBox="1"/>
          <p:nvPr/>
        </p:nvSpPr>
        <p:spPr>
          <a:xfrm>
            <a:off x="384048" y="3500000"/>
            <a:ext cx="9134856" cy="400000"/>
          </a:xfrm>
          <a:prstGeom prst="rect">
            <a:avLst/>
          </a:prstGeom>
          <a:noFill/>
        </p:spPr>
        <p:txBody>
          <a:bodyPr wrap="square" lIns="72000" tIns="36000" rIns="72000" bIns="36000" anchor="ctr">
            <a:spAutoFit/>
          </a:bodyPr>
          <a:lstStyle/>
          <a:p>
            <a:pPr algn="ctr"/>
            <a:r>
              <a:rPr sz="1300" b="0">
                <a:solidFill>
                  <a:srgbClr val="7F7F7F"/>
                </a:solidFill>
                <a:latin typeface="メイリオ"/>
                <a:ea typeface="メイリオ"/>
                <a:cs typeface="メイリオ"/>
              </a:rPr>
              <a:t>12月スタート・6ヶ月の見込み</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LeadBand"/>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anchor="ctr"/>
          <a:lstStyle/>
          <a:p>
            <a:endParaRPr lang="ja-JP"/>
          </a:p>
        </p:txBody>
      </p:sp>
      <p:cxnSp>
        <p:nvCxnSpPr>
          <p:cNvPr id="901" name="LeadBandLine"/>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902" name="TextBox 901"/>
          <p:cNvSpPr txBox="1"/>
          <p:nvPr/>
        </p:nvSpPr>
        <p:spPr>
          <a:xfrm>
            <a:off x="379976" y="635062"/>
            <a:ext cx="9160881" cy="698492"/>
          </a:xfrm>
          <a:prstGeom prst="rect">
            <a:avLst/>
          </a:prstGeom>
          <a:noFill/>
        </p:spPr>
        <p:txBody>
          <a:bodyPr wrap="square" lIns="72000" tIns="36000" rIns="72000" bIns="36000" anchor="ctr">
            <a:spAutoFit/>
          </a:bodyPr>
          <a:lstStyle/>
          <a:p>
            <a:pPr algn="ctr"/>
            <a:r>
              <a:rPr sz="1200" b="0">
                <a:solidFill>
                  <a:srgbClr val="333333"/>
                </a:solidFill>
                <a:latin typeface="メイリオ"/>
                <a:ea typeface="メイリオ"/>
                <a:cs typeface="メイリオ"/>
              </a:rPr>
              <a:t>固い部分（休眠の掘り起こし）と上振れ部分（新規）に分けて試算しています</a:t>
            </a:r>
          </a:p>
        </p:txBody>
      </p:sp>
      <p:sp>
        <p:nvSpPr>
          <p:cNvPr id="903" name="TextBox 902"/>
          <p:cNvSpPr txBox="1"/>
          <p:nvPr/>
        </p:nvSpPr>
        <p:spPr>
          <a:xfrm>
            <a:off x="548883" y="138118"/>
            <a:ext cx="7900000" cy="338554"/>
          </a:xfrm>
          <a:prstGeom prst="rect">
            <a:avLst/>
          </a:prstGeom>
          <a:noFill/>
        </p:spPr>
        <p:txBody>
          <a:bodyPr wrap="square" lIns="72000" tIns="0" rIns="72000" bIns="0" anchor="ctr">
            <a:spAutoFit/>
          </a:bodyPr>
          <a:lstStyle/>
          <a:p>
            <a:pPr algn="l"/>
            <a:r>
              <a:rPr sz="1600" b="1">
                <a:solidFill>
                  <a:srgbClr val="002060"/>
                </a:solidFill>
                <a:latin typeface="メイリオ"/>
                <a:ea typeface="メイリオ"/>
                <a:cs typeface="メイリオ"/>
              </a:rPr>
              <a:t>試算の前提</a:t>
            </a:r>
          </a:p>
        </p:txBody>
      </p:sp>
      <p:graphicFrame>
        <p:nvGraphicFramePr>
          <p:cNvPr id="904" name="Table 903"/>
          <p:cNvGraphicFramePr>
            <a:graphicFrameLocks noGrp="1"/>
          </p:cNvGraphicFramePr>
          <p:nvPr/>
        </p:nvGraphicFramePr>
        <p:xfrm>
          <a:off x="384048" y="1530000"/>
          <a:ext cx="9134854" cy="3010000"/>
        </p:xfrm>
        <a:graphic>
          <a:graphicData uri="http://schemas.openxmlformats.org/drawingml/2006/table">
            <a:tbl>
              <a:tblPr>
                <a:tableStyleId>{5940675A-B579-460E-94D1-54222C63F5DA}</a:tableStyleId>
              </a:tblPr>
              <a:tblGrid>
                <a:gridCol w="1998249">
                  <a:extLst>
                    <a:ext uri="{9D8B030D-6E8A-4147-A177-3AD203B41FA5}">
                      <a16:colId xmlns:a16="http://schemas.microsoft.com/office/drawing/2014/main" val="20000"/>
                    </a:ext>
                  </a:extLst>
                </a:gridCol>
                <a:gridCol w="1998249">
                  <a:extLst>
                    <a:ext uri="{9D8B030D-6E8A-4147-A177-3AD203B41FA5}">
                      <a16:colId xmlns:a16="http://schemas.microsoft.com/office/drawing/2014/main" val="20001"/>
                    </a:ext>
                  </a:extLst>
                </a:gridCol>
                <a:gridCol w="5138356">
                  <a:extLst>
                    <a:ext uri="{9D8B030D-6E8A-4147-A177-3AD203B41FA5}">
                      <a16:colId xmlns:a16="http://schemas.microsoft.com/office/drawing/2014/main" val="20002"/>
                    </a:ext>
                  </a:extLst>
                </a:gridCol>
              </a:tblGrid>
              <a:tr h="430000">
                <a:tc>
                  <a:txBody>
                    <a:bodyPr/>
                    <a:lstStyle/>
                    <a:p>
                      <a:pPr algn="l"/>
                      <a:r>
                        <a:rPr sz="1100" b="1">
                          <a:solidFill>
                            <a:srgbClr val="FFFFFF"/>
                          </a:solidFill>
                          <a:latin typeface="メイリオ"/>
                          <a:ea typeface="メイリオ"/>
                          <a:cs typeface="メイリオ"/>
                        </a:rPr>
                        <a:t>項目</a:t>
                      </a:r>
                    </a:p>
                  </a:txBody>
                  <a:tcPr marR="72000" marT="30000" marB="30000" anchor="ctr">
                    <a:solidFill>
                      <a:srgbClr val="24345A"/>
                    </a:solidFill>
                  </a:tcPr>
                </a:tc>
                <a:tc>
                  <a:txBody>
                    <a:bodyPr/>
                    <a:lstStyle/>
                    <a:p>
                      <a:pPr algn="l"/>
                      <a:r>
                        <a:rPr sz="1100" b="1">
                          <a:solidFill>
                            <a:srgbClr val="FFFFFF"/>
                          </a:solidFill>
                          <a:latin typeface="メイリオ"/>
                          <a:ea typeface="メイリオ"/>
                          <a:cs typeface="メイリオ"/>
                        </a:rPr>
                        <a:t>前提（中位ケース）</a:t>
                      </a:r>
                    </a:p>
                  </a:txBody>
                  <a:tcPr marR="72000" marT="30000" marB="30000" anchor="ctr">
                    <a:solidFill>
                      <a:srgbClr val="24345A"/>
                    </a:solidFill>
                  </a:tcPr>
                </a:tc>
                <a:tc>
                  <a:txBody>
                    <a:bodyPr/>
                    <a:lstStyle/>
                    <a:p>
                      <a:pPr algn="l"/>
                      <a:r>
                        <a:rPr sz="1100" b="1">
                          <a:solidFill>
                            <a:srgbClr val="FFFFFF"/>
                          </a:solidFill>
                          <a:latin typeface="メイリオ"/>
                          <a:ea typeface="メイリオ"/>
                          <a:cs typeface="メイリオ"/>
                        </a:rPr>
                        <a:t>考え方</a:t>
                      </a:r>
                    </a:p>
                  </a:txBody>
                  <a:tcPr marR="72000" marT="30000" marB="30000" anchor="ctr">
                    <a:solidFill>
                      <a:srgbClr val="24345A"/>
                    </a:solidFill>
                  </a:tcPr>
                </a:tc>
                <a:extLst>
                  <a:ext uri="{0D108BD9-81ED-4DB2-BD59-A6C34878D82A}">
                    <a16:rowId xmlns:a16="http://schemas.microsoft.com/office/drawing/2014/main" val="10000"/>
                  </a:ext>
                </a:extLst>
              </a:tr>
              <a:tr h="430000">
                <a:tc>
                  <a:txBody>
                    <a:bodyPr/>
                    <a:lstStyle/>
                    <a:p>
                      <a:pPr algn="l"/>
                      <a:r>
                        <a:rPr sz="1100" b="1">
                          <a:solidFill>
                            <a:srgbClr val="1F3A5F"/>
                          </a:solidFill>
                          <a:latin typeface="メイリオ"/>
                          <a:ea typeface="メイリオ"/>
                          <a:cs typeface="メイリオ"/>
                        </a:rPr>
                        <a:t>CPF予算</a:t>
                      </a:r>
                    </a:p>
                  </a:txBody>
                  <a:tcPr marR="72000" marT="30000" marB="30000" anchor="ctr">
                    <a:solidFill>
                      <a:srgbClr val="FFFFFF"/>
                    </a:solidFill>
                  </a:tcPr>
                </a:tc>
                <a:tc>
                  <a:txBody>
                    <a:bodyPr/>
                    <a:lstStyle/>
                    <a:p>
                      <a:pPr algn="l"/>
                      <a:r>
                        <a:rPr sz="1100" b="0">
                          <a:solidFill>
                            <a:srgbClr val="555555"/>
                          </a:solidFill>
                          <a:latin typeface="メイリオ"/>
                          <a:ea typeface="メイリオ"/>
                          <a:cs typeface="メイリオ"/>
                        </a:rPr>
                        <a:t>月10万円</a:t>
                      </a:r>
                    </a:p>
                  </a:txBody>
                  <a:tcPr marR="72000" marT="30000" marB="30000" anchor="ctr">
                    <a:solidFill>
                      <a:srgbClr val="FFFFFF"/>
                    </a:solidFill>
                  </a:tcPr>
                </a:tc>
                <a:tc>
                  <a:txBody>
                    <a:bodyPr/>
                    <a:lstStyle/>
                    <a:p>
                      <a:pPr algn="l"/>
                      <a:r>
                        <a:rPr sz="1100" b="0">
                          <a:solidFill>
                            <a:srgbClr val="555555"/>
                          </a:solidFill>
                          <a:latin typeface="メイリオ"/>
                          <a:ea typeface="メイリオ"/>
                          <a:cs typeface="メイリオ"/>
                        </a:rPr>
                        <a:t>ご提案の配分</a:t>
                      </a:r>
                    </a:p>
                  </a:txBody>
                  <a:tcPr marR="72000" marT="30000" marB="30000" anchor="ctr">
                    <a:solidFill>
                      <a:srgbClr val="FFFFFF"/>
                    </a:solidFill>
                  </a:tcPr>
                </a:tc>
                <a:extLst>
                  <a:ext uri="{0D108BD9-81ED-4DB2-BD59-A6C34878D82A}">
                    <a16:rowId xmlns:a16="http://schemas.microsoft.com/office/drawing/2014/main" val="10001"/>
                  </a:ext>
                </a:extLst>
              </a:tr>
              <a:tr h="430000">
                <a:tc>
                  <a:txBody>
                    <a:bodyPr/>
                    <a:lstStyle/>
                    <a:p>
                      <a:pPr algn="l"/>
                      <a:r>
                        <a:rPr sz="1100" b="1">
                          <a:solidFill>
                            <a:srgbClr val="1F3A5F"/>
                          </a:solidFill>
                          <a:latin typeface="メイリオ"/>
                          <a:ea typeface="メイリオ"/>
                          <a:cs typeface="メイリオ"/>
                        </a:rPr>
                        <a:t>CPF単価</a:t>
                      </a:r>
                    </a:p>
                  </a:txBody>
                  <a:tcPr marR="72000" marT="30000" marB="30000" anchor="ctr">
                    <a:solidFill>
                      <a:srgbClr val="F2F5F9"/>
                    </a:solidFill>
                  </a:tcPr>
                </a:tc>
                <a:tc>
                  <a:txBody>
                    <a:bodyPr/>
                    <a:lstStyle/>
                    <a:p>
                      <a:pPr algn="l"/>
                      <a:r>
                        <a:rPr sz="1100" b="0">
                          <a:solidFill>
                            <a:srgbClr val="555555"/>
                          </a:solidFill>
                          <a:latin typeface="メイリオ"/>
                          <a:ea typeface="メイリオ"/>
                          <a:cs typeface="メイリオ"/>
                        </a:rPr>
                        <a:t>300円</a:t>
                      </a:r>
                    </a:p>
                  </a:txBody>
                  <a:tcPr marR="72000" marT="30000" marB="30000" anchor="ctr">
                    <a:solidFill>
                      <a:srgbClr val="F2F5F9"/>
                    </a:solidFill>
                  </a:tcPr>
                </a:tc>
                <a:tc>
                  <a:txBody>
                    <a:bodyPr/>
                    <a:lstStyle/>
                    <a:p>
                      <a:pPr algn="l"/>
                      <a:r>
                        <a:rPr sz="1100" b="0">
                          <a:solidFill>
                            <a:srgbClr val="555555"/>
                          </a:solidFill>
                          <a:latin typeface="メイリオ"/>
                          <a:ea typeface="メイリオ"/>
                          <a:cs typeface="メイリオ"/>
                        </a:rPr>
                        <a:t>低400円／高200円の3パターンで試算</a:t>
                      </a:r>
                    </a:p>
                  </a:txBody>
                  <a:tcPr marR="72000" marT="30000" marB="30000" anchor="ctr">
                    <a:solidFill>
                      <a:srgbClr val="F2F5F9"/>
                    </a:solidFill>
                  </a:tcPr>
                </a:tc>
                <a:extLst>
                  <a:ext uri="{0D108BD9-81ED-4DB2-BD59-A6C34878D82A}">
                    <a16:rowId xmlns:a16="http://schemas.microsoft.com/office/drawing/2014/main" val="10002"/>
                  </a:ext>
                </a:extLst>
              </a:tr>
              <a:tr h="430000">
                <a:tc>
                  <a:txBody>
                    <a:bodyPr/>
                    <a:lstStyle/>
                    <a:p>
                      <a:pPr algn="l"/>
                      <a:r>
                        <a:rPr sz="1100" b="1">
                          <a:solidFill>
                            <a:srgbClr val="1F3A5F"/>
                          </a:solidFill>
                          <a:latin typeface="メイリオ"/>
                          <a:ea typeface="メイリオ"/>
                          <a:cs typeface="メイリオ"/>
                        </a:rPr>
                        <a:t>新規友だち</a:t>
                      </a:r>
                    </a:p>
                  </a:txBody>
                  <a:tcPr marR="72000" marT="30000" marB="30000" anchor="ctr">
                    <a:solidFill>
                      <a:srgbClr val="FFFFFF"/>
                    </a:solidFill>
                  </a:tcPr>
                </a:tc>
                <a:tc>
                  <a:txBody>
                    <a:bodyPr/>
                    <a:lstStyle/>
                    <a:p>
                      <a:pPr algn="l"/>
                      <a:r>
                        <a:rPr sz="1100" b="0">
                          <a:solidFill>
                            <a:srgbClr val="555555"/>
                          </a:solidFill>
                          <a:latin typeface="メイリオ"/>
                          <a:ea typeface="メイリオ"/>
                          <a:cs typeface="メイリオ"/>
                        </a:rPr>
                        <a:t>約333人/月</a:t>
                      </a:r>
                    </a:p>
                  </a:txBody>
                  <a:tcPr marR="72000" marT="30000" marB="30000" anchor="ctr">
                    <a:solidFill>
                      <a:srgbClr val="FFFFFF"/>
                    </a:solidFill>
                  </a:tcPr>
                </a:tc>
                <a:tc>
                  <a:txBody>
                    <a:bodyPr/>
                    <a:lstStyle/>
                    <a:p>
                      <a:pPr algn="l"/>
                      <a:r>
                        <a:rPr sz="1100" b="0">
                          <a:solidFill>
                            <a:srgbClr val="555555"/>
                          </a:solidFill>
                          <a:latin typeface="メイリオ"/>
                          <a:ea typeface="メイリオ"/>
                          <a:cs typeface="メイリオ"/>
                        </a:rPr>
                        <a:t>10万円 ÷ 300円</a:t>
                      </a:r>
                    </a:p>
                  </a:txBody>
                  <a:tcPr marR="72000" marT="30000" marB="30000" anchor="ctr">
                    <a:solidFill>
                      <a:srgbClr val="FFFFFF"/>
                    </a:solidFill>
                  </a:tcPr>
                </a:tc>
                <a:extLst>
                  <a:ext uri="{0D108BD9-81ED-4DB2-BD59-A6C34878D82A}">
                    <a16:rowId xmlns:a16="http://schemas.microsoft.com/office/drawing/2014/main" val="10003"/>
                  </a:ext>
                </a:extLst>
              </a:tr>
              <a:tr h="430000">
                <a:tc>
                  <a:txBody>
                    <a:bodyPr/>
                    <a:lstStyle/>
                    <a:p>
                      <a:pPr algn="l"/>
                      <a:r>
                        <a:rPr sz="1100" b="1">
                          <a:solidFill>
                            <a:srgbClr val="1F3A5F"/>
                          </a:solidFill>
                          <a:latin typeface="メイリオ"/>
                          <a:ea typeface="メイリオ"/>
                          <a:cs typeface="メイリオ"/>
                        </a:rPr>
                        <a:t>反応率</a:t>
                      </a:r>
                    </a:p>
                  </a:txBody>
                  <a:tcPr marR="72000" marT="30000" marB="30000" anchor="ctr">
                    <a:solidFill>
                      <a:srgbClr val="F2F5F9"/>
                    </a:solidFill>
                  </a:tcPr>
                </a:tc>
                <a:tc>
                  <a:txBody>
                    <a:bodyPr/>
                    <a:lstStyle/>
                    <a:p>
                      <a:pPr algn="l"/>
                      <a:r>
                        <a:rPr sz="1100" b="0">
                          <a:solidFill>
                            <a:srgbClr val="555555"/>
                          </a:solidFill>
                          <a:latin typeface="メイリオ"/>
                          <a:ea typeface="メイリオ"/>
                          <a:cs typeface="メイリオ"/>
                        </a:rPr>
                        <a:t>20%</a:t>
                      </a:r>
                    </a:p>
                  </a:txBody>
                  <a:tcPr marR="72000" marT="30000" marB="30000" anchor="ctr">
                    <a:solidFill>
                      <a:srgbClr val="F2F5F9"/>
                    </a:solidFill>
                  </a:tcPr>
                </a:tc>
                <a:tc>
                  <a:txBody>
                    <a:bodyPr/>
                    <a:lstStyle/>
                    <a:p>
                      <a:pPr algn="l"/>
                      <a:r>
                        <a:rPr sz="1100" b="0">
                          <a:solidFill>
                            <a:srgbClr val="555555"/>
                          </a:solidFill>
                          <a:latin typeface="メイリオ"/>
                          <a:ea typeface="メイリオ"/>
                          <a:cs typeface="メイリオ"/>
                        </a:rPr>
                        <a:t>30日間で1回以上タップした人の割合</a:t>
                      </a:r>
                    </a:p>
                  </a:txBody>
                  <a:tcPr marR="72000" marT="30000" marB="30000" anchor="ctr">
                    <a:solidFill>
                      <a:srgbClr val="F2F5F9"/>
                    </a:solidFill>
                  </a:tcPr>
                </a:tc>
                <a:extLst>
                  <a:ext uri="{0D108BD9-81ED-4DB2-BD59-A6C34878D82A}">
                    <a16:rowId xmlns:a16="http://schemas.microsoft.com/office/drawing/2014/main" val="10004"/>
                  </a:ext>
                </a:extLst>
              </a:tr>
              <a:tr h="430000">
                <a:tc>
                  <a:txBody>
                    <a:bodyPr/>
                    <a:lstStyle/>
                    <a:p>
                      <a:pPr algn="l"/>
                      <a:r>
                        <a:rPr sz="1100" b="1">
                          <a:solidFill>
                            <a:srgbClr val="1F3A5F"/>
                          </a:solidFill>
                          <a:latin typeface="メイリオ"/>
                          <a:ea typeface="メイリオ"/>
                          <a:cs typeface="メイリオ"/>
                        </a:rPr>
                        <a:t>引き上げ率</a:t>
                      </a:r>
                    </a:p>
                  </a:txBody>
                  <a:tcPr marR="72000" marT="30000" marB="30000" anchor="ctr">
                    <a:solidFill>
                      <a:srgbClr val="FFFFFF"/>
                    </a:solidFill>
                  </a:tcPr>
                </a:tc>
                <a:tc>
                  <a:txBody>
                    <a:bodyPr/>
                    <a:lstStyle/>
                    <a:p>
                      <a:pPr algn="l"/>
                      <a:r>
                        <a:rPr sz="1100" b="0">
                          <a:solidFill>
                            <a:srgbClr val="555555"/>
                          </a:solidFill>
                          <a:latin typeface="メイリオ"/>
                          <a:ea typeface="メイリオ"/>
                          <a:cs typeface="メイリオ"/>
                        </a:rPr>
                        <a:t>5%</a:t>
                      </a:r>
                    </a:p>
                  </a:txBody>
                  <a:tcPr marR="72000" marT="30000" marB="30000" anchor="ctr">
                    <a:solidFill>
                      <a:srgbClr val="FFFFFF"/>
                    </a:solidFill>
                  </a:tcPr>
                </a:tc>
                <a:tc>
                  <a:txBody>
                    <a:bodyPr/>
                    <a:lstStyle/>
                    <a:p>
                      <a:pPr algn="l"/>
                      <a:r>
                        <a:rPr sz="1100" b="0">
                          <a:solidFill>
                            <a:srgbClr val="555555"/>
                          </a:solidFill>
                          <a:latin typeface="メイリオ"/>
                          <a:ea typeface="メイリオ"/>
                          <a:cs typeface="メイリオ"/>
                        </a:rPr>
                        <a:t>反応した人のうち予約した人の割合</a:t>
                      </a:r>
                    </a:p>
                  </a:txBody>
                  <a:tcPr marR="72000" marT="30000" marB="30000" anchor="ctr">
                    <a:solidFill>
                      <a:srgbClr val="FFFFFF"/>
                    </a:solidFill>
                  </a:tcPr>
                </a:tc>
                <a:extLst>
                  <a:ext uri="{0D108BD9-81ED-4DB2-BD59-A6C34878D82A}">
                    <a16:rowId xmlns:a16="http://schemas.microsoft.com/office/drawing/2014/main" val="10005"/>
                  </a:ext>
                </a:extLst>
              </a:tr>
              <a:tr h="430000">
                <a:tc>
                  <a:txBody>
                    <a:bodyPr/>
                    <a:lstStyle/>
                    <a:p>
                      <a:pPr algn="l"/>
                      <a:r>
                        <a:rPr sz="1100" b="1">
                          <a:solidFill>
                            <a:srgbClr val="1F3A5F"/>
                          </a:solidFill>
                          <a:latin typeface="メイリオ"/>
                          <a:ea typeface="メイリオ"/>
                          <a:cs typeface="メイリオ"/>
                        </a:rPr>
                        <a:t>休眠の掘り起こし</a:t>
                      </a:r>
                    </a:p>
                  </a:txBody>
                  <a:tcPr marR="72000" marT="30000" marB="30000" anchor="ctr">
                    <a:solidFill>
                      <a:srgbClr val="F2F5F9"/>
                    </a:solidFill>
                  </a:tcPr>
                </a:tc>
                <a:tc>
                  <a:txBody>
                    <a:bodyPr/>
                    <a:lstStyle/>
                    <a:p>
                      <a:pPr algn="l"/>
                      <a:r>
                        <a:rPr sz="1100" b="1">
                          <a:solidFill>
                            <a:srgbClr val="C00000"/>
                          </a:solidFill>
                          <a:latin typeface="メイリオ"/>
                          <a:ea typeface="メイリオ"/>
                          <a:cs typeface="メイリオ"/>
                        </a:rPr>
                        <a:t>月5件</a:t>
                      </a:r>
                    </a:p>
                  </a:txBody>
                  <a:tcPr marR="72000" marT="30000" marB="30000" anchor="ctr">
                    <a:solidFill>
                      <a:srgbClr val="F2F5F9"/>
                    </a:solidFill>
                  </a:tcPr>
                </a:tc>
                <a:tc>
                  <a:txBody>
                    <a:bodyPr/>
                    <a:lstStyle/>
                    <a:p>
                      <a:pPr algn="l"/>
                      <a:r>
                        <a:rPr sz="1100" b="0">
                          <a:solidFill>
                            <a:srgbClr val="555555"/>
                          </a:solidFill>
                          <a:latin typeface="メイリオ"/>
                          <a:ea typeface="メイリオ"/>
                          <a:cs typeface="メイリオ"/>
                        </a:rPr>
                        <a:t>既存3.5万人のうち約0.014%。かなり控えめな置き方</a:t>
                      </a:r>
                    </a:p>
                  </a:txBody>
                  <a:tcPr marR="72000" marT="30000" marB="30000" anchor="ctr">
                    <a:solidFill>
                      <a:srgbClr val="F2F5F9"/>
                    </a:solidFill>
                  </a:tcPr>
                </a:tc>
                <a:extLst>
                  <a:ext uri="{0D108BD9-81ED-4DB2-BD59-A6C34878D82A}">
                    <a16:rowId xmlns:a16="http://schemas.microsoft.com/office/drawing/2014/main" val="10006"/>
                  </a:ext>
                </a:extLst>
              </a:tr>
            </a:tbl>
          </a:graphicData>
        </a:graphic>
      </p:graphicFrame>
      <p:sp>
        <p:nvSpPr>
          <p:cNvPr id="905" name="Rounded Rectangle 904"/>
          <p:cNvSpPr/>
          <p:nvPr/>
        </p:nvSpPr>
        <p:spPr>
          <a:xfrm>
            <a:off x="384048" y="4740000"/>
            <a:ext cx="9134856" cy="1000000"/>
          </a:xfrm>
          <a:prstGeom prst="roundRect">
            <a:avLst>
              <a:gd name="adj" fmla="val 12000"/>
            </a:avLst>
          </a:prstGeom>
          <a:solidFill>
            <a:srgbClr val="24345A"/>
          </a:solidFill>
          <a:ln>
            <a:noFill/>
          </a:ln>
          <a:effectLst/>
        </p:spPr>
        <p:txBody>
          <a:bodyPr wrap="square" lIns="72000" tIns="36000" rIns="72000" bIns="36000" rtlCol="0" anchor="ctr"/>
          <a:lstStyle/>
          <a:p>
            <a:pPr algn="ctr"/>
            <a:r>
              <a:rPr sz="1200" b="0">
                <a:solidFill>
                  <a:srgbClr val="FFFFFF"/>
                </a:solidFill>
                <a:latin typeface="メイリオ"/>
                <a:ea typeface="メイリオ"/>
                <a:cs typeface="メイリオ"/>
              </a:rPr>
              <a:t>月あたりのCV ＝ 新規友だち × 反応率 × 引き上げ率 ＋ 休眠の掘り起こし</a:t>
            </a:r>
          </a:p>
          <a:p>
            <a:pPr algn="ctr"/>
            <a:r>
              <a:rPr sz="1200" b="0">
                <a:solidFill>
                  <a:srgbClr val="FFFFFF"/>
                </a:solidFill>
                <a:latin typeface="メイリオ"/>
                <a:ea typeface="メイリオ"/>
                <a:cs typeface="メイリオ"/>
              </a:rPr>
              <a:t>＝ 333人 × 20% × 5% ＋ 5件 ＝ 約8.3件（季節性を入れる前の基準値）</a:t>
            </a:r>
          </a:p>
        </p:txBody>
      </p:sp>
      <p:sp>
        <p:nvSpPr>
          <p:cNvPr id="906" name="TextBox 905"/>
          <p:cNvSpPr txBox="1"/>
          <p:nvPr/>
        </p:nvSpPr>
        <p:spPr>
          <a:xfrm>
            <a:off x="384048" y="6100000"/>
            <a:ext cx="9134856" cy="300000"/>
          </a:xfrm>
          <a:prstGeom prst="rect">
            <a:avLst/>
          </a:prstGeom>
          <a:noFill/>
        </p:spPr>
        <p:txBody>
          <a:bodyPr wrap="square" lIns="72000" tIns="36000" rIns="72000" bIns="36000" anchor="t">
            <a:spAutoFit/>
          </a:bodyPr>
          <a:lstStyle/>
          <a:p>
            <a:pPr algn="l"/>
            <a:r>
              <a:rPr sz="900" b="0">
                <a:solidFill>
                  <a:srgbClr val="555555"/>
                </a:solidFill>
                <a:latin typeface="メイリオ"/>
                <a:ea typeface="メイリオ"/>
                <a:cs typeface="メイリオ"/>
              </a:rPr>
              <a:t>※すべて仮置きです。CPF単価・月別の直予約数などの実数をいただき精緻化します。宿泊後のリピート予約は含めていません</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LeadBand"/>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anchor="ctr"/>
          <a:lstStyle/>
          <a:p>
            <a:endParaRPr lang="ja-JP"/>
          </a:p>
        </p:txBody>
      </p:sp>
      <p:cxnSp>
        <p:nvCxnSpPr>
          <p:cNvPr id="901" name="LeadBandLine"/>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902" name="TextBox 901"/>
          <p:cNvSpPr txBox="1"/>
          <p:nvPr/>
        </p:nvSpPr>
        <p:spPr>
          <a:xfrm>
            <a:off x="379976" y="635062"/>
            <a:ext cx="9160881" cy="698492"/>
          </a:xfrm>
          <a:prstGeom prst="rect">
            <a:avLst/>
          </a:prstGeom>
          <a:noFill/>
        </p:spPr>
        <p:txBody>
          <a:bodyPr wrap="square" lIns="72000" tIns="36000" rIns="72000" bIns="36000" anchor="ctr">
            <a:spAutoFit/>
          </a:bodyPr>
          <a:lstStyle/>
          <a:p>
            <a:pPr algn="ctr"/>
            <a:r>
              <a:rPr sz="1200" b="0">
                <a:solidFill>
                  <a:srgbClr val="333333"/>
                </a:solidFill>
                <a:latin typeface="メイリオ"/>
                <a:ea typeface="メイリオ"/>
                <a:cs typeface="メイリオ"/>
              </a:rPr>
              <a:t>12〜1月は仕込み期間、3〜4月のGW予約で刈り取り。半年で約50件の見込みです</a:t>
            </a:r>
          </a:p>
        </p:txBody>
      </p:sp>
      <p:sp>
        <p:nvSpPr>
          <p:cNvPr id="903" name="TextBox 902"/>
          <p:cNvSpPr txBox="1"/>
          <p:nvPr/>
        </p:nvSpPr>
        <p:spPr>
          <a:xfrm>
            <a:off x="548883" y="138118"/>
            <a:ext cx="7900000" cy="338554"/>
          </a:xfrm>
          <a:prstGeom prst="rect">
            <a:avLst/>
          </a:prstGeom>
          <a:noFill/>
        </p:spPr>
        <p:txBody>
          <a:bodyPr wrap="square" lIns="72000" tIns="0" rIns="72000" bIns="0" anchor="ctr">
            <a:spAutoFit/>
          </a:bodyPr>
          <a:lstStyle/>
          <a:p>
            <a:pPr algn="l"/>
            <a:r>
              <a:rPr sz="1600" b="1">
                <a:solidFill>
                  <a:srgbClr val="002060"/>
                </a:solidFill>
                <a:latin typeface="メイリオ"/>
                <a:ea typeface="メイリオ"/>
                <a:cs typeface="メイリオ"/>
              </a:rPr>
              <a:t>月別CV数の見込み（季節性込み）</a:t>
            </a:r>
          </a:p>
        </p:txBody>
      </p:sp>
      <p:graphicFrame>
        <p:nvGraphicFramePr>
          <p:cNvPr id="904" name="Chart 903"/>
          <p:cNvGraphicFramePr>
            <a:graphicFrameLocks noGrp="1"/>
          </p:cNvGraphicFramePr>
          <p:nvPr/>
        </p:nvGraphicFramePr>
        <p:xfrm>
          <a:off x="384048" y="1530000"/>
          <a:ext cx="5600000" cy="3500000"/>
        </p:xfrm>
        <a:graphic>
          <a:graphicData uri="http://schemas.openxmlformats.org/drawingml/2006/chart">
            <c:chart xmlns:c="http://schemas.openxmlformats.org/drawingml/2006/chart" xmlns:r="http://schemas.openxmlformats.org/officeDocument/2006/relationships" r:id="rId2"/>
          </a:graphicData>
        </a:graphic>
      </p:graphicFrame>
      <p:sp>
        <p:nvSpPr>
          <p:cNvPr id="905" name="TextBox 904"/>
          <p:cNvSpPr txBox="1"/>
          <p:nvPr/>
        </p:nvSpPr>
        <p:spPr>
          <a:xfrm>
            <a:off x="384048" y="5050000"/>
            <a:ext cx="5600000" cy="300000"/>
          </a:xfrm>
          <a:prstGeom prst="rect">
            <a:avLst/>
          </a:prstGeom>
          <a:noFill/>
        </p:spPr>
        <p:txBody>
          <a:bodyPr wrap="square" lIns="72000" tIns="36000" rIns="72000" bIns="36000" anchor="t">
            <a:spAutoFit/>
          </a:bodyPr>
          <a:lstStyle/>
          <a:p>
            <a:pPr algn="ctr"/>
            <a:r>
              <a:rPr sz="950" b="0">
                <a:solidFill>
                  <a:srgbClr val="555555"/>
                </a:solidFill>
                <a:latin typeface="メイリオ"/>
                <a:ea typeface="メイリオ"/>
                <a:cs typeface="メイリオ"/>
              </a:rPr>
              <a:t>合計CV：12月 4.7件　1月 6.8件　2月 8.3件　3月 10.8件　4月 10.0件　5月 9.2件</a:t>
            </a:r>
          </a:p>
        </p:txBody>
      </p:sp>
      <p:sp>
        <p:nvSpPr>
          <p:cNvPr id="906" name="Rounded Rectangle 905"/>
          <p:cNvSpPr/>
          <p:nvPr/>
        </p:nvSpPr>
        <p:spPr>
          <a:xfrm>
            <a:off x="6184048" y="1530000"/>
            <a:ext cx="3334856" cy="1350000"/>
          </a:xfrm>
          <a:prstGeom prst="roundRect">
            <a:avLst>
              <a:gd name="adj" fmla="val 6000"/>
            </a:avLst>
          </a:prstGeom>
          <a:solidFill>
            <a:srgbClr val="EEF1F5"/>
          </a:solidFill>
          <a:ln w="12700">
            <a:solidFill>
              <a:srgbClr val="7F8896"/>
            </a:solidFill>
          </a:ln>
          <a:effectLst/>
        </p:spPr>
        <p:txBody>
          <a:bodyPr rtlCol="0" anchor="ctr"/>
          <a:lstStyle/>
          <a:p>
            <a:pPr algn="ctr"/>
            <a:endParaRPr/>
          </a:p>
        </p:txBody>
      </p:sp>
      <p:sp>
        <p:nvSpPr>
          <p:cNvPr id="907" name="TextBox 906"/>
          <p:cNvSpPr txBox="1"/>
          <p:nvPr/>
        </p:nvSpPr>
        <p:spPr>
          <a:xfrm>
            <a:off x="6184048" y="1610000"/>
            <a:ext cx="3334856" cy="1200000"/>
          </a:xfrm>
          <a:prstGeom prst="rect">
            <a:avLst/>
          </a:prstGeom>
          <a:noFill/>
        </p:spPr>
        <p:txBody>
          <a:bodyPr wrap="square" lIns="72000" tIns="36000" rIns="72000" bIns="36000" anchor="ctr">
            <a:spAutoFit/>
          </a:bodyPr>
          <a:lstStyle/>
          <a:p>
            <a:pPr algn="ctr"/>
            <a:r>
              <a:rPr sz="1200" b="1">
                <a:solidFill>
                  <a:srgbClr val="1F3A5F"/>
                </a:solidFill>
                <a:latin typeface="メイリオ"/>
                <a:ea typeface="メイリオ"/>
                <a:cs typeface="メイリオ"/>
              </a:rPr>
              <a:t>6ヶ月合計（中位ケース）</a:t>
            </a:r>
          </a:p>
          <a:p>
            <a:pPr algn="ctr"/>
            <a:r>
              <a:rPr sz="1400" b="1">
                <a:solidFill>
                  <a:srgbClr val="C00000"/>
                </a:solidFill>
                <a:latin typeface="メイリオ"/>
                <a:ea typeface="メイリオ"/>
                <a:cs typeface="メイリオ"/>
              </a:rPr>
              <a:t>約</a:t>
            </a:r>
            <a:r>
              <a:rPr sz="3000" b="1">
                <a:solidFill>
                  <a:srgbClr val="C00000"/>
                </a:solidFill>
                <a:latin typeface="メイリオ"/>
                <a:ea typeface="メイリオ"/>
                <a:cs typeface="メイリオ"/>
              </a:rPr>
              <a:t>50</a:t>
            </a:r>
            <a:r>
              <a:rPr sz="1400" b="1">
                <a:solidFill>
                  <a:srgbClr val="C00000"/>
                </a:solidFill>
                <a:latin typeface="メイリオ"/>
                <a:ea typeface="メイリオ"/>
                <a:cs typeface="メイリオ"/>
              </a:rPr>
              <a:t>件</a:t>
            </a:r>
          </a:p>
          <a:p>
            <a:pPr algn="ctr"/>
            <a:r>
              <a:rPr sz="1050" b="0">
                <a:solidFill>
                  <a:srgbClr val="333333"/>
                </a:solidFill>
                <a:latin typeface="メイリオ"/>
                <a:ea typeface="メイリオ"/>
                <a:cs typeface="メイリオ"/>
              </a:rPr>
              <a:t>休眠 約30件＋新規 約20件</a:t>
            </a:r>
          </a:p>
        </p:txBody>
      </p:sp>
      <p:graphicFrame>
        <p:nvGraphicFramePr>
          <p:cNvPr id="908" name="Table 907"/>
          <p:cNvGraphicFramePr>
            <a:graphicFrameLocks noGrp="1"/>
          </p:cNvGraphicFramePr>
          <p:nvPr/>
        </p:nvGraphicFramePr>
        <p:xfrm>
          <a:off x="6184048" y="3030000"/>
          <a:ext cx="3334854" cy="1520000"/>
        </p:xfrm>
        <a:graphic>
          <a:graphicData uri="http://schemas.openxmlformats.org/drawingml/2006/table">
            <a:tbl>
              <a:tblPr>
                <a:tableStyleId>{5940675A-B579-460E-94D1-54222C63F5DA}</a:tableStyleId>
              </a:tblPr>
              <a:tblGrid>
                <a:gridCol w="650703">
                  <a:extLst>
                    <a:ext uri="{9D8B030D-6E8A-4147-A177-3AD203B41FA5}">
                      <a16:colId xmlns:a16="http://schemas.microsoft.com/office/drawing/2014/main" val="20000"/>
                    </a:ext>
                  </a:extLst>
                </a:gridCol>
                <a:gridCol w="1789434">
                  <a:extLst>
                    <a:ext uri="{9D8B030D-6E8A-4147-A177-3AD203B41FA5}">
                      <a16:colId xmlns:a16="http://schemas.microsoft.com/office/drawing/2014/main" val="20001"/>
                    </a:ext>
                  </a:extLst>
                </a:gridCol>
                <a:gridCol w="894717">
                  <a:extLst>
                    <a:ext uri="{9D8B030D-6E8A-4147-A177-3AD203B41FA5}">
                      <a16:colId xmlns:a16="http://schemas.microsoft.com/office/drawing/2014/main" val="20002"/>
                    </a:ext>
                  </a:extLst>
                </a:gridCol>
              </a:tblGrid>
              <a:tr h="380000">
                <a:tc>
                  <a:txBody>
                    <a:bodyPr/>
                    <a:lstStyle/>
                    <a:p>
                      <a:pPr algn="l"/>
                      <a:r>
                        <a:rPr sz="950" b="1">
                          <a:solidFill>
                            <a:srgbClr val="FFFFFF"/>
                          </a:solidFill>
                          <a:latin typeface="メイリオ"/>
                          <a:ea typeface="メイリオ"/>
                          <a:cs typeface="メイリオ"/>
                        </a:rPr>
                        <a:t>パターン</a:t>
                      </a:r>
                    </a:p>
                  </a:txBody>
                  <a:tcPr marR="72000" marT="30000" marB="30000" anchor="ctr">
                    <a:solidFill>
                      <a:srgbClr val="24345A"/>
                    </a:solidFill>
                  </a:tcPr>
                </a:tc>
                <a:tc>
                  <a:txBody>
                    <a:bodyPr/>
                    <a:lstStyle/>
                    <a:p>
                      <a:pPr algn="l"/>
                      <a:r>
                        <a:rPr sz="950" b="1">
                          <a:solidFill>
                            <a:srgbClr val="FFFFFF"/>
                          </a:solidFill>
                          <a:latin typeface="メイリオ"/>
                          <a:ea typeface="メイリオ"/>
                          <a:cs typeface="メイリオ"/>
                        </a:rPr>
                        <a:t>前提</a:t>
                      </a:r>
                    </a:p>
                  </a:txBody>
                  <a:tcPr marR="72000" marT="30000" marB="30000" anchor="ctr">
                    <a:solidFill>
                      <a:srgbClr val="24345A"/>
                    </a:solidFill>
                  </a:tcPr>
                </a:tc>
                <a:tc>
                  <a:txBody>
                    <a:bodyPr/>
                    <a:lstStyle/>
                    <a:p>
                      <a:pPr algn="l"/>
                      <a:r>
                        <a:rPr sz="950" b="1">
                          <a:solidFill>
                            <a:srgbClr val="FFFFFF"/>
                          </a:solidFill>
                          <a:latin typeface="メイリオ"/>
                          <a:ea typeface="メイリオ"/>
                          <a:cs typeface="メイリオ"/>
                        </a:rPr>
                        <a:t>6ヶ月計</a:t>
                      </a:r>
                    </a:p>
                  </a:txBody>
                  <a:tcPr marR="72000" marT="30000" marB="30000" anchor="ctr">
                    <a:solidFill>
                      <a:srgbClr val="24345A"/>
                    </a:solidFill>
                  </a:tcPr>
                </a:tc>
                <a:extLst>
                  <a:ext uri="{0D108BD9-81ED-4DB2-BD59-A6C34878D82A}">
                    <a16:rowId xmlns:a16="http://schemas.microsoft.com/office/drawing/2014/main" val="10000"/>
                  </a:ext>
                </a:extLst>
              </a:tr>
              <a:tr h="380000">
                <a:tc>
                  <a:txBody>
                    <a:bodyPr/>
                    <a:lstStyle/>
                    <a:p>
                      <a:pPr algn="l"/>
                      <a:r>
                        <a:rPr sz="950" b="1">
                          <a:solidFill>
                            <a:srgbClr val="1F3A5F"/>
                          </a:solidFill>
                          <a:latin typeface="メイリオ"/>
                          <a:ea typeface="メイリオ"/>
                          <a:cs typeface="メイリオ"/>
                        </a:rPr>
                        <a:t>低</a:t>
                      </a:r>
                    </a:p>
                  </a:txBody>
                  <a:tcPr marR="72000" marT="30000" marB="30000" anchor="ctr">
                    <a:solidFill>
                      <a:srgbClr val="FFFFFF"/>
                    </a:solidFill>
                  </a:tcPr>
                </a:tc>
                <a:tc>
                  <a:txBody>
                    <a:bodyPr/>
                    <a:lstStyle/>
                    <a:p>
                      <a:pPr algn="l"/>
                      <a:r>
                        <a:rPr sz="950" b="0">
                          <a:solidFill>
                            <a:srgbClr val="555555"/>
                          </a:solidFill>
                          <a:latin typeface="メイリオ"/>
                          <a:ea typeface="メイリオ"/>
                          <a:cs typeface="メイリオ"/>
                        </a:rPr>
                        <a:t>単価400円・引上げ3%</a:t>
                      </a:r>
                    </a:p>
                  </a:txBody>
                  <a:tcPr marR="72000" marT="30000" marB="30000" anchor="ctr">
                    <a:solidFill>
                      <a:srgbClr val="FFFFFF"/>
                    </a:solidFill>
                  </a:tcPr>
                </a:tc>
                <a:tc>
                  <a:txBody>
                    <a:bodyPr/>
                    <a:lstStyle/>
                    <a:p>
                      <a:pPr algn="l"/>
                      <a:r>
                        <a:rPr sz="950" b="0">
                          <a:solidFill>
                            <a:srgbClr val="555555"/>
                          </a:solidFill>
                          <a:latin typeface="メイリオ"/>
                          <a:ea typeface="メイリオ"/>
                          <a:cs typeface="メイリオ"/>
                        </a:rPr>
                        <a:t>約39件</a:t>
                      </a:r>
                    </a:p>
                  </a:txBody>
                  <a:tcPr marR="72000" marT="30000" marB="30000" anchor="ctr">
                    <a:solidFill>
                      <a:srgbClr val="FFFFFF"/>
                    </a:solidFill>
                  </a:tcPr>
                </a:tc>
                <a:extLst>
                  <a:ext uri="{0D108BD9-81ED-4DB2-BD59-A6C34878D82A}">
                    <a16:rowId xmlns:a16="http://schemas.microsoft.com/office/drawing/2014/main" val="10001"/>
                  </a:ext>
                </a:extLst>
              </a:tr>
              <a:tr h="380000">
                <a:tc>
                  <a:txBody>
                    <a:bodyPr/>
                    <a:lstStyle/>
                    <a:p>
                      <a:pPr algn="l"/>
                      <a:r>
                        <a:rPr sz="950" b="1">
                          <a:solidFill>
                            <a:srgbClr val="1F3A5F"/>
                          </a:solidFill>
                          <a:latin typeface="メイリオ"/>
                          <a:ea typeface="メイリオ"/>
                          <a:cs typeface="メイリオ"/>
                        </a:rPr>
                        <a:t>中</a:t>
                      </a:r>
                    </a:p>
                  </a:txBody>
                  <a:tcPr marR="72000" marT="30000" marB="30000" anchor="ctr">
                    <a:solidFill>
                      <a:srgbClr val="F2F5F9"/>
                    </a:solidFill>
                  </a:tcPr>
                </a:tc>
                <a:tc>
                  <a:txBody>
                    <a:bodyPr/>
                    <a:lstStyle/>
                    <a:p>
                      <a:pPr algn="l"/>
                      <a:r>
                        <a:rPr sz="950" b="0">
                          <a:solidFill>
                            <a:srgbClr val="555555"/>
                          </a:solidFill>
                          <a:latin typeface="メイリオ"/>
                          <a:ea typeface="メイリオ"/>
                          <a:cs typeface="メイリオ"/>
                        </a:rPr>
                        <a:t>単価300円・引上げ5%</a:t>
                      </a:r>
                    </a:p>
                  </a:txBody>
                  <a:tcPr marR="72000" marT="30000" marB="30000" anchor="ctr">
                    <a:solidFill>
                      <a:srgbClr val="F2F5F9"/>
                    </a:solidFill>
                  </a:tcPr>
                </a:tc>
                <a:tc>
                  <a:txBody>
                    <a:bodyPr/>
                    <a:lstStyle/>
                    <a:p>
                      <a:pPr algn="l"/>
                      <a:r>
                        <a:rPr sz="950" b="1">
                          <a:solidFill>
                            <a:srgbClr val="C00000"/>
                          </a:solidFill>
                          <a:latin typeface="メイリオ"/>
                          <a:ea typeface="メイリオ"/>
                          <a:cs typeface="メイリオ"/>
                        </a:rPr>
                        <a:t>約50件</a:t>
                      </a:r>
                    </a:p>
                  </a:txBody>
                  <a:tcPr marR="72000" marT="30000" marB="30000" anchor="ctr">
                    <a:solidFill>
                      <a:srgbClr val="F2F5F9"/>
                    </a:solidFill>
                  </a:tcPr>
                </a:tc>
                <a:extLst>
                  <a:ext uri="{0D108BD9-81ED-4DB2-BD59-A6C34878D82A}">
                    <a16:rowId xmlns:a16="http://schemas.microsoft.com/office/drawing/2014/main" val="10002"/>
                  </a:ext>
                </a:extLst>
              </a:tr>
              <a:tr h="380000">
                <a:tc>
                  <a:txBody>
                    <a:bodyPr/>
                    <a:lstStyle/>
                    <a:p>
                      <a:pPr algn="l"/>
                      <a:r>
                        <a:rPr sz="950" b="1">
                          <a:solidFill>
                            <a:srgbClr val="1F3A5F"/>
                          </a:solidFill>
                          <a:latin typeface="メイリオ"/>
                          <a:ea typeface="メイリオ"/>
                          <a:cs typeface="メイリオ"/>
                        </a:rPr>
                        <a:t>高</a:t>
                      </a:r>
                    </a:p>
                  </a:txBody>
                  <a:tcPr marR="72000" marT="30000" marB="30000" anchor="ctr">
                    <a:solidFill>
                      <a:srgbClr val="FFFFFF"/>
                    </a:solidFill>
                  </a:tcPr>
                </a:tc>
                <a:tc>
                  <a:txBody>
                    <a:bodyPr/>
                    <a:lstStyle/>
                    <a:p>
                      <a:pPr algn="l"/>
                      <a:r>
                        <a:rPr sz="950" b="0">
                          <a:solidFill>
                            <a:srgbClr val="555555"/>
                          </a:solidFill>
                          <a:latin typeface="メイリオ"/>
                          <a:ea typeface="メイリオ"/>
                          <a:cs typeface="メイリオ"/>
                        </a:rPr>
                        <a:t>単価200円・引上げ5%</a:t>
                      </a:r>
                    </a:p>
                  </a:txBody>
                  <a:tcPr marR="72000" marT="30000" marB="30000" anchor="ctr">
                    <a:solidFill>
                      <a:srgbClr val="FFFFFF"/>
                    </a:solidFill>
                  </a:tcPr>
                </a:tc>
                <a:tc>
                  <a:txBody>
                    <a:bodyPr/>
                    <a:lstStyle/>
                    <a:p>
                      <a:pPr algn="l"/>
                      <a:r>
                        <a:rPr sz="950" b="0">
                          <a:solidFill>
                            <a:srgbClr val="555555"/>
                          </a:solidFill>
                          <a:latin typeface="メイリオ"/>
                          <a:ea typeface="メイリオ"/>
                          <a:cs typeface="メイリオ"/>
                        </a:rPr>
                        <a:t>約60件</a:t>
                      </a:r>
                    </a:p>
                  </a:txBody>
                  <a:tcPr marR="72000" marT="30000" marB="30000" anchor="ctr">
                    <a:solidFill>
                      <a:srgbClr val="FFFFFF"/>
                    </a:solidFill>
                  </a:tcPr>
                </a:tc>
                <a:extLst>
                  <a:ext uri="{0D108BD9-81ED-4DB2-BD59-A6C34878D82A}">
                    <a16:rowId xmlns:a16="http://schemas.microsoft.com/office/drawing/2014/main" val="10003"/>
                  </a:ext>
                </a:extLst>
              </a:tr>
            </a:tbl>
          </a:graphicData>
        </a:graphic>
      </p:graphicFrame>
      <p:sp>
        <p:nvSpPr>
          <p:cNvPr id="909" name="TextBox 908"/>
          <p:cNvSpPr txBox="1"/>
          <p:nvPr/>
        </p:nvSpPr>
        <p:spPr>
          <a:xfrm>
            <a:off x="6184048" y="4630000"/>
            <a:ext cx="3334856" cy="900000"/>
          </a:xfrm>
          <a:prstGeom prst="rect">
            <a:avLst/>
          </a:prstGeom>
          <a:noFill/>
        </p:spPr>
        <p:txBody>
          <a:bodyPr wrap="square" lIns="72000" tIns="36000" rIns="72000" bIns="36000" anchor="t">
            <a:spAutoFit/>
          </a:bodyPr>
          <a:lstStyle/>
          <a:p>
            <a:pPr algn="l"/>
            <a:r>
              <a:rPr sz="900" b="0">
                <a:solidFill>
                  <a:srgbClr val="555555"/>
                </a:solidFill>
                <a:latin typeface="メイリオ"/>
                <a:ea typeface="メイリオ"/>
                <a:cs typeface="メイリオ"/>
              </a:rPr>
              <a:t>季節係数：12月0.8／1月0.9／2月1.0／3月1.3／4月1.2／5月1.1</a:t>
            </a:r>
          </a:p>
          <a:p>
            <a:pPr algn="l"/>
            <a:r>
              <a:rPr sz="900" b="0">
                <a:solidFill>
                  <a:srgbClr val="555555"/>
                </a:solidFill>
                <a:latin typeface="メイリオ"/>
                <a:ea typeface="メイリオ"/>
                <a:cs typeface="メイリオ"/>
              </a:rPr>
              <a:t>立ち上がり係数：12月0.7／1月0.9／2月以降1.0</a:t>
            </a:r>
          </a:p>
          <a:p>
            <a:pPr algn="l"/>
            <a:r>
              <a:rPr sz="900" b="0">
                <a:solidFill>
                  <a:srgbClr val="555555"/>
                </a:solidFill>
                <a:latin typeface="メイリオ"/>
                <a:ea typeface="メイリオ"/>
                <a:cs typeface="メイリオ"/>
              </a:rPr>
              <a:t>（根拠はP.30）</a:t>
            </a:r>
          </a:p>
        </p:txBody>
      </p:sp>
      <p:sp>
        <p:nvSpPr>
          <p:cNvPr id="910" name="Rounded Rectangle 909"/>
          <p:cNvSpPr/>
          <p:nvPr/>
        </p:nvSpPr>
        <p:spPr>
          <a:xfrm>
            <a:off x="384048" y="5530000"/>
            <a:ext cx="9134856" cy="450000"/>
          </a:xfrm>
          <a:prstGeom prst="roundRect">
            <a:avLst>
              <a:gd name="adj" fmla="val 12000"/>
            </a:avLst>
          </a:prstGeom>
          <a:solidFill>
            <a:srgbClr val="24345A"/>
          </a:solidFill>
          <a:ln>
            <a:noFill/>
          </a:ln>
          <a:effectLst/>
        </p:spPr>
        <p:txBody>
          <a:bodyPr wrap="square" lIns="72000" tIns="36000" rIns="72000" bIns="36000" rtlCol="0" anchor="ctr"/>
          <a:lstStyle/>
          <a:p>
            <a:pPr algn="ctr"/>
            <a:r>
              <a:rPr sz="1200" b="0">
                <a:solidFill>
                  <a:srgbClr val="FFFFFF"/>
                </a:solidFill>
                <a:latin typeface="メイリオ"/>
                <a:ea typeface="メイリオ"/>
                <a:cs typeface="メイリオ"/>
              </a:rPr>
              <a:t>12月に入った友だちが、GWの予約で回収される流れです</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883" y="138118"/>
            <a:ext cx="7900000" cy="338554"/>
          </a:xfrm>
          <a:prstGeom prst="rect">
            <a:avLst/>
          </a:prstGeom>
          <a:noFill/>
        </p:spPr>
        <p:txBody>
          <a:bodyPr wrap="square" lIns="72000" tIns="0" rIns="72000" bIns="0" anchor="ctr">
            <a:spAutoFit/>
          </a:bodyPr>
          <a:lstStyle/>
          <a:p>
            <a:pPr algn="l"/>
            <a:r>
              <a:rPr sz="1600" b="1">
                <a:solidFill>
                  <a:srgbClr val="002060"/>
                </a:solidFill>
                <a:latin typeface="メイリオ"/>
                <a:ea typeface="メイリオ"/>
                <a:cs typeface="メイリオ"/>
              </a:rPr>
              <a:t>資料アジェンダ</a:t>
            </a:r>
          </a:p>
        </p:txBody>
      </p:sp>
      <p:sp>
        <p:nvSpPr>
          <p:cNvPr id="3" name="TextBox 2"/>
          <p:cNvSpPr txBox="1"/>
          <p:nvPr/>
        </p:nvSpPr>
        <p:spPr>
          <a:xfrm>
            <a:off x="384048" y="2350000"/>
            <a:ext cx="9134856" cy="360000"/>
          </a:xfrm>
          <a:prstGeom prst="rect">
            <a:avLst/>
          </a:prstGeom>
          <a:noFill/>
        </p:spPr>
        <p:txBody>
          <a:bodyPr wrap="square" lIns="72000" tIns="36000" rIns="72000" bIns="36000" anchor="ctr">
            <a:spAutoFit/>
          </a:bodyPr>
          <a:lstStyle/>
          <a:p>
            <a:pPr algn="ctr"/>
            <a:r>
              <a:rPr sz="1200" b="1">
                <a:solidFill>
                  <a:srgbClr val="7F8896"/>
                </a:solidFill>
                <a:latin typeface="メイリオ"/>
                <a:ea typeface="メイリオ"/>
                <a:cs typeface="メイリオ"/>
              </a:rPr>
              <a:t>SECTION 4</a:t>
            </a:r>
          </a:p>
        </p:txBody>
      </p:sp>
      <p:sp>
        <p:nvSpPr>
          <p:cNvPr id="4" name="TextBox 3"/>
          <p:cNvSpPr txBox="1"/>
          <p:nvPr/>
        </p:nvSpPr>
        <p:spPr>
          <a:xfrm>
            <a:off x="384048" y="2750000"/>
            <a:ext cx="9134856" cy="700000"/>
          </a:xfrm>
          <a:prstGeom prst="rect">
            <a:avLst/>
          </a:prstGeom>
          <a:noFill/>
        </p:spPr>
        <p:txBody>
          <a:bodyPr wrap="square" lIns="72000" tIns="36000" rIns="72000" bIns="36000" anchor="ctr">
            <a:spAutoFit/>
          </a:bodyPr>
          <a:lstStyle/>
          <a:p>
            <a:pPr algn="ctr"/>
            <a:r>
              <a:rPr sz="3200" b="1">
                <a:solidFill>
                  <a:srgbClr val="404040"/>
                </a:solidFill>
                <a:latin typeface="メイリオ"/>
                <a:ea typeface="メイリオ"/>
                <a:cs typeface="メイリオ"/>
              </a:rPr>
              <a:t>サポート体制</a:t>
            </a:r>
          </a:p>
        </p:txBody>
      </p:sp>
      <p:sp>
        <p:nvSpPr>
          <p:cNvPr id="5" name="TextBox 4"/>
          <p:cNvSpPr txBox="1"/>
          <p:nvPr/>
        </p:nvSpPr>
        <p:spPr>
          <a:xfrm>
            <a:off x="384048" y="3500000"/>
            <a:ext cx="9134856" cy="400000"/>
          </a:xfrm>
          <a:prstGeom prst="rect">
            <a:avLst/>
          </a:prstGeom>
          <a:noFill/>
        </p:spPr>
        <p:txBody>
          <a:bodyPr wrap="square" lIns="72000" tIns="36000" rIns="72000" bIns="36000" anchor="ctr">
            <a:spAutoFit/>
          </a:bodyPr>
          <a:lstStyle/>
          <a:p>
            <a:pPr algn="ctr"/>
            <a:r>
              <a:rPr sz="1300" b="0">
                <a:solidFill>
                  <a:srgbClr val="7F7F7F"/>
                </a:solidFill>
                <a:latin typeface="メイリオ"/>
                <a:ea typeface="メイリオ"/>
                <a:cs typeface="メイリオ"/>
              </a:rPr>
              <a:t>体制・報告と連絡・スケジュール</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LeadBand"/>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anchor="ctr"/>
          <a:lstStyle/>
          <a:p>
            <a:endParaRPr lang="ja-JP"/>
          </a:p>
        </p:txBody>
      </p:sp>
      <p:cxnSp>
        <p:nvCxnSpPr>
          <p:cNvPr id="901" name="LeadBandLine"/>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902" name="TextBox 901"/>
          <p:cNvSpPr txBox="1"/>
          <p:nvPr/>
        </p:nvSpPr>
        <p:spPr>
          <a:xfrm>
            <a:off x="379976" y="635062"/>
            <a:ext cx="9160881" cy="698492"/>
          </a:xfrm>
          <a:prstGeom prst="rect">
            <a:avLst/>
          </a:prstGeom>
          <a:noFill/>
        </p:spPr>
        <p:txBody>
          <a:bodyPr wrap="square" lIns="72000" tIns="36000" rIns="72000" bIns="36000" anchor="ctr">
            <a:spAutoFit/>
          </a:bodyPr>
          <a:lstStyle/>
          <a:p>
            <a:pPr algn="ctr"/>
            <a:r>
              <a:rPr sz="1200" b="0">
                <a:solidFill>
                  <a:srgbClr val="333333"/>
                </a:solidFill>
                <a:latin typeface="メイリオ"/>
                <a:ea typeface="メイリオ"/>
                <a:cs typeface="メイリオ"/>
              </a:rPr>
              <a:t>窓口を一本化し、広告運用・LINE運用・制作の担当がチームで対応します</a:t>
            </a:r>
          </a:p>
        </p:txBody>
      </p:sp>
      <p:sp>
        <p:nvSpPr>
          <p:cNvPr id="903" name="TextBox 902"/>
          <p:cNvSpPr txBox="1"/>
          <p:nvPr/>
        </p:nvSpPr>
        <p:spPr>
          <a:xfrm>
            <a:off x="548883" y="138118"/>
            <a:ext cx="7900000" cy="338554"/>
          </a:xfrm>
          <a:prstGeom prst="rect">
            <a:avLst/>
          </a:prstGeom>
          <a:noFill/>
        </p:spPr>
        <p:txBody>
          <a:bodyPr wrap="square" lIns="72000" tIns="0" rIns="72000" bIns="0" anchor="ctr">
            <a:spAutoFit/>
          </a:bodyPr>
          <a:lstStyle/>
          <a:p>
            <a:pPr algn="l"/>
            <a:r>
              <a:rPr sz="1600" b="1">
                <a:solidFill>
                  <a:srgbClr val="002060"/>
                </a:solidFill>
                <a:latin typeface="メイリオ"/>
                <a:ea typeface="メイリオ"/>
                <a:cs typeface="メイリオ"/>
              </a:rPr>
              <a:t>体制図（イメージ）</a:t>
            </a:r>
          </a:p>
        </p:txBody>
      </p:sp>
      <p:sp>
        <p:nvSpPr>
          <p:cNvPr id="904" name="Rounded Rectangle 903"/>
          <p:cNvSpPr/>
          <p:nvPr/>
        </p:nvSpPr>
        <p:spPr>
          <a:xfrm>
            <a:off x="3351476" y="1530000"/>
            <a:ext cx="3200000" cy="520000"/>
          </a:xfrm>
          <a:prstGeom prst="roundRect">
            <a:avLst>
              <a:gd name="adj" fmla="val 12000"/>
            </a:avLst>
          </a:prstGeom>
          <a:solidFill>
            <a:srgbClr val="24345A"/>
          </a:solidFill>
          <a:ln>
            <a:noFill/>
          </a:ln>
          <a:effectLst/>
        </p:spPr>
        <p:txBody>
          <a:bodyPr wrap="square" lIns="72000" tIns="36000" rIns="72000" bIns="36000" rtlCol="0" anchor="ctr"/>
          <a:lstStyle/>
          <a:p>
            <a:pPr algn="ctr"/>
            <a:r>
              <a:rPr sz="1300" b="1">
                <a:solidFill>
                  <a:srgbClr val="FFFFFF"/>
                </a:solidFill>
                <a:latin typeface="メイリオ"/>
                <a:ea typeface="メイリオ"/>
                <a:cs typeface="メイリオ"/>
              </a:rPr>
              <a:t>お宿ねっと様（ご担当者様）</a:t>
            </a:r>
          </a:p>
        </p:txBody>
      </p:sp>
      <p:sp>
        <p:nvSpPr>
          <p:cNvPr id="905" name="Down Arrow 904"/>
          <p:cNvSpPr/>
          <p:nvPr/>
        </p:nvSpPr>
        <p:spPr>
          <a:xfrm>
            <a:off x="4801476" y="2090000"/>
            <a:ext cx="300000" cy="220000"/>
          </a:xfrm>
          <a:prstGeom prst="downArrow">
            <a:avLst/>
          </a:prstGeom>
          <a:solidFill>
            <a:srgbClr val="24345A"/>
          </a:solidFill>
          <a:ln>
            <a:noFill/>
          </a:ln>
          <a:effectLst/>
        </p:spPr>
        <p:txBody>
          <a:bodyPr rtlCol="0" anchor="ctr"/>
          <a:lstStyle/>
          <a:p>
            <a:pPr algn="ctr"/>
            <a:endParaRPr/>
          </a:p>
        </p:txBody>
      </p:sp>
      <p:sp>
        <p:nvSpPr>
          <p:cNvPr id="906" name="Rounded Rectangle 905"/>
          <p:cNvSpPr/>
          <p:nvPr/>
        </p:nvSpPr>
        <p:spPr>
          <a:xfrm>
            <a:off x="2951476" y="2350000"/>
            <a:ext cx="4000000" cy="820000"/>
          </a:xfrm>
          <a:prstGeom prst="roundRect">
            <a:avLst>
              <a:gd name="adj" fmla="val 8000"/>
            </a:avLst>
          </a:prstGeom>
          <a:solidFill>
            <a:srgbClr val="EEF1F5"/>
          </a:solidFill>
          <a:ln w="12700">
            <a:solidFill>
              <a:srgbClr val="7F8896"/>
            </a:solidFill>
          </a:ln>
          <a:effectLst/>
        </p:spPr>
        <p:txBody>
          <a:bodyPr rtlCol="0" anchor="ctr"/>
          <a:lstStyle/>
          <a:p>
            <a:pPr algn="ctr"/>
            <a:endParaRPr/>
          </a:p>
        </p:txBody>
      </p:sp>
      <p:sp>
        <p:nvSpPr>
          <p:cNvPr id="907" name="Rounded Rectangle 906"/>
          <p:cNvSpPr/>
          <p:nvPr/>
        </p:nvSpPr>
        <p:spPr>
          <a:xfrm>
            <a:off x="2951476" y="2350000"/>
            <a:ext cx="4000000" cy="330000"/>
          </a:xfrm>
          <a:prstGeom prst="roundRect">
            <a:avLst>
              <a:gd name="adj" fmla="val 20000"/>
            </a:avLst>
          </a:prstGeom>
          <a:solidFill>
            <a:srgbClr val="06C755"/>
          </a:solidFill>
          <a:ln>
            <a:noFill/>
          </a:ln>
          <a:effectLst/>
        </p:spPr>
        <p:txBody>
          <a:bodyPr wrap="square" lIns="72000" tIns="36000" rIns="72000" bIns="36000" rtlCol="0" anchor="ctr"/>
          <a:lstStyle/>
          <a:p>
            <a:pPr algn="ctr"/>
            <a:r>
              <a:rPr sz="1200" b="1">
                <a:solidFill>
                  <a:srgbClr val="FFFFFF"/>
                </a:solidFill>
                <a:latin typeface="メイリオ"/>
                <a:ea typeface="メイリオ"/>
                <a:cs typeface="メイリオ"/>
              </a:rPr>
              <a:t>営業・フロント（窓口）</a:t>
            </a:r>
          </a:p>
        </p:txBody>
      </p:sp>
      <p:sp>
        <p:nvSpPr>
          <p:cNvPr id="908" name="TextBox 907"/>
          <p:cNvSpPr txBox="1"/>
          <p:nvPr/>
        </p:nvSpPr>
        <p:spPr>
          <a:xfrm>
            <a:off x="3001476" y="2700000"/>
            <a:ext cx="3900000" cy="440000"/>
          </a:xfrm>
          <a:prstGeom prst="rect">
            <a:avLst/>
          </a:prstGeom>
          <a:noFill/>
        </p:spPr>
        <p:txBody>
          <a:bodyPr wrap="square" lIns="72000" tIns="36000" rIns="72000" bIns="36000" anchor="ctr">
            <a:spAutoFit/>
          </a:bodyPr>
          <a:lstStyle/>
          <a:p>
            <a:pPr algn="ctr"/>
            <a:r>
              <a:rPr sz="1050" b="0">
                <a:solidFill>
                  <a:srgbClr val="333333"/>
                </a:solidFill>
                <a:latin typeface="メイリオ"/>
                <a:ea typeface="メイリオ"/>
                <a:cs typeface="メイリオ"/>
              </a:rPr>
              <a:t>ご提案・ご契約、定例・レポートのご説明、ご要望の取りまとめ</a:t>
            </a:r>
          </a:p>
        </p:txBody>
      </p:sp>
      <p:cxnSp>
        <p:nvCxnSpPr>
          <p:cNvPr id="909" name="Connector 908"/>
          <p:cNvCxnSpPr/>
          <p:nvPr/>
        </p:nvCxnSpPr>
        <p:spPr>
          <a:xfrm>
            <a:off x="4951476" y="3170000"/>
            <a:ext cx="0" cy="210000"/>
          </a:xfrm>
          <a:prstGeom prst="line">
            <a:avLst/>
          </a:prstGeom>
          <a:ln w="19050">
            <a:solidFill>
              <a:srgbClr val="24345A"/>
            </a:solidFill>
          </a:ln>
        </p:spPr>
        <p:style>
          <a:lnRef idx="2">
            <a:schemeClr val="accent1"/>
          </a:lnRef>
          <a:fillRef idx="0">
            <a:schemeClr val="accent1"/>
          </a:fillRef>
          <a:effectRef idx="1">
            <a:schemeClr val="accent1"/>
          </a:effectRef>
          <a:fontRef idx="minor">
            <a:schemeClr val="tx1"/>
          </a:fontRef>
        </p:style>
      </p:cxnSp>
      <p:cxnSp>
        <p:nvCxnSpPr>
          <p:cNvPr id="910" name="Connector 909"/>
          <p:cNvCxnSpPr/>
          <p:nvPr/>
        </p:nvCxnSpPr>
        <p:spPr>
          <a:xfrm>
            <a:off x="1808988" y="3380000"/>
            <a:ext cx="6284976" cy="0"/>
          </a:xfrm>
          <a:prstGeom prst="line">
            <a:avLst/>
          </a:prstGeom>
          <a:ln w="19050">
            <a:solidFill>
              <a:srgbClr val="24345A"/>
            </a:solidFill>
          </a:ln>
        </p:spPr>
        <p:style>
          <a:lnRef idx="2">
            <a:schemeClr val="accent1"/>
          </a:lnRef>
          <a:fillRef idx="0">
            <a:schemeClr val="accent1"/>
          </a:fillRef>
          <a:effectRef idx="1">
            <a:schemeClr val="accent1"/>
          </a:effectRef>
          <a:fontRef idx="minor">
            <a:schemeClr val="tx1"/>
          </a:fontRef>
        </p:style>
      </p:cxnSp>
      <p:cxnSp>
        <p:nvCxnSpPr>
          <p:cNvPr id="911" name="Connector 910"/>
          <p:cNvCxnSpPr/>
          <p:nvPr/>
        </p:nvCxnSpPr>
        <p:spPr>
          <a:xfrm>
            <a:off x="1808988" y="3380000"/>
            <a:ext cx="0" cy="200000"/>
          </a:xfrm>
          <a:prstGeom prst="line">
            <a:avLst/>
          </a:prstGeom>
          <a:ln w="19050">
            <a:solidFill>
              <a:srgbClr val="24345A"/>
            </a:solidFill>
          </a:ln>
        </p:spPr>
        <p:style>
          <a:lnRef idx="2">
            <a:schemeClr val="accent1"/>
          </a:lnRef>
          <a:fillRef idx="0">
            <a:schemeClr val="accent1"/>
          </a:fillRef>
          <a:effectRef idx="1">
            <a:schemeClr val="accent1"/>
          </a:effectRef>
          <a:fontRef idx="minor">
            <a:schemeClr val="tx1"/>
          </a:fontRef>
        </p:style>
      </p:cxnSp>
      <p:sp>
        <p:nvSpPr>
          <p:cNvPr id="912" name="Rounded Rectangle 911"/>
          <p:cNvSpPr/>
          <p:nvPr/>
        </p:nvSpPr>
        <p:spPr>
          <a:xfrm>
            <a:off x="384048" y="3580000"/>
            <a:ext cx="2849880" cy="1450000"/>
          </a:xfrm>
          <a:prstGeom prst="roundRect">
            <a:avLst>
              <a:gd name="adj" fmla="val 5000"/>
            </a:avLst>
          </a:prstGeom>
          <a:solidFill>
            <a:srgbClr val="EEF1F5"/>
          </a:solidFill>
          <a:ln w="12700">
            <a:solidFill>
              <a:srgbClr val="7F8896"/>
            </a:solidFill>
          </a:ln>
          <a:effectLst/>
        </p:spPr>
        <p:txBody>
          <a:bodyPr rtlCol="0" anchor="ctr"/>
          <a:lstStyle/>
          <a:p>
            <a:pPr algn="ctr"/>
            <a:endParaRPr/>
          </a:p>
        </p:txBody>
      </p:sp>
      <p:sp>
        <p:nvSpPr>
          <p:cNvPr id="913" name="Rounded Rectangle 912"/>
          <p:cNvSpPr/>
          <p:nvPr/>
        </p:nvSpPr>
        <p:spPr>
          <a:xfrm>
            <a:off x="384048" y="3580000"/>
            <a:ext cx="2849880" cy="360000"/>
          </a:xfrm>
          <a:prstGeom prst="roundRect">
            <a:avLst>
              <a:gd name="adj" fmla="val 20000"/>
            </a:avLst>
          </a:prstGeom>
          <a:solidFill>
            <a:srgbClr val="24345A"/>
          </a:solidFill>
          <a:ln>
            <a:noFill/>
          </a:ln>
          <a:effectLst/>
        </p:spPr>
        <p:txBody>
          <a:bodyPr wrap="square" lIns="72000" tIns="36000" rIns="72000" bIns="36000" rtlCol="0" anchor="ctr"/>
          <a:lstStyle/>
          <a:p>
            <a:pPr algn="ctr"/>
            <a:r>
              <a:rPr sz="1200" b="1">
                <a:solidFill>
                  <a:srgbClr val="FFFFFF"/>
                </a:solidFill>
                <a:latin typeface="メイリオ"/>
                <a:ea typeface="メイリオ"/>
                <a:cs typeface="メイリオ"/>
              </a:rPr>
              <a:t>広告運用</a:t>
            </a:r>
          </a:p>
        </p:txBody>
      </p:sp>
      <p:sp>
        <p:nvSpPr>
          <p:cNvPr id="914" name="TextBox 913"/>
          <p:cNvSpPr txBox="1"/>
          <p:nvPr/>
        </p:nvSpPr>
        <p:spPr>
          <a:xfrm>
            <a:off x="444048" y="3990000"/>
            <a:ext cx="2729880" cy="1000000"/>
          </a:xfrm>
          <a:prstGeom prst="rect">
            <a:avLst/>
          </a:prstGeom>
          <a:noFill/>
        </p:spPr>
        <p:txBody>
          <a:bodyPr wrap="square" lIns="72000" tIns="36000" rIns="72000" bIns="36000" anchor="t">
            <a:spAutoFit/>
          </a:bodyPr>
          <a:lstStyle/>
          <a:p>
            <a:pPr algn="l">
              <a:spcAft>
                <a:spcPts val="400"/>
              </a:spcAft>
            </a:pPr>
            <a:r>
              <a:rPr sz="750" b="0">
                <a:solidFill>
                  <a:srgbClr val="1F3A5F"/>
                </a:solidFill>
                <a:latin typeface="メイリオ"/>
                <a:ea typeface="メイリオ"/>
                <a:cs typeface="メイリオ"/>
              </a:rPr>
              <a:t>● </a:t>
            </a:r>
            <a:r>
              <a:rPr sz="1050" b="0">
                <a:solidFill>
                  <a:srgbClr val="333333"/>
                </a:solidFill>
                <a:latin typeface="メイリオ"/>
                <a:ea typeface="メイリオ"/>
                <a:cs typeface="メイリオ"/>
              </a:rPr>
              <a:t>CPF広告の配信・入札・クリエイティブの調整</a:t>
            </a:r>
          </a:p>
          <a:p>
            <a:pPr algn="l">
              <a:spcAft>
                <a:spcPts val="400"/>
              </a:spcAft>
            </a:pPr>
            <a:r>
              <a:rPr sz="750" b="0">
                <a:solidFill>
                  <a:srgbClr val="1F3A5F"/>
                </a:solidFill>
                <a:latin typeface="メイリオ"/>
                <a:ea typeface="メイリオ"/>
                <a:cs typeface="メイリオ"/>
              </a:rPr>
              <a:t>● </a:t>
            </a:r>
            <a:r>
              <a:rPr sz="1050" b="0">
                <a:solidFill>
                  <a:srgbClr val="333333"/>
                </a:solidFill>
                <a:latin typeface="メイリオ"/>
                <a:ea typeface="メイリオ"/>
                <a:cs typeface="メイリオ"/>
              </a:rPr>
              <a:t>友だち追加単価の管理</a:t>
            </a:r>
          </a:p>
        </p:txBody>
      </p:sp>
      <p:cxnSp>
        <p:nvCxnSpPr>
          <p:cNvPr id="915" name="Connector 914"/>
          <p:cNvCxnSpPr/>
          <p:nvPr/>
        </p:nvCxnSpPr>
        <p:spPr>
          <a:xfrm>
            <a:off x="4951476" y="3380000"/>
            <a:ext cx="0" cy="200000"/>
          </a:xfrm>
          <a:prstGeom prst="line">
            <a:avLst/>
          </a:prstGeom>
          <a:ln w="19050">
            <a:solidFill>
              <a:srgbClr val="24345A"/>
            </a:solidFill>
          </a:ln>
        </p:spPr>
        <p:style>
          <a:lnRef idx="2">
            <a:schemeClr val="accent1"/>
          </a:lnRef>
          <a:fillRef idx="0">
            <a:schemeClr val="accent1"/>
          </a:fillRef>
          <a:effectRef idx="1">
            <a:schemeClr val="accent1"/>
          </a:effectRef>
          <a:fontRef idx="minor">
            <a:schemeClr val="tx1"/>
          </a:fontRef>
        </p:style>
      </p:cxnSp>
      <p:sp>
        <p:nvSpPr>
          <p:cNvPr id="916" name="Rounded Rectangle 915"/>
          <p:cNvSpPr/>
          <p:nvPr/>
        </p:nvSpPr>
        <p:spPr>
          <a:xfrm>
            <a:off x="3526536" y="3580000"/>
            <a:ext cx="2849880" cy="1450000"/>
          </a:xfrm>
          <a:prstGeom prst="roundRect">
            <a:avLst>
              <a:gd name="adj" fmla="val 5000"/>
            </a:avLst>
          </a:prstGeom>
          <a:solidFill>
            <a:srgbClr val="EEF1F5"/>
          </a:solidFill>
          <a:ln w="12700">
            <a:solidFill>
              <a:srgbClr val="7F8896"/>
            </a:solidFill>
          </a:ln>
          <a:effectLst/>
        </p:spPr>
        <p:txBody>
          <a:bodyPr rtlCol="0" anchor="ctr"/>
          <a:lstStyle/>
          <a:p>
            <a:pPr algn="ctr"/>
            <a:endParaRPr/>
          </a:p>
        </p:txBody>
      </p:sp>
      <p:sp>
        <p:nvSpPr>
          <p:cNvPr id="917" name="Rounded Rectangle 916"/>
          <p:cNvSpPr/>
          <p:nvPr/>
        </p:nvSpPr>
        <p:spPr>
          <a:xfrm>
            <a:off x="3526536" y="3580000"/>
            <a:ext cx="2849880" cy="360000"/>
          </a:xfrm>
          <a:prstGeom prst="roundRect">
            <a:avLst>
              <a:gd name="adj" fmla="val 20000"/>
            </a:avLst>
          </a:prstGeom>
          <a:solidFill>
            <a:srgbClr val="06C755"/>
          </a:solidFill>
          <a:ln>
            <a:noFill/>
          </a:ln>
          <a:effectLst/>
        </p:spPr>
        <p:txBody>
          <a:bodyPr wrap="square" lIns="72000" tIns="36000" rIns="72000" bIns="36000" rtlCol="0" anchor="ctr"/>
          <a:lstStyle/>
          <a:p>
            <a:pPr algn="ctr"/>
            <a:r>
              <a:rPr sz="1200" b="1">
                <a:solidFill>
                  <a:srgbClr val="FFFFFF"/>
                </a:solidFill>
                <a:latin typeface="メイリオ"/>
                <a:ea typeface="メイリオ"/>
                <a:cs typeface="メイリオ"/>
              </a:rPr>
              <a:t>LINE運用ディレクター</a:t>
            </a:r>
          </a:p>
        </p:txBody>
      </p:sp>
      <p:sp>
        <p:nvSpPr>
          <p:cNvPr id="918" name="TextBox 917"/>
          <p:cNvSpPr txBox="1"/>
          <p:nvPr/>
        </p:nvSpPr>
        <p:spPr>
          <a:xfrm>
            <a:off x="3586536" y="3990000"/>
            <a:ext cx="2729880" cy="1000000"/>
          </a:xfrm>
          <a:prstGeom prst="rect">
            <a:avLst/>
          </a:prstGeom>
          <a:noFill/>
        </p:spPr>
        <p:txBody>
          <a:bodyPr wrap="square" lIns="72000" tIns="36000" rIns="72000" bIns="36000" anchor="t">
            <a:spAutoFit/>
          </a:bodyPr>
          <a:lstStyle/>
          <a:p>
            <a:pPr algn="l">
              <a:spcAft>
                <a:spcPts val="400"/>
              </a:spcAft>
            </a:pPr>
            <a:r>
              <a:rPr sz="750" b="0">
                <a:solidFill>
                  <a:srgbClr val="06C755"/>
                </a:solidFill>
                <a:latin typeface="メイリオ"/>
                <a:ea typeface="メイリオ"/>
                <a:cs typeface="メイリオ"/>
              </a:rPr>
              <a:t>● </a:t>
            </a:r>
            <a:r>
              <a:rPr sz="1050" b="0">
                <a:solidFill>
                  <a:srgbClr val="333333"/>
                </a:solidFill>
                <a:latin typeface="メイリオ"/>
                <a:ea typeface="メイリオ"/>
                <a:cs typeface="メイリオ"/>
              </a:rPr>
              <a:t>ステップ配信・月1企画の設計</a:t>
            </a:r>
          </a:p>
          <a:p>
            <a:pPr algn="l">
              <a:spcAft>
                <a:spcPts val="400"/>
              </a:spcAft>
            </a:pPr>
            <a:r>
              <a:rPr sz="750" b="0">
                <a:solidFill>
                  <a:srgbClr val="06C755"/>
                </a:solidFill>
                <a:latin typeface="メイリオ"/>
                <a:ea typeface="メイリオ"/>
                <a:cs typeface="メイリオ"/>
              </a:rPr>
              <a:t>● </a:t>
            </a:r>
            <a:r>
              <a:rPr sz="1050" b="0">
                <a:solidFill>
                  <a:srgbClr val="333333"/>
                </a:solidFill>
                <a:latin typeface="メイリオ"/>
                <a:ea typeface="メイリオ"/>
                <a:cs typeface="メイリオ"/>
              </a:rPr>
              <a:t>tunaと管理画面の設定、数値分析</a:t>
            </a:r>
          </a:p>
        </p:txBody>
      </p:sp>
      <p:cxnSp>
        <p:nvCxnSpPr>
          <p:cNvPr id="919" name="Connector 918"/>
          <p:cNvCxnSpPr/>
          <p:nvPr/>
        </p:nvCxnSpPr>
        <p:spPr>
          <a:xfrm>
            <a:off x="8093964" y="3380000"/>
            <a:ext cx="0" cy="200000"/>
          </a:xfrm>
          <a:prstGeom prst="line">
            <a:avLst/>
          </a:prstGeom>
          <a:ln w="19050">
            <a:solidFill>
              <a:srgbClr val="24345A"/>
            </a:solidFill>
          </a:ln>
        </p:spPr>
        <p:style>
          <a:lnRef idx="2">
            <a:schemeClr val="accent1"/>
          </a:lnRef>
          <a:fillRef idx="0">
            <a:schemeClr val="accent1"/>
          </a:fillRef>
          <a:effectRef idx="1">
            <a:schemeClr val="accent1"/>
          </a:effectRef>
          <a:fontRef idx="minor">
            <a:schemeClr val="tx1"/>
          </a:fontRef>
        </p:style>
      </p:cxnSp>
      <p:sp>
        <p:nvSpPr>
          <p:cNvPr id="920" name="Rounded Rectangle 919"/>
          <p:cNvSpPr/>
          <p:nvPr/>
        </p:nvSpPr>
        <p:spPr>
          <a:xfrm>
            <a:off x="6669024" y="3580000"/>
            <a:ext cx="2849880" cy="1450000"/>
          </a:xfrm>
          <a:prstGeom prst="roundRect">
            <a:avLst>
              <a:gd name="adj" fmla="val 5000"/>
            </a:avLst>
          </a:prstGeom>
          <a:solidFill>
            <a:srgbClr val="EEF1F5"/>
          </a:solidFill>
          <a:ln w="12700">
            <a:solidFill>
              <a:srgbClr val="7F8896"/>
            </a:solidFill>
          </a:ln>
          <a:effectLst/>
        </p:spPr>
        <p:txBody>
          <a:bodyPr rtlCol="0" anchor="ctr"/>
          <a:lstStyle/>
          <a:p>
            <a:pPr algn="ctr"/>
            <a:endParaRPr/>
          </a:p>
        </p:txBody>
      </p:sp>
      <p:sp>
        <p:nvSpPr>
          <p:cNvPr id="921" name="Rounded Rectangle 920"/>
          <p:cNvSpPr/>
          <p:nvPr/>
        </p:nvSpPr>
        <p:spPr>
          <a:xfrm>
            <a:off x="6669024" y="3580000"/>
            <a:ext cx="2849880" cy="360000"/>
          </a:xfrm>
          <a:prstGeom prst="roundRect">
            <a:avLst>
              <a:gd name="adj" fmla="val 20000"/>
            </a:avLst>
          </a:prstGeom>
          <a:solidFill>
            <a:srgbClr val="24345A"/>
          </a:solidFill>
          <a:ln>
            <a:noFill/>
          </a:ln>
          <a:effectLst/>
        </p:spPr>
        <p:txBody>
          <a:bodyPr wrap="square" lIns="72000" tIns="36000" rIns="72000" bIns="36000" rtlCol="0" anchor="ctr"/>
          <a:lstStyle/>
          <a:p>
            <a:pPr algn="ctr"/>
            <a:r>
              <a:rPr sz="1200" b="1">
                <a:solidFill>
                  <a:srgbClr val="FFFFFF"/>
                </a:solidFill>
                <a:latin typeface="メイリオ"/>
                <a:ea typeface="メイリオ"/>
                <a:cs typeface="メイリオ"/>
              </a:rPr>
              <a:t>クリエイティブ制作</a:t>
            </a:r>
          </a:p>
        </p:txBody>
      </p:sp>
      <p:sp>
        <p:nvSpPr>
          <p:cNvPr id="922" name="TextBox 921"/>
          <p:cNvSpPr txBox="1"/>
          <p:nvPr/>
        </p:nvSpPr>
        <p:spPr>
          <a:xfrm>
            <a:off x="6729024" y="3990000"/>
            <a:ext cx="2729880" cy="1000000"/>
          </a:xfrm>
          <a:prstGeom prst="rect">
            <a:avLst/>
          </a:prstGeom>
          <a:noFill/>
        </p:spPr>
        <p:txBody>
          <a:bodyPr wrap="square" lIns="72000" tIns="36000" rIns="72000" bIns="36000" anchor="t">
            <a:spAutoFit/>
          </a:bodyPr>
          <a:lstStyle/>
          <a:p>
            <a:pPr algn="l">
              <a:spcAft>
                <a:spcPts val="400"/>
              </a:spcAft>
            </a:pPr>
            <a:r>
              <a:rPr sz="750" b="0">
                <a:solidFill>
                  <a:srgbClr val="1F3A5F"/>
                </a:solidFill>
                <a:latin typeface="メイリオ"/>
                <a:ea typeface="メイリオ"/>
                <a:cs typeface="メイリオ"/>
              </a:rPr>
              <a:t>● </a:t>
            </a:r>
            <a:r>
              <a:rPr sz="1050" b="0">
                <a:solidFill>
                  <a:srgbClr val="333333"/>
                </a:solidFill>
                <a:latin typeface="メイリオ"/>
                <a:ea typeface="メイリオ"/>
                <a:cs typeface="メイリオ"/>
              </a:rPr>
              <a:t>配信画像・リッチメニュー・バナー</a:t>
            </a:r>
          </a:p>
          <a:p>
            <a:pPr algn="l">
              <a:spcAft>
                <a:spcPts val="400"/>
              </a:spcAft>
            </a:pPr>
            <a:r>
              <a:rPr sz="750" b="0">
                <a:solidFill>
                  <a:srgbClr val="1F3A5F"/>
                </a:solidFill>
                <a:latin typeface="メイリオ"/>
                <a:ea typeface="メイリオ"/>
                <a:cs typeface="メイリオ"/>
              </a:rPr>
              <a:t>● </a:t>
            </a:r>
            <a:r>
              <a:rPr sz="1050" b="0">
                <a:solidFill>
                  <a:srgbClr val="333333"/>
                </a:solidFill>
                <a:latin typeface="メイリオ"/>
                <a:ea typeface="メイリオ"/>
                <a:cs typeface="メイリオ"/>
              </a:rPr>
              <a:t>企画ページの制作</a:t>
            </a:r>
          </a:p>
        </p:txBody>
      </p:sp>
      <p:sp>
        <p:nvSpPr>
          <p:cNvPr id="923" name="Rounded Rectangle 922"/>
          <p:cNvSpPr/>
          <p:nvPr/>
        </p:nvSpPr>
        <p:spPr>
          <a:xfrm>
            <a:off x="384048" y="5230000"/>
            <a:ext cx="9134856" cy="600000"/>
          </a:xfrm>
          <a:prstGeom prst="roundRect">
            <a:avLst>
              <a:gd name="adj" fmla="val 15000"/>
            </a:avLst>
          </a:prstGeom>
          <a:solidFill>
            <a:srgbClr val="FFFFFF"/>
          </a:solidFill>
          <a:ln w="12700">
            <a:solidFill>
              <a:srgbClr val="7F8896"/>
            </a:solidFill>
          </a:ln>
          <a:effectLst/>
        </p:spPr>
        <p:txBody>
          <a:bodyPr wrap="square" lIns="72000" tIns="36000" rIns="72000" bIns="36000" rtlCol="0" anchor="ctr"/>
          <a:lstStyle/>
          <a:p>
            <a:pPr algn="ctr"/>
            <a:r>
              <a:rPr sz="1100" b="1">
                <a:solidFill>
                  <a:srgbClr val="1F3A5F"/>
                </a:solidFill>
                <a:latin typeface="メイリオ"/>
                <a:ea typeface="メイリオ"/>
                <a:cs typeface="メイリオ"/>
              </a:rPr>
              <a:t>連携先　</a:t>
            </a:r>
            <a:r>
              <a:rPr sz="1100" b="0">
                <a:solidFill>
                  <a:srgbClr val="333333"/>
                </a:solidFill>
                <a:latin typeface="メイリオ"/>
                <a:ea typeface="メイリオ"/>
                <a:cs typeface="メイリオ"/>
              </a:rPr>
              <a:t>tuna（株式会社7garden）：仕様の確認・設定の相談はDYMが窓口となって行います</a:t>
            </a:r>
          </a:p>
        </p:txBody>
      </p:sp>
      <p:sp>
        <p:nvSpPr>
          <p:cNvPr id="924" name="TextBox 923"/>
          <p:cNvSpPr txBox="1"/>
          <p:nvPr/>
        </p:nvSpPr>
        <p:spPr>
          <a:xfrm>
            <a:off x="384048" y="5880000"/>
            <a:ext cx="9134856" cy="250000"/>
          </a:xfrm>
          <a:prstGeom prst="rect">
            <a:avLst/>
          </a:prstGeom>
          <a:noFill/>
        </p:spPr>
        <p:txBody>
          <a:bodyPr wrap="square" lIns="72000" tIns="36000" rIns="72000" bIns="36000" anchor="t">
            <a:spAutoFit/>
          </a:bodyPr>
          <a:lstStyle/>
          <a:p>
            <a:pPr algn="l"/>
            <a:r>
              <a:rPr sz="900" b="0">
                <a:solidFill>
                  <a:srgbClr val="555555"/>
                </a:solidFill>
                <a:latin typeface="メイリオ"/>
                <a:ea typeface="メイリオ"/>
                <a:cs typeface="メイリオ"/>
              </a:rPr>
              <a:t>※担当者名はご契約時にご案内します</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LeadBand"/>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anchor="ctr"/>
          <a:lstStyle/>
          <a:p>
            <a:endParaRPr lang="ja-JP"/>
          </a:p>
        </p:txBody>
      </p:sp>
      <p:cxnSp>
        <p:nvCxnSpPr>
          <p:cNvPr id="901" name="LeadBandLine"/>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902" name="TextBox 901"/>
          <p:cNvSpPr txBox="1"/>
          <p:nvPr/>
        </p:nvSpPr>
        <p:spPr>
          <a:xfrm>
            <a:off x="379976" y="635062"/>
            <a:ext cx="9160881" cy="698492"/>
          </a:xfrm>
          <a:prstGeom prst="rect">
            <a:avLst/>
          </a:prstGeom>
          <a:noFill/>
        </p:spPr>
        <p:txBody>
          <a:bodyPr wrap="square" lIns="72000" tIns="36000" rIns="72000" bIns="36000" anchor="ctr">
            <a:spAutoFit/>
          </a:bodyPr>
          <a:lstStyle/>
          <a:p>
            <a:pPr algn="ctr"/>
            <a:r>
              <a:rPr sz="1200" b="0">
                <a:solidFill>
                  <a:srgbClr val="333333"/>
                </a:solidFill>
                <a:latin typeface="メイリオ"/>
                <a:ea typeface="メイリオ"/>
                <a:cs typeface="メイリオ"/>
              </a:rPr>
              <a:t>毎月の企画は事前にご確認いただき、結果は月次レポートでご報告します</a:t>
            </a:r>
          </a:p>
        </p:txBody>
      </p:sp>
      <p:sp>
        <p:nvSpPr>
          <p:cNvPr id="903" name="TextBox 902"/>
          <p:cNvSpPr txBox="1"/>
          <p:nvPr/>
        </p:nvSpPr>
        <p:spPr>
          <a:xfrm>
            <a:off x="548883" y="138118"/>
            <a:ext cx="7900000" cy="338554"/>
          </a:xfrm>
          <a:prstGeom prst="rect">
            <a:avLst/>
          </a:prstGeom>
          <a:noFill/>
        </p:spPr>
        <p:txBody>
          <a:bodyPr wrap="square" lIns="72000" tIns="0" rIns="72000" bIns="0" anchor="ctr">
            <a:spAutoFit/>
          </a:bodyPr>
          <a:lstStyle/>
          <a:p>
            <a:pPr algn="l"/>
            <a:r>
              <a:rPr sz="1600" b="1">
                <a:solidFill>
                  <a:srgbClr val="002060"/>
                </a:solidFill>
                <a:latin typeface="メイリオ"/>
                <a:ea typeface="メイリオ"/>
                <a:cs typeface="メイリオ"/>
              </a:rPr>
              <a:t>報告・連絡体制</a:t>
            </a:r>
          </a:p>
        </p:txBody>
      </p:sp>
      <p:sp>
        <p:nvSpPr>
          <p:cNvPr id="904" name="Pentagon 903"/>
          <p:cNvSpPr/>
          <p:nvPr/>
        </p:nvSpPr>
        <p:spPr>
          <a:xfrm>
            <a:off x="384048" y="1530000"/>
            <a:ext cx="1886971" cy="460000"/>
          </a:xfrm>
          <a:prstGeom prst="homePlate">
            <a:avLst>
              <a:gd name="adj" fmla="val 30000"/>
            </a:avLst>
          </a:prstGeom>
          <a:solidFill>
            <a:srgbClr val="D0D7E3"/>
          </a:solidFill>
          <a:ln>
            <a:noFill/>
          </a:ln>
          <a:effectLst/>
        </p:spPr>
        <p:txBody>
          <a:bodyPr wrap="square" lIns="72000" tIns="36000" rIns="72000" bIns="36000" rtlCol="0" anchor="ctr"/>
          <a:lstStyle/>
          <a:p>
            <a:pPr algn="ctr"/>
            <a:r>
              <a:rPr sz="1150" b="1">
                <a:solidFill>
                  <a:srgbClr val="1F3A5F"/>
                </a:solidFill>
                <a:latin typeface="メイリオ"/>
                <a:ea typeface="メイリオ"/>
                <a:cs typeface="メイリオ"/>
              </a:rPr>
              <a:t>企画のご提案</a:t>
            </a:r>
          </a:p>
        </p:txBody>
      </p:sp>
      <p:sp>
        <p:nvSpPr>
          <p:cNvPr id="905" name="TextBox 904"/>
          <p:cNvSpPr txBox="1"/>
          <p:nvPr/>
        </p:nvSpPr>
        <p:spPr>
          <a:xfrm>
            <a:off x="424048" y="2050000"/>
            <a:ext cx="1746971" cy="600000"/>
          </a:xfrm>
          <a:prstGeom prst="rect">
            <a:avLst/>
          </a:prstGeom>
          <a:noFill/>
        </p:spPr>
        <p:txBody>
          <a:bodyPr wrap="square" lIns="72000" tIns="36000" rIns="72000" bIns="36000" anchor="t">
            <a:spAutoFit/>
          </a:bodyPr>
          <a:lstStyle/>
          <a:p>
            <a:pPr algn="ctr"/>
            <a:r>
              <a:rPr sz="1050" b="0">
                <a:solidFill>
                  <a:srgbClr val="333333"/>
                </a:solidFill>
                <a:latin typeface="メイリオ"/>
                <a:ea typeface="メイリオ"/>
                <a:cs typeface="メイリオ"/>
              </a:rPr>
              <a:t>翌月の企画案を</a:t>
            </a:r>
          </a:p>
          <a:p>
            <a:pPr algn="ctr"/>
            <a:r>
              <a:rPr sz="1050" b="0">
                <a:solidFill>
                  <a:srgbClr val="333333"/>
                </a:solidFill>
                <a:latin typeface="メイリオ"/>
                <a:ea typeface="メイリオ"/>
                <a:cs typeface="メイリオ"/>
              </a:rPr>
              <a:t>前月中旬にご提出</a:t>
            </a:r>
          </a:p>
        </p:txBody>
      </p:sp>
      <p:sp>
        <p:nvSpPr>
          <p:cNvPr id="906" name="Chevron 905"/>
          <p:cNvSpPr/>
          <p:nvPr/>
        </p:nvSpPr>
        <p:spPr>
          <a:xfrm>
            <a:off x="2211019" y="1530000"/>
            <a:ext cx="1886971" cy="460000"/>
          </a:xfrm>
          <a:prstGeom prst="chevron">
            <a:avLst>
              <a:gd name="adj" fmla="val 30000"/>
            </a:avLst>
          </a:prstGeom>
          <a:solidFill>
            <a:srgbClr val="B9C3D3"/>
          </a:solidFill>
          <a:ln>
            <a:noFill/>
          </a:ln>
          <a:effectLst/>
        </p:spPr>
        <p:txBody>
          <a:bodyPr wrap="square" lIns="72000" tIns="36000" rIns="72000" bIns="36000" rtlCol="0" anchor="ctr"/>
          <a:lstStyle/>
          <a:p>
            <a:pPr algn="ctr"/>
            <a:r>
              <a:rPr sz="1150" b="1">
                <a:solidFill>
                  <a:srgbClr val="1F3A5F"/>
                </a:solidFill>
                <a:latin typeface="メイリオ"/>
                <a:ea typeface="メイリオ"/>
                <a:cs typeface="メイリオ"/>
              </a:rPr>
              <a:t>ご確認</a:t>
            </a:r>
          </a:p>
        </p:txBody>
      </p:sp>
      <p:sp>
        <p:nvSpPr>
          <p:cNvPr id="907" name="TextBox 906"/>
          <p:cNvSpPr txBox="1"/>
          <p:nvPr/>
        </p:nvSpPr>
        <p:spPr>
          <a:xfrm>
            <a:off x="2251019" y="2050000"/>
            <a:ext cx="1746971" cy="600000"/>
          </a:xfrm>
          <a:prstGeom prst="rect">
            <a:avLst/>
          </a:prstGeom>
          <a:noFill/>
        </p:spPr>
        <p:txBody>
          <a:bodyPr wrap="square" lIns="72000" tIns="36000" rIns="72000" bIns="36000" anchor="t">
            <a:spAutoFit/>
          </a:bodyPr>
          <a:lstStyle/>
          <a:p>
            <a:pPr algn="ctr"/>
            <a:r>
              <a:rPr sz="1050" b="0">
                <a:solidFill>
                  <a:srgbClr val="333333"/>
                </a:solidFill>
                <a:latin typeface="メイリオ"/>
                <a:ea typeface="メイリオ"/>
                <a:cs typeface="メイリオ"/>
              </a:rPr>
              <a:t>内容・特典・</a:t>
            </a:r>
          </a:p>
          <a:p>
            <a:pPr algn="ctr"/>
            <a:r>
              <a:rPr sz="1050" b="0">
                <a:solidFill>
                  <a:srgbClr val="333333"/>
                </a:solidFill>
                <a:latin typeface="メイリオ"/>
                <a:ea typeface="メイリオ"/>
                <a:cs typeface="メイリオ"/>
              </a:rPr>
              <a:t>配信対象のご確認</a:t>
            </a:r>
          </a:p>
        </p:txBody>
      </p:sp>
      <p:sp>
        <p:nvSpPr>
          <p:cNvPr id="908" name="Chevron 907"/>
          <p:cNvSpPr/>
          <p:nvPr/>
        </p:nvSpPr>
        <p:spPr>
          <a:xfrm>
            <a:off x="4037990" y="1530000"/>
            <a:ext cx="1886971" cy="460000"/>
          </a:xfrm>
          <a:prstGeom prst="chevron">
            <a:avLst>
              <a:gd name="adj" fmla="val 30000"/>
            </a:avLst>
          </a:prstGeom>
          <a:solidFill>
            <a:srgbClr val="A7B3C7"/>
          </a:solidFill>
          <a:ln>
            <a:noFill/>
          </a:ln>
          <a:effectLst/>
        </p:spPr>
        <p:txBody>
          <a:bodyPr wrap="square" lIns="72000" tIns="36000" rIns="72000" bIns="36000" rtlCol="0" anchor="ctr"/>
          <a:lstStyle/>
          <a:p>
            <a:pPr algn="ctr"/>
            <a:r>
              <a:rPr sz="1150" b="1">
                <a:solidFill>
                  <a:srgbClr val="1F3A5F"/>
                </a:solidFill>
                <a:latin typeface="メイリオ"/>
                <a:ea typeface="メイリオ"/>
                <a:cs typeface="メイリオ"/>
              </a:rPr>
              <a:t>制作・設定</a:t>
            </a:r>
          </a:p>
        </p:txBody>
      </p:sp>
      <p:sp>
        <p:nvSpPr>
          <p:cNvPr id="909" name="TextBox 908"/>
          <p:cNvSpPr txBox="1"/>
          <p:nvPr/>
        </p:nvSpPr>
        <p:spPr>
          <a:xfrm>
            <a:off x="4077990" y="2050000"/>
            <a:ext cx="1746971" cy="600000"/>
          </a:xfrm>
          <a:prstGeom prst="rect">
            <a:avLst/>
          </a:prstGeom>
          <a:noFill/>
        </p:spPr>
        <p:txBody>
          <a:bodyPr wrap="square" lIns="72000" tIns="36000" rIns="72000" bIns="36000" anchor="t">
            <a:spAutoFit/>
          </a:bodyPr>
          <a:lstStyle/>
          <a:p>
            <a:pPr algn="ctr"/>
            <a:r>
              <a:rPr sz="1050" b="0">
                <a:solidFill>
                  <a:srgbClr val="333333"/>
                </a:solidFill>
                <a:latin typeface="メイリオ"/>
                <a:ea typeface="メイリオ"/>
                <a:cs typeface="メイリオ"/>
              </a:rPr>
              <a:t>画像・文言・</a:t>
            </a:r>
          </a:p>
          <a:p>
            <a:pPr algn="ctr"/>
            <a:r>
              <a:rPr sz="1050" b="0">
                <a:solidFill>
                  <a:srgbClr val="333333"/>
                </a:solidFill>
                <a:latin typeface="メイリオ"/>
                <a:ea typeface="メイリオ"/>
                <a:cs typeface="メイリオ"/>
              </a:rPr>
              <a:t>受け皿ページを制作</a:t>
            </a:r>
          </a:p>
        </p:txBody>
      </p:sp>
      <p:sp>
        <p:nvSpPr>
          <p:cNvPr id="910" name="Chevron 909"/>
          <p:cNvSpPr/>
          <p:nvPr/>
        </p:nvSpPr>
        <p:spPr>
          <a:xfrm>
            <a:off x="5864961" y="1530000"/>
            <a:ext cx="1886971" cy="460000"/>
          </a:xfrm>
          <a:prstGeom prst="chevron">
            <a:avLst>
              <a:gd name="adj" fmla="val 30000"/>
            </a:avLst>
          </a:prstGeom>
          <a:solidFill>
            <a:srgbClr val="7F8896"/>
          </a:solidFill>
          <a:ln>
            <a:noFill/>
          </a:ln>
          <a:effectLst/>
        </p:spPr>
        <p:txBody>
          <a:bodyPr wrap="square" lIns="72000" tIns="36000" rIns="72000" bIns="36000" rtlCol="0" anchor="ctr"/>
          <a:lstStyle/>
          <a:p>
            <a:pPr algn="ctr"/>
            <a:r>
              <a:rPr sz="1150" b="1">
                <a:solidFill>
                  <a:srgbClr val="FFFFFF"/>
                </a:solidFill>
                <a:latin typeface="メイリオ"/>
                <a:ea typeface="メイリオ"/>
                <a:cs typeface="メイリオ"/>
              </a:rPr>
              <a:t>最終確認</a:t>
            </a:r>
          </a:p>
        </p:txBody>
      </p:sp>
      <p:sp>
        <p:nvSpPr>
          <p:cNvPr id="911" name="TextBox 910"/>
          <p:cNvSpPr txBox="1"/>
          <p:nvPr/>
        </p:nvSpPr>
        <p:spPr>
          <a:xfrm>
            <a:off x="5904961" y="2050000"/>
            <a:ext cx="1746971" cy="600000"/>
          </a:xfrm>
          <a:prstGeom prst="rect">
            <a:avLst/>
          </a:prstGeom>
          <a:noFill/>
        </p:spPr>
        <p:txBody>
          <a:bodyPr wrap="square" lIns="72000" tIns="36000" rIns="72000" bIns="36000" anchor="t">
            <a:spAutoFit/>
          </a:bodyPr>
          <a:lstStyle/>
          <a:p>
            <a:pPr algn="ctr"/>
            <a:r>
              <a:rPr sz="1050" b="0">
                <a:solidFill>
                  <a:srgbClr val="333333"/>
                </a:solidFill>
                <a:latin typeface="メイリオ"/>
                <a:ea typeface="メイリオ"/>
                <a:cs typeface="メイリオ"/>
              </a:rPr>
              <a:t>配信前に</a:t>
            </a:r>
          </a:p>
          <a:p>
            <a:pPr algn="ctr"/>
            <a:r>
              <a:rPr sz="1050" b="0">
                <a:solidFill>
                  <a:srgbClr val="333333"/>
                </a:solidFill>
                <a:latin typeface="メイリオ"/>
                <a:ea typeface="メイリオ"/>
                <a:cs typeface="メイリオ"/>
              </a:rPr>
              <a:t>プレビューでご確認</a:t>
            </a:r>
          </a:p>
        </p:txBody>
      </p:sp>
      <p:sp>
        <p:nvSpPr>
          <p:cNvPr id="912" name="Chevron 911"/>
          <p:cNvSpPr/>
          <p:nvPr/>
        </p:nvSpPr>
        <p:spPr>
          <a:xfrm>
            <a:off x="7691932" y="1530000"/>
            <a:ext cx="1886971" cy="460000"/>
          </a:xfrm>
          <a:prstGeom prst="chevron">
            <a:avLst>
              <a:gd name="adj" fmla="val 30000"/>
            </a:avLst>
          </a:prstGeom>
          <a:solidFill>
            <a:srgbClr val="06C755"/>
          </a:solidFill>
          <a:ln>
            <a:noFill/>
          </a:ln>
          <a:effectLst/>
        </p:spPr>
        <p:txBody>
          <a:bodyPr wrap="square" lIns="72000" tIns="36000" rIns="72000" bIns="36000" rtlCol="0" anchor="ctr"/>
          <a:lstStyle/>
          <a:p>
            <a:pPr algn="ctr"/>
            <a:r>
              <a:rPr sz="1150" b="1">
                <a:solidFill>
                  <a:srgbClr val="FFFFFF"/>
                </a:solidFill>
                <a:latin typeface="メイリオ"/>
                <a:ea typeface="メイリオ"/>
                <a:cs typeface="メイリオ"/>
              </a:rPr>
              <a:t>配信</a:t>
            </a:r>
          </a:p>
        </p:txBody>
      </p:sp>
      <p:sp>
        <p:nvSpPr>
          <p:cNvPr id="913" name="TextBox 912"/>
          <p:cNvSpPr txBox="1"/>
          <p:nvPr/>
        </p:nvSpPr>
        <p:spPr>
          <a:xfrm>
            <a:off x="7731932" y="2050000"/>
            <a:ext cx="1746971" cy="600000"/>
          </a:xfrm>
          <a:prstGeom prst="rect">
            <a:avLst/>
          </a:prstGeom>
          <a:noFill/>
        </p:spPr>
        <p:txBody>
          <a:bodyPr wrap="square" lIns="72000" tIns="36000" rIns="72000" bIns="36000" anchor="t">
            <a:spAutoFit/>
          </a:bodyPr>
          <a:lstStyle/>
          <a:p>
            <a:pPr algn="ctr"/>
            <a:r>
              <a:rPr sz="1050" b="0">
                <a:solidFill>
                  <a:srgbClr val="333333"/>
                </a:solidFill>
                <a:latin typeface="メイリオ"/>
                <a:ea typeface="メイリオ"/>
                <a:cs typeface="メイリオ"/>
              </a:rPr>
              <a:t>ラベルで出し分けて</a:t>
            </a:r>
          </a:p>
          <a:p>
            <a:pPr algn="ctr"/>
            <a:r>
              <a:rPr sz="1050" b="0">
                <a:solidFill>
                  <a:srgbClr val="333333"/>
                </a:solidFill>
                <a:latin typeface="メイリオ"/>
                <a:ea typeface="メイリオ"/>
                <a:cs typeface="メイリオ"/>
              </a:rPr>
              <a:t>配信</a:t>
            </a:r>
          </a:p>
        </p:txBody>
      </p:sp>
      <p:sp>
        <p:nvSpPr>
          <p:cNvPr id="914" name="Rounded Rectangle 913"/>
          <p:cNvSpPr/>
          <p:nvPr/>
        </p:nvSpPr>
        <p:spPr>
          <a:xfrm>
            <a:off x="384048" y="2880000"/>
            <a:ext cx="4467428" cy="2350000"/>
          </a:xfrm>
          <a:prstGeom prst="roundRect">
            <a:avLst>
              <a:gd name="adj" fmla="val 5000"/>
            </a:avLst>
          </a:prstGeom>
          <a:solidFill>
            <a:srgbClr val="EEF1F5"/>
          </a:solidFill>
          <a:ln w="12700">
            <a:solidFill>
              <a:srgbClr val="7F8896"/>
            </a:solidFill>
          </a:ln>
          <a:effectLst/>
        </p:spPr>
        <p:txBody>
          <a:bodyPr rtlCol="0" anchor="ctr"/>
          <a:lstStyle/>
          <a:p>
            <a:pPr algn="ctr"/>
            <a:endParaRPr/>
          </a:p>
        </p:txBody>
      </p:sp>
      <p:sp>
        <p:nvSpPr>
          <p:cNvPr id="915" name="Rounded Rectangle 914"/>
          <p:cNvSpPr/>
          <p:nvPr/>
        </p:nvSpPr>
        <p:spPr>
          <a:xfrm>
            <a:off x="384048" y="2880000"/>
            <a:ext cx="4467428" cy="400000"/>
          </a:xfrm>
          <a:prstGeom prst="roundRect">
            <a:avLst>
              <a:gd name="adj" fmla="val 20000"/>
            </a:avLst>
          </a:prstGeom>
          <a:solidFill>
            <a:srgbClr val="24345A"/>
          </a:solidFill>
          <a:ln>
            <a:noFill/>
          </a:ln>
          <a:effectLst/>
        </p:spPr>
        <p:txBody>
          <a:bodyPr wrap="square" lIns="72000" tIns="36000" rIns="72000" bIns="36000" rtlCol="0" anchor="ctr"/>
          <a:lstStyle/>
          <a:p>
            <a:pPr algn="ctr"/>
            <a:r>
              <a:rPr sz="1300" b="1">
                <a:solidFill>
                  <a:srgbClr val="FFFFFF"/>
                </a:solidFill>
                <a:latin typeface="メイリオ"/>
                <a:ea typeface="メイリオ"/>
                <a:cs typeface="メイリオ"/>
              </a:rPr>
              <a:t>月次レポートの項目</a:t>
            </a:r>
          </a:p>
        </p:txBody>
      </p:sp>
      <p:sp>
        <p:nvSpPr>
          <p:cNvPr id="916" name="TextBox 915"/>
          <p:cNvSpPr txBox="1"/>
          <p:nvPr/>
        </p:nvSpPr>
        <p:spPr>
          <a:xfrm>
            <a:off x="444048" y="3330000"/>
            <a:ext cx="4347428" cy="1860000"/>
          </a:xfrm>
          <a:prstGeom prst="rect">
            <a:avLst/>
          </a:prstGeom>
          <a:noFill/>
        </p:spPr>
        <p:txBody>
          <a:bodyPr wrap="square" lIns="72000" tIns="36000" rIns="72000" bIns="36000" anchor="t">
            <a:spAutoFit/>
          </a:bodyPr>
          <a:lstStyle/>
          <a:p>
            <a:pPr algn="l">
              <a:spcAft>
                <a:spcPts val="400"/>
              </a:spcAft>
            </a:pPr>
            <a:r>
              <a:rPr sz="800" b="0">
                <a:solidFill>
                  <a:srgbClr val="1F3A5F"/>
                </a:solidFill>
                <a:latin typeface="メイリオ"/>
                <a:ea typeface="メイリオ"/>
                <a:cs typeface="メイリオ"/>
              </a:rPr>
              <a:t>● </a:t>
            </a:r>
            <a:r>
              <a:rPr sz="1100" b="0">
                <a:solidFill>
                  <a:srgbClr val="333333"/>
                </a:solidFill>
                <a:latin typeface="メイリオ"/>
                <a:ea typeface="メイリオ"/>
                <a:cs typeface="メイリオ"/>
              </a:rPr>
              <a:t>友だち数の推移・ブロック率</a:t>
            </a:r>
          </a:p>
          <a:p>
            <a:pPr algn="l">
              <a:spcAft>
                <a:spcPts val="400"/>
              </a:spcAft>
            </a:pPr>
            <a:r>
              <a:rPr sz="800" b="0">
                <a:solidFill>
                  <a:srgbClr val="1F3A5F"/>
                </a:solidFill>
                <a:latin typeface="メイリオ"/>
                <a:ea typeface="メイリオ"/>
                <a:cs typeface="メイリオ"/>
              </a:rPr>
              <a:t>● </a:t>
            </a:r>
            <a:r>
              <a:rPr sz="1100" b="0">
                <a:solidFill>
                  <a:srgbClr val="333333"/>
                </a:solidFill>
                <a:latin typeface="メイリオ"/>
                <a:ea typeface="メイリオ"/>
                <a:cs typeface="メイリオ"/>
              </a:rPr>
              <a:t>配信ごとの開封・クリック</a:t>
            </a:r>
          </a:p>
          <a:p>
            <a:pPr algn="l">
              <a:spcAft>
                <a:spcPts val="400"/>
              </a:spcAft>
            </a:pPr>
            <a:r>
              <a:rPr sz="800" b="0">
                <a:solidFill>
                  <a:srgbClr val="1F3A5F"/>
                </a:solidFill>
                <a:latin typeface="メイリオ"/>
                <a:ea typeface="メイリオ"/>
                <a:cs typeface="メイリオ"/>
              </a:rPr>
              <a:t>● </a:t>
            </a:r>
            <a:r>
              <a:rPr sz="1100" b="0">
                <a:solidFill>
                  <a:srgbClr val="333333"/>
                </a:solidFill>
                <a:latin typeface="メイリオ"/>
                <a:ea typeface="メイリオ"/>
                <a:cs typeface="メイリオ"/>
              </a:rPr>
              <a:t>ステップ配信の各通の反応</a:t>
            </a:r>
          </a:p>
          <a:p>
            <a:pPr algn="l">
              <a:spcAft>
                <a:spcPts val="400"/>
              </a:spcAft>
            </a:pPr>
            <a:r>
              <a:rPr sz="800" b="0">
                <a:solidFill>
                  <a:srgbClr val="1F3A5F"/>
                </a:solidFill>
                <a:latin typeface="メイリオ"/>
                <a:ea typeface="メイリオ"/>
                <a:cs typeface="メイリオ"/>
              </a:rPr>
              <a:t>● </a:t>
            </a:r>
            <a:r>
              <a:rPr sz="1100" b="0">
                <a:solidFill>
                  <a:srgbClr val="333333"/>
                </a:solidFill>
                <a:latin typeface="メイリオ"/>
                <a:ea typeface="メイリオ"/>
                <a:cs typeface="メイリオ"/>
              </a:rPr>
              <a:t>クーポン利用数・LINE経由の予約数</a:t>
            </a:r>
          </a:p>
          <a:p>
            <a:pPr algn="l">
              <a:spcAft>
                <a:spcPts val="400"/>
              </a:spcAft>
            </a:pPr>
            <a:r>
              <a:rPr sz="800" b="0">
                <a:solidFill>
                  <a:srgbClr val="1F3A5F"/>
                </a:solidFill>
                <a:latin typeface="メイリオ"/>
                <a:ea typeface="メイリオ"/>
                <a:cs typeface="メイリオ"/>
              </a:rPr>
              <a:t>● </a:t>
            </a:r>
            <a:r>
              <a:rPr sz="1100" b="0">
                <a:solidFill>
                  <a:srgbClr val="333333"/>
                </a:solidFill>
                <a:latin typeface="メイリオ"/>
                <a:ea typeface="メイリオ"/>
                <a:cs typeface="メイリオ"/>
              </a:rPr>
              <a:t>CPF広告の獲得数・単価</a:t>
            </a:r>
          </a:p>
          <a:p>
            <a:pPr algn="l">
              <a:spcAft>
                <a:spcPts val="400"/>
              </a:spcAft>
            </a:pPr>
            <a:r>
              <a:rPr sz="800" b="0">
                <a:solidFill>
                  <a:srgbClr val="1F3A5F"/>
                </a:solidFill>
                <a:latin typeface="メイリオ"/>
                <a:ea typeface="メイリオ"/>
                <a:cs typeface="メイリオ"/>
              </a:rPr>
              <a:t>● </a:t>
            </a:r>
            <a:r>
              <a:rPr sz="1100" b="0">
                <a:solidFill>
                  <a:srgbClr val="333333"/>
                </a:solidFill>
                <a:latin typeface="メイリオ"/>
                <a:ea typeface="メイリオ"/>
                <a:cs typeface="メイリオ"/>
              </a:rPr>
              <a:t>翌月の改善点とご提案</a:t>
            </a:r>
          </a:p>
        </p:txBody>
      </p:sp>
      <p:sp>
        <p:nvSpPr>
          <p:cNvPr id="917" name="Rounded Rectangle 916"/>
          <p:cNvSpPr/>
          <p:nvPr/>
        </p:nvSpPr>
        <p:spPr>
          <a:xfrm>
            <a:off x="5051476" y="2880000"/>
            <a:ext cx="4467428" cy="2350000"/>
          </a:xfrm>
          <a:prstGeom prst="roundRect">
            <a:avLst>
              <a:gd name="adj" fmla="val 5000"/>
            </a:avLst>
          </a:prstGeom>
          <a:solidFill>
            <a:srgbClr val="EEF1F5"/>
          </a:solidFill>
          <a:ln w="12700">
            <a:solidFill>
              <a:srgbClr val="7F8896"/>
            </a:solidFill>
          </a:ln>
          <a:effectLst/>
        </p:spPr>
        <p:txBody>
          <a:bodyPr rtlCol="0" anchor="ctr"/>
          <a:lstStyle/>
          <a:p>
            <a:pPr algn="ctr"/>
            <a:endParaRPr/>
          </a:p>
        </p:txBody>
      </p:sp>
      <p:sp>
        <p:nvSpPr>
          <p:cNvPr id="918" name="Rounded Rectangle 917"/>
          <p:cNvSpPr/>
          <p:nvPr/>
        </p:nvSpPr>
        <p:spPr>
          <a:xfrm>
            <a:off x="5051476" y="2880000"/>
            <a:ext cx="4467428" cy="400000"/>
          </a:xfrm>
          <a:prstGeom prst="roundRect">
            <a:avLst>
              <a:gd name="adj" fmla="val 20000"/>
            </a:avLst>
          </a:prstGeom>
          <a:solidFill>
            <a:srgbClr val="06C755"/>
          </a:solidFill>
          <a:ln>
            <a:noFill/>
          </a:ln>
          <a:effectLst/>
        </p:spPr>
        <p:txBody>
          <a:bodyPr wrap="square" lIns="72000" tIns="36000" rIns="72000" bIns="36000" rtlCol="0" anchor="ctr"/>
          <a:lstStyle/>
          <a:p>
            <a:pPr algn="ctr"/>
            <a:r>
              <a:rPr sz="1300" b="1">
                <a:solidFill>
                  <a:srgbClr val="FFFFFF"/>
                </a:solidFill>
                <a:latin typeface="メイリオ"/>
                <a:ea typeface="メイリオ"/>
                <a:cs typeface="メイリオ"/>
              </a:rPr>
              <a:t>ご連絡・お打ち合わせ</a:t>
            </a:r>
          </a:p>
        </p:txBody>
      </p:sp>
      <p:sp>
        <p:nvSpPr>
          <p:cNvPr id="919" name="TextBox 918"/>
          <p:cNvSpPr txBox="1"/>
          <p:nvPr/>
        </p:nvSpPr>
        <p:spPr>
          <a:xfrm>
            <a:off x="5111476" y="3330000"/>
            <a:ext cx="4347428" cy="1860000"/>
          </a:xfrm>
          <a:prstGeom prst="rect">
            <a:avLst/>
          </a:prstGeom>
          <a:noFill/>
        </p:spPr>
        <p:txBody>
          <a:bodyPr wrap="square" lIns="72000" tIns="36000" rIns="72000" bIns="36000" anchor="t">
            <a:spAutoFit/>
          </a:bodyPr>
          <a:lstStyle/>
          <a:p>
            <a:pPr algn="l">
              <a:spcAft>
                <a:spcPts val="400"/>
              </a:spcAft>
            </a:pPr>
            <a:r>
              <a:rPr sz="800" b="0">
                <a:solidFill>
                  <a:srgbClr val="06C755"/>
                </a:solidFill>
                <a:latin typeface="メイリオ"/>
                <a:ea typeface="メイリオ"/>
                <a:cs typeface="メイリオ"/>
              </a:rPr>
              <a:t>● </a:t>
            </a:r>
            <a:r>
              <a:rPr sz="1100" b="0">
                <a:solidFill>
                  <a:srgbClr val="333333"/>
                </a:solidFill>
                <a:latin typeface="メイリオ"/>
                <a:ea typeface="メイリオ"/>
                <a:cs typeface="メイリオ"/>
              </a:rPr>
              <a:t>日常のご連絡：チャットまたはメール（御社のご希望のツールに合わせます）</a:t>
            </a:r>
          </a:p>
          <a:p>
            <a:pPr algn="l">
              <a:spcAft>
                <a:spcPts val="400"/>
              </a:spcAft>
            </a:pPr>
            <a:r>
              <a:rPr sz="800" b="0">
                <a:solidFill>
                  <a:srgbClr val="06C755"/>
                </a:solidFill>
                <a:latin typeface="メイリオ"/>
                <a:ea typeface="メイリオ"/>
                <a:cs typeface="メイリオ"/>
              </a:rPr>
              <a:t>● </a:t>
            </a:r>
            <a:r>
              <a:rPr sz="1100" b="0">
                <a:solidFill>
                  <a:srgbClr val="333333"/>
                </a:solidFill>
                <a:latin typeface="メイリオ"/>
                <a:ea typeface="メイリオ"/>
                <a:cs typeface="メイリオ"/>
              </a:rPr>
              <a:t>月次レポート：毎月、前月分をご提出</a:t>
            </a:r>
          </a:p>
          <a:p>
            <a:pPr algn="l">
              <a:spcAft>
                <a:spcPts val="400"/>
              </a:spcAft>
            </a:pPr>
            <a:r>
              <a:rPr sz="800" b="0">
                <a:solidFill>
                  <a:srgbClr val="06C755"/>
                </a:solidFill>
                <a:latin typeface="メイリオ"/>
                <a:ea typeface="メイリオ"/>
                <a:cs typeface="メイリオ"/>
              </a:rPr>
              <a:t>● </a:t>
            </a:r>
            <a:r>
              <a:rPr sz="1100" b="0">
                <a:solidFill>
                  <a:srgbClr val="333333"/>
                </a:solidFill>
                <a:latin typeface="メイリオ"/>
                <a:ea typeface="メイリオ"/>
                <a:cs typeface="メイリオ"/>
              </a:rPr>
              <a:t>定例ミーティング：オプション（ご希望に応じて）</a:t>
            </a:r>
          </a:p>
          <a:p>
            <a:pPr algn="l">
              <a:spcAft>
                <a:spcPts val="400"/>
              </a:spcAft>
            </a:pPr>
            <a:r>
              <a:rPr sz="800" b="0">
                <a:solidFill>
                  <a:srgbClr val="06C755"/>
                </a:solidFill>
                <a:latin typeface="メイリオ"/>
                <a:ea typeface="メイリオ"/>
                <a:cs typeface="メイリオ"/>
              </a:rPr>
              <a:t>● </a:t>
            </a:r>
            <a:r>
              <a:rPr sz="1100" b="0">
                <a:solidFill>
                  <a:srgbClr val="333333"/>
                </a:solidFill>
                <a:latin typeface="メイリオ"/>
                <a:ea typeface="メイリオ"/>
                <a:cs typeface="メイリオ"/>
              </a:rPr>
              <a:t>急ぎの配信停止・修正もご連絡いただければ対応します</a:t>
            </a:r>
          </a:p>
        </p:txBody>
      </p:sp>
      <p:sp>
        <p:nvSpPr>
          <p:cNvPr id="920" name="Rounded Rectangle 919"/>
          <p:cNvSpPr/>
          <p:nvPr/>
        </p:nvSpPr>
        <p:spPr>
          <a:xfrm>
            <a:off x="384048" y="5430000"/>
            <a:ext cx="9134856" cy="450000"/>
          </a:xfrm>
          <a:prstGeom prst="roundRect">
            <a:avLst>
              <a:gd name="adj" fmla="val 12000"/>
            </a:avLst>
          </a:prstGeom>
          <a:solidFill>
            <a:srgbClr val="24345A"/>
          </a:solidFill>
          <a:ln>
            <a:noFill/>
          </a:ln>
          <a:effectLst/>
        </p:spPr>
        <p:txBody>
          <a:bodyPr wrap="square" lIns="72000" tIns="36000" rIns="72000" bIns="36000" rtlCol="0" anchor="ctr"/>
          <a:lstStyle/>
          <a:p>
            <a:pPr algn="ctr"/>
            <a:r>
              <a:rPr sz="1200" b="1">
                <a:solidFill>
                  <a:srgbClr val="FFFFFF"/>
                </a:solidFill>
                <a:latin typeface="メイリオ"/>
                <a:ea typeface="メイリオ"/>
                <a:cs typeface="メイリオ"/>
              </a:rPr>
              <a:t>御社のご担当者様の作業は「企画と配信前のご確認」が中心です</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LeadBand"/>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anchor="ctr"/>
          <a:lstStyle/>
          <a:p>
            <a:endParaRPr lang="ja-JP"/>
          </a:p>
        </p:txBody>
      </p:sp>
      <p:cxnSp>
        <p:nvCxnSpPr>
          <p:cNvPr id="901" name="LeadBandLine"/>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902" name="TextBox 901"/>
          <p:cNvSpPr txBox="1"/>
          <p:nvPr/>
        </p:nvSpPr>
        <p:spPr>
          <a:xfrm>
            <a:off x="379976" y="635062"/>
            <a:ext cx="9160881" cy="698492"/>
          </a:xfrm>
          <a:prstGeom prst="rect">
            <a:avLst/>
          </a:prstGeom>
          <a:noFill/>
        </p:spPr>
        <p:txBody>
          <a:bodyPr wrap="square" lIns="72000" tIns="36000" rIns="72000" bIns="36000" anchor="ctr">
            <a:spAutoFit/>
          </a:bodyPr>
          <a:lstStyle/>
          <a:p>
            <a:pPr algn="ctr"/>
            <a:r>
              <a:rPr sz="1200" b="0">
                <a:solidFill>
                  <a:srgbClr val="333333"/>
                </a:solidFill>
                <a:latin typeface="メイリオ"/>
                <a:ea typeface="メイリオ"/>
                <a:cs typeface="メイリオ"/>
              </a:rPr>
              <a:t>11月に構築を終え、12月から配信を開始。6ヶ月目に振り返りと次期のご提案を行います</a:t>
            </a:r>
          </a:p>
        </p:txBody>
      </p:sp>
      <p:sp>
        <p:nvSpPr>
          <p:cNvPr id="903" name="TextBox 902"/>
          <p:cNvSpPr txBox="1"/>
          <p:nvPr/>
        </p:nvSpPr>
        <p:spPr>
          <a:xfrm>
            <a:off x="548883" y="138118"/>
            <a:ext cx="7900000" cy="338554"/>
          </a:xfrm>
          <a:prstGeom prst="rect">
            <a:avLst/>
          </a:prstGeom>
          <a:noFill/>
        </p:spPr>
        <p:txBody>
          <a:bodyPr wrap="square" lIns="72000" tIns="0" rIns="72000" bIns="0" anchor="ctr">
            <a:spAutoFit/>
          </a:bodyPr>
          <a:lstStyle/>
          <a:p>
            <a:pPr algn="l"/>
            <a:r>
              <a:rPr sz="1600" b="1">
                <a:solidFill>
                  <a:srgbClr val="002060"/>
                </a:solidFill>
                <a:latin typeface="メイリオ"/>
                <a:ea typeface="メイリオ"/>
                <a:cs typeface="メイリオ"/>
              </a:rPr>
              <a:t>スケジュール（11月構築・12月スタート）</a:t>
            </a:r>
          </a:p>
        </p:txBody>
      </p:sp>
      <p:sp>
        <p:nvSpPr>
          <p:cNvPr id="904" name="Rounded Rectangle 903"/>
          <p:cNvSpPr/>
          <p:nvPr/>
        </p:nvSpPr>
        <p:spPr>
          <a:xfrm>
            <a:off x="2499048" y="1530000"/>
            <a:ext cx="974979" cy="380000"/>
          </a:xfrm>
          <a:prstGeom prst="roundRect">
            <a:avLst>
              <a:gd name="adj" fmla="val 30000"/>
            </a:avLst>
          </a:prstGeom>
          <a:solidFill>
            <a:srgbClr val="1F3A5F"/>
          </a:solidFill>
          <a:ln>
            <a:noFill/>
          </a:ln>
          <a:effectLst/>
        </p:spPr>
        <p:txBody>
          <a:bodyPr wrap="square" lIns="72000" tIns="36000" rIns="72000" bIns="36000" rtlCol="0" anchor="ctr"/>
          <a:lstStyle/>
          <a:p>
            <a:pPr algn="ctr"/>
            <a:r>
              <a:rPr sz="1200" b="1">
                <a:solidFill>
                  <a:srgbClr val="FFFFFF"/>
                </a:solidFill>
                <a:latin typeface="メイリオ"/>
                <a:ea typeface="メイリオ"/>
                <a:cs typeface="メイリオ"/>
              </a:rPr>
              <a:t>11月</a:t>
            </a:r>
          </a:p>
        </p:txBody>
      </p:sp>
      <p:sp>
        <p:nvSpPr>
          <p:cNvPr id="905" name="Rounded Rectangle 904"/>
          <p:cNvSpPr/>
          <p:nvPr/>
        </p:nvSpPr>
        <p:spPr>
          <a:xfrm>
            <a:off x="3504027" y="1530000"/>
            <a:ext cx="974979" cy="380000"/>
          </a:xfrm>
          <a:prstGeom prst="roundRect">
            <a:avLst>
              <a:gd name="adj" fmla="val 30000"/>
            </a:avLst>
          </a:prstGeom>
          <a:solidFill>
            <a:srgbClr val="1F3A5F"/>
          </a:solidFill>
          <a:ln>
            <a:noFill/>
          </a:ln>
          <a:effectLst/>
        </p:spPr>
        <p:txBody>
          <a:bodyPr wrap="square" lIns="72000" tIns="36000" rIns="72000" bIns="36000" rtlCol="0" anchor="ctr"/>
          <a:lstStyle/>
          <a:p>
            <a:pPr algn="ctr"/>
            <a:r>
              <a:rPr sz="1200" b="1">
                <a:solidFill>
                  <a:srgbClr val="FFFFFF"/>
                </a:solidFill>
                <a:latin typeface="メイリオ"/>
                <a:ea typeface="メイリオ"/>
                <a:cs typeface="メイリオ"/>
              </a:rPr>
              <a:t>12月</a:t>
            </a:r>
          </a:p>
        </p:txBody>
      </p:sp>
      <p:sp>
        <p:nvSpPr>
          <p:cNvPr id="906" name="Rounded Rectangle 905"/>
          <p:cNvSpPr/>
          <p:nvPr/>
        </p:nvSpPr>
        <p:spPr>
          <a:xfrm>
            <a:off x="4509006" y="1530000"/>
            <a:ext cx="974979" cy="380000"/>
          </a:xfrm>
          <a:prstGeom prst="roundRect">
            <a:avLst>
              <a:gd name="adj" fmla="val 30000"/>
            </a:avLst>
          </a:prstGeom>
          <a:solidFill>
            <a:srgbClr val="1F3A5F"/>
          </a:solidFill>
          <a:ln>
            <a:noFill/>
          </a:ln>
          <a:effectLst/>
        </p:spPr>
        <p:txBody>
          <a:bodyPr wrap="square" lIns="72000" tIns="36000" rIns="72000" bIns="36000" rtlCol="0" anchor="ctr"/>
          <a:lstStyle/>
          <a:p>
            <a:pPr algn="ctr"/>
            <a:r>
              <a:rPr sz="1200" b="1">
                <a:solidFill>
                  <a:srgbClr val="FFFFFF"/>
                </a:solidFill>
                <a:latin typeface="メイリオ"/>
                <a:ea typeface="メイリオ"/>
                <a:cs typeface="メイリオ"/>
              </a:rPr>
              <a:t>1月</a:t>
            </a:r>
          </a:p>
        </p:txBody>
      </p:sp>
      <p:sp>
        <p:nvSpPr>
          <p:cNvPr id="907" name="Rounded Rectangle 906"/>
          <p:cNvSpPr/>
          <p:nvPr/>
        </p:nvSpPr>
        <p:spPr>
          <a:xfrm>
            <a:off x="5513985" y="1530000"/>
            <a:ext cx="974979" cy="380000"/>
          </a:xfrm>
          <a:prstGeom prst="roundRect">
            <a:avLst>
              <a:gd name="adj" fmla="val 30000"/>
            </a:avLst>
          </a:prstGeom>
          <a:solidFill>
            <a:srgbClr val="1F3A5F"/>
          </a:solidFill>
          <a:ln>
            <a:noFill/>
          </a:ln>
          <a:effectLst/>
        </p:spPr>
        <p:txBody>
          <a:bodyPr wrap="square" lIns="72000" tIns="36000" rIns="72000" bIns="36000" rtlCol="0" anchor="ctr"/>
          <a:lstStyle/>
          <a:p>
            <a:pPr algn="ctr"/>
            <a:r>
              <a:rPr sz="1200" b="1">
                <a:solidFill>
                  <a:srgbClr val="FFFFFF"/>
                </a:solidFill>
                <a:latin typeface="メイリオ"/>
                <a:ea typeface="メイリオ"/>
                <a:cs typeface="メイリオ"/>
              </a:rPr>
              <a:t>2月</a:t>
            </a:r>
          </a:p>
        </p:txBody>
      </p:sp>
      <p:sp>
        <p:nvSpPr>
          <p:cNvPr id="908" name="Rounded Rectangle 907"/>
          <p:cNvSpPr/>
          <p:nvPr/>
        </p:nvSpPr>
        <p:spPr>
          <a:xfrm>
            <a:off x="6518964" y="1530000"/>
            <a:ext cx="974979" cy="380000"/>
          </a:xfrm>
          <a:prstGeom prst="roundRect">
            <a:avLst>
              <a:gd name="adj" fmla="val 30000"/>
            </a:avLst>
          </a:prstGeom>
          <a:solidFill>
            <a:srgbClr val="06C755"/>
          </a:solidFill>
          <a:ln>
            <a:noFill/>
          </a:ln>
          <a:effectLst/>
        </p:spPr>
        <p:txBody>
          <a:bodyPr wrap="square" lIns="72000" tIns="36000" rIns="72000" bIns="36000" rtlCol="0" anchor="ctr"/>
          <a:lstStyle/>
          <a:p>
            <a:pPr algn="ctr"/>
            <a:r>
              <a:rPr sz="1200" b="1">
                <a:solidFill>
                  <a:srgbClr val="FFFFFF"/>
                </a:solidFill>
                <a:latin typeface="メイリオ"/>
                <a:ea typeface="メイリオ"/>
                <a:cs typeface="メイリオ"/>
              </a:rPr>
              <a:t>3月</a:t>
            </a:r>
          </a:p>
        </p:txBody>
      </p:sp>
      <p:sp>
        <p:nvSpPr>
          <p:cNvPr id="909" name="Rounded Rectangle 908"/>
          <p:cNvSpPr/>
          <p:nvPr/>
        </p:nvSpPr>
        <p:spPr>
          <a:xfrm>
            <a:off x="7523943" y="1530000"/>
            <a:ext cx="974979" cy="380000"/>
          </a:xfrm>
          <a:prstGeom prst="roundRect">
            <a:avLst>
              <a:gd name="adj" fmla="val 30000"/>
            </a:avLst>
          </a:prstGeom>
          <a:solidFill>
            <a:srgbClr val="06C755"/>
          </a:solidFill>
          <a:ln>
            <a:noFill/>
          </a:ln>
          <a:effectLst/>
        </p:spPr>
        <p:txBody>
          <a:bodyPr wrap="square" lIns="72000" tIns="36000" rIns="72000" bIns="36000" rtlCol="0" anchor="ctr"/>
          <a:lstStyle/>
          <a:p>
            <a:pPr algn="ctr"/>
            <a:r>
              <a:rPr sz="1200" b="1">
                <a:solidFill>
                  <a:srgbClr val="FFFFFF"/>
                </a:solidFill>
                <a:latin typeface="メイリオ"/>
                <a:ea typeface="メイリオ"/>
                <a:cs typeface="メイリオ"/>
              </a:rPr>
              <a:t>4月</a:t>
            </a:r>
          </a:p>
        </p:txBody>
      </p:sp>
      <p:sp>
        <p:nvSpPr>
          <p:cNvPr id="910" name="Rounded Rectangle 909"/>
          <p:cNvSpPr/>
          <p:nvPr/>
        </p:nvSpPr>
        <p:spPr>
          <a:xfrm>
            <a:off x="8528922" y="1530000"/>
            <a:ext cx="974979" cy="380000"/>
          </a:xfrm>
          <a:prstGeom prst="roundRect">
            <a:avLst>
              <a:gd name="adj" fmla="val 30000"/>
            </a:avLst>
          </a:prstGeom>
          <a:solidFill>
            <a:srgbClr val="1F3A5F"/>
          </a:solidFill>
          <a:ln>
            <a:noFill/>
          </a:ln>
          <a:effectLst/>
        </p:spPr>
        <p:txBody>
          <a:bodyPr wrap="square" lIns="72000" tIns="36000" rIns="72000" bIns="36000" rtlCol="0" anchor="ctr"/>
          <a:lstStyle/>
          <a:p>
            <a:pPr algn="ctr"/>
            <a:r>
              <a:rPr sz="1200" b="1">
                <a:solidFill>
                  <a:srgbClr val="FFFFFF"/>
                </a:solidFill>
                <a:latin typeface="メイリオ"/>
                <a:ea typeface="メイリオ"/>
                <a:cs typeface="メイリオ"/>
              </a:rPr>
              <a:t>5月</a:t>
            </a:r>
          </a:p>
        </p:txBody>
      </p:sp>
      <p:sp>
        <p:nvSpPr>
          <p:cNvPr id="911" name="Rectangle 910"/>
          <p:cNvSpPr/>
          <p:nvPr/>
        </p:nvSpPr>
        <p:spPr>
          <a:xfrm>
            <a:off x="384048" y="2050000"/>
            <a:ext cx="9134856" cy="560000"/>
          </a:xfrm>
          <a:prstGeom prst="rect">
            <a:avLst/>
          </a:prstGeom>
          <a:solidFill>
            <a:srgbClr val="F2F5F9"/>
          </a:solidFill>
          <a:ln>
            <a:noFill/>
          </a:ln>
          <a:effectLst/>
        </p:spPr>
        <p:txBody>
          <a:bodyPr rtlCol="0" anchor="ctr"/>
          <a:lstStyle/>
          <a:p>
            <a:pPr algn="ctr"/>
            <a:endParaRPr/>
          </a:p>
        </p:txBody>
      </p:sp>
      <p:sp>
        <p:nvSpPr>
          <p:cNvPr id="912" name="TextBox 911"/>
          <p:cNvSpPr txBox="1"/>
          <p:nvPr/>
        </p:nvSpPr>
        <p:spPr>
          <a:xfrm>
            <a:off x="384048" y="2050000"/>
            <a:ext cx="2100000" cy="560000"/>
          </a:xfrm>
          <a:prstGeom prst="rect">
            <a:avLst/>
          </a:prstGeom>
          <a:noFill/>
        </p:spPr>
        <p:txBody>
          <a:bodyPr wrap="square" lIns="72000" tIns="36000" rIns="72000" bIns="36000" anchor="ctr">
            <a:spAutoFit/>
          </a:bodyPr>
          <a:lstStyle/>
          <a:p>
            <a:pPr algn="l"/>
            <a:r>
              <a:rPr sz="1100" b="1">
                <a:solidFill>
                  <a:srgbClr val="1F3A5F"/>
                </a:solidFill>
                <a:latin typeface="メイリオ"/>
                <a:ea typeface="メイリオ"/>
                <a:cs typeface="メイリオ"/>
              </a:rPr>
              <a:t>ご契約・現状診断</a:t>
            </a:r>
          </a:p>
        </p:txBody>
      </p:sp>
      <p:sp>
        <p:nvSpPr>
          <p:cNvPr id="913" name="Rounded Rectangle 912"/>
          <p:cNvSpPr/>
          <p:nvPr/>
        </p:nvSpPr>
        <p:spPr>
          <a:xfrm>
            <a:off x="2514048" y="2160000"/>
            <a:ext cx="944979" cy="340000"/>
          </a:xfrm>
          <a:prstGeom prst="roundRect">
            <a:avLst>
              <a:gd name="adj" fmla="val 40000"/>
            </a:avLst>
          </a:prstGeom>
          <a:solidFill>
            <a:srgbClr val="24345A"/>
          </a:solidFill>
          <a:ln>
            <a:noFill/>
          </a:ln>
          <a:effectLst/>
        </p:spPr>
        <p:txBody>
          <a:bodyPr wrap="square" lIns="72000" tIns="36000" rIns="72000" bIns="36000" rtlCol="0" anchor="ctr"/>
          <a:lstStyle/>
          <a:p>
            <a:pPr algn="ctr"/>
            <a:endParaRPr/>
          </a:p>
        </p:txBody>
      </p:sp>
      <p:sp>
        <p:nvSpPr>
          <p:cNvPr id="914" name="TextBox 913"/>
          <p:cNvSpPr txBox="1"/>
          <p:nvPr/>
        </p:nvSpPr>
        <p:spPr>
          <a:xfrm>
            <a:off x="3529027" y="2050000"/>
            <a:ext cx="3014937" cy="560000"/>
          </a:xfrm>
          <a:prstGeom prst="rect">
            <a:avLst/>
          </a:prstGeom>
          <a:noFill/>
        </p:spPr>
        <p:txBody>
          <a:bodyPr wrap="square" lIns="72000" tIns="36000" rIns="72000" bIns="36000" anchor="ctr">
            <a:spAutoFit/>
          </a:bodyPr>
          <a:lstStyle/>
          <a:p>
            <a:pPr algn="l"/>
            <a:r>
              <a:rPr sz="950" b="0">
                <a:solidFill>
                  <a:srgbClr val="555555"/>
                </a:solidFill>
                <a:latin typeface="メイリオ"/>
                <a:ea typeface="メイリオ"/>
                <a:cs typeface="メイリオ"/>
              </a:rPr>
              <a:t>tunaと管理画面のデータ確認</a:t>
            </a:r>
          </a:p>
        </p:txBody>
      </p:sp>
      <p:sp>
        <p:nvSpPr>
          <p:cNvPr id="915" name="Rectangle 914"/>
          <p:cNvSpPr/>
          <p:nvPr/>
        </p:nvSpPr>
        <p:spPr>
          <a:xfrm>
            <a:off x="384048" y="2650000"/>
            <a:ext cx="9134856" cy="560000"/>
          </a:xfrm>
          <a:prstGeom prst="rect">
            <a:avLst/>
          </a:prstGeom>
          <a:solidFill>
            <a:srgbClr val="FFFFFF"/>
          </a:solidFill>
          <a:ln>
            <a:noFill/>
          </a:ln>
          <a:effectLst/>
        </p:spPr>
        <p:txBody>
          <a:bodyPr rtlCol="0" anchor="ctr"/>
          <a:lstStyle/>
          <a:p>
            <a:pPr algn="ctr"/>
            <a:endParaRPr/>
          </a:p>
        </p:txBody>
      </p:sp>
      <p:sp>
        <p:nvSpPr>
          <p:cNvPr id="916" name="TextBox 915"/>
          <p:cNvSpPr txBox="1"/>
          <p:nvPr/>
        </p:nvSpPr>
        <p:spPr>
          <a:xfrm>
            <a:off x="384048" y="2650000"/>
            <a:ext cx="2100000" cy="560000"/>
          </a:xfrm>
          <a:prstGeom prst="rect">
            <a:avLst/>
          </a:prstGeom>
          <a:noFill/>
        </p:spPr>
        <p:txBody>
          <a:bodyPr wrap="square" lIns="72000" tIns="36000" rIns="72000" bIns="36000" anchor="ctr">
            <a:spAutoFit/>
          </a:bodyPr>
          <a:lstStyle/>
          <a:p>
            <a:pPr algn="l"/>
            <a:r>
              <a:rPr sz="1100" b="1">
                <a:solidFill>
                  <a:srgbClr val="1F3A5F"/>
                </a:solidFill>
                <a:latin typeface="メイリオ"/>
                <a:ea typeface="メイリオ"/>
                <a:cs typeface="メイリオ"/>
              </a:rPr>
              <a:t>設計・制作・設定</a:t>
            </a:r>
          </a:p>
        </p:txBody>
      </p:sp>
      <p:sp>
        <p:nvSpPr>
          <p:cNvPr id="917" name="Rounded Rectangle 916"/>
          <p:cNvSpPr/>
          <p:nvPr/>
        </p:nvSpPr>
        <p:spPr>
          <a:xfrm>
            <a:off x="2514048" y="2760000"/>
            <a:ext cx="944979" cy="340000"/>
          </a:xfrm>
          <a:prstGeom prst="roundRect">
            <a:avLst>
              <a:gd name="adj" fmla="val 40000"/>
            </a:avLst>
          </a:prstGeom>
          <a:solidFill>
            <a:srgbClr val="24345A"/>
          </a:solidFill>
          <a:ln>
            <a:noFill/>
          </a:ln>
          <a:effectLst/>
        </p:spPr>
        <p:txBody>
          <a:bodyPr wrap="square" lIns="72000" tIns="36000" rIns="72000" bIns="36000" rtlCol="0" anchor="ctr"/>
          <a:lstStyle/>
          <a:p>
            <a:pPr algn="ctr"/>
            <a:endParaRPr/>
          </a:p>
        </p:txBody>
      </p:sp>
      <p:sp>
        <p:nvSpPr>
          <p:cNvPr id="918" name="TextBox 917"/>
          <p:cNvSpPr txBox="1"/>
          <p:nvPr/>
        </p:nvSpPr>
        <p:spPr>
          <a:xfrm>
            <a:off x="3529027" y="2650000"/>
            <a:ext cx="3014937" cy="560000"/>
          </a:xfrm>
          <a:prstGeom prst="rect">
            <a:avLst/>
          </a:prstGeom>
          <a:noFill/>
        </p:spPr>
        <p:txBody>
          <a:bodyPr wrap="square" lIns="72000" tIns="36000" rIns="72000" bIns="36000" anchor="ctr">
            <a:spAutoFit/>
          </a:bodyPr>
          <a:lstStyle/>
          <a:p>
            <a:pPr algn="l"/>
            <a:r>
              <a:rPr sz="950" b="0">
                <a:solidFill>
                  <a:srgbClr val="555555"/>
                </a:solidFill>
                <a:latin typeface="メイリオ"/>
                <a:ea typeface="メイリオ"/>
                <a:cs typeface="メイリオ"/>
              </a:rPr>
              <a:t>あいさつ・ステップ・リッチメニュー</a:t>
            </a:r>
          </a:p>
        </p:txBody>
      </p:sp>
      <p:sp>
        <p:nvSpPr>
          <p:cNvPr id="919" name="Rectangle 918"/>
          <p:cNvSpPr/>
          <p:nvPr/>
        </p:nvSpPr>
        <p:spPr>
          <a:xfrm>
            <a:off x="384048" y="3250000"/>
            <a:ext cx="9134856" cy="560000"/>
          </a:xfrm>
          <a:prstGeom prst="rect">
            <a:avLst/>
          </a:prstGeom>
          <a:solidFill>
            <a:srgbClr val="F2F5F9"/>
          </a:solidFill>
          <a:ln>
            <a:noFill/>
          </a:ln>
          <a:effectLst/>
        </p:spPr>
        <p:txBody>
          <a:bodyPr rtlCol="0" anchor="ctr"/>
          <a:lstStyle/>
          <a:p>
            <a:pPr algn="ctr"/>
            <a:endParaRPr/>
          </a:p>
        </p:txBody>
      </p:sp>
      <p:sp>
        <p:nvSpPr>
          <p:cNvPr id="920" name="TextBox 919"/>
          <p:cNvSpPr txBox="1"/>
          <p:nvPr/>
        </p:nvSpPr>
        <p:spPr>
          <a:xfrm>
            <a:off x="384048" y="3250000"/>
            <a:ext cx="2100000" cy="560000"/>
          </a:xfrm>
          <a:prstGeom prst="rect">
            <a:avLst/>
          </a:prstGeom>
          <a:noFill/>
        </p:spPr>
        <p:txBody>
          <a:bodyPr wrap="square" lIns="72000" tIns="36000" rIns="72000" bIns="36000" anchor="ctr">
            <a:spAutoFit/>
          </a:bodyPr>
          <a:lstStyle/>
          <a:p>
            <a:pPr algn="l"/>
            <a:r>
              <a:rPr sz="1100" b="1">
                <a:solidFill>
                  <a:srgbClr val="1F3A5F"/>
                </a:solidFill>
                <a:latin typeface="メイリオ"/>
                <a:ea typeface="メイリオ"/>
                <a:cs typeface="メイリオ"/>
              </a:rPr>
              <a:t>ステップ配信の公開</a:t>
            </a:r>
          </a:p>
        </p:txBody>
      </p:sp>
      <p:sp>
        <p:nvSpPr>
          <p:cNvPr id="921" name="Rounded Rectangle 920"/>
          <p:cNvSpPr/>
          <p:nvPr/>
        </p:nvSpPr>
        <p:spPr>
          <a:xfrm>
            <a:off x="3519027" y="3360000"/>
            <a:ext cx="5969874" cy="340000"/>
          </a:xfrm>
          <a:prstGeom prst="roundRect">
            <a:avLst>
              <a:gd name="adj" fmla="val 40000"/>
            </a:avLst>
          </a:prstGeom>
          <a:solidFill>
            <a:srgbClr val="24345A"/>
          </a:solidFill>
          <a:ln>
            <a:noFill/>
          </a:ln>
          <a:effectLst/>
        </p:spPr>
        <p:txBody>
          <a:bodyPr wrap="square" lIns="72000" tIns="36000" rIns="72000" bIns="36000" rtlCol="0" anchor="ctr"/>
          <a:lstStyle/>
          <a:p>
            <a:pPr algn="ctr"/>
            <a:r>
              <a:rPr sz="950" b="0">
                <a:solidFill>
                  <a:srgbClr val="FFFFFF"/>
                </a:solidFill>
                <a:latin typeface="メイリオ"/>
                <a:ea typeface="メイリオ"/>
                <a:cs typeface="メイリオ"/>
              </a:rPr>
              <a:t>公開後は月1回の改善</a:t>
            </a:r>
          </a:p>
        </p:txBody>
      </p:sp>
      <p:sp>
        <p:nvSpPr>
          <p:cNvPr id="922" name="Rectangle 921"/>
          <p:cNvSpPr/>
          <p:nvPr/>
        </p:nvSpPr>
        <p:spPr>
          <a:xfrm>
            <a:off x="384048" y="3850000"/>
            <a:ext cx="9134856" cy="560000"/>
          </a:xfrm>
          <a:prstGeom prst="rect">
            <a:avLst/>
          </a:prstGeom>
          <a:solidFill>
            <a:srgbClr val="FFFFFF"/>
          </a:solidFill>
          <a:ln>
            <a:noFill/>
          </a:ln>
          <a:effectLst/>
        </p:spPr>
        <p:txBody>
          <a:bodyPr rtlCol="0" anchor="ctr"/>
          <a:lstStyle/>
          <a:p>
            <a:pPr algn="ctr"/>
            <a:endParaRPr/>
          </a:p>
        </p:txBody>
      </p:sp>
      <p:sp>
        <p:nvSpPr>
          <p:cNvPr id="923" name="TextBox 922"/>
          <p:cNvSpPr txBox="1"/>
          <p:nvPr/>
        </p:nvSpPr>
        <p:spPr>
          <a:xfrm>
            <a:off x="384048" y="3850000"/>
            <a:ext cx="2100000" cy="560000"/>
          </a:xfrm>
          <a:prstGeom prst="rect">
            <a:avLst/>
          </a:prstGeom>
          <a:noFill/>
        </p:spPr>
        <p:txBody>
          <a:bodyPr wrap="square" lIns="72000" tIns="36000" rIns="72000" bIns="36000" anchor="ctr">
            <a:spAutoFit/>
          </a:bodyPr>
          <a:lstStyle/>
          <a:p>
            <a:pPr algn="l"/>
            <a:r>
              <a:rPr sz="1100" b="1">
                <a:solidFill>
                  <a:srgbClr val="1F3A5F"/>
                </a:solidFill>
                <a:latin typeface="メイリオ"/>
                <a:ea typeface="メイリオ"/>
                <a:cs typeface="メイリオ"/>
              </a:rPr>
              <a:t>月1企画投稿</a:t>
            </a:r>
          </a:p>
        </p:txBody>
      </p:sp>
      <p:sp>
        <p:nvSpPr>
          <p:cNvPr id="924" name="Rounded Rectangle 923"/>
          <p:cNvSpPr/>
          <p:nvPr/>
        </p:nvSpPr>
        <p:spPr>
          <a:xfrm>
            <a:off x="3519027" y="3960000"/>
            <a:ext cx="5969874" cy="340000"/>
          </a:xfrm>
          <a:prstGeom prst="roundRect">
            <a:avLst>
              <a:gd name="adj" fmla="val 40000"/>
            </a:avLst>
          </a:prstGeom>
          <a:solidFill>
            <a:srgbClr val="06C755"/>
          </a:solidFill>
          <a:ln>
            <a:noFill/>
          </a:ln>
          <a:effectLst/>
        </p:spPr>
        <p:txBody>
          <a:bodyPr wrap="square" lIns="72000" tIns="36000" rIns="72000" bIns="36000" rtlCol="0" anchor="ctr"/>
          <a:lstStyle/>
          <a:p>
            <a:pPr algn="ctr"/>
            <a:r>
              <a:rPr sz="950" b="0">
                <a:solidFill>
                  <a:srgbClr val="FFFFFF"/>
                </a:solidFill>
                <a:latin typeface="メイリオ"/>
                <a:ea typeface="メイリオ"/>
                <a:cs typeface="メイリオ"/>
              </a:rPr>
              <a:t>毎月1本</a:t>
            </a:r>
          </a:p>
        </p:txBody>
      </p:sp>
      <p:sp>
        <p:nvSpPr>
          <p:cNvPr id="925" name="Rectangle 924"/>
          <p:cNvSpPr/>
          <p:nvPr/>
        </p:nvSpPr>
        <p:spPr>
          <a:xfrm>
            <a:off x="384048" y="4450000"/>
            <a:ext cx="9134856" cy="560000"/>
          </a:xfrm>
          <a:prstGeom prst="rect">
            <a:avLst/>
          </a:prstGeom>
          <a:solidFill>
            <a:srgbClr val="F2F5F9"/>
          </a:solidFill>
          <a:ln>
            <a:noFill/>
          </a:ln>
          <a:effectLst/>
        </p:spPr>
        <p:txBody>
          <a:bodyPr rtlCol="0" anchor="ctr"/>
          <a:lstStyle/>
          <a:p>
            <a:pPr algn="ctr"/>
            <a:endParaRPr/>
          </a:p>
        </p:txBody>
      </p:sp>
      <p:sp>
        <p:nvSpPr>
          <p:cNvPr id="926" name="TextBox 925"/>
          <p:cNvSpPr txBox="1"/>
          <p:nvPr/>
        </p:nvSpPr>
        <p:spPr>
          <a:xfrm>
            <a:off x="384048" y="4450000"/>
            <a:ext cx="2100000" cy="560000"/>
          </a:xfrm>
          <a:prstGeom prst="rect">
            <a:avLst/>
          </a:prstGeom>
          <a:noFill/>
        </p:spPr>
        <p:txBody>
          <a:bodyPr wrap="square" lIns="72000" tIns="36000" rIns="72000" bIns="36000" anchor="ctr">
            <a:spAutoFit/>
          </a:bodyPr>
          <a:lstStyle/>
          <a:p>
            <a:pPr algn="l"/>
            <a:r>
              <a:rPr sz="1100" b="1">
                <a:solidFill>
                  <a:srgbClr val="1F3A5F"/>
                </a:solidFill>
                <a:latin typeface="メイリオ"/>
                <a:ea typeface="メイリオ"/>
                <a:cs typeface="メイリオ"/>
              </a:rPr>
              <a:t>月次レポート</a:t>
            </a:r>
          </a:p>
        </p:txBody>
      </p:sp>
      <p:sp>
        <p:nvSpPr>
          <p:cNvPr id="927" name="Rounded Rectangle 926"/>
          <p:cNvSpPr/>
          <p:nvPr/>
        </p:nvSpPr>
        <p:spPr>
          <a:xfrm>
            <a:off x="4524006" y="4560000"/>
            <a:ext cx="4964895" cy="340000"/>
          </a:xfrm>
          <a:prstGeom prst="roundRect">
            <a:avLst>
              <a:gd name="adj" fmla="val 40000"/>
            </a:avLst>
          </a:prstGeom>
          <a:solidFill>
            <a:srgbClr val="24345A"/>
          </a:solidFill>
          <a:ln>
            <a:noFill/>
          </a:ln>
          <a:effectLst/>
        </p:spPr>
        <p:txBody>
          <a:bodyPr wrap="square" lIns="72000" tIns="36000" rIns="72000" bIns="36000" rtlCol="0" anchor="ctr"/>
          <a:lstStyle/>
          <a:p>
            <a:pPr algn="ctr"/>
            <a:r>
              <a:rPr sz="950" b="0">
                <a:solidFill>
                  <a:srgbClr val="FFFFFF"/>
                </a:solidFill>
                <a:latin typeface="メイリオ"/>
                <a:ea typeface="メイリオ"/>
                <a:cs typeface="メイリオ"/>
              </a:rPr>
              <a:t>前月分を毎月ご報告</a:t>
            </a:r>
          </a:p>
        </p:txBody>
      </p:sp>
      <p:sp>
        <p:nvSpPr>
          <p:cNvPr id="928" name="Rectangle 927"/>
          <p:cNvSpPr/>
          <p:nvPr/>
        </p:nvSpPr>
        <p:spPr>
          <a:xfrm>
            <a:off x="384048" y="5050000"/>
            <a:ext cx="9134856" cy="560000"/>
          </a:xfrm>
          <a:prstGeom prst="rect">
            <a:avLst/>
          </a:prstGeom>
          <a:solidFill>
            <a:srgbClr val="FFFFFF"/>
          </a:solidFill>
          <a:ln>
            <a:noFill/>
          </a:ln>
          <a:effectLst/>
        </p:spPr>
        <p:txBody>
          <a:bodyPr rtlCol="0" anchor="ctr"/>
          <a:lstStyle/>
          <a:p>
            <a:pPr algn="ctr"/>
            <a:endParaRPr/>
          </a:p>
        </p:txBody>
      </p:sp>
      <p:sp>
        <p:nvSpPr>
          <p:cNvPr id="929" name="TextBox 928"/>
          <p:cNvSpPr txBox="1"/>
          <p:nvPr/>
        </p:nvSpPr>
        <p:spPr>
          <a:xfrm>
            <a:off x="384048" y="5050000"/>
            <a:ext cx="2100000" cy="560000"/>
          </a:xfrm>
          <a:prstGeom prst="rect">
            <a:avLst/>
          </a:prstGeom>
          <a:noFill/>
        </p:spPr>
        <p:txBody>
          <a:bodyPr wrap="square" lIns="72000" tIns="36000" rIns="72000" bIns="36000" anchor="ctr">
            <a:spAutoFit/>
          </a:bodyPr>
          <a:lstStyle/>
          <a:p>
            <a:pPr algn="l"/>
            <a:r>
              <a:rPr sz="1100" b="1">
                <a:solidFill>
                  <a:srgbClr val="1F3A5F"/>
                </a:solidFill>
                <a:latin typeface="メイリオ"/>
                <a:ea typeface="メイリオ"/>
                <a:cs typeface="メイリオ"/>
              </a:rPr>
              <a:t>振り返り・次期ご提案</a:t>
            </a:r>
          </a:p>
        </p:txBody>
      </p:sp>
      <p:sp>
        <p:nvSpPr>
          <p:cNvPr id="930" name="Rounded Rectangle 929"/>
          <p:cNvSpPr/>
          <p:nvPr/>
        </p:nvSpPr>
        <p:spPr>
          <a:xfrm>
            <a:off x="8543922" y="5160000"/>
            <a:ext cx="944979" cy="340000"/>
          </a:xfrm>
          <a:prstGeom prst="roundRect">
            <a:avLst>
              <a:gd name="adj" fmla="val 40000"/>
            </a:avLst>
          </a:prstGeom>
          <a:solidFill>
            <a:srgbClr val="24345A"/>
          </a:solidFill>
          <a:ln>
            <a:noFill/>
          </a:ln>
          <a:effectLst/>
        </p:spPr>
        <p:txBody>
          <a:bodyPr wrap="square" lIns="72000" tIns="36000" rIns="72000" bIns="36000" rtlCol="0" anchor="ctr"/>
          <a:lstStyle/>
          <a:p>
            <a:pPr algn="ctr"/>
            <a:endParaRPr/>
          </a:p>
        </p:txBody>
      </p:sp>
      <p:sp>
        <p:nvSpPr>
          <p:cNvPr id="931" name="TextBox 930"/>
          <p:cNvSpPr txBox="1"/>
          <p:nvPr/>
        </p:nvSpPr>
        <p:spPr>
          <a:xfrm>
            <a:off x="2514048" y="5050000"/>
            <a:ext cx="5969874" cy="560000"/>
          </a:xfrm>
          <a:prstGeom prst="rect">
            <a:avLst/>
          </a:prstGeom>
          <a:noFill/>
        </p:spPr>
        <p:txBody>
          <a:bodyPr wrap="square" lIns="72000" tIns="36000" rIns="72000" bIns="36000" anchor="ctr">
            <a:spAutoFit/>
          </a:bodyPr>
          <a:lstStyle/>
          <a:p>
            <a:pPr algn="r"/>
            <a:r>
              <a:rPr sz="950" b="0">
                <a:solidFill>
                  <a:srgbClr val="555555"/>
                </a:solidFill>
                <a:latin typeface="メイリオ"/>
                <a:ea typeface="メイリオ"/>
                <a:cs typeface="メイリオ"/>
              </a:rPr>
              <a:t>半年の成果と次の打ち手</a:t>
            </a:r>
          </a:p>
        </p:txBody>
      </p:sp>
      <p:sp>
        <p:nvSpPr>
          <p:cNvPr id="932" name="TextBox 931"/>
          <p:cNvSpPr txBox="1"/>
          <p:nvPr/>
        </p:nvSpPr>
        <p:spPr>
          <a:xfrm>
            <a:off x="384048" y="5730000"/>
            <a:ext cx="9134856" cy="300000"/>
          </a:xfrm>
          <a:prstGeom prst="rect">
            <a:avLst/>
          </a:prstGeom>
          <a:noFill/>
        </p:spPr>
        <p:txBody>
          <a:bodyPr wrap="square" lIns="72000" tIns="36000" rIns="72000" bIns="36000" anchor="t">
            <a:spAutoFit/>
          </a:bodyPr>
          <a:lstStyle/>
          <a:p>
            <a:pPr algn="l"/>
            <a:r>
              <a:rPr sz="900" b="0">
                <a:solidFill>
                  <a:srgbClr val="555555"/>
                </a:solidFill>
                <a:latin typeface="メイリオ"/>
                <a:ea typeface="メイリオ"/>
                <a:cs typeface="メイリオ"/>
              </a:rPr>
              <a:t>※緑の月（3〜4月）はGW予約のピーク。CPFの配分を寄せるオプションもご提案できます</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883" y="138118"/>
            <a:ext cx="7900000" cy="338554"/>
          </a:xfrm>
          <a:prstGeom prst="rect">
            <a:avLst/>
          </a:prstGeom>
          <a:noFill/>
        </p:spPr>
        <p:txBody>
          <a:bodyPr wrap="square" lIns="72000" tIns="0" rIns="72000" bIns="0" anchor="ctr">
            <a:spAutoFit/>
          </a:bodyPr>
          <a:lstStyle/>
          <a:p>
            <a:pPr algn="l"/>
            <a:r>
              <a:rPr sz="1600" b="1">
                <a:solidFill>
                  <a:srgbClr val="002060"/>
                </a:solidFill>
                <a:latin typeface="メイリオ"/>
                <a:ea typeface="メイリオ"/>
                <a:cs typeface="メイリオ"/>
              </a:rPr>
              <a:t>資料アジェンダ</a:t>
            </a:r>
          </a:p>
        </p:txBody>
      </p:sp>
      <p:sp>
        <p:nvSpPr>
          <p:cNvPr id="3" name="TextBox 2"/>
          <p:cNvSpPr txBox="1"/>
          <p:nvPr/>
        </p:nvSpPr>
        <p:spPr>
          <a:xfrm>
            <a:off x="384048" y="2350000"/>
            <a:ext cx="9134856" cy="360000"/>
          </a:xfrm>
          <a:prstGeom prst="rect">
            <a:avLst/>
          </a:prstGeom>
          <a:noFill/>
        </p:spPr>
        <p:txBody>
          <a:bodyPr wrap="square" lIns="72000" tIns="36000" rIns="72000" bIns="36000" anchor="ctr">
            <a:spAutoFit/>
          </a:bodyPr>
          <a:lstStyle/>
          <a:p>
            <a:pPr algn="ctr"/>
            <a:r>
              <a:rPr sz="1200" b="1">
                <a:solidFill>
                  <a:srgbClr val="7F8896"/>
                </a:solidFill>
                <a:latin typeface="メイリオ"/>
                <a:ea typeface="メイリオ"/>
                <a:cs typeface="メイリオ"/>
              </a:rPr>
              <a:t>SECTION 5</a:t>
            </a:r>
          </a:p>
        </p:txBody>
      </p:sp>
      <p:sp>
        <p:nvSpPr>
          <p:cNvPr id="4" name="TextBox 3"/>
          <p:cNvSpPr txBox="1"/>
          <p:nvPr/>
        </p:nvSpPr>
        <p:spPr>
          <a:xfrm>
            <a:off x="384048" y="2750000"/>
            <a:ext cx="9134856" cy="700000"/>
          </a:xfrm>
          <a:prstGeom prst="rect">
            <a:avLst/>
          </a:prstGeom>
          <a:noFill/>
        </p:spPr>
        <p:txBody>
          <a:bodyPr wrap="square" lIns="72000" tIns="36000" rIns="72000" bIns="36000" anchor="ctr">
            <a:spAutoFit/>
          </a:bodyPr>
          <a:lstStyle/>
          <a:p>
            <a:pPr algn="ctr"/>
            <a:r>
              <a:rPr sz="3200" b="1">
                <a:solidFill>
                  <a:srgbClr val="404040"/>
                </a:solidFill>
                <a:latin typeface="メイリオ"/>
                <a:ea typeface="メイリオ"/>
                <a:cs typeface="メイリオ"/>
              </a:rPr>
              <a:t>費用・次のステップ</a:t>
            </a:r>
          </a:p>
        </p:txBody>
      </p:sp>
      <p:sp>
        <p:nvSpPr>
          <p:cNvPr id="5" name="TextBox 4"/>
          <p:cNvSpPr txBox="1"/>
          <p:nvPr/>
        </p:nvSpPr>
        <p:spPr>
          <a:xfrm>
            <a:off x="384048" y="3500000"/>
            <a:ext cx="9134856" cy="400000"/>
          </a:xfrm>
          <a:prstGeom prst="rect">
            <a:avLst/>
          </a:prstGeom>
          <a:noFill/>
        </p:spPr>
        <p:txBody>
          <a:bodyPr wrap="square" lIns="72000" tIns="36000" rIns="72000" bIns="36000" anchor="ctr">
            <a:spAutoFit/>
          </a:bodyPr>
          <a:lstStyle/>
          <a:p>
            <a:pPr algn="ctr"/>
            <a:r>
              <a:rPr sz="1300" b="0">
                <a:solidFill>
                  <a:srgbClr val="7F7F7F"/>
                </a:solidFill>
                <a:latin typeface="メイリオ"/>
                <a:ea typeface="メイリオ"/>
                <a:cs typeface="メイリオ"/>
              </a:rPr>
              <a:t>初期構築25万円＋月額20万円（現状と同額）</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LeadBand"/>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anchor="ctr"/>
          <a:lstStyle/>
          <a:p>
            <a:endParaRPr lang="ja-JP"/>
          </a:p>
        </p:txBody>
      </p:sp>
      <p:cxnSp>
        <p:nvCxnSpPr>
          <p:cNvPr id="901" name="LeadBandLine"/>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902" name="TextBox 901"/>
          <p:cNvSpPr txBox="1"/>
          <p:nvPr/>
        </p:nvSpPr>
        <p:spPr>
          <a:xfrm>
            <a:off x="379976" y="635062"/>
            <a:ext cx="9160881" cy="698492"/>
          </a:xfrm>
          <a:prstGeom prst="rect">
            <a:avLst/>
          </a:prstGeom>
          <a:noFill/>
        </p:spPr>
        <p:txBody>
          <a:bodyPr wrap="square" lIns="72000" tIns="36000" rIns="72000" bIns="36000" anchor="ctr">
            <a:spAutoFit/>
          </a:bodyPr>
          <a:lstStyle/>
          <a:p>
            <a:pPr algn="ctr"/>
            <a:r>
              <a:rPr sz="1200" b="0">
                <a:solidFill>
                  <a:srgbClr val="333333"/>
                </a:solidFill>
                <a:latin typeface="メイリオ"/>
                <a:ea typeface="メイリオ"/>
                <a:cs typeface="メイリオ"/>
              </a:rPr>
              <a:t>初期構築25万円（一回）と、月額20万円（運用10万円＋CPF10万円）です</a:t>
            </a:r>
          </a:p>
        </p:txBody>
      </p:sp>
      <p:sp>
        <p:nvSpPr>
          <p:cNvPr id="903" name="TextBox 902"/>
          <p:cNvSpPr txBox="1"/>
          <p:nvPr/>
        </p:nvSpPr>
        <p:spPr>
          <a:xfrm>
            <a:off x="548883" y="138118"/>
            <a:ext cx="7900000" cy="338554"/>
          </a:xfrm>
          <a:prstGeom prst="rect">
            <a:avLst/>
          </a:prstGeom>
          <a:noFill/>
        </p:spPr>
        <p:txBody>
          <a:bodyPr wrap="square" lIns="72000" tIns="0" rIns="72000" bIns="0" anchor="ctr">
            <a:spAutoFit/>
          </a:bodyPr>
          <a:lstStyle/>
          <a:p>
            <a:pPr algn="l"/>
            <a:r>
              <a:rPr sz="1600" b="1">
                <a:solidFill>
                  <a:srgbClr val="002060"/>
                </a:solidFill>
                <a:latin typeface="メイリオ"/>
                <a:ea typeface="メイリオ"/>
                <a:cs typeface="メイリオ"/>
              </a:rPr>
              <a:t>費用</a:t>
            </a:r>
          </a:p>
        </p:txBody>
      </p:sp>
      <p:sp>
        <p:nvSpPr>
          <p:cNvPr id="904" name="Rounded Rectangle 903"/>
          <p:cNvSpPr/>
          <p:nvPr/>
        </p:nvSpPr>
        <p:spPr>
          <a:xfrm>
            <a:off x="384048" y="1630000"/>
            <a:ext cx="2849880" cy="2700000"/>
          </a:xfrm>
          <a:prstGeom prst="roundRect">
            <a:avLst>
              <a:gd name="adj" fmla="val 5000"/>
            </a:avLst>
          </a:prstGeom>
          <a:solidFill>
            <a:srgbClr val="EEF1F5"/>
          </a:solidFill>
          <a:ln w="12700">
            <a:solidFill>
              <a:srgbClr val="7F8896"/>
            </a:solidFill>
          </a:ln>
          <a:effectLst/>
        </p:spPr>
        <p:txBody>
          <a:bodyPr rtlCol="0" anchor="ctr"/>
          <a:lstStyle/>
          <a:p>
            <a:pPr algn="ctr"/>
            <a:endParaRPr/>
          </a:p>
        </p:txBody>
      </p:sp>
      <p:sp>
        <p:nvSpPr>
          <p:cNvPr id="905" name="Rounded Rectangle 904"/>
          <p:cNvSpPr/>
          <p:nvPr/>
        </p:nvSpPr>
        <p:spPr>
          <a:xfrm>
            <a:off x="384048" y="1630000"/>
            <a:ext cx="2849880" cy="420000"/>
          </a:xfrm>
          <a:prstGeom prst="roundRect">
            <a:avLst>
              <a:gd name="adj" fmla="val 20000"/>
            </a:avLst>
          </a:prstGeom>
          <a:solidFill>
            <a:srgbClr val="24345A"/>
          </a:solidFill>
          <a:ln>
            <a:noFill/>
          </a:ln>
          <a:effectLst/>
        </p:spPr>
        <p:txBody>
          <a:bodyPr wrap="square" lIns="72000" tIns="36000" rIns="72000" bIns="36000" rtlCol="0" anchor="ctr"/>
          <a:lstStyle/>
          <a:p>
            <a:pPr algn="ctr"/>
            <a:r>
              <a:rPr sz="1300" b="1">
                <a:solidFill>
                  <a:srgbClr val="FFFFFF"/>
                </a:solidFill>
                <a:latin typeface="メイリオ"/>
                <a:ea typeface="メイリオ"/>
                <a:cs typeface="メイリオ"/>
              </a:rPr>
              <a:t>初期構築（一回）</a:t>
            </a:r>
          </a:p>
        </p:txBody>
      </p:sp>
      <p:sp>
        <p:nvSpPr>
          <p:cNvPr id="906" name="TextBox 905"/>
          <p:cNvSpPr txBox="1"/>
          <p:nvPr/>
        </p:nvSpPr>
        <p:spPr>
          <a:xfrm>
            <a:off x="384048" y="2180000"/>
            <a:ext cx="2849880" cy="700000"/>
          </a:xfrm>
          <a:prstGeom prst="rect">
            <a:avLst/>
          </a:prstGeom>
          <a:noFill/>
        </p:spPr>
        <p:txBody>
          <a:bodyPr wrap="square" lIns="72000" tIns="36000" rIns="72000" bIns="36000" anchor="ctr">
            <a:spAutoFit/>
          </a:bodyPr>
          <a:lstStyle/>
          <a:p>
            <a:pPr algn="ctr"/>
            <a:r>
              <a:rPr sz="2800" b="1">
                <a:solidFill>
                  <a:srgbClr val="C00000"/>
                </a:solidFill>
                <a:latin typeface="メイリオ"/>
                <a:ea typeface="メイリオ"/>
                <a:cs typeface="メイリオ"/>
              </a:rPr>
              <a:t>25</a:t>
            </a:r>
            <a:r>
              <a:rPr sz="1400" b="1">
                <a:solidFill>
                  <a:srgbClr val="C00000"/>
                </a:solidFill>
                <a:latin typeface="メイリオ"/>
                <a:ea typeface="メイリオ"/>
                <a:cs typeface="メイリオ"/>
              </a:rPr>
              <a:t>万円</a:t>
            </a:r>
          </a:p>
        </p:txBody>
      </p:sp>
      <p:sp>
        <p:nvSpPr>
          <p:cNvPr id="907" name="TextBox 906"/>
          <p:cNvSpPr txBox="1"/>
          <p:nvPr/>
        </p:nvSpPr>
        <p:spPr>
          <a:xfrm>
            <a:off x="504048" y="3030000"/>
            <a:ext cx="2609880" cy="1800000"/>
          </a:xfrm>
          <a:prstGeom prst="rect">
            <a:avLst/>
          </a:prstGeom>
          <a:noFill/>
        </p:spPr>
        <p:txBody>
          <a:bodyPr wrap="square" lIns="72000" tIns="36000" rIns="72000" bIns="36000" anchor="t">
            <a:spAutoFit/>
          </a:bodyPr>
          <a:lstStyle/>
          <a:p>
            <a:pPr algn="l">
              <a:spcAft>
                <a:spcPts val="400"/>
              </a:spcAft>
            </a:pPr>
            <a:r>
              <a:rPr sz="800" b="0">
                <a:solidFill>
                  <a:srgbClr val="1F3A5F"/>
                </a:solidFill>
                <a:latin typeface="メイリオ"/>
                <a:ea typeface="メイリオ"/>
                <a:cs typeface="メイリオ"/>
              </a:rPr>
              <a:t>● </a:t>
            </a:r>
            <a:r>
              <a:rPr sz="1100" b="0">
                <a:solidFill>
                  <a:srgbClr val="333333"/>
                </a:solidFill>
                <a:latin typeface="メイリオ"/>
                <a:ea typeface="メイリオ"/>
                <a:cs typeface="メイリオ"/>
              </a:rPr>
              <a:t>あいさつ・ステップ配信・リッチメニュー</a:t>
            </a:r>
          </a:p>
          <a:p>
            <a:pPr algn="l">
              <a:spcAft>
                <a:spcPts val="400"/>
              </a:spcAft>
            </a:pPr>
            <a:r>
              <a:rPr sz="800" b="0">
                <a:solidFill>
                  <a:srgbClr val="1F3A5F"/>
                </a:solidFill>
                <a:latin typeface="メイリオ"/>
                <a:ea typeface="メイリオ"/>
                <a:cs typeface="メイリオ"/>
              </a:rPr>
              <a:t>● </a:t>
            </a:r>
            <a:r>
              <a:rPr sz="1100" b="0">
                <a:solidFill>
                  <a:srgbClr val="333333"/>
                </a:solidFill>
                <a:latin typeface="メイリオ"/>
                <a:ea typeface="メイリオ"/>
                <a:cs typeface="メイリオ"/>
              </a:rPr>
              <a:t>tunaのラベル設計・宿泊後の配信</a:t>
            </a:r>
          </a:p>
          <a:p>
            <a:pPr algn="l">
              <a:spcAft>
                <a:spcPts val="400"/>
              </a:spcAft>
            </a:pPr>
            <a:r>
              <a:rPr sz="800" b="0">
                <a:solidFill>
                  <a:srgbClr val="1F3A5F"/>
                </a:solidFill>
                <a:latin typeface="メイリオ"/>
                <a:ea typeface="メイリオ"/>
                <a:cs typeface="メイリオ"/>
              </a:rPr>
              <a:t>● </a:t>
            </a:r>
            <a:r>
              <a:rPr sz="1100" b="0">
                <a:solidFill>
                  <a:srgbClr val="333333"/>
                </a:solidFill>
                <a:latin typeface="メイリオ"/>
                <a:ea typeface="メイリオ"/>
                <a:cs typeface="メイリオ"/>
              </a:rPr>
              <a:t>会員登録カードの作り直し</a:t>
            </a:r>
          </a:p>
        </p:txBody>
      </p:sp>
      <p:sp>
        <p:nvSpPr>
          <p:cNvPr id="908" name="Rounded Rectangle 907"/>
          <p:cNvSpPr/>
          <p:nvPr/>
        </p:nvSpPr>
        <p:spPr>
          <a:xfrm>
            <a:off x="3526536" y="1630000"/>
            <a:ext cx="2849880" cy="2700000"/>
          </a:xfrm>
          <a:prstGeom prst="roundRect">
            <a:avLst>
              <a:gd name="adj" fmla="val 5000"/>
            </a:avLst>
          </a:prstGeom>
          <a:solidFill>
            <a:srgbClr val="EEF1F5"/>
          </a:solidFill>
          <a:ln w="12700">
            <a:solidFill>
              <a:srgbClr val="7F8896"/>
            </a:solidFill>
          </a:ln>
          <a:effectLst/>
        </p:spPr>
        <p:txBody>
          <a:bodyPr rtlCol="0" anchor="ctr"/>
          <a:lstStyle/>
          <a:p>
            <a:pPr algn="ctr"/>
            <a:endParaRPr/>
          </a:p>
        </p:txBody>
      </p:sp>
      <p:sp>
        <p:nvSpPr>
          <p:cNvPr id="909" name="Rounded Rectangle 908"/>
          <p:cNvSpPr/>
          <p:nvPr/>
        </p:nvSpPr>
        <p:spPr>
          <a:xfrm>
            <a:off x="3526536" y="1630000"/>
            <a:ext cx="2849880" cy="420000"/>
          </a:xfrm>
          <a:prstGeom prst="roundRect">
            <a:avLst>
              <a:gd name="adj" fmla="val 20000"/>
            </a:avLst>
          </a:prstGeom>
          <a:solidFill>
            <a:srgbClr val="06C755"/>
          </a:solidFill>
          <a:ln>
            <a:noFill/>
          </a:ln>
          <a:effectLst/>
        </p:spPr>
        <p:txBody>
          <a:bodyPr wrap="square" lIns="72000" tIns="36000" rIns="72000" bIns="36000" rtlCol="0" anchor="ctr"/>
          <a:lstStyle/>
          <a:p>
            <a:pPr algn="ctr"/>
            <a:r>
              <a:rPr sz="1300" b="1">
                <a:solidFill>
                  <a:srgbClr val="FFFFFF"/>
                </a:solidFill>
                <a:latin typeface="メイリオ"/>
                <a:ea typeface="メイリオ"/>
                <a:cs typeface="メイリオ"/>
              </a:rPr>
              <a:t>運用（月額）</a:t>
            </a:r>
          </a:p>
        </p:txBody>
      </p:sp>
      <p:sp>
        <p:nvSpPr>
          <p:cNvPr id="910" name="TextBox 909"/>
          <p:cNvSpPr txBox="1"/>
          <p:nvPr/>
        </p:nvSpPr>
        <p:spPr>
          <a:xfrm>
            <a:off x="3526536" y="2180000"/>
            <a:ext cx="2849880" cy="700000"/>
          </a:xfrm>
          <a:prstGeom prst="rect">
            <a:avLst/>
          </a:prstGeom>
          <a:noFill/>
        </p:spPr>
        <p:txBody>
          <a:bodyPr wrap="square" lIns="72000" tIns="36000" rIns="72000" bIns="36000" anchor="ctr">
            <a:spAutoFit/>
          </a:bodyPr>
          <a:lstStyle/>
          <a:p>
            <a:pPr algn="ctr"/>
            <a:r>
              <a:rPr sz="2800" b="1">
                <a:solidFill>
                  <a:srgbClr val="C00000"/>
                </a:solidFill>
                <a:latin typeface="メイリオ"/>
                <a:ea typeface="メイリオ"/>
                <a:cs typeface="メイリオ"/>
              </a:rPr>
              <a:t>10</a:t>
            </a:r>
            <a:r>
              <a:rPr sz="1400" b="1">
                <a:solidFill>
                  <a:srgbClr val="C00000"/>
                </a:solidFill>
                <a:latin typeface="メイリオ"/>
                <a:ea typeface="メイリオ"/>
                <a:cs typeface="メイリオ"/>
              </a:rPr>
              <a:t>万円</a:t>
            </a:r>
          </a:p>
        </p:txBody>
      </p:sp>
      <p:sp>
        <p:nvSpPr>
          <p:cNvPr id="911" name="TextBox 910"/>
          <p:cNvSpPr txBox="1"/>
          <p:nvPr/>
        </p:nvSpPr>
        <p:spPr>
          <a:xfrm>
            <a:off x="3646536" y="3030000"/>
            <a:ext cx="2609880" cy="1800000"/>
          </a:xfrm>
          <a:prstGeom prst="rect">
            <a:avLst/>
          </a:prstGeom>
          <a:noFill/>
        </p:spPr>
        <p:txBody>
          <a:bodyPr wrap="square" lIns="72000" tIns="36000" rIns="72000" bIns="36000" anchor="t">
            <a:spAutoFit/>
          </a:bodyPr>
          <a:lstStyle/>
          <a:p>
            <a:pPr algn="l">
              <a:spcAft>
                <a:spcPts val="400"/>
              </a:spcAft>
            </a:pPr>
            <a:r>
              <a:rPr sz="800" b="0">
                <a:solidFill>
                  <a:srgbClr val="06C755"/>
                </a:solidFill>
                <a:latin typeface="メイリオ"/>
                <a:ea typeface="メイリオ"/>
                <a:cs typeface="メイリオ"/>
              </a:rPr>
              <a:t>● </a:t>
            </a:r>
            <a:r>
              <a:rPr sz="1100" b="0">
                <a:solidFill>
                  <a:srgbClr val="333333"/>
                </a:solidFill>
                <a:latin typeface="メイリオ"/>
                <a:ea typeface="メイリオ"/>
                <a:cs typeface="メイリオ"/>
              </a:rPr>
              <a:t>月1企画（クリエイティブ1点）</a:t>
            </a:r>
          </a:p>
          <a:p>
            <a:pPr algn="l">
              <a:spcAft>
                <a:spcPts val="400"/>
              </a:spcAft>
            </a:pPr>
            <a:r>
              <a:rPr sz="800" b="0">
                <a:solidFill>
                  <a:srgbClr val="06C755"/>
                </a:solidFill>
                <a:latin typeface="メイリオ"/>
                <a:ea typeface="メイリオ"/>
                <a:cs typeface="メイリオ"/>
              </a:rPr>
              <a:t>● </a:t>
            </a:r>
            <a:r>
              <a:rPr sz="1100" b="0">
                <a:solidFill>
                  <a:srgbClr val="333333"/>
                </a:solidFill>
                <a:latin typeface="メイリオ"/>
                <a:ea typeface="メイリオ"/>
                <a:cs typeface="メイリオ"/>
              </a:rPr>
              <a:t>ステップ配信の改善</a:t>
            </a:r>
          </a:p>
          <a:p>
            <a:pPr algn="l">
              <a:spcAft>
                <a:spcPts val="400"/>
              </a:spcAft>
            </a:pPr>
            <a:r>
              <a:rPr sz="800" b="0">
                <a:solidFill>
                  <a:srgbClr val="06C755"/>
                </a:solidFill>
                <a:latin typeface="メイリオ"/>
                <a:ea typeface="メイリオ"/>
                <a:cs typeface="メイリオ"/>
              </a:rPr>
              <a:t>● </a:t>
            </a:r>
            <a:r>
              <a:rPr sz="1100" b="0">
                <a:solidFill>
                  <a:srgbClr val="333333"/>
                </a:solidFill>
                <a:latin typeface="メイリオ"/>
                <a:ea typeface="メイリオ"/>
                <a:cs typeface="メイリオ"/>
              </a:rPr>
              <a:t>月次レポート</a:t>
            </a:r>
          </a:p>
        </p:txBody>
      </p:sp>
      <p:sp>
        <p:nvSpPr>
          <p:cNvPr id="912" name="Rounded Rectangle 911"/>
          <p:cNvSpPr/>
          <p:nvPr/>
        </p:nvSpPr>
        <p:spPr>
          <a:xfrm>
            <a:off x="6669024" y="1630000"/>
            <a:ext cx="2849880" cy="2700000"/>
          </a:xfrm>
          <a:prstGeom prst="roundRect">
            <a:avLst>
              <a:gd name="adj" fmla="val 5000"/>
            </a:avLst>
          </a:prstGeom>
          <a:solidFill>
            <a:srgbClr val="EEF1F5"/>
          </a:solidFill>
          <a:ln w="12700">
            <a:solidFill>
              <a:srgbClr val="7F8896"/>
            </a:solidFill>
          </a:ln>
          <a:effectLst/>
        </p:spPr>
        <p:txBody>
          <a:bodyPr rtlCol="0" anchor="ctr"/>
          <a:lstStyle/>
          <a:p>
            <a:pPr algn="ctr"/>
            <a:endParaRPr/>
          </a:p>
        </p:txBody>
      </p:sp>
      <p:sp>
        <p:nvSpPr>
          <p:cNvPr id="913" name="Rounded Rectangle 912"/>
          <p:cNvSpPr/>
          <p:nvPr/>
        </p:nvSpPr>
        <p:spPr>
          <a:xfrm>
            <a:off x="6669024" y="1630000"/>
            <a:ext cx="2849880" cy="420000"/>
          </a:xfrm>
          <a:prstGeom prst="roundRect">
            <a:avLst>
              <a:gd name="adj" fmla="val 20000"/>
            </a:avLst>
          </a:prstGeom>
          <a:solidFill>
            <a:srgbClr val="24345A"/>
          </a:solidFill>
          <a:ln>
            <a:noFill/>
          </a:ln>
          <a:effectLst/>
        </p:spPr>
        <p:txBody>
          <a:bodyPr wrap="square" lIns="72000" tIns="36000" rIns="72000" bIns="36000" rtlCol="0" anchor="ctr"/>
          <a:lstStyle/>
          <a:p>
            <a:pPr algn="ctr"/>
            <a:r>
              <a:rPr sz="1300" b="1">
                <a:solidFill>
                  <a:srgbClr val="FFFFFF"/>
                </a:solidFill>
                <a:latin typeface="メイリオ"/>
                <a:ea typeface="メイリオ"/>
                <a:cs typeface="メイリオ"/>
              </a:rPr>
              <a:t>CPF（月額・広告費）</a:t>
            </a:r>
          </a:p>
        </p:txBody>
      </p:sp>
      <p:sp>
        <p:nvSpPr>
          <p:cNvPr id="914" name="TextBox 913"/>
          <p:cNvSpPr txBox="1"/>
          <p:nvPr/>
        </p:nvSpPr>
        <p:spPr>
          <a:xfrm>
            <a:off x="6669024" y="2180000"/>
            <a:ext cx="2849880" cy="700000"/>
          </a:xfrm>
          <a:prstGeom prst="rect">
            <a:avLst/>
          </a:prstGeom>
          <a:noFill/>
        </p:spPr>
        <p:txBody>
          <a:bodyPr wrap="square" lIns="72000" tIns="36000" rIns="72000" bIns="36000" anchor="ctr">
            <a:spAutoFit/>
          </a:bodyPr>
          <a:lstStyle/>
          <a:p>
            <a:pPr algn="ctr"/>
            <a:r>
              <a:rPr sz="2800" b="1">
                <a:solidFill>
                  <a:srgbClr val="C00000"/>
                </a:solidFill>
                <a:latin typeface="メイリオ"/>
                <a:ea typeface="メイリオ"/>
                <a:cs typeface="メイリオ"/>
              </a:rPr>
              <a:t>10</a:t>
            </a:r>
            <a:r>
              <a:rPr sz="1400" b="1">
                <a:solidFill>
                  <a:srgbClr val="C00000"/>
                </a:solidFill>
                <a:latin typeface="メイリオ"/>
                <a:ea typeface="メイリオ"/>
                <a:cs typeface="メイリオ"/>
              </a:rPr>
              <a:t>万円</a:t>
            </a:r>
          </a:p>
        </p:txBody>
      </p:sp>
      <p:sp>
        <p:nvSpPr>
          <p:cNvPr id="915" name="TextBox 914"/>
          <p:cNvSpPr txBox="1"/>
          <p:nvPr/>
        </p:nvSpPr>
        <p:spPr>
          <a:xfrm>
            <a:off x="6789024" y="3030000"/>
            <a:ext cx="2609880" cy="1800000"/>
          </a:xfrm>
          <a:prstGeom prst="rect">
            <a:avLst/>
          </a:prstGeom>
          <a:noFill/>
        </p:spPr>
        <p:txBody>
          <a:bodyPr wrap="square" lIns="72000" tIns="36000" rIns="72000" bIns="36000" anchor="t">
            <a:spAutoFit/>
          </a:bodyPr>
          <a:lstStyle/>
          <a:p>
            <a:pPr algn="l">
              <a:spcAft>
                <a:spcPts val="400"/>
              </a:spcAft>
            </a:pPr>
            <a:r>
              <a:rPr sz="800" b="0">
                <a:solidFill>
                  <a:srgbClr val="1F3A5F"/>
                </a:solidFill>
                <a:latin typeface="メイリオ"/>
                <a:ea typeface="メイリオ"/>
                <a:cs typeface="メイリオ"/>
              </a:rPr>
              <a:t>● </a:t>
            </a:r>
            <a:r>
              <a:rPr sz="1100" b="0">
                <a:solidFill>
                  <a:srgbClr val="333333"/>
                </a:solidFill>
                <a:latin typeface="メイリオ"/>
                <a:ea typeface="メイリオ"/>
                <a:cs typeface="メイリオ"/>
              </a:rPr>
              <a:t>友だち追加広告</a:t>
            </a:r>
          </a:p>
          <a:p>
            <a:pPr algn="l">
              <a:spcAft>
                <a:spcPts val="400"/>
              </a:spcAft>
            </a:pPr>
            <a:r>
              <a:rPr sz="800" b="0">
                <a:solidFill>
                  <a:srgbClr val="1F3A5F"/>
                </a:solidFill>
                <a:latin typeface="メイリオ"/>
                <a:ea typeface="メイリオ"/>
                <a:cs typeface="メイリオ"/>
              </a:rPr>
              <a:t>● </a:t>
            </a:r>
            <a:r>
              <a:rPr sz="1100" b="0">
                <a:solidFill>
                  <a:srgbClr val="333333"/>
                </a:solidFill>
                <a:latin typeface="メイリオ"/>
                <a:ea typeface="メイリオ"/>
                <a:cs typeface="メイリオ"/>
              </a:rPr>
              <a:t>現状の20万円から組み替え</a:t>
            </a:r>
          </a:p>
          <a:p>
            <a:pPr algn="l">
              <a:spcAft>
                <a:spcPts val="400"/>
              </a:spcAft>
            </a:pPr>
            <a:r>
              <a:rPr sz="800" b="0">
                <a:solidFill>
                  <a:srgbClr val="1F3A5F"/>
                </a:solidFill>
                <a:latin typeface="メイリオ"/>
                <a:ea typeface="メイリオ"/>
                <a:cs typeface="メイリオ"/>
              </a:rPr>
              <a:t>● </a:t>
            </a:r>
            <a:r>
              <a:rPr sz="1100" b="0">
                <a:solidFill>
                  <a:srgbClr val="333333"/>
                </a:solidFill>
                <a:latin typeface="メイリオ"/>
                <a:ea typeface="メイリオ"/>
                <a:cs typeface="メイリオ"/>
              </a:rPr>
              <a:t>媒体費として別途</a:t>
            </a:r>
          </a:p>
        </p:txBody>
      </p:sp>
      <p:sp>
        <p:nvSpPr>
          <p:cNvPr id="916" name="Rounded Rectangle 915"/>
          <p:cNvSpPr/>
          <p:nvPr/>
        </p:nvSpPr>
        <p:spPr>
          <a:xfrm>
            <a:off x="384048" y="4530000"/>
            <a:ext cx="9134856" cy="560000"/>
          </a:xfrm>
          <a:prstGeom prst="roundRect">
            <a:avLst>
              <a:gd name="adj" fmla="val 12000"/>
            </a:avLst>
          </a:prstGeom>
          <a:solidFill>
            <a:srgbClr val="24345A"/>
          </a:solidFill>
          <a:ln>
            <a:noFill/>
          </a:ln>
          <a:effectLst/>
        </p:spPr>
        <p:txBody>
          <a:bodyPr wrap="square" lIns="72000" tIns="36000" rIns="72000" bIns="36000" rtlCol="0" anchor="ctr"/>
          <a:lstStyle/>
          <a:p>
            <a:pPr algn="ctr"/>
            <a:r>
              <a:rPr sz="1300" b="1">
                <a:solidFill>
                  <a:srgbClr val="FFFFFF"/>
                </a:solidFill>
                <a:latin typeface="メイリオ"/>
                <a:ea typeface="メイリオ"/>
                <a:cs typeface="メイリオ"/>
              </a:rPr>
              <a:t>月額合計20万円（現状と同額）＋初期構築25万円　ご契約期間：6ヶ月</a:t>
            </a:r>
          </a:p>
        </p:txBody>
      </p:sp>
      <p:sp>
        <p:nvSpPr>
          <p:cNvPr id="917" name="TextBox 916"/>
          <p:cNvSpPr txBox="1"/>
          <p:nvPr/>
        </p:nvSpPr>
        <p:spPr>
          <a:xfrm>
            <a:off x="384048" y="5180000"/>
            <a:ext cx="9134856" cy="250000"/>
          </a:xfrm>
          <a:prstGeom prst="rect">
            <a:avLst/>
          </a:prstGeom>
          <a:noFill/>
        </p:spPr>
        <p:txBody>
          <a:bodyPr wrap="square" lIns="72000" tIns="36000" rIns="72000" bIns="36000" anchor="t">
            <a:spAutoFit/>
          </a:bodyPr>
          <a:lstStyle/>
          <a:p>
            <a:pPr algn="l"/>
            <a:r>
              <a:rPr sz="900" b="0">
                <a:solidFill>
                  <a:srgbClr val="555555"/>
                </a:solidFill>
                <a:latin typeface="メイリオ"/>
                <a:ea typeface="メイリオ"/>
                <a:cs typeface="メイリオ"/>
              </a:rPr>
              <a:t>※金額はすべて税別。LINE公式アカウントの月額費用・配信通数の費用、tunaの利用料は含みません</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D17A57-A342-CB38-A7F8-9DB9EF160348}"/>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282D28B4-A2E3-FBF5-60E3-CBDCF57DCEEB}"/>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8262C21F-1F4A-FEF6-A8ED-48C7EC229555}"/>
              </a:ext>
            </a:extLst>
          </p:cNvPr>
          <p:cNvSpPr/>
          <p:nvPr/>
        </p:nvSpPr>
        <p:spPr>
          <a:xfrm>
            <a:off x="3629572" y="3038203"/>
            <a:ext cx="2646878"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サポート体制</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0921340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正方形/長方形 5"/>
          <p:cNvSpPr/>
          <p:nvPr/>
        </p:nvSpPr>
        <p:spPr>
          <a:xfrm>
            <a:off x="300312" y="832762"/>
            <a:ext cx="9355994" cy="867143"/>
          </a:xfrm>
          <a:prstGeom prst="rect">
            <a:avLst/>
          </a:prstGeom>
          <a:solidFill>
            <a:schemeClr val="tx2"/>
          </a:solidFill>
          <a:ln w="222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400" dirty="0">
                <a:solidFill>
                  <a:schemeClr val="bg1"/>
                </a:solidFill>
                <a:latin typeface="メイリオ" panose="020B0604030504040204" pitchFamily="50" charset="-128"/>
                <a:ea typeface="メイリオ" panose="020B0604030504040204" pitchFamily="50" charset="-128"/>
              </a:rPr>
              <a:t>WEB</a:t>
            </a:r>
            <a:r>
              <a:rPr lang="ja-JP" altLang="en-US" sz="2400" dirty="0">
                <a:solidFill>
                  <a:schemeClr val="bg1"/>
                </a:solidFill>
                <a:latin typeface="メイリオ" panose="020B0604030504040204" pitchFamily="50" charset="-128"/>
                <a:ea typeface="メイリオ" panose="020B0604030504040204" pitchFamily="50" charset="-128"/>
              </a:rPr>
              <a:t>サイト上情報と連携させ、配信効果を数値化する</a:t>
            </a:r>
          </a:p>
        </p:txBody>
      </p:sp>
      <p:pic>
        <p:nvPicPr>
          <p:cNvPr id="7" name="図 6"/>
          <p:cNvPicPr>
            <a:picLocks noChangeAspect="1"/>
          </p:cNvPicPr>
          <p:nvPr/>
        </p:nvPicPr>
        <p:blipFill>
          <a:blip r:embed="rId3"/>
          <a:stretch>
            <a:fillRect/>
          </a:stretch>
        </p:blipFill>
        <p:spPr>
          <a:xfrm>
            <a:off x="1183616" y="2131090"/>
            <a:ext cx="2498573" cy="1744287"/>
          </a:xfrm>
          <a:prstGeom prst="rect">
            <a:avLst/>
          </a:prstGeom>
        </p:spPr>
      </p:pic>
      <p:pic>
        <p:nvPicPr>
          <p:cNvPr id="8" name="図 7"/>
          <p:cNvPicPr>
            <a:picLocks noChangeAspect="1"/>
          </p:cNvPicPr>
          <p:nvPr/>
        </p:nvPicPr>
        <p:blipFill>
          <a:blip r:embed="rId4"/>
          <a:stretch>
            <a:fillRect/>
          </a:stretch>
        </p:blipFill>
        <p:spPr>
          <a:xfrm>
            <a:off x="3456146" y="2402524"/>
            <a:ext cx="2393091" cy="1668595"/>
          </a:xfrm>
          <a:prstGeom prst="rect">
            <a:avLst/>
          </a:prstGeom>
        </p:spPr>
      </p:pic>
      <p:pic>
        <p:nvPicPr>
          <p:cNvPr id="10" name="図 9"/>
          <p:cNvPicPr>
            <a:picLocks noChangeAspect="1"/>
          </p:cNvPicPr>
          <p:nvPr/>
        </p:nvPicPr>
        <p:blipFill>
          <a:blip r:embed="rId5"/>
          <a:stretch>
            <a:fillRect/>
          </a:stretch>
        </p:blipFill>
        <p:spPr>
          <a:xfrm>
            <a:off x="5697714" y="2676687"/>
            <a:ext cx="2432174" cy="1698131"/>
          </a:xfrm>
          <a:prstGeom prst="rect">
            <a:avLst/>
          </a:prstGeom>
        </p:spPr>
      </p:pic>
      <p:pic>
        <p:nvPicPr>
          <p:cNvPr id="14" name="図 13"/>
          <p:cNvPicPr>
            <a:picLocks noChangeAspect="1"/>
          </p:cNvPicPr>
          <p:nvPr/>
        </p:nvPicPr>
        <p:blipFill>
          <a:blip r:embed="rId6"/>
          <a:stretch>
            <a:fillRect/>
          </a:stretch>
        </p:blipFill>
        <p:spPr>
          <a:xfrm>
            <a:off x="1158180" y="4165451"/>
            <a:ext cx="2417022" cy="1682579"/>
          </a:xfrm>
          <a:prstGeom prst="rect">
            <a:avLst/>
          </a:prstGeom>
        </p:spPr>
      </p:pic>
      <p:pic>
        <p:nvPicPr>
          <p:cNvPr id="15" name="図 14"/>
          <p:cNvPicPr>
            <a:picLocks noChangeAspect="1"/>
          </p:cNvPicPr>
          <p:nvPr/>
        </p:nvPicPr>
        <p:blipFill>
          <a:blip r:embed="rId7"/>
          <a:stretch>
            <a:fillRect/>
          </a:stretch>
        </p:blipFill>
        <p:spPr>
          <a:xfrm>
            <a:off x="3434655" y="4410829"/>
            <a:ext cx="2417022" cy="1683209"/>
          </a:xfrm>
          <a:prstGeom prst="rect">
            <a:avLst/>
          </a:prstGeom>
        </p:spPr>
      </p:pic>
      <p:pic>
        <p:nvPicPr>
          <p:cNvPr id="24" name="図 23"/>
          <p:cNvPicPr>
            <a:picLocks noChangeAspect="1"/>
          </p:cNvPicPr>
          <p:nvPr/>
        </p:nvPicPr>
        <p:blipFill>
          <a:blip r:embed="rId8"/>
          <a:stretch>
            <a:fillRect/>
          </a:stretch>
        </p:blipFill>
        <p:spPr>
          <a:xfrm>
            <a:off x="5697714" y="4687135"/>
            <a:ext cx="2427146" cy="1691079"/>
          </a:xfrm>
          <a:prstGeom prst="rect">
            <a:avLst/>
          </a:prstGeom>
        </p:spPr>
      </p:pic>
      <p:pic>
        <p:nvPicPr>
          <p:cNvPr id="26" name="図 25"/>
          <p:cNvPicPr>
            <a:picLocks noChangeAspect="1"/>
          </p:cNvPicPr>
          <p:nvPr/>
        </p:nvPicPr>
        <p:blipFill>
          <a:blip r:embed="rId9"/>
          <a:stretch>
            <a:fillRect/>
          </a:stretch>
        </p:blipFill>
        <p:spPr>
          <a:xfrm>
            <a:off x="8022243" y="1995292"/>
            <a:ext cx="1068645" cy="454221"/>
          </a:xfrm>
          <a:prstGeom prst="rect">
            <a:avLst/>
          </a:prstGeom>
        </p:spPr>
      </p:pic>
      <p:sp>
        <p:nvSpPr>
          <p:cNvPr id="2" name="テキスト ボックス 1">
            <a:extLst>
              <a:ext uri="{FF2B5EF4-FFF2-40B4-BE49-F238E27FC236}">
                <a16:creationId xmlns:a16="http://schemas.microsoft.com/office/drawing/2014/main" id="{D651C636-9CF1-15AA-68DF-A90526709D47}"/>
              </a:ext>
            </a:extLst>
          </p:cNvPr>
          <p:cNvSpPr txBox="1"/>
          <p:nvPr/>
        </p:nvSpPr>
        <p:spPr>
          <a:xfrm>
            <a:off x="482693" y="989115"/>
            <a:ext cx="933809" cy="646331"/>
          </a:xfrm>
          <a:prstGeom prst="rect">
            <a:avLst/>
          </a:prstGeom>
          <a:noFill/>
        </p:spPr>
        <p:txBody>
          <a:bodyPr wrap="square">
            <a:spAutoFit/>
          </a:bodyPr>
          <a:lstStyle/>
          <a:p>
            <a:r>
              <a:rPr lang="ja-JP" altLang="en-US" sz="3600" dirty="0">
                <a:solidFill>
                  <a:schemeClr val="bg1"/>
                </a:solidFill>
                <a:latin typeface="メイリオ" panose="020B0604030504040204" pitchFamily="50" charset="-128"/>
                <a:ea typeface="メイリオ" panose="020B0604030504040204" pitchFamily="50" charset="-128"/>
              </a:rPr>
              <a:t>☑</a:t>
            </a:r>
            <a:endParaRPr lang="ja-JP" altLang="en-US" sz="3600" dirty="0"/>
          </a:p>
        </p:txBody>
      </p:sp>
      <p:pic>
        <p:nvPicPr>
          <p:cNvPr id="3" name="Picture 2" descr="ロゴガイドライン｜LINEヤフー for Business">
            <a:extLst>
              <a:ext uri="{FF2B5EF4-FFF2-40B4-BE49-F238E27FC236}">
                <a16:creationId xmlns:a16="http://schemas.microsoft.com/office/drawing/2014/main" id="{4B935F7B-C5E5-F09A-504B-9182D06611BF}"/>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485508" y="1787991"/>
            <a:ext cx="2447955" cy="888696"/>
          </a:xfrm>
          <a:prstGeom prst="rect">
            <a:avLst/>
          </a:prstGeom>
          <a:noFill/>
          <a:extLst>
            <a:ext uri="{909E8E84-426E-40DD-AFC4-6F175D3DCCD1}">
              <a14:hiddenFill xmlns:a14="http://schemas.microsoft.com/office/drawing/2010/main">
                <a:solidFill>
                  <a:srgbClr val="FFFFFF"/>
                </a:solidFill>
              </a14:hiddenFill>
            </a:ext>
          </a:extLst>
        </p:spPr>
      </p:pic>
      <p:sp>
        <p:nvSpPr>
          <p:cNvPr id="4" name="Google Shape;156;p7">
            <a:extLst>
              <a:ext uri="{FF2B5EF4-FFF2-40B4-BE49-F238E27FC236}">
                <a16:creationId xmlns:a16="http://schemas.microsoft.com/office/drawing/2014/main" id="{C235E2E0-8EAB-29DE-40C2-6596465C1F0D}"/>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サポート体制（報告</a:t>
            </a:r>
            <a:r>
              <a:rPr lang="en-US" altLang="ja-JP" sz="1600" b="1" dirty="0">
                <a:solidFill>
                  <a:srgbClr val="002060"/>
                </a:solidFill>
                <a:latin typeface="Meiryo"/>
                <a:ea typeface="Meiryo"/>
                <a:cs typeface="Meiryo"/>
                <a:sym typeface="Meiryo"/>
              </a:rPr>
              <a:t>FMT</a:t>
            </a:r>
            <a:r>
              <a:rPr lang="ja-JP" altLang="en-US" sz="1600" b="1" dirty="0">
                <a:solidFill>
                  <a:srgbClr val="002060"/>
                </a:solidFill>
                <a:latin typeface="Meiryo"/>
                <a:ea typeface="Meiryo"/>
                <a:cs typeface="Meiryo"/>
                <a:sym typeface="Meiryo"/>
              </a:rPr>
              <a:t>）</a:t>
            </a:r>
            <a:endParaRPr sz="1600" b="1" dirty="0">
              <a:solidFill>
                <a:srgbClr val="002060"/>
              </a:solidFill>
              <a:latin typeface="Meiryo"/>
              <a:ea typeface="Meiryo"/>
              <a:cs typeface="Meiryo"/>
              <a:sym typeface="Meiryo"/>
            </a:endParaRPr>
          </a:p>
        </p:txBody>
      </p:sp>
      <p:sp>
        <p:nvSpPr>
          <p:cNvPr id="5" name="正方形/長方形 4">
            <a:extLst>
              <a:ext uri="{FF2B5EF4-FFF2-40B4-BE49-F238E27FC236}">
                <a16:creationId xmlns:a16="http://schemas.microsoft.com/office/drawing/2014/main" id="{301FEA49-75A4-DB83-1235-8CE72DDD1DB5}"/>
              </a:ext>
            </a:extLst>
          </p:cNvPr>
          <p:cNvSpPr/>
          <p:nvPr/>
        </p:nvSpPr>
        <p:spPr>
          <a:xfrm>
            <a:off x="166962" y="3583894"/>
            <a:ext cx="9594258" cy="867143"/>
          </a:xfrm>
          <a:prstGeom prst="rect">
            <a:avLst/>
          </a:prstGeom>
          <a:solidFill>
            <a:schemeClr val="tx1">
              <a:lumMod val="65000"/>
              <a:lumOff val="35000"/>
              <a:alpha val="50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400" b="1" dirty="0">
                <a:solidFill>
                  <a:schemeClr val="bg1"/>
                </a:solidFill>
                <a:latin typeface="メイリオ" panose="020B0604030504040204" pitchFamily="50" charset="-128"/>
                <a:ea typeface="メイリオ" panose="020B0604030504040204" pitchFamily="50" charset="-128"/>
              </a:rPr>
              <a:t>レポートサンプル</a:t>
            </a:r>
            <a:endParaRPr lang="en-US" altLang="ja-JP" sz="2400" b="1" dirty="0">
              <a:solidFill>
                <a:schemeClr val="bg1"/>
              </a:solidFill>
              <a:latin typeface="メイリオ" panose="020B0604030504040204" pitchFamily="50" charset="-128"/>
              <a:ea typeface="メイリオ" panose="020B0604030504040204" pitchFamily="50" charset="-128"/>
            </a:endParaRPr>
          </a:p>
          <a:p>
            <a:pPr algn="ctr"/>
            <a:r>
              <a:rPr lang="ja-JP" altLang="en-US" sz="1400" dirty="0">
                <a:solidFill>
                  <a:schemeClr val="bg1"/>
                </a:solidFill>
                <a:latin typeface="メイリオ" panose="020B0604030504040204" pitchFamily="50" charset="-128"/>
                <a:ea typeface="メイリオ" panose="020B0604030504040204" pitchFamily="50" charset="-128"/>
              </a:rPr>
              <a:t>（貴社要望によりカスタマイズ予定）</a:t>
            </a:r>
          </a:p>
        </p:txBody>
      </p:sp>
    </p:spTree>
    <p:extLst>
      <p:ext uri="{BB962C8B-B14F-4D97-AF65-F5344CB8AC3E}">
        <p14:creationId xmlns:p14="http://schemas.microsoft.com/office/powerpoint/2010/main" val="202681836"/>
      </p:ext>
    </p:extLst>
  </p:cSld>
  <p:clrMapOvr>
    <a:overrideClrMapping bg1="lt1" tx1="dk1" bg2="lt2" tx2="dk2" accent1="accent1" accent2="accent2" accent3="accent3" accent4="accent4" accent5="accent5" accent6="accent6" hlink="hlink" folHlink="folHlink"/>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p:cNvSpPr/>
          <p:nvPr/>
        </p:nvSpPr>
        <p:spPr>
          <a:xfrm>
            <a:off x="6757851" y="93594"/>
            <a:ext cx="1320961" cy="34403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dirty="0">
                <a:latin typeface="メイリオ" panose="020B0604030504040204" pitchFamily="50" charset="-128"/>
                <a:ea typeface="メイリオ" panose="020B0604030504040204" pitchFamily="50" charset="-128"/>
              </a:rPr>
              <a:t>効果計測</a:t>
            </a:r>
            <a:endParaRPr kumimoji="1" lang="ja-JP" altLang="en-US" sz="1100" dirty="0">
              <a:latin typeface="メイリオ" panose="020B0604030504040204" pitchFamily="50" charset="-128"/>
              <a:ea typeface="メイリオ" panose="020B0604030504040204" pitchFamily="50" charset="-128"/>
            </a:endParaRPr>
          </a:p>
        </p:txBody>
      </p:sp>
      <p:sp>
        <p:nvSpPr>
          <p:cNvPr id="14" name="正方形/長方形 13"/>
          <p:cNvSpPr/>
          <p:nvPr/>
        </p:nvSpPr>
        <p:spPr>
          <a:xfrm>
            <a:off x="258794" y="1486023"/>
            <a:ext cx="9230264" cy="170575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p>
        </p:txBody>
      </p:sp>
      <p:pic>
        <p:nvPicPr>
          <p:cNvPr id="15" name="図 14"/>
          <p:cNvPicPr>
            <a:picLocks noChangeAspect="1"/>
          </p:cNvPicPr>
          <p:nvPr/>
        </p:nvPicPr>
        <p:blipFill>
          <a:blip r:embed="rId3"/>
          <a:stretch>
            <a:fillRect/>
          </a:stretch>
        </p:blipFill>
        <p:spPr>
          <a:xfrm>
            <a:off x="445640" y="4515592"/>
            <a:ext cx="4393508" cy="1886055"/>
          </a:xfrm>
          <a:prstGeom prst="rect">
            <a:avLst/>
          </a:prstGeom>
        </p:spPr>
      </p:pic>
      <p:sp>
        <p:nvSpPr>
          <p:cNvPr id="16" name="正方形/長方形 15"/>
          <p:cNvSpPr/>
          <p:nvPr/>
        </p:nvSpPr>
        <p:spPr>
          <a:xfrm>
            <a:off x="1728755" y="1724210"/>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rPr>
              <a:t>API</a:t>
            </a:r>
            <a:r>
              <a:rPr lang="ja-JP" altLang="en-US" sz="1200" b="1" dirty="0">
                <a:latin typeface="メイリオ" panose="020B0604030504040204" pitchFamily="50" charset="-128"/>
                <a:ea typeface="メイリオ" panose="020B0604030504040204" pitchFamily="50" charset="-128"/>
              </a:rPr>
              <a:t>ツールなし</a:t>
            </a:r>
            <a:endParaRPr kumimoji="1" lang="ja-JP" altLang="en-US" sz="1200" b="1" dirty="0">
              <a:latin typeface="メイリオ" panose="020B0604030504040204" pitchFamily="50" charset="-128"/>
              <a:ea typeface="メイリオ" panose="020B0604030504040204" pitchFamily="50" charset="-128"/>
            </a:endParaRPr>
          </a:p>
        </p:txBody>
      </p:sp>
      <p:sp>
        <p:nvSpPr>
          <p:cNvPr id="17" name="正方形/長方形 16"/>
          <p:cNvSpPr/>
          <p:nvPr/>
        </p:nvSpPr>
        <p:spPr>
          <a:xfrm>
            <a:off x="1728754" y="2464827"/>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rPr>
              <a:t>API</a:t>
            </a:r>
            <a:r>
              <a:rPr kumimoji="1" lang="ja-JP" altLang="en-US" sz="1200" b="1" dirty="0">
                <a:latin typeface="メイリオ" panose="020B0604030504040204" pitchFamily="50" charset="-128"/>
                <a:ea typeface="メイリオ" panose="020B0604030504040204" pitchFamily="50" charset="-128"/>
              </a:rPr>
              <a:t>ツールあり</a:t>
            </a:r>
          </a:p>
        </p:txBody>
      </p:sp>
      <p:sp>
        <p:nvSpPr>
          <p:cNvPr id="18" name="正方形/長方形 17"/>
          <p:cNvSpPr/>
          <p:nvPr/>
        </p:nvSpPr>
        <p:spPr>
          <a:xfrm>
            <a:off x="3939661" y="2445682"/>
            <a:ext cx="3312125"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API</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ツール管理画面上にて</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「特定期間に対する</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数算出」が可能</a:t>
            </a:r>
          </a:p>
        </p:txBody>
      </p:sp>
      <p:sp>
        <p:nvSpPr>
          <p:cNvPr id="19" name="正方形/長方形 18"/>
          <p:cNvSpPr/>
          <p:nvPr/>
        </p:nvSpPr>
        <p:spPr>
          <a:xfrm>
            <a:off x="3939661" y="1705487"/>
            <a:ext cx="4273927"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タグの設定に伴い、計測自体は可能だが</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数</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50</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件以上での数値計測となる（管理画面上）</a:t>
            </a:r>
          </a:p>
        </p:txBody>
      </p:sp>
      <p:sp>
        <p:nvSpPr>
          <p:cNvPr id="20" name="正方形/長方形 19"/>
          <p:cNvSpPr/>
          <p:nvPr/>
        </p:nvSpPr>
        <p:spPr>
          <a:xfrm>
            <a:off x="625827" y="2120216"/>
            <a:ext cx="646331" cy="369332"/>
          </a:xfrm>
          <a:prstGeom prst="rect">
            <a:avLst/>
          </a:prstGeom>
        </p:spPr>
        <p:txBody>
          <a:bodyPr wrap="none">
            <a:spAutoFit/>
          </a:bodyPr>
          <a:lstStyle/>
          <a:p>
            <a:pPr algn="ctr"/>
            <a:r>
              <a:rPr lang="ja-JP" altLang="en-US" dirty="0">
                <a:latin typeface="メイリオ" panose="020B0604030504040204" pitchFamily="50" charset="-128"/>
                <a:ea typeface="メイリオ" panose="020B0604030504040204" pitchFamily="50" charset="-128"/>
              </a:rPr>
              <a:t>通常</a:t>
            </a:r>
          </a:p>
        </p:txBody>
      </p:sp>
      <p:sp>
        <p:nvSpPr>
          <p:cNvPr id="21" name="正方形/長方形 20"/>
          <p:cNvSpPr/>
          <p:nvPr/>
        </p:nvSpPr>
        <p:spPr>
          <a:xfrm>
            <a:off x="258794" y="3337953"/>
            <a:ext cx="9230264" cy="105307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p>
        </p:txBody>
      </p:sp>
      <p:sp>
        <p:nvSpPr>
          <p:cNvPr id="22" name="正方形/長方形 21"/>
          <p:cNvSpPr/>
          <p:nvPr/>
        </p:nvSpPr>
        <p:spPr>
          <a:xfrm>
            <a:off x="1728754" y="3527788"/>
            <a:ext cx="1984767" cy="70485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rPr>
              <a:t>API</a:t>
            </a:r>
            <a:r>
              <a:rPr lang="ja-JP" altLang="en-US" sz="1200" b="1" dirty="0">
                <a:latin typeface="メイリオ" panose="020B0604030504040204" pitchFamily="50" charset="-128"/>
                <a:ea typeface="メイリオ" panose="020B0604030504040204" pitchFamily="50" charset="-128"/>
              </a:rPr>
              <a:t>ツール有無</a:t>
            </a:r>
            <a:endParaRPr lang="en-US" altLang="ja-JP" sz="1200" b="1" dirty="0">
              <a:latin typeface="メイリオ" panose="020B0604030504040204" pitchFamily="50" charset="-128"/>
              <a:ea typeface="メイリオ" panose="020B0604030504040204" pitchFamily="50" charset="-128"/>
            </a:endParaRPr>
          </a:p>
          <a:p>
            <a:pPr algn="ctr"/>
            <a:r>
              <a:rPr kumimoji="1" lang="ja-JP" altLang="en-US" sz="1200" b="1" dirty="0">
                <a:latin typeface="メイリオ" panose="020B0604030504040204" pitchFamily="50" charset="-128"/>
                <a:ea typeface="メイリオ" panose="020B0604030504040204" pitchFamily="50" charset="-128"/>
              </a:rPr>
              <a:t>に関わらず</a:t>
            </a:r>
          </a:p>
        </p:txBody>
      </p:sp>
      <p:sp>
        <p:nvSpPr>
          <p:cNvPr id="23" name="正方形/長方形 22"/>
          <p:cNvSpPr/>
          <p:nvPr/>
        </p:nvSpPr>
        <p:spPr>
          <a:xfrm>
            <a:off x="3939660" y="3618602"/>
            <a:ext cx="4164923" cy="523220"/>
          </a:xfrm>
          <a:prstGeom prst="rect">
            <a:avLst/>
          </a:prstGeom>
        </p:spPr>
        <p:txBody>
          <a:bodyPr wrap="none" anchor="ctr">
            <a:spAutoFit/>
          </a:bodyPr>
          <a:lstStyle/>
          <a:p>
            <a:r>
              <a:rPr lang="ja-JP" altLang="en-US" sz="1400" dirty="0">
                <a:latin typeface="メイリオ" panose="020B0604030504040204" pitchFamily="50" charset="-128"/>
                <a:ea typeface="メイリオ" panose="020B0604030504040204" pitchFamily="50" charset="-128"/>
              </a:rPr>
              <a:t>定期投稿、シナリオ、リッチメニュー等に設定の</a:t>
            </a:r>
            <a:endParaRPr lang="en-US" altLang="ja-JP" sz="1400" dirty="0">
              <a:latin typeface="メイリオ" panose="020B0604030504040204" pitchFamily="50" charset="-128"/>
              <a:ea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rPr>
              <a:t>リンクについて、</a:t>
            </a:r>
            <a:r>
              <a:rPr lang="en-US" altLang="ja-JP" sz="1400" dirty="0">
                <a:solidFill>
                  <a:srgbClr val="FF0000"/>
                </a:solidFill>
                <a:latin typeface="メイリオ" panose="020B0604030504040204" pitchFamily="50" charset="-128"/>
                <a:ea typeface="メイリオ" panose="020B0604030504040204" pitchFamily="50" charset="-128"/>
              </a:rPr>
              <a:t>GA</a:t>
            </a:r>
            <a:r>
              <a:rPr lang="ja-JP" altLang="en-US" sz="1400" dirty="0" err="1">
                <a:solidFill>
                  <a:srgbClr val="FF0000"/>
                </a:solidFill>
                <a:latin typeface="メイリオ" panose="020B0604030504040204" pitchFamily="50" charset="-128"/>
                <a:ea typeface="メイリオ" panose="020B0604030504040204" pitchFamily="50" charset="-128"/>
              </a:rPr>
              <a:t>、</a:t>
            </a:r>
            <a:r>
              <a:rPr lang="en-US" altLang="ja-JP" sz="1400" dirty="0">
                <a:solidFill>
                  <a:srgbClr val="FF0000"/>
                </a:solidFill>
                <a:latin typeface="メイリオ" panose="020B0604030504040204" pitchFamily="50" charset="-128"/>
                <a:ea typeface="メイリオ" panose="020B0604030504040204" pitchFamily="50" charset="-128"/>
              </a:rPr>
              <a:t>MA</a:t>
            </a:r>
            <a:r>
              <a:rPr lang="ja-JP" altLang="en-US" sz="1400" dirty="0">
                <a:solidFill>
                  <a:srgbClr val="FF0000"/>
                </a:solidFill>
                <a:latin typeface="メイリオ" panose="020B0604030504040204" pitchFamily="50" charset="-128"/>
                <a:ea typeface="メイリオ" panose="020B0604030504040204" pitchFamily="50" charset="-128"/>
              </a:rPr>
              <a:t>ツールでの計測可能</a:t>
            </a:r>
            <a:r>
              <a:rPr lang="ja-JP" altLang="en-US" sz="1400" dirty="0">
                <a:latin typeface="メイリオ" panose="020B0604030504040204" pitchFamily="50" charset="-128"/>
                <a:ea typeface="メイリオ" panose="020B0604030504040204" pitchFamily="50" charset="-128"/>
              </a:rPr>
              <a:t>に</a:t>
            </a:r>
          </a:p>
        </p:txBody>
      </p:sp>
      <p:sp>
        <p:nvSpPr>
          <p:cNvPr id="24" name="正方形/長方形 23"/>
          <p:cNvSpPr/>
          <p:nvPr/>
        </p:nvSpPr>
        <p:spPr>
          <a:xfrm>
            <a:off x="571292" y="3649379"/>
            <a:ext cx="693973" cy="369332"/>
          </a:xfrm>
          <a:prstGeom prst="rect">
            <a:avLst/>
          </a:prstGeom>
        </p:spPr>
        <p:txBody>
          <a:bodyPr wrap="none">
            <a:spAutoFit/>
          </a:bodyPr>
          <a:lstStyle/>
          <a:p>
            <a:pPr algn="ctr"/>
            <a:r>
              <a:rPr lang="en-US" altLang="ja-JP" dirty="0">
                <a:latin typeface="メイリオ" panose="020B0604030504040204" pitchFamily="50" charset="-128"/>
                <a:ea typeface="メイリオ" panose="020B0604030504040204" pitchFamily="50" charset="-128"/>
              </a:rPr>
              <a:t>DYM</a:t>
            </a:r>
            <a:endParaRPr lang="ja-JP" altLang="en-US" dirty="0">
              <a:latin typeface="メイリオ" panose="020B0604030504040204" pitchFamily="50" charset="-128"/>
              <a:ea typeface="メイリオ" panose="020B0604030504040204" pitchFamily="50" charset="-128"/>
            </a:endParaRPr>
          </a:p>
        </p:txBody>
      </p:sp>
      <p:pic>
        <p:nvPicPr>
          <p:cNvPr id="27" name="図 26"/>
          <p:cNvPicPr>
            <a:picLocks noChangeAspect="1"/>
          </p:cNvPicPr>
          <p:nvPr/>
        </p:nvPicPr>
        <p:blipFill>
          <a:blip r:embed="rId4"/>
          <a:stretch>
            <a:fillRect/>
          </a:stretch>
        </p:blipFill>
        <p:spPr>
          <a:xfrm>
            <a:off x="5173537" y="4510754"/>
            <a:ext cx="4219164" cy="1912981"/>
          </a:xfrm>
          <a:prstGeom prst="rect">
            <a:avLst/>
          </a:prstGeom>
        </p:spPr>
      </p:pic>
      <p:sp>
        <p:nvSpPr>
          <p:cNvPr id="29" name="正方形/長方形 28"/>
          <p:cNvSpPr/>
          <p:nvPr/>
        </p:nvSpPr>
        <p:spPr>
          <a:xfrm>
            <a:off x="372964" y="4445247"/>
            <a:ext cx="4546440"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正方形/長方形 29"/>
          <p:cNvSpPr/>
          <p:nvPr/>
        </p:nvSpPr>
        <p:spPr>
          <a:xfrm>
            <a:off x="5141643" y="4445246"/>
            <a:ext cx="4282952"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正方形/長方形 30"/>
          <p:cNvSpPr/>
          <p:nvPr/>
        </p:nvSpPr>
        <p:spPr>
          <a:xfrm>
            <a:off x="788187"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rPr>
              <a:t>GA</a:t>
            </a:r>
            <a:r>
              <a:rPr kumimoji="1" lang="ja-JP" altLang="en-US" sz="1400" b="1" dirty="0">
                <a:latin typeface="メイリオ" panose="020B0604030504040204" pitchFamily="50" charset="-128"/>
                <a:ea typeface="メイリオ" panose="020B0604030504040204" pitchFamily="50" charset="-128"/>
              </a:rPr>
              <a:t>レポート（日次）</a:t>
            </a:r>
            <a:r>
              <a:rPr kumimoji="1" lang="ja-JP" altLang="en-US" sz="1100" b="1" dirty="0">
                <a:latin typeface="メイリオ" panose="020B0604030504040204" pitchFamily="50" charset="-128"/>
                <a:ea typeface="メイリオ" panose="020B0604030504040204" pitchFamily="50" charset="-128"/>
              </a:rPr>
              <a:t> </a:t>
            </a:r>
            <a:r>
              <a:rPr kumimoji="1" lang="en-US" altLang="ja-JP" sz="1100" b="1" dirty="0">
                <a:latin typeface="メイリオ" panose="020B0604030504040204" pitchFamily="50" charset="-128"/>
                <a:ea typeface="メイリオ" panose="020B0604030504040204" pitchFamily="50" charset="-128"/>
              </a:rPr>
              <a:t>※</a:t>
            </a:r>
            <a:r>
              <a:rPr kumimoji="1" lang="ja-JP" altLang="en-US" sz="1100" b="1" dirty="0">
                <a:latin typeface="メイリオ" panose="020B0604030504040204" pitchFamily="50" charset="-128"/>
                <a:ea typeface="メイリオ" panose="020B0604030504040204" pitchFamily="50" charset="-128"/>
              </a:rPr>
              <a:t>サンプル</a:t>
            </a:r>
            <a:endParaRPr kumimoji="1" lang="ja-JP" altLang="en-US" sz="1400" b="1" dirty="0">
              <a:latin typeface="メイリオ" panose="020B0604030504040204" pitchFamily="50" charset="-128"/>
              <a:ea typeface="メイリオ" panose="020B0604030504040204" pitchFamily="50" charset="-128"/>
            </a:endParaRPr>
          </a:p>
        </p:txBody>
      </p:sp>
      <p:sp>
        <p:nvSpPr>
          <p:cNvPr id="32" name="正方形/長方形 31"/>
          <p:cNvSpPr/>
          <p:nvPr/>
        </p:nvSpPr>
        <p:spPr>
          <a:xfrm>
            <a:off x="5453208"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rPr>
              <a:t>GA</a:t>
            </a:r>
            <a:r>
              <a:rPr kumimoji="1" lang="ja-JP" altLang="en-US" sz="1400" b="1" dirty="0">
                <a:latin typeface="メイリオ" panose="020B0604030504040204" pitchFamily="50" charset="-128"/>
                <a:ea typeface="メイリオ" panose="020B0604030504040204" pitchFamily="50" charset="-128"/>
              </a:rPr>
              <a:t>レポート（月次）</a:t>
            </a:r>
            <a:r>
              <a:rPr kumimoji="1" lang="ja-JP" altLang="en-US" sz="1100" b="1" dirty="0">
                <a:latin typeface="メイリオ" panose="020B0604030504040204" pitchFamily="50" charset="-128"/>
                <a:ea typeface="メイリオ" panose="020B0604030504040204" pitchFamily="50" charset="-128"/>
              </a:rPr>
              <a:t> </a:t>
            </a:r>
            <a:r>
              <a:rPr kumimoji="1" lang="en-US" altLang="ja-JP" sz="1100" b="1" dirty="0">
                <a:latin typeface="メイリオ" panose="020B0604030504040204" pitchFamily="50" charset="-128"/>
                <a:ea typeface="メイリオ" panose="020B0604030504040204" pitchFamily="50" charset="-128"/>
              </a:rPr>
              <a:t>※</a:t>
            </a:r>
            <a:r>
              <a:rPr lang="ja-JP" altLang="en-US" sz="1100" b="1" dirty="0">
                <a:latin typeface="メイリオ" panose="020B0604030504040204" pitchFamily="50" charset="-128"/>
                <a:ea typeface="メイリオ" panose="020B0604030504040204" pitchFamily="50" charset="-128"/>
              </a:rPr>
              <a:t>サンプル</a:t>
            </a:r>
            <a:endParaRPr kumimoji="1" lang="ja-JP" altLang="en-US" sz="1400" b="1" dirty="0">
              <a:latin typeface="メイリオ" panose="020B0604030504040204" pitchFamily="50" charset="-128"/>
              <a:ea typeface="メイリオ" panose="020B0604030504040204" pitchFamily="50" charset="-128"/>
            </a:endParaRPr>
          </a:p>
        </p:txBody>
      </p:sp>
      <p:sp>
        <p:nvSpPr>
          <p:cNvPr id="33" name="正方形/長方形 32"/>
          <p:cNvSpPr/>
          <p:nvPr/>
        </p:nvSpPr>
        <p:spPr>
          <a:xfrm>
            <a:off x="258794" y="776172"/>
            <a:ext cx="9230264" cy="523220"/>
          </a:xfrm>
          <a:prstGeom prst="rect">
            <a:avLst/>
          </a:prstGeom>
        </p:spPr>
        <p:txBody>
          <a:bodyPr wrap="square" anchor="ctr">
            <a:spAutoFit/>
          </a:bodyPr>
          <a:lstStyle/>
          <a:p>
            <a:pPr algn="ctr"/>
            <a:r>
              <a:rPr lang="ja-JP" altLang="en-US" sz="1400" dirty="0">
                <a:latin typeface="メイリオ" panose="020B0604030504040204" pitchFamily="50" charset="-128"/>
                <a:ea typeface="メイリオ" panose="020B0604030504040204" pitchFamily="50" charset="-128"/>
              </a:rPr>
              <a:t>コンサル費用＋アカウント費用に対する効果を可視化し、課題点を都度確認できる体制に。</a:t>
            </a:r>
            <a:endParaRPr lang="en-US" altLang="ja-JP" sz="1400" dirty="0">
              <a:latin typeface="メイリオ" panose="020B0604030504040204" pitchFamily="50" charset="-128"/>
              <a:ea typeface="メイリオ" panose="020B0604030504040204" pitchFamily="50" charset="-128"/>
            </a:endParaRPr>
          </a:p>
          <a:p>
            <a:pPr algn="ctr"/>
            <a:r>
              <a:rPr lang="ja-JP" altLang="en-US" sz="1400" dirty="0">
                <a:latin typeface="メイリオ" panose="020B0604030504040204" pitchFamily="50" charset="-128"/>
                <a:ea typeface="メイリオ" panose="020B0604030504040204" pitchFamily="50" charset="-128"/>
              </a:rPr>
              <a:t>投稿別</a:t>
            </a:r>
            <a:r>
              <a:rPr lang="en-US" altLang="ja-JP" sz="1400" dirty="0">
                <a:latin typeface="メイリオ" panose="020B0604030504040204" pitchFamily="50" charset="-128"/>
                <a:ea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rPr>
              <a:t>セグメント別でデータ化でき、</a:t>
            </a:r>
            <a:r>
              <a:rPr lang="en-US" altLang="ja-JP" sz="1400" dirty="0">
                <a:latin typeface="メイリオ" panose="020B0604030504040204" pitchFamily="50" charset="-128"/>
                <a:ea typeface="メイリオ" panose="020B0604030504040204" pitchFamily="50" charset="-128"/>
              </a:rPr>
              <a:t>AB</a:t>
            </a:r>
            <a:r>
              <a:rPr lang="ja-JP" altLang="en-US" sz="1400" dirty="0">
                <a:latin typeface="メイリオ" panose="020B0604030504040204" pitchFamily="50" charset="-128"/>
                <a:ea typeface="メイリオ" panose="020B0604030504040204" pitchFamily="50" charset="-128"/>
              </a:rPr>
              <a:t>テストとクリエイティブ検証を細かく実施。</a:t>
            </a:r>
          </a:p>
        </p:txBody>
      </p:sp>
      <p:sp>
        <p:nvSpPr>
          <p:cNvPr id="4" name="Google Shape;156;p7">
            <a:extLst>
              <a:ext uri="{FF2B5EF4-FFF2-40B4-BE49-F238E27FC236}">
                <a16:creationId xmlns:a16="http://schemas.microsoft.com/office/drawing/2014/main" id="{260430EB-E69F-64B3-39EC-6A753FA8A5B0}"/>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サポート体制（報告</a:t>
            </a:r>
            <a:r>
              <a:rPr lang="en-US" altLang="ja-JP" sz="1600" b="1" dirty="0">
                <a:solidFill>
                  <a:srgbClr val="002060"/>
                </a:solidFill>
                <a:latin typeface="Meiryo"/>
                <a:ea typeface="Meiryo"/>
                <a:cs typeface="Meiryo"/>
                <a:sym typeface="Meiryo"/>
              </a:rPr>
              <a:t>FMT</a:t>
            </a:r>
            <a:r>
              <a:rPr lang="ja-JP" altLang="en-US" sz="1600" b="1" dirty="0">
                <a:solidFill>
                  <a:srgbClr val="002060"/>
                </a:solidFill>
                <a:latin typeface="Meiryo"/>
                <a:ea typeface="Meiryo"/>
                <a:cs typeface="Meiryo"/>
                <a:sym typeface="Meiryo"/>
              </a:rPr>
              <a:t>）</a:t>
            </a:r>
            <a:endParaRPr sz="1600" b="1" dirty="0">
              <a:solidFill>
                <a:srgbClr val="002060"/>
              </a:solidFill>
              <a:latin typeface="Meiryo"/>
              <a:ea typeface="Meiryo"/>
              <a:cs typeface="Meiryo"/>
              <a:sym typeface="Meiryo"/>
            </a:endParaRPr>
          </a:p>
        </p:txBody>
      </p:sp>
    </p:spTree>
    <p:extLst>
      <p:ext uri="{BB962C8B-B14F-4D97-AF65-F5344CB8AC3E}">
        <p14:creationId xmlns:p14="http://schemas.microsoft.com/office/powerpoint/2010/main" val="37869246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p:cNvSpPr/>
          <p:nvPr/>
        </p:nvSpPr>
        <p:spPr>
          <a:xfrm>
            <a:off x="253638" y="835690"/>
            <a:ext cx="2541320"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panose="020B0604030504040204" pitchFamily="50" charset="-128"/>
                <a:ea typeface="メイリオ" panose="020B0604030504040204" pitchFamily="50" charset="-128"/>
              </a:rPr>
              <a:t>計測環境の構築</a:t>
            </a:r>
            <a:endParaRPr kumimoji="1" lang="ja-JP" altLang="en-US" sz="1600" b="1" dirty="0">
              <a:latin typeface="メイリオ" panose="020B0604030504040204" pitchFamily="50" charset="-128"/>
              <a:ea typeface="メイリオ" panose="020B0604030504040204" pitchFamily="50" charset="-128"/>
            </a:endParaRPr>
          </a:p>
        </p:txBody>
      </p:sp>
      <p:cxnSp>
        <p:nvCxnSpPr>
          <p:cNvPr id="5" name="直線コネクタ 4"/>
          <p:cNvCxnSpPr/>
          <p:nvPr/>
        </p:nvCxnSpPr>
        <p:spPr>
          <a:xfrm>
            <a:off x="466638" y="1802924"/>
            <a:ext cx="8987082"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6" name="Google Shape;156;p7"/>
          <p:cNvSpPr txBox="1"/>
          <p:nvPr/>
        </p:nvSpPr>
        <p:spPr>
          <a:xfrm>
            <a:off x="2857804" y="786210"/>
            <a:ext cx="7217767" cy="584735"/>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chemeClr val="tx1">
                    <a:lumMod val="65000"/>
                    <a:lumOff val="35000"/>
                  </a:schemeClr>
                </a:solidFill>
                <a:latin typeface="Meiryo"/>
                <a:ea typeface="Meiryo"/>
                <a:cs typeface="Meiryo"/>
                <a:sym typeface="Meiryo"/>
              </a:rPr>
              <a:t>GA</a:t>
            </a:r>
            <a:r>
              <a:rPr lang="ja-JP" altLang="en-US" sz="1600" b="1" dirty="0">
                <a:solidFill>
                  <a:schemeClr val="tx1">
                    <a:lumMod val="65000"/>
                    <a:lumOff val="35000"/>
                  </a:schemeClr>
                </a:solidFill>
                <a:latin typeface="Meiryo"/>
                <a:ea typeface="Meiryo"/>
                <a:cs typeface="Meiryo"/>
                <a:sym typeface="Meiryo"/>
              </a:rPr>
              <a:t>及び</a:t>
            </a:r>
            <a:r>
              <a:rPr lang="en-US" altLang="ja-JP" sz="1600" b="1" dirty="0">
                <a:solidFill>
                  <a:schemeClr val="tx1">
                    <a:lumMod val="65000"/>
                    <a:lumOff val="35000"/>
                  </a:schemeClr>
                </a:solidFill>
                <a:latin typeface="Meiryo"/>
                <a:ea typeface="Meiryo"/>
                <a:cs typeface="Meiryo"/>
                <a:sym typeface="Meiryo"/>
              </a:rPr>
              <a:t>MA</a:t>
            </a:r>
            <a:r>
              <a:rPr lang="ja-JP" altLang="en-US" sz="1600" b="1" dirty="0">
                <a:solidFill>
                  <a:schemeClr val="tx1">
                    <a:lumMod val="65000"/>
                    <a:lumOff val="35000"/>
                  </a:schemeClr>
                </a:solidFill>
                <a:latin typeface="Meiryo"/>
                <a:ea typeface="Meiryo"/>
                <a:cs typeface="Meiryo"/>
                <a:sym typeface="Meiryo"/>
              </a:rPr>
              <a:t>ツール両面での計測ができるようパラメータ管理。</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公式アカウントの管理画面には出ない、サイト上の結果を紐づけ。</a:t>
            </a:r>
            <a:endParaRPr sz="1600" b="1" dirty="0">
              <a:solidFill>
                <a:schemeClr val="tx1">
                  <a:lumMod val="65000"/>
                  <a:lumOff val="35000"/>
                </a:schemeClr>
              </a:solidFill>
              <a:latin typeface="Meiryo"/>
              <a:ea typeface="Meiryo"/>
              <a:cs typeface="Meiryo"/>
              <a:sym typeface="Meiryo"/>
            </a:endParaRPr>
          </a:p>
        </p:txBody>
      </p:sp>
      <p:sp>
        <p:nvSpPr>
          <p:cNvPr id="7" name="正方形/長方形 6"/>
          <p:cNvSpPr/>
          <p:nvPr/>
        </p:nvSpPr>
        <p:spPr>
          <a:xfrm>
            <a:off x="390709" y="1971785"/>
            <a:ext cx="8988624" cy="27778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b="1" dirty="0">
                <a:latin typeface="メイリオ" panose="020B0604030504040204" pitchFamily="50" charset="-128"/>
                <a:ea typeface="メイリオ" panose="020B0604030504040204" pitchFamily="50" charset="-128"/>
              </a:rPr>
              <a:t>設定イメージ</a:t>
            </a:r>
            <a:endParaRPr kumimoji="1" lang="ja-JP" altLang="en-US" sz="1200" b="1" dirty="0">
              <a:latin typeface="メイリオ" panose="020B0604030504040204" pitchFamily="50" charset="-128"/>
              <a:ea typeface="メイリオ" panose="020B0604030504040204" pitchFamily="50" charset="-128"/>
            </a:endParaRPr>
          </a:p>
        </p:txBody>
      </p:sp>
      <p:graphicFrame>
        <p:nvGraphicFramePr>
          <p:cNvPr id="8" name="表 7"/>
          <p:cNvGraphicFramePr>
            <a:graphicFrameLocks noGrp="1"/>
          </p:cNvGraphicFramePr>
          <p:nvPr/>
        </p:nvGraphicFramePr>
        <p:xfrm>
          <a:off x="394861" y="2273528"/>
          <a:ext cx="8988618" cy="1631076"/>
        </p:xfrm>
        <a:graphic>
          <a:graphicData uri="http://schemas.openxmlformats.org/drawingml/2006/table">
            <a:tbl>
              <a:tblPr/>
              <a:tblGrid>
                <a:gridCol w="616271">
                  <a:extLst>
                    <a:ext uri="{9D8B030D-6E8A-4147-A177-3AD203B41FA5}">
                      <a16:colId xmlns:a16="http://schemas.microsoft.com/office/drawing/2014/main" val="1670584577"/>
                    </a:ext>
                  </a:extLst>
                </a:gridCol>
                <a:gridCol w="584117">
                  <a:extLst>
                    <a:ext uri="{9D8B030D-6E8A-4147-A177-3AD203B41FA5}">
                      <a16:colId xmlns:a16="http://schemas.microsoft.com/office/drawing/2014/main" val="783239229"/>
                    </a:ext>
                  </a:extLst>
                </a:gridCol>
                <a:gridCol w="594835">
                  <a:extLst>
                    <a:ext uri="{9D8B030D-6E8A-4147-A177-3AD203B41FA5}">
                      <a16:colId xmlns:a16="http://schemas.microsoft.com/office/drawing/2014/main" val="2882545821"/>
                    </a:ext>
                  </a:extLst>
                </a:gridCol>
                <a:gridCol w="594835">
                  <a:extLst>
                    <a:ext uri="{9D8B030D-6E8A-4147-A177-3AD203B41FA5}">
                      <a16:colId xmlns:a16="http://schemas.microsoft.com/office/drawing/2014/main" val="1085754342"/>
                    </a:ext>
                  </a:extLst>
                </a:gridCol>
                <a:gridCol w="594835">
                  <a:extLst>
                    <a:ext uri="{9D8B030D-6E8A-4147-A177-3AD203B41FA5}">
                      <a16:colId xmlns:a16="http://schemas.microsoft.com/office/drawing/2014/main" val="3609874806"/>
                    </a:ext>
                  </a:extLst>
                </a:gridCol>
                <a:gridCol w="594835">
                  <a:extLst>
                    <a:ext uri="{9D8B030D-6E8A-4147-A177-3AD203B41FA5}">
                      <a16:colId xmlns:a16="http://schemas.microsoft.com/office/drawing/2014/main" val="1613786001"/>
                    </a:ext>
                  </a:extLst>
                </a:gridCol>
                <a:gridCol w="594835">
                  <a:extLst>
                    <a:ext uri="{9D8B030D-6E8A-4147-A177-3AD203B41FA5}">
                      <a16:colId xmlns:a16="http://schemas.microsoft.com/office/drawing/2014/main" val="2234954468"/>
                    </a:ext>
                  </a:extLst>
                </a:gridCol>
                <a:gridCol w="594835">
                  <a:extLst>
                    <a:ext uri="{9D8B030D-6E8A-4147-A177-3AD203B41FA5}">
                      <a16:colId xmlns:a16="http://schemas.microsoft.com/office/drawing/2014/main" val="1983969397"/>
                    </a:ext>
                  </a:extLst>
                </a:gridCol>
                <a:gridCol w="594835">
                  <a:extLst>
                    <a:ext uri="{9D8B030D-6E8A-4147-A177-3AD203B41FA5}">
                      <a16:colId xmlns:a16="http://schemas.microsoft.com/office/drawing/2014/main" val="38530890"/>
                    </a:ext>
                  </a:extLst>
                </a:gridCol>
                <a:gridCol w="594835">
                  <a:extLst>
                    <a:ext uri="{9D8B030D-6E8A-4147-A177-3AD203B41FA5}">
                      <a16:colId xmlns:a16="http://schemas.microsoft.com/office/drawing/2014/main" val="4265005170"/>
                    </a:ext>
                  </a:extLst>
                </a:gridCol>
                <a:gridCol w="594835">
                  <a:extLst>
                    <a:ext uri="{9D8B030D-6E8A-4147-A177-3AD203B41FA5}">
                      <a16:colId xmlns:a16="http://schemas.microsoft.com/office/drawing/2014/main" val="2342412426"/>
                    </a:ext>
                  </a:extLst>
                </a:gridCol>
                <a:gridCol w="594835">
                  <a:extLst>
                    <a:ext uri="{9D8B030D-6E8A-4147-A177-3AD203B41FA5}">
                      <a16:colId xmlns:a16="http://schemas.microsoft.com/office/drawing/2014/main" val="1958758615"/>
                    </a:ext>
                  </a:extLst>
                </a:gridCol>
                <a:gridCol w="650210">
                  <a:extLst>
                    <a:ext uri="{9D8B030D-6E8A-4147-A177-3AD203B41FA5}">
                      <a16:colId xmlns:a16="http://schemas.microsoft.com/office/drawing/2014/main" val="3616243268"/>
                    </a:ext>
                  </a:extLst>
                </a:gridCol>
                <a:gridCol w="594835">
                  <a:extLst>
                    <a:ext uri="{9D8B030D-6E8A-4147-A177-3AD203B41FA5}">
                      <a16:colId xmlns:a16="http://schemas.microsoft.com/office/drawing/2014/main" val="689028932"/>
                    </a:ext>
                  </a:extLst>
                </a:gridCol>
                <a:gridCol w="594835">
                  <a:extLst>
                    <a:ext uri="{9D8B030D-6E8A-4147-A177-3AD203B41FA5}">
                      <a16:colId xmlns:a16="http://schemas.microsoft.com/office/drawing/2014/main" val="3105858647"/>
                    </a:ext>
                  </a:extLst>
                </a:gridCol>
              </a:tblGrid>
              <a:tr h="135923">
                <a:tc gridSpan="2">
                  <a:txBody>
                    <a:bodyPr/>
                    <a:lstStyle/>
                    <a:p>
                      <a:pPr algn="l" fontAlgn="ctr"/>
                      <a:r>
                        <a:rPr lang="ja-JP" altLang="en-US" sz="600" b="1" i="0" u="none" strike="noStrike">
                          <a:solidFill>
                            <a:srgbClr val="000000"/>
                          </a:solidFill>
                          <a:effectLst/>
                          <a:latin typeface="メイリオ" panose="020B0604030504040204" pitchFamily="50" charset="-128"/>
                          <a:ea typeface="メイリオ" panose="020B0604030504040204" pitchFamily="50" charset="-128"/>
                        </a:rPr>
                        <a:t>■月間の</a:t>
                      </a: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KPI</a:t>
                      </a:r>
                      <a:r>
                        <a:rPr lang="ja-JP" altLang="en-US" sz="600" b="1" i="0" u="none" strike="noStrike">
                          <a:solidFill>
                            <a:srgbClr val="000000"/>
                          </a:solidFill>
                          <a:effectLst/>
                          <a:latin typeface="メイリオ" panose="020B0604030504040204" pitchFamily="50" charset="-128"/>
                          <a:ea typeface="メイリオ" panose="020B0604030504040204" pitchFamily="50" charset="-128"/>
                        </a:rPr>
                        <a:t>（ご提案時）</a:t>
                      </a:r>
                    </a:p>
                  </a:txBody>
                  <a:tcPr marL="5106" marR="5106" marT="5106" marB="0" anchor="ctr">
                    <a:lnL>
                      <a:noFill/>
                    </a:lnL>
                    <a:lnR>
                      <a:noFill/>
                    </a:lnR>
                    <a:lnT>
                      <a:noFill/>
                    </a:lnT>
                    <a:lnB>
                      <a:noFill/>
                    </a:lnB>
                  </a:tcPr>
                </a:tc>
                <a:tc hMerge="1">
                  <a:txBody>
                    <a:bodyPr/>
                    <a:lstStyle/>
                    <a:p>
                      <a:endParaRPr kumimoji="1" lang="ja-JP" altLang="en-US"/>
                    </a:p>
                  </a:txBody>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extLst>
                  <a:ext uri="{0D108BD9-81ED-4DB2-BD59-A6C34878D82A}">
                    <a16:rowId xmlns:a16="http://schemas.microsoft.com/office/drawing/2014/main" val="759026655"/>
                  </a:ext>
                </a:extLst>
              </a:tr>
              <a:tr h="135923">
                <a:tc>
                  <a:txBody>
                    <a:bodyPr/>
                    <a:lstStyle/>
                    <a:p>
                      <a:pPr algn="ctr" fontAlgn="ctr"/>
                      <a:r>
                        <a:rPr lang="ja-JP" altLang="en-US" sz="600" b="1" i="0" u="none" strike="noStrike" dirty="0">
                          <a:solidFill>
                            <a:srgbClr val="FFFFFF"/>
                          </a:solidFill>
                          <a:effectLst/>
                          <a:latin typeface="メイリオ" panose="020B0604030504040204" pitchFamily="50" charset="-128"/>
                          <a:ea typeface="メイリオ" panose="020B0604030504040204" pitchFamily="50" charset="-128"/>
                        </a:rPr>
                        <a:t>期間</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　</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友だち数</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ブロック率</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コスト</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配信メッセ数</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開封率</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クリック率</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その他流入</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流入計</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流入単価</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en-US" sz="600" b="1" i="0" u="none" strike="noStrike">
                          <a:solidFill>
                            <a:srgbClr val="FFFFFF"/>
                          </a:solidFill>
                          <a:effectLst/>
                          <a:latin typeface="メイリオ" panose="020B0604030504040204" pitchFamily="50" charset="-128"/>
                          <a:ea typeface="メイリオ" panose="020B0604030504040204" pitchFamily="50" charset="-128"/>
                        </a:rPr>
                        <a:t>GA_CV</a:t>
                      </a: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計</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en-US" sz="600" b="1" i="0" u="none" strike="noStrike">
                          <a:solidFill>
                            <a:srgbClr val="FFFFFF"/>
                          </a:solidFill>
                          <a:effectLst/>
                          <a:latin typeface="メイリオ" panose="020B0604030504040204" pitchFamily="50" charset="-128"/>
                          <a:ea typeface="メイリオ" panose="020B0604030504040204" pitchFamily="50" charset="-128"/>
                        </a:rPr>
                        <a:t>CV_</a:t>
                      </a: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その他 </a:t>
                      </a:r>
                      <a:r>
                        <a:rPr lang="en-US" altLang="ja-JP" sz="600" b="1" i="0" u="none" strike="noStrike">
                          <a:solidFill>
                            <a:srgbClr val="FFFFFF"/>
                          </a:solidFill>
                          <a:effectLst/>
                          <a:latin typeface="メイリオ" panose="020B0604030504040204" pitchFamily="50" charset="-128"/>
                          <a:ea typeface="メイリオ" panose="020B0604030504040204" pitchFamily="50" charset="-128"/>
                        </a:rPr>
                        <a:t>※</a:t>
                      </a: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仮</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3A3838"/>
                    </a:solidFill>
                  </a:tcPr>
                </a:tc>
                <a:tc>
                  <a:txBody>
                    <a:bodyPr/>
                    <a:lstStyle/>
                    <a:p>
                      <a:pPr algn="ctr" fontAlgn="ctr"/>
                      <a:r>
                        <a:rPr lang="en-US" sz="600" b="1" i="0" u="none" strike="noStrike">
                          <a:solidFill>
                            <a:srgbClr val="FFFFFF"/>
                          </a:solidFill>
                          <a:effectLst/>
                          <a:latin typeface="メイリオ" panose="020B0604030504040204" pitchFamily="50" charset="-128"/>
                          <a:ea typeface="メイリオ" panose="020B0604030504040204" pitchFamily="50" charset="-128"/>
                        </a:rPr>
                        <a:t>CV</a:t>
                      </a: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率</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en-US" sz="600" b="1" i="0" u="none" strike="noStrike">
                          <a:solidFill>
                            <a:srgbClr val="FFFFFF"/>
                          </a:solidFill>
                          <a:effectLst/>
                          <a:latin typeface="メイリオ" panose="020B0604030504040204" pitchFamily="50" charset="-128"/>
                          <a:ea typeface="メイリオ" panose="020B0604030504040204" pitchFamily="50" charset="-128"/>
                        </a:rPr>
                        <a:t>CPA</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extLst>
                  <a:ext uri="{0D108BD9-81ED-4DB2-BD59-A6C34878D82A}">
                    <a16:rowId xmlns:a16="http://schemas.microsoft.com/office/drawing/2014/main" val="2732671633"/>
                  </a:ext>
                </a:extLst>
              </a:tr>
              <a:tr h="135923">
                <a:tc>
                  <a:txBody>
                    <a:bodyPr/>
                    <a:lstStyle/>
                    <a:p>
                      <a:pPr algn="ctr" fontAlgn="ctr"/>
                      <a:r>
                        <a:rPr lang="ja-JP" altLang="en-US" sz="600" b="0" i="0" u="none" strike="noStrike">
                          <a:solidFill>
                            <a:srgbClr val="000000"/>
                          </a:solidFill>
                          <a:effectLst/>
                          <a:latin typeface="メイリオ" panose="020B0604030504040204" pitchFamily="50" charset="-128"/>
                          <a:ea typeface="メイリオ" panose="020B0604030504040204" pitchFamily="50" charset="-128"/>
                        </a:rPr>
                        <a:t>ご提案時</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ctr" fontAlgn="ctr"/>
                      <a:r>
                        <a:rPr lang="ja-JP" altLang="en-US" sz="600" b="0" i="0" u="none" strike="noStrike">
                          <a:solidFill>
                            <a:srgbClr val="000000"/>
                          </a:solidFill>
                          <a:effectLst/>
                          <a:latin typeface="メイリオ" panose="020B0604030504040204" pitchFamily="50" charset="-128"/>
                          <a:ea typeface="メイリオ" panose="020B0604030504040204" pitchFamily="50" charset="-128"/>
                        </a:rPr>
                        <a:t>　</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180,000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70.0%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¥450,000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70,000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75.0%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2,200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¥205</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25</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15</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1.1%</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¥18,000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3647146513"/>
                  </a:ext>
                </a:extLst>
              </a:tr>
              <a:tr h="135923">
                <a:tc gridSpan="2">
                  <a:txBody>
                    <a:bodyPr/>
                    <a:lstStyle/>
                    <a:p>
                      <a:pPr algn="l" fontAlgn="ctr"/>
                      <a:r>
                        <a:rPr lang="ja-JP" altLang="en-US" sz="600" b="1" i="0" u="none" strike="noStrike" dirty="0">
                          <a:solidFill>
                            <a:srgbClr val="000000"/>
                          </a:solidFill>
                          <a:effectLst/>
                          <a:latin typeface="メイリオ" panose="020B0604030504040204" pitchFamily="50" charset="-128"/>
                          <a:ea typeface="メイリオ" panose="020B0604030504040204" pitchFamily="50" charset="-128"/>
                        </a:rPr>
                        <a:t>■月次データ（概要）</a:t>
                      </a: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hMerge="1">
                  <a:txBody>
                    <a:bodyPr/>
                    <a:lstStyle/>
                    <a:p>
                      <a:endParaRPr kumimoji="1" lang="ja-JP" altLang="en-US"/>
                    </a:p>
                  </a:txBody>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extLst>
                  <a:ext uri="{0D108BD9-81ED-4DB2-BD59-A6C34878D82A}">
                    <a16:rowId xmlns:a16="http://schemas.microsoft.com/office/drawing/2014/main" val="2623514694"/>
                  </a:ext>
                </a:extLst>
              </a:tr>
              <a:tr h="135923">
                <a:tc>
                  <a:txBody>
                    <a:bodyPr/>
                    <a:lstStyle/>
                    <a:p>
                      <a:pPr algn="ctr" fontAlgn="ctr"/>
                      <a:r>
                        <a:rPr lang="ja-JP" altLang="en-US" sz="600" b="1" i="0" u="none" strike="noStrike" dirty="0">
                          <a:solidFill>
                            <a:srgbClr val="FFFFFF"/>
                          </a:solidFill>
                          <a:effectLst/>
                          <a:latin typeface="メイリオ" panose="020B0604030504040204" pitchFamily="50" charset="-128"/>
                          <a:ea typeface="メイリオ" panose="020B0604030504040204" pitchFamily="50" charset="-128"/>
                        </a:rPr>
                        <a:t>期間</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変換用</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友だち数</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ブロック率</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コスト</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配信メッセ数</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開封率</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クリック率</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その他流入</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流入計</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流入単価</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en-US" sz="600" b="1" i="0" u="none" strike="noStrike">
                          <a:solidFill>
                            <a:srgbClr val="FFFFFF"/>
                          </a:solidFill>
                          <a:effectLst/>
                          <a:latin typeface="メイリオ" panose="020B0604030504040204" pitchFamily="50" charset="-128"/>
                          <a:ea typeface="メイリオ" panose="020B0604030504040204" pitchFamily="50" charset="-128"/>
                        </a:rPr>
                        <a:t>GA_CV</a:t>
                      </a: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計</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FF0000"/>
                    </a:solidFill>
                  </a:tcPr>
                </a:tc>
                <a:tc>
                  <a:txBody>
                    <a:bodyPr/>
                    <a:lstStyle/>
                    <a:p>
                      <a:pPr algn="ctr" fontAlgn="ctr"/>
                      <a:r>
                        <a:rPr lang="en-US" sz="600" b="1" i="0" u="none" strike="noStrike">
                          <a:solidFill>
                            <a:srgbClr val="FFFFFF"/>
                          </a:solidFill>
                          <a:effectLst/>
                          <a:latin typeface="メイリオ" panose="020B0604030504040204" pitchFamily="50" charset="-128"/>
                          <a:ea typeface="メイリオ" panose="020B0604030504040204" pitchFamily="50" charset="-128"/>
                        </a:rPr>
                        <a:t>CV_</a:t>
                      </a: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その他 </a:t>
                      </a:r>
                      <a:r>
                        <a:rPr lang="en-US" altLang="ja-JP" sz="600" b="1" i="0" u="none" strike="noStrike">
                          <a:solidFill>
                            <a:srgbClr val="FFFFFF"/>
                          </a:solidFill>
                          <a:effectLst/>
                          <a:latin typeface="メイリオ" panose="020B0604030504040204" pitchFamily="50" charset="-128"/>
                          <a:ea typeface="メイリオ" panose="020B0604030504040204" pitchFamily="50" charset="-128"/>
                        </a:rPr>
                        <a:t>※</a:t>
                      </a: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仮</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3A3838"/>
                    </a:solidFill>
                  </a:tcPr>
                </a:tc>
                <a:tc>
                  <a:txBody>
                    <a:bodyPr/>
                    <a:lstStyle/>
                    <a:p>
                      <a:pPr algn="ctr" fontAlgn="ctr"/>
                      <a:r>
                        <a:rPr lang="en-US" sz="600" b="1" i="0" u="none" strike="noStrike">
                          <a:solidFill>
                            <a:srgbClr val="FFFFFF"/>
                          </a:solidFill>
                          <a:effectLst/>
                          <a:latin typeface="メイリオ" panose="020B0604030504040204" pitchFamily="50" charset="-128"/>
                          <a:ea typeface="メイリオ" panose="020B0604030504040204" pitchFamily="50" charset="-128"/>
                        </a:rPr>
                        <a:t>CV</a:t>
                      </a: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率</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en-US" sz="600" b="1" i="0" u="none" strike="noStrike">
                          <a:solidFill>
                            <a:srgbClr val="FFFFFF"/>
                          </a:solidFill>
                          <a:effectLst/>
                          <a:latin typeface="メイリオ" panose="020B0604030504040204" pitchFamily="50" charset="-128"/>
                          <a:ea typeface="メイリオ" panose="020B0604030504040204" pitchFamily="50" charset="-128"/>
                        </a:rPr>
                        <a:t>CPA</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extLst>
                  <a:ext uri="{0D108BD9-81ED-4DB2-BD59-A6C34878D82A}">
                    <a16:rowId xmlns:a16="http://schemas.microsoft.com/office/drawing/2014/main" val="2368346719"/>
                  </a:ext>
                </a:extLst>
              </a:tr>
              <a:tr h="135923">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2025/1</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20250101 </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184,548</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68.2%</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¥450,000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22,901</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77.0%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3.9%</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683</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¥659</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32</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FCE4D6"/>
                    </a:solidFill>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4.7%</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FF0000"/>
                          </a:solidFill>
                          <a:effectLst/>
                          <a:latin typeface="メイリオ" panose="020B0604030504040204" pitchFamily="50" charset="-128"/>
                          <a:ea typeface="メイリオ" panose="020B0604030504040204" pitchFamily="50" charset="-128"/>
                        </a:rPr>
                        <a:t>¥14,063</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3018188146"/>
                  </a:ext>
                </a:extLst>
              </a:tr>
              <a:tr h="135923">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2024/12</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20241201 </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181,780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68.3%</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¥450,000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82,916</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47.8%</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4.2%</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187</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1,865</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¥241</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22</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FCE4D6"/>
                    </a:solidFill>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5</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1.2%</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FF0000"/>
                          </a:solidFill>
                          <a:effectLst/>
                          <a:latin typeface="メイリオ" panose="020B0604030504040204" pitchFamily="50" charset="-128"/>
                          <a:ea typeface="メイリオ" panose="020B0604030504040204" pitchFamily="50" charset="-128"/>
                        </a:rPr>
                        <a:t>¥20,455</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242232307"/>
                  </a:ext>
                </a:extLst>
              </a:tr>
              <a:tr h="135923">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2024/11</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20241101 </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179,053</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68.4%</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¥450,000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53,464</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57.7%</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3.5%</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67</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1,150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¥391</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16</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FCE4D6"/>
                    </a:solidFill>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11</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1.4%</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FF0000"/>
                          </a:solidFill>
                          <a:effectLst/>
                          <a:latin typeface="メイリオ" panose="020B0604030504040204" pitchFamily="50" charset="-128"/>
                          <a:ea typeface="メイリオ" panose="020B0604030504040204" pitchFamily="50" charset="-128"/>
                        </a:rPr>
                        <a:t>¥28,125</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3491418966"/>
                  </a:ext>
                </a:extLst>
              </a:tr>
              <a:tr h="135923">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2024/10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20241001 </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176,367</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68.5%</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¥450,000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82,279</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53.2%</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4.3%</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1,868</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¥241</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12</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FCE4D6"/>
                    </a:solidFill>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6</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0.6%</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FF0000"/>
                          </a:solidFill>
                          <a:effectLst/>
                          <a:latin typeface="メイリオ" panose="020B0604030504040204" pitchFamily="50" charset="-128"/>
                          <a:ea typeface="メイリオ" panose="020B0604030504040204" pitchFamily="50" charset="-128"/>
                        </a:rPr>
                        <a:t>¥37,500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3705770834"/>
                  </a:ext>
                </a:extLst>
              </a:tr>
              <a:tr h="135923">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2024/9</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20240901 </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173,722</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68.7%</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¥450,000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24,240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88.3%</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2.9%</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617</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¥1,159</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11</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FCE4D6"/>
                    </a:solidFill>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18</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1.8%</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FF0000"/>
                          </a:solidFill>
                          <a:effectLst/>
                          <a:latin typeface="メイリオ" panose="020B0604030504040204" pitchFamily="50" charset="-128"/>
                          <a:ea typeface="メイリオ" panose="020B0604030504040204" pitchFamily="50" charset="-128"/>
                        </a:rPr>
                        <a:t>¥40,909</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2777529875"/>
                  </a:ext>
                </a:extLst>
              </a:tr>
              <a:tr h="135923">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2024/8</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20240801 </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171,116</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68.8%</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¥450,000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39,665</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86.0%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3.1%</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1,064</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¥699</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10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FCE4D6"/>
                    </a:solidFill>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2</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0.9%</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FF0000"/>
                          </a:solidFill>
                          <a:effectLst/>
                          <a:latin typeface="メイリオ" panose="020B0604030504040204" pitchFamily="50" charset="-128"/>
                          <a:ea typeface="メイリオ" panose="020B0604030504040204" pitchFamily="50" charset="-128"/>
                        </a:rPr>
                        <a:t>¥45,000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3532772668"/>
                  </a:ext>
                </a:extLst>
              </a:tr>
              <a:tr h="135923">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2024/7</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20240701 </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168,549</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68.9%</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¥450,000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74,478</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44.6%</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1,321</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¥680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8</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FCE4D6"/>
                    </a:solidFill>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0.6%</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dirty="0">
                          <a:solidFill>
                            <a:srgbClr val="FF0000"/>
                          </a:solidFill>
                          <a:effectLst/>
                          <a:latin typeface="メイリオ" panose="020B0604030504040204" pitchFamily="50" charset="-128"/>
                          <a:ea typeface="メイリオ" panose="020B0604030504040204" pitchFamily="50" charset="-128"/>
                        </a:rPr>
                        <a:t>¥56,250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1526691278"/>
                  </a:ext>
                </a:extLst>
              </a:tr>
            </a:tbl>
          </a:graphicData>
        </a:graphic>
      </p:graphicFrame>
      <p:sp>
        <p:nvSpPr>
          <p:cNvPr id="9" name="正方形/長方形 8"/>
          <p:cNvSpPr/>
          <p:nvPr/>
        </p:nvSpPr>
        <p:spPr>
          <a:xfrm>
            <a:off x="5164183" y="2352739"/>
            <a:ext cx="4219296" cy="1762616"/>
          </a:xfrm>
          <a:prstGeom prst="rect">
            <a:avLst/>
          </a:prstGeom>
          <a:noFill/>
          <a:ln>
            <a:solidFill>
              <a:schemeClr val="tx2">
                <a:alpha val="5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正方形/長方形 14"/>
          <p:cNvSpPr/>
          <p:nvPr/>
        </p:nvSpPr>
        <p:spPr>
          <a:xfrm>
            <a:off x="7192964" y="3902953"/>
            <a:ext cx="2206519" cy="209848"/>
          </a:xfrm>
          <a:prstGeom prst="rect">
            <a:avLst/>
          </a:prstGeom>
        </p:spPr>
        <p:txBody>
          <a:bodyPr wrap="none">
            <a:spAutoFit/>
          </a:bodyPr>
          <a:lstStyle/>
          <a:p>
            <a:r>
              <a:rPr lang="en-US" altLang="ja-JP" sz="1050" b="1" dirty="0">
                <a:solidFill>
                  <a:schemeClr val="tx1">
                    <a:lumMod val="65000"/>
                    <a:lumOff val="35000"/>
                  </a:schemeClr>
                </a:solidFill>
                <a:latin typeface="Meiryo"/>
                <a:ea typeface="Meiryo"/>
                <a:cs typeface="Meiryo"/>
                <a:sym typeface="Meiryo"/>
              </a:rPr>
              <a:t>GA</a:t>
            </a:r>
            <a:r>
              <a:rPr lang="ja-JP" altLang="en-US" sz="1050" b="1" dirty="0">
                <a:solidFill>
                  <a:schemeClr val="tx1">
                    <a:lumMod val="65000"/>
                    <a:lumOff val="35000"/>
                  </a:schemeClr>
                </a:solidFill>
                <a:latin typeface="Meiryo"/>
                <a:ea typeface="Meiryo"/>
                <a:cs typeface="Meiryo"/>
                <a:sym typeface="Meiryo"/>
              </a:rPr>
              <a:t>管理画面上で計測し、数値反映</a:t>
            </a:r>
            <a:endParaRPr lang="ja-JP" altLang="en-US" sz="1050" dirty="0"/>
          </a:p>
        </p:txBody>
      </p:sp>
      <p:sp>
        <p:nvSpPr>
          <p:cNvPr id="16" name="右矢印 15"/>
          <p:cNvSpPr/>
          <p:nvPr/>
        </p:nvSpPr>
        <p:spPr>
          <a:xfrm>
            <a:off x="4570905" y="4720337"/>
            <a:ext cx="717764" cy="680165"/>
          </a:xfrm>
          <a:prstGeom prst="rightArrow">
            <a:avLst>
              <a:gd name="adj1" fmla="val 65364"/>
              <a:gd name="adj2" fmla="val 50000"/>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7" name="図 1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61717" y="4408755"/>
            <a:ext cx="1685243" cy="2001227"/>
          </a:xfrm>
          <a:prstGeom prst="rect">
            <a:avLst/>
          </a:prstGeom>
        </p:spPr>
      </p:pic>
      <p:pic>
        <p:nvPicPr>
          <p:cNvPr id="18" name="図 17"/>
          <p:cNvPicPr>
            <a:picLocks noChangeAspect="1"/>
          </p:cNvPicPr>
          <p:nvPr/>
        </p:nvPicPr>
        <p:blipFill rotWithShape="1">
          <a:blip r:embed="rId4" cstate="print">
            <a:extLst>
              <a:ext uri="{28A0092B-C50C-407E-A947-70E740481C1C}">
                <a14:useLocalDpi xmlns:a14="http://schemas.microsoft.com/office/drawing/2010/main" val="0"/>
              </a:ext>
            </a:extLst>
          </a:blip>
          <a:srcRect r="4805" b="31533"/>
          <a:stretch/>
        </p:blipFill>
        <p:spPr>
          <a:xfrm>
            <a:off x="934688" y="5400502"/>
            <a:ext cx="1403563" cy="1009480"/>
          </a:xfrm>
          <a:prstGeom prst="rect">
            <a:avLst/>
          </a:prstGeom>
        </p:spPr>
      </p:pic>
      <p:pic>
        <p:nvPicPr>
          <p:cNvPr id="19" name="図 1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486163" y="4408755"/>
            <a:ext cx="1685243" cy="2001227"/>
          </a:xfrm>
          <a:prstGeom prst="rect">
            <a:avLst/>
          </a:prstGeom>
        </p:spPr>
      </p:pic>
      <p:pic>
        <p:nvPicPr>
          <p:cNvPr id="21" name="図 20"/>
          <p:cNvPicPr>
            <a:picLocks noChangeAspect="1"/>
          </p:cNvPicPr>
          <p:nvPr/>
        </p:nvPicPr>
        <p:blipFill>
          <a:blip r:embed="rId5"/>
          <a:stretch>
            <a:fillRect/>
          </a:stretch>
        </p:blipFill>
        <p:spPr>
          <a:xfrm>
            <a:off x="5535676" y="4826463"/>
            <a:ext cx="1309023" cy="542766"/>
          </a:xfrm>
          <a:prstGeom prst="rect">
            <a:avLst/>
          </a:prstGeom>
        </p:spPr>
      </p:pic>
      <p:sp>
        <p:nvSpPr>
          <p:cNvPr id="22" name="楕円 21"/>
          <p:cNvSpPr/>
          <p:nvPr/>
        </p:nvSpPr>
        <p:spPr>
          <a:xfrm>
            <a:off x="7644705" y="5440910"/>
            <a:ext cx="1326812" cy="552958"/>
          </a:xfrm>
          <a:prstGeom prst="ellipse">
            <a:avLst/>
          </a:prstGeom>
          <a:solidFill>
            <a:schemeClr val="bg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売上</a:t>
            </a:r>
          </a:p>
        </p:txBody>
      </p:sp>
      <p:sp>
        <p:nvSpPr>
          <p:cNvPr id="24" name="楕円 23"/>
          <p:cNvSpPr/>
          <p:nvPr/>
        </p:nvSpPr>
        <p:spPr>
          <a:xfrm>
            <a:off x="6613630" y="5424347"/>
            <a:ext cx="1326812" cy="552958"/>
          </a:xfrm>
          <a:prstGeom prst="ellipse">
            <a:avLst/>
          </a:prstGeom>
          <a:solidFill>
            <a:schemeClr val="bg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lumMod val="65000"/>
                    <a:lumOff val="35000"/>
                  </a:schemeClr>
                </a:solidFill>
                <a:latin typeface="メイリオ" panose="020B0604030504040204" pitchFamily="50" charset="-128"/>
                <a:ea typeface="メイリオ" panose="020B0604030504040204" pitchFamily="50" charset="-128"/>
              </a:rPr>
              <a:t>CV</a:t>
            </a:r>
            <a:endParaRPr kumimoji="1" lang="ja-JP" altLang="en-US" sz="12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5" name="楕円 24"/>
          <p:cNvSpPr/>
          <p:nvPr/>
        </p:nvSpPr>
        <p:spPr>
          <a:xfrm>
            <a:off x="5459174" y="5424348"/>
            <a:ext cx="1326812" cy="552958"/>
          </a:xfrm>
          <a:prstGeom prst="ellipse">
            <a:avLst/>
          </a:prstGeom>
          <a:solidFill>
            <a:schemeClr val="bg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tx1">
                    <a:lumMod val="65000"/>
                    <a:lumOff val="35000"/>
                  </a:schemeClr>
                </a:solidFill>
                <a:latin typeface="メイリオ" panose="020B0604030504040204" pitchFamily="50" charset="-128"/>
                <a:ea typeface="メイリオ" panose="020B0604030504040204" pitchFamily="50" charset="-128"/>
              </a:rPr>
              <a:t>有効（</a:t>
            </a:r>
            <a:r>
              <a:rPr lang="en-US" altLang="ja-JP" sz="1100" dirty="0">
                <a:solidFill>
                  <a:schemeClr val="tx1">
                    <a:lumMod val="65000"/>
                    <a:lumOff val="35000"/>
                  </a:schemeClr>
                </a:solidFill>
                <a:latin typeface="メイリオ" panose="020B0604030504040204" pitchFamily="50" charset="-128"/>
                <a:ea typeface="メイリオ" panose="020B0604030504040204" pitchFamily="50" charset="-128"/>
              </a:rPr>
              <a:t>mcv</a:t>
            </a:r>
            <a:r>
              <a:rPr lang="ja-JP" altLang="en-US" sz="1100" dirty="0">
                <a:solidFill>
                  <a:schemeClr val="tx1">
                    <a:lumMod val="65000"/>
                    <a:lumOff val="35000"/>
                  </a:schemeClr>
                </a:solidFill>
                <a:latin typeface="メイリオ" panose="020B0604030504040204" pitchFamily="50" charset="-128"/>
                <a:ea typeface="メイリオ" panose="020B0604030504040204" pitchFamily="50" charset="-128"/>
              </a:rPr>
              <a:t>）</a:t>
            </a:r>
            <a:endParaRPr kumimoji="1" lang="ja-JP" altLang="en-US" sz="11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6" name="正方形/長方形 25"/>
          <p:cNvSpPr/>
          <p:nvPr/>
        </p:nvSpPr>
        <p:spPr>
          <a:xfrm>
            <a:off x="6785986" y="5037438"/>
            <a:ext cx="2492990" cy="276999"/>
          </a:xfrm>
          <a:prstGeom prst="rect">
            <a:avLst/>
          </a:prstGeom>
        </p:spPr>
        <p:txBody>
          <a:bodyPr wrap="none">
            <a:spAutoFit/>
          </a:bodyPr>
          <a:lstStyle/>
          <a:p>
            <a:r>
              <a:rPr lang="ja-JP" altLang="en-US" sz="1200" b="1" dirty="0">
                <a:latin typeface="Meiryo"/>
                <a:ea typeface="Meiryo"/>
                <a:cs typeface="Meiryo"/>
                <a:sym typeface="Meiryo"/>
              </a:rPr>
              <a:t>管理画面を成果としてレポート化</a:t>
            </a:r>
            <a:endParaRPr lang="ja-JP" altLang="en-US" sz="1200" b="1" dirty="0"/>
          </a:p>
        </p:txBody>
      </p:sp>
      <p:sp>
        <p:nvSpPr>
          <p:cNvPr id="27" name="正方形/長方形 26"/>
          <p:cNvSpPr/>
          <p:nvPr/>
        </p:nvSpPr>
        <p:spPr>
          <a:xfrm>
            <a:off x="5895888" y="6013913"/>
            <a:ext cx="2762295" cy="261610"/>
          </a:xfrm>
          <a:prstGeom prst="rect">
            <a:avLst/>
          </a:prstGeom>
        </p:spPr>
        <p:txBody>
          <a:bodyPr wrap="none">
            <a:spAutoFit/>
          </a:bodyPr>
          <a:lstStyle/>
          <a:p>
            <a:r>
              <a:rPr lang="en-US" altLang="ja-JP" sz="1100" dirty="0">
                <a:solidFill>
                  <a:schemeClr val="tx1">
                    <a:lumMod val="50000"/>
                    <a:lumOff val="50000"/>
                  </a:schemeClr>
                </a:solidFill>
                <a:latin typeface="Meiryo"/>
                <a:ea typeface="Meiryo"/>
                <a:sym typeface="Meiryo"/>
              </a:rPr>
              <a:t>※</a:t>
            </a:r>
            <a:r>
              <a:rPr lang="en-US" altLang="ja-JP" sz="1100" dirty="0" err="1">
                <a:solidFill>
                  <a:schemeClr val="tx1">
                    <a:lumMod val="50000"/>
                    <a:lumOff val="50000"/>
                  </a:schemeClr>
                </a:solidFill>
                <a:latin typeface="Meiryo"/>
                <a:ea typeface="Meiryo"/>
                <a:sym typeface="Meiryo"/>
              </a:rPr>
              <a:t>AdEbis</a:t>
            </a:r>
            <a:r>
              <a:rPr lang="ja-JP" altLang="en-US" sz="1100" dirty="0">
                <a:solidFill>
                  <a:schemeClr val="tx1">
                    <a:lumMod val="50000"/>
                    <a:lumOff val="50000"/>
                  </a:schemeClr>
                </a:solidFill>
                <a:latin typeface="Meiryo"/>
                <a:ea typeface="Meiryo"/>
                <a:sym typeface="Meiryo"/>
              </a:rPr>
              <a:t>等の外部ツールの対応も可能。</a:t>
            </a:r>
            <a:endParaRPr lang="ja-JP" altLang="en-US" sz="1100" dirty="0">
              <a:solidFill>
                <a:schemeClr val="tx1">
                  <a:lumMod val="50000"/>
                  <a:lumOff val="50000"/>
                </a:schemeClr>
              </a:solidFill>
            </a:endParaRPr>
          </a:p>
        </p:txBody>
      </p:sp>
      <p:sp>
        <p:nvSpPr>
          <p:cNvPr id="28" name="正方形/長方形 27"/>
          <p:cNvSpPr/>
          <p:nvPr/>
        </p:nvSpPr>
        <p:spPr>
          <a:xfrm>
            <a:off x="390709" y="4227706"/>
            <a:ext cx="4219296" cy="277788"/>
          </a:xfrm>
          <a:prstGeom prst="rect">
            <a:avLst/>
          </a:prstGeom>
          <a:solidFill>
            <a:srgbClr val="00C0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200" b="1" dirty="0">
                <a:latin typeface="メイリオ" panose="020B0604030504040204" pitchFamily="50" charset="-128"/>
                <a:ea typeface="メイリオ" panose="020B0604030504040204" pitchFamily="50" charset="-128"/>
              </a:rPr>
              <a:t>LINE</a:t>
            </a:r>
            <a:r>
              <a:rPr lang="ja-JP" altLang="en-US" sz="1200" b="1" dirty="0">
                <a:latin typeface="メイリオ" panose="020B0604030504040204" pitchFamily="50" charset="-128"/>
                <a:ea typeface="メイリオ" panose="020B0604030504040204" pitchFamily="50" charset="-128"/>
              </a:rPr>
              <a:t>アプリ上</a:t>
            </a:r>
            <a:endParaRPr kumimoji="1" lang="ja-JP" altLang="en-US" sz="1200" b="1" dirty="0">
              <a:latin typeface="メイリオ" panose="020B0604030504040204" pitchFamily="50" charset="-128"/>
              <a:ea typeface="メイリオ" panose="020B0604030504040204" pitchFamily="50" charset="-128"/>
            </a:endParaRPr>
          </a:p>
        </p:txBody>
      </p:sp>
      <p:pic>
        <p:nvPicPr>
          <p:cNvPr id="1034" name="Picture 10" descr="Illustrazione Stock クリック,チェック,注目,選ぶ,指,押す,注意,決定,タッチ,おすすめ,案内,重要,選択,発見,検索,ピクトグラム,カーソル,ポインター,マウス,指す,記号,マーク,ワンポイント,シンボル,サイン,タップ,スワイプ,ポイント,手,人差し指,ゆび,イチ押し,スライド,アイコン,広告,ひらめき,チラシ,シンプル,プッシュ,開く,イラスト | Adobe Stock"/>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rot="13670773">
            <a:off x="1882803" y="6009237"/>
            <a:ext cx="542505" cy="382945"/>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10" descr="Illustrazione Stock クリック,チェック,注目,選ぶ,指,押す,注意,決定,タッチ,おすすめ,案内,重要,選択,発見,検索,ピクトグラム,カーソル,ポインター,マウス,指す,記号,マーク,ワンポイント,シンボル,サイン,タップ,スワイプ,ポイント,手,人差し指,ゆび,イチ押し,スライド,アイコン,広告,ひらめき,チラシ,シンプル,プッシュ,開く,イラスト | Adobe Stock"/>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rot="13670773">
            <a:off x="3827252" y="6144220"/>
            <a:ext cx="542505" cy="382945"/>
          </a:xfrm>
          <a:prstGeom prst="rect">
            <a:avLst/>
          </a:prstGeom>
          <a:noFill/>
          <a:extLst>
            <a:ext uri="{909E8E84-426E-40DD-AFC4-6F175D3DCCD1}">
              <a14:hiddenFill xmlns:a14="http://schemas.microsoft.com/office/drawing/2010/main">
                <a:solidFill>
                  <a:srgbClr val="FFFFFF"/>
                </a:solidFill>
              </a14:hiddenFill>
            </a:ext>
          </a:extLst>
        </p:spPr>
      </p:pic>
      <p:grpSp>
        <p:nvGrpSpPr>
          <p:cNvPr id="41" name="グループ化 40"/>
          <p:cNvGrpSpPr/>
          <p:nvPr/>
        </p:nvGrpSpPr>
        <p:grpSpPr>
          <a:xfrm>
            <a:off x="1802228" y="5899367"/>
            <a:ext cx="125343" cy="138465"/>
            <a:chOff x="4245087" y="1539805"/>
            <a:chExt cx="325106" cy="269830"/>
          </a:xfrm>
        </p:grpSpPr>
        <p:sp>
          <p:nvSpPr>
            <p:cNvPr id="42" name="二等辺三角形 41"/>
            <p:cNvSpPr/>
            <p:nvPr/>
          </p:nvSpPr>
          <p:spPr>
            <a:xfrm rot="7826235">
              <a:off x="4335416" y="1595821"/>
              <a:ext cx="87064" cy="267721"/>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二等辺三角形 42"/>
            <p:cNvSpPr/>
            <p:nvPr/>
          </p:nvSpPr>
          <p:spPr>
            <a:xfrm rot="9540823">
              <a:off x="4394543" y="1541914"/>
              <a:ext cx="87064" cy="267721"/>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二等辺三角形 43"/>
            <p:cNvSpPr/>
            <p:nvPr/>
          </p:nvSpPr>
          <p:spPr>
            <a:xfrm rot="10800000">
              <a:off x="4483129" y="1539805"/>
              <a:ext cx="87064" cy="267721"/>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54" name="グループ化 53"/>
          <p:cNvGrpSpPr/>
          <p:nvPr/>
        </p:nvGrpSpPr>
        <p:grpSpPr>
          <a:xfrm>
            <a:off x="3722470" y="6025641"/>
            <a:ext cx="125343" cy="138465"/>
            <a:chOff x="4245087" y="1539805"/>
            <a:chExt cx="325106" cy="269830"/>
          </a:xfrm>
        </p:grpSpPr>
        <p:sp>
          <p:nvSpPr>
            <p:cNvPr id="55" name="二等辺三角形 54"/>
            <p:cNvSpPr/>
            <p:nvPr/>
          </p:nvSpPr>
          <p:spPr>
            <a:xfrm rot="7826235">
              <a:off x="4335416" y="1595821"/>
              <a:ext cx="87064" cy="267721"/>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6" name="二等辺三角形 55"/>
            <p:cNvSpPr/>
            <p:nvPr/>
          </p:nvSpPr>
          <p:spPr>
            <a:xfrm rot="9540823">
              <a:off x="4394543" y="1541914"/>
              <a:ext cx="87064" cy="267721"/>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7" name="二等辺三角形 56"/>
            <p:cNvSpPr/>
            <p:nvPr/>
          </p:nvSpPr>
          <p:spPr>
            <a:xfrm rot="10800000">
              <a:off x="4483129" y="1539805"/>
              <a:ext cx="87064" cy="267721"/>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33" name="正方形/長方形 32"/>
          <p:cNvSpPr/>
          <p:nvPr/>
        </p:nvSpPr>
        <p:spPr>
          <a:xfrm>
            <a:off x="5180187" y="4221922"/>
            <a:ext cx="4219296" cy="27778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200" b="1" dirty="0">
                <a:latin typeface="メイリオ" panose="020B0604030504040204" pitchFamily="50" charset="-128"/>
                <a:ea typeface="メイリオ" panose="020B0604030504040204" pitchFamily="50" charset="-128"/>
              </a:rPr>
              <a:t>WEB</a:t>
            </a:r>
            <a:r>
              <a:rPr lang="ja-JP" altLang="en-US" sz="1200" b="1" dirty="0">
                <a:latin typeface="メイリオ" panose="020B0604030504040204" pitchFamily="50" charset="-128"/>
                <a:ea typeface="メイリオ" panose="020B0604030504040204" pitchFamily="50" charset="-128"/>
              </a:rPr>
              <a:t>サイト上</a:t>
            </a:r>
            <a:endParaRPr kumimoji="1" lang="ja-JP" altLang="en-US" sz="1200" b="1" dirty="0">
              <a:latin typeface="メイリオ" panose="020B0604030504040204" pitchFamily="50" charset="-128"/>
              <a:ea typeface="メイリオ" panose="020B0604030504040204" pitchFamily="50" charset="-128"/>
            </a:endParaRPr>
          </a:p>
        </p:txBody>
      </p:sp>
      <p:pic>
        <p:nvPicPr>
          <p:cNvPr id="10" name="図 9"/>
          <p:cNvPicPr>
            <a:picLocks noChangeAspect="1"/>
          </p:cNvPicPr>
          <p:nvPr/>
        </p:nvPicPr>
        <p:blipFill>
          <a:blip r:embed="rId7"/>
          <a:stretch>
            <a:fillRect/>
          </a:stretch>
        </p:blipFill>
        <p:spPr>
          <a:xfrm>
            <a:off x="2758013" y="4552453"/>
            <a:ext cx="1379725" cy="919257"/>
          </a:xfrm>
          <a:prstGeom prst="rect">
            <a:avLst/>
          </a:prstGeom>
        </p:spPr>
      </p:pic>
      <p:sp>
        <p:nvSpPr>
          <p:cNvPr id="11" name="正方形/長方形 10">
            <a:extLst>
              <a:ext uri="{FF2B5EF4-FFF2-40B4-BE49-F238E27FC236}">
                <a16:creationId xmlns:a16="http://schemas.microsoft.com/office/drawing/2014/main" id="{22778390-5C65-8A0B-FBCC-331F4769C279}"/>
              </a:ext>
            </a:extLst>
          </p:cNvPr>
          <p:cNvSpPr/>
          <p:nvPr/>
        </p:nvSpPr>
        <p:spPr>
          <a:xfrm>
            <a:off x="6757851" y="93594"/>
            <a:ext cx="1320961" cy="34403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dirty="0">
                <a:latin typeface="メイリオ" panose="020B0604030504040204" pitchFamily="50" charset="-128"/>
                <a:ea typeface="メイリオ" panose="020B0604030504040204" pitchFamily="50" charset="-128"/>
              </a:rPr>
              <a:t>効果計測</a:t>
            </a:r>
            <a:endParaRPr kumimoji="1" lang="ja-JP" altLang="en-US" sz="1100" dirty="0">
              <a:latin typeface="メイリオ" panose="020B0604030504040204" pitchFamily="50" charset="-128"/>
              <a:ea typeface="メイリオ" panose="020B0604030504040204" pitchFamily="50" charset="-128"/>
            </a:endParaRPr>
          </a:p>
        </p:txBody>
      </p:sp>
      <p:sp>
        <p:nvSpPr>
          <p:cNvPr id="12" name="Google Shape;156;p7">
            <a:extLst>
              <a:ext uri="{FF2B5EF4-FFF2-40B4-BE49-F238E27FC236}">
                <a16:creationId xmlns:a16="http://schemas.microsoft.com/office/drawing/2014/main" id="{6FA8B775-64BA-CC75-EC39-92A06C7D5702}"/>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サポート体制（報告</a:t>
            </a:r>
            <a:r>
              <a:rPr lang="en-US" altLang="ja-JP" sz="1600" b="1" dirty="0">
                <a:solidFill>
                  <a:srgbClr val="002060"/>
                </a:solidFill>
                <a:latin typeface="Meiryo"/>
                <a:ea typeface="Meiryo"/>
                <a:cs typeface="Meiryo"/>
                <a:sym typeface="Meiryo"/>
              </a:rPr>
              <a:t>FMT</a:t>
            </a:r>
            <a:r>
              <a:rPr lang="ja-JP" altLang="en-US" sz="1600" b="1" dirty="0">
                <a:solidFill>
                  <a:srgbClr val="002060"/>
                </a:solidFill>
                <a:latin typeface="Meiryo"/>
                <a:ea typeface="Meiryo"/>
                <a:cs typeface="Meiryo"/>
                <a:sym typeface="Meiryo"/>
              </a:rPr>
              <a:t>）</a:t>
            </a:r>
            <a:endParaRPr sz="1600" b="1" dirty="0">
              <a:solidFill>
                <a:srgbClr val="002060"/>
              </a:solidFill>
              <a:latin typeface="Meiryo"/>
              <a:ea typeface="Meiryo"/>
              <a:cs typeface="Meiryo"/>
              <a:sym typeface="Meiryo"/>
            </a:endParaRPr>
          </a:p>
        </p:txBody>
      </p:sp>
    </p:spTree>
    <p:extLst>
      <p:ext uri="{BB962C8B-B14F-4D97-AF65-F5344CB8AC3E}">
        <p14:creationId xmlns:p14="http://schemas.microsoft.com/office/powerpoint/2010/main" val="29946349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2F862-6825-0A25-E527-0C644CE20321}"/>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1B95EDD6-658F-4CEF-BC87-63AE1294A97D}"/>
              </a:ext>
            </a:extLst>
          </p:cNvPr>
          <p:cNvSpPr/>
          <p:nvPr/>
        </p:nvSpPr>
        <p:spPr>
          <a:xfrm>
            <a:off x="253638" y="835690"/>
            <a:ext cx="2541320"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panose="020B0604030504040204" pitchFamily="50" charset="-128"/>
                <a:ea typeface="メイリオ" panose="020B0604030504040204" pitchFamily="50" charset="-128"/>
              </a:rPr>
              <a:t>弊社体制図</a:t>
            </a:r>
            <a:endParaRPr kumimoji="1" lang="ja-JP" altLang="en-US" sz="1600" b="1" dirty="0">
              <a:latin typeface="メイリオ" panose="020B0604030504040204" pitchFamily="50" charset="-128"/>
              <a:ea typeface="メイリオ" panose="020B0604030504040204" pitchFamily="50" charset="-128"/>
            </a:endParaRPr>
          </a:p>
        </p:txBody>
      </p:sp>
      <p:sp>
        <p:nvSpPr>
          <p:cNvPr id="6" name="Google Shape;156;p7">
            <a:extLst>
              <a:ext uri="{FF2B5EF4-FFF2-40B4-BE49-F238E27FC236}">
                <a16:creationId xmlns:a16="http://schemas.microsoft.com/office/drawing/2014/main" id="{3BA0E9AE-61D3-01E9-521B-2E5746D00D89}"/>
              </a:ext>
            </a:extLst>
          </p:cNvPr>
          <p:cNvSpPr txBox="1"/>
          <p:nvPr/>
        </p:nvSpPr>
        <p:spPr>
          <a:xfrm>
            <a:off x="2857804" y="786210"/>
            <a:ext cx="7217767" cy="584735"/>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chemeClr val="tx1">
                    <a:lumMod val="65000"/>
                    <a:lumOff val="35000"/>
                  </a:schemeClr>
                </a:solidFill>
                <a:latin typeface="Meiryo"/>
                <a:ea typeface="Meiryo"/>
                <a:cs typeface="Meiryo"/>
                <a:sym typeface="Meiryo"/>
              </a:rPr>
              <a:t>GA</a:t>
            </a:r>
            <a:r>
              <a:rPr lang="ja-JP" altLang="en-US" sz="1600" b="1" dirty="0">
                <a:solidFill>
                  <a:schemeClr val="tx1">
                    <a:lumMod val="65000"/>
                    <a:lumOff val="35000"/>
                  </a:schemeClr>
                </a:solidFill>
                <a:latin typeface="Meiryo"/>
                <a:ea typeface="Meiryo"/>
                <a:cs typeface="Meiryo"/>
                <a:sym typeface="Meiryo"/>
              </a:rPr>
              <a:t>及び</a:t>
            </a:r>
            <a:r>
              <a:rPr lang="en-US" altLang="ja-JP" sz="1600" b="1" dirty="0">
                <a:solidFill>
                  <a:schemeClr val="tx1">
                    <a:lumMod val="65000"/>
                    <a:lumOff val="35000"/>
                  </a:schemeClr>
                </a:solidFill>
                <a:latin typeface="Meiryo"/>
                <a:ea typeface="Meiryo"/>
                <a:cs typeface="Meiryo"/>
                <a:sym typeface="Meiryo"/>
              </a:rPr>
              <a:t>MA</a:t>
            </a:r>
            <a:r>
              <a:rPr lang="ja-JP" altLang="en-US" sz="1600" b="1" dirty="0">
                <a:solidFill>
                  <a:schemeClr val="tx1">
                    <a:lumMod val="65000"/>
                    <a:lumOff val="35000"/>
                  </a:schemeClr>
                </a:solidFill>
                <a:latin typeface="Meiryo"/>
                <a:ea typeface="Meiryo"/>
                <a:cs typeface="Meiryo"/>
                <a:sym typeface="Meiryo"/>
              </a:rPr>
              <a:t>ツール両面での計測ができるようパラメータ管理。</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公式アカウントの管理画面には出ない、サイト上の結果を紐づけ。</a:t>
            </a:r>
            <a:endParaRPr sz="1600" b="1" dirty="0">
              <a:solidFill>
                <a:schemeClr val="tx1">
                  <a:lumMod val="65000"/>
                  <a:lumOff val="35000"/>
                </a:schemeClr>
              </a:solidFill>
              <a:latin typeface="Meiryo"/>
              <a:ea typeface="Meiryo"/>
              <a:cs typeface="Meiryo"/>
              <a:sym typeface="Meiryo"/>
            </a:endParaRPr>
          </a:p>
        </p:txBody>
      </p:sp>
      <p:sp>
        <p:nvSpPr>
          <p:cNvPr id="12" name="Google Shape;156;p7">
            <a:extLst>
              <a:ext uri="{FF2B5EF4-FFF2-40B4-BE49-F238E27FC236}">
                <a16:creationId xmlns:a16="http://schemas.microsoft.com/office/drawing/2014/main" id="{C5C4EFC6-EAB9-6A05-AE92-8FF390EDDDE3}"/>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体制図（イメージ）</a:t>
            </a:r>
            <a:endParaRPr sz="1600" b="1" dirty="0">
              <a:solidFill>
                <a:srgbClr val="002060"/>
              </a:solidFill>
              <a:latin typeface="Meiryo"/>
              <a:ea typeface="Meiryo"/>
              <a:cs typeface="Meiryo"/>
              <a:sym typeface="Meiryo"/>
            </a:endParaRPr>
          </a:p>
        </p:txBody>
      </p:sp>
      <p:sp>
        <p:nvSpPr>
          <p:cNvPr id="8" name="Shape 6"/>
          <p:cNvSpPr/>
          <p:nvPr/>
        </p:nvSpPr>
        <p:spPr>
          <a:xfrm>
            <a:off x="621091" y="3084378"/>
            <a:ext cx="4674326" cy="738321"/>
          </a:xfrm>
          <a:prstGeom prst="rect">
            <a:avLst/>
          </a:prstGeom>
          <a:solidFill>
            <a:srgbClr val="FFFFFF"/>
          </a:solidFill>
          <a:ln w="12700">
            <a:solidFill>
              <a:srgbClr val="C0CEDE"/>
            </a:solidFill>
            <a:prstDash val="solid"/>
          </a:ln>
        </p:spPr>
        <p:txBody>
          <a:bodyPr anchor="ctr"/>
          <a:lstStyle/>
          <a:p>
            <a:r>
              <a:rPr lang="ja-JP" altLang="en-US" sz="1200" dirty="0">
                <a:solidFill>
                  <a:srgbClr val="1A1A1A"/>
                </a:solidFill>
                <a:latin typeface="メイリオ" panose="020B0604030504040204" pitchFamily="50" charset="-128"/>
                <a:ea typeface="メイリオ" panose="020B0604030504040204" pitchFamily="50" charset="-128"/>
                <a:cs typeface="MS Gothic" pitchFamily="34" charset="-120"/>
              </a:rPr>
              <a:t>　</a:t>
            </a:r>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本プロモーションの戦略立案</a:t>
            </a:r>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 / </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方針決定</a:t>
            </a:r>
            <a:endParaRPr lang="en-US" altLang="ja-JP" sz="1200" dirty="0">
              <a:latin typeface="メイリオ" panose="020B0604030504040204" pitchFamily="50" charset="-128"/>
              <a:ea typeface="メイリオ" panose="020B0604030504040204" pitchFamily="50" charset="-128"/>
            </a:endParaRPr>
          </a:p>
        </p:txBody>
      </p:sp>
      <p:sp>
        <p:nvSpPr>
          <p:cNvPr id="3" name="Shape 15"/>
          <p:cNvSpPr/>
          <p:nvPr/>
        </p:nvSpPr>
        <p:spPr>
          <a:xfrm>
            <a:off x="660472" y="4383083"/>
            <a:ext cx="2148840" cy="578878"/>
          </a:xfrm>
          <a:prstGeom prst="rect">
            <a:avLst/>
          </a:prstGeom>
          <a:solidFill>
            <a:srgbClr val="FFFFFF"/>
          </a:solidFill>
          <a:ln w="12700">
            <a:solidFill>
              <a:srgbClr val="C0CEDE"/>
            </a:solidFill>
            <a:prstDash val="solid"/>
          </a:ln>
        </p:spPr>
        <p:txBody>
          <a:bodyPr anchor="ctr"/>
          <a:lstStyle/>
          <a:p>
            <a:endParaRPr lang="en-US" altLang="ja-JP" sz="3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アカウント設計</a:t>
            </a:r>
            <a:endPar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運用調整</a:t>
            </a:r>
            <a:endParaRPr lang="en-US" altLang="ja-JP" sz="1100" dirty="0">
              <a:latin typeface="メイリオ" panose="020B0604030504040204" pitchFamily="50" charset="-128"/>
              <a:ea typeface="メイリオ" panose="020B0604030504040204" pitchFamily="50" charset="-128"/>
            </a:endParaRPr>
          </a:p>
        </p:txBody>
      </p:sp>
      <p:sp>
        <p:nvSpPr>
          <p:cNvPr id="18" name="Shape 16"/>
          <p:cNvSpPr/>
          <p:nvPr/>
        </p:nvSpPr>
        <p:spPr>
          <a:xfrm>
            <a:off x="645163" y="4065900"/>
            <a:ext cx="2148840" cy="347472"/>
          </a:xfrm>
          <a:prstGeom prst="rect">
            <a:avLst/>
          </a:prstGeom>
          <a:solidFill>
            <a:srgbClr val="1F3864"/>
          </a:solidFill>
          <a:ln w="12700">
            <a:solidFill>
              <a:srgbClr val="1F3864"/>
            </a:solidFill>
            <a:prstDash val="solid"/>
          </a:ln>
        </p:spPr>
        <p:txBody>
          <a:bodyPr anchor="ctr"/>
          <a:lstStyle/>
          <a:p>
            <a:pPr algn="ctr"/>
            <a:r>
              <a:rPr lang="ja-JP" altLang="en-US" sz="1350" b="1" dirty="0">
                <a:solidFill>
                  <a:srgbClr val="FFFFFF"/>
                </a:solidFill>
                <a:latin typeface="メイリオ" panose="020B0604030504040204" pitchFamily="50" charset="-128"/>
                <a:ea typeface="メイリオ" panose="020B0604030504040204" pitchFamily="50" charset="-128"/>
                <a:cs typeface="MS Gothic" pitchFamily="34" charset="-120"/>
              </a:rPr>
              <a:t>リス・</a:t>
            </a: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SNS運用</a:t>
            </a:r>
            <a:endParaRPr lang="en-US" altLang="ja-JP" sz="1350" dirty="0">
              <a:latin typeface="メイリオ" panose="020B0604030504040204" pitchFamily="50" charset="-128"/>
              <a:ea typeface="メイリオ" panose="020B0604030504040204" pitchFamily="50" charset="-128"/>
            </a:endParaRPr>
          </a:p>
        </p:txBody>
      </p:sp>
      <p:sp>
        <p:nvSpPr>
          <p:cNvPr id="28" name="Shape 26"/>
          <p:cNvSpPr/>
          <p:nvPr/>
        </p:nvSpPr>
        <p:spPr>
          <a:xfrm>
            <a:off x="633127" y="5566878"/>
            <a:ext cx="2140131" cy="626818"/>
          </a:xfrm>
          <a:prstGeom prst="rect">
            <a:avLst/>
          </a:prstGeom>
          <a:solidFill>
            <a:srgbClr val="FFFFFF"/>
          </a:solidFill>
          <a:ln w="12700">
            <a:solidFill>
              <a:srgbClr val="C0CEDE"/>
            </a:solidFill>
            <a:prstDash val="solid"/>
          </a:ln>
        </p:spPr>
        <p:txBody>
          <a:bodyPr anchor="ctr"/>
          <a:lstStyle/>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  ・</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運用調整</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 ・</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入稿作業</a:t>
            </a:r>
            <a:endParaRPr lang="en-US" altLang="ja-JP" sz="1200" dirty="0">
              <a:latin typeface="メイリオ" panose="020B0604030504040204" pitchFamily="50" charset="-128"/>
              <a:ea typeface="メイリオ" panose="020B0604030504040204" pitchFamily="50" charset="-128"/>
            </a:endParaRPr>
          </a:p>
        </p:txBody>
      </p:sp>
      <p:sp>
        <p:nvSpPr>
          <p:cNvPr id="29" name="Shape 27"/>
          <p:cNvSpPr/>
          <p:nvPr/>
        </p:nvSpPr>
        <p:spPr>
          <a:xfrm>
            <a:off x="633127" y="5231331"/>
            <a:ext cx="2140131" cy="347472"/>
          </a:xfrm>
          <a:prstGeom prst="rect">
            <a:avLst/>
          </a:prstGeom>
          <a:solidFill>
            <a:srgbClr val="1F3864"/>
          </a:solidFill>
          <a:ln w="12700">
            <a:solidFill>
              <a:srgbClr val="1F3864"/>
            </a:solidFill>
            <a:prstDash val="solid"/>
          </a:ln>
        </p:spPr>
        <p:txBody>
          <a:bodyPr anchor="ctr"/>
          <a:lstStyle/>
          <a:p>
            <a:pPr algn="ctr"/>
            <a:r>
              <a:rPr lang="en-US" altLang="ja-JP" sz="1200" b="1">
                <a:solidFill>
                  <a:srgbClr val="FFFFFF"/>
                </a:solidFill>
                <a:latin typeface="メイリオ" panose="020B0604030504040204" pitchFamily="50" charset="-128"/>
                <a:ea typeface="メイリオ" panose="020B0604030504040204" pitchFamily="50" charset="-128"/>
                <a:cs typeface="MS Gothic" pitchFamily="34" charset="-120"/>
              </a:rPr>
              <a:t>運用サポート</a:t>
            </a:r>
            <a:endParaRPr lang="en-US" altLang="ja-JP" sz="1200" dirty="0">
              <a:latin typeface="メイリオ" panose="020B0604030504040204" pitchFamily="50" charset="-128"/>
              <a:ea typeface="メイリオ" panose="020B0604030504040204" pitchFamily="50" charset="-128"/>
            </a:endParaRPr>
          </a:p>
        </p:txBody>
      </p:sp>
      <p:sp>
        <p:nvSpPr>
          <p:cNvPr id="30" name="Text 28"/>
          <p:cNvSpPr/>
          <p:nvPr/>
        </p:nvSpPr>
        <p:spPr>
          <a:xfrm>
            <a:off x="633128" y="5231331"/>
            <a:ext cx="2140131" cy="347472"/>
          </a:xfrm>
          <a:prstGeom prst="rect">
            <a:avLst/>
          </a:prstGeom>
          <a:noFill/>
          <a:ln/>
        </p:spPr>
        <p:txBody>
          <a:bodyPr wrap="square" lIns="0" tIns="0" rIns="0" bIns="0" rtlCol="0" anchor="ctr"/>
          <a:lstStyle/>
          <a:p>
            <a:pPr marL="0" indent="0" algn="ctr">
              <a:buNone/>
            </a:pPr>
            <a:endParaRPr lang="en-US" sz="1050" dirty="0">
              <a:latin typeface="メイリオ" panose="020B0604030504040204" pitchFamily="50" charset="-128"/>
              <a:ea typeface="メイリオ" panose="020B0604030504040204" pitchFamily="50" charset="-128"/>
            </a:endParaRPr>
          </a:p>
        </p:txBody>
      </p:sp>
      <p:sp>
        <p:nvSpPr>
          <p:cNvPr id="33" name="Shape 31"/>
          <p:cNvSpPr/>
          <p:nvPr/>
        </p:nvSpPr>
        <p:spPr>
          <a:xfrm>
            <a:off x="2921304" y="5532054"/>
            <a:ext cx="2386149" cy="641636"/>
          </a:xfrm>
          <a:prstGeom prst="rect">
            <a:avLst/>
          </a:prstGeom>
          <a:solidFill>
            <a:srgbClr val="FFFFFF"/>
          </a:solidFill>
          <a:ln w="12700">
            <a:solidFill>
              <a:srgbClr val="C0CEDE"/>
            </a:solidFill>
            <a:prstDash val="solid"/>
          </a:ln>
        </p:spPr>
        <p:txBody>
          <a:bodyPr anchor="ctr"/>
          <a:lstStyle/>
          <a:p>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バナー制作</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LP制作</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動画制作</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p:txBody>
      </p:sp>
      <p:sp>
        <p:nvSpPr>
          <p:cNvPr id="34" name="Shape 32"/>
          <p:cNvSpPr/>
          <p:nvPr/>
        </p:nvSpPr>
        <p:spPr>
          <a:xfrm>
            <a:off x="2921304" y="5221392"/>
            <a:ext cx="2386149" cy="347472"/>
          </a:xfrm>
          <a:prstGeom prst="rect">
            <a:avLst/>
          </a:prstGeom>
          <a:solidFill>
            <a:schemeClr val="bg1">
              <a:lumMod val="65000"/>
            </a:schemeClr>
          </a:solidFill>
          <a:ln w="12700">
            <a:solidFill>
              <a:srgbClr val="1F3864"/>
            </a:solidFill>
            <a:prstDash val="solid"/>
          </a:ln>
        </p:spPr>
        <p:txBody>
          <a:bodyPr anchor="ctr"/>
          <a:lstStyle/>
          <a:p>
            <a:pPr algn="ctr"/>
            <a:r>
              <a:rPr lang="en-US" altLang="ja-JP" sz="1200" b="1">
                <a:solidFill>
                  <a:srgbClr val="FFFFFF"/>
                </a:solidFill>
                <a:latin typeface="メイリオ" panose="020B0604030504040204" pitchFamily="50" charset="-128"/>
                <a:ea typeface="メイリオ" panose="020B0604030504040204" pitchFamily="50" charset="-128"/>
                <a:cs typeface="MS Gothic" pitchFamily="34" charset="-120"/>
              </a:rPr>
              <a:t>制作</a:t>
            </a:r>
            <a:endParaRPr lang="en-US" altLang="ja-JP" sz="1200" dirty="0">
              <a:latin typeface="メイリオ" panose="020B0604030504040204" pitchFamily="50" charset="-128"/>
              <a:ea typeface="メイリオ" panose="020B0604030504040204" pitchFamily="50" charset="-128"/>
            </a:endParaRPr>
          </a:p>
        </p:txBody>
      </p:sp>
      <p:sp>
        <p:nvSpPr>
          <p:cNvPr id="40" name="Shape 38"/>
          <p:cNvSpPr/>
          <p:nvPr/>
        </p:nvSpPr>
        <p:spPr>
          <a:xfrm>
            <a:off x="5740699" y="4097070"/>
            <a:ext cx="3293358" cy="347472"/>
          </a:xfrm>
          <a:prstGeom prst="rect">
            <a:avLst/>
          </a:prstGeom>
          <a:solidFill>
            <a:srgbClr val="8496B8"/>
          </a:solidFill>
          <a:ln w="12700">
            <a:solidFill>
              <a:srgbClr val="8496B8"/>
            </a:solidFill>
            <a:prstDash val="solid"/>
          </a:ln>
        </p:spPr>
        <p:txBody>
          <a:bodyPr anchor="ctr"/>
          <a:lstStyle/>
          <a:p>
            <a:pPr algn="ctr"/>
            <a:r>
              <a:rPr lang="ja-JP" altLang="en-US" sz="1200" dirty="0">
                <a:solidFill>
                  <a:schemeClr val="bg1"/>
                </a:solidFill>
                <a:latin typeface="メイリオ" panose="020B0604030504040204" pitchFamily="50" charset="-128"/>
                <a:ea typeface="メイリオ" panose="020B0604030504040204" pitchFamily="50" charset="-128"/>
              </a:rPr>
              <a:t>媒体担当</a:t>
            </a:r>
          </a:p>
        </p:txBody>
      </p:sp>
      <p:sp>
        <p:nvSpPr>
          <p:cNvPr id="75" name="Shape 20">
            <a:extLst>
              <a:ext uri="{FF2B5EF4-FFF2-40B4-BE49-F238E27FC236}">
                <a16:creationId xmlns:a16="http://schemas.microsoft.com/office/drawing/2014/main" id="{9B35F62E-D565-EC7D-5BED-9E3AD8414C54}"/>
              </a:ext>
            </a:extLst>
          </p:cNvPr>
          <p:cNvSpPr/>
          <p:nvPr/>
        </p:nvSpPr>
        <p:spPr>
          <a:xfrm>
            <a:off x="2930013" y="4391542"/>
            <a:ext cx="2377440" cy="578878"/>
          </a:xfrm>
          <a:prstGeom prst="rect">
            <a:avLst/>
          </a:prstGeom>
          <a:solidFill>
            <a:srgbClr val="FFFFFF"/>
          </a:solidFill>
          <a:ln w="12700">
            <a:solidFill>
              <a:srgbClr val="C0CEDE"/>
            </a:solidFill>
            <a:prstDash val="solid"/>
          </a:ln>
        </p:spPr>
        <p:txBody>
          <a:bodyPr anchor="ctr"/>
          <a:lstStyle/>
          <a:p>
            <a:endPar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endParaRPr>
          </a:p>
          <a:p>
            <a:endPar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アカウント設計</a:t>
            </a:r>
            <a:r>
              <a:rPr lang="ja-JP" altLang="en-US"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運用調整</a:t>
            </a:r>
            <a:endPar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クリエイティブディレクション</a:t>
            </a:r>
            <a:endParaRPr lang="en-US" altLang="ja-JP" sz="1100" dirty="0">
              <a:latin typeface="メイリオ" panose="020B0604030504040204" pitchFamily="50" charset="-128"/>
              <a:ea typeface="メイリオ" panose="020B0604030504040204" pitchFamily="50" charset="-128"/>
            </a:endParaRPr>
          </a:p>
          <a:p>
            <a:endParaRPr lang="en-US" altLang="ja-JP" sz="1100" dirty="0">
              <a:latin typeface="メイリオ" panose="020B0604030504040204" pitchFamily="50" charset="-128"/>
              <a:ea typeface="メイリオ" panose="020B0604030504040204" pitchFamily="50" charset="-128"/>
            </a:endParaRPr>
          </a:p>
          <a:p>
            <a:endParaRPr lang="en-US" altLang="ja-JP" sz="1100" dirty="0">
              <a:latin typeface="メイリオ" panose="020B0604030504040204" pitchFamily="50" charset="-128"/>
              <a:ea typeface="メイリオ" panose="020B0604030504040204" pitchFamily="50" charset="-128"/>
            </a:endParaRPr>
          </a:p>
        </p:txBody>
      </p:sp>
      <p:sp>
        <p:nvSpPr>
          <p:cNvPr id="76" name="Shape 21">
            <a:extLst>
              <a:ext uri="{FF2B5EF4-FFF2-40B4-BE49-F238E27FC236}">
                <a16:creationId xmlns:a16="http://schemas.microsoft.com/office/drawing/2014/main" id="{0A9AF3DD-64DC-1BF0-8119-2924ECA0B69F}"/>
              </a:ext>
            </a:extLst>
          </p:cNvPr>
          <p:cNvSpPr/>
          <p:nvPr/>
        </p:nvSpPr>
        <p:spPr>
          <a:xfrm>
            <a:off x="2930013" y="4059656"/>
            <a:ext cx="2377440" cy="347472"/>
          </a:xfrm>
          <a:prstGeom prst="rect">
            <a:avLst/>
          </a:prstGeom>
          <a:solidFill>
            <a:srgbClr val="FFC000"/>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LINEOA運用</a:t>
            </a:r>
            <a:endParaRPr lang="en-US" altLang="ja-JP" sz="1350" dirty="0">
              <a:latin typeface="メイリオ" panose="020B0604030504040204" pitchFamily="50" charset="-128"/>
              <a:ea typeface="メイリオ" panose="020B0604030504040204" pitchFamily="50" charset="-128"/>
            </a:endParaRPr>
          </a:p>
        </p:txBody>
      </p:sp>
      <p:sp>
        <p:nvSpPr>
          <p:cNvPr id="5" name="Shape 6">
            <a:extLst>
              <a:ext uri="{FF2B5EF4-FFF2-40B4-BE49-F238E27FC236}">
                <a16:creationId xmlns:a16="http://schemas.microsoft.com/office/drawing/2014/main" id="{85CDFD14-B545-2394-79CD-B4BB79EC6A1B}"/>
              </a:ext>
            </a:extLst>
          </p:cNvPr>
          <p:cNvSpPr/>
          <p:nvPr/>
        </p:nvSpPr>
        <p:spPr>
          <a:xfrm>
            <a:off x="5425961" y="3084378"/>
            <a:ext cx="3557928" cy="738321"/>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貴社担当との連絡やり取り全般</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・書</a:t>
            </a:r>
            <a:r>
              <a:rPr lang="ja-JP" altLang="en-US" sz="1200" dirty="0">
                <a:solidFill>
                  <a:srgbClr val="1A1A1A"/>
                </a:solidFill>
                <a:latin typeface="メイリオ" panose="020B0604030504040204" pitchFamily="50" charset="-128"/>
                <a:ea typeface="メイリオ" panose="020B0604030504040204" pitchFamily="50" charset="-128"/>
                <a:cs typeface="MS Gothic" pitchFamily="34" charset="-120"/>
              </a:rPr>
              <a:t>類</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の作成等、事務面までサポート</a:t>
            </a:r>
            <a:endParaRPr lang="en-US" altLang="ja-JP" sz="1200" dirty="0">
              <a:latin typeface="メイリオ" panose="020B0604030504040204" pitchFamily="50" charset="-128"/>
              <a:ea typeface="メイリオ" panose="020B0604030504040204" pitchFamily="50" charset="-128"/>
            </a:endParaRPr>
          </a:p>
        </p:txBody>
      </p:sp>
      <p:sp>
        <p:nvSpPr>
          <p:cNvPr id="7" name="Shape 7">
            <a:extLst>
              <a:ext uri="{FF2B5EF4-FFF2-40B4-BE49-F238E27FC236}">
                <a16:creationId xmlns:a16="http://schemas.microsoft.com/office/drawing/2014/main" id="{DE68CBB6-5454-1932-8D24-8CA86C03FDAF}"/>
              </a:ext>
            </a:extLst>
          </p:cNvPr>
          <p:cNvSpPr/>
          <p:nvPr/>
        </p:nvSpPr>
        <p:spPr>
          <a:xfrm>
            <a:off x="5425961" y="2849521"/>
            <a:ext cx="3557928"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営業</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 / </a:t>
            </a: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フロント対応（サブ</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a:t>
            </a:r>
            <a:endParaRPr lang="en-US" altLang="ja-JP" sz="1350" dirty="0">
              <a:latin typeface="メイリオ" panose="020B0604030504040204" pitchFamily="50" charset="-128"/>
              <a:ea typeface="メイリオ" panose="020B0604030504040204" pitchFamily="50" charset="-128"/>
            </a:endParaRPr>
          </a:p>
        </p:txBody>
      </p:sp>
      <p:sp>
        <p:nvSpPr>
          <p:cNvPr id="20" name="Shape 7"/>
          <p:cNvSpPr/>
          <p:nvPr/>
        </p:nvSpPr>
        <p:spPr>
          <a:xfrm>
            <a:off x="612383" y="2849521"/>
            <a:ext cx="4683034" cy="347472"/>
          </a:xfrm>
          <a:prstGeom prst="rect">
            <a:avLst/>
          </a:prstGeom>
          <a:solidFill>
            <a:schemeClr val="accent1">
              <a:lumMod val="75000"/>
            </a:schemeClr>
          </a:solidFill>
          <a:ln w="12700">
            <a:solidFill>
              <a:srgbClr val="1F3864"/>
            </a:solidFill>
            <a:prstDash val="solid"/>
          </a:ln>
        </p:spPr>
        <p:txBody>
          <a:bodyPr anchor="ctr"/>
          <a:lstStyle/>
          <a:p>
            <a:pPr algn="ctr"/>
            <a:r>
              <a:rPr lang="ja-JP" altLang="en-US" sz="1350" b="1" dirty="0">
                <a:solidFill>
                  <a:srgbClr val="FFFFFF"/>
                </a:solidFill>
                <a:latin typeface="メイリオ" panose="020B0604030504040204" pitchFamily="50" charset="-128"/>
                <a:ea typeface="メイリオ" panose="020B0604030504040204" pitchFamily="50" charset="-128"/>
                <a:cs typeface="MS Gothic" pitchFamily="34" charset="-120"/>
              </a:rPr>
              <a:t>広告運用統括・コンサル</a:t>
            </a:r>
            <a:endParaRPr lang="en-US" altLang="ja-JP" sz="1350" dirty="0">
              <a:latin typeface="メイリオ" panose="020B0604030504040204" pitchFamily="50" charset="-128"/>
              <a:ea typeface="メイリオ" panose="020B0604030504040204" pitchFamily="50" charset="-128"/>
            </a:endParaRPr>
          </a:p>
        </p:txBody>
      </p:sp>
      <p:sp>
        <p:nvSpPr>
          <p:cNvPr id="31" name="Shape 6">
            <a:extLst>
              <a:ext uri="{FF2B5EF4-FFF2-40B4-BE49-F238E27FC236}">
                <a16:creationId xmlns:a16="http://schemas.microsoft.com/office/drawing/2014/main" id="{40835ECB-DBED-5389-F67F-16368EB09190}"/>
              </a:ext>
            </a:extLst>
          </p:cNvPr>
          <p:cNvSpPr/>
          <p:nvPr/>
        </p:nvSpPr>
        <p:spPr>
          <a:xfrm>
            <a:off x="548883" y="1995744"/>
            <a:ext cx="8545959" cy="615505"/>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ja-JP" altLang="en-US" sz="1200" dirty="0">
                <a:solidFill>
                  <a:srgbClr val="1A1A1A"/>
                </a:solidFill>
                <a:latin typeface="メイリオ" panose="020B0604030504040204" pitchFamily="50" charset="-128"/>
                <a:ea typeface="メイリオ" panose="020B0604030504040204" pitchFamily="50" charset="-128"/>
                <a:cs typeface="MS Gothic" pitchFamily="34" charset="-120"/>
              </a:rPr>
              <a:t>　</a:t>
            </a:r>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本プロモーションの戦略立案</a:t>
            </a:r>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 / </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方針決定</a:t>
            </a:r>
            <a:r>
              <a:rPr lang="ja-JP" altLang="en-US" sz="1200" dirty="0">
                <a:solidFill>
                  <a:srgbClr val="1A1A1A"/>
                </a:solidFill>
                <a:latin typeface="メイリオ" panose="020B0604030504040204" pitchFamily="50" charset="-128"/>
                <a:ea typeface="メイリオ" panose="020B0604030504040204" pitchFamily="50" charset="-128"/>
                <a:cs typeface="MS Gothic" pitchFamily="34" charset="-120"/>
              </a:rPr>
              <a:t>　　　　・貴社ご担当者様との連絡やり取り全般</a:t>
            </a:r>
            <a:endParaRPr lang="en-US" altLang="ja-JP" sz="1200" dirty="0">
              <a:latin typeface="メイリオ" panose="020B0604030504040204" pitchFamily="50" charset="-128"/>
              <a:ea typeface="メイリオ" panose="020B0604030504040204" pitchFamily="50" charset="-128"/>
            </a:endParaRPr>
          </a:p>
        </p:txBody>
      </p:sp>
      <p:sp>
        <p:nvSpPr>
          <p:cNvPr id="32" name="Shape 7">
            <a:extLst>
              <a:ext uri="{FF2B5EF4-FFF2-40B4-BE49-F238E27FC236}">
                <a16:creationId xmlns:a16="http://schemas.microsoft.com/office/drawing/2014/main" id="{67B490AF-C245-DAC8-B203-E07692B565EF}"/>
              </a:ext>
            </a:extLst>
          </p:cNvPr>
          <p:cNvSpPr/>
          <p:nvPr/>
        </p:nvSpPr>
        <p:spPr>
          <a:xfrm>
            <a:off x="548883" y="1729963"/>
            <a:ext cx="4073917"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営業</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 / </a:t>
            </a: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フロント対応</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a:t>
            </a:r>
            <a:r>
              <a:rPr lang="ja-JP" altLang="en-US" sz="1350" b="1" dirty="0">
                <a:solidFill>
                  <a:srgbClr val="FFFFFF"/>
                </a:solidFill>
                <a:latin typeface="メイリオ" panose="020B0604030504040204" pitchFamily="50" charset="-128"/>
                <a:ea typeface="メイリオ" panose="020B0604030504040204" pitchFamily="50" charset="-128"/>
                <a:cs typeface="MS Gothic" pitchFamily="34" charset="-120"/>
              </a:rPr>
              <a:t>全体統括</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a:t>
            </a:r>
            <a:r>
              <a:rPr lang="ja-JP" altLang="en-US" sz="1350" b="1" dirty="0">
                <a:solidFill>
                  <a:srgbClr val="FFFFFF"/>
                </a:solidFill>
                <a:latin typeface="メイリオ" panose="020B0604030504040204" pitchFamily="50" charset="-128"/>
                <a:ea typeface="メイリオ" panose="020B0604030504040204" pitchFamily="50" charset="-128"/>
                <a:cs typeface="MS Gothic" pitchFamily="34" charset="-120"/>
              </a:rPr>
              <a:t>　</a:t>
            </a:r>
            <a:endParaRPr lang="en-US" altLang="ja-JP" sz="1350" dirty="0">
              <a:latin typeface="メイリオ" panose="020B0604030504040204" pitchFamily="50" charset="-128"/>
              <a:ea typeface="メイリオ" panose="020B0604030504040204" pitchFamily="50" charset="-128"/>
            </a:endParaRPr>
          </a:p>
        </p:txBody>
      </p:sp>
      <p:sp>
        <p:nvSpPr>
          <p:cNvPr id="35" name="Shape 38">
            <a:extLst>
              <a:ext uri="{FF2B5EF4-FFF2-40B4-BE49-F238E27FC236}">
                <a16:creationId xmlns:a16="http://schemas.microsoft.com/office/drawing/2014/main" id="{0C1173B9-EECF-693B-9E7D-0C69C5B122BF}"/>
              </a:ext>
            </a:extLst>
          </p:cNvPr>
          <p:cNvSpPr/>
          <p:nvPr/>
        </p:nvSpPr>
        <p:spPr>
          <a:xfrm>
            <a:off x="5740699" y="4509077"/>
            <a:ext cx="3293358" cy="1146893"/>
          </a:xfrm>
          <a:prstGeom prst="rect">
            <a:avLst/>
          </a:prstGeom>
          <a:solidFill>
            <a:schemeClr val="accent1">
              <a:lumMod val="20000"/>
              <a:lumOff val="80000"/>
            </a:schemeClr>
          </a:solidFill>
          <a:ln w="12700">
            <a:solidFill>
              <a:srgbClr val="8496B8"/>
            </a:solidFill>
            <a:prstDash val="solid"/>
          </a:ln>
        </p:spPr>
        <p:txBody>
          <a:bodyPr anchor="ctr"/>
          <a:lstStyle/>
          <a:p>
            <a:pPr algn="ctr"/>
            <a:endParaRPr lang="ja-JP" altLang="en-US" sz="1200" dirty="0">
              <a:solidFill>
                <a:schemeClr val="bg1"/>
              </a:solidFill>
              <a:latin typeface="メイリオ" panose="020B0604030504040204" pitchFamily="50" charset="-128"/>
              <a:ea typeface="メイリオ" panose="020B0604030504040204" pitchFamily="50" charset="-128"/>
            </a:endParaRPr>
          </a:p>
        </p:txBody>
      </p:sp>
      <p:sp>
        <p:nvSpPr>
          <p:cNvPr id="36" name="矢印: 下 35">
            <a:extLst>
              <a:ext uri="{FF2B5EF4-FFF2-40B4-BE49-F238E27FC236}">
                <a16:creationId xmlns:a16="http://schemas.microsoft.com/office/drawing/2014/main" id="{7CCB5C34-442B-3398-0780-2D0336E6D4ED}"/>
              </a:ext>
            </a:extLst>
          </p:cNvPr>
          <p:cNvSpPr/>
          <p:nvPr/>
        </p:nvSpPr>
        <p:spPr>
          <a:xfrm>
            <a:off x="1528292" y="3735148"/>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矢印: 下 36">
            <a:extLst>
              <a:ext uri="{FF2B5EF4-FFF2-40B4-BE49-F238E27FC236}">
                <a16:creationId xmlns:a16="http://schemas.microsoft.com/office/drawing/2014/main" id="{F4FC4967-B41B-4444-4ADE-4F30B9156CB8}"/>
              </a:ext>
            </a:extLst>
          </p:cNvPr>
          <p:cNvSpPr/>
          <p:nvPr/>
        </p:nvSpPr>
        <p:spPr>
          <a:xfrm>
            <a:off x="3987378" y="3740258"/>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26" name="Picture 2">
            <a:extLst>
              <a:ext uri="{FF2B5EF4-FFF2-40B4-BE49-F238E27FC236}">
                <a16:creationId xmlns:a16="http://schemas.microsoft.com/office/drawing/2014/main" id="{AC3EAB26-5599-F35D-4523-6C68BD69EF6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49980" y="4692784"/>
            <a:ext cx="570053" cy="37623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ロゴガイドライン｜LINEヤフー for Business">
            <a:extLst>
              <a:ext uri="{FF2B5EF4-FFF2-40B4-BE49-F238E27FC236}">
                <a16:creationId xmlns:a16="http://schemas.microsoft.com/office/drawing/2014/main" id="{CEFB2BC3-422C-45B1-E9EF-4EF91F4D989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72902" y="4459743"/>
            <a:ext cx="2357368" cy="855810"/>
          </a:xfrm>
          <a:prstGeom prst="rect">
            <a:avLst/>
          </a:prstGeom>
          <a:noFill/>
          <a:extLst>
            <a:ext uri="{909E8E84-426E-40DD-AFC4-6F175D3DCCD1}">
              <a14:hiddenFill xmlns:a14="http://schemas.microsoft.com/office/drawing/2010/main">
                <a:solidFill>
                  <a:srgbClr val="FFFFFF"/>
                </a:solidFill>
              </a14:hiddenFill>
            </a:ext>
          </a:extLst>
        </p:spPr>
      </p:pic>
      <p:pic>
        <p:nvPicPr>
          <p:cNvPr id="49" name="図 48">
            <a:extLst>
              <a:ext uri="{FF2B5EF4-FFF2-40B4-BE49-F238E27FC236}">
                <a16:creationId xmlns:a16="http://schemas.microsoft.com/office/drawing/2014/main" id="{C827C962-E7C6-7341-785B-5CEA2F163BA9}"/>
              </a:ext>
            </a:extLst>
          </p:cNvPr>
          <p:cNvPicPr>
            <a:picLocks noChangeAspect="1"/>
          </p:cNvPicPr>
          <p:nvPr/>
        </p:nvPicPr>
        <p:blipFill>
          <a:blip r:embed="rId5" cstate="print">
            <a:extLst>
              <a:ext uri="{28A0092B-C50C-407E-A947-70E740481C1C}">
                <a14:useLocalDpi xmlns:a14="http://schemas.microsoft.com/office/drawing/2010/main" val="0"/>
              </a:ext>
            </a:extLst>
          </a:blip>
          <a:srcRect l="10032" t="9688" r="9713" b="9686"/>
          <a:stretch>
            <a:fillRect/>
          </a:stretch>
        </p:blipFill>
        <p:spPr>
          <a:xfrm>
            <a:off x="7294243" y="4673418"/>
            <a:ext cx="411545" cy="413459"/>
          </a:xfrm>
          <a:prstGeom prst="rect">
            <a:avLst/>
          </a:prstGeom>
        </p:spPr>
      </p:pic>
      <p:pic>
        <p:nvPicPr>
          <p:cNvPr id="1034" name="Picture 10" descr="Google ロゴ（グーグル） – ICONLAB（アイコンラボ）">
            <a:extLst>
              <a:ext uri="{FF2B5EF4-FFF2-40B4-BE49-F238E27FC236}">
                <a16:creationId xmlns:a16="http://schemas.microsoft.com/office/drawing/2014/main" id="{EF486F86-4362-411E-58E4-AF8FA89FFB1A}"/>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916281" y="5170783"/>
            <a:ext cx="1167467" cy="383075"/>
          </a:xfrm>
          <a:prstGeom prst="rect">
            <a:avLst/>
          </a:prstGeom>
          <a:noFill/>
          <a:extLst>
            <a:ext uri="{909E8E84-426E-40DD-AFC4-6F175D3DCCD1}">
              <a14:hiddenFill xmlns:a14="http://schemas.microsoft.com/office/drawing/2010/main">
                <a:solidFill>
                  <a:srgbClr val="FFFFFF"/>
                </a:solidFill>
              </a14:hiddenFill>
            </a:ext>
          </a:extLst>
        </p:spPr>
      </p:pic>
      <p:sp>
        <p:nvSpPr>
          <p:cNvPr id="52" name="AutoShape 16" descr="TikTok Vector Logo - Download Free SVG Icon | Worldvectorlogo">
            <a:extLst>
              <a:ext uri="{FF2B5EF4-FFF2-40B4-BE49-F238E27FC236}">
                <a16:creationId xmlns:a16="http://schemas.microsoft.com/office/drawing/2014/main" id="{FC9F455A-4712-6D98-BB84-88AB6130694C}"/>
              </a:ext>
            </a:extLst>
          </p:cNvPr>
          <p:cNvSpPr>
            <a:spLocks noChangeAspect="1" noChangeArrowheads="1"/>
          </p:cNvSpPr>
          <p:nvPr/>
        </p:nvSpPr>
        <p:spPr bwMode="auto">
          <a:xfrm>
            <a:off x="4800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pic>
        <p:nvPicPr>
          <p:cNvPr id="55" name="グラフィックス 54">
            <a:extLst>
              <a:ext uri="{FF2B5EF4-FFF2-40B4-BE49-F238E27FC236}">
                <a16:creationId xmlns:a16="http://schemas.microsoft.com/office/drawing/2014/main" id="{236DDCA7-2D38-04D7-5FB4-240CFC7457D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915162" y="4592565"/>
            <a:ext cx="431326" cy="494866"/>
          </a:xfrm>
          <a:prstGeom prst="rect">
            <a:avLst/>
          </a:prstGeom>
        </p:spPr>
      </p:pic>
      <p:pic>
        <p:nvPicPr>
          <p:cNvPr id="1042" name="Picture 18" descr="スマートニュースはSNSでも情報を発信しています">
            <a:extLst>
              <a:ext uri="{FF2B5EF4-FFF2-40B4-BE49-F238E27FC236}">
                <a16:creationId xmlns:a16="http://schemas.microsoft.com/office/drawing/2014/main" id="{4F12F3EC-DFC2-4480-39CA-8C4C8AE3C056}"/>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r="70053"/>
          <a:stretch>
            <a:fillRect/>
          </a:stretch>
        </p:blipFill>
        <p:spPr bwMode="auto">
          <a:xfrm>
            <a:off x="8334066" y="4584625"/>
            <a:ext cx="564335" cy="580417"/>
          </a:xfrm>
          <a:prstGeom prst="rect">
            <a:avLst/>
          </a:prstGeom>
          <a:noFill/>
          <a:extLst>
            <a:ext uri="{909E8E84-426E-40DD-AFC4-6F175D3DCCD1}">
              <a14:hiddenFill xmlns:a14="http://schemas.microsoft.com/office/drawing/2010/main">
                <a:solidFill>
                  <a:srgbClr val="FFFFFF"/>
                </a:solidFill>
              </a14:hiddenFill>
            </a:ext>
          </a:extLst>
        </p:spPr>
      </p:pic>
      <p:sp>
        <p:nvSpPr>
          <p:cNvPr id="56" name="矢印: 下 55">
            <a:extLst>
              <a:ext uri="{FF2B5EF4-FFF2-40B4-BE49-F238E27FC236}">
                <a16:creationId xmlns:a16="http://schemas.microsoft.com/office/drawing/2014/main" id="{E75D1A0F-AE27-48A1-23FB-0EB865F9868F}"/>
              </a:ext>
            </a:extLst>
          </p:cNvPr>
          <p:cNvSpPr/>
          <p:nvPr/>
        </p:nvSpPr>
        <p:spPr>
          <a:xfrm>
            <a:off x="2694214" y="2529121"/>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7" name="矢印: 下 56">
            <a:extLst>
              <a:ext uri="{FF2B5EF4-FFF2-40B4-BE49-F238E27FC236}">
                <a16:creationId xmlns:a16="http://schemas.microsoft.com/office/drawing/2014/main" id="{45EAB25F-C320-6516-2457-A8EC46BA5759}"/>
              </a:ext>
            </a:extLst>
          </p:cNvPr>
          <p:cNvSpPr/>
          <p:nvPr/>
        </p:nvSpPr>
        <p:spPr>
          <a:xfrm>
            <a:off x="7125416" y="2500315"/>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8" name="矢印: 下 57">
            <a:extLst>
              <a:ext uri="{FF2B5EF4-FFF2-40B4-BE49-F238E27FC236}">
                <a16:creationId xmlns:a16="http://schemas.microsoft.com/office/drawing/2014/main" id="{D4C3E4FB-FBBD-F807-4224-633D3437041D}"/>
              </a:ext>
            </a:extLst>
          </p:cNvPr>
          <p:cNvSpPr/>
          <p:nvPr/>
        </p:nvSpPr>
        <p:spPr>
          <a:xfrm>
            <a:off x="7077925" y="3692382"/>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9" name="矢印: 下 58">
            <a:extLst>
              <a:ext uri="{FF2B5EF4-FFF2-40B4-BE49-F238E27FC236}">
                <a16:creationId xmlns:a16="http://schemas.microsoft.com/office/drawing/2014/main" id="{101128B9-99D7-A912-7FA8-A54843D9D245}"/>
              </a:ext>
            </a:extLst>
          </p:cNvPr>
          <p:cNvSpPr/>
          <p:nvPr/>
        </p:nvSpPr>
        <p:spPr>
          <a:xfrm>
            <a:off x="1531548" y="4943191"/>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矢印: 下 59">
            <a:extLst>
              <a:ext uri="{FF2B5EF4-FFF2-40B4-BE49-F238E27FC236}">
                <a16:creationId xmlns:a16="http://schemas.microsoft.com/office/drawing/2014/main" id="{98D6B609-F1DC-B6C8-DC56-54C22972DE71}"/>
              </a:ext>
            </a:extLst>
          </p:cNvPr>
          <p:cNvSpPr/>
          <p:nvPr/>
        </p:nvSpPr>
        <p:spPr>
          <a:xfrm>
            <a:off x="3985192" y="4946879"/>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1" name="矢印: 下 60">
            <a:extLst>
              <a:ext uri="{FF2B5EF4-FFF2-40B4-BE49-F238E27FC236}">
                <a16:creationId xmlns:a16="http://schemas.microsoft.com/office/drawing/2014/main" id="{CBA9CA06-6F9A-2C27-90F1-49EDB667ED05}"/>
              </a:ext>
            </a:extLst>
          </p:cNvPr>
          <p:cNvSpPr/>
          <p:nvPr/>
        </p:nvSpPr>
        <p:spPr>
          <a:xfrm rot="17888006">
            <a:off x="5384120" y="4622183"/>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矢印: 下 61">
            <a:extLst>
              <a:ext uri="{FF2B5EF4-FFF2-40B4-BE49-F238E27FC236}">
                <a16:creationId xmlns:a16="http://schemas.microsoft.com/office/drawing/2014/main" id="{50FA0F8D-4B66-B543-827F-E62BB2D7A5C7}"/>
              </a:ext>
            </a:extLst>
          </p:cNvPr>
          <p:cNvSpPr/>
          <p:nvPr/>
        </p:nvSpPr>
        <p:spPr>
          <a:xfrm rot="7261747">
            <a:off x="5310324" y="4360130"/>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5440024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運用スケジュール</a:t>
            </a:r>
            <a:endParaRPr sz="1600" b="1" dirty="0">
              <a:solidFill>
                <a:srgbClr val="002060"/>
              </a:solidFill>
              <a:latin typeface="Meiryo"/>
              <a:ea typeface="Meiryo"/>
              <a:cs typeface="Meiryo"/>
              <a:sym typeface="Meiryo"/>
            </a:endParaRPr>
          </a:p>
        </p:txBody>
      </p:sp>
      <p:sp>
        <p:nvSpPr>
          <p:cNvPr id="28" name="角丸四角形 27"/>
          <p:cNvSpPr/>
          <p:nvPr/>
        </p:nvSpPr>
        <p:spPr>
          <a:xfrm>
            <a:off x="910833" y="19940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STEP1</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29" name="角丸四角形 28"/>
          <p:cNvSpPr/>
          <p:nvPr/>
        </p:nvSpPr>
        <p:spPr>
          <a:xfrm>
            <a:off x="910833" y="353713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STEP3</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31" name="角丸四角形 30"/>
          <p:cNvSpPr/>
          <p:nvPr/>
        </p:nvSpPr>
        <p:spPr>
          <a:xfrm>
            <a:off x="910833" y="276560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STEP2</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32" name="角丸四角形 31"/>
          <p:cNvSpPr/>
          <p:nvPr/>
        </p:nvSpPr>
        <p:spPr>
          <a:xfrm>
            <a:off x="910833" y="430865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STEP4</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33" name="角丸四角形 32"/>
          <p:cNvSpPr/>
          <p:nvPr/>
        </p:nvSpPr>
        <p:spPr>
          <a:xfrm>
            <a:off x="910833" y="50801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STEP5</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2" name="正方形/長方形 1"/>
          <p:cNvSpPr/>
          <p:nvPr/>
        </p:nvSpPr>
        <p:spPr>
          <a:xfrm>
            <a:off x="4600923" y="2266950"/>
            <a:ext cx="1638300" cy="391649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角丸四角形 39"/>
          <p:cNvSpPr/>
          <p:nvPr/>
        </p:nvSpPr>
        <p:spPr>
          <a:xfrm>
            <a:off x="3133924" y="19940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rPr>
              <a:t>お申込み（書類締結）</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endParaRPr>
          </a:p>
        </p:txBody>
      </p:sp>
      <p:sp>
        <p:nvSpPr>
          <p:cNvPr id="41" name="角丸四角形 40"/>
          <p:cNvSpPr/>
          <p:nvPr/>
        </p:nvSpPr>
        <p:spPr>
          <a:xfrm>
            <a:off x="3133924" y="353713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rPr>
              <a:t>連携の設定 </a:t>
            </a:r>
            <a:r>
              <a:rPr kumimoji="1" lang="en-US" altLang="ja-JP" dirty="0">
                <a:solidFill>
                  <a:schemeClr val="bg1">
                    <a:lumMod val="50000"/>
                  </a:schemeClr>
                </a:solidFill>
                <a:latin typeface="メイリオ" panose="020B0604030504040204" pitchFamily="50" charset="-128"/>
                <a:ea typeface="メイリオ" panose="020B0604030504040204" pitchFamily="50" charset="-128"/>
              </a:rPr>
              <a:t>/ </a:t>
            </a:r>
            <a:r>
              <a:rPr kumimoji="1" lang="ja-JP" altLang="en-US" dirty="0">
                <a:solidFill>
                  <a:schemeClr val="bg1">
                    <a:lumMod val="50000"/>
                  </a:schemeClr>
                </a:solidFill>
                <a:latin typeface="メイリオ" panose="020B0604030504040204" pitchFamily="50" charset="-128"/>
                <a:ea typeface="メイリオ" panose="020B0604030504040204" pitchFamily="50" charset="-128"/>
              </a:rPr>
              <a:t>タグ確認</a:t>
            </a:r>
          </a:p>
        </p:txBody>
      </p:sp>
      <p:sp>
        <p:nvSpPr>
          <p:cNvPr id="42" name="角丸四角形 41"/>
          <p:cNvSpPr/>
          <p:nvPr/>
        </p:nvSpPr>
        <p:spPr>
          <a:xfrm>
            <a:off x="3133924" y="276560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rPr>
              <a:t>キックオフ</a:t>
            </a:r>
            <a:r>
              <a:rPr kumimoji="1" lang="en-US" altLang="ja-JP" dirty="0">
                <a:solidFill>
                  <a:schemeClr val="bg1">
                    <a:lumMod val="50000"/>
                  </a:schemeClr>
                </a:solidFill>
                <a:latin typeface="メイリオ" panose="020B0604030504040204" pitchFamily="50" charset="-128"/>
                <a:ea typeface="メイリオ" panose="020B0604030504040204" pitchFamily="50" charset="-128"/>
              </a:rPr>
              <a:t>MTG</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endParaRPr>
          </a:p>
        </p:txBody>
      </p:sp>
      <p:sp>
        <p:nvSpPr>
          <p:cNvPr id="44" name="角丸四角形 43"/>
          <p:cNvSpPr/>
          <p:nvPr/>
        </p:nvSpPr>
        <p:spPr>
          <a:xfrm>
            <a:off x="3133924" y="430865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rPr>
              <a:t>初期設計の構築</a:t>
            </a:r>
          </a:p>
        </p:txBody>
      </p:sp>
      <p:sp>
        <p:nvSpPr>
          <p:cNvPr id="45" name="角丸四角形 44"/>
          <p:cNvSpPr/>
          <p:nvPr/>
        </p:nvSpPr>
        <p:spPr>
          <a:xfrm>
            <a:off x="3133924" y="50801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rPr>
              <a:t>運用開始</a:t>
            </a:r>
          </a:p>
        </p:txBody>
      </p:sp>
      <p:sp>
        <p:nvSpPr>
          <p:cNvPr id="19" name="正方形/長方形 18"/>
          <p:cNvSpPr/>
          <p:nvPr/>
        </p:nvSpPr>
        <p:spPr>
          <a:xfrm>
            <a:off x="548883" y="1033120"/>
            <a:ext cx="8921032" cy="461665"/>
          </a:xfrm>
          <a:prstGeom prst="rect">
            <a:avLst/>
          </a:prstGeom>
        </p:spPr>
        <p:txBody>
          <a:bodyPr wrap="none">
            <a:spAutoFit/>
          </a:bodyPr>
          <a:lstStyle/>
          <a:p>
            <a:r>
              <a:rPr lang="ja-JP" altLang="en-US" sz="2400" dirty="0">
                <a:latin typeface="メイリオ" panose="020B0604030504040204" pitchFamily="50" charset="-128"/>
                <a:ea typeface="メイリオ" panose="020B0604030504040204" pitchFamily="50" charset="-128"/>
              </a:rPr>
              <a:t>サイト</a:t>
            </a:r>
            <a:r>
              <a:rPr lang="en-US" altLang="ja-JP" sz="2400" dirty="0">
                <a:latin typeface="メイリオ" panose="020B0604030504040204" pitchFamily="50" charset="-128"/>
                <a:ea typeface="メイリオ" panose="020B0604030504040204" pitchFamily="50" charset="-128"/>
              </a:rPr>
              <a:t>/LINE</a:t>
            </a:r>
            <a:r>
              <a:rPr lang="ja-JP" altLang="en-US" sz="2400" dirty="0">
                <a:latin typeface="メイリオ" panose="020B0604030504040204" pitchFamily="50" charset="-128"/>
                <a:ea typeface="メイリオ" panose="020B0604030504040204" pitchFamily="50" charset="-128"/>
              </a:rPr>
              <a:t>上への実装については、約</a:t>
            </a:r>
            <a:r>
              <a:rPr lang="en-US" altLang="ja-JP" sz="2400" dirty="0">
                <a:latin typeface="メイリオ" panose="020B0604030504040204" pitchFamily="50" charset="-128"/>
                <a:ea typeface="メイリオ" panose="020B0604030504040204" pitchFamily="50" charset="-128"/>
              </a:rPr>
              <a:t>1</a:t>
            </a:r>
            <a:r>
              <a:rPr lang="ja-JP" altLang="en-US" sz="2400" dirty="0">
                <a:latin typeface="メイリオ" panose="020B0604030504040204" pitchFamily="50" charset="-128"/>
                <a:ea typeface="メイリオ" panose="020B0604030504040204" pitchFamily="50" charset="-128"/>
              </a:rPr>
              <a:t>か月程度を頂き進行。</a:t>
            </a:r>
            <a:endParaRPr lang="ja-JP" altLang="en-US" sz="2400" dirty="0"/>
          </a:p>
        </p:txBody>
      </p:sp>
      <p:sp>
        <p:nvSpPr>
          <p:cNvPr id="20" name="正方形/長方形 19"/>
          <p:cNvSpPr/>
          <p:nvPr/>
        </p:nvSpPr>
        <p:spPr>
          <a:xfrm>
            <a:off x="4708989" y="5841409"/>
            <a:ext cx="4955203" cy="276999"/>
          </a:xfrm>
          <a:prstGeom prst="rect">
            <a:avLst/>
          </a:prstGeom>
        </p:spPr>
        <p:txBody>
          <a:bodyPr wrap="none">
            <a:spAutoFit/>
          </a:bodyPr>
          <a:lstStyle/>
          <a:p>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rPr>
              <a:t>※</a:t>
            </a: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貴社作業・確認にかかる時間により前後する可能性がございます。</a:t>
            </a:r>
          </a:p>
        </p:txBody>
      </p:sp>
      <p:cxnSp>
        <p:nvCxnSpPr>
          <p:cNvPr id="21" name="直線矢印コネクタ 20"/>
          <p:cNvCxnSpPr/>
          <p:nvPr/>
        </p:nvCxnSpPr>
        <p:spPr>
          <a:xfrm>
            <a:off x="6985106" y="2256762"/>
            <a:ext cx="0" cy="3086100"/>
          </a:xfrm>
          <a:prstGeom prst="straightConnector1">
            <a:avLst/>
          </a:prstGeom>
          <a:ln w="38100">
            <a:solidFill>
              <a:schemeClr val="tx1">
                <a:lumMod val="75000"/>
                <a:lumOff val="2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2" name="正方形/長方形 21"/>
          <p:cNvSpPr/>
          <p:nvPr/>
        </p:nvSpPr>
        <p:spPr>
          <a:xfrm>
            <a:off x="7042256" y="2130871"/>
            <a:ext cx="742511" cy="276999"/>
          </a:xfrm>
          <a:prstGeom prst="rect">
            <a:avLst/>
          </a:prstGeom>
          <a:solidFill>
            <a:schemeClr val="accent1">
              <a:lumMod val="20000"/>
              <a:lumOff val="80000"/>
            </a:schemeClr>
          </a:solidFill>
        </p:spPr>
        <p:txBody>
          <a:bodyPr wrap="none">
            <a:spAutoFit/>
          </a:bodyPr>
          <a:lstStyle/>
          <a:p>
            <a:r>
              <a:rPr lang="ja-JP" altLang="en-US" sz="1200" dirty="0">
                <a:latin typeface="メイリオ" panose="020B0604030504040204" pitchFamily="50" charset="-128"/>
                <a:ea typeface="メイリオ" panose="020B0604030504040204" pitchFamily="50" charset="-128"/>
              </a:rPr>
              <a:t>約</a:t>
            </a:r>
            <a:r>
              <a:rPr lang="en-US" altLang="ja-JP" sz="1200" dirty="0">
                <a:latin typeface="メイリオ" panose="020B0604030504040204" pitchFamily="50" charset="-128"/>
                <a:ea typeface="メイリオ" panose="020B0604030504040204" pitchFamily="50" charset="-128"/>
              </a:rPr>
              <a:t>1</a:t>
            </a:r>
            <a:r>
              <a:rPr lang="ja-JP" altLang="en-US" sz="1200" dirty="0">
                <a:latin typeface="メイリオ" panose="020B0604030504040204" pitchFamily="50" charset="-128"/>
                <a:ea typeface="メイリオ" panose="020B0604030504040204" pitchFamily="50" charset="-128"/>
              </a:rPr>
              <a:t>か月</a:t>
            </a:r>
            <a:endParaRPr lang="ja-JP" altLang="en-US" sz="1200" dirty="0"/>
          </a:p>
        </p:txBody>
      </p:sp>
      <p:sp>
        <p:nvSpPr>
          <p:cNvPr id="3" name="正方形/長方形 2"/>
          <p:cNvSpPr/>
          <p:nvPr/>
        </p:nvSpPr>
        <p:spPr>
          <a:xfrm>
            <a:off x="7902506" y="3514209"/>
            <a:ext cx="1415772"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rPr>
              <a:t>オーディエンスリスト作成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rPr>
              <a:t>タグ設定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rPr>
              <a:t>GA</a:t>
            </a:r>
            <a:r>
              <a:rPr lang="ja-JP" altLang="en-US" sz="800" dirty="0">
                <a:solidFill>
                  <a:schemeClr val="bg1">
                    <a:lumMod val="50000"/>
                  </a:schemeClr>
                </a:solidFill>
                <a:latin typeface="メイリオ" panose="020B0604030504040204" pitchFamily="50" charset="-128"/>
                <a:ea typeface="メイリオ" panose="020B0604030504040204" pitchFamily="50" charset="-128"/>
              </a:rPr>
              <a:t>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rPr>
              <a:t>etc...</a:t>
            </a:r>
          </a:p>
        </p:txBody>
      </p:sp>
      <p:sp>
        <p:nvSpPr>
          <p:cNvPr id="24" name="正方形/長方形 23"/>
          <p:cNvSpPr/>
          <p:nvPr/>
        </p:nvSpPr>
        <p:spPr>
          <a:xfrm>
            <a:off x="7897281" y="4276528"/>
            <a:ext cx="1107996"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rPr>
              <a:t>リッチメニュー作成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rPr>
              <a:t>アンケート設計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rPr>
              <a:t>シナリオ設計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rPr>
              <a:t>etc...</a:t>
            </a:r>
          </a:p>
        </p:txBody>
      </p:sp>
    </p:spTree>
    <p:extLst>
      <p:ext uri="{BB962C8B-B14F-4D97-AF65-F5344CB8AC3E}">
        <p14:creationId xmlns:p14="http://schemas.microsoft.com/office/powerpoint/2010/main" val="21214348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E371F4F6-3F93-7830-595E-799AA69EA97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実例紹介 </a:t>
            </a:r>
            <a:r>
              <a:rPr lang="en-US" altLang="ja-JP" sz="1600" b="1" dirty="0">
                <a:solidFill>
                  <a:srgbClr val="323366"/>
                </a:solidFill>
                <a:latin typeface="メイリオ" panose="020B0604030504040204" pitchFamily="50" charset="-128"/>
                <a:ea typeface="メイリオ" panose="020B0604030504040204" pitchFamily="50" charset="-128"/>
                <a:cs typeface="Meiryo"/>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弊社実績について</a:t>
            </a:r>
          </a:p>
        </p:txBody>
      </p:sp>
      <p:graphicFrame>
        <p:nvGraphicFramePr>
          <p:cNvPr id="3" name="表 2">
            <a:extLst>
              <a:ext uri="{FF2B5EF4-FFF2-40B4-BE49-F238E27FC236}">
                <a16:creationId xmlns:a16="http://schemas.microsoft.com/office/drawing/2014/main" id="{9A6B81D2-7F85-D98D-ED15-FD61A8068EF9}"/>
              </a:ext>
            </a:extLst>
          </p:cNvPr>
          <p:cNvGraphicFramePr>
            <a:graphicFrameLocks noGrp="1"/>
          </p:cNvGraphicFramePr>
          <p:nvPr/>
        </p:nvGraphicFramePr>
        <p:xfrm>
          <a:off x="381000" y="809625"/>
          <a:ext cx="9191625" cy="5485142"/>
        </p:xfrm>
        <a:graphic>
          <a:graphicData uri="http://schemas.openxmlformats.org/drawingml/2006/table">
            <a:tbl>
              <a:tblPr/>
              <a:tblGrid>
                <a:gridCol w="1819275">
                  <a:extLst>
                    <a:ext uri="{9D8B030D-6E8A-4147-A177-3AD203B41FA5}">
                      <a16:colId xmlns:a16="http://schemas.microsoft.com/office/drawing/2014/main" val="1856077232"/>
                    </a:ext>
                  </a:extLst>
                </a:gridCol>
                <a:gridCol w="828675">
                  <a:extLst>
                    <a:ext uri="{9D8B030D-6E8A-4147-A177-3AD203B41FA5}">
                      <a16:colId xmlns:a16="http://schemas.microsoft.com/office/drawing/2014/main" val="2505763101"/>
                    </a:ext>
                  </a:extLst>
                </a:gridCol>
                <a:gridCol w="2856379">
                  <a:extLst>
                    <a:ext uri="{9D8B030D-6E8A-4147-A177-3AD203B41FA5}">
                      <a16:colId xmlns:a16="http://schemas.microsoft.com/office/drawing/2014/main" val="415261329"/>
                    </a:ext>
                  </a:extLst>
                </a:gridCol>
                <a:gridCol w="3687296">
                  <a:extLst>
                    <a:ext uri="{9D8B030D-6E8A-4147-A177-3AD203B41FA5}">
                      <a16:colId xmlns:a16="http://schemas.microsoft.com/office/drawing/2014/main" val="2991975434"/>
                    </a:ext>
                  </a:extLst>
                </a:gridCol>
              </a:tblGrid>
              <a:tr h="371475">
                <a:tc>
                  <a:txBody>
                    <a:bodyPr/>
                    <a:lstStyle/>
                    <a:p>
                      <a:pPr algn="ctr" fontAlgn="ctr">
                        <a:buNone/>
                      </a:pPr>
                      <a:r>
                        <a:rPr lang="ja-JP" altLang="en-US" sz="1400" b="1" i="0" u="none" strike="noStrike" dirty="0">
                          <a:solidFill>
                            <a:schemeClr val="bg1"/>
                          </a:solidFill>
                          <a:effectLst/>
                          <a:latin typeface="メイリオ" panose="020B0604030504040204" pitchFamily="50" charset="-128"/>
                          <a:ea typeface="メイリオ" panose="020B0604030504040204" pitchFamily="50" charset="-128"/>
                        </a:rPr>
                        <a:t>業界</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91F54"/>
                    </a:solidFill>
                  </a:tcPr>
                </a:tc>
                <a:tc>
                  <a:txBody>
                    <a:bodyPr/>
                    <a:lstStyle/>
                    <a:p>
                      <a:pPr algn="ctr" fontAlgn="ctr">
                        <a:buNone/>
                      </a:pPr>
                      <a:r>
                        <a:rPr lang="ja-JP" altLang="en-US" sz="1400" b="1" i="0" u="none" strike="noStrike" dirty="0">
                          <a:solidFill>
                            <a:schemeClr val="bg1"/>
                          </a:solidFill>
                          <a:effectLst/>
                          <a:latin typeface="メイリオ" panose="020B0604030504040204" pitchFamily="50" charset="-128"/>
                          <a:ea typeface="メイリオ" panose="020B0604030504040204" pitchFamily="50" charset="-128"/>
                        </a:rPr>
                        <a:t>運用期間</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91F54"/>
                    </a:solidFill>
                  </a:tcPr>
                </a:tc>
                <a:tc>
                  <a:txBody>
                    <a:bodyPr/>
                    <a:lstStyle/>
                    <a:p>
                      <a:pPr algn="ctr" fontAlgn="ctr">
                        <a:buNone/>
                      </a:pPr>
                      <a:r>
                        <a:rPr lang="ja-JP" altLang="en-US" sz="1400" b="1" i="0" u="none" strike="noStrike" dirty="0">
                          <a:solidFill>
                            <a:schemeClr val="bg1"/>
                          </a:solidFill>
                          <a:effectLst/>
                          <a:latin typeface="メイリオ" panose="020B0604030504040204" pitchFamily="50" charset="-128"/>
                          <a:ea typeface="メイリオ" panose="020B0604030504040204" pitchFamily="50" charset="-128"/>
                        </a:rPr>
                        <a:t>施策インパクト</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91F54"/>
                    </a:solidFill>
                  </a:tcPr>
                </a:tc>
                <a:tc>
                  <a:txBody>
                    <a:bodyPr/>
                    <a:lstStyle/>
                    <a:p>
                      <a:pPr algn="ctr" fontAlgn="ctr">
                        <a:buNone/>
                      </a:pPr>
                      <a:r>
                        <a:rPr lang="ja-JP" altLang="en-US" sz="1400" b="1" i="0" u="none" strike="noStrike" dirty="0">
                          <a:solidFill>
                            <a:schemeClr val="bg1"/>
                          </a:solidFill>
                          <a:effectLst/>
                          <a:latin typeface="メイリオ" panose="020B0604030504040204" pitchFamily="50" charset="-128"/>
                          <a:ea typeface="メイリオ" panose="020B0604030504040204" pitchFamily="50" charset="-128"/>
                        </a:rPr>
                        <a:t>施策内容</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91F54"/>
                    </a:solidFill>
                  </a:tcPr>
                </a:tc>
                <a:extLst>
                  <a:ext uri="{0D108BD9-81ED-4DB2-BD59-A6C34878D82A}">
                    <a16:rowId xmlns:a16="http://schemas.microsoft.com/office/drawing/2014/main" val="369463423"/>
                  </a:ext>
                </a:extLst>
              </a:tr>
              <a:tr h="1028103">
                <a:tc>
                  <a:txBody>
                    <a:bodyPr/>
                    <a:lstStyle/>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人材</a:t>
                      </a:r>
                      <a:endParaRPr lang="en-US" altLang="ja-JP" sz="1200" b="1" i="0" u="none" strike="noStrike" dirty="0">
                        <a:solidFill>
                          <a:srgbClr val="191F54"/>
                        </a:solidFill>
                        <a:effectLst/>
                        <a:latin typeface="メイリオ" panose="020B0604030504040204" pitchFamily="50" charset="-128"/>
                        <a:ea typeface="メイリオ" panose="020B0604030504040204" pitchFamily="50" charset="-128"/>
                      </a:endParaRPr>
                    </a:p>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（資格職・専門職転職）</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altLang="ja-JP"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8</a:t>
                      </a:r>
                      <a:r>
                        <a:rPr lang="ja-JP" altLang="en-US"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ヶ月</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lnSpc>
                          <a:spcPct val="100000"/>
                        </a:lnSpc>
                        <a:buNone/>
                      </a:pP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■月間求人応募数</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b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2</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倍</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2</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 4</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a:t>
                      </a:r>
                      <a:br>
                        <a:rPr lang="en-US" altLang="ja-JP" sz="18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CPA</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換算</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30</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％改善</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¥145,000 → ¥102,000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endPar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・アンケートによる</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ユーザーセグメントの取得</a:t>
                      </a:r>
                      <a:br>
                        <a:rPr lang="en-US" altLang="ja-JP" sz="1200" b="1" i="0" u="sng" strike="noStrike" dirty="0">
                          <a:solidFill>
                            <a:srgbClr val="C00000"/>
                          </a:solidFill>
                          <a:effectLst/>
                          <a:latin typeface="メイリオ" panose="020B0604030504040204" pitchFamily="50" charset="-128"/>
                          <a:ea typeface="メイリオ" panose="020B0604030504040204" pitchFamily="50" charset="-128"/>
                        </a:rPr>
                      </a:br>
                      <a:r>
                        <a:rPr lang="ja-JP" altLang="en-US" sz="400" b="1" i="0" u="sng" strike="noStrike" dirty="0">
                          <a:solidFill>
                            <a:srgbClr val="C00000"/>
                          </a:solidFill>
                          <a:effectLst/>
                          <a:latin typeface="メイリオ" panose="020B0604030504040204" pitchFamily="50" charset="-128"/>
                          <a:ea typeface="メイリオ" panose="020B0604030504040204" pitchFamily="50" charset="-128"/>
                        </a:rPr>
                        <a:t>　</a:t>
                      </a:r>
                      <a:b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・セグメント配信による</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パーソナライズされた追客</a:t>
                      </a:r>
                      <a:endParaRPr lang="ja-JP" altLang="en-US" sz="1100" b="1" i="0" u="sng" strike="noStrike" dirty="0">
                        <a:solidFill>
                          <a:srgbClr val="C00000"/>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34378025"/>
                  </a:ext>
                </a:extLst>
              </a:tr>
              <a:tr h="1021391">
                <a:tc>
                  <a:txBody>
                    <a:bodyPr/>
                    <a:lstStyle/>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不動産</a:t>
                      </a:r>
                      <a:endParaRPr lang="en-US" altLang="ja-JP" sz="1200" b="1" i="0" u="none" strike="noStrike" dirty="0">
                        <a:solidFill>
                          <a:srgbClr val="191F54"/>
                        </a:solidFill>
                        <a:effectLst/>
                        <a:latin typeface="メイリオ" panose="020B0604030504040204" pitchFamily="50" charset="-128"/>
                        <a:ea typeface="メイリオ" panose="020B0604030504040204" pitchFamily="50" charset="-128"/>
                      </a:endParaRPr>
                    </a:p>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（住宅メーカー）</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altLang="ja-JP"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10</a:t>
                      </a:r>
                      <a:r>
                        <a:rPr lang="ja-JP" altLang="en-US"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ヶ月</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lnSpc>
                          <a:spcPct val="100000"/>
                        </a:lnSpc>
                        <a:buNone/>
                      </a:pP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■月間来場・資料請求件数</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endParaRPr lang="en-US" altLang="ja-JP"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12</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倍</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5</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 → </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60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a:t>
                      </a:r>
                      <a:endPar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CPA</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換算</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92</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％改善</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¥150,000 → ¥12,500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endPar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離脱防止バナー</a:t>
                      </a: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による友だち増加促進</a:t>
                      </a:r>
                      <a:br>
                        <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ペルソナに合わせた動線・クリエイティブ</a:t>
                      </a: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の設計</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09117311"/>
                  </a:ext>
                </a:extLst>
              </a:tr>
              <a:tr h="1021391">
                <a:tc>
                  <a:txBody>
                    <a:bodyPr/>
                    <a:lstStyle/>
                    <a:p>
                      <a:pPr algn="ctr" fontAlgn="ctr">
                        <a:buNone/>
                      </a:pPr>
                      <a:r>
                        <a:rPr lang="en-US" sz="1200" b="1" i="0" u="none" strike="noStrike" dirty="0">
                          <a:solidFill>
                            <a:srgbClr val="191F54"/>
                          </a:solidFill>
                          <a:effectLst/>
                          <a:latin typeface="メイリオ" panose="020B0604030504040204" pitchFamily="50" charset="-128"/>
                          <a:ea typeface="メイリオ" panose="020B0604030504040204" pitchFamily="50" charset="-128"/>
                        </a:rPr>
                        <a:t>EC</a:t>
                      </a:r>
                    </a:p>
                    <a:p>
                      <a:pPr algn="ctr" fontAlgn="ctr">
                        <a:buNone/>
                      </a:pPr>
                      <a:r>
                        <a:rPr lang="en-US" sz="1200" b="1" i="0" u="none" strike="noStrike" dirty="0">
                          <a:solidFill>
                            <a:srgbClr val="191F54"/>
                          </a:solidFill>
                          <a:effectLst/>
                          <a:latin typeface="メイリオ" panose="020B0604030504040204" pitchFamily="50" charset="-128"/>
                          <a:ea typeface="メイリオ" panose="020B0604030504040204" pitchFamily="50" charset="-128"/>
                        </a:rPr>
                        <a:t>（</a:t>
                      </a: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総合</a:t>
                      </a:r>
                      <a:r>
                        <a:rPr lang="en-US" sz="1200" b="1" i="0" u="none" strike="noStrike" dirty="0">
                          <a:solidFill>
                            <a:srgbClr val="191F54"/>
                          </a:solidFill>
                          <a:effectLst/>
                          <a:latin typeface="メイリオ" panose="020B0604030504040204" pitchFamily="50" charset="-128"/>
                          <a:ea typeface="メイリオ" panose="020B0604030504040204" pitchFamily="50" charset="-128"/>
                        </a:rPr>
                        <a:t>EC）</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altLang="ja-JP"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a:t>
                      </a:r>
                      <a:r>
                        <a:rPr lang="ja-JP" altLang="en-US"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年</a:t>
                      </a:r>
                      <a:r>
                        <a:rPr lang="en-US" altLang="ja-JP"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8</a:t>
                      </a:r>
                      <a:r>
                        <a:rPr lang="ja-JP" altLang="en-US"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ヶ月</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lnSpc>
                          <a:spcPct val="100000"/>
                        </a:lnSpc>
                        <a:buNone/>
                      </a:pP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■月間</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CV</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件数</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endParaRPr lang="en-US" altLang="ja-JP"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4.3</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倍</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120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 → </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520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a:t>
                      </a:r>
                      <a:endPar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ROAS</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換算</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92</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％改善</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¥150,000 → ¥12,500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endPar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離脱防止バナーと</a:t>
                      </a:r>
                      <a:r>
                        <a:rPr lang="en-US" altLang="ja-JP" sz="1200" b="1" i="0" u="sng" strike="noStrike" dirty="0">
                          <a:solidFill>
                            <a:srgbClr val="C00000"/>
                          </a:solidFill>
                          <a:effectLst/>
                          <a:latin typeface="メイリオ" panose="020B0604030504040204" pitchFamily="50" charset="-128"/>
                          <a:ea typeface="メイリオ" panose="020B0604030504040204" pitchFamily="50" charset="-128"/>
                        </a:rPr>
                        <a:t>CPF</a:t>
                      </a: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を活用した友だち増加</a:t>
                      </a:r>
                      <a:br>
                        <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・アンケートを実施し、</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カゴ落ちユーザーを中心に</a:t>
                      </a:r>
                      <a:b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br>
                      <a:r>
                        <a:rPr lang="ja-JP" altLang="en-US" sz="1200" b="0" i="0" u="none" strike="noStrike" dirty="0">
                          <a:solidFill>
                            <a:srgbClr val="C00000"/>
                          </a:solidFill>
                          <a:effectLst/>
                          <a:latin typeface="メイリオ" panose="020B0604030504040204" pitchFamily="50" charset="-128"/>
                          <a:ea typeface="メイリオ" panose="020B0604030504040204" pitchFamily="50" charset="-128"/>
                        </a:rPr>
                        <a:t>　</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期間限定商品・高単価商品の情報を配信</a:t>
                      </a:r>
                      <a:endParaRPr lang="ja-JP" altLang="en-US" sz="1100" b="1" i="0" u="sng" strike="noStrike" dirty="0">
                        <a:solidFill>
                          <a:srgbClr val="C00000"/>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03009258"/>
                  </a:ext>
                </a:extLst>
              </a:tr>
              <a:tr h="1021391">
                <a:tc>
                  <a:txBody>
                    <a:bodyPr/>
                    <a:lstStyle/>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美容クリニック</a:t>
                      </a:r>
                      <a:endParaRPr lang="en-US" altLang="ja-JP" sz="1200" b="1" i="0" u="none" strike="noStrike" dirty="0">
                        <a:solidFill>
                          <a:srgbClr val="191F54"/>
                        </a:solidFill>
                        <a:effectLst/>
                        <a:latin typeface="メイリオ" panose="020B0604030504040204" pitchFamily="50" charset="-128"/>
                        <a:ea typeface="メイリオ" panose="020B0604030504040204" pitchFamily="50" charset="-128"/>
                      </a:endParaRPr>
                    </a:p>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（美肌治療）</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altLang="ja-JP"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a:t>
                      </a:r>
                      <a:r>
                        <a:rPr lang="ja-JP" altLang="en-US" sz="1100" b="1" i="0" u="none" strike="noStrike">
                          <a:solidFill>
                            <a:schemeClr val="tx1">
                              <a:lumMod val="65000"/>
                              <a:lumOff val="35000"/>
                            </a:schemeClr>
                          </a:solidFill>
                          <a:effectLst/>
                          <a:latin typeface="メイリオ" panose="020B0604030504040204" pitchFamily="50" charset="-128"/>
                          <a:ea typeface="メイリオ" panose="020B0604030504040204" pitchFamily="50" charset="-128"/>
                        </a:rPr>
                        <a:t>年</a:t>
                      </a:r>
                      <a:endParaRPr lang="ja-JP" altLang="en-US"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lnSpc>
                          <a:spcPct val="100000"/>
                        </a:lnSpc>
                        <a:buNone/>
                      </a:pP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■月間</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CV</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件数</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endParaRPr lang="en-US" altLang="ja-JP"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4</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倍</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15</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 → </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60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a:t>
                      </a:r>
                      <a:endPar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ROAS</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換算</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63</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％改善</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¥32,000 → ¥12,000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endPar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ビフォーアフターがわかるクリエイティブ</a:t>
                      </a: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を配信</a:t>
                      </a:r>
                      <a:br>
                        <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個別メッセージを利用したユーザー個々への追客</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65115858"/>
                  </a:ext>
                </a:extLst>
              </a:tr>
              <a:tr h="1021391">
                <a:tc>
                  <a:txBody>
                    <a:bodyPr/>
                    <a:lstStyle/>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美容クリニック</a:t>
                      </a:r>
                      <a:endParaRPr lang="en-US" altLang="ja-JP" sz="1200" b="1" i="0" u="none" strike="noStrike" dirty="0">
                        <a:solidFill>
                          <a:srgbClr val="191F54"/>
                        </a:solidFill>
                        <a:effectLst/>
                        <a:latin typeface="メイリオ" panose="020B0604030504040204" pitchFamily="50" charset="-128"/>
                        <a:ea typeface="メイリオ" panose="020B0604030504040204" pitchFamily="50" charset="-128"/>
                      </a:endParaRPr>
                    </a:p>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（痩身）</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altLang="ja-JP"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3</a:t>
                      </a:r>
                      <a:r>
                        <a:rPr lang="ja-JP" altLang="en-US"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年</a:t>
                      </a:r>
                      <a:r>
                        <a:rPr lang="en-US" altLang="ja-JP"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4</a:t>
                      </a:r>
                      <a:r>
                        <a:rPr lang="ja-JP" altLang="en-US"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ヶ月</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lnSpc>
                          <a:spcPct val="100000"/>
                        </a:lnSpc>
                        <a:buNone/>
                      </a:pP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■月間</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CV</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件数</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endParaRPr lang="en-US" altLang="ja-JP"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ja-JP" altLang="en-US" sz="1100" b="1" i="0" u="none" strike="noStrike" dirty="0">
                          <a:solidFill>
                            <a:srgbClr val="C00000"/>
                          </a:solidFill>
                          <a:effectLst/>
                          <a:latin typeface="メイリオ" panose="020B0604030504040204" pitchFamily="50" charset="-128"/>
                          <a:ea typeface="メイリオ" panose="020B0604030504040204" pitchFamily="50" charset="-128"/>
                        </a:rPr>
                        <a:t>開設から</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45</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件</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N/A</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 </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45</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a:t>
                      </a:r>
                      <a:endPar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CPA</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換算</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ja-JP" altLang="en-US" sz="1100" b="1" i="0" u="none" strike="noStrike" dirty="0">
                          <a:solidFill>
                            <a:srgbClr val="C00000"/>
                          </a:solidFill>
                          <a:effectLst/>
                          <a:latin typeface="メイリオ" panose="020B0604030504040204" pitchFamily="50" charset="-128"/>
                          <a:ea typeface="メイリオ" panose="020B0604030504040204" pitchFamily="50" charset="-128"/>
                        </a:rPr>
                        <a:t>開設から</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1</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万円台</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N/A → ¥10,700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endPar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ビフォーアフターがわかるクリエイティブ</a:t>
                      </a: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を配信</a:t>
                      </a:r>
                      <a:br>
                        <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・アンケート動線を設定し、</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悩み別のシナリオを用意</a:t>
                      </a:r>
                      <a:endParaRPr lang="ja-JP" altLang="en-US" sz="1100" b="1" i="0" u="sng" strike="noStrike" dirty="0">
                        <a:solidFill>
                          <a:srgbClr val="C00000"/>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47929865"/>
                  </a:ext>
                </a:extLst>
              </a:tr>
            </a:tbl>
          </a:graphicData>
        </a:graphic>
      </p:graphicFrame>
    </p:spTree>
    <p:extLst>
      <p:ext uri="{BB962C8B-B14F-4D97-AF65-F5344CB8AC3E}">
        <p14:creationId xmlns:p14="http://schemas.microsoft.com/office/powerpoint/2010/main" val="219783967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18"/>
          <p:cNvSpPr>
            <a:spLocks noChangeArrowheads="1"/>
          </p:cNvSpPr>
          <p:nvPr/>
        </p:nvSpPr>
        <p:spPr bwMode="auto">
          <a:xfrm>
            <a:off x="1649030" y="5820984"/>
            <a:ext cx="6192837" cy="373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lvl="1" fontAlgn="base">
              <a:spcBef>
                <a:spcPct val="20000"/>
              </a:spcBef>
              <a:spcAft>
                <a:spcPct val="0"/>
              </a:spcAft>
              <a:defRPr/>
            </a:pPr>
            <a:r>
              <a:rPr lang="ja-JP" altLang="en-US" sz="831" b="1" dirty="0">
                <a:solidFill>
                  <a:prstClr val="black"/>
                </a:solidFill>
                <a:latin typeface="メイリオ"/>
                <a:ea typeface="メイリオ"/>
                <a:cs typeface="メイリオ"/>
              </a:rPr>
              <a:t>株式会社</a:t>
            </a:r>
            <a:r>
              <a:rPr lang="en-US" altLang="ja-JP" sz="831" b="1" dirty="0">
                <a:solidFill>
                  <a:prstClr val="black"/>
                </a:solidFill>
                <a:latin typeface="メイリオ"/>
                <a:ea typeface="メイリオ"/>
                <a:cs typeface="メイリオ"/>
              </a:rPr>
              <a:t>DYM</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141-0032</a:t>
            </a:r>
            <a:r>
              <a:rPr lang="ja-JP" altLang="en-US" sz="831" b="1" dirty="0">
                <a:solidFill>
                  <a:prstClr val="black"/>
                </a:solidFill>
                <a:latin typeface="メイリオ"/>
                <a:ea typeface="メイリオ"/>
                <a:cs typeface="メイリオ"/>
              </a:rPr>
              <a:t>　東京都品川区大崎</a:t>
            </a:r>
            <a:r>
              <a:rPr lang="en-US" altLang="ja-JP" sz="831" b="1" dirty="0">
                <a:solidFill>
                  <a:prstClr val="black"/>
                </a:solidFill>
                <a:latin typeface="メイリオ"/>
                <a:ea typeface="メイリオ"/>
                <a:cs typeface="メイリオ"/>
              </a:rPr>
              <a:t>1-11-2</a:t>
            </a:r>
            <a:r>
              <a:rPr lang="ja-JP" altLang="en-US" sz="831" b="1" dirty="0">
                <a:solidFill>
                  <a:prstClr val="black"/>
                </a:solidFill>
                <a:latin typeface="メイリオ"/>
                <a:ea typeface="メイリオ"/>
                <a:cs typeface="メイリオ"/>
              </a:rPr>
              <a:t>　ゲートシティ大崎イーストタワー</a:t>
            </a:r>
            <a:r>
              <a:rPr lang="en-US" altLang="ja-JP" sz="831" b="1" dirty="0">
                <a:solidFill>
                  <a:prstClr val="black"/>
                </a:solidFill>
                <a:latin typeface="メイリオ"/>
                <a:ea typeface="メイリオ"/>
                <a:cs typeface="メイリオ"/>
              </a:rPr>
              <a:t>10</a:t>
            </a:r>
            <a:r>
              <a:rPr lang="ja-JP" altLang="en-US" sz="831" b="1" dirty="0">
                <a:solidFill>
                  <a:prstClr val="black"/>
                </a:solidFill>
                <a:latin typeface="メイリオ"/>
                <a:ea typeface="メイリオ"/>
                <a:cs typeface="メイリオ"/>
              </a:rPr>
              <a:t>階</a:t>
            </a:r>
            <a:endParaRPr lang="en-US" altLang="ja-JP" sz="831" b="1" dirty="0">
              <a:solidFill>
                <a:prstClr val="black"/>
              </a:solidFill>
              <a:latin typeface="メイリオ"/>
              <a:ea typeface="メイリオ"/>
              <a:cs typeface="メイリオ"/>
            </a:endParaRPr>
          </a:p>
          <a:p>
            <a:pPr marL="0" lvl="1" fontAlgn="base">
              <a:spcBef>
                <a:spcPct val="20000"/>
              </a:spcBef>
              <a:spcAft>
                <a:spcPct val="0"/>
              </a:spcAft>
              <a:defRPr/>
            </a:pPr>
            <a:r>
              <a:rPr lang="en-US" altLang="ja-JP" sz="831" b="1" dirty="0">
                <a:solidFill>
                  <a:prstClr val="black"/>
                </a:solidFill>
                <a:latin typeface="メイリオ"/>
                <a:ea typeface="メイリオ"/>
                <a:cs typeface="メイリオ"/>
              </a:rPr>
              <a:t>TEL: 03-5745-0200</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FAX: 03-3779-8720 </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http://dym.asia   </a:t>
            </a:r>
            <a:r>
              <a:rPr lang="ja-JP" altLang="en-US" sz="831" b="1" dirty="0">
                <a:solidFill>
                  <a:prstClr val="black"/>
                </a:solidFill>
                <a:latin typeface="メイリオ"/>
                <a:ea typeface="メイリオ"/>
                <a:cs typeface="メイリオ"/>
              </a:rPr>
              <a:t>代表取締役　水谷佑毅</a:t>
            </a:r>
          </a:p>
        </p:txBody>
      </p:sp>
      <p:pic>
        <p:nvPicPr>
          <p:cNvPr id="24" name="図 1"/>
          <p:cNvPicPr>
            <a:picLocks noChangeAspect="1"/>
          </p:cNvPicPr>
          <p:nvPr/>
        </p:nvPicPr>
        <p:blipFill rotWithShape="1">
          <a:blip r:embed="rId3" cstate="email">
            <a:extLst>
              <a:ext uri="{28A0092B-C50C-407E-A947-70E740481C1C}">
                <a14:useLocalDpi xmlns:a14="http://schemas.microsoft.com/office/drawing/2010/main"/>
              </a:ext>
            </a:extLst>
          </a:blip>
          <a:srcRect l="-1647" r="-11171"/>
          <a:stretch/>
        </p:blipFill>
        <p:spPr bwMode="auto">
          <a:xfrm>
            <a:off x="543897" y="5895365"/>
            <a:ext cx="1100981" cy="2248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テキスト ボックス 2"/>
          <p:cNvSpPr txBox="1"/>
          <p:nvPr/>
        </p:nvSpPr>
        <p:spPr>
          <a:xfrm>
            <a:off x="5070232" y="5597769"/>
            <a:ext cx="184731" cy="369332"/>
          </a:xfrm>
          <a:prstGeom prst="rect">
            <a:avLst/>
          </a:prstGeom>
          <a:noFill/>
        </p:spPr>
        <p:txBody>
          <a:bodyPr wrap="none" rtlCol="0">
            <a:spAutoFit/>
          </a:bodyPr>
          <a:lstStyle/>
          <a:p>
            <a:pPr fontAlgn="base">
              <a:spcBef>
                <a:spcPct val="0"/>
              </a:spcBef>
              <a:spcAft>
                <a:spcPct val="0"/>
              </a:spcAft>
              <a:defRPr/>
            </a:pPr>
            <a:endParaRPr lang="ja-JP" altLang="en-US">
              <a:solidFill>
                <a:prstClr val="black"/>
              </a:solidFill>
              <a:latin typeface="Arial" pitchFamily="34" charset="0"/>
              <a:ea typeface="ＭＳ Ｐゴシック" pitchFamily="50" charset="-128"/>
            </a:endParaRPr>
          </a:p>
        </p:txBody>
      </p:sp>
      <p:sp>
        <p:nvSpPr>
          <p:cNvPr id="18" name="正方形/長方形 17"/>
          <p:cNvSpPr/>
          <p:nvPr/>
        </p:nvSpPr>
        <p:spPr>
          <a:xfrm>
            <a:off x="2170038" y="989684"/>
            <a:ext cx="5565924" cy="369332"/>
          </a:xfrm>
          <a:prstGeom prst="rect">
            <a:avLst/>
          </a:prstGeom>
        </p:spPr>
        <p:txBody>
          <a:bodyPr wrap="square">
            <a:spAutoFit/>
          </a:bodyPr>
          <a:lstStyle/>
          <a:p>
            <a:pPr algn="ctr" fontAlgn="base">
              <a:spcBef>
                <a:spcPct val="20000"/>
              </a:spcBef>
              <a:spcAft>
                <a:spcPct val="0"/>
              </a:spcAft>
              <a:defRPr/>
            </a:pPr>
            <a:r>
              <a:rPr lang="ja-JP" altLang="en-US" b="1" dirty="0">
                <a:solidFill>
                  <a:prstClr val="black"/>
                </a:solidFill>
                <a:latin typeface="メイリオ" charset="0"/>
                <a:ea typeface="メイリオ" charset="0"/>
                <a:cs typeface="メイリオ" charset="0"/>
              </a:rPr>
              <a:t>貴社の明るい未来に必ず貢献致します。</a:t>
            </a:r>
          </a:p>
        </p:txBody>
      </p:sp>
      <p:sp>
        <p:nvSpPr>
          <p:cNvPr id="14" name="正方形/長方形 13"/>
          <p:cNvSpPr/>
          <p:nvPr/>
        </p:nvSpPr>
        <p:spPr>
          <a:xfrm>
            <a:off x="382695" y="2698377"/>
            <a:ext cx="598220" cy="205890"/>
          </a:xfrm>
          <a:prstGeom prst="rect">
            <a:avLst/>
          </a:prstGeom>
        </p:spPr>
        <p:txBody>
          <a:bodyPr wrap="square">
            <a:spAutoFit/>
          </a:bodyPr>
          <a:lstStyle/>
          <a:p>
            <a:pPr algn="ctr" fontAlgn="base">
              <a:spcBef>
                <a:spcPct val="20000"/>
              </a:spcBef>
              <a:spcAft>
                <a:spcPct val="0"/>
              </a:spcAft>
              <a:defRPr/>
            </a:pPr>
            <a:r>
              <a:rPr lang="ja-JP" altLang="en-US" sz="738">
                <a:solidFill>
                  <a:srgbClr val="FFFFFF"/>
                </a:solidFill>
                <a:latin typeface="メイリオ" charset="0"/>
                <a:ea typeface="メイリオ" charset="0"/>
                <a:cs typeface="メイリオ" charset="0"/>
              </a:rPr>
              <a:t>本社</a:t>
            </a:r>
          </a:p>
        </p:txBody>
      </p:sp>
      <p:sp>
        <p:nvSpPr>
          <p:cNvPr id="15" name="正方形/長方形 14"/>
          <p:cNvSpPr/>
          <p:nvPr/>
        </p:nvSpPr>
        <p:spPr>
          <a:xfrm>
            <a:off x="368300" y="2355213"/>
            <a:ext cx="756684" cy="215444"/>
          </a:xfrm>
          <a:prstGeom prst="rect">
            <a:avLst/>
          </a:prstGeom>
        </p:spPr>
        <p:txBody>
          <a:bodyPr wrap="square">
            <a:spAutoFit/>
          </a:bodyPr>
          <a:lstStyle/>
          <a:p>
            <a:pPr algn="ctr" fontAlgn="base">
              <a:spcBef>
                <a:spcPct val="20000"/>
              </a:spcBef>
              <a:spcAft>
                <a:spcPct val="0"/>
              </a:spcAft>
              <a:defRPr/>
            </a:pPr>
            <a:r>
              <a:rPr lang="ja-JP" altLang="en-US" sz="800" dirty="0">
                <a:solidFill>
                  <a:srgbClr val="FFFFFF"/>
                </a:solidFill>
                <a:latin typeface="メイリオ" charset="0"/>
                <a:ea typeface="メイリオ" charset="0"/>
                <a:cs typeface="メイリオ" charset="0"/>
              </a:rPr>
              <a:t>本社</a:t>
            </a:r>
          </a:p>
        </p:txBody>
      </p:sp>
      <p:grpSp>
        <p:nvGrpSpPr>
          <p:cNvPr id="22" name="グループ化 21">
            <a:extLst>
              <a:ext uri="{FF2B5EF4-FFF2-40B4-BE49-F238E27FC236}">
                <a16:creationId xmlns:a16="http://schemas.microsoft.com/office/drawing/2014/main" id="{05A1AABC-CDB8-5B83-4CFD-649967A361BF}"/>
              </a:ext>
            </a:extLst>
          </p:cNvPr>
          <p:cNvGrpSpPr/>
          <p:nvPr/>
        </p:nvGrpSpPr>
        <p:grpSpPr>
          <a:xfrm>
            <a:off x="381002" y="1772817"/>
            <a:ext cx="9143999" cy="3314853"/>
            <a:chOff x="1" y="1772816"/>
            <a:chExt cx="9143999" cy="3314853"/>
          </a:xfrm>
        </p:grpSpPr>
        <p:pic>
          <p:nvPicPr>
            <p:cNvPr id="21" name="図 20" descr="ポーズをとる男性グループ&#10;&#10;自動的に生成された説明">
              <a:extLst>
                <a:ext uri="{FF2B5EF4-FFF2-40B4-BE49-F238E27FC236}">
                  <a16:creationId xmlns:a16="http://schemas.microsoft.com/office/drawing/2014/main" id="{4927F40E-D146-C638-5583-C9DC2984722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642" r="4076"/>
            <a:stretch/>
          </p:blipFill>
          <p:spPr>
            <a:xfrm>
              <a:off x="6973793" y="3518745"/>
              <a:ext cx="2170207" cy="1567781"/>
            </a:xfrm>
            <a:prstGeom prst="rect">
              <a:avLst/>
            </a:prstGeom>
          </p:spPr>
        </p:pic>
        <p:pic>
          <p:nvPicPr>
            <p:cNvPr id="16" name="図 15" descr="白いシャツを着ている男性&#10;&#10;中程度の精度で自動的に生成された説明">
              <a:extLst>
                <a:ext uri="{FF2B5EF4-FFF2-40B4-BE49-F238E27FC236}">
                  <a16:creationId xmlns:a16="http://schemas.microsoft.com/office/drawing/2014/main" id="{2ECDFCA7-8611-D865-F999-FDCD0EC2126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83808" y="3519888"/>
              <a:ext cx="1989985" cy="1567781"/>
            </a:xfrm>
            <a:prstGeom prst="rect">
              <a:avLst/>
            </a:prstGeom>
          </p:spPr>
        </p:pic>
        <p:pic>
          <p:nvPicPr>
            <p:cNvPr id="10" name="図 9" descr="スーツを着た男性たち&#10;&#10;自動的に生成された説明">
              <a:extLst>
                <a:ext uri="{FF2B5EF4-FFF2-40B4-BE49-F238E27FC236}">
                  <a16:creationId xmlns:a16="http://schemas.microsoft.com/office/drawing/2014/main" id="{9D3AD52A-1514-4350-FFDD-09984B3666E2}"/>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0703" r="10363"/>
            <a:stretch/>
          </p:blipFill>
          <p:spPr>
            <a:xfrm>
              <a:off x="7299681" y="1773979"/>
              <a:ext cx="1842624" cy="1745909"/>
            </a:xfrm>
            <a:prstGeom prst="rect">
              <a:avLst/>
            </a:prstGeom>
          </p:spPr>
        </p:pic>
        <p:pic>
          <p:nvPicPr>
            <p:cNvPr id="7" name="図 6" descr="講堂にいる人たち&#10;&#10;中程度の精度で自動的に生成された説明">
              <a:extLst>
                <a:ext uri="{FF2B5EF4-FFF2-40B4-BE49-F238E27FC236}">
                  <a16:creationId xmlns:a16="http://schemas.microsoft.com/office/drawing/2014/main" id="{B1CA0DFF-0DAF-D5BD-8D9F-8AFB103E2698}"/>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512" t="12879" r="2477"/>
            <a:stretch/>
          </p:blipFill>
          <p:spPr>
            <a:xfrm>
              <a:off x="1" y="1772816"/>
              <a:ext cx="5089778" cy="3314853"/>
            </a:xfrm>
            <a:prstGeom prst="rect">
              <a:avLst/>
            </a:prstGeom>
          </p:spPr>
        </p:pic>
        <p:pic>
          <p:nvPicPr>
            <p:cNvPr id="11" name="図 10" descr="スーツを着た男性グループの写真&#10;&#10;低い精度で自動的に生成された説明">
              <a:extLst>
                <a:ext uri="{FF2B5EF4-FFF2-40B4-BE49-F238E27FC236}">
                  <a16:creationId xmlns:a16="http://schemas.microsoft.com/office/drawing/2014/main" id="{FEFAFF33-EFBF-C67E-586A-08D93AF295F8}"/>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8595" r="6763"/>
            <a:stretch/>
          </p:blipFill>
          <p:spPr>
            <a:xfrm>
              <a:off x="5089779" y="1772836"/>
              <a:ext cx="2215315" cy="1745909"/>
            </a:xfrm>
            <a:prstGeom prst="rect">
              <a:avLst/>
            </a:prstGeom>
          </p:spPr>
        </p:pic>
      </p:grpSp>
      <p:sp>
        <p:nvSpPr>
          <p:cNvPr id="6" name="正方形/長方形 5">
            <a:extLst>
              <a:ext uri="{FF2B5EF4-FFF2-40B4-BE49-F238E27FC236}">
                <a16:creationId xmlns:a16="http://schemas.microsoft.com/office/drawing/2014/main" id="{238B92EF-519D-929F-4345-5BAC445EF234}"/>
              </a:ext>
            </a:extLst>
          </p:cNvPr>
          <p:cNvSpPr/>
          <p:nvPr/>
        </p:nvSpPr>
        <p:spPr>
          <a:xfrm>
            <a:off x="128016" y="6620256"/>
            <a:ext cx="2852928" cy="237744"/>
          </a:xfrm>
          <a:prstGeom prst="rect">
            <a:avLst/>
          </a:prstGeom>
          <a:solidFill>
            <a:srgbClr val="191F54"/>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正方形/長方形 1">
            <a:extLst>
              <a:ext uri="{FF2B5EF4-FFF2-40B4-BE49-F238E27FC236}">
                <a16:creationId xmlns:a16="http://schemas.microsoft.com/office/drawing/2014/main" id="{A949B271-D24D-666E-90F2-EA616E1EABC2}"/>
              </a:ext>
            </a:extLst>
          </p:cNvPr>
          <p:cNvSpPr/>
          <p:nvPr/>
        </p:nvSpPr>
        <p:spPr>
          <a:xfrm>
            <a:off x="368300" y="0"/>
            <a:ext cx="9537700" cy="514974"/>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185355464"/>
      </p:ext>
    </p:extLst>
  </p:cSld>
  <p:clrMapOvr>
    <a:masterClrMapping/>
  </p:clrMapOvr>
  <p:transition spd="slow"/>
</p:sld>
</file>

<file path=ppt/theme/theme1.xml><?xml version="1.0" encoding="utf-8"?>
<a:theme xmlns:a="http://schemas.openxmlformats.org/drawingml/2006/main" name="DYMJAPA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メイリオ"/>
        <a:ea typeface="メイリオ"/>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メイリオ"/>
        <a:ea typeface="メイリオ"/>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メイリオ"/>
        <a:ea typeface="メイリオ"/>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メイリオ"/>
        <a:ea typeface="メイリオ"/>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97329</TotalTime>
  <Words>3443</Words>
  <Application>Microsoft Office PowerPoint</Application>
  <PresentationFormat>A4 210 x 297 mm</PresentationFormat>
  <Paragraphs>808</Paragraphs>
  <Slides>34</Slides>
  <Notes>6</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34</vt:i4>
      </vt:variant>
    </vt:vector>
  </HeadingPairs>
  <TitlesOfParts>
    <vt:vector size="40" baseType="lpstr">
      <vt:lpstr>Arial</vt:lpstr>
      <vt:lpstr>Calibri</vt:lpstr>
      <vt:lpstr>メイリオ</vt:lpstr>
      <vt:lpstr>Century Gothic</vt:lpstr>
      <vt:lpstr>メイリオ</vt:lpstr>
      <vt:lpstr>DYMJAPAN</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torii-t</dc:creator>
  <cp:lastModifiedBy>竹田 虎大朗</cp:lastModifiedBy>
  <cp:revision>873</cp:revision>
  <dcterms:created xsi:type="dcterms:W3CDTF">2016-11-22T16:06:03Z</dcterms:created>
  <dcterms:modified xsi:type="dcterms:W3CDTF">2026-10-29T01:12:24Z</dcterms:modified>
</cp:coreProperties>
</file>