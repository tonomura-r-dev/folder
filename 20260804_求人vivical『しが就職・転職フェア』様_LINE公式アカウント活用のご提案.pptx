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12"/>
  </p:notesMasterIdLst>
  <p:handoutMasterIdLst>
    <p:handoutMasterId r:id="rId13"/>
  </p:handoutMasterIdLst>
  <p:sldIdLst>
    <p:sldId id="2363" r:id="rId3"/>
    <p:sldId id="2935" r:id="rId4"/>
    <p:sldId id="2956" r:id="rId5"/>
    <p:sldId id="2988" r:id="rId6"/>
    <p:sldId id="2972" r:id="rId7"/>
    <p:sldId id="2977" r:id="rId8"/>
    <p:sldId id="2974" r:id="rId9"/>
    <p:sldId id="2975" r:id="rId10"/>
    <p:sldId id="2979" r:id="rId11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0A72-79AB-D734-F919-6B5353A0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43DCC9-013F-5916-497A-3173AB3E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E4841C-3C6F-F028-ED9E-D25D3936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806F5D-B3E8-8EF8-D9FF-5F440AE72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632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C596-88E7-2BC9-7631-7B2FF864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78EA305-DD4B-4755-1A79-3ECAA1BFA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E530CFC-96E0-CB7F-D9F4-B974123A5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657086-8B2C-117D-A7A7-81B2D3075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02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E24-A18E-3FB1-1BEB-F78B7876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BD67E3-1B96-BBBF-6E58-9F584C1E4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415CA0F-593B-424A-AB1E-372C80A53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1FAE7-9B14-4C23-B5D8-2C06D3E8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493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8803-9F0E-9C31-9560-20947185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09DBAC0-C8E1-8C5B-7FC3-E2F967DE3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9E6ECD-81E8-9621-C097-7F38D3F57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567096-EE1C-9444-DCCA-A268D8AAC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084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148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LINE公式アカウント活用のご提案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求人vivical『しが就職・転職フェア』様向け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978408" y="3910946"/>
            <a:ext cx="7955279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〜「直前辞退の防止」と「次回イベントへの継続囲い込み」による採用成果の最大化〜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401568" y="4341752"/>
            <a:ext cx="3108960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2026年8月｜株式会社DYM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ご提案の背景と目的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転職フェアの成果最大化には「来場前辞退の防止」と「イベント後の継続アプローチ」が不可欠である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91440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72768"/>
            <a:ext cx="7936992" cy="457200"/>
          </a:xfrm>
          <a:prstGeom prst="rect">
            <a:avLst/>
          </a:prstGeom>
          <a:noFill/>
        </p:spPr>
        <p:txBody>
          <a:bodyPr wrap="square" lIns="0" tIns="27432" rIns="54864" bIns="27432" anchor="ctr">
            <a:spAutoFit/>
          </a:bodyPr>
          <a:lstStyle/>
          <a:p>
            <a:pPr algn="l"/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予約不要の気軽さの裏で、直前キャンセル（来場辞退）が発生するリスクが存在する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66543"/>
            <a:ext cx="91440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11679"/>
            <a:ext cx="7936992" cy="457200"/>
          </a:xfrm>
          <a:prstGeom prst="rect">
            <a:avLst/>
          </a:prstGeom>
          <a:noFill/>
        </p:spPr>
        <p:txBody>
          <a:bodyPr wrap="square" lIns="0" tIns="27432" rIns="54864" bIns="27432" anchor="ctr">
            <a:spAutoFit/>
          </a:bodyPr>
          <a:lstStyle/>
          <a:p>
            <a:pPr algn="l"/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友だち追加後の「開催前リマインド」と「自動フォロー」により、求職者との接点を強化する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5486400" cy="310896"/>
          </a:xfrm>
          <a:prstGeom prst="rect">
            <a:avLst/>
          </a:prstGeom>
          <a:noFill/>
        </p:spPr>
        <p:txBody>
          <a:bodyPr wrap="square" lIns="0" tIns="27432" rIns="54864" bIns="27432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本施策で目指す3つのゴール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07792"/>
            <a:ext cx="2843784" cy="2999232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907792"/>
            <a:ext cx="2843784" cy="43891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GOAL 1｜来場率の向上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2569464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直前辞退を防ぎ、フェアの動員数を底上げする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52544"/>
            <a:ext cx="2569464" cy="2743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来場率改善（目標）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26864"/>
            <a:ext cx="2569464" cy="54864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/>
            <a:r>
              <a:rPr sz="26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+10〜20%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03520"/>
            <a:ext cx="2569464" cy="566928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開催前リマインド配信でドタキャン防止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9584" y="2907792"/>
            <a:ext cx="2843784" cy="2999232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29584" y="2907792"/>
            <a:ext cx="2843784" cy="43891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GOAL 2｜満足度の向上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3474720"/>
            <a:ext cx="2569464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会場内の迷いをなくし、企業ブース訪問を促進する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4352544"/>
            <a:ext cx="2569464" cy="2743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企業ブース訪問数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4626864"/>
            <a:ext cx="2569464" cy="54864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/>
            <a:r>
              <a:rPr sz="26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最大化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5303520"/>
            <a:ext cx="2569464" cy="566928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会場MAP・出展企業一覧を1タップ提供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1968" y="2907792"/>
            <a:ext cx="2843784" cy="2999232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01968" y="2907792"/>
            <a:ext cx="2843784" cy="43891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GOAL 3｜LTVの最大化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3474720"/>
            <a:ext cx="2569464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今回未応募の層をストックし、継続的に接点を持つ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4352544"/>
            <a:ext cx="2569464" cy="2743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次回フェア・個別求人へ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128" y="4626864"/>
            <a:ext cx="2569464" cy="54864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/>
            <a:r>
              <a:rPr sz="26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再案内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5303520"/>
            <a:ext cx="2569464" cy="566928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属性別セグメント配信で再アプローチ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98464"/>
            <a:ext cx="8988552" cy="274320"/>
          </a:xfrm>
          <a:prstGeom prst="rect">
            <a:avLst/>
          </a:prstGeom>
          <a:noFill/>
        </p:spPr>
        <p:txBody>
          <a:bodyPr wrap="square" lIns="0" tIns="27432" rIns="54864" bIns="27432" anchor="t">
            <a:spAutoFit/>
          </a:bodyPr>
          <a:lstStyle/>
          <a:p>
            <a:pPr algn="l"/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※改善幅は本施策の実行を前提とした目標値です（成果を保証するものではありません）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225212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課題の整理｜求職者の3つの離脱ポイント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求職者プロセスにおける「来場前」「当日」「イベント後」の3つの離脱ポイントに改善余地がある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35024"/>
            <a:ext cx="2843784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イベント前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28416" y="1426464"/>
            <a:ext cx="173736" cy="237744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901952"/>
            <a:ext cx="2843784" cy="118872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27432" rtlCol="0" anchor="t"/>
          <a:lstStyle/>
          <a:p>
            <a:pPr algn="ctr">
              <a:spcAft>
                <a:spcPts val="400"/>
              </a:spcAft>
            </a:pPr>
            <a:r>
              <a:rPr sz="1050" b="1" dirty="0" err="1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課題</a:t>
            </a:r>
            <a:endParaRPr sz="1050" b="1" dirty="0">
              <a:solidFill>
                <a:srgbClr val="808080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2000"/>
              </a:lnSpc>
            </a:pPr>
            <a:r>
              <a:rPr sz="120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予約・来場の直前辞退が発生しやすい</a:t>
            </a:r>
            <a:endParaRPr sz="1200" dirty="0">
              <a:solidFill>
                <a:srgbClr val="343434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1764792" y="3131820"/>
            <a:ext cx="228600" cy="256032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671315"/>
            <a:ext cx="2843784" cy="1188720"/>
          </a:xfrm>
          <a:prstGeom prst="rect">
            <a:avLst/>
          </a:prstGeom>
          <a:solidFill>
            <a:srgbClr val="F4F7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27432" rtlCol="0" anchor="t"/>
          <a:lstStyle/>
          <a:p>
            <a:pPr algn="ctr">
              <a:spcAft>
                <a:spcPts val="400"/>
              </a:spcAft>
            </a:pPr>
            <a:r>
              <a:rPr sz="105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LINEでの打ち手</a:t>
            </a:r>
            <a:endParaRPr sz="105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2000"/>
              </a:lnSpc>
            </a:pPr>
            <a:r>
              <a:rPr sz="120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リマインド配信と安心コンテンツの自動送付で来場を後押し</a:t>
            </a:r>
            <a:endParaRPr lang="en-US" sz="1200" dirty="0">
              <a:solidFill>
                <a:srgbClr val="343434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2000"/>
              </a:lnSpc>
            </a:pPr>
            <a:endParaRPr lang="en-US" sz="500" dirty="0">
              <a:solidFill>
                <a:srgbClr val="343434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29584" y="1335024"/>
            <a:ext cx="2843784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イベント当日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00800" y="1426464"/>
            <a:ext cx="173736" cy="237744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29584" y="1901952"/>
            <a:ext cx="2843784" cy="118872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27432" rtlCol="0" anchor="t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  <a:p>
            <a:pPr algn="ctr">
              <a:lnSpc>
                <a:spcPct val="112000"/>
              </a:lnSpc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会場内の回遊不足により、企業ブース訪問が伸びない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837176" y="3200400"/>
            <a:ext cx="228600" cy="256032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02152" y="3666660"/>
            <a:ext cx="2843784" cy="1193375"/>
          </a:xfrm>
          <a:prstGeom prst="rect">
            <a:avLst/>
          </a:prstGeom>
          <a:solidFill>
            <a:srgbClr val="F4F7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27432" rtlCol="0" anchor="t"/>
          <a:lstStyle/>
          <a:p>
            <a:pPr algn="ctr">
              <a:spcAft>
                <a:spcPts val="400"/>
              </a:spcAft>
            </a:pPr>
            <a:r>
              <a:rPr sz="105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LINEでの打ち手</a:t>
            </a:r>
            <a:endParaRPr sz="105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リッチメニューで会場MAP・出展企業一覧を即時提供</a:t>
            </a:r>
            <a:endParaRPr kumimoji="1" lang="en-US" altLang="ja-JP" sz="5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メイリオ"/>
              <a:ea typeface="メイリオ"/>
              <a:cs typeface="メイリオ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5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01968" y="1335024"/>
            <a:ext cx="2843784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イベント後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1968" y="1901952"/>
            <a:ext cx="2843784" cy="118872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27432" rtlCol="0" anchor="t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  <a:p>
            <a:pPr algn="ctr">
              <a:lnSpc>
                <a:spcPct val="112000"/>
              </a:lnSpc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未応募層が離脱し、フェアの記憶が風化する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909560" y="3200400"/>
            <a:ext cx="228600" cy="256032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01968" y="3666660"/>
            <a:ext cx="2843784" cy="1188720"/>
          </a:xfrm>
          <a:prstGeom prst="rect">
            <a:avLst/>
          </a:prstGeom>
          <a:solidFill>
            <a:srgbClr val="F4F7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27432" rtlCol="0" anchor="t"/>
          <a:lstStyle/>
          <a:p>
            <a:pPr algn="ctr">
              <a:spcAft>
                <a:spcPts val="400"/>
              </a:spcAft>
            </a:pPr>
            <a:r>
              <a:rPr sz="105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LINEでの打ち手</a:t>
            </a:r>
            <a:endParaRPr sz="105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2000"/>
              </a:lnSpc>
            </a:pPr>
            <a:r>
              <a:rPr sz="120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アンケート属性に基づくセグメント配信で次回フェア・個別求人を案内</a:t>
            </a:r>
            <a:endParaRPr lang="en-US" sz="1200" dirty="0">
              <a:solidFill>
                <a:srgbClr val="343434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2000"/>
              </a:lnSpc>
            </a:pPr>
            <a:endParaRPr lang="en-US" sz="500" dirty="0">
              <a:solidFill>
                <a:srgbClr val="343434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5897879"/>
            <a:ext cx="8988552" cy="40233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3つの離脱ポイントをLINE公式アカウントで一気通貫にカバーする</a:t>
            </a: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施策①｜ステップ配信・リマインド設計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属性取得アンケートと適切なタイミングのリマインドにより、来場率を大幅に改善する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9344"/>
            <a:ext cx="2084831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友だち追加直後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1709928"/>
            <a:ext cx="173736" cy="219456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57984"/>
            <a:ext cx="2084831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Ins="73152" bIns="27432" rtlCol="0" anchor="t"/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・サンクスメッセージ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・フェアの回り方ガイド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・簡単アンケート（希望職種などの属性取得）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52544"/>
            <a:ext cx="2084831" cy="60350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狙い</a:t>
            </a:r>
          </a:p>
          <a:p>
            <a:pPr algn="ctr"/>
            <a:r>
              <a:rPr sz="12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属性取得・不安解消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56916" y="1609344"/>
            <a:ext cx="2084831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開催3日前〜前日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60036" y="1709928"/>
            <a:ext cx="173736" cy="219456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56916" y="2157984"/>
            <a:ext cx="2084831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Ins="73152" bIns="27432" rtlCol="0" anchor="t"/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・会場アクセス案内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・「服装自由・履歴書不要」などの安心Q&amp;A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6916" y="4352544"/>
            <a:ext cx="2084831" cy="60350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狙い</a:t>
            </a:r>
          </a:p>
          <a:p>
            <a:pPr algn="ctr"/>
            <a:r>
              <a:rPr sz="12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来場準備・安心醸成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6632" y="1609344"/>
            <a:ext cx="2084831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開催当日 朝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59752" y="1709928"/>
            <a:ext cx="173736" cy="219456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56632" y="2157984"/>
            <a:ext cx="2084831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Ins="73152" bIns="27432" rtlCol="0" anchor="t"/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・開催リマインド通知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・会場MAPリンク付きで当日の迷いを解消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352544"/>
            <a:ext cx="2084831" cy="60350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狙い</a:t>
            </a:r>
          </a:p>
          <a:p>
            <a:pPr algn="ctr"/>
            <a:r>
              <a:rPr sz="12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来場の最終後押し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6348" y="1609344"/>
            <a:ext cx="2084831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イベント終了翌日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56348" y="2157984"/>
            <a:ext cx="2084831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Ins="73152" bIns="27432" rtlCol="0" anchor="t"/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・ご来場お礼メッセージ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・無料個別キャリア相談へ誘導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6348" y="4352544"/>
            <a:ext cx="2084831" cy="60350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狙い</a:t>
            </a:r>
          </a:p>
          <a:p>
            <a:pPr algn="ctr"/>
            <a:r>
              <a:rPr sz="12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関係継続・再接点化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40680"/>
            <a:ext cx="8988552" cy="64008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5596128"/>
            <a:ext cx="1051560" cy="32918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ポイント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440680"/>
            <a:ext cx="7662672" cy="640080"/>
          </a:xfrm>
          <a:prstGeom prst="rect">
            <a:avLst/>
          </a:prstGeom>
          <a:noFill/>
        </p:spPr>
        <p:txBody>
          <a:bodyPr wrap="square" lIns="0" tIns="27432" rIns="54864" bIns="27432" anchor="ctr">
            <a:spAutoFit/>
          </a:bodyPr>
          <a:lstStyle/>
          <a:p>
            <a:pPr algn="l"/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取得した属性（希望職種・年代など）は、イベント後のセグメント配信（次回フェア・個別求人のご案内）に活用します</a:t>
            </a:r>
          </a:p>
        </p:txBody>
      </p:sp>
    </p:spTree>
    <p:extLst>
      <p:ext uri="{BB962C8B-B14F-4D97-AF65-F5344CB8AC3E}">
        <p14:creationId xmlns:p14="http://schemas.microsoft.com/office/powerpoint/2010/main" val="350948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8B38-C7A2-1CE4-FDFD-8D6A744B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施策②｜リッチメニュー設計（6エリア構成）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求める情報へ1タップで遷移できる6エリア構成により、利用頻度と来場意欲を高める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4315968" cy="3840480"/>
          </a:xfrm>
          <a:prstGeom prst="rect">
            <a:avLst/>
          </a:prstGeom>
          <a:solidFill>
            <a:srgbClr val="FFFFFF"/>
          </a:solidFill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377696" cy="185166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次回フェア日程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会場案内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6335" y="1828800"/>
            <a:ext cx="1377696" cy="185166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出展企業一覧を見る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9752" y="1828800"/>
            <a:ext cx="1377696" cy="185166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会場MAP・アクセス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26179"/>
            <a:ext cx="1377696" cy="18516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事前参加予約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特典受取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6335" y="3726179"/>
            <a:ext cx="1377696" cy="18516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無料キャリア相談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（1on1）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9752" y="3726179"/>
            <a:ext cx="1377696" cy="18516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4315968" cy="2743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/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リッチメニュー構成イメージ（トーク画面下部に常時表示）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1783080"/>
            <a:ext cx="4489704" cy="178308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1892807"/>
            <a:ext cx="4160520" cy="329184"/>
          </a:xfrm>
          <a:prstGeom prst="rect">
            <a:avLst/>
          </a:prstGeom>
          <a:noFill/>
        </p:spPr>
        <p:txBody>
          <a:bodyPr wrap="square" lIns="0" tIns="27432" rIns="54864" bIns="27432" anchor="t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上段：情報提供エリア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95144"/>
            <a:ext cx="4160520" cy="1143000"/>
          </a:xfrm>
          <a:prstGeom prst="rect">
            <a:avLst/>
          </a:prstGeom>
          <a:noFill/>
        </p:spPr>
        <p:txBody>
          <a:bodyPr wrap="square" lIns="0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イベント概要や出展企業を常時可視化し、当日の会場回遊率を高めます（フェア日程／出展企業一覧／会場MAP）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3840480"/>
            <a:ext cx="4489704" cy="178308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3950208"/>
            <a:ext cx="4160520" cy="329184"/>
          </a:xfrm>
          <a:prstGeom prst="rect">
            <a:avLst/>
          </a:prstGeom>
          <a:noFill/>
        </p:spPr>
        <p:txBody>
          <a:bodyPr wrap="square" lIns="0" tIns="27432" rIns="54864" bIns="27432" anchor="t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下段：アクション誘導エリア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352544"/>
            <a:ext cx="4160520" cy="1143000"/>
          </a:xfrm>
          <a:prstGeom prst="rect">
            <a:avLst/>
          </a:prstGeom>
          <a:noFill/>
        </p:spPr>
        <p:txBody>
          <a:bodyPr wrap="square" lIns="0" tIns="27432" rIns="54864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事前予約・個別相談・疑問解消へ1タップで誘導し、予約・相談のCVRを改善します（参加予約／相談／FAQ）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5715000"/>
            <a:ext cx="4489704" cy="274320"/>
          </a:xfrm>
          <a:prstGeom prst="rect">
            <a:avLst/>
          </a:prstGeom>
          <a:noFill/>
        </p:spPr>
        <p:txBody>
          <a:bodyPr wrap="square" lIns="0" tIns="27432" rIns="54864" bIns="27432" anchor="t">
            <a:spAutoFit/>
          </a:bodyPr>
          <a:lstStyle/>
          <a:p>
            <a:pPr algn="l"/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※メニュー項目・文言は貴社と協議のうえ確定します</a:t>
            </a:r>
          </a:p>
        </p:txBody>
      </p:sp>
    </p:spTree>
    <p:extLst>
      <p:ext uri="{BB962C8B-B14F-4D97-AF65-F5344CB8AC3E}">
        <p14:creationId xmlns:p14="http://schemas.microsoft.com/office/powerpoint/2010/main" val="118759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587B-DB18-248C-DB39-A170420D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施策③｜友だち追加導線の改善（LP）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LP上のLINE導線に「求職者限定特典」を紐付けることで、友だち追加率を底上げする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4041648" cy="28803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4041648" cy="4572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Before｜現状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43584" y="2523744"/>
            <a:ext cx="2468880" cy="502920"/>
          </a:xfrm>
          <a:prstGeom prst="roundRect">
            <a:avLst/>
          </a:prstGeom>
          <a:solidFill>
            <a:srgbClr val="ECEDF3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LINE友だち追加はこちら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18688"/>
            <a:ext cx="3712463" cy="1188720"/>
          </a:xfrm>
          <a:prstGeom prst="rect">
            <a:avLst/>
          </a:prstGeom>
          <a:noFill/>
        </p:spPr>
        <p:txBody>
          <a:bodyPr wrap="square" lIns="0" tIns="27432" rIns="54864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・登録メリットの提示がない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・「追加する理由」が弱く、登録前に離脱が発生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81144" y="2834640"/>
            <a:ext cx="740664" cy="502920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04104" y="1645920"/>
            <a:ext cx="4041648" cy="2880360"/>
          </a:xfrm>
          <a:prstGeom prst="rect">
            <a:avLst/>
          </a:prstGeom>
          <a:solidFill>
            <a:srgbClr val="F4F7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04104" y="1645920"/>
            <a:ext cx="4041648" cy="457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After｜ご提案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523744"/>
            <a:ext cx="2468880" cy="50292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限定特典を受け取って友だち追加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8696" y="3218688"/>
            <a:ext cx="3712463" cy="1188720"/>
          </a:xfrm>
          <a:prstGeom prst="rect">
            <a:avLst/>
          </a:prstGeom>
          <a:noFill/>
        </p:spPr>
        <p:txBody>
          <a:bodyPr wrap="square" lIns="0" tIns="27432" rIns="54864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・登録者限定！『滋賀県内 業界別平均年収＆面接対策チェックシート』をプレゼント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・登録メリットを明確化し、友だち追加率を底上げ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5486400" cy="292608"/>
          </a:xfrm>
          <a:prstGeom prst="rect">
            <a:avLst/>
          </a:prstGeom>
          <a:noFill/>
        </p:spPr>
        <p:txBody>
          <a:bodyPr wrap="square" lIns="0" tIns="27432" rIns="54864" bIns="27432" anchor="t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ご提供特典（案）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47488"/>
            <a:ext cx="44165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① 滋賀県転職市場レポート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5047488"/>
            <a:ext cx="44165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② 面接・自己PR対策チェックシート（PDF）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07024"/>
            <a:ext cx="8988552" cy="274320"/>
          </a:xfrm>
          <a:prstGeom prst="rect">
            <a:avLst/>
          </a:prstGeom>
          <a:noFill/>
        </p:spPr>
        <p:txBody>
          <a:bodyPr wrap="square" lIns="0" tIns="27432" rIns="54864" bIns="27432" anchor="t">
            <a:spAutoFit/>
          </a:bodyPr>
          <a:lstStyle/>
          <a:p>
            <a:pPr algn="l"/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※特典の内容・名称は貴社と協議のうえ確定します</a:t>
            </a:r>
          </a:p>
        </p:txBody>
      </p:sp>
    </p:spTree>
    <p:extLst>
      <p:ext uri="{BB962C8B-B14F-4D97-AF65-F5344CB8AC3E}">
        <p14:creationId xmlns:p14="http://schemas.microsoft.com/office/powerpoint/2010/main" val="46647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D860-D20C-DFFA-89EA-A46B82A5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施策④｜Meta広告×LINE連携（オフラインCV最適化）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申込フォーム→LINE自動登録で「来場」をデータ化し、来場につながりやすいユーザーへ配信を最適化する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97510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975104" cy="384048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Meta広告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1792224" cy="9601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予約・来場につながりやすいユーザーを獲得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87168" y="2359152"/>
            <a:ext cx="256032" cy="219456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98064" y="1691640"/>
            <a:ext cx="197510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98064" y="1691640"/>
            <a:ext cx="1975104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LINE公式アカウント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176272"/>
            <a:ext cx="1792224" cy="9601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友だち追加＆離脱防止リマインドを配信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28032" y="2359152"/>
            <a:ext cx="256032" cy="219456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38928" y="1691640"/>
            <a:ext cx="197510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38928" y="1691640"/>
            <a:ext cx="1975104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LINE公式アカウント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176272"/>
            <a:ext cx="1792224" cy="9601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当日の来場判定をデータ化（オフラインCV）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68896" y="2359152"/>
            <a:ext cx="256032" cy="219456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79792" y="1691640"/>
            <a:ext cx="197510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79792" y="1691640"/>
            <a:ext cx="1975104" cy="384048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Meta広告へ連携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2176272"/>
            <a:ext cx="1792224" cy="9601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非来場ユーザーを除外し、配信精度がさらに向上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822960" y="3474720"/>
            <a:ext cx="8165592" cy="384048"/>
          </a:xfrm>
          <a:prstGeom prst="leftArrow">
            <a:avLst/>
          </a:prstGeom>
          <a:solidFill>
            <a:srgbClr val="F4F7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0" bIns="0" rtlCol="0" anchor="ctr"/>
          <a:lstStyle/>
          <a:p>
            <a:pPr algn="ctr"/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来場・非来場データをMeta広告へ連携 → 「来場する人」へ配信を最適化（ドタキャン層を除外）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5394960" cy="1234440"/>
          </a:xfrm>
          <a:prstGeom prst="rect">
            <a:avLst/>
          </a:prstGeom>
          <a:solidFill>
            <a:srgbClr val="F4F7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bIns="54864" rtlCol="0" anchor="ctr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期待効果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予約→来場の引き上げ率　</a:t>
            </a:r>
            <a:r>
              <a:rPr sz="140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6〜7割</a:t>
            </a:r>
            <a:r>
              <a:rPr sz="120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20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8割程度</a:t>
            </a: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　に改善した事例あり</a:t>
            </a:r>
          </a:p>
          <a:p>
            <a:pPr algn="l"/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他クライアント事例（参照元：社内配信実績）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114800"/>
            <a:ext cx="341071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09728" bIns="54864" rtlCol="0" anchor="ctr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よくあるご懸念</a:t>
            </a:r>
          </a:p>
          <a:p>
            <a:pPr algn="l">
              <a:lnSpc>
                <a:spcPct val="115000"/>
              </a:lnSpc>
            </a:pPr>
            <a:r>
              <a:rPr sz="10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「知らぬ間に登録されないか」→ フォーム送信後に自然にLINEへ遷移する導線のため、違和感が生じにくい設計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23560"/>
            <a:ext cx="8988552" cy="43891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この導線の中核はLINE公式アカウント ─ LINE運用の質が、広告配信の精度まで左右する</a:t>
            </a:r>
          </a:p>
        </p:txBody>
      </p:sp>
    </p:spTree>
    <p:extLst>
      <p:ext uri="{BB962C8B-B14F-4D97-AF65-F5344CB8AC3E}">
        <p14:creationId xmlns:p14="http://schemas.microsoft.com/office/powerpoint/2010/main" val="14290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4664-0791-AB23-9ACF-A79FA4D2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効果シミュレーション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33842"/>
            <a:ext cx="9162288" cy="270843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/>
            <a:r>
              <a:rPr sz="140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LINE活用により「来場率</a:t>
            </a:r>
            <a:r>
              <a:rPr lang="en-US" altLang="ja-JP" sz="140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20</a:t>
            </a:r>
            <a:r>
              <a:rPr sz="140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%向上」および「年間リピート応募者数の最大化」を見込む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156912"/>
              </p:ext>
            </p:extLst>
          </p:nvPr>
        </p:nvGraphicFramePr>
        <p:xfrm>
          <a:off x="457200" y="1645920"/>
          <a:ext cx="8988552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指標</a:t>
                      </a:r>
                    </a:p>
                  </a:txBody>
                  <a:tcPr marL="54864" marR="36576" marT="9144" marB="9144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現状（想定）</a:t>
                      </a:r>
                    </a:p>
                  </a:txBody>
                  <a:tcPr marL="54864" marR="36576" marT="9144" marB="9144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36576" marT="9144" marB="9144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提案後（目標）</a:t>
                      </a:r>
                    </a:p>
                  </a:txBody>
                  <a:tcPr marL="54864" marR="36576" marT="9144" marB="9144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主な改善ドライバー</a:t>
                      </a:r>
                    </a:p>
                  </a:txBody>
                  <a:tcPr marL="54864" marR="36576" marT="9144" marB="9144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LPからのLINE友だち登録率</a:t>
                      </a:r>
                    </a:p>
                  </a:txBody>
                  <a:tcPr marL="73152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1.5%</a:t>
                      </a:r>
                    </a:p>
                  </a:txBody>
                  <a:tcPr marL="73152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0808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→</a:t>
                      </a:r>
                    </a:p>
                  </a:txBody>
                  <a:tcPr marL="73152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65C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2.5%</a:t>
                      </a:r>
                    </a:p>
                  </a:txBody>
                  <a:tcPr marL="73152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求職者限定特典によるメリット訴求の強化</a:t>
                      </a:r>
                    </a:p>
                  </a:txBody>
                  <a:tcPr marL="73152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イベント事前予約数</a:t>
                      </a:r>
                    </a:p>
                  </a:txBody>
                  <a:tcPr marL="73152" marR="36576" marT="9144" marB="9144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100名</a:t>
                      </a:r>
                    </a:p>
                  </a:txBody>
                  <a:tcPr marL="73152" marR="36576" marT="9144" marB="9144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0808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→</a:t>
                      </a:r>
                    </a:p>
                  </a:txBody>
                  <a:tcPr marL="73152" marR="36576" marT="9144" marB="9144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65C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120名</a:t>
                      </a:r>
                    </a:p>
                  </a:txBody>
                  <a:tcPr marL="73152" marR="36576" marT="9144" marB="9144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あいさつメッセージ＋予約導線の最適化</a:t>
                      </a:r>
                    </a:p>
                  </a:txBody>
                  <a:tcPr marL="73152" marR="36576" marT="9144" marB="9144"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予約者の当日来場率</a:t>
                      </a:r>
                    </a:p>
                  </a:txBody>
                  <a:tcPr marL="73152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60%</a:t>
                      </a:r>
                    </a:p>
                  </a:txBody>
                  <a:tcPr marL="73152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0808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→</a:t>
                      </a:r>
                    </a:p>
                  </a:txBody>
                  <a:tcPr marL="73152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b="1" dirty="0">
                          <a:solidFill>
                            <a:srgbClr val="1565C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80</a:t>
                      </a:r>
                      <a:r>
                        <a:rPr sz="1400" b="1" dirty="0">
                          <a:solidFill>
                            <a:srgbClr val="1565C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%</a:t>
                      </a:r>
                    </a:p>
                  </a:txBody>
                  <a:tcPr marL="73152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前日・当日朝のリマインドでドタキャン防止</a:t>
                      </a:r>
                    </a:p>
                  </a:txBody>
                  <a:tcPr marL="73152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ブロック率</a:t>
                      </a:r>
                    </a:p>
                  </a:txBody>
                  <a:tcPr marL="73152" marR="36576" marT="9144" marB="9144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30%</a:t>
                      </a:r>
                    </a:p>
                  </a:txBody>
                  <a:tcPr marL="73152" marR="36576" marT="9144" marB="9144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80808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→</a:t>
                      </a:r>
                    </a:p>
                  </a:txBody>
                  <a:tcPr marL="73152" marR="36576" marT="9144" marB="9144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65C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15%以下</a:t>
                      </a:r>
                    </a:p>
                  </a:txBody>
                  <a:tcPr marL="73152" marR="36576" marT="9144" marB="9144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dirty="0" err="1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属性別セグメント配信でミスマッチ防止</a:t>
                      </a:r>
                      <a:endParaRPr sz="1050" dirty="0">
                        <a:solidFill>
                          <a:srgbClr val="343434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36576" marT="9144" marB="9144"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526280"/>
            <a:ext cx="8988552" cy="960120"/>
          </a:xfrm>
          <a:prstGeom prst="rect">
            <a:avLst/>
          </a:prstGeom>
          <a:solidFill>
            <a:srgbClr val="F4F7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来場者数の試算</a:t>
            </a:r>
            <a:endParaRPr sz="12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400" b="1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現状</a:t>
            </a:r>
            <a:r>
              <a:rPr sz="1400" b="1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 60名</a:t>
            </a:r>
            <a:r>
              <a:rPr sz="1050" dirty="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（予約100名×来場率60%）</a:t>
            </a:r>
            <a:r>
              <a:rPr sz="1200" dirty="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　→　</a:t>
            </a:r>
            <a:r>
              <a:rPr sz="2000" b="1" dirty="0" err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提案後</a:t>
            </a:r>
            <a:r>
              <a:rPr sz="2000" b="1" dirty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 90名</a:t>
            </a:r>
            <a:r>
              <a:rPr sz="1050" dirty="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（予約120名×来場率</a:t>
            </a:r>
            <a:r>
              <a:rPr lang="en-US" altLang="ja-JP" sz="1050" dirty="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80</a:t>
            </a:r>
            <a:r>
              <a:rPr sz="1050" dirty="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%）</a:t>
            </a:r>
            <a:r>
              <a:rPr sz="14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　＝ </a:t>
            </a:r>
            <a:r>
              <a:rPr sz="14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来場者数</a:t>
            </a:r>
            <a:r>
              <a:rPr sz="14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 +50%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14416"/>
            <a:ext cx="8988552" cy="777240"/>
          </a:xfrm>
          <a:prstGeom prst="rect">
            <a:avLst/>
          </a:prstGeom>
          <a:noFill/>
        </p:spPr>
        <p:txBody>
          <a:bodyPr wrap="square" lIns="0" tIns="27432" rIns="54864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※現状値は想定値、提案後は本施策の実行を前提とした目標値です（成果を保証するものではありません）</a:t>
            </a:r>
          </a:p>
          <a:p>
            <a:pPr algn="l">
              <a:spcAft>
                <a:spcPts val="200"/>
              </a:spcAft>
            </a:pPr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※来場率75%の目標は、他クライアント事例（予約→来場の引き上げ率6〜7割→8割程度）を参考に設定</a:t>
            </a:r>
          </a:p>
          <a:p>
            <a:pPr algn="l"/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参照元：貴社ご提供の前提数値および社内配信実績をもとに当社作成</a:t>
            </a:r>
          </a:p>
        </p:txBody>
      </p:sp>
    </p:spTree>
    <p:extLst>
      <p:ext uri="{BB962C8B-B14F-4D97-AF65-F5344CB8AC3E}">
        <p14:creationId xmlns:p14="http://schemas.microsoft.com/office/powerpoint/2010/main" val="143812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導入までの進め方（3フェーズ）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構築から運用まで3段階で推進し、2ヶ月後のイベントにて成果検証を行う</a:t>
            </a:r>
          </a:p>
        </p:txBody>
      </p:sp>
      <p:sp>
        <p:nvSpPr>
          <p:cNvPr id="8" name="Chevron 7"/>
          <p:cNvSpPr/>
          <p:nvPr/>
        </p:nvSpPr>
        <p:spPr>
          <a:xfrm>
            <a:off x="457200" y="1645920"/>
            <a:ext cx="2916936" cy="65836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09728" bIns="0" rtlCol="0" anchor="ctr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1｜設計・構築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（1ヶ月目）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2916936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64592" bIns="27432" rtlCol="0" anchor="t"/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・要件定義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・配信シナリオ作成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・リッチメニューデザイン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・アンケート設計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3493008" y="1645920"/>
            <a:ext cx="2916936" cy="65836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09728" bIns="0" rtlCol="0" anchor="ctr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2｜テスト・実装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（2ヶ月目）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3008" y="2468880"/>
            <a:ext cx="2916936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64592" bIns="27432" rtlCol="0" anchor="t"/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・アカウント設定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・LP導線改修（特典訴求の実装）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・Meta広告とのデータ連携設定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・配信テスト</a:t>
            </a:r>
          </a:p>
        </p:txBody>
      </p:sp>
      <p:sp>
        <p:nvSpPr>
          <p:cNvPr id="12" name="Chevron 11"/>
          <p:cNvSpPr/>
          <p:nvPr/>
        </p:nvSpPr>
        <p:spPr>
          <a:xfrm>
            <a:off x="6528816" y="1645920"/>
            <a:ext cx="2916936" cy="65836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09728" bIns="0" rtlCol="0" anchor="ctr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3｜実運用・改善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（3ヶ月目〜）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8816" y="2468880"/>
            <a:ext cx="2916936" cy="2651760"/>
          </a:xfrm>
          <a:prstGeom prst="rect">
            <a:avLst/>
          </a:prstGeom>
          <a:solidFill>
            <a:srgbClr val="F4F7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64592" bIns="27432" rtlCol="0" anchor="t"/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・転職フェアでの実運用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・アナリティクス分析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・改善施策の実行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94960"/>
            <a:ext cx="8988552" cy="5029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『しが就職・転職フェア』にて実運用 → 成果検証 → 次回開催へ改善を反映</a:t>
            </a:r>
          </a:p>
        </p:txBody>
      </p:sp>
    </p:spTree>
    <p:extLst>
      <p:ext uri="{BB962C8B-B14F-4D97-AF65-F5344CB8AC3E}">
        <p14:creationId xmlns:p14="http://schemas.microsoft.com/office/powerpoint/2010/main" val="2687779138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141596</TotalTime>
  <Words>671</Words>
  <Application>Microsoft Office PowerPoint</Application>
  <PresentationFormat>A4 210 x 297 mm</PresentationFormat>
  <Paragraphs>175</Paragraphs>
  <Slides>9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1921</cp:revision>
  <cp:lastPrinted>2022-11-01T11:38:14Z</cp:lastPrinted>
  <dcterms:created xsi:type="dcterms:W3CDTF">2015-09-04T09:21:15Z</dcterms:created>
  <dcterms:modified xsi:type="dcterms:W3CDTF">2026-08-04T02:01:22Z</dcterms:modified>
</cp:coreProperties>
</file>