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</p:sldIdLst>
  <p:sldSz cx="9902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902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902952" cy="685800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84124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メイリオ"/>
                <a:latin typeface="メイリオ"/>
                <a:ea typeface="メイリオ"/>
                <a:cs typeface="メイリオ"/>
              </a:rPr>
              <a:t>自動車求人Navi LINE公式アカウント運用のご提案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CCCCC"/>
                </a:solidFill>
                <a:latin typeface="メイリオ"/>
                <a:latin typeface="メイリオ"/>
                <a:ea typeface="メイリオ"/>
                <a:cs typeface="メイリオ"/>
              </a:rPr>
              <a:t>構成案（簡易スケルトン）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902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1280160" cy="36576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2801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latin typeface="メイリオ"/>
                <a:ea typeface="メイリオ"/>
                <a:cs typeface="メイリオ"/>
              </a:rPr>
              <a:t>導入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32004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333333"/>
                </a:solidFill>
                <a:latin typeface="メイリオ"/>
                <a:latin typeface="メイリオ"/>
                <a:ea typeface="メイリオ"/>
                <a:cs typeface="メイリオ"/>
              </a:rPr>
              <a:t>2/56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8961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2060"/>
                </a:solidFill>
                <a:latin typeface="メイリオ"/>
                <a:latin typeface="メイリオ"/>
                <a:ea typeface="メイリオ"/>
                <a:cs typeface="メイリオ"/>
              </a:rPr>
              <a:t>アジェンダ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8961120" cy="1905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8961120" cy="2926080"/>
          </a:xfrm>
          <a:prstGeom prst="rect">
            <a:avLst/>
          </a:prstGeom>
          <a:solidFill>
            <a:srgbClr val="F4F7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057400"/>
            <a:ext cx="832104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メイリオ"/>
                <a:latin typeface="メイリオ"/>
                <a:ea typeface="メイリオ"/>
                <a:cs typeface="メイリオ"/>
              </a:rPr>
              <a:t>業界の課題→貴社の現状→全体設計→施策→効果・費用の順に進め、最後に弊社の運用のご案内（汎用）をまとめる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902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1280160" cy="36576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2801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latin typeface="メイリオ"/>
                <a:ea typeface="メイリオ"/>
                <a:cs typeface="メイリオ"/>
              </a:rPr>
              <a:t>1章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32004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333333"/>
                </a:solidFill>
                <a:latin typeface="メイリオ"/>
                <a:latin typeface="メイリオ"/>
                <a:ea typeface="メイリオ"/>
                <a:cs typeface="メイリオ"/>
              </a:rPr>
              <a:t>3/56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8961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2060"/>
                </a:solidFill>
                <a:latin typeface="メイリオ"/>
                <a:latin typeface="メイリオ"/>
                <a:ea typeface="メイリオ"/>
                <a:cs typeface="メイリオ"/>
              </a:rPr>
              <a:t>整備士は超売り手市場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8961120" cy="1905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8961120" cy="2926080"/>
          </a:xfrm>
          <a:prstGeom prst="rect">
            <a:avLst/>
          </a:prstGeom>
          <a:solidFill>
            <a:srgbClr val="F4F7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057400"/>
            <a:ext cx="832104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メイリオ"/>
                <a:latin typeface="メイリオ"/>
                <a:ea typeface="メイリオ"/>
                <a:cs typeface="メイリオ"/>
              </a:rPr>
              <a:t>求人倍率5.46倍。事業者の約6割が人手不足を感じている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902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1280160" cy="36576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2801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latin typeface="メイリオ"/>
                <a:ea typeface="メイリオ"/>
                <a:cs typeface="メイリオ"/>
              </a:rPr>
              <a:t>1章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32004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333333"/>
                </a:solidFill>
                <a:latin typeface="メイリオ"/>
                <a:latin typeface="メイリオ"/>
                <a:ea typeface="メイリオ"/>
                <a:cs typeface="メイリオ"/>
              </a:rPr>
              <a:t>4/56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8961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2060"/>
                </a:solidFill>
                <a:latin typeface="メイリオ"/>
                <a:latin typeface="メイリオ"/>
                <a:ea typeface="メイリオ"/>
                <a:cs typeface="メイリオ"/>
              </a:rPr>
              <a:t>担い手が増えない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8961120" cy="1905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8961120" cy="2926080"/>
          </a:xfrm>
          <a:prstGeom prst="rect">
            <a:avLst/>
          </a:prstGeom>
          <a:solidFill>
            <a:srgbClr val="F4F7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057400"/>
            <a:ext cx="832104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メイリオ"/>
                <a:latin typeface="メイリオ"/>
                <a:ea typeface="メイリオ"/>
                <a:cs typeface="メイリオ"/>
              </a:rPr>
              <a:t>整備学校の入学者は約4割減、平均年齢は47.2歳。有資格者の取り合いは続く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902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1280160" cy="36576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2801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latin typeface="メイリオ"/>
                <a:ea typeface="メイリオ"/>
                <a:cs typeface="メイリオ"/>
              </a:rPr>
              <a:t>1章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32004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333333"/>
                </a:solidFill>
                <a:latin typeface="メイリオ"/>
                <a:latin typeface="メイリオ"/>
                <a:ea typeface="メイリオ"/>
                <a:cs typeface="メイリオ"/>
              </a:rPr>
              <a:t>5/56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8961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2060"/>
                </a:solidFill>
                <a:latin typeface="メイリオ"/>
                <a:latin typeface="メイリオ"/>
                <a:ea typeface="メイリオ"/>
                <a:cs typeface="メイリオ"/>
              </a:rPr>
              <a:t>職種ごとの採用難易度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8961120" cy="1905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8961120" cy="2926080"/>
          </a:xfrm>
          <a:prstGeom prst="rect">
            <a:avLst/>
          </a:prstGeom>
          <a:solidFill>
            <a:srgbClr val="F4F7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057400"/>
            <a:ext cx="832104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メイリオ"/>
                <a:latin typeface="メイリオ"/>
                <a:ea typeface="メイリオ"/>
                <a:cs typeface="メイリオ"/>
              </a:rPr>
              <a:t>営業は12.55倍で整備士以上に不足、受付は0.96倍で人が集まる。全職種を対象にしつつ、主役は整備士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902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1280160" cy="36576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2801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latin typeface="メイリオ"/>
                <a:ea typeface="メイリオ"/>
                <a:cs typeface="メイリオ"/>
              </a:rPr>
              <a:t>1章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32004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333333"/>
                </a:solidFill>
                <a:latin typeface="メイリオ"/>
                <a:latin typeface="メイリオ"/>
                <a:ea typeface="メイリオ"/>
                <a:cs typeface="メイリオ"/>
              </a:rPr>
              <a:t>6/56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8961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2060"/>
                </a:solidFill>
                <a:latin typeface="メイリオ"/>
                <a:latin typeface="メイリオ"/>
                <a:ea typeface="メイリオ"/>
                <a:cs typeface="メイリオ"/>
              </a:rPr>
              <a:t>採用側の悩み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8961120" cy="1905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8961120" cy="2926080"/>
          </a:xfrm>
          <a:prstGeom prst="rect">
            <a:avLst/>
          </a:prstGeom>
          <a:solidFill>
            <a:srgbClr val="F4F7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057400"/>
            <a:ext cx="832104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メイリオ"/>
                <a:latin typeface="メイリオ"/>
                <a:ea typeface="メイリオ"/>
                <a:cs typeface="メイリオ"/>
              </a:rPr>
              <a:t>「応募が少ない」52.4%、「条件に合う人が来ない」42.9%。数と質の両方に手を打つ必要がある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902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1280160" cy="36576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2801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latin typeface="メイリオ"/>
                <a:ea typeface="メイリオ"/>
                <a:cs typeface="メイリオ"/>
              </a:rPr>
              <a:t>2章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32004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333333"/>
                </a:solidFill>
                <a:latin typeface="メイリオ"/>
                <a:latin typeface="メイリオ"/>
                <a:ea typeface="メイリオ"/>
                <a:cs typeface="メイリオ"/>
              </a:rPr>
              <a:t>7/56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8961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2060"/>
                </a:solidFill>
                <a:latin typeface="メイリオ"/>
                <a:latin typeface="メイリオ"/>
                <a:ea typeface="メイリオ"/>
                <a:cs typeface="メイリオ"/>
              </a:rPr>
              <a:t>3つの経路を併用して比べている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8961120" cy="1905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8961120" cy="2926080"/>
          </a:xfrm>
          <a:prstGeom prst="rect">
            <a:avLst/>
          </a:prstGeom>
          <a:solidFill>
            <a:srgbClr val="F4F7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057400"/>
            <a:ext cx="832104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メイリオ"/>
                <a:latin typeface="メイリオ"/>
                <a:ea typeface="メイリオ"/>
                <a:cs typeface="メイリオ"/>
              </a:rPr>
              <a:t>エージェント35%・総合34%・特化33%。特化サイトに来る人の84%は有資格者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902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1280160" cy="36576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2801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latin typeface="メイリオ"/>
                <a:ea typeface="メイリオ"/>
                <a:cs typeface="メイリオ"/>
              </a:rPr>
              <a:t>2章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32004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333333"/>
                </a:solidFill>
                <a:latin typeface="メイリオ"/>
                <a:latin typeface="メイリオ"/>
                <a:ea typeface="メイリオ"/>
                <a:cs typeface="メイリオ"/>
              </a:rPr>
              <a:t>8/56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8961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2060"/>
                </a:solidFill>
                <a:latin typeface="メイリオ"/>
                <a:latin typeface="メイリオ"/>
                <a:ea typeface="メイリオ"/>
                <a:cs typeface="メイリオ"/>
              </a:rPr>
              <a:t>比べる軸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8961120" cy="1905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8961120" cy="2926080"/>
          </a:xfrm>
          <a:prstGeom prst="rect">
            <a:avLst/>
          </a:prstGeom>
          <a:solidFill>
            <a:srgbClr val="F4F7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057400"/>
            <a:ext cx="832104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メイリオ"/>
                <a:latin typeface="メイリオ"/>
                <a:ea typeface="メイリオ"/>
                <a:cs typeface="メイリオ"/>
              </a:rPr>
              <a:t>転職理由の1位は給与。軸は地域・給与・休日・資格との適合・資格取得支援・相談のしやすさ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902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1280160" cy="36576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2801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latin typeface="メイリオ"/>
                <a:ea typeface="メイリオ"/>
                <a:cs typeface="メイリオ"/>
              </a:rPr>
              <a:t>2章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32004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333333"/>
                </a:solidFill>
                <a:latin typeface="メイリオ"/>
                <a:latin typeface="メイリオ"/>
                <a:ea typeface="メイリオ"/>
                <a:cs typeface="メイリオ"/>
              </a:rPr>
              <a:t>9/56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8961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2060"/>
                </a:solidFill>
                <a:latin typeface="メイリオ"/>
                <a:latin typeface="メイリオ"/>
                <a:ea typeface="メイリオ"/>
                <a:cs typeface="メイリオ"/>
              </a:rPr>
              <a:t>検索は一年中ある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8961120" cy="1905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8961120" cy="2926080"/>
          </a:xfrm>
          <a:prstGeom prst="rect">
            <a:avLst/>
          </a:prstGeom>
          <a:solidFill>
            <a:srgbClr val="F4F7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057400"/>
            <a:ext cx="832104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メイリオ"/>
                <a:latin typeface="メイリオ"/>
                <a:ea typeface="メイリオ"/>
                <a:cs typeface="メイリオ"/>
              </a:rPr>
              <a:t>山は3月、谷は12月だが差は約1.4倍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902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1280160" cy="36576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2801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latin typeface="メイリオ"/>
                <a:ea typeface="メイリオ"/>
                <a:cs typeface="メイリオ"/>
              </a:rPr>
              <a:t>2章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32004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333333"/>
                </a:solidFill>
                <a:latin typeface="メイリオ"/>
                <a:latin typeface="メイリオ"/>
                <a:ea typeface="メイリオ"/>
                <a:cs typeface="メイリオ"/>
              </a:rPr>
              <a:t>10/56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8961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2060"/>
                </a:solidFill>
                <a:latin typeface="メイリオ"/>
                <a:latin typeface="メイリオ"/>
                <a:ea typeface="メイリオ"/>
                <a:cs typeface="メイリオ"/>
              </a:rPr>
              <a:t>前後検索①「カーディーラー」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8961120" cy="1905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8961120" cy="2926080"/>
          </a:xfrm>
          <a:prstGeom prst="rect">
            <a:avLst/>
          </a:prstGeom>
          <a:solidFill>
            <a:srgbClr val="F4F7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057400"/>
            <a:ext cx="832104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メイリオ"/>
                <a:latin typeface="メイリオ"/>
                <a:ea typeface="メイリオ"/>
                <a:cs typeface="メイリオ"/>
              </a:rPr>
              <a:t>働くことへの関心が出るが、車の購入の検索に埋もれて広告では狙いにくい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902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1280160" cy="36576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2801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latin typeface="メイリオ"/>
                <a:ea typeface="メイリオ"/>
                <a:cs typeface="メイリオ"/>
              </a:rPr>
              <a:t>2章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32004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333333"/>
                </a:solidFill>
                <a:latin typeface="メイリオ"/>
                <a:latin typeface="メイリオ"/>
                <a:ea typeface="メイリオ"/>
                <a:cs typeface="メイリオ"/>
              </a:rPr>
              <a:t>11/56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8961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2060"/>
                </a:solidFill>
                <a:latin typeface="メイリオ"/>
                <a:latin typeface="メイリオ"/>
                <a:ea typeface="メイリオ"/>
                <a:cs typeface="メイリオ"/>
              </a:rPr>
              <a:t>前後検索②「自動車整備士」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8961120" cy="1905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8961120" cy="2926080"/>
          </a:xfrm>
          <a:prstGeom prst="rect">
            <a:avLst/>
          </a:prstGeom>
          <a:solidFill>
            <a:srgbClr val="F4F7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057400"/>
            <a:ext cx="832104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メイリオ"/>
                <a:latin typeface="メイリオ"/>
                <a:ea typeface="メイリオ"/>
                <a:cs typeface="メイリオ"/>
              </a:rPr>
              <a:t>検索前後の悩みから、LINEで届ける内容と順番を決める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937760"/>
            <a:ext cx="8961120" cy="502920"/>
          </a:xfrm>
          <a:prstGeom prst="rect">
            <a:avLst/>
          </a:prstGeom>
          <a:solidFill>
            <a:srgbClr val="FFF3CD"/>
          </a:solidFill>
          <a:ln w="9525">
            <a:solidFill>
              <a:srgbClr val="E0B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937760"/>
            <a:ext cx="8595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996600"/>
                </a:solidFill>
                <a:latin typeface="メイリオ"/>
                <a:latin typeface="メイリオ"/>
                <a:ea typeface="メイリオ"/>
                <a:cs typeface="メイリオ"/>
              </a:rPr>
              <a:t>⚠ 差し込み待ち：LINEヤフー前後検索「自動車整備士」未取得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902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1280160" cy="36576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2801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latin typeface="メイリオ"/>
                <a:ea typeface="メイリオ"/>
                <a:cs typeface="メイリオ"/>
              </a:rPr>
              <a:t>2章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32004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333333"/>
                </a:solidFill>
                <a:latin typeface="メイリオ"/>
                <a:latin typeface="メイリオ"/>
                <a:ea typeface="メイリオ"/>
                <a:cs typeface="メイリオ"/>
              </a:rPr>
              <a:t>12/56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8961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2060"/>
                </a:solidFill>
                <a:latin typeface="メイリオ"/>
                <a:latin typeface="メイリオ"/>
                <a:ea typeface="メイリオ"/>
                <a:cs typeface="メイリオ"/>
              </a:rPr>
              <a:t>他社のLINE活用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8961120" cy="1905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8961120" cy="2926080"/>
          </a:xfrm>
          <a:prstGeom prst="rect">
            <a:avLst/>
          </a:prstGeom>
          <a:solidFill>
            <a:srgbClr val="F4F7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057400"/>
            <a:ext cx="832104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メイリオ"/>
                <a:latin typeface="メイリオ"/>
                <a:ea typeface="メイリオ"/>
                <a:cs typeface="メイリオ"/>
              </a:rPr>
              <a:t>総合大手はLINEで大規模に求職者を抱えている。整備士特化で本格的に使っている所はまだ少ない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902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1280160" cy="36576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2801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latin typeface="メイリオ"/>
                <a:ea typeface="メイリオ"/>
                <a:cs typeface="メイリオ"/>
              </a:rPr>
              <a:t>2章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32004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333333"/>
                </a:solidFill>
                <a:latin typeface="メイリオ"/>
                <a:latin typeface="メイリオ"/>
                <a:ea typeface="メイリオ"/>
                <a:cs typeface="メイリオ"/>
              </a:rPr>
              <a:t>13/56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8961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2060"/>
                </a:solidFill>
                <a:latin typeface="メイリオ"/>
                <a:latin typeface="メイリオ"/>
                <a:ea typeface="メイリオ"/>
                <a:cs typeface="メイリオ"/>
              </a:rPr>
              <a:t>まとめ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8961120" cy="1905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8961120" cy="2926080"/>
          </a:xfrm>
          <a:prstGeom prst="rect">
            <a:avLst/>
          </a:prstGeom>
          <a:solidFill>
            <a:srgbClr val="F4F7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057400"/>
            <a:ext cx="832104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メイリオ"/>
                <a:latin typeface="メイリオ"/>
                <a:ea typeface="メイリオ"/>
                <a:cs typeface="メイリオ"/>
              </a:rPr>
              <a:t>広告を増やすより「来た人を逃さない受け皿」が効く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902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1280160" cy="36576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2801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latin typeface="メイリオ"/>
                <a:ea typeface="メイリオ"/>
                <a:cs typeface="メイリオ"/>
              </a:rPr>
              <a:t>3章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32004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333333"/>
                </a:solidFill>
                <a:latin typeface="メイリオ"/>
                <a:latin typeface="メイリオ"/>
                <a:ea typeface="メイリオ"/>
                <a:cs typeface="メイリオ"/>
              </a:rPr>
              <a:t>14/56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8961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2060"/>
                </a:solidFill>
                <a:latin typeface="メイリオ"/>
                <a:latin typeface="メイリオ"/>
                <a:ea typeface="メイリオ"/>
                <a:cs typeface="メイリオ"/>
              </a:rPr>
              <a:t>貴社の強み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8961120" cy="1905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8961120" cy="2926080"/>
          </a:xfrm>
          <a:prstGeom prst="rect">
            <a:avLst/>
          </a:prstGeom>
          <a:solidFill>
            <a:srgbClr val="F4F7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057400"/>
            <a:ext cx="832104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メイリオ"/>
                <a:latin typeface="メイリオ"/>
                <a:ea typeface="メイリオ"/>
                <a:cs typeface="メイリオ"/>
              </a:rPr>
              <a:t>オートバックスグループの信頼、転職支援、資格取得支援。選ばれる材料はすでにそろっている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902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1280160" cy="36576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2801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latin typeface="メイリオ"/>
                <a:ea typeface="メイリオ"/>
                <a:cs typeface="メイリオ"/>
              </a:rPr>
              <a:t>3章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32004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333333"/>
                </a:solidFill>
                <a:latin typeface="メイリオ"/>
                <a:latin typeface="メイリオ"/>
                <a:ea typeface="メイリオ"/>
                <a:cs typeface="メイリオ"/>
              </a:rPr>
              <a:t>15/56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8961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2060"/>
                </a:solidFill>
                <a:latin typeface="メイリオ"/>
                <a:latin typeface="メイリオ"/>
                <a:ea typeface="メイリオ"/>
                <a:cs typeface="メイリオ"/>
              </a:rPr>
              <a:t>今の受け皿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8961120" cy="1905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8961120" cy="2926080"/>
          </a:xfrm>
          <a:prstGeom prst="rect">
            <a:avLst/>
          </a:prstGeom>
          <a:solidFill>
            <a:srgbClr val="F4F7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057400"/>
            <a:ext cx="832104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メイリオ"/>
                <a:latin typeface="メイリオ"/>
                <a:ea typeface="メイリオ"/>
                <a:cs typeface="メイリオ"/>
              </a:rPr>
              <a:t>入口は「応募」か「転職支援の申込」の2つだけ。比べている途中の人が残る場所がない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902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1280160" cy="36576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2801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latin typeface="メイリオ"/>
                <a:ea typeface="メイリオ"/>
                <a:cs typeface="メイリオ"/>
              </a:rPr>
              <a:t>3章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32004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333333"/>
                </a:solidFill>
                <a:latin typeface="メイリオ"/>
                <a:latin typeface="メイリオ"/>
                <a:ea typeface="メイリオ"/>
                <a:cs typeface="メイリオ"/>
              </a:rPr>
              <a:t>16/56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8961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2060"/>
                </a:solidFill>
                <a:latin typeface="メイリオ"/>
                <a:latin typeface="メイリオ"/>
                <a:ea typeface="メイリオ"/>
                <a:cs typeface="メイリオ"/>
              </a:rPr>
              <a:t>今の数字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8961120" cy="1905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8961120" cy="2926080"/>
          </a:xfrm>
          <a:prstGeom prst="rect">
            <a:avLst/>
          </a:prstGeom>
          <a:solidFill>
            <a:srgbClr val="F4F7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057400"/>
            <a:ext cx="832104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メイリオ"/>
                <a:latin typeface="メイリオ"/>
                <a:ea typeface="メイリオ"/>
                <a:cs typeface="メイリオ"/>
              </a:rPr>
              <a:t>整備士の応募単価は6万円（目標は2〜2.5万円）。登録はほぼ発生しておらず、登録と応募を分けて見られていない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902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1280160" cy="36576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2801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latin typeface="メイリオ"/>
                <a:ea typeface="メイリオ"/>
                <a:cs typeface="メイリオ"/>
              </a:rPr>
              <a:t>3章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32004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333333"/>
                </a:solidFill>
                <a:latin typeface="メイリオ"/>
                <a:latin typeface="メイリオ"/>
                <a:ea typeface="メイリオ"/>
                <a:cs typeface="メイリオ"/>
              </a:rPr>
              <a:t>17/56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8961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2060"/>
                </a:solidFill>
                <a:latin typeface="メイリオ"/>
                <a:latin typeface="メイリオ"/>
                <a:ea typeface="メイリオ"/>
                <a:cs typeface="メイリオ"/>
              </a:rPr>
              <a:t>できること・できないこと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8961120" cy="1905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8961120" cy="2926080"/>
          </a:xfrm>
          <a:prstGeom prst="rect">
            <a:avLst/>
          </a:prstGeom>
          <a:solidFill>
            <a:srgbClr val="F4F7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057400"/>
            <a:ext cx="832104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メイリオ"/>
                <a:latin typeface="メイリオ"/>
                <a:ea typeface="メイリオ"/>
                <a:cs typeface="メイリオ"/>
              </a:rPr>
              <a:t>市場の倍率や広告単価は変えられない。来た人を残す・登録を軽くする・応募まで追うことはできる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902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1280160" cy="36576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2801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latin typeface="メイリオ"/>
                <a:ea typeface="メイリオ"/>
                <a:cs typeface="メイリオ"/>
              </a:rPr>
              <a:t>4章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32004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333333"/>
                </a:solidFill>
                <a:latin typeface="メイリオ"/>
                <a:latin typeface="メイリオ"/>
                <a:ea typeface="メイリオ"/>
                <a:cs typeface="メイリオ"/>
              </a:rPr>
              <a:t>18/56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8961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2060"/>
                </a:solidFill>
                <a:latin typeface="メイリオ"/>
                <a:latin typeface="メイリオ"/>
                <a:ea typeface="メイリオ"/>
                <a:cs typeface="メイリオ"/>
              </a:rPr>
              <a:t>最適解は、実績のある型をお手本にすること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8961120" cy="1905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8961120" cy="2926080"/>
          </a:xfrm>
          <a:prstGeom prst="rect">
            <a:avLst/>
          </a:prstGeom>
          <a:solidFill>
            <a:srgbClr val="F4F7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057400"/>
            <a:ext cx="832104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メイリオ"/>
                <a:latin typeface="メイリオ"/>
                <a:ea typeface="メイリオ"/>
                <a:cs typeface="メイリオ"/>
              </a:rPr>
              <a:t>お手本はタウンワーク。リッチメニューで条件を選んですぐ求人を探せるようにし、応募数が79%増えた（LINEヤフー公式）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902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1280160" cy="36576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2801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latin typeface="メイリオ"/>
                <a:ea typeface="メイリオ"/>
                <a:cs typeface="メイリオ"/>
              </a:rPr>
              <a:t>4章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32004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333333"/>
                </a:solidFill>
                <a:latin typeface="メイリオ"/>
                <a:latin typeface="メイリオ"/>
                <a:ea typeface="メイリオ"/>
                <a:cs typeface="メイリオ"/>
              </a:rPr>
              <a:t>19/56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8961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2060"/>
                </a:solidFill>
                <a:latin typeface="メイリオ"/>
                <a:latin typeface="メイリオ"/>
                <a:ea typeface="メイリオ"/>
                <a:cs typeface="メイリオ"/>
              </a:rPr>
              <a:t>貴社向けに変えるところ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8961120" cy="1905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8961120" cy="2926080"/>
          </a:xfrm>
          <a:prstGeom prst="rect">
            <a:avLst/>
          </a:prstGeom>
          <a:solidFill>
            <a:srgbClr val="F4F7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057400"/>
            <a:ext cx="832104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メイリオ"/>
                <a:latin typeface="メイリオ"/>
                <a:ea typeface="メイリオ"/>
                <a:cs typeface="メイリオ"/>
              </a:rPr>
              <a:t>①LINEだけで登録が完了する（タウンワークはリクルートIDが必要）②条件は整備士向け③LINEを通らずに応募した人も通知メッセージでLINEに集める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902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1280160" cy="36576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2801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latin typeface="メイリオ"/>
                <a:ea typeface="メイリオ"/>
                <a:cs typeface="メイリオ"/>
              </a:rPr>
              <a:t>4章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32004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333333"/>
                </a:solidFill>
                <a:latin typeface="メイリオ"/>
                <a:latin typeface="メイリオ"/>
                <a:ea typeface="メイリオ"/>
                <a:cs typeface="メイリオ"/>
              </a:rPr>
              <a:t>20/56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8961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2060"/>
                </a:solidFill>
                <a:latin typeface="メイリオ"/>
                <a:latin typeface="メイリオ"/>
                <a:ea typeface="メイリオ"/>
                <a:cs typeface="メイリオ"/>
              </a:rPr>
              <a:t>業界課題と施策の対応表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8961120" cy="1905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8961120" cy="2926080"/>
          </a:xfrm>
          <a:prstGeom prst="rect">
            <a:avLst/>
          </a:prstGeom>
          <a:solidFill>
            <a:srgbClr val="F4F7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057400"/>
            <a:ext cx="832104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メイリオ"/>
                <a:latin typeface="メイリオ"/>
                <a:ea typeface="メイリオ"/>
                <a:cs typeface="メイリオ"/>
              </a:rPr>
              <a:t>課題一つひとつに、だから何をするかを対応させる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902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1280160" cy="36576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2801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latin typeface="メイリオ"/>
                <a:ea typeface="メイリオ"/>
                <a:cs typeface="メイリオ"/>
              </a:rPr>
              <a:t>4章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32004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333333"/>
                </a:solidFill>
                <a:latin typeface="メイリオ"/>
                <a:latin typeface="メイリオ"/>
                <a:ea typeface="メイリオ"/>
                <a:cs typeface="メイリオ"/>
              </a:rPr>
              <a:t>21/56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8961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2060"/>
                </a:solidFill>
                <a:latin typeface="メイリオ"/>
                <a:latin typeface="メイリオ"/>
                <a:ea typeface="メイリオ"/>
                <a:cs typeface="メイリオ"/>
              </a:rPr>
              <a:t>8フェーズ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8961120" cy="1905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8961120" cy="2926080"/>
          </a:xfrm>
          <a:prstGeom prst="rect">
            <a:avLst/>
          </a:prstGeom>
          <a:solidFill>
            <a:srgbClr val="F4F7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057400"/>
            <a:ext cx="832104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メイリオ"/>
                <a:latin typeface="メイリオ"/>
                <a:ea typeface="メイリオ"/>
                <a:cs typeface="メイリオ"/>
              </a:rPr>
              <a:t>取りこぼしが起きている「サイト離脱」と「登録から応募まで」にLINEを置く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902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1280160" cy="36576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2801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latin typeface="メイリオ"/>
                <a:ea typeface="メイリオ"/>
                <a:cs typeface="メイリオ"/>
              </a:rPr>
              <a:t>4章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32004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333333"/>
                </a:solidFill>
                <a:latin typeface="メイリオ"/>
                <a:latin typeface="メイリオ"/>
                <a:ea typeface="メイリオ"/>
                <a:cs typeface="メイリオ"/>
              </a:rPr>
              <a:t>22/56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8961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2060"/>
                </a:solidFill>
                <a:latin typeface="メイリオ"/>
                <a:latin typeface="メイリオ"/>
                <a:ea typeface="メイリオ"/>
                <a:cs typeface="メイリオ"/>
              </a:rPr>
              <a:t>CVの置き方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8961120" cy="1905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8961120" cy="2926080"/>
          </a:xfrm>
          <a:prstGeom prst="rect">
            <a:avLst/>
          </a:prstGeom>
          <a:solidFill>
            <a:srgbClr val="F4F7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057400"/>
            <a:ext cx="832104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メイリオ"/>
                <a:latin typeface="メイリオ"/>
                <a:ea typeface="メイリオ"/>
                <a:cs typeface="メイリオ"/>
              </a:rPr>
              <a:t>CV①は「LINEで登録」で完了（LINEアカウントが会員証になる）、CV②は応募。職種・資格・エリアは登録後にLINEで聞く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902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1280160" cy="36576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2801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latin typeface="メイリオ"/>
                <a:ea typeface="メイリオ"/>
                <a:cs typeface="メイリオ"/>
              </a:rPr>
              <a:t>4章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32004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333333"/>
                </a:solidFill>
                <a:latin typeface="メイリオ"/>
                <a:latin typeface="メイリオ"/>
                <a:ea typeface="メイリオ"/>
                <a:cs typeface="メイリオ"/>
              </a:rPr>
              <a:t>23/56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8961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2060"/>
                </a:solidFill>
                <a:latin typeface="メイリオ"/>
                <a:latin typeface="メイリオ"/>
                <a:ea typeface="メイリオ"/>
                <a:cs typeface="メイリオ"/>
              </a:rPr>
              <a:t>規模の近い参考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8961120" cy="1905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8961120" cy="2926080"/>
          </a:xfrm>
          <a:prstGeom prst="rect">
            <a:avLst/>
          </a:prstGeom>
          <a:solidFill>
            <a:srgbClr val="F4F7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057400"/>
            <a:ext cx="832104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メイリオ"/>
                <a:latin typeface="メイリオ"/>
                <a:ea typeface="メイリオ"/>
                <a:cs typeface="メイリオ"/>
              </a:rPr>
              <a:t>特化型の求人サイト（保育box）では、LINEの応募率がメルマガの5倍（1.25%と0.25%）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902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1280160" cy="36576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2801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latin typeface="メイリオ"/>
                <a:ea typeface="メイリオ"/>
                <a:cs typeface="メイリオ"/>
              </a:rPr>
              <a:t>4章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32004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333333"/>
                </a:solidFill>
                <a:latin typeface="メイリオ"/>
                <a:latin typeface="メイリオ"/>
                <a:ea typeface="メイリオ"/>
                <a:cs typeface="メイリオ"/>
              </a:rPr>
              <a:t>24/56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8961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2060"/>
                </a:solidFill>
                <a:latin typeface="メイリオ"/>
                <a:latin typeface="メイリオ"/>
                <a:ea typeface="メイリオ"/>
                <a:cs typeface="メイリオ"/>
              </a:rPr>
              <a:t>サイトリニューアルの要件3点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8961120" cy="1905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8961120" cy="2926080"/>
          </a:xfrm>
          <a:prstGeom prst="rect">
            <a:avLst/>
          </a:prstGeom>
          <a:solidFill>
            <a:srgbClr val="F4F7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057400"/>
            <a:ext cx="832104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メイリオ"/>
                <a:latin typeface="メイリオ"/>
                <a:ea typeface="メイリオ"/>
                <a:cs typeface="メイリオ"/>
              </a:rPr>
              <a:t>①「LINEで登録・ログイン」②会員名簿にLINEの番号を保存し、条件で選んで送れるようにする ③条件別の検索結果ページ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902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1280160" cy="36576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2801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latin typeface="メイリオ"/>
                <a:ea typeface="メイリオ"/>
                <a:cs typeface="メイリオ"/>
              </a:rPr>
              <a:t>4章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32004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333333"/>
                </a:solidFill>
                <a:latin typeface="メイリオ"/>
                <a:latin typeface="メイリオ"/>
                <a:ea typeface="メイリオ"/>
                <a:cs typeface="メイリオ"/>
              </a:rPr>
              <a:t>25/56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8961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2060"/>
                </a:solidFill>
                <a:latin typeface="メイリオ"/>
                <a:latin typeface="メイリオ"/>
                <a:ea typeface="メイリオ"/>
                <a:cs typeface="メイリオ"/>
              </a:rPr>
              <a:t>LINE連携で必要なこと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8961120" cy="1905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8961120" cy="2926080"/>
          </a:xfrm>
          <a:prstGeom prst="rect">
            <a:avLst/>
          </a:prstGeom>
          <a:solidFill>
            <a:srgbClr val="F4F7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057400"/>
            <a:ext cx="832104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メイリオ"/>
                <a:latin typeface="メイリオ"/>
                <a:ea typeface="メイリオ"/>
                <a:cs typeface="メイリオ"/>
              </a:rPr>
              <a:t>開発はDYMで対応可能（都度見積もり）。貴社には取得する項目と運用ルールを決めていただく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902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1280160" cy="36576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2801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latin typeface="メイリオ"/>
                <a:ea typeface="メイリオ"/>
                <a:cs typeface="メイリオ"/>
              </a:rPr>
              <a:t>4章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32004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333333"/>
                </a:solidFill>
                <a:latin typeface="メイリオ"/>
                <a:latin typeface="メイリオ"/>
                <a:ea typeface="メイリオ"/>
                <a:cs typeface="メイリオ"/>
              </a:rPr>
              <a:t>26/56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8961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2060"/>
                </a:solidFill>
                <a:latin typeface="メイリオ"/>
                <a:latin typeface="メイリオ"/>
                <a:ea typeface="メイリオ"/>
                <a:cs typeface="メイリオ"/>
              </a:rPr>
              <a:t>施策の全体像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8961120" cy="1905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8961120" cy="2926080"/>
          </a:xfrm>
          <a:prstGeom prst="rect">
            <a:avLst/>
          </a:prstGeom>
          <a:solidFill>
            <a:srgbClr val="F4F7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057400"/>
            <a:ext cx="832104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メイリオ"/>
                <a:latin typeface="メイリオ"/>
                <a:ea typeface="メイリオ"/>
                <a:cs typeface="メイリオ"/>
              </a:rPr>
              <a:t>広告で呼び込み、サイトで受け止め、LINEで残して登録・応募・面談まで運ぶ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902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1280160" cy="36576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2801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latin typeface="メイリオ"/>
                <a:ea typeface="メイリオ"/>
                <a:cs typeface="メイリオ"/>
              </a:rPr>
              <a:t>5章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32004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333333"/>
                </a:solidFill>
                <a:latin typeface="メイリオ"/>
                <a:latin typeface="メイリオ"/>
                <a:ea typeface="メイリオ"/>
                <a:cs typeface="メイリオ"/>
              </a:rPr>
              <a:t>27/56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8961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2060"/>
                </a:solidFill>
                <a:latin typeface="メイリオ"/>
                <a:latin typeface="メイリオ"/>
                <a:ea typeface="メイリオ"/>
                <a:cs typeface="メイリオ"/>
              </a:rPr>
              <a:t>友だち追加の動線一覧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8961120" cy="1905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8961120" cy="2926080"/>
          </a:xfrm>
          <a:prstGeom prst="rect">
            <a:avLst/>
          </a:prstGeom>
          <a:solidFill>
            <a:srgbClr val="F4F7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057400"/>
            <a:ext cx="832104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メイリオ"/>
                <a:latin typeface="メイリオ"/>
                <a:ea typeface="メイリオ"/>
                <a:cs typeface="メイリオ"/>
              </a:rPr>
              <a:t>「離脱防止」「LINEで登録ボタン」「完了画面」の3本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902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1280160" cy="36576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2801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latin typeface="メイリオ"/>
                <a:ea typeface="メイリオ"/>
                <a:cs typeface="メイリオ"/>
              </a:rPr>
              <a:t>5章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32004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333333"/>
                </a:solidFill>
                <a:latin typeface="メイリオ"/>
                <a:latin typeface="メイリオ"/>
                <a:ea typeface="メイリオ"/>
                <a:cs typeface="メイリオ"/>
              </a:rPr>
              <a:t>28/56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8961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2060"/>
                </a:solidFill>
                <a:latin typeface="メイリオ"/>
                <a:latin typeface="メイリオ"/>
                <a:ea typeface="メイリオ"/>
                <a:cs typeface="メイリオ"/>
              </a:rPr>
              <a:t>動線00 離脱防止ポップアップ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8961120" cy="1905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8961120" cy="2926080"/>
          </a:xfrm>
          <a:prstGeom prst="rect">
            <a:avLst/>
          </a:prstGeom>
          <a:solidFill>
            <a:srgbClr val="F4F7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057400"/>
            <a:ext cx="832104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メイリオ"/>
                <a:latin typeface="メイリオ"/>
                <a:ea typeface="メイリオ"/>
                <a:cs typeface="メイリオ"/>
              </a:rPr>
              <a:t>帰ろうとした人に「新着求人をLINEで受け取る」を出し、応募しなかった人も残す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902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1280160" cy="36576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2801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latin typeface="メイリオ"/>
                <a:ea typeface="メイリオ"/>
                <a:cs typeface="メイリオ"/>
              </a:rPr>
              <a:t>5章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32004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333333"/>
                </a:solidFill>
                <a:latin typeface="メイリオ"/>
                <a:latin typeface="メイリオ"/>
                <a:ea typeface="メイリオ"/>
                <a:cs typeface="メイリオ"/>
              </a:rPr>
              <a:t>29/56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8961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2060"/>
                </a:solidFill>
                <a:latin typeface="メイリオ"/>
                <a:latin typeface="メイリオ"/>
                <a:ea typeface="メイリオ"/>
                <a:cs typeface="メイリオ"/>
              </a:rPr>
              <a:t>動線01「LINEで登録」ボタン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8961120" cy="1905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8961120" cy="2926080"/>
          </a:xfrm>
          <a:prstGeom prst="rect">
            <a:avLst/>
          </a:prstGeom>
          <a:solidFill>
            <a:srgbClr val="F4F7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057400"/>
            <a:ext cx="832104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メイリオ"/>
                <a:latin typeface="メイリオ"/>
                <a:ea typeface="メイリオ"/>
                <a:cs typeface="メイリオ"/>
              </a:rPr>
              <a:t>求人詳細と登録ページに置く。登録と同時に友だち追加の案内も出るので、CV①と友だちが一度に増える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902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1280160" cy="36576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2801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latin typeface="メイリオ"/>
                <a:ea typeface="メイリオ"/>
                <a:cs typeface="メイリオ"/>
              </a:rPr>
              <a:t>5章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32004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333333"/>
                </a:solidFill>
                <a:latin typeface="メイリオ"/>
                <a:latin typeface="メイリオ"/>
                <a:ea typeface="メイリオ"/>
                <a:cs typeface="メイリオ"/>
              </a:rPr>
              <a:t>30/56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8961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2060"/>
                </a:solidFill>
                <a:latin typeface="メイリオ"/>
                <a:latin typeface="メイリオ"/>
                <a:ea typeface="メイリオ"/>
                <a:cs typeface="メイリオ"/>
              </a:rPr>
              <a:t>Profile+で入力を減らす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8961120" cy="1905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8961120" cy="2926080"/>
          </a:xfrm>
          <a:prstGeom prst="rect">
            <a:avLst/>
          </a:prstGeom>
          <a:solidFill>
            <a:srgbClr val="F4F7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057400"/>
            <a:ext cx="832104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メイリオ"/>
                <a:latin typeface="メイリオ"/>
                <a:ea typeface="メイリオ"/>
                <a:cs typeface="メイリオ"/>
              </a:rPr>
              <a:t>氏名・電話番号・生年月日などが自動で入り、確認して押すだけで登録が終わる（利用には申請と契約が必要）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902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1280160" cy="36576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2801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latin typeface="メイリオ"/>
                <a:ea typeface="メイリオ"/>
                <a:cs typeface="メイリオ"/>
              </a:rPr>
              <a:t>5章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32004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333333"/>
                </a:solidFill>
                <a:latin typeface="メイリオ"/>
                <a:latin typeface="メイリオ"/>
                <a:ea typeface="メイリオ"/>
                <a:cs typeface="メイリオ"/>
              </a:rPr>
              <a:t>31/56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8961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2060"/>
                </a:solidFill>
                <a:latin typeface="メイリオ"/>
                <a:latin typeface="メイリオ"/>
                <a:ea typeface="メイリオ"/>
                <a:cs typeface="メイリオ"/>
              </a:rPr>
              <a:t>Profile+と通知メッセージの組み合わせ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8961120" cy="1905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8961120" cy="2926080"/>
          </a:xfrm>
          <a:prstGeom prst="rect">
            <a:avLst/>
          </a:prstGeom>
          <a:solidFill>
            <a:srgbClr val="F4F7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057400"/>
            <a:ext cx="832104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メイリオ"/>
                <a:latin typeface="メイリオ"/>
                <a:ea typeface="メイリオ"/>
                <a:cs typeface="メイリオ"/>
              </a:rPr>
              <a:t>LINEから来た人はProfile+で登録してLINEで連絡する。LINEを通らずに応募した人には通知メッセージで「応募受付完了」を届け、その場で友だち追加してもらう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902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1280160" cy="36576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2801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latin typeface="メイリオ"/>
                <a:ea typeface="メイリオ"/>
                <a:cs typeface="メイリオ"/>
              </a:rPr>
              <a:t>5章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32004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333333"/>
                </a:solidFill>
                <a:latin typeface="メイリオ"/>
                <a:latin typeface="メイリオ"/>
                <a:ea typeface="メイリオ"/>
                <a:cs typeface="メイリオ"/>
              </a:rPr>
              <a:t>32/56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8961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2060"/>
                </a:solidFill>
                <a:latin typeface="メイリオ"/>
                <a:latin typeface="メイリオ"/>
                <a:ea typeface="メイリオ"/>
                <a:cs typeface="メイリオ"/>
              </a:rPr>
              <a:t>動線02 完了画面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8961120" cy="1905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8961120" cy="2926080"/>
          </a:xfrm>
          <a:prstGeom prst="rect">
            <a:avLst/>
          </a:prstGeom>
          <a:solidFill>
            <a:srgbClr val="F4F7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057400"/>
            <a:ext cx="832104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メイリオ"/>
                <a:latin typeface="メイリオ"/>
                <a:ea typeface="メイリオ"/>
                <a:cs typeface="メイリオ"/>
              </a:rPr>
              <a:t>応募後の連絡をLINEに寄せ、不採用や辞退のときにも別の求人を案内できる状態を残す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902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1280160" cy="36576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2801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latin typeface="メイリオ"/>
                <a:ea typeface="メイリオ"/>
                <a:cs typeface="メイリオ"/>
              </a:rPr>
              <a:t>5章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32004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333333"/>
                </a:solidFill>
                <a:latin typeface="メイリオ"/>
                <a:latin typeface="メイリオ"/>
                <a:ea typeface="メイリオ"/>
                <a:cs typeface="メイリオ"/>
              </a:rPr>
              <a:t>33/56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8961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2060"/>
                </a:solidFill>
                <a:latin typeface="メイリオ"/>
                <a:latin typeface="メイリオ"/>
                <a:ea typeface="メイリオ"/>
                <a:cs typeface="メイリオ"/>
              </a:rPr>
              <a:t>あいさつメッセージ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8961120" cy="1905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8961120" cy="2926080"/>
          </a:xfrm>
          <a:prstGeom prst="rect">
            <a:avLst/>
          </a:prstGeom>
          <a:solidFill>
            <a:srgbClr val="F4F7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057400"/>
            <a:ext cx="832104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メイリオ"/>
                <a:latin typeface="メイリオ"/>
                <a:ea typeface="メイリオ"/>
                <a:cs typeface="メイリオ"/>
              </a:rPr>
              <a:t>全員共通。1通目で「LINEで登録」、2通目で「すぐ転職したい？」を聞く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902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1280160" cy="36576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2801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latin typeface="メイリオ"/>
                <a:ea typeface="メイリオ"/>
                <a:cs typeface="メイリオ"/>
              </a:rPr>
              <a:t>5章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32004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333333"/>
                </a:solidFill>
                <a:latin typeface="メイリオ"/>
                <a:latin typeface="メイリオ"/>
                <a:ea typeface="メイリオ"/>
                <a:cs typeface="メイリオ"/>
              </a:rPr>
              <a:t>34/56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8961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2060"/>
                </a:solidFill>
                <a:latin typeface="メイリオ"/>
                <a:latin typeface="メイリオ"/>
                <a:ea typeface="メイリオ"/>
                <a:cs typeface="メイリオ"/>
              </a:rPr>
              <a:t>リッチメニュー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8961120" cy="1905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8961120" cy="2926080"/>
          </a:xfrm>
          <a:prstGeom prst="rect">
            <a:avLst/>
          </a:prstGeom>
          <a:solidFill>
            <a:srgbClr val="F4F7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057400"/>
            <a:ext cx="832104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メイリオ"/>
                <a:latin typeface="メイリオ"/>
                <a:ea typeface="メイリオ"/>
                <a:cs typeface="メイリオ"/>
              </a:rPr>
              <a:t>職種・地域・条件をワンタップで検索できるようにし、未経験・資格取得支援の入口も置く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902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1280160" cy="36576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2801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latin typeface="メイリオ"/>
                <a:ea typeface="メイリオ"/>
                <a:cs typeface="メイリオ"/>
              </a:rPr>
              <a:t>5章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32004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333333"/>
                </a:solidFill>
                <a:latin typeface="メイリオ"/>
                <a:latin typeface="メイリオ"/>
                <a:ea typeface="メイリオ"/>
                <a:cs typeface="メイリオ"/>
              </a:rPr>
              <a:t>35/56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8961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2060"/>
                </a:solidFill>
                <a:latin typeface="メイリオ"/>
                <a:latin typeface="メイリオ"/>
                <a:ea typeface="メイリオ"/>
                <a:cs typeface="メイリオ"/>
              </a:rPr>
              <a:t>「すぐ転職したい？」の分岐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8961120" cy="1905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8961120" cy="2926080"/>
          </a:xfrm>
          <a:prstGeom prst="rect">
            <a:avLst/>
          </a:prstGeom>
          <a:solidFill>
            <a:srgbClr val="F4F7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057400"/>
            <a:ext cx="832104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メイリオ"/>
                <a:latin typeface="メイリオ"/>
                <a:ea typeface="メイリオ"/>
                <a:cs typeface="メイリオ"/>
              </a:rPr>
              <a:t>すぐの人は求人から応募へ。「まだ」の人はタグで絞り、興味のある内容だけ届けて配信数を抑える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902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1280160" cy="36576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2801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latin typeface="メイリオ"/>
                <a:ea typeface="メイリオ"/>
                <a:cs typeface="メイリオ"/>
              </a:rPr>
              <a:t>5章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32004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333333"/>
                </a:solidFill>
                <a:latin typeface="メイリオ"/>
                <a:latin typeface="メイリオ"/>
                <a:ea typeface="メイリオ"/>
                <a:cs typeface="メイリオ"/>
              </a:rPr>
              <a:t>36/56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8961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2060"/>
                </a:solidFill>
                <a:latin typeface="メイリオ"/>
                <a:latin typeface="メイリオ"/>
                <a:ea typeface="メイリオ"/>
                <a:cs typeface="メイリオ"/>
              </a:rPr>
              <a:t>登録から応募までのステップ配信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8961120" cy="1905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8961120" cy="2926080"/>
          </a:xfrm>
          <a:prstGeom prst="rect">
            <a:avLst/>
          </a:prstGeom>
          <a:solidFill>
            <a:srgbClr val="F4F7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057400"/>
            <a:ext cx="832104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メイリオ"/>
                <a:latin typeface="メイリオ"/>
                <a:ea typeface="メイリオ"/>
                <a:cs typeface="メイリオ"/>
              </a:rPr>
              <a:t>迷う期間をステップ配信で追う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902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1280160" cy="36576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2801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latin typeface="メイリオ"/>
                <a:ea typeface="メイリオ"/>
                <a:cs typeface="メイリオ"/>
              </a:rPr>
              <a:t>5章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32004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333333"/>
                </a:solidFill>
                <a:latin typeface="メイリオ"/>
                <a:latin typeface="メイリオ"/>
                <a:ea typeface="メイリオ"/>
                <a:cs typeface="メイリオ"/>
              </a:rPr>
              <a:t>37/56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8961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2060"/>
                </a:solidFill>
                <a:latin typeface="メイリオ"/>
                <a:latin typeface="メイリオ"/>
                <a:ea typeface="メイリオ"/>
                <a:cs typeface="メイリオ"/>
              </a:rPr>
              <a:t>条件別の新着求人配信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8961120" cy="1905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8961120" cy="2926080"/>
          </a:xfrm>
          <a:prstGeom prst="rect">
            <a:avLst/>
          </a:prstGeom>
          <a:solidFill>
            <a:srgbClr val="F4F7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057400"/>
            <a:ext cx="832104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メイリオ"/>
                <a:latin typeface="メイリオ"/>
                <a:ea typeface="メイリオ"/>
                <a:cs typeface="メイリオ"/>
              </a:rPr>
              <a:t>会員名簿の条件（職種・資格・エリア）で選んで、合う新着求人だけを届ける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902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1280160" cy="36576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2801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latin typeface="メイリオ"/>
                <a:ea typeface="メイリオ"/>
                <a:cs typeface="メイリオ"/>
              </a:rPr>
              <a:t>5章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32004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333333"/>
                </a:solidFill>
                <a:latin typeface="メイリオ"/>
                <a:latin typeface="メイリオ"/>
                <a:ea typeface="メイリオ"/>
                <a:cs typeface="メイリオ"/>
              </a:rPr>
              <a:t>38/56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8961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2060"/>
                </a:solidFill>
                <a:latin typeface="メイリオ"/>
                <a:latin typeface="メイリオ"/>
                <a:ea typeface="メイリオ"/>
                <a:cs typeface="メイリオ"/>
              </a:rPr>
              <a:t>年間の企画配信と再育成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8961120" cy="1905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8961120" cy="2926080"/>
          </a:xfrm>
          <a:prstGeom prst="rect">
            <a:avLst/>
          </a:prstGeom>
          <a:solidFill>
            <a:srgbClr val="F4F7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057400"/>
            <a:ext cx="832104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メイリオ"/>
                <a:latin typeface="メイリオ"/>
                <a:ea typeface="メイリオ"/>
                <a:cs typeface="メイリオ"/>
              </a:rPr>
              <a:t>3月の山に向けて前倒しで配信し、応募しなかった人はクリックの履歴で絞って再び声をかける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902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1280160" cy="36576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2801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latin typeface="メイリオ"/>
                <a:ea typeface="メイリオ"/>
                <a:cs typeface="メイリオ"/>
              </a:rPr>
              <a:t>5章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32004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333333"/>
                </a:solidFill>
                <a:latin typeface="メイリオ"/>
                <a:latin typeface="メイリオ"/>
                <a:ea typeface="メイリオ"/>
                <a:cs typeface="メイリオ"/>
              </a:rPr>
              <a:t>39/56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8961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2060"/>
                </a:solidFill>
                <a:latin typeface="メイリオ"/>
                <a:latin typeface="メイリオ"/>
                <a:ea typeface="メイリオ"/>
                <a:cs typeface="メイリオ"/>
              </a:rPr>
              <a:t>通知メッセージ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8961120" cy="1905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8961120" cy="2926080"/>
          </a:xfrm>
          <a:prstGeom prst="rect">
            <a:avLst/>
          </a:prstGeom>
          <a:solidFill>
            <a:srgbClr val="F4F7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057400"/>
            <a:ext cx="832104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メイリオ"/>
                <a:latin typeface="メイリオ"/>
                <a:ea typeface="メイリオ"/>
                <a:cs typeface="メイリオ"/>
              </a:rPr>
              <a:t>「応募受付完了」「会員登録完了」の公式のひな形を使う（販促は不可）。面談日程の連絡に使えるかは申込時に確認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902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1280160" cy="36576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2801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latin typeface="メイリオ"/>
                <a:ea typeface="メイリオ"/>
                <a:cs typeface="メイリオ"/>
              </a:rPr>
              <a:t>5章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32004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333333"/>
                </a:solidFill>
                <a:latin typeface="メイリオ"/>
                <a:latin typeface="メイリオ"/>
                <a:ea typeface="メイリオ"/>
                <a:cs typeface="メイリオ"/>
              </a:rPr>
              <a:t>40/56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8961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2060"/>
                </a:solidFill>
                <a:latin typeface="メイリオ"/>
                <a:latin typeface="メイリオ"/>
                <a:ea typeface="メイリオ"/>
                <a:cs typeface="メイリオ"/>
              </a:rPr>
              <a:t>よくある質問の自動応答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8961120" cy="1905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8961120" cy="2926080"/>
          </a:xfrm>
          <a:prstGeom prst="rect">
            <a:avLst/>
          </a:prstGeom>
          <a:solidFill>
            <a:srgbClr val="F4F7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057400"/>
            <a:ext cx="832104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メイリオ"/>
                <a:latin typeface="メイリオ"/>
                <a:ea typeface="メイリオ"/>
                <a:cs typeface="メイリオ"/>
              </a:rPr>
              <a:t>資格・受験料・勤務地などは自動応答で返し、担当者の手間を増やさない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902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1280160" cy="36576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2801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latin typeface="メイリオ"/>
                <a:ea typeface="メイリオ"/>
                <a:cs typeface="メイリオ"/>
              </a:rPr>
              <a:t>6章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32004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333333"/>
                </a:solidFill>
                <a:latin typeface="メイリオ"/>
                <a:latin typeface="メイリオ"/>
                <a:ea typeface="メイリオ"/>
                <a:cs typeface="メイリオ"/>
              </a:rPr>
              <a:t>41/56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8961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2060"/>
                </a:solidFill>
                <a:latin typeface="メイリオ"/>
                <a:latin typeface="メイリオ"/>
                <a:ea typeface="メイリオ"/>
                <a:cs typeface="メイリオ"/>
              </a:rPr>
              <a:t>効果測定の設計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8961120" cy="1905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8961120" cy="2926080"/>
          </a:xfrm>
          <a:prstGeom prst="rect">
            <a:avLst/>
          </a:prstGeom>
          <a:solidFill>
            <a:srgbClr val="F4F7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057400"/>
            <a:ext cx="832104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メイリオ"/>
                <a:latin typeface="メイリオ"/>
                <a:ea typeface="メイリオ"/>
                <a:cs typeface="メイリオ"/>
              </a:rPr>
              <a:t>CV①とCV②を分けて測り、登録から応募への率・面談予約・ブロック率を月ごとに見る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902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1280160" cy="36576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2801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latin typeface="メイリオ"/>
                <a:ea typeface="メイリオ"/>
                <a:cs typeface="メイリオ"/>
              </a:rPr>
              <a:t>6章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32004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333333"/>
                </a:solidFill>
                <a:latin typeface="メイリオ"/>
                <a:latin typeface="メイリオ"/>
                <a:ea typeface="メイリオ"/>
                <a:cs typeface="メイリオ"/>
              </a:rPr>
              <a:t>42/56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8961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2060"/>
                </a:solidFill>
                <a:latin typeface="メイリオ"/>
                <a:latin typeface="メイリオ"/>
                <a:ea typeface="メイリオ"/>
                <a:cs typeface="メイリオ"/>
              </a:rPr>
              <a:t>成果シミュレーション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8961120" cy="1905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8961120" cy="2926080"/>
          </a:xfrm>
          <a:prstGeom prst="rect">
            <a:avLst/>
          </a:prstGeom>
          <a:solidFill>
            <a:srgbClr val="F4F7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057400"/>
            <a:ext cx="832104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メイリオ"/>
                <a:latin typeface="メイリオ"/>
                <a:ea typeface="メイリオ"/>
                <a:cs typeface="メイリオ"/>
              </a:rPr>
              <a:t>広告SIMの数字に合わせて、友だち数・登録・応募の見込みを示す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937760"/>
            <a:ext cx="8961120" cy="502920"/>
          </a:xfrm>
          <a:prstGeom prst="rect">
            <a:avLst/>
          </a:prstGeom>
          <a:solidFill>
            <a:srgbClr val="FFF3CD"/>
          </a:solidFill>
          <a:ln w="9525">
            <a:solidFill>
              <a:srgbClr val="E0B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937760"/>
            <a:ext cx="8595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996600"/>
                </a:solidFill>
                <a:latin typeface="メイリオ"/>
                <a:latin typeface="メイリオ"/>
                <a:ea typeface="メイリオ"/>
                <a:cs typeface="メイリオ"/>
              </a:rPr>
              <a:t>⚠ 差し込み待ち：DYM広告チームの広告SIM（Meta30万・リス70万）確認中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902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1280160" cy="36576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2801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latin typeface="メイリオ"/>
                <a:ea typeface="メイリオ"/>
                <a:cs typeface="メイリオ"/>
              </a:rPr>
              <a:t>6章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32004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333333"/>
                </a:solidFill>
                <a:latin typeface="メイリオ"/>
                <a:latin typeface="メイリオ"/>
                <a:ea typeface="メイリオ"/>
                <a:cs typeface="メイリオ"/>
              </a:rPr>
              <a:t>43/56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8961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2060"/>
                </a:solidFill>
                <a:latin typeface="メイリオ"/>
                <a:latin typeface="メイリオ"/>
                <a:ea typeface="メイリオ"/>
                <a:cs typeface="メイリオ"/>
              </a:rPr>
              <a:t>費用対効果の考え方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8961120" cy="1905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8961120" cy="2926080"/>
          </a:xfrm>
          <a:prstGeom prst="rect">
            <a:avLst/>
          </a:prstGeom>
          <a:solidFill>
            <a:srgbClr val="F4F7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057400"/>
            <a:ext cx="832104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メイリオ"/>
                <a:latin typeface="メイリオ"/>
                <a:ea typeface="メイリオ"/>
                <a:cs typeface="メイリオ"/>
              </a:rPr>
              <a:t>投資額（初期20万・月20万＋都度見積もり）に対して、何ヶ月で回収できるかを示す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937760"/>
            <a:ext cx="8961120" cy="502920"/>
          </a:xfrm>
          <a:prstGeom prst="rect">
            <a:avLst/>
          </a:prstGeom>
          <a:solidFill>
            <a:srgbClr val="FFF3CD"/>
          </a:solidFill>
          <a:ln w="9525">
            <a:solidFill>
              <a:srgbClr val="E0B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937760"/>
            <a:ext cx="8595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996600"/>
                </a:solidFill>
                <a:latin typeface="メイリオ"/>
                <a:latin typeface="メイリオ"/>
                <a:ea typeface="メイリオ"/>
                <a:cs typeface="メイリオ"/>
              </a:rPr>
              <a:t>⚠ 数字はSIM確定後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902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1280160" cy="36576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2801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latin typeface="メイリオ"/>
                <a:ea typeface="メイリオ"/>
                <a:cs typeface="メイリオ"/>
              </a:rPr>
              <a:t>6章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32004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333333"/>
                </a:solidFill>
                <a:latin typeface="メイリオ"/>
                <a:latin typeface="メイリオ"/>
                <a:ea typeface="メイリオ"/>
                <a:cs typeface="メイリオ"/>
              </a:rPr>
              <a:t>44/56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8961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2060"/>
                </a:solidFill>
                <a:latin typeface="メイリオ"/>
                <a:latin typeface="メイリオ"/>
                <a:ea typeface="メイリオ"/>
                <a:cs typeface="メイリオ"/>
              </a:rPr>
              <a:t>スケジュール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8961120" cy="1905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8961120" cy="2926080"/>
          </a:xfrm>
          <a:prstGeom prst="rect">
            <a:avLst/>
          </a:prstGeom>
          <a:solidFill>
            <a:srgbClr val="F4F7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057400"/>
            <a:ext cx="832104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メイリオ"/>
                <a:latin typeface="メイリオ"/>
                <a:ea typeface="メイリオ"/>
                <a:cs typeface="メイリオ"/>
              </a:rPr>
              <a:t>11〜12月に予算決定 → Profile+・通知メッセージの申請 → 4月にサイトと同時に開設 → 翌3月の山までに友だちを貯める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902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1280160" cy="36576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2801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latin typeface="メイリオ"/>
                <a:ea typeface="メイリオ"/>
                <a:cs typeface="メイリオ"/>
              </a:rPr>
              <a:t>7章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32004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333333"/>
                </a:solidFill>
                <a:latin typeface="メイリオ"/>
                <a:latin typeface="メイリオ"/>
                <a:ea typeface="メイリオ"/>
                <a:cs typeface="メイリオ"/>
              </a:rPr>
              <a:t>45/56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8961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2060"/>
                </a:solidFill>
                <a:latin typeface="メイリオ"/>
                <a:latin typeface="メイリオ"/>
                <a:ea typeface="メイリオ"/>
                <a:cs typeface="メイリオ"/>
              </a:rPr>
              <a:t>LINEヤフー公式の実績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8961120" cy="1905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8961120" cy="2926080"/>
          </a:xfrm>
          <a:prstGeom prst="rect">
            <a:avLst/>
          </a:prstGeom>
          <a:solidFill>
            <a:srgbClr val="F4F7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057400"/>
            <a:ext cx="832104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メイリオ"/>
                <a:latin typeface="メイリオ"/>
                <a:ea typeface="メイリオ"/>
                <a:cs typeface="メイリオ"/>
              </a:rPr>
              <a:t>求人・人材（保育box・トライト・ランスタッドなど）に加え、LINEで会員登録が増えた事例（登録と同時の連携率 約9割／新規会員登録 約3.5倍）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902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1280160" cy="36576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2801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latin typeface="メイリオ"/>
                <a:ea typeface="メイリオ"/>
                <a:cs typeface="メイリオ"/>
              </a:rPr>
              <a:t>7章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32004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333333"/>
                </a:solidFill>
                <a:latin typeface="メイリオ"/>
                <a:latin typeface="メイリオ"/>
                <a:ea typeface="メイリオ"/>
                <a:cs typeface="メイリオ"/>
              </a:rPr>
              <a:t>46/56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8961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2060"/>
                </a:solidFill>
                <a:latin typeface="メイリオ"/>
                <a:latin typeface="メイリオ"/>
                <a:ea typeface="メイリオ"/>
                <a:cs typeface="メイリオ"/>
              </a:rPr>
              <a:t>次に確認していただきたいこと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8961120" cy="1905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8961120" cy="2926080"/>
          </a:xfrm>
          <a:prstGeom prst="rect">
            <a:avLst/>
          </a:prstGeom>
          <a:solidFill>
            <a:srgbClr val="F4F7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057400"/>
            <a:ext cx="832104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メイリオ"/>
                <a:latin typeface="メイリオ"/>
                <a:ea typeface="メイリオ"/>
                <a:cs typeface="メイリオ"/>
              </a:rPr>
              <a:t>取得する項目・通知メッセージの運用・面談の体制が決まれば、構築に入れる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902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1280160" cy="36576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2801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latin typeface="メイリオ"/>
                <a:ea typeface="メイリオ"/>
                <a:cs typeface="メイリオ"/>
              </a:rPr>
              <a:t>8章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32004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333333"/>
                </a:solidFill>
                <a:latin typeface="メイリオ"/>
                <a:latin typeface="メイリオ"/>
                <a:ea typeface="メイリオ"/>
                <a:cs typeface="メイリオ"/>
              </a:rPr>
              <a:t>47/56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8961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2060"/>
                </a:solidFill>
                <a:latin typeface="メイリオ"/>
                <a:latin typeface="メイリオ"/>
                <a:ea typeface="メイリオ"/>
                <a:cs typeface="メイリオ"/>
              </a:rPr>
              <a:t>【汎用】なぜLINEか①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8961120" cy="1905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8961120" cy="2926080"/>
          </a:xfrm>
          <a:prstGeom prst="rect">
            <a:avLst/>
          </a:prstGeom>
          <a:solidFill>
            <a:srgbClr val="F4F7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057400"/>
            <a:ext cx="832104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メイリオ"/>
                <a:latin typeface="メイリオ"/>
                <a:ea typeface="メイリオ"/>
                <a:cs typeface="メイリオ"/>
              </a:rPr>
              <a:t>ユーザーとの連絡にLINE公式アカウントを使う企業が増えている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902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1280160" cy="36576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2801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latin typeface="メイリオ"/>
                <a:ea typeface="メイリオ"/>
                <a:cs typeface="メイリオ"/>
              </a:rPr>
              <a:t>8章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32004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333333"/>
                </a:solidFill>
                <a:latin typeface="メイリオ"/>
                <a:latin typeface="メイリオ"/>
                <a:ea typeface="メイリオ"/>
                <a:cs typeface="メイリオ"/>
              </a:rPr>
              <a:t>48/56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8961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2060"/>
                </a:solidFill>
                <a:latin typeface="メイリオ"/>
                <a:latin typeface="メイリオ"/>
                <a:ea typeface="メイリオ"/>
                <a:cs typeface="メイリオ"/>
              </a:rPr>
              <a:t>【汎用】なぜLINEか②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8961120" cy="1905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8961120" cy="2926080"/>
          </a:xfrm>
          <a:prstGeom prst="rect">
            <a:avLst/>
          </a:prstGeom>
          <a:solidFill>
            <a:srgbClr val="F4F7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057400"/>
            <a:ext cx="832104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メイリオ"/>
                <a:latin typeface="メイリオ"/>
                <a:ea typeface="メイリオ"/>
                <a:cs typeface="メイリオ"/>
              </a:rPr>
              <a:t>若い層を中心に、電話やメールを避ける動きがある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902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1280160" cy="36576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2801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latin typeface="メイリオ"/>
                <a:ea typeface="メイリオ"/>
                <a:cs typeface="メイリオ"/>
              </a:rPr>
              <a:t>8章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32004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333333"/>
                </a:solidFill>
                <a:latin typeface="メイリオ"/>
                <a:latin typeface="メイリオ"/>
                <a:ea typeface="メイリオ"/>
                <a:cs typeface="メイリオ"/>
              </a:rPr>
              <a:t>49/56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8961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2060"/>
                </a:solidFill>
                <a:latin typeface="メイリオ"/>
                <a:latin typeface="メイリオ"/>
                <a:ea typeface="メイリオ"/>
                <a:cs typeface="メイリオ"/>
              </a:rPr>
              <a:t>【汎用】LINE施策における重要な考え方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8961120" cy="1905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8961120" cy="2926080"/>
          </a:xfrm>
          <a:prstGeom prst="rect">
            <a:avLst/>
          </a:prstGeom>
          <a:solidFill>
            <a:srgbClr val="F4F7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057400"/>
            <a:ext cx="832104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メイリオ"/>
                <a:latin typeface="メイリオ"/>
                <a:ea typeface="メイリオ"/>
                <a:cs typeface="メイリオ"/>
              </a:rPr>
              <a:t>新規の友だちを増やす動線と、既存の友だちへの配信を、両方整える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902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1280160" cy="36576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2801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latin typeface="メイリオ"/>
                <a:ea typeface="メイリオ"/>
                <a:cs typeface="メイリオ"/>
              </a:rPr>
              <a:t>8章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32004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333333"/>
                </a:solidFill>
                <a:latin typeface="メイリオ"/>
                <a:latin typeface="メイリオ"/>
                <a:ea typeface="メイリオ"/>
                <a:cs typeface="メイリオ"/>
              </a:rPr>
              <a:t>50/56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8961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2060"/>
                </a:solidFill>
                <a:latin typeface="メイリオ"/>
                <a:latin typeface="メイリオ"/>
                <a:ea typeface="メイリオ"/>
                <a:cs typeface="メイリオ"/>
              </a:rPr>
              <a:t>【汎用】施策展開図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8961120" cy="1905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8961120" cy="2926080"/>
          </a:xfrm>
          <a:prstGeom prst="rect">
            <a:avLst/>
          </a:prstGeom>
          <a:solidFill>
            <a:srgbClr val="F4F7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057400"/>
            <a:ext cx="832104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メイリオ"/>
                <a:latin typeface="メイリオ"/>
                <a:ea typeface="メイリオ"/>
                <a:cs typeface="メイリオ"/>
              </a:rPr>
              <a:t>「友だちの新規追加」と「友だちの育成・応募への着地」の2つの動線で組む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902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1280160" cy="36576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2801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latin typeface="メイリオ"/>
                <a:ea typeface="メイリオ"/>
                <a:cs typeface="メイリオ"/>
              </a:rPr>
              <a:t>8章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32004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333333"/>
                </a:solidFill>
                <a:latin typeface="メイリオ"/>
                <a:latin typeface="メイリオ"/>
                <a:ea typeface="メイリオ"/>
                <a:cs typeface="メイリオ"/>
              </a:rPr>
              <a:t>51/56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8961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2060"/>
                </a:solidFill>
                <a:latin typeface="メイリオ"/>
                <a:latin typeface="メイリオ"/>
                <a:ea typeface="メイリオ"/>
                <a:cs typeface="メイリオ"/>
              </a:rPr>
              <a:t>【汎用】改善モデル①　友だち・リードを増やす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8961120" cy="1905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8961120" cy="2926080"/>
          </a:xfrm>
          <a:prstGeom prst="rect">
            <a:avLst/>
          </a:prstGeom>
          <a:solidFill>
            <a:srgbClr val="F4F7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057400"/>
            <a:ext cx="832104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メイリオ"/>
                <a:latin typeface="メイリオ"/>
                <a:ea typeface="メイリオ"/>
                <a:cs typeface="メイリオ"/>
              </a:rPr>
              <a:t>広告・サイトの集客地点に「LINEで登録」を加え、応募まで行かない人もリストに残す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902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1280160" cy="36576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2801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latin typeface="メイリオ"/>
                <a:ea typeface="メイリオ"/>
                <a:cs typeface="メイリオ"/>
              </a:rPr>
              <a:t>8章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32004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333333"/>
                </a:solidFill>
                <a:latin typeface="メイリオ"/>
                <a:latin typeface="メイリオ"/>
                <a:ea typeface="メイリオ"/>
                <a:cs typeface="メイリオ"/>
              </a:rPr>
              <a:t>52/56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8961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2060"/>
                </a:solidFill>
                <a:latin typeface="メイリオ"/>
                <a:latin typeface="メイリオ"/>
                <a:ea typeface="メイリオ"/>
                <a:cs typeface="メイリオ"/>
              </a:rPr>
              <a:t>【汎用】改善モデル②　面談に引き上げる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8961120" cy="1905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8961120" cy="2926080"/>
          </a:xfrm>
          <a:prstGeom prst="rect">
            <a:avLst/>
          </a:prstGeom>
          <a:solidFill>
            <a:srgbClr val="F4F7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057400"/>
            <a:ext cx="832104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メイリオ"/>
                <a:latin typeface="メイリオ"/>
                <a:ea typeface="メイリオ"/>
                <a:cs typeface="メイリオ"/>
              </a:rPr>
              <a:t>友だちになった人を、まず話を聞くだけの面談へつなぐ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902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1280160" cy="36576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2801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latin typeface="メイリオ"/>
                <a:ea typeface="メイリオ"/>
                <a:cs typeface="メイリオ"/>
              </a:rPr>
              <a:t>8章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32004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333333"/>
                </a:solidFill>
                <a:latin typeface="メイリオ"/>
                <a:latin typeface="メイリオ"/>
                <a:ea typeface="メイリオ"/>
                <a:cs typeface="メイリオ"/>
              </a:rPr>
              <a:t>53/56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8961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2060"/>
                </a:solidFill>
                <a:latin typeface="メイリオ"/>
                <a:latin typeface="メイリオ"/>
                <a:ea typeface="メイリオ"/>
                <a:cs typeface="メイリオ"/>
              </a:rPr>
              <a:t>【汎用】弊社の運用プラン①　サービス内容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8961120" cy="1905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8961120" cy="2926080"/>
          </a:xfrm>
          <a:prstGeom prst="rect">
            <a:avLst/>
          </a:prstGeom>
          <a:solidFill>
            <a:srgbClr val="F4F7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057400"/>
            <a:ext cx="832104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メイリオ"/>
                <a:latin typeface="メイリオ"/>
                <a:ea typeface="メイリオ"/>
                <a:cs typeface="メイリオ"/>
              </a:rPr>
              <a:t>予算型コンサル（初期20万・月20万）で、構築から配信・効果測定・改善までを行う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902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1280160" cy="36576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2801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latin typeface="メイリオ"/>
                <a:ea typeface="メイリオ"/>
                <a:cs typeface="メイリオ"/>
              </a:rPr>
              <a:t>8章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32004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333333"/>
                </a:solidFill>
                <a:latin typeface="メイリオ"/>
                <a:latin typeface="メイリオ"/>
                <a:ea typeface="メイリオ"/>
                <a:cs typeface="メイリオ"/>
              </a:rPr>
              <a:t>54/56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8961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2060"/>
                </a:solidFill>
                <a:latin typeface="メイリオ"/>
                <a:latin typeface="メイリオ"/>
                <a:ea typeface="メイリオ"/>
                <a:cs typeface="メイリオ"/>
              </a:rPr>
              <a:t>【汎用】弊社の運用プラン②　都度発注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8961120" cy="1905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8961120" cy="2926080"/>
          </a:xfrm>
          <a:prstGeom prst="rect">
            <a:avLst/>
          </a:prstGeom>
          <a:solidFill>
            <a:srgbClr val="F4F7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057400"/>
            <a:ext cx="832104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メイリオ"/>
                <a:latin typeface="メイリオ"/>
                <a:ea typeface="メイリオ"/>
                <a:cs typeface="メイリオ"/>
              </a:rPr>
              <a:t>LINE連携の開発・Profile+・通知メッセージ・離脱防止ツールなどは、必要なときに都度お見積もり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902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1280160" cy="36576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2801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latin typeface="メイリオ"/>
                <a:ea typeface="メイリオ"/>
                <a:cs typeface="メイリオ"/>
              </a:rPr>
              <a:t>8章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32004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333333"/>
                </a:solidFill>
                <a:latin typeface="メイリオ"/>
                <a:latin typeface="メイリオ"/>
                <a:ea typeface="メイリオ"/>
                <a:cs typeface="メイリオ"/>
              </a:rPr>
              <a:t>55/56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8961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2060"/>
                </a:solidFill>
                <a:latin typeface="メイリオ"/>
                <a:latin typeface="メイリオ"/>
                <a:ea typeface="メイリオ"/>
                <a:cs typeface="メイリオ"/>
              </a:rPr>
              <a:t>【汎用】弊社体制図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8961120" cy="1905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8961120" cy="2926080"/>
          </a:xfrm>
          <a:prstGeom prst="rect">
            <a:avLst/>
          </a:prstGeom>
          <a:solidFill>
            <a:srgbClr val="F4F7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057400"/>
            <a:ext cx="832104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メイリオ"/>
                <a:latin typeface="メイリオ"/>
                <a:ea typeface="メイリオ"/>
                <a:cs typeface="メイリオ"/>
              </a:rPr>
              <a:t>貴社の窓口と、弊社の担当（運用・配信・分析・開発）の役割分担を示す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902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902952" cy="685800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84124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メイリオ"/>
                <a:latin typeface="メイリオ"/>
                <a:ea typeface="メイリオ"/>
                <a:cs typeface="メイリオ"/>
              </a:rPr>
              <a:t>株式会社DYM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CCCCC"/>
                </a:solidFill>
                <a:latin typeface="メイリオ"/>
                <a:latin typeface="メイリオ"/>
                <a:ea typeface="メイリオ"/>
                <a:cs typeface="メイリオ"/>
              </a:rPr>
              <a:t/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