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39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40" Type="http://schemas.openxmlformats.org/officeDocument/2006/relationships/handoutMaster" Target="handoutMasters/handoutMaster1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43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hyperlink" Target="https://linestep.jp/lp/01/" TargetMode="Externa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6D5128D-AC86-A618-019E-D9FA2B942550}"/>
              </a:ext>
            </a:extLst>
          </p:cNvPr>
          <p:cNvSpPr/>
          <p:nvPr/>
        </p:nvSpPr>
        <p:spPr>
          <a:xfrm>
            <a:off x="379976" y="635062"/>
            <a:ext cx="9160881" cy="698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/>
          <a:p>
            <a:pPr algn="ctr">
              <a:lnSpc>
                <a:spcPts val="2455"/>
              </a:lnSpc>
            </a:pPr>
            <a:r>
              <a:rPr lang="ja-JP" altLang="en-US" sz="1400" dirty="0" b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LINE公式アカウントの機能を拡張する、LINE専用のツールです。</a:t>
            </a: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>
              <a:lnSpc>
                <a:spcPts val="2455"/>
              </a:lnSpc>
            </a:pPr>
            <a:r>
              <a:rPr lang="ja-JP" altLang="en-US" sz="1400" dirty="0" b="1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月額0円・初期費用なしから始められます。</a:t>
            </a:r>
            <a:endParaRPr lang="en-US" altLang="ja-JP" sz="140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Lステップとは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見出し：機能"/>
          <p:cNvSpPr/>
          <p:nvPr/>
        </p:nvSpPr>
        <p:spPr>
          <a:xfrm>
            <a:off x="429768" y="1499616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機能</a:t>
            </a:r>
            <a:endParaRPr lang="ja-JP" altLang="en-US" sz="1400" dirty="0"/>
          </a:p>
        </p:txBody>
      </p:sp>
      <p:sp>
        <p:nvSpPr>
          <p:cNvPr id="47" name="見出しの説明：機能"/>
          <p:cNvSpPr/>
          <p:nvPr/>
        </p:nvSpPr>
        <p:spPr>
          <a:xfrm>
            <a:off x="1527048" y="1499616"/>
            <a:ext cx="7827264" cy="29260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Lステップの3つの特徴｜配信の自動化・顧客管理・効果分析</a:t>
            </a:r>
            <a:endParaRPr lang="ja-JP" altLang="en-US" sz="1300" dirty="0"/>
          </a:p>
        </p:txBody>
      </p:sp>
      <p:sp>
        <p:nvSpPr>
          <p:cNvPr id="48" name="機能の見出し1"/>
          <p:cNvSpPr/>
          <p:nvPr/>
        </p:nvSpPr>
        <p:spPr>
          <a:xfrm>
            <a:off x="429768" y="1847088"/>
            <a:ext cx="2788920" cy="566928"/>
          </a:xfrm>
          <a:prstGeom prst="roundRect">
            <a:avLst>
              <a:gd name="adj" fmla="val 12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128016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配信を自動化</a:t>
            </a:r>
            <a:endParaRPr lang="ja-JP" altLang="en-US" sz="1400" dirty="0"/>
          </a:p>
          <a:p>
            <a:pPr algn="l">
              <a:buNone/>
            </a:pPr>
            <a:r>
              <a:rPr lang="ja-JP" altLang="en-US" sz="10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お客様の行動に合わせて自動で届ける</a:t>
            </a:r>
            <a:endParaRPr lang="ja-JP" altLang="en-US" sz="1400" dirty="0"/>
          </a:p>
        </p:txBody>
      </p:sp>
      <p:sp>
        <p:nvSpPr>
          <p:cNvPr id="49" name="機能の中身1"/>
          <p:cNvSpPr/>
          <p:nvPr/>
        </p:nvSpPr>
        <p:spPr>
          <a:xfrm>
            <a:off x="429768" y="2450592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109728" tIns="82296" rIns="73152" bIns="36576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｜順番に自動で配信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・セグメント配信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｜狙った方に配信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・リマインダ配信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｜予約前に自動通知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｜質問に自動で返信</a:t>
            </a:r>
            <a:endParaRPr lang="ja-JP" altLang="en-US" sz="1100" dirty="0"/>
          </a:p>
        </p:txBody>
      </p:sp>
      <p:sp>
        <p:nvSpPr>
          <p:cNvPr id="50" name="機能の見出し2"/>
          <p:cNvSpPr/>
          <p:nvPr/>
        </p:nvSpPr>
        <p:spPr>
          <a:xfrm>
            <a:off x="3497580" y="1847088"/>
            <a:ext cx="2788920" cy="566928"/>
          </a:xfrm>
          <a:prstGeom prst="roundRect">
            <a:avLst>
              <a:gd name="adj" fmla="val 12000"/>
            </a:avLst>
          </a:prstGeom>
          <a:solidFill>
            <a:srgbClr val="4A6FA5"/>
          </a:solidFill>
          <a:ln w="9525">
            <a:solidFill>
              <a:srgbClr val="4A6FA5"/>
            </a:solidFill>
          </a:ln>
        </p:spPr>
        <p:txBody>
          <a:bodyPr wrap="square" lIns="128016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お客様を管理</a:t>
            </a:r>
            <a:endParaRPr lang="ja-JP" altLang="en-US" sz="1400" dirty="0"/>
          </a:p>
          <a:p>
            <a:pPr algn="l">
              <a:buNone/>
            </a:pPr>
            <a:r>
              <a:rPr lang="ja-JP" altLang="en-US" sz="10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友だちごとの情報と対応状況を一元管理</a:t>
            </a:r>
            <a:endParaRPr lang="ja-JP" altLang="en-US" sz="1400" dirty="0"/>
          </a:p>
        </p:txBody>
      </p:sp>
      <p:sp>
        <p:nvSpPr>
          <p:cNvPr id="51" name="機能の中身2"/>
          <p:cNvSpPr/>
          <p:nvPr/>
        </p:nvSpPr>
        <p:spPr>
          <a:xfrm>
            <a:off x="3497580" y="2450592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109728" tIns="82296" rIns="73152" bIns="36576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・友だち情報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｜属性や行動を記録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・個別トーク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｜1対1でチャット対応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・回答フォーム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｜アンケート・申込受付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・予約管理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｜LINEで予約を受付</a:t>
            </a:r>
            <a:endParaRPr lang="ja-JP" altLang="en-US" sz="1100" dirty="0"/>
          </a:p>
        </p:txBody>
      </p:sp>
      <p:sp>
        <p:nvSpPr>
          <p:cNvPr id="52" name="機能の見出し3"/>
          <p:cNvSpPr/>
          <p:nvPr/>
        </p:nvSpPr>
        <p:spPr>
          <a:xfrm>
            <a:off x="6565392" y="1847088"/>
            <a:ext cx="2788920" cy="566928"/>
          </a:xfrm>
          <a:prstGeom prst="roundRect">
            <a:avLst>
              <a:gd name="adj" fmla="val 12000"/>
            </a:avLst>
          </a:prstGeom>
          <a:solidFill>
            <a:srgbClr val="5A6378"/>
          </a:solidFill>
          <a:ln w="9525">
            <a:solidFill>
              <a:srgbClr val="5A6378"/>
            </a:solidFill>
          </a:ln>
        </p:spPr>
        <p:txBody>
          <a:bodyPr wrap="square" lIns="128016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効果を分析</a:t>
            </a:r>
            <a:endParaRPr lang="ja-JP" altLang="en-US" sz="1400" dirty="0"/>
          </a:p>
          <a:p>
            <a:pPr algn="l">
              <a:buNone/>
            </a:pPr>
            <a:r>
              <a:rPr lang="ja-JP" altLang="en-US" sz="10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どこから来て何に反応したかを把握</a:t>
            </a:r>
            <a:endParaRPr lang="ja-JP" altLang="en-US" sz="1400" dirty="0"/>
          </a:p>
        </p:txBody>
      </p:sp>
      <p:sp>
        <p:nvSpPr>
          <p:cNvPr id="53" name="機能の中身3"/>
          <p:cNvSpPr/>
          <p:nvPr/>
        </p:nvSpPr>
        <p:spPr>
          <a:xfrm>
            <a:off x="6565392" y="2450592"/>
            <a:ext cx="2788920" cy="128016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109728" tIns="82296" rIns="73152" bIns="36576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・流入経路分析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｜どこから追加したか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・URLクリック測定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｜誰が押したか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・ファネル分析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｜離脱ポイントを把握</a:t>
            </a:r>
            <a:endParaRPr lang="ja-JP" altLang="en-US" sz="1100" dirty="0"/>
          </a:p>
          <a:p>
            <a:pPr algn="l">
              <a:spcBef>
                <a:spcPts val="400"/>
              </a:spcBef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・行動スコアリング</a:t>
            </a: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｜関心度を点数化</a:t>
            </a:r>
            <a:endParaRPr lang="ja-JP" altLang="en-US" sz="1100" dirty="0"/>
          </a:p>
        </p:txBody>
      </p:sp>
      <p:sp>
        <p:nvSpPr>
          <p:cNvPr id="54" name="見出し：費用感"/>
          <p:cNvSpPr/>
          <p:nvPr/>
        </p:nvSpPr>
        <p:spPr>
          <a:xfrm>
            <a:off x="429768" y="4023360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費用感</a:t>
            </a:r>
            <a:endParaRPr lang="ja-JP" altLang="en-US" sz="1400" dirty="0"/>
          </a:p>
        </p:txBody>
      </p:sp>
      <p:sp>
        <p:nvSpPr>
          <p:cNvPr id="55" name="見出しの説明：費用感"/>
          <p:cNvSpPr/>
          <p:nvPr/>
        </p:nvSpPr>
        <p:spPr>
          <a:xfrm>
            <a:off x="1527048" y="4023360"/>
            <a:ext cx="7827264" cy="29260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月額料金（税込）｜上位プランほど機能が増えます</a:t>
            </a:r>
            <a:endParaRPr lang="ja-JP" altLang="en-US" sz="1300" dirty="0"/>
          </a:p>
        </p:txBody>
      </p:sp>
      <p:sp>
        <p:nvSpPr>
          <p:cNvPr id="56" name="プラン名1"/>
          <p:cNvSpPr/>
          <p:nvPr/>
        </p:nvSpPr>
        <p:spPr>
          <a:xfrm>
            <a:off x="429768" y="4370832"/>
            <a:ext cx="1691640" cy="292608"/>
          </a:xfrm>
          <a:prstGeom prst="roundRect">
            <a:avLst>
              <a:gd name="adj" fmla="val 20000"/>
            </a:avLst>
          </a:prstGeom>
          <a:solidFill>
            <a:srgbClr val="7A8294"/>
          </a:solidFill>
          <a:ln w="9525">
            <a:solidFill>
              <a:srgbClr val="7A8294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フリープラン</a:t>
            </a:r>
            <a:endParaRPr lang="ja-JP" altLang="en-US" sz="1250" dirty="0"/>
          </a:p>
        </p:txBody>
      </p:sp>
      <p:sp>
        <p:nvSpPr>
          <p:cNvPr id="57" name="プランの中身1"/>
          <p:cNvSpPr/>
          <p:nvPr/>
        </p:nvSpPr>
        <p:spPr>
          <a:xfrm>
            <a:off x="429768" y="4700016"/>
            <a:ext cx="1691640" cy="78638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54864" tIns="64008" rIns="54864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</a:t>
            </a: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1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15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月200通まで</a:t>
            </a:r>
            <a:endParaRPr lang="ja-JP" altLang="en-US" sz="1150" dirty="0"/>
          </a:p>
        </p:txBody>
      </p:sp>
      <p:sp>
        <p:nvSpPr>
          <p:cNvPr id="58" name="プラン名2"/>
          <p:cNvSpPr/>
          <p:nvPr/>
        </p:nvSpPr>
        <p:spPr>
          <a:xfrm>
            <a:off x="2231136" y="4370832"/>
            <a:ext cx="1691640" cy="292608"/>
          </a:xfrm>
          <a:prstGeom prst="roundRect">
            <a:avLst>
              <a:gd name="adj" fmla="val 20000"/>
            </a:avLst>
          </a:prstGeom>
          <a:solidFill>
            <a:srgbClr val="4A6FA5"/>
          </a:solidFill>
          <a:ln w="9525">
            <a:solidFill>
              <a:srgbClr val="4A6FA5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スタートプラン</a:t>
            </a:r>
            <a:endParaRPr lang="ja-JP" altLang="en-US" sz="1250" dirty="0"/>
          </a:p>
        </p:txBody>
      </p:sp>
      <p:sp>
        <p:nvSpPr>
          <p:cNvPr id="59" name="プランの中身2"/>
          <p:cNvSpPr/>
          <p:nvPr/>
        </p:nvSpPr>
        <p:spPr>
          <a:xfrm>
            <a:off x="2231136" y="4700016"/>
            <a:ext cx="1691640" cy="78638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54864" tIns="64008" rIns="54864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5,000</a:t>
            </a: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1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15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月5,000通まで</a:t>
            </a:r>
            <a:endParaRPr lang="ja-JP" altLang="en-US" sz="1150" dirty="0"/>
          </a:p>
        </p:txBody>
      </p:sp>
      <p:sp>
        <p:nvSpPr>
          <p:cNvPr id="60" name="プラン名3"/>
          <p:cNvSpPr/>
          <p:nvPr/>
        </p:nvSpPr>
        <p:spPr>
          <a:xfrm>
            <a:off x="4032504" y="4370832"/>
            <a:ext cx="1691640" cy="292608"/>
          </a:xfrm>
          <a:prstGeom prst="roundRect">
            <a:avLst>
              <a:gd name="adj" fmla="val 20000"/>
            </a:avLst>
          </a:prstGeom>
          <a:solidFill>
            <a:srgbClr val="2F4A82"/>
          </a:solidFill>
          <a:ln w="9525">
            <a:solidFill>
              <a:srgbClr val="2F4A82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スタンダードプラン</a:t>
            </a:r>
            <a:endParaRPr lang="ja-JP" altLang="en-US" sz="1250" dirty="0"/>
          </a:p>
        </p:txBody>
      </p:sp>
      <p:sp>
        <p:nvSpPr>
          <p:cNvPr id="61" name="プランの中身3"/>
          <p:cNvSpPr/>
          <p:nvPr/>
        </p:nvSpPr>
        <p:spPr>
          <a:xfrm>
            <a:off x="4032504" y="4700016"/>
            <a:ext cx="1691640" cy="78638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54864" tIns="64008" rIns="54864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21,780</a:t>
            </a: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1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15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月30,000通まで</a:t>
            </a:r>
            <a:endParaRPr lang="ja-JP" altLang="en-US" sz="1150" dirty="0"/>
          </a:p>
        </p:txBody>
      </p:sp>
      <p:sp>
        <p:nvSpPr>
          <p:cNvPr id="62" name="プラン名4"/>
          <p:cNvSpPr/>
          <p:nvPr/>
        </p:nvSpPr>
        <p:spPr>
          <a:xfrm>
            <a:off x="5833872" y="4370832"/>
            <a:ext cx="1691640" cy="29260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 w="9525">
            <a:solidFill>
              <a:srgbClr val="1F2A5C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プロプラン</a:t>
            </a:r>
            <a:endParaRPr lang="ja-JP" altLang="en-US" sz="1250" dirty="0"/>
          </a:p>
        </p:txBody>
      </p:sp>
      <p:sp>
        <p:nvSpPr>
          <p:cNvPr id="63" name="プランの中身4"/>
          <p:cNvSpPr/>
          <p:nvPr/>
        </p:nvSpPr>
        <p:spPr>
          <a:xfrm>
            <a:off x="5833872" y="4700016"/>
            <a:ext cx="1691640" cy="78638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54864" tIns="64008" rIns="54864" bIns="36576" rtlCol="0" anchor="t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32,780</a:t>
            </a: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円</a:t>
            </a:r>
            <a:r>
              <a:rPr lang="ja-JP" altLang="en-US" sz="1050" b="0" dirty="0">
                <a:solidFill>
                  <a:srgbClr val="5A637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／月</a:t>
            </a:r>
            <a:endParaRPr lang="ja-JP" altLang="en-US" sz="1150" dirty="0"/>
          </a:p>
          <a:p>
            <a:pPr algn="ctr">
              <a:spcBef>
                <a:spcPts val="200"/>
              </a:spcBef>
              <a:buNone/>
            </a:pPr>
            <a:r>
              <a:rPr lang="ja-JP" altLang="en-US" sz="115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月50,000通まで</a:t>
            </a:r>
            <a:endParaRPr lang="ja-JP" altLang="en-US" sz="1150" dirty="0"/>
          </a:p>
        </p:txBody>
      </p:sp>
      <p:sp>
        <p:nvSpPr>
          <p:cNvPr id="64" name="別途費用の注意"/>
          <p:cNvSpPr/>
          <p:nvPr/>
        </p:nvSpPr>
        <p:spPr>
          <a:xfrm>
            <a:off x="7726680" y="4370832"/>
            <a:ext cx="1627631" cy="11155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9525">
            <a:solidFill>
              <a:srgbClr val="D1D8E0"/>
            </a:solidFill>
          </a:ln>
        </p:spPr>
        <p:txBody>
          <a:bodyPr wrap="square" lIns="73152" tIns="54864" rIns="73152" bIns="54864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※別途、LINE公式</a:t>
            </a:r>
            <a:b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アカウントの</a:t>
            </a:r>
            <a:b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月額費用が</a:t>
            </a:r>
            <a:b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かかります。</a:t>
            </a:r>
            <a:endParaRPr lang="ja-JP" altLang="en-US" sz="1100" dirty="0"/>
          </a:p>
        </p:txBody>
      </p:sp>
      <p:sp>
        <p:nvSpPr>
          <p:cNvPr id="65" name="注記・出典"/>
          <p:cNvSpPr/>
          <p:nvPr/>
        </p:nvSpPr>
        <p:spPr>
          <a:xfrm>
            <a:off x="429768" y="5650992"/>
            <a:ext cx="8924544" cy="54864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t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※初期費用0円／表示価格は税込／解約は3か月後（3回課金後）から可能です。</a:t>
            </a:r>
            <a:endParaRPr lang="ja-JP" altLang="en-US" sz="1100" dirty="0"/>
          </a:p>
          <a:p>
            <a:pPr algn="l">
              <a:buNone/>
            </a:pPr>
            <a:r>
              <a:rPr lang="ja-JP" altLang="en-US" sz="11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出典：</a:t>
            </a:r>
            <a:r>
              <a:rPr lang="ja-JP" altLang="en-US" sz="11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Lステップ公式サイト</a:t>
            </a:r>
            <a:r>
              <a:rPr lang="ja-JP" altLang="en-US" sz="1100" b="0" dirty="0">
                <a:solidFill>
                  <a:srgbClr val="444444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・サービス資料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Application>Microsoft Office PowerPoint</Application>
  <PresentationFormat>A4 210 x 297 mm</PresentationFormat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