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935" r:id="rId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40" Type="http://schemas.openxmlformats.org/officeDocument/2006/relationships/handoutMaster" Target="handoutMasters/handoutMaster1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hyperlink" Target="https://linestep.jp/lp/01/" TargetMode="Externa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6D5128D-AC86-A618-019E-D9FA2B942550}"/>
              </a:ext>
            </a:extLst>
          </p:cNvPr>
          <p:cNvSpPr/>
          <p:nvPr/>
        </p:nvSpPr>
        <p:spPr>
          <a:xfrm>
            <a:off x="379976" y="635062"/>
            <a:ext cx="9160881" cy="698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/>
          <a:p>
            <a:pPr algn="ctr">
              <a:lnSpc>
                <a:spcPts val="2455"/>
              </a:lnSpc>
            </a:pPr>
            <a:r>
              <a:rPr lang="ja-JP" altLang="en-US" sz="1400" dirty="0" b="0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LINE公式アカウントの機能を拡張する、LINE専用のツールです。</a:t>
            </a: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>
              <a:lnSpc>
                <a:spcPts val="2455"/>
              </a:lnSpc>
            </a:pPr>
            <a:r>
              <a:rPr lang="ja-JP" altLang="en-US" sz="1400" dirty="0" b="1">
                <a:solidFill>
                  <a:srgbClr val="34343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月額0円・初期費用なしから始められます。</a:t>
            </a:r>
            <a:endParaRPr lang="en-US" altLang="ja-JP" sz="1400" dirty="0">
              <a:solidFill>
                <a:srgbClr val="343434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8883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Lステップとは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見出し：機能"/>
          <p:cNvSpPr/>
          <p:nvPr/>
        </p:nvSpPr>
        <p:spPr>
          <a:xfrm>
            <a:off x="429768" y="1481328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F2A5C"/>
          </a:solidFill>
          <a:ln w="9525">
            <a:solidFill>
              <a:srgbClr val="1F2A5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機能</a:t>
            </a:r>
            <a:endParaRPr lang="ja-JP" altLang="en-US" sz="1400" dirty="0"/>
          </a:p>
        </p:txBody>
      </p:sp>
      <p:sp>
        <p:nvSpPr>
          <p:cNvPr id="47" name="見出しの説明：機能"/>
          <p:cNvSpPr/>
          <p:nvPr/>
        </p:nvSpPr>
        <p:spPr>
          <a:xfrm>
            <a:off x="1527048" y="1481328"/>
            <a:ext cx="7827264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Lステップの3つの特徴</a:t>
            </a:r>
            <a:endParaRPr lang="ja-JP" altLang="en-US" sz="1300" dirty="0"/>
          </a:p>
        </p:txBody>
      </p:sp>
      <p:sp>
        <p:nvSpPr>
          <p:cNvPr id="48" name="機能の見出し1"/>
          <p:cNvSpPr/>
          <p:nvPr/>
        </p:nvSpPr>
        <p:spPr>
          <a:xfrm>
            <a:off x="429768" y="1810512"/>
            <a:ext cx="2788920" cy="402336"/>
          </a:xfrm>
          <a:prstGeom prst="roundRect">
            <a:avLst>
              <a:gd name="adj" fmla="val 14000"/>
            </a:avLst>
          </a:prstGeom>
          <a:solidFill>
            <a:srgbClr val="1F2A5C"/>
          </a:solidFill>
          <a:ln w="9525">
            <a:solidFill>
              <a:srgbClr val="1F2A5C"/>
            </a:solidFill>
          </a:ln>
        </p:spPr>
        <p:txBody>
          <a:bodyPr wrap="square" lIns="146304" tIns="27432" rIns="91440" bIns="27432" rtlCol="0" anchor="ctr">
            <a:noAutofit/>
          </a:bodyPr>
          <a:lstStyle/>
          <a:p>
            <a:pPr algn="l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配信を自動化</a:t>
            </a:r>
            <a:endParaRPr lang="ja-JP" altLang="en-US" sz="1600" dirty="0"/>
          </a:p>
        </p:txBody>
      </p:sp>
      <p:sp>
        <p:nvSpPr>
          <p:cNvPr id="49" name="機能の中身1"/>
          <p:cNvSpPr/>
          <p:nvPr/>
        </p:nvSpPr>
        <p:spPr>
          <a:xfrm>
            <a:off x="429768" y="2249424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146304" tIns="82296" rIns="73152" bIns="36576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行動に合わせて自動で配信</a:t>
            </a:r>
            <a:endParaRPr lang="ja-JP" altLang="en-US" sz="1200" dirty="0"/>
          </a:p>
          <a:p>
            <a:pPr algn="l">
              <a:spcBef>
                <a:spcPts val="4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  <a:endParaRPr lang="ja-JP" altLang="en-US" sz="1200" dirty="0"/>
          </a:p>
          <a:p>
            <a:pPr algn="l">
              <a:spcBef>
                <a:spcPts val="2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・セグメント配信</a:t>
            </a:r>
            <a:endParaRPr lang="ja-JP" altLang="en-US" sz="1200" dirty="0"/>
          </a:p>
          <a:p>
            <a:pPr algn="l">
              <a:spcBef>
                <a:spcPts val="2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ja-JP" altLang="en-US" sz="1200" dirty="0"/>
          </a:p>
        </p:txBody>
      </p:sp>
      <p:sp>
        <p:nvSpPr>
          <p:cNvPr id="50" name="機能の見出し2"/>
          <p:cNvSpPr/>
          <p:nvPr/>
        </p:nvSpPr>
        <p:spPr>
          <a:xfrm>
            <a:off x="3497580" y="1810512"/>
            <a:ext cx="2788920" cy="402336"/>
          </a:xfrm>
          <a:prstGeom prst="roundRect">
            <a:avLst>
              <a:gd name="adj" fmla="val 14000"/>
            </a:avLst>
          </a:prstGeom>
          <a:solidFill>
            <a:srgbClr val="4A6FA5"/>
          </a:solidFill>
          <a:ln w="9525">
            <a:solidFill>
              <a:srgbClr val="4A6FA5"/>
            </a:solidFill>
          </a:ln>
        </p:spPr>
        <p:txBody>
          <a:bodyPr wrap="square" lIns="146304" tIns="27432" rIns="91440" bIns="27432" rtlCol="0" anchor="ctr">
            <a:noAutofit/>
          </a:bodyPr>
          <a:lstStyle/>
          <a:p>
            <a:pPr algn="l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お客様を管理</a:t>
            </a:r>
            <a:endParaRPr lang="ja-JP" altLang="en-US" sz="1600" dirty="0"/>
          </a:p>
        </p:txBody>
      </p:sp>
      <p:sp>
        <p:nvSpPr>
          <p:cNvPr id="51" name="機能の中身2"/>
          <p:cNvSpPr/>
          <p:nvPr/>
        </p:nvSpPr>
        <p:spPr>
          <a:xfrm>
            <a:off x="3497580" y="2249424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146304" tIns="82296" rIns="73152" bIns="36576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情報と対応状況をまとめて管理</a:t>
            </a:r>
            <a:endParaRPr lang="ja-JP" altLang="en-US" sz="1200" dirty="0"/>
          </a:p>
          <a:p>
            <a:pPr algn="l">
              <a:spcBef>
                <a:spcPts val="4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・友だち情報</a:t>
            </a:r>
            <a:endParaRPr lang="ja-JP" altLang="en-US" sz="1200" dirty="0"/>
          </a:p>
          <a:p>
            <a:pPr algn="l">
              <a:spcBef>
                <a:spcPts val="2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・個別トーク</a:t>
            </a:r>
            <a:endParaRPr lang="ja-JP" altLang="en-US" sz="1200" dirty="0"/>
          </a:p>
          <a:p>
            <a:pPr algn="l">
              <a:spcBef>
                <a:spcPts val="2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・予約管理</a:t>
            </a:r>
            <a:endParaRPr lang="ja-JP" altLang="en-US" sz="1200" dirty="0"/>
          </a:p>
        </p:txBody>
      </p:sp>
      <p:sp>
        <p:nvSpPr>
          <p:cNvPr id="52" name="機能の見出し3"/>
          <p:cNvSpPr/>
          <p:nvPr/>
        </p:nvSpPr>
        <p:spPr>
          <a:xfrm>
            <a:off x="6565392" y="1810512"/>
            <a:ext cx="2788920" cy="402336"/>
          </a:xfrm>
          <a:prstGeom prst="roundRect">
            <a:avLst>
              <a:gd name="adj" fmla="val 14000"/>
            </a:avLst>
          </a:prstGeom>
          <a:solidFill>
            <a:srgbClr val="5A6378"/>
          </a:solidFill>
          <a:ln w="9525">
            <a:solidFill>
              <a:srgbClr val="5A6378"/>
            </a:solidFill>
          </a:ln>
        </p:spPr>
        <p:txBody>
          <a:bodyPr wrap="square" lIns="146304" tIns="27432" rIns="91440" bIns="27432" rtlCol="0" anchor="ctr">
            <a:noAutofit/>
          </a:bodyPr>
          <a:lstStyle/>
          <a:p>
            <a:pPr algn="l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効果を分析</a:t>
            </a:r>
            <a:endParaRPr lang="ja-JP" altLang="en-US" sz="1600" dirty="0"/>
          </a:p>
        </p:txBody>
      </p:sp>
      <p:sp>
        <p:nvSpPr>
          <p:cNvPr id="53" name="機能の中身3"/>
          <p:cNvSpPr/>
          <p:nvPr/>
        </p:nvSpPr>
        <p:spPr>
          <a:xfrm>
            <a:off x="6565392" y="2249424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146304" tIns="82296" rIns="73152" bIns="36576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来た経路と反応を数字で把握</a:t>
            </a:r>
            <a:endParaRPr lang="ja-JP" altLang="en-US" sz="1200" dirty="0"/>
          </a:p>
          <a:p>
            <a:pPr algn="l">
              <a:spcBef>
                <a:spcPts val="4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・流入経路分析</a:t>
            </a:r>
            <a:endParaRPr lang="ja-JP" altLang="en-US" sz="1200" dirty="0"/>
          </a:p>
          <a:p>
            <a:pPr algn="l">
              <a:spcBef>
                <a:spcPts val="2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・クリック測定</a:t>
            </a:r>
            <a:endParaRPr lang="ja-JP" altLang="en-US" sz="1200" dirty="0"/>
          </a:p>
          <a:p>
            <a:pPr algn="l">
              <a:spcBef>
                <a:spcPts val="200"/>
              </a:spcBef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・ファネル分析</a:t>
            </a:r>
            <a:endParaRPr lang="ja-JP" altLang="en-US" sz="1200" dirty="0"/>
          </a:p>
        </p:txBody>
      </p:sp>
      <p:sp>
        <p:nvSpPr>
          <p:cNvPr id="54" name="見出し：費用感"/>
          <p:cNvSpPr/>
          <p:nvPr/>
        </p:nvSpPr>
        <p:spPr>
          <a:xfrm>
            <a:off x="429768" y="3639312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F2A5C"/>
          </a:solidFill>
          <a:ln w="9525">
            <a:solidFill>
              <a:srgbClr val="1F2A5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費用感</a:t>
            </a:r>
            <a:endParaRPr lang="ja-JP" altLang="en-US" sz="1400" dirty="0"/>
          </a:p>
        </p:txBody>
      </p:sp>
      <p:sp>
        <p:nvSpPr>
          <p:cNvPr id="55" name="見出しの説明：費用感"/>
          <p:cNvSpPr/>
          <p:nvPr/>
        </p:nvSpPr>
        <p:spPr>
          <a:xfrm>
            <a:off x="1527048" y="3639312"/>
            <a:ext cx="7827264" cy="29260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>
            <a:noAutofit/>
          </a:bodyPr>
          <a:lstStyle/>
          <a:p>
            <a:pPr algn="l">
              <a:buNone/>
            </a:pPr>
            <a:r>
              <a:rPr lang="ja-JP" altLang="en-US" sz="13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月額料金（税込）｜上位プランほど機能が増えます</a:t>
            </a:r>
            <a:endParaRPr lang="ja-JP" altLang="en-US" sz="1300" dirty="0"/>
          </a:p>
        </p:txBody>
      </p:sp>
      <p:sp>
        <p:nvSpPr>
          <p:cNvPr id="56" name="プラン名1"/>
          <p:cNvSpPr/>
          <p:nvPr/>
        </p:nvSpPr>
        <p:spPr>
          <a:xfrm>
            <a:off x="429768" y="3968496"/>
            <a:ext cx="2135124" cy="347472"/>
          </a:xfrm>
          <a:prstGeom prst="roundRect">
            <a:avLst>
              <a:gd name="adj" fmla="val 20000"/>
            </a:avLst>
          </a:prstGeom>
          <a:solidFill>
            <a:srgbClr val="7A8294"/>
          </a:solidFill>
          <a:ln w="9525">
            <a:solidFill>
              <a:srgbClr val="7A8294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フリープラン</a:t>
            </a:r>
            <a:endParaRPr lang="ja-JP" altLang="en-US" sz="1400" dirty="0"/>
          </a:p>
        </p:txBody>
      </p:sp>
      <p:sp>
        <p:nvSpPr>
          <p:cNvPr id="57" name="プランの中身1"/>
          <p:cNvSpPr/>
          <p:nvPr/>
        </p:nvSpPr>
        <p:spPr>
          <a:xfrm>
            <a:off x="429768" y="4352544"/>
            <a:ext cx="2135124" cy="117043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73152" tIns="45720" rIns="73152" bIns="36576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6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15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／月</a:t>
            </a:r>
            <a:endParaRPr lang="ja-JP" altLang="en-US" sz="1200" dirty="0"/>
          </a:p>
          <a:p>
            <a:pPr algn="ctr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月200通まで</a:t>
            </a:r>
            <a:endParaRPr lang="ja-JP" altLang="en-US" sz="1200" dirty="0"/>
          </a:p>
          <a:p>
            <a:pPr algn="ctr">
              <a:spcBef>
                <a:spcPts val="300"/>
              </a:spcBef>
              <a:buNone/>
            </a:pP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まずはお試し</a:t>
            </a:r>
            <a:endParaRPr lang="ja-JP" altLang="en-US" sz="1200" dirty="0"/>
          </a:p>
        </p:txBody>
      </p:sp>
      <p:sp>
        <p:nvSpPr>
          <p:cNvPr id="58" name="プラン名2"/>
          <p:cNvSpPr/>
          <p:nvPr/>
        </p:nvSpPr>
        <p:spPr>
          <a:xfrm>
            <a:off x="2692908" y="3968496"/>
            <a:ext cx="2135124" cy="347472"/>
          </a:xfrm>
          <a:prstGeom prst="roundRect">
            <a:avLst>
              <a:gd name="adj" fmla="val 20000"/>
            </a:avLst>
          </a:prstGeom>
          <a:solidFill>
            <a:srgbClr val="4A6FA5"/>
          </a:solidFill>
          <a:ln w="9525">
            <a:solidFill>
              <a:srgbClr val="4A6FA5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スタートプラン</a:t>
            </a:r>
            <a:endParaRPr lang="ja-JP" altLang="en-US" sz="1400" dirty="0"/>
          </a:p>
        </p:txBody>
      </p:sp>
      <p:sp>
        <p:nvSpPr>
          <p:cNvPr id="59" name="プランの中身2"/>
          <p:cNvSpPr/>
          <p:nvPr/>
        </p:nvSpPr>
        <p:spPr>
          <a:xfrm>
            <a:off x="2692908" y="4352544"/>
            <a:ext cx="2135124" cy="117043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73152" tIns="45720" rIns="73152" bIns="36576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6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5,000</a:t>
            </a:r>
            <a:r>
              <a:rPr lang="ja-JP" altLang="en-US" sz="15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／月</a:t>
            </a:r>
            <a:endParaRPr lang="ja-JP" altLang="en-US" sz="1200" dirty="0"/>
          </a:p>
          <a:p>
            <a:pPr algn="ctr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月5,000通まで</a:t>
            </a:r>
            <a:endParaRPr lang="ja-JP" altLang="en-US" sz="1200" dirty="0"/>
          </a:p>
          <a:p>
            <a:pPr algn="ctr">
              <a:spcBef>
                <a:spcPts val="300"/>
              </a:spcBef>
              <a:buNone/>
            </a:pP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小さく始める</a:t>
            </a:r>
            <a:endParaRPr lang="ja-JP" altLang="en-US" sz="1200" dirty="0"/>
          </a:p>
        </p:txBody>
      </p:sp>
      <p:sp>
        <p:nvSpPr>
          <p:cNvPr id="60" name="プラン名3"/>
          <p:cNvSpPr/>
          <p:nvPr/>
        </p:nvSpPr>
        <p:spPr>
          <a:xfrm>
            <a:off x="4956048" y="3968496"/>
            <a:ext cx="2135124" cy="347472"/>
          </a:xfrm>
          <a:prstGeom prst="roundRect">
            <a:avLst>
              <a:gd name="adj" fmla="val 20000"/>
            </a:avLst>
          </a:prstGeom>
          <a:solidFill>
            <a:srgbClr val="2F4A82"/>
          </a:solidFill>
          <a:ln w="9525">
            <a:solidFill>
              <a:srgbClr val="2F4A82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スタンダードプラン</a:t>
            </a:r>
            <a:endParaRPr lang="ja-JP" altLang="en-US" sz="1400" dirty="0"/>
          </a:p>
        </p:txBody>
      </p:sp>
      <p:sp>
        <p:nvSpPr>
          <p:cNvPr id="61" name="プランの中身3"/>
          <p:cNvSpPr/>
          <p:nvPr/>
        </p:nvSpPr>
        <p:spPr>
          <a:xfrm>
            <a:off x="4956048" y="4352544"/>
            <a:ext cx="2135124" cy="117043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73152" tIns="45720" rIns="73152" bIns="36576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6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21,780</a:t>
            </a:r>
            <a:r>
              <a:rPr lang="ja-JP" altLang="en-US" sz="15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／月</a:t>
            </a:r>
            <a:endParaRPr lang="ja-JP" altLang="en-US" sz="1200" dirty="0"/>
          </a:p>
          <a:p>
            <a:pPr algn="ctr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月30,000通まで</a:t>
            </a:r>
            <a:endParaRPr lang="ja-JP" altLang="en-US" sz="1200" dirty="0"/>
          </a:p>
          <a:p>
            <a:pPr algn="ctr">
              <a:spcBef>
                <a:spcPts val="300"/>
              </a:spcBef>
              <a:buNone/>
            </a:pP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本格的に運用</a:t>
            </a:r>
            <a:endParaRPr lang="ja-JP" altLang="en-US" sz="1200" dirty="0"/>
          </a:p>
        </p:txBody>
      </p:sp>
      <p:sp>
        <p:nvSpPr>
          <p:cNvPr id="62" name="プラン名4"/>
          <p:cNvSpPr/>
          <p:nvPr/>
        </p:nvSpPr>
        <p:spPr>
          <a:xfrm>
            <a:off x="7219188" y="3968496"/>
            <a:ext cx="2135124" cy="347472"/>
          </a:xfrm>
          <a:prstGeom prst="roundRect">
            <a:avLst>
              <a:gd name="adj" fmla="val 20000"/>
            </a:avLst>
          </a:prstGeom>
          <a:solidFill>
            <a:srgbClr val="1F2A5C"/>
          </a:solidFill>
          <a:ln w="9525">
            <a:solidFill>
              <a:srgbClr val="1F2A5C"/>
            </a:solidFill>
          </a:ln>
        </p:spPr>
        <p:txBody>
          <a:bodyPr wrap="square" lIns="45720" tIns="18288" rIns="45720" bIns="18288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プロプラン</a:t>
            </a:r>
            <a:endParaRPr lang="ja-JP" altLang="en-US" sz="1400" dirty="0"/>
          </a:p>
        </p:txBody>
      </p:sp>
      <p:sp>
        <p:nvSpPr>
          <p:cNvPr id="63" name="プランの中身4"/>
          <p:cNvSpPr/>
          <p:nvPr/>
        </p:nvSpPr>
        <p:spPr>
          <a:xfrm>
            <a:off x="7219188" y="4352544"/>
            <a:ext cx="2135124" cy="1170432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9525">
            <a:solidFill>
              <a:srgbClr val="D1D8E0"/>
            </a:solidFill>
          </a:ln>
        </p:spPr>
        <p:txBody>
          <a:bodyPr wrap="square" lIns="73152" tIns="45720" rIns="73152" bIns="36576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ja-JP" altLang="en-US" sz="26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32,780</a:t>
            </a:r>
            <a:r>
              <a:rPr lang="ja-JP" altLang="en-US" sz="15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／月</a:t>
            </a:r>
            <a:endParaRPr lang="ja-JP" altLang="en-US" sz="1200" dirty="0"/>
          </a:p>
          <a:p>
            <a:pPr algn="ctr">
              <a:spcBef>
                <a:spcPts val="0"/>
              </a:spcBef>
              <a:buNone/>
            </a:pPr>
            <a:r>
              <a:rPr lang="ja-JP" altLang="en-US" sz="1200" b="1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月50,000通まで</a:t>
            </a:r>
            <a:endParaRPr lang="ja-JP" altLang="en-US" sz="1200" dirty="0"/>
          </a:p>
          <a:p>
            <a:pPr algn="ctr">
              <a:spcBef>
                <a:spcPts val="300"/>
              </a:spcBef>
              <a:buNone/>
            </a:pPr>
            <a:r>
              <a:rPr lang="ja-JP" altLang="en-US" sz="1100" b="0" dirty="0">
                <a:solidFill>
                  <a:srgbClr val="5A6378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分析まで全機能</a:t>
            </a:r>
            <a:endParaRPr lang="ja-JP" altLang="en-US" sz="1200" dirty="0"/>
          </a:p>
        </p:txBody>
      </p:sp>
      <p:sp>
        <p:nvSpPr>
          <p:cNvPr id="64" name="注記・出典"/>
          <p:cNvSpPr/>
          <p:nvPr/>
        </p:nvSpPr>
        <p:spPr>
          <a:xfrm>
            <a:off x="429768" y="5614416"/>
            <a:ext cx="892454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t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※別途、LINE公式アカウントの月額費用がかかります。</a:t>
            </a:r>
            <a:endParaRPr lang="ja-JP" altLang="en-US" sz="1100" dirty="0"/>
          </a:p>
          <a:p>
            <a:pPr algn="l">
              <a:buNone/>
            </a:pPr>
            <a:r>
              <a:rPr lang="ja-JP" altLang="en-US" sz="1100" b="0" dirty="0">
                <a:solidFill>
                  <a:srgbClr val="44444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※初期費用0円／表示価格は税込／解約は3か月後（3回課金後）から可能です。</a:t>
            </a:r>
            <a:endParaRPr lang="ja-JP" altLang="en-US" sz="1100" dirty="0"/>
          </a:p>
          <a:p>
            <a:pPr algn="l">
              <a:buNone/>
            </a:pPr>
            <a:r>
              <a:rPr lang="ja-JP" altLang="en-US" sz="1100" b="0" dirty="0">
                <a:solidFill>
                  <a:srgbClr val="44444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出典：</a:t>
            </a:r>
            <a:r>
              <a:rPr lang="ja-JP" altLang="en-US" sz="1100" b="0" dirty="0">
                <a:solidFill>
                  <a:srgbClr val="444444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Lステップ公式サイト</a:t>
            </a:r>
            <a:r>
              <a:rPr lang="ja-JP" altLang="en-US" sz="1100" b="0" dirty="0">
                <a:solidFill>
                  <a:srgbClr val="444444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・サービス資料</a:t>
            </a:r>
            <a:endParaRPr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Application>Microsoft Office PowerPoint</Application>
  <PresentationFormat>A4 210 x 297 mm</PresentationFormat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