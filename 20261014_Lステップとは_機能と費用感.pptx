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39"/>
  </p:notesMasterIdLst>
  <p:handoutMasterIdLst>
    <p:handoutMasterId r:id="rId40"/>
  </p:handoutMasterIdLst>
  <p:sldIdLst>
    <p:sldId id="2935" r:id="rId4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534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39" Type="http://schemas.openxmlformats.org/officeDocument/2006/relationships/notesMaster" Target="notesMasters/notesMaster1.xml"/><Relationship Id="rId4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40" Type="http://schemas.openxmlformats.org/officeDocument/2006/relationships/handoutMaster" Target="handoutMasters/handoutMaster1.xml"/><Relationship Id="rId44" Type="http://schemas.openxmlformats.org/officeDocument/2006/relationships/tableStyles" Target="tableStyles.xml"/><Relationship Id="rId4" Type="http://schemas.openxmlformats.org/officeDocument/2006/relationships/slide" Target="slides/slide2.xml"/><Relationship Id="rId43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hyperlink" Target="https://linestep.jp/lp/01/" TargetMode="Externa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79F4-FB71-CB84-349D-670C2D29F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6D5128D-AC86-A618-019E-D9FA2B942550}"/>
              </a:ext>
            </a:extLst>
          </p:cNvPr>
          <p:cNvSpPr/>
          <p:nvPr/>
        </p:nvSpPr>
        <p:spPr>
          <a:xfrm>
            <a:off x="379976" y="635062"/>
            <a:ext cx="9160881" cy="698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anchor="ctr"/>
          <a:lstStyle/>
          <a:p>
            <a:pPr algn="ctr">
              <a:lnSpc>
                <a:spcPts val="2455"/>
              </a:lnSpc>
            </a:pPr>
            <a:r>
              <a:rPr lang="ja-JP" altLang="en-US" sz="1400" dirty="0" b="0">
                <a:solidFill>
                  <a:srgbClr val="343434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LINE公式アカウントの機能を拡張する、LINE専用のマーケティングツールです。</a:t>
            </a:r>
            <a:endParaRPr lang="en-US" altLang="ja-JP" sz="1400" dirty="0">
              <a:solidFill>
                <a:srgbClr val="343434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>
              <a:lnSpc>
                <a:spcPts val="2455"/>
              </a:lnSpc>
            </a:pPr>
            <a:r>
              <a:rPr lang="ja-JP" altLang="en-US" sz="1400" dirty="0" b="1">
                <a:solidFill>
                  <a:srgbClr val="343434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自動配信・顧客管理・効果分析ができ、月額0円（初期費用なし）から始められます。</a:t>
            </a:r>
            <a:endParaRPr lang="en-US" altLang="ja-JP" sz="1400" dirty="0">
              <a:solidFill>
                <a:srgbClr val="343434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5C1533E1-7172-D6F9-4659-AAF59CE221F1}"/>
              </a:ext>
            </a:extLst>
          </p:cNvPr>
          <p:cNvCxnSpPr>
            <a:cxnSpLocks/>
          </p:cNvCxnSpPr>
          <p:nvPr/>
        </p:nvCxnSpPr>
        <p:spPr>
          <a:xfrm>
            <a:off x="0" y="1390675"/>
            <a:ext cx="9906000" cy="0"/>
          </a:xfrm>
          <a:prstGeom prst="line">
            <a:avLst/>
          </a:prstGeom>
          <a:ln w="19050">
            <a:solidFill>
              <a:schemeClr val="bg1">
                <a:lumMod val="85000"/>
                <a:alpha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Google Shape;156;p7">
            <a:extLst>
              <a:ext uri="{FF2B5EF4-FFF2-40B4-BE49-F238E27FC236}">
                <a16:creationId xmlns:a16="http://schemas.microsoft.com/office/drawing/2014/main" id="{5303208C-F2F3-3716-B706-B8EDA63E9750}"/>
              </a:ext>
            </a:extLst>
          </p:cNvPr>
          <p:cNvSpPr txBox="1"/>
          <p:nvPr/>
        </p:nvSpPr>
        <p:spPr>
          <a:xfrm>
            <a:off x="548883" y="138118"/>
            <a:ext cx="6514857" cy="338554"/>
          </a:xfrm>
          <a:prstGeom prst="rect">
            <a:avLst/>
          </a:prstGeom>
          <a:noFill/>
          <a:ln w="19050"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lang="ja-JP" sz="1600" b="1" dirty="0">
                <a:solidFill>
                  <a:srgbClr val="002060"/>
                </a:solidFill>
                <a:latin typeface="Meiryo"/>
                <a:ea typeface="Meiryo"/>
                <a:cs typeface="Meiryo"/>
                <a:sym typeface="Meiryo"/>
              </a:rPr>
              <a:t>Lステップとは</a:t>
            </a:r>
            <a:endParaRPr sz="1600" b="1" dirty="0">
              <a:solidFill>
                <a:srgbClr val="00206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見出し：機能"/>
          <p:cNvSpPr/>
          <p:nvPr/>
        </p:nvSpPr>
        <p:spPr>
          <a:xfrm>
            <a:off x="429768" y="1463040"/>
            <a:ext cx="914400" cy="256032"/>
          </a:xfrm>
          <a:prstGeom prst="roundRect">
            <a:avLst>
              <a:gd name="adj" fmla="val 25000"/>
            </a:avLst>
          </a:prstGeom>
          <a:solidFill>
            <a:srgbClr val="1F2A5C"/>
          </a:solidFill>
          <a:ln w="9525">
            <a:solidFill>
              <a:srgbClr val="1F2A5C"/>
            </a:solidFill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機能</a:t>
            </a:r>
            <a:endParaRPr lang="ja-JP" altLang="en-US" sz="1300" dirty="0"/>
          </a:p>
        </p:txBody>
      </p:sp>
      <p:sp>
        <p:nvSpPr>
          <p:cNvPr id="47" name="見出しの説明：機能"/>
          <p:cNvSpPr/>
          <p:nvPr/>
        </p:nvSpPr>
        <p:spPr>
          <a:xfrm>
            <a:off x="1435608" y="1463040"/>
            <a:ext cx="7918704" cy="256032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l">
              <a:buNone/>
            </a:pPr>
            <a:r>
              <a:rPr lang="ja-JP" altLang="en-US" sz="125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Lステップの3つの特徴｜配信の自動化・顧客管理・効果分析</a:t>
            </a:r>
            <a:endParaRPr lang="ja-JP" altLang="en-US" sz="1250" dirty="0"/>
          </a:p>
        </p:txBody>
      </p:sp>
      <p:sp>
        <p:nvSpPr>
          <p:cNvPr id="48" name="機能の見出し1"/>
          <p:cNvSpPr/>
          <p:nvPr/>
        </p:nvSpPr>
        <p:spPr>
          <a:xfrm>
            <a:off x="429768" y="1755648"/>
            <a:ext cx="2788920" cy="548640"/>
          </a:xfrm>
          <a:prstGeom prst="roundRect">
            <a:avLst>
              <a:gd name="adj" fmla="val 12000"/>
            </a:avLst>
          </a:prstGeom>
          <a:solidFill>
            <a:srgbClr val="1F2A5C"/>
          </a:solidFill>
          <a:ln w="9525">
            <a:solidFill>
              <a:srgbClr val="1F2A5C"/>
            </a:solidFill>
          </a:ln>
        </p:spPr>
        <p:txBody>
          <a:bodyPr wrap="square" lIns="128016" tIns="27432" rIns="91440" bIns="27432" rtlCol="0" anchor="ctr">
            <a:noAutofit/>
          </a:bodyPr>
          <a:lstStyle/>
          <a:p>
            <a:pPr algn="l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配信を自動化</a:t>
            </a:r>
            <a:endParaRPr lang="ja-JP" altLang="en-US" sz="1400" dirty="0"/>
          </a:p>
          <a:p>
            <a:pPr algn="l">
              <a:buNone/>
            </a:pPr>
            <a:r>
              <a:rPr lang="ja-JP" altLang="en-US" sz="10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お客様の行動に合わせて自動で届ける</a:t>
            </a:r>
            <a:endParaRPr lang="ja-JP" altLang="en-US" sz="1400" dirty="0"/>
          </a:p>
        </p:txBody>
      </p:sp>
      <p:sp>
        <p:nvSpPr>
          <p:cNvPr id="49" name="機能の中身1"/>
          <p:cNvSpPr/>
          <p:nvPr/>
        </p:nvSpPr>
        <p:spPr>
          <a:xfrm>
            <a:off x="429768" y="2340864"/>
            <a:ext cx="2788920" cy="10972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9525">
            <a:solidFill>
              <a:srgbClr val="D1D8E0"/>
            </a:solidFill>
          </a:ln>
        </p:spPr>
        <p:txBody>
          <a:bodyPr wrap="square" lIns="109728" tIns="64008" rIns="73152" bIns="36576" rtlCol="0" anchor="t">
            <a:noAutofit/>
          </a:bodyPr>
          <a:lstStyle/>
          <a:p>
            <a:pPr algn="l">
              <a:spcBef>
                <a:spcPts val="200"/>
              </a:spcBef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・ステップ配信</a:t>
            </a: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｜順番に自動で配信</a:t>
            </a:r>
            <a:endParaRPr lang="ja-JP" altLang="en-US" sz="1100" dirty="0"/>
          </a:p>
          <a:p>
            <a:pPr algn="l">
              <a:spcBef>
                <a:spcPts val="200"/>
              </a:spcBef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・セグメント配信</a:t>
            </a: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｜狙った方だけに配信</a:t>
            </a:r>
            <a:endParaRPr lang="ja-JP" altLang="en-US" sz="1100" dirty="0"/>
          </a:p>
          <a:p>
            <a:pPr algn="l">
              <a:spcBef>
                <a:spcPts val="200"/>
              </a:spcBef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・リマインダ配信</a:t>
            </a: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｜予約前に自動で通知</a:t>
            </a:r>
            <a:endParaRPr lang="ja-JP" altLang="en-US" sz="1100" dirty="0"/>
          </a:p>
          <a:p>
            <a:pPr algn="l">
              <a:spcBef>
                <a:spcPts val="200"/>
              </a:spcBef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・自動応答</a:t>
            </a: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｜質問に自動で返信</a:t>
            </a:r>
            <a:endParaRPr lang="ja-JP" altLang="en-US" sz="1100" dirty="0"/>
          </a:p>
        </p:txBody>
      </p:sp>
      <p:sp>
        <p:nvSpPr>
          <p:cNvPr id="50" name="機能の見出し2"/>
          <p:cNvSpPr/>
          <p:nvPr/>
        </p:nvSpPr>
        <p:spPr>
          <a:xfrm>
            <a:off x="3497580" y="1755648"/>
            <a:ext cx="2788920" cy="548640"/>
          </a:xfrm>
          <a:prstGeom prst="roundRect">
            <a:avLst>
              <a:gd name="adj" fmla="val 12000"/>
            </a:avLst>
          </a:prstGeom>
          <a:solidFill>
            <a:srgbClr val="4A6FA5"/>
          </a:solidFill>
          <a:ln w="9525">
            <a:solidFill>
              <a:srgbClr val="4A6FA5"/>
            </a:solidFill>
          </a:ln>
        </p:spPr>
        <p:txBody>
          <a:bodyPr wrap="square" lIns="128016" tIns="27432" rIns="91440" bIns="27432" rtlCol="0" anchor="ctr">
            <a:noAutofit/>
          </a:bodyPr>
          <a:lstStyle/>
          <a:p>
            <a:pPr algn="l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お客様を管理</a:t>
            </a:r>
            <a:endParaRPr lang="ja-JP" altLang="en-US" sz="1400" dirty="0"/>
          </a:p>
          <a:p>
            <a:pPr algn="l">
              <a:buNone/>
            </a:pPr>
            <a:r>
              <a:rPr lang="ja-JP" altLang="en-US" sz="10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友だちごとの情報と対応状況を一元管理</a:t>
            </a:r>
            <a:endParaRPr lang="ja-JP" altLang="en-US" sz="1400" dirty="0"/>
          </a:p>
        </p:txBody>
      </p:sp>
      <p:sp>
        <p:nvSpPr>
          <p:cNvPr id="51" name="機能の中身2"/>
          <p:cNvSpPr/>
          <p:nvPr/>
        </p:nvSpPr>
        <p:spPr>
          <a:xfrm>
            <a:off x="3497580" y="2340864"/>
            <a:ext cx="2788920" cy="10972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9525">
            <a:solidFill>
              <a:srgbClr val="D1D8E0"/>
            </a:solidFill>
          </a:ln>
        </p:spPr>
        <p:txBody>
          <a:bodyPr wrap="square" lIns="109728" tIns="64008" rIns="73152" bIns="36576" rtlCol="0" anchor="t">
            <a:noAutofit/>
          </a:bodyPr>
          <a:lstStyle/>
          <a:p>
            <a:pPr algn="l">
              <a:spcBef>
                <a:spcPts val="200"/>
              </a:spcBef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・友だち情報</a:t>
            </a: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｜属性や行動を記録</a:t>
            </a:r>
            <a:endParaRPr lang="ja-JP" altLang="en-US" sz="1100" dirty="0"/>
          </a:p>
          <a:p>
            <a:pPr algn="l">
              <a:spcBef>
                <a:spcPts val="200"/>
              </a:spcBef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・個別トーク</a:t>
            </a: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｜1対1でチャット対応</a:t>
            </a:r>
            <a:endParaRPr lang="ja-JP" altLang="en-US" sz="1100" dirty="0"/>
          </a:p>
          <a:p>
            <a:pPr algn="l">
              <a:spcBef>
                <a:spcPts val="200"/>
              </a:spcBef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・回答フォーム</a:t>
            </a: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｜アンケート・申込受付</a:t>
            </a:r>
            <a:endParaRPr lang="ja-JP" altLang="en-US" sz="1100" dirty="0"/>
          </a:p>
          <a:p>
            <a:pPr algn="l">
              <a:spcBef>
                <a:spcPts val="200"/>
              </a:spcBef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・予約管理</a:t>
            </a: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｜LINEで予約を受付</a:t>
            </a:r>
            <a:endParaRPr lang="ja-JP" altLang="en-US" sz="1100" dirty="0"/>
          </a:p>
        </p:txBody>
      </p:sp>
      <p:sp>
        <p:nvSpPr>
          <p:cNvPr id="52" name="機能の見出し3"/>
          <p:cNvSpPr/>
          <p:nvPr/>
        </p:nvSpPr>
        <p:spPr>
          <a:xfrm>
            <a:off x="6565392" y="1755648"/>
            <a:ext cx="2788920" cy="548640"/>
          </a:xfrm>
          <a:prstGeom prst="roundRect">
            <a:avLst>
              <a:gd name="adj" fmla="val 12000"/>
            </a:avLst>
          </a:prstGeom>
          <a:solidFill>
            <a:srgbClr val="5A6378"/>
          </a:solidFill>
          <a:ln w="9525">
            <a:solidFill>
              <a:srgbClr val="5A6378"/>
            </a:solidFill>
          </a:ln>
        </p:spPr>
        <p:txBody>
          <a:bodyPr wrap="square" lIns="128016" tIns="27432" rIns="91440" bIns="27432" rtlCol="0" anchor="ctr">
            <a:noAutofit/>
          </a:bodyPr>
          <a:lstStyle/>
          <a:p>
            <a:pPr algn="l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効果を分析</a:t>
            </a:r>
            <a:endParaRPr lang="ja-JP" altLang="en-US" sz="1400" dirty="0"/>
          </a:p>
          <a:p>
            <a:pPr algn="l">
              <a:buNone/>
            </a:pPr>
            <a:r>
              <a:rPr lang="ja-JP" altLang="en-US" sz="10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どこから来て何に反応したかを把握</a:t>
            </a:r>
            <a:endParaRPr lang="ja-JP" altLang="en-US" sz="1400" dirty="0"/>
          </a:p>
        </p:txBody>
      </p:sp>
      <p:sp>
        <p:nvSpPr>
          <p:cNvPr id="53" name="機能の中身3"/>
          <p:cNvSpPr/>
          <p:nvPr/>
        </p:nvSpPr>
        <p:spPr>
          <a:xfrm>
            <a:off x="6565392" y="2340864"/>
            <a:ext cx="2788920" cy="10972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9525">
            <a:solidFill>
              <a:srgbClr val="D1D8E0"/>
            </a:solidFill>
          </a:ln>
        </p:spPr>
        <p:txBody>
          <a:bodyPr wrap="square" lIns="109728" tIns="64008" rIns="73152" bIns="36576" rtlCol="0" anchor="t">
            <a:noAutofit/>
          </a:bodyPr>
          <a:lstStyle/>
          <a:p>
            <a:pPr algn="l">
              <a:spcBef>
                <a:spcPts val="200"/>
              </a:spcBef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・流入経路分析</a:t>
            </a: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｜どこから追加したか</a:t>
            </a:r>
            <a:endParaRPr lang="ja-JP" altLang="en-US" sz="1100" dirty="0"/>
          </a:p>
          <a:p>
            <a:pPr algn="l">
              <a:spcBef>
                <a:spcPts val="200"/>
              </a:spcBef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・URLクリック測定</a:t>
            </a: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｜誰が押したか</a:t>
            </a:r>
            <a:endParaRPr lang="ja-JP" altLang="en-US" sz="1100" dirty="0"/>
          </a:p>
          <a:p>
            <a:pPr algn="l">
              <a:spcBef>
                <a:spcPts val="200"/>
              </a:spcBef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・ファネル分析</a:t>
            </a: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｜離脱ポイントを把握</a:t>
            </a:r>
            <a:endParaRPr lang="ja-JP" altLang="en-US" sz="1100" dirty="0"/>
          </a:p>
          <a:p>
            <a:pPr algn="l">
              <a:spcBef>
                <a:spcPts val="200"/>
              </a:spcBef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・行動スコアリング</a:t>
            </a: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｜関心度を点数化</a:t>
            </a:r>
            <a:endParaRPr lang="ja-JP" altLang="en-US" sz="1100" dirty="0"/>
          </a:p>
        </p:txBody>
      </p:sp>
      <p:sp>
        <p:nvSpPr>
          <p:cNvPr id="54" name="見出し：費用感"/>
          <p:cNvSpPr/>
          <p:nvPr/>
        </p:nvSpPr>
        <p:spPr>
          <a:xfrm>
            <a:off x="429768" y="3511296"/>
            <a:ext cx="914400" cy="256032"/>
          </a:xfrm>
          <a:prstGeom prst="roundRect">
            <a:avLst>
              <a:gd name="adj" fmla="val 25000"/>
            </a:avLst>
          </a:prstGeom>
          <a:solidFill>
            <a:srgbClr val="1F2A5C"/>
          </a:solidFill>
          <a:ln w="9525">
            <a:solidFill>
              <a:srgbClr val="1F2A5C"/>
            </a:solidFill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費用感</a:t>
            </a:r>
            <a:endParaRPr lang="ja-JP" altLang="en-US" sz="1300" dirty="0"/>
          </a:p>
        </p:txBody>
      </p:sp>
      <p:sp>
        <p:nvSpPr>
          <p:cNvPr id="55" name="見出しの説明：費用感"/>
          <p:cNvSpPr/>
          <p:nvPr/>
        </p:nvSpPr>
        <p:spPr>
          <a:xfrm>
            <a:off x="1435608" y="3511296"/>
            <a:ext cx="7918704" cy="256032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l">
              <a:buNone/>
            </a:pPr>
            <a:r>
              <a:rPr lang="ja-JP" altLang="en-US" sz="125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月額料金（税込）｜上位プランほど、配信数と使える機能が増えます</a:t>
            </a:r>
            <a:endParaRPr lang="ja-JP" altLang="en-US" sz="1250" dirty="0"/>
          </a:p>
        </p:txBody>
      </p:sp>
      <p:sp>
        <p:nvSpPr>
          <p:cNvPr id="56" name="プラン名1"/>
          <p:cNvSpPr/>
          <p:nvPr/>
        </p:nvSpPr>
        <p:spPr>
          <a:xfrm>
            <a:off x="429768" y="3803904"/>
            <a:ext cx="2135124" cy="292608"/>
          </a:xfrm>
          <a:prstGeom prst="roundRect">
            <a:avLst>
              <a:gd name="adj" fmla="val 20000"/>
            </a:avLst>
          </a:prstGeom>
          <a:solidFill>
            <a:srgbClr val="7A8294"/>
          </a:solidFill>
          <a:ln w="9525">
            <a:solidFill>
              <a:srgbClr val="7A8294"/>
            </a:solidFill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フリープラン</a:t>
            </a:r>
            <a:endParaRPr lang="ja-JP" altLang="en-US" sz="1300" dirty="0"/>
          </a:p>
        </p:txBody>
      </p:sp>
      <p:sp>
        <p:nvSpPr>
          <p:cNvPr id="57" name="プランの中身1"/>
          <p:cNvSpPr/>
          <p:nvPr/>
        </p:nvSpPr>
        <p:spPr>
          <a:xfrm>
            <a:off x="429768" y="4133087"/>
            <a:ext cx="2135124" cy="1499616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9525">
            <a:solidFill>
              <a:srgbClr val="D1D8E0"/>
            </a:solidFill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ja-JP" altLang="en-US" sz="2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0</a:t>
            </a:r>
            <a:r>
              <a:rPr lang="ja-JP" altLang="en-US" sz="13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円</a:t>
            </a:r>
            <a:r>
              <a:rPr lang="ja-JP" altLang="en-US" sz="1050" b="0" dirty="0">
                <a:solidFill>
                  <a:srgbClr val="5A6378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／月</a:t>
            </a:r>
            <a:endParaRPr lang="ja-JP" altLang="en-US" sz="1050" dirty="0"/>
          </a:p>
          <a:p>
            <a:pPr algn="ctr"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5A6378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月の配信数 </a:t>
            </a:r>
            <a:r>
              <a:rPr lang="ja-JP" altLang="en-US" sz="1200" b="1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〜200通</a:t>
            </a:r>
            <a:endParaRPr lang="ja-JP" altLang="en-US" sz="1050" dirty="0"/>
          </a:p>
          <a:p>
            <a:pPr algn="ctr">
              <a:spcBef>
                <a:spcPts val="400"/>
              </a:spcBef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まずは気軽に試したい方</a:t>
            </a:r>
            <a:endParaRPr lang="ja-JP" altLang="en-US" sz="1050" dirty="0"/>
          </a:p>
          <a:p>
            <a:pPr algn="ctr">
              <a:spcBef>
                <a:spcPts val="200"/>
              </a:spcBef>
              <a:buNone/>
            </a:pPr>
            <a: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基本機能（自動応答など）</a:t>
            </a:r>
            <a:b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※1社1アカウントまで</a:t>
            </a:r>
            <a:endParaRPr lang="ja-JP" altLang="en-US" sz="1050" dirty="0"/>
          </a:p>
        </p:txBody>
      </p:sp>
      <p:sp>
        <p:nvSpPr>
          <p:cNvPr id="58" name="プラン名2"/>
          <p:cNvSpPr/>
          <p:nvPr/>
        </p:nvSpPr>
        <p:spPr>
          <a:xfrm>
            <a:off x="2692908" y="3803904"/>
            <a:ext cx="2135124" cy="292608"/>
          </a:xfrm>
          <a:prstGeom prst="roundRect">
            <a:avLst>
              <a:gd name="adj" fmla="val 20000"/>
            </a:avLst>
          </a:prstGeom>
          <a:solidFill>
            <a:srgbClr val="4A6FA5"/>
          </a:solidFill>
          <a:ln w="9525">
            <a:solidFill>
              <a:srgbClr val="4A6FA5"/>
            </a:solidFill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スタートプラン</a:t>
            </a:r>
            <a:endParaRPr lang="ja-JP" altLang="en-US" sz="1300" dirty="0"/>
          </a:p>
        </p:txBody>
      </p:sp>
      <p:sp>
        <p:nvSpPr>
          <p:cNvPr id="59" name="プランの中身2"/>
          <p:cNvSpPr/>
          <p:nvPr/>
        </p:nvSpPr>
        <p:spPr>
          <a:xfrm>
            <a:off x="2692908" y="4133087"/>
            <a:ext cx="2135124" cy="1499616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9525">
            <a:solidFill>
              <a:srgbClr val="D1D8E0"/>
            </a:solidFill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ja-JP" altLang="en-US" sz="2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5,000</a:t>
            </a:r>
            <a:r>
              <a:rPr lang="ja-JP" altLang="en-US" sz="13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円</a:t>
            </a:r>
            <a:r>
              <a:rPr lang="ja-JP" altLang="en-US" sz="1050" b="0" dirty="0">
                <a:solidFill>
                  <a:srgbClr val="5A6378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／月</a:t>
            </a:r>
            <a:endParaRPr lang="ja-JP" altLang="en-US" sz="1050" dirty="0"/>
          </a:p>
          <a:p>
            <a:pPr algn="ctr"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5A6378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月の配信数 </a:t>
            </a:r>
            <a:r>
              <a:rPr lang="ja-JP" altLang="en-US" sz="1200" b="1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〜5,000通</a:t>
            </a:r>
            <a:endParaRPr lang="ja-JP" altLang="en-US" sz="1050" dirty="0"/>
          </a:p>
          <a:p>
            <a:pPr algn="ctr">
              <a:spcBef>
                <a:spcPts val="400"/>
              </a:spcBef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小さく始めたい方</a:t>
            </a:r>
            <a:endParaRPr lang="ja-JP" altLang="en-US" sz="1050" dirty="0"/>
          </a:p>
          <a:p>
            <a:pPr algn="ctr">
              <a:spcBef>
                <a:spcPts val="200"/>
              </a:spcBef>
              <a:buNone/>
            </a:pPr>
            <a: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＋Lフレックス</a:t>
            </a:r>
            <a:b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（デザイン自由なメッセージ）</a:t>
            </a:r>
            <a:endParaRPr lang="ja-JP" altLang="en-US" sz="1050" dirty="0"/>
          </a:p>
        </p:txBody>
      </p:sp>
      <p:sp>
        <p:nvSpPr>
          <p:cNvPr id="60" name="プラン名3"/>
          <p:cNvSpPr/>
          <p:nvPr/>
        </p:nvSpPr>
        <p:spPr>
          <a:xfrm>
            <a:off x="4956048" y="3803904"/>
            <a:ext cx="2135124" cy="292608"/>
          </a:xfrm>
          <a:prstGeom prst="roundRect">
            <a:avLst>
              <a:gd name="adj" fmla="val 20000"/>
            </a:avLst>
          </a:prstGeom>
          <a:solidFill>
            <a:srgbClr val="2F4A82"/>
          </a:solidFill>
          <a:ln w="9525">
            <a:solidFill>
              <a:srgbClr val="2F4A82"/>
            </a:solidFill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スタンダードプラン</a:t>
            </a:r>
            <a:endParaRPr lang="ja-JP" altLang="en-US" sz="1300" dirty="0"/>
          </a:p>
        </p:txBody>
      </p:sp>
      <p:sp>
        <p:nvSpPr>
          <p:cNvPr id="61" name="プランの中身3"/>
          <p:cNvSpPr/>
          <p:nvPr/>
        </p:nvSpPr>
        <p:spPr>
          <a:xfrm>
            <a:off x="4956048" y="4133087"/>
            <a:ext cx="2135124" cy="1499616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9525">
            <a:solidFill>
              <a:srgbClr val="D1D8E0"/>
            </a:solidFill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ja-JP" altLang="en-US" sz="2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21,780</a:t>
            </a:r>
            <a:r>
              <a:rPr lang="ja-JP" altLang="en-US" sz="13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円</a:t>
            </a:r>
            <a:r>
              <a:rPr lang="ja-JP" altLang="en-US" sz="1050" b="0" dirty="0">
                <a:solidFill>
                  <a:srgbClr val="5A6378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／月</a:t>
            </a:r>
            <a:endParaRPr lang="ja-JP" altLang="en-US" sz="1050" dirty="0"/>
          </a:p>
          <a:p>
            <a:pPr algn="ctr"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5A6378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月の配信数 </a:t>
            </a:r>
            <a:r>
              <a:rPr lang="ja-JP" altLang="en-US" sz="1200" b="1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〜30,000通</a:t>
            </a:r>
            <a:endParaRPr lang="ja-JP" altLang="en-US" sz="1050" dirty="0"/>
          </a:p>
          <a:p>
            <a:pPr algn="ctr">
              <a:spcBef>
                <a:spcPts val="400"/>
              </a:spcBef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リッチメニューも使いたい方</a:t>
            </a:r>
            <a:endParaRPr lang="ja-JP" altLang="en-US" sz="1050" dirty="0"/>
          </a:p>
          <a:p>
            <a:pPr algn="ctr">
              <a:spcBef>
                <a:spcPts val="200"/>
              </a:spcBef>
              <a:buNone/>
            </a:pPr>
            <a: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＋リッチメニューの出し分け</a:t>
            </a:r>
            <a:b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＋URLクリック測定</a:t>
            </a:r>
            <a:endParaRPr lang="ja-JP" altLang="en-US" sz="1050" dirty="0"/>
          </a:p>
        </p:txBody>
      </p:sp>
      <p:sp>
        <p:nvSpPr>
          <p:cNvPr id="62" name="プラン名4"/>
          <p:cNvSpPr/>
          <p:nvPr/>
        </p:nvSpPr>
        <p:spPr>
          <a:xfrm>
            <a:off x="7219188" y="3803904"/>
            <a:ext cx="2135124" cy="292608"/>
          </a:xfrm>
          <a:prstGeom prst="roundRect">
            <a:avLst>
              <a:gd name="adj" fmla="val 20000"/>
            </a:avLst>
          </a:prstGeom>
          <a:solidFill>
            <a:srgbClr val="1F2A5C"/>
          </a:solidFill>
          <a:ln w="9525">
            <a:solidFill>
              <a:srgbClr val="1F2A5C"/>
            </a:solidFill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プロプラン</a:t>
            </a:r>
            <a:endParaRPr lang="ja-JP" altLang="en-US" sz="1300" dirty="0"/>
          </a:p>
        </p:txBody>
      </p:sp>
      <p:sp>
        <p:nvSpPr>
          <p:cNvPr id="63" name="プランの中身4"/>
          <p:cNvSpPr/>
          <p:nvPr/>
        </p:nvSpPr>
        <p:spPr>
          <a:xfrm>
            <a:off x="7219188" y="4133087"/>
            <a:ext cx="2135124" cy="1499616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9525">
            <a:solidFill>
              <a:srgbClr val="D1D8E0"/>
            </a:solidFill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ja-JP" altLang="en-US" sz="2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32,780</a:t>
            </a:r>
            <a:r>
              <a:rPr lang="ja-JP" altLang="en-US" sz="13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円</a:t>
            </a:r>
            <a:r>
              <a:rPr lang="ja-JP" altLang="en-US" sz="1050" b="0" dirty="0">
                <a:solidFill>
                  <a:srgbClr val="5A6378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／月</a:t>
            </a:r>
            <a:endParaRPr lang="ja-JP" altLang="en-US" sz="1050" dirty="0"/>
          </a:p>
          <a:p>
            <a:pPr algn="ctr"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5A6378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月の配信数 </a:t>
            </a:r>
            <a:r>
              <a:rPr lang="ja-JP" altLang="en-US" sz="1200" b="1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〜50,000通</a:t>
            </a:r>
            <a:endParaRPr lang="ja-JP" altLang="en-US" sz="1050" dirty="0"/>
          </a:p>
          <a:p>
            <a:pPr algn="ctr">
              <a:spcBef>
                <a:spcPts val="400"/>
              </a:spcBef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分析まで使いこなしたい方</a:t>
            </a:r>
            <a:endParaRPr lang="ja-JP" altLang="en-US" sz="1050" dirty="0"/>
          </a:p>
          <a:p>
            <a:pPr algn="ctr">
              <a:spcBef>
                <a:spcPts val="200"/>
              </a:spcBef>
              <a:buNone/>
            </a:pPr>
            <a: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＋流入経路分析・ファネル分析</a:t>
            </a:r>
            <a:b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＋広告連携など（全機能）</a:t>
            </a:r>
            <a:endParaRPr lang="ja-JP" altLang="en-US" sz="1050" dirty="0"/>
          </a:p>
        </p:txBody>
      </p:sp>
      <p:sp>
        <p:nvSpPr>
          <p:cNvPr id="64" name="注記・出典"/>
          <p:cNvSpPr/>
          <p:nvPr/>
        </p:nvSpPr>
        <p:spPr>
          <a:xfrm>
            <a:off x="429768" y="5687568"/>
            <a:ext cx="8924544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t">
            <a:noAutofit/>
          </a:bodyPr>
          <a:lstStyle/>
          <a:p>
            <a:pPr algn="l">
              <a:buNone/>
            </a:pPr>
            <a:r>
              <a:rPr lang="ja-JP" altLang="en-US" sz="10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※別途、LINE公式アカウントの月額費用がかかります。配信数は、LINE公式アカウント側の上限までとなります。</a:t>
            </a:r>
            <a:endParaRPr lang="ja-JP" altLang="en-US" sz="1000" dirty="0"/>
          </a:p>
          <a:p>
            <a:pPr algn="l">
              <a:buNone/>
            </a:pPr>
            <a:r>
              <a:rPr lang="ja-JP" altLang="en-US" sz="1000" b="0" dirty="0">
                <a:solidFill>
                  <a:srgbClr val="444444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※初期費用0円・初月料金0円（新規ご契約のみ）。表示価格は税込。課金後の解約は3か月後（3回課金後）から可能です。</a:t>
            </a:r>
            <a:endParaRPr lang="ja-JP" altLang="en-US" sz="1000" dirty="0"/>
          </a:p>
          <a:p>
            <a:pPr algn="l">
              <a:buNone/>
            </a:pPr>
            <a:r>
              <a:rPr lang="ja-JP" altLang="en-US" sz="1000" b="0" dirty="0">
                <a:solidFill>
                  <a:srgbClr val="444444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※初期設定サポートは無料。有料オプション：Webhook転送 月5,500円／API連携（プロプラン以上）月11,000円。</a:t>
            </a:r>
            <a:endParaRPr lang="ja-JP" altLang="en-US" sz="1000" dirty="0"/>
          </a:p>
          <a:p>
            <a:pPr algn="l">
              <a:buNone/>
            </a:pPr>
            <a:r>
              <a:rPr lang="ja-JP" altLang="en-US" sz="1000" b="0" dirty="0">
                <a:solidFill>
                  <a:srgbClr val="444444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出典：</a:t>
            </a:r>
            <a:r>
              <a:rPr lang="ja-JP" altLang="en-US" sz="1000" b="0" dirty="0">
                <a:solidFill>
                  <a:srgbClr val="444444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3"/>
              </a:rPr>
              <a:t>Lステップ公式サイト</a:t>
            </a:r>
            <a:r>
              <a:rPr lang="ja-JP" altLang="en-US" sz="1000" b="0" dirty="0">
                <a:solidFill>
                  <a:srgbClr val="444444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・サービス資料（ソーシャルデータバンク株式会社）</a:t>
            </a:r>
            <a:endParaRPr lang="ja-JP" altLang="en-US" sz="1000" dirty="0"/>
          </a:p>
        </p:txBody>
      </p:sp>
    </p:spTree>
    <p:extLst>
      <p:ext uri="{BB962C8B-B14F-4D97-AF65-F5344CB8AC3E}">
        <p14:creationId xmlns:p14="http://schemas.microsoft.com/office/powerpoint/2010/main" val="99384669"/>
      </p:ext>
    </p:extLst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141472</TotalTime>
  <Application>Microsoft Office PowerPoint</Application>
  <PresentationFormat>A4 210 x 297 mm</PresentationFormat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1</vt:i4>
      </vt:variant>
    </vt:vector>
  </HeadingPairs>
  <TitlesOfParts>
    <vt:vector size="8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佐村 徳人</cp:lastModifiedBy>
  <cp:revision>1919</cp:revision>
  <cp:lastPrinted>2022-11-01T11:38:14Z</cp:lastPrinted>
  <dcterms:created xsi:type="dcterms:W3CDTF">2015-09-04T09:21:15Z</dcterms:created>
  <dcterms:modified xsi:type="dcterms:W3CDTF">2026-07-21T09:21:02Z</dcterms:modified>
</cp:coreProperties>
</file>