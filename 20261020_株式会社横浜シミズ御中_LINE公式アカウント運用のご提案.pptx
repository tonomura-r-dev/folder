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3"/>
  </p:notesMasterIdLst>
  <p:handoutMasterIdLst>
    <p:handoutMasterId r:id="rId44"/>
  </p:handoutMasterIdLst>
  <p:sldIdLst>
    <p:sldId id="2363" r:id="rId3"/>
    <p:sldId id="2364" r:id="rId49"/>
    <p:sldId id="2365" r:id="rId50"/>
    <p:sldId id="2366" r:id="rId51"/>
    <p:sldId id="2367" r:id="rId52"/>
    <p:sldId id="2368" r:id="rId53"/>
    <p:sldId id="2369" r:id="rId54"/>
    <p:sldId id="2370" r:id="rId55"/>
    <p:sldId id="2371" r:id="rId56"/>
    <p:sldId id="2372" r:id="rId57"/>
    <p:sldId id="2373" r:id="rId58"/>
    <p:sldId id="2374" r:id="rId59"/>
    <p:sldId id="2375" r:id="rId60"/>
    <p:sldId id="2376" r:id="rId61"/>
    <p:sldId id="2377" r:id="rId62"/>
    <p:sldId id="1169" r:id="rId31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4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45" Type="http://schemas.openxmlformats.org/officeDocument/2006/relationships/presProps" Target="presProps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3" Type="http://schemas.openxmlformats.org/officeDocument/2006/relationships/slide" Target="slides/slide1.xml"/><Relationship Id="rId46" Type="http://schemas.openxmlformats.org/officeDocument/2006/relationships/viewProps" Target="viewProps.xml"/><Relationship Id="rId49" Type="http://schemas.openxmlformats.org/officeDocument/2006/relationships/slide" Target="slides/slide202.xml"/><Relationship Id="rId50" Type="http://schemas.openxmlformats.org/officeDocument/2006/relationships/slide" Target="slides/slide203.xml"/><Relationship Id="rId51" Type="http://schemas.openxmlformats.org/officeDocument/2006/relationships/slide" Target="slides/slide204.xml"/><Relationship Id="rId52" Type="http://schemas.openxmlformats.org/officeDocument/2006/relationships/slide" Target="slides/slide205.xml"/><Relationship Id="rId53" Type="http://schemas.openxmlformats.org/officeDocument/2006/relationships/slide" Target="slides/slide206.xml"/><Relationship Id="rId54" Type="http://schemas.openxmlformats.org/officeDocument/2006/relationships/slide" Target="slides/slide207.xml"/><Relationship Id="rId55" Type="http://schemas.openxmlformats.org/officeDocument/2006/relationships/slide" Target="slides/slide208.xml"/><Relationship Id="rId56" Type="http://schemas.openxmlformats.org/officeDocument/2006/relationships/slide" Target="slides/slide209.xml"/><Relationship Id="rId57" Type="http://schemas.openxmlformats.org/officeDocument/2006/relationships/slide" Target="slides/slide210.xml"/><Relationship Id="rId58" Type="http://schemas.openxmlformats.org/officeDocument/2006/relationships/slide" Target="slides/slide211.xml"/><Relationship Id="rId59" Type="http://schemas.openxmlformats.org/officeDocument/2006/relationships/slide" Target="slides/slide212.xml"/><Relationship Id="rId60" Type="http://schemas.openxmlformats.org/officeDocument/2006/relationships/slide" Target="slides/slide213.xml"/><Relationship Id="rId61" Type="http://schemas.openxmlformats.org/officeDocument/2006/relationships/slide" Target="slides/slide214.xml"/><Relationship Id="rId62" Type="http://schemas.openxmlformats.org/officeDocument/2006/relationships/slide" Target="slides/slide2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29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3.em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1" Type="http://schemas.openxmlformats.org/officeDocument/2006/relationships/image" Target="../media/ys_shot_1.jpeg"/><Relationship Id="rId102" Type="http://schemas.openxmlformats.org/officeDocument/2006/relationships/image" Target="../media/ys_shot_2.jpeg"/><Relationship Id="rId103" Type="http://schemas.openxmlformats.org/officeDocument/2006/relationships/image" Target="../media/ys_shot_3.jpeg"/><Relationship Id="rId104" Type="http://schemas.openxmlformats.org/officeDocument/2006/relationships/image" Target="../media/ys_shot_4.jpeg"/><Relationship Id="rId105" Type="http://schemas.openxmlformats.org/officeDocument/2006/relationships/image" Target="../media/ys_shot_5.jpeg"/><Relationship Id="rId106" Type="http://schemas.openxmlformats.org/officeDocument/2006/relationships/image" Target="../media/ys_shot_6.jpe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8" Type="http://schemas.openxmlformats.org/officeDocument/2006/relationships/image" Target="../media/ys_app1_image10.jpeg"/><Relationship Id="rId3" Type="http://schemas.openxmlformats.org/officeDocument/2006/relationships/image" Target="../media/ys_app1_image5.jpeg"/><Relationship Id="rId7" Type="http://schemas.openxmlformats.org/officeDocument/2006/relationships/image" Target="../media/ys_app1_image9.jpeg"/><Relationship Id="rId2" Type="http://schemas.openxmlformats.org/officeDocument/2006/relationships/image" Target="../media/ys_app1_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ys_app1_image8.png"/><Relationship Id="rId5" Type="http://schemas.openxmlformats.org/officeDocument/2006/relationships/image" Target="../media/ys_app1_image7.png"/><Relationship Id="rId4" Type="http://schemas.openxmlformats.org/officeDocument/2006/relationships/image" Target="../media/ys_app1_image6.png"/><Relationship Id="rId9" Type="http://schemas.openxmlformats.org/officeDocument/2006/relationships/image" Target="../media/ys_app1_image11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/>
                <a:ea typeface="メイリオ"/>
              </a:rPr>
              <a:t>応募から勤務連絡、次回イベントへの再応募までをLINEでつなぐ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2608" y="265176"/>
            <a:ext cx="4965192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株式会社横浜シミズ 御中</a:t>
            </a:r>
            <a:endParaRPr lang="ja-JP" alt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1335024" y="3931920"/>
            <a:ext cx="72329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2026年10月　株式会社DYM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現状把握｜横浜シミズの事業と、想定している課題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登録制のアルバイトスタッフとともに、神奈川・静岡全域のイベント会場の運営・警備・設営を担う会社です。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イベントごとに人を集める事業だからこそ、勤務後の接点が次の人員確保につながると考えます。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出典｜株式会社横浜シミズ 公式サイト（事業内容・会社情報・アルバイト募集）・採用サイト（shimizuocto-saiyou.net）　2026年10月20日 弊社確認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一度働いた方に、次のイベントでも戻ってきていただく仕組みをつくる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5120640" cy="40690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566928" y="1481328"/>
            <a:ext cx="3017520" cy="292608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事業の特徴（公式サイト・採用サイトより）</a:t>
            </a:r>
            <a:endParaRPr lang="ja-JP" altLang="en-US" sz="1050" dirty="0"/>
          </a:p>
        </p:txBody>
      </p:sp>
      <p:sp>
        <p:nvSpPr>
          <p:cNvPr id="24" name="Rectangle 23"/>
          <p:cNvSpPr/>
          <p:nvPr/>
        </p:nvSpPr>
        <p:spPr>
          <a:xfrm>
            <a:off x="539496" y="1920240"/>
            <a:ext cx="4901184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・神奈川県・静岡県全域で、舞台設営・美術施工・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運営管理・警備をワンストップで提供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・運営管理は、少人数から1日1,000人以上の規模まで動員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・アルバイトは登録制。都合の良い日に勤務できる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（シフトは自己申告制）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・一度採用されると、ほかの業務にも勤務できる（面接は1回）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・勤務地は日産スタジアム・横浜アリーナ・横浜スタジアム・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Kアリーナ横浜など多数</a:t>
            </a:r>
            <a:endParaRPr lang="ja-JP" altLang="en-US" sz="1200" dirty="0"/>
          </a:p>
          <a:p>
            <a:pPr algn="l" marL="155448" indent="-155448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・応募は採用サイトから。面接予約の完了はメールで届く</a:t>
            </a:r>
            <a:endParaRPr lang="ja-JP" altLang="en-US" sz="1200" dirty="0"/>
          </a:p>
        </p:txBody>
      </p:sp>
      <p:graphicFrame>
        <p:nvGraphicFramePr>
          <p:cNvPr id="25" name="表 24"/>
          <p:cNvGraphicFramePr>
            <a:graphicFrameLocks noGrp="1"/>
          </p:cNvGraphicFramePr>
          <p:nvPr/>
        </p:nvGraphicFramePr>
        <p:xfrm>
          <a:off x="5715000" y="1371600"/>
          <a:ext cx="3758184" cy="2414016"/>
        </p:xfrm>
        <a:graphic>
          <a:graphicData uri="http://schemas.openxmlformats.org/drawingml/2006/table">
            <a:tbl>
              <a:tblPr/>
              <a:tblGrid>
                <a:gridCol w="1600200"/>
                <a:gridCol w="2157984"/>
              </a:tblGrid>
              <a:tr h="310896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いただいている情報・確認したいこと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サイトUU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8,947（集計期間：未確認）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月間の応募数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広告の実施状況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LINE公式アカウントの</a:t>
                      </a:r>
                      <a:endParaRPr lang="ja-JP" altLang="en-US" sz="1050" dirty="0"/>
                    </a:p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現在の使い方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FF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未確認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想定予算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月額20万円（ツール費込み）</a:t>
                      </a:r>
                      <a:endParaRPr lang="ja-JP" altLang="en-US" sz="1050" dirty="0"/>
                    </a:p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初期費用は別途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715000" y="3886200"/>
            <a:ext cx="37581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想定している課題（仮説）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イベントの勤務が終わると、スタッフの方との連絡が途切れやすい。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次のイベントでも働いていただける接点を残すことが、継続的な人員確保の鍵と考えます。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業界課題①｜イベント・単発の仕事は、毎回の人員確保が前提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単発・短期の仕事は、イベントのたびに必要な人数を集め直す必要があります。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新規の応募だけに頼ると、募集・採用の負担がイベントごとにくり返されます。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媒体データ（検索の前後行動）。起点キーワード「単発バイト」・期間2025年3月17日〜2026年3月22日。分類は弊社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比べて選ばれる仕事だからこそ、一度つながった方との接点が次の人員確保を左右する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イベントのたびに、必要な人数を集め直す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開催日・会場・規模によって、必要な人数と業務が変わります</a:t>
            </a:r>
            <a:endParaRPr lang="ja-JP" altLang="en-US" sz="115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27432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新規の応募だけに頼ると、負担がくり返される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募集・面接・登録の手間が、イベントごとにかかります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4114800"/>
            <a:ext cx="4160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勤務が終わると、接点が薄れる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次の募集を届ける手段が残らず、また新規で集めることになります</a:t>
            </a:r>
            <a:endParaRPr lang="ja-JP" altLang="en-US" sz="1150" dirty="0"/>
          </a:p>
        </p:txBody>
      </p:sp>
      <p:sp>
        <p:nvSpPr>
          <p:cNvPr id="25" name="Rounded Rectangle 24"/>
          <p:cNvSpPr/>
          <p:nvPr/>
        </p:nvSpPr>
        <p:spPr>
          <a:xfrm>
            <a:off x="4773168" y="1371600"/>
            <a:ext cx="4700016" cy="3977639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4910328" y="1444752"/>
            <a:ext cx="44256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「単発バイト」を検索した方は、前後に何を調べているか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4910328" y="20574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-7〜-1日</a:t>
            </a:r>
            <a:endParaRPr lang="ja-JP" alt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5961888" y="2011680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スキマ時間で、すぐ稼ぎたい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在宅 スキマ時間／在宅ワーク 求人／バイト 求人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4910328" y="304495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0〜+2日</a:t>
            </a:r>
            <a:endParaRPr lang="ja-JP" alt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5961888" y="2999232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同じ日に、複数のサービスを並べて比べる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タイミー／バイトル／短期バイト／単発バイト アプリ</a:t>
            </a:r>
            <a:endParaRPr lang="ja-JP" altLang="en-US" sz="1100" dirty="0"/>
          </a:p>
        </p:txBody>
      </p:sp>
      <p:sp>
        <p:nvSpPr>
          <p:cNvPr id="31" name="Rounded Rectangle 30"/>
          <p:cNvSpPr/>
          <p:nvPr/>
        </p:nvSpPr>
        <p:spPr>
          <a:xfrm>
            <a:off x="4910328" y="403250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+1〜+15日</a:t>
            </a:r>
            <a:endParaRPr lang="ja-JP" alt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5961888" y="3986784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続けられるか・扶養や税金は大丈夫か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確定申告 20万円以下／ダブルワーク 扶養内 いくらまで</a:t>
            </a:r>
            <a:endParaRPr lang="ja-JP" altLang="en-US" sz="1100" dirty="0"/>
          </a:p>
        </p:txBody>
      </p:sp>
      <p:sp>
        <p:nvSpPr>
          <p:cNvPr id="33" name="Rectangle 32"/>
          <p:cNvSpPr/>
          <p:nvPr/>
        </p:nvSpPr>
        <p:spPr>
          <a:xfrm>
            <a:off x="4910328" y="4937760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★ 検索行動のデータです。応募者ご本人の行動と同一ではありません。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業界課題②｜応募後の連絡・勤務前の案内・次の募集に手間がかかる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応募から勤務までの連絡、勤務前の案内、次の募集。どれも人数が増えるほど手間が増えます。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連絡をLINEに集めることで、届きやすく、次の募集にもつなげやすくなります。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出典｜LINEの月間利用者数・メッセージ開封率：LINEヤフー公式値。※応募から勤務までの実施率・再応募率は公開データがなく、貴社での計測が必要です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連絡の手間を減らしながら、次の募集が届く状態をつくる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応募のあと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メールや電話がつながらず、面接・登録の案内が届きにくい</a:t>
            </a:r>
            <a:endParaRPr lang="ja-JP" altLang="en-US" sz="1150" dirty="0"/>
          </a:p>
        </p:txBody>
      </p:sp>
      <p:sp>
        <p:nvSpPr>
          <p:cNvPr id="24" name="Rectangle 23"/>
          <p:cNvSpPr/>
          <p:nvPr/>
        </p:nvSpPr>
        <p:spPr>
          <a:xfrm>
            <a:off x="1641348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応募の直後に友だちになっていただき、面接・登録の案内をLINEで届ける</a:t>
            </a:r>
            <a:endParaRPr lang="ja-JP" altLang="en-US" sz="115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集合場所・時間・持ち物・服装の案内を、人数分くり返し送る</a:t>
            </a:r>
            <a:endParaRPr lang="ja-JP" altLang="en-US" sz="1150" dirty="0"/>
          </a:p>
        </p:txBody>
      </p:sp>
      <p:sp>
        <p:nvSpPr>
          <p:cNvPr id="28" name="Rectangle 27"/>
          <p:cNvSpPr/>
          <p:nvPr/>
        </p:nvSpPr>
        <p:spPr>
          <a:xfrm>
            <a:off x="4722876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同じイベントの方へ一斉に、会場・業務ごとに絞って案内する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勤務のあと</a:t>
            </a:r>
            <a:endParaRPr lang="ja-JP" altLang="en-US"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7830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次の募集を届ける手段が残らず、新規の募集に頼りがち</a:t>
            </a:r>
            <a:endParaRPr lang="ja-JP" altLang="en-US" sz="1150" dirty="0"/>
          </a:p>
        </p:txBody>
      </p:sp>
      <p:sp>
        <p:nvSpPr>
          <p:cNvPr id="32" name="Rectangle 31"/>
          <p:cNvSpPr/>
          <p:nvPr/>
        </p:nvSpPr>
        <p:spPr>
          <a:xfrm>
            <a:off x="7804404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154680"/>
            <a:ext cx="28803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1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希望に合う次回イベントの募集を届け、再応募につなげる</a:t>
            </a:r>
            <a:endParaRPr lang="ja-JP" altLang="en-US" sz="1150" dirty="0"/>
          </a:p>
        </p:txBody>
      </p:sp>
      <p:sp>
        <p:nvSpPr>
          <p:cNvPr id="34" name="Rounded Rectangle 33"/>
          <p:cNvSpPr/>
          <p:nvPr/>
        </p:nvSpPr>
        <p:spPr>
          <a:xfrm>
            <a:off x="429768" y="4389120"/>
            <a:ext cx="4421124" cy="102412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566928" y="4434840"/>
            <a:ext cx="2431618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メッセージ開封率（当日中）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受信直後 約2割／3〜6時間で約5割</a:t>
            </a:r>
            <a:endParaRPr lang="ja-JP" alt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2861386" y="4434840"/>
            <a:ext cx="1852345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約8割</a:t>
            </a:r>
            <a:endParaRPr lang="ja-JP" altLang="en-US" sz="2400" dirty="0"/>
          </a:p>
        </p:txBody>
      </p:sp>
      <p:sp>
        <p:nvSpPr>
          <p:cNvPr id="37" name="Rounded Rectangle 36"/>
          <p:cNvSpPr/>
          <p:nvPr/>
        </p:nvSpPr>
        <p:spPr>
          <a:xfrm>
            <a:off x="5052059" y="4389120"/>
            <a:ext cx="4421124" cy="102412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5189220" y="4434840"/>
            <a:ext cx="2431618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LINEの国内の月間利用者数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2025年12月末時点</a:t>
            </a:r>
            <a:endParaRPr lang="ja-JP" altLang="en-US" sz="1100" dirty="0"/>
          </a:p>
        </p:txBody>
      </p:sp>
      <p:sp>
        <p:nvSpPr>
          <p:cNvPr id="39" name="Rectangle 38"/>
          <p:cNvSpPr/>
          <p:nvPr/>
        </p:nvSpPr>
        <p:spPr>
          <a:xfrm>
            <a:off x="7483678" y="4434840"/>
            <a:ext cx="1852345" cy="932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1億人突破</a:t>
            </a:r>
            <a:endParaRPr lang="ja-JP" altLang="en-US" sz="24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競合分析①｜イベント・単発の人材会社のLINE運用（実際の画面）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登録（ムーヴ）・選考（ワントゥワン）・勤務（ステッドワン）のやり取りに、それぞれLINEを使っています。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画面から確認できたことだけを記載しています（2026年10月 弊社確認）。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弊社確認）。個人名は消しています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ムーヴ｜登録の入口をLINEに</a:t>
            </a:r>
            <a:endParaRPr lang="ja-JP" altLang="en-US" sz="1100" dirty="0"/>
          </a:p>
        </p:txBody>
      </p:sp>
      <p:pic>
        <p:nvPicPr>
          <p:cNvPr id="22" name="競合LINE_1" descr="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89203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3" name="競合LINE_2" descr="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924811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429768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・お仕事開始までの手順を4つで案内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・登録／ID連携のボタンを表示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・メニュー：仕事情報・Q&amp;A・問い合わせ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ワントゥワン｜選考の案内をLINEで</a:t>
            </a:r>
            <a:endParaRPr lang="ja-JP" altLang="en-US" sz="1100" dirty="0"/>
          </a:p>
        </p:txBody>
      </p:sp>
      <p:pic>
        <p:nvPicPr>
          <p:cNvPr id="26" name="競合LINE_3" descr="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570732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7" name="競合LINE_4" descr="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500634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3511296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・追加の直後に、氏名をLINEで送ってもらう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・録画面接のURLを案内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・合否はメール、質問はLINEで受付</a:t>
            </a:r>
            <a:endParaRPr lang="ja-JP" altLang="en-US" sz="105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ステッドワン｜勤務のやり取りをLINEで</a:t>
            </a:r>
            <a:endParaRPr lang="ja-JP" altLang="en-US" sz="1100" dirty="0"/>
          </a:p>
        </p:txBody>
      </p:sp>
      <p:pic>
        <p:nvPicPr>
          <p:cNvPr id="30" name="競合LINE_5" descr="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65226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31" name="競合LINE_6" descr="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087868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6592824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・このLINEで仕事をやり取りすると宣言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・新規案件・勤務の可否・集合詳細を送る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・スタッフからは起床連絡・勤怠報告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競合分析②｜LINEの使い方の比較と、横浜シミズで目指す形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応募の受付だけでなく、勤務の連絡や次の募集まで、スタッフとの継続的な接点にLINEを活用できます。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3社の画面で、勤務の連絡と次の案件までLINEで扱っていたのは、ステッドワンでした。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弊社確認）／タウンワーク：LINEヤフー for Business 導入事例「バイト応募件数約80％増！リッチメニューを生かしたタウンワークのLINE活用事例」（2019年1月公開）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応募の受付から、勤務の連絡・次の募集までをLINEでつなぐ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1371600"/>
          <a:ext cx="9043416" cy="3401568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645920"/>
                <a:gridCol w="1828800"/>
                <a:gridCol w="2322576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評価項目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ムーヴ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ワントゥワン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ステッドワン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横浜シミズで目指す形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3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友だち追加後の案内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お仕事開始までの手順を4つで案内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氏名（漢字・ふりがな）の送信を依頼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このLINEでのやり取りを説明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勤務に必要な情報が届くことを最初に伝える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応募・登録の導線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LINEからスタッフ登録・ID連携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録画面接のURLを案内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採用手続きフォーム（外部）へ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応募完了からそのままLINEへ（サンクスLINE誘導）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勤務連絡への活用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画面では未確認（合否はメール）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集合詳細・起床連絡・勤怠報告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集合・持ち物・前日のリマインド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募集情報の配信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登録後に「条件に合う仕事も案内」と記載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新規案件をLINEで送る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エリア・会場・希望で絞って届ける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再応募への導線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「お仕事一覧から申込み」と記載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案件へのエントリーをLINEで送る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次回イベントの募集から再応募へ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リッチメニュー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仕事情報・Q&amp;A・問い合わせ＋登録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「案件一覧」あり（ほかは未確認）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仕事を探す・勤務の案内・よくある質問など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29768" y="4864608"/>
            <a:ext cx="9043416" cy="603504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36576" rIns="109728" bIns="36576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参考｜タウンワーク（求人メディア）は、LINEを求人検索の入口に活用して、リッチメニュー経由の応募数が79%増えました（2019年公開の導入事例）。直接の競合ではなく、LINEを応募の入口にした参考事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提案の全体像｜応募から再応募までを、LINEで循環させる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応募の時点で友だちになっていただき、勤務の連絡と次の募集をLINEでお届けします。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イベントが終わっても接点が切れず、次のイベントの人員確保につながる仕組みです。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単発の勤務を、イベントごとに途切れない関係に変える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50876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新規応募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採用サイトから応募</a:t>
            </a:r>
            <a:endParaRPr lang="ja-JP" altLang="en-US" sz="1100" dirty="0"/>
          </a:p>
        </p:txBody>
      </p:sp>
      <p:cxnSp>
        <p:nvCxnSpPr>
          <p:cNvPr id="23" name="Connector 22"/>
          <p:cNvCxnSpPr/>
          <p:nvPr/>
        </p:nvCxnSpPr>
        <p:spPr>
          <a:xfrm>
            <a:off x="1367028" y="2487168"/>
            <a:ext cx="0" cy="557784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29768" y="3063240"/>
            <a:ext cx="1874519" cy="1143000"/>
          </a:xfrm>
          <a:prstGeom prst="roundRect">
            <a:avLst>
              <a:gd name="adj" fmla="val 5000"/>
            </a:avLst>
          </a:prstGeom>
          <a:solidFill>
            <a:srgbClr val="E9F8EF"/>
          </a:solidFill>
          <a:ln w="15875">
            <a:solidFill>
              <a:srgbClr val="06C755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06C75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施策① 友だち獲得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LINE友だち追加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応募完了からLINEへ</a:t>
            </a:r>
            <a:endParaRPr lang="ja-JP" altLang="en-US" sz="1100" dirty="0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322576" y="2148840"/>
            <a:ext cx="630936" cy="1481328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297180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施策② 勤務連絡・管理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勤務連絡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集合・持ち物・前日のリマインド</a:t>
            </a:r>
            <a:endParaRPr lang="ja-JP" alt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704088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イベント勤務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現場で勤務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704088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次回募集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エリア・会場・希望で絞って案内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297180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再応募・継続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次のイベントにも勤務</a:t>
            </a:r>
            <a:endParaRPr lang="ja-JP" altLang="en-US" sz="11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5449824" y="1988819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825703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H="1">
            <a:off x="5449824" y="4183380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418795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4370832" y="278892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イベントのたびに</a:t>
            </a:r>
            <a:endParaRPr lang="ja-JP" altLang="en-US" sz="1200" dirty="0"/>
          </a:p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くり返す</a:t>
            </a:r>
            <a:endParaRPr lang="ja-JP" alt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2971800" y="4846320"/>
            <a:ext cx="6501383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応募の時点で友だちになるので、イベントが終わっても次の募集が届きます。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施策①｜友だち獲得：応募完了から、そのままLINEへ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4937760" cy="384048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※画面は動作のイメージです（他業種の例）。ほかのツールと併用できるかも、事前に確認します。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応募後 約2〜3秒で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3" name="Rounded Rectangle 1052"/>
          <p:cNvSpPr/>
          <p:nvPr/>
        </p:nvSpPr>
        <p:spPr>
          <a:xfrm>
            <a:off x="429768" y="5340096"/>
            <a:ext cx="484632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91440" tIns="45720" rIns="73152" bIns="36576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横浜シミズでの導線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採用サイトで応募 → 面接予約の完了 → 自動でLINEへ → 友だち追加 → 勤務の案内・次回の募集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0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応募を済ませた、働く意思のある方を、そのまま友だちにできます。</a:t>
            </a:r>
            <a:endParaRPr lang="ja-JP" altLang="en-US" sz="100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※採用サイト（応募フォーム）の完了画面に設置できるかは確認事項です。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施策①｜サンクスLINE誘導の導入実績（人材業界）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人材業界での導入実績（DYM）と、横浜シミズでの活用イメージ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21B20-3372-85EB-4334-5055D2443F85}"/>
              </a:ext>
            </a:extLst>
          </p:cNvPr>
          <p:cNvSpPr txBox="1"/>
          <p:nvPr/>
        </p:nvSpPr>
        <p:spPr>
          <a:xfrm>
            <a:off x="429768" y="6053328"/>
            <a:ext cx="877824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※出典：人材業界｜株式会社DYM 社内集計（サンクスLINE誘導ツール導入前後3か月、2025年・2026年7〜9月の友だち増加数）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※他社での実績であり、横浜シミズ様での効果を示すものではありません。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68096" y="16276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横浜シミズでの活用イメージ</a:t>
            </a:r>
            <a:endParaRPr lang="ja-JP" altLang="en-US" sz="1200" dirty="0"/>
          </a:p>
        </p:txBody>
      </p:sp>
      <p:sp>
        <p:nvSpPr>
          <p:cNvPr id="64" name="Rectangle 63"/>
          <p:cNvSpPr/>
          <p:nvPr/>
        </p:nvSpPr>
        <p:spPr>
          <a:xfrm>
            <a:off x="86868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</a:t>
            </a:r>
            <a:endParaRPr lang="ja-JP" altLang="en-US" sz="1050" dirty="0"/>
          </a:p>
        </p:txBody>
      </p:sp>
      <p:sp>
        <p:nvSpPr>
          <p:cNvPr id="65" name="Rectangle 64"/>
          <p:cNvSpPr/>
          <p:nvPr/>
        </p:nvSpPr>
        <p:spPr>
          <a:xfrm>
            <a:off x="2560320" y="1965960"/>
            <a:ext cx="1389888" cy="5120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  <a:endParaRPr lang="ja-JP" altLang="en-US" sz="1050" dirty="0"/>
          </a:p>
        </p:txBody>
      </p:sp>
      <p:cxnSp>
        <p:nvCxnSpPr>
          <p:cNvPr id="66" name="Connector 65"/>
          <p:cNvCxnSpPr/>
          <p:nvPr/>
        </p:nvCxnSpPr>
        <p:spPr>
          <a:xfrm>
            <a:off x="229514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7" name="Rectangle 66"/>
          <p:cNvSpPr/>
          <p:nvPr/>
        </p:nvSpPr>
        <p:spPr>
          <a:xfrm>
            <a:off x="425196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面接・登録の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68" name="Connector 67"/>
          <p:cNvCxnSpPr/>
          <p:nvPr/>
        </p:nvCxnSpPr>
        <p:spPr>
          <a:xfrm>
            <a:off x="398678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9" name="Rectangle 68"/>
          <p:cNvSpPr/>
          <p:nvPr/>
        </p:nvSpPr>
        <p:spPr>
          <a:xfrm>
            <a:off x="594360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70" name="Connector 69"/>
          <p:cNvCxnSpPr/>
          <p:nvPr/>
        </p:nvCxnSpPr>
        <p:spPr>
          <a:xfrm>
            <a:off x="567842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1" name="Rectangle 70"/>
          <p:cNvSpPr/>
          <p:nvPr/>
        </p:nvSpPr>
        <p:spPr>
          <a:xfrm>
            <a:off x="763524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</a:t>
            </a:r>
            <a:endParaRPr lang="ja-JP" altLang="en-US" sz="1050" dirty="0"/>
          </a:p>
        </p:txBody>
      </p:sp>
      <p:cxnSp>
        <p:nvCxnSpPr>
          <p:cNvPr id="72" name="Connector 71"/>
          <p:cNvCxnSpPr/>
          <p:nvPr/>
        </p:nvCxnSpPr>
        <p:spPr>
          <a:xfrm>
            <a:off x="7370063" y="2221992"/>
            <a:ext cx="228601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3" name="Rectangle 72"/>
          <p:cNvSpPr/>
          <p:nvPr/>
        </p:nvSpPr>
        <p:spPr>
          <a:xfrm>
            <a:off x="868680" y="254203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応募の直後から、面接・勤務の案内と次の募集を同じLINEでお届けします。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施策②｜勤務連絡・管理：勤務に必要な情報をLINEで届ける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集合場所・時間・持ち物・服装・注意事項を、勤務の前にLINEでお届けします。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「LINEを追加すると、勤務に必要な情報が届く」ことが、友だちでいる理由になります。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届く理由があるから友だちが残り、残るから次の募集が届く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勤務の前にお届けする情報</a:t>
            </a:r>
            <a:endParaRPr lang="ja-JP" altLang="en-US" sz="115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勤務が決まったら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会場・集合場所と時間・持ち物・服装</a:t>
            </a:r>
            <a:endParaRPr lang="ja-JP" altLang="en-US" sz="110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リマインド（集合時間・持ち物・天候による変更など）</a:t>
            </a:r>
            <a:endParaRPr lang="ja-JP" altLang="en-US" sz="11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勤務の当日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注意事項・当日の連絡先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届け方（運用に合わせて選びます）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一斉案内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同じイベントに勤務する方へ、まとめて案内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3511296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タグで対象者別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会場・業務ごとに、対象の方だけに案内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個別連絡（チャット）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勤務の変更・欠席・質問など、1対1のやり取り</a:t>
            </a:r>
            <a:endParaRPr lang="ja-JP" altLang="en-US"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期待できること</a:t>
            </a:r>
            <a:endParaRPr lang="ja-JP" altLang="en-US" sz="115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スタッフの皆さま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必要な情報をLINEで見返せる。通知で気づける。質問しやすい</a:t>
            </a:r>
            <a:endParaRPr lang="ja-JP" altLang="en-US"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6592824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一斉に送れる。案内の型をつくり、毎回の作成の手間を減らす</a:t>
            </a:r>
            <a:endParaRPr lang="ja-JP" altLang="en-US" sz="11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1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電話・メールでの個別の確認を減らせる（期待効果）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429768" y="4919472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※勤務の予定とLINEの自動連携は前提にしていません。一斉案内・タグ・個別連絡の組み合わせで始め、自動連携が必要な場合は別途確認します。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施策③｜再応募・再稼働：希望に合う募集だけを届ける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エリア・会場・業務・曜日などをタグで管理し、対象を絞ってイベントの募集をお届けします。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合わない募集が届かないので、ブロックを抑えることが期待できます。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取れる情報から始めて、配信のたびに絞り込みの精度を上げる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1371600"/>
          <a:ext cx="4937760" cy="2889504"/>
        </p:xfrm>
        <a:graphic>
          <a:graphicData uri="http://schemas.openxmlformats.org/drawingml/2006/table">
            <a:tbl>
              <a:tblPr/>
              <a:tblGrid>
                <a:gridCol w="1143000"/>
                <a:gridCol w="22402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例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取り方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神奈川（横浜・川崎・湘南など）／静岡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追加後の質問（選択式）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日産スタジアム・横浜アリーナ・横浜スタジアムなど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追加後の質問・勤務の案内時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案内・誘導／販売／警備／設営・撤去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曜日・時間帯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土日祝／平日／夜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追加後の質問・メニューで変更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勤務の有無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勤務あり／まだ勤務なし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勤務の案内を送った方に付ける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29768" y="4315968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※再応募＝登録済みの方からの、次回イベントへの勤務希望（シフトの申告）も含みます。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※取れる情報から、段階的にタグを付けます。最初から高度なシステム連携は前提にしません。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※勤務の履歴・希望条件をいまどこで管理しているかは確認事項です。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5596128" y="1371600"/>
            <a:ext cx="3877056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配信の出し分けの例</a:t>
            </a:r>
            <a:endParaRPr lang="ja-JP" altLang="en-US" sz="1150" dirty="0"/>
          </a:p>
        </p:txBody>
      </p:sp>
      <p:sp>
        <p:nvSpPr>
          <p:cNvPr id="25" name="Rectangle 24"/>
          <p:cNvSpPr/>
          <p:nvPr/>
        </p:nvSpPr>
        <p:spPr>
          <a:xfrm>
            <a:off x="5596128" y="1828800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横浜エリアを希望</a:t>
            </a:r>
            <a:endParaRPr lang="ja-JP" altLang="en-US" sz="1100" dirty="0"/>
          </a:p>
        </p:txBody>
      </p:sp>
      <p:cxnSp>
        <p:nvCxnSpPr>
          <p:cNvPr id="26" name="Connector 25"/>
          <p:cNvCxnSpPr/>
          <p:nvPr/>
        </p:nvCxnSpPr>
        <p:spPr>
          <a:xfrm>
            <a:off x="7242048" y="2130552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7580375" y="1828800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横浜周辺のイベントの募集</a:t>
            </a:r>
            <a:endParaRPr lang="ja-JP" alt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5596128" y="2615184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特定の会場に関心</a:t>
            </a:r>
            <a:endParaRPr lang="ja-JP" altLang="en-US" sz="1100" dirty="0"/>
          </a:p>
        </p:txBody>
      </p:sp>
      <p:cxnSp>
        <p:nvCxnSpPr>
          <p:cNvPr id="29" name="Connector 28"/>
          <p:cNvCxnSpPr/>
          <p:nvPr/>
        </p:nvCxnSpPr>
        <p:spPr>
          <a:xfrm>
            <a:off x="7242048" y="2916936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7580375" y="2615184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その会場のイベントの募集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5596128" y="3401568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土日に勤務したい</a:t>
            </a:r>
            <a:endParaRPr lang="ja-JP" altLang="en-US" sz="1100" dirty="0"/>
          </a:p>
        </p:txBody>
      </p:sp>
      <p:cxnSp>
        <p:nvCxnSpPr>
          <p:cNvPr id="32" name="Connector 31"/>
          <p:cNvCxnSpPr/>
          <p:nvPr/>
        </p:nvCxnSpPr>
        <p:spPr>
          <a:xfrm>
            <a:off x="7242048" y="3703320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7580375" y="3401568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休日のイベントの募集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5596128" y="4187952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一度勤務した方</a:t>
            </a:r>
            <a:endParaRPr lang="ja-JP" altLang="en-US" sz="11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7242048" y="4489704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7580375" y="4187952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次回の募集を先にご案内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5596128" y="4983480"/>
            <a:ext cx="3877056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※配信設計の例です。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配信イメージ｜勤務前の案内・次回の募集・リッチメニュー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横浜シミズ向けの配信の文面と、リッチメニューの構成案です。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文面・項目は例です。運用を始める前にすり合わせて確定します。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勤務に必要な情報と次の募集が、同じLINEに届く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勤務前の案内（前日）</a:t>
            </a:r>
            <a:endParaRPr lang="ja-JP" altLang="en-US" sz="1150" dirty="0"/>
          </a:p>
        </p:txBody>
      </p:sp>
      <p:sp>
        <p:nvSpPr>
          <p:cNvPr id="23" name="Rectangle 22"/>
          <p:cNvSpPr/>
          <p:nvPr/>
        </p:nvSpPr>
        <p:spPr>
          <a:xfrm>
            <a:off x="429768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594359" y="1920240"/>
            <a:ext cx="255117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【明日の勤務のご案内】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〇月〇日（〇）〇〇スタジアム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集合：〇〇:〇〇　〇〇ゲート前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持ち物：〇〇・〇〇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服装：〇〇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遅れる場合・体調がすぐれないときは、このLINEでご連絡ください。</a:t>
            </a:r>
            <a:endParaRPr lang="ja-JP" altLang="en-US" sz="1050" dirty="0"/>
          </a:p>
        </p:txBody>
      </p:sp>
      <p:sp>
        <p:nvSpPr>
          <p:cNvPr id="25" name="Rectangle 24"/>
          <p:cNvSpPr/>
          <p:nvPr/>
        </p:nvSpPr>
        <p:spPr>
          <a:xfrm>
            <a:off x="429768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対象：そのイベントに勤務する方（タグ）</a:t>
            </a:r>
            <a:endParaRPr lang="ja-JP" alt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次回イベントの募集</a:t>
            </a:r>
            <a:endParaRPr lang="ja-JP" altLang="en-US" sz="1150" dirty="0"/>
          </a:p>
        </p:txBody>
      </p:sp>
      <p:sp>
        <p:nvSpPr>
          <p:cNvPr id="27" name="Rectangle 26"/>
          <p:cNvSpPr/>
          <p:nvPr/>
        </p:nvSpPr>
        <p:spPr>
          <a:xfrm>
            <a:off x="3511296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675888" y="1920240"/>
            <a:ext cx="255117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【勤務者募集｜横浜アリーナ】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〇月〇日（〇）〇〇時〜〇〇時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案内・誘導スタッフ　時給〇〇円〜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前回のご勤務、ありがとうございました。次のイベントもお待ちしています。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3831336" y="4343400"/>
            <a:ext cx="224028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勤務希望を出す</a:t>
            </a:r>
            <a:endParaRPr lang="ja-JP" alt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3511296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対象：横浜エリア・土日希望・勤務ありの方</a:t>
            </a:r>
            <a:endParaRPr lang="ja-JP" altLang="en-US" sz="10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リッチメニュー（構成案）</a:t>
            </a:r>
            <a:endParaRPr lang="ja-JP" altLang="en-US" sz="1150" dirty="0"/>
          </a:p>
        </p:txBody>
      </p:sp>
      <p:sp>
        <p:nvSpPr>
          <p:cNvPr id="32" name="Rectangle 31"/>
          <p:cNvSpPr/>
          <p:nvPr/>
        </p:nvSpPr>
        <p:spPr>
          <a:xfrm>
            <a:off x="6592824" y="1783080"/>
            <a:ext cx="288036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6684264" y="1920240"/>
            <a:ext cx="130302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仕事を探す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募集中のイベント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8078724" y="192024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勤務の案内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</a:t>
            </a:r>
            <a:endParaRPr lang="ja-JP" alt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684264" y="292608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希望条件を変える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エリア・曜日</a:t>
            </a:r>
            <a:endParaRPr lang="ja-JP" alt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8078724" y="292608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給与・服装など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6684264" y="393192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お問い合わせ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チャットで相談</a:t>
            </a:r>
            <a:endParaRPr lang="ja-JP" alt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8078724" y="3931920"/>
            <a:ext cx="13030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横浜シミズとは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会社・現場の紹介</a:t>
            </a:r>
            <a:endParaRPr lang="ja-JP" altLang="en-US" sz="1100" dirty="0"/>
          </a:p>
        </p:txBody>
      </p:sp>
      <p:sp>
        <p:nvSpPr>
          <p:cNvPr id="39" name="Rectangle 38"/>
          <p:cNvSpPr/>
          <p:nvPr/>
        </p:nvSpPr>
        <p:spPr>
          <a:xfrm>
            <a:off x="6592824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一番押してほしい「仕事を探す」を左上に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目標・6か月の試算（SIM）｜友だち獲得から再応募・再稼働まで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サイトの訪問者数（UU）8,947を月間と仮置きし、仮定の率から6か月の見込みを試算しました。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応募数と各率は仮定です。実数をいただいたら置き換えて試算し直します。</a:t>
            </a:r>
          </a:p>
        </p:txBody>
      </p:sp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429768" y="1371600"/>
          <a:ext cx="9043416" cy="2633472"/>
        </p:xfrm>
        <a:graphic>
          <a:graphicData uri="http://schemas.openxmlformats.org/drawingml/2006/table">
            <a:tbl>
              <a:tblPr/>
              <a:tblGrid>
                <a:gridCol w="1600200"/>
                <a:gridCol w="2395728"/>
                <a:gridCol w="676656"/>
                <a:gridCol w="676656"/>
                <a:gridCol w="676656"/>
                <a:gridCol w="676656"/>
                <a:gridCol w="676656"/>
                <a:gridCol w="676656"/>
                <a:gridCol w="987552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計算（仮定）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6か月目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6か月計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新規応募数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UU × 応募率 1.0%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534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LINE友だち追加数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 × 追加率 32%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累計の友だち数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前月 ＋ 友だち追加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56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84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112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配信できる友だち数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累計 ×（1 − ブロック率 30%）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59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118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再応募（勤務希望）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前月の配信できる数 × 10%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再稼働人数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再応募 × 勤務決定率 70%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21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29768" y="4160520"/>
            <a:ext cx="2923032" cy="1389888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91440" tIns="45720" rIns="54864" bIns="27432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いただいている数値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・サイトUU 8,947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※集計期間は未確認のため、月間と仮置き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※応募数・広告の状況は未確認</a:t>
            </a:r>
            <a:endParaRPr lang="ja-JP" altLang="en-US" sz="950" dirty="0"/>
          </a:p>
        </p:txBody>
      </p:sp>
      <p:sp>
        <p:nvSpPr>
          <p:cNvPr id="6" name="Rounded Rectangle 5"/>
          <p:cNvSpPr/>
          <p:nvPr/>
        </p:nvSpPr>
        <p:spPr>
          <a:xfrm>
            <a:off x="3489960" y="4160520"/>
            <a:ext cx="2923032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91440" tIns="45720" rIns="54864" bIns="27432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仮定（弊社で設定）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・応募率 1.0%（UU→応募）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・友だち追加率 32%（遷移80%×追加40%）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・ブロック率 30%／再応募率 月10%／勤務決定率 70%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※採用サイトの完了画面に設置できる前提</a:t>
            </a:r>
            <a:endParaRPr lang="ja-JP" altLang="en-US" sz="950" dirty="0"/>
          </a:p>
        </p:txBody>
      </p:sp>
      <p:sp>
        <p:nvSpPr>
          <p:cNvPr id="7" name="Rounded Rectangle 6"/>
          <p:cNvSpPr/>
          <p:nvPr/>
        </p:nvSpPr>
        <p:spPr>
          <a:xfrm>
            <a:off x="6550152" y="4160520"/>
            <a:ext cx="2923032" cy="1389888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91440" tIns="45720" rIns="54864" bIns="27432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試算に含めていないもの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・今いる登録スタッフ（人数未確認）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・求人媒体経由の応募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・勤務連絡の効率化（時間の削減）</a:t>
            </a:r>
            <a:endParaRPr lang="ja-JP" altLang="en-US" sz="950" dirty="0"/>
          </a:p>
        </p:txBody>
      </p:sp>
      <p:sp>
        <p:nvSpPr>
          <p:cNvPr id="8" name="Rectangle 7"/>
          <p:cNvSpPr/>
          <p:nvPr/>
        </p:nvSpPr>
        <p:spPr>
          <a:xfrm>
            <a:off x="429768" y="5623560"/>
            <a:ext cx="904341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※試算であり、成果を保証するものではありません。1か月目＝運用開始の月（構築の完了後）。広告経由と自然流入は区別していません。人数・件数は小数点以下を四捨五入しています。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運用プラン・費用｜月額20万円以内（ツール費込み）で運用します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月額はツール費を含めて13.5万円〜（税抜）。想定予算の月額20万円以内に収めています。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初期費用は月額とは別にお見積りします（6か月〜のご契約）。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税抜。施策内容・配信本数・連携範囲により、費用は個別にお見積りします。LINE公式アカウントの利用料は配信数により変わります。勤務前の案内はイベントごとに送るため、月6本の配信とは別に運用します（送信の担当はご相談のうえ決定）。</a:t>
            </a:r>
          </a:p>
        </p:txBody>
      </p:sp>
      <p:graphicFrame>
        <p:nvGraphicFramePr>
          <p:cNvPr id="21" name="表 20"/>
          <p:cNvGraphicFramePr>
            <a:graphicFrameLocks noGrp="1"/>
          </p:cNvGraphicFramePr>
          <p:nvPr/>
        </p:nvGraphicFramePr>
        <p:xfrm>
          <a:off x="429768" y="1371600"/>
          <a:ext cx="4709160" cy="2084832"/>
        </p:xfrm>
        <a:graphic>
          <a:graphicData uri="http://schemas.openxmlformats.org/drawingml/2006/table">
            <a:tbl>
              <a:tblPr/>
              <a:tblGrid>
                <a:gridCol w="347472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月額費用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金額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DYMの運用費（運用代行・効率改善プラン／月6本の配信）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10万円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サンクスLINE誘導（ツール費）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3万円〜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LINE公式アカウント利用料（ライトプラン想定）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5,000円〜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合計（予算：月額20万円以内）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13.5万円〜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3657600"/>
          <a:ext cx="4709160" cy="1545336"/>
        </p:xfrm>
        <a:graphic>
          <a:graphicData uri="http://schemas.openxmlformats.org/drawingml/2006/table">
            <a:tbl>
              <a:tblPr/>
              <a:tblGrid>
                <a:gridCol w="347472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初期費用（別途）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金額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LINEの初期構築（あいさつ・リッチメニュー・タグ設計・勤務前の案内の型）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10万円〜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サンクスLINE誘導の導入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15万円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合計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25万円〜</a:t>
                      </a:r>
                      <a:endParaRPr lang="ja-JP" alt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367528" y="1371600"/>
            <a:ext cx="4105656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役割分担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5367528" y="1783080"/>
            <a:ext cx="4105656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・配信の設計・作成（月6本）／タグ・セグメント配信の設定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・サンクスLINE誘導の導入・設定／勤務前の案内の型づくり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・月次レポート・改善のご提案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5367528" y="3063240"/>
            <a:ext cx="410565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・勤務・募集の情報のご提供（会場・日時・集合など）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・勤務前の案内の送信（型を使ってイベントごとに）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・個別のチャット対応・応募フォームへの設置のご協力</a:t>
            </a:r>
            <a:endParaRPr lang="ja-JP" altLang="en-US" sz="1050" dirty="0"/>
          </a:p>
        </p:txBody>
      </p:sp>
      <p:sp>
        <p:nvSpPr>
          <p:cNvPr id="26" name="Rounded Rectangle 25"/>
          <p:cNvSpPr/>
          <p:nvPr/>
        </p:nvSpPr>
        <p:spPr>
          <a:xfrm>
            <a:off x="5367528" y="4297680"/>
            <a:ext cx="4105656" cy="1261872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分析・改善（毎月）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見る数字：友だち数・ブロック率・配信の開封とクリック・再応募件数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配信の内容・対象・タイミングを見直し、配信本数・ツールも成果を見て調整します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今後の展開｜横浜シミズで運用モデルをつくり、検証する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まず横浜シミズで、友だち獲得・勤務連絡・再応募の運用モデルをつくり、成果と運用の負荷を確かめます。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成果をふまえ、シミズグループの他社でも使えるモデルとして整理することを目指します。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応募から勤務・次の募集までをLINEでつなぎ、継続的な人員確保の仕組みに</a:t>
            </a:r>
            <a:endParaRPr lang="ja-JP" alt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429768" y="1371600"/>
            <a:ext cx="2983992" cy="457200"/>
          </a:xfrm>
          <a:prstGeom prst="homePlat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STEP1｜構築（運用開始の前）</a:t>
            </a:r>
            <a:endParaRPr lang="ja-JP" altLang="en-US" sz="1000" dirty="0"/>
          </a:p>
        </p:txBody>
      </p:sp>
      <p:sp>
        <p:nvSpPr>
          <p:cNvPr id="23" name="Rounded Rectangle 22"/>
          <p:cNvSpPr/>
          <p:nvPr/>
        </p:nvSpPr>
        <p:spPr>
          <a:xfrm>
            <a:off x="475488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・サンクスLINE誘導の設置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・あいさつ・リッチメニューの設計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・タグの設計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・勤務前の案内の型づくり</a:t>
            </a:r>
            <a:endParaRPr lang="ja-JP" alt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3459480" y="1371600"/>
            <a:ext cx="2983992" cy="45720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STEP2｜運用・検証（1〜6か月目）</a:t>
            </a:r>
            <a:endParaRPr lang="ja-JP" altLang="en-US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3505199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・次回募集のセグメント配信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・再応募・再稼働の計測（LINEからの勤務希望の数）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・運用の負荷の確認と改善</a:t>
            </a: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6489192" y="1371600"/>
            <a:ext cx="2983992" cy="457200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STEP3｜展開の検討（7か月目〜）</a:t>
            </a:r>
            <a:endParaRPr lang="ja-JP" altLang="en-US" sz="1000" dirty="0"/>
          </a:p>
        </p:txBody>
      </p:sp>
      <p:sp>
        <p:nvSpPr>
          <p:cNvPr id="27" name="Rounded Rectangle 26"/>
          <p:cNvSpPr/>
          <p:nvPr/>
        </p:nvSpPr>
        <p:spPr>
          <a:xfrm>
            <a:off x="6534912" y="1920240"/>
            <a:ext cx="2801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・成果と手順を整理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・グループ他社で使えるかを検討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・（展開は成果を見て判断）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29768" y="3429000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ご提案のまとめ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友だち獲得：応募完了から、そのままLINEへ（サンクスLINE誘導）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勤務連絡・管理：集合・持ち物・前日のリマインドをLINEで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再応募・再稼働：タグで絞って、希望に合う次回の募集を届ける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月額20万円以内（ツール費込み）で始め、成果を見て調整します。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099048" y="3429000"/>
            <a:ext cx="3374136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追加施策（ご参考）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社員採用（中途・新卒）にも、同じLINE公式アカウントを使える可能性があります。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社員とアルバイトで案内を分ける設計を想定しています（今回のご提案には含めていません）。</a:t>
            </a:r>
            <a:endParaRPr lang="ja-JP" alt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141683</TotalTime>
  <Words>5149</Words>
  <Application>Microsoft Office PowerPoint</Application>
  <PresentationFormat>A4 210 x 297 mm</PresentationFormat>
  <Paragraphs>981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1925</cp:revision>
  <cp:lastPrinted>2022-11-01T11:38:14Z</cp:lastPrinted>
  <dcterms:created xsi:type="dcterms:W3CDTF">2015-09-04T09:21:15Z</dcterms:created>
  <dcterms:modified xsi:type="dcterms:W3CDTF">2026-10-20T10:04:58Z</dcterms:modified>
</cp:coreProperties>
</file>