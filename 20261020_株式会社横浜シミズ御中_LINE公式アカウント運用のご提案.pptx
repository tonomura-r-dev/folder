
<file path=[Content_Types].xml><?xml version="1.0" encoding="utf-8"?>
<Types xmlns="http://schemas.openxmlformats.org/package/2006/content-types">
  <Default Extension="emf" ContentType="image/x-emf"/>
  <Default Extension="jpeg" ContentType="image/jpeg"/>
  <Default Extension="png" ContentType="image/png"/>
  <Default Extension="rels" ContentType="application/vnd.openxmlformats-package.relationships+xml"/>
  <Default Extension="xml" ContentType="application/xml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slideMasters/slideMaster2.xml" ContentType="application/vnd.openxmlformats-officedocument.presentationml.slideMaster+xml"/>
  <Override PartName="/ppt/slides/slide1.xml" ContentType="application/vnd.openxmlformats-officedocument.presentationml.slide+xml"/>
  <Override PartName="/ppt/slides/slide29.xml" ContentType="application/vnd.openxmlformats-officedocument.presentationml.slide+xml"/>
  <Override PartName="/ppt/notesMasters/notesMaster1.xml" ContentType="application/vnd.openxmlformats-officedocument.presentationml.notesMaster+xml"/>
  <Override PartName="/ppt/handoutMasters/handoutMaster1.xml" ContentType="application/vnd.openxmlformats-officedocument.presentationml.handoutMaster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theme/theme2.xml" ContentType="application/vnd.openxmlformats-officedocument.theme+xml"/>
  <Override PartName="/ppt/theme/theme3.xml" ContentType="application/vnd.openxmlformats-officedocument.theme+xml"/>
  <Override PartName="/ppt/theme/theme4.xml" ContentType="application/vnd.openxmlformats-officedocument.theme+xml"/>
  <Override PartName="/ppt/notesSlides/notesSlide2.xml" ContentType="application/vnd.openxmlformats-officedocument.presentationml.notesSlide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202.xml" ContentType="application/vnd.openxmlformats-officedocument.presentationml.slide+xml"/>
  <Override PartName="/ppt/slides/slide203.xml" ContentType="application/vnd.openxmlformats-officedocument.presentationml.slide+xml"/>
  <Override PartName="/ppt/slides/slide204.xml" ContentType="application/vnd.openxmlformats-officedocument.presentationml.slide+xml"/>
  <Override PartName="/ppt/slides/slide205.xml" ContentType="application/vnd.openxmlformats-officedocument.presentationml.slide+xml"/>
  <Override PartName="/ppt/slides/slide206.xml" ContentType="application/vnd.openxmlformats-officedocument.presentationml.slide+xml"/>
  <Override PartName="/ppt/slides/slide207.xml" ContentType="application/vnd.openxmlformats-officedocument.presentationml.slide+xml"/>
  <Override PartName="/ppt/slides/slide208.xml" ContentType="application/vnd.openxmlformats-officedocument.presentationml.slide+xml"/>
  <Override PartName="/ppt/slides/slide209.xml" ContentType="application/vnd.openxmlformats-officedocument.presentationml.slide+xml"/>
  <Override PartName="/ppt/slides/slide210.xml" ContentType="application/vnd.openxmlformats-officedocument.presentationml.slide+xml"/>
  <Override PartName="/ppt/slides/slide211.xml" ContentType="application/vnd.openxmlformats-officedocument.presentationml.slide+xml"/>
  <Override PartName="/ppt/slides/slide212.xml" ContentType="application/vnd.openxmlformats-officedocument.presentationml.slide+xml"/>
  <Override PartName="/ppt/slides/slide213.xml" ContentType="application/vnd.openxmlformats-officedocument.presentationml.slide+xml"/>
  <Override PartName="/ppt/slides/slide214.xml" ContentType="application/vnd.openxmlformats-officedocument.presentationml.slide+xml"/>
  <Override PartName="/ppt/slides/slide215.xml" ContentType="application/vnd.openxmlformats-officedocument.presentationml.slide+xml"/>
</Types>
</file>

<file path=_rels/.rels><?xml version="1.0" encoding="UTF-8" standalone="yes"?>
<Relationships xmlns="http://schemas.openxmlformats.org/package/2006/relationships"><Relationship Id="rId3" Type="http://schemas.openxmlformats.org/officeDocument/2006/relationships/extended-properties" Target="docProps/app.xml"/><Relationship Id="rId2" Type="http://schemas.openxmlformats.org/package/2006/relationships/metadata/core-properties" Target="docProps/core.xml"/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74" r:id="rId1"/>
    <p:sldMasterId id="2147483687" r:id="rId2"/>
  </p:sldMasterIdLst>
  <p:notesMasterIdLst>
    <p:notesMasterId r:id="rId43"/>
  </p:notesMasterIdLst>
  <p:handoutMasterIdLst>
    <p:handoutMasterId r:id="rId44"/>
  </p:handoutMasterIdLst>
  <p:sldIdLst>
    <p:sldId id="2363" r:id="rId3"/>
    <p:sldId id="2364" r:id="rId49"/>
    <p:sldId id="2365" r:id="rId50"/>
    <p:sldId id="2366" r:id="rId51"/>
    <p:sldId id="2367" r:id="rId52"/>
    <p:sldId id="2368" r:id="rId53"/>
    <p:sldId id="2369" r:id="rId54"/>
    <p:sldId id="2370" r:id="rId55"/>
    <p:sldId id="2371" r:id="rId56"/>
    <p:sldId id="2372" r:id="rId57"/>
    <p:sldId id="2373" r:id="rId58"/>
    <p:sldId id="2374" r:id="rId59"/>
    <p:sldId id="2375" r:id="rId60"/>
    <p:sldId id="2376" r:id="rId61"/>
    <p:sldId id="2377" r:id="rId62"/>
    <p:sldId id="1169" r:id="rId31"/>
  </p:sldIdLst>
  <p:sldSz cx="9906000" cy="6858000" type="A4"/>
  <p:notesSz cx="6807200" cy="9939338"/>
  <p:defaultTextStyle>
    <a:defPPr>
      <a:defRPr lang="ja-JP"/>
    </a:defPPr>
    <a:lvl1pPr marL="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3158" userDrawn="1">
          <p15:clr>
            <a:srgbClr val="A4A3A4"/>
          </p15:clr>
        </p15:guide>
        <p15:guide id="2" pos="308" userDrawn="1">
          <p15:clr>
            <a:srgbClr val="A4A3A4"/>
          </p15:clr>
        </p15:guide>
      </p15:sldGuideLst>
    </p:ext>
    <p:ext uri="{2D200454-40CA-4A62-9FC3-DE9A4176ACB9}">
      <p15:notesGuideLst xmlns:p15="http://schemas.microsoft.com/office/powerpoint/2012/main"/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showPr showNarration="1">
    <p:present/>
    <p:sldAll/>
    <p:penClr>
      <a:prstClr val="red"/>
    </p:penClr>
    <p:extLst>
      <p:ext uri="{EC167BDD-8182-4AB7-AECC-EB403E3ABB37}">
        <p14:laserClr xmlns:p14="http://schemas.microsoft.com/office/powerpoint/2010/main">
          <a:srgbClr val="FF0000"/>
        </p14:laserClr>
      </p:ext>
      <p:ext uri="{2FDB2607-1784-4EEB-B798-7EB5836EED8A}">
        <p14:showMediaCtrls xmlns:p14="http://schemas.microsoft.com/office/powerpoint/2010/main" val="1"/>
      </p:ext>
    </p:extLst>
  </p:showPr>
  <p:clrMru>
    <a:srgbClr val="FDFDFD"/>
    <a:srgbClr val="173559"/>
    <a:srgbClr val="04FA0A"/>
    <a:srgbClr val="2080FF"/>
    <a:srgbClr val="1D8DFF"/>
    <a:srgbClr val="515457"/>
    <a:srgbClr val="F6A454"/>
    <a:srgbClr val="EAEEF4"/>
    <a:srgbClr val="2D6CB9"/>
    <a:srgbClr val="D1D9E8"/>
  </p:clrMru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  <p:ext uri="{FD5EFAAD-0ECE-453E-9831-46B23BE46B34}">
      <p15:chartTrackingRefBased xmlns:p15="http://schemas.microsoft.com/office/powerpoint/2012/main" val="1"/>
    </p:ext>
  </p:extLst>
</p:presentationPr>
</file>

<file path=ppt/tableStyles.xml><?xml version="1.0" encoding="utf-8"?>
<a:tblStyleLst xmlns:a="http://schemas.openxmlformats.org/drawingml/2006/main" def="{5C22544A-7EE6-4342-B048-85BDC9FD1C3A}">
  <a:tblStyle styleId="{5C22544A-7EE6-4342-B048-85BDC9FD1C3A}" styleName="中間スタイル 2 - アクセント 1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1">
              <a:tint val="20000"/>
            </a:schemeClr>
          </a:solidFill>
        </a:fill>
      </a:tcStyle>
    </a:wholeTbl>
    <a:band1H>
      <a:tcStyle>
        <a:tcBdr/>
        <a:fill>
          <a:solidFill>
            <a:schemeClr val="accent1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1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1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1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1"/>
          </a:solidFill>
        </a:fill>
      </a:tcStyle>
    </a:firstRow>
  </a:tblStyle>
  <a:tblStyle styleId="{21E4AEA4-8DFA-4A89-87EB-49C32662AFE0}" styleName="中間スタイル 2 - アクセント 2">
    <a:wholeTbl>
      <a:tcTxStyle>
        <a:fontRef idx="minor">
          <a:prstClr val="black"/>
        </a:fontRef>
        <a:schemeClr val="dk1"/>
      </a:tcTxStyle>
      <a:tcStyle>
        <a:tcBdr>
          <a:left>
            <a:ln w="12700" cmpd="sng">
              <a:solidFill>
                <a:schemeClr val="lt1"/>
              </a:solidFill>
            </a:ln>
          </a:left>
          <a:right>
            <a:ln w="12700" cmpd="sng">
              <a:solidFill>
                <a:schemeClr val="lt1"/>
              </a:solidFill>
            </a:ln>
          </a:right>
          <a:top>
            <a:ln w="12700" cmpd="sng">
              <a:solidFill>
                <a:schemeClr val="lt1"/>
              </a:solidFill>
            </a:ln>
          </a:top>
          <a:bottom>
            <a:ln w="12700" cmpd="sng">
              <a:solidFill>
                <a:schemeClr val="lt1"/>
              </a:solidFill>
            </a:ln>
          </a:bottom>
          <a:insideH>
            <a:ln w="12700" cmpd="sng">
              <a:solidFill>
                <a:schemeClr val="lt1"/>
              </a:solidFill>
            </a:ln>
          </a:insideH>
          <a:insideV>
            <a:ln w="12700" cmpd="sng">
              <a:solidFill>
                <a:schemeClr val="lt1"/>
              </a:solidFill>
            </a:ln>
          </a:insideV>
        </a:tcBdr>
        <a:fill>
          <a:solidFill>
            <a:schemeClr val="accent2">
              <a:tint val="20000"/>
            </a:schemeClr>
          </a:solidFill>
        </a:fill>
      </a:tcStyle>
    </a:wholeTbl>
    <a:band1H>
      <a:tcStyle>
        <a:tcBdr/>
        <a:fill>
          <a:solidFill>
            <a:schemeClr val="accent2">
              <a:tint val="40000"/>
            </a:schemeClr>
          </a:solidFill>
        </a:fill>
      </a:tcStyle>
    </a:band1H>
    <a:band2H>
      <a:tcStyle>
        <a:tcBdr/>
      </a:tcStyle>
    </a:band2H>
    <a:band1V>
      <a:tcStyle>
        <a:tcBdr/>
        <a:fill>
          <a:solidFill>
            <a:schemeClr val="accent2">
              <a:tint val="40000"/>
            </a:schemeClr>
          </a:solidFill>
        </a:fill>
      </a:tcStyle>
    </a:band1V>
    <a:band2V>
      <a:tcStyle>
        <a:tcBdr/>
      </a:tcStyle>
    </a:band2V>
    <a:la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lastCol>
    <a:firstCol>
      <a:tcTxStyle b="on">
        <a:fontRef idx="minor">
          <a:prstClr val="black"/>
        </a:fontRef>
        <a:schemeClr val="lt1"/>
      </a:tcTxStyle>
      <a:tcStyle>
        <a:tcBdr/>
        <a:fill>
          <a:solidFill>
            <a:schemeClr val="accent2"/>
          </a:solidFill>
        </a:fill>
      </a:tcStyle>
    </a:firstCol>
    <a:lastRow>
      <a:tcTxStyle b="on">
        <a:fontRef idx="minor">
          <a:prstClr val="black"/>
        </a:fontRef>
        <a:schemeClr val="lt1"/>
      </a:tcTxStyle>
      <a:tcStyle>
        <a:tcBdr>
          <a:top>
            <a:ln w="38100" cmpd="sng">
              <a:solidFill>
                <a:schemeClr val="lt1"/>
              </a:solidFill>
            </a:ln>
          </a:top>
        </a:tcBdr>
        <a:fill>
          <a:solidFill>
            <a:schemeClr val="accent2"/>
          </a:solidFill>
        </a:fill>
      </a:tcStyle>
    </a:lastRow>
    <a:firstRow>
      <a:tcTxStyle b="on">
        <a:fontRef idx="minor">
          <a:prstClr val="black"/>
        </a:fontRef>
        <a:schemeClr val="lt1"/>
      </a:tcTxStyle>
      <a:tcStyle>
        <a:tcBdr>
          <a:bottom>
            <a:ln w="38100" cmpd="sng">
              <a:solidFill>
                <a:schemeClr val="lt1"/>
              </a:solidFill>
            </a:ln>
          </a:bottom>
        </a:tcBdr>
        <a:fill>
          <a:solidFill>
            <a:schemeClr val="accent2"/>
          </a:solidFill>
        </a:fill>
      </a:tcStyle>
    </a:firstRow>
  </a:tblStyle>
  <a:tblStyle styleId="{B301B821-A1FF-4177-AEE7-76D212191A09}" styleName="中間スタイル 1 - アクセント 1">
    <a:wholeTbl>
      <a:tcTxStyle>
        <a:fontRef idx="minor">
          <a:scrgbClr r="0" g="0" b="0"/>
        </a:fontRef>
        <a:schemeClr val="dk1"/>
      </a:tcTxStyle>
      <a:tcStyle>
        <a:tcBdr>
          <a:left>
            <a:ln w="12700" cmpd="sng">
              <a:solidFill>
                <a:schemeClr val="accent1"/>
              </a:solidFill>
            </a:ln>
          </a:left>
          <a:right>
            <a:ln w="12700" cmpd="sng">
              <a:solidFill>
                <a:schemeClr val="accent1"/>
              </a:solidFill>
            </a:ln>
          </a:right>
          <a:top>
            <a:ln w="12700" cmpd="sng">
              <a:solidFill>
                <a:schemeClr val="accent1"/>
              </a:solidFill>
            </a:ln>
          </a:top>
          <a:bottom>
            <a:ln w="12700" cmpd="sng">
              <a:solidFill>
                <a:schemeClr val="accent1"/>
              </a:solidFill>
            </a:ln>
          </a:bottom>
          <a:insideH>
            <a:ln w="12700" cmpd="sng">
              <a:solidFill>
                <a:schemeClr val="accent1"/>
              </a:solidFill>
            </a:ln>
          </a:insideH>
          <a:insideV>
            <a:ln>
              <a:noFill/>
            </a:ln>
          </a:insideV>
        </a:tcBdr>
        <a:fill>
          <a:solidFill>
            <a:schemeClr val="lt1"/>
          </a:solidFill>
        </a:fill>
      </a:tcStyle>
    </a:wholeTbl>
    <a:band1H>
      <a:tcStyle>
        <a:tcBdr/>
        <a:fill>
          <a:solidFill>
            <a:schemeClr val="accent1">
              <a:tint val="20000"/>
            </a:schemeClr>
          </a:solidFill>
        </a:fill>
      </a:tcStyle>
    </a:band1H>
    <a:band1V>
      <a:tcStyle>
        <a:tcBdr/>
        <a:fill>
          <a:solidFill>
            <a:schemeClr val="accent1">
              <a:tint val="20000"/>
            </a:schemeClr>
          </a:solidFill>
        </a:fill>
      </a:tcStyle>
    </a:band1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  <a:fill>
          <a:solidFill>
            <a:schemeClr val="lt1"/>
          </a:solidFill>
        </a:fill>
      </a:tcStyle>
    </a:lastRow>
    <a:firstRow>
      <a:tcTxStyle b="on">
        <a:fontRef idx="minor">
          <a:scrgbClr r="0" g="0" b="0"/>
        </a:fontRef>
        <a:schemeClr val="lt1"/>
      </a:tcTxStyle>
      <a:tcStyle>
        <a:tcBdr/>
        <a:fill>
          <a:solidFill>
            <a:schemeClr val="accent1"/>
          </a:solidFill>
        </a:fill>
      </a:tcStyle>
    </a:firstRow>
  </a:tblStyle>
  <a:tblStyle styleId="{69012ECD-51FC-41F1-AA8D-1B2483CD663E}" styleName="淡色スタイル 2 - アクセント 1">
    <a:wholeTbl>
      <a:tcTxStyle>
        <a:fontRef idx="minor">
          <a:scrgbClr r="0" g="0" b="0"/>
        </a:fontRef>
        <a:schemeClr val="tx1"/>
      </a:tcTxStyle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  <a:insideH>
            <a:ln>
              <a:noFill/>
            </a:ln>
          </a:insideH>
          <a:insideV>
            <a:ln>
              <a:noFill/>
            </a:ln>
          </a:insideV>
        </a:tcBdr>
        <a:fill>
          <a:noFill/>
        </a:fill>
      </a:tcStyle>
    </a:wholeTbl>
    <a:band1H>
      <a:tcStyle>
        <a:tcBdr>
          <a:top>
            <a:lnRef idx="1">
              <a:schemeClr val="accent1"/>
            </a:lnRef>
          </a:top>
          <a:bottom>
            <a:lnRef idx="1">
              <a:schemeClr val="accent1"/>
            </a:lnRef>
          </a:bottom>
        </a:tcBdr>
      </a:tcStyle>
    </a:band1H>
    <a:band1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1V>
    <a:band2V>
      <a:tcStyle>
        <a:tcBdr>
          <a:left>
            <a:lnRef idx="1">
              <a:schemeClr val="accent1"/>
            </a:lnRef>
          </a:left>
          <a:right>
            <a:lnRef idx="1">
              <a:schemeClr val="accent1"/>
            </a:lnRef>
          </a:right>
        </a:tcBdr>
      </a:tcStyle>
    </a:band2V>
    <a:lastCol>
      <a:tcTxStyle b="on"/>
      <a:tcStyle>
        <a:tcBdr/>
      </a:tcStyle>
    </a:lastCol>
    <a:firstCol>
      <a:tcTxStyle b="on"/>
      <a:tcStyle>
        <a:tcBdr/>
      </a:tcStyle>
    </a:firstCol>
    <a:lastRow>
      <a:tcTxStyle b="on"/>
      <a:tcStyle>
        <a:tcBdr>
          <a:top>
            <a:ln w="50800" cmpd="dbl">
              <a:solidFill>
                <a:schemeClr val="accent1"/>
              </a:solidFill>
            </a:ln>
          </a:top>
        </a:tcBdr>
      </a:tcStyle>
    </a:lastRow>
    <a:firstRow>
      <a:tcTxStyle b="on">
        <a:fontRef idx="minor">
          <a:scrgbClr r="0" g="0" b="0"/>
        </a:fontRef>
        <a:schemeClr val="bg1"/>
      </a:tcTxStyle>
      <a:tcStyle>
        <a:tcBdr/>
        <a:fillRef idx="1">
          <a:schemeClr val="accent1"/>
        </a:fillRef>
      </a:tcStyle>
    </a:firstRow>
  </a:tblStyle>
</a:tblStyleLst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 horzBarState="maximized">
    <p:restoredLeft sz="18157" autoAdjust="0"/>
    <p:restoredTop sz="94424" autoAdjust="0"/>
  </p:normalViewPr>
  <p:slideViewPr>
    <p:cSldViewPr snapToGrid="0">
      <p:cViewPr varScale="1">
        <p:scale>
          <a:sx n="110" d="100"/>
          <a:sy n="110" d="100"/>
        </p:scale>
        <p:origin x="1236" y="102"/>
      </p:cViewPr>
      <p:guideLst>
        <p:guide orient="horz" pos="3158"/>
        <p:guide pos="308"/>
      </p:guideLst>
    </p:cSldViewPr>
  </p:slideViewPr>
  <p:notesTextViewPr>
    <p:cViewPr>
      <p:scale>
        <a:sx n="1" d="1"/>
        <a:sy n="1" d="1"/>
      </p:scale>
      <p:origin x="0" y="0"/>
    </p:cViewPr>
  </p:notesTextViewPr>
  <p:sorterViewPr>
    <p:cViewPr>
      <p:scale>
        <a:sx n="100" d="100"/>
        <a:sy n="100" d="100"/>
      </p:scale>
      <p:origin x="0" y="-3072"/>
    </p:cViewPr>
  </p:sorterViewPr>
  <p:notesViewPr>
    <p:cSldViewPr snapToGrid="0">
      <p:cViewPr varScale="1">
        <p:scale>
          <a:sx n="79" d="100"/>
          <a:sy n="79" d="100"/>
        </p:scale>
        <p:origin x="4014" y="102"/>
      </p:cViewPr>
      <p:guideLst/>
    </p:cSldViewPr>
  </p:notesViewPr>
  <p:gridSpacing cx="1080001" cy="1080001"/>
</p:viewPr>
</file>

<file path=ppt/_rels/presentation.xml.rels><?xml version="1.0" encoding="UTF-8" standalone="yes"?>
<Relationships xmlns="http://schemas.openxmlformats.org/package/2006/relationships"><Relationship Id="rId47" Type="http://schemas.openxmlformats.org/officeDocument/2006/relationships/theme" Target="theme/theme1.xml"/><Relationship Id="rId2" Type="http://schemas.openxmlformats.org/officeDocument/2006/relationships/slideMaster" Target="slideMasters/slideMaster2.xml"/><Relationship Id="rId1" Type="http://schemas.openxmlformats.org/officeDocument/2006/relationships/slideMaster" Target="slideMasters/slideMaster1.xml"/><Relationship Id="rId45" Type="http://schemas.openxmlformats.org/officeDocument/2006/relationships/presProps" Target="presProps.xml"/><Relationship Id="rId31" Type="http://schemas.openxmlformats.org/officeDocument/2006/relationships/slide" Target="slides/slide29.xml"/><Relationship Id="rId44" Type="http://schemas.openxmlformats.org/officeDocument/2006/relationships/handoutMaster" Target="handoutMasters/handoutMaster1.xml"/><Relationship Id="rId43" Type="http://schemas.openxmlformats.org/officeDocument/2006/relationships/notesMaster" Target="notesMasters/notesMaster1.xml"/><Relationship Id="rId48" Type="http://schemas.openxmlformats.org/officeDocument/2006/relationships/tableStyles" Target="tableStyles.xml"/><Relationship Id="rId3" Type="http://schemas.openxmlformats.org/officeDocument/2006/relationships/slide" Target="slides/slide1.xml"/><Relationship Id="rId46" Type="http://schemas.openxmlformats.org/officeDocument/2006/relationships/viewProps" Target="viewProps.xml"/><Relationship Id="rId49" Type="http://schemas.openxmlformats.org/officeDocument/2006/relationships/slide" Target="slides/slide202.xml"/><Relationship Id="rId50" Type="http://schemas.openxmlformats.org/officeDocument/2006/relationships/slide" Target="slides/slide203.xml"/><Relationship Id="rId51" Type="http://schemas.openxmlformats.org/officeDocument/2006/relationships/slide" Target="slides/slide204.xml"/><Relationship Id="rId52" Type="http://schemas.openxmlformats.org/officeDocument/2006/relationships/slide" Target="slides/slide205.xml"/><Relationship Id="rId53" Type="http://schemas.openxmlformats.org/officeDocument/2006/relationships/slide" Target="slides/slide206.xml"/><Relationship Id="rId54" Type="http://schemas.openxmlformats.org/officeDocument/2006/relationships/slide" Target="slides/slide207.xml"/><Relationship Id="rId55" Type="http://schemas.openxmlformats.org/officeDocument/2006/relationships/slide" Target="slides/slide208.xml"/><Relationship Id="rId56" Type="http://schemas.openxmlformats.org/officeDocument/2006/relationships/slide" Target="slides/slide209.xml"/><Relationship Id="rId57" Type="http://schemas.openxmlformats.org/officeDocument/2006/relationships/slide" Target="slides/slide210.xml"/><Relationship Id="rId58" Type="http://schemas.openxmlformats.org/officeDocument/2006/relationships/slide" Target="slides/slide211.xml"/><Relationship Id="rId59" Type="http://schemas.openxmlformats.org/officeDocument/2006/relationships/slide" Target="slides/slide212.xml"/><Relationship Id="rId60" Type="http://schemas.openxmlformats.org/officeDocument/2006/relationships/slide" Target="slides/slide213.xml"/><Relationship Id="rId61" Type="http://schemas.openxmlformats.org/officeDocument/2006/relationships/slide" Target="slides/slide214.xml"/><Relationship Id="rId62" Type="http://schemas.openxmlformats.org/officeDocument/2006/relationships/slide" Target="slides/slide215.xml"/></Relationships>
</file>

<file path=ppt/handoutMasters/_rels/handout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4.xml"/></Relationships>
</file>

<file path=ppt/handoutMasters/handoutMaster1.xml><?xml version="1.0" encoding="utf-8"?>
<p:handout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" name="フッター プレースホルダー 3"/>
          <p:cNvSpPr>
            <a:spLocks noGrp="1"/>
          </p:cNvSpPr>
          <p:nvPr>
            <p:ph type="ftr" sz="quarter" idx="2"/>
          </p:nvPr>
        </p:nvSpPr>
        <p:spPr>
          <a:xfrm>
            <a:off x="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3"/>
          </p:nvPr>
        </p:nvSpPr>
        <p:spPr>
          <a:xfrm>
            <a:off x="3856210" y="9441662"/>
            <a:ext cx="2949420" cy="497676"/>
          </a:xfrm>
          <a:prstGeom prst="rect">
            <a:avLst/>
          </a:prstGeom>
        </p:spPr>
        <p:txBody>
          <a:bodyPr vert="horz" lIns="90561" tIns="45280" rIns="90561" bIns="45280" rtlCol="0" anchor="b"/>
          <a:lstStyle>
            <a:lvl1pPr algn="r">
              <a:defRPr sz="1200"/>
            </a:lvl1pPr>
          </a:lstStyle>
          <a:p>
            <a:fld id="{7B45B759-5475-4693-BFD4-53BF6401E48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3259530797"/>
      </p:ext>
    </p:extLst>
  </p:cSld>
  <p:clrMap bg1="lt1" tx1="dk1" bg2="lt2" tx2="dk2" accent1="accent1" accent2="accent2" accent3="accent3" accent4="accent4" accent5="accent5" accent6="accent6" hlink="hlink" folHlink="folHlink"/>
</p:handoutMaster>
</file>

<file path=ppt/notesMasters/_rels/notesMaster1.xml.rels><?xml version="1.0" encoding="UTF-8" standalone="yes"?>
<Relationships xmlns="http://schemas.openxmlformats.org/package/2006/relationships"><Relationship Id="rId1" Type="http://schemas.openxmlformats.org/officeDocument/2006/relationships/theme" Target="../theme/theme3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ヘッダー プレースホルダー 1"/>
          <p:cNvSpPr>
            <a:spLocks noGrp="1"/>
          </p:cNvSpPr>
          <p:nvPr>
            <p:ph type="hdr" sz="quarter"/>
          </p:nvPr>
        </p:nvSpPr>
        <p:spPr>
          <a:xfrm>
            <a:off x="1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3" name="日付プレースホルダー 2"/>
          <p:cNvSpPr>
            <a:spLocks noGrp="1"/>
          </p:cNvSpPr>
          <p:nvPr>
            <p:ph type="dt" idx="1"/>
          </p:nvPr>
        </p:nvSpPr>
        <p:spPr>
          <a:xfrm>
            <a:off x="3855082" y="2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/>
          <a:lstStyle>
            <a:lvl1pPr algn="r">
              <a:defRPr sz="1200"/>
            </a:lvl1pPr>
          </a:lstStyle>
          <a:p>
            <a:fld id="{6AF8158D-F6B1-45E0-9831-E70689DC8490}" type="datetimeFigureOut">
              <a:rPr kumimoji="1" lang="ja-JP" altLang="en-US" smtClean="0"/>
              <a:t>2026/10/20</a:t>
            </a:fld>
            <a:endParaRPr kumimoji="1" lang="ja-JP" altLang="en-US"/>
          </a:p>
        </p:txBody>
      </p:sp>
      <p:sp>
        <p:nvSpPr>
          <p:cNvPr id="4" name="スライド イメージ プレースホルダー 3"/>
          <p:cNvSpPr>
            <a:spLocks noGrp="1" noRot="1" noChangeAspect="1"/>
          </p:cNvSpPr>
          <p:nvPr>
            <p:ph type="sldImg" idx="2"/>
          </p:nvPr>
        </p:nvSpPr>
        <p:spPr>
          <a:xfrm>
            <a:off x="981075" y="1243013"/>
            <a:ext cx="4845050" cy="3354387"/>
          </a:xfrm>
          <a:prstGeom prst="rect">
            <a:avLst/>
          </a:prstGeom>
          <a:noFill/>
          <a:ln w="12700">
            <a:solidFill>
              <a:prstClr val="black"/>
            </a:solidFill>
          </a:ln>
        </p:spPr>
        <p:txBody>
          <a:bodyPr vert="horz" lIns="91529" tIns="45765" rIns="91529" bIns="45765" rtlCol="0" anchor="ctr"/>
          <a:lstStyle/>
          <a:p>
            <a:endParaRPr lang="ja-JP" altLang="en-US"/>
          </a:p>
        </p:txBody>
      </p:sp>
      <p:sp>
        <p:nvSpPr>
          <p:cNvPr id="5" name="ノート プレースホルダー 4"/>
          <p:cNvSpPr>
            <a:spLocks noGrp="1"/>
          </p:cNvSpPr>
          <p:nvPr>
            <p:ph type="body" sz="quarter" idx="3"/>
          </p:nvPr>
        </p:nvSpPr>
        <p:spPr>
          <a:xfrm>
            <a:off x="680402" y="4782901"/>
            <a:ext cx="5446396" cy="3913426"/>
          </a:xfrm>
          <a:prstGeom prst="rect">
            <a:avLst/>
          </a:prstGeom>
        </p:spPr>
        <p:txBody>
          <a:bodyPr vert="horz" lIns="91529" tIns="45765" rIns="91529" bIns="45765" rtlCol="0"/>
          <a:lstStyle/>
          <a:p>
            <a:pPr lvl="0"/>
            <a:r>
              <a:rPr kumimoji="1" lang="ja-JP" altLang="en-US"/>
              <a:t>マスター テキストの書式設定</a:t>
            </a:r>
          </a:p>
          <a:p>
            <a:pPr lvl="1"/>
            <a:r>
              <a:rPr kumimoji="1" lang="ja-JP" altLang="en-US"/>
              <a:t>第 </a:t>
            </a:r>
            <a:r>
              <a:rPr kumimoji="1" lang="en-US" altLang="ja-JP"/>
              <a:t>2 </a:t>
            </a:r>
            <a:r>
              <a:rPr kumimoji="1" lang="ja-JP" altLang="en-US"/>
              <a:t>レベル</a:t>
            </a:r>
          </a:p>
          <a:p>
            <a:pPr lvl="2"/>
            <a:r>
              <a:rPr kumimoji="1" lang="ja-JP" altLang="en-US"/>
              <a:t>第 </a:t>
            </a:r>
            <a:r>
              <a:rPr kumimoji="1" lang="en-US" altLang="ja-JP"/>
              <a:t>3 </a:t>
            </a:r>
            <a:r>
              <a:rPr kumimoji="1" lang="ja-JP" altLang="en-US"/>
              <a:t>レベル</a:t>
            </a:r>
          </a:p>
          <a:p>
            <a:pPr lvl="3"/>
            <a:r>
              <a:rPr kumimoji="1" lang="ja-JP" altLang="en-US"/>
              <a:t>第 </a:t>
            </a:r>
            <a:r>
              <a:rPr kumimoji="1" lang="en-US" altLang="ja-JP"/>
              <a:t>4 </a:t>
            </a:r>
            <a:r>
              <a:rPr kumimoji="1" lang="ja-JP" altLang="en-US"/>
              <a:t>レベル</a:t>
            </a:r>
          </a:p>
          <a:p>
            <a:pPr lvl="4"/>
            <a:r>
              <a:rPr kumimoji="1" lang="ja-JP" altLang="en-US"/>
              <a:t>第 </a:t>
            </a:r>
            <a:r>
              <a:rPr kumimoji="1" lang="en-US" altLang="ja-JP"/>
              <a:t>5 </a:t>
            </a:r>
            <a:r>
              <a:rPr kumimoji="1" lang="ja-JP" altLang="en-US"/>
              <a:t>レベル</a:t>
            </a:r>
          </a:p>
        </p:txBody>
      </p:sp>
      <p:sp>
        <p:nvSpPr>
          <p:cNvPr id="6" name="フッター プレースホルダー 5"/>
          <p:cNvSpPr>
            <a:spLocks noGrp="1"/>
          </p:cNvSpPr>
          <p:nvPr>
            <p:ph type="ftr" sz="quarter" idx="4"/>
          </p:nvPr>
        </p:nvSpPr>
        <p:spPr>
          <a:xfrm>
            <a:off x="1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l">
              <a:defRPr sz="1200"/>
            </a:lvl1pPr>
          </a:lstStyle>
          <a:p>
            <a:endParaRPr kumimoji="1" lang="ja-JP" altLang="en-US"/>
          </a:p>
        </p:txBody>
      </p:sp>
      <p:sp>
        <p:nvSpPr>
          <p:cNvPr id="7" name="スライド番号プレースホルダー 6"/>
          <p:cNvSpPr>
            <a:spLocks noGrp="1"/>
          </p:cNvSpPr>
          <p:nvPr>
            <p:ph type="sldNum" sz="quarter" idx="5"/>
          </p:nvPr>
        </p:nvSpPr>
        <p:spPr>
          <a:xfrm>
            <a:off x="3855082" y="9441817"/>
            <a:ext cx="2950528" cy="497524"/>
          </a:xfrm>
          <a:prstGeom prst="rect">
            <a:avLst/>
          </a:prstGeom>
        </p:spPr>
        <p:txBody>
          <a:bodyPr vert="horz" lIns="91529" tIns="45765" rIns="91529" bIns="45765" rtlCol="0" anchor="b"/>
          <a:lstStyle>
            <a:lvl1pPr algn="r">
              <a:defRPr sz="1200"/>
            </a:lvl1pPr>
          </a:lstStyle>
          <a:p>
            <a:fld id="{022E43C0-6795-4B13-B37C-259C826D4B6A}" type="slidenum">
              <a:rPr kumimoji="1" lang="ja-JP" altLang="en-US" smtClean="0"/>
              <a:t>‹#›</a:t>
            </a:fld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640918907"/>
      </p:ext>
    </p:extLst>
  </p:cSld>
  <p:clrMap bg1="lt1" tx1="dk1" bg2="lt2" tx2="dk2" accent1="accent1" accent2="accent2" accent3="accent3" accent4="accent4" accent5="accent5" accent6="accent6" hlink="hlink" folHlink="folHlink"/>
  <p:notesStyle>
    <a:lvl1pPr marL="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kumimoji="1" sz="1200" kern="1200">
        <a:solidFill>
          <a:schemeClr val="tx1"/>
        </a:solidFill>
        <a:latin typeface="+mn-lt"/>
        <a:ea typeface="+mn-ea"/>
        <a:cs typeface="+mn-cs"/>
      </a:defRPr>
    </a:lvl9pPr>
  </p:notesStyle>
</p:notesMaster>
</file>

<file path=ppt/notesSlides/_rels/notesSlide2.xml.rels><?xml version="1.0" encoding="UTF-8" standalone="yes"?>
<Relationships xmlns="http://schemas.openxmlformats.org/package/2006/relationships"><Relationship Id="rId2" Type="http://schemas.openxmlformats.org/officeDocument/2006/relationships/slide" Target="../slides/slide29.xml"/><Relationship Id="rId1" Type="http://schemas.openxmlformats.org/officeDocument/2006/relationships/notesMaster" Target="../notesMasters/notesMaster1.xml"/></Relationships>
</file>

<file path=ppt/notesSlides/notesSlide2.xml><?xml version="1.0" encoding="utf-8"?>
<p:notes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スライド イメージ プレースホルダー 1"/>
          <p:cNvSpPr>
            <a:spLocks noGrp="1" noRot="1" noChangeAspect="1"/>
          </p:cNvSpPr>
          <p:nvPr>
            <p:ph type="sldImg"/>
          </p:nvPr>
        </p:nvSpPr>
        <p:spPr/>
      </p:sp>
      <p:sp>
        <p:nvSpPr>
          <p:cNvPr id="3" name="ノート プレースホルダー 2"/>
          <p:cNvSpPr>
            <a:spLocks noGrp="1"/>
          </p:cNvSpPr>
          <p:nvPr>
            <p:ph type="body" idx="1"/>
          </p:nvPr>
        </p:nvSpPr>
        <p:spPr/>
        <p:txBody>
          <a:bodyPr/>
          <a:lstStyle/>
          <a:p>
            <a:endParaRPr kumimoji="1" lang="ja-JP" altLang="en-US"/>
          </a:p>
        </p:txBody>
      </p:sp>
      <p:sp>
        <p:nvSpPr>
          <p:cNvPr id="4" name="フッター プレースホルダー 3"/>
          <p:cNvSpPr>
            <a:spLocks noGrp="1"/>
          </p:cNvSpPr>
          <p:nvPr>
            <p:ph type="ftr" sz="quarter" idx="10"/>
          </p:nvPr>
        </p:nvSpPr>
        <p:spPr/>
        <p:txBody>
          <a:bodyPr/>
          <a:lstStyle/>
          <a:p>
            <a:pPr defTabSz="956886">
              <a:defRPr/>
            </a:pPr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  <p:sp>
        <p:nvSpPr>
          <p:cNvPr id="5" name="スライド番号プレースホルダー 4"/>
          <p:cNvSpPr>
            <a:spLocks noGrp="1"/>
          </p:cNvSpPr>
          <p:nvPr>
            <p:ph type="sldNum" sz="quarter" idx="11"/>
          </p:nvPr>
        </p:nvSpPr>
        <p:spPr/>
        <p:txBody>
          <a:bodyPr/>
          <a:lstStyle/>
          <a:p>
            <a:pPr defTabSz="956886">
              <a:defRPr/>
            </a:pPr>
            <a:fld id="{929202D6-C1F5-472A-A72F-285F233F82C2}" type="slidenum">
              <a:rPr lang="ja-JP" altLang="en-US">
                <a:solidFill>
                  <a:prstClr val="black"/>
                </a:solidFill>
                <a:latin typeface="Calibri"/>
                <a:ea typeface="ＭＳ Ｐゴシック" panose="020B0600070205080204" pitchFamily="50" charset="-128"/>
              </a:rPr>
              <a:pPr defTabSz="956886">
                <a:defRPr/>
              </a:pPr>
              <a:t>29</a:t>
            </a:fld>
            <a:endParaRPr lang="ja-JP" altLang="en-US">
              <a:solidFill>
                <a:prstClr val="black"/>
              </a:solidFill>
              <a:latin typeface="Calibri"/>
              <a:ea typeface="ＭＳ Ｐゴシック" panose="020B0600070205080204" pitchFamily="50" charset="-128"/>
            </a:endParaRPr>
          </a:p>
        </p:txBody>
      </p:sp>
    </p:spTree>
    <p:extLst>
      <p:ext uri="{BB962C8B-B14F-4D97-AF65-F5344CB8AC3E}">
        <p14:creationId xmlns:p14="http://schemas.microsoft.com/office/powerpoint/2010/main" val="3792087391"/>
      </p:ext>
    </p:extLst>
  </p:cSld>
  <p:clrMapOvr>
    <a:masterClrMapping/>
  </p:clrMapOvr>
</p:note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2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/>
          <p:cNvSpPr/>
          <p:nvPr userDrawn="1"/>
        </p:nvSpPr>
        <p:spPr>
          <a:xfrm>
            <a:off x="9398000" y="6591300"/>
            <a:ext cx="419100" cy="266700"/>
          </a:xfrm>
          <a:prstGeom prst="rect">
            <a:avLst/>
          </a:prstGeom>
          <a:solidFill>
            <a:srgbClr val="191F54"/>
          </a:solidFill>
          <a:ln>
            <a:noFill/>
          </a:ln>
        </p:spPr>
        <p:style>
          <a:lnRef idx="2">
            <a:schemeClr val="accent1">
              <a:shade val="50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2758107768"/>
      </p:ext>
    </p:extLst>
  </p:cSld>
  <p:clrMapOvr>
    <a:masterClrMapping/>
  </p:clrMapOvr>
  <p:hf hdr="0" dt="0"/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preserve="1">
  <p:cSld name="4_タイトルとコンテンツ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cxnSp>
        <p:nvCxnSpPr>
          <p:cNvPr id="5" name="直線コネクタ 4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191F54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7" name="正方形/長方形 6"/>
          <p:cNvSpPr/>
          <p:nvPr/>
        </p:nvSpPr>
        <p:spPr>
          <a:xfrm>
            <a:off x="0" y="0"/>
            <a:ext cx="451204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</p:spTree>
    <p:extLst>
      <p:ext uri="{BB962C8B-B14F-4D97-AF65-F5344CB8AC3E}">
        <p14:creationId xmlns:p14="http://schemas.microsoft.com/office/powerpoint/2010/main" val="1958189266"/>
      </p:ext>
    </p:extLst>
  </p:cSld>
  <p:clrMapOvr>
    <a:masterClrMapping/>
  </p:clrMapOvr>
  <p:hf hdr="0" dt="0"/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userDrawn="1">
  <p:cSld name="1_タイトル スライド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</p:spTree>
    <p:extLst>
      <p:ext uri="{BB962C8B-B14F-4D97-AF65-F5344CB8AC3E}">
        <p14:creationId xmlns:p14="http://schemas.microsoft.com/office/powerpoint/2010/main" val="3785212341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" Type="http://schemas.openxmlformats.org/officeDocument/2006/relationships/slideLayout" Target="../slideLayouts/slideLayout1.xml"/><Relationship Id="rId6" Type="http://schemas.openxmlformats.org/officeDocument/2006/relationships/image" Target="../media/image2.png"/><Relationship Id="rId5" Type="http://schemas.openxmlformats.org/officeDocument/2006/relationships/image" Target="../media/image1.png"/><Relationship Id="rId4" Type="http://schemas.openxmlformats.org/officeDocument/2006/relationships/theme" Target="../theme/theme1.xml"/></Relationships>
</file>

<file path=ppt/slideMasters/_rels/slideMaster2.xml.rels><?xml version="1.0" encoding="UTF-8" standalone="yes"?>
<Relationships xmlns="http://schemas.openxmlformats.org/package/2006/relationships"><Relationship Id="rId2" Type="http://schemas.openxmlformats.org/officeDocument/2006/relationships/image" Target="../media/image3.emf"/><Relationship Id="rId1" Type="http://schemas.openxmlformats.org/officeDocument/2006/relationships/theme" Target="../theme/theme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図 1"/>
          <p:cNvPicPr>
            <a:picLocks noChangeAspect="1"/>
          </p:cNvPicPr>
          <p:nvPr/>
        </p:nvPicPr>
        <p:blipFill>
          <a:blip r:embed="rId5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tretch>
            <a:fillRect/>
          </a:stretch>
        </p:blipFill>
        <p:spPr>
          <a:xfrm>
            <a:off x="8151357" y="72255"/>
            <a:ext cx="1598627" cy="424153"/>
          </a:xfrm>
          <a:prstGeom prst="rect">
            <a:avLst/>
          </a:prstGeom>
        </p:spPr>
      </p:pic>
      <p:pic>
        <p:nvPicPr>
          <p:cNvPr id="5" name="図 4"/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8151355" y="32333"/>
            <a:ext cx="1653069" cy="635796"/>
          </a:xfrm>
          <a:prstGeom prst="rect">
            <a:avLst/>
          </a:prstGeom>
        </p:spPr>
      </p:pic>
      <p:sp>
        <p:nvSpPr>
          <p:cNvPr id="6" name="正方形/長方形 5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 sz="1800">
              <a:solidFill>
                <a:prstClr val="white"/>
              </a:solidFill>
            </a:endParaRPr>
          </a:p>
        </p:txBody>
      </p:sp>
      <p:sp>
        <p:nvSpPr>
          <p:cNvPr id="8" name="スライド番号プレースホルダ 1"/>
          <p:cNvSpPr txBox="1">
            <a:spLocks/>
          </p:cNvSpPr>
          <p:nvPr/>
        </p:nvSpPr>
        <p:spPr>
          <a:xfrm>
            <a:off x="7594600" y="6552729"/>
            <a:ext cx="2311400" cy="365125"/>
          </a:xfrm>
          <a:prstGeom prst="rect">
            <a:avLst/>
          </a:prstGeom>
        </p:spPr>
        <p:txBody>
          <a:bodyPr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b="1" smtClean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pPr algn="r"/>
              <a:t>‹#›</a:t>
            </a:fld>
            <a:endParaRPr lang="ja-JP" altLang="en-US" sz="1400" b="1" dirty="0">
              <a:solidFill>
                <a:schemeClr val="bg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9" name="テキスト ボックス 8"/>
          <p:cNvSpPr txBox="1">
            <a:spLocks noChangeArrowheads="1"/>
          </p:cNvSpPr>
          <p:nvPr userDrawn="1"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Copyright(c) DYM Co., Ltd</a:t>
            </a:r>
            <a:r>
              <a:rPr lang="ja-JP" altLang="en-US" sz="800" b="1" dirty="0" err="1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．</a:t>
            </a:r>
            <a:r>
              <a:rPr lang="en-US" altLang="ja-JP" sz="800" b="1" dirty="0">
                <a:solidFill>
                  <a:schemeClr val="bg1"/>
                </a:solidFill>
                <a:latin typeface="メイリオ"/>
                <a:ea typeface="メイリオ"/>
                <a:cs typeface="メイリオ"/>
              </a:rPr>
              <a:t> All Rights Reserved.</a:t>
            </a:r>
          </a:p>
        </p:txBody>
      </p:sp>
    </p:spTree>
    <p:extLst>
      <p:ext uri="{BB962C8B-B14F-4D97-AF65-F5344CB8AC3E}">
        <p14:creationId xmlns:p14="http://schemas.microsoft.com/office/powerpoint/2010/main" val="345870335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76" r:id="rId1"/>
    <p:sldLayoutId id="2147483683" r:id="rId2"/>
    <p:sldLayoutId id="2147483689" r:id="rId3"/>
  </p:sldLayoutIdLst>
  <p:hf hdr="0" dt="0"/>
  <p:txStyles>
    <p:titleStyle>
      <a:lvl1pPr algn="ctr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+mj-cs"/>
        </a:defRPr>
      </a:lvl1pPr>
      <a:lvl2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2pPr>
      <a:lvl3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3pPr>
      <a:lvl4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4pPr>
      <a:lvl5pPr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5pPr>
      <a:lvl6pPr marL="4572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6pPr>
      <a:lvl7pPr marL="9144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7pPr>
      <a:lvl8pPr marL="13716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8pPr>
      <a:lvl9pPr marL="1828800" algn="ctr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pitchFamily="34" charset="0"/>
          <a:ea typeface="ＭＳ Ｐゴシック" pitchFamily="50" charset="-128"/>
        </a:defRPr>
      </a:lvl9pPr>
    </p:titleStyle>
    <p:bodyStyle>
      <a:lvl1pPr marL="342900" indent="-3429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itchFamily="34" charset="0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Masters/slideMaster2.xml><?xml version="1.0" encoding="utf-8"?>
<p:sldMaster xmlns:a="http://schemas.openxmlformats.org/drawingml/2006/main" xmlns:r="http://schemas.openxmlformats.org/officeDocument/2006/relationships" xmlns:p="http://schemas.openxmlformats.org/presentationml/2006/main" preserve="1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4"/>
          <p:cNvSpPr/>
          <p:nvPr/>
        </p:nvSpPr>
        <p:spPr>
          <a:xfrm>
            <a:off x="0" y="6552728"/>
            <a:ext cx="9906000" cy="332656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sp>
        <p:nvSpPr>
          <p:cNvPr id="10" name="テキスト ボックス 9"/>
          <p:cNvSpPr txBox="1">
            <a:spLocks noChangeArrowheads="1"/>
          </p:cNvSpPr>
          <p:nvPr/>
        </p:nvSpPr>
        <p:spPr bwMode="auto">
          <a:xfrm>
            <a:off x="116569" y="6597932"/>
            <a:ext cx="3666301" cy="215444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wrap="square">
            <a:spAutoFit/>
          </a:bodyPr>
          <a:lstStyle>
            <a:lvl1pPr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  <a:cs typeface="ＭＳ Ｐゴシック" charset="0"/>
              </a:defRPr>
            </a:lvl1pPr>
            <a:lvl2pPr marL="742950" indent="-28575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2pPr>
            <a:lvl3pPr marL="11430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3pPr>
            <a:lvl4pPr marL="16002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4pPr>
            <a:lvl5pPr marL="2057400" indent="-228600"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5pPr>
            <a:lvl6pPr marL="25146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6pPr>
            <a:lvl7pPr marL="29718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7pPr>
            <a:lvl8pPr marL="34290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8pPr>
            <a:lvl9pPr marL="3886200" indent="-228600" fontAlgn="base">
              <a:spcBef>
                <a:spcPct val="0"/>
              </a:spcBef>
              <a:spcAft>
                <a:spcPct val="0"/>
              </a:spcAft>
              <a:defRPr kumimoji="1" sz="2400">
                <a:solidFill>
                  <a:schemeClr val="tx1"/>
                </a:solidFill>
                <a:latin typeface="Arial" charset="0"/>
                <a:ea typeface="ＭＳ Ｐゴシック" charset="0"/>
              </a:defRPr>
            </a:lvl9pPr>
          </a:lstStyle>
          <a:p>
            <a:pPr>
              <a:defRPr/>
            </a:pP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Copyright(c) DYM Co., </a:t>
            </a:r>
            <a:r>
              <a:rPr lang="en-US" altLang="ja-JP" sz="800" b="1" dirty="0" err="1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Ltd.All</a:t>
            </a:r>
            <a:r>
              <a:rPr lang="en-US" altLang="ja-JP" sz="800" b="1" dirty="0">
                <a:solidFill>
                  <a:prstClr val="white"/>
                </a:solidFill>
                <a:latin typeface="メイリオ"/>
                <a:ea typeface="メイリオ"/>
                <a:cs typeface="メイリオ"/>
              </a:rPr>
              <a:t> Rights Reserved.</a:t>
            </a:r>
          </a:p>
        </p:txBody>
      </p:sp>
      <p:sp>
        <p:nvSpPr>
          <p:cNvPr id="8" name="正方形/長方形 7"/>
          <p:cNvSpPr/>
          <p:nvPr/>
        </p:nvSpPr>
        <p:spPr>
          <a:xfrm>
            <a:off x="0" y="0"/>
            <a:ext cx="416496" cy="548680"/>
          </a:xfrm>
          <a:prstGeom prst="rect">
            <a:avLst/>
          </a:prstGeom>
          <a:solidFill>
            <a:srgbClr val="191F5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lang="ja-JP" altLang="en-US">
              <a:solidFill>
                <a:prstClr val="white"/>
              </a:solidFill>
            </a:endParaRPr>
          </a:p>
        </p:txBody>
      </p:sp>
      <p:cxnSp>
        <p:nvCxnSpPr>
          <p:cNvPr id="4" name="直線コネクタ 3"/>
          <p:cNvCxnSpPr/>
          <p:nvPr/>
        </p:nvCxnSpPr>
        <p:spPr>
          <a:xfrm>
            <a:off x="0" y="548680"/>
            <a:ext cx="9906000" cy="0"/>
          </a:xfrm>
          <a:prstGeom prst="line">
            <a:avLst/>
          </a:prstGeom>
          <a:ln>
            <a:solidFill>
              <a:srgbClr val="00324B"/>
            </a:solidFill>
          </a:ln>
          <a:effectLst/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pic>
        <p:nvPicPr>
          <p:cNvPr id="9" name="図 1"/>
          <p:cNvPicPr>
            <a:picLocks/>
          </p:cNvPicPr>
          <p:nvPr userDrawn="1"/>
        </p:nvPicPr>
        <p:blipFill rotWithShape="1">
          <a:blip r:embed="rId2" cstate="hq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-1647" r="-11171"/>
          <a:stretch/>
        </p:blipFill>
        <p:spPr bwMode="auto">
          <a:xfrm>
            <a:off x="8619408" y="161057"/>
            <a:ext cx="1192729" cy="263314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11" name="スライド番号プレースホルダ 1"/>
          <p:cNvSpPr txBox="1">
            <a:spLocks/>
          </p:cNvSpPr>
          <p:nvPr userDrawn="1"/>
        </p:nvSpPr>
        <p:spPr>
          <a:xfrm>
            <a:off x="7545288" y="6571255"/>
            <a:ext cx="2133600" cy="216000"/>
          </a:xfrm>
          <a:prstGeom prst="rect">
            <a:avLst/>
          </a:prstGeom>
        </p:spPr>
        <p:txBody>
          <a:bodyPr tIns="25200"/>
          <a:lstStyle>
            <a:defPPr>
              <a:defRPr lang="ja-JP"/>
            </a:defPPr>
            <a:lvl1pPr marL="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1pPr>
            <a:lvl2pPr marL="457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2pPr>
            <a:lvl3pPr marL="914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3pPr>
            <a:lvl4pPr marL="1371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4pPr>
            <a:lvl5pPr marL="18288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5pPr>
            <a:lvl6pPr marL="22860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6pPr>
            <a:lvl7pPr marL="27432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7pPr>
            <a:lvl8pPr marL="32004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8pPr>
            <a:lvl9pPr marL="3657600" algn="l" defTabSz="914400" rtl="0" eaLnBrk="1" latinLnBrk="0" hangingPunct="1">
              <a:defRPr kumimoji="1" sz="1800" kern="1200">
                <a:solidFill>
                  <a:schemeClr val="tx1"/>
                </a:solidFill>
                <a:latin typeface="+mn-lt"/>
                <a:ea typeface="+mn-ea"/>
                <a:cs typeface="+mn-cs"/>
              </a:defRPr>
            </a:lvl9pPr>
          </a:lstStyle>
          <a:p>
            <a:pPr algn="r"/>
            <a:fld id="{9FC100E3-15F5-4145-A942-47DB1D8B776D}" type="slidenum">
              <a:rPr lang="ja-JP" altLang="en-US" sz="1400" i="1" smtClean="0">
                <a:solidFill>
                  <a:prstClr val="white"/>
                </a:solidFill>
                <a:latin typeface="Century Gothic" panose="020B0502020202020204" pitchFamily="34" charset="0"/>
              </a:rPr>
              <a:pPr algn="r"/>
              <a:t>‹#›</a:t>
            </a:fld>
            <a:endParaRPr lang="ja-JP" altLang="en-US" sz="1400" i="1" dirty="0">
              <a:solidFill>
                <a:prstClr val="white"/>
              </a:solidFill>
              <a:latin typeface="Century Gothic" panose="020B0502020202020204" pitchFamily="34" charset="0"/>
            </a:endParaRPr>
          </a:p>
        </p:txBody>
      </p:sp>
    </p:spTree>
    <p:extLst>
      <p:ext uri="{BB962C8B-B14F-4D97-AF65-F5344CB8AC3E}">
        <p14:creationId xmlns:p14="http://schemas.microsoft.com/office/powerpoint/2010/main" val="611138245"/>
      </p:ext>
    </p:extLst>
  </p:cSld>
  <p:clrMap bg1="lt1" tx1="dk1" bg2="lt2" tx2="dk2" accent1="accent1" accent2="accent2" accent3="accent3" accent4="accent4" accent5="accent5" accent6="accent6" hlink="hlink" folHlink="folHlink"/>
  <p:hf hdr="0" dt="0"/>
  <p:txStyles>
    <p:titleStyle>
      <a:lvl1pPr algn="ctr" defTabSz="457200" rtl="0" eaLnBrk="1" fontAlgn="base" hangingPunct="1">
        <a:spcBef>
          <a:spcPct val="0"/>
        </a:spcBef>
        <a:spcAft>
          <a:spcPct val="0"/>
        </a:spcAft>
        <a:defRPr kumimoji="1" sz="4400" kern="1200">
          <a:solidFill>
            <a:schemeClr val="tx1"/>
          </a:solidFill>
          <a:latin typeface="+mj-lt"/>
          <a:ea typeface="+mj-ea"/>
          <a:cs typeface="ＭＳ Ｐゴシック" charset="0"/>
        </a:defRPr>
      </a:lvl1pPr>
      <a:lvl2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2pPr>
      <a:lvl3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3pPr>
      <a:lvl4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4pPr>
      <a:lvl5pPr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5pPr>
      <a:lvl6pPr marL="4572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6pPr>
      <a:lvl7pPr marL="9144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7pPr>
      <a:lvl8pPr marL="13716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8pPr>
      <a:lvl9pPr marL="1828800" algn="ctr" defTabSz="457200" rtl="0" eaLnBrk="1" fontAlgn="base" hangingPunct="1">
        <a:spcBef>
          <a:spcPct val="0"/>
        </a:spcBef>
        <a:spcAft>
          <a:spcPct val="0"/>
        </a:spcAft>
        <a:defRPr kumimoji="1" sz="4400">
          <a:solidFill>
            <a:schemeClr val="tx1"/>
          </a:solidFill>
          <a:latin typeface="Calibri" charset="0"/>
          <a:ea typeface="ＭＳ Ｐゴシック" charset="0"/>
          <a:cs typeface="ＭＳ Ｐゴシック" charset="0"/>
        </a:defRPr>
      </a:lvl9pPr>
    </p:titleStyle>
    <p:bodyStyle>
      <a:lvl1pPr marL="342900" indent="-3429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3200" kern="1200">
          <a:solidFill>
            <a:schemeClr val="tx1"/>
          </a:solidFill>
          <a:latin typeface="+mn-lt"/>
          <a:ea typeface="+mn-ea"/>
          <a:cs typeface="ＭＳ Ｐゴシック" charset="0"/>
        </a:defRPr>
      </a:lvl1pPr>
      <a:lvl2pPr marL="742950" indent="-28575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•"/>
        <a:defRPr kumimoji="1"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–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fontAlgn="base" hangingPunct="1">
        <a:spcBef>
          <a:spcPct val="20000"/>
        </a:spcBef>
        <a:spcAft>
          <a:spcPct val="0"/>
        </a:spcAft>
        <a:buFont typeface="Arial" charset="0"/>
        <a:buChar char="»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kumimoji="1"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ja-JP"/>
      </a:defPPr>
      <a:lvl1pPr marL="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kumimoji="1"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image" Target="../media/image4.png"/><Relationship Id="rId1" Type="http://schemas.openxmlformats.org/officeDocument/2006/relationships/slideLayout" Target="../slideLayouts/slideLayout2.xml"/></Relationships>
</file>

<file path=ppt/slides/_rels/slide29.xml.rels><?xml version="1.0" encoding="UTF-8" standalone="yes"?>
<Relationships xmlns="http://schemas.openxmlformats.org/package/2006/relationships"><Relationship Id="rId8" Type="http://schemas.openxmlformats.org/officeDocument/2006/relationships/image" Target="../media/image21.jpeg"/><Relationship Id="rId3" Type="http://schemas.openxmlformats.org/officeDocument/2006/relationships/image" Target="../media/image3.emf"/><Relationship Id="rId7" Type="http://schemas.openxmlformats.org/officeDocument/2006/relationships/image" Target="../media/image20.jpeg"/><Relationship Id="rId2" Type="http://schemas.openxmlformats.org/officeDocument/2006/relationships/notesSlide" Target="../notesSlides/notesSlide2.xml"/><Relationship Id="rId1" Type="http://schemas.openxmlformats.org/officeDocument/2006/relationships/slideLayout" Target="../slideLayouts/slideLayout3.xml"/><Relationship Id="rId6" Type="http://schemas.openxmlformats.org/officeDocument/2006/relationships/image" Target="../media/image19.jpeg"/><Relationship Id="rId5" Type="http://schemas.openxmlformats.org/officeDocument/2006/relationships/image" Target="../media/image18.jpeg"/><Relationship Id="rId4" Type="http://schemas.openxmlformats.org/officeDocument/2006/relationships/image" Target="../media/image17.jpeg"/></Relationships>
</file>

<file path=ppt/slides/_rels/slide20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Relationship Id="rId101" Type="http://schemas.openxmlformats.org/officeDocument/2006/relationships/image" Target="../media/ys_shot_1.jpeg"/><Relationship Id="rId102" Type="http://schemas.openxmlformats.org/officeDocument/2006/relationships/image" Target="../media/ys_shot_2.jpeg"/><Relationship Id="rId103" Type="http://schemas.openxmlformats.org/officeDocument/2006/relationships/image" Target="../media/ys_shot_3.jpeg"/><Relationship Id="rId104" Type="http://schemas.openxmlformats.org/officeDocument/2006/relationships/image" Target="../media/ys_shot_4.jpeg"/><Relationship Id="rId105" Type="http://schemas.openxmlformats.org/officeDocument/2006/relationships/image" Target="../media/ys_shot_5.jpeg"/><Relationship Id="rId106" Type="http://schemas.openxmlformats.org/officeDocument/2006/relationships/image" Target="../media/ys_shot_6.jpeg"/></Relationships>
</file>

<file path=ppt/slides/_rels/slide20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08.xml.rels><?xml version='1.0' encoding='UTF-8' standalone='yes'?>
<Relationships xmlns="http://schemas.openxmlformats.org/package/2006/relationships"><Relationship Id="rId8" Type="http://schemas.openxmlformats.org/officeDocument/2006/relationships/image" Target="../media/ys_app1_image10.jpeg"/><Relationship Id="rId3" Type="http://schemas.openxmlformats.org/officeDocument/2006/relationships/image" Target="../media/ys_app1_image5.jpeg"/><Relationship Id="rId7" Type="http://schemas.openxmlformats.org/officeDocument/2006/relationships/image" Target="../media/ys_app1_image9.jpeg"/><Relationship Id="rId2" Type="http://schemas.openxmlformats.org/officeDocument/2006/relationships/image" Target="../media/ys_app1_image4.jpeg"/><Relationship Id="rId1" Type="http://schemas.openxmlformats.org/officeDocument/2006/relationships/slideLayout" Target="../slideLayouts/slideLayout2.xml"/><Relationship Id="rId6" Type="http://schemas.openxmlformats.org/officeDocument/2006/relationships/image" Target="../media/ys_app1_image8.png"/><Relationship Id="rId5" Type="http://schemas.openxmlformats.org/officeDocument/2006/relationships/image" Target="../media/ys_app1_image7.png"/><Relationship Id="rId4" Type="http://schemas.openxmlformats.org/officeDocument/2006/relationships/image" Target="../media/ys_app1_image6.png"/><Relationship Id="rId9" Type="http://schemas.openxmlformats.org/officeDocument/2006/relationships/image" Target="../media/ys_app1_image11.png"/></Relationships>
</file>

<file path=ppt/slides/_rels/slide20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0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_rels/slide21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2.xml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69A0322D-BA5F-9122-1E12-FB7AC2AF15A5}"/>
              </a:ext>
            </a:extLst>
          </p:cNvPr>
          <p:cNvSpPr/>
          <p:nvPr/>
        </p:nvSpPr>
        <p:spPr>
          <a:xfrm>
            <a:off x="1665887" y="3038203"/>
            <a:ext cx="6574236" cy="584775"/>
          </a:xfrm>
          <a:prstGeom prst="rect">
            <a:avLst/>
          </a:prstGeom>
        </p:spPr>
        <p:txBody>
          <a:bodyPr wrap="none">
            <a:spAutoFit/>
          </a:bodyPr>
          <a:lstStyle/>
          <a:p>
            <a:pPr algn="ctr"/>
            <a:r>
              <a:rPr lang="en-US" altLang="ja-IS" sz="3200" b="1" dirty="0">
                <a:solidFill>
                  <a:schemeClr val="tx1">
                    <a:lumMod val="75000"/>
                    <a:lumOff val="25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 panose="020B0604030504040204" pitchFamily="50" charset="-128"/>
              </a:rPr>
              <a:t>LINE公式アカウント運用のご提案</a:t>
            </a:r>
            <a:endParaRPr lang="en-US" altLang="ja-IS" sz="3200" b="1" dirty="0">
              <a:solidFill>
                <a:schemeClr val="tx1">
                  <a:lumMod val="75000"/>
                  <a:lumOff val="25000"/>
                </a:schemeClr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 panose="020B0604030504040204" pitchFamily="50" charset="-128"/>
            </a:endParaRPr>
          </a:p>
        </p:txBody>
      </p: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3CC59398-53B4-E01E-A60C-6C13628FCBFB}"/>
              </a:ext>
            </a:extLst>
          </p:cNvPr>
          <p:cNvSpPr/>
          <p:nvPr/>
        </p:nvSpPr>
        <p:spPr>
          <a:xfrm>
            <a:off x="1613481" y="2729823"/>
            <a:ext cx="6626632" cy="33855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/>
            <a:r>
              <a:rPr lang="ja-JP" altLang="en-US" sz="1600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/>
                <a:ea typeface="メイリオ"/>
              </a:rPr>
              <a:t>応募から勤務連絡、次回イベントへの再応募までをLINEでつなぐ</a:t>
            </a:r>
          </a:p>
        </p:txBody>
      </p:sp>
      <p:cxnSp>
        <p:nvCxnSpPr>
          <p:cNvPr id="5" name="直線コネクタ 4">
            <a:extLst>
              <a:ext uri="{FF2B5EF4-FFF2-40B4-BE49-F238E27FC236}">
                <a16:creationId xmlns:a16="http://schemas.microsoft.com/office/drawing/2014/main" id="{B532C1C8-7FE6-8830-B27C-27941421F5F9}"/>
              </a:ext>
            </a:extLst>
          </p:cNvPr>
          <p:cNvCxnSpPr>
            <a:cxnSpLocks/>
          </p:cNvCxnSpPr>
          <p:nvPr/>
        </p:nvCxnSpPr>
        <p:spPr>
          <a:xfrm>
            <a:off x="1337175" y="3705064"/>
            <a:ext cx="7231660" cy="0"/>
          </a:xfrm>
          <a:prstGeom prst="line">
            <a:avLst/>
          </a:prstGeom>
          <a:ln w="19050">
            <a:solidFill>
              <a:schemeClr val="tx1">
                <a:lumMod val="50000"/>
                <a:lumOff val="50000"/>
              </a:schemeClr>
            </a:solidFill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9" name="図 8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FFE022E1-8FF6-B4B4-B955-17E7CFA96460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1" y="0"/>
            <a:ext cx="8159931" cy="766354"/>
          </a:xfrm>
          <a:prstGeom prst="rect">
            <a:avLst/>
          </a:prstGeom>
        </p:spPr>
      </p:pic>
      <p:pic>
        <p:nvPicPr>
          <p:cNvPr id="10" name="図 9" descr="背景パターン&#10;&#10;AI 生成コンテンツは誤りを含む可能性があります。">
            <a:extLst>
              <a:ext uri="{FF2B5EF4-FFF2-40B4-BE49-F238E27FC236}">
                <a16:creationId xmlns:a16="http://schemas.microsoft.com/office/drawing/2014/main" id="{0F2999B3-5873-C495-70F5-12487911C618}"/>
              </a:ext>
            </a:extLst>
          </p:cNvPr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7863840" y="494114"/>
            <a:ext cx="2042161" cy="272239"/>
          </a:xfrm>
          <a:prstGeom prst="rect">
            <a:avLst/>
          </a:prstGeom>
        </p:spPr>
      </p:pic>
      <p:sp>
        <p:nvSpPr>
          <p:cNvPr id="11" name="Rectangle 10"/>
          <p:cNvSpPr/>
          <p:nvPr/>
        </p:nvSpPr>
        <p:spPr>
          <a:xfrm>
            <a:off x="292608" y="265176"/>
            <a:ext cx="4965192" cy="3383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l">
              <a:buNone/>
            </a:pPr>
            <a:r>
              <a:rPr lang="ja-JP" altLang="en-US" sz="16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株式会社横浜シミズ 御中</a:t>
            </a:r>
            <a:endParaRPr lang="ja-JP" altLang="en-US" sz="1600" dirty="0"/>
          </a:p>
        </p:txBody>
      </p:sp>
      <p:sp>
        <p:nvSpPr>
          <p:cNvPr id="12" name="Rectangle 11"/>
          <p:cNvSpPr/>
          <p:nvPr/>
        </p:nvSpPr>
        <p:spPr>
          <a:xfrm>
            <a:off x="1335024" y="3931920"/>
            <a:ext cx="7232904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2026年10月　株式会社DYM</a:t>
            </a:r>
            <a:endParaRPr lang="ja-JP" altLang="en-US" sz="1200" dirty="0"/>
          </a:p>
        </p:txBody>
      </p:sp>
    </p:spTree>
    <p:extLst>
      <p:ext uri="{BB962C8B-B14F-4D97-AF65-F5344CB8AC3E}">
        <p14:creationId xmlns:p14="http://schemas.microsoft.com/office/powerpoint/2010/main" val="3944598036"/>
      </p:ext>
    </p:extLst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" name="正方形/長方形 18"/>
          <p:cNvSpPr>
            <a:spLocks noChangeArrowheads="1"/>
          </p:cNvSpPr>
          <p:nvPr/>
        </p:nvSpPr>
        <p:spPr bwMode="auto">
          <a:xfrm>
            <a:off x="1649030" y="5820984"/>
            <a:ext cx="6192837" cy="373628"/>
          </a:xfrm>
          <a:prstGeom prst="rect">
            <a:avLst/>
          </a:prstGeom>
          <a:noFill/>
          <a:ln>
            <a:noFill/>
          </a:ln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  <p:txBody>
          <a:bodyPr anchor="ctr">
            <a:spAutoFit/>
          </a:bodyPr>
          <a:lstStyle/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株式会社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DYM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〒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141-0032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東京都品川区大崎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1-11-2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ゲートシティ大崎イーストタワー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10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階</a:t>
            </a:r>
            <a:endParaRPr lang="en-US" altLang="ja-JP" sz="831" b="1" dirty="0">
              <a:solidFill>
                <a:prstClr val="black"/>
              </a:solidFill>
              <a:latin typeface="メイリオ"/>
              <a:ea typeface="メイリオ"/>
              <a:cs typeface="メイリオ"/>
            </a:endParaRPr>
          </a:p>
          <a:p>
            <a:pPr marL="0" lvl="1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TEL: 03-5745-0200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FAX: 03-3779-8720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　</a:t>
            </a:r>
            <a:r>
              <a:rPr lang="en-US" altLang="ja-JP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http://dym.asia   </a:t>
            </a:r>
            <a:r>
              <a:rPr lang="ja-JP" altLang="en-US" sz="831" b="1" dirty="0">
                <a:solidFill>
                  <a:prstClr val="black"/>
                </a:solidFill>
                <a:latin typeface="メイリオ"/>
                <a:ea typeface="メイリオ"/>
                <a:cs typeface="メイリオ"/>
              </a:rPr>
              <a:t>代表取締役　水谷佑毅</a:t>
            </a:r>
          </a:p>
        </p:txBody>
      </p:sp>
      <p:pic>
        <p:nvPicPr>
          <p:cNvPr id="24" name="図 1"/>
          <p:cNvPicPr>
            <a:picLocks noChangeAspect="1"/>
          </p:cNvPicPr>
          <p:nvPr/>
        </p:nvPicPr>
        <p:blipFill rotWithShape="1">
          <a:blip r:embed="rId3" cstate="email">
            <a:extLst>
              <a:ext uri="{28A0092B-C50C-407E-A947-70E740481C1C}">
                <a14:useLocalDpi xmlns:a14="http://schemas.microsoft.com/office/drawing/2010/main"/>
              </a:ext>
            </a:extLst>
          </a:blip>
          <a:srcRect l="-1647" r="-11171"/>
          <a:stretch/>
        </p:blipFill>
        <p:spPr bwMode="auto">
          <a:xfrm>
            <a:off x="543897" y="5895365"/>
            <a:ext cx="1100981" cy="224866"/>
          </a:xfrm>
          <a:prstGeom prst="rect">
            <a:avLst/>
          </a:prstGeom>
          <a:noFill/>
          <a:ln>
            <a:noFill/>
          </a:ln>
          <a:effectLst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  <a:ext uri="{91240B29-F687-4F45-9708-019B960494DF}">
              <a14:hiddenLine xmlns:a14="http://schemas.microsoft.com/office/drawing/2010/main" w="9525">
                <a:solidFill>
                  <a:srgbClr val="000000"/>
                </a:solidFill>
                <a:miter lim="800000"/>
                <a:headEnd/>
                <a:tailEnd/>
              </a14:hiddenLine>
            </a:ext>
          </a:extLst>
        </p:spPr>
      </p:pic>
      <p:sp>
        <p:nvSpPr>
          <p:cNvPr id="3" name="テキスト ボックス 2"/>
          <p:cNvSpPr txBox="1"/>
          <p:nvPr/>
        </p:nvSpPr>
        <p:spPr>
          <a:xfrm>
            <a:off x="5070232" y="5597769"/>
            <a:ext cx="184731" cy="369332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pPr fontAlgn="base">
              <a:spcBef>
                <a:spcPct val="0"/>
              </a:spcBef>
              <a:spcAft>
                <a:spcPct val="0"/>
              </a:spcAft>
              <a:defRPr/>
            </a:pPr>
            <a:endParaRPr lang="ja-JP" altLang="en-US">
              <a:solidFill>
                <a:prstClr val="black"/>
              </a:solidFill>
              <a:latin typeface="Arial" pitchFamily="34" charset="0"/>
              <a:ea typeface="ＭＳ Ｐゴシック" pitchFamily="50" charset="-128"/>
            </a:endParaRPr>
          </a:p>
        </p:txBody>
      </p:sp>
      <p:sp>
        <p:nvSpPr>
          <p:cNvPr id="18" name="正方形/長方形 17"/>
          <p:cNvSpPr/>
          <p:nvPr/>
        </p:nvSpPr>
        <p:spPr>
          <a:xfrm>
            <a:off x="2170038" y="989684"/>
            <a:ext cx="5565924" cy="369332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b="1" dirty="0">
                <a:solidFill>
                  <a:prstClr val="black"/>
                </a:solidFill>
                <a:latin typeface="メイリオ" charset="0"/>
                <a:ea typeface="メイリオ" charset="0"/>
                <a:cs typeface="メイリオ" charset="0"/>
              </a:rPr>
              <a:t>貴社の明るい未来に必ず貢献致します。</a:t>
            </a:r>
          </a:p>
        </p:txBody>
      </p:sp>
      <p:sp>
        <p:nvSpPr>
          <p:cNvPr id="14" name="正方形/長方形 13"/>
          <p:cNvSpPr/>
          <p:nvPr/>
        </p:nvSpPr>
        <p:spPr>
          <a:xfrm>
            <a:off x="382695" y="2698377"/>
            <a:ext cx="598220" cy="205890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738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sp>
        <p:nvSpPr>
          <p:cNvPr id="15" name="正方形/長方形 14"/>
          <p:cNvSpPr/>
          <p:nvPr/>
        </p:nvSpPr>
        <p:spPr>
          <a:xfrm>
            <a:off x="368300" y="2355213"/>
            <a:ext cx="756684" cy="215444"/>
          </a:xfrm>
          <a:prstGeom prst="rect">
            <a:avLst/>
          </a:prstGeom>
        </p:spPr>
        <p:txBody>
          <a:bodyPr wrap="square">
            <a:spAutoFit/>
          </a:bodyPr>
          <a:lstStyle/>
          <a:p>
            <a:pPr algn="ctr" fontAlgn="base">
              <a:spcBef>
                <a:spcPct val="20000"/>
              </a:spcBef>
              <a:spcAft>
                <a:spcPct val="0"/>
              </a:spcAft>
              <a:defRPr/>
            </a:pPr>
            <a:r>
              <a:rPr lang="ja-JP" altLang="en-US" sz="800" dirty="0">
                <a:solidFill>
                  <a:srgbClr val="FFFFFF"/>
                </a:solidFill>
                <a:latin typeface="メイリオ" charset="0"/>
                <a:ea typeface="メイリオ" charset="0"/>
                <a:cs typeface="メイリオ" charset="0"/>
              </a:rPr>
              <a:t>本社</a:t>
            </a:r>
          </a:p>
        </p:txBody>
      </p:sp>
      <p:grpSp>
        <p:nvGrpSpPr>
          <p:cNvPr id="22" name="グループ化 21">
            <a:extLst>
              <a:ext uri="{FF2B5EF4-FFF2-40B4-BE49-F238E27FC236}">
                <a16:creationId xmlns:a16="http://schemas.microsoft.com/office/drawing/2014/main" id="{05A1AABC-CDB8-5B83-4CFD-649967A361BF}"/>
              </a:ext>
            </a:extLst>
          </p:cNvPr>
          <p:cNvGrpSpPr/>
          <p:nvPr/>
        </p:nvGrpSpPr>
        <p:grpSpPr>
          <a:xfrm>
            <a:off x="381002" y="1772817"/>
            <a:ext cx="9143999" cy="3314853"/>
            <a:chOff x="1" y="1772816"/>
            <a:chExt cx="9143999" cy="3314853"/>
          </a:xfrm>
        </p:grpSpPr>
        <p:pic>
          <p:nvPicPr>
            <p:cNvPr id="21" name="図 20" descr="ポーズをとる男性グループ&#10;&#10;自動的に生成された説明">
              <a:extLst>
                <a:ext uri="{FF2B5EF4-FFF2-40B4-BE49-F238E27FC236}">
                  <a16:creationId xmlns:a16="http://schemas.microsoft.com/office/drawing/2014/main" id="{4927F40E-D146-C638-5583-C9DC2984722E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4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3642" r="4076"/>
            <a:stretch/>
          </p:blipFill>
          <p:spPr>
            <a:xfrm>
              <a:off x="6973793" y="3518745"/>
              <a:ext cx="2170207" cy="1567781"/>
            </a:xfrm>
            <a:prstGeom prst="rect">
              <a:avLst/>
            </a:prstGeom>
          </p:spPr>
        </p:pic>
        <p:pic>
          <p:nvPicPr>
            <p:cNvPr id="16" name="図 15" descr="白いシャツを着ている男性&#10;&#10;中程度の精度で自動的に生成された説明">
              <a:extLst>
                <a:ext uri="{FF2B5EF4-FFF2-40B4-BE49-F238E27FC236}">
                  <a16:creationId xmlns:a16="http://schemas.microsoft.com/office/drawing/2014/main" id="{2ECDFCA7-8611-D865-F999-FDCD0EC21269}"/>
                </a:ext>
              </a:extLst>
            </p:cNvPr>
            <p:cNvPicPr>
              <a:picLocks noChangeAspect="1"/>
            </p:cNvPicPr>
            <p:nvPr/>
          </p:nvPicPr>
          <p:blipFill>
            <a:blip r:embed="rId5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tretch>
              <a:fillRect/>
            </a:stretch>
          </p:blipFill>
          <p:spPr>
            <a:xfrm>
              <a:off x="4983808" y="3519888"/>
              <a:ext cx="1989985" cy="1567781"/>
            </a:xfrm>
            <a:prstGeom prst="rect">
              <a:avLst/>
            </a:prstGeom>
          </p:spPr>
        </p:pic>
        <p:pic>
          <p:nvPicPr>
            <p:cNvPr id="10" name="図 9" descr="スーツを着た男性たち&#10;&#10;自動的に生成された説明">
              <a:extLst>
                <a:ext uri="{FF2B5EF4-FFF2-40B4-BE49-F238E27FC236}">
                  <a16:creationId xmlns:a16="http://schemas.microsoft.com/office/drawing/2014/main" id="{9D3AD52A-1514-4350-FFDD-09984B3666E2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6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10703" r="10363"/>
            <a:stretch/>
          </p:blipFill>
          <p:spPr>
            <a:xfrm>
              <a:off x="7299681" y="1773979"/>
              <a:ext cx="1842624" cy="1745909"/>
            </a:xfrm>
            <a:prstGeom prst="rect">
              <a:avLst/>
            </a:prstGeom>
          </p:spPr>
        </p:pic>
        <p:pic>
          <p:nvPicPr>
            <p:cNvPr id="7" name="図 6" descr="講堂にいる人たち&#10;&#10;中程度の精度で自動的に生成された説明">
              <a:extLst>
                <a:ext uri="{FF2B5EF4-FFF2-40B4-BE49-F238E27FC236}">
                  <a16:creationId xmlns:a16="http://schemas.microsoft.com/office/drawing/2014/main" id="{B1CA0DFF-0DAF-D5BD-8D9F-8AFB103E269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7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2512" t="12879" r="2477"/>
            <a:stretch/>
          </p:blipFill>
          <p:spPr>
            <a:xfrm>
              <a:off x="1" y="1772816"/>
              <a:ext cx="5089778" cy="3314853"/>
            </a:xfrm>
            <a:prstGeom prst="rect">
              <a:avLst/>
            </a:prstGeom>
          </p:spPr>
        </p:pic>
        <p:pic>
          <p:nvPicPr>
            <p:cNvPr id="11" name="図 10" descr="スーツを着た男性グループの写真&#10;&#10;低い精度で自動的に生成された説明">
              <a:extLst>
                <a:ext uri="{FF2B5EF4-FFF2-40B4-BE49-F238E27FC236}">
                  <a16:creationId xmlns:a16="http://schemas.microsoft.com/office/drawing/2014/main" id="{FEFAFF33-EFBF-C67E-586A-08D93AF295F8}"/>
                </a:ext>
              </a:extLst>
            </p:cNvPr>
            <p:cNvPicPr>
              <a:picLocks noChangeAspect="1"/>
            </p:cNvPicPr>
            <p:nvPr/>
          </p:nvPicPr>
          <p:blipFill rotWithShape="1">
            <a:blip r:embed="rId8" cstate="print">
              <a:extLst>
                <a:ext uri="{28A0092B-C50C-407E-A947-70E740481C1C}">
                  <a14:useLocalDpi xmlns:a14="http://schemas.microsoft.com/office/drawing/2010/main" val="0"/>
                </a:ext>
              </a:extLst>
            </a:blip>
            <a:srcRect l="8595" r="6763"/>
            <a:stretch/>
          </p:blipFill>
          <p:spPr>
            <a:xfrm>
              <a:off x="5089779" y="1772836"/>
              <a:ext cx="2215315" cy="1745909"/>
            </a:xfrm>
            <a:prstGeom prst="rect">
              <a:avLst/>
            </a:prstGeom>
          </p:spPr>
        </p:pic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238B92EF-519D-929F-4345-5BAC445EF234}"/>
              </a:ext>
            </a:extLst>
          </p:cNvPr>
          <p:cNvSpPr/>
          <p:nvPr/>
        </p:nvSpPr>
        <p:spPr>
          <a:xfrm>
            <a:off x="128016" y="6620256"/>
            <a:ext cx="2852928" cy="237744"/>
          </a:xfrm>
          <a:prstGeom prst="rect">
            <a:avLst/>
          </a:prstGeom>
          <a:solidFill>
            <a:srgbClr val="191F54"/>
          </a:solidFill>
          <a:ln>
            <a:solidFill>
              <a:srgbClr val="10253F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  <p:sp>
        <p:nvSpPr>
          <p:cNvPr id="2" name="正方形/長方形 1">
            <a:extLst>
              <a:ext uri="{FF2B5EF4-FFF2-40B4-BE49-F238E27FC236}">
                <a16:creationId xmlns:a16="http://schemas.microsoft.com/office/drawing/2014/main" id="{A949B271-D24D-666E-90F2-EA616E1EABC2}"/>
              </a:ext>
            </a:extLst>
          </p:cNvPr>
          <p:cNvSpPr/>
          <p:nvPr/>
        </p:nvSpPr>
        <p:spPr>
          <a:xfrm>
            <a:off x="368300" y="0"/>
            <a:ext cx="9537700" cy="514974"/>
          </a:xfrm>
          <a:prstGeom prst="rect">
            <a:avLst/>
          </a:prstGeom>
          <a:solidFill>
            <a:schemeClr val="bg1"/>
          </a:solidFill>
          <a:ln>
            <a:solidFill>
              <a:schemeClr val="bg1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 kumimoji="1" lang="ja-JP" altLang="en-US"/>
          </a:p>
        </p:txBody>
      </p:sp>
    </p:spTree>
    <p:extLst>
      <p:ext uri="{BB962C8B-B14F-4D97-AF65-F5344CB8AC3E}">
        <p14:creationId xmlns:p14="http://schemas.microsoft.com/office/powerpoint/2010/main" val="4185355464"/>
      </p:ext>
    </p:extLst>
  </p:cSld>
  <p:clrMapOvr>
    <a:masterClrMapping/>
  </p:clrMapOvr>
  <p:transition spd="slow"/>
</p:sld>
</file>

<file path=ppt/slides/slide20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現状把握｜横浜シミズの事業と、想定している課題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神奈川・静岡全域のイベント会場で、運営・警備・設営を担う、登録制アルバイトの会社です。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イベントごとに人を集める事業だからこそ、勤務後の接点が次の人員確保につながると考えます。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出典｜株式会社横浜シミズ 公式サイト（事業内容・会社情報・アルバイト募集）・採用サイト（shimizuocto-saiyou.net）　2026年10月20日 弊社確認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一度働いた方に、次のイベントでも戻ってきていただく仕組みをつくる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5120640" cy="40690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3" name="Rounded Rectangle 22"/>
          <p:cNvSpPr/>
          <p:nvPr/>
        </p:nvSpPr>
        <p:spPr>
          <a:xfrm>
            <a:off x="566928" y="1481328"/>
            <a:ext cx="3017520" cy="292608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事業の特徴（公式サイト・採用サイトより）</a:t>
            </a:r>
            <a:endParaRPr lang="ja-JP" altLang="en-US" sz="1050" dirty="0"/>
          </a:p>
        </p:txBody>
      </p:sp>
      <p:sp>
        <p:nvSpPr>
          <p:cNvPr id="24" name="Rectangle 23"/>
          <p:cNvSpPr/>
          <p:nvPr/>
        </p:nvSpPr>
        <p:spPr>
          <a:xfrm>
            <a:off x="539496" y="1920240"/>
            <a:ext cx="4901184" cy="3429000"/>
          </a:xfrm>
          <a:prstGeom prst="rect">
            <a:avLst/>
          </a:prstGeom>
          <a:noFill/>
          <a:ln>
            <a:noFill/>
          </a:ln>
        </p:spPr>
        <p:txBody>
          <a:bodyPr wrap="square" lIns="54864" tIns="36576" rIns="54864" bIns="36576" rtlCol="0" anchor="t">
            <a:noAutofit/>
          </a:bodyPr>
          <a:lstStyle/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・神奈川県・静岡県全域で、舞台設営・美術施工・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運営管理・警備をワンストップで提供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・運営管理は、少人数から1日1,000人以上の規模まで動員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・アルバイトは登録制。勤務できる日を自己申告し、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合う業務に就く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・一度採用されると、ほかの業務にも勤務できる（面接は1回）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・勤務地は日産スタジアム・横浜アリーナ・横浜スタジアム・</a:t>
            </a:r>
            <a:b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Kアリーナ横浜など多数</a:t>
            </a:r>
            <a:endParaRPr lang="ja-JP" altLang="en-US" sz="1200" dirty="0"/>
          </a:p>
          <a:p>
            <a:pPr algn="l" marL="155448" indent="-155448">
              <a:lnSpc>
                <a:spcPct val="105000"/>
              </a:lnSpc>
              <a:spcAft>
                <a:spcPts val="800"/>
              </a:spcAft>
              <a:buNone/>
            </a:pPr>
            <a:r>
              <a:rPr lang="ja-JP" altLang="en-US" sz="12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・応募は採用サイトから。面接予約の完了はメールで届く</a:t>
            </a:r>
            <a:endParaRPr lang="ja-JP" altLang="en-US" sz="1200" dirty="0"/>
          </a:p>
        </p:txBody>
      </p:sp>
      <p:graphicFrame>
        <p:nvGraphicFramePr>
          <p:cNvPr id="25" name="表 24"/>
          <p:cNvGraphicFramePr>
            <a:graphicFrameLocks noGrp="1"/>
          </p:cNvGraphicFramePr>
          <p:nvPr/>
        </p:nvGraphicFramePr>
        <p:xfrm>
          <a:off x="5715000" y="1371600"/>
          <a:ext cx="3758184" cy="2414016"/>
        </p:xfrm>
        <a:graphic>
          <a:graphicData uri="http://schemas.openxmlformats.org/drawingml/2006/table">
            <a:tbl>
              <a:tblPr/>
              <a:tblGrid>
                <a:gridCol w="1600200"/>
                <a:gridCol w="2157984"/>
              </a:tblGrid>
              <a:tr h="310896">
                <a:tc gridSpan="2"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いただいている情報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 hMerge="1">
                  <a:txBody>
                    <a:bodyPr/>
                    <a:lstStyle/>
                    <a:p>
                      <a:pPr algn="ctr">
                        <a:buNone/>
                      </a:pP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サイトUU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8,947（集計期間：未確認）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月間の応募数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広告の実施状況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LINE公式アカウントの</a:t>
                      </a:r>
                      <a:endParaRPr lang="ja-JP" altLang="en-US" sz="1050" dirty="0"/>
                    </a:p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現在の使い方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FF0000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未確認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想定予算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月額20万円（ツール費込み）</a:t>
                      </a:r>
                      <a:endParaRPr lang="ja-JP" altLang="en-US" sz="1050" dirty="0"/>
                    </a:p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初期費用は別途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6" name="Rounded Rectangle 25"/>
          <p:cNvSpPr/>
          <p:nvPr/>
        </p:nvSpPr>
        <p:spPr>
          <a:xfrm>
            <a:off x="5715000" y="3886200"/>
            <a:ext cx="3758184" cy="15544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想定している課題（仮説）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イベントの勤務が終わると、スタッフの方との連絡が途切れやすい。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次のイベントでも働いていただける接点を残すことが、継続的な人員確保の鍵と考えます。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20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業界課題①｜イベント・単発の仕事は、毎回の人員確保が前提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単発・短期の仕事は、イベントのたびに必要な人数を集め直す必要があります。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新規の応募だけに頼ると、募集・採用の負担がイベントごとにくり返されます。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出典｜LINEヤフー 媒体データ（検索の前後行動）。起点キーワード「単発バイト」・直近1年間（2025年3月17日〜2026年3月22日）。分類は弊社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比べて選ばれる仕事だからこそ、一度つながった方との接点が次の人員確保を左右する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イベントのたびに、必要な人数を集め直す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開催日・会場・規模によって、必要な人数と業務が変わります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27432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新規の応募だけに頼ると、負担がくり返される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募集・面接・登録の手間が、イベントごとにかかります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4114800"/>
            <a:ext cx="4160520" cy="123444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ctr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勤務が終わると、接点が薄れる</a:t>
            </a:r>
            <a:endParaRPr lang="ja-JP" altLang="en-US" sz="115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次の募集を届ける手段が残らず、また新規で集めることになります</a:t>
            </a:r>
            <a:endParaRPr lang="ja-JP" altLang="en-US" sz="1150" dirty="0"/>
          </a:p>
        </p:txBody>
      </p:sp>
      <p:sp>
        <p:nvSpPr>
          <p:cNvPr id="25" name="Rounded Rectangle 24"/>
          <p:cNvSpPr/>
          <p:nvPr/>
        </p:nvSpPr>
        <p:spPr>
          <a:xfrm>
            <a:off x="4773168" y="1371600"/>
            <a:ext cx="4700016" cy="3977639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4910328" y="1444752"/>
            <a:ext cx="4425696" cy="5029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「単発バイト」を検索した方は、前後に何を調べているか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4910328" y="2057400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-7〜-1日</a:t>
            </a:r>
            <a:endParaRPr lang="ja-JP" altLang="en-US" sz="1000" dirty="0"/>
          </a:p>
        </p:txBody>
      </p:sp>
      <p:sp>
        <p:nvSpPr>
          <p:cNvPr id="28" name="Rectangle 27"/>
          <p:cNvSpPr/>
          <p:nvPr/>
        </p:nvSpPr>
        <p:spPr>
          <a:xfrm>
            <a:off x="5961888" y="2011680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スキマ時間で、すぐ稼ぎたい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在宅 スキマ時間／在宅ワーク 求人／バイト 求人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4910328" y="3044952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0〜+2日</a:t>
            </a:r>
            <a:endParaRPr lang="ja-JP" altLang="en-US" sz="1000" dirty="0"/>
          </a:p>
        </p:txBody>
      </p:sp>
      <p:sp>
        <p:nvSpPr>
          <p:cNvPr id="30" name="Rectangle 29"/>
          <p:cNvSpPr/>
          <p:nvPr/>
        </p:nvSpPr>
        <p:spPr>
          <a:xfrm>
            <a:off x="5961888" y="2999232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同じ日に、複数のサービスを並べて比べる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タイミー／バイトル／短期バイト／単発バイト アプリ</a:t>
            </a:r>
            <a:endParaRPr lang="ja-JP" altLang="en-US" sz="1100" dirty="0"/>
          </a:p>
        </p:txBody>
      </p:sp>
      <p:sp>
        <p:nvSpPr>
          <p:cNvPr id="31" name="Rounded Rectangle 30"/>
          <p:cNvSpPr/>
          <p:nvPr/>
        </p:nvSpPr>
        <p:spPr>
          <a:xfrm>
            <a:off x="4910328" y="4032504"/>
            <a:ext cx="960120" cy="274320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+1〜+15日</a:t>
            </a:r>
            <a:endParaRPr lang="ja-JP" altLang="en-US" sz="1000" dirty="0"/>
          </a:p>
        </p:txBody>
      </p:sp>
      <p:sp>
        <p:nvSpPr>
          <p:cNvPr id="32" name="Rectangle 31"/>
          <p:cNvSpPr/>
          <p:nvPr/>
        </p:nvSpPr>
        <p:spPr>
          <a:xfrm>
            <a:off x="5961888" y="3986784"/>
            <a:ext cx="3374135" cy="86868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18288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続けられるか・扶養や税金は大丈夫か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副業 確定申告 20万円以下／ダブルワーク 扶養内 いくらまで</a:t>
            </a:r>
            <a:endParaRPr lang="ja-JP" altLang="en-US" sz="1100" dirty="0"/>
          </a:p>
        </p:txBody>
      </p:sp>
      <p:sp>
        <p:nvSpPr>
          <p:cNvPr id="33" name="Rectangle 32"/>
          <p:cNvSpPr/>
          <p:nvPr/>
        </p:nvSpPr>
        <p:spPr>
          <a:xfrm>
            <a:off x="4910328" y="4937760"/>
            <a:ext cx="4425696" cy="3657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★ 検索行動のデータです。応募者ご本人の行動と同一ではありません。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20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業界課題②｜応募後の連絡・勤務前の案内・次の募集に手間がかかる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応募から勤務までの連絡、勤務前の案内、次の募集。どれも人数が増えるほど手間が増えます。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連絡をLINEに集めることで、届きやすく、次の募集にもつなげやすくなります。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出典｜LINE国内MAU・メッセージ開封率：LINEヤフー公式値。※応募から勤務までの実施率・再応募率は公開データがなく、貴社での計測が必要です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連絡の手間を減らしながら、次の募集が届く状態をつくる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応募のあと</a:t>
            </a:r>
            <a:endParaRPr lang="ja-JP" altLang="en-US" sz="120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起きやすいこと（一般的な傾向）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メールや電話がつながらず、面接・登録の案内が届きにくい</a:t>
            </a:r>
            <a:endParaRPr lang="ja-JP" altLang="en-US" sz="1150" dirty="0"/>
          </a:p>
        </p:txBody>
      </p:sp>
      <p:sp>
        <p:nvSpPr>
          <p:cNvPr id="24" name="Rectangle 23"/>
          <p:cNvSpPr/>
          <p:nvPr/>
        </p:nvSpPr>
        <p:spPr>
          <a:xfrm>
            <a:off x="1641348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応募の直後に友だちになっていただき、面接・登録の案内をLINEで届ける</a:t>
            </a:r>
            <a:endParaRPr lang="ja-JP" altLang="en-US" sz="115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</a:t>
            </a:r>
            <a:endParaRPr lang="ja-JP" altLang="en-US" sz="120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起きやすいこと（一般的な傾向）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集合場所・時間・持ち物・服装の案内を、人数分くり返し送る</a:t>
            </a:r>
            <a:endParaRPr lang="ja-JP" altLang="en-US" sz="1150" dirty="0"/>
          </a:p>
        </p:txBody>
      </p:sp>
      <p:sp>
        <p:nvSpPr>
          <p:cNvPr id="28" name="Rectangle 27"/>
          <p:cNvSpPr/>
          <p:nvPr/>
        </p:nvSpPr>
        <p:spPr>
          <a:xfrm>
            <a:off x="4722876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同じイベントの方へ一斉に、会場・業務ごとに絞って案内する</a:t>
            </a:r>
            <a:endParaRPr lang="ja-JP" altLang="en-US" sz="115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勤務のあと</a:t>
            </a:r>
            <a:endParaRPr lang="ja-JP" altLang="en-US" sz="12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7830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起きやすいこと（一般的な傾向）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次の募集を届ける手段が残らず、新規の募集に頼りがち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7804404" y="2862072"/>
            <a:ext cx="4572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400" b="0" dirty="0">
                <a:solidFill>
                  <a:srgbClr val="1E276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▼</a:t>
            </a:r>
            <a:endParaRPr lang="ja-JP" altLang="en-US" sz="14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154680"/>
            <a:ext cx="2880360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LINEでできること</a:t>
            </a:r>
            <a:endParaRPr lang="ja-JP" altLang="en-US" sz="11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希望に合う次回イベントの募集を届け、再応募につなげる</a:t>
            </a:r>
            <a:endParaRPr lang="ja-JP" altLang="en-US" sz="1150" dirty="0"/>
          </a:p>
        </p:txBody>
      </p:sp>
      <p:sp>
        <p:nvSpPr>
          <p:cNvPr id="34" name="Rounded Rectangle 33"/>
          <p:cNvSpPr/>
          <p:nvPr/>
        </p:nvSpPr>
        <p:spPr>
          <a:xfrm>
            <a:off x="429768" y="4389120"/>
            <a:ext cx="4421124" cy="102412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566928" y="4434840"/>
            <a:ext cx="2431618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メッセージ開封率（当日中）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受信直後 約2割／3〜6時間で約5割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2861386" y="4434840"/>
            <a:ext cx="1852345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約8割</a:t>
            </a:r>
            <a:endParaRPr lang="ja-JP" altLang="en-US" sz="2400" dirty="0"/>
          </a:p>
        </p:txBody>
      </p:sp>
      <p:sp>
        <p:nvSpPr>
          <p:cNvPr id="37" name="Rounded Rectangle 36"/>
          <p:cNvSpPr/>
          <p:nvPr/>
        </p:nvSpPr>
        <p:spPr>
          <a:xfrm>
            <a:off x="5052059" y="4389120"/>
            <a:ext cx="4421124" cy="1024128"/>
          </a:xfrm>
          <a:prstGeom prst="roundRect">
            <a:avLst>
              <a:gd name="adj" fmla="val 5000"/>
            </a:avLst>
          </a:prstGeom>
          <a:solidFill>
            <a:srgbClr val="EEF2F9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buNone/>
            </a:pP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5189220" y="4434840"/>
            <a:ext cx="2431618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LINE国内MAU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2025年12月末時点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7483678" y="4434840"/>
            <a:ext cx="1852345" cy="932688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r">
              <a:buNone/>
            </a:pPr>
            <a:r>
              <a:rPr lang="ja-JP" altLang="en-US" sz="2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1億人突破</a:t>
            </a:r>
            <a:endParaRPr lang="ja-JP" altLang="en-US" sz="2400" dirty="0"/>
          </a:p>
        </p:txBody>
      </p:sp>
    </p:spTree>
  </p:cSld>
  <p:clrMapOvr>
    <a:masterClrMapping/>
  </p:clrMapOvr>
</p:sld>
</file>

<file path=ppt/slides/slide20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競合分析①｜イベント・単発の人材会社のLINE運用（実際の画面）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3社とも、LINEを応募の受付だけでなく、登録・選考・勤務のやり取りに使っています。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画面から確認できたことだけを記載しています（2026年10月 弊社確認）。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弊社確認）。個人名はぼかしています</a:t>
            </a:r>
          </a:p>
        </p:txBody>
      </p:sp>
      <p:sp>
        <p:nvSpPr>
          <p:cNvPr id="21" name="Rounded Rectangle 20"/>
          <p:cNvSpPr/>
          <p:nvPr/>
        </p:nvSpPr>
        <p:spPr>
          <a:xfrm>
            <a:off x="429768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ムーヴ｜登録の入口をLINEに</a:t>
            </a:r>
            <a:endParaRPr lang="ja-JP" altLang="en-US" sz="1100" dirty="0"/>
          </a:p>
        </p:txBody>
      </p:sp>
      <p:pic>
        <p:nvPicPr>
          <p:cNvPr id="22" name="競合LINE_1" descr=""/>
          <p:cNvPicPr>
            <a:picLocks noChangeAspect="1"/>
          </p:cNvPicPr>
          <p:nvPr/>
        </p:nvPicPr>
        <p:blipFill>
          <a:blip r:embed="rId101"/>
          <a:stretch>
            <a:fillRect/>
          </a:stretch>
        </p:blipFill>
        <p:spPr>
          <a:xfrm>
            <a:off x="489203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3" name="競合LINE_2" descr=""/>
          <p:cNvPicPr>
            <a:picLocks noChangeAspect="1"/>
          </p:cNvPicPr>
          <p:nvPr/>
        </p:nvPicPr>
        <p:blipFill>
          <a:blip r:embed="rId102"/>
          <a:stretch>
            <a:fillRect/>
          </a:stretch>
        </p:blipFill>
        <p:spPr>
          <a:xfrm>
            <a:off x="1924811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4" name="Rectangle 23"/>
          <p:cNvSpPr/>
          <p:nvPr/>
        </p:nvSpPr>
        <p:spPr>
          <a:xfrm>
            <a:off x="429768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・登録の手順を4つに分けて案内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・登録／ID連携のボタンを表示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・メニュー：仕事情報・Q&amp;A・問い合わせ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3511296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ワントゥワン｜選考の案内をLINEで</a:t>
            </a:r>
            <a:endParaRPr lang="ja-JP" altLang="en-US" sz="1100" dirty="0"/>
          </a:p>
        </p:txBody>
      </p:sp>
      <p:pic>
        <p:nvPicPr>
          <p:cNvPr id="26" name="競合LINE_3" descr=""/>
          <p:cNvPicPr>
            <a:picLocks noChangeAspect="1"/>
          </p:cNvPicPr>
          <p:nvPr/>
        </p:nvPicPr>
        <p:blipFill>
          <a:blip r:embed="rId103"/>
          <a:stretch>
            <a:fillRect/>
          </a:stretch>
        </p:blipFill>
        <p:spPr>
          <a:xfrm>
            <a:off x="3570732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27" name="競合LINE_4" descr=""/>
          <p:cNvPicPr>
            <a:picLocks noChangeAspect="1"/>
          </p:cNvPicPr>
          <p:nvPr/>
        </p:nvPicPr>
        <p:blipFill>
          <a:blip r:embed="rId104"/>
          <a:stretch>
            <a:fillRect/>
          </a:stretch>
        </p:blipFill>
        <p:spPr>
          <a:xfrm>
            <a:off x="500634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28" name="Rectangle 27"/>
          <p:cNvSpPr/>
          <p:nvPr/>
        </p:nvSpPr>
        <p:spPr>
          <a:xfrm>
            <a:off x="3511296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・追加の直後に、氏名をLINEで送ってもらう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・録画面接のURLを案内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・合否はメール、質問はLINEで受付</a:t>
            </a:r>
            <a:endParaRPr lang="ja-JP" altLang="en-US" sz="1050" dirty="0"/>
          </a:p>
        </p:txBody>
      </p:sp>
      <p:sp>
        <p:nvSpPr>
          <p:cNvPr id="29" name="Rounded Rectangle 28"/>
          <p:cNvSpPr/>
          <p:nvPr/>
        </p:nvSpPr>
        <p:spPr>
          <a:xfrm>
            <a:off x="6592824" y="1371600"/>
            <a:ext cx="2880360" cy="310896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ステッドワン｜勤務のやり取りをLINEで</a:t>
            </a:r>
            <a:endParaRPr lang="ja-JP" altLang="en-US" sz="1100" dirty="0"/>
          </a:p>
        </p:txBody>
      </p:sp>
      <p:pic>
        <p:nvPicPr>
          <p:cNvPr id="30" name="競合LINE_5" descr=""/>
          <p:cNvPicPr>
            <a:picLocks noChangeAspect="1"/>
          </p:cNvPicPr>
          <p:nvPr/>
        </p:nvPicPr>
        <p:blipFill>
          <a:blip r:embed="rId105"/>
          <a:stretch>
            <a:fillRect/>
          </a:stretch>
        </p:blipFill>
        <p:spPr>
          <a:xfrm>
            <a:off x="6652260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pic>
        <p:nvPicPr>
          <p:cNvPr id="31" name="競合LINE_6" descr=""/>
          <p:cNvPicPr>
            <a:picLocks noChangeAspect="1"/>
          </p:cNvPicPr>
          <p:nvPr/>
        </p:nvPicPr>
        <p:blipFill>
          <a:blip r:embed="rId106"/>
          <a:stretch>
            <a:fillRect/>
          </a:stretch>
        </p:blipFill>
        <p:spPr>
          <a:xfrm>
            <a:off x="8087868" y="1783080"/>
            <a:ext cx="1325880" cy="2871942"/>
          </a:xfrm>
          <a:prstGeom prst="rect">
            <a:avLst/>
          </a:prstGeom>
          <a:ln w="9525">
            <a:solidFill>
              <a:srgbClr val="C6CADD"/>
            </a:solidFill>
          </a:ln>
        </p:spPr>
      </p:pic>
      <p:sp>
        <p:nvSpPr>
          <p:cNvPr id="32" name="Rectangle 31"/>
          <p:cNvSpPr/>
          <p:nvPr/>
        </p:nvSpPr>
        <p:spPr>
          <a:xfrm>
            <a:off x="6592824" y="4728174"/>
            <a:ext cx="2880360" cy="739937"/>
          </a:xfrm>
          <a:prstGeom prst="rect">
            <a:avLst/>
          </a:prstGeom>
          <a:noFill/>
          <a:ln>
            <a:noFill/>
          </a:ln>
        </p:spPr>
        <p:txBody>
          <a:bodyPr wrap="square" lIns="36576" tIns="18288" rIns="18288" bIns="18288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・このLINEで仕事をやり取りすると宣言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・新規案件・勤務の可否・集合詳細を送る</a:t>
            </a:r>
            <a:endParaRPr lang="ja-JP" altLang="en-US" sz="10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・スタッフからは起床連絡・勤怠報告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20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競合分析②｜LINEの使い方の比較と、横浜シミズで目指す形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応募受付だけでなく、スタッフとの継続的な接点にLINEを活用する余地があります。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3社の画面で、勤務の連絡と次の案件までLINEで扱っていたのは、ステッドワンでした。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画面：各社のLINE公式アカウント（2026年10月 弊社確認）／タウンワーク：LINEヤフー for Business 導入事例「バイト応募件数約80％増！リッチメニューを生かしたタウンワークのLINE活用事例」（2019年1月公開）</a:t>
            </a:r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応募の受付から、勤務の連絡・次の募集までをLINEでつなぐ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9043415" cy="3401568"/>
        </p:xfrm>
        <a:graphic>
          <a:graphicData uri="http://schemas.openxmlformats.org/drawingml/2006/table">
            <a:tbl>
              <a:tblPr/>
              <a:tblGrid>
                <a:gridCol w="1325880"/>
                <a:gridCol w="1828800"/>
                <a:gridCol w="1691640"/>
                <a:gridCol w="1874519"/>
                <a:gridCol w="2322576"/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評価項目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ムーヴ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ワントゥワン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ステッドワン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横浜シミズで目指す形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323366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友だち追加後の案内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登録までの手順を4つで案内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氏名（漢字・ふりがな）の送信を依頼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このLINEでのやり取りを説明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勤務に必要な情報が届くことを最初に伝える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応募・登録の導線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LINEからスタッフ登録・ID連携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録画面接のURLを案内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採用手続きフォーム（外部）へ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応募完了からそのままLINEへ（サンクスLINE誘導）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勤務連絡への活用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画面では未確認（合否はメール）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集合詳細・起床連絡・勤怠報告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集合・持ち物・前日のリマインド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募集情報の配信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登録後に「条件に合う仕事も案内」と記載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新規案件をLINEで送る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エリア・会場・希望で絞って届ける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再応募への導線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「お仕事一覧から申込み」と記載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案件へのエントリーをLINEで送る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次回イベントの募集から再応募へ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51206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リッチメニュー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仕事情報・Q&amp;A・問い合わせ＋登録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画面では未確認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「案件一覧」あり（ほかは未確認）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仕事を探す・勤務の案内・よくある質問など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429768" y="4864608"/>
            <a:ext cx="9043416" cy="603504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36576" rIns="109728" bIns="36576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参考｜タウンワーク（求人メディア）は、LINEを求人検索の入口に活用し、リッチメニュー経由の応募数が＋79%（2019年公開の導入事例）。直接の競合ではなく、LINEを応募の入口にした参考事例です。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20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提案の全体像｜応募から再応募までを、LINEで循環させる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応募の時点で友だちになっていただき、勤務の連絡と次の募集をLINEでお届けします。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イベントが終わっても接点が切れず、次のイベントの人員確保につながる仕組みです。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単発の勤務を、イベントごとに途切れない関係に変える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508760"/>
            <a:ext cx="1874519" cy="96012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新規応募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採用サイトから応募</a:t>
            </a:r>
            <a:endParaRPr lang="ja-JP" altLang="en-US" sz="1100" dirty="0"/>
          </a:p>
        </p:txBody>
      </p:sp>
      <p:cxnSp>
        <p:nvCxnSpPr>
          <p:cNvPr id="23" name="Connector 22"/>
          <p:cNvCxnSpPr/>
          <p:nvPr/>
        </p:nvCxnSpPr>
        <p:spPr>
          <a:xfrm>
            <a:off x="1367028" y="2487168"/>
            <a:ext cx="0" cy="557784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4" name="Rounded Rectangle 23"/>
          <p:cNvSpPr/>
          <p:nvPr/>
        </p:nvSpPr>
        <p:spPr>
          <a:xfrm>
            <a:off x="429768" y="3063240"/>
            <a:ext cx="1874519" cy="1143000"/>
          </a:xfrm>
          <a:prstGeom prst="roundRect">
            <a:avLst>
              <a:gd name="adj" fmla="val 5000"/>
            </a:avLst>
          </a:prstGeom>
          <a:solidFill>
            <a:srgbClr val="E9F8EF"/>
          </a:solidFill>
          <a:ln w="15875">
            <a:solidFill>
              <a:srgbClr val="06C755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06C755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施策① 友だち獲得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LINE友だち追加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応募完了からLINEへ</a:t>
            </a:r>
            <a:endParaRPr lang="ja-JP" altLang="en-US" sz="1100" dirty="0"/>
          </a:p>
        </p:txBody>
      </p:sp>
      <p:cxnSp>
        <p:nvCxnSpPr>
          <p:cNvPr id="25" name="Connector 24"/>
          <p:cNvCxnSpPr/>
          <p:nvPr/>
        </p:nvCxnSpPr>
        <p:spPr>
          <a:xfrm flipV="1">
            <a:off x="2322576" y="2148840"/>
            <a:ext cx="630936" cy="1481328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26" name="Rounded Rectangle 25"/>
          <p:cNvSpPr/>
          <p:nvPr/>
        </p:nvSpPr>
        <p:spPr>
          <a:xfrm>
            <a:off x="297180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施策② 勤務連絡・管理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勤務連絡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集合・持ち物・前日のリマインド</a:t>
            </a:r>
            <a:endParaRPr lang="ja-JP" altLang="en-US" sz="1100" dirty="0"/>
          </a:p>
        </p:txBody>
      </p:sp>
      <p:sp>
        <p:nvSpPr>
          <p:cNvPr id="27" name="Rounded Rectangle 26"/>
          <p:cNvSpPr/>
          <p:nvPr/>
        </p:nvSpPr>
        <p:spPr>
          <a:xfrm>
            <a:off x="7040880" y="146304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イベント勤務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現場で勤務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704088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次回募集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エリア・会場・希望で絞って案内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2971800" y="3657600"/>
            <a:ext cx="2432304" cy="105156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15875">
            <a:solidFill>
              <a:srgbClr val="1E2761"/>
            </a:solidFill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0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施策③ 再応募・再稼働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4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再応募・継続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次のイベントにも勤務</a:t>
            </a:r>
            <a:endParaRPr lang="ja-JP" altLang="en-US" sz="1100" dirty="0"/>
          </a:p>
        </p:txBody>
      </p:sp>
      <p:cxnSp>
        <p:nvCxnSpPr>
          <p:cNvPr id="30" name="Connector 29"/>
          <p:cNvCxnSpPr/>
          <p:nvPr/>
        </p:nvCxnSpPr>
        <p:spPr>
          <a:xfrm>
            <a:off x="5449824" y="1988819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1" name="Connector 30"/>
          <p:cNvCxnSpPr/>
          <p:nvPr/>
        </p:nvCxnSpPr>
        <p:spPr>
          <a:xfrm>
            <a:off x="825703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2" name="Connector 31"/>
          <p:cNvCxnSpPr/>
          <p:nvPr/>
        </p:nvCxnSpPr>
        <p:spPr>
          <a:xfrm flipH="1">
            <a:off x="5449824" y="4183380"/>
            <a:ext cx="1545336" cy="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cxnSp>
        <p:nvCxnSpPr>
          <p:cNvPr id="33" name="Connector 32"/>
          <p:cNvCxnSpPr/>
          <p:nvPr/>
        </p:nvCxnSpPr>
        <p:spPr>
          <a:xfrm flipV="1">
            <a:off x="4187952" y="2560320"/>
            <a:ext cx="0" cy="1051560"/>
          </a:xfrm>
          <a:prstGeom prst="line">
            <a:avLst/>
          </a:prstGeom>
          <a:ln w="25400">
            <a:solidFill>
              <a:srgbClr val="1E2761"/>
            </a:solidFill>
            <a:tailEnd type="triangle" w="med" len="med"/>
          </a:ln>
        </p:spPr>
      </p:cxnSp>
      <p:sp>
        <p:nvSpPr>
          <p:cNvPr id="34" name="Rectangle 33"/>
          <p:cNvSpPr/>
          <p:nvPr/>
        </p:nvSpPr>
        <p:spPr>
          <a:xfrm>
            <a:off x="4370832" y="2788920"/>
            <a:ext cx="3703320" cy="59436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イベントのたびに</a:t>
            </a:r>
            <a:endParaRPr lang="ja-JP" altLang="en-US" sz="1200" dirty="0"/>
          </a:p>
          <a:p>
            <a:pPr algn="ctr">
              <a:buNone/>
            </a:pPr>
            <a:r>
              <a:rPr lang="ja-JP" altLang="en-US" sz="1200" b="1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くり返す</a:t>
            </a:r>
            <a:endParaRPr lang="ja-JP" altLang="en-US" sz="1200" dirty="0"/>
          </a:p>
        </p:txBody>
      </p:sp>
      <p:sp>
        <p:nvSpPr>
          <p:cNvPr id="35" name="Rectangle 34"/>
          <p:cNvSpPr/>
          <p:nvPr/>
        </p:nvSpPr>
        <p:spPr>
          <a:xfrm>
            <a:off x="2971800" y="4846320"/>
            <a:ext cx="6501383" cy="566928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応募の時点で友だちになり、イベントが終わっても接点が残る。登録スタッフの皆さまに、次の募集が届きます。</a:t>
            </a:r>
            <a:endParaRPr lang="ja-JP" altLang="en-US" sz="1100" dirty="0"/>
          </a:p>
        </p:txBody>
      </p:sp>
    </p:spTree>
  </p:cSld>
  <p:clrMapOvr>
    <a:masterClrMapping/>
  </p:clrMapOvr>
</p:sld>
</file>

<file path=ppt/slides/slide20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2" name="Google Shape;752;p28">
            <a:extLst>
              <a:ext uri="{FF2B5EF4-FFF2-40B4-BE49-F238E27FC236}">
                <a16:creationId xmlns:a16="http://schemas.microsoft.com/office/drawing/2014/main" id="{AA80CD04-9456-70DB-2E44-D3EDB1461933}"/>
              </a:ext>
            </a:extLst>
          </p:cNvPr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  <a:ln>
            <a:noFill/>
          </a:ln>
        </p:spPr>
        <p:txBody>
          <a:bodyPr spcFirstLastPara="1" wrap="square" lIns="91425" tIns="45700" rIns="91425" bIns="45700" anchor="ctr" anchorCtr="0">
            <a:spAutoFit/>
          </a:bodyPr>
          <a:lstStyle/>
          <a:p>
            <a:pPr lvl="0"/>
            <a:r>
              <a:rPr lang="ja-JP" altLang="en-US" sz="1600" b="1" dirty="0">
                <a:solidFill>
                  <a:srgbClr val="002060"/>
                </a:solidFill>
                <a:latin typeface="メイリオ"/>
                <a:ea typeface="メイリオ"/>
                <a:cs typeface="メイリオ"/>
                <a:sym typeface="Meiryo"/>
              </a:rPr>
              <a:t>施策①｜友だち獲得：応募完了から、そのままLINEへ</a:t>
            </a:r>
            <a:endParaRPr lang="en-US" altLang="ja-JP"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6" name="正方形/長方形 15">
            <a:extLst>
              <a:ext uri="{FF2B5EF4-FFF2-40B4-BE49-F238E27FC236}">
                <a16:creationId xmlns:a16="http://schemas.microsoft.com/office/drawing/2014/main" id="{32BBF438-B1EF-A61A-EE3D-69CD39766C7E}"/>
              </a:ext>
            </a:extLst>
          </p:cNvPr>
          <p:cNvSpPr/>
          <p:nvPr/>
        </p:nvSpPr>
        <p:spPr>
          <a:xfrm>
            <a:off x="6123840" y="2144236"/>
            <a:ext cx="2487570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7" name="正方形/長方形 16">
            <a:extLst>
              <a:ext uri="{FF2B5EF4-FFF2-40B4-BE49-F238E27FC236}">
                <a16:creationId xmlns:a16="http://schemas.microsoft.com/office/drawing/2014/main" id="{1A1E4128-77DC-C871-EE20-5BD43326E078}"/>
              </a:ext>
            </a:extLst>
          </p:cNvPr>
          <p:cNvSpPr/>
          <p:nvPr/>
        </p:nvSpPr>
        <p:spPr>
          <a:xfrm>
            <a:off x="6123841" y="4317370"/>
            <a:ext cx="2487569" cy="1821208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20" name="正方形/長方形 19">
            <a:extLst>
              <a:ext uri="{FF2B5EF4-FFF2-40B4-BE49-F238E27FC236}">
                <a16:creationId xmlns:a16="http://schemas.microsoft.com/office/drawing/2014/main" id="{F37BB268-660A-FEE4-BB39-0E338F1DDC23}"/>
              </a:ext>
            </a:extLst>
          </p:cNvPr>
          <p:cNvSpPr/>
          <p:nvPr/>
        </p:nvSpPr>
        <p:spPr>
          <a:xfrm>
            <a:off x="6161261" y="1989652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未追加の場合</a:t>
            </a:r>
          </a:p>
        </p:txBody>
      </p:sp>
      <p:sp>
        <p:nvSpPr>
          <p:cNvPr id="21" name="正方形/長方形 20">
            <a:extLst>
              <a:ext uri="{FF2B5EF4-FFF2-40B4-BE49-F238E27FC236}">
                <a16:creationId xmlns:a16="http://schemas.microsoft.com/office/drawing/2014/main" id="{C9FF4626-FD17-CA1C-8064-F46606D0BCCE}"/>
              </a:ext>
            </a:extLst>
          </p:cNvPr>
          <p:cNvSpPr/>
          <p:nvPr/>
        </p:nvSpPr>
        <p:spPr>
          <a:xfrm>
            <a:off x="6161261" y="4195296"/>
            <a:ext cx="1315634" cy="244151"/>
          </a:xfrm>
          <a:prstGeom prst="rect">
            <a:avLst/>
          </a:prstGeom>
          <a:solidFill>
            <a:schemeClr val="accent1">
              <a:lumMod val="20000"/>
              <a:lumOff val="80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LINE</a:t>
            </a:r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追加済みの場合</a:t>
            </a:r>
          </a:p>
        </p:txBody>
      </p:sp>
      <p:cxnSp>
        <p:nvCxnSpPr>
          <p:cNvPr id="23" name="直線矢印コネクタ 22">
            <a:extLst>
              <a:ext uri="{FF2B5EF4-FFF2-40B4-BE49-F238E27FC236}">
                <a16:creationId xmlns:a16="http://schemas.microsoft.com/office/drawing/2014/main" id="{8F202453-7FF9-8AE7-D10D-66F74A74A2F4}"/>
              </a:ext>
            </a:extLst>
          </p:cNvPr>
          <p:cNvCxnSpPr>
            <a:cxnSpLocks/>
          </p:cNvCxnSpPr>
          <p:nvPr/>
        </p:nvCxnSpPr>
        <p:spPr>
          <a:xfrm flipV="1">
            <a:off x="5819550" y="2932418"/>
            <a:ext cx="318138" cy="42170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cxnSp>
        <p:nvCxnSpPr>
          <p:cNvPr id="24" name="直線矢印コネクタ 23">
            <a:extLst>
              <a:ext uri="{FF2B5EF4-FFF2-40B4-BE49-F238E27FC236}">
                <a16:creationId xmlns:a16="http://schemas.microsoft.com/office/drawing/2014/main" id="{C92F6E28-BBFF-1A56-AC22-CA16D2F1B1EA}"/>
              </a:ext>
            </a:extLst>
          </p:cNvPr>
          <p:cNvCxnSpPr>
            <a:cxnSpLocks/>
          </p:cNvCxnSpPr>
          <p:nvPr/>
        </p:nvCxnSpPr>
        <p:spPr>
          <a:xfrm>
            <a:off x="5819550" y="3354124"/>
            <a:ext cx="280718" cy="1392760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pic>
        <p:nvPicPr>
          <p:cNvPr id="45" name="図 44" descr="グラフィカル ユーザー インターフェイス, アプリケーション, Teams&#10;&#10;AI 生成コンテンツは誤りを含む可能性があります。">
            <a:extLst>
              <a:ext uri="{FF2B5EF4-FFF2-40B4-BE49-F238E27FC236}">
                <a16:creationId xmlns:a16="http://schemas.microsoft.com/office/drawing/2014/main" id="{E91CA7A5-62B3-F1F8-38C3-DDCE33E1CC3D}"/>
              </a:ext>
            </a:extLst>
          </p:cNvPr>
          <p:cNvPicPr>
            <a:picLocks noChangeAspect="1"/>
          </p:cNvPicPr>
          <p:nvPr/>
        </p:nvPicPr>
        <p:blipFill>
          <a:blip r:embed="rId2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18319" y="2173082"/>
            <a:ext cx="1000253" cy="1694141"/>
          </a:xfrm>
          <a:prstGeom prst="rect">
            <a:avLst/>
          </a:prstGeom>
        </p:spPr>
      </p:pic>
      <p:pic>
        <p:nvPicPr>
          <p:cNvPr id="46" name="図 45" descr="電卓の写真のスマートフォンのスクリーンショット&#10;&#10;AI 生成コンテンツは誤りを含む可能性があります。">
            <a:extLst>
              <a:ext uri="{FF2B5EF4-FFF2-40B4-BE49-F238E27FC236}">
                <a16:creationId xmlns:a16="http://schemas.microsoft.com/office/drawing/2014/main" id="{31EEAD2C-3BE8-0210-FD8E-46D52B30A0AE}"/>
              </a:ext>
            </a:extLst>
          </p:cNvPr>
          <p:cNvPicPr>
            <a:picLocks noChangeAspect="1"/>
          </p:cNvPicPr>
          <p:nvPr/>
        </p:nvPicPr>
        <p:blipFill>
          <a:blip r:embed="rId3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7527889" y="4316771"/>
            <a:ext cx="1000253" cy="1694142"/>
          </a:xfrm>
          <a:prstGeom prst="rect">
            <a:avLst/>
          </a:prstGeom>
        </p:spPr>
      </p:pic>
      <p:sp>
        <p:nvSpPr>
          <p:cNvPr id="48" name="テキスト ボックス 47">
            <a:extLst>
              <a:ext uri="{FF2B5EF4-FFF2-40B4-BE49-F238E27FC236}">
                <a16:creationId xmlns:a16="http://schemas.microsoft.com/office/drawing/2014/main" id="{E989AEB3-EF0E-8885-B426-8B6A5E01F40A}"/>
              </a:ext>
            </a:extLst>
          </p:cNvPr>
          <p:cNvSpPr txBox="1"/>
          <p:nvPr/>
        </p:nvSpPr>
        <p:spPr>
          <a:xfrm>
            <a:off x="6161261" y="2335961"/>
            <a:ext cx="1227667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友だち登録ページ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へ遷移する。</a:t>
            </a:r>
          </a:p>
        </p:txBody>
      </p:sp>
      <p:sp>
        <p:nvSpPr>
          <p:cNvPr id="49" name="テキスト ボックス 48">
            <a:extLst>
              <a:ext uri="{FF2B5EF4-FFF2-40B4-BE49-F238E27FC236}">
                <a16:creationId xmlns:a16="http://schemas.microsoft.com/office/drawing/2014/main" id="{4E6D08E3-E0B3-1DF4-0533-E4EE67240415}"/>
              </a:ext>
            </a:extLst>
          </p:cNvPr>
          <p:cNvSpPr txBox="1"/>
          <p:nvPr/>
        </p:nvSpPr>
        <p:spPr>
          <a:xfrm>
            <a:off x="6157879" y="4570201"/>
            <a:ext cx="1338278" cy="400110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ja-JP" altLang="en-US" sz="100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トーク画面</a:t>
            </a:r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へ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r>
              <a:rPr lang="ja-JP" altLang="en-US" sz="1000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遷移する。</a:t>
            </a:r>
            <a:endParaRPr lang="en-US" altLang="ja-JP" sz="1000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56" name="図 55">
            <a:extLst>
              <a:ext uri="{FF2B5EF4-FFF2-40B4-BE49-F238E27FC236}">
                <a16:creationId xmlns:a16="http://schemas.microsoft.com/office/drawing/2014/main" id="{0B7B313D-7D5F-4357-9B38-DFC3DBC5FCF6}"/>
              </a:ext>
            </a:extLst>
          </p:cNvPr>
          <p:cNvPicPr>
            <a:picLocks noChangeAspect="1"/>
          </p:cNvPicPr>
          <p:nvPr/>
        </p:nvPicPr>
        <p:blipFill>
          <a:blip r:embed="rId4"/>
          <a:stretch>
            <a:fillRect/>
          </a:stretch>
        </p:blipFill>
        <p:spPr>
          <a:xfrm>
            <a:off x="7557873" y="2950101"/>
            <a:ext cx="921141" cy="89556"/>
          </a:xfrm>
          <a:prstGeom prst="rect">
            <a:avLst/>
          </a:prstGeom>
        </p:spPr>
      </p:pic>
      <p:pic>
        <p:nvPicPr>
          <p:cNvPr id="57" name="図 56">
            <a:extLst>
              <a:ext uri="{FF2B5EF4-FFF2-40B4-BE49-F238E27FC236}">
                <a16:creationId xmlns:a16="http://schemas.microsoft.com/office/drawing/2014/main" id="{A8EA42C4-338F-850B-B276-B83DC2A73148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25776" y="2949394"/>
            <a:ext cx="389971" cy="86660"/>
          </a:xfrm>
          <a:prstGeom prst="rect">
            <a:avLst/>
          </a:prstGeom>
        </p:spPr>
      </p:pic>
      <p:pic>
        <p:nvPicPr>
          <p:cNvPr id="58" name="図 57">
            <a:extLst>
              <a:ext uri="{FF2B5EF4-FFF2-40B4-BE49-F238E27FC236}">
                <a16:creationId xmlns:a16="http://schemas.microsoft.com/office/drawing/2014/main" id="{CCB04072-A708-EEE7-1345-D4C9E9FA9C1D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849883" y="4314411"/>
            <a:ext cx="271710" cy="60381"/>
          </a:xfrm>
          <a:prstGeom prst="rect">
            <a:avLst/>
          </a:prstGeom>
        </p:spPr>
      </p:pic>
      <p:pic>
        <p:nvPicPr>
          <p:cNvPr id="59" name="図 58">
            <a:extLst>
              <a:ext uri="{FF2B5EF4-FFF2-40B4-BE49-F238E27FC236}">
                <a16:creationId xmlns:a16="http://schemas.microsoft.com/office/drawing/2014/main" id="{EDED354B-362F-AAF7-76A6-52D8547EDC91}"/>
              </a:ext>
            </a:extLst>
          </p:cNvPr>
          <p:cNvPicPr>
            <a:picLocks noChangeAspect="1"/>
          </p:cNvPicPr>
          <p:nvPr/>
        </p:nvPicPr>
        <p:blipFill>
          <a:blip r:embed="rId5"/>
          <a:stretch>
            <a:fillRect/>
          </a:stretch>
        </p:blipFill>
        <p:spPr>
          <a:xfrm>
            <a:off x="7973708" y="4438236"/>
            <a:ext cx="271710" cy="60381"/>
          </a:xfrm>
          <a:prstGeom prst="rect">
            <a:avLst/>
          </a:prstGeom>
        </p:spPr>
      </p:pic>
      <p:sp>
        <p:nvSpPr>
          <p:cNvPr id="1030" name="楕円 1029">
            <a:extLst>
              <a:ext uri="{FF2B5EF4-FFF2-40B4-BE49-F238E27FC236}">
                <a16:creationId xmlns:a16="http://schemas.microsoft.com/office/drawing/2014/main" id="{A0934BB8-8F8D-D4F0-8D59-8F32A6A6E03A}"/>
              </a:ext>
            </a:extLst>
          </p:cNvPr>
          <p:cNvSpPr/>
          <p:nvPr/>
        </p:nvSpPr>
        <p:spPr>
          <a:xfrm>
            <a:off x="7855110" y="2591706"/>
            <a:ext cx="321750" cy="321750"/>
          </a:xfrm>
          <a:prstGeom prst="ellipse">
            <a:avLst/>
          </a:prstGeom>
          <a:solidFill>
            <a:schemeClr val="bg1">
              <a:lumMod val="95000"/>
            </a:schemeClr>
          </a:solidFill>
          <a:ln w="9525">
            <a:solidFill>
              <a:schemeClr val="tx1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7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ロゴ</a:t>
            </a:r>
          </a:p>
        </p:txBody>
      </p:sp>
      <p:sp>
        <p:nvSpPr>
          <p:cNvPr id="34" name="正方形/長方形 33">
            <a:extLst>
              <a:ext uri="{FF2B5EF4-FFF2-40B4-BE49-F238E27FC236}">
                <a16:creationId xmlns:a16="http://schemas.microsoft.com/office/drawing/2014/main" id="{A593FC72-954C-48DC-E845-1A5FCE4C9E00}"/>
              </a:ext>
            </a:extLst>
          </p:cNvPr>
          <p:cNvSpPr/>
          <p:nvPr/>
        </p:nvSpPr>
        <p:spPr>
          <a:xfrm>
            <a:off x="693249" y="1644209"/>
            <a:ext cx="1142154" cy="2841034"/>
          </a:xfrm>
          <a:prstGeom prst="rect">
            <a:avLst/>
          </a:prstGeom>
          <a:noFill/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6" name="二等辺三角形 35">
            <a:extLst>
              <a:ext uri="{FF2B5EF4-FFF2-40B4-BE49-F238E27FC236}">
                <a16:creationId xmlns:a16="http://schemas.microsoft.com/office/drawing/2014/main" id="{626832A8-575E-5E2B-73F4-BE5567514E57}"/>
              </a:ext>
            </a:extLst>
          </p:cNvPr>
          <p:cNvSpPr/>
          <p:nvPr/>
        </p:nvSpPr>
        <p:spPr>
          <a:xfrm rot="5400000">
            <a:off x="1869100" y="2879016"/>
            <a:ext cx="205320" cy="182781"/>
          </a:xfrm>
          <a:prstGeom prst="triangle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38" name="正方形/長方形 37">
            <a:extLst>
              <a:ext uri="{FF2B5EF4-FFF2-40B4-BE49-F238E27FC236}">
                <a16:creationId xmlns:a16="http://schemas.microsoft.com/office/drawing/2014/main" id="{28671F13-F479-AFF6-9832-C7C00D2D05EE}"/>
              </a:ext>
            </a:extLst>
          </p:cNvPr>
          <p:cNvSpPr/>
          <p:nvPr/>
        </p:nvSpPr>
        <p:spPr>
          <a:xfrm>
            <a:off x="693249" y="4241092"/>
            <a:ext cx="1142154" cy="244151"/>
          </a:xfrm>
          <a:prstGeom prst="rect">
            <a:avLst/>
          </a:prstGeom>
          <a:solidFill>
            <a:schemeClr val="bg1">
              <a:lumMod val="7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フォーム入力</a:t>
            </a:r>
          </a:p>
        </p:txBody>
      </p:sp>
      <p:pic>
        <p:nvPicPr>
          <p:cNvPr id="55" name="図 54">
            <a:extLst>
              <a:ext uri="{FF2B5EF4-FFF2-40B4-BE49-F238E27FC236}">
                <a16:creationId xmlns:a16="http://schemas.microsoft.com/office/drawing/2014/main" id="{8AF12F67-4C9A-867F-4608-8FE9DA811630}"/>
              </a:ext>
            </a:extLst>
          </p:cNvPr>
          <p:cNvPicPr>
            <a:picLocks noChangeAspect="1"/>
          </p:cNvPicPr>
          <p:nvPr/>
        </p:nvPicPr>
        <p:blipFill>
          <a:blip r:embed="rId6"/>
          <a:stretch>
            <a:fillRect/>
          </a:stretch>
        </p:blipFill>
        <p:spPr>
          <a:xfrm>
            <a:off x="760471" y="2042343"/>
            <a:ext cx="1015294" cy="1834505"/>
          </a:xfrm>
          <a:prstGeom prst="rect">
            <a:avLst/>
          </a:prstGeom>
        </p:spPr>
      </p:pic>
      <p:sp>
        <p:nvSpPr>
          <p:cNvPr id="1032" name="正方形/長方形 1031">
            <a:extLst>
              <a:ext uri="{FF2B5EF4-FFF2-40B4-BE49-F238E27FC236}">
                <a16:creationId xmlns:a16="http://schemas.microsoft.com/office/drawing/2014/main" id="{D1D96D42-255C-636E-49E5-2CDA95DD6764}"/>
              </a:ext>
            </a:extLst>
          </p:cNvPr>
          <p:cNvSpPr/>
          <p:nvPr/>
        </p:nvSpPr>
        <p:spPr>
          <a:xfrm>
            <a:off x="2102458" y="1617265"/>
            <a:ext cx="1225682" cy="2841034"/>
          </a:xfrm>
          <a:prstGeom prst="rect">
            <a:avLst/>
          </a:prstGeom>
          <a:solidFill>
            <a:schemeClr val="bg1"/>
          </a:solidFill>
          <a:ln>
            <a:solidFill>
              <a:schemeClr val="tx2">
                <a:lumMod val="20000"/>
                <a:lumOff val="8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1034" name="正方形/長方形 1033">
            <a:extLst>
              <a:ext uri="{FF2B5EF4-FFF2-40B4-BE49-F238E27FC236}">
                <a16:creationId xmlns:a16="http://schemas.microsoft.com/office/drawing/2014/main" id="{8693E451-BCB1-207B-6B73-131F2A8588BF}"/>
              </a:ext>
            </a:extLst>
          </p:cNvPr>
          <p:cNvSpPr/>
          <p:nvPr/>
        </p:nvSpPr>
        <p:spPr>
          <a:xfrm>
            <a:off x="2100228" y="4219785"/>
            <a:ext cx="1225683" cy="244151"/>
          </a:xfrm>
          <a:prstGeom prst="rect">
            <a:avLst/>
          </a:prstGeom>
          <a:solidFill>
            <a:schemeClr val="tx1">
              <a:lumMod val="65000"/>
              <a:lumOff val="3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850" b="1" dirty="0"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サンクス画面へ</a:t>
            </a:r>
            <a:endParaRPr lang="en-US" altLang="ja-JP" sz="850" b="1" dirty="0"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pic>
        <p:nvPicPr>
          <p:cNvPr id="1038" name="図 1037" descr="テキスト, 手紙&#10;&#10;AI 生成コンテンツは誤りを含む可能性があります。">
            <a:extLst>
              <a:ext uri="{FF2B5EF4-FFF2-40B4-BE49-F238E27FC236}">
                <a16:creationId xmlns:a16="http://schemas.microsoft.com/office/drawing/2014/main" id="{85260668-6C66-A032-FFE0-0276021F9433}"/>
              </a:ext>
            </a:extLst>
          </p:cNvPr>
          <p:cNvPicPr>
            <a:picLocks noChangeAspect="1"/>
          </p:cNvPicPr>
          <p:nvPr/>
        </p:nvPicPr>
        <p:blipFill>
          <a:blip r:embed="rId7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t="4580"/>
          <a:stretch>
            <a:fillRect/>
          </a:stretch>
        </p:blipFill>
        <p:spPr>
          <a:xfrm>
            <a:off x="2195552" y="2083381"/>
            <a:ext cx="1066362" cy="1789421"/>
          </a:xfrm>
          <a:prstGeom prst="rect">
            <a:avLst/>
          </a:prstGeom>
        </p:spPr>
      </p:pic>
      <p:pic>
        <p:nvPicPr>
          <p:cNvPr id="1039" name="Picture 2" descr="買い物完了！イラスト｜無料イラスト・フリー素材なら「イラストAC」">
            <a:extLst>
              <a:ext uri="{FF2B5EF4-FFF2-40B4-BE49-F238E27FC236}">
                <a16:creationId xmlns:a16="http://schemas.microsoft.com/office/drawing/2014/main" id="{23D05307-D6FE-6284-27D3-3433EE0122E2}"/>
              </a:ext>
            </a:extLst>
          </p:cNvPr>
          <p:cNvPicPr>
            <a:picLocks noChangeAspect="1" noChangeArrowheads="1"/>
          </p:cNvPicPr>
          <p:nvPr/>
        </p:nvPicPr>
        <p:blipFill rotWithShape="1">
          <a:blip r:embed="rId8" cstate="print">
            <a:extLst>
              <a:ext uri="{28A0092B-C50C-407E-A947-70E740481C1C}">
                <a14:useLocalDpi xmlns:a14="http://schemas.microsoft.com/office/drawing/2010/main" val="0"/>
              </a:ext>
            </a:extLst>
          </a:blip>
          <a:srcRect l="20270" r="23682"/>
          <a:stretch>
            <a:fillRect/>
          </a:stretch>
        </p:blipFill>
        <p:spPr bwMode="auto">
          <a:xfrm>
            <a:off x="3292898" y="1459246"/>
            <a:ext cx="250223" cy="335086"/>
          </a:xfrm>
          <a:prstGeom prst="rect">
            <a:avLst/>
          </a:prstGeom>
          <a:noFill/>
          <a:extLst>
            <a:ext uri="{909E8E84-426E-40DD-AFC4-6F175D3DCCD1}">
              <a14:hiddenFill xmlns:a14="http://schemas.microsoft.com/office/drawing/2010/main">
                <a:solidFill>
                  <a:srgbClr val="FFFFFF"/>
                </a:solidFill>
              </a14:hiddenFill>
            </a:ext>
          </a:extLst>
        </p:spPr>
      </p:pic>
      <p:grpSp>
        <p:nvGrpSpPr>
          <p:cNvPr id="3" name="グループ化 2">
            <a:extLst>
              <a:ext uri="{FF2B5EF4-FFF2-40B4-BE49-F238E27FC236}">
                <a16:creationId xmlns:a16="http://schemas.microsoft.com/office/drawing/2014/main" id="{E76D8F54-2926-2D56-7238-F66ACCBC4F20}"/>
              </a:ext>
            </a:extLst>
          </p:cNvPr>
          <p:cNvGrpSpPr/>
          <p:nvPr/>
        </p:nvGrpSpPr>
        <p:grpSpPr>
          <a:xfrm>
            <a:off x="1261302" y="837894"/>
            <a:ext cx="2523077" cy="485102"/>
            <a:chOff x="507969" y="928495"/>
            <a:chExt cx="3105325" cy="485102"/>
          </a:xfrm>
        </p:grpSpPr>
        <p:sp>
          <p:nvSpPr>
            <p:cNvPr id="4" name="Google Shape;51;p19">
              <a:extLst>
                <a:ext uri="{FF2B5EF4-FFF2-40B4-BE49-F238E27FC236}">
                  <a16:creationId xmlns:a16="http://schemas.microsoft.com/office/drawing/2014/main" id="{98F6BB16-EFC6-9846-2A11-E624E876E64B}"/>
                </a:ext>
              </a:extLst>
            </p:cNvPr>
            <p:cNvSpPr/>
            <p:nvPr/>
          </p:nvSpPr>
          <p:spPr>
            <a:xfrm>
              <a:off x="507969" y="928495"/>
              <a:ext cx="3105325" cy="485102"/>
            </a:xfrm>
            <a:prstGeom prst="roundRect">
              <a:avLst>
                <a:gd name="adj" fmla="val 16667"/>
              </a:avLst>
            </a:prstGeom>
            <a:solidFill>
              <a:schemeClr val="dk1"/>
            </a:solidFill>
            <a:ln>
              <a:noFill/>
            </a:ln>
          </p:spPr>
          <p:txBody>
            <a:bodyPr spcFirstLastPara="1" wrap="square" lIns="74282" tIns="45700" rIns="74282" bIns="45700" anchor="ctr" anchorCtr="0">
              <a:no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 algn="ctr">
                <a:buSzPts val="1400"/>
              </a:pPr>
              <a:endParaRPr b="1" dirty="0">
                <a:solidFill>
                  <a:schemeClr val="lt1"/>
                </a:solidFill>
                <a:sym typeface="Meiryo"/>
              </a:endParaRPr>
            </a:p>
          </p:txBody>
        </p:sp>
        <p:sp>
          <p:nvSpPr>
            <p:cNvPr id="5" name="テキスト ボックス 4">
              <a:extLst>
                <a:ext uri="{FF2B5EF4-FFF2-40B4-BE49-F238E27FC236}">
                  <a16:creationId xmlns:a16="http://schemas.microsoft.com/office/drawing/2014/main" id="{560EDF30-5F09-B70A-2993-8CD4F9E40EFA}"/>
                </a:ext>
              </a:extLst>
            </p:cNvPr>
            <p:cNvSpPr txBox="1"/>
            <p:nvPr/>
          </p:nvSpPr>
          <p:spPr>
            <a:xfrm>
              <a:off x="1140096" y="988192"/>
              <a:ext cx="1832553" cy="357790"/>
            </a:xfrm>
            <a:prstGeom prst="rect">
              <a:avLst/>
            </a:prstGeom>
            <a:noFill/>
          </p:spPr>
          <p:txBody>
            <a:bodyPr wrap="none" lIns="74295" rIns="74295" rtlCol="0">
              <a:spAutoFit/>
            </a:bodyPr>
            <a:lstStyle>
              <a:def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</a:defPPr>
              <a:lvl1pPr marR="0" lvl="0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1pPr>
              <a:lvl2pPr marR="0" lvl="1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2pPr>
              <a:lvl3pPr marR="0" lvl="2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3pPr>
              <a:lvl4pPr marR="0" lvl="3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4pPr>
              <a:lvl5pPr marR="0" lvl="4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5pPr>
              <a:lvl6pPr marR="0" lvl="5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6pPr>
              <a:lvl7pPr marR="0" lvl="6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7pPr>
              <a:lvl8pPr marR="0" lvl="7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8pPr>
              <a:lvl9pPr marR="0" lvl="8" algn="l" rtl="0">
                <a:lnSpc>
                  <a:spcPct val="100000"/>
                </a:lnSpc>
                <a:spcBef>
                  <a:spcPts val="0"/>
                </a:spcBef>
                <a:spcAft>
                  <a:spcPts val="0"/>
                </a:spcAft>
                <a:buClr>
                  <a:srgbClr val="000000"/>
                </a:buClr>
                <a:buFont typeface="Arial"/>
                <a:defRPr sz="1100" b="0" i="0" u="none" strike="noStrike" cap="none">
                  <a:solidFill>
                    <a:srgbClr val="000000"/>
                  </a:solidFill>
                  <a:latin typeface="メイリオ"/>
                  <a:ea typeface="メイリオ"/>
                  <a:cs typeface="メイリオ"/>
                  <a:sym typeface="Arial"/>
                </a:defRPr>
              </a:lvl9pPr>
            </a:lstStyle>
            <a:p>
              <a:pPr>
                <a:lnSpc>
                  <a:spcPct val="120000"/>
                </a:lnSpc>
              </a:pP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サンクス</a:t>
              </a:r>
              <a:r>
                <a:rPr lang="en-US" altLang="ja-JP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LINE</a:t>
              </a:r>
              <a:r>
                <a:rPr lang="ja-JP" altLang="en-US" sz="1200" b="1" dirty="0">
                  <a:solidFill>
                    <a:schemeClr val="bg1"/>
                  </a:solidFill>
                  <a:latin typeface="メイリオ" panose="020B0604030504040204" pitchFamily="34" charset="-128"/>
                  <a:ea typeface="メイリオ" panose="020B0604030504040204" pitchFamily="34" charset="-128"/>
                </a:rPr>
                <a:t>誘導</a:t>
              </a:r>
            </a:p>
          </p:txBody>
        </p:sp>
      </p:grpSp>
      <p:sp>
        <p:nvSpPr>
          <p:cNvPr id="6" name="正方形/長方形 5">
            <a:extLst>
              <a:ext uri="{FF2B5EF4-FFF2-40B4-BE49-F238E27FC236}">
                <a16:creationId xmlns:a16="http://schemas.microsoft.com/office/drawing/2014/main" id="{8B20BFF3-9D3E-A4D7-FF5A-70927F78FC9D}"/>
              </a:ext>
            </a:extLst>
          </p:cNvPr>
          <p:cNvSpPr/>
          <p:nvPr/>
        </p:nvSpPr>
        <p:spPr>
          <a:xfrm>
            <a:off x="7729169" y="4623314"/>
            <a:ext cx="730843" cy="649672"/>
          </a:xfrm>
          <a:prstGeom prst="rect">
            <a:avLst/>
          </a:prstGeom>
          <a:noFill/>
          <a:ln>
            <a:solidFill>
              <a:srgbClr val="FF0000"/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>
              <a:latin typeface="メイリオ"/>
              <a:ea typeface="メイリオ"/>
              <a:cs typeface="メイリオ"/>
            </a:endParaRPr>
          </a:p>
        </p:txBody>
      </p:sp>
      <p:sp>
        <p:nvSpPr>
          <p:cNvPr id="9" name="正方形/長方形 8">
            <a:extLst>
              <a:ext uri="{FF2B5EF4-FFF2-40B4-BE49-F238E27FC236}">
                <a16:creationId xmlns:a16="http://schemas.microsoft.com/office/drawing/2014/main" id="{DC4FF56C-47EE-47DB-92F1-3F0EF57613D9}"/>
              </a:ext>
            </a:extLst>
          </p:cNvPr>
          <p:cNvSpPr/>
          <p:nvPr/>
        </p:nvSpPr>
        <p:spPr>
          <a:xfrm>
            <a:off x="4180596" y="846996"/>
            <a:ext cx="4575836" cy="307777"/>
          </a:xfrm>
          <a:prstGeom prst="rect">
            <a:avLst/>
          </a:prstGeom>
        </p:spPr>
        <p:txBody>
          <a:bodyPr wrap="square" lIns="74295" rIns="74295">
            <a:spAutoFit/>
          </a:bodyPr>
          <a:lstStyle/>
          <a:p>
            <a:pPr lvl="0">
              <a:buClr>
                <a:schemeClr val="dk1"/>
              </a:buClr>
              <a:buSzPts val="1500"/>
            </a:pP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フォーム送信後の</a:t>
            </a:r>
            <a:r>
              <a:rPr lang="en-US" altLang="ja-JP" sz="1400" dirty="0">
                <a:latin typeface="メイリオ"/>
                <a:ea typeface="メイリオ"/>
                <a:cs typeface="メイリオ"/>
                <a:sym typeface="Meiryo"/>
              </a:rPr>
              <a:t>LINE</a:t>
            </a:r>
            <a:r>
              <a:rPr lang="ja-JP" altLang="en-US" sz="1400" dirty="0">
                <a:latin typeface="メイリオ"/>
                <a:ea typeface="メイリオ"/>
                <a:cs typeface="メイリオ"/>
                <a:sym typeface="Meiryo"/>
              </a:rPr>
              <a:t>誘導を自動化するツール</a:t>
            </a:r>
            <a:endParaRPr lang="en-US" altLang="ja-JP" sz="1400" dirty="0">
              <a:latin typeface="メイリオ"/>
              <a:ea typeface="メイリオ"/>
              <a:cs typeface="メイリオ"/>
              <a:sym typeface="Meiryo"/>
            </a:endParaRPr>
          </a:p>
        </p:txBody>
      </p:sp>
      <p:sp>
        <p:nvSpPr>
          <p:cNvPr id="14" name="テキスト ボックス 13">
            <a:extLst>
              <a:ext uri="{FF2B5EF4-FFF2-40B4-BE49-F238E27FC236}">
                <a16:creationId xmlns:a16="http://schemas.microsoft.com/office/drawing/2014/main" id="{5ED6F7D2-546D-BF9F-9805-58455D7E2831}"/>
              </a:ext>
            </a:extLst>
          </p:cNvPr>
          <p:cNvSpPr txBox="1"/>
          <p:nvPr/>
        </p:nvSpPr>
        <p:spPr>
          <a:xfrm>
            <a:off x="4180597" y="1172815"/>
            <a:ext cx="3833883" cy="230832"/>
          </a:xfrm>
          <a:prstGeom prst="rect">
            <a:avLst/>
          </a:prstGeom>
          <a:noFill/>
        </p:spPr>
        <p:txBody>
          <a:bodyPr wrap="square" lIns="74295" rIns="74295">
            <a:spAutoFit/>
          </a:bodyPr>
          <a:lstStyle/>
          <a:p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※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既存</a:t>
            </a:r>
            <a:r>
              <a:rPr lang="en-US" altLang="ja-JP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API</a:t>
            </a:r>
            <a:r>
              <a:rPr lang="ja-JP" altLang="en-US" sz="900" dirty="0">
                <a:solidFill>
                  <a:srgbClr val="FF0000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  <a:sym typeface="Meiryo"/>
              </a:rPr>
              <a:t>ツールとの併用についても、問題なく稼働が可能。</a:t>
            </a:r>
            <a:endParaRPr lang="ja-JP" altLang="en-US" sz="900" dirty="0">
              <a:solidFill>
                <a:srgbClr val="FF000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8" name="正方形/長方形 7">
            <a:extLst>
              <a:ext uri="{FF2B5EF4-FFF2-40B4-BE49-F238E27FC236}">
                <a16:creationId xmlns:a16="http://schemas.microsoft.com/office/drawing/2014/main" id="{F5B8C83A-7191-D772-EF88-AE268D007E63}"/>
              </a:ext>
            </a:extLst>
          </p:cNvPr>
          <p:cNvSpPr/>
          <p:nvPr/>
        </p:nvSpPr>
        <p:spPr>
          <a:xfrm>
            <a:off x="6097538" y="1666571"/>
            <a:ext cx="2513872" cy="284744"/>
          </a:xfrm>
          <a:prstGeom prst="rect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100" b="1" dirty="0">
                <a:solidFill>
                  <a:schemeClr val="bg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動作イメージ</a:t>
            </a:r>
          </a:p>
        </p:txBody>
      </p:sp>
      <p:sp>
        <p:nvSpPr>
          <p:cNvPr id="11" name="正方形/長方形 10">
            <a:extLst>
              <a:ext uri="{FF2B5EF4-FFF2-40B4-BE49-F238E27FC236}">
                <a16:creationId xmlns:a16="http://schemas.microsoft.com/office/drawing/2014/main" id="{189A6A4C-E34E-E7CF-D6DD-C175E600A94D}"/>
              </a:ext>
            </a:extLst>
          </p:cNvPr>
          <p:cNvSpPr/>
          <p:nvPr/>
        </p:nvSpPr>
        <p:spPr>
          <a:xfrm>
            <a:off x="1209560" y="1525688"/>
            <a:ext cx="1510467" cy="244151"/>
          </a:xfrm>
          <a:prstGeom prst="rect">
            <a:avLst/>
          </a:prstGeom>
          <a:solidFill>
            <a:schemeClr val="bg1">
              <a:lumMod val="95000"/>
            </a:scheme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WEB</a:t>
            </a:r>
            <a:r>
              <a:rPr lang="ja-JP" altLang="en-US" sz="950" b="1" dirty="0">
                <a:solidFill>
                  <a:schemeClr val="tx1">
                    <a:lumMod val="50000"/>
                    <a:lumOff val="50000"/>
                  </a:schemeClr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サイト</a:t>
            </a:r>
          </a:p>
        </p:txBody>
      </p:sp>
      <p:pic>
        <p:nvPicPr>
          <p:cNvPr id="18" name="図 17">
            <a:extLst>
              <a:ext uri="{FF2B5EF4-FFF2-40B4-BE49-F238E27FC236}">
                <a16:creationId xmlns:a16="http://schemas.microsoft.com/office/drawing/2014/main" id="{122BEACA-AA0E-EFF8-CDF2-B0A5B58840D0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412518" y="3590272"/>
            <a:ext cx="379108" cy="69986"/>
          </a:xfrm>
          <a:prstGeom prst="rect">
            <a:avLst/>
          </a:prstGeom>
        </p:spPr>
      </p:pic>
      <p:pic>
        <p:nvPicPr>
          <p:cNvPr id="27" name="図 26">
            <a:extLst>
              <a:ext uri="{FF2B5EF4-FFF2-40B4-BE49-F238E27FC236}">
                <a16:creationId xmlns:a16="http://schemas.microsoft.com/office/drawing/2014/main" id="{D971BE53-7CD8-C375-2A00-B224602AC25F}"/>
              </a:ext>
            </a:extLst>
          </p:cNvPr>
          <p:cNvPicPr>
            <a:picLocks noChangeAspect="1"/>
          </p:cNvPicPr>
          <p:nvPr/>
        </p:nvPicPr>
        <p:blipFill>
          <a:blip r:embed="rId9"/>
          <a:stretch>
            <a:fillRect/>
          </a:stretch>
        </p:blipFill>
        <p:spPr>
          <a:xfrm>
            <a:off x="2234699" y="2111288"/>
            <a:ext cx="379108" cy="69986"/>
          </a:xfrm>
          <a:prstGeom prst="rect">
            <a:avLst/>
          </a:prstGeom>
        </p:spPr>
      </p:pic>
      <p:sp>
        <p:nvSpPr>
          <p:cNvPr id="33" name="四角形: 角を丸くする 32">
            <a:extLst>
              <a:ext uri="{FF2B5EF4-FFF2-40B4-BE49-F238E27FC236}">
                <a16:creationId xmlns:a16="http://schemas.microsoft.com/office/drawing/2014/main" id="{B7D71D80-6086-B1B4-3E2C-EE891B12909E}"/>
              </a:ext>
            </a:extLst>
          </p:cNvPr>
          <p:cNvSpPr/>
          <p:nvPr/>
        </p:nvSpPr>
        <p:spPr>
          <a:xfrm>
            <a:off x="1511868" y="4640731"/>
            <a:ext cx="3960179" cy="659955"/>
          </a:xfrm>
          <a:prstGeom prst="roundRect">
            <a:avLst>
              <a:gd name="adj" fmla="val 25327"/>
            </a:avLst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フォーム入力内容を</a:t>
            </a:r>
            <a:b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3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トーク入力画面へ引き継ぎ可能</a:t>
            </a:r>
          </a:p>
        </p:txBody>
      </p:sp>
      <p:cxnSp>
        <p:nvCxnSpPr>
          <p:cNvPr id="44" name="直線矢印コネクタ 43">
            <a:extLst>
              <a:ext uri="{FF2B5EF4-FFF2-40B4-BE49-F238E27FC236}">
                <a16:creationId xmlns:a16="http://schemas.microsoft.com/office/drawing/2014/main" id="{666CF79B-D322-06BC-F342-DE710BE7473B}"/>
              </a:ext>
            </a:extLst>
          </p:cNvPr>
          <p:cNvCxnSpPr>
            <a:cxnSpLocks/>
          </p:cNvCxnSpPr>
          <p:nvPr/>
        </p:nvCxnSpPr>
        <p:spPr>
          <a:xfrm flipH="1" flipV="1">
            <a:off x="1145256" y="4485242"/>
            <a:ext cx="515326" cy="485466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9" name="正方形/長方形 28">
            <a:extLst>
              <a:ext uri="{FF2B5EF4-FFF2-40B4-BE49-F238E27FC236}">
                <a16:creationId xmlns:a16="http://schemas.microsoft.com/office/drawing/2014/main" id="{1D29A9C3-A3E8-0780-A758-0C8E7E376668}"/>
              </a:ext>
            </a:extLst>
          </p:cNvPr>
          <p:cNvSpPr/>
          <p:nvPr/>
        </p:nvSpPr>
        <p:spPr>
          <a:xfrm>
            <a:off x="5284944" y="2415812"/>
            <a:ext cx="530810" cy="1821208"/>
          </a:xfrm>
          <a:prstGeom prst="rect">
            <a:avLst/>
          </a:prstGeom>
          <a:solidFill>
            <a:srgbClr val="04FA0A">
              <a:alpha val="40000"/>
            </a:srgbClr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r>
              <a:rPr lang="en-US" altLang="ja-JP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DYM</a:t>
            </a: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開発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  <a:p>
            <a:pPr algn="ctr"/>
            <a:r>
              <a:rPr lang="ja-JP" altLang="en-US" sz="950" b="1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  <a:cs typeface="メイリオ"/>
              </a:rPr>
              <a:t>ツール</a:t>
            </a:r>
            <a:endParaRPr lang="en-US" altLang="ja-JP" sz="950" b="1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  <a:cs typeface="メイリオ"/>
            </a:endParaRPr>
          </a:p>
        </p:txBody>
      </p:sp>
      <p:sp>
        <p:nvSpPr>
          <p:cNvPr id="1048" name="矢印: 右 1047">
            <a:extLst>
              <a:ext uri="{FF2B5EF4-FFF2-40B4-BE49-F238E27FC236}">
                <a16:creationId xmlns:a16="http://schemas.microsoft.com/office/drawing/2014/main" id="{6A5BBE8E-2B42-49E0-686B-A6584B59E72F}"/>
              </a:ext>
            </a:extLst>
          </p:cNvPr>
          <p:cNvSpPr/>
          <p:nvPr/>
        </p:nvSpPr>
        <p:spPr>
          <a:xfrm>
            <a:off x="3398999" y="3203047"/>
            <a:ext cx="1843892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0" name="吹き出し: 角を丸めた四角形 1049">
            <a:extLst>
              <a:ext uri="{FF2B5EF4-FFF2-40B4-BE49-F238E27FC236}">
                <a16:creationId xmlns:a16="http://schemas.microsoft.com/office/drawing/2014/main" id="{0D7606B7-7AEE-445F-FB97-74913C4A4F60}"/>
              </a:ext>
            </a:extLst>
          </p:cNvPr>
          <p:cNvSpPr/>
          <p:nvPr/>
        </p:nvSpPr>
        <p:spPr>
          <a:xfrm>
            <a:off x="3492025" y="2641849"/>
            <a:ext cx="1624523" cy="476757"/>
          </a:xfrm>
          <a:prstGeom prst="wedgeRoundRectCallout">
            <a:avLst/>
          </a:prstGeom>
          <a:solidFill>
            <a:srgbClr val="FDFDFD"/>
          </a:solidFill>
          <a:ln w="19050">
            <a:solidFill>
              <a:schemeClr val="tx2">
                <a:alpha val="40000"/>
              </a:schemeClr>
            </a:solidFill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応募後 約2〜3秒で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/>
            </a:r>
            <a:b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</a:br>
            <a:r>
              <a:rPr lang="en-US" altLang="ja-JP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r>
              <a:rPr lang="ja-JP" altLang="en-US" sz="1100" dirty="0">
                <a:solidFill>
                  <a:schemeClr val="tx1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へ自動遷移</a:t>
            </a:r>
            <a:endParaRPr lang="en-US" altLang="ja-JP" sz="1100" dirty="0">
              <a:solidFill>
                <a:schemeClr val="tx1"/>
              </a:solidFill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cxnSp>
        <p:nvCxnSpPr>
          <p:cNvPr id="1052" name="直線矢印コネクタ 1051">
            <a:extLst>
              <a:ext uri="{FF2B5EF4-FFF2-40B4-BE49-F238E27FC236}">
                <a16:creationId xmlns:a16="http://schemas.microsoft.com/office/drawing/2014/main" id="{5B4E7079-E54A-2282-BDB8-487FFE5E8981}"/>
              </a:ext>
            </a:extLst>
          </p:cNvPr>
          <p:cNvCxnSpPr>
            <a:cxnSpLocks/>
          </p:cNvCxnSpPr>
          <p:nvPr/>
        </p:nvCxnSpPr>
        <p:spPr>
          <a:xfrm>
            <a:off x="5242891" y="4971540"/>
            <a:ext cx="2486278" cy="256434"/>
          </a:xfrm>
          <a:prstGeom prst="straightConnector1">
            <a:avLst/>
          </a:prstGeom>
          <a:ln w="19050">
            <a:solidFill>
              <a:srgbClr val="00B050">
                <a:alpha val="80000"/>
              </a:srgbClr>
            </a:solidFill>
            <a:prstDash val="sysDot"/>
            <a:tailEnd type="triangle"/>
          </a:ln>
        </p:spPr>
        <p:style>
          <a:lnRef idx="1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7" name="矢印: 右 6">
            <a:extLst>
              <a:ext uri="{FF2B5EF4-FFF2-40B4-BE49-F238E27FC236}">
                <a16:creationId xmlns:a16="http://schemas.microsoft.com/office/drawing/2014/main" id="{9EC51A72-DCD0-B1E9-7CCE-6674E65DC641}"/>
              </a:ext>
            </a:extLst>
          </p:cNvPr>
          <p:cNvSpPr/>
          <p:nvPr/>
        </p:nvSpPr>
        <p:spPr>
          <a:xfrm rot="5400000">
            <a:off x="6436767" y="3831408"/>
            <a:ext cx="349205" cy="392774"/>
          </a:xfrm>
          <a:prstGeom prst="rightArrow">
            <a:avLst/>
          </a:prstGeom>
          <a:solidFill>
            <a:schemeClr val="tx2"/>
          </a:solidFill>
          <a:ln>
            <a:noFill/>
          </a:ln>
        </p:spPr>
        <p:style>
          <a:lnRef idx="2">
            <a:schemeClr val="accent1">
              <a:shade val="15000"/>
            </a:schemeClr>
          </a:lnRef>
          <a:fillRef idx="1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lIns="74295" rIns="74295" rtlCol="0" anchor="ctr"/>
          <a:lstStyle/>
          <a:p>
            <a:pPr algn="ctr"/>
            <a:endParaRPr lang="ja-JP" altLang="en-US"/>
          </a:p>
        </p:txBody>
      </p:sp>
      <p:sp>
        <p:nvSpPr>
          <p:cNvPr id="1053" name="Rounded Rectangle 1052"/>
          <p:cNvSpPr/>
          <p:nvPr/>
        </p:nvSpPr>
        <p:spPr>
          <a:xfrm>
            <a:off x="429768" y="5385816"/>
            <a:ext cx="4846320" cy="11430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91440" tIns="45720" rIns="73152" bIns="36576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横浜シミズでの導線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採用サイトで応募 → 面接予約の完了 → 自動でLINEへ → 友だち追加 → 勤務の案内・次回の募集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100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応募を済ませた、働く意思のある方を、そのまま友だちにできます。</a:t>
            </a:r>
            <a:endParaRPr lang="ja-JP" altLang="en-US" sz="100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※採用サイト（応募フォーム）の完了画面に設置できるかは確認事項です。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20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TextBox 1"/>
          <p:cNvSpPr txBox="1"/>
          <p:nvPr/>
        </p:nvSpPr>
        <p:spPr>
          <a:xfrm>
            <a:off x="547200" y="136800"/>
            <a:ext cx="6516000" cy="338400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/>
            <a:r>
              <a:rPr sz="1600" b="1" dirty="0" err="1">
                <a:solidFill>
                  <a:srgbClr val="002060"/>
                </a:solidFill>
                <a:latin typeface="メイリオ"/>
                <a:ea typeface="メイリオ"/>
                <a:cs typeface="メイリオ"/>
              </a:rPr>
              <a:t>施策①｜サンクスLINE誘導の導入実績（人材業界）</a:t>
            </a:r>
            <a:endParaRPr sz="1600" b="1" dirty="0">
              <a:solidFill>
                <a:srgbClr val="002060"/>
              </a:solidFill>
              <a:latin typeface="メイリオ"/>
              <a:ea typeface="メイリオ"/>
              <a:cs typeface="メイリオ"/>
            </a:endParaRPr>
          </a:p>
        </p:txBody>
      </p:sp>
      <p:sp>
        <p:nvSpPr>
          <p:cNvPr id="4" name="TextBox 2"/>
          <p:cNvSpPr txBox="1"/>
          <p:nvPr/>
        </p:nvSpPr>
        <p:spPr>
          <a:xfrm>
            <a:off x="644865" y="817378"/>
            <a:ext cx="9111472" cy="345243"/>
          </a:xfrm>
          <a:prstGeom prst="rect">
            <a:avLst/>
          </a:prstGeom>
          <a:noFill/>
        </p:spPr>
        <p:txBody>
          <a:bodyPr wrap="square" lIns="0" tIns="21600" rIns="0" bIns="21600" anchor="ctr">
            <a:spAutoFit/>
          </a:bodyPr>
          <a:lstStyle/>
          <a:p>
            <a:pPr algn="l">
              <a:lnSpc>
                <a:spcPct val="130000"/>
              </a:lnSpc>
            </a:pPr>
            <a:r>
              <a:rPr sz="1600" dirty="0" err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人材業界での導入実績（DYM）と、横浜シミズでの活用イメージ</a:t>
            </a:r>
            <a:endParaRPr sz="1050" dirty="0">
              <a:solidFill>
                <a:srgbClr val="333333"/>
              </a:solidFill>
              <a:latin typeface="メイリオ"/>
              <a:ea typeface="メイリオ"/>
              <a:cs typeface="メイリオ"/>
            </a:endParaRPr>
          </a:p>
        </p:txBody>
      </p:sp>
      <p:cxnSp>
        <p:nvCxnSpPr>
          <p:cNvPr id="5" name="Connector 3"/>
          <p:cNvCxnSpPr/>
          <p:nvPr/>
        </p:nvCxnSpPr>
        <p:spPr>
          <a:xfrm>
            <a:off x="0" y="1389600"/>
            <a:ext cx="9906097" cy="0"/>
          </a:xfrm>
          <a:prstGeom prst="line">
            <a:avLst/>
          </a:prstGeom>
          <a:ln w="12700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1">
            <a:schemeClr val="accent1"/>
          </a:effectRef>
          <a:fontRef idx="minor">
            <a:schemeClr val="tx1"/>
          </a:fontRef>
        </p:style>
      </p:cxnSp>
      <p:sp>
        <p:nvSpPr>
          <p:cNvPr id="6" name="Rectangle 5"/>
          <p:cNvSpPr/>
          <p:nvPr/>
        </p:nvSpPr>
        <p:spPr>
          <a:xfrm>
            <a:off x="644400" y="1548000"/>
            <a:ext cx="8629200" cy="1386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6" name="TextBox 15"/>
          <p:cNvSpPr txBox="1"/>
          <p:nvPr/>
        </p:nvSpPr>
        <p:spPr>
          <a:xfrm>
            <a:off x="644400" y="3078000"/>
            <a:ext cx="3780000" cy="270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13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人材業界｜サンクスLINE誘導ツール導入実績</a:t>
            </a:r>
          </a:p>
        </p:txBody>
      </p:sp>
      <p:sp>
        <p:nvSpPr>
          <p:cNvPr id="17" name="Rounded Rectangle 16"/>
          <p:cNvSpPr/>
          <p:nvPr/>
        </p:nvSpPr>
        <p:spPr>
          <a:xfrm>
            <a:off x="4496399" y="3114000"/>
            <a:ext cx="1152000" cy="198000"/>
          </a:xfrm>
          <a:prstGeom prst="roundRect">
            <a:avLst>
              <a:gd name="adj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18000" tIns="0" rIns="18000" bIns="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85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DYMの導入実績</a:t>
            </a:r>
          </a:p>
        </p:txBody>
      </p:sp>
      <p:sp>
        <p:nvSpPr>
          <p:cNvPr id="18" name="Rectangle 17"/>
          <p:cNvSpPr/>
          <p:nvPr/>
        </p:nvSpPr>
        <p:spPr>
          <a:xfrm>
            <a:off x="644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19" name="Rectangle 18"/>
          <p:cNvSpPr/>
          <p:nvPr/>
        </p:nvSpPr>
        <p:spPr>
          <a:xfrm>
            <a:off x="644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① 導入前後3か月比較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752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導入前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752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1,532人</a:t>
            </a:r>
          </a:p>
        </p:txBody>
      </p:sp>
      <p:sp>
        <p:nvSpPr>
          <p:cNvPr id="22" name="Right Arrow 21"/>
          <p:cNvSpPr/>
          <p:nvPr/>
        </p:nvSpPr>
        <p:spPr>
          <a:xfrm>
            <a:off x="1958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3" name="TextBox 22"/>
          <p:cNvSpPr txBox="1"/>
          <p:nvPr/>
        </p:nvSpPr>
        <p:spPr>
          <a:xfrm>
            <a:off x="2228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導入後</a:t>
            </a:r>
          </a:p>
        </p:txBody>
      </p:sp>
      <p:sp>
        <p:nvSpPr>
          <p:cNvPr id="24" name="TextBox 23"/>
          <p:cNvSpPr txBox="1"/>
          <p:nvPr/>
        </p:nvSpPr>
        <p:spPr>
          <a:xfrm>
            <a:off x="2228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25" name="Connector 24"/>
          <p:cNvCxnSpPr/>
          <p:nvPr/>
        </p:nvCxnSpPr>
        <p:spPr>
          <a:xfrm>
            <a:off x="788400" y="4320000"/>
            <a:ext cx="2591999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26" name="TextBox 25"/>
          <p:cNvSpPr txBox="1"/>
          <p:nvPr/>
        </p:nvSpPr>
        <p:spPr>
          <a:xfrm>
            <a:off x="716400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導入前比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137.3%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716400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+571人</a:t>
            </a:r>
          </a:p>
        </p:txBody>
      </p:sp>
      <p:sp>
        <p:nvSpPr>
          <p:cNvPr id="28" name="Rectangle 27"/>
          <p:cNvSpPr/>
          <p:nvPr/>
        </p:nvSpPr>
        <p:spPr>
          <a:xfrm>
            <a:off x="3632400" y="3401999"/>
            <a:ext cx="2880000" cy="2070000"/>
          </a:xfrm>
          <a:prstGeom prst="rect">
            <a:avLst/>
          </a:prstGeom>
          <a:solidFill>
            <a:srgbClr val="FFFFFF"/>
          </a:solidFill>
          <a:ln w="12700">
            <a:solidFill>
              <a:srgbClr val="D9D9D9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29" name="Rectangle 28"/>
          <p:cNvSpPr/>
          <p:nvPr/>
        </p:nvSpPr>
        <p:spPr>
          <a:xfrm>
            <a:off x="3632400" y="3401999"/>
            <a:ext cx="2880000" cy="270000"/>
          </a:xfrm>
          <a:prstGeom prst="rect">
            <a:avLst/>
          </a:prstGeom>
          <a:solidFill>
            <a:srgbClr val="E4E8F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15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② 前年同期間比較</a:t>
            </a:r>
          </a:p>
        </p:txBody>
      </p:sp>
      <p:sp>
        <p:nvSpPr>
          <p:cNvPr id="30" name="TextBox 29"/>
          <p:cNvSpPr txBox="1"/>
          <p:nvPr/>
        </p:nvSpPr>
        <p:spPr>
          <a:xfrm>
            <a:off x="3740400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2025年7〜9月</a:t>
            </a:r>
          </a:p>
        </p:txBody>
      </p:sp>
      <p:sp>
        <p:nvSpPr>
          <p:cNvPr id="31" name="TextBox 30"/>
          <p:cNvSpPr txBox="1"/>
          <p:nvPr/>
        </p:nvSpPr>
        <p:spPr>
          <a:xfrm>
            <a:off x="3740400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1,650人</a:t>
            </a:r>
          </a:p>
        </p:txBody>
      </p:sp>
      <p:sp>
        <p:nvSpPr>
          <p:cNvPr id="32" name="Right Arrow 31"/>
          <p:cNvSpPr/>
          <p:nvPr/>
        </p:nvSpPr>
        <p:spPr>
          <a:xfrm>
            <a:off x="4946400" y="3977999"/>
            <a:ext cx="251999" cy="198000"/>
          </a:xfrm>
          <a:prstGeom prst="rightArrow">
            <a:avLst>
              <a:gd name="adj1" fmla="val 40000"/>
              <a:gd name="adj2" fmla="val 50000"/>
            </a:avLst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33" name="TextBox 32"/>
          <p:cNvSpPr txBox="1"/>
          <p:nvPr/>
        </p:nvSpPr>
        <p:spPr>
          <a:xfrm>
            <a:off x="5216399" y="3761999"/>
            <a:ext cx="11880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2026年7〜9月</a:t>
            </a:r>
          </a:p>
        </p:txBody>
      </p:sp>
      <p:sp>
        <p:nvSpPr>
          <p:cNvPr id="34" name="TextBox 33"/>
          <p:cNvSpPr txBox="1"/>
          <p:nvPr/>
        </p:nvSpPr>
        <p:spPr>
          <a:xfrm>
            <a:off x="5216399" y="3923999"/>
            <a:ext cx="1188000" cy="30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7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2,103人</a:t>
            </a:r>
          </a:p>
        </p:txBody>
      </p:sp>
      <p:cxnSp>
        <p:nvCxnSpPr>
          <p:cNvPr id="35" name="Connector 34"/>
          <p:cNvCxnSpPr/>
          <p:nvPr/>
        </p:nvCxnSpPr>
        <p:spPr>
          <a:xfrm>
            <a:off x="3776400" y="4320000"/>
            <a:ext cx="2592000" cy="0"/>
          </a:xfrm>
          <a:prstGeom prst="line">
            <a:avLst/>
          </a:prstGeom>
          <a:ln w="9525">
            <a:solidFill>
              <a:srgbClr val="D9D9D9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36" name="TextBox 35"/>
          <p:cNvSpPr txBox="1"/>
          <p:nvPr/>
        </p:nvSpPr>
        <p:spPr>
          <a:xfrm>
            <a:off x="3704399" y="4373999"/>
            <a:ext cx="2736000" cy="576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11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3000" b="1">
                <a:solidFill>
                  <a:srgbClr val="1F285A"/>
                </a:solidFill>
                <a:latin typeface="メイリオ"/>
                <a:ea typeface="メイリオ"/>
                <a:cs typeface="メイリオ"/>
              </a:rPr>
              <a:t>127.5%</a:t>
            </a:r>
          </a:p>
        </p:txBody>
      </p:sp>
      <p:sp>
        <p:nvSpPr>
          <p:cNvPr id="37" name="TextBox 36"/>
          <p:cNvSpPr txBox="1"/>
          <p:nvPr/>
        </p:nvSpPr>
        <p:spPr>
          <a:xfrm>
            <a:off x="3704399" y="4986000"/>
            <a:ext cx="2736000" cy="288000"/>
          </a:xfrm>
          <a:prstGeom prst="rect">
            <a:avLst/>
          </a:prstGeom>
          <a:noFill/>
        </p:spPr>
        <p:txBody>
          <a:bodyPr wrap="squar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9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増加数 </a:t>
            </a:r>
            <a:r>
              <a:rPr sz="15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+453人</a:t>
            </a:r>
          </a:p>
        </p:txBody>
      </p:sp>
      <p:sp>
        <p:nvSpPr>
          <p:cNvPr id="38" name="TextBox 37"/>
          <p:cNvSpPr txBox="1"/>
          <p:nvPr/>
        </p:nvSpPr>
        <p:spPr>
          <a:xfrm>
            <a:off x="6656399" y="3420000"/>
            <a:ext cx="2617200" cy="1620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月別比較（友だち増加数・人）</a:t>
            </a:r>
          </a:p>
        </p:txBody>
      </p:sp>
      <p:sp>
        <p:nvSpPr>
          <p:cNvPr id="39" name="Rectangle 38"/>
          <p:cNvSpPr/>
          <p:nvPr/>
        </p:nvSpPr>
        <p:spPr>
          <a:xfrm>
            <a:off x="6692400" y="3625199"/>
            <a:ext cx="108000" cy="108000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0" name="TextBox 39"/>
          <p:cNvSpPr txBox="1"/>
          <p:nvPr/>
        </p:nvSpPr>
        <p:spPr>
          <a:xfrm>
            <a:off x="6818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2025年</a:t>
            </a:r>
          </a:p>
        </p:txBody>
      </p:sp>
      <p:sp>
        <p:nvSpPr>
          <p:cNvPr id="41" name="Rectangle 40"/>
          <p:cNvSpPr/>
          <p:nvPr/>
        </p:nvSpPr>
        <p:spPr>
          <a:xfrm>
            <a:off x="7520400" y="3625199"/>
            <a:ext cx="108000" cy="108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2" name="TextBox 41"/>
          <p:cNvSpPr txBox="1"/>
          <p:nvPr/>
        </p:nvSpPr>
        <p:spPr>
          <a:xfrm>
            <a:off x="7646399" y="3571200"/>
            <a:ext cx="684000" cy="216000"/>
          </a:xfrm>
          <a:prstGeom prst="rect">
            <a:avLst/>
          </a:prstGeom>
          <a:noFill/>
        </p:spPr>
        <p:txBody>
          <a:bodyPr wrap="square" lIns="36000" tIns="18000" rIns="36000" bIns="18000" anchor="ctr">
            <a:spAutoFit/>
          </a:bodyPr>
          <a:lstStyle/>
          <a:p>
            <a:pPr algn="l">
              <a:lnSpc>
                <a:spcPct val="110000"/>
              </a:lnSpc>
              <a:spcAft>
                <a:spcPts val="0"/>
              </a:spcAft>
            </a:pPr>
            <a:r>
              <a:rPr sz="80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2026年</a:t>
            </a:r>
          </a:p>
        </p:txBody>
      </p:sp>
      <p:sp>
        <p:nvSpPr>
          <p:cNvPr id="43" name="Rectangle 42"/>
          <p:cNvSpPr/>
          <p:nvPr/>
        </p:nvSpPr>
        <p:spPr>
          <a:xfrm>
            <a:off x="6688799" y="4259114"/>
            <a:ext cx="288000" cy="690885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4" name="TextBox 43"/>
          <p:cNvSpPr txBox="1"/>
          <p:nvPr/>
        </p:nvSpPr>
        <p:spPr>
          <a:xfrm>
            <a:off x="6580799" y="4079114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575</a:t>
            </a:r>
          </a:p>
        </p:txBody>
      </p:sp>
      <p:sp>
        <p:nvSpPr>
          <p:cNvPr id="45" name="Rectangle 44"/>
          <p:cNvSpPr/>
          <p:nvPr/>
        </p:nvSpPr>
        <p:spPr>
          <a:xfrm>
            <a:off x="7019999" y="4211052"/>
            <a:ext cx="288000" cy="738947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46" name="TextBox 45"/>
          <p:cNvSpPr txBox="1"/>
          <p:nvPr/>
        </p:nvSpPr>
        <p:spPr>
          <a:xfrm>
            <a:off x="6911999" y="4031052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615</a:t>
            </a:r>
          </a:p>
        </p:txBody>
      </p:sp>
      <p:sp>
        <p:nvSpPr>
          <p:cNvPr id="47" name="TextBox 46"/>
          <p:cNvSpPr txBox="1"/>
          <p:nvPr/>
        </p:nvSpPr>
        <p:spPr>
          <a:xfrm>
            <a:off x="6620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7月</a:t>
            </a:r>
          </a:p>
        </p:txBody>
      </p:sp>
      <p:sp>
        <p:nvSpPr>
          <p:cNvPr id="48" name="TextBox 47"/>
          <p:cNvSpPr txBox="1"/>
          <p:nvPr/>
        </p:nvSpPr>
        <p:spPr>
          <a:xfrm>
            <a:off x="6620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107%</a:t>
            </a:r>
          </a:p>
        </p:txBody>
      </p:sp>
      <p:sp>
        <p:nvSpPr>
          <p:cNvPr id="49" name="Rectangle 48"/>
          <p:cNvSpPr/>
          <p:nvPr/>
        </p:nvSpPr>
        <p:spPr>
          <a:xfrm>
            <a:off x="7516800" y="4330005"/>
            <a:ext cx="288000" cy="619994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0" name="TextBox 49"/>
          <p:cNvSpPr txBox="1"/>
          <p:nvPr/>
        </p:nvSpPr>
        <p:spPr>
          <a:xfrm>
            <a:off x="7408799" y="4150005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516</a:t>
            </a:r>
          </a:p>
        </p:txBody>
      </p:sp>
      <p:sp>
        <p:nvSpPr>
          <p:cNvPr id="51" name="Rectangle 50"/>
          <p:cNvSpPr/>
          <p:nvPr/>
        </p:nvSpPr>
        <p:spPr>
          <a:xfrm>
            <a:off x="7847999" y="4014000"/>
            <a:ext cx="288000" cy="936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2" name="TextBox 51"/>
          <p:cNvSpPr txBox="1"/>
          <p:nvPr/>
        </p:nvSpPr>
        <p:spPr>
          <a:xfrm>
            <a:off x="7739999" y="3834000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779</a:t>
            </a:r>
          </a:p>
        </p:txBody>
      </p:sp>
      <p:sp>
        <p:nvSpPr>
          <p:cNvPr id="53" name="TextBox 52"/>
          <p:cNvSpPr txBox="1"/>
          <p:nvPr/>
        </p:nvSpPr>
        <p:spPr>
          <a:xfrm>
            <a:off x="7448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8月</a:t>
            </a:r>
          </a:p>
        </p:txBody>
      </p:sp>
      <p:sp>
        <p:nvSpPr>
          <p:cNvPr id="54" name="TextBox 53"/>
          <p:cNvSpPr txBox="1"/>
          <p:nvPr/>
        </p:nvSpPr>
        <p:spPr>
          <a:xfrm>
            <a:off x="7448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151%</a:t>
            </a:r>
          </a:p>
        </p:txBody>
      </p:sp>
      <p:sp>
        <p:nvSpPr>
          <p:cNvPr id="55" name="Rectangle 54"/>
          <p:cNvSpPr/>
          <p:nvPr/>
        </p:nvSpPr>
        <p:spPr>
          <a:xfrm>
            <a:off x="8344800" y="4278338"/>
            <a:ext cx="288000" cy="671661"/>
          </a:xfrm>
          <a:prstGeom prst="rect">
            <a:avLst/>
          </a:prstGeom>
          <a:solidFill>
            <a:srgbClr val="8E9BC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6" name="TextBox 55"/>
          <p:cNvSpPr txBox="1"/>
          <p:nvPr/>
        </p:nvSpPr>
        <p:spPr>
          <a:xfrm>
            <a:off x="8236800" y="4098338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559</a:t>
            </a:r>
          </a:p>
        </p:txBody>
      </p:sp>
      <p:sp>
        <p:nvSpPr>
          <p:cNvPr id="57" name="Rectangle 56"/>
          <p:cNvSpPr/>
          <p:nvPr/>
        </p:nvSpPr>
        <p:spPr>
          <a:xfrm>
            <a:off x="8676000" y="4098107"/>
            <a:ext cx="288000" cy="851892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/>
            <a:endParaRPr/>
          </a:p>
        </p:txBody>
      </p:sp>
      <p:sp>
        <p:nvSpPr>
          <p:cNvPr id="58" name="TextBox 57"/>
          <p:cNvSpPr txBox="1"/>
          <p:nvPr/>
        </p:nvSpPr>
        <p:spPr>
          <a:xfrm>
            <a:off x="8567999" y="3918107"/>
            <a:ext cx="503999" cy="162000"/>
          </a:xfrm>
          <a:prstGeom prst="rect">
            <a:avLst/>
          </a:prstGeom>
          <a:noFill/>
        </p:spPr>
        <p:txBody>
          <a:bodyPr wrap="none" lIns="36000" tIns="18000" rIns="36000" bIns="18000" anchor="b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75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709</a:t>
            </a:r>
          </a:p>
        </p:txBody>
      </p:sp>
      <p:sp>
        <p:nvSpPr>
          <p:cNvPr id="59" name="TextBox 58"/>
          <p:cNvSpPr txBox="1"/>
          <p:nvPr/>
        </p:nvSpPr>
        <p:spPr>
          <a:xfrm>
            <a:off x="8276399" y="4968000"/>
            <a:ext cx="756000" cy="151200"/>
          </a:xfrm>
          <a:prstGeom prst="rect">
            <a:avLst/>
          </a:prstGeom>
          <a:noFill/>
        </p:spPr>
        <p:txBody>
          <a:bodyPr wrap="square" lIns="36000" tIns="18000" rIns="36000" bIns="18000" anchor="t">
            <a:spAutoFit/>
          </a:bodyPr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900" b="1">
                <a:solidFill>
                  <a:srgbClr val="333333"/>
                </a:solidFill>
                <a:latin typeface="メイリオ"/>
                <a:ea typeface="メイリオ"/>
                <a:cs typeface="メイリオ"/>
              </a:rPr>
              <a:t>9月</a:t>
            </a:r>
          </a:p>
        </p:txBody>
      </p:sp>
      <p:sp>
        <p:nvSpPr>
          <p:cNvPr id="60" name="TextBox 59"/>
          <p:cNvSpPr txBox="1"/>
          <p:nvPr/>
        </p:nvSpPr>
        <p:spPr>
          <a:xfrm>
            <a:off x="8276399" y="5112000"/>
            <a:ext cx="756000" cy="180000"/>
          </a:xfrm>
          <a:prstGeom prst="rect">
            <a:avLst/>
          </a:prstGeom>
          <a:noFill/>
        </p:spPr>
        <p:txBody>
          <a:bodyPr wrap="none" lIns="36000" tIns="10800" rIns="36000" bIns="10800" anchor="ctr">
            <a:spAutoFit/>
          </a:bodyPr>
          <a:lstStyle/>
          <a:p>
            <a:pPr algn="ctr">
              <a:lnSpc>
                <a:spcPct val="105000"/>
              </a:lnSpc>
              <a:spcAft>
                <a:spcPts val="200"/>
              </a:spcAft>
            </a:pPr>
            <a:r>
              <a:rPr sz="750" b="0">
                <a:solidFill>
                  <a:srgbClr val="7F7F7F"/>
                </a:solidFill>
                <a:latin typeface="メイリオ"/>
                <a:ea typeface="メイリオ"/>
                <a:cs typeface="メイリオ"/>
              </a:rPr>
              <a:t>前年比 </a:t>
            </a:r>
            <a:r>
              <a:rPr sz="1000" b="1">
                <a:solidFill>
                  <a:srgbClr val="0B7A3B"/>
                </a:solidFill>
                <a:latin typeface="メイリオ"/>
                <a:ea typeface="メイリオ"/>
                <a:cs typeface="メイリオ"/>
              </a:rPr>
              <a:t>127%</a:t>
            </a:r>
          </a:p>
        </p:txBody>
      </p:sp>
      <p:cxnSp>
        <p:nvCxnSpPr>
          <p:cNvPr id="61" name="Connector 60"/>
          <p:cNvCxnSpPr/>
          <p:nvPr/>
        </p:nvCxnSpPr>
        <p:spPr>
          <a:xfrm>
            <a:off x="6728399" y="4950000"/>
            <a:ext cx="2509201" cy="0"/>
          </a:xfrm>
          <a:prstGeom prst="line">
            <a:avLst/>
          </a:prstGeom>
          <a:ln w="9525">
            <a:solidFill>
              <a:srgbClr val="7F7F7F"/>
            </a:solidFill>
          </a:ln>
        </p:spPr>
        <p:style>
          <a:lnRef idx="2">
            <a:schemeClr val="accent1"/>
          </a:lnRef>
          <a:fillRef idx="0">
            <a:schemeClr val="accent1"/>
          </a:fillRef>
          <a:effectRef idx="0">
            <a:schemeClr val="accent1"/>
          </a:effectRef>
          <a:fontRef idx="minor">
            <a:schemeClr val="tx1"/>
          </a:fontRef>
        </p:style>
      </p:cxnSp>
      <p:sp>
        <p:nvSpPr>
          <p:cNvPr id="62" name="Rectangle 61"/>
          <p:cNvSpPr/>
          <p:nvPr/>
        </p:nvSpPr>
        <p:spPr>
          <a:xfrm>
            <a:off x="644400" y="5598000"/>
            <a:ext cx="8629200" cy="342000"/>
          </a:xfrm>
          <a:prstGeom prst="rect">
            <a:avLst/>
          </a:prstGeom>
          <a:solidFill>
            <a:srgbClr val="1F285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0">
            <a:schemeClr val="accent1"/>
          </a:effectRef>
          <a:fontRef idx="minor">
            <a:schemeClr val="lt1"/>
          </a:fontRef>
        </p:style>
        <p:txBody>
          <a:bodyPr wrap="square" lIns="72000" tIns="18000" rIns="72000" bIns="18000" rtlCol="0" anchor="ctr"/>
          <a:lstStyle/>
          <a:p>
            <a:pPr algn="ctr">
              <a:lnSpc>
                <a:spcPct val="110000"/>
              </a:lnSpc>
              <a:spcAft>
                <a:spcPts val="0"/>
              </a:spcAft>
            </a:pPr>
            <a:r>
              <a:rPr sz="1400" b="1">
                <a:solidFill>
                  <a:srgbClr val="FFFFFF"/>
                </a:solidFill>
                <a:latin typeface="メイリオ"/>
                <a:ea typeface="メイリオ"/>
                <a:cs typeface="メイリオ"/>
              </a:rPr>
              <a:t>サンクスLINE誘導ツールの導入後、友だち増加数が導入前比137.3%、前年比127.5%に改善。</a:t>
            </a:r>
          </a:p>
        </p:txBody>
      </p:sp>
      <p:sp>
        <p:nvSpPr>
          <p:cNvPr id="2" name="テキスト ボックス 1">
            <a:extLst>
              <a:ext uri="{FF2B5EF4-FFF2-40B4-BE49-F238E27FC236}">
                <a16:creationId xmlns:a16="http://schemas.microsoft.com/office/drawing/2014/main" id="{EE821B20-3372-85EB-4334-5055D2443F85}"/>
              </a:ext>
            </a:extLst>
          </p:cNvPr>
          <p:cNvSpPr txBox="1"/>
          <p:nvPr/>
        </p:nvSpPr>
        <p:spPr>
          <a:xfrm>
            <a:off x="429768" y="6053328"/>
            <a:ext cx="8778240" cy="457200"/>
          </a:xfrm>
          <a:prstGeom prst="rect">
            <a:avLst/>
          </a:prstGeom>
          <a:noFill/>
        </p:spPr>
        <p:txBody>
          <a:bodyPr wrap="none" rtlCol="0">
            <a:spAutoFit/>
          </a:bodyPr>
          <a:lstStyle/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※出典：人材業界｜株式会社DYM 社内集計（サンクスLINE誘導ツール導入前後3か月、2025年・2026年7〜9月の友だち増加数）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  <a:p>
            <a:r>
              <a:rPr lang="en-US" altLang="ja-JP" sz="900" dirty="0">
                <a:latin typeface="メイリオ" panose="020B0604030504040204" pitchFamily="50" charset="-128"/>
                <a:ea typeface="メイリオ" panose="020B0604030504040204" pitchFamily="50" charset="-128"/>
              </a:rPr>
              <a:t>※他社での実績であり、横浜シミズ様での効果を示すものではありません。</a:t>
            </a:r>
            <a:endParaRPr lang="en-US" altLang="ja-JP" sz="600" dirty="0">
              <a:latin typeface="メイリオ" panose="020B0604030504040204" pitchFamily="50" charset="-128"/>
              <a:ea typeface="メイリオ" panose="020B0604030504040204" pitchFamily="50" charset="-128"/>
            </a:endParaRPr>
          </a:p>
        </p:txBody>
      </p:sp>
      <p:sp>
        <p:nvSpPr>
          <p:cNvPr id="63" name="Rectangle 62"/>
          <p:cNvSpPr/>
          <p:nvPr/>
        </p:nvSpPr>
        <p:spPr>
          <a:xfrm>
            <a:off x="768096" y="1627632"/>
            <a:ext cx="3657600" cy="274320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横浜シミズでの活用イメージ</a:t>
            </a:r>
            <a:endParaRPr lang="ja-JP" altLang="en-US" sz="1200" dirty="0"/>
          </a:p>
        </p:txBody>
      </p:sp>
      <p:sp>
        <p:nvSpPr>
          <p:cNvPr id="64" name="Rectangle 63"/>
          <p:cNvSpPr/>
          <p:nvPr/>
        </p:nvSpPr>
        <p:spPr>
          <a:xfrm>
            <a:off x="86868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応募完了</a:t>
            </a:r>
            <a:endParaRPr lang="ja-JP" altLang="en-US" sz="1050" dirty="0"/>
          </a:p>
        </p:txBody>
      </p:sp>
      <p:sp>
        <p:nvSpPr>
          <p:cNvPr id="65" name="Rectangle 64"/>
          <p:cNvSpPr/>
          <p:nvPr/>
        </p:nvSpPr>
        <p:spPr>
          <a:xfrm>
            <a:off x="2560320" y="1965960"/>
            <a:ext cx="1389888" cy="512064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LINE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友だち追加</a:t>
            </a:r>
            <a:endParaRPr lang="ja-JP" altLang="en-US" sz="1050" dirty="0"/>
          </a:p>
        </p:txBody>
      </p:sp>
      <p:cxnSp>
        <p:nvCxnSpPr>
          <p:cNvPr id="66" name="Connector 65"/>
          <p:cNvCxnSpPr/>
          <p:nvPr/>
        </p:nvCxnSpPr>
        <p:spPr>
          <a:xfrm>
            <a:off x="229514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7" name="Rectangle 66"/>
          <p:cNvSpPr/>
          <p:nvPr/>
        </p:nvSpPr>
        <p:spPr>
          <a:xfrm>
            <a:off x="425196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面接・登録の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68" name="Connector 67"/>
          <p:cNvCxnSpPr/>
          <p:nvPr/>
        </p:nvCxnSpPr>
        <p:spPr>
          <a:xfrm>
            <a:off x="398678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69" name="Rectangle 68"/>
          <p:cNvSpPr/>
          <p:nvPr/>
        </p:nvSpPr>
        <p:spPr>
          <a:xfrm>
            <a:off x="594360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</a:t>
            </a:r>
            <a:endParaRPr lang="ja-JP" altLang="en-US" sz="1050" dirty="0"/>
          </a:p>
        </p:txBody>
      </p:sp>
      <p:cxnSp>
        <p:nvCxnSpPr>
          <p:cNvPr id="70" name="Connector 69"/>
          <p:cNvCxnSpPr/>
          <p:nvPr/>
        </p:nvCxnSpPr>
        <p:spPr>
          <a:xfrm>
            <a:off x="5678424" y="2221992"/>
            <a:ext cx="228600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1" name="Rectangle 70"/>
          <p:cNvSpPr/>
          <p:nvPr/>
        </p:nvSpPr>
        <p:spPr>
          <a:xfrm>
            <a:off x="7635240" y="1965960"/>
            <a:ext cx="1389888" cy="512064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27432" tIns="0" rIns="27432" bIns="0" rtlCol="0" anchor="ctr">
            <a:noAutofit/>
          </a:bodyPr>
          <a:lstStyle/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</a:t>
            </a:r>
            <a:endParaRPr lang="ja-JP" altLang="en-US" sz="1050" dirty="0"/>
          </a:p>
          <a:p>
            <a:pPr algn="ctr">
              <a:buNone/>
            </a:pPr>
            <a:r>
              <a:rPr lang="ja-JP" altLang="en-US" sz="10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</a:t>
            </a:r>
            <a:endParaRPr lang="ja-JP" altLang="en-US" sz="1050" dirty="0"/>
          </a:p>
        </p:txBody>
      </p:sp>
      <p:cxnSp>
        <p:nvCxnSpPr>
          <p:cNvPr id="72" name="Connector 71"/>
          <p:cNvCxnSpPr/>
          <p:nvPr/>
        </p:nvCxnSpPr>
        <p:spPr>
          <a:xfrm>
            <a:off x="7370063" y="2221992"/>
            <a:ext cx="228601" cy="0"/>
          </a:xfrm>
          <a:prstGeom prst="line">
            <a:avLst/>
          </a:prstGeom>
          <a:ln w="19050">
            <a:solidFill>
              <a:srgbClr val="1E2761"/>
            </a:solidFill>
            <a:tailEnd type="triangle" w="med" len="med"/>
          </a:ln>
        </p:spPr>
      </p:cxnSp>
      <p:sp>
        <p:nvSpPr>
          <p:cNvPr id="73" name="Rectangle 72"/>
          <p:cNvSpPr/>
          <p:nvPr/>
        </p:nvSpPr>
        <p:spPr>
          <a:xfrm>
            <a:off x="868680" y="2542032"/>
            <a:ext cx="8229600" cy="329184"/>
          </a:xfrm>
          <a:prstGeom prst="rect">
            <a:avLst/>
          </a:prstGeom>
          <a:noFill/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l"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応募の直後から、面接・勤務の案内と次の募集を同じLINEでお届けします。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2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施策②｜勤務連絡・管理：勤務に必要な情報をLINEで届ける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集合場所・時間・持ち物・服装・注意事項を、勤務の前にLINEでお届けします。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「LINEを追加すると、勤務に必要な情報が届く」ことが、友だちでいる理由になります。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届く理由があるから友だちが残り、残るから次の募集が届く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勤務の前にお届けする情報</a:t>
            </a:r>
            <a:endParaRPr lang="ja-JP" altLang="en-US" sz="1150" dirty="0"/>
          </a:p>
        </p:txBody>
      </p:sp>
      <p:sp>
        <p:nvSpPr>
          <p:cNvPr id="23" name="Rounded Rectangle 22"/>
          <p:cNvSpPr/>
          <p:nvPr/>
        </p:nvSpPr>
        <p:spPr>
          <a:xfrm>
            <a:off x="429768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勤務が決まったら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会場・集合場所・集合時間・持ち物・服装</a:t>
            </a:r>
            <a:endParaRPr lang="ja-JP" altLang="en-US" sz="1100" dirty="0"/>
          </a:p>
        </p:txBody>
      </p:sp>
      <p:sp>
        <p:nvSpPr>
          <p:cNvPr id="24" name="Rounded Rectangle 23"/>
          <p:cNvSpPr/>
          <p:nvPr/>
        </p:nvSpPr>
        <p:spPr>
          <a:xfrm>
            <a:off x="429768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勤務の前日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リマインド（集合時間・持ち物・天候による変更など）</a:t>
            </a:r>
            <a:endParaRPr lang="ja-JP" altLang="en-US" sz="1100" dirty="0"/>
          </a:p>
        </p:txBody>
      </p:sp>
      <p:sp>
        <p:nvSpPr>
          <p:cNvPr id="25" name="Rounded Rectangle 24"/>
          <p:cNvSpPr/>
          <p:nvPr/>
        </p:nvSpPr>
        <p:spPr>
          <a:xfrm>
            <a:off x="429768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勤務の当日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注意事項・当日の連絡先</a:t>
            </a:r>
            <a:endParaRPr lang="ja-JP" altLang="en-US" sz="11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届け方（運用に合わせて選びます）</a:t>
            </a:r>
            <a:endParaRPr lang="ja-JP" altLang="en-US" sz="1150" dirty="0"/>
          </a:p>
        </p:txBody>
      </p:sp>
      <p:sp>
        <p:nvSpPr>
          <p:cNvPr id="27" name="Rounded Rectangle 26"/>
          <p:cNvSpPr/>
          <p:nvPr/>
        </p:nvSpPr>
        <p:spPr>
          <a:xfrm>
            <a:off x="3511296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一斉案内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同じイベントに勤務する方へ、まとめて案内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3511296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タグで対象者別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会場・業務ごとに、対象の方だけに案内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3511296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個別連絡（チャット）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勤務の変更・欠席・質問など、1対1のやり取り</a:t>
            </a:r>
            <a:endParaRPr lang="ja-JP" altLang="en-US" sz="1100" dirty="0"/>
          </a:p>
        </p:txBody>
      </p:sp>
      <p:sp>
        <p:nvSpPr>
          <p:cNvPr id="30" name="Rounded Rectangle 29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期待できること</a:t>
            </a:r>
            <a:endParaRPr lang="ja-JP" altLang="en-US" sz="115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810512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スタッフの皆さま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必要な情報をLINEで見返せる。通知で気づける。質問しやすい</a:t>
            </a:r>
            <a:endParaRPr lang="ja-JP" altLang="en-US" sz="1100" dirty="0"/>
          </a:p>
        </p:txBody>
      </p:sp>
      <p:sp>
        <p:nvSpPr>
          <p:cNvPr id="32" name="Rounded Rectangle 31"/>
          <p:cNvSpPr/>
          <p:nvPr/>
        </p:nvSpPr>
        <p:spPr>
          <a:xfrm>
            <a:off x="6592824" y="2834640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一斉に送れる。案内の型をつくり、毎回の作成の手間を減らす</a:t>
            </a:r>
            <a:endParaRPr lang="ja-JP" altLang="en-US" sz="1100" dirty="0"/>
          </a:p>
        </p:txBody>
      </p:sp>
      <p:sp>
        <p:nvSpPr>
          <p:cNvPr id="33" name="Rounded Rectangle 32"/>
          <p:cNvSpPr/>
          <p:nvPr/>
        </p:nvSpPr>
        <p:spPr>
          <a:xfrm>
            <a:off x="6592824" y="3858768"/>
            <a:ext cx="2880360" cy="91440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横浜シミズ様（管理側）</a:t>
            </a:r>
            <a:endParaRPr lang="ja-JP" altLang="en-US" sz="11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電話・メールでの個別の確認を減らせる（期待効果）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429768" y="4919472"/>
            <a:ext cx="9043416" cy="54864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※勤務の予定とLINEの自動連携は前提にしていません。一斉案内・タグ・個別連絡の組み合わせで始め、自動連携が必要な場合は別途確認します。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2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施策③｜再応募・再稼働：希望に合う募集だけを届ける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エリア・会場・業務・曜日などをタグで管理し、対象を絞ってイベントの募集をお届けします。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合わない募集が届かないので、ブロックを抑え、配信の手間も減らせます。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取れる情報から始めて、配信のたびに絞り込みの精度を上げる</a:t>
            </a:r>
            <a:endParaRPr lang="ja-JP" altLang="en-US" sz="1300" dirty="0"/>
          </a:p>
        </p:txBody>
      </p:sp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1371600"/>
          <a:ext cx="4937760" cy="3072384"/>
        </p:xfrm>
        <a:graphic>
          <a:graphicData uri="http://schemas.openxmlformats.org/drawingml/2006/table">
            <a:tbl>
              <a:tblPr/>
              <a:tblGrid>
                <a:gridCol w="1143000"/>
                <a:gridCol w="2240280"/>
                <a:gridCol w="1554480"/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タグ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例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取り方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エリア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神奈川（横浜・川崎・湘南など）／静岡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追加後の質問（選択式）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会場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日産スタジアム・横浜アリーナ・横浜スタジアムなど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追加後の質問・勤務の案内時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業務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案内・誘導／販売／警備／設営・撤去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曜日・時間帯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土日祝／平日／夜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追加後の質問・メニューで変更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548640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勤務の有無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勤務あり／まだ勤務なし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勤務の案内を送った方に付ける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  <p:sp>
        <p:nvSpPr>
          <p:cNvPr id="23" name="Rectangle 22"/>
          <p:cNvSpPr/>
          <p:nvPr/>
        </p:nvSpPr>
        <p:spPr>
          <a:xfrm>
            <a:off x="429768" y="4526280"/>
            <a:ext cx="4937760" cy="9144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※取れる情報から、段階的にタグを付けます。最初から高度なシステム連携は前提にしません。</a:t>
            </a:r>
            <a:endParaRPr lang="ja-JP" altLang="en-US" sz="100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※勤務の履歴・希望条件をいまどこで管理しているかは確認事項です。</a:t>
            </a:r>
            <a:endParaRPr lang="ja-JP" altLang="en-US" sz="1000" dirty="0"/>
          </a:p>
        </p:txBody>
      </p:sp>
      <p:sp>
        <p:nvSpPr>
          <p:cNvPr id="24" name="Rounded Rectangle 23"/>
          <p:cNvSpPr/>
          <p:nvPr/>
        </p:nvSpPr>
        <p:spPr>
          <a:xfrm>
            <a:off x="5596128" y="1371600"/>
            <a:ext cx="38770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配信の出し分けの例</a:t>
            </a:r>
            <a:endParaRPr lang="ja-JP" altLang="en-US" sz="1150" dirty="0"/>
          </a:p>
        </p:txBody>
      </p:sp>
      <p:sp>
        <p:nvSpPr>
          <p:cNvPr id="25" name="Rectangle 24"/>
          <p:cNvSpPr/>
          <p:nvPr/>
        </p:nvSpPr>
        <p:spPr>
          <a:xfrm>
            <a:off x="5596128" y="1828800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横浜エリアを希望</a:t>
            </a:r>
            <a:endParaRPr lang="ja-JP" altLang="en-US" sz="1100" dirty="0"/>
          </a:p>
        </p:txBody>
      </p:sp>
      <p:cxnSp>
        <p:nvCxnSpPr>
          <p:cNvPr id="26" name="Connector 25"/>
          <p:cNvCxnSpPr/>
          <p:nvPr/>
        </p:nvCxnSpPr>
        <p:spPr>
          <a:xfrm>
            <a:off x="7242048" y="2130552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27" name="Rounded Rectangle 26"/>
          <p:cNvSpPr/>
          <p:nvPr/>
        </p:nvSpPr>
        <p:spPr>
          <a:xfrm>
            <a:off x="7580375" y="1828800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横浜周辺のイベントの募集</a:t>
            </a:r>
            <a:endParaRPr lang="ja-JP" altLang="en-US" sz="1100" dirty="0"/>
          </a:p>
        </p:txBody>
      </p:sp>
      <p:sp>
        <p:nvSpPr>
          <p:cNvPr id="28" name="Rectangle 27"/>
          <p:cNvSpPr/>
          <p:nvPr/>
        </p:nvSpPr>
        <p:spPr>
          <a:xfrm>
            <a:off x="5596128" y="2615184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特定の会場に関心</a:t>
            </a:r>
            <a:endParaRPr lang="ja-JP" altLang="en-US" sz="1100" dirty="0"/>
          </a:p>
        </p:txBody>
      </p:sp>
      <p:cxnSp>
        <p:nvCxnSpPr>
          <p:cNvPr id="29" name="Connector 28"/>
          <p:cNvCxnSpPr/>
          <p:nvPr/>
        </p:nvCxnSpPr>
        <p:spPr>
          <a:xfrm>
            <a:off x="7242048" y="2916936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0" name="Rounded Rectangle 29"/>
          <p:cNvSpPr/>
          <p:nvPr/>
        </p:nvSpPr>
        <p:spPr>
          <a:xfrm>
            <a:off x="7580375" y="2615184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その会場のイベントの募集</a:t>
            </a:r>
            <a:endParaRPr lang="ja-JP" altLang="en-US" sz="1100" dirty="0"/>
          </a:p>
        </p:txBody>
      </p:sp>
      <p:sp>
        <p:nvSpPr>
          <p:cNvPr id="31" name="Rectangle 30"/>
          <p:cNvSpPr/>
          <p:nvPr/>
        </p:nvSpPr>
        <p:spPr>
          <a:xfrm>
            <a:off x="5596128" y="3401568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土日に勤務したい</a:t>
            </a:r>
            <a:endParaRPr lang="ja-JP" altLang="en-US" sz="1100" dirty="0"/>
          </a:p>
        </p:txBody>
      </p:sp>
      <p:cxnSp>
        <p:nvCxnSpPr>
          <p:cNvPr id="32" name="Connector 31"/>
          <p:cNvCxnSpPr/>
          <p:nvPr/>
        </p:nvCxnSpPr>
        <p:spPr>
          <a:xfrm>
            <a:off x="7242048" y="3703320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3" name="Rounded Rectangle 32"/>
          <p:cNvSpPr/>
          <p:nvPr/>
        </p:nvSpPr>
        <p:spPr>
          <a:xfrm>
            <a:off x="7580375" y="3401568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休日のイベントの募集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5596128" y="4187952"/>
            <a:ext cx="1600200" cy="603504"/>
          </a:xfrm>
          <a:prstGeom prst="rect">
            <a:avLst/>
          </a:prstGeom>
          <a:solidFill>
            <a:srgbClr val="EEF2F9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一度勤務した方</a:t>
            </a:r>
            <a:endParaRPr lang="ja-JP" altLang="en-US" sz="1100" dirty="0"/>
          </a:p>
        </p:txBody>
      </p:sp>
      <p:cxnSp>
        <p:nvCxnSpPr>
          <p:cNvPr id="35" name="Connector 34"/>
          <p:cNvCxnSpPr/>
          <p:nvPr/>
        </p:nvCxnSpPr>
        <p:spPr>
          <a:xfrm>
            <a:off x="7242048" y="4489704"/>
            <a:ext cx="292608" cy="0"/>
          </a:xfrm>
          <a:prstGeom prst="line">
            <a:avLst/>
          </a:prstGeom>
          <a:ln w="22225">
            <a:solidFill>
              <a:srgbClr val="1E2761"/>
            </a:solidFill>
            <a:tailEnd type="triangle" w="med" len="med"/>
          </a:ln>
        </p:spPr>
      </p:cxnSp>
      <p:sp>
        <p:nvSpPr>
          <p:cNvPr id="36" name="Rounded Rectangle 35"/>
          <p:cNvSpPr/>
          <p:nvPr/>
        </p:nvSpPr>
        <p:spPr>
          <a:xfrm>
            <a:off x="7580375" y="4187952"/>
            <a:ext cx="1892808" cy="603504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次回の募集を先にご案内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5596128" y="4983480"/>
            <a:ext cx="3877056" cy="457200"/>
          </a:xfrm>
          <a:prstGeom prst="rect">
            <a:avLst/>
          </a:prstGeom>
          <a:noFill/>
          <a:ln>
            <a:noFill/>
          </a:ln>
        </p:spPr>
        <p:txBody>
          <a:bodyPr wrap="square" lIns="18288" tIns="18288" rIns="18288" bIns="0" rtlCol="0" anchor="t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※配信設計の例です。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2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配信イメージ｜勤務前の案内・次回の募集・リッチメニュー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横浜シミズ向けの配信の文面と、リッチメニューの構成案です。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文面・項目は例です。運用を始める前にすり合わせて確定します。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勤務に必要な情報と次の募集が、同じLINEに届く</a:t>
            </a:r>
            <a:endParaRPr lang="ja-JP" altLang="en-US" sz="1300" dirty="0"/>
          </a:p>
        </p:txBody>
      </p:sp>
      <p:sp>
        <p:nvSpPr>
          <p:cNvPr id="22" name="Rounded Rectangle 21"/>
          <p:cNvSpPr/>
          <p:nvPr/>
        </p:nvSpPr>
        <p:spPr>
          <a:xfrm>
            <a:off x="429768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勤務前の案内（前日）</a:t>
            </a:r>
            <a:endParaRPr lang="ja-JP" altLang="en-US" sz="1150" dirty="0"/>
          </a:p>
        </p:txBody>
      </p:sp>
      <p:sp>
        <p:nvSpPr>
          <p:cNvPr id="23" name="Rectangle 22"/>
          <p:cNvSpPr/>
          <p:nvPr/>
        </p:nvSpPr>
        <p:spPr>
          <a:xfrm>
            <a:off x="429768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4" name="Rounded Rectangle 23"/>
          <p:cNvSpPr/>
          <p:nvPr/>
        </p:nvSpPr>
        <p:spPr>
          <a:xfrm>
            <a:off x="594359" y="1920240"/>
            <a:ext cx="2551176" cy="29260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【明日の勤務のご案内】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〇月〇日（〇）〇〇スタジアム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集合：〇〇:〇〇　〇〇ゲート前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持ち物：〇〇・〇〇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服装：〇〇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遅れる場合・体調がすぐれないときは、このLINEでご連絡ください。</a:t>
            </a:r>
            <a:endParaRPr lang="ja-JP" altLang="en-US" sz="1050" dirty="0"/>
          </a:p>
        </p:txBody>
      </p:sp>
      <p:sp>
        <p:nvSpPr>
          <p:cNvPr id="25" name="Rectangle 24"/>
          <p:cNvSpPr/>
          <p:nvPr/>
        </p:nvSpPr>
        <p:spPr>
          <a:xfrm>
            <a:off x="429768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対象：そのイベントに勤務する方（タグ）</a:t>
            </a:r>
            <a:endParaRPr lang="ja-JP" altLang="en-US" sz="1000" dirty="0"/>
          </a:p>
        </p:txBody>
      </p:sp>
      <p:sp>
        <p:nvSpPr>
          <p:cNvPr id="26" name="Rounded Rectangle 25"/>
          <p:cNvSpPr/>
          <p:nvPr/>
        </p:nvSpPr>
        <p:spPr>
          <a:xfrm>
            <a:off x="3511296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次回イベントの募集</a:t>
            </a:r>
            <a:endParaRPr lang="ja-JP" altLang="en-US" sz="1150" dirty="0"/>
          </a:p>
        </p:txBody>
      </p:sp>
      <p:sp>
        <p:nvSpPr>
          <p:cNvPr id="27" name="Rectangle 26"/>
          <p:cNvSpPr/>
          <p:nvPr/>
        </p:nvSpPr>
        <p:spPr>
          <a:xfrm>
            <a:off x="3511296" y="1783080"/>
            <a:ext cx="2880360" cy="3246120"/>
          </a:xfrm>
          <a:prstGeom prst="rect">
            <a:avLst/>
          </a:prstGeom>
          <a:solidFill>
            <a:srgbClr val="D8E2F1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28" name="Rounded Rectangle 27"/>
          <p:cNvSpPr/>
          <p:nvPr/>
        </p:nvSpPr>
        <p:spPr>
          <a:xfrm>
            <a:off x="3675888" y="1920240"/>
            <a:ext cx="2551176" cy="233172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>
            <a:noFill/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0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【スタッフ募集｜横浜アリーナ】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〇月〇日（〇）〇〇時〜〇〇時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案内・誘導スタッフ　時給〇〇円〜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前回のご勤務、ありがとうございました。次のイベントもお待ちしています。</a:t>
            </a:r>
            <a:endParaRPr lang="ja-JP" altLang="en-US" sz="1050" dirty="0"/>
          </a:p>
        </p:txBody>
      </p:sp>
      <p:sp>
        <p:nvSpPr>
          <p:cNvPr id="29" name="Rectangle 28"/>
          <p:cNvSpPr/>
          <p:nvPr/>
        </p:nvSpPr>
        <p:spPr>
          <a:xfrm>
            <a:off x="3831336" y="4343400"/>
            <a:ext cx="2240280" cy="411480"/>
          </a:xfrm>
          <a:prstGeom prst="rect">
            <a:avLst/>
          </a:prstGeom>
          <a:solidFill>
            <a:srgbClr val="06C755"/>
          </a:solidFill>
          <a:ln>
            <a:noFill/>
          </a:ln>
        </p:spPr>
        <p:txBody>
          <a:bodyPr wrap="square" lIns="0" tIns="0" rIns="0" bIns="0" rtlCol="0" anchor="ctr">
            <a:noAutofit/>
          </a:bodyPr>
          <a:lstStyle/>
          <a:p>
            <a:pPr algn="ctr">
              <a:buNone/>
            </a:pPr>
            <a:r>
              <a:rPr lang="ja-JP" altLang="en-US" sz="11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募集の詳細を見る</a:t>
            </a:r>
            <a:endParaRPr lang="ja-JP" altLang="en-US" sz="1100" dirty="0"/>
          </a:p>
        </p:txBody>
      </p:sp>
      <p:sp>
        <p:nvSpPr>
          <p:cNvPr id="30" name="Rectangle 29"/>
          <p:cNvSpPr/>
          <p:nvPr/>
        </p:nvSpPr>
        <p:spPr>
          <a:xfrm>
            <a:off x="3511296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対象：横浜エリア・土日希望・勤務ありの方</a:t>
            </a:r>
            <a:endParaRPr lang="ja-JP" altLang="en-US" sz="1000" dirty="0"/>
          </a:p>
        </p:txBody>
      </p:sp>
      <p:sp>
        <p:nvSpPr>
          <p:cNvPr id="31" name="Rounded Rectangle 30"/>
          <p:cNvSpPr/>
          <p:nvPr/>
        </p:nvSpPr>
        <p:spPr>
          <a:xfrm>
            <a:off x="6592824" y="1371600"/>
            <a:ext cx="2880360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リッチメニュー（構成案）</a:t>
            </a:r>
            <a:endParaRPr lang="ja-JP" altLang="en-US" sz="1150" dirty="0"/>
          </a:p>
        </p:txBody>
      </p:sp>
      <p:sp>
        <p:nvSpPr>
          <p:cNvPr id="32" name="Rectangle 31"/>
          <p:cNvSpPr/>
          <p:nvPr/>
        </p:nvSpPr>
        <p:spPr>
          <a:xfrm>
            <a:off x="6592824" y="1783080"/>
            <a:ext cx="2880360" cy="3246120"/>
          </a:xfrm>
          <a:prstGeom prst="rect">
            <a:avLst/>
          </a:prstGeom>
          <a:solidFill>
            <a:srgbClr val="F2F2F2"/>
          </a:solidFill>
          <a:ln>
            <a:noFill/>
          </a:ln>
        </p:spPr>
        <p:txBody>
          <a:bodyPr wrap="square" lIns="73152" tIns="36576" rIns="73152" bIns="36576" rtlCol="0" anchor="ctr">
            <a:noAutofit/>
          </a:bodyPr>
          <a:lstStyle/>
          <a:p>
            <a:pPr algn="l">
              <a:buNone/>
            </a:pPr>
            <a:endParaRPr lang="ja-JP" altLang="en-US" sz="1200" dirty="0"/>
          </a:p>
        </p:txBody>
      </p:sp>
      <p:sp>
        <p:nvSpPr>
          <p:cNvPr id="33" name="Rectangle 32"/>
          <p:cNvSpPr/>
          <p:nvPr/>
        </p:nvSpPr>
        <p:spPr>
          <a:xfrm>
            <a:off x="6684264" y="1920240"/>
            <a:ext cx="1303020" cy="914400"/>
          </a:xfrm>
          <a:prstGeom prst="rect">
            <a:avLst/>
          </a:prstGeom>
          <a:solidFill>
            <a:srgbClr val="1E2761"/>
          </a:solidFill>
          <a:ln>
            <a:noFill/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仕事を探す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募集中のイベント</a:t>
            </a:r>
            <a:endParaRPr lang="ja-JP" altLang="en-US" sz="1100" dirty="0"/>
          </a:p>
        </p:txBody>
      </p:sp>
      <p:sp>
        <p:nvSpPr>
          <p:cNvPr id="34" name="Rectangle 33"/>
          <p:cNvSpPr/>
          <p:nvPr/>
        </p:nvSpPr>
        <p:spPr>
          <a:xfrm>
            <a:off x="8078724" y="192024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勤務の案内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集合・持ち物</a:t>
            </a:r>
            <a:endParaRPr lang="ja-JP" altLang="en-US" sz="1100" dirty="0"/>
          </a:p>
        </p:txBody>
      </p:sp>
      <p:sp>
        <p:nvSpPr>
          <p:cNvPr id="35" name="Rectangle 34"/>
          <p:cNvSpPr/>
          <p:nvPr/>
        </p:nvSpPr>
        <p:spPr>
          <a:xfrm>
            <a:off x="6684264" y="292608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希望条件を変える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エリア・曜日</a:t>
            </a:r>
            <a:endParaRPr lang="ja-JP" altLang="en-US" sz="1100" dirty="0"/>
          </a:p>
        </p:txBody>
      </p:sp>
      <p:sp>
        <p:nvSpPr>
          <p:cNvPr id="36" name="Rectangle 35"/>
          <p:cNvSpPr/>
          <p:nvPr/>
        </p:nvSpPr>
        <p:spPr>
          <a:xfrm>
            <a:off x="8078724" y="292608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よくある質問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給与・服装など</a:t>
            </a:r>
            <a:endParaRPr lang="ja-JP" altLang="en-US" sz="1100" dirty="0"/>
          </a:p>
        </p:txBody>
      </p:sp>
      <p:sp>
        <p:nvSpPr>
          <p:cNvPr id="37" name="Rectangle 36"/>
          <p:cNvSpPr/>
          <p:nvPr/>
        </p:nvSpPr>
        <p:spPr>
          <a:xfrm>
            <a:off x="6684264" y="393192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お問い合わせ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チャットで相談</a:t>
            </a:r>
            <a:endParaRPr lang="ja-JP" altLang="en-US" sz="1100" dirty="0"/>
          </a:p>
        </p:txBody>
      </p:sp>
      <p:sp>
        <p:nvSpPr>
          <p:cNvPr id="38" name="Rectangle 37"/>
          <p:cNvSpPr/>
          <p:nvPr/>
        </p:nvSpPr>
        <p:spPr>
          <a:xfrm>
            <a:off x="8078724" y="3931920"/>
            <a:ext cx="1303020" cy="914400"/>
          </a:xfrm>
          <a:prstGeom prst="rect">
            <a:avLst/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36576" tIns="18288" rIns="36576" bIns="18288" rtlCol="0" anchor="ctr">
            <a:noAutofit/>
          </a:bodyPr>
          <a:lstStyle/>
          <a:p>
            <a:pPr algn="ctr">
              <a:spcAft>
                <a:spcPts val="1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横浜シミズとは</a:t>
            </a:r>
            <a:endParaRPr lang="ja-JP" altLang="en-US" sz="1100" dirty="0"/>
          </a:p>
          <a:p>
            <a:pPr algn="ctr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会社・現場の紹介</a:t>
            </a:r>
            <a:endParaRPr lang="ja-JP" altLang="en-US" sz="1100" dirty="0"/>
          </a:p>
        </p:txBody>
      </p:sp>
      <p:sp>
        <p:nvSpPr>
          <p:cNvPr id="39" name="Rectangle 38"/>
          <p:cNvSpPr/>
          <p:nvPr/>
        </p:nvSpPr>
        <p:spPr>
          <a:xfrm>
            <a:off x="6592824" y="5074920"/>
            <a:ext cx="2880360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100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一番押してほしい「仕事を探す」を左上に</a:t>
            </a:r>
            <a:endParaRPr lang="ja-JP" altLang="en-US" sz="1000" dirty="0"/>
          </a:p>
        </p:txBody>
      </p:sp>
    </p:spTree>
  </p:cSld>
  <p:clrMapOvr>
    <a:masterClrMapping/>
  </p:clrMapOvr>
</p:sld>
</file>

<file path=ppt/slides/slide2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目標・6か月SIM｜友だち獲得から再応募・再稼働まで（試算）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サイトUU 8,947を月間と仮置きし、仮定の率から6か月の見込みを試算しました。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応募数と各率は仮定です。実数をいただいたら置き換えて試算し直します。</a:t>
            </a:r>
          </a:p>
        </p:txBody>
      </p:sp>
      <p:graphicFrame>
        <p:nvGraphicFramePr>
          <p:cNvPr id="4" name="表 3"/>
          <p:cNvGraphicFramePr>
            <a:graphicFrameLocks noGrp="1"/>
          </p:cNvGraphicFramePr>
          <p:nvPr/>
        </p:nvGraphicFramePr>
        <p:xfrm>
          <a:off x="429768" y="1371600"/>
          <a:ext cx="9043416" cy="2633472"/>
        </p:xfrm>
        <a:graphic>
          <a:graphicData uri="http://schemas.openxmlformats.org/drawingml/2006/table">
            <a:tbl>
              <a:tblPr/>
              <a:tblGrid>
                <a:gridCol w="1600200"/>
                <a:gridCol w="2395728"/>
                <a:gridCol w="676656"/>
                <a:gridCol w="676656"/>
                <a:gridCol w="676656"/>
                <a:gridCol w="676656"/>
                <a:gridCol w="676656"/>
                <a:gridCol w="676656"/>
                <a:gridCol w="987552"/>
              </a:tblGrid>
              <a:tr h="329184"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項目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計算（仮定）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1か月目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2か月目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3か月目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4か月目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5か月目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6か月目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6か月計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新規応募数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UU × 応募率 1.0%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89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89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89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89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89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89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534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LINE友だち追加数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応募 × 追加率 32%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28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28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28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28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28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28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168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累計の友だち数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前月 ＋ 友だち追加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28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56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112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140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168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—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配信できるスタッフ数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累計 ×（1 − ブロック率 30%）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20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39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59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78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98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118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—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5F6FA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再応募件数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前月の配信できる数 × 10%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0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8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10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30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再稼働人数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00" b="0" dirty="0">
                          <a:solidFill>
                            <a:srgbClr val="595959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再応募 × 勤務決定率 70%</a:t>
                      </a:r>
                      <a:endParaRPr lang="ja-JP" altLang="en-US" sz="10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0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4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0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6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7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21</a:t>
                      </a:r>
                      <a:endParaRPr lang="ja-JP" altLang="en-US" sz="11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</a:tbl>
          </a:graphicData>
        </a:graphic>
      </p:graphicFrame>
      <p:sp>
        <p:nvSpPr>
          <p:cNvPr id="5" name="Rounded Rectangle 4"/>
          <p:cNvSpPr/>
          <p:nvPr/>
        </p:nvSpPr>
        <p:spPr>
          <a:xfrm>
            <a:off x="429768" y="4160520"/>
            <a:ext cx="2923032" cy="1389888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91440" tIns="45720" rIns="54864" bIns="27432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いただいている数値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・サイトUU 8,947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※集計期間は未確認のため、月間と仮置き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※応募数・広告の状況は未確認</a:t>
            </a:r>
            <a:endParaRPr lang="ja-JP" altLang="en-US" sz="950" dirty="0"/>
          </a:p>
        </p:txBody>
      </p:sp>
      <p:sp>
        <p:nvSpPr>
          <p:cNvPr id="6" name="Rounded Rectangle 5"/>
          <p:cNvSpPr/>
          <p:nvPr/>
        </p:nvSpPr>
        <p:spPr>
          <a:xfrm>
            <a:off x="3489960" y="4160520"/>
            <a:ext cx="2923032" cy="138988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91440" tIns="45720" rIns="54864" bIns="27432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仮定（DYMが設定）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・応募率 1.0%（UU→応募）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・友だち追加率 32%（遷移80%×追加40%）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・ブロック率 30%／再応募率 月10%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・勤務決定率 70%</a:t>
            </a:r>
            <a:endParaRPr lang="ja-JP" altLang="en-US" sz="950" dirty="0"/>
          </a:p>
        </p:txBody>
      </p:sp>
      <p:sp>
        <p:nvSpPr>
          <p:cNvPr id="7" name="Rounded Rectangle 6"/>
          <p:cNvSpPr/>
          <p:nvPr/>
        </p:nvSpPr>
        <p:spPr>
          <a:xfrm>
            <a:off x="6550152" y="4160520"/>
            <a:ext cx="2923032" cy="1389888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91440" tIns="45720" rIns="54864" bIns="27432" rtlCol="0" anchor="t">
            <a:noAutofit/>
          </a:bodyPr>
          <a:lstStyle/>
          <a:p>
            <a:pPr algn="l">
              <a:spcAft>
                <a:spcPts val="1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試算に含めていないもの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・今いる登録スタッフの友だち追加（人数未確認）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・求人媒体経由の応募（同じ完了画面なら増える）</a:t>
            </a:r>
            <a:endParaRPr lang="ja-JP" altLang="en-US" sz="950" dirty="0"/>
          </a:p>
          <a:p>
            <a:pPr algn="l">
              <a:spcAft>
                <a:spcPts val="100"/>
              </a:spcAft>
              <a:buNone/>
            </a:pPr>
            <a:r>
              <a:rPr lang="ja-JP" altLang="en-US" sz="9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・勤務連絡の効率化（時間の削減は数値化しない）</a:t>
            </a:r>
            <a:endParaRPr lang="ja-JP" altLang="en-US" sz="950" dirty="0"/>
          </a:p>
        </p:txBody>
      </p:sp>
      <p:sp>
        <p:nvSpPr>
          <p:cNvPr id="8" name="Rectangle 7"/>
          <p:cNvSpPr/>
          <p:nvPr/>
        </p:nvSpPr>
        <p:spPr>
          <a:xfrm>
            <a:off x="429768" y="5623560"/>
            <a:ext cx="9043416" cy="365760"/>
          </a:xfrm>
          <a:prstGeom prst="rect">
            <a:avLst/>
          </a:prstGeom>
          <a:noFill/>
          <a:ln>
            <a:noFill/>
          </a:ln>
        </p:spPr>
        <p:txBody>
          <a:bodyPr wrap="square" lIns="18288" tIns="0" rIns="18288" bIns="0" rtlCol="0" anchor="ctr">
            <a:noAutofit/>
          </a:bodyPr>
          <a:lstStyle/>
          <a:p>
            <a:pPr algn="l">
              <a:buNone/>
            </a:pPr>
            <a:r>
              <a:rPr lang="ja-JP" altLang="en-US" sz="9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※試算であり、成果を保証するものではありません。広告経由と自然流入は区別していません。人数・件数は小数点以下を四捨五入しています。</a:t>
            </a:r>
            <a:endParaRPr lang="ja-JP" altLang="en-US" sz="950" dirty="0"/>
          </a:p>
        </p:txBody>
      </p:sp>
    </p:spTree>
  </p:cSld>
  <p:clrMapOvr>
    <a:masterClrMapping/>
  </p:clrMapOvr>
</p:sld>
</file>

<file path=ppt/slides/slide2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運用プラン・費用｜月額20万円以内（ツール費込み）で運用します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月額はツール費を含めて13.5万円〜（税抜）。想定予算の月額20万円以内に収めています。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初期費用は月額とは別にお見積りします（6か月〜のご契約）。</a:t>
            </a:r>
          </a:p>
        </p:txBody>
      </p:sp>
      <p:sp>
        <p:nvSpPr>
          <p:cNvPr id="20" name="TextBox 19"/>
          <p:cNvSpPr txBox="1"/>
          <p:nvPr/>
        </p:nvSpPr>
        <p:spPr>
          <a:xfrm>
            <a:off x="432000" y="6089904"/>
            <a:ext cx="9043200" cy="4572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900" b="0">
                <a:solidFill>
                  <a:srgbClr val="888888"/>
                </a:solidFill>
                <a:latin typeface="メイリオ"/>
                <a:ea typeface="メイリオ"/>
                <a:cs typeface="メイリオ"/>
              </a:rPr>
              <a:t>※税抜。施策内容・配信本数・連携範囲により、費用は個別にお見積りします。LINE公式アカウントの利用料は配信数により変わります。</a:t>
            </a:r>
          </a:p>
        </p:txBody>
      </p:sp>
      <p:graphicFrame>
        <p:nvGraphicFramePr>
          <p:cNvPr id="21" name="表 20"/>
          <p:cNvGraphicFramePr>
            <a:graphicFrameLocks noGrp="1"/>
          </p:cNvGraphicFramePr>
          <p:nvPr/>
        </p:nvGraphicFramePr>
        <p:xfrm>
          <a:off x="429768" y="1371600"/>
          <a:ext cx="4709160" cy="2084832"/>
        </p:xfrm>
        <a:graphic>
          <a:graphicData uri="http://schemas.openxmlformats.org/drawingml/2006/table">
            <a:tbl>
              <a:tblPr/>
              <a:tblGrid>
                <a:gridCol w="3474720"/>
                <a:gridCol w="1234440"/>
              </a:tblGrid>
              <a:tr h="329184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月額費用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金額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1E2761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DYMの運用費（運用代行・効率改善プラン／月6本の配信）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10万円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サンクスLINE誘導（ツール費）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3万円〜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LINE公式アカウント利用料（ライトプラン想定）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5,000円〜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45720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合計（予算：月額20万円以内）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4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13.5万円〜</a:t>
                      </a:r>
                      <a:endParaRPr lang="ja-JP" altLang="en-US" sz="14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4E9F2"/>
                    </a:solidFill>
                  </a:tcPr>
                </a:tc>
              </a:tr>
            </a:tbl>
          </a:graphicData>
        </a:graphic>
      </p:graphicFrame>
      <p:graphicFrame>
        <p:nvGraphicFramePr>
          <p:cNvPr id="22" name="表 21"/>
          <p:cNvGraphicFramePr>
            <a:graphicFrameLocks noGrp="1"/>
          </p:cNvGraphicFramePr>
          <p:nvPr/>
        </p:nvGraphicFramePr>
        <p:xfrm>
          <a:off x="429768" y="3657600"/>
          <a:ext cx="4709160" cy="1545336"/>
        </p:xfrm>
        <a:graphic>
          <a:graphicData uri="http://schemas.openxmlformats.org/drawingml/2006/table">
            <a:tbl>
              <a:tblPr/>
              <a:tblGrid>
                <a:gridCol w="3474720"/>
                <a:gridCol w="1234440"/>
              </a:tblGrid>
              <a:tr h="310896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初期費用（別途）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050" b="1" dirty="0">
                          <a:solidFill>
                            <a:srgbClr val="FFFFFF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金額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595959"/>
                    </a:solidFill>
                  </a:tcPr>
                </a:tc>
              </a:tr>
              <a:tr h="50292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LINEの初期構築（あいさつ・リッチメニュー・タグ設計・勤務前の案内の型）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10万円〜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0" dirty="0">
                          <a:solidFill>
                            <a:srgbClr val="333333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サンクスLINE誘導の導入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1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15万円</a:t>
                      </a:r>
                      <a:endParaRPr lang="ja-JP" altLang="en-US" sz="11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FFFFFF"/>
                    </a:solidFill>
                  </a:tcPr>
                </a:tc>
              </a:tr>
              <a:tr h="365760">
                <a:tc>
                  <a:txBody>
                    <a:bodyPr/>
                    <a:lstStyle/>
                    <a:p>
                      <a:pPr algn="l">
                        <a:buNone/>
                      </a:pPr>
                      <a:r>
                        <a:rPr lang="ja-JP" altLang="en-US" sz="105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合計</a:t>
                      </a:r>
                      <a:endParaRPr lang="ja-JP" altLang="en-US" sz="105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  <a:tc>
                  <a:txBody>
                    <a:bodyPr/>
                    <a:lstStyle/>
                    <a:p>
                      <a:pPr algn="ctr">
                        <a:buNone/>
                      </a:pPr>
                      <a:r>
                        <a:rPr lang="ja-JP" altLang="en-US" sz="1200" b="1" dirty="0">
                          <a:solidFill>
                            <a:srgbClr val="323366"/>
                          </a:solidFill>
                          <a:latin typeface="メイリオ" panose="020B0604030504040204" pitchFamily="50" charset="-128"/>
                          <a:ea typeface="メイリオ" panose="020B0604030504040204" pitchFamily="50" charset="-128"/>
                        </a:rPr>
                        <a:t>25万円〜</a:t>
                      </a:r>
                      <a:endParaRPr lang="ja-JP" altLang="en-US" sz="1200" dirty="0"/>
                    </a:p>
                  </a:txBody>
                  <a:tcPr marL="73152" marR="73152" marT="27432" marB="27432" anchor="ctr">
                    <a:lnL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L>
                    <a:lnR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R>
                    <a:lnT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T>
                    <a:lnB w="9525" cap="flat" cmpd="sng" algn="ctr">
                      <a:solidFill>
                        <a:srgbClr val="BFC8DC"/>
                      </a:solidFill>
                      <a:prstDash val="solid"/>
                      <a:round/>
                      <a:headEnd type="none" w="med" len="med"/>
                      <a:tailEnd type="none" w="med" len="med"/>
                    </a:lnB>
                    <a:solidFill>
                      <a:srgbClr val="EEF2F9"/>
                    </a:solidFill>
                  </a:tcPr>
                </a:tc>
              </a:tr>
            </a:tbl>
          </a:graphicData>
        </a:graphic>
      </p:graphicFrame>
      <p:sp>
        <p:nvSpPr>
          <p:cNvPr id="23" name="Rounded Rectangle 22"/>
          <p:cNvSpPr/>
          <p:nvPr/>
        </p:nvSpPr>
        <p:spPr>
          <a:xfrm>
            <a:off x="5367528" y="1371600"/>
            <a:ext cx="4105656" cy="329184"/>
          </a:xfrm>
          <a:prstGeom prst="roundRect">
            <a:avLst>
              <a:gd name="adj" fmla="val 20000"/>
            </a:avLst>
          </a:prstGeom>
          <a:solidFill>
            <a:srgbClr val="1E2761"/>
          </a:solidFill>
          <a:ln>
            <a:noFill/>
          </a:ln>
        </p:spPr>
        <p:txBody>
          <a:bodyPr wrap="square" lIns="36576" tIns="0" rIns="36576" bIns="0" rtlCol="0" anchor="ctr">
            <a:noAutofit/>
          </a:bodyPr>
          <a:lstStyle/>
          <a:p>
            <a:pPr algn="ctr">
              <a:buNone/>
            </a:pPr>
            <a:r>
              <a:rPr lang="ja-JP" altLang="en-US" sz="115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役割分担</a:t>
            </a:r>
            <a:endParaRPr lang="ja-JP" altLang="en-US" sz="1150" dirty="0"/>
          </a:p>
        </p:txBody>
      </p:sp>
      <p:sp>
        <p:nvSpPr>
          <p:cNvPr id="24" name="Rounded Rectangle 23"/>
          <p:cNvSpPr/>
          <p:nvPr/>
        </p:nvSpPr>
        <p:spPr>
          <a:xfrm>
            <a:off x="5367528" y="1783080"/>
            <a:ext cx="4105656" cy="111556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DYM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・配信の設計・作成（月6本）／タグ・セグメント配信の設定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・サンクスLINE誘導の導入・設定／月次レポート・改善提案</a:t>
            </a:r>
            <a:endParaRPr lang="ja-JP" altLang="en-US" sz="1050" dirty="0"/>
          </a:p>
        </p:txBody>
      </p:sp>
      <p:sp>
        <p:nvSpPr>
          <p:cNvPr id="25" name="Rounded Rectangle 24"/>
          <p:cNvSpPr/>
          <p:nvPr/>
        </p:nvSpPr>
        <p:spPr>
          <a:xfrm>
            <a:off x="5367528" y="2971800"/>
            <a:ext cx="4105656" cy="1207008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横浜シミズ様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・勤務・募集の情報のご提供（会場・日時・集合など）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・個別のチャット対応（変更・欠席の連絡など）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・応募フォームへの設置のご協力</a:t>
            </a:r>
            <a:endParaRPr lang="ja-JP" altLang="en-US" sz="1050" dirty="0"/>
          </a:p>
        </p:txBody>
      </p:sp>
      <p:sp>
        <p:nvSpPr>
          <p:cNvPr id="26" name="Rounded Rectangle 25"/>
          <p:cNvSpPr/>
          <p:nvPr/>
        </p:nvSpPr>
        <p:spPr>
          <a:xfrm>
            <a:off x="5367528" y="4297680"/>
            <a:ext cx="4105656" cy="1261872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2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分析・改善（毎月）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見る数字：友だち数・ブロック率・配信の開封とクリック・再応募件数</a:t>
            </a:r>
            <a:endParaRPr lang="ja-JP" altLang="en-US" sz="1050" dirty="0"/>
          </a:p>
          <a:p>
            <a:pPr algn="l">
              <a:spcAft>
                <a:spcPts val="2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→ 配信の内容・対象・タイミングを見直し、配信本数・ツールも成果を見て調整します</a:t>
            </a:r>
            <a:endParaRPr lang="ja-JP" altLang="en-US" sz="1050" dirty="0"/>
          </a:p>
        </p:txBody>
      </p:sp>
    </p:spTree>
  </p:cSld>
  <p:clrMapOvr>
    <a:masterClrMapping/>
  </p:clrMapOvr>
</p:sld>
</file>

<file path=ppt/slides/slide2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extBox 1"/>
          <p:cNvSpPr txBox="1"/>
          <p:nvPr/>
        </p:nvSpPr>
        <p:spPr>
          <a:xfrm>
            <a:off x="547200" y="136800"/>
            <a:ext cx="7920000" cy="338400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600" b="1">
                <a:solidFill>
                  <a:srgbClr val="323366"/>
                </a:solidFill>
                <a:latin typeface="メイリオ"/>
                <a:ea typeface="メイリオ"/>
                <a:cs typeface="メイリオ"/>
              </a:rPr>
              <a:t>今後の展開｜横浜シミズで運用モデルをつくり、検証する</a:t>
            </a:r>
          </a:p>
        </p:txBody>
      </p:sp>
      <p:sp>
        <p:nvSpPr>
          <p:cNvPr id="3" name="TextBox 2"/>
          <p:cNvSpPr txBox="1"/>
          <p:nvPr/>
        </p:nvSpPr>
        <p:spPr>
          <a:xfrm>
            <a:off x="309600" y="687600"/>
            <a:ext cx="9331200" cy="585216"/>
          </a:xfrm>
          <a:prstGeom prst="rect">
            <a:avLst/>
          </a:prstGeom>
          <a:noFill/>
        </p:spPr>
        <p:txBody>
          <a:bodyPr wrap="square" lIns="28800" tIns="7200" rIns="28800" bIns="7200" anchor="ctr">
            <a:spAutoFit/>
          </a:bodyPr>
          <a:lstStyle/>
          <a:p>
            <a:pPr algn="l">
              <a:lnSpc>
                <a:spcPct val="120000"/>
              </a:lnSpc>
            </a:pPr>
            <a:r>
              <a:rPr sz="1400" b="1">
                <a:solidFill>
                  <a:srgbClr val="1E2761"/>
                </a:solidFill>
                <a:latin typeface="メイリオ"/>
                <a:ea typeface="メイリオ"/>
                <a:cs typeface="メイリオ"/>
              </a:rPr>
              <a:t>まず横浜シミズで、友だち獲得・勤務連絡・再応募の運用モデルをつくり、成果と運用の負荷を確かめます。</a:t>
            </a:r>
          </a:p>
          <a:p>
            <a:pPr algn="l">
              <a:lnSpc>
                <a:spcPct val="120000"/>
              </a:lnSpc>
            </a:pPr>
            <a:r>
              <a:rPr sz="1400" b="1">
                <a:solidFill>
                  <a:srgbClr val="FF0000"/>
                </a:solidFill>
                <a:latin typeface="メイリオ"/>
                <a:ea typeface="メイリオ"/>
                <a:cs typeface="メイリオ"/>
              </a:rPr>
              <a:t>成果をふまえ、シミズグループの他社でも使えるモデルとして整理することを目指します。</a:t>
            </a:r>
          </a:p>
        </p:txBody>
      </p:sp>
      <p:sp>
        <p:nvSpPr>
          <p:cNvPr id="18" name="Rectangle 17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solidFill>
            <a:srgbClr val="002060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  <a:endParaRPr/>
          </a:p>
        </p:txBody>
      </p:sp>
      <p:sp>
        <p:nvSpPr>
          <p:cNvPr id="21" name="Rectangle 20"/>
          <p:cNvSpPr/>
          <p:nvPr/>
        </p:nvSpPr>
        <p:spPr>
          <a:xfrm>
            <a:off x="429768" y="5596128"/>
            <a:ext cx="9043416" cy="374904"/>
          </a:xfrm>
          <a:prstGeom prst="rect">
            <a:avLst/>
          </a:prstGeom>
          <a:noFill/>
          <a:ln>
            <a:noFill/>
          </a:ln>
        </p:spPr>
        <p:txBody>
          <a:bodyPr wrap="square" lIns="45720" tIns="0" rIns="45720" bIns="0" rtlCol="0" anchor="ctr">
            <a:noAutofit/>
          </a:bodyPr>
          <a:lstStyle/>
          <a:p>
            <a:pPr algn="ctr">
              <a:buNone/>
            </a:pPr>
            <a:r>
              <a:rPr lang="ja-JP" altLang="en-US" sz="13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応募から勤務・次の募集までをLINEでつなぎ、継続的な人員確保の仕組みに</a:t>
            </a:r>
            <a:endParaRPr lang="ja-JP" altLang="en-US" sz="1300" dirty="0"/>
          </a:p>
        </p:txBody>
      </p:sp>
      <p:sp>
        <p:nvSpPr>
          <p:cNvPr id="22" name="Rectangle 21"/>
          <p:cNvSpPr/>
          <p:nvPr/>
        </p:nvSpPr>
        <p:spPr>
          <a:xfrm>
            <a:off x="429768" y="1371600"/>
            <a:ext cx="2983992" cy="457200"/>
          </a:xfrm>
          <a:prstGeom prst="homePlate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STEP1｜構築（1〜2か月目）</a:t>
            </a:r>
            <a:endParaRPr lang="ja-JP" altLang="en-US" sz="1000" dirty="0"/>
          </a:p>
        </p:txBody>
      </p:sp>
      <p:sp>
        <p:nvSpPr>
          <p:cNvPr id="23" name="Rounded Rectangle 22"/>
          <p:cNvSpPr/>
          <p:nvPr/>
        </p:nvSpPr>
        <p:spPr>
          <a:xfrm>
            <a:off x="475488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・サンクスLINE誘導の設置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・あいさつ・リッチメニューの設計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・タグの設計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・勤務前の案内の型づくり</a:t>
            </a:r>
            <a:endParaRPr lang="ja-JP" altLang="en-US" sz="1100" dirty="0"/>
          </a:p>
        </p:txBody>
      </p:sp>
      <p:sp>
        <p:nvSpPr>
          <p:cNvPr id="24" name="Rectangle 23"/>
          <p:cNvSpPr/>
          <p:nvPr/>
        </p:nvSpPr>
        <p:spPr>
          <a:xfrm>
            <a:off x="3459480" y="1371600"/>
            <a:ext cx="2983992" cy="457200"/>
          </a:xfrm>
          <a:prstGeom prst="chevron">
            <a:avLst/>
          </a:prstGeom>
          <a:solidFill>
            <a:srgbClr val="1E2761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STEP2｜運用・検証（3〜6か月目）</a:t>
            </a:r>
            <a:endParaRPr lang="ja-JP" altLang="en-US" sz="1000" dirty="0"/>
          </a:p>
        </p:txBody>
      </p:sp>
      <p:sp>
        <p:nvSpPr>
          <p:cNvPr id="25" name="Rounded Rectangle 24"/>
          <p:cNvSpPr/>
          <p:nvPr/>
        </p:nvSpPr>
        <p:spPr>
          <a:xfrm>
            <a:off x="3505199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・次回募集のセグメント配信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・再応募・再稼働の計測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・運用の負荷の確認と改善</a:t>
            </a:r>
            <a:endParaRPr lang="ja-JP" altLang="en-US" sz="1100" dirty="0"/>
          </a:p>
        </p:txBody>
      </p:sp>
      <p:sp>
        <p:nvSpPr>
          <p:cNvPr id="26" name="Rectangle 25"/>
          <p:cNvSpPr/>
          <p:nvPr/>
        </p:nvSpPr>
        <p:spPr>
          <a:xfrm>
            <a:off x="6489192" y="1371600"/>
            <a:ext cx="2983992" cy="457200"/>
          </a:xfrm>
          <a:prstGeom prst="chevron">
            <a:avLst/>
          </a:prstGeom>
          <a:solidFill>
            <a:srgbClr val="595959"/>
          </a:solidFill>
          <a:ln>
            <a:noFill/>
          </a:ln>
        </p:spPr>
        <p:txBody>
          <a:bodyPr wrap="square" lIns="91440" tIns="18288" rIns="18288" bIns="18288" rtlCol="0" anchor="ctr">
            <a:noAutofit/>
          </a:bodyPr>
          <a:lstStyle/>
          <a:p>
            <a:pPr algn="ctr">
              <a:buNone/>
            </a:pPr>
            <a:r>
              <a:rPr lang="ja-JP" altLang="en-US" sz="1000" b="1" dirty="0">
                <a:solidFill>
                  <a:srgbClr val="FFFFFF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STEP3｜展開の検討（7か月目〜）</a:t>
            </a:r>
            <a:endParaRPr lang="ja-JP" altLang="en-US" sz="1000" dirty="0"/>
          </a:p>
        </p:txBody>
      </p:sp>
      <p:sp>
        <p:nvSpPr>
          <p:cNvPr id="27" name="Rounded Rectangle 26"/>
          <p:cNvSpPr/>
          <p:nvPr/>
        </p:nvSpPr>
        <p:spPr>
          <a:xfrm>
            <a:off x="6534912" y="1920240"/>
            <a:ext cx="2801112" cy="13258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・成果と手順を整理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・グループ他社で使えるかを検討</a:t>
            </a:r>
            <a:endParaRPr lang="ja-JP" altLang="en-US" sz="110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・（展開は成果を見て判断）</a:t>
            </a:r>
            <a:endParaRPr lang="ja-JP" altLang="en-US" sz="1100" dirty="0"/>
          </a:p>
        </p:txBody>
      </p:sp>
      <p:sp>
        <p:nvSpPr>
          <p:cNvPr id="28" name="Rounded Rectangle 27"/>
          <p:cNvSpPr/>
          <p:nvPr/>
        </p:nvSpPr>
        <p:spPr>
          <a:xfrm>
            <a:off x="429768" y="3429000"/>
            <a:ext cx="5532120" cy="2011680"/>
          </a:xfrm>
          <a:prstGeom prst="roundRect">
            <a:avLst>
              <a:gd name="adj" fmla="val 5000"/>
            </a:avLst>
          </a:prstGeom>
          <a:solidFill>
            <a:srgbClr val="FFFFFF"/>
          </a:solidFill>
          <a:ln w="9525">
            <a:solidFill>
              <a:srgbClr val="1E2761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400"/>
              </a:spcAft>
              <a:buNone/>
            </a:pPr>
            <a:r>
              <a:rPr lang="ja-JP" altLang="en-US" sz="12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ご提案のまとめ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① 友だち獲得：応募完了から、そのままLINEへ（サンクスLINE誘導）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② 勤務連絡・管理：集合・持ち物・前日のリマインドをLINEで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③ 再応募・再稼働：タグで絞って、希望に合う次回の募集を届ける</a:t>
            </a:r>
            <a:endParaRPr lang="ja-JP" altLang="en-US" sz="1100" dirty="0"/>
          </a:p>
          <a:p>
            <a:pPr algn="l">
              <a:spcAft>
                <a:spcPts val="400"/>
              </a:spcAft>
              <a:buNone/>
            </a:pPr>
            <a:r>
              <a:rPr lang="ja-JP" altLang="en-US" sz="110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月額20万円以内（ツール費込み）で始め、成果を見て調整します。</a:t>
            </a:r>
            <a:endParaRPr lang="ja-JP" altLang="en-US" sz="1100" dirty="0"/>
          </a:p>
        </p:txBody>
      </p:sp>
      <p:sp>
        <p:nvSpPr>
          <p:cNvPr id="29" name="Rounded Rectangle 28"/>
          <p:cNvSpPr/>
          <p:nvPr/>
        </p:nvSpPr>
        <p:spPr>
          <a:xfrm>
            <a:off x="6099048" y="3429000"/>
            <a:ext cx="3374136" cy="2011680"/>
          </a:xfrm>
          <a:prstGeom prst="roundRect">
            <a:avLst>
              <a:gd name="adj" fmla="val 5000"/>
            </a:avLst>
          </a:prstGeom>
          <a:solidFill>
            <a:srgbClr val="F5F6FA"/>
          </a:solidFill>
          <a:ln w="9525">
            <a:solidFill>
              <a:srgbClr val="D9D9D9"/>
            </a:solidFill>
          </a:ln>
        </p:spPr>
        <p:txBody>
          <a:bodyPr wrap="square" lIns="109728" tIns="73152" rIns="91440" bIns="54864" rtlCol="0" anchor="t">
            <a:noAutofit/>
          </a:bodyPr>
          <a:lstStyle/>
          <a:p>
            <a:pPr algn="l">
              <a:spcAft>
                <a:spcPts val="300"/>
              </a:spcAft>
              <a:buNone/>
            </a:pPr>
            <a:r>
              <a:rPr lang="ja-JP" altLang="en-US" sz="1150" b="1" dirty="0">
                <a:solidFill>
                  <a:srgbClr val="323366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追加施策（ご参考）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333333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社員採用（中途・新卒）にも、同じLINE公式アカウントを使える可能性があります。</a:t>
            </a:r>
            <a:endParaRPr lang="ja-JP" altLang="en-US" sz="1050" dirty="0"/>
          </a:p>
          <a:p>
            <a:pPr algn="l">
              <a:spcAft>
                <a:spcPts val="300"/>
              </a:spcAft>
              <a:buNone/>
            </a:pPr>
            <a:r>
              <a:rPr lang="ja-JP" altLang="en-US" sz="1050" b="0" dirty="0">
                <a:solidFill>
                  <a:srgbClr val="595959"/>
                </a:solidFill>
                <a:latin typeface="メイリオ" panose="020B0604030504040204" pitchFamily="50" charset="-128"/>
                <a:ea typeface="メイリオ" panose="020B0604030504040204" pitchFamily="50" charset="-128"/>
              </a:rPr>
              <a:t>社員とアルバイトで案内を分ける設計を想定しています（今回のご提案には含めていません）。</a:t>
            </a:r>
            <a:endParaRPr lang="ja-JP" altLang="en-US" sz="1050" dirty="0"/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テーマ1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テーマ1" id="{8EA1701B-0E00-4167-9612-575199E01EDB}" vid="{8EF6575E-BB77-44AE-AF00-801DE4CAFB82}"/>
    </a:ext>
  </a:extLst>
</a:theme>
</file>

<file path=ppt/theme/theme2.xml><?xml version="1.0" encoding="utf-8"?>
<a:theme xmlns:a="http://schemas.openxmlformats.org/drawingml/2006/main" name="DYMJAPAN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ppt/theme/theme3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ppt/theme/theme4.xml><?xml version="1.0" encoding="utf-8"?>
<a:theme xmlns:a="http://schemas.openxmlformats.org/drawingml/2006/main" name="Office テーマ">
  <a:themeElements>
    <a:clrScheme name="Office">
      <a:dk1>
        <a:sysClr val="windowText" lastClr="000000"/>
      </a:dk1>
      <a:lt1>
        <a:sysClr val="window" lastClr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Calibri Light" panose="020F03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 panose="020F0502020204030204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lumMod val="110000"/>
                <a:satMod val="105000"/>
                <a:tint val="67000"/>
              </a:schemeClr>
            </a:gs>
            <a:gs pos="50000">
              <a:schemeClr val="phClr">
                <a:lumMod val="105000"/>
                <a:satMod val="103000"/>
                <a:tint val="73000"/>
              </a:schemeClr>
            </a:gs>
            <a:gs pos="100000">
              <a:schemeClr val="phClr">
                <a:lumMod val="105000"/>
                <a:satMod val="109000"/>
                <a:tint val="81000"/>
              </a:schemeClr>
            </a:gs>
          </a:gsLst>
          <a:lin ang="5400000" scaled="0"/>
        </a:gradFill>
        <a:gradFill rotWithShape="1">
          <a:gsLst>
            <a:gs pos="0">
              <a:schemeClr val="phClr">
                <a:satMod val="103000"/>
                <a:lumMod val="102000"/>
                <a:tint val="94000"/>
              </a:schemeClr>
            </a:gs>
            <a:gs pos="50000">
              <a:schemeClr val="phClr">
                <a:satMod val="110000"/>
                <a:lumMod val="100000"/>
                <a:shade val="100000"/>
              </a:schemeClr>
            </a:gs>
            <a:gs pos="100000">
              <a:schemeClr val="phClr">
                <a:lumMod val="99000"/>
                <a:satMod val="120000"/>
                <a:shade val="78000"/>
              </a:schemeClr>
            </a:gs>
          </a:gsLst>
          <a:lin ang="5400000" scaled="0"/>
        </a:gradFill>
      </a:fillStyleLst>
      <a:lnStyleLst>
        <a:ln w="6350" cap="flat" cmpd="sng" algn="ctr">
          <a:solidFill>
            <a:schemeClr val="phClr"/>
          </a:solidFill>
          <a:prstDash val="solid"/>
          <a:miter lim="800000"/>
        </a:ln>
        <a:ln w="12700" cap="flat" cmpd="sng" algn="ctr">
          <a:solidFill>
            <a:schemeClr val="phClr"/>
          </a:solidFill>
          <a:prstDash val="solid"/>
          <a:miter lim="800000"/>
        </a:ln>
        <a:ln w="19050" cap="flat" cmpd="sng" algn="ctr">
          <a:solidFill>
            <a:schemeClr val="phClr"/>
          </a:solidFill>
          <a:prstDash val="solid"/>
          <a:miter lim="800000"/>
        </a:ln>
      </a:lnStyleLst>
      <a:effectStyleLst>
        <a:effectStyle>
          <a:effectLst/>
        </a:effectStyle>
        <a:effectStyle>
          <a:effectLst/>
        </a:effectStyle>
        <a:effectStyle>
          <a:effectLst>
            <a:outerShdw blurRad="57150" dist="19050" dir="5400000" algn="ctr" rotWithShape="0">
              <a:srgbClr val="000000">
                <a:alpha val="63000"/>
              </a:srgbClr>
            </a:outerShdw>
          </a:effectLst>
        </a:effectStyle>
      </a:effectStyleLst>
      <a:bgFillStyleLst>
        <a:solidFill>
          <a:schemeClr val="phClr"/>
        </a:solidFill>
        <a:solidFill>
          <a:schemeClr val="phClr">
            <a:tint val="95000"/>
            <a:satMod val="170000"/>
          </a:schemeClr>
        </a:solidFill>
        <a:gradFill rotWithShape="1">
          <a:gsLst>
            <a:gs pos="0">
              <a:schemeClr val="phClr">
                <a:tint val="93000"/>
                <a:satMod val="150000"/>
                <a:shade val="98000"/>
                <a:lumMod val="102000"/>
              </a:schemeClr>
            </a:gs>
            <a:gs pos="50000">
              <a:schemeClr val="phClr">
                <a:tint val="98000"/>
                <a:satMod val="130000"/>
                <a:shade val="90000"/>
                <a:lumMod val="103000"/>
              </a:schemeClr>
            </a:gs>
            <a:gs pos="100000">
              <a:schemeClr val="phClr">
                <a:shade val="63000"/>
                <a:satMod val="120000"/>
              </a:schemeClr>
            </a:gs>
          </a:gsLst>
          <a:lin ang="5400000" scaled="0"/>
        </a:gradFill>
      </a:bgFillStyleLst>
    </a:fmtScheme>
  </a:themeElements>
  <a:objectDefaults/>
  <a:extraClrSchemeLst/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emplate>Default Theme</Template>
  <TotalTime>141683</TotalTime>
  <Words>5149</Words>
  <Application>Microsoft Office PowerPoint</Application>
  <PresentationFormat>A4 210 x 297 mm</PresentationFormat>
  <Paragraphs>981</Paragraphs>
  <Slides>16</Slides>
  <Notes>1</Notes>
  <HiddenSlides>0</HiddenSlides>
  <MMClips>0</MMClips>
  <ScaleCrop>false</ScaleCrop>
  <HeadingPairs>
    <vt:vector size="6" baseType="variant">
      <vt:variant>
        <vt:lpstr>使用されているフォント</vt:lpstr>
      </vt:variant>
      <vt:variant>
        <vt:i4>5</vt:i4>
      </vt:variant>
      <vt:variant>
        <vt:lpstr>テーマ</vt:lpstr>
      </vt:variant>
      <vt:variant>
        <vt:i4>2</vt:i4>
      </vt:variant>
      <vt:variant>
        <vt:lpstr>スライド タイトル</vt:lpstr>
      </vt:variant>
      <vt:variant>
        <vt:i4>16</vt:i4>
      </vt:variant>
    </vt:vector>
  </HeadingPairs>
  <TitlesOfParts>
    <vt:vector size="23" baseType="lpstr">
      <vt:lpstr>メイリオ</vt:lpstr>
      <vt:lpstr>メイリオ</vt:lpstr>
      <vt:lpstr>Arial</vt:lpstr>
      <vt:lpstr>Calibri</vt:lpstr>
      <vt:lpstr>Century Gothic</vt:lpstr>
      <vt:lpstr>テーマ1</vt:lpstr>
      <vt:lpstr>DYMJAPAN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  <vt:lpstr>PowerPoint プレゼンテーション</vt:lpstr>
    </vt:vector>
  </TitlesOfParts>
  <Company/>
  <LinksUpToDate>false</LinksUpToDate>
  <SharedDoc>false</SharedDoc>
  <HyperlinksChanged>false</HyperlinksChanged>
  <AppVersion>16.0000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>PowerPoint プレゼンテーション</dc:title>
  <dc:creator>中村 駿</dc:creator>
  <cp:lastModifiedBy>殿村 亮太</cp:lastModifiedBy>
  <cp:revision>1925</cp:revision>
  <cp:lastPrinted>2022-11-01T11:38:14Z</cp:lastPrinted>
  <dcterms:created xsi:type="dcterms:W3CDTF">2015-09-04T09:21:15Z</dcterms:created>
  <dcterms:modified xsi:type="dcterms:W3CDTF">2026-10-20T10:04:58Z</dcterms:modified>
</cp:coreProperties>
</file>