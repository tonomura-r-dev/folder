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8"/>
  </p:notesMasterIdLst>
  <p:handoutMasterIdLst>
    <p:handoutMasterId r:id="rId59"/>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2728" r:id="rId28"/>
    <p:sldId id="3177" r:id="rId64"/>
    <p:sldId id="3178" r:id="rId65"/>
    <p:sldId id="3179" r:id="rId66"/>
    <p:sldId id="3180" r:id="rId67"/>
    <p:sldId id="3181" r:id="rId68"/>
    <p:sldId id="3182" r:id="rId69"/>
    <p:sldId id="3183" r:id="rId70"/>
    <p:sldId id="3184" r:id="rId71"/>
    <p:sldId id="3174" r:id="rId25"/>
    <p:sldId id="3175" r:id="rId26"/>
    <p:sldId id="3176" r:id="rId27"/>
    <p:sldId id="2729" r:id="rId36"/>
    <p:sldId id="3168" r:id="rId37"/>
    <p:sldId id="3169" r:id="rId38"/>
    <p:sldId id="3170" r:id="rId39"/>
    <p:sldId id="2730" r:id="rId40"/>
    <p:sldId id="2563" r:id="rId41"/>
    <p:sldId id="2959" r:id="rId42"/>
    <p:sldId id="2970" r:id="rId43"/>
    <p:sldId id="2968" r:id="rId44"/>
    <p:sldId id="2969" r:id="rId45"/>
    <p:sldId id="3151" r:id="rId46"/>
    <p:sldId id="2575" r:id="rId47"/>
    <p:sldId id="2910" r:id="rId48"/>
    <p:sldId id="3171" r:id="rId49"/>
    <p:sldId id="3172" r:id="rId50"/>
    <p:sldId id="3173" r:id="rId51"/>
    <p:sldId id="3136" r:id="rId52"/>
    <p:sldId id="3137" r:id="rId53"/>
    <p:sldId id="3138" r:id="rId54"/>
    <p:sldId id="3139" r:id="rId55"/>
    <p:sldId id="3140" r:id="rId56"/>
    <p:sldId id="1169" r:id="rId5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2026/10/30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55</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jpg"/><Relationship Id="rId3" Type="http://schemas.openxmlformats.org/officeDocument/2006/relationships/image" Target="../media/image64.jp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jpeg"/><Relationship Id="rId8" Type="http://schemas.openxmlformats.org/officeDocument/2006/relationships/image" Target="../media/image69.jp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hyperlink" Target="https://youtube.com/shorts/0qI4QgrOppQ"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75.jpeg"/><Relationship Id="rId5" Type="http://schemas.openxmlformats.org/officeDocument/2006/relationships/image" Target="../media/image76.jpeg"/><Relationship Id="rId6" Type="http://schemas.openxmlformats.org/officeDocument/2006/relationships/image" Target="../media/image77.jpeg"/><Relationship Id="rId7" Type="http://schemas.openxmlformats.org/officeDocument/2006/relationships/image" Target="../media/image78.jpeg"/><Relationship Id="rId8" Type="http://schemas.openxmlformats.org/officeDocument/2006/relationships/image" Target="../media/image79.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他社は、追加の直後から登録・相談へつないでいる。リゾートバイトの集客で、LINEは必須の接点になっている。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69" name="Rectangle 58"/>
          <p:cNvSpPr/>
          <p:nvPr/>
        </p:nvSpPr>
        <p:spPr>
          <a:xfrm>
            <a:off x="384048" y="1828800"/>
            <a:ext cx="20574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70" name="Rectangle 59"/>
          <p:cNvSpPr/>
          <p:nvPr/>
        </p:nvSpPr>
        <p:spPr>
          <a:xfrm>
            <a:off x="2478024" y="1828800"/>
            <a:ext cx="30632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71" name="Rectangle 59"/>
          <p:cNvSpPr/>
          <p:nvPr/>
        </p:nvSpPr>
        <p:spPr>
          <a:xfrm>
            <a:off x="5577840" y="1828800"/>
            <a:ext cx="16459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ワクトリの今</a:t>
            </a:r>
          </a:p>
        </p:txBody>
      </p:sp>
      <p:sp>
        <p:nvSpPr>
          <p:cNvPr id="72" name="Rectangle 59"/>
          <p:cNvSpPr/>
          <p:nvPr/>
        </p:nvSpPr>
        <p:spPr>
          <a:xfrm>
            <a:off x="7260336" y="1828800"/>
            <a:ext cx="2267712"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ご提案での打ち手</a:t>
            </a:r>
          </a:p>
        </p:txBody>
      </p:sp>
      <p:sp>
        <p:nvSpPr>
          <p:cNvPr id="73" name="Rectangle 60"/>
          <p:cNvSpPr/>
          <p:nvPr/>
        </p:nvSpPr>
        <p:spPr>
          <a:xfrm>
            <a:off x="384048" y="2231136"/>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a:t>
            </a:r>
          </a:p>
          <a:p>
            <a:pPr algn="l">
              <a:lnSpc>
                <a:spcPct val="110000"/>
              </a:lnSpc>
              <a:spcAft>
                <a:spcPts val="0"/>
              </a:spcAft>
            </a:pPr>
            <a:r>
              <a:rPr sz="1250" b="1">
                <a:solidFill>
                  <a:srgbClr val="1F2A5C"/>
                </a:solidFill>
                <a:latin typeface="メイリオ"/>
                <a:ea typeface="メイリオ"/>
                <a:cs typeface="メイリオ"/>
              </a:rPr>
              <a:t>登録・相談へ誘導する</a:t>
            </a:r>
          </a:p>
        </p:txBody>
      </p:sp>
      <p:sp>
        <p:nvSpPr>
          <p:cNvPr id="74" name="Rectangle 61"/>
          <p:cNvSpPr/>
          <p:nvPr/>
        </p:nvSpPr>
        <p:spPr>
          <a:xfrm>
            <a:off x="2478024" y="2231136"/>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a:t>
            </a:r>
          </a:p>
          <a:p>
            <a:pPr algn="l">
              <a:lnSpc>
                <a:spcPct val="110000"/>
              </a:lnSpc>
              <a:spcAft>
                <a:spcPts val="0"/>
              </a:spcAft>
            </a:pPr>
            <a:r>
              <a:rPr sz="1250" b="0">
                <a:solidFill>
                  <a:srgbClr val="333333"/>
                </a:solidFill>
                <a:latin typeface="メイリオ"/>
                <a:ea typeface="メイリオ"/>
                <a:cs typeface="メイリオ"/>
              </a:rPr>
              <a:t>リゾバ.com／アルファリゾート</a:t>
            </a:r>
          </a:p>
        </p:txBody>
      </p:sp>
      <p:sp>
        <p:nvSpPr>
          <p:cNvPr id="75" name="Rectangle 61"/>
          <p:cNvSpPr/>
          <p:nvPr/>
        </p:nvSpPr>
        <p:spPr>
          <a:xfrm>
            <a:off x="5577840" y="2231136"/>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翌日に</a:t>
            </a:r>
          </a:p>
          <a:p>
            <a:pPr algn="l">
              <a:lnSpc>
                <a:spcPct val="110000"/>
              </a:lnSpc>
              <a:spcAft>
                <a:spcPts val="0"/>
              </a:spcAft>
            </a:pPr>
            <a:r>
              <a:rPr sz="1250" b="0">
                <a:solidFill>
                  <a:srgbClr val="333333"/>
                </a:solidFill>
                <a:latin typeface="メイリオ"/>
                <a:ea typeface="メイリオ"/>
                <a:cs typeface="メイリオ"/>
              </a:rPr>
              <a:t>ENTRYの案内</a:t>
            </a:r>
          </a:p>
        </p:txBody>
      </p:sp>
      <p:sp>
        <p:nvSpPr>
          <p:cNvPr id="76" name="Rectangle 61"/>
          <p:cNvSpPr/>
          <p:nvPr/>
        </p:nvSpPr>
        <p:spPr>
          <a:xfrm>
            <a:off x="7260336" y="2231136"/>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追加直後からの</a:t>
            </a:r>
          </a:p>
          <a:p>
            <a:pPr algn="l">
              <a:lnSpc>
                <a:spcPct val="110000"/>
              </a:lnSpc>
              <a:spcAft>
                <a:spcPts val="0"/>
              </a:spcAft>
            </a:pPr>
            <a:r>
              <a:rPr sz="1250" b="0">
                <a:solidFill>
                  <a:srgbClr val="333333"/>
                </a:solidFill>
                <a:latin typeface="メイリオ"/>
                <a:ea typeface="メイリオ"/>
                <a:cs typeface="メイリオ"/>
              </a:rPr>
              <a:t>ステップ配信（P26）</a:t>
            </a:r>
          </a:p>
        </p:txBody>
      </p:sp>
      <p:sp>
        <p:nvSpPr>
          <p:cNvPr id="77" name="Rectangle 60"/>
          <p:cNvSpPr/>
          <p:nvPr/>
        </p:nvSpPr>
        <p:spPr>
          <a:xfrm>
            <a:off x="384048" y="2926080"/>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a:t>
            </a:r>
          </a:p>
          <a:p>
            <a:pPr algn="l">
              <a:lnSpc>
                <a:spcPct val="110000"/>
              </a:lnSpc>
              <a:spcAft>
                <a:spcPts val="0"/>
              </a:spcAft>
            </a:pPr>
            <a:r>
              <a:rPr sz="1250" b="1">
                <a:solidFill>
                  <a:srgbClr val="1F2A5C"/>
                </a:solidFill>
                <a:latin typeface="メイリオ"/>
                <a:ea typeface="メイリオ"/>
                <a:cs typeface="メイリオ"/>
              </a:rPr>
              <a:t>毎日配信する会社もある</a:t>
            </a:r>
          </a:p>
        </p:txBody>
      </p:sp>
      <p:sp>
        <p:nvSpPr>
          <p:cNvPr id="78" name="Rectangle 61"/>
          <p:cNvSpPr/>
          <p:nvPr/>
        </p:nvSpPr>
        <p:spPr>
          <a:xfrm>
            <a:off x="2478024" y="2926080"/>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a:t>
            </a:r>
          </a:p>
          <a:p>
            <a:pPr algn="l">
              <a:lnSpc>
                <a:spcPct val="110000"/>
              </a:lnSpc>
              <a:spcAft>
                <a:spcPts val="0"/>
              </a:spcAft>
            </a:pPr>
            <a:r>
              <a:rPr sz="1250" b="0">
                <a:solidFill>
                  <a:srgbClr val="333333"/>
                </a:solidFill>
                <a:latin typeface="メイリオ"/>
                <a:ea typeface="メイリオ"/>
                <a:cs typeface="メイリオ"/>
              </a:rPr>
              <a:t>リゾバ.com（1日2通）</a:t>
            </a:r>
          </a:p>
        </p:txBody>
      </p:sp>
      <p:sp>
        <p:nvSpPr>
          <p:cNvPr id="79" name="Rectangle 61"/>
          <p:cNvSpPr/>
          <p:nvPr/>
        </p:nvSpPr>
        <p:spPr>
          <a:xfrm>
            <a:off x="5577840" y="2926080"/>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週1回の企画配信</a:t>
            </a:r>
          </a:p>
        </p:txBody>
      </p:sp>
      <p:sp>
        <p:nvSpPr>
          <p:cNvPr id="80" name="Rectangle 61"/>
          <p:cNvSpPr/>
          <p:nvPr/>
        </p:nvSpPr>
        <p:spPr>
          <a:xfrm>
            <a:off x="7260336" y="2926080"/>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追加後15日の</a:t>
            </a:r>
          </a:p>
          <a:p>
            <a:pPr algn="l">
              <a:lnSpc>
                <a:spcPct val="110000"/>
              </a:lnSpc>
              <a:spcAft>
                <a:spcPts val="0"/>
              </a:spcAft>
            </a:pPr>
            <a:r>
              <a:rPr sz="1250" b="0">
                <a:solidFill>
                  <a:srgbClr val="333333"/>
                </a:solidFill>
                <a:latin typeface="メイリオ"/>
                <a:ea typeface="メイリオ"/>
                <a:cs typeface="メイリオ"/>
              </a:rPr>
              <a:t>ステップ配信</a:t>
            </a:r>
          </a:p>
          <a:p>
            <a:pPr algn="l">
              <a:lnSpc>
                <a:spcPct val="110000"/>
              </a:lnSpc>
              <a:spcAft>
                <a:spcPts val="0"/>
              </a:spcAft>
            </a:pPr>
            <a:r>
              <a:rPr sz="1250" b="0">
                <a:solidFill>
                  <a:srgbClr val="333333"/>
                </a:solidFill>
                <a:latin typeface="メイリオ"/>
                <a:ea typeface="メイリオ"/>
                <a:cs typeface="メイリオ"/>
              </a:rPr>
              <a:t>（P26・P33）</a:t>
            </a:r>
          </a:p>
        </p:txBody>
      </p:sp>
      <p:sp>
        <p:nvSpPr>
          <p:cNvPr id="81" name="Rectangle 60"/>
          <p:cNvSpPr/>
          <p:nvPr/>
        </p:nvSpPr>
        <p:spPr>
          <a:xfrm>
            <a:off x="384048" y="3621024"/>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a:t>
            </a:r>
          </a:p>
          <a:p>
            <a:pPr algn="l">
              <a:lnSpc>
                <a:spcPct val="110000"/>
              </a:lnSpc>
              <a:spcAft>
                <a:spcPts val="0"/>
              </a:spcAft>
            </a:pPr>
            <a:r>
              <a:rPr sz="1250" b="1">
                <a:solidFill>
                  <a:srgbClr val="1F2A5C"/>
                </a:solidFill>
                <a:latin typeface="メイリオ"/>
                <a:ea typeface="メイリオ"/>
                <a:cs typeface="メイリオ"/>
              </a:rPr>
              <a:t>合う求人を出し分ける</a:t>
            </a:r>
          </a:p>
        </p:txBody>
      </p:sp>
      <p:sp>
        <p:nvSpPr>
          <p:cNvPr id="82" name="Rectangle 61"/>
          <p:cNvSpPr/>
          <p:nvPr/>
        </p:nvSpPr>
        <p:spPr>
          <a:xfrm>
            <a:off x="2478024" y="3621024"/>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リゾバ.com（経験・タイプ別）／</a:t>
            </a:r>
          </a:p>
          <a:p>
            <a:pPr algn="l">
              <a:lnSpc>
                <a:spcPct val="110000"/>
              </a:lnSpc>
              <a:spcAft>
                <a:spcPts val="0"/>
              </a:spcAft>
            </a:pPr>
            <a:r>
              <a:rPr sz="1250" b="0">
                <a:solidFill>
                  <a:srgbClr val="333333"/>
                </a:solidFill>
                <a:latin typeface="メイリオ"/>
                <a:ea typeface="メイリオ"/>
                <a:cs typeface="メイリオ"/>
              </a:rPr>
              <a:t>リゾートバイト.com（アンケート）</a:t>
            </a:r>
          </a:p>
        </p:txBody>
      </p:sp>
      <p:sp>
        <p:nvSpPr>
          <p:cNvPr id="83" name="Rectangle 61"/>
          <p:cNvSpPr/>
          <p:nvPr/>
        </p:nvSpPr>
        <p:spPr>
          <a:xfrm>
            <a:off x="5577840" y="3621024"/>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アンケート3問で</a:t>
            </a:r>
          </a:p>
          <a:p>
            <a:pPr algn="l">
              <a:lnSpc>
                <a:spcPct val="110000"/>
              </a:lnSpc>
              <a:spcAft>
                <a:spcPts val="0"/>
              </a:spcAft>
            </a:pPr>
            <a:r>
              <a:rPr sz="1250" b="0">
                <a:solidFill>
                  <a:srgbClr val="333333"/>
                </a:solidFill>
                <a:latin typeface="メイリオ"/>
                <a:ea typeface="メイリオ"/>
                <a:cs typeface="メイリオ"/>
              </a:rPr>
              <a:t>開始時期と</a:t>
            </a:r>
          </a:p>
          <a:p>
            <a:pPr algn="l">
              <a:lnSpc>
                <a:spcPct val="110000"/>
              </a:lnSpc>
              <a:spcAft>
                <a:spcPts val="0"/>
              </a:spcAft>
            </a:pPr>
            <a:r>
              <a:rPr sz="1250" b="0">
                <a:solidFill>
                  <a:srgbClr val="333333"/>
                </a:solidFill>
                <a:latin typeface="メイリオ"/>
                <a:ea typeface="メイリオ"/>
                <a:cs typeface="メイリオ"/>
              </a:rPr>
              <a:t>エリアを伺う</a:t>
            </a:r>
          </a:p>
        </p:txBody>
      </p:sp>
      <p:sp>
        <p:nvSpPr>
          <p:cNvPr id="84" name="Rectangle 61"/>
          <p:cNvSpPr/>
          <p:nvPr/>
        </p:nvSpPr>
        <p:spPr>
          <a:xfrm>
            <a:off x="7260336" y="3621024"/>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適正バイト診断と</a:t>
            </a:r>
          </a:p>
          <a:p>
            <a:pPr algn="l">
              <a:lnSpc>
                <a:spcPct val="110000"/>
              </a:lnSpc>
              <a:spcAft>
                <a:spcPts val="0"/>
              </a:spcAft>
            </a:pPr>
            <a:r>
              <a:rPr sz="1250" b="0">
                <a:solidFill>
                  <a:srgbClr val="333333"/>
                </a:solidFill>
                <a:latin typeface="メイリオ"/>
                <a:ea typeface="メイリオ"/>
                <a:cs typeface="メイリオ"/>
              </a:rPr>
              <a:t>開始時期・エリア別の配信</a:t>
            </a:r>
          </a:p>
          <a:p>
            <a:pPr algn="l">
              <a:lnSpc>
                <a:spcPct val="110000"/>
              </a:lnSpc>
              <a:spcAft>
                <a:spcPts val="0"/>
              </a:spcAft>
            </a:pPr>
            <a:r>
              <a:rPr sz="1250" b="0">
                <a:solidFill>
                  <a:srgbClr val="333333"/>
                </a:solidFill>
                <a:latin typeface="メイリオ"/>
                <a:ea typeface="メイリオ"/>
                <a:cs typeface="メイリオ"/>
              </a:rPr>
              <a:t>（P26・P29）</a:t>
            </a:r>
          </a:p>
        </p:txBody>
      </p:sp>
      <p:sp>
        <p:nvSpPr>
          <p:cNvPr id="85" name="Rectangle 60"/>
          <p:cNvSpPr/>
          <p:nvPr/>
        </p:nvSpPr>
        <p:spPr>
          <a:xfrm>
            <a:off x="384048" y="4315968"/>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a:t>
            </a:r>
          </a:p>
          <a:p>
            <a:pPr algn="l">
              <a:lnSpc>
                <a:spcPct val="110000"/>
              </a:lnSpc>
              <a:spcAft>
                <a:spcPts val="0"/>
              </a:spcAft>
            </a:pPr>
            <a:r>
              <a:rPr sz="1250" b="1">
                <a:solidFill>
                  <a:srgbClr val="1F2A5C"/>
                </a:solidFill>
                <a:latin typeface="メイリオ"/>
                <a:ea typeface="メイリオ"/>
                <a:cs typeface="メイリオ"/>
              </a:rPr>
              <a:t>開始月別の求人を置く</a:t>
            </a:r>
          </a:p>
        </p:txBody>
      </p:sp>
      <p:sp>
        <p:nvSpPr>
          <p:cNvPr id="86" name="Rectangle 61"/>
          <p:cNvSpPr/>
          <p:nvPr/>
        </p:nvSpPr>
        <p:spPr>
          <a:xfrm>
            <a:off x="2478024" y="4315968"/>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
        <p:nvSpPr>
          <p:cNvPr id="87" name="Rectangle 61"/>
          <p:cNvSpPr/>
          <p:nvPr/>
        </p:nvSpPr>
        <p:spPr>
          <a:xfrm>
            <a:off x="5577840" y="4315968"/>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11月開始の求人と</a:t>
            </a:r>
          </a:p>
          <a:p>
            <a:pPr algn="l">
              <a:lnSpc>
                <a:spcPct val="110000"/>
              </a:lnSpc>
              <a:spcAft>
                <a:spcPts val="0"/>
              </a:spcAft>
            </a:pPr>
            <a:r>
              <a:rPr sz="1250" b="0">
                <a:solidFill>
                  <a:srgbClr val="333333"/>
                </a:solidFill>
                <a:latin typeface="メイリオ"/>
                <a:ea typeface="メイリオ"/>
                <a:cs typeface="メイリオ"/>
              </a:rPr>
              <a:t>スキー特集の入口</a:t>
            </a:r>
          </a:p>
        </p:txBody>
      </p:sp>
      <p:sp>
        <p:nvSpPr>
          <p:cNvPr id="88" name="Rectangle 61"/>
          <p:cNvSpPr/>
          <p:nvPr/>
        </p:nvSpPr>
        <p:spPr>
          <a:xfrm>
            <a:off x="7260336" y="4315968"/>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上段に開始月別の求人</a:t>
            </a:r>
          </a:p>
          <a:p>
            <a:pPr algn="l">
              <a:lnSpc>
                <a:spcPct val="110000"/>
              </a:lnSpc>
              <a:spcAft>
                <a:spcPts val="0"/>
              </a:spcAft>
            </a:pPr>
            <a:r>
              <a:rPr sz="1250" b="0">
                <a:solidFill>
                  <a:srgbClr val="333333"/>
                </a:solidFill>
                <a:latin typeface="メイリオ"/>
                <a:ea typeface="メイリオ"/>
                <a:cs typeface="メイリオ"/>
              </a:rPr>
              <a:t>（P25）</a:t>
            </a:r>
          </a:p>
        </p:txBody>
      </p:sp>
      <p:sp>
        <p:nvSpPr>
          <p:cNvPr id="89" name="Rectangle 60"/>
          <p:cNvSpPr/>
          <p:nvPr/>
        </p:nvSpPr>
        <p:spPr>
          <a:xfrm>
            <a:off x="384048" y="5010912"/>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5. 相談の入口を、</a:t>
            </a:r>
          </a:p>
          <a:p>
            <a:pPr algn="l">
              <a:lnSpc>
                <a:spcPct val="110000"/>
              </a:lnSpc>
              <a:spcAft>
                <a:spcPts val="0"/>
              </a:spcAft>
            </a:pPr>
            <a:r>
              <a:rPr sz="1250" b="1">
                <a:solidFill>
                  <a:srgbClr val="1F2A5C"/>
                </a:solidFill>
                <a:latin typeface="メイリオ"/>
                <a:ea typeface="メイリオ"/>
                <a:cs typeface="メイリオ"/>
              </a:rPr>
              <a:t>最初から見せる</a:t>
            </a:r>
          </a:p>
        </p:txBody>
      </p:sp>
      <p:sp>
        <p:nvSpPr>
          <p:cNvPr id="90" name="Rectangle 61"/>
          <p:cNvSpPr/>
          <p:nvPr/>
        </p:nvSpPr>
        <p:spPr>
          <a:xfrm>
            <a:off x="2478024" y="5010912"/>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リゾートバイトダイブ（電話15分）／</a:t>
            </a:r>
          </a:p>
          <a:p>
            <a:pPr algn="l">
              <a:lnSpc>
                <a:spcPct val="110000"/>
              </a:lnSpc>
              <a:spcAft>
                <a:spcPts val="0"/>
              </a:spcAft>
            </a:pPr>
            <a:r>
              <a:rPr sz="1250" b="0">
                <a:solidFill>
                  <a:srgbClr val="333333"/>
                </a:solidFill>
                <a:latin typeface="メイリオ"/>
                <a:ea typeface="メイリオ"/>
                <a:cs typeface="メイリオ"/>
              </a:rPr>
              <a:t>リゾバ.com・アルファリゾート</a:t>
            </a:r>
          </a:p>
          <a:p>
            <a:pPr algn="l">
              <a:lnSpc>
                <a:spcPct val="110000"/>
              </a:lnSpc>
              <a:spcAft>
                <a:spcPts val="0"/>
              </a:spcAft>
            </a:pPr>
            <a:r>
              <a:rPr sz="1250" b="0">
                <a:solidFill>
                  <a:srgbClr val="333333"/>
                </a:solidFill>
                <a:latin typeface="メイリオ"/>
                <a:ea typeface="メイリオ"/>
                <a:cs typeface="メイリオ"/>
              </a:rPr>
              <a:t>（チャット）</a:t>
            </a:r>
          </a:p>
        </p:txBody>
      </p:sp>
      <p:sp>
        <p:nvSpPr>
          <p:cNvPr id="91" name="Rectangle 61"/>
          <p:cNvSpPr/>
          <p:nvPr/>
        </p:nvSpPr>
        <p:spPr>
          <a:xfrm>
            <a:off x="5577840" y="5010912"/>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専属エージェント</a:t>
            </a:r>
          </a:p>
          <a:p>
            <a:pPr algn="l">
              <a:lnSpc>
                <a:spcPct val="110000"/>
              </a:lnSpc>
              <a:spcAft>
                <a:spcPts val="0"/>
              </a:spcAft>
            </a:pPr>
            <a:r>
              <a:rPr sz="1250" b="0">
                <a:solidFill>
                  <a:srgbClr val="333333"/>
                </a:solidFill>
                <a:latin typeface="メイリオ"/>
                <a:ea typeface="メイリオ"/>
                <a:cs typeface="メイリオ"/>
              </a:rPr>
              <a:t>（ENTRYの後）</a:t>
            </a:r>
          </a:p>
        </p:txBody>
      </p:sp>
      <p:sp>
        <p:nvSpPr>
          <p:cNvPr id="92" name="Rectangle 61"/>
          <p:cNvSpPr/>
          <p:nvPr/>
        </p:nvSpPr>
        <p:spPr>
          <a:xfrm>
            <a:off x="7260336" y="5010912"/>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ステップ配信と</a:t>
            </a:r>
          </a:p>
          <a:p>
            <a:pPr algn="l">
              <a:lnSpc>
                <a:spcPct val="110000"/>
              </a:lnSpc>
              <a:spcAft>
                <a:spcPts val="0"/>
              </a:spcAft>
            </a:pPr>
            <a:r>
              <a:rPr sz="1250" b="0">
                <a:solidFill>
                  <a:srgbClr val="333333"/>
                </a:solidFill>
                <a:latin typeface="メイリオ"/>
                <a:ea typeface="メイリオ"/>
                <a:cs typeface="メイリオ"/>
              </a:rPr>
              <a:t>リッチメニューに</a:t>
            </a:r>
          </a:p>
          <a:p>
            <a:pPr algn="l">
              <a:lnSpc>
                <a:spcPct val="110000"/>
              </a:lnSpc>
              <a:spcAft>
                <a:spcPts val="0"/>
              </a:spcAft>
            </a:pPr>
            <a:r>
              <a:rPr sz="1250" b="0">
                <a:solidFill>
                  <a:srgbClr val="333333"/>
                </a:solidFill>
                <a:latin typeface="メイリオ"/>
                <a:ea typeface="メイリオ"/>
                <a:cs typeface="メイリオ"/>
              </a:rPr>
              <a:t>相談の入口（P33・P25）</a:t>
            </a:r>
          </a:p>
        </p:txBody>
      </p:sp>
      <p:sp>
        <p:nvSpPr>
          <p:cNvPr id="93" name="Rectangle 92"/>
          <p:cNvSpPr/>
          <p:nvPr/>
        </p:nvSpPr>
        <p:spPr>
          <a:xfrm>
            <a:off x="384048" y="5815584"/>
            <a:ext cx="9144000" cy="457200"/>
          </a:xfrm>
          <a:prstGeom prst="rect">
            <a:avLst/>
          </a:prstGeom>
          <a:solidFill>
            <a:srgbClr val="F2F2F2"/>
          </a:solidFill>
          <a:ln>
            <a:noFill/>
          </a:ln>
          <a:effectLst/>
        </p:spPr>
        <p:txBody>
          <a:bodyPr wrap="square" lIns="137160" rIns="137160" rtlCol="0" anchor="ctr"/>
          <a:lstStyle/>
          <a:p>
            <a:pPr algn="ctr"/>
            <a:r>
              <a:rPr sz="1300" b="1">
                <a:solidFill>
                  <a:srgbClr val="1F2A5C"/>
                </a:solidFill>
                <a:latin typeface="メイリオ"/>
                <a:ea typeface="メイリオ"/>
                <a:cs typeface="メイリオ"/>
              </a:rPr>
              <a:t>アンケートで希望を聞けているため、その分析を用いた配信が重要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エントリー状況・</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（今のアンケートを活かす）</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「派遣会社」「単発バイト」</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「リゾートバイト」などを検索。</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 2025」</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「国民健康保険料」など、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 おすすめ企業」</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「バイトル」「エン派遣」など、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「派遣 職場見学 落ちる確率」</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「履歴書 書き方」など、</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　求人を、開始時期・エリアで出し分け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a:t>
            </a:r>
            <a:br>
              <a:rPr lang="ja-JP" sz="1200" b="0" u="none" strike="noStrike">
                <a:solidFill>
                  <a:schemeClr val="lt1"/>
                </a:solidFill>
                <a:effectLst/>
                <a:uFillTx/>
                <a:latin typeface="メイリオ"/>
                <a:ea typeface="メイリオ"/>
              </a:rPr>
            </a:br>
            <a:r>
              <a:rPr lang="ja-JP" sz="1200" b="0" u="none" strike="noStrike">
                <a:solidFill>
                  <a:schemeClr val="lt1"/>
                </a:solidFill>
                <a:effectLst/>
                <a:uFillTx/>
                <a:latin typeface="メイリオ"/>
                <a:ea typeface="メイリオ"/>
              </a:rPr>
              <a:t>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a:t>
            </a:r>
            <a:br>
              <a:rPr lang="ja-JP" sz="1300" b="0" u="none" strike="noStrike">
                <a:solidFill>
                  <a:schemeClr val="dk1"/>
                </a:solidFill>
                <a:effectLst/>
                <a:uFillTx/>
                <a:latin typeface="メイリオ"/>
                <a:ea typeface="メイリオ"/>
              </a:rPr>
            </a:br>
            <a:r>
              <a:rPr lang="ja-JP" sz="1300" b="0" u="none" strike="noStrike">
                <a:solidFill>
                  <a:schemeClr val="dk1"/>
                </a:solidFill>
                <a:effectLst/>
                <a:uFillTx/>
                <a:latin typeface="メイリオ"/>
                <a:ea typeface="メイリオ"/>
              </a:rPr>
              <a:t>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84" name="TextBox 383"/>
          <p:cNvSpPr txBox="1"/>
          <p:nvPr/>
        </p:nvSpPr>
        <p:spPr>
          <a:xfrm>
            <a:off x="265176" y="6035040"/>
            <a:ext cx="9326880" cy="411480"/>
          </a:xfrm>
          <a:prstGeom prst="rect">
            <a:avLst/>
          </a:prstGeom>
          <a:noFill/>
        </p:spPr>
        <p:txBody>
          <a:bodyPr wrap="square" lIns="36000" tIns="10800" rIns="36000" bIns="10800" anchor="t">
            <a:spAutoFit/>
          </a:bodyPr>
          <a:lstStyle/>
          <a:p>
            <a:pPr algn="l">
              <a:lnSpc>
                <a:spcPct val="105000"/>
              </a:lnSpc>
              <a:spcAft>
                <a:spcPts val="200"/>
              </a:spcAft>
            </a:pPr>
            <a:r>
              <a:rPr sz="900" b="0">
                <a:solidFill>
                  <a:srgbClr val="595959"/>
                </a:solidFill>
                <a:latin typeface="メイリオ"/>
                <a:ea typeface="メイリオ"/>
                <a:cs typeface="メイリオ"/>
              </a:rPr>
              <a:t>※前提：サイトの訪問 月85,887人／友だちの入口＝サイトのLINEボタン・ポップアップ／ブロック率34.1%から／</a:t>
            </a:r>
            <a:br>
              <a:rPr sz="900" b="0">
                <a:solidFill>
                  <a:srgbClr val="595959"/>
                </a:solidFill>
                <a:latin typeface="メイリオ"/>
                <a:ea typeface="メイリオ"/>
                <a:cs typeface="メイリオ"/>
              </a:rPr>
            </a:br>
            <a:r>
              <a:rPr sz="900" b="0">
                <a:solidFill>
                  <a:srgbClr val="595959"/>
                </a:solidFill>
                <a:latin typeface="メイリオ"/>
                <a:ea typeface="メイリオ"/>
                <a:cs typeface="メイリオ"/>
              </a:rPr>
              <a:t>企画配信 月3本・ステップ配信5通／応募＝LINEからのクリックの0.4〜0.9%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LINEの友だちへ</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6373368" y="1911095"/>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入口</a:t>
            </a:r>
          </a:p>
          <a:p>
            <a:pPr algn="l">
              <a:lnSpc>
                <a:spcPct val="105000"/>
              </a:lnSpc>
              <a:spcAft>
                <a:spcPts val="200"/>
              </a:spcAft>
            </a:pPr>
            <a:r>
              <a:rPr sz="1200" b="0">
                <a:solidFill>
                  <a:srgbClr val="333333"/>
                </a:solidFill>
                <a:latin typeface="メイリオ"/>
                <a:ea typeface="メイリオ"/>
                <a:cs typeface="メイリオ"/>
              </a:rPr>
              <a:t>SNSのプロフィール・投稿や</a:t>
            </a:r>
          </a:p>
          <a:p>
            <a:pPr algn="l">
              <a:lnSpc>
                <a:spcPct val="105000"/>
              </a:lnSpc>
              <a:spcAft>
                <a:spcPts val="200"/>
              </a:spcAft>
            </a:pPr>
            <a:r>
              <a:rPr sz="1200" b="0">
                <a:solidFill>
                  <a:srgbClr val="333333"/>
                </a:solidFill>
                <a:latin typeface="メイリオ"/>
                <a:ea typeface="メイリオ"/>
                <a:cs typeface="メイリオ"/>
              </a:rPr>
              <a:t>体験談のページにも入口を置く</a:t>
            </a:r>
          </a:p>
        </p:txBody>
      </p:sp>
      <p:sp>
        <p:nvSpPr>
          <p:cNvPr id="90" name="TextBox 89"/>
          <p:cNvSpPr txBox="1"/>
          <p:nvPr/>
        </p:nvSpPr>
        <p:spPr>
          <a:xfrm>
            <a:off x="6373368" y="3395472"/>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LINEの仕組み</a:t>
            </a:r>
          </a:p>
          <a:p>
            <a:pPr algn="l">
              <a:lnSpc>
                <a:spcPct val="105000"/>
              </a:lnSpc>
              <a:spcAft>
                <a:spcPts val="200"/>
              </a:spcAft>
            </a:pPr>
            <a:r>
              <a:rPr sz="1200" b="0">
                <a:solidFill>
                  <a:srgbClr val="333333"/>
                </a:solidFill>
                <a:latin typeface="メイリオ"/>
                <a:ea typeface="メイリオ"/>
                <a:cs typeface="メイリオ"/>
              </a:rPr>
              <a:t>入口ごとにURLを分けて記録し、</a:t>
            </a:r>
          </a:p>
          <a:p>
            <a:pPr algn="l">
              <a:lnSpc>
                <a:spcPct val="105000"/>
              </a:lnSpc>
              <a:spcAft>
                <a:spcPts val="200"/>
              </a:spcAft>
            </a:pPr>
            <a:r>
              <a:rPr sz="1200" b="0">
                <a:solidFill>
                  <a:srgbClr val="333333"/>
                </a:solidFill>
                <a:latin typeface="メイリオ"/>
                <a:ea typeface="メイリオ"/>
                <a:cs typeface="メイリオ"/>
              </a:rPr>
              <a:t>あいさつの文面を出し分ける</a:t>
            </a:r>
          </a:p>
        </p:txBody>
      </p:sp>
      <p:sp>
        <p:nvSpPr>
          <p:cNvPr id="91" name="TextBox 90"/>
          <p:cNvSpPr txBox="1"/>
          <p:nvPr/>
        </p:nvSpPr>
        <p:spPr>
          <a:xfrm>
            <a:off x="6373368" y="4879848"/>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配信内容</a:t>
            </a:r>
          </a:p>
          <a:p>
            <a:pPr algn="l">
              <a:lnSpc>
                <a:spcPct val="105000"/>
              </a:lnSpc>
              <a:spcAft>
                <a:spcPts val="200"/>
              </a:spcAft>
            </a:pPr>
            <a:r>
              <a:rPr sz="1200" b="0">
                <a:solidFill>
                  <a:srgbClr val="333333"/>
                </a:solidFill>
                <a:latin typeface="メイリオ"/>
                <a:ea typeface="メイリオ"/>
                <a:cs typeface="メイリオ"/>
              </a:rPr>
              <a:t>追加の特典に「寮生活の</a:t>
            </a:r>
          </a:p>
          <a:p>
            <a:pPr algn="l">
              <a:lnSpc>
                <a:spcPct val="105000"/>
              </a:lnSpc>
              <a:spcAft>
                <a:spcPts val="200"/>
              </a:spcAft>
            </a:pPr>
            <a:r>
              <a:rPr sz="1200" b="0">
                <a:solidFill>
                  <a:srgbClr val="333333"/>
                </a:solidFill>
                <a:latin typeface="メイリオ"/>
                <a:ea typeface="メイリオ"/>
                <a:cs typeface="メイリオ"/>
              </a:rPr>
              <a:t>持ち物リスト」などを届ける</a:t>
            </a:r>
          </a:p>
        </p:txBody>
      </p:sp>
      <p:sp>
        <p:nvSpPr>
          <p:cNvPr id="92" name="TextBox 91"/>
          <p:cNvSpPr txBox="1"/>
          <p:nvPr/>
        </p:nvSpPr>
        <p:spPr>
          <a:xfrm>
            <a:off x="411480" y="1965959"/>
            <a:ext cx="5577840" cy="640079"/>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サイトを離れる方を、LINEの友だちに</a:t>
            </a:r>
          </a:p>
        </p:txBody>
      </p:sp>
      <p:pic>
        <p:nvPicPr>
          <p:cNvPr id="93" name="Picture 92" descr="demo8_p24.png"/>
          <p:cNvPicPr>
            <a:picLocks noChangeAspect="1"/>
          </p:cNvPicPr>
          <p:nvPr/>
        </p:nvPicPr>
        <p:blipFill>
          <a:blip r:embed="rId2"/>
          <a:stretch>
            <a:fillRect/>
          </a:stretch>
        </p:blipFill>
        <p:spPr>
          <a:xfrm>
            <a:off x="1153323" y="2633472"/>
            <a:ext cx="4112441" cy="3291840"/>
          </a:xfrm>
          <a:prstGeom prst="rect">
            <a:avLst/>
          </a:prstGeom>
          <a:ln w="9525">
            <a:solidFill>
              <a:srgbClr val="D9D9D9"/>
            </a:solidFill>
          </a:ln>
        </p:spPr>
      </p:pic>
      <p:sp>
        <p:nvSpPr>
          <p:cNvPr id="94" name="TextBox 93"/>
          <p:cNvSpPr txBox="1"/>
          <p:nvPr/>
        </p:nvSpPr>
        <p:spPr>
          <a:xfrm>
            <a:off x="411480" y="5961888"/>
            <a:ext cx="5577840" cy="219456"/>
          </a:xfrm>
          <a:prstGeom prst="rect">
            <a:avLst/>
          </a:prstGeom>
          <a:noFill/>
        </p:spPr>
        <p:txBody>
          <a:bodyPr wrap="square" anchor="t" lIns="36000" rIns="36000" tIns="10800" bIns="10800">
            <a:spAutoFit/>
          </a:bodyPr>
          <a:lstStyle/>
          <a:p>
            <a:pPr algn="l">
              <a:lnSpc>
                <a:spcPct val="105000"/>
              </a:lnSpc>
              <a:spcAft>
                <a:spcPts val="200"/>
              </a:spcAft>
            </a:pPr>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露出の強化</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6373368" y="1911095"/>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入口</a:t>
            </a:r>
          </a:p>
          <a:p>
            <a:pPr algn="l">
              <a:lnSpc>
                <a:spcPct val="105000"/>
              </a:lnSpc>
              <a:spcAft>
                <a:spcPts val="200"/>
              </a:spcAft>
            </a:pPr>
            <a:r>
              <a:rPr sz="1200" b="0">
                <a:solidFill>
                  <a:srgbClr val="333333"/>
                </a:solidFill>
                <a:latin typeface="メイリオ"/>
                <a:ea typeface="メイリオ"/>
                <a:cs typeface="メイリオ"/>
              </a:rPr>
              <a:t>特集から、リッチメニューの</a:t>
            </a:r>
          </a:p>
          <a:p>
            <a:pPr algn="l">
              <a:lnSpc>
                <a:spcPct val="105000"/>
              </a:lnSpc>
              <a:spcAft>
                <a:spcPts val="200"/>
              </a:spcAft>
            </a:pPr>
            <a:r>
              <a:rPr sz="1200" b="0">
                <a:solidFill>
                  <a:srgbClr val="333333"/>
                </a:solidFill>
                <a:latin typeface="メイリオ"/>
                <a:ea typeface="メイリオ"/>
                <a:cs typeface="メイリオ"/>
              </a:rPr>
              <a:t>開始月別の求人へつなげる</a:t>
            </a:r>
          </a:p>
        </p:txBody>
      </p:sp>
      <p:sp>
        <p:nvSpPr>
          <p:cNvPr id="86" name="TextBox 85"/>
          <p:cNvSpPr txBox="1"/>
          <p:nvPr/>
        </p:nvSpPr>
        <p:spPr>
          <a:xfrm>
            <a:off x="6373368" y="3395472"/>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LINEの仕組み</a:t>
            </a:r>
          </a:p>
          <a:p>
            <a:pPr algn="l">
              <a:lnSpc>
                <a:spcPct val="105000"/>
              </a:lnSpc>
              <a:spcAft>
                <a:spcPts val="200"/>
              </a:spcAft>
            </a:pPr>
            <a:r>
              <a:rPr sz="1200" b="0">
                <a:solidFill>
                  <a:srgbClr val="333333"/>
                </a:solidFill>
                <a:latin typeface="メイリオ"/>
                <a:ea typeface="メイリオ"/>
                <a:cs typeface="メイリオ"/>
              </a:rPr>
              <a:t>季節ごとに、リッチメニューの</a:t>
            </a:r>
          </a:p>
          <a:p>
            <a:pPr algn="l">
              <a:lnSpc>
                <a:spcPct val="105000"/>
              </a:lnSpc>
              <a:spcAft>
                <a:spcPts val="200"/>
              </a:spcAft>
            </a:pPr>
            <a:r>
              <a:rPr sz="1200" b="0">
                <a:solidFill>
                  <a:srgbClr val="333333"/>
                </a:solidFill>
                <a:latin typeface="メイリオ"/>
                <a:ea typeface="メイリオ"/>
                <a:cs typeface="メイリオ"/>
              </a:rPr>
              <a:t>特集の枠を入れ替える</a:t>
            </a:r>
          </a:p>
        </p:txBody>
      </p:sp>
      <p:sp>
        <p:nvSpPr>
          <p:cNvPr id="87" name="TextBox 86"/>
          <p:cNvSpPr txBox="1"/>
          <p:nvPr/>
        </p:nvSpPr>
        <p:spPr>
          <a:xfrm>
            <a:off x="6373368" y="4879848"/>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配信内容</a:t>
            </a:r>
          </a:p>
          <a:p>
            <a:pPr algn="l">
              <a:lnSpc>
                <a:spcPct val="105000"/>
              </a:lnSpc>
              <a:spcAft>
                <a:spcPts val="200"/>
              </a:spcAft>
            </a:pPr>
            <a:r>
              <a:rPr sz="1200" b="0">
                <a:solidFill>
                  <a:srgbClr val="333333"/>
                </a:solidFill>
                <a:latin typeface="メイリオ"/>
                <a:ea typeface="メイリオ"/>
                <a:cs typeface="メイリオ"/>
              </a:rPr>
              <a:t>「LINE友だち限定」の先行公開や</a:t>
            </a:r>
          </a:p>
          <a:p>
            <a:pPr algn="l">
              <a:lnSpc>
                <a:spcPct val="105000"/>
              </a:lnSpc>
              <a:spcAft>
                <a:spcPts val="200"/>
              </a:spcAft>
            </a:pPr>
            <a:r>
              <a:rPr sz="1200" b="0">
                <a:solidFill>
                  <a:srgbClr val="333333"/>
                </a:solidFill>
                <a:latin typeface="メイリオ"/>
                <a:ea typeface="メイリオ"/>
                <a:cs typeface="メイリオ"/>
              </a:rPr>
              <a:t>締切が近い求人の特集</a:t>
            </a:r>
          </a:p>
        </p:txBody>
      </p:sp>
      <p:sp>
        <p:nvSpPr>
          <p:cNvPr id="88" name="TextBox 87"/>
          <p:cNvSpPr txBox="1"/>
          <p:nvPr/>
        </p:nvSpPr>
        <p:spPr>
          <a:xfrm>
            <a:off x="411480" y="1965959"/>
            <a:ext cx="5577840" cy="640079"/>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企画配信</a:t>
            </a:r>
          </a:p>
          <a:p>
            <a:pPr algn="l">
              <a:lnSpc>
                <a:spcPct val="105000"/>
              </a:lnSpc>
              <a:spcAft>
                <a:spcPts val="200"/>
              </a:spcAft>
            </a:pPr>
            <a:r>
              <a:rPr sz="1200" b="0">
                <a:solidFill>
                  <a:srgbClr val="333333"/>
                </a:solidFill>
                <a:latin typeface="メイリオ"/>
                <a:ea typeface="メイリオ"/>
                <a:cs typeface="メイリオ"/>
              </a:rPr>
              <a:t>季節に合わせて、届く求人を切り替える</a:t>
            </a:r>
          </a:p>
        </p:txBody>
      </p:sp>
      <p:pic>
        <p:nvPicPr>
          <p:cNvPr id="89" name="Picture 88" descr="demo8_p25.png"/>
          <p:cNvPicPr>
            <a:picLocks noChangeAspect="1"/>
          </p:cNvPicPr>
          <p:nvPr/>
        </p:nvPicPr>
        <p:blipFill>
          <a:blip r:embed="rId2"/>
          <a:stretch>
            <a:fillRect/>
          </a:stretch>
        </p:blipFill>
        <p:spPr>
          <a:xfrm>
            <a:off x="1095785" y="2633472"/>
            <a:ext cx="4227517" cy="3291840"/>
          </a:xfrm>
          <a:prstGeom prst="rect">
            <a:avLst/>
          </a:prstGeom>
          <a:ln w="9525">
            <a:solidFill>
              <a:srgbClr val="D9D9D9"/>
            </a:solidFill>
          </a:ln>
        </p:spPr>
      </p:pic>
      <p:sp>
        <p:nvSpPr>
          <p:cNvPr id="90" name="TextBox 89"/>
          <p:cNvSpPr txBox="1"/>
          <p:nvPr/>
        </p:nvSpPr>
        <p:spPr>
          <a:xfrm>
            <a:off x="411480" y="5961888"/>
            <a:ext cx="5577840" cy="219456"/>
          </a:xfrm>
          <a:prstGeom prst="rect">
            <a:avLst/>
          </a:prstGeom>
          <a:noFill/>
        </p:spPr>
        <p:txBody>
          <a:bodyPr wrap="square" anchor="t" lIns="36000" rIns="36000" tIns="10800" bIns="10800">
            <a:spAutoFit/>
          </a:bodyPr>
          <a:lstStyle/>
          <a:p>
            <a:pPr algn="l">
              <a:lnSpc>
                <a:spcPct val="105000"/>
              </a:lnSpc>
              <a:spcAft>
                <a:spcPts val="200"/>
              </a:spcAft>
            </a:pPr>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の最大化</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6373368" y="1911095"/>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入口</a:t>
            </a:r>
          </a:p>
          <a:p>
            <a:pPr algn="l">
              <a:lnSpc>
                <a:spcPct val="105000"/>
              </a:lnSpc>
              <a:spcAft>
                <a:spcPts val="200"/>
              </a:spcAft>
            </a:pPr>
            <a:r>
              <a:rPr sz="1200" b="0">
                <a:solidFill>
                  <a:srgbClr val="333333"/>
                </a:solidFill>
                <a:latin typeface="メイリオ"/>
                <a:ea typeface="メイリオ"/>
                <a:cs typeface="メイリオ"/>
              </a:rPr>
              <a:t>診断に答えていない方には、</a:t>
            </a:r>
          </a:p>
          <a:p>
            <a:pPr algn="l">
              <a:lnSpc>
                <a:spcPct val="105000"/>
              </a:lnSpc>
              <a:spcAft>
                <a:spcPts val="200"/>
              </a:spcAft>
            </a:pPr>
            <a:r>
              <a:rPr sz="1200" b="0">
                <a:solidFill>
                  <a:srgbClr val="333333"/>
                </a:solidFill>
                <a:latin typeface="メイリオ"/>
                <a:ea typeface="メイリオ"/>
                <a:cs typeface="メイリオ"/>
              </a:rPr>
              <a:t>翌日に答えるお願いを届ける</a:t>
            </a:r>
          </a:p>
        </p:txBody>
      </p:sp>
      <p:sp>
        <p:nvSpPr>
          <p:cNvPr id="109" name="TextBox 108"/>
          <p:cNvSpPr txBox="1"/>
          <p:nvPr/>
        </p:nvSpPr>
        <p:spPr>
          <a:xfrm>
            <a:off x="6373368" y="3395472"/>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LINEの仕組み</a:t>
            </a:r>
          </a:p>
          <a:p>
            <a:pPr algn="l">
              <a:lnSpc>
                <a:spcPct val="105000"/>
              </a:lnSpc>
              <a:spcAft>
                <a:spcPts val="200"/>
              </a:spcAft>
            </a:pPr>
            <a:r>
              <a:rPr sz="1200" b="0">
                <a:solidFill>
                  <a:srgbClr val="333333"/>
                </a:solidFill>
                <a:latin typeface="メイリオ"/>
                <a:ea typeface="メイリオ"/>
                <a:cs typeface="メイリオ"/>
              </a:rPr>
              <a:t>押した内容（お金・寮など）で</a:t>
            </a:r>
          </a:p>
          <a:p>
            <a:pPr algn="l">
              <a:lnSpc>
                <a:spcPct val="105000"/>
              </a:lnSpc>
              <a:spcAft>
                <a:spcPts val="200"/>
              </a:spcAft>
            </a:pPr>
            <a:r>
              <a:rPr sz="1200" b="0">
                <a:solidFill>
                  <a:srgbClr val="333333"/>
                </a:solidFill>
                <a:latin typeface="メイリオ"/>
                <a:ea typeface="メイリオ"/>
                <a:cs typeface="メイリオ"/>
              </a:rPr>
              <a:t>タグを付け、次の配信を変える</a:t>
            </a:r>
          </a:p>
        </p:txBody>
      </p:sp>
      <p:sp>
        <p:nvSpPr>
          <p:cNvPr id="110" name="TextBox 109"/>
          <p:cNvSpPr txBox="1"/>
          <p:nvPr/>
        </p:nvSpPr>
        <p:spPr>
          <a:xfrm>
            <a:off x="6373368" y="4879848"/>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配信内容</a:t>
            </a:r>
          </a:p>
          <a:p>
            <a:pPr algn="l">
              <a:lnSpc>
                <a:spcPct val="105000"/>
              </a:lnSpc>
              <a:spcAft>
                <a:spcPts val="200"/>
              </a:spcAft>
            </a:pPr>
            <a:r>
              <a:rPr sz="1200" b="0">
                <a:solidFill>
                  <a:srgbClr val="333333"/>
                </a:solidFill>
                <a:latin typeface="メイリオ"/>
                <a:ea typeface="メイリオ"/>
                <a:cs typeface="メイリオ"/>
              </a:rPr>
              <a:t>寮の写真や1日の流れなど、</a:t>
            </a:r>
          </a:p>
          <a:p>
            <a:pPr algn="l">
              <a:lnSpc>
                <a:spcPct val="105000"/>
              </a:lnSpc>
              <a:spcAft>
                <a:spcPts val="200"/>
              </a:spcAft>
            </a:pPr>
            <a:r>
              <a:rPr sz="1200" b="0">
                <a:solidFill>
                  <a:srgbClr val="333333"/>
                </a:solidFill>
                <a:latin typeface="メイリオ"/>
                <a:ea typeface="メイリオ"/>
                <a:cs typeface="メイリオ"/>
              </a:rPr>
              <a:t>不安ごとの配信を足す</a:t>
            </a:r>
          </a:p>
        </p:txBody>
      </p:sp>
      <p:sp>
        <p:nvSpPr>
          <p:cNvPr id="111" name="TextBox 110"/>
          <p:cNvSpPr txBox="1"/>
          <p:nvPr/>
        </p:nvSpPr>
        <p:spPr>
          <a:xfrm>
            <a:off x="411480" y="1965959"/>
            <a:ext cx="5577840" cy="640079"/>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追加後15日で、応募（ENTRY）へ</a:t>
            </a:r>
          </a:p>
        </p:txBody>
      </p:sp>
      <p:pic>
        <p:nvPicPr>
          <p:cNvPr id="112" name="Picture 111" descr="demo8_p26.png"/>
          <p:cNvPicPr>
            <a:picLocks noChangeAspect="1"/>
          </p:cNvPicPr>
          <p:nvPr/>
        </p:nvPicPr>
        <p:blipFill>
          <a:blip r:embed="rId2"/>
          <a:stretch>
            <a:fillRect/>
          </a:stretch>
        </p:blipFill>
        <p:spPr>
          <a:xfrm>
            <a:off x="1153323" y="2633472"/>
            <a:ext cx="4112441" cy="3291840"/>
          </a:xfrm>
          <a:prstGeom prst="rect">
            <a:avLst/>
          </a:prstGeom>
          <a:ln w="9525">
            <a:solidFill>
              <a:srgbClr val="D9D9D9"/>
            </a:solidFill>
          </a:ln>
        </p:spPr>
      </p:pic>
      <p:sp>
        <p:nvSpPr>
          <p:cNvPr id="113" name="TextBox 112"/>
          <p:cNvSpPr txBox="1"/>
          <p:nvPr/>
        </p:nvSpPr>
        <p:spPr>
          <a:xfrm>
            <a:off x="411480" y="5961888"/>
            <a:ext cx="5577840" cy="219456"/>
          </a:xfrm>
          <a:prstGeom prst="rect">
            <a:avLst/>
          </a:prstGeom>
          <a:noFill/>
        </p:spPr>
        <p:txBody>
          <a:bodyPr wrap="square" anchor="t" lIns="36000" rIns="36000" tIns="10800" bIns="10800">
            <a:spAutoFit/>
          </a:bodyPr>
          <a:lstStyle/>
          <a:p>
            <a:pPr algn="l">
              <a:lnSpc>
                <a:spcPct val="105000"/>
              </a:lnSpc>
              <a:spcAft>
                <a:spcPts val="200"/>
              </a:spcAft>
            </a:pPr>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CPO</a:t>
            </a:r>
            <a:r>
              <a:rPr kumimoji="1" lang="ja-JP" altLang="en-US" sz="1200" b="1" dirty="0">
                <a:solidFill>
                  <a:srgbClr val="FFFFFF"/>
                </a:solidFill>
                <a:latin typeface="メイリオ" panose="020B0604030504040204" pitchFamily="50" charset="-128"/>
                <a:ea typeface="メイリオ" panose="020B0604030504040204" pitchFamily="50" charset="-128"/>
              </a:rPr>
              <a:t>の改善（</a:t>
            </a:r>
            <a:r>
              <a:rPr kumimoji="1" lang="en-US" altLang="ja-JP" sz="1200" b="1" dirty="0">
                <a:solidFill>
                  <a:srgbClr val="FFFFFF"/>
                </a:solidFill>
                <a:latin typeface="メイリオ" panose="020B0604030504040204" pitchFamily="50" charset="-128"/>
                <a:ea typeface="メイリオ" panose="020B0604030504040204" pitchFamily="50" charset="-128"/>
              </a:rPr>
              <a:t>CV</a:t>
            </a:r>
            <a:r>
              <a:rPr kumimoji="1" lang="ja-JP" altLang="en-US" sz="1200" b="1" dirty="0">
                <a:solidFill>
                  <a:srgbClr val="FFFFFF"/>
                </a:solidFill>
                <a:latin typeface="メイリオ" panose="020B0604030504040204" pitchFamily="50" charset="-128"/>
                <a:ea typeface="メイリオ" panose="020B0604030504040204" pitchFamily="50" charset="-128"/>
              </a:rPr>
              <a:t>質）</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6373368" y="1911095"/>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入口</a:t>
            </a:r>
          </a:p>
          <a:p>
            <a:pPr algn="l">
              <a:lnSpc>
                <a:spcPct val="105000"/>
              </a:lnSpc>
              <a:spcAft>
                <a:spcPts val="200"/>
              </a:spcAft>
            </a:pPr>
            <a:r>
              <a:rPr sz="1200" b="0">
                <a:solidFill>
                  <a:srgbClr val="333333"/>
                </a:solidFill>
                <a:latin typeface="メイリオ"/>
                <a:ea typeface="メイリオ"/>
                <a:cs typeface="メイリオ"/>
              </a:rPr>
              <a:t>お問い合わせなど、ほかの</a:t>
            </a:r>
          </a:p>
          <a:p>
            <a:pPr algn="l">
              <a:lnSpc>
                <a:spcPct val="105000"/>
              </a:lnSpc>
              <a:spcAft>
                <a:spcPts val="200"/>
              </a:spcAft>
            </a:pPr>
            <a:r>
              <a:rPr sz="1200" b="0">
                <a:solidFill>
                  <a:srgbClr val="333333"/>
                </a:solidFill>
                <a:latin typeface="メイリオ"/>
                <a:ea typeface="メイリオ"/>
                <a:cs typeface="メイリオ"/>
              </a:rPr>
              <a:t>フォームの完了画面にも置く</a:t>
            </a:r>
          </a:p>
        </p:txBody>
      </p:sp>
      <p:sp>
        <p:nvSpPr>
          <p:cNvPr id="105" name="TextBox 104"/>
          <p:cNvSpPr txBox="1"/>
          <p:nvPr/>
        </p:nvSpPr>
        <p:spPr>
          <a:xfrm>
            <a:off x="6373368" y="3395472"/>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LINEの仕組み</a:t>
            </a:r>
          </a:p>
          <a:p>
            <a:pPr algn="l">
              <a:lnSpc>
                <a:spcPct val="105000"/>
              </a:lnSpc>
              <a:spcAft>
                <a:spcPts val="200"/>
              </a:spcAft>
            </a:pPr>
            <a:r>
              <a:rPr sz="1200" b="0">
                <a:solidFill>
                  <a:srgbClr val="333333"/>
                </a:solidFill>
                <a:latin typeface="メイリオ"/>
                <a:ea typeface="メイリオ"/>
                <a:cs typeface="メイリオ"/>
              </a:rPr>
              <a:t>ENTRYで伺った内容と同じ質問は</a:t>
            </a:r>
          </a:p>
          <a:p>
            <a:pPr algn="l">
              <a:lnSpc>
                <a:spcPct val="105000"/>
              </a:lnSpc>
              <a:spcAft>
                <a:spcPts val="200"/>
              </a:spcAft>
            </a:pPr>
            <a:r>
              <a:rPr sz="1200" b="0">
                <a:solidFill>
                  <a:srgbClr val="333333"/>
                </a:solidFill>
                <a:latin typeface="メイリオ"/>
                <a:ea typeface="メイリオ"/>
                <a:cs typeface="メイリオ"/>
              </a:rPr>
              <a:t>省いて、診断を短くする</a:t>
            </a:r>
          </a:p>
        </p:txBody>
      </p:sp>
      <p:sp>
        <p:nvSpPr>
          <p:cNvPr id="106" name="TextBox 105"/>
          <p:cNvSpPr txBox="1"/>
          <p:nvPr/>
        </p:nvSpPr>
        <p:spPr>
          <a:xfrm>
            <a:off x="6373368" y="4879848"/>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配信内容</a:t>
            </a:r>
          </a:p>
          <a:p>
            <a:pPr algn="l">
              <a:lnSpc>
                <a:spcPct val="105000"/>
              </a:lnSpc>
              <a:spcAft>
                <a:spcPts val="200"/>
              </a:spcAft>
            </a:pPr>
            <a:r>
              <a:rPr sz="1200" b="0">
                <a:solidFill>
                  <a:srgbClr val="333333"/>
                </a:solidFill>
                <a:latin typeface="メイリオ"/>
                <a:ea typeface="メイリオ"/>
                <a:cs typeface="メイリオ"/>
              </a:rPr>
              <a:t>面談・お仕事開始までの流れ、</a:t>
            </a:r>
          </a:p>
          <a:p>
            <a:pPr algn="l">
              <a:lnSpc>
                <a:spcPct val="105000"/>
              </a:lnSpc>
              <a:spcAft>
                <a:spcPts val="200"/>
              </a:spcAft>
            </a:pPr>
            <a:r>
              <a:rPr sz="1200" b="0">
                <a:solidFill>
                  <a:srgbClr val="333333"/>
                </a:solidFill>
                <a:latin typeface="メイリオ"/>
                <a:ea typeface="メイリオ"/>
                <a:cs typeface="メイリオ"/>
              </a:rPr>
              <a:t>持ち物・よくある質問を届ける</a:t>
            </a:r>
          </a:p>
        </p:txBody>
      </p:sp>
      <p:sp>
        <p:nvSpPr>
          <p:cNvPr id="107" name="TextBox 106"/>
          <p:cNvSpPr txBox="1"/>
          <p:nvPr/>
        </p:nvSpPr>
        <p:spPr>
          <a:xfrm>
            <a:off x="411480" y="1965959"/>
            <a:ext cx="5577840" cy="640079"/>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サンクスLINE誘導（オプション）</a:t>
            </a:r>
          </a:p>
          <a:p>
            <a:pPr algn="l">
              <a:lnSpc>
                <a:spcPct val="105000"/>
              </a:lnSpc>
              <a:spcAft>
                <a:spcPts val="200"/>
              </a:spcAft>
            </a:pPr>
            <a:r>
              <a:rPr sz="1200" b="0">
                <a:solidFill>
                  <a:srgbClr val="333333"/>
                </a:solidFill>
                <a:latin typeface="メイリオ"/>
                <a:ea typeface="メイリオ"/>
                <a:cs typeface="メイリオ"/>
              </a:rPr>
              <a:t>応募の完了画面から、そのままLINEへ</a:t>
            </a:r>
          </a:p>
        </p:txBody>
      </p:sp>
      <p:pic>
        <p:nvPicPr>
          <p:cNvPr id="108" name="Picture 107" descr="demo8_p27.png"/>
          <p:cNvPicPr>
            <a:picLocks noChangeAspect="1"/>
          </p:cNvPicPr>
          <p:nvPr/>
        </p:nvPicPr>
        <p:blipFill>
          <a:blip r:embed="rId2"/>
          <a:stretch>
            <a:fillRect/>
          </a:stretch>
        </p:blipFill>
        <p:spPr>
          <a:xfrm>
            <a:off x="1153323" y="2633472"/>
            <a:ext cx="4112441" cy="3291840"/>
          </a:xfrm>
          <a:prstGeom prst="rect">
            <a:avLst/>
          </a:prstGeom>
          <a:ln w="9525">
            <a:solidFill>
              <a:srgbClr val="D9D9D9"/>
            </a:solidFill>
          </a:ln>
        </p:spPr>
      </p:pic>
      <p:sp>
        <p:nvSpPr>
          <p:cNvPr id="109" name="TextBox 108"/>
          <p:cNvSpPr txBox="1"/>
          <p:nvPr/>
        </p:nvSpPr>
        <p:spPr>
          <a:xfrm>
            <a:off x="411480" y="5961888"/>
            <a:ext cx="5577840" cy="219456"/>
          </a:xfrm>
          <a:prstGeom prst="rect">
            <a:avLst/>
          </a:prstGeom>
          <a:noFill/>
        </p:spPr>
        <p:txBody>
          <a:bodyPr wrap="square" anchor="t" lIns="36000" rIns="36000" tIns="10800" bIns="10800">
            <a:spAutoFit/>
          </a:bodyPr>
          <a:lstStyle/>
          <a:p>
            <a:pPr algn="l">
              <a:lnSpc>
                <a:spcPct val="105000"/>
              </a:lnSpc>
              <a:spcAft>
                <a:spcPts val="200"/>
              </a:spcAft>
            </a:pPr>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休眠顧客の有効化</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6373368" y="1911095"/>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入口</a:t>
            </a:r>
          </a:p>
          <a:p>
            <a:pPr algn="l">
              <a:lnSpc>
                <a:spcPct val="105000"/>
              </a:lnSpc>
              <a:spcAft>
                <a:spcPts val="200"/>
              </a:spcAft>
            </a:pPr>
            <a:r>
              <a:rPr sz="1200" b="0">
                <a:solidFill>
                  <a:srgbClr val="333333"/>
                </a:solidFill>
                <a:latin typeface="メイリオ"/>
                <a:ea typeface="メイリオ"/>
                <a:cs typeface="メイリオ"/>
              </a:rPr>
              <a:t>リッチメニューにも、</a:t>
            </a:r>
          </a:p>
          <a:p>
            <a:pPr algn="l">
              <a:lnSpc>
                <a:spcPct val="105000"/>
              </a:lnSpc>
              <a:spcAft>
                <a:spcPts val="200"/>
              </a:spcAft>
            </a:pPr>
            <a:r>
              <a:rPr sz="1200" b="0">
                <a:solidFill>
                  <a:srgbClr val="333333"/>
                </a:solidFill>
                <a:latin typeface="メイリオ"/>
                <a:ea typeface="メイリオ"/>
                <a:cs typeface="メイリオ"/>
              </a:rPr>
              <a:t>「希望を変える」ボタンを置く</a:t>
            </a:r>
          </a:p>
        </p:txBody>
      </p:sp>
      <p:sp>
        <p:nvSpPr>
          <p:cNvPr id="105" name="TextBox 104"/>
          <p:cNvSpPr txBox="1"/>
          <p:nvPr/>
        </p:nvSpPr>
        <p:spPr>
          <a:xfrm>
            <a:off x="6373368" y="3395472"/>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LINEの仕組み</a:t>
            </a:r>
          </a:p>
          <a:p>
            <a:pPr algn="l">
              <a:lnSpc>
                <a:spcPct val="105000"/>
              </a:lnSpc>
              <a:spcAft>
                <a:spcPts val="200"/>
              </a:spcAft>
            </a:pPr>
            <a:r>
              <a:rPr sz="1200" b="0">
                <a:solidFill>
                  <a:srgbClr val="333333"/>
                </a:solidFill>
                <a:latin typeface="メイリオ"/>
                <a:ea typeface="メイリオ"/>
                <a:cs typeface="メイリオ"/>
              </a:rPr>
              <a:t>反応のない期間（30日・60日）で</a:t>
            </a:r>
          </a:p>
          <a:p>
            <a:pPr algn="l">
              <a:lnSpc>
                <a:spcPct val="105000"/>
              </a:lnSpc>
              <a:spcAft>
                <a:spcPts val="200"/>
              </a:spcAft>
            </a:pPr>
            <a:r>
              <a:rPr sz="1200" b="0">
                <a:solidFill>
                  <a:srgbClr val="333333"/>
                </a:solidFill>
                <a:latin typeface="メイリオ"/>
                <a:ea typeface="メイリオ"/>
                <a:cs typeface="メイリオ"/>
              </a:rPr>
              <a:t>タグを分けて、送る回数を変える</a:t>
            </a:r>
          </a:p>
        </p:txBody>
      </p:sp>
      <p:sp>
        <p:nvSpPr>
          <p:cNvPr id="106" name="TextBox 105"/>
          <p:cNvSpPr txBox="1"/>
          <p:nvPr/>
        </p:nvSpPr>
        <p:spPr>
          <a:xfrm>
            <a:off x="6373368" y="4879848"/>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配信内容</a:t>
            </a:r>
          </a:p>
          <a:p>
            <a:pPr algn="l">
              <a:lnSpc>
                <a:spcPct val="105000"/>
              </a:lnSpc>
              <a:spcAft>
                <a:spcPts val="200"/>
              </a:spcAft>
            </a:pPr>
            <a:r>
              <a:rPr sz="1200" b="0">
                <a:solidFill>
                  <a:srgbClr val="333333"/>
                </a:solidFill>
                <a:latin typeface="メイリオ"/>
                <a:ea typeface="メイリオ"/>
                <a:cs typeface="メイリオ"/>
              </a:rPr>
              <a:t>シーズンの前に、開始月別の</a:t>
            </a:r>
          </a:p>
          <a:p>
            <a:pPr algn="l">
              <a:lnSpc>
                <a:spcPct val="105000"/>
              </a:lnSpc>
              <a:spcAft>
                <a:spcPts val="200"/>
              </a:spcAft>
            </a:pPr>
            <a:r>
              <a:rPr sz="1200" b="0">
                <a:solidFill>
                  <a:srgbClr val="333333"/>
                </a:solidFill>
                <a:latin typeface="メイリオ"/>
                <a:ea typeface="メイリオ"/>
                <a:cs typeface="メイリオ"/>
              </a:rPr>
              <a:t>新着求人だけを短く届ける</a:t>
            </a:r>
          </a:p>
        </p:txBody>
      </p:sp>
      <p:sp>
        <p:nvSpPr>
          <p:cNvPr id="107" name="TextBox 106"/>
          <p:cNvSpPr txBox="1"/>
          <p:nvPr/>
        </p:nvSpPr>
        <p:spPr>
          <a:xfrm>
            <a:off x="411480" y="1965959"/>
            <a:ext cx="5577840" cy="640079"/>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休眠の掘り起こし</a:t>
            </a:r>
          </a:p>
          <a:p>
            <a:pPr algn="l">
              <a:lnSpc>
                <a:spcPct val="105000"/>
              </a:lnSpc>
              <a:spcAft>
                <a:spcPts val="200"/>
              </a:spcAft>
            </a:pPr>
            <a:r>
              <a:rPr sz="1200" b="0">
                <a:solidFill>
                  <a:srgbClr val="333333"/>
                </a:solidFill>
                <a:latin typeface="メイリオ"/>
                <a:ea typeface="メイリオ"/>
                <a:cs typeface="メイリオ"/>
              </a:rPr>
              <a:t>反応のない方に、開始時期を聞き直す</a:t>
            </a:r>
          </a:p>
        </p:txBody>
      </p:sp>
      <p:pic>
        <p:nvPicPr>
          <p:cNvPr id="108" name="Picture 107" descr="demo8_p28.png"/>
          <p:cNvPicPr>
            <a:picLocks noChangeAspect="1"/>
          </p:cNvPicPr>
          <p:nvPr/>
        </p:nvPicPr>
        <p:blipFill>
          <a:blip r:embed="rId2"/>
          <a:stretch>
            <a:fillRect/>
          </a:stretch>
        </p:blipFill>
        <p:spPr>
          <a:xfrm>
            <a:off x="1153323" y="2633472"/>
            <a:ext cx="4112441" cy="3291840"/>
          </a:xfrm>
          <a:prstGeom prst="rect">
            <a:avLst/>
          </a:prstGeom>
          <a:ln w="9525">
            <a:solidFill>
              <a:srgbClr val="D9D9D9"/>
            </a:solidFill>
          </a:ln>
        </p:spPr>
      </p:pic>
      <p:sp>
        <p:nvSpPr>
          <p:cNvPr id="109" name="TextBox 108"/>
          <p:cNvSpPr txBox="1"/>
          <p:nvPr/>
        </p:nvSpPr>
        <p:spPr>
          <a:xfrm>
            <a:off x="411480" y="5961888"/>
            <a:ext cx="5577840" cy="219456"/>
          </a:xfrm>
          <a:prstGeom prst="rect">
            <a:avLst/>
          </a:prstGeom>
          <a:noFill/>
        </p:spPr>
        <p:txBody>
          <a:bodyPr wrap="square" anchor="t" lIns="36000" rIns="36000" tIns="10800" bIns="10800">
            <a:spAutoFit/>
          </a:bodyPr>
          <a:lstStyle/>
          <a:p>
            <a:pPr algn="l">
              <a:lnSpc>
                <a:spcPct val="105000"/>
              </a:lnSpc>
              <a:spcAft>
                <a:spcPts val="200"/>
              </a:spcAft>
            </a:pPr>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マネタイズ最大化</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6373368" y="1911095"/>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入口</a:t>
            </a:r>
          </a:p>
          <a:p>
            <a:pPr algn="l">
              <a:lnSpc>
                <a:spcPct val="105000"/>
              </a:lnSpc>
              <a:spcAft>
                <a:spcPts val="200"/>
              </a:spcAft>
            </a:pPr>
            <a:r>
              <a:rPr sz="1200" b="0">
                <a:solidFill>
                  <a:srgbClr val="333333"/>
                </a:solidFill>
                <a:latin typeface="メイリオ"/>
                <a:ea typeface="メイリオ"/>
                <a:cs typeface="メイリオ"/>
              </a:rPr>
              <a:t>求人を押したが応募していない方に、</a:t>
            </a:r>
          </a:p>
          <a:p>
            <a:pPr algn="l">
              <a:lnSpc>
                <a:spcPct val="105000"/>
              </a:lnSpc>
              <a:spcAft>
                <a:spcPts val="200"/>
              </a:spcAft>
            </a:pPr>
            <a:r>
              <a:rPr sz="1200" b="0">
                <a:solidFill>
                  <a:srgbClr val="333333"/>
                </a:solidFill>
                <a:latin typeface="メイリオ"/>
                <a:ea typeface="メイリオ"/>
                <a:cs typeface="メイリオ"/>
              </a:rPr>
              <a:t>翌日にその求人を届け直す</a:t>
            </a:r>
          </a:p>
        </p:txBody>
      </p:sp>
      <p:sp>
        <p:nvSpPr>
          <p:cNvPr id="105" name="TextBox 104"/>
          <p:cNvSpPr txBox="1"/>
          <p:nvPr/>
        </p:nvSpPr>
        <p:spPr>
          <a:xfrm>
            <a:off x="6373368" y="3395472"/>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LINEの仕組み</a:t>
            </a:r>
          </a:p>
          <a:p>
            <a:pPr algn="l">
              <a:lnSpc>
                <a:spcPct val="105000"/>
              </a:lnSpc>
              <a:spcAft>
                <a:spcPts val="200"/>
              </a:spcAft>
            </a:pPr>
            <a:r>
              <a:rPr sz="1200" b="0">
                <a:solidFill>
                  <a:srgbClr val="333333"/>
                </a:solidFill>
                <a:latin typeface="メイリオ"/>
                <a:ea typeface="メイリオ"/>
                <a:cs typeface="メイリオ"/>
              </a:rPr>
              <a:t>重視したいポイント（立地・</a:t>
            </a:r>
          </a:p>
          <a:p>
            <a:pPr algn="l">
              <a:lnSpc>
                <a:spcPct val="105000"/>
              </a:lnSpc>
              <a:spcAft>
                <a:spcPts val="200"/>
              </a:spcAft>
            </a:pPr>
            <a:r>
              <a:rPr sz="1200" b="0">
                <a:solidFill>
                  <a:srgbClr val="333333"/>
                </a:solidFill>
                <a:latin typeface="メイリオ"/>
                <a:ea typeface="メイリオ"/>
                <a:cs typeface="メイリオ"/>
              </a:rPr>
              <a:t>稼げる・出会い・住環境）も聞く</a:t>
            </a:r>
          </a:p>
        </p:txBody>
      </p:sp>
      <p:sp>
        <p:nvSpPr>
          <p:cNvPr id="106" name="TextBox 105"/>
          <p:cNvSpPr txBox="1"/>
          <p:nvPr/>
        </p:nvSpPr>
        <p:spPr>
          <a:xfrm>
            <a:off x="6373368" y="4879848"/>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配信内容</a:t>
            </a:r>
          </a:p>
          <a:p>
            <a:pPr algn="l">
              <a:lnSpc>
                <a:spcPct val="105000"/>
              </a:lnSpc>
              <a:spcAft>
                <a:spcPts val="200"/>
              </a:spcAft>
            </a:pPr>
            <a:r>
              <a:rPr sz="1200" b="0">
                <a:solidFill>
                  <a:srgbClr val="333333"/>
                </a:solidFill>
                <a:latin typeface="メイリオ"/>
                <a:ea typeface="メイリオ"/>
                <a:cs typeface="メイリオ"/>
              </a:rPr>
              <a:t>求人と一緒に、</a:t>
            </a:r>
          </a:p>
          <a:p>
            <a:pPr algn="l">
              <a:lnSpc>
                <a:spcPct val="105000"/>
              </a:lnSpc>
              <a:spcAft>
                <a:spcPts val="200"/>
              </a:spcAft>
            </a:pPr>
            <a:r>
              <a:rPr sz="1200" b="0">
                <a:solidFill>
                  <a:srgbClr val="333333"/>
                </a:solidFill>
                <a:latin typeface="メイリオ"/>
                <a:ea typeface="メイリオ"/>
                <a:cs typeface="メイリオ"/>
              </a:rPr>
              <a:t>専属エージェントへの相談の入口も届ける</a:t>
            </a:r>
          </a:p>
        </p:txBody>
      </p:sp>
      <p:sp>
        <p:nvSpPr>
          <p:cNvPr id="107" name="TextBox 106"/>
          <p:cNvSpPr txBox="1"/>
          <p:nvPr/>
        </p:nvSpPr>
        <p:spPr>
          <a:xfrm>
            <a:off x="411480" y="1965959"/>
            <a:ext cx="5577840" cy="640079"/>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合う方にだけ、合う求人を届ける</a:t>
            </a:r>
          </a:p>
        </p:txBody>
      </p:sp>
      <p:pic>
        <p:nvPicPr>
          <p:cNvPr id="108" name="Picture 107" descr="demo8_p29.png"/>
          <p:cNvPicPr>
            <a:picLocks noChangeAspect="1"/>
          </p:cNvPicPr>
          <p:nvPr/>
        </p:nvPicPr>
        <p:blipFill>
          <a:blip r:embed="rId2"/>
          <a:stretch>
            <a:fillRect/>
          </a:stretch>
        </p:blipFill>
        <p:spPr>
          <a:xfrm>
            <a:off x="1153323" y="2633472"/>
            <a:ext cx="4112441" cy="3291840"/>
          </a:xfrm>
          <a:prstGeom prst="rect">
            <a:avLst/>
          </a:prstGeom>
          <a:ln w="9525">
            <a:solidFill>
              <a:srgbClr val="D9D9D9"/>
            </a:solidFill>
          </a:ln>
        </p:spPr>
      </p:pic>
      <p:sp>
        <p:nvSpPr>
          <p:cNvPr id="109" name="TextBox 108"/>
          <p:cNvSpPr txBox="1"/>
          <p:nvPr/>
        </p:nvSpPr>
        <p:spPr>
          <a:xfrm>
            <a:off x="411480" y="5961888"/>
            <a:ext cx="5577840" cy="219456"/>
          </a:xfrm>
          <a:prstGeom prst="rect">
            <a:avLst/>
          </a:prstGeom>
          <a:noFill/>
        </p:spPr>
        <p:txBody>
          <a:bodyPr wrap="square" anchor="t" lIns="36000" rIns="36000" tIns="10800" bIns="10800">
            <a:spAutoFit/>
          </a:bodyPr>
          <a:lstStyle/>
          <a:p>
            <a:pPr algn="l">
              <a:lnSpc>
                <a:spcPct val="105000"/>
              </a:lnSpc>
              <a:spcAft>
                <a:spcPts val="200"/>
              </a:spcAft>
            </a:pPr>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リピート施策</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6373368" y="1911095"/>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入口</a:t>
            </a:r>
          </a:p>
          <a:p>
            <a:pPr algn="l">
              <a:lnSpc>
                <a:spcPct val="105000"/>
              </a:lnSpc>
              <a:spcAft>
                <a:spcPts val="200"/>
              </a:spcAft>
            </a:pPr>
            <a:r>
              <a:rPr sz="1200" b="0">
                <a:solidFill>
                  <a:srgbClr val="333333"/>
                </a:solidFill>
                <a:latin typeface="メイリオ"/>
                <a:ea typeface="メイリオ"/>
                <a:cs typeface="メイリオ"/>
              </a:rPr>
              <a:t>お仕事が終わる前に、</a:t>
            </a:r>
          </a:p>
          <a:p>
            <a:pPr algn="l">
              <a:lnSpc>
                <a:spcPct val="105000"/>
              </a:lnSpc>
              <a:spcAft>
                <a:spcPts val="200"/>
              </a:spcAft>
            </a:pPr>
            <a:r>
              <a:rPr sz="1200" b="0">
                <a:solidFill>
                  <a:srgbClr val="333333"/>
                </a:solidFill>
                <a:latin typeface="メイリオ"/>
                <a:ea typeface="メイリオ"/>
                <a:cs typeface="メイリオ"/>
              </a:rPr>
              <a:t>次の希望を聞くアンケートを送る</a:t>
            </a:r>
          </a:p>
        </p:txBody>
      </p:sp>
      <p:sp>
        <p:nvSpPr>
          <p:cNvPr id="105" name="TextBox 104"/>
          <p:cNvSpPr txBox="1"/>
          <p:nvPr/>
        </p:nvSpPr>
        <p:spPr>
          <a:xfrm>
            <a:off x="6373368" y="3395472"/>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LINEの仕組み</a:t>
            </a:r>
          </a:p>
          <a:p>
            <a:pPr algn="l">
              <a:lnSpc>
                <a:spcPct val="105000"/>
              </a:lnSpc>
              <a:spcAft>
                <a:spcPts val="200"/>
              </a:spcAft>
            </a:pPr>
            <a:r>
              <a:rPr sz="1200" b="0">
                <a:solidFill>
                  <a:srgbClr val="333333"/>
                </a:solidFill>
                <a:latin typeface="メイリオ"/>
                <a:ea typeface="メイリオ"/>
                <a:cs typeface="メイリオ"/>
              </a:rPr>
              <a:t>勤務した時期・エリアで</a:t>
            </a:r>
          </a:p>
          <a:p>
            <a:pPr algn="l">
              <a:lnSpc>
                <a:spcPct val="105000"/>
              </a:lnSpc>
              <a:spcAft>
                <a:spcPts val="200"/>
              </a:spcAft>
            </a:pPr>
            <a:r>
              <a:rPr sz="1200" b="0">
                <a:solidFill>
                  <a:srgbClr val="333333"/>
                </a:solidFill>
                <a:latin typeface="メイリオ"/>
                <a:ea typeface="メイリオ"/>
                <a:cs typeface="メイリオ"/>
              </a:rPr>
              <a:t>タグを付け、次の季節に出し分ける</a:t>
            </a:r>
          </a:p>
        </p:txBody>
      </p:sp>
      <p:sp>
        <p:nvSpPr>
          <p:cNvPr id="106" name="TextBox 105"/>
          <p:cNvSpPr txBox="1"/>
          <p:nvPr/>
        </p:nvSpPr>
        <p:spPr>
          <a:xfrm>
            <a:off x="6373368" y="4879848"/>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配信内容</a:t>
            </a:r>
          </a:p>
          <a:p>
            <a:pPr algn="l">
              <a:lnSpc>
                <a:spcPct val="105000"/>
              </a:lnSpc>
              <a:spcAft>
                <a:spcPts val="200"/>
              </a:spcAft>
            </a:pPr>
            <a:r>
              <a:rPr sz="1200" b="0">
                <a:solidFill>
                  <a:srgbClr val="333333"/>
                </a:solidFill>
                <a:latin typeface="メイリオ"/>
                <a:ea typeface="メイリオ"/>
                <a:cs typeface="メイリオ"/>
              </a:rPr>
              <a:t>前回と同じエリア・違うエリアの</a:t>
            </a:r>
          </a:p>
          <a:p>
            <a:pPr algn="l">
              <a:lnSpc>
                <a:spcPct val="105000"/>
              </a:lnSpc>
              <a:spcAft>
                <a:spcPts val="200"/>
              </a:spcAft>
            </a:pPr>
            <a:r>
              <a:rPr sz="1200" b="0">
                <a:solidFill>
                  <a:srgbClr val="333333"/>
                </a:solidFill>
                <a:latin typeface="メイリオ"/>
                <a:ea typeface="メイリオ"/>
                <a:cs typeface="メイリオ"/>
              </a:rPr>
              <a:t>求人を並べて届ける</a:t>
            </a:r>
          </a:p>
        </p:txBody>
      </p:sp>
      <p:sp>
        <p:nvSpPr>
          <p:cNvPr id="107" name="TextBox 106"/>
          <p:cNvSpPr txBox="1"/>
          <p:nvPr/>
        </p:nvSpPr>
        <p:spPr>
          <a:xfrm>
            <a:off x="411480" y="1965959"/>
            <a:ext cx="5577840" cy="640079"/>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次のシーズンのお仕事</a:t>
            </a:r>
          </a:p>
          <a:p>
            <a:pPr algn="l">
              <a:lnSpc>
                <a:spcPct val="105000"/>
              </a:lnSpc>
              <a:spcAft>
                <a:spcPts val="200"/>
              </a:spcAft>
            </a:pPr>
            <a:r>
              <a:rPr sz="1200" b="0">
                <a:solidFill>
                  <a:srgbClr val="333333"/>
                </a:solidFill>
                <a:latin typeface="メイリオ"/>
                <a:ea typeface="メイリオ"/>
                <a:cs typeface="メイリオ"/>
              </a:rPr>
              <a:t>お仕事を終えた方に、次の求人を先に届ける</a:t>
            </a:r>
          </a:p>
        </p:txBody>
      </p:sp>
      <p:pic>
        <p:nvPicPr>
          <p:cNvPr id="108" name="Picture 107" descr="demo8_p30.png"/>
          <p:cNvPicPr>
            <a:picLocks noChangeAspect="1"/>
          </p:cNvPicPr>
          <p:nvPr/>
        </p:nvPicPr>
        <p:blipFill>
          <a:blip r:embed="rId2"/>
          <a:stretch>
            <a:fillRect/>
          </a:stretch>
        </p:blipFill>
        <p:spPr>
          <a:xfrm>
            <a:off x="1038224" y="2633472"/>
            <a:ext cx="4342639" cy="3291840"/>
          </a:xfrm>
          <a:prstGeom prst="rect">
            <a:avLst/>
          </a:prstGeom>
          <a:ln w="9525">
            <a:solidFill>
              <a:srgbClr val="D9D9D9"/>
            </a:solidFill>
          </a:ln>
        </p:spPr>
      </p:pic>
      <p:sp>
        <p:nvSpPr>
          <p:cNvPr id="109" name="TextBox 108"/>
          <p:cNvSpPr txBox="1"/>
          <p:nvPr/>
        </p:nvSpPr>
        <p:spPr>
          <a:xfrm>
            <a:off x="411480" y="5961888"/>
            <a:ext cx="5577840" cy="219456"/>
          </a:xfrm>
          <a:prstGeom prst="rect">
            <a:avLst/>
          </a:prstGeom>
          <a:noFill/>
        </p:spPr>
        <p:txBody>
          <a:bodyPr wrap="square" anchor="t" lIns="36000" rIns="36000" tIns="10800" bIns="10800">
            <a:spAutoFit/>
          </a:bodyPr>
          <a:lstStyle/>
          <a:p>
            <a:pPr algn="l">
              <a:lnSpc>
                <a:spcPct val="105000"/>
              </a:lnSpc>
              <a:spcAft>
                <a:spcPts val="200"/>
              </a:spcAft>
            </a:pPr>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テキスト ボックス 47">
            <a:extLst>
              <a:ext uri="{FF2B5EF4-FFF2-40B4-BE49-F238E27FC236}">
                <a16:creationId xmlns:a16="http://schemas.microsoft.com/office/drawing/2014/main" id="{53FE06A6-86EF-D7B0-BBFB-528ECC073C7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01D9328-0162-B9BC-14E5-4043C4775398}"/>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コミュニティ運営</a:t>
            </a:r>
          </a:p>
        </p:txBody>
      </p:sp>
      <p:sp>
        <p:nvSpPr>
          <p:cNvPr id="51" name="Chevron 13">
            <a:extLst>
              <a:ext uri="{FF2B5EF4-FFF2-40B4-BE49-F238E27FC236}">
                <a16:creationId xmlns:a16="http://schemas.microsoft.com/office/drawing/2014/main" id="{CE22BBFE-2B26-237F-982B-2EA5618B295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80FBA5C2-85D8-876D-21BD-21D8CBF46DCA}"/>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414E7487-2F11-DE25-DBC0-3F05BADEBBB5}"/>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520F0369-7B38-CED2-FDCE-2A3D5E2FBA45}"/>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6ACC63D7-6F52-9BE7-B7F1-06941B3FB662}"/>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41EEE8B7-3911-9FA9-D5E8-3DA2ED3998D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00F69354-CC26-C840-A15E-CBD7B45B2E08}"/>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5A3585B4-3CB4-7042-40C9-E33D520250E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37372EB0-F5E6-65AF-7C6F-6ED9C8B77FAA}"/>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AA83D2FD-45C9-0F59-802A-AF2C5668C61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59DD36B2-96D9-D151-9C00-1072C4868402}"/>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439A3FCC-970E-F0D5-83C6-3DB1603A260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FFB75D8D-CCC8-08DA-9374-BDCC4DBC0F8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053B8822-C5C6-7FF1-2E68-9A537E44EC6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D30303D8-861D-2829-9C34-EB5B96556F40}"/>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BF23443-3F44-9153-9179-100EF3B83E19}"/>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09B631BF-2611-3282-49CE-E252DECDE27A}"/>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E0CC1822-52C4-D2B9-7FF9-B51A2204E8B1}"/>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F9C56CF2-60DE-DF0B-73AB-C8769DA02AE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DC098DF-392C-B85B-2BD7-9024C9265A47}"/>
              </a:ext>
            </a:extLst>
          </p:cNvPr>
          <p:cNvSpPr/>
          <p:nvPr/>
        </p:nvSpPr>
        <p:spPr>
          <a:xfrm>
            <a:off x="6263640"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4E5D985-1393-630A-EACC-F61C1CA5E4BF}"/>
              </a:ext>
            </a:extLst>
          </p:cNvPr>
          <p:cNvSpPr/>
          <p:nvPr/>
        </p:nvSpPr>
        <p:spPr>
          <a:xfrm>
            <a:off x="6263640"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043C29-FD63-A762-3BE9-A94DAE22A315}"/>
              </a:ext>
            </a:extLst>
          </p:cNvPr>
          <p:cNvSpPr/>
          <p:nvPr/>
        </p:nvSpPr>
        <p:spPr>
          <a:xfrm>
            <a:off x="6263640"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6373368" y="1911095"/>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入口</a:t>
            </a:r>
          </a:p>
          <a:p>
            <a:pPr algn="l">
              <a:lnSpc>
                <a:spcPct val="105000"/>
              </a:lnSpc>
              <a:spcAft>
                <a:spcPts val="200"/>
              </a:spcAft>
            </a:pPr>
            <a:r>
              <a:rPr sz="1200" b="0">
                <a:solidFill>
                  <a:srgbClr val="333333"/>
                </a:solidFill>
                <a:latin typeface="メイリオ"/>
                <a:ea typeface="メイリオ"/>
                <a:cs typeface="メイリオ"/>
              </a:rPr>
              <a:t>リッチメニューに、体験談・</a:t>
            </a:r>
          </a:p>
          <a:p>
            <a:pPr algn="l">
              <a:lnSpc>
                <a:spcPct val="105000"/>
              </a:lnSpc>
              <a:spcAft>
                <a:spcPts val="200"/>
              </a:spcAft>
            </a:pPr>
            <a:r>
              <a:rPr sz="1200" b="0">
                <a:solidFill>
                  <a:srgbClr val="333333"/>
                </a:solidFill>
                <a:latin typeface="メイリオ"/>
                <a:ea typeface="メイリオ"/>
                <a:cs typeface="メイリオ"/>
              </a:rPr>
              <a:t>紹介の入口を置く</a:t>
            </a:r>
          </a:p>
        </p:txBody>
      </p:sp>
      <p:sp>
        <p:nvSpPr>
          <p:cNvPr id="105" name="TextBox 104"/>
          <p:cNvSpPr txBox="1"/>
          <p:nvPr/>
        </p:nvSpPr>
        <p:spPr>
          <a:xfrm>
            <a:off x="6373368" y="3395472"/>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LINEの仕組み</a:t>
            </a:r>
          </a:p>
          <a:p>
            <a:pPr algn="l">
              <a:lnSpc>
                <a:spcPct val="105000"/>
              </a:lnSpc>
              <a:spcAft>
                <a:spcPts val="200"/>
              </a:spcAft>
            </a:pPr>
            <a:r>
              <a:rPr sz="1200" b="0">
                <a:solidFill>
                  <a:srgbClr val="333333"/>
                </a:solidFill>
                <a:latin typeface="メイリオ"/>
                <a:ea typeface="メイリオ"/>
                <a:cs typeface="メイリオ"/>
              </a:rPr>
              <a:t>紹介した方にタグを付け、</a:t>
            </a:r>
          </a:p>
          <a:p>
            <a:pPr algn="l">
              <a:lnSpc>
                <a:spcPct val="105000"/>
              </a:lnSpc>
              <a:spcAft>
                <a:spcPts val="200"/>
              </a:spcAft>
            </a:pPr>
            <a:r>
              <a:rPr sz="1200" b="0">
                <a:solidFill>
                  <a:srgbClr val="333333"/>
                </a:solidFill>
                <a:latin typeface="メイリオ"/>
                <a:ea typeface="メイリオ"/>
                <a:cs typeface="メイリオ"/>
              </a:rPr>
              <a:t>紹介からの応募を数える</a:t>
            </a:r>
          </a:p>
        </p:txBody>
      </p:sp>
      <p:sp>
        <p:nvSpPr>
          <p:cNvPr id="106" name="TextBox 105"/>
          <p:cNvSpPr txBox="1"/>
          <p:nvPr/>
        </p:nvSpPr>
        <p:spPr>
          <a:xfrm>
            <a:off x="6373368" y="4879848"/>
            <a:ext cx="3163823" cy="1097280"/>
          </a:xfrm>
          <a:prstGeom prst="rect">
            <a:avLst/>
          </a:prstGeom>
          <a:noFill/>
        </p:spPr>
        <p:txBody>
          <a:bodyPr wrap="square" anchor="t" lIns="36000" rIns="36000" tIns="10800" bIns="10800">
            <a:spAutoFit/>
          </a:bodyPr>
          <a:lstStyle/>
          <a:p>
            <a:pPr algn="l">
              <a:lnSpc>
                <a:spcPct val="105000"/>
              </a:lnSpc>
              <a:spcAft>
                <a:spcPts val="200"/>
              </a:spcAft>
            </a:pPr>
            <a:r>
              <a:rPr sz="1300" b="1">
                <a:solidFill>
                  <a:srgbClr val="1F2A5C"/>
                </a:solidFill>
                <a:latin typeface="メイリオ"/>
                <a:ea typeface="メイリオ"/>
                <a:cs typeface="メイリオ"/>
              </a:rPr>
              <a:t>配信内容</a:t>
            </a:r>
          </a:p>
          <a:p>
            <a:pPr algn="l">
              <a:lnSpc>
                <a:spcPct val="105000"/>
              </a:lnSpc>
              <a:spcAft>
                <a:spcPts val="200"/>
              </a:spcAft>
            </a:pPr>
            <a:r>
              <a:rPr sz="1200" b="0">
                <a:solidFill>
                  <a:srgbClr val="333333"/>
                </a:solidFill>
                <a:latin typeface="メイリオ"/>
                <a:ea typeface="メイリオ"/>
                <a:cs typeface="メイリオ"/>
              </a:rPr>
              <a:t>経験者の体験談を、</a:t>
            </a:r>
          </a:p>
          <a:p>
            <a:pPr algn="l">
              <a:lnSpc>
                <a:spcPct val="105000"/>
              </a:lnSpc>
              <a:spcAft>
                <a:spcPts val="200"/>
              </a:spcAft>
            </a:pPr>
            <a:r>
              <a:rPr sz="1200" b="0">
                <a:solidFill>
                  <a:srgbClr val="333333"/>
                </a:solidFill>
                <a:latin typeface="メイリオ"/>
                <a:ea typeface="メイリオ"/>
                <a:cs typeface="メイリオ"/>
              </a:rPr>
              <a:t>新しい方へのステップ配信に入れる</a:t>
            </a:r>
          </a:p>
        </p:txBody>
      </p:sp>
      <p:sp>
        <p:nvSpPr>
          <p:cNvPr id="107" name="TextBox 106"/>
          <p:cNvSpPr txBox="1"/>
          <p:nvPr/>
        </p:nvSpPr>
        <p:spPr>
          <a:xfrm>
            <a:off x="411480" y="1965959"/>
            <a:ext cx="5577840" cy="640079"/>
          </a:xfrm>
          <a:prstGeom prst="rect">
            <a:avLst/>
          </a:prstGeom>
          <a:noFill/>
        </p:spPr>
        <p:txBody>
          <a:bodyPr wrap="square" anchor="t" lIns="36000" rIns="36000" tIns="10800" bIns="10800">
            <a:spAutoFit/>
          </a:bodyPr>
          <a:lstStyle/>
          <a:p>
            <a:pPr algn="l">
              <a:lnSpc>
                <a:spcPct val="105000"/>
              </a:lnSpc>
              <a:spcAft>
                <a:spcPts val="200"/>
              </a:spcAft>
            </a:pPr>
            <a:r>
              <a:rPr sz="1600" b="1">
                <a:solidFill>
                  <a:srgbClr val="1F2A5C"/>
                </a:solidFill>
                <a:latin typeface="メイリオ"/>
                <a:ea typeface="メイリオ"/>
                <a:cs typeface="メイリオ"/>
              </a:rPr>
              <a:t>体験談・紹介</a:t>
            </a:r>
          </a:p>
          <a:p>
            <a:pPr algn="l">
              <a:lnSpc>
                <a:spcPct val="105000"/>
              </a:lnSpc>
              <a:spcAft>
                <a:spcPts val="200"/>
              </a:spcAft>
            </a:pPr>
            <a:r>
              <a:rPr sz="1200" b="0">
                <a:solidFill>
                  <a:srgbClr val="333333"/>
                </a:solidFill>
                <a:latin typeface="メイリオ"/>
                <a:ea typeface="メイリオ"/>
                <a:cs typeface="メイリオ"/>
              </a:rPr>
              <a:t>くり返し働く方とのつながりを強くする</a:t>
            </a:r>
          </a:p>
        </p:txBody>
      </p:sp>
      <p:pic>
        <p:nvPicPr>
          <p:cNvPr id="108" name="Picture 107" descr="demo8_p31.png"/>
          <p:cNvPicPr>
            <a:picLocks noChangeAspect="1"/>
          </p:cNvPicPr>
          <p:nvPr/>
        </p:nvPicPr>
        <p:blipFill>
          <a:blip r:embed="rId2"/>
          <a:stretch>
            <a:fillRect/>
          </a:stretch>
        </p:blipFill>
        <p:spPr>
          <a:xfrm>
            <a:off x="1038224" y="2633472"/>
            <a:ext cx="4342639" cy="3291840"/>
          </a:xfrm>
          <a:prstGeom prst="rect">
            <a:avLst/>
          </a:prstGeom>
          <a:ln w="9525">
            <a:solidFill>
              <a:srgbClr val="D9D9D9"/>
            </a:solidFill>
          </a:ln>
        </p:spPr>
      </p:pic>
      <p:sp>
        <p:nvSpPr>
          <p:cNvPr id="109" name="TextBox 108"/>
          <p:cNvSpPr txBox="1"/>
          <p:nvPr/>
        </p:nvSpPr>
        <p:spPr>
          <a:xfrm>
            <a:off x="411480" y="5961888"/>
            <a:ext cx="5577840" cy="219456"/>
          </a:xfrm>
          <a:prstGeom prst="rect">
            <a:avLst/>
          </a:prstGeom>
          <a:noFill/>
        </p:spPr>
        <p:txBody>
          <a:bodyPr wrap="square" anchor="t" lIns="36000" rIns="36000" tIns="10800" bIns="10800">
            <a:spAutoFit/>
          </a:bodyPr>
          <a:lstStyle/>
          <a:p>
            <a:pPr algn="l">
              <a:lnSpc>
                <a:spcPct val="105000"/>
              </a:lnSpc>
              <a:spcAft>
                <a:spcPts val="200"/>
              </a:spcAft>
            </a:pPr>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145429</TotalTime>
  <Words>5139</Words>
  <Application>Microsoft Office PowerPoint</Application>
  <PresentationFormat>A4 210 x 297 mm</PresentationFormat>
  <Paragraphs>1218</Paragraphs>
  <Slides>55</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55</vt:i4>
      </vt:variant>
    </vt:vector>
  </HeadingPairs>
  <TitlesOfParts>
    <vt:vector size="62"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1986</cp:revision>
  <cp:lastPrinted>2022-11-01T11:38:14Z</cp:lastPrinted>
  <dcterms:created xsi:type="dcterms:W3CDTF">2015-09-04T09:21:15Z</dcterms:created>
  <dcterms:modified xsi:type="dcterms:W3CDTF">2026-10-30T03:13:46Z</dcterms:modified>
</cp:coreProperties>
</file>