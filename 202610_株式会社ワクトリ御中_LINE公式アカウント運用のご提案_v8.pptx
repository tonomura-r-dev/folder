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2728" r:id="rId25"/>
    <p:sldId id="3177" r:id="rId26"/>
    <p:sldId id="3178" r:id="rId27"/>
    <p:sldId id="3179" r:id="rId28"/>
    <p:sldId id="3180" r:id="rId29"/>
    <p:sldId id="3181" r:id="rId30"/>
    <p:sldId id="3182" r:id="rId31"/>
    <p:sldId id="3183" r:id="rId32"/>
    <p:sldId id="3184" r:id="rId33"/>
    <p:sldId id="3174" r:id="rId34"/>
    <p:sldId id="3175" r:id="rId35"/>
    <p:sldId id="3176" r:id="rId36"/>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63" Type="http://schemas.openxmlformats.org/officeDocument/2006/relationships/theme" Target="theme/theme1.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5" Type="http://schemas.openxmlformats.org/officeDocument/2006/relationships/slide" Target="slides/slide3.xml"/><Relationship Id="rId61" Type="http://schemas.openxmlformats.org/officeDocument/2006/relationships/presProps" Target="presProps.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notesMaster" Target="notesMasters/notes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handoutMaster" Target="handoutMasters/handoutMaster1.xml"/><Relationship Id="rId4" Type="http://schemas.openxmlformats.org/officeDocument/2006/relationships/slide" Target="slides/slide2.xml"/><Relationship Id="rId9"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6.jpe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2.jpg"/><Relationship Id="rId2" Type="http://schemas.openxmlformats.org/officeDocument/2006/relationships/image" Target="../media/image21.jpg"/><Relationship Id="rId1" Type="http://schemas.openxmlformats.org/officeDocument/2006/relationships/slideLayout" Target="../slideLayouts/slideLayout2.xml"/><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jpg"/><Relationship Id="rId1" Type="http://schemas.openxmlformats.org/officeDocument/2006/relationships/slideLayout" Target="../slideLayouts/slideLayout2.xml"/><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image" Target="../media/image27.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2.jpg"/><Relationship Id="rId2" Type="http://schemas.openxmlformats.org/officeDocument/2006/relationships/image" Target="../media/image31.jpg"/><Relationship Id="rId1" Type="http://schemas.openxmlformats.org/officeDocument/2006/relationships/slideLayout" Target="../slideLayouts/slideLayout2.xml"/><Relationship Id="rId5" Type="http://schemas.openxmlformats.org/officeDocument/2006/relationships/image" Target="../media/image34.jpg"/><Relationship Id="rId4" Type="http://schemas.openxmlformats.org/officeDocument/2006/relationships/image" Target="../media/image3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5" Type="http://schemas.openxmlformats.org/officeDocument/2006/relationships/image" Target="../media/image52.jpeg"/><Relationship Id="rId4" Type="http://schemas.openxmlformats.org/officeDocument/2006/relationships/image" Target="../media/image51.png"/></Relationships>
</file>

<file path=ppt/slides/_rels/slide4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44.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70.jpg"/><Relationship Id="rId3" Type="http://schemas.openxmlformats.org/officeDocument/2006/relationships/image" Target="../media/image65.jpg"/><Relationship Id="rId7" Type="http://schemas.openxmlformats.org/officeDocument/2006/relationships/image" Target="../media/image69.jpeg"/><Relationship Id="rId2" Type="http://schemas.openxmlformats.org/officeDocument/2006/relationships/image" Target="../media/image64.jpg"/><Relationship Id="rId1" Type="http://schemas.openxmlformats.org/officeDocument/2006/relationships/slideLayout" Target="../slideLayouts/slideLayout2.xml"/><Relationship Id="rId6" Type="http://schemas.openxmlformats.org/officeDocument/2006/relationships/image" Target="../media/image68.png"/><Relationship Id="rId11" Type="http://schemas.openxmlformats.org/officeDocument/2006/relationships/hyperlink" Target="https://youtube.com/shorts/0qI4QgrOppQ" TargetMode="External"/><Relationship Id="rId5" Type="http://schemas.openxmlformats.org/officeDocument/2006/relationships/image" Target="../media/image67.png"/><Relationship Id="rId10" Type="http://schemas.openxmlformats.org/officeDocument/2006/relationships/image" Target="../media/image72.png"/><Relationship Id="rId4" Type="http://schemas.openxmlformats.org/officeDocument/2006/relationships/image" Target="../media/image66.png"/><Relationship Id="rId9" Type="http://schemas.openxmlformats.org/officeDocument/2006/relationships/image" Target="../media/image7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80.jpeg"/><Relationship Id="rId3" Type="http://schemas.openxmlformats.org/officeDocument/2006/relationships/image" Target="../media/image3.emf"/><Relationship Id="rId7" Type="http://schemas.openxmlformats.org/officeDocument/2006/relationships/image" Target="../media/image79.jpe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openxmlformats.org/officeDocument/2006/relationships/image" Target="../media/image78.jpeg"/><Relationship Id="rId5" Type="http://schemas.openxmlformats.org/officeDocument/2006/relationships/image" Target="../media/image77.jpeg"/><Relationship Id="rId4" Type="http://schemas.openxmlformats.org/officeDocument/2006/relationships/image" Target="../media/image76.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他社は、追加の直後から登録・相談へつないでいる。リゾートバイトの集客で、LINEは必須の接点になっている。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69" name="Rectangle 58"/>
          <p:cNvSpPr/>
          <p:nvPr/>
        </p:nvSpPr>
        <p:spPr>
          <a:xfrm>
            <a:off x="384048" y="1828800"/>
            <a:ext cx="20574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70" name="Rectangle 59"/>
          <p:cNvSpPr/>
          <p:nvPr/>
        </p:nvSpPr>
        <p:spPr>
          <a:xfrm>
            <a:off x="2478024" y="1828800"/>
            <a:ext cx="30632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71" name="Rectangle 59"/>
          <p:cNvSpPr/>
          <p:nvPr/>
        </p:nvSpPr>
        <p:spPr>
          <a:xfrm>
            <a:off x="5577840" y="1828800"/>
            <a:ext cx="16459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ワクトリの今</a:t>
            </a:r>
          </a:p>
        </p:txBody>
      </p:sp>
      <p:sp>
        <p:nvSpPr>
          <p:cNvPr id="72" name="Rectangle 59"/>
          <p:cNvSpPr/>
          <p:nvPr/>
        </p:nvSpPr>
        <p:spPr>
          <a:xfrm>
            <a:off x="7260336" y="1828800"/>
            <a:ext cx="2267712"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ご提案での打ち手</a:t>
            </a:r>
          </a:p>
        </p:txBody>
      </p:sp>
      <p:sp>
        <p:nvSpPr>
          <p:cNvPr id="73" name="Rectangle 60"/>
          <p:cNvSpPr/>
          <p:nvPr/>
        </p:nvSpPr>
        <p:spPr>
          <a:xfrm>
            <a:off x="384048" y="2231136"/>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a:t>
            </a:r>
          </a:p>
          <a:p>
            <a:pPr algn="l">
              <a:lnSpc>
                <a:spcPct val="110000"/>
              </a:lnSpc>
              <a:spcAft>
                <a:spcPts val="0"/>
              </a:spcAft>
            </a:pPr>
            <a:r>
              <a:rPr sz="1250" b="1">
                <a:solidFill>
                  <a:srgbClr val="1F2A5C"/>
                </a:solidFill>
                <a:latin typeface="メイリオ"/>
                <a:ea typeface="メイリオ"/>
                <a:cs typeface="メイリオ"/>
              </a:rPr>
              <a:t>登録・相談へ誘導する</a:t>
            </a:r>
          </a:p>
        </p:txBody>
      </p:sp>
      <p:sp>
        <p:nvSpPr>
          <p:cNvPr id="74" name="Rectangle 61"/>
          <p:cNvSpPr/>
          <p:nvPr/>
        </p:nvSpPr>
        <p:spPr>
          <a:xfrm>
            <a:off x="2478024" y="2231136"/>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a:t>
            </a:r>
          </a:p>
          <a:p>
            <a:pPr algn="l">
              <a:lnSpc>
                <a:spcPct val="110000"/>
              </a:lnSpc>
              <a:spcAft>
                <a:spcPts val="0"/>
              </a:spcAft>
            </a:pPr>
            <a:r>
              <a:rPr sz="1250" b="0">
                <a:solidFill>
                  <a:srgbClr val="333333"/>
                </a:solidFill>
                <a:latin typeface="メイリオ"/>
                <a:ea typeface="メイリオ"/>
                <a:cs typeface="メイリオ"/>
              </a:rPr>
              <a:t>リゾバ.com／アルファリゾート</a:t>
            </a:r>
          </a:p>
        </p:txBody>
      </p:sp>
      <p:sp>
        <p:nvSpPr>
          <p:cNvPr id="75" name="Rectangle 61"/>
          <p:cNvSpPr/>
          <p:nvPr/>
        </p:nvSpPr>
        <p:spPr>
          <a:xfrm>
            <a:off x="5577840" y="2231136"/>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翌日に</a:t>
            </a:r>
          </a:p>
          <a:p>
            <a:pPr algn="l">
              <a:lnSpc>
                <a:spcPct val="110000"/>
              </a:lnSpc>
              <a:spcAft>
                <a:spcPts val="0"/>
              </a:spcAft>
            </a:pPr>
            <a:r>
              <a:rPr sz="1250" b="0">
                <a:solidFill>
                  <a:srgbClr val="333333"/>
                </a:solidFill>
                <a:latin typeface="メイリオ"/>
                <a:ea typeface="メイリオ"/>
                <a:cs typeface="メイリオ"/>
              </a:rPr>
              <a:t>ENTRYの案内</a:t>
            </a:r>
          </a:p>
        </p:txBody>
      </p:sp>
      <p:sp>
        <p:nvSpPr>
          <p:cNvPr id="76" name="Rectangle 61"/>
          <p:cNvSpPr/>
          <p:nvPr/>
        </p:nvSpPr>
        <p:spPr>
          <a:xfrm>
            <a:off x="7260336" y="2231136"/>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追加直後からの</a:t>
            </a:r>
          </a:p>
          <a:p>
            <a:pPr algn="l">
              <a:lnSpc>
                <a:spcPct val="110000"/>
              </a:lnSpc>
              <a:spcAft>
                <a:spcPts val="0"/>
              </a:spcAft>
            </a:pPr>
            <a:r>
              <a:rPr sz="1250" b="0">
                <a:solidFill>
                  <a:srgbClr val="333333"/>
                </a:solidFill>
                <a:latin typeface="メイリオ"/>
                <a:ea typeface="メイリオ"/>
                <a:cs typeface="メイリオ"/>
              </a:rPr>
              <a:t>ステップ配信（P26）</a:t>
            </a:r>
          </a:p>
        </p:txBody>
      </p:sp>
      <p:sp>
        <p:nvSpPr>
          <p:cNvPr id="77" name="Rectangle 60"/>
          <p:cNvSpPr/>
          <p:nvPr/>
        </p:nvSpPr>
        <p:spPr>
          <a:xfrm>
            <a:off x="384048" y="2926080"/>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a:t>
            </a:r>
          </a:p>
          <a:p>
            <a:pPr algn="l">
              <a:lnSpc>
                <a:spcPct val="110000"/>
              </a:lnSpc>
              <a:spcAft>
                <a:spcPts val="0"/>
              </a:spcAft>
            </a:pPr>
            <a:r>
              <a:rPr sz="1250" b="1">
                <a:solidFill>
                  <a:srgbClr val="1F2A5C"/>
                </a:solidFill>
                <a:latin typeface="メイリオ"/>
                <a:ea typeface="メイリオ"/>
                <a:cs typeface="メイリオ"/>
              </a:rPr>
              <a:t>毎日配信する会社もある</a:t>
            </a:r>
          </a:p>
        </p:txBody>
      </p:sp>
      <p:sp>
        <p:nvSpPr>
          <p:cNvPr id="78" name="Rectangle 61"/>
          <p:cNvSpPr/>
          <p:nvPr/>
        </p:nvSpPr>
        <p:spPr>
          <a:xfrm>
            <a:off x="2478024" y="2926080"/>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a:t>
            </a:r>
          </a:p>
          <a:p>
            <a:pPr algn="l">
              <a:lnSpc>
                <a:spcPct val="110000"/>
              </a:lnSpc>
              <a:spcAft>
                <a:spcPts val="0"/>
              </a:spcAft>
            </a:pPr>
            <a:r>
              <a:rPr sz="1250" b="0">
                <a:solidFill>
                  <a:srgbClr val="333333"/>
                </a:solidFill>
                <a:latin typeface="メイリオ"/>
                <a:ea typeface="メイリオ"/>
                <a:cs typeface="メイリオ"/>
              </a:rPr>
              <a:t>リゾバ.com（1日2通）</a:t>
            </a:r>
          </a:p>
        </p:txBody>
      </p:sp>
      <p:sp>
        <p:nvSpPr>
          <p:cNvPr id="79" name="Rectangle 61"/>
          <p:cNvSpPr/>
          <p:nvPr/>
        </p:nvSpPr>
        <p:spPr>
          <a:xfrm>
            <a:off x="5577840" y="2926080"/>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週1回の企画配信</a:t>
            </a:r>
          </a:p>
        </p:txBody>
      </p:sp>
      <p:sp>
        <p:nvSpPr>
          <p:cNvPr id="80" name="Rectangle 61"/>
          <p:cNvSpPr/>
          <p:nvPr/>
        </p:nvSpPr>
        <p:spPr>
          <a:xfrm>
            <a:off x="7260336" y="2926080"/>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追加後15日の</a:t>
            </a:r>
          </a:p>
          <a:p>
            <a:pPr algn="l">
              <a:lnSpc>
                <a:spcPct val="110000"/>
              </a:lnSpc>
              <a:spcAft>
                <a:spcPts val="0"/>
              </a:spcAft>
            </a:pPr>
            <a:r>
              <a:rPr sz="1250" b="0">
                <a:solidFill>
                  <a:srgbClr val="333333"/>
                </a:solidFill>
                <a:latin typeface="メイリオ"/>
                <a:ea typeface="メイリオ"/>
                <a:cs typeface="メイリオ"/>
              </a:rPr>
              <a:t>ステップ配信</a:t>
            </a:r>
          </a:p>
          <a:p>
            <a:pPr algn="l">
              <a:lnSpc>
                <a:spcPct val="110000"/>
              </a:lnSpc>
              <a:spcAft>
                <a:spcPts val="0"/>
              </a:spcAft>
            </a:pPr>
            <a:r>
              <a:rPr sz="1250" b="0">
                <a:solidFill>
                  <a:srgbClr val="333333"/>
                </a:solidFill>
                <a:latin typeface="メイリオ"/>
                <a:ea typeface="メイリオ"/>
                <a:cs typeface="メイリオ"/>
              </a:rPr>
              <a:t>（P26・P33）</a:t>
            </a:r>
          </a:p>
        </p:txBody>
      </p:sp>
      <p:sp>
        <p:nvSpPr>
          <p:cNvPr id="81" name="Rectangle 60"/>
          <p:cNvSpPr/>
          <p:nvPr/>
        </p:nvSpPr>
        <p:spPr>
          <a:xfrm>
            <a:off x="384048" y="3621024"/>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a:t>
            </a:r>
          </a:p>
          <a:p>
            <a:pPr algn="l">
              <a:lnSpc>
                <a:spcPct val="110000"/>
              </a:lnSpc>
              <a:spcAft>
                <a:spcPts val="0"/>
              </a:spcAft>
            </a:pPr>
            <a:r>
              <a:rPr sz="1250" b="1">
                <a:solidFill>
                  <a:srgbClr val="1F2A5C"/>
                </a:solidFill>
                <a:latin typeface="メイリオ"/>
                <a:ea typeface="メイリオ"/>
                <a:cs typeface="メイリオ"/>
              </a:rPr>
              <a:t>合う求人を出し分ける</a:t>
            </a:r>
          </a:p>
        </p:txBody>
      </p:sp>
      <p:sp>
        <p:nvSpPr>
          <p:cNvPr id="82" name="Rectangle 61"/>
          <p:cNvSpPr/>
          <p:nvPr/>
        </p:nvSpPr>
        <p:spPr>
          <a:xfrm>
            <a:off x="2478024" y="3621024"/>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リゾバ.com（経験・タイプ別）／</a:t>
            </a:r>
          </a:p>
          <a:p>
            <a:pPr algn="l">
              <a:lnSpc>
                <a:spcPct val="110000"/>
              </a:lnSpc>
              <a:spcAft>
                <a:spcPts val="0"/>
              </a:spcAft>
            </a:pPr>
            <a:r>
              <a:rPr sz="1250" b="0">
                <a:solidFill>
                  <a:srgbClr val="333333"/>
                </a:solidFill>
                <a:latin typeface="メイリオ"/>
                <a:ea typeface="メイリオ"/>
                <a:cs typeface="メイリオ"/>
              </a:rPr>
              <a:t>リゾートバイト.com（アンケート）</a:t>
            </a:r>
          </a:p>
        </p:txBody>
      </p:sp>
      <p:sp>
        <p:nvSpPr>
          <p:cNvPr id="83" name="Rectangle 61"/>
          <p:cNvSpPr/>
          <p:nvPr/>
        </p:nvSpPr>
        <p:spPr>
          <a:xfrm>
            <a:off x="5577840" y="3621024"/>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アンケート3問で</a:t>
            </a:r>
          </a:p>
          <a:p>
            <a:pPr algn="l">
              <a:lnSpc>
                <a:spcPct val="110000"/>
              </a:lnSpc>
              <a:spcAft>
                <a:spcPts val="0"/>
              </a:spcAft>
            </a:pPr>
            <a:r>
              <a:rPr sz="1250" b="0">
                <a:solidFill>
                  <a:srgbClr val="333333"/>
                </a:solidFill>
                <a:latin typeface="メイリオ"/>
                <a:ea typeface="メイリオ"/>
                <a:cs typeface="メイリオ"/>
              </a:rPr>
              <a:t>開始時期と</a:t>
            </a:r>
          </a:p>
          <a:p>
            <a:pPr algn="l">
              <a:lnSpc>
                <a:spcPct val="110000"/>
              </a:lnSpc>
              <a:spcAft>
                <a:spcPts val="0"/>
              </a:spcAft>
            </a:pPr>
            <a:r>
              <a:rPr sz="1250" b="0">
                <a:solidFill>
                  <a:srgbClr val="333333"/>
                </a:solidFill>
                <a:latin typeface="メイリオ"/>
                <a:ea typeface="メイリオ"/>
                <a:cs typeface="メイリオ"/>
              </a:rPr>
              <a:t>エリアを伺う</a:t>
            </a:r>
          </a:p>
        </p:txBody>
      </p:sp>
      <p:sp>
        <p:nvSpPr>
          <p:cNvPr id="84" name="Rectangle 61"/>
          <p:cNvSpPr/>
          <p:nvPr/>
        </p:nvSpPr>
        <p:spPr>
          <a:xfrm>
            <a:off x="7260336" y="3621024"/>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適正バイト診断と</a:t>
            </a:r>
          </a:p>
          <a:p>
            <a:pPr algn="l">
              <a:lnSpc>
                <a:spcPct val="110000"/>
              </a:lnSpc>
              <a:spcAft>
                <a:spcPts val="0"/>
              </a:spcAft>
            </a:pPr>
            <a:r>
              <a:rPr sz="1250" b="0">
                <a:solidFill>
                  <a:srgbClr val="333333"/>
                </a:solidFill>
                <a:latin typeface="メイリオ"/>
                <a:ea typeface="メイリオ"/>
                <a:cs typeface="メイリオ"/>
              </a:rPr>
              <a:t>開始時期・エリア別の配信</a:t>
            </a:r>
          </a:p>
          <a:p>
            <a:pPr algn="l">
              <a:lnSpc>
                <a:spcPct val="110000"/>
              </a:lnSpc>
              <a:spcAft>
                <a:spcPts val="0"/>
              </a:spcAft>
            </a:pPr>
            <a:r>
              <a:rPr sz="1250" b="0">
                <a:solidFill>
                  <a:srgbClr val="333333"/>
                </a:solidFill>
                <a:latin typeface="メイリオ"/>
                <a:ea typeface="メイリオ"/>
                <a:cs typeface="メイリオ"/>
              </a:rPr>
              <a:t>（P26・P29）</a:t>
            </a:r>
          </a:p>
        </p:txBody>
      </p:sp>
      <p:sp>
        <p:nvSpPr>
          <p:cNvPr id="85" name="Rectangle 60"/>
          <p:cNvSpPr/>
          <p:nvPr/>
        </p:nvSpPr>
        <p:spPr>
          <a:xfrm>
            <a:off x="384048" y="4315968"/>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a:t>
            </a:r>
          </a:p>
          <a:p>
            <a:pPr algn="l">
              <a:lnSpc>
                <a:spcPct val="110000"/>
              </a:lnSpc>
              <a:spcAft>
                <a:spcPts val="0"/>
              </a:spcAft>
            </a:pPr>
            <a:r>
              <a:rPr sz="1250" b="1">
                <a:solidFill>
                  <a:srgbClr val="1F2A5C"/>
                </a:solidFill>
                <a:latin typeface="メイリオ"/>
                <a:ea typeface="メイリオ"/>
                <a:cs typeface="メイリオ"/>
              </a:rPr>
              <a:t>開始月別の求人を置く</a:t>
            </a:r>
          </a:p>
        </p:txBody>
      </p:sp>
      <p:sp>
        <p:nvSpPr>
          <p:cNvPr id="86" name="Rectangle 61"/>
          <p:cNvSpPr/>
          <p:nvPr/>
        </p:nvSpPr>
        <p:spPr>
          <a:xfrm>
            <a:off x="2478024" y="4315968"/>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
        <p:nvSpPr>
          <p:cNvPr id="87" name="Rectangle 61"/>
          <p:cNvSpPr/>
          <p:nvPr/>
        </p:nvSpPr>
        <p:spPr>
          <a:xfrm>
            <a:off x="5577840" y="4315968"/>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11月開始の求人と</a:t>
            </a:r>
          </a:p>
          <a:p>
            <a:pPr algn="l">
              <a:lnSpc>
                <a:spcPct val="110000"/>
              </a:lnSpc>
              <a:spcAft>
                <a:spcPts val="0"/>
              </a:spcAft>
            </a:pPr>
            <a:r>
              <a:rPr sz="1250" b="0">
                <a:solidFill>
                  <a:srgbClr val="333333"/>
                </a:solidFill>
                <a:latin typeface="メイリオ"/>
                <a:ea typeface="メイリオ"/>
                <a:cs typeface="メイリオ"/>
              </a:rPr>
              <a:t>スキー特集の入口</a:t>
            </a:r>
          </a:p>
        </p:txBody>
      </p:sp>
      <p:sp>
        <p:nvSpPr>
          <p:cNvPr id="88" name="Rectangle 61"/>
          <p:cNvSpPr/>
          <p:nvPr/>
        </p:nvSpPr>
        <p:spPr>
          <a:xfrm>
            <a:off x="7260336" y="4315968"/>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上段に開始月別の求人</a:t>
            </a:r>
          </a:p>
          <a:p>
            <a:pPr algn="l">
              <a:lnSpc>
                <a:spcPct val="110000"/>
              </a:lnSpc>
              <a:spcAft>
                <a:spcPts val="0"/>
              </a:spcAft>
            </a:pPr>
            <a:r>
              <a:rPr sz="1250" b="0">
                <a:solidFill>
                  <a:srgbClr val="333333"/>
                </a:solidFill>
                <a:latin typeface="メイリオ"/>
                <a:ea typeface="メイリオ"/>
                <a:cs typeface="メイリオ"/>
              </a:rPr>
              <a:t>（P25）</a:t>
            </a:r>
          </a:p>
        </p:txBody>
      </p:sp>
      <p:sp>
        <p:nvSpPr>
          <p:cNvPr id="89" name="Rectangle 60"/>
          <p:cNvSpPr/>
          <p:nvPr/>
        </p:nvSpPr>
        <p:spPr>
          <a:xfrm>
            <a:off x="384048" y="5010912"/>
            <a:ext cx="2057400" cy="65836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5. 相談の入口を、</a:t>
            </a:r>
          </a:p>
          <a:p>
            <a:pPr algn="l">
              <a:lnSpc>
                <a:spcPct val="110000"/>
              </a:lnSpc>
              <a:spcAft>
                <a:spcPts val="0"/>
              </a:spcAft>
            </a:pPr>
            <a:r>
              <a:rPr sz="1250" b="1">
                <a:solidFill>
                  <a:srgbClr val="1F2A5C"/>
                </a:solidFill>
                <a:latin typeface="メイリオ"/>
                <a:ea typeface="メイリオ"/>
                <a:cs typeface="メイリオ"/>
              </a:rPr>
              <a:t>最初から見せる</a:t>
            </a:r>
          </a:p>
        </p:txBody>
      </p:sp>
      <p:sp>
        <p:nvSpPr>
          <p:cNvPr id="90" name="Rectangle 61"/>
          <p:cNvSpPr/>
          <p:nvPr/>
        </p:nvSpPr>
        <p:spPr>
          <a:xfrm>
            <a:off x="2478024" y="5010912"/>
            <a:ext cx="306324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リゾートバイトダイブ（電話15分）／</a:t>
            </a:r>
          </a:p>
          <a:p>
            <a:pPr algn="l">
              <a:lnSpc>
                <a:spcPct val="110000"/>
              </a:lnSpc>
              <a:spcAft>
                <a:spcPts val="0"/>
              </a:spcAft>
            </a:pPr>
            <a:r>
              <a:rPr sz="1250" b="0">
                <a:solidFill>
                  <a:srgbClr val="333333"/>
                </a:solidFill>
                <a:latin typeface="メイリオ"/>
                <a:ea typeface="メイリオ"/>
                <a:cs typeface="メイリオ"/>
              </a:rPr>
              <a:t>リゾバ.com・アルファリゾート</a:t>
            </a:r>
          </a:p>
          <a:p>
            <a:pPr algn="l">
              <a:lnSpc>
                <a:spcPct val="110000"/>
              </a:lnSpc>
              <a:spcAft>
                <a:spcPts val="0"/>
              </a:spcAft>
            </a:pPr>
            <a:r>
              <a:rPr sz="1250" b="0">
                <a:solidFill>
                  <a:srgbClr val="333333"/>
                </a:solidFill>
                <a:latin typeface="メイリオ"/>
                <a:ea typeface="メイリオ"/>
                <a:cs typeface="メイリオ"/>
              </a:rPr>
              <a:t>（チャット）</a:t>
            </a:r>
          </a:p>
        </p:txBody>
      </p:sp>
      <p:sp>
        <p:nvSpPr>
          <p:cNvPr id="91" name="Rectangle 61"/>
          <p:cNvSpPr/>
          <p:nvPr/>
        </p:nvSpPr>
        <p:spPr>
          <a:xfrm>
            <a:off x="5577840" y="5010912"/>
            <a:ext cx="1645920"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専属エージェント</a:t>
            </a:r>
          </a:p>
          <a:p>
            <a:pPr algn="l">
              <a:lnSpc>
                <a:spcPct val="110000"/>
              </a:lnSpc>
              <a:spcAft>
                <a:spcPts val="0"/>
              </a:spcAft>
            </a:pPr>
            <a:r>
              <a:rPr sz="1250" b="0">
                <a:solidFill>
                  <a:srgbClr val="333333"/>
                </a:solidFill>
                <a:latin typeface="メイリオ"/>
                <a:ea typeface="メイリオ"/>
                <a:cs typeface="メイリオ"/>
              </a:rPr>
              <a:t>（ENTRYの後）</a:t>
            </a:r>
          </a:p>
        </p:txBody>
      </p:sp>
      <p:sp>
        <p:nvSpPr>
          <p:cNvPr id="92" name="Rectangle 61"/>
          <p:cNvSpPr/>
          <p:nvPr/>
        </p:nvSpPr>
        <p:spPr>
          <a:xfrm>
            <a:off x="7260336" y="5010912"/>
            <a:ext cx="2267712" cy="65836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ステップ配信と</a:t>
            </a:r>
          </a:p>
          <a:p>
            <a:pPr algn="l">
              <a:lnSpc>
                <a:spcPct val="110000"/>
              </a:lnSpc>
              <a:spcAft>
                <a:spcPts val="0"/>
              </a:spcAft>
            </a:pPr>
            <a:r>
              <a:rPr sz="1250" b="0">
                <a:solidFill>
                  <a:srgbClr val="333333"/>
                </a:solidFill>
                <a:latin typeface="メイリオ"/>
                <a:ea typeface="メイリオ"/>
                <a:cs typeface="メイリオ"/>
              </a:rPr>
              <a:t>リッチメニューに</a:t>
            </a:r>
          </a:p>
          <a:p>
            <a:pPr algn="l">
              <a:lnSpc>
                <a:spcPct val="110000"/>
              </a:lnSpc>
              <a:spcAft>
                <a:spcPts val="0"/>
              </a:spcAft>
            </a:pPr>
            <a:r>
              <a:rPr sz="1250" b="0">
                <a:solidFill>
                  <a:srgbClr val="333333"/>
                </a:solidFill>
                <a:latin typeface="メイリオ"/>
                <a:ea typeface="メイリオ"/>
                <a:cs typeface="メイリオ"/>
              </a:rPr>
              <a:t>相談の入口（P33・P25）</a:t>
            </a:r>
          </a:p>
        </p:txBody>
      </p:sp>
      <p:sp>
        <p:nvSpPr>
          <p:cNvPr id="93" name="Rectangle 92"/>
          <p:cNvSpPr/>
          <p:nvPr/>
        </p:nvSpPr>
        <p:spPr>
          <a:xfrm>
            <a:off x="384048" y="5815584"/>
            <a:ext cx="9144000" cy="457200"/>
          </a:xfrm>
          <a:prstGeom prst="rect">
            <a:avLst/>
          </a:prstGeom>
          <a:solidFill>
            <a:srgbClr val="F2F2F2"/>
          </a:solidFill>
          <a:ln>
            <a:noFill/>
          </a:ln>
          <a:effectLst/>
        </p:spPr>
        <p:txBody>
          <a:bodyPr wrap="square" lIns="137160" rIns="137160" rtlCol="0" anchor="ctr"/>
          <a:lstStyle/>
          <a:p>
            <a:pPr algn="ctr"/>
            <a:r>
              <a:rPr sz="1300" b="1">
                <a:solidFill>
                  <a:srgbClr val="1F2A5C"/>
                </a:solidFill>
                <a:latin typeface="メイリオ"/>
                <a:ea typeface="メイリオ"/>
                <a:cs typeface="メイリオ"/>
              </a:rPr>
              <a:t>アンケートで希望を聞けているため、その分析を用いた配信が重要</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LINEの友だちへ</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SNSのプロフィール・投稿や</a:t>
            </a:r>
          </a:p>
          <a:p>
            <a:pPr algn="l">
              <a:lnSpc>
                <a:spcPct val="105000"/>
              </a:lnSpc>
              <a:spcAft>
                <a:spcPts val="200"/>
              </a:spcAft>
            </a:pPr>
            <a:r>
              <a:rPr sz="1200" b="0">
                <a:solidFill>
                  <a:srgbClr val="333333"/>
                </a:solidFill>
                <a:latin typeface="メイリオ"/>
                <a:ea typeface="メイリオ"/>
                <a:cs typeface="メイリオ"/>
              </a:rPr>
              <a:t>体験談のページにも入口を置く</a:t>
            </a:r>
          </a:p>
        </p:txBody>
      </p:sp>
      <p:sp>
        <p:nvSpPr>
          <p:cNvPr id="90" name="TextBox 89"/>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入口ごとにURLを分けて記録し、</a:t>
            </a:r>
          </a:p>
          <a:p>
            <a:pPr algn="l">
              <a:lnSpc>
                <a:spcPct val="105000"/>
              </a:lnSpc>
              <a:spcAft>
                <a:spcPts val="200"/>
              </a:spcAft>
            </a:pPr>
            <a:r>
              <a:rPr sz="1200" b="0">
                <a:solidFill>
                  <a:srgbClr val="333333"/>
                </a:solidFill>
                <a:latin typeface="メイリオ"/>
                <a:ea typeface="メイリオ"/>
                <a:cs typeface="メイリオ"/>
              </a:rPr>
              <a:t>あいさつの文面を出し分ける</a:t>
            </a:r>
          </a:p>
        </p:txBody>
      </p:sp>
      <p:sp>
        <p:nvSpPr>
          <p:cNvPr id="91" name="TextBox 90"/>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追加の特典に「寮生活の</a:t>
            </a:r>
          </a:p>
          <a:p>
            <a:pPr algn="l">
              <a:lnSpc>
                <a:spcPct val="105000"/>
              </a:lnSpc>
              <a:spcAft>
                <a:spcPts val="200"/>
              </a:spcAft>
            </a:pPr>
            <a:r>
              <a:rPr sz="1200" b="0">
                <a:solidFill>
                  <a:srgbClr val="333333"/>
                </a:solidFill>
                <a:latin typeface="メイリオ"/>
                <a:ea typeface="メイリオ"/>
                <a:cs typeface="メイリオ"/>
              </a:rPr>
              <a:t>持ち物リスト」などを届ける</a:t>
            </a:r>
          </a:p>
        </p:txBody>
      </p:sp>
      <p:sp>
        <p:nvSpPr>
          <p:cNvPr id="92" name="TextBox 91"/>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サイトを離れる方を、LINEの友だちに</a:t>
            </a:r>
          </a:p>
        </p:txBody>
      </p:sp>
      <p:pic>
        <p:nvPicPr>
          <p:cNvPr id="93" name="Picture 92" descr="demo8_p24.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94" name="TextBox 93"/>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露出の強化</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特集から、リッチメニューの</a:t>
            </a:r>
          </a:p>
          <a:p>
            <a:pPr algn="l">
              <a:lnSpc>
                <a:spcPct val="105000"/>
              </a:lnSpc>
              <a:spcAft>
                <a:spcPts val="200"/>
              </a:spcAft>
            </a:pPr>
            <a:r>
              <a:rPr sz="1200" b="0">
                <a:solidFill>
                  <a:srgbClr val="333333"/>
                </a:solidFill>
                <a:latin typeface="メイリオ"/>
                <a:ea typeface="メイリオ"/>
                <a:cs typeface="メイリオ"/>
              </a:rPr>
              <a:t>開始月別の求人へつなげる</a:t>
            </a:r>
          </a:p>
        </p:txBody>
      </p:sp>
      <p:sp>
        <p:nvSpPr>
          <p:cNvPr id="86" name="TextBox 85"/>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季節ごとに、リッチメニューの</a:t>
            </a:r>
          </a:p>
          <a:p>
            <a:pPr algn="l">
              <a:lnSpc>
                <a:spcPct val="105000"/>
              </a:lnSpc>
              <a:spcAft>
                <a:spcPts val="200"/>
              </a:spcAft>
            </a:pPr>
            <a:r>
              <a:rPr sz="1200" b="0">
                <a:solidFill>
                  <a:srgbClr val="333333"/>
                </a:solidFill>
                <a:latin typeface="メイリオ"/>
                <a:ea typeface="メイリオ"/>
                <a:cs typeface="メイリオ"/>
              </a:rPr>
              <a:t>特集の枠を入れ替える</a:t>
            </a:r>
          </a:p>
        </p:txBody>
      </p:sp>
      <p:sp>
        <p:nvSpPr>
          <p:cNvPr id="87" name="TextBox 86"/>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「LINE友だち限定」の先行公開や</a:t>
            </a:r>
          </a:p>
          <a:p>
            <a:pPr algn="l">
              <a:lnSpc>
                <a:spcPct val="105000"/>
              </a:lnSpc>
              <a:spcAft>
                <a:spcPts val="200"/>
              </a:spcAft>
            </a:pPr>
            <a:r>
              <a:rPr sz="1200" b="0">
                <a:solidFill>
                  <a:srgbClr val="333333"/>
                </a:solidFill>
                <a:latin typeface="メイリオ"/>
                <a:ea typeface="メイリオ"/>
                <a:cs typeface="メイリオ"/>
              </a:rPr>
              <a:t>締切が近い求人の特集</a:t>
            </a:r>
          </a:p>
        </p:txBody>
      </p:sp>
      <p:sp>
        <p:nvSpPr>
          <p:cNvPr id="88" name="TextBox 87"/>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企画配信</a:t>
            </a:r>
          </a:p>
          <a:p>
            <a:pPr algn="l">
              <a:lnSpc>
                <a:spcPct val="105000"/>
              </a:lnSpc>
              <a:spcAft>
                <a:spcPts val="200"/>
              </a:spcAft>
            </a:pPr>
            <a:r>
              <a:rPr sz="1200" b="0">
                <a:solidFill>
                  <a:srgbClr val="333333"/>
                </a:solidFill>
                <a:latin typeface="メイリオ"/>
                <a:ea typeface="メイリオ"/>
                <a:cs typeface="メイリオ"/>
              </a:rPr>
              <a:t>季節に合わせて、届く求人を切り替える</a:t>
            </a:r>
          </a:p>
        </p:txBody>
      </p:sp>
      <p:pic>
        <p:nvPicPr>
          <p:cNvPr id="89" name="Picture 88" descr="demo8_p25.png"/>
          <p:cNvPicPr>
            <a:picLocks noChangeAspect="1"/>
          </p:cNvPicPr>
          <p:nvPr/>
        </p:nvPicPr>
        <p:blipFill>
          <a:blip r:embed="rId2"/>
          <a:stretch>
            <a:fillRect/>
          </a:stretch>
        </p:blipFill>
        <p:spPr>
          <a:xfrm>
            <a:off x="1095785" y="2633472"/>
            <a:ext cx="4227517" cy="3291840"/>
          </a:xfrm>
          <a:prstGeom prst="rect">
            <a:avLst/>
          </a:prstGeom>
          <a:ln w="9525">
            <a:solidFill>
              <a:srgbClr val="D9D9D9"/>
            </a:solidFill>
          </a:ln>
        </p:spPr>
      </p:pic>
      <p:sp>
        <p:nvSpPr>
          <p:cNvPr id="90" name="TextBox 89"/>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の最大化</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診断に答えていない方には、</a:t>
            </a:r>
          </a:p>
          <a:p>
            <a:pPr algn="l">
              <a:lnSpc>
                <a:spcPct val="105000"/>
              </a:lnSpc>
              <a:spcAft>
                <a:spcPts val="200"/>
              </a:spcAft>
            </a:pPr>
            <a:r>
              <a:rPr sz="1200" b="0">
                <a:solidFill>
                  <a:srgbClr val="333333"/>
                </a:solidFill>
                <a:latin typeface="メイリオ"/>
                <a:ea typeface="メイリオ"/>
                <a:cs typeface="メイリオ"/>
              </a:rPr>
              <a:t>翌日に答えるお願いを届ける</a:t>
            </a:r>
          </a:p>
        </p:txBody>
      </p:sp>
      <p:sp>
        <p:nvSpPr>
          <p:cNvPr id="109" name="TextBox 108"/>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押した内容（お金・寮など）で</a:t>
            </a:r>
          </a:p>
          <a:p>
            <a:pPr algn="l">
              <a:lnSpc>
                <a:spcPct val="105000"/>
              </a:lnSpc>
              <a:spcAft>
                <a:spcPts val="200"/>
              </a:spcAft>
            </a:pPr>
            <a:r>
              <a:rPr sz="1200" b="0">
                <a:solidFill>
                  <a:srgbClr val="333333"/>
                </a:solidFill>
                <a:latin typeface="メイリオ"/>
                <a:ea typeface="メイリオ"/>
                <a:cs typeface="メイリオ"/>
              </a:rPr>
              <a:t>タグを付け、次の配信を変える</a:t>
            </a:r>
          </a:p>
        </p:txBody>
      </p:sp>
      <p:sp>
        <p:nvSpPr>
          <p:cNvPr id="110" name="TextBox 109"/>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寮の写真や1日の流れなど、</a:t>
            </a:r>
          </a:p>
          <a:p>
            <a:pPr algn="l">
              <a:lnSpc>
                <a:spcPct val="105000"/>
              </a:lnSpc>
              <a:spcAft>
                <a:spcPts val="200"/>
              </a:spcAft>
            </a:pPr>
            <a:r>
              <a:rPr sz="1200" b="0">
                <a:solidFill>
                  <a:srgbClr val="333333"/>
                </a:solidFill>
                <a:latin typeface="メイリオ"/>
                <a:ea typeface="メイリオ"/>
                <a:cs typeface="メイリオ"/>
              </a:rPr>
              <a:t>不安ごとの配信を足す</a:t>
            </a:r>
          </a:p>
        </p:txBody>
      </p:sp>
      <p:sp>
        <p:nvSpPr>
          <p:cNvPr id="111" name="TextBox 110"/>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追加後15日で、応募（ENTRY）へ</a:t>
            </a:r>
          </a:p>
        </p:txBody>
      </p:sp>
      <p:pic>
        <p:nvPicPr>
          <p:cNvPr id="112" name="Picture 111" descr="demo8_p26.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13" name="TextBox 112"/>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CPO</a:t>
            </a:r>
            <a:r>
              <a:rPr kumimoji="1" lang="ja-JP" altLang="en-US" sz="1200" b="1" dirty="0">
                <a:solidFill>
                  <a:srgbClr val="FFFFFF"/>
                </a:solidFill>
                <a:latin typeface="メイリオ" panose="020B0604030504040204" pitchFamily="50" charset="-128"/>
                <a:ea typeface="メイリオ" panose="020B0604030504040204" pitchFamily="50" charset="-128"/>
              </a:rPr>
              <a:t>の改善（</a:t>
            </a:r>
            <a:r>
              <a:rPr kumimoji="1" lang="en-US" altLang="ja-JP" sz="1200" b="1" dirty="0">
                <a:solidFill>
                  <a:srgbClr val="FFFFFF"/>
                </a:solidFill>
                <a:latin typeface="メイリオ" panose="020B0604030504040204" pitchFamily="50" charset="-128"/>
                <a:ea typeface="メイリオ" panose="020B0604030504040204" pitchFamily="50" charset="-128"/>
              </a:rPr>
              <a:t>CV</a:t>
            </a:r>
            <a:r>
              <a:rPr kumimoji="1" lang="ja-JP" altLang="en-US" sz="1200" b="1" dirty="0">
                <a:solidFill>
                  <a:srgbClr val="FFFFFF"/>
                </a:solidFill>
                <a:latin typeface="メイリオ" panose="020B0604030504040204" pitchFamily="50" charset="-128"/>
                <a:ea typeface="メイリオ" panose="020B0604030504040204" pitchFamily="50" charset="-128"/>
              </a:rPr>
              <a:t>質）</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お問い合わせなど、ほかの</a:t>
            </a:r>
          </a:p>
          <a:p>
            <a:pPr algn="l">
              <a:lnSpc>
                <a:spcPct val="105000"/>
              </a:lnSpc>
              <a:spcAft>
                <a:spcPts val="200"/>
              </a:spcAft>
            </a:pPr>
            <a:r>
              <a:rPr sz="1200" b="0">
                <a:solidFill>
                  <a:srgbClr val="333333"/>
                </a:solidFill>
                <a:latin typeface="メイリオ"/>
                <a:ea typeface="メイリオ"/>
                <a:cs typeface="メイリオ"/>
              </a:rPr>
              <a:t>フォームの完了画面にも置く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ENTRYで伺った内容と同じ質問は</a:t>
            </a:r>
          </a:p>
          <a:p>
            <a:pPr algn="l">
              <a:lnSpc>
                <a:spcPct val="105000"/>
              </a:lnSpc>
              <a:spcAft>
                <a:spcPts val="200"/>
              </a:spcAft>
            </a:pPr>
            <a:r>
              <a:rPr sz="1200" b="0">
                <a:solidFill>
                  <a:srgbClr val="333333"/>
                </a:solidFill>
                <a:latin typeface="メイリオ"/>
                <a:ea typeface="メイリオ"/>
                <a:cs typeface="メイリオ"/>
              </a:rPr>
              <a:t>省いて、診断を短くする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面談・お仕事開始までの流れ、</a:t>
            </a:r>
          </a:p>
          <a:p>
            <a:pPr algn="l">
              <a:lnSpc>
                <a:spcPct val="105000"/>
              </a:lnSpc>
              <a:spcAft>
                <a:spcPts val="200"/>
              </a:spcAft>
            </a:pPr>
            <a:r>
              <a:rPr sz="1200" b="0">
                <a:solidFill>
                  <a:srgbClr val="333333"/>
                </a:solidFill>
                <a:latin typeface="メイリオ"/>
                <a:ea typeface="メイリオ"/>
                <a:cs typeface="メイリオ"/>
              </a:rPr>
              <a:t>持ち物・よくある質問を届ける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応募の完了画面から、そのままLINEへ</a:t>
            </a:r>
          </a:p>
        </p:txBody>
      </p:sp>
      <p:pic>
        <p:nvPicPr>
          <p:cNvPr id="108" name="Picture 107" descr="demo8_p27.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休眠顧客の有効化</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リッチメニューにも、</a:t>
            </a:r>
          </a:p>
          <a:p>
            <a:pPr algn="l">
              <a:lnSpc>
                <a:spcPct val="105000"/>
              </a:lnSpc>
              <a:spcAft>
                <a:spcPts val="200"/>
              </a:spcAft>
            </a:pPr>
            <a:r>
              <a:rPr sz="1200" b="0">
                <a:solidFill>
                  <a:srgbClr val="333333"/>
                </a:solidFill>
                <a:latin typeface="メイリオ"/>
                <a:ea typeface="メイリオ"/>
                <a:cs typeface="メイリオ"/>
              </a:rPr>
              <a:t>「希望を変える」ボタンを置く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反応のない期間（30日・60日）で</a:t>
            </a:r>
          </a:p>
          <a:p>
            <a:pPr algn="l">
              <a:lnSpc>
                <a:spcPct val="105000"/>
              </a:lnSpc>
              <a:spcAft>
                <a:spcPts val="200"/>
              </a:spcAft>
            </a:pPr>
            <a:r>
              <a:rPr sz="1200" b="0">
                <a:solidFill>
                  <a:srgbClr val="333333"/>
                </a:solidFill>
                <a:latin typeface="メイリオ"/>
                <a:ea typeface="メイリオ"/>
                <a:cs typeface="メイリオ"/>
              </a:rPr>
              <a:t>タグを分けて、送る回数を変える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シーズンの前に、開始月別の</a:t>
            </a:r>
          </a:p>
          <a:p>
            <a:pPr algn="l">
              <a:lnSpc>
                <a:spcPct val="105000"/>
              </a:lnSpc>
              <a:spcAft>
                <a:spcPts val="200"/>
              </a:spcAft>
            </a:pPr>
            <a:r>
              <a:rPr sz="1200" b="0">
                <a:solidFill>
                  <a:srgbClr val="333333"/>
                </a:solidFill>
                <a:latin typeface="メイリオ"/>
                <a:ea typeface="メイリオ"/>
                <a:cs typeface="メイリオ"/>
              </a:rPr>
              <a:t>新着求人だけを短く届ける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休眠の掘り起こし</a:t>
            </a:r>
          </a:p>
          <a:p>
            <a:pPr algn="l">
              <a:lnSpc>
                <a:spcPct val="105000"/>
              </a:lnSpc>
              <a:spcAft>
                <a:spcPts val="200"/>
              </a:spcAft>
            </a:pPr>
            <a:r>
              <a:rPr sz="1200" b="0">
                <a:solidFill>
                  <a:srgbClr val="333333"/>
                </a:solidFill>
                <a:latin typeface="メイリオ"/>
                <a:ea typeface="メイリオ"/>
                <a:cs typeface="メイリオ"/>
              </a:rPr>
              <a:t>反応のない方に、開始時期を聞き直す</a:t>
            </a:r>
          </a:p>
        </p:txBody>
      </p:sp>
      <p:pic>
        <p:nvPicPr>
          <p:cNvPr id="108" name="Picture 107" descr="demo8_p28.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マネタイズ最大化</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求人を押したが応募していない方に、</a:t>
            </a:r>
          </a:p>
          <a:p>
            <a:pPr algn="l">
              <a:lnSpc>
                <a:spcPct val="105000"/>
              </a:lnSpc>
              <a:spcAft>
                <a:spcPts val="200"/>
              </a:spcAft>
            </a:pPr>
            <a:r>
              <a:rPr sz="1200" b="0">
                <a:solidFill>
                  <a:srgbClr val="333333"/>
                </a:solidFill>
                <a:latin typeface="メイリオ"/>
                <a:ea typeface="メイリオ"/>
                <a:cs typeface="メイリオ"/>
              </a:rPr>
              <a:t>翌日にその求人を届け直す</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重視したいポイント（立地・</a:t>
            </a:r>
          </a:p>
          <a:p>
            <a:pPr algn="l">
              <a:lnSpc>
                <a:spcPct val="105000"/>
              </a:lnSpc>
              <a:spcAft>
                <a:spcPts val="200"/>
              </a:spcAft>
            </a:pPr>
            <a:r>
              <a:rPr sz="1200" b="0">
                <a:solidFill>
                  <a:srgbClr val="333333"/>
                </a:solidFill>
                <a:latin typeface="メイリオ"/>
                <a:ea typeface="メイリオ"/>
                <a:cs typeface="メイリオ"/>
              </a:rPr>
              <a:t>稼げる・出会い・住環境）も聞く</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求人と一緒に、</a:t>
            </a:r>
          </a:p>
          <a:p>
            <a:pPr algn="l">
              <a:lnSpc>
                <a:spcPct val="105000"/>
              </a:lnSpc>
              <a:spcAft>
                <a:spcPts val="200"/>
              </a:spcAft>
            </a:pPr>
            <a:r>
              <a:rPr sz="1200" b="0">
                <a:solidFill>
                  <a:srgbClr val="333333"/>
                </a:solidFill>
                <a:latin typeface="メイリオ"/>
                <a:ea typeface="メイリオ"/>
                <a:cs typeface="メイリオ"/>
              </a:rPr>
              <a:t>専属エージェントへの相談の入口も届ける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合う方にだけ、合う求人を届ける</a:t>
            </a:r>
          </a:p>
        </p:txBody>
      </p:sp>
      <p:pic>
        <p:nvPicPr>
          <p:cNvPr id="108" name="Picture 107" descr="demo8_p29.png"/>
          <p:cNvPicPr>
            <a:picLocks noChangeAspect="1"/>
          </p:cNvPicPr>
          <p:nvPr/>
        </p:nvPicPr>
        <p:blipFill>
          <a:blip r:embed="rId2"/>
          <a:stretch>
            <a:fillRect/>
          </a:stretch>
        </p:blipFill>
        <p:spPr>
          <a:xfrm>
            <a:off x="1153323" y="2633472"/>
            <a:ext cx="4112441"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70CBF08D-A75A-0470-2FBB-3028F9D942F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3C7D88F4-3C3C-3E2E-C03F-2CCC867D89EC}"/>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リピート施策</a:t>
            </a:r>
          </a:p>
        </p:txBody>
      </p:sp>
      <p:sp>
        <p:nvSpPr>
          <p:cNvPr id="51" name="Chevron 13">
            <a:extLst>
              <a:ext uri="{FF2B5EF4-FFF2-40B4-BE49-F238E27FC236}">
                <a16:creationId xmlns:a16="http://schemas.microsoft.com/office/drawing/2014/main" id="{759E7DA1-B0BF-83B4-5B22-46858D37029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E1C272E5-75EC-C617-4703-013CF3754F63}"/>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E9DA71D7-9C78-CD2C-7714-F3A95FFC1731}"/>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8CCD9A2E-65D9-A3A7-1F9E-9F339A653484}"/>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A3BB58FC-6C79-950E-F1BC-61DF96A00F4B}"/>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CF6FF1B6-0073-1D5C-E7B4-9CD1A7C404F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F755585F-9990-C994-AFCB-6B55869BB11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1A586438-3489-526C-D969-F3D159B19FC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20A32186-62A1-3BBF-CED6-D509ABE569B8}"/>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29F4C005-9928-FAAC-6A92-971D5F0B969B}"/>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48B7705-5A53-CB64-8318-08FA7AC165A4}"/>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9F8A8E43-9950-E3F2-F3FE-9C9B3CFBF78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B125C3F7-8289-EA3D-F9C3-E4122A1EF6CC}"/>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C4497524-AB39-B15B-217D-366289997E7B}"/>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C49ED30C-CEC0-2E49-5CC6-AB9E06E1664C}"/>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7095497-8A9F-3AE5-CF43-E456608BFED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1DE68DC3-7D7A-9CDB-56F3-E6921DE8DBAD}"/>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1C592B4B-F240-144A-4EC6-877E40B5DA24}"/>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A6208BB2-3F77-CF64-CB2E-3FF447A9F5F7}"/>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4FD2BF1B-521D-CC1A-7BFD-A22AA1142DA0}"/>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C915B36-4012-C279-83CB-222ABE1F6039}"/>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9E5CE7E-1D8F-576F-9D97-DFF65D6EF007}"/>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お仕事が終わる前に、</a:t>
            </a:r>
          </a:p>
          <a:p>
            <a:pPr algn="l">
              <a:lnSpc>
                <a:spcPct val="105000"/>
              </a:lnSpc>
              <a:spcAft>
                <a:spcPts val="200"/>
              </a:spcAft>
            </a:pPr>
            <a:r>
              <a:rPr sz="1200" b="0">
                <a:solidFill>
                  <a:srgbClr val="333333"/>
                </a:solidFill>
                <a:latin typeface="メイリオ"/>
                <a:ea typeface="メイリオ"/>
                <a:cs typeface="メイリオ"/>
              </a:rPr>
              <a:t>次の希望を聞くアンケートを送る</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勤務した時期・エリアで</a:t>
            </a:r>
          </a:p>
          <a:p>
            <a:pPr algn="l">
              <a:lnSpc>
                <a:spcPct val="105000"/>
              </a:lnSpc>
              <a:spcAft>
                <a:spcPts val="200"/>
              </a:spcAft>
            </a:pPr>
            <a:r>
              <a:rPr sz="1200" b="0">
                <a:solidFill>
                  <a:srgbClr val="333333"/>
                </a:solidFill>
                <a:latin typeface="メイリオ"/>
                <a:ea typeface="メイリオ"/>
                <a:cs typeface="メイリオ"/>
              </a:rPr>
              <a:t>タグを付け、次の季節に出し分ける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前回と同じエリア・違うエリアの</a:t>
            </a:r>
          </a:p>
          <a:p>
            <a:pPr algn="l">
              <a:lnSpc>
                <a:spcPct val="105000"/>
              </a:lnSpc>
              <a:spcAft>
                <a:spcPts val="200"/>
              </a:spcAft>
            </a:pPr>
            <a:r>
              <a:rPr sz="1200" b="0">
                <a:solidFill>
                  <a:srgbClr val="333333"/>
                </a:solidFill>
                <a:latin typeface="メイリオ"/>
                <a:ea typeface="メイリオ"/>
                <a:cs typeface="メイリオ"/>
              </a:rPr>
              <a:t>求人を並べて届ける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次のシーズンのお仕事</a:t>
            </a:r>
          </a:p>
          <a:p>
            <a:pPr algn="l">
              <a:lnSpc>
                <a:spcPct val="105000"/>
              </a:lnSpc>
              <a:spcAft>
                <a:spcPts val="200"/>
              </a:spcAft>
            </a:pPr>
            <a:r>
              <a:rPr sz="1200" b="0">
                <a:solidFill>
                  <a:srgbClr val="333333"/>
                </a:solidFill>
                <a:latin typeface="メイリオ"/>
                <a:ea typeface="メイリオ"/>
                <a:cs typeface="メイリオ"/>
              </a:rPr>
              <a:t>お仕事を終えた方に、次の求人を先に届ける</a:t>
            </a:r>
          </a:p>
        </p:txBody>
      </p:sp>
      <p:pic>
        <p:nvPicPr>
          <p:cNvPr id="108" name="Picture 107" descr="demo8_p30.png"/>
          <p:cNvPicPr>
            <a:picLocks noChangeAspect="1"/>
          </p:cNvPicPr>
          <p:nvPr/>
        </p:nvPicPr>
        <p:blipFill>
          <a:blip r:embed="rId2"/>
          <a:stretch>
            <a:fillRect/>
          </a:stretch>
        </p:blipFill>
        <p:spPr>
          <a:xfrm>
            <a:off x="1038224" y="2633472"/>
            <a:ext cx="4342639"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3FE06A6-86EF-D7B0-BBFB-528ECC073C71}"/>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01D9328-0162-B9BC-14E5-4043C4775398}"/>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コミュニティ運営</a:t>
            </a:r>
          </a:p>
        </p:txBody>
      </p:sp>
      <p:sp>
        <p:nvSpPr>
          <p:cNvPr id="51" name="Chevron 13">
            <a:extLst>
              <a:ext uri="{FF2B5EF4-FFF2-40B4-BE49-F238E27FC236}">
                <a16:creationId xmlns:a16="http://schemas.microsoft.com/office/drawing/2014/main" id="{CE22BBFE-2B26-237F-982B-2EA5618B295C}"/>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80FBA5C2-85D8-876D-21BD-21D8CBF46DCA}"/>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414E7487-2F11-DE25-DBC0-3F05BADEBBB5}"/>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520F0369-7B38-CED2-FDCE-2A3D5E2FBA45}"/>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93" name="Pentagon 10">
            <a:extLst>
              <a:ext uri="{FF2B5EF4-FFF2-40B4-BE49-F238E27FC236}">
                <a16:creationId xmlns:a16="http://schemas.microsoft.com/office/drawing/2014/main" id="{6ACC63D7-6F52-9BE7-B7F1-06941B3FB662}"/>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41EEE8B7-3911-9FA9-D5E8-3DA2ED3998D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00F69354-CC26-C840-A15E-CBD7B45B2E08}"/>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5A3585B4-3CB4-7042-40C9-E33D520250EF}"/>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37372EB0-F5E6-65AF-7C6F-6ED9C8B77FAA}"/>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AA83D2FD-45C9-0F59-802A-AF2C5668C61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59DD36B2-96D9-D151-9C00-1072C4868402}"/>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439A3FCC-970E-F0D5-83C6-3DB1603A260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FFB75D8D-CCC8-08DA-9374-BDCC4DBC0F8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053B8822-C5C6-7FF1-2E68-9A537E44EC6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正方形/長方形 3">
            <a:extLst>
              <a:ext uri="{FF2B5EF4-FFF2-40B4-BE49-F238E27FC236}">
                <a16:creationId xmlns:a16="http://schemas.microsoft.com/office/drawing/2014/main" id="{D30303D8-861D-2829-9C34-EB5B96556F40}"/>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BF23443-3F44-9153-9179-100EF3B83E19}"/>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3">
            <a:extLst>
              <a:ext uri="{FF2B5EF4-FFF2-40B4-BE49-F238E27FC236}">
                <a16:creationId xmlns:a16="http://schemas.microsoft.com/office/drawing/2014/main" id="{09B631BF-2611-3282-49CE-E252DECDE27A}"/>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E0CC1822-52C4-D2B9-7FF9-B51A2204E8B1}"/>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6" name="四角形: 角を丸くする 5">
            <a:extLst>
              <a:ext uri="{FF2B5EF4-FFF2-40B4-BE49-F238E27FC236}">
                <a16:creationId xmlns:a16="http://schemas.microsoft.com/office/drawing/2014/main" id="{F9C56CF2-60DE-DF0B-73AB-C8769DA02AE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DC098DF-392C-B85B-2BD7-9024C9265A47}"/>
              </a:ext>
            </a:extLst>
          </p:cNvPr>
          <p:cNvSpPr/>
          <p:nvPr/>
        </p:nvSpPr>
        <p:spPr>
          <a:xfrm>
            <a:off x="6263640" y="1856231"/>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34E5D985-1393-630A-EACC-F61C1CA5E4BF}"/>
              </a:ext>
            </a:extLst>
          </p:cNvPr>
          <p:cNvSpPr/>
          <p:nvPr/>
        </p:nvSpPr>
        <p:spPr>
          <a:xfrm>
            <a:off x="6263640" y="3340608"/>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0043C29-FD63-A762-3BE9-A94DAE22A315}"/>
              </a:ext>
            </a:extLst>
          </p:cNvPr>
          <p:cNvSpPr/>
          <p:nvPr/>
        </p:nvSpPr>
        <p:spPr>
          <a:xfrm>
            <a:off x="6263640" y="4824984"/>
            <a:ext cx="3381226" cy="1392936"/>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6373368" y="1911095"/>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入口</a:t>
            </a:r>
          </a:p>
          <a:p>
            <a:pPr algn="l">
              <a:lnSpc>
                <a:spcPct val="105000"/>
              </a:lnSpc>
              <a:spcAft>
                <a:spcPts val="200"/>
              </a:spcAft>
            </a:pPr>
            <a:r>
              <a:rPr sz="1200" b="0">
                <a:solidFill>
                  <a:srgbClr val="333333"/>
                </a:solidFill>
                <a:latin typeface="メイリオ"/>
                <a:ea typeface="メイリオ"/>
                <a:cs typeface="メイリオ"/>
              </a:rPr>
              <a:t>リッチメニューに、体験談・</a:t>
            </a:r>
          </a:p>
          <a:p>
            <a:pPr algn="l">
              <a:lnSpc>
                <a:spcPct val="105000"/>
              </a:lnSpc>
              <a:spcAft>
                <a:spcPts val="200"/>
              </a:spcAft>
            </a:pPr>
            <a:r>
              <a:rPr sz="1200" b="0">
                <a:solidFill>
                  <a:srgbClr val="333333"/>
                </a:solidFill>
                <a:latin typeface="メイリオ"/>
                <a:ea typeface="メイリオ"/>
                <a:cs typeface="メイリオ"/>
              </a:rPr>
              <a:t>紹介の入口を置く</a:t>
            </a:r>
          </a:p>
        </p:txBody>
      </p:sp>
      <p:sp>
        <p:nvSpPr>
          <p:cNvPr id="105" name="TextBox 104"/>
          <p:cNvSpPr txBox="1"/>
          <p:nvPr/>
        </p:nvSpPr>
        <p:spPr>
          <a:xfrm>
            <a:off x="6373368" y="3395472"/>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LINEの仕組み</a:t>
            </a:r>
          </a:p>
          <a:p>
            <a:pPr algn="l">
              <a:lnSpc>
                <a:spcPct val="105000"/>
              </a:lnSpc>
              <a:spcAft>
                <a:spcPts val="200"/>
              </a:spcAft>
            </a:pPr>
            <a:r>
              <a:rPr sz="1200" b="0">
                <a:solidFill>
                  <a:srgbClr val="333333"/>
                </a:solidFill>
                <a:latin typeface="メイリオ"/>
                <a:ea typeface="メイリオ"/>
                <a:cs typeface="メイリオ"/>
              </a:rPr>
              <a:t>紹介した方にタグを付け、</a:t>
            </a:r>
          </a:p>
          <a:p>
            <a:pPr algn="l">
              <a:lnSpc>
                <a:spcPct val="105000"/>
              </a:lnSpc>
              <a:spcAft>
                <a:spcPts val="200"/>
              </a:spcAft>
            </a:pPr>
            <a:r>
              <a:rPr sz="1200" b="0">
                <a:solidFill>
                  <a:srgbClr val="333333"/>
                </a:solidFill>
                <a:latin typeface="メイリオ"/>
                <a:ea typeface="メイリオ"/>
                <a:cs typeface="メイリオ"/>
              </a:rPr>
              <a:t>紹介からの応募を数える</a:t>
            </a:r>
          </a:p>
        </p:txBody>
      </p:sp>
      <p:sp>
        <p:nvSpPr>
          <p:cNvPr id="106" name="TextBox 105"/>
          <p:cNvSpPr txBox="1"/>
          <p:nvPr/>
        </p:nvSpPr>
        <p:spPr>
          <a:xfrm>
            <a:off x="6373368" y="4879848"/>
            <a:ext cx="3163823" cy="1097280"/>
          </a:xfrm>
          <a:prstGeom prst="rect">
            <a:avLst/>
          </a:prstGeom>
          <a:noFill/>
        </p:spPr>
        <p:txBody>
          <a:bodyPr wrap="square" lIns="36000" tIns="10800" rIns="36000" bIns="10800" anchor="t">
            <a:spAutoFit/>
          </a:bodyPr>
          <a:lstStyle/>
          <a:p>
            <a:pPr algn="l">
              <a:lnSpc>
                <a:spcPct val="105000"/>
              </a:lnSpc>
              <a:spcAft>
                <a:spcPts val="200"/>
              </a:spcAft>
            </a:pPr>
            <a:r>
              <a:rPr sz="1300" b="1">
                <a:solidFill>
                  <a:srgbClr val="1F2A5C"/>
                </a:solidFill>
                <a:latin typeface="メイリオ"/>
                <a:ea typeface="メイリオ"/>
                <a:cs typeface="メイリオ"/>
              </a:rPr>
              <a:t>配信内容</a:t>
            </a:r>
          </a:p>
          <a:p>
            <a:pPr algn="l">
              <a:lnSpc>
                <a:spcPct val="105000"/>
              </a:lnSpc>
              <a:spcAft>
                <a:spcPts val="200"/>
              </a:spcAft>
            </a:pPr>
            <a:r>
              <a:rPr sz="1200" b="0">
                <a:solidFill>
                  <a:srgbClr val="333333"/>
                </a:solidFill>
                <a:latin typeface="メイリオ"/>
                <a:ea typeface="メイリオ"/>
                <a:cs typeface="メイリオ"/>
              </a:rPr>
              <a:t>経験者の体験談を、</a:t>
            </a:r>
          </a:p>
          <a:p>
            <a:pPr algn="l">
              <a:lnSpc>
                <a:spcPct val="105000"/>
              </a:lnSpc>
              <a:spcAft>
                <a:spcPts val="200"/>
              </a:spcAft>
            </a:pPr>
            <a:r>
              <a:rPr sz="1200" b="0">
                <a:solidFill>
                  <a:srgbClr val="333333"/>
                </a:solidFill>
                <a:latin typeface="メイリオ"/>
                <a:ea typeface="メイリオ"/>
                <a:cs typeface="メイリオ"/>
              </a:rPr>
              <a:t>新しい方へのステップ配信に入れる</a:t>
            </a:r>
          </a:p>
        </p:txBody>
      </p:sp>
      <p:sp>
        <p:nvSpPr>
          <p:cNvPr id="107" name="TextBox 106"/>
          <p:cNvSpPr txBox="1"/>
          <p:nvPr/>
        </p:nvSpPr>
        <p:spPr>
          <a:xfrm>
            <a:off x="411480" y="1965959"/>
            <a:ext cx="5577840" cy="640079"/>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体験談・紹介</a:t>
            </a:r>
          </a:p>
          <a:p>
            <a:pPr algn="l">
              <a:lnSpc>
                <a:spcPct val="105000"/>
              </a:lnSpc>
              <a:spcAft>
                <a:spcPts val="200"/>
              </a:spcAft>
            </a:pPr>
            <a:r>
              <a:rPr sz="1200" b="0">
                <a:solidFill>
                  <a:srgbClr val="333333"/>
                </a:solidFill>
                <a:latin typeface="メイリオ"/>
                <a:ea typeface="メイリオ"/>
                <a:cs typeface="メイリオ"/>
              </a:rPr>
              <a:t>くり返し働く方とのつながりを強くする</a:t>
            </a:r>
          </a:p>
        </p:txBody>
      </p:sp>
      <p:pic>
        <p:nvPicPr>
          <p:cNvPr id="108" name="Picture 107" descr="demo8_p31.png"/>
          <p:cNvPicPr>
            <a:picLocks noChangeAspect="1"/>
          </p:cNvPicPr>
          <p:nvPr/>
        </p:nvPicPr>
        <p:blipFill>
          <a:blip r:embed="rId2"/>
          <a:stretch>
            <a:fillRect/>
          </a:stretch>
        </p:blipFill>
        <p:spPr>
          <a:xfrm>
            <a:off x="1038224" y="2633472"/>
            <a:ext cx="4342639" cy="3291840"/>
          </a:xfrm>
          <a:prstGeom prst="rect">
            <a:avLst/>
          </a:prstGeom>
          <a:ln w="9525">
            <a:solidFill>
              <a:srgbClr val="D9D9D9"/>
            </a:solidFill>
          </a:ln>
        </p:spPr>
      </p:pic>
      <p:sp>
        <p:nvSpPr>
          <p:cNvPr id="109" name="TextBox 108"/>
          <p:cNvSpPr txBox="1"/>
          <p:nvPr/>
        </p:nvSpPr>
        <p:spPr>
          <a:xfrm>
            <a:off x="411480" y="5961888"/>
            <a:ext cx="5577840" cy="219456"/>
          </a:xfrm>
          <a:prstGeom prst="rect">
            <a:avLst/>
          </a:prstGeom>
          <a:noFill/>
        </p:spPr>
        <p:txBody>
          <a:bodyPr wrap="square" lIns="36000" tIns="10800" rIns="36000" bIns="10800" anchor="t">
            <a:spAutoFit/>
          </a:bodyPr>
          <a:lstStyle/>
          <a:p>
            <a:pPr algn="l">
              <a:lnSpc>
                <a:spcPct val="105000"/>
              </a:lnSpc>
              <a:spcAft>
                <a:spcPts val="200"/>
              </a:spcAft>
            </a:pPr>
            <a:r>
              <a:rPr sz="850" b="0">
                <a:solidFill>
                  <a:srgbClr val="7F7F7F"/>
                </a:solidFill>
                <a:latin typeface="メイリオ"/>
                <a:ea typeface="メイリオ"/>
                <a:cs typeface="メイリオ"/>
              </a:rPr>
              <a:t>画面：ワクトリ様向けに作成したデモ（①ユーザーが見る画面／②裏側の処理）。求人はデモ用のサンプル</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エントリー状況・</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（今のアンケートを活かす）</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「派遣会社」「単発バイト」</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「リゾートバイト」などを検索。</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 2025」</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「国民健康保険料」など、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「派遣会社 おすすめ企業」</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「バイトル」「エン派遣」など、</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「派遣 職場見学 落ちる確率」</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「履歴書 書き方」など、</a:t>
            </a:r>
          </a:p>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2"/>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　求人を、開始時期・エリアで出し分け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a:t>
            </a:r>
            <a:b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dirty="0">
                <a:solidFill>
                  <a:schemeClr val="dk1"/>
                </a:solidFill>
                <a:effectLst/>
                <a:uFillTx/>
                <a:latin typeface="メイリオ"/>
                <a:ea typeface="メイリオ"/>
              </a:rPr>
              <a:t>¥</a:t>
            </a:r>
            <a:r>
              <a:rPr lang="en-US" sz="1600" b="1" dirty="0">
                <a:solidFill>
                  <a:schemeClr val="dk1"/>
                </a:solidFill>
                <a:latin typeface="メイリオ"/>
                <a:ea typeface="メイリオ"/>
              </a:rPr>
              <a:t>16</a:t>
            </a:r>
            <a:r>
              <a:rPr lang="en-US" sz="1600" b="1" u="none" strike="noStrike" dirty="0">
                <a:solidFill>
                  <a:schemeClr val="dk1"/>
                </a:solidFill>
                <a:effectLst/>
                <a:uFillTx/>
                <a:latin typeface="メイリオ"/>
                <a:ea typeface="メイリオ"/>
              </a:rPr>
              <a:t>5,000〜</a:t>
            </a:r>
            <a:endParaRPr lang="en-US" sz="1600" b="0" u="none" strike="noStrike" dirty="0">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dirty="0">
                <a:solidFill>
                  <a:schemeClr val="dk1"/>
                </a:solidFill>
                <a:effectLst/>
                <a:uFillTx/>
                <a:latin typeface="メイリオ"/>
                <a:ea typeface="メイリオ"/>
              </a:rPr>
              <a:t>¥230,000〜</a:t>
            </a:r>
            <a:endParaRPr lang="en-US" sz="1600" b="0" u="none" strike="noStrike" dirty="0">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dirty="0">
                <a:solidFill>
                  <a:schemeClr val="dk1"/>
                </a:solidFill>
                <a:effectLst/>
                <a:uFillTx/>
                <a:latin typeface="メイリオ"/>
                <a:ea typeface="メイリオ"/>
              </a:rPr>
              <a:t>月</a:t>
            </a:r>
            <a:r>
              <a:rPr lang="en-US" altLang="zh-CN" sz="1300" b="0" u="none" strike="noStrike" dirty="0">
                <a:solidFill>
                  <a:schemeClr val="dk1"/>
                </a:solidFill>
                <a:effectLst/>
                <a:uFillTx/>
                <a:latin typeface="メイリオ"/>
                <a:ea typeface="メイリオ"/>
              </a:rPr>
              <a:t>4</a:t>
            </a:r>
            <a:r>
              <a:rPr lang="zh-CN" sz="1300" b="0" u="none" strike="noStrike" dirty="0">
                <a:solidFill>
                  <a:schemeClr val="dk1"/>
                </a:solidFill>
                <a:effectLst/>
                <a:uFillTx/>
                <a:latin typeface="メイリオ"/>
                <a:ea typeface="メイリオ"/>
              </a:rPr>
              <a:t>回</a:t>
            </a:r>
            <a:endParaRPr lang="en-US" sz="1300" b="0" u="none" strike="noStrike" dirty="0">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a:t>
            </a:r>
            <a:br>
              <a:rPr lang="ja-JP" sz="1200" b="0" u="none" strike="noStrike">
                <a:solidFill>
                  <a:schemeClr val="lt1"/>
                </a:solidFill>
                <a:effectLst/>
                <a:uFillTx/>
                <a:latin typeface="メイリオ"/>
                <a:ea typeface="メイリオ"/>
              </a:rPr>
            </a:br>
            <a:r>
              <a:rPr lang="ja-JP" sz="1200" b="0" u="none" strike="noStrike">
                <a:solidFill>
                  <a:schemeClr val="lt1"/>
                </a:solidFill>
                <a:effectLst/>
                <a:uFillTx/>
                <a:latin typeface="メイリオ"/>
                <a:ea typeface="メイリオ"/>
              </a:rPr>
              <a:t>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a:t>
            </a:r>
            <a:br>
              <a:rPr lang="ja-JP" sz="1300" b="0" u="none" strike="noStrike">
                <a:solidFill>
                  <a:schemeClr val="dk1"/>
                </a:solidFill>
                <a:effectLst/>
                <a:uFillTx/>
                <a:latin typeface="メイリオ"/>
                <a:ea typeface="メイリオ"/>
              </a:rPr>
            </a:br>
            <a:r>
              <a:rPr lang="ja-JP" sz="1300" b="0" u="none" strike="noStrike">
                <a:solidFill>
                  <a:schemeClr val="dk1"/>
                </a:solidFill>
                <a:effectLst/>
                <a:uFillTx/>
                <a:latin typeface="メイリオ"/>
                <a:ea typeface="メイリオ"/>
              </a:rPr>
              <a:t>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u="none" strike="noStrike" dirty="0">
                <a:solidFill>
                  <a:schemeClr val="dk1">
                    <a:lumMod val="65000"/>
                    <a:lumOff val="35000"/>
                  </a:schemeClr>
                </a:solidFill>
                <a:effectLst/>
                <a:uFillTx/>
                <a:latin typeface="メイリオ"/>
                <a:ea typeface="メイリオ"/>
              </a:rPr>
              <a:t>月</a:t>
            </a:r>
            <a:r>
              <a:rPr lang="en-US" altLang="ja-JP" sz="1400" b="1" u="none" strike="noStrike" dirty="0">
                <a:solidFill>
                  <a:schemeClr val="dk1">
                    <a:lumMod val="65000"/>
                    <a:lumOff val="35000"/>
                  </a:schemeClr>
                </a:solidFill>
                <a:effectLst/>
                <a:uFillTx/>
                <a:latin typeface="メイリオ"/>
                <a:ea typeface="メイリオ"/>
              </a:rPr>
              <a:t>23</a:t>
            </a:r>
            <a:r>
              <a:rPr lang="ja-JP" altLang="en-US" sz="1400" b="1" u="none" strike="noStrike" dirty="0">
                <a:solidFill>
                  <a:schemeClr val="dk1">
                    <a:lumMod val="65000"/>
                    <a:lumOff val="35000"/>
                  </a:schemeClr>
                </a:solidFill>
                <a:effectLst/>
                <a:uFillTx/>
                <a:latin typeface="メイリオ"/>
                <a:ea typeface="メイリオ"/>
              </a:rPr>
              <a:t>万円で、</a:t>
            </a:r>
            <a:r>
              <a:rPr lang="en-US" altLang="ja-JP" sz="1400" b="1" u="none" strike="noStrike" dirty="0">
                <a:solidFill>
                  <a:schemeClr val="dk1">
                    <a:lumMod val="65000"/>
                    <a:lumOff val="35000"/>
                  </a:schemeClr>
                </a:solidFill>
                <a:effectLst/>
                <a:uFillTx/>
                <a:latin typeface="メイリオ"/>
                <a:ea typeface="メイリオ"/>
              </a:rPr>
              <a:t>6</a:t>
            </a:r>
            <a:r>
              <a:rPr lang="ja-JP" altLang="en-US" sz="1400" b="1" u="none" strike="noStrike" dirty="0">
                <a:solidFill>
                  <a:schemeClr val="dk1">
                    <a:lumMod val="65000"/>
                    <a:lumOff val="35000"/>
                  </a:schemeClr>
                </a:solidFill>
                <a:effectLst/>
                <a:uFillTx/>
                <a:latin typeface="メイリオ"/>
                <a:ea typeface="メイリオ"/>
              </a:rPr>
              <a:t>か月目に友だち </a:t>
            </a:r>
            <a:r>
              <a:rPr lang="en-US" altLang="ja-JP" sz="1400" b="1" u="none" strike="noStrike" dirty="0">
                <a:solidFill>
                  <a:schemeClr val="dk1">
                    <a:lumMod val="65000"/>
                    <a:lumOff val="35000"/>
                  </a:schemeClr>
                </a:solidFill>
                <a:effectLst/>
                <a:uFillTx/>
                <a:latin typeface="メイリオ"/>
                <a:ea typeface="メイリオ"/>
              </a:rPr>
              <a:t>86,631</a:t>
            </a:r>
            <a:r>
              <a:rPr lang="ja-JP" altLang="en-US" sz="1400" b="1" u="none" strike="noStrike" dirty="0">
                <a:solidFill>
                  <a:schemeClr val="dk1">
                    <a:lumMod val="65000"/>
                    <a:lumOff val="35000"/>
                  </a:schemeClr>
                </a:solidFill>
                <a:effectLst/>
                <a:uFillTx/>
                <a:latin typeface="メイリオ"/>
                <a:ea typeface="メイリオ"/>
              </a:rPr>
              <a:t>人・応募 月</a:t>
            </a:r>
            <a:r>
              <a:rPr lang="en-US" altLang="ja-JP" sz="1400" b="1" u="none" strike="noStrike" dirty="0">
                <a:solidFill>
                  <a:schemeClr val="dk1">
                    <a:lumMod val="65000"/>
                    <a:lumOff val="35000"/>
                  </a:schemeClr>
                </a:solidFill>
                <a:effectLst/>
                <a:uFillTx/>
                <a:latin typeface="メイリオ"/>
                <a:ea typeface="メイリオ"/>
              </a:rPr>
              <a:t>232</a:t>
            </a:r>
            <a:r>
              <a:rPr lang="ja-JP" altLang="en-US" sz="1400" b="1" u="none" strike="noStrike" dirty="0">
                <a:solidFill>
                  <a:schemeClr val="dk1">
                    <a:lumMod val="65000"/>
                    <a:lumOff val="35000"/>
                  </a:schemeClr>
                </a:solidFill>
                <a:effectLst/>
                <a:uFillTx/>
                <a:latin typeface="メイリオ"/>
                <a:ea typeface="メイリオ"/>
              </a:rPr>
              <a:t>件</a:t>
            </a:r>
            <a:br>
              <a:rPr lang="en-US" altLang="ja-JP" sz="1400" b="1" u="none" strike="noStrike" dirty="0">
                <a:solidFill>
                  <a:schemeClr val="dk1">
                    <a:lumMod val="65000"/>
                    <a:lumOff val="35000"/>
                  </a:schemeClr>
                </a:solidFill>
                <a:effectLst/>
                <a:uFillTx/>
                <a:latin typeface="メイリオ"/>
                <a:ea typeface="メイリオ"/>
              </a:rPr>
            </a:br>
            <a:r>
              <a:rPr lang="ja-JP" sz="1400" b="0" u="none" strike="noStrike" dirty="0">
                <a:solidFill>
                  <a:schemeClr val="dk1">
                    <a:lumMod val="65000"/>
                    <a:lumOff val="35000"/>
                  </a:schemeClr>
                </a:solidFill>
                <a:effectLst/>
                <a:uFillTx/>
                <a:latin typeface="メイリオ"/>
                <a:ea typeface="メイリオ"/>
              </a:rPr>
              <a:t>プラン①（月</a:t>
            </a:r>
            <a:r>
              <a:rPr lang="en-US" altLang="ja-JP" sz="1400" dirty="0">
                <a:solidFill>
                  <a:schemeClr val="dk1">
                    <a:lumMod val="65000"/>
                    <a:lumOff val="35000"/>
                  </a:schemeClr>
                </a:solidFill>
                <a:latin typeface="メイリオ"/>
                <a:ea typeface="メイリオ"/>
              </a:rPr>
              <a:t>4</a:t>
            </a:r>
            <a:r>
              <a:rPr lang="ja-JP" sz="1400" b="0" u="none" strike="noStrike" dirty="0">
                <a:solidFill>
                  <a:schemeClr val="dk1">
                    <a:lumMod val="65000"/>
                    <a:lumOff val="35000"/>
                  </a:schemeClr>
                </a:solidFill>
                <a:effectLst/>
                <a:uFillTx/>
                <a:latin typeface="メイリオ"/>
                <a:ea typeface="メイリオ"/>
              </a:rPr>
              <a:t>投稿）で、友だちの入口を増やし、検討の順番に沿った配信で応募を増やす</a:t>
            </a:r>
            <a:endParaRPr lang="en-US" sz="1400" b="0" u="none" strike="noStrike" dirty="0">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84" name="TextBox 383"/>
          <p:cNvSpPr txBox="1"/>
          <p:nvPr/>
        </p:nvSpPr>
        <p:spPr>
          <a:xfrm>
            <a:off x="261360" y="6134750"/>
            <a:ext cx="9326880" cy="175699"/>
          </a:xfrm>
          <a:prstGeom prst="rect">
            <a:avLst/>
          </a:prstGeom>
          <a:noFill/>
        </p:spPr>
        <p:txBody>
          <a:bodyPr wrap="square" lIns="36000" tIns="10800" rIns="36000" bIns="10800" anchor="t">
            <a:spAutoFit/>
          </a:bodyPr>
          <a:lstStyle/>
          <a:p>
            <a:pPr>
              <a:spcAft>
                <a:spcPts val="200"/>
              </a:spcAft>
            </a:pPr>
            <a:r>
              <a:rPr sz="1000" b="0" dirty="0">
                <a:solidFill>
                  <a:srgbClr val="595959"/>
                </a:solidFill>
                <a:latin typeface="メイリオ"/>
                <a:ea typeface="メイリオ"/>
                <a:cs typeface="メイリオ"/>
              </a:rPr>
              <a:t>※</a:t>
            </a:r>
            <a:r>
              <a:rPr sz="1000" b="0" dirty="0" err="1">
                <a:solidFill>
                  <a:srgbClr val="595959"/>
                </a:solidFill>
                <a:latin typeface="メイリオ"/>
                <a:ea typeface="メイリオ"/>
                <a:cs typeface="メイリオ"/>
              </a:rPr>
              <a:t>前提：サイトの訪問</a:t>
            </a:r>
            <a:r>
              <a:rPr sz="1000" b="0" dirty="0">
                <a:solidFill>
                  <a:srgbClr val="595959"/>
                </a:solidFill>
                <a:latin typeface="メイリオ"/>
                <a:ea typeface="メイリオ"/>
                <a:cs typeface="メイリオ"/>
              </a:rPr>
              <a:t> 月85,887人／友だちの入口＝サイトのLINEボタン・ポップアップ</a:t>
            </a:r>
            <a:r>
              <a:rPr lang="ja-JP" altLang="ja-JP" sz="1000" dirty="0"/>
              <a:t>／</a:t>
            </a:r>
            <a:r>
              <a:rPr sz="1000" b="0" dirty="0" err="1">
                <a:solidFill>
                  <a:srgbClr val="595959"/>
                </a:solidFill>
                <a:latin typeface="メイリオ"/>
                <a:ea typeface="メイリオ"/>
                <a:cs typeface="メイリオ"/>
              </a:rPr>
              <a:t>企画配信</a:t>
            </a:r>
            <a:r>
              <a:rPr sz="1000" b="0" dirty="0">
                <a:solidFill>
                  <a:srgbClr val="595959"/>
                </a:solidFill>
                <a:latin typeface="メイリオ"/>
                <a:ea typeface="メイリオ"/>
                <a:cs typeface="メイリオ"/>
              </a:rPr>
              <a:t> 月</a:t>
            </a:r>
            <a:r>
              <a:rPr lang="en-US" sz="1000" b="0" dirty="0">
                <a:solidFill>
                  <a:srgbClr val="595959"/>
                </a:solidFill>
                <a:latin typeface="メイリオ"/>
                <a:ea typeface="メイリオ"/>
                <a:cs typeface="メイリオ"/>
              </a:rPr>
              <a:t>4</a:t>
            </a:r>
            <a:r>
              <a:rPr sz="1000" b="0" dirty="0">
                <a:solidFill>
                  <a:srgbClr val="595959"/>
                </a:solidFill>
                <a:latin typeface="メイリオ"/>
                <a:ea typeface="メイリオ"/>
                <a:cs typeface="メイリオ"/>
              </a:rPr>
              <a:t>本・ステップ配信5通</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348357397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a:t>
                      </a:r>
                      <a:r>
                        <a:rPr lang="en-US" altLang="ja-JP" sz="1400" b="1" dirty="0">
                          <a:solidFill>
                            <a:srgbClr val="FFFFFF"/>
                          </a:solidFill>
                          <a:latin typeface="メイリオ" panose="020B0604030504040204" pitchFamily="50" charset="-128"/>
                          <a:ea typeface="メイリオ" panose="020B0604030504040204" pitchFamily="50" charset="-128"/>
                        </a:rPr>
                        <a:t>4</a:t>
                      </a:r>
                      <a:r>
                        <a:rPr lang="ja-JP" altLang="en-US" sz="1400" b="1" dirty="0">
                          <a:solidFill>
                            <a:srgbClr val="FFFFFF"/>
                          </a:solidFill>
                          <a:latin typeface="メイリオ" panose="020B0604030504040204" pitchFamily="50" charset="-128"/>
                          <a:ea typeface="メイリオ" panose="020B0604030504040204" pitchFamily="50" charset="-128"/>
                        </a:rPr>
                        <a:t>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16</a:t>
                      </a:r>
                      <a:r>
                        <a:rPr lang="ja-JP" altLang="en-US" sz="1500" b="0" dirty="0">
                          <a:solidFill>
                            <a:srgbClr val="333333"/>
                          </a:solidFill>
                          <a:latin typeface="メイリオ" panose="020B0604030504040204" pitchFamily="50" charset="-128"/>
                          <a:ea typeface="メイリオ" panose="020B0604030504040204" pitchFamily="50" charset="-128"/>
                        </a:rPr>
                        <a:t>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21</a:t>
                      </a:r>
                      <a:r>
                        <a:rPr lang="ja-JP" altLang="en-US" sz="1500" b="0" dirty="0">
                          <a:solidFill>
                            <a:srgbClr val="333333"/>
                          </a:solidFill>
                          <a:latin typeface="メイリオ" panose="020B0604030504040204" pitchFamily="50" charset="-128"/>
                          <a:ea typeface="メイリオ" panose="020B0604030504040204" pitchFamily="50" charset="-128"/>
                        </a:rPr>
                        <a:t>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en-US" altLang="ja-JP" sz="1500" b="0" dirty="0">
                          <a:solidFill>
                            <a:srgbClr val="333333"/>
                          </a:solidFill>
                          <a:latin typeface="メイリオ" panose="020B0604030504040204" pitchFamily="50" charset="-128"/>
                          <a:ea typeface="メイリオ" panose="020B0604030504040204" pitchFamily="50" charset="-128"/>
                        </a:rPr>
                        <a:t>2</a:t>
                      </a:r>
                      <a:r>
                        <a:rPr lang="ja-JP" altLang="en-US" sz="1500" b="0" dirty="0">
                          <a:solidFill>
                            <a:srgbClr val="333333"/>
                          </a:solidFill>
                          <a:latin typeface="メイリオ" panose="020B0604030504040204" pitchFamily="50" charset="-128"/>
                          <a:ea typeface="メイリオ" panose="020B0604030504040204" pitchFamily="50" charset="-128"/>
                        </a:rPr>
                        <a:t>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a:t>
                      </a:r>
                      <a:r>
                        <a:rPr lang="en-US" altLang="ja-JP" sz="1500" b="0" dirty="0">
                          <a:solidFill>
                            <a:srgbClr val="333333"/>
                          </a:solidFill>
                          <a:latin typeface="メイリオ" panose="020B0604030504040204" pitchFamily="50" charset="-128"/>
                          <a:ea typeface="メイリオ" panose="020B0604030504040204" pitchFamily="50" charset="-128"/>
                        </a:rPr>
                        <a:t>0</a:t>
                      </a:r>
                      <a:r>
                        <a:rPr lang="ja-JP" altLang="en-US" sz="1500" b="0" dirty="0">
                          <a:solidFill>
                            <a:srgbClr val="333333"/>
                          </a:solidFill>
                          <a:latin typeface="メイリオ" panose="020B0604030504040204" pitchFamily="50" charset="-128"/>
                          <a:ea typeface="メイリオ" panose="020B0604030504040204" pitchFamily="50" charset="-128"/>
                        </a:rPr>
                        <a:t>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en-US" altLang="ja-JP" sz="2000" b="1" dirty="0">
                          <a:solidFill>
                            <a:srgbClr val="1F285A"/>
                          </a:solidFill>
                          <a:latin typeface="メイリオ" panose="020B0604030504040204" pitchFamily="50" charset="-128"/>
                          <a:ea typeface="メイリオ" panose="020B0604030504040204" pitchFamily="50" charset="-128"/>
                        </a:rPr>
                        <a:t>2</a:t>
                      </a:r>
                      <a:r>
                        <a:rPr lang="ja-JP" altLang="en-US" sz="2000" b="1" dirty="0">
                          <a:solidFill>
                            <a:srgbClr val="1F285A"/>
                          </a:solidFill>
                          <a:latin typeface="メイリオ" panose="020B0604030504040204" pitchFamily="50" charset="-128"/>
                          <a:ea typeface="メイリオ" panose="020B0604030504040204" pitchFamily="50" charset="-128"/>
                        </a:rPr>
                        <a:t>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a:t>
                      </a:r>
                      <a:r>
                        <a:rPr lang="en-US" altLang="ja-JP" sz="2000" b="1" dirty="0">
                          <a:solidFill>
                            <a:srgbClr val="1F285A"/>
                          </a:solidFill>
                          <a:latin typeface="メイリオ" panose="020B0604030504040204" pitchFamily="50" charset="-128"/>
                          <a:ea typeface="メイリオ" panose="020B0604030504040204" pitchFamily="50" charset="-128"/>
                        </a:rPr>
                        <a:t>3</a:t>
                      </a:r>
                      <a:r>
                        <a:rPr lang="ja-JP" altLang="en-US" sz="2000" b="1" dirty="0">
                          <a:solidFill>
                            <a:srgbClr val="1F285A"/>
                          </a:solidFill>
                          <a:latin typeface="メイリオ" panose="020B0604030504040204" pitchFamily="50" charset="-128"/>
                          <a:ea typeface="メイリオ" panose="020B0604030504040204" pitchFamily="50" charset="-128"/>
                        </a:rPr>
                        <a:t>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1347863010"/>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a:t>
                      </a:r>
                      <a:r>
                        <a:rPr lang="en-US" altLang="ja-JP" sz="1300" b="0" dirty="0">
                          <a:solidFill>
                            <a:srgbClr val="333333"/>
                          </a:solidFill>
                          <a:latin typeface="メイリオ" panose="020B0604030504040204" pitchFamily="50" charset="-128"/>
                          <a:ea typeface="メイリオ" panose="020B0604030504040204" pitchFamily="50" charset="-128"/>
                        </a:rPr>
                        <a:t>4</a:t>
                      </a:r>
                      <a:r>
                        <a:rPr lang="ja-JP" altLang="en-US" sz="1300" b="0" dirty="0">
                          <a:solidFill>
                            <a:srgbClr val="333333"/>
                          </a:solidFill>
                          <a:latin typeface="メイリオ" panose="020B0604030504040204" pitchFamily="50" charset="-128"/>
                          <a:ea typeface="メイリオ" panose="020B0604030504040204" pitchFamily="50" charset="-128"/>
                        </a:rPr>
                        <a:t>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145439</TotalTime>
  <Words>5190</Words>
  <Application>Microsoft Office PowerPoint</Application>
  <PresentationFormat>A4 210 x 297 mm</PresentationFormat>
  <Paragraphs>1244</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1988</cp:revision>
  <cp:lastPrinted>2022-11-01T11:38:14Z</cp:lastPrinted>
  <dcterms:created xsi:type="dcterms:W3CDTF">2015-09-04T09:21:15Z</dcterms:created>
  <dcterms:modified xsi:type="dcterms:W3CDTF">2026-10-30T07:24:42Z</dcterms:modified>
</cp:coreProperties>
</file>