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39"/>
  </p:notesMasterIdLst>
  <p:handoutMasterIdLst>
    <p:handoutMasterId r:id="rId40"/>
  </p:handoutMasterIdLst>
  <p:sldIdLst>
    <p:sldId id="2363" r:id="rId3"/>
    <p:sldId id="2935" r:id="rId4"/>
    <p:sldId id="2956" r:id="rId5"/>
    <p:sldId id="2988" r:id="rId6"/>
    <p:sldId id="2972" r:id="rId7"/>
    <p:sldId id="2977" r:id="rId8"/>
    <p:sldId id="2974" r:id="rId9"/>
    <p:sldId id="2975" r:id="rId10"/>
    <p:sldId id="2979" r:id="rId11"/>
    <p:sldId id="2982" r:id="rId12"/>
    <p:sldId id="2736" r:id="rId13"/>
    <p:sldId id="2983" r:id="rId14"/>
    <p:sldId id="2984" r:id="rId15"/>
    <p:sldId id="2985" r:id="rId16"/>
    <p:sldId id="2986" r:id="rId17"/>
    <p:sldId id="2987" r:id="rId18"/>
    <p:sldId id="2908" r:id="rId19"/>
    <p:sldId id="2950" r:id="rId20"/>
    <p:sldId id="2762" r:id="rId21"/>
    <p:sldId id="2937" r:id="rId22"/>
    <p:sldId id="2939" r:id="rId23"/>
    <p:sldId id="2966" r:id="rId24"/>
    <p:sldId id="2962" r:id="rId25"/>
    <p:sldId id="2942" r:id="rId26"/>
    <p:sldId id="2941" r:id="rId27"/>
    <p:sldId id="2943" r:id="rId28"/>
    <p:sldId id="2944" r:id="rId29"/>
    <p:sldId id="2967" r:id="rId30"/>
    <p:sldId id="2946" r:id="rId31"/>
    <p:sldId id="2947" r:id="rId32"/>
    <p:sldId id="2948" r:id="rId33"/>
    <p:sldId id="2958" r:id="rId34"/>
    <p:sldId id="2954" r:id="rId35"/>
    <p:sldId id="2953" r:id="rId36"/>
    <p:sldId id="2955" r:id="rId37"/>
    <p:sldId id="1169" r:id="rId38"/>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DFD"/>
    <a:srgbClr val="173559"/>
    <a:srgbClr val="04FA0A"/>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varScale="1">
        <p:scale>
          <a:sx n="110" d="100"/>
          <a:sy n="110" d="100"/>
        </p:scale>
        <p:origin x="534"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notesMaster" Target="notesMasters/notesMaster1.xml"/><Relationship Id="rId40" Type="http://schemas.openxmlformats.org/officeDocument/2006/relationships/handoutMaster" Target="handoutMasters/handout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2026/7/21</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2</a:t>
            </a:fld>
            <a:endParaRPr kumimoji="1" lang="ja-JP" altLang="en-US"/>
          </a:p>
        </p:txBody>
      </p:sp>
    </p:spTree>
    <p:extLst>
      <p:ext uri="{BB962C8B-B14F-4D97-AF65-F5344CB8AC3E}">
        <p14:creationId xmlns:p14="http://schemas.microsoft.com/office/powerpoint/2010/main" val="11254210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40A72-79AB-D734-F919-6B5353A0768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043DCC9-013F-5916-497A-3173AB3EE69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AE4841C-3C6F-F028-ED9E-D25D3936D7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8A806F5D-B3E8-8EF8-D9FF-5F440AE7245B}"/>
              </a:ext>
            </a:extLst>
          </p:cNvPr>
          <p:cNvSpPr>
            <a:spLocks noGrp="1"/>
          </p:cNvSpPr>
          <p:nvPr>
            <p:ph type="sldNum" sz="quarter" idx="10"/>
          </p:nvPr>
        </p:nvSpPr>
        <p:spPr/>
        <p:txBody>
          <a:bodyPr/>
          <a:lstStyle/>
          <a:p>
            <a:fld id="{022E43C0-6795-4B13-B37C-259C826D4B6A}" type="slidenum">
              <a:rPr kumimoji="1" lang="ja-JP" altLang="en-US" smtClean="0"/>
              <a:t>5</a:t>
            </a:fld>
            <a:endParaRPr kumimoji="1" lang="ja-JP" altLang="en-US"/>
          </a:p>
        </p:txBody>
      </p:sp>
    </p:spTree>
    <p:extLst>
      <p:ext uri="{BB962C8B-B14F-4D97-AF65-F5344CB8AC3E}">
        <p14:creationId xmlns:p14="http://schemas.microsoft.com/office/powerpoint/2010/main" val="42606325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CC596-88E7-2BC9-7631-7B2FF864C8B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78EA305-DD4B-4755-1A79-3ECAA1BFAEF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E530CFC-96E0-CB7F-D9F4-B974123A5BE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C657086-8B2C-117D-A7A7-81B2D30759FF}"/>
              </a:ext>
            </a:extLst>
          </p:cNvPr>
          <p:cNvSpPr>
            <a:spLocks noGrp="1"/>
          </p:cNvSpPr>
          <p:nvPr>
            <p:ph type="sldNum" sz="quarter" idx="10"/>
          </p:nvPr>
        </p:nvSpPr>
        <p:spPr/>
        <p:txBody>
          <a:bodyPr/>
          <a:lstStyle/>
          <a:p>
            <a:fld id="{022E43C0-6795-4B13-B37C-259C826D4B6A}" type="slidenum">
              <a:rPr kumimoji="1" lang="ja-JP" altLang="en-US" smtClean="0"/>
              <a:t>6</a:t>
            </a:fld>
            <a:endParaRPr kumimoji="1" lang="ja-JP" altLang="en-US"/>
          </a:p>
        </p:txBody>
      </p:sp>
    </p:spTree>
    <p:extLst>
      <p:ext uri="{BB962C8B-B14F-4D97-AF65-F5344CB8AC3E}">
        <p14:creationId xmlns:p14="http://schemas.microsoft.com/office/powerpoint/2010/main" val="12440221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B3E24-A18E-3FB1-1BEB-F78B7876B61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3BD67E3-1B96-BBBF-6E58-9F584C1E421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415CA0F-593B-424A-AB1E-372C80A5306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C1FAE7-9B14-4C23-B5D8-2C06D3E82C52}"/>
              </a:ext>
            </a:extLst>
          </p:cNvPr>
          <p:cNvSpPr>
            <a:spLocks noGrp="1"/>
          </p:cNvSpPr>
          <p:nvPr>
            <p:ph type="sldNum" sz="quarter" idx="10"/>
          </p:nvPr>
        </p:nvSpPr>
        <p:spPr/>
        <p:txBody>
          <a:bodyPr/>
          <a:lstStyle/>
          <a:p>
            <a:fld id="{022E43C0-6795-4B13-B37C-259C826D4B6A}" type="slidenum">
              <a:rPr kumimoji="1" lang="ja-JP" altLang="en-US" smtClean="0"/>
              <a:t>7</a:t>
            </a:fld>
            <a:endParaRPr kumimoji="1" lang="ja-JP" altLang="en-US"/>
          </a:p>
        </p:txBody>
      </p:sp>
    </p:spTree>
    <p:extLst>
      <p:ext uri="{BB962C8B-B14F-4D97-AF65-F5344CB8AC3E}">
        <p14:creationId xmlns:p14="http://schemas.microsoft.com/office/powerpoint/2010/main" val="40534932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68803-9F0E-9C31-9560-2094718579F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09DBAC0-C8E1-8C5B-7FC3-E2F967DE37D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C9E6ECD-81E8-9621-C097-7F38D3F575C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0567096-EE1C-9444-DCCA-A268D8AAC4E0}"/>
              </a:ext>
            </a:extLst>
          </p:cNvPr>
          <p:cNvSpPr>
            <a:spLocks noGrp="1"/>
          </p:cNvSpPr>
          <p:nvPr>
            <p:ph type="sldNum" sz="quarter" idx="10"/>
          </p:nvPr>
        </p:nvSpPr>
        <p:spPr/>
        <p:txBody>
          <a:bodyPr/>
          <a:lstStyle/>
          <a:p>
            <a:fld id="{022E43C0-6795-4B13-B37C-259C826D4B6A}" type="slidenum">
              <a:rPr kumimoji="1" lang="ja-JP" altLang="en-US" smtClean="0"/>
              <a:t>8</a:t>
            </a:fld>
            <a:endParaRPr kumimoji="1" lang="ja-JP" altLang="en-US"/>
          </a:p>
        </p:txBody>
      </p:sp>
    </p:spTree>
    <p:extLst>
      <p:ext uri="{BB962C8B-B14F-4D97-AF65-F5344CB8AC3E}">
        <p14:creationId xmlns:p14="http://schemas.microsoft.com/office/powerpoint/2010/main" val="16860848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5D0A-BA72-DE45-32FA-363803F140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D2F8A3-D4B3-B9E6-A613-A157696B87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3FBD4A-B575-3375-091A-F6A24B5A9B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AEAEB9-E37C-569F-CBB7-45D65E2A0906}"/>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15851486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F8CEE-BA77-7F59-159F-47D256C6C92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920AAE9-56BE-66E5-82F7-A32C5F5E37D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23263BB-84E3-A23F-F50A-22409A9D037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AE676F0-0850-6080-8D54-24CC34C00E13}"/>
              </a:ext>
            </a:extLst>
          </p:cNvPr>
          <p:cNvSpPr>
            <a:spLocks noGrp="1"/>
          </p:cNvSpPr>
          <p:nvPr>
            <p:ph type="sldNum" sz="quarter" idx="10"/>
          </p:nvPr>
        </p:nvSpPr>
        <p:spPr/>
        <p:txBody>
          <a:bodyPr/>
          <a:lstStyle/>
          <a:p>
            <a:fld id="{022E43C0-6795-4B13-B37C-259C826D4B6A}" type="slidenum">
              <a:rPr kumimoji="1" lang="ja-JP" altLang="en-US" smtClean="0"/>
              <a:t>10</a:t>
            </a:fld>
            <a:endParaRPr kumimoji="1" lang="ja-JP" altLang="en-US"/>
          </a:p>
        </p:txBody>
      </p:sp>
    </p:spTree>
    <p:extLst>
      <p:ext uri="{BB962C8B-B14F-4D97-AF65-F5344CB8AC3E}">
        <p14:creationId xmlns:p14="http://schemas.microsoft.com/office/powerpoint/2010/main" val="21814560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B1800-D47D-9623-88C4-F3F1B11ED7C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B704ED9-0313-110E-A57A-A9A15550FCA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01CA249-8084-E89C-5484-AD2CD6CA53A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CB72AE6-8350-35EF-B366-1B6DD9FAA1BC}"/>
              </a:ext>
            </a:extLst>
          </p:cNvPr>
          <p:cNvSpPr>
            <a:spLocks noGrp="1"/>
          </p:cNvSpPr>
          <p:nvPr>
            <p:ph type="sldNum" sz="quarter" idx="10"/>
          </p:nvPr>
        </p:nvSpPr>
        <p:spPr/>
        <p:txBody>
          <a:bodyPr/>
          <a:lstStyle/>
          <a:p>
            <a:fld id="{022E43C0-6795-4B13-B37C-259C826D4B6A}" type="slidenum">
              <a:rPr kumimoji="1" lang="ja-JP" altLang="en-US" smtClean="0"/>
              <a:t>12</a:t>
            </a:fld>
            <a:endParaRPr kumimoji="1" lang="ja-JP" altLang="en-US"/>
          </a:p>
        </p:txBody>
      </p:sp>
    </p:spTree>
    <p:extLst>
      <p:ext uri="{BB962C8B-B14F-4D97-AF65-F5344CB8AC3E}">
        <p14:creationId xmlns:p14="http://schemas.microsoft.com/office/powerpoint/2010/main" val="8376308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7D297-594A-D322-AC6D-28FDD0CCC6A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D47DAF-3395-7EB8-B917-99947107C4E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D9425B-51D3-BDCB-545C-23641969BEA2}"/>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3D62E5C-A1FD-A187-2F31-A827800A2799}"/>
              </a:ext>
            </a:extLst>
          </p:cNvPr>
          <p:cNvSpPr>
            <a:spLocks noGrp="1"/>
          </p:cNvSpPr>
          <p:nvPr>
            <p:ph type="sldNum" sz="quarter" idx="10"/>
          </p:nvPr>
        </p:nvSpPr>
        <p:spPr/>
        <p:txBody>
          <a:bodyPr/>
          <a:lstStyle/>
          <a:p>
            <a:fld id="{022E43C0-6795-4B13-B37C-259C826D4B6A}" type="slidenum">
              <a:rPr kumimoji="1" lang="ja-JP" altLang="en-US" smtClean="0"/>
              <a:t>13</a:t>
            </a:fld>
            <a:endParaRPr kumimoji="1" lang="ja-JP" altLang="en-US"/>
          </a:p>
        </p:txBody>
      </p:sp>
    </p:spTree>
    <p:extLst>
      <p:ext uri="{BB962C8B-B14F-4D97-AF65-F5344CB8AC3E}">
        <p14:creationId xmlns:p14="http://schemas.microsoft.com/office/powerpoint/2010/main" val="35219002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CC1BB-A366-B481-D59D-4EB55327777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0890F8B-EEFF-D02B-04F0-B8C096E43F4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1D321AA-CFFF-72F6-A10A-CE135C21D90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628A77C-D838-F107-1299-1CFE8BFB2F29}"/>
              </a:ext>
            </a:extLst>
          </p:cNvPr>
          <p:cNvSpPr>
            <a:spLocks noGrp="1"/>
          </p:cNvSpPr>
          <p:nvPr>
            <p:ph type="sldNum" sz="quarter" idx="10"/>
          </p:nvPr>
        </p:nvSpPr>
        <p:spPr/>
        <p:txBody>
          <a:bodyPr/>
          <a:lstStyle/>
          <a:p>
            <a:fld id="{022E43C0-6795-4B13-B37C-259C826D4B6A}" type="slidenum">
              <a:rPr kumimoji="1" lang="ja-JP" altLang="en-US" smtClean="0"/>
              <a:t>14</a:t>
            </a:fld>
            <a:endParaRPr kumimoji="1" lang="ja-JP" altLang="en-US"/>
          </a:p>
        </p:txBody>
      </p:sp>
    </p:spTree>
    <p:extLst>
      <p:ext uri="{BB962C8B-B14F-4D97-AF65-F5344CB8AC3E}">
        <p14:creationId xmlns:p14="http://schemas.microsoft.com/office/powerpoint/2010/main" val="30923610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9A811-371F-8FB3-F066-52767F4E9A7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0A11C9D-FDA9-6C17-2E4B-B8729DB02DB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D22E24C-8C3E-B253-1458-19B063283ED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5308508-22B0-7807-8EBD-1B4BC57F8A84}"/>
              </a:ext>
            </a:extLst>
          </p:cNvPr>
          <p:cNvSpPr>
            <a:spLocks noGrp="1"/>
          </p:cNvSpPr>
          <p:nvPr>
            <p:ph type="sldNum" sz="quarter" idx="10"/>
          </p:nvPr>
        </p:nvSpPr>
        <p:spPr/>
        <p:txBody>
          <a:bodyPr/>
          <a:lstStyle/>
          <a:p>
            <a:fld id="{022E43C0-6795-4B13-B37C-259C826D4B6A}" type="slidenum">
              <a:rPr kumimoji="1" lang="ja-JP" altLang="en-US" smtClean="0"/>
              <a:t>15</a:t>
            </a:fld>
            <a:endParaRPr kumimoji="1" lang="ja-JP" altLang="en-US"/>
          </a:p>
        </p:txBody>
      </p:sp>
    </p:spTree>
    <p:extLst>
      <p:ext uri="{BB962C8B-B14F-4D97-AF65-F5344CB8AC3E}">
        <p14:creationId xmlns:p14="http://schemas.microsoft.com/office/powerpoint/2010/main" val="22178351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2497A-27D1-3FCF-1F91-9D3EAE5F54F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F107B2A-3CC9-CDDB-0154-3C6FEEEB7FA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69E55FE-2D43-AAFB-1E0D-9FE86011A40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7505F46C-9309-B38B-AEB2-32E50CF0E84A}"/>
              </a:ext>
            </a:extLst>
          </p:cNvPr>
          <p:cNvSpPr>
            <a:spLocks noGrp="1"/>
          </p:cNvSpPr>
          <p:nvPr>
            <p:ph type="sldNum" sz="quarter" idx="10"/>
          </p:nvPr>
        </p:nvSpPr>
        <p:spPr/>
        <p:txBody>
          <a:bodyPr/>
          <a:lstStyle/>
          <a:p>
            <a:fld id="{022E43C0-6795-4B13-B37C-259C826D4B6A}" type="slidenum">
              <a:rPr kumimoji="1" lang="ja-JP" altLang="en-US" smtClean="0"/>
              <a:t>16</a:t>
            </a:fld>
            <a:endParaRPr kumimoji="1" lang="ja-JP" altLang="en-US"/>
          </a:p>
        </p:txBody>
      </p:sp>
    </p:spTree>
    <p:extLst>
      <p:ext uri="{BB962C8B-B14F-4D97-AF65-F5344CB8AC3E}">
        <p14:creationId xmlns:p14="http://schemas.microsoft.com/office/powerpoint/2010/main" val="32460700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18</a:t>
            </a:fld>
            <a:endParaRPr kumimoji="1" lang="ja-JP" altLang="en-US"/>
          </a:p>
        </p:txBody>
      </p:sp>
    </p:spTree>
    <p:extLst>
      <p:ext uri="{BB962C8B-B14F-4D97-AF65-F5344CB8AC3E}">
        <p14:creationId xmlns:p14="http://schemas.microsoft.com/office/powerpoint/2010/main" val="27020095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36</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0.jpeg"/><Relationship Id="rId4" Type="http://schemas.openxmlformats.org/officeDocument/2006/relationships/image" Target="../media/image11.png"/><Relationship Id="rId5"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3.png"/><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emf"/><Relationship Id="rId4" Type="http://schemas.openxmlformats.org/officeDocument/2006/relationships/image" Target="../media/image15.jpeg"/><Relationship Id="rId5" Type="http://schemas.openxmlformats.org/officeDocument/2006/relationships/image" Target="../media/image16.jpeg"/><Relationship Id="rId6" Type="http://schemas.openxmlformats.org/officeDocument/2006/relationships/image" Target="../media/image17.jpeg"/><Relationship Id="rId7" Type="http://schemas.openxmlformats.org/officeDocument/2006/relationships/image" Target="../media/image18.jpeg"/><Relationship Id="rId8" Type="http://schemas.openxmlformats.org/officeDocument/2006/relationships/image" Target="../media/image1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729823"/>
            <a:ext cx="6626632" cy="338554"/>
          </a:xfrm>
          <a:prstGeom prst="rect">
            <a:avLst/>
          </a:prstGeom>
        </p:spPr>
        <p:txBody>
          <a:bodyPr wrap="square" lIns="50400" rIns="50400" tIns="21600" bIns="21600" anchor="ctr">
            <a:spAutoFit/>
          </a:bodyPr>
          <a:lstStyle/>
          <a:p>
            <a:pPr algn="l"/>
            <a:r>
              <a:rPr sz="1300" b="1">
                <a:solidFill>
                  <a:srgbClr val="333333"/>
                </a:solidFill>
                <a:latin typeface="メイリオ"/>
                <a:ea typeface="メイリオ"/>
                <a:cs typeface="メイリオ"/>
              </a:rPr>
              <a:t>検討期間10ヶ月を伴走し、来場率と契約棟数を引き上げる動線を構築する</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3" name="正方形/長方形 2">
            <a:extLst>
              <a:ext uri="{FF2B5EF4-FFF2-40B4-BE49-F238E27FC236}">
                <a16:creationId xmlns:a16="http://schemas.microsoft.com/office/drawing/2014/main" id="{8EDEE7F4-9CB5-D481-E92E-3941E7AB9B1C}"/>
              </a:ext>
            </a:extLst>
          </p:cNvPr>
          <p:cNvSpPr/>
          <p:nvPr/>
        </p:nvSpPr>
        <p:spPr>
          <a:xfrm>
            <a:off x="3524717" y="3910946"/>
            <a:ext cx="2804160" cy="405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- 2026</a:t>
            </a:r>
            <a:r>
              <a:rPr kumimoji="1"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最新版 </a:t>
            </a:r>
            <a:r>
              <a:rPr kumimoji="1"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a:t>
            </a:r>
            <a:endParaRPr kumimoji="1" lang="ja-JP" altLang="en-US" sz="14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26E1B5EC-868B-5787-A5AF-C20671BB3688}"/>
              </a:ext>
            </a:extLst>
          </p:cNvPr>
          <p:cNvSpPr/>
          <p:nvPr/>
        </p:nvSpPr>
        <p:spPr>
          <a:xfrm>
            <a:off x="3678382" y="4341752"/>
            <a:ext cx="2549236" cy="405546"/>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wrap="square" lIns="50400" rIns="50400" tIns="21600" bIns="21600"/>
          <a:lstStyle/>
          <a:p>
            <a:pPr algn="l"/>
            <a:r>
              <a:rPr sz="1200" b="1">
                <a:solidFill>
                  <a:srgbClr val="002060"/>
                </a:solidFill>
                <a:latin typeface="メイリオ"/>
                <a:ea typeface="メイリオ"/>
                <a:cs typeface="メイリオ"/>
              </a:rPr>
              <a:t>業界：注文住宅</a:t>
            </a: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離脱防止 </a:t>
            </a:r>
            <a:r>
              <a:rPr lang="en-US" altLang="ja-JP" sz="1400" dirty="0">
                <a:solidFill>
                  <a:srgbClr val="343434"/>
                </a:solidFill>
                <a:latin typeface="メイリオ" panose="020B0604030504040204" pitchFamily="50" charset="-128"/>
                <a:ea typeface="メイリオ" panose="020B0604030504040204" pitchFamily="50" charset="-128"/>
              </a:rPr>
              <a:t>&gt;&gt; </a:t>
            </a:r>
            <a:r>
              <a:rPr lang="ja-JP" altLang="en-US" sz="1400" dirty="0">
                <a:solidFill>
                  <a:srgbClr val="343434"/>
                </a:solidFill>
                <a:latin typeface="メイリオ" panose="020B0604030504040204" pitchFamily="50" charset="-128"/>
                <a:ea typeface="メイリオ" panose="020B0604030504040204" pitchFamily="50" charset="-128"/>
              </a:rPr>
              <a:t>友だち追加 </a:t>
            </a:r>
            <a:r>
              <a:rPr lang="en-US" altLang="ja-JP" sz="1400" dirty="0">
                <a:solidFill>
                  <a:srgbClr val="343434"/>
                </a:solidFill>
                <a:latin typeface="メイリオ" panose="020B0604030504040204" pitchFamily="50" charset="-128"/>
                <a:ea typeface="メイリオ" panose="020B0604030504040204" pitchFamily="50" charset="-128"/>
              </a:rPr>
              <a:t>&gt;&gt; LINE</a:t>
            </a:r>
            <a:r>
              <a:rPr lang="ja-JP" altLang="en-US" sz="1400" dirty="0">
                <a:solidFill>
                  <a:srgbClr val="343434"/>
                </a:solidFill>
                <a:latin typeface="メイリオ" panose="020B0604030504040204" pitchFamily="50" charset="-128"/>
                <a:ea typeface="メイリオ" panose="020B0604030504040204" pitchFamily="50" charset="-128"/>
              </a:rPr>
              <a:t>で学習 </a:t>
            </a:r>
            <a:r>
              <a:rPr lang="en-US" altLang="ja-JP" sz="1400" dirty="0">
                <a:solidFill>
                  <a:srgbClr val="343434"/>
                </a:solidFill>
                <a:latin typeface="メイリオ" panose="020B0604030504040204" pitchFamily="50" charset="-128"/>
                <a:ea typeface="メイリオ" panose="020B0604030504040204" pitchFamily="50" charset="-128"/>
              </a:rPr>
              <a:t>&gt;&gt; </a:t>
            </a:r>
            <a:r>
              <a:rPr lang="ja-JP" altLang="en-US" sz="1400" dirty="0">
                <a:solidFill>
                  <a:srgbClr val="343434"/>
                </a:solidFill>
                <a:latin typeface="メイリオ" panose="020B0604030504040204" pitchFamily="50" charset="-128"/>
                <a:ea typeface="メイリオ" panose="020B0604030504040204" pitchFamily="50" charset="-128"/>
              </a:rPr>
              <a:t>リード獲得・利用 の導線設計でハードル抑えつつ運営が可能。</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021152"/>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655205" y="4152765"/>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a:t>
            </a:r>
            <a:r>
              <a:rPr kumimoji="1" lang="ja-JP" altLang="en-US" sz="900" b="1" dirty="0">
                <a:solidFill>
                  <a:schemeClr val="bg1"/>
                </a:solidFill>
                <a:latin typeface="メイリオ" panose="020B0604030504040204" pitchFamily="50" charset="-128"/>
                <a:ea typeface="メイリオ" panose="020B0604030504040204" pitchFamily="50" charset="-128"/>
              </a:rPr>
              <a:t>過去の顧客データを活用</a:t>
            </a: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32031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55205" y="337704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離脱防止バナーにて</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検討段階ユーザーを</a:t>
            </a:r>
            <a:r>
              <a:rPr lang="en-US" altLang="ja-JP" sz="900" b="1" dirty="0">
                <a:solidFill>
                  <a:schemeClr val="bg1"/>
                </a:solidFill>
                <a:latin typeface="メイリオ" panose="020B0604030504040204" pitchFamily="50" charset="-128"/>
                <a:ea typeface="メイリオ" panose="020B0604030504040204" pitchFamily="50" charset="-128"/>
              </a:rPr>
              <a:t>LINE</a:t>
            </a:r>
            <a:r>
              <a:rPr lang="ja-JP" altLang="en-US" sz="900" b="1" dirty="0">
                <a:solidFill>
                  <a:schemeClr val="bg1"/>
                </a:solidFill>
                <a:latin typeface="メイリオ" panose="020B0604030504040204" pitchFamily="50" charset="-128"/>
                <a:ea typeface="メイリオ" panose="020B0604030504040204" pitchFamily="50" charset="-128"/>
              </a:rPr>
              <a:t>誘導</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55205" y="231376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接触、詳細ページ閲覧</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の動線での</a:t>
            </a:r>
            <a:r>
              <a:rPr lang="en-US" altLang="ja-JP" sz="900" b="1" dirty="0">
                <a:solidFill>
                  <a:schemeClr val="bg1"/>
                </a:solidFill>
                <a:latin typeface="メイリオ" panose="020B0604030504040204" pitchFamily="50" charset="-128"/>
                <a:ea typeface="メイリオ" panose="020B0604030504040204" pitchFamily="50" charset="-128"/>
              </a:rPr>
              <a:t>LINE</a:t>
            </a:r>
            <a:r>
              <a:rPr lang="ja-JP" altLang="en-US" sz="900" b="1" dirty="0">
                <a:solidFill>
                  <a:schemeClr val="bg1"/>
                </a:solidFill>
                <a:latin typeface="メイリオ" panose="020B0604030504040204" pitchFamily="50" charset="-128"/>
                <a:ea typeface="メイリオ" panose="020B0604030504040204" pitchFamily="50" charset="-128"/>
              </a:rPr>
              <a:t>誘導を整備</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DYM</a:t>
            </a:r>
            <a:r>
              <a:rPr lang="ja-JP" altLang="en-US" sz="1200" dirty="0">
                <a:solidFill>
                  <a:schemeClr val="bg1"/>
                </a:solidFill>
                <a:latin typeface="メイリオ" panose="020B0604030504040204" pitchFamily="50" charset="-128"/>
                <a:ea typeface="メイリオ" panose="020B0604030504040204" pitchFamily="50" charset="-128"/>
              </a:rPr>
              <a:t>施策</a:t>
            </a:r>
            <a:endParaRPr lang="ja-JP" altLang="en-US" sz="1200" dirty="0">
              <a:solidFill>
                <a:schemeClr val="bg1"/>
              </a:solidFill>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現状施策</a:t>
            </a:r>
            <a:endParaRPr lang="ja-JP" altLang="en-US" sz="1200" dirty="0">
              <a:solidFill>
                <a:schemeClr val="bg1"/>
              </a:solidFill>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55205" y="5785358"/>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外構・メンテ・ご紹介</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見学会予約・ご契約への動線設計</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55205" y="5315094"/>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※ID</a:t>
            </a:r>
            <a:r>
              <a:rPr kumimoji="1" lang="ja-JP" altLang="en-US" sz="900" b="1" dirty="0">
                <a:solidFill>
                  <a:schemeClr val="bg1"/>
                </a:solidFill>
                <a:latin typeface="メイリオ" panose="020B0604030504040204" pitchFamily="50" charset="-128"/>
                <a:ea typeface="メイリオ" panose="020B0604030504040204" pitchFamily="50" charset="-128"/>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55205" y="4814700"/>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a:t>
            </a:r>
            <a:r>
              <a:rPr kumimoji="1" lang="ja-JP" altLang="en-US" sz="900" b="1" dirty="0">
                <a:solidFill>
                  <a:schemeClr val="bg1"/>
                </a:solidFill>
                <a:latin typeface="メイリオ" panose="020B0604030504040204" pitchFamily="50" charset="-128"/>
                <a:ea typeface="メイリオ" panose="020B0604030504040204" pitchFamily="50" charset="-128"/>
              </a:rPr>
              <a:t>ミニアプリ・診断 →</a:t>
            </a:r>
            <a:r>
              <a:rPr lang="en-US" altLang="ja-JP" sz="900" b="1" dirty="0">
                <a:solidFill>
                  <a:schemeClr val="bg1"/>
                </a:solidFill>
                <a:latin typeface="メイリオ" panose="020B0604030504040204" pitchFamily="50" charset="-128"/>
                <a:ea typeface="メイリオ" panose="020B0604030504040204" pitchFamily="50" charset="-128"/>
              </a:rPr>
              <a:t> </a:t>
            </a:r>
            <a:r>
              <a:rPr lang="ja-JP" altLang="en-US" sz="900" b="1" dirty="0">
                <a:solidFill>
                  <a:schemeClr val="bg1"/>
                </a:solidFill>
                <a:latin typeface="メイリオ" panose="020B0604030504040204" pitchFamily="50" charset="-128"/>
                <a:ea typeface="メイリオ" panose="020B0604030504040204" pitchFamily="50" charset="-128"/>
              </a:rPr>
              <a:t>特典</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46221"/>
          </a:xfrm>
          <a:prstGeom prst="rect">
            <a:avLst/>
          </a:prstGeom>
          <a:noFill/>
        </p:spPr>
        <p:txBody>
          <a:bodyPr wrap="square">
            <a:spAutoFit/>
          </a:body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a:t>
            </a:r>
            <a:r>
              <a:rPr kumimoji="1" lang="ja-JP" altLang="en-US" sz="1000" dirty="0">
                <a:solidFill>
                  <a:schemeClr val="bg1"/>
                </a:solidFill>
                <a:latin typeface="メイリオ" panose="020B0604030504040204" pitchFamily="50" charset="-128"/>
                <a:ea typeface="メイリオ" panose="020B0604030504040204" pitchFamily="50" charset="-128"/>
              </a:rPr>
              <a:t>長期施策として想定</a:t>
            </a:r>
          </a:p>
        </p:txBody>
      </p:sp>
      <p:sp>
        <p:nvSpPr>
          <p:cNvPr id="38" name="台形 37">
            <a:extLst>
              <a:ext uri="{FF2B5EF4-FFF2-40B4-BE49-F238E27FC236}">
                <a16:creationId xmlns:a16="http://schemas.microsoft.com/office/drawing/2014/main" id="{E53AF788-4E7A-2498-3387-439141AF8B85}"/>
              </a:ext>
            </a:extLst>
          </p:cNvPr>
          <p:cNvSpPr/>
          <p:nvPr/>
        </p:nvSpPr>
        <p:spPr>
          <a:xfrm rot="10800000" flipV="1">
            <a:off x="5422834" y="2565747"/>
            <a:ext cx="1826395" cy="603248"/>
          </a:xfrm>
          <a:prstGeom prst="trapezoid">
            <a:avLst>
              <a:gd name="adj" fmla="val 0"/>
            </a:avLst>
          </a:prstGeom>
          <a:solidFill>
            <a:schemeClr val="bg1">
              <a:lumMod val="95000"/>
              <a:alpha val="67000"/>
            </a:schemeClr>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ヒアリングの上</a:t>
            </a:r>
            <a:endParaRPr lang="en-US" altLang="ja-JP" sz="105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050" b="1" dirty="0">
                <a:solidFill>
                  <a:schemeClr val="tx1"/>
                </a:solidFill>
                <a:latin typeface="メイリオ" panose="020B0604030504040204" pitchFamily="50" charset="-128"/>
                <a:ea typeface="メイリオ" panose="020B0604030504040204" pitchFamily="50" charset="-128"/>
              </a:rPr>
              <a:t>確定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 </a:t>
            </a:r>
            <a:r>
              <a:rPr kumimoji="1" lang="ja-JP" altLang="en-US" sz="1200" b="1" dirty="0">
                <a:latin typeface="メイリオ" panose="020B0604030504040204" pitchFamily="50" charset="-128"/>
                <a:ea typeface="メイリオ" panose="020B0604030504040204" pitchFamily="50" charset="-128"/>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85871" y="5900751"/>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自社</a:t>
            </a:r>
            <a:r>
              <a:rPr kumimoji="1" lang="en-US" altLang="ja-JP" sz="1200" b="1" dirty="0">
                <a:latin typeface="メイリオ" panose="020B0604030504040204" pitchFamily="50" charset="-128"/>
                <a:ea typeface="メイリオ" panose="020B0604030504040204" pitchFamily="50" charset="-128"/>
              </a:rPr>
              <a:t>App/</a:t>
            </a:r>
            <a:r>
              <a:rPr kumimoji="1" lang="ja-JP" altLang="en-US" sz="1200" b="1" dirty="0">
                <a:latin typeface="メイリオ" panose="020B0604030504040204" pitchFamily="50" charset="-128"/>
                <a:ea typeface="メイリオ" panose="020B0604030504040204" pitchFamily="50" charset="-128"/>
              </a:rPr>
              <a:t>ネットワーク</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a:t>
            </a:r>
            <a:r>
              <a:rPr lang="en-US" altLang="ja-JP" sz="1200" b="1" dirty="0">
                <a:latin typeface="メイリオ" panose="020B0604030504040204" pitchFamily="50" charset="-128"/>
                <a:ea typeface="メイリオ" panose="020B0604030504040204" pitchFamily="50" charset="-128"/>
              </a:rPr>
              <a:t>ID</a:t>
            </a:r>
            <a:r>
              <a:rPr lang="ja-JP" altLang="en-US" sz="1200" b="1" dirty="0">
                <a:latin typeface="メイリオ" panose="020B0604030504040204" pitchFamily="50" charset="-128"/>
                <a:ea typeface="メイリオ" panose="020B0604030504040204" pitchFamily="50" charset="-128"/>
              </a:rPr>
              <a:t>連携等の開発）</a:t>
            </a:r>
            <a:endParaRPr kumimoji="1" lang="ja-JP" altLang="en-US" sz="1200" b="1" dirty="0">
              <a:latin typeface="メイリオ" panose="020B0604030504040204" pitchFamily="50" charset="-128"/>
              <a:ea typeface="メイリオ" panose="020B0604030504040204" pitchFamily="50" charset="-128"/>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rPr>
              <a:t>LINE</a:t>
            </a:r>
            <a:r>
              <a:rPr lang="ja-JP" altLang="en-US" sz="1200" b="1" dirty="0">
                <a:latin typeface="メイリオ" panose="020B0604030504040204" pitchFamily="50" charset="-128"/>
                <a:ea typeface="メイリオ" panose="020B0604030504040204" pitchFamily="50" charset="-128"/>
              </a:rPr>
              <a:t>でログイン</a:t>
            </a:r>
          </a:p>
        </p:txBody>
      </p:sp>
    </p:spTree>
    <p:extLst>
      <p:ext uri="{BB962C8B-B14F-4D97-AF65-F5344CB8AC3E}">
        <p14:creationId xmlns:p14="http://schemas.microsoft.com/office/powerpoint/2010/main" val="993846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92180-D336-F255-C39D-17584774E38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C912E4CC-70AD-5529-2A5A-4FA0D1C97A2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全体設計想定</a:t>
            </a:r>
          </a:p>
        </p:txBody>
      </p:sp>
      <p:sp>
        <p:nvSpPr>
          <p:cNvPr id="9" name="正方形/長方形 8">
            <a:extLst>
              <a:ext uri="{FF2B5EF4-FFF2-40B4-BE49-F238E27FC236}">
                <a16:creationId xmlns:a16="http://schemas.microsoft.com/office/drawing/2014/main" id="{BD73628C-261B-9AE4-0B66-12C6BEDE3EDD}"/>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集客動線</a:t>
            </a:r>
            <a:endParaRPr kumimoji="1" lang="ja-JP" altLang="en-US" sz="1400" dirty="0">
              <a:latin typeface="メイリオ" panose="020B0604030504040204" pitchFamily="50" charset="-128"/>
              <a:ea typeface="メイリオ" panose="020B0604030504040204" pitchFamily="50" charset="-128"/>
            </a:endParaRPr>
          </a:p>
        </p:txBody>
      </p:sp>
      <p:sp>
        <p:nvSpPr>
          <p:cNvPr id="3" name="Google Shape;752;p28">
            <a:extLst>
              <a:ext uri="{FF2B5EF4-FFF2-40B4-BE49-F238E27FC236}">
                <a16:creationId xmlns:a16="http://schemas.microsoft.com/office/drawing/2014/main" id="{AF6C2475-3BD5-7DF2-52BD-C0F30E8072CF}"/>
              </a:ext>
            </a:extLst>
          </p:cNvPr>
          <p:cNvSpPr txBox="1"/>
          <p:nvPr/>
        </p:nvSpPr>
        <p:spPr>
          <a:xfrm>
            <a:off x="1988819" y="736332"/>
            <a:ext cx="7774305" cy="584735"/>
          </a:xfrm>
          <a:prstGeom prst="rect">
            <a:avLst/>
          </a:prstGeom>
          <a:noFill/>
          <a:ln>
            <a:noFill/>
          </a:ln>
        </p:spPr>
        <p:txBody>
          <a:bodyPr spcFirstLastPara="1" wrap="square" lIns="36000" tIns="14400" rIns="36000" bIns="14400" anchor="ctr" anchorCtr="0">
            <a:spAutoFit/>
          </a:bodyPr>
          <a:lstStyle/>
          <a:p>
            <a:pPr algn="l">
              <a:lnSpc>
                <a:spcPct val="120000"/>
              </a:lnSpc>
            </a:pPr>
            <a:r>
              <a:rPr sz="1300" b="1">
                <a:solidFill>
                  <a:srgbClr val="333333"/>
                </a:solidFill>
                <a:latin typeface="メイリオ"/>
                <a:ea typeface="メイリオ"/>
                <a:cs typeface="メイリオ"/>
              </a:rPr>
              <a:t>カスタマージャーニーマップにあわせてLINE投稿を配置。</a:t>
            </a:r>
            <a:endParaRPr lang="en-US" altLang="ja-JP" sz="1600" b="1" dirty="0">
              <a:latin typeface="メイリオ" panose="020B0604030504040204" pitchFamily="50" charset="-128"/>
              <a:ea typeface="メイリオ" panose="020B0604030504040204" pitchFamily="50" charset="-128"/>
              <a:cs typeface="Meiryo"/>
              <a:sym typeface="Meiryo"/>
            </a:endParaRPr>
          </a:p>
          <a:p>
            <a:pPr algn="l">
              <a:lnSpc>
                <a:spcPct val="120000"/>
              </a:lnSpc>
            </a:pPr>
            <a:r>
              <a:rPr sz="1100" b="1">
                <a:solidFill>
                  <a:srgbClr val="333333"/>
                </a:solidFill>
                <a:latin typeface="メイリオ"/>
                <a:ea typeface="メイリオ"/>
                <a:cs typeface="メイリオ"/>
              </a:rPr>
              <a:t>※CV3段＝【リード】友だち追加・予算診断／【有効リード】見学会・個別相談の予約／【マネタイズ】ご契約。</a:t>
            </a:r>
          </a:p>
        </p:txBody>
      </p:sp>
      <p:cxnSp>
        <p:nvCxnSpPr>
          <p:cNvPr id="2" name="直線コネクタ 1">
            <a:extLst>
              <a:ext uri="{FF2B5EF4-FFF2-40B4-BE49-F238E27FC236}">
                <a16:creationId xmlns:a16="http://schemas.microsoft.com/office/drawing/2014/main" id="{8D0721AE-E7E5-698E-E773-F2614C0DBB07}"/>
              </a:ext>
            </a:extLst>
          </p:cNvPr>
          <p:cNvCxnSpPr>
            <a:cxnSpLocks/>
          </p:cNvCxnSpPr>
          <p:nvPr/>
        </p:nvCxnSpPr>
        <p:spPr>
          <a:xfrm>
            <a:off x="315939" y="217881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 name="直線コネクタ 4">
            <a:extLst>
              <a:ext uri="{FF2B5EF4-FFF2-40B4-BE49-F238E27FC236}">
                <a16:creationId xmlns:a16="http://schemas.microsoft.com/office/drawing/2014/main" id="{3BFFC88E-A589-D631-D366-94F280EFF67D}"/>
              </a:ext>
            </a:extLst>
          </p:cNvPr>
          <p:cNvCxnSpPr>
            <a:cxnSpLocks/>
          </p:cNvCxnSpPr>
          <p:nvPr/>
        </p:nvCxnSpPr>
        <p:spPr>
          <a:xfrm>
            <a:off x="1265077" y="219068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D90E23BB-3076-5B7D-82F3-8433A2B09D1F}"/>
              </a:ext>
            </a:extLst>
          </p:cNvPr>
          <p:cNvCxnSpPr>
            <a:cxnSpLocks/>
          </p:cNvCxnSpPr>
          <p:nvPr/>
        </p:nvCxnSpPr>
        <p:spPr>
          <a:xfrm>
            <a:off x="2202413" y="218803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3A68BF14-4E95-B76C-1300-FF13B29BADF0}"/>
              </a:ext>
            </a:extLst>
          </p:cNvPr>
          <p:cNvCxnSpPr>
            <a:cxnSpLocks/>
          </p:cNvCxnSpPr>
          <p:nvPr/>
        </p:nvCxnSpPr>
        <p:spPr>
          <a:xfrm>
            <a:off x="3136468" y="220735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6558815C-4A36-8DFA-3258-ADAC642B44B6}"/>
              </a:ext>
            </a:extLst>
          </p:cNvPr>
          <p:cNvCxnSpPr>
            <a:cxnSpLocks/>
          </p:cNvCxnSpPr>
          <p:nvPr/>
        </p:nvCxnSpPr>
        <p:spPr>
          <a:xfrm>
            <a:off x="3541980" y="221793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9B24DBF0-6A3A-0783-C6E3-74B28D837D9E}"/>
              </a:ext>
            </a:extLst>
          </p:cNvPr>
          <p:cNvCxnSpPr>
            <a:cxnSpLocks/>
          </p:cNvCxnSpPr>
          <p:nvPr/>
        </p:nvCxnSpPr>
        <p:spPr>
          <a:xfrm>
            <a:off x="4833781" y="222980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D9F92929-7F37-647E-2D3E-0EB84FFB20D1}"/>
              </a:ext>
            </a:extLst>
          </p:cNvPr>
          <p:cNvCxnSpPr>
            <a:cxnSpLocks/>
          </p:cNvCxnSpPr>
          <p:nvPr/>
        </p:nvCxnSpPr>
        <p:spPr>
          <a:xfrm>
            <a:off x="6125582" y="222716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A53FD7B1-4120-4E04-0DDF-B4B54EDB9BFD}"/>
              </a:ext>
            </a:extLst>
          </p:cNvPr>
          <p:cNvCxnSpPr>
            <a:cxnSpLocks/>
          </p:cNvCxnSpPr>
          <p:nvPr/>
        </p:nvCxnSpPr>
        <p:spPr>
          <a:xfrm>
            <a:off x="7417384" y="221793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ABDE72C7-C765-8BB2-E494-8277E0D528BC}"/>
              </a:ext>
            </a:extLst>
          </p:cNvPr>
          <p:cNvSpPr txBox="1"/>
          <p:nvPr/>
        </p:nvSpPr>
        <p:spPr>
          <a:xfrm>
            <a:off x="3542139" y="212416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96BDDC66-06A4-F147-F6D6-595BB801B1D3}"/>
              </a:ext>
            </a:extLst>
          </p:cNvPr>
          <p:cNvSpPr txBox="1"/>
          <p:nvPr/>
        </p:nvSpPr>
        <p:spPr>
          <a:xfrm>
            <a:off x="6119413" y="253332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375707FE-6207-A0AF-61A0-E9AABECDAC37}"/>
              </a:ext>
            </a:extLst>
          </p:cNvPr>
          <p:cNvSpPr txBox="1"/>
          <p:nvPr/>
        </p:nvSpPr>
        <p:spPr>
          <a:xfrm>
            <a:off x="4830776" y="232874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49AFAACD-69A5-DAB7-2AB7-5204509E5CCB}"/>
              </a:ext>
            </a:extLst>
          </p:cNvPr>
          <p:cNvSpPr txBox="1"/>
          <p:nvPr/>
        </p:nvSpPr>
        <p:spPr>
          <a:xfrm>
            <a:off x="7408050" y="273790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8B260C5F-25D5-8ED9-9E9C-2E4B97F7FE0C}"/>
              </a:ext>
            </a:extLst>
          </p:cNvPr>
          <p:cNvSpPr txBox="1"/>
          <p:nvPr/>
        </p:nvSpPr>
        <p:spPr>
          <a:xfrm>
            <a:off x="334303" y="213025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19" name="テキスト ボックス 18">
            <a:extLst>
              <a:ext uri="{FF2B5EF4-FFF2-40B4-BE49-F238E27FC236}">
                <a16:creationId xmlns:a16="http://schemas.microsoft.com/office/drawing/2014/main" id="{D76A6924-9615-4D2D-207A-2C463DAF53AF}"/>
              </a:ext>
            </a:extLst>
          </p:cNvPr>
          <p:cNvSpPr txBox="1"/>
          <p:nvPr/>
        </p:nvSpPr>
        <p:spPr>
          <a:xfrm>
            <a:off x="1268358" y="234091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8C64E429-AF18-081D-2A8E-EDCE056C0C0B}"/>
              </a:ext>
            </a:extLst>
          </p:cNvPr>
          <p:cNvSpPr txBox="1"/>
          <p:nvPr/>
        </p:nvSpPr>
        <p:spPr>
          <a:xfrm>
            <a:off x="2202413" y="253502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21" name="テキスト ボックス 20">
            <a:extLst>
              <a:ext uri="{FF2B5EF4-FFF2-40B4-BE49-F238E27FC236}">
                <a16:creationId xmlns:a16="http://schemas.microsoft.com/office/drawing/2014/main" id="{7B99F819-3A4C-8D01-87D3-59398A0C3663}"/>
              </a:ext>
            </a:extLst>
          </p:cNvPr>
          <p:cNvSpPr txBox="1"/>
          <p:nvPr/>
        </p:nvSpPr>
        <p:spPr>
          <a:xfrm>
            <a:off x="3136468" y="273137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22" name="コネクタ: カギ線 21">
            <a:extLst>
              <a:ext uri="{FF2B5EF4-FFF2-40B4-BE49-F238E27FC236}">
                <a16:creationId xmlns:a16="http://schemas.microsoft.com/office/drawing/2014/main" id="{89810CF4-19DD-8F80-464F-FE8E1D250689}"/>
              </a:ext>
            </a:extLst>
          </p:cNvPr>
          <p:cNvCxnSpPr>
            <a:cxnSpLocks/>
            <a:stCxn id="21" idx="0"/>
            <a:endCxn id="14" idx="2"/>
          </p:cNvCxnSpPr>
          <p:nvPr/>
        </p:nvCxnSpPr>
        <p:spPr>
          <a:xfrm rot="5400000" flipH="1" flipV="1">
            <a:off x="4282287" y="249442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3" name="直線矢印コネクタ 22">
            <a:extLst>
              <a:ext uri="{FF2B5EF4-FFF2-40B4-BE49-F238E27FC236}">
                <a16:creationId xmlns:a16="http://schemas.microsoft.com/office/drawing/2014/main" id="{3F2ACC73-0643-27D8-F1B3-1B871FCEF141}"/>
              </a:ext>
            </a:extLst>
          </p:cNvPr>
          <p:cNvCxnSpPr>
            <a:cxnSpLocks/>
          </p:cNvCxnSpPr>
          <p:nvPr/>
        </p:nvCxnSpPr>
        <p:spPr>
          <a:xfrm>
            <a:off x="334303" y="3515795"/>
            <a:ext cx="3207836"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69C05BA8-18F6-F344-3C54-A5E03AFE2368}"/>
              </a:ext>
            </a:extLst>
          </p:cNvPr>
          <p:cNvCxnSpPr>
            <a:cxnSpLocks/>
          </p:cNvCxnSpPr>
          <p:nvPr/>
        </p:nvCxnSpPr>
        <p:spPr>
          <a:xfrm>
            <a:off x="3122098" y="4928015"/>
            <a:ext cx="6619128"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テキスト ボックス 24">
            <a:extLst>
              <a:ext uri="{FF2B5EF4-FFF2-40B4-BE49-F238E27FC236}">
                <a16:creationId xmlns:a16="http://schemas.microsoft.com/office/drawing/2014/main" id="{E77786FC-857A-BA29-36E6-9A41C2E99F31}"/>
              </a:ext>
            </a:extLst>
          </p:cNvPr>
          <p:cNvSpPr txBox="1"/>
          <p:nvPr/>
        </p:nvSpPr>
        <p:spPr>
          <a:xfrm>
            <a:off x="1268358" y="3383509"/>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sp>
        <p:nvSpPr>
          <p:cNvPr id="26" name="テキスト ボックス 25">
            <a:extLst>
              <a:ext uri="{FF2B5EF4-FFF2-40B4-BE49-F238E27FC236}">
                <a16:creationId xmlns:a16="http://schemas.microsoft.com/office/drawing/2014/main" id="{5B6D9466-EC9E-4057-AB18-8974D147F3E8}"/>
              </a:ext>
            </a:extLst>
          </p:cNvPr>
          <p:cNvSpPr txBox="1"/>
          <p:nvPr/>
        </p:nvSpPr>
        <p:spPr>
          <a:xfrm>
            <a:off x="5558554" y="4804166"/>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cxnSp>
        <p:nvCxnSpPr>
          <p:cNvPr id="27" name="直線矢印コネクタ 26">
            <a:extLst>
              <a:ext uri="{FF2B5EF4-FFF2-40B4-BE49-F238E27FC236}">
                <a16:creationId xmlns:a16="http://schemas.microsoft.com/office/drawing/2014/main" id="{C2DCC080-98CE-945F-96A2-C42DE7E0C936}"/>
              </a:ext>
            </a:extLst>
          </p:cNvPr>
          <p:cNvCxnSpPr>
            <a:cxnSpLocks/>
          </p:cNvCxnSpPr>
          <p:nvPr/>
        </p:nvCxnSpPr>
        <p:spPr>
          <a:xfrm>
            <a:off x="3609975" y="3504789"/>
            <a:ext cx="2482432"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EA293A6D-CB27-A495-B2B6-10D3182B0B70}"/>
              </a:ext>
            </a:extLst>
          </p:cNvPr>
          <p:cNvSpPr txBox="1"/>
          <p:nvPr/>
        </p:nvSpPr>
        <p:spPr>
          <a:xfrm>
            <a:off x="3908480" y="3397243"/>
            <a:ext cx="1913269" cy="234537"/>
          </a:xfrm>
          <a:prstGeom prst="rect">
            <a:avLst/>
          </a:prstGeom>
          <a:solidFill>
            <a:schemeClr val="bg1"/>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オフライン→</a:t>
            </a: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sp>
        <p:nvSpPr>
          <p:cNvPr id="29" name="正方形/長方形 28">
            <a:extLst>
              <a:ext uri="{FF2B5EF4-FFF2-40B4-BE49-F238E27FC236}">
                <a16:creationId xmlns:a16="http://schemas.microsoft.com/office/drawing/2014/main" id="{2AFCBDA6-2140-B4C1-A45D-7A34BC21899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0" name="直線矢印コネクタ 29">
            <a:extLst>
              <a:ext uri="{FF2B5EF4-FFF2-40B4-BE49-F238E27FC236}">
                <a16:creationId xmlns:a16="http://schemas.microsoft.com/office/drawing/2014/main" id="{852097C2-692E-64D7-A5ED-5C35A2EFC97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9F2742C3-41F6-3CC5-6355-EC9495CFE608}"/>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33" name="正方形/長方形 32">
            <a:extLst>
              <a:ext uri="{FF2B5EF4-FFF2-40B4-BE49-F238E27FC236}">
                <a16:creationId xmlns:a16="http://schemas.microsoft.com/office/drawing/2014/main" id="{BF6CFDE9-CDE8-1133-47F9-90F22773AF32}"/>
              </a:ext>
            </a:extLst>
          </p:cNvPr>
          <p:cNvSpPr/>
          <p:nvPr/>
        </p:nvSpPr>
        <p:spPr>
          <a:xfrm>
            <a:off x="315939" y="3613966"/>
            <a:ext cx="577646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友だち追加させるか？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WEB</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a:t>
            </a:r>
          </a:p>
        </p:txBody>
      </p:sp>
      <p:sp>
        <p:nvSpPr>
          <p:cNvPr id="34" name="正方形/長方形 33">
            <a:extLst>
              <a:ext uri="{FF2B5EF4-FFF2-40B4-BE49-F238E27FC236}">
                <a16:creationId xmlns:a16="http://schemas.microsoft.com/office/drawing/2014/main" id="{39DCB4B6-9411-CC10-0D34-9F40EC11AD82}"/>
              </a:ext>
            </a:extLst>
          </p:cNvPr>
          <p:cNvSpPr/>
          <p:nvPr/>
        </p:nvSpPr>
        <p:spPr>
          <a:xfrm>
            <a:off x="3122098" y="5051222"/>
            <a:ext cx="661912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友だちをアクションに結びつけるか？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→反響）</a:t>
            </a:r>
          </a:p>
        </p:txBody>
      </p:sp>
      <p:cxnSp>
        <p:nvCxnSpPr>
          <p:cNvPr id="35" name="直線矢印コネクタ 34">
            <a:extLst>
              <a:ext uri="{FF2B5EF4-FFF2-40B4-BE49-F238E27FC236}">
                <a16:creationId xmlns:a16="http://schemas.microsoft.com/office/drawing/2014/main" id="{B94F8848-87A6-4A24-C2DE-D4A5BD2787D7}"/>
              </a:ext>
            </a:extLst>
          </p:cNvPr>
          <p:cNvCxnSpPr>
            <a:cxnSpLocks/>
          </p:cNvCxnSpPr>
          <p:nvPr/>
        </p:nvCxnSpPr>
        <p:spPr>
          <a:xfrm>
            <a:off x="484665" y="3964795"/>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6" name="テキスト ボックス 35">
            <a:extLst>
              <a:ext uri="{FF2B5EF4-FFF2-40B4-BE49-F238E27FC236}">
                <a16:creationId xmlns:a16="http://schemas.microsoft.com/office/drawing/2014/main" id="{13A35DD7-3CE1-ABA2-45A4-29A5F6D013E2}"/>
              </a:ext>
            </a:extLst>
          </p:cNvPr>
          <p:cNvSpPr txBox="1"/>
          <p:nvPr/>
        </p:nvSpPr>
        <p:spPr>
          <a:xfrm>
            <a:off x="853704" y="3860734"/>
            <a:ext cx="822746"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cs typeface="Meiryo"/>
                <a:sym typeface="Meiryo"/>
              </a:rPr>
              <a:t>CPF</a:t>
            </a:r>
            <a:r>
              <a:rPr lang="ja-JP" altLang="en-US" sz="1000" b="1" dirty="0">
                <a:latin typeface="メイリオ" panose="020B0604030504040204" pitchFamily="50" charset="-128"/>
                <a:ea typeface="メイリオ" panose="020B0604030504040204" pitchFamily="50" charset="-128"/>
                <a:cs typeface="Meiryo"/>
                <a:sym typeface="Meiryo"/>
              </a:rPr>
              <a:t>広告</a:t>
            </a:r>
            <a:endParaRPr lang="ja-JP" altLang="en-US" sz="1000" b="1" dirty="0"/>
          </a:p>
        </p:txBody>
      </p:sp>
      <p:cxnSp>
        <p:nvCxnSpPr>
          <p:cNvPr id="37" name="直線矢印コネクタ 36">
            <a:extLst>
              <a:ext uri="{FF2B5EF4-FFF2-40B4-BE49-F238E27FC236}">
                <a16:creationId xmlns:a16="http://schemas.microsoft.com/office/drawing/2014/main" id="{4DD36FC2-6468-F5B5-EFB8-BBFB2CF7F452}"/>
              </a:ext>
            </a:extLst>
          </p:cNvPr>
          <p:cNvCxnSpPr>
            <a:cxnSpLocks/>
          </p:cNvCxnSpPr>
          <p:nvPr/>
        </p:nvCxnSpPr>
        <p:spPr>
          <a:xfrm>
            <a:off x="3442595" y="433246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8" name="テキスト ボックス 37">
            <a:extLst>
              <a:ext uri="{FF2B5EF4-FFF2-40B4-BE49-F238E27FC236}">
                <a16:creationId xmlns:a16="http://schemas.microsoft.com/office/drawing/2014/main" id="{52205788-B1CC-5FF9-ED78-B6DD32267E17}"/>
              </a:ext>
            </a:extLst>
          </p:cNvPr>
          <p:cNvSpPr txBox="1"/>
          <p:nvPr/>
        </p:nvSpPr>
        <p:spPr>
          <a:xfrm>
            <a:off x="3811634" y="419868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39" name="直線矢印コネクタ 38">
            <a:extLst>
              <a:ext uri="{FF2B5EF4-FFF2-40B4-BE49-F238E27FC236}">
                <a16:creationId xmlns:a16="http://schemas.microsoft.com/office/drawing/2014/main" id="{923E43E2-8157-8C38-4A7C-C186793E6650}"/>
              </a:ext>
            </a:extLst>
          </p:cNvPr>
          <p:cNvCxnSpPr>
            <a:cxnSpLocks/>
          </p:cNvCxnSpPr>
          <p:nvPr/>
        </p:nvCxnSpPr>
        <p:spPr>
          <a:xfrm>
            <a:off x="3442595" y="458569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9B46B511-7630-9D21-552D-BAD1DCEC8387}"/>
              </a:ext>
            </a:extLst>
          </p:cNvPr>
          <p:cNvSpPr txBox="1"/>
          <p:nvPr/>
        </p:nvSpPr>
        <p:spPr>
          <a:xfrm>
            <a:off x="3811634" y="4451915"/>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サンクス</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誘導</a:t>
            </a:r>
            <a:endParaRPr lang="ja-JP" altLang="en-US" sz="1000" b="1" dirty="0"/>
          </a:p>
        </p:txBody>
      </p:sp>
      <p:cxnSp>
        <p:nvCxnSpPr>
          <p:cNvPr id="41" name="直線矢印コネクタ 40">
            <a:extLst>
              <a:ext uri="{FF2B5EF4-FFF2-40B4-BE49-F238E27FC236}">
                <a16:creationId xmlns:a16="http://schemas.microsoft.com/office/drawing/2014/main" id="{64D8562C-014D-DFB4-2D01-7479448659D1}"/>
              </a:ext>
            </a:extLst>
          </p:cNvPr>
          <p:cNvCxnSpPr>
            <a:cxnSpLocks/>
          </p:cNvCxnSpPr>
          <p:nvPr/>
        </p:nvCxnSpPr>
        <p:spPr>
          <a:xfrm>
            <a:off x="1351697" y="415316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 name="テキスト ボックス 41">
            <a:extLst>
              <a:ext uri="{FF2B5EF4-FFF2-40B4-BE49-F238E27FC236}">
                <a16:creationId xmlns:a16="http://schemas.microsoft.com/office/drawing/2014/main" id="{540E1D19-5457-9319-2789-430F63EC5A42}"/>
              </a:ext>
            </a:extLst>
          </p:cNvPr>
          <p:cNvSpPr txBox="1"/>
          <p:nvPr/>
        </p:nvSpPr>
        <p:spPr>
          <a:xfrm>
            <a:off x="1720736" y="4019384"/>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43" name="直線矢印コネクタ 42">
            <a:extLst>
              <a:ext uri="{FF2B5EF4-FFF2-40B4-BE49-F238E27FC236}">
                <a16:creationId xmlns:a16="http://schemas.microsoft.com/office/drawing/2014/main" id="{490155E9-25FB-3090-382A-CA0B7F87F965}"/>
              </a:ext>
            </a:extLst>
          </p:cNvPr>
          <p:cNvCxnSpPr>
            <a:cxnSpLocks/>
          </p:cNvCxnSpPr>
          <p:nvPr/>
        </p:nvCxnSpPr>
        <p:spPr>
          <a:xfrm>
            <a:off x="1351697" y="438431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 name="テキスト ボックス 43">
            <a:extLst>
              <a:ext uri="{FF2B5EF4-FFF2-40B4-BE49-F238E27FC236}">
                <a16:creationId xmlns:a16="http://schemas.microsoft.com/office/drawing/2014/main" id="{08D35021-E114-E4DF-FF22-BF7BE0CDF4D8}"/>
              </a:ext>
            </a:extLst>
          </p:cNvPr>
          <p:cNvSpPr txBox="1"/>
          <p:nvPr/>
        </p:nvSpPr>
        <p:spPr>
          <a:xfrm>
            <a:off x="1720736" y="4250529"/>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サイト動線の整備</a:t>
            </a:r>
          </a:p>
        </p:txBody>
      </p:sp>
      <p:cxnSp>
        <p:nvCxnSpPr>
          <p:cNvPr id="45" name="直線矢印コネクタ 44">
            <a:extLst>
              <a:ext uri="{FF2B5EF4-FFF2-40B4-BE49-F238E27FC236}">
                <a16:creationId xmlns:a16="http://schemas.microsoft.com/office/drawing/2014/main" id="{6840C346-E790-A413-26C5-79129D6F5FB7}"/>
              </a:ext>
            </a:extLst>
          </p:cNvPr>
          <p:cNvCxnSpPr>
            <a:cxnSpLocks/>
          </p:cNvCxnSpPr>
          <p:nvPr/>
        </p:nvCxnSpPr>
        <p:spPr>
          <a:xfrm>
            <a:off x="3900757" y="4022150"/>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 name="テキスト ボックス 45">
            <a:extLst>
              <a:ext uri="{FF2B5EF4-FFF2-40B4-BE49-F238E27FC236}">
                <a16:creationId xmlns:a16="http://schemas.microsoft.com/office/drawing/2014/main" id="{715CC99E-9A08-159E-0120-31020FC33D0F}"/>
              </a:ext>
            </a:extLst>
          </p:cNvPr>
          <p:cNvSpPr txBox="1"/>
          <p:nvPr/>
        </p:nvSpPr>
        <p:spPr>
          <a:xfrm>
            <a:off x="4269796" y="3888366"/>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既存リストの活用</a:t>
            </a:r>
            <a:endParaRPr lang="en-US" altLang="ja-JP" sz="1000" b="1" dirty="0">
              <a:latin typeface="メイリオ" panose="020B0604030504040204" pitchFamily="50" charset="-128"/>
              <a:ea typeface="メイリオ" panose="020B0604030504040204" pitchFamily="50" charset="-128"/>
              <a:cs typeface="Meiryo"/>
              <a:sym typeface="Meiryo"/>
            </a:endParaRPr>
          </a:p>
        </p:txBody>
      </p:sp>
      <p:cxnSp>
        <p:nvCxnSpPr>
          <p:cNvPr id="47" name="直線矢印コネクタ 46">
            <a:extLst>
              <a:ext uri="{FF2B5EF4-FFF2-40B4-BE49-F238E27FC236}">
                <a16:creationId xmlns:a16="http://schemas.microsoft.com/office/drawing/2014/main" id="{C26FDFF8-ECDB-0D20-5A53-4F74EF6D93F8}"/>
              </a:ext>
            </a:extLst>
          </p:cNvPr>
          <p:cNvCxnSpPr>
            <a:cxnSpLocks/>
          </p:cNvCxnSpPr>
          <p:nvPr/>
        </p:nvCxnSpPr>
        <p:spPr>
          <a:xfrm>
            <a:off x="5494489" y="4328530"/>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8" name="テキスト ボックス 47">
            <a:extLst>
              <a:ext uri="{FF2B5EF4-FFF2-40B4-BE49-F238E27FC236}">
                <a16:creationId xmlns:a16="http://schemas.microsoft.com/office/drawing/2014/main" id="{03517788-8A00-3CE9-B8A0-DC9904CB9E29}"/>
              </a:ext>
            </a:extLst>
          </p:cNvPr>
          <p:cNvSpPr txBox="1"/>
          <p:nvPr/>
        </p:nvSpPr>
        <p:spPr>
          <a:xfrm>
            <a:off x="5863528" y="4194746"/>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49" name="直線矢印コネクタ 48">
            <a:extLst>
              <a:ext uri="{FF2B5EF4-FFF2-40B4-BE49-F238E27FC236}">
                <a16:creationId xmlns:a16="http://schemas.microsoft.com/office/drawing/2014/main" id="{8A08B47D-236B-D58F-E880-0E520352BC81}"/>
              </a:ext>
            </a:extLst>
          </p:cNvPr>
          <p:cNvCxnSpPr>
            <a:cxnSpLocks/>
          </p:cNvCxnSpPr>
          <p:nvPr/>
        </p:nvCxnSpPr>
        <p:spPr>
          <a:xfrm>
            <a:off x="5494489" y="459136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8376E216-AB77-BC34-74BE-9C14746155C3}"/>
              </a:ext>
            </a:extLst>
          </p:cNvPr>
          <p:cNvSpPr txBox="1"/>
          <p:nvPr/>
        </p:nvSpPr>
        <p:spPr>
          <a:xfrm>
            <a:off x="5863528" y="445758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サンクス</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誘導</a:t>
            </a:r>
            <a:endParaRPr lang="ja-JP" altLang="en-US" sz="1000" b="1" dirty="0"/>
          </a:p>
        </p:txBody>
      </p:sp>
      <p:cxnSp>
        <p:nvCxnSpPr>
          <p:cNvPr id="51" name="直線矢印コネクタ 50">
            <a:extLst>
              <a:ext uri="{FF2B5EF4-FFF2-40B4-BE49-F238E27FC236}">
                <a16:creationId xmlns:a16="http://schemas.microsoft.com/office/drawing/2014/main" id="{D6F7AD1E-A403-6C2E-4207-BA25C2D7BCC6}"/>
              </a:ext>
            </a:extLst>
          </p:cNvPr>
          <p:cNvCxnSpPr>
            <a:cxnSpLocks/>
          </p:cNvCxnSpPr>
          <p:nvPr/>
        </p:nvCxnSpPr>
        <p:spPr>
          <a:xfrm>
            <a:off x="751071" y="4630661"/>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2" name="テキスト ボックス 51">
            <a:extLst>
              <a:ext uri="{FF2B5EF4-FFF2-40B4-BE49-F238E27FC236}">
                <a16:creationId xmlns:a16="http://schemas.microsoft.com/office/drawing/2014/main" id="{7D798DBD-5393-6131-8034-EC789105D05B}"/>
              </a:ext>
            </a:extLst>
          </p:cNvPr>
          <p:cNvSpPr txBox="1"/>
          <p:nvPr/>
        </p:nvSpPr>
        <p:spPr>
          <a:xfrm>
            <a:off x="983946" y="4526600"/>
            <a:ext cx="1095075"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SNS/</a:t>
            </a:r>
            <a:r>
              <a:rPr lang="ja-JP" altLang="en-US"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メルマガ</a:t>
            </a:r>
            <a:endParaRPr lang="ja-JP" altLang="en-US" sz="900" dirty="0">
              <a:solidFill>
                <a:schemeClr val="tx1">
                  <a:lumMod val="50000"/>
                  <a:lumOff val="50000"/>
                </a:schemeClr>
              </a:solidFill>
            </a:endParaRPr>
          </a:p>
        </p:txBody>
      </p:sp>
      <p:cxnSp>
        <p:nvCxnSpPr>
          <p:cNvPr id="53" name="直線矢印コネクタ 52">
            <a:extLst>
              <a:ext uri="{FF2B5EF4-FFF2-40B4-BE49-F238E27FC236}">
                <a16:creationId xmlns:a16="http://schemas.microsoft.com/office/drawing/2014/main" id="{527AED14-C910-4D3E-987F-EA62ABD18D90}"/>
              </a:ext>
            </a:extLst>
          </p:cNvPr>
          <p:cNvCxnSpPr>
            <a:cxnSpLocks/>
          </p:cNvCxnSpPr>
          <p:nvPr/>
        </p:nvCxnSpPr>
        <p:spPr>
          <a:xfrm>
            <a:off x="747965" y="4897406"/>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4" name="テキスト ボックス 53">
            <a:extLst>
              <a:ext uri="{FF2B5EF4-FFF2-40B4-BE49-F238E27FC236}">
                <a16:creationId xmlns:a16="http://schemas.microsoft.com/office/drawing/2014/main" id="{9644DD32-D05B-DE83-7791-37895274BDE9}"/>
              </a:ext>
            </a:extLst>
          </p:cNvPr>
          <p:cNvSpPr txBox="1"/>
          <p:nvPr/>
        </p:nvSpPr>
        <p:spPr>
          <a:xfrm>
            <a:off x="969834" y="4806108"/>
            <a:ext cx="1117086" cy="191105"/>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8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店内ポップ・チラシ</a:t>
            </a:r>
            <a:endParaRPr lang="ja-JP" altLang="en-US" sz="800" dirty="0">
              <a:solidFill>
                <a:schemeClr val="tx1">
                  <a:lumMod val="50000"/>
                  <a:lumOff val="50000"/>
                </a:schemeClr>
              </a:solidFill>
            </a:endParaRPr>
          </a:p>
        </p:txBody>
      </p:sp>
      <p:cxnSp>
        <p:nvCxnSpPr>
          <p:cNvPr id="55" name="直線矢印コネクタ 54">
            <a:extLst>
              <a:ext uri="{FF2B5EF4-FFF2-40B4-BE49-F238E27FC236}">
                <a16:creationId xmlns:a16="http://schemas.microsoft.com/office/drawing/2014/main" id="{D3D532EE-6712-DE63-E452-E8BEAA167260}"/>
              </a:ext>
            </a:extLst>
          </p:cNvPr>
          <p:cNvCxnSpPr>
            <a:cxnSpLocks/>
          </p:cNvCxnSpPr>
          <p:nvPr/>
        </p:nvCxnSpPr>
        <p:spPr>
          <a:xfrm>
            <a:off x="7259810" y="444458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6" name="テキスト ボックス 55">
            <a:extLst>
              <a:ext uri="{FF2B5EF4-FFF2-40B4-BE49-F238E27FC236}">
                <a16:creationId xmlns:a16="http://schemas.microsoft.com/office/drawing/2014/main" id="{DCDD6E46-B8C3-8536-41F9-F39EB73CBD24}"/>
              </a:ext>
            </a:extLst>
          </p:cNvPr>
          <p:cNvSpPr txBox="1"/>
          <p:nvPr/>
        </p:nvSpPr>
        <p:spPr>
          <a:xfrm>
            <a:off x="7740673" y="4310804"/>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ID</a:t>
            </a: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en-US" altLang="ja-JP"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CRM</a:t>
            </a: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連携</a:t>
            </a:r>
            <a:endParaRPr lang="ja-JP" altLang="en-US" sz="1000" b="1" dirty="0">
              <a:solidFill>
                <a:schemeClr val="tx1">
                  <a:lumMod val="50000"/>
                  <a:lumOff val="50000"/>
                </a:schemeClr>
              </a:solidFill>
            </a:endParaRPr>
          </a:p>
        </p:txBody>
      </p:sp>
      <p:cxnSp>
        <p:nvCxnSpPr>
          <p:cNvPr id="57" name="直線矢印コネクタ 56">
            <a:extLst>
              <a:ext uri="{FF2B5EF4-FFF2-40B4-BE49-F238E27FC236}">
                <a16:creationId xmlns:a16="http://schemas.microsoft.com/office/drawing/2014/main" id="{B9C84515-E6C9-A256-421E-9C3EFEBBFF17}"/>
              </a:ext>
            </a:extLst>
          </p:cNvPr>
          <p:cNvCxnSpPr>
            <a:cxnSpLocks/>
          </p:cNvCxnSpPr>
          <p:nvPr/>
        </p:nvCxnSpPr>
        <p:spPr>
          <a:xfrm>
            <a:off x="7697737" y="549519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8" name="テキスト ボックス 57">
            <a:extLst>
              <a:ext uri="{FF2B5EF4-FFF2-40B4-BE49-F238E27FC236}">
                <a16:creationId xmlns:a16="http://schemas.microsoft.com/office/drawing/2014/main" id="{7E002B77-EFC0-55F3-D3E6-100837F9B195}"/>
              </a:ext>
            </a:extLst>
          </p:cNvPr>
          <p:cNvSpPr txBox="1"/>
          <p:nvPr/>
        </p:nvSpPr>
        <p:spPr>
          <a:xfrm>
            <a:off x="8178600" y="5361409"/>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フォロー体制</a:t>
            </a:r>
            <a:endParaRPr lang="ja-JP" altLang="en-US" sz="1000" b="1" dirty="0">
              <a:solidFill>
                <a:schemeClr val="tx1">
                  <a:lumMod val="50000"/>
                  <a:lumOff val="50000"/>
                </a:schemeClr>
              </a:solidFill>
            </a:endParaRPr>
          </a:p>
        </p:txBody>
      </p:sp>
      <p:cxnSp>
        <p:nvCxnSpPr>
          <p:cNvPr id="67" name="直線矢印コネクタ 66">
            <a:extLst>
              <a:ext uri="{FF2B5EF4-FFF2-40B4-BE49-F238E27FC236}">
                <a16:creationId xmlns:a16="http://schemas.microsoft.com/office/drawing/2014/main" id="{03BD82C1-8BEC-3E49-C1DA-A1C214DB1C8C}"/>
              </a:ext>
            </a:extLst>
          </p:cNvPr>
          <p:cNvCxnSpPr>
            <a:cxnSpLocks/>
          </p:cNvCxnSpPr>
          <p:nvPr/>
        </p:nvCxnSpPr>
        <p:spPr>
          <a:xfrm>
            <a:off x="4519454" y="5493723"/>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1" name="テキスト ボックス 80">
            <a:extLst>
              <a:ext uri="{FF2B5EF4-FFF2-40B4-BE49-F238E27FC236}">
                <a16:creationId xmlns:a16="http://schemas.microsoft.com/office/drawing/2014/main" id="{919F797F-1B6A-876C-B468-E147B3D97E8A}"/>
              </a:ext>
            </a:extLst>
          </p:cNvPr>
          <p:cNvSpPr txBox="1"/>
          <p:nvPr/>
        </p:nvSpPr>
        <p:spPr>
          <a:xfrm>
            <a:off x="5267281" y="5359939"/>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ステップ配信</a:t>
            </a:r>
            <a:endParaRPr lang="ja-JP" altLang="en-US" sz="1000" b="1" dirty="0"/>
          </a:p>
        </p:txBody>
      </p:sp>
      <p:cxnSp>
        <p:nvCxnSpPr>
          <p:cNvPr id="86" name="直線矢印コネクタ 85">
            <a:extLst>
              <a:ext uri="{FF2B5EF4-FFF2-40B4-BE49-F238E27FC236}">
                <a16:creationId xmlns:a16="http://schemas.microsoft.com/office/drawing/2014/main" id="{C96E67E6-B364-7DED-CDB8-DDCEEFB96AD2}"/>
              </a:ext>
            </a:extLst>
          </p:cNvPr>
          <p:cNvCxnSpPr>
            <a:cxnSpLocks/>
          </p:cNvCxnSpPr>
          <p:nvPr/>
        </p:nvCxnSpPr>
        <p:spPr>
          <a:xfrm>
            <a:off x="4519295" y="5766839"/>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1" name="テキスト ボックス 90">
            <a:extLst>
              <a:ext uri="{FF2B5EF4-FFF2-40B4-BE49-F238E27FC236}">
                <a16:creationId xmlns:a16="http://schemas.microsoft.com/office/drawing/2014/main" id="{335DB4AB-DEFA-E356-751F-7106100F929E}"/>
              </a:ext>
            </a:extLst>
          </p:cNvPr>
          <p:cNvSpPr txBox="1"/>
          <p:nvPr/>
        </p:nvSpPr>
        <p:spPr>
          <a:xfrm>
            <a:off x="5267122" y="5633055"/>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企画配信</a:t>
            </a:r>
            <a:endParaRPr lang="ja-JP" altLang="en-US" sz="1000" b="1" dirty="0"/>
          </a:p>
        </p:txBody>
      </p:sp>
      <p:cxnSp>
        <p:nvCxnSpPr>
          <p:cNvPr id="100" name="直線矢印コネクタ 99">
            <a:extLst>
              <a:ext uri="{FF2B5EF4-FFF2-40B4-BE49-F238E27FC236}">
                <a16:creationId xmlns:a16="http://schemas.microsoft.com/office/drawing/2014/main" id="{7884810E-3E89-4CCB-C00C-B386A34717E4}"/>
              </a:ext>
            </a:extLst>
          </p:cNvPr>
          <p:cNvCxnSpPr>
            <a:cxnSpLocks/>
          </p:cNvCxnSpPr>
          <p:nvPr/>
        </p:nvCxnSpPr>
        <p:spPr>
          <a:xfrm>
            <a:off x="3798688" y="5981626"/>
            <a:ext cx="2464861"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1" name="テキスト ボックス 100">
            <a:extLst>
              <a:ext uri="{FF2B5EF4-FFF2-40B4-BE49-F238E27FC236}">
                <a16:creationId xmlns:a16="http://schemas.microsoft.com/office/drawing/2014/main" id="{6FD45AC0-2372-776F-6D16-846C0FB7AC64}"/>
              </a:ext>
            </a:extLst>
          </p:cNvPr>
          <p:cNvSpPr txBox="1"/>
          <p:nvPr/>
        </p:nvSpPr>
        <p:spPr>
          <a:xfrm>
            <a:off x="4258152" y="5863519"/>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アンケート回収</a:t>
            </a:r>
            <a:endParaRPr lang="ja-JP" altLang="en-US" sz="1000" b="1" dirty="0"/>
          </a:p>
        </p:txBody>
      </p:sp>
      <p:cxnSp>
        <p:nvCxnSpPr>
          <p:cNvPr id="102" name="直線矢印コネクタ 101">
            <a:extLst>
              <a:ext uri="{FF2B5EF4-FFF2-40B4-BE49-F238E27FC236}">
                <a16:creationId xmlns:a16="http://schemas.microsoft.com/office/drawing/2014/main" id="{5BF3558A-EBED-81EE-B158-28A7CA5D6693}"/>
              </a:ext>
            </a:extLst>
          </p:cNvPr>
          <p:cNvCxnSpPr>
            <a:cxnSpLocks/>
          </p:cNvCxnSpPr>
          <p:nvPr/>
        </p:nvCxnSpPr>
        <p:spPr>
          <a:xfrm>
            <a:off x="3797428" y="6223951"/>
            <a:ext cx="2452867" cy="6111"/>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0" name="テキスト ボックス 109">
            <a:extLst>
              <a:ext uri="{FF2B5EF4-FFF2-40B4-BE49-F238E27FC236}">
                <a16:creationId xmlns:a16="http://schemas.microsoft.com/office/drawing/2014/main" id="{001266CB-AC56-8914-0ACE-8B554DB19B76}"/>
              </a:ext>
            </a:extLst>
          </p:cNvPr>
          <p:cNvSpPr txBox="1"/>
          <p:nvPr/>
        </p:nvSpPr>
        <p:spPr>
          <a:xfrm>
            <a:off x="4273398" y="613356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スコアリング等</a:t>
            </a:r>
            <a:endParaRPr lang="ja-JP" altLang="en-US" sz="1000" b="1" dirty="0"/>
          </a:p>
        </p:txBody>
      </p:sp>
      <p:cxnSp>
        <p:nvCxnSpPr>
          <p:cNvPr id="111" name="直線矢印コネクタ 110">
            <a:extLst>
              <a:ext uri="{FF2B5EF4-FFF2-40B4-BE49-F238E27FC236}">
                <a16:creationId xmlns:a16="http://schemas.microsoft.com/office/drawing/2014/main" id="{1B403718-ABF2-11BC-1A05-A9E208B7C0F7}"/>
              </a:ext>
            </a:extLst>
          </p:cNvPr>
          <p:cNvCxnSpPr>
            <a:cxnSpLocks/>
          </p:cNvCxnSpPr>
          <p:nvPr/>
        </p:nvCxnSpPr>
        <p:spPr>
          <a:xfrm>
            <a:off x="7118366" y="598554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6" name="テキスト ボックス 115">
            <a:extLst>
              <a:ext uri="{FF2B5EF4-FFF2-40B4-BE49-F238E27FC236}">
                <a16:creationId xmlns:a16="http://schemas.microsoft.com/office/drawing/2014/main" id="{B9061E8E-8F76-24D8-6F4C-BBBCDEB37FE0}"/>
              </a:ext>
            </a:extLst>
          </p:cNvPr>
          <p:cNvSpPr txBox="1"/>
          <p:nvPr/>
        </p:nvSpPr>
        <p:spPr>
          <a:xfrm>
            <a:off x="7397140" y="5871116"/>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リサーチ回収</a:t>
            </a:r>
            <a:endParaRPr lang="ja-JP" altLang="en-US" sz="1000" b="1" dirty="0">
              <a:solidFill>
                <a:schemeClr val="tx1">
                  <a:lumMod val="50000"/>
                  <a:lumOff val="50000"/>
                </a:schemeClr>
              </a:solidFill>
            </a:endParaRPr>
          </a:p>
        </p:txBody>
      </p:sp>
      <p:cxnSp>
        <p:nvCxnSpPr>
          <p:cNvPr id="117" name="直線矢印コネクタ 116">
            <a:extLst>
              <a:ext uri="{FF2B5EF4-FFF2-40B4-BE49-F238E27FC236}">
                <a16:creationId xmlns:a16="http://schemas.microsoft.com/office/drawing/2014/main" id="{B31EBA12-BB45-627B-A1FD-F44E077537B1}"/>
              </a:ext>
            </a:extLst>
          </p:cNvPr>
          <p:cNvCxnSpPr>
            <a:cxnSpLocks/>
          </p:cNvCxnSpPr>
          <p:nvPr/>
        </p:nvCxnSpPr>
        <p:spPr>
          <a:xfrm>
            <a:off x="7048606" y="624305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8" name="テキスト ボックス 117">
            <a:extLst>
              <a:ext uri="{FF2B5EF4-FFF2-40B4-BE49-F238E27FC236}">
                <a16:creationId xmlns:a16="http://schemas.microsoft.com/office/drawing/2014/main" id="{B0C05E5D-44B4-DA5D-7C04-0BDC8A4602CE}"/>
              </a:ext>
            </a:extLst>
          </p:cNvPr>
          <p:cNvSpPr txBox="1"/>
          <p:nvPr/>
        </p:nvSpPr>
        <p:spPr>
          <a:xfrm>
            <a:off x="7336089" y="6137342"/>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ショップカード</a:t>
            </a:r>
            <a:endParaRPr lang="ja-JP" altLang="en-US" sz="1000" b="1" dirty="0">
              <a:solidFill>
                <a:schemeClr val="tx1">
                  <a:lumMod val="50000"/>
                  <a:lumOff val="50000"/>
                </a:schemeClr>
              </a:solidFill>
            </a:endParaRPr>
          </a:p>
        </p:txBody>
      </p:sp>
      <p:pic>
        <p:nvPicPr>
          <p:cNvPr id="119" name="図 118">
            <a:extLst>
              <a:ext uri="{FF2B5EF4-FFF2-40B4-BE49-F238E27FC236}">
                <a16:creationId xmlns:a16="http://schemas.microsoft.com/office/drawing/2014/main" id="{2F4B65BB-B8AA-5045-2074-C574F9423E61}"/>
              </a:ext>
            </a:extLst>
          </p:cNvPr>
          <p:cNvPicPr>
            <a:picLocks noChangeAspect="1"/>
          </p:cNvPicPr>
          <p:nvPr/>
        </p:nvPicPr>
        <p:blipFill>
          <a:blip r:embed="rId2" cstate="print">
            <a:extLst>
              <a:ext uri="{28A0092B-C50C-407E-A947-70E740481C1C}">
                <a14:useLocalDpi xmlns:a14="http://schemas.microsoft.com/office/drawing/2010/main" val="0"/>
              </a:ext>
            </a:extLst>
          </a:blip>
          <a:srcRect t="4981" b="4075"/>
          <a:stretch>
            <a:fillRect/>
          </a:stretch>
        </p:blipFill>
        <p:spPr>
          <a:xfrm>
            <a:off x="3005614" y="5048188"/>
            <a:ext cx="703970" cy="1385346"/>
          </a:xfrm>
          <a:prstGeom prst="rect">
            <a:avLst/>
          </a:prstGeom>
        </p:spPr>
      </p:pic>
      <p:sp>
        <p:nvSpPr>
          <p:cNvPr id="66" name="正方形/長方形 65">
            <a:extLst>
              <a:ext uri="{FF2B5EF4-FFF2-40B4-BE49-F238E27FC236}">
                <a16:creationId xmlns:a16="http://schemas.microsoft.com/office/drawing/2014/main" id="{D22C9FBF-7B93-079A-E87E-A4C967CD0194}"/>
              </a:ext>
            </a:extLst>
          </p:cNvPr>
          <p:cNvSpPr/>
          <p:nvPr/>
        </p:nvSpPr>
        <p:spPr>
          <a:xfrm>
            <a:off x="3908480" y="5336376"/>
            <a:ext cx="2944325" cy="1076098"/>
          </a:xfrm>
          <a:prstGeom prst="rect">
            <a:avLst/>
          </a:prstGeom>
          <a:noFill/>
          <a:ln w="15875">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89B35388-9C44-6C01-ACAA-2E691617E119}"/>
              </a:ext>
            </a:extLst>
          </p:cNvPr>
          <p:cNvSpPr txBox="1"/>
          <p:nvPr/>
        </p:nvSpPr>
        <p:spPr>
          <a:xfrm>
            <a:off x="5723341" y="6303033"/>
            <a:ext cx="1207049" cy="200055"/>
          </a:xfrm>
          <a:prstGeom prst="rect">
            <a:avLst/>
          </a:prstGeom>
          <a:solidFill>
            <a:schemeClr val="tx2"/>
          </a:solidFill>
          <a:ln>
            <a:noFill/>
          </a:ln>
        </p:spPr>
        <p:txBody>
          <a:bodyPr wrap="square">
            <a:spAutoFit/>
          </a:bodyPr>
          <a:lstStyle/>
          <a:p>
            <a:pPr algn="ctr">
              <a:buNone/>
            </a:pPr>
            <a:r>
              <a:rPr lang="ja-JP" altLang="en-US" sz="700" dirty="0">
                <a:solidFill>
                  <a:schemeClr val="bg1"/>
                </a:solidFill>
                <a:latin typeface="メイリオ" panose="020B0604030504040204" pitchFamily="50" charset="-128"/>
                <a:ea typeface="メイリオ" panose="020B0604030504040204" pitchFamily="50" charset="-128"/>
              </a:rPr>
              <a:t>短期と長期で各自設計</a:t>
            </a:r>
            <a:endParaRPr lang="ja-JP" altLang="ja-JP" sz="7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6762304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6673A-9013-9BC2-61FD-9A9839050AB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771EE9A-D0AE-5095-DE93-A92C03C21A4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全体設計想定</a:t>
            </a:r>
          </a:p>
        </p:txBody>
      </p:sp>
      <p:sp>
        <p:nvSpPr>
          <p:cNvPr id="9" name="正方形/長方形 8">
            <a:extLst>
              <a:ext uri="{FF2B5EF4-FFF2-40B4-BE49-F238E27FC236}">
                <a16:creationId xmlns:a16="http://schemas.microsoft.com/office/drawing/2014/main" id="{B8DDD632-F5E1-35AD-0F8F-0079C4BE2BD8}"/>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集客動線</a:t>
            </a:r>
            <a:endParaRPr kumimoji="1" lang="ja-JP" altLang="en-US" sz="1400" dirty="0">
              <a:latin typeface="メイリオ" panose="020B0604030504040204" pitchFamily="50" charset="-128"/>
              <a:ea typeface="メイリオ" panose="020B0604030504040204" pitchFamily="50" charset="-128"/>
            </a:endParaRPr>
          </a:p>
        </p:txBody>
      </p:sp>
      <p:sp>
        <p:nvSpPr>
          <p:cNvPr id="3" name="Google Shape;752;p28">
            <a:extLst>
              <a:ext uri="{FF2B5EF4-FFF2-40B4-BE49-F238E27FC236}">
                <a16:creationId xmlns:a16="http://schemas.microsoft.com/office/drawing/2014/main" id="{904F8023-0A36-6BE3-62EE-D51070498B24}"/>
              </a:ext>
            </a:extLst>
          </p:cNvPr>
          <p:cNvSpPr txBox="1"/>
          <p:nvPr/>
        </p:nvSpPr>
        <p:spPr>
          <a:xfrm>
            <a:off x="1988819" y="736332"/>
            <a:ext cx="7774305" cy="584735"/>
          </a:xfrm>
          <a:prstGeom prst="rect">
            <a:avLst/>
          </a:prstGeom>
          <a:noFill/>
          <a:ln>
            <a:noFill/>
          </a:ln>
        </p:spPr>
        <p:txBody>
          <a:bodyPr spcFirstLastPara="1" wrap="square" lIns="36000" tIns="14400" rIns="36000" bIns="14400" anchor="ctr" anchorCtr="0">
            <a:spAutoFit/>
          </a:bodyPr>
          <a:lstStyle/>
          <a:p>
            <a:pPr algn="l">
              <a:lnSpc>
                <a:spcPct val="120000"/>
              </a:lnSpc>
            </a:pPr>
            <a:r>
              <a:rPr sz="1300" b="1">
                <a:solidFill>
                  <a:srgbClr val="333333"/>
                </a:solidFill>
                <a:latin typeface="メイリオ"/>
                <a:ea typeface="メイリオ"/>
                <a:cs typeface="メイリオ"/>
              </a:rPr>
              <a:t>カスタマージャーニーマップにあわせてLINE投稿を配置。</a:t>
            </a:r>
            <a:endParaRPr lang="en-US" altLang="ja-JP" sz="1600" b="1" dirty="0">
              <a:latin typeface="メイリオ" panose="020B0604030504040204" pitchFamily="50" charset="-128"/>
              <a:ea typeface="メイリオ" panose="020B0604030504040204" pitchFamily="50" charset="-128"/>
              <a:cs typeface="Meiryo"/>
              <a:sym typeface="Meiryo"/>
            </a:endParaRPr>
          </a:p>
          <a:p>
            <a:pPr algn="l">
              <a:lnSpc>
                <a:spcPct val="120000"/>
              </a:lnSpc>
            </a:pPr>
            <a:r>
              <a:rPr sz="1100" b="1">
                <a:solidFill>
                  <a:srgbClr val="333333"/>
                </a:solidFill>
                <a:latin typeface="メイリオ"/>
                <a:ea typeface="メイリオ"/>
                <a:cs typeface="メイリオ"/>
              </a:rPr>
              <a:t>※CV3段＝【リード】友だち追加・予算診断／【有効リード】見学会・個別相談の予約／【マネタイズ】ご契約。</a:t>
            </a:r>
          </a:p>
        </p:txBody>
      </p:sp>
      <p:cxnSp>
        <p:nvCxnSpPr>
          <p:cNvPr id="2" name="直線コネクタ 1">
            <a:extLst>
              <a:ext uri="{FF2B5EF4-FFF2-40B4-BE49-F238E27FC236}">
                <a16:creationId xmlns:a16="http://schemas.microsoft.com/office/drawing/2014/main" id="{C4F647CC-1C37-666A-4F18-40C733C21920}"/>
              </a:ext>
            </a:extLst>
          </p:cNvPr>
          <p:cNvCxnSpPr>
            <a:cxnSpLocks/>
          </p:cNvCxnSpPr>
          <p:nvPr/>
        </p:nvCxnSpPr>
        <p:spPr>
          <a:xfrm>
            <a:off x="315939" y="217881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 name="直線コネクタ 4">
            <a:extLst>
              <a:ext uri="{FF2B5EF4-FFF2-40B4-BE49-F238E27FC236}">
                <a16:creationId xmlns:a16="http://schemas.microsoft.com/office/drawing/2014/main" id="{1EB69D6F-91F5-BD58-0BEA-AAD8176883FD}"/>
              </a:ext>
            </a:extLst>
          </p:cNvPr>
          <p:cNvCxnSpPr>
            <a:cxnSpLocks/>
          </p:cNvCxnSpPr>
          <p:nvPr/>
        </p:nvCxnSpPr>
        <p:spPr>
          <a:xfrm>
            <a:off x="1265077" y="219068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BE98E184-2577-3AAE-D2B8-72B4FDAC37BE}"/>
              </a:ext>
            </a:extLst>
          </p:cNvPr>
          <p:cNvCxnSpPr>
            <a:cxnSpLocks/>
          </p:cNvCxnSpPr>
          <p:nvPr/>
        </p:nvCxnSpPr>
        <p:spPr>
          <a:xfrm>
            <a:off x="2202413" y="218803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3FF32B18-EF78-43E6-F85B-06022F6E0B76}"/>
              </a:ext>
            </a:extLst>
          </p:cNvPr>
          <p:cNvCxnSpPr>
            <a:cxnSpLocks/>
          </p:cNvCxnSpPr>
          <p:nvPr/>
        </p:nvCxnSpPr>
        <p:spPr>
          <a:xfrm>
            <a:off x="3136468" y="220735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972D4A84-F812-745D-8012-250B4552B997}"/>
              </a:ext>
            </a:extLst>
          </p:cNvPr>
          <p:cNvCxnSpPr>
            <a:cxnSpLocks/>
          </p:cNvCxnSpPr>
          <p:nvPr/>
        </p:nvCxnSpPr>
        <p:spPr>
          <a:xfrm>
            <a:off x="3541980" y="221793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844AC577-5EFA-CB60-B4CF-22AC71B2AE31}"/>
              </a:ext>
            </a:extLst>
          </p:cNvPr>
          <p:cNvCxnSpPr>
            <a:cxnSpLocks/>
          </p:cNvCxnSpPr>
          <p:nvPr/>
        </p:nvCxnSpPr>
        <p:spPr>
          <a:xfrm>
            <a:off x="4833781" y="222980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2F10844F-FFBB-F47D-A888-4E74272E000D}"/>
              </a:ext>
            </a:extLst>
          </p:cNvPr>
          <p:cNvCxnSpPr>
            <a:cxnSpLocks/>
          </p:cNvCxnSpPr>
          <p:nvPr/>
        </p:nvCxnSpPr>
        <p:spPr>
          <a:xfrm>
            <a:off x="6125582" y="222716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7A83D6DE-2FDB-43D7-254C-963478133303}"/>
              </a:ext>
            </a:extLst>
          </p:cNvPr>
          <p:cNvCxnSpPr>
            <a:cxnSpLocks/>
          </p:cNvCxnSpPr>
          <p:nvPr/>
        </p:nvCxnSpPr>
        <p:spPr>
          <a:xfrm>
            <a:off x="7417384" y="221793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51F88B17-D24B-2FBF-DD4F-ACEDA2F1108B}"/>
              </a:ext>
            </a:extLst>
          </p:cNvPr>
          <p:cNvSpPr txBox="1"/>
          <p:nvPr/>
        </p:nvSpPr>
        <p:spPr>
          <a:xfrm>
            <a:off x="3542139" y="212416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13CCD889-9CB5-A25E-FF4C-285CF082C6EB}"/>
              </a:ext>
            </a:extLst>
          </p:cNvPr>
          <p:cNvSpPr txBox="1"/>
          <p:nvPr/>
        </p:nvSpPr>
        <p:spPr>
          <a:xfrm>
            <a:off x="6119413" y="253332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752D241B-7DDC-C05A-C891-858C99F0C81E}"/>
              </a:ext>
            </a:extLst>
          </p:cNvPr>
          <p:cNvSpPr txBox="1"/>
          <p:nvPr/>
        </p:nvSpPr>
        <p:spPr>
          <a:xfrm>
            <a:off x="4830776" y="232874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093F3B9E-1884-4283-7D47-92DF224DA02A}"/>
              </a:ext>
            </a:extLst>
          </p:cNvPr>
          <p:cNvSpPr txBox="1"/>
          <p:nvPr/>
        </p:nvSpPr>
        <p:spPr>
          <a:xfrm>
            <a:off x="7408050" y="273790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4B719D4F-60B6-01FD-6088-ACFD3B9EC8DD}"/>
              </a:ext>
            </a:extLst>
          </p:cNvPr>
          <p:cNvSpPr txBox="1"/>
          <p:nvPr/>
        </p:nvSpPr>
        <p:spPr>
          <a:xfrm>
            <a:off x="334303" y="213025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19" name="テキスト ボックス 18">
            <a:extLst>
              <a:ext uri="{FF2B5EF4-FFF2-40B4-BE49-F238E27FC236}">
                <a16:creationId xmlns:a16="http://schemas.microsoft.com/office/drawing/2014/main" id="{71407A20-3836-331E-F2F0-E75DDCF73BA0}"/>
              </a:ext>
            </a:extLst>
          </p:cNvPr>
          <p:cNvSpPr txBox="1"/>
          <p:nvPr/>
        </p:nvSpPr>
        <p:spPr>
          <a:xfrm>
            <a:off x="1268358" y="234091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F491CCB4-D02F-C3F5-CFB9-18B13F066C52}"/>
              </a:ext>
            </a:extLst>
          </p:cNvPr>
          <p:cNvSpPr txBox="1"/>
          <p:nvPr/>
        </p:nvSpPr>
        <p:spPr>
          <a:xfrm>
            <a:off x="2202413" y="253502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21" name="テキスト ボックス 20">
            <a:extLst>
              <a:ext uri="{FF2B5EF4-FFF2-40B4-BE49-F238E27FC236}">
                <a16:creationId xmlns:a16="http://schemas.microsoft.com/office/drawing/2014/main" id="{B68B9CA1-0E61-C60C-128F-E80096EDD924}"/>
              </a:ext>
            </a:extLst>
          </p:cNvPr>
          <p:cNvSpPr txBox="1"/>
          <p:nvPr/>
        </p:nvSpPr>
        <p:spPr>
          <a:xfrm>
            <a:off x="3136468" y="273137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22" name="コネクタ: カギ線 21">
            <a:extLst>
              <a:ext uri="{FF2B5EF4-FFF2-40B4-BE49-F238E27FC236}">
                <a16:creationId xmlns:a16="http://schemas.microsoft.com/office/drawing/2014/main" id="{56D3FA3C-F4ED-9DF1-7620-D677AB1A2177}"/>
              </a:ext>
            </a:extLst>
          </p:cNvPr>
          <p:cNvCxnSpPr>
            <a:cxnSpLocks/>
            <a:stCxn id="21" idx="0"/>
            <a:endCxn id="14" idx="2"/>
          </p:cNvCxnSpPr>
          <p:nvPr/>
        </p:nvCxnSpPr>
        <p:spPr>
          <a:xfrm rot="5400000" flipH="1" flipV="1">
            <a:off x="4282287" y="249442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44C83840-BFD9-E321-B4A5-19CD2533BF03}"/>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0" name="直線矢印コネクタ 29">
            <a:extLst>
              <a:ext uri="{FF2B5EF4-FFF2-40B4-BE49-F238E27FC236}">
                <a16:creationId xmlns:a16="http://schemas.microsoft.com/office/drawing/2014/main" id="{A1D5B73B-C438-03CD-3074-9F6465469319}"/>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221EB000-BCEE-D984-49E6-5421F03CC7D6}"/>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59" name="テキスト ボックス 58">
            <a:extLst>
              <a:ext uri="{FF2B5EF4-FFF2-40B4-BE49-F238E27FC236}">
                <a16:creationId xmlns:a16="http://schemas.microsoft.com/office/drawing/2014/main" id="{BF3977E5-B33C-C6FC-10BA-8F52ECFB03CA}"/>
              </a:ext>
            </a:extLst>
          </p:cNvPr>
          <p:cNvSpPr txBox="1"/>
          <p:nvPr/>
        </p:nvSpPr>
        <p:spPr>
          <a:xfrm>
            <a:off x="3541822" y="4051926"/>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リード有効化</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61" name="テキスト ボックス 60">
            <a:extLst>
              <a:ext uri="{FF2B5EF4-FFF2-40B4-BE49-F238E27FC236}">
                <a16:creationId xmlns:a16="http://schemas.microsoft.com/office/drawing/2014/main" id="{D6206F79-4BB4-7551-FF37-4057DB323042}"/>
              </a:ext>
            </a:extLst>
          </p:cNvPr>
          <p:cNvSpPr txBox="1"/>
          <p:nvPr/>
        </p:nvSpPr>
        <p:spPr>
          <a:xfrm>
            <a:off x="6119096" y="5110696"/>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⑦マネタイズ</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成約</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購入</a:t>
            </a:r>
            <a:r>
              <a:rPr lang="en-US" altLang="ja-JP" sz="1000" b="1" dirty="0">
                <a:solidFill>
                  <a:schemeClr val="bg1"/>
                </a:solidFill>
                <a:latin typeface="メイリオ" panose="020B0604030504040204" pitchFamily="50" charset="-128"/>
                <a:ea typeface="メイリオ" panose="020B0604030504040204" pitchFamily="50" charset="-128"/>
              </a:rPr>
              <a:t>)</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63" name="テキスト ボックス 62">
            <a:extLst>
              <a:ext uri="{FF2B5EF4-FFF2-40B4-BE49-F238E27FC236}">
                <a16:creationId xmlns:a16="http://schemas.microsoft.com/office/drawing/2014/main" id="{2D803312-8977-E9CF-359E-78896D5177A7}"/>
              </a:ext>
            </a:extLst>
          </p:cNvPr>
          <p:cNvSpPr txBox="1"/>
          <p:nvPr/>
        </p:nvSpPr>
        <p:spPr>
          <a:xfrm>
            <a:off x="4830459" y="4581311"/>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⑥ 有効リードの再育成</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65" name="テキスト ボックス 64">
            <a:extLst>
              <a:ext uri="{FF2B5EF4-FFF2-40B4-BE49-F238E27FC236}">
                <a16:creationId xmlns:a16="http://schemas.microsoft.com/office/drawing/2014/main" id="{EC4FAF12-FDAC-B48D-B571-CC028A01229C}"/>
              </a:ext>
            </a:extLst>
          </p:cNvPr>
          <p:cNvSpPr txBox="1"/>
          <p:nvPr/>
        </p:nvSpPr>
        <p:spPr>
          <a:xfrm>
            <a:off x="7408050" y="5640081"/>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a:t>
            </a:r>
            <a:r>
              <a:rPr lang="en-US" altLang="ja-JP" sz="1100" b="1" dirty="0">
                <a:solidFill>
                  <a:schemeClr val="bg1"/>
                </a:solidFill>
                <a:latin typeface="メイリオ" panose="020B0604030504040204" pitchFamily="50" charset="-128"/>
                <a:ea typeface="メイリオ" panose="020B0604030504040204" pitchFamily="50" charset="-128"/>
              </a:rPr>
              <a:t>LTV</a:t>
            </a:r>
            <a:r>
              <a:rPr lang="ja-JP" altLang="en-US" sz="1100" b="1" dirty="0">
                <a:solidFill>
                  <a:schemeClr val="bg1"/>
                </a:solidFill>
                <a:latin typeface="メイリオ" panose="020B0604030504040204" pitchFamily="50" charset="-128"/>
                <a:ea typeface="メイリオ" panose="020B0604030504040204" pitchFamily="50" charset="-128"/>
              </a:rPr>
              <a:t>最大化・紹介</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
        <p:nvSpPr>
          <p:cNvPr id="69" name="テキスト ボックス 68">
            <a:extLst>
              <a:ext uri="{FF2B5EF4-FFF2-40B4-BE49-F238E27FC236}">
                <a16:creationId xmlns:a16="http://schemas.microsoft.com/office/drawing/2014/main" id="{78DCEB5B-FCE6-A4B7-134E-DC51AE101C96}"/>
              </a:ext>
            </a:extLst>
          </p:cNvPr>
          <p:cNvSpPr txBox="1"/>
          <p:nvPr/>
        </p:nvSpPr>
        <p:spPr>
          <a:xfrm>
            <a:off x="334303" y="3527824"/>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endParaRPr lang="en-US" altLang="ja-JP" sz="1100" b="1" dirty="0">
              <a:latin typeface="メイリオ" panose="020B0604030504040204" pitchFamily="50" charset="-128"/>
              <a:ea typeface="メイリオ" panose="020B0604030504040204" pitchFamily="50" charset="-128"/>
            </a:endParaRPr>
          </a:p>
        </p:txBody>
      </p:sp>
      <p:sp>
        <p:nvSpPr>
          <p:cNvPr id="71" name="テキスト ボックス 70">
            <a:extLst>
              <a:ext uri="{FF2B5EF4-FFF2-40B4-BE49-F238E27FC236}">
                <a16:creationId xmlns:a16="http://schemas.microsoft.com/office/drawing/2014/main" id="{7489B5AC-E8EC-12A6-77B1-767D57C6C111}"/>
              </a:ext>
            </a:extLst>
          </p:cNvPr>
          <p:cNvSpPr txBox="1"/>
          <p:nvPr/>
        </p:nvSpPr>
        <p:spPr>
          <a:xfrm>
            <a:off x="1268358" y="4051926"/>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en-US" altLang="ja-JP" sz="1100" b="1" dirty="0">
              <a:latin typeface="メイリオ" panose="020B0604030504040204" pitchFamily="50" charset="-128"/>
              <a:ea typeface="メイリオ" panose="020B0604030504040204" pitchFamily="50" charset="-128"/>
            </a:endParaRPr>
          </a:p>
        </p:txBody>
      </p:sp>
      <p:sp>
        <p:nvSpPr>
          <p:cNvPr id="73" name="テキスト ボックス 72">
            <a:extLst>
              <a:ext uri="{FF2B5EF4-FFF2-40B4-BE49-F238E27FC236}">
                <a16:creationId xmlns:a16="http://schemas.microsoft.com/office/drawing/2014/main" id="{3C51428D-94BF-DEDC-89ED-6FC6DD5D8DDB}"/>
              </a:ext>
            </a:extLst>
          </p:cNvPr>
          <p:cNvSpPr txBox="1"/>
          <p:nvPr/>
        </p:nvSpPr>
        <p:spPr>
          <a:xfrm>
            <a:off x="2202413" y="4576028"/>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p:txBody>
      </p:sp>
      <p:sp>
        <p:nvSpPr>
          <p:cNvPr id="75" name="テキスト ボックス 74">
            <a:extLst>
              <a:ext uri="{FF2B5EF4-FFF2-40B4-BE49-F238E27FC236}">
                <a16:creationId xmlns:a16="http://schemas.microsoft.com/office/drawing/2014/main" id="{70A8450A-EBDB-52BF-A9C2-03CB7CC3C8E9}"/>
              </a:ext>
            </a:extLst>
          </p:cNvPr>
          <p:cNvSpPr txBox="1"/>
          <p:nvPr/>
        </p:nvSpPr>
        <p:spPr>
          <a:xfrm>
            <a:off x="3132447" y="5100131"/>
            <a:ext cx="1868111" cy="261610"/>
          </a:xfrm>
          <a:prstGeom prst="rect">
            <a:avLst/>
          </a:prstGeom>
          <a:solidFill>
            <a:srgbClr val="FFC000"/>
          </a:solidFill>
          <a:ln>
            <a:noFill/>
          </a:ln>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p>
        </p:txBody>
      </p:sp>
    </p:spTree>
    <p:extLst>
      <p:ext uri="{BB962C8B-B14F-4D97-AF65-F5344CB8AC3E}">
        <p14:creationId xmlns:p14="http://schemas.microsoft.com/office/powerpoint/2010/main" val="35094802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58B38-C7A2-1CE4-FDFD-8D6A744BB635}"/>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rIns="0" tIns="21600" bIns="21600" anchor="ctr">
            <a:spAutoFit/>
          </a:bodyPr>
          <a:lstStyle/>
          <a:p>
            <a:pPr algn="l"/>
            <a:r>
              <a:rPr sz="1600" b="1">
                <a:solidFill>
                  <a:srgbClr val="002060"/>
                </a:solidFill>
                <a:latin typeface="メイリオ"/>
                <a:ea typeface="メイリオ"/>
                <a:cs typeface="メイリオ"/>
              </a:rPr>
              <a:t>市場環境｜検索広告におけるCPCの推移</a:t>
            </a:r>
          </a:p>
        </p:txBody>
      </p:sp>
      <p:sp>
        <p:nvSpPr>
          <p:cNvPr id="3" name="TextBox 2"/>
          <p:cNvSpPr txBox="1"/>
          <p:nvPr/>
        </p:nvSpPr>
        <p:spPr>
          <a:xfrm>
            <a:off x="432000" y="648000"/>
            <a:ext cx="9036000" cy="684000"/>
          </a:xfrm>
          <a:prstGeom prst="rect">
            <a:avLst/>
          </a:prstGeom>
          <a:noFill/>
        </p:spPr>
        <p:txBody>
          <a:bodyPr wrap="square" lIns="0" rIns="0" tIns="21600" bIns="21600" anchor="ctr">
            <a:spAutoFit/>
          </a:bodyPr>
          <a:lstStyle/>
          <a:p>
            <a:pPr algn="l">
              <a:lnSpc>
                <a:spcPct val="128000"/>
              </a:lnSpc>
            </a:pPr>
            <a:r>
              <a:rPr sz="1200">
                <a:solidFill>
                  <a:srgbClr val="333333"/>
                </a:solidFill>
                <a:latin typeface="メイリオ"/>
                <a:ea typeface="メイリオ"/>
                <a:cs typeface="メイリオ"/>
              </a:rPr>
              <a:t>注文住宅の主要KWは3年でCPCが約1.45倍。一方で検索需要はほぼ横ばいのため、</a:t>
            </a:r>
          </a:p>
          <a:p>
            <a:pPr algn="l">
              <a:lnSpc>
                <a:spcPct val="128000"/>
              </a:lnSpc>
            </a:pPr>
            <a:r>
              <a:rPr sz="1200">
                <a:solidFill>
                  <a:srgbClr val="333333"/>
                </a:solidFill>
                <a:latin typeface="メイリオ"/>
                <a:ea typeface="メイリオ"/>
                <a:cs typeface="メイリオ"/>
              </a:rPr>
              <a:t>同一の契約棟数を維持するコストが構造的に増え続けている状態。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76000" y="1612799"/>
            <a:ext cx="4536000" cy="198000"/>
          </a:xfrm>
          <a:prstGeom prst="rect">
            <a:avLst/>
          </a:prstGeom>
          <a:noFill/>
        </p:spPr>
        <p:txBody>
          <a:bodyPr wrap="square" lIns="0" rIns="50400" tIns="21600" bIns="21600" anchor="t">
            <a:spAutoFit/>
          </a:bodyPr>
          <a:lstStyle/>
          <a:p>
            <a:pPr algn="l"/>
            <a:r>
              <a:rPr sz="950" b="1">
                <a:solidFill>
                  <a:srgbClr val="1F285A"/>
                </a:solidFill>
                <a:latin typeface="メイリオ"/>
                <a:ea typeface="メイリオ"/>
                <a:cs typeface="メイリオ"/>
              </a:rPr>
              <a:t>平均CPC（円）｜「注文住宅＋地域名」系キーワード</a:t>
            </a:r>
          </a:p>
        </p:txBody>
      </p:sp>
      <p:sp>
        <p:nvSpPr>
          <p:cNvPr id="6" name="Rectangle 5"/>
          <p:cNvSpPr/>
          <p:nvPr/>
        </p:nvSpPr>
        <p:spPr>
          <a:xfrm>
            <a:off x="1044000" y="3168000"/>
            <a:ext cx="666000" cy="1565999"/>
          </a:xfrm>
          <a:prstGeom prst="rect">
            <a:avLst/>
          </a:prstGeom>
          <a:solidFill>
            <a:srgbClr val="F4B1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2800" y="2930400"/>
            <a:ext cx="968400" cy="201600"/>
          </a:xfrm>
          <a:prstGeom prst="rect">
            <a:avLst/>
          </a:prstGeom>
          <a:noFill/>
        </p:spPr>
        <p:txBody>
          <a:bodyPr wrap="square" lIns="0" rIns="0" tIns="21600" bIns="21600" anchor="t">
            <a:spAutoFit/>
          </a:bodyPr>
          <a:lstStyle/>
          <a:p>
            <a:pPr algn="ctr"/>
            <a:r>
              <a:rPr sz="900" b="1">
                <a:solidFill>
                  <a:srgbClr val="333333"/>
                </a:solidFill>
                <a:latin typeface="メイリオ"/>
                <a:ea typeface="メイリオ"/>
                <a:cs typeface="メイリオ"/>
              </a:rPr>
              <a:t>420円</a:t>
            </a:r>
          </a:p>
        </p:txBody>
      </p:sp>
      <p:sp>
        <p:nvSpPr>
          <p:cNvPr id="8" name="TextBox 7"/>
          <p:cNvSpPr txBox="1"/>
          <p:nvPr/>
        </p:nvSpPr>
        <p:spPr>
          <a:xfrm>
            <a:off x="892800" y="4770000"/>
            <a:ext cx="968400" cy="187200"/>
          </a:xfrm>
          <a:prstGeom prst="rect">
            <a:avLst/>
          </a:prstGeom>
          <a:noFill/>
        </p:spPr>
        <p:txBody>
          <a:bodyPr wrap="square" lIns="0" rIns="0" tIns="21600" bIns="21600" anchor="t">
            <a:spAutoFit/>
          </a:bodyPr>
          <a:lstStyle/>
          <a:p>
            <a:pPr algn="ctr"/>
            <a:r>
              <a:rPr sz="850">
                <a:solidFill>
                  <a:srgbClr val="333333"/>
                </a:solidFill>
                <a:latin typeface="メイリオ"/>
                <a:ea typeface="メイリオ"/>
                <a:cs typeface="メイリオ"/>
              </a:rPr>
              <a:t>2023年</a:t>
            </a:r>
          </a:p>
        </p:txBody>
      </p:sp>
      <p:sp>
        <p:nvSpPr>
          <p:cNvPr id="9" name="Rectangle 8"/>
          <p:cNvSpPr/>
          <p:nvPr/>
        </p:nvSpPr>
        <p:spPr>
          <a:xfrm>
            <a:off x="2088000" y="2944285"/>
            <a:ext cx="666000" cy="1789714"/>
          </a:xfrm>
          <a:prstGeom prst="rect">
            <a:avLst/>
          </a:prstGeom>
          <a:solidFill>
            <a:srgbClr val="F4B1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936800" y="2706685"/>
            <a:ext cx="968400" cy="201600"/>
          </a:xfrm>
          <a:prstGeom prst="rect">
            <a:avLst/>
          </a:prstGeom>
          <a:noFill/>
        </p:spPr>
        <p:txBody>
          <a:bodyPr wrap="square" lIns="0" rIns="0" tIns="21600" bIns="21600" anchor="t">
            <a:spAutoFit/>
          </a:bodyPr>
          <a:lstStyle/>
          <a:p>
            <a:pPr algn="ctr"/>
            <a:r>
              <a:rPr sz="900" b="1">
                <a:solidFill>
                  <a:srgbClr val="333333"/>
                </a:solidFill>
                <a:latin typeface="メイリオ"/>
                <a:ea typeface="メイリオ"/>
                <a:cs typeface="メイリオ"/>
              </a:rPr>
              <a:t>480円</a:t>
            </a:r>
          </a:p>
        </p:txBody>
      </p:sp>
      <p:sp>
        <p:nvSpPr>
          <p:cNvPr id="11" name="TextBox 10"/>
          <p:cNvSpPr txBox="1"/>
          <p:nvPr/>
        </p:nvSpPr>
        <p:spPr>
          <a:xfrm>
            <a:off x="1936800" y="4770000"/>
            <a:ext cx="968400" cy="187200"/>
          </a:xfrm>
          <a:prstGeom prst="rect">
            <a:avLst/>
          </a:prstGeom>
          <a:noFill/>
        </p:spPr>
        <p:txBody>
          <a:bodyPr wrap="square" lIns="0" rIns="0" tIns="21600" bIns="21600" anchor="t">
            <a:spAutoFit/>
          </a:bodyPr>
          <a:lstStyle/>
          <a:p>
            <a:pPr algn="ctr"/>
            <a:r>
              <a:rPr sz="850">
                <a:solidFill>
                  <a:srgbClr val="333333"/>
                </a:solidFill>
                <a:latin typeface="メイリオ"/>
                <a:ea typeface="メイリオ"/>
                <a:cs typeface="メイリオ"/>
              </a:rPr>
              <a:t>2024年</a:t>
            </a:r>
          </a:p>
        </p:txBody>
      </p:sp>
      <p:sp>
        <p:nvSpPr>
          <p:cNvPr id="12" name="Rectangle 11"/>
          <p:cNvSpPr/>
          <p:nvPr/>
        </p:nvSpPr>
        <p:spPr>
          <a:xfrm>
            <a:off x="3132000" y="2701928"/>
            <a:ext cx="666000" cy="2032071"/>
          </a:xfrm>
          <a:prstGeom prst="rect">
            <a:avLst/>
          </a:prstGeom>
          <a:solidFill>
            <a:srgbClr val="F4B1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80800" y="2464328"/>
            <a:ext cx="968400" cy="201600"/>
          </a:xfrm>
          <a:prstGeom prst="rect">
            <a:avLst/>
          </a:prstGeom>
          <a:noFill/>
        </p:spPr>
        <p:txBody>
          <a:bodyPr wrap="square" lIns="0" rIns="0" tIns="21600" bIns="21600" anchor="t">
            <a:spAutoFit/>
          </a:bodyPr>
          <a:lstStyle/>
          <a:p>
            <a:pPr algn="ctr"/>
            <a:r>
              <a:rPr sz="900" b="1">
                <a:solidFill>
                  <a:srgbClr val="333333"/>
                </a:solidFill>
                <a:latin typeface="メイリオ"/>
                <a:ea typeface="メイリオ"/>
                <a:cs typeface="メイリオ"/>
              </a:rPr>
              <a:t>545円</a:t>
            </a:r>
          </a:p>
        </p:txBody>
      </p:sp>
      <p:sp>
        <p:nvSpPr>
          <p:cNvPr id="14" name="TextBox 13"/>
          <p:cNvSpPr txBox="1"/>
          <p:nvPr/>
        </p:nvSpPr>
        <p:spPr>
          <a:xfrm>
            <a:off x="2980800" y="4770000"/>
            <a:ext cx="968400" cy="187200"/>
          </a:xfrm>
          <a:prstGeom prst="rect">
            <a:avLst/>
          </a:prstGeom>
          <a:noFill/>
        </p:spPr>
        <p:txBody>
          <a:bodyPr wrap="square" lIns="0" rIns="0" tIns="21600" bIns="21600" anchor="t">
            <a:spAutoFit/>
          </a:bodyPr>
          <a:lstStyle/>
          <a:p>
            <a:pPr algn="ctr"/>
            <a:r>
              <a:rPr sz="850">
                <a:solidFill>
                  <a:srgbClr val="333333"/>
                </a:solidFill>
                <a:latin typeface="メイリオ"/>
                <a:ea typeface="メイリオ"/>
                <a:cs typeface="メイリオ"/>
              </a:rPr>
              <a:t>2025年</a:t>
            </a:r>
          </a:p>
        </p:txBody>
      </p:sp>
      <p:sp>
        <p:nvSpPr>
          <p:cNvPr id="15" name="Rectangle 14"/>
          <p:cNvSpPr/>
          <p:nvPr/>
        </p:nvSpPr>
        <p:spPr>
          <a:xfrm>
            <a:off x="4176000" y="2459571"/>
            <a:ext cx="666000" cy="2274428"/>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24800" y="2221971"/>
            <a:ext cx="968400" cy="201600"/>
          </a:xfrm>
          <a:prstGeom prst="rect">
            <a:avLst/>
          </a:prstGeom>
          <a:noFill/>
        </p:spPr>
        <p:txBody>
          <a:bodyPr wrap="square" lIns="0" rIns="0" tIns="21600" bIns="21600" anchor="t">
            <a:spAutoFit/>
          </a:bodyPr>
          <a:lstStyle/>
          <a:p>
            <a:pPr algn="ctr"/>
            <a:r>
              <a:rPr sz="1000" b="1">
                <a:solidFill>
                  <a:srgbClr val="ED7D31"/>
                </a:solidFill>
                <a:latin typeface="メイリオ"/>
                <a:ea typeface="メイリオ"/>
                <a:cs typeface="メイリオ"/>
              </a:rPr>
              <a:t>610円</a:t>
            </a:r>
          </a:p>
        </p:txBody>
      </p:sp>
      <p:sp>
        <p:nvSpPr>
          <p:cNvPr id="17" name="TextBox 16"/>
          <p:cNvSpPr txBox="1"/>
          <p:nvPr/>
        </p:nvSpPr>
        <p:spPr>
          <a:xfrm>
            <a:off x="4024800" y="4770000"/>
            <a:ext cx="968400" cy="187200"/>
          </a:xfrm>
          <a:prstGeom prst="rect">
            <a:avLst/>
          </a:prstGeom>
          <a:noFill/>
        </p:spPr>
        <p:txBody>
          <a:bodyPr wrap="square" lIns="0" rIns="0" tIns="21600" bIns="21600" anchor="t">
            <a:spAutoFit/>
          </a:bodyPr>
          <a:lstStyle/>
          <a:p>
            <a:pPr algn="ctr"/>
            <a:r>
              <a:rPr sz="850">
                <a:solidFill>
                  <a:srgbClr val="333333"/>
                </a:solidFill>
                <a:latin typeface="メイリオ"/>
                <a:ea typeface="メイリオ"/>
                <a:cs typeface="メイリオ"/>
              </a:rPr>
              <a:t>2026年</a:t>
            </a:r>
          </a:p>
        </p:txBody>
      </p:sp>
      <p:cxnSp>
        <p:nvCxnSpPr>
          <p:cNvPr id="18" name="Connector 17"/>
          <p:cNvCxnSpPr/>
          <p:nvPr/>
        </p:nvCxnSpPr>
        <p:spPr>
          <a:xfrm>
            <a:off x="827999" y="4734000"/>
            <a:ext cx="4140001" cy="0"/>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3671999" y="1943999"/>
            <a:ext cx="1188000" cy="288000"/>
          </a:xfrm>
          <a:prstGeom prst="roundRect">
            <a:avLst>
              <a:gd name="adj" fmla="val 6000"/>
            </a:avLst>
          </a:prstGeom>
          <a:solidFill>
            <a:srgbClr val="FCE4D6"/>
          </a:solidFill>
          <a:ln w="1270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wrap="square" lIns="21600" rIns="21600" tIns="0" bIns="0"/>
          <a:lstStyle/>
          <a:p>
            <a:pPr algn="ctr"/>
            <a:r>
              <a:rPr sz="850" b="1">
                <a:solidFill>
                  <a:srgbClr val="ED7D31"/>
                </a:solidFill>
                <a:latin typeface="メイリオ"/>
                <a:ea typeface="メイリオ"/>
                <a:cs typeface="メイリオ"/>
              </a:rPr>
              <a:t>3年で 1.45倍</a:t>
            </a:r>
          </a:p>
        </p:txBody>
      </p:sp>
      <p:sp>
        <p:nvSpPr>
          <p:cNvPr id="20" name="TextBox 19"/>
          <p:cNvSpPr txBox="1"/>
          <p:nvPr/>
        </p:nvSpPr>
        <p:spPr>
          <a:xfrm>
            <a:off x="5436000" y="1612799"/>
            <a:ext cx="4031999" cy="198000"/>
          </a:xfrm>
          <a:prstGeom prst="rect">
            <a:avLst/>
          </a:prstGeom>
          <a:noFill/>
        </p:spPr>
        <p:txBody>
          <a:bodyPr wrap="square" lIns="0" rIns="50400" tIns="21600" bIns="21600" anchor="t">
            <a:spAutoFit/>
          </a:bodyPr>
          <a:lstStyle/>
          <a:p>
            <a:pPr algn="l"/>
            <a:r>
              <a:rPr sz="950" b="1">
                <a:solidFill>
                  <a:srgbClr val="1F285A"/>
                </a:solidFill>
                <a:latin typeface="メイリオ"/>
                <a:ea typeface="メイリオ"/>
                <a:cs typeface="メイリオ"/>
              </a:rPr>
              <a:t>CPCを押し上げている3つの層</a:t>
            </a:r>
          </a:p>
        </p:txBody>
      </p:sp>
      <p:sp>
        <p:nvSpPr>
          <p:cNvPr id="21" name="Rounded Rectangle 20"/>
          <p:cNvSpPr/>
          <p:nvPr/>
        </p:nvSpPr>
        <p:spPr>
          <a:xfrm>
            <a:off x="5436000" y="1835999"/>
            <a:ext cx="4031999" cy="810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9200" rIns="64800" tIns="50400" bIns="36000"/>
          <a:lstStyle/>
          <a:p>
            <a:pPr algn="l">
              <a:spcAft>
                <a:spcPts val="300"/>
              </a:spcAft>
            </a:pPr>
            <a:r>
              <a:rPr sz="1050" b="1">
                <a:solidFill>
                  <a:srgbClr val="1F285A"/>
                </a:solidFill>
                <a:latin typeface="メイリオ"/>
                <a:ea typeface="メイリオ"/>
                <a:cs typeface="メイリオ"/>
              </a:rPr>
              <a:t>① 市場競争要因</a:t>
            </a:r>
          </a:p>
          <a:p>
            <a:pPr algn="l">
              <a:lnSpc>
                <a:spcPct val="118000"/>
              </a:lnSpc>
              <a:spcAft>
                <a:spcPts val="100"/>
              </a:spcAft>
            </a:pPr>
            <a:r>
              <a:rPr sz="850">
                <a:solidFill>
                  <a:srgbClr val="333333"/>
                </a:solidFill>
                <a:latin typeface="メイリオ"/>
                <a:ea typeface="メイリオ"/>
                <a:cs typeface="メイリオ"/>
              </a:rPr>
              <a:t>着工棟数は減少局面。同じパイを大手・ローコスト・</a:t>
            </a:r>
          </a:p>
          <a:p>
            <a:pPr algn="l">
              <a:lnSpc>
                <a:spcPct val="118000"/>
              </a:lnSpc>
              <a:spcAft>
                <a:spcPts val="100"/>
              </a:spcAft>
            </a:pPr>
            <a:r>
              <a:rPr sz="850">
                <a:solidFill>
                  <a:srgbClr val="333333"/>
                </a:solidFill>
                <a:latin typeface="メイリオ"/>
                <a:ea typeface="メイリオ"/>
                <a:cs typeface="メイリオ"/>
              </a:rPr>
              <a:t>地場ビルダーで奪い合う → 同一KWの入札社数が増加</a:t>
            </a:r>
          </a:p>
        </p:txBody>
      </p:sp>
      <p:sp>
        <p:nvSpPr>
          <p:cNvPr id="22" name="Rounded Rectangle 21"/>
          <p:cNvSpPr/>
          <p:nvPr/>
        </p:nvSpPr>
        <p:spPr>
          <a:xfrm>
            <a:off x="5436000" y="2754000"/>
            <a:ext cx="4031999" cy="810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9200" rIns="64800" tIns="50400" bIns="36000"/>
          <a:lstStyle/>
          <a:p>
            <a:pPr algn="l">
              <a:spcAft>
                <a:spcPts val="300"/>
              </a:spcAft>
            </a:pPr>
            <a:r>
              <a:rPr sz="1050" b="1">
                <a:solidFill>
                  <a:srgbClr val="1F285A"/>
                </a:solidFill>
                <a:latin typeface="メイリオ"/>
                <a:ea typeface="メイリオ"/>
                <a:cs typeface="メイリオ"/>
              </a:rPr>
              <a:t>② マクロ経済要因</a:t>
            </a:r>
          </a:p>
          <a:p>
            <a:pPr algn="l">
              <a:lnSpc>
                <a:spcPct val="118000"/>
              </a:lnSpc>
              <a:spcAft>
                <a:spcPts val="100"/>
              </a:spcAft>
            </a:pPr>
            <a:r>
              <a:rPr sz="850">
                <a:solidFill>
                  <a:srgbClr val="333333"/>
                </a:solidFill>
                <a:latin typeface="メイリオ"/>
                <a:ea typeface="メイリオ"/>
                <a:cs typeface="メイリオ"/>
              </a:rPr>
              <a:t>建築資材・人件費の上昇で1棟あたり原価が上昇 →</a:t>
            </a:r>
          </a:p>
          <a:p>
            <a:pPr algn="l">
              <a:lnSpc>
                <a:spcPct val="118000"/>
              </a:lnSpc>
              <a:spcAft>
                <a:spcPts val="100"/>
              </a:spcAft>
            </a:pPr>
            <a:r>
              <a:rPr sz="850">
                <a:solidFill>
                  <a:srgbClr val="333333"/>
                </a:solidFill>
                <a:latin typeface="メイリオ"/>
                <a:ea typeface="メイリオ"/>
                <a:cs typeface="メイリオ"/>
              </a:rPr>
              <a:t>各社が許容CPAを引き上げてでも獲りに来る</a:t>
            </a:r>
          </a:p>
        </p:txBody>
      </p:sp>
      <p:sp>
        <p:nvSpPr>
          <p:cNvPr id="23" name="Rounded Rectangle 22"/>
          <p:cNvSpPr/>
          <p:nvPr/>
        </p:nvSpPr>
        <p:spPr>
          <a:xfrm>
            <a:off x="5436000" y="3671999"/>
            <a:ext cx="4031999" cy="810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9200" rIns="64800" tIns="50400" bIns="36000"/>
          <a:lstStyle/>
          <a:p>
            <a:pPr algn="l">
              <a:spcAft>
                <a:spcPts val="300"/>
              </a:spcAft>
            </a:pPr>
            <a:r>
              <a:rPr sz="1050" b="1">
                <a:solidFill>
                  <a:srgbClr val="1F285A"/>
                </a:solidFill>
                <a:latin typeface="メイリオ"/>
                <a:ea typeface="メイリオ"/>
                <a:cs typeface="メイリオ"/>
              </a:rPr>
              <a:t>③ 媒体・技術要因</a:t>
            </a:r>
          </a:p>
          <a:p>
            <a:pPr algn="l">
              <a:lnSpc>
                <a:spcPct val="118000"/>
              </a:lnSpc>
              <a:spcAft>
                <a:spcPts val="100"/>
              </a:spcAft>
            </a:pPr>
            <a:r>
              <a:rPr sz="850">
                <a:solidFill>
                  <a:srgbClr val="333333"/>
                </a:solidFill>
                <a:latin typeface="メイリオ"/>
                <a:ea typeface="メイリオ"/>
                <a:cs typeface="メイリオ"/>
              </a:rPr>
              <a:t>検索結果最上部のAI要約（AIO）でサイトに来ずに解決 →</a:t>
            </a:r>
          </a:p>
          <a:p>
            <a:pPr algn="l">
              <a:lnSpc>
                <a:spcPct val="118000"/>
              </a:lnSpc>
              <a:spcAft>
                <a:spcPts val="100"/>
              </a:spcAft>
            </a:pPr>
            <a:r>
              <a:rPr sz="850">
                <a:solidFill>
                  <a:srgbClr val="333333"/>
                </a:solidFill>
                <a:latin typeface="メイリオ"/>
                <a:ea typeface="メイリオ"/>
                <a:cs typeface="メイリオ"/>
              </a:rPr>
              <a:t>「相場」「後悔」など情報収集KWの流入が構造的に減少</a:t>
            </a:r>
          </a:p>
        </p:txBody>
      </p:sp>
      <p:sp>
        <p:nvSpPr>
          <p:cNvPr id="24" name="Rounded Rectangle 23"/>
          <p:cNvSpPr/>
          <p:nvPr/>
        </p:nvSpPr>
        <p:spPr>
          <a:xfrm>
            <a:off x="5436000" y="4662000"/>
            <a:ext cx="4031999" cy="378000"/>
          </a:xfrm>
          <a:prstGeom prst="roundRect">
            <a:avLst>
              <a:gd name="adj" fmla="val 10000"/>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0" bIns="0"/>
          <a:lstStyle/>
          <a:p>
            <a:pPr algn="ctr"/>
            <a:r>
              <a:rPr sz="1100" b="1">
                <a:solidFill>
                  <a:srgbClr val="FFFFFF"/>
                </a:solidFill>
                <a:latin typeface="メイリオ"/>
                <a:ea typeface="メイリオ"/>
                <a:cs typeface="メイリオ"/>
              </a:rPr>
              <a:t>「広告を増やす」以外の打ち手が必要な局面に入っている</a:t>
            </a:r>
          </a:p>
        </p:txBody>
      </p:sp>
      <p:sp>
        <p:nvSpPr>
          <p:cNvPr id="25" name="TextBox 24"/>
          <p:cNvSpPr txBox="1"/>
          <p:nvPr/>
        </p:nvSpPr>
        <p:spPr>
          <a:xfrm>
            <a:off x="432000" y="6246000"/>
            <a:ext cx="9043200" cy="324000"/>
          </a:xfrm>
          <a:prstGeom prst="rect">
            <a:avLst/>
          </a:prstGeom>
          <a:noFill/>
        </p:spPr>
        <p:txBody>
          <a:bodyPr wrap="square" lIns="0" rIns="0" tIns="21600" bIns="21600" anchor="t">
            <a:spAutoFit/>
          </a:bodyPr>
          <a:lstStyle/>
          <a:p>
            <a:pPr algn="l">
              <a:lnSpc>
                <a:spcPct val="115000"/>
              </a:lnSpc>
            </a:pPr>
            <a:r>
              <a:rPr sz="750">
                <a:solidFill>
                  <a:srgbClr val="7F7F7F"/>
                </a:solidFill>
                <a:latin typeface="メイリオ"/>
                <a:ea typeface="メイリオ"/>
                <a:cs typeface="メイリオ"/>
              </a:rPr>
              <a:t>※ CPCは業界水準に基づく推計レンジ。検索Vol指数は年平均=100。提案前に貴社の実績CPC／Googleトレンド実データに差し替えます。</a:t>
            </a:r>
          </a:p>
        </p:txBody>
      </p:sp>
    </p:spTree>
    <p:extLst>
      <p:ext uri="{BB962C8B-B14F-4D97-AF65-F5344CB8AC3E}">
        <p14:creationId xmlns:p14="http://schemas.microsoft.com/office/powerpoint/2010/main" val="11875947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E587B-DB18-248C-DB39-A170420D4342}"/>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rIns="0" tIns="21600" bIns="21600" anchor="ctr">
            <a:spAutoFit/>
          </a:bodyPr>
          <a:lstStyle/>
          <a:p>
            <a:pPr algn="l"/>
            <a:r>
              <a:rPr sz="1600" b="1">
                <a:solidFill>
                  <a:srgbClr val="002060"/>
                </a:solidFill>
                <a:latin typeface="メイリオ"/>
                <a:ea typeface="メイリオ"/>
                <a:cs typeface="メイリオ"/>
              </a:rPr>
              <a:t>広告与件｜CV地点別の設計マトリクスと、広告審査の留意点</a:t>
            </a:r>
          </a:p>
        </p:txBody>
      </p:sp>
      <p:sp>
        <p:nvSpPr>
          <p:cNvPr id="3" name="TextBox 2"/>
          <p:cNvSpPr txBox="1"/>
          <p:nvPr/>
        </p:nvSpPr>
        <p:spPr>
          <a:xfrm>
            <a:off x="432000" y="648000"/>
            <a:ext cx="9036000" cy="684000"/>
          </a:xfrm>
          <a:prstGeom prst="rect">
            <a:avLst/>
          </a:prstGeom>
          <a:noFill/>
        </p:spPr>
        <p:txBody>
          <a:bodyPr wrap="square" lIns="0" rIns="0" tIns="21600" bIns="21600" anchor="ctr">
            <a:spAutoFit/>
          </a:bodyPr>
          <a:lstStyle/>
          <a:p>
            <a:pPr algn="l">
              <a:lnSpc>
                <a:spcPct val="128000"/>
              </a:lnSpc>
            </a:pPr>
            <a:r>
              <a:rPr sz="1200">
                <a:solidFill>
                  <a:srgbClr val="333333"/>
                </a:solidFill>
                <a:latin typeface="メイリオ"/>
                <a:ea typeface="メイリオ"/>
                <a:cs typeface="メイリオ"/>
              </a:rPr>
              <a:t>数値の差込だらけの実績表ではなく「時期×対象×訴求×CV地点」の設計として提示。</a:t>
            </a:r>
          </a:p>
          <a:p>
            <a:pPr algn="l">
              <a:lnSpc>
                <a:spcPct val="128000"/>
              </a:lnSpc>
            </a:pPr>
            <a:r>
              <a:rPr sz="1200">
                <a:solidFill>
                  <a:srgbClr val="333333"/>
                </a:solidFill>
                <a:latin typeface="メイリオ"/>
                <a:ea typeface="メイリオ"/>
                <a:cs typeface="メイリオ"/>
              </a:rPr>
              <a:t>実績値は貴社データで置換し、脚注へ退避する。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32000" y="1818000"/>
            <a:ext cx="1152000" cy="3096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1600" rIns="21600" tIns="0" bIns="0"/>
          <a:lstStyle/>
          <a:p>
            <a:pPr algn="ctr"/>
            <a:r>
              <a:rPr sz="900" b="1">
                <a:solidFill>
                  <a:srgbClr val="FFFFFF"/>
                </a:solidFill>
                <a:latin typeface="メイリオ"/>
                <a:ea typeface="メイリオ"/>
                <a:cs typeface="メイリオ"/>
              </a:rPr>
              <a:t>時期</a:t>
            </a:r>
          </a:p>
        </p:txBody>
      </p:sp>
      <p:sp>
        <p:nvSpPr>
          <p:cNvPr id="6" name="Rectangle 5"/>
          <p:cNvSpPr/>
          <p:nvPr/>
        </p:nvSpPr>
        <p:spPr>
          <a:xfrm>
            <a:off x="1584000" y="1818000"/>
            <a:ext cx="2015999" cy="3096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1600" rIns="21600" tIns="0" bIns="0"/>
          <a:lstStyle/>
          <a:p>
            <a:pPr algn="ctr"/>
            <a:r>
              <a:rPr sz="900" b="1">
                <a:solidFill>
                  <a:srgbClr val="FFFFFF"/>
                </a:solidFill>
                <a:latin typeface="メイリオ"/>
                <a:ea typeface="メイリオ"/>
                <a:cs typeface="メイリオ"/>
              </a:rPr>
              <a:t>対象（誰に）</a:t>
            </a:r>
          </a:p>
        </p:txBody>
      </p:sp>
      <p:sp>
        <p:nvSpPr>
          <p:cNvPr id="7" name="Rectangle 6"/>
          <p:cNvSpPr/>
          <p:nvPr/>
        </p:nvSpPr>
        <p:spPr>
          <a:xfrm>
            <a:off x="3600000" y="1818000"/>
            <a:ext cx="2951999" cy="3096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1600" rIns="21600" tIns="0" bIns="0"/>
          <a:lstStyle/>
          <a:p>
            <a:pPr algn="ctr"/>
            <a:r>
              <a:rPr sz="900" b="1">
                <a:solidFill>
                  <a:srgbClr val="FFFFFF"/>
                </a:solidFill>
                <a:latin typeface="メイリオ"/>
                <a:ea typeface="メイリオ"/>
                <a:cs typeface="メイリオ"/>
              </a:rPr>
              <a:t>訴求（何を）</a:t>
            </a:r>
          </a:p>
        </p:txBody>
      </p:sp>
      <p:sp>
        <p:nvSpPr>
          <p:cNvPr id="8" name="Rectangle 7"/>
          <p:cNvSpPr/>
          <p:nvPr/>
        </p:nvSpPr>
        <p:spPr>
          <a:xfrm>
            <a:off x="6552000" y="1818000"/>
            <a:ext cx="1835999" cy="3096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1600" rIns="21600" tIns="0" bIns="0"/>
          <a:lstStyle/>
          <a:p>
            <a:pPr algn="ctr"/>
            <a:r>
              <a:rPr sz="900" b="1">
                <a:solidFill>
                  <a:srgbClr val="FFFFFF"/>
                </a:solidFill>
                <a:latin typeface="メイリオ"/>
                <a:ea typeface="メイリオ"/>
                <a:cs typeface="メイリオ"/>
              </a:rPr>
              <a:t>CV地点</a:t>
            </a:r>
          </a:p>
        </p:txBody>
      </p:sp>
      <p:sp>
        <p:nvSpPr>
          <p:cNvPr id="9" name="Rectangle 8"/>
          <p:cNvSpPr/>
          <p:nvPr/>
        </p:nvSpPr>
        <p:spPr>
          <a:xfrm>
            <a:off x="8387999" y="1818000"/>
            <a:ext cx="1087200" cy="3096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1600" rIns="21600" tIns="0" bIns="0"/>
          <a:lstStyle/>
          <a:p>
            <a:pPr algn="ctr"/>
            <a:r>
              <a:rPr sz="900" b="1">
                <a:solidFill>
                  <a:srgbClr val="FFFFFF"/>
                </a:solidFill>
                <a:latin typeface="メイリオ"/>
                <a:ea typeface="メイリオ"/>
                <a:cs typeface="メイリオ"/>
              </a:rPr>
              <a:t>想定CVR</a:t>
            </a:r>
          </a:p>
        </p:txBody>
      </p:sp>
      <p:sp>
        <p:nvSpPr>
          <p:cNvPr id="10" name="Rectangle 9"/>
          <p:cNvSpPr/>
          <p:nvPr/>
        </p:nvSpPr>
        <p:spPr>
          <a:xfrm>
            <a:off x="432000" y="2127600"/>
            <a:ext cx="1152000" cy="3672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36000" tIns="0" bIns="0"/>
          <a:lstStyle/>
          <a:p>
            <a:pPr algn="ctr">
              <a:lnSpc>
                <a:spcPct val="115000"/>
              </a:lnSpc>
            </a:pPr>
            <a:r>
              <a:rPr sz="850">
                <a:solidFill>
                  <a:srgbClr val="333333"/>
                </a:solidFill>
                <a:latin typeface="メイリオ"/>
                <a:ea typeface="メイリオ"/>
                <a:cs typeface="メイリオ"/>
              </a:rPr>
              <a:t>通年</a:t>
            </a:r>
          </a:p>
        </p:txBody>
      </p:sp>
      <p:sp>
        <p:nvSpPr>
          <p:cNvPr id="11" name="Rectangle 10"/>
          <p:cNvSpPr/>
          <p:nvPr/>
        </p:nvSpPr>
        <p:spPr>
          <a:xfrm>
            <a:off x="1584000" y="2127600"/>
            <a:ext cx="2015999" cy="3672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36000" tIns="0" bIns="0"/>
          <a:lstStyle/>
          <a:p>
            <a:pPr algn="ctr">
              <a:lnSpc>
                <a:spcPct val="115000"/>
              </a:lnSpc>
            </a:pPr>
            <a:r>
              <a:rPr sz="850">
                <a:solidFill>
                  <a:srgbClr val="333333"/>
                </a:solidFill>
                <a:latin typeface="メイリオ"/>
                <a:ea typeface="メイリオ"/>
                <a:cs typeface="メイリオ"/>
              </a:rPr>
              <a:t>検討初期・土地未定</a:t>
            </a:r>
          </a:p>
        </p:txBody>
      </p:sp>
      <p:sp>
        <p:nvSpPr>
          <p:cNvPr id="12" name="Rectangle 11"/>
          <p:cNvSpPr/>
          <p:nvPr/>
        </p:nvSpPr>
        <p:spPr>
          <a:xfrm>
            <a:off x="3600000" y="2127600"/>
            <a:ext cx="2951999" cy="3672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36000" tIns="0" bIns="0"/>
          <a:lstStyle/>
          <a:p>
            <a:pPr algn="l">
              <a:lnSpc>
                <a:spcPct val="115000"/>
              </a:lnSpc>
            </a:pPr>
            <a:r>
              <a:rPr sz="850">
                <a:solidFill>
                  <a:srgbClr val="333333"/>
                </a:solidFill>
                <a:latin typeface="メイリオ"/>
                <a:ea typeface="メイリオ"/>
                <a:cs typeface="メイリオ"/>
              </a:rPr>
              <a:t>無理のない予算がわかる60秒診断</a:t>
            </a:r>
          </a:p>
        </p:txBody>
      </p:sp>
      <p:sp>
        <p:nvSpPr>
          <p:cNvPr id="13" name="Rectangle 12"/>
          <p:cNvSpPr/>
          <p:nvPr/>
        </p:nvSpPr>
        <p:spPr>
          <a:xfrm>
            <a:off x="6552000" y="2127600"/>
            <a:ext cx="1835999" cy="3672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36000" tIns="0" bIns="0"/>
          <a:lstStyle/>
          <a:p>
            <a:pPr algn="ctr">
              <a:lnSpc>
                <a:spcPct val="115000"/>
              </a:lnSpc>
            </a:pPr>
            <a:r>
              <a:rPr sz="850" b="1">
                <a:solidFill>
                  <a:srgbClr val="ED7D31"/>
                </a:solidFill>
                <a:latin typeface="メイリオ"/>
                <a:ea typeface="メイリオ"/>
                <a:cs typeface="メイリオ"/>
              </a:rPr>
              <a:t>LINE友だち追加</a:t>
            </a:r>
          </a:p>
        </p:txBody>
      </p:sp>
      <p:sp>
        <p:nvSpPr>
          <p:cNvPr id="14" name="Rectangle 13"/>
          <p:cNvSpPr/>
          <p:nvPr/>
        </p:nvSpPr>
        <p:spPr>
          <a:xfrm>
            <a:off x="8387999" y="2127600"/>
            <a:ext cx="1087200" cy="3672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36000" tIns="0" bIns="0"/>
          <a:lstStyle/>
          <a:p>
            <a:pPr algn="ctr">
              <a:lnSpc>
                <a:spcPct val="115000"/>
              </a:lnSpc>
            </a:pPr>
            <a:r>
              <a:rPr sz="850">
                <a:solidFill>
                  <a:srgbClr val="333333"/>
                </a:solidFill>
                <a:latin typeface="メイリオ"/>
                <a:ea typeface="メイリオ"/>
                <a:cs typeface="メイリオ"/>
              </a:rPr>
              <a:t>―</a:t>
            </a:r>
          </a:p>
        </p:txBody>
      </p:sp>
      <p:sp>
        <p:nvSpPr>
          <p:cNvPr id="15" name="Rectangle 14"/>
          <p:cNvSpPr/>
          <p:nvPr/>
        </p:nvSpPr>
        <p:spPr>
          <a:xfrm>
            <a:off x="432000" y="2494800"/>
            <a:ext cx="1152000" cy="3672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36000" tIns="0" bIns="0"/>
          <a:lstStyle/>
          <a:p>
            <a:pPr algn="ctr">
              <a:lnSpc>
                <a:spcPct val="115000"/>
              </a:lnSpc>
            </a:pPr>
            <a:r>
              <a:rPr sz="850">
                <a:solidFill>
                  <a:srgbClr val="333333"/>
                </a:solidFill>
                <a:latin typeface="メイリオ"/>
                <a:ea typeface="メイリオ"/>
                <a:cs typeface="メイリオ"/>
              </a:rPr>
              <a:t>通年</a:t>
            </a:r>
          </a:p>
        </p:txBody>
      </p:sp>
      <p:sp>
        <p:nvSpPr>
          <p:cNvPr id="16" name="Rectangle 15"/>
          <p:cNvSpPr/>
          <p:nvPr/>
        </p:nvSpPr>
        <p:spPr>
          <a:xfrm>
            <a:off x="1584000" y="2494800"/>
            <a:ext cx="2015999" cy="3672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36000" tIns="0" bIns="0"/>
          <a:lstStyle/>
          <a:p>
            <a:pPr algn="ctr">
              <a:lnSpc>
                <a:spcPct val="115000"/>
              </a:lnSpc>
            </a:pPr>
            <a:r>
              <a:rPr sz="850">
                <a:solidFill>
                  <a:srgbClr val="333333"/>
                </a:solidFill>
                <a:latin typeface="メイリオ"/>
                <a:ea typeface="メイリオ"/>
                <a:cs typeface="メイリオ"/>
              </a:rPr>
              <a:t>検討初期・予算不明</a:t>
            </a:r>
          </a:p>
        </p:txBody>
      </p:sp>
      <p:sp>
        <p:nvSpPr>
          <p:cNvPr id="17" name="Rectangle 16"/>
          <p:cNvSpPr/>
          <p:nvPr/>
        </p:nvSpPr>
        <p:spPr>
          <a:xfrm>
            <a:off x="3600000" y="2494800"/>
            <a:ext cx="2951999" cy="3672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36000" tIns="0" bIns="0"/>
          <a:lstStyle/>
          <a:p>
            <a:pPr algn="l">
              <a:lnSpc>
                <a:spcPct val="115000"/>
              </a:lnSpc>
            </a:pPr>
            <a:r>
              <a:rPr sz="850">
                <a:solidFill>
                  <a:srgbClr val="333333"/>
                </a:solidFill>
                <a:latin typeface="メイリオ"/>
                <a:ea typeface="メイリオ"/>
                <a:cs typeface="メイリオ"/>
              </a:rPr>
              <a:t>総額の内訳（外構込み）を先に開示</a:t>
            </a:r>
          </a:p>
        </p:txBody>
      </p:sp>
      <p:sp>
        <p:nvSpPr>
          <p:cNvPr id="18" name="Rectangle 17"/>
          <p:cNvSpPr/>
          <p:nvPr/>
        </p:nvSpPr>
        <p:spPr>
          <a:xfrm>
            <a:off x="6552000" y="2494800"/>
            <a:ext cx="1835999" cy="3672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36000" tIns="0" bIns="0"/>
          <a:lstStyle/>
          <a:p>
            <a:pPr algn="ctr">
              <a:lnSpc>
                <a:spcPct val="115000"/>
              </a:lnSpc>
            </a:pPr>
            <a:r>
              <a:rPr sz="850" b="1">
                <a:solidFill>
                  <a:srgbClr val="ED7D31"/>
                </a:solidFill>
                <a:latin typeface="メイリオ"/>
                <a:ea typeface="メイリオ"/>
                <a:cs typeface="メイリオ"/>
              </a:rPr>
              <a:t>資料請求</a:t>
            </a:r>
          </a:p>
        </p:txBody>
      </p:sp>
      <p:sp>
        <p:nvSpPr>
          <p:cNvPr id="19" name="Rectangle 18"/>
          <p:cNvSpPr/>
          <p:nvPr/>
        </p:nvSpPr>
        <p:spPr>
          <a:xfrm>
            <a:off x="8387999" y="2494800"/>
            <a:ext cx="1087200" cy="3672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36000" tIns="0" bIns="0"/>
          <a:lstStyle/>
          <a:p>
            <a:pPr algn="ctr">
              <a:lnSpc>
                <a:spcPct val="115000"/>
              </a:lnSpc>
            </a:pPr>
            <a:r>
              <a:rPr sz="850">
                <a:solidFill>
                  <a:srgbClr val="333333"/>
                </a:solidFill>
                <a:latin typeface="メイリオ"/>
                <a:ea typeface="メイリオ"/>
                <a:cs typeface="メイリオ"/>
              </a:rPr>
              <a:t>2.0%</a:t>
            </a:r>
          </a:p>
        </p:txBody>
      </p:sp>
      <p:sp>
        <p:nvSpPr>
          <p:cNvPr id="20" name="Rectangle 19"/>
          <p:cNvSpPr/>
          <p:nvPr/>
        </p:nvSpPr>
        <p:spPr>
          <a:xfrm>
            <a:off x="432000" y="2862000"/>
            <a:ext cx="1152000" cy="3672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36000" tIns="0" bIns="0"/>
          <a:lstStyle/>
          <a:p>
            <a:pPr algn="ctr">
              <a:lnSpc>
                <a:spcPct val="115000"/>
              </a:lnSpc>
            </a:pPr>
            <a:r>
              <a:rPr sz="850">
                <a:solidFill>
                  <a:srgbClr val="333333"/>
                </a:solidFill>
                <a:latin typeface="メイリオ"/>
                <a:ea typeface="メイリオ"/>
                <a:cs typeface="メイリオ"/>
              </a:rPr>
              <a:t>4〜6月</a:t>
            </a:r>
          </a:p>
        </p:txBody>
      </p:sp>
      <p:sp>
        <p:nvSpPr>
          <p:cNvPr id="21" name="Rectangle 20"/>
          <p:cNvSpPr/>
          <p:nvPr/>
        </p:nvSpPr>
        <p:spPr>
          <a:xfrm>
            <a:off x="1584000" y="2862000"/>
            <a:ext cx="2015999" cy="3672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36000" tIns="0" bIns="0"/>
          <a:lstStyle/>
          <a:p>
            <a:pPr algn="ctr">
              <a:lnSpc>
                <a:spcPct val="115000"/>
              </a:lnSpc>
            </a:pPr>
            <a:r>
              <a:rPr sz="850">
                <a:solidFill>
                  <a:srgbClr val="333333"/>
                </a:solidFill>
                <a:latin typeface="メイリオ"/>
                <a:ea typeface="メイリオ"/>
                <a:cs typeface="メイリオ"/>
              </a:rPr>
              <a:t>翌年入居を狙う層</a:t>
            </a:r>
          </a:p>
        </p:txBody>
      </p:sp>
      <p:sp>
        <p:nvSpPr>
          <p:cNvPr id="22" name="Rectangle 21"/>
          <p:cNvSpPr/>
          <p:nvPr/>
        </p:nvSpPr>
        <p:spPr>
          <a:xfrm>
            <a:off x="3600000" y="2862000"/>
            <a:ext cx="2951999" cy="3672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36000" tIns="0" bIns="0"/>
          <a:lstStyle/>
          <a:p>
            <a:pPr algn="l">
              <a:lnSpc>
                <a:spcPct val="115000"/>
              </a:lnSpc>
            </a:pPr>
            <a:r>
              <a:rPr sz="850">
                <a:solidFill>
                  <a:srgbClr val="333333"/>
                </a:solidFill>
                <a:latin typeface="メイリオ"/>
                <a:ea typeface="メイリオ"/>
                <a:cs typeface="メイリオ"/>
              </a:rPr>
              <a:t>土地探しの正しい順番セミナー</a:t>
            </a:r>
          </a:p>
        </p:txBody>
      </p:sp>
      <p:sp>
        <p:nvSpPr>
          <p:cNvPr id="23" name="Rectangle 22"/>
          <p:cNvSpPr/>
          <p:nvPr/>
        </p:nvSpPr>
        <p:spPr>
          <a:xfrm>
            <a:off x="6552000" y="2862000"/>
            <a:ext cx="1835999" cy="3672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36000" tIns="0" bIns="0"/>
          <a:lstStyle/>
          <a:p>
            <a:pPr algn="ctr">
              <a:lnSpc>
                <a:spcPct val="115000"/>
              </a:lnSpc>
            </a:pPr>
            <a:r>
              <a:rPr sz="850" b="1">
                <a:solidFill>
                  <a:srgbClr val="ED7D31"/>
                </a:solidFill>
                <a:latin typeface="メイリオ"/>
                <a:ea typeface="メイリオ"/>
                <a:cs typeface="メイリオ"/>
              </a:rPr>
              <a:t>個別相談予約</a:t>
            </a:r>
          </a:p>
        </p:txBody>
      </p:sp>
      <p:sp>
        <p:nvSpPr>
          <p:cNvPr id="24" name="Rectangle 23"/>
          <p:cNvSpPr/>
          <p:nvPr/>
        </p:nvSpPr>
        <p:spPr>
          <a:xfrm>
            <a:off x="8387999" y="2862000"/>
            <a:ext cx="1087200" cy="3672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36000" tIns="0" bIns="0"/>
          <a:lstStyle/>
          <a:p>
            <a:pPr algn="ctr">
              <a:lnSpc>
                <a:spcPct val="115000"/>
              </a:lnSpc>
            </a:pPr>
            <a:r>
              <a:rPr sz="850">
                <a:solidFill>
                  <a:srgbClr val="333333"/>
                </a:solidFill>
                <a:latin typeface="メイリオ"/>
                <a:ea typeface="メイリオ"/>
                <a:cs typeface="メイリオ"/>
              </a:rPr>
              <a:t>0.8%</a:t>
            </a:r>
          </a:p>
        </p:txBody>
      </p:sp>
      <p:sp>
        <p:nvSpPr>
          <p:cNvPr id="25" name="Rectangle 24"/>
          <p:cNvSpPr/>
          <p:nvPr/>
        </p:nvSpPr>
        <p:spPr>
          <a:xfrm>
            <a:off x="432000" y="3229200"/>
            <a:ext cx="1152000" cy="3672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36000" tIns="0" bIns="0"/>
          <a:lstStyle/>
          <a:p>
            <a:pPr algn="ctr">
              <a:lnSpc>
                <a:spcPct val="115000"/>
              </a:lnSpc>
            </a:pPr>
            <a:r>
              <a:rPr sz="850">
                <a:solidFill>
                  <a:srgbClr val="333333"/>
                </a:solidFill>
                <a:latin typeface="メイリオ"/>
                <a:ea typeface="メイリオ"/>
                <a:cs typeface="メイリオ"/>
              </a:rPr>
              <a:t>10〜12月</a:t>
            </a:r>
          </a:p>
        </p:txBody>
      </p:sp>
      <p:sp>
        <p:nvSpPr>
          <p:cNvPr id="26" name="Rectangle 25"/>
          <p:cNvSpPr/>
          <p:nvPr/>
        </p:nvSpPr>
        <p:spPr>
          <a:xfrm>
            <a:off x="1584000" y="3229200"/>
            <a:ext cx="2015999" cy="3672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36000" tIns="0" bIns="0"/>
          <a:lstStyle/>
          <a:p>
            <a:pPr algn="ctr">
              <a:lnSpc>
                <a:spcPct val="115000"/>
              </a:lnSpc>
            </a:pPr>
            <a:r>
              <a:rPr sz="850">
                <a:solidFill>
                  <a:srgbClr val="333333"/>
                </a:solidFill>
                <a:latin typeface="メイリオ"/>
                <a:ea typeface="メイリオ"/>
                <a:cs typeface="メイリオ"/>
              </a:rPr>
              <a:t>検討中期・比較段階</a:t>
            </a:r>
          </a:p>
        </p:txBody>
      </p:sp>
      <p:sp>
        <p:nvSpPr>
          <p:cNvPr id="27" name="Rectangle 26"/>
          <p:cNvSpPr/>
          <p:nvPr/>
        </p:nvSpPr>
        <p:spPr>
          <a:xfrm>
            <a:off x="3600000" y="3229200"/>
            <a:ext cx="2951999" cy="3672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36000" tIns="0" bIns="0"/>
          <a:lstStyle/>
          <a:p>
            <a:pPr algn="l">
              <a:lnSpc>
                <a:spcPct val="115000"/>
              </a:lnSpc>
            </a:pPr>
            <a:r>
              <a:rPr sz="850">
                <a:solidFill>
                  <a:srgbClr val="333333"/>
                </a:solidFill>
                <a:latin typeface="メイリオ"/>
                <a:ea typeface="メイリオ"/>
                <a:cs typeface="メイリオ"/>
              </a:rPr>
              <a:t>冬の断熱体感／構造見学会</a:t>
            </a:r>
          </a:p>
        </p:txBody>
      </p:sp>
      <p:sp>
        <p:nvSpPr>
          <p:cNvPr id="28" name="Rectangle 27"/>
          <p:cNvSpPr/>
          <p:nvPr/>
        </p:nvSpPr>
        <p:spPr>
          <a:xfrm>
            <a:off x="6552000" y="3229200"/>
            <a:ext cx="1835999" cy="3672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36000" tIns="0" bIns="0"/>
          <a:lstStyle/>
          <a:p>
            <a:pPr algn="ctr">
              <a:lnSpc>
                <a:spcPct val="115000"/>
              </a:lnSpc>
            </a:pPr>
            <a:r>
              <a:rPr sz="850" b="1">
                <a:solidFill>
                  <a:srgbClr val="ED7D31"/>
                </a:solidFill>
                <a:latin typeface="メイリオ"/>
                <a:ea typeface="メイリオ"/>
                <a:cs typeface="メイリオ"/>
              </a:rPr>
              <a:t>見学会予約</a:t>
            </a:r>
          </a:p>
        </p:txBody>
      </p:sp>
      <p:sp>
        <p:nvSpPr>
          <p:cNvPr id="29" name="Rectangle 28"/>
          <p:cNvSpPr/>
          <p:nvPr/>
        </p:nvSpPr>
        <p:spPr>
          <a:xfrm>
            <a:off x="8387999" y="3229200"/>
            <a:ext cx="1087200" cy="367200"/>
          </a:xfrm>
          <a:prstGeom prst="rect">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36000" tIns="0" bIns="0"/>
          <a:lstStyle/>
          <a:p>
            <a:pPr algn="ctr">
              <a:lnSpc>
                <a:spcPct val="115000"/>
              </a:lnSpc>
            </a:pPr>
            <a:r>
              <a:rPr sz="850">
                <a:solidFill>
                  <a:srgbClr val="333333"/>
                </a:solidFill>
                <a:latin typeface="メイリオ"/>
                <a:ea typeface="メイリオ"/>
                <a:cs typeface="メイリオ"/>
              </a:rPr>
              <a:t>0.6%</a:t>
            </a:r>
          </a:p>
        </p:txBody>
      </p:sp>
      <p:sp>
        <p:nvSpPr>
          <p:cNvPr id="30" name="TextBox 29"/>
          <p:cNvSpPr txBox="1"/>
          <p:nvPr/>
        </p:nvSpPr>
        <p:spPr>
          <a:xfrm>
            <a:off x="432000" y="3654000"/>
            <a:ext cx="9043200" cy="198000"/>
          </a:xfrm>
          <a:prstGeom prst="rect">
            <a:avLst/>
          </a:prstGeom>
          <a:noFill/>
        </p:spPr>
        <p:txBody>
          <a:bodyPr wrap="square" lIns="0" rIns="50400" tIns="21600" bIns="21600" anchor="t">
            <a:spAutoFit/>
          </a:bodyPr>
          <a:lstStyle/>
          <a:p>
            <a:pPr algn="l"/>
            <a:r>
              <a:rPr sz="800">
                <a:solidFill>
                  <a:srgbClr val="7F7F7F"/>
                </a:solidFill>
                <a:latin typeface="メイリオ"/>
                <a:ea typeface="メイリオ"/>
                <a:cs typeface="メイリオ"/>
              </a:rPr>
              <a:t>※ CVRは業界水準（CV地点＝各行に明記）。貴社の実績CPC/CVR/CPAが入り次第、全行を実測値に置換します。</a:t>
            </a:r>
          </a:p>
        </p:txBody>
      </p:sp>
      <p:sp>
        <p:nvSpPr>
          <p:cNvPr id="31" name="TextBox 30"/>
          <p:cNvSpPr txBox="1"/>
          <p:nvPr/>
        </p:nvSpPr>
        <p:spPr>
          <a:xfrm>
            <a:off x="432000" y="3924000"/>
            <a:ext cx="9043200" cy="198000"/>
          </a:xfrm>
          <a:prstGeom prst="rect">
            <a:avLst/>
          </a:prstGeom>
          <a:noFill/>
        </p:spPr>
        <p:txBody>
          <a:bodyPr wrap="square" lIns="0" rIns="50400" tIns="21600" bIns="21600" anchor="t">
            <a:spAutoFit/>
          </a:bodyPr>
          <a:lstStyle/>
          <a:p>
            <a:pPr algn="l"/>
            <a:r>
              <a:rPr sz="1100" b="1">
                <a:solidFill>
                  <a:srgbClr val="C00000"/>
                </a:solidFill>
                <a:latin typeface="メイリオ"/>
                <a:ea typeface="メイリオ"/>
                <a:cs typeface="メイリオ"/>
              </a:rPr>
              <a:t>広告審査・表示上の留意点（先に潰しておく3点）</a:t>
            </a:r>
          </a:p>
        </p:txBody>
      </p:sp>
      <p:sp>
        <p:nvSpPr>
          <p:cNvPr id="32" name="Rounded Rectangle 31"/>
          <p:cNvSpPr/>
          <p:nvPr/>
        </p:nvSpPr>
        <p:spPr>
          <a:xfrm>
            <a:off x="432000" y="4147200"/>
            <a:ext cx="2916000" cy="917999"/>
          </a:xfrm>
          <a:prstGeom prst="roundRect">
            <a:avLst>
              <a:gd name="adj" fmla="val 6000"/>
            </a:avLst>
          </a:prstGeom>
          <a:solidFill>
            <a:srgbClr val="FDF2F2"/>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t" wrap="square" lIns="79200" rIns="64800" tIns="50400" bIns="36000"/>
          <a:lstStyle/>
          <a:p>
            <a:pPr algn="l">
              <a:spcAft>
                <a:spcPts val="300"/>
              </a:spcAft>
            </a:pPr>
            <a:r>
              <a:rPr sz="1000" b="1">
                <a:solidFill>
                  <a:srgbClr val="C00000"/>
                </a:solidFill>
                <a:latin typeface="メイリオ"/>
                <a:ea typeface="メイリオ"/>
                <a:cs typeface="メイリオ"/>
              </a:rPr>
              <a:t>① 断定・最上級表現</a:t>
            </a:r>
          </a:p>
          <a:p>
            <a:pPr algn="l">
              <a:lnSpc>
                <a:spcPct val="118000"/>
              </a:lnSpc>
              <a:spcAft>
                <a:spcPts val="100"/>
              </a:spcAft>
            </a:pPr>
            <a:r>
              <a:rPr sz="850">
                <a:solidFill>
                  <a:srgbClr val="333333"/>
                </a:solidFill>
                <a:latin typeface="メイリオ"/>
                <a:ea typeface="メイリオ"/>
                <a:cs typeface="メイリオ"/>
              </a:rPr>
              <a:t>「必ず」「No.1」「日本一」は根拠資料がないと審査落ち。</a:t>
            </a:r>
          </a:p>
          <a:p>
            <a:pPr algn="l">
              <a:lnSpc>
                <a:spcPct val="118000"/>
              </a:lnSpc>
              <a:spcAft>
                <a:spcPts val="100"/>
              </a:spcAft>
            </a:pPr>
            <a:r>
              <a:rPr sz="850">
                <a:solidFill>
                  <a:srgbClr val="333333"/>
                </a:solidFill>
                <a:latin typeface="メイリオ"/>
                <a:ea typeface="メイリオ"/>
                <a:cs typeface="メイリオ"/>
              </a:rPr>
              <a:t>調査主体・時点・範囲を明記できるものだけ使う</a:t>
            </a:r>
          </a:p>
        </p:txBody>
      </p:sp>
      <p:sp>
        <p:nvSpPr>
          <p:cNvPr id="33" name="Rounded Rectangle 32"/>
          <p:cNvSpPr/>
          <p:nvPr/>
        </p:nvSpPr>
        <p:spPr>
          <a:xfrm>
            <a:off x="3470399" y="4147200"/>
            <a:ext cx="2916000" cy="917999"/>
          </a:xfrm>
          <a:prstGeom prst="roundRect">
            <a:avLst>
              <a:gd name="adj" fmla="val 6000"/>
            </a:avLst>
          </a:prstGeom>
          <a:solidFill>
            <a:srgbClr val="FDF2F2"/>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t" wrap="square" lIns="79200" rIns="64800" tIns="50400" bIns="36000"/>
          <a:lstStyle/>
          <a:p>
            <a:pPr algn="l">
              <a:spcAft>
                <a:spcPts val="300"/>
              </a:spcAft>
            </a:pPr>
            <a:r>
              <a:rPr sz="1000" b="1">
                <a:solidFill>
                  <a:srgbClr val="C00000"/>
                </a:solidFill>
                <a:latin typeface="メイリオ"/>
                <a:ea typeface="メイリオ"/>
                <a:cs typeface="メイリオ"/>
              </a:rPr>
              <a:t>② 価格・ローン表記</a:t>
            </a:r>
          </a:p>
          <a:p>
            <a:pPr algn="l">
              <a:lnSpc>
                <a:spcPct val="118000"/>
              </a:lnSpc>
              <a:spcAft>
                <a:spcPts val="100"/>
              </a:spcAft>
            </a:pPr>
            <a:r>
              <a:rPr sz="850">
                <a:solidFill>
                  <a:srgbClr val="333333"/>
                </a:solidFill>
                <a:latin typeface="メイリオ"/>
                <a:ea typeface="メイリオ"/>
                <a:cs typeface="メイリオ"/>
              </a:rPr>
              <a:t>「月々○万円で家が建つ」は前提（借入額・金利・年数・</a:t>
            </a:r>
          </a:p>
          <a:p>
            <a:pPr algn="l">
              <a:lnSpc>
                <a:spcPct val="118000"/>
              </a:lnSpc>
              <a:spcAft>
                <a:spcPts val="100"/>
              </a:spcAft>
            </a:pPr>
            <a:r>
              <a:rPr sz="850">
                <a:solidFill>
                  <a:srgbClr val="333333"/>
                </a:solidFill>
                <a:latin typeface="メイリオ"/>
                <a:ea typeface="メイリオ"/>
                <a:cs typeface="メイリオ"/>
              </a:rPr>
              <a:t>自己資金）の併記が必須。総額表示との整合も取る</a:t>
            </a:r>
          </a:p>
        </p:txBody>
      </p:sp>
      <p:sp>
        <p:nvSpPr>
          <p:cNvPr id="34" name="Rounded Rectangle 33"/>
          <p:cNvSpPr/>
          <p:nvPr/>
        </p:nvSpPr>
        <p:spPr>
          <a:xfrm>
            <a:off x="6508799" y="4147200"/>
            <a:ext cx="2916000" cy="917999"/>
          </a:xfrm>
          <a:prstGeom prst="roundRect">
            <a:avLst>
              <a:gd name="adj" fmla="val 6000"/>
            </a:avLst>
          </a:prstGeom>
          <a:solidFill>
            <a:srgbClr val="FDF2F2"/>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t" wrap="square" lIns="79200" rIns="64800" tIns="50400" bIns="36000"/>
          <a:lstStyle/>
          <a:p>
            <a:pPr algn="l">
              <a:spcAft>
                <a:spcPts val="300"/>
              </a:spcAft>
            </a:pPr>
            <a:r>
              <a:rPr sz="1000" b="1">
                <a:solidFill>
                  <a:srgbClr val="C00000"/>
                </a:solidFill>
                <a:latin typeface="メイリオ"/>
                <a:ea typeface="メイリオ"/>
                <a:cs typeface="メイリオ"/>
              </a:rPr>
              <a:t>③ 施工事例・体験談</a:t>
            </a:r>
          </a:p>
          <a:p>
            <a:pPr algn="l">
              <a:lnSpc>
                <a:spcPct val="118000"/>
              </a:lnSpc>
              <a:spcAft>
                <a:spcPts val="100"/>
              </a:spcAft>
            </a:pPr>
            <a:r>
              <a:rPr sz="850">
                <a:solidFill>
                  <a:srgbClr val="333333"/>
                </a:solidFill>
                <a:latin typeface="メイリオ"/>
                <a:ea typeface="メイリオ"/>
                <a:cs typeface="メイリオ"/>
              </a:rPr>
              <a:t>ビフォーアフター写真は撮影条件を揃える。</a:t>
            </a:r>
          </a:p>
          <a:p>
            <a:pPr algn="l">
              <a:lnSpc>
                <a:spcPct val="118000"/>
              </a:lnSpc>
              <a:spcAft>
                <a:spcPts val="100"/>
              </a:spcAft>
            </a:pPr>
            <a:r>
              <a:rPr sz="850">
                <a:solidFill>
                  <a:srgbClr val="333333"/>
                </a:solidFill>
                <a:latin typeface="メイリオ"/>
                <a:ea typeface="メイリオ"/>
                <a:cs typeface="メイリオ"/>
              </a:rPr>
              <a:t>お客様の声は実在・許諾が必要。イメージなら明記</a:t>
            </a:r>
          </a:p>
        </p:txBody>
      </p:sp>
      <p:sp>
        <p:nvSpPr>
          <p:cNvPr id="35" name="TextBox 34"/>
          <p:cNvSpPr txBox="1"/>
          <p:nvPr/>
        </p:nvSpPr>
        <p:spPr>
          <a:xfrm>
            <a:off x="432000" y="6246000"/>
            <a:ext cx="9043200" cy="324000"/>
          </a:xfrm>
          <a:prstGeom prst="rect">
            <a:avLst/>
          </a:prstGeom>
          <a:noFill/>
        </p:spPr>
        <p:txBody>
          <a:bodyPr wrap="square" lIns="0" rIns="0" tIns="21600" bIns="21600" anchor="t">
            <a:spAutoFit/>
          </a:bodyPr>
          <a:lstStyle/>
          <a:p>
            <a:pPr algn="l">
              <a:lnSpc>
                <a:spcPct val="115000"/>
              </a:lnSpc>
            </a:pPr>
            <a:r>
              <a:rPr sz="750">
                <a:solidFill>
                  <a:srgbClr val="7F7F7F"/>
                </a:solidFill>
                <a:latin typeface="メイリオ"/>
                <a:ea typeface="メイリオ"/>
                <a:cs typeface="メイリオ"/>
              </a:rPr>
              <a:t>※ 広告審査の運用は媒体・時期で変わります。入稿前に最新のガイドラインで再確認してください。</a:t>
            </a:r>
          </a:p>
        </p:txBody>
      </p:sp>
    </p:spTree>
    <p:extLst>
      <p:ext uri="{BB962C8B-B14F-4D97-AF65-F5344CB8AC3E}">
        <p14:creationId xmlns:p14="http://schemas.microsoft.com/office/powerpoint/2010/main" val="4664780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2D860-D20C-DFFA-89EA-A46B82A5DB11}"/>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rIns="0" tIns="21600" bIns="21600" anchor="ctr">
            <a:spAutoFit/>
          </a:bodyPr>
          <a:lstStyle/>
          <a:p>
            <a:pPr algn="l"/>
            <a:r>
              <a:rPr sz="1600" b="1">
                <a:solidFill>
                  <a:srgbClr val="002060"/>
                </a:solidFill>
                <a:latin typeface="メイリオ"/>
                <a:ea typeface="メイリオ"/>
                <a:cs typeface="メイリオ"/>
              </a:rPr>
              <a:t>ニーズ調査（シーズナリティ）｜需要の波と9ヶ月のズレ</a:t>
            </a:r>
          </a:p>
        </p:txBody>
      </p:sp>
      <p:sp>
        <p:nvSpPr>
          <p:cNvPr id="3" name="TextBox 2"/>
          <p:cNvSpPr txBox="1"/>
          <p:nvPr/>
        </p:nvSpPr>
        <p:spPr>
          <a:xfrm>
            <a:off x="432000" y="648000"/>
            <a:ext cx="9036000" cy="684000"/>
          </a:xfrm>
          <a:prstGeom prst="rect">
            <a:avLst/>
          </a:prstGeom>
          <a:noFill/>
        </p:spPr>
        <p:txBody>
          <a:bodyPr wrap="square" lIns="0" rIns="0" tIns="21600" bIns="21600" anchor="ctr">
            <a:spAutoFit/>
          </a:bodyPr>
          <a:lstStyle/>
          <a:p>
            <a:pPr algn="l">
              <a:lnSpc>
                <a:spcPct val="128000"/>
              </a:lnSpc>
            </a:pPr>
            <a:r>
              <a:rPr sz="1200">
                <a:solidFill>
                  <a:srgbClr val="333333"/>
                </a:solidFill>
                <a:latin typeface="メイリオ"/>
                <a:ea typeface="メイリオ"/>
                <a:cs typeface="メイリオ"/>
              </a:rPr>
              <a:t>契約のピークは1〜3月だが、その層が情報収集を始めるのは前年の4〜6月。</a:t>
            </a:r>
          </a:p>
          <a:p>
            <a:pPr algn="l">
              <a:lnSpc>
                <a:spcPct val="128000"/>
              </a:lnSpc>
            </a:pPr>
            <a:r>
              <a:rPr sz="1200">
                <a:solidFill>
                  <a:srgbClr val="333333"/>
                </a:solidFill>
                <a:latin typeface="メイリオ"/>
                <a:ea typeface="メイリオ"/>
                <a:cs typeface="メイリオ"/>
              </a:rPr>
              <a:t>＝ 繁忙期に広告を集中しても、その時点で既に他社と接触済み。</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32000" y="1854000"/>
            <a:ext cx="732000" cy="223200"/>
          </a:xfrm>
          <a:prstGeom prst="rect">
            <a:avLst/>
          </a:prstGeom>
          <a:solidFill>
            <a:srgbClr val="F2F2F2"/>
          </a:solidFill>
          <a:ln w="762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00" b="1">
                <a:solidFill>
                  <a:srgbClr val="333333"/>
                </a:solidFill>
                <a:latin typeface="メイリオ"/>
                <a:ea typeface="メイリオ"/>
                <a:cs typeface="メイリオ"/>
              </a:rPr>
              <a:t>1月</a:t>
            </a:r>
          </a:p>
        </p:txBody>
      </p:sp>
      <p:sp>
        <p:nvSpPr>
          <p:cNvPr id="6" name="Rectangle 5"/>
          <p:cNvSpPr/>
          <p:nvPr/>
        </p:nvSpPr>
        <p:spPr>
          <a:xfrm>
            <a:off x="1185599" y="1854000"/>
            <a:ext cx="732000" cy="223200"/>
          </a:xfrm>
          <a:prstGeom prst="rect">
            <a:avLst/>
          </a:prstGeom>
          <a:solidFill>
            <a:srgbClr val="F2F2F2"/>
          </a:solidFill>
          <a:ln w="762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00" b="1">
                <a:solidFill>
                  <a:srgbClr val="333333"/>
                </a:solidFill>
                <a:latin typeface="メイリオ"/>
                <a:ea typeface="メイリオ"/>
                <a:cs typeface="メイリオ"/>
              </a:rPr>
              <a:t>2月</a:t>
            </a:r>
          </a:p>
        </p:txBody>
      </p:sp>
      <p:sp>
        <p:nvSpPr>
          <p:cNvPr id="7" name="Rectangle 6"/>
          <p:cNvSpPr/>
          <p:nvPr/>
        </p:nvSpPr>
        <p:spPr>
          <a:xfrm>
            <a:off x="1939200" y="1854000"/>
            <a:ext cx="732000" cy="223200"/>
          </a:xfrm>
          <a:prstGeom prst="rect">
            <a:avLst/>
          </a:prstGeom>
          <a:solidFill>
            <a:srgbClr val="F2F2F2"/>
          </a:solidFill>
          <a:ln w="762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00" b="1">
                <a:solidFill>
                  <a:srgbClr val="333333"/>
                </a:solidFill>
                <a:latin typeface="メイリオ"/>
                <a:ea typeface="メイリオ"/>
                <a:cs typeface="メイリオ"/>
              </a:rPr>
              <a:t>3月</a:t>
            </a:r>
          </a:p>
        </p:txBody>
      </p:sp>
      <p:sp>
        <p:nvSpPr>
          <p:cNvPr id="8" name="Rectangle 7"/>
          <p:cNvSpPr/>
          <p:nvPr/>
        </p:nvSpPr>
        <p:spPr>
          <a:xfrm>
            <a:off x="2692800" y="1854000"/>
            <a:ext cx="732000" cy="223200"/>
          </a:xfrm>
          <a:prstGeom prst="rect">
            <a:avLst/>
          </a:prstGeom>
          <a:solidFill>
            <a:srgbClr val="F2F2F2"/>
          </a:solidFill>
          <a:ln w="762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00" b="1">
                <a:solidFill>
                  <a:srgbClr val="333333"/>
                </a:solidFill>
                <a:latin typeface="メイリオ"/>
                <a:ea typeface="メイリオ"/>
                <a:cs typeface="メイリオ"/>
              </a:rPr>
              <a:t>4月</a:t>
            </a:r>
          </a:p>
        </p:txBody>
      </p:sp>
      <p:sp>
        <p:nvSpPr>
          <p:cNvPr id="9" name="Rectangle 8"/>
          <p:cNvSpPr/>
          <p:nvPr/>
        </p:nvSpPr>
        <p:spPr>
          <a:xfrm>
            <a:off x="3446399" y="1854000"/>
            <a:ext cx="732000" cy="223200"/>
          </a:xfrm>
          <a:prstGeom prst="rect">
            <a:avLst/>
          </a:prstGeom>
          <a:solidFill>
            <a:srgbClr val="F2F2F2"/>
          </a:solidFill>
          <a:ln w="762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00" b="1">
                <a:solidFill>
                  <a:srgbClr val="333333"/>
                </a:solidFill>
                <a:latin typeface="メイリオ"/>
                <a:ea typeface="メイリオ"/>
                <a:cs typeface="メイリオ"/>
              </a:rPr>
              <a:t>5月</a:t>
            </a:r>
          </a:p>
        </p:txBody>
      </p:sp>
      <p:sp>
        <p:nvSpPr>
          <p:cNvPr id="10" name="Rectangle 9"/>
          <p:cNvSpPr/>
          <p:nvPr/>
        </p:nvSpPr>
        <p:spPr>
          <a:xfrm>
            <a:off x="4200000" y="1854000"/>
            <a:ext cx="732000" cy="223200"/>
          </a:xfrm>
          <a:prstGeom prst="rect">
            <a:avLst/>
          </a:prstGeom>
          <a:solidFill>
            <a:srgbClr val="F2F2F2"/>
          </a:solidFill>
          <a:ln w="762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00" b="1">
                <a:solidFill>
                  <a:srgbClr val="333333"/>
                </a:solidFill>
                <a:latin typeface="メイリオ"/>
                <a:ea typeface="メイリオ"/>
                <a:cs typeface="メイリオ"/>
              </a:rPr>
              <a:t>6月</a:t>
            </a:r>
          </a:p>
        </p:txBody>
      </p:sp>
      <p:sp>
        <p:nvSpPr>
          <p:cNvPr id="11" name="Rectangle 10"/>
          <p:cNvSpPr/>
          <p:nvPr/>
        </p:nvSpPr>
        <p:spPr>
          <a:xfrm>
            <a:off x="4953599" y="1854000"/>
            <a:ext cx="732000" cy="223200"/>
          </a:xfrm>
          <a:prstGeom prst="rect">
            <a:avLst/>
          </a:prstGeom>
          <a:solidFill>
            <a:srgbClr val="F2F2F2"/>
          </a:solidFill>
          <a:ln w="762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00" b="1">
                <a:solidFill>
                  <a:srgbClr val="333333"/>
                </a:solidFill>
                <a:latin typeface="メイリオ"/>
                <a:ea typeface="メイリオ"/>
                <a:cs typeface="メイリオ"/>
              </a:rPr>
              <a:t>7月</a:t>
            </a:r>
          </a:p>
        </p:txBody>
      </p:sp>
      <p:sp>
        <p:nvSpPr>
          <p:cNvPr id="12" name="Rectangle 11"/>
          <p:cNvSpPr/>
          <p:nvPr/>
        </p:nvSpPr>
        <p:spPr>
          <a:xfrm>
            <a:off x="5707199" y="1854000"/>
            <a:ext cx="732000" cy="223200"/>
          </a:xfrm>
          <a:prstGeom prst="rect">
            <a:avLst/>
          </a:prstGeom>
          <a:solidFill>
            <a:srgbClr val="F2F2F2"/>
          </a:solidFill>
          <a:ln w="762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00" b="1">
                <a:solidFill>
                  <a:srgbClr val="333333"/>
                </a:solidFill>
                <a:latin typeface="メイリオ"/>
                <a:ea typeface="メイリオ"/>
                <a:cs typeface="メイリオ"/>
              </a:rPr>
              <a:t>8月</a:t>
            </a:r>
          </a:p>
        </p:txBody>
      </p:sp>
      <p:sp>
        <p:nvSpPr>
          <p:cNvPr id="13" name="Rectangle 12"/>
          <p:cNvSpPr/>
          <p:nvPr/>
        </p:nvSpPr>
        <p:spPr>
          <a:xfrm>
            <a:off x="6460800" y="1854000"/>
            <a:ext cx="732000" cy="223200"/>
          </a:xfrm>
          <a:prstGeom prst="rect">
            <a:avLst/>
          </a:prstGeom>
          <a:solidFill>
            <a:srgbClr val="F2F2F2"/>
          </a:solidFill>
          <a:ln w="762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00" b="1">
                <a:solidFill>
                  <a:srgbClr val="333333"/>
                </a:solidFill>
                <a:latin typeface="メイリオ"/>
                <a:ea typeface="メイリオ"/>
                <a:cs typeface="メイリオ"/>
              </a:rPr>
              <a:t>9月</a:t>
            </a:r>
          </a:p>
        </p:txBody>
      </p:sp>
      <p:sp>
        <p:nvSpPr>
          <p:cNvPr id="14" name="Rectangle 13"/>
          <p:cNvSpPr/>
          <p:nvPr/>
        </p:nvSpPr>
        <p:spPr>
          <a:xfrm>
            <a:off x="7214400" y="1854000"/>
            <a:ext cx="732000" cy="223200"/>
          </a:xfrm>
          <a:prstGeom prst="rect">
            <a:avLst/>
          </a:prstGeom>
          <a:solidFill>
            <a:srgbClr val="F2F2F2"/>
          </a:solidFill>
          <a:ln w="762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00" b="1">
                <a:solidFill>
                  <a:srgbClr val="333333"/>
                </a:solidFill>
                <a:latin typeface="メイリオ"/>
                <a:ea typeface="メイリオ"/>
                <a:cs typeface="メイリオ"/>
              </a:rPr>
              <a:t>10月</a:t>
            </a:r>
          </a:p>
        </p:txBody>
      </p:sp>
      <p:sp>
        <p:nvSpPr>
          <p:cNvPr id="15" name="Rectangle 14"/>
          <p:cNvSpPr/>
          <p:nvPr/>
        </p:nvSpPr>
        <p:spPr>
          <a:xfrm>
            <a:off x="7968000" y="1854000"/>
            <a:ext cx="732000" cy="223200"/>
          </a:xfrm>
          <a:prstGeom prst="rect">
            <a:avLst/>
          </a:prstGeom>
          <a:solidFill>
            <a:srgbClr val="F2F2F2"/>
          </a:solidFill>
          <a:ln w="762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00" b="1">
                <a:solidFill>
                  <a:srgbClr val="333333"/>
                </a:solidFill>
                <a:latin typeface="メイリオ"/>
                <a:ea typeface="メイリオ"/>
                <a:cs typeface="メイリオ"/>
              </a:rPr>
              <a:t>11月</a:t>
            </a:r>
          </a:p>
        </p:txBody>
      </p:sp>
      <p:sp>
        <p:nvSpPr>
          <p:cNvPr id="16" name="Rectangle 15"/>
          <p:cNvSpPr/>
          <p:nvPr/>
        </p:nvSpPr>
        <p:spPr>
          <a:xfrm>
            <a:off x="8721600" y="1854000"/>
            <a:ext cx="732000" cy="223200"/>
          </a:xfrm>
          <a:prstGeom prst="rect">
            <a:avLst/>
          </a:prstGeom>
          <a:solidFill>
            <a:srgbClr val="F2F2F2"/>
          </a:solidFill>
          <a:ln w="762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800" b="1">
                <a:solidFill>
                  <a:srgbClr val="333333"/>
                </a:solidFill>
                <a:latin typeface="メイリオ"/>
                <a:ea typeface="メイリオ"/>
                <a:cs typeface="メイリオ"/>
              </a:rPr>
              <a:t>12月</a:t>
            </a:r>
          </a:p>
        </p:txBody>
      </p:sp>
      <p:sp>
        <p:nvSpPr>
          <p:cNvPr id="17" name="TextBox 16"/>
          <p:cNvSpPr txBox="1"/>
          <p:nvPr/>
        </p:nvSpPr>
        <p:spPr>
          <a:xfrm>
            <a:off x="432000" y="2113200"/>
            <a:ext cx="2160000" cy="180000"/>
          </a:xfrm>
          <a:prstGeom prst="rect">
            <a:avLst/>
          </a:prstGeom>
          <a:noFill/>
        </p:spPr>
        <p:txBody>
          <a:bodyPr wrap="square" lIns="0" rIns="50400" tIns="21600" bIns="21600" anchor="t">
            <a:spAutoFit/>
          </a:bodyPr>
          <a:lstStyle/>
          <a:p>
            <a:pPr algn="l"/>
            <a:r>
              <a:rPr sz="850" b="1">
                <a:solidFill>
                  <a:srgbClr val="1F285A"/>
                </a:solidFill>
                <a:latin typeface="メイリオ"/>
                <a:ea typeface="メイリオ"/>
                <a:cs typeface="メイリオ"/>
              </a:rPr>
              <a:t>契約数指数（ネイビー）</a:t>
            </a:r>
          </a:p>
        </p:txBody>
      </p:sp>
      <p:sp>
        <p:nvSpPr>
          <p:cNvPr id="18" name="Rectangle 17"/>
          <p:cNvSpPr/>
          <p:nvPr/>
        </p:nvSpPr>
        <p:spPr>
          <a:xfrm>
            <a:off x="511200" y="2620012"/>
            <a:ext cx="573600" cy="789187"/>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264800" y="2517075"/>
            <a:ext cx="573600" cy="892125"/>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018400" y="2414137"/>
            <a:ext cx="573600" cy="995062"/>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771999" y="2791575"/>
            <a:ext cx="573600" cy="617625"/>
          </a:xfrm>
          <a:prstGeom prst="rect">
            <a:avLst/>
          </a:prstGeom>
          <a:solidFill>
            <a:srgbClr val="849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525600" y="2860200"/>
            <a:ext cx="573600" cy="549000"/>
          </a:xfrm>
          <a:prstGeom prst="rect">
            <a:avLst/>
          </a:prstGeom>
          <a:solidFill>
            <a:srgbClr val="849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279200" y="2894512"/>
            <a:ext cx="573600" cy="514687"/>
          </a:xfrm>
          <a:prstGeom prst="rect">
            <a:avLst/>
          </a:prstGeom>
          <a:solidFill>
            <a:srgbClr val="849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32799" y="2825887"/>
            <a:ext cx="573600" cy="583312"/>
          </a:xfrm>
          <a:prstGeom prst="rect">
            <a:avLst/>
          </a:prstGeom>
          <a:solidFill>
            <a:srgbClr val="849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786399" y="2791575"/>
            <a:ext cx="573600" cy="617625"/>
          </a:xfrm>
          <a:prstGeom prst="rect">
            <a:avLst/>
          </a:prstGeom>
          <a:solidFill>
            <a:srgbClr val="849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39999" y="2757262"/>
            <a:ext cx="573600" cy="651937"/>
          </a:xfrm>
          <a:prstGeom prst="rect">
            <a:avLst/>
          </a:prstGeom>
          <a:solidFill>
            <a:srgbClr val="849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293599" y="2688637"/>
            <a:ext cx="573600" cy="720562"/>
          </a:xfrm>
          <a:prstGeom prst="rect">
            <a:avLst/>
          </a:prstGeom>
          <a:solidFill>
            <a:srgbClr val="849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47199" y="2654325"/>
            <a:ext cx="573600" cy="754874"/>
          </a:xfrm>
          <a:prstGeom prst="rect">
            <a:avLst/>
          </a:prstGeom>
          <a:solidFill>
            <a:srgbClr val="849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800800" y="2722950"/>
            <a:ext cx="573600" cy="686250"/>
          </a:xfrm>
          <a:prstGeom prst="rect">
            <a:avLst/>
          </a:prstGeom>
          <a:solidFill>
            <a:srgbClr val="8496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2000" y="3510000"/>
            <a:ext cx="2880000" cy="180000"/>
          </a:xfrm>
          <a:prstGeom prst="rect">
            <a:avLst/>
          </a:prstGeom>
          <a:noFill/>
        </p:spPr>
        <p:txBody>
          <a:bodyPr wrap="square" lIns="0" rIns="50400" tIns="21600" bIns="21600" anchor="t">
            <a:spAutoFit/>
          </a:bodyPr>
          <a:lstStyle/>
          <a:p>
            <a:pPr algn="l"/>
            <a:r>
              <a:rPr sz="850" b="1">
                <a:solidFill>
                  <a:srgbClr val="ED7D31"/>
                </a:solidFill>
                <a:latin typeface="メイリオ"/>
                <a:ea typeface="メイリオ"/>
                <a:cs typeface="メイリオ"/>
              </a:rPr>
              <a:t>検討開始数指数（オレンジ）</a:t>
            </a:r>
          </a:p>
        </p:txBody>
      </p:sp>
      <p:sp>
        <p:nvSpPr>
          <p:cNvPr id="31" name="Rectangle 30"/>
          <p:cNvSpPr/>
          <p:nvPr/>
        </p:nvSpPr>
        <p:spPr>
          <a:xfrm>
            <a:off x="511200" y="4222687"/>
            <a:ext cx="573600" cy="583312"/>
          </a:xfrm>
          <a:prstGeom prst="rect">
            <a:avLst/>
          </a:prstGeom>
          <a:solidFill>
            <a:srgbClr val="F8CB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264800" y="4188375"/>
            <a:ext cx="573600" cy="617625"/>
          </a:xfrm>
          <a:prstGeom prst="rect">
            <a:avLst/>
          </a:prstGeom>
          <a:solidFill>
            <a:srgbClr val="F8CB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018400" y="4154062"/>
            <a:ext cx="573600" cy="651937"/>
          </a:xfrm>
          <a:prstGeom prst="rect">
            <a:avLst/>
          </a:prstGeom>
          <a:solidFill>
            <a:srgbClr val="F8CB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771999" y="4051125"/>
            <a:ext cx="573600" cy="754874"/>
          </a:xfrm>
          <a:prstGeom prst="rect">
            <a:avLst/>
          </a:prstGeom>
          <a:solidFill>
            <a:srgbClr val="F8CB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525600" y="3948187"/>
            <a:ext cx="573600" cy="857812"/>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279200" y="3879562"/>
            <a:ext cx="573600" cy="926437"/>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032799" y="3982500"/>
            <a:ext cx="573600" cy="823499"/>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786399" y="4016812"/>
            <a:ext cx="573600" cy="789187"/>
          </a:xfrm>
          <a:prstGeom prst="rect">
            <a:avLst/>
          </a:prstGeom>
          <a:solidFill>
            <a:srgbClr val="F8CB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539999" y="4119750"/>
            <a:ext cx="573600" cy="686250"/>
          </a:xfrm>
          <a:prstGeom prst="rect">
            <a:avLst/>
          </a:prstGeom>
          <a:solidFill>
            <a:srgbClr val="F8CB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293599" y="4154062"/>
            <a:ext cx="573600" cy="651937"/>
          </a:xfrm>
          <a:prstGeom prst="rect">
            <a:avLst/>
          </a:prstGeom>
          <a:solidFill>
            <a:srgbClr val="F8CB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047199" y="4202100"/>
            <a:ext cx="573600" cy="603900"/>
          </a:xfrm>
          <a:prstGeom prst="rect">
            <a:avLst/>
          </a:prstGeom>
          <a:solidFill>
            <a:srgbClr val="F8CB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800800" y="4257000"/>
            <a:ext cx="573600" cy="549000"/>
          </a:xfrm>
          <a:prstGeom prst="rect">
            <a:avLst/>
          </a:prstGeom>
          <a:solidFill>
            <a:srgbClr val="F8CB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3060000" y="4885200"/>
            <a:ext cx="3024000" cy="309600"/>
          </a:xfrm>
          <a:prstGeom prst="roundRect">
            <a:avLst>
              <a:gd name="adj" fmla="val 6000"/>
            </a:avLst>
          </a:prstGeom>
          <a:solidFill>
            <a:srgbClr val="FCE4D6"/>
          </a:solidFill>
          <a:ln w="1270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wrap="square" lIns="21600" rIns="21600" tIns="0" bIns="0"/>
          <a:lstStyle/>
          <a:p>
            <a:pPr algn="ctr"/>
            <a:r>
              <a:rPr sz="1100" b="1">
                <a:solidFill>
                  <a:srgbClr val="ED7D31"/>
                </a:solidFill>
                <a:latin typeface="メイリオ"/>
                <a:ea typeface="メイリオ"/>
                <a:cs typeface="メイリオ"/>
              </a:rPr>
              <a:t>ピークのズレ ≒ 9ヶ月</a:t>
            </a:r>
          </a:p>
        </p:txBody>
      </p:sp>
      <p:sp>
        <p:nvSpPr>
          <p:cNvPr id="44" name="Rounded Rectangle 43"/>
          <p:cNvSpPr/>
          <p:nvPr/>
        </p:nvSpPr>
        <p:spPr>
          <a:xfrm>
            <a:off x="432000" y="5292000"/>
            <a:ext cx="4428000" cy="737999"/>
          </a:xfrm>
          <a:prstGeom prst="roundRect">
            <a:avLst>
              <a:gd name="adj" fmla="val 6000"/>
            </a:avLst>
          </a:prstGeom>
          <a:solidFill>
            <a:srgbClr val="FDF2F2"/>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t" wrap="square" lIns="79200" rIns="64800" tIns="50400" bIns="36000"/>
          <a:lstStyle/>
          <a:p>
            <a:pPr algn="l">
              <a:spcAft>
                <a:spcPts val="300"/>
              </a:spcAft>
            </a:pPr>
            <a:r>
              <a:rPr sz="1050" b="1">
                <a:solidFill>
                  <a:srgbClr val="C00000"/>
                </a:solidFill>
                <a:latin typeface="メイリオ"/>
                <a:ea typeface="メイリオ"/>
                <a:cs typeface="メイリオ"/>
              </a:rPr>
              <a:t>今の打ち手</a:t>
            </a:r>
          </a:p>
          <a:p>
            <a:pPr algn="l">
              <a:lnSpc>
                <a:spcPct val="118000"/>
              </a:lnSpc>
              <a:spcAft>
                <a:spcPts val="100"/>
              </a:spcAft>
            </a:pPr>
            <a:r>
              <a:rPr sz="900">
                <a:solidFill>
                  <a:srgbClr val="333333"/>
                </a:solidFill>
                <a:latin typeface="メイリオ"/>
                <a:ea typeface="メイリオ"/>
                <a:cs typeface="メイリオ"/>
              </a:rPr>
              <a:t>繁忙期（1〜3月）に広告を集中させる。</a:t>
            </a:r>
          </a:p>
          <a:p>
            <a:pPr algn="l">
              <a:lnSpc>
                <a:spcPct val="118000"/>
              </a:lnSpc>
              <a:spcAft>
                <a:spcPts val="100"/>
              </a:spcAft>
            </a:pPr>
            <a:r>
              <a:rPr sz="900">
                <a:solidFill>
                  <a:srgbClr val="333333"/>
                </a:solidFill>
                <a:latin typeface="メイリオ"/>
                <a:ea typeface="メイリオ"/>
                <a:cs typeface="メイリオ"/>
              </a:rPr>
              <a:t>→ その時点で顧客は既に3社と接触済み。比較表の1行にしかならない</a:t>
            </a:r>
          </a:p>
        </p:txBody>
      </p:sp>
      <p:sp>
        <p:nvSpPr>
          <p:cNvPr id="45" name="Rounded Rectangle 44"/>
          <p:cNvSpPr/>
          <p:nvPr/>
        </p:nvSpPr>
        <p:spPr>
          <a:xfrm>
            <a:off x="5047200" y="5292000"/>
            <a:ext cx="4428000" cy="737999"/>
          </a:xfrm>
          <a:prstGeom prst="roundRect">
            <a:avLst>
              <a:gd name="adj" fmla="val 6000"/>
            </a:avLst>
          </a:prstGeom>
          <a:solidFill>
            <a:srgbClr val="FCE4D6"/>
          </a:solidFill>
          <a:ln w="1270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t" wrap="square" lIns="79200" rIns="64800" tIns="50400" bIns="36000"/>
          <a:lstStyle/>
          <a:p>
            <a:pPr algn="l">
              <a:spcAft>
                <a:spcPts val="300"/>
              </a:spcAft>
            </a:pPr>
            <a:r>
              <a:rPr sz="1050" b="1">
                <a:solidFill>
                  <a:srgbClr val="ED7D31"/>
                </a:solidFill>
                <a:latin typeface="メイリオ"/>
                <a:ea typeface="メイリオ"/>
                <a:cs typeface="メイリオ"/>
              </a:rPr>
              <a:t>あるべき打ち手</a:t>
            </a:r>
          </a:p>
          <a:p>
            <a:pPr algn="l">
              <a:lnSpc>
                <a:spcPct val="118000"/>
              </a:lnSpc>
              <a:spcAft>
                <a:spcPts val="100"/>
              </a:spcAft>
            </a:pPr>
            <a:r>
              <a:rPr sz="900">
                <a:solidFill>
                  <a:srgbClr val="333333"/>
                </a:solidFill>
                <a:latin typeface="メイリオ"/>
                <a:ea typeface="メイリオ"/>
                <a:cs typeface="メイリオ"/>
              </a:rPr>
              <a:t>閑散期（4〜6月）に低ハードルで接点を作る。</a:t>
            </a:r>
          </a:p>
          <a:p>
            <a:pPr algn="l">
              <a:lnSpc>
                <a:spcPct val="118000"/>
              </a:lnSpc>
              <a:spcAft>
                <a:spcPts val="100"/>
              </a:spcAft>
            </a:pPr>
            <a:r>
              <a:rPr sz="900">
                <a:solidFill>
                  <a:srgbClr val="333333"/>
                </a:solidFill>
                <a:latin typeface="メイリオ"/>
                <a:ea typeface="メイリオ"/>
                <a:cs typeface="メイリオ"/>
              </a:rPr>
              <a:t>→ 9ヶ月伴走して育てた会社が、翌年の契約を持っていく</a:t>
            </a:r>
          </a:p>
        </p:txBody>
      </p:sp>
      <p:sp>
        <p:nvSpPr>
          <p:cNvPr id="46" name="TextBox 45"/>
          <p:cNvSpPr txBox="1"/>
          <p:nvPr/>
        </p:nvSpPr>
        <p:spPr>
          <a:xfrm>
            <a:off x="432000" y="6246000"/>
            <a:ext cx="9043200" cy="324000"/>
          </a:xfrm>
          <a:prstGeom prst="rect">
            <a:avLst/>
          </a:prstGeom>
          <a:noFill/>
        </p:spPr>
        <p:txBody>
          <a:bodyPr wrap="square" lIns="0" rIns="0" tIns="21600" bIns="21600" anchor="t">
            <a:spAutoFit/>
          </a:bodyPr>
          <a:lstStyle/>
          <a:p>
            <a:pPr algn="l">
              <a:lnSpc>
                <a:spcPct val="115000"/>
              </a:lnSpc>
            </a:pPr>
            <a:r>
              <a:rPr sz="750">
                <a:solidFill>
                  <a:srgbClr val="7F7F7F"/>
                </a:solidFill>
                <a:latin typeface="メイリオ"/>
                <a:ea typeface="メイリオ"/>
                <a:cs typeface="メイリオ"/>
              </a:rPr>
              <a:t>※ 指数は業界水準に基づく推計（年平均=100）。リードタイムは情報収集〜契約で8〜12ヶ月（業界水準）。Googleトレンド（注文住宅／ハウスメーカー／注文住宅 相場／土地 探し方・5年＋1年）の実データで差し替えます。</a:t>
            </a:r>
          </a:p>
        </p:txBody>
      </p:sp>
    </p:spTree>
    <p:extLst>
      <p:ext uri="{BB962C8B-B14F-4D97-AF65-F5344CB8AC3E}">
        <p14:creationId xmlns:p14="http://schemas.microsoft.com/office/powerpoint/2010/main" val="1429089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E4664-0791-AB23-9ACF-A79FA4D2CD12}"/>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rIns="0" tIns="21600" bIns="21600" anchor="ctr">
            <a:spAutoFit/>
          </a:bodyPr>
          <a:lstStyle/>
          <a:p>
            <a:pPr algn="l"/>
            <a:r>
              <a:rPr sz="1600" b="1">
                <a:solidFill>
                  <a:srgbClr val="002060"/>
                </a:solidFill>
                <a:latin typeface="メイリオ"/>
                <a:ea typeface="メイリオ"/>
                <a:cs typeface="メイリオ"/>
              </a:rPr>
              <a:t>ニーズ調査（前後検索）｜検索の15日前と15日後で、不安は姿を変える</a:t>
            </a:r>
          </a:p>
        </p:txBody>
      </p:sp>
      <p:sp>
        <p:nvSpPr>
          <p:cNvPr id="3" name="TextBox 2"/>
          <p:cNvSpPr txBox="1"/>
          <p:nvPr/>
        </p:nvSpPr>
        <p:spPr>
          <a:xfrm>
            <a:off x="432000" y="648000"/>
            <a:ext cx="9036000" cy="684000"/>
          </a:xfrm>
          <a:prstGeom prst="rect">
            <a:avLst/>
          </a:prstGeom>
          <a:noFill/>
        </p:spPr>
        <p:txBody>
          <a:bodyPr wrap="square" lIns="0" rIns="0" tIns="21600" bIns="21600" anchor="ctr">
            <a:spAutoFit/>
          </a:bodyPr>
          <a:lstStyle/>
          <a:p>
            <a:pPr algn="l">
              <a:lnSpc>
                <a:spcPct val="128000"/>
              </a:lnSpc>
            </a:pPr>
            <a:r>
              <a:rPr sz="1200">
                <a:solidFill>
                  <a:srgbClr val="333333"/>
                </a:solidFill>
                <a:latin typeface="メイリオ"/>
                <a:ea typeface="メイリオ"/>
                <a:cs typeface="メイリオ"/>
              </a:rPr>
              <a:t>検索前15日は「会社」ではなく「不安」を調べている。検索後15日には他社の指名検索と</a:t>
            </a:r>
          </a:p>
          <a:p>
            <a:pPr algn="l">
              <a:lnSpc>
                <a:spcPct val="128000"/>
              </a:lnSpc>
            </a:pPr>
            <a:r>
              <a:rPr sz="1200">
                <a:solidFill>
                  <a:srgbClr val="333333"/>
                </a:solidFill>
                <a:latin typeface="メイリオ"/>
                <a:ea typeface="メイリオ"/>
                <a:cs typeface="メイリオ"/>
              </a:rPr>
              <a:t>ネガティブKWが同時に立つ。＝ 友だち追加を仕掛けるのは「前15日〜起点」。</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818000"/>
            <a:ext cx="3276000" cy="2988000"/>
          </a:xfrm>
          <a:prstGeom prst="roundRect">
            <a:avLst>
              <a:gd name="adj" fmla="val 6000"/>
            </a:avLst>
          </a:prstGeom>
          <a:solidFill>
            <a:srgbClr val="F2F2F2"/>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0000" y="1897199"/>
            <a:ext cx="3060000" cy="223200"/>
          </a:xfrm>
          <a:prstGeom prst="rect">
            <a:avLst/>
          </a:prstGeom>
          <a:noFill/>
        </p:spPr>
        <p:txBody>
          <a:bodyPr wrap="square" lIns="0" rIns="50400" tIns="21600" bIns="21600" anchor="t">
            <a:spAutoFit/>
          </a:bodyPr>
          <a:lstStyle/>
          <a:p>
            <a:pPr algn="l"/>
            <a:r>
              <a:rPr sz="1050" b="1">
                <a:solidFill>
                  <a:srgbClr val="1F285A"/>
                </a:solidFill>
                <a:latin typeface="メイリオ"/>
                <a:ea typeface="メイリオ"/>
                <a:cs typeface="メイリオ"/>
              </a:rPr>
              <a:t>検索 −15日｜漠然とした不安</a:t>
            </a:r>
          </a:p>
        </p:txBody>
      </p:sp>
      <p:sp>
        <p:nvSpPr>
          <p:cNvPr id="7" name="TextBox 6"/>
          <p:cNvSpPr txBox="1"/>
          <p:nvPr/>
        </p:nvSpPr>
        <p:spPr>
          <a:xfrm>
            <a:off x="540000" y="2160000"/>
            <a:ext cx="3060000" cy="2556000"/>
          </a:xfrm>
          <a:prstGeom prst="rect">
            <a:avLst/>
          </a:prstGeom>
          <a:noFill/>
        </p:spPr>
        <p:txBody>
          <a:bodyPr wrap="square" lIns="0" rIns="50400" tIns="21600" bIns="21600" anchor="t">
            <a:spAutoFit/>
          </a:bodyPr>
          <a:lstStyle/>
          <a:p>
            <a:pPr algn="l">
              <a:lnSpc>
                <a:spcPct val="155000"/>
              </a:lnSpc>
            </a:pPr>
            <a:r>
              <a:rPr sz="900" b="1">
                <a:solidFill>
                  <a:srgbClr val="ED7D31"/>
                </a:solidFill>
                <a:latin typeface="メイリオ"/>
                <a:ea typeface="メイリオ"/>
                <a:cs typeface="メイリオ"/>
              </a:rPr>
              <a:t>注文住宅 相場</a:t>
            </a:r>
          </a:p>
          <a:p>
            <a:pPr algn="l">
              <a:lnSpc>
                <a:spcPct val="155000"/>
              </a:lnSpc>
            </a:pPr>
            <a:r>
              <a:rPr sz="900" b="1">
                <a:solidFill>
                  <a:srgbClr val="ED7D31"/>
                </a:solidFill>
                <a:latin typeface="メイリオ"/>
                <a:ea typeface="メイリオ"/>
                <a:cs typeface="メイリオ"/>
              </a:rPr>
              <a:t>注文住宅 3000万 どんな家</a:t>
            </a:r>
          </a:p>
          <a:p>
            <a:pPr algn="l">
              <a:lnSpc>
                <a:spcPct val="155000"/>
              </a:lnSpc>
            </a:pPr>
            <a:r>
              <a:rPr sz="900" b="1">
                <a:solidFill>
                  <a:srgbClr val="ED7D31"/>
                </a:solidFill>
                <a:latin typeface="メイリオ"/>
                <a:ea typeface="メイリオ"/>
                <a:cs typeface="メイリオ"/>
              </a:rPr>
              <a:t>ハウスメーカー ランキング</a:t>
            </a:r>
          </a:p>
          <a:p>
            <a:pPr algn="l">
              <a:lnSpc>
                <a:spcPct val="155000"/>
              </a:lnSpc>
            </a:pPr>
            <a:r>
              <a:rPr sz="900">
                <a:solidFill>
                  <a:srgbClr val="333333"/>
                </a:solidFill>
                <a:latin typeface="メイリオ"/>
                <a:ea typeface="メイリオ"/>
                <a:cs typeface="メイリオ"/>
              </a:rPr>
              <a:t>注文住宅 後悔</a:t>
            </a:r>
          </a:p>
          <a:p>
            <a:pPr algn="l">
              <a:lnSpc>
                <a:spcPct val="155000"/>
              </a:lnSpc>
            </a:pPr>
            <a:r>
              <a:rPr sz="900">
                <a:solidFill>
                  <a:srgbClr val="333333"/>
                </a:solidFill>
                <a:latin typeface="メイリオ"/>
                <a:ea typeface="メイリオ"/>
                <a:cs typeface="メイリオ"/>
              </a:rPr>
              <a:t>間取り 失敗</a:t>
            </a:r>
          </a:p>
          <a:p>
            <a:pPr algn="l">
              <a:lnSpc>
                <a:spcPct val="155000"/>
              </a:lnSpc>
            </a:pPr>
            <a:r>
              <a:rPr sz="900">
                <a:solidFill>
                  <a:srgbClr val="333333"/>
                </a:solidFill>
                <a:latin typeface="メイリオ"/>
                <a:ea typeface="メイリオ"/>
                <a:cs typeface="メイリオ"/>
              </a:rPr>
              <a:t>土地 探し方</a:t>
            </a:r>
          </a:p>
          <a:p>
            <a:pPr algn="l">
              <a:lnSpc>
                <a:spcPct val="155000"/>
              </a:lnSpc>
            </a:pPr>
            <a:r>
              <a:rPr sz="900">
                <a:solidFill>
                  <a:srgbClr val="333333"/>
                </a:solidFill>
                <a:latin typeface="メイリオ"/>
                <a:ea typeface="メイリオ"/>
                <a:cs typeface="メイリオ"/>
              </a:rPr>
              <a:t>住宅ローン いくらまで借りられる</a:t>
            </a:r>
          </a:p>
          <a:p>
            <a:pPr algn="l">
              <a:lnSpc>
                <a:spcPct val="155000"/>
              </a:lnSpc>
            </a:pPr>
            <a:r>
              <a:rPr sz="900">
                <a:solidFill>
                  <a:srgbClr val="333333"/>
                </a:solidFill>
                <a:latin typeface="メイリオ"/>
                <a:ea typeface="メイリオ"/>
                <a:cs typeface="メイリオ"/>
              </a:rPr>
              <a:t>建売 注文住宅 違い</a:t>
            </a:r>
          </a:p>
          <a:p>
            <a:pPr algn="l">
              <a:lnSpc>
                <a:spcPct val="155000"/>
              </a:lnSpc>
            </a:pPr>
            <a:r>
              <a:rPr sz="900">
                <a:solidFill>
                  <a:srgbClr val="333333"/>
                </a:solidFill>
                <a:latin typeface="メイリオ"/>
                <a:ea typeface="メイリオ"/>
                <a:cs typeface="メイリオ"/>
              </a:rPr>
              <a:t>注文住宅 総額 内訳</a:t>
            </a:r>
          </a:p>
          <a:p>
            <a:pPr algn="l">
              <a:lnSpc>
                <a:spcPct val="155000"/>
              </a:lnSpc>
            </a:pPr>
            <a:r>
              <a:rPr sz="900">
                <a:solidFill>
                  <a:srgbClr val="333333"/>
                </a:solidFill>
                <a:latin typeface="メイリオ"/>
                <a:ea typeface="メイリオ"/>
                <a:cs typeface="メイリオ"/>
              </a:rPr>
              <a:t>家 建てる 何から</a:t>
            </a:r>
          </a:p>
        </p:txBody>
      </p:sp>
      <p:sp>
        <p:nvSpPr>
          <p:cNvPr id="8" name="Rounded Rectangle 7"/>
          <p:cNvSpPr/>
          <p:nvPr/>
        </p:nvSpPr>
        <p:spPr>
          <a:xfrm>
            <a:off x="3779999" y="1818000"/>
            <a:ext cx="2268000" cy="2988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69999" y="1897199"/>
            <a:ext cx="2088000" cy="223200"/>
          </a:xfrm>
          <a:prstGeom prst="rect">
            <a:avLst/>
          </a:prstGeom>
          <a:noFill/>
        </p:spPr>
        <p:txBody>
          <a:bodyPr wrap="square" lIns="0" rIns="0" tIns="21600" bIns="21600" anchor="t">
            <a:spAutoFit/>
          </a:bodyPr>
          <a:lstStyle/>
          <a:p>
            <a:pPr algn="ctr"/>
            <a:r>
              <a:rPr sz="1050" b="1">
                <a:solidFill>
                  <a:srgbClr val="FFFFFF"/>
                </a:solidFill>
                <a:latin typeface="メイリオ"/>
                <a:ea typeface="メイリオ"/>
                <a:cs typeface="メイリオ"/>
              </a:rPr>
              <a:t>起点｜検討が具体化</a:t>
            </a:r>
          </a:p>
        </p:txBody>
      </p:sp>
      <p:sp>
        <p:nvSpPr>
          <p:cNvPr id="10" name="TextBox 9"/>
          <p:cNvSpPr txBox="1"/>
          <p:nvPr/>
        </p:nvSpPr>
        <p:spPr>
          <a:xfrm>
            <a:off x="3869999" y="2231999"/>
            <a:ext cx="2088000" cy="936000"/>
          </a:xfrm>
          <a:prstGeom prst="rect">
            <a:avLst/>
          </a:prstGeom>
          <a:noFill/>
        </p:spPr>
        <p:txBody>
          <a:bodyPr wrap="square" lIns="0" rIns="0" tIns="21600" bIns="21600" anchor="t">
            <a:spAutoFit/>
          </a:bodyPr>
          <a:lstStyle/>
          <a:p>
            <a:pPr algn="ctr">
              <a:lnSpc>
                <a:spcPct val="170000"/>
              </a:lnSpc>
            </a:pPr>
            <a:r>
              <a:rPr sz="950" b="1">
                <a:solidFill>
                  <a:srgbClr val="FFFFFF"/>
                </a:solidFill>
                <a:latin typeface="メイリオ"/>
                <a:ea typeface="メイリオ"/>
                <a:cs typeface="メイリオ"/>
              </a:rPr>
              <a:t>注文住宅 ●●市</a:t>
            </a:r>
          </a:p>
          <a:p>
            <a:pPr algn="ctr">
              <a:lnSpc>
                <a:spcPct val="170000"/>
              </a:lnSpc>
            </a:pPr>
            <a:r>
              <a:rPr sz="950" b="1">
                <a:solidFill>
                  <a:srgbClr val="FFFFFF"/>
                </a:solidFill>
                <a:latin typeface="メイリオ"/>
                <a:ea typeface="メイリオ"/>
                <a:cs typeface="メイリオ"/>
              </a:rPr>
              <a:t>ハウスメーカー 比較</a:t>
            </a:r>
          </a:p>
          <a:p>
            <a:pPr algn="ctr">
              <a:lnSpc>
                <a:spcPct val="170000"/>
              </a:lnSpc>
            </a:pPr>
            <a:r>
              <a:rPr sz="950" b="1">
                <a:solidFill>
                  <a:srgbClr val="FFFFFF"/>
                </a:solidFill>
                <a:latin typeface="メイリオ"/>
                <a:ea typeface="メイリオ"/>
                <a:cs typeface="メイリオ"/>
              </a:rPr>
              <a:t>工務店 ハウスメーカー どっち</a:t>
            </a:r>
          </a:p>
        </p:txBody>
      </p:sp>
      <p:sp>
        <p:nvSpPr>
          <p:cNvPr id="11" name="Rounded Rectangle 10"/>
          <p:cNvSpPr/>
          <p:nvPr/>
        </p:nvSpPr>
        <p:spPr>
          <a:xfrm>
            <a:off x="3905999" y="3456000"/>
            <a:ext cx="2015999" cy="558000"/>
          </a:xfrm>
          <a:prstGeom prst="roundRect">
            <a:avLst>
              <a:gd name="adj" fmla="val 6000"/>
            </a:avLst>
          </a:prstGeom>
          <a:solidFill>
            <a:srgbClr val="FCE4D6"/>
          </a:solidFill>
          <a:ln w="1270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wrap="square" lIns="21600" rIns="21600" tIns="0" bIns="0"/>
          <a:lstStyle/>
          <a:p>
            <a:pPr algn="ctr"/>
            <a:r>
              <a:rPr sz="1000" b="1">
                <a:solidFill>
                  <a:srgbClr val="ED7D31"/>
                </a:solidFill>
                <a:latin typeface="メイリオ"/>
                <a:ea typeface="メイリオ"/>
                <a:cs typeface="メイリオ"/>
              </a:rPr>
              <a:t>★ 友だち追加を
仕掛けるのはココ</a:t>
            </a:r>
          </a:p>
        </p:txBody>
      </p:sp>
      <p:sp>
        <p:nvSpPr>
          <p:cNvPr id="12" name="TextBox 11"/>
          <p:cNvSpPr txBox="1"/>
          <p:nvPr/>
        </p:nvSpPr>
        <p:spPr>
          <a:xfrm>
            <a:off x="3869999" y="4103999"/>
            <a:ext cx="2088000" cy="576000"/>
          </a:xfrm>
          <a:prstGeom prst="rect">
            <a:avLst/>
          </a:prstGeom>
          <a:noFill/>
        </p:spPr>
        <p:txBody>
          <a:bodyPr wrap="square" lIns="0" rIns="0" tIns="21600" bIns="21600" anchor="t">
            <a:spAutoFit/>
          </a:bodyPr>
          <a:lstStyle/>
          <a:p>
            <a:pPr algn="ctr">
              <a:lnSpc>
                <a:spcPct val="135000"/>
              </a:lnSpc>
            </a:pPr>
            <a:r>
              <a:rPr sz="850">
                <a:solidFill>
                  <a:srgbClr val="FFFFFF"/>
                </a:solidFill>
                <a:latin typeface="メイリオ"/>
                <a:ea typeface="メイリオ"/>
                <a:cs typeface="メイリオ"/>
              </a:rPr>
              <a:t>フォームは押せない段階。
LINEなら押せる。</a:t>
            </a:r>
          </a:p>
        </p:txBody>
      </p:sp>
      <p:sp>
        <p:nvSpPr>
          <p:cNvPr id="13" name="Rounded Rectangle 12"/>
          <p:cNvSpPr/>
          <p:nvPr/>
        </p:nvSpPr>
        <p:spPr>
          <a:xfrm>
            <a:off x="6119999" y="1818000"/>
            <a:ext cx="3348000" cy="2988000"/>
          </a:xfrm>
          <a:prstGeom prst="roundRect">
            <a:avLst>
              <a:gd name="adj" fmla="val 6000"/>
            </a:avLst>
          </a:prstGeom>
          <a:solidFill>
            <a:srgbClr val="FDF2F2"/>
          </a:solidFill>
          <a:ln w="1143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27999" y="1897199"/>
            <a:ext cx="3132000" cy="223200"/>
          </a:xfrm>
          <a:prstGeom prst="rect">
            <a:avLst/>
          </a:prstGeom>
          <a:noFill/>
        </p:spPr>
        <p:txBody>
          <a:bodyPr wrap="square" lIns="0" rIns="50400" tIns="21600" bIns="21600" anchor="t">
            <a:spAutoFit/>
          </a:bodyPr>
          <a:lstStyle/>
          <a:p>
            <a:pPr algn="l"/>
            <a:r>
              <a:rPr sz="1050" b="1">
                <a:solidFill>
                  <a:srgbClr val="C00000"/>
                </a:solidFill>
                <a:latin typeface="メイリオ"/>
                <a:ea typeface="メイリオ"/>
                <a:cs typeface="メイリオ"/>
              </a:rPr>
              <a:t>検索 +15日｜比較と疑心</a:t>
            </a:r>
          </a:p>
        </p:txBody>
      </p:sp>
      <p:sp>
        <p:nvSpPr>
          <p:cNvPr id="15" name="TextBox 14"/>
          <p:cNvSpPr txBox="1"/>
          <p:nvPr/>
        </p:nvSpPr>
        <p:spPr>
          <a:xfrm>
            <a:off x="6227999" y="2160000"/>
            <a:ext cx="3132000" cy="2556000"/>
          </a:xfrm>
          <a:prstGeom prst="rect">
            <a:avLst/>
          </a:prstGeom>
          <a:noFill/>
        </p:spPr>
        <p:txBody>
          <a:bodyPr wrap="square" lIns="0" rIns="50400" tIns="21600" bIns="21600" anchor="t">
            <a:spAutoFit/>
          </a:bodyPr>
          <a:lstStyle/>
          <a:p>
            <a:pPr algn="l">
              <a:lnSpc>
                <a:spcPct val="155000"/>
              </a:lnSpc>
            </a:pPr>
            <a:r>
              <a:rPr sz="900">
                <a:solidFill>
                  <a:srgbClr val="333333"/>
                </a:solidFill>
                <a:latin typeface="メイリオ"/>
                <a:ea typeface="メイリオ"/>
                <a:cs typeface="メイリオ"/>
              </a:rPr>
              <a:t>積水ハウス 坪単価</a:t>
            </a:r>
          </a:p>
          <a:p>
            <a:pPr algn="l">
              <a:lnSpc>
                <a:spcPct val="155000"/>
              </a:lnSpc>
            </a:pPr>
            <a:r>
              <a:rPr sz="900">
                <a:solidFill>
                  <a:srgbClr val="333333"/>
                </a:solidFill>
                <a:latin typeface="メイリオ"/>
                <a:ea typeface="メイリオ"/>
                <a:cs typeface="メイリオ"/>
              </a:rPr>
              <a:t>一条工務店 評判</a:t>
            </a:r>
          </a:p>
          <a:p>
            <a:pPr algn="l">
              <a:lnSpc>
                <a:spcPct val="155000"/>
              </a:lnSpc>
            </a:pPr>
            <a:r>
              <a:rPr sz="900" b="1">
                <a:solidFill>
                  <a:srgbClr val="C00000"/>
                </a:solidFill>
                <a:latin typeface="メイリオ"/>
                <a:ea typeface="メイリオ"/>
                <a:cs typeface="メイリオ"/>
              </a:rPr>
              <a:t>●●ホーム 欠陥</a:t>
            </a:r>
          </a:p>
          <a:p>
            <a:pPr algn="l">
              <a:lnSpc>
                <a:spcPct val="155000"/>
              </a:lnSpc>
            </a:pPr>
            <a:r>
              <a:rPr sz="900" b="1">
                <a:solidFill>
                  <a:srgbClr val="C00000"/>
                </a:solidFill>
                <a:latin typeface="メイリオ"/>
                <a:ea typeface="メイリオ"/>
                <a:cs typeface="メイリオ"/>
              </a:rPr>
              <a:t>ハウスメーカー 断り方</a:t>
            </a:r>
          </a:p>
          <a:p>
            <a:pPr algn="l">
              <a:lnSpc>
                <a:spcPct val="155000"/>
              </a:lnSpc>
            </a:pPr>
            <a:r>
              <a:rPr sz="900" b="1">
                <a:solidFill>
                  <a:srgbClr val="C00000"/>
                </a:solidFill>
                <a:latin typeface="メイリオ"/>
                <a:ea typeface="メイリオ"/>
                <a:cs typeface="メイリオ"/>
              </a:rPr>
              <a:t>住宅展示場 しつこい</a:t>
            </a:r>
          </a:p>
          <a:p>
            <a:pPr algn="l">
              <a:lnSpc>
                <a:spcPct val="155000"/>
              </a:lnSpc>
            </a:pPr>
            <a:r>
              <a:rPr sz="900" b="1">
                <a:solidFill>
                  <a:srgbClr val="C00000"/>
                </a:solidFill>
                <a:latin typeface="メイリオ"/>
                <a:ea typeface="メイリオ"/>
                <a:cs typeface="メイリオ"/>
              </a:rPr>
              <a:t>注文住宅 契約後 解約 手付金</a:t>
            </a:r>
          </a:p>
          <a:p>
            <a:pPr algn="l">
              <a:lnSpc>
                <a:spcPct val="155000"/>
              </a:lnSpc>
            </a:pPr>
            <a:r>
              <a:rPr sz="900" b="1">
                <a:solidFill>
                  <a:srgbClr val="C00000"/>
                </a:solidFill>
                <a:latin typeface="メイリオ"/>
                <a:ea typeface="メイリオ"/>
                <a:cs typeface="メイリオ"/>
              </a:rPr>
              <a:t>打ち合わせ 疲れた</a:t>
            </a:r>
          </a:p>
          <a:p>
            <a:pPr algn="l">
              <a:lnSpc>
                <a:spcPct val="155000"/>
              </a:lnSpc>
            </a:pPr>
            <a:r>
              <a:rPr sz="900">
                <a:solidFill>
                  <a:srgbClr val="333333"/>
                </a:solidFill>
                <a:latin typeface="メイリオ"/>
                <a:ea typeface="メイリオ"/>
                <a:cs typeface="メイリオ"/>
              </a:rPr>
              <a:t>値引き 交渉 タイミング</a:t>
            </a:r>
          </a:p>
          <a:p>
            <a:pPr algn="l">
              <a:lnSpc>
                <a:spcPct val="155000"/>
              </a:lnSpc>
            </a:pPr>
            <a:r>
              <a:rPr sz="900">
                <a:solidFill>
                  <a:srgbClr val="333333"/>
                </a:solidFill>
                <a:latin typeface="メイリオ"/>
                <a:ea typeface="メイリオ"/>
                <a:cs typeface="メイリオ"/>
              </a:rPr>
              <a:t>相見積もり 失礼</a:t>
            </a:r>
          </a:p>
          <a:p>
            <a:pPr algn="l">
              <a:lnSpc>
                <a:spcPct val="155000"/>
              </a:lnSpc>
            </a:pPr>
            <a:r>
              <a:rPr sz="900" b="1">
                <a:solidFill>
                  <a:srgbClr val="C00000"/>
                </a:solidFill>
                <a:latin typeface="メイリオ"/>
                <a:ea typeface="メイリオ"/>
                <a:cs typeface="メイリオ"/>
              </a:rPr>
              <a:t>ハウスメーカー 営業 うざい</a:t>
            </a:r>
          </a:p>
        </p:txBody>
      </p:sp>
      <p:sp>
        <p:nvSpPr>
          <p:cNvPr id="16" name="Rounded Rectangle 15"/>
          <p:cNvSpPr/>
          <p:nvPr/>
        </p:nvSpPr>
        <p:spPr>
          <a:xfrm>
            <a:off x="8171999" y="1882799"/>
            <a:ext cx="1188000" cy="251999"/>
          </a:xfrm>
          <a:prstGeom prst="roundRect">
            <a:avLst>
              <a:gd name="adj" fmla="val 6000"/>
            </a:avLst>
          </a:prstGeom>
          <a:solidFill>
            <a:srgbClr val="C00000"/>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21600" rIns="21600" tIns="0" bIns="0"/>
          <a:lstStyle/>
          <a:p>
            <a:pPr algn="ctr"/>
            <a:r>
              <a:rPr sz="850" b="1">
                <a:solidFill>
                  <a:srgbClr val="FFFFFF"/>
                </a:solidFill>
                <a:latin typeface="メイリオ"/>
                <a:ea typeface="メイリオ"/>
                <a:cs typeface="メイリオ"/>
              </a:rPr>
              <a:t>他社と接触済み</a:t>
            </a:r>
          </a:p>
        </p:txBody>
      </p:sp>
      <p:sp>
        <p:nvSpPr>
          <p:cNvPr id="17" name="TextBox 16"/>
          <p:cNvSpPr txBox="1"/>
          <p:nvPr/>
        </p:nvSpPr>
        <p:spPr>
          <a:xfrm>
            <a:off x="432000" y="4914000"/>
            <a:ext cx="9043200" cy="720000"/>
          </a:xfrm>
          <a:prstGeom prst="rect">
            <a:avLst/>
          </a:prstGeom>
          <a:noFill/>
        </p:spPr>
        <p:txBody>
          <a:bodyPr wrap="square" lIns="0" rIns="50400" tIns="21600" bIns="21600" anchor="t">
            <a:spAutoFit/>
          </a:bodyPr>
          <a:lstStyle/>
          <a:p>
            <a:pPr algn="l">
              <a:lnSpc>
                <a:spcPct val="145000"/>
              </a:lnSpc>
              <a:spcAft>
                <a:spcPts val="200"/>
              </a:spcAft>
            </a:pPr>
            <a:r>
              <a:rPr sz="950">
                <a:solidFill>
                  <a:srgbClr val="333333"/>
                </a:solidFill>
                <a:latin typeface="メイリオ"/>
                <a:ea typeface="メイリオ"/>
                <a:cs typeface="メイリオ"/>
              </a:rPr>
              <a:t>① 前15日は「会社」ではなく「不安」を検索している。会社名を出しても刺さらない</a:t>
            </a:r>
          </a:p>
          <a:p>
            <a:pPr algn="l">
              <a:lnSpc>
                <a:spcPct val="145000"/>
              </a:lnSpc>
              <a:spcAft>
                <a:spcPts val="200"/>
              </a:spcAft>
            </a:pPr>
            <a:r>
              <a:rPr sz="950">
                <a:solidFill>
                  <a:srgbClr val="333333"/>
                </a:solidFill>
                <a:latin typeface="メイリオ"/>
                <a:ea typeface="メイリオ"/>
                <a:cs typeface="メイリオ"/>
              </a:rPr>
              <a:t>② 後15日は他社の指名検索とネガティブKWが同時に立つ ＝ 営業されること自体への嫌悪</a:t>
            </a:r>
          </a:p>
          <a:p>
            <a:pPr algn="l">
              <a:lnSpc>
                <a:spcPct val="145000"/>
              </a:lnSpc>
              <a:spcAft>
                <a:spcPts val="200"/>
              </a:spcAft>
            </a:pPr>
            <a:r>
              <a:rPr sz="950">
                <a:solidFill>
                  <a:srgbClr val="333333"/>
                </a:solidFill>
                <a:latin typeface="メイリオ"/>
                <a:ea typeface="メイリオ"/>
                <a:cs typeface="メイリオ"/>
              </a:rPr>
              <a:t>③ だから、比較が始まる前（前15日〜起点）に低ハードルの接点を置く</a:t>
            </a:r>
          </a:p>
        </p:txBody>
      </p:sp>
      <p:sp>
        <p:nvSpPr>
          <p:cNvPr id="18" name="TextBox 17"/>
          <p:cNvSpPr txBox="1"/>
          <p:nvPr/>
        </p:nvSpPr>
        <p:spPr>
          <a:xfrm>
            <a:off x="432000" y="6246000"/>
            <a:ext cx="9043200" cy="324000"/>
          </a:xfrm>
          <a:prstGeom prst="rect">
            <a:avLst/>
          </a:prstGeom>
          <a:noFill/>
        </p:spPr>
        <p:txBody>
          <a:bodyPr wrap="square" lIns="0" rIns="0" tIns="21600" bIns="21600" anchor="t">
            <a:spAutoFit/>
          </a:bodyPr>
          <a:lstStyle/>
          <a:p>
            <a:pPr algn="l">
              <a:lnSpc>
                <a:spcPct val="115000"/>
              </a:lnSpc>
            </a:pPr>
            <a:r>
              <a:rPr sz="750">
                <a:solidFill>
                  <a:srgbClr val="7F7F7F"/>
                </a:solidFill>
                <a:latin typeface="メイリオ"/>
                <a:ea typeface="メイリオ"/>
                <a:cs typeface="メイリオ"/>
              </a:rPr>
              <a:t>※ 現時点は業界知見に基づく（仮説）。LINEヤフーの前後検索データ（対象KW：注文住宅 相場／ハウスメーカー 比較／注文住宅 ●●市）で検証・差し替えを行います。</a:t>
            </a:r>
          </a:p>
        </p:txBody>
      </p:sp>
    </p:spTree>
    <p:extLst>
      <p:ext uri="{BB962C8B-B14F-4D97-AF65-F5344CB8AC3E}">
        <p14:creationId xmlns:p14="http://schemas.microsoft.com/office/powerpoint/2010/main" val="14381237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8E8E-25CB-4B86-C4F6-E5A7023586F7}"/>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rIns="0" tIns="21600" bIns="21600" anchor="ctr">
            <a:spAutoFit/>
          </a:bodyPr>
          <a:lstStyle/>
          <a:p>
            <a:pPr algn="l"/>
            <a:r>
              <a:rPr sz="1600" b="1">
                <a:solidFill>
                  <a:srgbClr val="002060"/>
                </a:solidFill>
                <a:latin typeface="メイリオ"/>
                <a:ea typeface="メイリオ"/>
                <a:cs typeface="メイリオ"/>
              </a:rPr>
              <a:t>他社分析①｜主要8社のLINE運用ステータス（実測差込）</a:t>
            </a:r>
          </a:p>
        </p:txBody>
      </p:sp>
      <p:sp>
        <p:nvSpPr>
          <p:cNvPr id="3" name="TextBox 2"/>
          <p:cNvSpPr txBox="1"/>
          <p:nvPr/>
        </p:nvSpPr>
        <p:spPr>
          <a:xfrm>
            <a:off x="432000" y="648000"/>
            <a:ext cx="9036000" cy="684000"/>
          </a:xfrm>
          <a:prstGeom prst="rect">
            <a:avLst/>
          </a:prstGeom>
          <a:noFill/>
        </p:spPr>
        <p:txBody>
          <a:bodyPr wrap="square" lIns="0" rIns="0" tIns="21600" bIns="21600" anchor="ctr">
            <a:spAutoFit/>
          </a:bodyPr>
          <a:lstStyle/>
          <a:p>
            <a:pPr algn="l">
              <a:lnSpc>
                <a:spcPct val="128000"/>
              </a:lnSpc>
            </a:pPr>
            <a:r>
              <a:rPr sz="1200">
                <a:solidFill>
                  <a:srgbClr val="333333"/>
                </a:solidFill>
                <a:latin typeface="メイリオ"/>
                <a:ea typeface="メイリオ"/>
                <a:cs typeface="メイリオ"/>
              </a:rPr>
              <a:t>友だち数を推測で載せることはしません。公式（page.line.me）で取得日つきの実測に</a:t>
            </a:r>
          </a:p>
          <a:p>
            <a:pPr algn="l">
              <a:lnSpc>
                <a:spcPct val="128000"/>
              </a:lnSpc>
            </a:pPr>
            <a:r>
              <a:rPr sz="1200">
                <a:solidFill>
                  <a:srgbClr val="333333"/>
                </a:solidFill>
                <a:latin typeface="メイリオ"/>
                <a:ea typeface="メイリオ"/>
                <a:cs typeface="メイリオ"/>
              </a:rPr>
              <a:t>差し替える前提で、選定リストと取得手順を先に確定させています。</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32000" y="1818000"/>
            <a:ext cx="396000" cy="2736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400" rIns="14400" tIns="0" bIns="0"/>
          <a:lstStyle/>
          <a:p>
            <a:pPr algn="ctr"/>
            <a:r>
              <a:rPr sz="900" b="1">
                <a:solidFill>
                  <a:srgbClr val="FFFFFF"/>
                </a:solidFill>
                <a:latin typeface="メイリオ"/>
                <a:ea typeface="メイリオ"/>
                <a:cs typeface="メイリオ"/>
              </a:rPr>
              <a:t>#</a:t>
            </a:r>
          </a:p>
        </p:txBody>
      </p:sp>
      <p:sp>
        <p:nvSpPr>
          <p:cNvPr id="6" name="Rectangle 5"/>
          <p:cNvSpPr/>
          <p:nvPr/>
        </p:nvSpPr>
        <p:spPr>
          <a:xfrm>
            <a:off x="827999" y="1818000"/>
            <a:ext cx="2304000" cy="2736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400" rIns="14400" tIns="0" bIns="0"/>
          <a:lstStyle/>
          <a:p>
            <a:pPr algn="ctr"/>
            <a:r>
              <a:rPr sz="900" b="1">
                <a:solidFill>
                  <a:srgbClr val="FFFFFF"/>
                </a:solidFill>
                <a:latin typeface="メイリオ"/>
                <a:ea typeface="メイリオ"/>
                <a:cs typeface="メイリオ"/>
              </a:rPr>
              <a:t>社名</a:t>
            </a:r>
          </a:p>
        </p:txBody>
      </p:sp>
      <p:sp>
        <p:nvSpPr>
          <p:cNvPr id="7" name="Rectangle 6"/>
          <p:cNvSpPr/>
          <p:nvPr/>
        </p:nvSpPr>
        <p:spPr>
          <a:xfrm>
            <a:off x="3131999" y="1818000"/>
            <a:ext cx="2736000" cy="2736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400" rIns="14400" tIns="0" bIns="0"/>
          <a:lstStyle/>
          <a:p>
            <a:pPr algn="ctr"/>
            <a:r>
              <a:rPr sz="900" b="1">
                <a:solidFill>
                  <a:srgbClr val="FFFFFF"/>
                </a:solidFill>
                <a:latin typeface="メイリオ"/>
                <a:ea typeface="メイリオ"/>
                <a:cs typeface="メイリオ"/>
              </a:rPr>
              <a:t>LINE公式アカウント</a:t>
            </a:r>
          </a:p>
        </p:txBody>
      </p:sp>
      <p:sp>
        <p:nvSpPr>
          <p:cNvPr id="8" name="Rectangle 7"/>
          <p:cNvSpPr/>
          <p:nvPr/>
        </p:nvSpPr>
        <p:spPr>
          <a:xfrm>
            <a:off x="5867999" y="1818000"/>
            <a:ext cx="1908000" cy="2736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400" rIns="14400" tIns="0" bIns="0"/>
          <a:lstStyle/>
          <a:p>
            <a:pPr algn="ctr"/>
            <a:r>
              <a:rPr sz="900" b="1">
                <a:solidFill>
                  <a:srgbClr val="FFFFFF"/>
                </a:solidFill>
                <a:latin typeface="メイリオ"/>
                <a:ea typeface="メイリオ"/>
                <a:cs typeface="メイリオ"/>
              </a:rPr>
              <a:t>友だち数</a:t>
            </a:r>
          </a:p>
        </p:txBody>
      </p:sp>
      <p:sp>
        <p:nvSpPr>
          <p:cNvPr id="9" name="Rectangle 8"/>
          <p:cNvSpPr/>
          <p:nvPr/>
        </p:nvSpPr>
        <p:spPr>
          <a:xfrm>
            <a:off x="7775999" y="1818000"/>
            <a:ext cx="1699200" cy="2736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400" rIns="14400" tIns="0" bIns="0"/>
          <a:lstStyle/>
          <a:p>
            <a:pPr algn="ctr"/>
            <a:r>
              <a:rPr sz="900" b="1">
                <a:solidFill>
                  <a:srgbClr val="FFFFFF"/>
                </a:solidFill>
                <a:latin typeface="メイリオ"/>
                <a:ea typeface="メイリオ"/>
                <a:cs typeface="メイリオ"/>
              </a:rPr>
              <a:t>運用の型</a:t>
            </a:r>
          </a:p>
        </p:txBody>
      </p:sp>
      <p:sp>
        <p:nvSpPr>
          <p:cNvPr id="10" name="Rectangle 9"/>
          <p:cNvSpPr/>
          <p:nvPr/>
        </p:nvSpPr>
        <p:spPr>
          <a:xfrm>
            <a:off x="432000" y="2091599"/>
            <a:ext cx="396000" cy="298800"/>
          </a:xfrm>
          <a:prstGeom prst="rect">
            <a:avLst/>
          </a:prstGeom>
          <a:solidFill>
            <a:srgbClr val="FFFFFF"/>
          </a:solidFill>
          <a:ln w="889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28800" tIns="0" bIns="0"/>
          <a:lstStyle/>
          <a:p>
            <a:pPr algn="ctr"/>
            <a:r>
              <a:rPr sz="850">
                <a:solidFill>
                  <a:srgbClr val="333333"/>
                </a:solidFill>
                <a:latin typeface="メイリオ"/>
                <a:ea typeface="メイリオ"/>
                <a:cs typeface="メイリオ"/>
              </a:rPr>
              <a:t>1</a:t>
            </a:r>
          </a:p>
        </p:txBody>
      </p:sp>
      <p:sp>
        <p:nvSpPr>
          <p:cNvPr id="11" name="Rectangle 10"/>
          <p:cNvSpPr/>
          <p:nvPr/>
        </p:nvSpPr>
        <p:spPr>
          <a:xfrm>
            <a:off x="827999" y="2091599"/>
            <a:ext cx="2304000" cy="298800"/>
          </a:xfrm>
          <a:prstGeom prst="rect">
            <a:avLst/>
          </a:prstGeom>
          <a:solidFill>
            <a:srgbClr val="FFFFFF"/>
          </a:solidFill>
          <a:ln w="889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28800" tIns="0" bIns="0"/>
          <a:lstStyle/>
          <a:p>
            <a:pPr algn="l"/>
            <a:r>
              <a:rPr sz="850">
                <a:solidFill>
                  <a:srgbClr val="333333"/>
                </a:solidFill>
                <a:latin typeface="メイリオ"/>
                <a:ea typeface="メイリオ"/>
                <a:cs typeface="メイリオ"/>
              </a:rPr>
              <a:t>積水ハウス</a:t>
            </a:r>
          </a:p>
        </p:txBody>
      </p:sp>
      <p:sp>
        <p:nvSpPr>
          <p:cNvPr id="12" name="Rectangle 11"/>
          <p:cNvSpPr/>
          <p:nvPr/>
        </p:nvSpPr>
        <p:spPr>
          <a:xfrm>
            <a:off x="3131999" y="2091599"/>
            <a:ext cx="2736000" cy="298800"/>
          </a:xfrm>
          <a:prstGeom prst="rect">
            <a:avLst/>
          </a:prstGeom>
          <a:solidFill>
            <a:srgbClr val="FFFFFF"/>
          </a:solidFill>
          <a:ln w="889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28800" tIns="0" bIns="0"/>
          <a:lstStyle/>
          <a:p>
            <a:pPr algn="l"/>
            <a:r>
              <a:rPr sz="850">
                <a:solidFill>
                  <a:srgbClr val="333333"/>
                </a:solidFill>
                <a:latin typeface="メイリオ"/>
                <a:ea typeface="メイリオ"/>
                <a:cs typeface="メイリオ"/>
              </a:rPr>
              <a:t>あり（page.line.me/891uhetr）</a:t>
            </a:r>
          </a:p>
        </p:txBody>
      </p:sp>
      <p:sp>
        <p:nvSpPr>
          <p:cNvPr id="13" name="Rectangle 12"/>
          <p:cNvSpPr/>
          <p:nvPr/>
        </p:nvSpPr>
        <p:spPr>
          <a:xfrm>
            <a:off x="5867999" y="2091599"/>
            <a:ext cx="1908000" cy="298800"/>
          </a:xfrm>
          <a:prstGeom prst="rect">
            <a:avLst/>
          </a:prstGeom>
          <a:solidFill>
            <a:srgbClr val="FFFFFF"/>
          </a:solidFill>
          <a:ln w="11430">
            <a:solidFill>
              <a:srgbClr val="ED7D3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4400" rIns="14400" tIns="0" bIns="0"/>
          <a:lstStyle/>
          <a:p>
            <a:pPr algn="ctr"/>
            <a:r>
              <a:rPr sz="800">
                <a:solidFill>
                  <a:srgbClr val="ED7D31"/>
                </a:solidFill>
                <a:latin typeface="メイリオ"/>
                <a:ea typeface="メイリオ"/>
                <a:cs typeface="メイリオ"/>
              </a:rPr>
              <a:t>［実測差込］</a:t>
            </a:r>
          </a:p>
        </p:txBody>
      </p:sp>
      <p:sp>
        <p:nvSpPr>
          <p:cNvPr id="14" name="Rectangle 13"/>
          <p:cNvSpPr/>
          <p:nvPr/>
        </p:nvSpPr>
        <p:spPr>
          <a:xfrm>
            <a:off x="7775999" y="2091599"/>
            <a:ext cx="1699200" cy="298800"/>
          </a:xfrm>
          <a:prstGeom prst="rect">
            <a:avLst/>
          </a:prstGeom>
          <a:solidFill>
            <a:srgbClr val="FFFFFF"/>
          </a:solidFill>
          <a:ln w="11430">
            <a:solidFill>
              <a:srgbClr val="ED7D3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4400" rIns="14400" tIns="0" bIns="0"/>
          <a:lstStyle/>
          <a:p>
            <a:pPr algn="ctr"/>
            <a:r>
              <a:rPr sz="800">
                <a:solidFill>
                  <a:srgbClr val="ED7D31"/>
                </a:solidFill>
                <a:latin typeface="メイリオ"/>
                <a:ea typeface="メイリオ"/>
                <a:cs typeface="メイリオ"/>
              </a:rPr>
              <a:t>［実測差込］</a:t>
            </a:r>
          </a:p>
        </p:txBody>
      </p:sp>
      <p:sp>
        <p:nvSpPr>
          <p:cNvPr id="15" name="Rectangle 14"/>
          <p:cNvSpPr/>
          <p:nvPr/>
        </p:nvSpPr>
        <p:spPr>
          <a:xfrm>
            <a:off x="432000" y="2390400"/>
            <a:ext cx="396000" cy="298800"/>
          </a:xfrm>
          <a:prstGeom prst="rect">
            <a:avLst/>
          </a:prstGeom>
          <a:solidFill>
            <a:srgbClr val="F2F2F2"/>
          </a:solidFill>
          <a:ln w="889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28800" tIns="0" bIns="0"/>
          <a:lstStyle/>
          <a:p>
            <a:pPr algn="ctr"/>
            <a:r>
              <a:rPr sz="850">
                <a:solidFill>
                  <a:srgbClr val="333333"/>
                </a:solidFill>
                <a:latin typeface="メイリオ"/>
                <a:ea typeface="メイリオ"/>
                <a:cs typeface="メイリオ"/>
              </a:rPr>
              <a:t>2</a:t>
            </a:r>
          </a:p>
        </p:txBody>
      </p:sp>
      <p:sp>
        <p:nvSpPr>
          <p:cNvPr id="16" name="Rectangle 15"/>
          <p:cNvSpPr/>
          <p:nvPr/>
        </p:nvSpPr>
        <p:spPr>
          <a:xfrm>
            <a:off x="827999" y="2390400"/>
            <a:ext cx="2304000" cy="298800"/>
          </a:xfrm>
          <a:prstGeom prst="rect">
            <a:avLst/>
          </a:prstGeom>
          <a:solidFill>
            <a:srgbClr val="F2F2F2"/>
          </a:solidFill>
          <a:ln w="889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28800" tIns="0" bIns="0"/>
          <a:lstStyle/>
          <a:p>
            <a:pPr algn="l"/>
            <a:r>
              <a:rPr sz="850">
                <a:solidFill>
                  <a:srgbClr val="333333"/>
                </a:solidFill>
                <a:latin typeface="メイリオ"/>
                <a:ea typeface="メイリオ"/>
                <a:cs typeface="メイリオ"/>
              </a:rPr>
              <a:t>住友林業</a:t>
            </a:r>
          </a:p>
        </p:txBody>
      </p:sp>
      <p:sp>
        <p:nvSpPr>
          <p:cNvPr id="17" name="Rectangle 16"/>
          <p:cNvSpPr/>
          <p:nvPr/>
        </p:nvSpPr>
        <p:spPr>
          <a:xfrm>
            <a:off x="3131999" y="2390400"/>
            <a:ext cx="2736000" cy="298800"/>
          </a:xfrm>
          <a:prstGeom prst="rect">
            <a:avLst/>
          </a:prstGeom>
          <a:solidFill>
            <a:srgbClr val="F2F2F2"/>
          </a:solidFill>
          <a:ln w="889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28800" tIns="0" bIns="0"/>
          <a:lstStyle/>
          <a:p>
            <a:pPr algn="l"/>
            <a:r>
              <a:rPr sz="850">
                <a:solidFill>
                  <a:srgbClr val="333333"/>
                </a:solidFill>
                <a:latin typeface="メイリオ"/>
                <a:ea typeface="メイリオ"/>
                <a:cs typeface="メイリオ"/>
              </a:rPr>
              <a:t>確認中</a:t>
            </a:r>
          </a:p>
        </p:txBody>
      </p:sp>
      <p:sp>
        <p:nvSpPr>
          <p:cNvPr id="18" name="Rectangle 17"/>
          <p:cNvSpPr/>
          <p:nvPr/>
        </p:nvSpPr>
        <p:spPr>
          <a:xfrm>
            <a:off x="5867999" y="2390400"/>
            <a:ext cx="1908000" cy="298800"/>
          </a:xfrm>
          <a:prstGeom prst="rect">
            <a:avLst/>
          </a:prstGeom>
          <a:solidFill>
            <a:srgbClr val="FFFFFF"/>
          </a:solidFill>
          <a:ln w="11430">
            <a:solidFill>
              <a:srgbClr val="ED7D3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4400" rIns="14400" tIns="0" bIns="0"/>
          <a:lstStyle/>
          <a:p>
            <a:pPr algn="ctr"/>
            <a:r>
              <a:rPr sz="800">
                <a:solidFill>
                  <a:srgbClr val="ED7D31"/>
                </a:solidFill>
                <a:latin typeface="メイリオ"/>
                <a:ea typeface="メイリオ"/>
                <a:cs typeface="メイリオ"/>
              </a:rPr>
              <a:t>［実測差込］</a:t>
            </a:r>
          </a:p>
        </p:txBody>
      </p:sp>
      <p:sp>
        <p:nvSpPr>
          <p:cNvPr id="19" name="Rectangle 18"/>
          <p:cNvSpPr/>
          <p:nvPr/>
        </p:nvSpPr>
        <p:spPr>
          <a:xfrm>
            <a:off x="7775999" y="2390400"/>
            <a:ext cx="1699200" cy="298800"/>
          </a:xfrm>
          <a:prstGeom prst="rect">
            <a:avLst/>
          </a:prstGeom>
          <a:solidFill>
            <a:srgbClr val="FFFFFF"/>
          </a:solidFill>
          <a:ln w="11430">
            <a:solidFill>
              <a:srgbClr val="ED7D3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4400" rIns="14400" tIns="0" bIns="0"/>
          <a:lstStyle/>
          <a:p>
            <a:pPr algn="ctr"/>
            <a:r>
              <a:rPr sz="800">
                <a:solidFill>
                  <a:srgbClr val="ED7D31"/>
                </a:solidFill>
                <a:latin typeface="メイリオ"/>
                <a:ea typeface="メイリオ"/>
                <a:cs typeface="メイリオ"/>
              </a:rPr>
              <a:t>［実測差込］</a:t>
            </a:r>
          </a:p>
        </p:txBody>
      </p:sp>
      <p:sp>
        <p:nvSpPr>
          <p:cNvPr id="20" name="Rectangle 19"/>
          <p:cNvSpPr/>
          <p:nvPr/>
        </p:nvSpPr>
        <p:spPr>
          <a:xfrm>
            <a:off x="432000" y="2689200"/>
            <a:ext cx="396000" cy="298800"/>
          </a:xfrm>
          <a:prstGeom prst="rect">
            <a:avLst/>
          </a:prstGeom>
          <a:solidFill>
            <a:srgbClr val="FFFFFF"/>
          </a:solidFill>
          <a:ln w="889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28800" tIns="0" bIns="0"/>
          <a:lstStyle/>
          <a:p>
            <a:pPr algn="ctr"/>
            <a:r>
              <a:rPr sz="850">
                <a:solidFill>
                  <a:srgbClr val="333333"/>
                </a:solidFill>
                <a:latin typeface="メイリオ"/>
                <a:ea typeface="メイリオ"/>
                <a:cs typeface="メイリオ"/>
              </a:rPr>
              <a:t>3</a:t>
            </a:r>
          </a:p>
        </p:txBody>
      </p:sp>
      <p:sp>
        <p:nvSpPr>
          <p:cNvPr id="21" name="Rectangle 20"/>
          <p:cNvSpPr/>
          <p:nvPr/>
        </p:nvSpPr>
        <p:spPr>
          <a:xfrm>
            <a:off x="827999" y="2689200"/>
            <a:ext cx="2304000" cy="298800"/>
          </a:xfrm>
          <a:prstGeom prst="rect">
            <a:avLst/>
          </a:prstGeom>
          <a:solidFill>
            <a:srgbClr val="FFFFFF"/>
          </a:solidFill>
          <a:ln w="889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28800" tIns="0" bIns="0"/>
          <a:lstStyle/>
          <a:p>
            <a:pPr algn="l"/>
            <a:r>
              <a:rPr sz="850">
                <a:solidFill>
                  <a:srgbClr val="333333"/>
                </a:solidFill>
                <a:latin typeface="メイリオ"/>
                <a:ea typeface="メイリオ"/>
                <a:cs typeface="メイリオ"/>
              </a:rPr>
              <a:t>一条工務店</a:t>
            </a:r>
          </a:p>
        </p:txBody>
      </p:sp>
      <p:sp>
        <p:nvSpPr>
          <p:cNvPr id="22" name="Rectangle 21"/>
          <p:cNvSpPr/>
          <p:nvPr/>
        </p:nvSpPr>
        <p:spPr>
          <a:xfrm>
            <a:off x="3131999" y="2689200"/>
            <a:ext cx="2736000" cy="298800"/>
          </a:xfrm>
          <a:prstGeom prst="rect">
            <a:avLst/>
          </a:prstGeom>
          <a:solidFill>
            <a:srgbClr val="FFFFFF"/>
          </a:solidFill>
          <a:ln w="889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28800" tIns="0" bIns="0"/>
          <a:lstStyle/>
          <a:p>
            <a:pPr algn="l"/>
            <a:r>
              <a:rPr sz="850">
                <a:solidFill>
                  <a:srgbClr val="333333"/>
                </a:solidFill>
                <a:latin typeface="メイリオ"/>
                <a:ea typeface="メイリオ"/>
                <a:cs typeface="メイリオ"/>
              </a:rPr>
              <a:t>あり（page.line.me/507jdzdn）</a:t>
            </a:r>
          </a:p>
        </p:txBody>
      </p:sp>
      <p:sp>
        <p:nvSpPr>
          <p:cNvPr id="23" name="Rectangle 22"/>
          <p:cNvSpPr/>
          <p:nvPr/>
        </p:nvSpPr>
        <p:spPr>
          <a:xfrm>
            <a:off x="5867999" y="2689200"/>
            <a:ext cx="1908000" cy="298800"/>
          </a:xfrm>
          <a:prstGeom prst="rect">
            <a:avLst/>
          </a:prstGeom>
          <a:solidFill>
            <a:srgbClr val="FFFFFF"/>
          </a:solidFill>
          <a:ln w="11430">
            <a:solidFill>
              <a:srgbClr val="ED7D3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4400" rIns="14400" tIns="0" bIns="0"/>
          <a:lstStyle/>
          <a:p>
            <a:pPr algn="ctr"/>
            <a:r>
              <a:rPr sz="800">
                <a:solidFill>
                  <a:srgbClr val="ED7D31"/>
                </a:solidFill>
                <a:latin typeface="メイリオ"/>
                <a:ea typeface="メイリオ"/>
                <a:cs typeface="メイリオ"/>
              </a:rPr>
              <a:t>［実測差込］</a:t>
            </a:r>
          </a:p>
        </p:txBody>
      </p:sp>
      <p:sp>
        <p:nvSpPr>
          <p:cNvPr id="24" name="Rectangle 23"/>
          <p:cNvSpPr/>
          <p:nvPr/>
        </p:nvSpPr>
        <p:spPr>
          <a:xfrm>
            <a:off x="7775999" y="2689200"/>
            <a:ext cx="1699200" cy="298800"/>
          </a:xfrm>
          <a:prstGeom prst="rect">
            <a:avLst/>
          </a:prstGeom>
          <a:solidFill>
            <a:srgbClr val="FFFFFF"/>
          </a:solidFill>
          <a:ln w="11430">
            <a:solidFill>
              <a:srgbClr val="ED7D3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4400" rIns="14400" tIns="0" bIns="0"/>
          <a:lstStyle/>
          <a:p>
            <a:pPr algn="ctr"/>
            <a:r>
              <a:rPr sz="800">
                <a:solidFill>
                  <a:srgbClr val="ED7D31"/>
                </a:solidFill>
                <a:latin typeface="メイリオ"/>
                <a:ea typeface="メイリオ"/>
                <a:cs typeface="メイリオ"/>
              </a:rPr>
              <a:t>［実測差込］</a:t>
            </a:r>
          </a:p>
        </p:txBody>
      </p:sp>
      <p:sp>
        <p:nvSpPr>
          <p:cNvPr id="25" name="Rectangle 24"/>
          <p:cNvSpPr/>
          <p:nvPr/>
        </p:nvSpPr>
        <p:spPr>
          <a:xfrm>
            <a:off x="432000" y="2987999"/>
            <a:ext cx="396000" cy="298800"/>
          </a:xfrm>
          <a:prstGeom prst="rect">
            <a:avLst/>
          </a:prstGeom>
          <a:solidFill>
            <a:srgbClr val="F2F2F2"/>
          </a:solidFill>
          <a:ln w="889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28800" tIns="0" bIns="0"/>
          <a:lstStyle/>
          <a:p>
            <a:pPr algn="ctr"/>
            <a:r>
              <a:rPr sz="850">
                <a:solidFill>
                  <a:srgbClr val="333333"/>
                </a:solidFill>
                <a:latin typeface="メイリオ"/>
                <a:ea typeface="メイリオ"/>
                <a:cs typeface="メイリオ"/>
              </a:rPr>
              <a:t>4</a:t>
            </a:r>
          </a:p>
        </p:txBody>
      </p:sp>
      <p:sp>
        <p:nvSpPr>
          <p:cNvPr id="26" name="Rectangle 25"/>
          <p:cNvSpPr/>
          <p:nvPr/>
        </p:nvSpPr>
        <p:spPr>
          <a:xfrm>
            <a:off x="827999" y="2987999"/>
            <a:ext cx="2304000" cy="298800"/>
          </a:xfrm>
          <a:prstGeom prst="rect">
            <a:avLst/>
          </a:prstGeom>
          <a:solidFill>
            <a:srgbClr val="F2F2F2"/>
          </a:solidFill>
          <a:ln w="889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28800" tIns="0" bIns="0"/>
          <a:lstStyle/>
          <a:p>
            <a:pPr algn="l"/>
            <a:r>
              <a:rPr sz="850">
                <a:solidFill>
                  <a:srgbClr val="333333"/>
                </a:solidFill>
                <a:latin typeface="メイリオ"/>
                <a:ea typeface="メイリオ"/>
                <a:cs typeface="メイリオ"/>
              </a:rPr>
              <a:t>ヘーベルハウス（旭化成ホームズ）</a:t>
            </a:r>
          </a:p>
        </p:txBody>
      </p:sp>
      <p:sp>
        <p:nvSpPr>
          <p:cNvPr id="27" name="Rectangle 26"/>
          <p:cNvSpPr/>
          <p:nvPr/>
        </p:nvSpPr>
        <p:spPr>
          <a:xfrm>
            <a:off x="3131999" y="2987999"/>
            <a:ext cx="2736000" cy="298800"/>
          </a:xfrm>
          <a:prstGeom prst="rect">
            <a:avLst/>
          </a:prstGeom>
          <a:solidFill>
            <a:srgbClr val="F2F2F2"/>
          </a:solidFill>
          <a:ln w="889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28800" tIns="0" bIns="0"/>
          <a:lstStyle/>
          <a:p>
            <a:pPr algn="l"/>
            <a:r>
              <a:rPr sz="850">
                <a:solidFill>
                  <a:srgbClr val="333333"/>
                </a:solidFill>
                <a:latin typeface="メイリオ"/>
                <a:ea typeface="メイリオ"/>
                <a:cs typeface="メイリオ"/>
              </a:rPr>
              <a:t>確認中</a:t>
            </a:r>
          </a:p>
        </p:txBody>
      </p:sp>
      <p:sp>
        <p:nvSpPr>
          <p:cNvPr id="28" name="Rectangle 27"/>
          <p:cNvSpPr/>
          <p:nvPr/>
        </p:nvSpPr>
        <p:spPr>
          <a:xfrm>
            <a:off x="5867999" y="2987999"/>
            <a:ext cx="1908000" cy="298800"/>
          </a:xfrm>
          <a:prstGeom prst="rect">
            <a:avLst/>
          </a:prstGeom>
          <a:solidFill>
            <a:srgbClr val="FFFFFF"/>
          </a:solidFill>
          <a:ln w="11430">
            <a:solidFill>
              <a:srgbClr val="ED7D3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4400" rIns="14400" tIns="0" bIns="0"/>
          <a:lstStyle/>
          <a:p>
            <a:pPr algn="ctr"/>
            <a:r>
              <a:rPr sz="800">
                <a:solidFill>
                  <a:srgbClr val="ED7D31"/>
                </a:solidFill>
                <a:latin typeface="メイリオ"/>
                <a:ea typeface="メイリオ"/>
                <a:cs typeface="メイリオ"/>
              </a:rPr>
              <a:t>［実測差込］</a:t>
            </a:r>
          </a:p>
        </p:txBody>
      </p:sp>
      <p:sp>
        <p:nvSpPr>
          <p:cNvPr id="29" name="Rectangle 28"/>
          <p:cNvSpPr/>
          <p:nvPr/>
        </p:nvSpPr>
        <p:spPr>
          <a:xfrm>
            <a:off x="7775999" y="2987999"/>
            <a:ext cx="1699200" cy="298800"/>
          </a:xfrm>
          <a:prstGeom prst="rect">
            <a:avLst/>
          </a:prstGeom>
          <a:solidFill>
            <a:srgbClr val="FFFFFF"/>
          </a:solidFill>
          <a:ln w="11430">
            <a:solidFill>
              <a:srgbClr val="ED7D3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4400" rIns="14400" tIns="0" bIns="0"/>
          <a:lstStyle/>
          <a:p>
            <a:pPr algn="ctr"/>
            <a:r>
              <a:rPr sz="800">
                <a:solidFill>
                  <a:srgbClr val="ED7D31"/>
                </a:solidFill>
                <a:latin typeface="メイリオ"/>
                <a:ea typeface="メイリオ"/>
                <a:cs typeface="メイリオ"/>
              </a:rPr>
              <a:t>［実測差込］</a:t>
            </a:r>
          </a:p>
        </p:txBody>
      </p:sp>
      <p:sp>
        <p:nvSpPr>
          <p:cNvPr id="30" name="Rectangle 29"/>
          <p:cNvSpPr/>
          <p:nvPr/>
        </p:nvSpPr>
        <p:spPr>
          <a:xfrm>
            <a:off x="432000" y="3286799"/>
            <a:ext cx="396000" cy="298800"/>
          </a:xfrm>
          <a:prstGeom prst="rect">
            <a:avLst/>
          </a:prstGeom>
          <a:solidFill>
            <a:srgbClr val="FFFFFF"/>
          </a:solidFill>
          <a:ln w="889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28800" tIns="0" bIns="0"/>
          <a:lstStyle/>
          <a:p>
            <a:pPr algn="ctr"/>
            <a:r>
              <a:rPr sz="850">
                <a:solidFill>
                  <a:srgbClr val="333333"/>
                </a:solidFill>
                <a:latin typeface="メイリオ"/>
                <a:ea typeface="メイリオ"/>
                <a:cs typeface="メイリオ"/>
              </a:rPr>
              <a:t>5</a:t>
            </a:r>
          </a:p>
        </p:txBody>
      </p:sp>
      <p:sp>
        <p:nvSpPr>
          <p:cNvPr id="31" name="Rectangle 30"/>
          <p:cNvSpPr/>
          <p:nvPr/>
        </p:nvSpPr>
        <p:spPr>
          <a:xfrm>
            <a:off x="827999" y="3286799"/>
            <a:ext cx="2304000" cy="298800"/>
          </a:xfrm>
          <a:prstGeom prst="rect">
            <a:avLst/>
          </a:prstGeom>
          <a:solidFill>
            <a:srgbClr val="FFFFFF"/>
          </a:solidFill>
          <a:ln w="889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28800" tIns="0" bIns="0"/>
          <a:lstStyle/>
          <a:p>
            <a:pPr algn="l"/>
            <a:r>
              <a:rPr sz="850">
                <a:solidFill>
                  <a:srgbClr val="333333"/>
                </a:solidFill>
                <a:latin typeface="メイリオ"/>
                <a:ea typeface="メイリオ"/>
                <a:cs typeface="メイリオ"/>
              </a:rPr>
              <a:t>三井ホーム</a:t>
            </a:r>
          </a:p>
        </p:txBody>
      </p:sp>
      <p:sp>
        <p:nvSpPr>
          <p:cNvPr id="32" name="Rectangle 31"/>
          <p:cNvSpPr/>
          <p:nvPr/>
        </p:nvSpPr>
        <p:spPr>
          <a:xfrm>
            <a:off x="3131999" y="3286799"/>
            <a:ext cx="2736000" cy="298800"/>
          </a:xfrm>
          <a:prstGeom prst="rect">
            <a:avLst/>
          </a:prstGeom>
          <a:solidFill>
            <a:srgbClr val="FFFFFF"/>
          </a:solidFill>
          <a:ln w="889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28800" tIns="0" bIns="0"/>
          <a:lstStyle/>
          <a:p>
            <a:pPr algn="l"/>
            <a:r>
              <a:rPr sz="850">
                <a:solidFill>
                  <a:srgbClr val="333333"/>
                </a:solidFill>
                <a:latin typeface="メイリオ"/>
                <a:ea typeface="メイリオ"/>
                <a:cs typeface="メイリオ"/>
              </a:rPr>
              <a:t>確認中</a:t>
            </a:r>
          </a:p>
        </p:txBody>
      </p:sp>
      <p:sp>
        <p:nvSpPr>
          <p:cNvPr id="33" name="Rectangle 32"/>
          <p:cNvSpPr/>
          <p:nvPr/>
        </p:nvSpPr>
        <p:spPr>
          <a:xfrm>
            <a:off x="5867999" y="3286799"/>
            <a:ext cx="1908000" cy="298800"/>
          </a:xfrm>
          <a:prstGeom prst="rect">
            <a:avLst/>
          </a:prstGeom>
          <a:solidFill>
            <a:srgbClr val="FFFFFF"/>
          </a:solidFill>
          <a:ln w="11430">
            <a:solidFill>
              <a:srgbClr val="ED7D3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4400" rIns="14400" tIns="0" bIns="0"/>
          <a:lstStyle/>
          <a:p>
            <a:pPr algn="ctr"/>
            <a:r>
              <a:rPr sz="800">
                <a:solidFill>
                  <a:srgbClr val="ED7D31"/>
                </a:solidFill>
                <a:latin typeface="メイリオ"/>
                <a:ea typeface="メイリオ"/>
                <a:cs typeface="メイリオ"/>
              </a:rPr>
              <a:t>［実測差込］</a:t>
            </a:r>
          </a:p>
        </p:txBody>
      </p:sp>
      <p:sp>
        <p:nvSpPr>
          <p:cNvPr id="34" name="Rectangle 33"/>
          <p:cNvSpPr/>
          <p:nvPr/>
        </p:nvSpPr>
        <p:spPr>
          <a:xfrm>
            <a:off x="7775999" y="3286799"/>
            <a:ext cx="1699200" cy="298800"/>
          </a:xfrm>
          <a:prstGeom prst="rect">
            <a:avLst/>
          </a:prstGeom>
          <a:solidFill>
            <a:srgbClr val="FFFFFF"/>
          </a:solidFill>
          <a:ln w="11430">
            <a:solidFill>
              <a:srgbClr val="ED7D3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4400" rIns="14400" tIns="0" bIns="0"/>
          <a:lstStyle/>
          <a:p>
            <a:pPr algn="ctr"/>
            <a:r>
              <a:rPr sz="800">
                <a:solidFill>
                  <a:srgbClr val="ED7D31"/>
                </a:solidFill>
                <a:latin typeface="メイリオ"/>
                <a:ea typeface="メイリオ"/>
                <a:cs typeface="メイリオ"/>
              </a:rPr>
              <a:t>［実測差込］</a:t>
            </a:r>
          </a:p>
        </p:txBody>
      </p:sp>
      <p:sp>
        <p:nvSpPr>
          <p:cNvPr id="35" name="Rectangle 34"/>
          <p:cNvSpPr/>
          <p:nvPr/>
        </p:nvSpPr>
        <p:spPr>
          <a:xfrm>
            <a:off x="432000" y="3585599"/>
            <a:ext cx="396000" cy="298800"/>
          </a:xfrm>
          <a:prstGeom prst="rect">
            <a:avLst/>
          </a:prstGeom>
          <a:solidFill>
            <a:srgbClr val="F2F2F2"/>
          </a:solidFill>
          <a:ln w="889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28800" tIns="0" bIns="0"/>
          <a:lstStyle/>
          <a:p>
            <a:pPr algn="ctr"/>
            <a:r>
              <a:rPr sz="850">
                <a:solidFill>
                  <a:srgbClr val="333333"/>
                </a:solidFill>
                <a:latin typeface="メイリオ"/>
                <a:ea typeface="メイリオ"/>
                <a:cs typeface="メイリオ"/>
              </a:rPr>
              <a:t>6</a:t>
            </a:r>
          </a:p>
        </p:txBody>
      </p:sp>
      <p:sp>
        <p:nvSpPr>
          <p:cNvPr id="36" name="Rectangle 35"/>
          <p:cNvSpPr/>
          <p:nvPr/>
        </p:nvSpPr>
        <p:spPr>
          <a:xfrm>
            <a:off x="827999" y="3585599"/>
            <a:ext cx="2304000" cy="298800"/>
          </a:xfrm>
          <a:prstGeom prst="rect">
            <a:avLst/>
          </a:prstGeom>
          <a:solidFill>
            <a:srgbClr val="F2F2F2"/>
          </a:solidFill>
          <a:ln w="889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28800" tIns="0" bIns="0"/>
          <a:lstStyle/>
          <a:p>
            <a:pPr algn="l"/>
            <a:r>
              <a:rPr sz="850">
                <a:solidFill>
                  <a:srgbClr val="333333"/>
                </a:solidFill>
                <a:latin typeface="メイリオ"/>
                <a:ea typeface="メイリオ"/>
                <a:cs typeface="メイリオ"/>
              </a:rPr>
              <a:t>タマホーム</a:t>
            </a:r>
          </a:p>
        </p:txBody>
      </p:sp>
      <p:sp>
        <p:nvSpPr>
          <p:cNvPr id="37" name="Rectangle 36"/>
          <p:cNvSpPr/>
          <p:nvPr/>
        </p:nvSpPr>
        <p:spPr>
          <a:xfrm>
            <a:off x="3131999" y="3585599"/>
            <a:ext cx="2736000" cy="298800"/>
          </a:xfrm>
          <a:prstGeom prst="rect">
            <a:avLst/>
          </a:prstGeom>
          <a:solidFill>
            <a:srgbClr val="F2F2F2"/>
          </a:solidFill>
          <a:ln w="889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28800" tIns="0" bIns="0"/>
          <a:lstStyle/>
          <a:p>
            <a:pPr algn="l"/>
            <a:r>
              <a:rPr sz="850">
                <a:solidFill>
                  <a:srgbClr val="333333"/>
                </a:solidFill>
                <a:latin typeface="メイリオ"/>
                <a:ea typeface="メイリオ"/>
                <a:cs typeface="メイリオ"/>
              </a:rPr>
              <a:t>確認中</a:t>
            </a:r>
          </a:p>
        </p:txBody>
      </p:sp>
      <p:sp>
        <p:nvSpPr>
          <p:cNvPr id="38" name="Rectangle 37"/>
          <p:cNvSpPr/>
          <p:nvPr/>
        </p:nvSpPr>
        <p:spPr>
          <a:xfrm>
            <a:off x="5867999" y="3585599"/>
            <a:ext cx="1908000" cy="298800"/>
          </a:xfrm>
          <a:prstGeom prst="rect">
            <a:avLst/>
          </a:prstGeom>
          <a:solidFill>
            <a:srgbClr val="FFFFFF"/>
          </a:solidFill>
          <a:ln w="11430">
            <a:solidFill>
              <a:srgbClr val="ED7D3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4400" rIns="14400" tIns="0" bIns="0"/>
          <a:lstStyle/>
          <a:p>
            <a:pPr algn="ctr"/>
            <a:r>
              <a:rPr sz="800">
                <a:solidFill>
                  <a:srgbClr val="ED7D31"/>
                </a:solidFill>
                <a:latin typeface="メイリオ"/>
                <a:ea typeface="メイリオ"/>
                <a:cs typeface="メイリオ"/>
              </a:rPr>
              <a:t>［実測差込］</a:t>
            </a:r>
          </a:p>
        </p:txBody>
      </p:sp>
      <p:sp>
        <p:nvSpPr>
          <p:cNvPr id="39" name="Rectangle 38"/>
          <p:cNvSpPr/>
          <p:nvPr/>
        </p:nvSpPr>
        <p:spPr>
          <a:xfrm>
            <a:off x="7775999" y="3585599"/>
            <a:ext cx="1699200" cy="298800"/>
          </a:xfrm>
          <a:prstGeom prst="rect">
            <a:avLst/>
          </a:prstGeom>
          <a:solidFill>
            <a:srgbClr val="FFFFFF"/>
          </a:solidFill>
          <a:ln w="11430">
            <a:solidFill>
              <a:srgbClr val="ED7D3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4400" rIns="14400" tIns="0" bIns="0"/>
          <a:lstStyle/>
          <a:p>
            <a:pPr algn="ctr"/>
            <a:r>
              <a:rPr sz="800">
                <a:solidFill>
                  <a:srgbClr val="ED7D31"/>
                </a:solidFill>
                <a:latin typeface="メイリオ"/>
                <a:ea typeface="メイリオ"/>
                <a:cs typeface="メイリオ"/>
              </a:rPr>
              <a:t>［実測差込］</a:t>
            </a:r>
          </a:p>
        </p:txBody>
      </p:sp>
      <p:sp>
        <p:nvSpPr>
          <p:cNvPr id="40" name="Rectangle 39"/>
          <p:cNvSpPr/>
          <p:nvPr/>
        </p:nvSpPr>
        <p:spPr>
          <a:xfrm>
            <a:off x="432000" y="3884399"/>
            <a:ext cx="396000" cy="298800"/>
          </a:xfrm>
          <a:prstGeom prst="rect">
            <a:avLst/>
          </a:prstGeom>
          <a:solidFill>
            <a:srgbClr val="FFFFFF"/>
          </a:solidFill>
          <a:ln w="889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28800" tIns="0" bIns="0"/>
          <a:lstStyle/>
          <a:p>
            <a:pPr algn="ctr"/>
            <a:r>
              <a:rPr sz="850">
                <a:solidFill>
                  <a:srgbClr val="333333"/>
                </a:solidFill>
                <a:latin typeface="メイリオ"/>
                <a:ea typeface="メイリオ"/>
                <a:cs typeface="メイリオ"/>
              </a:rPr>
              <a:t>7</a:t>
            </a:r>
          </a:p>
        </p:txBody>
      </p:sp>
      <p:sp>
        <p:nvSpPr>
          <p:cNvPr id="41" name="Rectangle 40"/>
          <p:cNvSpPr/>
          <p:nvPr/>
        </p:nvSpPr>
        <p:spPr>
          <a:xfrm>
            <a:off x="827999" y="3884399"/>
            <a:ext cx="2304000" cy="298800"/>
          </a:xfrm>
          <a:prstGeom prst="rect">
            <a:avLst/>
          </a:prstGeom>
          <a:solidFill>
            <a:srgbClr val="FFFFFF"/>
          </a:solidFill>
          <a:ln w="889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28800" tIns="0" bIns="0"/>
          <a:lstStyle/>
          <a:p>
            <a:pPr algn="l"/>
            <a:r>
              <a:rPr sz="850">
                <a:solidFill>
                  <a:srgbClr val="333333"/>
                </a:solidFill>
                <a:latin typeface="メイリオ"/>
                <a:ea typeface="メイリオ"/>
                <a:cs typeface="メイリオ"/>
              </a:rPr>
              <a:t>アイ工務店（中堅・伸長）</a:t>
            </a:r>
          </a:p>
        </p:txBody>
      </p:sp>
      <p:sp>
        <p:nvSpPr>
          <p:cNvPr id="42" name="Rectangle 41"/>
          <p:cNvSpPr/>
          <p:nvPr/>
        </p:nvSpPr>
        <p:spPr>
          <a:xfrm>
            <a:off x="3131999" y="3884399"/>
            <a:ext cx="2736000" cy="298800"/>
          </a:xfrm>
          <a:prstGeom prst="rect">
            <a:avLst/>
          </a:prstGeom>
          <a:solidFill>
            <a:srgbClr val="FFFFFF"/>
          </a:solidFill>
          <a:ln w="889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28800" tIns="0" bIns="0"/>
          <a:lstStyle/>
          <a:p>
            <a:pPr algn="l"/>
            <a:r>
              <a:rPr sz="850">
                <a:solidFill>
                  <a:srgbClr val="333333"/>
                </a:solidFill>
                <a:latin typeface="メイリオ"/>
                <a:ea typeface="メイリオ"/>
                <a:cs typeface="メイリオ"/>
              </a:rPr>
              <a:t>確認中</a:t>
            </a:r>
          </a:p>
        </p:txBody>
      </p:sp>
      <p:sp>
        <p:nvSpPr>
          <p:cNvPr id="43" name="Rectangle 42"/>
          <p:cNvSpPr/>
          <p:nvPr/>
        </p:nvSpPr>
        <p:spPr>
          <a:xfrm>
            <a:off x="5867999" y="3884399"/>
            <a:ext cx="1908000" cy="298800"/>
          </a:xfrm>
          <a:prstGeom prst="rect">
            <a:avLst/>
          </a:prstGeom>
          <a:solidFill>
            <a:srgbClr val="FFFFFF"/>
          </a:solidFill>
          <a:ln w="11430">
            <a:solidFill>
              <a:srgbClr val="ED7D3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4400" rIns="14400" tIns="0" bIns="0"/>
          <a:lstStyle/>
          <a:p>
            <a:pPr algn="ctr"/>
            <a:r>
              <a:rPr sz="800">
                <a:solidFill>
                  <a:srgbClr val="ED7D31"/>
                </a:solidFill>
                <a:latin typeface="メイリオ"/>
                <a:ea typeface="メイリオ"/>
                <a:cs typeface="メイリオ"/>
              </a:rPr>
              <a:t>［実測差込］</a:t>
            </a:r>
          </a:p>
        </p:txBody>
      </p:sp>
      <p:sp>
        <p:nvSpPr>
          <p:cNvPr id="44" name="Rectangle 43"/>
          <p:cNvSpPr/>
          <p:nvPr/>
        </p:nvSpPr>
        <p:spPr>
          <a:xfrm>
            <a:off x="7775999" y="3884399"/>
            <a:ext cx="1699200" cy="298800"/>
          </a:xfrm>
          <a:prstGeom prst="rect">
            <a:avLst/>
          </a:prstGeom>
          <a:solidFill>
            <a:srgbClr val="FFFFFF"/>
          </a:solidFill>
          <a:ln w="11430">
            <a:solidFill>
              <a:srgbClr val="ED7D3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4400" rIns="14400" tIns="0" bIns="0"/>
          <a:lstStyle/>
          <a:p>
            <a:pPr algn="ctr"/>
            <a:r>
              <a:rPr sz="800">
                <a:solidFill>
                  <a:srgbClr val="ED7D31"/>
                </a:solidFill>
                <a:latin typeface="メイリオ"/>
                <a:ea typeface="メイリオ"/>
                <a:cs typeface="メイリオ"/>
              </a:rPr>
              <a:t>［実測差込］</a:t>
            </a:r>
          </a:p>
        </p:txBody>
      </p:sp>
      <p:sp>
        <p:nvSpPr>
          <p:cNvPr id="45" name="Rectangle 44"/>
          <p:cNvSpPr/>
          <p:nvPr/>
        </p:nvSpPr>
        <p:spPr>
          <a:xfrm>
            <a:off x="432000" y="4183199"/>
            <a:ext cx="396000" cy="298800"/>
          </a:xfrm>
          <a:prstGeom prst="rect">
            <a:avLst/>
          </a:prstGeom>
          <a:solidFill>
            <a:srgbClr val="F2F2F2"/>
          </a:solidFill>
          <a:ln w="889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28800" tIns="0" bIns="0"/>
          <a:lstStyle/>
          <a:p>
            <a:pPr algn="ctr"/>
            <a:r>
              <a:rPr sz="850">
                <a:solidFill>
                  <a:srgbClr val="333333"/>
                </a:solidFill>
                <a:latin typeface="メイリオ"/>
                <a:ea typeface="メイリオ"/>
                <a:cs typeface="メイリオ"/>
              </a:rPr>
              <a:t>8</a:t>
            </a:r>
          </a:p>
        </p:txBody>
      </p:sp>
      <p:sp>
        <p:nvSpPr>
          <p:cNvPr id="46" name="Rectangle 45"/>
          <p:cNvSpPr/>
          <p:nvPr/>
        </p:nvSpPr>
        <p:spPr>
          <a:xfrm>
            <a:off x="827999" y="4183199"/>
            <a:ext cx="2304000" cy="298800"/>
          </a:xfrm>
          <a:prstGeom prst="rect">
            <a:avLst/>
          </a:prstGeom>
          <a:solidFill>
            <a:srgbClr val="F2F2F2"/>
          </a:solidFill>
          <a:ln w="889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28800" tIns="0" bIns="0"/>
          <a:lstStyle/>
          <a:p>
            <a:pPr algn="l"/>
            <a:r>
              <a:rPr sz="850">
                <a:solidFill>
                  <a:srgbClr val="333333"/>
                </a:solidFill>
                <a:latin typeface="メイリオ"/>
                <a:ea typeface="メイリオ"/>
                <a:cs typeface="メイリオ"/>
              </a:rPr>
              <a:t>クレバリーホーム（中堅・FC）</a:t>
            </a:r>
          </a:p>
        </p:txBody>
      </p:sp>
      <p:sp>
        <p:nvSpPr>
          <p:cNvPr id="47" name="Rectangle 46"/>
          <p:cNvSpPr/>
          <p:nvPr/>
        </p:nvSpPr>
        <p:spPr>
          <a:xfrm>
            <a:off x="3131999" y="4183199"/>
            <a:ext cx="2736000" cy="298800"/>
          </a:xfrm>
          <a:prstGeom prst="rect">
            <a:avLst/>
          </a:prstGeom>
          <a:solidFill>
            <a:srgbClr val="F2F2F2"/>
          </a:solidFill>
          <a:ln w="889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28800" tIns="0" bIns="0"/>
          <a:lstStyle/>
          <a:p>
            <a:pPr algn="l"/>
            <a:r>
              <a:rPr sz="850">
                <a:solidFill>
                  <a:srgbClr val="333333"/>
                </a:solidFill>
                <a:latin typeface="メイリオ"/>
                <a:ea typeface="メイリオ"/>
                <a:cs typeface="メイリオ"/>
              </a:rPr>
              <a:t>確認中</a:t>
            </a:r>
          </a:p>
        </p:txBody>
      </p:sp>
      <p:sp>
        <p:nvSpPr>
          <p:cNvPr id="48" name="Rectangle 47"/>
          <p:cNvSpPr/>
          <p:nvPr/>
        </p:nvSpPr>
        <p:spPr>
          <a:xfrm>
            <a:off x="5867999" y="4183199"/>
            <a:ext cx="1908000" cy="298800"/>
          </a:xfrm>
          <a:prstGeom prst="rect">
            <a:avLst/>
          </a:prstGeom>
          <a:solidFill>
            <a:srgbClr val="FFFFFF"/>
          </a:solidFill>
          <a:ln w="11430">
            <a:solidFill>
              <a:srgbClr val="ED7D3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4400" rIns="14400" tIns="0" bIns="0"/>
          <a:lstStyle/>
          <a:p>
            <a:pPr algn="ctr"/>
            <a:r>
              <a:rPr sz="800">
                <a:solidFill>
                  <a:srgbClr val="ED7D31"/>
                </a:solidFill>
                <a:latin typeface="メイリオ"/>
                <a:ea typeface="メイリオ"/>
                <a:cs typeface="メイリオ"/>
              </a:rPr>
              <a:t>［実測差込］</a:t>
            </a:r>
          </a:p>
        </p:txBody>
      </p:sp>
      <p:sp>
        <p:nvSpPr>
          <p:cNvPr id="49" name="Rectangle 48"/>
          <p:cNvSpPr/>
          <p:nvPr/>
        </p:nvSpPr>
        <p:spPr>
          <a:xfrm>
            <a:off x="7775999" y="4183199"/>
            <a:ext cx="1699200" cy="298800"/>
          </a:xfrm>
          <a:prstGeom prst="rect">
            <a:avLst/>
          </a:prstGeom>
          <a:solidFill>
            <a:srgbClr val="FFFFFF"/>
          </a:solidFill>
          <a:ln w="11430">
            <a:solidFill>
              <a:srgbClr val="ED7D3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4400" rIns="14400" tIns="0" bIns="0"/>
          <a:lstStyle/>
          <a:p>
            <a:pPr algn="ctr"/>
            <a:r>
              <a:rPr sz="800">
                <a:solidFill>
                  <a:srgbClr val="ED7D31"/>
                </a:solidFill>
                <a:latin typeface="メイリオ"/>
                <a:ea typeface="メイリオ"/>
                <a:cs typeface="メイリオ"/>
              </a:rPr>
              <a:t>［実測差込］</a:t>
            </a:r>
          </a:p>
        </p:txBody>
      </p:sp>
      <p:sp>
        <p:nvSpPr>
          <p:cNvPr id="50" name="TextBox 49"/>
          <p:cNvSpPr txBox="1"/>
          <p:nvPr/>
        </p:nvSpPr>
        <p:spPr>
          <a:xfrm>
            <a:off x="432000" y="4608000"/>
            <a:ext cx="9043200" cy="198000"/>
          </a:xfrm>
          <a:prstGeom prst="rect">
            <a:avLst/>
          </a:prstGeom>
          <a:noFill/>
        </p:spPr>
        <p:txBody>
          <a:bodyPr wrap="square" lIns="0" rIns="50400" tIns="21600" bIns="21600" anchor="t">
            <a:spAutoFit/>
          </a:bodyPr>
          <a:lstStyle/>
          <a:p>
            <a:pPr algn="l"/>
            <a:r>
              <a:rPr sz="1100" b="1">
                <a:solidFill>
                  <a:srgbClr val="1F285A"/>
                </a:solidFill>
                <a:latin typeface="メイリオ"/>
                <a:ea typeface="メイリオ"/>
                <a:cs typeface="メイリオ"/>
              </a:rPr>
              <a:t>友だち数の取得手順（提案前に実施・DYM側で対応）</a:t>
            </a:r>
          </a:p>
        </p:txBody>
      </p:sp>
      <p:sp>
        <p:nvSpPr>
          <p:cNvPr id="51" name="Rounded Rectangle 50"/>
          <p:cNvSpPr/>
          <p:nvPr/>
        </p:nvSpPr>
        <p:spPr>
          <a:xfrm>
            <a:off x="432000" y="4831199"/>
            <a:ext cx="2160000" cy="82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9200" rIns="64800" tIns="50400" bIns="36000"/>
          <a:lstStyle/>
          <a:p>
            <a:pPr algn="l">
              <a:spcAft>
                <a:spcPts val="300"/>
              </a:spcAft>
            </a:pPr>
            <a:r>
              <a:rPr sz="1000" b="1">
                <a:solidFill>
                  <a:srgbClr val="1F285A"/>
                </a:solidFill>
                <a:latin typeface="メイリオ"/>
                <a:ea typeface="メイリオ"/>
                <a:cs typeface="メイリオ"/>
              </a:rPr>
              <a:t>STEP 1</a:t>
            </a:r>
          </a:p>
          <a:p>
            <a:pPr algn="l">
              <a:lnSpc>
                <a:spcPct val="118000"/>
              </a:lnSpc>
              <a:spcAft>
                <a:spcPts val="100"/>
              </a:spcAft>
            </a:pPr>
            <a:r>
              <a:rPr sz="850">
                <a:solidFill>
                  <a:srgbClr val="333333"/>
                </a:solidFill>
                <a:latin typeface="メイリオ"/>
                <a:ea typeface="メイリオ"/>
                <a:cs typeface="メイリオ"/>
              </a:rPr>
              <a:t>page.line.me/&lt;アカウントID&gt; を開く。</a:t>
            </a:r>
          </a:p>
          <a:p>
            <a:pPr algn="l">
              <a:lnSpc>
                <a:spcPct val="118000"/>
              </a:lnSpc>
              <a:spcAft>
                <a:spcPts val="100"/>
              </a:spcAft>
            </a:pPr>
            <a:r>
              <a:rPr sz="850">
                <a:solidFill>
                  <a:srgbClr val="333333"/>
                </a:solidFill>
                <a:latin typeface="メイリオ"/>
                <a:ea typeface="メイリオ"/>
                <a:cs typeface="メイリオ"/>
              </a:rPr>
              <a:t>スライドに載せる数値は公式のみ</a:t>
            </a:r>
          </a:p>
        </p:txBody>
      </p:sp>
      <p:sp>
        <p:nvSpPr>
          <p:cNvPr id="52" name="Rounded Rectangle 51"/>
          <p:cNvSpPr/>
          <p:nvPr/>
        </p:nvSpPr>
        <p:spPr>
          <a:xfrm>
            <a:off x="2714400" y="4831199"/>
            <a:ext cx="2160000" cy="82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9200" rIns="64800" tIns="50400" bIns="36000"/>
          <a:lstStyle/>
          <a:p>
            <a:pPr algn="l">
              <a:spcAft>
                <a:spcPts val="300"/>
              </a:spcAft>
            </a:pPr>
            <a:r>
              <a:rPr sz="1000" b="1">
                <a:solidFill>
                  <a:srgbClr val="1F285A"/>
                </a:solidFill>
                <a:latin typeface="メイリオ"/>
                <a:ea typeface="メイリオ"/>
                <a:cs typeface="メイリオ"/>
              </a:rPr>
              <a:t>STEP 2</a:t>
            </a:r>
          </a:p>
          <a:p>
            <a:pPr algn="l">
              <a:lnSpc>
                <a:spcPct val="118000"/>
              </a:lnSpc>
              <a:spcAft>
                <a:spcPts val="100"/>
              </a:spcAft>
            </a:pPr>
            <a:r>
              <a:rPr sz="850">
                <a:solidFill>
                  <a:srgbClr val="333333"/>
                </a:solidFill>
                <a:latin typeface="メイリオ"/>
                <a:ea typeface="メイリオ"/>
                <a:cs typeface="メイリオ"/>
              </a:rPr>
              <a:t>_accountHeadSubText 直後の数値を取得。</a:t>
            </a:r>
          </a:p>
          <a:p>
            <a:pPr algn="l">
              <a:lnSpc>
                <a:spcPct val="118000"/>
              </a:lnSpc>
              <a:spcAft>
                <a:spcPts val="100"/>
              </a:spcAft>
            </a:pPr>
            <a:r>
              <a:rPr sz="850">
                <a:solidFill>
                  <a:srgbClr val="333333"/>
                </a:solidFill>
                <a:latin typeface="メイリオ"/>
                <a:ea typeface="メイリオ"/>
                <a:cs typeface="メイリオ"/>
              </a:rPr>
              <a:t>「おすすめ」欄の他社数値は拾わない</a:t>
            </a:r>
          </a:p>
        </p:txBody>
      </p:sp>
      <p:sp>
        <p:nvSpPr>
          <p:cNvPr id="53" name="Rounded Rectangle 52"/>
          <p:cNvSpPr/>
          <p:nvPr/>
        </p:nvSpPr>
        <p:spPr>
          <a:xfrm>
            <a:off x="4996800" y="4831199"/>
            <a:ext cx="2160000" cy="82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9200" rIns="64800" tIns="50400" bIns="36000"/>
          <a:lstStyle/>
          <a:p>
            <a:pPr algn="l">
              <a:spcAft>
                <a:spcPts val="300"/>
              </a:spcAft>
            </a:pPr>
            <a:r>
              <a:rPr sz="1000" b="1">
                <a:solidFill>
                  <a:srgbClr val="1F285A"/>
                </a:solidFill>
                <a:latin typeface="メイリオ"/>
                <a:ea typeface="メイリオ"/>
                <a:cs typeface="メイリオ"/>
              </a:rPr>
              <a:t>STEP 3</a:t>
            </a:r>
          </a:p>
          <a:p>
            <a:pPr algn="l">
              <a:lnSpc>
                <a:spcPct val="118000"/>
              </a:lnSpc>
              <a:spcAft>
                <a:spcPts val="100"/>
              </a:spcAft>
            </a:pPr>
            <a:r>
              <a:rPr sz="850">
                <a:solidFill>
                  <a:srgbClr val="333333"/>
                </a:solidFill>
                <a:latin typeface="メイリオ"/>
                <a:ea typeface="メイリオ"/>
                <a:cs typeface="メイリオ"/>
              </a:rPr>
              <a:t>取得日を必ず併記（例：2026年●月●日時点）。</a:t>
            </a:r>
          </a:p>
          <a:p>
            <a:pPr algn="l">
              <a:lnSpc>
                <a:spcPct val="118000"/>
              </a:lnSpc>
              <a:spcAft>
                <a:spcPts val="100"/>
              </a:spcAft>
            </a:pPr>
            <a:r>
              <a:rPr sz="850">
                <a:solidFill>
                  <a:srgbClr val="333333"/>
                </a:solidFill>
                <a:latin typeface="メイリオ"/>
                <a:ea typeface="メイリオ"/>
                <a:cs typeface="メイリオ"/>
              </a:rPr>
              <a:t>古ければ提案直前に再取得</a:t>
            </a:r>
          </a:p>
        </p:txBody>
      </p:sp>
      <p:sp>
        <p:nvSpPr>
          <p:cNvPr id="54" name="Rounded Rectangle 53"/>
          <p:cNvSpPr/>
          <p:nvPr/>
        </p:nvSpPr>
        <p:spPr>
          <a:xfrm>
            <a:off x="7279200" y="4831199"/>
            <a:ext cx="2160000" cy="82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9200" rIns="64800" tIns="50400" bIns="36000"/>
          <a:lstStyle/>
          <a:p>
            <a:pPr algn="l">
              <a:spcAft>
                <a:spcPts val="300"/>
              </a:spcAft>
            </a:pPr>
            <a:r>
              <a:rPr sz="1000" b="1">
                <a:solidFill>
                  <a:srgbClr val="1F285A"/>
                </a:solidFill>
                <a:latin typeface="メイリオ"/>
                <a:ea typeface="メイリオ"/>
                <a:cs typeface="メイリオ"/>
              </a:rPr>
              <a:t>STEP 4</a:t>
            </a:r>
          </a:p>
          <a:p>
            <a:pPr algn="l">
              <a:lnSpc>
                <a:spcPct val="118000"/>
              </a:lnSpc>
              <a:spcAft>
                <a:spcPts val="100"/>
              </a:spcAft>
            </a:pPr>
            <a:r>
              <a:rPr sz="850">
                <a:solidFill>
                  <a:srgbClr val="333333"/>
                </a:solidFill>
                <a:latin typeface="メイリオ"/>
                <a:ea typeface="メイリオ"/>
                <a:cs typeface="メイリオ"/>
              </a:rPr>
              <a:t>実機スクショは調査用の別アカウントで取得。</a:t>
            </a:r>
          </a:p>
          <a:p>
            <a:pPr algn="l">
              <a:lnSpc>
                <a:spcPct val="118000"/>
              </a:lnSpc>
              <a:spcAft>
                <a:spcPts val="100"/>
              </a:spcAft>
            </a:pPr>
            <a:r>
              <a:rPr sz="850">
                <a:solidFill>
                  <a:srgbClr val="333333"/>
                </a:solidFill>
                <a:latin typeface="メイリオ"/>
                <a:ea typeface="メイリオ"/>
                <a:cs typeface="メイリオ"/>
              </a:rPr>
              <a:t>本人アカウントで追加しない</a:t>
            </a:r>
          </a:p>
        </p:txBody>
      </p:sp>
      <p:sp>
        <p:nvSpPr>
          <p:cNvPr id="55" name="TextBox 54"/>
          <p:cNvSpPr txBox="1"/>
          <p:nvPr/>
        </p:nvSpPr>
        <p:spPr>
          <a:xfrm>
            <a:off x="432000" y="6246000"/>
            <a:ext cx="9043200" cy="324000"/>
          </a:xfrm>
          <a:prstGeom prst="rect">
            <a:avLst/>
          </a:prstGeom>
          <a:noFill/>
        </p:spPr>
        <p:txBody>
          <a:bodyPr wrap="square" lIns="0" rIns="0" tIns="21600" bIns="21600" anchor="t">
            <a:spAutoFit/>
          </a:bodyPr>
          <a:lstStyle/>
          <a:p>
            <a:pPr algn="l">
              <a:lnSpc>
                <a:spcPct val="115000"/>
              </a:lnSpc>
            </a:pPr>
            <a:r>
              <a:rPr sz="750">
                <a:solidFill>
                  <a:srgbClr val="7F7F7F"/>
                </a:solidFill>
                <a:latin typeface="メイリオ"/>
                <a:ea typeface="メイリオ"/>
                <a:cs typeface="メイリオ"/>
              </a:rPr>
              <a:t>※ 競合8社は知名度優先で自動選定（大手中心＋運用が特徴的な中堅2社）。実名掲載の最終可否は上司確認事項です。第三者集計サイトの数値はスライドに掲載しません。</a:t>
            </a:r>
          </a:p>
        </p:txBody>
      </p:sp>
    </p:spTree>
    <p:extLst>
      <p:ext uri="{BB962C8B-B14F-4D97-AF65-F5344CB8AC3E}">
        <p14:creationId xmlns:p14="http://schemas.microsoft.com/office/powerpoint/2010/main" val="26877791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7598A-7489-8F6D-91D8-19CE7F507B2C}"/>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rIns="0" tIns="21600" bIns="21600" anchor="ctr">
            <a:spAutoFit/>
          </a:bodyPr>
          <a:lstStyle/>
          <a:p>
            <a:pPr algn="l"/>
            <a:r>
              <a:rPr sz="1600" b="1">
                <a:solidFill>
                  <a:srgbClr val="002060"/>
                </a:solidFill>
                <a:latin typeface="メイリオ"/>
                <a:ea typeface="メイリオ"/>
                <a:cs typeface="メイリオ"/>
              </a:rPr>
              <a:t>他社分析②｜運用の型は4つ。診断ドリブン型が空いている</a:t>
            </a:r>
          </a:p>
        </p:txBody>
      </p:sp>
      <p:sp>
        <p:nvSpPr>
          <p:cNvPr id="3" name="TextBox 2"/>
          <p:cNvSpPr txBox="1"/>
          <p:nvPr/>
        </p:nvSpPr>
        <p:spPr>
          <a:xfrm>
            <a:off x="432000" y="648000"/>
            <a:ext cx="9036000" cy="684000"/>
          </a:xfrm>
          <a:prstGeom prst="rect">
            <a:avLst/>
          </a:prstGeom>
          <a:noFill/>
        </p:spPr>
        <p:txBody>
          <a:bodyPr wrap="square" lIns="0" rIns="0" tIns="21600" bIns="21600" anchor="ctr">
            <a:spAutoFit/>
          </a:bodyPr>
          <a:lstStyle/>
          <a:p>
            <a:pPr algn="l">
              <a:lnSpc>
                <a:spcPct val="128000"/>
              </a:lnSpc>
            </a:pPr>
            <a:r>
              <a:rPr sz="1200">
                <a:solidFill>
                  <a:srgbClr val="333333"/>
                </a:solidFill>
                <a:latin typeface="メイリオ"/>
                <a:ea typeface="メイリオ"/>
                <a:cs typeface="メイリオ"/>
              </a:rPr>
              <a:t>規模で勝っている社と、伸び率で勝っている社は一致しない。この2軸で読むと示唆が出る。</a:t>
            </a:r>
          </a:p>
          <a:p>
            <a:pPr algn="l">
              <a:lnSpc>
                <a:spcPct val="128000"/>
              </a:lnSpc>
            </a:pPr>
            <a:r>
              <a:rPr sz="1200">
                <a:solidFill>
                  <a:srgbClr val="333333"/>
                </a:solidFill>
                <a:latin typeface="メイリオ"/>
                <a:ea typeface="メイリオ"/>
                <a:cs typeface="メイリオ"/>
              </a:rPr>
              <a:t>現時点で「検討初期の不安を診断で受け止める」ポジションは取られていない。</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32000" y="1818000"/>
            <a:ext cx="5544000" cy="3636000"/>
          </a:xfrm>
          <a:prstGeom prst="rect">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3204000" y="1818000"/>
            <a:ext cx="0" cy="3635999"/>
          </a:xfrm>
          <a:prstGeom prst="line">
            <a:avLst/>
          </a:prstGeom>
          <a:ln>
            <a:solidFill>
              <a:srgbClr val="D9D9D9"/>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432000" y="3636000"/>
            <a:ext cx="5544000" cy="0"/>
          </a:xfrm>
          <a:prstGeom prst="line">
            <a:avLst/>
          </a:prstGeom>
          <a:ln>
            <a:solidFill>
              <a:srgbClr val="D9D9D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32000" y="1609200"/>
            <a:ext cx="5544000" cy="180000"/>
          </a:xfrm>
          <a:prstGeom prst="rect">
            <a:avLst/>
          </a:prstGeom>
          <a:noFill/>
        </p:spPr>
        <p:txBody>
          <a:bodyPr wrap="square" lIns="0" rIns="50400" tIns="21600" bIns="21600" anchor="t">
            <a:spAutoFit/>
          </a:bodyPr>
          <a:lstStyle/>
          <a:p>
            <a:pPr algn="ctr"/>
            <a:r>
              <a:rPr sz="850">
                <a:solidFill>
                  <a:srgbClr val="7F7F7F"/>
                </a:solidFill>
                <a:latin typeface="メイリオ"/>
                <a:ea typeface="メイリオ"/>
                <a:cs typeface="メイリオ"/>
              </a:rPr>
              <a:t>配信頻度　少 ←──────────→ 多</a:t>
            </a:r>
          </a:p>
        </p:txBody>
      </p:sp>
      <p:sp>
        <p:nvSpPr>
          <p:cNvPr id="9" name="TextBox 8"/>
          <p:cNvSpPr txBox="1"/>
          <p:nvPr/>
        </p:nvSpPr>
        <p:spPr>
          <a:xfrm>
            <a:off x="395999" y="5489999"/>
            <a:ext cx="5544000" cy="180000"/>
          </a:xfrm>
          <a:prstGeom prst="rect">
            <a:avLst/>
          </a:prstGeom>
          <a:noFill/>
        </p:spPr>
        <p:txBody>
          <a:bodyPr wrap="square" lIns="0" rIns="50400" tIns="21600" bIns="21600" anchor="t">
            <a:spAutoFit/>
          </a:bodyPr>
          <a:lstStyle/>
          <a:p>
            <a:pPr algn="ctr"/>
            <a:r>
              <a:rPr sz="850">
                <a:solidFill>
                  <a:srgbClr val="7F7F7F"/>
                </a:solidFill>
                <a:latin typeface="メイリオ"/>
                <a:ea typeface="メイリオ"/>
                <a:cs typeface="メイリオ"/>
              </a:rPr>
              <a:t>縦軸：友だち増加率（低↓ / 高↑）</a:t>
            </a:r>
          </a:p>
        </p:txBody>
      </p:sp>
      <p:sp>
        <p:nvSpPr>
          <p:cNvPr id="10" name="Rounded Rectangle 9"/>
          <p:cNvSpPr/>
          <p:nvPr/>
        </p:nvSpPr>
        <p:spPr>
          <a:xfrm>
            <a:off x="532800" y="1918800"/>
            <a:ext cx="2570400" cy="16164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9200" rIns="64800" tIns="50400" bIns="36000"/>
          <a:lstStyle/>
          <a:p>
            <a:pPr algn="l">
              <a:spcAft>
                <a:spcPts val="300"/>
              </a:spcAft>
            </a:pPr>
            <a:r>
              <a:rPr sz="1100" b="1">
                <a:solidFill>
                  <a:srgbClr val="1F285A"/>
                </a:solidFill>
                <a:latin typeface="メイリオ"/>
                <a:ea typeface="メイリオ"/>
                <a:cs typeface="メイリオ"/>
              </a:rPr>
              <a:t>特典・会員型</a:t>
            </a:r>
          </a:p>
          <a:p>
            <a:pPr algn="l">
              <a:lnSpc>
                <a:spcPct val="118000"/>
              </a:lnSpc>
              <a:spcAft>
                <a:spcPts val="100"/>
              </a:spcAft>
            </a:pPr>
            <a:r>
              <a:rPr sz="850">
                <a:solidFill>
                  <a:srgbClr val="333333"/>
                </a:solidFill>
                <a:latin typeface="メイリオ"/>
                <a:ea typeface="メイリオ"/>
                <a:cs typeface="メイリオ"/>
              </a:rPr>
              <a:t>限定特典で友だち化。ローコスト系に多い。</a:t>
            </a:r>
          </a:p>
          <a:p>
            <a:pPr algn="l">
              <a:lnSpc>
                <a:spcPct val="118000"/>
              </a:lnSpc>
              <a:spcAft>
                <a:spcPts val="100"/>
              </a:spcAft>
            </a:pPr>
            <a:r>
              <a:rPr sz="850">
                <a:solidFill>
                  <a:srgbClr val="333333"/>
                </a:solidFill>
                <a:latin typeface="メイリオ"/>
                <a:ea typeface="メイリオ"/>
                <a:cs typeface="メイリオ"/>
              </a:rPr>
              <a:t>増加率は出るが友だちの質が薄くなりがち</a:t>
            </a:r>
          </a:p>
        </p:txBody>
      </p:sp>
      <p:sp>
        <p:nvSpPr>
          <p:cNvPr id="11" name="Rounded Rectangle 10"/>
          <p:cNvSpPr/>
          <p:nvPr/>
        </p:nvSpPr>
        <p:spPr>
          <a:xfrm>
            <a:off x="3304800" y="1918800"/>
            <a:ext cx="2570400" cy="1616400"/>
          </a:xfrm>
          <a:prstGeom prst="roundRect">
            <a:avLst>
              <a:gd name="adj" fmla="val 6000"/>
            </a:avLst>
          </a:prstGeom>
          <a:solidFill>
            <a:srgbClr val="FCE4D6"/>
          </a:solidFill>
          <a:ln w="1270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t" wrap="square" lIns="79200" rIns="64800" tIns="50400" bIns="36000"/>
          <a:lstStyle/>
          <a:p>
            <a:pPr algn="l">
              <a:spcAft>
                <a:spcPts val="300"/>
              </a:spcAft>
            </a:pPr>
            <a:r>
              <a:rPr sz="1100" b="1">
                <a:solidFill>
                  <a:srgbClr val="ED7D31"/>
                </a:solidFill>
                <a:latin typeface="メイリオ"/>
                <a:ea typeface="メイリオ"/>
                <a:cs typeface="メイリオ"/>
              </a:rPr>
              <a:t>診断ドリブン型</a:t>
            </a:r>
          </a:p>
          <a:p>
            <a:pPr algn="l">
              <a:lnSpc>
                <a:spcPct val="118000"/>
              </a:lnSpc>
              <a:spcAft>
                <a:spcPts val="100"/>
              </a:spcAft>
            </a:pPr>
            <a:r>
              <a:rPr sz="850">
                <a:solidFill>
                  <a:srgbClr val="333333"/>
                </a:solidFill>
                <a:latin typeface="メイリオ"/>
                <a:ea typeface="メイリオ"/>
                <a:cs typeface="メイリオ"/>
              </a:rPr>
              <a:t>診断で属性を取得し、検討段階別に出し分け。</a:t>
            </a:r>
          </a:p>
          <a:p>
            <a:pPr algn="l">
              <a:lnSpc>
                <a:spcPct val="118000"/>
              </a:lnSpc>
              <a:spcAft>
                <a:spcPts val="100"/>
              </a:spcAft>
            </a:pPr>
            <a:r>
              <a:rPr sz="850">
                <a:solidFill>
                  <a:srgbClr val="333333"/>
                </a:solidFill>
                <a:latin typeface="メイリオ"/>
                <a:ea typeface="メイリオ"/>
                <a:cs typeface="メイリオ"/>
              </a:rPr>
              <a:t>★ この型が最も少ない ＝ 空いている</a:t>
            </a:r>
          </a:p>
        </p:txBody>
      </p:sp>
      <p:sp>
        <p:nvSpPr>
          <p:cNvPr id="12" name="Rounded Rectangle 11"/>
          <p:cNvSpPr/>
          <p:nvPr/>
        </p:nvSpPr>
        <p:spPr>
          <a:xfrm>
            <a:off x="532800" y="3736799"/>
            <a:ext cx="2570400" cy="16164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9200" rIns="64800" tIns="50400" bIns="36000"/>
          <a:lstStyle/>
          <a:p>
            <a:pPr algn="l">
              <a:spcAft>
                <a:spcPts val="300"/>
              </a:spcAft>
            </a:pPr>
            <a:r>
              <a:rPr sz="1100" b="1">
                <a:solidFill>
                  <a:srgbClr val="1F285A"/>
                </a:solidFill>
                <a:latin typeface="メイリオ"/>
                <a:ea typeface="メイリオ"/>
                <a:cs typeface="メイリオ"/>
              </a:rPr>
              <a:t>相談カウンター型</a:t>
            </a:r>
          </a:p>
          <a:p>
            <a:pPr algn="l">
              <a:lnSpc>
                <a:spcPct val="118000"/>
              </a:lnSpc>
              <a:spcAft>
                <a:spcPts val="100"/>
              </a:spcAft>
            </a:pPr>
            <a:r>
              <a:rPr sz="850">
                <a:solidFill>
                  <a:srgbClr val="333333"/>
                </a:solidFill>
                <a:latin typeface="メイリオ"/>
                <a:ea typeface="メイリオ"/>
                <a:cs typeface="メイリオ"/>
              </a:rPr>
              <a:t>有人相談・展示場送客が主。配信していないことが多い。</a:t>
            </a:r>
          </a:p>
          <a:p>
            <a:pPr algn="l">
              <a:lnSpc>
                <a:spcPct val="118000"/>
              </a:lnSpc>
              <a:spcAft>
                <a:spcPts val="100"/>
              </a:spcAft>
            </a:pPr>
            <a:r>
              <a:rPr sz="850">
                <a:solidFill>
                  <a:srgbClr val="333333"/>
                </a:solidFill>
                <a:latin typeface="メイリオ"/>
                <a:ea typeface="メイリオ"/>
                <a:cs typeface="メイリオ"/>
              </a:rPr>
              <a:t>地場ビルダー・FC加盟店に多い</a:t>
            </a:r>
          </a:p>
        </p:txBody>
      </p:sp>
      <p:sp>
        <p:nvSpPr>
          <p:cNvPr id="13" name="Rounded Rectangle 12"/>
          <p:cNvSpPr/>
          <p:nvPr/>
        </p:nvSpPr>
        <p:spPr>
          <a:xfrm>
            <a:off x="3304800" y="3736799"/>
            <a:ext cx="2570400" cy="1616400"/>
          </a:xfrm>
          <a:prstGeom prst="roundRect">
            <a:avLst>
              <a:gd name="adj" fmla="val 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9200" rIns="64800" tIns="50400" bIns="36000"/>
          <a:lstStyle/>
          <a:p>
            <a:pPr algn="l">
              <a:spcAft>
                <a:spcPts val="300"/>
              </a:spcAft>
            </a:pPr>
            <a:r>
              <a:rPr sz="1100" b="1">
                <a:solidFill>
                  <a:srgbClr val="1F285A"/>
                </a:solidFill>
                <a:latin typeface="メイリオ"/>
                <a:ea typeface="メイリオ"/>
                <a:cs typeface="メイリオ"/>
              </a:rPr>
              <a:t>カタログ型</a:t>
            </a:r>
          </a:p>
          <a:p>
            <a:pPr algn="l">
              <a:lnSpc>
                <a:spcPct val="118000"/>
              </a:lnSpc>
              <a:spcAft>
                <a:spcPts val="100"/>
              </a:spcAft>
            </a:pPr>
            <a:r>
              <a:rPr sz="850">
                <a:solidFill>
                  <a:srgbClr val="333333"/>
                </a:solidFill>
                <a:latin typeface="メイリオ"/>
                <a:ea typeface="メイリオ"/>
                <a:cs typeface="メイリオ"/>
              </a:rPr>
              <a:t>施工事例・見学会一覧の閲覧が中心。大手に多い。</a:t>
            </a:r>
          </a:p>
          <a:p>
            <a:pPr algn="l">
              <a:lnSpc>
                <a:spcPct val="118000"/>
              </a:lnSpc>
              <a:spcAft>
                <a:spcPts val="100"/>
              </a:spcAft>
            </a:pPr>
            <a:r>
              <a:rPr sz="850">
                <a:solidFill>
                  <a:srgbClr val="333333"/>
                </a:solidFill>
                <a:latin typeface="メイリオ"/>
                <a:ea typeface="メイリオ"/>
                <a:cs typeface="メイリオ"/>
              </a:rPr>
              <a:t>友だち数は多いが増加率は鈍い</a:t>
            </a:r>
          </a:p>
        </p:txBody>
      </p:sp>
      <p:sp>
        <p:nvSpPr>
          <p:cNvPr id="14" name="Rounded Rectangle 13"/>
          <p:cNvSpPr/>
          <p:nvPr/>
        </p:nvSpPr>
        <p:spPr>
          <a:xfrm>
            <a:off x="3420000" y="3150000"/>
            <a:ext cx="2232000" cy="280800"/>
          </a:xfrm>
          <a:prstGeom prst="roundRect">
            <a:avLst>
              <a:gd name="adj" fmla="val 6000"/>
            </a:avLst>
          </a:prstGeom>
          <a:solidFill>
            <a:srgbClr val="FCE4D6"/>
          </a:solidFill>
          <a:ln w="1270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wrap="square" lIns="21600" rIns="21600" tIns="0" bIns="0"/>
          <a:lstStyle/>
          <a:p>
            <a:pPr algn="ctr"/>
            <a:r>
              <a:rPr sz="900" b="1">
                <a:solidFill>
                  <a:srgbClr val="ED7D31"/>
                </a:solidFill>
                <a:latin typeface="メイリオ"/>
                <a:ea typeface="メイリオ"/>
                <a:cs typeface="メイリオ"/>
              </a:rPr>
              <a:t>★ 御社が取りに行くポジション</a:t>
            </a:r>
          </a:p>
        </p:txBody>
      </p:sp>
      <p:sp>
        <p:nvSpPr>
          <p:cNvPr id="15" name="Rounded Rectangle 14"/>
          <p:cNvSpPr/>
          <p:nvPr/>
        </p:nvSpPr>
        <p:spPr>
          <a:xfrm>
            <a:off x="4860000" y="1853999"/>
            <a:ext cx="1044000" cy="223200"/>
          </a:xfrm>
          <a:prstGeom prst="roundRect">
            <a:avLst>
              <a:gd name="adj" fmla="val 6000"/>
            </a:avLst>
          </a:prstGeom>
          <a:solidFill>
            <a:srgbClr val="FFFFFF"/>
          </a:solidFill>
          <a:ln w="12700">
            <a:solidFill>
              <a:srgbClr val="ED7D3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21600" rIns="21600" tIns="0" bIns="0"/>
          <a:lstStyle/>
          <a:p>
            <a:pPr algn="ctr"/>
            <a:r>
              <a:rPr sz="750" b="1">
                <a:solidFill>
                  <a:srgbClr val="ED7D31"/>
                </a:solidFill>
                <a:latin typeface="メイリオ"/>
                <a:ea typeface="メイリオ"/>
                <a:cs typeface="メイリオ"/>
              </a:rPr>
              <a:t>仮説｜実測後に確定</a:t>
            </a:r>
          </a:p>
        </p:txBody>
      </p:sp>
      <p:sp>
        <p:nvSpPr>
          <p:cNvPr id="16" name="TextBox 15"/>
          <p:cNvSpPr txBox="1"/>
          <p:nvPr/>
        </p:nvSpPr>
        <p:spPr>
          <a:xfrm>
            <a:off x="6156000" y="1818000"/>
            <a:ext cx="3319200" cy="198000"/>
          </a:xfrm>
          <a:prstGeom prst="rect">
            <a:avLst/>
          </a:prstGeom>
          <a:noFill/>
        </p:spPr>
        <p:txBody>
          <a:bodyPr wrap="square" lIns="0" rIns="50400" tIns="21600" bIns="21600" anchor="t">
            <a:spAutoFit/>
          </a:bodyPr>
          <a:lstStyle/>
          <a:p>
            <a:pPr algn="l"/>
            <a:r>
              <a:rPr sz="1100" b="1">
                <a:solidFill>
                  <a:srgbClr val="1F285A"/>
                </a:solidFill>
                <a:latin typeface="メイリオ"/>
                <a:ea typeface="メイリオ"/>
                <a:cs typeface="メイリオ"/>
              </a:rPr>
              <a:t>読み方の2軸</a:t>
            </a:r>
          </a:p>
        </p:txBody>
      </p:sp>
      <p:sp>
        <p:nvSpPr>
          <p:cNvPr id="17" name="Rounded Rectangle 16"/>
          <p:cNvSpPr/>
          <p:nvPr/>
        </p:nvSpPr>
        <p:spPr>
          <a:xfrm>
            <a:off x="6156000" y="2041200"/>
            <a:ext cx="3319200" cy="73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9200" rIns="64800" tIns="50400" bIns="36000"/>
          <a:lstStyle/>
          <a:p>
            <a:pPr algn="l">
              <a:spcAft>
                <a:spcPts val="300"/>
              </a:spcAft>
            </a:pPr>
            <a:r>
              <a:rPr sz="1000" b="1">
                <a:solidFill>
                  <a:srgbClr val="1F285A"/>
                </a:solidFill>
                <a:latin typeface="メイリオ"/>
                <a:ea typeface="メイリオ"/>
                <a:cs typeface="メイリオ"/>
              </a:rPr>
              <a:t>規模で勝っているのは誰か</a:t>
            </a:r>
          </a:p>
          <a:p>
            <a:pPr algn="l">
              <a:lnSpc>
                <a:spcPct val="118000"/>
              </a:lnSpc>
              <a:spcAft>
                <a:spcPts val="100"/>
              </a:spcAft>
            </a:pPr>
            <a:r>
              <a:rPr sz="850">
                <a:solidFill>
                  <a:srgbClr val="333333"/>
                </a:solidFill>
                <a:latin typeface="メイリオ"/>
                <a:ea typeface="メイリオ"/>
                <a:cs typeface="メイリオ"/>
              </a:rPr>
              <a:t>＝ 友だち数。長く運用している大手が強い</a:t>
            </a:r>
          </a:p>
        </p:txBody>
      </p:sp>
      <p:sp>
        <p:nvSpPr>
          <p:cNvPr id="18" name="Rounded Rectangle 17"/>
          <p:cNvSpPr/>
          <p:nvPr/>
        </p:nvSpPr>
        <p:spPr>
          <a:xfrm>
            <a:off x="6156000" y="2861999"/>
            <a:ext cx="3319200" cy="737999"/>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9200" rIns="64800" tIns="50400" bIns="36000"/>
          <a:lstStyle/>
          <a:p>
            <a:pPr algn="l">
              <a:spcAft>
                <a:spcPts val="300"/>
              </a:spcAft>
            </a:pPr>
            <a:r>
              <a:rPr sz="1000" b="1">
                <a:solidFill>
                  <a:srgbClr val="ED7D31"/>
                </a:solidFill>
                <a:latin typeface="メイリオ"/>
                <a:ea typeface="メイリオ"/>
                <a:cs typeface="メイリオ"/>
              </a:rPr>
              <a:t>伸び率で勝っているのは誰か</a:t>
            </a:r>
          </a:p>
          <a:p>
            <a:pPr algn="l">
              <a:lnSpc>
                <a:spcPct val="118000"/>
              </a:lnSpc>
              <a:spcAft>
                <a:spcPts val="100"/>
              </a:spcAft>
            </a:pPr>
            <a:r>
              <a:rPr sz="850">
                <a:solidFill>
                  <a:srgbClr val="333333"/>
                </a:solidFill>
                <a:latin typeface="メイリオ"/>
                <a:ea typeface="メイリオ"/>
                <a:cs typeface="メイリオ"/>
              </a:rPr>
              <a:t>＝ 友だち増加率。伸び率トップは友だち数最少の</a:t>
            </a:r>
          </a:p>
          <a:p>
            <a:pPr algn="l">
              <a:lnSpc>
                <a:spcPct val="118000"/>
              </a:lnSpc>
              <a:spcAft>
                <a:spcPts val="100"/>
              </a:spcAft>
            </a:pPr>
            <a:r>
              <a:rPr sz="850">
                <a:solidFill>
                  <a:srgbClr val="333333"/>
                </a:solidFill>
                <a:latin typeface="メイリオ"/>
                <a:ea typeface="メイリオ"/>
                <a:cs typeface="メイリオ"/>
              </a:rPr>
              <a:t>後発社であることが多い</a:t>
            </a:r>
          </a:p>
        </p:txBody>
      </p:sp>
      <p:sp>
        <p:nvSpPr>
          <p:cNvPr id="19" name="Rounded Rectangle 18"/>
          <p:cNvSpPr/>
          <p:nvPr/>
        </p:nvSpPr>
        <p:spPr>
          <a:xfrm>
            <a:off x="6156000" y="3682800"/>
            <a:ext cx="3319200" cy="846000"/>
          </a:xfrm>
          <a:prstGeom prst="roundRect">
            <a:avLst>
              <a:gd name="adj" fmla="val 6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9200" rIns="64800" tIns="50400" bIns="36000"/>
          <a:lstStyle/>
          <a:p>
            <a:pPr algn="l">
              <a:spcAft>
                <a:spcPts val="300"/>
              </a:spcAft>
            </a:pPr>
            <a:r>
              <a:rPr sz="1000" b="1">
                <a:solidFill>
                  <a:srgbClr val="FFFFFF"/>
                </a:solidFill>
                <a:latin typeface="メイリオ"/>
                <a:ea typeface="メイリオ"/>
                <a:cs typeface="メイリオ"/>
              </a:rPr>
              <a:t>御社にとっての示唆</a:t>
            </a:r>
          </a:p>
          <a:p>
            <a:pPr algn="l">
              <a:lnSpc>
                <a:spcPct val="118000"/>
              </a:lnSpc>
            </a:pPr>
            <a:r>
              <a:rPr sz="850">
                <a:solidFill>
                  <a:srgbClr val="FFFFFF"/>
                </a:solidFill>
                <a:latin typeface="メイリオ"/>
                <a:ea typeface="メイリオ"/>
                <a:cs typeface="メイリオ"/>
              </a:rPr>
              <a:t>大手はカタログ型に寄っている。検討初期の</a:t>
            </a:r>
          </a:p>
          <a:p>
            <a:pPr algn="l">
              <a:lnSpc>
                <a:spcPct val="118000"/>
              </a:lnSpc>
            </a:pPr>
            <a:r>
              <a:rPr sz="850">
                <a:solidFill>
                  <a:srgbClr val="FFFFFF"/>
                </a:solidFill>
                <a:latin typeface="メイリオ"/>
                <a:ea typeface="メイリオ"/>
                <a:cs typeface="メイリオ"/>
              </a:rPr>
              <a:t>「不安」に応える型が空いている。ここを取る</a:t>
            </a:r>
          </a:p>
        </p:txBody>
      </p:sp>
      <p:sp>
        <p:nvSpPr>
          <p:cNvPr id="20" name="TextBox 19"/>
          <p:cNvSpPr txBox="1"/>
          <p:nvPr/>
        </p:nvSpPr>
        <p:spPr>
          <a:xfrm>
            <a:off x="432000" y="6246000"/>
            <a:ext cx="9043200" cy="324000"/>
          </a:xfrm>
          <a:prstGeom prst="rect">
            <a:avLst/>
          </a:prstGeom>
          <a:noFill/>
        </p:spPr>
        <p:txBody>
          <a:bodyPr wrap="square" lIns="0" rIns="0" tIns="21600" bIns="21600" anchor="t">
            <a:spAutoFit/>
          </a:bodyPr>
          <a:lstStyle/>
          <a:p>
            <a:pPr algn="l">
              <a:lnSpc>
                <a:spcPct val="115000"/>
              </a:lnSpc>
            </a:pPr>
            <a:r>
              <a:rPr sz="750">
                <a:solidFill>
                  <a:srgbClr val="7F7F7F"/>
                </a:solidFill>
                <a:latin typeface="メイリオ"/>
                <a:ea typeface="メイリオ"/>
                <a:cs typeface="メイリオ"/>
              </a:rPr>
              <a:t>※ 型の分類はDYM見解。配信頻度と増加率の関係は相関であり、因果ではありません。各社のプロットは実測後に確定します。</a:t>
            </a:r>
          </a:p>
        </p:txBody>
      </p:sp>
    </p:spTree>
    <p:extLst>
      <p:ext uri="{BB962C8B-B14F-4D97-AF65-F5344CB8AC3E}">
        <p14:creationId xmlns:p14="http://schemas.microsoft.com/office/powerpoint/2010/main" val="6538660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2193285" y="3038203"/>
            <a:ext cx="551946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施策の詳細（配信の効率化）</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3B14C-0AEA-B93E-0808-EE37D50F60C4}"/>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rIns="0" tIns="21600" bIns="21600" anchor="ctr">
            <a:spAutoFit/>
          </a:bodyPr>
          <a:lstStyle/>
          <a:p>
            <a:pPr algn="l"/>
            <a:r>
              <a:rPr sz="1600" b="1">
                <a:solidFill>
                  <a:srgbClr val="002060"/>
                </a:solidFill>
                <a:latin typeface="メイリオ"/>
                <a:ea typeface="メイリオ"/>
                <a:cs typeface="メイリオ"/>
              </a:rPr>
              <a:t>具体企画①｜ステップ配信案（14日）— 前後クエリと連動させる</a:t>
            </a:r>
          </a:p>
        </p:txBody>
      </p:sp>
      <p:sp>
        <p:nvSpPr>
          <p:cNvPr id="3" name="TextBox 2"/>
          <p:cNvSpPr txBox="1"/>
          <p:nvPr/>
        </p:nvSpPr>
        <p:spPr>
          <a:xfrm>
            <a:off x="432000" y="648000"/>
            <a:ext cx="9036000" cy="684000"/>
          </a:xfrm>
          <a:prstGeom prst="rect">
            <a:avLst/>
          </a:prstGeom>
          <a:noFill/>
        </p:spPr>
        <p:txBody>
          <a:bodyPr wrap="square" lIns="0" rIns="0" tIns="21600" bIns="21600" anchor="ctr">
            <a:spAutoFit/>
          </a:bodyPr>
          <a:lstStyle/>
          <a:p>
            <a:pPr algn="l">
              <a:lnSpc>
                <a:spcPct val="128000"/>
              </a:lnSpc>
            </a:pPr>
            <a:r>
              <a:rPr sz="1200">
                <a:solidFill>
                  <a:srgbClr val="333333"/>
                </a:solidFill>
                <a:latin typeface="メイリオ"/>
                <a:ea typeface="メイリオ"/>
                <a:cs typeface="メイリオ"/>
              </a:rPr>
              <a:t>根拠は2つ。①友だち追加から15日前後でアクティブ率が急落する ②起点KW検索の後15日で</a:t>
            </a:r>
          </a:p>
          <a:p>
            <a:pPr algn="l">
              <a:lnSpc>
                <a:spcPct val="128000"/>
              </a:lnSpc>
            </a:pPr>
            <a:r>
              <a:rPr sz="1200">
                <a:solidFill>
                  <a:srgbClr val="333333"/>
                </a:solidFill>
                <a:latin typeface="メイリオ"/>
                <a:ea typeface="メイリオ"/>
                <a:cs typeface="メイリオ"/>
              </a:rPr>
              <a:t>他社の指名検索が立つ。読まれる15日と候補が決まる15日が重なるため14日に寄せる。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540000" y="1818000"/>
            <a:ext cx="1075885" cy="295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メイリオ"/>
                <a:ea typeface="メイリオ"/>
                <a:cs typeface="メイリオ"/>
              </a:rPr>
              <a:t>Day0</a:t>
            </a:r>
          </a:p>
        </p:txBody>
      </p:sp>
      <p:sp>
        <p:nvSpPr>
          <p:cNvPr id="6" name="Rounded Rectangle 5"/>
          <p:cNvSpPr/>
          <p:nvPr/>
        </p:nvSpPr>
        <p:spPr>
          <a:xfrm>
            <a:off x="1831885" y="1818000"/>
            <a:ext cx="1075885" cy="295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メイリオ"/>
                <a:ea typeface="メイリオ"/>
                <a:cs typeface="メイリオ"/>
              </a:rPr>
              <a:t>Day1</a:t>
            </a:r>
          </a:p>
        </p:txBody>
      </p:sp>
      <p:sp>
        <p:nvSpPr>
          <p:cNvPr id="7" name="Rounded Rectangle 6"/>
          <p:cNvSpPr/>
          <p:nvPr/>
        </p:nvSpPr>
        <p:spPr>
          <a:xfrm>
            <a:off x="3123771" y="1818000"/>
            <a:ext cx="1075885" cy="295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メイリオ"/>
                <a:ea typeface="メイリオ"/>
                <a:cs typeface="メイリオ"/>
              </a:rPr>
              <a:t>Day3</a:t>
            </a:r>
          </a:p>
        </p:txBody>
      </p:sp>
      <p:sp>
        <p:nvSpPr>
          <p:cNvPr id="8" name="Rounded Rectangle 7"/>
          <p:cNvSpPr/>
          <p:nvPr/>
        </p:nvSpPr>
        <p:spPr>
          <a:xfrm>
            <a:off x="4415657" y="1818000"/>
            <a:ext cx="1075885" cy="295200"/>
          </a:xfrm>
          <a:prstGeom prst="roundRect">
            <a:avLst>
              <a:gd name="adj" fmla="val 20000"/>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メイリオ"/>
                <a:ea typeface="メイリオ"/>
                <a:cs typeface="メイリオ"/>
              </a:rPr>
              <a:t>Day6</a:t>
            </a:r>
          </a:p>
        </p:txBody>
      </p:sp>
      <p:sp>
        <p:nvSpPr>
          <p:cNvPr id="9" name="TextBox 8"/>
          <p:cNvSpPr txBox="1"/>
          <p:nvPr/>
        </p:nvSpPr>
        <p:spPr>
          <a:xfrm>
            <a:off x="4343657" y="2134800"/>
            <a:ext cx="1219885" cy="180000"/>
          </a:xfrm>
          <a:prstGeom prst="rect">
            <a:avLst/>
          </a:prstGeom>
          <a:noFill/>
        </p:spPr>
        <p:txBody>
          <a:bodyPr wrap="square" lIns="0" rIns="0" tIns="21600" bIns="21600" anchor="t">
            <a:spAutoFit/>
          </a:bodyPr>
          <a:lstStyle/>
          <a:p>
            <a:pPr algn="ctr"/>
            <a:r>
              <a:rPr sz="800" b="1">
                <a:solidFill>
                  <a:srgbClr val="ED7D31"/>
                </a:solidFill>
                <a:latin typeface="メイリオ"/>
                <a:ea typeface="メイリオ"/>
                <a:cs typeface="メイリオ"/>
              </a:rPr>
              <a:t>★CVオファー</a:t>
            </a:r>
          </a:p>
        </p:txBody>
      </p:sp>
      <p:sp>
        <p:nvSpPr>
          <p:cNvPr id="10" name="Rounded Rectangle 9"/>
          <p:cNvSpPr/>
          <p:nvPr/>
        </p:nvSpPr>
        <p:spPr>
          <a:xfrm>
            <a:off x="5707542" y="1818000"/>
            <a:ext cx="1075885" cy="295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メイリオ"/>
                <a:ea typeface="メイリオ"/>
                <a:cs typeface="メイリオ"/>
              </a:rPr>
              <a:t>Day9</a:t>
            </a:r>
          </a:p>
        </p:txBody>
      </p:sp>
      <p:sp>
        <p:nvSpPr>
          <p:cNvPr id="11" name="Rounded Rectangle 10"/>
          <p:cNvSpPr/>
          <p:nvPr/>
        </p:nvSpPr>
        <p:spPr>
          <a:xfrm>
            <a:off x="6999428" y="1818000"/>
            <a:ext cx="1075885" cy="295200"/>
          </a:xfrm>
          <a:prstGeom prst="roundRect">
            <a:avLst>
              <a:gd name="adj" fmla="val 2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メイリオ"/>
                <a:ea typeface="メイリオ"/>
                <a:cs typeface="メイリオ"/>
              </a:rPr>
              <a:t>Day11</a:t>
            </a:r>
          </a:p>
        </p:txBody>
      </p:sp>
      <p:sp>
        <p:nvSpPr>
          <p:cNvPr id="12" name="Rounded Rectangle 11"/>
          <p:cNvSpPr/>
          <p:nvPr/>
        </p:nvSpPr>
        <p:spPr>
          <a:xfrm>
            <a:off x="8291314" y="1818000"/>
            <a:ext cx="1075885" cy="295200"/>
          </a:xfrm>
          <a:prstGeom prst="roundRect">
            <a:avLst>
              <a:gd name="adj" fmla="val 20000"/>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メイリオ"/>
                <a:ea typeface="メイリオ"/>
                <a:cs typeface="メイリオ"/>
              </a:rPr>
              <a:t>Day14</a:t>
            </a:r>
          </a:p>
        </p:txBody>
      </p:sp>
      <p:sp>
        <p:nvSpPr>
          <p:cNvPr id="13" name="TextBox 12"/>
          <p:cNvSpPr txBox="1"/>
          <p:nvPr/>
        </p:nvSpPr>
        <p:spPr>
          <a:xfrm>
            <a:off x="8219314" y="2134800"/>
            <a:ext cx="1219885" cy="180000"/>
          </a:xfrm>
          <a:prstGeom prst="rect">
            <a:avLst/>
          </a:prstGeom>
          <a:noFill/>
        </p:spPr>
        <p:txBody>
          <a:bodyPr wrap="square" lIns="0" rIns="0" tIns="21600" bIns="21600" anchor="t">
            <a:spAutoFit/>
          </a:bodyPr>
          <a:lstStyle/>
          <a:p>
            <a:pPr algn="ctr"/>
            <a:r>
              <a:rPr sz="800" b="1">
                <a:solidFill>
                  <a:srgbClr val="ED7D31"/>
                </a:solidFill>
                <a:latin typeface="メイリオ"/>
                <a:ea typeface="メイリオ"/>
                <a:cs typeface="メイリオ"/>
              </a:rPr>
              <a:t>★CVオファー</a:t>
            </a:r>
          </a:p>
        </p:txBody>
      </p:sp>
      <p:sp>
        <p:nvSpPr>
          <p:cNvPr id="14" name="Rectangle 13"/>
          <p:cNvSpPr/>
          <p:nvPr/>
        </p:nvSpPr>
        <p:spPr>
          <a:xfrm>
            <a:off x="432000" y="2376000"/>
            <a:ext cx="1044000" cy="2808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1600" rIns="21600" tIns="0" bIns="0"/>
          <a:lstStyle/>
          <a:p>
            <a:pPr algn="ctr"/>
            <a:r>
              <a:rPr sz="900" b="1">
                <a:solidFill>
                  <a:srgbClr val="FFFFFF"/>
                </a:solidFill>
                <a:latin typeface="メイリオ"/>
                <a:ea typeface="メイリオ"/>
                <a:cs typeface="メイリオ"/>
              </a:rPr>
              <a:t>配信日</a:t>
            </a:r>
          </a:p>
        </p:txBody>
      </p:sp>
      <p:sp>
        <p:nvSpPr>
          <p:cNvPr id="15" name="Rectangle 14"/>
          <p:cNvSpPr/>
          <p:nvPr/>
        </p:nvSpPr>
        <p:spPr>
          <a:xfrm>
            <a:off x="1475999" y="2376000"/>
            <a:ext cx="3384000" cy="2808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1600" rIns="21600" tIns="0" bIns="0"/>
          <a:lstStyle/>
          <a:p>
            <a:pPr algn="ctr"/>
            <a:r>
              <a:rPr sz="900" b="1">
                <a:solidFill>
                  <a:srgbClr val="FFFFFF"/>
                </a:solidFill>
                <a:latin typeface="メイリオ"/>
                <a:ea typeface="メイリオ"/>
                <a:cs typeface="メイリオ"/>
              </a:rPr>
              <a:t>配信内容（方向性）</a:t>
            </a:r>
          </a:p>
        </p:txBody>
      </p:sp>
      <p:sp>
        <p:nvSpPr>
          <p:cNvPr id="16" name="Rectangle 15"/>
          <p:cNvSpPr/>
          <p:nvPr/>
        </p:nvSpPr>
        <p:spPr>
          <a:xfrm>
            <a:off x="4860000" y="2376000"/>
            <a:ext cx="4615200" cy="2808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1600" rIns="21600" tIns="0" bIns="0"/>
          <a:lstStyle/>
          <a:p>
            <a:pPr algn="ctr"/>
            <a:r>
              <a:rPr sz="900" b="1">
                <a:solidFill>
                  <a:srgbClr val="FFFFFF"/>
                </a:solidFill>
                <a:latin typeface="メイリオ"/>
                <a:ea typeface="メイリオ"/>
                <a:cs typeface="メイリオ"/>
              </a:rPr>
              <a:t>根拠（前後検索データとの連動）</a:t>
            </a:r>
          </a:p>
        </p:txBody>
      </p:sp>
      <p:sp>
        <p:nvSpPr>
          <p:cNvPr id="17" name="Rectangle 16"/>
          <p:cNvSpPr/>
          <p:nvPr/>
        </p:nvSpPr>
        <p:spPr>
          <a:xfrm>
            <a:off x="432000" y="2656800"/>
            <a:ext cx="1044000" cy="403200"/>
          </a:xfrm>
          <a:prstGeom prst="rect">
            <a:avLst/>
          </a:prstGeom>
          <a:solidFill>
            <a:srgbClr val="FFFFFF"/>
          </a:solidFill>
          <a:ln w="889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36000" tIns="0" bIns="0"/>
          <a:lstStyle/>
          <a:p>
            <a:pPr algn="ctr">
              <a:lnSpc>
                <a:spcPct val="118000"/>
              </a:lnSpc>
            </a:pPr>
            <a:r>
              <a:rPr sz="850" b="1">
                <a:solidFill>
                  <a:srgbClr val="333333"/>
                </a:solidFill>
                <a:latin typeface="メイリオ"/>
                <a:ea typeface="メイリオ"/>
                <a:cs typeface="メイリオ"/>
              </a:rPr>
              <a:t>Day0</a:t>
            </a:r>
          </a:p>
        </p:txBody>
      </p:sp>
      <p:sp>
        <p:nvSpPr>
          <p:cNvPr id="18" name="Rectangle 17"/>
          <p:cNvSpPr/>
          <p:nvPr/>
        </p:nvSpPr>
        <p:spPr>
          <a:xfrm>
            <a:off x="1475999" y="2656800"/>
            <a:ext cx="3384000" cy="403200"/>
          </a:xfrm>
          <a:prstGeom prst="rect">
            <a:avLst/>
          </a:prstGeom>
          <a:solidFill>
            <a:srgbClr val="FFFFFF"/>
          </a:solidFill>
          <a:ln w="889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36000" tIns="0" bIns="0"/>
          <a:lstStyle/>
          <a:p>
            <a:pPr algn="l">
              <a:lnSpc>
                <a:spcPct val="118000"/>
              </a:lnSpc>
            </a:pPr>
            <a:r>
              <a:rPr sz="850">
                <a:solidFill>
                  <a:srgbClr val="333333"/>
                </a:solidFill>
                <a:latin typeface="メイリオ"/>
                <a:ea typeface="メイリオ"/>
                <a:cs typeface="メイリオ"/>
              </a:rPr>
              <a:t>あいさつ＋60秒の予算診断（4問・選択式）</a:t>
            </a:r>
          </a:p>
        </p:txBody>
      </p:sp>
      <p:sp>
        <p:nvSpPr>
          <p:cNvPr id="19" name="Rectangle 18"/>
          <p:cNvSpPr/>
          <p:nvPr/>
        </p:nvSpPr>
        <p:spPr>
          <a:xfrm>
            <a:off x="4860000" y="2656800"/>
            <a:ext cx="4615200" cy="403200"/>
          </a:xfrm>
          <a:prstGeom prst="rect">
            <a:avLst/>
          </a:prstGeom>
          <a:solidFill>
            <a:srgbClr val="FFFFFF"/>
          </a:solidFill>
          <a:ln w="889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36000" tIns="0" bIns="0"/>
          <a:lstStyle/>
          <a:p>
            <a:pPr algn="l">
              <a:lnSpc>
                <a:spcPct val="118000"/>
              </a:lnSpc>
            </a:pPr>
            <a:r>
              <a:rPr sz="850">
                <a:solidFill>
                  <a:srgbClr val="333333"/>
                </a:solidFill>
                <a:latin typeface="メイリオ"/>
                <a:ea typeface="メイリオ"/>
                <a:cs typeface="メイリオ"/>
              </a:rPr>
              <a:t>前15日の最多KWが「相場」。金額の不安に最初に答えるため</a:t>
            </a:r>
          </a:p>
        </p:txBody>
      </p:sp>
      <p:sp>
        <p:nvSpPr>
          <p:cNvPr id="20" name="Rectangle 19"/>
          <p:cNvSpPr/>
          <p:nvPr/>
        </p:nvSpPr>
        <p:spPr>
          <a:xfrm>
            <a:off x="432000" y="3060000"/>
            <a:ext cx="1044000" cy="403200"/>
          </a:xfrm>
          <a:prstGeom prst="rect">
            <a:avLst/>
          </a:prstGeom>
          <a:solidFill>
            <a:srgbClr val="F2F2F2"/>
          </a:solidFill>
          <a:ln w="889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36000" tIns="0" bIns="0"/>
          <a:lstStyle/>
          <a:p>
            <a:pPr algn="ctr">
              <a:lnSpc>
                <a:spcPct val="118000"/>
              </a:lnSpc>
            </a:pPr>
            <a:r>
              <a:rPr sz="850" b="1">
                <a:solidFill>
                  <a:srgbClr val="333333"/>
                </a:solidFill>
                <a:latin typeface="メイリオ"/>
                <a:ea typeface="メイリオ"/>
                <a:cs typeface="メイリオ"/>
              </a:rPr>
              <a:t>Day1</a:t>
            </a:r>
          </a:p>
        </p:txBody>
      </p:sp>
      <p:sp>
        <p:nvSpPr>
          <p:cNvPr id="21" name="Rectangle 20"/>
          <p:cNvSpPr/>
          <p:nvPr/>
        </p:nvSpPr>
        <p:spPr>
          <a:xfrm>
            <a:off x="1475999" y="3060000"/>
            <a:ext cx="3384000" cy="403200"/>
          </a:xfrm>
          <a:prstGeom prst="rect">
            <a:avLst/>
          </a:prstGeom>
          <a:solidFill>
            <a:srgbClr val="F2F2F2"/>
          </a:solidFill>
          <a:ln w="889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36000" tIns="0" bIns="0"/>
          <a:lstStyle/>
          <a:p>
            <a:pPr algn="l">
              <a:lnSpc>
                <a:spcPct val="118000"/>
              </a:lnSpc>
            </a:pPr>
            <a:r>
              <a:rPr sz="850">
                <a:solidFill>
                  <a:srgbClr val="333333"/>
                </a:solidFill>
                <a:latin typeface="メイリオ"/>
                <a:ea typeface="メイリオ"/>
                <a:cs typeface="メイリオ"/>
              </a:rPr>
              <a:t>無理のない返済額の考え方（手取りの20〜25%）</a:t>
            </a:r>
          </a:p>
        </p:txBody>
      </p:sp>
      <p:sp>
        <p:nvSpPr>
          <p:cNvPr id="22" name="Rectangle 21"/>
          <p:cNvSpPr/>
          <p:nvPr/>
        </p:nvSpPr>
        <p:spPr>
          <a:xfrm>
            <a:off x="4860000" y="3060000"/>
            <a:ext cx="4615200" cy="403200"/>
          </a:xfrm>
          <a:prstGeom prst="rect">
            <a:avLst/>
          </a:prstGeom>
          <a:solidFill>
            <a:srgbClr val="F2F2F2"/>
          </a:solidFill>
          <a:ln w="889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36000" tIns="0" bIns="0"/>
          <a:lstStyle/>
          <a:p>
            <a:pPr algn="l">
              <a:lnSpc>
                <a:spcPct val="118000"/>
              </a:lnSpc>
            </a:pPr>
            <a:r>
              <a:rPr sz="850">
                <a:solidFill>
                  <a:srgbClr val="333333"/>
                </a:solidFill>
                <a:latin typeface="メイリオ"/>
                <a:ea typeface="メイリオ"/>
                <a:cs typeface="メイリオ"/>
              </a:rPr>
              <a:t>「住宅ローン いくらまで借りられる」が前15日に立つため</a:t>
            </a:r>
          </a:p>
        </p:txBody>
      </p:sp>
      <p:sp>
        <p:nvSpPr>
          <p:cNvPr id="23" name="Rectangle 22"/>
          <p:cNvSpPr/>
          <p:nvPr/>
        </p:nvSpPr>
        <p:spPr>
          <a:xfrm>
            <a:off x="432000" y="3463200"/>
            <a:ext cx="1044000" cy="403200"/>
          </a:xfrm>
          <a:prstGeom prst="rect">
            <a:avLst/>
          </a:prstGeom>
          <a:solidFill>
            <a:srgbClr val="FFFFFF"/>
          </a:solidFill>
          <a:ln w="889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36000" tIns="0" bIns="0"/>
          <a:lstStyle/>
          <a:p>
            <a:pPr algn="ctr">
              <a:lnSpc>
                <a:spcPct val="118000"/>
              </a:lnSpc>
            </a:pPr>
            <a:r>
              <a:rPr sz="850" b="1">
                <a:solidFill>
                  <a:srgbClr val="333333"/>
                </a:solidFill>
                <a:latin typeface="メイリオ"/>
                <a:ea typeface="メイリオ"/>
                <a:cs typeface="メイリオ"/>
              </a:rPr>
              <a:t>Day3</a:t>
            </a:r>
          </a:p>
        </p:txBody>
      </p:sp>
      <p:sp>
        <p:nvSpPr>
          <p:cNvPr id="24" name="Rectangle 23"/>
          <p:cNvSpPr/>
          <p:nvPr/>
        </p:nvSpPr>
        <p:spPr>
          <a:xfrm>
            <a:off x="1475999" y="3463200"/>
            <a:ext cx="3384000" cy="403200"/>
          </a:xfrm>
          <a:prstGeom prst="rect">
            <a:avLst/>
          </a:prstGeom>
          <a:solidFill>
            <a:srgbClr val="FFFFFF"/>
          </a:solidFill>
          <a:ln w="889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36000" tIns="0" bIns="0"/>
          <a:lstStyle/>
          <a:p>
            <a:pPr algn="l">
              <a:lnSpc>
                <a:spcPct val="118000"/>
              </a:lnSpc>
            </a:pPr>
            <a:r>
              <a:rPr sz="850">
                <a:solidFill>
                  <a:srgbClr val="333333"/>
                </a:solidFill>
                <a:latin typeface="メイリオ"/>
                <a:ea typeface="メイリオ"/>
                <a:cs typeface="メイリオ"/>
              </a:rPr>
              <a:t>よくある後悔TOP5と、契約前に潰す方法</a:t>
            </a:r>
          </a:p>
        </p:txBody>
      </p:sp>
      <p:sp>
        <p:nvSpPr>
          <p:cNvPr id="25" name="Rectangle 24"/>
          <p:cNvSpPr/>
          <p:nvPr/>
        </p:nvSpPr>
        <p:spPr>
          <a:xfrm>
            <a:off x="4860000" y="3463200"/>
            <a:ext cx="4615200" cy="403200"/>
          </a:xfrm>
          <a:prstGeom prst="rect">
            <a:avLst/>
          </a:prstGeom>
          <a:solidFill>
            <a:srgbClr val="FFFFFF"/>
          </a:solidFill>
          <a:ln w="889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36000" tIns="0" bIns="0"/>
          <a:lstStyle/>
          <a:p>
            <a:pPr algn="l">
              <a:lnSpc>
                <a:spcPct val="118000"/>
              </a:lnSpc>
            </a:pPr>
            <a:r>
              <a:rPr sz="850">
                <a:solidFill>
                  <a:srgbClr val="333333"/>
                </a:solidFill>
                <a:latin typeface="メイリオ"/>
                <a:ea typeface="メイリオ"/>
                <a:cs typeface="メイリオ"/>
              </a:rPr>
              <a:t>「注文住宅 後悔」「間取り 失敗」が前15日の上位にあるため</a:t>
            </a:r>
          </a:p>
        </p:txBody>
      </p:sp>
      <p:sp>
        <p:nvSpPr>
          <p:cNvPr id="26" name="Rectangle 25"/>
          <p:cNvSpPr/>
          <p:nvPr/>
        </p:nvSpPr>
        <p:spPr>
          <a:xfrm>
            <a:off x="432000" y="3866400"/>
            <a:ext cx="1044000" cy="403200"/>
          </a:xfrm>
          <a:prstGeom prst="rect">
            <a:avLst/>
          </a:prstGeom>
          <a:solidFill>
            <a:srgbClr val="FCE4D6"/>
          </a:solidFill>
          <a:ln w="889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36000" tIns="0" bIns="0"/>
          <a:lstStyle/>
          <a:p>
            <a:pPr algn="ctr">
              <a:lnSpc>
                <a:spcPct val="118000"/>
              </a:lnSpc>
            </a:pPr>
            <a:r>
              <a:rPr sz="850" b="1">
                <a:solidFill>
                  <a:srgbClr val="ED7D31"/>
                </a:solidFill>
                <a:latin typeface="メイリオ"/>
                <a:ea typeface="メイリオ"/>
                <a:cs typeface="メイリオ"/>
              </a:rPr>
              <a:t>Day6</a:t>
            </a:r>
          </a:p>
        </p:txBody>
      </p:sp>
      <p:sp>
        <p:nvSpPr>
          <p:cNvPr id="27" name="Rectangle 26"/>
          <p:cNvSpPr/>
          <p:nvPr/>
        </p:nvSpPr>
        <p:spPr>
          <a:xfrm>
            <a:off x="1475999" y="3866400"/>
            <a:ext cx="3384000" cy="403200"/>
          </a:xfrm>
          <a:prstGeom prst="rect">
            <a:avLst/>
          </a:prstGeom>
          <a:solidFill>
            <a:srgbClr val="FCE4D6"/>
          </a:solidFill>
          <a:ln w="889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36000" tIns="0" bIns="0"/>
          <a:lstStyle/>
          <a:p>
            <a:pPr algn="l">
              <a:lnSpc>
                <a:spcPct val="118000"/>
              </a:lnSpc>
            </a:pPr>
            <a:r>
              <a:rPr sz="850" b="1">
                <a:solidFill>
                  <a:srgbClr val="ED7D31"/>
                </a:solidFill>
                <a:latin typeface="メイリオ"/>
                <a:ea typeface="メイリオ"/>
                <a:cs typeface="メイリオ"/>
              </a:rPr>
              <a:t>★CVオファー① 完成見学会（貸切・営業電話なし）</a:t>
            </a:r>
          </a:p>
        </p:txBody>
      </p:sp>
      <p:sp>
        <p:nvSpPr>
          <p:cNvPr id="28" name="Rectangle 27"/>
          <p:cNvSpPr/>
          <p:nvPr/>
        </p:nvSpPr>
        <p:spPr>
          <a:xfrm>
            <a:off x="4860000" y="3866400"/>
            <a:ext cx="4615200" cy="403200"/>
          </a:xfrm>
          <a:prstGeom prst="rect">
            <a:avLst/>
          </a:prstGeom>
          <a:solidFill>
            <a:srgbClr val="FCE4D6"/>
          </a:solidFill>
          <a:ln w="889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36000" tIns="0" bIns="0"/>
          <a:lstStyle/>
          <a:p>
            <a:pPr algn="l">
              <a:lnSpc>
                <a:spcPct val="118000"/>
              </a:lnSpc>
            </a:pPr>
            <a:r>
              <a:rPr sz="850">
                <a:solidFill>
                  <a:srgbClr val="333333"/>
                </a:solidFill>
                <a:latin typeface="メイリオ"/>
                <a:ea typeface="メイリオ"/>
                <a:cs typeface="メイリオ"/>
              </a:rPr>
              <a:t>「住宅展示場 しつこい」への先回りが押される条件になるため</a:t>
            </a:r>
          </a:p>
        </p:txBody>
      </p:sp>
      <p:sp>
        <p:nvSpPr>
          <p:cNvPr id="29" name="Rectangle 28"/>
          <p:cNvSpPr/>
          <p:nvPr/>
        </p:nvSpPr>
        <p:spPr>
          <a:xfrm>
            <a:off x="432000" y="4269600"/>
            <a:ext cx="1044000" cy="403200"/>
          </a:xfrm>
          <a:prstGeom prst="rect">
            <a:avLst/>
          </a:prstGeom>
          <a:solidFill>
            <a:srgbClr val="FFFFFF"/>
          </a:solidFill>
          <a:ln w="889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36000" tIns="0" bIns="0"/>
          <a:lstStyle/>
          <a:p>
            <a:pPr algn="ctr">
              <a:lnSpc>
                <a:spcPct val="118000"/>
              </a:lnSpc>
            </a:pPr>
            <a:r>
              <a:rPr sz="850" b="1">
                <a:solidFill>
                  <a:srgbClr val="333333"/>
                </a:solidFill>
                <a:latin typeface="メイリオ"/>
                <a:ea typeface="メイリオ"/>
                <a:cs typeface="メイリオ"/>
              </a:rPr>
              <a:t>Day9</a:t>
            </a:r>
          </a:p>
        </p:txBody>
      </p:sp>
      <p:sp>
        <p:nvSpPr>
          <p:cNvPr id="30" name="Rectangle 29"/>
          <p:cNvSpPr/>
          <p:nvPr/>
        </p:nvSpPr>
        <p:spPr>
          <a:xfrm>
            <a:off x="1475999" y="4269600"/>
            <a:ext cx="3384000" cy="403200"/>
          </a:xfrm>
          <a:prstGeom prst="rect">
            <a:avLst/>
          </a:prstGeom>
          <a:solidFill>
            <a:srgbClr val="FFFFFF"/>
          </a:solidFill>
          <a:ln w="889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36000" tIns="0" bIns="0"/>
          <a:lstStyle/>
          <a:p>
            <a:pPr algn="l">
              <a:lnSpc>
                <a:spcPct val="118000"/>
              </a:lnSpc>
            </a:pPr>
            <a:r>
              <a:rPr sz="850">
                <a:solidFill>
                  <a:srgbClr val="333333"/>
                </a:solidFill>
                <a:latin typeface="メイリオ"/>
                <a:ea typeface="メイリオ"/>
                <a:cs typeface="メイリオ"/>
              </a:rPr>
              <a:t>土地探しの正しい順番（土地から探さない）</a:t>
            </a:r>
          </a:p>
        </p:txBody>
      </p:sp>
      <p:sp>
        <p:nvSpPr>
          <p:cNvPr id="31" name="Rectangle 30"/>
          <p:cNvSpPr/>
          <p:nvPr/>
        </p:nvSpPr>
        <p:spPr>
          <a:xfrm>
            <a:off x="4860000" y="4269600"/>
            <a:ext cx="4615200" cy="403200"/>
          </a:xfrm>
          <a:prstGeom prst="rect">
            <a:avLst/>
          </a:prstGeom>
          <a:solidFill>
            <a:srgbClr val="FFFFFF"/>
          </a:solidFill>
          <a:ln w="889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36000" tIns="0" bIns="0"/>
          <a:lstStyle/>
          <a:p>
            <a:pPr algn="l">
              <a:lnSpc>
                <a:spcPct val="118000"/>
              </a:lnSpc>
            </a:pPr>
            <a:r>
              <a:rPr sz="850">
                <a:solidFill>
                  <a:srgbClr val="333333"/>
                </a:solidFill>
                <a:latin typeface="メイリオ"/>
                <a:ea typeface="メイリオ"/>
                <a:cs typeface="メイリオ"/>
              </a:rPr>
              <a:t>「土地 探し方」が前15日に立ち、土地未定が離脱理由の上位のため</a:t>
            </a:r>
          </a:p>
        </p:txBody>
      </p:sp>
      <p:sp>
        <p:nvSpPr>
          <p:cNvPr id="32" name="Rectangle 31"/>
          <p:cNvSpPr/>
          <p:nvPr/>
        </p:nvSpPr>
        <p:spPr>
          <a:xfrm>
            <a:off x="432000" y="4672800"/>
            <a:ext cx="1044000" cy="403200"/>
          </a:xfrm>
          <a:prstGeom prst="rect">
            <a:avLst/>
          </a:prstGeom>
          <a:solidFill>
            <a:srgbClr val="F2F2F2"/>
          </a:solidFill>
          <a:ln w="889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36000" tIns="0" bIns="0"/>
          <a:lstStyle/>
          <a:p>
            <a:pPr algn="ctr">
              <a:lnSpc>
                <a:spcPct val="118000"/>
              </a:lnSpc>
            </a:pPr>
            <a:r>
              <a:rPr sz="850" b="1">
                <a:solidFill>
                  <a:srgbClr val="333333"/>
                </a:solidFill>
                <a:latin typeface="メイリオ"/>
                <a:ea typeface="メイリオ"/>
                <a:cs typeface="メイリオ"/>
              </a:rPr>
              <a:t>Day11</a:t>
            </a:r>
          </a:p>
        </p:txBody>
      </p:sp>
      <p:sp>
        <p:nvSpPr>
          <p:cNvPr id="33" name="Rectangle 32"/>
          <p:cNvSpPr/>
          <p:nvPr/>
        </p:nvSpPr>
        <p:spPr>
          <a:xfrm>
            <a:off x="1475999" y="4672800"/>
            <a:ext cx="3384000" cy="403200"/>
          </a:xfrm>
          <a:prstGeom prst="rect">
            <a:avLst/>
          </a:prstGeom>
          <a:solidFill>
            <a:srgbClr val="F2F2F2"/>
          </a:solidFill>
          <a:ln w="889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36000" tIns="0" bIns="0"/>
          <a:lstStyle/>
          <a:p>
            <a:pPr algn="l">
              <a:lnSpc>
                <a:spcPct val="118000"/>
              </a:lnSpc>
            </a:pPr>
            <a:r>
              <a:rPr sz="850">
                <a:solidFill>
                  <a:srgbClr val="333333"/>
                </a:solidFill>
                <a:latin typeface="メイリオ"/>
                <a:ea typeface="メイリオ"/>
                <a:cs typeface="メイリオ"/>
              </a:rPr>
              <a:t>OB施主インタビュー（3社比較・9ヶ月の検討）</a:t>
            </a:r>
          </a:p>
        </p:txBody>
      </p:sp>
      <p:sp>
        <p:nvSpPr>
          <p:cNvPr id="34" name="Rectangle 33"/>
          <p:cNvSpPr/>
          <p:nvPr/>
        </p:nvSpPr>
        <p:spPr>
          <a:xfrm>
            <a:off x="4860000" y="4672800"/>
            <a:ext cx="4615200" cy="403200"/>
          </a:xfrm>
          <a:prstGeom prst="rect">
            <a:avLst/>
          </a:prstGeom>
          <a:solidFill>
            <a:srgbClr val="F2F2F2"/>
          </a:solidFill>
          <a:ln w="889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36000" tIns="0" bIns="0"/>
          <a:lstStyle/>
          <a:p>
            <a:pPr algn="l">
              <a:lnSpc>
                <a:spcPct val="118000"/>
              </a:lnSpc>
            </a:pPr>
            <a:r>
              <a:rPr sz="850">
                <a:solidFill>
                  <a:srgbClr val="333333"/>
                </a:solidFill>
                <a:latin typeface="メイリオ"/>
                <a:ea typeface="メイリオ"/>
                <a:cs typeface="メイリオ"/>
              </a:rPr>
              <a:t>後15日に「評判」「口コミ」が立つ。第三者の声を先に渡すため</a:t>
            </a:r>
          </a:p>
        </p:txBody>
      </p:sp>
      <p:sp>
        <p:nvSpPr>
          <p:cNvPr id="35" name="Rectangle 34"/>
          <p:cNvSpPr/>
          <p:nvPr/>
        </p:nvSpPr>
        <p:spPr>
          <a:xfrm>
            <a:off x="432000" y="5076000"/>
            <a:ext cx="1044000" cy="403200"/>
          </a:xfrm>
          <a:prstGeom prst="rect">
            <a:avLst/>
          </a:prstGeom>
          <a:solidFill>
            <a:srgbClr val="FCE4D6"/>
          </a:solidFill>
          <a:ln w="889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36000" tIns="0" bIns="0"/>
          <a:lstStyle/>
          <a:p>
            <a:pPr algn="ctr">
              <a:lnSpc>
                <a:spcPct val="118000"/>
              </a:lnSpc>
            </a:pPr>
            <a:r>
              <a:rPr sz="850" b="1">
                <a:solidFill>
                  <a:srgbClr val="ED7D31"/>
                </a:solidFill>
                <a:latin typeface="メイリオ"/>
                <a:ea typeface="メイリオ"/>
                <a:cs typeface="メイリオ"/>
              </a:rPr>
              <a:t>Day14</a:t>
            </a:r>
          </a:p>
        </p:txBody>
      </p:sp>
      <p:sp>
        <p:nvSpPr>
          <p:cNvPr id="36" name="Rectangle 35"/>
          <p:cNvSpPr/>
          <p:nvPr/>
        </p:nvSpPr>
        <p:spPr>
          <a:xfrm>
            <a:off x="1475999" y="5076000"/>
            <a:ext cx="3384000" cy="403200"/>
          </a:xfrm>
          <a:prstGeom prst="rect">
            <a:avLst/>
          </a:prstGeom>
          <a:solidFill>
            <a:srgbClr val="FCE4D6"/>
          </a:solidFill>
          <a:ln w="889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36000" tIns="0" bIns="0"/>
          <a:lstStyle/>
          <a:p>
            <a:pPr algn="l">
              <a:lnSpc>
                <a:spcPct val="118000"/>
              </a:lnSpc>
            </a:pPr>
            <a:r>
              <a:rPr sz="850" b="1">
                <a:solidFill>
                  <a:srgbClr val="ED7D31"/>
                </a:solidFill>
                <a:latin typeface="メイリオ"/>
                <a:ea typeface="メイリオ"/>
                <a:cs typeface="メイリオ"/>
              </a:rPr>
              <a:t>★CVオファー② 個別相談30分（オンライン可）</a:t>
            </a:r>
          </a:p>
        </p:txBody>
      </p:sp>
      <p:sp>
        <p:nvSpPr>
          <p:cNvPr id="37" name="Rectangle 36"/>
          <p:cNvSpPr/>
          <p:nvPr/>
        </p:nvSpPr>
        <p:spPr>
          <a:xfrm>
            <a:off x="4860000" y="5076000"/>
            <a:ext cx="4615200" cy="403200"/>
          </a:xfrm>
          <a:prstGeom prst="rect">
            <a:avLst/>
          </a:prstGeom>
          <a:solidFill>
            <a:srgbClr val="FCE4D6"/>
          </a:solidFill>
          <a:ln w="889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7600" rIns="36000" tIns="0" bIns="0"/>
          <a:lstStyle/>
          <a:p>
            <a:pPr algn="l">
              <a:lnSpc>
                <a:spcPct val="118000"/>
              </a:lnSpc>
            </a:pPr>
            <a:r>
              <a:rPr sz="850">
                <a:solidFill>
                  <a:srgbClr val="333333"/>
                </a:solidFill>
                <a:latin typeface="メイリオ"/>
                <a:ea typeface="メイリオ"/>
                <a:cs typeface="メイリオ"/>
              </a:rPr>
              <a:t>後15日で他社の指名検索が始まる。その前に判断軸を渡すため</a:t>
            </a:r>
          </a:p>
        </p:txBody>
      </p:sp>
      <p:sp>
        <p:nvSpPr>
          <p:cNvPr id="38" name="TextBox 37"/>
          <p:cNvSpPr txBox="1"/>
          <p:nvPr/>
        </p:nvSpPr>
        <p:spPr>
          <a:xfrm>
            <a:off x="432000" y="6246000"/>
            <a:ext cx="9043200" cy="324000"/>
          </a:xfrm>
          <a:prstGeom prst="rect">
            <a:avLst/>
          </a:prstGeom>
          <a:noFill/>
        </p:spPr>
        <p:txBody>
          <a:bodyPr wrap="square" lIns="0" rIns="0" tIns="21600" bIns="21600" anchor="t">
            <a:spAutoFit/>
          </a:bodyPr>
          <a:lstStyle/>
          <a:p>
            <a:pPr algn="l">
              <a:lnSpc>
                <a:spcPct val="115000"/>
              </a:lnSpc>
            </a:pPr>
            <a:r>
              <a:rPr sz="750">
                <a:solidFill>
                  <a:srgbClr val="7F7F7F"/>
                </a:solidFill>
                <a:latin typeface="メイリオ"/>
                <a:ea typeface="メイリオ"/>
                <a:cs typeface="メイリオ"/>
              </a:rPr>
              <a:t>※ CVオファーは6日目前後と14日目の2回置く（1回で終わらせない）。出口はCV者＝予約確定・前日リマインドへ分岐／未CV者＝タグ別の定常配信へ合流。</a:t>
            </a:r>
          </a:p>
        </p:txBody>
      </p:sp>
    </p:spTree>
    <p:extLst>
      <p:ext uri="{BB962C8B-B14F-4D97-AF65-F5344CB8AC3E}">
        <p14:creationId xmlns:p14="http://schemas.microsoft.com/office/powerpoint/2010/main" val="4069324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DB2C5-43E4-382E-3F0A-0B0F5E9FBB44}"/>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rIns="0" tIns="21600" bIns="21600" anchor="ctr">
            <a:spAutoFit/>
          </a:bodyPr>
          <a:lstStyle/>
          <a:p>
            <a:pPr algn="l"/>
            <a:r>
              <a:rPr sz="1600" b="1">
                <a:solidFill>
                  <a:srgbClr val="002060"/>
                </a:solidFill>
                <a:latin typeface="メイリオ"/>
                <a:ea typeface="メイリオ"/>
                <a:cs typeface="メイリオ"/>
              </a:rPr>
              <a:t>具体企画②｜実際にスマホへ届く文面（Day0 / Day3 / Day6 / Day14）</a:t>
            </a:r>
          </a:p>
        </p:txBody>
      </p:sp>
      <p:sp>
        <p:nvSpPr>
          <p:cNvPr id="3" name="TextBox 2"/>
          <p:cNvSpPr txBox="1"/>
          <p:nvPr/>
        </p:nvSpPr>
        <p:spPr>
          <a:xfrm>
            <a:off x="432000" y="648000"/>
            <a:ext cx="9036000" cy="684000"/>
          </a:xfrm>
          <a:prstGeom prst="rect">
            <a:avLst/>
          </a:prstGeom>
          <a:noFill/>
        </p:spPr>
        <p:txBody>
          <a:bodyPr wrap="square" lIns="0" rIns="0" tIns="21600" bIns="21600" anchor="ctr">
            <a:spAutoFit/>
          </a:bodyPr>
          <a:lstStyle/>
          <a:p>
            <a:pPr algn="l">
              <a:lnSpc>
                <a:spcPct val="128000"/>
              </a:lnSpc>
            </a:pPr>
            <a:r>
              <a:rPr sz="1200">
                <a:solidFill>
                  <a:srgbClr val="333333"/>
                </a:solidFill>
                <a:latin typeface="メイリオ"/>
                <a:ea typeface="メイリオ"/>
                <a:cs typeface="メイリオ"/>
              </a:rPr>
              <a:t>概要ではなく、絵文字・改行まで含めた実文を確定させる。</a:t>
            </a:r>
          </a:p>
          <a:p>
            <a:pPr algn="l">
              <a:lnSpc>
                <a:spcPct val="128000"/>
              </a:lnSpc>
            </a:pPr>
            <a:r>
              <a:rPr sz="1200">
                <a:solidFill>
                  <a:srgbClr val="333333"/>
                </a:solidFill>
                <a:latin typeface="メイリオ"/>
                <a:ea typeface="メイリオ"/>
                <a:cs typeface="メイリオ"/>
              </a:rPr>
              <a:t>開封は通知プレビューの冒頭15文字で決まるため、全通で設計する。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32000" y="1440000"/>
            <a:ext cx="2106000" cy="187200"/>
          </a:xfrm>
          <a:prstGeom prst="rect">
            <a:avLst/>
          </a:prstGeom>
          <a:noFill/>
        </p:spPr>
        <p:txBody>
          <a:bodyPr wrap="square" lIns="0" rIns="0" tIns="21600" bIns="21600" anchor="t">
            <a:spAutoFit/>
          </a:bodyPr>
          <a:lstStyle/>
          <a:p>
            <a:pPr algn="ctr"/>
            <a:r>
              <a:rPr sz="950" b="1">
                <a:solidFill>
                  <a:srgbClr val="1F285A"/>
                </a:solidFill>
                <a:latin typeface="メイリオ"/>
                <a:ea typeface="メイリオ"/>
                <a:cs typeface="メイリオ"/>
              </a:rPr>
              <a:t>Day0｜あいさつ＋診断</a:t>
            </a:r>
          </a:p>
        </p:txBody>
      </p:sp>
      <p:sp>
        <p:nvSpPr>
          <p:cNvPr id="6" name="Rounded Rectangle 5"/>
          <p:cNvSpPr/>
          <p:nvPr/>
        </p:nvSpPr>
        <p:spPr>
          <a:xfrm>
            <a:off x="432000" y="1648800"/>
            <a:ext cx="2106000" cy="223200"/>
          </a:xfrm>
          <a:prstGeom prst="roundRect">
            <a:avLst>
              <a:gd name="adj" fmla="val 6000"/>
            </a:avLst>
          </a:prstGeom>
          <a:solidFill>
            <a:srgbClr val="FFFFFF"/>
          </a:solidFill>
          <a:ln w="1143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 rIns="14400" tIns="0" bIns="0"/>
          <a:lstStyle/>
          <a:p>
            <a:pPr algn="ctr"/>
            <a:r>
              <a:rPr sz="680" b="1">
                <a:solidFill>
                  <a:srgbClr val="7F7F7F"/>
                </a:solidFill>
                <a:latin typeface="メイリオ"/>
                <a:ea typeface="メイリオ"/>
                <a:cs typeface="メイリオ"/>
              </a:rPr>
              <a:t>通知冒頭15字：はじめまして。●●ホ</a:t>
            </a:r>
          </a:p>
        </p:txBody>
      </p:sp>
      <p:sp>
        <p:nvSpPr>
          <p:cNvPr id="7" name="Rounded Rectangle 6"/>
          <p:cNvSpPr/>
          <p:nvPr/>
        </p:nvSpPr>
        <p:spPr>
          <a:xfrm>
            <a:off x="432000" y="1908000"/>
            <a:ext cx="2106000" cy="3708000"/>
          </a:xfrm>
          <a:prstGeom prst="roundRect">
            <a:avLst>
              <a:gd name="adj" fmla="val 10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82399" y="2059200"/>
            <a:ext cx="2005199" cy="3506400"/>
          </a:xfrm>
          <a:prstGeom prst="rect">
            <a:avLst/>
          </a:prstGeom>
          <a:solidFill>
            <a:srgbClr val="EF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82399" y="2059200"/>
            <a:ext cx="2005199" cy="18720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0" bIns="0"/>
          <a:lstStyle/>
          <a:p>
            <a:pPr algn="ctr"/>
            <a:r>
              <a:rPr sz="700" b="1">
                <a:solidFill>
                  <a:srgbClr val="FFFFFF"/>
                </a:solidFill>
                <a:latin typeface="メイリオ"/>
                <a:ea typeface="メイリオ"/>
                <a:cs typeface="メイリオ"/>
              </a:rPr>
              <a:t>●●ホーム</a:t>
            </a:r>
          </a:p>
        </p:txBody>
      </p:sp>
      <p:sp>
        <p:nvSpPr>
          <p:cNvPr id="10" name="Rounded Rectangle 9"/>
          <p:cNvSpPr/>
          <p:nvPr/>
        </p:nvSpPr>
        <p:spPr>
          <a:xfrm>
            <a:off x="543600" y="2286000"/>
            <a:ext cx="1882799" cy="323999"/>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0400" rIns="36000" tIns="18000" bIns="18000"/>
          <a:lstStyle/>
          <a:p>
            <a:pPr algn="l">
              <a:lnSpc>
                <a:spcPct val="118000"/>
              </a:lnSpc>
            </a:pPr>
            <a:r>
              <a:rPr sz="650">
                <a:solidFill>
                  <a:srgbClr val="333333"/>
                </a:solidFill>
                <a:latin typeface="メイリオ"/>
                <a:ea typeface="メイリオ"/>
                <a:cs typeface="メイリオ"/>
              </a:rPr>
              <a:t>はじめまして。</a:t>
            </a:r>
          </a:p>
          <a:p>
            <a:pPr algn="l">
              <a:lnSpc>
                <a:spcPct val="118000"/>
              </a:lnSpc>
            </a:pPr>
            <a:r>
              <a:rPr sz="650">
                <a:solidFill>
                  <a:srgbClr val="333333"/>
                </a:solidFill>
                <a:latin typeface="メイリオ"/>
                <a:ea typeface="メイリオ"/>
                <a:cs typeface="メイリオ"/>
              </a:rPr>
              <a:t>●●ホームの田中と申します🏠</a:t>
            </a:r>
          </a:p>
        </p:txBody>
      </p:sp>
      <p:sp>
        <p:nvSpPr>
          <p:cNvPr id="11" name="Rounded Rectangle 10"/>
          <p:cNvSpPr/>
          <p:nvPr/>
        </p:nvSpPr>
        <p:spPr>
          <a:xfrm>
            <a:off x="543600" y="2653199"/>
            <a:ext cx="1882799" cy="4320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0400" rIns="36000" tIns="18000" bIns="18000"/>
          <a:lstStyle/>
          <a:p>
            <a:pPr algn="l">
              <a:lnSpc>
                <a:spcPct val="118000"/>
              </a:lnSpc>
            </a:pPr>
            <a:r>
              <a:rPr sz="650">
                <a:solidFill>
                  <a:srgbClr val="333333"/>
                </a:solidFill>
                <a:latin typeface="メイリオ"/>
                <a:ea typeface="メイリオ"/>
                <a:cs typeface="メイリオ"/>
              </a:rPr>
              <a:t>✅ こちらからお電話は一切しません</a:t>
            </a:r>
          </a:p>
          <a:p>
            <a:pPr algn="l">
              <a:lnSpc>
                <a:spcPct val="118000"/>
              </a:lnSpc>
            </a:pPr>
            <a:r>
              <a:rPr sz="650">
                <a:solidFill>
                  <a:srgbClr val="333333"/>
                </a:solidFill>
                <a:latin typeface="メイリオ"/>
                <a:ea typeface="メイリオ"/>
                <a:cs typeface="メイリオ"/>
              </a:rPr>
              <a:t>✅ 営業訪問もいたしません</a:t>
            </a:r>
          </a:p>
          <a:p>
            <a:pPr algn="l">
              <a:lnSpc>
                <a:spcPct val="118000"/>
              </a:lnSpc>
            </a:pPr>
            <a:r>
              <a:rPr sz="650">
                <a:solidFill>
                  <a:srgbClr val="333333"/>
                </a:solidFill>
                <a:latin typeface="メイリオ"/>
                <a:ea typeface="メイリオ"/>
                <a:cs typeface="メイリオ"/>
              </a:rPr>
              <a:t>✅ 不要になればブロックでOK</a:t>
            </a:r>
          </a:p>
        </p:txBody>
      </p:sp>
      <p:sp>
        <p:nvSpPr>
          <p:cNvPr id="12" name="Rounded Rectangle 11"/>
          <p:cNvSpPr/>
          <p:nvPr/>
        </p:nvSpPr>
        <p:spPr>
          <a:xfrm>
            <a:off x="543600" y="3128400"/>
            <a:ext cx="1882799" cy="4320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0400" rIns="36000" tIns="18000" bIns="18000"/>
          <a:lstStyle/>
          <a:p>
            <a:pPr algn="l">
              <a:lnSpc>
                <a:spcPct val="118000"/>
              </a:lnSpc>
            </a:pPr>
            <a:r>
              <a:rPr sz="650">
                <a:solidFill>
                  <a:srgbClr val="333333"/>
                </a:solidFill>
                <a:latin typeface="メイリオ"/>
                <a:ea typeface="メイリオ"/>
                <a:cs typeface="メイリオ"/>
              </a:rPr>
              <a:t>有人対応は平日 9:00〜18:00 です😊</a:t>
            </a:r>
          </a:p>
          <a:p>
            <a:pPr algn="l">
              <a:lnSpc>
                <a:spcPct val="118000"/>
              </a:lnSpc>
            </a:pPr>
            <a:r>
              <a:rPr sz="650">
                <a:solidFill>
                  <a:srgbClr val="333333"/>
                </a:solidFill>
                <a:latin typeface="メイリオ"/>
                <a:ea typeface="メイリオ"/>
                <a:cs typeface="メイリオ"/>
              </a:rPr>
              <a:t>4問・60秒の診断で、無理なく</a:t>
            </a:r>
          </a:p>
          <a:p>
            <a:pPr algn="l">
              <a:lnSpc>
                <a:spcPct val="118000"/>
              </a:lnSpc>
            </a:pPr>
            <a:r>
              <a:rPr sz="650">
                <a:solidFill>
                  <a:srgbClr val="333333"/>
                </a:solidFill>
                <a:latin typeface="メイリオ"/>
                <a:ea typeface="メイリオ"/>
                <a:cs typeface="メイリオ"/>
              </a:rPr>
              <a:t>建てられる予算をお出しします。</a:t>
            </a:r>
          </a:p>
        </p:txBody>
      </p:sp>
      <p:sp>
        <p:nvSpPr>
          <p:cNvPr id="13" name="Rounded Rectangle 12"/>
          <p:cNvSpPr/>
          <p:nvPr/>
        </p:nvSpPr>
        <p:spPr>
          <a:xfrm>
            <a:off x="543600" y="3603600"/>
            <a:ext cx="1882799" cy="216000"/>
          </a:xfrm>
          <a:prstGeom prst="roundRect">
            <a:avLst>
              <a:gd name="adj" fmla="val 6000"/>
            </a:avLst>
          </a:prstGeom>
          <a:solidFill>
            <a:srgbClr val="FFFFFF"/>
          </a:solidFill>
          <a:ln w="11430">
            <a:solidFill>
              <a:srgbClr val="06C755"/>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lnSpc>
                <a:spcPct val="115000"/>
              </a:lnSpc>
            </a:pPr>
            <a:r>
              <a:rPr sz="650">
                <a:solidFill>
                  <a:srgbClr val="0B7A3B"/>
                </a:solidFill>
                <a:latin typeface="メイリオ"/>
                <a:ea typeface="メイリオ"/>
                <a:cs typeface="メイリオ"/>
              </a:rPr>
              <a:t>診断をはじめる</a:t>
            </a:r>
          </a:p>
        </p:txBody>
      </p:sp>
      <p:sp>
        <p:nvSpPr>
          <p:cNvPr id="14" name="Rounded Rectangle 13"/>
          <p:cNvSpPr/>
          <p:nvPr/>
        </p:nvSpPr>
        <p:spPr>
          <a:xfrm>
            <a:off x="543600" y="3862800"/>
            <a:ext cx="1882799" cy="216000"/>
          </a:xfrm>
          <a:prstGeom prst="roundRect">
            <a:avLst>
              <a:gd name="adj" fmla="val 6000"/>
            </a:avLst>
          </a:prstGeom>
          <a:solidFill>
            <a:srgbClr val="FFFFFF"/>
          </a:solidFill>
          <a:ln w="11430">
            <a:solidFill>
              <a:srgbClr val="06C755"/>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lnSpc>
                <a:spcPct val="115000"/>
              </a:lnSpc>
            </a:pPr>
            <a:r>
              <a:rPr sz="650">
                <a:solidFill>
                  <a:srgbClr val="0B7A3B"/>
                </a:solidFill>
                <a:latin typeface="メイリオ"/>
                <a:ea typeface="メイリオ"/>
                <a:cs typeface="メイリオ"/>
              </a:rPr>
              <a:t>あとで</a:t>
            </a:r>
          </a:p>
        </p:txBody>
      </p:sp>
      <p:sp>
        <p:nvSpPr>
          <p:cNvPr id="15" name="TextBox 14"/>
          <p:cNvSpPr txBox="1"/>
          <p:nvPr/>
        </p:nvSpPr>
        <p:spPr>
          <a:xfrm>
            <a:off x="2744400" y="1440000"/>
            <a:ext cx="2106000" cy="187200"/>
          </a:xfrm>
          <a:prstGeom prst="rect">
            <a:avLst/>
          </a:prstGeom>
          <a:noFill/>
        </p:spPr>
        <p:txBody>
          <a:bodyPr wrap="square" lIns="0" rIns="0" tIns="21600" bIns="21600" anchor="t">
            <a:spAutoFit/>
          </a:bodyPr>
          <a:lstStyle/>
          <a:p>
            <a:pPr algn="ctr"/>
            <a:r>
              <a:rPr sz="950" b="1">
                <a:solidFill>
                  <a:srgbClr val="1F285A"/>
                </a:solidFill>
                <a:latin typeface="メイリオ"/>
                <a:ea typeface="メイリオ"/>
                <a:cs typeface="メイリオ"/>
              </a:rPr>
              <a:t>Day3｜後悔TOP5</a:t>
            </a:r>
          </a:p>
        </p:txBody>
      </p:sp>
      <p:sp>
        <p:nvSpPr>
          <p:cNvPr id="16" name="Rounded Rectangle 15"/>
          <p:cNvSpPr/>
          <p:nvPr/>
        </p:nvSpPr>
        <p:spPr>
          <a:xfrm>
            <a:off x="2744400" y="1648800"/>
            <a:ext cx="2106000" cy="223200"/>
          </a:xfrm>
          <a:prstGeom prst="roundRect">
            <a:avLst>
              <a:gd name="adj" fmla="val 6000"/>
            </a:avLst>
          </a:prstGeom>
          <a:solidFill>
            <a:srgbClr val="FFFFFF"/>
          </a:solidFill>
          <a:ln w="1143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 rIns="14400" tIns="0" bIns="0"/>
          <a:lstStyle/>
          <a:p>
            <a:pPr algn="ctr"/>
            <a:r>
              <a:rPr sz="680" b="1">
                <a:solidFill>
                  <a:srgbClr val="7F7F7F"/>
                </a:solidFill>
                <a:latin typeface="メイリオ"/>
                <a:ea typeface="メイリオ"/>
                <a:cs typeface="メイリオ"/>
              </a:rPr>
              <a:t>通知冒頭15字：【後悔TOP5】1位</a:t>
            </a:r>
          </a:p>
        </p:txBody>
      </p:sp>
      <p:sp>
        <p:nvSpPr>
          <p:cNvPr id="17" name="Rounded Rectangle 16"/>
          <p:cNvSpPr/>
          <p:nvPr/>
        </p:nvSpPr>
        <p:spPr>
          <a:xfrm>
            <a:off x="2744400" y="1908000"/>
            <a:ext cx="2106000" cy="3708000"/>
          </a:xfrm>
          <a:prstGeom prst="roundRect">
            <a:avLst>
              <a:gd name="adj" fmla="val 10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94800" y="2059200"/>
            <a:ext cx="2005199" cy="3506400"/>
          </a:xfrm>
          <a:prstGeom prst="rect">
            <a:avLst/>
          </a:prstGeom>
          <a:solidFill>
            <a:srgbClr val="EF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794800" y="2059200"/>
            <a:ext cx="2005199" cy="18720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0" bIns="0"/>
          <a:lstStyle/>
          <a:p>
            <a:pPr algn="ctr"/>
            <a:r>
              <a:rPr sz="700" b="1">
                <a:solidFill>
                  <a:srgbClr val="FFFFFF"/>
                </a:solidFill>
                <a:latin typeface="メイリオ"/>
                <a:ea typeface="メイリオ"/>
                <a:cs typeface="メイリオ"/>
              </a:rPr>
              <a:t>●●ホーム</a:t>
            </a:r>
          </a:p>
        </p:txBody>
      </p:sp>
      <p:sp>
        <p:nvSpPr>
          <p:cNvPr id="20" name="Rounded Rectangle 19"/>
          <p:cNvSpPr/>
          <p:nvPr/>
        </p:nvSpPr>
        <p:spPr>
          <a:xfrm>
            <a:off x="2856000" y="2286000"/>
            <a:ext cx="1882799" cy="323999"/>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0400" rIns="36000" tIns="18000" bIns="18000"/>
          <a:lstStyle/>
          <a:p>
            <a:pPr algn="l">
              <a:lnSpc>
                <a:spcPct val="118000"/>
              </a:lnSpc>
            </a:pPr>
            <a:r>
              <a:rPr sz="650">
                <a:solidFill>
                  <a:srgbClr val="333333"/>
                </a:solidFill>
                <a:latin typeface="メイリオ"/>
                <a:ea typeface="メイリオ"/>
                <a:cs typeface="メイリオ"/>
              </a:rPr>
              <a:t>【建ててから気づく後悔 TOP5】</a:t>
            </a:r>
          </a:p>
          <a:p>
            <a:pPr algn="l">
              <a:lnSpc>
                <a:spcPct val="118000"/>
              </a:lnSpc>
            </a:pPr>
            <a:r>
              <a:rPr sz="650">
                <a:solidFill>
                  <a:srgbClr val="333333"/>
                </a:solidFill>
                <a:latin typeface="メイリオ"/>
                <a:ea typeface="メイリオ"/>
                <a:cs typeface="メイリオ"/>
              </a:rPr>
              <a:t>先に言います。契約前に潰せます。</a:t>
            </a:r>
          </a:p>
        </p:txBody>
      </p:sp>
      <p:sp>
        <p:nvSpPr>
          <p:cNvPr id="21" name="Rounded Rectangle 20"/>
          <p:cNvSpPr/>
          <p:nvPr/>
        </p:nvSpPr>
        <p:spPr>
          <a:xfrm>
            <a:off x="2856000" y="2653199"/>
            <a:ext cx="1882799" cy="6480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0400" rIns="36000" tIns="18000" bIns="18000"/>
          <a:lstStyle/>
          <a:p>
            <a:pPr algn="l">
              <a:lnSpc>
                <a:spcPct val="118000"/>
              </a:lnSpc>
            </a:pPr>
            <a:r>
              <a:rPr sz="650">
                <a:solidFill>
                  <a:srgbClr val="333333"/>
                </a:solidFill>
                <a:latin typeface="メイリオ"/>
                <a:ea typeface="メイリオ"/>
                <a:cs typeface="メイリオ"/>
              </a:rPr>
              <a:t>🥇1位 コンセントの位置と数</a:t>
            </a:r>
          </a:p>
          <a:p>
            <a:pPr algn="l">
              <a:lnSpc>
                <a:spcPct val="118000"/>
              </a:lnSpc>
            </a:pPr>
            <a:r>
              <a:rPr sz="650">
                <a:solidFill>
                  <a:srgbClr val="333333"/>
                </a:solidFill>
                <a:latin typeface="メイリオ"/>
                <a:ea typeface="メイリオ"/>
                <a:cs typeface="メイリオ"/>
              </a:rPr>
              <a:t>🥈2位 収納の"量"より"場所"</a:t>
            </a:r>
          </a:p>
          <a:p>
            <a:pPr algn="l">
              <a:lnSpc>
                <a:spcPct val="118000"/>
              </a:lnSpc>
            </a:pPr>
            <a:r>
              <a:rPr sz="650">
                <a:solidFill>
                  <a:srgbClr val="333333"/>
                </a:solidFill>
                <a:latin typeface="メイリオ"/>
                <a:ea typeface="メイリオ"/>
                <a:cs typeface="メイリオ"/>
              </a:rPr>
              <a:t>🥉3位 窓が多すぎた</a:t>
            </a:r>
          </a:p>
          <a:p>
            <a:pPr algn="l">
              <a:lnSpc>
                <a:spcPct val="118000"/>
              </a:lnSpc>
            </a:pPr>
            <a:r>
              <a:rPr sz="650">
                <a:solidFill>
                  <a:srgbClr val="333333"/>
                </a:solidFill>
                <a:latin typeface="メイリオ"/>
                <a:ea typeface="メイリオ"/>
                <a:cs typeface="メイリオ"/>
              </a:rPr>
              <a:t>4位 スイッチの高さ</a:t>
            </a:r>
          </a:p>
          <a:p>
            <a:pPr algn="l">
              <a:lnSpc>
                <a:spcPct val="118000"/>
              </a:lnSpc>
            </a:pPr>
            <a:r>
              <a:rPr sz="650">
                <a:solidFill>
                  <a:srgbClr val="333333"/>
                </a:solidFill>
                <a:latin typeface="メイリオ"/>
                <a:ea typeface="メイリオ"/>
                <a:cs typeface="メイリオ"/>
              </a:rPr>
              <a:t>5位 外構費を見ていなかった</a:t>
            </a:r>
          </a:p>
        </p:txBody>
      </p:sp>
      <p:sp>
        <p:nvSpPr>
          <p:cNvPr id="22" name="Rounded Rectangle 21"/>
          <p:cNvSpPr/>
          <p:nvPr/>
        </p:nvSpPr>
        <p:spPr>
          <a:xfrm>
            <a:off x="2856000" y="3344399"/>
            <a:ext cx="1882799" cy="4320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0400" rIns="36000" tIns="18000" bIns="18000"/>
          <a:lstStyle/>
          <a:p>
            <a:pPr algn="l">
              <a:lnSpc>
                <a:spcPct val="118000"/>
              </a:lnSpc>
            </a:pPr>
            <a:r>
              <a:rPr sz="650">
                <a:solidFill>
                  <a:srgbClr val="333333"/>
                </a:solidFill>
                <a:latin typeface="メイリオ"/>
                <a:ea typeface="メイリオ"/>
                <a:cs typeface="メイリオ"/>
              </a:rPr>
              <a:t>5位が最多です。外構150〜250万円は</a:t>
            </a:r>
          </a:p>
          <a:p>
            <a:pPr algn="l">
              <a:lnSpc>
                <a:spcPct val="118000"/>
              </a:lnSpc>
            </a:pPr>
            <a:r>
              <a:rPr sz="650">
                <a:solidFill>
                  <a:srgbClr val="333333"/>
                </a:solidFill>
                <a:latin typeface="メイリオ"/>
                <a:ea typeface="メイリオ"/>
                <a:cs typeface="メイリオ"/>
              </a:rPr>
              <a:t>建物見積もりに入っていません。</a:t>
            </a:r>
          </a:p>
          <a:p>
            <a:pPr algn="l">
              <a:lnSpc>
                <a:spcPct val="118000"/>
              </a:lnSpc>
            </a:pPr>
            <a:r>
              <a:rPr sz="650">
                <a:solidFill>
                  <a:srgbClr val="333333"/>
                </a:solidFill>
                <a:latin typeface="メイリオ"/>
                <a:ea typeface="メイリオ"/>
                <a:cs typeface="メイリオ"/>
              </a:rPr>
              <a:t>うちは最初から入れて出します。</a:t>
            </a:r>
          </a:p>
        </p:txBody>
      </p:sp>
      <p:sp>
        <p:nvSpPr>
          <p:cNvPr id="23" name="Rounded Rectangle 22"/>
          <p:cNvSpPr/>
          <p:nvPr/>
        </p:nvSpPr>
        <p:spPr>
          <a:xfrm>
            <a:off x="2856000" y="3819600"/>
            <a:ext cx="1882799" cy="216000"/>
          </a:xfrm>
          <a:prstGeom prst="roundRect">
            <a:avLst>
              <a:gd name="adj" fmla="val 6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lnSpc>
                <a:spcPct val="115000"/>
              </a:lnSpc>
            </a:pPr>
            <a:r>
              <a:rPr sz="680" b="1">
                <a:solidFill>
                  <a:srgbClr val="FFFFFF"/>
                </a:solidFill>
                <a:latin typeface="メイリオ"/>
                <a:ea typeface="メイリオ"/>
                <a:cs typeface="メイリオ"/>
              </a:rPr>
              <a:t>資金計画の相談をする</a:t>
            </a:r>
          </a:p>
        </p:txBody>
      </p:sp>
      <p:sp>
        <p:nvSpPr>
          <p:cNvPr id="24" name="TextBox 23"/>
          <p:cNvSpPr txBox="1"/>
          <p:nvPr/>
        </p:nvSpPr>
        <p:spPr>
          <a:xfrm>
            <a:off x="5056800" y="1440000"/>
            <a:ext cx="2106000" cy="187200"/>
          </a:xfrm>
          <a:prstGeom prst="rect">
            <a:avLst/>
          </a:prstGeom>
          <a:noFill/>
        </p:spPr>
        <p:txBody>
          <a:bodyPr wrap="square" lIns="0" rIns="0" tIns="21600" bIns="21600" anchor="t">
            <a:spAutoFit/>
          </a:bodyPr>
          <a:lstStyle/>
          <a:p>
            <a:pPr algn="ctr"/>
            <a:r>
              <a:rPr sz="950" b="1">
                <a:solidFill>
                  <a:srgbClr val="ED7D31"/>
                </a:solidFill>
                <a:latin typeface="メイリオ"/>
                <a:ea typeface="メイリオ"/>
                <a:cs typeface="メイリオ"/>
              </a:rPr>
              <a:t>Day6｜★CVオファー①</a:t>
            </a:r>
          </a:p>
        </p:txBody>
      </p:sp>
      <p:sp>
        <p:nvSpPr>
          <p:cNvPr id="25" name="Rounded Rectangle 24"/>
          <p:cNvSpPr/>
          <p:nvPr/>
        </p:nvSpPr>
        <p:spPr>
          <a:xfrm>
            <a:off x="5056800" y="1648800"/>
            <a:ext cx="2106000" cy="223200"/>
          </a:xfrm>
          <a:prstGeom prst="roundRect">
            <a:avLst>
              <a:gd name="adj" fmla="val 6000"/>
            </a:avLst>
          </a:prstGeom>
          <a:solidFill>
            <a:srgbClr val="FFFFFF"/>
          </a:solidFill>
          <a:ln w="1143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 rIns="14400" tIns="0" bIns="0"/>
          <a:lstStyle/>
          <a:p>
            <a:pPr algn="ctr"/>
            <a:r>
              <a:rPr sz="680" b="1">
                <a:solidFill>
                  <a:srgbClr val="ED7D31"/>
                </a:solidFill>
                <a:latin typeface="メイリオ"/>
                <a:ea typeface="メイリオ"/>
                <a:cs typeface="メイリオ"/>
              </a:rPr>
              <a:t>通知冒頭15字：今週末、実際に建</a:t>
            </a:r>
          </a:p>
        </p:txBody>
      </p:sp>
      <p:sp>
        <p:nvSpPr>
          <p:cNvPr id="26" name="Rounded Rectangle 25"/>
          <p:cNvSpPr/>
          <p:nvPr/>
        </p:nvSpPr>
        <p:spPr>
          <a:xfrm>
            <a:off x="5056800" y="1908000"/>
            <a:ext cx="2106000" cy="3708000"/>
          </a:xfrm>
          <a:prstGeom prst="roundRect">
            <a:avLst>
              <a:gd name="adj" fmla="val 10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107200" y="2059200"/>
            <a:ext cx="2005199" cy="3506400"/>
          </a:xfrm>
          <a:prstGeom prst="rect">
            <a:avLst/>
          </a:prstGeom>
          <a:solidFill>
            <a:srgbClr val="EF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107200" y="2059200"/>
            <a:ext cx="2005199" cy="18720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0" bIns="0"/>
          <a:lstStyle/>
          <a:p>
            <a:pPr algn="ctr"/>
            <a:r>
              <a:rPr sz="700" b="1">
                <a:solidFill>
                  <a:srgbClr val="FFFFFF"/>
                </a:solidFill>
                <a:latin typeface="メイリオ"/>
                <a:ea typeface="メイリオ"/>
                <a:cs typeface="メイリオ"/>
              </a:rPr>
              <a:t>●●ホーム</a:t>
            </a:r>
          </a:p>
        </p:txBody>
      </p:sp>
      <p:sp>
        <p:nvSpPr>
          <p:cNvPr id="29" name="Rounded Rectangle 28"/>
          <p:cNvSpPr/>
          <p:nvPr/>
        </p:nvSpPr>
        <p:spPr>
          <a:xfrm>
            <a:off x="5168400" y="2286000"/>
            <a:ext cx="1882799" cy="323999"/>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0400" rIns="36000" tIns="18000" bIns="18000"/>
          <a:lstStyle/>
          <a:p>
            <a:pPr algn="l">
              <a:lnSpc>
                <a:spcPct val="118000"/>
              </a:lnSpc>
            </a:pPr>
            <a:r>
              <a:rPr sz="650">
                <a:solidFill>
                  <a:srgbClr val="333333"/>
                </a:solidFill>
                <a:latin typeface="メイリオ"/>
                <a:ea typeface="メイリオ"/>
                <a:cs typeface="メイリオ"/>
              </a:rPr>
              <a:t>今週末、実際に建てられた</a:t>
            </a:r>
          </a:p>
          <a:p>
            <a:pPr algn="l">
              <a:lnSpc>
                <a:spcPct val="118000"/>
              </a:lnSpc>
            </a:pPr>
            <a:r>
              <a:rPr sz="650">
                <a:solidFill>
                  <a:srgbClr val="333333"/>
                </a:solidFill>
                <a:latin typeface="メイリオ"/>
                <a:ea typeface="メイリオ"/>
                <a:cs typeface="メイリオ"/>
              </a:rPr>
              <a:t>お家を見ていただけます🏠</a:t>
            </a:r>
          </a:p>
        </p:txBody>
      </p:sp>
      <p:sp>
        <p:nvSpPr>
          <p:cNvPr id="30" name="Rounded Rectangle 29"/>
          <p:cNvSpPr/>
          <p:nvPr/>
        </p:nvSpPr>
        <p:spPr>
          <a:xfrm>
            <a:off x="5168400" y="2653199"/>
            <a:ext cx="1882799" cy="5400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0400" rIns="36000" tIns="18000" bIns="18000"/>
          <a:lstStyle/>
          <a:p>
            <a:pPr algn="l">
              <a:lnSpc>
                <a:spcPct val="118000"/>
              </a:lnSpc>
            </a:pPr>
            <a:r>
              <a:rPr sz="650">
                <a:solidFill>
                  <a:srgbClr val="333333"/>
                </a:solidFill>
                <a:latin typeface="メイリオ"/>
                <a:ea typeface="メイリオ"/>
                <a:cs typeface="メイリオ"/>
              </a:rPr>
              <a:t>📍●●市●●町</a:t>
            </a:r>
          </a:p>
          <a:p>
            <a:pPr algn="l">
              <a:lnSpc>
                <a:spcPct val="118000"/>
              </a:lnSpc>
            </a:pPr>
            <a:r>
              <a:rPr sz="650">
                <a:solidFill>
                  <a:srgbClr val="333333"/>
                </a:solidFill>
                <a:latin typeface="メイリオ"/>
                <a:ea typeface="メイリオ"/>
                <a:cs typeface="メイリオ"/>
              </a:rPr>
              <a:t>📅●月●日(土)・●日(日)</a:t>
            </a:r>
          </a:p>
          <a:p>
            <a:pPr algn="l">
              <a:lnSpc>
                <a:spcPct val="118000"/>
              </a:lnSpc>
            </a:pPr>
            <a:r>
              <a:rPr sz="650">
                <a:solidFill>
                  <a:srgbClr val="333333"/>
                </a:solidFill>
                <a:latin typeface="メイリオ"/>
                <a:ea typeface="メイリオ"/>
                <a:cs typeface="メイリオ"/>
              </a:rPr>
              <a:t>🕙10:00〜17:00 完全予約制</a:t>
            </a:r>
          </a:p>
          <a:p>
            <a:pPr algn="l">
              <a:lnSpc>
                <a:spcPct val="118000"/>
              </a:lnSpc>
            </a:pPr>
            <a:r>
              <a:rPr sz="650">
                <a:solidFill>
                  <a:srgbClr val="333333"/>
                </a:solidFill>
                <a:latin typeface="メイリオ"/>
                <a:ea typeface="メイリオ"/>
                <a:cs typeface="メイリオ"/>
              </a:rPr>
              <a:t>※1組60分・貸切です</a:t>
            </a:r>
          </a:p>
        </p:txBody>
      </p:sp>
      <p:sp>
        <p:nvSpPr>
          <p:cNvPr id="31" name="Rounded Rectangle 30"/>
          <p:cNvSpPr/>
          <p:nvPr/>
        </p:nvSpPr>
        <p:spPr>
          <a:xfrm>
            <a:off x="5168400" y="3236399"/>
            <a:ext cx="1882799" cy="4320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0400" rIns="36000" tIns="18000" bIns="18000"/>
          <a:lstStyle/>
          <a:p>
            <a:pPr algn="l">
              <a:lnSpc>
                <a:spcPct val="118000"/>
              </a:lnSpc>
            </a:pPr>
            <a:r>
              <a:rPr sz="650">
                <a:solidFill>
                  <a:srgbClr val="333333"/>
                </a:solidFill>
                <a:latin typeface="メイリオ"/>
                <a:ea typeface="メイリオ"/>
                <a:cs typeface="メイリオ"/>
              </a:rPr>
              <a:t>・貸切なので他のお客様と会いません</a:t>
            </a:r>
          </a:p>
          <a:p>
            <a:pPr algn="l">
              <a:lnSpc>
                <a:spcPct val="118000"/>
              </a:lnSpc>
            </a:pPr>
            <a:r>
              <a:rPr sz="650">
                <a:solidFill>
                  <a:srgbClr val="333333"/>
                </a:solidFill>
                <a:latin typeface="メイリオ"/>
                <a:ea typeface="メイリオ"/>
                <a:cs typeface="メイリオ"/>
              </a:rPr>
              <a:t>・その場で契約の話はしません</a:t>
            </a:r>
          </a:p>
          <a:p>
            <a:pPr algn="l">
              <a:lnSpc>
                <a:spcPct val="118000"/>
              </a:lnSpc>
            </a:pPr>
            <a:r>
              <a:rPr sz="650">
                <a:solidFill>
                  <a:srgbClr val="333333"/>
                </a:solidFill>
                <a:latin typeface="メイリオ"/>
                <a:ea typeface="メイリオ"/>
                <a:cs typeface="メイリオ"/>
              </a:rPr>
              <a:t>・見学後の営業電話もしません</a:t>
            </a:r>
          </a:p>
        </p:txBody>
      </p:sp>
      <p:sp>
        <p:nvSpPr>
          <p:cNvPr id="32" name="Rounded Rectangle 31"/>
          <p:cNvSpPr/>
          <p:nvPr/>
        </p:nvSpPr>
        <p:spPr>
          <a:xfrm>
            <a:off x="5168400" y="3711599"/>
            <a:ext cx="1882799" cy="216000"/>
          </a:xfrm>
          <a:prstGeom prst="roundRect">
            <a:avLst>
              <a:gd name="adj" fmla="val 6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lnSpc>
                <a:spcPct val="115000"/>
              </a:lnSpc>
            </a:pPr>
            <a:r>
              <a:rPr sz="680" b="1">
                <a:solidFill>
                  <a:srgbClr val="FFFFFF"/>
                </a:solidFill>
                <a:latin typeface="メイリオ"/>
                <a:ea typeface="メイリオ"/>
                <a:cs typeface="メイリオ"/>
              </a:rPr>
              <a:t>見学を予約する</a:t>
            </a:r>
          </a:p>
        </p:txBody>
      </p:sp>
      <p:sp>
        <p:nvSpPr>
          <p:cNvPr id="33" name="Rounded Rectangle 32"/>
          <p:cNvSpPr/>
          <p:nvPr/>
        </p:nvSpPr>
        <p:spPr>
          <a:xfrm>
            <a:off x="5168400" y="3970800"/>
            <a:ext cx="1882799" cy="216000"/>
          </a:xfrm>
          <a:prstGeom prst="roundRect">
            <a:avLst>
              <a:gd name="adj" fmla="val 6000"/>
            </a:avLst>
          </a:prstGeom>
          <a:solidFill>
            <a:srgbClr val="FFFFFF"/>
          </a:solidFill>
          <a:ln w="11430">
            <a:solidFill>
              <a:srgbClr val="06C755"/>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lnSpc>
                <a:spcPct val="115000"/>
              </a:lnSpc>
            </a:pPr>
            <a:r>
              <a:rPr sz="650">
                <a:solidFill>
                  <a:srgbClr val="0B7A3B"/>
                </a:solidFill>
                <a:latin typeface="メイリオ"/>
                <a:ea typeface="メイリオ"/>
                <a:cs typeface="メイリオ"/>
              </a:rPr>
              <a:t>今回は都合が合わない</a:t>
            </a:r>
          </a:p>
        </p:txBody>
      </p:sp>
      <p:sp>
        <p:nvSpPr>
          <p:cNvPr id="34" name="TextBox 33"/>
          <p:cNvSpPr txBox="1"/>
          <p:nvPr/>
        </p:nvSpPr>
        <p:spPr>
          <a:xfrm>
            <a:off x="7369200" y="1440000"/>
            <a:ext cx="2106000" cy="187200"/>
          </a:xfrm>
          <a:prstGeom prst="rect">
            <a:avLst/>
          </a:prstGeom>
          <a:noFill/>
        </p:spPr>
        <p:txBody>
          <a:bodyPr wrap="square" lIns="0" rIns="0" tIns="21600" bIns="21600" anchor="t">
            <a:spAutoFit/>
          </a:bodyPr>
          <a:lstStyle/>
          <a:p>
            <a:pPr algn="ctr"/>
            <a:r>
              <a:rPr sz="950" b="1">
                <a:solidFill>
                  <a:srgbClr val="ED7D31"/>
                </a:solidFill>
                <a:latin typeface="メイリオ"/>
                <a:ea typeface="メイリオ"/>
                <a:cs typeface="メイリオ"/>
              </a:rPr>
              <a:t>Day14｜★CVオファー②</a:t>
            </a:r>
          </a:p>
        </p:txBody>
      </p:sp>
      <p:sp>
        <p:nvSpPr>
          <p:cNvPr id="35" name="Rounded Rectangle 34"/>
          <p:cNvSpPr/>
          <p:nvPr/>
        </p:nvSpPr>
        <p:spPr>
          <a:xfrm>
            <a:off x="7369200" y="1648800"/>
            <a:ext cx="2106000" cy="223200"/>
          </a:xfrm>
          <a:prstGeom prst="roundRect">
            <a:avLst>
              <a:gd name="adj" fmla="val 6000"/>
            </a:avLst>
          </a:prstGeom>
          <a:solidFill>
            <a:srgbClr val="FFFFFF"/>
          </a:solidFill>
          <a:ln w="1143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 rIns="14400" tIns="0" bIns="0"/>
          <a:lstStyle/>
          <a:p>
            <a:pPr algn="ctr"/>
            <a:r>
              <a:rPr sz="680" b="1">
                <a:solidFill>
                  <a:srgbClr val="ED7D31"/>
                </a:solidFill>
                <a:latin typeface="メイリオ"/>
                <a:ea typeface="メイリオ"/>
                <a:cs typeface="メイリオ"/>
              </a:rPr>
              <a:t>通知冒頭15字：2週間、おつきあ</a:t>
            </a:r>
          </a:p>
        </p:txBody>
      </p:sp>
      <p:sp>
        <p:nvSpPr>
          <p:cNvPr id="36" name="Rounded Rectangle 35"/>
          <p:cNvSpPr/>
          <p:nvPr/>
        </p:nvSpPr>
        <p:spPr>
          <a:xfrm>
            <a:off x="7369200" y="1908000"/>
            <a:ext cx="2106000" cy="3708000"/>
          </a:xfrm>
          <a:prstGeom prst="roundRect">
            <a:avLst>
              <a:gd name="adj" fmla="val 10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419600" y="2059200"/>
            <a:ext cx="2005199" cy="3506400"/>
          </a:xfrm>
          <a:prstGeom prst="rect">
            <a:avLst/>
          </a:prstGeom>
          <a:solidFill>
            <a:srgbClr val="EF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419600" y="2059200"/>
            <a:ext cx="2005199" cy="18720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000" rIns="18000" tIns="0" bIns="0"/>
          <a:lstStyle/>
          <a:p>
            <a:pPr algn="ctr"/>
            <a:r>
              <a:rPr sz="700" b="1">
                <a:solidFill>
                  <a:srgbClr val="FFFFFF"/>
                </a:solidFill>
                <a:latin typeface="メイリオ"/>
                <a:ea typeface="メイリオ"/>
                <a:cs typeface="メイリオ"/>
              </a:rPr>
              <a:t>●●ホーム</a:t>
            </a:r>
          </a:p>
        </p:txBody>
      </p:sp>
      <p:sp>
        <p:nvSpPr>
          <p:cNvPr id="39" name="Rounded Rectangle 38"/>
          <p:cNvSpPr/>
          <p:nvPr/>
        </p:nvSpPr>
        <p:spPr>
          <a:xfrm>
            <a:off x="7480800" y="2286000"/>
            <a:ext cx="1882799" cy="323999"/>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0400" rIns="36000" tIns="18000" bIns="18000"/>
          <a:lstStyle/>
          <a:p>
            <a:pPr algn="l">
              <a:lnSpc>
                <a:spcPct val="118000"/>
              </a:lnSpc>
            </a:pPr>
            <a:r>
              <a:rPr sz="650">
                <a:solidFill>
                  <a:srgbClr val="333333"/>
                </a:solidFill>
                <a:latin typeface="メイリオ"/>
                <a:ea typeface="メイリオ"/>
                <a:cs typeface="メイリオ"/>
              </a:rPr>
              <a:t>2週間、おつきあいいただき</a:t>
            </a:r>
          </a:p>
          <a:p>
            <a:pPr algn="l">
              <a:lnSpc>
                <a:spcPct val="118000"/>
              </a:lnSpc>
            </a:pPr>
            <a:r>
              <a:rPr sz="650">
                <a:solidFill>
                  <a:srgbClr val="333333"/>
                </a:solidFill>
                <a:latin typeface="メイリオ"/>
                <a:ea typeface="メイリオ"/>
                <a:cs typeface="メイリオ"/>
              </a:rPr>
              <a:t>ありがとうございました😊</a:t>
            </a:r>
          </a:p>
        </p:txBody>
      </p:sp>
      <p:sp>
        <p:nvSpPr>
          <p:cNvPr id="40" name="Rounded Rectangle 39"/>
          <p:cNvSpPr/>
          <p:nvPr/>
        </p:nvSpPr>
        <p:spPr>
          <a:xfrm>
            <a:off x="7480800" y="2653199"/>
            <a:ext cx="1882799" cy="4320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0400" rIns="36000" tIns="18000" bIns="18000"/>
          <a:lstStyle/>
          <a:p>
            <a:pPr algn="l">
              <a:lnSpc>
                <a:spcPct val="118000"/>
              </a:lnSpc>
            </a:pPr>
            <a:r>
              <a:rPr sz="650">
                <a:solidFill>
                  <a:srgbClr val="333333"/>
                </a:solidFill>
                <a:latin typeface="メイリオ"/>
                <a:ea typeface="メイリオ"/>
                <a:cs typeface="メイリオ"/>
              </a:rPr>
              <a:t>ここから先はご家庭ごとに</a:t>
            </a:r>
          </a:p>
          <a:p>
            <a:pPr algn="l">
              <a:lnSpc>
                <a:spcPct val="118000"/>
              </a:lnSpc>
            </a:pPr>
            <a:r>
              <a:rPr sz="650">
                <a:solidFill>
                  <a:srgbClr val="333333"/>
                </a:solidFill>
                <a:latin typeface="メイリオ"/>
                <a:ea typeface="メイリオ"/>
                <a:cs typeface="メイリオ"/>
              </a:rPr>
              <a:t>答えが変わります。年収・自己資金・</a:t>
            </a:r>
          </a:p>
          <a:p>
            <a:pPr algn="l">
              <a:lnSpc>
                <a:spcPct val="118000"/>
              </a:lnSpc>
            </a:pPr>
            <a:r>
              <a:rPr sz="650">
                <a:solidFill>
                  <a:srgbClr val="333333"/>
                </a:solidFill>
                <a:latin typeface="メイリオ"/>
                <a:ea typeface="メイリオ"/>
                <a:cs typeface="メイリオ"/>
              </a:rPr>
              <a:t>土地・お子さまの年齢・親の援助。</a:t>
            </a:r>
          </a:p>
        </p:txBody>
      </p:sp>
      <p:sp>
        <p:nvSpPr>
          <p:cNvPr id="41" name="Rounded Rectangle 40"/>
          <p:cNvSpPr/>
          <p:nvPr/>
        </p:nvSpPr>
        <p:spPr>
          <a:xfrm>
            <a:off x="7480800" y="3128400"/>
            <a:ext cx="1882799" cy="5400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wrap="square" lIns="50400" rIns="36000" tIns="18000" bIns="18000"/>
          <a:lstStyle/>
          <a:p>
            <a:pPr algn="l">
              <a:lnSpc>
                <a:spcPct val="118000"/>
              </a:lnSpc>
            </a:pPr>
            <a:r>
              <a:rPr sz="650">
                <a:solidFill>
                  <a:srgbClr val="333333"/>
                </a:solidFill>
                <a:latin typeface="メイリオ"/>
                <a:ea typeface="メイリオ"/>
                <a:cs typeface="メイリオ"/>
              </a:rPr>
              <a:t>30分の個別相談をご用意しました。</a:t>
            </a:r>
          </a:p>
          <a:p>
            <a:pPr algn="l">
              <a:lnSpc>
                <a:spcPct val="118000"/>
              </a:lnSpc>
            </a:pPr>
            <a:r>
              <a:rPr sz="650">
                <a:solidFill>
                  <a:srgbClr val="333333"/>
                </a:solidFill>
                <a:latin typeface="メイリオ"/>
                <a:ea typeface="メイリオ"/>
                <a:cs typeface="メイリオ"/>
              </a:rPr>
              <a:t>①専用の資金計画書</a:t>
            </a:r>
          </a:p>
          <a:p>
            <a:pPr algn="l">
              <a:lnSpc>
                <a:spcPct val="118000"/>
              </a:lnSpc>
            </a:pPr>
            <a:r>
              <a:rPr sz="650">
                <a:solidFill>
                  <a:srgbClr val="333333"/>
                </a:solidFill>
                <a:latin typeface="メイリオ"/>
                <a:ea typeface="メイリオ"/>
                <a:cs typeface="メイリオ"/>
              </a:rPr>
              <a:t>②総予算の上限額（根拠つき）</a:t>
            </a:r>
          </a:p>
          <a:p>
            <a:pPr algn="l">
              <a:lnSpc>
                <a:spcPct val="118000"/>
              </a:lnSpc>
            </a:pPr>
            <a:r>
              <a:rPr sz="650">
                <a:solidFill>
                  <a:srgbClr val="333333"/>
                </a:solidFill>
                <a:latin typeface="メイリオ"/>
                <a:ea typeface="メイリオ"/>
                <a:cs typeface="メイリオ"/>
              </a:rPr>
              <a:t>③ご希望エリアの土地相場</a:t>
            </a:r>
          </a:p>
        </p:txBody>
      </p:sp>
      <p:sp>
        <p:nvSpPr>
          <p:cNvPr id="42" name="Rounded Rectangle 41"/>
          <p:cNvSpPr/>
          <p:nvPr/>
        </p:nvSpPr>
        <p:spPr>
          <a:xfrm>
            <a:off x="7480800" y="3711599"/>
            <a:ext cx="1882799" cy="216000"/>
          </a:xfrm>
          <a:prstGeom prst="roundRect">
            <a:avLst>
              <a:gd name="adj" fmla="val 6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lnSpc>
                <a:spcPct val="115000"/>
              </a:lnSpc>
            </a:pPr>
            <a:r>
              <a:rPr sz="680" b="1">
                <a:solidFill>
                  <a:srgbClr val="FFFFFF"/>
                </a:solidFill>
                <a:latin typeface="メイリオ"/>
                <a:ea typeface="メイリオ"/>
                <a:cs typeface="メイリオ"/>
              </a:rPr>
              <a:t>相談日程を選ぶ</a:t>
            </a:r>
          </a:p>
        </p:txBody>
      </p:sp>
      <p:sp>
        <p:nvSpPr>
          <p:cNvPr id="43" name="Rounded Rectangle 42"/>
          <p:cNvSpPr/>
          <p:nvPr/>
        </p:nvSpPr>
        <p:spPr>
          <a:xfrm>
            <a:off x="7480800" y="3970800"/>
            <a:ext cx="1882799" cy="216000"/>
          </a:xfrm>
          <a:prstGeom prst="roundRect">
            <a:avLst>
              <a:gd name="adj" fmla="val 6000"/>
            </a:avLst>
          </a:prstGeom>
          <a:solidFill>
            <a:srgbClr val="FFFFFF"/>
          </a:solidFill>
          <a:ln w="11430">
            <a:solidFill>
              <a:srgbClr val="06C755"/>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lnSpc>
                <a:spcPct val="115000"/>
              </a:lnSpc>
            </a:pPr>
            <a:r>
              <a:rPr sz="650">
                <a:solidFill>
                  <a:srgbClr val="0B7A3B"/>
                </a:solidFill>
                <a:latin typeface="メイリオ"/>
                <a:ea typeface="メイリオ"/>
                <a:cs typeface="メイリオ"/>
              </a:rPr>
              <a:t>まだ情報だけ受け取りたい</a:t>
            </a:r>
          </a:p>
        </p:txBody>
      </p:sp>
      <p:sp>
        <p:nvSpPr>
          <p:cNvPr id="44" name="TextBox 43"/>
          <p:cNvSpPr txBox="1"/>
          <p:nvPr/>
        </p:nvSpPr>
        <p:spPr>
          <a:xfrm>
            <a:off x="432000" y="6246000"/>
            <a:ext cx="9043200" cy="324000"/>
          </a:xfrm>
          <a:prstGeom prst="rect">
            <a:avLst/>
          </a:prstGeom>
          <a:noFill/>
        </p:spPr>
        <p:txBody>
          <a:bodyPr wrap="square" lIns="0" rIns="0" tIns="21600" bIns="21600" anchor="t">
            <a:spAutoFit/>
          </a:bodyPr>
          <a:lstStyle/>
          <a:p>
            <a:pPr algn="l">
              <a:lnSpc>
                <a:spcPct val="115000"/>
              </a:lnSpc>
            </a:pPr>
            <a:r>
              <a:rPr sz="750">
                <a:solidFill>
                  <a:srgbClr val="7F7F7F"/>
                </a:solidFill>
                <a:latin typeface="メイリオ"/>
                <a:ea typeface="メイリオ"/>
                <a:cs typeface="メイリオ"/>
              </a:rPr>
              <a:t>※ 文面は業界知見に基づく初稿です。実績数値・お客様の声は貴社の実データに差し替えます。「今回は都合が合わない」を必ず置き、押した方には次回開催を自動案内してリストから外しません。</a:t>
            </a:r>
          </a:p>
        </p:txBody>
      </p:sp>
    </p:spTree>
    <p:extLst>
      <p:ext uri="{BB962C8B-B14F-4D97-AF65-F5344CB8AC3E}">
        <p14:creationId xmlns:p14="http://schemas.microsoft.com/office/powerpoint/2010/main" val="32250749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6AB4E-6E86-5642-81B1-3703D9B31A83}"/>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rIns="0" tIns="21600" bIns="21600" anchor="ctr">
            <a:spAutoFit/>
          </a:bodyPr>
          <a:lstStyle/>
          <a:p>
            <a:pPr algn="l"/>
            <a:r>
              <a:rPr sz="1600" b="1">
                <a:solidFill>
                  <a:srgbClr val="002060"/>
                </a:solidFill>
                <a:latin typeface="メイリオ"/>
                <a:ea typeface="メイリオ"/>
                <a:cs typeface="メイリオ"/>
              </a:rPr>
              <a:t>具体企画③｜LINE通知メッセージの利用シーン想定</a:t>
            </a:r>
          </a:p>
        </p:txBody>
      </p:sp>
      <p:sp>
        <p:nvSpPr>
          <p:cNvPr id="3" name="TextBox 2"/>
          <p:cNvSpPr txBox="1"/>
          <p:nvPr/>
        </p:nvSpPr>
        <p:spPr>
          <a:xfrm>
            <a:off x="432000" y="648000"/>
            <a:ext cx="9036000" cy="684000"/>
          </a:xfrm>
          <a:prstGeom prst="rect">
            <a:avLst/>
          </a:prstGeom>
          <a:noFill/>
        </p:spPr>
        <p:txBody>
          <a:bodyPr wrap="square" lIns="0" rIns="0" tIns="21600" bIns="21600" anchor="ctr">
            <a:spAutoFit/>
          </a:bodyPr>
          <a:lstStyle/>
          <a:p>
            <a:pPr algn="l">
              <a:lnSpc>
                <a:spcPct val="128000"/>
              </a:lnSpc>
            </a:pPr>
            <a:r>
              <a:rPr sz="1200">
                <a:solidFill>
                  <a:srgbClr val="333333"/>
                </a:solidFill>
                <a:latin typeface="メイリオ"/>
                <a:ea typeface="メイリオ"/>
                <a:cs typeface="メイリオ"/>
              </a:rPr>
              <a:t>通知メッセージは、電話番号を保有していれば友だち以外にも届く。</a:t>
            </a:r>
          </a:p>
          <a:p>
            <a:pPr algn="l">
              <a:lnSpc>
                <a:spcPct val="128000"/>
              </a:lnSpc>
            </a:pPr>
            <a:r>
              <a:rPr sz="1200">
                <a:solidFill>
                  <a:srgbClr val="333333"/>
                </a:solidFill>
                <a:latin typeface="メイリオ"/>
                <a:ea typeface="メイリオ"/>
                <a:cs typeface="メイリオ"/>
              </a:rPr>
              <a:t>＝ 資料請求だけで止まっている過去リストに、もう一度リーチできる。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818000"/>
            <a:ext cx="4413600" cy="1818000"/>
          </a:xfrm>
          <a:prstGeom prst="roundRect">
            <a:avLst>
              <a:gd name="adj" fmla="val 6000"/>
            </a:avLst>
          </a:prstGeom>
          <a:solidFill>
            <a:srgbClr val="FCE4D6"/>
          </a:solidFill>
          <a:ln w="1270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t" wrap="square" lIns="79200" rIns="64800" tIns="50400" bIns="36000"/>
          <a:lstStyle/>
          <a:p>
            <a:pPr algn="l">
              <a:spcAft>
                <a:spcPts val="300"/>
              </a:spcAft>
            </a:pPr>
            <a:r>
              <a:rPr sz="1100" b="1">
                <a:solidFill>
                  <a:srgbClr val="ED7D31"/>
                </a:solidFill>
                <a:latin typeface="メイリオ"/>
                <a:ea typeface="メイリオ"/>
                <a:cs typeface="メイリオ"/>
              </a:rPr>
              <a:t>① 見学会・相談の前日リマインド</a:t>
            </a:r>
          </a:p>
          <a:p>
            <a:pPr algn="l">
              <a:lnSpc>
                <a:spcPct val="135000"/>
              </a:lnSpc>
              <a:spcAft>
                <a:spcPts val="100"/>
              </a:spcAft>
            </a:pPr>
            <a:r>
              <a:rPr sz="950">
                <a:solidFill>
                  <a:srgbClr val="333333"/>
                </a:solidFill>
                <a:latin typeface="メイリオ"/>
                <a:ea typeface="メイリオ"/>
                <a:cs typeface="メイリオ"/>
              </a:rPr>
              <a:t>予約後〜当日までの3日間にキャンセルは起きる。</a:t>
            </a:r>
          </a:p>
          <a:p>
            <a:pPr algn="l">
              <a:lnSpc>
                <a:spcPct val="135000"/>
              </a:lnSpc>
              <a:spcAft>
                <a:spcPts val="100"/>
              </a:spcAft>
            </a:pPr>
            <a:r>
              <a:rPr sz="950">
                <a:solidFill>
                  <a:srgbClr val="333333"/>
                </a:solidFill>
                <a:latin typeface="メイリオ"/>
                <a:ea typeface="メイリオ"/>
                <a:cs typeface="メイリオ"/>
              </a:rPr>
              <a:t>前日18:00に地図・持ち物・服装・担当者名を配信。</a:t>
            </a:r>
          </a:p>
          <a:p>
            <a:pPr algn="l">
              <a:lnSpc>
                <a:spcPct val="135000"/>
              </a:lnSpc>
              <a:spcAft>
                <a:spcPts val="100"/>
              </a:spcAft>
            </a:pPr>
            <a:r>
              <a:rPr sz="950">
                <a:solidFill>
                  <a:srgbClr val="333333"/>
                </a:solidFill>
                <a:latin typeface="メイリオ"/>
                <a:ea typeface="メイリオ"/>
                <a:cs typeface="メイリオ"/>
              </a:rPr>
              <a:t>「日程を変更する」ボタンを堂々と置き、</a:t>
            </a:r>
          </a:p>
          <a:p>
            <a:pPr algn="l">
              <a:lnSpc>
                <a:spcPct val="135000"/>
              </a:lnSpc>
              <a:spcAft>
                <a:spcPts val="100"/>
              </a:spcAft>
            </a:pPr>
            <a:r>
              <a:rPr sz="950">
                <a:solidFill>
                  <a:srgbClr val="333333"/>
                </a:solidFill>
                <a:latin typeface="メイリオ"/>
                <a:ea typeface="メイリオ"/>
                <a:cs typeface="メイリオ"/>
              </a:rPr>
              <a:t>無断キャンセルをリスト内に残す。</a:t>
            </a:r>
          </a:p>
        </p:txBody>
      </p:sp>
      <p:sp>
        <p:nvSpPr>
          <p:cNvPr id="6" name="Rounded Rectangle 5"/>
          <p:cNvSpPr/>
          <p:nvPr/>
        </p:nvSpPr>
        <p:spPr>
          <a:xfrm>
            <a:off x="5061600" y="1818000"/>
            <a:ext cx="4413600" cy="1818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9200" rIns="64800" tIns="50400" bIns="36000"/>
          <a:lstStyle/>
          <a:p>
            <a:pPr algn="l">
              <a:spcAft>
                <a:spcPts val="300"/>
              </a:spcAft>
            </a:pPr>
            <a:r>
              <a:rPr sz="1100" b="1">
                <a:solidFill>
                  <a:srgbClr val="1F285A"/>
                </a:solidFill>
                <a:latin typeface="メイリオ"/>
                <a:ea typeface="メイリオ"/>
                <a:cs typeface="メイリオ"/>
              </a:rPr>
              <a:t>② 資料請求だけで止まった過去リストの掘り起こし</a:t>
            </a:r>
          </a:p>
          <a:p>
            <a:pPr algn="l">
              <a:lnSpc>
                <a:spcPct val="135000"/>
              </a:lnSpc>
              <a:spcAft>
                <a:spcPts val="100"/>
              </a:spcAft>
            </a:pPr>
            <a:r>
              <a:rPr sz="950">
                <a:solidFill>
                  <a:srgbClr val="333333"/>
                </a:solidFill>
                <a:latin typeface="メイリオ"/>
                <a:ea typeface="メイリオ"/>
                <a:cs typeface="メイリオ"/>
              </a:rPr>
              <a:t>電話が繋がらず追客が止まった層に、番号ベースで再接触。</a:t>
            </a:r>
          </a:p>
          <a:p>
            <a:pPr algn="l">
              <a:lnSpc>
                <a:spcPct val="135000"/>
              </a:lnSpc>
              <a:spcAft>
                <a:spcPts val="100"/>
              </a:spcAft>
            </a:pPr>
            <a:r>
              <a:rPr sz="950">
                <a:solidFill>
                  <a:srgbClr val="333333"/>
                </a:solidFill>
                <a:latin typeface="メイリオ"/>
                <a:ea typeface="メイリオ"/>
                <a:cs typeface="メイリオ"/>
              </a:rPr>
              <a:t>「無理のない予算がわかる60秒診断」を入口にする。</a:t>
            </a:r>
          </a:p>
          <a:p>
            <a:pPr algn="l">
              <a:lnSpc>
                <a:spcPct val="135000"/>
              </a:lnSpc>
              <a:spcAft>
                <a:spcPts val="100"/>
              </a:spcAft>
            </a:pPr>
            <a:r>
              <a:rPr sz="950">
                <a:solidFill>
                  <a:srgbClr val="333333"/>
                </a:solidFill>
                <a:latin typeface="メイリオ"/>
                <a:ea typeface="メイリオ"/>
                <a:cs typeface="メイリオ"/>
              </a:rPr>
              <a:t>営業電話ではないため心理的な抵抗が小さい。</a:t>
            </a:r>
          </a:p>
        </p:txBody>
      </p:sp>
      <p:sp>
        <p:nvSpPr>
          <p:cNvPr id="7" name="Rounded Rectangle 6"/>
          <p:cNvSpPr/>
          <p:nvPr/>
        </p:nvSpPr>
        <p:spPr>
          <a:xfrm>
            <a:off x="432000" y="3833999"/>
            <a:ext cx="4413600" cy="1818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9200" rIns="64800" tIns="50400" bIns="36000"/>
          <a:lstStyle/>
          <a:p>
            <a:pPr algn="l">
              <a:spcAft>
                <a:spcPts val="300"/>
              </a:spcAft>
            </a:pPr>
            <a:r>
              <a:rPr sz="1100" b="1">
                <a:solidFill>
                  <a:srgbClr val="1F285A"/>
                </a:solidFill>
                <a:latin typeface="メイリオ"/>
                <a:ea typeface="メイリオ"/>
                <a:cs typeface="メイリオ"/>
              </a:rPr>
              <a:t>③ 着工〜引渡しの工程通知（契約後）</a:t>
            </a:r>
          </a:p>
          <a:p>
            <a:pPr algn="l">
              <a:lnSpc>
                <a:spcPct val="135000"/>
              </a:lnSpc>
              <a:spcAft>
                <a:spcPts val="100"/>
              </a:spcAft>
            </a:pPr>
            <a:r>
              <a:rPr sz="950">
                <a:solidFill>
                  <a:srgbClr val="333333"/>
                </a:solidFill>
                <a:latin typeface="メイリオ"/>
                <a:ea typeface="メイリオ"/>
                <a:cs typeface="メイリオ"/>
              </a:rPr>
              <a:t>基礎・上棟・竣工検査・引渡しの節目を自動通知。</a:t>
            </a:r>
          </a:p>
          <a:p>
            <a:pPr algn="l">
              <a:lnSpc>
                <a:spcPct val="135000"/>
              </a:lnSpc>
              <a:spcAft>
                <a:spcPts val="100"/>
              </a:spcAft>
            </a:pPr>
            <a:r>
              <a:rPr sz="950">
                <a:solidFill>
                  <a:srgbClr val="333333"/>
                </a:solidFill>
                <a:latin typeface="メイリオ"/>
                <a:ea typeface="メイリオ"/>
                <a:cs typeface="メイリオ"/>
              </a:rPr>
              <a:t>「今どうなっているか」の問い合わせ対応が消える。</a:t>
            </a:r>
          </a:p>
          <a:p>
            <a:pPr algn="l">
              <a:lnSpc>
                <a:spcPct val="135000"/>
              </a:lnSpc>
              <a:spcAft>
                <a:spcPts val="100"/>
              </a:spcAft>
            </a:pPr>
            <a:r>
              <a:rPr sz="950">
                <a:solidFill>
                  <a:srgbClr val="333333"/>
                </a:solidFill>
                <a:latin typeface="メイリオ"/>
                <a:ea typeface="メイリオ"/>
                <a:cs typeface="メイリオ"/>
              </a:rPr>
              <a:t>施主の満足度が上がり、紹介につながる。</a:t>
            </a:r>
          </a:p>
        </p:txBody>
      </p:sp>
      <p:sp>
        <p:nvSpPr>
          <p:cNvPr id="8" name="Rounded Rectangle 7"/>
          <p:cNvSpPr/>
          <p:nvPr/>
        </p:nvSpPr>
        <p:spPr>
          <a:xfrm>
            <a:off x="5061600" y="3833999"/>
            <a:ext cx="4413600" cy="1818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9200" rIns="64800" tIns="50400" bIns="36000"/>
          <a:lstStyle/>
          <a:p>
            <a:pPr algn="l">
              <a:spcAft>
                <a:spcPts val="300"/>
              </a:spcAft>
            </a:pPr>
            <a:r>
              <a:rPr sz="1100" b="1">
                <a:solidFill>
                  <a:srgbClr val="1F285A"/>
                </a:solidFill>
                <a:latin typeface="メイリオ"/>
                <a:ea typeface="メイリオ"/>
                <a:cs typeface="メイリオ"/>
              </a:rPr>
              <a:t>④ 引渡し後の定期点検・メンテ案内（LTV）</a:t>
            </a:r>
          </a:p>
          <a:p>
            <a:pPr algn="l">
              <a:lnSpc>
                <a:spcPct val="135000"/>
              </a:lnSpc>
              <a:spcAft>
                <a:spcPts val="100"/>
              </a:spcAft>
            </a:pPr>
            <a:r>
              <a:rPr sz="950">
                <a:solidFill>
                  <a:srgbClr val="333333"/>
                </a:solidFill>
                <a:latin typeface="メイリオ"/>
                <a:ea typeface="メイリオ"/>
                <a:cs typeface="メイリオ"/>
              </a:rPr>
              <a:t>6ヶ月・1年・2年・10年点検の案内を自動化。</a:t>
            </a:r>
          </a:p>
          <a:p>
            <a:pPr algn="l">
              <a:lnSpc>
                <a:spcPct val="135000"/>
              </a:lnSpc>
              <a:spcAft>
                <a:spcPts val="100"/>
              </a:spcAft>
            </a:pPr>
            <a:r>
              <a:rPr sz="950">
                <a:solidFill>
                  <a:srgbClr val="333333"/>
                </a:solidFill>
                <a:latin typeface="メイリオ"/>
                <a:ea typeface="メイリオ"/>
                <a:cs typeface="メイリオ"/>
              </a:rPr>
              <a:t>外構・リフォーム・紹介キャンペーンの入口になる。</a:t>
            </a:r>
          </a:p>
          <a:p>
            <a:pPr algn="l">
              <a:lnSpc>
                <a:spcPct val="135000"/>
              </a:lnSpc>
              <a:spcAft>
                <a:spcPts val="100"/>
              </a:spcAft>
            </a:pPr>
            <a:r>
              <a:rPr sz="950">
                <a:solidFill>
                  <a:srgbClr val="333333"/>
                </a:solidFill>
                <a:latin typeface="メイリオ"/>
                <a:ea typeface="メイリオ"/>
                <a:cs typeface="メイリオ"/>
              </a:rPr>
              <a:t>1棟で終わらせず、LTVを伸ばす動線。</a:t>
            </a:r>
          </a:p>
        </p:txBody>
      </p:sp>
      <p:sp>
        <p:nvSpPr>
          <p:cNvPr id="9" name="TextBox 8"/>
          <p:cNvSpPr txBox="1"/>
          <p:nvPr/>
        </p:nvSpPr>
        <p:spPr>
          <a:xfrm>
            <a:off x="432000" y="6246000"/>
            <a:ext cx="9043200" cy="324000"/>
          </a:xfrm>
          <a:prstGeom prst="rect">
            <a:avLst/>
          </a:prstGeom>
          <a:noFill/>
        </p:spPr>
        <p:txBody>
          <a:bodyPr wrap="square" lIns="0" rIns="0" tIns="21600" bIns="21600" anchor="t">
            <a:spAutoFit/>
          </a:bodyPr>
          <a:lstStyle/>
          <a:p>
            <a:pPr algn="l">
              <a:lnSpc>
                <a:spcPct val="115000"/>
              </a:lnSpc>
            </a:pPr>
            <a:r>
              <a:rPr sz="750">
                <a:solidFill>
                  <a:srgbClr val="7F7F7F"/>
                </a:solidFill>
                <a:latin typeface="メイリオ"/>
                <a:ea typeface="メイリオ"/>
                <a:cs typeface="メイリオ"/>
              </a:rPr>
              <a:t>※ 通知メッセージは別途費用。利用にはLINEヤフーの審査と、電話番号の取得経路に関する同意設計が必要です。導入前に対象リストの取得同意状況を確認します。</a:t>
            </a:r>
          </a:p>
        </p:txBody>
      </p:sp>
    </p:spTree>
    <p:extLst>
      <p:ext uri="{BB962C8B-B14F-4D97-AF65-F5344CB8AC3E}">
        <p14:creationId xmlns:p14="http://schemas.microsoft.com/office/powerpoint/2010/main" val="42248704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F09D0-C3F8-FF51-9B68-5792A11B6744}"/>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rIns="0" tIns="21600" bIns="21600" anchor="ctr">
            <a:spAutoFit/>
          </a:bodyPr>
          <a:lstStyle/>
          <a:p>
            <a:pPr algn="l"/>
            <a:r>
              <a:rPr sz="1600" b="1">
                <a:solidFill>
                  <a:srgbClr val="002060"/>
                </a:solidFill>
                <a:latin typeface="メイリオ"/>
                <a:ea typeface="メイリオ"/>
                <a:cs typeface="メイリオ"/>
              </a:rPr>
              <a:t>具体企画④｜飛び道具（他社がやっていない企画軸）</a:t>
            </a:r>
          </a:p>
        </p:txBody>
      </p:sp>
      <p:sp>
        <p:nvSpPr>
          <p:cNvPr id="3" name="TextBox 2"/>
          <p:cNvSpPr txBox="1"/>
          <p:nvPr/>
        </p:nvSpPr>
        <p:spPr>
          <a:xfrm>
            <a:off x="432000" y="648000"/>
            <a:ext cx="9036000" cy="684000"/>
          </a:xfrm>
          <a:prstGeom prst="rect">
            <a:avLst/>
          </a:prstGeom>
          <a:noFill/>
        </p:spPr>
        <p:txBody>
          <a:bodyPr wrap="square" lIns="0" rIns="0" tIns="21600" bIns="21600" anchor="ctr">
            <a:spAutoFit/>
          </a:bodyPr>
          <a:lstStyle/>
          <a:p>
            <a:pPr algn="l">
              <a:lnSpc>
                <a:spcPct val="128000"/>
              </a:lnSpc>
            </a:pPr>
            <a:r>
              <a:rPr sz="1200">
                <a:solidFill>
                  <a:srgbClr val="333333"/>
                </a:solidFill>
                <a:latin typeface="メイリオ"/>
                <a:ea typeface="メイリオ"/>
                <a:cs typeface="メイリオ"/>
              </a:rPr>
              <a:t>定番施策だけでは「どこも同じ」になる。注文住宅特有の意思決定構造を突く3案。</a:t>
            </a:r>
          </a:p>
          <a:p>
            <a:pPr algn="l">
              <a:lnSpc>
                <a:spcPct val="128000"/>
              </a:lnSpc>
            </a:pPr>
            <a:r>
              <a:rPr sz="1200">
                <a:solidFill>
                  <a:srgbClr val="333333"/>
                </a:solidFill>
                <a:latin typeface="メイリオ"/>
                <a:ea typeface="メイリオ"/>
                <a:cs typeface="メイリオ"/>
              </a:rPr>
              <a:t>いずれも追加の広告費をほぼ必要としない。</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818000"/>
            <a:ext cx="2894400" cy="3924000"/>
          </a:xfrm>
          <a:prstGeom prst="roundRect">
            <a:avLst>
              <a:gd name="adj" fmla="val 6000"/>
            </a:avLst>
          </a:prstGeom>
          <a:solidFill>
            <a:srgbClr val="FCE4D6"/>
          </a:solidFill>
          <a:ln w="1270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t" wrap="square" lIns="79200" rIns="64800" tIns="50400" bIns="36000"/>
          <a:lstStyle/>
          <a:p>
            <a:pPr algn="l">
              <a:spcAft>
                <a:spcPts val="300"/>
              </a:spcAft>
            </a:pPr>
            <a:r>
              <a:rPr sz="1150" b="1">
                <a:solidFill>
                  <a:srgbClr val="ED7D31"/>
                </a:solidFill>
                <a:latin typeface="メイリオ"/>
                <a:ea typeface="メイリオ"/>
                <a:cs typeface="メイリオ"/>
              </a:rPr>
              <a:t>A｜「親に転送される」コンテンツ</a:t>
            </a:r>
          </a:p>
          <a:p>
            <a:pPr algn="l">
              <a:lnSpc>
                <a:spcPct val="132000"/>
              </a:lnSpc>
              <a:spcAft>
                <a:spcPts val="100"/>
              </a:spcAft>
            </a:pPr>
            <a:r>
              <a:rPr sz="900">
                <a:solidFill>
                  <a:srgbClr val="333333"/>
                </a:solidFill>
                <a:latin typeface="メイリオ"/>
                <a:ea typeface="メイリオ"/>
                <a:cs typeface="メイリオ"/>
              </a:rPr>
              <a:t>注文住宅は決裁者が3人（ご夫婦＋親）。</a:t>
            </a:r>
          </a:p>
          <a:p>
            <a:pPr algn="l">
              <a:lnSpc>
                <a:spcPct val="132000"/>
              </a:lnSpc>
              <a:spcAft>
                <a:spcPts val="100"/>
              </a:spcAft>
            </a:pPr>
            <a:r>
              <a:rPr sz="900">
                <a:solidFill>
                  <a:srgbClr val="333333"/>
                </a:solidFill>
                <a:latin typeface="メイリオ"/>
                <a:ea typeface="メイリオ"/>
                <a:cs typeface="メイリオ"/>
              </a:rPr>
              <a:t>ところが各社のLINEはご夫婦向けしかない。</a:t>
            </a:r>
          </a:p>
          <a:p>
            <a:pPr algn="l">
              <a:lnSpc>
                <a:spcPct val="132000"/>
              </a:lnSpc>
              <a:spcAft>
                <a:spcPts val="100"/>
              </a:spcAft>
            </a:pPr>
            <a:r>
              <a:rPr sz="900">
                <a:solidFill>
                  <a:srgbClr val="333333"/>
                </a:solidFill>
                <a:latin typeface="メイリオ"/>
                <a:ea typeface="メイリオ"/>
                <a:cs typeface="メイリオ"/>
              </a:rPr>
              <a:t>▶ リッチメニューに「親からの援助・贈与の話」を常設</a:t>
            </a:r>
          </a:p>
          <a:p>
            <a:pPr algn="l">
              <a:lnSpc>
                <a:spcPct val="132000"/>
              </a:lnSpc>
              <a:spcAft>
                <a:spcPts val="100"/>
              </a:spcAft>
            </a:pPr>
            <a:r>
              <a:rPr sz="900">
                <a:solidFill>
                  <a:srgbClr val="333333"/>
                </a:solidFill>
                <a:latin typeface="メイリオ"/>
                <a:ea typeface="メイリオ"/>
                <a:cs typeface="メイリオ"/>
              </a:rPr>
              <a:t>▶ 相続時精算課税・住宅取得等資金の非課税枠を図解</a:t>
            </a:r>
          </a:p>
          <a:p>
            <a:pPr algn="l">
              <a:lnSpc>
                <a:spcPct val="132000"/>
              </a:lnSpc>
              <a:spcAft>
                <a:spcPts val="100"/>
              </a:spcAft>
            </a:pPr>
            <a:r>
              <a:rPr sz="900">
                <a:solidFill>
                  <a:srgbClr val="333333"/>
                </a:solidFill>
                <a:latin typeface="メイリオ"/>
                <a:ea typeface="メイリオ"/>
                <a:cs typeface="メイリオ"/>
              </a:rPr>
              <a:t>▶ 奥様が親に転送した瞬間、御社は親にもリーチする</a:t>
            </a:r>
          </a:p>
          <a:p>
            <a:pPr algn="l">
              <a:lnSpc>
                <a:spcPct val="132000"/>
              </a:lnSpc>
              <a:spcAft>
                <a:spcPts val="100"/>
              </a:spcAft>
            </a:pPr>
            <a:r>
              <a:rPr sz="900">
                <a:solidFill>
                  <a:srgbClr val="333333"/>
                </a:solidFill>
                <a:latin typeface="メイリオ"/>
                <a:ea typeface="メイリオ"/>
                <a:cs typeface="メイリオ"/>
              </a:rPr>
              <a:t>他社が置いていない枠。転送数はタグで計測できる。</a:t>
            </a:r>
          </a:p>
        </p:txBody>
      </p:sp>
      <p:sp>
        <p:nvSpPr>
          <p:cNvPr id="6" name="Rounded Rectangle 5"/>
          <p:cNvSpPr/>
          <p:nvPr/>
        </p:nvSpPr>
        <p:spPr>
          <a:xfrm>
            <a:off x="3506400" y="1818000"/>
            <a:ext cx="2894400" cy="3924000"/>
          </a:xfrm>
          <a:prstGeom prst="roundRect">
            <a:avLst>
              <a:gd name="adj" fmla="val 6000"/>
            </a:avLst>
          </a:prstGeom>
          <a:solidFill>
            <a:srgbClr val="FCE4D6"/>
          </a:solidFill>
          <a:ln w="1270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t" wrap="square" lIns="79200" rIns="64800" tIns="50400" bIns="36000"/>
          <a:lstStyle/>
          <a:p>
            <a:pPr algn="l">
              <a:spcAft>
                <a:spcPts val="300"/>
              </a:spcAft>
            </a:pPr>
            <a:r>
              <a:rPr sz="1150" b="1">
                <a:solidFill>
                  <a:srgbClr val="ED7D31"/>
                </a:solidFill>
                <a:latin typeface="メイリオ"/>
                <a:ea typeface="メイリオ"/>
                <a:cs typeface="メイリオ"/>
              </a:rPr>
              <a:t>B｜「不利を先に言う」シリーズ</a:t>
            </a:r>
          </a:p>
          <a:p>
            <a:pPr algn="l">
              <a:lnSpc>
                <a:spcPct val="132000"/>
              </a:lnSpc>
              <a:spcAft>
                <a:spcPts val="100"/>
              </a:spcAft>
            </a:pPr>
            <a:r>
              <a:rPr sz="900">
                <a:solidFill>
                  <a:srgbClr val="333333"/>
                </a:solidFill>
                <a:latin typeface="メイリオ"/>
                <a:ea typeface="メイリオ"/>
                <a:cs typeface="メイリオ"/>
              </a:rPr>
              <a:t>お客様が最も怖いのは、騙されること。</a:t>
            </a:r>
          </a:p>
          <a:p>
            <a:pPr algn="l">
              <a:lnSpc>
                <a:spcPct val="132000"/>
              </a:lnSpc>
              <a:spcAft>
                <a:spcPts val="100"/>
              </a:spcAft>
            </a:pPr>
            <a:r>
              <a:rPr sz="900">
                <a:solidFill>
                  <a:srgbClr val="333333"/>
                </a:solidFill>
                <a:latin typeface="メイリオ"/>
                <a:ea typeface="メイリオ"/>
                <a:cs typeface="メイリオ"/>
              </a:rPr>
              <a:t>▶ Day3で外構費150〜250万円の未計上を自分から暴露</a:t>
            </a:r>
          </a:p>
          <a:p>
            <a:pPr algn="l">
              <a:lnSpc>
                <a:spcPct val="132000"/>
              </a:lnSpc>
              <a:spcAft>
                <a:spcPts val="100"/>
              </a:spcAft>
            </a:pPr>
            <a:r>
              <a:rPr sz="900">
                <a:solidFill>
                  <a:srgbClr val="333333"/>
                </a:solidFill>
                <a:latin typeface="メイリオ"/>
                <a:ea typeface="メイリオ"/>
                <a:cs typeface="メイリオ"/>
              </a:rPr>
              <a:t>▶ 「うちで建てないほうがいい人」を明記した配信</a:t>
            </a:r>
          </a:p>
          <a:p>
            <a:pPr algn="l">
              <a:lnSpc>
                <a:spcPct val="132000"/>
              </a:lnSpc>
              <a:spcAft>
                <a:spcPts val="100"/>
              </a:spcAft>
            </a:pPr>
            <a:r>
              <a:rPr sz="900">
                <a:solidFill>
                  <a:srgbClr val="333333"/>
                </a:solidFill>
                <a:latin typeface="メイリオ"/>
                <a:ea typeface="メイリオ"/>
                <a:cs typeface="メイリオ"/>
              </a:rPr>
              <a:t>▶ 高低差・地盤改良で+200〜300万円になる土地の例</a:t>
            </a:r>
          </a:p>
          <a:p>
            <a:pPr algn="l">
              <a:lnSpc>
                <a:spcPct val="132000"/>
              </a:lnSpc>
              <a:spcAft>
                <a:spcPts val="100"/>
              </a:spcAft>
            </a:pPr>
            <a:r>
              <a:rPr sz="900">
                <a:solidFill>
                  <a:srgbClr val="333333"/>
                </a:solidFill>
                <a:latin typeface="メイリオ"/>
                <a:ea typeface="メイリオ"/>
                <a:cs typeface="メイリオ"/>
              </a:rPr>
              <a:t>「不利なことを先に言う会社は信用できる」。</a:t>
            </a:r>
          </a:p>
          <a:p>
            <a:pPr algn="l">
              <a:lnSpc>
                <a:spcPct val="132000"/>
              </a:lnSpc>
              <a:spcAft>
                <a:spcPts val="100"/>
              </a:spcAft>
            </a:pPr>
            <a:r>
              <a:rPr sz="900">
                <a:solidFill>
                  <a:srgbClr val="333333"/>
                </a:solidFill>
                <a:latin typeface="メイリオ"/>
                <a:ea typeface="メイリオ"/>
                <a:cs typeface="メイリオ"/>
              </a:rPr>
              <a:t>これが注文住宅で最強の差別化になる。</a:t>
            </a:r>
          </a:p>
        </p:txBody>
      </p:sp>
      <p:sp>
        <p:nvSpPr>
          <p:cNvPr id="7" name="Rounded Rectangle 6"/>
          <p:cNvSpPr/>
          <p:nvPr/>
        </p:nvSpPr>
        <p:spPr>
          <a:xfrm>
            <a:off x="6580800" y="1818000"/>
            <a:ext cx="2894400" cy="3924000"/>
          </a:xfrm>
          <a:prstGeom prst="roundRect">
            <a:avLst>
              <a:gd name="adj" fmla="val 6000"/>
            </a:avLst>
          </a:prstGeom>
          <a:solidFill>
            <a:srgbClr val="FCE4D6"/>
          </a:solidFill>
          <a:ln w="1270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t" wrap="square" lIns="79200" rIns="64800" tIns="50400" bIns="36000"/>
          <a:lstStyle/>
          <a:p>
            <a:pPr algn="l">
              <a:spcAft>
                <a:spcPts val="300"/>
              </a:spcAft>
            </a:pPr>
            <a:r>
              <a:rPr sz="1150" b="1">
                <a:solidFill>
                  <a:srgbClr val="ED7D31"/>
                </a:solidFill>
                <a:latin typeface="メイリオ"/>
                <a:ea typeface="メイリオ"/>
                <a:cs typeface="メイリオ"/>
              </a:rPr>
              <a:t>C｜構造見学会のLINE限定公開</a:t>
            </a:r>
          </a:p>
          <a:p>
            <a:pPr algn="l">
              <a:lnSpc>
                <a:spcPct val="132000"/>
              </a:lnSpc>
              <a:spcAft>
                <a:spcPts val="100"/>
              </a:spcAft>
            </a:pPr>
            <a:r>
              <a:rPr sz="900">
                <a:solidFill>
                  <a:srgbClr val="333333"/>
                </a:solidFill>
                <a:latin typeface="メイリオ"/>
                <a:ea typeface="メイリオ"/>
                <a:cs typeface="メイリオ"/>
              </a:rPr>
              <a:t>完成見学会は各社やっている。差がつかない。</a:t>
            </a:r>
          </a:p>
          <a:p>
            <a:pPr algn="l">
              <a:lnSpc>
                <a:spcPct val="132000"/>
              </a:lnSpc>
              <a:spcAft>
                <a:spcPts val="100"/>
              </a:spcAft>
            </a:pPr>
            <a:r>
              <a:rPr sz="900">
                <a:solidFill>
                  <a:srgbClr val="333333"/>
                </a:solidFill>
                <a:latin typeface="メイリオ"/>
                <a:ea typeface="メイリオ"/>
                <a:cs typeface="メイリオ"/>
              </a:rPr>
              <a:t>▶ 建築中の現場（断熱材・耐力壁・配管）をLINE限定で公開</a:t>
            </a:r>
          </a:p>
          <a:p>
            <a:pPr algn="l">
              <a:lnSpc>
                <a:spcPct val="132000"/>
              </a:lnSpc>
              <a:spcAft>
                <a:spcPts val="100"/>
              </a:spcAft>
            </a:pPr>
            <a:r>
              <a:rPr sz="900">
                <a:solidFill>
                  <a:srgbClr val="333333"/>
                </a:solidFill>
                <a:latin typeface="メイリオ"/>
                <a:ea typeface="メイリオ"/>
                <a:cs typeface="メイリオ"/>
              </a:rPr>
              <a:t>▶ 「見せられる会社」であること自体が証明になる</a:t>
            </a:r>
          </a:p>
          <a:p>
            <a:pPr algn="l">
              <a:lnSpc>
                <a:spcPct val="132000"/>
              </a:lnSpc>
              <a:spcAft>
                <a:spcPts val="100"/>
              </a:spcAft>
            </a:pPr>
            <a:r>
              <a:rPr sz="900">
                <a:solidFill>
                  <a:srgbClr val="333333"/>
                </a:solidFill>
                <a:latin typeface="メイリオ"/>
                <a:ea typeface="メイリオ"/>
                <a:cs typeface="メイリオ"/>
              </a:rPr>
              <a:t>▶ 検討後期の決め手になり、比較で優位に立てる</a:t>
            </a:r>
          </a:p>
          <a:p>
            <a:pPr algn="l">
              <a:lnSpc>
                <a:spcPct val="132000"/>
              </a:lnSpc>
              <a:spcAft>
                <a:spcPts val="100"/>
              </a:spcAft>
            </a:pPr>
            <a:r>
              <a:rPr sz="900">
                <a:solidFill>
                  <a:srgbClr val="333333"/>
                </a:solidFill>
                <a:latin typeface="メイリオ"/>
                <a:ea typeface="メイリオ"/>
                <a:cs typeface="メイリオ"/>
              </a:rPr>
              <a:t>枠が限られるため、友だち限定の希少性が効く。</a:t>
            </a:r>
          </a:p>
        </p:txBody>
      </p:sp>
      <p:sp>
        <p:nvSpPr>
          <p:cNvPr id="8" name="TextBox 7"/>
          <p:cNvSpPr txBox="1"/>
          <p:nvPr/>
        </p:nvSpPr>
        <p:spPr>
          <a:xfrm>
            <a:off x="432000" y="6246000"/>
            <a:ext cx="9043200" cy="324000"/>
          </a:xfrm>
          <a:prstGeom prst="rect">
            <a:avLst/>
          </a:prstGeom>
          <a:noFill/>
        </p:spPr>
        <p:txBody>
          <a:bodyPr wrap="square" lIns="0" rIns="0" tIns="21600" bIns="21600" anchor="t">
            <a:spAutoFit/>
          </a:bodyPr>
          <a:lstStyle/>
          <a:p>
            <a:pPr algn="l">
              <a:lnSpc>
                <a:spcPct val="115000"/>
              </a:lnSpc>
            </a:pPr>
            <a:r>
              <a:rPr sz="750">
                <a:solidFill>
                  <a:srgbClr val="7F7F7F"/>
                </a:solidFill>
                <a:latin typeface="メイリオ"/>
                <a:ea typeface="メイリオ"/>
                <a:cs typeface="メイリオ"/>
              </a:rPr>
              <a:t>※ B案は「不利の開示」を伴うため、掲載範囲と表現は事前に社内合意が必要です。C案は現場の安全管理・施主様の許諾が前提になります。</a:t>
            </a:r>
          </a:p>
        </p:txBody>
      </p:sp>
    </p:spTree>
    <p:extLst>
      <p:ext uri="{BB962C8B-B14F-4D97-AF65-F5344CB8AC3E}">
        <p14:creationId xmlns:p14="http://schemas.microsoft.com/office/powerpoint/2010/main" val="17728060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1590B-7660-E16F-AF1F-C1B09199CC7C}"/>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rIns="0" tIns="21600" bIns="21600" anchor="ctr">
            <a:spAutoFit/>
          </a:bodyPr>
          <a:lstStyle/>
          <a:p>
            <a:pPr algn="l"/>
            <a:r>
              <a:rPr sz="1600" b="1">
                <a:solidFill>
                  <a:srgbClr val="002060"/>
                </a:solidFill>
                <a:latin typeface="メイリオ"/>
                <a:ea typeface="メイリオ"/>
                <a:cs typeface="メイリオ"/>
              </a:rPr>
              <a:t>LINEOA実績｜LINEヤフー公式の導入事例（住宅・不動産）</a:t>
            </a:r>
          </a:p>
        </p:txBody>
      </p:sp>
      <p:sp>
        <p:nvSpPr>
          <p:cNvPr id="3" name="TextBox 2"/>
          <p:cNvSpPr txBox="1"/>
          <p:nvPr/>
        </p:nvSpPr>
        <p:spPr>
          <a:xfrm>
            <a:off x="432000" y="648000"/>
            <a:ext cx="9036000" cy="684000"/>
          </a:xfrm>
          <a:prstGeom prst="rect">
            <a:avLst/>
          </a:prstGeom>
          <a:noFill/>
        </p:spPr>
        <p:txBody>
          <a:bodyPr wrap="square" lIns="0" rIns="0" tIns="21600" bIns="21600" anchor="ctr">
            <a:spAutoFit/>
          </a:bodyPr>
          <a:lstStyle/>
          <a:p>
            <a:pPr algn="l">
              <a:lnSpc>
                <a:spcPct val="128000"/>
              </a:lnSpc>
            </a:pPr>
            <a:r>
              <a:rPr sz="1200">
                <a:solidFill>
                  <a:srgbClr val="333333"/>
                </a:solidFill>
                <a:latin typeface="メイリオ"/>
                <a:ea typeface="メイリオ"/>
                <a:cs typeface="メイリオ"/>
              </a:rPr>
              <a:t>注文住宅の請負を主業とする会社の「LINE公式アカウント」事例は、公式サイトに掲載がない。</a:t>
            </a:r>
          </a:p>
          <a:p>
            <a:pPr algn="l">
              <a:lnSpc>
                <a:spcPct val="128000"/>
              </a:lnSpc>
            </a:pPr>
            <a:r>
              <a:rPr sz="1200">
                <a:solidFill>
                  <a:srgbClr val="333333"/>
                </a:solidFill>
                <a:latin typeface="メイリオ"/>
                <a:ea typeface="メイリオ"/>
                <a:cs typeface="メイリオ"/>
              </a:rPr>
              <a:t>＝ 御社が最初の事例になれる。以下は公式に掲載のある近接事例。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818000"/>
            <a:ext cx="4413600" cy="1925999"/>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0000" y="1897199"/>
            <a:ext cx="4197600" cy="378000"/>
          </a:xfrm>
          <a:prstGeom prst="rect">
            <a:avLst/>
          </a:prstGeom>
          <a:noFill/>
        </p:spPr>
        <p:txBody>
          <a:bodyPr wrap="square" lIns="0" rIns="50400" tIns="21600" bIns="21600" anchor="t">
            <a:spAutoFit/>
          </a:bodyPr>
          <a:lstStyle/>
          <a:p>
            <a:pPr algn="l">
              <a:spcAft>
                <a:spcPts val="200"/>
              </a:spcAft>
            </a:pPr>
            <a:r>
              <a:rPr sz="1150" b="1">
                <a:solidFill>
                  <a:srgbClr val="1F285A"/>
                </a:solidFill>
                <a:latin typeface="メイリオ"/>
                <a:ea typeface="メイリオ"/>
                <a:cs typeface="メイリオ"/>
              </a:rPr>
              <a:t>auka（ギバーテイクオール）</a:t>
            </a:r>
          </a:p>
          <a:p>
            <a:pPr algn="l"/>
            <a:r>
              <a:rPr sz="850">
                <a:solidFill>
                  <a:srgbClr val="7F7F7F"/>
                </a:solidFill>
                <a:latin typeface="メイリオ"/>
                <a:ea typeface="メイリオ"/>
                <a:cs typeface="メイリオ"/>
              </a:rPr>
              <a:t>注文住宅の無料相談窓口</a:t>
            </a:r>
          </a:p>
        </p:txBody>
      </p:sp>
      <p:sp>
        <p:nvSpPr>
          <p:cNvPr id="7" name="TextBox 6"/>
          <p:cNvSpPr txBox="1"/>
          <p:nvPr/>
        </p:nvSpPr>
        <p:spPr>
          <a:xfrm>
            <a:off x="540000" y="2329200"/>
            <a:ext cx="2471616" cy="936000"/>
          </a:xfrm>
          <a:prstGeom prst="rect">
            <a:avLst/>
          </a:prstGeom>
          <a:noFill/>
        </p:spPr>
        <p:txBody>
          <a:bodyPr wrap="square" lIns="0" rIns="50400" tIns="21600" bIns="21600" anchor="t">
            <a:spAutoFit/>
          </a:bodyPr>
          <a:lstStyle/>
          <a:p>
            <a:pPr algn="l">
              <a:spcAft>
                <a:spcPts val="200"/>
              </a:spcAft>
            </a:pPr>
            <a:r>
              <a:rPr sz="850" b="1">
                <a:solidFill>
                  <a:srgbClr val="333333"/>
                </a:solidFill>
                <a:latin typeface="メイリオ"/>
                <a:ea typeface="メイリオ"/>
                <a:cs typeface="メイリオ"/>
              </a:rPr>
              <a:t>■ 施策</a:t>
            </a:r>
          </a:p>
          <a:p>
            <a:pPr algn="l">
              <a:lnSpc>
                <a:spcPct val="130000"/>
              </a:lnSpc>
              <a:spcAft>
                <a:spcPts val="100"/>
              </a:spcAft>
            </a:pPr>
            <a:r>
              <a:rPr sz="800">
                <a:solidFill>
                  <a:srgbClr val="333333"/>
                </a:solidFill>
                <a:latin typeface="メイリオ"/>
                <a:ea typeface="メイリオ"/>
                <a:cs typeface="メイリオ"/>
              </a:rPr>
              <a:t>・導線：広告 → LP → 友だち追加 → 家づくりアンケート</a:t>
            </a:r>
          </a:p>
          <a:p>
            <a:pPr algn="l">
              <a:lnSpc>
                <a:spcPct val="130000"/>
              </a:lnSpc>
              <a:spcAft>
                <a:spcPts val="100"/>
              </a:spcAft>
            </a:pPr>
            <a:r>
              <a:rPr sz="800">
                <a:solidFill>
                  <a:srgbClr val="333333"/>
                </a:solidFill>
                <a:latin typeface="メイリオ"/>
                <a:ea typeface="メイリオ"/>
                <a:cs typeface="メイリオ"/>
              </a:rPr>
              <a:t>・2021年3月〜LINE広告／6月〜友だち追加広告（CPF）</a:t>
            </a:r>
          </a:p>
          <a:p>
            <a:pPr algn="l">
              <a:lnSpc>
                <a:spcPct val="130000"/>
              </a:lnSpc>
              <a:spcAft>
                <a:spcPts val="100"/>
              </a:spcAft>
            </a:pPr>
            <a:r>
              <a:rPr sz="800">
                <a:solidFill>
                  <a:srgbClr val="333333"/>
                </a:solidFill>
                <a:latin typeface="メイリオ"/>
                <a:ea typeface="メイリオ"/>
                <a:cs typeface="メイリオ"/>
              </a:rPr>
              <a:t>・クリエイティブ4〜5種を同時運用して効果を分析</a:t>
            </a:r>
          </a:p>
        </p:txBody>
      </p:sp>
      <p:sp>
        <p:nvSpPr>
          <p:cNvPr id="8" name="Rounded Rectangle 7"/>
          <p:cNvSpPr/>
          <p:nvPr/>
        </p:nvSpPr>
        <p:spPr>
          <a:xfrm>
            <a:off x="3080159" y="2329200"/>
            <a:ext cx="1588896" cy="1206000"/>
          </a:xfrm>
          <a:prstGeom prst="roundRect">
            <a:avLst>
              <a:gd name="adj" fmla="val 6000"/>
            </a:avLst>
          </a:prstGeom>
          <a:solidFill>
            <a:srgbClr val="FCE4D6"/>
          </a:solidFill>
          <a:ln w="1143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8800" bIns="28800"/>
          <a:lstStyle/>
          <a:p>
            <a:pPr algn="ctr">
              <a:spcAft>
                <a:spcPts val="300"/>
              </a:spcAft>
            </a:pPr>
            <a:r>
              <a:rPr sz="850" b="1">
                <a:solidFill>
                  <a:srgbClr val="ED7D31"/>
                </a:solidFill>
                <a:latin typeface="メイリオ"/>
                <a:ea typeface="メイリオ"/>
                <a:cs typeface="メイリオ"/>
              </a:rPr>
              <a:t>成果</a:t>
            </a:r>
          </a:p>
          <a:p>
            <a:pPr algn="ctr">
              <a:lnSpc>
                <a:spcPct val="130000"/>
              </a:lnSpc>
              <a:spcAft>
                <a:spcPts val="200"/>
              </a:spcAft>
            </a:pPr>
            <a:r>
              <a:rPr sz="900" b="1">
                <a:solidFill>
                  <a:srgbClr val="ED7D31"/>
                </a:solidFill>
                <a:latin typeface="メイリオ"/>
                <a:ea typeface="メイリオ"/>
                <a:cs typeface="メイリオ"/>
              </a:rPr>
              <a:t>友だち　約24,000人</a:t>
            </a:r>
          </a:p>
          <a:p>
            <a:pPr algn="ctr">
              <a:lnSpc>
                <a:spcPct val="130000"/>
              </a:lnSpc>
              <a:spcAft>
                <a:spcPts val="200"/>
              </a:spcAft>
            </a:pPr>
            <a:r>
              <a:rPr sz="900" b="1">
                <a:solidFill>
                  <a:srgbClr val="ED7D31"/>
                </a:solidFill>
                <a:latin typeface="メイリオ"/>
                <a:ea typeface="メイリオ"/>
                <a:cs typeface="メイリオ"/>
              </a:rPr>
              <a:t>CV　週1〜2件で安定</a:t>
            </a:r>
          </a:p>
          <a:p>
            <a:pPr algn="ctr">
              <a:lnSpc>
                <a:spcPct val="130000"/>
              </a:lnSpc>
              <a:spcAft>
                <a:spcPts val="200"/>
              </a:spcAft>
            </a:pPr>
            <a:r>
              <a:rPr sz="900" b="1">
                <a:solidFill>
                  <a:srgbClr val="ED7D31"/>
                </a:solidFill>
                <a:latin typeface="メイリオ"/>
                <a:ea typeface="メイリオ"/>
                <a:cs typeface="メイリオ"/>
              </a:rPr>
              <a:t>CPA　約10,000円（CPF単体）</a:t>
            </a:r>
          </a:p>
        </p:txBody>
      </p:sp>
      <p:sp>
        <p:nvSpPr>
          <p:cNvPr id="9" name="TextBox 8"/>
          <p:cNvSpPr txBox="1"/>
          <p:nvPr/>
        </p:nvSpPr>
        <p:spPr>
          <a:xfrm>
            <a:off x="540000" y="3463199"/>
            <a:ext cx="4197600" cy="223200"/>
          </a:xfrm>
          <a:prstGeom prst="rect">
            <a:avLst/>
          </a:prstGeom>
          <a:noFill/>
        </p:spPr>
        <p:txBody>
          <a:bodyPr wrap="square" lIns="0" rIns="50400" tIns="21600" bIns="21600" anchor="t">
            <a:spAutoFit/>
          </a:bodyPr>
          <a:lstStyle/>
          <a:p>
            <a:pPr algn="l"/>
            <a:r>
              <a:rPr sz="700">
                <a:solidFill>
                  <a:srgbClr val="7F7F7F"/>
                </a:solidFill>
                <a:latin typeface="メイリオ"/>
                <a:ea typeface="メイリオ"/>
                <a:cs typeface="メイリオ"/>
              </a:rPr>
              <a:t>出典：LINEヤフー for Business 導入事例（lycbiz.com/jp/case-study）</a:t>
            </a:r>
          </a:p>
        </p:txBody>
      </p:sp>
      <p:sp>
        <p:nvSpPr>
          <p:cNvPr id="10" name="Rounded Rectangle 9"/>
          <p:cNvSpPr/>
          <p:nvPr/>
        </p:nvSpPr>
        <p:spPr>
          <a:xfrm>
            <a:off x="5061600" y="1818000"/>
            <a:ext cx="4413600" cy="1925999"/>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69600" y="1897199"/>
            <a:ext cx="4197600" cy="378000"/>
          </a:xfrm>
          <a:prstGeom prst="rect">
            <a:avLst/>
          </a:prstGeom>
          <a:noFill/>
        </p:spPr>
        <p:txBody>
          <a:bodyPr wrap="square" lIns="0" rIns="50400" tIns="21600" bIns="21600" anchor="t">
            <a:spAutoFit/>
          </a:bodyPr>
          <a:lstStyle/>
          <a:p>
            <a:pPr algn="l">
              <a:spcAft>
                <a:spcPts val="200"/>
              </a:spcAft>
            </a:pPr>
            <a:r>
              <a:rPr sz="1150" b="1">
                <a:solidFill>
                  <a:srgbClr val="1F285A"/>
                </a:solidFill>
                <a:latin typeface="メイリオ"/>
                <a:ea typeface="メイリオ"/>
                <a:cs typeface="メイリオ"/>
              </a:rPr>
              <a:t>オープンハウスグループ</a:t>
            </a:r>
          </a:p>
          <a:p>
            <a:pPr algn="l"/>
            <a:r>
              <a:rPr sz="850">
                <a:solidFill>
                  <a:srgbClr val="7F7F7F"/>
                </a:solidFill>
                <a:latin typeface="メイリオ"/>
                <a:ea typeface="メイリオ"/>
                <a:cs typeface="メイリオ"/>
              </a:rPr>
              <a:t>分譲・注文住宅／LINE広告</a:t>
            </a:r>
          </a:p>
        </p:txBody>
      </p:sp>
      <p:sp>
        <p:nvSpPr>
          <p:cNvPr id="12" name="TextBox 11"/>
          <p:cNvSpPr txBox="1"/>
          <p:nvPr/>
        </p:nvSpPr>
        <p:spPr>
          <a:xfrm>
            <a:off x="5169600" y="2329200"/>
            <a:ext cx="2471616" cy="936000"/>
          </a:xfrm>
          <a:prstGeom prst="rect">
            <a:avLst/>
          </a:prstGeom>
          <a:noFill/>
        </p:spPr>
        <p:txBody>
          <a:bodyPr wrap="square" lIns="0" rIns="50400" tIns="21600" bIns="21600" anchor="t">
            <a:spAutoFit/>
          </a:bodyPr>
          <a:lstStyle/>
          <a:p>
            <a:pPr algn="l">
              <a:spcAft>
                <a:spcPts val="200"/>
              </a:spcAft>
            </a:pPr>
            <a:r>
              <a:rPr sz="850" b="1">
                <a:solidFill>
                  <a:srgbClr val="333333"/>
                </a:solidFill>
                <a:latin typeface="メイリオ"/>
                <a:ea typeface="メイリオ"/>
                <a:cs typeface="メイリオ"/>
              </a:rPr>
              <a:t>■ 施策</a:t>
            </a:r>
          </a:p>
          <a:p>
            <a:pPr algn="l">
              <a:lnSpc>
                <a:spcPct val="130000"/>
              </a:lnSpc>
              <a:spcAft>
                <a:spcPts val="100"/>
              </a:spcAft>
            </a:pPr>
            <a:r>
              <a:rPr sz="800">
                <a:solidFill>
                  <a:srgbClr val="333333"/>
                </a:solidFill>
                <a:latin typeface="メイリオ"/>
                <a:ea typeface="メイリオ"/>
                <a:cs typeface="メイリオ"/>
              </a:rPr>
              <a:t>・2021年10月〜LINE広告をインハウス化</a:t>
            </a:r>
          </a:p>
          <a:p>
            <a:pPr algn="l">
              <a:lnSpc>
                <a:spcPct val="130000"/>
              </a:lnSpc>
              <a:spcAft>
                <a:spcPts val="100"/>
              </a:spcAft>
            </a:pPr>
            <a:r>
              <a:rPr sz="800">
                <a:solidFill>
                  <a:srgbClr val="333333"/>
                </a:solidFill>
                <a:latin typeface="メイリオ"/>
                <a:ea typeface="メイリオ"/>
                <a:cs typeface="メイリオ"/>
              </a:rPr>
              <a:t>・エリア別の顧客データ分析 ＋ 営業担当へのヒアリング</a:t>
            </a:r>
          </a:p>
          <a:p>
            <a:pPr algn="l">
              <a:lnSpc>
                <a:spcPct val="130000"/>
              </a:lnSpc>
              <a:spcAft>
                <a:spcPts val="100"/>
              </a:spcAft>
            </a:pPr>
            <a:r>
              <a:rPr sz="800">
                <a:solidFill>
                  <a:srgbClr val="333333"/>
                </a:solidFill>
                <a:latin typeface="メイリオ"/>
                <a:ea typeface="メイリオ"/>
                <a:cs typeface="メイリオ"/>
              </a:rPr>
              <a:t>・データと「現場の声」をクリエイティブに反映</a:t>
            </a:r>
          </a:p>
        </p:txBody>
      </p:sp>
      <p:sp>
        <p:nvSpPr>
          <p:cNvPr id="13" name="Rounded Rectangle 12"/>
          <p:cNvSpPr/>
          <p:nvPr/>
        </p:nvSpPr>
        <p:spPr>
          <a:xfrm>
            <a:off x="7709759" y="2329200"/>
            <a:ext cx="1588896" cy="1206000"/>
          </a:xfrm>
          <a:prstGeom prst="roundRect">
            <a:avLst>
              <a:gd name="adj" fmla="val 6000"/>
            </a:avLst>
          </a:prstGeom>
          <a:solidFill>
            <a:srgbClr val="FCE4D6"/>
          </a:solidFill>
          <a:ln w="1143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8800" bIns="28800"/>
          <a:lstStyle/>
          <a:p>
            <a:pPr algn="ctr">
              <a:spcAft>
                <a:spcPts val="300"/>
              </a:spcAft>
            </a:pPr>
            <a:r>
              <a:rPr sz="850" b="1">
                <a:solidFill>
                  <a:srgbClr val="ED7D31"/>
                </a:solidFill>
                <a:latin typeface="メイリオ"/>
                <a:ea typeface="メイリオ"/>
                <a:cs typeface="メイリオ"/>
              </a:rPr>
              <a:t>成果</a:t>
            </a:r>
          </a:p>
          <a:p>
            <a:pPr algn="ctr">
              <a:lnSpc>
                <a:spcPct val="130000"/>
              </a:lnSpc>
              <a:spcAft>
                <a:spcPts val="200"/>
              </a:spcAft>
            </a:pPr>
            <a:r>
              <a:rPr sz="900" b="1">
                <a:solidFill>
                  <a:srgbClr val="ED7D31"/>
                </a:solidFill>
                <a:latin typeface="メイリオ"/>
                <a:ea typeface="メイリオ"/>
                <a:cs typeface="メイリオ"/>
              </a:rPr>
              <a:t>CVR　前年比 158%改善</a:t>
            </a:r>
          </a:p>
          <a:p>
            <a:pPr algn="ctr">
              <a:lnSpc>
                <a:spcPct val="130000"/>
              </a:lnSpc>
              <a:spcAft>
                <a:spcPts val="200"/>
              </a:spcAft>
            </a:pPr>
            <a:r>
              <a:rPr sz="900" b="1">
                <a:solidFill>
                  <a:srgbClr val="ED7D31"/>
                </a:solidFill>
                <a:latin typeface="メイリオ"/>
                <a:ea typeface="メイリオ"/>
                <a:cs typeface="メイリオ"/>
              </a:rPr>
              <a:t>CPA　前年比 68%抑制</a:t>
            </a:r>
          </a:p>
          <a:p>
            <a:pPr algn="ctr">
              <a:lnSpc>
                <a:spcPct val="130000"/>
              </a:lnSpc>
              <a:spcAft>
                <a:spcPts val="200"/>
              </a:spcAft>
            </a:pPr>
            <a:r>
              <a:rPr sz="900" b="1">
                <a:solidFill>
                  <a:srgbClr val="ED7D31"/>
                </a:solidFill>
                <a:latin typeface="メイリオ"/>
                <a:ea typeface="メイリオ"/>
                <a:cs typeface="メイリオ"/>
              </a:rPr>
              <a:t>資料請求数　142%増</a:t>
            </a:r>
          </a:p>
        </p:txBody>
      </p:sp>
      <p:sp>
        <p:nvSpPr>
          <p:cNvPr id="14" name="TextBox 13"/>
          <p:cNvSpPr txBox="1"/>
          <p:nvPr/>
        </p:nvSpPr>
        <p:spPr>
          <a:xfrm>
            <a:off x="5169600" y="3463199"/>
            <a:ext cx="4197600" cy="223200"/>
          </a:xfrm>
          <a:prstGeom prst="rect">
            <a:avLst/>
          </a:prstGeom>
          <a:noFill/>
        </p:spPr>
        <p:txBody>
          <a:bodyPr wrap="square" lIns="0" rIns="50400" tIns="21600" bIns="21600" anchor="t">
            <a:spAutoFit/>
          </a:bodyPr>
          <a:lstStyle/>
          <a:p>
            <a:pPr algn="l"/>
            <a:r>
              <a:rPr sz="700">
                <a:solidFill>
                  <a:srgbClr val="7F7F7F"/>
                </a:solidFill>
                <a:latin typeface="メイリオ"/>
                <a:ea typeface="メイリオ"/>
                <a:cs typeface="メイリオ"/>
              </a:rPr>
              <a:t>出典：LINEヤフー for Business 導入事例（lycbiz.com/jp/case-study）</a:t>
            </a:r>
          </a:p>
        </p:txBody>
      </p:sp>
      <p:sp>
        <p:nvSpPr>
          <p:cNvPr id="15" name="Rounded Rectangle 14"/>
          <p:cNvSpPr/>
          <p:nvPr/>
        </p:nvSpPr>
        <p:spPr>
          <a:xfrm>
            <a:off x="432000" y="3906000"/>
            <a:ext cx="4413600" cy="1925999"/>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0000" y="3985200"/>
            <a:ext cx="4197600" cy="378000"/>
          </a:xfrm>
          <a:prstGeom prst="rect">
            <a:avLst/>
          </a:prstGeom>
          <a:noFill/>
        </p:spPr>
        <p:txBody>
          <a:bodyPr wrap="square" lIns="0" rIns="50400" tIns="21600" bIns="21600" anchor="t">
            <a:spAutoFit/>
          </a:bodyPr>
          <a:lstStyle/>
          <a:p>
            <a:pPr algn="l">
              <a:spcAft>
                <a:spcPts val="200"/>
              </a:spcAft>
            </a:pPr>
            <a:r>
              <a:rPr sz="1150" b="1">
                <a:solidFill>
                  <a:srgbClr val="1F285A"/>
                </a:solidFill>
                <a:latin typeface="メイリオ"/>
                <a:ea typeface="メイリオ"/>
                <a:cs typeface="メイリオ"/>
              </a:rPr>
              <a:t>ミサワホーム北越</a:t>
            </a:r>
          </a:p>
          <a:p>
            <a:pPr algn="l"/>
            <a:r>
              <a:rPr sz="850">
                <a:solidFill>
                  <a:srgbClr val="7F7F7F"/>
                </a:solidFill>
                <a:latin typeface="メイリオ"/>
                <a:ea typeface="メイリオ"/>
                <a:cs typeface="メイリオ"/>
              </a:rPr>
              <a:t>住宅建築・リフォーム（新潟）</a:t>
            </a:r>
          </a:p>
        </p:txBody>
      </p:sp>
      <p:sp>
        <p:nvSpPr>
          <p:cNvPr id="17" name="TextBox 16"/>
          <p:cNvSpPr txBox="1"/>
          <p:nvPr/>
        </p:nvSpPr>
        <p:spPr>
          <a:xfrm>
            <a:off x="540000" y="4417200"/>
            <a:ext cx="2471616" cy="936000"/>
          </a:xfrm>
          <a:prstGeom prst="rect">
            <a:avLst/>
          </a:prstGeom>
          <a:noFill/>
        </p:spPr>
        <p:txBody>
          <a:bodyPr wrap="square" lIns="0" rIns="50400" tIns="21600" bIns="21600" anchor="t">
            <a:spAutoFit/>
          </a:bodyPr>
          <a:lstStyle/>
          <a:p>
            <a:pPr algn="l">
              <a:spcAft>
                <a:spcPts val="200"/>
              </a:spcAft>
            </a:pPr>
            <a:r>
              <a:rPr sz="850" b="1">
                <a:solidFill>
                  <a:srgbClr val="333333"/>
                </a:solidFill>
                <a:latin typeface="メイリオ"/>
                <a:ea typeface="メイリオ"/>
                <a:cs typeface="メイリオ"/>
              </a:rPr>
              <a:t>■ 施策</a:t>
            </a:r>
          </a:p>
          <a:p>
            <a:pPr algn="l">
              <a:lnSpc>
                <a:spcPct val="130000"/>
              </a:lnSpc>
              <a:spcAft>
                <a:spcPts val="100"/>
              </a:spcAft>
            </a:pPr>
            <a:r>
              <a:rPr sz="800">
                <a:solidFill>
                  <a:srgbClr val="333333"/>
                </a:solidFill>
                <a:latin typeface="メイリオ"/>
                <a:ea typeface="メイリオ"/>
                <a:cs typeface="メイリオ"/>
              </a:rPr>
              <a:t>・LINE公式アカウントで初回リフォーム代金オフを配布</a:t>
            </a:r>
          </a:p>
          <a:p>
            <a:pPr algn="l">
              <a:lnSpc>
                <a:spcPct val="130000"/>
              </a:lnSpc>
              <a:spcAft>
                <a:spcPts val="100"/>
              </a:spcAft>
            </a:pPr>
            <a:r>
              <a:rPr sz="800">
                <a:solidFill>
                  <a:srgbClr val="333333"/>
                </a:solidFill>
                <a:latin typeface="メイリオ"/>
                <a:ea typeface="メイリオ"/>
                <a:cs typeface="メイリオ"/>
              </a:rPr>
              <a:t>・2020年12月〜LINE広告「友だち追加」を利用</a:t>
            </a:r>
          </a:p>
          <a:p>
            <a:pPr algn="l">
              <a:lnSpc>
                <a:spcPct val="130000"/>
              </a:lnSpc>
              <a:spcAft>
                <a:spcPts val="100"/>
              </a:spcAft>
            </a:pPr>
            <a:r>
              <a:rPr sz="800">
                <a:solidFill>
                  <a:srgbClr val="333333"/>
                </a:solidFill>
                <a:latin typeface="メイリオ"/>
                <a:ea typeface="メイリオ"/>
                <a:cs typeface="メイリオ"/>
              </a:rPr>
              <a:t>・興味関心に住宅＋「旅行」「美容」を混ぜてセグメント</a:t>
            </a:r>
          </a:p>
        </p:txBody>
      </p:sp>
      <p:sp>
        <p:nvSpPr>
          <p:cNvPr id="18" name="Rounded Rectangle 17"/>
          <p:cNvSpPr/>
          <p:nvPr/>
        </p:nvSpPr>
        <p:spPr>
          <a:xfrm>
            <a:off x="3080159" y="4417200"/>
            <a:ext cx="1588896" cy="1206000"/>
          </a:xfrm>
          <a:prstGeom prst="roundRect">
            <a:avLst>
              <a:gd name="adj" fmla="val 6000"/>
            </a:avLst>
          </a:prstGeom>
          <a:solidFill>
            <a:srgbClr val="FCE4D6"/>
          </a:solidFill>
          <a:ln w="1143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8800" bIns="28800"/>
          <a:lstStyle/>
          <a:p>
            <a:pPr algn="ctr">
              <a:spcAft>
                <a:spcPts val="300"/>
              </a:spcAft>
            </a:pPr>
            <a:r>
              <a:rPr sz="850" b="1">
                <a:solidFill>
                  <a:srgbClr val="ED7D31"/>
                </a:solidFill>
                <a:latin typeface="メイリオ"/>
                <a:ea typeface="メイリオ"/>
                <a:cs typeface="メイリオ"/>
              </a:rPr>
              <a:t>成果</a:t>
            </a:r>
          </a:p>
          <a:p>
            <a:pPr algn="ctr">
              <a:lnSpc>
                <a:spcPct val="130000"/>
              </a:lnSpc>
              <a:spcAft>
                <a:spcPts val="200"/>
              </a:spcAft>
            </a:pPr>
            <a:r>
              <a:rPr sz="900" b="1">
                <a:solidFill>
                  <a:srgbClr val="ED7D31"/>
                </a:solidFill>
                <a:latin typeface="メイリオ"/>
                <a:ea typeface="メイリオ"/>
                <a:cs typeface="メイリオ"/>
              </a:rPr>
              <a:t>友だち数　5倍に増加</a:t>
            </a:r>
          </a:p>
          <a:p>
            <a:pPr algn="ctr">
              <a:lnSpc>
                <a:spcPct val="130000"/>
              </a:lnSpc>
              <a:spcAft>
                <a:spcPts val="200"/>
              </a:spcAft>
            </a:pPr>
            <a:r>
              <a:rPr sz="900" b="1">
                <a:solidFill>
                  <a:srgbClr val="ED7D31"/>
                </a:solidFill>
                <a:latin typeface="メイリオ"/>
                <a:ea typeface="メイリオ"/>
                <a:cs typeface="メイリオ"/>
              </a:rPr>
              <a:t>友だち　6.6万人</a:t>
            </a:r>
          </a:p>
          <a:p>
            <a:pPr algn="ctr">
              <a:lnSpc>
                <a:spcPct val="130000"/>
              </a:lnSpc>
              <a:spcAft>
                <a:spcPts val="200"/>
              </a:spcAft>
            </a:pPr>
            <a:r>
              <a:rPr sz="900" b="1">
                <a:solidFill>
                  <a:srgbClr val="ED7D31"/>
                </a:solidFill>
                <a:latin typeface="メイリオ"/>
                <a:ea typeface="メイリオ"/>
                <a:cs typeface="メイリオ"/>
              </a:rPr>
              <a:t>（2022年8月時点）</a:t>
            </a:r>
          </a:p>
        </p:txBody>
      </p:sp>
      <p:sp>
        <p:nvSpPr>
          <p:cNvPr id="19" name="TextBox 18"/>
          <p:cNvSpPr txBox="1"/>
          <p:nvPr/>
        </p:nvSpPr>
        <p:spPr>
          <a:xfrm>
            <a:off x="540000" y="5551200"/>
            <a:ext cx="4197600" cy="223200"/>
          </a:xfrm>
          <a:prstGeom prst="rect">
            <a:avLst/>
          </a:prstGeom>
          <a:noFill/>
        </p:spPr>
        <p:txBody>
          <a:bodyPr wrap="square" lIns="0" rIns="50400" tIns="21600" bIns="21600" anchor="t">
            <a:spAutoFit/>
          </a:bodyPr>
          <a:lstStyle/>
          <a:p>
            <a:pPr algn="l"/>
            <a:r>
              <a:rPr sz="700">
                <a:solidFill>
                  <a:srgbClr val="7F7F7F"/>
                </a:solidFill>
                <a:latin typeface="メイリオ"/>
                <a:ea typeface="メイリオ"/>
                <a:cs typeface="メイリオ"/>
              </a:rPr>
              <a:t>出典：LINEヤフー for Business 導入事例（lycbiz.com/jp/case-study）</a:t>
            </a:r>
          </a:p>
        </p:txBody>
      </p:sp>
      <p:sp>
        <p:nvSpPr>
          <p:cNvPr id="20" name="Rounded Rectangle 19"/>
          <p:cNvSpPr/>
          <p:nvPr/>
        </p:nvSpPr>
        <p:spPr>
          <a:xfrm>
            <a:off x="5061600" y="3906000"/>
            <a:ext cx="4413600" cy="1925999"/>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69600" y="3985200"/>
            <a:ext cx="4197600" cy="378000"/>
          </a:xfrm>
          <a:prstGeom prst="rect">
            <a:avLst/>
          </a:prstGeom>
          <a:noFill/>
        </p:spPr>
        <p:txBody>
          <a:bodyPr wrap="square" lIns="0" rIns="50400" tIns="21600" bIns="21600" anchor="t">
            <a:spAutoFit/>
          </a:bodyPr>
          <a:lstStyle/>
          <a:p>
            <a:pPr algn="l">
              <a:spcAft>
                <a:spcPts val="200"/>
              </a:spcAft>
            </a:pPr>
            <a:r>
              <a:rPr sz="1150" b="1">
                <a:solidFill>
                  <a:srgbClr val="1F285A"/>
                </a:solidFill>
                <a:latin typeface="メイリオ"/>
                <a:ea typeface="メイリオ"/>
                <a:cs typeface="メイリオ"/>
              </a:rPr>
              <a:t>LIFULL HOME'S</a:t>
            </a:r>
          </a:p>
          <a:p>
            <a:pPr algn="l"/>
            <a:r>
              <a:rPr sz="850">
                <a:solidFill>
                  <a:srgbClr val="7F7F7F"/>
                </a:solidFill>
                <a:latin typeface="メイリオ"/>
                <a:ea typeface="メイリオ"/>
                <a:cs typeface="メイリオ"/>
              </a:rPr>
              <a:t>不動産情報サイト／LINE公式アカウント</a:t>
            </a:r>
          </a:p>
        </p:txBody>
      </p:sp>
      <p:sp>
        <p:nvSpPr>
          <p:cNvPr id="22" name="TextBox 21"/>
          <p:cNvSpPr txBox="1"/>
          <p:nvPr/>
        </p:nvSpPr>
        <p:spPr>
          <a:xfrm>
            <a:off x="5169600" y="4417200"/>
            <a:ext cx="2471616" cy="936000"/>
          </a:xfrm>
          <a:prstGeom prst="rect">
            <a:avLst/>
          </a:prstGeom>
          <a:noFill/>
        </p:spPr>
        <p:txBody>
          <a:bodyPr wrap="square" lIns="0" rIns="50400" tIns="21600" bIns="21600" anchor="t">
            <a:spAutoFit/>
          </a:bodyPr>
          <a:lstStyle/>
          <a:p>
            <a:pPr algn="l">
              <a:spcAft>
                <a:spcPts val="200"/>
              </a:spcAft>
            </a:pPr>
            <a:r>
              <a:rPr sz="850" b="1">
                <a:solidFill>
                  <a:srgbClr val="333333"/>
                </a:solidFill>
                <a:latin typeface="メイリオ"/>
                <a:ea typeface="メイリオ"/>
                <a:cs typeface="メイリオ"/>
              </a:rPr>
              <a:t>■ 施策</a:t>
            </a:r>
          </a:p>
          <a:p>
            <a:pPr algn="l">
              <a:lnSpc>
                <a:spcPct val="130000"/>
              </a:lnSpc>
              <a:spcAft>
                <a:spcPts val="100"/>
              </a:spcAft>
            </a:pPr>
            <a:r>
              <a:rPr sz="800">
                <a:solidFill>
                  <a:srgbClr val="333333"/>
                </a:solidFill>
                <a:latin typeface="メイリオ"/>
                <a:ea typeface="メイリオ"/>
                <a:cs typeface="メイリオ"/>
              </a:rPr>
              <a:t>・アンケートでユーザー情報を一元管理しOne to One配信</a:t>
            </a:r>
          </a:p>
          <a:p>
            <a:pPr algn="l">
              <a:lnSpc>
                <a:spcPct val="130000"/>
              </a:lnSpc>
              <a:spcAft>
                <a:spcPts val="100"/>
              </a:spcAft>
            </a:pPr>
            <a:r>
              <a:rPr sz="800">
                <a:solidFill>
                  <a:srgbClr val="333333"/>
                </a:solidFill>
                <a:latin typeface="メイリオ"/>
                <a:ea typeface="メイリオ"/>
                <a:cs typeface="メイリオ"/>
              </a:rPr>
              <a:t>・手動配信をステップ配信に置き換え</a:t>
            </a:r>
          </a:p>
          <a:p>
            <a:pPr algn="l">
              <a:lnSpc>
                <a:spcPct val="130000"/>
              </a:lnSpc>
              <a:spcAft>
                <a:spcPts val="100"/>
              </a:spcAft>
            </a:pPr>
            <a:r>
              <a:rPr sz="800">
                <a:solidFill>
                  <a:srgbClr val="333333"/>
                </a:solidFill>
                <a:latin typeface="メイリオ"/>
                <a:ea typeface="メイリオ"/>
                <a:cs typeface="メイリオ"/>
              </a:rPr>
              <a:t>・通知メッセージを問い合わせ確認に利用</a:t>
            </a:r>
          </a:p>
        </p:txBody>
      </p:sp>
      <p:sp>
        <p:nvSpPr>
          <p:cNvPr id="23" name="Rounded Rectangle 22"/>
          <p:cNvSpPr/>
          <p:nvPr/>
        </p:nvSpPr>
        <p:spPr>
          <a:xfrm>
            <a:off x="7709759" y="4417200"/>
            <a:ext cx="1588896" cy="1206000"/>
          </a:xfrm>
          <a:prstGeom prst="roundRect">
            <a:avLst>
              <a:gd name="adj" fmla="val 6000"/>
            </a:avLst>
          </a:prstGeom>
          <a:solidFill>
            <a:srgbClr val="FCE4D6"/>
          </a:solidFill>
          <a:ln w="1143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 rIns="36000" tIns="28800" bIns="28800"/>
          <a:lstStyle/>
          <a:p>
            <a:pPr algn="ctr">
              <a:spcAft>
                <a:spcPts val="300"/>
              </a:spcAft>
            </a:pPr>
            <a:r>
              <a:rPr sz="850" b="1">
                <a:solidFill>
                  <a:srgbClr val="ED7D31"/>
                </a:solidFill>
                <a:latin typeface="メイリオ"/>
                <a:ea typeface="メイリオ"/>
                <a:cs typeface="メイリオ"/>
              </a:rPr>
              <a:t>成果</a:t>
            </a:r>
          </a:p>
          <a:p>
            <a:pPr algn="ctr">
              <a:lnSpc>
                <a:spcPct val="130000"/>
              </a:lnSpc>
              <a:spcAft>
                <a:spcPts val="200"/>
              </a:spcAft>
            </a:pPr>
            <a:r>
              <a:rPr sz="900" b="1">
                <a:solidFill>
                  <a:srgbClr val="ED7D31"/>
                </a:solidFill>
                <a:latin typeface="メイリオ"/>
                <a:ea typeface="メイリオ"/>
                <a:cs typeface="メイリオ"/>
              </a:rPr>
              <a:t>CPC　約6割改善</a:t>
            </a:r>
          </a:p>
          <a:p>
            <a:pPr algn="ctr">
              <a:lnSpc>
                <a:spcPct val="130000"/>
              </a:lnSpc>
              <a:spcAft>
                <a:spcPts val="200"/>
              </a:spcAft>
            </a:pPr>
            <a:r>
              <a:rPr sz="900" b="1">
                <a:solidFill>
                  <a:srgbClr val="ED7D31"/>
                </a:solidFill>
                <a:latin typeface="メイリオ"/>
                <a:ea typeface="メイリオ"/>
                <a:cs typeface="メイリオ"/>
              </a:rPr>
              <a:t>運用工数　1/4に削減</a:t>
            </a:r>
          </a:p>
          <a:p>
            <a:pPr algn="ctr">
              <a:lnSpc>
                <a:spcPct val="130000"/>
              </a:lnSpc>
              <a:spcAft>
                <a:spcPts val="200"/>
              </a:spcAft>
            </a:pPr>
            <a:r>
              <a:rPr sz="900" b="1">
                <a:solidFill>
                  <a:srgbClr val="ED7D31"/>
                </a:solidFill>
                <a:latin typeface="メイリオ"/>
                <a:ea typeface="メイリオ"/>
                <a:cs typeface="メイリオ"/>
              </a:rPr>
              <a:t>通知メッセのCTR　メール比+15%</a:t>
            </a:r>
          </a:p>
        </p:txBody>
      </p:sp>
      <p:sp>
        <p:nvSpPr>
          <p:cNvPr id="24" name="TextBox 23"/>
          <p:cNvSpPr txBox="1"/>
          <p:nvPr/>
        </p:nvSpPr>
        <p:spPr>
          <a:xfrm>
            <a:off x="5169600" y="5551200"/>
            <a:ext cx="4197600" cy="223200"/>
          </a:xfrm>
          <a:prstGeom prst="rect">
            <a:avLst/>
          </a:prstGeom>
          <a:noFill/>
        </p:spPr>
        <p:txBody>
          <a:bodyPr wrap="square" lIns="0" rIns="50400" tIns="21600" bIns="21600" anchor="t">
            <a:spAutoFit/>
          </a:bodyPr>
          <a:lstStyle/>
          <a:p>
            <a:pPr algn="l"/>
            <a:r>
              <a:rPr sz="700">
                <a:solidFill>
                  <a:srgbClr val="7F7F7F"/>
                </a:solidFill>
                <a:latin typeface="メイリオ"/>
                <a:ea typeface="メイリオ"/>
                <a:cs typeface="メイリオ"/>
              </a:rPr>
              <a:t>出典：LINEヤフー for Business 導入事例（lycbiz.com/jp/case-study）</a:t>
            </a:r>
          </a:p>
        </p:txBody>
      </p:sp>
      <p:sp>
        <p:nvSpPr>
          <p:cNvPr id="25" name="TextBox 24"/>
          <p:cNvSpPr txBox="1"/>
          <p:nvPr/>
        </p:nvSpPr>
        <p:spPr>
          <a:xfrm>
            <a:off x="432000" y="6246000"/>
            <a:ext cx="9043200" cy="324000"/>
          </a:xfrm>
          <a:prstGeom prst="rect">
            <a:avLst/>
          </a:prstGeom>
          <a:noFill/>
        </p:spPr>
        <p:txBody>
          <a:bodyPr wrap="square" lIns="0" rIns="0" tIns="21600" bIns="21600" anchor="t">
            <a:spAutoFit/>
          </a:bodyPr>
          <a:lstStyle/>
          <a:p>
            <a:pPr algn="l">
              <a:lnSpc>
                <a:spcPct val="115000"/>
              </a:lnSpc>
            </a:pPr>
            <a:r>
              <a:rPr sz="750">
                <a:solidFill>
                  <a:srgbClr val="7F7F7F"/>
                </a:solidFill>
                <a:latin typeface="メイリオ"/>
                <a:ea typeface="メイリオ"/>
                <a:cs typeface="メイリオ"/>
              </a:rPr>
              <a:t>※ 数値は各事例ページの記載に基づきます（盛り・丸めなし）。資料化にあたっては掲載前に各ページで再確認してください。ミサワホーム（検討初期層への配信で申込の75%が新規）はLINE広告ではなくYahoo!広告ディスプレイ広告の事例のため、本ページには収録していません。</a:t>
            </a:r>
          </a:p>
        </p:txBody>
      </p:sp>
    </p:spTree>
    <p:extLst>
      <p:ext uri="{BB962C8B-B14F-4D97-AF65-F5344CB8AC3E}">
        <p14:creationId xmlns:p14="http://schemas.microsoft.com/office/powerpoint/2010/main" val="42609803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Meiryo"/>
                <a:ea typeface="Meiryo"/>
                <a:cs typeface="Meiryo"/>
                <a:sym typeface="Meiryo"/>
              </a:rPr>
              <a:t>LINE</a:t>
            </a:r>
            <a:r>
              <a:rPr lang="ja-JP" altLang="en-US" sz="1600" b="1" dirty="0">
                <a:solidFill>
                  <a:schemeClr val="tx1">
                    <a:lumMod val="50000"/>
                    <a:lumOff val="50000"/>
                  </a:schemeClr>
                </a:solidFill>
                <a:latin typeface="Meiryo"/>
                <a:ea typeface="Meiryo"/>
                <a:cs typeface="Meiryo"/>
                <a:sym typeface="Meiryo"/>
              </a:rPr>
              <a:t>施策における重要な考え方</a:t>
            </a:r>
            <a:endParaRPr lang="en-US" altLang="ja-JP" sz="1600" b="1" dirty="0">
              <a:solidFill>
                <a:schemeClr val="tx1">
                  <a:lumMod val="50000"/>
                  <a:lumOff val="50000"/>
                </a:schemeClr>
              </a:solidFill>
              <a:latin typeface="Meiryo"/>
              <a:ea typeface="Meiryo"/>
              <a:cs typeface="Meiryo"/>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solidFill>
                <a:schemeClr val="tx1">
                  <a:lumMod val="50000"/>
                  <a:lumOff val="50000"/>
                </a:schemeClr>
              </a:solidFill>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アカウント効果を</a:t>
            </a:r>
            <a:r>
              <a:rPr lang="ja-JP" altLang="en-US" sz="2400" b="1" dirty="0">
                <a:latin typeface="メイリオ" panose="020B0604030504040204" pitchFamily="50" charset="-128"/>
                <a:ea typeface="メイリオ" panose="020B0604030504040204" pitchFamily="50" charset="-128"/>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solidFill>
                <a:schemeClr val="tx1">
                  <a:lumMod val="50000"/>
                  <a:lumOff val="50000"/>
                </a:schemeClr>
              </a:solidFill>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サイト上情報と連携させ、配信効果を数値化する</a:t>
            </a:r>
          </a:p>
        </p:txBody>
      </p:sp>
    </p:spTree>
    <p:extLst>
      <p:ext uri="{BB962C8B-B14F-4D97-AF65-F5344CB8AC3E}">
        <p14:creationId xmlns:p14="http://schemas.microsoft.com/office/powerpoint/2010/main" val="9709585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業態平均で</a:t>
            </a:r>
            <a:r>
              <a:rPr lang="ja-JP" altLang="en-US" sz="1400" b="1" dirty="0">
                <a:solidFill>
                  <a:srgbClr val="FF0000"/>
                </a:solidFill>
                <a:latin typeface="メイリオ" panose="020B0604030504040204" pitchFamily="50" charset="-128"/>
                <a:ea typeface="メイリオ" panose="020B0604030504040204" pitchFamily="50" charset="-128"/>
              </a:rPr>
              <a:t>最大３</a:t>
            </a:r>
            <a:r>
              <a:rPr lang="en-US" altLang="ja-JP" sz="1400" b="1" dirty="0">
                <a:solidFill>
                  <a:srgbClr val="FF0000"/>
                </a:solidFill>
                <a:latin typeface="メイリオ" panose="020B0604030504040204" pitchFamily="50" charset="-128"/>
                <a:ea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rPr>
              <a:t>のユーザーは有効化</a:t>
            </a:r>
            <a:r>
              <a:rPr lang="en-US" altLang="ja-JP" sz="1400" b="1" dirty="0">
                <a:solidFill>
                  <a:srgbClr val="FF0000"/>
                </a:solidFill>
                <a:latin typeface="メイリオ" panose="020B0604030504040204" pitchFamily="50" charset="-128"/>
                <a:ea typeface="メイリオ" panose="020B0604030504040204" pitchFamily="50" charset="-128"/>
              </a:rPr>
              <a:t>/</a:t>
            </a:r>
            <a:r>
              <a:rPr lang="ja-JP" altLang="en-US" sz="1400" b="1" dirty="0">
                <a:solidFill>
                  <a:srgbClr val="FF0000"/>
                </a:solidFill>
                <a:latin typeface="メイリオ" panose="020B0604030504040204" pitchFamily="50" charset="-128"/>
                <a:ea typeface="メイリオ" panose="020B0604030504040204" pitchFamily="50" charset="-128"/>
              </a:rPr>
              <a:t>マネタイズ可能</a:t>
            </a:r>
            <a:r>
              <a:rPr lang="ja-JP" altLang="en-US" sz="1400" dirty="0">
                <a:solidFill>
                  <a:srgbClr val="343434"/>
                </a:solidFill>
                <a:latin typeface="メイリオ" panose="020B0604030504040204" pitchFamily="50" charset="-128"/>
                <a:ea typeface="メイリオ" panose="020B0604030504040204" pitchFamily="50" charset="-128"/>
              </a:rPr>
              <a:t> とされている。</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貴社集客課題に合わせて、</a:t>
            </a:r>
            <a:r>
              <a:rPr lang="en-US" altLang="ja-JP" sz="1400" dirty="0">
                <a:solidFill>
                  <a:srgbClr val="343434"/>
                </a:solidFill>
                <a:latin typeface="メイリオ" panose="020B0604030504040204" pitchFamily="50" charset="-128"/>
                <a:ea typeface="メイリオ" panose="020B0604030504040204" pitchFamily="50" charset="-128"/>
              </a:rPr>
              <a:t>LINE</a:t>
            </a:r>
            <a:r>
              <a:rPr lang="ja-JP" altLang="en-US" sz="1400" dirty="0">
                <a:solidFill>
                  <a:srgbClr val="343434"/>
                </a:solidFill>
                <a:latin typeface="メイリオ" panose="020B0604030504040204" pitchFamily="50" charset="-128"/>
                <a:ea typeface="メイリオ" panose="020B0604030504040204" pitchFamily="50" charset="-128"/>
              </a:rPr>
              <a:t>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LINE</a:t>
            </a:r>
            <a:r>
              <a:rPr lang="ja-JP" altLang="en-US" sz="1600" b="1" dirty="0">
                <a:solidFill>
                  <a:srgbClr val="002060"/>
                </a:solidFill>
                <a:latin typeface="Meiryo"/>
                <a:ea typeface="Meiryo"/>
                <a:cs typeface="Meiryo"/>
                <a:sym typeface="Meiryo"/>
              </a:rPr>
              <a:t>公式アカウントを検討する背景</a:t>
            </a:r>
            <a:endParaRPr sz="1600" b="1" dirty="0">
              <a:solidFill>
                <a:srgbClr val="002060"/>
              </a:solidFill>
              <a:latin typeface="Meiryo"/>
              <a:ea typeface="Meiryo"/>
              <a:cs typeface="Meiryo"/>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rPr>
              <a:t>SEO</a:t>
            </a: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rPr>
              <a:t>AIO</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広告（</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CPF</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配信）</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サイト上ポップアップ</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サンクス</a:t>
            </a:r>
            <a:r>
              <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5"/>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商談・申込への誘導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a:off x="5399749" y="284743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FF0000"/>
                </a:solidFill>
                <a:latin typeface="メイリオ" panose="020B0604030504040204" pitchFamily="50" charset="-128"/>
                <a:ea typeface="メイリオ" panose="020B0604030504040204" pitchFamily="50" charset="-128"/>
              </a:rPr>
              <a:t>CV</a:t>
            </a:r>
            <a:r>
              <a:rPr kumimoji="1" lang="ja-JP" altLang="en-US" sz="1100" b="1" dirty="0">
                <a:solidFill>
                  <a:srgbClr val="FF0000"/>
                </a:solidFill>
                <a:latin typeface="メイリオ" panose="020B0604030504040204" pitchFamily="50" charset="-128"/>
                <a:ea typeface="メイリオ" panose="020B0604030504040204" pitchFamily="50" charset="-128"/>
              </a:rPr>
              <a:t>するユーザー割合</a:t>
            </a:r>
            <a:endParaRPr kumimoji="1" lang="en-US" altLang="ja-JP" sz="1100" b="1" dirty="0">
              <a:solidFill>
                <a:srgbClr val="FF0000"/>
              </a:solidFill>
              <a:latin typeface="メイリオ" panose="020B0604030504040204" pitchFamily="50" charset="-128"/>
              <a:ea typeface="メイリオ" panose="020B0604030504040204" pitchFamily="50" charset="-128"/>
            </a:endParaRPr>
          </a:p>
          <a:p>
            <a:pPr algn="ctr"/>
            <a:r>
              <a:rPr lang="en-US" altLang="ja-JP" sz="1000" dirty="0">
                <a:solidFill>
                  <a:srgbClr val="FF0000"/>
                </a:solidFill>
                <a:latin typeface="メイリオ" panose="020B0604030504040204" pitchFamily="50" charset="-128"/>
                <a:ea typeface="メイリオ" panose="020B0604030504040204" pitchFamily="50" charset="-128"/>
              </a:rPr>
              <a:t>※</a:t>
            </a:r>
            <a:r>
              <a:rPr lang="ja-JP" altLang="en-US" sz="1000" dirty="0">
                <a:solidFill>
                  <a:srgbClr val="FF0000"/>
                </a:solidFill>
                <a:latin typeface="メイリオ" panose="020B0604030504040204" pitchFamily="50" charset="-128"/>
                <a:ea typeface="メイリオ" panose="020B0604030504040204" pitchFamily="50" charset="-128"/>
              </a:rPr>
              <a:t>平均値</a:t>
            </a:r>
            <a:endParaRPr kumimoji="1" lang="ja-JP" altLang="en-US" sz="1000" dirty="0">
              <a:solidFill>
                <a:srgbClr val="FF0000"/>
              </a:solidFill>
              <a:latin typeface="メイリオ" panose="020B0604030504040204" pitchFamily="50" charset="-128"/>
              <a:ea typeface="メイリオ" panose="020B0604030504040204" pitchFamily="50" charset="-128"/>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FF0000"/>
                </a:solidFill>
                <a:latin typeface="メイリオ" panose="020B0604030504040204" pitchFamily="50" charset="-128"/>
                <a:ea typeface="メイリオ" panose="020B0604030504040204" pitchFamily="50" charset="-128"/>
              </a:rPr>
              <a:t>３</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1.5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外構・リフォーム提案</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商談・ご紹介誘導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（特典訴求で友だち追加促進）</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LINEで紹介率向上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110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68898-91A3-9BC1-3966-7771C36E7509}"/>
            </a:ext>
          </a:extLst>
        </p:cNvPr>
        <p:cNvGrpSpPr/>
        <p:nvPr/>
      </p:nvGrpSpPr>
      <p:grpSpPr>
        <a:xfrm>
          <a:off x="0" y="0"/>
          <a:ext cx="0" cy="0"/>
          <a:chOff x="0" y="0"/>
          <a:chExt cx="0" cy="0"/>
        </a:xfrm>
      </p:grpSpPr>
      <p:sp>
        <p:nvSpPr>
          <p:cNvPr id="3" name="Google Shape;752;p28">
            <a:extLst>
              <a:ext uri="{FF2B5EF4-FFF2-40B4-BE49-F238E27FC236}">
                <a16:creationId xmlns:a16="http://schemas.microsoft.com/office/drawing/2014/main" id="{2ECE7535-75B5-FD71-5DE8-AB1B855FFEDC}"/>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LINE</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公式アカウントにおける対策領域について</a:t>
            </a:r>
          </a:p>
        </p:txBody>
      </p:sp>
      <p:sp>
        <p:nvSpPr>
          <p:cNvPr id="4" name="正方形/長方形 3">
            <a:extLst>
              <a:ext uri="{FF2B5EF4-FFF2-40B4-BE49-F238E27FC236}">
                <a16:creationId xmlns:a16="http://schemas.microsoft.com/office/drawing/2014/main" id="{91D529F5-1969-8F22-8508-5967D82F7783}"/>
              </a:ext>
            </a:extLst>
          </p:cNvPr>
          <p:cNvSpPr/>
          <p:nvPr/>
        </p:nvSpPr>
        <p:spPr>
          <a:xfrm>
            <a:off x="379908" y="1835393"/>
            <a:ext cx="9190811" cy="216252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0D32EA92-3996-F5BA-08AE-72B08F79535C}"/>
              </a:ext>
            </a:extLst>
          </p:cNvPr>
          <p:cNvSpPr/>
          <p:nvPr/>
        </p:nvSpPr>
        <p:spPr>
          <a:xfrm>
            <a:off x="379908" y="4397170"/>
            <a:ext cx="9190811" cy="2022499"/>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C7E38EC2-DE76-A5FE-A6B8-3B48F7BD7B46}"/>
              </a:ext>
            </a:extLst>
          </p:cNvPr>
          <p:cNvSpPr txBox="1"/>
          <p:nvPr/>
        </p:nvSpPr>
        <p:spPr>
          <a:xfrm>
            <a:off x="379908" y="1527022"/>
            <a:ext cx="4963884" cy="307777"/>
          </a:xfrm>
          <a:prstGeom prst="rect">
            <a:avLst/>
          </a:prstGeom>
          <a:noFill/>
        </p:spPr>
        <p:txBody>
          <a:bodyPr wrap="square">
            <a:spAutoFit/>
          </a:bodyPr>
          <a:lstStyle/>
          <a:p>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&lt;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対新規ユーザー領域</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&gt;</a:t>
            </a:r>
            <a:endParaRPr lang="ja-JP" altLang="en-US" sz="1400" dirty="0">
              <a:solidFill>
                <a:schemeClr val="tx1">
                  <a:lumMod val="50000"/>
                  <a:lumOff val="50000"/>
                </a:schemeClr>
              </a:solidFill>
            </a:endParaRPr>
          </a:p>
        </p:txBody>
      </p:sp>
      <p:sp>
        <p:nvSpPr>
          <p:cNvPr id="9" name="テキスト ボックス 8">
            <a:extLst>
              <a:ext uri="{FF2B5EF4-FFF2-40B4-BE49-F238E27FC236}">
                <a16:creationId xmlns:a16="http://schemas.microsoft.com/office/drawing/2014/main" id="{315E4FD7-BF96-305B-4DFF-0204D305BAAE}"/>
              </a:ext>
            </a:extLst>
          </p:cNvPr>
          <p:cNvSpPr txBox="1"/>
          <p:nvPr/>
        </p:nvSpPr>
        <p:spPr>
          <a:xfrm>
            <a:off x="379908" y="4089393"/>
            <a:ext cx="4963884" cy="307777"/>
          </a:xfrm>
          <a:prstGeom prst="rect">
            <a:avLst/>
          </a:prstGeom>
          <a:noFill/>
        </p:spPr>
        <p:txBody>
          <a:bodyPr wrap="square">
            <a:spAutoFit/>
          </a:bodyPr>
          <a:lstStyle/>
          <a:p>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&lt;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対既存ユーザー</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顧客</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領域</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&gt;</a:t>
            </a:r>
            <a:endParaRPr lang="ja-JP" altLang="en-US" sz="1400" dirty="0">
              <a:solidFill>
                <a:schemeClr val="tx1">
                  <a:lumMod val="50000"/>
                  <a:lumOff val="50000"/>
                </a:schemeClr>
              </a:solidFill>
            </a:endParaRPr>
          </a:p>
        </p:txBody>
      </p:sp>
      <p:sp>
        <p:nvSpPr>
          <p:cNvPr id="12" name="正方形/長方形 11">
            <a:extLst>
              <a:ext uri="{FF2B5EF4-FFF2-40B4-BE49-F238E27FC236}">
                <a16:creationId xmlns:a16="http://schemas.microsoft.com/office/drawing/2014/main" id="{72450FBF-2EA8-4582-869E-9B2A7C4946D7}"/>
              </a:ext>
            </a:extLst>
          </p:cNvPr>
          <p:cNvSpPr/>
          <p:nvPr/>
        </p:nvSpPr>
        <p:spPr>
          <a:xfrm>
            <a:off x="548883" y="2060461"/>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HP</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6891C2D7-8AEF-98E4-337B-283DC4374AFC}"/>
              </a:ext>
            </a:extLst>
          </p:cNvPr>
          <p:cNvSpPr/>
          <p:nvPr/>
        </p:nvSpPr>
        <p:spPr>
          <a:xfrm>
            <a:off x="548883" y="2322497"/>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LP</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4" name="正方形/長方形 13">
            <a:extLst>
              <a:ext uri="{FF2B5EF4-FFF2-40B4-BE49-F238E27FC236}">
                <a16:creationId xmlns:a16="http://schemas.microsoft.com/office/drawing/2014/main" id="{3670DE23-5EB2-C1E6-9ED3-6176C87DDEA9}"/>
              </a:ext>
            </a:extLst>
          </p:cNvPr>
          <p:cNvSpPr/>
          <p:nvPr/>
        </p:nvSpPr>
        <p:spPr>
          <a:xfrm>
            <a:off x="548883" y="2659935"/>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各種</a:t>
            </a:r>
            <a:r>
              <a:rPr kumimoji="1" lang="en-US" altLang="ja-JP" sz="1000" b="1" dirty="0">
                <a:solidFill>
                  <a:schemeClr val="bg1"/>
                </a:solidFill>
                <a:latin typeface="メイリオ" panose="020B0604030504040204" pitchFamily="50" charset="-128"/>
                <a:ea typeface="メイリオ" panose="020B0604030504040204" pitchFamily="50" charset="-128"/>
              </a:rPr>
              <a:t>SNS</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6" name="正方形/長方形 15">
            <a:extLst>
              <a:ext uri="{FF2B5EF4-FFF2-40B4-BE49-F238E27FC236}">
                <a16:creationId xmlns:a16="http://schemas.microsoft.com/office/drawing/2014/main" id="{98C708B2-F546-DE85-AA3B-2C7B33013111}"/>
              </a:ext>
            </a:extLst>
          </p:cNvPr>
          <p:cNvSpPr/>
          <p:nvPr/>
        </p:nvSpPr>
        <p:spPr>
          <a:xfrm>
            <a:off x="548883" y="2997373"/>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既存ユーザーリスト</a:t>
            </a:r>
          </a:p>
        </p:txBody>
      </p:sp>
      <p:sp>
        <p:nvSpPr>
          <p:cNvPr id="17" name="正方形/長方形 16">
            <a:extLst>
              <a:ext uri="{FF2B5EF4-FFF2-40B4-BE49-F238E27FC236}">
                <a16:creationId xmlns:a16="http://schemas.microsoft.com/office/drawing/2014/main" id="{812C768D-D601-2E13-45FD-BFE5BA587BC6}"/>
              </a:ext>
            </a:extLst>
          </p:cNvPr>
          <p:cNvSpPr/>
          <p:nvPr/>
        </p:nvSpPr>
        <p:spPr>
          <a:xfrm>
            <a:off x="548883" y="3672249"/>
            <a:ext cx="2943254"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LINE_CPF</a:t>
            </a:r>
            <a:r>
              <a:rPr kumimoji="1" lang="ja-JP" altLang="en-US" sz="1000" b="1" dirty="0">
                <a:solidFill>
                  <a:schemeClr val="bg1"/>
                </a:solidFill>
                <a:latin typeface="メイリオ" panose="020B0604030504040204" pitchFamily="50" charset="-128"/>
                <a:ea typeface="メイリオ" panose="020B0604030504040204" pitchFamily="50" charset="-128"/>
              </a:rPr>
              <a:t>やその他</a:t>
            </a:r>
          </a:p>
        </p:txBody>
      </p:sp>
      <p:sp>
        <p:nvSpPr>
          <p:cNvPr id="18" name="正方形/長方形 17">
            <a:extLst>
              <a:ext uri="{FF2B5EF4-FFF2-40B4-BE49-F238E27FC236}">
                <a16:creationId xmlns:a16="http://schemas.microsoft.com/office/drawing/2014/main" id="{13127993-BF51-568A-20FB-A9FB1DB6C913}"/>
              </a:ext>
            </a:extLst>
          </p:cNvPr>
          <p:cNvSpPr/>
          <p:nvPr/>
        </p:nvSpPr>
        <p:spPr>
          <a:xfrm>
            <a:off x="8170812" y="2408570"/>
            <a:ext cx="1355280" cy="243944"/>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CV</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31" name="正方形/長方形 30">
            <a:extLst>
              <a:ext uri="{FF2B5EF4-FFF2-40B4-BE49-F238E27FC236}">
                <a16:creationId xmlns:a16="http://schemas.microsoft.com/office/drawing/2014/main" id="{2E81D74A-E79F-C90A-80AF-4F6BDF853777}"/>
              </a:ext>
            </a:extLst>
          </p:cNvPr>
          <p:cNvSpPr/>
          <p:nvPr/>
        </p:nvSpPr>
        <p:spPr>
          <a:xfrm>
            <a:off x="548883" y="3334811"/>
            <a:ext cx="2943254"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オフライン施策（ポップ、チラシ） </a:t>
            </a:r>
            <a:r>
              <a:rPr lang="en-US" altLang="ja-JP" sz="1000" b="1" dirty="0">
                <a:solidFill>
                  <a:schemeClr val="bg1">
                    <a:lumMod val="75000"/>
                  </a:schemeClr>
                </a:solidFill>
                <a:latin typeface="メイリオ" panose="020B0604030504040204" pitchFamily="50" charset="-128"/>
                <a:ea typeface="メイリオ" panose="020B0604030504040204" pitchFamily="50" charset="-128"/>
              </a:rPr>
              <a:t>※</a:t>
            </a: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デザイン</a:t>
            </a:r>
            <a:endParaRPr kumimoji="1" lang="ja-JP" altLang="en-US"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45" name="正方形/長方形 44">
            <a:extLst>
              <a:ext uri="{FF2B5EF4-FFF2-40B4-BE49-F238E27FC236}">
                <a16:creationId xmlns:a16="http://schemas.microsoft.com/office/drawing/2014/main" id="{346217DB-3E59-DD17-6353-BB21863AB6A4}"/>
              </a:ext>
            </a:extLst>
          </p:cNvPr>
          <p:cNvSpPr/>
          <p:nvPr/>
        </p:nvSpPr>
        <p:spPr>
          <a:xfrm>
            <a:off x="1950234" y="2999032"/>
            <a:ext cx="1543806"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メルマガ </a:t>
            </a:r>
            <a:r>
              <a:rPr lang="en-US" altLang="ja-JP" sz="1000" b="1" dirty="0">
                <a:solidFill>
                  <a:schemeClr val="bg1">
                    <a:lumMod val="75000"/>
                  </a:schemeClr>
                </a:solidFill>
                <a:latin typeface="メイリオ" panose="020B0604030504040204" pitchFamily="50" charset="-128"/>
                <a:ea typeface="メイリオ" panose="020B0604030504040204" pitchFamily="50" charset="-128"/>
              </a:rPr>
              <a:t>※</a:t>
            </a: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デザイン</a:t>
            </a:r>
            <a:endParaRPr kumimoji="1" lang="ja-JP" altLang="en-US"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47" name="正方形/長方形 46">
            <a:extLst>
              <a:ext uri="{FF2B5EF4-FFF2-40B4-BE49-F238E27FC236}">
                <a16:creationId xmlns:a16="http://schemas.microsoft.com/office/drawing/2014/main" id="{85B73343-1515-8075-50D7-828D2C7D0482}"/>
              </a:ext>
            </a:extLst>
          </p:cNvPr>
          <p:cNvSpPr/>
          <p:nvPr/>
        </p:nvSpPr>
        <p:spPr>
          <a:xfrm>
            <a:off x="1939622" y="2149679"/>
            <a:ext cx="1543806" cy="295172"/>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離脱防止バナー</a:t>
            </a:r>
            <a:r>
              <a:rPr lang="en-US" altLang="ja-JP" sz="1000" b="1" dirty="0">
                <a:solidFill>
                  <a:schemeClr val="bg1"/>
                </a:solidFill>
                <a:latin typeface="メイリオ" panose="020B0604030504040204" pitchFamily="50" charset="-128"/>
                <a:ea typeface="メイリオ" panose="020B0604030504040204" pitchFamily="50" charset="-128"/>
              </a:rPr>
              <a:t>)</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cxnSp>
        <p:nvCxnSpPr>
          <p:cNvPr id="52" name="コネクタ: カギ線 51">
            <a:extLst>
              <a:ext uri="{FF2B5EF4-FFF2-40B4-BE49-F238E27FC236}">
                <a16:creationId xmlns:a16="http://schemas.microsoft.com/office/drawing/2014/main" id="{10A164B9-404C-F131-0FB7-4A7EC00628C8}"/>
              </a:ext>
            </a:extLst>
          </p:cNvPr>
          <p:cNvCxnSpPr>
            <a:cxnSpLocks/>
            <a:stCxn id="14" idx="3"/>
          </p:cNvCxnSpPr>
          <p:nvPr/>
        </p:nvCxnSpPr>
        <p:spPr>
          <a:xfrm flipV="1">
            <a:off x="1904163" y="2540793"/>
            <a:ext cx="1898060" cy="241114"/>
          </a:xfrm>
          <a:prstGeom prst="bentConnector3">
            <a:avLst>
              <a:gd name="adj1" fmla="val 88139"/>
            </a:avLst>
          </a:prstGeom>
          <a:ln>
            <a:solidFill>
              <a:schemeClr val="bg1">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0" name="正方形/長方形 79">
            <a:extLst>
              <a:ext uri="{FF2B5EF4-FFF2-40B4-BE49-F238E27FC236}">
                <a16:creationId xmlns:a16="http://schemas.microsoft.com/office/drawing/2014/main" id="{AB39E10C-FA5C-42F3-51FF-A98C96D3A9FE}"/>
              </a:ext>
            </a:extLst>
          </p:cNvPr>
          <p:cNvSpPr/>
          <p:nvPr/>
        </p:nvSpPr>
        <p:spPr>
          <a:xfrm>
            <a:off x="8170812" y="2124073"/>
            <a:ext cx="1355280" cy="243944"/>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営業トスアップ</a:t>
            </a:r>
          </a:p>
        </p:txBody>
      </p:sp>
      <p:sp>
        <p:nvSpPr>
          <p:cNvPr id="130" name="正方形/長方形 129">
            <a:extLst>
              <a:ext uri="{FF2B5EF4-FFF2-40B4-BE49-F238E27FC236}">
                <a16:creationId xmlns:a16="http://schemas.microsoft.com/office/drawing/2014/main" id="{68999E51-25BF-ABC0-E768-EB439414D6AA}"/>
              </a:ext>
            </a:extLst>
          </p:cNvPr>
          <p:cNvSpPr/>
          <p:nvPr/>
        </p:nvSpPr>
        <p:spPr>
          <a:xfrm>
            <a:off x="486784" y="713253"/>
            <a:ext cx="9005456" cy="653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dirty="0">
                <a:solidFill>
                  <a:schemeClr val="tx1"/>
                </a:solidFill>
                <a:latin typeface="メイリオ" panose="020B0604030504040204" pitchFamily="50" charset="-128"/>
                <a:ea typeface="メイリオ" panose="020B0604030504040204" pitchFamily="50" charset="-128"/>
              </a:rPr>
              <a:t>離脱リード→新規で引上げ、顧客リード→効率化及びリピート化 等、</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en-US" altLang="ja-JP" sz="1400" dirty="0">
                <a:solidFill>
                  <a:schemeClr val="tx1"/>
                </a:solidFill>
                <a:latin typeface="メイリオ" panose="020B0604030504040204" pitchFamily="50" charset="-128"/>
                <a:ea typeface="メイリオ" panose="020B0604030504040204" pitchFamily="50" charset="-128"/>
              </a:rPr>
              <a:t>LINE</a:t>
            </a:r>
            <a:r>
              <a:rPr lang="ja-JP" altLang="en-US" sz="1400" dirty="0">
                <a:solidFill>
                  <a:schemeClr val="tx1"/>
                </a:solidFill>
                <a:latin typeface="メイリオ" panose="020B0604030504040204" pitchFamily="50" charset="-128"/>
                <a:ea typeface="メイリオ" panose="020B0604030504040204" pitchFamily="50" charset="-128"/>
              </a:rPr>
              <a:t>公式アカウントで対策できるポイントが非常に多く、課題に応じた施策展開が可能。</a:t>
            </a:r>
            <a:endParaRPr lang="ja-JP" altLang="en-US" sz="1400" dirty="0">
              <a:solidFill>
                <a:srgbClr val="FF0000"/>
              </a:solidFill>
              <a:latin typeface="メイリオ" panose="020B0604030504040204" pitchFamily="50" charset="-128"/>
              <a:ea typeface="メイリオ" panose="020B0604030504040204" pitchFamily="50" charset="-128"/>
            </a:endParaRPr>
          </a:p>
        </p:txBody>
      </p:sp>
      <p:sp>
        <p:nvSpPr>
          <p:cNvPr id="133" name="正方形/長方形 132">
            <a:extLst>
              <a:ext uri="{FF2B5EF4-FFF2-40B4-BE49-F238E27FC236}">
                <a16:creationId xmlns:a16="http://schemas.microsoft.com/office/drawing/2014/main" id="{EF3EB03D-B886-80C5-4DDF-AD318BB1E8CB}"/>
              </a:ext>
            </a:extLst>
          </p:cNvPr>
          <p:cNvSpPr/>
          <p:nvPr/>
        </p:nvSpPr>
        <p:spPr>
          <a:xfrm>
            <a:off x="6444618" y="4938641"/>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GA</a:t>
            </a:r>
            <a:r>
              <a:rPr kumimoji="1" lang="ja-JP" altLang="en-US" sz="1000" dirty="0">
                <a:solidFill>
                  <a:schemeClr val="bg1"/>
                </a:solidFill>
                <a:latin typeface="メイリオ" panose="020B0604030504040204" pitchFamily="50" charset="-128"/>
                <a:ea typeface="メイリオ" panose="020B0604030504040204" pitchFamily="50" charset="-128"/>
              </a:rPr>
              <a:t>レポーティング対応</a:t>
            </a:r>
          </a:p>
        </p:txBody>
      </p:sp>
      <p:sp>
        <p:nvSpPr>
          <p:cNvPr id="134" name="正方形/長方形 133">
            <a:extLst>
              <a:ext uri="{FF2B5EF4-FFF2-40B4-BE49-F238E27FC236}">
                <a16:creationId xmlns:a16="http://schemas.microsoft.com/office/drawing/2014/main" id="{8185B158-D6FD-FC9A-D842-E0184FC04A2F}"/>
              </a:ext>
            </a:extLst>
          </p:cNvPr>
          <p:cNvSpPr/>
          <p:nvPr/>
        </p:nvSpPr>
        <p:spPr>
          <a:xfrm>
            <a:off x="6444618" y="5207075"/>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投稿スケジュール確認</a:t>
            </a:r>
            <a:endParaRPr kumimoji="1"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35" name="正方形/長方形 134">
            <a:extLst>
              <a:ext uri="{FF2B5EF4-FFF2-40B4-BE49-F238E27FC236}">
                <a16:creationId xmlns:a16="http://schemas.microsoft.com/office/drawing/2014/main" id="{CAF16DCF-7CE0-97CD-A1FD-09B08149FF7B}"/>
              </a:ext>
            </a:extLst>
          </p:cNvPr>
          <p:cNvSpPr/>
          <p:nvPr/>
        </p:nvSpPr>
        <p:spPr>
          <a:xfrm>
            <a:off x="6444617" y="5743943"/>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Call Plus</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136" name="正方形/長方形 135">
            <a:extLst>
              <a:ext uri="{FF2B5EF4-FFF2-40B4-BE49-F238E27FC236}">
                <a16:creationId xmlns:a16="http://schemas.microsoft.com/office/drawing/2014/main" id="{DE164E19-C9CA-ADE8-FE9B-4A4096DD13BE}"/>
              </a:ext>
            </a:extLst>
          </p:cNvPr>
          <p:cNvSpPr/>
          <p:nvPr/>
        </p:nvSpPr>
        <p:spPr>
          <a:xfrm>
            <a:off x="6444617" y="5475509"/>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Chat Plus</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137" name="正方形/長方形 136">
            <a:extLst>
              <a:ext uri="{FF2B5EF4-FFF2-40B4-BE49-F238E27FC236}">
                <a16:creationId xmlns:a16="http://schemas.microsoft.com/office/drawing/2014/main" id="{FF9A810E-B53B-2631-3BD5-00395512E9C0}"/>
              </a:ext>
            </a:extLst>
          </p:cNvPr>
          <p:cNvSpPr/>
          <p:nvPr/>
        </p:nvSpPr>
        <p:spPr>
          <a:xfrm>
            <a:off x="6444617" y="6012377"/>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通知メッセージ</a:t>
            </a:r>
            <a:r>
              <a:rPr kumimoji="1" lang="en-US" altLang="ja-JP" sz="1000" dirty="0">
                <a:solidFill>
                  <a:schemeClr val="bg1"/>
                </a:solidFill>
                <a:latin typeface="メイリオ" panose="020B0604030504040204" pitchFamily="50" charset="-128"/>
                <a:ea typeface="メイリオ" panose="020B0604030504040204" pitchFamily="50" charset="-128"/>
              </a:rPr>
              <a:t>(</a:t>
            </a:r>
            <a:r>
              <a:rPr kumimoji="1" lang="en-US" altLang="ja-JP" sz="1000" dirty="0" err="1">
                <a:solidFill>
                  <a:schemeClr val="bg1"/>
                </a:solidFill>
                <a:latin typeface="メイリオ" panose="020B0604030504040204" pitchFamily="50" charset="-128"/>
                <a:ea typeface="メイリオ" panose="020B0604030504040204" pitchFamily="50" charset="-128"/>
              </a:rPr>
              <a:t>OptionAPI</a:t>
            </a:r>
            <a:r>
              <a:rPr kumimoji="1" lang="en-US" altLang="ja-JP" sz="1000" dirty="0">
                <a:solidFill>
                  <a:schemeClr val="bg1"/>
                </a:solidFill>
                <a:latin typeface="メイリオ" panose="020B0604030504040204" pitchFamily="50" charset="-128"/>
                <a:ea typeface="メイリオ" panose="020B0604030504040204" pitchFamily="50" charset="-128"/>
              </a:rPr>
              <a:t>)</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145" name="正方形/長方形 144">
            <a:extLst>
              <a:ext uri="{FF2B5EF4-FFF2-40B4-BE49-F238E27FC236}">
                <a16:creationId xmlns:a16="http://schemas.microsoft.com/office/drawing/2014/main" id="{1DF80BB2-F1C3-A39C-D441-B75E4795CC5B}"/>
              </a:ext>
            </a:extLst>
          </p:cNvPr>
          <p:cNvSpPr/>
          <p:nvPr/>
        </p:nvSpPr>
        <p:spPr>
          <a:xfrm>
            <a:off x="6444617" y="4746848"/>
            <a:ext cx="1424263" cy="163739"/>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定期対応項目</a:t>
            </a:r>
            <a:r>
              <a:rPr kumimoji="1" lang="en-US" altLang="ja-JP" sz="800" dirty="0">
                <a:solidFill>
                  <a:schemeClr val="tx1">
                    <a:lumMod val="50000"/>
                    <a:lumOff val="50000"/>
                  </a:schemeClr>
                </a:solidFill>
                <a:latin typeface="メイリオ" panose="020B0604030504040204" pitchFamily="50" charset="-128"/>
                <a:ea typeface="メイリオ" panose="020B0604030504040204" pitchFamily="50" charset="-128"/>
              </a:rPr>
              <a:t>(</a:t>
            </a: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一部抽出</a:t>
            </a:r>
            <a:r>
              <a:rPr kumimoji="1" lang="en-US" altLang="ja-JP" sz="800" dirty="0">
                <a:solidFill>
                  <a:schemeClr val="tx1">
                    <a:lumMod val="50000"/>
                    <a:lumOff val="50000"/>
                  </a:schemeClr>
                </a:solidFill>
                <a:latin typeface="メイリオ" panose="020B0604030504040204" pitchFamily="50" charset="-128"/>
                <a:ea typeface="メイリオ" panose="020B0604030504040204" pitchFamily="50" charset="-128"/>
              </a:rPr>
              <a:t>)</a:t>
            </a:r>
          </a:p>
        </p:txBody>
      </p:sp>
      <p:sp>
        <p:nvSpPr>
          <p:cNvPr id="49" name="正方形/長方形 48">
            <a:extLst>
              <a:ext uri="{FF2B5EF4-FFF2-40B4-BE49-F238E27FC236}">
                <a16:creationId xmlns:a16="http://schemas.microsoft.com/office/drawing/2014/main" id="{CABD8985-CFB7-BFB4-C5CA-334F6DD3C337}"/>
              </a:ext>
            </a:extLst>
          </p:cNvPr>
          <p:cNvSpPr/>
          <p:nvPr/>
        </p:nvSpPr>
        <p:spPr>
          <a:xfrm>
            <a:off x="3634802" y="1986633"/>
            <a:ext cx="4080010" cy="2098921"/>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0" name="正方形/長方形 49">
            <a:extLst>
              <a:ext uri="{FF2B5EF4-FFF2-40B4-BE49-F238E27FC236}">
                <a16:creationId xmlns:a16="http://schemas.microsoft.com/office/drawing/2014/main" id="{498D1E1C-883A-4348-5898-29B2849E59E6}"/>
              </a:ext>
            </a:extLst>
          </p:cNvPr>
          <p:cNvSpPr/>
          <p:nvPr/>
        </p:nvSpPr>
        <p:spPr>
          <a:xfrm>
            <a:off x="3802223" y="2418821"/>
            <a:ext cx="1355280" cy="243944"/>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友だち追加</a:t>
            </a:r>
          </a:p>
        </p:txBody>
      </p:sp>
      <p:cxnSp>
        <p:nvCxnSpPr>
          <p:cNvPr id="51" name="コネクタ: カギ線 50">
            <a:extLst>
              <a:ext uri="{FF2B5EF4-FFF2-40B4-BE49-F238E27FC236}">
                <a16:creationId xmlns:a16="http://schemas.microsoft.com/office/drawing/2014/main" id="{2981AEA5-C263-1A76-AF6F-7D4F94F3AC3F}"/>
              </a:ext>
            </a:extLst>
          </p:cNvPr>
          <p:cNvCxnSpPr>
            <a:cxnSpLocks/>
          </p:cNvCxnSpPr>
          <p:nvPr/>
        </p:nvCxnSpPr>
        <p:spPr>
          <a:xfrm flipV="1">
            <a:off x="3492137" y="2540793"/>
            <a:ext cx="310086" cy="915990"/>
          </a:xfrm>
          <a:prstGeom prst="bentConnector3">
            <a:avLst>
              <a:gd name="adj1" fmla="val 27532"/>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3" name="コネクタ: カギ線 52">
            <a:extLst>
              <a:ext uri="{FF2B5EF4-FFF2-40B4-BE49-F238E27FC236}">
                <a16:creationId xmlns:a16="http://schemas.microsoft.com/office/drawing/2014/main" id="{6898DA80-B20A-0E45-B382-62A8490927C1}"/>
              </a:ext>
            </a:extLst>
          </p:cNvPr>
          <p:cNvCxnSpPr>
            <a:cxnSpLocks/>
          </p:cNvCxnSpPr>
          <p:nvPr/>
        </p:nvCxnSpPr>
        <p:spPr>
          <a:xfrm flipV="1">
            <a:off x="3483428" y="2540793"/>
            <a:ext cx="310086" cy="1253428"/>
          </a:xfrm>
          <a:prstGeom prst="bentConnector3">
            <a:avLst>
              <a:gd name="adj1" fmla="val 30341"/>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4" name="コネクタ: カギ線 53">
            <a:extLst>
              <a:ext uri="{FF2B5EF4-FFF2-40B4-BE49-F238E27FC236}">
                <a16:creationId xmlns:a16="http://schemas.microsoft.com/office/drawing/2014/main" id="{4194983F-AFC0-FB2F-1207-1AF108AFDA19}"/>
              </a:ext>
            </a:extLst>
          </p:cNvPr>
          <p:cNvCxnSpPr>
            <a:cxnSpLocks/>
          </p:cNvCxnSpPr>
          <p:nvPr/>
        </p:nvCxnSpPr>
        <p:spPr>
          <a:xfrm>
            <a:off x="3483428" y="2297265"/>
            <a:ext cx="318795" cy="243528"/>
          </a:xfrm>
          <a:prstGeom prst="bentConnector3">
            <a:avLst>
              <a:gd name="adj1" fmla="val 28488"/>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5" name="正方形/長方形 54">
            <a:extLst>
              <a:ext uri="{FF2B5EF4-FFF2-40B4-BE49-F238E27FC236}">
                <a16:creationId xmlns:a16="http://schemas.microsoft.com/office/drawing/2014/main" id="{B20DB094-045E-2E0D-7026-B0BFFA8F2374}"/>
              </a:ext>
            </a:extLst>
          </p:cNvPr>
          <p:cNvSpPr/>
          <p:nvPr/>
        </p:nvSpPr>
        <p:spPr>
          <a:xfrm>
            <a:off x="5319694" y="2122076"/>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企画配信（セグメント配信）</a:t>
            </a:r>
          </a:p>
        </p:txBody>
      </p:sp>
      <p:sp>
        <p:nvSpPr>
          <p:cNvPr id="56" name="正方形/長方形 55">
            <a:extLst>
              <a:ext uri="{FF2B5EF4-FFF2-40B4-BE49-F238E27FC236}">
                <a16:creationId xmlns:a16="http://schemas.microsoft.com/office/drawing/2014/main" id="{960DE889-CA21-9C03-FD30-9F8BA1C11BE0}"/>
              </a:ext>
            </a:extLst>
          </p:cNvPr>
          <p:cNvSpPr/>
          <p:nvPr/>
        </p:nvSpPr>
        <p:spPr>
          <a:xfrm>
            <a:off x="5319694" y="2387671"/>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ステップ配信</a:t>
            </a:r>
          </a:p>
        </p:txBody>
      </p:sp>
      <p:sp>
        <p:nvSpPr>
          <p:cNvPr id="64" name="正方形/長方形 63">
            <a:extLst>
              <a:ext uri="{FF2B5EF4-FFF2-40B4-BE49-F238E27FC236}">
                <a16:creationId xmlns:a16="http://schemas.microsoft.com/office/drawing/2014/main" id="{B0198902-7C67-1321-611C-A528F8B056D6}"/>
              </a:ext>
            </a:extLst>
          </p:cNvPr>
          <p:cNvSpPr/>
          <p:nvPr/>
        </p:nvSpPr>
        <p:spPr>
          <a:xfrm>
            <a:off x="5319694" y="2653266"/>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アンケート</a:t>
            </a:r>
          </a:p>
        </p:txBody>
      </p:sp>
      <p:sp>
        <p:nvSpPr>
          <p:cNvPr id="67" name="正方形/長方形 66">
            <a:extLst>
              <a:ext uri="{FF2B5EF4-FFF2-40B4-BE49-F238E27FC236}">
                <a16:creationId xmlns:a16="http://schemas.microsoft.com/office/drawing/2014/main" id="{EC9DC48F-C12B-8A2A-8E49-C82DF8C2398F}"/>
              </a:ext>
            </a:extLst>
          </p:cNvPr>
          <p:cNvSpPr/>
          <p:nvPr/>
        </p:nvSpPr>
        <p:spPr>
          <a:xfrm>
            <a:off x="3883318" y="2695245"/>
            <a:ext cx="1274185" cy="166616"/>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初期設計項目↓</a:t>
            </a:r>
          </a:p>
        </p:txBody>
      </p:sp>
      <p:sp>
        <p:nvSpPr>
          <p:cNvPr id="68" name="テキスト ボックス 67">
            <a:extLst>
              <a:ext uri="{FF2B5EF4-FFF2-40B4-BE49-F238E27FC236}">
                <a16:creationId xmlns:a16="http://schemas.microsoft.com/office/drawing/2014/main" id="{7FD4C92A-1BF4-DC29-74E5-5DDCAEC47D74}"/>
              </a:ext>
            </a:extLst>
          </p:cNvPr>
          <p:cNvSpPr txBox="1"/>
          <p:nvPr/>
        </p:nvSpPr>
        <p:spPr>
          <a:xfrm>
            <a:off x="3894226" y="2879422"/>
            <a:ext cx="1274185" cy="954107"/>
          </a:xfrm>
          <a:prstGeom prst="rect">
            <a:avLst/>
          </a:prstGeom>
          <a:noFill/>
        </p:spPr>
        <p:txBody>
          <a:bodyPr wrap="square">
            <a:spAutoFit/>
          </a:bodyPr>
          <a:lstStyle/>
          <a:p>
            <a:r>
              <a:rPr kumimoji="1"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プロフィール画面</a:t>
            </a:r>
            <a:endParaRPr kumimoji="1"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kumimoji="1"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リッチメニュー</a:t>
            </a:r>
            <a:endParaRPr kumimoji="1"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・あいさつメッセージ</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・応答メッセージ設定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・チャットタグ設定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・計測タグ設定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rPr>
              <a:t>LINE</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ログイン </a:t>
            </a:r>
            <a:r>
              <a:rPr lang="en-US" altLang="ja-JP" sz="600" dirty="0">
                <a:solidFill>
                  <a:srgbClr val="FF0000"/>
                </a:solidFill>
                <a:latin typeface="メイリオ" panose="020B0604030504040204" pitchFamily="50" charset="-128"/>
                <a:ea typeface="メイリオ" panose="020B0604030504040204" pitchFamily="50" charset="-128"/>
              </a:rPr>
              <a:t>※</a:t>
            </a:r>
            <a:r>
              <a:rPr lang="ja-JP" altLang="en-US" sz="600" dirty="0">
                <a:solidFill>
                  <a:srgbClr val="FF0000"/>
                </a:solidFill>
                <a:latin typeface="メイリオ" panose="020B0604030504040204" pitchFamily="50" charset="-128"/>
                <a:ea typeface="メイリオ" panose="020B0604030504040204" pitchFamily="50" charset="-128"/>
              </a:rPr>
              <a:t>別途費用</a:t>
            </a:r>
            <a:endParaRPr lang="en-US" altLang="ja-JP" sz="700" dirty="0">
              <a:solidFill>
                <a:srgbClr val="FF0000"/>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rPr>
              <a:t>LINEID</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連携 </a:t>
            </a:r>
            <a:r>
              <a:rPr lang="en-US" altLang="ja-JP" sz="700" dirty="0">
                <a:solidFill>
                  <a:srgbClr val="FF0000"/>
                </a:solidFill>
                <a:latin typeface="メイリオ" panose="020B0604030504040204" pitchFamily="50" charset="-128"/>
                <a:ea typeface="メイリオ" panose="020B0604030504040204" pitchFamily="50" charset="-128"/>
              </a:rPr>
              <a:t>※</a:t>
            </a:r>
            <a:r>
              <a:rPr lang="ja-JP" altLang="en-US" sz="700" dirty="0">
                <a:solidFill>
                  <a:srgbClr val="FF0000"/>
                </a:solidFill>
                <a:latin typeface="メイリオ" panose="020B0604030504040204" pitchFamily="50" charset="-128"/>
                <a:ea typeface="メイリオ" panose="020B0604030504040204" pitchFamily="50" charset="-128"/>
              </a:rPr>
              <a:t>別途費用</a:t>
            </a:r>
            <a:endParaRPr lang="en-US" altLang="ja-JP" sz="700" dirty="0">
              <a:solidFill>
                <a:srgbClr val="FF0000"/>
              </a:solidFill>
              <a:latin typeface="メイリオ" panose="020B0604030504040204" pitchFamily="50" charset="-128"/>
              <a:ea typeface="メイリオ" panose="020B0604030504040204" pitchFamily="50" charset="-128"/>
            </a:endParaRPr>
          </a:p>
        </p:txBody>
      </p:sp>
      <p:sp>
        <p:nvSpPr>
          <p:cNvPr id="69" name="正方形/長方形 68">
            <a:extLst>
              <a:ext uri="{FF2B5EF4-FFF2-40B4-BE49-F238E27FC236}">
                <a16:creationId xmlns:a16="http://schemas.microsoft.com/office/drawing/2014/main" id="{3C7CD555-05D0-53EC-B6D5-ED734EBA27DF}"/>
              </a:ext>
            </a:extLst>
          </p:cNvPr>
          <p:cNvSpPr/>
          <p:nvPr/>
        </p:nvSpPr>
        <p:spPr>
          <a:xfrm>
            <a:off x="5326708" y="2918861"/>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タグ・セグメントの管理</a:t>
            </a:r>
          </a:p>
        </p:txBody>
      </p:sp>
      <p:sp>
        <p:nvSpPr>
          <p:cNvPr id="74" name="正方形/長方形 73">
            <a:extLst>
              <a:ext uri="{FF2B5EF4-FFF2-40B4-BE49-F238E27FC236}">
                <a16:creationId xmlns:a16="http://schemas.microsoft.com/office/drawing/2014/main" id="{64296BD6-7E19-AF65-3C1F-3AA68F3DB296}"/>
              </a:ext>
            </a:extLst>
          </p:cNvPr>
          <p:cNvSpPr/>
          <p:nvPr/>
        </p:nvSpPr>
        <p:spPr>
          <a:xfrm>
            <a:off x="5326708" y="3450051"/>
            <a:ext cx="2292685" cy="221767"/>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各種初期設計の調整</a:t>
            </a:r>
          </a:p>
        </p:txBody>
      </p:sp>
      <p:sp>
        <p:nvSpPr>
          <p:cNvPr id="75" name="正方形/長方形 74">
            <a:extLst>
              <a:ext uri="{FF2B5EF4-FFF2-40B4-BE49-F238E27FC236}">
                <a16:creationId xmlns:a16="http://schemas.microsoft.com/office/drawing/2014/main" id="{2B391CFB-A763-8F28-0B80-C4699C620787}"/>
              </a:ext>
            </a:extLst>
          </p:cNvPr>
          <p:cNvSpPr/>
          <p:nvPr/>
        </p:nvSpPr>
        <p:spPr>
          <a:xfrm>
            <a:off x="5326708" y="3184456"/>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b="1">
                <a:solidFill>
                  <a:schemeClr val="bg1"/>
                </a:solidFill>
                <a:latin typeface="メイリオ" panose="020B0604030504040204" pitchFamily="50" charset="-128"/>
                <a:ea typeface="メイリオ" panose="020B0604030504040204" pitchFamily="50" charset="-128"/>
              </a:rPr>
              <a:t>QA</a:t>
            </a:r>
            <a:r>
              <a:rPr lang="ja-JP" altLang="en-US" sz="1000" b="1">
                <a:solidFill>
                  <a:schemeClr val="bg1"/>
                </a:solidFill>
                <a:latin typeface="メイリオ" panose="020B0604030504040204" pitchFamily="50" charset="-128"/>
                <a:ea typeface="メイリオ" panose="020B0604030504040204" pitchFamily="50" charset="-128"/>
              </a:rPr>
              <a:t>解消（自動応答）</a:t>
            </a:r>
            <a:endParaRPr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76" name="正方形/長方形 75">
            <a:extLst>
              <a:ext uri="{FF2B5EF4-FFF2-40B4-BE49-F238E27FC236}">
                <a16:creationId xmlns:a16="http://schemas.microsoft.com/office/drawing/2014/main" id="{78BE8892-FE50-BF73-B15E-567C1CFD9A8A}"/>
              </a:ext>
            </a:extLst>
          </p:cNvPr>
          <p:cNvSpPr/>
          <p:nvPr/>
        </p:nvSpPr>
        <p:spPr>
          <a:xfrm>
            <a:off x="6487455" y="2655306"/>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 タグ配信</a:t>
            </a:r>
          </a:p>
        </p:txBody>
      </p:sp>
      <p:sp>
        <p:nvSpPr>
          <p:cNvPr id="77" name="正方形/長方形 76">
            <a:extLst>
              <a:ext uri="{FF2B5EF4-FFF2-40B4-BE49-F238E27FC236}">
                <a16:creationId xmlns:a16="http://schemas.microsoft.com/office/drawing/2014/main" id="{5FB8C9E8-13C6-54AE-CC6C-E66EB44BEE66}"/>
              </a:ext>
            </a:extLst>
          </p:cNvPr>
          <p:cNvSpPr/>
          <p:nvPr/>
        </p:nvSpPr>
        <p:spPr>
          <a:xfrm>
            <a:off x="5319693" y="3715648"/>
            <a:ext cx="2292685" cy="221767"/>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1to1</a:t>
            </a:r>
            <a:r>
              <a:rPr kumimoji="1" lang="ja-JP" altLang="en-US" sz="1000" b="1" dirty="0">
                <a:solidFill>
                  <a:schemeClr val="bg1"/>
                </a:solidFill>
                <a:latin typeface="メイリオ" panose="020B0604030504040204" pitchFamily="50" charset="-128"/>
                <a:ea typeface="メイリオ" panose="020B0604030504040204" pitchFamily="50" charset="-128"/>
              </a:rPr>
              <a:t>チャットルーム</a:t>
            </a:r>
          </a:p>
        </p:txBody>
      </p:sp>
      <p:cxnSp>
        <p:nvCxnSpPr>
          <p:cNvPr id="78" name="コネクタ: カギ線 77">
            <a:extLst>
              <a:ext uri="{FF2B5EF4-FFF2-40B4-BE49-F238E27FC236}">
                <a16:creationId xmlns:a16="http://schemas.microsoft.com/office/drawing/2014/main" id="{A0B29E3B-5447-4104-E77E-C26EB1CB0F8A}"/>
              </a:ext>
            </a:extLst>
          </p:cNvPr>
          <p:cNvCxnSpPr>
            <a:cxnSpLocks/>
            <a:stCxn id="77" idx="3"/>
          </p:cNvCxnSpPr>
          <p:nvPr/>
        </p:nvCxnSpPr>
        <p:spPr>
          <a:xfrm flipV="1">
            <a:off x="7612378" y="2246045"/>
            <a:ext cx="558434" cy="1580487"/>
          </a:xfrm>
          <a:prstGeom prst="bentConnector3">
            <a:avLst>
              <a:gd name="adj1" fmla="val 76511"/>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79" name="コネクタ: カギ線 78">
            <a:extLst>
              <a:ext uri="{FF2B5EF4-FFF2-40B4-BE49-F238E27FC236}">
                <a16:creationId xmlns:a16="http://schemas.microsoft.com/office/drawing/2014/main" id="{6F60DF78-AC16-9662-17BD-3EBCD4677BB3}"/>
              </a:ext>
            </a:extLst>
          </p:cNvPr>
          <p:cNvCxnSpPr>
            <a:cxnSpLocks/>
            <a:stCxn id="74" idx="3"/>
          </p:cNvCxnSpPr>
          <p:nvPr/>
        </p:nvCxnSpPr>
        <p:spPr>
          <a:xfrm flipV="1">
            <a:off x="7619393" y="2530542"/>
            <a:ext cx="551419" cy="1030393"/>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2" name="コネクタ: カギ線 81">
            <a:extLst>
              <a:ext uri="{FF2B5EF4-FFF2-40B4-BE49-F238E27FC236}">
                <a16:creationId xmlns:a16="http://schemas.microsoft.com/office/drawing/2014/main" id="{9ACE7516-910E-229D-8D61-02389EE1209F}"/>
              </a:ext>
            </a:extLst>
          </p:cNvPr>
          <p:cNvCxnSpPr>
            <a:cxnSpLocks/>
            <a:stCxn id="75" idx="3"/>
          </p:cNvCxnSpPr>
          <p:nvPr/>
        </p:nvCxnSpPr>
        <p:spPr>
          <a:xfrm flipV="1">
            <a:off x="7619393" y="2530542"/>
            <a:ext cx="551419" cy="764798"/>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3" name="コネクタ: カギ線 82">
            <a:extLst>
              <a:ext uri="{FF2B5EF4-FFF2-40B4-BE49-F238E27FC236}">
                <a16:creationId xmlns:a16="http://schemas.microsoft.com/office/drawing/2014/main" id="{CFEF0AA5-73C6-3E02-7EDB-57BE374DCDBF}"/>
              </a:ext>
            </a:extLst>
          </p:cNvPr>
          <p:cNvCxnSpPr>
            <a:cxnSpLocks/>
            <a:stCxn id="69" idx="3"/>
          </p:cNvCxnSpPr>
          <p:nvPr/>
        </p:nvCxnSpPr>
        <p:spPr>
          <a:xfrm flipV="1">
            <a:off x="7619393" y="2530542"/>
            <a:ext cx="551419" cy="499203"/>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4" name="コネクタ: カギ線 83">
            <a:extLst>
              <a:ext uri="{FF2B5EF4-FFF2-40B4-BE49-F238E27FC236}">
                <a16:creationId xmlns:a16="http://schemas.microsoft.com/office/drawing/2014/main" id="{994CBAF5-3A55-5F8D-2FE3-7E89A4D5C622}"/>
              </a:ext>
            </a:extLst>
          </p:cNvPr>
          <p:cNvCxnSpPr>
            <a:cxnSpLocks/>
            <a:stCxn id="76" idx="3"/>
          </p:cNvCxnSpPr>
          <p:nvPr/>
        </p:nvCxnSpPr>
        <p:spPr>
          <a:xfrm flipV="1">
            <a:off x="7612379" y="2530542"/>
            <a:ext cx="558433" cy="235648"/>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5" name="コネクタ: カギ線 84">
            <a:extLst>
              <a:ext uri="{FF2B5EF4-FFF2-40B4-BE49-F238E27FC236}">
                <a16:creationId xmlns:a16="http://schemas.microsoft.com/office/drawing/2014/main" id="{95AFF09E-E9EC-B83D-758F-AB3E03B91C26}"/>
              </a:ext>
            </a:extLst>
          </p:cNvPr>
          <p:cNvCxnSpPr>
            <a:cxnSpLocks/>
            <a:stCxn id="56" idx="3"/>
          </p:cNvCxnSpPr>
          <p:nvPr/>
        </p:nvCxnSpPr>
        <p:spPr>
          <a:xfrm>
            <a:off x="7612379" y="2498555"/>
            <a:ext cx="558433" cy="31987"/>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7" name="コネクタ: カギ線 86">
            <a:extLst>
              <a:ext uri="{FF2B5EF4-FFF2-40B4-BE49-F238E27FC236}">
                <a16:creationId xmlns:a16="http://schemas.microsoft.com/office/drawing/2014/main" id="{81E043B6-4E27-2700-F284-741B1F2B6E99}"/>
              </a:ext>
            </a:extLst>
          </p:cNvPr>
          <p:cNvCxnSpPr>
            <a:cxnSpLocks/>
            <a:stCxn id="55" idx="3"/>
          </p:cNvCxnSpPr>
          <p:nvPr/>
        </p:nvCxnSpPr>
        <p:spPr>
          <a:xfrm>
            <a:off x="7612379" y="2232960"/>
            <a:ext cx="558433" cy="297582"/>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8" name="左中かっこ 87">
            <a:extLst>
              <a:ext uri="{FF2B5EF4-FFF2-40B4-BE49-F238E27FC236}">
                <a16:creationId xmlns:a16="http://schemas.microsoft.com/office/drawing/2014/main" id="{3EB6A587-08D7-7B0D-8BB4-704F3A9413A8}"/>
              </a:ext>
            </a:extLst>
          </p:cNvPr>
          <p:cNvSpPr/>
          <p:nvPr/>
        </p:nvSpPr>
        <p:spPr>
          <a:xfrm>
            <a:off x="5156221" y="2086266"/>
            <a:ext cx="181099" cy="1866748"/>
          </a:xfrm>
          <a:prstGeom prst="leftBrace">
            <a:avLst>
              <a:gd name="adj1" fmla="val 8333"/>
              <a:gd name="adj2" fmla="val 23194"/>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90" name="正方形/長方形 89">
            <a:extLst>
              <a:ext uri="{FF2B5EF4-FFF2-40B4-BE49-F238E27FC236}">
                <a16:creationId xmlns:a16="http://schemas.microsoft.com/office/drawing/2014/main" id="{13F6801A-CC8C-370B-47CD-0E9A8F78DA92}"/>
              </a:ext>
            </a:extLst>
          </p:cNvPr>
          <p:cNvSpPr/>
          <p:nvPr/>
        </p:nvSpPr>
        <p:spPr>
          <a:xfrm>
            <a:off x="468899" y="4586771"/>
            <a:ext cx="5679352" cy="1887988"/>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92" name="正方形/長方形 91">
            <a:extLst>
              <a:ext uri="{FF2B5EF4-FFF2-40B4-BE49-F238E27FC236}">
                <a16:creationId xmlns:a16="http://schemas.microsoft.com/office/drawing/2014/main" id="{EBF6537D-D75B-DA5C-78EC-88D8F874BA82}"/>
              </a:ext>
            </a:extLst>
          </p:cNvPr>
          <p:cNvSpPr/>
          <p:nvPr/>
        </p:nvSpPr>
        <p:spPr>
          <a:xfrm>
            <a:off x="2207057" y="6002525"/>
            <a:ext cx="848549" cy="243944"/>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友だち化</a:t>
            </a:r>
          </a:p>
        </p:txBody>
      </p:sp>
      <p:sp>
        <p:nvSpPr>
          <p:cNvPr id="93" name="正方形/長方形 92">
            <a:extLst>
              <a:ext uri="{FF2B5EF4-FFF2-40B4-BE49-F238E27FC236}">
                <a16:creationId xmlns:a16="http://schemas.microsoft.com/office/drawing/2014/main" id="{1A52527A-0CF0-029E-8E86-430BD9DEAAA1}"/>
              </a:ext>
            </a:extLst>
          </p:cNvPr>
          <p:cNvSpPr/>
          <p:nvPr/>
        </p:nvSpPr>
        <p:spPr>
          <a:xfrm>
            <a:off x="548883" y="4704947"/>
            <a:ext cx="731277" cy="243944"/>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CV</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cxnSp>
        <p:nvCxnSpPr>
          <p:cNvPr id="95" name="コネクタ: カギ線 94">
            <a:extLst>
              <a:ext uri="{FF2B5EF4-FFF2-40B4-BE49-F238E27FC236}">
                <a16:creationId xmlns:a16="http://schemas.microsoft.com/office/drawing/2014/main" id="{898B747D-663D-3118-8C11-74EB0324AD5C}"/>
              </a:ext>
            </a:extLst>
          </p:cNvPr>
          <p:cNvCxnSpPr>
            <a:stCxn id="93" idx="0"/>
          </p:cNvCxnSpPr>
          <p:nvPr/>
        </p:nvCxnSpPr>
        <p:spPr>
          <a:xfrm rot="5400000" flipH="1" flipV="1">
            <a:off x="3855271" y="-288234"/>
            <a:ext cx="2052433" cy="7933930"/>
          </a:xfrm>
          <a:prstGeom prst="bentConnector3">
            <a:avLst>
              <a:gd name="adj1" fmla="val 8842"/>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96" name="コネクタ: カギ線 95">
            <a:extLst>
              <a:ext uri="{FF2B5EF4-FFF2-40B4-BE49-F238E27FC236}">
                <a16:creationId xmlns:a16="http://schemas.microsoft.com/office/drawing/2014/main" id="{CA244CA5-B309-FA6E-284D-7CBC7CC2508F}"/>
              </a:ext>
            </a:extLst>
          </p:cNvPr>
          <p:cNvCxnSpPr>
            <a:cxnSpLocks/>
            <a:stCxn id="93" idx="2"/>
            <a:endCxn id="92" idx="1"/>
          </p:cNvCxnSpPr>
          <p:nvPr/>
        </p:nvCxnSpPr>
        <p:spPr>
          <a:xfrm rot="16200000" flipH="1">
            <a:off x="972986" y="4890426"/>
            <a:ext cx="1175606" cy="1292535"/>
          </a:xfrm>
          <a:prstGeom prst="bentConnector2">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98" name="正方形/長方形 97">
            <a:extLst>
              <a:ext uri="{FF2B5EF4-FFF2-40B4-BE49-F238E27FC236}">
                <a16:creationId xmlns:a16="http://schemas.microsoft.com/office/drawing/2014/main" id="{B6490177-CFF0-A875-7C56-F0FC8CA2C530}"/>
              </a:ext>
            </a:extLst>
          </p:cNvPr>
          <p:cNvSpPr/>
          <p:nvPr/>
        </p:nvSpPr>
        <p:spPr>
          <a:xfrm>
            <a:off x="562021" y="5819567"/>
            <a:ext cx="1355280"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err="1">
                <a:solidFill>
                  <a:schemeClr val="bg1"/>
                </a:solidFill>
                <a:latin typeface="メイリオ" panose="020B0604030504040204" pitchFamily="50" charset="-128"/>
                <a:ea typeface="メイリオ" panose="020B0604030504040204" pitchFamily="50" charset="-128"/>
              </a:rPr>
              <a:t>OptionAPI</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99" name="正方形/長方形 98">
            <a:extLst>
              <a:ext uri="{FF2B5EF4-FFF2-40B4-BE49-F238E27FC236}">
                <a16:creationId xmlns:a16="http://schemas.microsoft.com/office/drawing/2014/main" id="{6D76C720-225A-6A92-8A49-A13770789615}"/>
              </a:ext>
            </a:extLst>
          </p:cNvPr>
          <p:cNvSpPr/>
          <p:nvPr/>
        </p:nvSpPr>
        <p:spPr>
          <a:xfrm>
            <a:off x="562021" y="6084246"/>
            <a:ext cx="1355280"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サンクス</a:t>
            </a:r>
            <a:r>
              <a:rPr kumimoji="1" lang="en-US" altLang="ja-JP" sz="1000" b="1" dirty="0">
                <a:solidFill>
                  <a:schemeClr val="bg1"/>
                </a:solidFill>
                <a:latin typeface="メイリオ" panose="020B0604030504040204" pitchFamily="50" charset="-128"/>
                <a:ea typeface="メイリオ" panose="020B0604030504040204" pitchFamily="50" charset="-128"/>
              </a:rPr>
              <a:t>LINE</a:t>
            </a:r>
            <a:r>
              <a:rPr kumimoji="1" lang="ja-JP" altLang="en-US" sz="1000" b="1" dirty="0">
                <a:solidFill>
                  <a:schemeClr val="bg1"/>
                </a:solidFill>
                <a:latin typeface="メイリオ" panose="020B0604030504040204" pitchFamily="50" charset="-128"/>
                <a:ea typeface="メイリオ" panose="020B0604030504040204" pitchFamily="50" charset="-128"/>
              </a:rPr>
              <a:t>誘導</a:t>
            </a:r>
          </a:p>
        </p:txBody>
      </p:sp>
      <p:sp>
        <p:nvSpPr>
          <p:cNvPr id="101" name="正方形/長方形 100">
            <a:extLst>
              <a:ext uri="{FF2B5EF4-FFF2-40B4-BE49-F238E27FC236}">
                <a16:creationId xmlns:a16="http://schemas.microsoft.com/office/drawing/2014/main" id="{9927067B-793F-D21C-B90A-7C7E46812D7F}"/>
              </a:ext>
            </a:extLst>
          </p:cNvPr>
          <p:cNvSpPr/>
          <p:nvPr/>
        </p:nvSpPr>
        <p:spPr>
          <a:xfrm>
            <a:off x="3713703" y="4731321"/>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リマインド配信</a:t>
            </a:r>
          </a:p>
        </p:txBody>
      </p:sp>
      <p:sp>
        <p:nvSpPr>
          <p:cNvPr id="102" name="正方形/長方形 101">
            <a:extLst>
              <a:ext uri="{FF2B5EF4-FFF2-40B4-BE49-F238E27FC236}">
                <a16:creationId xmlns:a16="http://schemas.microsoft.com/office/drawing/2014/main" id="{BD2E83D5-3372-C439-208D-783F428C9D84}"/>
              </a:ext>
            </a:extLst>
          </p:cNvPr>
          <p:cNvSpPr/>
          <p:nvPr/>
        </p:nvSpPr>
        <p:spPr>
          <a:xfrm>
            <a:off x="3713703" y="4996916"/>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外構・メンテ提案配信</a:t>
            </a:r>
          </a:p>
        </p:txBody>
      </p:sp>
      <p:sp>
        <p:nvSpPr>
          <p:cNvPr id="104" name="正方形/長方形 103">
            <a:extLst>
              <a:ext uri="{FF2B5EF4-FFF2-40B4-BE49-F238E27FC236}">
                <a16:creationId xmlns:a16="http://schemas.microsoft.com/office/drawing/2014/main" id="{087D59E0-E0CE-3934-C1B4-0EF4D82E0B2E}"/>
              </a:ext>
            </a:extLst>
          </p:cNvPr>
          <p:cNvSpPr/>
          <p:nvPr/>
        </p:nvSpPr>
        <p:spPr>
          <a:xfrm>
            <a:off x="3713703" y="5262511"/>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実反響</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購入</a:t>
            </a:r>
            <a:r>
              <a:rPr lang="en-US" altLang="ja-JP" sz="1000" b="1" dirty="0">
                <a:solidFill>
                  <a:schemeClr val="bg1"/>
                </a:solidFill>
                <a:latin typeface="メイリオ" panose="020B0604030504040204" pitchFamily="50" charset="-128"/>
                <a:ea typeface="メイリオ" panose="020B0604030504040204" pitchFamily="50" charset="-128"/>
              </a:rPr>
              <a:t>)</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05" name="正方形/長方形 104">
            <a:extLst>
              <a:ext uri="{FF2B5EF4-FFF2-40B4-BE49-F238E27FC236}">
                <a16:creationId xmlns:a16="http://schemas.microsoft.com/office/drawing/2014/main" id="{78BB80E0-2482-846A-E4FE-C1770384E88E}"/>
              </a:ext>
            </a:extLst>
          </p:cNvPr>
          <p:cNvSpPr/>
          <p:nvPr/>
        </p:nvSpPr>
        <p:spPr>
          <a:xfrm>
            <a:off x="3720717" y="5528106"/>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入居後年数タグの設定</a:t>
            </a:r>
          </a:p>
        </p:txBody>
      </p:sp>
      <p:sp>
        <p:nvSpPr>
          <p:cNvPr id="111" name="正方形/長方形 110">
            <a:extLst>
              <a:ext uri="{FF2B5EF4-FFF2-40B4-BE49-F238E27FC236}">
                <a16:creationId xmlns:a16="http://schemas.microsoft.com/office/drawing/2014/main" id="{C885333E-56CE-B011-72B9-07B332849355}"/>
              </a:ext>
            </a:extLst>
          </p:cNvPr>
          <p:cNvSpPr/>
          <p:nvPr/>
        </p:nvSpPr>
        <p:spPr>
          <a:xfrm>
            <a:off x="4881464" y="5264551"/>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リピート配信</a:t>
            </a:r>
          </a:p>
        </p:txBody>
      </p:sp>
      <p:cxnSp>
        <p:nvCxnSpPr>
          <p:cNvPr id="112" name="コネクタ: カギ線 111">
            <a:extLst>
              <a:ext uri="{FF2B5EF4-FFF2-40B4-BE49-F238E27FC236}">
                <a16:creationId xmlns:a16="http://schemas.microsoft.com/office/drawing/2014/main" id="{BDA83037-5C06-C2D0-EF8B-90AE0F4336B5}"/>
              </a:ext>
            </a:extLst>
          </p:cNvPr>
          <p:cNvCxnSpPr>
            <a:cxnSpLocks/>
            <a:stCxn id="93" idx="3"/>
            <a:endCxn id="101" idx="1"/>
          </p:cNvCxnSpPr>
          <p:nvPr/>
        </p:nvCxnSpPr>
        <p:spPr>
          <a:xfrm>
            <a:off x="1280160" y="4826919"/>
            <a:ext cx="2433543" cy="15286"/>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15" name="コネクタ: カギ線 114">
            <a:extLst>
              <a:ext uri="{FF2B5EF4-FFF2-40B4-BE49-F238E27FC236}">
                <a16:creationId xmlns:a16="http://schemas.microsoft.com/office/drawing/2014/main" id="{BA23D5BC-C7EC-06D4-215C-2852A68F0F9B}"/>
              </a:ext>
            </a:extLst>
          </p:cNvPr>
          <p:cNvCxnSpPr>
            <a:cxnSpLocks/>
            <a:stCxn id="93" idx="3"/>
            <a:endCxn id="102" idx="1"/>
          </p:cNvCxnSpPr>
          <p:nvPr/>
        </p:nvCxnSpPr>
        <p:spPr>
          <a:xfrm>
            <a:off x="1280160" y="4826919"/>
            <a:ext cx="2433543" cy="280881"/>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16" name="コネクタ: カギ線 115">
            <a:extLst>
              <a:ext uri="{FF2B5EF4-FFF2-40B4-BE49-F238E27FC236}">
                <a16:creationId xmlns:a16="http://schemas.microsoft.com/office/drawing/2014/main" id="{F8AA6994-29BC-2C26-DE5F-C0C21F502236}"/>
              </a:ext>
            </a:extLst>
          </p:cNvPr>
          <p:cNvCxnSpPr>
            <a:cxnSpLocks/>
            <a:stCxn id="93" idx="3"/>
            <a:endCxn id="104" idx="1"/>
          </p:cNvCxnSpPr>
          <p:nvPr/>
        </p:nvCxnSpPr>
        <p:spPr>
          <a:xfrm>
            <a:off x="1280160" y="4826919"/>
            <a:ext cx="2433543" cy="546476"/>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18" name="コネクタ: カギ線 117">
            <a:extLst>
              <a:ext uri="{FF2B5EF4-FFF2-40B4-BE49-F238E27FC236}">
                <a16:creationId xmlns:a16="http://schemas.microsoft.com/office/drawing/2014/main" id="{3AE4A3D0-6C1F-7BCD-3ED2-5F066684CE21}"/>
              </a:ext>
            </a:extLst>
          </p:cNvPr>
          <p:cNvCxnSpPr>
            <a:cxnSpLocks/>
            <a:stCxn id="93" idx="3"/>
            <a:endCxn id="105" idx="1"/>
          </p:cNvCxnSpPr>
          <p:nvPr/>
        </p:nvCxnSpPr>
        <p:spPr>
          <a:xfrm>
            <a:off x="1280160" y="4826919"/>
            <a:ext cx="2440557" cy="812071"/>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19" name="正方形/長方形 118">
            <a:extLst>
              <a:ext uri="{FF2B5EF4-FFF2-40B4-BE49-F238E27FC236}">
                <a16:creationId xmlns:a16="http://schemas.microsoft.com/office/drawing/2014/main" id="{F922E2DE-5C74-6CAA-736C-BAC94D2952DF}"/>
              </a:ext>
            </a:extLst>
          </p:cNvPr>
          <p:cNvSpPr/>
          <p:nvPr/>
        </p:nvSpPr>
        <p:spPr>
          <a:xfrm>
            <a:off x="3713703" y="5792944"/>
            <a:ext cx="2292685" cy="221767"/>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クー</a:t>
            </a:r>
            <a:r>
              <a:rPr lang="ja-JP" altLang="en-US" sz="1000" b="1" dirty="0">
                <a:solidFill>
                  <a:schemeClr val="bg1"/>
                </a:solidFill>
                <a:latin typeface="メイリオ" panose="020B0604030504040204" pitchFamily="50" charset="-128"/>
                <a:ea typeface="メイリオ" panose="020B0604030504040204" pitchFamily="50" charset="-128"/>
              </a:rPr>
              <a:t>ポン・リサーチ動線の設計</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21" name="正方形/長方形 120">
            <a:extLst>
              <a:ext uri="{FF2B5EF4-FFF2-40B4-BE49-F238E27FC236}">
                <a16:creationId xmlns:a16="http://schemas.microsoft.com/office/drawing/2014/main" id="{03175683-57AB-6FFA-0F27-7E81645CA47B}"/>
              </a:ext>
            </a:extLst>
          </p:cNvPr>
          <p:cNvSpPr/>
          <p:nvPr/>
        </p:nvSpPr>
        <p:spPr>
          <a:xfrm>
            <a:off x="3720717" y="6061629"/>
            <a:ext cx="2292685" cy="221767"/>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1to1</a:t>
            </a:r>
            <a:r>
              <a:rPr kumimoji="1" lang="ja-JP" altLang="en-US" sz="1000" b="1" dirty="0">
                <a:solidFill>
                  <a:schemeClr val="bg1"/>
                </a:solidFill>
                <a:latin typeface="メイリオ" panose="020B0604030504040204" pitchFamily="50" charset="-128"/>
                <a:ea typeface="メイリオ" panose="020B0604030504040204" pitchFamily="50" charset="-128"/>
              </a:rPr>
              <a:t>チャット機能</a:t>
            </a:r>
          </a:p>
        </p:txBody>
      </p:sp>
      <p:cxnSp>
        <p:nvCxnSpPr>
          <p:cNvPr id="122" name="コネクタ: カギ線 121">
            <a:extLst>
              <a:ext uri="{FF2B5EF4-FFF2-40B4-BE49-F238E27FC236}">
                <a16:creationId xmlns:a16="http://schemas.microsoft.com/office/drawing/2014/main" id="{30FE3CED-649C-7946-1117-B1E2FD2D7F26}"/>
              </a:ext>
            </a:extLst>
          </p:cNvPr>
          <p:cNvCxnSpPr>
            <a:cxnSpLocks/>
          </p:cNvCxnSpPr>
          <p:nvPr/>
        </p:nvCxnSpPr>
        <p:spPr>
          <a:xfrm rot="5400000" flipH="1" flipV="1">
            <a:off x="1605206" y="3681433"/>
            <a:ext cx="3347219" cy="1294966"/>
          </a:xfrm>
          <a:prstGeom prst="bentConnector3">
            <a:avLst>
              <a:gd name="adj1" fmla="val 46358"/>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24" name="正方形/長方形 123">
            <a:extLst>
              <a:ext uri="{FF2B5EF4-FFF2-40B4-BE49-F238E27FC236}">
                <a16:creationId xmlns:a16="http://schemas.microsoft.com/office/drawing/2014/main" id="{5EB01514-8877-C931-E7AA-81B28EB77681}"/>
              </a:ext>
            </a:extLst>
          </p:cNvPr>
          <p:cNvSpPr/>
          <p:nvPr/>
        </p:nvSpPr>
        <p:spPr>
          <a:xfrm>
            <a:off x="6986937" y="1517116"/>
            <a:ext cx="2583782" cy="252610"/>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rgbClr val="00B050"/>
                </a:solidFill>
                <a:latin typeface="メイリオ" panose="020B0604030504040204" pitchFamily="50" charset="-128"/>
                <a:ea typeface="メイリオ" panose="020B0604030504040204" pitchFamily="50" charset="-128"/>
              </a:rPr>
              <a:t>自動化</a:t>
            </a:r>
            <a:r>
              <a:rPr lang="en-US" altLang="ja-JP" sz="1000" b="1" dirty="0">
                <a:solidFill>
                  <a:srgbClr val="00B050"/>
                </a:solidFill>
                <a:latin typeface="メイリオ" panose="020B0604030504040204" pitchFamily="50" charset="-128"/>
                <a:ea typeface="メイリオ" panose="020B0604030504040204" pitchFamily="50" charset="-128"/>
              </a:rPr>
              <a:t>(</a:t>
            </a:r>
            <a:r>
              <a:rPr lang="ja-JP" altLang="en-US" sz="1000" b="1" dirty="0">
                <a:solidFill>
                  <a:srgbClr val="00B050"/>
                </a:solidFill>
                <a:latin typeface="メイリオ" panose="020B0604030504040204" pitchFamily="50" charset="-128"/>
                <a:ea typeface="メイリオ" panose="020B0604030504040204" pitchFamily="50" charset="-128"/>
              </a:rPr>
              <a:t>ツール導入により</a:t>
            </a:r>
            <a:r>
              <a:rPr lang="en-US" altLang="ja-JP" sz="1000" b="1" dirty="0">
                <a:solidFill>
                  <a:srgbClr val="00B050"/>
                </a:solidFill>
                <a:latin typeface="メイリオ" panose="020B0604030504040204" pitchFamily="50" charset="-128"/>
                <a:ea typeface="メイリオ" panose="020B0604030504040204" pitchFamily="50" charset="-128"/>
              </a:rPr>
              <a:t>)</a:t>
            </a:r>
            <a:r>
              <a:rPr lang="ja-JP" altLang="en-US" sz="1000" b="1" dirty="0">
                <a:solidFill>
                  <a:srgbClr val="00B050"/>
                </a:solidFill>
                <a:latin typeface="メイリオ" panose="020B0604030504040204" pitchFamily="50" charset="-128"/>
                <a:ea typeface="メイリオ" panose="020B0604030504040204" pitchFamily="50" charset="-128"/>
              </a:rPr>
              <a:t>可能領域</a:t>
            </a:r>
            <a:endParaRPr kumimoji="1" lang="ja-JP" altLang="en-US" sz="1000" b="1" dirty="0">
              <a:solidFill>
                <a:srgbClr val="00B05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0342701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E6EC7-8BED-7DDA-23DD-316D74FFBA1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5B1FD88-3B25-D76E-99D7-CDD7E800E78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施策展開図</a:t>
            </a:r>
          </a:p>
        </p:txBody>
      </p:sp>
      <p:sp>
        <p:nvSpPr>
          <p:cNvPr id="9" name="正方形/長方形 8">
            <a:extLst>
              <a:ext uri="{FF2B5EF4-FFF2-40B4-BE49-F238E27FC236}">
                <a16:creationId xmlns:a16="http://schemas.microsoft.com/office/drawing/2014/main" id="{709B81B2-1251-DE55-B4B3-220553E132F8}"/>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1E8D898A-0AF4-2505-8EE3-9F12824F6A59}"/>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施策においては、</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友だちの新規追加</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と</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友だちの育成・</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動線</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が重要。</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 name="正方形/長方形 1">
            <a:extLst>
              <a:ext uri="{FF2B5EF4-FFF2-40B4-BE49-F238E27FC236}">
                <a16:creationId xmlns:a16="http://schemas.microsoft.com/office/drawing/2014/main" id="{011C5FFF-B61A-EB8E-326E-072A0E269233}"/>
              </a:ext>
            </a:extLst>
          </p:cNvPr>
          <p:cNvSpPr/>
          <p:nvPr/>
        </p:nvSpPr>
        <p:spPr>
          <a:xfrm>
            <a:off x="3587358" y="1747110"/>
            <a:ext cx="860817" cy="143296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初期</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（初動）</a:t>
            </a:r>
            <a:endParaRPr kumimoji="1" lang="ja-JP" altLang="en-US" sz="1200" b="1" dirty="0">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41F32D58-29FF-60A6-17B5-A41ACCBE9449}"/>
              </a:ext>
            </a:extLst>
          </p:cNvPr>
          <p:cNvSpPr/>
          <p:nvPr/>
        </p:nvSpPr>
        <p:spPr>
          <a:xfrm>
            <a:off x="3587358" y="3321847"/>
            <a:ext cx="860817" cy="292127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月次</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（定例）</a:t>
            </a:r>
            <a:endParaRPr kumimoji="1" lang="ja-JP" altLang="en-US" sz="1200" b="1" dirty="0">
              <a:latin typeface="メイリオ" panose="020B0604030504040204" pitchFamily="50" charset="-128"/>
              <a:ea typeface="メイリオ" panose="020B0604030504040204" pitchFamily="50" charset="-128"/>
            </a:endParaRPr>
          </a:p>
        </p:txBody>
      </p:sp>
      <p:sp>
        <p:nvSpPr>
          <p:cNvPr id="8" name="四角形: 角を丸くする 7">
            <a:extLst>
              <a:ext uri="{FF2B5EF4-FFF2-40B4-BE49-F238E27FC236}">
                <a16:creationId xmlns:a16="http://schemas.microsoft.com/office/drawing/2014/main" id="{22EC6943-AA14-49EA-30CF-5D813BA45BFD}"/>
              </a:ext>
            </a:extLst>
          </p:cNvPr>
          <p:cNvSpPr/>
          <p:nvPr/>
        </p:nvSpPr>
        <p:spPr>
          <a:xfrm>
            <a:off x="336942" y="1729383"/>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離脱防止・ポップアップ</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HP/LP</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滞在時に、条件を満たすと</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ポップアップバナーを表示する</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0" name="四角形: 角を丸くする 9">
            <a:extLst>
              <a:ext uri="{FF2B5EF4-FFF2-40B4-BE49-F238E27FC236}">
                <a16:creationId xmlns:a16="http://schemas.microsoft.com/office/drawing/2014/main" id="{3436AF3F-C2E7-3494-0B01-4BC00578C5FF}"/>
              </a:ext>
            </a:extLst>
          </p:cNvPr>
          <p:cNvSpPr/>
          <p:nvPr/>
        </p:nvSpPr>
        <p:spPr>
          <a:xfrm>
            <a:off x="336942" y="2642195"/>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通知メッセージ</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ユーザーアクション時に</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API</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連携で</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にメッセ送付</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1" name="四角形: 角を丸くする 10">
            <a:extLst>
              <a:ext uri="{FF2B5EF4-FFF2-40B4-BE49-F238E27FC236}">
                <a16:creationId xmlns:a16="http://schemas.microsoft.com/office/drawing/2014/main" id="{6B8D9E5A-638C-EACC-4E99-235D769FBAB5}"/>
              </a:ext>
            </a:extLst>
          </p:cNvPr>
          <p:cNvSpPr/>
          <p:nvPr/>
        </p:nvSpPr>
        <p:spPr>
          <a:xfrm>
            <a:off x="336942" y="3555007"/>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サンクス</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誘導ツール</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WEB</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サイトの</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CV</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ページから</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入力情報を引き継ぎ</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へ自動遷移</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2" name="四角形: 角を丸くする 11">
            <a:extLst>
              <a:ext uri="{FF2B5EF4-FFF2-40B4-BE49-F238E27FC236}">
                <a16:creationId xmlns:a16="http://schemas.microsoft.com/office/drawing/2014/main" id="{340447B4-FBD9-E81D-7902-7B3BF84ED83A}"/>
              </a:ext>
            </a:extLst>
          </p:cNvPr>
          <p:cNvSpPr/>
          <p:nvPr/>
        </p:nvSpPr>
        <p:spPr>
          <a:xfrm>
            <a:off x="336942" y="4458293"/>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ログイン・</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ID</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連携等</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ログインに</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 </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を使用</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サイトユーザー</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と</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を連携</a:t>
            </a:r>
            <a:endParaRPr kumimoji="1" lang="ja-JP" altLang="en-US" sz="105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4" name="四角形: 角を丸くする 13">
            <a:extLst>
              <a:ext uri="{FF2B5EF4-FFF2-40B4-BE49-F238E27FC236}">
                <a16:creationId xmlns:a16="http://schemas.microsoft.com/office/drawing/2014/main" id="{BD6C1FC9-285C-AE02-A175-C7061E1A753F}"/>
              </a:ext>
            </a:extLst>
          </p:cNvPr>
          <p:cNvSpPr/>
          <p:nvPr/>
        </p:nvSpPr>
        <p:spPr>
          <a:xfrm>
            <a:off x="336942" y="5361315"/>
            <a:ext cx="2444358" cy="432333"/>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 </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 CPF</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広告</a:t>
            </a:r>
            <a:endPar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5" name="四角形: 角を丸くする 14">
            <a:extLst>
              <a:ext uri="{FF2B5EF4-FFF2-40B4-BE49-F238E27FC236}">
                <a16:creationId xmlns:a16="http://schemas.microsoft.com/office/drawing/2014/main" id="{74F6F515-C9A5-F22C-3E1C-CF4380DB9991}"/>
              </a:ext>
            </a:extLst>
          </p:cNvPr>
          <p:cNvSpPr/>
          <p:nvPr/>
        </p:nvSpPr>
        <p:spPr>
          <a:xfrm>
            <a:off x="336942" y="5829843"/>
            <a:ext cx="2444358" cy="432333"/>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スタンプ・</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Pt</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施策</a:t>
            </a:r>
          </a:p>
        </p:txBody>
      </p:sp>
      <p:sp>
        <p:nvSpPr>
          <p:cNvPr id="16" name="正方形/長方形 15">
            <a:extLst>
              <a:ext uri="{FF2B5EF4-FFF2-40B4-BE49-F238E27FC236}">
                <a16:creationId xmlns:a16="http://schemas.microsoft.com/office/drawing/2014/main" id="{0156D598-0831-CD8B-6A89-EE3DAF51A5E9}"/>
              </a:ext>
            </a:extLst>
          </p:cNvPr>
          <p:cNvSpPr/>
          <p:nvPr/>
        </p:nvSpPr>
        <p:spPr>
          <a:xfrm>
            <a:off x="4482711" y="1756635"/>
            <a:ext cx="3233084" cy="143296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・リッチメニュー</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・プロフ動線</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・あいさつ</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MSG</a:t>
            </a:r>
          </a:p>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KW</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自動応答設定</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・友だち登録直後アンケート</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・再引上げ</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アンケート</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・ステップ配信</a:t>
            </a:r>
            <a:r>
              <a:rPr lang="ja-JP" altLang="en-US" sz="900" dirty="0">
                <a:solidFill>
                  <a:schemeClr val="bg1">
                    <a:lumMod val="65000"/>
                  </a:schemeClr>
                </a:solidFill>
                <a:latin typeface="メイリオ" panose="020B0604030504040204" pitchFamily="50" charset="-128"/>
                <a:ea typeface="メイリオ" panose="020B0604030504040204" pitchFamily="50" charset="-128"/>
              </a:rPr>
              <a:t>：特定アクション後◯日での自動配信</a:t>
            </a:r>
            <a:endParaRPr kumimoji="1" lang="ja-JP" altLang="en-US" sz="12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24F01906-5193-F098-3B58-BDCC26D568EA}"/>
              </a:ext>
            </a:extLst>
          </p:cNvPr>
          <p:cNvSpPr/>
          <p:nvPr/>
        </p:nvSpPr>
        <p:spPr>
          <a:xfrm>
            <a:off x="4482711" y="3331372"/>
            <a:ext cx="3233084" cy="29212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新規</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 </a:t>
            </a:r>
            <a:r>
              <a:rPr lang="ja-JP" altLang="en-US" sz="1200" b="1" dirty="0">
                <a:solidFill>
                  <a:srgbClr val="FF0000"/>
                </a:solidFill>
                <a:latin typeface="メイリオ" panose="020B0604030504040204" pitchFamily="50" charset="-128"/>
                <a:ea typeface="メイリオ" panose="020B0604030504040204" pitchFamily="50" charset="-128"/>
              </a:rPr>
              <a:t>→ 月間投稿数</a:t>
            </a:r>
            <a:endParaRPr lang="en-US" altLang="ja-JP" sz="1200" b="1" dirty="0">
              <a:solidFill>
                <a:srgbClr val="FF0000"/>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・イベント配信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・クーポン配信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・企画配信（特定ターゲット）</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・診断型配信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・お役立ちコラム・コンテンツ配信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・季節／時事ネタ配信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rPr>
              <a:t>︙</a:t>
            </a:r>
          </a:p>
          <a:p>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調整</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・アンケート</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・自動応答</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a:t>
            </a:r>
            <a:r>
              <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rPr>
              <a:t>QA</a:t>
            </a:r>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集</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・リッチメニュー</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・ステップ配信</a:t>
            </a:r>
          </a:p>
        </p:txBody>
      </p:sp>
      <p:sp>
        <p:nvSpPr>
          <p:cNvPr id="19" name="左大かっこ 18">
            <a:extLst>
              <a:ext uri="{FF2B5EF4-FFF2-40B4-BE49-F238E27FC236}">
                <a16:creationId xmlns:a16="http://schemas.microsoft.com/office/drawing/2014/main" id="{B9FF3DCE-9B05-09FE-7C2F-B104CD0105BE}"/>
              </a:ext>
            </a:extLst>
          </p:cNvPr>
          <p:cNvSpPr/>
          <p:nvPr/>
        </p:nvSpPr>
        <p:spPr>
          <a:xfrm>
            <a:off x="3210542" y="1800836"/>
            <a:ext cx="215932" cy="4398089"/>
          </a:xfrm>
          <a:prstGeom prst="leftBracket">
            <a:avLst/>
          </a:prstGeom>
          <a:ln>
            <a:solidFill>
              <a:srgbClr val="04FA0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4" name="左大かっこ 23">
            <a:extLst>
              <a:ext uri="{FF2B5EF4-FFF2-40B4-BE49-F238E27FC236}">
                <a16:creationId xmlns:a16="http://schemas.microsoft.com/office/drawing/2014/main" id="{61357E78-5BD2-BBD8-1F18-B1985600E22B}"/>
              </a:ext>
            </a:extLst>
          </p:cNvPr>
          <p:cNvSpPr/>
          <p:nvPr/>
        </p:nvSpPr>
        <p:spPr>
          <a:xfrm flipH="1">
            <a:off x="2892035" y="1756635"/>
            <a:ext cx="215932" cy="4486491"/>
          </a:xfrm>
          <a:prstGeom prst="leftBracket">
            <a:avLst/>
          </a:prstGeom>
          <a:ln>
            <a:solidFill>
              <a:srgbClr val="04FA0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pic>
        <p:nvPicPr>
          <p:cNvPr id="26" name="図 25">
            <a:extLst>
              <a:ext uri="{FF2B5EF4-FFF2-40B4-BE49-F238E27FC236}">
                <a16:creationId xmlns:a16="http://schemas.microsoft.com/office/drawing/2014/main" id="{56E6CFC0-FB45-E508-C7ED-E0F29C95F377}"/>
              </a:ext>
            </a:extLst>
          </p:cNvPr>
          <p:cNvPicPr>
            <a:picLocks noChangeAspect="1"/>
          </p:cNvPicPr>
          <p:nvPr/>
        </p:nvPicPr>
        <p:blipFill>
          <a:blip r:embed="rId2"/>
          <a:stretch>
            <a:fillRect/>
          </a:stretch>
        </p:blipFill>
        <p:spPr>
          <a:xfrm>
            <a:off x="2862090" y="2173993"/>
            <a:ext cx="582602" cy="543237"/>
          </a:xfrm>
          <a:prstGeom prst="rect">
            <a:avLst/>
          </a:prstGeom>
        </p:spPr>
      </p:pic>
      <p:cxnSp>
        <p:nvCxnSpPr>
          <p:cNvPr id="27" name="直線矢印コネクタ 26">
            <a:extLst>
              <a:ext uri="{FF2B5EF4-FFF2-40B4-BE49-F238E27FC236}">
                <a16:creationId xmlns:a16="http://schemas.microsoft.com/office/drawing/2014/main" id="{38D782E3-91EF-D26A-1906-21A51865A939}"/>
              </a:ext>
            </a:extLst>
          </p:cNvPr>
          <p:cNvCxnSpPr>
            <a:cxnSpLocks/>
          </p:cNvCxnSpPr>
          <p:nvPr/>
        </p:nvCxnSpPr>
        <p:spPr>
          <a:xfrm>
            <a:off x="231756" y="1521490"/>
            <a:ext cx="2654192" cy="0"/>
          </a:xfrm>
          <a:prstGeom prst="straightConnector1">
            <a:avLst/>
          </a:prstGeom>
          <a:ln w="28575">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39D8C8E0-0854-5217-A7F3-DBD2104BDFAF}"/>
              </a:ext>
            </a:extLst>
          </p:cNvPr>
          <p:cNvSpPr txBox="1"/>
          <p:nvPr/>
        </p:nvSpPr>
        <p:spPr>
          <a:xfrm>
            <a:off x="857833" y="1390138"/>
            <a:ext cx="1306788" cy="261610"/>
          </a:xfrm>
          <a:prstGeom prst="rect">
            <a:avLst/>
          </a:prstGeom>
          <a:solidFill>
            <a:schemeClr val="bg1"/>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友だちの新規追加</a:t>
            </a:r>
            <a:endParaRPr lang="ja-JP" altLang="en-US" sz="1050" dirty="0"/>
          </a:p>
        </p:txBody>
      </p:sp>
      <p:cxnSp>
        <p:nvCxnSpPr>
          <p:cNvPr id="29" name="直線矢印コネクタ 28">
            <a:extLst>
              <a:ext uri="{FF2B5EF4-FFF2-40B4-BE49-F238E27FC236}">
                <a16:creationId xmlns:a16="http://schemas.microsoft.com/office/drawing/2014/main" id="{745F1B07-4D2C-4794-DAEA-D76D3E0CA8CF}"/>
              </a:ext>
            </a:extLst>
          </p:cNvPr>
          <p:cNvCxnSpPr>
            <a:cxnSpLocks/>
          </p:cNvCxnSpPr>
          <p:nvPr/>
        </p:nvCxnSpPr>
        <p:spPr>
          <a:xfrm>
            <a:off x="3248447" y="1521490"/>
            <a:ext cx="6173147" cy="0"/>
          </a:xfrm>
          <a:prstGeom prst="straightConnector1">
            <a:avLst/>
          </a:prstGeom>
          <a:ln w="28575">
            <a:solidFill>
              <a:schemeClr val="accent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0" name="テキスト ボックス 29">
            <a:extLst>
              <a:ext uri="{FF2B5EF4-FFF2-40B4-BE49-F238E27FC236}">
                <a16:creationId xmlns:a16="http://schemas.microsoft.com/office/drawing/2014/main" id="{D5E48196-7DAD-4F3E-ADDE-E36FAC475508}"/>
              </a:ext>
            </a:extLst>
          </p:cNvPr>
          <p:cNvSpPr txBox="1"/>
          <p:nvPr/>
        </p:nvSpPr>
        <p:spPr>
          <a:xfrm>
            <a:off x="5411256" y="1390138"/>
            <a:ext cx="1913269" cy="253916"/>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a:t>
            </a:r>
            <a:r>
              <a:rPr lang="ja-JP" altLang="en-US" sz="1050" b="1" dirty="0">
                <a:latin typeface="メイリオ" panose="020B0604030504040204" pitchFamily="50" charset="-128"/>
                <a:ea typeface="メイリオ" panose="020B0604030504040204" pitchFamily="50" charset="-128"/>
                <a:cs typeface="Meiryo"/>
                <a:sym typeface="Meiryo"/>
              </a:rPr>
              <a:t>友だちの育成・</a:t>
            </a:r>
            <a:r>
              <a:rPr lang="en-US" altLang="ja-JP" sz="1050" b="1" dirty="0">
                <a:latin typeface="メイリオ" panose="020B0604030504040204" pitchFamily="50" charset="-128"/>
                <a:ea typeface="メイリオ" panose="020B0604030504040204" pitchFamily="50" charset="-128"/>
                <a:cs typeface="Meiryo"/>
                <a:sym typeface="Meiryo"/>
              </a:rPr>
              <a:t>CV</a:t>
            </a:r>
            <a:r>
              <a:rPr lang="ja-JP" altLang="en-US" sz="1050" b="1" dirty="0">
                <a:latin typeface="メイリオ" panose="020B0604030504040204" pitchFamily="50" charset="-128"/>
                <a:ea typeface="メイリオ" panose="020B0604030504040204" pitchFamily="50" charset="-128"/>
                <a:cs typeface="Meiryo"/>
                <a:sym typeface="Meiryo"/>
              </a:rPr>
              <a:t>化</a:t>
            </a:r>
            <a:endParaRPr lang="en-US" altLang="ja-JP" sz="1050" b="1" dirty="0">
              <a:latin typeface="メイリオ" panose="020B0604030504040204" pitchFamily="50" charset="-128"/>
              <a:ea typeface="メイリオ" panose="020B0604030504040204" pitchFamily="50" charset="-128"/>
              <a:cs typeface="Meiryo"/>
              <a:sym typeface="Meiryo"/>
            </a:endParaRPr>
          </a:p>
        </p:txBody>
      </p:sp>
      <p:sp>
        <p:nvSpPr>
          <p:cNvPr id="32" name="正方形/長方形 31">
            <a:extLst>
              <a:ext uri="{FF2B5EF4-FFF2-40B4-BE49-F238E27FC236}">
                <a16:creationId xmlns:a16="http://schemas.microsoft.com/office/drawing/2014/main" id="{4EA6E8F1-E33D-1FB9-E4AA-6AD1A2F6B651}"/>
              </a:ext>
            </a:extLst>
          </p:cNvPr>
          <p:cNvSpPr/>
          <p:nvPr/>
        </p:nvSpPr>
        <p:spPr>
          <a:xfrm>
            <a:off x="7750331" y="1748432"/>
            <a:ext cx="1818728" cy="4494694"/>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200" b="1" dirty="0">
                <a:solidFill>
                  <a:schemeClr val="tx1"/>
                </a:solidFill>
                <a:latin typeface="メイリオ" panose="020B0604030504040204" pitchFamily="50" charset="-128"/>
                <a:ea typeface="メイリオ" panose="020B0604030504040204" pitchFamily="50" charset="-128"/>
              </a:rPr>
              <a:t>[</a:t>
            </a:r>
            <a:r>
              <a:rPr kumimoji="1" lang="ja-JP" altLang="en-US" sz="1200" b="1" dirty="0">
                <a:solidFill>
                  <a:schemeClr val="tx1"/>
                </a:solidFill>
                <a:latin typeface="メイリオ" panose="020B0604030504040204" pitchFamily="50" charset="-128"/>
                <a:ea typeface="メイリオ" panose="020B0604030504040204" pitchFamily="50" charset="-128"/>
              </a:rPr>
              <a:t>ターゲット設定</a:t>
            </a:r>
            <a:r>
              <a:rPr lang="en-US" altLang="ja-JP" sz="1200" b="1" dirty="0">
                <a:solidFill>
                  <a:schemeClr val="tx1"/>
                </a:solidFill>
                <a:latin typeface="メイリオ" panose="020B0604030504040204" pitchFamily="50" charset="-128"/>
                <a:ea typeface="メイリオ" panose="020B0604030504040204" pitchFamily="50" charset="-128"/>
              </a:rPr>
              <a:t>]</a:t>
            </a:r>
          </a:p>
          <a:p>
            <a:endParaRPr kumimoji="1" lang="en-US" altLang="ja-JP" sz="700" dirty="0">
              <a:solidFill>
                <a:schemeClr val="tx1"/>
              </a:solidFill>
              <a:latin typeface="メイリオ" panose="020B0604030504040204" pitchFamily="50" charset="-128"/>
              <a:ea typeface="メイリオ" panose="020B0604030504040204" pitchFamily="50" charset="-128"/>
            </a:endParaRPr>
          </a:p>
          <a:p>
            <a:endParaRPr kumimoji="1" lang="en-US" altLang="ja-JP" sz="700" dirty="0">
              <a:solidFill>
                <a:schemeClr val="tx1"/>
              </a:solidFill>
              <a:latin typeface="メイリオ" panose="020B0604030504040204" pitchFamily="50" charset="-128"/>
              <a:ea typeface="メイリオ" panose="020B0604030504040204" pitchFamily="50" charset="-128"/>
            </a:endParaRPr>
          </a:p>
          <a:p>
            <a:r>
              <a:rPr kumimoji="1" lang="en-US" altLang="ja-JP" sz="1200" b="1" dirty="0">
                <a:solidFill>
                  <a:schemeClr val="tx1"/>
                </a:solidFill>
                <a:latin typeface="メイリオ" panose="020B0604030504040204" pitchFamily="50" charset="-128"/>
                <a:ea typeface="メイリオ" panose="020B0604030504040204" pitchFamily="50" charset="-128"/>
              </a:rPr>
              <a:t>LINEOA</a:t>
            </a:r>
            <a:r>
              <a:rPr kumimoji="1" lang="ja-JP" altLang="en-US" sz="1200" b="1" dirty="0">
                <a:solidFill>
                  <a:schemeClr val="tx1"/>
                </a:solidFill>
                <a:latin typeface="メイリオ" panose="020B0604030504040204" pitchFamily="50" charset="-128"/>
                <a:ea typeface="メイリオ" panose="020B0604030504040204" pitchFamily="50" charset="-128"/>
              </a:rPr>
              <a:t>オーガニック</a:t>
            </a:r>
            <a:endParaRPr kumimoji="1" lang="en-US" altLang="ja-JP" sz="1200" b="1"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年齢</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性別</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地域</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(MSG</a:t>
            </a:r>
            <a:r>
              <a:rPr lang="ja-JP" altLang="en-US" sz="1050" dirty="0">
                <a:solidFill>
                  <a:schemeClr val="tx1"/>
                </a:solidFill>
                <a:latin typeface="メイリオ" panose="020B0604030504040204" pitchFamily="50" charset="-128"/>
                <a:ea typeface="メイリオ" panose="020B0604030504040204" pitchFamily="50" charset="-128"/>
              </a:rPr>
              <a:t>の</a:t>
            </a:r>
            <a:r>
              <a:rPr lang="en-US" altLang="ja-JP" sz="1050" dirty="0" err="1">
                <a:solidFill>
                  <a:schemeClr val="tx1"/>
                </a:solidFill>
                <a:latin typeface="メイリオ" panose="020B0604030504040204" pitchFamily="50" charset="-128"/>
                <a:ea typeface="メイリオ" panose="020B0604030504040204" pitchFamily="50" charset="-128"/>
              </a:rPr>
              <a:t>Imp,Click</a:t>
            </a:r>
            <a:r>
              <a:rPr lang="en-US" altLang="ja-JP" sz="1050" dirty="0">
                <a:solidFill>
                  <a:schemeClr val="tx1"/>
                </a:solidFill>
                <a:latin typeface="メイリオ" panose="020B0604030504040204" pitchFamily="50" charset="-128"/>
                <a:ea typeface="メイリオ" panose="020B0604030504040204" pitchFamily="50" charset="-128"/>
              </a:rPr>
              <a:t>)</a:t>
            </a:r>
          </a:p>
          <a:p>
            <a:endParaRPr lang="en-US" altLang="ja-JP" sz="700" dirty="0">
              <a:solidFill>
                <a:schemeClr val="tx1"/>
              </a:solidFill>
              <a:latin typeface="メイリオ" panose="020B0604030504040204" pitchFamily="50" charset="-128"/>
              <a:ea typeface="メイリオ" panose="020B0604030504040204" pitchFamily="50" charset="-128"/>
            </a:endParaRPr>
          </a:p>
          <a:p>
            <a:r>
              <a:rPr lang="en-US" altLang="ja-JP" sz="1200" b="1" dirty="0">
                <a:solidFill>
                  <a:schemeClr val="tx1"/>
                </a:solidFill>
                <a:latin typeface="メイリオ" panose="020B0604030504040204" pitchFamily="50" charset="-128"/>
                <a:ea typeface="メイリオ" panose="020B0604030504040204" pitchFamily="50" charset="-128"/>
              </a:rPr>
              <a:t>LINE_API</a:t>
            </a:r>
            <a:r>
              <a:rPr lang="ja-JP" altLang="en-US" sz="1200" b="1" dirty="0">
                <a:solidFill>
                  <a:schemeClr val="tx1"/>
                </a:solidFill>
                <a:latin typeface="メイリオ" panose="020B0604030504040204" pitchFamily="50" charset="-128"/>
                <a:ea typeface="メイリオ" panose="020B0604030504040204" pitchFamily="50" charset="-128"/>
              </a:rPr>
              <a:t>ツール</a:t>
            </a:r>
            <a:r>
              <a:rPr lang="ja-JP" altLang="en-US" sz="900" b="1" dirty="0">
                <a:solidFill>
                  <a:schemeClr val="tx1"/>
                </a:solidFill>
                <a:latin typeface="メイリオ" panose="020B0604030504040204" pitchFamily="50" charset="-128"/>
                <a:ea typeface="メイリオ" panose="020B0604030504040204" pitchFamily="50" charset="-128"/>
              </a:rPr>
              <a:t> </a:t>
            </a:r>
            <a:r>
              <a:rPr lang="en-US" altLang="ja-JP" sz="900" b="1" dirty="0">
                <a:solidFill>
                  <a:srgbClr val="FF0000"/>
                </a:solidFill>
                <a:latin typeface="メイリオ" panose="020B0604030504040204" pitchFamily="50" charset="-128"/>
                <a:ea typeface="メイリオ" panose="020B0604030504040204" pitchFamily="50" charset="-128"/>
              </a:rPr>
              <a:t>※</a:t>
            </a:r>
            <a:r>
              <a:rPr lang="ja-JP" altLang="en-US" sz="900" b="1" dirty="0">
                <a:solidFill>
                  <a:srgbClr val="FF0000"/>
                </a:solidFill>
                <a:latin typeface="メイリオ" panose="020B0604030504040204" pitchFamily="50" charset="-128"/>
                <a:ea typeface="メイリオ" panose="020B0604030504040204" pitchFamily="50" charset="-128"/>
              </a:rPr>
              <a:t>有料</a:t>
            </a:r>
            <a:endParaRPr lang="en-US" altLang="ja-JP" sz="1200" b="1" dirty="0">
              <a:solidFill>
                <a:srgbClr val="FF0000"/>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アンケート結果）</a:t>
            </a:r>
            <a:endParaRPr lang="en-US" altLang="ja-JP" sz="1050"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(WEB</a:t>
            </a:r>
            <a:r>
              <a:rPr lang="ja-JP" altLang="en-US" sz="1050" dirty="0">
                <a:solidFill>
                  <a:schemeClr val="tx1"/>
                </a:solidFill>
                <a:latin typeface="メイリオ" panose="020B0604030504040204" pitchFamily="50" charset="-128"/>
                <a:ea typeface="メイリオ" panose="020B0604030504040204" pitchFamily="50" charset="-128"/>
              </a:rPr>
              <a:t>サイトアクション</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リマインド</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再通知</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(ID</a:t>
            </a:r>
            <a:r>
              <a:rPr lang="ja-JP" altLang="en-US" sz="1050" dirty="0">
                <a:solidFill>
                  <a:schemeClr val="tx1"/>
                </a:solidFill>
                <a:latin typeface="メイリオ" panose="020B0604030504040204" pitchFamily="50" charset="-128"/>
                <a:ea typeface="メイリオ" panose="020B0604030504040204" pitchFamily="50" charset="-128"/>
              </a:rPr>
              <a:t>連携した情報ベース</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ユーザー一覧を取得</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a:t>
            </a:r>
            <a:r>
              <a:rPr lang="en-US" altLang="ja-JP" sz="1050" dirty="0">
                <a:solidFill>
                  <a:schemeClr val="tx1"/>
                </a:solidFill>
                <a:latin typeface="メイリオ" panose="020B0604030504040204" pitchFamily="50" charset="-128"/>
                <a:ea typeface="メイリオ" panose="020B0604030504040204" pitchFamily="50" charset="-128"/>
              </a:rPr>
              <a:t>ID</a:t>
            </a:r>
            <a:r>
              <a:rPr lang="ja-JP" altLang="en-US" sz="1050" dirty="0">
                <a:solidFill>
                  <a:schemeClr val="tx1"/>
                </a:solidFill>
                <a:latin typeface="メイリオ" panose="020B0604030504040204" pitchFamily="50" charset="-128"/>
                <a:ea typeface="メイリオ" panose="020B0604030504040204" pitchFamily="50" charset="-128"/>
              </a:rPr>
              <a:t>アップロード</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地点別スコアリング</a:t>
            </a:r>
            <a:r>
              <a:rPr lang="en-US" altLang="ja-JP" sz="1050" dirty="0">
                <a:solidFill>
                  <a:schemeClr val="tx1"/>
                </a:solidFill>
                <a:latin typeface="メイリオ" panose="020B0604030504040204" pitchFamily="50" charset="-128"/>
                <a:ea typeface="メイリオ" panose="020B0604030504040204" pitchFamily="50" charset="-128"/>
              </a:rPr>
              <a:t>)</a:t>
            </a:r>
          </a:p>
          <a:p>
            <a:endParaRPr lang="en-US" altLang="ja-JP" sz="1050" dirty="0">
              <a:solidFill>
                <a:schemeClr val="tx1"/>
              </a:solidFill>
              <a:latin typeface="メイリオ" panose="020B0604030504040204" pitchFamily="50" charset="-128"/>
              <a:ea typeface="メイリオ" panose="020B0604030504040204" pitchFamily="50" charset="-128"/>
            </a:endParaRPr>
          </a:p>
          <a:p>
            <a:endParaRPr lang="en-US" altLang="ja-JP" sz="1050" dirty="0">
              <a:solidFill>
                <a:schemeClr val="tx1"/>
              </a:solidFill>
              <a:latin typeface="メイリオ" panose="020B0604030504040204" pitchFamily="50" charset="-128"/>
              <a:ea typeface="メイリオ" panose="020B0604030504040204" pitchFamily="50" charset="-128"/>
            </a:endParaRPr>
          </a:p>
          <a:p>
            <a:endParaRPr lang="en-US" altLang="ja-JP" sz="1050" dirty="0">
              <a:solidFill>
                <a:schemeClr val="tx1"/>
              </a:solidFill>
              <a:latin typeface="メイリオ" panose="020B0604030504040204" pitchFamily="50" charset="-128"/>
              <a:ea typeface="メイリオ" panose="020B0604030504040204" pitchFamily="50" charset="-128"/>
            </a:endParaRPr>
          </a:p>
          <a:p>
            <a:r>
              <a:rPr lang="en-US" altLang="ja-JP" sz="1050" b="1" dirty="0">
                <a:solidFill>
                  <a:schemeClr val="tx1"/>
                </a:solidFill>
                <a:latin typeface="メイリオ" panose="020B0604030504040204" pitchFamily="50" charset="-128"/>
                <a:ea typeface="メイリオ" panose="020B0604030504040204" pitchFamily="50" charset="-128"/>
              </a:rPr>
              <a:t>※MA</a:t>
            </a:r>
            <a:r>
              <a:rPr lang="ja-JP" altLang="en-US" sz="1050" b="1" dirty="0">
                <a:solidFill>
                  <a:schemeClr val="tx1"/>
                </a:solidFill>
                <a:latin typeface="メイリオ" panose="020B0604030504040204" pitchFamily="50" charset="-128"/>
                <a:ea typeface="メイリオ" panose="020B0604030504040204" pitchFamily="50" charset="-128"/>
              </a:rPr>
              <a:t>、</a:t>
            </a:r>
            <a:r>
              <a:rPr lang="en-US" altLang="ja-JP" sz="1050" b="1" dirty="0">
                <a:solidFill>
                  <a:schemeClr val="tx1"/>
                </a:solidFill>
                <a:latin typeface="メイリオ" panose="020B0604030504040204" pitchFamily="50" charset="-128"/>
                <a:ea typeface="メイリオ" panose="020B0604030504040204" pitchFamily="50" charset="-128"/>
              </a:rPr>
              <a:t>CRM</a:t>
            </a:r>
            <a:r>
              <a:rPr lang="ja-JP" altLang="en-US" sz="1050" b="1" dirty="0">
                <a:solidFill>
                  <a:schemeClr val="tx1"/>
                </a:solidFill>
                <a:latin typeface="メイリオ" panose="020B0604030504040204" pitchFamily="50" charset="-128"/>
                <a:ea typeface="メイリオ" panose="020B0604030504040204" pitchFamily="50" charset="-128"/>
              </a:rPr>
              <a:t>との連携</a:t>
            </a:r>
            <a:endParaRPr lang="en-US" altLang="ja-JP" sz="1050" b="1"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購入・リードデータ</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ユーザー情報</a:t>
            </a:r>
            <a:r>
              <a:rPr lang="ja-JP" altLang="en-US" sz="900" dirty="0">
                <a:solidFill>
                  <a:schemeClr val="tx1"/>
                </a:solidFill>
                <a:latin typeface="メイリオ" panose="020B0604030504040204" pitchFamily="50" charset="-128"/>
                <a:ea typeface="メイリオ" panose="020B0604030504040204" pitchFamily="50" charset="-128"/>
              </a:rPr>
              <a:t> </a:t>
            </a:r>
            <a:r>
              <a:rPr lang="en-US" altLang="ja-JP" sz="900" dirty="0">
                <a:solidFill>
                  <a:schemeClr val="tx1"/>
                </a:solidFill>
                <a:latin typeface="メイリオ" panose="020B0604030504040204" pitchFamily="50" charset="-128"/>
                <a:ea typeface="メイリオ" panose="020B0604030504040204" pitchFamily="50" charset="-128"/>
              </a:rPr>
              <a:t>※</a:t>
            </a:r>
            <a:r>
              <a:rPr lang="ja-JP" altLang="en-US" sz="900" dirty="0">
                <a:solidFill>
                  <a:schemeClr val="tx1"/>
                </a:solidFill>
                <a:latin typeface="メイリオ" panose="020B0604030504040204" pitchFamily="50" charset="-128"/>
                <a:ea typeface="メイリオ" panose="020B0604030504040204" pitchFamily="50" charset="-128"/>
              </a:rPr>
              <a:t>詳細</a:t>
            </a:r>
            <a:r>
              <a:rPr lang="en-US" altLang="ja-JP" sz="1050" dirty="0">
                <a:solidFill>
                  <a:schemeClr val="tx1"/>
                </a:solidFill>
                <a:latin typeface="メイリオ" panose="020B0604030504040204" pitchFamily="50" charset="-128"/>
                <a:ea typeface="メイリオ" panose="020B0604030504040204" pitchFamily="50" charset="-128"/>
              </a:rPr>
              <a:t>)</a:t>
            </a:r>
          </a:p>
        </p:txBody>
      </p:sp>
      <p:sp>
        <p:nvSpPr>
          <p:cNvPr id="36" name="テキスト ボックス 35">
            <a:extLst>
              <a:ext uri="{FF2B5EF4-FFF2-40B4-BE49-F238E27FC236}">
                <a16:creationId xmlns:a16="http://schemas.microsoft.com/office/drawing/2014/main" id="{F47CAADD-ECBD-1DCC-19D6-6433C921622E}"/>
              </a:ext>
            </a:extLst>
          </p:cNvPr>
          <p:cNvSpPr txBox="1"/>
          <p:nvPr/>
        </p:nvSpPr>
        <p:spPr>
          <a:xfrm>
            <a:off x="2178040" y="2694449"/>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47" name="テキスト ボックス 46">
            <a:extLst>
              <a:ext uri="{FF2B5EF4-FFF2-40B4-BE49-F238E27FC236}">
                <a16:creationId xmlns:a16="http://schemas.microsoft.com/office/drawing/2014/main" id="{00802062-F552-1DFA-430A-41800E76A220}"/>
              </a:ext>
            </a:extLst>
          </p:cNvPr>
          <p:cNvSpPr txBox="1"/>
          <p:nvPr/>
        </p:nvSpPr>
        <p:spPr>
          <a:xfrm>
            <a:off x="2370382" y="1773237"/>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49" name="テキスト ボックス 48">
            <a:extLst>
              <a:ext uri="{FF2B5EF4-FFF2-40B4-BE49-F238E27FC236}">
                <a16:creationId xmlns:a16="http://schemas.microsoft.com/office/drawing/2014/main" id="{CDCAB868-C79D-2212-70C3-9EF559F32C21}"/>
              </a:ext>
            </a:extLst>
          </p:cNvPr>
          <p:cNvSpPr txBox="1"/>
          <p:nvPr/>
        </p:nvSpPr>
        <p:spPr>
          <a:xfrm>
            <a:off x="2456844" y="3619396"/>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1" name="テキスト ボックス 50">
            <a:extLst>
              <a:ext uri="{FF2B5EF4-FFF2-40B4-BE49-F238E27FC236}">
                <a16:creationId xmlns:a16="http://schemas.microsoft.com/office/drawing/2014/main" id="{E2ECFC3F-A285-F105-30CE-9144EBB24A11}"/>
              </a:ext>
            </a:extLst>
          </p:cNvPr>
          <p:cNvSpPr txBox="1"/>
          <p:nvPr/>
        </p:nvSpPr>
        <p:spPr>
          <a:xfrm>
            <a:off x="2518621" y="4576567"/>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3" name="テキスト ボックス 52">
            <a:extLst>
              <a:ext uri="{FF2B5EF4-FFF2-40B4-BE49-F238E27FC236}">
                <a16:creationId xmlns:a16="http://schemas.microsoft.com/office/drawing/2014/main" id="{39AB193A-8274-ABE1-CD3D-54790C3264F6}"/>
              </a:ext>
            </a:extLst>
          </p:cNvPr>
          <p:cNvSpPr txBox="1"/>
          <p:nvPr/>
        </p:nvSpPr>
        <p:spPr>
          <a:xfrm>
            <a:off x="2210158" y="5478733"/>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6" name="テキスト ボックス 55">
            <a:extLst>
              <a:ext uri="{FF2B5EF4-FFF2-40B4-BE49-F238E27FC236}">
                <a16:creationId xmlns:a16="http://schemas.microsoft.com/office/drawing/2014/main" id="{096A37B9-CA3D-92C9-1405-86C6FFCD8C5A}"/>
              </a:ext>
            </a:extLst>
          </p:cNvPr>
          <p:cNvSpPr txBox="1"/>
          <p:nvPr/>
        </p:nvSpPr>
        <p:spPr>
          <a:xfrm>
            <a:off x="2214724" y="5963211"/>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8" name="テキスト ボックス 57">
            <a:extLst>
              <a:ext uri="{FF2B5EF4-FFF2-40B4-BE49-F238E27FC236}">
                <a16:creationId xmlns:a16="http://schemas.microsoft.com/office/drawing/2014/main" id="{AA71FB07-E583-8196-5077-2EAA10A61A0F}"/>
              </a:ext>
            </a:extLst>
          </p:cNvPr>
          <p:cNvSpPr txBox="1"/>
          <p:nvPr/>
        </p:nvSpPr>
        <p:spPr>
          <a:xfrm>
            <a:off x="285223" y="6291679"/>
            <a:ext cx="2547258" cy="215444"/>
          </a:xfrm>
          <a:prstGeom prst="rect">
            <a:avLst/>
          </a:prstGeom>
          <a:noFill/>
        </p:spPr>
        <p:txBody>
          <a:bodyPr wrap="square">
            <a:spAutoFit/>
          </a:bodyPr>
          <a:lstStyle/>
          <a:p>
            <a:pPr algn="ct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その他</a:t>
            </a:r>
            <a:r>
              <a:rPr kumimoji="1" lang="en-US" altLang="ja-JP" sz="800" dirty="0">
                <a:solidFill>
                  <a:schemeClr val="bg1">
                    <a:lumMod val="50000"/>
                  </a:schemeClr>
                </a:solidFill>
                <a:latin typeface="メイリオ" panose="020B0604030504040204" pitchFamily="50" charset="-128"/>
                <a:ea typeface="メイリオ" panose="020B0604030504040204" pitchFamily="50" charset="-128"/>
              </a:rPr>
              <a:t>WEB</a:t>
            </a: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サイト動線整備、プレスリリース等</a:t>
            </a:r>
            <a:endParaRPr lang="ja-JP" altLang="en-US" sz="800" dirty="0">
              <a:solidFill>
                <a:schemeClr val="bg1">
                  <a:lumMod val="50000"/>
                </a:schemeClr>
              </a:solidFill>
            </a:endParaRPr>
          </a:p>
        </p:txBody>
      </p:sp>
      <p:sp>
        <p:nvSpPr>
          <p:cNvPr id="6" name="テキスト ボックス 5">
            <a:extLst>
              <a:ext uri="{FF2B5EF4-FFF2-40B4-BE49-F238E27FC236}">
                <a16:creationId xmlns:a16="http://schemas.microsoft.com/office/drawing/2014/main" id="{F3BE3835-FB68-0C7D-7CED-C40A02A19AB2}"/>
              </a:ext>
            </a:extLst>
          </p:cNvPr>
          <p:cNvSpPr txBox="1"/>
          <p:nvPr/>
        </p:nvSpPr>
        <p:spPr>
          <a:xfrm>
            <a:off x="6149585" y="3424747"/>
            <a:ext cx="1174939"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数量により変動</a:t>
            </a:r>
            <a:endParaRPr lang="ja-JP" altLang="en-US" sz="800" dirty="0"/>
          </a:p>
        </p:txBody>
      </p:sp>
      <p:sp>
        <p:nvSpPr>
          <p:cNvPr id="7" name="テキスト ボックス 6">
            <a:extLst>
              <a:ext uri="{FF2B5EF4-FFF2-40B4-BE49-F238E27FC236}">
                <a16:creationId xmlns:a16="http://schemas.microsoft.com/office/drawing/2014/main" id="{F47E1216-C9D3-60D3-B3E8-43E38B5791F4}"/>
              </a:ext>
            </a:extLst>
          </p:cNvPr>
          <p:cNvSpPr txBox="1"/>
          <p:nvPr/>
        </p:nvSpPr>
        <p:spPr>
          <a:xfrm>
            <a:off x="3587357" y="6286698"/>
            <a:ext cx="4128437" cy="215444"/>
          </a:xfrm>
          <a:prstGeom prst="rect">
            <a:avLst/>
          </a:prstGeom>
          <a:noFill/>
        </p:spPr>
        <p:txBody>
          <a:bodyPr wrap="square">
            <a:spAutoFit/>
          </a:bodyPr>
          <a:lstStyle/>
          <a:p>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　</a:t>
            </a:r>
            <a:r>
              <a:rPr kumimoji="1" lang="en-US" altLang="ja-JP" sz="800" dirty="0">
                <a:solidFill>
                  <a:schemeClr val="bg1">
                    <a:lumMod val="50000"/>
                  </a:schemeClr>
                </a:solidFill>
                <a:latin typeface="メイリオ" panose="020B0604030504040204" pitchFamily="50" charset="-128"/>
                <a:ea typeface="メイリオ" panose="020B0604030504040204" pitchFamily="50" charset="-128"/>
              </a:rPr>
              <a:t>※</a:t>
            </a: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クリエイティブ費用は基本的に内包、開発費用は別途見積もりとなります。</a:t>
            </a:r>
            <a:endParaRPr lang="ja-JP" altLang="en-US" sz="800" dirty="0">
              <a:solidFill>
                <a:schemeClr val="bg1">
                  <a:lumMod val="50000"/>
                </a:schemeClr>
              </a:solidFill>
            </a:endParaRPr>
          </a:p>
        </p:txBody>
      </p:sp>
      <p:sp>
        <p:nvSpPr>
          <p:cNvPr id="13" name="正方形/長方形 12">
            <a:extLst>
              <a:ext uri="{FF2B5EF4-FFF2-40B4-BE49-F238E27FC236}">
                <a16:creationId xmlns:a16="http://schemas.microsoft.com/office/drawing/2014/main" id="{9256C170-205B-2224-D69D-D964BF991C26}"/>
              </a:ext>
            </a:extLst>
          </p:cNvPr>
          <p:cNvSpPr/>
          <p:nvPr/>
        </p:nvSpPr>
        <p:spPr>
          <a:xfrm>
            <a:off x="7664076" y="1733928"/>
            <a:ext cx="1904982" cy="4562295"/>
          </a:xfrm>
          <a:prstGeom prst="rect">
            <a:avLst/>
          </a:prstGeom>
          <a:solidFill>
            <a:schemeClr val="bg1">
              <a:alpha val="5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endParaRPr>
          </a:p>
        </p:txBody>
      </p:sp>
    </p:spTree>
    <p:extLst>
      <p:ext uri="{BB962C8B-B14F-4D97-AF65-F5344CB8AC3E}">
        <p14:creationId xmlns:p14="http://schemas.microsoft.com/office/powerpoint/2010/main" val="13354487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C836A-F13C-1973-53EF-92ADF9F85FF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A8856EBE-32D8-42F5-9D61-C53BF60EFB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施策展開図</a:t>
            </a:r>
          </a:p>
        </p:txBody>
      </p:sp>
      <p:sp>
        <p:nvSpPr>
          <p:cNvPr id="9" name="正方形/長方形 8">
            <a:extLst>
              <a:ext uri="{FF2B5EF4-FFF2-40B4-BE49-F238E27FC236}">
                <a16:creationId xmlns:a16="http://schemas.microsoft.com/office/drawing/2014/main" id="{A6340BD7-9269-59A1-EA69-7426F07778B6}"/>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7C701305-F75E-4087-21C2-FA3CCCA8FB67}"/>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施策は、</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友だちの新規追加</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と</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友だちの育成・</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着地</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の動線が重要。</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企画投稿（毎月）とステップ配信（定常的に運営）を組み合わせて最適動線に。</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5" name="正方形/長方形 24">
            <a:extLst>
              <a:ext uri="{FF2B5EF4-FFF2-40B4-BE49-F238E27FC236}">
                <a16:creationId xmlns:a16="http://schemas.microsoft.com/office/drawing/2014/main" id="{1A40E6EC-1B5E-5E46-EF89-1167C08649BA}"/>
              </a:ext>
            </a:extLst>
          </p:cNvPr>
          <p:cNvSpPr/>
          <p:nvPr/>
        </p:nvSpPr>
        <p:spPr>
          <a:xfrm>
            <a:off x="963202" y="3662763"/>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友だち追加後</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31" name="図 30">
            <a:extLst>
              <a:ext uri="{FF2B5EF4-FFF2-40B4-BE49-F238E27FC236}">
                <a16:creationId xmlns:a16="http://schemas.microsoft.com/office/drawing/2014/main" id="{2FE26F6B-D35B-6A6B-42D2-794437452752}"/>
              </a:ext>
            </a:extLst>
          </p:cNvPr>
          <p:cNvPicPr>
            <a:picLocks noChangeAspect="1"/>
          </p:cNvPicPr>
          <p:nvPr/>
        </p:nvPicPr>
        <p:blipFill>
          <a:blip r:embed="rId2"/>
          <a:stretch>
            <a:fillRect/>
          </a:stretch>
        </p:blipFill>
        <p:spPr>
          <a:xfrm>
            <a:off x="776401" y="3566663"/>
            <a:ext cx="582602" cy="543237"/>
          </a:xfrm>
          <a:prstGeom prst="rect">
            <a:avLst/>
          </a:prstGeom>
        </p:spPr>
      </p:pic>
      <p:sp>
        <p:nvSpPr>
          <p:cNvPr id="34" name="正方形/長方形 33">
            <a:extLst>
              <a:ext uri="{FF2B5EF4-FFF2-40B4-BE49-F238E27FC236}">
                <a16:creationId xmlns:a16="http://schemas.microsoft.com/office/drawing/2014/main" id="{39403F1B-B20A-C75C-8FCB-74AAD1581A2F}"/>
              </a:ext>
            </a:extLst>
          </p:cNvPr>
          <p:cNvSpPr/>
          <p:nvPr/>
        </p:nvSpPr>
        <p:spPr>
          <a:xfrm>
            <a:off x="686977" y="2019915"/>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LP</a:t>
            </a: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HP</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35" name="図 34" descr="lpデザインイラスト｜無料イラスト・フリー素材なら「イラストAC」">
            <a:extLst>
              <a:ext uri="{FF2B5EF4-FFF2-40B4-BE49-F238E27FC236}">
                <a16:creationId xmlns:a16="http://schemas.microsoft.com/office/drawing/2014/main" id="{EA2CF7EC-851A-10FF-17B6-E422C43BD10B}"/>
              </a:ext>
            </a:extLst>
          </p:cNvPr>
          <p:cNvPicPr>
            <a:picLocks noChangeAspect="1"/>
          </p:cNvPicPr>
          <p:nvPr/>
        </p:nvPicPr>
        <p:blipFill>
          <a:blip r:embed="rId3"/>
          <a:stretch>
            <a:fillRect/>
          </a:stretch>
        </p:blipFill>
        <p:spPr>
          <a:xfrm>
            <a:off x="272658" y="1875286"/>
            <a:ext cx="853665" cy="640720"/>
          </a:xfrm>
          <a:prstGeom prst="rect">
            <a:avLst/>
          </a:prstGeom>
        </p:spPr>
      </p:pic>
      <p:sp>
        <p:nvSpPr>
          <p:cNvPr id="40" name="矢印: 下 39">
            <a:extLst>
              <a:ext uri="{FF2B5EF4-FFF2-40B4-BE49-F238E27FC236}">
                <a16:creationId xmlns:a16="http://schemas.microsoft.com/office/drawing/2014/main" id="{0D54B1A9-3944-66DE-F219-BB4192EDE144}"/>
              </a:ext>
            </a:extLst>
          </p:cNvPr>
          <p:cNvSpPr/>
          <p:nvPr/>
        </p:nvSpPr>
        <p:spPr>
          <a:xfrm>
            <a:off x="3290805" y="3630924"/>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矢印: 下 40">
            <a:extLst>
              <a:ext uri="{FF2B5EF4-FFF2-40B4-BE49-F238E27FC236}">
                <a16:creationId xmlns:a16="http://schemas.microsoft.com/office/drawing/2014/main" id="{781A5984-3599-DC05-2E88-6BB61F188EB3}"/>
              </a:ext>
            </a:extLst>
          </p:cNvPr>
          <p:cNvSpPr/>
          <p:nvPr/>
        </p:nvSpPr>
        <p:spPr>
          <a:xfrm>
            <a:off x="5657443" y="3630924"/>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矢印: 下 41">
            <a:extLst>
              <a:ext uri="{FF2B5EF4-FFF2-40B4-BE49-F238E27FC236}">
                <a16:creationId xmlns:a16="http://schemas.microsoft.com/office/drawing/2014/main" id="{1C76D7C3-BFEE-8DA3-57FA-033BD7E35285}"/>
              </a:ext>
            </a:extLst>
          </p:cNvPr>
          <p:cNvSpPr/>
          <p:nvPr/>
        </p:nvSpPr>
        <p:spPr>
          <a:xfrm>
            <a:off x="5657443" y="2019915"/>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矢印: 下 42">
            <a:extLst>
              <a:ext uri="{FF2B5EF4-FFF2-40B4-BE49-F238E27FC236}">
                <a16:creationId xmlns:a16="http://schemas.microsoft.com/office/drawing/2014/main" id="{4E9F9DC2-BA49-A440-DA89-D45BC9E52C3A}"/>
              </a:ext>
            </a:extLst>
          </p:cNvPr>
          <p:cNvSpPr/>
          <p:nvPr/>
        </p:nvSpPr>
        <p:spPr>
          <a:xfrm>
            <a:off x="3290805" y="5241933"/>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矢印: 下 43">
            <a:extLst>
              <a:ext uri="{FF2B5EF4-FFF2-40B4-BE49-F238E27FC236}">
                <a16:creationId xmlns:a16="http://schemas.microsoft.com/office/drawing/2014/main" id="{6915D3B6-2B4C-5707-CB40-2696B722BA40}"/>
              </a:ext>
            </a:extLst>
          </p:cNvPr>
          <p:cNvSpPr/>
          <p:nvPr/>
        </p:nvSpPr>
        <p:spPr>
          <a:xfrm>
            <a:off x="5657443" y="5241933"/>
            <a:ext cx="792480" cy="1246418"/>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正方形/長方形 45">
            <a:extLst>
              <a:ext uri="{FF2B5EF4-FFF2-40B4-BE49-F238E27FC236}">
                <a16:creationId xmlns:a16="http://schemas.microsoft.com/office/drawing/2014/main" id="{D988BB36-5119-99B1-DF59-D4B80D30745C}"/>
              </a:ext>
            </a:extLst>
          </p:cNvPr>
          <p:cNvSpPr/>
          <p:nvPr/>
        </p:nvSpPr>
        <p:spPr>
          <a:xfrm>
            <a:off x="963202" y="5305611"/>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具体アクション</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48" name="図 47">
            <a:extLst>
              <a:ext uri="{FF2B5EF4-FFF2-40B4-BE49-F238E27FC236}">
                <a16:creationId xmlns:a16="http://schemas.microsoft.com/office/drawing/2014/main" id="{FE05BA15-FE69-7259-F5B1-7935A92DDFC1}"/>
              </a:ext>
            </a:extLst>
          </p:cNvPr>
          <p:cNvPicPr>
            <a:picLocks noChangeAspect="1"/>
          </p:cNvPicPr>
          <p:nvPr/>
        </p:nvPicPr>
        <p:blipFill>
          <a:blip r:embed="rId2"/>
          <a:stretch>
            <a:fillRect/>
          </a:stretch>
        </p:blipFill>
        <p:spPr>
          <a:xfrm>
            <a:off x="776401" y="5203250"/>
            <a:ext cx="582602" cy="543237"/>
          </a:xfrm>
          <a:prstGeom prst="rect">
            <a:avLst/>
          </a:prstGeom>
        </p:spPr>
      </p:pic>
      <p:sp>
        <p:nvSpPr>
          <p:cNvPr id="68" name="矢印: 下 67">
            <a:extLst>
              <a:ext uri="{FF2B5EF4-FFF2-40B4-BE49-F238E27FC236}">
                <a16:creationId xmlns:a16="http://schemas.microsoft.com/office/drawing/2014/main" id="{552BBE13-4EF3-7D14-9401-EE47B669E0A1}"/>
              </a:ext>
            </a:extLst>
          </p:cNvPr>
          <p:cNvSpPr/>
          <p:nvPr/>
        </p:nvSpPr>
        <p:spPr>
          <a:xfrm>
            <a:off x="8023941" y="3630924"/>
            <a:ext cx="792480" cy="1246418"/>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矢印: 下 68">
            <a:extLst>
              <a:ext uri="{FF2B5EF4-FFF2-40B4-BE49-F238E27FC236}">
                <a16:creationId xmlns:a16="http://schemas.microsoft.com/office/drawing/2014/main" id="{1CE2AD45-B81D-8C9E-9BEA-EE8F41408D09}"/>
              </a:ext>
            </a:extLst>
          </p:cNvPr>
          <p:cNvSpPr/>
          <p:nvPr/>
        </p:nvSpPr>
        <p:spPr>
          <a:xfrm>
            <a:off x="8023941" y="5241933"/>
            <a:ext cx="792480" cy="1246418"/>
          </a:xfrm>
          <a:prstGeom prst="downArrow">
            <a:avLst/>
          </a:prstGeom>
          <a:gradFill>
            <a:gsLst>
              <a:gs pos="4000">
                <a:schemeClr val="bg1"/>
              </a:gs>
              <a:gs pos="100000">
                <a:schemeClr val="bg1">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矢印: 下 69">
            <a:extLst>
              <a:ext uri="{FF2B5EF4-FFF2-40B4-BE49-F238E27FC236}">
                <a16:creationId xmlns:a16="http://schemas.microsoft.com/office/drawing/2014/main" id="{841F38E6-682B-0593-E7F1-B970924D2312}"/>
              </a:ext>
            </a:extLst>
          </p:cNvPr>
          <p:cNvSpPr/>
          <p:nvPr/>
        </p:nvSpPr>
        <p:spPr>
          <a:xfrm>
            <a:off x="8007886" y="2028495"/>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正方形/長方形 71">
            <a:extLst>
              <a:ext uri="{FF2B5EF4-FFF2-40B4-BE49-F238E27FC236}">
                <a16:creationId xmlns:a16="http://schemas.microsoft.com/office/drawing/2014/main" id="{EB9A5047-E824-A278-1DE7-38BCB5F653E4}"/>
              </a:ext>
            </a:extLst>
          </p:cNvPr>
          <p:cNvSpPr/>
          <p:nvPr/>
        </p:nvSpPr>
        <p:spPr>
          <a:xfrm>
            <a:off x="2835604" y="2013850"/>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その他動線</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grpSp>
        <p:nvGrpSpPr>
          <p:cNvPr id="18" name="グループ化 17">
            <a:extLst>
              <a:ext uri="{FF2B5EF4-FFF2-40B4-BE49-F238E27FC236}">
                <a16:creationId xmlns:a16="http://schemas.microsoft.com/office/drawing/2014/main" id="{D0BB931D-9C48-0F74-78B7-B39FB7567FB3}"/>
              </a:ext>
            </a:extLst>
          </p:cNvPr>
          <p:cNvGrpSpPr/>
          <p:nvPr/>
        </p:nvGrpSpPr>
        <p:grpSpPr>
          <a:xfrm>
            <a:off x="2497445" y="1791214"/>
            <a:ext cx="885030" cy="827297"/>
            <a:chOff x="2497445" y="1791214"/>
            <a:chExt cx="885030" cy="827297"/>
          </a:xfrm>
        </p:grpSpPr>
        <p:pic>
          <p:nvPicPr>
            <p:cNvPr id="73" name="図 72">
              <a:extLst>
                <a:ext uri="{FF2B5EF4-FFF2-40B4-BE49-F238E27FC236}">
                  <a16:creationId xmlns:a16="http://schemas.microsoft.com/office/drawing/2014/main" id="{95316F7A-1FC1-3A66-5456-79F5F636388C}"/>
                </a:ext>
              </a:extLst>
            </p:cNvPr>
            <p:cNvPicPr>
              <a:picLocks noChangeAspect="1"/>
            </p:cNvPicPr>
            <p:nvPr/>
          </p:nvPicPr>
          <p:blipFill>
            <a:blip r:embed="rId4"/>
            <a:stretch>
              <a:fillRect/>
            </a:stretch>
          </p:blipFill>
          <p:spPr>
            <a:xfrm>
              <a:off x="2497445" y="1791214"/>
              <a:ext cx="420559" cy="556499"/>
            </a:xfrm>
            <a:prstGeom prst="rect">
              <a:avLst/>
            </a:prstGeom>
          </p:spPr>
        </p:pic>
        <p:pic>
          <p:nvPicPr>
            <p:cNvPr id="74" name="図 73" descr="生活・その他】SNSとスマホのかわいいフリーイラスト | フタバのフリーイラスト">
              <a:extLst>
                <a:ext uri="{FF2B5EF4-FFF2-40B4-BE49-F238E27FC236}">
                  <a16:creationId xmlns:a16="http://schemas.microsoft.com/office/drawing/2014/main" id="{425A3C52-3D63-0CC5-2649-471F74876F03}"/>
                </a:ext>
              </a:extLst>
            </p:cNvPr>
            <p:cNvPicPr>
              <a:picLocks noChangeAspect="1"/>
            </p:cNvPicPr>
            <p:nvPr/>
          </p:nvPicPr>
          <p:blipFill>
            <a:blip r:embed="rId5"/>
            <a:stretch>
              <a:fillRect/>
            </a:stretch>
          </p:blipFill>
          <p:spPr>
            <a:xfrm>
              <a:off x="2610493" y="1846529"/>
              <a:ext cx="771982" cy="771982"/>
            </a:xfrm>
            <a:prstGeom prst="rect">
              <a:avLst/>
            </a:prstGeom>
          </p:spPr>
        </p:pic>
      </p:grpSp>
      <p:sp>
        <p:nvSpPr>
          <p:cNvPr id="76" name="テキスト ボックス 75">
            <a:extLst>
              <a:ext uri="{FF2B5EF4-FFF2-40B4-BE49-F238E27FC236}">
                <a16:creationId xmlns:a16="http://schemas.microsoft.com/office/drawing/2014/main" id="{A26D9D0D-8E50-52D9-7E65-8B19393671D2}"/>
              </a:ext>
            </a:extLst>
          </p:cNvPr>
          <p:cNvSpPr txBox="1"/>
          <p:nvPr/>
        </p:nvSpPr>
        <p:spPr>
          <a:xfrm>
            <a:off x="4820619" y="2013850"/>
            <a:ext cx="2466126" cy="861774"/>
          </a:xfrm>
          <a:prstGeom prst="rect">
            <a:avLst/>
          </a:prstGeom>
          <a:solidFill>
            <a:schemeClr val="bg1">
              <a:alpha val="20000"/>
            </a:schemeClr>
          </a:solidFill>
        </p:spPr>
        <p:txBody>
          <a:bodyPr wrap="square" lIns="36000" rIns="28800" tIns="21600" bIns="14400" anchor="t">
            <a:spAutoFit/>
          </a:bodyPr>
          <a:lstStyle/>
          <a:p>
            <a:pPr algn="l">
              <a:lnSpc>
                <a:spcPct val="120000"/>
              </a:lnSpc>
            </a:pPr>
            <a:r>
              <a:rPr sz="800" b="1">
                <a:solidFill>
                  <a:srgbClr val="1F285A"/>
                </a:solidFill>
                <a:latin typeface="メイリオ"/>
                <a:ea typeface="メイリオ"/>
                <a:cs typeface="メイリオ"/>
              </a:rPr>
              <a:t>◯LINE友だち追加のメリット提示</a:t>
            </a:r>
            <a:endParaRPr lang="en-US" altLang="ja-JP" sz="1000" b="1" dirty="0">
              <a:latin typeface="メイリオ" panose="020B0604030504040204" pitchFamily="50" charset="-128"/>
              <a:ea typeface="メイリオ" panose="020B0604030504040204" pitchFamily="50" charset="-128"/>
              <a:cs typeface="Meiryo"/>
              <a:sym typeface="Meiryo"/>
            </a:endParaRPr>
          </a:p>
          <a:p>
            <a:pPr algn="l">
              <a:lnSpc>
                <a:spcPct val="120000"/>
              </a:lnSpc>
            </a:pPr>
            <a:r>
              <a:rPr sz="800">
                <a:solidFill>
                  <a:srgbClr val="333333"/>
                </a:solidFill>
                <a:latin typeface="メイリオ"/>
                <a:ea typeface="メイリオ"/>
                <a:cs typeface="メイリオ"/>
              </a:rPr>
              <a:t>✓60秒予算診断　✓総額の内訳資料</a:t>
            </a:r>
          </a:p>
          <a:p>
            <a:pPr algn="l">
              <a:lnSpc>
                <a:spcPct val="120000"/>
              </a:lnSpc>
            </a:pPr>
            <a:r>
              <a:rPr sz="800">
                <a:solidFill>
                  <a:srgbClr val="333333"/>
                </a:solidFill>
                <a:latin typeface="メイリオ"/>
                <a:ea typeface="メイリオ"/>
                <a:cs typeface="メイリオ"/>
              </a:rPr>
              <a:t/>
            </a:r>
          </a:p>
          <a:p>
            <a:pPr algn="l">
              <a:lnSpc>
                <a:spcPct val="120000"/>
              </a:lnSpc>
            </a:pPr>
            <a:r>
              <a:rPr sz="800" b="1">
                <a:solidFill>
                  <a:srgbClr val="1F285A"/>
                </a:solidFill>
                <a:latin typeface="メイリオ"/>
                <a:ea typeface="メイリオ"/>
                <a:cs typeface="メイリオ"/>
              </a:rPr>
              <a:t>◯LINE上でのコミュニケーション誘導</a:t>
            </a:r>
          </a:p>
          <a:p>
            <a:pPr algn="l">
              <a:lnSpc>
                <a:spcPct val="120000"/>
              </a:lnSpc>
            </a:pPr>
            <a:r>
              <a:rPr sz="800">
                <a:solidFill>
                  <a:srgbClr val="333333"/>
                </a:solidFill>
                <a:latin typeface="メイリオ"/>
                <a:ea typeface="メイリオ"/>
                <a:cs typeface="メイリオ"/>
              </a:rPr>
              <a:t>✓LINEで資金相談　✓LINEで土地相談</a:t>
            </a:r>
          </a:p>
        </p:txBody>
      </p:sp>
      <p:sp>
        <p:nvSpPr>
          <p:cNvPr id="77" name="テキスト ボックス 76">
            <a:extLst>
              <a:ext uri="{FF2B5EF4-FFF2-40B4-BE49-F238E27FC236}">
                <a16:creationId xmlns:a16="http://schemas.microsoft.com/office/drawing/2014/main" id="{CFFD44FF-E632-A42A-AFD2-C978D5EB4382}"/>
              </a:ext>
            </a:extLst>
          </p:cNvPr>
          <p:cNvSpPr txBox="1"/>
          <p:nvPr/>
        </p:nvSpPr>
        <p:spPr>
          <a:xfrm>
            <a:off x="7498219" y="2013850"/>
            <a:ext cx="1852837" cy="861774"/>
          </a:xfrm>
          <a:prstGeom prst="rect">
            <a:avLst/>
          </a:prstGeom>
          <a:solidFill>
            <a:schemeClr val="bg1">
              <a:alpha val="20000"/>
            </a:schemeClr>
          </a:solidFill>
        </p:spPr>
        <p:txBody>
          <a:bodyPr wrap="square" lIns="36000" rIns="28800" tIns="21600" bIns="14400" anchor="t">
            <a:spAutoFit/>
          </a:bodyPr>
          <a:lstStyle/>
          <a:p>
            <a:pPr algn="l">
              <a:lnSpc>
                <a:spcPct val="120000"/>
              </a:lnSpc>
            </a:pPr>
            <a:r>
              <a:rPr sz="800" b="1">
                <a:solidFill>
                  <a:srgbClr val="1F285A"/>
                </a:solidFill>
                <a:latin typeface="メイリオ"/>
                <a:ea typeface="メイリオ"/>
                <a:cs typeface="メイリオ"/>
              </a:rPr>
              <a:t>◯LINEでのナーチャリング</a:t>
            </a:r>
            <a:endParaRPr lang="en-US" altLang="ja-JP" sz="1000" b="1" dirty="0">
              <a:latin typeface="メイリオ" panose="020B0604030504040204" pitchFamily="50" charset="-128"/>
              <a:ea typeface="メイリオ" panose="020B0604030504040204" pitchFamily="50" charset="-128"/>
              <a:cs typeface="Meiryo"/>
              <a:sym typeface="Meiryo"/>
            </a:endParaRPr>
          </a:p>
          <a:p>
            <a:pPr algn="l">
              <a:lnSpc>
                <a:spcPct val="120000"/>
              </a:lnSpc>
            </a:pPr>
            <a:r>
              <a:rPr sz="800">
                <a:solidFill>
                  <a:srgbClr val="333333"/>
                </a:solidFill>
                <a:latin typeface="メイリオ"/>
                <a:ea typeface="メイリオ"/>
                <a:cs typeface="メイリオ"/>
              </a:rPr>
              <a:t>✓家づくりアンケート回答</a:t>
            </a:r>
          </a:p>
          <a:p>
            <a:pPr algn="l">
              <a:lnSpc>
                <a:spcPct val="120000"/>
              </a:lnSpc>
            </a:pPr>
            <a:r>
              <a:rPr sz="800">
                <a:solidFill>
                  <a:srgbClr val="333333"/>
                </a:solidFill>
                <a:latin typeface="メイリオ"/>
                <a:ea typeface="メイリオ"/>
                <a:cs typeface="メイリオ"/>
              </a:rPr>
              <a:t/>
            </a:r>
          </a:p>
          <a:p>
            <a:pPr algn="l">
              <a:lnSpc>
                <a:spcPct val="120000"/>
              </a:lnSpc>
            </a:pPr>
            <a:r>
              <a:rPr sz="800" b="1">
                <a:solidFill>
                  <a:srgbClr val="1F285A"/>
                </a:solidFill>
                <a:latin typeface="メイリオ"/>
                <a:ea typeface="メイリオ"/>
                <a:cs typeface="メイリオ"/>
              </a:rPr>
              <a:t>◯LINEで予算診断</a:t>
            </a:r>
          </a:p>
          <a:p>
            <a:pPr algn="l">
              <a:lnSpc>
                <a:spcPct val="120000"/>
              </a:lnSpc>
            </a:pPr>
            <a:r>
              <a:rPr sz="800">
                <a:solidFill>
                  <a:srgbClr val="333333"/>
                </a:solidFill>
                <a:latin typeface="メイリオ"/>
                <a:ea typeface="メイリオ"/>
                <a:cs typeface="メイリオ"/>
              </a:rPr>
              <a:t>✓無理のない総予算レンジを提示</a:t>
            </a:r>
          </a:p>
        </p:txBody>
      </p:sp>
      <p:sp>
        <p:nvSpPr>
          <p:cNvPr id="78" name="テキスト ボックス 77">
            <a:extLst>
              <a:ext uri="{FF2B5EF4-FFF2-40B4-BE49-F238E27FC236}">
                <a16:creationId xmlns:a16="http://schemas.microsoft.com/office/drawing/2014/main" id="{2A92B9D2-AE81-B8F1-2775-9BABDBB2FB72}"/>
              </a:ext>
            </a:extLst>
          </p:cNvPr>
          <p:cNvSpPr txBox="1"/>
          <p:nvPr/>
        </p:nvSpPr>
        <p:spPr>
          <a:xfrm>
            <a:off x="4820619" y="3575596"/>
            <a:ext cx="2466126" cy="1015663"/>
          </a:xfrm>
          <a:prstGeom prst="rect">
            <a:avLst/>
          </a:prstGeom>
          <a:solidFill>
            <a:schemeClr val="bg1">
              <a:alpha val="20000"/>
            </a:schemeClr>
          </a:solidFill>
        </p:spPr>
        <p:txBody>
          <a:bodyPr wrap="square" lIns="36000" rIns="28800" tIns="21600" bIns="14400" anchor="t">
            <a:spAutoFit/>
          </a:bodyPr>
          <a:lstStyle/>
          <a:p>
            <a:pPr algn="l">
              <a:lnSpc>
                <a:spcPct val="120000"/>
              </a:lnSpc>
            </a:pPr>
            <a:r>
              <a:rPr sz="800" b="1">
                <a:solidFill>
                  <a:srgbClr val="1F285A"/>
                </a:solidFill>
                <a:latin typeface="メイリオ"/>
                <a:ea typeface="メイリオ"/>
                <a:cs typeface="メイリオ"/>
              </a:rPr>
              <a:t>◯企画投稿（月5本）</a:t>
            </a:r>
            <a:endParaRPr lang="en-US" altLang="ja-JP" sz="1000" b="1" dirty="0">
              <a:solidFill>
                <a:srgbClr val="FF0000"/>
              </a:solidFill>
              <a:latin typeface="メイリオ" panose="020B0604030504040204" pitchFamily="50" charset="-128"/>
              <a:ea typeface="メイリオ" panose="020B0604030504040204" pitchFamily="50" charset="-128"/>
              <a:cs typeface="Meiryo"/>
              <a:sym typeface="Meiryo"/>
            </a:endParaRPr>
          </a:p>
          <a:p>
            <a:pPr algn="l">
              <a:lnSpc>
                <a:spcPct val="120000"/>
              </a:lnSpc>
            </a:pPr>
            <a:r>
              <a:rPr sz="800">
                <a:solidFill>
                  <a:srgbClr val="333333"/>
                </a:solidFill>
                <a:latin typeface="メイリオ"/>
                <a:ea typeface="メイリオ"/>
                <a:cs typeface="メイリオ"/>
              </a:rPr>
              <a:t>✓年度内入居、夏の構造見学会 等</a:t>
            </a:r>
          </a:p>
          <a:p>
            <a:pPr algn="l">
              <a:lnSpc>
                <a:spcPct val="120000"/>
              </a:lnSpc>
            </a:pPr>
            <a:r>
              <a:rPr sz="800">
                <a:solidFill>
                  <a:srgbClr val="333333"/>
                </a:solidFill>
                <a:latin typeface="メイリオ"/>
                <a:ea typeface="メイリオ"/>
                <a:cs typeface="メイリオ"/>
              </a:rPr>
              <a:t/>
            </a:r>
          </a:p>
          <a:p>
            <a:pPr algn="l">
              <a:lnSpc>
                <a:spcPct val="120000"/>
              </a:lnSpc>
            </a:pPr>
            <a:r>
              <a:rPr sz="800">
                <a:solidFill>
                  <a:srgbClr val="333333"/>
                </a:solidFill>
                <a:latin typeface="メイリオ"/>
                <a:ea typeface="メイリオ"/>
                <a:cs typeface="メイリオ"/>
              </a:rPr>
              <a:t>ライフイベント→よくある後悔</a:t>
            </a:r>
          </a:p>
          <a:p>
            <a:pPr algn="l">
              <a:lnSpc>
                <a:spcPct val="120000"/>
              </a:lnSpc>
            </a:pPr>
            <a:r>
              <a:rPr sz="800">
                <a:solidFill>
                  <a:srgbClr val="333333"/>
                </a:solidFill>
                <a:latin typeface="メイリオ"/>
                <a:ea typeface="メイリオ"/>
                <a:cs typeface="メイリオ"/>
              </a:rPr>
              <a:t>アンケ回答→費用・土地の学習配信</a:t>
            </a:r>
          </a:p>
        </p:txBody>
      </p:sp>
      <p:sp>
        <p:nvSpPr>
          <p:cNvPr id="79" name="テキスト ボックス 78">
            <a:extLst>
              <a:ext uri="{FF2B5EF4-FFF2-40B4-BE49-F238E27FC236}">
                <a16:creationId xmlns:a16="http://schemas.microsoft.com/office/drawing/2014/main" id="{3F5D2439-D550-34BB-53D6-091E9B32BF3C}"/>
              </a:ext>
            </a:extLst>
          </p:cNvPr>
          <p:cNvSpPr txBox="1"/>
          <p:nvPr/>
        </p:nvSpPr>
        <p:spPr>
          <a:xfrm>
            <a:off x="7303671" y="3575596"/>
            <a:ext cx="2241933" cy="954107"/>
          </a:xfrm>
          <a:prstGeom prst="rect">
            <a:avLst/>
          </a:prstGeom>
          <a:solidFill>
            <a:schemeClr val="bg1">
              <a:alpha val="20000"/>
            </a:schemeClr>
          </a:solidFill>
        </p:spPr>
        <p:txBody>
          <a:bodyPr wrap="square" lIns="36000" rIns="28800" tIns="21600" bIns="14400" anchor="t">
            <a:spAutoFit/>
          </a:bodyPr>
          <a:lstStyle/>
          <a:p>
            <a:pPr algn="l">
              <a:lnSpc>
                <a:spcPct val="120000"/>
              </a:lnSpc>
            </a:pPr>
            <a:r>
              <a:rPr sz="800" b="1">
                <a:solidFill>
                  <a:srgbClr val="1F285A"/>
                </a:solidFill>
                <a:latin typeface="メイリオ"/>
                <a:ea typeface="メイリオ"/>
                <a:cs typeface="メイリオ"/>
              </a:rPr>
              <a:t>◯ステップ配信</a:t>
            </a:r>
            <a:endParaRPr lang="en-US" altLang="ja-JP" sz="1000" b="1" dirty="0">
              <a:latin typeface="メイリオ" panose="020B0604030504040204" pitchFamily="50" charset="-128"/>
              <a:ea typeface="メイリオ" panose="020B0604030504040204" pitchFamily="50" charset="-128"/>
              <a:cs typeface="Meiryo"/>
              <a:sym typeface="Meiryo"/>
            </a:endParaRPr>
          </a:p>
          <a:p>
            <a:pPr algn="l">
              <a:lnSpc>
                <a:spcPct val="120000"/>
              </a:lnSpc>
            </a:pPr>
            <a:r>
              <a:rPr sz="800">
                <a:solidFill>
                  <a:srgbClr val="333333"/>
                </a:solidFill>
                <a:latin typeface="メイリオ"/>
                <a:ea typeface="メイリオ"/>
                <a:cs typeface="メイリオ"/>
              </a:rPr>
              <a:t>✓友だち追加後14日で設計</a:t>
            </a:r>
          </a:p>
          <a:p>
            <a:pPr algn="l">
              <a:lnSpc>
                <a:spcPct val="120000"/>
              </a:lnSpc>
            </a:pPr>
            <a:r>
              <a:rPr sz="800">
                <a:solidFill>
                  <a:srgbClr val="333333"/>
                </a:solidFill>
                <a:latin typeface="メイリオ"/>
                <a:ea typeface="メイリオ"/>
                <a:cs typeface="メイリオ"/>
              </a:rPr>
              <a:t>（前後検索ニーズと連動）</a:t>
            </a:r>
          </a:p>
          <a:p>
            <a:pPr algn="l">
              <a:lnSpc>
                <a:spcPct val="120000"/>
              </a:lnSpc>
            </a:pPr>
            <a:r>
              <a:rPr sz="800">
                <a:solidFill>
                  <a:srgbClr val="333333"/>
                </a:solidFill>
                <a:latin typeface="メイリオ"/>
                <a:ea typeface="メイリオ"/>
                <a:cs typeface="メイリオ"/>
              </a:rPr>
              <a:t/>
            </a:r>
          </a:p>
          <a:p>
            <a:pPr algn="l">
              <a:lnSpc>
                <a:spcPct val="120000"/>
              </a:lnSpc>
            </a:pPr>
            <a:r>
              <a:rPr sz="800">
                <a:solidFill>
                  <a:srgbClr val="333333"/>
                </a:solidFill>
                <a:latin typeface="メイリオ"/>
                <a:ea typeface="メイリオ"/>
                <a:cs typeface="メイリオ"/>
              </a:rPr>
              <a:t>✓特典＞不安解消＞共感＞信頼＞オファー</a:t>
            </a:r>
          </a:p>
        </p:txBody>
      </p:sp>
      <p:sp>
        <p:nvSpPr>
          <p:cNvPr id="82" name="テキスト ボックス 81">
            <a:extLst>
              <a:ext uri="{FF2B5EF4-FFF2-40B4-BE49-F238E27FC236}">
                <a16:creationId xmlns:a16="http://schemas.microsoft.com/office/drawing/2014/main" id="{F966D387-7E84-4F68-9C81-89F870210C79}"/>
              </a:ext>
            </a:extLst>
          </p:cNvPr>
          <p:cNvSpPr txBox="1"/>
          <p:nvPr/>
        </p:nvSpPr>
        <p:spPr>
          <a:xfrm>
            <a:off x="2772451" y="3575596"/>
            <a:ext cx="1852837" cy="1015663"/>
          </a:xfrm>
          <a:prstGeom prst="rect">
            <a:avLst/>
          </a:prstGeom>
          <a:solidFill>
            <a:schemeClr val="bg1">
              <a:alpha val="20000"/>
            </a:schemeClr>
          </a:solidFill>
        </p:spPr>
        <p:txBody>
          <a:bodyPr wrap="square" lIns="36000" rIns="28800" tIns="21600" bIns="14400" anchor="t">
            <a:spAutoFit/>
          </a:bodyPr>
          <a:lstStyle/>
          <a:p>
            <a:pPr algn="l">
              <a:lnSpc>
                <a:spcPct val="120000"/>
              </a:lnSpc>
            </a:pPr>
            <a:r>
              <a:rPr sz="800" b="1">
                <a:solidFill>
                  <a:srgbClr val="1F285A"/>
                </a:solidFill>
                <a:latin typeface="メイリオ"/>
                <a:ea typeface="メイリオ"/>
                <a:cs typeface="メイリオ"/>
              </a:rPr>
              <a:t>◯あいさつメッセージ</a:t>
            </a:r>
            <a:endParaRPr lang="en-US" altLang="ja-JP" sz="1000" b="1" dirty="0">
              <a:latin typeface="メイリオ" panose="020B0604030504040204" pitchFamily="50" charset="-128"/>
              <a:ea typeface="メイリオ" panose="020B0604030504040204" pitchFamily="50" charset="-128"/>
              <a:cs typeface="Meiryo"/>
              <a:sym typeface="Meiryo"/>
            </a:endParaRPr>
          </a:p>
          <a:p>
            <a:pPr algn="l">
              <a:lnSpc>
                <a:spcPct val="120000"/>
              </a:lnSpc>
            </a:pPr>
            <a:r>
              <a:rPr sz="800">
                <a:solidFill>
                  <a:srgbClr val="333333"/>
                </a:solidFill>
                <a:latin typeface="メイリオ"/>
                <a:ea typeface="メイリオ"/>
                <a:cs typeface="メイリオ"/>
              </a:rPr>
              <a:t>（担当者名・営業電話なしを明記）</a:t>
            </a:r>
          </a:p>
          <a:p>
            <a:pPr algn="l">
              <a:lnSpc>
                <a:spcPct val="120000"/>
              </a:lnSpc>
            </a:pPr>
            <a:r>
              <a:rPr sz="800">
                <a:solidFill>
                  <a:srgbClr val="333333"/>
                </a:solidFill>
                <a:latin typeface="メイリオ"/>
                <a:ea typeface="メイリオ"/>
                <a:cs typeface="メイリオ"/>
              </a:rPr>
              <a:t/>
            </a:r>
          </a:p>
          <a:p>
            <a:pPr algn="l">
              <a:lnSpc>
                <a:spcPct val="120000"/>
              </a:lnSpc>
            </a:pPr>
            <a:r>
              <a:rPr sz="800" b="1">
                <a:solidFill>
                  <a:srgbClr val="1F285A"/>
                </a:solidFill>
                <a:latin typeface="メイリオ"/>
                <a:ea typeface="メイリオ"/>
                <a:cs typeface="メイリオ"/>
              </a:rPr>
              <a:t>◯初期アンケート（4問）</a:t>
            </a:r>
          </a:p>
          <a:p>
            <a:pPr algn="l">
              <a:lnSpc>
                <a:spcPct val="120000"/>
              </a:lnSpc>
            </a:pPr>
            <a:r>
              <a:rPr sz="800">
                <a:solidFill>
                  <a:srgbClr val="333333"/>
                </a:solidFill>
                <a:latin typeface="メイリオ"/>
                <a:ea typeface="メイリオ"/>
                <a:cs typeface="メイリオ"/>
              </a:rPr>
              <a:t>配信セグメントに活用</a:t>
            </a:r>
          </a:p>
          <a:p>
            <a:pPr algn="l">
              <a:lnSpc>
                <a:spcPct val="120000"/>
              </a:lnSpc>
            </a:pPr>
            <a:r>
              <a:rPr sz="800">
                <a:solidFill>
                  <a:srgbClr val="333333"/>
                </a:solidFill>
                <a:latin typeface="メイリオ"/>
                <a:ea typeface="メイリオ"/>
                <a:cs typeface="メイリオ"/>
              </a:rPr>
              <a:t/>
            </a:r>
          </a:p>
          <a:p>
            <a:pPr algn="l">
              <a:lnSpc>
                <a:spcPct val="120000"/>
              </a:lnSpc>
            </a:pPr>
            <a:r>
              <a:rPr sz="800" b="1">
                <a:solidFill>
                  <a:srgbClr val="1F285A"/>
                </a:solidFill>
                <a:latin typeface="メイリオ"/>
                <a:ea typeface="メイリオ"/>
                <a:cs typeface="メイリオ"/>
              </a:rPr>
              <a:t>◯プロフ・リッチメニュー3タブ</a:t>
            </a:r>
          </a:p>
        </p:txBody>
      </p:sp>
      <p:sp>
        <p:nvSpPr>
          <p:cNvPr id="83" name="テキスト ボックス 82">
            <a:extLst>
              <a:ext uri="{FF2B5EF4-FFF2-40B4-BE49-F238E27FC236}">
                <a16:creationId xmlns:a16="http://schemas.microsoft.com/office/drawing/2014/main" id="{DCCA9A41-7AF8-A7E5-C05D-3CCE4D53D056}"/>
              </a:ext>
            </a:extLst>
          </p:cNvPr>
          <p:cNvSpPr txBox="1"/>
          <p:nvPr/>
        </p:nvSpPr>
        <p:spPr>
          <a:xfrm>
            <a:off x="7493762" y="5192489"/>
            <a:ext cx="1852837" cy="969496"/>
          </a:xfrm>
          <a:prstGeom prst="rect">
            <a:avLst/>
          </a:prstGeom>
          <a:solidFill>
            <a:schemeClr val="bg1">
              <a:alpha val="20000"/>
            </a:schemeClr>
          </a:solidFill>
        </p:spPr>
        <p:txBody>
          <a:bodyPr wrap="square" lIns="36000" rIns="28800" tIns="21600" bIns="14400" anchor="t">
            <a:spAutoFit/>
          </a:bodyPr>
          <a:lstStyle/>
          <a:p>
            <a:pPr algn="l">
              <a:lnSpc>
                <a:spcPct val="120000"/>
              </a:lnSpc>
            </a:pPr>
            <a:r>
              <a:rPr sz="800" b="1">
                <a:solidFill>
                  <a:srgbClr val="1F285A"/>
                </a:solidFill>
                <a:latin typeface="メイリオ"/>
                <a:ea typeface="メイリオ"/>
                <a:cs typeface="メイリオ"/>
              </a:rPr>
              <a:t>◯(アフター)フォロー</a:t>
            </a:r>
            <a:endParaRPr lang="en-US" altLang="ja-JP" sz="1000" b="1" dirty="0">
              <a:latin typeface="メイリオ" panose="020B0604030504040204" pitchFamily="50" charset="-128"/>
              <a:ea typeface="メイリオ" panose="020B0604030504040204" pitchFamily="50" charset="-128"/>
              <a:cs typeface="Meiryo"/>
              <a:sym typeface="Meiryo"/>
            </a:endParaRPr>
          </a:p>
          <a:p>
            <a:pPr algn="l">
              <a:lnSpc>
                <a:spcPct val="120000"/>
              </a:lnSpc>
            </a:pPr>
            <a:r>
              <a:rPr sz="800">
                <a:solidFill>
                  <a:srgbClr val="333333"/>
                </a:solidFill>
                <a:latin typeface="メイリオ"/>
                <a:ea typeface="メイリオ"/>
                <a:cs typeface="メイリオ"/>
              </a:rPr>
              <a:t>✓よくあるQAの自動応答</a:t>
            </a:r>
          </a:p>
          <a:p>
            <a:pPr algn="l">
              <a:lnSpc>
                <a:spcPct val="120000"/>
              </a:lnSpc>
            </a:pPr>
            <a:r>
              <a:rPr sz="800">
                <a:solidFill>
                  <a:srgbClr val="333333"/>
                </a:solidFill>
                <a:latin typeface="メイリオ"/>
                <a:ea typeface="メイリオ"/>
                <a:cs typeface="メイリオ"/>
              </a:rPr>
              <a:t>✓前日リマインド・事前ヒアリング</a:t>
            </a:r>
          </a:p>
          <a:p>
            <a:pPr algn="l">
              <a:lnSpc>
                <a:spcPct val="120000"/>
              </a:lnSpc>
            </a:pPr>
            <a:r>
              <a:rPr sz="800">
                <a:solidFill>
                  <a:srgbClr val="333333"/>
                </a:solidFill>
                <a:latin typeface="メイリオ"/>
                <a:ea typeface="メイリオ"/>
                <a:cs typeface="メイリオ"/>
              </a:rPr>
              <a:t/>
            </a:r>
          </a:p>
          <a:p>
            <a:pPr algn="l">
              <a:lnSpc>
                <a:spcPct val="120000"/>
              </a:lnSpc>
            </a:pPr>
            <a:r>
              <a:rPr sz="800" b="1">
                <a:solidFill>
                  <a:srgbClr val="1F285A"/>
                </a:solidFill>
                <a:latin typeface="メイリオ"/>
                <a:ea typeface="メイリオ"/>
                <a:cs typeface="メイリオ"/>
              </a:rPr>
              <a:t>◯ご紹介の斡旋</a:t>
            </a:r>
          </a:p>
          <a:p>
            <a:pPr algn="l">
              <a:lnSpc>
                <a:spcPct val="120000"/>
              </a:lnSpc>
            </a:pPr>
            <a:r>
              <a:rPr sz="800">
                <a:solidFill>
                  <a:srgbClr val="333333"/>
                </a:solidFill>
                <a:latin typeface="メイリオ"/>
                <a:ea typeface="メイリオ"/>
                <a:cs typeface="メイリオ"/>
              </a:rPr>
              <a:t>✓引渡し後の紹介CPへ誘導</a:t>
            </a:r>
          </a:p>
        </p:txBody>
      </p:sp>
      <p:sp>
        <p:nvSpPr>
          <p:cNvPr id="84" name="テキスト ボックス 83">
            <a:extLst>
              <a:ext uri="{FF2B5EF4-FFF2-40B4-BE49-F238E27FC236}">
                <a16:creationId xmlns:a16="http://schemas.microsoft.com/office/drawing/2014/main" id="{51666C25-34AB-775A-D360-970178A01029}"/>
              </a:ext>
            </a:extLst>
          </p:cNvPr>
          <p:cNvSpPr txBox="1"/>
          <p:nvPr/>
        </p:nvSpPr>
        <p:spPr>
          <a:xfrm>
            <a:off x="5015076" y="5197869"/>
            <a:ext cx="2038121" cy="861774"/>
          </a:xfrm>
          <a:prstGeom prst="rect">
            <a:avLst/>
          </a:prstGeom>
          <a:solidFill>
            <a:schemeClr val="bg1">
              <a:alpha val="20000"/>
            </a:schemeClr>
          </a:solidFill>
        </p:spPr>
        <p:txBody>
          <a:bodyPr wrap="square" lIns="36000" rIns="28800" tIns="21600" bIns="14400" anchor="t">
            <a:spAutoFit/>
          </a:bodyPr>
          <a:lstStyle/>
          <a:p>
            <a:pPr algn="l">
              <a:lnSpc>
                <a:spcPct val="120000"/>
              </a:lnSpc>
            </a:pPr>
            <a:r>
              <a:rPr sz="800" b="1">
                <a:solidFill>
                  <a:srgbClr val="1F285A"/>
                </a:solidFill>
                <a:latin typeface="メイリオ"/>
                <a:ea typeface="メイリオ"/>
                <a:cs typeface="メイリオ"/>
              </a:rPr>
              <a:t>◯見学・相談 実施済</a:t>
            </a:r>
            <a:endParaRPr lang="en-US" altLang="ja-JP" sz="1000" b="1" dirty="0">
              <a:latin typeface="メイリオ" panose="020B0604030504040204" pitchFamily="50" charset="-128"/>
              <a:ea typeface="メイリオ" panose="020B0604030504040204" pitchFamily="50" charset="-128"/>
              <a:cs typeface="Meiryo"/>
              <a:sym typeface="Meiryo"/>
            </a:endParaRPr>
          </a:p>
          <a:p>
            <a:pPr algn="l">
              <a:lnSpc>
                <a:spcPct val="120000"/>
              </a:lnSpc>
            </a:pPr>
            <a:r>
              <a:rPr sz="800">
                <a:solidFill>
                  <a:srgbClr val="333333"/>
                </a:solidFill>
                <a:latin typeface="メイリオ"/>
                <a:ea typeface="メイリオ"/>
                <a:cs typeface="メイリオ"/>
              </a:rPr>
              <a:t>✓事後フォローで満足度↑</a:t>
            </a:r>
          </a:p>
          <a:p>
            <a:pPr algn="l">
              <a:lnSpc>
                <a:spcPct val="120000"/>
              </a:lnSpc>
            </a:pPr>
            <a:r>
              <a:rPr sz="800">
                <a:solidFill>
                  <a:srgbClr val="333333"/>
                </a:solidFill>
                <a:latin typeface="メイリオ"/>
                <a:ea typeface="メイリオ"/>
                <a:cs typeface="メイリオ"/>
              </a:rPr>
              <a:t/>
            </a:r>
          </a:p>
          <a:p>
            <a:pPr algn="l">
              <a:lnSpc>
                <a:spcPct val="120000"/>
              </a:lnSpc>
            </a:pPr>
            <a:r>
              <a:rPr sz="800" b="1">
                <a:solidFill>
                  <a:srgbClr val="1F285A"/>
                </a:solidFill>
                <a:latin typeface="メイリオ"/>
                <a:ea typeface="メイリオ"/>
                <a:cs typeface="メイリオ"/>
              </a:rPr>
              <a:t>◯外構・メンテ・追加工事</a:t>
            </a:r>
          </a:p>
          <a:p>
            <a:pPr algn="l">
              <a:lnSpc>
                <a:spcPct val="120000"/>
              </a:lnSpc>
            </a:pPr>
            <a:r>
              <a:rPr sz="800">
                <a:solidFill>
                  <a:srgbClr val="333333"/>
                </a:solidFill>
                <a:latin typeface="メイリオ"/>
                <a:ea typeface="メイリオ"/>
                <a:cs typeface="メイリオ"/>
              </a:rPr>
              <a:t>✓点検時期に合わせて自動案内</a:t>
            </a:r>
          </a:p>
        </p:txBody>
      </p:sp>
      <p:sp>
        <p:nvSpPr>
          <p:cNvPr id="85" name="テキスト ボックス 84">
            <a:extLst>
              <a:ext uri="{FF2B5EF4-FFF2-40B4-BE49-F238E27FC236}">
                <a16:creationId xmlns:a16="http://schemas.microsoft.com/office/drawing/2014/main" id="{E36E01A8-5E8D-6868-5242-258854A6C11E}"/>
              </a:ext>
            </a:extLst>
          </p:cNvPr>
          <p:cNvSpPr txBox="1"/>
          <p:nvPr/>
        </p:nvSpPr>
        <p:spPr>
          <a:xfrm>
            <a:off x="2577903" y="5197869"/>
            <a:ext cx="2241933" cy="954107"/>
          </a:xfrm>
          <a:prstGeom prst="rect">
            <a:avLst/>
          </a:prstGeom>
          <a:solidFill>
            <a:schemeClr val="bg1">
              <a:alpha val="20000"/>
            </a:schemeClr>
          </a:solidFill>
        </p:spPr>
        <p:txBody>
          <a:bodyPr wrap="square" lIns="36000" rIns="28800" tIns="21600" bIns="14400" anchor="t">
            <a:spAutoFit/>
          </a:bodyPr>
          <a:lstStyle/>
          <a:p>
            <a:pPr algn="l">
              <a:lnSpc>
                <a:spcPct val="120000"/>
              </a:lnSpc>
            </a:pPr>
            <a:r>
              <a:rPr sz="800" b="1">
                <a:solidFill>
                  <a:srgbClr val="1F285A"/>
                </a:solidFill>
                <a:latin typeface="メイリオ"/>
                <a:ea typeface="メイリオ"/>
                <a:cs typeface="メイリオ"/>
              </a:rPr>
              <a:t>◯再診断（簡易アンケート）</a:t>
            </a:r>
          </a:p>
          <a:p>
            <a:pPr algn="l">
              <a:lnSpc>
                <a:spcPct val="120000"/>
              </a:lnSpc>
            </a:pPr>
            <a:r>
              <a:rPr sz="800">
                <a:solidFill>
                  <a:srgbClr val="333333"/>
                </a:solidFill>
                <a:latin typeface="メイリオ"/>
                <a:ea typeface="メイリオ"/>
                <a:cs typeface="メイリオ"/>
              </a:rPr>
              <a:t>✓検討が止まった層に対して</a:t>
            </a:r>
          </a:p>
          <a:p>
            <a:pPr algn="l">
              <a:lnSpc>
                <a:spcPct val="120000"/>
              </a:lnSpc>
            </a:pPr>
            <a:r>
              <a:rPr sz="800">
                <a:solidFill>
                  <a:srgbClr val="333333"/>
                </a:solidFill>
                <a:latin typeface="メイリオ"/>
                <a:ea typeface="メイリオ"/>
                <a:cs typeface="メイリオ"/>
              </a:rPr>
              <a:t>住まいの軸と異なる診断を用意</a:t>
            </a:r>
          </a:p>
          <a:p>
            <a:pPr algn="l">
              <a:lnSpc>
                <a:spcPct val="120000"/>
              </a:lnSpc>
            </a:pPr>
            <a:r>
              <a:rPr sz="800">
                <a:solidFill>
                  <a:srgbClr val="333333"/>
                </a:solidFill>
                <a:latin typeface="メイリオ"/>
                <a:ea typeface="メイリオ"/>
                <a:cs typeface="メイリオ"/>
              </a:rPr>
              <a:t/>
            </a:r>
          </a:p>
          <a:p>
            <a:pPr algn="l">
              <a:lnSpc>
                <a:spcPct val="120000"/>
              </a:lnSpc>
            </a:pPr>
            <a:r>
              <a:rPr sz="800" b="1">
                <a:solidFill>
                  <a:srgbClr val="1F285A"/>
                </a:solidFill>
                <a:latin typeface="メイリオ"/>
                <a:ea typeface="メイリオ"/>
                <a:cs typeface="メイリオ"/>
              </a:rPr>
              <a:t>◯再オファー</a:t>
            </a:r>
          </a:p>
          <a:p>
            <a:pPr algn="l">
              <a:lnSpc>
                <a:spcPct val="120000"/>
              </a:lnSpc>
            </a:pPr>
            <a:r>
              <a:rPr sz="800">
                <a:solidFill>
                  <a:srgbClr val="333333"/>
                </a:solidFill>
                <a:latin typeface="メイリオ"/>
                <a:ea typeface="メイリオ"/>
                <a:cs typeface="メイリオ"/>
              </a:rPr>
              <a:t>✓3ヶ月後に見学会を再提示</a:t>
            </a:r>
          </a:p>
        </p:txBody>
      </p:sp>
      <p:sp>
        <p:nvSpPr>
          <p:cNvPr id="8" name="矢印: 下 7">
            <a:extLst>
              <a:ext uri="{FF2B5EF4-FFF2-40B4-BE49-F238E27FC236}">
                <a16:creationId xmlns:a16="http://schemas.microsoft.com/office/drawing/2014/main" id="{BE6FB710-6D0D-A062-5DC4-E7437CE5BDE1}"/>
              </a:ext>
            </a:extLst>
          </p:cNvPr>
          <p:cNvSpPr/>
          <p:nvPr/>
        </p:nvSpPr>
        <p:spPr>
          <a:xfrm>
            <a:off x="8045609" y="1409403"/>
            <a:ext cx="871728" cy="395993"/>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矢印: 下 9">
            <a:extLst>
              <a:ext uri="{FF2B5EF4-FFF2-40B4-BE49-F238E27FC236}">
                <a16:creationId xmlns:a16="http://schemas.microsoft.com/office/drawing/2014/main" id="{92FDFDEB-CB5F-8A45-29AB-C10FC6580A7C}"/>
              </a:ext>
            </a:extLst>
          </p:cNvPr>
          <p:cNvSpPr/>
          <p:nvPr/>
        </p:nvSpPr>
        <p:spPr>
          <a:xfrm>
            <a:off x="8919666" y="1412851"/>
            <a:ext cx="871728" cy="395993"/>
          </a:xfrm>
          <a:prstGeom prst="downArrow">
            <a:avLst/>
          </a:prstGeom>
          <a:gradFill>
            <a:gsLst>
              <a:gs pos="4000">
                <a:schemeClr val="bg1"/>
              </a:gs>
              <a:gs pos="100000">
                <a:schemeClr val="bg1">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矢印: 下 10">
            <a:extLst>
              <a:ext uri="{FF2B5EF4-FFF2-40B4-BE49-F238E27FC236}">
                <a16:creationId xmlns:a16="http://schemas.microsoft.com/office/drawing/2014/main" id="{218212FE-3645-DB9F-3397-0748130F1AF8}"/>
              </a:ext>
            </a:extLst>
          </p:cNvPr>
          <p:cNvSpPr/>
          <p:nvPr/>
        </p:nvSpPr>
        <p:spPr>
          <a:xfrm>
            <a:off x="7180483" y="1412851"/>
            <a:ext cx="871728" cy="395993"/>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2D2D0860-25E1-93CE-4600-A1274BD77509}"/>
              </a:ext>
            </a:extLst>
          </p:cNvPr>
          <p:cNvSpPr txBox="1"/>
          <p:nvPr/>
        </p:nvSpPr>
        <p:spPr>
          <a:xfrm>
            <a:off x="7180483" y="1445284"/>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cs typeface="Meiryo"/>
                <a:sym typeface="Meiryo"/>
              </a:rPr>
              <a:t>企画</a:t>
            </a:r>
            <a:endParaRPr lang="en-US" altLang="ja-JP" sz="800" dirty="0">
              <a:latin typeface="メイリオ" panose="020B0604030504040204" pitchFamily="50" charset="-128"/>
              <a:ea typeface="メイリオ" panose="020B0604030504040204" pitchFamily="50" charset="-128"/>
              <a:cs typeface="Meiryo"/>
              <a:sym typeface="Meiryo"/>
            </a:endParaRPr>
          </a:p>
          <a:p>
            <a:pPr algn="ctr"/>
            <a:r>
              <a:rPr lang="ja-JP" altLang="en-US" sz="800" dirty="0">
                <a:latin typeface="メイリオ" panose="020B0604030504040204" pitchFamily="50" charset="-128"/>
                <a:ea typeface="メイリオ" panose="020B0604030504040204" pitchFamily="50" charset="-128"/>
                <a:sym typeface="Meiryo"/>
              </a:rPr>
              <a:t>投稿</a:t>
            </a:r>
            <a:endParaRPr lang="ja-JP" altLang="en-US" sz="800" dirty="0"/>
          </a:p>
        </p:txBody>
      </p:sp>
      <p:sp>
        <p:nvSpPr>
          <p:cNvPr id="13" name="テキスト ボックス 12">
            <a:extLst>
              <a:ext uri="{FF2B5EF4-FFF2-40B4-BE49-F238E27FC236}">
                <a16:creationId xmlns:a16="http://schemas.microsoft.com/office/drawing/2014/main" id="{A87B802C-245D-9C6E-1C33-7190F3073124}"/>
              </a:ext>
            </a:extLst>
          </p:cNvPr>
          <p:cNvSpPr txBox="1"/>
          <p:nvPr/>
        </p:nvSpPr>
        <p:spPr>
          <a:xfrm>
            <a:off x="8050075" y="1452197"/>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rPr>
              <a:t>ステップ</a:t>
            </a:r>
            <a:endParaRPr lang="en-US" altLang="ja-JP" sz="800" dirty="0">
              <a:latin typeface="メイリオ" panose="020B0604030504040204" pitchFamily="50" charset="-128"/>
              <a:ea typeface="メイリオ" panose="020B0604030504040204" pitchFamily="50" charset="-128"/>
            </a:endParaRPr>
          </a:p>
          <a:p>
            <a:pPr algn="ctr"/>
            <a:r>
              <a:rPr lang="ja-JP" altLang="en-US" sz="800" dirty="0">
                <a:latin typeface="メイリオ" panose="020B0604030504040204" pitchFamily="50" charset="-128"/>
                <a:ea typeface="メイリオ" panose="020B0604030504040204" pitchFamily="50" charset="-128"/>
              </a:rPr>
              <a:t>配信</a:t>
            </a:r>
          </a:p>
        </p:txBody>
      </p:sp>
      <p:sp>
        <p:nvSpPr>
          <p:cNvPr id="14" name="テキスト ボックス 13">
            <a:extLst>
              <a:ext uri="{FF2B5EF4-FFF2-40B4-BE49-F238E27FC236}">
                <a16:creationId xmlns:a16="http://schemas.microsoft.com/office/drawing/2014/main" id="{D775BACA-B985-5029-1E70-8D28879E88EC}"/>
              </a:ext>
            </a:extLst>
          </p:cNvPr>
          <p:cNvSpPr txBox="1"/>
          <p:nvPr/>
        </p:nvSpPr>
        <p:spPr>
          <a:xfrm>
            <a:off x="8910735" y="1438122"/>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rPr>
              <a:t>貴社対応</a:t>
            </a:r>
            <a:endParaRPr lang="en-US" altLang="ja-JP" sz="800" dirty="0">
              <a:latin typeface="メイリオ" panose="020B0604030504040204" pitchFamily="50" charset="-128"/>
              <a:ea typeface="メイリオ" panose="020B0604030504040204" pitchFamily="50" charset="-128"/>
            </a:endParaRPr>
          </a:p>
          <a:p>
            <a:pPr algn="ctr"/>
            <a:r>
              <a:rPr lang="en-US" altLang="ja-JP" sz="800" dirty="0">
                <a:latin typeface="メイリオ" panose="020B0604030504040204" pitchFamily="50" charset="-128"/>
                <a:ea typeface="メイリオ" panose="020B0604030504040204" pitchFamily="50" charset="-128"/>
              </a:rPr>
              <a:t>※</a:t>
            </a:r>
            <a:r>
              <a:rPr lang="ja-JP" altLang="en-US" sz="800" dirty="0">
                <a:latin typeface="メイリオ" panose="020B0604030504040204" pitchFamily="50" charset="-128"/>
                <a:ea typeface="メイリオ" panose="020B0604030504040204" pitchFamily="50" charset="-128"/>
              </a:rPr>
              <a:t>軽減</a:t>
            </a:r>
          </a:p>
        </p:txBody>
      </p:sp>
      <p:sp>
        <p:nvSpPr>
          <p:cNvPr id="15" name="正方形/長方形 14">
            <a:extLst>
              <a:ext uri="{FF2B5EF4-FFF2-40B4-BE49-F238E27FC236}">
                <a16:creationId xmlns:a16="http://schemas.microsoft.com/office/drawing/2014/main" id="{B0439D32-FABC-CA34-F07C-587F509AEF1D}"/>
              </a:ext>
            </a:extLst>
          </p:cNvPr>
          <p:cNvSpPr/>
          <p:nvPr/>
        </p:nvSpPr>
        <p:spPr>
          <a:xfrm>
            <a:off x="7116723" y="1367434"/>
            <a:ext cx="2725750" cy="483252"/>
          </a:xfrm>
          <a:prstGeom prst="rect">
            <a:avLst/>
          </a:prstGeom>
          <a:no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0" name="コネクタ: カギ線 19">
            <a:extLst>
              <a:ext uri="{FF2B5EF4-FFF2-40B4-BE49-F238E27FC236}">
                <a16:creationId xmlns:a16="http://schemas.microsoft.com/office/drawing/2014/main" id="{B6880BFB-9CE8-682D-5E73-400E7A9D4984}"/>
              </a:ext>
            </a:extLst>
          </p:cNvPr>
          <p:cNvCxnSpPr>
            <a:cxnSpLocks/>
            <a:stCxn id="74" idx="2"/>
            <a:endCxn id="25" idx="0"/>
          </p:cNvCxnSpPr>
          <p:nvPr/>
        </p:nvCxnSpPr>
        <p:spPr>
          <a:xfrm rot="5400000">
            <a:off x="1884437" y="2550716"/>
            <a:ext cx="1044252" cy="1179842"/>
          </a:xfrm>
          <a:prstGeom prst="bentConnector3">
            <a:avLst>
              <a:gd name="adj1" fmla="val 50000"/>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コネクタ: カギ線 26">
            <a:extLst>
              <a:ext uri="{FF2B5EF4-FFF2-40B4-BE49-F238E27FC236}">
                <a16:creationId xmlns:a16="http://schemas.microsoft.com/office/drawing/2014/main" id="{EF07FDA7-6FC7-C204-99A4-DB47A6724969}"/>
              </a:ext>
            </a:extLst>
          </p:cNvPr>
          <p:cNvCxnSpPr>
            <a:cxnSpLocks/>
            <a:endCxn id="25" idx="0"/>
          </p:cNvCxnSpPr>
          <p:nvPr/>
        </p:nvCxnSpPr>
        <p:spPr>
          <a:xfrm rot="16200000" flipH="1">
            <a:off x="693395" y="2539516"/>
            <a:ext cx="1138050" cy="1108444"/>
          </a:xfrm>
          <a:prstGeom prst="bentConnector3">
            <a:avLst>
              <a:gd name="adj1" fmla="val 54185"/>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矢印コネクタ 36">
            <a:extLst>
              <a:ext uri="{FF2B5EF4-FFF2-40B4-BE49-F238E27FC236}">
                <a16:creationId xmlns:a16="http://schemas.microsoft.com/office/drawing/2014/main" id="{B79B5748-0A9B-B2A8-36EE-9B6743393A50}"/>
              </a:ext>
            </a:extLst>
          </p:cNvPr>
          <p:cNvCxnSpPr>
            <a:stCxn id="25" idx="2"/>
            <a:endCxn id="46" idx="0"/>
          </p:cNvCxnSpPr>
          <p:nvPr/>
        </p:nvCxnSpPr>
        <p:spPr>
          <a:xfrm>
            <a:off x="1816642" y="4001277"/>
            <a:ext cx="0" cy="1304334"/>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8656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D55786A2-F100-6AA6-4BA2-C612ABD2107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施策展開図</a:t>
            </a:r>
          </a:p>
        </p:txBody>
      </p:sp>
      <p:sp>
        <p:nvSpPr>
          <p:cNvPr id="9" name="正方形/長方形 8">
            <a:extLst>
              <a:ext uri="{FF2B5EF4-FFF2-40B4-BE49-F238E27FC236}">
                <a16:creationId xmlns:a16="http://schemas.microsoft.com/office/drawing/2014/main" id="{E9062440-B6A0-85EE-461D-E9A5F53310B0}"/>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CCEADF0C-2806-160C-2545-0CBF2DE16851}"/>
              </a:ext>
            </a:extLst>
          </p:cNvPr>
          <p:cNvSpPr txBox="1"/>
          <p:nvPr/>
        </p:nvSpPr>
        <p:spPr>
          <a:xfrm>
            <a:off x="1988819" y="736332"/>
            <a:ext cx="7917181"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友だち追加～</a:t>
            </a:r>
            <a:r>
              <a:rPr lang="en-US" altLang="ja-JP" sz="1600" b="1" dirty="0">
                <a:latin typeface="メイリオ" panose="020B0604030504040204" pitchFamily="50" charset="-128"/>
                <a:ea typeface="メイリオ" panose="020B0604030504040204" pitchFamily="50" charset="-128"/>
                <a:cs typeface="Meiryo"/>
                <a:sym typeface="Meiryo"/>
              </a:rPr>
              <a:t>15</a:t>
            </a:r>
            <a:r>
              <a:rPr lang="ja-JP" altLang="en-US" sz="1600" b="1" dirty="0">
                <a:latin typeface="メイリオ" panose="020B0604030504040204" pitchFamily="50" charset="-128"/>
                <a:ea typeface="メイリオ" panose="020B0604030504040204" pitchFamily="50" charset="-128"/>
                <a:cs typeface="Meiryo"/>
                <a:sym typeface="Meiryo"/>
              </a:rPr>
              <a:t>日を境に大きくアクティブ率が下がる（ブロック率が上がる）</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為、追加から</a:t>
            </a:r>
            <a:r>
              <a:rPr lang="en-US" altLang="ja-JP" sz="1600" b="1" dirty="0">
                <a:latin typeface="メイリオ" panose="020B0604030504040204" pitchFamily="50" charset="-128"/>
                <a:ea typeface="メイリオ" panose="020B0604030504040204" pitchFamily="50" charset="-128"/>
                <a:cs typeface="Meiryo"/>
                <a:sym typeface="Meiryo"/>
              </a:rPr>
              <a:t>20‐30</a:t>
            </a:r>
            <a:r>
              <a:rPr lang="ja-JP" altLang="en-US" sz="1600" b="1" dirty="0">
                <a:latin typeface="メイリオ" panose="020B0604030504040204" pitchFamily="50" charset="-128"/>
                <a:ea typeface="メイリオ" panose="020B0604030504040204" pitchFamily="50" charset="-128"/>
                <a:cs typeface="Meiryo"/>
                <a:sym typeface="Meiryo"/>
              </a:rPr>
              <a:t>日間のステップ配信構築とユーザビリティの改善が必要に。</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pic>
        <p:nvPicPr>
          <p:cNvPr id="5" name="図 4">
            <a:extLst>
              <a:ext uri="{FF2B5EF4-FFF2-40B4-BE49-F238E27FC236}">
                <a16:creationId xmlns:a16="http://schemas.microsoft.com/office/drawing/2014/main" id="{599FD372-1931-8AF9-6FBE-007F188CE892}"/>
              </a:ext>
            </a:extLst>
          </p:cNvPr>
          <p:cNvPicPr>
            <a:picLocks noChangeAspect="1"/>
          </p:cNvPicPr>
          <p:nvPr/>
        </p:nvPicPr>
        <p:blipFill>
          <a:blip r:embed="rId2"/>
          <a:stretch>
            <a:fillRect/>
          </a:stretch>
        </p:blipFill>
        <p:spPr>
          <a:xfrm>
            <a:off x="1394710" y="1746287"/>
            <a:ext cx="582602" cy="543237"/>
          </a:xfrm>
          <a:prstGeom prst="rect">
            <a:avLst/>
          </a:prstGeom>
        </p:spPr>
      </p:pic>
      <p:sp>
        <p:nvSpPr>
          <p:cNvPr id="6" name="正方形/長方形 5">
            <a:extLst>
              <a:ext uri="{FF2B5EF4-FFF2-40B4-BE49-F238E27FC236}">
                <a16:creationId xmlns:a16="http://schemas.microsoft.com/office/drawing/2014/main" id="{70DDBD12-962F-75E1-F777-2A8CB1A1A43C}"/>
              </a:ext>
            </a:extLst>
          </p:cNvPr>
          <p:cNvSpPr/>
          <p:nvPr/>
        </p:nvSpPr>
        <p:spPr>
          <a:xfrm>
            <a:off x="2232491" y="1817608"/>
            <a:ext cx="5694068" cy="400594"/>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latin typeface="メイリオ" panose="020B0604030504040204" pitchFamily="50" charset="-128"/>
                <a:ea typeface="メイリオ" panose="020B0604030504040204" pitchFamily="50" charset="-128"/>
              </a:rPr>
              <a:t>公式アカウントを友だち追加！</a:t>
            </a:r>
          </a:p>
        </p:txBody>
      </p:sp>
      <p:sp>
        <p:nvSpPr>
          <p:cNvPr id="16" name="矢印: 下 15">
            <a:extLst>
              <a:ext uri="{FF2B5EF4-FFF2-40B4-BE49-F238E27FC236}">
                <a16:creationId xmlns:a16="http://schemas.microsoft.com/office/drawing/2014/main" id="{96A68A56-39E1-8BAC-2C49-CC19FBEC68F7}"/>
              </a:ext>
            </a:extLst>
          </p:cNvPr>
          <p:cNvSpPr/>
          <p:nvPr/>
        </p:nvSpPr>
        <p:spPr>
          <a:xfrm>
            <a:off x="6666282" y="2317059"/>
            <a:ext cx="470263" cy="1837509"/>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9" name="直線コネクタ 18">
            <a:extLst>
              <a:ext uri="{FF2B5EF4-FFF2-40B4-BE49-F238E27FC236}">
                <a16:creationId xmlns:a16="http://schemas.microsoft.com/office/drawing/2014/main" id="{499B7760-FDC6-B260-9507-F94BFB256854}"/>
              </a:ext>
            </a:extLst>
          </p:cNvPr>
          <p:cNvCxnSpPr>
            <a:cxnSpLocks/>
          </p:cNvCxnSpPr>
          <p:nvPr/>
        </p:nvCxnSpPr>
        <p:spPr>
          <a:xfrm>
            <a:off x="1603884" y="4293068"/>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2" name="矢印: 下 21">
            <a:extLst>
              <a:ext uri="{FF2B5EF4-FFF2-40B4-BE49-F238E27FC236}">
                <a16:creationId xmlns:a16="http://schemas.microsoft.com/office/drawing/2014/main" id="{57EAA642-99EB-D59A-CA2D-CF128F520650}"/>
              </a:ext>
            </a:extLst>
          </p:cNvPr>
          <p:cNvSpPr/>
          <p:nvPr/>
        </p:nvSpPr>
        <p:spPr>
          <a:xfrm>
            <a:off x="6666281" y="4376126"/>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3" name="直線コネクタ 22">
            <a:extLst>
              <a:ext uri="{FF2B5EF4-FFF2-40B4-BE49-F238E27FC236}">
                <a16:creationId xmlns:a16="http://schemas.microsoft.com/office/drawing/2014/main" id="{FC84D888-2F3B-56B2-6D8B-43495766B724}"/>
              </a:ext>
            </a:extLst>
          </p:cNvPr>
          <p:cNvCxnSpPr>
            <a:cxnSpLocks/>
          </p:cNvCxnSpPr>
          <p:nvPr/>
        </p:nvCxnSpPr>
        <p:spPr>
          <a:xfrm>
            <a:off x="1603884" y="5394656"/>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DDEE958-B9A4-B3B7-0AB5-40E083E922F6}"/>
              </a:ext>
            </a:extLst>
          </p:cNvPr>
          <p:cNvSpPr txBox="1"/>
          <p:nvPr/>
        </p:nvSpPr>
        <p:spPr>
          <a:xfrm>
            <a:off x="887729" y="4154568"/>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Meiryo"/>
                <a:sym typeface="Meiryo"/>
              </a:rPr>
              <a:t>15</a:t>
            </a:r>
            <a:r>
              <a:rPr lang="ja-JP" altLang="en-US" sz="1200" b="1" dirty="0">
                <a:latin typeface="メイリオ" panose="020B0604030504040204" pitchFamily="50" charset="-128"/>
                <a:ea typeface="メイリオ" panose="020B0604030504040204" pitchFamily="50" charset="-128"/>
                <a:cs typeface="Meiryo"/>
                <a:sym typeface="Meiryo"/>
              </a:rPr>
              <a:t>日後</a:t>
            </a:r>
            <a:endParaRPr lang="ja-JP" altLang="en-US" sz="1200" dirty="0"/>
          </a:p>
        </p:txBody>
      </p:sp>
      <p:sp>
        <p:nvSpPr>
          <p:cNvPr id="29" name="テキスト ボックス 28">
            <a:extLst>
              <a:ext uri="{FF2B5EF4-FFF2-40B4-BE49-F238E27FC236}">
                <a16:creationId xmlns:a16="http://schemas.microsoft.com/office/drawing/2014/main" id="{99B2BE93-6AC1-B592-319F-2D44EB64DCDF}"/>
              </a:ext>
            </a:extLst>
          </p:cNvPr>
          <p:cNvSpPr txBox="1"/>
          <p:nvPr/>
        </p:nvSpPr>
        <p:spPr>
          <a:xfrm>
            <a:off x="887729" y="5258075"/>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Meiryo"/>
                <a:sym typeface="Meiryo"/>
              </a:rPr>
              <a:t>30</a:t>
            </a:r>
            <a:r>
              <a:rPr lang="ja-JP" altLang="en-US" sz="1200" b="1" dirty="0">
                <a:latin typeface="メイリオ" panose="020B0604030504040204" pitchFamily="50" charset="-128"/>
                <a:ea typeface="メイリオ" panose="020B0604030504040204" pitchFamily="50" charset="-128"/>
                <a:cs typeface="Meiryo"/>
                <a:sym typeface="Meiryo"/>
              </a:rPr>
              <a:t>日後</a:t>
            </a:r>
            <a:endParaRPr lang="ja-JP" altLang="en-US" sz="1200" dirty="0"/>
          </a:p>
        </p:txBody>
      </p:sp>
      <p:sp>
        <p:nvSpPr>
          <p:cNvPr id="32" name="矢印: 下 31">
            <a:extLst>
              <a:ext uri="{FF2B5EF4-FFF2-40B4-BE49-F238E27FC236}">
                <a16:creationId xmlns:a16="http://schemas.microsoft.com/office/drawing/2014/main" id="{F0BAD90B-19DF-C716-880C-57948735A10E}"/>
              </a:ext>
            </a:extLst>
          </p:cNvPr>
          <p:cNvSpPr/>
          <p:nvPr/>
        </p:nvSpPr>
        <p:spPr>
          <a:xfrm>
            <a:off x="6666281" y="5477713"/>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直角三角形 32">
            <a:extLst>
              <a:ext uri="{FF2B5EF4-FFF2-40B4-BE49-F238E27FC236}">
                <a16:creationId xmlns:a16="http://schemas.microsoft.com/office/drawing/2014/main" id="{21D9755D-523C-2A6A-B045-29C102846ABF}"/>
              </a:ext>
            </a:extLst>
          </p:cNvPr>
          <p:cNvSpPr/>
          <p:nvPr/>
        </p:nvSpPr>
        <p:spPr>
          <a:xfrm flipV="1">
            <a:off x="7837714" y="2289524"/>
            <a:ext cx="1244098" cy="3105132"/>
          </a:xfrm>
          <a:prstGeom prst="rtTriangle">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sp>
        <p:nvSpPr>
          <p:cNvPr id="38" name="テキスト ボックス 37">
            <a:extLst>
              <a:ext uri="{FF2B5EF4-FFF2-40B4-BE49-F238E27FC236}">
                <a16:creationId xmlns:a16="http://schemas.microsoft.com/office/drawing/2014/main" id="{D6796F30-9C92-1751-9461-7D96ED3FD472}"/>
              </a:ext>
            </a:extLst>
          </p:cNvPr>
          <p:cNvSpPr txBox="1"/>
          <p:nvPr/>
        </p:nvSpPr>
        <p:spPr>
          <a:xfrm>
            <a:off x="7376370" y="2507385"/>
            <a:ext cx="2104595" cy="261610"/>
          </a:xfrm>
          <a:prstGeom prst="rect">
            <a:avLst/>
          </a:prstGeom>
          <a:noFill/>
        </p:spPr>
        <p:txBody>
          <a:bodyPr wrap="square">
            <a:spAutoFit/>
          </a:bodyPr>
          <a:lstStyle/>
          <a:p>
            <a:pPr algn="ctr"/>
            <a:r>
              <a:rPr lang="ja-JP" altLang="en-US" sz="1050" b="1" dirty="0">
                <a:solidFill>
                  <a:srgbClr val="FF0000"/>
                </a:solidFill>
                <a:latin typeface="メイリオ" panose="020B0604030504040204" pitchFamily="50" charset="-128"/>
                <a:ea typeface="メイリオ" panose="020B0604030504040204" pitchFamily="50" charset="-128"/>
              </a:rPr>
              <a:t>アクティブ率：高</a:t>
            </a:r>
          </a:p>
        </p:txBody>
      </p:sp>
      <p:sp>
        <p:nvSpPr>
          <p:cNvPr id="45" name="直角三角形 44">
            <a:extLst>
              <a:ext uri="{FF2B5EF4-FFF2-40B4-BE49-F238E27FC236}">
                <a16:creationId xmlns:a16="http://schemas.microsoft.com/office/drawing/2014/main" id="{70153691-BF19-7E23-69C7-A1735ED95D0B}"/>
              </a:ext>
            </a:extLst>
          </p:cNvPr>
          <p:cNvSpPr/>
          <p:nvPr/>
        </p:nvSpPr>
        <p:spPr>
          <a:xfrm flipV="1">
            <a:off x="7837713" y="5403361"/>
            <a:ext cx="399367" cy="946289"/>
          </a:xfrm>
          <a:prstGeom prst="rtTriangle">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sp>
        <p:nvSpPr>
          <p:cNvPr id="49" name="テキスト ボックス 48">
            <a:extLst>
              <a:ext uri="{FF2B5EF4-FFF2-40B4-BE49-F238E27FC236}">
                <a16:creationId xmlns:a16="http://schemas.microsoft.com/office/drawing/2014/main" id="{39E95A0F-F089-7BBE-05C6-60749997D8B5}"/>
              </a:ext>
            </a:extLst>
          </p:cNvPr>
          <p:cNvSpPr txBox="1"/>
          <p:nvPr/>
        </p:nvSpPr>
        <p:spPr>
          <a:xfrm>
            <a:off x="7376370" y="4777647"/>
            <a:ext cx="2104595" cy="261610"/>
          </a:xfrm>
          <a:prstGeom prst="rect">
            <a:avLst/>
          </a:prstGeom>
          <a:noFill/>
        </p:spPr>
        <p:txBody>
          <a:bodyPr wrap="square">
            <a:spAutoFit/>
          </a:bodyPr>
          <a:lstStyle/>
          <a:p>
            <a:pPr algn="ctr"/>
            <a:r>
              <a:rPr lang="ja-JP" altLang="en-US" sz="1050" dirty="0">
                <a:solidFill>
                  <a:srgbClr val="FF0000"/>
                </a:solidFill>
                <a:latin typeface="メイリオ" panose="020B0604030504040204" pitchFamily="50" charset="-128"/>
                <a:ea typeface="メイリオ" panose="020B0604030504040204" pitchFamily="50" charset="-128"/>
              </a:rPr>
              <a:t>アクティブ率：低</a:t>
            </a:r>
          </a:p>
        </p:txBody>
      </p:sp>
      <p:sp>
        <p:nvSpPr>
          <p:cNvPr id="51" name="正方形/長方形 50">
            <a:extLst>
              <a:ext uri="{FF2B5EF4-FFF2-40B4-BE49-F238E27FC236}">
                <a16:creationId xmlns:a16="http://schemas.microsoft.com/office/drawing/2014/main" id="{6E8EECEE-A26C-FE65-851C-D89DA2943DDA}"/>
              </a:ext>
            </a:extLst>
          </p:cNvPr>
          <p:cNvSpPr/>
          <p:nvPr/>
        </p:nvSpPr>
        <p:spPr>
          <a:xfrm>
            <a:off x="4822207" y="3086837"/>
            <a:ext cx="1653346"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ステップ配信</a:t>
            </a:r>
          </a:p>
        </p:txBody>
      </p:sp>
      <p:sp>
        <p:nvSpPr>
          <p:cNvPr id="53" name="正方形/長方形 52">
            <a:extLst>
              <a:ext uri="{FF2B5EF4-FFF2-40B4-BE49-F238E27FC236}">
                <a16:creationId xmlns:a16="http://schemas.microsoft.com/office/drawing/2014/main" id="{81454DD3-4503-BFE5-0C14-038581D067FE}"/>
              </a:ext>
            </a:extLst>
          </p:cNvPr>
          <p:cNvSpPr/>
          <p:nvPr/>
        </p:nvSpPr>
        <p:spPr>
          <a:xfrm>
            <a:off x="2232491" y="2685169"/>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アンケート</a:t>
            </a:r>
          </a:p>
        </p:txBody>
      </p:sp>
      <p:sp>
        <p:nvSpPr>
          <p:cNvPr id="55" name="正方形/長方形 54">
            <a:extLst>
              <a:ext uri="{FF2B5EF4-FFF2-40B4-BE49-F238E27FC236}">
                <a16:creationId xmlns:a16="http://schemas.microsoft.com/office/drawing/2014/main" id="{50620861-661B-61FD-CF03-A1B419A375AE}"/>
              </a:ext>
            </a:extLst>
          </p:cNvPr>
          <p:cNvSpPr/>
          <p:nvPr/>
        </p:nvSpPr>
        <p:spPr>
          <a:xfrm>
            <a:off x="2326221" y="3086838"/>
            <a:ext cx="2411242"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メイリオ" panose="020B0604030504040204" pitchFamily="50" charset="-128"/>
                <a:ea typeface="メイリオ" panose="020B0604030504040204" pitchFamily="50" charset="-128"/>
              </a:rPr>
              <a:t>企画配信</a:t>
            </a:r>
          </a:p>
        </p:txBody>
      </p:sp>
      <p:sp>
        <p:nvSpPr>
          <p:cNvPr id="57" name="正方形/長方形 56">
            <a:extLst>
              <a:ext uri="{FF2B5EF4-FFF2-40B4-BE49-F238E27FC236}">
                <a16:creationId xmlns:a16="http://schemas.microsoft.com/office/drawing/2014/main" id="{4459A76C-C890-8CC0-17D9-2EF08525C001}"/>
              </a:ext>
            </a:extLst>
          </p:cNvPr>
          <p:cNvSpPr/>
          <p:nvPr/>
        </p:nvSpPr>
        <p:spPr>
          <a:xfrm>
            <a:off x="2232491" y="5442735"/>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モーメント配信</a:t>
            </a:r>
          </a:p>
        </p:txBody>
      </p:sp>
      <p:sp>
        <p:nvSpPr>
          <p:cNvPr id="65" name="正方形/長方形 64">
            <a:extLst>
              <a:ext uri="{FF2B5EF4-FFF2-40B4-BE49-F238E27FC236}">
                <a16:creationId xmlns:a16="http://schemas.microsoft.com/office/drawing/2014/main" id="{A8F1D398-BD32-DDD8-1642-E52C2B235BA4}"/>
              </a:ext>
            </a:extLst>
          </p:cNvPr>
          <p:cNvSpPr/>
          <p:nvPr/>
        </p:nvSpPr>
        <p:spPr>
          <a:xfrm>
            <a:off x="2232491" y="2302562"/>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挨拶メッセージ・リッチメニュー</a:t>
            </a:r>
          </a:p>
        </p:txBody>
      </p:sp>
      <p:sp>
        <p:nvSpPr>
          <p:cNvPr id="67" name="正方形/長方形 66">
            <a:extLst>
              <a:ext uri="{FF2B5EF4-FFF2-40B4-BE49-F238E27FC236}">
                <a16:creationId xmlns:a16="http://schemas.microsoft.com/office/drawing/2014/main" id="{F991B595-167D-EE44-3530-4DCE8C7B208F}"/>
              </a:ext>
            </a:extLst>
          </p:cNvPr>
          <p:cNvSpPr/>
          <p:nvPr/>
        </p:nvSpPr>
        <p:spPr>
          <a:xfrm>
            <a:off x="4822207" y="5838470"/>
            <a:ext cx="1653346"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75" name="正方形/長方形 74">
            <a:extLst>
              <a:ext uri="{FF2B5EF4-FFF2-40B4-BE49-F238E27FC236}">
                <a16:creationId xmlns:a16="http://schemas.microsoft.com/office/drawing/2014/main" id="{16B28472-CB01-9D89-509B-26D59B4BA089}"/>
              </a:ext>
            </a:extLst>
          </p:cNvPr>
          <p:cNvSpPr/>
          <p:nvPr/>
        </p:nvSpPr>
        <p:spPr>
          <a:xfrm>
            <a:off x="2326221" y="5838471"/>
            <a:ext cx="2411242"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81" name="正方形/長方形 80">
            <a:extLst>
              <a:ext uri="{FF2B5EF4-FFF2-40B4-BE49-F238E27FC236}">
                <a16:creationId xmlns:a16="http://schemas.microsoft.com/office/drawing/2014/main" id="{A5ED7B27-E5A3-1AD6-2F12-1265E4591B60}"/>
              </a:ext>
            </a:extLst>
          </p:cNvPr>
          <p:cNvSpPr/>
          <p:nvPr/>
        </p:nvSpPr>
        <p:spPr>
          <a:xfrm>
            <a:off x="115726" y="6285606"/>
            <a:ext cx="7578805" cy="9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065560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3900D-063E-F973-5EF2-005AE1CA215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758DBC2-018A-378B-99F0-43DAFE20DF5C}"/>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a:t>
            </a:r>
          </a:p>
        </p:txBody>
      </p:sp>
      <p:sp>
        <p:nvSpPr>
          <p:cNvPr id="3" name="正方形/長方形 2">
            <a:extLst>
              <a:ext uri="{FF2B5EF4-FFF2-40B4-BE49-F238E27FC236}">
                <a16:creationId xmlns:a16="http://schemas.microsoft.com/office/drawing/2014/main" id="{294458F3-B182-EFAE-9BE8-8E76712736E7}"/>
              </a:ext>
            </a:extLst>
          </p:cNvPr>
          <p:cNvSpPr/>
          <p:nvPr/>
        </p:nvSpPr>
        <p:spPr>
          <a:xfrm>
            <a:off x="175475" y="1823735"/>
            <a:ext cx="4721072" cy="469533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EDB57FCC-E034-81EB-B2ED-2EB62032A504}"/>
              </a:ext>
            </a:extLst>
          </p:cNvPr>
          <p:cNvSpPr/>
          <p:nvPr/>
        </p:nvSpPr>
        <p:spPr>
          <a:xfrm>
            <a:off x="4994298" y="1823734"/>
            <a:ext cx="4721072" cy="469533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3C363108-225C-23EE-472E-1E1A14DA49E4}"/>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10" name="Google Shape;752;p28">
            <a:extLst>
              <a:ext uri="{FF2B5EF4-FFF2-40B4-BE49-F238E27FC236}">
                <a16:creationId xmlns:a16="http://schemas.microsoft.com/office/drawing/2014/main" id="{9A39965E-24C8-AD90-0D9E-A9BC47D02016}"/>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WEB</a:t>
            </a:r>
            <a:r>
              <a:rPr lang="ja-JP" altLang="en-US" sz="1600" b="1" dirty="0">
                <a:latin typeface="メイリオ" panose="020B0604030504040204" pitchFamily="50" charset="-128"/>
                <a:ea typeface="メイリオ" panose="020B0604030504040204" pitchFamily="50" charset="-128"/>
                <a:cs typeface="Meiryo"/>
                <a:sym typeface="Meiryo"/>
              </a:rPr>
              <a:t>上で何らかの成果地点（</a:t>
            </a:r>
            <a:r>
              <a:rPr lang="en-US" altLang="ja-JP" sz="1600" b="1" dirty="0">
                <a:latin typeface="メイリオ" panose="020B0604030504040204" pitchFamily="50" charset="-128"/>
                <a:ea typeface="メイリオ" panose="020B0604030504040204" pitchFamily="50" charset="-128"/>
                <a:cs typeface="Meiryo"/>
                <a:sym typeface="Meiryo"/>
              </a:rPr>
              <a:t>mcv</a:t>
            </a:r>
            <a:r>
              <a:rPr lang="ja-JP" altLang="en-US" sz="1600" b="1" dirty="0">
                <a:latin typeface="メイリオ" panose="020B0604030504040204" pitchFamily="50" charset="-128"/>
                <a:ea typeface="メイリオ" panose="020B0604030504040204" pitchFamily="50" charset="-128"/>
                <a:cs typeface="Meiryo"/>
                <a:sym typeface="Meiryo"/>
              </a:rPr>
              <a:t>、</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）に到達しリード獲得できているか、</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を軸に配信戦略を組み立てることでユーザーのアクティブ率を保った状態で運用。</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11" name="テキスト ボックス 10">
            <a:extLst>
              <a:ext uri="{FF2B5EF4-FFF2-40B4-BE49-F238E27FC236}">
                <a16:creationId xmlns:a16="http://schemas.microsoft.com/office/drawing/2014/main" id="{1CD1533E-1582-9E17-EE6F-EA2F4BE96D58}"/>
              </a:ext>
            </a:extLst>
          </p:cNvPr>
          <p:cNvSpPr txBox="1"/>
          <p:nvPr/>
        </p:nvSpPr>
        <p:spPr>
          <a:xfrm>
            <a:off x="422130" y="1861195"/>
            <a:ext cx="2352196" cy="446111"/>
          </a:xfrm>
          <a:prstGeom prst="rect">
            <a:avLst/>
          </a:prstGeom>
          <a:solidFill>
            <a:schemeClr val="accent6">
              <a:lumMod val="40000"/>
              <a:lumOff val="60000"/>
              <a:alpha val="30000"/>
            </a:schemeClr>
          </a:solidFill>
        </p:spPr>
        <p:txBody>
          <a:bodyPr wrap="square">
            <a:spAutoFit/>
          </a:bodyPr>
          <a:lstStyle/>
          <a:p>
            <a:pPr>
              <a:buNone/>
            </a:pPr>
            <a:r>
              <a:rPr lang="ja-JP" altLang="ja-JP" sz="1200" b="1" dirty="0">
                <a:latin typeface="メイリオ" panose="020B0604030504040204" pitchFamily="50" charset="-128"/>
                <a:ea typeface="メイリオ" panose="020B0604030504040204" pitchFamily="50" charset="-128"/>
              </a:rPr>
              <a:t>① 接触（認知・流入）</a:t>
            </a:r>
          </a:p>
        </p:txBody>
      </p:sp>
      <p:sp>
        <p:nvSpPr>
          <p:cNvPr id="12" name="テキスト ボックス 11">
            <a:extLst>
              <a:ext uri="{FF2B5EF4-FFF2-40B4-BE49-F238E27FC236}">
                <a16:creationId xmlns:a16="http://schemas.microsoft.com/office/drawing/2014/main" id="{2C43BB1A-3D6A-04B9-F8ED-26CB7DCA3735}"/>
              </a:ext>
            </a:extLst>
          </p:cNvPr>
          <p:cNvSpPr txBox="1"/>
          <p:nvPr/>
        </p:nvSpPr>
        <p:spPr>
          <a:xfrm>
            <a:off x="422130" y="2931847"/>
            <a:ext cx="2352196" cy="446111"/>
          </a:xfrm>
          <a:prstGeom prst="rect">
            <a:avLst/>
          </a:prstGeom>
          <a:solidFill>
            <a:schemeClr val="accent6">
              <a:lumMod val="40000"/>
              <a:lumOff val="60000"/>
              <a:alpha val="30000"/>
            </a:schemeClr>
          </a:solidFill>
        </p:spPr>
        <p:txBody>
          <a:bodyPr wrap="square">
            <a:spAutoFit/>
          </a:bodyPr>
          <a:lstStyle/>
          <a:p>
            <a:pPr>
              <a:buNone/>
            </a:pPr>
            <a:r>
              <a:rPr lang="ja-JP" altLang="ja-JP" sz="1200" b="1" dirty="0">
                <a:latin typeface="メイリオ" panose="020B0604030504040204" pitchFamily="50" charset="-128"/>
                <a:ea typeface="メイリオ" panose="020B0604030504040204" pitchFamily="50" charset="-128"/>
              </a:rPr>
              <a:t>③ 育成（興味</a:t>
            </a:r>
            <a:r>
              <a:rPr lang="ja-JP" altLang="en-US" sz="1200" b="1" dirty="0">
                <a:latin typeface="メイリオ" panose="020B0604030504040204" pitchFamily="50" charset="-128"/>
                <a:ea typeface="メイリオ" panose="020B0604030504040204" pitchFamily="50" charset="-128"/>
              </a:rPr>
              <a:t>喚起</a:t>
            </a:r>
            <a:r>
              <a:rPr lang="ja-JP" altLang="ja-JP" sz="1200" b="1" dirty="0">
                <a:latin typeface="メイリオ" panose="020B0604030504040204" pitchFamily="50" charset="-128"/>
                <a:ea typeface="メイリオ" panose="020B0604030504040204" pitchFamily="50" charset="-128"/>
              </a:rPr>
              <a:t>）</a:t>
            </a:r>
          </a:p>
        </p:txBody>
      </p:sp>
      <p:sp>
        <p:nvSpPr>
          <p:cNvPr id="15" name="テキスト ボックス 14">
            <a:extLst>
              <a:ext uri="{FF2B5EF4-FFF2-40B4-BE49-F238E27FC236}">
                <a16:creationId xmlns:a16="http://schemas.microsoft.com/office/drawing/2014/main" id="{BCB10DC8-82CD-0C69-034B-7642E1296837}"/>
              </a:ext>
            </a:extLst>
          </p:cNvPr>
          <p:cNvSpPr txBox="1"/>
          <p:nvPr/>
        </p:nvSpPr>
        <p:spPr>
          <a:xfrm>
            <a:off x="422130" y="2396521"/>
            <a:ext cx="2352196" cy="446111"/>
          </a:xfrm>
          <a:prstGeom prst="rect">
            <a:avLst/>
          </a:prstGeom>
          <a:solidFill>
            <a:schemeClr val="accent6">
              <a:lumMod val="40000"/>
              <a:lumOff val="60000"/>
              <a:alpha val="30000"/>
            </a:schemeClr>
          </a:solidFill>
        </p:spPr>
        <p:txBody>
          <a:bodyPr wrap="square">
            <a:spAutoFit/>
          </a:bodyPr>
          <a:lstStyle/>
          <a:p>
            <a:pPr>
              <a:buNone/>
            </a:pPr>
            <a:r>
              <a:rPr lang="ja-JP" altLang="ja-JP" sz="1200" b="1" dirty="0">
                <a:latin typeface="メイリオ" panose="020B0604030504040204" pitchFamily="50" charset="-128"/>
                <a:ea typeface="メイリオ" panose="020B0604030504040204" pitchFamily="50" charset="-128"/>
              </a:rPr>
              <a:t>② サイト離脱</a:t>
            </a:r>
            <a:r>
              <a:rPr lang="ja-JP" altLang="en-US" sz="1200" b="1" dirty="0">
                <a:latin typeface="メイリオ" panose="020B0604030504040204" pitchFamily="50" charset="-128"/>
                <a:ea typeface="メイリオ" panose="020B0604030504040204" pitchFamily="50" charset="-128"/>
              </a:rPr>
              <a:t>（対策）</a:t>
            </a:r>
            <a:endParaRPr lang="ja-JP" altLang="ja-JP" sz="1200" b="1" dirty="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015AFA19-CD5F-9379-AE26-44B78C354860}"/>
              </a:ext>
            </a:extLst>
          </p:cNvPr>
          <p:cNvSpPr txBox="1"/>
          <p:nvPr/>
        </p:nvSpPr>
        <p:spPr>
          <a:xfrm>
            <a:off x="422130" y="3467172"/>
            <a:ext cx="2352196" cy="446111"/>
          </a:xfrm>
          <a:prstGeom prst="rect">
            <a:avLst/>
          </a:prstGeom>
          <a:solidFill>
            <a:schemeClr val="accent6">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④リード獲得 </a:t>
            </a:r>
            <a:r>
              <a:rPr lang="en-US" altLang="ja-JP" sz="1000" b="1" dirty="0">
                <a:latin typeface="メイリオ" panose="020B0604030504040204" pitchFamily="50" charset="-128"/>
                <a:ea typeface="メイリオ" panose="020B0604030504040204" pitchFamily="50" charset="-128"/>
              </a:rPr>
              <a:t>(web)</a:t>
            </a:r>
            <a:endParaRPr lang="ja-JP" altLang="ja-JP" sz="1100" b="1"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22062743-7DD1-C474-56DE-C86161967F49}"/>
              </a:ext>
            </a:extLst>
          </p:cNvPr>
          <p:cNvSpPr txBox="1"/>
          <p:nvPr/>
        </p:nvSpPr>
        <p:spPr>
          <a:xfrm>
            <a:off x="422130" y="4407024"/>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⑤ リード有効化</a:t>
            </a:r>
            <a:endParaRPr lang="ja-JP" altLang="ja-JP" sz="1200" b="1" dirty="0">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B3F98235-7ECD-D5F4-08BE-76857355ABFA}"/>
              </a:ext>
            </a:extLst>
          </p:cNvPr>
          <p:cNvSpPr txBox="1"/>
          <p:nvPr/>
        </p:nvSpPr>
        <p:spPr>
          <a:xfrm>
            <a:off x="422130" y="5477676"/>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⑦マネタイズ</a:t>
            </a:r>
            <a:r>
              <a:rPr lang="en-US" altLang="ja-JP" sz="1050" b="1" dirty="0">
                <a:latin typeface="メイリオ" panose="020B0604030504040204" pitchFamily="50" charset="-128"/>
                <a:ea typeface="メイリオ" panose="020B0604030504040204" pitchFamily="50" charset="-128"/>
              </a:rPr>
              <a:t>(</a:t>
            </a:r>
            <a:r>
              <a:rPr lang="ja-JP" altLang="en-US" sz="1050" b="1" dirty="0">
                <a:latin typeface="メイリオ" panose="020B0604030504040204" pitchFamily="50" charset="-128"/>
                <a:ea typeface="メイリオ" panose="020B0604030504040204" pitchFamily="50" charset="-128"/>
              </a:rPr>
              <a:t>成約</a:t>
            </a:r>
            <a:r>
              <a:rPr lang="en-US" altLang="ja-JP" sz="1050" b="1" dirty="0">
                <a:latin typeface="メイリオ" panose="020B0604030504040204" pitchFamily="50" charset="-128"/>
                <a:ea typeface="メイリオ" panose="020B0604030504040204" pitchFamily="50" charset="-128"/>
              </a:rPr>
              <a:t>/</a:t>
            </a:r>
            <a:r>
              <a:rPr lang="ja-JP" altLang="en-US" sz="1050" b="1" dirty="0">
                <a:latin typeface="メイリオ" panose="020B0604030504040204" pitchFamily="50" charset="-128"/>
                <a:ea typeface="メイリオ" panose="020B0604030504040204" pitchFamily="50" charset="-128"/>
              </a:rPr>
              <a:t>購入</a:t>
            </a:r>
            <a:r>
              <a:rPr lang="en-US" altLang="ja-JP" sz="1050" b="1" dirty="0">
                <a:latin typeface="メイリオ" panose="020B0604030504040204" pitchFamily="50" charset="-128"/>
                <a:ea typeface="メイリオ" panose="020B0604030504040204" pitchFamily="50" charset="-128"/>
              </a:rPr>
              <a:t>)</a:t>
            </a:r>
            <a:endParaRPr lang="ja-JP" altLang="ja-JP" sz="1200" b="1" dirty="0">
              <a:latin typeface="メイリオ" panose="020B0604030504040204" pitchFamily="50" charset="-128"/>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999F747F-6C0D-0BDB-B5B7-8266514B8949}"/>
              </a:ext>
            </a:extLst>
          </p:cNvPr>
          <p:cNvSpPr txBox="1"/>
          <p:nvPr/>
        </p:nvSpPr>
        <p:spPr>
          <a:xfrm>
            <a:off x="422130" y="4942350"/>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⑥ 有効リードの再育成</a:t>
            </a:r>
            <a:endParaRPr lang="ja-JP" altLang="ja-JP" sz="1200" b="1" dirty="0">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A2277771-01BE-2A4E-C621-929D69C54177}"/>
              </a:ext>
            </a:extLst>
          </p:cNvPr>
          <p:cNvSpPr txBox="1"/>
          <p:nvPr/>
        </p:nvSpPr>
        <p:spPr>
          <a:xfrm>
            <a:off x="422130" y="6013004"/>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⑧</a:t>
            </a:r>
            <a:r>
              <a:rPr lang="en-US" altLang="ja-JP" sz="1200" b="1" dirty="0">
                <a:latin typeface="メイリオ" panose="020B0604030504040204" pitchFamily="50" charset="-128"/>
                <a:ea typeface="メイリオ" panose="020B0604030504040204" pitchFamily="50" charset="-128"/>
              </a:rPr>
              <a:t>LTV</a:t>
            </a:r>
            <a:r>
              <a:rPr lang="ja-JP" altLang="en-US" sz="1200" b="1" dirty="0">
                <a:latin typeface="メイリオ" panose="020B0604030504040204" pitchFamily="50" charset="-128"/>
                <a:ea typeface="メイリオ" panose="020B0604030504040204" pitchFamily="50" charset="-128"/>
              </a:rPr>
              <a:t>最大化・紹介</a:t>
            </a:r>
            <a:endParaRPr lang="ja-JP" altLang="ja-JP" sz="1200" b="1" dirty="0">
              <a:latin typeface="メイリオ" panose="020B0604030504040204" pitchFamily="50" charset="-128"/>
              <a:ea typeface="メイリオ" panose="020B0604030504040204" pitchFamily="50" charset="-128"/>
            </a:endParaRPr>
          </a:p>
        </p:txBody>
      </p:sp>
      <p:cxnSp>
        <p:nvCxnSpPr>
          <p:cNvPr id="21" name="直線矢印コネクタ 20">
            <a:extLst>
              <a:ext uri="{FF2B5EF4-FFF2-40B4-BE49-F238E27FC236}">
                <a16:creationId xmlns:a16="http://schemas.microsoft.com/office/drawing/2014/main" id="{9CD79024-49B9-DF89-8EE9-633017761437}"/>
              </a:ext>
            </a:extLst>
          </p:cNvPr>
          <p:cNvCxnSpPr>
            <a:cxnSpLocks/>
          </p:cNvCxnSpPr>
          <p:nvPr/>
        </p:nvCxnSpPr>
        <p:spPr>
          <a:xfrm>
            <a:off x="725974" y="3934112"/>
            <a:ext cx="0" cy="474234"/>
          </a:xfrm>
          <a:prstGeom prst="straightConnector1">
            <a:avLst/>
          </a:prstGeom>
          <a:ln w="127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2" name="テキスト ボックス 31">
            <a:extLst>
              <a:ext uri="{FF2B5EF4-FFF2-40B4-BE49-F238E27FC236}">
                <a16:creationId xmlns:a16="http://schemas.microsoft.com/office/drawing/2014/main" id="{3707324A-CA31-10C7-B6B8-E3A9A53CC3A2}"/>
              </a:ext>
            </a:extLst>
          </p:cNvPr>
          <p:cNvSpPr txBox="1"/>
          <p:nvPr/>
        </p:nvSpPr>
        <p:spPr>
          <a:xfrm>
            <a:off x="5143202" y="1861195"/>
            <a:ext cx="2352196" cy="446111"/>
          </a:xfrm>
          <a:prstGeom prst="rect">
            <a:avLst/>
          </a:prstGeom>
          <a:solidFill>
            <a:schemeClr val="accent6">
              <a:lumMod val="40000"/>
              <a:lumOff val="60000"/>
              <a:alpha val="30000"/>
            </a:schemeClr>
          </a:solidFill>
        </p:spPr>
        <p:txBody>
          <a:bodyPr wrap="square">
            <a:spAutoFit/>
          </a:bodyPr>
          <a:lstStyle/>
          <a:p>
            <a:pPr>
              <a:buNone/>
            </a:pPr>
            <a:r>
              <a:rPr lang="ja-JP" altLang="ja-JP" sz="1200" b="1" dirty="0">
                <a:latin typeface="メイリオ" panose="020B0604030504040204" pitchFamily="50" charset="-128"/>
                <a:ea typeface="メイリオ" panose="020B0604030504040204" pitchFamily="50" charset="-128"/>
              </a:rPr>
              <a:t>① 接触（認知・流入）</a:t>
            </a:r>
          </a:p>
        </p:txBody>
      </p:sp>
      <p:sp>
        <p:nvSpPr>
          <p:cNvPr id="34" name="テキスト ボックス 33">
            <a:extLst>
              <a:ext uri="{FF2B5EF4-FFF2-40B4-BE49-F238E27FC236}">
                <a16:creationId xmlns:a16="http://schemas.microsoft.com/office/drawing/2014/main" id="{2ADFDD2E-A723-2916-4648-0F5E903278F3}"/>
              </a:ext>
            </a:extLst>
          </p:cNvPr>
          <p:cNvSpPr txBox="1"/>
          <p:nvPr/>
        </p:nvSpPr>
        <p:spPr>
          <a:xfrm>
            <a:off x="5143202" y="2931847"/>
            <a:ext cx="2352196" cy="446111"/>
          </a:xfrm>
          <a:prstGeom prst="rect">
            <a:avLst/>
          </a:prstGeom>
          <a:solidFill>
            <a:schemeClr val="accent6">
              <a:lumMod val="40000"/>
              <a:lumOff val="60000"/>
              <a:alpha val="30000"/>
            </a:schemeClr>
          </a:solidFill>
        </p:spPr>
        <p:txBody>
          <a:bodyPr wrap="square">
            <a:spAutoFit/>
          </a:bodyPr>
          <a:lstStyle/>
          <a:p>
            <a:pPr>
              <a:buNone/>
            </a:pPr>
            <a:r>
              <a:rPr lang="ja-JP" altLang="ja-JP" sz="1200" b="1" dirty="0">
                <a:latin typeface="メイリオ" panose="020B0604030504040204" pitchFamily="50" charset="-128"/>
                <a:ea typeface="メイリオ" panose="020B0604030504040204" pitchFamily="50" charset="-128"/>
              </a:rPr>
              <a:t>③ 育成（興味</a:t>
            </a:r>
            <a:r>
              <a:rPr lang="ja-JP" altLang="en-US" sz="1200" b="1" dirty="0">
                <a:latin typeface="メイリオ" panose="020B0604030504040204" pitchFamily="50" charset="-128"/>
                <a:ea typeface="メイリオ" panose="020B0604030504040204" pitchFamily="50" charset="-128"/>
              </a:rPr>
              <a:t>喚起</a:t>
            </a:r>
            <a:r>
              <a:rPr lang="ja-JP" altLang="ja-JP" sz="1200" b="1" dirty="0">
                <a:latin typeface="メイリオ" panose="020B0604030504040204" pitchFamily="50" charset="-128"/>
                <a:ea typeface="メイリオ" panose="020B0604030504040204" pitchFamily="50" charset="-128"/>
              </a:rPr>
              <a:t>）</a:t>
            </a:r>
          </a:p>
        </p:txBody>
      </p:sp>
      <p:sp>
        <p:nvSpPr>
          <p:cNvPr id="35" name="テキスト ボックス 34">
            <a:extLst>
              <a:ext uri="{FF2B5EF4-FFF2-40B4-BE49-F238E27FC236}">
                <a16:creationId xmlns:a16="http://schemas.microsoft.com/office/drawing/2014/main" id="{B895B974-A656-2669-0CE1-C27F2B4B20BE}"/>
              </a:ext>
            </a:extLst>
          </p:cNvPr>
          <p:cNvSpPr txBox="1"/>
          <p:nvPr/>
        </p:nvSpPr>
        <p:spPr>
          <a:xfrm>
            <a:off x="5143202" y="2396521"/>
            <a:ext cx="2352196" cy="446111"/>
          </a:xfrm>
          <a:prstGeom prst="rect">
            <a:avLst/>
          </a:prstGeom>
          <a:solidFill>
            <a:schemeClr val="accent6">
              <a:lumMod val="40000"/>
              <a:lumOff val="60000"/>
              <a:alpha val="30000"/>
            </a:schemeClr>
          </a:solidFill>
        </p:spPr>
        <p:txBody>
          <a:bodyPr wrap="square">
            <a:spAutoFit/>
          </a:bodyPr>
          <a:lstStyle/>
          <a:p>
            <a:pPr>
              <a:buNone/>
            </a:pPr>
            <a:r>
              <a:rPr lang="ja-JP" altLang="ja-JP" sz="1200" b="1" dirty="0">
                <a:latin typeface="メイリオ" panose="020B0604030504040204" pitchFamily="50" charset="-128"/>
                <a:ea typeface="メイリオ" panose="020B0604030504040204" pitchFamily="50" charset="-128"/>
              </a:rPr>
              <a:t>② サイト離脱</a:t>
            </a:r>
            <a:r>
              <a:rPr lang="ja-JP" altLang="en-US" sz="1200" b="1" dirty="0">
                <a:latin typeface="メイリオ" panose="020B0604030504040204" pitchFamily="50" charset="-128"/>
                <a:ea typeface="メイリオ" panose="020B0604030504040204" pitchFamily="50" charset="-128"/>
              </a:rPr>
              <a:t>（対策）</a:t>
            </a:r>
            <a:endParaRPr lang="ja-JP" altLang="ja-JP" sz="1200" b="1" dirty="0">
              <a:latin typeface="メイリオ" panose="020B0604030504040204" pitchFamily="50" charset="-128"/>
              <a:ea typeface="メイリオ" panose="020B0604030504040204" pitchFamily="50" charset="-128"/>
            </a:endParaRPr>
          </a:p>
        </p:txBody>
      </p:sp>
      <p:sp>
        <p:nvSpPr>
          <p:cNvPr id="36" name="テキスト ボックス 35">
            <a:extLst>
              <a:ext uri="{FF2B5EF4-FFF2-40B4-BE49-F238E27FC236}">
                <a16:creationId xmlns:a16="http://schemas.microsoft.com/office/drawing/2014/main" id="{A07117C9-502D-4C6F-AA2E-1C1E7CF7B4C6}"/>
              </a:ext>
            </a:extLst>
          </p:cNvPr>
          <p:cNvSpPr txBox="1"/>
          <p:nvPr/>
        </p:nvSpPr>
        <p:spPr>
          <a:xfrm>
            <a:off x="5143202" y="3467173"/>
            <a:ext cx="2352196" cy="446111"/>
          </a:xfrm>
          <a:prstGeom prst="rect">
            <a:avLst/>
          </a:prstGeom>
          <a:solidFill>
            <a:schemeClr val="accent6">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④リード獲得 </a:t>
            </a:r>
            <a:r>
              <a:rPr lang="en-US" altLang="ja-JP" sz="1000" b="1" dirty="0">
                <a:latin typeface="メイリオ" panose="020B0604030504040204" pitchFamily="50" charset="-128"/>
                <a:ea typeface="メイリオ" panose="020B0604030504040204" pitchFamily="50" charset="-128"/>
              </a:rPr>
              <a:t>(web/LINE)</a:t>
            </a:r>
            <a:endParaRPr lang="ja-JP" altLang="ja-JP" sz="1100" b="1" dirty="0">
              <a:latin typeface="メイリオ" panose="020B0604030504040204" pitchFamily="50" charset="-128"/>
              <a:ea typeface="メイリオ" panose="020B0604030504040204" pitchFamily="50" charset="-128"/>
            </a:endParaRPr>
          </a:p>
        </p:txBody>
      </p:sp>
      <p:sp>
        <p:nvSpPr>
          <p:cNvPr id="38" name="テキスト ボックス 37">
            <a:extLst>
              <a:ext uri="{FF2B5EF4-FFF2-40B4-BE49-F238E27FC236}">
                <a16:creationId xmlns:a16="http://schemas.microsoft.com/office/drawing/2014/main" id="{56761199-CD70-153F-E94B-20E5E833D7A7}"/>
              </a:ext>
            </a:extLst>
          </p:cNvPr>
          <p:cNvSpPr txBox="1"/>
          <p:nvPr/>
        </p:nvSpPr>
        <p:spPr>
          <a:xfrm>
            <a:off x="5143202" y="4407024"/>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⑤ リード有効化</a:t>
            </a:r>
            <a:endParaRPr lang="ja-JP" altLang="ja-JP" sz="1200" b="1" dirty="0">
              <a:latin typeface="メイリオ" panose="020B0604030504040204" pitchFamily="50" charset="-128"/>
              <a:ea typeface="メイリオ" panose="020B0604030504040204" pitchFamily="50" charset="-128"/>
            </a:endParaRPr>
          </a:p>
        </p:txBody>
      </p:sp>
      <p:sp>
        <p:nvSpPr>
          <p:cNvPr id="40" name="テキスト ボックス 39">
            <a:extLst>
              <a:ext uri="{FF2B5EF4-FFF2-40B4-BE49-F238E27FC236}">
                <a16:creationId xmlns:a16="http://schemas.microsoft.com/office/drawing/2014/main" id="{72CCB353-50A1-FF17-E933-B1158BEE91E4}"/>
              </a:ext>
            </a:extLst>
          </p:cNvPr>
          <p:cNvSpPr txBox="1"/>
          <p:nvPr/>
        </p:nvSpPr>
        <p:spPr>
          <a:xfrm>
            <a:off x="5143202" y="5477676"/>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⑦マネタイズ</a:t>
            </a:r>
            <a:r>
              <a:rPr lang="en-US" altLang="ja-JP" sz="1050" b="1" dirty="0">
                <a:latin typeface="メイリオ" panose="020B0604030504040204" pitchFamily="50" charset="-128"/>
                <a:ea typeface="メイリオ" panose="020B0604030504040204" pitchFamily="50" charset="-128"/>
              </a:rPr>
              <a:t>(</a:t>
            </a:r>
            <a:r>
              <a:rPr lang="ja-JP" altLang="en-US" sz="1050" b="1" dirty="0">
                <a:latin typeface="メイリオ" panose="020B0604030504040204" pitchFamily="50" charset="-128"/>
                <a:ea typeface="メイリオ" panose="020B0604030504040204" pitchFamily="50" charset="-128"/>
              </a:rPr>
              <a:t>成約</a:t>
            </a:r>
            <a:r>
              <a:rPr lang="en-US" altLang="ja-JP" sz="1050" b="1" dirty="0">
                <a:latin typeface="メイリオ" panose="020B0604030504040204" pitchFamily="50" charset="-128"/>
                <a:ea typeface="メイリオ" panose="020B0604030504040204" pitchFamily="50" charset="-128"/>
              </a:rPr>
              <a:t>/</a:t>
            </a:r>
            <a:r>
              <a:rPr lang="ja-JP" altLang="en-US" sz="1050" b="1" dirty="0">
                <a:latin typeface="メイリオ" panose="020B0604030504040204" pitchFamily="50" charset="-128"/>
                <a:ea typeface="メイリオ" panose="020B0604030504040204" pitchFamily="50" charset="-128"/>
              </a:rPr>
              <a:t>購入</a:t>
            </a:r>
            <a:r>
              <a:rPr lang="en-US" altLang="ja-JP" sz="1050" b="1" dirty="0">
                <a:latin typeface="メイリオ" panose="020B0604030504040204" pitchFamily="50" charset="-128"/>
                <a:ea typeface="メイリオ" panose="020B0604030504040204" pitchFamily="50" charset="-128"/>
              </a:rPr>
              <a:t>)</a:t>
            </a:r>
            <a:endParaRPr lang="ja-JP" altLang="ja-JP" sz="1200" b="1" dirty="0">
              <a:latin typeface="メイリオ" panose="020B0604030504040204" pitchFamily="50" charset="-128"/>
              <a:ea typeface="メイリオ" panose="020B0604030504040204" pitchFamily="50" charset="-128"/>
            </a:endParaRPr>
          </a:p>
        </p:txBody>
      </p:sp>
      <p:sp>
        <p:nvSpPr>
          <p:cNvPr id="42" name="テキスト ボックス 41">
            <a:extLst>
              <a:ext uri="{FF2B5EF4-FFF2-40B4-BE49-F238E27FC236}">
                <a16:creationId xmlns:a16="http://schemas.microsoft.com/office/drawing/2014/main" id="{44A347FC-9BE7-316C-5F13-B7762E412092}"/>
              </a:ext>
            </a:extLst>
          </p:cNvPr>
          <p:cNvSpPr txBox="1"/>
          <p:nvPr/>
        </p:nvSpPr>
        <p:spPr>
          <a:xfrm>
            <a:off x="5143202" y="4942350"/>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⑥ 有効リードの再育成</a:t>
            </a:r>
            <a:endParaRPr lang="ja-JP" altLang="ja-JP" sz="1200" b="1" dirty="0">
              <a:latin typeface="メイリオ" panose="020B0604030504040204" pitchFamily="50" charset="-128"/>
              <a:ea typeface="メイリオ" panose="020B0604030504040204" pitchFamily="50" charset="-128"/>
            </a:endParaRPr>
          </a:p>
        </p:txBody>
      </p:sp>
      <p:sp>
        <p:nvSpPr>
          <p:cNvPr id="44" name="テキスト ボックス 43">
            <a:extLst>
              <a:ext uri="{FF2B5EF4-FFF2-40B4-BE49-F238E27FC236}">
                <a16:creationId xmlns:a16="http://schemas.microsoft.com/office/drawing/2014/main" id="{31750602-2370-CB79-F23B-20E4B2FC9A45}"/>
              </a:ext>
            </a:extLst>
          </p:cNvPr>
          <p:cNvSpPr txBox="1"/>
          <p:nvPr/>
        </p:nvSpPr>
        <p:spPr>
          <a:xfrm>
            <a:off x="5143202" y="6013004"/>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⑧</a:t>
            </a:r>
            <a:r>
              <a:rPr lang="en-US" altLang="ja-JP" sz="1200" b="1" dirty="0">
                <a:latin typeface="メイリオ" panose="020B0604030504040204" pitchFamily="50" charset="-128"/>
                <a:ea typeface="メイリオ" panose="020B0604030504040204" pitchFamily="50" charset="-128"/>
              </a:rPr>
              <a:t>LTV</a:t>
            </a:r>
            <a:r>
              <a:rPr lang="ja-JP" altLang="en-US" sz="1200" b="1" dirty="0">
                <a:latin typeface="メイリオ" panose="020B0604030504040204" pitchFamily="50" charset="-128"/>
                <a:ea typeface="メイリオ" panose="020B0604030504040204" pitchFamily="50" charset="-128"/>
              </a:rPr>
              <a:t>最大化・紹介</a:t>
            </a:r>
            <a:endParaRPr lang="ja-JP" altLang="ja-JP" sz="1200" b="1" dirty="0">
              <a:latin typeface="メイリオ" panose="020B0604030504040204" pitchFamily="50" charset="-128"/>
              <a:ea typeface="メイリオ" panose="020B0604030504040204" pitchFamily="50" charset="-128"/>
            </a:endParaRPr>
          </a:p>
        </p:txBody>
      </p:sp>
      <p:cxnSp>
        <p:nvCxnSpPr>
          <p:cNvPr id="46" name="直線矢印コネクタ 45">
            <a:extLst>
              <a:ext uri="{FF2B5EF4-FFF2-40B4-BE49-F238E27FC236}">
                <a16:creationId xmlns:a16="http://schemas.microsoft.com/office/drawing/2014/main" id="{7398214A-9BC3-94A2-1B44-ABFB6EF10A95}"/>
              </a:ext>
            </a:extLst>
          </p:cNvPr>
          <p:cNvCxnSpPr>
            <a:cxnSpLocks/>
          </p:cNvCxnSpPr>
          <p:nvPr/>
        </p:nvCxnSpPr>
        <p:spPr>
          <a:xfrm>
            <a:off x="5447046" y="3934112"/>
            <a:ext cx="0" cy="474234"/>
          </a:xfrm>
          <a:prstGeom prst="straightConnector1">
            <a:avLst/>
          </a:prstGeom>
          <a:ln w="127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pic>
        <p:nvPicPr>
          <p:cNvPr id="50" name="図 49">
            <a:extLst>
              <a:ext uri="{FF2B5EF4-FFF2-40B4-BE49-F238E27FC236}">
                <a16:creationId xmlns:a16="http://schemas.microsoft.com/office/drawing/2014/main" id="{BC82B682-A1BD-AF78-6196-B1E02CC1F3FB}"/>
              </a:ext>
            </a:extLst>
          </p:cNvPr>
          <p:cNvPicPr>
            <a:picLocks noChangeAspect="1"/>
          </p:cNvPicPr>
          <p:nvPr/>
        </p:nvPicPr>
        <p:blipFill>
          <a:blip r:embed="rId2"/>
          <a:stretch>
            <a:fillRect/>
          </a:stretch>
        </p:blipFill>
        <p:spPr>
          <a:xfrm>
            <a:off x="2277117" y="2386532"/>
            <a:ext cx="481489" cy="448956"/>
          </a:xfrm>
          <a:prstGeom prst="rect">
            <a:avLst/>
          </a:prstGeom>
        </p:spPr>
      </p:pic>
      <p:pic>
        <p:nvPicPr>
          <p:cNvPr id="54" name="図 53">
            <a:extLst>
              <a:ext uri="{FF2B5EF4-FFF2-40B4-BE49-F238E27FC236}">
                <a16:creationId xmlns:a16="http://schemas.microsoft.com/office/drawing/2014/main" id="{13BFB52F-AE2C-2214-E223-63E053D9FE07}"/>
              </a:ext>
            </a:extLst>
          </p:cNvPr>
          <p:cNvPicPr>
            <a:picLocks noChangeAspect="1"/>
          </p:cNvPicPr>
          <p:nvPr/>
        </p:nvPicPr>
        <p:blipFill>
          <a:blip r:embed="rId2"/>
          <a:stretch>
            <a:fillRect/>
          </a:stretch>
        </p:blipFill>
        <p:spPr>
          <a:xfrm>
            <a:off x="7114089" y="3453958"/>
            <a:ext cx="481489" cy="448956"/>
          </a:xfrm>
          <a:prstGeom prst="rect">
            <a:avLst/>
          </a:prstGeom>
        </p:spPr>
      </p:pic>
      <p:sp>
        <p:nvSpPr>
          <p:cNvPr id="62" name="正方形/長方形 61">
            <a:extLst>
              <a:ext uri="{FF2B5EF4-FFF2-40B4-BE49-F238E27FC236}">
                <a16:creationId xmlns:a16="http://schemas.microsoft.com/office/drawing/2014/main" id="{EDC00F02-3FEF-F2A7-D36C-00239CB92DE5}"/>
              </a:ext>
            </a:extLst>
          </p:cNvPr>
          <p:cNvSpPr/>
          <p:nvPr/>
        </p:nvSpPr>
        <p:spPr>
          <a:xfrm>
            <a:off x="175475" y="1503248"/>
            <a:ext cx="4721072" cy="297266"/>
          </a:xfrm>
          <a:prstGeom prst="rect">
            <a:avLst/>
          </a:prstGeom>
          <a:solidFill>
            <a:schemeClr val="tx1">
              <a:lumMod val="50000"/>
              <a:lumOff val="50000"/>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latin typeface="メイリオ" panose="020B0604030504040204" pitchFamily="50" charset="-128"/>
                <a:ea typeface="メイリオ" panose="020B0604030504040204" pitchFamily="50" charset="-128"/>
              </a:rPr>
              <a:t>施策パターン①</a:t>
            </a:r>
          </a:p>
        </p:txBody>
      </p:sp>
      <p:sp>
        <p:nvSpPr>
          <p:cNvPr id="66" name="正方形/長方形 65">
            <a:extLst>
              <a:ext uri="{FF2B5EF4-FFF2-40B4-BE49-F238E27FC236}">
                <a16:creationId xmlns:a16="http://schemas.microsoft.com/office/drawing/2014/main" id="{3B6038D6-0E00-CDB9-8318-C7D05A37E8F2}"/>
              </a:ext>
            </a:extLst>
          </p:cNvPr>
          <p:cNvSpPr/>
          <p:nvPr/>
        </p:nvSpPr>
        <p:spPr>
          <a:xfrm>
            <a:off x="4994298" y="1503247"/>
            <a:ext cx="4721072" cy="297266"/>
          </a:xfrm>
          <a:prstGeom prst="rect">
            <a:avLst/>
          </a:prstGeom>
          <a:solidFill>
            <a:schemeClr val="tx1">
              <a:lumMod val="50000"/>
              <a:lumOff val="50000"/>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latin typeface="メイリオ" panose="020B0604030504040204" pitchFamily="50" charset="-128"/>
                <a:ea typeface="メイリオ" panose="020B0604030504040204" pitchFamily="50" charset="-128"/>
              </a:rPr>
              <a:t>施策パターン②</a:t>
            </a:r>
          </a:p>
        </p:txBody>
      </p:sp>
      <p:pic>
        <p:nvPicPr>
          <p:cNvPr id="70" name="図 69">
            <a:extLst>
              <a:ext uri="{FF2B5EF4-FFF2-40B4-BE49-F238E27FC236}">
                <a16:creationId xmlns:a16="http://schemas.microsoft.com/office/drawing/2014/main" id="{B5C916EA-56BA-12E3-B0EE-D83A8EC90585}"/>
              </a:ext>
            </a:extLst>
          </p:cNvPr>
          <p:cNvPicPr>
            <a:picLocks noChangeAspect="1"/>
          </p:cNvPicPr>
          <p:nvPr/>
        </p:nvPicPr>
        <p:blipFill>
          <a:blip r:embed="rId3"/>
          <a:stretch>
            <a:fillRect/>
          </a:stretch>
        </p:blipFill>
        <p:spPr>
          <a:xfrm>
            <a:off x="7595578" y="3298969"/>
            <a:ext cx="2167546" cy="2688917"/>
          </a:xfrm>
          <a:prstGeom prst="rect">
            <a:avLst/>
          </a:prstGeom>
        </p:spPr>
      </p:pic>
      <p:pic>
        <p:nvPicPr>
          <p:cNvPr id="826" name="図 825">
            <a:extLst>
              <a:ext uri="{FF2B5EF4-FFF2-40B4-BE49-F238E27FC236}">
                <a16:creationId xmlns:a16="http://schemas.microsoft.com/office/drawing/2014/main" id="{2D4E7AC1-305D-07DC-9608-BFD7502EFD59}"/>
              </a:ext>
            </a:extLst>
          </p:cNvPr>
          <p:cNvPicPr>
            <a:picLocks noChangeAspect="1"/>
          </p:cNvPicPr>
          <p:nvPr/>
        </p:nvPicPr>
        <p:blipFill>
          <a:blip r:embed="rId4"/>
          <a:stretch>
            <a:fillRect/>
          </a:stretch>
        </p:blipFill>
        <p:spPr>
          <a:xfrm>
            <a:off x="2758613" y="2386532"/>
            <a:ext cx="2101635" cy="2379328"/>
          </a:xfrm>
          <a:prstGeom prst="rect">
            <a:avLst/>
          </a:prstGeom>
        </p:spPr>
      </p:pic>
    </p:spTree>
    <p:extLst>
      <p:ext uri="{BB962C8B-B14F-4D97-AF65-F5344CB8AC3E}">
        <p14:creationId xmlns:p14="http://schemas.microsoft.com/office/powerpoint/2010/main" val="22993589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1AF94-39A6-ED70-5918-C4DFB0937C8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AA7E1F7-0824-AE94-5B85-AB7CDE6A394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改善モデル①</a:t>
            </a:r>
          </a:p>
        </p:txBody>
      </p:sp>
      <p:sp>
        <p:nvSpPr>
          <p:cNvPr id="9" name="正方形/長方形 8">
            <a:extLst>
              <a:ext uri="{FF2B5EF4-FFF2-40B4-BE49-F238E27FC236}">
                <a16:creationId xmlns:a16="http://schemas.microsoft.com/office/drawing/2014/main" id="{C0FCF3C4-80C9-827F-1385-EBD6AE02077C}"/>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3" name="Google Shape;752;p28">
            <a:extLst>
              <a:ext uri="{FF2B5EF4-FFF2-40B4-BE49-F238E27FC236}">
                <a16:creationId xmlns:a16="http://schemas.microsoft.com/office/drawing/2014/main" id="{C5064B01-7057-EF97-C2C2-7EA1400AE068}"/>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施策を通じて貴社に送ることが出来る個人情報を最大化する。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7" name="テキスト ボックス 26">
            <a:extLst>
              <a:ext uri="{FF2B5EF4-FFF2-40B4-BE49-F238E27FC236}">
                <a16:creationId xmlns:a16="http://schemas.microsoft.com/office/drawing/2014/main" id="{6AB9A59D-5D83-F4A0-8E07-0F2D6665420A}"/>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77440BBB-52A3-1900-D18A-8AF25E970934}"/>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5A50DC53-429F-39BB-C171-6F57EE64F0C2}"/>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cxnSp>
        <p:nvCxnSpPr>
          <p:cNvPr id="32" name="コネクタ: カギ線 31">
            <a:extLst>
              <a:ext uri="{FF2B5EF4-FFF2-40B4-BE49-F238E27FC236}">
                <a16:creationId xmlns:a16="http://schemas.microsoft.com/office/drawing/2014/main" id="{A2FE37DB-7FF9-8AA6-3138-A9AA0818706B}"/>
              </a:ext>
            </a:extLst>
          </p:cNvPr>
          <p:cNvCxnSpPr>
            <a:cxnSpLocks/>
            <a:endCxn id="6" idx="2"/>
          </p:cNvCxnSpPr>
          <p:nvPr/>
        </p:nvCxnSpPr>
        <p:spPr>
          <a:xfrm rot="5400000" flipH="1" flipV="1">
            <a:off x="4284885" y="1729027"/>
            <a:ext cx="218990" cy="36561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60AD3EC5-397C-F2E1-06DA-B35AA3F6DA3B}"/>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A916BF7B-2A5E-9585-D6BF-4545B58F8CDA}"/>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0CF33E8B-8A1D-B1FB-4244-9F0AFB92429B}"/>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916C11C4-F5B8-BBD3-EE11-4BBAC85EFEF6}"/>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4900F58B-9BD8-36E8-2837-7D435FEE306F}"/>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1" name="正方形/長方形 10">
            <a:extLst>
              <a:ext uri="{FF2B5EF4-FFF2-40B4-BE49-F238E27FC236}">
                <a16:creationId xmlns:a16="http://schemas.microsoft.com/office/drawing/2014/main" id="{94AA99B3-016F-5352-F0F9-97BF2EF9495B}"/>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正方形/長方形 11">
            <a:extLst>
              <a:ext uri="{FF2B5EF4-FFF2-40B4-BE49-F238E27FC236}">
                <a16:creationId xmlns:a16="http://schemas.microsoft.com/office/drawing/2014/main" id="{A045185E-6C2C-A6FD-00A8-0A9C05295D96}"/>
              </a:ext>
            </a:extLst>
          </p:cNvPr>
          <p:cNvSpPr/>
          <p:nvPr/>
        </p:nvSpPr>
        <p:spPr>
          <a:xfrm>
            <a:off x="8382000" y="898654"/>
            <a:ext cx="1223554" cy="26009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成果報酬：可</a:t>
            </a:r>
          </a:p>
        </p:txBody>
      </p:sp>
      <p:sp>
        <p:nvSpPr>
          <p:cNvPr id="15" name="正方形/長方形 14">
            <a:extLst>
              <a:ext uri="{FF2B5EF4-FFF2-40B4-BE49-F238E27FC236}">
                <a16:creationId xmlns:a16="http://schemas.microsoft.com/office/drawing/2014/main" id="{EDFACFC7-1B18-419B-64DD-5EB407E04E3D}"/>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7" name="テキスト ボックス 16">
            <a:extLst>
              <a:ext uri="{FF2B5EF4-FFF2-40B4-BE49-F238E27FC236}">
                <a16:creationId xmlns:a16="http://schemas.microsoft.com/office/drawing/2014/main" id="{F808170B-2E7D-DA91-C855-5B0F96687E57}"/>
              </a:ext>
            </a:extLst>
          </p:cNvPr>
          <p:cNvSpPr txBox="1"/>
          <p:nvPr/>
        </p:nvSpPr>
        <p:spPr>
          <a:xfrm>
            <a:off x="3136468" y="2021330"/>
            <a:ext cx="1868111" cy="348203"/>
          </a:xfrm>
          <a:prstGeom prst="rect">
            <a:avLst/>
          </a:prstGeom>
          <a:solidFill>
            <a:srgbClr val="2080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④リード獲得 </a:t>
            </a:r>
            <a:r>
              <a:rPr lang="en-US" altLang="ja-JP" sz="900" b="1" dirty="0">
                <a:solidFill>
                  <a:schemeClr val="bg1"/>
                </a:solidFill>
                <a:latin typeface="メイリオ" panose="020B0604030504040204" pitchFamily="50" charset="-128"/>
                <a:ea typeface="メイリオ" panose="020B0604030504040204" pitchFamily="50" charset="-128"/>
              </a:rPr>
              <a:t>(web/LINE)</a:t>
            </a:r>
            <a:endParaRPr lang="ja-JP" altLang="ja-JP" sz="1050" b="1" dirty="0">
              <a:solidFill>
                <a:schemeClr val="bg1"/>
              </a:solidFill>
              <a:latin typeface="メイリオ" panose="020B0604030504040204" pitchFamily="50" charset="-128"/>
              <a:ea typeface="メイリオ" panose="020B0604030504040204" pitchFamily="50" charset="-128"/>
            </a:endParaRPr>
          </a:p>
        </p:txBody>
      </p:sp>
      <p:sp>
        <p:nvSpPr>
          <p:cNvPr id="215" name="正方形/長方形 214">
            <a:extLst>
              <a:ext uri="{FF2B5EF4-FFF2-40B4-BE49-F238E27FC236}">
                <a16:creationId xmlns:a16="http://schemas.microsoft.com/office/drawing/2014/main" id="{0D93F268-2976-E24C-FFDF-A52C518BD95E}"/>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広告・集客の成果地点として</a:t>
            </a:r>
            <a:r>
              <a:rPr kumimoji="1" lang="en-US" altLang="ja-JP" sz="1050" b="1" dirty="0">
                <a:latin typeface="メイリオ" panose="020B0604030504040204" pitchFamily="50" charset="-128"/>
                <a:ea typeface="メイリオ" panose="020B0604030504040204" pitchFamily="50" charset="-128"/>
              </a:rPr>
              <a:t>LINE</a:t>
            </a:r>
            <a:r>
              <a:rPr kumimoji="1" lang="ja-JP" altLang="en-US" sz="1050" b="1" dirty="0">
                <a:latin typeface="メイリオ" panose="020B0604030504040204" pitchFamily="50" charset="-128"/>
                <a:ea typeface="メイリオ" panose="020B0604030504040204" pitchFamily="50" charset="-128"/>
              </a:rPr>
              <a:t>を追加する</a:t>
            </a:r>
          </a:p>
        </p:txBody>
      </p:sp>
      <p:sp>
        <p:nvSpPr>
          <p:cNvPr id="217" name="正方形/長方形 216">
            <a:extLst>
              <a:ext uri="{FF2B5EF4-FFF2-40B4-BE49-F238E27FC236}">
                <a16:creationId xmlns:a16="http://schemas.microsoft.com/office/drawing/2014/main" id="{EFE9DDC0-6FAF-EE1E-D2F6-1599D9760DFE}"/>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a:latin typeface="メイリオ" panose="020B0604030504040204" pitchFamily="50" charset="-128"/>
                <a:ea typeface="メイリオ" panose="020B0604030504040204" pitchFamily="50" charset="-128"/>
              </a:rPr>
              <a:t>LINE</a:t>
            </a:r>
            <a:r>
              <a:rPr lang="ja-JP" altLang="en-US" sz="1050" b="1" dirty="0">
                <a:latin typeface="メイリオ" panose="020B0604030504040204" pitchFamily="50" charset="-128"/>
                <a:ea typeface="メイリオ" panose="020B0604030504040204" pitchFamily="50" charset="-128"/>
              </a:rPr>
              <a:t>の特典・メリットを適切なタイミングで提示し</a:t>
            </a:r>
            <a:r>
              <a:rPr lang="en-US" altLang="ja-JP" sz="1050" b="1" dirty="0">
                <a:latin typeface="メイリオ" panose="020B0604030504040204" pitchFamily="50" charset="-128"/>
                <a:ea typeface="メイリオ" panose="020B0604030504040204" pitchFamily="50" charset="-128"/>
              </a:rPr>
              <a:t>CV</a:t>
            </a:r>
            <a:r>
              <a:rPr lang="ja-JP" altLang="en-US" sz="1050" b="1" dirty="0">
                <a:latin typeface="メイリオ" panose="020B0604030504040204" pitchFamily="50" charset="-128"/>
                <a:ea typeface="メイリオ" panose="020B0604030504040204" pitchFamily="50" charset="-128"/>
              </a:rPr>
              <a:t>へ</a:t>
            </a:r>
          </a:p>
        </p:txBody>
      </p:sp>
      <p:sp>
        <p:nvSpPr>
          <p:cNvPr id="265" name="Shape 59">
            <a:extLst>
              <a:ext uri="{FF2B5EF4-FFF2-40B4-BE49-F238E27FC236}">
                <a16:creationId xmlns:a16="http://schemas.microsoft.com/office/drawing/2014/main" id="{2B92E1A5-40B4-D866-C1EB-8ACEB8EE470D}"/>
              </a:ext>
            </a:extLst>
          </p:cNvPr>
          <p:cNvSpPr/>
          <p:nvPr/>
        </p:nvSpPr>
        <p:spPr>
          <a:xfrm>
            <a:off x="265419" y="4842285"/>
            <a:ext cx="4541216" cy="1600804"/>
          </a:xfrm>
          <a:prstGeom prst="roundRect">
            <a:avLst>
              <a:gd name="adj" fmla="val 5263"/>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7" name="Shape 63">
            <a:extLst>
              <a:ext uri="{FF2B5EF4-FFF2-40B4-BE49-F238E27FC236}">
                <a16:creationId xmlns:a16="http://schemas.microsoft.com/office/drawing/2014/main" id="{986279D3-31B7-AFE5-0997-A2CDC716E6CD}"/>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9" name="Text 64">
            <a:extLst>
              <a:ext uri="{FF2B5EF4-FFF2-40B4-BE49-F238E27FC236}">
                <a16:creationId xmlns:a16="http://schemas.microsoft.com/office/drawing/2014/main" id="{314E4055-2D3D-DC19-BD60-79D095DBA6D9}"/>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LINE広告</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1" name="Text 65">
            <a:extLst>
              <a:ext uri="{FF2B5EF4-FFF2-40B4-BE49-F238E27FC236}">
                <a16:creationId xmlns:a16="http://schemas.microsoft.com/office/drawing/2014/main" id="{2259F17B-A9B0-7F43-8907-87383FCBF6CE}"/>
              </a:ext>
            </a:extLst>
          </p:cNvPr>
          <p:cNvSpPr/>
          <p:nvPr/>
        </p:nvSpPr>
        <p:spPr>
          <a:xfrm>
            <a:off x="1545579" y="4924581"/>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LINE広告（CPF）完結型 × LINE内チャットボット</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3" name="Text 66">
            <a:extLst>
              <a:ext uri="{FF2B5EF4-FFF2-40B4-BE49-F238E27FC236}">
                <a16:creationId xmlns:a16="http://schemas.microsoft.com/office/drawing/2014/main" id="{98D6C858-0A51-D469-C857-32114CFA96FE}"/>
              </a:ext>
            </a:extLst>
          </p:cNvPr>
          <p:cNvSpPr/>
          <p:nvPr/>
        </p:nvSpPr>
        <p:spPr>
          <a:xfrm>
            <a:off x="356859" y="5226333"/>
            <a:ext cx="4449774" cy="457200"/>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広告の</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CPF</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を利用して、興味関心</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商圏でのリード保有数を最大化。</a:t>
            </a:r>
            <a:endPar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endParaRPr>
          </a:p>
          <a:p>
            <a:pPr marL="0" marR="0" lvl="0" indent="0" defTabSz="914400" eaLnBrk="1" fontAlgn="auto" latinLnBrk="0" hangingPunct="1">
              <a:lnSpc>
                <a:spcPct val="135000"/>
              </a:lnSpc>
              <a:spcBef>
                <a:spcPts val="0"/>
              </a:spcBef>
              <a:spcAft>
                <a:spcPts val="0"/>
              </a:spcAft>
              <a:buClrTx/>
              <a:buSzTx/>
              <a:buFontTx/>
              <a:buNone/>
              <a:tabLst/>
              <a:defRPr/>
            </a:pP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LINE完結で</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WEBに遷移させないため離脱ゼロ</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でのステップ配信・有効リードの育成へ。</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5" name="Shape 68">
            <a:extLst>
              <a:ext uri="{FF2B5EF4-FFF2-40B4-BE49-F238E27FC236}">
                <a16:creationId xmlns:a16="http://schemas.microsoft.com/office/drawing/2014/main" id="{CFA7D9BB-A1E1-31FD-946A-B75B944AADA7}"/>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7" name="Text 69">
            <a:extLst>
              <a:ext uri="{FF2B5EF4-FFF2-40B4-BE49-F238E27FC236}">
                <a16:creationId xmlns:a16="http://schemas.microsoft.com/office/drawing/2014/main" id="{94B27B5E-13D7-A4CA-7352-4BBEA8C99224}"/>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9" name="Text 70">
            <a:extLst>
              <a:ext uri="{FF2B5EF4-FFF2-40B4-BE49-F238E27FC236}">
                <a16:creationId xmlns:a16="http://schemas.microsoft.com/office/drawing/2014/main" id="{02B4B046-1456-2549-8D2A-03FE8B9434D4}"/>
              </a:ext>
            </a:extLst>
          </p:cNvPr>
          <p:cNvSpPr/>
          <p:nvPr/>
        </p:nvSpPr>
        <p:spPr>
          <a:xfrm>
            <a:off x="363197" y="5687343"/>
            <a:ext cx="4053598" cy="146304"/>
          </a:xfrm>
          <a:prstGeom prst="rect">
            <a:avLst/>
          </a:prstGeom>
          <a:noFill/>
          <a:ln/>
        </p:spPr>
        <p:txBody>
          <a:bodyPr wrap="square" lIns="0" tIns="0" rIns="0" bIns="0" rtlCol="0" anchor="ctr"/>
          <a:lstStyle/>
          <a:p>
            <a:pPr marL="0" marR="0" lvl="0" indent="0" defTabSz="914400" eaLnBrk="1" fontAlgn="auto" latinLnBrk="0" hangingPunct="1">
              <a:lnSpc>
                <a:spcPct val="125000"/>
              </a:lnSpc>
              <a:spcBef>
                <a:spcPts val="0"/>
              </a:spcBef>
              <a:spcAft>
                <a:spcPts val="0"/>
              </a:spcAft>
              <a:buClrTx/>
              <a:buSzTx/>
              <a:buFontTx/>
              <a:buNone/>
              <a:tabLst/>
              <a:defRPr/>
            </a:pPr>
            <a:r>
              <a:rPr kumimoji="0" lang="en-US" sz="800" b="0" i="0" u="none" strike="noStrike" kern="0" cap="none" spc="0" normalizeH="0" baseline="0" noProof="0" dirty="0" err="1">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CPFの強みを活かすならLINE内完結設計が正解</a:t>
            </a:r>
            <a:r>
              <a:rPr kumimoji="0" lang="en-US" sz="800" b="0" i="0" u="none" strike="noStrike" kern="0" cap="none" spc="0" normalizeH="0" baseline="0" noProof="0" dirty="0">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1" name="Shape 71">
            <a:extLst>
              <a:ext uri="{FF2B5EF4-FFF2-40B4-BE49-F238E27FC236}">
                <a16:creationId xmlns:a16="http://schemas.microsoft.com/office/drawing/2014/main" id="{69A5DB50-D061-75F2-9683-580DA89DA5BD}"/>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3" name="Shape 72">
            <a:extLst>
              <a:ext uri="{FF2B5EF4-FFF2-40B4-BE49-F238E27FC236}">
                <a16:creationId xmlns:a16="http://schemas.microsoft.com/office/drawing/2014/main" id="{1E18DB25-A307-005D-2220-B5D1CB74EDBF}"/>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5" name="Text 73">
            <a:extLst>
              <a:ext uri="{FF2B5EF4-FFF2-40B4-BE49-F238E27FC236}">
                <a16:creationId xmlns:a16="http://schemas.microsoft.com/office/drawing/2014/main" id="{453E45E2-53B3-3123-A567-3CDA891BBEEF}"/>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7" name="Text 74">
            <a:extLst>
              <a:ext uri="{FF2B5EF4-FFF2-40B4-BE49-F238E27FC236}">
                <a16:creationId xmlns:a16="http://schemas.microsoft.com/office/drawing/2014/main" id="{35068314-9221-6665-F236-3F5B1A8773D8}"/>
              </a:ext>
            </a:extLst>
          </p:cNvPr>
          <p:cNvSpPr/>
          <p:nvPr/>
        </p:nvSpPr>
        <p:spPr>
          <a:xfrm>
            <a:off x="631179"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CPF広告タップ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9" name="Text 75">
            <a:extLst>
              <a:ext uri="{FF2B5EF4-FFF2-40B4-BE49-F238E27FC236}">
                <a16:creationId xmlns:a16="http://schemas.microsoft.com/office/drawing/2014/main" id="{9E831384-FBA1-9ABC-D5C4-E9D07BF92DC1}"/>
              </a:ext>
            </a:extLst>
          </p:cNvPr>
          <p:cNvSpPr/>
          <p:nvPr/>
        </p:nvSpPr>
        <p:spPr>
          <a:xfrm>
            <a:off x="411723"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即・友だち追加</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1" name="Text 76">
            <a:extLst>
              <a:ext uri="{FF2B5EF4-FFF2-40B4-BE49-F238E27FC236}">
                <a16:creationId xmlns:a16="http://schemas.microsoft.com/office/drawing/2014/main" id="{B609F64E-3A86-7ABF-C056-68CBD7347946}"/>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3" name="Shape 77">
            <a:extLst>
              <a:ext uri="{FF2B5EF4-FFF2-40B4-BE49-F238E27FC236}">
                <a16:creationId xmlns:a16="http://schemas.microsoft.com/office/drawing/2014/main" id="{A42E7FC8-693A-903C-101F-881077D3912E}"/>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5" name="Shape 78">
            <a:extLst>
              <a:ext uri="{FF2B5EF4-FFF2-40B4-BE49-F238E27FC236}">
                <a16:creationId xmlns:a16="http://schemas.microsoft.com/office/drawing/2014/main" id="{5D77DB8F-3255-B8FA-09A1-BA76AB1E30EC}"/>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7" name="Text 79">
            <a:extLst>
              <a:ext uri="{FF2B5EF4-FFF2-40B4-BE49-F238E27FC236}">
                <a16:creationId xmlns:a16="http://schemas.microsoft.com/office/drawing/2014/main" id="{AE657B72-3339-BAE3-9DA8-C9C378371C9D}"/>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9" name="Text 80">
            <a:extLst>
              <a:ext uri="{FF2B5EF4-FFF2-40B4-BE49-F238E27FC236}">
                <a16:creationId xmlns:a16="http://schemas.microsoft.com/office/drawing/2014/main" id="{582D1F5A-1093-8B0B-EC93-6F3E17DF1674}"/>
              </a:ext>
            </a:extLst>
          </p:cNvPr>
          <p:cNvSpPr/>
          <p:nvPr/>
        </p:nvSpPr>
        <p:spPr>
          <a:xfrm>
            <a:off x="2041211" y="5957091"/>
            <a:ext cx="98036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応答、ステップ起動</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1" name="Text 81">
            <a:extLst>
              <a:ext uri="{FF2B5EF4-FFF2-40B4-BE49-F238E27FC236}">
                <a16:creationId xmlns:a16="http://schemas.microsoft.com/office/drawing/2014/main" id="{267A8E72-34E2-AC1E-E783-02748F2A3058}"/>
              </a:ext>
            </a:extLst>
          </p:cNvPr>
          <p:cNvSpPr/>
          <p:nvPr/>
        </p:nvSpPr>
        <p:spPr>
          <a:xfrm>
            <a:off x="1819899"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ステップ配信が</a:t>
            </a:r>
            <a:r>
              <a:rPr kumimoji="0" lang="en-US" sz="7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起動</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3" name="Text 82">
            <a:extLst>
              <a:ext uri="{FF2B5EF4-FFF2-40B4-BE49-F238E27FC236}">
                <a16:creationId xmlns:a16="http://schemas.microsoft.com/office/drawing/2014/main" id="{9B65E420-0374-979E-BAA2-48722980545C}"/>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5" name="Shape 83">
            <a:extLst>
              <a:ext uri="{FF2B5EF4-FFF2-40B4-BE49-F238E27FC236}">
                <a16:creationId xmlns:a16="http://schemas.microsoft.com/office/drawing/2014/main" id="{7C0C6D93-01E9-C895-1E2E-400951DA4B8E}"/>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7" name="Shape 84">
            <a:extLst>
              <a:ext uri="{FF2B5EF4-FFF2-40B4-BE49-F238E27FC236}">
                <a16:creationId xmlns:a16="http://schemas.microsoft.com/office/drawing/2014/main" id="{6B131D82-5FD9-9308-3AF2-032B378170E3}"/>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9" name="Text 85">
            <a:extLst>
              <a:ext uri="{FF2B5EF4-FFF2-40B4-BE49-F238E27FC236}">
                <a16:creationId xmlns:a16="http://schemas.microsoft.com/office/drawing/2014/main" id="{A04EEFDD-332F-12BD-7677-D9DE3938B356}"/>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1" name="Text 86">
            <a:extLst>
              <a:ext uri="{FF2B5EF4-FFF2-40B4-BE49-F238E27FC236}">
                <a16:creationId xmlns:a16="http://schemas.microsoft.com/office/drawing/2014/main" id="{32928D0D-3150-AD73-9242-387FEEFEB4E7}"/>
              </a:ext>
            </a:extLst>
          </p:cNvPr>
          <p:cNvSpPr/>
          <p:nvPr/>
        </p:nvSpPr>
        <p:spPr>
          <a:xfrm>
            <a:off x="3447531"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リードデータ取得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3" name="Text 87">
            <a:extLst>
              <a:ext uri="{FF2B5EF4-FFF2-40B4-BE49-F238E27FC236}">
                <a16:creationId xmlns:a16="http://schemas.microsoft.com/office/drawing/2014/main" id="{155A8DAC-6178-45E5-B78E-ED5968433C87}"/>
              </a:ext>
            </a:extLst>
          </p:cNvPr>
          <p:cNvSpPr/>
          <p:nvPr/>
        </p:nvSpPr>
        <p:spPr>
          <a:xfrm>
            <a:off x="3228075"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LINE内で完結</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5" name="Shape 88">
            <a:extLst>
              <a:ext uri="{FF2B5EF4-FFF2-40B4-BE49-F238E27FC236}">
                <a16:creationId xmlns:a16="http://schemas.microsoft.com/office/drawing/2014/main" id="{65FD4E02-C70C-2DC3-6107-3854D0C99B17}"/>
              </a:ext>
            </a:extLst>
          </p:cNvPr>
          <p:cNvSpPr/>
          <p:nvPr/>
        </p:nvSpPr>
        <p:spPr>
          <a:xfrm>
            <a:off x="5099366" y="2999769"/>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9" name="Shape 113">
            <a:extLst>
              <a:ext uri="{FF2B5EF4-FFF2-40B4-BE49-F238E27FC236}">
                <a16:creationId xmlns:a16="http://schemas.microsoft.com/office/drawing/2014/main" id="{11234610-A1AC-AA19-B005-775FD3F8A3B3}"/>
              </a:ext>
            </a:extLst>
          </p:cNvPr>
          <p:cNvSpPr/>
          <p:nvPr/>
        </p:nvSpPr>
        <p:spPr>
          <a:xfrm>
            <a:off x="5099366" y="4842285"/>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1" name="Shape 117">
            <a:extLst>
              <a:ext uri="{FF2B5EF4-FFF2-40B4-BE49-F238E27FC236}">
                <a16:creationId xmlns:a16="http://schemas.microsoft.com/office/drawing/2014/main" id="{53B1A122-71EF-1F9B-0702-A1A1393823D4}"/>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3" name="Text 118">
            <a:extLst>
              <a:ext uri="{FF2B5EF4-FFF2-40B4-BE49-F238E27FC236}">
                <a16:creationId xmlns:a16="http://schemas.microsoft.com/office/drawing/2014/main" id="{841897D7-C412-EE47-0B0D-746DD32E330E}"/>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KW自動応答</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5" name="Text 119">
            <a:extLst>
              <a:ext uri="{FF2B5EF4-FFF2-40B4-BE49-F238E27FC236}">
                <a16:creationId xmlns:a16="http://schemas.microsoft.com/office/drawing/2014/main" id="{EBE6ADAD-9C3A-4E30-E6A7-BF0CDE4B5719}"/>
              </a:ext>
            </a:extLst>
          </p:cNvPr>
          <p:cNvSpPr/>
          <p:nvPr/>
        </p:nvSpPr>
        <p:spPr>
          <a:xfrm>
            <a:off x="6379527" y="4924581"/>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短期</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CV</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KW自動応答でFAQ即解消→</a:t>
            </a:r>
            <a:r>
              <a:rPr kumimoji="0" lang="en-US" altLang="ja-JP"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CV</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へ誘導</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7" name="Text 120">
            <a:extLst>
              <a:ext uri="{FF2B5EF4-FFF2-40B4-BE49-F238E27FC236}">
                <a16:creationId xmlns:a16="http://schemas.microsoft.com/office/drawing/2014/main" id="{9BC9F586-F4C8-69D1-0AB3-84BC5D46528A}"/>
              </a:ext>
            </a:extLst>
          </p:cNvPr>
          <p:cNvSpPr/>
          <p:nvPr/>
        </p:nvSpPr>
        <p:spPr>
          <a:xfrm>
            <a:off x="5190807" y="5226333"/>
            <a:ext cx="4449774" cy="493776"/>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ステップ配信と並行して、</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にて代表的な</a:t>
            </a:r>
            <a:r>
              <a:rPr kumimoji="0" lang="en-US" altLang="ja-JP"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Q</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に自動返答＋CV</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動線へ誘導</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p>
          <a:p>
            <a:pPr marL="0" marR="0" lvl="0" indent="0" defTabSz="914400" eaLnBrk="1" fontAlgn="auto" latinLnBrk="0" hangingPunct="1">
              <a:lnSpc>
                <a:spcPct val="135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24時間対応で「試しに聞いてみた」</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層</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をそのまま申込フォームへ転換</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9" name="Shape 121">
            <a:extLst>
              <a:ext uri="{FF2B5EF4-FFF2-40B4-BE49-F238E27FC236}">
                <a16:creationId xmlns:a16="http://schemas.microsoft.com/office/drawing/2014/main" id="{879C697E-7DA8-CA7E-D00D-C9CADF55302E}"/>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1" name="Shape 122">
            <a:extLst>
              <a:ext uri="{FF2B5EF4-FFF2-40B4-BE49-F238E27FC236}">
                <a16:creationId xmlns:a16="http://schemas.microsoft.com/office/drawing/2014/main" id="{E0FE3AAB-EEAF-8F74-4288-38540089361D}"/>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3" name="Text 123">
            <a:extLst>
              <a:ext uri="{FF2B5EF4-FFF2-40B4-BE49-F238E27FC236}">
                <a16:creationId xmlns:a16="http://schemas.microsoft.com/office/drawing/2014/main" id="{31A73E53-E872-D735-0EE5-02CFC5ED076F}"/>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5" name="Text 124">
            <a:extLst>
              <a:ext uri="{FF2B5EF4-FFF2-40B4-BE49-F238E27FC236}">
                <a16:creationId xmlns:a16="http://schemas.microsoft.com/office/drawing/2014/main" id="{014A61FB-ACC2-FA78-238A-10F112F08313}"/>
              </a:ext>
            </a:extLst>
          </p:cNvPr>
          <p:cNvSpPr/>
          <p:nvPr/>
        </p:nvSpPr>
        <p:spPr>
          <a:xfrm>
            <a:off x="5447079" y="5957091"/>
            <a:ext cx="1020168"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ステップ配信・</a:t>
            </a:r>
            <a:r>
              <a:rPr kumimoji="0" lang="en-US" altLang="ja-JP"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QA</a:t>
            </a:r>
            <a:r>
              <a:rPr kumimoji="0" lang="ja-JP" alt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7" name="Text 125">
            <a:extLst>
              <a:ext uri="{FF2B5EF4-FFF2-40B4-BE49-F238E27FC236}">
                <a16:creationId xmlns:a16="http://schemas.microsoft.com/office/drawing/2014/main" id="{61B557F9-9683-D913-1D65-DD25D26B2695}"/>
              </a:ext>
            </a:extLst>
          </p:cNvPr>
          <p:cNvSpPr/>
          <p:nvPr/>
        </p:nvSpPr>
        <p:spPr>
          <a:xfrm>
            <a:off x="5245671"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追加～</a:t>
            </a:r>
            <a:r>
              <a:rPr kumimoji="0" lang="en-US" altLang="ja-JP"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15</a:t>
            </a:r>
            <a:r>
              <a:rPr kumimoji="0" lang="ja-JP" alt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日で</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9" name="Text 126">
            <a:extLst>
              <a:ext uri="{FF2B5EF4-FFF2-40B4-BE49-F238E27FC236}">
                <a16:creationId xmlns:a16="http://schemas.microsoft.com/office/drawing/2014/main" id="{F117171D-C47B-261C-85AC-F680EF28CB19}"/>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1" name="Shape 127">
            <a:extLst>
              <a:ext uri="{FF2B5EF4-FFF2-40B4-BE49-F238E27FC236}">
                <a16:creationId xmlns:a16="http://schemas.microsoft.com/office/drawing/2014/main" id="{4BEE9167-F8E5-7442-64A8-E9F7D39F09D7}"/>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3" name="Shape 128">
            <a:extLst>
              <a:ext uri="{FF2B5EF4-FFF2-40B4-BE49-F238E27FC236}">
                <a16:creationId xmlns:a16="http://schemas.microsoft.com/office/drawing/2014/main" id="{9C2642A1-2BDB-C49F-7691-85BD71CF126B}"/>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5" name="Text 129">
            <a:extLst>
              <a:ext uri="{FF2B5EF4-FFF2-40B4-BE49-F238E27FC236}">
                <a16:creationId xmlns:a16="http://schemas.microsoft.com/office/drawing/2014/main" id="{B9E7F4F1-E140-0A15-9900-349580A383C4}"/>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7" name="Text 130">
            <a:extLst>
              <a:ext uri="{FF2B5EF4-FFF2-40B4-BE49-F238E27FC236}">
                <a16:creationId xmlns:a16="http://schemas.microsoft.com/office/drawing/2014/main" id="{538141D0-5353-E1AE-4CCC-4B7FBADE0E74}"/>
              </a:ext>
            </a:extLst>
          </p:cNvPr>
          <p:cNvSpPr/>
          <p:nvPr/>
        </p:nvSpPr>
        <p:spPr>
          <a:xfrm>
            <a:off x="6873303"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自動即返答</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9" name="Text 131">
            <a:extLst>
              <a:ext uri="{FF2B5EF4-FFF2-40B4-BE49-F238E27FC236}">
                <a16:creationId xmlns:a16="http://schemas.microsoft.com/office/drawing/2014/main" id="{507C3FBA-63F5-86D8-66C6-6318F2F8EDA2}"/>
              </a:ext>
            </a:extLst>
          </p:cNvPr>
          <p:cNvSpPr/>
          <p:nvPr/>
        </p:nvSpPr>
        <p:spPr>
          <a:xfrm>
            <a:off x="6653847"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FAQ解消＋LP URL送付</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1" name="Text 132">
            <a:extLst>
              <a:ext uri="{FF2B5EF4-FFF2-40B4-BE49-F238E27FC236}">
                <a16:creationId xmlns:a16="http://schemas.microsoft.com/office/drawing/2014/main" id="{6C6ED810-1D06-F9BD-D3C9-03D6BF6C14DA}"/>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3" name="Shape 133">
            <a:extLst>
              <a:ext uri="{FF2B5EF4-FFF2-40B4-BE49-F238E27FC236}">
                <a16:creationId xmlns:a16="http://schemas.microsoft.com/office/drawing/2014/main" id="{032FF15A-215D-CE84-EF89-D93E09191819}"/>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5" name="Shape 134">
            <a:extLst>
              <a:ext uri="{FF2B5EF4-FFF2-40B4-BE49-F238E27FC236}">
                <a16:creationId xmlns:a16="http://schemas.microsoft.com/office/drawing/2014/main" id="{4111E6D0-ABE0-6AC4-2D12-6FEF3F3EFA73}"/>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7" name="Text 135">
            <a:extLst>
              <a:ext uri="{FF2B5EF4-FFF2-40B4-BE49-F238E27FC236}">
                <a16:creationId xmlns:a16="http://schemas.microsoft.com/office/drawing/2014/main" id="{CF3AE303-2971-F53C-A610-F98F99E31897}"/>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9" name="Text 136">
            <a:extLst>
              <a:ext uri="{FF2B5EF4-FFF2-40B4-BE49-F238E27FC236}">
                <a16:creationId xmlns:a16="http://schemas.microsoft.com/office/drawing/2014/main" id="{F73C430F-E961-93C3-213B-0963BAC20CD3}"/>
              </a:ext>
            </a:extLst>
          </p:cNvPr>
          <p:cNvSpPr/>
          <p:nvPr/>
        </p:nvSpPr>
        <p:spPr>
          <a:xfrm>
            <a:off x="8281479"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申込フォームCV</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01" name="Text 137">
            <a:extLst>
              <a:ext uri="{FF2B5EF4-FFF2-40B4-BE49-F238E27FC236}">
                <a16:creationId xmlns:a16="http://schemas.microsoft.com/office/drawing/2014/main" id="{88FD7181-FD44-C0BF-B9A5-5C5C104EC047}"/>
              </a:ext>
            </a:extLst>
          </p:cNvPr>
          <p:cNvSpPr/>
          <p:nvPr/>
        </p:nvSpPr>
        <p:spPr>
          <a:xfrm>
            <a:off x="8062023"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24時間・スタッフ不要</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03" name="Shape 36">
            <a:extLst>
              <a:ext uri="{FF2B5EF4-FFF2-40B4-BE49-F238E27FC236}">
                <a16:creationId xmlns:a16="http://schemas.microsoft.com/office/drawing/2014/main" id="{D62EC5F5-FA90-2741-4644-800F1639B9D6}"/>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7" name="Shape 36">
            <a:extLst>
              <a:ext uri="{FF2B5EF4-FFF2-40B4-BE49-F238E27FC236}">
                <a16:creationId xmlns:a16="http://schemas.microsoft.com/office/drawing/2014/main" id="{3ABA6325-0C4D-ADBB-5C93-9AB0A04C8F15}"/>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53" name="Shape 36">
            <a:extLst>
              <a:ext uri="{FF2B5EF4-FFF2-40B4-BE49-F238E27FC236}">
                <a16:creationId xmlns:a16="http://schemas.microsoft.com/office/drawing/2014/main" id="{0BB2AEB8-7FA8-EBC7-04FD-AD5A5B8538F8}"/>
              </a:ext>
            </a:extLst>
          </p:cNvPr>
          <p:cNvSpPr/>
          <p:nvPr/>
        </p:nvSpPr>
        <p:spPr>
          <a:xfrm>
            <a:off x="5207551" y="3082504"/>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55" name="Shape 38">
            <a:extLst>
              <a:ext uri="{FF2B5EF4-FFF2-40B4-BE49-F238E27FC236}">
                <a16:creationId xmlns:a16="http://schemas.microsoft.com/office/drawing/2014/main" id="{3976CA87-D608-B478-0B7F-76C239579767}"/>
              </a:ext>
            </a:extLst>
          </p:cNvPr>
          <p:cNvSpPr/>
          <p:nvPr/>
        </p:nvSpPr>
        <p:spPr>
          <a:xfrm>
            <a:off x="5536735" y="3100792"/>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57" name="Text 39">
            <a:extLst>
              <a:ext uri="{FF2B5EF4-FFF2-40B4-BE49-F238E27FC236}">
                <a16:creationId xmlns:a16="http://schemas.microsoft.com/office/drawing/2014/main" id="{00B73596-25FE-7BEA-B356-6BA40FA3B1A1}"/>
              </a:ext>
            </a:extLst>
          </p:cNvPr>
          <p:cNvSpPr/>
          <p:nvPr/>
        </p:nvSpPr>
        <p:spPr>
          <a:xfrm>
            <a:off x="5536735" y="3100792"/>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kern="0" dirty="0">
                <a:solidFill>
                  <a:srgbClr val="1565C0"/>
                </a:solidFill>
                <a:latin typeface="メイリオ" panose="020B0604030504040204" pitchFamily="50" charset="-128"/>
                <a:ea typeface="メイリオ" panose="020B0604030504040204" pitchFamily="50" charset="-128"/>
                <a:cs typeface="Calibri" pitchFamily="34" charset="-120"/>
              </a:rPr>
              <a:t>低ハードル</a:t>
            </a:r>
            <a:r>
              <a:rPr kumimoji="0" lang="en-US" altLang="ja-JP" sz="750" b="1" kern="0" dirty="0">
                <a:solidFill>
                  <a:srgbClr val="1565C0"/>
                </a:solidFill>
                <a:latin typeface="メイリオ" panose="020B0604030504040204" pitchFamily="50" charset="-128"/>
                <a:ea typeface="メイリオ" panose="020B0604030504040204" pitchFamily="50" charset="-128"/>
                <a:cs typeface="Calibri" pitchFamily="34" charset="-120"/>
              </a:rPr>
              <a:t>CV</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59" name="Text 40">
            <a:extLst>
              <a:ext uri="{FF2B5EF4-FFF2-40B4-BE49-F238E27FC236}">
                <a16:creationId xmlns:a16="http://schemas.microsoft.com/office/drawing/2014/main" id="{8E8E8572-E4BF-C131-AD4E-7DE59476C19F}"/>
              </a:ext>
            </a:extLst>
          </p:cNvPr>
          <p:cNvSpPr/>
          <p:nvPr/>
        </p:nvSpPr>
        <p:spPr>
          <a:xfrm>
            <a:off x="6396271" y="3073360"/>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簡易</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r>
              <a:rPr kumimoji="0" 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 × </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リード＋</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LINE登録</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（サンクス</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1" name="Text 41">
            <a:extLst>
              <a:ext uri="{FF2B5EF4-FFF2-40B4-BE49-F238E27FC236}">
                <a16:creationId xmlns:a16="http://schemas.microsoft.com/office/drawing/2014/main" id="{A02D25CE-9C9B-6858-9645-3D054403B80F}"/>
              </a:ext>
            </a:extLst>
          </p:cNvPr>
          <p:cNvSpPr/>
          <p:nvPr/>
        </p:nvSpPr>
        <p:spPr>
          <a:xfrm>
            <a:off x="5207551" y="3375112"/>
            <a:ext cx="4449774" cy="493776"/>
          </a:xfrm>
          <a:prstGeom prst="rect">
            <a:avLst/>
          </a:prstGeom>
          <a:noFill/>
          <a:ln/>
        </p:spPr>
        <p:txBody>
          <a:bodyPr wrap="square" lIns="0" tIns="0" rIns="0" bIns="0" rtlCol="0" anchor="ctr"/>
          <a:lstStyle/>
          <a:p>
            <a:pPr lvl="0">
              <a:lnSpc>
                <a:spcPct val="135000"/>
              </a:lnSpc>
              <a:defRPr/>
            </a:pP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シミュレーター、簡易診断を</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受け取る</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簡易的な</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を作成し</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リード＋</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友だち追加そのままステップ配信へ移行</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CVR</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を</a:t>
            </a:r>
            <a:r>
              <a:rPr kumimoji="0" lang="ja-JP" altLang="en-US" sz="850" b="1"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b="1"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2</a:t>
            </a:r>
            <a:r>
              <a:rPr kumimoji="0" lang="ja-JP" altLang="en-US" sz="850" b="1"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％前後</a:t>
            </a:r>
            <a:r>
              <a:rPr kumimoji="0" lang="ja-JP" altLang="en-US" sz="850" b="1" kern="0" dirty="0">
                <a:solidFill>
                  <a:srgbClr val="4A4A6A"/>
                </a:solidFill>
                <a:latin typeface="メイリオ" panose="020B0604030504040204" pitchFamily="50" charset="-128"/>
                <a:ea typeface="メイリオ" panose="020B0604030504040204" pitchFamily="50" charset="-128"/>
                <a:cs typeface="Calibri" pitchFamily="34" charset="-120"/>
              </a:rPr>
              <a:t>」を「</a:t>
            </a:r>
            <a:r>
              <a:rPr kumimoji="0" lang="en-US" altLang="ja-JP" sz="850" b="1" kern="0" dirty="0">
                <a:solidFill>
                  <a:srgbClr val="4A4A6A"/>
                </a:solidFill>
                <a:latin typeface="メイリオ" panose="020B0604030504040204" pitchFamily="50" charset="-128"/>
                <a:ea typeface="メイリオ" panose="020B0604030504040204" pitchFamily="50" charset="-128"/>
                <a:cs typeface="Calibri" pitchFamily="34" charset="-120"/>
              </a:rPr>
              <a:t>5</a:t>
            </a:r>
            <a:r>
              <a:rPr kumimoji="0" lang="ja-JP" altLang="en-US" sz="850" b="1" kern="0" dirty="0">
                <a:solidFill>
                  <a:srgbClr val="4A4A6A"/>
                </a:solidFill>
                <a:latin typeface="メイリオ" panose="020B0604030504040204" pitchFamily="50" charset="-128"/>
                <a:ea typeface="メイリオ" panose="020B0604030504040204" pitchFamily="50" charset="-128"/>
                <a:cs typeface="Calibri" pitchFamily="34" charset="-120"/>
              </a:rPr>
              <a:t>－</a:t>
            </a:r>
            <a:r>
              <a:rPr kumimoji="0" lang="en-US" altLang="ja-JP" sz="850" b="1" kern="0" dirty="0">
                <a:solidFill>
                  <a:srgbClr val="4A4A6A"/>
                </a:solidFill>
                <a:latin typeface="メイリオ" panose="020B0604030504040204" pitchFamily="50" charset="-128"/>
                <a:ea typeface="メイリオ" panose="020B0604030504040204" pitchFamily="50" charset="-128"/>
                <a:cs typeface="Calibri" pitchFamily="34" charset="-120"/>
              </a:rPr>
              <a:t>10</a:t>
            </a:r>
            <a:r>
              <a:rPr kumimoji="0" lang="ja-JP" altLang="en-US" sz="850" b="1" kern="0" dirty="0">
                <a:solidFill>
                  <a:srgbClr val="4A4A6A"/>
                </a:solidFill>
                <a:latin typeface="メイリオ" panose="020B0604030504040204" pitchFamily="50" charset="-128"/>
                <a:ea typeface="メイリオ" panose="020B0604030504040204" pitchFamily="50" charset="-128"/>
                <a:cs typeface="Calibri" pitchFamily="34" charset="-120"/>
              </a:rPr>
              <a:t>％」に引上げてリード最大化。</a:t>
            </a:r>
            <a:endParaRPr kumimoji="0" lang="en-US" sz="850" b="1"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3" name="Shape 42">
            <a:extLst>
              <a:ext uri="{FF2B5EF4-FFF2-40B4-BE49-F238E27FC236}">
                <a16:creationId xmlns:a16="http://schemas.microsoft.com/office/drawing/2014/main" id="{A9C5DE92-D696-84FB-0338-A45B2163E84E}"/>
              </a:ext>
            </a:extLst>
          </p:cNvPr>
          <p:cNvSpPr/>
          <p:nvPr/>
        </p:nvSpPr>
        <p:spPr>
          <a:xfrm>
            <a:off x="5207551" y="4069294"/>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65" name="Shape 43">
            <a:extLst>
              <a:ext uri="{FF2B5EF4-FFF2-40B4-BE49-F238E27FC236}">
                <a16:creationId xmlns:a16="http://schemas.microsoft.com/office/drawing/2014/main" id="{7A414BE8-8C56-464D-5646-C8428426E154}"/>
              </a:ext>
            </a:extLst>
          </p:cNvPr>
          <p:cNvSpPr/>
          <p:nvPr/>
        </p:nvSpPr>
        <p:spPr>
          <a:xfrm>
            <a:off x="5262415" y="4124158"/>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67" name="Text 44">
            <a:extLst>
              <a:ext uri="{FF2B5EF4-FFF2-40B4-BE49-F238E27FC236}">
                <a16:creationId xmlns:a16="http://schemas.microsoft.com/office/drawing/2014/main" id="{71F14BEE-D634-88A2-56B2-296177E648B8}"/>
              </a:ext>
            </a:extLst>
          </p:cNvPr>
          <p:cNvSpPr/>
          <p:nvPr/>
        </p:nvSpPr>
        <p:spPr>
          <a:xfrm>
            <a:off x="5262415"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9" name="Text 45">
            <a:extLst>
              <a:ext uri="{FF2B5EF4-FFF2-40B4-BE49-F238E27FC236}">
                <a16:creationId xmlns:a16="http://schemas.microsoft.com/office/drawing/2014/main" id="{38EAA9FF-3D6F-9893-A6AC-492E1F8D9ED2}"/>
              </a:ext>
            </a:extLst>
          </p:cNvPr>
          <p:cNvSpPr/>
          <p:nvPr/>
        </p:nvSpPr>
        <p:spPr>
          <a:xfrm>
            <a:off x="5481871" y="4105870"/>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超簡易</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1" name="Text 46">
            <a:extLst>
              <a:ext uri="{FF2B5EF4-FFF2-40B4-BE49-F238E27FC236}">
                <a16:creationId xmlns:a16="http://schemas.microsoft.com/office/drawing/2014/main" id="{76F9D806-0316-8040-BBC1-059EC4037026}"/>
              </a:ext>
            </a:extLst>
          </p:cNvPr>
          <p:cNvSpPr/>
          <p:nvPr/>
        </p:nvSpPr>
        <p:spPr>
          <a:xfrm>
            <a:off x="5262415" y="4316182"/>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リード獲得</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3" name="Text 47">
            <a:extLst>
              <a:ext uri="{FF2B5EF4-FFF2-40B4-BE49-F238E27FC236}">
                <a16:creationId xmlns:a16="http://schemas.microsoft.com/office/drawing/2014/main" id="{A91D1983-BD63-6B03-7992-4EBA1D20A7ED}"/>
              </a:ext>
            </a:extLst>
          </p:cNvPr>
          <p:cNvSpPr/>
          <p:nvPr/>
        </p:nvSpPr>
        <p:spPr>
          <a:xfrm>
            <a:off x="6487711" y="4224742"/>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5" name="Shape 48">
            <a:extLst>
              <a:ext uri="{FF2B5EF4-FFF2-40B4-BE49-F238E27FC236}">
                <a16:creationId xmlns:a16="http://schemas.microsoft.com/office/drawing/2014/main" id="{1B608CB6-10B1-7849-F676-C778EAF32793}"/>
              </a:ext>
            </a:extLst>
          </p:cNvPr>
          <p:cNvSpPr/>
          <p:nvPr/>
        </p:nvSpPr>
        <p:spPr>
          <a:xfrm>
            <a:off x="6615727" y="4069294"/>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77" name="Shape 49">
            <a:extLst>
              <a:ext uri="{FF2B5EF4-FFF2-40B4-BE49-F238E27FC236}">
                <a16:creationId xmlns:a16="http://schemas.microsoft.com/office/drawing/2014/main" id="{C6FD4C21-79ED-9901-73BB-36FADC629074}"/>
              </a:ext>
            </a:extLst>
          </p:cNvPr>
          <p:cNvSpPr/>
          <p:nvPr/>
        </p:nvSpPr>
        <p:spPr>
          <a:xfrm>
            <a:off x="6670591" y="4124158"/>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79" name="Text 50">
            <a:extLst>
              <a:ext uri="{FF2B5EF4-FFF2-40B4-BE49-F238E27FC236}">
                <a16:creationId xmlns:a16="http://schemas.microsoft.com/office/drawing/2014/main" id="{3AF7109C-EDE8-F8BE-01DA-9C306F9D4491}"/>
              </a:ext>
            </a:extLst>
          </p:cNvPr>
          <p:cNvSpPr/>
          <p:nvPr/>
        </p:nvSpPr>
        <p:spPr>
          <a:xfrm>
            <a:off x="6670591"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1" name="Text 51">
            <a:extLst>
              <a:ext uri="{FF2B5EF4-FFF2-40B4-BE49-F238E27FC236}">
                <a16:creationId xmlns:a16="http://schemas.microsoft.com/office/drawing/2014/main" id="{6A7C6314-C31C-2B4B-7A8D-E8DECD286DE8}"/>
              </a:ext>
            </a:extLst>
          </p:cNvPr>
          <p:cNvSpPr/>
          <p:nvPr/>
        </p:nvSpPr>
        <p:spPr>
          <a:xfrm>
            <a:off x="6887872" y="4105870"/>
            <a:ext cx="100584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サンクス</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誘導</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3" name="Text 52">
            <a:extLst>
              <a:ext uri="{FF2B5EF4-FFF2-40B4-BE49-F238E27FC236}">
                <a16:creationId xmlns:a16="http://schemas.microsoft.com/office/drawing/2014/main" id="{0C3AD28D-E803-BC04-74B7-651CDCD70000}"/>
              </a:ext>
            </a:extLst>
          </p:cNvPr>
          <p:cNvSpPr/>
          <p:nvPr/>
        </p:nvSpPr>
        <p:spPr>
          <a:xfrm>
            <a:off x="6621208" y="4316182"/>
            <a:ext cx="137196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上で受取</a:t>
            </a:r>
            <a:r>
              <a:rPr kumimoji="0" lang="ja-JP" altLang="en-US" sz="750" kern="0" dirty="0">
                <a:solidFill>
                  <a:srgbClr val="4A4A6A"/>
                </a:solidFill>
                <a:latin typeface="メイリオ" panose="020B0604030504040204" pitchFamily="50" charset="-128"/>
                <a:ea typeface="メイリオ" panose="020B0604030504040204" pitchFamily="50" charset="-128"/>
                <a:cs typeface="Calibri" pitchFamily="34" charset="-120"/>
              </a:rPr>
              <a:t>として友だちに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5" name="Text 53">
            <a:extLst>
              <a:ext uri="{FF2B5EF4-FFF2-40B4-BE49-F238E27FC236}">
                <a16:creationId xmlns:a16="http://schemas.microsoft.com/office/drawing/2014/main" id="{2FB8B884-DB13-49DB-D682-50EB7789C9A4}"/>
              </a:ext>
            </a:extLst>
          </p:cNvPr>
          <p:cNvSpPr/>
          <p:nvPr/>
        </p:nvSpPr>
        <p:spPr>
          <a:xfrm>
            <a:off x="7895887" y="4224742"/>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7" name="Shape 54">
            <a:extLst>
              <a:ext uri="{FF2B5EF4-FFF2-40B4-BE49-F238E27FC236}">
                <a16:creationId xmlns:a16="http://schemas.microsoft.com/office/drawing/2014/main" id="{710A2000-BA3B-1AFB-FCE0-644E6898DD03}"/>
              </a:ext>
            </a:extLst>
          </p:cNvPr>
          <p:cNvSpPr/>
          <p:nvPr/>
        </p:nvSpPr>
        <p:spPr>
          <a:xfrm>
            <a:off x="8023903" y="4069294"/>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89" name="Shape 55">
            <a:extLst>
              <a:ext uri="{FF2B5EF4-FFF2-40B4-BE49-F238E27FC236}">
                <a16:creationId xmlns:a16="http://schemas.microsoft.com/office/drawing/2014/main" id="{1037F87F-5E4D-E3F5-E197-701DC444F492}"/>
              </a:ext>
            </a:extLst>
          </p:cNvPr>
          <p:cNvSpPr/>
          <p:nvPr/>
        </p:nvSpPr>
        <p:spPr>
          <a:xfrm>
            <a:off x="8078767" y="4124158"/>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91" name="Text 56">
            <a:extLst>
              <a:ext uri="{FF2B5EF4-FFF2-40B4-BE49-F238E27FC236}">
                <a16:creationId xmlns:a16="http://schemas.microsoft.com/office/drawing/2014/main" id="{B168640B-7EB6-045C-32D4-9F60E9C4069A}"/>
              </a:ext>
            </a:extLst>
          </p:cNvPr>
          <p:cNvSpPr/>
          <p:nvPr/>
        </p:nvSpPr>
        <p:spPr>
          <a:xfrm>
            <a:off x="8078767"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93" name="Text 57">
            <a:extLst>
              <a:ext uri="{FF2B5EF4-FFF2-40B4-BE49-F238E27FC236}">
                <a16:creationId xmlns:a16="http://schemas.microsoft.com/office/drawing/2014/main" id="{E14BC7E9-3708-9505-AC4A-060665171BCD}"/>
              </a:ext>
            </a:extLst>
          </p:cNvPr>
          <p:cNvSpPr/>
          <p:nvPr/>
        </p:nvSpPr>
        <p:spPr>
          <a:xfrm>
            <a:off x="8298223" y="4105870"/>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友だち追加完了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95" name="Text 58">
            <a:extLst>
              <a:ext uri="{FF2B5EF4-FFF2-40B4-BE49-F238E27FC236}">
                <a16:creationId xmlns:a16="http://schemas.microsoft.com/office/drawing/2014/main" id="{5677227D-7522-18E3-CFF0-A01DE3054B96}"/>
              </a:ext>
            </a:extLst>
          </p:cNvPr>
          <p:cNvSpPr/>
          <p:nvPr/>
        </p:nvSpPr>
        <p:spPr>
          <a:xfrm>
            <a:off x="8078767" y="4316182"/>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err="1">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ステップ配信</a:t>
            </a:r>
            <a:r>
              <a:rPr kumimoji="0" lang="ja-JP" altLang="en-US" sz="750" kern="0" dirty="0">
                <a:solidFill>
                  <a:srgbClr val="D0E8FF"/>
                </a:solidFill>
                <a:latin typeface="メイリオ" panose="020B0604030504040204" pitchFamily="50" charset="-128"/>
                <a:ea typeface="メイリオ" panose="020B0604030504040204" pitchFamily="50" charset="-128"/>
                <a:cs typeface="Calibri" pitchFamily="34" charset="-120"/>
              </a:rPr>
              <a:t>対象に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43" name="Shape 88">
            <a:extLst>
              <a:ext uri="{FF2B5EF4-FFF2-40B4-BE49-F238E27FC236}">
                <a16:creationId xmlns:a16="http://schemas.microsoft.com/office/drawing/2014/main" id="{E0F73C02-327E-D244-0ABD-F19F91EB24DD}"/>
              </a:ext>
            </a:extLst>
          </p:cNvPr>
          <p:cNvSpPr/>
          <p:nvPr/>
        </p:nvSpPr>
        <p:spPr>
          <a:xfrm>
            <a:off x="261702" y="2995754"/>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45" name="Shape 36">
            <a:extLst>
              <a:ext uri="{FF2B5EF4-FFF2-40B4-BE49-F238E27FC236}">
                <a16:creationId xmlns:a16="http://schemas.microsoft.com/office/drawing/2014/main" id="{845DFC42-70E6-B496-30C2-C44315D85C79}"/>
              </a:ext>
            </a:extLst>
          </p:cNvPr>
          <p:cNvSpPr/>
          <p:nvPr/>
        </p:nvSpPr>
        <p:spPr>
          <a:xfrm>
            <a:off x="369887" y="307848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547" name="Shape 38">
            <a:extLst>
              <a:ext uri="{FF2B5EF4-FFF2-40B4-BE49-F238E27FC236}">
                <a16:creationId xmlns:a16="http://schemas.microsoft.com/office/drawing/2014/main" id="{2DBF8816-E4F7-4E6B-6AB6-19DEA2101114}"/>
              </a:ext>
            </a:extLst>
          </p:cNvPr>
          <p:cNvSpPr/>
          <p:nvPr/>
        </p:nvSpPr>
        <p:spPr>
          <a:xfrm>
            <a:off x="699071" y="309677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49" name="Text 39">
            <a:extLst>
              <a:ext uri="{FF2B5EF4-FFF2-40B4-BE49-F238E27FC236}">
                <a16:creationId xmlns:a16="http://schemas.microsoft.com/office/drawing/2014/main" id="{27DB11BF-957B-1CEF-3AC8-18BF5DCF40D9}"/>
              </a:ext>
            </a:extLst>
          </p:cNvPr>
          <p:cNvSpPr/>
          <p:nvPr/>
        </p:nvSpPr>
        <p:spPr>
          <a:xfrm>
            <a:off x="699071" y="309677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rPr>
              <a:t>CV</a:t>
            </a:r>
            <a:r>
              <a:rPr kumimoji="0" lang="ja-JP" altLang="en-US"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rPr>
              <a:t>地点追加</a:t>
            </a:r>
            <a:endParaRPr kumimoji="0" lang="en-US"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endParaRPr>
          </a:p>
        </p:txBody>
      </p:sp>
      <p:sp>
        <p:nvSpPr>
          <p:cNvPr id="551" name="Text 40">
            <a:extLst>
              <a:ext uri="{FF2B5EF4-FFF2-40B4-BE49-F238E27FC236}">
                <a16:creationId xmlns:a16="http://schemas.microsoft.com/office/drawing/2014/main" id="{C23E771B-F34E-1D51-1F7F-E37507CCE586}"/>
              </a:ext>
            </a:extLst>
          </p:cNvPr>
          <p:cNvSpPr/>
          <p:nvPr/>
        </p:nvSpPr>
        <p:spPr>
          <a:xfrm>
            <a:off x="1558607" y="3069345"/>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追加をそもそも集客成果の</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1</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地点に追加</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53" name="Text 41">
            <a:extLst>
              <a:ext uri="{FF2B5EF4-FFF2-40B4-BE49-F238E27FC236}">
                <a16:creationId xmlns:a16="http://schemas.microsoft.com/office/drawing/2014/main" id="{2C88C715-1A68-D7F9-6C3C-2E4E657F87BC}"/>
              </a:ext>
            </a:extLst>
          </p:cNvPr>
          <p:cNvSpPr/>
          <p:nvPr/>
        </p:nvSpPr>
        <p:spPr>
          <a:xfrm>
            <a:off x="369887" y="3371097"/>
            <a:ext cx="4449774" cy="493776"/>
          </a:xfrm>
          <a:prstGeom prst="rect">
            <a:avLst/>
          </a:prstGeom>
          <a:noFill/>
          <a:ln/>
        </p:spPr>
        <p:txBody>
          <a:bodyPr wrap="square" lIns="0" tIns="0" rIns="0" bIns="0" rtlCol="0" anchor="ctr"/>
          <a:lstStyle/>
          <a:p>
            <a:pPr lvl="0">
              <a:lnSpc>
                <a:spcPct val="135000"/>
              </a:lnSpc>
              <a:defRPr/>
            </a:pP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メール、電話を中心とした集客動線では、個人情報としてのハードルが高いため、</a:t>
            </a:r>
            <a:endPar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endParaRPr>
          </a:p>
          <a:p>
            <a:pPr lvl="0">
              <a:lnSpc>
                <a:spcPct val="135000"/>
              </a:lnSpc>
              <a:defRPr/>
            </a:pP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集客実施内でのリード獲得単価を抑制できる上、反応率が高い</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LINE</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を動線の</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1</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つに。</a:t>
            </a:r>
            <a:endParaRPr kumimoji="0" lang="en-US" sz="850" b="1"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55" name="Shape 42">
            <a:extLst>
              <a:ext uri="{FF2B5EF4-FFF2-40B4-BE49-F238E27FC236}">
                <a16:creationId xmlns:a16="http://schemas.microsoft.com/office/drawing/2014/main" id="{113510A9-9BDD-9FAD-90F6-0D1EC0BCB699}"/>
              </a:ext>
            </a:extLst>
          </p:cNvPr>
          <p:cNvSpPr/>
          <p:nvPr/>
        </p:nvSpPr>
        <p:spPr>
          <a:xfrm>
            <a:off x="369887" y="406527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57" name="Shape 43">
            <a:extLst>
              <a:ext uri="{FF2B5EF4-FFF2-40B4-BE49-F238E27FC236}">
                <a16:creationId xmlns:a16="http://schemas.microsoft.com/office/drawing/2014/main" id="{4E4A9CB8-BC81-64F6-260F-5F493122A66C}"/>
              </a:ext>
            </a:extLst>
          </p:cNvPr>
          <p:cNvSpPr/>
          <p:nvPr/>
        </p:nvSpPr>
        <p:spPr>
          <a:xfrm>
            <a:off x="424751" y="412014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59" name="Text 44">
            <a:extLst>
              <a:ext uri="{FF2B5EF4-FFF2-40B4-BE49-F238E27FC236}">
                <a16:creationId xmlns:a16="http://schemas.microsoft.com/office/drawing/2014/main" id="{1140FDA8-6C5C-AE0C-F98C-11C8C0A073FE}"/>
              </a:ext>
            </a:extLst>
          </p:cNvPr>
          <p:cNvSpPr/>
          <p:nvPr/>
        </p:nvSpPr>
        <p:spPr>
          <a:xfrm>
            <a:off x="424751"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1" name="Text 45">
            <a:extLst>
              <a:ext uri="{FF2B5EF4-FFF2-40B4-BE49-F238E27FC236}">
                <a16:creationId xmlns:a16="http://schemas.microsoft.com/office/drawing/2014/main" id="{A22E630F-5396-9B90-711A-C5DCE95E1469}"/>
              </a:ext>
            </a:extLst>
          </p:cNvPr>
          <p:cNvSpPr/>
          <p:nvPr/>
        </p:nvSpPr>
        <p:spPr>
          <a:xfrm>
            <a:off x="644207" y="4101855"/>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広告・</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SEO</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SNS</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3" name="Text 46">
            <a:extLst>
              <a:ext uri="{FF2B5EF4-FFF2-40B4-BE49-F238E27FC236}">
                <a16:creationId xmlns:a16="http://schemas.microsoft.com/office/drawing/2014/main" id="{963027FB-D92E-2D7B-6655-63BA79599E4C}"/>
              </a:ext>
            </a:extLst>
          </p:cNvPr>
          <p:cNvSpPr/>
          <p:nvPr/>
        </p:nvSpPr>
        <p:spPr>
          <a:xfrm>
            <a:off x="424751" y="4312167"/>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流入チャネル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5" name="Text 47">
            <a:extLst>
              <a:ext uri="{FF2B5EF4-FFF2-40B4-BE49-F238E27FC236}">
                <a16:creationId xmlns:a16="http://schemas.microsoft.com/office/drawing/2014/main" id="{74B99422-CBF5-9B4D-0494-5C4443B23CDC}"/>
              </a:ext>
            </a:extLst>
          </p:cNvPr>
          <p:cNvSpPr/>
          <p:nvPr/>
        </p:nvSpPr>
        <p:spPr>
          <a:xfrm>
            <a:off x="1650047" y="422072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7" name="Shape 48">
            <a:extLst>
              <a:ext uri="{FF2B5EF4-FFF2-40B4-BE49-F238E27FC236}">
                <a16:creationId xmlns:a16="http://schemas.microsoft.com/office/drawing/2014/main" id="{8B8CFEAA-9314-449D-1074-EF75AFDAC19A}"/>
              </a:ext>
            </a:extLst>
          </p:cNvPr>
          <p:cNvSpPr/>
          <p:nvPr/>
        </p:nvSpPr>
        <p:spPr>
          <a:xfrm>
            <a:off x="1778063" y="406527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69" name="Shape 49">
            <a:extLst>
              <a:ext uri="{FF2B5EF4-FFF2-40B4-BE49-F238E27FC236}">
                <a16:creationId xmlns:a16="http://schemas.microsoft.com/office/drawing/2014/main" id="{C950146B-431E-366D-1457-E0150725DAB8}"/>
              </a:ext>
            </a:extLst>
          </p:cNvPr>
          <p:cNvSpPr/>
          <p:nvPr/>
        </p:nvSpPr>
        <p:spPr>
          <a:xfrm>
            <a:off x="1832927" y="412014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71" name="Text 50">
            <a:extLst>
              <a:ext uri="{FF2B5EF4-FFF2-40B4-BE49-F238E27FC236}">
                <a16:creationId xmlns:a16="http://schemas.microsoft.com/office/drawing/2014/main" id="{2812D2BF-5313-2DA8-B2ED-115987FDA314}"/>
              </a:ext>
            </a:extLst>
          </p:cNvPr>
          <p:cNvSpPr/>
          <p:nvPr/>
        </p:nvSpPr>
        <p:spPr>
          <a:xfrm>
            <a:off x="1832927"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3" name="Text 51">
            <a:extLst>
              <a:ext uri="{FF2B5EF4-FFF2-40B4-BE49-F238E27FC236}">
                <a16:creationId xmlns:a16="http://schemas.microsoft.com/office/drawing/2014/main" id="{61B9DBCC-02E6-6237-0DAD-ED9142171120}"/>
              </a:ext>
            </a:extLst>
          </p:cNvPr>
          <p:cNvSpPr/>
          <p:nvPr/>
        </p:nvSpPr>
        <p:spPr>
          <a:xfrm>
            <a:off x="2050208" y="4101855"/>
            <a:ext cx="100584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・ポップアップ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5" name="Text 52">
            <a:extLst>
              <a:ext uri="{FF2B5EF4-FFF2-40B4-BE49-F238E27FC236}">
                <a16:creationId xmlns:a16="http://schemas.microsoft.com/office/drawing/2014/main" id="{1CF9536A-5A56-D77B-3F08-8BACCB3B4827}"/>
              </a:ext>
            </a:extLst>
          </p:cNvPr>
          <p:cNvSpPr/>
          <p:nvPr/>
        </p:nvSpPr>
        <p:spPr>
          <a:xfrm>
            <a:off x="1783544" y="4312167"/>
            <a:ext cx="137196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やポップアップでの動線に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7" name="Text 53">
            <a:extLst>
              <a:ext uri="{FF2B5EF4-FFF2-40B4-BE49-F238E27FC236}">
                <a16:creationId xmlns:a16="http://schemas.microsoft.com/office/drawing/2014/main" id="{6C4945AC-3CDA-2080-CEF1-36A24E6529F2}"/>
              </a:ext>
            </a:extLst>
          </p:cNvPr>
          <p:cNvSpPr/>
          <p:nvPr/>
        </p:nvSpPr>
        <p:spPr>
          <a:xfrm>
            <a:off x="3058223" y="422072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9" name="Shape 54">
            <a:extLst>
              <a:ext uri="{FF2B5EF4-FFF2-40B4-BE49-F238E27FC236}">
                <a16:creationId xmlns:a16="http://schemas.microsoft.com/office/drawing/2014/main" id="{FB4A19A3-2EF9-47D2-F075-70F2D5D6B076}"/>
              </a:ext>
            </a:extLst>
          </p:cNvPr>
          <p:cNvSpPr/>
          <p:nvPr/>
        </p:nvSpPr>
        <p:spPr>
          <a:xfrm>
            <a:off x="3186239" y="406527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81" name="Shape 55">
            <a:extLst>
              <a:ext uri="{FF2B5EF4-FFF2-40B4-BE49-F238E27FC236}">
                <a16:creationId xmlns:a16="http://schemas.microsoft.com/office/drawing/2014/main" id="{6B43E1E4-2A7D-AD40-67F5-6B516A71860E}"/>
              </a:ext>
            </a:extLst>
          </p:cNvPr>
          <p:cNvSpPr/>
          <p:nvPr/>
        </p:nvSpPr>
        <p:spPr>
          <a:xfrm>
            <a:off x="3241103" y="412014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83" name="Text 56">
            <a:extLst>
              <a:ext uri="{FF2B5EF4-FFF2-40B4-BE49-F238E27FC236}">
                <a16:creationId xmlns:a16="http://schemas.microsoft.com/office/drawing/2014/main" id="{2E67F49B-16BE-07E6-9262-E50D4D3A8F60}"/>
              </a:ext>
            </a:extLst>
          </p:cNvPr>
          <p:cNvSpPr/>
          <p:nvPr/>
        </p:nvSpPr>
        <p:spPr>
          <a:xfrm>
            <a:off x="3241103"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85" name="Text 57">
            <a:extLst>
              <a:ext uri="{FF2B5EF4-FFF2-40B4-BE49-F238E27FC236}">
                <a16:creationId xmlns:a16="http://schemas.microsoft.com/office/drawing/2014/main" id="{AA931AD0-7A16-05D2-D8C7-AB50301B6C53}"/>
              </a:ext>
            </a:extLst>
          </p:cNvPr>
          <p:cNvSpPr/>
          <p:nvPr/>
        </p:nvSpPr>
        <p:spPr>
          <a:xfrm>
            <a:off x="3460559" y="4101855"/>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友だち追加完了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87" name="Text 58">
            <a:extLst>
              <a:ext uri="{FF2B5EF4-FFF2-40B4-BE49-F238E27FC236}">
                <a16:creationId xmlns:a16="http://schemas.microsoft.com/office/drawing/2014/main" id="{54B49D2D-4FC3-300F-AAB4-B1D6ACEDA33A}"/>
              </a:ext>
            </a:extLst>
          </p:cNvPr>
          <p:cNvSpPr/>
          <p:nvPr/>
        </p:nvSpPr>
        <p:spPr>
          <a:xfrm>
            <a:off x="3241103" y="4312167"/>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9571587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1E7E9-7412-46E6-C9BD-3E3A30E4E19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8CB184C-78E9-D432-060D-EA3167991AB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改善モデル②</a:t>
            </a:r>
          </a:p>
        </p:txBody>
      </p:sp>
      <p:sp>
        <p:nvSpPr>
          <p:cNvPr id="27" name="テキスト ボックス 26">
            <a:extLst>
              <a:ext uri="{FF2B5EF4-FFF2-40B4-BE49-F238E27FC236}">
                <a16:creationId xmlns:a16="http://schemas.microsoft.com/office/drawing/2014/main" id="{CD5B9619-DF62-5A09-8786-F83CA0529EF7}"/>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4FBA5686-1B33-AF5C-E6BC-2E0C88B24352}"/>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D27D1FC0-FB35-21DC-CE25-F2D2125F242E}"/>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7212DB55-F234-8FD7-C030-3F285C1EC16D}"/>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72B04E50-7661-9621-AE78-3522F8E664CF}"/>
              </a:ext>
            </a:extLst>
          </p:cNvPr>
          <p:cNvCxnSpPr>
            <a:cxnSpLocks/>
            <a:stCxn id="30" idx="0"/>
          </p:cNvCxnSpPr>
          <p:nvPr/>
        </p:nvCxnSpPr>
        <p:spPr>
          <a:xfrm rot="5400000" flipH="1" flipV="1">
            <a:off x="4270984" y="1681932"/>
            <a:ext cx="246792" cy="44239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 name="テキスト ボックス 1">
            <a:extLst>
              <a:ext uri="{FF2B5EF4-FFF2-40B4-BE49-F238E27FC236}">
                <a16:creationId xmlns:a16="http://schemas.microsoft.com/office/drawing/2014/main" id="{323ECFC3-BA42-FBB4-E25E-F72CFED142D3}"/>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E9E0720-3E3A-6F6F-EF58-0D05A19D436C}"/>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08A18FCF-114F-90AD-1C87-48385A2F1077}"/>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6534C85A-CAF2-CB68-930A-76AF50820018}"/>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3DC92EFA-89CD-05D2-4375-F2DE5BE5DDE6}"/>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11" name="Google Shape;752;p28">
            <a:extLst>
              <a:ext uri="{FF2B5EF4-FFF2-40B4-BE49-F238E27FC236}">
                <a16:creationId xmlns:a16="http://schemas.microsoft.com/office/drawing/2014/main" id="{9920090D-60BB-935F-AD0B-B7717467EA77}"/>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獲得されたリードを</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接触</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商談</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などの直リーチができる状態に引き上げる。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6" name="正方形/長方形 5">
            <a:extLst>
              <a:ext uri="{FF2B5EF4-FFF2-40B4-BE49-F238E27FC236}">
                <a16:creationId xmlns:a16="http://schemas.microsoft.com/office/drawing/2014/main" id="{E9F5C7F3-E9F1-D740-6953-AD8AB98C4502}"/>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テキスト ボックス 11">
            <a:extLst>
              <a:ext uri="{FF2B5EF4-FFF2-40B4-BE49-F238E27FC236}">
                <a16:creationId xmlns:a16="http://schemas.microsoft.com/office/drawing/2014/main" id="{AD26C97A-E96F-4F7B-9B0B-D735414D6034}"/>
              </a:ext>
            </a:extLst>
          </p:cNvPr>
          <p:cNvSpPr txBox="1"/>
          <p:nvPr/>
        </p:nvSpPr>
        <p:spPr>
          <a:xfrm>
            <a:off x="3542139" y="1396711"/>
            <a:ext cx="2352196" cy="383023"/>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リード有効化</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14" name="テキスト ボックス 13">
            <a:extLst>
              <a:ext uri="{FF2B5EF4-FFF2-40B4-BE49-F238E27FC236}">
                <a16:creationId xmlns:a16="http://schemas.microsoft.com/office/drawing/2014/main" id="{796E80A6-B5BB-3A8B-412E-06EE28AF0C99}"/>
              </a:ext>
            </a:extLst>
          </p:cNvPr>
          <p:cNvSpPr txBox="1"/>
          <p:nvPr/>
        </p:nvSpPr>
        <p:spPr>
          <a:xfrm>
            <a:off x="4830776" y="1593660"/>
            <a:ext cx="2352196" cy="379232"/>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⑥ 有効リードの再育成</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7CC6A546-6A9E-3367-D71C-1DB3BEF66AA8}"/>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rgbClr val="FFC000"/>
                </a:solidFill>
                <a:latin typeface="メイリオ" panose="020B0604030504040204" pitchFamily="50" charset="-128"/>
                <a:ea typeface="メイリオ" panose="020B0604030504040204" pitchFamily="50" charset="-128"/>
              </a:rPr>
              <a:t>短期：</a:t>
            </a:r>
            <a:r>
              <a:rPr kumimoji="1" lang="ja-JP" altLang="en-US" sz="1050" b="1" dirty="0">
                <a:latin typeface="メイリオ" panose="020B0604030504040204" pitchFamily="50" charset="-128"/>
                <a:ea typeface="メイリオ" panose="020B0604030504040204" pitchFamily="50" charset="-128"/>
              </a:rPr>
              <a:t>ナーチャリングにより、情報収集→実来店・直面談の機会設定</a:t>
            </a:r>
          </a:p>
        </p:txBody>
      </p:sp>
      <p:sp>
        <p:nvSpPr>
          <p:cNvPr id="15" name="正方形/長方形 14">
            <a:extLst>
              <a:ext uri="{FF2B5EF4-FFF2-40B4-BE49-F238E27FC236}">
                <a16:creationId xmlns:a16="http://schemas.microsoft.com/office/drawing/2014/main" id="{400321D5-E759-A2AB-D632-D8852C5C2531}"/>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rgbClr val="FFC000"/>
                </a:solidFill>
                <a:latin typeface="メイリオ" panose="020B0604030504040204" pitchFamily="50" charset="-128"/>
                <a:ea typeface="メイリオ" panose="020B0604030504040204" pitchFamily="50" charset="-128"/>
              </a:rPr>
              <a:t>長期：</a:t>
            </a:r>
            <a:r>
              <a:rPr lang="ja-JP" altLang="en-US" sz="1050" b="1" dirty="0">
                <a:latin typeface="メイリオ" panose="020B0604030504040204" pitchFamily="50" charset="-128"/>
                <a:ea typeface="メイリオ" panose="020B0604030504040204" pitchFamily="50" charset="-128"/>
              </a:rPr>
              <a:t>休眠顧客リスト、すぐすぐ以外の層に再度接点を</a:t>
            </a:r>
          </a:p>
        </p:txBody>
      </p:sp>
      <p:sp>
        <p:nvSpPr>
          <p:cNvPr id="19" name="Shape 34">
            <a:extLst>
              <a:ext uri="{FF2B5EF4-FFF2-40B4-BE49-F238E27FC236}">
                <a16:creationId xmlns:a16="http://schemas.microsoft.com/office/drawing/2014/main" id="{E40C1293-6205-BD09-C870-AB694054FE21}"/>
              </a:ext>
            </a:extLst>
          </p:cNvPr>
          <p:cNvSpPr/>
          <p:nvPr/>
        </p:nvSpPr>
        <p:spPr>
          <a:xfrm>
            <a:off x="265419" y="2999768"/>
            <a:ext cx="4541216" cy="1600805"/>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 name="Shape 36">
            <a:extLst>
              <a:ext uri="{FF2B5EF4-FFF2-40B4-BE49-F238E27FC236}">
                <a16:creationId xmlns:a16="http://schemas.microsoft.com/office/drawing/2014/main" id="{016D3DBA-827E-69AE-84A8-B5FA4B627604}"/>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3" name="Shape 38">
            <a:extLst>
              <a:ext uri="{FF2B5EF4-FFF2-40B4-BE49-F238E27FC236}">
                <a16:creationId xmlns:a16="http://schemas.microsoft.com/office/drawing/2014/main" id="{890CC249-519E-F80A-D737-4911D36F86B6}"/>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 name="Text 39">
            <a:extLst>
              <a:ext uri="{FF2B5EF4-FFF2-40B4-BE49-F238E27FC236}">
                <a16:creationId xmlns:a16="http://schemas.microsoft.com/office/drawing/2014/main" id="{006785A7-ADAB-E382-C3A3-3F5FA13C51E7}"/>
              </a:ext>
            </a:extLst>
          </p:cNvPr>
          <p:cNvSpPr/>
          <p:nvPr/>
        </p:nvSpPr>
        <p:spPr>
          <a:xfrm>
            <a:off x="686043"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ステップ配信</a:t>
            </a:r>
          </a:p>
        </p:txBody>
      </p:sp>
      <p:sp>
        <p:nvSpPr>
          <p:cNvPr id="31" name="Text 40">
            <a:extLst>
              <a:ext uri="{FF2B5EF4-FFF2-40B4-BE49-F238E27FC236}">
                <a16:creationId xmlns:a16="http://schemas.microsoft.com/office/drawing/2014/main" id="{560BDF4C-A3DE-DDCD-85B8-65A392B6CE01}"/>
              </a:ext>
            </a:extLst>
          </p:cNvPr>
          <p:cNvSpPr/>
          <p:nvPr/>
        </p:nvSpPr>
        <p:spPr>
          <a:xfrm>
            <a:off x="1545579" y="3082065"/>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ステップ配信 </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 </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限定面談オファーで商談化</a:t>
            </a:r>
          </a:p>
        </p:txBody>
      </p:sp>
      <p:sp>
        <p:nvSpPr>
          <p:cNvPr id="34" name="Text 41">
            <a:extLst>
              <a:ext uri="{FF2B5EF4-FFF2-40B4-BE49-F238E27FC236}">
                <a16:creationId xmlns:a16="http://schemas.microsoft.com/office/drawing/2014/main" id="{99B219D6-3C6C-5799-528B-587E37059F99}"/>
              </a:ext>
            </a:extLst>
          </p:cNvPr>
          <p:cNvSpPr/>
          <p:nvPr/>
        </p:nvSpPr>
        <p:spPr>
          <a:xfrm>
            <a:off x="356859" y="3383817"/>
            <a:ext cx="4449774" cy="493776"/>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Day0</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資料→</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Day3</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よくある質問→</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Day7</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事例紹介→</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Day10</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「今月限定・無料個別相談を○名様に」。「今すぐ買って」ではなく「まず話を聞くだけ」という低ハードル面談設定が鍵。限定性・数量制限で動機付け。</a:t>
            </a:r>
          </a:p>
        </p:txBody>
      </p:sp>
      <p:sp>
        <p:nvSpPr>
          <p:cNvPr id="36" name="Shape 42">
            <a:extLst>
              <a:ext uri="{FF2B5EF4-FFF2-40B4-BE49-F238E27FC236}">
                <a16:creationId xmlns:a16="http://schemas.microsoft.com/office/drawing/2014/main" id="{B511359D-C466-1D8A-5E4D-5C77E951F935}"/>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 name="Shape 43">
            <a:extLst>
              <a:ext uri="{FF2B5EF4-FFF2-40B4-BE49-F238E27FC236}">
                <a16:creationId xmlns:a16="http://schemas.microsoft.com/office/drawing/2014/main" id="{CB296A78-8B99-D908-AF84-F6571FA229F6}"/>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0" name="Text 44">
            <a:extLst>
              <a:ext uri="{FF2B5EF4-FFF2-40B4-BE49-F238E27FC236}">
                <a16:creationId xmlns:a16="http://schemas.microsoft.com/office/drawing/2014/main" id="{AA71EAAC-4F67-049F-5CB3-013124E72A38}"/>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2" name="Text 45">
            <a:extLst>
              <a:ext uri="{FF2B5EF4-FFF2-40B4-BE49-F238E27FC236}">
                <a16:creationId xmlns:a16="http://schemas.microsoft.com/office/drawing/2014/main" id="{42A6B48D-4266-BBC8-D43E-C90410471214}"/>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Day0 </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資料送付</a:t>
            </a:r>
            <a:endParaRPr lang="en-US" altLang="ja-JP" sz="850" dirty="0">
              <a:latin typeface="メイリオ" panose="020B0604030504040204" pitchFamily="50" charset="-128"/>
              <a:ea typeface="メイリオ" panose="020B0604030504040204" pitchFamily="50" charset="-128"/>
            </a:endParaRPr>
          </a:p>
        </p:txBody>
      </p:sp>
      <p:sp>
        <p:nvSpPr>
          <p:cNvPr id="44" name="Text 46">
            <a:extLst>
              <a:ext uri="{FF2B5EF4-FFF2-40B4-BE49-F238E27FC236}">
                <a16:creationId xmlns:a16="http://schemas.microsoft.com/office/drawing/2014/main" id="{2E529A7C-08F8-B965-8436-D648196C6289}"/>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即時価値提供</a:t>
            </a:r>
            <a:endParaRPr lang="en-US" altLang="ja-JP" sz="750" dirty="0">
              <a:latin typeface="メイリオ" panose="020B0604030504040204" pitchFamily="50" charset="-128"/>
              <a:ea typeface="メイリオ" panose="020B0604030504040204" pitchFamily="50" charset="-128"/>
            </a:endParaRPr>
          </a:p>
        </p:txBody>
      </p:sp>
      <p:sp>
        <p:nvSpPr>
          <p:cNvPr id="46" name="Text 47">
            <a:extLst>
              <a:ext uri="{FF2B5EF4-FFF2-40B4-BE49-F238E27FC236}">
                <a16:creationId xmlns:a16="http://schemas.microsoft.com/office/drawing/2014/main" id="{A451AFAF-0FA1-3FD6-C1D3-3C9BFFAAC97A}"/>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 name="Shape 48">
            <a:extLst>
              <a:ext uri="{FF2B5EF4-FFF2-40B4-BE49-F238E27FC236}">
                <a16:creationId xmlns:a16="http://schemas.microsoft.com/office/drawing/2014/main" id="{5210973B-C00E-2564-6A70-0A7CEC5FC416}"/>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0" name="Shape 49">
            <a:extLst>
              <a:ext uri="{FF2B5EF4-FFF2-40B4-BE49-F238E27FC236}">
                <a16:creationId xmlns:a16="http://schemas.microsoft.com/office/drawing/2014/main" id="{7F26AFE2-607A-7519-13A7-AE894D5EE528}"/>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2" name="Text 50">
            <a:extLst>
              <a:ext uri="{FF2B5EF4-FFF2-40B4-BE49-F238E27FC236}">
                <a16:creationId xmlns:a16="http://schemas.microsoft.com/office/drawing/2014/main" id="{265C8DF0-C86B-C86C-3E73-66465F4B1369}"/>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4" name="Text 51">
            <a:extLst>
              <a:ext uri="{FF2B5EF4-FFF2-40B4-BE49-F238E27FC236}">
                <a16:creationId xmlns:a16="http://schemas.microsoft.com/office/drawing/2014/main" id="{A95F52FD-E9C5-4730-028B-AF50835B0B2E}"/>
              </a:ext>
            </a:extLst>
          </p:cNvPr>
          <p:cNvSpPr/>
          <p:nvPr/>
        </p:nvSpPr>
        <p:spPr>
          <a:xfrm>
            <a:off x="2039355" y="4114575"/>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Day7 </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事例配信</a:t>
            </a:r>
            <a:endParaRPr lang="en-US" altLang="ja-JP" sz="850" dirty="0">
              <a:latin typeface="メイリオ" panose="020B0604030504040204" pitchFamily="50" charset="-128"/>
              <a:ea typeface="メイリオ" panose="020B0604030504040204" pitchFamily="50" charset="-128"/>
            </a:endParaRPr>
          </a:p>
        </p:txBody>
      </p:sp>
      <p:sp>
        <p:nvSpPr>
          <p:cNvPr id="56" name="Text 52">
            <a:extLst>
              <a:ext uri="{FF2B5EF4-FFF2-40B4-BE49-F238E27FC236}">
                <a16:creationId xmlns:a16="http://schemas.microsoft.com/office/drawing/2014/main" id="{5856973E-600C-9F69-B73B-7CF0931A980E}"/>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信頼醸成</a:t>
            </a:r>
            <a:endParaRPr lang="en-US" altLang="ja-JP" sz="750" dirty="0">
              <a:latin typeface="メイリオ" panose="020B0604030504040204" pitchFamily="50" charset="-128"/>
              <a:ea typeface="メイリオ" panose="020B0604030504040204" pitchFamily="50" charset="-128"/>
            </a:endParaRPr>
          </a:p>
        </p:txBody>
      </p:sp>
      <p:sp>
        <p:nvSpPr>
          <p:cNvPr id="58" name="Text 53">
            <a:extLst>
              <a:ext uri="{FF2B5EF4-FFF2-40B4-BE49-F238E27FC236}">
                <a16:creationId xmlns:a16="http://schemas.microsoft.com/office/drawing/2014/main" id="{758EA0D7-BE56-1F06-1A23-C564494322D2}"/>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60" name="Shape 54">
            <a:extLst>
              <a:ext uri="{FF2B5EF4-FFF2-40B4-BE49-F238E27FC236}">
                <a16:creationId xmlns:a16="http://schemas.microsoft.com/office/drawing/2014/main" id="{464D5640-6F1D-C6E1-393C-A5458B5A22C9}"/>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62" name="Shape 55">
            <a:extLst>
              <a:ext uri="{FF2B5EF4-FFF2-40B4-BE49-F238E27FC236}">
                <a16:creationId xmlns:a16="http://schemas.microsoft.com/office/drawing/2014/main" id="{89FC4EAE-E7E8-DC03-5DFF-37074D8D82B6}"/>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64" name="Text 56">
            <a:extLst>
              <a:ext uri="{FF2B5EF4-FFF2-40B4-BE49-F238E27FC236}">
                <a16:creationId xmlns:a16="http://schemas.microsoft.com/office/drawing/2014/main" id="{B33A9BF0-EC24-F583-5FA0-A5880F0E6A12}"/>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66" name="Text 57">
            <a:extLst>
              <a:ext uri="{FF2B5EF4-FFF2-40B4-BE49-F238E27FC236}">
                <a16:creationId xmlns:a16="http://schemas.microsoft.com/office/drawing/2014/main" id="{38746766-2598-E7FF-013F-7AF41C0BF589}"/>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a:solidFill>
                  <a:srgbClr val="FFFFFF"/>
                </a:solidFill>
                <a:latin typeface="メイリオ" panose="020B0604030504040204" pitchFamily="50" charset="-128"/>
                <a:ea typeface="メイリオ" panose="020B0604030504040204" pitchFamily="50" charset="-128"/>
                <a:cs typeface="Calibri" pitchFamily="34" charset="-120"/>
              </a:rPr>
              <a:t>Day10 </a:t>
            </a:r>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オファ</a:t>
            </a:r>
            <a:r>
              <a:rPr lang="en-US" altLang="ja-JP" sz="850" b="1" dirty="0">
                <a:solidFill>
                  <a:srgbClr val="FFFFFF"/>
                </a:solidFill>
                <a:latin typeface="メイリオ" panose="020B0604030504040204" pitchFamily="50" charset="-128"/>
                <a:ea typeface="メイリオ" panose="020B0604030504040204" pitchFamily="50" charset="-128"/>
                <a:cs typeface="Calibri" pitchFamily="34" charset="-120"/>
              </a:rPr>
              <a:t>ー</a:t>
            </a:r>
            <a:endParaRPr lang="en-US" altLang="ja-JP" sz="850" dirty="0">
              <a:latin typeface="メイリオ" panose="020B0604030504040204" pitchFamily="50" charset="-128"/>
              <a:ea typeface="メイリオ" panose="020B0604030504040204" pitchFamily="50" charset="-128"/>
            </a:endParaRPr>
          </a:p>
        </p:txBody>
      </p:sp>
      <p:sp>
        <p:nvSpPr>
          <p:cNvPr id="68" name="Text 58">
            <a:extLst>
              <a:ext uri="{FF2B5EF4-FFF2-40B4-BE49-F238E27FC236}">
                <a16:creationId xmlns:a16="http://schemas.microsoft.com/office/drawing/2014/main" id="{EE1DF143-F3CF-E063-7DA2-53A3D0BCB28D}"/>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限定・数量制限</a:t>
            </a:r>
            <a:endParaRPr lang="en-US" altLang="ja-JP" sz="750" dirty="0">
              <a:latin typeface="メイリオ" panose="020B0604030504040204" pitchFamily="50" charset="-128"/>
              <a:ea typeface="メイリオ" panose="020B0604030504040204" pitchFamily="50" charset="-128"/>
            </a:endParaRPr>
          </a:p>
        </p:txBody>
      </p:sp>
      <p:sp>
        <p:nvSpPr>
          <p:cNvPr id="70" name="Shape 59">
            <a:extLst>
              <a:ext uri="{FF2B5EF4-FFF2-40B4-BE49-F238E27FC236}">
                <a16:creationId xmlns:a16="http://schemas.microsoft.com/office/drawing/2014/main" id="{ED1F64AB-43E6-3EF4-E22A-1C2B3A1EAFE6}"/>
              </a:ext>
            </a:extLst>
          </p:cNvPr>
          <p:cNvSpPr/>
          <p:nvPr/>
        </p:nvSpPr>
        <p:spPr>
          <a:xfrm>
            <a:off x="265419" y="4842285"/>
            <a:ext cx="4541216" cy="1600804"/>
          </a:xfrm>
          <a:prstGeom prst="roundRect">
            <a:avLst>
              <a:gd name="adj" fmla="val 5263"/>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72" name="Shape 63">
            <a:extLst>
              <a:ext uri="{FF2B5EF4-FFF2-40B4-BE49-F238E27FC236}">
                <a16:creationId xmlns:a16="http://schemas.microsoft.com/office/drawing/2014/main" id="{38B1441B-4C63-5D92-EC3A-90F6C29F7A30}"/>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74" name="Text 64">
            <a:extLst>
              <a:ext uri="{FF2B5EF4-FFF2-40B4-BE49-F238E27FC236}">
                <a16:creationId xmlns:a16="http://schemas.microsoft.com/office/drawing/2014/main" id="{57430ED0-462D-34B1-A475-D78F816729F5}"/>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LINE広告</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76" name="Text 65">
            <a:extLst>
              <a:ext uri="{FF2B5EF4-FFF2-40B4-BE49-F238E27FC236}">
                <a16:creationId xmlns:a16="http://schemas.microsoft.com/office/drawing/2014/main" id="{B7DB943B-00E9-7974-CDB8-CF2D59CC61D4}"/>
              </a:ext>
            </a:extLst>
          </p:cNvPr>
          <p:cNvSpPr/>
          <p:nvPr/>
        </p:nvSpPr>
        <p:spPr>
          <a:xfrm>
            <a:off x="1545579"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アンケート</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スコアリングで商談自動振り分け</a:t>
            </a:r>
            <a:endParaRPr lang="en-US" altLang="ja-JP" sz="1100" dirty="0">
              <a:latin typeface="メイリオ" panose="020B0604030504040204" pitchFamily="50" charset="-128"/>
              <a:ea typeface="メイリオ" panose="020B0604030504040204" pitchFamily="50" charset="-128"/>
            </a:endParaRPr>
          </a:p>
        </p:txBody>
      </p:sp>
      <p:sp>
        <p:nvSpPr>
          <p:cNvPr id="78" name="Text 66">
            <a:extLst>
              <a:ext uri="{FF2B5EF4-FFF2-40B4-BE49-F238E27FC236}">
                <a16:creationId xmlns:a16="http://schemas.microsoft.com/office/drawing/2014/main" id="{4EFBD6ED-AC70-7247-939C-182C24C7C8EB}"/>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現在の状況を3問で教えてください」をLINEで配信。「3ヶ月以内に検討」「他社比較中」の回答者を自動でホットリードとして抽出しスタッフが即日連絡。全リードにスタッフ対応せず、温度感の高い層だけに集中する。</a:t>
            </a:r>
            <a:endParaRPr lang="en-US" altLang="ja-JP" sz="850" dirty="0">
              <a:latin typeface="メイリオ" panose="020B0604030504040204" pitchFamily="50" charset="-128"/>
              <a:ea typeface="メイリオ" panose="020B0604030504040204" pitchFamily="50" charset="-128"/>
            </a:endParaRPr>
          </a:p>
        </p:txBody>
      </p:sp>
      <p:sp>
        <p:nvSpPr>
          <p:cNvPr id="80" name="Shape 68">
            <a:extLst>
              <a:ext uri="{FF2B5EF4-FFF2-40B4-BE49-F238E27FC236}">
                <a16:creationId xmlns:a16="http://schemas.microsoft.com/office/drawing/2014/main" id="{A878F7AF-2951-6346-AC7C-117CEAD65882}"/>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2" name="Text 69">
            <a:extLst>
              <a:ext uri="{FF2B5EF4-FFF2-40B4-BE49-F238E27FC236}">
                <a16:creationId xmlns:a16="http://schemas.microsoft.com/office/drawing/2014/main" id="{51BC50E4-D2C2-FB3A-BADF-2405ED305FFC}"/>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4" name="Text 70">
            <a:extLst>
              <a:ext uri="{FF2B5EF4-FFF2-40B4-BE49-F238E27FC236}">
                <a16:creationId xmlns:a16="http://schemas.microsoft.com/office/drawing/2014/main" id="{C0DB247B-6B3F-9051-4404-63FBF132961F}"/>
              </a:ext>
            </a:extLst>
          </p:cNvPr>
          <p:cNvSpPr/>
          <p:nvPr/>
        </p:nvSpPr>
        <p:spPr>
          <a:xfrm>
            <a:off x="2671467" y="5559265"/>
            <a:ext cx="2022453" cy="158716"/>
          </a:xfrm>
          <a:prstGeom prst="rect">
            <a:avLst/>
          </a:prstGeom>
          <a:noFill/>
          <a:ln/>
        </p:spPr>
        <p:txBody>
          <a:bodyPr wrap="square" lIns="0" tIns="0" rIns="0" bIns="0" rtlCol="0" anchor="ctr"/>
          <a:lstStyle/>
          <a:p>
            <a:pPr marL="0" marR="0" lvl="0" indent="0" defTabSz="914400" eaLnBrk="1" fontAlgn="auto" latinLnBrk="0" hangingPunct="1">
              <a:lnSpc>
                <a:spcPct val="125000"/>
              </a:lnSpc>
              <a:spcBef>
                <a:spcPts val="0"/>
              </a:spcBef>
              <a:spcAft>
                <a:spcPts val="0"/>
              </a:spcAft>
              <a:buClrTx/>
              <a:buSzTx/>
              <a:buFontTx/>
              <a:buNone/>
              <a:tabLst/>
              <a:defRPr/>
            </a:pPr>
            <a:r>
              <a:rPr kumimoji="0" lang="en-US" sz="700" b="0" i="0" u="none" strike="noStrike" kern="0" cap="none" spc="0" normalizeH="0" baseline="0" noProof="0" dirty="0" err="1">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CPFの強みを活かすならLINE内完結設計が正解</a:t>
            </a:r>
            <a:r>
              <a:rPr kumimoji="0" lang="en-US" sz="700" b="0" i="0" u="none" strike="noStrike" kern="0" cap="none" spc="0" normalizeH="0" baseline="0" noProof="0" dirty="0">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6" name="Shape 71">
            <a:extLst>
              <a:ext uri="{FF2B5EF4-FFF2-40B4-BE49-F238E27FC236}">
                <a16:creationId xmlns:a16="http://schemas.microsoft.com/office/drawing/2014/main" id="{E782C278-7AB5-1A6B-D371-D48C786DEC22}"/>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8" name="Shape 72">
            <a:extLst>
              <a:ext uri="{FF2B5EF4-FFF2-40B4-BE49-F238E27FC236}">
                <a16:creationId xmlns:a16="http://schemas.microsoft.com/office/drawing/2014/main" id="{F8BD45B3-63BC-CCCC-A02C-22292B165914}"/>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90" name="Text 73">
            <a:extLst>
              <a:ext uri="{FF2B5EF4-FFF2-40B4-BE49-F238E27FC236}">
                <a16:creationId xmlns:a16="http://schemas.microsoft.com/office/drawing/2014/main" id="{7C72A4DB-C3F4-16C9-6A51-D60CB4DF1517}"/>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2" name="Text 74">
            <a:extLst>
              <a:ext uri="{FF2B5EF4-FFF2-40B4-BE49-F238E27FC236}">
                <a16:creationId xmlns:a16="http://schemas.microsoft.com/office/drawing/2014/main" id="{BE7ADCA5-3612-7BC6-AA8D-040022EE1617}"/>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3問アンケート配信</a:t>
            </a:r>
            <a:endParaRPr lang="en-US" altLang="ja-JP" sz="850" dirty="0">
              <a:latin typeface="メイリオ" panose="020B0604030504040204" pitchFamily="50" charset="-128"/>
              <a:ea typeface="メイリオ" panose="020B0604030504040204" pitchFamily="50" charset="-128"/>
            </a:endParaRPr>
          </a:p>
        </p:txBody>
      </p:sp>
      <p:sp>
        <p:nvSpPr>
          <p:cNvPr id="94" name="Text 75">
            <a:extLst>
              <a:ext uri="{FF2B5EF4-FFF2-40B4-BE49-F238E27FC236}">
                <a16:creationId xmlns:a16="http://schemas.microsoft.com/office/drawing/2014/main" id="{F0DD5913-5DC7-A93B-7D58-6F8AE9356AB0}"/>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タップ式・即回答</a:t>
            </a:r>
            <a:endParaRPr lang="en-US" altLang="ja-JP" sz="750" dirty="0">
              <a:latin typeface="メイリオ" panose="020B0604030504040204" pitchFamily="50" charset="-128"/>
              <a:ea typeface="メイリオ" panose="020B0604030504040204" pitchFamily="50" charset="-128"/>
            </a:endParaRPr>
          </a:p>
        </p:txBody>
      </p:sp>
      <p:sp>
        <p:nvSpPr>
          <p:cNvPr id="96" name="Text 76">
            <a:extLst>
              <a:ext uri="{FF2B5EF4-FFF2-40B4-BE49-F238E27FC236}">
                <a16:creationId xmlns:a16="http://schemas.microsoft.com/office/drawing/2014/main" id="{8841F69C-C2EB-F428-9C29-1835C7671985}"/>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8" name="Shape 77">
            <a:extLst>
              <a:ext uri="{FF2B5EF4-FFF2-40B4-BE49-F238E27FC236}">
                <a16:creationId xmlns:a16="http://schemas.microsoft.com/office/drawing/2014/main" id="{3D4B0674-1BDF-A06F-3031-1D2C3CFCAFCB}"/>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0" name="Shape 78">
            <a:extLst>
              <a:ext uri="{FF2B5EF4-FFF2-40B4-BE49-F238E27FC236}">
                <a16:creationId xmlns:a16="http://schemas.microsoft.com/office/drawing/2014/main" id="{A6BF8401-0185-4740-65BD-3B25BF274C5D}"/>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2" name="Text 79">
            <a:extLst>
              <a:ext uri="{FF2B5EF4-FFF2-40B4-BE49-F238E27FC236}">
                <a16:creationId xmlns:a16="http://schemas.microsoft.com/office/drawing/2014/main" id="{60ECC73C-CE71-5B5F-BE35-36A110A9273A}"/>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4" name="Text 80">
            <a:extLst>
              <a:ext uri="{FF2B5EF4-FFF2-40B4-BE49-F238E27FC236}">
                <a16:creationId xmlns:a16="http://schemas.microsoft.com/office/drawing/2014/main" id="{96428CFC-DE5B-2C59-73AD-050998F19ECE}"/>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自動スコアリング</a:t>
            </a:r>
            <a:endParaRPr lang="en-US" altLang="ja-JP" sz="850" dirty="0">
              <a:latin typeface="メイリオ" panose="020B0604030504040204" pitchFamily="50" charset="-128"/>
              <a:ea typeface="メイリオ" panose="020B0604030504040204" pitchFamily="50" charset="-128"/>
            </a:endParaRPr>
          </a:p>
        </p:txBody>
      </p:sp>
      <p:sp>
        <p:nvSpPr>
          <p:cNvPr id="106" name="Text 81">
            <a:extLst>
              <a:ext uri="{FF2B5EF4-FFF2-40B4-BE49-F238E27FC236}">
                <a16:creationId xmlns:a16="http://schemas.microsoft.com/office/drawing/2014/main" id="{A4C856B7-9917-9F3B-C6EC-F2AB00761D32}"/>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ホットリード特定</a:t>
            </a:r>
            <a:endParaRPr lang="en-US" altLang="ja-JP" sz="750" dirty="0">
              <a:latin typeface="メイリオ" panose="020B0604030504040204" pitchFamily="50" charset="-128"/>
              <a:ea typeface="メイリオ" panose="020B0604030504040204" pitchFamily="50" charset="-128"/>
            </a:endParaRPr>
          </a:p>
        </p:txBody>
      </p:sp>
      <p:sp>
        <p:nvSpPr>
          <p:cNvPr id="108" name="Text 82">
            <a:extLst>
              <a:ext uri="{FF2B5EF4-FFF2-40B4-BE49-F238E27FC236}">
                <a16:creationId xmlns:a16="http://schemas.microsoft.com/office/drawing/2014/main" id="{E3396CCE-6D05-BB63-89D2-AFEC3888A603}"/>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0" name="Shape 83">
            <a:extLst>
              <a:ext uri="{FF2B5EF4-FFF2-40B4-BE49-F238E27FC236}">
                <a16:creationId xmlns:a16="http://schemas.microsoft.com/office/drawing/2014/main" id="{E0F59D7C-4363-A525-B16C-695512C79C58}"/>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2" name="Shape 84">
            <a:extLst>
              <a:ext uri="{FF2B5EF4-FFF2-40B4-BE49-F238E27FC236}">
                <a16:creationId xmlns:a16="http://schemas.microsoft.com/office/drawing/2014/main" id="{9E2F0FE0-EA67-CDB7-9CF3-64EDD1E5E81A}"/>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4" name="Text 85">
            <a:extLst>
              <a:ext uri="{FF2B5EF4-FFF2-40B4-BE49-F238E27FC236}">
                <a16:creationId xmlns:a16="http://schemas.microsoft.com/office/drawing/2014/main" id="{E836FDF6-8AA3-5464-F9B5-FFD8960B35B5}"/>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6" name="Text 86">
            <a:extLst>
              <a:ext uri="{FF2B5EF4-FFF2-40B4-BE49-F238E27FC236}">
                <a16:creationId xmlns:a16="http://schemas.microsoft.com/office/drawing/2014/main" id="{FEF48462-734A-1272-13A3-E0A1A2C1A704}"/>
              </a:ext>
            </a:extLst>
          </p:cNvPr>
          <p:cNvSpPr/>
          <p:nvPr/>
        </p:nvSpPr>
        <p:spPr>
          <a:xfrm>
            <a:off x="3447531" y="5957091"/>
            <a:ext cx="914400" cy="182880"/>
          </a:xfrm>
          <a:prstGeom prst="rect">
            <a:avLst/>
          </a:prstGeom>
          <a:noFill/>
          <a:ln/>
        </p:spPr>
        <p:txBody>
          <a:bodyPr wrap="square" lIns="0" tIns="0" rIns="0" bIns="0" rtlCol="0" anchor="ctr"/>
          <a:lstStyle/>
          <a:p>
            <a:r>
              <a:rPr lang="ja-JP" altLang="en-US" sz="850" b="1" dirty="0">
                <a:solidFill>
                  <a:srgbClr val="FFFFFF"/>
                </a:solidFill>
                <a:latin typeface="メイリオ" panose="020B0604030504040204" pitchFamily="50" charset="-128"/>
                <a:ea typeface="メイリオ" panose="020B0604030504040204" pitchFamily="50" charset="-128"/>
                <a:cs typeface="Calibri" pitchFamily="34" charset="-120"/>
              </a:rPr>
              <a:t>トスアップ</a:t>
            </a:r>
            <a:endParaRPr lang="en-US" altLang="ja-JP" sz="850" dirty="0">
              <a:latin typeface="メイリオ" panose="020B0604030504040204" pitchFamily="50" charset="-128"/>
              <a:ea typeface="メイリオ" panose="020B0604030504040204" pitchFamily="50" charset="-128"/>
            </a:endParaRPr>
          </a:p>
        </p:txBody>
      </p:sp>
      <p:sp>
        <p:nvSpPr>
          <p:cNvPr id="118" name="Text 87">
            <a:extLst>
              <a:ext uri="{FF2B5EF4-FFF2-40B4-BE49-F238E27FC236}">
                <a16:creationId xmlns:a16="http://schemas.microsoft.com/office/drawing/2014/main" id="{7A5801BF-BB1C-CA06-2ADD-8917D3F321CF}"/>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商談化70%</a:t>
            </a: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改善事例も</a:t>
            </a:r>
            <a:endParaRPr lang="en-US" altLang="ja-JP" sz="750" dirty="0">
              <a:latin typeface="メイリオ" panose="020B0604030504040204" pitchFamily="50" charset="-128"/>
              <a:ea typeface="メイリオ" panose="020B0604030504040204" pitchFamily="50" charset="-128"/>
            </a:endParaRPr>
          </a:p>
        </p:txBody>
      </p:sp>
      <p:sp>
        <p:nvSpPr>
          <p:cNvPr id="120" name="Shape 88">
            <a:extLst>
              <a:ext uri="{FF2B5EF4-FFF2-40B4-BE49-F238E27FC236}">
                <a16:creationId xmlns:a16="http://schemas.microsoft.com/office/drawing/2014/main" id="{1022B804-29BA-C16F-59BF-7116998459A1}"/>
              </a:ext>
            </a:extLst>
          </p:cNvPr>
          <p:cNvSpPr/>
          <p:nvPr/>
        </p:nvSpPr>
        <p:spPr>
          <a:xfrm>
            <a:off x="5099366" y="2999769"/>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22" name="Shape 92">
            <a:extLst>
              <a:ext uri="{FF2B5EF4-FFF2-40B4-BE49-F238E27FC236}">
                <a16:creationId xmlns:a16="http://schemas.microsoft.com/office/drawing/2014/main" id="{C083C52C-3E3D-EE4D-FA9C-B0A718669F53}"/>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24" name="Text 93">
            <a:extLst>
              <a:ext uri="{FF2B5EF4-FFF2-40B4-BE49-F238E27FC236}">
                <a16:creationId xmlns:a16="http://schemas.microsoft.com/office/drawing/2014/main" id="{1BBE6434-6048-9866-D279-EBE9D835E91D}"/>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企画配信</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26" name="Text 94">
            <a:extLst>
              <a:ext uri="{FF2B5EF4-FFF2-40B4-BE49-F238E27FC236}">
                <a16:creationId xmlns:a16="http://schemas.microsoft.com/office/drawing/2014/main" id="{F578845C-26D5-3691-D376-1CA844A61B98}"/>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季節・業界イベント連動配信で休眠リストを起こす</a:t>
            </a:r>
            <a:endParaRPr lang="en-US" altLang="ja-JP" sz="1100" dirty="0">
              <a:latin typeface="メイリオ" panose="020B0604030504040204" pitchFamily="50" charset="-128"/>
              <a:ea typeface="メイリオ" panose="020B0604030504040204" pitchFamily="50" charset="-128"/>
            </a:endParaRPr>
          </a:p>
        </p:txBody>
      </p:sp>
      <p:sp>
        <p:nvSpPr>
          <p:cNvPr id="128" name="Text 95">
            <a:extLst>
              <a:ext uri="{FF2B5EF4-FFF2-40B4-BE49-F238E27FC236}">
                <a16:creationId xmlns:a16="http://schemas.microsoft.com/office/drawing/2014/main" id="{06D9F55B-7232-7A4D-8F5C-1AB4E0C70FBD}"/>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来年4月のご入居に向けて、今から動き始めるお客様が増えています」という業界固有モーメントに乗せた再接触配信。検討ピークの2〜3ヶ月前に配信することがCVR最大化のコツ。「売り込み」ではなく「タイミングの案内」として届ける。</a:t>
            </a:r>
            <a:endParaRPr lang="en-US" altLang="ja-JP" sz="850" dirty="0">
              <a:latin typeface="メイリオ" panose="020B0604030504040204" pitchFamily="50" charset="-128"/>
              <a:ea typeface="メイリオ" panose="020B0604030504040204" pitchFamily="50" charset="-128"/>
            </a:endParaRPr>
          </a:p>
        </p:txBody>
      </p:sp>
      <p:sp>
        <p:nvSpPr>
          <p:cNvPr id="130" name="Shape 96">
            <a:extLst>
              <a:ext uri="{FF2B5EF4-FFF2-40B4-BE49-F238E27FC236}">
                <a16:creationId xmlns:a16="http://schemas.microsoft.com/office/drawing/2014/main" id="{069D4174-4F64-8276-0A34-474428B42A09}"/>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32" name="Shape 97">
            <a:extLst>
              <a:ext uri="{FF2B5EF4-FFF2-40B4-BE49-F238E27FC236}">
                <a16:creationId xmlns:a16="http://schemas.microsoft.com/office/drawing/2014/main" id="{D9EBB717-A542-13FE-924C-50E4D9047DEA}"/>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34" name="Text 98">
            <a:extLst>
              <a:ext uri="{FF2B5EF4-FFF2-40B4-BE49-F238E27FC236}">
                <a16:creationId xmlns:a16="http://schemas.microsoft.com/office/drawing/2014/main" id="{5701D322-E6AC-4743-3BF0-3D2C916AA73A}"/>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36" name="Text 99">
            <a:extLst>
              <a:ext uri="{FF2B5EF4-FFF2-40B4-BE49-F238E27FC236}">
                <a16:creationId xmlns:a16="http://schemas.microsoft.com/office/drawing/2014/main" id="{CA2962DC-C768-875A-D569-10ECD1DEB616}"/>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モーメント特定</a:t>
            </a:r>
            <a:endParaRPr lang="en-US" altLang="ja-JP" sz="850" dirty="0">
              <a:latin typeface="メイリオ" panose="020B0604030504040204" pitchFamily="50" charset="-128"/>
              <a:ea typeface="メイリオ" panose="020B0604030504040204" pitchFamily="50" charset="-128"/>
            </a:endParaRPr>
          </a:p>
        </p:txBody>
      </p:sp>
      <p:sp>
        <p:nvSpPr>
          <p:cNvPr id="138" name="Text 100">
            <a:extLst>
              <a:ext uri="{FF2B5EF4-FFF2-40B4-BE49-F238E27FC236}">
                <a16:creationId xmlns:a16="http://schemas.microsoft.com/office/drawing/2014/main" id="{C3D786F9-91FC-82F5-3763-A658668EED4C}"/>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ピーク2〜3週前</a:t>
            </a:r>
            <a:endParaRPr lang="en-US" altLang="ja-JP" sz="750" dirty="0">
              <a:latin typeface="メイリオ" panose="020B0604030504040204" pitchFamily="50" charset="-128"/>
              <a:ea typeface="メイリオ" panose="020B0604030504040204" pitchFamily="50" charset="-128"/>
            </a:endParaRPr>
          </a:p>
        </p:txBody>
      </p:sp>
      <p:sp>
        <p:nvSpPr>
          <p:cNvPr id="140" name="Text 101">
            <a:extLst>
              <a:ext uri="{FF2B5EF4-FFF2-40B4-BE49-F238E27FC236}">
                <a16:creationId xmlns:a16="http://schemas.microsoft.com/office/drawing/2014/main" id="{C1EEB04D-625F-17CE-C89D-4B08395FBAFC}"/>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42" name="Shape 102">
            <a:extLst>
              <a:ext uri="{FF2B5EF4-FFF2-40B4-BE49-F238E27FC236}">
                <a16:creationId xmlns:a16="http://schemas.microsoft.com/office/drawing/2014/main" id="{50E9AED5-D9C7-D6C3-65D6-3119987A999C}"/>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44" name="Shape 103">
            <a:extLst>
              <a:ext uri="{FF2B5EF4-FFF2-40B4-BE49-F238E27FC236}">
                <a16:creationId xmlns:a16="http://schemas.microsoft.com/office/drawing/2014/main" id="{C74365D2-79DD-46D0-F7E6-AB9A53F69C2C}"/>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46" name="Text 104">
            <a:extLst>
              <a:ext uri="{FF2B5EF4-FFF2-40B4-BE49-F238E27FC236}">
                <a16:creationId xmlns:a16="http://schemas.microsoft.com/office/drawing/2014/main" id="{6E4E920B-459D-A400-22E8-BABF2781E2BA}"/>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48" name="Text 105">
            <a:extLst>
              <a:ext uri="{FF2B5EF4-FFF2-40B4-BE49-F238E27FC236}">
                <a16:creationId xmlns:a16="http://schemas.microsoft.com/office/drawing/2014/main" id="{A09DCB92-8255-C6E6-87C7-473321C80234}"/>
              </a:ext>
            </a:extLst>
          </p:cNvPr>
          <p:cNvSpPr/>
          <p:nvPr/>
        </p:nvSpPr>
        <p:spPr>
          <a:xfrm>
            <a:off x="6873303"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コンテンツ配信</a:t>
            </a:r>
            <a:endParaRPr lang="en-US" altLang="ja-JP" sz="850" dirty="0">
              <a:latin typeface="メイリオ" panose="020B0604030504040204" pitchFamily="50" charset="-128"/>
              <a:ea typeface="メイリオ" panose="020B0604030504040204" pitchFamily="50" charset="-128"/>
            </a:endParaRPr>
          </a:p>
        </p:txBody>
      </p:sp>
      <p:sp>
        <p:nvSpPr>
          <p:cNvPr id="150" name="Text 106">
            <a:extLst>
              <a:ext uri="{FF2B5EF4-FFF2-40B4-BE49-F238E27FC236}">
                <a16:creationId xmlns:a16="http://schemas.microsoft.com/office/drawing/2014/main" id="{09AC34DD-AAEC-BF91-CB1D-5545FE79C4D2}"/>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今だから」訴求</a:t>
            </a:r>
            <a:endParaRPr lang="en-US" altLang="ja-JP" sz="750" dirty="0">
              <a:latin typeface="メイリオ" panose="020B0604030504040204" pitchFamily="50" charset="-128"/>
              <a:ea typeface="メイリオ" panose="020B0604030504040204" pitchFamily="50" charset="-128"/>
            </a:endParaRPr>
          </a:p>
        </p:txBody>
      </p:sp>
      <p:sp>
        <p:nvSpPr>
          <p:cNvPr id="152" name="Text 107">
            <a:extLst>
              <a:ext uri="{FF2B5EF4-FFF2-40B4-BE49-F238E27FC236}">
                <a16:creationId xmlns:a16="http://schemas.microsoft.com/office/drawing/2014/main" id="{BF81408E-47F9-9F16-013B-45DCB0A4C212}"/>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54" name="Shape 108">
            <a:extLst>
              <a:ext uri="{FF2B5EF4-FFF2-40B4-BE49-F238E27FC236}">
                <a16:creationId xmlns:a16="http://schemas.microsoft.com/office/drawing/2014/main" id="{503FF76B-C744-3397-71C4-D41BA4685B17}"/>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56" name="Shape 109">
            <a:extLst>
              <a:ext uri="{FF2B5EF4-FFF2-40B4-BE49-F238E27FC236}">
                <a16:creationId xmlns:a16="http://schemas.microsoft.com/office/drawing/2014/main" id="{A6B21F29-F9B0-9369-C7F9-877467F07918}"/>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58" name="Text 110">
            <a:extLst>
              <a:ext uri="{FF2B5EF4-FFF2-40B4-BE49-F238E27FC236}">
                <a16:creationId xmlns:a16="http://schemas.microsoft.com/office/drawing/2014/main" id="{27C2769D-257A-7368-2C8C-D5AC1F474DEE}"/>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60" name="Text 111">
            <a:extLst>
              <a:ext uri="{FF2B5EF4-FFF2-40B4-BE49-F238E27FC236}">
                <a16:creationId xmlns:a16="http://schemas.microsoft.com/office/drawing/2014/main" id="{38FBDAAB-A07A-E8C4-47B0-D464E78D6F27}"/>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休眠リスト再CV</a:t>
            </a:r>
            <a:endParaRPr lang="en-US" altLang="ja-JP" sz="850" dirty="0">
              <a:latin typeface="メイリオ" panose="020B0604030504040204" pitchFamily="50" charset="-128"/>
              <a:ea typeface="メイリオ" panose="020B0604030504040204" pitchFamily="50" charset="-128"/>
            </a:endParaRPr>
          </a:p>
        </p:txBody>
      </p:sp>
      <p:sp>
        <p:nvSpPr>
          <p:cNvPr id="162" name="Text 112">
            <a:extLst>
              <a:ext uri="{FF2B5EF4-FFF2-40B4-BE49-F238E27FC236}">
                <a16:creationId xmlns:a16="http://schemas.microsoft.com/office/drawing/2014/main" id="{D3F04975-0A5A-781C-2B9E-C31F7695748A}"/>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再CV率3〜8%</a:t>
            </a:r>
            <a:endParaRPr lang="en-US" altLang="ja-JP" sz="750" dirty="0">
              <a:latin typeface="メイリオ" panose="020B0604030504040204" pitchFamily="50" charset="-128"/>
              <a:ea typeface="メイリオ" panose="020B0604030504040204" pitchFamily="50" charset="-128"/>
            </a:endParaRPr>
          </a:p>
        </p:txBody>
      </p:sp>
      <p:sp>
        <p:nvSpPr>
          <p:cNvPr id="164" name="Shape 113">
            <a:extLst>
              <a:ext uri="{FF2B5EF4-FFF2-40B4-BE49-F238E27FC236}">
                <a16:creationId xmlns:a16="http://schemas.microsoft.com/office/drawing/2014/main" id="{B8A7F8E0-2D9E-4F58-B45C-445490BAD2A6}"/>
              </a:ext>
            </a:extLst>
          </p:cNvPr>
          <p:cNvSpPr/>
          <p:nvPr/>
        </p:nvSpPr>
        <p:spPr>
          <a:xfrm>
            <a:off x="5099366" y="4842285"/>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66" name="Shape 117">
            <a:extLst>
              <a:ext uri="{FF2B5EF4-FFF2-40B4-BE49-F238E27FC236}">
                <a16:creationId xmlns:a16="http://schemas.microsoft.com/office/drawing/2014/main" id="{405D8489-0824-1FFD-1B67-B3B0A50D9604}"/>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68" name="Text 118">
            <a:extLst>
              <a:ext uri="{FF2B5EF4-FFF2-40B4-BE49-F238E27FC236}">
                <a16:creationId xmlns:a16="http://schemas.microsoft.com/office/drawing/2014/main" id="{FE9A5096-9CFE-5412-810F-0F2F5A6CF1D7}"/>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再スクリーニング</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70" name="Text 119">
            <a:extLst>
              <a:ext uri="{FF2B5EF4-FFF2-40B4-BE49-F238E27FC236}">
                <a16:creationId xmlns:a16="http://schemas.microsoft.com/office/drawing/2014/main" id="{64A72FA9-D385-9A82-A7FF-CCA964EA228C}"/>
              </a:ext>
            </a:extLst>
          </p:cNvPr>
          <p:cNvSpPr/>
          <p:nvPr/>
        </p:nvSpPr>
        <p:spPr>
          <a:xfrm>
            <a:off x="6379527" y="4924581"/>
            <a:ext cx="3319066" cy="256032"/>
          </a:xfrm>
          <a:prstGeom prst="rect">
            <a:avLst/>
          </a:prstGeom>
          <a:noFill/>
          <a:ln/>
        </p:spPr>
        <p:txBody>
          <a:bodyPr wrap="square" lIns="0" tIns="0" rIns="0" bIns="0" rtlCol="0" anchor="ctr"/>
          <a:lstStyle/>
          <a:p>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その後いかが</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配信で失注リストを再活性化</a:t>
            </a:r>
            <a:endParaRPr lang="en-US" altLang="ja-JP" sz="1100" dirty="0">
              <a:latin typeface="メイリオ" panose="020B0604030504040204" pitchFamily="50" charset="-128"/>
              <a:ea typeface="メイリオ" panose="020B0604030504040204" pitchFamily="50" charset="-128"/>
            </a:endParaRPr>
          </a:p>
        </p:txBody>
      </p:sp>
      <p:sp>
        <p:nvSpPr>
          <p:cNvPr id="172" name="Text 120">
            <a:extLst>
              <a:ext uri="{FF2B5EF4-FFF2-40B4-BE49-F238E27FC236}">
                <a16:creationId xmlns:a16="http://schemas.microsoft.com/office/drawing/2014/main" id="{CBDC21B9-7A24-59D8-C78B-DA02EFBD1EE5}"/>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失注・辞退から3〜6ヶ月後に「ご状況が変わっていれば改めてご案内できます」と自然なトーンで再接触。失注理由別でシナリオを分岐：「</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予算NG」層</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新プランができました</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タイミングNG」層</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またご都合のよい時期に</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174" name="Shape 121">
            <a:extLst>
              <a:ext uri="{FF2B5EF4-FFF2-40B4-BE49-F238E27FC236}">
                <a16:creationId xmlns:a16="http://schemas.microsoft.com/office/drawing/2014/main" id="{8F2AD48D-D152-8DDF-689E-38F793A7A035}"/>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76" name="Shape 122">
            <a:extLst>
              <a:ext uri="{FF2B5EF4-FFF2-40B4-BE49-F238E27FC236}">
                <a16:creationId xmlns:a16="http://schemas.microsoft.com/office/drawing/2014/main" id="{62E05E15-51AF-4DED-F35A-E0341BEEDB6E}"/>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78" name="Text 123">
            <a:extLst>
              <a:ext uri="{FF2B5EF4-FFF2-40B4-BE49-F238E27FC236}">
                <a16:creationId xmlns:a16="http://schemas.microsoft.com/office/drawing/2014/main" id="{E6A90B54-8A00-3600-E1D6-0F35C45F9544}"/>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80" name="Text 124">
            <a:extLst>
              <a:ext uri="{FF2B5EF4-FFF2-40B4-BE49-F238E27FC236}">
                <a16:creationId xmlns:a16="http://schemas.microsoft.com/office/drawing/2014/main" id="{5CE65D75-4BC1-519E-F76F-6A0757C1EC53}"/>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失注後3〜6ヶ月</a:t>
            </a:r>
            <a:endParaRPr lang="en-US" altLang="ja-JP" sz="850" dirty="0">
              <a:latin typeface="メイリオ" panose="020B0604030504040204" pitchFamily="50" charset="-128"/>
              <a:ea typeface="メイリオ" panose="020B0604030504040204" pitchFamily="50" charset="-128"/>
            </a:endParaRPr>
          </a:p>
        </p:txBody>
      </p:sp>
      <p:sp>
        <p:nvSpPr>
          <p:cNvPr id="182" name="Text 125">
            <a:extLst>
              <a:ext uri="{FF2B5EF4-FFF2-40B4-BE49-F238E27FC236}">
                <a16:creationId xmlns:a16="http://schemas.microsoft.com/office/drawing/2014/main" id="{321D2CBF-DB5B-0A56-8946-401A4AD2CC5C}"/>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自動配信</a:t>
            </a: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（ステップ）</a:t>
            </a:r>
            <a:endParaRPr lang="en-US" altLang="ja-JP" sz="750" dirty="0">
              <a:latin typeface="メイリオ" panose="020B0604030504040204" pitchFamily="50" charset="-128"/>
              <a:ea typeface="メイリオ" panose="020B0604030504040204" pitchFamily="50" charset="-128"/>
            </a:endParaRPr>
          </a:p>
        </p:txBody>
      </p:sp>
      <p:sp>
        <p:nvSpPr>
          <p:cNvPr id="184" name="Text 126">
            <a:extLst>
              <a:ext uri="{FF2B5EF4-FFF2-40B4-BE49-F238E27FC236}">
                <a16:creationId xmlns:a16="http://schemas.microsoft.com/office/drawing/2014/main" id="{06401F8E-C60A-CA49-A807-0A6452BDC118}"/>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86" name="Shape 127">
            <a:extLst>
              <a:ext uri="{FF2B5EF4-FFF2-40B4-BE49-F238E27FC236}">
                <a16:creationId xmlns:a16="http://schemas.microsoft.com/office/drawing/2014/main" id="{AE3CA431-0C8F-8EF0-2ED8-A83CCA602B3E}"/>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88" name="Shape 128">
            <a:extLst>
              <a:ext uri="{FF2B5EF4-FFF2-40B4-BE49-F238E27FC236}">
                <a16:creationId xmlns:a16="http://schemas.microsoft.com/office/drawing/2014/main" id="{1AD820F2-8E91-97A5-8E0A-B1C6BFB331A1}"/>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90" name="Text 129">
            <a:extLst>
              <a:ext uri="{FF2B5EF4-FFF2-40B4-BE49-F238E27FC236}">
                <a16:creationId xmlns:a16="http://schemas.microsoft.com/office/drawing/2014/main" id="{8D818818-A3AE-555E-7011-4F3D90379688}"/>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92" name="Text 130">
            <a:extLst>
              <a:ext uri="{FF2B5EF4-FFF2-40B4-BE49-F238E27FC236}">
                <a16:creationId xmlns:a16="http://schemas.microsoft.com/office/drawing/2014/main" id="{4EF9A98F-AC88-0728-EFD8-0C772A79587A}"/>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失注理由別分岐</a:t>
            </a:r>
            <a:endParaRPr lang="en-US" altLang="ja-JP" sz="850" dirty="0">
              <a:latin typeface="メイリオ" panose="020B0604030504040204" pitchFamily="50" charset="-128"/>
              <a:ea typeface="メイリオ" panose="020B0604030504040204" pitchFamily="50" charset="-128"/>
            </a:endParaRPr>
          </a:p>
        </p:txBody>
      </p:sp>
      <p:sp>
        <p:nvSpPr>
          <p:cNvPr id="194" name="Text 131">
            <a:extLst>
              <a:ext uri="{FF2B5EF4-FFF2-40B4-BE49-F238E27FC236}">
                <a16:creationId xmlns:a16="http://schemas.microsoft.com/office/drawing/2014/main" id="{AA3268CA-2C22-0C62-160E-0C0216963E5F}"/>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シナリオカスタマイズ</a:t>
            </a:r>
            <a:endParaRPr lang="en-US" altLang="ja-JP" sz="750" dirty="0">
              <a:latin typeface="メイリオ" panose="020B0604030504040204" pitchFamily="50" charset="-128"/>
              <a:ea typeface="メイリオ" panose="020B0604030504040204" pitchFamily="50" charset="-128"/>
            </a:endParaRPr>
          </a:p>
        </p:txBody>
      </p:sp>
      <p:sp>
        <p:nvSpPr>
          <p:cNvPr id="196" name="Text 132">
            <a:extLst>
              <a:ext uri="{FF2B5EF4-FFF2-40B4-BE49-F238E27FC236}">
                <a16:creationId xmlns:a16="http://schemas.microsoft.com/office/drawing/2014/main" id="{2F00F7D4-1087-A7FE-323B-EE40BA03BBCF}"/>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98" name="Shape 133">
            <a:extLst>
              <a:ext uri="{FF2B5EF4-FFF2-40B4-BE49-F238E27FC236}">
                <a16:creationId xmlns:a16="http://schemas.microsoft.com/office/drawing/2014/main" id="{48973DFD-52B9-D288-5F88-EBA671150D93}"/>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00" name="Shape 134">
            <a:extLst>
              <a:ext uri="{FF2B5EF4-FFF2-40B4-BE49-F238E27FC236}">
                <a16:creationId xmlns:a16="http://schemas.microsoft.com/office/drawing/2014/main" id="{E611469B-B55C-8664-CADB-DF4675853BF0}"/>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02" name="Text 135">
            <a:extLst>
              <a:ext uri="{FF2B5EF4-FFF2-40B4-BE49-F238E27FC236}">
                <a16:creationId xmlns:a16="http://schemas.microsoft.com/office/drawing/2014/main" id="{F56AD707-B2E2-F152-960D-3E43770D8634}"/>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04" name="Text 136">
            <a:extLst>
              <a:ext uri="{FF2B5EF4-FFF2-40B4-BE49-F238E27FC236}">
                <a16:creationId xmlns:a16="http://schemas.microsoft.com/office/drawing/2014/main" id="{44EA5DE9-1C7B-2119-EC2E-A8BE9873034E}"/>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再CV獲得</a:t>
            </a:r>
            <a:endParaRPr lang="en-US" altLang="ja-JP" sz="850" dirty="0">
              <a:latin typeface="メイリオ" panose="020B0604030504040204" pitchFamily="50" charset="-128"/>
              <a:ea typeface="メイリオ" panose="020B0604030504040204" pitchFamily="50" charset="-128"/>
            </a:endParaRPr>
          </a:p>
        </p:txBody>
      </p:sp>
      <p:sp>
        <p:nvSpPr>
          <p:cNvPr id="206" name="Text 137">
            <a:extLst>
              <a:ext uri="{FF2B5EF4-FFF2-40B4-BE49-F238E27FC236}">
                <a16:creationId xmlns:a16="http://schemas.microsoft.com/office/drawing/2014/main" id="{8096588A-C237-8806-3F2E-41D5083C6A97}"/>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コストゼロ受注</a:t>
            </a:r>
            <a:endParaRPr lang="en-US" altLang="ja-JP" sz="750" dirty="0">
              <a:latin typeface="メイリオ" panose="020B0604030504040204" pitchFamily="50" charset="-128"/>
              <a:ea typeface="メイリオ" panose="020B0604030504040204" pitchFamily="50" charset="-128"/>
            </a:endParaRPr>
          </a:p>
        </p:txBody>
      </p:sp>
      <p:sp>
        <p:nvSpPr>
          <p:cNvPr id="208" name="Shape 36">
            <a:extLst>
              <a:ext uri="{FF2B5EF4-FFF2-40B4-BE49-F238E27FC236}">
                <a16:creationId xmlns:a16="http://schemas.microsoft.com/office/drawing/2014/main" id="{A5FC7E14-B018-D022-4C5B-B6CBBCAE4736}"/>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10" name="Shape 36">
            <a:extLst>
              <a:ext uri="{FF2B5EF4-FFF2-40B4-BE49-F238E27FC236}">
                <a16:creationId xmlns:a16="http://schemas.microsoft.com/office/drawing/2014/main" id="{6310D41F-AA25-B595-2E67-274ED86E8EEC}"/>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12" name="Shape 36">
            <a:extLst>
              <a:ext uri="{FF2B5EF4-FFF2-40B4-BE49-F238E27FC236}">
                <a16:creationId xmlns:a16="http://schemas.microsoft.com/office/drawing/2014/main" id="{04FC39D4-AF33-9A13-B4BB-7BF38704EB41}"/>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568268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5F51C-1549-19C8-A509-C77C3C8B926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0881644-71DA-0FD5-31A8-50845CB45B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改善モデル⓷</a:t>
            </a:r>
          </a:p>
        </p:txBody>
      </p:sp>
      <p:sp>
        <p:nvSpPr>
          <p:cNvPr id="27" name="テキスト ボックス 26">
            <a:extLst>
              <a:ext uri="{FF2B5EF4-FFF2-40B4-BE49-F238E27FC236}">
                <a16:creationId xmlns:a16="http://schemas.microsoft.com/office/drawing/2014/main" id="{3E754129-4E82-ADF0-7762-6DB3D6C37869}"/>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90A62F05-90DB-BEFF-2CA5-AB5CBFB875BB}"/>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FEA37072-D446-4372-FBCF-FF05EAA5FFDB}"/>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768555E4-10E4-ED78-186D-F8BBA4ECA773}"/>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C655AFC2-F818-8CFC-48E3-29591E6CCBA4}"/>
              </a:ext>
            </a:extLst>
          </p:cNvPr>
          <p:cNvCxnSpPr>
            <a:cxnSpLocks/>
            <a:stCxn id="30" idx="0"/>
          </p:cNvCxnSpPr>
          <p:nvPr/>
        </p:nvCxnSpPr>
        <p:spPr>
          <a:xfrm rot="5400000" flipH="1" flipV="1">
            <a:off x="4270984" y="1720322"/>
            <a:ext cx="246792" cy="36561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 name="テキスト ボックス 4">
            <a:extLst>
              <a:ext uri="{FF2B5EF4-FFF2-40B4-BE49-F238E27FC236}">
                <a16:creationId xmlns:a16="http://schemas.microsoft.com/office/drawing/2014/main" id="{AE0E605C-24DB-D0F6-408E-DC91DFF126F2}"/>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024124EA-8A11-9089-D195-BFB58DD5068D}"/>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B87E9823-A3D2-CC28-7E59-EE124DBE7CAD}"/>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0E616C55-41AE-4E89-AA73-D23C6063BAC5}"/>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4F6D876E-0365-432F-46BA-A5401006C465}"/>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3EE31941-0F5E-1E7C-269A-8F9D019765CF}"/>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15" name="Google Shape;752;p28">
            <a:extLst>
              <a:ext uri="{FF2B5EF4-FFF2-40B4-BE49-F238E27FC236}">
                <a16:creationId xmlns:a16="http://schemas.microsoft.com/office/drawing/2014/main" id="{98886420-FB53-2FB8-A09E-EB3FDE7308E8}"/>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成約、購入等、企業としての売上・利益につなげる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3" name="正方形/長方形 2">
            <a:extLst>
              <a:ext uri="{FF2B5EF4-FFF2-40B4-BE49-F238E27FC236}">
                <a16:creationId xmlns:a16="http://schemas.microsoft.com/office/drawing/2014/main" id="{25A50B78-E73B-4B44-EA42-3D987F8E8733}"/>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テキスト ボックス 11">
            <a:extLst>
              <a:ext uri="{FF2B5EF4-FFF2-40B4-BE49-F238E27FC236}">
                <a16:creationId xmlns:a16="http://schemas.microsoft.com/office/drawing/2014/main" id="{EDBFCB04-05B4-E4AC-12A0-CD0E81A2DC3C}"/>
              </a:ext>
            </a:extLst>
          </p:cNvPr>
          <p:cNvSpPr txBox="1"/>
          <p:nvPr/>
        </p:nvSpPr>
        <p:spPr>
          <a:xfrm>
            <a:off x="6119413" y="1832804"/>
            <a:ext cx="2352196" cy="348203"/>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⑦マネタイズ</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成約</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購入</a:t>
            </a:r>
            <a:r>
              <a:rPr lang="en-US" altLang="ja-JP" sz="1000" b="1" dirty="0">
                <a:solidFill>
                  <a:schemeClr val="bg1"/>
                </a:solidFill>
                <a:latin typeface="メイリオ" panose="020B0604030504040204" pitchFamily="50" charset="-128"/>
                <a:ea typeface="メイリオ" panose="020B0604030504040204" pitchFamily="50" charset="-128"/>
              </a:rPr>
              <a:t>)</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212" name="正方形/長方形 211">
            <a:extLst>
              <a:ext uri="{FF2B5EF4-FFF2-40B4-BE49-F238E27FC236}">
                <a16:creationId xmlns:a16="http://schemas.microsoft.com/office/drawing/2014/main" id="{7ACD6D34-5B12-71B8-0225-D9C053F55ED2}"/>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実際の購入・契約に関わるハードルを下げる</a:t>
            </a:r>
          </a:p>
        </p:txBody>
      </p:sp>
      <p:sp>
        <p:nvSpPr>
          <p:cNvPr id="214" name="正方形/長方形 213">
            <a:extLst>
              <a:ext uri="{FF2B5EF4-FFF2-40B4-BE49-F238E27FC236}">
                <a16:creationId xmlns:a16="http://schemas.microsoft.com/office/drawing/2014/main" id="{9B22DD71-4656-D5C5-DBDF-22BB0DC5C6FA}"/>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成約後のイメージ・アフターフォローを見える化する</a:t>
            </a:r>
            <a:endParaRPr lang="en-US" altLang="ja-JP" sz="1050" dirty="0">
              <a:latin typeface="メイリオ" panose="020B0604030504040204" pitchFamily="50" charset="-128"/>
              <a:ea typeface="メイリオ" panose="020B0604030504040204" pitchFamily="50" charset="-128"/>
            </a:endParaRPr>
          </a:p>
        </p:txBody>
      </p:sp>
      <p:sp>
        <p:nvSpPr>
          <p:cNvPr id="216" name="Shape 34">
            <a:extLst>
              <a:ext uri="{FF2B5EF4-FFF2-40B4-BE49-F238E27FC236}">
                <a16:creationId xmlns:a16="http://schemas.microsoft.com/office/drawing/2014/main" id="{17BC1EF4-21DA-CE94-283E-846B9F001F36}"/>
              </a:ext>
            </a:extLst>
          </p:cNvPr>
          <p:cNvSpPr/>
          <p:nvPr/>
        </p:nvSpPr>
        <p:spPr>
          <a:xfrm>
            <a:off x="265419" y="2999768"/>
            <a:ext cx="4541216" cy="1600805"/>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8" name="Shape 36">
            <a:extLst>
              <a:ext uri="{FF2B5EF4-FFF2-40B4-BE49-F238E27FC236}">
                <a16:creationId xmlns:a16="http://schemas.microsoft.com/office/drawing/2014/main" id="{B139C33D-7A13-4B90-506A-BD3D89DCB343}"/>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20" name="Shape 38">
            <a:extLst>
              <a:ext uri="{FF2B5EF4-FFF2-40B4-BE49-F238E27FC236}">
                <a16:creationId xmlns:a16="http://schemas.microsoft.com/office/drawing/2014/main" id="{2D290F22-1E3B-8151-C419-A64914BDF65F}"/>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22" name="Text 39">
            <a:extLst>
              <a:ext uri="{FF2B5EF4-FFF2-40B4-BE49-F238E27FC236}">
                <a16:creationId xmlns:a16="http://schemas.microsoft.com/office/drawing/2014/main" id="{19C3AE76-E5E9-46FF-E31E-15492F60B623}"/>
              </a:ext>
            </a:extLst>
          </p:cNvPr>
          <p:cNvSpPr/>
          <p:nvPr/>
        </p:nvSpPr>
        <p:spPr>
          <a:xfrm>
            <a:off x="686043"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不安解消</a:t>
            </a:r>
            <a:r>
              <a:rPr kumimoji="0" lang="en-US" altLang="ja-JP"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BOT</a:t>
            </a:r>
          </a:p>
        </p:txBody>
      </p:sp>
      <p:sp>
        <p:nvSpPr>
          <p:cNvPr id="224" name="Text 40">
            <a:extLst>
              <a:ext uri="{FF2B5EF4-FFF2-40B4-BE49-F238E27FC236}">
                <a16:creationId xmlns:a16="http://schemas.microsoft.com/office/drawing/2014/main" id="{F72D9597-CBE6-7729-EBB8-42A4EB56D3AC}"/>
              </a:ext>
            </a:extLst>
          </p:cNvPr>
          <p:cNvSpPr/>
          <p:nvPr/>
        </p:nvSpPr>
        <p:spPr>
          <a:xfrm>
            <a:off x="1545579"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チャットBOT</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申込前の不安をリアルタイム解消</a:t>
            </a:r>
            <a:endParaRPr lang="en-US" altLang="ja-JP" sz="1100" dirty="0">
              <a:latin typeface="メイリオ" panose="020B0604030504040204" pitchFamily="50" charset="-128"/>
              <a:ea typeface="メイリオ" panose="020B0604030504040204" pitchFamily="50" charset="-128"/>
            </a:endParaRPr>
          </a:p>
        </p:txBody>
      </p:sp>
      <p:sp>
        <p:nvSpPr>
          <p:cNvPr id="226" name="Text 41">
            <a:extLst>
              <a:ext uri="{FF2B5EF4-FFF2-40B4-BE49-F238E27FC236}">
                <a16:creationId xmlns:a16="http://schemas.microsoft.com/office/drawing/2014/main" id="{D4867974-A5DB-62BF-B56C-7B48EBD4FCD6}"/>
              </a:ext>
            </a:extLst>
          </p:cNvPr>
          <p:cNvSpPr/>
          <p:nvPr/>
        </p:nvSpPr>
        <p:spPr>
          <a:xfrm>
            <a:off x="356859" y="3383817"/>
            <a:ext cx="4449774" cy="493776"/>
          </a:xfrm>
          <a:prstGeom prst="rect">
            <a:avLst/>
          </a:prstGeom>
          <a:noFill/>
          <a:ln/>
        </p:spPr>
        <p:txBody>
          <a:bodyPr wrap="square" lIns="0" tIns="0" rIns="0" bIns="0" rtlCol="0" anchor="ctr"/>
          <a:lstStyle/>
          <a:p>
            <a:pPr>
              <a:lnSpc>
                <a:spcPct val="135000"/>
              </a:lnSpc>
            </a:pP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申込ページを複数回閲覧しているが踏み切れない層に「ご不明な点はありますか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とLINEからプッシュ</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解約できる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返金保証は</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効果はいつ出る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など頻出の不安をKW自動応答で即解消し申込フォームへ誘導</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228" name="Shape 42">
            <a:extLst>
              <a:ext uri="{FF2B5EF4-FFF2-40B4-BE49-F238E27FC236}">
                <a16:creationId xmlns:a16="http://schemas.microsoft.com/office/drawing/2014/main" id="{131B059A-8308-F9A4-4B71-FDED85A0F305}"/>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0" name="Shape 43">
            <a:extLst>
              <a:ext uri="{FF2B5EF4-FFF2-40B4-BE49-F238E27FC236}">
                <a16:creationId xmlns:a16="http://schemas.microsoft.com/office/drawing/2014/main" id="{763DFBBD-2B1A-7385-B3C6-41AF5556E607}"/>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2" name="Text 44">
            <a:extLst>
              <a:ext uri="{FF2B5EF4-FFF2-40B4-BE49-F238E27FC236}">
                <a16:creationId xmlns:a16="http://schemas.microsoft.com/office/drawing/2014/main" id="{426BE58B-62E2-01C7-74C9-694E2A9CD289}"/>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34" name="Text 45">
            <a:extLst>
              <a:ext uri="{FF2B5EF4-FFF2-40B4-BE49-F238E27FC236}">
                <a16:creationId xmlns:a16="http://schemas.microsoft.com/office/drawing/2014/main" id="{A698A3A9-032A-DEE2-0FD2-AAF7EC37F195}"/>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複数LP閲覧を検知</a:t>
            </a:r>
            <a:endParaRPr lang="en-US" altLang="ja-JP" sz="850" dirty="0">
              <a:latin typeface="メイリオ" panose="020B0604030504040204" pitchFamily="50" charset="-128"/>
              <a:ea typeface="メイリオ" panose="020B0604030504040204" pitchFamily="50" charset="-128"/>
            </a:endParaRPr>
          </a:p>
        </p:txBody>
      </p:sp>
      <p:sp>
        <p:nvSpPr>
          <p:cNvPr id="236" name="Text 46">
            <a:extLst>
              <a:ext uri="{FF2B5EF4-FFF2-40B4-BE49-F238E27FC236}">
                <a16:creationId xmlns:a16="http://schemas.microsoft.com/office/drawing/2014/main" id="{6CD14118-9279-776C-30F3-C63B5F00B503}"/>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確度：高として認定</a:t>
            </a:r>
            <a:endPar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endParaRPr>
          </a:p>
        </p:txBody>
      </p:sp>
      <p:sp>
        <p:nvSpPr>
          <p:cNvPr id="238" name="Text 47">
            <a:extLst>
              <a:ext uri="{FF2B5EF4-FFF2-40B4-BE49-F238E27FC236}">
                <a16:creationId xmlns:a16="http://schemas.microsoft.com/office/drawing/2014/main" id="{E675B87B-4A8E-ADF8-DADF-AA406110BF3C}"/>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0" name="Shape 48">
            <a:extLst>
              <a:ext uri="{FF2B5EF4-FFF2-40B4-BE49-F238E27FC236}">
                <a16:creationId xmlns:a16="http://schemas.microsoft.com/office/drawing/2014/main" id="{7E2CC952-E8D7-ECD4-395A-BE9452A2A487}"/>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2" name="Shape 49">
            <a:extLst>
              <a:ext uri="{FF2B5EF4-FFF2-40B4-BE49-F238E27FC236}">
                <a16:creationId xmlns:a16="http://schemas.microsoft.com/office/drawing/2014/main" id="{AE59EEF6-CC45-015B-A9E5-8A7A937B56CA}"/>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4" name="Text 50">
            <a:extLst>
              <a:ext uri="{FF2B5EF4-FFF2-40B4-BE49-F238E27FC236}">
                <a16:creationId xmlns:a16="http://schemas.microsoft.com/office/drawing/2014/main" id="{C754A20D-10B5-62BF-4DDB-DE8127CF6F40}"/>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6" name="Text 51">
            <a:extLst>
              <a:ext uri="{FF2B5EF4-FFF2-40B4-BE49-F238E27FC236}">
                <a16:creationId xmlns:a16="http://schemas.microsoft.com/office/drawing/2014/main" id="{D244FC3B-C26B-1060-3973-384C3CC08ADD}"/>
              </a:ext>
            </a:extLst>
          </p:cNvPr>
          <p:cNvSpPr/>
          <p:nvPr/>
        </p:nvSpPr>
        <p:spPr>
          <a:xfrm>
            <a:off x="2039355"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不安ありますか</a:t>
            </a:r>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248" name="Text 52">
            <a:extLst>
              <a:ext uri="{FF2B5EF4-FFF2-40B4-BE49-F238E27FC236}">
                <a16:creationId xmlns:a16="http://schemas.microsoft.com/office/drawing/2014/main" id="{9C10D7EA-6A29-74A3-5046-A7A5BA81CFEB}"/>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LINEからプッシュ</a:t>
            </a:r>
            <a:endParaRPr lang="en-US" altLang="ja-JP" sz="750" dirty="0">
              <a:latin typeface="メイリオ" panose="020B0604030504040204" pitchFamily="50" charset="-128"/>
              <a:ea typeface="メイリオ" panose="020B0604030504040204" pitchFamily="50" charset="-128"/>
            </a:endParaRPr>
          </a:p>
        </p:txBody>
      </p:sp>
      <p:sp>
        <p:nvSpPr>
          <p:cNvPr id="250" name="Text 53">
            <a:extLst>
              <a:ext uri="{FF2B5EF4-FFF2-40B4-BE49-F238E27FC236}">
                <a16:creationId xmlns:a16="http://schemas.microsoft.com/office/drawing/2014/main" id="{9EC056C0-654F-C52F-62E6-8D47A6551C13}"/>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2" name="Shape 54">
            <a:extLst>
              <a:ext uri="{FF2B5EF4-FFF2-40B4-BE49-F238E27FC236}">
                <a16:creationId xmlns:a16="http://schemas.microsoft.com/office/drawing/2014/main" id="{834935BC-F5E7-BAED-6E85-E07CBFE19550}"/>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4" name="Shape 55">
            <a:extLst>
              <a:ext uri="{FF2B5EF4-FFF2-40B4-BE49-F238E27FC236}">
                <a16:creationId xmlns:a16="http://schemas.microsoft.com/office/drawing/2014/main" id="{6327123E-240D-2DFD-89A6-C68864B84618}"/>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6" name="Text 56">
            <a:extLst>
              <a:ext uri="{FF2B5EF4-FFF2-40B4-BE49-F238E27FC236}">
                <a16:creationId xmlns:a16="http://schemas.microsoft.com/office/drawing/2014/main" id="{0395E968-804F-D503-B217-5E6877EED965}"/>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8" name="Text 57">
            <a:extLst>
              <a:ext uri="{FF2B5EF4-FFF2-40B4-BE49-F238E27FC236}">
                <a16:creationId xmlns:a16="http://schemas.microsoft.com/office/drawing/2014/main" id="{1F68B74A-B629-3DFC-2CEE-48823841BEF3}"/>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KW自動応答→CV</a:t>
            </a:r>
            <a:endParaRPr lang="en-US" altLang="ja-JP" sz="850" dirty="0">
              <a:latin typeface="メイリオ" panose="020B0604030504040204" pitchFamily="50" charset="-128"/>
              <a:ea typeface="メイリオ" panose="020B0604030504040204" pitchFamily="50" charset="-128"/>
            </a:endParaRPr>
          </a:p>
        </p:txBody>
      </p:sp>
      <p:sp>
        <p:nvSpPr>
          <p:cNvPr id="260" name="Text 58">
            <a:extLst>
              <a:ext uri="{FF2B5EF4-FFF2-40B4-BE49-F238E27FC236}">
                <a16:creationId xmlns:a16="http://schemas.microsoft.com/office/drawing/2014/main" id="{31AA167F-1838-719F-81AA-E6D277EA6DCC}"/>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段階式自動応答で</a:t>
            </a: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CV</a:t>
            </a: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まで</a:t>
            </a:r>
            <a:endParaRPr lang="en-US" altLang="ja-JP" sz="750" dirty="0">
              <a:latin typeface="メイリオ" panose="020B0604030504040204" pitchFamily="50" charset="-128"/>
              <a:ea typeface="メイリオ" panose="020B0604030504040204" pitchFamily="50" charset="-128"/>
            </a:endParaRPr>
          </a:p>
        </p:txBody>
      </p:sp>
      <p:sp>
        <p:nvSpPr>
          <p:cNvPr id="262" name="Shape 59">
            <a:extLst>
              <a:ext uri="{FF2B5EF4-FFF2-40B4-BE49-F238E27FC236}">
                <a16:creationId xmlns:a16="http://schemas.microsoft.com/office/drawing/2014/main" id="{158EC588-B65C-48B3-4271-EDA2EA270201}"/>
              </a:ext>
            </a:extLst>
          </p:cNvPr>
          <p:cNvSpPr/>
          <p:nvPr/>
        </p:nvSpPr>
        <p:spPr>
          <a:xfrm>
            <a:off x="265419" y="4842285"/>
            <a:ext cx="4541216" cy="1600804"/>
          </a:xfrm>
          <a:prstGeom prst="roundRect">
            <a:avLst>
              <a:gd name="adj" fmla="val 5263"/>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4" name="Shape 63">
            <a:extLst>
              <a:ext uri="{FF2B5EF4-FFF2-40B4-BE49-F238E27FC236}">
                <a16:creationId xmlns:a16="http://schemas.microsoft.com/office/drawing/2014/main" id="{1DCC50EF-FB92-09C8-A8AA-7A7EDB9B0146}"/>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6" name="Text 64">
            <a:extLst>
              <a:ext uri="{FF2B5EF4-FFF2-40B4-BE49-F238E27FC236}">
                <a16:creationId xmlns:a16="http://schemas.microsoft.com/office/drawing/2014/main" id="{446B3B6C-4902-BBA2-7F54-3C24433597F1}"/>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日程自動化</a:t>
            </a:r>
          </a:p>
        </p:txBody>
      </p:sp>
      <p:sp>
        <p:nvSpPr>
          <p:cNvPr id="268" name="Text 65">
            <a:extLst>
              <a:ext uri="{FF2B5EF4-FFF2-40B4-BE49-F238E27FC236}">
                <a16:creationId xmlns:a16="http://schemas.microsoft.com/office/drawing/2014/main" id="{43250F18-B2EB-58ED-89E5-9D277C0A5794}"/>
              </a:ext>
            </a:extLst>
          </p:cNvPr>
          <p:cNvSpPr/>
          <p:nvPr/>
        </p:nvSpPr>
        <p:spPr>
          <a:xfrm>
            <a:off x="1545579" y="4924581"/>
            <a:ext cx="3319066" cy="256032"/>
          </a:xfrm>
          <a:prstGeom prst="rect">
            <a:avLst/>
          </a:prstGeom>
          <a:noFill/>
          <a:ln/>
        </p:spPr>
        <p:txBody>
          <a:bodyPr wrap="square" lIns="0" tIns="0" rIns="0" bIns="0" rtlCol="0" anchor="ctr"/>
          <a:lstStyle/>
          <a:p>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日程調整自動化で、検討前に商談確定</a:t>
            </a:r>
          </a:p>
        </p:txBody>
      </p:sp>
      <p:sp>
        <p:nvSpPr>
          <p:cNvPr id="270" name="Text 66">
            <a:extLst>
              <a:ext uri="{FF2B5EF4-FFF2-40B4-BE49-F238E27FC236}">
                <a16:creationId xmlns:a16="http://schemas.microsoft.com/office/drawing/2014/main" id="{251E5163-4BD4-2320-E1D0-DC825BC643E2}"/>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面談を希望します」と入力した瞬間にカレンダー連携で候補日程を自動提示→タップで選択→確定通知＋リマインドを自動送付。「後で連絡します」のやり取りで冷めるのを防ぎ、温度感が高いまま商談へ。</a:t>
            </a:r>
          </a:p>
        </p:txBody>
      </p:sp>
      <p:sp>
        <p:nvSpPr>
          <p:cNvPr id="272" name="Shape 68">
            <a:extLst>
              <a:ext uri="{FF2B5EF4-FFF2-40B4-BE49-F238E27FC236}">
                <a16:creationId xmlns:a16="http://schemas.microsoft.com/office/drawing/2014/main" id="{971EF85D-2530-7E85-695D-21576E3399C6}"/>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4" name="Text 69">
            <a:extLst>
              <a:ext uri="{FF2B5EF4-FFF2-40B4-BE49-F238E27FC236}">
                <a16:creationId xmlns:a16="http://schemas.microsoft.com/office/drawing/2014/main" id="{C61543A0-6CA4-B8A9-BABF-E3F296767C9F}"/>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6" name="Shape 71">
            <a:extLst>
              <a:ext uri="{FF2B5EF4-FFF2-40B4-BE49-F238E27FC236}">
                <a16:creationId xmlns:a16="http://schemas.microsoft.com/office/drawing/2014/main" id="{711A428D-8DE9-E0B6-1327-82CC5DEC5364}"/>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8" name="Shape 72">
            <a:extLst>
              <a:ext uri="{FF2B5EF4-FFF2-40B4-BE49-F238E27FC236}">
                <a16:creationId xmlns:a16="http://schemas.microsoft.com/office/drawing/2014/main" id="{A6F2A656-9918-5CCF-081B-90932FB7B31A}"/>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0" name="Text 73">
            <a:extLst>
              <a:ext uri="{FF2B5EF4-FFF2-40B4-BE49-F238E27FC236}">
                <a16:creationId xmlns:a16="http://schemas.microsoft.com/office/drawing/2014/main" id="{939DCB1A-68BA-D577-ECE4-D4DFF019EA70}"/>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2" name="Text 74">
            <a:extLst>
              <a:ext uri="{FF2B5EF4-FFF2-40B4-BE49-F238E27FC236}">
                <a16:creationId xmlns:a16="http://schemas.microsoft.com/office/drawing/2014/main" id="{85D30E2A-FEB3-5FD0-BE47-D36B7C7ADC4B}"/>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面談希望」入力</a:t>
            </a:r>
            <a:endParaRPr lang="en-US" altLang="ja-JP" sz="850" dirty="0">
              <a:latin typeface="メイリオ" panose="020B0604030504040204" pitchFamily="50" charset="-128"/>
              <a:ea typeface="メイリオ" panose="020B0604030504040204" pitchFamily="50" charset="-128"/>
            </a:endParaRPr>
          </a:p>
        </p:txBody>
      </p:sp>
      <p:sp>
        <p:nvSpPr>
          <p:cNvPr id="284" name="Text 75">
            <a:extLst>
              <a:ext uri="{FF2B5EF4-FFF2-40B4-BE49-F238E27FC236}">
                <a16:creationId xmlns:a16="http://schemas.microsoft.com/office/drawing/2014/main" id="{1D748291-A5CD-A534-775B-B4EBF567F665}"/>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即・日程提示</a:t>
            </a:r>
            <a:endParaRPr lang="en-US" altLang="ja-JP" sz="750" dirty="0">
              <a:latin typeface="メイリオ" panose="020B0604030504040204" pitchFamily="50" charset="-128"/>
              <a:ea typeface="メイリオ" panose="020B0604030504040204" pitchFamily="50" charset="-128"/>
            </a:endParaRPr>
          </a:p>
        </p:txBody>
      </p:sp>
      <p:sp>
        <p:nvSpPr>
          <p:cNvPr id="286" name="Text 76">
            <a:extLst>
              <a:ext uri="{FF2B5EF4-FFF2-40B4-BE49-F238E27FC236}">
                <a16:creationId xmlns:a16="http://schemas.microsoft.com/office/drawing/2014/main" id="{6D85AEBA-8759-4590-2BD5-991827894447}"/>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8" name="Shape 77">
            <a:extLst>
              <a:ext uri="{FF2B5EF4-FFF2-40B4-BE49-F238E27FC236}">
                <a16:creationId xmlns:a16="http://schemas.microsoft.com/office/drawing/2014/main" id="{32D27DAD-D2AF-DBAD-F818-E996C478DEC9}"/>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0" name="Shape 78">
            <a:extLst>
              <a:ext uri="{FF2B5EF4-FFF2-40B4-BE49-F238E27FC236}">
                <a16:creationId xmlns:a16="http://schemas.microsoft.com/office/drawing/2014/main" id="{638800F5-D582-38D9-A3E4-C35550FAF436}"/>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2" name="Text 79">
            <a:extLst>
              <a:ext uri="{FF2B5EF4-FFF2-40B4-BE49-F238E27FC236}">
                <a16:creationId xmlns:a16="http://schemas.microsoft.com/office/drawing/2014/main" id="{4FE98861-5470-BC0D-C54A-2F4F47BBE9EF}"/>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4" name="Text 80">
            <a:extLst>
              <a:ext uri="{FF2B5EF4-FFF2-40B4-BE49-F238E27FC236}">
                <a16:creationId xmlns:a16="http://schemas.microsoft.com/office/drawing/2014/main" id="{12FEA545-2A73-5AFD-1BD2-9F4325BD29F7}"/>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タップで日程確定</a:t>
            </a:r>
            <a:endParaRPr lang="en-US" altLang="ja-JP" sz="850" dirty="0">
              <a:latin typeface="メイリオ" panose="020B0604030504040204" pitchFamily="50" charset="-128"/>
              <a:ea typeface="メイリオ" panose="020B0604030504040204" pitchFamily="50" charset="-128"/>
            </a:endParaRPr>
          </a:p>
        </p:txBody>
      </p:sp>
      <p:sp>
        <p:nvSpPr>
          <p:cNvPr id="296" name="Text 81">
            <a:extLst>
              <a:ext uri="{FF2B5EF4-FFF2-40B4-BE49-F238E27FC236}">
                <a16:creationId xmlns:a16="http://schemas.microsoft.com/office/drawing/2014/main" id="{092A8A0A-B8FB-B1A7-1FCB-9EA219E6BFDE}"/>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メール往復ゼロ</a:t>
            </a:r>
            <a:endParaRPr lang="en-US" altLang="ja-JP" sz="750" dirty="0">
              <a:latin typeface="メイリオ" panose="020B0604030504040204" pitchFamily="50" charset="-128"/>
              <a:ea typeface="メイリオ" panose="020B0604030504040204" pitchFamily="50" charset="-128"/>
            </a:endParaRPr>
          </a:p>
        </p:txBody>
      </p:sp>
      <p:sp>
        <p:nvSpPr>
          <p:cNvPr id="298" name="Text 82">
            <a:extLst>
              <a:ext uri="{FF2B5EF4-FFF2-40B4-BE49-F238E27FC236}">
                <a16:creationId xmlns:a16="http://schemas.microsoft.com/office/drawing/2014/main" id="{A95A046B-C53A-FDCE-5111-F5834D0CA584}"/>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0" name="Shape 83">
            <a:extLst>
              <a:ext uri="{FF2B5EF4-FFF2-40B4-BE49-F238E27FC236}">
                <a16:creationId xmlns:a16="http://schemas.microsoft.com/office/drawing/2014/main" id="{19A246E9-D30A-1092-6D5A-555407259AB3}"/>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2" name="Shape 84">
            <a:extLst>
              <a:ext uri="{FF2B5EF4-FFF2-40B4-BE49-F238E27FC236}">
                <a16:creationId xmlns:a16="http://schemas.microsoft.com/office/drawing/2014/main" id="{9CFB5A33-6601-FA88-5E14-AD083E8A974F}"/>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4" name="Text 85">
            <a:extLst>
              <a:ext uri="{FF2B5EF4-FFF2-40B4-BE49-F238E27FC236}">
                <a16:creationId xmlns:a16="http://schemas.microsoft.com/office/drawing/2014/main" id="{115C0B2B-98C8-8B25-3BBF-1156626D6C87}"/>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6" name="Text 86">
            <a:extLst>
              <a:ext uri="{FF2B5EF4-FFF2-40B4-BE49-F238E27FC236}">
                <a16:creationId xmlns:a16="http://schemas.microsoft.com/office/drawing/2014/main" id="{A407CA47-3CF8-760D-6BA8-0DF95F970630}"/>
              </a:ext>
            </a:extLst>
          </p:cNvPr>
          <p:cNvSpPr/>
          <p:nvPr/>
        </p:nvSpPr>
        <p:spPr>
          <a:xfrm>
            <a:off x="3447530" y="5957091"/>
            <a:ext cx="1060705"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リマインド自動送付</a:t>
            </a:r>
            <a:endParaRPr lang="en-US" altLang="ja-JP" sz="850" dirty="0">
              <a:latin typeface="メイリオ" panose="020B0604030504040204" pitchFamily="50" charset="-128"/>
              <a:ea typeface="メイリオ" panose="020B0604030504040204" pitchFamily="50" charset="-128"/>
            </a:endParaRPr>
          </a:p>
        </p:txBody>
      </p:sp>
      <p:sp>
        <p:nvSpPr>
          <p:cNvPr id="308" name="Text 87">
            <a:extLst>
              <a:ext uri="{FF2B5EF4-FFF2-40B4-BE49-F238E27FC236}">
                <a16:creationId xmlns:a16="http://schemas.microsoft.com/office/drawing/2014/main" id="{4168941F-0BBB-6115-B5E7-6928BD42FC99}"/>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ドタキャン率低下</a:t>
            </a:r>
            <a:endParaRPr lang="en-US" altLang="ja-JP" sz="750" dirty="0">
              <a:latin typeface="メイリオ" panose="020B0604030504040204" pitchFamily="50" charset="-128"/>
              <a:ea typeface="メイリオ" panose="020B0604030504040204" pitchFamily="50" charset="-128"/>
            </a:endParaRPr>
          </a:p>
        </p:txBody>
      </p:sp>
      <p:sp>
        <p:nvSpPr>
          <p:cNvPr id="310" name="Shape 88">
            <a:extLst>
              <a:ext uri="{FF2B5EF4-FFF2-40B4-BE49-F238E27FC236}">
                <a16:creationId xmlns:a16="http://schemas.microsoft.com/office/drawing/2014/main" id="{25BA7DFC-080F-45BC-1CEB-0E2FA1036911}"/>
              </a:ext>
            </a:extLst>
          </p:cNvPr>
          <p:cNvSpPr/>
          <p:nvPr/>
        </p:nvSpPr>
        <p:spPr>
          <a:xfrm>
            <a:off x="5099366" y="2999769"/>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2" name="Shape 92">
            <a:extLst>
              <a:ext uri="{FF2B5EF4-FFF2-40B4-BE49-F238E27FC236}">
                <a16:creationId xmlns:a16="http://schemas.microsoft.com/office/drawing/2014/main" id="{05737E4A-7E87-3F90-A1F5-285284CA80FB}"/>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4" name="Text 93">
            <a:extLst>
              <a:ext uri="{FF2B5EF4-FFF2-40B4-BE49-F238E27FC236}">
                <a16:creationId xmlns:a16="http://schemas.microsoft.com/office/drawing/2014/main" id="{F29C5B70-F57E-D134-7E8F-7689219DE10A}"/>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体験談配信</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6" name="Text 94">
            <a:extLst>
              <a:ext uri="{FF2B5EF4-FFF2-40B4-BE49-F238E27FC236}">
                <a16:creationId xmlns:a16="http://schemas.microsoft.com/office/drawing/2014/main" id="{FCC6DF42-A77D-8CE5-0ECF-48B3E50916B0}"/>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利用イメージ</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コンテンツ</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で利用想起</a:t>
            </a:r>
            <a:endParaRPr lang="en-US" altLang="ja-JP" sz="1100" dirty="0">
              <a:latin typeface="メイリオ" panose="020B0604030504040204" pitchFamily="50" charset="-128"/>
              <a:ea typeface="メイリオ" panose="020B0604030504040204" pitchFamily="50" charset="-128"/>
            </a:endParaRPr>
          </a:p>
        </p:txBody>
      </p:sp>
      <p:sp>
        <p:nvSpPr>
          <p:cNvPr id="318" name="Text 95">
            <a:extLst>
              <a:ext uri="{FF2B5EF4-FFF2-40B4-BE49-F238E27FC236}">
                <a16:creationId xmlns:a16="http://schemas.microsoft.com/office/drawing/2014/main" id="{C1491931-3BA8-2594-BE3C-4EBDCD6864BF}"/>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ご契約を迷っているお客様に「入居して3ヶ月のお住まい」「OB施主の1日の暮らし」などリアルな体験談をLINEで定期配信。「建てた後どうなるか」の不安を、実際の施主事例で解消する。</a:t>
            </a:r>
            <a:endParaRPr lang="en-US" altLang="ja-JP" sz="850" dirty="0">
              <a:latin typeface="メイリオ" panose="020B0604030504040204" pitchFamily="50" charset="-128"/>
              <a:ea typeface="メイリオ" panose="020B0604030504040204" pitchFamily="50" charset="-128"/>
            </a:endParaRPr>
          </a:p>
        </p:txBody>
      </p:sp>
      <p:sp>
        <p:nvSpPr>
          <p:cNvPr id="320" name="Shape 96">
            <a:extLst>
              <a:ext uri="{FF2B5EF4-FFF2-40B4-BE49-F238E27FC236}">
                <a16:creationId xmlns:a16="http://schemas.microsoft.com/office/drawing/2014/main" id="{9114BF09-7036-90AC-D9C8-0C172510E7C2}"/>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2" name="Shape 97">
            <a:extLst>
              <a:ext uri="{FF2B5EF4-FFF2-40B4-BE49-F238E27FC236}">
                <a16:creationId xmlns:a16="http://schemas.microsoft.com/office/drawing/2014/main" id="{1382F6BB-3947-2399-C34B-C78B6937D2DA}"/>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4" name="Text 98">
            <a:extLst>
              <a:ext uri="{FF2B5EF4-FFF2-40B4-BE49-F238E27FC236}">
                <a16:creationId xmlns:a16="http://schemas.microsoft.com/office/drawing/2014/main" id="{7CAD0DE0-345C-F621-25D3-89CEBC9C59EB}"/>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26" name="Text 99">
            <a:extLst>
              <a:ext uri="{FF2B5EF4-FFF2-40B4-BE49-F238E27FC236}">
                <a16:creationId xmlns:a16="http://schemas.microsoft.com/office/drawing/2014/main" id="{488ED467-36DE-30E3-BF80-C9BE8B1CF783}"/>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体験談コンテンツ</a:t>
            </a:r>
            <a:endParaRPr lang="en-US" altLang="ja-JP" sz="850" dirty="0">
              <a:latin typeface="メイリオ" panose="020B0604030504040204" pitchFamily="50" charset="-128"/>
              <a:ea typeface="メイリオ" panose="020B0604030504040204" pitchFamily="50" charset="-128"/>
            </a:endParaRPr>
          </a:p>
        </p:txBody>
      </p:sp>
      <p:sp>
        <p:nvSpPr>
          <p:cNvPr id="328" name="Text 100">
            <a:extLst>
              <a:ext uri="{FF2B5EF4-FFF2-40B4-BE49-F238E27FC236}">
                <a16:creationId xmlns:a16="http://schemas.microsoft.com/office/drawing/2014/main" id="{49A04842-DDE9-37E6-1E8D-79BF82BE9FA9}"/>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写真・動画・レポート</a:t>
            </a:r>
            <a:endParaRPr lang="en-US" altLang="ja-JP" sz="750" dirty="0">
              <a:latin typeface="メイリオ" panose="020B0604030504040204" pitchFamily="50" charset="-128"/>
              <a:ea typeface="メイリオ" panose="020B0604030504040204" pitchFamily="50" charset="-128"/>
            </a:endParaRPr>
          </a:p>
        </p:txBody>
      </p:sp>
      <p:sp>
        <p:nvSpPr>
          <p:cNvPr id="330" name="Text 101">
            <a:extLst>
              <a:ext uri="{FF2B5EF4-FFF2-40B4-BE49-F238E27FC236}">
                <a16:creationId xmlns:a16="http://schemas.microsoft.com/office/drawing/2014/main" id="{5E2DEEEF-3ABB-D51C-CB78-AD0E64E26029}"/>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2" name="Shape 102">
            <a:extLst>
              <a:ext uri="{FF2B5EF4-FFF2-40B4-BE49-F238E27FC236}">
                <a16:creationId xmlns:a16="http://schemas.microsoft.com/office/drawing/2014/main" id="{583FCA0F-3FAB-2529-936B-557E5CDD8BFF}"/>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4" name="Shape 103">
            <a:extLst>
              <a:ext uri="{FF2B5EF4-FFF2-40B4-BE49-F238E27FC236}">
                <a16:creationId xmlns:a16="http://schemas.microsoft.com/office/drawing/2014/main" id="{46DA626B-859D-0A40-A6EC-EBD75A52A80D}"/>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6" name="Text 104">
            <a:extLst>
              <a:ext uri="{FF2B5EF4-FFF2-40B4-BE49-F238E27FC236}">
                <a16:creationId xmlns:a16="http://schemas.microsoft.com/office/drawing/2014/main" id="{751B80C7-91E9-70BD-A17B-7A4E723D4D8C}"/>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8" name="Text 105">
            <a:extLst>
              <a:ext uri="{FF2B5EF4-FFF2-40B4-BE49-F238E27FC236}">
                <a16:creationId xmlns:a16="http://schemas.microsoft.com/office/drawing/2014/main" id="{A7ABE51D-147A-4B8A-9A19-112FACBFFA1D}"/>
              </a:ext>
            </a:extLst>
          </p:cNvPr>
          <p:cNvSpPr/>
          <p:nvPr/>
        </p:nvSpPr>
        <p:spPr>
          <a:xfrm>
            <a:off x="6873303" y="4114575"/>
            <a:ext cx="914400" cy="182880"/>
          </a:xfrm>
          <a:prstGeom prst="rect">
            <a:avLst/>
          </a:prstGeom>
          <a:noFill/>
          <a:ln/>
        </p:spPr>
        <p:txBody>
          <a:bodyPr wrap="square" lIns="0" tIns="0" rIns="0" bIns="0" rtlCol="0" anchor="ctr"/>
          <a:lstStyle/>
          <a:p>
            <a:r>
              <a:rPr lang="ja-JP" altLang="en-US" sz="850" dirty="0">
                <a:latin typeface="メイリオ" panose="020B0604030504040204" pitchFamily="50" charset="-128"/>
                <a:ea typeface="メイリオ" panose="020B0604030504040204" pitchFamily="50" charset="-128"/>
              </a:rPr>
              <a:t>不安払しょく</a:t>
            </a:r>
            <a:endParaRPr lang="en-US" altLang="ja-JP" sz="850" dirty="0">
              <a:latin typeface="メイリオ" panose="020B0604030504040204" pitchFamily="50" charset="-128"/>
              <a:ea typeface="メイリオ" panose="020B0604030504040204" pitchFamily="50" charset="-128"/>
            </a:endParaRPr>
          </a:p>
        </p:txBody>
      </p:sp>
      <p:sp>
        <p:nvSpPr>
          <p:cNvPr id="340" name="Text 106">
            <a:extLst>
              <a:ext uri="{FF2B5EF4-FFF2-40B4-BE49-F238E27FC236}">
                <a16:creationId xmlns:a16="http://schemas.microsoft.com/office/drawing/2014/main" id="{318494AB-2707-1129-BA71-E24AAAEEA5FA}"/>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購入後イメージ醸成</a:t>
            </a:r>
            <a:endParaRPr lang="en-US" altLang="ja-JP" sz="750" dirty="0">
              <a:latin typeface="メイリオ" panose="020B0604030504040204" pitchFamily="50" charset="-128"/>
              <a:ea typeface="メイリオ" panose="020B0604030504040204" pitchFamily="50" charset="-128"/>
            </a:endParaRPr>
          </a:p>
        </p:txBody>
      </p:sp>
      <p:sp>
        <p:nvSpPr>
          <p:cNvPr id="342" name="Text 107">
            <a:extLst>
              <a:ext uri="{FF2B5EF4-FFF2-40B4-BE49-F238E27FC236}">
                <a16:creationId xmlns:a16="http://schemas.microsoft.com/office/drawing/2014/main" id="{D2A81EF1-BC58-1253-ECD2-53DF3B40891F}"/>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44" name="Shape 108">
            <a:extLst>
              <a:ext uri="{FF2B5EF4-FFF2-40B4-BE49-F238E27FC236}">
                <a16:creationId xmlns:a16="http://schemas.microsoft.com/office/drawing/2014/main" id="{0417CEED-7C17-F2CD-95E5-6BA2C686EE12}"/>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6" name="Shape 109">
            <a:extLst>
              <a:ext uri="{FF2B5EF4-FFF2-40B4-BE49-F238E27FC236}">
                <a16:creationId xmlns:a16="http://schemas.microsoft.com/office/drawing/2014/main" id="{BE5D8431-CA60-5904-8740-E1668BC7E91C}"/>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8" name="Text 110">
            <a:extLst>
              <a:ext uri="{FF2B5EF4-FFF2-40B4-BE49-F238E27FC236}">
                <a16:creationId xmlns:a16="http://schemas.microsoft.com/office/drawing/2014/main" id="{DE57ABB2-07C3-A007-67C2-E95C551B1B58}"/>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50" name="Text 111">
            <a:extLst>
              <a:ext uri="{FF2B5EF4-FFF2-40B4-BE49-F238E27FC236}">
                <a16:creationId xmlns:a16="http://schemas.microsoft.com/office/drawing/2014/main" id="{94D9AB7C-B1F7-BB2D-6801-2EC11474714E}"/>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申込前ユーザーCV</a:t>
            </a:r>
            <a:endParaRPr lang="en-US" altLang="ja-JP" sz="850" dirty="0">
              <a:latin typeface="メイリオ" panose="020B0604030504040204" pitchFamily="50" charset="-128"/>
              <a:ea typeface="メイリオ" panose="020B0604030504040204" pitchFamily="50" charset="-128"/>
            </a:endParaRPr>
          </a:p>
        </p:txBody>
      </p:sp>
      <p:sp>
        <p:nvSpPr>
          <p:cNvPr id="352" name="Text 112">
            <a:extLst>
              <a:ext uri="{FF2B5EF4-FFF2-40B4-BE49-F238E27FC236}">
                <a16:creationId xmlns:a16="http://schemas.microsoft.com/office/drawing/2014/main" id="{FD2DA1A7-F345-DFC3-8751-889A3BEA99AB}"/>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a:t>
            </a: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安心して申込めた</a:t>
            </a: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a:t>
            </a:r>
            <a:endParaRPr lang="en-US" altLang="ja-JP" sz="750" dirty="0">
              <a:latin typeface="メイリオ" panose="020B0604030504040204" pitchFamily="50" charset="-128"/>
              <a:ea typeface="メイリオ" panose="020B0604030504040204" pitchFamily="50" charset="-128"/>
            </a:endParaRPr>
          </a:p>
        </p:txBody>
      </p:sp>
      <p:sp>
        <p:nvSpPr>
          <p:cNvPr id="354" name="Shape 113">
            <a:extLst>
              <a:ext uri="{FF2B5EF4-FFF2-40B4-BE49-F238E27FC236}">
                <a16:creationId xmlns:a16="http://schemas.microsoft.com/office/drawing/2014/main" id="{A3968D0A-D5A3-B6DF-A4E1-5C8230BDD229}"/>
              </a:ext>
            </a:extLst>
          </p:cNvPr>
          <p:cNvSpPr/>
          <p:nvPr/>
        </p:nvSpPr>
        <p:spPr>
          <a:xfrm>
            <a:off x="5099366" y="4842285"/>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6" name="Shape 117">
            <a:extLst>
              <a:ext uri="{FF2B5EF4-FFF2-40B4-BE49-F238E27FC236}">
                <a16:creationId xmlns:a16="http://schemas.microsoft.com/office/drawing/2014/main" id="{D69FAC34-5229-FB00-C4A2-B94AD64E02AC}"/>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8" name="Text 118">
            <a:extLst>
              <a:ext uri="{FF2B5EF4-FFF2-40B4-BE49-F238E27FC236}">
                <a16:creationId xmlns:a16="http://schemas.microsoft.com/office/drawing/2014/main" id="{2DF5057F-5690-994B-B840-B9A70C3615E5}"/>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フロー案内</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0" name="Text 119">
            <a:extLst>
              <a:ext uri="{FF2B5EF4-FFF2-40B4-BE49-F238E27FC236}">
                <a16:creationId xmlns:a16="http://schemas.microsoft.com/office/drawing/2014/main" id="{C6CDBA0C-C4AB-DB49-4D97-5F4E1FADE225}"/>
              </a:ext>
            </a:extLst>
          </p:cNvPr>
          <p:cNvSpPr/>
          <p:nvPr/>
        </p:nvSpPr>
        <p:spPr>
          <a:xfrm>
            <a:off x="6379527"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フロー事前案内でキャンセル率を激減させる</a:t>
            </a:r>
            <a:endParaRPr lang="en-US" altLang="ja-JP" sz="1100" dirty="0">
              <a:latin typeface="メイリオ" panose="020B0604030504040204" pitchFamily="50" charset="-128"/>
              <a:ea typeface="メイリオ" panose="020B0604030504040204" pitchFamily="50" charset="-128"/>
            </a:endParaRPr>
          </a:p>
        </p:txBody>
      </p:sp>
      <p:sp>
        <p:nvSpPr>
          <p:cNvPr id="362" name="Text 120">
            <a:extLst>
              <a:ext uri="{FF2B5EF4-FFF2-40B4-BE49-F238E27FC236}">
                <a16:creationId xmlns:a16="http://schemas.microsoft.com/office/drawing/2014/main" id="{BD5402DC-C1D0-29CE-40A9-BA86E6FF6BAD}"/>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申込完了後すぐにLINEで「当日の流れをお伝えします」を送付。所要時間・準備するもの・スタッフの到着時間・終了後の対応まで全て事前案内する。不安が解消されると「楽しみに待てる」状態になりキャンセル・ドタキャンが激減。</a:t>
            </a:r>
            <a:endParaRPr lang="en-US" altLang="ja-JP" sz="850" dirty="0">
              <a:latin typeface="メイリオ" panose="020B0604030504040204" pitchFamily="50" charset="-128"/>
              <a:ea typeface="メイリオ" panose="020B0604030504040204" pitchFamily="50" charset="-128"/>
            </a:endParaRPr>
          </a:p>
        </p:txBody>
      </p:sp>
      <p:sp>
        <p:nvSpPr>
          <p:cNvPr id="364" name="Shape 121">
            <a:extLst>
              <a:ext uri="{FF2B5EF4-FFF2-40B4-BE49-F238E27FC236}">
                <a16:creationId xmlns:a16="http://schemas.microsoft.com/office/drawing/2014/main" id="{EC4E379D-5E50-776A-B55F-BD46A9652992}"/>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6" name="Shape 122">
            <a:extLst>
              <a:ext uri="{FF2B5EF4-FFF2-40B4-BE49-F238E27FC236}">
                <a16:creationId xmlns:a16="http://schemas.microsoft.com/office/drawing/2014/main" id="{46F28470-9DDC-A1C0-44ED-C1A38232636F}"/>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8" name="Text 123">
            <a:extLst>
              <a:ext uri="{FF2B5EF4-FFF2-40B4-BE49-F238E27FC236}">
                <a16:creationId xmlns:a16="http://schemas.microsoft.com/office/drawing/2014/main" id="{6E320849-A3F7-A150-79AA-9261937FECF2}"/>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0" name="Text 124">
            <a:extLst>
              <a:ext uri="{FF2B5EF4-FFF2-40B4-BE49-F238E27FC236}">
                <a16:creationId xmlns:a16="http://schemas.microsoft.com/office/drawing/2014/main" id="{16CF1DC5-D3CD-E50F-B7D5-B1647AD84264}"/>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申込完了直後</a:t>
            </a:r>
            <a:endParaRPr lang="en-US" altLang="ja-JP" sz="850" dirty="0">
              <a:latin typeface="メイリオ" panose="020B0604030504040204" pitchFamily="50" charset="-128"/>
              <a:ea typeface="メイリオ" panose="020B0604030504040204" pitchFamily="50" charset="-128"/>
            </a:endParaRPr>
          </a:p>
        </p:txBody>
      </p:sp>
      <p:sp>
        <p:nvSpPr>
          <p:cNvPr id="372" name="Text 125">
            <a:extLst>
              <a:ext uri="{FF2B5EF4-FFF2-40B4-BE49-F238E27FC236}">
                <a16:creationId xmlns:a16="http://schemas.microsoft.com/office/drawing/2014/main" id="{13B785A9-AE07-65EA-5E5C-8F6B908562CF}"/>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当日フロー自動送付</a:t>
            </a:r>
            <a:endParaRPr lang="en-US" altLang="ja-JP" sz="750" dirty="0">
              <a:latin typeface="メイリオ" panose="020B0604030504040204" pitchFamily="50" charset="-128"/>
              <a:ea typeface="メイリオ" panose="020B0604030504040204" pitchFamily="50" charset="-128"/>
            </a:endParaRPr>
          </a:p>
        </p:txBody>
      </p:sp>
      <p:sp>
        <p:nvSpPr>
          <p:cNvPr id="374" name="Text 126">
            <a:extLst>
              <a:ext uri="{FF2B5EF4-FFF2-40B4-BE49-F238E27FC236}">
                <a16:creationId xmlns:a16="http://schemas.microsoft.com/office/drawing/2014/main" id="{396E4066-71DA-8649-8C5F-BDFFC56B7F3A}"/>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6" name="Shape 127">
            <a:extLst>
              <a:ext uri="{FF2B5EF4-FFF2-40B4-BE49-F238E27FC236}">
                <a16:creationId xmlns:a16="http://schemas.microsoft.com/office/drawing/2014/main" id="{9B006DA7-6196-F8F6-970F-DC9C2663876A}"/>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8" name="Shape 128">
            <a:extLst>
              <a:ext uri="{FF2B5EF4-FFF2-40B4-BE49-F238E27FC236}">
                <a16:creationId xmlns:a16="http://schemas.microsoft.com/office/drawing/2014/main" id="{6F508C7C-1181-D6F1-04E3-871D86B1A7F3}"/>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0" name="Text 129">
            <a:extLst>
              <a:ext uri="{FF2B5EF4-FFF2-40B4-BE49-F238E27FC236}">
                <a16:creationId xmlns:a16="http://schemas.microsoft.com/office/drawing/2014/main" id="{50E830AA-3612-B666-F090-99534DF142A9}"/>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2" name="Text 130">
            <a:extLst>
              <a:ext uri="{FF2B5EF4-FFF2-40B4-BE49-F238E27FC236}">
                <a16:creationId xmlns:a16="http://schemas.microsoft.com/office/drawing/2014/main" id="{CAB1B380-D7B7-197D-641E-1FDD0F2113B6}"/>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不安ゼロで待機</a:t>
            </a:r>
            <a:endParaRPr lang="en-US" altLang="ja-JP" sz="850" dirty="0">
              <a:latin typeface="メイリオ" panose="020B0604030504040204" pitchFamily="50" charset="-128"/>
              <a:ea typeface="メイリオ" panose="020B0604030504040204" pitchFamily="50" charset="-128"/>
            </a:endParaRPr>
          </a:p>
        </p:txBody>
      </p:sp>
      <p:sp>
        <p:nvSpPr>
          <p:cNvPr id="384" name="Text 131">
            <a:extLst>
              <a:ext uri="{FF2B5EF4-FFF2-40B4-BE49-F238E27FC236}">
                <a16:creationId xmlns:a16="http://schemas.microsoft.com/office/drawing/2014/main" id="{0ED63B1C-3E6C-4055-2FDE-C901EA2E281E}"/>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アフターフォロー期待</a:t>
            </a:r>
            <a:endParaRPr lang="en-US" altLang="ja-JP" sz="750" dirty="0">
              <a:latin typeface="メイリオ" panose="020B0604030504040204" pitchFamily="50" charset="-128"/>
              <a:ea typeface="メイリオ" panose="020B0604030504040204" pitchFamily="50" charset="-128"/>
            </a:endParaRPr>
          </a:p>
        </p:txBody>
      </p:sp>
      <p:sp>
        <p:nvSpPr>
          <p:cNvPr id="386" name="Text 132">
            <a:extLst>
              <a:ext uri="{FF2B5EF4-FFF2-40B4-BE49-F238E27FC236}">
                <a16:creationId xmlns:a16="http://schemas.microsoft.com/office/drawing/2014/main" id="{A7504597-DAE8-7BD5-E427-59FE3F3330B0}"/>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8" name="Shape 133">
            <a:extLst>
              <a:ext uri="{FF2B5EF4-FFF2-40B4-BE49-F238E27FC236}">
                <a16:creationId xmlns:a16="http://schemas.microsoft.com/office/drawing/2014/main" id="{57656A25-7392-A4F8-42FF-0AAD35DAB96A}"/>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0" name="Shape 134">
            <a:extLst>
              <a:ext uri="{FF2B5EF4-FFF2-40B4-BE49-F238E27FC236}">
                <a16:creationId xmlns:a16="http://schemas.microsoft.com/office/drawing/2014/main" id="{A01509C7-F9AC-D612-CC39-58640601C006}"/>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2" name="Text 135">
            <a:extLst>
              <a:ext uri="{FF2B5EF4-FFF2-40B4-BE49-F238E27FC236}">
                <a16:creationId xmlns:a16="http://schemas.microsoft.com/office/drawing/2014/main" id="{4BF6839F-2873-F373-446B-2181CDBE0B5C}"/>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4" name="Text 136">
            <a:extLst>
              <a:ext uri="{FF2B5EF4-FFF2-40B4-BE49-F238E27FC236}">
                <a16:creationId xmlns:a16="http://schemas.microsoft.com/office/drawing/2014/main" id="{0E9F188B-90C4-31AB-2701-03D1FF2CC694}"/>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満足度向上</a:t>
            </a:r>
            <a:endParaRPr lang="en-US" altLang="ja-JP" sz="850" dirty="0">
              <a:latin typeface="メイリオ" panose="020B0604030504040204" pitchFamily="50" charset="-128"/>
              <a:ea typeface="メイリオ" panose="020B0604030504040204" pitchFamily="50" charset="-128"/>
            </a:endParaRPr>
          </a:p>
        </p:txBody>
      </p:sp>
      <p:sp>
        <p:nvSpPr>
          <p:cNvPr id="396" name="Text 137">
            <a:extLst>
              <a:ext uri="{FF2B5EF4-FFF2-40B4-BE49-F238E27FC236}">
                <a16:creationId xmlns:a16="http://schemas.microsoft.com/office/drawing/2014/main" id="{C8404977-9DAC-F0B8-336A-CAD39A2D9574}"/>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紹介・口コミ促進</a:t>
            </a:r>
            <a:endParaRPr lang="en-US" altLang="ja-JP" sz="750" dirty="0">
              <a:latin typeface="メイリオ" panose="020B0604030504040204" pitchFamily="50" charset="-128"/>
              <a:ea typeface="メイリオ" panose="020B0604030504040204" pitchFamily="50" charset="-128"/>
            </a:endParaRPr>
          </a:p>
        </p:txBody>
      </p:sp>
      <p:sp>
        <p:nvSpPr>
          <p:cNvPr id="398" name="Shape 36">
            <a:extLst>
              <a:ext uri="{FF2B5EF4-FFF2-40B4-BE49-F238E27FC236}">
                <a16:creationId xmlns:a16="http://schemas.microsoft.com/office/drawing/2014/main" id="{E1A706A9-2858-6B94-F554-D7AF99876505}"/>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0" name="Shape 36">
            <a:extLst>
              <a:ext uri="{FF2B5EF4-FFF2-40B4-BE49-F238E27FC236}">
                <a16:creationId xmlns:a16="http://schemas.microsoft.com/office/drawing/2014/main" id="{4310345B-A0A0-5528-0149-1158E742747C}"/>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2" name="Shape 36">
            <a:extLst>
              <a:ext uri="{FF2B5EF4-FFF2-40B4-BE49-F238E27FC236}">
                <a16:creationId xmlns:a16="http://schemas.microsoft.com/office/drawing/2014/main" id="{1F298478-02C0-26AD-DD18-2A5F883779BB}"/>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7743960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E2D0F-DE07-83AE-E053-ED6184F31BC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D1EA046-6B24-6F8B-072F-C58606586D2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改善モデル④</a:t>
            </a:r>
          </a:p>
        </p:txBody>
      </p:sp>
      <p:sp>
        <p:nvSpPr>
          <p:cNvPr id="9" name="正方形/長方形 8">
            <a:extLst>
              <a:ext uri="{FF2B5EF4-FFF2-40B4-BE49-F238E27FC236}">
                <a16:creationId xmlns:a16="http://schemas.microsoft.com/office/drawing/2014/main" id="{4CC6B560-F63A-0124-FC5F-88DB86F5E043}"/>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5D31B060-8732-8226-E996-E5CD8768DC86}"/>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ご紹介率・追加工事率・1棟あたり粗利を改善し、LTVを最大化する。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1" name="テキスト ボックス 20">
            <a:extLst>
              <a:ext uri="{FF2B5EF4-FFF2-40B4-BE49-F238E27FC236}">
                <a16:creationId xmlns:a16="http://schemas.microsoft.com/office/drawing/2014/main" id="{A963DBCC-3129-4694-2516-D42EB1CB36A7}"/>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22" name="テキスト ボックス 21">
            <a:extLst>
              <a:ext uri="{FF2B5EF4-FFF2-40B4-BE49-F238E27FC236}">
                <a16:creationId xmlns:a16="http://schemas.microsoft.com/office/drawing/2014/main" id="{640F53FA-21E2-6B03-27CB-8DE09650F7F7}"/>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24" name="テキスト ボックス 23">
            <a:extLst>
              <a:ext uri="{FF2B5EF4-FFF2-40B4-BE49-F238E27FC236}">
                <a16:creationId xmlns:a16="http://schemas.microsoft.com/office/drawing/2014/main" id="{CD6F3969-7970-ED78-97A1-E18A646DC413}"/>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27" name="テキスト ボックス 26">
            <a:extLst>
              <a:ext uri="{FF2B5EF4-FFF2-40B4-BE49-F238E27FC236}">
                <a16:creationId xmlns:a16="http://schemas.microsoft.com/office/drawing/2014/main" id="{DE48F05F-518B-8B69-CAE4-9FC447A9510C}"/>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D5D38C1D-8C53-09C4-237B-4FFBFD65D619}"/>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13FD3000-99FD-4540-2B87-0D726E46FCA6}"/>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27A03507-5C3E-DF3F-18DA-D429C2C2869A}"/>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3A508995-2791-7443-0604-9D0C327CA4C2}"/>
              </a:ext>
            </a:extLst>
          </p:cNvPr>
          <p:cNvCxnSpPr>
            <a:cxnSpLocks/>
            <a:stCxn id="30" idx="0"/>
            <a:endCxn id="21" idx="2"/>
          </p:cNvCxnSpPr>
          <p:nvPr/>
        </p:nvCxnSpPr>
        <p:spPr>
          <a:xfrm rot="5400000" flipH="1" flipV="1">
            <a:off x="4282287" y="178957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 name="正方形/長方形 4">
            <a:extLst>
              <a:ext uri="{FF2B5EF4-FFF2-40B4-BE49-F238E27FC236}">
                <a16:creationId xmlns:a16="http://schemas.microsoft.com/office/drawing/2014/main" id="{83A147CB-7405-2DCF-1F21-0B8337012B05}"/>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F635E64C-0D36-F30F-0A02-3BAB66350C25}"/>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6E52B63D-D41D-D127-AC66-256E2241FC5B}"/>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0" name="テキスト ボックス 9">
            <a:extLst>
              <a:ext uri="{FF2B5EF4-FFF2-40B4-BE49-F238E27FC236}">
                <a16:creationId xmlns:a16="http://schemas.microsoft.com/office/drawing/2014/main" id="{94C6D99A-720E-C67C-F0D7-BCC4F523B05A}"/>
              </a:ext>
            </a:extLst>
          </p:cNvPr>
          <p:cNvSpPr txBox="1"/>
          <p:nvPr/>
        </p:nvSpPr>
        <p:spPr>
          <a:xfrm>
            <a:off x="7408050" y="2033054"/>
            <a:ext cx="2352196" cy="400110"/>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a:t>
            </a:r>
            <a:r>
              <a:rPr lang="en-US" altLang="ja-JP" sz="1100" b="1" dirty="0">
                <a:solidFill>
                  <a:schemeClr val="bg1"/>
                </a:solidFill>
                <a:latin typeface="メイリオ" panose="020B0604030504040204" pitchFamily="50" charset="-128"/>
                <a:ea typeface="メイリオ" panose="020B0604030504040204" pitchFamily="50" charset="-128"/>
              </a:rPr>
              <a:t>LTV</a:t>
            </a:r>
            <a:r>
              <a:rPr lang="ja-JP" altLang="en-US" sz="1100" b="1" dirty="0">
                <a:solidFill>
                  <a:schemeClr val="bg1"/>
                </a:solidFill>
                <a:latin typeface="メイリオ" panose="020B0604030504040204" pitchFamily="50" charset="-128"/>
                <a:ea typeface="メイリオ" panose="020B0604030504040204" pitchFamily="50" charset="-128"/>
              </a:rPr>
              <a:t>最大化・紹介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endParaRPr lang="ja-JP" altLang="ja-JP" sz="900" b="1" dirty="0">
              <a:solidFill>
                <a:schemeClr val="bg1"/>
              </a:solidFill>
              <a:latin typeface="メイリオ" panose="020B0604030504040204" pitchFamily="50" charset="-128"/>
              <a:ea typeface="メイリオ" panose="020B0604030504040204" pitchFamily="50" charset="-128"/>
            </a:endParaRPr>
          </a:p>
        </p:txBody>
      </p:sp>
      <p:sp>
        <p:nvSpPr>
          <p:cNvPr id="212" name="正方形/長方形 211">
            <a:extLst>
              <a:ext uri="{FF2B5EF4-FFF2-40B4-BE49-F238E27FC236}">
                <a16:creationId xmlns:a16="http://schemas.microsoft.com/office/drawing/2014/main" id="{EBFE876B-88B7-8368-241B-4213AC327DEF}"/>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latin typeface="メイリオ" panose="020B0604030504040204" pitchFamily="50" charset="-128"/>
                <a:ea typeface="メイリオ" panose="020B0604030504040204" pitchFamily="50" charset="-128"/>
              </a:rPr>
              <a:t>属性把握により最適なタイミング・サービスラインを提示</a:t>
            </a:r>
          </a:p>
        </p:txBody>
      </p:sp>
      <p:sp>
        <p:nvSpPr>
          <p:cNvPr id="214" name="正方形/長方形 213">
            <a:extLst>
              <a:ext uri="{FF2B5EF4-FFF2-40B4-BE49-F238E27FC236}">
                <a16:creationId xmlns:a16="http://schemas.microsoft.com/office/drawing/2014/main" id="{BC37FCD9-3298-5435-6B9C-3FDC96F4BED5}"/>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成約後のイメージ・アフターフォローを見える化する</a:t>
            </a:r>
            <a:endParaRPr lang="en-US" altLang="ja-JP" sz="1050" dirty="0">
              <a:latin typeface="メイリオ" panose="020B0604030504040204" pitchFamily="50" charset="-128"/>
              <a:ea typeface="メイリオ" panose="020B0604030504040204" pitchFamily="50" charset="-128"/>
            </a:endParaRPr>
          </a:p>
        </p:txBody>
      </p:sp>
      <p:sp>
        <p:nvSpPr>
          <p:cNvPr id="216" name="Shape 34">
            <a:extLst>
              <a:ext uri="{FF2B5EF4-FFF2-40B4-BE49-F238E27FC236}">
                <a16:creationId xmlns:a16="http://schemas.microsoft.com/office/drawing/2014/main" id="{031543C4-0BBC-6209-20D0-2EFA2FCEF86D}"/>
              </a:ext>
            </a:extLst>
          </p:cNvPr>
          <p:cNvSpPr/>
          <p:nvPr/>
        </p:nvSpPr>
        <p:spPr>
          <a:xfrm>
            <a:off x="265419" y="2999768"/>
            <a:ext cx="4541216" cy="1600805"/>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8" name="Shape 36">
            <a:extLst>
              <a:ext uri="{FF2B5EF4-FFF2-40B4-BE49-F238E27FC236}">
                <a16:creationId xmlns:a16="http://schemas.microsoft.com/office/drawing/2014/main" id="{101BD496-9F8B-4FB2-A6BB-61070F561E0B}"/>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20" name="Shape 38">
            <a:extLst>
              <a:ext uri="{FF2B5EF4-FFF2-40B4-BE49-F238E27FC236}">
                <a16:creationId xmlns:a16="http://schemas.microsoft.com/office/drawing/2014/main" id="{C11A3E69-9E4D-9846-409E-E9A711BD995E}"/>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22" name="Text 39">
            <a:extLst>
              <a:ext uri="{FF2B5EF4-FFF2-40B4-BE49-F238E27FC236}">
                <a16:creationId xmlns:a16="http://schemas.microsoft.com/office/drawing/2014/main" id="{9A2D9F28-CC07-BFBF-1F09-849BDDAE374B}"/>
              </a:ext>
            </a:extLst>
          </p:cNvPr>
          <p:cNvSpPr/>
          <p:nvPr/>
        </p:nvSpPr>
        <p:spPr>
          <a:xfrm>
            <a:off x="686043" y="3109497"/>
            <a:ext cx="804672" cy="201168"/>
          </a:xfrm>
          <a:prstGeom prst="rect">
            <a:avLst/>
          </a:prstGeom>
          <a:noFill/>
          <a:ln/>
        </p:spPr>
        <p:txBody>
          <a:bodyPr wrap="square" lIns="0" tIns="0" rIns="0" bIns="0" rtlCol="0" anchor="ctr"/>
          <a:lstStyle/>
          <a:p>
            <a:pPr algn="ctr"/>
            <a:r>
              <a:rPr lang="en-US" altLang="ja-JP" sz="750" b="1" dirty="0" err="1">
                <a:solidFill>
                  <a:schemeClr val="accent1"/>
                </a:solidFill>
                <a:latin typeface="メイリオ" panose="020B0604030504040204" pitchFamily="50" charset="-128"/>
                <a:ea typeface="メイリオ" panose="020B0604030504040204" pitchFamily="50" charset="-128"/>
                <a:cs typeface="Calibri" pitchFamily="34" charset="-120"/>
              </a:rPr>
              <a:t>外構・メンテ提案配信</a:t>
            </a:r>
            <a:endParaRPr lang="en-US" altLang="ja-JP" sz="750" dirty="0">
              <a:solidFill>
                <a:schemeClr val="accent1"/>
              </a:solidFill>
              <a:latin typeface="メイリオ" panose="020B0604030504040204" pitchFamily="50" charset="-128"/>
              <a:ea typeface="メイリオ" panose="020B0604030504040204" pitchFamily="50" charset="-128"/>
            </a:endParaRPr>
          </a:p>
        </p:txBody>
      </p:sp>
      <p:sp>
        <p:nvSpPr>
          <p:cNvPr id="224" name="Text 40">
            <a:extLst>
              <a:ext uri="{FF2B5EF4-FFF2-40B4-BE49-F238E27FC236}">
                <a16:creationId xmlns:a16="http://schemas.microsoft.com/office/drawing/2014/main" id="{E07A6550-E043-DAC7-D1DE-2F58496625C9}"/>
              </a:ext>
            </a:extLst>
          </p:cNvPr>
          <p:cNvSpPr/>
          <p:nvPr/>
        </p:nvSpPr>
        <p:spPr>
          <a:xfrm>
            <a:off x="1545579"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経過年数タグ × 点検連動提案で追加工事を獲得</a:t>
            </a:r>
            <a:endParaRPr lang="en-US" altLang="ja-JP" sz="1100" dirty="0">
              <a:latin typeface="メイリオ" panose="020B0604030504040204" pitchFamily="50" charset="-128"/>
              <a:ea typeface="メイリオ" panose="020B0604030504040204" pitchFamily="50" charset="-128"/>
            </a:endParaRPr>
          </a:p>
        </p:txBody>
      </p:sp>
      <p:sp>
        <p:nvSpPr>
          <p:cNvPr id="226" name="Text 41">
            <a:extLst>
              <a:ext uri="{FF2B5EF4-FFF2-40B4-BE49-F238E27FC236}">
                <a16:creationId xmlns:a16="http://schemas.microsoft.com/office/drawing/2014/main" id="{8B380EA5-B628-C9F7-AB4A-470FADCA002E}"/>
              </a:ext>
            </a:extLst>
          </p:cNvPr>
          <p:cNvSpPr/>
          <p:nvPr/>
        </p:nvSpPr>
        <p:spPr>
          <a:xfrm>
            <a:off x="356859" y="3383817"/>
            <a:ext cx="4449774" cy="493776"/>
          </a:xfrm>
          <a:prstGeom prst="rect">
            <a:avLst/>
          </a:prstGeom>
          <a:noFill/>
          <a:ln/>
        </p:spPr>
        <p:txBody>
          <a:bodyPr wrap="square" lIns="0" tIns="0" rIns="0" bIns="0" rtlCol="0" anchor="ctr"/>
          <a:lstStyle/>
          <a:p>
            <a:pPr>
              <a:lnSpc>
                <a:spcPct val="135000"/>
              </a:lnSpc>
            </a:pP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入居後の経過年数タグを活用し、点検・メンテの時期に合わせて外構・リフォームを自動提案。「お引渡しから1年、そろそろ外構の追加をご検討の時期です」という具体提案がCVRを高める。満足度が高い入居後3ヶ月〜1年が最適タイミング。</a:t>
            </a:r>
          </a:p>
        </p:txBody>
      </p:sp>
      <p:sp>
        <p:nvSpPr>
          <p:cNvPr id="228" name="Shape 42">
            <a:extLst>
              <a:ext uri="{FF2B5EF4-FFF2-40B4-BE49-F238E27FC236}">
                <a16:creationId xmlns:a16="http://schemas.microsoft.com/office/drawing/2014/main" id="{9B4B4FC2-ABA9-EE54-2AE8-6D8B446B20FF}"/>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0" name="Shape 43">
            <a:extLst>
              <a:ext uri="{FF2B5EF4-FFF2-40B4-BE49-F238E27FC236}">
                <a16:creationId xmlns:a16="http://schemas.microsoft.com/office/drawing/2014/main" id="{B6DB6636-0D01-AC92-D361-5BB4DD706048}"/>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2" name="Text 44">
            <a:extLst>
              <a:ext uri="{FF2B5EF4-FFF2-40B4-BE49-F238E27FC236}">
                <a16:creationId xmlns:a16="http://schemas.microsoft.com/office/drawing/2014/main" id="{AA004DDF-312A-3679-2F4A-C0D702FDE201}"/>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34" name="Text 45">
            <a:extLst>
              <a:ext uri="{FF2B5EF4-FFF2-40B4-BE49-F238E27FC236}">
                <a16:creationId xmlns:a16="http://schemas.microsoft.com/office/drawing/2014/main" id="{8C971CE9-8DC5-3C5A-C74E-473D1EEF0A37}"/>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経過年数タグ付与</a:t>
            </a:r>
            <a:endParaRPr lang="en-US" altLang="ja-JP" sz="850" dirty="0">
              <a:latin typeface="メイリオ" panose="020B0604030504040204" pitchFamily="50" charset="-128"/>
              <a:ea typeface="メイリオ" panose="020B0604030504040204" pitchFamily="50" charset="-128"/>
            </a:endParaRPr>
          </a:p>
        </p:txBody>
      </p:sp>
      <p:sp>
        <p:nvSpPr>
          <p:cNvPr id="236" name="Text 46">
            <a:extLst>
              <a:ext uri="{FF2B5EF4-FFF2-40B4-BE49-F238E27FC236}">
                <a16:creationId xmlns:a16="http://schemas.microsoft.com/office/drawing/2014/main" id="{BDCB6CBA-6BE0-0029-00B8-F3E8C622531C}"/>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入居後年数で特定</a:t>
            </a:r>
            <a:endParaRPr lang="en-US" altLang="ja-JP" sz="750" dirty="0">
              <a:latin typeface="メイリオ" panose="020B0604030504040204" pitchFamily="50" charset="-128"/>
              <a:ea typeface="メイリオ" panose="020B0604030504040204" pitchFamily="50" charset="-128"/>
            </a:endParaRPr>
          </a:p>
        </p:txBody>
      </p:sp>
      <p:sp>
        <p:nvSpPr>
          <p:cNvPr id="238" name="Text 47">
            <a:extLst>
              <a:ext uri="{FF2B5EF4-FFF2-40B4-BE49-F238E27FC236}">
                <a16:creationId xmlns:a16="http://schemas.microsoft.com/office/drawing/2014/main" id="{1D84C63C-EF83-B3FE-DA12-C6FED620F69C}"/>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0" name="Shape 48">
            <a:extLst>
              <a:ext uri="{FF2B5EF4-FFF2-40B4-BE49-F238E27FC236}">
                <a16:creationId xmlns:a16="http://schemas.microsoft.com/office/drawing/2014/main" id="{0BE03B95-9AB7-E6ED-2E78-10CF317A8766}"/>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2" name="Shape 49">
            <a:extLst>
              <a:ext uri="{FF2B5EF4-FFF2-40B4-BE49-F238E27FC236}">
                <a16:creationId xmlns:a16="http://schemas.microsoft.com/office/drawing/2014/main" id="{1E6CCFE3-96DE-0131-BB9B-0F2313B82CFB}"/>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4" name="Text 50">
            <a:extLst>
              <a:ext uri="{FF2B5EF4-FFF2-40B4-BE49-F238E27FC236}">
                <a16:creationId xmlns:a16="http://schemas.microsoft.com/office/drawing/2014/main" id="{5E69FB79-6A36-8814-5961-E84046021AAC}"/>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6" name="Text 51">
            <a:extLst>
              <a:ext uri="{FF2B5EF4-FFF2-40B4-BE49-F238E27FC236}">
                <a16:creationId xmlns:a16="http://schemas.microsoft.com/office/drawing/2014/main" id="{4EBEE041-7A21-6197-B2AC-4D081A8E8AD0}"/>
              </a:ext>
            </a:extLst>
          </p:cNvPr>
          <p:cNvSpPr/>
          <p:nvPr/>
        </p:nvSpPr>
        <p:spPr>
          <a:xfrm>
            <a:off x="2039355" y="4114575"/>
            <a:ext cx="914400" cy="182880"/>
          </a:xfrm>
          <a:prstGeom prst="rect">
            <a:avLst/>
          </a:prstGeom>
          <a:noFill/>
          <a:ln/>
        </p:spPr>
        <p:txBody>
          <a:bodyPr wrap="square" lIns="0" tIns="0" rIns="0" bIns="0" rtlCol="0" anchor="ctr"/>
          <a:lstStyle/>
          <a:p>
            <a:r>
              <a:rPr lang="ja-JP" altLang="en-US" sz="850" b="1" dirty="0">
                <a:solidFill>
                  <a:srgbClr val="1A1A2E"/>
                </a:solidFill>
                <a:latin typeface="メイリオ" panose="020B0604030504040204" pitchFamily="50" charset="-128"/>
                <a:ea typeface="メイリオ" panose="020B0604030504040204" pitchFamily="50" charset="-128"/>
                <a:cs typeface="Calibri" pitchFamily="34" charset="-120"/>
              </a:rPr>
              <a:t>点検連動提案</a:t>
            </a:r>
            <a:endParaRPr lang="en-US" altLang="ja-JP" sz="850" dirty="0">
              <a:latin typeface="メイリオ" panose="020B0604030504040204" pitchFamily="50" charset="-128"/>
              <a:ea typeface="メイリオ" panose="020B0604030504040204" pitchFamily="50" charset="-128"/>
            </a:endParaRPr>
          </a:p>
        </p:txBody>
      </p:sp>
      <p:sp>
        <p:nvSpPr>
          <p:cNvPr id="248" name="Text 52">
            <a:extLst>
              <a:ext uri="{FF2B5EF4-FFF2-40B4-BE49-F238E27FC236}">
                <a16:creationId xmlns:a16="http://schemas.microsoft.com/office/drawing/2014/main" id="{07AD15D9-CD6F-2D3C-CC15-71235D18482D}"/>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具体的金額＋メリット</a:t>
            </a:r>
            <a:endParaRPr lang="en-US" altLang="ja-JP" sz="750" dirty="0">
              <a:latin typeface="メイリオ" panose="020B0604030504040204" pitchFamily="50" charset="-128"/>
              <a:ea typeface="メイリオ" panose="020B0604030504040204" pitchFamily="50" charset="-128"/>
            </a:endParaRPr>
          </a:p>
        </p:txBody>
      </p:sp>
      <p:sp>
        <p:nvSpPr>
          <p:cNvPr id="250" name="Text 53">
            <a:extLst>
              <a:ext uri="{FF2B5EF4-FFF2-40B4-BE49-F238E27FC236}">
                <a16:creationId xmlns:a16="http://schemas.microsoft.com/office/drawing/2014/main" id="{8ECA8D7C-C4A5-C970-D4A6-A16EF6F3350C}"/>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2" name="Shape 54">
            <a:extLst>
              <a:ext uri="{FF2B5EF4-FFF2-40B4-BE49-F238E27FC236}">
                <a16:creationId xmlns:a16="http://schemas.microsoft.com/office/drawing/2014/main" id="{B12A5926-50A5-13EB-6415-C90901191CBD}"/>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4" name="Shape 55">
            <a:extLst>
              <a:ext uri="{FF2B5EF4-FFF2-40B4-BE49-F238E27FC236}">
                <a16:creationId xmlns:a16="http://schemas.microsoft.com/office/drawing/2014/main" id="{2700C358-B913-5B66-30B3-A247A5CFA965}"/>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6" name="Text 56">
            <a:extLst>
              <a:ext uri="{FF2B5EF4-FFF2-40B4-BE49-F238E27FC236}">
                <a16:creationId xmlns:a16="http://schemas.microsoft.com/office/drawing/2014/main" id="{25DAB092-6EC6-4374-F29D-D2E43E4B9FEB}"/>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8" name="Text 57">
            <a:extLst>
              <a:ext uri="{FF2B5EF4-FFF2-40B4-BE49-F238E27FC236}">
                <a16:creationId xmlns:a16="http://schemas.microsoft.com/office/drawing/2014/main" id="{9DFA3811-543F-B130-C558-9F98D1BDCE28}"/>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外構・リフォームCV</a:t>
            </a:r>
            <a:endParaRPr lang="en-US" altLang="ja-JP" sz="850" dirty="0">
              <a:latin typeface="メイリオ" panose="020B0604030504040204" pitchFamily="50" charset="-128"/>
              <a:ea typeface="メイリオ" panose="020B0604030504040204" pitchFamily="50" charset="-128"/>
            </a:endParaRPr>
          </a:p>
        </p:txBody>
      </p:sp>
      <p:sp>
        <p:nvSpPr>
          <p:cNvPr id="260" name="Text 58">
            <a:extLst>
              <a:ext uri="{FF2B5EF4-FFF2-40B4-BE49-F238E27FC236}">
                <a16:creationId xmlns:a16="http://schemas.microsoft.com/office/drawing/2014/main" id="{7A46B590-0C64-FEE3-0E7C-7EA298F486A3}"/>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追加工事の受注</a:t>
            </a:r>
            <a:endParaRPr lang="en-US" altLang="ja-JP" sz="750" dirty="0">
              <a:latin typeface="メイリオ" panose="020B0604030504040204" pitchFamily="50" charset="-128"/>
              <a:ea typeface="メイリオ" panose="020B0604030504040204" pitchFamily="50" charset="-128"/>
            </a:endParaRPr>
          </a:p>
        </p:txBody>
      </p:sp>
      <p:sp>
        <p:nvSpPr>
          <p:cNvPr id="262" name="Shape 59">
            <a:extLst>
              <a:ext uri="{FF2B5EF4-FFF2-40B4-BE49-F238E27FC236}">
                <a16:creationId xmlns:a16="http://schemas.microsoft.com/office/drawing/2014/main" id="{17831C21-2DE0-1603-B120-3BAF591E685E}"/>
              </a:ext>
            </a:extLst>
          </p:cNvPr>
          <p:cNvSpPr/>
          <p:nvPr/>
        </p:nvSpPr>
        <p:spPr>
          <a:xfrm>
            <a:off x="265419" y="4842285"/>
            <a:ext cx="4541216" cy="1600804"/>
          </a:xfrm>
          <a:prstGeom prst="roundRect">
            <a:avLst>
              <a:gd name="adj" fmla="val 5263"/>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4" name="Shape 63">
            <a:extLst>
              <a:ext uri="{FF2B5EF4-FFF2-40B4-BE49-F238E27FC236}">
                <a16:creationId xmlns:a16="http://schemas.microsoft.com/office/drawing/2014/main" id="{E0489255-B5B1-35CB-C8E0-D92F3D34C15B}"/>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6" name="Text 64">
            <a:extLst>
              <a:ext uri="{FF2B5EF4-FFF2-40B4-BE49-F238E27FC236}">
                <a16:creationId xmlns:a16="http://schemas.microsoft.com/office/drawing/2014/main" id="{45D18941-826F-30A6-3AA3-251341CB9EB1}"/>
              </a:ext>
            </a:extLst>
          </p:cNvPr>
          <p:cNvSpPr/>
          <p:nvPr/>
        </p:nvSpPr>
        <p:spPr>
          <a:xfrm>
            <a:off x="686043" y="4952013"/>
            <a:ext cx="804672" cy="201168"/>
          </a:xfrm>
          <a:prstGeom prst="rect">
            <a:avLst/>
          </a:prstGeom>
          <a:noFill/>
          <a:ln/>
        </p:spPr>
        <p:txBody>
          <a:bodyPr wrap="square" lIns="0" tIns="0" rIns="0" bIns="0" rtlCol="0" anchor="ctr"/>
          <a:lstStyle/>
          <a:p>
            <a:pPr algn="ctr"/>
            <a:r>
              <a:rPr lang="en-US" altLang="ja-JP" sz="750" b="1" dirty="0" err="1">
                <a:solidFill>
                  <a:schemeClr val="accent1"/>
                </a:solidFill>
                <a:latin typeface="メイリオ" panose="020B0604030504040204" pitchFamily="50" charset="-128"/>
                <a:ea typeface="メイリオ" panose="020B0604030504040204" pitchFamily="50" charset="-128"/>
                <a:cs typeface="Calibri" pitchFamily="34" charset="-120"/>
              </a:rPr>
              <a:t>紹介キャンペーン</a:t>
            </a:r>
            <a:endParaRPr lang="en-US" altLang="ja-JP" sz="750" dirty="0">
              <a:solidFill>
                <a:schemeClr val="accent1"/>
              </a:solidFill>
              <a:latin typeface="メイリオ" panose="020B0604030504040204" pitchFamily="50" charset="-128"/>
              <a:ea typeface="メイリオ" panose="020B0604030504040204" pitchFamily="50" charset="-128"/>
            </a:endParaRPr>
          </a:p>
        </p:txBody>
      </p:sp>
      <p:sp>
        <p:nvSpPr>
          <p:cNvPr id="268" name="Text 65">
            <a:extLst>
              <a:ext uri="{FF2B5EF4-FFF2-40B4-BE49-F238E27FC236}">
                <a16:creationId xmlns:a16="http://schemas.microsoft.com/office/drawing/2014/main" id="{46A7ADAB-7FB3-0E5E-A98A-5FA74D2FF194}"/>
              </a:ext>
            </a:extLst>
          </p:cNvPr>
          <p:cNvSpPr/>
          <p:nvPr/>
        </p:nvSpPr>
        <p:spPr>
          <a:xfrm>
            <a:off x="1545579"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紹介キャンペーン</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の誘導</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設計でゼロコスト新規獲得</a:t>
            </a:r>
            <a:endParaRPr lang="en-US" altLang="ja-JP" sz="1100" dirty="0">
              <a:latin typeface="メイリオ" panose="020B0604030504040204" pitchFamily="50" charset="-128"/>
              <a:ea typeface="メイリオ" panose="020B0604030504040204" pitchFamily="50" charset="-128"/>
            </a:endParaRPr>
          </a:p>
        </p:txBody>
      </p:sp>
      <p:sp>
        <p:nvSpPr>
          <p:cNvPr id="270" name="Text 66">
            <a:extLst>
              <a:ext uri="{FF2B5EF4-FFF2-40B4-BE49-F238E27FC236}">
                <a16:creationId xmlns:a16="http://schemas.microsoft.com/office/drawing/2014/main" id="{730ECA19-26DA-232F-404E-DBF02F6BA8B1}"/>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「ご友人・ご親族をご紹介いただいた方に特典」をLINEで配信。満足度が最も高い入居後3ヶ月が最適タイミング。紹介経由のお客様は成約率が高く、獲得コストを大きく抑えられる。</a:t>
            </a:r>
            <a:endParaRPr lang="en-US" altLang="ja-JP" sz="850" dirty="0">
              <a:latin typeface="メイリオ" panose="020B0604030504040204" pitchFamily="50" charset="-128"/>
              <a:ea typeface="メイリオ" panose="020B0604030504040204" pitchFamily="50" charset="-128"/>
            </a:endParaRPr>
          </a:p>
        </p:txBody>
      </p:sp>
      <p:sp>
        <p:nvSpPr>
          <p:cNvPr id="272" name="Shape 68">
            <a:extLst>
              <a:ext uri="{FF2B5EF4-FFF2-40B4-BE49-F238E27FC236}">
                <a16:creationId xmlns:a16="http://schemas.microsoft.com/office/drawing/2014/main" id="{462FA3CD-674C-EF8C-8AE8-10A144147A63}"/>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4" name="Text 69">
            <a:extLst>
              <a:ext uri="{FF2B5EF4-FFF2-40B4-BE49-F238E27FC236}">
                <a16:creationId xmlns:a16="http://schemas.microsoft.com/office/drawing/2014/main" id="{11F7B611-A14B-627C-5FBB-0170B886D5EA}"/>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6" name="Shape 71">
            <a:extLst>
              <a:ext uri="{FF2B5EF4-FFF2-40B4-BE49-F238E27FC236}">
                <a16:creationId xmlns:a16="http://schemas.microsoft.com/office/drawing/2014/main" id="{C99449D4-E546-985F-BE72-933F1694A4F7}"/>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8" name="Shape 72">
            <a:extLst>
              <a:ext uri="{FF2B5EF4-FFF2-40B4-BE49-F238E27FC236}">
                <a16:creationId xmlns:a16="http://schemas.microsoft.com/office/drawing/2014/main" id="{164235F1-23EF-1248-60B7-999A0B29AA4D}"/>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0" name="Text 73">
            <a:extLst>
              <a:ext uri="{FF2B5EF4-FFF2-40B4-BE49-F238E27FC236}">
                <a16:creationId xmlns:a16="http://schemas.microsoft.com/office/drawing/2014/main" id="{12B0160C-FE2A-C7A4-E0AD-74F3D0F9BB4B}"/>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2" name="Text 74">
            <a:extLst>
              <a:ext uri="{FF2B5EF4-FFF2-40B4-BE49-F238E27FC236}">
                <a16:creationId xmlns:a16="http://schemas.microsoft.com/office/drawing/2014/main" id="{5E79EB16-FC89-25AD-ABF7-33918A2FDFC6}"/>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紹介特典を配信</a:t>
            </a:r>
            <a:endParaRPr lang="en-US" altLang="ja-JP" sz="850" dirty="0">
              <a:latin typeface="メイリオ" panose="020B0604030504040204" pitchFamily="50" charset="-128"/>
              <a:ea typeface="メイリオ" panose="020B0604030504040204" pitchFamily="50" charset="-128"/>
            </a:endParaRPr>
          </a:p>
        </p:txBody>
      </p:sp>
      <p:sp>
        <p:nvSpPr>
          <p:cNvPr id="284" name="Text 75">
            <a:extLst>
              <a:ext uri="{FF2B5EF4-FFF2-40B4-BE49-F238E27FC236}">
                <a16:creationId xmlns:a16="http://schemas.microsoft.com/office/drawing/2014/main" id="{64C81502-47D8-FD41-CAA1-246D2A7C55F4}"/>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満足度高い3ヶ月後</a:t>
            </a:r>
            <a:endParaRPr lang="en-US" altLang="ja-JP" sz="750" dirty="0">
              <a:latin typeface="メイリオ" panose="020B0604030504040204" pitchFamily="50" charset="-128"/>
              <a:ea typeface="メイリオ" panose="020B0604030504040204" pitchFamily="50" charset="-128"/>
            </a:endParaRPr>
          </a:p>
        </p:txBody>
      </p:sp>
      <p:sp>
        <p:nvSpPr>
          <p:cNvPr id="286" name="Text 76">
            <a:extLst>
              <a:ext uri="{FF2B5EF4-FFF2-40B4-BE49-F238E27FC236}">
                <a16:creationId xmlns:a16="http://schemas.microsoft.com/office/drawing/2014/main" id="{DDBCEA73-1ED9-CA4D-8311-CAF89AE71249}"/>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8" name="Shape 77">
            <a:extLst>
              <a:ext uri="{FF2B5EF4-FFF2-40B4-BE49-F238E27FC236}">
                <a16:creationId xmlns:a16="http://schemas.microsoft.com/office/drawing/2014/main" id="{4A9CE2B6-4FF8-B0CB-C568-0E29CCB25364}"/>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0" name="Shape 78">
            <a:extLst>
              <a:ext uri="{FF2B5EF4-FFF2-40B4-BE49-F238E27FC236}">
                <a16:creationId xmlns:a16="http://schemas.microsoft.com/office/drawing/2014/main" id="{FB713A24-D0F7-6DC1-B787-27EFB8E42CD6}"/>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2" name="Text 79">
            <a:extLst>
              <a:ext uri="{FF2B5EF4-FFF2-40B4-BE49-F238E27FC236}">
                <a16:creationId xmlns:a16="http://schemas.microsoft.com/office/drawing/2014/main" id="{37FF5E38-4F70-1C68-3580-FD6C0D20C5DF}"/>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4" name="Text 80">
            <a:extLst>
              <a:ext uri="{FF2B5EF4-FFF2-40B4-BE49-F238E27FC236}">
                <a16:creationId xmlns:a16="http://schemas.microsoft.com/office/drawing/2014/main" id="{5C71A4A8-6960-FBE7-CE24-A77A0C89DFFD}"/>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LINEシェア</a:t>
            </a:r>
            <a:endParaRPr lang="en-US" altLang="ja-JP" sz="850" dirty="0">
              <a:latin typeface="メイリオ" panose="020B0604030504040204" pitchFamily="50" charset="-128"/>
              <a:ea typeface="メイリオ" panose="020B0604030504040204" pitchFamily="50" charset="-128"/>
            </a:endParaRPr>
          </a:p>
        </p:txBody>
      </p:sp>
      <p:sp>
        <p:nvSpPr>
          <p:cNvPr id="296" name="Text 81">
            <a:extLst>
              <a:ext uri="{FF2B5EF4-FFF2-40B4-BE49-F238E27FC236}">
                <a16:creationId xmlns:a16="http://schemas.microsoft.com/office/drawing/2014/main" id="{F823702E-E3FF-CBCE-0A20-E5381533CBF2}"/>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心理ハードル最低</a:t>
            </a:r>
            <a:endParaRPr lang="en-US" altLang="ja-JP" sz="750" dirty="0">
              <a:latin typeface="メイリオ" panose="020B0604030504040204" pitchFamily="50" charset="-128"/>
              <a:ea typeface="メイリオ" panose="020B0604030504040204" pitchFamily="50" charset="-128"/>
            </a:endParaRPr>
          </a:p>
        </p:txBody>
      </p:sp>
      <p:sp>
        <p:nvSpPr>
          <p:cNvPr id="298" name="Text 82">
            <a:extLst>
              <a:ext uri="{FF2B5EF4-FFF2-40B4-BE49-F238E27FC236}">
                <a16:creationId xmlns:a16="http://schemas.microsoft.com/office/drawing/2014/main" id="{A83E74AB-BECE-59CE-D634-A3A5C9A361C9}"/>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0" name="Shape 83">
            <a:extLst>
              <a:ext uri="{FF2B5EF4-FFF2-40B4-BE49-F238E27FC236}">
                <a16:creationId xmlns:a16="http://schemas.microsoft.com/office/drawing/2014/main" id="{B99E233A-6870-51BA-7438-99DBD2BE03C3}"/>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2" name="Shape 84">
            <a:extLst>
              <a:ext uri="{FF2B5EF4-FFF2-40B4-BE49-F238E27FC236}">
                <a16:creationId xmlns:a16="http://schemas.microsoft.com/office/drawing/2014/main" id="{14136A19-FB98-4163-504D-27BC3C347109}"/>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4" name="Text 85">
            <a:extLst>
              <a:ext uri="{FF2B5EF4-FFF2-40B4-BE49-F238E27FC236}">
                <a16:creationId xmlns:a16="http://schemas.microsoft.com/office/drawing/2014/main" id="{B1261818-8213-92C4-5F69-CDB1FEED7D6B}"/>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6" name="Text 86">
            <a:extLst>
              <a:ext uri="{FF2B5EF4-FFF2-40B4-BE49-F238E27FC236}">
                <a16:creationId xmlns:a16="http://schemas.microsoft.com/office/drawing/2014/main" id="{2F5670AB-004B-F8FE-78FA-0194BCE83E05}"/>
              </a:ext>
            </a:extLst>
          </p:cNvPr>
          <p:cNvSpPr/>
          <p:nvPr/>
        </p:nvSpPr>
        <p:spPr>
          <a:xfrm>
            <a:off x="3447530" y="5957091"/>
            <a:ext cx="1060705"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紹介経由＋特典付与</a:t>
            </a:r>
            <a:endParaRPr lang="en-US" altLang="ja-JP" sz="850" dirty="0">
              <a:latin typeface="メイリオ" panose="020B0604030504040204" pitchFamily="50" charset="-128"/>
              <a:ea typeface="メイリオ" panose="020B0604030504040204" pitchFamily="50" charset="-128"/>
            </a:endParaRPr>
          </a:p>
        </p:txBody>
      </p:sp>
      <p:sp>
        <p:nvSpPr>
          <p:cNvPr id="308" name="Text 87">
            <a:extLst>
              <a:ext uri="{FF2B5EF4-FFF2-40B4-BE49-F238E27FC236}">
                <a16:creationId xmlns:a16="http://schemas.microsoft.com/office/drawing/2014/main" id="{DC6BE138-921D-A694-0DAC-F5A995A4F15D}"/>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ツール連携で自動追跡</a:t>
            </a:r>
            <a:endParaRPr lang="en-US" altLang="ja-JP" sz="750" dirty="0">
              <a:latin typeface="メイリオ" panose="020B0604030504040204" pitchFamily="50" charset="-128"/>
              <a:ea typeface="メイリオ" panose="020B0604030504040204" pitchFamily="50" charset="-128"/>
            </a:endParaRPr>
          </a:p>
        </p:txBody>
      </p:sp>
      <p:sp>
        <p:nvSpPr>
          <p:cNvPr id="310" name="Shape 88">
            <a:extLst>
              <a:ext uri="{FF2B5EF4-FFF2-40B4-BE49-F238E27FC236}">
                <a16:creationId xmlns:a16="http://schemas.microsoft.com/office/drawing/2014/main" id="{00EA83A8-D640-D726-5B4E-5B7E5CC8BB06}"/>
              </a:ext>
            </a:extLst>
          </p:cNvPr>
          <p:cNvSpPr/>
          <p:nvPr/>
        </p:nvSpPr>
        <p:spPr>
          <a:xfrm>
            <a:off x="5099366" y="2999769"/>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2" name="Shape 92">
            <a:extLst>
              <a:ext uri="{FF2B5EF4-FFF2-40B4-BE49-F238E27FC236}">
                <a16:creationId xmlns:a16="http://schemas.microsoft.com/office/drawing/2014/main" id="{2ED50188-C3E8-671B-437B-FE9D09CB0C8A}"/>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4" name="Text 93">
            <a:extLst>
              <a:ext uri="{FF2B5EF4-FFF2-40B4-BE49-F238E27FC236}">
                <a16:creationId xmlns:a16="http://schemas.microsoft.com/office/drawing/2014/main" id="{F6E39E70-FE8A-DE23-0A39-4AE1241BE1AD}"/>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再接触</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6" name="Text 94">
            <a:extLst>
              <a:ext uri="{FF2B5EF4-FFF2-40B4-BE49-F238E27FC236}">
                <a16:creationId xmlns:a16="http://schemas.microsoft.com/office/drawing/2014/main" id="{2B080416-8CAA-F775-2812-CDE294817703}"/>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長期離脱</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層</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へコンテンツ型ギフトで関係再構築</a:t>
            </a:r>
            <a:endParaRPr lang="en-US" altLang="ja-JP" sz="1100" dirty="0">
              <a:latin typeface="メイリオ" panose="020B0604030504040204" pitchFamily="50" charset="-128"/>
              <a:ea typeface="メイリオ" panose="020B0604030504040204" pitchFamily="50" charset="-128"/>
            </a:endParaRPr>
          </a:p>
        </p:txBody>
      </p:sp>
      <p:sp>
        <p:nvSpPr>
          <p:cNvPr id="318" name="Text 95">
            <a:extLst>
              <a:ext uri="{FF2B5EF4-FFF2-40B4-BE49-F238E27FC236}">
                <a16:creationId xmlns:a16="http://schemas.microsoft.com/office/drawing/2014/main" id="{56FA365B-5BDE-ED2F-4006-8ED9F6DCA2CB}"/>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6ヶ月以上アクションなしのユーザーに「ご無沙汰しています。最近こんな情報があります」という業界ニュース・役立つコンテンツ型で再接触。最初の2〜3回は純粋にギフトとして届け、関係を再構築してからCV訴求する。</a:t>
            </a:r>
            <a:endParaRPr lang="en-US" altLang="ja-JP" sz="850" dirty="0">
              <a:latin typeface="メイリオ" panose="020B0604030504040204" pitchFamily="50" charset="-128"/>
              <a:ea typeface="メイリオ" panose="020B0604030504040204" pitchFamily="50" charset="-128"/>
            </a:endParaRPr>
          </a:p>
        </p:txBody>
      </p:sp>
      <p:sp>
        <p:nvSpPr>
          <p:cNvPr id="320" name="Shape 96">
            <a:extLst>
              <a:ext uri="{FF2B5EF4-FFF2-40B4-BE49-F238E27FC236}">
                <a16:creationId xmlns:a16="http://schemas.microsoft.com/office/drawing/2014/main" id="{1E05EEB3-91EB-E94B-2D69-D35527B446BF}"/>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2" name="Shape 97">
            <a:extLst>
              <a:ext uri="{FF2B5EF4-FFF2-40B4-BE49-F238E27FC236}">
                <a16:creationId xmlns:a16="http://schemas.microsoft.com/office/drawing/2014/main" id="{BA904CD8-501F-A1E3-D3ED-D2CCD783E4DC}"/>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4" name="Text 98">
            <a:extLst>
              <a:ext uri="{FF2B5EF4-FFF2-40B4-BE49-F238E27FC236}">
                <a16:creationId xmlns:a16="http://schemas.microsoft.com/office/drawing/2014/main" id="{35DBBF69-D787-B899-0A91-599E4F6F88FD}"/>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26" name="Text 99">
            <a:extLst>
              <a:ext uri="{FF2B5EF4-FFF2-40B4-BE49-F238E27FC236}">
                <a16:creationId xmlns:a16="http://schemas.microsoft.com/office/drawing/2014/main" id="{571F5D58-D9F5-DDDB-BBA8-754874B6BA6A}"/>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役立つ情報のみ</a:t>
            </a:r>
            <a:endParaRPr lang="en-US" altLang="ja-JP" sz="850" dirty="0">
              <a:latin typeface="メイリオ" panose="020B0604030504040204" pitchFamily="50" charset="-128"/>
              <a:ea typeface="メイリオ" panose="020B0604030504040204" pitchFamily="50" charset="-128"/>
            </a:endParaRPr>
          </a:p>
        </p:txBody>
      </p:sp>
      <p:sp>
        <p:nvSpPr>
          <p:cNvPr id="328" name="Text 100">
            <a:extLst>
              <a:ext uri="{FF2B5EF4-FFF2-40B4-BE49-F238E27FC236}">
                <a16:creationId xmlns:a16="http://schemas.microsoft.com/office/drawing/2014/main" id="{ED413E21-4A95-D38C-61A6-621C9118C6E5}"/>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売り込みゼロ×2〜3回</a:t>
            </a:r>
            <a:endParaRPr lang="en-US" altLang="ja-JP" sz="750" dirty="0">
              <a:latin typeface="メイリオ" panose="020B0604030504040204" pitchFamily="50" charset="-128"/>
              <a:ea typeface="メイリオ" panose="020B0604030504040204" pitchFamily="50" charset="-128"/>
            </a:endParaRPr>
          </a:p>
        </p:txBody>
      </p:sp>
      <p:sp>
        <p:nvSpPr>
          <p:cNvPr id="330" name="Text 101">
            <a:extLst>
              <a:ext uri="{FF2B5EF4-FFF2-40B4-BE49-F238E27FC236}">
                <a16:creationId xmlns:a16="http://schemas.microsoft.com/office/drawing/2014/main" id="{CCFB2388-34C1-5BB1-7989-946A3B745B6A}"/>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2" name="Shape 102">
            <a:extLst>
              <a:ext uri="{FF2B5EF4-FFF2-40B4-BE49-F238E27FC236}">
                <a16:creationId xmlns:a16="http://schemas.microsoft.com/office/drawing/2014/main" id="{F8446415-1501-E693-C4B3-EB8C32C67E45}"/>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4" name="Shape 103">
            <a:extLst>
              <a:ext uri="{FF2B5EF4-FFF2-40B4-BE49-F238E27FC236}">
                <a16:creationId xmlns:a16="http://schemas.microsoft.com/office/drawing/2014/main" id="{A98E62F3-DFAB-3380-0063-854CD3B54274}"/>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6" name="Text 104">
            <a:extLst>
              <a:ext uri="{FF2B5EF4-FFF2-40B4-BE49-F238E27FC236}">
                <a16:creationId xmlns:a16="http://schemas.microsoft.com/office/drawing/2014/main" id="{415DB8B7-F668-AC7A-CE33-494F03854BD4}"/>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8" name="Text 105">
            <a:extLst>
              <a:ext uri="{FF2B5EF4-FFF2-40B4-BE49-F238E27FC236}">
                <a16:creationId xmlns:a16="http://schemas.microsoft.com/office/drawing/2014/main" id="{FA1DC66E-AF0D-0985-0802-20D85E926CA0}"/>
              </a:ext>
            </a:extLst>
          </p:cNvPr>
          <p:cNvSpPr/>
          <p:nvPr/>
        </p:nvSpPr>
        <p:spPr>
          <a:xfrm>
            <a:off x="6873303"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関係再構築完了</a:t>
            </a:r>
            <a:endParaRPr lang="en-US" altLang="ja-JP" sz="850" dirty="0">
              <a:latin typeface="メイリオ" panose="020B0604030504040204" pitchFamily="50" charset="-128"/>
              <a:ea typeface="メイリオ" panose="020B0604030504040204" pitchFamily="50" charset="-128"/>
            </a:endParaRPr>
          </a:p>
        </p:txBody>
      </p:sp>
      <p:sp>
        <p:nvSpPr>
          <p:cNvPr id="340" name="Text 106">
            <a:extLst>
              <a:ext uri="{FF2B5EF4-FFF2-40B4-BE49-F238E27FC236}">
                <a16:creationId xmlns:a16="http://schemas.microsoft.com/office/drawing/2014/main" id="{4D8603BB-BC34-BD19-18F7-38CF49867740}"/>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ブロック率を抑制</a:t>
            </a:r>
            <a:endParaRPr lang="en-US" altLang="ja-JP" sz="750" dirty="0">
              <a:latin typeface="メイリオ" panose="020B0604030504040204" pitchFamily="50" charset="-128"/>
              <a:ea typeface="メイリオ" panose="020B0604030504040204" pitchFamily="50" charset="-128"/>
            </a:endParaRPr>
          </a:p>
        </p:txBody>
      </p:sp>
      <p:sp>
        <p:nvSpPr>
          <p:cNvPr id="342" name="Text 107">
            <a:extLst>
              <a:ext uri="{FF2B5EF4-FFF2-40B4-BE49-F238E27FC236}">
                <a16:creationId xmlns:a16="http://schemas.microsoft.com/office/drawing/2014/main" id="{588E7835-072B-748B-58F3-CA6AFC64CEFD}"/>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44" name="Shape 108">
            <a:extLst>
              <a:ext uri="{FF2B5EF4-FFF2-40B4-BE49-F238E27FC236}">
                <a16:creationId xmlns:a16="http://schemas.microsoft.com/office/drawing/2014/main" id="{4F170C42-630C-8D4B-FBB8-27015876762A}"/>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6" name="Shape 109">
            <a:extLst>
              <a:ext uri="{FF2B5EF4-FFF2-40B4-BE49-F238E27FC236}">
                <a16:creationId xmlns:a16="http://schemas.microsoft.com/office/drawing/2014/main" id="{4949CD92-D7C3-604E-24C2-5DF64D165947}"/>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8" name="Text 110">
            <a:extLst>
              <a:ext uri="{FF2B5EF4-FFF2-40B4-BE49-F238E27FC236}">
                <a16:creationId xmlns:a16="http://schemas.microsoft.com/office/drawing/2014/main" id="{89D2F0E4-B8EC-3B98-9281-44E80C6C2F05}"/>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50" name="Text 111">
            <a:extLst>
              <a:ext uri="{FF2B5EF4-FFF2-40B4-BE49-F238E27FC236}">
                <a16:creationId xmlns:a16="http://schemas.microsoft.com/office/drawing/2014/main" id="{86FADA7D-7380-B2D4-BB29-67FA3FF02D03}"/>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自然な形でCV訴求</a:t>
            </a:r>
            <a:endParaRPr lang="en-US" altLang="ja-JP" sz="850" dirty="0">
              <a:latin typeface="メイリオ" panose="020B0604030504040204" pitchFamily="50" charset="-128"/>
              <a:ea typeface="メイリオ" panose="020B0604030504040204" pitchFamily="50" charset="-128"/>
            </a:endParaRPr>
          </a:p>
        </p:txBody>
      </p:sp>
      <p:sp>
        <p:nvSpPr>
          <p:cNvPr id="352" name="Text 112">
            <a:extLst>
              <a:ext uri="{FF2B5EF4-FFF2-40B4-BE49-F238E27FC236}">
                <a16:creationId xmlns:a16="http://schemas.microsoft.com/office/drawing/2014/main" id="{281ABCCF-C22A-E77A-4B67-210FD1F78104}"/>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ご紹介の発生</a:t>
            </a:r>
            <a:endParaRPr lang="en-US" altLang="ja-JP" sz="750" dirty="0">
              <a:latin typeface="メイリオ" panose="020B0604030504040204" pitchFamily="50" charset="-128"/>
              <a:ea typeface="メイリオ" panose="020B0604030504040204" pitchFamily="50" charset="-128"/>
            </a:endParaRPr>
          </a:p>
        </p:txBody>
      </p:sp>
      <p:sp>
        <p:nvSpPr>
          <p:cNvPr id="354" name="Shape 113">
            <a:extLst>
              <a:ext uri="{FF2B5EF4-FFF2-40B4-BE49-F238E27FC236}">
                <a16:creationId xmlns:a16="http://schemas.microsoft.com/office/drawing/2014/main" id="{971278A0-D337-07E8-607D-BF93BE0DD844}"/>
              </a:ext>
            </a:extLst>
          </p:cNvPr>
          <p:cNvSpPr/>
          <p:nvPr/>
        </p:nvSpPr>
        <p:spPr>
          <a:xfrm>
            <a:off x="5099366" y="4842285"/>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6" name="Shape 117">
            <a:extLst>
              <a:ext uri="{FF2B5EF4-FFF2-40B4-BE49-F238E27FC236}">
                <a16:creationId xmlns:a16="http://schemas.microsoft.com/office/drawing/2014/main" id="{F47773F9-0CEF-F0E1-89AB-B3B4EFC203DB}"/>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8" name="Text 118">
            <a:extLst>
              <a:ext uri="{FF2B5EF4-FFF2-40B4-BE49-F238E27FC236}">
                <a16:creationId xmlns:a16="http://schemas.microsoft.com/office/drawing/2014/main" id="{5E262051-72BB-2E2F-38AC-EAC107F4BF2D}"/>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フロー案内</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0" name="Text 119">
            <a:extLst>
              <a:ext uri="{FF2B5EF4-FFF2-40B4-BE49-F238E27FC236}">
                <a16:creationId xmlns:a16="http://schemas.microsoft.com/office/drawing/2014/main" id="{E3B15F81-AADD-9921-7172-C1CD99BDF110}"/>
              </a:ext>
            </a:extLst>
          </p:cNvPr>
          <p:cNvSpPr/>
          <p:nvPr/>
        </p:nvSpPr>
        <p:spPr>
          <a:xfrm>
            <a:off x="6379526" y="4924581"/>
            <a:ext cx="3480635" cy="256032"/>
          </a:xfrm>
          <a:prstGeom prst="rect">
            <a:avLst/>
          </a:prstGeom>
          <a:noFill/>
          <a:ln/>
        </p:spPr>
        <p:txBody>
          <a:bodyPr wrap="square" lIns="0" tIns="0" rIns="0" bIns="0" rtlCol="0" anchor="ctr"/>
          <a:lstStyle/>
          <a:p>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お引渡し記念日タグ × 点検案内でLTV向上</a:t>
            </a:r>
          </a:p>
        </p:txBody>
      </p:sp>
      <p:sp>
        <p:nvSpPr>
          <p:cNvPr id="362" name="Text 120">
            <a:extLst>
              <a:ext uri="{FF2B5EF4-FFF2-40B4-BE49-F238E27FC236}">
                <a16:creationId xmlns:a16="http://schemas.microsoft.com/office/drawing/2014/main" id="{5D40B60F-5F09-DB2E-8DFF-C187AC234EEE}"/>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お引渡し日を記念日タグとして登録し「お引渡しから1年、おめでとうございます。1年点検のご案内です」を自動配信。「覚えてくれている」体験が信頼を高め、点検受診率とご紹介につながる。</a:t>
            </a:r>
            <a:endParaRPr lang="en-US" altLang="ja-JP" sz="850" dirty="0">
              <a:latin typeface="メイリオ" panose="020B0604030504040204" pitchFamily="50" charset="-128"/>
              <a:ea typeface="メイリオ" panose="020B0604030504040204" pitchFamily="50" charset="-128"/>
            </a:endParaRPr>
          </a:p>
        </p:txBody>
      </p:sp>
      <p:sp>
        <p:nvSpPr>
          <p:cNvPr id="364" name="Shape 121">
            <a:extLst>
              <a:ext uri="{FF2B5EF4-FFF2-40B4-BE49-F238E27FC236}">
                <a16:creationId xmlns:a16="http://schemas.microsoft.com/office/drawing/2014/main" id="{6D87E532-2B58-F1E3-5364-68322B8546E8}"/>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6" name="Shape 122">
            <a:extLst>
              <a:ext uri="{FF2B5EF4-FFF2-40B4-BE49-F238E27FC236}">
                <a16:creationId xmlns:a16="http://schemas.microsoft.com/office/drawing/2014/main" id="{D091E1D9-CAC7-E7FA-4AE7-10C04B5FA5B7}"/>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8" name="Text 123">
            <a:extLst>
              <a:ext uri="{FF2B5EF4-FFF2-40B4-BE49-F238E27FC236}">
                <a16:creationId xmlns:a16="http://schemas.microsoft.com/office/drawing/2014/main" id="{91206034-9E2C-FBA8-B2C3-24856EE4B44C}"/>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0" name="Text 124">
            <a:extLst>
              <a:ext uri="{FF2B5EF4-FFF2-40B4-BE49-F238E27FC236}">
                <a16:creationId xmlns:a16="http://schemas.microsoft.com/office/drawing/2014/main" id="{96A70C8C-D3D2-8BAD-7C6C-DDACC0B79B34}"/>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記念日タグを設定</a:t>
            </a:r>
            <a:endParaRPr lang="en-US" altLang="ja-JP" sz="850" dirty="0">
              <a:latin typeface="メイリオ" panose="020B0604030504040204" pitchFamily="50" charset="-128"/>
              <a:ea typeface="メイリオ" panose="020B0604030504040204" pitchFamily="50" charset="-128"/>
            </a:endParaRPr>
          </a:p>
        </p:txBody>
      </p:sp>
      <p:sp>
        <p:nvSpPr>
          <p:cNvPr id="372" name="Text 125">
            <a:extLst>
              <a:ext uri="{FF2B5EF4-FFF2-40B4-BE49-F238E27FC236}">
                <a16:creationId xmlns:a16="http://schemas.microsoft.com/office/drawing/2014/main" id="{C7DCCB91-2446-504F-DB21-38DC9E40A99E}"/>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お引渡し日・点検時期</a:t>
            </a:r>
            <a:endParaRPr lang="en-US" altLang="ja-JP" sz="750" dirty="0">
              <a:latin typeface="メイリオ" panose="020B0604030504040204" pitchFamily="50" charset="-128"/>
              <a:ea typeface="メイリオ" panose="020B0604030504040204" pitchFamily="50" charset="-128"/>
            </a:endParaRPr>
          </a:p>
        </p:txBody>
      </p:sp>
      <p:sp>
        <p:nvSpPr>
          <p:cNvPr id="374" name="Text 126">
            <a:extLst>
              <a:ext uri="{FF2B5EF4-FFF2-40B4-BE49-F238E27FC236}">
                <a16:creationId xmlns:a16="http://schemas.microsoft.com/office/drawing/2014/main" id="{1F4F8BB1-7C46-CFAC-4A82-3A92CFDC15EE}"/>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6" name="Shape 127">
            <a:extLst>
              <a:ext uri="{FF2B5EF4-FFF2-40B4-BE49-F238E27FC236}">
                <a16:creationId xmlns:a16="http://schemas.microsoft.com/office/drawing/2014/main" id="{2D872CE0-C558-B33C-59A0-3B8B41F4DCBB}"/>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8" name="Shape 128">
            <a:extLst>
              <a:ext uri="{FF2B5EF4-FFF2-40B4-BE49-F238E27FC236}">
                <a16:creationId xmlns:a16="http://schemas.microsoft.com/office/drawing/2014/main" id="{356DDE33-7381-CEF0-7015-298C11EB34FA}"/>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0" name="Text 129">
            <a:extLst>
              <a:ext uri="{FF2B5EF4-FFF2-40B4-BE49-F238E27FC236}">
                <a16:creationId xmlns:a16="http://schemas.microsoft.com/office/drawing/2014/main" id="{EE6BBEAB-1160-1953-0E09-D30313ED9406}"/>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2" name="Text 130">
            <a:extLst>
              <a:ext uri="{FF2B5EF4-FFF2-40B4-BE49-F238E27FC236}">
                <a16:creationId xmlns:a16="http://schemas.microsoft.com/office/drawing/2014/main" id="{F035AA22-D856-8317-F313-F0B2385E993B}"/>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特別オファ</a:t>
            </a:r>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ー</a:t>
            </a:r>
            <a:r>
              <a:rPr lang="ja-JP" altLang="en-US" sz="850" b="1" dirty="0">
                <a:solidFill>
                  <a:srgbClr val="1A1A2E"/>
                </a:solidFill>
                <a:latin typeface="メイリオ" panose="020B0604030504040204" pitchFamily="50" charset="-128"/>
                <a:ea typeface="メイリオ" panose="020B0604030504040204" pitchFamily="50" charset="-128"/>
                <a:cs typeface="Calibri" pitchFamily="34" charset="-120"/>
              </a:rPr>
              <a:t>配信</a:t>
            </a:r>
            <a:endParaRPr lang="en-US" altLang="ja-JP" sz="850" dirty="0">
              <a:latin typeface="メイリオ" panose="020B0604030504040204" pitchFamily="50" charset="-128"/>
              <a:ea typeface="メイリオ" panose="020B0604030504040204" pitchFamily="50" charset="-128"/>
            </a:endParaRPr>
          </a:p>
        </p:txBody>
      </p:sp>
      <p:sp>
        <p:nvSpPr>
          <p:cNvPr id="384" name="Text 131">
            <a:extLst>
              <a:ext uri="{FF2B5EF4-FFF2-40B4-BE49-F238E27FC236}">
                <a16:creationId xmlns:a16="http://schemas.microsoft.com/office/drawing/2014/main" id="{5E7101A0-55A9-D99A-CD95-05335CAC2992}"/>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完全自動・スタッフゼロ</a:t>
            </a:r>
            <a:endParaRPr lang="en-US" altLang="ja-JP" sz="750" dirty="0">
              <a:latin typeface="メイリオ" panose="020B0604030504040204" pitchFamily="50" charset="-128"/>
              <a:ea typeface="メイリオ" panose="020B0604030504040204" pitchFamily="50" charset="-128"/>
            </a:endParaRPr>
          </a:p>
        </p:txBody>
      </p:sp>
      <p:sp>
        <p:nvSpPr>
          <p:cNvPr id="386" name="Text 132">
            <a:extLst>
              <a:ext uri="{FF2B5EF4-FFF2-40B4-BE49-F238E27FC236}">
                <a16:creationId xmlns:a16="http://schemas.microsoft.com/office/drawing/2014/main" id="{EB31AD4D-43BF-8F45-39CD-B0337D31809F}"/>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8" name="Shape 133">
            <a:extLst>
              <a:ext uri="{FF2B5EF4-FFF2-40B4-BE49-F238E27FC236}">
                <a16:creationId xmlns:a16="http://schemas.microsoft.com/office/drawing/2014/main" id="{9D865312-D619-1BB5-483D-A496A7C19C36}"/>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0" name="Shape 134">
            <a:extLst>
              <a:ext uri="{FF2B5EF4-FFF2-40B4-BE49-F238E27FC236}">
                <a16:creationId xmlns:a16="http://schemas.microsoft.com/office/drawing/2014/main" id="{A6902040-0093-C584-7CD4-3A8474835775}"/>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2" name="Text 135">
            <a:extLst>
              <a:ext uri="{FF2B5EF4-FFF2-40B4-BE49-F238E27FC236}">
                <a16:creationId xmlns:a16="http://schemas.microsoft.com/office/drawing/2014/main" id="{FB44CA82-5B08-B387-57C3-88F14FCA18B7}"/>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4" name="Text 136">
            <a:extLst>
              <a:ext uri="{FF2B5EF4-FFF2-40B4-BE49-F238E27FC236}">
                <a16:creationId xmlns:a16="http://schemas.microsoft.com/office/drawing/2014/main" id="{85A4EC17-97B2-BCD7-FCE3-303E8114491D}"/>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満足度向上</a:t>
            </a:r>
            <a:endParaRPr lang="en-US" altLang="ja-JP" sz="850" dirty="0">
              <a:latin typeface="メイリオ" panose="020B0604030504040204" pitchFamily="50" charset="-128"/>
              <a:ea typeface="メイリオ" panose="020B0604030504040204" pitchFamily="50" charset="-128"/>
            </a:endParaRPr>
          </a:p>
        </p:txBody>
      </p:sp>
      <p:sp>
        <p:nvSpPr>
          <p:cNvPr id="396" name="Text 137">
            <a:extLst>
              <a:ext uri="{FF2B5EF4-FFF2-40B4-BE49-F238E27FC236}">
                <a16:creationId xmlns:a16="http://schemas.microsoft.com/office/drawing/2014/main" id="{F48F4888-D926-9901-DE92-103FA2FF00EB}"/>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紹介・口コミ促進</a:t>
            </a:r>
            <a:endParaRPr lang="en-US" altLang="ja-JP" sz="750" dirty="0">
              <a:latin typeface="メイリオ" panose="020B0604030504040204" pitchFamily="50" charset="-128"/>
              <a:ea typeface="メイリオ" panose="020B0604030504040204" pitchFamily="50" charset="-128"/>
            </a:endParaRPr>
          </a:p>
        </p:txBody>
      </p:sp>
      <p:sp>
        <p:nvSpPr>
          <p:cNvPr id="398" name="Shape 36">
            <a:extLst>
              <a:ext uri="{FF2B5EF4-FFF2-40B4-BE49-F238E27FC236}">
                <a16:creationId xmlns:a16="http://schemas.microsoft.com/office/drawing/2014/main" id="{0734E444-168A-89C6-D964-38759E540BCB}"/>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0" name="Shape 36">
            <a:extLst>
              <a:ext uri="{FF2B5EF4-FFF2-40B4-BE49-F238E27FC236}">
                <a16:creationId xmlns:a16="http://schemas.microsoft.com/office/drawing/2014/main" id="{B45D359F-4CA9-C051-F58B-E1296B6FBFE4}"/>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2" name="Shape 36">
            <a:extLst>
              <a:ext uri="{FF2B5EF4-FFF2-40B4-BE49-F238E27FC236}">
                <a16:creationId xmlns:a16="http://schemas.microsoft.com/office/drawing/2014/main" id="{8EA02CFD-BE47-AC79-7F8B-5F9B8FB2B494}"/>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997255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6F07D-57DB-D005-AEF4-0353E12BFBBB}"/>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E70BA7A-C846-DB25-5226-608EE498C23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C580AE1A-1ED9-8A39-74F0-21E10C52709E}"/>
              </a:ext>
            </a:extLst>
          </p:cNvPr>
          <p:cNvSpPr/>
          <p:nvPr/>
        </p:nvSpPr>
        <p:spPr>
          <a:xfrm>
            <a:off x="3424389" y="3038203"/>
            <a:ext cx="3057247" cy="892552"/>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ご提案にあたり</a:t>
            </a:r>
            <a:endPar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（施策紹介・企画案）</a:t>
            </a:r>
            <a:endParaRPr lang="en-US" altLang="ja-I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38127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F5926-064C-E9E2-1BF7-7405461E390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36CA518-3F59-3390-7B5A-E644AD768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19E80E8E-60A7-3A23-9CC8-7604796F1C0C}"/>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想定：低ハードルの</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地点を設定してリード情報を大量獲得</a:t>
            </a:r>
          </a:p>
        </p:txBody>
      </p:sp>
      <p:sp>
        <p:nvSpPr>
          <p:cNvPr id="245" name="Shape 8">
            <a:extLst>
              <a:ext uri="{FF2B5EF4-FFF2-40B4-BE49-F238E27FC236}">
                <a16:creationId xmlns:a16="http://schemas.microsoft.com/office/drawing/2014/main" id="{50B34EBB-32AA-4AD8-2936-6751081DDE7C}"/>
              </a:ext>
            </a:extLst>
          </p:cNvPr>
          <p:cNvSpPr/>
          <p:nvPr/>
        </p:nvSpPr>
        <p:spPr>
          <a:xfrm>
            <a:off x="603747" y="219432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7" name="Text 9">
            <a:extLst>
              <a:ext uri="{FF2B5EF4-FFF2-40B4-BE49-F238E27FC236}">
                <a16:creationId xmlns:a16="http://schemas.microsoft.com/office/drawing/2014/main" id="{6B824CCD-B508-0A92-337C-8E55E54ECCC6}"/>
              </a:ext>
            </a:extLst>
          </p:cNvPr>
          <p:cNvSpPr/>
          <p:nvPr/>
        </p:nvSpPr>
        <p:spPr>
          <a:xfrm>
            <a:off x="731763" y="2177352"/>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パターン A　入口設計</a:t>
            </a:r>
            <a:endParaRPr lang="en-US" sz="1000" dirty="0">
              <a:latin typeface="メイリオ" panose="020B0604030504040204" pitchFamily="50" charset="-128"/>
              <a:ea typeface="メイリオ" panose="020B0604030504040204" pitchFamily="50" charset="-128"/>
            </a:endParaRPr>
          </a:p>
        </p:txBody>
      </p:sp>
      <p:sp>
        <p:nvSpPr>
          <p:cNvPr id="249" name="Text 10">
            <a:extLst>
              <a:ext uri="{FF2B5EF4-FFF2-40B4-BE49-F238E27FC236}">
                <a16:creationId xmlns:a16="http://schemas.microsoft.com/office/drawing/2014/main" id="{84F4A405-7F45-B583-37DE-94237EEF3D61}"/>
              </a:ext>
            </a:extLst>
          </p:cNvPr>
          <p:cNvSpPr/>
          <p:nvPr/>
        </p:nvSpPr>
        <p:spPr>
          <a:xfrm>
            <a:off x="2679778" y="2181269"/>
            <a:ext cx="2178492"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LINE登録をCVゴールに変える</a:t>
            </a:r>
            <a:endParaRPr lang="en-US" sz="700" dirty="0">
              <a:latin typeface="メイリオ" panose="020B0604030504040204" pitchFamily="50" charset="-128"/>
              <a:ea typeface="メイリオ" panose="020B0604030504040204" pitchFamily="50" charset="-128"/>
            </a:endParaRPr>
          </a:p>
        </p:txBody>
      </p:sp>
      <p:sp>
        <p:nvSpPr>
          <p:cNvPr id="251" name="Shape 11">
            <a:extLst>
              <a:ext uri="{FF2B5EF4-FFF2-40B4-BE49-F238E27FC236}">
                <a16:creationId xmlns:a16="http://schemas.microsoft.com/office/drawing/2014/main" id="{E03D806A-5D1C-D296-4B14-ED4D280CB458}"/>
              </a:ext>
            </a:extLst>
          </p:cNvPr>
          <p:cNvSpPr/>
          <p:nvPr/>
        </p:nvSpPr>
        <p:spPr>
          <a:xfrm>
            <a:off x="5047731" y="219432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3" name="Text 12">
            <a:extLst>
              <a:ext uri="{FF2B5EF4-FFF2-40B4-BE49-F238E27FC236}">
                <a16:creationId xmlns:a16="http://schemas.microsoft.com/office/drawing/2014/main" id="{4B548AFE-3848-314C-CA69-8B8E255E25A3}"/>
              </a:ext>
            </a:extLst>
          </p:cNvPr>
          <p:cNvSpPr/>
          <p:nvPr/>
        </p:nvSpPr>
        <p:spPr>
          <a:xfrm>
            <a:off x="5175747" y="2177352"/>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パターン B　特典訴求</a:t>
            </a:r>
            <a:endParaRPr lang="en-US" sz="1000" dirty="0">
              <a:latin typeface="メイリオ" panose="020B0604030504040204" pitchFamily="50" charset="-128"/>
              <a:ea typeface="メイリオ" panose="020B0604030504040204" pitchFamily="50" charset="-128"/>
            </a:endParaRPr>
          </a:p>
        </p:txBody>
      </p:sp>
      <p:sp>
        <p:nvSpPr>
          <p:cNvPr id="255" name="Text 13">
            <a:extLst>
              <a:ext uri="{FF2B5EF4-FFF2-40B4-BE49-F238E27FC236}">
                <a16:creationId xmlns:a16="http://schemas.microsoft.com/office/drawing/2014/main" id="{F7BBED76-5EF3-CF1C-3E94-BFDDA81FC4CB}"/>
              </a:ext>
            </a:extLst>
          </p:cNvPr>
          <p:cNvSpPr/>
          <p:nvPr/>
        </p:nvSpPr>
        <p:spPr>
          <a:xfrm>
            <a:off x="7123762" y="2181269"/>
            <a:ext cx="2178492"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もらえる理由を先に見せる</a:t>
            </a:r>
            <a:endParaRPr lang="en-US" sz="700" dirty="0">
              <a:latin typeface="メイリオ" panose="020B0604030504040204" pitchFamily="50" charset="-128"/>
              <a:ea typeface="メイリオ" panose="020B0604030504040204" pitchFamily="50" charset="-128"/>
            </a:endParaRPr>
          </a:p>
        </p:txBody>
      </p:sp>
      <p:sp>
        <p:nvSpPr>
          <p:cNvPr id="257" name="Shape 15">
            <a:extLst>
              <a:ext uri="{FF2B5EF4-FFF2-40B4-BE49-F238E27FC236}">
                <a16:creationId xmlns:a16="http://schemas.microsoft.com/office/drawing/2014/main" id="{3C3A65BE-9DC3-733C-E32C-C6463CB1B2D8}"/>
              </a:ext>
            </a:extLst>
          </p:cNvPr>
          <p:cNvSpPr/>
          <p:nvPr/>
        </p:nvSpPr>
        <p:spPr>
          <a:xfrm>
            <a:off x="603747" y="2605278"/>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1" name="Shape 17">
            <a:extLst>
              <a:ext uri="{FF2B5EF4-FFF2-40B4-BE49-F238E27FC236}">
                <a16:creationId xmlns:a16="http://schemas.microsoft.com/office/drawing/2014/main" id="{3CF94F6C-2ADA-3F87-0FEF-DBA69394A376}"/>
              </a:ext>
            </a:extLst>
          </p:cNvPr>
          <p:cNvSpPr/>
          <p:nvPr/>
        </p:nvSpPr>
        <p:spPr>
          <a:xfrm>
            <a:off x="713475" y="2696718"/>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3" name="Text 18">
            <a:extLst>
              <a:ext uri="{FF2B5EF4-FFF2-40B4-BE49-F238E27FC236}">
                <a16:creationId xmlns:a16="http://schemas.microsoft.com/office/drawing/2014/main" id="{103195C8-2651-E639-EA61-8D610F734E60}"/>
              </a:ext>
            </a:extLst>
          </p:cNvPr>
          <p:cNvSpPr/>
          <p:nvPr/>
        </p:nvSpPr>
        <p:spPr>
          <a:xfrm>
            <a:off x="713475" y="2696718"/>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7" name="Text 20">
            <a:extLst>
              <a:ext uri="{FF2B5EF4-FFF2-40B4-BE49-F238E27FC236}">
                <a16:creationId xmlns:a16="http://schemas.microsoft.com/office/drawing/2014/main" id="{5FD52149-2769-6790-5E24-12A543DB12BE}"/>
              </a:ext>
            </a:extLst>
          </p:cNvPr>
          <p:cNvSpPr/>
          <p:nvPr/>
        </p:nvSpPr>
        <p:spPr>
          <a:xfrm>
            <a:off x="1060947" y="2724150"/>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SEO・広告流入</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269" name="Text 21">
            <a:extLst>
              <a:ext uri="{FF2B5EF4-FFF2-40B4-BE49-F238E27FC236}">
                <a16:creationId xmlns:a16="http://schemas.microsoft.com/office/drawing/2014/main" id="{CD72F40E-8420-7001-60D2-BE4609277B4B}"/>
              </a:ext>
            </a:extLst>
          </p:cNvPr>
          <p:cNvSpPr/>
          <p:nvPr/>
        </p:nvSpPr>
        <p:spPr>
          <a:xfrm>
            <a:off x="1975347" y="2696718"/>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「資料・診断」をLINE登録特典に設定</a:t>
            </a:r>
            <a:endParaRPr lang="en-US" sz="1000" dirty="0">
              <a:latin typeface="メイリオ" panose="020B0604030504040204" pitchFamily="50" charset="-128"/>
              <a:ea typeface="メイリオ" panose="020B0604030504040204" pitchFamily="50" charset="-128"/>
            </a:endParaRPr>
          </a:p>
        </p:txBody>
      </p:sp>
      <p:sp>
        <p:nvSpPr>
          <p:cNvPr id="271" name="Text 22">
            <a:extLst>
              <a:ext uri="{FF2B5EF4-FFF2-40B4-BE49-F238E27FC236}">
                <a16:creationId xmlns:a16="http://schemas.microsoft.com/office/drawing/2014/main" id="{9E779F3B-EE90-9E2A-0F05-BE0AF6DB44A6}"/>
              </a:ext>
            </a:extLst>
          </p:cNvPr>
          <p:cNvSpPr/>
          <p:nvPr/>
        </p:nvSpPr>
        <p:spPr>
          <a:xfrm>
            <a:off x="713475" y="3025902"/>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フォーム入力より低ハードルなLINE登録をCV地点に変更。「まず資料だけ」「30秒診断」など登録理由を明確にし、友だち追加率を0.8〜1.0%前後に改善する。</a:t>
            </a:r>
            <a:endParaRPr lang="en-US" sz="600" dirty="0">
              <a:latin typeface="メイリオ" panose="020B0604030504040204" pitchFamily="50" charset="-128"/>
              <a:ea typeface="メイリオ" panose="020B0604030504040204" pitchFamily="50" charset="-128"/>
            </a:endParaRPr>
          </a:p>
        </p:txBody>
      </p:sp>
      <p:sp>
        <p:nvSpPr>
          <p:cNvPr id="273" name="Shape 23">
            <a:extLst>
              <a:ext uri="{FF2B5EF4-FFF2-40B4-BE49-F238E27FC236}">
                <a16:creationId xmlns:a16="http://schemas.microsoft.com/office/drawing/2014/main" id="{675C0BB0-8300-FD46-0D46-92211B03501E}"/>
              </a:ext>
            </a:extLst>
          </p:cNvPr>
          <p:cNvSpPr/>
          <p:nvPr/>
        </p:nvSpPr>
        <p:spPr>
          <a:xfrm>
            <a:off x="695187" y="3373374"/>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275" name="Text 24">
            <a:extLst>
              <a:ext uri="{FF2B5EF4-FFF2-40B4-BE49-F238E27FC236}">
                <a16:creationId xmlns:a16="http://schemas.microsoft.com/office/drawing/2014/main" id="{656BBEFB-D770-4F75-DBE8-633CD2956F1D}"/>
              </a:ext>
            </a:extLst>
          </p:cNvPr>
          <p:cNvSpPr/>
          <p:nvPr/>
        </p:nvSpPr>
        <p:spPr>
          <a:xfrm>
            <a:off x="695187" y="3373374"/>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LP閲覧</a:t>
            </a:r>
            <a:endParaRPr lang="en-US" sz="700" dirty="0">
              <a:latin typeface="メイリオ" panose="020B0604030504040204" pitchFamily="50" charset="-128"/>
              <a:ea typeface="メイリオ" panose="020B0604030504040204" pitchFamily="50" charset="-128"/>
            </a:endParaRPr>
          </a:p>
        </p:txBody>
      </p:sp>
      <p:sp>
        <p:nvSpPr>
          <p:cNvPr id="277" name="Shape 25">
            <a:extLst>
              <a:ext uri="{FF2B5EF4-FFF2-40B4-BE49-F238E27FC236}">
                <a16:creationId xmlns:a16="http://schemas.microsoft.com/office/drawing/2014/main" id="{F4B93B37-4B61-4E52-FE2D-5809A86D42AD}"/>
              </a:ext>
            </a:extLst>
          </p:cNvPr>
          <p:cNvSpPr/>
          <p:nvPr/>
        </p:nvSpPr>
        <p:spPr>
          <a:xfrm>
            <a:off x="1969251" y="346481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9" name="Text 26">
            <a:extLst>
              <a:ext uri="{FF2B5EF4-FFF2-40B4-BE49-F238E27FC236}">
                <a16:creationId xmlns:a16="http://schemas.microsoft.com/office/drawing/2014/main" id="{61F60C63-C90B-8878-87EB-125EC950C1B5}"/>
              </a:ext>
            </a:extLst>
          </p:cNvPr>
          <p:cNvSpPr/>
          <p:nvPr/>
        </p:nvSpPr>
        <p:spPr>
          <a:xfrm>
            <a:off x="1969251" y="3464814"/>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1" name="Shape 27">
            <a:extLst>
              <a:ext uri="{FF2B5EF4-FFF2-40B4-BE49-F238E27FC236}">
                <a16:creationId xmlns:a16="http://schemas.microsoft.com/office/drawing/2014/main" id="{C645E261-F348-F246-EC19-FD2061AD3056}"/>
              </a:ext>
            </a:extLst>
          </p:cNvPr>
          <p:cNvSpPr/>
          <p:nvPr/>
        </p:nvSpPr>
        <p:spPr>
          <a:xfrm>
            <a:off x="2060691" y="3373374"/>
            <a:ext cx="1274064" cy="329184"/>
          </a:xfrm>
          <a:prstGeom prst="roundRect">
            <a:avLst>
              <a:gd name="adj" fmla="val 16667"/>
            </a:avLst>
          </a:prstGeom>
          <a:solidFill>
            <a:schemeClr val="tx1"/>
          </a:solidFill>
          <a:ln w="12700">
            <a:noFill/>
            <a:prstDash val="solid"/>
          </a:ln>
        </p:spPr>
        <p:txBody>
          <a:bodyPr/>
          <a:lstStyle/>
          <a:p>
            <a:endParaRPr lang="ja-JP" altLang="en-US" sz="800">
              <a:latin typeface="メイリオ" panose="020B0604030504040204" pitchFamily="50" charset="-128"/>
              <a:ea typeface="メイリオ" panose="020B0604030504040204" pitchFamily="50" charset="-128"/>
            </a:endParaRPr>
          </a:p>
        </p:txBody>
      </p:sp>
      <p:sp>
        <p:nvSpPr>
          <p:cNvPr id="283" name="Text 28">
            <a:extLst>
              <a:ext uri="{FF2B5EF4-FFF2-40B4-BE49-F238E27FC236}">
                <a16:creationId xmlns:a16="http://schemas.microsoft.com/office/drawing/2014/main" id="{2CB542A9-044C-66B0-BB16-9144232C75A6}"/>
              </a:ext>
            </a:extLst>
          </p:cNvPr>
          <p:cNvSpPr/>
          <p:nvPr/>
        </p:nvSpPr>
        <p:spPr>
          <a:xfrm>
            <a:off x="2060691" y="3373374"/>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登録特典訴求</a:t>
            </a:r>
            <a:endParaRPr lang="en-US" sz="700" dirty="0">
              <a:latin typeface="メイリオ" panose="020B0604030504040204" pitchFamily="50" charset="-128"/>
              <a:ea typeface="メイリオ" panose="020B0604030504040204" pitchFamily="50" charset="-128"/>
            </a:endParaRPr>
          </a:p>
        </p:txBody>
      </p:sp>
      <p:sp>
        <p:nvSpPr>
          <p:cNvPr id="285" name="Shape 29">
            <a:extLst>
              <a:ext uri="{FF2B5EF4-FFF2-40B4-BE49-F238E27FC236}">
                <a16:creationId xmlns:a16="http://schemas.microsoft.com/office/drawing/2014/main" id="{2C761D6B-768E-B3F9-32B2-443E96E0F616}"/>
              </a:ext>
            </a:extLst>
          </p:cNvPr>
          <p:cNvSpPr/>
          <p:nvPr/>
        </p:nvSpPr>
        <p:spPr>
          <a:xfrm>
            <a:off x="3334755" y="346481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7" name="Text 30">
            <a:extLst>
              <a:ext uri="{FF2B5EF4-FFF2-40B4-BE49-F238E27FC236}">
                <a16:creationId xmlns:a16="http://schemas.microsoft.com/office/drawing/2014/main" id="{AF64CF89-0BBE-D590-0A33-9D0B3155D051}"/>
              </a:ext>
            </a:extLst>
          </p:cNvPr>
          <p:cNvSpPr/>
          <p:nvPr/>
        </p:nvSpPr>
        <p:spPr>
          <a:xfrm>
            <a:off x="3334755" y="3464814"/>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9" name="Shape 31">
            <a:extLst>
              <a:ext uri="{FF2B5EF4-FFF2-40B4-BE49-F238E27FC236}">
                <a16:creationId xmlns:a16="http://schemas.microsoft.com/office/drawing/2014/main" id="{A59F8ABE-3E84-32A7-F100-7F2C83484C81}"/>
              </a:ext>
            </a:extLst>
          </p:cNvPr>
          <p:cNvSpPr/>
          <p:nvPr/>
        </p:nvSpPr>
        <p:spPr>
          <a:xfrm>
            <a:off x="3426195" y="3373374"/>
            <a:ext cx="1274064" cy="329184"/>
          </a:xfrm>
          <a:prstGeom prst="roundRect">
            <a:avLst>
              <a:gd name="adj" fmla="val 16667"/>
            </a:avLst>
          </a:prstGeom>
          <a:solidFill>
            <a:schemeClr val="tx1"/>
          </a:solidFill>
          <a:ln w="12700">
            <a:noFill/>
            <a:prstDash val="solid"/>
          </a:ln>
        </p:spPr>
        <p:txBody>
          <a:bodyPr/>
          <a:lstStyle/>
          <a:p>
            <a:endParaRPr lang="ja-JP" altLang="en-US" sz="800">
              <a:latin typeface="メイリオ" panose="020B0604030504040204" pitchFamily="50" charset="-128"/>
              <a:ea typeface="メイリオ" panose="020B0604030504040204" pitchFamily="50" charset="-128"/>
            </a:endParaRPr>
          </a:p>
        </p:txBody>
      </p:sp>
      <p:sp>
        <p:nvSpPr>
          <p:cNvPr id="291" name="Text 32">
            <a:extLst>
              <a:ext uri="{FF2B5EF4-FFF2-40B4-BE49-F238E27FC236}">
                <a16:creationId xmlns:a16="http://schemas.microsoft.com/office/drawing/2014/main" id="{DFCEB467-89AA-CC7A-AE80-E30F3A21DA5C}"/>
              </a:ext>
            </a:extLst>
          </p:cNvPr>
          <p:cNvSpPr/>
          <p:nvPr/>
        </p:nvSpPr>
        <p:spPr>
          <a:xfrm>
            <a:off x="3426195" y="3373374"/>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友だち追加</a:t>
            </a:r>
            <a:endParaRPr lang="en-US" sz="700" dirty="0">
              <a:latin typeface="メイリオ" panose="020B0604030504040204" pitchFamily="50" charset="-128"/>
              <a:ea typeface="メイリオ" panose="020B0604030504040204" pitchFamily="50" charset="-128"/>
            </a:endParaRPr>
          </a:p>
        </p:txBody>
      </p:sp>
      <p:sp>
        <p:nvSpPr>
          <p:cNvPr id="293" name="Shape 33">
            <a:extLst>
              <a:ext uri="{FF2B5EF4-FFF2-40B4-BE49-F238E27FC236}">
                <a16:creationId xmlns:a16="http://schemas.microsoft.com/office/drawing/2014/main" id="{1BECB815-6070-49FB-327C-8C81ADE9C9A4}"/>
              </a:ext>
            </a:extLst>
          </p:cNvPr>
          <p:cNvSpPr/>
          <p:nvPr/>
        </p:nvSpPr>
        <p:spPr>
          <a:xfrm>
            <a:off x="603747" y="384886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7" name="Shape 35">
            <a:extLst>
              <a:ext uri="{FF2B5EF4-FFF2-40B4-BE49-F238E27FC236}">
                <a16:creationId xmlns:a16="http://schemas.microsoft.com/office/drawing/2014/main" id="{8975206F-9C1B-B632-6774-C18FE5D889D0}"/>
              </a:ext>
            </a:extLst>
          </p:cNvPr>
          <p:cNvSpPr/>
          <p:nvPr/>
        </p:nvSpPr>
        <p:spPr>
          <a:xfrm>
            <a:off x="713475" y="394030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9" name="Text 36">
            <a:extLst>
              <a:ext uri="{FF2B5EF4-FFF2-40B4-BE49-F238E27FC236}">
                <a16:creationId xmlns:a16="http://schemas.microsoft.com/office/drawing/2014/main" id="{8BA14BF1-A613-57E7-03CB-725B3C62074A}"/>
              </a:ext>
            </a:extLst>
          </p:cNvPr>
          <p:cNvSpPr/>
          <p:nvPr/>
        </p:nvSpPr>
        <p:spPr>
          <a:xfrm>
            <a:off x="713475" y="394030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3" name="Text 38">
            <a:extLst>
              <a:ext uri="{FF2B5EF4-FFF2-40B4-BE49-F238E27FC236}">
                <a16:creationId xmlns:a16="http://schemas.microsoft.com/office/drawing/2014/main" id="{4C39AC04-3638-D60D-DAEF-A34EE2A29086}"/>
              </a:ext>
            </a:extLst>
          </p:cNvPr>
          <p:cNvSpPr/>
          <p:nvPr/>
        </p:nvSpPr>
        <p:spPr>
          <a:xfrm>
            <a:off x="1060947" y="3967734"/>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離脱防止</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5" name="Text 39">
            <a:extLst>
              <a:ext uri="{FF2B5EF4-FFF2-40B4-BE49-F238E27FC236}">
                <a16:creationId xmlns:a16="http://schemas.microsoft.com/office/drawing/2014/main" id="{65FFEC87-48E1-7E1B-7864-8D4BE90902D9}"/>
              </a:ext>
            </a:extLst>
          </p:cNvPr>
          <p:cNvSpPr/>
          <p:nvPr/>
        </p:nvSpPr>
        <p:spPr>
          <a:xfrm>
            <a:off x="1975347" y="3940302"/>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サイト滞在ユーザーへのポップアップ表示</a:t>
            </a:r>
            <a:endParaRPr lang="en-US" sz="1000" dirty="0">
              <a:latin typeface="メイリオ" panose="020B0604030504040204" pitchFamily="50" charset="-128"/>
              <a:ea typeface="メイリオ" panose="020B0604030504040204" pitchFamily="50" charset="-128"/>
            </a:endParaRPr>
          </a:p>
        </p:txBody>
      </p:sp>
      <p:sp>
        <p:nvSpPr>
          <p:cNvPr id="307" name="Text 40">
            <a:extLst>
              <a:ext uri="{FF2B5EF4-FFF2-40B4-BE49-F238E27FC236}">
                <a16:creationId xmlns:a16="http://schemas.microsoft.com/office/drawing/2014/main" id="{4D4E02D9-8D3A-B52C-98F8-C4162B5CCBF1}"/>
              </a:ext>
            </a:extLst>
          </p:cNvPr>
          <p:cNvSpPr/>
          <p:nvPr/>
        </p:nvSpPr>
        <p:spPr>
          <a:xfrm>
            <a:off x="713475" y="4269486"/>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一定時間閲覧・離脱意図を検知した際にLINE追加バナーを表示。「今すぐ問い合わせ」より「無料で資料受け取る」のCTAがCVRを向上させる。</a:t>
            </a:r>
            <a:endParaRPr lang="en-US" sz="600" dirty="0">
              <a:latin typeface="メイリオ" panose="020B0604030504040204" pitchFamily="50" charset="-128"/>
              <a:ea typeface="メイリオ" panose="020B0604030504040204" pitchFamily="50" charset="-128"/>
            </a:endParaRPr>
          </a:p>
        </p:txBody>
      </p:sp>
      <p:sp>
        <p:nvSpPr>
          <p:cNvPr id="309" name="Shape 41">
            <a:extLst>
              <a:ext uri="{FF2B5EF4-FFF2-40B4-BE49-F238E27FC236}">
                <a16:creationId xmlns:a16="http://schemas.microsoft.com/office/drawing/2014/main" id="{4ACBB8E7-2F20-7BE2-4CE1-5E63FB2D2A19}"/>
              </a:ext>
            </a:extLst>
          </p:cNvPr>
          <p:cNvSpPr/>
          <p:nvPr/>
        </p:nvSpPr>
        <p:spPr>
          <a:xfrm>
            <a:off x="695187" y="4616958"/>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1" name="Text 42">
            <a:extLst>
              <a:ext uri="{FF2B5EF4-FFF2-40B4-BE49-F238E27FC236}">
                <a16:creationId xmlns:a16="http://schemas.microsoft.com/office/drawing/2014/main" id="{801F8A22-4494-B935-6101-F68A1F96B362}"/>
              </a:ext>
            </a:extLst>
          </p:cNvPr>
          <p:cNvSpPr/>
          <p:nvPr/>
        </p:nvSpPr>
        <p:spPr>
          <a:xfrm>
            <a:off x="695187" y="4616958"/>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離脱検知</a:t>
            </a:r>
            <a:endParaRPr lang="en-US" sz="700" dirty="0">
              <a:latin typeface="メイリオ" panose="020B0604030504040204" pitchFamily="50" charset="-128"/>
              <a:ea typeface="メイリオ" panose="020B0604030504040204" pitchFamily="50" charset="-128"/>
            </a:endParaRPr>
          </a:p>
        </p:txBody>
      </p:sp>
      <p:sp>
        <p:nvSpPr>
          <p:cNvPr id="313" name="Shape 43">
            <a:extLst>
              <a:ext uri="{FF2B5EF4-FFF2-40B4-BE49-F238E27FC236}">
                <a16:creationId xmlns:a16="http://schemas.microsoft.com/office/drawing/2014/main" id="{5A6F984C-63AF-ACD2-BF62-D30F1D25838C}"/>
              </a:ext>
            </a:extLst>
          </p:cNvPr>
          <p:cNvSpPr/>
          <p:nvPr/>
        </p:nvSpPr>
        <p:spPr>
          <a:xfrm>
            <a:off x="1969251" y="470839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5" name="Text 44">
            <a:extLst>
              <a:ext uri="{FF2B5EF4-FFF2-40B4-BE49-F238E27FC236}">
                <a16:creationId xmlns:a16="http://schemas.microsoft.com/office/drawing/2014/main" id="{898D2A9B-2C91-5C0E-E0D1-08EC04B5B101}"/>
              </a:ext>
            </a:extLst>
          </p:cNvPr>
          <p:cNvSpPr/>
          <p:nvPr/>
        </p:nvSpPr>
        <p:spPr>
          <a:xfrm>
            <a:off x="1969251" y="4708398"/>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7" name="Shape 45">
            <a:extLst>
              <a:ext uri="{FF2B5EF4-FFF2-40B4-BE49-F238E27FC236}">
                <a16:creationId xmlns:a16="http://schemas.microsoft.com/office/drawing/2014/main" id="{73ECF984-984E-E268-3600-20C40EDFB08B}"/>
              </a:ext>
            </a:extLst>
          </p:cNvPr>
          <p:cNvSpPr/>
          <p:nvPr/>
        </p:nvSpPr>
        <p:spPr>
          <a:xfrm>
            <a:off x="2060691" y="4616958"/>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9" name="Text 46">
            <a:extLst>
              <a:ext uri="{FF2B5EF4-FFF2-40B4-BE49-F238E27FC236}">
                <a16:creationId xmlns:a16="http://schemas.microsoft.com/office/drawing/2014/main" id="{CF65025C-BF9E-DD3E-F624-8D11792E90C8}"/>
              </a:ext>
            </a:extLst>
          </p:cNvPr>
          <p:cNvSpPr/>
          <p:nvPr/>
        </p:nvSpPr>
        <p:spPr>
          <a:xfrm>
            <a:off x="2060691" y="4616958"/>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ポップアップ表示</a:t>
            </a:r>
            <a:endParaRPr lang="en-US" sz="700" dirty="0">
              <a:latin typeface="メイリオ" panose="020B0604030504040204" pitchFamily="50" charset="-128"/>
              <a:ea typeface="メイリオ" panose="020B0604030504040204" pitchFamily="50" charset="-128"/>
            </a:endParaRPr>
          </a:p>
        </p:txBody>
      </p:sp>
      <p:sp>
        <p:nvSpPr>
          <p:cNvPr id="321" name="Shape 47">
            <a:extLst>
              <a:ext uri="{FF2B5EF4-FFF2-40B4-BE49-F238E27FC236}">
                <a16:creationId xmlns:a16="http://schemas.microsoft.com/office/drawing/2014/main" id="{D4367962-B456-5285-6F36-9C11FF008F9C}"/>
              </a:ext>
            </a:extLst>
          </p:cNvPr>
          <p:cNvSpPr/>
          <p:nvPr/>
        </p:nvSpPr>
        <p:spPr>
          <a:xfrm>
            <a:off x="3334755" y="470839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3" name="Text 48">
            <a:extLst>
              <a:ext uri="{FF2B5EF4-FFF2-40B4-BE49-F238E27FC236}">
                <a16:creationId xmlns:a16="http://schemas.microsoft.com/office/drawing/2014/main" id="{A419A458-B799-4951-9FF6-942FE396F15A}"/>
              </a:ext>
            </a:extLst>
          </p:cNvPr>
          <p:cNvSpPr/>
          <p:nvPr/>
        </p:nvSpPr>
        <p:spPr>
          <a:xfrm>
            <a:off x="3334755" y="4708398"/>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5" name="Shape 49">
            <a:extLst>
              <a:ext uri="{FF2B5EF4-FFF2-40B4-BE49-F238E27FC236}">
                <a16:creationId xmlns:a16="http://schemas.microsoft.com/office/drawing/2014/main" id="{6D1A4CA3-33E1-E41B-7C83-F990FB5BE3FD}"/>
              </a:ext>
            </a:extLst>
          </p:cNvPr>
          <p:cNvSpPr/>
          <p:nvPr/>
        </p:nvSpPr>
        <p:spPr>
          <a:xfrm>
            <a:off x="3426195" y="4616958"/>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27" name="Text 50">
            <a:extLst>
              <a:ext uri="{FF2B5EF4-FFF2-40B4-BE49-F238E27FC236}">
                <a16:creationId xmlns:a16="http://schemas.microsoft.com/office/drawing/2014/main" id="{C59264FC-5AE8-9BB2-623A-9DEF6D9D796C}"/>
              </a:ext>
            </a:extLst>
          </p:cNvPr>
          <p:cNvSpPr/>
          <p:nvPr/>
        </p:nvSpPr>
        <p:spPr>
          <a:xfrm>
            <a:off x="3426195" y="4616958"/>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LINE追加</a:t>
            </a:r>
            <a:endParaRPr lang="en-US" sz="700" dirty="0">
              <a:latin typeface="メイリオ" panose="020B0604030504040204" pitchFamily="50" charset="-128"/>
              <a:ea typeface="メイリオ" panose="020B0604030504040204" pitchFamily="50" charset="-128"/>
            </a:endParaRPr>
          </a:p>
        </p:txBody>
      </p:sp>
      <p:sp>
        <p:nvSpPr>
          <p:cNvPr id="329" name="Shape 51">
            <a:extLst>
              <a:ext uri="{FF2B5EF4-FFF2-40B4-BE49-F238E27FC236}">
                <a16:creationId xmlns:a16="http://schemas.microsoft.com/office/drawing/2014/main" id="{6D963E5B-1138-2B0E-0167-B5B9BF716186}"/>
              </a:ext>
            </a:extLst>
          </p:cNvPr>
          <p:cNvSpPr/>
          <p:nvPr/>
        </p:nvSpPr>
        <p:spPr>
          <a:xfrm>
            <a:off x="603747" y="509244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3" name="Shape 53">
            <a:extLst>
              <a:ext uri="{FF2B5EF4-FFF2-40B4-BE49-F238E27FC236}">
                <a16:creationId xmlns:a16="http://schemas.microsoft.com/office/drawing/2014/main" id="{2F6F51E4-22ED-423C-D348-1FBBE8111C30}"/>
              </a:ext>
            </a:extLst>
          </p:cNvPr>
          <p:cNvSpPr/>
          <p:nvPr/>
        </p:nvSpPr>
        <p:spPr>
          <a:xfrm>
            <a:off x="713475" y="518388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5" name="Text 54">
            <a:extLst>
              <a:ext uri="{FF2B5EF4-FFF2-40B4-BE49-F238E27FC236}">
                <a16:creationId xmlns:a16="http://schemas.microsoft.com/office/drawing/2014/main" id="{89F3FA46-BAFD-DBEA-D8E2-4D32A77DBE47}"/>
              </a:ext>
            </a:extLst>
          </p:cNvPr>
          <p:cNvSpPr/>
          <p:nvPr/>
        </p:nvSpPr>
        <p:spPr>
          <a:xfrm>
            <a:off x="713475" y="5183886"/>
            <a:ext cx="274320" cy="274320"/>
          </a:xfrm>
          <a:prstGeom prst="rect">
            <a:avLst/>
          </a:prstGeom>
          <a:noFill/>
          <a:ln>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9" name="Text 56">
            <a:extLst>
              <a:ext uri="{FF2B5EF4-FFF2-40B4-BE49-F238E27FC236}">
                <a16:creationId xmlns:a16="http://schemas.microsoft.com/office/drawing/2014/main" id="{18FC6107-EEDB-D5C0-0493-D5024B31930A}"/>
              </a:ext>
            </a:extLst>
          </p:cNvPr>
          <p:cNvSpPr/>
          <p:nvPr/>
        </p:nvSpPr>
        <p:spPr>
          <a:xfrm>
            <a:off x="1060947" y="5211318"/>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LINE広告</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41" name="Text 57">
            <a:extLst>
              <a:ext uri="{FF2B5EF4-FFF2-40B4-BE49-F238E27FC236}">
                <a16:creationId xmlns:a16="http://schemas.microsoft.com/office/drawing/2014/main" id="{C7099D20-6647-411E-495C-A262E2099219}"/>
              </a:ext>
            </a:extLst>
          </p:cNvPr>
          <p:cNvSpPr/>
          <p:nvPr/>
        </p:nvSpPr>
        <p:spPr>
          <a:xfrm>
            <a:off x="1975347" y="518388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LINE広告（CPF）で友だち追加を直接獲得</a:t>
            </a:r>
            <a:endParaRPr lang="en-US" sz="1000" dirty="0">
              <a:latin typeface="メイリオ" panose="020B0604030504040204" pitchFamily="50" charset="-128"/>
              <a:ea typeface="メイリオ" panose="020B0604030504040204" pitchFamily="50" charset="-128"/>
            </a:endParaRPr>
          </a:p>
        </p:txBody>
      </p:sp>
      <p:sp>
        <p:nvSpPr>
          <p:cNvPr id="343" name="Text 58">
            <a:extLst>
              <a:ext uri="{FF2B5EF4-FFF2-40B4-BE49-F238E27FC236}">
                <a16:creationId xmlns:a16="http://schemas.microsoft.com/office/drawing/2014/main" id="{E2CBABF1-E10B-8655-69E8-9A7C51A6D9E3}"/>
              </a:ext>
            </a:extLst>
          </p:cNvPr>
          <p:cNvSpPr/>
          <p:nvPr/>
        </p:nvSpPr>
        <p:spPr>
          <a:xfrm>
            <a:off x="713475" y="5513070"/>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LINEのタイムラインに広告を配信し、タップするだけで友だち追加が完了するCPFを活用。フォーム入力ゼロで大量リストを獲得できる。</a:t>
            </a:r>
            <a:endParaRPr lang="en-US" sz="600" dirty="0">
              <a:latin typeface="メイリオ" panose="020B0604030504040204" pitchFamily="50" charset="-128"/>
              <a:ea typeface="メイリオ" panose="020B0604030504040204" pitchFamily="50" charset="-128"/>
            </a:endParaRPr>
          </a:p>
        </p:txBody>
      </p:sp>
      <p:sp>
        <p:nvSpPr>
          <p:cNvPr id="345" name="Shape 59">
            <a:extLst>
              <a:ext uri="{FF2B5EF4-FFF2-40B4-BE49-F238E27FC236}">
                <a16:creationId xmlns:a16="http://schemas.microsoft.com/office/drawing/2014/main" id="{F7FA16E9-28E9-5FAA-0B5A-2DEB195507E8}"/>
              </a:ext>
            </a:extLst>
          </p:cNvPr>
          <p:cNvSpPr/>
          <p:nvPr/>
        </p:nvSpPr>
        <p:spPr>
          <a:xfrm>
            <a:off x="695187" y="5860542"/>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47" name="Text 60">
            <a:extLst>
              <a:ext uri="{FF2B5EF4-FFF2-40B4-BE49-F238E27FC236}">
                <a16:creationId xmlns:a16="http://schemas.microsoft.com/office/drawing/2014/main" id="{E2B42AA0-132E-2BD1-9170-8FB822F9DD8D}"/>
              </a:ext>
            </a:extLst>
          </p:cNvPr>
          <p:cNvSpPr/>
          <p:nvPr/>
        </p:nvSpPr>
        <p:spPr>
          <a:xfrm>
            <a:off x="695187" y="586054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LINE広告配信</a:t>
            </a:r>
            <a:endParaRPr lang="en-US" sz="700" dirty="0">
              <a:latin typeface="メイリオ" panose="020B0604030504040204" pitchFamily="50" charset="-128"/>
              <a:ea typeface="メイリオ" panose="020B0604030504040204" pitchFamily="50" charset="-128"/>
            </a:endParaRPr>
          </a:p>
        </p:txBody>
      </p:sp>
      <p:sp>
        <p:nvSpPr>
          <p:cNvPr id="349" name="Shape 61">
            <a:extLst>
              <a:ext uri="{FF2B5EF4-FFF2-40B4-BE49-F238E27FC236}">
                <a16:creationId xmlns:a16="http://schemas.microsoft.com/office/drawing/2014/main" id="{2D2F38BD-F703-1322-C0EB-FF7E51A439E3}"/>
              </a:ext>
            </a:extLst>
          </p:cNvPr>
          <p:cNvSpPr/>
          <p:nvPr/>
        </p:nvSpPr>
        <p:spPr>
          <a:xfrm>
            <a:off x="1969251" y="595198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1" name="Text 62">
            <a:extLst>
              <a:ext uri="{FF2B5EF4-FFF2-40B4-BE49-F238E27FC236}">
                <a16:creationId xmlns:a16="http://schemas.microsoft.com/office/drawing/2014/main" id="{C2B3A8C9-C9C1-FA05-756B-E4822346E20D}"/>
              </a:ext>
            </a:extLst>
          </p:cNvPr>
          <p:cNvSpPr/>
          <p:nvPr/>
        </p:nvSpPr>
        <p:spPr>
          <a:xfrm>
            <a:off x="1969251" y="5951982"/>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3" name="Shape 63">
            <a:extLst>
              <a:ext uri="{FF2B5EF4-FFF2-40B4-BE49-F238E27FC236}">
                <a16:creationId xmlns:a16="http://schemas.microsoft.com/office/drawing/2014/main" id="{BD3E93B4-E548-6909-FB3B-06C1E8639169}"/>
              </a:ext>
            </a:extLst>
          </p:cNvPr>
          <p:cNvSpPr/>
          <p:nvPr/>
        </p:nvSpPr>
        <p:spPr>
          <a:xfrm>
            <a:off x="2060691" y="5860542"/>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55" name="Text 64">
            <a:extLst>
              <a:ext uri="{FF2B5EF4-FFF2-40B4-BE49-F238E27FC236}">
                <a16:creationId xmlns:a16="http://schemas.microsoft.com/office/drawing/2014/main" id="{A6256185-6AD4-3A20-1F48-E2EF9D4891CE}"/>
              </a:ext>
            </a:extLst>
          </p:cNvPr>
          <p:cNvSpPr/>
          <p:nvPr/>
        </p:nvSpPr>
        <p:spPr>
          <a:xfrm>
            <a:off x="2060691" y="586054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タップ1回</a:t>
            </a:r>
            <a:endParaRPr lang="en-US" sz="700" dirty="0">
              <a:latin typeface="メイリオ" panose="020B0604030504040204" pitchFamily="50" charset="-128"/>
              <a:ea typeface="メイリオ" panose="020B0604030504040204" pitchFamily="50" charset="-128"/>
            </a:endParaRPr>
          </a:p>
        </p:txBody>
      </p:sp>
      <p:sp>
        <p:nvSpPr>
          <p:cNvPr id="357" name="Shape 65">
            <a:extLst>
              <a:ext uri="{FF2B5EF4-FFF2-40B4-BE49-F238E27FC236}">
                <a16:creationId xmlns:a16="http://schemas.microsoft.com/office/drawing/2014/main" id="{3BF64739-BCDC-698F-EF0E-28E1322565B2}"/>
              </a:ext>
            </a:extLst>
          </p:cNvPr>
          <p:cNvSpPr/>
          <p:nvPr/>
        </p:nvSpPr>
        <p:spPr>
          <a:xfrm>
            <a:off x="3334755" y="595198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9" name="Text 66">
            <a:extLst>
              <a:ext uri="{FF2B5EF4-FFF2-40B4-BE49-F238E27FC236}">
                <a16:creationId xmlns:a16="http://schemas.microsoft.com/office/drawing/2014/main" id="{DC3E4D69-6A59-7489-79CB-99F94D990D7A}"/>
              </a:ext>
            </a:extLst>
          </p:cNvPr>
          <p:cNvSpPr/>
          <p:nvPr/>
        </p:nvSpPr>
        <p:spPr>
          <a:xfrm>
            <a:off x="3334755" y="5951982"/>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61" name="Shape 67">
            <a:extLst>
              <a:ext uri="{FF2B5EF4-FFF2-40B4-BE49-F238E27FC236}">
                <a16:creationId xmlns:a16="http://schemas.microsoft.com/office/drawing/2014/main" id="{9ADB30CA-F6EE-C089-A57A-6F22275FEAB4}"/>
              </a:ext>
            </a:extLst>
          </p:cNvPr>
          <p:cNvSpPr/>
          <p:nvPr/>
        </p:nvSpPr>
        <p:spPr>
          <a:xfrm>
            <a:off x="3426195" y="5860542"/>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63" name="Text 68">
            <a:extLst>
              <a:ext uri="{FF2B5EF4-FFF2-40B4-BE49-F238E27FC236}">
                <a16:creationId xmlns:a16="http://schemas.microsoft.com/office/drawing/2014/main" id="{98B08C9C-D511-6B94-9B7A-44C6A5439875}"/>
              </a:ext>
            </a:extLst>
          </p:cNvPr>
          <p:cNvSpPr/>
          <p:nvPr/>
        </p:nvSpPr>
        <p:spPr>
          <a:xfrm>
            <a:off x="3426195" y="586054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友だち追加完了</a:t>
            </a:r>
            <a:endParaRPr lang="en-US" sz="700" dirty="0">
              <a:latin typeface="メイリオ" panose="020B0604030504040204" pitchFamily="50" charset="-128"/>
              <a:ea typeface="メイリオ" panose="020B0604030504040204" pitchFamily="50" charset="-128"/>
            </a:endParaRPr>
          </a:p>
        </p:txBody>
      </p:sp>
      <p:sp>
        <p:nvSpPr>
          <p:cNvPr id="365" name="Shape 69">
            <a:extLst>
              <a:ext uri="{FF2B5EF4-FFF2-40B4-BE49-F238E27FC236}">
                <a16:creationId xmlns:a16="http://schemas.microsoft.com/office/drawing/2014/main" id="{D6B35E10-B1AC-F1BF-E6B4-49DBF665E15B}"/>
              </a:ext>
            </a:extLst>
          </p:cNvPr>
          <p:cNvSpPr/>
          <p:nvPr/>
        </p:nvSpPr>
        <p:spPr>
          <a:xfrm>
            <a:off x="5047731" y="2605278"/>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9" name="Shape 71">
            <a:extLst>
              <a:ext uri="{FF2B5EF4-FFF2-40B4-BE49-F238E27FC236}">
                <a16:creationId xmlns:a16="http://schemas.microsoft.com/office/drawing/2014/main" id="{68234D9A-1E80-F88C-68E3-9B0BD913573C}"/>
              </a:ext>
            </a:extLst>
          </p:cNvPr>
          <p:cNvSpPr/>
          <p:nvPr/>
        </p:nvSpPr>
        <p:spPr>
          <a:xfrm>
            <a:off x="5157459" y="2696718"/>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1" name="Text 72">
            <a:extLst>
              <a:ext uri="{FF2B5EF4-FFF2-40B4-BE49-F238E27FC236}">
                <a16:creationId xmlns:a16="http://schemas.microsoft.com/office/drawing/2014/main" id="{552F05CD-97BD-C4BE-A13E-740BB4C11A0B}"/>
              </a:ext>
            </a:extLst>
          </p:cNvPr>
          <p:cNvSpPr/>
          <p:nvPr/>
        </p:nvSpPr>
        <p:spPr>
          <a:xfrm>
            <a:off x="5157459" y="2696718"/>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5" name="Text 74">
            <a:extLst>
              <a:ext uri="{FF2B5EF4-FFF2-40B4-BE49-F238E27FC236}">
                <a16:creationId xmlns:a16="http://schemas.microsoft.com/office/drawing/2014/main" id="{DF4277DC-C449-82E4-95E9-6A760DB1A9BE}"/>
              </a:ext>
            </a:extLst>
          </p:cNvPr>
          <p:cNvSpPr/>
          <p:nvPr/>
        </p:nvSpPr>
        <p:spPr>
          <a:xfrm>
            <a:off x="5504931" y="2724150"/>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無料特典</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7" name="Text 75">
            <a:extLst>
              <a:ext uri="{FF2B5EF4-FFF2-40B4-BE49-F238E27FC236}">
                <a16:creationId xmlns:a16="http://schemas.microsoft.com/office/drawing/2014/main" id="{26E53970-4631-F503-9567-2A93A8696D8A}"/>
              </a:ext>
            </a:extLst>
          </p:cNvPr>
          <p:cNvSpPr/>
          <p:nvPr/>
        </p:nvSpPr>
        <p:spPr>
          <a:xfrm>
            <a:off x="6419331" y="2696718"/>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業界特化の無料チェックリスト・資料を配布</a:t>
            </a:r>
            <a:endParaRPr lang="en-US" sz="1000" dirty="0">
              <a:latin typeface="メイリオ" panose="020B0604030504040204" pitchFamily="50" charset="-128"/>
              <a:ea typeface="メイリオ" panose="020B0604030504040204" pitchFamily="50" charset="-128"/>
            </a:endParaRPr>
          </a:p>
        </p:txBody>
      </p:sp>
      <p:sp>
        <p:nvSpPr>
          <p:cNvPr id="379" name="Text 76">
            <a:extLst>
              <a:ext uri="{FF2B5EF4-FFF2-40B4-BE49-F238E27FC236}">
                <a16:creationId xmlns:a16="http://schemas.microsoft.com/office/drawing/2014/main" id="{2D8E133D-EC4C-5575-4BD8-86BE9F65DDF1}"/>
              </a:ext>
            </a:extLst>
          </p:cNvPr>
          <p:cNvSpPr/>
          <p:nvPr/>
        </p:nvSpPr>
        <p:spPr>
          <a:xfrm>
            <a:off x="5157459" y="3025902"/>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「登録するだけでもらえる」特典を用意することで登録動機を明確化。業界固有の課題解決系コンテンツ（チェックシート・業界レポート等）が最もCV率が高い。</a:t>
            </a:r>
            <a:endParaRPr lang="en-US" sz="600" dirty="0">
              <a:latin typeface="メイリオ" panose="020B0604030504040204" pitchFamily="50" charset="-128"/>
              <a:ea typeface="メイリオ" panose="020B0604030504040204" pitchFamily="50" charset="-128"/>
            </a:endParaRPr>
          </a:p>
        </p:txBody>
      </p:sp>
      <p:sp>
        <p:nvSpPr>
          <p:cNvPr id="381" name="Shape 77">
            <a:extLst>
              <a:ext uri="{FF2B5EF4-FFF2-40B4-BE49-F238E27FC236}">
                <a16:creationId xmlns:a16="http://schemas.microsoft.com/office/drawing/2014/main" id="{31E10F06-F863-67FA-6DAC-010C215B84E8}"/>
              </a:ext>
            </a:extLst>
          </p:cNvPr>
          <p:cNvSpPr/>
          <p:nvPr/>
        </p:nvSpPr>
        <p:spPr>
          <a:xfrm>
            <a:off x="5139171" y="3373374"/>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83" name="Text 78">
            <a:extLst>
              <a:ext uri="{FF2B5EF4-FFF2-40B4-BE49-F238E27FC236}">
                <a16:creationId xmlns:a16="http://schemas.microsoft.com/office/drawing/2014/main" id="{6C9F3ABA-2FF8-FD90-4A48-758E002398FB}"/>
              </a:ext>
            </a:extLst>
          </p:cNvPr>
          <p:cNvSpPr/>
          <p:nvPr/>
        </p:nvSpPr>
        <p:spPr>
          <a:xfrm>
            <a:off x="5139171" y="3373374"/>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特典を訴求</a:t>
            </a:r>
            <a:endParaRPr lang="en-US" sz="700" dirty="0">
              <a:latin typeface="メイリオ" panose="020B0604030504040204" pitchFamily="50" charset="-128"/>
              <a:ea typeface="メイリオ" panose="020B0604030504040204" pitchFamily="50" charset="-128"/>
            </a:endParaRPr>
          </a:p>
        </p:txBody>
      </p:sp>
      <p:sp>
        <p:nvSpPr>
          <p:cNvPr id="385" name="Shape 79">
            <a:extLst>
              <a:ext uri="{FF2B5EF4-FFF2-40B4-BE49-F238E27FC236}">
                <a16:creationId xmlns:a16="http://schemas.microsoft.com/office/drawing/2014/main" id="{E72C78D1-0BB9-916F-36B5-7479F8CE5D3C}"/>
              </a:ext>
            </a:extLst>
          </p:cNvPr>
          <p:cNvSpPr/>
          <p:nvPr/>
        </p:nvSpPr>
        <p:spPr>
          <a:xfrm>
            <a:off x="6413235" y="346481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7" name="Text 80">
            <a:extLst>
              <a:ext uri="{FF2B5EF4-FFF2-40B4-BE49-F238E27FC236}">
                <a16:creationId xmlns:a16="http://schemas.microsoft.com/office/drawing/2014/main" id="{BC0BBF5B-BAF8-E70E-8B07-996AA9432035}"/>
              </a:ext>
            </a:extLst>
          </p:cNvPr>
          <p:cNvSpPr/>
          <p:nvPr/>
        </p:nvSpPr>
        <p:spPr>
          <a:xfrm>
            <a:off x="6413235" y="3464814"/>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89" name="Shape 81">
            <a:extLst>
              <a:ext uri="{FF2B5EF4-FFF2-40B4-BE49-F238E27FC236}">
                <a16:creationId xmlns:a16="http://schemas.microsoft.com/office/drawing/2014/main" id="{408D8BF9-9A64-3437-189F-7AB6EF573C7B}"/>
              </a:ext>
            </a:extLst>
          </p:cNvPr>
          <p:cNvSpPr/>
          <p:nvPr/>
        </p:nvSpPr>
        <p:spPr>
          <a:xfrm>
            <a:off x="6504675" y="3373374"/>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91" name="Text 82">
            <a:extLst>
              <a:ext uri="{FF2B5EF4-FFF2-40B4-BE49-F238E27FC236}">
                <a16:creationId xmlns:a16="http://schemas.microsoft.com/office/drawing/2014/main" id="{143086EA-358A-8358-5A98-D73784BCDE63}"/>
              </a:ext>
            </a:extLst>
          </p:cNvPr>
          <p:cNvSpPr/>
          <p:nvPr/>
        </p:nvSpPr>
        <p:spPr>
          <a:xfrm>
            <a:off x="6504675" y="3373374"/>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LINE登録</a:t>
            </a:r>
            <a:endParaRPr lang="en-US" sz="700" dirty="0">
              <a:latin typeface="メイリオ" panose="020B0604030504040204" pitchFamily="50" charset="-128"/>
              <a:ea typeface="メイリオ" panose="020B0604030504040204" pitchFamily="50" charset="-128"/>
            </a:endParaRPr>
          </a:p>
        </p:txBody>
      </p:sp>
      <p:sp>
        <p:nvSpPr>
          <p:cNvPr id="393" name="Shape 83">
            <a:extLst>
              <a:ext uri="{FF2B5EF4-FFF2-40B4-BE49-F238E27FC236}">
                <a16:creationId xmlns:a16="http://schemas.microsoft.com/office/drawing/2014/main" id="{735AC242-9C22-523C-8493-ED1444186A4A}"/>
              </a:ext>
            </a:extLst>
          </p:cNvPr>
          <p:cNvSpPr/>
          <p:nvPr/>
        </p:nvSpPr>
        <p:spPr>
          <a:xfrm>
            <a:off x="7778739" y="346481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5" name="Text 84">
            <a:extLst>
              <a:ext uri="{FF2B5EF4-FFF2-40B4-BE49-F238E27FC236}">
                <a16:creationId xmlns:a16="http://schemas.microsoft.com/office/drawing/2014/main" id="{5CA0A665-628D-A550-FA00-F6977D3E7726}"/>
              </a:ext>
            </a:extLst>
          </p:cNvPr>
          <p:cNvSpPr/>
          <p:nvPr/>
        </p:nvSpPr>
        <p:spPr>
          <a:xfrm>
            <a:off x="7778739" y="3464814"/>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7" name="Shape 85">
            <a:extLst>
              <a:ext uri="{FF2B5EF4-FFF2-40B4-BE49-F238E27FC236}">
                <a16:creationId xmlns:a16="http://schemas.microsoft.com/office/drawing/2014/main" id="{C421B86C-B079-C4D9-00AC-3FDB83FD4088}"/>
              </a:ext>
            </a:extLst>
          </p:cNvPr>
          <p:cNvSpPr/>
          <p:nvPr/>
        </p:nvSpPr>
        <p:spPr>
          <a:xfrm>
            <a:off x="7870179" y="3373374"/>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99" name="Text 86">
            <a:extLst>
              <a:ext uri="{FF2B5EF4-FFF2-40B4-BE49-F238E27FC236}">
                <a16:creationId xmlns:a16="http://schemas.microsoft.com/office/drawing/2014/main" id="{C9D03C7D-B81E-970A-1517-18C66C14BA76}"/>
              </a:ext>
            </a:extLst>
          </p:cNvPr>
          <p:cNvSpPr/>
          <p:nvPr/>
        </p:nvSpPr>
        <p:spPr>
          <a:xfrm>
            <a:off x="7870179" y="3373374"/>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即時受け取り</a:t>
            </a:r>
            <a:endParaRPr lang="en-US" sz="700" dirty="0">
              <a:latin typeface="メイリオ" panose="020B0604030504040204" pitchFamily="50" charset="-128"/>
              <a:ea typeface="メイリオ" panose="020B0604030504040204" pitchFamily="50" charset="-128"/>
            </a:endParaRPr>
          </a:p>
        </p:txBody>
      </p:sp>
      <p:sp>
        <p:nvSpPr>
          <p:cNvPr id="401" name="Shape 87">
            <a:extLst>
              <a:ext uri="{FF2B5EF4-FFF2-40B4-BE49-F238E27FC236}">
                <a16:creationId xmlns:a16="http://schemas.microsoft.com/office/drawing/2014/main" id="{5F9AA049-EA0A-0919-98F9-2182FAADD0F3}"/>
              </a:ext>
            </a:extLst>
          </p:cNvPr>
          <p:cNvSpPr/>
          <p:nvPr/>
        </p:nvSpPr>
        <p:spPr>
          <a:xfrm>
            <a:off x="5047731" y="384886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5" name="Shape 89">
            <a:extLst>
              <a:ext uri="{FF2B5EF4-FFF2-40B4-BE49-F238E27FC236}">
                <a16:creationId xmlns:a16="http://schemas.microsoft.com/office/drawing/2014/main" id="{994EA064-C509-0D34-2927-FD8920D66D38}"/>
              </a:ext>
            </a:extLst>
          </p:cNvPr>
          <p:cNvSpPr/>
          <p:nvPr/>
        </p:nvSpPr>
        <p:spPr>
          <a:xfrm>
            <a:off x="5157459" y="394030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7" name="Text 90">
            <a:extLst>
              <a:ext uri="{FF2B5EF4-FFF2-40B4-BE49-F238E27FC236}">
                <a16:creationId xmlns:a16="http://schemas.microsoft.com/office/drawing/2014/main" id="{81BA2858-4DF2-33F8-E6B3-E47B08169C58}"/>
              </a:ext>
            </a:extLst>
          </p:cNvPr>
          <p:cNvSpPr/>
          <p:nvPr/>
        </p:nvSpPr>
        <p:spPr>
          <a:xfrm>
            <a:off x="5157459" y="394030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13" name="Text 93">
            <a:extLst>
              <a:ext uri="{FF2B5EF4-FFF2-40B4-BE49-F238E27FC236}">
                <a16:creationId xmlns:a16="http://schemas.microsoft.com/office/drawing/2014/main" id="{7C039DD3-77AB-DC72-1BF7-6F43484A6F48}"/>
              </a:ext>
            </a:extLst>
          </p:cNvPr>
          <p:cNvSpPr/>
          <p:nvPr/>
        </p:nvSpPr>
        <p:spPr>
          <a:xfrm>
            <a:off x="6419331" y="3940302"/>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「60秒 予算診断」でゲーム感覚の登録動線を設計</a:t>
            </a:r>
            <a:endParaRPr lang="en-US" sz="1000" dirty="0">
              <a:latin typeface="メイリオ" panose="020B0604030504040204" pitchFamily="50" charset="-128"/>
              <a:ea typeface="メイリオ" panose="020B0604030504040204" pitchFamily="50" charset="-128"/>
            </a:endParaRPr>
          </a:p>
        </p:txBody>
      </p:sp>
      <p:sp>
        <p:nvSpPr>
          <p:cNvPr id="415" name="Text 94">
            <a:extLst>
              <a:ext uri="{FF2B5EF4-FFF2-40B4-BE49-F238E27FC236}">
                <a16:creationId xmlns:a16="http://schemas.microsoft.com/office/drawing/2014/main" id="{DC0D3973-D909-3E0E-0185-8C5F00160F49}"/>
              </a:ext>
            </a:extLst>
          </p:cNvPr>
          <p:cNvSpPr/>
          <p:nvPr/>
        </p:nvSpPr>
        <p:spPr>
          <a:xfrm>
            <a:off x="5157459" y="4269486"/>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「あなたの家づくりタイプ診断」など自分に関係する情報を得られる診断コンテンツをLINE登録の特典に設定。結果表示→そのまま育成配信へ移行。</a:t>
            </a:r>
            <a:endParaRPr lang="en-US" sz="600" dirty="0">
              <a:latin typeface="メイリオ" panose="020B0604030504040204" pitchFamily="50" charset="-128"/>
              <a:ea typeface="メイリオ" panose="020B0604030504040204" pitchFamily="50" charset="-128"/>
            </a:endParaRPr>
          </a:p>
        </p:txBody>
      </p:sp>
      <p:sp>
        <p:nvSpPr>
          <p:cNvPr id="417" name="Shape 95">
            <a:extLst>
              <a:ext uri="{FF2B5EF4-FFF2-40B4-BE49-F238E27FC236}">
                <a16:creationId xmlns:a16="http://schemas.microsoft.com/office/drawing/2014/main" id="{A539ABF7-93E6-0B97-E682-67036D8B4469}"/>
              </a:ext>
            </a:extLst>
          </p:cNvPr>
          <p:cNvSpPr/>
          <p:nvPr/>
        </p:nvSpPr>
        <p:spPr>
          <a:xfrm>
            <a:off x="5139171" y="4616958"/>
            <a:ext cx="1274064" cy="329184"/>
          </a:xfrm>
          <a:prstGeom prst="roundRect">
            <a:avLst>
              <a:gd name="adj" fmla="val 16667"/>
            </a:avLst>
          </a:prstGeom>
          <a:solidFill>
            <a:srgbClr val="1F5FA6"/>
          </a:solidFill>
          <a:ln w="12700">
            <a:solidFill>
              <a:srgbClr val="1F5FA6"/>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19" name="Text 96">
            <a:extLst>
              <a:ext uri="{FF2B5EF4-FFF2-40B4-BE49-F238E27FC236}">
                <a16:creationId xmlns:a16="http://schemas.microsoft.com/office/drawing/2014/main" id="{872D0829-AC14-447F-7459-990C0436BD6F}"/>
              </a:ext>
            </a:extLst>
          </p:cNvPr>
          <p:cNvSpPr/>
          <p:nvPr/>
        </p:nvSpPr>
        <p:spPr>
          <a:xfrm>
            <a:off x="5139171" y="4616958"/>
            <a:ext cx="1274064" cy="329184"/>
          </a:xfrm>
          <a:prstGeom prst="rect">
            <a:avLst/>
          </a:prstGeom>
          <a:solidFill>
            <a:schemeClr val="tx1"/>
          </a:solid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診断スタート</a:t>
            </a:r>
            <a:endParaRPr lang="en-US" sz="700" dirty="0">
              <a:latin typeface="メイリオ" panose="020B0604030504040204" pitchFamily="50" charset="-128"/>
              <a:ea typeface="メイリオ" panose="020B0604030504040204" pitchFamily="50" charset="-128"/>
            </a:endParaRPr>
          </a:p>
        </p:txBody>
      </p:sp>
      <p:sp>
        <p:nvSpPr>
          <p:cNvPr id="421" name="Shape 97">
            <a:extLst>
              <a:ext uri="{FF2B5EF4-FFF2-40B4-BE49-F238E27FC236}">
                <a16:creationId xmlns:a16="http://schemas.microsoft.com/office/drawing/2014/main" id="{277FEA39-DF85-2BC7-8790-281873782510}"/>
              </a:ext>
            </a:extLst>
          </p:cNvPr>
          <p:cNvSpPr/>
          <p:nvPr/>
        </p:nvSpPr>
        <p:spPr>
          <a:xfrm>
            <a:off x="6413235" y="470839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3" name="Text 98">
            <a:extLst>
              <a:ext uri="{FF2B5EF4-FFF2-40B4-BE49-F238E27FC236}">
                <a16:creationId xmlns:a16="http://schemas.microsoft.com/office/drawing/2014/main" id="{CCEC2CA7-1DA7-3457-DB53-866B5464808A}"/>
              </a:ext>
            </a:extLst>
          </p:cNvPr>
          <p:cNvSpPr/>
          <p:nvPr/>
        </p:nvSpPr>
        <p:spPr>
          <a:xfrm>
            <a:off x="6413235" y="4708398"/>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5" name="Shape 99">
            <a:extLst>
              <a:ext uri="{FF2B5EF4-FFF2-40B4-BE49-F238E27FC236}">
                <a16:creationId xmlns:a16="http://schemas.microsoft.com/office/drawing/2014/main" id="{BEE40DCA-8F8C-5FB8-E003-26C56815916C}"/>
              </a:ext>
            </a:extLst>
          </p:cNvPr>
          <p:cNvSpPr/>
          <p:nvPr/>
        </p:nvSpPr>
        <p:spPr>
          <a:xfrm>
            <a:off x="6504675" y="4616958"/>
            <a:ext cx="1274064" cy="329184"/>
          </a:xfrm>
          <a:prstGeom prst="roundRect">
            <a:avLst>
              <a:gd name="adj" fmla="val 16667"/>
            </a:avLst>
          </a:prstGeom>
          <a:solidFill>
            <a:srgbClr val="1F5FA6"/>
          </a:solidFill>
          <a:ln w="12700">
            <a:solidFill>
              <a:srgbClr val="1F5FA6"/>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7" name="Text 100">
            <a:extLst>
              <a:ext uri="{FF2B5EF4-FFF2-40B4-BE49-F238E27FC236}">
                <a16:creationId xmlns:a16="http://schemas.microsoft.com/office/drawing/2014/main" id="{00D1855F-45CE-D188-2C64-7750B7F10335}"/>
              </a:ext>
            </a:extLst>
          </p:cNvPr>
          <p:cNvSpPr/>
          <p:nvPr/>
        </p:nvSpPr>
        <p:spPr>
          <a:xfrm>
            <a:off x="6504675" y="4616958"/>
            <a:ext cx="1274064" cy="329184"/>
          </a:xfrm>
          <a:prstGeom prst="rect">
            <a:avLst/>
          </a:prstGeom>
          <a:solidFill>
            <a:schemeClr val="tx1"/>
          </a:solid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LINE登録</a:t>
            </a:r>
            <a:endParaRPr lang="en-US" sz="700" dirty="0">
              <a:latin typeface="メイリオ" panose="020B0604030504040204" pitchFamily="50" charset="-128"/>
              <a:ea typeface="メイリオ" panose="020B0604030504040204" pitchFamily="50" charset="-128"/>
            </a:endParaRPr>
          </a:p>
        </p:txBody>
      </p:sp>
      <p:sp>
        <p:nvSpPr>
          <p:cNvPr id="429" name="Shape 101">
            <a:extLst>
              <a:ext uri="{FF2B5EF4-FFF2-40B4-BE49-F238E27FC236}">
                <a16:creationId xmlns:a16="http://schemas.microsoft.com/office/drawing/2014/main" id="{BC3DBCCE-C415-FFB9-0EF0-ED016BFACE66}"/>
              </a:ext>
            </a:extLst>
          </p:cNvPr>
          <p:cNvSpPr/>
          <p:nvPr/>
        </p:nvSpPr>
        <p:spPr>
          <a:xfrm>
            <a:off x="7778739" y="470839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1" name="Text 102">
            <a:extLst>
              <a:ext uri="{FF2B5EF4-FFF2-40B4-BE49-F238E27FC236}">
                <a16:creationId xmlns:a16="http://schemas.microsoft.com/office/drawing/2014/main" id="{87E68EDD-1B05-C39E-A803-3CD6952C46E3}"/>
              </a:ext>
            </a:extLst>
          </p:cNvPr>
          <p:cNvSpPr/>
          <p:nvPr/>
        </p:nvSpPr>
        <p:spPr>
          <a:xfrm>
            <a:off x="7778739" y="4708398"/>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3" name="Shape 103">
            <a:extLst>
              <a:ext uri="{FF2B5EF4-FFF2-40B4-BE49-F238E27FC236}">
                <a16:creationId xmlns:a16="http://schemas.microsoft.com/office/drawing/2014/main" id="{75540B87-5EA1-8B70-BE9E-D7CD43DE2F0B}"/>
              </a:ext>
            </a:extLst>
          </p:cNvPr>
          <p:cNvSpPr/>
          <p:nvPr/>
        </p:nvSpPr>
        <p:spPr>
          <a:xfrm>
            <a:off x="7870179" y="4616958"/>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35" name="Text 104">
            <a:extLst>
              <a:ext uri="{FF2B5EF4-FFF2-40B4-BE49-F238E27FC236}">
                <a16:creationId xmlns:a16="http://schemas.microsoft.com/office/drawing/2014/main" id="{D38E76BC-A277-7B9A-A14E-8E7F032F5CF9}"/>
              </a:ext>
            </a:extLst>
          </p:cNvPr>
          <p:cNvSpPr/>
          <p:nvPr/>
        </p:nvSpPr>
        <p:spPr>
          <a:xfrm>
            <a:off x="7870179" y="4616958"/>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結果＋ナーチャ</a:t>
            </a:r>
            <a:endParaRPr lang="en-US" sz="700" dirty="0">
              <a:latin typeface="メイリオ" panose="020B0604030504040204" pitchFamily="50" charset="-128"/>
              <a:ea typeface="メイリオ" panose="020B0604030504040204" pitchFamily="50" charset="-128"/>
            </a:endParaRPr>
          </a:p>
        </p:txBody>
      </p:sp>
      <p:sp>
        <p:nvSpPr>
          <p:cNvPr id="437" name="Shape 105">
            <a:extLst>
              <a:ext uri="{FF2B5EF4-FFF2-40B4-BE49-F238E27FC236}">
                <a16:creationId xmlns:a16="http://schemas.microsoft.com/office/drawing/2014/main" id="{7E7D236C-E62B-82AE-1904-7E878C11F436}"/>
              </a:ext>
            </a:extLst>
          </p:cNvPr>
          <p:cNvSpPr/>
          <p:nvPr/>
        </p:nvSpPr>
        <p:spPr>
          <a:xfrm>
            <a:off x="5047731" y="509244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1" name="Shape 107">
            <a:extLst>
              <a:ext uri="{FF2B5EF4-FFF2-40B4-BE49-F238E27FC236}">
                <a16:creationId xmlns:a16="http://schemas.microsoft.com/office/drawing/2014/main" id="{11FB9564-FEC8-56EC-F099-43F051A24D1D}"/>
              </a:ext>
            </a:extLst>
          </p:cNvPr>
          <p:cNvSpPr/>
          <p:nvPr/>
        </p:nvSpPr>
        <p:spPr>
          <a:xfrm>
            <a:off x="5157459" y="518388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3" name="Text 108">
            <a:extLst>
              <a:ext uri="{FF2B5EF4-FFF2-40B4-BE49-F238E27FC236}">
                <a16:creationId xmlns:a16="http://schemas.microsoft.com/office/drawing/2014/main" id="{F6040C66-355F-8C90-5BE2-53D9C4A42B57}"/>
              </a:ext>
            </a:extLst>
          </p:cNvPr>
          <p:cNvSpPr/>
          <p:nvPr/>
        </p:nvSpPr>
        <p:spPr>
          <a:xfrm>
            <a:off x="5157459" y="5183886"/>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7" name="Text 110">
            <a:extLst>
              <a:ext uri="{FF2B5EF4-FFF2-40B4-BE49-F238E27FC236}">
                <a16:creationId xmlns:a16="http://schemas.microsoft.com/office/drawing/2014/main" id="{1BBCFD40-F618-5A41-391D-5947D86BCCA5}"/>
              </a:ext>
            </a:extLst>
          </p:cNvPr>
          <p:cNvSpPr/>
          <p:nvPr/>
        </p:nvSpPr>
        <p:spPr>
          <a:xfrm>
            <a:off x="5504931" y="5211318"/>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サンクスLINE誘導</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49" name="Text 111">
            <a:extLst>
              <a:ext uri="{FF2B5EF4-FFF2-40B4-BE49-F238E27FC236}">
                <a16:creationId xmlns:a16="http://schemas.microsoft.com/office/drawing/2014/main" id="{4EB6017D-3A77-E9F5-F635-7B6DB13B4131}"/>
              </a:ext>
            </a:extLst>
          </p:cNvPr>
          <p:cNvSpPr/>
          <p:nvPr/>
        </p:nvSpPr>
        <p:spPr>
          <a:xfrm>
            <a:off x="6419331" y="5183886"/>
            <a:ext cx="2798064" cy="256032"/>
          </a:xfrm>
          <a:prstGeom prst="rect">
            <a:avLst/>
          </a:prstGeom>
          <a:noFill/>
          <a:ln/>
        </p:spPr>
        <p:txBody>
          <a:bodyPr wrap="square" lIns="0" tIns="0" rIns="0" bIns="0" rtlCol="0" anchor="ctr"/>
          <a:lstStyle/>
          <a:p>
            <a:pPr marL="0" indent="0">
              <a:buNone/>
            </a:pP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WEBフォームCV後サンクスページでLINE誘導</a:t>
            </a:r>
            <a:endParaRPr lang="en-US" sz="1000" dirty="0">
              <a:latin typeface="メイリオ" panose="020B0604030504040204" pitchFamily="50" charset="-128"/>
              <a:ea typeface="メイリオ" panose="020B0604030504040204" pitchFamily="50" charset="-128"/>
            </a:endParaRPr>
          </a:p>
        </p:txBody>
      </p:sp>
      <p:sp>
        <p:nvSpPr>
          <p:cNvPr id="451" name="Text 112">
            <a:extLst>
              <a:ext uri="{FF2B5EF4-FFF2-40B4-BE49-F238E27FC236}">
                <a16:creationId xmlns:a16="http://schemas.microsoft.com/office/drawing/2014/main" id="{A63DAD2F-DDAE-6E26-0FE7-A71DCF606881}"/>
              </a:ext>
            </a:extLst>
          </p:cNvPr>
          <p:cNvSpPr/>
          <p:nvPr/>
        </p:nvSpPr>
        <p:spPr>
          <a:xfrm>
            <a:off x="5157459" y="5513070"/>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問い合わせや申込のサンクスページ上にLINE追加QRコードを設置。「手続き状況・キャンペーン情報をLINEでお知らせします」という理由付けで登録率を高める。</a:t>
            </a:r>
            <a:endParaRPr lang="en-US" sz="600" dirty="0">
              <a:latin typeface="メイリオ" panose="020B0604030504040204" pitchFamily="50" charset="-128"/>
              <a:ea typeface="メイリオ" panose="020B0604030504040204" pitchFamily="50" charset="-128"/>
            </a:endParaRPr>
          </a:p>
        </p:txBody>
      </p:sp>
      <p:sp>
        <p:nvSpPr>
          <p:cNvPr id="453" name="Shape 113">
            <a:extLst>
              <a:ext uri="{FF2B5EF4-FFF2-40B4-BE49-F238E27FC236}">
                <a16:creationId xmlns:a16="http://schemas.microsoft.com/office/drawing/2014/main" id="{1A747923-8770-D6A4-F82F-4A2F7CF2E59A}"/>
              </a:ext>
            </a:extLst>
          </p:cNvPr>
          <p:cNvSpPr/>
          <p:nvPr/>
        </p:nvSpPr>
        <p:spPr>
          <a:xfrm>
            <a:off x="5139171" y="5860542"/>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55" name="Text 114">
            <a:extLst>
              <a:ext uri="{FF2B5EF4-FFF2-40B4-BE49-F238E27FC236}">
                <a16:creationId xmlns:a16="http://schemas.microsoft.com/office/drawing/2014/main" id="{C1269C45-D060-14BD-4EA5-EEA9971F9196}"/>
              </a:ext>
            </a:extLst>
          </p:cNvPr>
          <p:cNvSpPr/>
          <p:nvPr/>
        </p:nvSpPr>
        <p:spPr>
          <a:xfrm>
            <a:off x="5139171" y="586054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WEBフォームCV</a:t>
            </a:r>
            <a:endParaRPr lang="en-US" sz="700" dirty="0">
              <a:latin typeface="メイリオ" panose="020B0604030504040204" pitchFamily="50" charset="-128"/>
              <a:ea typeface="メイリオ" panose="020B0604030504040204" pitchFamily="50" charset="-128"/>
            </a:endParaRPr>
          </a:p>
        </p:txBody>
      </p:sp>
      <p:sp>
        <p:nvSpPr>
          <p:cNvPr id="457" name="Shape 115">
            <a:extLst>
              <a:ext uri="{FF2B5EF4-FFF2-40B4-BE49-F238E27FC236}">
                <a16:creationId xmlns:a16="http://schemas.microsoft.com/office/drawing/2014/main" id="{FCD11C9D-95DC-CE32-D1D6-7DA9E01A8070}"/>
              </a:ext>
            </a:extLst>
          </p:cNvPr>
          <p:cNvSpPr/>
          <p:nvPr/>
        </p:nvSpPr>
        <p:spPr>
          <a:xfrm>
            <a:off x="6413235" y="595198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9" name="Text 116">
            <a:extLst>
              <a:ext uri="{FF2B5EF4-FFF2-40B4-BE49-F238E27FC236}">
                <a16:creationId xmlns:a16="http://schemas.microsoft.com/office/drawing/2014/main" id="{0CA15731-A766-6C2F-3E49-8EB2B66C2373}"/>
              </a:ext>
            </a:extLst>
          </p:cNvPr>
          <p:cNvSpPr/>
          <p:nvPr/>
        </p:nvSpPr>
        <p:spPr>
          <a:xfrm>
            <a:off x="6413235" y="5951982"/>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1" name="Shape 117">
            <a:extLst>
              <a:ext uri="{FF2B5EF4-FFF2-40B4-BE49-F238E27FC236}">
                <a16:creationId xmlns:a16="http://schemas.microsoft.com/office/drawing/2014/main" id="{06D1EAE5-1FBE-2FD3-053D-8C52C5C51D7E}"/>
              </a:ext>
            </a:extLst>
          </p:cNvPr>
          <p:cNvSpPr/>
          <p:nvPr/>
        </p:nvSpPr>
        <p:spPr>
          <a:xfrm>
            <a:off x="6504675" y="5860542"/>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3" name="Text 118">
            <a:extLst>
              <a:ext uri="{FF2B5EF4-FFF2-40B4-BE49-F238E27FC236}">
                <a16:creationId xmlns:a16="http://schemas.microsoft.com/office/drawing/2014/main" id="{6E95A348-95C2-C3E1-0F40-D8D0B9C5F18E}"/>
              </a:ext>
            </a:extLst>
          </p:cNvPr>
          <p:cNvSpPr/>
          <p:nvPr/>
        </p:nvSpPr>
        <p:spPr>
          <a:xfrm>
            <a:off x="6504675" y="586054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サンクスページ</a:t>
            </a:r>
            <a:endParaRPr lang="en-US" sz="700" dirty="0">
              <a:latin typeface="メイリオ" panose="020B0604030504040204" pitchFamily="50" charset="-128"/>
              <a:ea typeface="メイリオ" panose="020B0604030504040204" pitchFamily="50" charset="-128"/>
            </a:endParaRPr>
          </a:p>
        </p:txBody>
      </p:sp>
      <p:sp>
        <p:nvSpPr>
          <p:cNvPr id="465" name="Shape 119">
            <a:extLst>
              <a:ext uri="{FF2B5EF4-FFF2-40B4-BE49-F238E27FC236}">
                <a16:creationId xmlns:a16="http://schemas.microsoft.com/office/drawing/2014/main" id="{052DAA84-9922-E532-C742-794FAF42CC11}"/>
              </a:ext>
            </a:extLst>
          </p:cNvPr>
          <p:cNvSpPr/>
          <p:nvPr/>
        </p:nvSpPr>
        <p:spPr>
          <a:xfrm>
            <a:off x="7778739" y="595198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7" name="Text 120">
            <a:extLst>
              <a:ext uri="{FF2B5EF4-FFF2-40B4-BE49-F238E27FC236}">
                <a16:creationId xmlns:a16="http://schemas.microsoft.com/office/drawing/2014/main" id="{6BC630B4-8A8E-3272-A831-973D660DF9AA}"/>
              </a:ext>
            </a:extLst>
          </p:cNvPr>
          <p:cNvSpPr/>
          <p:nvPr/>
        </p:nvSpPr>
        <p:spPr>
          <a:xfrm>
            <a:off x="7778739" y="5951982"/>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9" name="Shape 121">
            <a:extLst>
              <a:ext uri="{FF2B5EF4-FFF2-40B4-BE49-F238E27FC236}">
                <a16:creationId xmlns:a16="http://schemas.microsoft.com/office/drawing/2014/main" id="{255DDAF0-4E72-66D8-778E-24CDC5A34141}"/>
              </a:ext>
            </a:extLst>
          </p:cNvPr>
          <p:cNvSpPr/>
          <p:nvPr/>
        </p:nvSpPr>
        <p:spPr>
          <a:xfrm>
            <a:off x="7870179" y="5860542"/>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71" name="Text 122">
            <a:extLst>
              <a:ext uri="{FF2B5EF4-FFF2-40B4-BE49-F238E27FC236}">
                <a16:creationId xmlns:a16="http://schemas.microsoft.com/office/drawing/2014/main" id="{BC85E7AC-9264-BDB0-801D-8FD55C9ABAC6}"/>
              </a:ext>
            </a:extLst>
          </p:cNvPr>
          <p:cNvSpPr/>
          <p:nvPr/>
        </p:nvSpPr>
        <p:spPr>
          <a:xfrm>
            <a:off x="7870179" y="586054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LINE友だち追加</a:t>
            </a:r>
            <a:endParaRPr lang="en-US" sz="700" dirty="0">
              <a:latin typeface="メイリオ" panose="020B0604030504040204" pitchFamily="50" charset="-128"/>
              <a:ea typeface="メイリオ" panose="020B0604030504040204" pitchFamily="50" charset="-128"/>
            </a:endParaRPr>
          </a:p>
        </p:txBody>
      </p:sp>
      <p:sp>
        <p:nvSpPr>
          <p:cNvPr id="5" name="Shape 19">
            <a:extLst>
              <a:ext uri="{FF2B5EF4-FFF2-40B4-BE49-F238E27FC236}">
                <a16:creationId xmlns:a16="http://schemas.microsoft.com/office/drawing/2014/main" id="{779670CC-3A4B-99AD-47F8-99C1DC7CC783}"/>
              </a:ext>
            </a:extLst>
          </p:cNvPr>
          <p:cNvSpPr/>
          <p:nvPr/>
        </p:nvSpPr>
        <p:spPr>
          <a:xfrm>
            <a:off x="1060947" y="2741125"/>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7" name="Text 20">
            <a:extLst>
              <a:ext uri="{FF2B5EF4-FFF2-40B4-BE49-F238E27FC236}">
                <a16:creationId xmlns:a16="http://schemas.microsoft.com/office/drawing/2014/main" id="{1DB2C24D-FB84-85D3-0975-0F08103A2C4E}"/>
              </a:ext>
            </a:extLst>
          </p:cNvPr>
          <p:cNvSpPr/>
          <p:nvPr/>
        </p:nvSpPr>
        <p:spPr>
          <a:xfrm>
            <a:off x="1060947" y="2741125"/>
            <a:ext cx="859536" cy="201168"/>
          </a:xfrm>
          <a:prstGeom prst="rect">
            <a:avLst/>
          </a:prstGeom>
          <a:noFill/>
          <a:ln/>
        </p:spPr>
        <p:txBody>
          <a:bodyPr wrap="square" lIns="0" tIns="0" rIns="0" bIns="0" rtlCol="0" anchor="ctr"/>
          <a:lstStyle/>
          <a:p>
            <a:pPr algn="ctr"/>
            <a:r>
              <a:rPr lang="en-US" altLang="ja-JP" sz="700" b="1" dirty="0" err="1">
                <a:solidFill>
                  <a:srgbClr val="FDFDFD"/>
                </a:solidFill>
                <a:latin typeface="メイリオ" panose="020B0604030504040204" pitchFamily="50" charset="-128"/>
                <a:ea typeface="メイリオ" panose="020B0604030504040204" pitchFamily="50" charset="-128"/>
                <a:cs typeface="Calibri" pitchFamily="34" charset="-120"/>
              </a:rPr>
              <a:t>リスト活性化</a:t>
            </a:r>
            <a:endParaRPr lang="en-US" altLang="ja-JP" sz="700" dirty="0">
              <a:solidFill>
                <a:srgbClr val="FDFDFD"/>
              </a:solidFill>
              <a:latin typeface="メイリオ" panose="020B0604030504040204" pitchFamily="50" charset="-128"/>
              <a:ea typeface="メイリオ" panose="020B0604030504040204" pitchFamily="50" charset="-128"/>
            </a:endParaRPr>
          </a:p>
        </p:txBody>
      </p:sp>
      <p:sp>
        <p:nvSpPr>
          <p:cNvPr id="9" name="Shape 37">
            <a:extLst>
              <a:ext uri="{FF2B5EF4-FFF2-40B4-BE49-F238E27FC236}">
                <a16:creationId xmlns:a16="http://schemas.microsoft.com/office/drawing/2014/main" id="{5F39079C-5F31-C56D-AD14-1DC3C7AEDE30}"/>
              </a:ext>
            </a:extLst>
          </p:cNvPr>
          <p:cNvSpPr/>
          <p:nvPr/>
        </p:nvSpPr>
        <p:spPr>
          <a:xfrm>
            <a:off x="1060947" y="3984709"/>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11" name="Text 38">
            <a:extLst>
              <a:ext uri="{FF2B5EF4-FFF2-40B4-BE49-F238E27FC236}">
                <a16:creationId xmlns:a16="http://schemas.microsoft.com/office/drawing/2014/main" id="{9FE95EAB-22DB-4E55-885E-2DC8280EB9CD}"/>
              </a:ext>
            </a:extLst>
          </p:cNvPr>
          <p:cNvSpPr/>
          <p:nvPr/>
        </p:nvSpPr>
        <p:spPr>
          <a:xfrm>
            <a:off x="1060947" y="3984709"/>
            <a:ext cx="859536" cy="201168"/>
          </a:xfrm>
          <a:prstGeom prst="rect">
            <a:avLst/>
          </a:prstGeom>
          <a:solidFill>
            <a:schemeClr val="tx2"/>
          </a:solidFill>
          <a:ln/>
        </p:spPr>
        <p:txBody>
          <a:bodyPr wrap="square" lIns="0" tIns="0" rIns="0" bIns="0" rtlCol="0" anchor="ctr"/>
          <a:lstStyle/>
          <a:p>
            <a:pPr marL="0" indent="0" algn="ctr">
              <a:buNone/>
            </a:pPr>
            <a:r>
              <a:rPr lang="ja-JP" altLang="en-US" sz="700" dirty="0">
                <a:solidFill>
                  <a:srgbClr val="FDFDFD"/>
                </a:solidFill>
                <a:latin typeface="メイリオ" panose="020B0604030504040204" pitchFamily="50" charset="-128"/>
                <a:ea typeface="メイリオ" panose="020B0604030504040204" pitchFamily="50" charset="-128"/>
              </a:rPr>
              <a:t>離脱防止</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13" name="Shape 55">
            <a:extLst>
              <a:ext uri="{FF2B5EF4-FFF2-40B4-BE49-F238E27FC236}">
                <a16:creationId xmlns:a16="http://schemas.microsoft.com/office/drawing/2014/main" id="{356ADFC3-885B-BB77-EA21-6C4F3B80B276}"/>
              </a:ext>
            </a:extLst>
          </p:cNvPr>
          <p:cNvSpPr/>
          <p:nvPr/>
        </p:nvSpPr>
        <p:spPr>
          <a:xfrm>
            <a:off x="1060947" y="5228293"/>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19" name="Text 92">
            <a:extLst>
              <a:ext uri="{FF2B5EF4-FFF2-40B4-BE49-F238E27FC236}">
                <a16:creationId xmlns:a16="http://schemas.microsoft.com/office/drawing/2014/main" id="{859EC5EC-52A5-A121-F295-214BCB4D4C62}"/>
              </a:ext>
            </a:extLst>
          </p:cNvPr>
          <p:cNvSpPr/>
          <p:nvPr/>
        </p:nvSpPr>
        <p:spPr>
          <a:xfrm>
            <a:off x="5504931" y="3984709"/>
            <a:ext cx="859536" cy="201168"/>
          </a:xfrm>
          <a:prstGeom prst="rect">
            <a:avLst/>
          </a:prstGeom>
          <a:noFill/>
          <a:ln/>
        </p:spPr>
        <p:txBody>
          <a:bodyPr wrap="square" lIns="0" tIns="0" rIns="0" bIns="0" rtlCol="0" anchor="ctr"/>
          <a:lstStyle/>
          <a:p>
            <a:pPr marL="0" indent="0" algn="ctr">
              <a:buNone/>
            </a:pPr>
            <a:endParaRPr lang="en-US" sz="500" dirty="0">
              <a:latin typeface="メイリオ" panose="020B0604030504040204" pitchFamily="50" charset="-128"/>
              <a:ea typeface="メイリオ" panose="020B0604030504040204" pitchFamily="50" charset="-128"/>
            </a:endParaRPr>
          </a:p>
        </p:txBody>
      </p:sp>
      <p:sp>
        <p:nvSpPr>
          <p:cNvPr id="21" name="Shape 109">
            <a:extLst>
              <a:ext uri="{FF2B5EF4-FFF2-40B4-BE49-F238E27FC236}">
                <a16:creationId xmlns:a16="http://schemas.microsoft.com/office/drawing/2014/main" id="{911D55AD-ECC0-DC10-3F42-35787A02D284}"/>
              </a:ext>
            </a:extLst>
          </p:cNvPr>
          <p:cNvSpPr/>
          <p:nvPr/>
        </p:nvSpPr>
        <p:spPr>
          <a:xfrm>
            <a:off x="5504931" y="5228293"/>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3" name="Text 110">
            <a:extLst>
              <a:ext uri="{FF2B5EF4-FFF2-40B4-BE49-F238E27FC236}">
                <a16:creationId xmlns:a16="http://schemas.microsoft.com/office/drawing/2014/main" id="{EDD9FC5D-F103-9D3F-47C3-8F954172AE95}"/>
              </a:ext>
            </a:extLst>
          </p:cNvPr>
          <p:cNvSpPr/>
          <p:nvPr/>
        </p:nvSpPr>
        <p:spPr>
          <a:xfrm>
            <a:off x="5504931" y="5228293"/>
            <a:ext cx="859536" cy="201168"/>
          </a:xfrm>
          <a:prstGeom prst="rect">
            <a:avLst/>
          </a:prstGeom>
          <a:solidFill>
            <a:schemeClr val="tx2"/>
          </a:solidFill>
          <a:ln/>
        </p:spPr>
        <p:txBody>
          <a:bodyPr wrap="square" lIns="0" tIns="0" rIns="0" bIns="0" rtlCol="0" anchor="ctr"/>
          <a:lstStyle/>
          <a:p>
            <a:pPr marL="0" indent="0" algn="ctr">
              <a:buNone/>
            </a:pPr>
            <a:r>
              <a:rPr lang="ja-JP" altLang="en-US" sz="700" b="1" dirty="0">
                <a:solidFill>
                  <a:srgbClr val="FDFDFD"/>
                </a:solidFill>
                <a:latin typeface="メイリオ" panose="020B0604030504040204" pitchFamily="50" charset="-128"/>
                <a:ea typeface="メイリオ" panose="020B0604030504040204" pitchFamily="50" charset="-128"/>
                <a:cs typeface="Calibri" pitchFamily="34" charset="-120"/>
              </a:rPr>
              <a:t>サンクス</a:t>
            </a:r>
            <a:r>
              <a:rPr lang="en-US" altLang="ja-JP" sz="700" b="1" dirty="0">
                <a:solidFill>
                  <a:srgbClr val="FDFDFD"/>
                </a:solidFill>
                <a:latin typeface="メイリオ" panose="020B0604030504040204" pitchFamily="50" charset="-128"/>
                <a:ea typeface="メイリオ" panose="020B0604030504040204" pitchFamily="50" charset="-128"/>
                <a:cs typeface="Calibri" pitchFamily="34" charset="-120"/>
              </a:rPr>
              <a:t>LINE</a:t>
            </a:r>
            <a:r>
              <a:rPr lang="ja-JP" altLang="en-US" sz="700" b="1" dirty="0">
                <a:solidFill>
                  <a:srgbClr val="FDFDFD"/>
                </a:solidFill>
                <a:latin typeface="メイリオ" panose="020B0604030504040204" pitchFamily="50" charset="-128"/>
                <a:ea typeface="メイリオ" panose="020B0604030504040204" pitchFamily="50" charset="-128"/>
                <a:cs typeface="Calibri" pitchFamily="34" charset="-120"/>
              </a:rPr>
              <a:t>誘導</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25" name="Text 110">
            <a:extLst>
              <a:ext uri="{FF2B5EF4-FFF2-40B4-BE49-F238E27FC236}">
                <a16:creationId xmlns:a16="http://schemas.microsoft.com/office/drawing/2014/main" id="{E8EED7F4-BAE1-D41E-67C4-68F570C48388}"/>
              </a:ext>
            </a:extLst>
          </p:cNvPr>
          <p:cNvSpPr/>
          <p:nvPr/>
        </p:nvSpPr>
        <p:spPr>
          <a:xfrm>
            <a:off x="5504931" y="3993853"/>
            <a:ext cx="859536" cy="201168"/>
          </a:xfrm>
          <a:prstGeom prst="rect">
            <a:avLst/>
          </a:prstGeom>
          <a:solidFill>
            <a:schemeClr val="tx2"/>
          </a:solidFill>
          <a:ln/>
        </p:spPr>
        <p:txBody>
          <a:bodyPr wrap="square" lIns="0" tIns="0" rIns="0" bIns="0" rtlCol="0" anchor="ctr"/>
          <a:lstStyle/>
          <a:p>
            <a:pPr marL="0" indent="0" algn="ctr">
              <a:buNone/>
            </a:pPr>
            <a:r>
              <a:rPr lang="ja-JP" altLang="en-US" sz="700" b="1" dirty="0">
                <a:solidFill>
                  <a:srgbClr val="FDFDFD"/>
                </a:solidFill>
                <a:latin typeface="メイリオ" panose="020B0604030504040204" pitchFamily="50" charset="-128"/>
                <a:ea typeface="メイリオ" panose="020B0604030504040204" pitchFamily="50" charset="-128"/>
              </a:rPr>
              <a:t>診断コンテンツ</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27" name="Text 110">
            <a:extLst>
              <a:ext uri="{FF2B5EF4-FFF2-40B4-BE49-F238E27FC236}">
                <a16:creationId xmlns:a16="http://schemas.microsoft.com/office/drawing/2014/main" id="{28C48291-9255-498E-EA09-1FE91DCD196F}"/>
              </a:ext>
            </a:extLst>
          </p:cNvPr>
          <p:cNvSpPr/>
          <p:nvPr/>
        </p:nvSpPr>
        <p:spPr>
          <a:xfrm>
            <a:off x="1060947" y="5226218"/>
            <a:ext cx="859536" cy="201168"/>
          </a:xfrm>
          <a:prstGeom prst="rect">
            <a:avLst/>
          </a:prstGeom>
          <a:solidFill>
            <a:schemeClr val="tx2"/>
          </a:solidFill>
          <a:ln/>
        </p:spPr>
        <p:txBody>
          <a:bodyPr wrap="square" lIns="0" tIns="0" rIns="0" bIns="0" rtlCol="0" anchor="ctr"/>
          <a:lstStyle/>
          <a:p>
            <a:pPr marL="0" indent="0" algn="ctr">
              <a:buNone/>
            </a:pPr>
            <a:r>
              <a:rPr lang="en-US" altLang="ja-JP" sz="700" b="1" dirty="0">
                <a:solidFill>
                  <a:srgbClr val="FDFDFD"/>
                </a:solidFill>
                <a:latin typeface="メイリオ" panose="020B0604030504040204" pitchFamily="50" charset="-128"/>
                <a:ea typeface="メイリオ" panose="020B0604030504040204" pitchFamily="50" charset="-128"/>
                <a:cs typeface="Calibri" pitchFamily="34" charset="-120"/>
              </a:rPr>
              <a:t>LINE</a:t>
            </a:r>
            <a:r>
              <a:rPr lang="ja-JP" altLang="en-US" sz="700" b="1" dirty="0">
                <a:solidFill>
                  <a:srgbClr val="FDFDFD"/>
                </a:solidFill>
                <a:latin typeface="メイリオ" panose="020B0604030504040204" pitchFamily="50" charset="-128"/>
                <a:ea typeface="メイリオ" panose="020B0604030504040204" pitchFamily="50" charset="-128"/>
                <a:cs typeface="Calibri" pitchFamily="34" charset="-120"/>
              </a:rPr>
              <a:t>広告</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29" name="Text 38">
            <a:extLst>
              <a:ext uri="{FF2B5EF4-FFF2-40B4-BE49-F238E27FC236}">
                <a16:creationId xmlns:a16="http://schemas.microsoft.com/office/drawing/2014/main" id="{0AAF9C38-B88A-AA3E-E296-3AB0BC76B93B}"/>
              </a:ext>
            </a:extLst>
          </p:cNvPr>
          <p:cNvSpPr/>
          <p:nvPr/>
        </p:nvSpPr>
        <p:spPr>
          <a:xfrm>
            <a:off x="1060947" y="2739050"/>
            <a:ext cx="859536" cy="201168"/>
          </a:xfrm>
          <a:prstGeom prst="rect">
            <a:avLst/>
          </a:prstGeom>
          <a:solidFill>
            <a:schemeClr val="tx2"/>
          </a:solidFill>
          <a:ln/>
        </p:spPr>
        <p:txBody>
          <a:bodyPr wrap="square" lIns="0" tIns="0" rIns="0" bIns="0" rtlCol="0" anchor="ctr"/>
          <a:lstStyle/>
          <a:p>
            <a:pPr marL="0" indent="0" algn="ctr">
              <a:buNone/>
            </a:pPr>
            <a:r>
              <a:rPr lang="ja-JP" altLang="en-US" sz="700" dirty="0">
                <a:solidFill>
                  <a:srgbClr val="FDFDFD"/>
                </a:solidFill>
                <a:latin typeface="メイリオ" panose="020B0604030504040204" pitchFamily="50" charset="-128"/>
                <a:ea typeface="メイリオ" panose="020B0604030504040204" pitchFamily="50" charset="-128"/>
              </a:rPr>
              <a:t>流入</a:t>
            </a:r>
            <a:r>
              <a:rPr lang="en-US" altLang="ja-JP" sz="700" dirty="0">
                <a:solidFill>
                  <a:srgbClr val="FDFDFD"/>
                </a:solidFill>
                <a:latin typeface="メイリオ" panose="020B0604030504040204" pitchFamily="50" charset="-128"/>
                <a:ea typeface="メイリオ" panose="020B0604030504040204" pitchFamily="50" charset="-128"/>
              </a:rPr>
              <a:t>/</a:t>
            </a:r>
            <a:r>
              <a:rPr lang="ja-JP" altLang="en-US" sz="700" dirty="0">
                <a:solidFill>
                  <a:srgbClr val="FDFDFD"/>
                </a:solidFill>
                <a:latin typeface="メイリオ" panose="020B0604030504040204" pitchFamily="50" charset="-128"/>
                <a:ea typeface="メイリオ" panose="020B0604030504040204" pitchFamily="50" charset="-128"/>
              </a:rPr>
              <a:t>集客チャネル</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1" name="Text 74">
            <a:extLst>
              <a:ext uri="{FF2B5EF4-FFF2-40B4-BE49-F238E27FC236}">
                <a16:creationId xmlns:a16="http://schemas.microsoft.com/office/drawing/2014/main" id="{A540ADCF-43EA-1930-0DAD-09ED3B6411D9}"/>
              </a:ext>
            </a:extLst>
          </p:cNvPr>
          <p:cNvSpPr/>
          <p:nvPr/>
        </p:nvSpPr>
        <p:spPr>
          <a:xfrm>
            <a:off x="5504931" y="2741125"/>
            <a:ext cx="859536" cy="201168"/>
          </a:xfrm>
          <a:prstGeom prst="rect">
            <a:avLst/>
          </a:prstGeom>
          <a:solidFill>
            <a:schemeClr val="tx2"/>
          </a:solidFill>
          <a:ln/>
        </p:spPr>
        <p:txBody>
          <a:bodyPr wrap="square" lIns="0" tIns="0" rIns="0" bIns="0" rtlCol="0" anchor="ctr"/>
          <a:lstStyle/>
          <a:p>
            <a:pPr marL="0" indent="0" algn="ctr">
              <a:buNone/>
            </a:pPr>
            <a:r>
              <a:rPr lang="ja-JP" altLang="en-US" sz="700" dirty="0">
                <a:solidFill>
                  <a:srgbClr val="FDFDFD"/>
                </a:solidFill>
                <a:latin typeface="メイリオ" panose="020B0604030504040204" pitchFamily="50" charset="-128"/>
                <a:ea typeface="メイリオ" panose="020B0604030504040204" pitchFamily="50" charset="-128"/>
              </a:rPr>
              <a:t>無料特典</a:t>
            </a:r>
            <a:endParaRPr lang="en-US" sz="700" dirty="0">
              <a:solidFill>
                <a:srgbClr val="FDFDFD"/>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561967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0F9E9-3239-4F30-04FA-62A41B30208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70640CA-DB77-D06C-8E9B-5D428526E6D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5C5AA372-6333-C3A6-0175-98D1ECE0C2E1}"/>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想定：過去の保有リストに対して、再度</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を促す動線を設計</a:t>
            </a:r>
            <a:r>
              <a:rPr lang="ja-JP" altLang="en-US" sz="1200" b="1" dirty="0">
                <a:solidFill>
                  <a:srgbClr val="FF0000"/>
                </a:solidFill>
                <a:latin typeface="メイリオ" panose="020B0604030504040204" pitchFamily="50" charset="-128"/>
                <a:ea typeface="メイリオ" panose="020B0604030504040204" pitchFamily="50" charset="-128"/>
                <a:cs typeface="Meiryo"/>
                <a:sym typeface="Meiryo"/>
              </a:rPr>
              <a:t>（未アクションユーザーの再アクション）</a:t>
            </a:r>
            <a:endPar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endParaRPr>
          </a:p>
        </p:txBody>
      </p:sp>
      <p:sp>
        <p:nvSpPr>
          <p:cNvPr id="247" name="Shape 8">
            <a:extLst>
              <a:ext uri="{FF2B5EF4-FFF2-40B4-BE49-F238E27FC236}">
                <a16:creationId xmlns:a16="http://schemas.microsoft.com/office/drawing/2014/main" id="{0799E4C9-4772-6D53-7617-85D7F0745D89}"/>
              </a:ext>
            </a:extLst>
          </p:cNvPr>
          <p:cNvSpPr/>
          <p:nvPr/>
        </p:nvSpPr>
        <p:spPr>
          <a:xfrm>
            <a:off x="603747" y="2204952"/>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9" name="Text 9">
            <a:extLst>
              <a:ext uri="{FF2B5EF4-FFF2-40B4-BE49-F238E27FC236}">
                <a16:creationId xmlns:a16="http://schemas.microsoft.com/office/drawing/2014/main" id="{503999D2-F9B7-AB8E-4554-F51FB54870FC}"/>
              </a:ext>
            </a:extLst>
          </p:cNvPr>
          <p:cNvSpPr/>
          <p:nvPr/>
        </p:nvSpPr>
        <p:spPr>
          <a:xfrm>
            <a:off x="731763" y="2187977"/>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パターン A　タイミング設計</a:t>
            </a:r>
            <a:endParaRPr lang="en-US" sz="1000" dirty="0">
              <a:latin typeface="メイリオ" panose="020B0604030504040204" pitchFamily="50" charset="-128"/>
              <a:ea typeface="メイリオ" panose="020B0604030504040204" pitchFamily="50" charset="-128"/>
            </a:endParaRPr>
          </a:p>
        </p:txBody>
      </p:sp>
      <p:sp>
        <p:nvSpPr>
          <p:cNvPr id="251" name="Text 10">
            <a:extLst>
              <a:ext uri="{FF2B5EF4-FFF2-40B4-BE49-F238E27FC236}">
                <a16:creationId xmlns:a16="http://schemas.microsoft.com/office/drawing/2014/main" id="{7868CE86-40F0-7280-8274-0AE354E0F621}"/>
              </a:ext>
            </a:extLst>
          </p:cNvPr>
          <p:cNvSpPr/>
          <p:nvPr/>
        </p:nvSpPr>
        <p:spPr>
          <a:xfrm>
            <a:off x="3214016" y="2224556"/>
            <a:ext cx="1669123"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「今動きやすい理由」を作って再接触</a:t>
            </a:r>
            <a:endParaRPr lang="en-US" sz="700" dirty="0">
              <a:latin typeface="メイリオ" panose="020B0604030504040204" pitchFamily="50" charset="-128"/>
              <a:ea typeface="メイリオ" panose="020B0604030504040204" pitchFamily="50" charset="-128"/>
            </a:endParaRPr>
          </a:p>
        </p:txBody>
      </p:sp>
      <p:sp>
        <p:nvSpPr>
          <p:cNvPr id="253" name="Shape 11">
            <a:extLst>
              <a:ext uri="{FF2B5EF4-FFF2-40B4-BE49-F238E27FC236}">
                <a16:creationId xmlns:a16="http://schemas.microsoft.com/office/drawing/2014/main" id="{5A6F33C8-39E2-1FDF-60C3-CAE6BB50B2E0}"/>
              </a:ext>
            </a:extLst>
          </p:cNvPr>
          <p:cNvSpPr/>
          <p:nvPr/>
        </p:nvSpPr>
        <p:spPr>
          <a:xfrm>
            <a:off x="5047731" y="2204952"/>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5" name="Text 12">
            <a:extLst>
              <a:ext uri="{FF2B5EF4-FFF2-40B4-BE49-F238E27FC236}">
                <a16:creationId xmlns:a16="http://schemas.microsoft.com/office/drawing/2014/main" id="{E483BA7C-D180-763E-0C14-8368B0CD432E}"/>
              </a:ext>
            </a:extLst>
          </p:cNvPr>
          <p:cNvSpPr/>
          <p:nvPr/>
        </p:nvSpPr>
        <p:spPr>
          <a:xfrm>
            <a:off x="5175747" y="2187977"/>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パターン B　再接触設計</a:t>
            </a:r>
            <a:endParaRPr lang="en-US" sz="1000" dirty="0">
              <a:latin typeface="メイリオ" panose="020B0604030504040204" pitchFamily="50" charset="-128"/>
              <a:ea typeface="メイリオ" panose="020B0604030504040204" pitchFamily="50" charset="-128"/>
            </a:endParaRPr>
          </a:p>
        </p:txBody>
      </p:sp>
      <p:sp>
        <p:nvSpPr>
          <p:cNvPr id="257" name="Text 13">
            <a:extLst>
              <a:ext uri="{FF2B5EF4-FFF2-40B4-BE49-F238E27FC236}">
                <a16:creationId xmlns:a16="http://schemas.microsoft.com/office/drawing/2014/main" id="{FDF61AEE-BD8E-57C5-25B1-5985C67AE181}"/>
              </a:ext>
            </a:extLst>
          </p:cNvPr>
          <p:cNvSpPr/>
          <p:nvPr/>
        </p:nvSpPr>
        <p:spPr>
          <a:xfrm>
            <a:off x="7658000" y="2224556"/>
            <a:ext cx="1669123" cy="182880"/>
          </a:xfrm>
          <a:prstGeom prst="rect">
            <a:avLst/>
          </a:prstGeom>
          <a:noFill/>
          <a:ln/>
        </p:spPr>
        <p:txBody>
          <a:bodyPr wrap="square" lIns="0" tIns="0" rIns="0" bIns="0" rtlCol="0" anchor="ctr"/>
          <a:lstStyle/>
          <a:p>
            <a:pPr marL="0" indent="0">
              <a:buNone/>
            </a:pPr>
            <a:r>
              <a:rPr lang="ja-JP" altLang="en-US" sz="700" i="1" dirty="0">
                <a:solidFill>
                  <a:srgbClr val="CADCF2"/>
                </a:solidFill>
                <a:latin typeface="メイリオ" panose="020B0604030504040204" pitchFamily="50" charset="-128"/>
                <a:ea typeface="メイリオ" panose="020B0604030504040204" pitchFamily="50" charset="-128"/>
                <a:cs typeface="Calibri" pitchFamily="34" charset="-120"/>
              </a:rPr>
              <a:t>休眠</a:t>
            </a:r>
            <a:r>
              <a:rPr lang="en-US" sz="700" i="1" dirty="0" err="1">
                <a:solidFill>
                  <a:srgbClr val="CADCF2"/>
                </a:solidFill>
                <a:latin typeface="メイリオ" panose="020B0604030504040204" pitchFamily="50" charset="-128"/>
                <a:ea typeface="メイリオ" panose="020B0604030504040204" pitchFamily="50" charset="-128"/>
                <a:cs typeface="Calibri" pitchFamily="34" charset="-120"/>
              </a:rPr>
              <a:t>ユーザーを起こす動線</a:t>
            </a:r>
            <a:endParaRPr lang="en-US" sz="700" dirty="0">
              <a:latin typeface="メイリオ" panose="020B0604030504040204" pitchFamily="50" charset="-128"/>
              <a:ea typeface="メイリオ" panose="020B0604030504040204" pitchFamily="50" charset="-128"/>
            </a:endParaRPr>
          </a:p>
        </p:txBody>
      </p:sp>
      <p:sp>
        <p:nvSpPr>
          <p:cNvPr id="259" name="Shape 15">
            <a:extLst>
              <a:ext uri="{FF2B5EF4-FFF2-40B4-BE49-F238E27FC236}">
                <a16:creationId xmlns:a16="http://schemas.microsoft.com/office/drawing/2014/main" id="{4CD9286D-9F08-88C6-E014-06303CCE918A}"/>
              </a:ext>
            </a:extLst>
          </p:cNvPr>
          <p:cNvSpPr/>
          <p:nvPr/>
        </p:nvSpPr>
        <p:spPr>
          <a:xfrm>
            <a:off x="603747" y="2622253"/>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3" name="Shape 17">
            <a:extLst>
              <a:ext uri="{FF2B5EF4-FFF2-40B4-BE49-F238E27FC236}">
                <a16:creationId xmlns:a16="http://schemas.microsoft.com/office/drawing/2014/main" id="{89F06007-1636-DBF8-2A66-6F5D4D265EED}"/>
              </a:ext>
            </a:extLst>
          </p:cNvPr>
          <p:cNvSpPr/>
          <p:nvPr/>
        </p:nvSpPr>
        <p:spPr>
          <a:xfrm>
            <a:off x="713475" y="2713693"/>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5" name="Text 18">
            <a:extLst>
              <a:ext uri="{FF2B5EF4-FFF2-40B4-BE49-F238E27FC236}">
                <a16:creationId xmlns:a16="http://schemas.microsoft.com/office/drawing/2014/main" id="{38635304-800A-B1D2-8097-4F4856E2C577}"/>
              </a:ext>
            </a:extLst>
          </p:cNvPr>
          <p:cNvSpPr/>
          <p:nvPr/>
        </p:nvSpPr>
        <p:spPr>
          <a:xfrm>
            <a:off x="713475" y="2713693"/>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7" name="Shape 19">
            <a:extLst>
              <a:ext uri="{FF2B5EF4-FFF2-40B4-BE49-F238E27FC236}">
                <a16:creationId xmlns:a16="http://schemas.microsoft.com/office/drawing/2014/main" id="{4D46F564-C151-62CF-8B30-E68A1621865C}"/>
              </a:ext>
            </a:extLst>
          </p:cNvPr>
          <p:cNvSpPr/>
          <p:nvPr/>
        </p:nvSpPr>
        <p:spPr>
          <a:xfrm>
            <a:off x="1060947" y="2741125"/>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269" name="Text 20">
            <a:extLst>
              <a:ext uri="{FF2B5EF4-FFF2-40B4-BE49-F238E27FC236}">
                <a16:creationId xmlns:a16="http://schemas.microsoft.com/office/drawing/2014/main" id="{D9E0431F-47A8-8AC8-E983-9F1E51409534}"/>
              </a:ext>
            </a:extLst>
          </p:cNvPr>
          <p:cNvSpPr/>
          <p:nvPr/>
        </p:nvSpPr>
        <p:spPr>
          <a:xfrm>
            <a:off x="1060947" y="2741125"/>
            <a:ext cx="859536" cy="201168"/>
          </a:xfrm>
          <a:prstGeom prst="rect">
            <a:avLst/>
          </a:prstGeom>
          <a:noFill/>
          <a:ln/>
        </p:spPr>
        <p:txBody>
          <a:bodyPr wrap="square" lIns="0" tIns="0" rIns="0" bIns="0" rtlCol="0" anchor="ctr"/>
          <a:lstStyle/>
          <a:p>
            <a:pPr algn="ctr"/>
            <a:r>
              <a:rPr lang="en-US" altLang="ja-JP" sz="700" b="1" dirty="0" err="1">
                <a:solidFill>
                  <a:srgbClr val="FDFDFD"/>
                </a:solidFill>
                <a:latin typeface="メイリオ" panose="020B0604030504040204" pitchFamily="50" charset="-128"/>
                <a:ea typeface="メイリオ" panose="020B0604030504040204" pitchFamily="50" charset="-128"/>
                <a:cs typeface="Calibri" pitchFamily="34" charset="-120"/>
              </a:rPr>
              <a:t>リスト活性化</a:t>
            </a:r>
            <a:endParaRPr lang="en-US" altLang="ja-JP" sz="700" dirty="0">
              <a:solidFill>
                <a:srgbClr val="FDFDFD"/>
              </a:solidFill>
              <a:latin typeface="メイリオ" panose="020B0604030504040204" pitchFamily="50" charset="-128"/>
              <a:ea typeface="メイリオ" panose="020B0604030504040204" pitchFamily="50" charset="-128"/>
            </a:endParaRPr>
          </a:p>
        </p:txBody>
      </p:sp>
      <p:sp>
        <p:nvSpPr>
          <p:cNvPr id="271" name="Text 21">
            <a:extLst>
              <a:ext uri="{FF2B5EF4-FFF2-40B4-BE49-F238E27FC236}">
                <a16:creationId xmlns:a16="http://schemas.microsoft.com/office/drawing/2014/main" id="{0A469BFD-45E9-8234-0B4E-FCBD032981EA}"/>
              </a:ext>
            </a:extLst>
          </p:cNvPr>
          <p:cNvSpPr/>
          <p:nvPr/>
        </p:nvSpPr>
        <p:spPr>
          <a:xfrm>
            <a:off x="1975347" y="2713693"/>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通知メッセで保有リストを一括再接触</a:t>
            </a:r>
            <a:endParaRPr lang="en-US" sz="1000" dirty="0">
              <a:latin typeface="メイリオ" panose="020B0604030504040204" pitchFamily="50" charset="-128"/>
              <a:ea typeface="メイリオ" panose="020B0604030504040204" pitchFamily="50" charset="-128"/>
            </a:endParaRPr>
          </a:p>
        </p:txBody>
      </p:sp>
      <p:sp>
        <p:nvSpPr>
          <p:cNvPr id="273" name="Text 22">
            <a:extLst>
              <a:ext uri="{FF2B5EF4-FFF2-40B4-BE49-F238E27FC236}">
                <a16:creationId xmlns:a16="http://schemas.microsoft.com/office/drawing/2014/main" id="{EFC13B7C-7CC2-B883-A014-EB9039ADFA69}"/>
              </a:ext>
            </a:extLst>
          </p:cNvPr>
          <p:cNvSpPr/>
          <p:nvPr/>
        </p:nvSpPr>
        <p:spPr>
          <a:xfrm>
            <a:off x="713475" y="3042877"/>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メルマガ・テレマの既存リストにLINE移行キャンペーンを配信。「LINE登録でXXXプレゼント」などの特典で現役のLINEリストに転換し、再ナーチャリングを開始する。</a:t>
            </a:r>
            <a:endParaRPr lang="en-US" sz="600" dirty="0">
              <a:latin typeface="メイリオ" panose="020B0604030504040204" pitchFamily="50" charset="-128"/>
              <a:ea typeface="メイリオ" panose="020B0604030504040204" pitchFamily="50" charset="-128"/>
            </a:endParaRPr>
          </a:p>
        </p:txBody>
      </p:sp>
      <p:sp>
        <p:nvSpPr>
          <p:cNvPr id="275" name="Shape 23">
            <a:extLst>
              <a:ext uri="{FF2B5EF4-FFF2-40B4-BE49-F238E27FC236}">
                <a16:creationId xmlns:a16="http://schemas.microsoft.com/office/drawing/2014/main" id="{08872876-56FF-B053-724C-EA829FBD2859}"/>
              </a:ext>
            </a:extLst>
          </p:cNvPr>
          <p:cNvSpPr/>
          <p:nvPr/>
        </p:nvSpPr>
        <p:spPr>
          <a:xfrm>
            <a:off x="695187" y="3390349"/>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7" name="Text 24">
            <a:extLst>
              <a:ext uri="{FF2B5EF4-FFF2-40B4-BE49-F238E27FC236}">
                <a16:creationId xmlns:a16="http://schemas.microsoft.com/office/drawing/2014/main" id="{AD668F19-8AF9-40E5-B252-5466AAC211D4}"/>
              </a:ext>
            </a:extLst>
          </p:cNvPr>
          <p:cNvSpPr/>
          <p:nvPr/>
        </p:nvSpPr>
        <p:spPr>
          <a:xfrm>
            <a:off x="695187" y="339034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既存リスト</a:t>
            </a:r>
            <a:endParaRPr lang="en-US" sz="700" dirty="0">
              <a:latin typeface="メイリオ" panose="020B0604030504040204" pitchFamily="50" charset="-128"/>
              <a:ea typeface="メイリオ" panose="020B0604030504040204" pitchFamily="50" charset="-128"/>
            </a:endParaRPr>
          </a:p>
        </p:txBody>
      </p:sp>
      <p:sp>
        <p:nvSpPr>
          <p:cNvPr id="279" name="Shape 25">
            <a:extLst>
              <a:ext uri="{FF2B5EF4-FFF2-40B4-BE49-F238E27FC236}">
                <a16:creationId xmlns:a16="http://schemas.microsoft.com/office/drawing/2014/main" id="{53FD5EF2-15D7-6676-A293-790E6A49DF58}"/>
              </a:ext>
            </a:extLst>
          </p:cNvPr>
          <p:cNvSpPr/>
          <p:nvPr/>
        </p:nvSpPr>
        <p:spPr>
          <a:xfrm>
            <a:off x="1969251" y="348178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1" name="Text 26">
            <a:extLst>
              <a:ext uri="{FF2B5EF4-FFF2-40B4-BE49-F238E27FC236}">
                <a16:creationId xmlns:a16="http://schemas.microsoft.com/office/drawing/2014/main" id="{F355D7F8-8131-3548-836D-B163B9DE9373}"/>
              </a:ext>
            </a:extLst>
          </p:cNvPr>
          <p:cNvSpPr/>
          <p:nvPr/>
        </p:nvSpPr>
        <p:spPr>
          <a:xfrm>
            <a:off x="1969251" y="348178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3" name="Shape 27">
            <a:extLst>
              <a:ext uri="{FF2B5EF4-FFF2-40B4-BE49-F238E27FC236}">
                <a16:creationId xmlns:a16="http://schemas.microsoft.com/office/drawing/2014/main" id="{29B4E427-F660-12E7-1167-8F6AE81B2CFA}"/>
              </a:ext>
            </a:extLst>
          </p:cNvPr>
          <p:cNvSpPr/>
          <p:nvPr/>
        </p:nvSpPr>
        <p:spPr>
          <a:xfrm>
            <a:off x="2060691" y="3390349"/>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5" name="Text 28">
            <a:extLst>
              <a:ext uri="{FF2B5EF4-FFF2-40B4-BE49-F238E27FC236}">
                <a16:creationId xmlns:a16="http://schemas.microsoft.com/office/drawing/2014/main" id="{D066DD46-5262-0D07-EB4C-1D98EB173D07}"/>
              </a:ext>
            </a:extLst>
          </p:cNvPr>
          <p:cNvSpPr/>
          <p:nvPr/>
        </p:nvSpPr>
        <p:spPr>
          <a:xfrm>
            <a:off x="2060691" y="3390349"/>
            <a:ext cx="1274064" cy="329184"/>
          </a:xfrm>
          <a:prstGeom prst="rect">
            <a:avLst/>
          </a:prstGeom>
          <a:noFill/>
          <a:ln/>
        </p:spPr>
        <p:txBody>
          <a:bodyPr wrap="square" lIns="0" tIns="0" rIns="0" bIns="0" rtlCol="0" anchor="ctr"/>
          <a:lstStyle/>
          <a:p>
            <a:pPr marL="0" indent="0" algn="ctr">
              <a:lnSpc>
                <a:spcPct val="115000"/>
              </a:lnSpc>
              <a:buNone/>
            </a:pPr>
            <a:r>
              <a:rPr lang="en-US" sz="600" b="1" dirty="0">
                <a:solidFill>
                  <a:srgbClr val="FFFFFF"/>
                </a:solidFill>
                <a:latin typeface="メイリオ" panose="020B0604030504040204" pitchFamily="50" charset="-128"/>
                <a:ea typeface="メイリオ" panose="020B0604030504040204" pitchFamily="50" charset="-128"/>
                <a:cs typeface="Calibri" pitchFamily="34" charset="-120"/>
              </a:rPr>
              <a:t>LINE移行配信</a:t>
            </a:r>
            <a:endParaRPr lang="en-US" sz="600" dirty="0">
              <a:latin typeface="メイリオ" panose="020B0604030504040204" pitchFamily="50" charset="-128"/>
              <a:ea typeface="メイリオ" panose="020B0604030504040204" pitchFamily="50" charset="-128"/>
            </a:endParaRPr>
          </a:p>
        </p:txBody>
      </p:sp>
      <p:sp>
        <p:nvSpPr>
          <p:cNvPr id="287" name="Shape 29">
            <a:extLst>
              <a:ext uri="{FF2B5EF4-FFF2-40B4-BE49-F238E27FC236}">
                <a16:creationId xmlns:a16="http://schemas.microsoft.com/office/drawing/2014/main" id="{FD6D25F1-7F51-6F80-08D2-5C57CC0EE5FD}"/>
              </a:ext>
            </a:extLst>
          </p:cNvPr>
          <p:cNvSpPr/>
          <p:nvPr/>
        </p:nvSpPr>
        <p:spPr>
          <a:xfrm>
            <a:off x="3334755" y="348178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9" name="Text 30">
            <a:extLst>
              <a:ext uri="{FF2B5EF4-FFF2-40B4-BE49-F238E27FC236}">
                <a16:creationId xmlns:a16="http://schemas.microsoft.com/office/drawing/2014/main" id="{445D1811-574B-7D5D-C8F7-69A8E5E9C21D}"/>
              </a:ext>
            </a:extLst>
          </p:cNvPr>
          <p:cNvSpPr/>
          <p:nvPr/>
        </p:nvSpPr>
        <p:spPr>
          <a:xfrm>
            <a:off x="3334755" y="348178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91" name="Shape 31">
            <a:extLst>
              <a:ext uri="{FF2B5EF4-FFF2-40B4-BE49-F238E27FC236}">
                <a16:creationId xmlns:a16="http://schemas.microsoft.com/office/drawing/2014/main" id="{3ECC5DD0-1593-14F4-CE83-E996526D1F30}"/>
              </a:ext>
            </a:extLst>
          </p:cNvPr>
          <p:cNvSpPr/>
          <p:nvPr/>
        </p:nvSpPr>
        <p:spPr>
          <a:xfrm>
            <a:off x="3426195" y="3390349"/>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再ナーチャ開始</a:t>
            </a:r>
            <a:endParaRPr lang="en-US" altLang="ja-JP" sz="700" dirty="0">
              <a:latin typeface="メイリオ" panose="020B0604030504040204" pitchFamily="50" charset="-128"/>
              <a:ea typeface="メイリオ" panose="020B0604030504040204" pitchFamily="50" charset="-128"/>
            </a:endParaRPr>
          </a:p>
        </p:txBody>
      </p:sp>
      <p:sp>
        <p:nvSpPr>
          <p:cNvPr id="295" name="Shape 33">
            <a:extLst>
              <a:ext uri="{FF2B5EF4-FFF2-40B4-BE49-F238E27FC236}">
                <a16:creationId xmlns:a16="http://schemas.microsoft.com/office/drawing/2014/main" id="{82289F46-2DD5-5C3A-3C48-00C24CA11CB0}"/>
              </a:ext>
            </a:extLst>
          </p:cNvPr>
          <p:cNvSpPr/>
          <p:nvPr/>
        </p:nvSpPr>
        <p:spPr>
          <a:xfrm>
            <a:off x="603747" y="3884887"/>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9" name="Shape 35">
            <a:extLst>
              <a:ext uri="{FF2B5EF4-FFF2-40B4-BE49-F238E27FC236}">
                <a16:creationId xmlns:a16="http://schemas.microsoft.com/office/drawing/2014/main" id="{24455EB4-1D48-DB00-C3B3-680CAE5E3D80}"/>
              </a:ext>
            </a:extLst>
          </p:cNvPr>
          <p:cNvSpPr/>
          <p:nvPr/>
        </p:nvSpPr>
        <p:spPr>
          <a:xfrm>
            <a:off x="713475" y="3976327"/>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01" name="Text 36">
            <a:extLst>
              <a:ext uri="{FF2B5EF4-FFF2-40B4-BE49-F238E27FC236}">
                <a16:creationId xmlns:a16="http://schemas.microsoft.com/office/drawing/2014/main" id="{CB2D1291-F43D-C666-8910-F82EACBD2188}"/>
              </a:ext>
            </a:extLst>
          </p:cNvPr>
          <p:cNvSpPr/>
          <p:nvPr/>
        </p:nvSpPr>
        <p:spPr>
          <a:xfrm>
            <a:off x="713475" y="3976327"/>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3" name="Shape 37">
            <a:extLst>
              <a:ext uri="{FF2B5EF4-FFF2-40B4-BE49-F238E27FC236}">
                <a16:creationId xmlns:a16="http://schemas.microsoft.com/office/drawing/2014/main" id="{1F29E0C9-C40D-4D78-5118-4ECCEB313DBE}"/>
              </a:ext>
            </a:extLst>
          </p:cNvPr>
          <p:cNvSpPr/>
          <p:nvPr/>
        </p:nvSpPr>
        <p:spPr>
          <a:xfrm>
            <a:off x="1060947" y="4003759"/>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05" name="Text 38">
            <a:extLst>
              <a:ext uri="{FF2B5EF4-FFF2-40B4-BE49-F238E27FC236}">
                <a16:creationId xmlns:a16="http://schemas.microsoft.com/office/drawing/2014/main" id="{1FD30953-D12F-98F2-00A8-937392AB3DC2}"/>
              </a:ext>
            </a:extLst>
          </p:cNvPr>
          <p:cNvSpPr/>
          <p:nvPr/>
        </p:nvSpPr>
        <p:spPr>
          <a:xfrm>
            <a:off x="1060947" y="4003759"/>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モーメント活用</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7" name="Text 39">
            <a:extLst>
              <a:ext uri="{FF2B5EF4-FFF2-40B4-BE49-F238E27FC236}">
                <a16:creationId xmlns:a16="http://schemas.microsoft.com/office/drawing/2014/main" id="{6A195358-D025-E7FE-2931-51A26C3E1674}"/>
              </a:ext>
            </a:extLst>
          </p:cNvPr>
          <p:cNvSpPr/>
          <p:nvPr/>
        </p:nvSpPr>
        <p:spPr>
          <a:xfrm>
            <a:off x="1975347" y="3976327"/>
            <a:ext cx="2907792"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季節・業界イベントに合わせた限定配信でCV喚起</a:t>
            </a:r>
            <a:endParaRPr lang="en-US" sz="1000" dirty="0">
              <a:latin typeface="メイリオ" panose="020B0604030504040204" pitchFamily="50" charset="-128"/>
              <a:ea typeface="メイリオ" panose="020B0604030504040204" pitchFamily="50" charset="-128"/>
            </a:endParaRPr>
          </a:p>
        </p:txBody>
      </p:sp>
      <p:sp>
        <p:nvSpPr>
          <p:cNvPr id="309" name="Text 40">
            <a:extLst>
              <a:ext uri="{FF2B5EF4-FFF2-40B4-BE49-F238E27FC236}">
                <a16:creationId xmlns:a16="http://schemas.microsoft.com/office/drawing/2014/main" id="{E5DC2BC8-3C7E-A26E-2F0A-55D95A140AE0}"/>
              </a:ext>
            </a:extLst>
          </p:cNvPr>
          <p:cNvSpPr/>
          <p:nvPr/>
        </p:nvSpPr>
        <p:spPr>
          <a:xfrm>
            <a:off x="713475" y="4305511"/>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「年末特別キャンペーン」「繁忙期前のご案内」など、ユーザーが動きやすいタイミングに合わせて配信。「今だから」という理由付けが未アクション層の行動を促す。</a:t>
            </a:r>
            <a:endParaRPr lang="en-US" sz="600" dirty="0">
              <a:latin typeface="メイリオ" panose="020B0604030504040204" pitchFamily="50" charset="-128"/>
              <a:ea typeface="メイリオ" panose="020B0604030504040204" pitchFamily="50" charset="-128"/>
            </a:endParaRPr>
          </a:p>
        </p:txBody>
      </p:sp>
      <p:sp>
        <p:nvSpPr>
          <p:cNvPr id="311" name="Shape 41">
            <a:extLst>
              <a:ext uri="{FF2B5EF4-FFF2-40B4-BE49-F238E27FC236}">
                <a16:creationId xmlns:a16="http://schemas.microsoft.com/office/drawing/2014/main" id="{0070C0BA-3D13-97EE-26A8-CE149AA4A04E}"/>
              </a:ext>
            </a:extLst>
          </p:cNvPr>
          <p:cNvSpPr/>
          <p:nvPr/>
        </p:nvSpPr>
        <p:spPr>
          <a:xfrm>
            <a:off x="695187" y="4652983"/>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3" name="Text 42">
            <a:extLst>
              <a:ext uri="{FF2B5EF4-FFF2-40B4-BE49-F238E27FC236}">
                <a16:creationId xmlns:a16="http://schemas.microsoft.com/office/drawing/2014/main" id="{768D77C7-92A2-948E-DE3D-509594621085}"/>
              </a:ext>
            </a:extLst>
          </p:cNvPr>
          <p:cNvSpPr/>
          <p:nvPr/>
        </p:nvSpPr>
        <p:spPr>
          <a:xfrm>
            <a:off x="695187" y="465298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イベント前3週</a:t>
            </a:r>
            <a:endParaRPr lang="en-US" sz="700" dirty="0">
              <a:latin typeface="メイリオ" panose="020B0604030504040204" pitchFamily="50" charset="-128"/>
              <a:ea typeface="メイリオ" panose="020B0604030504040204" pitchFamily="50" charset="-128"/>
            </a:endParaRPr>
          </a:p>
        </p:txBody>
      </p:sp>
      <p:sp>
        <p:nvSpPr>
          <p:cNvPr id="315" name="Shape 43">
            <a:extLst>
              <a:ext uri="{FF2B5EF4-FFF2-40B4-BE49-F238E27FC236}">
                <a16:creationId xmlns:a16="http://schemas.microsoft.com/office/drawing/2014/main" id="{8F66DE4C-D7A8-1BDB-39CF-66DEBA652EAD}"/>
              </a:ext>
            </a:extLst>
          </p:cNvPr>
          <p:cNvSpPr/>
          <p:nvPr/>
        </p:nvSpPr>
        <p:spPr>
          <a:xfrm>
            <a:off x="1969251" y="474442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7" name="Text 44">
            <a:extLst>
              <a:ext uri="{FF2B5EF4-FFF2-40B4-BE49-F238E27FC236}">
                <a16:creationId xmlns:a16="http://schemas.microsoft.com/office/drawing/2014/main" id="{2305B67B-4CE8-2127-6CE4-351EB11A2BDC}"/>
              </a:ext>
            </a:extLst>
          </p:cNvPr>
          <p:cNvSpPr/>
          <p:nvPr/>
        </p:nvSpPr>
        <p:spPr>
          <a:xfrm>
            <a:off x="1969251" y="474442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9" name="Shape 45">
            <a:extLst>
              <a:ext uri="{FF2B5EF4-FFF2-40B4-BE49-F238E27FC236}">
                <a16:creationId xmlns:a16="http://schemas.microsoft.com/office/drawing/2014/main" id="{28045CD1-3B2D-EC7B-E972-FDF6398513D4}"/>
              </a:ext>
            </a:extLst>
          </p:cNvPr>
          <p:cNvSpPr/>
          <p:nvPr/>
        </p:nvSpPr>
        <p:spPr>
          <a:xfrm>
            <a:off x="2060691" y="4652983"/>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限定オファー配信</a:t>
            </a:r>
            <a:endParaRPr lang="en-US" altLang="ja-JP" sz="700" dirty="0">
              <a:latin typeface="メイリオ" panose="020B0604030504040204" pitchFamily="50" charset="-128"/>
              <a:ea typeface="メイリオ" panose="020B0604030504040204" pitchFamily="50" charset="-128"/>
            </a:endParaRPr>
          </a:p>
        </p:txBody>
      </p:sp>
      <p:sp>
        <p:nvSpPr>
          <p:cNvPr id="323" name="Shape 47">
            <a:extLst>
              <a:ext uri="{FF2B5EF4-FFF2-40B4-BE49-F238E27FC236}">
                <a16:creationId xmlns:a16="http://schemas.microsoft.com/office/drawing/2014/main" id="{91BB8E57-FE8E-A082-C6EE-88B56532C6FC}"/>
              </a:ext>
            </a:extLst>
          </p:cNvPr>
          <p:cNvSpPr/>
          <p:nvPr/>
        </p:nvSpPr>
        <p:spPr>
          <a:xfrm>
            <a:off x="3334755" y="474442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5" name="Text 48">
            <a:extLst>
              <a:ext uri="{FF2B5EF4-FFF2-40B4-BE49-F238E27FC236}">
                <a16:creationId xmlns:a16="http://schemas.microsoft.com/office/drawing/2014/main" id="{56A5766B-A3BD-2EE9-DB90-A95ABA8474AA}"/>
              </a:ext>
            </a:extLst>
          </p:cNvPr>
          <p:cNvSpPr/>
          <p:nvPr/>
        </p:nvSpPr>
        <p:spPr>
          <a:xfrm>
            <a:off x="3334755" y="474442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7" name="Shape 49">
            <a:extLst>
              <a:ext uri="{FF2B5EF4-FFF2-40B4-BE49-F238E27FC236}">
                <a16:creationId xmlns:a16="http://schemas.microsoft.com/office/drawing/2014/main" id="{D9B75229-E701-C66D-A2EB-914F33FC7A38}"/>
              </a:ext>
            </a:extLst>
          </p:cNvPr>
          <p:cNvSpPr/>
          <p:nvPr/>
        </p:nvSpPr>
        <p:spPr>
          <a:xfrm>
            <a:off x="3426195" y="4652983"/>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dirty="0" err="1">
                <a:solidFill>
                  <a:srgbClr val="FFFFFF"/>
                </a:solidFill>
                <a:latin typeface="メイリオ" panose="020B0604030504040204" pitchFamily="50" charset="-128"/>
                <a:ea typeface="メイリオ" panose="020B0604030504040204" pitchFamily="50" charset="-128"/>
                <a:cs typeface="Calibri" pitchFamily="34" charset="-120"/>
              </a:rPr>
              <a:t>CV獲得</a:t>
            </a:r>
            <a:endParaRPr lang="en-US" altLang="ja-JP" sz="700" dirty="0">
              <a:latin typeface="メイリオ" panose="020B0604030504040204" pitchFamily="50" charset="-128"/>
              <a:ea typeface="メイリオ" panose="020B0604030504040204" pitchFamily="50" charset="-128"/>
            </a:endParaRPr>
          </a:p>
        </p:txBody>
      </p:sp>
      <p:sp>
        <p:nvSpPr>
          <p:cNvPr id="331" name="Shape 51">
            <a:extLst>
              <a:ext uri="{FF2B5EF4-FFF2-40B4-BE49-F238E27FC236}">
                <a16:creationId xmlns:a16="http://schemas.microsoft.com/office/drawing/2014/main" id="{22A4D85B-1CBD-0995-DA90-60C14D83ECE6}"/>
              </a:ext>
            </a:extLst>
          </p:cNvPr>
          <p:cNvSpPr/>
          <p:nvPr/>
        </p:nvSpPr>
        <p:spPr>
          <a:xfrm>
            <a:off x="603747" y="5147521"/>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5" name="Shape 53">
            <a:extLst>
              <a:ext uri="{FF2B5EF4-FFF2-40B4-BE49-F238E27FC236}">
                <a16:creationId xmlns:a16="http://schemas.microsoft.com/office/drawing/2014/main" id="{0EFDA52C-6BD8-EC2C-8042-989867BEE007}"/>
              </a:ext>
            </a:extLst>
          </p:cNvPr>
          <p:cNvSpPr/>
          <p:nvPr/>
        </p:nvSpPr>
        <p:spPr>
          <a:xfrm>
            <a:off x="713475" y="5238961"/>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7" name="Text 54">
            <a:extLst>
              <a:ext uri="{FF2B5EF4-FFF2-40B4-BE49-F238E27FC236}">
                <a16:creationId xmlns:a16="http://schemas.microsoft.com/office/drawing/2014/main" id="{1A38F7F4-D85C-3C2E-52E8-1DA18687D157}"/>
              </a:ext>
            </a:extLst>
          </p:cNvPr>
          <p:cNvSpPr/>
          <p:nvPr/>
        </p:nvSpPr>
        <p:spPr>
          <a:xfrm>
            <a:off x="713475" y="5238961"/>
            <a:ext cx="274320" cy="274320"/>
          </a:xfrm>
          <a:prstGeom prst="rect">
            <a:avLst/>
          </a:prstGeom>
          <a:noFill/>
          <a:ln>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9" name="Shape 55">
            <a:extLst>
              <a:ext uri="{FF2B5EF4-FFF2-40B4-BE49-F238E27FC236}">
                <a16:creationId xmlns:a16="http://schemas.microsoft.com/office/drawing/2014/main" id="{67EE7C45-7156-71ED-275F-D3D0B62D6390}"/>
              </a:ext>
            </a:extLst>
          </p:cNvPr>
          <p:cNvSpPr/>
          <p:nvPr/>
        </p:nvSpPr>
        <p:spPr>
          <a:xfrm>
            <a:off x="1060947" y="5266393"/>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343" name="Text 57">
            <a:extLst>
              <a:ext uri="{FF2B5EF4-FFF2-40B4-BE49-F238E27FC236}">
                <a16:creationId xmlns:a16="http://schemas.microsoft.com/office/drawing/2014/main" id="{3D038977-48FB-088C-1A4C-879420FF6CE5}"/>
              </a:ext>
            </a:extLst>
          </p:cNvPr>
          <p:cNvSpPr/>
          <p:nvPr/>
        </p:nvSpPr>
        <p:spPr>
          <a:xfrm>
            <a:off x="1975347" y="5238961"/>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現在の状況確認アンケートで温度感を再把握</a:t>
            </a:r>
            <a:endParaRPr lang="en-US" sz="1000" dirty="0">
              <a:latin typeface="メイリオ" panose="020B0604030504040204" pitchFamily="50" charset="-128"/>
              <a:ea typeface="メイリオ" panose="020B0604030504040204" pitchFamily="50" charset="-128"/>
            </a:endParaRPr>
          </a:p>
        </p:txBody>
      </p:sp>
      <p:sp>
        <p:nvSpPr>
          <p:cNvPr id="345" name="Text 58">
            <a:extLst>
              <a:ext uri="{FF2B5EF4-FFF2-40B4-BE49-F238E27FC236}">
                <a16:creationId xmlns:a16="http://schemas.microsoft.com/office/drawing/2014/main" id="{1DCE3801-724B-70B8-6043-4AE707933047}"/>
              </a:ext>
            </a:extLst>
          </p:cNvPr>
          <p:cNvSpPr/>
          <p:nvPr/>
        </p:nvSpPr>
        <p:spPr>
          <a:xfrm>
            <a:off x="713475" y="5568145"/>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「現在の状況を教えてください（3問）」を配信。「検討中」「他社比較中」「まだ先」に応じてシナリオを分岐させ、各層に最適なコンテンツを配信する。</a:t>
            </a:r>
            <a:endParaRPr lang="en-US" sz="600" dirty="0">
              <a:latin typeface="メイリオ" panose="020B0604030504040204" pitchFamily="50" charset="-128"/>
              <a:ea typeface="メイリオ" panose="020B0604030504040204" pitchFamily="50" charset="-128"/>
            </a:endParaRPr>
          </a:p>
        </p:txBody>
      </p:sp>
      <p:sp>
        <p:nvSpPr>
          <p:cNvPr id="347" name="Shape 59">
            <a:extLst>
              <a:ext uri="{FF2B5EF4-FFF2-40B4-BE49-F238E27FC236}">
                <a16:creationId xmlns:a16="http://schemas.microsoft.com/office/drawing/2014/main" id="{153BB988-9655-425D-2D4F-44E89C57F2F5}"/>
              </a:ext>
            </a:extLst>
          </p:cNvPr>
          <p:cNvSpPr/>
          <p:nvPr/>
        </p:nvSpPr>
        <p:spPr>
          <a:xfrm>
            <a:off x="695187" y="5915617"/>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49" name="Text 60">
            <a:extLst>
              <a:ext uri="{FF2B5EF4-FFF2-40B4-BE49-F238E27FC236}">
                <a16:creationId xmlns:a16="http://schemas.microsoft.com/office/drawing/2014/main" id="{CD7CE35E-3AD0-5FAC-435B-4694E9133E17}"/>
              </a:ext>
            </a:extLst>
          </p:cNvPr>
          <p:cNvSpPr/>
          <p:nvPr/>
        </p:nvSpPr>
        <p:spPr>
          <a:xfrm>
            <a:off x="695187" y="5915617"/>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3問配信</a:t>
            </a:r>
            <a:endParaRPr lang="en-US" sz="700" dirty="0">
              <a:latin typeface="メイリオ" panose="020B0604030504040204" pitchFamily="50" charset="-128"/>
              <a:ea typeface="メイリオ" panose="020B0604030504040204" pitchFamily="50" charset="-128"/>
            </a:endParaRPr>
          </a:p>
        </p:txBody>
      </p:sp>
      <p:sp>
        <p:nvSpPr>
          <p:cNvPr id="351" name="Shape 61">
            <a:extLst>
              <a:ext uri="{FF2B5EF4-FFF2-40B4-BE49-F238E27FC236}">
                <a16:creationId xmlns:a16="http://schemas.microsoft.com/office/drawing/2014/main" id="{DFAA349E-29DE-1759-4B7A-492F6D87018D}"/>
              </a:ext>
            </a:extLst>
          </p:cNvPr>
          <p:cNvSpPr/>
          <p:nvPr/>
        </p:nvSpPr>
        <p:spPr>
          <a:xfrm>
            <a:off x="1969251" y="6007057"/>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3" name="Text 62">
            <a:extLst>
              <a:ext uri="{FF2B5EF4-FFF2-40B4-BE49-F238E27FC236}">
                <a16:creationId xmlns:a16="http://schemas.microsoft.com/office/drawing/2014/main" id="{B5184D6B-2A05-C57D-1F26-E41EB297B5B8}"/>
              </a:ext>
            </a:extLst>
          </p:cNvPr>
          <p:cNvSpPr/>
          <p:nvPr/>
        </p:nvSpPr>
        <p:spPr>
          <a:xfrm>
            <a:off x="1969251" y="6007057"/>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5" name="Shape 63">
            <a:extLst>
              <a:ext uri="{FF2B5EF4-FFF2-40B4-BE49-F238E27FC236}">
                <a16:creationId xmlns:a16="http://schemas.microsoft.com/office/drawing/2014/main" id="{1D19C5F8-3384-B358-0F6D-32AC93A34F7A}"/>
              </a:ext>
            </a:extLst>
          </p:cNvPr>
          <p:cNvSpPr/>
          <p:nvPr/>
        </p:nvSpPr>
        <p:spPr>
          <a:xfrm>
            <a:off x="2060691" y="5915617"/>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7" name="Text 64">
            <a:extLst>
              <a:ext uri="{FF2B5EF4-FFF2-40B4-BE49-F238E27FC236}">
                <a16:creationId xmlns:a16="http://schemas.microsoft.com/office/drawing/2014/main" id="{AA99E733-4810-E0D8-954C-794B120B1798}"/>
              </a:ext>
            </a:extLst>
          </p:cNvPr>
          <p:cNvSpPr/>
          <p:nvPr/>
        </p:nvSpPr>
        <p:spPr>
          <a:xfrm>
            <a:off x="2060691" y="5915617"/>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状況把握</a:t>
            </a:r>
            <a:endParaRPr lang="en-US" sz="700" dirty="0">
              <a:latin typeface="メイリオ" panose="020B0604030504040204" pitchFamily="50" charset="-128"/>
              <a:ea typeface="メイリオ" panose="020B0604030504040204" pitchFamily="50" charset="-128"/>
            </a:endParaRPr>
          </a:p>
        </p:txBody>
      </p:sp>
      <p:sp>
        <p:nvSpPr>
          <p:cNvPr id="359" name="Shape 65">
            <a:extLst>
              <a:ext uri="{FF2B5EF4-FFF2-40B4-BE49-F238E27FC236}">
                <a16:creationId xmlns:a16="http://schemas.microsoft.com/office/drawing/2014/main" id="{E098D67B-D4FA-1F81-743A-A0EF2B8E894C}"/>
              </a:ext>
            </a:extLst>
          </p:cNvPr>
          <p:cNvSpPr/>
          <p:nvPr/>
        </p:nvSpPr>
        <p:spPr>
          <a:xfrm>
            <a:off x="3334755" y="6007057"/>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1" name="Text 66">
            <a:extLst>
              <a:ext uri="{FF2B5EF4-FFF2-40B4-BE49-F238E27FC236}">
                <a16:creationId xmlns:a16="http://schemas.microsoft.com/office/drawing/2014/main" id="{3A788ABA-1FAA-0E0C-477B-176A52F30D82}"/>
              </a:ext>
            </a:extLst>
          </p:cNvPr>
          <p:cNvSpPr/>
          <p:nvPr/>
        </p:nvSpPr>
        <p:spPr>
          <a:xfrm>
            <a:off x="3334755" y="6007057"/>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63" name="Shape 67">
            <a:extLst>
              <a:ext uri="{FF2B5EF4-FFF2-40B4-BE49-F238E27FC236}">
                <a16:creationId xmlns:a16="http://schemas.microsoft.com/office/drawing/2014/main" id="{2C82253D-F8B8-D14C-4626-9B78723DE539}"/>
              </a:ext>
            </a:extLst>
          </p:cNvPr>
          <p:cNvSpPr/>
          <p:nvPr/>
        </p:nvSpPr>
        <p:spPr>
          <a:xfrm>
            <a:off x="3426195" y="5915617"/>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5" name="Text 68">
            <a:extLst>
              <a:ext uri="{FF2B5EF4-FFF2-40B4-BE49-F238E27FC236}">
                <a16:creationId xmlns:a16="http://schemas.microsoft.com/office/drawing/2014/main" id="{5DD03071-2AEB-1384-0051-084B996E481D}"/>
              </a:ext>
            </a:extLst>
          </p:cNvPr>
          <p:cNvSpPr/>
          <p:nvPr/>
        </p:nvSpPr>
        <p:spPr>
          <a:xfrm>
            <a:off x="3426195" y="5915617"/>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シナリオ分岐</a:t>
            </a:r>
            <a:endParaRPr lang="en-US" sz="700" dirty="0">
              <a:latin typeface="メイリオ" panose="020B0604030504040204" pitchFamily="50" charset="-128"/>
              <a:ea typeface="メイリオ" panose="020B0604030504040204" pitchFamily="50" charset="-128"/>
            </a:endParaRPr>
          </a:p>
        </p:txBody>
      </p:sp>
      <p:sp>
        <p:nvSpPr>
          <p:cNvPr id="367" name="Shape 69">
            <a:extLst>
              <a:ext uri="{FF2B5EF4-FFF2-40B4-BE49-F238E27FC236}">
                <a16:creationId xmlns:a16="http://schemas.microsoft.com/office/drawing/2014/main" id="{F329F47A-44ED-4B04-F04D-56BC913CF99F}"/>
              </a:ext>
            </a:extLst>
          </p:cNvPr>
          <p:cNvSpPr/>
          <p:nvPr/>
        </p:nvSpPr>
        <p:spPr>
          <a:xfrm>
            <a:off x="5047731" y="2622253"/>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1" name="Shape 71">
            <a:extLst>
              <a:ext uri="{FF2B5EF4-FFF2-40B4-BE49-F238E27FC236}">
                <a16:creationId xmlns:a16="http://schemas.microsoft.com/office/drawing/2014/main" id="{BA1D3F46-451A-2E85-599A-900433C193B8}"/>
              </a:ext>
            </a:extLst>
          </p:cNvPr>
          <p:cNvSpPr/>
          <p:nvPr/>
        </p:nvSpPr>
        <p:spPr>
          <a:xfrm>
            <a:off x="5157459" y="2713693"/>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3" name="Text 72">
            <a:extLst>
              <a:ext uri="{FF2B5EF4-FFF2-40B4-BE49-F238E27FC236}">
                <a16:creationId xmlns:a16="http://schemas.microsoft.com/office/drawing/2014/main" id="{8BCF6B4A-374A-B6D9-3EF4-5AE1A778DE73}"/>
              </a:ext>
            </a:extLst>
          </p:cNvPr>
          <p:cNvSpPr/>
          <p:nvPr/>
        </p:nvSpPr>
        <p:spPr>
          <a:xfrm>
            <a:off x="5157459" y="2713693"/>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5" name="Shape 73">
            <a:extLst>
              <a:ext uri="{FF2B5EF4-FFF2-40B4-BE49-F238E27FC236}">
                <a16:creationId xmlns:a16="http://schemas.microsoft.com/office/drawing/2014/main" id="{9F918316-F2DF-A22A-C6CB-01F22910720D}"/>
              </a:ext>
            </a:extLst>
          </p:cNvPr>
          <p:cNvSpPr/>
          <p:nvPr/>
        </p:nvSpPr>
        <p:spPr>
          <a:xfrm>
            <a:off x="5504931" y="2741125"/>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7" name="Text 74">
            <a:extLst>
              <a:ext uri="{FF2B5EF4-FFF2-40B4-BE49-F238E27FC236}">
                <a16:creationId xmlns:a16="http://schemas.microsoft.com/office/drawing/2014/main" id="{1C57608E-D0D9-DD5B-8ED8-37BB302AB673}"/>
              </a:ext>
            </a:extLst>
          </p:cNvPr>
          <p:cNvSpPr/>
          <p:nvPr/>
        </p:nvSpPr>
        <p:spPr>
          <a:xfrm>
            <a:off x="5504931" y="2741125"/>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失注リスト</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9" name="Text 75">
            <a:extLst>
              <a:ext uri="{FF2B5EF4-FFF2-40B4-BE49-F238E27FC236}">
                <a16:creationId xmlns:a16="http://schemas.microsoft.com/office/drawing/2014/main" id="{2DAFDF0B-346B-15F4-BEBF-857C67E91ED9}"/>
              </a:ext>
            </a:extLst>
          </p:cNvPr>
          <p:cNvSpPr/>
          <p:nvPr/>
        </p:nvSpPr>
        <p:spPr>
          <a:xfrm>
            <a:off x="6419331" y="2713693"/>
            <a:ext cx="3017520" cy="256032"/>
          </a:xfrm>
          <a:prstGeom prst="rect">
            <a:avLst/>
          </a:prstGeom>
          <a:noFill/>
          <a:ln/>
        </p:spPr>
        <p:txBody>
          <a:bodyPr wrap="square" lIns="0" tIns="0" rIns="0" bIns="0" rtlCol="0" anchor="ctr"/>
          <a:lstStyle/>
          <a:p>
            <a:pPr marL="0" indent="0">
              <a:buNone/>
            </a:pP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失注・辞退ユーザーへ「その後</a:t>
            </a:r>
            <a:r>
              <a:rPr lang="ja-JP" altLang="en-US" sz="1000" b="1" dirty="0">
                <a:solidFill>
                  <a:srgbClr val="1A1A2E"/>
                </a:solidFill>
                <a:latin typeface="メイリオ" panose="020B0604030504040204" pitchFamily="50" charset="-128"/>
                <a:ea typeface="メイリオ" panose="020B0604030504040204" pitchFamily="50" charset="-128"/>
                <a:cs typeface="Calibri" pitchFamily="34" charset="-120"/>
              </a:rPr>
              <a:t>どう</a:t>
            </a: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ですか</a:t>
            </a: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？」配信</a:t>
            </a:r>
            <a:endParaRPr lang="en-US" sz="1000" dirty="0">
              <a:latin typeface="メイリオ" panose="020B0604030504040204" pitchFamily="50" charset="-128"/>
              <a:ea typeface="メイリオ" panose="020B0604030504040204" pitchFamily="50" charset="-128"/>
            </a:endParaRPr>
          </a:p>
        </p:txBody>
      </p:sp>
      <p:sp>
        <p:nvSpPr>
          <p:cNvPr id="381" name="Text 76">
            <a:extLst>
              <a:ext uri="{FF2B5EF4-FFF2-40B4-BE49-F238E27FC236}">
                <a16:creationId xmlns:a16="http://schemas.microsoft.com/office/drawing/2014/main" id="{0AF5CE2E-2255-A788-F029-07167611F1A8}"/>
              </a:ext>
            </a:extLst>
          </p:cNvPr>
          <p:cNvSpPr/>
          <p:nvPr/>
        </p:nvSpPr>
        <p:spPr>
          <a:xfrm>
            <a:off x="5157459" y="3042877"/>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過去に問い合わせしたが未申込の層に、3〜6ヶ月後を目安に再接触。「新しいプランができました」「条件が改善されました」という切り口が再CVに有効。</a:t>
            </a:r>
            <a:endParaRPr lang="en-US" sz="600" dirty="0">
              <a:latin typeface="メイリオ" panose="020B0604030504040204" pitchFamily="50" charset="-128"/>
              <a:ea typeface="メイリオ" panose="020B0604030504040204" pitchFamily="50" charset="-128"/>
            </a:endParaRPr>
          </a:p>
        </p:txBody>
      </p:sp>
      <p:sp>
        <p:nvSpPr>
          <p:cNvPr id="383" name="Shape 77">
            <a:extLst>
              <a:ext uri="{FF2B5EF4-FFF2-40B4-BE49-F238E27FC236}">
                <a16:creationId xmlns:a16="http://schemas.microsoft.com/office/drawing/2014/main" id="{4E4B79B4-719F-E82E-34BC-1FDB6969E4DA}"/>
              </a:ext>
            </a:extLst>
          </p:cNvPr>
          <p:cNvSpPr/>
          <p:nvPr/>
        </p:nvSpPr>
        <p:spPr>
          <a:xfrm>
            <a:off x="5139171" y="3390349"/>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5" name="Text 78">
            <a:extLst>
              <a:ext uri="{FF2B5EF4-FFF2-40B4-BE49-F238E27FC236}">
                <a16:creationId xmlns:a16="http://schemas.microsoft.com/office/drawing/2014/main" id="{5AD0E7CC-7987-CDC0-51C0-C45C57A162F8}"/>
              </a:ext>
            </a:extLst>
          </p:cNvPr>
          <p:cNvSpPr/>
          <p:nvPr/>
        </p:nvSpPr>
        <p:spPr>
          <a:xfrm>
            <a:off x="5139171" y="339034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失注後3〜6ヶ月</a:t>
            </a:r>
            <a:endParaRPr lang="en-US" sz="700" dirty="0">
              <a:latin typeface="メイリオ" panose="020B0604030504040204" pitchFamily="50" charset="-128"/>
              <a:ea typeface="メイリオ" panose="020B0604030504040204" pitchFamily="50" charset="-128"/>
            </a:endParaRPr>
          </a:p>
        </p:txBody>
      </p:sp>
      <p:sp>
        <p:nvSpPr>
          <p:cNvPr id="387" name="Shape 79">
            <a:extLst>
              <a:ext uri="{FF2B5EF4-FFF2-40B4-BE49-F238E27FC236}">
                <a16:creationId xmlns:a16="http://schemas.microsoft.com/office/drawing/2014/main" id="{F0421E50-A8C1-66B8-6E6F-D74D7601A19C}"/>
              </a:ext>
            </a:extLst>
          </p:cNvPr>
          <p:cNvSpPr/>
          <p:nvPr/>
        </p:nvSpPr>
        <p:spPr>
          <a:xfrm>
            <a:off x="6413235" y="348178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9" name="Text 80">
            <a:extLst>
              <a:ext uri="{FF2B5EF4-FFF2-40B4-BE49-F238E27FC236}">
                <a16:creationId xmlns:a16="http://schemas.microsoft.com/office/drawing/2014/main" id="{65A5B5BF-4145-BBC7-EEE4-1712EFD3CF93}"/>
              </a:ext>
            </a:extLst>
          </p:cNvPr>
          <p:cNvSpPr/>
          <p:nvPr/>
        </p:nvSpPr>
        <p:spPr>
          <a:xfrm>
            <a:off x="6413235" y="348178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1" name="Shape 81">
            <a:extLst>
              <a:ext uri="{FF2B5EF4-FFF2-40B4-BE49-F238E27FC236}">
                <a16:creationId xmlns:a16="http://schemas.microsoft.com/office/drawing/2014/main" id="{9EA3BBF7-3315-16D0-DC9B-BE1C67242EA7}"/>
              </a:ext>
            </a:extLst>
          </p:cNvPr>
          <p:cNvSpPr/>
          <p:nvPr/>
        </p:nvSpPr>
        <p:spPr>
          <a:xfrm>
            <a:off x="6504675" y="3390349"/>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dirty="0" err="1">
                <a:solidFill>
                  <a:srgbClr val="FFFFFF"/>
                </a:solidFill>
                <a:latin typeface="メイリオ" panose="020B0604030504040204" pitchFamily="50" charset="-128"/>
                <a:ea typeface="メイリオ" panose="020B0604030504040204" pitchFamily="50" charset="-128"/>
                <a:cs typeface="Calibri" pitchFamily="34" charset="-120"/>
              </a:rPr>
              <a:t>状況再確認配信</a:t>
            </a:r>
            <a:endParaRPr lang="en-US" altLang="ja-JP" sz="700" dirty="0">
              <a:latin typeface="メイリオ" panose="020B0604030504040204" pitchFamily="50" charset="-128"/>
              <a:ea typeface="メイリオ" panose="020B0604030504040204" pitchFamily="50" charset="-128"/>
            </a:endParaRPr>
          </a:p>
        </p:txBody>
      </p:sp>
      <p:sp>
        <p:nvSpPr>
          <p:cNvPr id="395" name="Shape 83">
            <a:extLst>
              <a:ext uri="{FF2B5EF4-FFF2-40B4-BE49-F238E27FC236}">
                <a16:creationId xmlns:a16="http://schemas.microsoft.com/office/drawing/2014/main" id="{DC049964-E96C-C1BF-7C7A-F15300037114}"/>
              </a:ext>
            </a:extLst>
          </p:cNvPr>
          <p:cNvSpPr/>
          <p:nvPr/>
        </p:nvSpPr>
        <p:spPr>
          <a:xfrm>
            <a:off x="7778739" y="348178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7" name="Text 84">
            <a:extLst>
              <a:ext uri="{FF2B5EF4-FFF2-40B4-BE49-F238E27FC236}">
                <a16:creationId xmlns:a16="http://schemas.microsoft.com/office/drawing/2014/main" id="{51EFCC51-0F78-4F8D-C532-B98FB0AF559F}"/>
              </a:ext>
            </a:extLst>
          </p:cNvPr>
          <p:cNvSpPr/>
          <p:nvPr/>
        </p:nvSpPr>
        <p:spPr>
          <a:xfrm>
            <a:off x="7778739" y="348178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9" name="Shape 85">
            <a:extLst>
              <a:ext uri="{FF2B5EF4-FFF2-40B4-BE49-F238E27FC236}">
                <a16:creationId xmlns:a16="http://schemas.microsoft.com/office/drawing/2014/main" id="{58F818F9-0832-56EA-F61B-C4AA37B01F57}"/>
              </a:ext>
            </a:extLst>
          </p:cNvPr>
          <p:cNvSpPr/>
          <p:nvPr/>
        </p:nvSpPr>
        <p:spPr>
          <a:xfrm>
            <a:off x="7870179" y="3390349"/>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1" name="Text 86">
            <a:extLst>
              <a:ext uri="{FF2B5EF4-FFF2-40B4-BE49-F238E27FC236}">
                <a16:creationId xmlns:a16="http://schemas.microsoft.com/office/drawing/2014/main" id="{9B117C4F-B6A8-E365-C69E-36D76F40D869}"/>
              </a:ext>
            </a:extLst>
          </p:cNvPr>
          <p:cNvSpPr/>
          <p:nvPr/>
        </p:nvSpPr>
        <p:spPr>
          <a:xfrm>
            <a:off x="7870179" y="339034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再CV誘導</a:t>
            </a:r>
            <a:endParaRPr lang="en-US" sz="700" dirty="0">
              <a:latin typeface="メイリオ" panose="020B0604030504040204" pitchFamily="50" charset="-128"/>
              <a:ea typeface="メイリオ" panose="020B0604030504040204" pitchFamily="50" charset="-128"/>
            </a:endParaRPr>
          </a:p>
        </p:txBody>
      </p:sp>
      <p:sp>
        <p:nvSpPr>
          <p:cNvPr id="403" name="Shape 87">
            <a:extLst>
              <a:ext uri="{FF2B5EF4-FFF2-40B4-BE49-F238E27FC236}">
                <a16:creationId xmlns:a16="http://schemas.microsoft.com/office/drawing/2014/main" id="{5F6AFF3E-D4D9-71AD-93DC-B81C9B4D82B7}"/>
              </a:ext>
            </a:extLst>
          </p:cNvPr>
          <p:cNvSpPr/>
          <p:nvPr/>
        </p:nvSpPr>
        <p:spPr>
          <a:xfrm>
            <a:off x="5047731" y="3884887"/>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7" name="Shape 89">
            <a:extLst>
              <a:ext uri="{FF2B5EF4-FFF2-40B4-BE49-F238E27FC236}">
                <a16:creationId xmlns:a16="http://schemas.microsoft.com/office/drawing/2014/main" id="{D1B45F88-544D-FBED-408C-8209CA691AC8}"/>
              </a:ext>
            </a:extLst>
          </p:cNvPr>
          <p:cNvSpPr/>
          <p:nvPr/>
        </p:nvSpPr>
        <p:spPr>
          <a:xfrm>
            <a:off x="5157459" y="3976327"/>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9" name="Text 90">
            <a:extLst>
              <a:ext uri="{FF2B5EF4-FFF2-40B4-BE49-F238E27FC236}">
                <a16:creationId xmlns:a16="http://schemas.microsoft.com/office/drawing/2014/main" id="{592A9BD1-F0B8-60E4-8129-402CDDB4073D}"/>
              </a:ext>
            </a:extLst>
          </p:cNvPr>
          <p:cNvSpPr/>
          <p:nvPr/>
        </p:nvSpPr>
        <p:spPr>
          <a:xfrm>
            <a:off x="5157459" y="3976327"/>
            <a:ext cx="274320" cy="274320"/>
          </a:xfrm>
          <a:prstGeom prst="rect">
            <a:avLst/>
          </a:prstGeom>
          <a:noFill/>
          <a:ln>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13" name="Text 92">
            <a:extLst>
              <a:ext uri="{FF2B5EF4-FFF2-40B4-BE49-F238E27FC236}">
                <a16:creationId xmlns:a16="http://schemas.microsoft.com/office/drawing/2014/main" id="{1B276E55-4348-C44C-DC53-C0E12FAE38EA}"/>
              </a:ext>
            </a:extLst>
          </p:cNvPr>
          <p:cNvSpPr/>
          <p:nvPr/>
        </p:nvSpPr>
        <p:spPr>
          <a:xfrm>
            <a:off x="5504931" y="4003759"/>
            <a:ext cx="859536" cy="201168"/>
          </a:xfrm>
          <a:prstGeom prst="rect">
            <a:avLst/>
          </a:prstGeom>
          <a:noFill/>
          <a:ln/>
        </p:spPr>
        <p:txBody>
          <a:bodyPr wrap="square" lIns="0" tIns="0" rIns="0" bIns="0" rtlCol="0" anchor="ctr"/>
          <a:lstStyle/>
          <a:p>
            <a:pPr marL="0" indent="0" algn="ctr">
              <a:buNone/>
            </a:pPr>
            <a:endParaRPr lang="en-US" sz="500" dirty="0">
              <a:latin typeface="メイリオ" panose="020B0604030504040204" pitchFamily="50" charset="-128"/>
              <a:ea typeface="メイリオ" panose="020B0604030504040204" pitchFamily="50" charset="-128"/>
            </a:endParaRPr>
          </a:p>
        </p:txBody>
      </p:sp>
      <p:sp>
        <p:nvSpPr>
          <p:cNvPr id="415" name="Text 93">
            <a:extLst>
              <a:ext uri="{FF2B5EF4-FFF2-40B4-BE49-F238E27FC236}">
                <a16:creationId xmlns:a16="http://schemas.microsoft.com/office/drawing/2014/main" id="{80CB45ED-8383-FD42-4282-965B68B36BF6}"/>
              </a:ext>
            </a:extLst>
          </p:cNvPr>
          <p:cNvSpPr/>
          <p:nvPr/>
        </p:nvSpPr>
        <p:spPr>
          <a:xfrm>
            <a:off x="6419331" y="3976327"/>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資料請求のみ・見学未来場層へのリマインド配信</a:t>
            </a:r>
            <a:endParaRPr lang="en-US" sz="1000" dirty="0">
              <a:latin typeface="メイリオ" panose="020B0604030504040204" pitchFamily="50" charset="-128"/>
              <a:ea typeface="メイリオ" panose="020B0604030504040204" pitchFamily="50" charset="-128"/>
            </a:endParaRPr>
          </a:p>
        </p:txBody>
      </p:sp>
      <p:sp>
        <p:nvSpPr>
          <p:cNvPr id="417" name="Text 94">
            <a:extLst>
              <a:ext uri="{FF2B5EF4-FFF2-40B4-BE49-F238E27FC236}">
                <a16:creationId xmlns:a16="http://schemas.microsoft.com/office/drawing/2014/main" id="{AEF4A7E3-C254-08CE-C1D1-259691AA1AE0}"/>
              </a:ext>
            </a:extLst>
          </p:cNvPr>
          <p:cNvSpPr/>
          <p:nvPr/>
        </p:nvSpPr>
        <p:spPr>
          <a:xfrm>
            <a:off x="5157459" y="4305511"/>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資料請求・問い合わせのみで申込に至っていない層に特化したステップ配信を設計。「無料相談受付中」「今月末で受付終了」等のCTAで背中を押す。</a:t>
            </a:r>
            <a:endParaRPr lang="en-US" sz="600" dirty="0">
              <a:latin typeface="メイリオ" panose="020B0604030504040204" pitchFamily="50" charset="-128"/>
              <a:ea typeface="メイリオ" panose="020B0604030504040204" pitchFamily="50" charset="-128"/>
            </a:endParaRPr>
          </a:p>
        </p:txBody>
      </p:sp>
      <p:sp>
        <p:nvSpPr>
          <p:cNvPr id="419" name="Shape 95">
            <a:extLst>
              <a:ext uri="{FF2B5EF4-FFF2-40B4-BE49-F238E27FC236}">
                <a16:creationId xmlns:a16="http://schemas.microsoft.com/office/drawing/2014/main" id="{620086D7-B11A-B51E-6EBE-09AABF87761F}"/>
              </a:ext>
            </a:extLst>
          </p:cNvPr>
          <p:cNvSpPr/>
          <p:nvPr/>
        </p:nvSpPr>
        <p:spPr>
          <a:xfrm>
            <a:off x="5139171" y="4652983"/>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1" name="Text 96">
            <a:extLst>
              <a:ext uri="{FF2B5EF4-FFF2-40B4-BE49-F238E27FC236}">
                <a16:creationId xmlns:a16="http://schemas.microsoft.com/office/drawing/2014/main" id="{0A5E544F-BFBF-5FCC-DE72-1F0EA2CD109F}"/>
              </a:ext>
            </a:extLst>
          </p:cNvPr>
          <p:cNvSpPr/>
          <p:nvPr/>
        </p:nvSpPr>
        <p:spPr>
          <a:xfrm>
            <a:off x="5139171" y="465298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行動履歴取得</a:t>
            </a:r>
            <a:endParaRPr lang="en-US" sz="700" dirty="0">
              <a:latin typeface="メイリオ" panose="020B0604030504040204" pitchFamily="50" charset="-128"/>
              <a:ea typeface="メイリオ" panose="020B0604030504040204" pitchFamily="50" charset="-128"/>
            </a:endParaRPr>
          </a:p>
        </p:txBody>
      </p:sp>
      <p:sp>
        <p:nvSpPr>
          <p:cNvPr id="423" name="Shape 97">
            <a:extLst>
              <a:ext uri="{FF2B5EF4-FFF2-40B4-BE49-F238E27FC236}">
                <a16:creationId xmlns:a16="http://schemas.microsoft.com/office/drawing/2014/main" id="{437F2371-56CA-9C8D-898A-5718BBBC16BD}"/>
              </a:ext>
            </a:extLst>
          </p:cNvPr>
          <p:cNvSpPr/>
          <p:nvPr/>
        </p:nvSpPr>
        <p:spPr>
          <a:xfrm>
            <a:off x="6413235" y="474442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5" name="Text 98">
            <a:extLst>
              <a:ext uri="{FF2B5EF4-FFF2-40B4-BE49-F238E27FC236}">
                <a16:creationId xmlns:a16="http://schemas.microsoft.com/office/drawing/2014/main" id="{F6BB9355-F36A-724C-0AF5-0A7D58041D0E}"/>
              </a:ext>
            </a:extLst>
          </p:cNvPr>
          <p:cNvSpPr/>
          <p:nvPr/>
        </p:nvSpPr>
        <p:spPr>
          <a:xfrm>
            <a:off x="6413235" y="474442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7" name="Shape 99">
            <a:extLst>
              <a:ext uri="{FF2B5EF4-FFF2-40B4-BE49-F238E27FC236}">
                <a16:creationId xmlns:a16="http://schemas.microsoft.com/office/drawing/2014/main" id="{A92E3EF4-24A4-2366-71A1-E5DDC1CAC6F2}"/>
              </a:ext>
            </a:extLst>
          </p:cNvPr>
          <p:cNvSpPr/>
          <p:nvPr/>
        </p:nvSpPr>
        <p:spPr>
          <a:xfrm>
            <a:off x="6504675" y="4652983"/>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9" name="Text 100">
            <a:extLst>
              <a:ext uri="{FF2B5EF4-FFF2-40B4-BE49-F238E27FC236}">
                <a16:creationId xmlns:a16="http://schemas.microsoft.com/office/drawing/2014/main" id="{0D73681F-6C0D-7920-A565-AF64BA896102}"/>
              </a:ext>
            </a:extLst>
          </p:cNvPr>
          <p:cNvSpPr/>
          <p:nvPr/>
        </p:nvSpPr>
        <p:spPr>
          <a:xfrm>
            <a:off x="6504675" y="465298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リマインド配信</a:t>
            </a:r>
            <a:endParaRPr lang="en-US" sz="700" dirty="0">
              <a:latin typeface="メイリオ" panose="020B0604030504040204" pitchFamily="50" charset="-128"/>
              <a:ea typeface="メイリオ" panose="020B0604030504040204" pitchFamily="50" charset="-128"/>
            </a:endParaRPr>
          </a:p>
        </p:txBody>
      </p:sp>
      <p:sp>
        <p:nvSpPr>
          <p:cNvPr id="431" name="Shape 101">
            <a:extLst>
              <a:ext uri="{FF2B5EF4-FFF2-40B4-BE49-F238E27FC236}">
                <a16:creationId xmlns:a16="http://schemas.microsoft.com/office/drawing/2014/main" id="{3B3A64CC-6A13-370D-9373-AD0FB06E375E}"/>
              </a:ext>
            </a:extLst>
          </p:cNvPr>
          <p:cNvSpPr/>
          <p:nvPr/>
        </p:nvSpPr>
        <p:spPr>
          <a:xfrm>
            <a:off x="7778739" y="474442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3" name="Text 102">
            <a:extLst>
              <a:ext uri="{FF2B5EF4-FFF2-40B4-BE49-F238E27FC236}">
                <a16:creationId xmlns:a16="http://schemas.microsoft.com/office/drawing/2014/main" id="{4F5D5A55-D409-4FDA-49E0-1758FEAFEE48}"/>
              </a:ext>
            </a:extLst>
          </p:cNvPr>
          <p:cNvSpPr/>
          <p:nvPr/>
        </p:nvSpPr>
        <p:spPr>
          <a:xfrm>
            <a:off x="7778739" y="474442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5" name="Shape 103">
            <a:extLst>
              <a:ext uri="{FF2B5EF4-FFF2-40B4-BE49-F238E27FC236}">
                <a16:creationId xmlns:a16="http://schemas.microsoft.com/office/drawing/2014/main" id="{E0FBF11F-8E0A-C526-CF1A-16BB189BC592}"/>
              </a:ext>
            </a:extLst>
          </p:cNvPr>
          <p:cNvSpPr/>
          <p:nvPr/>
        </p:nvSpPr>
        <p:spPr>
          <a:xfrm>
            <a:off x="7870179" y="4652983"/>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7" name="Text 104">
            <a:extLst>
              <a:ext uri="{FF2B5EF4-FFF2-40B4-BE49-F238E27FC236}">
                <a16:creationId xmlns:a16="http://schemas.microsoft.com/office/drawing/2014/main" id="{35AF2962-900D-E7A7-6796-0642679811B9}"/>
              </a:ext>
            </a:extLst>
          </p:cNvPr>
          <p:cNvSpPr/>
          <p:nvPr/>
        </p:nvSpPr>
        <p:spPr>
          <a:xfrm>
            <a:off x="7870179" y="465298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最終CVオファー</a:t>
            </a:r>
            <a:endParaRPr lang="en-US" sz="700" dirty="0">
              <a:latin typeface="メイリオ" panose="020B0604030504040204" pitchFamily="50" charset="-128"/>
              <a:ea typeface="メイリオ" panose="020B0604030504040204" pitchFamily="50" charset="-128"/>
            </a:endParaRPr>
          </a:p>
        </p:txBody>
      </p:sp>
      <p:sp>
        <p:nvSpPr>
          <p:cNvPr id="439" name="Shape 105">
            <a:extLst>
              <a:ext uri="{FF2B5EF4-FFF2-40B4-BE49-F238E27FC236}">
                <a16:creationId xmlns:a16="http://schemas.microsoft.com/office/drawing/2014/main" id="{991461E6-A613-71C0-FEED-105A9B53A82F}"/>
              </a:ext>
            </a:extLst>
          </p:cNvPr>
          <p:cNvSpPr/>
          <p:nvPr/>
        </p:nvSpPr>
        <p:spPr>
          <a:xfrm>
            <a:off x="5047731" y="5147521"/>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3" name="Shape 107">
            <a:extLst>
              <a:ext uri="{FF2B5EF4-FFF2-40B4-BE49-F238E27FC236}">
                <a16:creationId xmlns:a16="http://schemas.microsoft.com/office/drawing/2014/main" id="{B151BD68-31EC-2062-2399-27CE0A52BCDA}"/>
              </a:ext>
            </a:extLst>
          </p:cNvPr>
          <p:cNvSpPr/>
          <p:nvPr/>
        </p:nvSpPr>
        <p:spPr>
          <a:xfrm>
            <a:off x="5157459" y="5238961"/>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5" name="Text 108">
            <a:extLst>
              <a:ext uri="{FF2B5EF4-FFF2-40B4-BE49-F238E27FC236}">
                <a16:creationId xmlns:a16="http://schemas.microsoft.com/office/drawing/2014/main" id="{2838910A-123C-E9FE-5AF1-45001B06EE8A}"/>
              </a:ext>
            </a:extLst>
          </p:cNvPr>
          <p:cNvSpPr/>
          <p:nvPr/>
        </p:nvSpPr>
        <p:spPr>
          <a:xfrm>
            <a:off x="5157459" y="5238961"/>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7" name="Shape 109">
            <a:extLst>
              <a:ext uri="{FF2B5EF4-FFF2-40B4-BE49-F238E27FC236}">
                <a16:creationId xmlns:a16="http://schemas.microsoft.com/office/drawing/2014/main" id="{7AACC6BD-1A7A-0ECC-2C70-E171A4B73D2E}"/>
              </a:ext>
            </a:extLst>
          </p:cNvPr>
          <p:cNvSpPr/>
          <p:nvPr/>
        </p:nvSpPr>
        <p:spPr>
          <a:xfrm>
            <a:off x="5504931" y="5266393"/>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9" name="Text 110">
            <a:extLst>
              <a:ext uri="{FF2B5EF4-FFF2-40B4-BE49-F238E27FC236}">
                <a16:creationId xmlns:a16="http://schemas.microsoft.com/office/drawing/2014/main" id="{5D30EE12-A5B1-F69B-1B36-9BA013EE1870}"/>
              </a:ext>
            </a:extLst>
          </p:cNvPr>
          <p:cNvSpPr/>
          <p:nvPr/>
        </p:nvSpPr>
        <p:spPr>
          <a:xfrm>
            <a:off x="5504931" y="5266393"/>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長期離脱層</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51" name="Text 111">
            <a:extLst>
              <a:ext uri="{FF2B5EF4-FFF2-40B4-BE49-F238E27FC236}">
                <a16:creationId xmlns:a16="http://schemas.microsoft.com/office/drawing/2014/main" id="{11D406F6-8148-4982-8BAD-ED92DE292139}"/>
              </a:ext>
            </a:extLst>
          </p:cNvPr>
          <p:cNvSpPr/>
          <p:nvPr/>
        </p:nvSpPr>
        <p:spPr>
          <a:xfrm>
            <a:off x="6419331" y="5238961"/>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「ご無沙汰ユーザー」へ限定特典で関係再構築</a:t>
            </a:r>
            <a:endParaRPr lang="en-US" sz="1000" dirty="0">
              <a:latin typeface="メイリオ" panose="020B0604030504040204" pitchFamily="50" charset="-128"/>
              <a:ea typeface="メイリオ" panose="020B0604030504040204" pitchFamily="50" charset="-128"/>
            </a:endParaRPr>
          </a:p>
        </p:txBody>
      </p:sp>
      <p:sp>
        <p:nvSpPr>
          <p:cNvPr id="453" name="Text 112">
            <a:extLst>
              <a:ext uri="{FF2B5EF4-FFF2-40B4-BE49-F238E27FC236}">
                <a16:creationId xmlns:a16="http://schemas.microsoft.com/office/drawing/2014/main" id="{508C543F-C9AB-A60B-8018-61A15273F0DE}"/>
              </a:ext>
            </a:extLst>
          </p:cNvPr>
          <p:cNvSpPr/>
          <p:nvPr/>
        </p:nvSpPr>
        <p:spPr>
          <a:xfrm>
            <a:off x="5157459" y="5568145"/>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6ヶ月以上アクションがないユーザーに「久しぶりにご連絡します」という自然なトーンで接触。業界ニュース・役立つコンテンツから入り、関係を再構築してからCVを狙う。</a:t>
            </a:r>
            <a:endParaRPr lang="en-US" sz="600" dirty="0">
              <a:latin typeface="メイリオ" panose="020B0604030504040204" pitchFamily="50" charset="-128"/>
              <a:ea typeface="メイリオ" panose="020B0604030504040204" pitchFamily="50" charset="-128"/>
            </a:endParaRPr>
          </a:p>
        </p:txBody>
      </p:sp>
      <p:sp>
        <p:nvSpPr>
          <p:cNvPr id="455" name="Shape 113">
            <a:extLst>
              <a:ext uri="{FF2B5EF4-FFF2-40B4-BE49-F238E27FC236}">
                <a16:creationId xmlns:a16="http://schemas.microsoft.com/office/drawing/2014/main" id="{0D84DDA0-BF3C-451C-FA1C-5C4E0CC796E5}"/>
              </a:ext>
            </a:extLst>
          </p:cNvPr>
          <p:cNvSpPr/>
          <p:nvPr/>
        </p:nvSpPr>
        <p:spPr>
          <a:xfrm>
            <a:off x="5139171" y="5915617"/>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7" name="Text 114">
            <a:extLst>
              <a:ext uri="{FF2B5EF4-FFF2-40B4-BE49-F238E27FC236}">
                <a16:creationId xmlns:a16="http://schemas.microsoft.com/office/drawing/2014/main" id="{A87F45F7-ABD3-CEBF-4AF2-8CB3A30A3DC0}"/>
              </a:ext>
            </a:extLst>
          </p:cNvPr>
          <p:cNvSpPr/>
          <p:nvPr/>
        </p:nvSpPr>
        <p:spPr>
          <a:xfrm>
            <a:off x="5139171" y="5915617"/>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コンテンツ接触</a:t>
            </a:r>
            <a:endParaRPr lang="en-US" sz="700" dirty="0">
              <a:latin typeface="メイリオ" panose="020B0604030504040204" pitchFamily="50" charset="-128"/>
              <a:ea typeface="メイリオ" panose="020B0604030504040204" pitchFamily="50" charset="-128"/>
            </a:endParaRPr>
          </a:p>
        </p:txBody>
      </p:sp>
      <p:sp>
        <p:nvSpPr>
          <p:cNvPr id="459" name="Shape 115">
            <a:extLst>
              <a:ext uri="{FF2B5EF4-FFF2-40B4-BE49-F238E27FC236}">
                <a16:creationId xmlns:a16="http://schemas.microsoft.com/office/drawing/2014/main" id="{21CA3B89-DC5E-AD89-5676-C5B918F75004}"/>
              </a:ext>
            </a:extLst>
          </p:cNvPr>
          <p:cNvSpPr/>
          <p:nvPr/>
        </p:nvSpPr>
        <p:spPr>
          <a:xfrm>
            <a:off x="6413235" y="6007057"/>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1" name="Text 116">
            <a:extLst>
              <a:ext uri="{FF2B5EF4-FFF2-40B4-BE49-F238E27FC236}">
                <a16:creationId xmlns:a16="http://schemas.microsoft.com/office/drawing/2014/main" id="{2B5EBEB8-BD89-88B8-B0AF-DB4EF15161B3}"/>
              </a:ext>
            </a:extLst>
          </p:cNvPr>
          <p:cNvSpPr/>
          <p:nvPr/>
        </p:nvSpPr>
        <p:spPr>
          <a:xfrm>
            <a:off x="6413235" y="6007057"/>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3" name="Shape 117">
            <a:extLst>
              <a:ext uri="{FF2B5EF4-FFF2-40B4-BE49-F238E27FC236}">
                <a16:creationId xmlns:a16="http://schemas.microsoft.com/office/drawing/2014/main" id="{D5BA2610-8ECE-0E46-5DE9-D84256F4ABB7}"/>
              </a:ext>
            </a:extLst>
          </p:cNvPr>
          <p:cNvSpPr/>
          <p:nvPr/>
        </p:nvSpPr>
        <p:spPr>
          <a:xfrm>
            <a:off x="6504675" y="5915617"/>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関係再構築</a:t>
            </a:r>
            <a:endParaRPr lang="en-US" altLang="ja-JP" sz="700" dirty="0">
              <a:latin typeface="メイリオ" panose="020B0604030504040204" pitchFamily="50" charset="-128"/>
              <a:ea typeface="メイリオ" panose="020B0604030504040204" pitchFamily="50" charset="-128"/>
            </a:endParaRPr>
          </a:p>
        </p:txBody>
      </p:sp>
      <p:sp>
        <p:nvSpPr>
          <p:cNvPr id="467" name="Shape 119">
            <a:extLst>
              <a:ext uri="{FF2B5EF4-FFF2-40B4-BE49-F238E27FC236}">
                <a16:creationId xmlns:a16="http://schemas.microsoft.com/office/drawing/2014/main" id="{ECDAE41D-74EE-70DA-6BA7-EFBBEFFC654B}"/>
              </a:ext>
            </a:extLst>
          </p:cNvPr>
          <p:cNvSpPr/>
          <p:nvPr/>
        </p:nvSpPr>
        <p:spPr>
          <a:xfrm>
            <a:off x="7778739" y="6007057"/>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9" name="Text 120">
            <a:extLst>
              <a:ext uri="{FF2B5EF4-FFF2-40B4-BE49-F238E27FC236}">
                <a16:creationId xmlns:a16="http://schemas.microsoft.com/office/drawing/2014/main" id="{CB14E44B-796A-6A2D-D1B3-013FACC24DEC}"/>
              </a:ext>
            </a:extLst>
          </p:cNvPr>
          <p:cNvSpPr/>
          <p:nvPr/>
        </p:nvSpPr>
        <p:spPr>
          <a:xfrm>
            <a:off x="7778739" y="6007057"/>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71" name="Shape 121">
            <a:extLst>
              <a:ext uri="{FF2B5EF4-FFF2-40B4-BE49-F238E27FC236}">
                <a16:creationId xmlns:a16="http://schemas.microsoft.com/office/drawing/2014/main" id="{75D4D855-A0E2-F793-0792-F5696FFF8659}"/>
              </a:ext>
            </a:extLst>
          </p:cNvPr>
          <p:cNvSpPr/>
          <p:nvPr/>
        </p:nvSpPr>
        <p:spPr>
          <a:xfrm>
            <a:off x="7870179" y="5915617"/>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73" name="Text 122">
            <a:extLst>
              <a:ext uri="{FF2B5EF4-FFF2-40B4-BE49-F238E27FC236}">
                <a16:creationId xmlns:a16="http://schemas.microsoft.com/office/drawing/2014/main" id="{B61DFFD1-F302-D0F1-D19E-8923951471AC}"/>
              </a:ext>
            </a:extLst>
          </p:cNvPr>
          <p:cNvSpPr/>
          <p:nvPr/>
        </p:nvSpPr>
        <p:spPr>
          <a:xfrm>
            <a:off x="7870179" y="5915617"/>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CV誘導</a:t>
            </a:r>
            <a:endParaRPr lang="en-US" sz="700" dirty="0">
              <a:latin typeface="メイリオ" panose="020B0604030504040204" pitchFamily="50" charset="-128"/>
              <a:ea typeface="メイリオ" panose="020B0604030504040204" pitchFamily="50" charset="-128"/>
            </a:endParaRPr>
          </a:p>
        </p:txBody>
      </p:sp>
      <p:sp>
        <p:nvSpPr>
          <p:cNvPr id="9" name="Text 110">
            <a:extLst>
              <a:ext uri="{FF2B5EF4-FFF2-40B4-BE49-F238E27FC236}">
                <a16:creationId xmlns:a16="http://schemas.microsoft.com/office/drawing/2014/main" id="{D50F457C-0303-AF4A-FC6E-E83638F895A9}"/>
              </a:ext>
            </a:extLst>
          </p:cNvPr>
          <p:cNvSpPr/>
          <p:nvPr/>
        </p:nvSpPr>
        <p:spPr>
          <a:xfrm>
            <a:off x="5504931" y="4012903"/>
            <a:ext cx="859536" cy="201168"/>
          </a:xfrm>
          <a:prstGeom prst="rect">
            <a:avLst/>
          </a:prstGeom>
          <a:solidFill>
            <a:schemeClr val="tx2"/>
          </a:solidFill>
          <a:ln/>
        </p:spPr>
        <p:txBody>
          <a:bodyPr wrap="square" lIns="0" tIns="0" rIns="0" bIns="0" rtlCol="0" anchor="ctr"/>
          <a:lstStyle/>
          <a:p>
            <a:pPr marL="0" indent="0" algn="ctr">
              <a:buNone/>
            </a:pPr>
            <a:r>
              <a:rPr lang="ja-JP" altLang="en-US" sz="700" b="1" dirty="0">
                <a:solidFill>
                  <a:srgbClr val="FDFDFD"/>
                </a:solidFill>
                <a:latin typeface="メイリオ" panose="020B0604030504040204" pitchFamily="50" charset="-128"/>
                <a:ea typeface="メイリオ" panose="020B0604030504040204" pitchFamily="50" charset="-128"/>
              </a:rPr>
              <a:t>購入検討層</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13" name="Text 110">
            <a:extLst>
              <a:ext uri="{FF2B5EF4-FFF2-40B4-BE49-F238E27FC236}">
                <a16:creationId xmlns:a16="http://schemas.microsoft.com/office/drawing/2014/main" id="{842F8CC1-6BB0-E2D8-D691-F619A1535EB4}"/>
              </a:ext>
            </a:extLst>
          </p:cNvPr>
          <p:cNvSpPr/>
          <p:nvPr/>
        </p:nvSpPr>
        <p:spPr>
          <a:xfrm>
            <a:off x="1060947" y="5264318"/>
            <a:ext cx="859536" cy="201168"/>
          </a:xfrm>
          <a:prstGeom prst="rect">
            <a:avLst/>
          </a:prstGeom>
          <a:solidFill>
            <a:schemeClr val="tx2"/>
          </a:solidFill>
          <a:ln/>
        </p:spPr>
        <p:txBody>
          <a:bodyPr wrap="square" lIns="0" tIns="0" rIns="0" bIns="0" rtlCol="0" anchor="ctr"/>
          <a:lstStyle/>
          <a:p>
            <a:pPr marL="0" indent="0" algn="ctr">
              <a:buNone/>
            </a:pPr>
            <a:r>
              <a:rPr lang="ja-JP" altLang="en-US" sz="700" b="1" dirty="0">
                <a:solidFill>
                  <a:srgbClr val="FDFDFD"/>
                </a:solidFill>
                <a:latin typeface="メイリオ" panose="020B0604030504040204" pitchFamily="50" charset="-128"/>
                <a:ea typeface="メイリオ" panose="020B0604030504040204" pitchFamily="50" charset="-128"/>
                <a:cs typeface="Calibri" pitchFamily="34" charset="-120"/>
              </a:rPr>
              <a:t>再スクリーニング</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15" name="Text 38">
            <a:extLst>
              <a:ext uri="{FF2B5EF4-FFF2-40B4-BE49-F238E27FC236}">
                <a16:creationId xmlns:a16="http://schemas.microsoft.com/office/drawing/2014/main" id="{3534AFB2-278D-FF29-BCC6-4EA3CABA4614}"/>
              </a:ext>
            </a:extLst>
          </p:cNvPr>
          <p:cNvSpPr/>
          <p:nvPr/>
        </p:nvSpPr>
        <p:spPr>
          <a:xfrm>
            <a:off x="1060947" y="2739050"/>
            <a:ext cx="859536" cy="201168"/>
          </a:xfrm>
          <a:prstGeom prst="rect">
            <a:avLst/>
          </a:prstGeom>
          <a:solidFill>
            <a:schemeClr val="tx2"/>
          </a:solidFill>
          <a:ln/>
        </p:spPr>
        <p:txBody>
          <a:bodyPr wrap="square" lIns="0" tIns="0" rIns="0" bIns="0" rtlCol="0" anchor="ctr"/>
          <a:lstStyle/>
          <a:p>
            <a:pPr marL="0" indent="0" algn="ctr">
              <a:buNone/>
            </a:pPr>
            <a:r>
              <a:rPr lang="ja-JP" altLang="en-US" sz="700" b="1" dirty="0">
                <a:solidFill>
                  <a:srgbClr val="FDFDFD"/>
                </a:solidFill>
                <a:latin typeface="メイリオ" panose="020B0604030504040204" pitchFamily="50" charset="-128"/>
                <a:ea typeface="メイリオ" panose="020B0604030504040204" pitchFamily="50" charset="-128"/>
                <a:cs typeface="Calibri" pitchFamily="34" charset="-120"/>
              </a:rPr>
              <a:t>リスト活性化</a:t>
            </a:r>
            <a:endParaRPr lang="en-US" sz="700" dirty="0">
              <a:solidFill>
                <a:srgbClr val="FDFDFD"/>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0125450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4B6A2-11F2-64AD-4DDE-1248419C631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11AA335-9B44-6B58-2534-BB048200CA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72627B2D-8393-455B-0855-0EB48BEF4480}"/>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想定：リピート、追加工事・紹介を計画的に実施</a:t>
            </a:r>
          </a:p>
        </p:txBody>
      </p:sp>
      <p:sp>
        <p:nvSpPr>
          <p:cNvPr id="243" name="Shape 8">
            <a:extLst>
              <a:ext uri="{FF2B5EF4-FFF2-40B4-BE49-F238E27FC236}">
                <a16:creationId xmlns:a16="http://schemas.microsoft.com/office/drawing/2014/main" id="{25BEC70F-1CF8-F07A-EA93-FC6E8D940E95}"/>
              </a:ext>
            </a:extLst>
          </p:cNvPr>
          <p:cNvSpPr/>
          <p:nvPr/>
        </p:nvSpPr>
        <p:spPr>
          <a:xfrm>
            <a:off x="622035" y="219562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5" name="Text 9">
            <a:extLst>
              <a:ext uri="{FF2B5EF4-FFF2-40B4-BE49-F238E27FC236}">
                <a16:creationId xmlns:a16="http://schemas.microsoft.com/office/drawing/2014/main" id="{15FC7E1F-9877-CB06-F5F1-37331233B89F}"/>
              </a:ext>
            </a:extLst>
          </p:cNvPr>
          <p:cNvSpPr/>
          <p:nvPr/>
        </p:nvSpPr>
        <p:spPr>
          <a:xfrm>
            <a:off x="750051" y="2178652"/>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リピート施策</a:t>
            </a:r>
            <a:endParaRPr lang="en-US" sz="1000" dirty="0">
              <a:latin typeface="メイリオ" panose="020B0604030504040204" pitchFamily="50" charset="-128"/>
              <a:ea typeface="メイリオ" panose="020B0604030504040204" pitchFamily="50" charset="-128"/>
            </a:endParaRPr>
          </a:p>
        </p:txBody>
      </p:sp>
      <p:sp>
        <p:nvSpPr>
          <p:cNvPr id="247" name="Text 10">
            <a:extLst>
              <a:ext uri="{FF2B5EF4-FFF2-40B4-BE49-F238E27FC236}">
                <a16:creationId xmlns:a16="http://schemas.microsoft.com/office/drawing/2014/main" id="{04713F76-50FA-FA3F-D4BD-08DC408EA176}"/>
              </a:ext>
            </a:extLst>
          </p:cNvPr>
          <p:cNvSpPr/>
          <p:nvPr/>
        </p:nvSpPr>
        <p:spPr>
          <a:xfrm>
            <a:off x="2541313" y="2189103"/>
            <a:ext cx="2177234"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既存顧客を繰り返しCVさせる設計</a:t>
            </a:r>
            <a:endParaRPr lang="en-US" sz="700" dirty="0">
              <a:latin typeface="メイリオ" panose="020B0604030504040204" pitchFamily="50" charset="-128"/>
              <a:ea typeface="メイリオ" panose="020B0604030504040204" pitchFamily="50" charset="-128"/>
            </a:endParaRPr>
          </a:p>
        </p:txBody>
      </p:sp>
      <p:sp>
        <p:nvSpPr>
          <p:cNvPr id="249" name="Shape 11">
            <a:extLst>
              <a:ext uri="{FF2B5EF4-FFF2-40B4-BE49-F238E27FC236}">
                <a16:creationId xmlns:a16="http://schemas.microsoft.com/office/drawing/2014/main" id="{8636F3C8-63E7-CBB8-3872-E6B2584513F2}"/>
              </a:ext>
            </a:extLst>
          </p:cNvPr>
          <p:cNvSpPr/>
          <p:nvPr/>
        </p:nvSpPr>
        <p:spPr>
          <a:xfrm>
            <a:off x="5066019" y="219562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1" name="Text 12">
            <a:extLst>
              <a:ext uri="{FF2B5EF4-FFF2-40B4-BE49-F238E27FC236}">
                <a16:creationId xmlns:a16="http://schemas.microsoft.com/office/drawing/2014/main" id="{6615CF57-D24E-7288-7AB0-1DF692D04526}"/>
              </a:ext>
            </a:extLst>
          </p:cNvPr>
          <p:cNvSpPr/>
          <p:nvPr/>
        </p:nvSpPr>
        <p:spPr>
          <a:xfrm>
            <a:off x="5194035" y="2178652"/>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LTV拡張施策</a:t>
            </a:r>
            <a:endParaRPr lang="en-US" sz="1000" dirty="0">
              <a:latin typeface="メイリオ" panose="020B0604030504040204" pitchFamily="50" charset="-128"/>
              <a:ea typeface="メイリオ" panose="020B0604030504040204" pitchFamily="50" charset="-128"/>
            </a:endParaRPr>
          </a:p>
        </p:txBody>
      </p:sp>
      <p:sp>
        <p:nvSpPr>
          <p:cNvPr id="253" name="Text 13">
            <a:extLst>
              <a:ext uri="{FF2B5EF4-FFF2-40B4-BE49-F238E27FC236}">
                <a16:creationId xmlns:a16="http://schemas.microsoft.com/office/drawing/2014/main" id="{7C345B51-6053-1E03-9823-0F386006D466}"/>
              </a:ext>
            </a:extLst>
          </p:cNvPr>
          <p:cNvSpPr/>
          <p:nvPr/>
        </p:nvSpPr>
        <p:spPr>
          <a:xfrm>
            <a:off x="6985297" y="2189103"/>
            <a:ext cx="2177234"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外構・リフォーム・ご紹介への誘導設計</a:t>
            </a:r>
            <a:endParaRPr lang="en-US" sz="700" dirty="0">
              <a:latin typeface="メイリオ" panose="020B0604030504040204" pitchFamily="50" charset="-128"/>
              <a:ea typeface="メイリオ" panose="020B0604030504040204" pitchFamily="50" charset="-128"/>
            </a:endParaRPr>
          </a:p>
        </p:txBody>
      </p:sp>
      <p:sp>
        <p:nvSpPr>
          <p:cNvPr id="255" name="Shape 15">
            <a:extLst>
              <a:ext uri="{FF2B5EF4-FFF2-40B4-BE49-F238E27FC236}">
                <a16:creationId xmlns:a16="http://schemas.microsoft.com/office/drawing/2014/main" id="{2BEE7A23-A38F-24B6-8785-FB455AC73808}"/>
              </a:ext>
            </a:extLst>
          </p:cNvPr>
          <p:cNvSpPr/>
          <p:nvPr/>
        </p:nvSpPr>
        <p:spPr>
          <a:xfrm>
            <a:off x="622035" y="261310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9" name="Shape 17">
            <a:extLst>
              <a:ext uri="{FF2B5EF4-FFF2-40B4-BE49-F238E27FC236}">
                <a16:creationId xmlns:a16="http://schemas.microsoft.com/office/drawing/2014/main" id="{6EA2FE60-CA64-D4E8-A942-9C618AC68B86}"/>
              </a:ext>
            </a:extLst>
          </p:cNvPr>
          <p:cNvSpPr/>
          <p:nvPr/>
        </p:nvSpPr>
        <p:spPr>
          <a:xfrm>
            <a:off x="731763" y="270454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1" name="Text 18">
            <a:extLst>
              <a:ext uri="{FF2B5EF4-FFF2-40B4-BE49-F238E27FC236}">
                <a16:creationId xmlns:a16="http://schemas.microsoft.com/office/drawing/2014/main" id="{E856EF37-698D-F191-3067-928FC0AFC456}"/>
              </a:ext>
            </a:extLst>
          </p:cNvPr>
          <p:cNvSpPr/>
          <p:nvPr/>
        </p:nvSpPr>
        <p:spPr>
          <a:xfrm>
            <a:off x="731763" y="2704549"/>
            <a:ext cx="274320" cy="274320"/>
          </a:xfrm>
          <a:prstGeom prst="rect">
            <a:avLst/>
          </a:prstGeom>
          <a:noFill/>
          <a:ln>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3" name="Shape 19">
            <a:extLst>
              <a:ext uri="{FF2B5EF4-FFF2-40B4-BE49-F238E27FC236}">
                <a16:creationId xmlns:a16="http://schemas.microsoft.com/office/drawing/2014/main" id="{C3D7846E-19C7-41FD-05BA-E1F3CF32FFFD}"/>
              </a:ext>
            </a:extLst>
          </p:cNvPr>
          <p:cNvSpPr/>
          <p:nvPr/>
        </p:nvSpPr>
        <p:spPr>
          <a:xfrm>
            <a:off x="1079235" y="2731981"/>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265" name="Text 20">
            <a:extLst>
              <a:ext uri="{FF2B5EF4-FFF2-40B4-BE49-F238E27FC236}">
                <a16:creationId xmlns:a16="http://schemas.microsoft.com/office/drawing/2014/main" id="{B823E9DA-260C-1603-CA04-ED130644314C}"/>
              </a:ext>
            </a:extLst>
          </p:cNvPr>
          <p:cNvSpPr/>
          <p:nvPr/>
        </p:nvSpPr>
        <p:spPr>
          <a:xfrm>
            <a:off x="1079235" y="2731981"/>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アフターフォロー</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267" name="Text 21">
            <a:extLst>
              <a:ext uri="{FF2B5EF4-FFF2-40B4-BE49-F238E27FC236}">
                <a16:creationId xmlns:a16="http://schemas.microsoft.com/office/drawing/2014/main" id="{FCE3B029-FE9D-7576-7B05-2585AB5A66B1}"/>
              </a:ext>
            </a:extLst>
          </p:cNvPr>
          <p:cNvSpPr/>
          <p:nvPr/>
        </p:nvSpPr>
        <p:spPr>
          <a:xfrm>
            <a:off x="1993635" y="2704549"/>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購入・利用完了後の自動フォローアップ配信</a:t>
            </a:r>
            <a:endParaRPr lang="en-US" sz="1000" dirty="0">
              <a:latin typeface="メイリオ" panose="020B0604030504040204" pitchFamily="50" charset="-128"/>
              <a:ea typeface="メイリオ" panose="020B0604030504040204" pitchFamily="50" charset="-128"/>
            </a:endParaRPr>
          </a:p>
        </p:txBody>
      </p:sp>
      <p:sp>
        <p:nvSpPr>
          <p:cNvPr id="269" name="Text 22">
            <a:extLst>
              <a:ext uri="{FF2B5EF4-FFF2-40B4-BE49-F238E27FC236}">
                <a16:creationId xmlns:a16="http://schemas.microsoft.com/office/drawing/2014/main" id="{C1ECFC15-9129-ED3B-D3EF-84A237B9E067}"/>
              </a:ext>
            </a:extLst>
          </p:cNvPr>
          <p:cNvSpPr/>
          <p:nvPr/>
        </p:nvSpPr>
        <p:spPr>
          <a:xfrm>
            <a:off x="731763" y="3033733"/>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お引渡し後30日・3ヶ月・6ヶ月のタイミングで自動配信。「その後お住まいはいかがですか？」「定期点検のご案内」など適切なタイミングで次のご相談を自然に促す。</a:t>
            </a:r>
            <a:endParaRPr lang="en-US" sz="600" dirty="0">
              <a:latin typeface="メイリオ" panose="020B0604030504040204" pitchFamily="50" charset="-128"/>
              <a:ea typeface="メイリオ" panose="020B0604030504040204" pitchFamily="50" charset="-128"/>
            </a:endParaRPr>
          </a:p>
        </p:txBody>
      </p:sp>
      <p:sp>
        <p:nvSpPr>
          <p:cNvPr id="271" name="Shape 23">
            <a:extLst>
              <a:ext uri="{FF2B5EF4-FFF2-40B4-BE49-F238E27FC236}">
                <a16:creationId xmlns:a16="http://schemas.microsoft.com/office/drawing/2014/main" id="{02AAD0EA-81DD-0BAE-0FBC-DF75C0098CFF}"/>
              </a:ext>
            </a:extLst>
          </p:cNvPr>
          <p:cNvSpPr/>
          <p:nvPr/>
        </p:nvSpPr>
        <p:spPr>
          <a:xfrm>
            <a:off x="713475" y="3381205"/>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お引渡し</a:t>
            </a:r>
            <a:endParaRPr lang="en-US" altLang="ja-JP" sz="700" dirty="0">
              <a:latin typeface="メイリオ" panose="020B0604030504040204" pitchFamily="50" charset="-128"/>
              <a:ea typeface="メイリオ" panose="020B0604030504040204" pitchFamily="50" charset="-128"/>
            </a:endParaRPr>
          </a:p>
        </p:txBody>
      </p:sp>
      <p:sp>
        <p:nvSpPr>
          <p:cNvPr id="275" name="Shape 25">
            <a:extLst>
              <a:ext uri="{FF2B5EF4-FFF2-40B4-BE49-F238E27FC236}">
                <a16:creationId xmlns:a16="http://schemas.microsoft.com/office/drawing/2014/main" id="{597E6017-68DF-6125-D04E-EBE42E4AC1C8}"/>
              </a:ext>
            </a:extLst>
          </p:cNvPr>
          <p:cNvSpPr/>
          <p:nvPr/>
        </p:nvSpPr>
        <p:spPr>
          <a:xfrm>
            <a:off x="1987539" y="3472645"/>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7" name="Text 26">
            <a:extLst>
              <a:ext uri="{FF2B5EF4-FFF2-40B4-BE49-F238E27FC236}">
                <a16:creationId xmlns:a16="http://schemas.microsoft.com/office/drawing/2014/main" id="{A0AA9CE1-6CB6-6DB8-F485-AA5FC31BD9AB}"/>
              </a:ext>
            </a:extLst>
          </p:cNvPr>
          <p:cNvSpPr/>
          <p:nvPr/>
        </p:nvSpPr>
        <p:spPr>
          <a:xfrm>
            <a:off x="1987539" y="3472645"/>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79" name="Shape 27">
            <a:extLst>
              <a:ext uri="{FF2B5EF4-FFF2-40B4-BE49-F238E27FC236}">
                <a16:creationId xmlns:a16="http://schemas.microsoft.com/office/drawing/2014/main" id="{0033C6EE-6DB2-CF55-B4C7-D25DA14E4D93}"/>
              </a:ext>
            </a:extLst>
          </p:cNvPr>
          <p:cNvSpPr/>
          <p:nvPr/>
        </p:nvSpPr>
        <p:spPr>
          <a:xfrm>
            <a:off x="2078979" y="3381205"/>
            <a:ext cx="1274064" cy="329184"/>
          </a:xfrm>
          <a:prstGeom prst="roundRect">
            <a:avLst>
              <a:gd name="adj" fmla="val 16667"/>
            </a:avLst>
          </a:prstGeom>
          <a:solidFill>
            <a:schemeClr val="tx1"/>
          </a:solidFill>
          <a:ln w="12700">
            <a:noFill/>
            <a:prstDash val="solid"/>
          </a:ln>
        </p:spPr>
        <p:txBody>
          <a:bodyPr/>
          <a:lstStyle/>
          <a:p>
            <a:endParaRPr lang="ja-JP" altLang="en-US" sz="700" dirty="0">
              <a:latin typeface="メイリオ" panose="020B0604030504040204" pitchFamily="50" charset="-128"/>
              <a:ea typeface="メイリオ" panose="020B0604030504040204" pitchFamily="50" charset="-128"/>
            </a:endParaRPr>
          </a:p>
        </p:txBody>
      </p:sp>
      <p:sp>
        <p:nvSpPr>
          <p:cNvPr id="281" name="Text 28">
            <a:extLst>
              <a:ext uri="{FF2B5EF4-FFF2-40B4-BE49-F238E27FC236}">
                <a16:creationId xmlns:a16="http://schemas.microsoft.com/office/drawing/2014/main" id="{7A443300-A185-ED88-10AA-DFD63178035A}"/>
              </a:ext>
            </a:extLst>
          </p:cNvPr>
          <p:cNvSpPr/>
          <p:nvPr/>
        </p:nvSpPr>
        <p:spPr>
          <a:xfrm>
            <a:off x="2078979" y="3381205"/>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30日/3ヶ月/6ヶ月</a:t>
            </a:r>
            <a:endParaRPr lang="en-US" sz="700" dirty="0">
              <a:latin typeface="メイリオ" panose="020B0604030504040204" pitchFamily="50" charset="-128"/>
              <a:ea typeface="メイリオ" panose="020B0604030504040204" pitchFamily="50" charset="-128"/>
            </a:endParaRPr>
          </a:p>
        </p:txBody>
      </p:sp>
      <p:sp>
        <p:nvSpPr>
          <p:cNvPr id="283" name="Shape 29">
            <a:extLst>
              <a:ext uri="{FF2B5EF4-FFF2-40B4-BE49-F238E27FC236}">
                <a16:creationId xmlns:a16="http://schemas.microsoft.com/office/drawing/2014/main" id="{A8CDF565-4E56-34DE-F4B7-83C324AB1111}"/>
              </a:ext>
            </a:extLst>
          </p:cNvPr>
          <p:cNvSpPr/>
          <p:nvPr/>
        </p:nvSpPr>
        <p:spPr>
          <a:xfrm>
            <a:off x="3353043" y="3472645"/>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5" name="Text 30">
            <a:extLst>
              <a:ext uri="{FF2B5EF4-FFF2-40B4-BE49-F238E27FC236}">
                <a16:creationId xmlns:a16="http://schemas.microsoft.com/office/drawing/2014/main" id="{C7552AF9-D505-7C0D-70BF-ACE641907EEA}"/>
              </a:ext>
            </a:extLst>
          </p:cNvPr>
          <p:cNvSpPr/>
          <p:nvPr/>
        </p:nvSpPr>
        <p:spPr>
          <a:xfrm>
            <a:off x="3353043" y="3472645"/>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7" name="Shape 31">
            <a:extLst>
              <a:ext uri="{FF2B5EF4-FFF2-40B4-BE49-F238E27FC236}">
                <a16:creationId xmlns:a16="http://schemas.microsoft.com/office/drawing/2014/main" id="{41993352-6267-4FE7-B0F8-37A18FC55C5D}"/>
              </a:ext>
            </a:extLst>
          </p:cNvPr>
          <p:cNvSpPr/>
          <p:nvPr/>
        </p:nvSpPr>
        <p:spPr>
          <a:xfrm>
            <a:off x="3444483" y="338120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289" name="Text 32">
            <a:extLst>
              <a:ext uri="{FF2B5EF4-FFF2-40B4-BE49-F238E27FC236}">
                <a16:creationId xmlns:a16="http://schemas.microsoft.com/office/drawing/2014/main" id="{56896933-7E6D-6A12-EEAF-C1E0A07B9A27}"/>
              </a:ext>
            </a:extLst>
          </p:cNvPr>
          <p:cNvSpPr/>
          <p:nvPr/>
        </p:nvSpPr>
        <p:spPr>
          <a:xfrm>
            <a:off x="3444483" y="3381205"/>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自動リマインド</a:t>
            </a:r>
            <a:endParaRPr lang="en-US" sz="700" dirty="0">
              <a:latin typeface="メイリオ" panose="020B0604030504040204" pitchFamily="50" charset="-128"/>
              <a:ea typeface="メイリオ" panose="020B0604030504040204" pitchFamily="50" charset="-128"/>
            </a:endParaRPr>
          </a:p>
        </p:txBody>
      </p:sp>
      <p:sp>
        <p:nvSpPr>
          <p:cNvPr id="291" name="Shape 33">
            <a:extLst>
              <a:ext uri="{FF2B5EF4-FFF2-40B4-BE49-F238E27FC236}">
                <a16:creationId xmlns:a16="http://schemas.microsoft.com/office/drawing/2014/main" id="{F55E1F0E-CE1E-4788-56E8-EEC6BC428B40}"/>
              </a:ext>
            </a:extLst>
          </p:cNvPr>
          <p:cNvSpPr/>
          <p:nvPr/>
        </p:nvSpPr>
        <p:spPr>
          <a:xfrm>
            <a:off x="622035" y="3875743"/>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5" name="Shape 35">
            <a:extLst>
              <a:ext uri="{FF2B5EF4-FFF2-40B4-BE49-F238E27FC236}">
                <a16:creationId xmlns:a16="http://schemas.microsoft.com/office/drawing/2014/main" id="{A12EE24B-120D-6CFC-50B3-086F27872223}"/>
              </a:ext>
            </a:extLst>
          </p:cNvPr>
          <p:cNvSpPr/>
          <p:nvPr/>
        </p:nvSpPr>
        <p:spPr>
          <a:xfrm>
            <a:off x="731763" y="3967183"/>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7" name="Text 36">
            <a:extLst>
              <a:ext uri="{FF2B5EF4-FFF2-40B4-BE49-F238E27FC236}">
                <a16:creationId xmlns:a16="http://schemas.microsoft.com/office/drawing/2014/main" id="{751A7A54-3F2B-726E-0209-EC76E1460C60}"/>
              </a:ext>
            </a:extLst>
          </p:cNvPr>
          <p:cNvSpPr/>
          <p:nvPr/>
        </p:nvSpPr>
        <p:spPr>
          <a:xfrm>
            <a:off x="731763" y="3967183"/>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299" name="Shape 37">
            <a:extLst>
              <a:ext uri="{FF2B5EF4-FFF2-40B4-BE49-F238E27FC236}">
                <a16:creationId xmlns:a16="http://schemas.microsoft.com/office/drawing/2014/main" id="{8370F2F6-B57B-6CE2-C1D8-99B62C8BD5CA}"/>
              </a:ext>
            </a:extLst>
          </p:cNvPr>
          <p:cNvSpPr/>
          <p:nvPr/>
        </p:nvSpPr>
        <p:spPr>
          <a:xfrm>
            <a:off x="1079235" y="3994615"/>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301" name="Text 38">
            <a:extLst>
              <a:ext uri="{FF2B5EF4-FFF2-40B4-BE49-F238E27FC236}">
                <a16:creationId xmlns:a16="http://schemas.microsoft.com/office/drawing/2014/main" id="{38E18943-F8B5-9629-4062-419A919A3557}"/>
              </a:ext>
            </a:extLst>
          </p:cNvPr>
          <p:cNvSpPr/>
          <p:nvPr/>
        </p:nvSpPr>
        <p:spPr>
          <a:xfrm>
            <a:off x="1079235" y="3994615"/>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記念日配信</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3" name="Text 39">
            <a:extLst>
              <a:ext uri="{FF2B5EF4-FFF2-40B4-BE49-F238E27FC236}">
                <a16:creationId xmlns:a16="http://schemas.microsoft.com/office/drawing/2014/main" id="{3E303003-51EC-7FC3-DE76-F0E6D2EAB3EE}"/>
              </a:ext>
            </a:extLst>
          </p:cNvPr>
          <p:cNvSpPr/>
          <p:nvPr/>
        </p:nvSpPr>
        <p:spPr>
          <a:xfrm>
            <a:off x="1993635" y="3967183"/>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お引渡し記念日・点検時期に特別オファーを自動配信</a:t>
            </a:r>
            <a:endParaRPr lang="en-US" sz="1000" dirty="0">
              <a:latin typeface="メイリオ" panose="020B0604030504040204" pitchFamily="50" charset="-128"/>
              <a:ea typeface="メイリオ" panose="020B0604030504040204" pitchFamily="50" charset="-128"/>
            </a:endParaRPr>
          </a:p>
        </p:txBody>
      </p:sp>
      <p:sp>
        <p:nvSpPr>
          <p:cNvPr id="305" name="Text 40">
            <a:extLst>
              <a:ext uri="{FF2B5EF4-FFF2-40B4-BE49-F238E27FC236}">
                <a16:creationId xmlns:a16="http://schemas.microsoft.com/office/drawing/2014/main" id="{30181338-1CDB-632A-4D21-1980958DAE90}"/>
              </a:ext>
            </a:extLst>
          </p:cNvPr>
          <p:cNvSpPr/>
          <p:nvPr/>
        </p:nvSpPr>
        <p:spPr>
          <a:xfrm>
            <a:off x="731763" y="4296367"/>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お引渡し日を記念日として登録し、該当日に点検案内・特別優待を自動配信。「覚えてくれている」感が、ご紹介と追加工事につながる。</a:t>
            </a:r>
            <a:endParaRPr lang="en-US" sz="600" dirty="0">
              <a:latin typeface="メイリオ" panose="020B0604030504040204" pitchFamily="50" charset="-128"/>
              <a:ea typeface="メイリオ" panose="020B0604030504040204" pitchFamily="50" charset="-128"/>
            </a:endParaRPr>
          </a:p>
        </p:txBody>
      </p:sp>
      <p:sp>
        <p:nvSpPr>
          <p:cNvPr id="307" name="Shape 41">
            <a:extLst>
              <a:ext uri="{FF2B5EF4-FFF2-40B4-BE49-F238E27FC236}">
                <a16:creationId xmlns:a16="http://schemas.microsoft.com/office/drawing/2014/main" id="{9C3ADD4D-62FF-6E75-0C94-EBA797742E61}"/>
              </a:ext>
            </a:extLst>
          </p:cNvPr>
          <p:cNvSpPr/>
          <p:nvPr/>
        </p:nvSpPr>
        <p:spPr>
          <a:xfrm>
            <a:off x="713475" y="4643839"/>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09" name="Text 42">
            <a:extLst>
              <a:ext uri="{FF2B5EF4-FFF2-40B4-BE49-F238E27FC236}">
                <a16:creationId xmlns:a16="http://schemas.microsoft.com/office/drawing/2014/main" id="{A3F87B85-6E13-9A64-8ED1-AC226457C436}"/>
              </a:ext>
            </a:extLst>
          </p:cNvPr>
          <p:cNvSpPr/>
          <p:nvPr/>
        </p:nvSpPr>
        <p:spPr>
          <a:xfrm>
            <a:off x="713475" y="464383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記念日タグ設定</a:t>
            </a:r>
            <a:endParaRPr lang="en-US" sz="700" dirty="0">
              <a:latin typeface="メイリオ" panose="020B0604030504040204" pitchFamily="50" charset="-128"/>
              <a:ea typeface="メイリオ" panose="020B0604030504040204" pitchFamily="50" charset="-128"/>
            </a:endParaRPr>
          </a:p>
        </p:txBody>
      </p:sp>
      <p:sp>
        <p:nvSpPr>
          <p:cNvPr id="311" name="Shape 43">
            <a:extLst>
              <a:ext uri="{FF2B5EF4-FFF2-40B4-BE49-F238E27FC236}">
                <a16:creationId xmlns:a16="http://schemas.microsoft.com/office/drawing/2014/main" id="{0A895F50-3F88-98A2-89D0-3ACC9E308C89}"/>
              </a:ext>
            </a:extLst>
          </p:cNvPr>
          <p:cNvSpPr/>
          <p:nvPr/>
        </p:nvSpPr>
        <p:spPr>
          <a:xfrm>
            <a:off x="1987539" y="473527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3" name="Text 44">
            <a:extLst>
              <a:ext uri="{FF2B5EF4-FFF2-40B4-BE49-F238E27FC236}">
                <a16:creationId xmlns:a16="http://schemas.microsoft.com/office/drawing/2014/main" id="{84141BF0-6600-94F4-8298-8914165AE119}"/>
              </a:ext>
            </a:extLst>
          </p:cNvPr>
          <p:cNvSpPr/>
          <p:nvPr/>
        </p:nvSpPr>
        <p:spPr>
          <a:xfrm>
            <a:off x="1987539" y="473527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5" name="Shape 45">
            <a:extLst>
              <a:ext uri="{FF2B5EF4-FFF2-40B4-BE49-F238E27FC236}">
                <a16:creationId xmlns:a16="http://schemas.microsoft.com/office/drawing/2014/main" id="{D6D24DD8-6D7D-257C-F532-6ED722A69206}"/>
              </a:ext>
            </a:extLst>
          </p:cNvPr>
          <p:cNvSpPr/>
          <p:nvPr/>
        </p:nvSpPr>
        <p:spPr>
          <a:xfrm>
            <a:off x="2078979" y="4643839"/>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7" name="Text 46">
            <a:extLst>
              <a:ext uri="{FF2B5EF4-FFF2-40B4-BE49-F238E27FC236}">
                <a16:creationId xmlns:a16="http://schemas.microsoft.com/office/drawing/2014/main" id="{7BD3B483-4A49-A931-5EB8-12119ED715C2}"/>
              </a:ext>
            </a:extLst>
          </p:cNvPr>
          <p:cNvSpPr/>
          <p:nvPr/>
        </p:nvSpPr>
        <p:spPr>
          <a:xfrm>
            <a:off x="2078979" y="464383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特別オファー配信</a:t>
            </a:r>
            <a:endParaRPr lang="en-US" sz="700" dirty="0">
              <a:latin typeface="メイリオ" panose="020B0604030504040204" pitchFamily="50" charset="-128"/>
              <a:ea typeface="メイリオ" panose="020B0604030504040204" pitchFamily="50" charset="-128"/>
            </a:endParaRPr>
          </a:p>
        </p:txBody>
      </p:sp>
      <p:sp>
        <p:nvSpPr>
          <p:cNvPr id="319" name="Shape 47">
            <a:extLst>
              <a:ext uri="{FF2B5EF4-FFF2-40B4-BE49-F238E27FC236}">
                <a16:creationId xmlns:a16="http://schemas.microsoft.com/office/drawing/2014/main" id="{1A3ED534-DB25-D7E2-0DDC-342462B34810}"/>
              </a:ext>
            </a:extLst>
          </p:cNvPr>
          <p:cNvSpPr/>
          <p:nvPr/>
        </p:nvSpPr>
        <p:spPr>
          <a:xfrm>
            <a:off x="3353043" y="473527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1" name="Text 48">
            <a:extLst>
              <a:ext uri="{FF2B5EF4-FFF2-40B4-BE49-F238E27FC236}">
                <a16:creationId xmlns:a16="http://schemas.microsoft.com/office/drawing/2014/main" id="{0A78ED48-FFFC-A962-F364-19738CBAA8ED}"/>
              </a:ext>
            </a:extLst>
          </p:cNvPr>
          <p:cNvSpPr/>
          <p:nvPr/>
        </p:nvSpPr>
        <p:spPr>
          <a:xfrm>
            <a:off x="3353043" y="473527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3" name="Shape 49">
            <a:extLst>
              <a:ext uri="{FF2B5EF4-FFF2-40B4-BE49-F238E27FC236}">
                <a16:creationId xmlns:a16="http://schemas.microsoft.com/office/drawing/2014/main" id="{A71799E1-6D37-9019-F683-E28EDFCD59C9}"/>
              </a:ext>
            </a:extLst>
          </p:cNvPr>
          <p:cNvSpPr/>
          <p:nvPr/>
        </p:nvSpPr>
        <p:spPr>
          <a:xfrm>
            <a:off x="3444483" y="4643839"/>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25" name="Text 50">
            <a:extLst>
              <a:ext uri="{FF2B5EF4-FFF2-40B4-BE49-F238E27FC236}">
                <a16:creationId xmlns:a16="http://schemas.microsoft.com/office/drawing/2014/main" id="{95527DCC-1F43-8A3D-2A58-DC34D3444C39}"/>
              </a:ext>
            </a:extLst>
          </p:cNvPr>
          <p:cNvSpPr/>
          <p:nvPr/>
        </p:nvSpPr>
        <p:spPr>
          <a:xfrm>
            <a:off x="3444483" y="464383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追加工事CV</a:t>
            </a:r>
            <a:endParaRPr lang="en-US" sz="700" dirty="0">
              <a:latin typeface="メイリオ" panose="020B0604030504040204" pitchFamily="50" charset="-128"/>
              <a:ea typeface="メイリオ" panose="020B0604030504040204" pitchFamily="50" charset="-128"/>
            </a:endParaRPr>
          </a:p>
        </p:txBody>
      </p:sp>
      <p:sp>
        <p:nvSpPr>
          <p:cNvPr id="327" name="Shape 51">
            <a:extLst>
              <a:ext uri="{FF2B5EF4-FFF2-40B4-BE49-F238E27FC236}">
                <a16:creationId xmlns:a16="http://schemas.microsoft.com/office/drawing/2014/main" id="{BB7FE265-C435-3F11-D327-2005EB3B7D4C}"/>
              </a:ext>
            </a:extLst>
          </p:cNvPr>
          <p:cNvSpPr/>
          <p:nvPr/>
        </p:nvSpPr>
        <p:spPr>
          <a:xfrm>
            <a:off x="622035" y="5138377"/>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1" name="Shape 53">
            <a:extLst>
              <a:ext uri="{FF2B5EF4-FFF2-40B4-BE49-F238E27FC236}">
                <a16:creationId xmlns:a16="http://schemas.microsoft.com/office/drawing/2014/main" id="{F32B0A21-54EF-8445-6E6B-BBF9705C30E4}"/>
              </a:ext>
            </a:extLst>
          </p:cNvPr>
          <p:cNvSpPr/>
          <p:nvPr/>
        </p:nvSpPr>
        <p:spPr>
          <a:xfrm>
            <a:off x="731763" y="5229817"/>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3" name="Text 54">
            <a:extLst>
              <a:ext uri="{FF2B5EF4-FFF2-40B4-BE49-F238E27FC236}">
                <a16:creationId xmlns:a16="http://schemas.microsoft.com/office/drawing/2014/main" id="{4F222B19-A9AA-8B90-A278-F2067EC7FD8D}"/>
              </a:ext>
            </a:extLst>
          </p:cNvPr>
          <p:cNvSpPr/>
          <p:nvPr/>
        </p:nvSpPr>
        <p:spPr>
          <a:xfrm>
            <a:off x="731763" y="5229817"/>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5" name="Shape 55">
            <a:extLst>
              <a:ext uri="{FF2B5EF4-FFF2-40B4-BE49-F238E27FC236}">
                <a16:creationId xmlns:a16="http://schemas.microsoft.com/office/drawing/2014/main" id="{ABF7DB2E-403A-46F2-A837-399B3FE97C5E}"/>
              </a:ext>
            </a:extLst>
          </p:cNvPr>
          <p:cNvSpPr/>
          <p:nvPr/>
        </p:nvSpPr>
        <p:spPr>
          <a:xfrm>
            <a:off x="1079235" y="5257249"/>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337" name="Text 56">
            <a:extLst>
              <a:ext uri="{FF2B5EF4-FFF2-40B4-BE49-F238E27FC236}">
                <a16:creationId xmlns:a16="http://schemas.microsoft.com/office/drawing/2014/main" id="{8DC1BB15-70BD-88F4-1430-70391985EBFC}"/>
              </a:ext>
            </a:extLst>
          </p:cNvPr>
          <p:cNvSpPr/>
          <p:nvPr/>
        </p:nvSpPr>
        <p:spPr>
          <a:xfrm>
            <a:off x="1079235" y="5257249"/>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紹介キャンペーン</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39" name="Text 57">
            <a:extLst>
              <a:ext uri="{FF2B5EF4-FFF2-40B4-BE49-F238E27FC236}">
                <a16:creationId xmlns:a16="http://schemas.microsoft.com/office/drawing/2014/main" id="{863EF515-E441-C008-46FD-E8772A47BE9A}"/>
              </a:ext>
            </a:extLst>
          </p:cNvPr>
          <p:cNvSpPr/>
          <p:nvPr/>
        </p:nvSpPr>
        <p:spPr>
          <a:xfrm>
            <a:off x="1993635" y="5229817"/>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友人紹介制度をLINEで完結させる仕組みを設計</a:t>
            </a:r>
            <a:endParaRPr lang="en-US" sz="1000" dirty="0">
              <a:latin typeface="メイリオ" panose="020B0604030504040204" pitchFamily="50" charset="-128"/>
              <a:ea typeface="メイリオ" panose="020B0604030504040204" pitchFamily="50" charset="-128"/>
            </a:endParaRPr>
          </a:p>
        </p:txBody>
      </p:sp>
      <p:sp>
        <p:nvSpPr>
          <p:cNvPr id="341" name="Text 58">
            <a:extLst>
              <a:ext uri="{FF2B5EF4-FFF2-40B4-BE49-F238E27FC236}">
                <a16:creationId xmlns:a16="http://schemas.microsoft.com/office/drawing/2014/main" id="{8F06CA0B-814F-E8C0-33FE-0B48BBED0532}"/>
              </a:ext>
            </a:extLst>
          </p:cNvPr>
          <p:cNvSpPr/>
          <p:nvPr/>
        </p:nvSpPr>
        <p:spPr>
          <a:xfrm>
            <a:off x="731763" y="5559001"/>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「友人を紹介してくれたらXXXをプレゼント」をLINEで告知・管理。満足度が高い時期（利用直後・成果確認後）に訴求することで紹介件数が最大化する。</a:t>
            </a:r>
            <a:endParaRPr lang="en-US" sz="600" dirty="0">
              <a:latin typeface="メイリオ" panose="020B0604030504040204" pitchFamily="50" charset="-128"/>
              <a:ea typeface="メイリオ" panose="020B0604030504040204" pitchFamily="50" charset="-128"/>
            </a:endParaRPr>
          </a:p>
        </p:txBody>
      </p:sp>
      <p:sp>
        <p:nvSpPr>
          <p:cNvPr id="343" name="Shape 59">
            <a:extLst>
              <a:ext uri="{FF2B5EF4-FFF2-40B4-BE49-F238E27FC236}">
                <a16:creationId xmlns:a16="http://schemas.microsoft.com/office/drawing/2014/main" id="{F9FC2AD5-120F-E447-D301-5476F135AF0B}"/>
              </a:ext>
            </a:extLst>
          </p:cNvPr>
          <p:cNvSpPr/>
          <p:nvPr/>
        </p:nvSpPr>
        <p:spPr>
          <a:xfrm>
            <a:off x="713475" y="5906473"/>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45" name="Text 60">
            <a:extLst>
              <a:ext uri="{FF2B5EF4-FFF2-40B4-BE49-F238E27FC236}">
                <a16:creationId xmlns:a16="http://schemas.microsoft.com/office/drawing/2014/main" id="{FB0832F3-E1A0-CA4E-156B-CE6E264BF982}"/>
              </a:ext>
            </a:extLst>
          </p:cNvPr>
          <p:cNvSpPr/>
          <p:nvPr/>
        </p:nvSpPr>
        <p:spPr>
          <a:xfrm>
            <a:off x="713475" y="590647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利用後3ヶ月</a:t>
            </a:r>
            <a:endParaRPr lang="en-US" sz="700" dirty="0">
              <a:latin typeface="メイリオ" panose="020B0604030504040204" pitchFamily="50" charset="-128"/>
              <a:ea typeface="メイリオ" panose="020B0604030504040204" pitchFamily="50" charset="-128"/>
            </a:endParaRPr>
          </a:p>
        </p:txBody>
      </p:sp>
      <p:sp>
        <p:nvSpPr>
          <p:cNvPr id="347" name="Shape 61">
            <a:extLst>
              <a:ext uri="{FF2B5EF4-FFF2-40B4-BE49-F238E27FC236}">
                <a16:creationId xmlns:a16="http://schemas.microsoft.com/office/drawing/2014/main" id="{E24615D6-1A79-B0F4-BB14-14E2183880AC}"/>
              </a:ext>
            </a:extLst>
          </p:cNvPr>
          <p:cNvSpPr/>
          <p:nvPr/>
        </p:nvSpPr>
        <p:spPr>
          <a:xfrm>
            <a:off x="1987539" y="599791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49" name="Text 62">
            <a:extLst>
              <a:ext uri="{FF2B5EF4-FFF2-40B4-BE49-F238E27FC236}">
                <a16:creationId xmlns:a16="http://schemas.microsoft.com/office/drawing/2014/main" id="{64603FC2-C317-4C97-5288-F270620ED7B9}"/>
              </a:ext>
            </a:extLst>
          </p:cNvPr>
          <p:cNvSpPr/>
          <p:nvPr/>
        </p:nvSpPr>
        <p:spPr>
          <a:xfrm>
            <a:off x="1987539" y="599791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1" name="Shape 63">
            <a:extLst>
              <a:ext uri="{FF2B5EF4-FFF2-40B4-BE49-F238E27FC236}">
                <a16:creationId xmlns:a16="http://schemas.microsoft.com/office/drawing/2014/main" id="{C477B16C-33E8-F120-9A1F-AFC395AE6E3D}"/>
              </a:ext>
            </a:extLst>
          </p:cNvPr>
          <p:cNvSpPr/>
          <p:nvPr/>
        </p:nvSpPr>
        <p:spPr>
          <a:xfrm>
            <a:off x="2078979" y="5906473"/>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3" name="Text 64">
            <a:extLst>
              <a:ext uri="{FF2B5EF4-FFF2-40B4-BE49-F238E27FC236}">
                <a16:creationId xmlns:a16="http://schemas.microsoft.com/office/drawing/2014/main" id="{2A73DA5C-F06B-A590-9987-5306E6C59DCE}"/>
              </a:ext>
            </a:extLst>
          </p:cNvPr>
          <p:cNvSpPr/>
          <p:nvPr/>
        </p:nvSpPr>
        <p:spPr>
          <a:xfrm>
            <a:off x="2078979" y="590647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紹介特典訴求</a:t>
            </a:r>
            <a:endParaRPr lang="en-US" sz="700" dirty="0">
              <a:latin typeface="メイリオ" panose="020B0604030504040204" pitchFamily="50" charset="-128"/>
              <a:ea typeface="メイリオ" panose="020B0604030504040204" pitchFamily="50" charset="-128"/>
            </a:endParaRPr>
          </a:p>
        </p:txBody>
      </p:sp>
      <p:sp>
        <p:nvSpPr>
          <p:cNvPr id="355" name="Shape 65">
            <a:extLst>
              <a:ext uri="{FF2B5EF4-FFF2-40B4-BE49-F238E27FC236}">
                <a16:creationId xmlns:a16="http://schemas.microsoft.com/office/drawing/2014/main" id="{4B5406BB-D5C2-0D61-B213-493260EC338A}"/>
              </a:ext>
            </a:extLst>
          </p:cNvPr>
          <p:cNvSpPr/>
          <p:nvPr/>
        </p:nvSpPr>
        <p:spPr>
          <a:xfrm>
            <a:off x="3353043" y="599791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7" name="Text 66">
            <a:extLst>
              <a:ext uri="{FF2B5EF4-FFF2-40B4-BE49-F238E27FC236}">
                <a16:creationId xmlns:a16="http://schemas.microsoft.com/office/drawing/2014/main" id="{E443F4FD-BC95-5CA8-315B-21521441E367}"/>
              </a:ext>
            </a:extLst>
          </p:cNvPr>
          <p:cNvSpPr/>
          <p:nvPr/>
        </p:nvSpPr>
        <p:spPr>
          <a:xfrm>
            <a:off x="3353043" y="599791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9" name="Shape 67">
            <a:extLst>
              <a:ext uri="{FF2B5EF4-FFF2-40B4-BE49-F238E27FC236}">
                <a16:creationId xmlns:a16="http://schemas.microsoft.com/office/drawing/2014/main" id="{DA4B236A-3702-649B-9446-3AB64493F09A}"/>
              </a:ext>
            </a:extLst>
          </p:cNvPr>
          <p:cNvSpPr/>
          <p:nvPr/>
        </p:nvSpPr>
        <p:spPr>
          <a:xfrm>
            <a:off x="3444483" y="5906473"/>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dirty="0" err="1">
                <a:solidFill>
                  <a:srgbClr val="FFFFFF"/>
                </a:solidFill>
                <a:latin typeface="メイリオ" panose="020B0604030504040204" pitchFamily="50" charset="-128"/>
                <a:ea typeface="メイリオ" panose="020B0604030504040204" pitchFamily="50" charset="-128"/>
                <a:cs typeface="Calibri" pitchFamily="34" charset="-120"/>
              </a:rPr>
              <a:t>紹介→新規CV</a:t>
            </a:r>
            <a:endParaRPr lang="en-US" altLang="ja-JP" sz="700" dirty="0">
              <a:latin typeface="メイリオ" panose="020B0604030504040204" pitchFamily="50" charset="-128"/>
              <a:ea typeface="メイリオ" panose="020B0604030504040204" pitchFamily="50" charset="-128"/>
            </a:endParaRPr>
          </a:p>
        </p:txBody>
      </p:sp>
      <p:sp>
        <p:nvSpPr>
          <p:cNvPr id="363" name="Shape 69">
            <a:extLst>
              <a:ext uri="{FF2B5EF4-FFF2-40B4-BE49-F238E27FC236}">
                <a16:creationId xmlns:a16="http://schemas.microsoft.com/office/drawing/2014/main" id="{11D208CF-F0AA-77FB-68F5-7FA3663557BE}"/>
              </a:ext>
            </a:extLst>
          </p:cNvPr>
          <p:cNvSpPr/>
          <p:nvPr/>
        </p:nvSpPr>
        <p:spPr>
          <a:xfrm>
            <a:off x="5066019" y="261310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7" name="Shape 71">
            <a:extLst>
              <a:ext uri="{FF2B5EF4-FFF2-40B4-BE49-F238E27FC236}">
                <a16:creationId xmlns:a16="http://schemas.microsoft.com/office/drawing/2014/main" id="{BA65DAD3-3E2D-0363-0ABA-819311B17A9B}"/>
              </a:ext>
            </a:extLst>
          </p:cNvPr>
          <p:cNvSpPr/>
          <p:nvPr/>
        </p:nvSpPr>
        <p:spPr>
          <a:xfrm>
            <a:off x="5175747" y="270454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9" name="Text 72">
            <a:extLst>
              <a:ext uri="{FF2B5EF4-FFF2-40B4-BE49-F238E27FC236}">
                <a16:creationId xmlns:a16="http://schemas.microsoft.com/office/drawing/2014/main" id="{772DDEC2-C488-7293-86EB-F96BAAD7EA90}"/>
              </a:ext>
            </a:extLst>
          </p:cNvPr>
          <p:cNvSpPr/>
          <p:nvPr/>
        </p:nvSpPr>
        <p:spPr>
          <a:xfrm>
            <a:off x="5175747" y="2704549"/>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1" name="Shape 73">
            <a:extLst>
              <a:ext uri="{FF2B5EF4-FFF2-40B4-BE49-F238E27FC236}">
                <a16:creationId xmlns:a16="http://schemas.microsoft.com/office/drawing/2014/main" id="{595BE68E-4F81-E693-447A-8BD486204CD6}"/>
              </a:ext>
            </a:extLst>
          </p:cNvPr>
          <p:cNvSpPr/>
          <p:nvPr/>
        </p:nvSpPr>
        <p:spPr>
          <a:xfrm>
            <a:off x="5523219" y="2731981"/>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373" name="Text 74">
            <a:extLst>
              <a:ext uri="{FF2B5EF4-FFF2-40B4-BE49-F238E27FC236}">
                <a16:creationId xmlns:a16="http://schemas.microsoft.com/office/drawing/2014/main" id="{DE0C1BD7-D498-BF93-A12E-93FC8F3EFEEB}"/>
              </a:ext>
            </a:extLst>
          </p:cNvPr>
          <p:cNvSpPr/>
          <p:nvPr/>
        </p:nvSpPr>
        <p:spPr>
          <a:xfrm>
            <a:off x="5523219" y="2731981"/>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経過年数連動</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5" name="Text 75">
            <a:extLst>
              <a:ext uri="{FF2B5EF4-FFF2-40B4-BE49-F238E27FC236}">
                <a16:creationId xmlns:a16="http://schemas.microsoft.com/office/drawing/2014/main" id="{828F19F3-3156-29E9-3072-E1DED5F92BA0}"/>
              </a:ext>
            </a:extLst>
          </p:cNvPr>
          <p:cNvSpPr/>
          <p:nvPr/>
        </p:nvSpPr>
        <p:spPr>
          <a:xfrm>
            <a:off x="6437619" y="2704549"/>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入居後年数に応じた外構・リフォーム提案</a:t>
            </a:r>
            <a:endParaRPr lang="en-US" sz="1000" dirty="0">
              <a:latin typeface="メイリオ" panose="020B0604030504040204" pitchFamily="50" charset="-128"/>
              <a:ea typeface="メイリオ" panose="020B0604030504040204" pitchFamily="50" charset="-128"/>
            </a:endParaRPr>
          </a:p>
        </p:txBody>
      </p:sp>
      <p:sp>
        <p:nvSpPr>
          <p:cNvPr id="377" name="Text 76">
            <a:extLst>
              <a:ext uri="{FF2B5EF4-FFF2-40B4-BE49-F238E27FC236}">
                <a16:creationId xmlns:a16="http://schemas.microsoft.com/office/drawing/2014/main" id="{74CEEBF9-FB5E-B42A-5BBB-7613F874DD22}"/>
              </a:ext>
            </a:extLst>
          </p:cNvPr>
          <p:cNvSpPr/>
          <p:nvPr/>
        </p:nvSpPr>
        <p:spPr>
          <a:xfrm>
            <a:off x="5175747" y="3033733"/>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入居後の経過年数タグを活用し、点検時期に合わせた外構・リフォーム提案を自動配信。「1年点検と一緒に、お庭のご相談も承ります」という具体提案がCVRを高める。</a:t>
            </a:r>
            <a:endParaRPr lang="en-US" sz="600" dirty="0">
              <a:latin typeface="メイリオ" panose="020B0604030504040204" pitchFamily="50" charset="-128"/>
              <a:ea typeface="メイリオ" panose="020B0604030504040204" pitchFamily="50" charset="-128"/>
            </a:endParaRPr>
          </a:p>
        </p:txBody>
      </p:sp>
      <p:sp>
        <p:nvSpPr>
          <p:cNvPr id="379" name="Shape 77">
            <a:extLst>
              <a:ext uri="{FF2B5EF4-FFF2-40B4-BE49-F238E27FC236}">
                <a16:creationId xmlns:a16="http://schemas.microsoft.com/office/drawing/2014/main" id="{EB3AEAB9-3091-B770-5C73-60F2CC509D9D}"/>
              </a:ext>
            </a:extLst>
          </p:cNvPr>
          <p:cNvSpPr/>
          <p:nvPr/>
        </p:nvSpPr>
        <p:spPr>
          <a:xfrm>
            <a:off x="5157459" y="338120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81" name="Text 78">
            <a:extLst>
              <a:ext uri="{FF2B5EF4-FFF2-40B4-BE49-F238E27FC236}">
                <a16:creationId xmlns:a16="http://schemas.microsoft.com/office/drawing/2014/main" id="{16B65D6F-FEB1-6B8D-4243-6E6A8950251C}"/>
              </a:ext>
            </a:extLst>
          </p:cNvPr>
          <p:cNvSpPr/>
          <p:nvPr/>
        </p:nvSpPr>
        <p:spPr>
          <a:xfrm>
            <a:off x="5157459" y="3381205"/>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利用量タグ付与</a:t>
            </a:r>
            <a:endParaRPr lang="en-US" sz="700" dirty="0">
              <a:latin typeface="メイリオ" panose="020B0604030504040204" pitchFamily="50" charset="-128"/>
              <a:ea typeface="メイリオ" panose="020B0604030504040204" pitchFamily="50" charset="-128"/>
            </a:endParaRPr>
          </a:p>
        </p:txBody>
      </p:sp>
      <p:sp>
        <p:nvSpPr>
          <p:cNvPr id="383" name="Shape 79">
            <a:extLst>
              <a:ext uri="{FF2B5EF4-FFF2-40B4-BE49-F238E27FC236}">
                <a16:creationId xmlns:a16="http://schemas.microsoft.com/office/drawing/2014/main" id="{ACEF9838-1EE3-1464-24F9-5960C72ACE63}"/>
              </a:ext>
            </a:extLst>
          </p:cNvPr>
          <p:cNvSpPr/>
          <p:nvPr/>
        </p:nvSpPr>
        <p:spPr>
          <a:xfrm>
            <a:off x="6431523" y="3472645"/>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5" name="Text 80">
            <a:extLst>
              <a:ext uri="{FF2B5EF4-FFF2-40B4-BE49-F238E27FC236}">
                <a16:creationId xmlns:a16="http://schemas.microsoft.com/office/drawing/2014/main" id="{69501D59-8F67-4ADD-2B3A-62D69E08E6AD}"/>
              </a:ext>
            </a:extLst>
          </p:cNvPr>
          <p:cNvSpPr/>
          <p:nvPr/>
        </p:nvSpPr>
        <p:spPr>
          <a:xfrm>
            <a:off x="6431523" y="3472645"/>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87" name="Shape 81">
            <a:extLst>
              <a:ext uri="{FF2B5EF4-FFF2-40B4-BE49-F238E27FC236}">
                <a16:creationId xmlns:a16="http://schemas.microsoft.com/office/drawing/2014/main" id="{24E5901A-0626-345C-7E4E-690DFA9947EE}"/>
              </a:ext>
            </a:extLst>
          </p:cNvPr>
          <p:cNvSpPr/>
          <p:nvPr/>
        </p:nvSpPr>
        <p:spPr>
          <a:xfrm>
            <a:off x="6522963" y="3381205"/>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外構・リフォーム提案</a:t>
            </a:r>
            <a:endParaRPr lang="en-US" altLang="ja-JP" sz="700" dirty="0">
              <a:latin typeface="メイリオ" panose="020B0604030504040204" pitchFamily="50" charset="-128"/>
              <a:ea typeface="メイリオ" panose="020B0604030504040204" pitchFamily="50" charset="-128"/>
            </a:endParaRPr>
          </a:p>
        </p:txBody>
      </p:sp>
      <p:sp>
        <p:nvSpPr>
          <p:cNvPr id="391" name="Shape 83">
            <a:extLst>
              <a:ext uri="{FF2B5EF4-FFF2-40B4-BE49-F238E27FC236}">
                <a16:creationId xmlns:a16="http://schemas.microsoft.com/office/drawing/2014/main" id="{DBA87A6B-3A5A-5BB5-800C-AD29E3A38E51}"/>
              </a:ext>
            </a:extLst>
          </p:cNvPr>
          <p:cNvSpPr/>
          <p:nvPr/>
        </p:nvSpPr>
        <p:spPr>
          <a:xfrm>
            <a:off x="7797027" y="3472645"/>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3" name="Text 84">
            <a:extLst>
              <a:ext uri="{FF2B5EF4-FFF2-40B4-BE49-F238E27FC236}">
                <a16:creationId xmlns:a16="http://schemas.microsoft.com/office/drawing/2014/main" id="{5F05F5BA-6ADB-F29A-796A-6AE1FAE69215}"/>
              </a:ext>
            </a:extLst>
          </p:cNvPr>
          <p:cNvSpPr/>
          <p:nvPr/>
        </p:nvSpPr>
        <p:spPr>
          <a:xfrm>
            <a:off x="7797027" y="3472645"/>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5" name="Shape 85">
            <a:extLst>
              <a:ext uri="{FF2B5EF4-FFF2-40B4-BE49-F238E27FC236}">
                <a16:creationId xmlns:a16="http://schemas.microsoft.com/office/drawing/2014/main" id="{B5E69B07-FB02-4F49-A566-CE157E614F49}"/>
              </a:ext>
            </a:extLst>
          </p:cNvPr>
          <p:cNvSpPr/>
          <p:nvPr/>
        </p:nvSpPr>
        <p:spPr>
          <a:xfrm>
            <a:off x="7888467" y="3381205"/>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リフォームCV</a:t>
            </a:r>
            <a:endParaRPr lang="en-US" altLang="ja-JP" sz="700" dirty="0">
              <a:latin typeface="メイリオ" panose="020B0604030504040204" pitchFamily="50" charset="-128"/>
              <a:ea typeface="メイリオ" panose="020B0604030504040204" pitchFamily="50" charset="-128"/>
            </a:endParaRPr>
          </a:p>
        </p:txBody>
      </p:sp>
      <p:sp>
        <p:nvSpPr>
          <p:cNvPr id="399" name="Shape 87">
            <a:extLst>
              <a:ext uri="{FF2B5EF4-FFF2-40B4-BE49-F238E27FC236}">
                <a16:creationId xmlns:a16="http://schemas.microsoft.com/office/drawing/2014/main" id="{BF4F34D9-E34A-88AA-21A2-8773568F5586}"/>
              </a:ext>
            </a:extLst>
          </p:cNvPr>
          <p:cNvSpPr/>
          <p:nvPr/>
        </p:nvSpPr>
        <p:spPr>
          <a:xfrm>
            <a:off x="5066019" y="3875743"/>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3" name="Shape 89">
            <a:extLst>
              <a:ext uri="{FF2B5EF4-FFF2-40B4-BE49-F238E27FC236}">
                <a16:creationId xmlns:a16="http://schemas.microsoft.com/office/drawing/2014/main" id="{EFE5E9D0-3F2E-411E-681C-D9CBD3BA1795}"/>
              </a:ext>
            </a:extLst>
          </p:cNvPr>
          <p:cNvSpPr/>
          <p:nvPr/>
        </p:nvSpPr>
        <p:spPr>
          <a:xfrm>
            <a:off x="5175747" y="3967183"/>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5" name="Text 90">
            <a:extLst>
              <a:ext uri="{FF2B5EF4-FFF2-40B4-BE49-F238E27FC236}">
                <a16:creationId xmlns:a16="http://schemas.microsoft.com/office/drawing/2014/main" id="{5A2E3029-A975-C95C-7E57-D4269143AA55}"/>
              </a:ext>
            </a:extLst>
          </p:cNvPr>
          <p:cNvSpPr/>
          <p:nvPr/>
        </p:nvSpPr>
        <p:spPr>
          <a:xfrm>
            <a:off x="5175747" y="3967183"/>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07" name="Shape 91">
            <a:extLst>
              <a:ext uri="{FF2B5EF4-FFF2-40B4-BE49-F238E27FC236}">
                <a16:creationId xmlns:a16="http://schemas.microsoft.com/office/drawing/2014/main" id="{0B44982A-093D-F4A4-8627-DD2BEB875FCE}"/>
              </a:ext>
            </a:extLst>
          </p:cNvPr>
          <p:cNvSpPr/>
          <p:nvPr/>
        </p:nvSpPr>
        <p:spPr>
          <a:xfrm>
            <a:off x="5523219" y="3994615"/>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409" name="Text 92">
            <a:extLst>
              <a:ext uri="{FF2B5EF4-FFF2-40B4-BE49-F238E27FC236}">
                <a16:creationId xmlns:a16="http://schemas.microsoft.com/office/drawing/2014/main" id="{8E58A804-D262-6223-9739-795C7490802F}"/>
              </a:ext>
            </a:extLst>
          </p:cNvPr>
          <p:cNvSpPr/>
          <p:nvPr/>
        </p:nvSpPr>
        <p:spPr>
          <a:xfrm>
            <a:off x="5523219" y="3994615"/>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関連商材</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11" name="Text 93">
            <a:extLst>
              <a:ext uri="{FF2B5EF4-FFF2-40B4-BE49-F238E27FC236}">
                <a16:creationId xmlns:a16="http://schemas.microsoft.com/office/drawing/2014/main" id="{2820774A-8461-0C15-3354-D17D2A38ACE9}"/>
              </a:ext>
            </a:extLst>
          </p:cNvPr>
          <p:cNvSpPr/>
          <p:nvPr/>
        </p:nvSpPr>
        <p:spPr>
          <a:xfrm>
            <a:off x="6437619" y="3967183"/>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購入・利用カテゴリに紐づく外構・メンテ提案配信</a:t>
            </a:r>
            <a:endParaRPr lang="en-US" sz="1000" dirty="0">
              <a:latin typeface="メイリオ" panose="020B0604030504040204" pitchFamily="50" charset="-128"/>
              <a:ea typeface="メイリオ" panose="020B0604030504040204" pitchFamily="50" charset="-128"/>
            </a:endParaRPr>
          </a:p>
        </p:txBody>
      </p:sp>
      <p:sp>
        <p:nvSpPr>
          <p:cNvPr id="413" name="Text 94">
            <a:extLst>
              <a:ext uri="{FF2B5EF4-FFF2-40B4-BE49-F238E27FC236}">
                <a16:creationId xmlns:a16="http://schemas.microsoft.com/office/drawing/2014/main" id="{66C6D264-EC5E-9BD7-A6C4-38CC9629CE29}"/>
              </a:ext>
            </a:extLst>
          </p:cNvPr>
          <p:cNvSpPr/>
          <p:nvPr/>
        </p:nvSpPr>
        <p:spPr>
          <a:xfrm>
            <a:off x="5175747" y="4296367"/>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「Aサービスをご利用中の方向け：Bサービスとの組み合わせで効果UP」という形で関連商材を案内。タグセグメントで対象を絞ることで過剰アプローチを防ぐ。</a:t>
            </a:r>
            <a:endParaRPr lang="en-US" sz="600" dirty="0">
              <a:latin typeface="メイリオ" panose="020B0604030504040204" pitchFamily="50" charset="-128"/>
              <a:ea typeface="メイリオ" panose="020B0604030504040204" pitchFamily="50" charset="-128"/>
            </a:endParaRPr>
          </a:p>
        </p:txBody>
      </p:sp>
      <p:sp>
        <p:nvSpPr>
          <p:cNvPr id="415" name="Shape 95">
            <a:extLst>
              <a:ext uri="{FF2B5EF4-FFF2-40B4-BE49-F238E27FC236}">
                <a16:creationId xmlns:a16="http://schemas.microsoft.com/office/drawing/2014/main" id="{3620767E-5C81-82F3-ACE8-BEF5B040FA3C}"/>
              </a:ext>
            </a:extLst>
          </p:cNvPr>
          <p:cNvSpPr/>
          <p:nvPr/>
        </p:nvSpPr>
        <p:spPr>
          <a:xfrm>
            <a:off x="5157459" y="4643839"/>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17" name="Text 96">
            <a:extLst>
              <a:ext uri="{FF2B5EF4-FFF2-40B4-BE49-F238E27FC236}">
                <a16:creationId xmlns:a16="http://schemas.microsoft.com/office/drawing/2014/main" id="{9AA7117C-343C-4068-D766-8BFDA27C8DE4}"/>
              </a:ext>
            </a:extLst>
          </p:cNvPr>
          <p:cNvSpPr/>
          <p:nvPr/>
        </p:nvSpPr>
        <p:spPr>
          <a:xfrm>
            <a:off x="5157459" y="464383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購入カテゴリ特定</a:t>
            </a:r>
            <a:endParaRPr lang="en-US" sz="700" dirty="0">
              <a:latin typeface="メイリオ" panose="020B0604030504040204" pitchFamily="50" charset="-128"/>
              <a:ea typeface="メイリオ" panose="020B0604030504040204" pitchFamily="50" charset="-128"/>
            </a:endParaRPr>
          </a:p>
        </p:txBody>
      </p:sp>
      <p:sp>
        <p:nvSpPr>
          <p:cNvPr id="419" name="Shape 97">
            <a:extLst>
              <a:ext uri="{FF2B5EF4-FFF2-40B4-BE49-F238E27FC236}">
                <a16:creationId xmlns:a16="http://schemas.microsoft.com/office/drawing/2014/main" id="{0EBCC7F5-0E29-C4A8-94D8-A7D7ECC5F89A}"/>
              </a:ext>
            </a:extLst>
          </p:cNvPr>
          <p:cNvSpPr/>
          <p:nvPr/>
        </p:nvSpPr>
        <p:spPr>
          <a:xfrm>
            <a:off x="6431523" y="473527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1" name="Text 98">
            <a:extLst>
              <a:ext uri="{FF2B5EF4-FFF2-40B4-BE49-F238E27FC236}">
                <a16:creationId xmlns:a16="http://schemas.microsoft.com/office/drawing/2014/main" id="{BD96E4BA-ADE4-8898-880F-1EAA79A8DF2D}"/>
              </a:ext>
            </a:extLst>
          </p:cNvPr>
          <p:cNvSpPr/>
          <p:nvPr/>
        </p:nvSpPr>
        <p:spPr>
          <a:xfrm>
            <a:off x="6431523" y="473527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3" name="Shape 99">
            <a:extLst>
              <a:ext uri="{FF2B5EF4-FFF2-40B4-BE49-F238E27FC236}">
                <a16:creationId xmlns:a16="http://schemas.microsoft.com/office/drawing/2014/main" id="{E126C166-BD13-9190-0FE0-63914F4AD447}"/>
              </a:ext>
            </a:extLst>
          </p:cNvPr>
          <p:cNvSpPr/>
          <p:nvPr/>
        </p:nvSpPr>
        <p:spPr>
          <a:xfrm>
            <a:off x="6522963" y="4643839"/>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関連商材案内</a:t>
            </a:r>
            <a:endParaRPr lang="en-US" altLang="ja-JP" sz="700" dirty="0">
              <a:latin typeface="メイリオ" panose="020B0604030504040204" pitchFamily="50" charset="-128"/>
              <a:ea typeface="メイリオ" panose="020B0604030504040204" pitchFamily="50" charset="-128"/>
            </a:endParaRPr>
          </a:p>
        </p:txBody>
      </p:sp>
      <p:sp>
        <p:nvSpPr>
          <p:cNvPr id="427" name="Shape 101">
            <a:extLst>
              <a:ext uri="{FF2B5EF4-FFF2-40B4-BE49-F238E27FC236}">
                <a16:creationId xmlns:a16="http://schemas.microsoft.com/office/drawing/2014/main" id="{EE014BEF-08EA-D95F-B260-566E9689AFE2}"/>
              </a:ext>
            </a:extLst>
          </p:cNvPr>
          <p:cNvSpPr/>
          <p:nvPr/>
        </p:nvSpPr>
        <p:spPr>
          <a:xfrm>
            <a:off x="7797027" y="473527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9" name="Text 102">
            <a:extLst>
              <a:ext uri="{FF2B5EF4-FFF2-40B4-BE49-F238E27FC236}">
                <a16:creationId xmlns:a16="http://schemas.microsoft.com/office/drawing/2014/main" id="{6D8C6BF2-428E-B744-84F1-70D22F6EC306}"/>
              </a:ext>
            </a:extLst>
          </p:cNvPr>
          <p:cNvSpPr/>
          <p:nvPr/>
        </p:nvSpPr>
        <p:spPr>
          <a:xfrm>
            <a:off x="7797027" y="473527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1" name="Shape 103">
            <a:extLst>
              <a:ext uri="{FF2B5EF4-FFF2-40B4-BE49-F238E27FC236}">
                <a16:creationId xmlns:a16="http://schemas.microsoft.com/office/drawing/2014/main" id="{EB1CED23-229B-155C-8DA1-725B58167B0D}"/>
              </a:ext>
            </a:extLst>
          </p:cNvPr>
          <p:cNvSpPr/>
          <p:nvPr/>
        </p:nvSpPr>
        <p:spPr>
          <a:xfrm>
            <a:off x="7888467" y="4643839"/>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33" name="Text 104">
            <a:extLst>
              <a:ext uri="{FF2B5EF4-FFF2-40B4-BE49-F238E27FC236}">
                <a16:creationId xmlns:a16="http://schemas.microsoft.com/office/drawing/2014/main" id="{B0BD8085-260F-767B-600D-29C4EFE91EF6}"/>
              </a:ext>
            </a:extLst>
          </p:cNvPr>
          <p:cNvSpPr/>
          <p:nvPr/>
        </p:nvSpPr>
        <p:spPr>
          <a:xfrm>
            <a:off x="7888467" y="464383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外構・リフォームCV</a:t>
            </a:r>
            <a:endParaRPr lang="en-US" sz="700" dirty="0">
              <a:latin typeface="メイリオ" panose="020B0604030504040204" pitchFamily="50" charset="-128"/>
              <a:ea typeface="メイリオ" panose="020B0604030504040204" pitchFamily="50" charset="-128"/>
            </a:endParaRPr>
          </a:p>
        </p:txBody>
      </p:sp>
      <p:sp>
        <p:nvSpPr>
          <p:cNvPr id="435" name="Shape 105">
            <a:extLst>
              <a:ext uri="{FF2B5EF4-FFF2-40B4-BE49-F238E27FC236}">
                <a16:creationId xmlns:a16="http://schemas.microsoft.com/office/drawing/2014/main" id="{2B58AD02-89B6-782E-1247-733846A3BEB6}"/>
              </a:ext>
            </a:extLst>
          </p:cNvPr>
          <p:cNvSpPr/>
          <p:nvPr/>
        </p:nvSpPr>
        <p:spPr>
          <a:xfrm>
            <a:off x="5066019" y="5138377"/>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9" name="Shape 107">
            <a:extLst>
              <a:ext uri="{FF2B5EF4-FFF2-40B4-BE49-F238E27FC236}">
                <a16:creationId xmlns:a16="http://schemas.microsoft.com/office/drawing/2014/main" id="{A1CF4B93-1F7F-95B1-9748-9AE48BB0A67D}"/>
              </a:ext>
            </a:extLst>
          </p:cNvPr>
          <p:cNvSpPr/>
          <p:nvPr/>
        </p:nvSpPr>
        <p:spPr>
          <a:xfrm>
            <a:off x="5175747" y="5229817"/>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1" name="Text 108">
            <a:extLst>
              <a:ext uri="{FF2B5EF4-FFF2-40B4-BE49-F238E27FC236}">
                <a16:creationId xmlns:a16="http://schemas.microsoft.com/office/drawing/2014/main" id="{699242CC-C724-22FB-181E-24FA20BE103C}"/>
              </a:ext>
            </a:extLst>
          </p:cNvPr>
          <p:cNvSpPr/>
          <p:nvPr/>
        </p:nvSpPr>
        <p:spPr>
          <a:xfrm>
            <a:off x="5175747" y="5229817"/>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3" name="Shape 109">
            <a:extLst>
              <a:ext uri="{FF2B5EF4-FFF2-40B4-BE49-F238E27FC236}">
                <a16:creationId xmlns:a16="http://schemas.microsoft.com/office/drawing/2014/main" id="{5C0B9632-0D33-3A4F-852D-28C99ACB77A6}"/>
              </a:ext>
            </a:extLst>
          </p:cNvPr>
          <p:cNvSpPr/>
          <p:nvPr/>
        </p:nvSpPr>
        <p:spPr>
          <a:xfrm>
            <a:off x="5523219" y="5257249"/>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445" name="Text 110">
            <a:extLst>
              <a:ext uri="{FF2B5EF4-FFF2-40B4-BE49-F238E27FC236}">
                <a16:creationId xmlns:a16="http://schemas.microsoft.com/office/drawing/2014/main" id="{B910E2C6-1CCA-1DB7-F916-05CAB4560F12}"/>
              </a:ext>
            </a:extLst>
          </p:cNvPr>
          <p:cNvSpPr/>
          <p:nvPr/>
        </p:nvSpPr>
        <p:spPr>
          <a:xfrm>
            <a:off x="5523219" y="5257249"/>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季節連動</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47" name="Text 111">
            <a:extLst>
              <a:ext uri="{FF2B5EF4-FFF2-40B4-BE49-F238E27FC236}">
                <a16:creationId xmlns:a16="http://schemas.microsoft.com/office/drawing/2014/main" id="{418968BF-D240-4525-61FD-34A2CD92F77A}"/>
              </a:ext>
            </a:extLst>
          </p:cNvPr>
          <p:cNvSpPr/>
          <p:nvPr/>
        </p:nvSpPr>
        <p:spPr>
          <a:xfrm>
            <a:off x="6437619" y="5229817"/>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季節・繁忙期に合わせた関連サービス案内</a:t>
            </a:r>
            <a:endParaRPr lang="en-US" sz="1000" dirty="0">
              <a:latin typeface="メイリオ" panose="020B0604030504040204" pitchFamily="50" charset="-128"/>
              <a:ea typeface="メイリオ" panose="020B0604030504040204" pitchFamily="50" charset="-128"/>
            </a:endParaRPr>
          </a:p>
        </p:txBody>
      </p:sp>
      <p:sp>
        <p:nvSpPr>
          <p:cNvPr id="449" name="Text 112">
            <a:extLst>
              <a:ext uri="{FF2B5EF4-FFF2-40B4-BE49-F238E27FC236}">
                <a16:creationId xmlns:a16="http://schemas.microsoft.com/office/drawing/2014/main" id="{DB9225A3-0B40-6631-04BA-B036BA78DD18}"/>
              </a:ext>
            </a:extLst>
          </p:cNvPr>
          <p:cNvSpPr/>
          <p:nvPr/>
        </p:nvSpPr>
        <p:spPr>
          <a:xfrm>
            <a:off x="5175747" y="5559001"/>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ユーザーが次のニーズを感じる前に関連サービスを先出しする。「春のXXXに向けて、ご準備はお済みですか？」という形でシーズン2〜3週前に配信するとCVRが高い。</a:t>
            </a:r>
            <a:endParaRPr lang="en-US" sz="600" dirty="0">
              <a:latin typeface="メイリオ" panose="020B0604030504040204" pitchFamily="50" charset="-128"/>
              <a:ea typeface="メイリオ" panose="020B0604030504040204" pitchFamily="50" charset="-128"/>
            </a:endParaRPr>
          </a:p>
        </p:txBody>
      </p:sp>
      <p:sp>
        <p:nvSpPr>
          <p:cNvPr id="451" name="Shape 113">
            <a:extLst>
              <a:ext uri="{FF2B5EF4-FFF2-40B4-BE49-F238E27FC236}">
                <a16:creationId xmlns:a16="http://schemas.microsoft.com/office/drawing/2014/main" id="{2E10B183-2361-FE23-322F-7D503F80197A}"/>
              </a:ext>
            </a:extLst>
          </p:cNvPr>
          <p:cNvSpPr/>
          <p:nvPr/>
        </p:nvSpPr>
        <p:spPr>
          <a:xfrm>
            <a:off x="5157459" y="5906473"/>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3" name="Text 114">
            <a:extLst>
              <a:ext uri="{FF2B5EF4-FFF2-40B4-BE49-F238E27FC236}">
                <a16:creationId xmlns:a16="http://schemas.microsoft.com/office/drawing/2014/main" id="{E3F71D55-3A7F-7216-A68B-E9D41C4251F7}"/>
              </a:ext>
            </a:extLst>
          </p:cNvPr>
          <p:cNvSpPr/>
          <p:nvPr/>
        </p:nvSpPr>
        <p:spPr>
          <a:xfrm>
            <a:off x="5157459" y="590647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シーズン2〜3週前</a:t>
            </a:r>
            <a:endParaRPr lang="en-US" sz="700" dirty="0">
              <a:latin typeface="メイリオ" panose="020B0604030504040204" pitchFamily="50" charset="-128"/>
              <a:ea typeface="メイリオ" panose="020B0604030504040204" pitchFamily="50" charset="-128"/>
            </a:endParaRPr>
          </a:p>
        </p:txBody>
      </p:sp>
      <p:sp>
        <p:nvSpPr>
          <p:cNvPr id="455" name="Shape 115">
            <a:extLst>
              <a:ext uri="{FF2B5EF4-FFF2-40B4-BE49-F238E27FC236}">
                <a16:creationId xmlns:a16="http://schemas.microsoft.com/office/drawing/2014/main" id="{4DD46369-30C8-F75A-A124-3FEDB935C4A0}"/>
              </a:ext>
            </a:extLst>
          </p:cNvPr>
          <p:cNvSpPr/>
          <p:nvPr/>
        </p:nvSpPr>
        <p:spPr>
          <a:xfrm>
            <a:off x="6431523" y="599791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7" name="Text 116">
            <a:extLst>
              <a:ext uri="{FF2B5EF4-FFF2-40B4-BE49-F238E27FC236}">
                <a16:creationId xmlns:a16="http://schemas.microsoft.com/office/drawing/2014/main" id="{4A907B15-7708-47C9-7642-BA0B05630DEF}"/>
              </a:ext>
            </a:extLst>
          </p:cNvPr>
          <p:cNvSpPr/>
          <p:nvPr/>
        </p:nvSpPr>
        <p:spPr>
          <a:xfrm>
            <a:off x="6431523" y="599791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59" name="Shape 117">
            <a:extLst>
              <a:ext uri="{FF2B5EF4-FFF2-40B4-BE49-F238E27FC236}">
                <a16:creationId xmlns:a16="http://schemas.microsoft.com/office/drawing/2014/main" id="{33185618-A887-525D-081A-03DCDB2AC769}"/>
              </a:ext>
            </a:extLst>
          </p:cNvPr>
          <p:cNvSpPr/>
          <p:nvPr/>
        </p:nvSpPr>
        <p:spPr>
          <a:xfrm>
            <a:off x="6522963" y="5906473"/>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1" name="Text 118">
            <a:extLst>
              <a:ext uri="{FF2B5EF4-FFF2-40B4-BE49-F238E27FC236}">
                <a16:creationId xmlns:a16="http://schemas.microsoft.com/office/drawing/2014/main" id="{A758DBE7-E957-396E-311E-D9582502DB4F}"/>
              </a:ext>
            </a:extLst>
          </p:cNvPr>
          <p:cNvSpPr/>
          <p:nvPr/>
        </p:nvSpPr>
        <p:spPr>
          <a:xfrm>
            <a:off x="6522963" y="590647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関連サービス先出し</a:t>
            </a:r>
            <a:endParaRPr lang="en-US" sz="700" dirty="0">
              <a:latin typeface="メイリオ" panose="020B0604030504040204" pitchFamily="50" charset="-128"/>
              <a:ea typeface="メイリオ" panose="020B0604030504040204" pitchFamily="50" charset="-128"/>
            </a:endParaRPr>
          </a:p>
        </p:txBody>
      </p:sp>
      <p:sp>
        <p:nvSpPr>
          <p:cNvPr id="463" name="Shape 119">
            <a:extLst>
              <a:ext uri="{FF2B5EF4-FFF2-40B4-BE49-F238E27FC236}">
                <a16:creationId xmlns:a16="http://schemas.microsoft.com/office/drawing/2014/main" id="{BF462C74-804E-9C1C-C821-FF72072655B2}"/>
              </a:ext>
            </a:extLst>
          </p:cNvPr>
          <p:cNvSpPr/>
          <p:nvPr/>
        </p:nvSpPr>
        <p:spPr>
          <a:xfrm>
            <a:off x="7797027" y="599791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5" name="Text 120">
            <a:extLst>
              <a:ext uri="{FF2B5EF4-FFF2-40B4-BE49-F238E27FC236}">
                <a16:creationId xmlns:a16="http://schemas.microsoft.com/office/drawing/2014/main" id="{BB683829-0CAA-9EF6-F72B-0FA8AE6169AD}"/>
              </a:ext>
            </a:extLst>
          </p:cNvPr>
          <p:cNvSpPr/>
          <p:nvPr/>
        </p:nvSpPr>
        <p:spPr>
          <a:xfrm>
            <a:off x="7797027" y="599791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7" name="Shape 121">
            <a:extLst>
              <a:ext uri="{FF2B5EF4-FFF2-40B4-BE49-F238E27FC236}">
                <a16:creationId xmlns:a16="http://schemas.microsoft.com/office/drawing/2014/main" id="{EE617E52-3088-925B-672C-E8F15869002F}"/>
              </a:ext>
            </a:extLst>
          </p:cNvPr>
          <p:cNvSpPr/>
          <p:nvPr/>
        </p:nvSpPr>
        <p:spPr>
          <a:xfrm>
            <a:off x="7888467" y="5906473"/>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9" name="Text 122">
            <a:extLst>
              <a:ext uri="{FF2B5EF4-FFF2-40B4-BE49-F238E27FC236}">
                <a16:creationId xmlns:a16="http://schemas.microsoft.com/office/drawing/2014/main" id="{571C1378-34E0-DF83-9B00-2BE63986DA83}"/>
              </a:ext>
            </a:extLst>
          </p:cNvPr>
          <p:cNvSpPr/>
          <p:nvPr/>
        </p:nvSpPr>
        <p:spPr>
          <a:xfrm>
            <a:off x="7888467" y="590647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CV獲得</a:t>
            </a:r>
            <a:endParaRPr lang="en-US" sz="7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8455432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CBDC7-BB8D-566B-5273-6DCD8BE0326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F5D35F1-C5E4-FAC8-AB97-4C02D6883A9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53CF23F6-F858-EAD5-4A2E-672EF61A2882}"/>
              </a:ext>
            </a:extLst>
          </p:cNvPr>
          <p:cNvSpPr txBox="1"/>
          <p:nvPr/>
        </p:nvSpPr>
        <p:spPr>
          <a:xfrm>
            <a:off x="309397" y="778217"/>
            <a:ext cx="9461620"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想定：チャットやり取りを簡略化・自動化する事で、利便性を下げず営業トスアップ、</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に繋げる</a:t>
            </a:r>
          </a:p>
        </p:txBody>
      </p:sp>
      <p:sp>
        <p:nvSpPr>
          <p:cNvPr id="481" name="Shape 8">
            <a:extLst>
              <a:ext uri="{FF2B5EF4-FFF2-40B4-BE49-F238E27FC236}">
                <a16:creationId xmlns:a16="http://schemas.microsoft.com/office/drawing/2014/main" id="{40D8E928-F46D-96F7-0405-13E012EFA7B2}"/>
              </a:ext>
            </a:extLst>
          </p:cNvPr>
          <p:cNvSpPr/>
          <p:nvPr/>
        </p:nvSpPr>
        <p:spPr>
          <a:xfrm>
            <a:off x="622035" y="220949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83" name="Text 9">
            <a:extLst>
              <a:ext uri="{FF2B5EF4-FFF2-40B4-BE49-F238E27FC236}">
                <a16:creationId xmlns:a16="http://schemas.microsoft.com/office/drawing/2014/main" id="{211C6D19-0C27-C77A-DDEA-DCD4258F1B5D}"/>
              </a:ext>
            </a:extLst>
          </p:cNvPr>
          <p:cNvSpPr/>
          <p:nvPr/>
        </p:nvSpPr>
        <p:spPr>
          <a:xfrm>
            <a:off x="750051" y="2192516"/>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自動化施策</a:t>
            </a:r>
            <a:endParaRPr lang="en-US" sz="1000" dirty="0">
              <a:latin typeface="メイリオ" panose="020B0604030504040204" pitchFamily="50" charset="-128"/>
              <a:ea typeface="メイリオ" panose="020B0604030504040204" pitchFamily="50" charset="-128"/>
            </a:endParaRPr>
          </a:p>
        </p:txBody>
      </p:sp>
      <p:sp>
        <p:nvSpPr>
          <p:cNvPr id="485" name="Text 10">
            <a:extLst>
              <a:ext uri="{FF2B5EF4-FFF2-40B4-BE49-F238E27FC236}">
                <a16:creationId xmlns:a16="http://schemas.microsoft.com/office/drawing/2014/main" id="{DA951D4A-E1CE-ACE1-3BD6-706CA24B5611}"/>
              </a:ext>
            </a:extLst>
          </p:cNvPr>
          <p:cNvSpPr/>
          <p:nvPr/>
        </p:nvSpPr>
        <p:spPr>
          <a:xfrm>
            <a:off x="2430690" y="2202968"/>
            <a:ext cx="2361009"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よくある問い合わせを人手ゼロで対応する</a:t>
            </a:r>
            <a:endParaRPr lang="en-US" sz="700" dirty="0">
              <a:latin typeface="メイリオ" panose="020B0604030504040204" pitchFamily="50" charset="-128"/>
              <a:ea typeface="メイリオ" panose="020B0604030504040204" pitchFamily="50" charset="-128"/>
            </a:endParaRPr>
          </a:p>
        </p:txBody>
      </p:sp>
      <p:sp>
        <p:nvSpPr>
          <p:cNvPr id="487" name="Shape 11">
            <a:extLst>
              <a:ext uri="{FF2B5EF4-FFF2-40B4-BE49-F238E27FC236}">
                <a16:creationId xmlns:a16="http://schemas.microsoft.com/office/drawing/2014/main" id="{63FB878D-F961-067F-8450-B9BA5EA58307}"/>
              </a:ext>
            </a:extLst>
          </p:cNvPr>
          <p:cNvSpPr/>
          <p:nvPr/>
        </p:nvSpPr>
        <p:spPr>
          <a:xfrm>
            <a:off x="5066019" y="220949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89" name="Text 12">
            <a:extLst>
              <a:ext uri="{FF2B5EF4-FFF2-40B4-BE49-F238E27FC236}">
                <a16:creationId xmlns:a16="http://schemas.microsoft.com/office/drawing/2014/main" id="{F847FC9F-9261-C712-24D2-50358A98E369}"/>
              </a:ext>
            </a:extLst>
          </p:cNvPr>
          <p:cNvSpPr/>
          <p:nvPr/>
        </p:nvSpPr>
        <p:spPr>
          <a:xfrm>
            <a:off x="5194035" y="2192516"/>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トスアップ施策</a:t>
            </a:r>
            <a:endParaRPr lang="en-US" sz="1000" dirty="0">
              <a:latin typeface="メイリオ" panose="020B0604030504040204" pitchFamily="50" charset="-128"/>
              <a:ea typeface="メイリオ" panose="020B0604030504040204" pitchFamily="50" charset="-128"/>
            </a:endParaRPr>
          </a:p>
        </p:txBody>
      </p:sp>
      <p:sp>
        <p:nvSpPr>
          <p:cNvPr id="491" name="Text 13">
            <a:extLst>
              <a:ext uri="{FF2B5EF4-FFF2-40B4-BE49-F238E27FC236}">
                <a16:creationId xmlns:a16="http://schemas.microsoft.com/office/drawing/2014/main" id="{BAB90F2A-13E5-1033-2A8F-C414B5648062}"/>
              </a:ext>
            </a:extLst>
          </p:cNvPr>
          <p:cNvSpPr/>
          <p:nvPr/>
        </p:nvSpPr>
        <p:spPr>
          <a:xfrm>
            <a:off x="6874674" y="2202968"/>
            <a:ext cx="2361009"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温度感が高まったユーザーを営業に自動連携する</a:t>
            </a:r>
            <a:endParaRPr lang="en-US" sz="700" dirty="0">
              <a:latin typeface="メイリオ" panose="020B0604030504040204" pitchFamily="50" charset="-128"/>
              <a:ea typeface="メイリオ" panose="020B0604030504040204" pitchFamily="50" charset="-128"/>
            </a:endParaRPr>
          </a:p>
        </p:txBody>
      </p:sp>
      <p:sp>
        <p:nvSpPr>
          <p:cNvPr id="493" name="Shape 15">
            <a:extLst>
              <a:ext uri="{FF2B5EF4-FFF2-40B4-BE49-F238E27FC236}">
                <a16:creationId xmlns:a16="http://schemas.microsoft.com/office/drawing/2014/main" id="{7E3C711F-E58C-C906-0A6A-BB593A1E2C84}"/>
              </a:ext>
            </a:extLst>
          </p:cNvPr>
          <p:cNvSpPr/>
          <p:nvPr/>
        </p:nvSpPr>
        <p:spPr>
          <a:xfrm>
            <a:off x="622035" y="262044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97" name="Shape 17">
            <a:extLst>
              <a:ext uri="{FF2B5EF4-FFF2-40B4-BE49-F238E27FC236}">
                <a16:creationId xmlns:a16="http://schemas.microsoft.com/office/drawing/2014/main" id="{C3F3A0E1-065D-A29B-1DB2-A3E74C471585}"/>
              </a:ext>
            </a:extLst>
          </p:cNvPr>
          <p:cNvSpPr/>
          <p:nvPr/>
        </p:nvSpPr>
        <p:spPr>
          <a:xfrm>
            <a:off x="731763" y="271188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99" name="Text 18">
            <a:extLst>
              <a:ext uri="{FF2B5EF4-FFF2-40B4-BE49-F238E27FC236}">
                <a16:creationId xmlns:a16="http://schemas.microsoft.com/office/drawing/2014/main" id="{F9CB141F-8399-5788-B588-7FE43F1079D4}"/>
              </a:ext>
            </a:extLst>
          </p:cNvPr>
          <p:cNvSpPr/>
          <p:nvPr/>
        </p:nvSpPr>
        <p:spPr>
          <a:xfrm>
            <a:off x="731763" y="271188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501" name="Shape 19">
            <a:extLst>
              <a:ext uri="{FF2B5EF4-FFF2-40B4-BE49-F238E27FC236}">
                <a16:creationId xmlns:a16="http://schemas.microsoft.com/office/drawing/2014/main" id="{3481035F-3DCB-6282-CAE4-A507C103A500}"/>
              </a:ext>
            </a:extLst>
          </p:cNvPr>
          <p:cNvSpPr/>
          <p:nvPr/>
        </p:nvSpPr>
        <p:spPr>
          <a:xfrm>
            <a:off x="1079235" y="2739314"/>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503" name="Text 20">
            <a:extLst>
              <a:ext uri="{FF2B5EF4-FFF2-40B4-BE49-F238E27FC236}">
                <a16:creationId xmlns:a16="http://schemas.microsoft.com/office/drawing/2014/main" id="{0C55A5FC-8367-FE85-5883-A028AB70B62A}"/>
              </a:ext>
            </a:extLst>
          </p:cNvPr>
          <p:cNvSpPr/>
          <p:nvPr/>
        </p:nvSpPr>
        <p:spPr>
          <a:xfrm>
            <a:off x="1079235" y="2739314"/>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KW自動応答</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505" name="Text 21">
            <a:extLst>
              <a:ext uri="{FF2B5EF4-FFF2-40B4-BE49-F238E27FC236}">
                <a16:creationId xmlns:a16="http://schemas.microsoft.com/office/drawing/2014/main" id="{8A25C9DA-C365-44B1-C918-421BC16A0936}"/>
              </a:ext>
            </a:extLst>
          </p:cNvPr>
          <p:cNvSpPr/>
          <p:nvPr/>
        </p:nvSpPr>
        <p:spPr>
          <a:xfrm>
            <a:off x="1993635" y="2711882"/>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頻出ワードへの自動返答でFAQを即解消</a:t>
            </a:r>
            <a:endParaRPr lang="en-US" sz="1000" dirty="0">
              <a:latin typeface="メイリオ" panose="020B0604030504040204" pitchFamily="50" charset="-128"/>
              <a:ea typeface="メイリオ" panose="020B0604030504040204" pitchFamily="50" charset="-128"/>
            </a:endParaRPr>
          </a:p>
        </p:txBody>
      </p:sp>
      <p:sp>
        <p:nvSpPr>
          <p:cNvPr id="507" name="Text 22">
            <a:extLst>
              <a:ext uri="{FF2B5EF4-FFF2-40B4-BE49-F238E27FC236}">
                <a16:creationId xmlns:a16="http://schemas.microsoft.com/office/drawing/2014/main" id="{B693EEEC-7F00-EA99-5A34-4E9A268BE1A5}"/>
              </a:ext>
            </a:extLst>
          </p:cNvPr>
          <p:cNvSpPr/>
          <p:nvPr/>
        </p:nvSpPr>
        <p:spPr>
          <a:xfrm>
            <a:off x="731763" y="3041066"/>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「料金は？」「予約したい」などの頻出キーワードをLINEに登録し自動返答。スタッフ対応ゼロで24時間365日対応が可能になり、問い合わせコストを大幅削減できる。</a:t>
            </a:r>
            <a:endParaRPr lang="en-US" sz="600" dirty="0">
              <a:latin typeface="メイリオ" panose="020B0604030504040204" pitchFamily="50" charset="-128"/>
              <a:ea typeface="メイリオ" panose="020B0604030504040204" pitchFamily="50" charset="-128"/>
            </a:endParaRPr>
          </a:p>
        </p:txBody>
      </p:sp>
      <p:sp>
        <p:nvSpPr>
          <p:cNvPr id="509" name="Shape 23">
            <a:extLst>
              <a:ext uri="{FF2B5EF4-FFF2-40B4-BE49-F238E27FC236}">
                <a16:creationId xmlns:a16="http://schemas.microsoft.com/office/drawing/2014/main" id="{A2D2CDF0-CB49-AE15-936A-5D4CF22FFF73}"/>
              </a:ext>
            </a:extLst>
          </p:cNvPr>
          <p:cNvSpPr/>
          <p:nvPr/>
        </p:nvSpPr>
        <p:spPr>
          <a:xfrm>
            <a:off x="713475" y="3388538"/>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KW受信</a:t>
            </a:r>
            <a:endParaRPr lang="en-US" altLang="ja-JP" sz="700" dirty="0">
              <a:latin typeface="メイリオ" panose="020B0604030504040204" pitchFamily="50" charset="-128"/>
              <a:ea typeface="メイリオ" panose="020B0604030504040204" pitchFamily="50" charset="-128"/>
            </a:endParaRPr>
          </a:p>
        </p:txBody>
      </p:sp>
      <p:sp>
        <p:nvSpPr>
          <p:cNvPr id="513" name="Shape 25">
            <a:extLst>
              <a:ext uri="{FF2B5EF4-FFF2-40B4-BE49-F238E27FC236}">
                <a16:creationId xmlns:a16="http://schemas.microsoft.com/office/drawing/2014/main" id="{E2556D42-A97F-4FB8-9798-9FA17D54E059}"/>
              </a:ext>
            </a:extLst>
          </p:cNvPr>
          <p:cNvSpPr/>
          <p:nvPr/>
        </p:nvSpPr>
        <p:spPr>
          <a:xfrm>
            <a:off x="1987539" y="347997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15" name="Text 26">
            <a:extLst>
              <a:ext uri="{FF2B5EF4-FFF2-40B4-BE49-F238E27FC236}">
                <a16:creationId xmlns:a16="http://schemas.microsoft.com/office/drawing/2014/main" id="{C1C6DA5E-79AC-68C0-42C1-CAA0B39FA416}"/>
              </a:ext>
            </a:extLst>
          </p:cNvPr>
          <p:cNvSpPr/>
          <p:nvPr/>
        </p:nvSpPr>
        <p:spPr>
          <a:xfrm>
            <a:off x="1987539" y="3479978"/>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517" name="Shape 27">
            <a:extLst>
              <a:ext uri="{FF2B5EF4-FFF2-40B4-BE49-F238E27FC236}">
                <a16:creationId xmlns:a16="http://schemas.microsoft.com/office/drawing/2014/main" id="{A8D5B9DB-4355-49CF-1630-7986C6276E29}"/>
              </a:ext>
            </a:extLst>
          </p:cNvPr>
          <p:cNvSpPr/>
          <p:nvPr/>
        </p:nvSpPr>
        <p:spPr>
          <a:xfrm>
            <a:off x="2078979" y="3388538"/>
            <a:ext cx="1274064" cy="329184"/>
          </a:xfrm>
          <a:prstGeom prst="roundRect">
            <a:avLst>
              <a:gd name="adj" fmla="val 16667"/>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19" name="Text 28">
            <a:extLst>
              <a:ext uri="{FF2B5EF4-FFF2-40B4-BE49-F238E27FC236}">
                <a16:creationId xmlns:a16="http://schemas.microsoft.com/office/drawing/2014/main" id="{F85272E7-370C-6676-96F2-02AE710242A4}"/>
              </a:ext>
            </a:extLst>
          </p:cNvPr>
          <p:cNvSpPr/>
          <p:nvPr/>
        </p:nvSpPr>
        <p:spPr>
          <a:xfrm>
            <a:off x="2078979" y="3388538"/>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自動返答</a:t>
            </a:r>
            <a:endParaRPr lang="en-US" sz="700" dirty="0">
              <a:latin typeface="メイリオ" panose="020B0604030504040204" pitchFamily="50" charset="-128"/>
              <a:ea typeface="メイリオ" panose="020B0604030504040204" pitchFamily="50" charset="-128"/>
            </a:endParaRPr>
          </a:p>
        </p:txBody>
      </p:sp>
      <p:sp>
        <p:nvSpPr>
          <p:cNvPr id="521" name="Shape 29">
            <a:extLst>
              <a:ext uri="{FF2B5EF4-FFF2-40B4-BE49-F238E27FC236}">
                <a16:creationId xmlns:a16="http://schemas.microsoft.com/office/drawing/2014/main" id="{F507953E-977B-FFA6-1D19-EA7E8F6B3BEA}"/>
              </a:ext>
            </a:extLst>
          </p:cNvPr>
          <p:cNvSpPr/>
          <p:nvPr/>
        </p:nvSpPr>
        <p:spPr>
          <a:xfrm>
            <a:off x="3353043" y="347997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23" name="Text 30">
            <a:extLst>
              <a:ext uri="{FF2B5EF4-FFF2-40B4-BE49-F238E27FC236}">
                <a16:creationId xmlns:a16="http://schemas.microsoft.com/office/drawing/2014/main" id="{65A59212-B09E-F4BC-9E5F-C2F671474A3C}"/>
              </a:ext>
            </a:extLst>
          </p:cNvPr>
          <p:cNvSpPr/>
          <p:nvPr/>
        </p:nvSpPr>
        <p:spPr>
          <a:xfrm>
            <a:off x="3353043" y="3479978"/>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525" name="Shape 31">
            <a:extLst>
              <a:ext uri="{FF2B5EF4-FFF2-40B4-BE49-F238E27FC236}">
                <a16:creationId xmlns:a16="http://schemas.microsoft.com/office/drawing/2014/main" id="{CAEC6CDB-23CB-5A93-4438-A59C2BFFFACF}"/>
              </a:ext>
            </a:extLst>
          </p:cNvPr>
          <p:cNvSpPr/>
          <p:nvPr/>
        </p:nvSpPr>
        <p:spPr>
          <a:xfrm>
            <a:off x="3444483" y="3388538"/>
            <a:ext cx="1274064" cy="329184"/>
          </a:xfrm>
          <a:prstGeom prst="roundRect">
            <a:avLst>
              <a:gd name="adj" fmla="val 16667"/>
            </a:avLst>
          </a:prstGeom>
          <a:solidFill>
            <a:schemeClr val="tx1"/>
          </a:solidFill>
          <a:ln w="12700">
            <a:solidFill>
              <a:srgbClr val="4A2080"/>
            </a:solidFill>
            <a:prstDash val="solid"/>
          </a:ln>
        </p:spPr>
        <p:txBody>
          <a:bodyPr anchor="ctr"/>
          <a:lstStyle/>
          <a:p>
            <a:pPr algn="ctr">
              <a:lnSpc>
                <a:spcPct val="115000"/>
              </a:lnSpc>
            </a:pPr>
            <a:r>
              <a:rPr lang="en-US" altLang="ja-JP" sz="700" b="1" dirty="0" err="1">
                <a:solidFill>
                  <a:srgbClr val="FFFFFF"/>
                </a:solidFill>
                <a:latin typeface="メイリオ" panose="020B0604030504040204" pitchFamily="50" charset="-128"/>
                <a:ea typeface="メイリオ" panose="020B0604030504040204" pitchFamily="50" charset="-128"/>
                <a:cs typeface="Calibri" pitchFamily="34" charset="-120"/>
              </a:rPr>
              <a:t>疑問即解消</a:t>
            </a:r>
            <a:endParaRPr lang="en-US" altLang="ja-JP" sz="700" dirty="0">
              <a:latin typeface="メイリオ" panose="020B0604030504040204" pitchFamily="50" charset="-128"/>
              <a:ea typeface="メイリオ" panose="020B0604030504040204" pitchFamily="50" charset="-128"/>
            </a:endParaRPr>
          </a:p>
        </p:txBody>
      </p:sp>
      <p:sp>
        <p:nvSpPr>
          <p:cNvPr id="529" name="Shape 33">
            <a:extLst>
              <a:ext uri="{FF2B5EF4-FFF2-40B4-BE49-F238E27FC236}">
                <a16:creationId xmlns:a16="http://schemas.microsoft.com/office/drawing/2014/main" id="{F248F8B6-9A86-ABF2-E2D6-E7CF006E3C5F}"/>
              </a:ext>
            </a:extLst>
          </p:cNvPr>
          <p:cNvSpPr/>
          <p:nvPr/>
        </p:nvSpPr>
        <p:spPr>
          <a:xfrm>
            <a:off x="622035" y="388307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533" name="Shape 35">
            <a:extLst>
              <a:ext uri="{FF2B5EF4-FFF2-40B4-BE49-F238E27FC236}">
                <a16:creationId xmlns:a16="http://schemas.microsoft.com/office/drawing/2014/main" id="{44F07E0D-5DE6-3E4A-4251-8215FFA1B921}"/>
              </a:ext>
            </a:extLst>
          </p:cNvPr>
          <p:cNvSpPr/>
          <p:nvPr/>
        </p:nvSpPr>
        <p:spPr>
          <a:xfrm>
            <a:off x="731763" y="397451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535" name="Text 36">
            <a:extLst>
              <a:ext uri="{FF2B5EF4-FFF2-40B4-BE49-F238E27FC236}">
                <a16:creationId xmlns:a16="http://schemas.microsoft.com/office/drawing/2014/main" id="{2C4560AC-AA6D-E576-2CBD-46E3A388A446}"/>
              </a:ext>
            </a:extLst>
          </p:cNvPr>
          <p:cNvSpPr/>
          <p:nvPr/>
        </p:nvSpPr>
        <p:spPr>
          <a:xfrm>
            <a:off x="731763" y="3974516"/>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537" name="Shape 37">
            <a:extLst>
              <a:ext uri="{FF2B5EF4-FFF2-40B4-BE49-F238E27FC236}">
                <a16:creationId xmlns:a16="http://schemas.microsoft.com/office/drawing/2014/main" id="{EE277A39-0DD5-47B3-B211-B3AD8641BF28}"/>
              </a:ext>
            </a:extLst>
          </p:cNvPr>
          <p:cNvSpPr/>
          <p:nvPr/>
        </p:nvSpPr>
        <p:spPr>
          <a:xfrm>
            <a:off x="1079235" y="4001948"/>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539" name="Text 38">
            <a:extLst>
              <a:ext uri="{FF2B5EF4-FFF2-40B4-BE49-F238E27FC236}">
                <a16:creationId xmlns:a16="http://schemas.microsoft.com/office/drawing/2014/main" id="{C4B5340D-36BF-DDE8-20C8-687DA330872F}"/>
              </a:ext>
            </a:extLst>
          </p:cNvPr>
          <p:cNvSpPr/>
          <p:nvPr/>
        </p:nvSpPr>
        <p:spPr>
          <a:xfrm>
            <a:off x="1079235" y="4001948"/>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日程調整自動化</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541" name="Text 39">
            <a:extLst>
              <a:ext uri="{FF2B5EF4-FFF2-40B4-BE49-F238E27FC236}">
                <a16:creationId xmlns:a16="http://schemas.microsoft.com/office/drawing/2014/main" id="{0DC216C4-D41D-ED06-86B7-5AC5FCBFEB41}"/>
              </a:ext>
            </a:extLst>
          </p:cNvPr>
          <p:cNvSpPr/>
          <p:nvPr/>
        </p:nvSpPr>
        <p:spPr>
          <a:xfrm>
            <a:off x="1993635" y="397451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面談・予約の日程調整をLINEで完結させる</a:t>
            </a:r>
            <a:endParaRPr lang="en-US" sz="1000" dirty="0">
              <a:latin typeface="メイリオ" panose="020B0604030504040204" pitchFamily="50" charset="-128"/>
              <a:ea typeface="メイリオ" panose="020B0604030504040204" pitchFamily="50" charset="-128"/>
            </a:endParaRPr>
          </a:p>
        </p:txBody>
      </p:sp>
      <p:sp>
        <p:nvSpPr>
          <p:cNvPr id="543" name="Text 40">
            <a:extLst>
              <a:ext uri="{FF2B5EF4-FFF2-40B4-BE49-F238E27FC236}">
                <a16:creationId xmlns:a16="http://schemas.microsoft.com/office/drawing/2014/main" id="{DFBBA734-BAAC-1419-468E-1E9B8278BC26}"/>
              </a:ext>
            </a:extLst>
          </p:cNvPr>
          <p:cNvSpPr/>
          <p:nvPr/>
        </p:nvSpPr>
        <p:spPr>
          <a:xfrm>
            <a:off x="731763" y="4303700"/>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「面談を希望する」と入力したユーザーに日程候補を自動提示→選択→確定までLINE内で完結。電話折り返し・メール往復ゼロで商談設定工数を大幅削減できる。</a:t>
            </a:r>
            <a:endParaRPr lang="en-US" sz="600" dirty="0">
              <a:latin typeface="メイリオ" panose="020B0604030504040204" pitchFamily="50" charset="-128"/>
              <a:ea typeface="メイリオ" panose="020B0604030504040204" pitchFamily="50" charset="-128"/>
            </a:endParaRPr>
          </a:p>
        </p:txBody>
      </p:sp>
      <p:sp>
        <p:nvSpPr>
          <p:cNvPr id="545" name="Shape 41">
            <a:extLst>
              <a:ext uri="{FF2B5EF4-FFF2-40B4-BE49-F238E27FC236}">
                <a16:creationId xmlns:a16="http://schemas.microsoft.com/office/drawing/2014/main" id="{FE670AD2-A079-0197-8810-8F9B34E3CABD}"/>
              </a:ext>
            </a:extLst>
          </p:cNvPr>
          <p:cNvSpPr/>
          <p:nvPr/>
        </p:nvSpPr>
        <p:spPr>
          <a:xfrm>
            <a:off x="713475" y="4651172"/>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希望入力</a:t>
            </a:r>
            <a:endParaRPr lang="en-US" altLang="ja-JP" sz="700" dirty="0">
              <a:latin typeface="メイリオ" panose="020B0604030504040204" pitchFamily="50" charset="-128"/>
              <a:ea typeface="メイリオ" panose="020B0604030504040204" pitchFamily="50" charset="-128"/>
            </a:endParaRPr>
          </a:p>
        </p:txBody>
      </p:sp>
      <p:sp>
        <p:nvSpPr>
          <p:cNvPr id="549" name="Shape 43">
            <a:extLst>
              <a:ext uri="{FF2B5EF4-FFF2-40B4-BE49-F238E27FC236}">
                <a16:creationId xmlns:a16="http://schemas.microsoft.com/office/drawing/2014/main" id="{9DCF792D-C31C-B1B0-89D3-34127B875145}"/>
              </a:ext>
            </a:extLst>
          </p:cNvPr>
          <p:cNvSpPr/>
          <p:nvPr/>
        </p:nvSpPr>
        <p:spPr>
          <a:xfrm>
            <a:off x="1987539" y="474261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51" name="Text 44">
            <a:extLst>
              <a:ext uri="{FF2B5EF4-FFF2-40B4-BE49-F238E27FC236}">
                <a16:creationId xmlns:a16="http://schemas.microsoft.com/office/drawing/2014/main" id="{30983E3A-6EDF-B882-D614-D35301C1A700}"/>
              </a:ext>
            </a:extLst>
          </p:cNvPr>
          <p:cNvSpPr/>
          <p:nvPr/>
        </p:nvSpPr>
        <p:spPr>
          <a:xfrm>
            <a:off x="1987539" y="4742612"/>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553" name="Shape 45">
            <a:extLst>
              <a:ext uri="{FF2B5EF4-FFF2-40B4-BE49-F238E27FC236}">
                <a16:creationId xmlns:a16="http://schemas.microsoft.com/office/drawing/2014/main" id="{209054EF-CC06-6B5D-0FD0-5D15A5DB252B}"/>
              </a:ext>
            </a:extLst>
          </p:cNvPr>
          <p:cNvSpPr/>
          <p:nvPr/>
        </p:nvSpPr>
        <p:spPr>
          <a:xfrm>
            <a:off x="2078979" y="4651172"/>
            <a:ext cx="1274064" cy="329184"/>
          </a:xfrm>
          <a:prstGeom prst="roundRect">
            <a:avLst>
              <a:gd name="adj" fmla="val 16667"/>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55" name="Text 46">
            <a:extLst>
              <a:ext uri="{FF2B5EF4-FFF2-40B4-BE49-F238E27FC236}">
                <a16:creationId xmlns:a16="http://schemas.microsoft.com/office/drawing/2014/main" id="{5BE3AFBB-71C6-1263-E9E2-A276B8A0D061}"/>
              </a:ext>
            </a:extLst>
          </p:cNvPr>
          <p:cNvSpPr/>
          <p:nvPr/>
        </p:nvSpPr>
        <p:spPr>
          <a:xfrm>
            <a:off x="2078979" y="4651172"/>
            <a:ext cx="1274064" cy="329184"/>
          </a:xfrm>
          <a:prstGeom prst="rect">
            <a:avLst/>
          </a:prstGeom>
          <a:noFill/>
          <a:ln>
            <a:noFill/>
          </a:ln>
        </p:spPr>
        <p:txBody>
          <a:bodyPr wrap="square" lIns="0" tIns="0" rIns="0" bIns="0" rtlCol="0" anchor="ctr"/>
          <a:lstStyle/>
          <a:p>
            <a:pPr marL="0" indent="0" algn="ctr">
              <a:lnSpc>
                <a:spcPct val="115000"/>
              </a:lnSpc>
              <a:buNone/>
            </a:pPr>
            <a:r>
              <a:rPr lang="en-US" sz="800" b="1" dirty="0">
                <a:solidFill>
                  <a:srgbClr val="FFFFFF"/>
                </a:solidFill>
                <a:latin typeface="メイリオ" panose="020B0604030504040204" pitchFamily="50" charset="-128"/>
                <a:ea typeface="メイリオ" panose="020B0604030504040204" pitchFamily="50" charset="-128"/>
                <a:cs typeface="Calibri" pitchFamily="34" charset="-120"/>
              </a:rPr>
              <a:t>日程自動提示</a:t>
            </a:r>
            <a:endParaRPr lang="en-US" sz="800" dirty="0">
              <a:latin typeface="メイリオ" panose="020B0604030504040204" pitchFamily="50" charset="-128"/>
              <a:ea typeface="メイリオ" panose="020B0604030504040204" pitchFamily="50" charset="-128"/>
            </a:endParaRPr>
          </a:p>
        </p:txBody>
      </p:sp>
      <p:sp>
        <p:nvSpPr>
          <p:cNvPr id="557" name="Shape 47">
            <a:extLst>
              <a:ext uri="{FF2B5EF4-FFF2-40B4-BE49-F238E27FC236}">
                <a16:creationId xmlns:a16="http://schemas.microsoft.com/office/drawing/2014/main" id="{A9232A71-6BB9-1F02-D8A6-0D588E915F91}"/>
              </a:ext>
            </a:extLst>
          </p:cNvPr>
          <p:cNvSpPr/>
          <p:nvPr/>
        </p:nvSpPr>
        <p:spPr>
          <a:xfrm>
            <a:off x="3353043" y="474261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59" name="Text 48">
            <a:extLst>
              <a:ext uri="{FF2B5EF4-FFF2-40B4-BE49-F238E27FC236}">
                <a16:creationId xmlns:a16="http://schemas.microsoft.com/office/drawing/2014/main" id="{C5C94F94-3800-196D-F055-BE367B6C3823}"/>
              </a:ext>
            </a:extLst>
          </p:cNvPr>
          <p:cNvSpPr/>
          <p:nvPr/>
        </p:nvSpPr>
        <p:spPr>
          <a:xfrm>
            <a:off x="3353043" y="4742612"/>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561" name="Shape 49">
            <a:extLst>
              <a:ext uri="{FF2B5EF4-FFF2-40B4-BE49-F238E27FC236}">
                <a16:creationId xmlns:a16="http://schemas.microsoft.com/office/drawing/2014/main" id="{27FD51EA-7B61-DE39-7567-087D884D2689}"/>
              </a:ext>
            </a:extLst>
          </p:cNvPr>
          <p:cNvSpPr/>
          <p:nvPr/>
        </p:nvSpPr>
        <p:spPr>
          <a:xfrm>
            <a:off x="3444483" y="4651172"/>
            <a:ext cx="1274064" cy="329184"/>
          </a:xfrm>
          <a:prstGeom prst="roundRect">
            <a:avLst>
              <a:gd name="adj" fmla="val 16667"/>
            </a:avLst>
          </a:prstGeom>
          <a:solidFill>
            <a:schemeClr val="tx1"/>
          </a:solidFill>
          <a:ln w="12700">
            <a:no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563" name="Text 50">
            <a:extLst>
              <a:ext uri="{FF2B5EF4-FFF2-40B4-BE49-F238E27FC236}">
                <a16:creationId xmlns:a16="http://schemas.microsoft.com/office/drawing/2014/main" id="{8F32671E-225E-D073-04DF-BE2045451A90}"/>
              </a:ext>
            </a:extLst>
          </p:cNvPr>
          <p:cNvSpPr/>
          <p:nvPr/>
        </p:nvSpPr>
        <p:spPr>
          <a:xfrm>
            <a:off x="3444483" y="465117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確定完了</a:t>
            </a:r>
            <a:endParaRPr lang="en-US" sz="700" dirty="0">
              <a:latin typeface="メイリオ" panose="020B0604030504040204" pitchFamily="50" charset="-128"/>
              <a:ea typeface="メイリオ" panose="020B0604030504040204" pitchFamily="50" charset="-128"/>
            </a:endParaRPr>
          </a:p>
        </p:txBody>
      </p:sp>
      <p:sp>
        <p:nvSpPr>
          <p:cNvPr id="565" name="Shape 51">
            <a:extLst>
              <a:ext uri="{FF2B5EF4-FFF2-40B4-BE49-F238E27FC236}">
                <a16:creationId xmlns:a16="http://schemas.microsoft.com/office/drawing/2014/main" id="{BD20E957-9831-52B2-3945-EA8265886264}"/>
              </a:ext>
            </a:extLst>
          </p:cNvPr>
          <p:cNvSpPr/>
          <p:nvPr/>
        </p:nvSpPr>
        <p:spPr>
          <a:xfrm>
            <a:off x="622035" y="5145710"/>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569" name="Shape 53">
            <a:extLst>
              <a:ext uri="{FF2B5EF4-FFF2-40B4-BE49-F238E27FC236}">
                <a16:creationId xmlns:a16="http://schemas.microsoft.com/office/drawing/2014/main" id="{000D987C-780E-251D-7A2E-453B098046FA}"/>
              </a:ext>
            </a:extLst>
          </p:cNvPr>
          <p:cNvSpPr/>
          <p:nvPr/>
        </p:nvSpPr>
        <p:spPr>
          <a:xfrm>
            <a:off x="731763" y="5237150"/>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571" name="Text 54">
            <a:extLst>
              <a:ext uri="{FF2B5EF4-FFF2-40B4-BE49-F238E27FC236}">
                <a16:creationId xmlns:a16="http://schemas.microsoft.com/office/drawing/2014/main" id="{D7EBC11B-EE52-5F8C-3A09-E5EFC16DAD14}"/>
              </a:ext>
            </a:extLst>
          </p:cNvPr>
          <p:cNvSpPr/>
          <p:nvPr/>
        </p:nvSpPr>
        <p:spPr>
          <a:xfrm>
            <a:off x="731763" y="5237150"/>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573" name="Shape 55">
            <a:extLst>
              <a:ext uri="{FF2B5EF4-FFF2-40B4-BE49-F238E27FC236}">
                <a16:creationId xmlns:a16="http://schemas.microsoft.com/office/drawing/2014/main" id="{CE118FE4-70B1-ABC1-CFCE-B2C7803700D6}"/>
              </a:ext>
            </a:extLst>
          </p:cNvPr>
          <p:cNvSpPr/>
          <p:nvPr/>
        </p:nvSpPr>
        <p:spPr>
          <a:xfrm>
            <a:off x="1079235" y="5264582"/>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575" name="Text 56">
            <a:extLst>
              <a:ext uri="{FF2B5EF4-FFF2-40B4-BE49-F238E27FC236}">
                <a16:creationId xmlns:a16="http://schemas.microsoft.com/office/drawing/2014/main" id="{7B3D7BAA-5B14-06C5-CCFD-B1B2ED14D54C}"/>
              </a:ext>
            </a:extLst>
          </p:cNvPr>
          <p:cNvSpPr/>
          <p:nvPr/>
        </p:nvSpPr>
        <p:spPr>
          <a:xfrm>
            <a:off x="1079235" y="5264582"/>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Q&amp;A自動対応</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577" name="Text 57">
            <a:extLst>
              <a:ext uri="{FF2B5EF4-FFF2-40B4-BE49-F238E27FC236}">
                <a16:creationId xmlns:a16="http://schemas.microsoft.com/office/drawing/2014/main" id="{3B6EAD0F-BD63-287A-3804-2B841A85C33B}"/>
              </a:ext>
            </a:extLst>
          </p:cNvPr>
          <p:cNvSpPr/>
          <p:nvPr/>
        </p:nvSpPr>
        <p:spPr>
          <a:xfrm>
            <a:off x="1993635" y="5237150"/>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よくある質問の回答をメニュー選択式で自動配信</a:t>
            </a:r>
            <a:endParaRPr lang="en-US" sz="1000" dirty="0">
              <a:latin typeface="メイリオ" panose="020B0604030504040204" pitchFamily="50" charset="-128"/>
              <a:ea typeface="メイリオ" panose="020B0604030504040204" pitchFamily="50" charset="-128"/>
            </a:endParaRPr>
          </a:p>
        </p:txBody>
      </p:sp>
      <p:sp>
        <p:nvSpPr>
          <p:cNvPr id="579" name="Text 58">
            <a:extLst>
              <a:ext uri="{FF2B5EF4-FFF2-40B4-BE49-F238E27FC236}">
                <a16:creationId xmlns:a16="http://schemas.microsoft.com/office/drawing/2014/main" id="{57A957C0-047C-B1C9-3EBB-B3B3F767873F}"/>
              </a:ext>
            </a:extLst>
          </p:cNvPr>
          <p:cNvSpPr/>
          <p:nvPr/>
        </p:nvSpPr>
        <p:spPr>
          <a:xfrm>
            <a:off x="731763" y="5566334"/>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リッチメニューに「よくある質問」「料金を知りたい」「事例を見たい」等のボタンを設置し、タップするだけで回答が届く設計にする。スタッフが答える前に自己解決を促す。</a:t>
            </a:r>
            <a:endParaRPr lang="en-US" sz="600" dirty="0">
              <a:latin typeface="メイリオ" panose="020B0604030504040204" pitchFamily="50" charset="-128"/>
              <a:ea typeface="メイリオ" panose="020B0604030504040204" pitchFamily="50" charset="-128"/>
            </a:endParaRPr>
          </a:p>
        </p:txBody>
      </p:sp>
      <p:sp>
        <p:nvSpPr>
          <p:cNvPr id="581" name="Shape 59">
            <a:extLst>
              <a:ext uri="{FF2B5EF4-FFF2-40B4-BE49-F238E27FC236}">
                <a16:creationId xmlns:a16="http://schemas.microsoft.com/office/drawing/2014/main" id="{9A61C22E-A4B2-9E05-F598-E9C4F0164BD1}"/>
              </a:ext>
            </a:extLst>
          </p:cNvPr>
          <p:cNvSpPr/>
          <p:nvPr/>
        </p:nvSpPr>
        <p:spPr>
          <a:xfrm>
            <a:off x="713475" y="5913806"/>
            <a:ext cx="1274064" cy="329184"/>
          </a:xfrm>
          <a:prstGeom prst="roundRect">
            <a:avLst>
              <a:gd name="adj" fmla="val 16667"/>
            </a:avLst>
          </a:prstGeom>
          <a:solidFill>
            <a:schemeClr val="tx1"/>
          </a:solidFill>
          <a:ln w="12700">
            <a:no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583" name="Text 60">
            <a:extLst>
              <a:ext uri="{FF2B5EF4-FFF2-40B4-BE49-F238E27FC236}">
                <a16:creationId xmlns:a16="http://schemas.microsoft.com/office/drawing/2014/main" id="{A8DD111B-2CD0-0C8C-5FFD-F634D3033930}"/>
              </a:ext>
            </a:extLst>
          </p:cNvPr>
          <p:cNvSpPr/>
          <p:nvPr/>
        </p:nvSpPr>
        <p:spPr>
          <a:xfrm>
            <a:off x="713475" y="5913806"/>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メニューをタップ</a:t>
            </a:r>
            <a:endParaRPr lang="en-US" sz="700" dirty="0">
              <a:latin typeface="メイリオ" panose="020B0604030504040204" pitchFamily="50" charset="-128"/>
              <a:ea typeface="メイリオ" panose="020B0604030504040204" pitchFamily="50" charset="-128"/>
            </a:endParaRPr>
          </a:p>
        </p:txBody>
      </p:sp>
      <p:sp>
        <p:nvSpPr>
          <p:cNvPr id="589" name="Shape 63">
            <a:extLst>
              <a:ext uri="{FF2B5EF4-FFF2-40B4-BE49-F238E27FC236}">
                <a16:creationId xmlns:a16="http://schemas.microsoft.com/office/drawing/2014/main" id="{E77A650E-654A-EC81-6A3F-240D6A4404F3}"/>
              </a:ext>
            </a:extLst>
          </p:cNvPr>
          <p:cNvSpPr/>
          <p:nvPr/>
        </p:nvSpPr>
        <p:spPr>
          <a:xfrm>
            <a:off x="2078979" y="5913806"/>
            <a:ext cx="1274064" cy="329184"/>
          </a:xfrm>
          <a:prstGeom prst="roundRect">
            <a:avLst>
              <a:gd name="adj" fmla="val 16667"/>
            </a:avLst>
          </a:prstGeom>
          <a:solidFill>
            <a:schemeClr val="tx1"/>
          </a:solidFill>
          <a:ln w="12700">
            <a:no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591" name="Text 64">
            <a:extLst>
              <a:ext uri="{FF2B5EF4-FFF2-40B4-BE49-F238E27FC236}">
                <a16:creationId xmlns:a16="http://schemas.microsoft.com/office/drawing/2014/main" id="{515BC9A2-B5AE-4A2B-32CA-BEE70A5B85EE}"/>
              </a:ext>
            </a:extLst>
          </p:cNvPr>
          <p:cNvSpPr/>
          <p:nvPr/>
        </p:nvSpPr>
        <p:spPr>
          <a:xfrm>
            <a:off x="2078979" y="5913806"/>
            <a:ext cx="1274064" cy="329184"/>
          </a:xfrm>
          <a:prstGeom prst="rect">
            <a:avLst/>
          </a:prstGeom>
          <a:no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自動回答配信</a:t>
            </a:r>
            <a:endParaRPr lang="en-US" sz="700" dirty="0">
              <a:latin typeface="メイリオ" panose="020B0604030504040204" pitchFamily="50" charset="-128"/>
              <a:ea typeface="メイリオ" panose="020B0604030504040204" pitchFamily="50" charset="-128"/>
            </a:endParaRPr>
          </a:p>
        </p:txBody>
      </p:sp>
      <p:sp>
        <p:nvSpPr>
          <p:cNvPr id="597" name="Shape 67">
            <a:extLst>
              <a:ext uri="{FF2B5EF4-FFF2-40B4-BE49-F238E27FC236}">
                <a16:creationId xmlns:a16="http://schemas.microsoft.com/office/drawing/2014/main" id="{0EEFD0FA-7548-0ECC-E0D4-F44B04D48FB8}"/>
              </a:ext>
            </a:extLst>
          </p:cNvPr>
          <p:cNvSpPr/>
          <p:nvPr/>
        </p:nvSpPr>
        <p:spPr>
          <a:xfrm>
            <a:off x="3444483" y="5913806"/>
            <a:ext cx="1274064" cy="329184"/>
          </a:xfrm>
          <a:prstGeom prst="roundRect">
            <a:avLst>
              <a:gd name="adj" fmla="val 16667"/>
            </a:avLst>
          </a:prstGeom>
          <a:solidFill>
            <a:schemeClr val="tx1"/>
          </a:solidFill>
          <a:ln w="12700">
            <a:solidFill>
              <a:srgbClr val="4A2080"/>
            </a:solid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自己解決完了</a:t>
            </a:r>
            <a:endParaRPr lang="en-US" altLang="ja-JP" sz="700" dirty="0">
              <a:latin typeface="メイリオ" panose="020B0604030504040204" pitchFamily="50" charset="-128"/>
              <a:ea typeface="メイリオ" panose="020B0604030504040204" pitchFamily="50" charset="-128"/>
            </a:endParaRPr>
          </a:p>
        </p:txBody>
      </p:sp>
      <p:sp>
        <p:nvSpPr>
          <p:cNvPr id="601" name="Shape 69">
            <a:extLst>
              <a:ext uri="{FF2B5EF4-FFF2-40B4-BE49-F238E27FC236}">
                <a16:creationId xmlns:a16="http://schemas.microsoft.com/office/drawing/2014/main" id="{BB58A48E-96E7-063D-EB59-D048E2A09397}"/>
              </a:ext>
            </a:extLst>
          </p:cNvPr>
          <p:cNvSpPr/>
          <p:nvPr/>
        </p:nvSpPr>
        <p:spPr>
          <a:xfrm>
            <a:off x="5066019" y="262044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05" name="Shape 71">
            <a:extLst>
              <a:ext uri="{FF2B5EF4-FFF2-40B4-BE49-F238E27FC236}">
                <a16:creationId xmlns:a16="http://schemas.microsoft.com/office/drawing/2014/main" id="{CEEFFC68-843C-CB8F-F3EE-D5F381F99FB3}"/>
              </a:ext>
            </a:extLst>
          </p:cNvPr>
          <p:cNvSpPr/>
          <p:nvPr/>
        </p:nvSpPr>
        <p:spPr>
          <a:xfrm>
            <a:off x="5175747" y="271188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07" name="Text 72">
            <a:extLst>
              <a:ext uri="{FF2B5EF4-FFF2-40B4-BE49-F238E27FC236}">
                <a16:creationId xmlns:a16="http://schemas.microsoft.com/office/drawing/2014/main" id="{BA1AC9FB-2A36-A56E-5C44-D0E3ACC9A307}"/>
              </a:ext>
            </a:extLst>
          </p:cNvPr>
          <p:cNvSpPr/>
          <p:nvPr/>
        </p:nvSpPr>
        <p:spPr>
          <a:xfrm>
            <a:off x="5175747" y="271188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609" name="Shape 73">
            <a:extLst>
              <a:ext uri="{FF2B5EF4-FFF2-40B4-BE49-F238E27FC236}">
                <a16:creationId xmlns:a16="http://schemas.microsoft.com/office/drawing/2014/main" id="{DA9D4DB3-FD3E-CC23-5F93-7DD0F2C4A66E}"/>
              </a:ext>
            </a:extLst>
          </p:cNvPr>
          <p:cNvSpPr/>
          <p:nvPr/>
        </p:nvSpPr>
        <p:spPr>
          <a:xfrm>
            <a:off x="5523219" y="2739314"/>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11" name="Text 74">
            <a:extLst>
              <a:ext uri="{FF2B5EF4-FFF2-40B4-BE49-F238E27FC236}">
                <a16:creationId xmlns:a16="http://schemas.microsoft.com/office/drawing/2014/main" id="{388F5303-8FCA-86F2-09F0-93CE3D368104}"/>
              </a:ext>
            </a:extLst>
          </p:cNvPr>
          <p:cNvSpPr/>
          <p:nvPr/>
        </p:nvSpPr>
        <p:spPr>
          <a:xfrm>
            <a:off x="5523219" y="2739314"/>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ホットリード検知</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613" name="Text 75">
            <a:extLst>
              <a:ext uri="{FF2B5EF4-FFF2-40B4-BE49-F238E27FC236}">
                <a16:creationId xmlns:a16="http://schemas.microsoft.com/office/drawing/2014/main" id="{FC4B8845-D876-501A-B76E-902595F69EEE}"/>
              </a:ext>
            </a:extLst>
          </p:cNvPr>
          <p:cNvSpPr/>
          <p:nvPr/>
        </p:nvSpPr>
        <p:spPr>
          <a:xfrm>
            <a:off x="6437619" y="2711882"/>
            <a:ext cx="298094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高スコアユーザーを自動でスタッフにアラート通知</a:t>
            </a:r>
            <a:endParaRPr lang="en-US" sz="1000" dirty="0">
              <a:latin typeface="メイリオ" panose="020B0604030504040204" pitchFamily="50" charset="-128"/>
              <a:ea typeface="メイリオ" panose="020B0604030504040204" pitchFamily="50" charset="-128"/>
            </a:endParaRPr>
          </a:p>
        </p:txBody>
      </p:sp>
      <p:sp>
        <p:nvSpPr>
          <p:cNvPr id="615" name="Text 76">
            <a:extLst>
              <a:ext uri="{FF2B5EF4-FFF2-40B4-BE49-F238E27FC236}">
                <a16:creationId xmlns:a16="http://schemas.microsoft.com/office/drawing/2014/main" id="{41A00D6D-FDD2-F734-B47F-D5335D94AED4}"/>
              </a:ext>
            </a:extLst>
          </p:cNvPr>
          <p:cNvSpPr/>
          <p:nvPr/>
        </p:nvSpPr>
        <p:spPr>
          <a:xfrm>
            <a:off x="5175747" y="3041066"/>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アンケート回答・特定コンテンツのクリック・複数回のサイト訪問など、CVに近いアクションを検知した際に営業担当へ自動アラート。商談タイミングを逃さない。</a:t>
            </a:r>
            <a:endParaRPr lang="en-US" sz="600" dirty="0">
              <a:latin typeface="メイリオ" panose="020B0604030504040204" pitchFamily="50" charset="-128"/>
              <a:ea typeface="メイリオ" panose="020B0604030504040204" pitchFamily="50" charset="-128"/>
            </a:endParaRPr>
          </a:p>
        </p:txBody>
      </p:sp>
      <p:sp>
        <p:nvSpPr>
          <p:cNvPr id="617" name="Shape 77">
            <a:extLst>
              <a:ext uri="{FF2B5EF4-FFF2-40B4-BE49-F238E27FC236}">
                <a16:creationId xmlns:a16="http://schemas.microsoft.com/office/drawing/2014/main" id="{AAC1844B-8885-A3DF-88B2-F8DB39D7D842}"/>
              </a:ext>
            </a:extLst>
          </p:cNvPr>
          <p:cNvSpPr/>
          <p:nvPr/>
        </p:nvSpPr>
        <p:spPr>
          <a:xfrm>
            <a:off x="5157459" y="3388538"/>
            <a:ext cx="1274064" cy="329184"/>
          </a:xfrm>
          <a:prstGeom prst="roundRect">
            <a:avLst>
              <a:gd name="adj" fmla="val 16667"/>
            </a:avLst>
          </a:prstGeom>
          <a:solidFill>
            <a:schemeClr val="tx1"/>
          </a:solidFill>
          <a:ln w="12700">
            <a:no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619" name="Text 78">
            <a:extLst>
              <a:ext uri="{FF2B5EF4-FFF2-40B4-BE49-F238E27FC236}">
                <a16:creationId xmlns:a16="http://schemas.microsoft.com/office/drawing/2014/main" id="{E6B184D6-84E5-DB05-766A-D1E68B869F8D}"/>
              </a:ext>
            </a:extLst>
          </p:cNvPr>
          <p:cNvSpPr/>
          <p:nvPr/>
        </p:nvSpPr>
        <p:spPr>
          <a:xfrm>
            <a:off x="5157459" y="3388538"/>
            <a:ext cx="1274064" cy="329184"/>
          </a:xfrm>
          <a:prstGeom prst="rect">
            <a:avLst/>
          </a:prstGeom>
          <a:noFill/>
          <a:ln/>
        </p:spPr>
        <p:txBody>
          <a:bodyPr wrap="square" lIns="0" tIns="0" rIns="0" bIns="0" rtlCol="0" anchor="ctr"/>
          <a:lstStyle/>
          <a:p>
            <a:pPr marL="0" indent="0" algn="ctr">
              <a:lnSpc>
                <a:spcPct val="115000"/>
              </a:lnSpc>
              <a:buNone/>
            </a:pPr>
            <a:r>
              <a:rPr lang="en-US" sz="700" b="1" dirty="0" err="1">
                <a:solidFill>
                  <a:srgbClr val="FFFFFF"/>
                </a:solidFill>
                <a:latin typeface="メイリオ" panose="020B0604030504040204" pitchFamily="50" charset="-128"/>
                <a:ea typeface="メイリオ" panose="020B0604030504040204" pitchFamily="50" charset="-128"/>
                <a:cs typeface="Calibri" pitchFamily="34" charset="-120"/>
              </a:rPr>
              <a:t>行動スコア計測</a:t>
            </a:r>
            <a:endParaRPr lang="en-US" sz="700" dirty="0">
              <a:latin typeface="メイリオ" panose="020B0604030504040204" pitchFamily="50" charset="-128"/>
              <a:ea typeface="メイリオ" panose="020B0604030504040204" pitchFamily="50" charset="-128"/>
            </a:endParaRPr>
          </a:p>
        </p:txBody>
      </p:sp>
      <p:sp>
        <p:nvSpPr>
          <p:cNvPr id="621" name="Shape 79">
            <a:extLst>
              <a:ext uri="{FF2B5EF4-FFF2-40B4-BE49-F238E27FC236}">
                <a16:creationId xmlns:a16="http://schemas.microsoft.com/office/drawing/2014/main" id="{1CC3FE20-C3AA-8956-0689-74FD2017633E}"/>
              </a:ext>
            </a:extLst>
          </p:cNvPr>
          <p:cNvSpPr/>
          <p:nvPr/>
        </p:nvSpPr>
        <p:spPr>
          <a:xfrm>
            <a:off x="6431523" y="347997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23" name="Text 80">
            <a:extLst>
              <a:ext uri="{FF2B5EF4-FFF2-40B4-BE49-F238E27FC236}">
                <a16:creationId xmlns:a16="http://schemas.microsoft.com/office/drawing/2014/main" id="{9AC9454B-847A-EEEC-85FF-D2119E030598}"/>
              </a:ext>
            </a:extLst>
          </p:cNvPr>
          <p:cNvSpPr/>
          <p:nvPr/>
        </p:nvSpPr>
        <p:spPr>
          <a:xfrm>
            <a:off x="6431523" y="3479978"/>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625" name="Shape 81">
            <a:extLst>
              <a:ext uri="{FF2B5EF4-FFF2-40B4-BE49-F238E27FC236}">
                <a16:creationId xmlns:a16="http://schemas.microsoft.com/office/drawing/2014/main" id="{60491B0C-3EEB-681C-1D47-8D098E8FA7D8}"/>
              </a:ext>
            </a:extLst>
          </p:cNvPr>
          <p:cNvSpPr/>
          <p:nvPr/>
        </p:nvSpPr>
        <p:spPr>
          <a:xfrm>
            <a:off x="6522963" y="3388538"/>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dirty="0" err="1">
                <a:solidFill>
                  <a:srgbClr val="FFFFFF"/>
                </a:solidFill>
                <a:latin typeface="メイリオ" panose="020B0604030504040204" pitchFamily="50" charset="-128"/>
                <a:ea typeface="メイリオ" panose="020B0604030504040204" pitchFamily="50" charset="-128"/>
                <a:cs typeface="Calibri" pitchFamily="34" charset="-120"/>
              </a:rPr>
              <a:t>閾値超えで検知</a:t>
            </a:r>
            <a:endParaRPr lang="en-US" altLang="ja-JP" sz="700" dirty="0">
              <a:latin typeface="メイリオ" panose="020B0604030504040204" pitchFamily="50" charset="-128"/>
              <a:ea typeface="メイリオ" panose="020B0604030504040204" pitchFamily="50" charset="-128"/>
            </a:endParaRPr>
          </a:p>
        </p:txBody>
      </p:sp>
      <p:sp>
        <p:nvSpPr>
          <p:cNvPr id="629" name="Shape 83">
            <a:extLst>
              <a:ext uri="{FF2B5EF4-FFF2-40B4-BE49-F238E27FC236}">
                <a16:creationId xmlns:a16="http://schemas.microsoft.com/office/drawing/2014/main" id="{4B84A085-A08B-402E-675A-39F203C58877}"/>
              </a:ext>
            </a:extLst>
          </p:cNvPr>
          <p:cNvSpPr/>
          <p:nvPr/>
        </p:nvSpPr>
        <p:spPr>
          <a:xfrm>
            <a:off x="7797027" y="347997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31" name="Text 84">
            <a:extLst>
              <a:ext uri="{FF2B5EF4-FFF2-40B4-BE49-F238E27FC236}">
                <a16:creationId xmlns:a16="http://schemas.microsoft.com/office/drawing/2014/main" id="{73ACF39F-9B9B-5BCF-7511-91DAC982D28F}"/>
              </a:ext>
            </a:extLst>
          </p:cNvPr>
          <p:cNvSpPr/>
          <p:nvPr/>
        </p:nvSpPr>
        <p:spPr>
          <a:xfrm>
            <a:off x="7797027" y="3479978"/>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633" name="Shape 85">
            <a:extLst>
              <a:ext uri="{FF2B5EF4-FFF2-40B4-BE49-F238E27FC236}">
                <a16:creationId xmlns:a16="http://schemas.microsoft.com/office/drawing/2014/main" id="{260C63D6-01F1-691F-333C-A703B453DFD3}"/>
              </a:ext>
            </a:extLst>
          </p:cNvPr>
          <p:cNvSpPr/>
          <p:nvPr/>
        </p:nvSpPr>
        <p:spPr>
          <a:xfrm>
            <a:off x="7888467" y="3388538"/>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dirty="0" err="1">
                <a:solidFill>
                  <a:srgbClr val="FFFFFF"/>
                </a:solidFill>
                <a:latin typeface="メイリオ" panose="020B0604030504040204" pitchFamily="50" charset="-128"/>
                <a:ea typeface="メイリオ" panose="020B0604030504040204" pitchFamily="50" charset="-128"/>
                <a:cs typeface="Calibri" pitchFamily="34" charset="-120"/>
              </a:rPr>
              <a:t>スタッフにアラート</a:t>
            </a:r>
            <a:endParaRPr lang="en-US" altLang="ja-JP" sz="700" dirty="0">
              <a:latin typeface="メイリオ" panose="020B0604030504040204" pitchFamily="50" charset="-128"/>
              <a:ea typeface="メイリオ" panose="020B0604030504040204" pitchFamily="50" charset="-128"/>
            </a:endParaRPr>
          </a:p>
        </p:txBody>
      </p:sp>
      <p:sp>
        <p:nvSpPr>
          <p:cNvPr id="637" name="Shape 87">
            <a:extLst>
              <a:ext uri="{FF2B5EF4-FFF2-40B4-BE49-F238E27FC236}">
                <a16:creationId xmlns:a16="http://schemas.microsoft.com/office/drawing/2014/main" id="{784BB10F-3251-36CA-8B39-87931A158145}"/>
              </a:ext>
            </a:extLst>
          </p:cNvPr>
          <p:cNvSpPr/>
          <p:nvPr/>
        </p:nvSpPr>
        <p:spPr>
          <a:xfrm>
            <a:off x="5066019" y="388307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41" name="Shape 89">
            <a:extLst>
              <a:ext uri="{FF2B5EF4-FFF2-40B4-BE49-F238E27FC236}">
                <a16:creationId xmlns:a16="http://schemas.microsoft.com/office/drawing/2014/main" id="{00DC0A3B-4000-F47D-3213-A4E96634D97B}"/>
              </a:ext>
            </a:extLst>
          </p:cNvPr>
          <p:cNvSpPr/>
          <p:nvPr/>
        </p:nvSpPr>
        <p:spPr>
          <a:xfrm>
            <a:off x="5175747" y="397451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43" name="Text 90">
            <a:extLst>
              <a:ext uri="{FF2B5EF4-FFF2-40B4-BE49-F238E27FC236}">
                <a16:creationId xmlns:a16="http://schemas.microsoft.com/office/drawing/2014/main" id="{B83E96EB-4D94-8784-7634-300FB4B3D87E}"/>
              </a:ext>
            </a:extLst>
          </p:cNvPr>
          <p:cNvSpPr/>
          <p:nvPr/>
        </p:nvSpPr>
        <p:spPr>
          <a:xfrm>
            <a:off x="5175747" y="3974516"/>
            <a:ext cx="274320" cy="274320"/>
          </a:xfrm>
          <a:prstGeom prst="rect">
            <a:avLst/>
          </a:prstGeom>
          <a:noFill/>
          <a:ln>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645" name="Shape 91">
            <a:extLst>
              <a:ext uri="{FF2B5EF4-FFF2-40B4-BE49-F238E27FC236}">
                <a16:creationId xmlns:a16="http://schemas.microsoft.com/office/drawing/2014/main" id="{46886788-FBC0-BB7D-8B57-0602CB1FB3B4}"/>
              </a:ext>
            </a:extLst>
          </p:cNvPr>
          <p:cNvSpPr/>
          <p:nvPr/>
        </p:nvSpPr>
        <p:spPr>
          <a:xfrm>
            <a:off x="5523219" y="4001948"/>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47" name="Text 92">
            <a:extLst>
              <a:ext uri="{FF2B5EF4-FFF2-40B4-BE49-F238E27FC236}">
                <a16:creationId xmlns:a16="http://schemas.microsoft.com/office/drawing/2014/main" id="{FAEBC937-35CD-96F3-EB63-7A55072A57D0}"/>
              </a:ext>
            </a:extLst>
          </p:cNvPr>
          <p:cNvSpPr/>
          <p:nvPr/>
        </p:nvSpPr>
        <p:spPr>
          <a:xfrm>
            <a:off x="5523219" y="4001948"/>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BOT×有人切替</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649" name="Text 93">
            <a:extLst>
              <a:ext uri="{FF2B5EF4-FFF2-40B4-BE49-F238E27FC236}">
                <a16:creationId xmlns:a16="http://schemas.microsoft.com/office/drawing/2014/main" id="{67BE3A5A-F652-950D-998F-E17F2540B5B5}"/>
              </a:ext>
            </a:extLst>
          </p:cNvPr>
          <p:cNvSpPr/>
          <p:nvPr/>
        </p:nvSpPr>
        <p:spPr>
          <a:xfrm>
            <a:off x="6437619" y="397451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BOT初期対応→温度感に応じて人に切り替える</a:t>
            </a:r>
            <a:endParaRPr lang="en-US" sz="1000" dirty="0">
              <a:latin typeface="メイリオ" panose="020B0604030504040204" pitchFamily="50" charset="-128"/>
              <a:ea typeface="メイリオ" panose="020B0604030504040204" pitchFamily="50" charset="-128"/>
            </a:endParaRPr>
          </a:p>
        </p:txBody>
      </p:sp>
      <p:sp>
        <p:nvSpPr>
          <p:cNvPr id="651" name="Text 94">
            <a:extLst>
              <a:ext uri="{FF2B5EF4-FFF2-40B4-BE49-F238E27FC236}">
                <a16:creationId xmlns:a16="http://schemas.microsoft.com/office/drawing/2014/main" id="{AFBBE4E7-B1A7-4292-09B1-18137ED8D42D}"/>
              </a:ext>
            </a:extLst>
          </p:cNvPr>
          <p:cNvSpPr/>
          <p:nvPr/>
        </p:nvSpPr>
        <p:spPr>
          <a:xfrm>
            <a:off x="5175747" y="4303700"/>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最初の問い合わせはBOTで自動対応しつつ、「今すぐ相談したい」「詳しく聞きたい」等のキーワードや返信内容に応じてスタッフのチャット対応に切り替える二段構えの設計。</a:t>
            </a:r>
            <a:endParaRPr lang="en-US" sz="600" dirty="0">
              <a:latin typeface="メイリオ" panose="020B0604030504040204" pitchFamily="50" charset="-128"/>
              <a:ea typeface="メイリオ" panose="020B0604030504040204" pitchFamily="50" charset="-128"/>
            </a:endParaRPr>
          </a:p>
        </p:txBody>
      </p:sp>
      <p:sp>
        <p:nvSpPr>
          <p:cNvPr id="653" name="Shape 95">
            <a:extLst>
              <a:ext uri="{FF2B5EF4-FFF2-40B4-BE49-F238E27FC236}">
                <a16:creationId xmlns:a16="http://schemas.microsoft.com/office/drawing/2014/main" id="{39FA8CE3-0F53-8CA9-1EA5-539561B76F93}"/>
              </a:ext>
            </a:extLst>
          </p:cNvPr>
          <p:cNvSpPr/>
          <p:nvPr/>
        </p:nvSpPr>
        <p:spPr>
          <a:xfrm>
            <a:off x="5157459" y="4651172"/>
            <a:ext cx="1274064" cy="329184"/>
          </a:xfrm>
          <a:prstGeom prst="roundRect">
            <a:avLst>
              <a:gd name="adj" fmla="val 16667"/>
            </a:avLst>
          </a:prstGeom>
          <a:solidFill>
            <a:schemeClr val="tx1"/>
          </a:solidFill>
          <a:ln w="12700">
            <a:no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655" name="Text 96">
            <a:extLst>
              <a:ext uri="{FF2B5EF4-FFF2-40B4-BE49-F238E27FC236}">
                <a16:creationId xmlns:a16="http://schemas.microsoft.com/office/drawing/2014/main" id="{E655B7A0-C9A5-CF91-16E4-1895DE139666}"/>
              </a:ext>
            </a:extLst>
          </p:cNvPr>
          <p:cNvSpPr/>
          <p:nvPr/>
        </p:nvSpPr>
        <p:spPr>
          <a:xfrm>
            <a:off x="5157459" y="465117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BOT自動対応</a:t>
            </a:r>
            <a:endParaRPr lang="en-US" sz="700" dirty="0">
              <a:latin typeface="メイリオ" panose="020B0604030504040204" pitchFamily="50" charset="-128"/>
              <a:ea typeface="メイリオ" panose="020B0604030504040204" pitchFamily="50" charset="-128"/>
            </a:endParaRPr>
          </a:p>
        </p:txBody>
      </p:sp>
      <p:sp>
        <p:nvSpPr>
          <p:cNvPr id="657" name="Shape 97">
            <a:extLst>
              <a:ext uri="{FF2B5EF4-FFF2-40B4-BE49-F238E27FC236}">
                <a16:creationId xmlns:a16="http://schemas.microsoft.com/office/drawing/2014/main" id="{1626AF9B-240E-5BE3-7DCD-12861D786B24}"/>
              </a:ext>
            </a:extLst>
          </p:cNvPr>
          <p:cNvSpPr/>
          <p:nvPr/>
        </p:nvSpPr>
        <p:spPr>
          <a:xfrm>
            <a:off x="6431523" y="474261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59" name="Text 98">
            <a:extLst>
              <a:ext uri="{FF2B5EF4-FFF2-40B4-BE49-F238E27FC236}">
                <a16:creationId xmlns:a16="http://schemas.microsoft.com/office/drawing/2014/main" id="{42A3A949-F941-32D9-7509-689D4FFFDFB7}"/>
              </a:ext>
            </a:extLst>
          </p:cNvPr>
          <p:cNvSpPr/>
          <p:nvPr/>
        </p:nvSpPr>
        <p:spPr>
          <a:xfrm>
            <a:off x="6431523" y="4742612"/>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661" name="Shape 99">
            <a:extLst>
              <a:ext uri="{FF2B5EF4-FFF2-40B4-BE49-F238E27FC236}">
                <a16:creationId xmlns:a16="http://schemas.microsoft.com/office/drawing/2014/main" id="{6DE99E7F-7471-D525-A123-D720FA6FA9B5}"/>
              </a:ext>
            </a:extLst>
          </p:cNvPr>
          <p:cNvSpPr/>
          <p:nvPr/>
        </p:nvSpPr>
        <p:spPr>
          <a:xfrm>
            <a:off x="6522963" y="4651172"/>
            <a:ext cx="1274064" cy="329184"/>
          </a:xfrm>
          <a:prstGeom prst="roundRect">
            <a:avLst>
              <a:gd name="adj" fmla="val 16667"/>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63" name="Text 100">
            <a:extLst>
              <a:ext uri="{FF2B5EF4-FFF2-40B4-BE49-F238E27FC236}">
                <a16:creationId xmlns:a16="http://schemas.microsoft.com/office/drawing/2014/main" id="{9B9F0FB1-A7C2-521A-B063-2941776A633E}"/>
              </a:ext>
            </a:extLst>
          </p:cNvPr>
          <p:cNvSpPr/>
          <p:nvPr/>
        </p:nvSpPr>
        <p:spPr>
          <a:xfrm>
            <a:off x="6522963" y="4651172"/>
            <a:ext cx="1274064" cy="329184"/>
          </a:xfrm>
          <a:prstGeom prst="rect">
            <a:avLst/>
          </a:prstGeom>
          <a:no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温度感判定</a:t>
            </a:r>
            <a:endParaRPr lang="en-US" sz="700" dirty="0">
              <a:latin typeface="メイリオ" panose="020B0604030504040204" pitchFamily="50" charset="-128"/>
              <a:ea typeface="メイリオ" panose="020B0604030504040204" pitchFamily="50" charset="-128"/>
            </a:endParaRPr>
          </a:p>
        </p:txBody>
      </p:sp>
      <p:sp>
        <p:nvSpPr>
          <p:cNvPr id="665" name="Shape 101">
            <a:extLst>
              <a:ext uri="{FF2B5EF4-FFF2-40B4-BE49-F238E27FC236}">
                <a16:creationId xmlns:a16="http://schemas.microsoft.com/office/drawing/2014/main" id="{9339D2EE-CDD4-3AA6-FBFA-6A18F1CC0246}"/>
              </a:ext>
            </a:extLst>
          </p:cNvPr>
          <p:cNvSpPr/>
          <p:nvPr/>
        </p:nvSpPr>
        <p:spPr>
          <a:xfrm>
            <a:off x="7797027" y="474261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67" name="Text 102">
            <a:extLst>
              <a:ext uri="{FF2B5EF4-FFF2-40B4-BE49-F238E27FC236}">
                <a16:creationId xmlns:a16="http://schemas.microsoft.com/office/drawing/2014/main" id="{851DC5F9-D2E2-AB8D-5270-F12410849762}"/>
              </a:ext>
            </a:extLst>
          </p:cNvPr>
          <p:cNvSpPr/>
          <p:nvPr/>
        </p:nvSpPr>
        <p:spPr>
          <a:xfrm>
            <a:off x="7797027" y="4742612"/>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669" name="Shape 103">
            <a:extLst>
              <a:ext uri="{FF2B5EF4-FFF2-40B4-BE49-F238E27FC236}">
                <a16:creationId xmlns:a16="http://schemas.microsoft.com/office/drawing/2014/main" id="{CA3E34EC-809E-1460-AF84-01892AC164A2}"/>
              </a:ext>
            </a:extLst>
          </p:cNvPr>
          <p:cNvSpPr/>
          <p:nvPr/>
        </p:nvSpPr>
        <p:spPr>
          <a:xfrm>
            <a:off x="7888467" y="4651172"/>
            <a:ext cx="1274064" cy="329184"/>
          </a:xfrm>
          <a:prstGeom prst="roundRect">
            <a:avLst>
              <a:gd name="adj" fmla="val 16667"/>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71" name="Text 104">
            <a:extLst>
              <a:ext uri="{FF2B5EF4-FFF2-40B4-BE49-F238E27FC236}">
                <a16:creationId xmlns:a16="http://schemas.microsoft.com/office/drawing/2014/main" id="{92D817DE-E3E0-0210-118B-E88552E70384}"/>
              </a:ext>
            </a:extLst>
          </p:cNvPr>
          <p:cNvSpPr/>
          <p:nvPr/>
        </p:nvSpPr>
        <p:spPr>
          <a:xfrm>
            <a:off x="7888467" y="4651172"/>
            <a:ext cx="1274064" cy="329184"/>
          </a:xfrm>
          <a:prstGeom prst="rect">
            <a:avLst/>
          </a:prstGeom>
          <a:no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有人チャット切替</a:t>
            </a:r>
            <a:endParaRPr lang="en-US" sz="700" dirty="0">
              <a:latin typeface="メイリオ" panose="020B0604030504040204" pitchFamily="50" charset="-128"/>
              <a:ea typeface="メイリオ" panose="020B0604030504040204" pitchFamily="50" charset="-128"/>
            </a:endParaRPr>
          </a:p>
        </p:txBody>
      </p:sp>
      <p:sp>
        <p:nvSpPr>
          <p:cNvPr id="673" name="Shape 105">
            <a:extLst>
              <a:ext uri="{FF2B5EF4-FFF2-40B4-BE49-F238E27FC236}">
                <a16:creationId xmlns:a16="http://schemas.microsoft.com/office/drawing/2014/main" id="{81CD6781-0482-CB41-CA37-3520B7496A5A}"/>
              </a:ext>
            </a:extLst>
          </p:cNvPr>
          <p:cNvSpPr/>
          <p:nvPr/>
        </p:nvSpPr>
        <p:spPr>
          <a:xfrm>
            <a:off x="5066019" y="5145710"/>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77" name="Shape 107">
            <a:extLst>
              <a:ext uri="{FF2B5EF4-FFF2-40B4-BE49-F238E27FC236}">
                <a16:creationId xmlns:a16="http://schemas.microsoft.com/office/drawing/2014/main" id="{A81AEAB6-AD7E-F31B-0ADE-5C7B295D5EA4}"/>
              </a:ext>
            </a:extLst>
          </p:cNvPr>
          <p:cNvSpPr/>
          <p:nvPr/>
        </p:nvSpPr>
        <p:spPr>
          <a:xfrm>
            <a:off x="5175747" y="5237150"/>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79" name="Text 108">
            <a:extLst>
              <a:ext uri="{FF2B5EF4-FFF2-40B4-BE49-F238E27FC236}">
                <a16:creationId xmlns:a16="http://schemas.microsoft.com/office/drawing/2014/main" id="{64AA460F-920B-4702-F2D6-9DC6134F10FA}"/>
              </a:ext>
            </a:extLst>
          </p:cNvPr>
          <p:cNvSpPr/>
          <p:nvPr/>
        </p:nvSpPr>
        <p:spPr>
          <a:xfrm>
            <a:off x="5175747" y="5237150"/>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681" name="Shape 109">
            <a:extLst>
              <a:ext uri="{FF2B5EF4-FFF2-40B4-BE49-F238E27FC236}">
                <a16:creationId xmlns:a16="http://schemas.microsoft.com/office/drawing/2014/main" id="{A7159021-040A-B966-0BEA-A487B1880278}"/>
              </a:ext>
            </a:extLst>
          </p:cNvPr>
          <p:cNvSpPr/>
          <p:nvPr/>
        </p:nvSpPr>
        <p:spPr>
          <a:xfrm>
            <a:off x="5523219" y="5264582"/>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83" name="Text 110">
            <a:extLst>
              <a:ext uri="{FF2B5EF4-FFF2-40B4-BE49-F238E27FC236}">
                <a16:creationId xmlns:a16="http://schemas.microsoft.com/office/drawing/2014/main" id="{54E3A1A7-41A3-D934-7220-35DFA71C0D16}"/>
              </a:ext>
            </a:extLst>
          </p:cNvPr>
          <p:cNvSpPr/>
          <p:nvPr/>
        </p:nvSpPr>
        <p:spPr>
          <a:xfrm>
            <a:off x="5523219" y="5264582"/>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CV前プッシュ</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685" name="Text 111">
            <a:extLst>
              <a:ext uri="{FF2B5EF4-FFF2-40B4-BE49-F238E27FC236}">
                <a16:creationId xmlns:a16="http://schemas.microsoft.com/office/drawing/2014/main" id="{F45F7554-888D-796D-0EEB-97F748D6AF65}"/>
              </a:ext>
            </a:extLst>
          </p:cNvPr>
          <p:cNvSpPr/>
          <p:nvPr/>
        </p:nvSpPr>
        <p:spPr>
          <a:xfrm>
            <a:off x="6437619" y="5237150"/>
            <a:ext cx="3054724" cy="256032"/>
          </a:xfrm>
          <a:prstGeom prst="rect">
            <a:avLst/>
          </a:prstGeom>
          <a:noFill/>
          <a:ln/>
        </p:spPr>
        <p:txBody>
          <a:bodyPr wrap="square" lIns="0" tIns="0" rIns="0" bIns="0" rtlCol="0" anchor="ctr"/>
          <a:lstStyle/>
          <a:p>
            <a:pPr marL="0" indent="0">
              <a:buNone/>
            </a:pP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購入・申込前</a:t>
            </a:r>
            <a:r>
              <a:rPr lang="ja-JP" altLang="en-US" sz="1000" b="1" dirty="0">
                <a:solidFill>
                  <a:srgbClr val="1A1A2E"/>
                </a:solidFill>
                <a:latin typeface="メイリオ" panose="020B0604030504040204" pitchFamily="50" charset="-128"/>
                <a:ea typeface="メイリオ" panose="020B0604030504040204" pitchFamily="50" charset="-128"/>
                <a:cs typeface="Calibri" pitchFamily="34" charset="-120"/>
              </a:rPr>
              <a:t>の検討</a:t>
            </a: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ユーザーへ自動フォロ</a:t>
            </a: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ー</a:t>
            </a:r>
            <a:endParaRPr lang="en-US" sz="1000" dirty="0">
              <a:latin typeface="メイリオ" panose="020B0604030504040204" pitchFamily="50" charset="-128"/>
              <a:ea typeface="メイリオ" panose="020B0604030504040204" pitchFamily="50" charset="-128"/>
            </a:endParaRPr>
          </a:p>
        </p:txBody>
      </p:sp>
      <p:sp>
        <p:nvSpPr>
          <p:cNvPr id="687" name="Text 112">
            <a:extLst>
              <a:ext uri="{FF2B5EF4-FFF2-40B4-BE49-F238E27FC236}">
                <a16:creationId xmlns:a16="http://schemas.microsoft.com/office/drawing/2014/main" id="{70BE181D-BA19-893E-1406-EC150E011C61}"/>
              </a:ext>
            </a:extLst>
          </p:cNvPr>
          <p:cNvSpPr/>
          <p:nvPr/>
        </p:nvSpPr>
        <p:spPr>
          <a:xfrm>
            <a:off x="5175747" y="5566334"/>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特定LPを複数回閲覧・カートに入れたまま未購入等をトリガーに「ご不明な点はありますか？」とLINEから自動チャット誘導し、最後の一押しをする。</a:t>
            </a:r>
            <a:endParaRPr lang="en-US" sz="600" dirty="0">
              <a:latin typeface="メイリオ" panose="020B0604030504040204" pitchFamily="50" charset="-128"/>
              <a:ea typeface="メイリオ" panose="020B0604030504040204" pitchFamily="50" charset="-128"/>
            </a:endParaRPr>
          </a:p>
        </p:txBody>
      </p:sp>
      <p:sp>
        <p:nvSpPr>
          <p:cNvPr id="689" name="Shape 113">
            <a:extLst>
              <a:ext uri="{FF2B5EF4-FFF2-40B4-BE49-F238E27FC236}">
                <a16:creationId xmlns:a16="http://schemas.microsoft.com/office/drawing/2014/main" id="{ECAFE45D-D34B-EFFC-7D25-B08BEE20AEF6}"/>
              </a:ext>
            </a:extLst>
          </p:cNvPr>
          <p:cNvSpPr/>
          <p:nvPr/>
        </p:nvSpPr>
        <p:spPr>
          <a:xfrm>
            <a:off x="5157459" y="5913806"/>
            <a:ext cx="1274064" cy="329184"/>
          </a:xfrm>
          <a:prstGeom prst="roundRect">
            <a:avLst>
              <a:gd name="adj" fmla="val 16667"/>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91" name="Text 114">
            <a:extLst>
              <a:ext uri="{FF2B5EF4-FFF2-40B4-BE49-F238E27FC236}">
                <a16:creationId xmlns:a16="http://schemas.microsoft.com/office/drawing/2014/main" id="{6B779C85-BD07-0168-5453-28C423513F9D}"/>
              </a:ext>
            </a:extLst>
          </p:cNvPr>
          <p:cNvSpPr/>
          <p:nvPr/>
        </p:nvSpPr>
        <p:spPr>
          <a:xfrm>
            <a:off x="5157459" y="5913806"/>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行動トリガー検知</a:t>
            </a:r>
            <a:endParaRPr lang="en-US" sz="700" dirty="0">
              <a:latin typeface="メイリオ" panose="020B0604030504040204" pitchFamily="50" charset="-128"/>
              <a:ea typeface="メイリオ" panose="020B0604030504040204" pitchFamily="50" charset="-128"/>
            </a:endParaRPr>
          </a:p>
        </p:txBody>
      </p:sp>
      <p:sp>
        <p:nvSpPr>
          <p:cNvPr id="697" name="Shape 117">
            <a:extLst>
              <a:ext uri="{FF2B5EF4-FFF2-40B4-BE49-F238E27FC236}">
                <a16:creationId xmlns:a16="http://schemas.microsoft.com/office/drawing/2014/main" id="{74895763-F19D-BB26-23E9-71C875568975}"/>
              </a:ext>
            </a:extLst>
          </p:cNvPr>
          <p:cNvSpPr/>
          <p:nvPr/>
        </p:nvSpPr>
        <p:spPr>
          <a:xfrm>
            <a:off x="6522963" y="5913806"/>
            <a:ext cx="1274064" cy="329184"/>
          </a:xfrm>
          <a:prstGeom prst="roundRect">
            <a:avLst>
              <a:gd name="adj" fmla="val 16667"/>
            </a:avLst>
          </a:prstGeom>
          <a:solidFill>
            <a:schemeClr val="tx1"/>
          </a:solidFill>
          <a:ln w="12700">
            <a:no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699" name="Text 118">
            <a:extLst>
              <a:ext uri="{FF2B5EF4-FFF2-40B4-BE49-F238E27FC236}">
                <a16:creationId xmlns:a16="http://schemas.microsoft.com/office/drawing/2014/main" id="{503535A8-3E13-EB09-4892-4EF8B4B48074}"/>
              </a:ext>
            </a:extLst>
          </p:cNvPr>
          <p:cNvSpPr/>
          <p:nvPr/>
        </p:nvSpPr>
        <p:spPr>
          <a:xfrm>
            <a:off x="6522963" y="5913806"/>
            <a:ext cx="1274064" cy="329184"/>
          </a:xfrm>
          <a:prstGeom prst="rect">
            <a:avLst/>
          </a:prstGeom>
          <a:no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自動チャット誘導</a:t>
            </a:r>
            <a:endParaRPr lang="en-US" sz="700" dirty="0">
              <a:latin typeface="メイリオ" panose="020B0604030504040204" pitchFamily="50" charset="-128"/>
              <a:ea typeface="メイリオ" panose="020B0604030504040204" pitchFamily="50" charset="-128"/>
            </a:endParaRPr>
          </a:p>
        </p:txBody>
      </p:sp>
      <p:sp>
        <p:nvSpPr>
          <p:cNvPr id="705" name="Shape 121">
            <a:extLst>
              <a:ext uri="{FF2B5EF4-FFF2-40B4-BE49-F238E27FC236}">
                <a16:creationId xmlns:a16="http://schemas.microsoft.com/office/drawing/2014/main" id="{AC9980DB-B831-BCAA-8D60-562EB65D4D3A}"/>
              </a:ext>
            </a:extLst>
          </p:cNvPr>
          <p:cNvSpPr/>
          <p:nvPr/>
        </p:nvSpPr>
        <p:spPr>
          <a:xfrm>
            <a:off x="7888467" y="5913806"/>
            <a:ext cx="1274064" cy="329184"/>
          </a:xfrm>
          <a:prstGeom prst="roundRect">
            <a:avLst>
              <a:gd name="adj" fmla="val 16667"/>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707" name="Text 122">
            <a:extLst>
              <a:ext uri="{FF2B5EF4-FFF2-40B4-BE49-F238E27FC236}">
                <a16:creationId xmlns:a16="http://schemas.microsoft.com/office/drawing/2014/main" id="{22E49EBC-D7D9-221D-5A31-6BDEA690B75F}"/>
              </a:ext>
            </a:extLst>
          </p:cNvPr>
          <p:cNvSpPr/>
          <p:nvPr/>
        </p:nvSpPr>
        <p:spPr>
          <a:xfrm>
            <a:off x="7888467" y="5913806"/>
            <a:ext cx="1274064" cy="329184"/>
          </a:xfrm>
          <a:prstGeom prst="rect">
            <a:avLst/>
          </a:prstGeom>
          <a:no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最終CV押し</a:t>
            </a:r>
            <a:endParaRPr lang="en-US" sz="700" dirty="0">
              <a:latin typeface="メイリオ" panose="020B0604030504040204" pitchFamily="50" charset="-128"/>
              <a:ea typeface="メイリオ" panose="020B0604030504040204" pitchFamily="50" charset="-128"/>
            </a:endParaRPr>
          </a:p>
        </p:txBody>
      </p:sp>
      <p:sp>
        <p:nvSpPr>
          <p:cNvPr id="12" name="Shape 43">
            <a:extLst>
              <a:ext uri="{FF2B5EF4-FFF2-40B4-BE49-F238E27FC236}">
                <a16:creationId xmlns:a16="http://schemas.microsoft.com/office/drawing/2014/main" id="{015046B1-422B-D143-D42E-FFCB6E50BDFD}"/>
              </a:ext>
            </a:extLst>
          </p:cNvPr>
          <p:cNvSpPr/>
          <p:nvPr/>
        </p:nvSpPr>
        <p:spPr>
          <a:xfrm>
            <a:off x="1987539" y="602658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14" name="Text 44">
            <a:extLst>
              <a:ext uri="{FF2B5EF4-FFF2-40B4-BE49-F238E27FC236}">
                <a16:creationId xmlns:a16="http://schemas.microsoft.com/office/drawing/2014/main" id="{E10F9D9D-B8B4-2619-0D78-A8518E7D27D9}"/>
              </a:ext>
            </a:extLst>
          </p:cNvPr>
          <p:cNvSpPr/>
          <p:nvPr/>
        </p:nvSpPr>
        <p:spPr>
          <a:xfrm>
            <a:off x="1987539" y="6026582"/>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16" name="Shape 47">
            <a:extLst>
              <a:ext uri="{FF2B5EF4-FFF2-40B4-BE49-F238E27FC236}">
                <a16:creationId xmlns:a16="http://schemas.microsoft.com/office/drawing/2014/main" id="{C0AA6635-6DF6-2127-AAD7-0D9D5EB088C1}"/>
              </a:ext>
            </a:extLst>
          </p:cNvPr>
          <p:cNvSpPr/>
          <p:nvPr/>
        </p:nvSpPr>
        <p:spPr>
          <a:xfrm>
            <a:off x="3353043" y="602658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18" name="Text 48">
            <a:extLst>
              <a:ext uri="{FF2B5EF4-FFF2-40B4-BE49-F238E27FC236}">
                <a16:creationId xmlns:a16="http://schemas.microsoft.com/office/drawing/2014/main" id="{497710E5-220F-C545-E364-574BD79A0BE8}"/>
              </a:ext>
            </a:extLst>
          </p:cNvPr>
          <p:cNvSpPr/>
          <p:nvPr/>
        </p:nvSpPr>
        <p:spPr>
          <a:xfrm>
            <a:off x="3353043" y="6026582"/>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20" name="Shape 43">
            <a:extLst>
              <a:ext uri="{FF2B5EF4-FFF2-40B4-BE49-F238E27FC236}">
                <a16:creationId xmlns:a16="http://schemas.microsoft.com/office/drawing/2014/main" id="{06C06D8C-BAFC-2894-2CA3-9E087FEEA2E3}"/>
              </a:ext>
            </a:extLst>
          </p:cNvPr>
          <p:cNvSpPr/>
          <p:nvPr/>
        </p:nvSpPr>
        <p:spPr>
          <a:xfrm>
            <a:off x="6431523" y="600205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22" name="Text 44">
            <a:extLst>
              <a:ext uri="{FF2B5EF4-FFF2-40B4-BE49-F238E27FC236}">
                <a16:creationId xmlns:a16="http://schemas.microsoft.com/office/drawing/2014/main" id="{008286C9-78EA-C479-FFCF-2F148042A721}"/>
              </a:ext>
            </a:extLst>
          </p:cNvPr>
          <p:cNvSpPr/>
          <p:nvPr/>
        </p:nvSpPr>
        <p:spPr>
          <a:xfrm>
            <a:off x="6431523" y="6002059"/>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24" name="Shape 47">
            <a:extLst>
              <a:ext uri="{FF2B5EF4-FFF2-40B4-BE49-F238E27FC236}">
                <a16:creationId xmlns:a16="http://schemas.microsoft.com/office/drawing/2014/main" id="{E3694C2E-3C58-CF49-66A0-6BD648B3759E}"/>
              </a:ext>
            </a:extLst>
          </p:cNvPr>
          <p:cNvSpPr/>
          <p:nvPr/>
        </p:nvSpPr>
        <p:spPr>
          <a:xfrm>
            <a:off x="7797027" y="600205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26" name="Text 48">
            <a:extLst>
              <a:ext uri="{FF2B5EF4-FFF2-40B4-BE49-F238E27FC236}">
                <a16:creationId xmlns:a16="http://schemas.microsoft.com/office/drawing/2014/main" id="{EC1D5F75-6D8E-B3B8-DD9E-954F37F1B769}"/>
              </a:ext>
            </a:extLst>
          </p:cNvPr>
          <p:cNvSpPr/>
          <p:nvPr/>
        </p:nvSpPr>
        <p:spPr>
          <a:xfrm>
            <a:off x="7797027" y="6002059"/>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4827790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4070-0F2B-474C-0AD3-89D288BF8607}"/>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rIns="0" tIns="21600" bIns="21600" anchor="ctr">
            <a:spAutoFit/>
          </a:bodyPr>
          <a:lstStyle/>
          <a:p>
            <a:pPr algn="l"/>
            <a:r>
              <a:rPr sz="1600" b="1">
                <a:solidFill>
                  <a:srgbClr val="002060"/>
                </a:solidFill>
                <a:latin typeface="メイリオ"/>
                <a:ea typeface="メイリオ"/>
                <a:cs typeface="メイリオ"/>
              </a:rPr>
              <a:t>具体施策（友だち追加〜短期）｜60秒 予算診断の設問設計</a:t>
            </a:r>
          </a:p>
        </p:txBody>
      </p:sp>
      <p:sp>
        <p:nvSpPr>
          <p:cNvPr id="3" name="TextBox 2"/>
          <p:cNvSpPr txBox="1"/>
          <p:nvPr/>
        </p:nvSpPr>
        <p:spPr>
          <a:xfrm>
            <a:off x="432000" y="648000"/>
            <a:ext cx="9036000" cy="684000"/>
          </a:xfrm>
          <a:prstGeom prst="rect">
            <a:avLst/>
          </a:prstGeom>
          <a:noFill/>
        </p:spPr>
        <p:txBody>
          <a:bodyPr wrap="square" lIns="0" rIns="0" tIns="21600" bIns="21600" anchor="ctr">
            <a:spAutoFit/>
          </a:bodyPr>
          <a:lstStyle/>
          <a:p>
            <a:pPr algn="l">
              <a:lnSpc>
                <a:spcPct val="128000"/>
              </a:lnSpc>
            </a:pPr>
            <a:r>
              <a:rPr sz="1200">
                <a:solidFill>
                  <a:srgbClr val="333333"/>
                </a:solidFill>
                <a:latin typeface="メイリオ"/>
                <a:ea typeface="メイリオ"/>
                <a:cs typeface="メイリオ"/>
              </a:rPr>
              <a:t>4問すべて選択式・自由入力ゼロ。設問はそのまま配信セグメントのタグになるものだけに絞る。</a:t>
            </a:r>
          </a:p>
          <a:p>
            <a:pPr algn="l">
              <a:lnSpc>
                <a:spcPct val="128000"/>
              </a:lnSpc>
            </a:pPr>
            <a:r>
              <a:rPr sz="1200">
                <a:solidFill>
                  <a:srgbClr val="333333"/>
                </a:solidFill>
                <a:latin typeface="メイリオ"/>
                <a:ea typeface="メイリオ"/>
                <a:cs typeface="メイリオ"/>
              </a:rPr>
              <a:t>アンケートは1通目に置く（参加率が最大化する）。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818000"/>
            <a:ext cx="5976000" cy="70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7999" y="1890000"/>
            <a:ext cx="576000" cy="216000"/>
          </a:xfrm>
          <a:prstGeom prst="rect">
            <a:avLst/>
          </a:prstGeom>
          <a:noFill/>
        </p:spPr>
        <p:txBody>
          <a:bodyPr wrap="square" lIns="0" rIns="50400" tIns="21600" bIns="21600" anchor="t">
            <a:spAutoFit/>
          </a:bodyPr>
          <a:lstStyle/>
          <a:p>
            <a:pPr algn="l"/>
            <a:r>
              <a:rPr sz="1200" b="1">
                <a:solidFill>
                  <a:srgbClr val="ED7D31"/>
                </a:solidFill>
                <a:latin typeface="メイリオ"/>
                <a:ea typeface="メイリオ"/>
                <a:cs typeface="メイリオ"/>
              </a:rPr>
              <a:t>Q1</a:t>
            </a:r>
          </a:p>
        </p:txBody>
      </p:sp>
      <p:sp>
        <p:nvSpPr>
          <p:cNvPr id="7" name="TextBox 6"/>
          <p:cNvSpPr txBox="1"/>
          <p:nvPr/>
        </p:nvSpPr>
        <p:spPr>
          <a:xfrm>
            <a:off x="1134000" y="1882799"/>
            <a:ext cx="5148000" cy="576000"/>
          </a:xfrm>
          <a:prstGeom prst="rect">
            <a:avLst/>
          </a:prstGeom>
          <a:noFill/>
        </p:spPr>
        <p:txBody>
          <a:bodyPr wrap="square" lIns="0" rIns="50400" tIns="21600" bIns="21600" anchor="t">
            <a:spAutoFit/>
          </a:bodyPr>
          <a:lstStyle/>
          <a:p>
            <a:pPr algn="l">
              <a:spcAft>
                <a:spcPts val="300"/>
              </a:spcAft>
            </a:pPr>
            <a:r>
              <a:rPr sz="1050" b="1">
                <a:solidFill>
                  <a:srgbClr val="1F285A"/>
                </a:solidFill>
                <a:latin typeface="メイリオ"/>
                <a:ea typeface="メイリオ"/>
                <a:cs typeface="メイリオ"/>
              </a:rPr>
              <a:t>ご入居はいつ頃をお考えですか？</a:t>
            </a:r>
          </a:p>
          <a:p>
            <a:pPr algn="l">
              <a:lnSpc>
                <a:spcPct val="125000"/>
              </a:lnSpc>
            </a:pPr>
            <a:r>
              <a:rPr sz="900">
                <a:solidFill>
                  <a:srgbClr val="333333"/>
                </a:solidFill>
                <a:latin typeface="メイリオ"/>
                <a:ea typeface="メイリオ"/>
                <a:cs typeface="メイリオ"/>
              </a:rPr>
              <a:t>［1年以内］［1〜2年後］［2年より先］［まだ決めていない］</a:t>
            </a:r>
          </a:p>
        </p:txBody>
      </p:sp>
      <p:sp>
        <p:nvSpPr>
          <p:cNvPr id="8" name="Rounded Rectangle 7"/>
          <p:cNvSpPr/>
          <p:nvPr/>
        </p:nvSpPr>
        <p:spPr>
          <a:xfrm>
            <a:off x="6623999" y="1943999"/>
            <a:ext cx="1296000" cy="432000"/>
          </a:xfrm>
          <a:prstGeom prst="roundRect">
            <a:avLst>
              <a:gd name="adj" fmla="val 6000"/>
            </a:avLst>
          </a:prstGeom>
          <a:solidFill>
            <a:srgbClr val="FCE4D6"/>
          </a:solidFill>
          <a:ln w="1143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wrap="square" lIns="21600" rIns="21600" tIns="0" bIns="0"/>
          <a:lstStyle/>
          <a:p>
            <a:pPr algn="ctr">
              <a:spcAft>
                <a:spcPts val="200"/>
              </a:spcAft>
            </a:pPr>
            <a:r>
              <a:rPr sz="750">
                <a:solidFill>
                  <a:srgbClr val="ED7D31"/>
                </a:solidFill>
                <a:latin typeface="メイリオ"/>
                <a:ea typeface="メイリオ"/>
                <a:cs typeface="メイリオ"/>
              </a:rPr>
              <a:t>取れるタグ</a:t>
            </a:r>
          </a:p>
          <a:p>
            <a:pPr algn="ctr"/>
            <a:r>
              <a:rPr sz="1000" b="1">
                <a:solidFill>
                  <a:srgbClr val="ED7D31"/>
                </a:solidFill>
                <a:latin typeface="メイリオ"/>
                <a:ea typeface="メイリオ"/>
                <a:cs typeface="メイリオ"/>
              </a:rPr>
              <a:t>検討時期</a:t>
            </a:r>
          </a:p>
        </p:txBody>
      </p:sp>
      <p:sp>
        <p:nvSpPr>
          <p:cNvPr id="9" name="TextBox 8"/>
          <p:cNvSpPr txBox="1"/>
          <p:nvPr/>
        </p:nvSpPr>
        <p:spPr>
          <a:xfrm>
            <a:off x="8028000" y="1943999"/>
            <a:ext cx="1440000" cy="432000"/>
          </a:xfrm>
          <a:prstGeom prst="rect">
            <a:avLst/>
          </a:prstGeom>
          <a:noFill/>
        </p:spPr>
        <p:txBody>
          <a:bodyPr wrap="square" lIns="0" rIns="0" tIns="21600" bIns="21600" anchor="ctr">
            <a:spAutoFit/>
          </a:bodyPr>
          <a:lstStyle/>
          <a:p>
            <a:pPr algn="l">
              <a:lnSpc>
                <a:spcPct val="125000"/>
              </a:lnSpc>
            </a:pPr>
            <a:r>
              <a:rPr sz="800">
                <a:solidFill>
                  <a:srgbClr val="333333"/>
                </a:solidFill>
                <a:latin typeface="メイリオ"/>
                <a:ea typeface="メイリオ"/>
                <a:cs typeface="メイリオ"/>
              </a:rPr>
              <a:t>ホット／ウォーム
／コールドの判定</a:t>
            </a:r>
          </a:p>
        </p:txBody>
      </p:sp>
      <p:sp>
        <p:nvSpPr>
          <p:cNvPr id="10" name="Rounded Rectangle 9"/>
          <p:cNvSpPr/>
          <p:nvPr/>
        </p:nvSpPr>
        <p:spPr>
          <a:xfrm>
            <a:off x="432000" y="2628000"/>
            <a:ext cx="5976000" cy="70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7999" y="2700000"/>
            <a:ext cx="576000" cy="216000"/>
          </a:xfrm>
          <a:prstGeom prst="rect">
            <a:avLst/>
          </a:prstGeom>
          <a:noFill/>
        </p:spPr>
        <p:txBody>
          <a:bodyPr wrap="square" lIns="0" rIns="50400" tIns="21600" bIns="21600" anchor="t">
            <a:spAutoFit/>
          </a:bodyPr>
          <a:lstStyle/>
          <a:p>
            <a:pPr algn="l"/>
            <a:r>
              <a:rPr sz="1200" b="1">
                <a:solidFill>
                  <a:srgbClr val="ED7D31"/>
                </a:solidFill>
                <a:latin typeface="メイリオ"/>
                <a:ea typeface="メイリオ"/>
                <a:cs typeface="メイリオ"/>
              </a:rPr>
              <a:t>Q2</a:t>
            </a:r>
          </a:p>
        </p:txBody>
      </p:sp>
      <p:sp>
        <p:nvSpPr>
          <p:cNvPr id="12" name="TextBox 11"/>
          <p:cNvSpPr txBox="1"/>
          <p:nvPr/>
        </p:nvSpPr>
        <p:spPr>
          <a:xfrm>
            <a:off x="1134000" y="2692800"/>
            <a:ext cx="5148000" cy="576000"/>
          </a:xfrm>
          <a:prstGeom prst="rect">
            <a:avLst/>
          </a:prstGeom>
          <a:noFill/>
        </p:spPr>
        <p:txBody>
          <a:bodyPr wrap="square" lIns="0" rIns="50400" tIns="21600" bIns="21600" anchor="t">
            <a:spAutoFit/>
          </a:bodyPr>
          <a:lstStyle/>
          <a:p>
            <a:pPr algn="l">
              <a:spcAft>
                <a:spcPts val="300"/>
              </a:spcAft>
            </a:pPr>
            <a:r>
              <a:rPr sz="1050" b="1">
                <a:solidFill>
                  <a:srgbClr val="1F285A"/>
                </a:solidFill>
                <a:latin typeface="メイリオ"/>
                <a:ea typeface="メイリオ"/>
                <a:cs typeface="メイリオ"/>
              </a:rPr>
              <a:t>土地はお決まりですか？</a:t>
            </a:r>
          </a:p>
          <a:p>
            <a:pPr algn="l">
              <a:lnSpc>
                <a:spcPct val="125000"/>
              </a:lnSpc>
            </a:pPr>
            <a:r>
              <a:rPr sz="900">
                <a:solidFill>
                  <a:srgbClr val="333333"/>
                </a:solidFill>
                <a:latin typeface="メイリオ"/>
                <a:ea typeface="メイリオ"/>
                <a:cs typeface="メイリオ"/>
              </a:rPr>
              <a:t>［所有している］［親の土地を使う予定］［探している最中］［これから探す］</a:t>
            </a:r>
          </a:p>
        </p:txBody>
      </p:sp>
      <p:sp>
        <p:nvSpPr>
          <p:cNvPr id="13" name="Rounded Rectangle 12"/>
          <p:cNvSpPr/>
          <p:nvPr/>
        </p:nvSpPr>
        <p:spPr>
          <a:xfrm>
            <a:off x="6623999" y="2754000"/>
            <a:ext cx="1296000" cy="432000"/>
          </a:xfrm>
          <a:prstGeom prst="roundRect">
            <a:avLst>
              <a:gd name="adj" fmla="val 6000"/>
            </a:avLst>
          </a:prstGeom>
          <a:solidFill>
            <a:srgbClr val="FCE4D6"/>
          </a:solidFill>
          <a:ln w="1143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wrap="square" lIns="21600" rIns="21600" tIns="0" bIns="0"/>
          <a:lstStyle/>
          <a:p>
            <a:pPr algn="ctr">
              <a:spcAft>
                <a:spcPts val="200"/>
              </a:spcAft>
            </a:pPr>
            <a:r>
              <a:rPr sz="750">
                <a:solidFill>
                  <a:srgbClr val="ED7D31"/>
                </a:solidFill>
                <a:latin typeface="メイリオ"/>
                <a:ea typeface="メイリオ"/>
                <a:cs typeface="メイリオ"/>
              </a:rPr>
              <a:t>取れるタグ</a:t>
            </a:r>
          </a:p>
          <a:p>
            <a:pPr algn="ctr"/>
            <a:r>
              <a:rPr sz="1000" b="1">
                <a:solidFill>
                  <a:srgbClr val="ED7D31"/>
                </a:solidFill>
                <a:latin typeface="メイリオ"/>
                <a:ea typeface="メイリオ"/>
                <a:cs typeface="メイリオ"/>
              </a:rPr>
              <a:t>土地有無</a:t>
            </a:r>
          </a:p>
        </p:txBody>
      </p:sp>
      <p:sp>
        <p:nvSpPr>
          <p:cNvPr id="14" name="TextBox 13"/>
          <p:cNvSpPr txBox="1"/>
          <p:nvPr/>
        </p:nvSpPr>
        <p:spPr>
          <a:xfrm>
            <a:off x="8028000" y="2754000"/>
            <a:ext cx="1440000" cy="432000"/>
          </a:xfrm>
          <a:prstGeom prst="rect">
            <a:avLst/>
          </a:prstGeom>
          <a:noFill/>
        </p:spPr>
        <p:txBody>
          <a:bodyPr wrap="square" lIns="0" rIns="0" tIns="21600" bIns="21600" anchor="ctr">
            <a:spAutoFit/>
          </a:bodyPr>
          <a:lstStyle/>
          <a:p>
            <a:pPr algn="l">
              <a:lnSpc>
                <a:spcPct val="125000"/>
              </a:lnSpc>
            </a:pPr>
            <a:r>
              <a:rPr sz="800">
                <a:solidFill>
                  <a:srgbClr val="333333"/>
                </a:solidFill>
                <a:latin typeface="メイリオ"/>
                <a:ea typeface="メイリオ"/>
                <a:cs typeface="メイリオ"/>
              </a:rPr>
              <a:t>土地なし層へ
土地情報を優先</a:t>
            </a:r>
          </a:p>
        </p:txBody>
      </p:sp>
      <p:sp>
        <p:nvSpPr>
          <p:cNvPr id="15" name="Rounded Rectangle 14"/>
          <p:cNvSpPr/>
          <p:nvPr/>
        </p:nvSpPr>
        <p:spPr>
          <a:xfrm>
            <a:off x="432000" y="3438000"/>
            <a:ext cx="5976000" cy="70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57999" y="3510000"/>
            <a:ext cx="576000" cy="216000"/>
          </a:xfrm>
          <a:prstGeom prst="rect">
            <a:avLst/>
          </a:prstGeom>
          <a:noFill/>
        </p:spPr>
        <p:txBody>
          <a:bodyPr wrap="square" lIns="0" rIns="50400" tIns="21600" bIns="21600" anchor="t">
            <a:spAutoFit/>
          </a:bodyPr>
          <a:lstStyle/>
          <a:p>
            <a:pPr algn="l"/>
            <a:r>
              <a:rPr sz="1200" b="1">
                <a:solidFill>
                  <a:srgbClr val="ED7D31"/>
                </a:solidFill>
                <a:latin typeface="メイリオ"/>
                <a:ea typeface="メイリオ"/>
                <a:cs typeface="メイリオ"/>
              </a:rPr>
              <a:t>Q3</a:t>
            </a:r>
          </a:p>
        </p:txBody>
      </p:sp>
      <p:sp>
        <p:nvSpPr>
          <p:cNvPr id="17" name="TextBox 16"/>
          <p:cNvSpPr txBox="1"/>
          <p:nvPr/>
        </p:nvSpPr>
        <p:spPr>
          <a:xfrm>
            <a:off x="1134000" y="3502800"/>
            <a:ext cx="5148000" cy="576000"/>
          </a:xfrm>
          <a:prstGeom prst="rect">
            <a:avLst/>
          </a:prstGeom>
          <a:noFill/>
        </p:spPr>
        <p:txBody>
          <a:bodyPr wrap="square" lIns="0" rIns="50400" tIns="21600" bIns="21600" anchor="t">
            <a:spAutoFit/>
          </a:bodyPr>
          <a:lstStyle/>
          <a:p>
            <a:pPr algn="l">
              <a:spcAft>
                <a:spcPts val="300"/>
              </a:spcAft>
            </a:pPr>
            <a:r>
              <a:rPr sz="1050" b="1">
                <a:solidFill>
                  <a:srgbClr val="1F285A"/>
                </a:solidFill>
                <a:latin typeface="メイリオ"/>
                <a:ea typeface="メイリオ"/>
                <a:cs typeface="メイリオ"/>
              </a:rPr>
              <a:t>ご予算のイメージに近いものは？</a:t>
            </a:r>
          </a:p>
          <a:p>
            <a:pPr algn="l">
              <a:lnSpc>
                <a:spcPct val="125000"/>
              </a:lnSpc>
            </a:pPr>
            <a:r>
              <a:rPr sz="900">
                <a:solidFill>
                  <a:srgbClr val="333333"/>
                </a:solidFill>
                <a:latin typeface="メイリオ"/>
                <a:ea typeface="メイリオ"/>
                <a:cs typeface="メイリオ"/>
              </a:rPr>
              <a:t>［〜3,000万円］［3,000〜4,000万円］［4,000〜5,000万円］［まだ分からない］</a:t>
            </a:r>
          </a:p>
        </p:txBody>
      </p:sp>
      <p:sp>
        <p:nvSpPr>
          <p:cNvPr id="18" name="Rounded Rectangle 17"/>
          <p:cNvSpPr/>
          <p:nvPr/>
        </p:nvSpPr>
        <p:spPr>
          <a:xfrm>
            <a:off x="6623999" y="3564000"/>
            <a:ext cx="1296000" cy="432000"/>
          </a:xfrm>
          <a:prstGeom prst="roundRect">
            <a:avLst>
              <a:gd name="adj" fmla="val 6000"/>
            </a:avLst>
          </a:prstGeom>
          <a:solidFill>
            <a:srgbClr val="FCE4D6"/>
          </a:solidFill>
          <a:ln w="1143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wrap="square" lIns="21600" rIns="21600" tIns="0" bIns="0"/>
          <a:lstStyle/>
          <a:p>
            <a:pPr algn="ctr">
              <a:spcAft>
                <a:spcPts val="200"/>
              </a:spcAft>
            </a:pPr>
            <a:r>
              <a:rPr sz="750">
                <a:solidFill>
                  <a:srgbClr val="ED7D31"/>
                </a:solidFill>
                <a:latin typeface="メイリオ"/>
                <a:ea typeface="メイリオ"/>
                <a:cs typeface="メイリオ"/>
              </a:rPr>
              <a:t>取れるタグ</a:t>
            </a:r>
          </a:p>
          <a:p>
            <a:pPr algn="ctr"/>
            <a:r>
              <a:rPr sz="1000" b="1">
                <a:solidFill>
                  <a:srgbClr val="ED7D31"/>
                </a:solidFill>
                <a:latin typeface="メイリオ"/>
                <a:ea typeface="メイリオ"/>
                <a:cs typeface="メイリオ"/>
              </a:rPr>
              <a:t>予算帯</a:t>
            </a:r>
          </a:p>
        </p:txBody>
      </p:sp>
      <p:sp>
        <p:nvSpPr>
          <p:cNvPr id="19" name="TextBox 18"/>
          <p:cNvSpPr txBox="1"/>
          <p:nvPr/>
        </p:nvSpPr>
        <p:spPr>
          <a:xfrm>
            <a:off x="8028000" y="3564000"/>
            <a:ext cx="1440000" cy="432000"/>
          </a:xfrm>
          <a:prstGeom prst="rect">
            <a:avLst/>
          </a:prstGeom>
          <a:noFill/>
        </p:spPr>
        <p:txBody>
          <a:bodyPr wrap="square" lIns="0" rIns="0" tIns="21600" bIns="21600" anchor="ctr">
            <a:spAutoFit/>
          </a:bodyPr>
          <a:lstStyle/>
          <a:p>
            <a:pPr algn="l">
              <a:lnSpc>
                <a:spcPct val="125000"/>
              </a:lnSpc>
            </a:pPr>
            <a:r>
              <a:rPr sz="800">
                <a:solidFill>
                  <a:srgbClr val="333333"/>
                </a:solidFill>
                <a:latin typeface="メイリオ"/>
                <a:ea typeface="メイリオ"/>
                <a:cs typeface="メイリオ"/>
              </a:rPr>
              <a:t>施工事例の
価格帯出し分け</a:t>
            </a:r>
          </a:p>
        </p:txBody>
      </p:sp>
      <p:sp>
        <p:nvSpPr>
          <p:cNvPr id="20" name="Rounded Rectangle 19"/>
          <p:cNvSpPr/>
          <p:nvPr/>
        </p:nvSpPr>
        <p:spPr>
          <a:xfrm>
            <a:off x="432000" y="4248000"/>
            <a:ext cx="5976000" cy="702000"/>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57999" y="4320000"/>
            <a:ext cx="576000" cy="216000"/>
          </a:xfrm>
          <a:prstGeom prst="rect">
            <a:avLst/>
          </a:prstGeom>
          <a:noFill/>
        </p:spPr>
        <p:txBody>
          <a:bodyPr wrap="square" lIns="0" rIns="50400" tIns="21600" bIns="21600" anchor="t">
            <a:spAutoFit/>
          </a:bodyPr>
          <a:lstStyle/>
          <a:p>
            <a:pPr algn="l"/>
            <a:r>
              <a:rPr sz="1200" b="1">
                <a:solidFill>
                  <a:srgbClr val="ED7D31"/>
                </a:solidFill>
                <a:latin typeface="メイリオ"/>
                <a:ea typeface="メイリオ"/>
                <a:cs typeface="メイリオ"/>
              </a:rPr>
              <a:t>Q4</a:t>
            </a:r>
          </a:p>
        </p:txBody>
      </p:sp>
      <p:sp>
        <p:nvSpPr>
          <p:cNvPr id="22" name="TextBox 21"/>
          <p:cNvSpPr txBox="1"/>
          <p:nvPr/>
        </p:nvSpPr>
        <p:spPr>
          <a:xfrm>
            <a:off x="1134000" y="4312800"/>
            <a:ext cx="5148000" cy="576000"/>
          </a:xfrm>
          <a:prstGeom prst="rect">
            <a:avLst/>
          </a:prstGeom>
          <a:noFill/>
        </p:spPr>
        <p:txBody>
          <a:bodyPr wrap="square" lIns="0" rIns="50400" tIns="21600" bIns="21600" anchor="t">
            <a:spAutoFit/>
          </a:bodyPr>
          <a:lstStyle/>
          <a:p>
            <a:pPr algn="l">
              <a:spcAft>
                <a:spcPts val="300"/>
              </a:spcAft>
            </a:pPr>
            <a:r>
              <a:rPr sz="1050" b="1">
                <a:solidFill>
                  <a:srgbClr val="1F285A"/>
                </a:solidFill>
                <a:latin typeface="メイリオ"/>
                <a:ea typeface="メイリオ"/>
                <a:cs typeface="メイリオ"/>
              </a:rPr>
              <a:t>いま、いちばん知りたいことは？</a:t>
            </a:r>
          </a:p>
          <a:p>
            <a:pPr algn="l">
              <a:lnSpc>
                <a:spcPct val="125000"/>
              </a:lnSpc>
            </a:pPr>
            <a:r>
              <a:rPr sz="900">
                <a:solidFill>
                  <a:srgbClr val="333333"/>
                </a:solidFill>
                <a:latin typeface="メイリオ"/>
                <a:ea typeface="メイリオ"/>
                <a:cs typeface="メイリオ"/>
              </a:rPr>
              <a:t>［費用・総額］［間取り・デザイン］［土地］［会社の選び方］</a:t>
            </a:r>
          </a:p>
        </p:txBody>
      </p:sp>
      <p:sp>
        <p:nvSpPr>
          <p:cNvPr id="23" name="Rounded Rectangle 22"/>
          <p:cNvSpPr/>
          <p:nvPr/>
        </p:nvSpPr>
        <p:spPr>
          <a:xfrm>
            <a:off x="6623999" y="4374000"/>
            <a:ext cx="1296000" cy="432000"/>
          </a:xfrm>
          <a:prstGeom prst="roundRect">
            <a:avLst>
              <a:gd name="adj" fmla="val 6000"/>
            </a:avLst>
          </a:prstGeom>
          <a:solidFill>
            <a:srgbClr val="FCE4D6"/>
          </a:solidFill>
          <a:ln w="1143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wrap="square" lIns="21600" rIns="21600" tIns="0" bIns="0"/>
          <a:lstStyle/>
          <a:p>
            <a:pPr algn="ctr">
              <a:spcAft>
                <a:spcPts val="200"/>
              </a:spcAft>
            </a:pPr>
            <a:r>
              <a:rPr sz="750">
                <a:solidFill>
                  <a:srgbClr val="ED7D31"/>
                </a:solidFill>
                <a:latin typeface="メイリオ"/>
                <a:ea typeface="メイリオ"/>
                <a:cs typeface="メイリオ"/>
              </a:rPr>
              <a:t>取れるタグ</a:t>
            </a:r>
          </a:p>
          <a:p>
            <a:pPr algn="ctr"/>
            <a:r>
              <a:rPr sz="1000" b="1">
                <a:solidFill>
                  <a:srgbClr val="ED7D31"/>
                </a:solidFill>
                <a:latin typeface="メイリオ"/>
                <a:ea typeface="メイリオ"/>
                <a:cs typeface="メイリオ"/>
              </a:rPr>
              <a:t>関心テーマ</a:t>
            </a:r>
          </a:p>
        </p:txBody>
      </p:sp>
      <p:sp>
        <p:nvSpPr>
          <p:cNvPr id="24" name="TextBox 23"/>
          <p:cNvSpPr txBox="1"/>
          <p:nvPr/>
        </p:nvSpPr>
        <p:spPr>
          <a:xfrm>
            <a:off x="8028000" y="4374000"/>
            <a:ext cx="1440000" cy="432000"/>
          </a:xfrm>
          <a:prstGeom prst="rect">
            <a:avLst/>
          </a:prstGeom>
          <a:noFill/>
        </p:spPr>
        <p:txBody>
          <a:bodyPr wrap="square" lIns="0" rIns="0" tIns="21600" bIns="21600" anchor="ctr">
            <a:spAutoFit/>
          </a:bodyPr>
          <a:lstStyle/>
          <a:p>
            <a:pPr algn="l">
              <a:lnSpc>
                <a:spcPct val="125000"/>
              </a:lnSpc>
            </a:pPr>
            <a:r>
              <a:rPr sz="800">
                <a:solidFill>
                  <a:srgbClr val="333333"/>
                </a:solidFill>
                <a:latin typeface="メイリオ"/>
                <a:ea typeface="メイリオ"/>
                <a:cs typeface="メイリオ"/>
              </a:rPr>
              <a:t>ステップ配信の
初回内容を切替</a:t>
            </a:r>
          </a:p>
        </p:txBody>
      </p:sp>
      <p:sp>
        <p:nvSpPr>
          <p:cNvPr id="25" name="Rounded Rectangle 24"/>
          <p:cNvSpPr/>
          <p:nvPr/>
        </p:nvSpPr>
        <p:spPr>
          <a:xfrm>
            <a:off x="432000" y="5148000"/>
            <a:ext cx="4428000" cy="972000"/>
          </a:xfrm>
          <a:prstGeom prst="roundRect">
            <a:avLst>
              <a:gd name="adj" fmla="val 6000"/>
            </a:avLst>
          </a:prstGeom>
          <a:solidFill>
            <a:srgbClr val="FCE4D6"/>
          </a:solidFill>
          <a:ln w="1270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t" wrap="square" lIns="79200" rIns="64800" tIns="50400" bIns="36000"/>
          <a:lstStyle/>
          <a:p>
            <a:pPr algn="l">
              <a:spcAft>
                <a:spcPts val="300"/>
              </a:spcAft>
            </a:pPr>
            <a:r>
              <a:rPr sz="1100" b="1">
                <a:solidFill>
                  <a:srgbClr val="ED7D31"/>
                </a:solidFill>
                <a:latin typeface="メイリオ"/>
                <a:ea typeface="メイリオ"/>
                <a:cs typeface="メイリオ"/>
              </a:rPr>
              <a:t>Q3に「まだ分からない」を必ず用意する</a:t>
            </a:r>
          </a:p>
          <a:p>
            <a:pPr algn="l">
              <a:lnSpc>
                <a:spcPct val="132000"/>
              </a:lnSpc>
              <a:spcAft>
                <a:spcPts val="100"/>
              </a:spcAft>
            </a:pPr>
            <a:r>
              <a:rPr sz="950">
                <a:solidFill>
                  <a:srgbClr val="333333"/>
                </a:solidFill>
                <a:latin typeface="メイリオ"/>
                <a:ea typeface="メイリオ"/>
                <a:cs typeface="メイリオ"/>
              </a:rPr>
              <a:t>実際に最も多く選ばれるのがこの選択肢。そして、</a:t>
            </a:r>
          </a:p>
          <a:p>
            <a:pPr algn="l">
              <a:lnSpc>
                <a:spcPct val="132000"/>
              </a:lnSpc>
              <a:spcAft>
                <a:spcPts val="100"/>
              </a:spcAft>
            </a:pPr>
            <a:r>
              <a:rPr sz="950">
                <a:solidFill>
                  <a:srgbClr val="333333"/>
                </a:solidFill>
                <a:latin typeface="メイリオ"/>
                <a:ea typeface="メイリオ"/>
                <a:cs typeface="メイリオ"/>
              </a:rPr>
              <a:t>この層が最も育つ。予算が決まっている人は、</a:t>
            </a:r>
          </a:p>
          <a:p>
            <a:pPr algn="l">
              <a:lnSpc>
                <a:spcPct val="132000"/>
              </a:lnSpc>
              <a:spcAft>
                <a:spcPts val="100"/>
              </a:spcAft>
            </a:pPr>
            <a:r>
              <a:rPr sz="950">
                <a:solidFill>
                  <a:srgbClr val="333333"/>
                </a:solidFill>
                <a:latin typeface="メイリオ"/>
                <a:ea typeface="メイリオ"/>
                <a:cs typeface="メイリオ"/>
              </a:rPr>
              <a:t>すでに他社と話が進んでいる。</a:t>
            </a:r>
          </a:p>
        </p:txBody>
      </p:sp>
      <p:sp>
        <p:nvSpPr>
          <p:cNvPr id="26" name="Rounded Rectangle 25"/>
          <p:cNvSpPr/>
          <p:nvPr/>
        </p:nvSpPr>
        <p:spPr>
          <a:xfrm>
            <a:off x="5047200" y="5148000"/>
            <a:ext cx="4428000" cy="97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9200" rIns="64800" tIns="50400" bIns="36000"/>
          <a:lstStyle/>
          <a:p>
            <a:pPr algn="l">
              <a:spcAft>
                <a:spcPts val="300"/>
              </a:spcAft>
            </a:pPr>
            <a:r>
              <a:rPr sz="1100" b="1">
                <a:solidFill>
                  <a:srgbClr val="1F285A"/>
                </a:solidFill>
                <a:latin typeface="メイリオ"/>
                <a:ea typeface="メイリオ"/>
                <a:cs typeface="メイリオ"/>
              </a:rPr>
              <a:t>診断結果は「共感 → 実例 → 費用 → CTA」の順</a:t>
            </a:r>
          </a:p>
          <a:p>
            <a:pPr algn="l">
              <a:lnSpc>
                <a:spcPct val="132000"/>
              </a:lnSpc>
              <a:spcAft>
                <a:spcPts val="100"/>
              </a:spcAft>
            </a:pPr>
            <a:r>
              <a:rPr sz="950">
                <a:solidFill>
                  <a:srgbClr val="333333"/>
                </a:solidFill>
                <a:latin typeface="メイリオ"/>
                <a:ea typeface="メイリオ"/>
                <a:cs typeface="メイリオ"/>
              </a:rPr>
              <a:t>費用を先に出すと逃げられる。まず受け止め、</a:t>
            </a:r>
          </a:p>
          <a:p>
            <a:pPr algn="l">
              <a:lnSpc>
                <a:spcPct val="132000"/>
              </a:lnSpc>
              <a:spcAft>
                <a:spcPts val="100"/>
              </a:spcAft>
            </a:pPr>
            <a:r>
              <a:rPr sz="950">
                <a:solidFill>
                  <a:srgbClr val="333333"/>
                </a:solidFill>
                <a:latin typeface="メイリオ"/>
                <a:ea typeface="メイリオ"/>
                <a:cs typeface="メイリオ"/>
              </a:rPr>
              <a:t>実例を見せ、そのあとで金額。CTAは2つ用意し、</a:t>
            </a:r>
          </a:p>
          <a:p>
            <a:pPr algn="l">
              <a:lnSpc>
                <a:spcPct val="132000"/>
              </a:lnSpc>
              <a:spcAft>
                <a:spcPts val="100"/>
              </a:spcAft>
            </a:pPr>
            <a:r>
              <a:rPr sz="950">
                <a:solidFill>
                  <a:srgbClr val="333333"/>
                </a:solidFill>
                <a:latin typeface="メイリオ"/>
                <a:ea typeface="メイリオ"/>
                <a:cs typeface="メイリオ"/>
              </a:rPr>
              <a:t>「もう少し情報だけ」の逃げ道を必ず残す。</a:t>
            </a:r>
          </a:p>
        </p:txBody>
      </p:sp>
      <p:sp>
        <p:nvSpPr>
          <p:cNvPr id="27" name="TextBox 26"/>
          <p:cNvSpPr txBox="1"/>
          <p:nvPr/>
        </p:nvSpPr>
        <p:spPr>
          <a:xfrm>
            <a:off x="432000" y="6246000"/>
            <a:ext cx="9043200" cy="324000"/>
          </a:xfrm>
          <a:prstGeom prst="rect">
            <a:avLst/>
          </a:prstGeom>
          <a:noFill/>
        </p:spPr>
        <p:txBody>
          <a:bodyPr wrap="square" lIns="0" rIns="0" tIns="21600" bIns="21600" anchor="t">
            <a:spAutoFit/>
          </a:bodyPr>
          <a:lstStyle/>
          <a:p>
            <a:pPr algn="l">
              <a:lnSpc>
                <a:spcPct val="115000"/>
              </a:lnSpc>
            </a:pPr>
            <a:r>
              <a:rPr sz="750">
                <a:solidFill>
                  <a:srgbClr val="7F7F7F"/>
                </a:solidFill>
                <a:latin typeface="メイリオ"/>
                <a:ea typeface="メイリオ"/>
                <a:cs typeface="メイリオ"/>
              </a:rPr>
              <a:t>※ あいさつメッセージでは①担当者名を出す ②有人対応の時間帯を明記 ③アンケートを1通目に置く ④「こちらからお電話はしません」を先に書く、の4点を守ります。</a:t>
            </a:r>
          </a:p>
        </p:txBody>
      </p:sp>
    </p:spTree>
    <p:extLst>
      <p:ext uri="{BB962C8B-B14F-4D97-AF65-F5344CB8AC3E}">
        <p14:creationId xmlns:p14="http://schemas.microsoft.com/office/powerpoint/2010/main" val="9010635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33825-9171-A79A-31F7-FBB36FFE7BAB}"/>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rIns="0" tIns="21600" bIns="21600" anchor="ctr">
            <a:spAutoFit/>
          </a:bodyPr>
          <a:lstStyle/>
          <a:p>
            <a:pPr algn="l"/>
            <a:r>
              <a:rPr sz="1600" b="1">
                <a:solidFill>
                  <a:srgbClr val="002060"/>
                </a:solidFill>
                <a:latin typeface="メイリオ"/>
                <a:ea typeface="メイリオ"/>
                <a:cs typeface="メイリオ"/>
              </a:rPr>
              <a:t>具体施策（長期）｜注文住宅の年間サイクルに合わせた企画投稿案</a:t>
            </a:r>
          </a:p>
        </p:txBody>
      </p:sp>
      <p:sp>
        <p:nvSpPr>
          <p:cNvPr id="3" name="TextBox 2"/>
          <p:cNvSpPr txBox="1"/>
          <p:nvPr/>
        </p:nvSpPr>
        <p:spPr>
          <a:xfrm>
            <a:off x="432000" y="648000"/>
            <a:ext cx="9036000" cy="684000"/>
          </a:xfrm>
          <a:prstGeom prst="rect">
            <a:avLst/>
          </a:prstGeom>
          <a:noFill/>
        </p:spPr>
        <p:txBody>
          <a:bodyPr wrap="square" lIns="0" rIns="0" tIns="21600" bIns="21600" anchor="ctr">
            <a:spAutoFit/>
          </a:bodyPr>
          <a:lstStyle/>
          <a:p>
            <a:pPr algn="l">
              <a:lnSpc>
                <a:spcPct val="128000"/>
              </a:lnSpc>
            </a:pPr>
            <a:r>
              <a:rPr sz="1200">
                <a:solidFill>
                  <a:srgbClr val="333333"/>
                </a:solidFill>
                <a:latin typeface="メイリオ"/>
                <a:ea typeface="メイリオ"/>
                <a:cs typeface="メイリオ"/>
              </a:rPr>
              <a:t>契約ピーク（1〜3月）ではなく、検討開始ピーク（4〜6月）に仕込むのが要点。</a:t>
            </a:r>
          </a:p>
          <a:p>
            <a:pPr algn="l">
              <a:lnSpc>
                <a:spcPct val="128000"/>
              </a:lnSpc>
            </a:pPr>
            <a:r>
              <a:rPr sz="1200">
                <a:solidFill>
                  <a:srgbClr val="333333"/>
                </a:solidFill>
                <a:latin typeface="メイリオ"/>
                <a:ea typeface="メイリオ"/>
                <a:cs typeface="メイリオ"/>
              </a:rPr>
              <a:t>各期の企画は、その時期に立つ検索ニーズを根拠に設計する。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818000"/>
            <a:ext cx="2166300" cy="4860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0" bIns="0"/>
          <a:lstStyle/>
          <a:p>
            <a:pPr algn="ctr">
              <a:spcAft>
                <a:spcPts val="200"/>
              </a:spcAft>
            </a:pPr>
            <a:r>
              <a:rPr sz="1300" b="1">
                <a:solidFill>
                  <a:srgbClr val="FFFFFF"/>
                </a:solidFill>
                <a:latin typeface="メイリオ"/>
                <a:ea typeface="メイリオ"/>
                <a:cs typeface="メイリオ"/>
              </a:rPr>
              <a:t>1〜3月</a:t>
            </a:r>
          </a:p>
          <a:p>
            <a:pPr algn="ctr"/>
            <a:r>
              <a:rPr sz="850">
                <a:solidFill>
                  <a:srgbClr val="FFFFFF"/>
                </a:solidFill>
                <a:latin typeface="メイリオ"/>
                <a:ea typeface="メイリオ"/>
                <a:cs typeface="メイリオ"/>
              </a:rPr>
              <a:t>契約の最繁忙期</a:t>
            </a:r>
          </a:p>
        </p:txBody>
      </p:sp>
      <p:sp>
        <p:nvSpPr>
          <p:cNvPr id="6" name="Rounded Rectangle 5"/>
          <p:cNvSpPr/>
          <p:nvPr/>
        </p:nvSpPr>
        <p:spPr>
          <a:xfrm>
            <a:off x="432000" y="2358000"/>
            <a:ext cx="2166300" cy="2916000"/>
          </a:xfrm>
          <a:prstGeom prst="roundRect">
            <a:avLst>
              <a:gd name="adj" fmla="val 6000"/>
            </a:avLst>
          </a:prstGeom>
          <a:solidFill>
            <a:srgbClr val="F4F7FF"/>
          </a:solidFill>
          <a:ln w="1016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86400" rIns="72000" tIns="72000" bIns="36000"/>
          <a:lstStyle/>
          <a:p>
            <a:pPr algn="l">
              <a:spcAft>
                <a:spcPts val="500"/>
              </a:spcAft>
            </a:pPr>
            <a:r>
              <a:rPr sz="1000" b="1">
                <a:solidFill>
                  <a:srgbClr val="ED7D31"/>
                </a:solidFill>
                <a:latin typeface="メイリオ"/>
                <a:ea typeface="メイリオ"/>
                <a:cs typeface="メイリオ"/>
              </a:rPr>
              <a:t>「年度内ご入居・新生活応援フェア」</a:t>
            </a:r>
          </a:p>
          <a:p>
            <a:pPr algn="l">
              <a:lnSpc>
                <a:spcPct val="132000"/>
              </a:lnSpc>
              <a:spcAft>
                <a:spcPts val="200"/>
              </a:spcAft>
            </a:pPr>
            <a:r>
              <a:rPr sz="850">
                <a:solidFill>
                  <a:srgbClr val="333333"/>
                </a:solidFill>
                <a:latin typeface="メイリオ"/>
                <a:ea typeface="メイリオ"/>
                <a:cs typeface="メイリオ"/>
              </a:rPr>
              <a:t>4月入学・入社に合わせた入居希望が最大化する時期。</a:t>
            </a:r>
          </a:p>
          <a:p>
            <a:pPr algn="l">
              <a:lnSpc>
                <a:spcPct val="132000"/>
              </a:lnSpc>
              <a:spcAft>
                <a:spcPts val="200"/>
              </a:spcAft>
            </a:pPr>
            <a:r>
              <a:rPr sz="850">
                <a:solidFill>
                  <a:srgbClr val="333333"/>
                </a:solidFill>
                <a:latin typeface="メイリオ"/>
                <a:ea typeface="メイリオ"/>
                <a:cs typeface="メイリオ"/>
              </a:rPr>
              <a:t>施策：LINEで「年度内着工の締切カレンダー」を配信。</a:t>
            </a:r>
          </a:p>
          <a:p>
            <a:pPr algn="l">
              <a:lnSpc>
                <a:spcPct val="132000"/>
              </a:lnSpc>
              <a:spcAft>
                <a:spcPts val="200"/>
              </a:spcAft>
            </a:pPr>
            <a:r>
              <a:rPr sz="850">
                <a:solidFill>
                  <a:srgbClr val="333333"/>
                </a:solidFill>
                <a:latin typeface="メイリオ"/>
                <a:ea typeface="メイリオ"/>
                <a:cs typeface="メイリオ"/>
              </a:rPr>
              <a:t>残枠のカウントダウンで意思決定を後押しする。</a:t>
            </a:r>
          </a:p>
        </p:txBody>
      </p:sp>
      <p:sp>
        <p:nvSpPr>
          <p:cNvPr id="7" name="Rounded Rectangle 6"/>
          <p:cNvSpPr/>
          <p:nvPr/>
        </p:nvSpPr>
        <p:spPr>
          <a:xfrm>
            <a:off x="432000" y="5328000"/>
            <a:ext cx="2166300" cy="342000"/>
          </a:xfrm>
          <a:prstGeom prst="roundRect">
            <a:avLst>
              <a:gd name="adj" fmla="val 6000"/>
            </a:avLst>
          </a:prstGeom>
          <a:solidFill>
            <a:srgbClr val="FCE4D6"/>
          </a:solidFill>
          <a:ln w="1016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0" bIns="0"/>
          <a:lstStyle/>
          <a:p>
            <a:pPr algn="ctr"/>
            <a:r>
              <a:rPr sz="800" b="1">
                <a:solidFill>
                  <a:srgbClr val="ED7D31"/>
                </a:solidFill>
                <a:latin typeface="メイリオ"/>
                <a:ea typeface="メイリオ"/>
                <a:cs typeface="メイリオ"/>
              </a:rPr>
              <a:t>KPI：見学会予約数／契約棟数</a:t>
            </a:r>
          </a:p>
        </p:txBody>
      </p:sp>
      <p:sp>
        <p:nvSpPr>
          <p:cNvPr id="8" name="Rounded Rectangle 7"/>
          <p:cNvSpPr/>
          <p:nvPr/>
        </p:nvSpPr>
        <p:spPr>
          <a:xfrm>
            <a:off x="2724300" y="1818000"/>
            <a:ext cx="2166300" cy="4860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0" bIns="0"/>
          <a:lstStyle/>
          <a:p>
            <a:pPr algn="ctr">
              <a:spcAft>
                <a:spcPts val="200"/>
              </a:spcAft>
            </a:pPr>
            <a:r>
              <a:rPr sz="1300" b="1">
                <a:solidFill>
                  <a:srgbClr val="FFFFFF"/>
                </a:solidFill>
                <a:latin typeface="メイリオ"/>
                <a:ea typeface="メイリオ"/>
                <a:cs typeface="メイリオ"/>
              </a:rPr>
              <a:t>4〜6月</a:t>
            </a:r>
          </a:p>
          <a:p>
            <a:pPr algn="ctr"/>
            <a:r>
              <a:rPr sz="850">
                <a:solidFill>
                  <a:srgbClr val="FFFFFF"/>
                </a:solidFill>
                <a:latin typeface="メイリオ"/>
                <a:ea typeface="メイリオ"/>
                <a:cs typeface="メイリオ"/>
              </a:rPr>
              <a:t>翌年組の情報収集スタート</a:t>
            </a:r>
          </a:p>
        </p:txBody>
      </p:sp>
      <p:sp>
        <p:nvSpPr>
          <p:cNvPr id="9" name="Rounded Rectangle 8"/>
          <p:cNvSpPr/>
          <p:nvPr/>
        </p:nvSpPr>
        <p:spPr>
          <a:xfrm>
            <a:off x="2724300" y="2358000"/>
            <a:ext cx="2166300" cy="2916000"/>
          </a:xfrm>
          <a:prstGeom prst="roundRect">
            <a:avLst>
              <a:gd name="adj" fmla="val 6000"/>
            </a:avLst>
          </a:prstGeom>
          <a:solidFill>
            <a:srgbClr val="F4F7FF"/>
          </a:solidFill>
          <a:ln w="1016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86400" rIns="72000" tIns="72000" bIns="36000"/>
          <a:lstStyle/>
          <a:p>
            <a:pPr algn="l">
              <a:spcAft>
                <a:spcPts val="500"/>
              </a:spcAft>
            </a:pPr>
            <a:r>
              <a:rPr sz="1000" b="1">
                <a:solidFill>
                  <a:srgbClr val="ED7D31"/>
                </a:solidFill>
                <a:latin typeface="メイリオ"/>
                <a:ea typeface="メイリオ"/>
                <a:cs typeface="メイリオ"/>
              </a:rPr>
              <a:t>「家づくり はじめの一歩・土地探しセミナー」</a:t>
            </a:r>
          </a:p>
          <a:p>
            <a:pPr algn="l">
              <a:lnSpc>
                <a:spcPct val="132000"/>
              </a:lnSpc>
              <a:spcAft>
                <a:spcPts val="200"/>
              </a:spcAft>
            </a:pPr>
            <a:r>
              <a:rPr sz="850">
                <a:solidFill>
                  <a:srgbClr val="333333"/>
                </a:solidFill>
                <a:latin typeface="メイリオ"/>
                <a:ea typeface="メイリオ"/>
                <a:cs typeface="メイリオ"/>
              </a:rPr>
              <a:t>入居ピークと同時に、翌年組が動き始める最重要期。</a:t>
            </a:r>
          </a:p>
          <a:p>
            <a:pPr algn="l">
              <a:lnSpc>
                <a:spcPct val="132000"/>
              </a:lnSpc>
              <a:spcAft>
                <a:spcPts val="200"/>
              </a:spcAft>
            </a:pPr>
            <a:r>
              <a:rPr sz="850">
                <a:solidFill>
                  <a:srgbClr val="333333"/>
                </a:solidFill>
                <a:latin typeface="メイリオ"/>
                <a:ea typeface="メイリオ"/>
                <a:cs typeface="メイリオ"/>
              </a:rPr>
              <a:t>施策：「土地から探さない」順番を教える無料セミナー。</a:t>
            </a:r>
          </a:p>
          <a:p>
            <a:pPr algn="l">
              <a:lnSpc>
                <a:spcPct val="132000"/>
              </a:lnSpc>
              <a:spcAft>
                <a:spcPts val="200"/>
              </a:spcAft>
            </a:pPr>
            <a:r>
              <a:rPr sz="850">
                <a:solidFill>
                  <a:srgbClr val="333333"/>
                </a:solidFill>
                <a:latin typeface="メイリオ"/>
                <a:ea typeface="メイリオ"/>
                <a:cs typeface="メイリオ"/>
              </a:rPr>
              <a:t>友だち追加の最大の仕込み期として広告も厚くする。</a:t>
            </a:r>
          </a:p>
        </p:txBody>
      </p:sp>
      <p:sp>
        <p:nvSpPr>
          <p:cNvPr id="10" name="Rounded Rectangle 9"/>
          <p:cNvSpPr/>
          <p:nvPr/>
        </p:nvSpPr>
        <p:spPr>
          <a:xfrm>
            <a:off x="2724300" y="5328000"/>
            <a:ext cx="2166300" cy="342000"/>
          </a:xfrm>
          <a:prstGeom prst="roundRect">
            <a:avLst>
              <a:gd name="adj" fmla="val 6000"/>
            </a:avLst>
          </a:prstGeom>
          <a:solidFill>
            <a:srgbClr val="FCE4D6"/>
          </a:solidFill>
          <a:ln w="1016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0" bIns="0"/>
          <a:lstStyle/>
          <a:p>
            <a:pPr algn="ctr"/>
            <a:r>
              <a:rPr sz="800" b="1">
                <a:solidFill>
                  <a:srgbClr val="ED7D31"/>
                </a:solidFill>
                <a:latin typeface="メイリオ"/>
                <a:ea typeface="メイリオ"/>
                <a:cs typeface="メイリオ"/>
              </a:rPr>
              <a:t>KPI：友だち追加数／診断完了率</a:t>
            </a:r>
          </a:p>
        </p:txBody>
      </p:sp>
      <p:sp>
        <p:nvSpPr>
          <p:cNvPr id="11" name="Rounded Rectangle 10"/>
          <p:cNvSpPr/>
          <p:nvPr/>
        </p:nvSpPr>
        <p:spPr>
          <a:xfrm>
            <a:off x="5016600" y="1818000"/>
            <a:ext cx="2166300" cy="4860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0" bIns="0"/>
          <a:lstStyle/>
          <a:p>
            <a:pPr algn="ctr">
              <a:spcAft>
                <a:spcPts val="200"/>
              </a:spcAft>
            </a:pPr>
            <a:r>
              <a:rPr sz="1300" b="1">
                <a:solidFill>
                  <a:srgbClr val="FFFFFF"/>
                </a:solidFill>
                <a:latin typeface="メイリオ"/>
                <a:ea typeface="メイリオ"/>
                <a:cs typeface="メイリオ"/>
              </a:rPr>
              <a:t>7〜9月</a:t>
            </a:r>
          </a:p>
          <a:p>
            <a:pPr algn="ctr"/>
            <a:r>
              <a:rPr sz="850">
                <a:solidFill>
                  <a:srgbClr val="FFFFFF"/>
                </a:solidFill>
                <a:latin typeface="メイリオ"/>
                <a:ea typeface="メイリオ"/>
                <a:cs typeface="メイリオ"/>
              </a:rPr>
              <a:t>夏休みの来場が動く</a:t>
            </a:r>
          </a:p>
        </p:txBody>
      </p:sp>
      <p:sp>
        <p:nvSpPr>
          <p:cNvPr id="12" name="Rounded Rectangle 11"/>
          <p:cNvSpPr/>
          <p:nvPr/>
        </p:nvSpPr>
        <p:spPr>
          <a:xfrm>
            <a:off x="5016600" y="2358000"/>
            <a:ext cx="2166300" cy="2916000"/>
          </a:xfrm>
          <a:prstGeom prst="roundRect">
            <a:avLst>
              <a:gd name="adj" fmla="val 6000"/>
            </a:avLst>
          </a:prstGeom>
          <a:solidFill>
            <a:srgbClr val="F4F7FF"/>
          </a:solidFill>
          <a:ln w="1016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86400" rIns="72000" tIns="72000" bIns="36000"/>
          <a:lstStyle/>
          <a:p>
            <a:pPr algn="l">
              <a:spcAft>
                <a:spcPts val="500"/>
              </a:spcAft>
            </a:pPr>
            <a:r>
              <a:rPr sz="1000" b="1">
                <a:solidFill>
                  <a:srgbClr val="ED7D31"/>
                </a:solidFill>
                <a:latin typeface="メイリオ"/>
                <a:ea typeface="メイリオ"/>
                <a:cs typeface="メイリオ"/>
              </a:rPr>
              <a:t>「夏休み・親子で構造見学会」</a:t>
            </a:r>
          </a:p>
          <a:p>
            <a:pPr algn="l">
              <a:lnSpc>
                <a:spcPct val="132000"/>
              </a:lnSpc>
              <a:spcAft>
                <a:spcPts val="200"/>
              </a:spcAft>
            </a:pPr>
            <a:r>
              <a:rPr sz="850">
                <a:solidFill>
                  <a:srgbClr val="333333"/>
                </a:solidFill>
                <a:latin typeface="メイリオ"/>
                <a:ea typeface="メイリオ"/>
                <a:cs typeface="メイリオ"/>
              </a:rPr>
              <a:t>家族で動ける時期。子どもの学区を意識し始める層も多い。</a:t>
            </a:r>
          </a:p>
          <a:p>
            <a:pPr algn="l">
              <a:lnSpc>
                <a:spcPct val="132000"/>
              </a:lnSpc>
              <a:spcAft>
                <a:spcPts val="200"/>
              </a:spcAft>
            </a:pPr>
            <a:r>
              <a:rPr sz="850">
                <a:solidFill>
                  <a:srgbClr val="333333"/>
                </a:solidFill>
                <a:latin typeface="メイリオ"/>
                <a:ea typeface="メイリオ"/>
                <a:cs typeface="メイリオ"/>
              </a:rPr>
              <a:t>施策：建築中の現場をLINE限定で公開。断熱の体感も。</a:t>
            </a:r>
          </a:p>
          <a:p>
            <a:pPr algn="l">
              <a:lnSpc>
                <a:spcPct val="132000"/>
              </a:lnSpc>
              <a:spcAft>
                <a:spcPts val="200"/>
              </a:spcAft>
            </a:pPr>
            <a:r>
              <a:rPr sz="850">
                <a:solidFill>
                  <a:srgbClr val="333333"/>
                </a:solidFill>
                <a:latin typeface="メイリオ"/>
                <a:ea typeface="メイリオ"/>
                <a:cs typeface="メイリオ"/>
              </a:rPr>
              <a:t>お子さま同伴前提でキッズスペースを事前案内。</a:t>
            </a:r>
          </a:p>
        </p:txBody>
      </p:sp>
      <p:sp>
        <p:nvSpPr>
          <p:cNvPr id="13" name="Rounded Rectangle 12"/>
          <p:cNvSpPr/>
          <p:nvPr/>
        </p:nvSpPr>
        <p:spPr>
          <a:xfrm>
            <a:off x="5016600" y="5328000"/>
            <a:ext cx="2166300" cy="342000"/>
          </a:xfrm>
          <a:prstGeom prst="roundRect">
            <a:avLst>
              <a:gd name="adj" fmla="val 6000"/>
            </a:avLst>
          </a:prstGeom>
          <a:solidFill>
            <a:srgbClr val="FCE4D6"/>
          </a:solidFill>
          <a:ln w="1016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0" bIns="0"/>
          <a:lstStyle/>
          <a:p>
            <a:pPr algn="ctr"/>
            <a:r>
              <a:rPr sz="800" b="1">
                <a:solidFill>
                  <a:srgbClr val="ED7D31"/>
                </a:solidFill>
                <a:latin typeface="メイリオ"/>
                <a:ea typeface="メイリオ"/>
                <a:cs typeface="メイリオ"/>
              </a:rPr>
              <a:t>KPI：来場率／同伴者数</a:t>
            </a:r>
          </a:p>
        </p:txBody>
      </p:sp>
      <p:sp>
        <p:nvSpPr>
          <p:cNvPr id="14" name="Rounded Rectangle 13"/>
          <p:cNvSpPr/>
          <p:nvPr/>
        </p:nvSpPr>
        <p:spPr>
          <a:xfrm>
            <a:off x="7308899" y="1818000"/>
            <a:ext cx="2166300" cy="4860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0" bIns="0"/>
          <a:lstStyle/>
          <a:p>
            <a:pPr algn="ctr">
              <a:spcAft>
                <a:spcPts val="200"/>
              </a:spcAft>
            </a:pPr>
            <a:r>
              <a:rPr sz="1300" b="1">
                <a:solidFill>
                  <a:srgbClr val="FFFFFF"/>
                </a:solidFill>
                <a:latin typeface="メイリオ"/>
                <a:ea typeface="メイリオ"/>
                <a:cs typeface="メイリオ"/>
              </a:rPr>
              <a:t>10〜12月</a:t>
            </a:r>
          </a:p>
          <a:p>
            <a:pPr algn="ctr"/>
            <a:r>
              <a:rPr sz="850">
                <a:solidFill>
                  <a:srgbClr val="FFFFFF"/>
                </a:solidFill>
                <a:latin typeface="メイリオ"/>
                <a:ea typeface="メイリオ"/>
                <a:cs typeface="メイリオ"/>
              </a:rPr>
              <a:t>見学会ラッシュ・年内契約</a:t>
            </a:r>
          </a:p>
        </p:txBody>
      </p:sp>
      <p:sp>
        <p:nvSpPr>
          <p:cNvPr id="15" name="Rounded Rectangle 14"/>
          <p:cNvSpPr/>
          <p:nvPr/>
        </p:nvSpPr>
        <p:spPr>
          <a:xfrm>
            <a:off x="7308899" y="2358000"/>
            <a:ext cx="2166300" cy="2916000"/>
          </a:xfrm>
          <a:prstGeom prst="roundRect">
            <a:avLst>
              <a:gd name="adj" fmla="val 6000"/>
            </a:avLst>
          </a:prstGeom>
          <a:solidFill>
            <a:srgbClr val="F4F7FF"/>
          </a:solidFill>
          <a:ln w="1016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86400" rIns="72000" tIns="72000" bIns="36000"/>
          <a:lstStyle/>
          <a:p>
            <a:pPr algn="l">
              <a:spcAft>
                <a:spcPts val="500"/>
              </a:spcAft>
            </a:pPr>
            <a:r>
              <a:rPr sz="1000" b="1">
                <a:solidFill>
                  <a:srgbClr val="ED7D31"/>
                </a:solidFill>
                <a:latin typeface="メイリオ"/>
                <a:ea typeface="メイリオ"/>
                <a:cs typeface="メイリオ"/>
              </a:rPr>
              <a:t>「冬のあたたかさ体感フェア」</a:t>
            </a:r>
          </a:p>
          <a:p>
            <a:pPr algn="l">
              <a:lnSpc>
                <a:spcPct val="132000"/>
              </a:lnSpc>
              <a:spcAft>
                <a:spcPts val="200"/>
              </a:spcAft>
            </a:pPr>
            <a:r>
              <a:rPr sz="850">
                <a:solidFill>
                  <a:srgbClr val="333333"/>
                </a:solidFill>
                <a:latin typeface="メイリオ"/>
                <a:ea typeface="メイリオ"/>
                <a:cs typeface="メイリオ"/>
              </a:rPr>
              <a:t>寒さで断熱性能への関心が最も高まる時期。</a:t>
            </a:r>
          </a:p>
          <a:p>
            <a:pPr algn="l">
              <a:lnSpc>
                <a:spcPct val="132000"/>
              </a:lnSpc>
              <a:spcAft>
                <a:spcPts val="200"/>
              </a:spcAft>
            </a:pPr>
            <a:r>
              <a:rPr sz="850">
                <a:solidFill>
                  <a:srgbClr val="333333"/>
                </a:solidFill>
                <a:latin typeface="メイリオ"/>
                <a:ea typeface="メイリオ"/>
                <a:cs typeface="メイリオ"/>
              </a:rPr>
              <a:t>施策：実測データ（室温・光熱費）を配信で先出し。</a:t>
            </a:r>
          </a:p>
          <a:p>
            <a:pPr algn="l">
              <a:lnSpc>
                <a:spcPct val="132000"/>
              </a:lnSpc>
              <a:spcAft>
                <a:spcPts val="200"/>
              </a:spcAft>
            </a:pPr>
            <a:r>
              <a:rPr sz="850">
                <a:solidFill>
                  <a:srgbClr val="333333"/>
                </a:solidFill>
                <a:latin typeface="メイリオ"/>
                <a:ea typeface="メイリオ"/>
                <a:cs typeface="メイリオ"/>
              </a:rPr>
              <a:t>年明けの相談枠を先に押さえる導線を張る。</a:t>
            </a:r>
          </a:p>
        </p:txBody>
      </p:sp>
      <p:sp>
        <p:nvSpPr>
          <p:cNvPr id="16" name="Rounded Rectangle 15"/>
          <p:cNvSpPr/>
          <p:nvPr/>
        </p:nvSpPr>
        <p:spPr>
          <a:xfrm>
            <a:off x="7308899" y="5328000"/>
            <a:ext cx="2166300" cy="342000"/>
          </a:xfrm>
          <a:prstGeom prst="roundRect">
            <a:avLst>
              <a:gd name="adj" fmla="val 6000"/>
            </a:avLst>
          </a:prstGeom>
          <a:solidFill>
            <a:srgbClr val="FCE4D6"/>
          </a:solidFill>
          <a:ln w="1016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0" bIns="0"/>
          <a:lstStyle/>
          <a:p>
            <a:pPr algn="ctr"/>
            <a:r>
              <a:rPr sz="800" b="1">
                <a:solidFill>
                  <a:srgbClr val="ED7D31"/>
                </a:solidFill>
                <a:latin typeface="メイリオ"/>
                <a:ea typeface="メイリオ"/>
                <a:cs typeface="メイリオ"/>
              </a:rPr>
              <a:t>KPI：個別相談予約数／成約率</a:t>
            </a:r>
          </a:p>
        </p:txBody>
      </p:sp>
      <p:sp>
        <p:nvSpPr>
          <p:cNvPr id="17" name="TextBox 16"/>
          <p:cNvSpPr txBox="1"/>
          <p:nvPr/>
        </p:nvSpPr>
        <p:spPr>
          <a:xfrm>
            <a:off x="432000" y="6246000"/>
            <a:ext cx="9043200" cy="324000"/>
          </a:xfrm>
          <a:prstGeom prst="rect">
            <a:avLst/>
          </a:prstGeom>
          <a:noFill/>
        </p:spPr>
        <p:txBody>
          <a:bodyPr wrap="square" lIns="0" rIns="0" tIns="21600" bIns="21600" anchor="t">
            <a:spAutoFit/>
          </a:bodyPr>
          <a:lstStyle/>
          <a:p>
            <a:pPr algn="l">
              <a:lnSpc>
                <a:spcPct val="115000"/>
              </a:lnSpc>
            </a:pPr>
            <a:r>
              <a:rPr sz="750">
                <a:solidFill>
                  <a:srgbClr val="7F7F7F"/>
                </a:solidFill>
                <a:latin typeface="メイリオ"/>
                <a:ea typeface="メイリオ"/>
                <a:cs typeface="メイリオ"/>
              </a:rPr>
              <a:t>※ 企画の時期設定は業界水準の年間サイクルに基づく初稿です。Googleトレンドの実データ（5年＋直近1年）が入り次第、ピーク月を実測に合わせて調整します。</a:t>
            </a:r>
          </a:p>
        </p:txBody>
      </p:sp>
    </p:spTree>
    <p:extLst>
      <p:ext uri="{BB962C8B-B14F-4D97-AF65-F5344CB8AC3E}">
        <p14:creationId xmlns:p14="http://schemas.microsoft.com/office/powerpoint/2010/main" val="21853059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AE1A8-B06F-74B4-1E2A-7416EDA4E827}"/>
            </a:ext>
          </a:extLst>
        </p:cNvPr>
        <p:cNvGrpSpPr/>
        <p:nvPr/>
      </p:nvGrpSpPr>
      <p:grpSpPr>
        <a:xfrm>
          <a:off x="0" y="0"/>
          <a:ext cx="0" cy="0"/>
          <a:chOff x="0" y="0"/>
          <a:chExt cx="0" cy="0"/>
        </a:xfrm>
      </p:grpSpPr>
      <p:sp>
        <p:nvSpPr>
          <p:cNvPr id="2" name="TextBox 1"/>
          <p:cNvSpPr txBox="1"/>
          <p:nvPr/>
        </p:nvSpPr>
        <p:spPr>
          <a:xfrm>
            <a:off x="547200" y="136800"/>
            <a:ext cx="8784000" cy="338400"/>
          </a:xfrm>
          <a:prstGeom prst="rect">
            <a:avLst/>
          </a:prstGeom>
          <a:noFill/>
        </p:spPr>
        <p:txBody>
          <a:bodyPr wrap="square" lIns="0" rIns="0" tIns="21600" bIns="21600" anchor="ctr">
            <a:spAutoFit/>
          </a:bodyPr>
          <a:lstStyle/>
          <a:p>
            <a:pPr algn="l"/>
            <a:r>
              <a:rPr sz="1600" b="1">
                <a:solidFill>
                  <a:srgbClr val="002060"/>
                </a:solidFill>
                <a:latin typeface="メイリオ"/>
                <a:ea typeface="メイリオ"/>
                <a:cs typeface="メイリオ"/>
              </a:rPr>
              <a:t>具体施策（長期）｜診断タイプ別に追客の強弱を決める</a:t>
            </a:r>
          </a:p>
        </p:txBody>
      </p:sp>
      <p:sp>
        <p:nvSpPr>
          <p:cNvPr id="3" name="TextBox 2"/>
          <p:cNvSpPr txBox="1"/>
          <p:nvPr/>
        </p:nvSpPr>
        <p:spPr>
          <a:xfrm>
            <a:off x="432000" y="648000"/>
            <a:ext cx="9036000" cy="684000"/>
          </a:xfrm>
          <a:prstGeom prst="rect">
            <a:avLst/>
          </a:prstGeom>
          <a:noFill/>
        </p:spPr>
        <p:txBody>
          <a:bodyPr wrap="square" lIns="0" rIns="0" tIns="21600" bIns="21600" anchor="ctr">
            <a:spAutoFit/>
          </a:bodyPr>
          <a:lstStyle/>
          <a:p>
            <a:pPr algn="l">
              <a:lnSpc>
                <a:spcPct val="128000"/>
              </a:lnSpc>
            </a:pPr>
            <a:r>
              <a:rPr sz="1200">
                <a:solidFill>
                  <a:srgbClr val="333333"/>
                </a:solidFill>
                <a:latin typeface="メイリオ"/>
                <a:ea typeface="メイリオ"/>
                <a:cs typeface="メイリオ"/>
              </a:rPr>
              <a:t>すぐCVしない層に一律配信すると、ブロック率が上がるだけ。</a:t>
            </a:r>
          </a:p>
          <a:p>
            <a:pPr algn="l">
              <a:lnSpc>
                <a:spcPct val="128000"/>
              </a:lnSpc>
            </a:pPr>
            <a:r>
              <a:rPr sz="1200">
                <a:solidFill>
                  <a:srgbClr val="333333"/>
                </a:solidFill>
                <a:latin typeface="メイリオ"/>
                <a:ea typeface="メイリオ"/>
                <a:cs typeface="メイリオ"/>
              </a:rPr>
              <a:t>診断で取った4タグから4タイプに分け、配信頻度とオファーの強さを変える。</a:t>
            </a:r>
          </a:p>
        </p:txBody>
      </p:sp>
      <p:cxnSp>
        <p:nvCxnSpPr>
          <p:cNvPr id="4" name="Connector 3"/>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432000" y="1818000"/>
            <a:ext cx="2166300" cy="522000"/>
          </a:xfrm>
          <a:prstGeom prst="roundRect">
            <a:avLst>
              <a:gd name="adj" fmla="val 10000"/>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0" bIns="0"/>
          <a:lstStyle/>
          <a:p>
            <a:pPr algn="ctr">
              <a:spcAft>
                <a:spcPts val="200"/>
              </a:spcAft>
            </a:pPr>
            <a:r>
              <a:rPr sz="1100" b="1">
                <a:solidFill>
                  <a:srgbClr val="FFFFFF"/>
                </a:solidFill>
                <a:latin typeface="メイリオ"/>
                <a:ea typeface="メイリオ"/>
                <a:cs typeface="メイリオ"/>
              </a:rPr>
              <a:t>① 今すぐ建てたい型</a:t>
            </a:r>
          </a:p>
          <a:p>
            <a:pPr algn="ctr"/>
            <a:r>
              <a:rPr sz="800">
                <a:solidFill>
                  <a:srgbClr val="FFFFFF"/>
                </a:solidFill>
                <a:latin typeface="メイリオ"/>
                <a:ea typeface="メイリオ"/>
                <a:cs typeface="メイリオ"/>
              </a:rPr>
              <a:t>1年以内 × 土地あり</a:t>
            </a:r>
          </a:p>
        </p:txBody>
      </p:sp>
      <p:sp>
        <p:nvSpPr>
          <p:cNvPr id="6" name="Rounded Rectangle 5"/>
          <p:cNvSpPr/>
          <p:nvPr/>
        </p:nvSpPr>
        <p:spPr>
          <a:xfrm>
            <a:off x="432000" y="2376000"/>
            <a:ext cx="2166300" cy="2520000"/>
          </a:xfrm>
          <a:prstGeom prst="roundRect">
            <a:avLst>
              <a:gd name="adj" fmla="val 6000"/>
            </a:avLst>
          </a:prstGeom>
          <a:solidFill>
            <a:srgbClr val="FCE4D6"/>
          </a:solidFill>
          <a:ln w="1016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t" wrap="square" lIns="86400" rIns="72000" tIns="79200" bIns="36000"/>
          <a:lstStyle/>
          <a:p>
            <a:pPr algn="l">
              <a:lnSpc>
                <a:spcPct val="138000"/>
              </a:lnSpc>
              <a:spcAft>
                <a:spcPts val="300"/>
              </a:spcAft>
            </a:pPr>
            <a:r>
              <a:rPr sz="900">
                <a:solidFill>
                  <a:srgbClr val="333333"/>
                </a:solidFill>
                <a:latin typeface="メイリオ"/>
                <a:ea typeface="メイリオ"/>
                <a:cs typeface="メイリオ"/>
              </a:rPr>
              <a:t>最短でCVできる層。ここに配信リソースを寄せる。</a:t>
            </a:r>
          </a:p>
          <a:p>
            <a:pPr algn="l">
              <a:lnSpc>
                <a:spcPct val="138000"/>
              </a:lnSpc>
              <a:spcAft>
                <a:spcPts val="300"/>
              </a:spcAft>
            </a:pPr>
            <a:r>
              <a:rPr sz="900">
                <a:solidFill>
                  <a:srgbClr val="333333"/>
                </a:solidFill>
                <a:latin typeface="メイリオ"/>
                <a:ea typeface="メイリオ"/>
                <a:cs typeface="メイリオ"/>
              </a:rPr>
              <a:t>週2回配信／見学会・個別相談を即オファー。</a:t>
            </a:r>
          </a:p>
          <a:p>
            <a:pPr algn="l">
              <a:lnSpc>
                <a:spcPct val="138000"/>
              </a:lnSpc>
              <a:spcAft>
                <a:spcPts val="300"/>
              </a:spcAft>
            </a:pPr>
            <a:r>
              <a:rPr sz="900">
                <a:solidFill>
                  <a:srgbClr val="333333"/>
                </a:solidFill>
                <a:latin typeface="メイリオ"/>
                <a:ea typeface="メイリオ"/>
                <a:cs typeface="メイリオ"/>
              </a:rPr>
              <a:t>有人チャットを優先的に割り当てる。</a:t>
            </a:r>
          </a:p>
        </p:txBody>
      </p:sp>
      <p:sp>
        <p:nvSpPr>
          <p:cNvPr id="7" name="Rounded Rectangle 6"/>
          <p:cNvSpPr/>
          <p:nvPr/>
        </p:nvSpPr>
        <p:spPr>
          <a:xfrm>
            <a:off x="432000" y="4950000"/>
            <a:ext cx="2166300" cy="360000"/>
          </a:xfrm>
          <a:prstGeom prst="roundRect">
            <a:avLst>
              <a:gd name="adj" fmla="val 6000"/>
            </a:avLst>
          </a:prstGeom>
          <a:solidFill>
            <a:srgbClr val="FFFFFF"/>
          </a:solidFill>
          <a:ln w="1270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0" bIns="0"/>
          <a:lstStyle/>
          <a:p>
            <a:pPr algn="ctr"/>
            <a:r>
              <a:rPr sz="850" b="1">
                <a:solidFill>
                  <a:srgbClr val="ED7D31"/>
                </a:solidFill>
                <a:latin typeface="メイリオ"/>
                <a:ea typeface="メイリオ"/>
                <a:cs typeface="メイリオ"/>
              </a:rPr>
              <a:t>強｜週2回＋即オファー</a:t>
            </a:r>
          </a:p>
        </p:txBody>
      </p:sp>
      <p:sp>
        <p:nvSpPr>
          <p:cNvPr id="8" name="Rounded Rectangle 7"/>
          <p:cNvSpPr/>
          <p:nvPr/>
        </p:nvSpPr>
        <p:spPr>
          <a:xfrm>
            <a:off x="2724300" y="1818000"/>
            <a:ext cx="2166300" cy="5220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0" bIns="0"/>
          <a:lstStyle/>
          <a:p>
            <a:pPr algn="ctr">
              <a:spcAft>
                <a:spcPts val="200"/>
              </a:spcAft>
            </a:pPr>
            <a:r>
              <a:rPr sz="1100" b="1">
                <a:solidFill>
                  <a:srgbClr val="FFFFFF"/>
                </a:solidFill>
                <a:latin typeface="メイリオ"/>
                <a:ea typeface="メイリオ"/>
                <a:cs typeface="メイリオ"/>
              </a:rPr>
              <a:t>② 土地探し型</a:t>
            </a:r>
          </a:p>
          <a:p>
            <a:pPr algn="ctr"/>
            <a:r>
              <a:rPr sz="800">
                <a:solidFill>
                  <a:srgbClr val="FFFFFF"/>
                </a:solidFill>
                <a:latin typeface="メイリオ"/>
                <a:ea typeface="メイリオ"/>
                <a:cs typeface="メイリオ"/>
              </a:rPr>
              <a:t>土地なし／これから探す</a:t>
            </a:r>
          </a:p>
        </p:txBody>
      </p:sp>
      <p:sp>
        <p:nvSpPr>
          <p:cNvPr id="9" name="Rounded Rectangle 8"/>
          <p:cNvSpPr/>
          <p:nvPr/>
        </p:nvSpPr>
        <p:spPr>
          <a:xfrm>
            <a:off x="2724300" y="2376000"/>
            <a:ext cx="2166300" cy="2520000"/>
          </a:xfrm>
          <a:prstGeom prst="roundRect">
            <a:avLst>
              <a:gd name="adj" fmla="val 6000"/>
            </a:avLst>
          </a:prstGeom>
          <a:solidFill>
            <a:srgbClr val="F4F7FF"/>
          </a:solidFill>
          <a:ln w="1016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86400" rIns="72000" tIns="79200" bIns="36000"/>
          <a:lstStyle/>
          <a:p>
            <a:pPr algn="l">
              <a:lnSpc>
                <a:spcPct val="138000"/>
              </a:lnSpc>
              <a:spcAft>
                <a:spcPts val="300"/>
              </a:spcAft>
            </a:pPr>
            <a:r>
              <a:rPr sz="900">
                <a:solidFill>
                  <a:srgbClr val="333333"/>
                </a:solidFill>
                <a:latin typeface="メイリオ"/>
                <a:ea typeface="メイリオ"/>
                <a:cs typeface="メイリオ"/>
              </a:rPr>
              <a:t>土地が決まらない限り前に進まない層。</a:t>
            </a:r>
          </a:p>
          <a:p>
            <a:pPr algn="l">
              <a:lnSpc>
                <a:spcPct val="138000"/>
              </a:lnSpc>
              <a:spcAft>
                <a:spcPts val="300"/>
              </a:spcAft>
            </a:pPr>
            <a:r>
              <a:rPr sz="900">
                <a:solidFill>
                  <a:srgbClr val="333333"/>
                </a:solidFill>
                <a:latin typeface="メイリオ"/>
                <a:ea typeface="メイリオ"/>
                <a:cs typeface="メイリオ"/>
              </a:rPr>
              <a:t>週1回配信／エリア別の土地情報を主コンテンツに。</a:t>
            </a:r>
          </a:p>
          <a:p>
            <a:pPr algn="l">
              <a:lnSpc>
                <a:spcPct val="138000"/>
              </a:lnSpc>
              <a:spcAft>
                <a:spcPts val="300"/>
              </a:spcAft>
            </a:pPr>
            <a:r>
              <a:rPr sz="900">
                <a:solidFill>
                  <a:srgbClr val="333333"/>
                </a:solidFill>
                <a:latin typeface="メイリオ"/>
                <a:ea typeface="メイリオ"/>
                <a:cs typeface="メイリオ"/>
              </a:rPr>
              <a:t>「土地から探さない」順番の教育を継続。</a:t>
            </a:r>
          </a:p>
        </p:txBody>
      </p:sp>
      <p:sp>
        <p:nvSpPr>
          <p:cNvPr id="10" name="Rounded Rectangle 9"/>
          <p:cNvSpPr/>
          <p:nvPr/>
        </p:nvSpPr>
        <p:spPr>
          <a:xfrm>
            <a:off x="2724300" y="4950000"/>
            <a:ext cx="2166300" cy="360000"/>
          </a:xfrm>
          <a:prstGeom prst="roundRect">
            <a:avLst>
              <a:gd name="adj" fmla="val 6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0" bIns="0"/>
          <a:lstStyle/>
          <a:p>
            <a:pPr algn="ctr"/>
            <a:r>
              <a:rPr sz="850" b="1">
                <a:solidFill>
                  <a:srgbClr val="1F285A"/>
                </a:solidFill>
                <a:latin typeface="メイリオ"/>
                <a:ea typeface="メイリオ"/>
                <a:cs typeface="メイリオ"/>
              </a:rPr>
              <a:t>中｜週1回＋土地情報</a:t>
            </a:r>
          </a:p>
        </p:txBody>
      </p:sp>
      <p:sp>
        <p:nvSpPr>
          <p:cNvPr id="11" name="Rounded Rectangle 10"/>
          <p:cNvSpPr/>
          <p:nvPr/>
        </p:nvSpPr>
        <p:spPr>
          <a:xfrm>
            <a:off x="5016600" y="1818000"/>
            <a:ext cx="2166300" cy="522000"/>
          </a:xfrm>
          <a:prstGeom prst="roundRect">
            <a:avLst>
              <a:gd name="adj" fmla="val 10000"/>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0" bIns="0"/>
          <a:lstStyle/>
          <a:p>
            <a:pPr algn="ctr">
              <a:spcAft>
                <a:spcPts val="200"/>
              </a:spcAft>
            </a:pPr>
            <a:r>
              <a:rPr sz="1100" b="1">
                <a:solidFill>
                  <a:srgbClr val="FFFFFF"/>
                </a:solidFill>
                <a:latin typeface="メイリオ"/>
                <a:ea typeface="メイリオ"/>
                <a:cs typeface="メイリオ"/>
              </a:rPr>
              <a:t>③ 予算不安型</a:t>
            </a:r>
          </a:p>
          <a:p>
            <a:pPr algn="ctr"/>
            <a:r>
              <a:rPr sz="800">
                <a:solidFill>
                  <a:srgbClr val="FFFFFF"/>
                </a:solidFill>
                <a:latin typeface="メイリオ"/>
                <a:ea typeface="メイリオ"/>
                <a:cs typeface="メイリオ"/>
              </a:rPr>
              <a:t>予算「まだ分からない」</a:t>
            </a:r>
          </a:p>
        </p:txBody>
      </p:sp>
      <p:sp>
        <p:nvSpPr>
          <p:cNvPr id="12" name="Rounded Rectangle 11"/>
          <p:cNvSpPr/>
          <p:nvPr/>
        </p:nvSpPr>
        <p:spPr>
          <a:xfrm>
            <a:off x="5016600" y="2376000"/>
            <a:ext cx="2166300" cy="2520000"/>
          </a:xfrm>
          <a:prstGeom prst="roundRect">
            <a:avLst>
              <a:gd name="adj" fmla="val 6000"/>
            </a:avLst>
          </a:prstGeom>
          <a:solidFill>
            <a:srgbClr val="F4F7FF"/>
          </a:solidFill>
          <a:ln w="1016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86400" rIns="72000" tIns="79200" bIns="36000"/>
          <a:lstStyle/>
          <a:p>
            <a:pPr algn="l">
              <a:lnSpc>
                <a:spcPct val="138000"/>
              </a:lnSpc>
              <a:spcAft>
                <a:spcPts val="300"/>
              </a:spcAft>
            </a:pPr>
            <a:r>
              <a:rPr sz="900">
                <a:solidFill>
                  <a:srgbClr val="333333"/>
                </a:solidFill>
                <a:latin typeface="メイリオ"/>
                <a:ea typeface="メイリオ"/>
                <a:cs typeface="メイリオ"/>
              </a:rPr>
              <a:t>最も人数が多く、最も育つ層。焦らせない。</a:t>
            </a:r>
          </a:p>
          <a:p>
            <a:pPr algn="l">
              <a:lnSpc>
                <a:spcPct val="138000"/>
              </a:lnSpc>
              <a:spcAft>
                <a:spcPts val="300"/>
              </a:spcAft>
            </a:pPr>
            <a:r>
              <a:rPr sz="900">
                <a:solidFill>
                  <a:srgbClr val="333333"/>
                </a:solidFill>
                <a:latin typeface="メイリオ"/>
                <a:ea typeface="メイリオ"/>
                <a:cs typeface="メイリオ"/>
              </a:rPr>
              <a:t>週1回配信／総額の内訳・返済シミュレーションを軸に。</a:t>
            </a:r>
          </a:p>
          <a:p>
            <a:pPr algn="l">
              <a:lnSpc>
                <a:spcPct val="138000"/>
              </a:lnSpc>
              <a:spcAft>
                <a:spcPts val="300"/>
              </a:spcAft>
            </a:pPr>
            <a:r>
              <a:rPr sz="900">
                <a:solidFill>
                  <a:srgbClr val="333333"/>
                </a:solidFill>
                <a:latin typeface="メイリオ"/>
                <a:ea typeface="メイリオ"/>
                <a:cs typeface="メイリオ"/>
              </a:rPr>
              <a:t>6日目・14日目のCVオファーは必ず通す。</a:t>
            </a:r>
          </a:p>
        </p:txBody>
      </p:sp>
      <p:sp>
        <p:nvSpPr>
          <p:cNvPr id="13" name="Rounded Rectangle 12"/>
          <p:cNvSpPr/>
          <p:nvPr/>
        </p:nvSpPr>
        <p:spPr>
          <a:xfrm>
            <a:off x="5016600" y="4950000"/>
            <a:ext cx="2166300" cy="360000"/>
          </a:xfrm>
          <a:prstGeom prst="roundRect">
            <a:avLst>
              <a:gd name="adj" fmla="val 6000"/>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0" bIns="0"/>
          <a:lstStyle/>
          <a:p>
            <a:pPr algn="ctr"/>
            <a:r>
              <a:rPr sz="850" b="1">
                <a:solidFill>
                  <a:srgbClr val="1F285A"/>
                </a:solidFill>
                <a:latin typeface="メイリオ"/>
                <a:ea typeface="メイリオ"/>
                <a:cs typeface="メイリオ"/>
              </a:rPr>
              <a:t>中｜週1回＋費用教育</a:t>
            </a:r>
          </a:p>
        </p:txBody>
      </p:sp>
      <p:sp>
        <p:nvSpPr>
          <p:cNvPr id="14" name="Rounded Rectangle 13"/>
          <p:cNvSpPr/>
          <p:nvPr/>
        </p:nvSpPr>
        <p:spPr>
          <a:xfrm>
            <a:off x="7308899" y="1818000"/>
            <a:ext cx="2166300" cy="522000"/>
          </a:xfrm>
          <a:prstGeom prst="roundRect">
            <a:avLst>
              <a:gd name="adj" fmla="val 10000"/>
            </a:avLst>
          </a:prstGeom>
          <a:solidFill>
            <a:srgbClr val="7F7F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0" bIns="0"/>
          <a:lstStyle/>
          <a:p>
            <a:pPr algn="ctr">
              <a:spcAft>
                <a:spcPts val="200"/>
              </a:spcAft>
            </a:pPr>
            <a:r>
              <a:rPr sz="1100" b="1">
                <a:solidFill>
                  <a:srgbClr val="FFFFFF"/>
                </a:solidFill>
                <a:latin typeface="メイリオ"/>
                <a:ea typeface="メイリオ"/>
                <a:cs typeface="メイリオ"/>
              </a:rPr>
              <a:t>④ 情報収集型</a:t>
            </a:r>
          </a:p>
          <a:p>
            <a:pPr algn="ctr"/>
            <a:r>
              <a:rPr sz="800">
                <a:solidFill>
                  <a:srgbClr val="FFFFFF"/>
                </a:solidFill>
                <a:latin typeface="メイリオ"/>
                <a:ea typeface="メイリオ"/>
                <a:cs typeface="メイリオ"/>
              </a:rPr>
              <a:t>2年より先／まだ決めていない</a:t>
            </a:r>
          </a:p>
        </p:txBody>
      </p:sp>
      <p:sp>
        <p:nvSpPr>
          <p:cNvPr id="15" name="Rounded Rectangle 14"/>
          <p:cNvSpPr/>
          <p:nvPr/>
        </p:nvSpPr>
        <p:spPr>
          <a:xfrm>
            <a:off x="7308899" y="2376000"/>
            <a:ext cx="2166300" cy="2520000"/>
          </a:xfrm>
          <a:prstGeom prst="roundRect">
            <a:avLst>
              <a:gd name="adj" fmla="val 6000"/>
            </a:avLst>
          </a:prstGeom>
          <a:solidFill>
            <a:srgbClr val="F4F7FF"/>
          </a:solidFill>
          <a:ln w="1016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t" wrap="square" lIns="86400" rIns="72000" tIns="79200" bIns="36000"/>
          <a:lstStyle/>
          <a:p>
            <a:pPr algn="l">
              <a:lnSpc>
                <a:spcPct val="138000"/>
              </a:lnSpc>
              <a:spcAft>
                <a:spcPts val="300"/>
              </a:spcAft>
            </a:pPr>
            <a:r>
              <a:rPr sz="900">
                <a:solidFill>
                  <a:srgbClr val="333333"/>
                </a:solidFill>
                <a:latin typeface="メイリオ"/>
                <a:ea typeface="メイリオ"/>
                <a:cs typeface="メイリオ"/>
              </a:rPr>
              <a:t>今オファーを出すと確実にブロックされる層。</a:t>
            </a:r>
          </a:p>
          <a:p>
            <a:pPr algn="l">
              <a:lnSpc>
                <a:spcPct val="138000"/>
              </a:lnSpc>
              <a:spcAft>
                <a:spcPts val="300"/>
              </a:spcAft>
            </a:pPr>
            <a:r>
              <a:rPr sz="900">
                <a:solidFill>
                  <a:srgbClr val="333333"/>
                </a:solidFill>
                <a:latin typeface="メイリオ"/>
                <a:ea typeface="メイリオ"/>
                <a:cs typeface="メイリオ"/>
              </a:rPr>
              <a:t>月2回・お役立ちのみ。オファーを外す。</a:t>
            </a:r>
          </a:p>
          <a:p>
            <a:pPr algn="l">
              <a:lnSpc>
                <a:spcPct val="138000"/>
              </a:lnSpc>
              <a:spcAft>
                <a:spcPts val="300"/>
              </a:spcAft>
            </a:pPr>
            <a:r>
              <a:rPr sz="900">
                <a:solidFill>
                  <a:srgbClr val="333333"/>
                </a:solidFill>
                <a:latin typeface="メイリオ"/>
                <a:ea typeface="メイリオ"/>
                <a:cs typeface="メイリオ"/>
              </a:rPr>
              <a:t>3ヶ月後に再オファー、または再診断で温度感を再取得。</a:t>
            </a:r>
          </a:p>
        </p:txBody>
      </p:sp>
      <p:sp>
        <p:nvSpPr>
          <p:cNvPr id="16" name="Rounded Rectangle 15"/>
          <p:cNvSpPr/>
          <p:nvPr/>
        </p:nvSpPr>
        <p:spPr>
          <a:xfrm>
            <a:off x="7308899" y="4950000"/>
            <a:ext cx="2166300" cy="360000"/>
          </a:xfrm>
          <a:prstGeom prst="roundRect">
            <a:avLst>
              <a:gd name="adj" fmla="val 6000"/>
            </a:avLst>
          </a:prstGeom>
          <a:solidFill>
            <a:srgbClr val="FFFFFF"/>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0" bIns="0"/>
          <a:lstStyle/>
          <a:p>
            <a:pPr algn="ctr"/>
            <a:r>
              <a:rPr sz="850" b="1">
                <a:solidFill>
                  <a:srgbClr val="7F7F7F"/>
                </a:solidFill>
                <a:latin typeface="メイリオ"/>
                <a:ea typeface="メイリオ"/>
                <a:cs typeface="メイリオ"/>
              </a:rPr>
              <a:t>弱｜月2回・オファーなし</a:t>
            </a:r>
          </a:p>
        </p:txBody>
      </p:sp>
      <p:sp>
        <p:nvSpPr>
          <p:cNvPr id="17" name="Rounded Rectangle 16"/>
          <p:cNvSpPr/>
          <p:nvPr/>
        </p:nvSpPr>
        <p:spPr>
          <a:xfrm>
            <a:off x="432000" y="5418000"/>
            <a:ext cx="9043200" cy="342000"/>
          </a:xfrm>
          <a:prstGeom prst="roundRect">
            <a:avLst>
              <a:gd name="adj" fmla="val 10000"/>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0" bIns="0"/>
          <a:lstStyle/>
          <a:p>
            <a:pPr algn="ctr"/>
            <a:r>
              <a:rPr sz="1150" b="1">
                <a:solidFill>
                  <a:srgbClr val="FFFFFF"/>
                </a:solidFill>
                <a:latin typeface="メイリオ"/>
                <a:ea typeface="メイリオ"/>
                <a:cs typeface="メイリオ"/>
              </a:rPr>
              <a:t>④に「オファーを出さない」と決めるのが、①〜③の配信効果を守る</a:t>
            </a:r>
          </a:p>
        </p:txBody>
      </p:sp>
      <p:sp>
        <p:nvSpPr>
          <p:cNvPr id="18" name="TextBox 17"/>
          <p:cNvSpPr txBox="1"/>
          <p:nvPr/>
        </p:nvSpPr>
        <p:spPr>
          <a:xfrm>
            <a:off x="432000" y="6246000"/>
            <a:ext cx="9043200" cy="324000"/>
          </a:xfrm>
          <a:prstGeom prst="rect">
            <a:avLst/>
          </a:prstGeom>
          <a:noFill/>
        </p:spPr>
        <p:txBody>
          <a:bodyPr wrap="square" lIns="0" rIns="0" tIns="21600" bIns="21600" anchor="t">
            <a:spAutoFit/>
          </a:bodyPr>
          <a:lstStyle/>
          <a:p>
            <a:pPr algn="l">
              <a:lnSpc>
                <a:spcPct val="115000"/>
              </a:lnSpc>
            </a:pPr>
            <a:r>
              <a:rPr sz="750">
                <a:solidFill>
                  <a:srgbClr val="7F7F7F"/>
                </a:solidFill>
                <a:latin typeface="メイリオ"/>
                <a:ea typeface="メイリオ"/>
                <a:cs typeface="メイリオ"/>
              </a:rPr>
              <a:t>※ タイプ判定はQ1（検討時期）×Q2（土地有無）×Q3（予算帯）のタグ組み合わせで自動化します。配信頻度は運用2ヶ月目のブロック率実測を見て調整します。</a:t>
            </a:r>
          </a:p>
        </p:txBody>
      </p:sp>
    </p:spTree>
    <p:extLst>
      <p:ext uri="{BB962C8B-B14F-4D97-AF65-F5344CB8AC3E}">
        <p14:creationId xmlns:p14="http://schemas.microsoft.com/office/powerpoint/2010/main" val="19326644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141472</TotalTime>
  <Words>5264</Words>
  <Application>Microsoft Office PowerPoint</Application>
  <PresentationFormat>A4 210 x 297 mm</PresentationFormat>
  <Paragraphs>1342</Paragraphs>
  <Slides>36</Slides>
  <Notes>14</Notes>
  <HiddenSlides>0</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36</vt:i4>
      </vt:variant>
    </vt:vector>
  </HeadingPairs>
  <TitlesOfParts>
    <vt:vector size="43" baseType="lpstr">
      <vt:lpstr>メイリオ</vt: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佐村 徳人</cp:lastModifiedBy>
  <cp:revision>1919</cp:revision>
  <cp:lastPrinted>2022-11-01T11:38:14Z</cp:lastPrinted>
  <dcterms:created xsi:type="dcterms:W3CDTF">2015-09-04T09:21:15Z</dcterms:created>
  <dcterms:modified xsi:type="dcterms:W3CDTF">2026-07-21T09:21:02Z</dcterms:modified>
</cp:coreProperties>
</file>