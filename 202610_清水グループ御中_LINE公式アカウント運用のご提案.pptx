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2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39"/>
  </p:notesMasterIdLst>
  <p:handoutMasterIdLst>
    <p:handoutMasterId r:id="rId40"/>
  </p:handoutMasterIdLst>
  <p:sldIdLst>
    <p:sldId id="2363" r:id="rId3"/>
    <p:sldId id="2736" r:id="rId4"/>
    <p:sldId id="3009" r:id="rId45"/>
    <p:sldId id="3010" r:id="rId46"/>
    <p:sldId id="2996" r:id="rId11"/>
    <p:sldId id="2998" r:id="rId14"/>
    <p:sldId id="3003" r:id="rId20"/>
    <p:sldId id="3011" r:id="rId47"/>
    <p:sldId id="3008" r:id="rId24"/>
    <p:sldId id="2908" r:id="rId22"/>
    <p:sldId id="1169" r:id="rId25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FDFD"/>
    <a:srgbClr val="173559"/>
    <a:srgbClr val="04FA0A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74" d="100"/>
          <a:sy n="74" d="100"/>
        </p:scale>
        <p:origin x="784" y="44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11" Type="http://schemas.openxmlformats.org/officeDocument/2006/relationships/slide" Target="slides/slide9.xml"/><Relationship Id="rId14" Type="http://schemas.openxmlformats.org/officeDocument/2006/relationships/slide" Target="slides/slide12.xml"/><Relationship Id="rId20" Type="http://schemas.openxmlformats.org/officeDocument/2006/relationships/slide" Target="slides/slide18.xml"/><Relationship Id="rId22" Type="http://schemas.openxmlformats.org/officeDocument/2006/relationships/slide" Target="slides/slide20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Relationship Id="rId45" Type="http://schemas.openxmlformats.org/officeDocument/2006/relationships/slide" Target="slides/slide37.xml"/><Relationship Id="rId46" Type="http://schemas.openxmlformats.org/officeDocument/2006/relationships/slide" Target="slides/slide38.xml"/><Relationship Id="rId47" Type="http://schemas.openxmlformats.org/officeDocument/2006/relationships/slide" Target="slides/slide39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2026/10/7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defTabSz="956886">
              <a:defRPr/>
            </a:pPr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defTabSz="956886">
              <a:defRPr/>
            </a:pPr>
            <a:fld id="{929202D6-C1F5-472A-A72F-285F233F82C2}" type="slidenum">
              <a:rPr lang="ja-JP" altLang="en-US">
                <a:solidFill>
                  <a:prstClr val="black"/>
                </a:solidFill>
                <a:latin typeface="Calibri"/>
                <a:ea typeface="ＭＳ Ｐゴシック" panose="020B0600070205080204" pitchFamily="50" charset="-128"/>
              </a:rPr>
              <a:pPr defTabSz="956886">
                <a:defRPr/>
              </a:pPr>
              <a:t>23</a:t>
            </a:fld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7920873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emf"/><Relationship Id="rId4" Type="http://schemas.openxmlformats.org/officeDocument/2006/relationships/image" Target="../media/image13.jpeg"/><Relationship Id="rId5" Type="http://schemas.openxmlformats.org/officeDocument/2006/relationships/image" Target="../media/image14.jpeg"/><Relationship Id="rId6" Type="http://schemas.openxmlformats.org/officeDocument/2006/relationships/image" Target="../media/image15.jpeg"/><Relationship Id="rId7" Type="http://schemas.openxmlformats.org/officeDocument/2006/relationships/image" Target="../media/image16.jpeg"/><Relationship Id="rId8" Type="http://schemas.openxmlformats.org/officeDocument/2006/relationships/image" Target="../media/image17.jpe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9A0322D-BA5F-9122-1E12-FB7AC2AF15A5}"/>
              </a:ext>
            </a:extLst>
          </p:cNvPr>
          <p:cNvSpPr/>
          <p:nvPr/>
        </p:nvSpPr>
        <p:spPr>
          <a:xfrm>
            <a:off x="1665887" y="3038203"/>
            <a:ext cx="65742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ja-I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LINE</a:t>
            </a:r>
            <a:r>
              <a:rPr lang="ja-JP" alt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公式アカウント運用のご提案</a:t>
            </a:r>
            <a:endParaRPr lang="en-US" altLang="ja-IS" sz="3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CC59398-53B4-E01E-A60C-6C13628FCBFB}"/>
              </a:ext>
            </a:extLst>
          </p:cNvPr>
          <p:cNvSpPr/>
          <p:nvPr/>
        </p:nvSpPr>
        <p:spPr>
          <a:xfrm>
            <a:off x="1609344" y="2103120"/>
            <a:ext cx="6629400" cy="8686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ja-JP" altLang="en-US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34" charset="-128"/>
                <a:ea typeface="メイリオ" panose="020B0604030504040204" pitchFamily="34" charset="-128"/>
                <a:cs typeface="メイリオ"/>
              </a:rPr>
              <a:t>グループ全体の求人に対応する、</a:t>
            </a:r>
          </a:p>
          <a:p>
            <a:pPr algn="ctr"/>
            <a:r>
              <a:rPr lang="ja-JP" altLang="en-US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34" charset="-128"/>
                <a:ea typeface="メイリオ" panose="020B0604030504040204" pitchFamily="34" charset="-128"/>
                <a:cs typeface="メイリオ"/>
              </a:rPr>
              <a:t>職種分岐型のLINE採用の仕組み</a:t>
            </a: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B532C1C8-7FE6-8830-B27C-27941421F5F9}"/>
              </a:ext>
            </a:extLst>
          </p:cNvPr>
          <p:cNvCxnSpPr>
            <a:cxnSpLocks/>
          </p:cNvCxnSpPr>
          <p:nvPr/>
        </p:nvCxnSpPr>
        <p:spPr>
          <a:xfrm>
            <a:off x="1337175" y="3705064"/>
            <a:ext cx="7231660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図 8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FFE022E1-8FF6-B4B4-B955-17E7CFA964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0"/>
            <a:ext cx="8159931" cy="766354"/>
          </a:xfrm>
          <a:prstGeom prst="rect">
            <a:avLst/>
          </a:prstGeom>
        </p:spPr>
      </p:pic>
      <p:pic>
        <p:nvPicPr>
          <p:cNvPr id="10" name="図 9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0F2999B3-5873-C495-70F5-12487911C6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94114"/>
            <a:ext cx="2042161" cy="272239"/>
          </a:xfrm>
          <a:prstGeom prst="rect">
            <a:avLst/>
          </a:prstGeom>
        </p:spPr>
      </p:pic>
      <p:sp>
        <p:nvSpPr>
          <p:cNvPr id="11" name="テキスト ボックス 6"/>
          <p:cNvSpPr/>
          <p:nvPr/>
        </p:nvSpPr>
        <p:spPr>
          <a:xfrm>
            <a:off x="291960" y="263520"/>
            <a:ext cx="496548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>
                <a:solidFill>
                  <a:schemeClr val="dk1">
                    <a:lumMod val="50000"/>
                    <a:lumOff val="50000"/>
                  </a:schemeClr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清水グループ 御中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</p:spTree>
    <p:extLst>
      <p:ext uri="{BB962C8B-B14F-4D97-AF65-F5344CB8AC3E}">
        <p14:creationId xmlns:p14="http://schemas.microsoft.com/office/powerpoint/2010/main" val="39445980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AD501E-4538-865B-06FF-B4530B24F0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3D3533E4-0377-76E5-495C-9BA89161C5A7}"/>
              </a:ext>
            </a:extLst>
          </p:cNvPr>
          <p:cNvSpPr txBox="1"/>
          <p:nvPr/>
        </p:nvSpPr>
        <p:spPr>
          <a:xfrm>
            <a:off x="677829" y="118686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8800" tIns="7200" rIns="28800" bIns="72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資料アジェンダ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687600"/>
            <a:ext cx="9043200" cy="684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サイトに来ている方・応募した方を、LINEでつなぎ止める。</a:t>
            </a:r>
          </a:p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飲食・イベント・警備・正社員まで、グループ全体の求人に職種を分けて案内する提案。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2000" y="2093040"/>
            <a:ext cx="9043200" cy="583200"/>
          </a:xfrm>
          <a:prstGeom prst="roundRect">
            <a:avLst>
              <a:gd name="adj" fmla="val 12000"/>
            </a:avLst>
          </a:prstGeom>
          <a:solidFill>
            <a:srgbClr val="EEF2F9"/>
          </a:solidFill>
          <a:ln w="9525">
            <a:solidFill>
              <a:srgbClr val="C9D2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522000" y="2150640"/>
            <a:ext cx="468000" cy="468000"/>
          </a:xfrm>
          <a:prstGeom prst="roundRect">
            <a:avLst>
              <a:gd name="adj" fmla="val 12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22000" y="2150640"/>
            <a:ext cx="4680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6000" y="2093040"/>
            <a:ext cx="2232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第1章｜現状と課題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48000" y="2253489"/>
            <a:ext cx="6048000" cy="262301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応募の前後で、求職者とのつながりが切れている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000" y="2733840"/>
            <a:ext cx="9043200" cy="58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9D2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522000" y="2791440"/>
            <a:ext cx="468000" cy="468000"/>
          </a:xfrm>
          <a:prstGeom prst="roundRect">
            <a:avLst>
              <a:gd name="adj" fmla="val 12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22000" y="2791440"/>
            <a:ext cx="4680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6000" y="2733840"/>
            <a:ext cx="2232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第2章｜解決策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48000" y="2894289"/>
            <a:ext cx="6048000" cy="262301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lang="ja-JP" altLang="en-US" sz="14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希望条件で職種を分け、グループ全体の求人につなぐ</a:t>
            </a:r>
            <a:endParaRPr sz="1400" b="1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432000" y="3374640"/>
            <a:ext cx="9043200" cy="583200"/>
          </a:xfrm>
          <a:prstGeom prst="roundRect">
            <a:avLst>
              <a:gd name="adj" fmla="val 12000"/>
            </a:avLst>
          </a:prstGeom>
          <a:solidFill>
            <a:srgbClr val="EEF2F9"/>
          </a:solidFill>
          <a:ln w="9525">
            <a:solidFill>
              <a:srgbClr val="C9D2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522000" y="3432240"/>
            <a:ext cx="468000" cy="468000"/>
          </a:xfrm>
          <a:prstGeom prst="roundRect">
            <a:avLst>
              <a:gd name="adj" fmla="val 12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22000" y="3432240"/>
            <a:ext cx="4680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6000" y="3374640"/>
            <a:ext cx="2232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第3章｜施策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48000" y="3535089"/>
            <a:ext cx="6048000" cy="262301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友だちの入口・リッチメニュー・面接に来る方を増やす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2000" y="4015440"/>
            <a:ext cx="9043200" cy="58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9D2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522000" y="4073040"/>
            <a:ext cx="468000" cy="468000"/>
          </a:xfrm>
          <a:prstGeom prst="roundRect">
            <a:avLst>
              <a:gd name="adj" fmla="val 12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522000" y="4073040"/>
            <a:ext cx="4680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6000" y="4015440"/>
            <a:ext cx="2232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第4章｜費用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48000" y="4175889"/>
            <a:ext cx="6048000" cy="262301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概算お見積り・運用プラン・運用サポート体制</a:t>
            </a:r>
            <a:endParaRPr sz="1400" b="1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</p:spTree>
    <p:extLst>
      <p:ext uri="{BB962C8B-B14F-4D97-AF65-F5344CB8AC3E}">
        <p14:creationId xmlns:p14="http://schemas.microsoft.com/office/powerpoint/2010/main" val="31128037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［第3章］施策｜友だちの入口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908002"/>
            <a:ext cx="9331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広告を増やさずに、いまサイトに来ている方・応募した方をLINEにつなぐ。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548000"/>
            <a:ext cx="9043200" cy="6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432000" y="1548000"/>
            <a:ext cx="2448000" cy="6048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32000" y="1719249"/>
            <a:ext cx="244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 応募完了画面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51999" y="1719249"/>
            <a:ext cx="4031999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応募した直後に友だち追加を案内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56000" y="1736947"/>
            <a:ext cx="23400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最も確実。すでに応募した方</a:t>
            </a:r>
          </a:p>
        </p:txBody>
      </p:sp>
      <p:sp>
        <p:nvSpPr>
          <p:cNvPr id="9" name="Rectangle 8"/>
          <p:cNvSpPr/>
          <p:nvPr/>
        </p:nvSpPr>
        <p:spPr>
          <a:xfrm>
            <a:off x="432000" y="2250000"/>
            <a:ext cx="9043200" cy="6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432000" y="2250000"/>
            <a:ext cx="2448000" cy="6048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32000" y="2421249"/>
            <a:ext cx="244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 離脱防止ポップアップ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51999" y="2421249"/>
            <a:ext cx="4031999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求人サイトを離れようとした方にLINEを案内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56000" y="2438947"/>
            <a:ext cx="23400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応募フォームより軽い入口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000" y="2951999"/>
            <a:ext cx="9043200" cy="6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432000" y="2951999"/>
            <a:ext cx="2448000" cy="6048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32000" y="3123248"/>
            <a:ext cx="244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 サイトのLINEボタン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51999" y="3123248"/>
            <a:ext cx="4031999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求人ページにLINEの入口を置く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6000" y="3140946"/>
            <a:ext cx="23400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まだ応募を決めていない方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2000" y="3653999"/>
            <a:ext cx="9043200" cy="6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432000" y="3653999"/>
            <a:ext cx="2448000" cy="6048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432000" y="3825248"/>
            <a:ext cx="244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④ 店舗・現場のQRコード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51999" y="3825248"/>
            <a:ext cx="4031999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店舗・現場のポスターやチラシから直接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56000" y="3842946"/>
            <a:ext cx="23400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すでにある接点を使う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2000" y="4526209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432000" y="4566361"/>
            <a:ext cx="9043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職種が決まっていない方も、LINEに残しておける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［第3章］施策｜リッチメニュー（3タブ × 6枠）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「条件を変える」「通知を止める」を、隠さずに置く。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出口を塞ぐと、二度と戻ってこない。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253577" y="1080001"/>
            <a:ext cx="2988000" cy="503999"/>
          </a:xfrm>
          <a:prstGeom prst="rect">
            <a:avLst/>
          </a:prstGeom>
          <a:solidFill>
            <a:srgbClr val="FFFFFF"/>
          </a:solidFill>
          <a:ln w="9525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361577" y="1078451"/>
            <a:ext cx="2772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今すぐ探す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61577" y="1330148"/>
            <a:ext cx="27720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dirty="0" err="1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最重要CTA。常に左上に置く</a:t>
            </a:r>
            <a:endParaRPr sz="1200" b="0" dirty="0">
              <a:solidFill>
                <a:srgbClr val="64748B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6253577" y="1663201"/>
            <a:ext cx="2988000" cy="503999"/>
          </a:xfrm>
          <a:prstGeom prst="rect">
            <a:avLst/>
          </a:prstGeom>
          <a:solidFill>
            <a:srgbClr val="FFFF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361577" y="1661651"/>
            <a:ext cx="2772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条件に合う新着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61577" y="1913348"/>
            <a:ext cx="27720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希望条件から一覧へ送る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53577" y="2246401"/>
            <a:ext cx="2988000" cy="503999"/>
          </a:xfrm>
          <a:prstGeom prst="rect">
            <a:avLst/>
          </a:prstGeom>
          <a:solidFill>
            <a:srgbClr val="FFFF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361577" y="2244851"/>
            <a:ext cx="2772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希望条件を変える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1577" y="2496548"/>
            <a:ext cx="27720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職種を変えて、別の求人へ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53577" y="2829601"/>
            <a:ext cx="2988000" cy="503999"/>
          </a:xfrm>
          <a:prstGeom prst="rect">
            <a:avLst/>
          </a:prstGeom>
          <a:solidFill>
            <a:srgbClr val="FFFF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361577" y="2828051"/>
            <a:ext cx="2772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よくある質問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61577" y="3079748"/>
            <a:ext cx="27720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面接・持ち物に先回り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53577" y="3412801"/>
            <a:ext cx="2988000" cy="503999"/>
          </a:xfrm>
          <a:prstGeom prst="rect">
            <a:avLst/>
          </a:prstGeom>
          <a:solidFill>
            <a:srgbClr val="FFFFFF"/>
          </a:solidFill>
          <a:ln w="9525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361577" y="3411251"/>
            <a:ext cx="2772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通知を止める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61577" y="3662948"/>
            <a:ext cx="27720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ブロックの代わりになる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53577" y="3996001"/>
            <a:ext cx="2988000" cy="503999"/>
          </a:xfrm>
          <a:prstGeom prst="rect">
            <a:avLst/>
          </a:prstGeom>
          <a:solidFill>
            <a:srgbClr val="FDF2F2"/>
          </a:solidFill>
          <a:ln w="15875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6361577" y="3994451"/>
            <a:ext cx="2772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今は働いている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1577" y="4246148"/>
            <a:ext cx="27720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★ 働いている間は配信を止める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2000" y="5184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432000" y="5224152"/>
            <a:ext cx="9043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「通知を止める」「今は働いている」を置くから、ブロックされずにつながり続ける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画面はイメージ。タブ構成とボタン名は運用しながら調整する</a:t>
            </a:r>
          </a:p>
        </p:txBody>
      </p:sp>
      <p:pic>
        <p:nvPicPr>
          <p:cNvPr id="27" name="Picture 26" descr="人材A_リッチメニュー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7584" y="1512000"/>
            <a:ext cx="4292830" cy="2861886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［第3章］施策｜面接に来る方を増やす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応募数も広告費も増やさずに、面接に来る方を増やす。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548000"/>
            <a:ext cx="9043200" cy="77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432000" y="1548000"/>
            <a:ext cx="2736000" cy="774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32000" y="1803849"/>
            <a:ext cx="2736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 前日にお知らせ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11999" y="1803849"/>
            <a:ext cx="3024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日時・場所・道順・持ち物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8000" y="1803849"/>
            <a:ext cx="29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無断欠席が減る</a:t>
            </a:r>
          </a:p>
        </p:txBody>
      </p:sp>
      <p:sp>
        <p:nvSpPr>
          <p:cNvPr id="9" name="Rectangle 8"/>
          <p:cNvSpPr/>
          <p:nvPr/>
        </p:nvSpPr>
        <p:spPr>
          <a:xfrm>
            <a:off x="432000" y="2430000"/>
            <a:ext cx="9043200" cy="77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432000" y="2430000"/>
            <a:ext cx="2736000" cy="774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32000" y="2685849"/>
            <a:ext cx="2736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 不安に先回り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11999" y="2685849"/>
            <a:ext cx="3024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面接の流れ・職場の様子を送る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8000" y="2685849"/>
            <a:ext cx="29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面接前の不安を消す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000" y="3311999"/>
            <a:ext cx="9043200" cy="77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432000" y="3311999"/>
            <a:ext cx="2736000" cy="774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32000" y="3567848"/>
            <a:ext cx="2736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 日程をその場で確定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11999" y="3567848"/>
            <a:ext cx="3024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LINEで候補日を選んでもらう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8000" y="3567848"/>
            <a:ext cx="29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電話の往復で冷めるのを防ぐ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2000" y="4194000"/>
            <a:ext cx="9043200" cy="77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432000" y="4194000"/>
            <a:ext cx="2736000" cy="774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432000" y="4449849"/>
            <a:ext cx="2736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④ 合わなければ別の職種へ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11999" y="4449849"/>
            <a:ext cx="3024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不採用・辞退の翌日に、グループ内の別の求人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8000" y="4458697"/>
            <a:ext cx="2988000" cy="244604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気持ちが高いうちに次の応募へ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2000" y="5148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432000" y="5188152"/>
            <a:ext cx="9043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目指すのは、応募した方がグループのどこかで働き始めること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前日のお知らせは、個別チャットか通知メッセージ（別途費用）で送る。友だち追加の翌日以降に届くステップ配信では、面接日に合わせられないため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C5A5A4-75AD-516A-9D25-18F8EF002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752;p28">
            <a:extLst>
              <a:ext uri="{FF2B5EF4-FFF2-40B4-BE49-F238E27FC236}">
                <a16:creationId xmlns:a16="http://schemas.microsoft.com/office/drawing/2014/main" id="{0308A94D-067F-5D10-BF02-6777DD32E821}"/>
              </a:ext>
            </a:extLst>
          </p:cNvPr>
          <p:cNvSpPr txBox="1"/>
          <p:nvPr/>
        </p:nvSpPr>
        <p:spPr>
          <a:xfrm>
            <a:off x="547200" y="138137"/>
            <a:ext cx="7027574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8800" tIns="7200" rIns="28800" bIns="7200" anchor="ctr" anchorCtr="0">
            <a:spAutoFit/>
          </a:bodyPr>
          <a:lstStyle/>
          <a:p>
            <a:pPr lvl="0"/>
            <a:r>
              <a:rPr lang="en-US" altLang="ja-JP" sz="1600" b="1" dirty="0">
                <a:solidFill>
                  <a:srgbClr val="323366"/>
                </a:solidFill>
                <a:latin typeface="メイリオ"/>
                <a:ea typeface="メイリオ"/>
                <a:cs typeface="メイリオ"/>
                <a:sym typeface="Meiryo"/>
              </a:rPr>
              <a:t>［第4章］運用サポート体制</a:t>
            </a:r>
            <a:endParaRPr lang="en-US" altLang="ja-JP" sz="1600" b="1" dirty="0">
              <a:solidFill>
                <a:schemeClr val="tx1">
                  <a:lumMod val="50000"/>
                  <a:lumOff val="50000"/>
                </a:schemeClr>
              </a:solidFill>
              <a:latin typeface="メイリオ"/>
              <a:ea typeface="メイリオ"/>
              <a:cs typeface="メイリオ"/>
              <a:sym typeface="Meiryo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31489518-639C-6F8B-3CC2-E3A3D82066B2}"/>
              </a:ext>
            </a:extLst>
          </p:cNvPr>
          <p:cNvSpPr/>
          <p:nvPr/>
        </p:nvSpPr>
        <p:spPr>
          <a:xfrm>
            <a:off x="275003" y="1728082"/>
            <a:ext cx="9355994" cy="139128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2225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>
                <a:latin typeface="メイリオ"/>
                <a:ea typeface="メイリオ"/>
                <a:cs typeface="メイリオ"/>
              </a:defRPr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メイリオ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メイリオ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メイリオ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メイリオ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メイリオ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メイリオ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メイリオ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メイリオ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メイリオ"/>
              </a:defRPr>
            </a:lvl9pPr>
          </a:lstStyle>
          <a:p>
            <a:pPr algn="ctr"/>
            <a:r>
              <a:rPr lang="ja-JP" altLang="en-US" sz="2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① 月1回の定例会</a:t>
            </a:r>
            <a:endParaRPr lang="en-US" altLang="ja-JP" sz="24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GAレポート連携で、応募率・面接実施率を毎月確認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D339252-F691-EA9D-983C-6241C7AABA77}"/>
              </a:ext>
            </a:extLst>
          </p:cNvPr>
          <p:cNvSpPr/>
          <p:nvPr/>
        </p:nvSpPr>
        <p:spPr>
          <a:xfrm>
            <a:off x="275003" y="3221875"/>
            <a:ext cx="9355994" cy="139128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2225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>
                <a:latin typeface="メイリオ"/>
                <a:ea typeface="メイリオ"/>
                <a:cs typeface="メイリオ"/>
              </a:defRPr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メイリオ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メイリオ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メイリオ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メイリオ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メイリオ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メイリオ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メイリオ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メイリオ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メイリオ"/>
              </a:defRPr>
            </a:lvl9pPr>
          </a:lstStyle>
          <a:p>
            <a:pPr algn="ctr"/>
            <a:r>
              <a:rPr lang="ja-JP" altLang="en-US" sz="2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② 企画配信の制作</a:t>
            </a:r>
            <a:endParaRPr lang="en-US" altLang="ja-JP" sz="24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年間カレンダーに沿った配信を、貴社に代わって作成</a:t>
            </a:r>
          </a:p>
        </p:txBody>
      </p:sp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71A329C6-D6CA-D19E-C8A2-D6D234F2FA53}"/>
              </a:ext>
            </a:extLst>
          </p:cNvPr>
          <p:cNvCxnSpPr/>
          <p:nvPr/>
        </p:nvCxnSpPr>
        <p:spPr>
          <a:xfrm>
            <a:off x="1519747" y="1452035"/>
            <a:ext cx="6578990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楕円 12">
            <a:extLst>
              <a:ext uri="{FF2B5EF4-FFF2-40B4-BE49-F238E27FC236}">
                <a16:creationId xmlns:a16="http://schemas.microsoft.com/office/drawing/2014/main" id="{718487F9-9129-0E91-A220-B2EF077840F3}"/>
              </a:ext>
            </a:extLst>
          </p:cNvPr>
          <p:cNvSpPr/>
          <p:nvPr/>
        </p:nvSpPr>
        <p:spPr>
          <a:xfrm>
            <a:off x="3756183" y="751045"/>
            <a:ext cx="2022158" cy="589765"/>
          </a:xfrm>
          <a:prstGeom prst="ellipse">
            <a:avLst/>
          </a:prstGeom>
          <a:solidFill>
            <a:schemeClr val="accent1">
              <a:lumMod val="40000"/>
              <a:lumOff val="60000"/>
              <a:alpha val="41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>
                <a:latin typeface="メイリオ"/>
                <a:ea typeface="メイリオ"/>
                <a:cs typeface="メイリオ"/>
              </a:defRPr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メイリオ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メイリオ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メイリオ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メイリオ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メイリオ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メイリオ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メイリオ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メイリオ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メイリオ"/>
              </a:defRPr>
            </a:lvl9pPr>
          </a:lstStyle>
          <a:p>
            <a:pPr algn="ctr"/>
            <a:endParaRPr kumimoji="1" lang="ja-JP" altLang="en-US">
              <a:solidFill>
                <a:schemeClr val="tx1">
                  <a:lumMod val="50000"/>
                  <a:lumOff val="50000"/>
                </a:schemeClr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D2F1E1CA-9D65-A02D-917C-CB72A01459A6}"/>
              </a:ext>
            </a:extLst>
          </p:cNvPr>
          <p:cNvSpPr/>
          <p:nvPr/>
        </p:nvSpPr>
        <p:spPr>
          <a:xfrm>
            <a:off x="1502508" y="687600"/>
            <a:ext cx="6647975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ja-JP">
                <a:latin typeface="メイリオ"/>
                <a:ea typeface="メイリオ"/>
                <a:cs typeface="メイリオ"/>
              </a:defRPr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メイリオ"/>
                <a:ea typeface="メイリオ"/>
                <a:cs typeface="メイリオ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メイリオ"/>
                <a:ea typeface="メイリオ"/>
                <a:cs typeface="メイリオ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メイリオ"/>
                <a:ea typeface="メイリオ"/>
                <a:cs typeface="メイリオ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メイリオ"/>
                <a:ea typeface="メイリオ"/>
                <a:cs typeface="メイリオ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メイリオ"/>
                <a:ea typeface="メイリオ"/>
                <a:cs typeface="メイリオ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メイリオ"/>
                <a:ea typeface="メイリオ"/>
                <a:cs typeface="メイリオ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メイリオ"/>
                <a:ea typeface="メイリオ"/>
                <a:cs typeface="メイリオ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メイリオ"/>
                <a:ea typeface="メイリオ"/>
                <a:cs typeface="メイリオ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メイリオ"/>
                <a:ea typeface="メイリオ"/>
                <a:cs typeface="メイリオ"/>
              </a:defRPr>
            </a:lvl9pPr>
          </a:lstStyle>
          <a:p>
            <a:pPr algn="ctr"/>
            <a:r>
              <a:rPr lang="ja-JP" altLang="en-US" sz="2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構築だけでなく、運用しながら改善する体制</a:t>
            </a:r>
          </a:p>
        </p:txBody>
      </p:sp>
      <p:sp>
        <p:nvSpPr>
          <p:cNvPr id="15" name="下矢印 1">
            <a:extLst>
              <a:ext uri="{FF2B5EF4-FFF2-40B4-BE49-F238E27FC236}">
                <a16:creationId xmlns:a16="http://schemas.microsoft.com/office/drawing/2014/main" id="{453026E5-FC32-AC14-0437-B9F8A5DB717B}"/>
              </a:ext>
            </a:extLst>
          </p:cNvPr>
          <p:cNvSpPr/>
          <p:nvPr/>
        </p:nvSpPr>
        <p:spPr>
          <a:xfrm>
            <a:off x="3379742" y="4715668"/>
            <a:ext cx="3196046" cy="421640"/>
          </a:xfrm>
          <a:prstGeom prst="downArrow">
            <a:avLst>
              <a:gd name="adj1" fmla="val 50000"/>
              <a:gd name="adj2" fmla="val 52758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>
                <a:latin typeface="メイリオ"/>
                <a:ea typeface="メイリオ"/>
                <a:cs typeface="メイリオ"/>
              </a:defRPr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メイリオ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メイリオ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メイリオ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メイリオ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メイリオ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メイリオ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メイリオ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メイリオ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メイリオ"/>
              </a:defRPr>
            </a:lvl9pPr>
          </a:lstStyle>
          <a:p>
            <a:pPr algn="ctr"/>
            <a:endParaRPr kumimoji="1" lang="ja-JP" altLang="en-US">
              <a:solidFill>
                <a:schemeClr val="tx1">
                  <a:lumMod val="50000"/>
                  <a:lumOff val="50000"/>
                </a:schemeClr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ED0D0284-90AC-92C0-335B-D83B919080B0}"/>
              </a:ext>
            </a:extLst>
          </p:cNvPr>
          <p:cNvSpPr/>
          <p:nvPr/>
        </p:nvSpPr>
        <p:spPr>
          <a:xfrm>
            <a:off x="275003" y="5239812"/>
            <a:ext cx="9355994" cy="8671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2225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>
                <a:latin typeface="メイリオ"/>
                <a:ea typeface="メイリオ"/>
                <a:cs typeface="メイリオ"/>
              </a:defRPr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メイリオ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メイリオ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メイリオ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メイリオ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メイリオ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メイリオ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メイリオ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メイリオ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メイリオ"/>
              </a:defRPr>
            </a:lvl9pPr>
          </a:lstStyle>
          <a:p>
            <a:pPr algn="ctr"/>
            <a:r>
              <a:rPr lang="en-US" altLang="ja-JP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③ チャット対応（自動応答の範囲。有人対応（Chat Plus／Call Plus）は別途）</a:t>
            </a:r>
          </a:p>
        </p:txBody>
      </p:sp>
    </p:spTree>
    <p:extLst>
      <p:ext uri="{BB962C8B-B14F-4D97-AF65-F5344CB8AC3E}">
        <p14:creationId xmlns:p14="http://schemas.microsoft.com/office/powerpoint/2010/main" val="97095852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［第4章］運用プラン（6か月〜／税抜）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体制と予算に合わせて、3つのプランから選択可能。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初期費用は初月のみ。2か月目以降は月額のみ。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512000"/>
            <a:ext cx="9043200" cy="3312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82399" y="1564147"/>
            <a:ext cx="2347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プラン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30400" y="1564147"/>
            <a:ext cx="1771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初期費用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02400" y="1564147"/>
            <a:ext cx="220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月額費用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06400" y="1564147"/>
            <a:ext cx="231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2399" y="1960147"/>
            <a:ext cx="2347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松：D 運用代行フルサポート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30400" y="1960147"/>
            <a:ext cx="1771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50万円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2400" y="1960147"/>
            <a:ext cx="220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35万円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06400" y="1960147"/>
            <a:ext cx="231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lang="zh-TW" altLang="en-US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配信の作成・画像制作・月次の分析と改善まで代行</a:t>
            </a:r>
            <a:endParaRPr sz="1200" b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432000" y="2304000"/>
            <a:ext cx="9043200" cy="4608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82399" y="2420947"/>
            <a:ext cx="2347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竹：A コンサル基本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30400" y="2420947"/>
            <a:ext cx="1771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30万円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2400" y="2420947"/>
            <a:ext cx="220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20万円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06400" y="2420947"/>
            <a:ext cx="231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月次レポート・改善のご提案・運用のレクチャー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2399" y="2881747"/>
            <a:ext cx="2347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梅：C 初期設計・構築のみ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30400" y="2881747"/>
            <a:ext cx="1771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60万円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02400" y="2881747"/>
            <a:ext cx="220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0円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06400" y="2881747"/>
            <a:ext cx="231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初期構築・職種別の自動応答・リッチメニュー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2000" y="3888000"/>
            <a:ext cx="4392000" cy="1584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576000" y="3960000"/>
            <a:ext cx="4104000" cy="270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無償で付帯するもの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6000" y="4266000"/>
            <a:ext cx="4104000" cy="1099453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プロフィール／リッチメニュー／あいさつメッセージ／初期アンケート／キーワード自動応答／ステップ配信／セグメント配信／チャットタグ管理／チャット対応（自動応答の範囲）／GAレポート連携／クリエイティブ／定例会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83200" y="3888000"/>
            <a:ext cx="4392000" cy="1584000"/>
          </a:xfrm>
          <a:prstGeom prst="roundRect">
            <a:avLst>
              <a:gd name="adj" fmla="val 10000"/>
            </a:avLst>
          </a:prstGeom>
          <a:solidFill>
            <a:srgbClr val="FDF1E9"/>
          </a:solidFill>
          <a:ln w="1270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5227200" y="3960000"/>
            <a:ext cx="4104000" cy="270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別途費用がかかるもの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27200" y="4266000"/>
            <a:ext cx="4104000" cy="1168703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2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★通知メッセージ　初期10万＋月8万〜＋通数7円</a:t>
            </a:r>
          </a:p>
          <a:p>
            <a:pPr algn="l">
              <a:lnSpc>
                <a:spcPct val="16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ポップアップ（離脱防止）初期1.5万＋月3万</a:t>
            </a:r>
          </a:p>
          <a:p>
            <a:pPr algn="l">
              <a:lnSpc>
                <a:spcPct val="16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サンクスLINE誘導 初期15万＋月3万〜</a:t>
            </a:r>
          </a:p>
          <a:p>
            <a:pPr algn="l">
              <a:lnSpc>
                <a:spcPct val="16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アカウント開設 1万〜／ID連携 20万〜＋月5万〜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2000" y="5598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432000" y="5638152"/>
            <a:ext cx="9043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まずは梅（初期設計・構築のみ・月額0円）から始めることも可能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すべて税抜・6か月〜の契約。開発やツールの導入は、別途費用がかかる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18"/>
          <p:cNvSpPr>
            <a:spLocks noChangeArrowheads="1"/>
          </p:cNvSpPr>
          <p:nvPr/>
        </p:nvSpPr>
        <p:spPr bwMode="auto">
          <a:xfrm>
            <a:off x="1649030" y="5820984"/>
            <a:ext cx="6192837" cy="3736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/>
          <a:p>
            <a:pPr marL="0" lvl="1" fontAlgn="base">
              <a:spcBef>
                <a:spcPct val="20000"/>
              </a:spcBef>
              <a:spcAft>
                <a:spcPct val="0"/>
              </a:spcAft>
              <a:defRPr>
                <a:latin typeface="メイリオ"/>
                <a:ea typeface="メイリオ"/>
                <a:cs typeface="メイリオ"/>
              </a:defRPr>
            </a:pP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株式会社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DYM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〒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141-0032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東京都品川区大崎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1-11-2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ゲートシティ大崎イーストタワー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10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階</a:t>
            </a:r>
            <a:endParaRPr lang="en-US" altLang="ja-JP" sz="831" b="1" dirty="0">
              <a:solidFill>
                <a:prstClr val="black"/>
              </a:solidFill>
              <a:latin typeface="メイリオ"/>
              <a:ea typeface="メイリオ"/>
              <a:cs typeface="メイリオ"/>
            </a:endParaRPr>
          </a:p>
          <a:p>
            <a:pPr marL="0" lvl="1" fontAlgn="base">
              <a:spcBef>
                <a:spcPct val="20000"/>
              </a:spcBef>
              <a:spcAft>
                <a:spcPct val="0"/>
              </a:spcAft>
              <a:defRPr>
                <a:latin typeface="メイリオ"/>
                <a:ea typeface="メイリオ"/>
                <a:cs typeface="メイリオ"/>
              </a:defRPr>
            </a:pP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TEL: 03-5745-0200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FAX: 03-3779-8720 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http://dym.asia   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代表取締役　水谷佑毅</a:t>
            </a:r>
          </a:p>
        </p:txBody>
      </p:sp>
      <p:pic>
        <p:nvPicPr>
          <p:cNvPr id="24" name="図 1"/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1647" r="-11171"/>
          <a:stretch/>
        </p:blipFill>
        <p:spPr bwMode="auto">
          <a:xfrm>
            <a:off x="543897" y="5895365"/>
            <a:ext cx="1100981" cy="2248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テキスト ボックス 2"/>
          <p:cNvSpPr txBox="1"/>
          <p:nvPr/>
        </p:nvSpPr>
        <p:spPr>
          <a:xfrm>
            <a:off x="5070232" y="559776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  <a:defRPr>
                <a:latin typeface="メイリオ"/>
                <a:ea typeface="メイリオ"/>
                <a:cs typeface="メイリオ"/>
              </a:defRPr>
            </a:pPr>
            <a:endParaRPr lang="ja-JP" altLang="en-US">
              <a:solidFill>
                <a:prstClr val="black"/>
              </a:solidFill>
              <a:latin typeface="メイリオ" pitchFamily="34" charset="0"/>
              <a:ea typeface="メイリオ" pitchFamily="50" charset="-128"/>
              <a:cs typeface="メイリオ"/>
            </a:endParaRPr>
          </a:p>
        </p:txBody>
      </p:sp>
      <p:sp>
        <p:nvSpPr>
          <p:cNvPr id="18" name="正方形/長方形 17"/>
          <p:cNvSpPr/>
          <p:nvPr/>
        </p:nvSpPr>
        <p:spPr>
          <a:xfrm>
            <a:off x="2170038" y="989684"/>
            <a:ext cx="556592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>
                <a:latin typeface="メイリオ"/>
                <a:ea typeface="メイリオ"/>
                <a:cs typeface="メイリオ"/>
              </a:defRPr>
            </a:pPr>
            <a:r>
              <a:rPr lang="ja-JP" altLang="en-US" b="1" dirty="0">
                <a:solidFill>
                  <a:prstClr val="black"/>
                </a:solidFill>
                <a:latin typeface="メイリオ" charset="0"/>
                <a:ea typeface="メイリオ" charset="0"/>
                <a:cs typeface="メイリオ" charset="0"/>
              </a:rPr>
              <a:t>貴社の明るい未来に必ず貢献致します。</a:t>
            </a:r>
          </a:p>
        </p:txBody>
      </p:sp>
      <p:sp>
        <p:nvSpPr>
          <p:cNvPr id="14" name="正方形/長方形 13"/>
          <p:cNvSpPr/>
          <p:nvPr/>
        </p:nvSpPr>
        <p:spPr>
          <a:xfrm>
            <a:off x="382695" y="2698377"/>
            <a:ext cx="598220" cy="2058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>
                <a:latin typeface="メイリオ"/>
                <a:ea typeface="メイリオ"/>
                <a:cs typeface="メイリオ"/>
              </a:defRPr>
            </a:pPr>
            <a:r>
              <a:rPr lang="ja-JP" altLang="en-US" sz="738">
                <a:solidFill>
                  <a:srgbClr val="FFFFFF"/>
                </a:solidFill>
                <a:latin typeface="メイリオ" charset="0"/>
                <a:ea typeface="メイリオ" charset="0"/>
                <a:cs typeface="メイリオ" charset="0"/>
              </a:rPr>
              <a:t>本社</a:t>
            </a:r>
          </a:p>
        </p:txBody>
      </p:sp>
      <p:sp>
        <p:nvSpPr>
          <p:cNvPr id="15" name="正方形/長方形 14"/>
          <p:cNvSpPr/>
          <p:nvPr/>
        </p:nvSpPr>
        <p:spPr>
          <a:xfrm>
            <a:off x="368300" y="2355213"/>
            <a:ext cx="756684" cy="2154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>
                <a:latin typeface="メイリオ"/>
                <a:ea typeface="メイリオ"/>
                <a:cs typeface="メイリオ"/>
              </a:defRPr>
            </a:pPr>
            <a:r>
              <a:rPr lang="ja-JP" altLang="en-US" sz="800" dirty="0">
                <a:solidFill>
                  <a:srgbClr val="FFFFFF"/>
                </a:solidFill>
                <a:latin typeface="メイリオ" charset="0"/>
                <a:ea typeface="メイリオ" charset="0"/>
                <a:cs typeface="メイリオ" charset="0"/>
              </a:rPr>
              <a:t>本社</a:t>
            </a:r>
          </a:p>
        </p:txBody>
      </p:sp>
      <p:grpSp>
        <p:nvGrpSpPr>
          <p:cNvPr id="22" name="グループ化 21">
            <a:extLst>
              <a:ext uri="{FF2B5EF4-FFF2-40B4-BE49-F238E27FC236}">
                <a16:creationId xmlns:a16="http://schemas.microsoft.com/office/drawing/2014/main" id="{05A1AABC-CDB8-5B83-4CFD-649967A361BF}"/>
              </a:ext>
            </a:extLst>
          </p:cNvPr>
          <p:cNvGrpSpPr/>
          <p:nvPr/>
        </p:nvGrpSpPr>
        <p:grpSpPr>
          <a:xfrm>
            <a:off x="381002" y="1772817"/>
            <a:ext cx="9143999" cy="3314853"/>
            <a:chOff x="1" y="1772816"/>
            <a:chExt cx="9143999" cy="3314853"/>
          </a:xfrm>
        </p:grpSpPr>
        <p:pic>
          <p:nvPicPr>
            <p:cNvPr id="21" name="図 20" descr="ポーズをとる男性グループ&#10;&#10;自動的に生成された説明">
              <a:extLst>
                <a:ext uri="{FF2B5EF4-FFF2-40B4-BE49-F238E27FC236}">
                  <a16:creationId xmlns:a16="http://schemas.microsoft.com/office/drawing/2014/main" id="{4927F40E-D146-C638-5583-C9DC2984722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42" r="4076"/>
            <a:stretch/>
          </p:blipFill>
          <p:spPr>
            <a:xfrm>
              <a:off x="6973793" y="3518745"/>
              <a:ext cx="2170207" cy="1567781"/>
            </a:xfrm>
            <a:prstGeom prst="rect">
              <a:avLst/>
            </a:prstGeom>
          </p:spPr>
        </p:pic>
        <p:pic>
          <p:nvPicPr>
            <p:cNvPr id="16" name="図 15" descr="白いシャツを着ている男性&#10;&#10;中程度の精度で自動的に生成された説明">
              <a:extLst>
                <a:ext uri="{FF2B5EF4-FFF2-40B4-BE49-F238E27FC236}">
                  <a16:creationId xmlns:a16="http://schemas.microsoft.com/office/drawing/2014/main" id="{2ECDFCA7-8611-D865-F999-FDCD0EC2126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83808" y="3519888"/>
              <a:ext cx="1989985" cy="1567781"/>
            </a:xfrm>
            <a:prstGeom prst="rect">
              <a:avLst/>
            </a:prstGeom>
          </p:spPr>
        </p:pic>
        <p:pic>
          <p:nvPicPr>
            <p:cNvPr id="10" name="図 9" descr="スーツを着た男性たち&#10;&#10;自動的に生成された説明">
              <a:extLst>
                <a:ext uri="{FF2B5EF4-FFF2-40B4-BE49-F238E27FC236}">
                  <a16:creationId xmlns:a16="http://schemas.microsoft.com/office/drawing/2014/main" id="{9D3AD52A-1514-4350-FFDD-09984B3666E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703" r="10363"/>
            <a:stretch/>
          </p:blipFill>
          <p:spPr>
            <a:xfrm>
              <a:off x="7299681" y="1773979"/>
              <a:ext cx="1842624" cy="1745909"/>
            </a:xfrm>
            <a:prstGeom prst="rect">
              <a:avLst/>
            </a:prstGeom>
          </p:spPr>
        </p:pic>
        <p:pic>
          <p:nvPicPr>
            <p:cNvPr id="7" name="図 6" descr="講堂にいる人たち&#10;&#10;中程度の精度で自動的に生成された説明">
              <a:extLst>
                <a:ext uri="{FF2B5EF4-FFF2-40B4-BE49-F238E27FC236}">
                  <a16:creationId xmlns:a16="http://schemas.microsoft.com/office/drawing/2014/main" id="{B1CA0DFF-0DAF-D5BD-8D9F-8AFB103E269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12" t="12879" r="2477"/>
            <a:stretch/>
          </p:blipFill>
          <p:spPr>
            <a:xfrm>
              <a:off x="1" y="1772816"/>
              <a:ext cx="5089778" cy="3314853"/>
            </a:xfrm>
            <a:prstGeom prst="rect">
              <a:avLst/>
            </a:prstGeom>
          </p:spPr>
        </p:pic>
        <p:pic>
          <p:nvPicPr>
            <p:cNvPr id="11" name="図 10" descr="スーツを着た男性グループの写真&#10;&#10;低い精度で自動的に生成された説明">
              <a:extLst>
                <a:ext uri="{FF2B5EF4-FFF2-40B4-BE49-F238E27FC236}">
                  <a16:creationId xmlns:a16="http://schemas.microsoft.com/office/drawing/2014/main" id="{FEFAFF33-EFBF-C67E-586A-08D93AF295F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595" r="6763"/>
            <a:stretch/>
          </p:blipFill>
          <p:spPr>
            <a:xfrm>
              <a:off x="5089779" y="1772836"/>
              <a:ext cx="2215315" cy="1745909"/>
            </a:xfrm>
            <a:prstGeom prst="rect">
              <a:avLst/>
            </a:prstGeom>
          </p:spPr>
        </p:pic>
      </p:grp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38B92EF-519D-929F-4345-5BAC445EF234}"/>
              </a:ext>
            </a:extLst>
          </p:cNvPr>
          <p:cNvSpPr/>
          <p:nvPr/>
        </p:nvSpPr>
        <p:spPr>
          <a:xfrm>
            <a:off x="128016" y="6620256"/>
            <a:ext cx="2852928" cy="237744"/>
          </a:xfrm>
          <a:prstGeom prst="rect">
            <a:avLst/>
          </a:prstGeom>
          <a:solidFill>
            <a:srgbClr val="191F54"/>
          </a:solidFill>
          <a:ln>
            <a:solidFill>
              <a:srgbClr val="1025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949B271-D24D-666E-90F2-EA616E1EABC2}"/>
              </a:ext>
            </a:extLst>
          </p:cNvPr>
          <p:cNvSpPr/>
          <p:nvPr/>
        </p:nvSpPr>
        <p:spPr>
          <a:xfrm>
            <a:off x="368300" y="0"/>
            <a:ext cx="9537700" cy="51497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</p:spTree>
    <p:extLst>
      <p:ext uri="{BB962C8B-B14F-4D97-AF65-F5344CB8AC3E}">
        <p14:creationId xmlns:p14="http://schemas.microsoft.com/office/powerpoint/2010/main" val="4185355464"/>
      </p:ext>
    </p:extLst>
  </p:cSld>
  <p:clrMapOvr>
    <a:masterClrMapping/>
  </p:clrMapOvr>
  <p:transition spd="slow"/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［第1章］現状と課題｜応募の前後で、求職者とのつながりが切れている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求人サイトには月約9,000人が来ている。それでも、応募の前・応募の後・不採用の後でつながりが切れている。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548000"/>
            <a:ext cx="9043200" cy="77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432000" y="1548000"/>
            <a:ext cx="2736000" cy="774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32000" y="1803849"/>
            <a:ext cx="2736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 応募の前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11999" y="1548000"/>
            <a:ext cx="6089903" cy="77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他社と並べて検討し、「あとで応募しよう」と離れる</a:t>
            </a:r>
          </a:p>
        </p:txBody>
      </p:sp>
      <p:sp>
        <p:nvSpPr>
          <p:cNvPr id="9" name="Rectangle 8"/>
          <p:cNvSpPr/>
          <p:nvPr/>
        </p:nvSpPr>
        <p:spPr>
          <a:xfrm>
            <a:off x="432000" y="2430000"/>
            <a:ext cx="9043200" cy="77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432000" y="2430000"/>
            <a:ext cx="2736000" cy="774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32000" y="2685849"/>
            <a:ext cx="2736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 応募フォーム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11999" y="2430000"/>
            <a:ext cx="6089903" cy="77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入力の手間で、途中で離れる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000" y="3311999"/>
            <a:ext cx="9043200" cy="77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432000" y="3311999"/>
            <a:ext cx="2736000" cy="774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32000" y="3567848"/>
            <a:ext cx="2736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 応募の後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11999" y="3311999"/>
            <a:ext cx="6089903" cy="77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日程の連絡に時間がかかり、面接に来ない方が出る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2000" y="4194000"/>
            <a:ext cx="9043200" cy="77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432000" y="4194000"/>
            <a:ext cx="2736000" cy="774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432000" y="4449849"/>
            <a:ext cx="2736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④ 不採用・辞退の後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11999" y="4194000"/>
            <a:ext cx="6089903" cy="77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その職種で合わなかった方との接点が切れる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2000" y="5148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432000" y="5188152"/>
            <a:ext cx="9043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広告を増やさずに、すでにサイトに来ている方をLINEでつなぎ止める</a:t>
            </a:r>
          </a:p>
        </p:txBody>
      </p:sp>
      <p:sp>
        <p:nvSpPr>
          <p:cNvPr id="26" name="注記"/>
          <p:cNvSpPr/>
          <p:nvPr/>
        </p:nvSpPr>
        <p:spPr>
          <a:xfrm>
            <a:off x="429768" y="6245352"/>
            <a:ext cx="904341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 求人サイトの月間UU（8,947）は、貴社からいただいた数値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［第2章］解決策｜希望条件で職種を分け、グループ全体の求人につなぐ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飲食店だけでなく、イベント・警備・施設・正社員まで、ひとつのLINEで職種ごとに案内を分ける。</a:t>
            </a:r>
          </a:p>
        </p:txBody>
      </p:sp>
      <p:sp>
        <p:nvSpPr>
          <p:cNvPr id="4" name="求人サイト"/>
          <p:cNvSpPr/>
          <p:nvPr/>
        </p:nvSpPr>
        <p:spPr>
          <a:xfrm>
            <a:off x="429768" y="2103120"/>
            <a:ext cx="2055114" cy="73152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ja-JP" altLang="en-US" sz="14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求人サイト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10000"/>
              </a:lnSpc>
              <a:buNone/>
            </a:pPr>
            <a:r>
              <a:rPr lang="ja-JP" altLang="en-US" sz="14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月約9,000人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5" name="矢印"/>
          <p:cNvSpPr/>
          <p:nvPr/>
        </p:nvSpPr>
        <p:spPr>
          <a:xfrm>
            <a:off x="2484882" y="2103120"/>
            <a:ext cx="27432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6" name="LINE"/>
          <p:cNvSpPr/>
          <p:nvPr/>
        </p:nvSpPr>
        <p:spPr>
          <a:xfrm>
            <a:off x="2759202" y="2103120"/>
            <a:ext cx="2055114" cy="73152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ja-JP" altLang="en-US" sz="14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10000"/>
              </a:lnSpc>
              <a:buNone/>
            </a:pPr>
            <a:r>
              <a:rPr lang="ja-JP" altLang="en-US" sz="14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友だち追加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矢印"/>
          <p:cNvSpPr/>
          <p:nvPr/>
        </p:nvSpPr>
        <p:spPr>
          <a:xfrm>
            <a:off x="4814316" y="2103120"/>
            <a:ext cx="27432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希望条件を選ぶ"/>
          <p:cNvSpPr/>
          <p:nvPr/>
        </p:nvSpPr>
        <p:spPr>
          <a:xfrm>
            <a:off x="5088636" y="2103120"/>
            <a:ext cx="2055114" cy="73152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ja-JP" altLang="en-US" sz="14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希望条件を選ぶ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10000"/>
              </a:lnSpc>
              <a:buNone/>
            </a:pPr>
            <a:r>
              <a:rPr lang="ja-JP" altLang="en-US" sz="14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働き方・職種・エリア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矢印"/>
          <p:cNvSpPr/>
          <p:nvPr/>
        </p:nvSpPr>
        <p:spPr>
          <a:xfrm>
            <a:off x="7143750" y="2103120"/>
            <a:ext cx="27432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職種ごとに"/>
          <p:cNvSpPr/>
          <p:nvPr/>
        </p:nvSpPr>
        <p:spPr>
          <a:xfrm>
            <a:off x="7418070" y="2103120"/>
            <a:ext cx="2055114" cy="7315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職種ごとに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10000"/>
              </a:lnSpc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案内を分ける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1" name="矢印"/>
          <p:cNvSpPr/>
          <p:nvPr/>
        </p:nvSpPr>
        <p:spPr>
          <a:xfrm>
            <a:off x="7418070" y="2834640"/>
            <a:ext cx="2055114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▼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飲食店スタッフ"/>
          <p:cNvSpPr/>
          <p:nvPr/>
        </p:nvSpPr>
        <p:spPr>
          <a:xfrm>
            <a:off x="429768" y="3200400"/>
            <a:ext cx="2831592" cy="68580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ja-JP" altLang="en-US" sz="14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飲食店スタッフ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イベント設営・警備・"/>
          <p:cNvSpPr/>
          <p:nvPr/>
        </p:nvSpPr>
        <p:spPr>
          <a:xfrm>
            <a:off x="3535680" y="3200400"/>
            <a:ext cx="2831592" cy="68580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ja-JP" altLang="en-US" sz="14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イベント設営・警備・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10000"/>
              </a:lnSpc>
              <a:buNone/>
            </a:pPr>
            <a:r>
              <a:rPr lang="ja-JP" altLang="en-US" sz="14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施設スタッフ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正社員・総合職"/>
          <p:cNvSpPr/>
          <p:nvPr/>
        </p:nvSpPr>
        <p:spPr>
          <a:xfrm>
            <a:off x="6641592" y="3200400"/>
            <a:ext cx="2831592" cy="68580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ja-JP" altLang="en-US" sz="14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正社員・総合職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5" name="補足"/>
          <p:cNvSpPr/>
          <p:nvPr/>
        </p:nvSpPr>
        <p:spPr>
          <a:xfrm>
            <a:off x="429768" y="3931920"/>
            <a:ext cx="9043416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職種ごとに、新着の求人・面接のお知らせ・よくある質問を届ける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6" name="示唆"/>
          <p:cNvSpPr/>
          <p:nvPr/>
        </p:nvSpPr>
        <p:spPr>
          <a:xfrm>
            <a:off x="429768" y="4434840"/>
            <a:ext cx="9043416" cy="4114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6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不採用・辞退でも、グループ内の別の職種を案内できる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［第4章］概算お見積り：6か月目に追える人数679人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竹（コンサル基本）で運用した場合の費用と、6か月後の見込み。</a:t>
            </a:r>
          </a:p>
        </p:txBody>
      </p:sp>
      <p:sp>
        <p:nvSpPr>
          <p:cNvPr id="341" name="正方形/長方形 4"/>
          <p:cNvSpPr/>
          <p:nvPr/>
        </p:nvSpPr>
        <p:spPr>
          <a:xfrm>
            <a:off x="261360" y="1517760"/>
            <a:ext cx="2899440" cy="3837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初期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42" name="正方形/長方形 6"/>
          <p:cNvSpPr/>
          <p:nvPr/>
        </p:nvSpPr>
        <p:spPr>
          <a:xfrm>
            <a:off x="3337560" y="1517760"/>
            <a:ext cx="2899440" cy="3837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月次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43" name="正方形/長方形 7"/>
          <p:cNvSpPr/>
          <p:nvPr/>
        </p:nvSpPr>
        <p:spPr>
          <a:xfrm>
            <a:off x="261360" y="1956960"/>
            <a:ext cx="2899440" cy="676440"/>
          </a:xfrm>
          <a:prstGeom prst="rect">
            <a:avLst/>
          </a:prstGeom>
          <a:noFill/>
          <a:ln>
            <a:solidFill>
              <a:srgbClr val="223852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¥495,000〜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44" name="正方形/長方形 9"/>
          <p:cNvSpPr/>
          <p:nvPr/>
        </p:nvSpPr>
        <p:spPr>
          <a:xfrm>
            <a:off x="3337560" y="1956960"/>
            <a:ext cx="2899440" cy="676440"/>
          </a:xfrm>
          <a:prstGeom prst="rect">
            <a:avLst/>
          </a:prstGeom>
          <a:noFill/>
          <a:ln>
            <a:solidFill>
              <a:srgbClr val="223852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¥265,000〜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45" name="矢印: 右 14"/>
          <p:cNvSpPr/>
          <p:nvPr/>
        </p:nvSpPr>
        <p:spPr>
          <a:xfrm>
            <a:off x="6379200" y="1956960"/>
            <a:ext cx="365400" cy="279756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46" name="正方形/長方形 16"/>
          <p:cNvSpPr/>
          <p:nvPr/>
        </p:nvSpPr>
        <p:spPr>
          <a:xfrm>
            <a:off x="6744960" y="1517760"/>
            <a:ext cx="2899440" cy="38376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6</a:t>
            </a:r>
            <a:r>
              <a:rPr lang="ja-JP" sz="14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か月後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47" name="テキスト ボックス 18"/>
          <p:cNvSpPr/>
          <p:nvPr/>
        </p:nvSpPr>
        <p:spPr>
          <a:xfrm>
            <a:off x="261360" y="2688480"/>
            <a:ext cx="289908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&lt;</a:t>
            </a:r>
            <a:r>
              <a:rPr lang="ja-JP" sz="14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実施内容</a:t>
            </a: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48" name="テキスト ボックス 20"/>
          <p:cNvSpPr/>
          <p:nvPr/>
        </p:nvSpPr>
        <p:spPr>
          <a:xfrm>
            <a:off x="3337560" y="2688480"/>
            <a:ext cx="289908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&lt;</a:t>
            </a:r>
            <a:r>
              <a:rPr lang="ja-JP" sz="14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実施内容</a:t>
            </a: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49" name="正方形/長方形 24"/>
          <p:cNvSpPr/>
          <p:nvPr/>
        </p:nvSpPr>
        <p:spPr>
          <a:xfrm>
            <a:off x="3383280" y="309060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企画配信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50" name="正方形/長方形 28"/>
          <p:cNvSpPr/>
          <p:nvPr/>
        </p:nvSpPr>
        <p:spPr>
          <a:xfrm>
            <a:off x="4846320" y="309060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zh-CN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月3回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51" name="正方形/長方形 32"/>
          <p:cNvSpPr/>
          <p:nvPr/>
        </p:nvSpPr>
        <p:spPr>
          <a:xfrm>
            <a:off x="3383280" y="3579840"/>
            <a:ext cx="1425960" cy="4842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36576" tIns="0" rIns="36576" bIns="0" anchor="ctr">
            <a:noAutofit/>
          </a:bodyPr>
          <a:lstStyle/>
          <a:p>
            <a:pPr algn="ctr" defTabSz="914400">
              <a:lnSpc>
                <a:spcPct val="90000"/>
              </a:lnSpc>
            </a:pPr>
            <a:r>
              <a:rPr lang="ja-JP" sz="12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ステップ配信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52" name="正方形/長方形 36"/>
          <p:cNvSpPr/>
          <p:nvPr/>
        </p:nvSpPr>
        <p:spPr>
          <a:xfrm>
            <a:off x="4846320" y="3579840"/>
            <a:ext cx="1343880" cy="4842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36576" tIns="0" rIns="36576" bIns="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2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3通の改善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53" name="正方形/長方形 40"/>
          <p:cNvSpPr/>
          <p:nvPr/>
        </p:nvSpPr>
        <p:spPr>
          <a:xfrm>
            <a:off x="3383280" y="406908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職種ごとの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配信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54" name="正方形/長方形 45"/>
          <p:cNvSpPr/>
          <p:nvPr/>
        </p:nvSpPr>
        <p:spPr>
          <a:xfrm>
            <a:off x="4846320" y="406908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新着の案内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55" name="正方形/長方形 49"/>
          <p:cNvSpPr/>
          <p:nvPr/>
        </p:nvSpPr>
        <p:spPr>
          <a:xfrm>
            <a:off x="3383280" y="455832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友だちの入口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56" name="正方形/長方形 53"/>
          <p:cNvSpPr/>
          <p:nvPr/>
        </p:nvSpPr>
        <p:spPr>
          <a:xfrm>
            <a:off x="4846320" y="455832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運用・改善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57" name="正方形/長方形 57"/>
          <p:cNvSpPr/>
          <p:nvPr/>
        </p:nvSpPr>
        <p:spPr>
          <a:xfrm>
            <a:off x="3383280" y="504756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定例会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58" name="正方形/長方形 61"/>
          <p:cNvSpPr/>
          <p:nvPr/>
        </p:nvSpPr>
        <p:spPr>
          <a:xfrm>
            <a:off x="4846320" y="504756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月1回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59" name="正方形/長方形 65"/>
          <p:cNvSpPr/>
          <p:nvPr/>
        </p:nvSpPr>
        <p:spPr>
          <a:xfrm>
            <a:off x="3383280" y="553680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効果の確認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60" name="正方形/長方形 69"/>
          <p:cNvSpPr/>
          <p:nvPr/>
        </p:nvSpPr>
        <p:spPr>
          <a:xfrm>
            <a:off x="4846320" y="553680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応募率・面接率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61" name="正方形/長方形 79"/>
          <p:cNvSpPr/>
          <p:nvPr/>
        </p:nvSpPr>
        <p:spPr>
          <a:xfrm>
            <a:off x="6812280" y="1956960"/>
            <a:ext cx="1425960" cy="402120"/>
          </a:xfrm>
          <a:prstGeom prst="rect">
            <a:avLst/>
          </a:prstGeom>
          <a:solidFill>
            <a:srgbClr val="04FA0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45000" rIns="4572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1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追える人数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62" name="正方形/長方形 81"/>
          <p:cNvSpPr/>
          <p:nvPr/>
        </p:nvSpPr>
        <p:spPr>
          <a:xfrm>
            <a:off x="6812280" y="2432160"/>
            <a:ext cx="1425960" cy="402120"/>
          </a:xfrm>
          <a:prstGeom prst="rect">
            <a:avLst/>
          </a:prstGeom>
          <a:solidFill>
            <a:srgbClr val="04FA0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45000" rIns="4572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1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友だちの数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64" name="正方形/長方形 85"/>
          <p:cNvSpPr/>
          <p:nvPr/>
        </p:nvSpPr>
        <p:spPr>
          <a:xfrm>
            <a:off x="6812280" y="2907792"/>
            <a:ext cx="1425960" cy="402120"/>
          </a:xfrm>
          <a:prstGeom prst="rect">
            <a:avLst/>
          </a:prstGeom>
          <a:solidFill>
            <a:srgbClr val="04FA0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45000" rIns="4572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zh-CN" sz="1400" b="1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応募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65" name="正方形/長方形 11"/>
          <p:cNvSpPr/>
          <p:nvPr/>
        </p:nvSpPr>
        <p:spPr>
          <a:xfrm>
            <a:off x="307080" y="309060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離脱防止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ポップアップ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66" name="正方形/長方形 13"/>
          <p:cNvSpPr/>
          <p:nvPr/>
        </p:nvSpPr>
        <p:spPr>
          <a:xfrm>
            <a:off x="1770120" y="309060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zh-CN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導入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67" name="正方形/長方形 17"/>
          <p:cNvSpPr/>
          <p:nvPr/>
        </p:nvSpPr>
        <p:spPr>
          <a:xfrm>
            <a:off x="307080" y="357984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サンクス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LINE誘導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68" name="正方形/長方形 21"/>
          <p:cNvSpPr/>
          <p:nvPr/>
        </p:nvSpPr>
        <p:spPr>
          <a:xfrm>
            <a:off x="1770120" y="357984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導入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69" name="正方形/長方形 25"/>
          <p:cNvSpPr/>
          <p:nvPr/>
        </p:nvSpPr>
        <p:spPr>
          <a:xfrm>
            <a:off x="307080" y="406908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ステップ配信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70" name="正方形/長方形 29"/>
          <p:cNvSpPr/>
          <p:nvPr/>
        </p:nvSpPr>
        <p:spPr>
          <a:xfrm>
            <a:off x="1770120" y="406908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3通を構築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71" name="正方形/長方形 33"/>
          <p:cNvSpPr/>
          <p:nvPr/>
        </p:nvSpPr>
        <p:spPr>
          <a:xfrm>
            <a:off x="307080" y="455832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職種ごとの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配信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72" name="正方形/長方形 37"/>
          <p:cNvSpPr/>
          <p:nvPr/>
        </p:nvSpPr>
        <p:spPr>
          <a:xfrm>
            <a:off x="1770120" y="455832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希望条件で設計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73" name="正方形/長方形 41"/>
          <p:cNvSpPr/>
          <p:nvPr/>
        </p:nvSpPr>
        <p:spPr>
          <a:xfrm>
            <a:off x="307080" y="504756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LINE公式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アカウント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74" name="正方形/長方形 46"/>
          <p:cNvSpPr/>
          <p:nvPr/>
        </p:nvSpPr>
        <p:spPr>
          <a:xfrm>
            <a:off x="1770120" y="504756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開設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75" name="テキスト ボックス 10"/>
          <p:cNvSpPr/>
          <p:nvPr/>
        </p:nvSpPr>
        <p:spPr>
          <a:xfrm>
            <a:off x="8256960" y="1956960"/>
            <a:ext cx="1325520" cy="40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zh-CN" sz="1400" b="1" u="none" strike="noStrike">
                <a:solidFill>
                  <a:srgbClr val="002060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679人</a:t>
            </a:r>
            <a:endParaRPr lang="en-US" sz="1400" b="0" u="none" strike="noStrike">
              <a:solidFill>
                <a:srgbClr val="002060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76" name="テキスト ボックス 15"/>
          <p:cNvSpPr/>
          <p:nvPr/>
        </p:nvSpPr>
        <p:spPr>
          <a:xfrm>
            <a:off x="8256960" y="2432160"/>
            <a:ext cx="1325520" cy="40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2060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1,103人</a:t>
            </a:r>
            <a:endParaRPr lang="en-US" sz="1400" b="0" u="none" strike="noStrike">
              <a:solidFill>
                <a:srgbClr val="002060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78" name="テキスト ボックス 26"/>
          <p:cNvSpPr/>
          <p:nvPr/>
        </p:nvSpPr>
        <p:spPr>
          <a:xfrm>
            <a:off x="8256960" y="2907792"/>
            <a:ext cx="1325520" cy="40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2060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12件/6か月</a:t>
            </a:r>
            <a:endParaRPr lang="en-US" sz="1400" b="0" u="none" strike="noStrike">
              <a:solidFill>
                <a:srgbClr val="002060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79" name="注記"/>
          <p:cNvSpPr/>
          <p:nvPr/>
        </p:nvSpPr>
        <p:spPr>
          <a:xfrm>
            <a:off x="429768" y="6245352"/>
            <a:ext cx="9043416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 求人サイトの月間UU（8,947）をもとに、友だちの入口ごとの一般的な割合で計算。サイトからの応募は仮に月134件。追える人数＝ブロックされずに届く友だちの数。費用は税抜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141784</TotalTime>
  <Words>4425</Words>
  <Application>Microsoft Office PowerPoint</Application>
  <PresentationFormat>A4 210 x 297 mm</PresentationFormat>
  <Paragraphs>906</Paragraphs>
  <Slides>36</Slides>
  <Notes>3</Notes>
  <HiddenSlides>17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36</vt:i4>
      </vt:variant>
    </vt:vector>
  </HeadingPairs>
  <TitlesOfParts>
    <vt:vector size="43" baseType="lpstr">
      <vt:lpstr>Meiryo</vt:lpstr>
      <vt:lpstr>Meiryo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1927</cp:revision>
  <cp:lastPrinted>2022-11-01T11:38:14Z</cp:lastPrinted>
  <dcterms:created xsi:type="dcterms:W3CDTF">2015-09-04T09:21:15Z</dcterms:created>
  <dcterms:modified xsi:type="dcterms:W3CDTF">2026-10-07T06:05:07Z</dcterms:modified>
</cp:coreProperties>
</file>