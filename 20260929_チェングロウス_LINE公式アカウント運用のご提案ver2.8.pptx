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4" r:id="rId1"/>
    <p:sldMasterId id="2147483687" r:id="rId2"/>
  </p:sldMasterIdLst>
  <p:notesMasterIdLst>
    <p:notesMasterId r:id="rId28"/>
  </p:notesMasterIdLst>
  <p:handoutMasterIdLst>
    <p:handoutMasterId r:id="rId29"/>
  </p:handoutMasterIdLst>
  <p:sldIdLst>
    <p:sldId id="2363" r:id="rId3"/>
    <p:sldId id="2721" r:id="rId4"/>
    <p:sldId id="3012" r:id="rId34"/>
    <p:sldId id="2971" r:id="rId5"/>
    <p:sldId id="2972" r:id="rId6"/>
    <p:sldId id="2904" r:id="rId7"/>
    <p:sldId id="3007" r:id="rId8"/>
    <p:sldId id="2987" r:id="rId9"/>
    <p:sldId id="2999" r:id="rId10"/>
    <p:sldId id="3013" r:id="rId35"/>
    <p:sldId id="2997" r:id="rId11"/>
    <p:sldId id="2996" r:id="rId12"/>
    <p:sldId id="2973" r:id="rId13"/>
    <p:sldId id="3014" r:id="rId36"/>
    <p:sldId id="3008" r:id="rId14"/>
    <p:sldId id="3009" r:id="rId15"/>
    <p:sldId id="3010" r:id="rId16"/>
    <p:sldId id="3011" r:id="rId17"/>
    <p:sldId id="3015" r:id="rId37"/>
    <p:sldId id="2968" r:id="rId18"/>
    <p:sldId id="2908" r:id="rId19"/>
    <p:sldId id="2990" r:id="rId20"/>
    <p:sldId id="3016" r:id="rId38"/>
    <p:sldId id="2986" r:id="rId21"/>
    <p:sldId id="2991" r:id="rId22"/>
    <p:sldId id="3017" r:id="rId39"/>
    <p:sldId id="2989" r:id="rId23"/>
    <p:sldId id="2563" r:id="rId24"/>
    <p:sldId id="2959" r:id="rId25"/>
    <p:sldId id="2995" r:id="rId26"/>
    <p:sldId id="1169" r:id="rId27"/>
  </p:sldIdLst>
  <p:sldSz cx="9906000" cy="6858000" type="A4"/>
  <p:notesSz cx="6807200" cy="9939338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158" userDrawn="1">
          <p15:clr>
            <a:srgbClr val="A4A3A4"/>
          </p15:clr>
        </p15:guide>
        <p15:guide id="2" pos="308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4FA0A"/>
    <a:srgbClr val="173559"/>
    <a:srgbClr val="FDFDFD"/>
    <a:srgbClr val="2080FF"/>
    <a:srgbClr val="1D8DFF"/>
    <a:srgbClr val="515457"/>
    <a:srgbClr val="F6A454"/>
    <a:srgbClr val="EAEEF4"/>
    <a:srgbClr val="2D6CB9"/>
    <a:srgbClr val="D1D9E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中間スタイル 2 - アクセント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B301B821-A1FF-4177-AEE7-76D212191A09}" styleName="中間スタイル 1 - アクセント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69012ECD-51FC-41F1-AA8D-1B2483CD663E}" styleName="淡色スタイル 2 - アクセント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157" autoAdjust="0"/>
    <p:restoredTop sz="94424" autoAdjust="0"/>
  </p:normalViewPr>
  <p:slideViewPr>
    <p:cSldViewPr snapToGrid="0">
      <p:cViewPr varScale="1">
        <p:scale>
          <a:sx n="74" d="100"/>
          <a:sy n="74" d="100"/>
        </p:scale>
        <p:origin x="784" y="36"/>
      </p:cViewPr>
      <p:guideLst>
        <p:guide orient="horz" pos="3158"/>
        <p:guide pos="308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3072"/>
    </p:cViewPr>
  </p:sorterViewPr>
  <p:notesViewPr>
    <p:cSldViewPr snapToGrid="0">
      <p:cViewPr varScale="1">
        <p:scale>
          <a:sx n="79" d="100"/>
          <a:sy n="79" d="100"/>
        </p:scale>
        <p:origin x="4014" y="102"/>
      </p:cViewPr>
      <p:guideLst/>
    </p:cSldViewPr>
  </p:notesViewPr>
  <p:gridSpacing cx="1080001" cy="1080001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16.xml"/><Relationship Id="rId19" Type="http://schemas.openxmlformats.org/officeDocument/2006/relationships/slide" Target="slides/slide17.xml"/><Relationship Id="rId20" Type="http://schemas.openxmlformats.org/officeDocument/2006/relationships/slide" Target="slides/slide18.xml"/><Relationship Id="rId21" Type="http://schemas.openxmlformats.org/officeDocument/2006/relationships/slide" Target="slides/slide19.xml"/><Relationship Id="rId22" Type="http://schemas.openxmlformats.org/officeDocument/2006/relationships/slide" Target="slides/slide20.xml"/><Relationship Id="rId23" Type="http://schemas.openxmlformats.org/officeDocument/2006/relationships/slide" Target="slides/slide21.xml"/><Relationship Id="rId24" Type="http://schemas.openxmlformats.org/officeDocument/2006/relationships/slide" Target="slides/slide22.xml"/><Relationship Id="rId25" Type="http://schemas.openxmlformats.org/officeDocument/2006/relationships/slide" Target="slides/slide23.xml"/><Relationship Id="rId26" Type="http://schemas.openxmlformats.org/officeDocument/2006/relationships/slide" Target="slides/slide24.xml"/><Relationship Id="rId27" Type="http://schemas.openxmlformats.org/officeDocument/2006/relationships/slide" Target="slides/slide25.xml"/><Relationship Id="rId28" Type="http://schemas.openxmlformats.org/officeDocument/2006/relationships/notesMaster" Target="notesMasters/notesMaster1.xml"/><Relationship Id="rId29" Type="http://schemas.openxmlformats.org/officeDocument/2006/relationships/handoutMaster" Target="handoutMasters/handout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Relationship Id="rId34" Type="http://schemas.openxmlformats.org/officeDocument/2006/relationships/slide" Target="slides/slide26.xml"/><Relationship Id="rId35" Type="http://schemas.openxmlformats.org/officeDocument/2006/relationships/slide" Target="slides/slide27.xml"/><Relationship Id="rId36" Type="http://schemas.openxmlformats.org/officeDocument/2006/relationships/slide" Target="slides/slide28.xml"/><Relationship Id="rId37" Type="http://schemas.openxmlformats.org/officeDocument/2006/relationships/slide" Target="slides/slide29.xml"/><Relationship Id="rId38" Type="http://schemas.openxmlformats.org/officeDocument/2006/relationships/slide" Target="slides/slide30.xml"/><Relationship Id="rId39" Type="http://schemas.openxmlformats.org/officeDocument/2006/relationships/slide" Target="slides/slide31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フッター プレースホルダー 3"/>
          <p:cNvSpPr>
            <a:spLocks noGrp="1"/>
          </p:cNvSpPr>
          <p:nvPr>
            <p:ph type="ftr" sz="quarter" idx="2"/>
          </p:nvPr>
        </p:nvSpPr>
        <p:spPr>
          <a:xfrm>
            <a:off x="0" y="9441662"/>
            <a:ext cx="2949420" cy="497676"/>
          </a:xfrm>
          <a:prstGeom prst="rect">
            <a:avLst/>
          </a:prstGeom>
        </p:spPr>
        <p:txBody>
          <a:bodyPr vert="horz" lIns="90561" tIns="45280" rIns="90561" bIns="4528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5" name="スライド番号プレースホルダー 4"/>
          <p:cNvSpPr>
            <a:spLocks noGrp="1"/>
          </p:cNvSpPr>
          <p:nvPr>
            <p:ph type="sldNum" sz="quarter" idx="3"/>
          </p:nvPr>
        </p:nvSpPr>
        <p:spPr>
          <a:xfrm>
            <a:off x="3856210" y="9441662"/>
            <a:ext cx="2949420" cy="497676"/>
          </a:xfrm>
          <a:prstGeom prst="rect">
            <a:avLst/>
          </a:prstGeom>
        </p:spPr>
        <p:txBody>
          <a:bodyPr vert="horz" lIns="90561" tIns="45280" rIns="90561" bIns="45280" rtlCol="0" anchor="b"/>
          <a:lstStyle>
            <a:lvl1pPr algn="r">
              <a:defRPr sz="1200"/>
            </a:lvl1pPr>
          </a:lstStyle>
          <a:p>
            <a:fld id="{7B45B759-5475-4693-BFD4-53BF6401E48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5953079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1" y="2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55082" y="2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/>
          <a:lstStyle>
            <a:lvl1pPr algn="r">
              <a:defRPr sz="1200"/>
            </a:lvl1pPr>
          </a:lstStyle>
          <a:p>
            <a:fld id="{6AF8158D-F6B1-45E0-9831-E70689DC8490}" type="datetimeFigureOut">
              <a:rPr kumimoji="1" lang="ja-JP" altLang="en-US" smtClean="0"/>
              <a:t>2026/10/2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981075" y="1243013"/>
            <a:ext cx="4845050" cy="33543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529" tIns="45765" rIns="91529" bIns="45765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0402" y="4782901"/>
            <a:ext cx="5446396" cy="3913426"/>
          </a:xfrm>
          <a:prstGeom prst="rect">
            <a:avLst/>
          </a:prstGeom>
        </p:spPr>
        <p:txBody>
          <a:bodyPr vert="horz" lIns="91529" tIns="45765" rIns="91529" bIns="45765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1" y="9441817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55082" y="9441817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 anchor="b"/>
          <a:lstStyle>
            <a:lvl1pPr algn="r">
              <a:defRPr sz="1200"/>
            </a:lvl1pPr>
          </a:lstStyle>
          <a:p>
            <a:fld id="{022E43C0-6795-4B13-B37C-259C826D4B6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409189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215D0A-BA72-DE45-32FA-363803F140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27D2F8A3-D4B3-B9E6-A613-A157696B87F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933FBD4A-B575-3375-091A-F6A24B5A9BD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4CAEAEB9-E37C-569F-CBB7-45D65E2A090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22E43C0-6795-4B13-B37C-259C826D4B6A}" type="slidenum">
              <a:rPr kumimoji="1" lang="ja-JP" altLang="en-US" smtClean="0"/>
              <a:t>3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2384761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681540-B398-8C02-E1F2-1F1C4798CC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2A82C74D-328C-FB0E-E710-C92A52BEF4B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175EB1E7-3A4C-2E0A-CA67-686800FA87A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2173A52D-F6CC-DC20-5CFE-D4EBA25ECCB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22E43C0-6795-4B13-B37C-259C826D4B6A}" type="slidenum">
              <a:rPr kumimoji="1" lang="ja-JP" altLang="en-US" smtClean="0"/>
              <a:t>4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3798680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87BDD3-88EE-99A9-AEE2-C1F41DDABD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650017B6-5C78-4075-2708-AC5DB83D5C7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8ECFD86C-83D9-B8F9-9012-A14834B2031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602F5ACB-1F4C-FA7D-D366-8DCBB1214FD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22E43C0-6795-4B13-B37C-259C826D4B6A}" type="slidenum">
              <a:rPr kumimoji="1" lang="ja-JP" altLang="en-US" smtClean="0"/>
              <a:t>7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9133521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0880EF-6C8C-B780-9BB3-1B0757C006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EDAB9840-7942-E115-501A-18129D77179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B2A1841C-729C-28E2-58FF-5212B200D2B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C47DBBA-098F-116B-BB87-D1F9D32E060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22E43C0-6795-4B13-B37C-259C826D4B6A}" type="slidenum">
              <a:rPr kumimoji="1" lang="ja-JP" altLang="en-US" smtClean="0"/>
              <a:t>8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9081846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28432E-C2C6-89CF-C006-DD360C6CBC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EB7CA1C0-54B2-C273-9EFA-4A233AA33F5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5C6AE94C-3A31-DE43-5CF3-F8B06624D4B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C92184BA-3FBD-5E23-D138-23E1190BD57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22E43C0-6795-4B13-B37C-259C826D4B6A}" type="slidenum">
              <a:rPr kumimoji="1" lang="ja-JP" altLang="en-US" smtClean="0"/>
              <a:t>9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8384172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609F94-460F-5A9A-D53E-BD9AF25C60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0880BBC6-A0FB-42D9-3A8A-800D9E47CF3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87DCB781-2099-65DC-EA96-CC827630AFB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72154FB-F3CF-6922-2040-70A35BD97D6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22E43C0-6795-4B13-B37C-259C826D4B6A}" type="slidenum">
              <a:rPr kumimoji="1" lang="ja-JP" altLang="en-US" smtClean="0"/>
              <a:t>10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2359895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98DFB9-1A0E-AC56-86AB-C554ECA590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16E74640-8F62-6E74-5A21-E69A7415BF6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A566DD76-369D-9DB0-5CDC-B936C94EBB6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AAB7A0C4-A336-4C2C-E97A-0E6D7798D43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22E43C0-6795-4B13-B37C-259C826D4B6A}" type="slidenum">
              <a:rPr kumimoji="1" lang="ja-JP" altLang="en-US" smtClean="0"/>
              <a:t>11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4964865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FBE411-4324-1BAD-C78B-91DF91FD9C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4D549732-A76E-5601-F486-7A42B1789DE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03275E6F-98B5-9B49-8F3C-8CAF75C8D6E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E553E365-D354-3F82-CA83-108FC9376A6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22E43C0-6795-4B13-B37C-259C826D4B6A}" type="slidenum">
              <a:rPr kumimoji="1" lang="ja-JP" altLang="en-US" smtClean="0"/>
              <a:t>18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1559147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9CAC78-50A4-F913-B3AF-274D32241D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47EBEBB5-128F-0CAF-8FD7-D2192091613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779E3D02-55AC-2638-9F09-898F0C8E633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B51B9F10-F34C-A78C-BAAF-5494CD58A78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22E43C0-6795-4B13-B37C-259C826D4B6A}" type="slidenum">
              <a:rPr kumimoji="1" lang="ja-JP" altLang="en-US" smtClean="0"/>
              <a:t>19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98545389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CDBF5B-1845-D193-7974-D86F6501AA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B241EA19-E230-7BF9-50E1-64D71F07CF8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00FCC320-6462-2E53-372E-51E35D6A4C3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91D45867-3EDE-BF64-D973-FA5EA5D84F7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22E43C0-6795-4B13-B37C-259C826D4B6A}" type="slidenum">
              <a:rPr kumimoji="1" lang="ja-JP" altLang="en-US" smtClean="0"/>
              <a:t>20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5149959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FB00FA-BE78-95FE-0350-A4F0396FFF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0FC15E1A-F54C-3203-065A-E98A027A099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C9AE28B8-9549-F5B4-6969-5885B85CCC6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2C20ED0-F80D-F8F8-F1CB-2D28DC68BCA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22E43C0-6795-4B13-B37C-259C826D4B6A}" type="slidenum">
              <a:rPr kumimoji="1" lang="ja-JP" altLang="en-US" smtClean="0"/>
              <a:t>24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189548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フッター プレースホルダー 3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 defTabSz="956886">
              <a:defRPr/>
            </a:pPr>
            <a:endParaRPr lang="ja-JP" altLang="en-US">
              <a:solidFill>
                <a:prstClr val="black"/>
              </a:solidFill>
              <a:latin typeface="Calibri"/>
              <a:ea typeface="ＭＳ Ｐゴシック" panose="020B0600070205080204" pitchFamily="50" charset="-128"/>
            </a:endParaRPr>
          </a:p>
        </p:txBody>
      </p:sp>
      <p:sp>
        <p:nvSpPr>
          <p:cNvPr id="5" name="スライド番号プレースホルダー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defTabSz="956886">
              <a:defRPr/>
            </a:pPr>
            <a:fld id="{929202D6-C1F5-472A-A72F-285F233F82C2}" type="slidenum">
              <a:rPr lang="ja-JP" altLang="en-US">
                <a:solidFill>
                  <a:prstClr val="black"/>
                </a:solidFill>
                <a:latin typeface="Calibri"/>
                <a:ea typeface="ＭＳ Ｐゴシック" panose="020B0600070205080204" pitchFamily="50" charset="-128"/>
              </a:rPr>
              <a:pPr defTabSz="956886">
                <a:defRPr/>
              </a:pPr>
              <a:t>25</a:t>
            </a:fld>
            <a:endParaRPr lang="ja-JP" altLang="en-US">
              <a:solidFill>
                <a:prstClr val="black"/>
              </a:solidFill>
              <a:latin typeface="Calibri"/>
              <a:ea typeface="ＭＳ Ｐゴシック" panose="020B0600070205080204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7920873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/>
          <p:cNvSpPr/>
          <p:nvPr userDrawn="1"/>
        </p:nvSpPr>
        <p:spPr>
          <a:xfrm>
            <a:off x="9398000" y="6591300"/>
            <a:ext cx="419100" cy="266700"/>
          </a:xfrm>
          <a:prstGeom prst="rect">
            <a:avLst/>
          </a:prstGeom>
          <a:solidFill>
            <a:srgbClr val="191F5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58107768"/>
      </p:ext>
    </p:extLst>
  </p:cSld>
  <p:clrMapOvr>
    <a:masterClrMapping/>
  </p:clrMapOvr>
  <p:hf hd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4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直線コネクタ 4"/>
          <p:cNvCxnSpPr/>
          <p:nvPr/>
        </p:nvCxnSpPr>
        <p:spPr>
          <a:xfrm>
            <a:off x="0" y="548680"/>
            <a:ext cx="9906000" cy="0"/>
          </a:xfrm>
          <a:prstGeom prst="line">
            <a:avLst/>
          </a:prstGeom>
          <a:ln>
            <a:solidFill>
              <a:srgbClr val="191F5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正方形/長方形 6"/>
          <p:cNvSpPr/>
          <p:nvPr/>
        </p:nvSpPr>
        <p:spPr>
          <a:xfrm>
            <a:off x="0" y="0"/>
            <a:ext cx="451204" cy="548680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800">
              <a:solidFill>
                <a:prstClr val="whit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58189266"/>
      </p:ext>
    </p:extLst>
  </p:cSld>
  <p:clrMapOvr>
    <a:masterClrMapping/>
  </p:clrMapOvr>
  <p:hf hd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8521234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Relationship Id="rId5" Type="http://schemas.openxmlformats.org/officeDocument/2006/relationships/image" Target="../media/image1.png"/><Relationship Id="rId6" Type="http://schemas.openxmlformats.org/officeDocument/2006/relationships/image" Target="../media/image2.pn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image" Target="../media/image3.em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51357" y="72255"/>
            <a:ext cx="1598627" cy="424153"/>
          </a:xfrm>
          <a:prstGeom prst="rect">
            <a:avLst/>
          </a:prstGeom>
        </p:spPr>
      </p:pic>
      <p:pic>
        <p:nvPicPr>
          <p:cNvPr id="5" name="図 4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51355" y="32333"/>
            <a:ext cx="1653069" cy="635796"/>
          </a:xfrm>
          <a:prstGeom prst="rect">
            <a:avLst/>
          </a:prstGeom>
        </p:spPr>
      </p:pic>
      <p:sp>
        <p:nvSpPr>
          <p:cNvPr id="6" name="正方形/長方形 5"/>
          <p:cNvSpPr/>
          <p:nvPr/>
        </p:nvSpPr>
        <p:spPr>
          <a:xfrm>
            <a:off x="0" y="6552728"/>
            <a:ext cx="9906000" cy="332656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800">
              <a:solidFill>
                <a:prstClr val="white"/>
              </a:solidFill>
            </a:endParaRPr>
          </a:p>
        </p:txBody>
      </p:sp>
      <p:sp>
        <p:nvSpPr>
          <p:cNvPr id="8" name="スライド番号プレースホルダ 1"/>
          <p:cNvSpPr txBox="1">
            <a:spLocks/>
          </p:cNvSpPr>
          <p:nvPr/>
        </p:nvSpPr>
        <p:spPr>
          <a:xfrm>
            <a:off x="7594600" y="6552729"/>
            <a:ext cx="2311400" cy="365125"/>
          </a:xfrm>
          <a:prstGeom prst="rect">
            <a:avLst/>
          </a:prstGeom>
        </p:spPr>
        <p:txBody>
          <a:bodyPr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9FC100E3-15F5-4145-A942-47DB1D8B776D}" type="slidenum">
              <a:rPr lang="ja-JP" altLang="en-US" sz="1400" b="1" smtClean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</a:rPr>
              <a:pPr algn="r"/>
              <a:t>‹#›</a:t>
            </a:fld>
            <a:endParaRPr lang="ja-JP" altLang="en-US" sz="1400" b="1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 panose="020B0604030504040204" pitchFamily="50" charset="-128"/>
            </a:endParaRPr>
          </a:p>
        </p:txBody>
      </p:sp>
      <p:sp>
        <p:nvSpPr>
          <p:cNvPr id="9" name="テキスト ボックス 8"/>
          <p:cNvSpPr txBox="1">
            <a:spLocks noChangeArrowheads="1"/>
          </p:cNvSpPr>
          <p:nvPr userDrawn="1"/>
        </p:nvSpPr>
        <p:spPr bwMode="auto">
          <a:xfrm>
            <a:off x="116569" y="6597932"/>
            <a:ext cx="3666301" cy="2154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>
              <a:defRPr/>
            </a:pPr>
            <a:r>
              <a:rPr lang="en-US" altLang="ja-JP" sz="800" b="1" dirty="0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Copyright(c) DYM Co., Ltd</a:t>
            </a:r>
            <a:r>
              <a:rPr lang="ja-JP" altLang="en-US" sz="800" b="1" dirty="0" err="1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．</a:t>
            </a:r>
            <a:r>
              <a:rPr lang="en-US" altLang="ja-JP" sz="800" b="1" dirty="0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 All Rights Reserved.</a:t>
            </a:r>
          </a:p>
        </p:txBody>
      </p:sp>
    </p:spTree>
    <p:extLst>
      <p:ext uri="{BB962C8B-B14F-4D97-AF65-F5344CB8AC3E}">
        <p14:creationId xmlns:p14="http://schemas.microsoft.com/office/powerpoint/2010/main" val="3458703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6" r:id="rId1"/>
    <p:sldLayoutId id="2147483683" r:id="rId2"/>
    <p:sldLayoutId id="2147483689" r:id="rId3"/>
  </p:sldLayoutIdLst>
  <p:hf hdr="0" dt="0"/>
  <p:txStyles>
    <p:titleStyle>
      <a:lvl1pPr algn="ctr" rtl="0" eaLnBrk="1" fontAlgn="base" hangingPunct="1">
        <a:spcBef>
          <a:spcPct val="0"/>
        </a:spcBef>
        <a:spcAft>
          <a:spcPct val="0"/>
        </a:spcAft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2pPr>
      <a:lvl3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3pPr>
      <a:lvl4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4pPr>
      <a:lvl5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5pPr>
      <a:lvl6pPr marL="4572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6pPr>
      <a:lvl7pPr marL="9144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7pPr>
      <a:lvl8pPr marL="13716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8pPr>
      <a:lvl9pPr marL="18288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»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正方形/長方形 4"/>
          <p:cNvSpPr/>
          <p:nvPr/>
        </p:nvSpPr>
        <p:spPr>
          <a:xfrm>
            <a:off x="0" y="6552728"/>
            <a:ext cx="9906000" cy="332656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>
              <a:solidFill>
                <a:prstClr val="white"/>
              </a:solidFill>
            </a:endParaRPr>
          </a:p>
        </p:txBody>
      </p:sp>
      <p:sp>
        <p:nvSpPr>
          <p:cNvPr id="10" name="テキスト ボックス 9"/>
          <p:cNvSpPr txBox="1">
            <a:spLocks noChangeArrowheads="1"/>
          </p:cNvSpPr>
          <p:nvPr/>
        </p:nvSpPr>
        <p:spPr bwMode="auto">
          <a:xfrm>
            <a:off x="116569" y="6597932"/>
            <a:ext cx="3666301" cy="2154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>
              <a:defRPr/>
            </a:pPr>
            <a:r>
              <a:rPr lang="en-US" altLang="ja-JP" sz="800" b="1" dirty="0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Copyright(c) DYM Co., </a:t>
            </a:r>
            <a:r>
              <a:rPr lang="en-US" altLang="ja-JP" sz="800" b="1" dirty="0" err="1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Ltd.All</a:t>
            </a:r>
            <a:r>
              <a:rPr lang="en-US" altLang="ja-JP" sz="800" b="1" dirty="0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 Rights Reserved.</a:t>
            </a:r>
          </a:p>
        </p:txBody>
      </p:sp>
      <p:sp>
        <p:nvSpPr>
          <p:cNvPr id="8" name="正方形/長方形 7"/>
          <p:cNvSpPr/>
          <p:nvPr/>
        </p:nvSpPr>
        <p:spPr>
          <a:xfrm>
            <a:off x="0" y="0"/>
            <a:ext cx="416496" cy="548680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>
              <a:solidFill>
                <a:prstClr val="white"/>
              </a:solidFill>
            </a:endParaRPr>
          </a:p>
        </p:txBody>
      </p:sp>
      <p:cxnSp>
        <p:nvCxnSpPr>
          <p:cNvPr id="4" name="直線コネクタ 3"/>
          <p:cNvCxnSpPr/>
          <p:nvPr/>
        </p:nvCxnSpPr>
        <p:spPr>
          <a:xfrm>
            <a:off x="0" y="548680"/>
            <a:ext cx="9906000" cy="0"/>
          </a:xfrm>
          <a:prstGeom prst="line">
            <a:avLst/>
          </a:prstGeom>
          <a:ln>
            <a:solidFill>
              <a:srgbClr val="0032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9" name="図 1"/>
          <p:cNvPicPr>
            <a:picLocks/>
          </p:cNvPicPr>
          <p:nvPr userDrawn="1"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647" r="-11171"/>
          <a:stretch/>
        </p:blipFill>
        <p:spPr bwMode="auto">
          <a:xfrm>
            <a:off x="8619408" y="161057"/>
            <a:ext cx="1192729" cy="26331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" name="スライド番号プレースホルダ 1"/>
          <p:cNvSpPr txBox="1">
            <a:spLocks/>
          </p:cNvSpPr>
          <p:nvPr userDrawn="1"/>
        </p:nvSpPr>
        <p:spPr>
          <a:xfrm>
            <a:off x="7545288" y="6571255"/>
            <a:ext cx="2133600" cy="216000"/>
          </a:xfrm>
          <a:prstGeom prst="rect">
            <a:avLst/>
          </a:prstGeom>
        </p:spPr>
        <p:txBody>
          <a:bodyPr tIns="25200"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9FC100E3-15F5-4145-A942-47DB1D8B776D}" type="slidenum">
              <a:rPr lang="ja-JP" altLang="en-US" sz="1400" i="1" smtClean="0">
                <a:solidFill>
                  <a:prstClr val="white"/>
                </a:solidFill>
                <a:latin typeface="Century Gothic" panose="020B0502020202020204" pitchFamily="34" charset="0"/>
              </a:rPr>
              <a:pPr algn="r"/>
              <a:t>‹#›</a:t>
            </a:fld>
            <a:endParaRPr lang="ja-JP" altLang="en-US" sz="1400" i="1" dirty="0">
              <a:solidFill>
                <a:prstClr val="white"/>
              </a:solidFill>
              <a:latin typeface="Century Gothic" panose="020B0502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11138245"/>
      </p:ext>
    </p:extLst>
  </p:cSld>
  <p:clrMap bg1="lt1" tx1="dk1" bg2="lt2" tx2="dk2" accent1="accent1" accent2="accent2" accent3="accent3" accent4="accent4" accent5="accent5" accent6="accent6" hlink="hlink" folHlink="folHlink"/>
  <p:hf hdr="0" dt="0"/>
  <p:txStyles>
    <p:titleStyle>
      <a:lvl1pPr algn="ctr" defTabSz="457200" rtl="0" eaLnBrk="1" fontAlgn="base" hangingPunct="1">
        <a:spcBef>
          <a:spcPct val="0"/>
        </a:spcBef>
        <a:spcAft>
          <a:spcPct val="0"/>
        </a:spcAft>
        <a:defRPr kumimoji="1" sz="4400" kern="1200">
          <a:solidFill>
            <a:schemeClr val="tx1"/>
          </a:solidFill>
          <a:latin typeface="+mj-lt"/>
          <a:ea typeface="+mj-ea"/>
          <a:cs typeface="ＭＳ Ｐゴシック" charset="0"/>
        </a:defRPr>
      </a:lvl1pPr>
      <a:lvl2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2pPr>
      <a:lvl3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3pPr>
      <a:lvl4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4pPr>
      <a:lvl5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5pPr>
      <a:lvl6pPr marL="4572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6pPr>
      <a:lvl7pPr marL="9144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7pPr>
      <a:lvl8pPr marL="13716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8pPr>
      <a:lvl9pPr marL="18288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3200" kern="1200">
          <a:solidFill>
            <a:schemeClr val="tx1"/>
          </a:solidFill>
          <a:latin typeface="+mn-lt"/>
          <a:ea typeface="+mn-ea"/>
          <a:cs typeface="ＭＳ Ｐゴシック" charset="0"/>
        </a:defRPr>
      </a:lvl1pPr>
      <a:lvl2pPr marL="742950" indent="-28575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»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.png"/><Relationship Id="rId3" Type="http://schemas.openxmlformats.org/officeDocument/2006/relationships/image" Target="../media/image7.jpeg"/><Relationship Id="rId4" Type="http://schemas.openxmlformats.org/officeDocument/2006/relationships/image" Target="../media/image8.png"/><Relationship Id="rId5" Type="http://schemas.openxmlformats.org/officeDocument/2006/relationships/image" Target="../media/image9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image" Target="../media/image12.png"/><Relationship Id="rId6" Type="http://schemas.openxmlformats.org/officeDocument/2006/relationships/image" Target="../media/image1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Relationship Id="rId4" Type="http://schemas.openxmlformats.org/officeDocument/2006/relationships/image" Target="../media/image1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8.png"/><Relationship Id="rId3" Type="http://schemas.openxmlformats.org/officeDocument/2006/relationships/image" Target="../media/image19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0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22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emf"/><Relationship Id="rId4" Type="http://schemas.openxmlformats.org/officeDocument/2006/relationships/image" Target="../media/image23.jpeg"/><Relationship Id="rId5" Type="http://schemas.openxmlformats.org/officeDocument/2006/relationships/image" Target="../media/image24.jpeg"/><Relationship Id="rId6" Type="http://schemas.openxmlformats.org/officeDocument/2006/relationships/image" Target="../media/image25.jpeg"/><Relationship Id="rId7" Type="http://schemas.openxmlformats.org/officeDocument/2006/relationships/image" Target="../media/image26.jpeg"/><Relationship Id="rId8" Type="http://schemas.openxmlformats.org/officeDocument/2006/relationships/image" Target="../media/image27.jpe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正方形/長方形 1">
            <a:extLst>
              <a:ext uri="{FF2B5EF4-FFF2-40B4-BE49-F238E27FC236}">
                <a16:creationId xmlns:a16="http://schemas.microsoft.com/office/drawing/2014/main" id="{69A0322D-BA5F-9122-1E12-FB7AC2AF15A5}"/>
              </a:ext>
            </a:extLst>
          </p:cNvPr>
          <p:cNvSpPr/>
          <p:nvPr/>
        </p:nvSpPr>
        <p:spPr>
          <a:xfrm>
            <a:off x="1665887" y="2533105"/>
            <a:ext cx="6574236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ja-IS" sz="3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</a:rPr>
              <a:t>LINE</a:t>
            </a:r>
            <a:r>
              <a:rPr lang="ja-JP" altLang="en-US" sz="3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</a:rPr>
              <a:t>公式アカウント運用のご提案</a:t>
            </a:r>
            <a:endParaRPr lang="en-US" altLang="ja-IS" sz="3200" b="1" dirty="0">
              <a:solidFill>
                <a:schemeClr val="tx1">
                  <a:lumMod val="75000"/>
                  <a:lumOff val="2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 panose="020B0604030504040204" pitchFamily="50" charset="-128"/>
            </a:endParaRPr>
          </a:p>
        </p:txBody>
      </p:sp>
      <p:sp>
        <p:nvSpPr>
          <p:cNvPr id="4" name="正方形/長方形 5">
            <a:extLst>
              <a:ext uri="{FF2B5EF4-FFF2-40B4-BE49-F238E27FC236}">
                <a16:creationId xmlns:a16="http://schemas.microsoft.com/office/drawing/2014/main" id="{3CC59398-53B4-E01E-A60C-6C13628FCBFB}"/>
              </a:ext>
            </a:extLst>
          </p:cNvPr>
          <p:cNvSpPr/>
          <p:nvPr/>
        </p:nvSpPr>
        <p:spPr>
          <a:xfrm>
            <a:off x="1613481" y="2224725"/>
            <a:ext cx="6626632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ja-JP" altLang="en-US" sz="1700" dirty="0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―サイトリニューアルに伴うご提案―</a:t>
            </a:r>
          </a:p>
        </p:txBody>
      </p:sp>
      <p:cxnSp>
        <p:nvCxnSpPr>
          <p:cNvPr id="5" name="直線コネクタ 4">
            <a:extLst>
              <a:ext uri="{FF2B5EF4-FFF2-40B4-BE49-F238E27FC236}">
                <a16:creationId xmlns:a16="http://schemas.microsoft.com/office/drawing/2014/main" id="{B532C1C8-7FE6-8830-B27C-27941421F5F9}"/>
              </a:ext>
            </a:extLst>
          </p:cNvPr>
          <p:cNvCxnSpPr>
            <a:cxnSpLocks/>
          </p:cNvCxnSpPr>
          <p:nvPr/>
        </p:nvCxnSpPr>
        <p:spPr>
          <a:xfrm>
            <a:off x="1337175" y="3199966"/>
            <a:ext cx="7231660" cy="0"/>
          </a:xfrm>
          <a:prstGeom prst="line">
            <a:avLst/>
          </a:prstGeom>
          <a:ln w="190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" name="図 8" descr="背景パターン&#10;&#10;AI 生成コンテンツは誤りを含む可能性があります。">
            <a:extLst>
              <a:ext uri="{FF2B5EF4-FFF2-40B4-BE49-F238E27FC236}">
                <a16:creationId xmlns:a16="http://schemas.microsoft.com/office/drawing/2014/main" id="{FFE022E1-8FF6-B4B4-B955-17E7CFA964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" y="0"/>
            <a:ext cx="8159931" cy="766354"/>
          </a:xfrm>
          <a:prstGeom prst="rect">
            <a:avLst/>
          </a:prstGeom>
        </p:spPr>
      </p:pic>
      <p:pic>
        <p:nvPicPr>
          <p:cNvPr id="7" name="図 9" descr="背景パターン&#10;&#10;AI 生成コンテンツは誤りを含む可能性があります。">
            <a:extLst>
              <a:ext uri="{FF2B5EF4-FFF2-40B4-BE49-F238E27FC236}">
                <a16:creationId xmlns:a16="http://schemas.microsoft.com/office/drawing/2014/main" id="{0F2999B3-5873-C495-70F5-12487911C6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840" y="494114"/>
            <a:ext cx="2042161" cy="272239"/>
          </a:xfrm>
          <a:prstGeom prst="rect">
            <a:avLst/>
          </a:prstGeom>
        </p:spPr>
      </p:pic>
      <p:sp>
        <p:nvSpPr>
          <p:cNvPr id="8" name="テキスト ボックス 6">
            <a:extLst>
              <a:ext uri="{FF2B5EF4-FFF2-40B4-BE49-F238E27FC236}">
                <a16:creationId xmlns:a16="http://schemas.microsoft.com/office/drawing/2014/main" id="{7170AE42-913D-895E-A1DE-6A899FE53370}"/>
              </a:ext>
            </a:extLst>
          </p:cNvPr>
          <p:cNvSpPr txBox="1"/>
          <p:nvPr/>
        </p:nvSpPr>
        <p:spPr>
          <a:xfrm>
            <a:off x="291974" y="263665"/>
            <a:ext cx="496582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6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株式会社チェングロウス 御中</a:t>
            </a:r>
          </a:p>
        </p:txBody>
      </p:sp>
      <p:pic>
        <p:nvPicPr>
          <p:cNvPr id="9" name="Picture 10" descr="chengrowth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13000" y="3478502"/>
            <a:ext cx="2880000" cy="3371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459803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" name="">
          <a:extLst>
            <a:ext uri="{FF2B5EF4-FFF2-40B4-BE49-F238E27FC236}">
              <a16:creationId xmlns:a16="http://schemas.microsoft.com/office/drawing/2014/main" id="{B889E1EF-F184-F7BC-2DF2-9E9641908D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57" descr="文字と写真のスクリーンショット&#10;&#10;AI 生成コンテンツは誤りを含む可能性があります。">
            <a:extLst>
              <a:ext uri="{FF2B5EF4-FFF2-40B4-BE49-F238E27FC236}">
                <a16:creationId xmlns:a16="http://schemas.microsoft.com/office/drawing/2014/main" id="{BC098C34-07FA-B015-C970-B8433D9E8BE3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3846" t="3967" r="34188" b="52442"/>
          <a:stretch>
            <a:fillRect/>
          </a:stretch>
        </p:blipFill>
        <p:spPr>
          <a:xfrm>
            <a:off x="489022" y="5068469"/>
            <a:ext cx="2046003" cy="1464812"/>
          </a:xfrm>
          <a:prstGeom prst="rect">
            <a:avLst/>
          </a:prstGeom>
        </p:spPr>
      </p:pic>
      <p:sp>
        <p:nvSpPr>
          <p:cNvPr id="4" name="正方形/長方形 32">
            <a:extLst>
              <a:ext uri="{FF2B5EF4-FFF2-40B4-BE49-F238E27FC236}">
                <a16:creationId xmlns:a16="http://schemas.microsoft.com/office/drawing/2014/main" id="{1E52F929-5FD7-9413-24A8-2725B04E4908}"/>
              </a:ext>
            </a:extLst>
          </p:cNvPr>
          <p:cNvSpPr/>
          <p:nvPr/>
        </p:nvSpPr>
        <p:spPr>
          <a:xfrm>
            <a:off x="388723" y="1082314"/>
            <a:ext cx="9129600" cy="100564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200" dirty="0">
                <a:solidFill>
                  <a:srgbClr val="000000">
                    <a:lumMod val="95000"/>
                    <a:lumOff val="5000"/>
                  </a:srgb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2025</a:t>
            </a:r>
            <a:r>
              <a:rPr lang="ja-JP" altLang="en-US" sz="1200" dirty="0">
                <a:solidFill>
                  <a:srgbClr val="000000">
                    <a:lumMod val="95000"/>
                    <a:lumOff val="5000"/>
                  </a:srgb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年</a:t>
            </a:r>
            <a:r>
              <a:rPr lang="en-US" altLang="ja-JP" sz="1200" dirty="0">
                <a:solidFill>
                  <a:srgbClr val="000000">
                    <a:lumMod val="95000"/>
                    <a:lumOff val="5000"/>
                  </a:srgb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11</a:t>
            </a:r>
            <a:r>
              <a:rPr lang="ja-JP" altLang="en-US" sz="1200" dirty="0">
                <a:solidFill>
                  <a:srgbClr val="000000">
                    <a:lumMod val="95000"/>
                    <a:lumOff val="5000"/>
                  </a:srgb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月、株式会社</a:t>
            </a:r>
            <a:r>
              <a:rPr lang="en-US" altLang="ja-JP" sz="1200" dirty="0">
                <a:solidFill>
                  <a:srgbClr val="000000">
                    <a:lumMod val="95000"/>
                    <a:lumOff val="5000"/>
                  </a:srgb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</a:t>
            </a:r>
            <a:r>
              <a:rPr lang="ja-JP" altLang="en-US" sz="1200" dirty="0">
                <a:solidFill>
                  <a:srgbClr val="000000">
                    <a:lumMod val="95000"/>
                    <a:lumOff val="5000"/>
                  </a:srgb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ヤフー社が主催する </a:t>
            </a:r>
            <a:r>
              <a:rPr lang="en-US" altLang="ja-JP" sz="1200" dirty="0">
                <a:solidFill>
                  <a:srgbClr val="000000">
                    <a:lumMod val="95000"/>
                    <a:lumOff val="5000"/>
                  </a:srgb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”LINE</a:t>
            </a:r>
            <a:r>
              <a:rPr lang="ja-JP" altLang="en-US" sz="1200" dirty="0">
                <a:solidFill>
                  <a:srgbClr val="000000">
                    <a:lumMod val="95000"/>
                    <a:lumOff val="5000"/>
                  </a:srgb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ヤフー </a:t>
            </a:r>
            <a:r>
              <a:rPr lang="en-US" altLang="ja-JP" sz="1200" dirty="0">
                <a:solidFill>
                  <a:srgbClr val="000000">
                    <a:lumMod val="95000"/>
                    <a:lumOff val="5000"/>
                  </a:srgb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Partner Award 2025” </a:t>
            </a:r>
            <a:r>
              <a:rPr lang="ja-JP" altLang="en-US" sz="1200" dirty="0">
                <a:solidFill>
                  <a:srgbClr val="000000">
                    <a:lumMod val="95000"/>
                    <a:lumOff val="5000"/>
                  </a:srgb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に株式会社</a:t>
            </a:r>
            <a:r>
              <a:rPr lang="en-US" altLang="ja-JP" sz="1200" dirty="0">
                <a:solidFill>
                  <a:srgbClr val="000000">
                    <a:lumMod val="95000"/>
                    <a:lumOff val="5000"/>
                  </a:srgb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DYM</a:t>
            </a:r>
            <a:r>
              <a:rPr lang="ja-JP" altLang="en-US" sz="1200" dirty="0">
                <a:solidFill>
                  <a:srgbClr val="000000">
                    <a:lumMod val="95000"/>
                    <a:lumOff val="5000"/>
                  </a:srgb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が参加。</a:t>
            </a:r>
            <a:br>
              <a:rPr lang="en-US" altLang="ja-JP" sz="1200" dirty="0">
                <a:solidFill>
                  <a:srgbClr val="000000">
                    <a:lumMod val="95000"/>
                    <a:lumOff val="5000"/>
                  </a:srgb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</a:br>
            <a:r>
              <a:rPr lang="ja-JP" altLang="en-US" sz="1200" dirty="0">
                <a:solidFill>
                  <a:srgbClr val="000000">
                    <a:lumMod val="95000"/>
                    <a:lumOff val="5000"/>
                  </a:srgb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弊社は</a:t>
            </a:r>
            <a:r>
              <a:rPr lang="en-US" altLang="ja-JP" sz="1200" dirty="0">
                <a:solidFill>
                  <a:srgbClr val="000000">
                    <a:lumMod val="95000"/>
                    <a:lumOff val="5000"/>
                  </a:srgb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</a:t>
            </a:r>
            <a:r>
              <a:rPr lang="ja-JP" altLang="en-US" sz="1200" dirty="0">
                <a:solidFill>
                  <a:srgbClr val="000000">
                    <a:lumMod val="95000"/>
                    <a:lumOff val="5000"/>
                  </a:srgb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公式アカウントによるビジネス拡大に最も貢献したとして、</a:t>
            </a:r>
            <a:r>
              <a:rPr lang="ja-JP" altLang="en-US" sz="1200" b="1" dirty="0">
                <a:solidFill>
                  <a:srgbClr val="C00000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「</a:t>
            </a:r>
            <a:r>
              <a:rPr lang="en-US" altLang="ja-JP" sz="1200" b="1" dirty="0">
                <a:solidFill>
                  <a:srgbClr val="C00000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Best LINE</a:t>
            </a:r>
            <a:r>
              <a:rPr lang="ja-JP" altLang="en-US" sz="1200" b="1" dirty="0">
                <a:solidFill>
                  <a:srgbClr val="C00000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公式アカウント </a:t>
            </a:r>
            <a:r>
              <a:rPr lang="en-US" altLang="ja-JP" sz="1200" b="1" dirty="0">
                <a:solidFill>
                  <a:srgbClr val="C00000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Growth</a:t>
            </a:r>
            <a:r>
              <a:rPr lang="en-US" altLang="ja-JP" sz="700" b="1" dirty="0">
                <a:solidFill>
                  <a:srgbClr val="C00000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</a:t>
            </a:r>
            <a:r>
              <a:rPr lang="ja-JP" altLang="en-US" sz="1200" b="1" dirty="0">
                <a:solidFill>
                  <a:srgbClr val="C00000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」</a:t>
            </a:r>
            <a:r>
              <a:rPr lang="ja-JP" altLang="en-US" sz="1200" dirty="0">
                <a:solidFill>
                  <a:srgbClr val="000000">
                    <a:lumMod val="95000"/>
                    <a:lumOff val="5000"/>
                  </a:srgb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を受賞。</a:t>
            </a:r>
            <a:br>
              <a:rPr lang="en-US" altLang="ja-JP" sz="1200" dirty="0">
                <a:solidFill>
                  <a:srgbClr val="000000">
                    <a:lumMod val="95000"/>
                    <a:lumOff val="5000"/>
                  </a:srgb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</a:br>
            <a:r>
              <a:rPr lang="en-US" altLang="ja-JP" sz="1200" dirty="0">
                <a:solidFill>
                  <a:srgbClr val="000000">
                    <a:lumMod val="95000"/>
                    <a:lumOff val="5000"/>
                  </a:srgb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2025</a:t>
            </a:r>
            <a:r>
              <a:rPr lang="ja-JP" altLang="en-US" sz="1200" dirty="0">
                <a:solidFill>
                  <a:srgbClr val="000000">
                    <a:lumMod val="95000"/>
                    <a:lumOff val="5000"/>
                  </a:srgb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年</a:t>
            </a:r>
            <a:r>
              <a:rPr lang="en-US" altLang="ja-JP" sz="1200" dirty="0">
                <a:solidFill>
                  <a:srgbClr val="000000">
                    <a:lumMod val="95000"/>
                    <a:lumOff val="5000"/>
                  </a:srgb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10</a:t>
            </a:r>
            <a:r>
              <a:rPr lang="ja-JP" altLang="en-US" sz="1200" dirty="0">
                <a:solidFill>
                  <a:srgbClr val="000000">
                    <a:lumMod val="95000"/>
                    <a:lumOff val="5000"/>
                  </a:srgb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月現在、</a:t>
            </a:r>
            <a:r>
              <a:rPr lang="en-US" altLang="ja-JP" sz="1200" dirty="0">
                <a:solidFill>
                  <a:srgbClr val="000000">
                    <a:lumMod val="95000"/>
                    <a:lumOff val="5000"/>
                  </a:srgb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</a:t>
            </a:r>
            <a:r>
              <a:rPr lang="ja-JP" altLang="en-US" sz="1200" dirty="0">
                <a:solidFill>
                  <a:srgbClr val="000000">
                    <a:lumMod val="95000"/>
                    <a:lumOff val="5000"/>
                  </a:srgb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公式アカウントの取扱社数は</a:t>
            </a:r>
            <a:r>
              <a:rPr lang="en-US" altLang="ja-JP" sz="1200" dirty="0">
                <a:solidFill>
                  <a:srgbClr val="000000">
                    <a:lumMod val="95000"/>
                    <a:lumOff val="5000"/>
                  </a:srgb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100</a:t>
            </a:r>
            <a:r>
              <a:rPr lang="ja-JP" altLang="en-US" sz="1200" dirty="0">
                <a:solidFill>
                  <a:srgbClr val="000000">
                    <a:lumMod val="95000"/>
                    <a:lumOff val="5000"/>
                  </a:srgb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社以上、</a:t>
            </a:r>
            <a:r>
              <a:rPr lang="en-US" altLang="ja-JP" sz="1200" dirty="0">
                <a:solidFill>
                  <a:srgbClr val="000000">
                    <a:lumMod val="95000"/>
                    <a:lumOff val="5000"/>
                  </a:srgb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400</a:t>
            </a:r>
            <a:r>
              <a:rPr lang="ja-JP" altLang="en-US" sz="1200" dirty="0">
                <a:solidFill>
                  <a:srgbClr val="000000">
                    <a:lumMod val="95000"/>
                    <a:lumOff val="5000"/>
                  </a:srgb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アカウント以上まで拡大しており関連サービスも展開中。</a:t>
            </a:r>
            <a:endParaRPr lang="en-US" altLang="ja-JP" sz="1200" dirty="0">
              <a:solidFill>
                <a:srgbClr val="000000">
                  <a:lumMod val="95000"/>
                  <a:lumOff val="5000"/>
                </a:srgb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r"/>
            <a:r>
              <a:rPr lang="en-US" altLang="ja-JP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 LINE</a:t>
            </a:r>
            <a:r>
              <a:rPr lang="ja-JP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公式アカウントを活用し、ビジネス拡大に最も貢献したパートナーに贈られる賞です。</a:t>
            </a:r>
            <a:endParaRPr lang="en-US" altLang="ja-JP" sz="900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5" name="Google Shape;752;p28">
            <a:extLst>
              <a:ext uri="{FF2B5EF4-FFF2-40B4-BE49-F238E27FC236}">
                <a16:creationId xmlns:a16="http://schemas.microsoft.com/office/drawing/2014/main" id="{C34101C7-CA6C-6ED6-33D4-C2B82BDA5473}"/>
              </a:ext>
            </a:extLst>
          </p:cNvPr>
          <p:cNvSpPr txBox="1"/>
          <p:nvPr/>
        </p:nvSpPr>
        <p:spPr>
          <a:xfrm>
            <a:off x="548883" y="138137"/>
            <a:ext cx="6276325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lvl="0"/>
            <a:r>
              <a:rPr lang="ja-JP" altLang="en-US" sz="1600" b="1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弊社実績</a:t>
            </a:r>
            <a:endParaRPr lang="ja-JP" altLang="en-US" sz="1600" b="1" dirty="0">
              <a:solidFill>
                <a:srgbClr val="323366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Meiryo"/>
              <a:sym typeface="Meiryo"/>
            </a:endParaRPr>
          </a:p>
        </p:txBody>
      </p:sp>
      <p:sp>
        <p:nvSpPr>
          <p:cNvPr id="6" name="正方形/長方形 48">
            <a:extLst>
              <a:ext uri="{FF2B5EF4-FFF2-40B4-BE49-F238E27FC236}">
                <a16:creationId xmlns:a16="http://schemas.microsoft.com/office/drawing/2014/main" id="{9685C0AB-6B7A-94C5-EFA8-756E59EE714E}"/>
              </a:ext>
            </a:extLst>
          </p:cNvPr>
          <p:cNvSpPr/>
          <p:nvPr/>
        </p:nvSpPr>
        <p:spPr>
          <a:xfrm>
            <a:off x="388723" y="2116303"/>
            <a:ext cx="9128554" cy="307777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txBody>
          <a:bodyPr wrap="square">
            <a:spAutoFit/>
          </a:bodyPr>
          <a:lstStyle/>
          <a:p>
            <a:pPr lvl="0" algn="ctr">
              <a:buClr>
                <a:srgbClr val="002060"/>
              </a:buClr>
              <a:buSzPts val="1600"/>
            </a:pPr>
            <a:r>
              <a:rPr lang="ja-JP" altLang="en-US" sz="1400" b="1">
                <a:solidFill>
                  <a:schemeClr val="bg1"/>
                </a:solidFill>
                <a:latin typeface="Meiryo"/>
                <a:ea typeface="Meiryo"/>
                <a:cs typeface="Meiryo"/>
                <a:sym typeface="Meiryo"/>
              </a:rPr>
              <a:t>弊社受賞遍歴 </a:t>
            </a:r>
            <a:r>
              <a:rPr lang="en-US" altLang="ja-JP" sz="1400" b="1">
                <a:solidFill>
                  <a:schemeClr val="bg1"/>
                </a:solidFill>
                <a:latin typeface="Meiryo"/>
                <a:ea typeface="Meiryo"/>
                <a:cs typeface="Meiryo"/>
                <a:sym typeface="Meiryo"/>
              </a:rPr>
              <a:t>Since.2024</a:t>
            </a:r>
            <a:r>
              <a:rPr lang="ja-JP" altLang="en-US" sz="1400" b="1">
                <a:solidFill>
                  <a:schemeClr val="bg1"/>
                </a:solidFill>
                <a:latin typeface="Meiryo"/>
                <a:ea typeface="Meiryo"/>
                <a:cs typeface="Meiryo"/>
                <a:sym typeface="Meiryo"/>
              </a:rPr>
              <a:t>年</a:t>
            </a:r>
            <a:r>
              <a:rPr lang="en-US" altLang="ja-JP" sz="1400" b="1">
                <a:solidFill>
                  <a:schemeClr val="bg1"/>
                </a:solidFill>
                <a:latin typeface="Meiryo"/>
                <a:ea typeface="Meiryo"/>
                <a:cs typeface="Meiryo"/>
                <a:sym typeface="Meiryo"/>
              </a:rPr>
              <a:t>5</a:t>
            </a:r>
            <a:r>
              <a:rPr lang="ja-JP" altLang="en-US" sz="1400" b="1">
                <a:solidFill>
                  <a:schemeClr val="bg1"/>
                </a:solidFill>
                <a:latin typeface="Meiryo"/>
                <a:ea typeface="Meiryo"/>
                <a:cs typeface="Meiryo"/>
                <a:sym typeface="Meiryo"/>
              </a:rPr>
              <a:t>月～</a:t>
            </a:r>
            <a:endParaRPr lang="en-US" altLang="ja-JP" sz="1400" b="1" dirty="0">
              <a:solidFill>
                <a:schemeClr val="bg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7" name="テキスト プレースホルダー 2">
            <a:extLst>
              <a:ext uri="{FF2B5EF4-FFF2-40B4-BE49-F238E27FC236}">
                <a16:creationId xmlns:a16="http://schemas.microsoft.com/office/drawing/2014/main" id="{18B78559-32E9-7E98-9E42-625866BF0637}"/>
              </a:ext>
            </a:extLst>
          </p:cNvPr>
          <p:cNvSpPr txBox="1">
            <a:spLocks/>
          </p:cNvSpPr>
          <p:nvPr/>
        </p:nvSpPr>
        <p:spPr>
          <a:xfrm>
            <a:off x="4741655" y="135388"/>
            <a:ext cx="3604551" cy="356140"/>
          </a:xfrm>
          <a:prstGeom prst="rect">
            <a:avLst/>
          </a:prstGeom>
        </p:spPr>
        <p:txBody>
          <a:bodyPr lIns="0" tIns="0" rIns="0" bIns="0" anchor="t"/>
          <a:lstStyle>
            <a:lvl1pPr marL="0" indent="0" algn="l" defTabSz="914400" rtl="0" eaLnBrk="1" latinLnBrk="0" hangingPunct="1">
              <a:lnSpc>
                <a:spcPct val="130000"/>
              </a:lnSpc>
              <a:spcBef>
                <a:spcPts val="0"/>
              </a:spcBef>
              <a:buFont typeface="Arial" panose="020B0604020202020204" pitchFamily="34" charset="0"/>
              <a:buNone/>
              <a:defRPr kumimoji="1" sz="1400" kern="1200">
                <a:solidFill>
                  <a:schemeClr val="tx1">
                    <a:lumMod val="95000"/>
                    <a:lumOff val="5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539750" lvl="0" indent="-539750">
              <a:tabLst>
                <a:tab pos="447675" algn="l"/>
              </a:tabLst>
              <a:defRPr/>
            </a:pPr>
            <a:r>
              <a:rPr lang="en-US" altLang="ja-JP" sz="800" dirty="0">
                <a:solidFill>
                  <a:srgbClr val="000000">
                    <a:lumMod val="95000"/>
                    <a:lumOff val="5000"/>
                  </a:srgbClr>
                </a:solidFill>
              </a:rPr>
              <a:t>【</a:t>
            </a:r>
            <a:r>
              <a:rPr lang="ja-JP" altLang="en-US" sz="800" dirty="0">
                <a:solidFill>
                  <a:srgbClr val="000000">
                    <a:lumMod val="95000"/>
                    <a:lumOff val="5000"/>
                  </a:srgbClr>
                </a:solidFill>
              </a:rPr>
              <a:t>参考情報</a:t>
            </a:r>
            <a:r>
              <a:rPr lang="en-US" altLang="ja-JP" sz="800" dirty="0">
                <a:solidFill>
                  <a:srgbClr val="000000">
                    <a:lumMod val="95000"/>
                    <a:lumOff val="5000"/>
                  </a:srgbClr>
                </a:solidFill>
              </a:rPr>
              <a:t>】</a:t>
            </a:r>
          </a:p>
          <a:p>
            <a:pPr marL="88900" lvl="0">
              <a:tabLst>
                <a:tab pos="447675" algn="l"/>
              </a:tabLst>
              <a:defRPr/>
            </a:pPr>
            <a:r>
              <a:rPr lang="en-US" altLang="ja-JP" sz="800" dirty="0">
                <a:solidFill>
                  <a:srgbClr val="000000">
                    <a:lumMod val="95000"/>
                    <a:lumOff val="5000"/>
                  </a:srgbClr>
                </a:solidFill>
              </a:rPr>
              <a:t>https://prtimes.jp/main/html/rd/p/000000412.000027235.html</a:t>
            </a:r>
            <a:endParaRPr lang="en-US" altLang="ja-JP" sz="1100" dirty="0">
              <a:solidFill>
                <a:srgbClr val="000000">
                  <a:lumMod val="95000"/>
                  <a:lumOff val="5000"/>
                </a:srgbClr>
              </a:solidFill>
            </a:endParaRPr>
          </a:p>
        </p:txBody>
      </p:sp>
      <p:sp>
        <p:nvSpPr>
          <p:cNvPr id="8" name="正方形/長方形 44">
            <a:extLst>
              <a:ext uri="{FF2B5EF4-FFF2-40B4-BE49-F238E27FC236}">
                <a16:creationId xmlns:a16="http://schemas.microsoft.com/office/drawing/2014/main" id="{02177995-9B5C-9C4B-3202-5DD03969179E}"/>
              </a:ext>
            </a:extLst>
          </p:cNvPr>
          <p:cNvSpPr/>
          <p:nvPr/>
        </p:nvSpPr>
        <p:spPr>
          <a:xfrm>
            <a:off x="495424" y="4784484"/>
            <a:ext cx="3561143" cy="276999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txBody>
          <a:bodyPr wrap="square">
            <a:spAutoFit/>
          </a:bodyPr>
          <a:lstStyle/>
          <a:p>
            <a:pPr lvl="0" algn="ctr">
              <a:buClr>
                <a:srgbClr val="002060"/>
              </a:buClr>
              <a:buSzPts val="1600"/>
            </a:pPr>
            <a:r>
              <a:rPr lang="ja-JP" altLang="en-US" sz="1200" b="1" dirty="0">
                <a:solidFill>
                  <a:schemeClr val="bg1"/>
                </a:solidFill>
                <a:latin typeface="Meiryo"/>
                <a:ea typeface="Meiryo"/>
                <a:cs typeface="Meiryo"/>
                <a:sym typeface="Meiryo"/>
              </a:rPr>
              <a:t>最上位となる </a:t>
            </a:r>
            <a:r>
              <a:rPr lang="en-US" altLang="ja-JP" sz="1200" b="1" dirty="0">
                <a:solidFill>
                  <a:schemeClr val="bg1"/>
                </a:solidFill>
                <a:latin typeface="Meiryo"/>
                <a:ea typeface="Meiryo"/>
                <a:cs typeface="Meiryo"/>
                <a:sym typeface="Meiryo"/>
              </a:rPr>
              <a:t>Sales Partner Premier</a:t>
            </a:r>
          </a:p>
        </p:txBody>
      </p:sp>
      <p:sp>
        <p:nvSpPr>
          <p:cNvPr id="9" name="正方形/長方形 54">
            <a:extLst>
              <a:ext uri="{FF2B5EF4-FFF2-40B4-BE49-F238E27FC236}">
                <a16:creationId xmlns:a16="http://schemas.microsoft.com/office/drawing/2014/main" id="{0E12B4F2-0482-55A4-443A-115FC30E22E8}"/>
              </a:ext>
            </a:extLst>
          </p:cNvPr>
          <p:cNvSpPr/>
          <p:nvPr/>
        </p:nvSpPr>
        <p:spPr>
          <a:xfrm>
            <a:off x="4362995" y="4784484"/>
            <a:ext cx="5165666" cy="276999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txBody>
          <a:bodyPr wrap="square">
            <a:spAutoFit/>
          </a:bodyPr>
          <a:lstStyle/>
          <a:p>
            <a:pPr algn="ctr">
              <a:buClr>
                <a:srgbClr val="002060"/>
              </a:buClr>
              <a:buSzPts val="1600"/>
            </a:pPr>
            <a:r>
              <a:rPr lang="en-US" altLang="ja-JP" sz="1200" b="1" dirty="0">
                <a:solidFill>
                  <a:schemeClr val="bg1"/>
                </a:solidFill>
                <a:latin typeface="Meiryo"/>
                <a:ea typeface="Meiryo"/>
                <a:cs typeface="Meiryo"/>
                <a:sym typeface="Meiryo"/>
              </a:rPr>
              <a:t>Best LINE</a:t>
            </a:r>
            <a:r>
              <a:rPr lang="ja-JP" altLang="en-US" sz="1200" b="1" dirty="0">
                <a:solidFill>
                  <a:schemeClr val="bg1"/>
                </a:solidFill>
                <a:latin typeface="Meiryo"/>
                <a:ea typeface="Meiryo"/>
                <a:cs typeface="Meiryo"/>
                <a:sym typeface="Meiryo"/>
              </a:rPr>
              <a:t>公式アカウント </a:t>
            </a:r>
            <a:r>
              <a:rPr lang="en-US" altLang="ja-JP" sz="1200" b="1" dirty="0">
                <a:solidFill>
                  <a:schemeClr val="bg1"/>
                </a:solidFill>
                <a:latin typeface="Meiryo"/>
                <a:ea typeface="Meiryo"/>
                <a:cs typeface="Meiryo"/>
                <a:sym typeface="Meiryo"/>
              </a:rPr>
              <a:t>Growth </a:t>
            </a:r>
            <a:r>
              <a:rPr lang="ja-JP" altLang="en-US" sz="1200" b="1" dirty="0">
                <a:solidFill>
                  <a:schemeClr val="bg1"/>
                </a:solidFill>
                <a:latin typeface="Meiryo"/>
                <a:ea typeface="Meiryo"/>
                <a:cs typeface="Meiryo"/>
                <a:sym typeface="Meiryo"/>
              </a:rPr>
              <a:t>の受賞を受ける</a:t>
            </a:r>
            <a:endParaRPr lang="en-US" altLang="ja-JP" sz="1200" b="1" dirty="0">
              <a:solidFill>
                <a:schemeClr val="bg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cxnSp>
        <p:nvCxnSpPr>
          <p:cNvPr id="10" name="直線コネクタ 2081">
            <a:extLst>
              <a:ext uri="{FF2B5EF4-FFF2-40B4-BE49-F238E27FC236}">
                <a16:creationId xmlns:a16="http://schemas.microsoft.com/office/drawing/2014/main" id="{530411FF-29F9-73B2-C470-CBF0BA20AC73}"/>
              </a:ext>
            </a:extLst>
          </p:cNvPr>
          <p:cNvCxnSpPr>
            <a:cxnSpLocks/>
          </p:cNvCxnSpPr>
          <p:nvPr/>
        </p:nvCxnSpPr>
        <p:spPr>
          <a:xfrm>
            <a:off x="3212877" y="2980676"/>
            <a:ext cx="6240687" cy="0"/>
          </a:xfrm>
          <a:prstGeom prst="line">
            <a:avLst/>
          </a:prstGeom>
          <a:ln w="76200">
            <a:solidFill>
              <a:srgbClr val="10253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直線コネクタ 2084">
            <a:extLst>
              <a:ext uri="{FF2B5EF4-FFF2-40B4-BE49-F238E27FC236}">
                <a16:creationId xmlns:a16="http://schemas.microsoft.com/office/drawing/2014/main" id="{D7948E6E-45A1-2B8A-2983-5CE3031B129A}"/>
              </a:ext>
            </a:extLst>
          </p:cNvPr>
          <p:cNvCxnSpPr>
            <a:cxnSpLocks/>
          </p:cNvCxnSpPr>
          <p:nvPr/>
        </p:nvCxnSpPr>
        <p:spPr>
          <a:xfrm>
            <a:off x="412752" y="3985954"/>
            <a:ext cx="5253034" cy="0"/>
          </a:xfrm>
          <a:prstGeom prst="line">
            <a:avLst/>
          </a:prstGeom>
          <a:ln w="76200">
            <a:solidFill>
              <a:srgbClr val="10253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フローチャート: 結合子 2085">
            <a:extLst>
              <a:ext uri="{FF2B5EF4-FFF2-40B4-BE49-F238E27FC236}">
                <a16:creationId xmlns:a16="http://schemas.microsoft.com/office/drawing/2014/main" id="{19617C5C-724A-7FCE-22E5-5B2ECC96F048}"/>
              </a:ext>
            </a:extLst>
          </p:cNvPr>
          <p:cNvSpPr/>
          <p:nvPr/>
        </p:nvSpPr>
        <p:spPr>
          <a:xfrm>
            <a:off x="3076995" y="2743198"/>
            <a:ext cx="452718" cy="452718"/>
          </a:xfrm>
          <a:prstGeom prst="flowChartConnector">
            <a:avLst/>
          </a:prstGeom>
          <a:solidFill>
            <a:srgbClr val="10253F"/>
          </a:solidFill>
          <a:ln>
            <a:solidFill>
              <a:srgbClr val="10253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3" name="フローチャート: 結合子 2086">
            <a:extLst>
              <a:ext uri="{FF2B5EF4-FFF2-40B4-BE49-F238E27FC236}">
                <a16:creationId xmlns:a16="http://schemas.microsoft.com/office/drawing/2014/main" id="{C7AB064F-FD75-D23A-C3F2-7F831805457C}"/>
              </a:ext>
            </a:extLst>
          </p:cNvPr>
          <p:cNvSpPr/>
          <p:nvPr/>
        </p:nvSpPr>
        <p:spPr>
          <a:xfrm>
            <a:off x="970449" y="3759595"/>
            <a:ext cx="452718" cy="452718"/>
          </a:xfrm>
          <a:prstGeom prst="flowChartConnector">
            <a:avLst/>
          </a:prstGeom>
          <a:solidFill>
            <a:srgbClr val="10253F"/>
          </a:solidFill>
          <a:ln>
            <a:solidFill>
              <a:srgbClr val="10253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4" name="フローチャート: 結合子 2088">
            <a:extLst>
              <a:ext uri="{FF2B5EF4-FFF2-40B4-BE49-F238E27FC236}">
                <a16:creationId xmlns:a16="http://schemas.microsoft.com/office/drawing/2014/main" id="{CE0B51F4-2695-E1D7-F353-BA60386FABE4}"/>
              </a:ext>
            </a:extLst>
          </p:cNvPr>
          <p:cNvSpPr/>
          <p:nvPr/>
        </p:nvSpPr>
        <p:spPr>
          <a:xfrm>
            <a:off x="7801859" y="2743198"/>
            <a:ext cx="452718" cy="452718"/>
          </a:xfrm>
          <a:prstGeom prst="flowChartConnector">
            <a:avLst/>
          </a:prstGeom>
          <a:solidFill>
            <a:srgbClr val="10253F"/>
          </a:solidFill>
          <a:ln>
            <a:solidFill>
              <a:srgbClr val="10253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5" name="フローチャート: 結合子 2089">
            <a:extLst>
              <a:ext uri="{FF2B5EF4-FFF2-40B4-BE49-F238E27FC236}">
                <a16:creationId xmlns:a16="http://schemas.microsoft.com/office/drawing/2014/main" id="{6F2861A8-2376-2999-4214-6F268B03A3E1}"/>
              </a:ext>
            </a:extLst>
          </p:cNvPr>
          <p:cNvSpPr/>
          <p:nvPr/>
        </p:nvSpPr>
        <p:spPr>
          <a:xfrm>
            <a:off x="5439427" y="2743198"/>
            <a:ext cx="452718" cy="452718"/>
          </a:xfrm>
          <a:prstGeom prst="flowChartConnector">
            <a:avLst/>
          </a:prstGeom>
          <a:solidFill>
            <a:srgbClr val="10253F"/>
          </a:solidFill>
          <a:ln>
            <a:solidFill>
              <a:srgbClr val="10253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6" name="フローチャート: 結合子 2091">
            <a:extLst>
              <a:ext uri="{FF2B5EF4-FFF2-40B4-BE49-F238E27FC236}">
                <a16:creationId xmlns:a16="http://schemas.microsoft.com/office/drawing/2014/main" id="{11455BE0-024C-CCCF-549A-5895CCF6FCA5}"/>
              </a:ext>
            </a:extLst>
          </p:cNvPr>
          <p:cNvSpPr/>
          <p:nvPr/>
        </p:nvSpPr>
        <p:spPr>
          <a:xfrm>
            <a:off x="5454960" y="3739586"/>
            <a:ext cx="452718" cy="452718"/>
          </a:xfrm>
          <a:prstGeom prst="flowChartConnector">
            <a:avLst/>
          </a:prstGeom>
          <a:solidFill>
            <a:srgbClr val="10253F"/>
          </a:solidFill>
          <a:ln>
            <a:solidFill>
              <a:srgbClr val="10253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7" name="フローチャート: 結合子 2092">
            <a:extLst>
              <a:ext uri="{FF2B5EF4-FFF2-40B4-BE49-F238E27FC236}">
                <a16:creationId xmlns:a16="http://schemas.microsoft.com/office/drawing/2014/main" id="{6A2B7AEE-64D5-5687-4D90-BFEBFB87978F}"/>
              </a:ext>
            </a:extLst>
          </p:cNvPr>
          <p:cNvSpPr/>
          <p:nvPr/>
        </p:nvSpPr>
        <p:spPr>
          <a:xfrm>
            <a:off x="3076995" y="3776603"/>
            <a:ext cx="452718" cy="452718"/>
          </a:xfrm>
          <a:prstGeom prst="flowChartConnector">
            <a:avLst/>
          </a:prstGeom>
          <a:solidFill>
            <a:srgbClr val="10253F"/>
          </a:solidFill>
          <a:ln>
            <a:solidFill>
              <a:srgbClr val="10253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8" name="テキスト ボックス 2093">
            <a:extLst>
              <a:ext uri="{FF2B5EF4-FFF2-40B4-BE49-F238E27FC236}">
                <a16:creationId xmlns:a16="http://schemas.microsoft.com/office/drawing/2014/main" id="{F181EC8C-1DAE-5AF7-1C4D-4C86090B08E7}"/>
              </a:ext>
            </a:extLst>
          </p:cNvPr>
          <p:cNvSpPr txBox="1"/>
          <p:nvPr/>
        </p:nvSpPr>
        <p:spPr>
          <a:xfrm>
            <a:off x="2824561" y="2498440"/>
            <a:ext cx="9575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1000">
                <a:latin typeface="メイリオ" panose="020B0604030504040204" pitchFamily="50" charset="-128"/>
                <a:ea typeface="メイリオ" panose="020B0604030504040204" pitchFamily="50" charset="-128"/>
              </a:rPr>
              <a:t>2024</a:t>
            </a:r>
            <a:r>
              <a:rPr kumimoji="1" lang="ja-JP" altLang="en-US" sz="1000">
                <a:latin typeface="メイリオ" panose="020B0604030504040204" pitchFamily="50" charset="-128"/>
                <a:ea typeface="メイリオ" panose="020B0604030504040204" pitchFamily="50" charset="-128"/>
              </a:rPr>
              <a:t>年</a:t>
            </a:r>
            <a:r>
              <a:rPr kumimoji="1" lang="en-US" altLang="ja-JP" sz="1000">
                <a:latin typeface="メイリオ" panose="020B0604030504040204" pitchFamily="50" charset="-128"/>
                <a:ea typeface="メイリオ" panose="020B0604030504040204" pitchFamily="50" charset="-128"/>
              </a:rPr>
              <a:t>5</a:t>
            </a:r>
            <a:r>
              <a:rPr kumimoji="1" lang="ja-JP" altLang="en-US" sz="1000">
                <a:latin typeface="メイリオ" panose="020B0604030504040204" pitchFamily="50" charset="-128"/>
                <a:ea typeface="メイリオ" panose="020B0604030504040204" pitchFamily="50" charset="-128"/>
              </a:rPr>
              <a:t>月</a:t>
            </a:r>
          </a:p>
        </p:txBody>
      </p:sp>
      <p:sp>
        <p:nvSpPr>
          <p:cNvPr id="19" name="テキスト ボックス 2094">
            <a:extLst>
              <a:ext uri="{FF2B5EF4-FFF2-40B4-BE49-F238E27FC236}">
                <a16:creationId xmlns:a16="http://schemas.microsoft.com/office/drawing/2014/main" id="{E9F47648-05F6-7064-8968-91D3649440CE}"/>
              </a:ext>
            </a:extLst>
          </p:cNvPr>
          <p:cNvSpPr txBox="1"/>
          <p:nvPr/>
        </p:nvSpPr>
        <p:spPr>
          <a:xfrm>
            <a:off x="5232177" y="2496209"/>
            <a:ext cx="9575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1000">
                <a:latin typeface="メイリオ" panose="020B0604030504040204" pitchFamily="50" charset="-128"/>
                <a:ea typeface="メイリオ" panose="020B0604030504040204" pitchFamily="50" charset="-128"/>
              </a:rPr>
              <a:t>2024</a:t>
            </a:r>
            <a:r>
              <a:rPr kumimoji="1" lang="ja-JP" altLang="en-US" sz="1000">
                <a:latin typeface="メイリオ" panose="020B0604030504040204" pitchFamily="50" charset="-128"/>
                <a:ea typeface="メイリオ" panose="020B0604030504040204" pitchFamily="50" charset="-128"/>
              </a:rPr>
              <a:t>年</a:t>
            </a:r>
            <a:r>
              <a:rPr lang="en-US" altLang="ja-JP" sz="1000">
                <a:latin typeface="メイリオ" panose="020B0604030504040204" pitchFamily="50" charset="-128"/>
                <a:ea typeface="メイリオ" panose="020B0604030504040204" pitchFamily="50" charset="-128"/>
              </a:rPr>
              <a:t>12</a:t>
            </a:r>
            <a:r>
              <a:rPr kumimoji="1" lang="ja-JP" altLang="en-US" sz="1000">
                <a:latin typeface="メイリオ" panose="020B0604030504040204" pitchFamily="50" charset="-128"/>
                <a:ea typeface="メイリオ" panose="020B0604030504040204" pitchFamily="50" charset="-128"/>
              </a:rPr>
              <a:t>月</a:t>
            </a:r>
          </a:p>
        </p:txBody>
      </p:sp>
      <p:sp>
        <p:nvSpPr>
          <p:cNvPr id="20" name="テキスト ボックス 2095">
            <a:extLst>
              <a:ext uri="{FF2B5EF4-FFF2-40B4-BE49-F238E27FC236}">
                <a16:creationId xmlns:a16="http://schemas.microsoft.com/office/drawing/2014/main" id="{2C8EEABD-6A90-AA4E-FBA6-2819EBF654DE}"/>
              </a:ext>
            </a:extLst>
          </p:cNvPr>
          <p:cNvSpPr txBox="1"/>
          <p:nvPr/>
        </p:nvSpPr>
        <p:spPr>
          <a:xfrm>
            <a:off x="7623567" y="2492162"/>
            <a:ext cx="9575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1000">
                <a:latin typeface="メイリオ" panose="020B0604030504040204" pitchFamily="50" charset="-128"/>
                <a:ea typeface="メイリオ" panose="020B0604030504040204" pitchFamily="50" charset="-128"/>
              </a:rPr>
              <a:t>2025</a:t>
            </a:r>
            <a:r>
              <a:rPr kumimoji="1" lang="ja-JP" altLang="en-US" sz="1000">
                <a:latin typeface="メイリオ" panose="020B0604030504040204" pitchFamily="50" charset="-128"/>
                <a:ea typeface="メイリオ" panose="020B0604030504040204" pitchFamily="50" charset="-128"/>
              </a:rPr>
              <a:t>年</a:t>
            </a:r>
            <a:r>
              <a:rPr kumimoji="1" lang="en-US" altLang="ja-JP" sz="1000">
                <a:latin typeface="メイリオ" panose="020B0604030504040204" pitchFamily="50" charset="-128"/>
                <a:ea typeface="メイリオ" panose="020B0604030504040204" pitchFamily="50" charset="-128"/>
              </a:rPr>
              <a:t>5</a:t>
            </a:r>
            <a:r>
              <a:rPr kumimoji="1" lang="ja-JP" altLang="en-US" sz="1000">
                <a:latin typeface="メイリオ" panose="020B0604030504040204" pitchFamily="50" charset="-128"/>
                <a:ea typeface="メイリオ" panose="020B0604030504040204" pitchFamily="50" charset="-128"/>
              </a:rPr>
              <a:t>月</a:t>
            </a:r>
          </a:p>
        </p:txBody>
      </p:sp>
      <p:sp>
        <p:nvSpPr>
          <p:cNvPr id="21" name="テキスト ボックス 2097">
            <a:extLst>
              <a:ext uri="{FF2B5EF4-FFF2-40B4-BE49-F238E27FC236}">
                <a16:creationId xmlns:a16="http://schemas.microsoft.com/office/drawing/2014/main" id="{CE12257A-0E7E-B895-AF8E-D15F7AA1D62A}"/>
              </a:ext>
            </a:extLst>
          </p:cNvPr>
          <p:cNvSpPr txBox="1"/>
          <p:nvPr/>
        </p:nvSpPr>
        <p:spPr>
          <a:xfrm>
            <a:off x="2895696" y="3511221"/>
            <a:ext cx="957586" cy="246221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1000">
                <a:latin typeface="メイリオ" panose="020B0604030504040204" pitchFamily="50" charset="-128"/>
                <a:ea typeface="メイリオ" panose="020B0604030504040204" pitchFamily="50" charset="-128"/>
              </a:rPr>
              <a:t>2025</a:t>
            </a:r>
            <a:r>
              <a:rPr kumimoji="1" lang="ja-JP" altLang="en-US" sz="1000">
                <a:latin typeface="メイリオ" panose="020B0604030504040204" pitchFamily="50" charset="-128"/>
                <a:ea typeface="メイリオ" panose="020B0604030504040204" pitchFamily="50" charset="-128"/>
              </a:rPr>
              <a:t>年</a:t>
            </a:r>
            <a:r>
              <a:rPr lang="en-US" altLang="ja-JP" sz="1000">
                <a:latin typeface="メイリオ" panose="020B0604030504040204" pitchFamily="50" charset="-128"/>
                <a:ea typeface="メイリオ" panose="020B0604030504040204" pitchFamily="50" charset="-128"/>
              </a:rPr>
              <a:t>10</a:t>
            </a:r>
            <a:r>
              <a:rPr kumimoji="1" lang="ja-JP" altLang="en-US" sz="1000">
                <a:latin typeface="メイリオ" panose="020B0604030504040204" pitchFamily="50" charset="-128"/>
                <a:ea typeface="メイリオ" panose="020B0604030504040204" pitchFamily="50" charset="-128"/>
              </a:rPr>
              <a:t>月</a:t>
            </a:r>
          </a:p>
        </p:txBody>
      </p:sp>
      <p:sp>
        <p:nvSpPr>
          <p:cNvPr id="22" name="テキスト ボックス 2098">
            <a:extLst>
              <a:ext uri="{FF2B5EF4-FFF2-40B4-BE49-F238E27FC236}">
                <a16:creationId xmlns:a16="http://schemas.microsoft.com/office/drawing/2014/main" id="{82EEA8C2-D18D-B5B9-3D3F-C9BE318BD901}"/>
              </a:ext>
            </a:extLst>
          </p:cNvPr>
          <p:cNvSpPr txBox="1"/>
          <p:nvPr/>
        </p:nvSpPr>
        <p:spPr>
          <a:xfrm>
            <a:off x="589609" y="3475317"/>
            <a:ext cx="957586" cy="246221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1000">
                <a:latin typeface="メイリオ" panose="020B0604030504040204" pitchFamily="50" charset="-128"/>
                <a:ea typeface="メイリオ" panose="020B0604030504040204" pitchFamily="50" charset="-128"/>
              </a:rPr>
              <a:t>2025</a:t>
            </a:r>
            <a:r>
              <a:rPr kumimoji="1" lang="ja-JP" altLang="en-US" sz="1000">
                <a:latin typeface="メイリオ" panose="020B0604030504040204" pitchFamily="50" charset="-128"/>
                <a:ea typeface="メイリオ" panose="020B0604030504040204" pitchFamily="50" charset="-128"/>
              </a:rPr>
              <a:t>年</a:t>
            </a:r>
            <a:r>
              <a:rPr kumimoji="1" lang="en-US" altLang="ja-JP" sz="1000">
                <a:latin typeface="メイリオ" panose="020B0604030504040204" pitchFamily="50" charset="-128"/>
                <a:ea typeface="メイリオ" panose="020B0604030504040204" pitchFamily="50" charset="-128"/>
              </a:rPr>
              <a:t>8</a:t>
            </a:r>
            <a:r>
              <a:rPr kumimoji="1" lang="ja-JP" altLang="en-US" sz="1000">
                <a:latin typeface="メイリオ" panose="020B0604030504040204" pitchFamily="50" charset="-128"/>
                <a:ea typeface="メイリオ" panose="020B0604030504040204" pitchFamily="50" charset="-128"/>
              </a:rPr>
              <a:t>月</a:t>
            </a:r>
          </a:p>
        </p:txBody>
      </p:sp>
      <p:sp>
        <p:nvSpPr>
          <p:cNvPr id="23" name="テキスト ボックス 2100">
            <a:extLst>
              <a:ext uri="{FF2B5EF4-FFF2-40B4-BE49-F238E27FC236}">
                <a16:creationId xmlns:a16="http://schemas.microsoft.com/office/drawing/2014/main" id="{E6D4C90C-BD24-1939-D716-C6450E2AD8FC}"/>
              </a:ext>
            </a:extLst>
          </p:cNvPr>
          <p:cNvSpPr txBox="1"/>
          <p:nvPr/>
        </p:nvSpPr>
        <p:spPr>
          <a:xfrm>
            <a:off x="309563" y="4310547"/>
            <a:ext cx="1966105" cy="215444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ja-JP" altLang="en-US" sz="800" b="1">
                <a:solidFill>
                  <a:srgbClr val="C00000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単月</a:t>
            </a:r>
            <a:r>
              <a:rPr lang="en-US" altLang="ja-JP" sz="800" b="1">
                <a:solidFill>
                  <a:srgbClr val="C00000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6000</a:t>
            </a:r>
            <a:r>
              <a:rPr lang="ja-JP" altLang="en-US" sz="800" b="1">
                <a:solidFill>
                  <a:srgbClr val="C00000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万円</a:t>
            </a:r>
            <a:r>
              <a:rPr lang="ja-JP" altLang="en-US" sz="800">
                <a:latin typeface="メイリオ" panose="020B0604030504040204" pitchFamily="50" charset="-128"/>
                <a:ea typeface="メイリオ" panose="020B0604030504040204" pitchFamily="50" charset="-128"/>
              </a:rPr>
              <a:t>の取り扱いを突破。</a:t>
            </a:r>
            <a:endParaRPr kumimoji="1" lang="ja-JP" altLang="en-US" sz="80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24" name="テキスト ボックス 2101">
            <a:extLst>
              <a:ext uri="{FF2B5EF4-FFF2-40B4-BE49-F238E27FC236}">
                <a16:creationId xmlns:a16="http://schemas.microsoft.com/office/drawing/2014/main" id="{756F6552-3CAE-3310-D96A-5D847F286859}"/>
              </a:ext>
            </a:extLst>
          </p:cNvPr>
          <p:cNvSpPr txBox="1"/>
          <p:nvPr/>
        </p:nvSpPr>
        <p:spPr>
          <a:xfrm>
            <a:off x="2105787" y="3209363"/>
            <a:ext cx="2612987" cy="338554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8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2024</a:t>
            </a:r>
            <a:r>
              <a:rPr kumimoji="1" lang="ja-JP" altLang="en-US" sz="8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年度上半期の</a:t>
            </a:r>
            <a:r>
              <a:rPr kumimoji="1" lang="en-US" altLang="ja-JP" sz="8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Sales Partner</a:t>
            </a:r>
            <a:r>
              <a:rPr kumimoji="1" lang="ja-JP" altLang="en-US" sz="8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「</a:t>
            </a:r>
            <a:r>
              <a:rPr kumimoji="1" lang="en-US" altLang="ja-JP" sz="8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Premier</a:t>
            </a:r>
            <a:r>
              <a:rPr kumimoji="1" lang="ja-JP" altLang="en-US" sz="8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」に認定</a:t>
            </a:r>
            <a:r>
              <a:rPr lang="ja-JP" altLang="en-US" sz="8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。</a:t>
            </a:r>
            <a:endParaRPr lang="en-US" altLang="ja-JP" sz="8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ctr"/>
            <a:r>
              <a:rPr lang="ja-JP" altLang="en-US" sz="800" b="1" dirty="0">
                <a:solidFill>
                  <a:srgbClr val="C00000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上位</a:t>
            </a:r>
            <a:r>
              <a:rPr lang="en-US" altLang="ja-JP" sz="800" b="1" dirty="0">
                <a:solidFill>
                  <a:srgbClr val="C00000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20</a:t>
            </a:r>
            <a:r>
              <a:rPr lang="ja-JP" altLang="en-US" sz="800" b="1" dirty="0">
                <a:solidFill>
                  <a:srgbClr val="C00000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位タイ</a:t>
            </a:r>
            <a:endParaRPr lang="en-US" altLang="ja-JP" sz="800" b="1" dirty="0">
              <a:solidFill>
                <a:srgbClr val="C00000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25" name="テキスト ボックス 2102">
            <a:extLst>
              <a:ext uri="{FF2B5EF4-FFF2-40B4-BE49-F238E27FC236}">
                <a16:creationId xmlns:a16="http://schemas.microsoft.com/office/drawing/2014/main" id="{D5793D3E-32A5-A172-B93D-F2E02806685C}"/>
              </a:ext>
            </a:extLst>
          </p:cNvPr>
          <p:cNvSpPr txBox="1"/>
          <p:nvPr/>
        </p:nvSpPr>
        <p:spPr>
          <a:xfrm>
            <a:off x="4837113" y="3209363"/>
            <a:ext cx="1767520" cy="215444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ja-JP" altLang="en-US" sz="800" b="1">
                <a:solidFill>
                  <a:srgbClr val="C00000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単月</a:t>
            </a:r>
            <a:r>
              <a:rPr lang="en-US" altLang="ja-JP" sz="800" b="1">
                <a:solidFill>
                  <a:srgbClr val="C00000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2000</a:t>
            </a:r>
            <a:r>
              <a:rPr lang="ja-JP" altLang="en-US" sz="800" b="1">
                <a:solidFill>
                  <a:srgbClr val="C00000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万円</a:t>
            </a:r>
            <a:r>
              <a:rPr lang="ja-JP" altLang="en-US" sz="800">
                <a:latin typeface="メイリオ" panose="020B0604030504040204" pitchFamily="50" charset="-128"/>
                <a:ea typeface="メイリオ" panose="020B0604030504040204" pitchFamily="50" charset="-128"/>
              </a:rPr>
              <a:t>の取り扱いを突破。</a:t>
            </a:r>
            <a:endParaRPr lang="en-US" altLang="ja-JP" sz="80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26" name="テキスト ボックス 2103">
            <a:extLst>
              <a:ext uri="{FF2B5EF4-FFF2-40B4-BE49-F238E27FC236}">
                <a16:creationId xmlns:a16="http://schemas.microsoft.com/office/drawing/2014/main" id="{89EE1600-592C-F991-FBB3-472A73DB5551}"/>
              </a:ext>
            </a:extLst>
          </p:cNvPr>
          <p:cNvSpPr txBox="1"/>
          <p:nvPr/>
        </p:nvSpPr>
        <p:spPr>
          <a:xfrm>
            <a:off x="1858111" y="4310547"/>
            <a:ext cx="3234807" cy="338554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800">
                <a:latin typeface="メイリオ" panose="020B0604030504040204" pitchFamily="50" charset="-128"/>
                <a:ea typeface="メイリオ" panose="020B0604030504040204" pitchFamily="50" charset="-128"/>
              </a:rPr>
              <a:t>前回に続き、最高グレードである</a:t>
            </a:r>
            <a:r>
              <a:rPr lang="ja-JP" altLang="en-US" sz="800">
                <a:latin typeface="メイリオ" panose="020B0604030504040204" pitchFamily="50" charset="-128"/>
                <a:ea typeface="メイリオ" panose="020B0604030504040204" pitchFamily="50" charset="-128"/>
              </a:rPr>
              <a:t>「</a:t>
            </a:r>
            <a:r>
              <a:rPr lang="en-US" altLang="ja-JP" sz="800">
                <a:latin typeface="メイリオ" panose="020B0604030504040204" pitchFamily="50" charset="-128"/>
                <a:ea typeface="メイリオ" panose="020B0604030504040204" pitchFamily="50" charset="-128"/>
              </a:rPr>
              <a:t>Premier</a:t>
            </a:r>
            <a:r>
              <a:rPr lang="ja-JP" altLang="en-US" sz="800">
                <a:latin typeface="メイリオ" panose="020B0604030504040204" pitchFamily="50" charset="-128"/>
                <a:ea typeface="メイリオ" panose="020B0604030504040204" pitchFamily="50" charset="-128"/>
              </a:rPr>
              <a:t>」に認定。</a:t>
            </a:r>
            <a:endParaRPr lang="en-US" altLang="ja-JP" sz="80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ctr"/>
            <a:r>
              <a:rPr kumimoji="1" lang="ja-JP" altLang="en-US" sz="800" b="1">
                <a:solidFill>
                  <a:srgbClr val="C00000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上位</a:t>
            </a:r>
            <a:r>
              <a:rPr kumimoji="1" lang="en-US" altLang="ja-JP" sz="800" b="1">
                <a:solidFill>
                  <a:srgbClr val="C00000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12</a:t>
            </a:r>
            <a:r>
              <a:rPr kumimoji="1" lang="ja-JP" altLang="en-US" sz="800" b="1">
                <a:solidFill>
                  <a:srgbClr val="C00000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位タイ</a:t>
            </a:r>
          </a:p>
        </p:txBody>
      </p:sp>
      <p:sp>
        <p:nvSpPr>
          <p:cNvPr id="27" name="テキスト ボックス 2104">
            <a:extLst>
              <a:ext uri="{FF2B5EF4-FFF2-40B4-BE49-F238E27FC236}">
                <a16:creationId xmlns:a16="http://schemas.microsoft.com/office/drawing/2014/main" id="{735B8649-944E-38AC-EFE9-3FF466013418}"/>
              </a:ext>
            </a:extLst>
          </p:cNvPr>
          <p:cNvSpPr txBox="1"/>
          <p:nvPr/>
        </p:nvSpPr>
        <p:spPr>
          <a:xfrm>
            <a:off x="6722972" y="3209363"/>
            <a:ext cx="2758776" cy="338554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ja-JP" altLang="en-US" sz="800">
                <a:latin typeface="メイリオ" panose="020B0604030504040204" pitchFamily="50" charset="-128"/>
                <a:ea typeface="メイリオ" panose="020B0604030504040204" pitchFamily="50" charset="-128"/>
              </a:rPr>
              <a:t>前回に続き、最高グレードである「</a:t>
            </a:r>
            <a:r>
              <a:rPr lang="en-US" altLang="ja-JP" sz="800">
                <a:latin typeface="メイリオ" panose="020B0604030504040204" pitchFamily="50" charset="-128"/>
                <a:ea typeface="メイリオ" panose="020B0604030504040204" pitchFamily="50" charset="-128"/>
              </a:rPr>
              <a:t>Premier</a:t>
            </a:r>
            <a:r>
              <a:rPr lang="ja-JP" altLang="en-US" sz="800">
                <a:latin typeface="メイリオ" panose="020B0604030504040204" pitchFamily="50" charset="-128"/>
                <a:ea typeface="メイリオ" panose="020B0604030504040204" pitchFamily="50" charset="-128"/>
              </a:rPr>
              <a:t>」に認定。</a:t>
            </a:r>
            <a:r>
              <a:rPr lang="ja-JP" altLang="en-US" sz="800" b="1">
                <a:solidFill>
                  <a:srgbClr val="C00000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上位</a:t>
            </a:r>
            <a:r>
              <a:rPr lang="en-US" altLang="ja-JP" sz="800" b="1">
                <a:solidFill>
                  <a:srgbClr val="C00000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15</a:t>
            </a:r>
            <a:r>
              <a:rPr lang="ja-JP" altLang="en-US" sz="800" b="1">
                <a:solidFill>
                  <a:srgbClr val="C00000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位タイ</a:t>
            </a:r>
            <a:endParaRPr lang="en-US" altLang="ja-JP" sz="800" b="1">
              <a:solidFill>
                <a:srgbClr val="C00000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28" name="テキスト ボックス 2109">
            <a:extLst>
              <a:ext uri="{FF2B5EF4-FFF2-40B4-BE49-F238E27FC236}">
                <a16:creationId xmlns:a16="http://schemas.microsoft.com/office/drawing/2014/main" id="{9364E84A-3501-3480-3E86-4181D9EDDE0D}"/>
              </a:ext>
            </a:extLst>
          </p:cNvPr>
          <p:cNvSpPr txBox="1"/>
          <p:nvPr/>
        </p:nvSpPr>
        <p:spPr>
          <a:xfrm>
            <a:off x="5204477" y="3512494"/>
            <a:ext cx="957586" cy="246221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1000">
                <a:latin typeface="メイリオ" panose="020B0604030504040204" pitchFamily="50" charset="-128"/>
                <a:ea typeface="メイリオ" panose="020B0604030504040204" pitchFamily="50" charset="-128"/>
              </a:rPr>
              <a:t>現在</a:t>
            </a:r>
          </a:p>
        </p:txBody>
      </p:sp>
      <p:sp>
        <p:nvSpPr>
          <p:cNvPr id="29" name="テキスト ボックス 2110">
            <a:extLst>
              <a:ext uri="{FF2B5EF4-FFF2-40B4-BE49-F238E27FC236}">
                <a16:creationId xmlns:a16="http://schemas.microsoft.com/office/drawing/2014/main" id="{915149AC-7723-29BD-6D17-D471CC831F56}"/>
              </a:ext>
            </a:extLst>
          </p:cNvPr>
          <p:cNvSpPr txBox="1"/>
          <p:nvPr/>
        </p:nvSpPr>
        <p:spPr>
          <a:xfrm>
            <a:off x="4684085" y="4310547"/>
            <a:ext cx="2335280" cy="338554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ja-JP" altLang="en-US" sz="8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「</a:t>
            </a:r>
            <a:r>
              <a:rPr lang="en-US" altLang="ja-JP" sz="8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Best LINE</a:t>
            </a:r>
            <a:r>
              <a:rPr lang="ja-JP" altLang="en-US" sz="8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公式アカウント </a:t>
            </a:r>
            <a:r>
              <a:rPr lang="en-US" altLang="ja-JP" sz="8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Growth</a:t>
            </a:r>
            <a:r>
              <a:rPr lang="ja-JP" altLang="en-US" sz="8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」部門で</a:t>
            </a:r>
            <a:r>
              <a:rPr lang="en-US" altLang="ja-JP" sz="8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LINE</a:t>
            </a:r>
            <a:r>
              <a:rPr lang="ja-JP" altLang="en-US" sz="8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ヤフー社から表彰をいただきました。</a:t>
            </a:r>
            <a:endParaRPr kumimoji="1" lang="ja-JP" altLang="en-US" sz="8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30" name="正方形/長方形 7">
            <a:extLst>
              <a:ext uri="{FF2B5EF4-FFF2-40B4-BE49-F238E27FC236}">
                <a16:creationId xmlns:a16="http://schemas.microsoft.com/office/drawing/2014/main" id="{F974FA57-9312-73D0-6461-C65486B6B90A}"/>
              </a:ext>
            </a:extLst>
          </p:cNvPr>
          <p:cNvSpPr/>
          <p:nvPr/>
        </p:nvSpPr>
        <p:spPr>
          <a:xfrm>
            <a:off x="388723" y="675734"/>
            <a:ext cx="9128556" cy="34901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1" name="正方形/長方形 2">
            <a:extLst>
              <a:ext uri="{FF2B5EF4-FFF2-40B4-BE49-F238E27FC236}">
                <a16:creationId xmlns:a16="http://schemas.microsoft.com/office/drawing/2014/main" id="{4661DF32-128A-6B77-5F5D-76D78A1B8378}"/>
              </a:ext>
            </a:extLst>
          </p:cNvPr>
          <p:cNvSpPr/>
          <p:nvPr/>
        </p:nvSpPr>
        <p:spPr>
          <a:xfrm>
            <a:off x="2853632" y="700332"/>
            <a:ext cx="6663645" cy="306000"/>
          </a:xfrm>
          <a:prstGeom prst="rect">
            <a:avLst/>
          </a:prstGeom>
          <a:solidFill>
            <a:srgbClr val="10253F"/>
          </a:solidFill>
        </p:spPr>
        <p:txBody>
          <a:bodyPr wrap="square">
            <a:spAutoFit/>
          </a:bodyPr>
          <a:lstStyle/>
          <a:p>
            <a:pPr lvl="0">
              <a:buClr>
                <a:srgbClr val="002060"/>
              </a:buClr>
              <a:buSzPts val="1600"/>
            </a:pPr>
            <a:r>
              <a:rPr lang="en-US" altLang="ja-JP" sz="1300" b="1">
                <a:solidFill>
                  <a:schemeClr val="bg1"/>
                </a:solidFill>
                <a:latin typeface="Meiryo"/>
                <a:ea typeface="Meiryo"/>
                <a:cs typeface="Meiryo"/>
                <a:sym typeface="Meiryo"/>
              </a:rPr>
              <a:t>LINE</a:t>
            </a:r>
            <a:r>
              <a:rPr lang="ja-JP" altLang="en-US" sz="1300" b="1">
                <a:solidFill>
                  <a:schemeClr val="bg1"/>
                </a:solidFill>
                <a:latin typeface="Meiryo"/>
                <a:ea typeface="Meiryo"/>
                <a:cs typeface="Meiryo"/>
                <a:sym typeface="Meiryo"/>
              </a:rPr>
              <a:t>ヤフー </a:t>
            </a:r>
            <a:r>
              <a:rPr lang="en-US" altLang="ja-JP" sz="1300" b="1">
                <a:solidFill>
                  <a:schemeClr val="bg1"/>
                </a:solidFill>
                <a:latin typeface="Meiryo"/>
                <a:ea typeface="Meiryo"/>
                <a:cs typeface="Meiryo"/>
                <a:sym typeface="Meiryo"/>
              </a:rPr>
              <a:t>Partner Award 2025</a:t>
            </a:r>
            <a:r>
              <a:rPr lang="ja-JP" altLang="en-US" sz="1300" b="1">
                <a:solidFill>
                  <a:schemeClr val="bg1"/>
                </a:solidFill>
                <a:latin typeface="Meiryo"/>
                <a:ea typeface="Meiryo"/>
                <a:cs typeface="Meiryo"/>
                <a:sym typeface="Meiryo"/>
              </a:rPr>
              <a:t>にて「</a:t>
            </a:r>
            <a:r>
              <a:rPr lang="en-US" altLang="ja-JP" sz="1300" b="1">
                <a:solidFill>
                  <a:schemeClr val="bg1"/>
                </a:solidFill>
                <a:latin typeface="Meiryo"/>
                <a:ea typeface="Meiryo"/>
                <a:cs typeface="Meiryo"/>
                <a:sym typeface="Meiryo"/>
              </a:rPr>
              <a:t>Best LINE</a:t>
            </a:r>
            <a:r>
              <a:rPr lang="ja-JP" altLang="en-US" sz="1300" b="1">
                <a:solidFill>
                  <a:schemeClr val="bg1"/>
                </a:solidFill>
                <a:latin typeface="Meiryo"/>
                <a:ea typeface="Meiryo"/>
                <a:cs typeface="Meiryo"/>
                <a:sym typeface="Meiryo"/>
              </a:rPr>
              <a:t>公式アカウント </a:t>
            </a:r>
            <a:r>
              <a:rPr lang="en-US" altLang="ja-JP" sz="1300" b="1">
                <a:solidFill>
                  <a:schemeClr val="bg1"/>
                </a:solidFill>
                <a:latin typeface="Meiryo"/>
                <a:ea typeface="Meiryo"/>
                <a:cs typeface="Meiryo"/>
                <a:sym typeface="Meiryo"/>
              </a:rPr>
              <a:t>Growth</a:t>
            </a:r>
            <a:r>
              <a:rPr lang="ja-JP" altLang="en-US" sz="1300" b="1">
                <a:solidFill>
                  <a:schemeClr val="bg1"/>
                </a:solidFill>
                <a:latin typeface="Meiryo"/>
                <a:ea typeface="Meiryo"/>
                <a:cs typeface="Meiryo"/>
                <a:sym typeface="Meiryo"/>
              </a:rPr>
              <a:t>」受賞</a:t>
            </a:r>
            <a:endParaRPr lang="en-US" altLang="ja-JP" sz="1300" b="1" dirty="0">
              <a:solidFill>
                <a:schemeClr val="bg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32" name="正方形/長方形 5">
            <a:extLst>
              <a:ext uri="{FF2B5EF4-FFF2-40B4-BE49-F238E27FC236}">
                <a16:creationId xmlns:a16="http://schemas.microsoft.com/office/drawing/2014/main" id="{DEE7F595-5FAC-C5CD-0B26-580B6DF09A53}"/>
              </a:ext>
            </a:extLst>
          </p:cNvPr>
          <p:cNvSpPr/>
          <p:nvPr/>
        </p:nvSpPr>
        <p:spPr>
          <a:xfrm>
            <a:off x="432943" y="700332"/>
            <a:ext cx="2391617" cy="306000"/>
          </a:xfrm>
          <a:prstGeom prst="rect">
            <a:avLst/>
          </a:prstGeom>
          <a:solidFill>
            <a:srgbClr val="10253F"/>
          </a:solidFill>
        </p:spPr>
        <p:txBody>
          <a:bodyPr wrap="square">
            <a:spAutoFit/>
          </a:bodyPr>
          <a:lstStyle/>
          <a:p>
            <a:pPr lvl="0" algn="ctr">
              <a:buClr>
                <a:srgbClr val="002060"/>
              </a:buClr>
              <a:buSzPts val="1600"/>
            </a:pPr>
            <a:r>
              <a:rPr lang="en-US" altLang="ja-JP" sz="1400" b="1">
                <a:solidFill>
                  <a:schemeClr val="bg1"/>
                </a:solidFill>
                <a:latin typeface="Meiryo"/>
                <a:ea typeface="Meiryo"/>
                <a:cs typeface="Meiryo"/>
                <a:sym typeface="Meiryo"/>
              </a:rPr>
              <a:t>DYM × LINEOA</a:t>
            </a:r>
            <a:endParaRPr lang="en-US" altLang="ja-JP" sz="1400" b="1" dirty="0">
              <a:solidFill>
                <a:schemeClr val="bg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pic>
        <p:nvPicPr>
          <p:cNvPr id="33" name="Picture 2">
            <a:extLst>
              <a:ext uri="{FF2B5EF4-FFF2-40B4-BE49-F238E27FC236}">
                <a16:creationId xmlns:a16="http://schemas.microsoft.com/office/drawing/2014/main" id="{6B503BF7-985B-8770-4643-5E3EB6E5562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69689" y="5150774"/>
            <a:ext cx="1929199" cy="12861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4" name="テキスト プレースホルダー 2">
            <a:extLst>
              <a:ext uri="{FF2B5EF4-FFF2-40B4-BE49-F238E27FC236}">
                <a16:creationId xmlns:a16="http://schemas.microsoft.com/office/drawing/2014/main" id="{761ADAB8-B668-8B05-EDE6-B5003466E015}"/>
              </a:ext>
            </a:extLst>
          </p:cNvPr>
          <p:cNvSpPr txBox="1">
            <a:spLocks/>
          </p:cNvSpPr>
          <p:nvPr/>
        </p:nvSpPr>
        <p:spPr>
          <a:xfrm>
            <a:off x="8209814" y="6217102"/>
            <a:ext cx="676273" cy="157797"/>
          </a:xfrm>
          <a:prstGeom prst="rect">
            <a:avLst/>
          </a:prstGeom>
        </p:spPr>
        <p:txBody>
          <a:bodyPr lIns="0" tIns="0" rIns="0" bIns="0" anchor="t"/>
          <a:lstStyle>
            <a:lvl1pPr marL="0" indent="0" algn="l" defTabSz="914400" rtl="0" eaLnBrk="1" latinLnBrk="0" hangingPunct="1">
              <a:lnSpc>
                <a:spcPct val="130000"/>
              </a:lnSpc>
              <a:spcBef>
                <a:spcPts val="0"/>
              </a:spcBef>
              <a:buFont typeface="Arial" panose="020B0604020202020204" pitchFamily="34" charset="0"/>
              <a:buNone/>
              <a:defRPr kumimoji="1" sz="1400" kern="1200">
                <a:solidFill>
                  <a:schemeClr val="tx1">
                    <a:lumMod val="95000"/>
                    <a:lumOff val="5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altLang="ja-JP" sz="700">
                <a:solidFill>
                  <a:schemeClr val="bg1"/>
                </a:solidFill>
              </a:rPr>
              <a:t>※</a:t>
            </a:r>
            <a:r>
              <a:rPr lang="ja-JP" altLang="en-US" sz="700">
                <a:solidFill>
                  <a:schemeClr val="bg1"/>
                </a:solidFill>
              </a:rPr>
              <a:t>受賞時の</a:t>
            </a:r>
            <a:r>
              <a:rPr lang="en-US" altLang="ja-JP" sz="700">
                <a:solidFill>
                  <a:schemeClr val="bg1"/>
                </a:solidFill>
              </a:rPr>
              <a:t>1</a:t>
            </a:r>
            <a:r>
              <a:rPr lang="ja-JP" altLang="en-US" sz="700">
                <a:solidFill>
                  <a:schemeClr val="bg1"/>
                </a:solidFill>
              </a:rPr>
              <a:t>枚</a:t>
            </a:r>
            <a:endParaRPr lang="en-US" altLang="ja-JP" sz="700" dirty="0">
              <a:solidFill>
                <a:schemeClr val="bg1"/>
              </a:solidFill>
            </a:endParaRPr>
          </a:p>
        </p:txBody>
      </p:sp>
      <p:pic>
        <p:nvPicPr>
          <p:cNvPr id="35" name="図 6" descr="アイコン が含まれている画像&#10;&#10;AI 生成コンテンツは誤りを含む可能性があります。">
            <a:extLst>
              <a:ext uri="{FF2B5EF4-FFF2-40B4-BE49-F238E27FC236}">
                <a16:creationId xmlns:a16="http://schemas.microsoft.com/office/drawing/2014/main" id="{1FAB445F-372A-C0D2-7552-790613769A34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08069" y="4654614"/>
            <a:ext cx="2886575" cy="2294826"/>
          </a:xfrm>
          <a:prstGeom prst="rect">
            <a:avLst/>
          </a:prstGeom>
        </p:spPr>
      </p:pic>
      <p:sp>
        <p:nvSpPr>
          <p:cNvPr id="36" name="テキスト ボックス 9">
            <a:extLst>
              <a:ext uri="{FF2B5EF4-FFF2-40B4-BE49-F238E27FC236}">
                <a16:creationId xmlns:a16="http://schemas.microsoft.com/office/drawing/2014/main" id="{F7A1F49B-800C-42EE-5308-93E8C2B2E88F}"/>
              </a:ext>
            </a:extLst>
          </p:cNvPr>
          <p:cNvSpPr txBox="1"/>
          <p:nvPr/>
        </p:nvSpPr>
        <p:spPr>
          <a:xfrm>
            <a:off x="2535025" y="5767731"/>
            <a:ext cx="496388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900" dirty="0">
                <a:solidFill>
                  <a:srgbClr val="000000">
                    <a:lumMod val="95000"/>
                    <a:lumOff val="5000"/>
                  </a:srgb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現在</a:t>
            </a:r>
            <a:r>
              <a:rPr lang="en-US" altLang="ja-JP" sz="900" dirty="0">
                <a:solidFill>
                  <a:srgbClr val="000000">
                    <a:lumMod val="95000"/>
                    <a:lumOff val="5000"/>
                  </a:srgb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Sales Partner Premier</a:t>
            </a:r>
          </a:p>
          <a:p>
            <a:r>
              <a:rPr lang="ja-JP" altLang="en-US" sz="900" dirty="0">
                <a:solidFill>
                  <a:srgbClr val="000000">
                    <a:lumMod val="95000"/>
                    <a:lumOff val="5000"/>
                  </a:srgb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は</a:t>
            </a:r>
            <a:r>
              <a:rPr lang="en-US" altLang="ja-JP" sz="900" dirty="0">
                <a:solidFill>
                  <a:srgbClr val="000000">
                    <a:lumMod val="95000"/>
                    <a:lumOff val="5000"/>
                  </a:srgb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DYM</a:t>
            </a:r>
            <a:r>
              <a:rPr lang="ja-JP" altLang="en-US" sz="900" dirty="0">
                <a:solidFill>
                  <a:srgbClr val="000000">
                    <a:lumMod val="95000"/>
                    <a:lumOff val="5000"/>
                  </a:srgb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を合わせて</a:t>
            </a:r>
            <a:r>
              <a:rPr lang="en-US" altLang="ja-JP" sz="900" b="1" dirty="0">
                <a:solidFill>
                  <a:srgbClr val="000000">
                    <a:lumMod val="95000"/>
                    <a:lumOff val="5000"/>
                  </a:srgb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12</a:t>
            </a:r>
            <a:r>
              <a:rPr lang="ja-JP" altLang="en-US" sz="900" b="1" dirty="0">
                <a:solidFill>
                  <a:srgbClr val="000000">
                    <a:lumMod val="95000"/>
                    <a:lumOff val="5000"/>
                  </a:srgb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社が認定</a:t>
            </a:r>
            <a:r>
              <a:rPr lang="ja-JP" altLang="en-US" sz="900" dirty="0">
                <a:solidFill>
                  <a:srgbClr val="000000">
                    <a:lumMod val="95000"/>
                    <a:lumOff val="5000"/>
                  </a:srgb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。</a:t>
            </a:r>
            <a:endParaRPr lang="en-US" altLang="ja-JP" sz="900" dirty="0">
              <a:solidFill>
                <a:srgbClr val="000000">
                  <a:lumMod val="95000"/>
                  <a:lumOff val="5000"/>
                </a:srgb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endParaRPr lang="en-US" altLang="ja-JP" sz="900" dirty="0">
              <a:solidFill>
                <a:srgbClr val="000000">
                  <a:lumMod val="95000"/>
                  <a:lumOff val="5000"/>
                </a:srgb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en-US" altLang="ja-JP" sz="900" dirty="0">
                <a:solidFill>
                  <a:srgbClr val="000000">
                    <a:lumMod val="95000"/>
                    <a:lumOff val="5000"/>
                  </a:srgb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</a:t>
            </a:r>
            <a:r>
              <a:rPr lang="ja-JP" altLang="en-US" sz="900" dirty="0">
                <a:solidFill>
                  <a:srgbClr val="000000">
                    <a:lumMod val="95000"/>
                    <a:lumOff val="5000"/>
                  </a:srgb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未上場企業では</a:t>
            </a:r>
            <a:r>
              <a:rPr lang="ja-JP" altLang="en-US" sz="900" b="1" dirty="0">
                <a:solidFill>
                  <a:srgbClr val="000000">
                    <a:lumMod val="95000"/>
                    <a:lumOff val="5000"/>
                  </a:srgb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唯一で最上位</a:t>
            </a:r>
            <a:r>
              <a:rPr lang="ja-JP" altLang="en-US" sz="900" dirty="0">
                <a:solidFill>
                  <a:srgbClr val="000000">
                    <a:lumMod val="95000"/>
                    <a:lumOff val="5000"/>
                  </a:srgb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。</a:t>
            </a:r>
            <a:endParaRPr lang="ja-JP" altLang="en-US" sz="900" dirty="0"/>
          </a:p>
        </p:txBody>
      </p:sp>
      <p:pic>
        <p:nvPicPr>
          <p:cNvPr id="37" name="図 4">
            <a:extLst>
              <a:ext uri="{FF2B5EF4-FFF2-40B4-BE49-F238E27FC236}">
                <a16:creationId xmlns:a16="http://schemas.microsoft.com/office/drawing/2014/main" id="{60ACD608-62E1-EDDE-99C7-355D55B75F7D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8996" y="4759370"/>
            <a:ext cx="2664636" cy="20743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422253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" name="">
          <a:extLst>
            <a:ext uri="{FF2B5EF4-FFF2-40B4-BE49-F238E27FC236}">
              <a16:creationId xmlns:a16="http://schemas.microsoft.com/office/drawing/2014/main" id="{AD6A8E8E-25CB-4B86-C4F6-E5A7023586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求人メディアのLINE活用事例｜タウンワーク</a:t>
            </a:r>
          </a:p>
        </p:txBody>
      </p:sp>
      <p:sp>
        <p:nvSpPr>
          <p:cNvPr id="4" name="TextBox 2"/>
          <p:cNvSpPr txBox="1"/>
          <p:nvPr/>
        </p:nvSpPr>
        <p:spPr>
          <a:xfrm>
            <a:off x="432000" y="725334"/>
            <a:ext cx="9036000" cy="529332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リッチメニューに人気の検索条件を並べ、LINEからワンタップで求人を探</a:t>
            </a:r>
            <a:r>
              <a:rPr lang="ja-JP" altLang="en-US" sz="125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す</a:t>
            </a:r>
            <a:endParaRPr sz="12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</a:pPr>
            <a:r>
              <a:rPr sz="125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LINE経由の応募は、配信よりもリッチメニュー経由が最も多く</a:t>
            </a:r>
            <a:r>
              <a:rPr lang="ja-JP" altLang="en-US" sz="125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に</a:t>
            </a:r>
            <a:endParaRPr sz="12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5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4"/>
          <p:cNvSpPr/>
          <p:nvPr/>
        </p:nvSpPr>
        <p:spPr>
          <a:xfrm>
            <a:off x="432000" y="1620000"/>
            <a:ext cx="2844000" cy="1655999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400" tIns="21600" rIns="50400" bIns="21600" rtlCol="0" anchor="ctr"/>
          <a:lstStyle/>
          <a:p>
            <a:pPr algn="ctr">
              <a:spcAft>
                <a:spcPts val="600"/>
              </a:spcAft>
            </a:pPr>
            <a:r>
              <a:rPr sz="1300" b="1" dirty="0" err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応募数</a:t>
            </a:r>
            <a:endParaRPr sz="130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ctr">
              <a:spcAft>
                <a:spcPts val="600"/>
              </a:spcAft>
            </a:pPr>
            <a:r>
              <a:rPr sz="4000" b="1" dirty="0">
                <a:solidFill>
                  <a:schemeClr val="tx1"/>
                </a:solidFill>
                <a:latin typeface="メイリオ"/>
                <a:ea typeface="メイリオ"/>
                <a:cs typeface="メイリオ"/>
              </a:rPr>
              <a:t>＋79%</a:t>
            </a:r>
          </a:p>
          <a:p>
            <a:pPr algn="ctr"/>
            <a:r>
              <a:rPr sz="11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LINEからの応募が大きく増加</a:t>
            </a:r>
            <a:endParaRPr sz="11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7" name="Rounded Rectangle 5"/>
          <p:cNvSpPr/>
          <p:nvPr/>
        </p:nvSpPr>
        <p:spPr>
          <a:xfrm>
            <a:off x="3531599" y="1620000"/>
            <a:ext cx="2844000" cy="1655999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400" tIns="21600" rIns="50400" bIns="21600" rtlCol="0" anchor="ctr"/>
          <a:lstStyle/>
          <a:p>
            <a:pPr algn="ctr">
              <a:spcAft>
                <a:spcPts val="600"/>
              </a:spcAft>
            </a:pPr>
            <a:r>
              <a:rPr sz="1300" b="1" dirty="0" err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リッチメニューのタップ数</a:t>
            </a:r>
            <a:endParaRPr sz="130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ctr">
              <a:spcAft>
                <a:spcPts val="600"/>
              </a:spcAft>
            </a:pPr>
            <a:r>
              <a:rPr sz="4000" b="1" dirty="0">
                <a:solidFill>
                  <a:schemeClr val="tx1"/>
                </a:solidFill>
                <a:latin typeface="メイリオ"/>
                <a:ea typeface="メイリオ"/>
                <a:cs typeface="メイリオ"/>
              </a:rPr>
              <a:t>＋20%</a:t>
            </a:r>
          </a:p>
          <a:p>
            <a:pPr algn="ctr"/>
            <a:r>
              <a:rPr sz="11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探す入口として使われるように</a:t>
            </a:r>
            <a:endParaRPr sz="11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8" name="Rounded Rectangle 6"/>
          <p:cNvSpPr/>
          <p:nvPr/>
        </p:nvSpPr>
        <p:spPr>
          <a:xfrm>
            <a:off x="6631199" y="1620000"/>
            <a:ext cx="2844000" cy="1655999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400" tIns="21600" rIns="50400" bIns="21600" rtlCol="0" anchor="ctr"/>
          <a:lstStyle/>
          <a:p>
            <a:pPr algn="ctr">
              <a:spcAft>
                <a:spcPts val="600"/>
              </a:spcAft>
            </a:pPr>
            <a:r>
              <a:rPr sz="1300" b="1" dirty="0" err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リッチメニュー経由の応募</a:t>
            </a:r>
            <a:endParaRPr sz="130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ctr">
              <a:spcAft>
                <a:spcPts val="600"/>
              </a:spcAft>
            </a:pPr>
            <a:r>
              <a:rPr sz="4000" b="1" dirty="0" err="1">
                <a:solidFill>
                  <a:schemeClr val="tx1"/>
                </a:solidFill>
                <a:latin typeface="メイリオ"/>
                <a:ea typeface="メイリオ"/>
                <a:cs typeface="メイリオ"/>
              </a:rPr>
              <a:t>最多</a:t>
            </a:r>
            <a:endParaRPr sz="4000" b="1" dirty="0">
              <a:solidFill>
                <a:schemeClr val="tx1"/>
              </a:solidFill>
              <a:latin typeface="メイリオ"/>
              <a:ea typeface="メイリオ"/>
              <a:cs typeface="メイリオ"/>
            </a:endParaRPr>
          </a:p>
          <a:p>
            <a:pPr algn="ctr"/>
            <a:r>
              <a:rPr sz="11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LINE経由の応募の中で、配信より多い</a:t>
            </a:r>
            <a:endParaRPr sz="11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9" name="TextBox 7"/>
          <p:cNvSpPr txBox="1"/>
          <p:nvPr/>
        </p:nvSpPr>
        <p:spPr>
          <a:xfrm>
            <a:off x="432000" y="3456000"/>
            <a:ext cx="9043200" cy="288000"/>
          </a:xfrm>
          <a:prstGeom prst="rect">
            <a:avLst/>
          </a:prstGeom>
          <a:noFill/>
        </p:spPr>
        <p:txBody>
          <a:bodyPr wrap="square" lIns="0" tIns="21600" rIns="50400" bIns="21600" anchor="t">
            <a:spAutoFit/>
          </a:bodyPr>
          <a:lstStyle/>
          <a:p>
            <a:pPr algn="l"/>
            <a:r>
              <a:rPr sz="13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取り組みの内容</a:t>
            </a:r>
          </a:p>
        </p:txBody>
      </p:sp>
      <p:sp>
        <p:nvSpPr>
          <p:cNvPr id="10" name="Rounded Rectangle 8"/>
          <p:cNvSpPr/>
          <p:nvPr/>
        </p:nvSpPr>
        <p:spPr>
          <a:xfrm>
            <a:off x="432000" y="3780000"/>
            <a:ext cx="2844000" cy="1404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t"/>
          <a:lstStyle/>
          <a:p>
            <a:pPr algn="l">
              <a:spcAft>
                <a:spcPts val="500"/>
              </a:spcAft>
            </a:pPr>
            <a:r>
              <a:rPr sz="1250" b="1" dirty="0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1　</a:t>
            </a:r>
            <a:r>
              <a:rPr sz="1250" b="1" dirty="0" err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リッチメニューに人気の検索条件を並べる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単発・日払い・在宅など、よく探される</a:t>
            </a:r>
            <a:endParaRPr lang="en-US" sz="10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条件をボタンに</a:t>
            </a:r>
            <a:endParaRPr sz="10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1" name="Right Arrow 9"/>
          <p:cNvSpPr/>
          <p:nvPr/>
        </p:nvSpPr>
        <p:spPr>
          <a:xfrm>
            <a:off x="3283199" y="4320000"/>
            <a:ext cx="237600" cy="288000"/>
          </a:xfrm>
          <a:prstGeom prst="rightArrow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0"/>
          <p:cNvSpPr/>
          <p:nvPr/>
        </p:nvSpPr>
        <p:spPr>
          <a:xfrm>
            <a:off x="3531599" y="3780000"/>
            <a:ext cx="2844000" cy="1404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t"/>
          <a:lstStyle/>
          <a:p>
            <a:pPr algn="l">
              <a:spcAft>
                <a:spcPts val="500"/>
              </a:spcAft>
            </a:pPr>
            <a:r>
              <a:rPr sz="12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2　トークで条件を選ぶと、求人が表示される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選んだ条件に合う求人がカード形式で並ぶ</a:t>
            </a:r>
          </a:p>
        </p:txBody>
      </p:sp>
      <p:sp>
        <p:nvSpPr>
          <p:cNvPr id="13" name="Right Arrow 11"/>
          <p:cNvSpPr/>
          <p:nvPr/>
        </p:nvSpPr>
        <p:spPr>
          <a:xfrm>
            <a:off x="6382800" y="4320000"/>
            <a:ext cx="237600" cy="288000"/>
          </a:xfrm>
          <a:prstGeom prst="rightArrow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2"/>
          <p:cNvSpPr/>
          <p:nvPr/>
        </p:nvSpPr>
        <p:spPr>
          <a:xfrm>
            <a:off x="6631199" y="3780000"/>
            <a:ext cx="2844000" cy="1404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t"/>
          <a:lstStyle/>
          <a:p>
            <a:pPr algn="l">
              <a:spcAft>
                <a:spcPts val="500"/>
              </a:spcAft>
            </a:pPr>
            <a:r>
              <a:rPr sz="1250" b="1" dirty="0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3　</a:t>
            </a:r>
            <a:r>
              <a:rPr sz="1250" b="1" dirty="0" err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そのまま求人ページへ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条件を入れた状態の検索結果に移動</a:t>
            </a:r>
            <a:endParaRPr lang="en-US" sz="10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lang="ja-JP" altLang="en-US" sz="105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→</a:t>
            </a:r>
            <a:r>
              <a:rPr sz="105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サイトで応募</a:t>
            </a:r>
            <a:endParaRPr sz="10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5" name="Rounded Rectangle 13"/>
          <p:cNvSpPr/>
          <p:nvPr/>
        </p:nvSpPr>
        <p:spPr>
          <a:xfrm>
            <a:off x="432000" y="5400000"/>
            <a:ext cx="9043200" cy="432000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8000" tIns="0" rIns="108000" bIns="0" rtlCol="0" anchor="ctr"/>
          <a:lstStyle/>
          <a:p>
            <a:pPr algn="ctr">
              <a:lnSpc>
                <a:spcPct val="125000"/>
              </a:lnSpc>
            </a:pPr>
            <a:r>
              <a:rPr sz="1300" b="1" dirty="0" err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LINEを「求人を探す入口」にしたことが</a:t>
            </a:r>
            <a:r>
              <a:rPr sz="1300" b="1" dirty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、</a:t>
            </a:r>
            <a:r>
              <a:rPr lang="ja-JP" altLang="en-US" sz="1300" b="1" dirty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応募の増加へ</a:t>
            </a:r>
            <a:endParaRPr sz="1300" b="1" dirty="0">
              <a:solidFill>
                <a:srgbClr val="FFFFFF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6" name="TextBox 14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tIns="21600" rIns="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出典：LINEヤフー for Business 導入事例（タウンワーク・2019年公開）</a:t>
            </a:r>
          </a:p>
        </p:txBody>
      </p:sp>
    </p:spTree>
    <p:extLst>
      <p:ext uri="{BB962C8B-B14F-4D97-AF65-F5344CB8AC3E}">
        <p14:creationId xmlns:p14="http://schemas.microsoft.com/office/powerpoint/2010/main" val="237848453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" name="">
          <a:extLst>
            <a:ext uri="{FF2B5EF4-FFF2-40B4-BE49-F238E27FC236}">
              <a16:creationId xmlns:a16="http://schemas.microsoft.com/office/drawing/2014/main" id="{E70E5221-666F-DE20-B9E8-FDFC607CC2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タウンワークの実際の画面</a:t>
            </a:r>
          </a:p>
        </p:txBody>
      </p:sp>
      <p:sp>
        <p:nvSpPr>
          <p:cNvPr id="4" name="TextBox 2"/>
          <p:cNvSpPr txBox="1"/>
          <p:nvPr/>
        </p:nvSpPr>
        <p:spPr>
          <a:xfrm>
            <a:off x="432000" y="725334"/>
            <a:ext cx="9036000" cy="529332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LINEは「条件を選ぶ入口</a:t>
            </a:r>
            <a:r>
              <a:rPr sz="125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」</a:t>
            </a:r>
            <a:r>
              <a:rPr lang="ja-JP" altLang="en-US" sz="125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として機能</a:t>
            </a:r>
            <a:endParaRPr sz="12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</a:pPr>
            <a:r>
              <a:rPr sz="125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サイトの会員とLINEを連携し、条件別の検索結果ページへそのまま移動</a:t>
            </a:r>
            <a:endParaRPr sz="12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5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4"/>
          <p:cNvSpPr/>
          <p:nvPr/>
        </p:nvSpPr>
        <p:spPr>
          <a:xfrm>
            <a:off x="432000" y="1548000"/>
            <a:ext cx="1764000" cy="288000"/>
          </a:xfrm>
          <a:prstGeom prst="roundRect">
            <a:avLst>
              <a:gd name="adj" fmla="val 1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0" rIns="36000" bIns="0" rtlCol="0" anchor="ctr"/>
          <a:lstStyle/>
          <a:p>
            <a:pPr algn="ctr"/>
            <a:r>
              <a:rPr sz="11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1　あいさつ</a:t>
            </a:r>
          </a:p>
        </p:txBody>
      </p:sp>
      <p:pic>
        <p:nvPicPr>
          <p:cNvPr id="7" name="Picture 5" descr="1_あいさつ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2341" y="1890000"/>
            <a:ext cx="1763318" cy="3816000"/>
          </a:xfrm>
          <a:prstGeom prst="rect">
            <a:avLst/>
          </a:prstGeom>
          <a:ln>
            <a:solidFill>
              <a:srgbClr val="D9D9D9"/>
            </a:solidFill>
          </a:ln>
        </p:spPr>
      </p:pic>
      <p:sp>
        <p:nvSpPr>
          <p:cNvPr id="8" name="TextBox 6"/>
          <p:cNvSpPr txBox="1"/>
          <p:nvPr/>
        </p:nvSpPr>
        <p:spPr>
          <a:xfrm>
            <a:off x="323999" y="5742000"/>
            <a:ext cx="1980000" cy="468000"/>
          </a:xfrm>
          <a:prstGeom prst="rect">
            <a:avLst/>
          </a:prstGeom>
          <a:noFill/>
        </p:spPr>
        <p:txBody>
          <a:bodyPr wrap="square" lIns="0" tIns="21600" rIns="0" bIns="21600" anchor="t">
            <a:spAutoFit/>
          </a:bodyPr>
          <a:lstStyle/>
          <a:p>
            <a:pPr algn="ctr"/>
            <a:r>
              <a:rPr sz="10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条件に合う求人を受け取るための</a:t>
            </a:r>
          </a:p>
          <a:p>
            <a:pPr algn="ctr"/>
            <a:r>
              <a:rPr sz="10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会員連携を案内</a:t>
            </a:r>
          </a:p>
        </p:txBody>
      </p:sp>
      <p:sp>
        <p:nvSpPr>
          <p:cNvPr id="9" name="Rounded Rectangle 7"/>
          <p:cNvSpPr/>
          <p:nvPr/>
        </p:nvSpPr>
        <p:spPr>
          <a:xfrm>
            <a:off x="2858400" y="1548000"/>
            <a:ext cx="1764000" cy="288000"/>
          </a:xfrm>
          <a:prstGeom prst="roundRect">
            <a:avLst>
              <a:gd name="adj" fmla="val 1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0" rIns="36000" bIns="0" rtlCol="0" anchor="ctr"/>
          <a:lstStyle/>
          <a:p>
            <a:pPr algn="ctr"/>
            <a:r>
              <a:rPr sz="11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2　リッチメニュー</a:t>
            </a:r>
          </a:p>
        </p:txBody>
      </p:sp>
      <p:pic>
        <p:nvPicPr>
          <p:cNvPr id="10" name="Picture 8" descr="2_リッチメニュー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58741" y="1890000"/>
            <a:ext cx="1763318" cy="3816000"/>
          </a:xfrm>
          <a:prstGeom prst="rect">
            <a:avLst/>
          </a:prstGeom>
          <a:ln>
            <a:solidFill>
              <a:srgbClr val="D9D9D9"/>
            </a:solidFill>
          </a:ln>
        </p:spPr>
      </p:pic>
      <p:sp>
        <p:nvSpPr>
          <p:cNvPr id="11" name="TextBox 9"/>
          <p:cNvSpPr txBox="1"/>
          <p:nvPr/>
        </p:nvSpPr>
        <p:spPr>
          <a:xfrm>
            <a:off x="2750400" y="5742000"/>
            <a:ext cx="1980000" cy="468000"/>
          </a:xfrm>
          <a:prstGeom prst="rect">
            <a:avLst/>
          </a:prstGeom>
          <a:noFill/>
        </p:spPr>
        <p:txBody>
          <a:bodyPr wrap="square" lIns="0" tIns="21600" rIns="0" bIns="21600" anchor="t">
            <a:spAutoFit/>
          </a:bodyPr>
          <a:lstStyle/>
          <a:p>
            <a:pPr algn="ctr"/>
            <a:r>
              <a:rPr sz="10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時間帯・学生歓迎などの</a:t>
            </a:r>
          </a:p>
          <a:p>
            <a:pPr algn="ctr"/>
            <a:r>
              <a:rPr sz="10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条件がワンタップ</a:t>
            </a:r>
          </a:p>
        </p:txBody>
      </p:sp>
      <p:sp>
        <p:nvSpPr>
          <p:cNvPr id="12" name="Rounded Rectangle 10"/>
          <p:cNvSpPr/>
          <p:nvPr/>
        </p:nvSpPr>
        <p:spPr>
          <a:xfrm>
            <a:off x="5284800" y="1548000"/>
            <a:ext cx="1764000" cy="288000"/>
          </a:xfrm>
          <a:prstGeom prst="roundRect">
            <a:avLst>
              <a:gd name="adj" fmla="val 1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0" rIns="36000" bIns="0" rtlCol="0" anchor="ctr"/>
          <a:lstStyle/>
          <a:p>
            <a:pPr algn="ctr"/>
            <a:r>
              <a:rPr sz="11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3　移動先のサイト</a:t>
            </a:r>
          </a:p>
        </p:txBody>
      </p:sp>
      <p:pic>
        <p:nvPicPr>
          <p:cNvPr id="13" name="Picture 11" descr="3_遷移先サイト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85141" y="1890000"/>
            <a:ext cx="1763318" cy="3816000"/>
          </a:xfrm>
          <a:prstGeom prst="rect">
            <a:avLst/>
          </a:prstGeom>
          <a:ln>
            <a:solidFill>
              <a:srgbClr val="D9D9D9"/>
            </a:solidFill>
          </a:ln>
        </p:spPr>
      </p:pic>
      <p:sp>
        <p:nvSpPr>
          <p:cNvPr id="14" name="TextBox 12"/>
          <p:cNvSpPr txBox="1"/>
          <p:nvPr/>
        </p:nvSpPr>
        <p:spPr>
          <a:xfrm>
            <a:off x="5176800" y="5742000"/>
            <a:ext cx="1980000" cy="468000"/>
          </a:xfrm>
          <a:prstGeom prst="rect">
            <a:avLst/>
          </a:prstGeom>
          <a:noFill/>
        </p:spPr>
        <p:txBody>
          <a:bodyPr wrap="square" lIns="0" tIns="21600" rIns="0" bIns="21600" anchor="t">
            <a:spAutoFit/>
          </a:bodyPr>
          <a:lstStyle/>
          <a:p>
            <a:pPr algn="ctr"/>
            <a:r>
              <a:rPr sz="10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条件を入れた状態の</a:t>
            </a:r>
          </a:p>
          <a:p>
            <a:pPr algn="ctr"/>
            <a:r>
              <a:rPr sz="10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検索結果ページ</a:t>
            </a:r>
          </a:p>
        </p:txBody>
      </p:sp>
      <p:sp>
        <p:nvSpPr>
          <p:cNvPr id="15" name="Rounded Rectangle 13"/>
          <p:cNvSpPr/>
          <p:nvPr/>
        </p:nvSpPr>
        <p:spPr>
          <a:xfrm>
            <a:off x="7711199" y="1548000"/>
            <a:ext cx="1764000" cy="288000"/>
          </a:xfrm>
          <a:prstGeom prst="roundRect">
            <a:avLst>
              <a:gd name="adj" fmla="val 1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0" rIns="36000" bIns="0" rtlCol="0" anchor="ctr"/>
          <a:lstStyle/>
          <a:p>
            <a:pPr algn="ctr"/>
            <a:r>
              <a:rPr sz="11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4　会員連携の画面</a:t>
            </a:r>
          </a:p>
        </p:txBody>
      </p:sp>
      <p:pic>
        <p:nvPicPr>
          <p:cNvPr id="16" name="Picture 14" descr="4_連携リンク先_リクルートIDログイン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11541" y="1890000"/>
            <a:ext cx="1763318" cy="3816000"/>
          </a:xfrm>
          <a:prstGeom prst="rect">
            <a:avLst/>
          </a:prstGeom>
          <a:ln>
            <a:solidFill>
              <a:srgbClr val="D9D9D9"/>
            </a:solidFill>
          </a:ln>
        </p:spPr>
      </p:pic>
      <p:sp>
        <p:nvSpPr>
          <p:cNvPr id="17" name="TextBox 15"/>
          <p:cNvSpPr txBox="1"/>
          <p:nvPr/>
        </p:nvSpPr>
        <p:spPr>
          <a:xfrm>
            <a:off x="7603199" y="5742000"/>
            <a:ext cx="1980000" cy="468000"/>
          </a:xfrm>
          <a:prstGeom prst="rect">
            <a:avLst/>
          </a:prstGeom>
          <a:noFill/>
        </p:spPr>
        <p:txBody>
          <a:bodyPr wrap="square" lIns="0" tIns="21600" rIns="0" bIns="21600" anchor="t">
            <a:spAutoFit/>
          </a:bodyPr>
          <a:lstStyle/>
          <a:p>
            <a:pPr algn="ctr"/>
            <a:r>
              <a:rPr sz="10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リクルートIDでログイン</a:t>
            </a:r>
          </a:p>
          <a:p>
            <a:pPr algn="ctr"/>
            <a:r>
              <a:rPr sz="10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（メール＋パスワード）</a:t>
            </a:r>
          </a:p>
        </p:txBody>
      </p:sp>
      <p:sp>
        <p:nvSpPr>
          <p:cNvPr id="18" name="TextBox 16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tIns="21600" rIns="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画面：タウンワーク LINE公式アカウント（2026年9月 弊社確認）</a:t>
            </a:r>
          </a:p>
        </p:txBody>
      </p:sp>
    </p:spTree>
    <p:extLst>
      <p:ext uri="{BB962C8B-B14F-4D97-AF65-F5344CB8AC3E}">
        <p14:creationId xmlns:p14="http://schemas.microsoft.com/office/powerpoint/2010/main" val="171590932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LINEのメリット①｜興味別に届けられる</a:t>
            </a:r>
          </a:p>
        </p:txBody>
      </p:sp>
      <p:sp>
        <p:nvSpPr>
          <p:cNvPr id="4" name="TextBox 2"/>
          <p:cNvSpPr txBox="1"/>
          <p:nvPr/>
        </p:nvSpPr>
        <p:spPr>
          <a:xfrm>
            <a:off x="432000" y="725334"/>
            <a:ext cx="9036000" cy="529332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配信の中でクリックされた内容をもとに</a:t>
            </a:r>
            <a:r>
              <a:rPr sz="125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、</a:t>
            </a:r>
            <a:r>
              <a:rPr lang="ja-JP" altLang="en-US" sz="125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セグメント分け</a:t>
            </a:r>
            <a:endParaRPr sz="12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</a:pPr>
            <a:r>
              <a:rPr sz="125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配信するたびに分け方の精度が</a:t>
            </a:r>
            <a:r>
              <a:rPr lang="ja-JP" altLang="en-US" sz="125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向上</a:t>
            </a:r>
            <a:endParaRPr sz="12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5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4"/>
          <p:cNvSpPr/>
          <p:nvPr/>
        </p:nvSpPr>
        <p:spPr>
          <a:xfrm>
            <a:off x="432000" y="1620000"/>
            <a:ext cx="2232000" cy="324000"/>
          </a:xfrm>
          <a:prstGeom prst="roundRect">
            <a:avLst>
              <a:gd name="adj" fmla="val 1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0" rIns="36000" bIns="0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STEP1　配信する</a:t>
            </a:r>
          </a:p>
        </p:txBody>
      </p:sp>
      <p:sp>
        <p:nvSpPr>
          <p:cNvPr id="7" name="Rounded Rectangle 5"/>
          <p:cNvSpPr/>
          <p:nvPr/>
        </p:nvSpPr>
        <p:spPr>
          <a:xfrm>
            <a:off x="432000" y="1980000"/>
            <a:ext cx="2232000" cy="2592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t"/>
          <a:lstStyle/>
          <a:p>
            <a:pPr algn="l">
              <a:spcAft>
                <a:spcPts val="500"/>
              </a:spcAft>
            </a:pPr>
            <a:r>
              <a:rPr sz="1250" b="1" dirty="0" err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新着求人のお知らせ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5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</a:t>
            </a:r>
            <a:r>
              <a:rPr sz="115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整備士</a:t>
            </a:r>
            <a:endParaRPr sz="11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5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</a:t>
            </a:r>
            <a:r>
              <a:rPr sz="115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営業</a:t>
            </a:r>
            <a:endParaRPr sz="11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5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</a:t>
            </a:r>
            <a:r>
              <a:rPr sz="115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未経験OK・資格取得支援</a:t>
            </a:r>
            <a:endParaRPr lang="en-US" sz="11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endParaRPr sz="5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5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3つの求人を1通で届ける</a:t>
            </a:r>
          </a:p>
        </p:txBody>
      </p:sp>
      <p:sp>
        <p:nvSpPr>
          <p:cNvPr id="8" name="Right Arrow 6"/>
          <p:cNvSpPr/>
          <p:nvPr/>
        </p:nvSpPr>
        <p:spPr>
          <a:xfrm>
            <a:off x="2772000" y="3096000"/>
            <a:ext cx="324000" cy="324000"/>
          </a:xfrm>
          <a:prstGeom prst="rightArrow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7"/>
          <p:cNvSpPr/>
          <p:nvPr/>
        </p:nvSpPr>
        <p:spPr>
          <a:xfrm>
            <a:off x="3240000" y="1620000"/>
            <a:ext cx="2988000" cy="324000"/>
          </a:xfrm>
          <a:prstGeom prst="roundRect">
            <a:avLst>
              <a:gd name="adj" fmla="val 1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0" rIns="36000" bIns="0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STEP2　クリックで自動的に分かれる</a:t>
            </a:r>
          </a:p>
        </p:txBody>
      </p:sp>
      <p:sp>
        <p:nvSpPr>
          <p:cNvPr id="10" name="Rounded Rectangle 8"/>
          <p:cNvSpPr/>
          <p:nvPr/>
        </p:nvSpPr>
        <p:spPr>
          <a:xfrm>
            <a:off x="3240000" y="1980000"/>
            <a:ext cx="2988000" cy="810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t"/>
          <a:lstStyle/>
          <a:p>
            <a:pPr algn="l">
              <a:spcAft>
                <a:spcPts val="500"/>
              </a:spcAft>
            </a:pPr>
            <a:r>
              <a:rPr sz="11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整備士の求人をクリック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→「整備士に興味」のグループ</a:t>
            </a:r>
          </a:p>
        </p:txBody>
      </p:sp>
      <p:sp>
        <p:nvSpPr>
          <p:cNvPr id="11" name="Rounded Rectangle 9"/>
          <p:cNvSpPr/>
          <p:nvPr/>
        </p:nvSpPr>
        <p:spPr>
          <a:xfrm>
            <a:off x="3240000" y="2862000"/>
            <a:ext cx="2988000" cy="810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t"/>
          <a:lstStyle/>
          <a:p>
            <a:pPr algn="l">
              <a:spcAft>
                <a:spcPts val="500"/>
              </a:spcAft>
            </a:pPr>
            <a:r>
              <a:rPr sz="11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営業の求人をクリック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→「営業に興味」のグループ</a:t>
            </a:r>
          </a:p>
        </p:txBody>
      </p:sp>
      <p:sp>
        <p:nvSpPr>
          <p:cNvPr id="12" name="Rounded Rectangle 10"/>
          <p:cNvSpPr/>
          <p:nvPr/>
        </p:nvSpPr>
        <p:spPr>
          <a:xfrm>
            <a:off x="3240000" y="3744000"/>
            <a:ext cx="2988000" cy="810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t"/>
          <a:lstStyle/>
          <a:p>
            <a:pPr algn="l">
              <a:spcAft>
                <a:spcPts val="500"/>
              </a:spcAft>
            </a:pPr>
            <a:r>
              <a:rPr sz="11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資格取得支援をクリック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→「未経験・資格取得を目指す」グループ</a:t>
            </a:r>
          </a:p>
        </p:txBody>
      </p:sp>
      <p:sp>
        <p:nvSpPr>
          <p:cNvPr id="13" name="Right Arrow 11"/>
          <p:cNvSpPr/>
          <p:nvPr/>
        </p:nvSpPr>
        <p:spPr>
          <a:xfrm>
            <a:off x="6390000" y="3096000"/>
            <a:ext cx="324000" cy="324000"/>
          </a:xfrm>
          <a:prstGeom prst="rightArrow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2"/>
          <p:cNvSpPr/>
          <p:nvPr/>
        </p:nvSpPr>
        <p:spPr>
          <a:xfrm>
            <a:off x="6840000" y="1620000"/>
            <a:ext cx="2635200" cy="324000"/>
          </a:xfrm>
          <a:prstGeom prst="roundRect">
            <a:avLst>
              <a:gd name="adj" fmla="val 1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0" rIns="36000" bIns="0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STEP3　興味のある方にだけ届ける</a:t>
            </a:r>
          </a:p>
        </p:txBody>
      </p:sp>
      <p:sp>
        <p:nvSpPr>
          <p:cNvPr id="15" name="Rounded Rectangle 13"/>
          <p:cNvSpPr/>
          <p:nvPr/>
        </p:nvSpPr>
        <p:spPr>
          <a:xfrm>
            <a:off x="6840000" y="1980000"/>
            <a:ext cx="2635200" cy="2592000"/>
          </a:xfrm>
          <a:prstGeom prst="roundRect">
            <a:avLst>
              <a:gd name="adj" fmla="val 6000"/>
            </a:avLst>
          </a:prstGeom>
          <a:solidFill>
            <a:srgbClr val="FCE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t"/>
          <a:lstStyle/>
          <a:p>
            <a:pPr algn="l">
              <a:spcAft>
                <a:spcPts val="500"/>
              </a:spcAft>
            </a:pPr>
            <a:r>
              <a:rPr sz="1250" b="1" dirty="0" err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次の配信から</a:t>
            </a:r>
            <a:endParaRPr sz="1250" b="1" dirty="0">
              <a:solidFill>
                <a:srgbClr val="ED7D31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5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整備士グループには整備士の求人</a:t>
            </a:r>
            <a:endParaRPr sz="11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5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未経験グループには資格取得支援</a:t>
            </a:r>
            <a:r>
              <a:rPr lang="ja-JP" altLang="en-US" sz="115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　</a:t>
            </a:r>
            <a:endParaRPr lang="en-US" altLang="ja-JP" sz="11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endParaRPr sz="3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5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興味のない案内が減るので</a:t>
            </a:r>
            <a:r>
              <a:rPr sz="115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、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5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ブロックされにくくなります</a:t>
            </a:r>
            <a:r>
              <a:rPr sz="115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。</a:t>
            </a:r>
          </a:p>
        </p:txBody>
      </p:sp>
      <p:sp>
        <p:nvSpPr>
          <p:cNvPr id="16" name="Rounded Rectangle 14"/>
          <p:cNvSpPr/>
          <p:nvPr/>
        </p:nvSpPr>
        <p:spPr>
          <a:xfrm>
            <a:off x="432000" y="4896000"/>
            <a:ext cx="9043200" cy="432000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8000" tIns="0" rIns="108000" bIns="0" rtlCol="0" anchor="ctr"/>
          <a:lstStyle/>
          <a:p>
            <a:pPr algn="ctr">
              <a:lnSpc>
                <a:spcPct val="125000"/>
              </a:lnSpc>
            </a:pPr>
            <a:r>
              <a:rPr sz="1300" b="1" dirty="0" err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登録時に細かく聞かなくても、クリックの履歴で</a:t>
            </a:r>
            <a:r>
              <a:rPr lang="ja-JP" altLang="en-US" sz="1300" b="1" dirty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タグを設置</a:t>
            </a:r>
            <a:endParaRPr sz="1300" b="1" dirty="0">
              <a:solidFill>
                <a:srgbClr val="FFFFFF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7" name="TextBox 15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tIns="21600" rIns="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※LINE公式アカウント管理画面の「オーディエンス」機能（クリックリターゲティング）を使用</a:t>
            </a:r>
          </a:p>
        </p:txBody>
      </p:sp>
    </p:spTree>
    <p:extLst>
      <p:ext uri="{BB962C8B-B14F-4D97-AF65-F5344CB8AC3E}">
        <p14:creationId xmlns:p14="http://schemas.microsoft.com/office/powerpoint/2010/main" val="393999798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"/>
          <p:cNvSpPr txBox="1"/>
          <p:nvPr/>
        </p:nvSpPr>
        <p:spPr>
          <a:xfrm>
            <a:off x="547200" y="161078"/>
            <a:ext cx="8784000" cy="289843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 dirty="0" err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LINEのメリット</a:t>
            </a:r>
            <a:r>
              <a:rPr sz="1600" b="1" dirty="0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②｜</a:t>
            </a:r>
            <a:r>
              <a:rPr lang="ja-JP" altLang="en-US" sz="1600" b="1" dirty="0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半永久的に</a:t>
            </a:r>
            <a:r>
              <a:rPr sz="1600" b="1" dirty="0" err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接点を持てる</a:t>
            </a:r>
            <a:endParaRPr sz="1600" b="1" dirty="0">
              <a:solidFill>
                <a:srgbClr val="002060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4" name="TextBox 2"/>
          <p:cNvSpPr txBox="1"/>
          <p:nvPr/>
        </p:nvSpPr>
        <p:spPr>
          <a:xfrm>
            <a:off x="432000" y="725334"/>
            <a:ext cx="9036000" cy="529332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広告は、クリック</a:t>
            </a:r>
            <a:r>
              <a:rPr lang="ja-JP" altLang="en-US" sz="125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→離脱</a:t>
            </a:r>
            <a:r>
              <a:rPr sz="125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で接点が終わ</a:t>
            </a:r>
            <a:r>
              <a:rPr lang="ja-JP" altLang="en-US" sz="125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る</a:t>
            </a:r>
            <a:r>
              <a:rPr sz="125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。</a:t>
            </a:r>
          </a:p>
          <a:p>
            <a:pPr algn="l">
              <a:lnSpc>
                <a:spcPct val="130000"/>
              </a:lnSpc>
            </a:pPr>
            <a:r>
              <a:rPr sz="125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LINEは、何度でも求人をご案内</a:t>
            </a:r>
            <a:endParaRPr sz="12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5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4"/>
          <p:cNvSpPr txBox="1"/>
          <p:nvPr/>
        </p:nvSpPr>
        <p:spPr>
          <a:xfrm>
            <a:off x="432000" y="1655999"/>
            <a:ext cx="936000" cy="432000"/>
          </a:xfrm>
          <a:prstGeom prst="rect">
            <a:avLst/>
          </a:prstGeom>
          <a:noFill/>
        </p:spPr>
        <p:txBody>
          <a:bodyPr wrap="square" lIns="0" tIns="21600" rIns="50400" bIns="21600" anchor="ctr">
            <a:spAutoFit/>
          </a:bodyPr>
          <a:lstStyle/>
          <a:p>
            <a:pPr algn="l"/>
            <a:r>
              <a:rPr sz="14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広告</a:t>
            </a:r>
          </a:p>
        </p:txBody>
      </p:sp>
      <p:sp>
        <p:nvSpPr>
          <p:cNvPr id="7" name="Rounded Rectangle 5"/>
          <p:cNvSpPr/>
          <p:nvPr/>
        </p:nvSpPr>
        <p:spPr>
          <a:xfrm>
            <a:off x="1440000" y="1655999"/>
            <a:ext cx="1655999" cy="432000"/>
          </a:xfrm>
          <a:prstGeom prst="roundRect">
            <a:avLst>
              <a:gd name="adj" fmla="val 18000"/>
            </a:avLst>
          </a:prstGeom>
          <a:solidFill>
            <a:srgbClr val="E6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0" rIns="36000" bIns="0" rtlCol="0" anchor="ctr"/>
          <a:lstStyle/>
          <a:p>
            <a:pPr algn="ctr"/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広告を見る</a:t>
            </a:r>
          </a:p>
        </p:txBody>
      </p:sp>
      <p:sp>
        <p:nvSpPr>
          <p:cNvPr id="8" name="Right Arrow 6"/>
          <p:cNvSpPr/>
          <p:nvPr/>
        </p:nvSpPr>
        <p:spPr>
          <a:xfrm>
            <a:off x="3131999" y="1745999"/>
            <a:ext cx="288000" cy="251999"/>
          </a:xfrm>
          <a:prstGeom prst="rightArrow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7"/>
          <p:cNvSpPr/>
          <p:nvPr/>
        </p:nvSpPr>
        <p:spPr>
          <a:xfrm>
            <a:off x="3491999" y="1655999"/>
            <a:ext cx="1655999" cy="432000"/>
          </a:xfrm>
          <a:prstGeom prst="roundRect">
            <a:avLst>
              <a:gd name="adj" fmla="val 18000"/>
            </a:avLst>
          </a:prstGeom>
          <a:solidFill>
            <a:srgbClr val="E6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0" rIns="36000" bIns="0" rtlCol="0" anchor="ctr"/>
          <a:lstStyle/>
          <a:p>
            <a:pPr algn="ctr"/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求人を見る</a:t>
            </a:r>
          </a:p>
        </p:txBody>
      </p:sp>
      <p:sp>
        <p:nvSpPr>
          <p:cNvPr id="10" name="Right Arrow 8"/>
          <p:cNvSpPr/>
          <p:nvPr/>
        </p:nvSpPr>
        <p:spPr>
          <a:xfrm>
            <a:off x="5183999" y="1745999"/>
            <a:ext cx="288000" cy="251999"/>
          </a:xfrm>
          <a:prstGeom prst="rightArrow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9"/>
          <p:cNvSpPr/>
          <p:nvPr/>
        </p:nvSpPr>
        <p:spPr>
          <a:xfrm>
            <a:off x="5544000" y="1655999"/>
            <a:ext cx="1655999" cy="432000"/>
          </a:xfrm>
          <a:prstGeom prst="roundRect">
            <a:avLst>
              <a:gd name="adj" fmla="val 18000"/>
            </a:avLst>
          </a:prstGeom>
          <a:solidFill>
            <a:srgbClr val="E6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0" rIns="36000" bIns="0" rtlCol="0" anchor="ctr"/>
          <a:lstStyle/>
          <a:p>
            <a:pPr algn="ctr"/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応募しない</a:t>
            </a:r>
          </a:p>
        </p:txBody>
      </p:sp>
      <p:sp>
        <p:nvSpPr>
          <p:cNvPr id="12" name="Right Arrow 10"/>
          <p:cNvSpPr/>
          <p:nvPr/>
        </p:nvSpPr>
        <p:spPr>
          <a:xfrm>
            <a:off x="7236000" y="1745999"/>
            <a:ext cx="288000" cy="251999"/>
          </a:xfrm>
          <a:prstGeom prst="rightArrow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1"/>
          <p:cNvSpPr/>
          <p:nvPr/>
        </p:nvSpPr>
        <p:spPr>
          <a:xfrm>
            <a:off x="7596000" y="1655999"/>
            <a:ext cx="1655999" cy="432000"/>
          </a:xfrm>
          <a:prstGeom prst="roundRect">
            <a:avLst>
              <a:gd name="adj" fmla="val 18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0" rIns="36000" bIns="0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接点が終わる</a:t>
            </a:r>
          </a:p>
        </p:txBody>
      </p:sp>
      <p:sp>
        <p:nvSpPr>
          <p:cNvPr id="14" name="TextBox 12"/>
          <p:cNvSpPr txBox="1"/>
          <p:nvPr/>
        </p:nvSpPr>
        <p:spPr>
          <a:xfrm>
            <a:off x="432000" y="2520000"/>
            <a:ext cx="936000" cy="432000"/>
          </a:xfrm>
          <a:prstGeom prst="rect">
            <a:avLst/>
          </a:prstGeom>
          <a:noFill/>
        </p:spPr>
        <p:txBody>
          <a:bodyPr wrap="square" lIns="0" tIns="21600" rIns="50400" bIns="21600" anchor="ctr">
            <a:spAutoFit/>
          </a:bodyPr>
          <a:lstStyle/>
          <a:p>
            <a:pPr algn="l"/>
            <a:r>
              <a:rPr sz="1400" b="1">
                <a:solidFill>
                  <a:srgbClr val="06C755"/>
                </a:solidFill>
                <a:latin typeface="メイリオ"/>
                <a:ea typeface="メイリオ"/>
                <a:cs typeface="メイリオ"/>
              </a:rPr>
              <a:t>LINE</a:t>
            </a:r>
          </a:p>
        </p:txBody>
      </p:sp>
      <p:sp>
        <p:nvSpPr>
          <p:cNvPr id="15" name="Rounded Rectangle 13"/>
          <p:cNvSpPr/>
          <p:nvPr/>
        </p:nvSpPr>
        <p:spPr>
          <a:xfrm>
            <a:off x="1440000" y="2520000"/>
            <a:ext cx="1655999" cy="432000"/>
          </a:xfrm>
          <a:prstGeom prst="roundRect">
            <a:avLst>
              <a:gd name="adj" fmla="val 18000"/>
            </a:avLst>
          </a:prstGeom>
          <a:solidFill>
            <a:srgbClr val="E8F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0" rIns="36000" bIns="0" rtlCol="0" anchor="ctr"/>
          <a:lstStyle/>
          <a:p>
            <a:pPr algn="ctr"/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求人を見る</a:t>
            </a:r>
          </a:p>
        </p:txBody>
      </p:sp>
      <p:sp>
        <p:nvSpPr>
          <p:cNvPr id="16" name="Right Arrow 14"/>
          <p:cNvSpPr/>
          <p:nvPr/>
        </p:nvSpPr>
        <p:spPr>
          <a:xfrm>
            <a:off x="3131999" y="2610000"/>
            <a:ext cx="288000" cy="251999"/>
          </a:xfrm>
          <a:prstGeom prst="rightArrow">
            <a:avLst/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5"/>
          <p:cNvSpPr/>
          <p:nvPr/>
        </p:nvSpPr>
        <p:spPr>
          <a:xfrm>
            <a:off x="3491999" y="2520000"/>
            <a:ext cx="1655999" cy="432000"/>
          </a:xfrm>
          <a:prstGeom prst="roundRect">
            <a:avLst>
              <a:gd name="adj" fmla="val 18000"/>
            </a:avLst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0" rIns="36000" bIns="0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LINEで友だちに</a:t>
            </a:r>
          </a:p>
        </p:txBody>
      </p:sp>
      <p:sp>
        <p:nvSpPr>
          <p:cNvPr id="18" name="Right Arrow 16"/>
          <p:cNvSpPr/>
          <p:nvPr/>
        </p:nvSpPr>
        <p:spPr>
          <a:xfrm>
            <a:off x="5183999" y="2610000"/>
            <a:ext cx="288000" cy="251999"/>
          </a:xfrm>
          <a:prstGeom prst="rightArrow">
            <a:avLst/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7"/>
          <p:cNvSpPr/>
          <p:nvPr/>
        </p:nvSpPr>
        <p:spPr>
          <a:xfrm>
            <a:off x="5544000" y="2520000"/>
            <a:ext cx="1655999" cy="432000"/>
          </a:xfrm>
          <a:prstGeom prst="roundRect">
            <a:avLst>
              <a:gd name="adj" fmla="val 18000"/>
            </a:avLst>
          </a:prstGeom>
          <a:solidFill>
            <a:srgbClr val="E8F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0" rIns="36000" bIns="0" rtlCol="0" anchor="ctr"/>
          <a:lstStyle/>
          <a:p>
            <a:pPr algn="ctr"/>
            <a:r>
              <a:rPr sz="1200" b="1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新着求人</a:t>
            </a:r>
            <a:r>
              <a:rPr sz="1200" b="1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</a:t>
            </a:r>
            <a:endParaRPr lang="en-US" sz="1200" b="1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 algn="ctr"/>
            <a:r>
              <a:rPr sz="1200" b="1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条件の合う求人</a:t>
            </a:r>
            <a:endParaRPr sz="1200" b="1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20" name="Right Arrow 18"/>
          <p:cNvSpPr/>
          <p:nvPr/>
        </p:nvSpPr>
        <p:spPr>
          <a:xfrm>
            <a:off x="7236000" y="2610000"/>
            <a:ext cx="288000" cy="251999"/>
          </a:xfrm>
          <a:prstGeom prst="rightArrow">
            <a:avLst/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19"/>
          <p:cNvSpPr/>
          <p:nvPr/>
        </p:nvSpPr>
        <p:spPr>
          <a:xfrm>
            <a:off x="7596000" y="2520000"/>
            <a:ext cx="1655999" cy="432000"/>
          </a:xfrm>
          <a:prstGeom prst="roundRect">
            <a:avLst>
              <a:gd name="adj" fmla="val 18000"/>
            </a:avLst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0" rIns="36000" bIns="0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応募</a:t>
            </a:r>
          </a:p>
        </p:txBody>
      </p:sp>
      <p:sp>
        <p:nvSpPr>
          <p:cNvPr id="22" name="TextBox 20"/>
          <p:cNvSpPr txBox="1"/>
          <p:nvPr/>
        </p:nvSpPr>
        <p:spPr>
          <a:xfrm>
            <a:off x="5544000" y="3024000"/>
            <a:ext cx="1800000" cy="288000"/>
          </a:xfrm>
          <a:prstGeom prst="rect">
            <a:avLst/>
          </a:prstGeom>
          <a:noFill/>
        </p:spPr>
        <p:txBody>
          <a:bodyPr wrap="square" lIns="0" tIns="21600" rIns="50400" bIns="21600" anchor="t">
            <a:spAutoFit/>
          </a:bodyPr>
          <a:lstStyle/>
          <a:p>
            <a:pPr algn="ctr"/>
            <a:r>
              <a:rPr sz="1100" b="1">
                <a:solidFill>
                  <a:srgbClr val="06C755"/>
                </a:solidFill>
                <a:latin typeface="メイリオ"/>
                <a:ea typeface="メイリオ"/>
                <a:cs typeface="メイリオ"/>
              </a:rPr>
              <a:t>↻ 何度でもご案内</a:t>
            </a:r>
          </a:p>
        </p:txBody>
      </p:sp>
      <p:sp>
        <p:nvSpPr>
          <p:cNvPr id="23" name="Rounded Rectangle 21"/>
          <p:cNvSpPr/>
          <p:nvPr/>
        </p:nvSpPr>
        <p:spPr>
          <a:xfrm>
            <a:off x="432000" y="3600000"/>
            <a:ext cx="2844000" cy="1296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t"/>
          <a:lstStyle/>
          <a:p>
            <a:pPr algn="l">
              <a:spcAft>
                <a:spcPts val="500"/>
              </a:spcAft>
            </a:pPr>
            <a:r>
              <a:rPr sz="12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応募しなかった方ともつながり続ける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今すぐ応募しない方とも、友だちとしてつながり続けます。</a:t>
            </a:r>
          </a:p>
        </p:txBody>
      </p:sp>
      <p:sp>
        <p:nvSpPr>
          <p:cNvPr id="24" name="Rounded Rectangle 22"/>
          <p:cNvSpPr/>
          <p:nvPr/>
        </p:nvSpPr>
        <p:spPr>
          <a:xfrm>
            <a:off x="3531599" y="3600000"/>
            <a:ext cx="2844000" cy="1296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t"/>
          <a:lstStyle/>
          <a:p>
            <a:pPr algn="l">
              <a:spcAft>
                <a:spcPts val="500"/>
              </a:spcAft>
            </a:pPr>
            <a:r>
              <a:rPr sz="1250" b="1" dirty="0" err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タイミングが合ったときに届く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5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転職を考え始めた時期に</a:t>
            </a:r>
            <a:r>
              <a:rPr sz="115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、</a:t>
            </a:r>
            <a:endParaRPr lang="en-US" sz="11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lang="ja-JP" altLang="en-US" sz="115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配信で</a:t>
            </a:r>
            <a:r>
              <a:rPr sz="115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新着求人が届きます</a:t>
            </a:r>
            <a:r>
              <a:rPr sz="115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。</a:t>
            </a:r>
          </a:p>
        </p:txBody>
      </p:sp>
      <p:sp>
        <p:nvSpPr>
          <p:cNvPr id="25" name="Rounded Rectangle 23"/>
          <p:cNvSpPr/>
          <p:nvPr/>
        </p:nvSpPr>
        <p:spPr>
          <a:xfrm>
            <a:off x="6631199" y="3600000"/>
            <a:ext cx="2844000" cy="1296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t"/>
          <a:lstStyle/>
          <a:p>
            <a:pPr algn="l">
              <a:spcAft>
                <a:spcPts val="500"/>
              </a:spcAft>
            </a:pPr>
            <a:r>
              <a:rPr sz="12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連絡がLINEで完結する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電話やメールより気軽にやりとりできます。</a:t>
            </a:r>
          </a:p>
        </p:txBody>
      </p:sp>
      <p:sp>
        <p:nvSpPr>
          <p:cNvPr id="26" name="Rounded Rectangle 24"/>
          <p:cNvSpPr/>
          <p:nvPr/>
        </p:nvSpPr>
        <p:spPr>
          <a:xfrm>
            <a:off x="432000" y="5148000"/>
            <a:ext cx="9043200" cy="432000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8000" tIns="0" rIns="108000" bIns="0" rtlCol="0" anchor="ctr"/>
          <a:lstStyle/>
          <a:p>
            <a:pPr algn="ctr">
              <a:lnSpc>
                <a:spcPct val="125000"/>
              </a:lnSpc>
            </a:pPr>
            <a:r>
              <a:rPr sz="1300" b="1" dirty="0" err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何度もご案内できる「転職を検討している方のリスト</a:t>
            </a:r>
            <a:r>
              <a:rPr sz="1300" b="1" dirty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」</a:t>
            </a:r>
            <a:r>
              <a:rPr lang="ja-JP" altLang="en-US" sz="1300" b="1" dirty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へ</a:t>
            </a:r>
            <a:endParaRPr sz="1300" b="1" dirty="0">
              <a:solidFill>
                <a:srgbClr val="FFFFFF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27" name="TextBox 25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tIns="21600" rIns="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※配信通数に応じたLINE公式アカウントの利用料は別途かかります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" name="">
          <a:extLst>
            <a:ext uri="{FF2B5EF4-FFF2-40B4-BE49-F238E27FC236}">
              <a16:creationId xmlns:a16="http://schemas.microsoft.com/office/drawing/2014/main" id="{EAB95DA1-C4AC-9E84-EE81-C643FC320A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LINEのメリット③｜登録の手間を下げられる</a:t>
            </a:r>
          </a:p>
        </p:txBody>
      </p:sp>
      <p:sp>
        <p:nvSpPr>
          <p:cNvPr id="4" name="TextBox 2"/>
          <p:cNvSpPr txBox="1"/>
          <p:nvPr/>
        </p:nvSpPr>
        <p:spPr>
          <a:xfrm>
            <a:off x="432000" y="725334"/>
            <a:ext cx="9036000" cy="529332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「</a:t>
            </a:r>
            <a:r>
              <a:rPr sz="125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LINEでログイン」を使うと、LINEのアカウントでサイトの会員登録が</a:t>
            </a:r>
            <a:r>
              <a:rPr lang="ja-JP" altLang="en-US" sz="125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可能に</a:t>
            </a:r>
            <a:endParaRPr sz="12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</a:pPr>
            <a:r>
              <a:rPr sz="125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さらにLINE</a:t>
            </a:r>
            <a:r>
              <a:rPr sz="125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 </a:t>
            </a:r>
            <a:r>
              <a:rPr sz="125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Profile+を使うと、氏名・電話番号などが自動で入り、確認で登録が</a:t>
            </a:r>
            <a:r>
              <a:rPr lang="ja-JP" altLang="en-US" sz="125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完結</a:t>
            </a:r>
            <a:endParaRPr sz="12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5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6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2000" y="1584000"/>
            <a:ext cx="5616000" cy="2815020"/>
          </a:xfrm>
          <a:prstGeom prst="rect">
            <a:avLst/>
          </a:prstGeom>
        </p:spPr>
      </p:pic>
      <p:sp>
        <p:nvSpPr>
          <p:cNvPr id="7" name="TextBox 5"/>
          <p:cNvSpPr txBox="1"/>
          <p:nvPr/>
        </p:nvSpPr>
        <p:spPr>
          <a:xfrm>
            <a:off x="432000" y="4434680"/>
            <a:ext cx="5616000" cy="216000"/>
          </a:xfrm>
          <a:prstGeom prst="rect">
            <a:avLst/>
          </a:prstGeom>
          <a:noFill/>
        </p:spPr>
        <p:txBody>
          <a:bodyPr wrap="square" lIns="0" tIns="21600" rIns="50400" bIns="21600" anchor="t">
            <a:spAutoFit/>
          </a:bodyPr>
          <a:lstStyle/>
          <a:p>
            <a:pPr algn="l"/>
            <a:r>
              <a:rPr sz="90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「LINEでログイン」の画面の流れ（イメージ）</a:t>
            </a:r>
          </a:p>
        </p:txBody>
      </p:sp>
      <p:sp>
        <p:nvSpPr>
          <p:cNvPr id="8" name="Rounded Rectangle 6"/>
          <p:cNvSpPr/>
          <p:nvPr/>
        </p:nvSpPr>
        <p:spPr>
          <a:xfrm>
            <a:off x="6228000" y="1584000"/>
            <a:ext cx="3247200" cy="1584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t"/>
          <a:lstStyle/>
          <a:p>
            <a:pPr algn="l">
              <a:spcAft>
                <a:spcPts val="500"/>
              </a:spcAft>
            </a:pPr>
            <a:r>
              <a:rPr sz="12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LINE Profile+で自動入力できる項目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氏名（カナを含む）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性別・生年月日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電話番号・住所</a:t>
            </a:r>
          </a:p>
        </p:txBody>
      </p:sp>
      <p:sp>
        <p:nvSpPr>
          <p:cNvPr id="9" name="Rounded Rectangle 7"/>
          <p:cNvSpPr/>
          <p:nvPr/>
        </p:nvSpPr>
        <p:spPr>
          <a:xfrm>
            <a:off x="6228000" y="3240000"/>
            <a:ext cx="3247200" cy="1512000"/>
          </a:xfrm>
          <a:prstGeom prst="roundRect">
            <a:avLst>
              <a:gd name="adj" fmla="val 6000"/>
            </a:avLst>
          </a:prstGeom>
          <a:solidFill>
            <a:srgbClr val="FCE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t"/>
          <a:lstStyle/>
          <a:p>
            <a:pPr algn="l">
              <a:spcAft>
                <a:spcPts val="500"/>
              </a:spcAft>
            </a:pPr>
            <a:r>
              <a:rPr sz="1250" b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利用の条件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日本の法人のみ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使う項目ごとに申請し、LINEヤフー社の審査がある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ユーザーの同意が必要</a:t>
            </a:r>
          </a:p>
        </p:txBody>
      </p:sp>
      <p:sp>
        <p:nvSpPr>
          <p:cNvPr id="10" name="Rounded Rectangle 8"/>
          <p:cNvSpPr/>
          <p:nvPr/>
        </p:nvSpPr>
        <p:spPr>
          <a:xfrm>
            <a:off x="432000" y="5184000"/>
            <a:ext cx="9043200" cy="432000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8000" tIns="0" rIns="108000" bIns="0" rtlCol="0" anchor="ctr"/>
          <a:lstStyle/>
          <a:p>
            <a:pPr algn="ctr">
              <a:lnSpc>
                <a:spcPct val="125000"/>
              </a:lnSpc>
            </a:pPr>
            <a:r>
              <a:rPr sz="1300" b="1" dirty="0" err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入力が「確認して押すだけ</a:t>
            </a:r>
            <a:r>
              <a:rPr sz="1300" b="1" dirty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」</a:t>
            </a:r>
            <a:r>
              <a:rPr lang="ja-JP" altLang="en-US" sz="1300" b="1" dirty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、</a:t>
            </a:r>
            <a:r>
              <a:rPr sz="1300" b="1" dirty="0" err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会員登録のハードル</a:t>
            </a:r>
            <a:r>
              <a:rPr lang="ja-JP" altLang="en-US" sz="1300" b="1" dirty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が</a:t>
            </a:r>
            <a:r>
              <a:rPr sz="1300" b="1" dirty="0" err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大きく下</a:t>
            </a:r>
            <a:r>
              <a:rPr lang="ja-JP" altLang="en-US" sz="1300" b="1" dirty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がる</a:t>
            </a:r>
            <a:r>
              <a:rPr sz="1300" b="1" dirty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。</a:t>
            </a:r>
          </a:p>
        </p:txBody>
      </p:sp>
      <p:sp>
        <p:nvSpPr>
          <p:cNvPr id="11" name="TextBox 9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tIns="21600" rIns="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出典：LINE Developers（LINE Profile+・2025年11月更新）／画面の流れの引用：https://prtimes.jp/main/html/rd/p/000003920.000001594.html</a:t>
            </a:r>
          </a:p>
        </p:txBody>
      </p:sp>
    </p:spTree>
    <p:extLst>
      <p:ext uri="{BB962C8B-B14F-4D97-AF65-F5344CB8AC3E}">
        <p14:creationId xmlns:p14="http://schemas.microsoft.com/office/powerpoint/2010/main" val="198554478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" name="">
          <a:extLst>
            <a:ext uri="{FF2B5EF4-FFF2-40B4-BE49-F238E27FC236}">
              <a16:creationId xmlns:a16="http://schemas.microsoft.com/office/drawing/2014/main" id="{84F79BAA-8C2D-2DC3-A995-CBA086D445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他社のLINE活用｜求人サービスの状況</a:t>
            </a:r>
          </a:p>
        </p:txBody>
      </p:sp>
      <p:sp>
        <p:nvSpPr>
          <p:cNvPr id="4" name="TextBox 2"/>
          <p:cNvSpPr txBox="1"/>
          <p:nvPr/>
        </p:nvSpPr>
        <p:spPr>
          <a:xfrm>
            <a:off x="432000" y="699943"/>
            <a:ext cx="9036000" cy="580115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総合大手は、数十万〜数百万人規模でLINEを活用</a:t>
            </a:r>
            <a:endParaRPr lang="en-US" sz="14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28000"/>
              </a:lnSpc>
            </a:pPr>
            <a:r>
              <a:rPr sz="14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一方、整備士特化のサービスは、少な</a:t>
            </a:r>
            <a:r>
              <a:rPr lang="ja-JP" altLang="en-US" sz="14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い</a:t>
            </a:r>
            <a:endParaRPr sz="14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5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6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70262570"/>
              </p:ext>
            </p:extLst>
          </p:nvPr>
        </p:nvGraphicFramePr>
        <p:xfrm>
          <a:off x="432000" y="1619999"/>
          <a:ext cx="9043200" cy="22493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0796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94067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21336"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サービス</a:t>
                      </a:r>
                    </a:p>
                  </a:txBody>
                  <a:tcPr anchor="ctr">
                    <a:solidFill>
                      <a:srgbClr val="1F28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種別</a:t>
                      </a:r>
                    </a:p>
                  </a:txBody>
                  <a:tcPr anchor="ctr">
                    <a:solidFill>
                      <a:srgbClr val="1F28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LINE友だち数</a:t>
                      </a:r>
                    </a:p>
                  </a:txBody>
                  <a:tcPr anchor="ctr">
                    <a:solidFill>
                      <a:srgbClr val="1F28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1336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リクナビNEXT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総合・転職サイト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3,235,678人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1336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求人ボックス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総合・アグリゲーション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1,862,866人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1336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マイナビ転職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総合・転職サイト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754,302人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1336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doda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総合・エージェント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dirty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公開アカウントなし（会員登録後に1:1連携）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1336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プレックスジョブ【整備士】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整備士特化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6,288人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1336">
                <a:tc>
                  <a:txBody>
                    <a:bodyPr/>
                    <a:lstStyle/>
                    <a:p>
                      <a:pPr algn="l"/>
                      <a:r>
                        <a:rPr sz="1400" dirty="0" err="1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整備士の求人・転職｜カンパネル</a:t>
                      </a:r>
                      <a:endParaRPr sz="1400" dirty="0">
                        <a:solidFill>
                          <a:srgbClr val="333333"/>
                        </a:solidFill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整備士特化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dirty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196人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7" name="Rounded Rectangle 5"/>
          <p:cNvSpPr/>
          <p:nvPr/>
        </p:nvSpPr>
        <p:spPr>
          <a:xfrm>
            <a:off x="432000" y="4380253"/>
            <a:ext cx="9043200" cy="396000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400" tIns="21600" rIns="50400" bIns="21600" rtlCol="0" anchor="ctr"/>
          <a:lstStyle/>
          <a:p>
            <a:pPr algn="ctr">
              <a:lnSpc>
                <a:spcPct val="125000"/>
              </a:lnSpc>
            </a:pPr>
            <a:r>
              <a:rPr sz="1300" b="1" dirty="0" err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整備士特化で、LINEを本格的に活用しているサービスはまだ少なく、先に始めた方が有利</a:t>
            </a:r>
            <a:r>
              <a:rPr lang="ja-JP" altLang="en-US" sz="1300" b="1" dirty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になる</a:t>
            </a:r>
            <a:endParaRPr sz="1300" b="1" dirty="0">
              <a:solidFill>
                <a:srgbClr val="FFFFFF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8" name="TextBox 6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tIns="21600" rIns="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出典：page.line.me（公式）2026-09-21実測。友だち数は取得日時点の公表値</a:t>
            </a:r>
          </a:p>
        </p:txBody>
      </p:sp>
    </p:spTree>
    <p:extLst>
      <p:ext uri="{BB962C8B-B14F-4D97-AF65-F5344CB8AC3E}">
        <p14:creationId xmlns:p14="http://schemas.microsoft.com/office/powerpoint/2010/main" val="140579607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" name="">
          <a:extLst>
            <a:ext uri="{FF2B5EF4-FFF2-40B4-BE49-F238E27FC236}">
              <a16:creationId xmlns:a16="http://schemas.microsoft.com/office/drawing/2014/main" id="{1A1EC9E0-2ED9-448E-0518-C4BB668719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タウンワークの型を分解すると、3つの仕組み</a:t>
            </a:r>
          </a:p>
        </p:txBody>
      </p:sp>
      <p:sp>
        <p:nvSpPr>
          <p:cNvPr id="4" name="TextBox 2"/>
          <p:cNvSpPr txBox="1"/>
          <p:nvPr/>
        </p:nvSpPr>
        <p:spPr>
          <a:xfrm>
            <a:off x="432000" y="725334"/>
            <a:ext cx="9036000" cy="529332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応募が増えた理由は、LINEを「求人を探す入口」にした</a:t>
            </a:r>
            <a:r>
              <a:rPr lang="ja-JP" altLang="en-US" sz="125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から</a:t>
            </a:r>
            <a:endParaRPr sz="12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</a:pPr>
            <a:r>
              <a:rPr sz="125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この3つは、サイト側に「条件別の検索結果ページ」と「LINEとの会員連携」があれば再現</a:t>
            </a:r>
            <a:r>
              <a:rPr lang="ja-JP" altLang="en-US" sz="125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可能</a:t>
            </a:r>
            <a:endParaRPr sz="12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5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4"/>
          <p:cNvSpPr/>
          <p:nvPr/>
        </p:nvSpPr>
        <p:spPr>
          <a:xfrm>
            <a:off x="432000" y="1620000"/>
            <a:ext cx="2844000" cy="360000"/>
          </a:xfrm>
          <a:prstGeom prst="roundRect">
            <a:avLst>
              <a:gd name="adj" fmla="val 1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0" rIns="36000" bIns="0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① リッチメニューで条件検索</a:t>
            </a:r>
          </a:p>
        </p:txBody>
      </p:sp>
      <p:sp>
        <p:nvSpPr>
          <p:cNvPr id="7" name="Rounded Rectangle 5"/>
          <p:cNvSpPr/>
          <p:nvPr/>
        </p:nvSpPr>
        <p:spPr>
          <a:xfrm>
            <a:off x="432000" y="2015999"/>
            <a:ext cx="2844000" cy="1655999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t"/>
          <a:lstStyle/>
          <a:p>
            <a:pPr algn="l">
              <a:spcAft>
                <a:spcPts val="500"/>
              </a:spcAft>
            </a:pPr>
            <a:endParaRPr dirty="0"/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よく探される条件をボタンに並べる</a:t>
            </a:r>
            <a:r>
              <a:rPr sz="11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。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トーク画面の下に常にあるので</a:t>
            </a:r>
            <a:r>
              <a:rPr sz="11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、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探したいときにいつでも使える</a:t>
            </a:r>
            <a:r>
              <a:rPr sz="11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。</a:t>
            </a:r>
          </a:p>
        </p:txBody>
      </p:sp>
      <p:sp>
        <p:nvSpPr>
          <p:cNvPr id="8" name="Rounded Rectangle 6"/>
          <p:cNvSpPr/>
          <p:nvPr/>
        </p:nvSpPr>
        <p:spPr>
          <a:xfrm>
            <a:off x="3531599" y="1620000"/>
            <a:ext cx="2844000" cy="360000"/>
          </a:xfrm>
          <a:prstGeom prst="roundRect">
            <a:avLst>
              <a:gd name="adj" fmla="val 1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0" rIns="36000" bIns="0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② 全員共通のあいさつ＋タップで分岐</a:t>
            </a:r>
          </a:p>
        </p:txBody>
      </p:sp>
      <p:sp>
        <p:nvSpPr>
          <p:cNvPr id="9" name="Rounded Rectangle 7"/>
          <p:cNvSpPr/>
          <p:nvPr/>
        </p:nvSpPr>
        <p:spPr>
          <a:xfrm>
            <a:off x="3531599" y="2015999"/>
            <a:ext cx="2844000" cy="1655999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t"/>
          <a:lstStyle/>
          <a:p>
            <a:pPr algn="l">
              <a:spcAft>
                <a:spcPts val="500"/>
              </a:spcAft>
            </a:pPr>
            <a:endParaRPr dirty="0"/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あいさつで会員連携を案内する</a:t>
            </a:r>
            <a:r>
              <a:rPr sz="11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。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条件のカードをタップしてもらい</a:t>
            </a:r>
            <a:r>
              <a:rPr sz="11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、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興味を聞く</a:t>
            </a:r>
            <a:r>
              <a:rPr sz="11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。</a:t>
            </a:r>
          </a:p>
        </p:txBody>
      </p:sp>
      <p:sp>
        <p:nvSpPr>
          <p:cNvPr id="10" name="Rounded Rectangle 8"/>
          <p:cNvSpPr/>
          <p:nvPr/>
        </p:nvSpPr>
        <p:spPr>
          <a:xfrm>
            <a:off x="6631199" y="1620000"/>
            <a:ext cx="2844000" cy="360000"/>
          </a:xfrm>
          <a:prstGeom prst="roundRect">
            <a:avLst>
              <a:gd name="adj" fmla="val 1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0" rIns="36000" bIns="0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③ 検索結果へそのまま移動</a:t>
            </a:r>
          </a:p>
        </p:txBody>
      </p:sp>
      <p:sp>
        <p:nvSpPr>
          <p:cNvPr id="11" name="Rounded Rectangle 9"/>
          <p:cNvSpPr/>
          <p:nvPr/>
        </p:nvSpPr>
        <p:spPr>
          <a:xfrm>
            <a:off x="6631199" y="2015999"/>
            <a:ext cx="2844000" cy="1655999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t"/>
          <a:lstStyle/>
          <a:p>
            <a:pPr algn="l">
              <a:spcAft>
                <a:spcPts val="500"/>
              </a:spcAft>
            </a:pPr>
            <a:endParaRPr dirty="0"/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条件を入れた状態の検索結果ページへ</a:t>
            </a:r>
            <a:r>
              <a:rPr sz="11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。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探す手間がなく</a:t>
            </a:r>
            <a:r>
              <a:rPr sz="11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、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応募はサイト側で行う</a:t>
            </a:r>
            <a:r>
              <a:rPr sz="11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。</a:t>
            </a:r>
          </a:p>
        </p:txBody>
      </p:sp>
      <p:sp>
        <p:nvSpPr>
          <p:cNvPr id="12" name="TextBox 10"/>
          <p:cNvSpPr txBox="1"/>
          <p:nvPr/>
        </p:nvSpPr>
        <p:spPr>
          <a:xfrm>
            <a:off x="432000" y="3888000"/>
            <a:ext cx="9043200" cy="243677"/>
          </a:xfrm>
          <a:prstGeom prst="rect">
            <a:avLst/>
          </a:prstGeom>
          <a:noFill/>
        </p:spPr>
        <p:txBody>
          <a:bodyPr wrap="square" lIns="0" tIns="21600" rIns="50400" bIns="21600" anchor="t">
            <a:spAutoFit/>
          </a:bodyPr>
          <a:lstStyle/>
          <a:p>
            <a:pPr algn="l"/>
            <a:r>
              <a:rPr sz="1300" b="1" dirty="0" err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再現するときに必要なもの</a:t>
            </a:r>
            <a:endParaRPr sz="130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3" name="Rounded Rectangle 11"/>
          <p:cNvSpPr/>
          <p:nvPr/>
        </p:nvSpPr>
        <p:spPr>
          <a:xfrm>
            <a:off x="432000" y="4212000"/>
            <a:ext cx="4392000" cy="936000"/>
          </a:xfrm>
          <a:prstGeom prst="roundRect">
            <a:avLst>
              <a:gd name="adj" fmla="val 6000"/>
            </a:avLst>
          </a:prstGeom>
          <a:solidFill>
            <a:srgbClr val="FCE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t"/>
          <a:lstStyle/>
          <a:p>
            <a:pPr algn="l">
              <a:spcAft>
                <a:spcPts val="500"/>
              </a:spcAft>
            </a:pPr>
            <a:r>
              <a:rPr sz="1250" b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サイト側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条件別の検索結果ページ（職種×地域×資格）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LINEで会員登録・ログインできる仕組み</a:t>
            </a:r>
          </a:p>
        </p:txBody>
      </p:sp>
      <p:sp>
        <p:nvSpPr>
          <p:cNvPr id="14" name="Rounded Rectangle 12"/>
          <p:cNvSpPr/>
          <p:nvPr/>
        </p:nvSpPr>
        <p:spPr>
          <a:xfrm>
            <a:off x="5076000" y="4212000"/>
            <a:ext cx="4399200" cy="936000"/>
          </a:xfrm>
          <a:prstGeom prst="roundRect">
            <a:avLst>
              <a:gd name="adj" fmla="val 6000"/>
            </a:avLst>
          </a:prstGeom>
          <a:solidFill>
            <a:srgbClr val="E8F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t"/>
          <a:lstStyle/>
          <a:p>
            <a:pPr algn="l">
              <a:spcAft>
                <a:spcPts val="500"/>
              </a:spcAft>
            </a:pPr>
            <a:r>
              <a:rPr sz="1250" b="1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LINE側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リッチメニュー・あいさつ・配信の設計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条件で選んで送る仕組み</a:t>
            </a:r>
          </a:p>
        </p:txBody>
      </p:sp>
      <p:sp>
        <p:nvSpPr>
          <p:cNvPr id="15" name="Rounded Rectangle 13"/>
          <p:cNvSpPr/>
          <p:nvPr/>
        </p:nvSpPr>
        <p:spPr>
          <a:xfrm>
            <a:off x="432000" y="5364000"/>
            <a:ext cx="9043200" cy="432000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8000" tIns="0" rIns="108000" bIns="0" rtlCol="0" anchor="ctr"/>
          <a:lstStyle/>
          <a:p>
            <a:pPr algn="ctr">
              <a:lnSpc>
                <a:spcPct val="125000"/>
              </a:lnSpc>
            </a:pPr>
            <a:r>
              <a:rPr sz="1300" b="1" dirty="0" err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サイトリニューアルのタイミング</a:t>
            </a:r>
            <a:r>
              <a:rPr lang="ja-JP" altLang="en-US" sz="1300" b="1" dirty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で</a:t>
            </a:r>
            <a:r>
              <a:rPr sz="1300" b="1" dirty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、</a:t>
            </a:r>
            <a:r>
              <a:rPr sz="1300" b="1" dirty="0" err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この仕組みを最初から</a:t>
            </a:r>
            <a:r>
              <a:rPr lang="ja-JP" altLang="en-US" sz="1300" b="1" dirty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構築</a:t>
            </a:r>
            <a:endParaRPr sz="1300" b="1" dirty="0">
              <a:solidFill>
                <a:srgbClr val="FFFFFF"/>
              </a:solidFill>
              <a:latin typeface="メイリオ"/>
              <a:ea typeface="メイリオ"/>
              <a:cs typeface="メイリオ"/>
            </a:endParaRPr>
          </a:p>
        </p:txBody>
      </p:sp>
    </p:spTree>
    <p:extLst>
      <p:ext uri="{BB962C8B-B14F-4D97-AF65-F5344CB8AC3E}">
        <p14:creationId xmlns:p14="http://schemas.microsoft.com/office/powerpoint/2010/main" val="379755298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" name="">
          <a:extLst>
            <a:ext uri="{FF2B5EF4-FFF2-40B4-BE49-F238E27FC236}">
              <a16:creationId xmlns:a16="http://schemas.microsoft.com/office/drawing/2014/main" id="{FA47C615-BEE8-3B16-A209-225180EB57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貴社に当てはめると｜会員登録はLINEで、その先の応募へ</a:t>
            </a:r>
          </a:p>
        </p:txBody>
      </p:sp>
      <p:sp>
        <p:nvSpPr>
          <p:cNvPr id="4" name="TextBox 2"/>
          <p:cNvSpPr txBox="1"/>
          <p:nvPr/>
        </p:nvSpPr>
        <p:spPr>
          <a:xfrm>
            <a:off x="432000" y="725334"/>
            <a:ext cx="9036000" cy="529332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サイトリニューアルに合わせて、会員登録をLINEで完結できる形</a:t>
            </a:r>
            <a:r>
              <a:rPr lang="ja-JP" altLang="en-US" sz="125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へ</a:t>
            </a:r>
            <a:endParaRPr sz="12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</a:pPr>
            <a:r>
              <a:rPr sz="125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入力の手間がほぼなくなり、登録のハードル</a:t>
            </a:r>
            <a:r>
              <a:rPr lang="ja-JP" altLang="en-US" sz="125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が</a:t>
            </a:r>
            <a:r>
              <a:rPr sz="125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大きく下</a:t>
            </a:r>
            <a:r>
              <a:rPr lang="ja-JP" altLang="en-US" sz="125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がる</a:t>
            </a:r>
            <a:endParaRPr sz="12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5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4"/>
          <p:cNvSpPr/>
          <p:nvPr/>
        </p:nvSpPr>
        <p:spPr>
          <a:xfrm>
            <a:off x="432000" y="1584000"/>
            <a:ext cx="4284000" cy="342000"/>
          </a:xfrm>
          <a:prstGeom prst="roundRect">
            <a:avLst>
              <a:gd name="adj" fmla="val 18000"/>
            </a:avLst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0" rIns="36000" bIns="0" rtlCol="0" anchor="ctr"/>
          <a:lstStyle/>
          <a:p>
            <a:pPr algn="ctr"/>
            <a:r>
              <a:rPr sz="12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現在</a:t>
            </a:r>
          </a:p>
        </p:txBody>
      </p:sp>
      <p:sp>
        <p:nvSpPr>
          <p:cNvPr id="7" name="Rounded Rectangle 5"/>
          <p:cNvSpPr/>
          <p:nvPr/>
        </p:nvSpPr>
        <p:spPr>
          <a:xfrm>
            <a:off x="432000" y="1962000"/>
            <a:ext cx="4284000" cy="180000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t"/>
          <a:lstStyle/>
          <a:p>
            <a:pPr algn="l">
              <a:spcAft>
                <a:spcPts val="500"/>
              </a:spcAft>
            </a:pPr>
            <a:r>
              <a:rPr sz="12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入口は「応募」か「転職支援の申込」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・会員登録の利用が少ない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・応募しなかった方との接点が残らない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・比較検討中の方と接点を持てない</a:t>
            </a:r>
          </a:p>
        </p:txBody>
      </p:sp>
      <p:sp>
        <p:nvSpPr>
          <p:cNvPr id="8" name="Right Arrow 6"/>
          <p:cNvSpPr/>
          <p:nvPr/>
        </p:nvSpPr>
        <p:spPr>
          <a:xfrm>
            <a:off x="4806000" y="2700000"/>
            <a:ext cx="324000" cy="324000"/>
          </a:xfrm>
          <a:prstGeom prst="rightArrow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7"/>
          <p:cNvSpPr/>
          <p:nvPr/>
        </p:nvSpPr>
        <p:spPr>
          <a:xfrm>
            <a:off x="5191200" y="1584000"/>
            <a:ext cx="4284000" cy="342000"/>
          </a:xfrm>
          <a:prstGeom prst="roundRect">
            <a:avLst>
              <a:gd name="adj" fmla="val 18000"/>
            </a:avLst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0" rIns="36000" bIns="0" rtlCol="0" anchor="ctr"/>
          <a:lstStyle/>
          <a:p>
            <a:pPr algn="ctr"/>
            <a:r>
              <a:rPr sz="12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リニューアル後</a:t>
            </a:r>
          </a:p>
        </p:txBody>
      </p:sp>
      <p:sp>
        <p:nvSpPr>
          <p:cNvPr id="10" name="Rounded Rectangle 8"/>
          <p:cNvSpPr/>
          <p:nvPr/>
        </p:nvSpPr>
        <p:spPr>
          <a:xfrm>
            <a:off x="5191200" y="1962000"/>
            <a:ext cx="4284000" cy="1800000"/>
          </a:xfrm>
          <a:prstGeom prst="roundRect">
            <a:avLst>
              <a:gd name="adj" fmla="val 6000"/>
            </a:avLst>
          </a:prstGeom>
          <a:solidFill>
            <a:srgbClr val="E8F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t"/>
          <a:lstStyle/>
          <a:p>
            <a:pPr algn="l">
              <a:spcAft>
                <a:spcPts val="500"/>
              </a:spcAft>
            </a:pPr>
            <a:r>
              <a:rPr sz="1250" b="1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会員登録＝LINEでワンタップ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・登録と同じ画面で、LINEの友だち追加もあわせてご案内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・応募しなかった方とも、登録者としてつながり続ける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・登録した方に、条件に合う求人を届け続けられる</a:t>
            </a:r>
          </a:p>
        </p:txBody>
      </p:sp>
      <p:sp>
        <p:nvSpPr>
          <p:cNvPr id="11" name="Down Arrow 9"/>
          <p:cNvSpPr/>
          <p:nvPr/>
        </p:nvSpPr>
        <p:spPr>
          <a:xfrm>
            <a:off x="4665600" y="3870000"/>
            <a:ext cx="503999" cy="288000"/>
          </a:xfrm>
          <a:prstGeom prst="downArrow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0"/>
          <p:cNvSpPr/>
          <p:nvPr/>
        </p:nvSpPr>
        <p:spPr>
          <a:xfrm>
            <a:off x="432000" y="4248000"/>
            <a:ext cx="9043200" cy="827999"/>
          </a:xfrm>
          <a:prstGeom prst="roundRect">
            <a:avLst>
              <a:gd name="adj" fmla="val 6000"/>
            </a:avLst>
          </a:prstGeom>
          <a:solidFill>
            <a:srgbClr val="FCE4D6"/>
          </a:solidFill>
          <a:ln w="1905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400" tIns="21600" rIns="50400" bIns="21600" rtlCol="0" anchor="ctr"/>
          <a:lstStyle/>
          <a:p>
            <a:pPr algn="ctr">
              <a:spcAft>
                <a:spcPts val="400"/>
              </a:spcAft>
            </a:pPr>
            <a:r>
              <a:rPr sz="1400" b="1" dirty="0" err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会員登録はワンタップで完了。次の課題は、登録した方を応募へどうつなげるか</a:t>
            </a:r>
            <a:endParaRPr sz="1400" b="1" dirty="0">
              <a:solidFill>
                <a:srgbClr val="ED7D31"/>
              </a:solidFill>
              <a:latin typeface="メイリオ"/>
              <a:ea typeface="メイリオ"/>
              <a:cs typeface="メイリオ"/>
            </a:endParaRPr>
          </a:p>
          <a:p>
            <a:pPr algn="ctr"/>
            <a:r>
              <a:rPr sz="12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→ </a:t>
            </a:r>
            <a:r>
              <a:rPr sz="12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リッチメニューと配信で、LINEから応募へつ</a:t>
            </a:r>
            <a:endParaRPr sz="12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3" name="TextBox 11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tIns="21600" rIns="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CV①＝会員登録（LINEで登録）／CV②＝求人への応募</a:t>
            </a:r>
          </a:p>
        </p:txBody>
      </p:sp>
    </p:spTree>
    <p:extLst>
      <p:ext uri="{BB962C8B-B14F-4D97-AF65-F5344CB8AC3E}">
        <p14:creationId xmlns:p14="http://schemas.microsoft.com/office/powerpoint/2010/main" val="416138737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" name="">
          <a:extLst>
            <a:ext uri="{FF2B5EF4-FFF2-40B4-BE49-F238E27FC236}">
              <a16:creationId xmlns:a16="http://schemas.microsoft.com/office/drawing/2014/main" id="{E364C018-2F1E-8306-707D-71C186D408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貴社向けの工夫｜タウンワークより手軽な登録と、整備士向けの条件</a:t>
            </a:r>
          </a:p>
        </p:txBody>
      </p:sp>
      <p:sp>
        <p:nvSpPr>
          <p:cNvPr id="4" name="TextBox 2"/>
          <p:cNvSpPr txBox="1"/>
          <p:nvPr/>
        </p:nvSpPr>
        <p:spPr>
          <a:xfrm>
            <a:off x="432000" y="836230"/>
            <a:ext cx="9036000" cy="30754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タウンワークの型をそのまま使うのではなく、貴社のサイトと求人に合わせて工夫します</a:t>
            </a:r>
            <a:r>
              <a:rPr sz="14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。</a:t>
            </a:r>
          </a:p>
        </p:txBody>
      </p:sp>
      <p:cxnSp>
        <p:nvCxnSpPr>
          <p:cNvPr id="5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4"/>
          <p:cNvSpPr/>
          <p:nvPr/>
        </p:nvSpPr>
        <p:spPr>
          <a:xfrm>
            <a:off x="432000" y="1584000"/>
            <a:ext cx="4392000" cy="360000"/>
          </a:xfrm>
          <a:prstGeom prst="roundRect">
            <a:avLst>
              <a:gd name="adj" fmla="val 1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0" rIns="36000" bIns="0" rtlCol="0" anchor="ctr"/>
          <a:lstStyle/>
          <a:p>
            <a:pPr algn="ctr"/>
            <a:r>
              <a:rPr sz="12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工夫①　タウンワークより手軽に登録できる</a:t>
            </a:r>
          </a:p>
        </p:txBody>
      </p:sp>
      <p:graphicFrame>
        <p:nvGraphicFramePr>
          <p:cNvPr id="7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11065325"/>
              </p:ext>
            </p:extLst>
          </p:nvPr>
        </p:nvGraphicFramePr>
        <p:xfrm>
          <a:off x="432000" y="2015999"/>
          <a:ext cx="4391999" cy="17724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24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6166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0633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78000"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1F28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タウンワーク</a:t>
                      </a:r>
                    </a:p>
                  </a:txBody>
                  <a:tcPr anchor="ctr">
                    <a:solidFill>
                      <a:srgbClr val="1F28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dirty="0" err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貴社（ご提案</a:t>
                      </a:r>
                      <a:r>
                        <a:rPr sz="1050" b="1" dirty="0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）</a:t>
                      </a:r>
                    </a:p>
                  </a:txBody>
                  <a:tcPr anchor="ctr">
                    <a:solidFill>
                      <a:srgbClr val="1F28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8000"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LINEとつなぐ前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リクルートIDで
ログインが必要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C00000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不要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8000"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入力するもの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メール・パスワード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dirty="0">
                          <a:solidFill>
                            <a:srgbClr val="C00000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ほ</a:t>
                      </a:r>
                      <a:r>
                        <a:rPr lang="ja-JP" altLang="en-US" sz="1050" b="1" dirty="0">
                          <a:solidFill>
                            <a:srgbClr val="C00000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とんど</a:t>
                      </a:r>
                      <a:r>
                        <a:rPr sz="1050" b="1" dirty="0" err="1">
                          <a:solidFill>
                            <a:srgbClr val="C00000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なし</a:t>
                      </a:r>
                      <a:r>
                        <a:rPr sz="1050" b="1" dirty="0">
                          <a:solidFill>
                            <a:srgbClr val="C00000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
（</a:t>
                      </a:r>
                      <a:r>
                        <a:rPr sz="1050" b="1" dirty="0" err="1">
                          <a:solidFill>
                            <a:srgbClr val="C00000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Profile+で自動入力</a:t>
                      </a:r>
                      <a:r>
                        <a:rPr sz="1050" b="1" dirty="0">
                          <a:solidFill>
                            <a:srgbClr val="C00000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）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8000"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つながった状態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既存の会員と連携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dirty="0" err="1">
                          <a:solidFill>
                            <a:srgbClr val="C00000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登録と同じ画面で</a:t>
                      </a:r>
                      <a:r>
                        <a:rPr sz="1050" b="1" dirty="0">
                          <a:solidFill>
                            <a:srgbClr val="C00000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、
</a:t>
                      </a:r>
                      <a:r>
                        <a:rPr sz="1050" b="1" dirty="0" err="1">
                          <a:solidFill>
                            <a:srgbClr val="C00000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友だち追加も</a:t>
                      </a:r>
                      <a:endParaRPr lang="en-US" sz="1050" b="1" dirty="0">
                        <a:solidFill>
                          <a:srgbClr val="C00000"/>
                        </a:solidFill>
                        <a:latin typeface="メイリオ"/>
                        <a:ea typeface="メイリオ"/>
                        <a:cs typeface="メイリオ"/>
                      </a:endParaRPr>
                    </a:p>
                    <a:p>
                      <a:pPr algn="ctr"/>
                      <a:r>
                        <a:rPr sz="1050" b="1" dirty="0" err="1">
                          <a:solidFill>
                            <a:srgbClr val="C00000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あわせてご案内</a:t>
                      </a:r>
                      <a:endParaRPr sz="1050" b="1" dirty="0">
                        <a:solidFill>
                          <a:srgbClr val="C00000"/>
                        </a:solidFill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8" name="Rounded Rectangle 6"/>
          <p:cNvSpPr/>
          <p:nvPr/>
        </p:nvSpPr>
        <p:spPr>
          <a:xfrm>
            <a:off x="5076000" y="1584000"/>
            <a:ext cx="4399200" cy="360000"/>
          </a:xfrm>
          <a:prstGeom prst="roundRect">
            <a:avLst>
              <a:gd name="adj" fmla="val 1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0" rIns="36000" bIns="0" rtlCol="0" anchor="ctr"/>
          <a:lstStyle/>
          <a:p>
            <a:pPr algn="ctr"/>
            <a:r>
              <a:rPr sz="12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工夫②　条件を整備士向けにする</a:t>
            </a:r>
          </a:p>
        </p:txBody>
      </p:sp>
      <p:sp>
        <p:nvSpPr>
          <p:cNvPr id="9" name="Rounded Rectangle 7"/>
          <p:cNvSpPr/>
          <p:nvPr/>
        </p:nvSpPr>
        <p:spPr>
          <a:xfrm>
            <a:off x="5076000" y="2015999"/>
            <a:ext cx="4399200" cy="1512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t"/>
          <a:lstStyle/>
          <a:p>
            <a:pPr algn="l">
              <a:spcAft>
                <a:spcPts val="500"/>
              </a:spcAft>
            </a:pPr>
            <a:r>
              <a:rPr sz="1250" b="1" dirty="0" err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リッチメニュ</a:t>
            </a:r>
            <a:r>
              <a:rPr sz="1250" b="1" dirty="0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ー・</a:t>
            </a:r>
            <a:r>
              <a:rPr sz="1250" b="1" dirty="0" err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配信で使う条件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5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</a:t>
            </a:r>
            <a:r>
              <a:rPr sz="115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職種：整備士／営業／受付・事務</a:t>
            </a:r>
            <a:endParaRPr sz="11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5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</a:t>
            </a:r>
            <a:r>
              <a:rPr sz="115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地域：都道府県・市区町村</a:t>
            </a:r>
            <a:endParaRPr sz="11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5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・資格：1級・2級・3級・無資格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5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</a:t>
            </a:r>
            <a:r>
              <a:rPr sz="115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未経験OK・資格取得支援あり</a:t>
            </a:r>
            <a:endParaRPr sz="11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0" name="Rounded Rectangle 8"/>
          <p:cNvSpPr/>
          <p:nvPr/>
        </p:nvSpPr>
        <p:spPr>
          <a:xfrm>
            <a:off x="432000" y="3869999"/>
            <a:ext cx="9043200" cy="936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t"/>
          <a:lstStyle/>
          <a:p>
            <a:pPr algn="l">
              <a:spcAft>
                <a:spcPts val="500"/>
              </a:spcAft>
            </a:pPr>
            <a:r>
              <a:rPr sz="1250" b="1" dirty="0" err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掲載中の求人を、条件で探せる</a:t>
            </a:r>
            <a:r>
              <a:rPr lang="ja-JP" altLang="en-US" sz="1250" b="1" dirty="0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構築に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5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全国2,134件（うち正社員・整備士946件、正社員・営業180件）の求人を、</a:t>
            </a:r>
            <a:endParaRPr lang="en-US" sz="11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5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LINEから条件別に探せる</a:t>
            </a:r>
            <a:r>
              <a:rPr lang="ja-JP" altLang="en-US" sz="115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ように</a:t>
            </a:r>
            <a:endParaRPr sz="11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1" name="Rounded Rectangle 9"/>
          <p:cNvSpPr/>
          <p:nvPr/>
        </p:nvSpPr>
        <p:spPr>
          <a:xfrm>
            <a:off x="432000" y="5004000"/>
            <a:ext cx="9043200" cy="432000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8000" tIns="0" rIns="108000" bIns="0" rtlCol="0" anchor="ctr"/>
          <a:lstStyle/>
          <a:p>
            <a:pPr algn="ctr">
              <a:lnSpc>
                <a:spcPct val="125000"/>
              </a:lnSpc>
            </a:pPr>
            <a:r>
              <a:rPr sz="1300" b="1" dirty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「</a:t>
            </a:r>
            <a:r>
              <a:rPr sz="1300" b="1" dirty="0" err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手軽な登録」と「整備士に合わせた条件」で、タウンワークの型</a:t>
            </a:r>
            <a:r>
              <a:rPr lang="ja-JP" altLang="en-US" sz="1300" b="1" dirty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で</a:t>
            </a:r>
            <a:r>
              <a:rPr sz="1300" b="1" dirty="0" err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最適化</a:t>
            </a:r>
            <a:endParaRPr sz="1300" b="1" dirty="0">
              <a:solidFill>
                <a:srgbClr val="FFFFFF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2" name="TextBox 10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tIns="21600" rIns="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出典：自動車求人Navi 検索画面（2026年9月28日時点の掲載件数）</a:t>
            </a:r>
          </a:p>
        </p:txBody>
      </p:sp>
    </p:spTree>
    <p:extLst>
      <p:ext uri="{BB962C8B-B14F-4D97-AF65-F5344CB8AC3E}">
        <p14:creationId xmlns:p14="http://schemas.microsoft.com/office/powerpoint/2010/main" val="50733503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①友だち追加の動線</a:t>
            </a:r>
          </a:p>
        </p:txBody>
      </p:sp>
      <p:sp>
        <p:nvSpPr>
          <p:cNvPr id="4" name="TextBox 2"/>
          <p:cNvSpPr txBox="1"/>
          <p:nvPr/>
        </p:nvSpPr>
        <p:spPr>
          <a:xfrm>
            <a:off x="432000" y="850368"/>
            <a:ext cx="9036000" cy="279264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（</a:t>
            </a:r>
            <a:r>
              <a:rPr sz="125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箇所</a:t>
            </a:r>
            <a:r>
              <a:rPr sz="125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）→ </a:t>
            </a:r>
            <a:r>
              <a:rPr sz="125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訴求</a:t>
            </a:r>
            <a:r>
              <a:rPr sz="125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 → </a:t>
            </a:r>
            <a:r>
              <a:rPr sz="125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LINE追加</a:t>
            </a:r>
            <a:r>
              <a:rPr sz="125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　※</a:t>
            </a:r>
            <a:r>
              <a:rPr sz="125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費用（月額／初期</a:t>
            </a:r>
            <a:r>
              <a:rPr sz="125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）</a:t>
            </a:r>
          </a:p>
        </p:txBody>
      </p:sp>
      <p:cxnSp>
        <p:nvCxnSpPr>
          <p:cNvPr id="5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4"/>
          <p:cNvSpPr/>
          <p:nvPr/>
        </p:nvSpPr>
        <p:spPr>
          <a:xfrm>
            <a:off x="432000" y="1530000"/>
            <a:ext cx="1188000" cy="1440000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21600" rIns="36000" bIns="21600" rtlCol="0" anchor="ctr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動線00</a:t>
            </a:r>
          </a:p>
          <a:p>
            <a:pPr algn="ctr"/>
            <a:r>
              <a:rPr sz="9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離脱防止</a:t>
            </a:r>
          </a:p>
          <a:p>
            <a:pPr algn="ctr"/>
            <a:r>
              <a:rPr sz="9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ポップアップ</a:t>
            </a:r>
          </a:p>
        </p:txBody>
      </p:sp>
      <p:sp>
        <p:nvSpPr>
          <p:cNvPr id="7" name="Rounded Rectangle 5"/>
          <p:cNvSpPr/>
          <p:nvPr/>
        </p:nvSpPr>
        <p:spPr>
          <a:xfrm>
            <a:off x="1692000" y="1530000"/>
            <a:ext cx="5256000" cy="1440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21600" rIns="72000" bIns="21600" rtlCol="0" anchor="ctr"/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50" b="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求人ページから離れようとした方</a:t>
            </a:r>
            <a:endParaRPr sz="1150" b="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5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→「</a:t>
            </a:r>
            <a:r>
              <a:rPr sz="1150" b="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条件に合う新着求人をLINEでお届けします</a:t>
            </a:r>
            <a:r>
              <a:rPr sz="115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」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50" b="1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→ </a:t>
            </a:r>
            <a:r>
              <a:rPr sz="1150" b="1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LINE追加</a:t>
            </a:r>
            <a:endParaRPr sz="1150" b="1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spcAft>
                <a:spcPts val="0"/>
              </a:spcAft>
            </a:pPr>
            <a:r>
              <a:rPr sz="1000" b="1" dirty="0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※月3万円（初期1.5万円）</a:t>
            </a:r>
          </a:p>
        </p:txBody>
      </p:sp>
      <p:pic>
        <p:nvPicPr>
          <p:cNvPr id="8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96470" y="1530000"/>
            <a:ext cx="2302258" cy="1440000"/>
          </a:xfrm>
          <a:prstGeom prst="rect">
            <a:avLst/>
          </a:prstGeom>
          <a:ln>
            <a:solidFill>
              <a:srgbClr val="D9D9D9"/>
            </a:solidFill>
          </a:ln>
        </p:spPr>
      </p:pic>
      <p:sp>
        <p:nvSpPr>
          <p:cNvPr id="9" name="Rounded Rectangle 7"/>
          <p:cNvSpPr/>
          <p:nvPr/>
        </p:nvSpPr>
        <p:spPr>
          <a:xfrm>
            <a:off x="432000" y="3078000"/>
            <a:ext cx="1188000" cy="1440000"/>
          </a:xfrm>
          <a:prstGeom prst="roundRect">
            <a:avLst>
              <a:gd name="adj" fmla="val 8000"/>
            </a:avLst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21600" rIns="36000" bIns="21600" rtlCol="0" anchor="ctr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動線01</a:t>
            </a:r>
          </a:p>
          <a:p>
            <a:pPr algn="ctr"/>
            <a:r>
              <a:rPr sz="9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「LINEで登録」</a:t>
            </a:r>
          </a:p>
          <a:p>
            <a:pPr algn="ctr"/>
            <a:r>
              <a:rPr sz="9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ボタン</a:t>
            </a:r>
          </a:p>
        </p:txBody>
      </p:sp>
      <p:sp>
        <p:nvSpPr>
          <p:cNvPr id="10" name="Rounded Rectangle 8"/>
          <p:cNvSpPr/>
          <p:nvPr/>
        </p:nvSpPr>
        <p:spPr>
          <a:xfrm>
            <a:off x="1692000" y="3078000"/>
            <a:ext cx="5256000" cy="1440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21600" rIns="72000" bIns="21600" rtlCol="0" anchor="ctr"/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50" b="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求人詳細・会員登録ページ</a:t>
            </a:r>
            <a:endParaRPr sz="1150" b="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5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→「</a:t>
            </a:r>
            <a:r>
              <a:rPr sz="1150" b="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LINEで登録（入力はほぼ不要</a:t>
            </a:r>
            <a:r>
              <a:rPr sz="115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）」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50" b="1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→ </a:t>
            </a:r>
            <a:r>
              <a:rPr sz="1150" b="1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会員登録（CV</a:t>
            </a:r>
            <a:r>
              <a:rPr sz="1150" b="1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①）＋</a:t>
            </a:r>
            <a:r>
              <a:rPr sz="1150" b="1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LINE追加</a:t>
            </a:r>
            <a:endParaRPr sz="1150" b="1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spcAft>
                <a:spcPts val="0"/>
              </a:spcAft>
            </a:pPr>
            <a:r>
              <a:rPr sz="1000" b="1" dirty="0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※</a:t>
            </a:r>
            <a:r>
              <a:rPr sz="1000" b="1" dirty="0" err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サイト側で実装（LINE連携の開発は都度お見積もり</a:t>
            </a:r>
            <a:r>
              <a:rPr sz="1000" b="1" dirty="0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）／LINE </a:t>
            </a:r>
            <a:r>
              <a:rPr sz="1000" b="1" dirty="0" err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Profile+は申請・審査のうえ別途</a:t>
            </a:r>
            <a:endParaRPr sz="1000" b="1" dirty="0">
              <a:solidFill>
                <a:srgbClr val="ED7D31"/>
              </a:solidFill>
              <a:latin typeface="メイリオ"/>
              <a:ea typeface="メイリオ"/>
              <a:cs typeface="メイリオ"/>
            </a:endParaRPr>
          </a:p>
        </p:txBody>
      </p:sp>
      <p:pic>
        <p:nvPicPr>
          <p:cNvPr id="11" name="Picture 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96470" y="3078000"/>
            <a:ext cx="2302258" cy="1440000"/>
          </a:xfrm>
          <a:prstGeom prst="rect">
            <a:avLst/>
          </a:prstGeom>
          <a:ln>
            <a:solidFill>
              <a:srgbClr val="D9D9D9"/>
            </a:solidFill>
          </a:ln>
        </p:spPr>
      </p:pic>
      <p:sp>
        <p:nvSpPr>
          <p:cNvPr id="12" name="Rounded Rectangle 10"/>
          <p:cNvSpPr/>
          <p:nvPr/>
        </p:nvSpPr>
        <p:spPr>
          <a:xfrm>
            <a:off x="432000" y="4626000"/>
            <a:ext cx="1188000" cy="1440000"/>
          </a:xfrm>
          <a:prstGeom prst="roundRect">
            <a:avLst>
              <a:gd name="adj" fmla="val 8000"/>
            </a:avLst>
          </a:prstGeom>
          <a:solidFill>
            <a:srgbClr val="0B7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21600" rIns="36000" bIns="21600" rtlCol="0" anchor="ctr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動線02</a:t>
            </a:r>
          </a:p>
          <a:p>
            <a:pPr algn="ctr"/>
            <a:r>
              <a:rPr sz="9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サンクスLINE</a:t>
            </a:r>
          </a:p>
          <a:p>
            <a:pPr algn="ctr"/>
            <a:r>
              <a:rPr sz="9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（オプション）</a:t>
            </a:r>
          </a:p>
        </p:txBody>
      </p:sp>
      <p:sp>
        <p:nvSpPr>
          <p:cNvPr id="13" name="Rounded Rectangle 11"/>
          <p:cNvSpPr/>
          <p:nvPr/>
        </p:nvSpPr>
        <p:spPr>
          <a:xfrm>
            <a:off x="1692000" y="4626000"/>
            <a:ext cx="5256000" cy="1440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21600" rIns="72000" bIns="21600" rtlCol="0" anchor="ctr"/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50" b="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応募の完了画面</a:t>
            </a:r>
            <a:endParaRPr sz="1150" b="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5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→「</a:t>
            </a:r>
            <a:r>
              <a:rPr sz="1150" b="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今後のご連絡はこのLINEでお送りします</a:t>
            </a:r>
            <a:r>
              <a:rPr sz="115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」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50" b="1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→ </a:t>
            </a:r>
            <a:r>
              <a:rPr sz="1150" b="1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LINE追加</a:t>
            </a:r>
            <a:br>
              <a:rPr lang="en-US" sz="1150" b="1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</a:br>
            <a:r>
              <a:rPr sz="1000" b="1" dirty="0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※月5万円（初期10万円）／</a:t>
            </a:r>
            <a:r>
              <a:rPr sz="1000" b="1" dirty="0" err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シミュレーションの応募数・費用には含めない</a:t>
            </a:r>
            <a:endParaRPr sz="1000" b="1" dirty="0">
              <a:solidFill>
                <a:srgbClr val="ED7D31"/>
              </a:solidFill>
              <a:latin typeface="メイリオ"/>
              <a:ea typeface="メイリオ"/>
              <a:cs typeface="メイリオ"/>
            </a:endParaRPr>
          </a:p>
        </p:txBody>
      </p:sp>
      <p:pic>
        <p:nvPicPr>
          <p:cNvPr id="14" name="Picture 12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2384" y="4626000"/>
            <a:ext cx="810430" cy="1440000"/>
          </a:xfrm>
          <a:prstGeom prst="rect">
            <a:avLst/>
          </a:prstGeom>
          <a:ln>
            <a:solidFill>
              <a:srgbClr val="D9D9D9"/>
            </a:solidFill>
          </a:ln>
        </p:spPr>
      </p:pic>
      <p:sp>
        <p:nvSpPr>
          <p:cNvPr id="15" name="TextBox 13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tIns="21600" rIns="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※月約17人＝サイトからの応募（月約47件）×完了画面の表示80%×友だち追加45%の想定／画面はイメージです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②効率改善（ステップ配信・企画配信）</a:t>
            </a:r>
          </a:p>
        </p:txBody>
      </p:sp>
      <p:sp>
        <p:nvSpPr>
          <p:cNvPr id="4" name="TextBox 2"/>
          <p:cNvSpPr txBox="1"/>
          <p:nvPr/>
        </p:nvSpPr>
        <p:spPr>
          <a:xfrm>
            <a:off x="432000" y="836230"/>
            <a:ext cx="9036000" cy="30754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対象（想定数</a:t>
            </a:r>
            <a:r>
              <a:rPr sz="14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）→ </a:t>
            </a:r>
            <a:r>
              <a:rPr sz="14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訴求</a:t>
            </a:r>
            <a:r>
              <a:rPr sz="14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 → </a:t>
            </a:r>
            <a:r>
              <a:rPr sz="14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開封率×クリック率</a:t>
            </a:r>
            <a:r>
              <a:rPr sz="14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 → </a:t>
            </a:r>
            <a:r>
              <a:rPr sz="14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クリック数</a:t>
            </a:r>
            <a:r>
              <a:rPr sz="14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 × 応募率2.3% → </a:t>
            </a:r>
            <a:r>
              <a:rPr sz="14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件数</a:t>
            </a:r>
            <a:endParaRPr sz="14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5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6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48826462"/>
              </p:ext>
            </p:extLst>
          </p:nvPr>
        </p:nvGraphicFramePr>
        <p:xfrm>
          <a:off x="432000" y="1512000"/>
          <a:ext cx="7524000" cy="416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24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2091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8541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3916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49318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5422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80666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59204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406800"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動線</a:t>
                      </a:r>
                    </a:p>
                  </a:txBody>
                  <a:tcPr anchor="ctr">
                    <a:solidFill>
                      <a:srgbClr val="1F28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配信</a:t>
                      </a:r>
                    </a:p>
                  </a:txBody>
                  <a:tcPr anchor="ctr">
                    <a:solidFill>
                      <a:srgbClr val="1F28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タイミング</a:t>
                      </a:r>
                    </a:p>
                  </a:txBody>
                  <a:tcPr anchor="ctr">
                    <a:solidFill>
                      <a:srgbClr val="1F28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対象（想定数）</a:t>
                      </a:r>
                    </a:p>
                  </a:txBody>
                  <a:tcPr anchor="ctr">
                    <a:solidFill>
                      <a:srgbClr val="1F28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訴求</a:t>
                      </a:r>
                    </a:p>
                  </a:txBody>
                  <a:tcPr anchor="ctr">
                    <a:solidFill>
                      <a:srgbClr val="1F28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開封×クリック
→ クリック数</a:t>
                      </a:r>
                    </a:p>
                  </a:txBody>
                  <a:tcPr anchor="ctr">
                    <a:solidFill>
                      <a:srgbClr val="1F28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 dirty="0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×</a:t>
                      </a:r>
                      <a:r>
                        <a:rPr sz="850" b="1" dirty="0" err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応募率</a:t>
                      </a:r>
                      <a:r>
                        <a:rPr sz="850" b="1" dirty="0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
→ </a:t>
                      </a:r>
                      <a:r>
                        <a:rPr sz="850" b="1" dirty="0" err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件数</a:t>
                      </a:r>
                      <a:endParaRPr sz="850" b="1" dirty="0">
                        <a:solidFill>
                          <a:srgbClr val="FFFFFF"/>
                        </a:solidFill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anchor="ctr">
                    <a:solidFill>
                      <a:srgbClr val="1F28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費用</a:t>
                      </a:r>
                    </a:p>
                  </a:txBody>
                  <a:tcPr anchor="ctr">
                    <a:solidFill>
                      <a:srgbClr val="1F28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6800"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ステップ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0日 あいさつ／
1〜14日後（全10通）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 dirty="0" err="1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離脱防止から
追加した方（約22人）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職種を聞く→合う求人→
会員登録・応募のご案内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72.5%×12%
→ 57回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dirty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2.3%
→ 1件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コンサル費
に含む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6800"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00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企画配信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月4本／ステップ
終了後の方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離脱防止から
追加した方（約88人）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新着求人・資格取得支援・
働き方の特集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78%×10%
→ 82回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dirty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2.3%
→ 2件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コンサル費
に含む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6800"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リッチ
メニュー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いつでも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有効な友だち
（約137人）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職種・地域・資格で
求人を探す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月30%×2回
→ 82回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dirty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2.3%
→ 2件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コンサル費
に含む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6800"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01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ステップ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0日 あいさつ／
1〜14日後（全10通）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LINEで登録した方
（約35人）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職種を聞く→合う求人→
応募のご案内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72.5%×12%
→ 92回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dirty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2.3%
→ 2件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コンサル費
に含む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06800"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01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企画配信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月4本／ステップ
終了後の方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LINEで登録した方
（約140人）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新着求人・資格取得支援・
働き方の特集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78%×10%
→ 131回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dirty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2.3%
→ 3件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dirty="0" err="1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コンサル費</a:t>
                      </a:r>
                      <a:r>
                        <a:rPr sz="800" b="0" dirty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
</a:t>
                      </a:r>
                      <a:r>
                        <a:rPr sz="800" b="0" dirty="0" err="1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に含む</a:t>
                      </a:r>
                      <a:endParaRPr sz="800" b="0" dirty="0">
                        <a:solidFill>
                          <a:srgbClr val="333333"/>
                        </a:solidFill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06800"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01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リッチ
メニュー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いつでも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有効な友だち
（約219人）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職種・地域・資格で
求人を探す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月30%×2回
→ 131回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dirty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2.3%
→ 3件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コンサル費
に含む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06800"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02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ステップ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応募当日／
面談前日・当日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応募した方
（月約17人）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応募受付のお礼・面談の
日時・場所・持ち物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―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 dirty="0" err="1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対象外</a:t>
                      </a:r>
                      <a:r>
                        <a:rPr sz="800" b="0" dirty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
（</a:t>
                      </a:r>
                      <a:r>
                        <a:rPr sz="800" b="0" dirty="0" err="1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採用向け</a:t>
                      </a:r>
                      <a:r>
                        <a:rPr sz="800" b="0" dirty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）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00" b="0" dirty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コンサル費</a:t>
                      </a:r>
                      <a:r>
                        <a:rPr sz="800" b="0" dirty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
</a:t>
                      </a:r>
                      <a:r>
                        <a:rPr sz="800" b="0" dirty="0" err="1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に含む</a:t>
                      </a:r>
                      <a:endParaRPr sz="800" b="0" dirty="0">
                        <a:solidFill>
                          <a:srgbClr val="333333"/>
                        </a:solidFill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06800"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02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企画配信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―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送らない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応募済みの方に
求人の案内は送らない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―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―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―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06800"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合計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575回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dirty="0">
                          <a:solidFill>
                            <a:srgbClr val="C00000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13件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dirty="0"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pic>
        <p:nvPicPr>
          <p:cNvPr id="7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5338" y="1532339"/>
            <a:ext cx="1519200" cy="1012799"/>
          </a:xfrm>
          <a:prstGeom prst="rect">
            <a:avLst/>
          </a:prstGeom>
          <a:ln>
            <a:solidFill>
              <a:srgbClr val="D9D9D9"/>
            </a:solidFill>
          </a:ln>
        </p:spPr>
      </p:pic>
      <p:pic>
        <p:nvPicPr>
          <p:cNvPr id="8" name="Picture 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95338" y="2759056"/>
            <a:ext cx="1519200" cy="2699364"/>
          </a:xfrm>
          <a:prstGeom prst="rect">
            <a:avLst/>
          </a:prstGeom>
          <a:ln>
            <a:solidFill>
              <a:srgbClr val="D9D9D9"/>
            </a:solidFill>
          </a:ln>
        </p:spPr>
      </p:pic>
      <p:sp>
        <p:nvSpPr>
          <p:cNvPr id="9" name="TextBox 7"/>
          <p:cNvSpPr txBox="1"/>
          <p:nvPr/>
        </p:nvSpPr>
        <p:spPr>
          <a:xfrm>
            <a:off x="432000" y="5670000"/>
            <a:ext cx="9043200" cy="405259"/>
          </a:xfrm>
          <a:prstGeom prst="rect">
            <a:avLst/>
          </a:prstGeom>
          <a:noFill/>
        </p:spPr>
        <p:txBody>
          <a:bodyPr wrap="square" lIns="0" tIns="21600" rIns="50400" bIns="216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配信の中身（全10通の例）：0日 </a:t>
            </a:r>
            <a:r>
              <a:rPr sz="10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あいさつメッセージ（職種を聞く）</a:t>
            </a:r>
            <a:r>
              <a:rPr sz="10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 → 1日 </a:t>
            </a:r>
            <a:r>
              <a:rPr sz="10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職種の違い</a:t>
            </a:r>
            <a:r>
              <a:rPr sz="10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 → 2日 </a:t>
            </a:r>
            <a:r>
              <a:rPr sz="10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働き方</a:t>
            </a:r>
            <a:r>
              <a:rPr sz="10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 → 3日 </a:t>
            </a:r>
            <a:r>
              <a:rPr sz="10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求人のご案内</a:t>
            </a:r>
            <a:r>
              <a:rPr sz="10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① → 4日 </a:t>
            </a:r>
            <a:r>
              <a:rPr sz="10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資格取得支援</a:t>
            </a:r>
            <a:r>
              <a:rPr sz="10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 → 5日 </a:t>
            </a:r>
            <a:r>
              <a:rPr sz="10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他の職種との比較</a:t>
            </a:r>
            <a:r>
              <a:rPr sz="10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 → 7日 </a:t>
            </a:r>
            <a:r>
              <a:rPr sz="10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資格別の年収</a:t>
            </a:r>
            <a:r>
              <a:rPr sz="10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 → 10日 </a:t>
            </a:r>
            <a:r>
              <a:rPr sz="10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現場の様子</a:t>
            </a:r>
            <a:r>
              <a:rPr sz="10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 → 12日 </a:t>
            </a:r>
            <a:r>
              <a:rPr sz="10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地域別の新着求人</a:t>
            </a:r>
            <a:r>
              <a:rPr sz="10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 → 14日 </a:t>
            </a:r>
            <a:r>
              <a:rPr sz="10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求人のご案内</a:t>
            </a:r>
            <a:r>
              <a:rPr sz="10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②（1日後からはステップ配信）</a:t>
            </a:r>
          </a:p>
        </p:txBody>
      </p:sp>
      <p:sp>
        <p:nvSpPr>
          <p:cNvPr id="10" name="TextBox 8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tIns="21600" rIns="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※クリック数は弊社シミュレーションの9月の値を、動線ごとの友だち数（離脱防止38%・LINEで登録62%）と配信ごとのクリック比率で振り分けたもの。反応率の補正（1.46倍）と複数回のクリック（2.05倍）を含むため、対象×開封率×クリック率の単純な掛け算とは一致しません／コンサル費＝月20万円（初期20万円）、サンクスLINE＝月5万円（初期10万円）／画面はイメージです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③満足度改善（ユーザー）</a:t>
            </a:r>
          </a:p>
        </p:txBody>
      </p:sp>
      <p:sp>
        <p:nvSpPr>
          <p:cNvPr id="4" name="TextBox 2"/>
          <p:cNvSpPr txBox="1"/>
          <p:nvPr/>
        </p:nvSpPr>
        <p:spPr>
          <a:xfrm>
            <a:off x="432000" y="836230"/>
            <a:ext cx="9036000" cy="30754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友だちになった方が、電話なしで質問・相談できる</a:t>
            </a:r>
            <a:r>
              <a:rPr lang="ja-JP" altLang="en-US" sz="14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形式に</a:t>
            </a:r>
            <a:endParaRPr sz="14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5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6" name="Table 4"/>
          <p:cNvGraphicFramePr>
            <a:graphicFrameLocks noGrp="1"/>
          </p:cNvGraphicFramePr>
          <p:nvPr/>
        </p:nvGraphicFramePr>
        <p:xfrm>
          <a:off x="1692000" y="1512000"/>
          <a:ext cx="7783200" cy="324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92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9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99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240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QA自動化</a:t>
                      </a:r>
                    </a:p>
                  </a:txBody>
                  <a:tcPr anchor="ctr">
                    <a:solidFill>
                      <a:srgbClr val="1F28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個別チャット</a:t>
                      </a:r>
                    </a:p>
                  </a:txBody>
                  <a:tcPr anchor="ctr">
                    <a:solidFill>
                      <a:srgbClr val="1F28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その他</a:t>
                      </a:r>
                    </a:p>
                  </a:txBody>
                  <a:tcPr anchor="ctr">
                    <a:solidFill>
                      <a:srgbClr val="1F28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7" name="Rounded Rectangle 5"/>
          <p:cNvSpPr/>
          <p:nvPr/>
        </p:nvSpPr>
        <p:spPr>
          <a:xfrm>
            <a:off x="432000" y="1908000"/>
            <a:ext cx="1188000" cy="1260000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21600" rIns="36000" bIns="21600" rtlCol="0" anchor="ctr"/>
          <a:lstStyle/>
          <a:p>
            <a:pPr algn="ctr">
              <a:spcAft>
                <a:spcPts val="200"/>
              </a:spcAft>
            </a:pPr>
            <a:r>
              <a:rPr sz="1200" b="1" dirty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動線00</a:t>
            </a:r>
          </a:p>
          <a:p>
            <a:pPr algn="ctr"/>
            <a:r>
              <a:rPr sz="1000" b="1" dirty="0" err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離脱防止</a:t>
            </a:r>
            <a:endParaRPr sz="1000" b="1" dirty="0">
              <a:solidFill>
                <a:srgbClr val="FFFFFF"/>
              </a:solidFill>
              <a:latin typeface="メイリオ"/>
              <a:ea typeface="メイリオ"/>
              <a:cs typeface="メイリオ"/>
            </a:endParaRPr>
          </a:p>
          <a:p>
            <a:pPr algn="ctr"/>
            <a:r>
              <a:rPr sz="1000" b="1" dirty="0" err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ポップアップ</a:t>
            </a:r>
            <a:endParaRPr sz="1000" b="1" dirty="0">
              <a:solidFill>
                <a:srgbClr val="FFFFFF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8" name="Rounded Rectangle 6"/>
          <p:cNvSpPr/>
          <p:nvPr/>
        </p:nvSpPr>
        <p:spPr>
          <a:xfrm>
            <a:off x="1692000" y="1908000"/>
            <a:ext cx="2520000" cy="1260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21600" rIns="108000" bIns="21600" rtlCol="0" anchor="ctr"/>
          <a:lstStyle/>
          <a:p>
            <a:pPr algn="l">
              <a:lnSpc>
                <a:spcPct val="125000"/>
              </a:lnSpc>
            </a:pPr>
            <a:r>
              <a:rPr sz="11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資格・受験料・勤務地などのよくある質問に、LINEで24時間すぐ回答</a:t>
            </a:r>
          </a:p>
        </p:txBody>
      </p:sp>
      <p:sp>
        <p:nvSpPr>
          <p:cNvPr id="9" name="Rounded Rectangle 7"/>
          <p:cNvSpPr/>
          <p:nvPr/>
        </p:nvSpPr>
        <p:spPr>
          <a:xfrm>
            <a:off x="4287600" y="1908000"/>
            <a:ext cx="2520000" cy="1260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21600" rIns="108000" bIns="21600" rtlCol="0" anchor="ctr"/>
          <a:lstStyle/>
          <a:p>
            <a:pPr algn="l">
              <a:lnSpc>
                <a:spcPct val="125000"/>
              </a:lnSpc>
            </a:pPr>
            <a:r>
              <a:rPr sz="11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求人の条件や働き方の相談に、LINEで対応</a:t>
            </a:r>
            <a:endParaRPr sz="11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0" name="Rounded Rectangle 8"/>
          <p:cNvSpPr/>
          <p:nvPr/>
        </p:nvSpPr>
        <p:spPr>
          <a:xfrm>
            <a:off x="6883200" y="1908000"/>
            <a:ext cx="2520000" cy="1260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21600" rIns="108000" bIns="21600" rtlCol="0" anchor="ctr"/>
          <a:lstStyle/>
          <a:p>
            <a:pPr algn="l">
              <a:lnSpc>
                <a:spcPct val="125000"/>
              </a:lnSpc>
            </a:pPr>
            <a:r>
              <a:rPr sz="11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希望の条件に合う求人だけが届く</a:t>
            </a:r>
          </a:p>
        </p:txBody>
      </p:sp>
      <p:sp>
        <p:nvSpPr>
          <p:cNvPr id="11" name="Rounded Rectangle 9"/>
          <p:cNvSpPr/>
          <p:nvPr/>
        </p:nvSpPr>
        <p:spPr>
          <a:xfrm>
            <a:off x="432000" y="3276000"/>
            <a:ext cx="1188000" cy="1260000"/>
          </a:xfrm>
          <a:prstGeom prst="roundRect">
            <a:avLst>
              <a:gd name="adj" fmla="val 8000"/>
            </a:avLst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21600" rIns="36000" bIns="21600" rtlCol="0" anchor="ctr"/>
          <a:lstStyle/>
          <a:p>
            <a:pPr algn="ctr">
              <a:spcAft>
                <a:spcPts val="200"/>
              </a:spcAft>
            </a:pPr>
            <a:r>
              <a:rPr sz="1200" b="1" dirty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動線01</a:t>
            </a:r>
          </a:p>
          <a:p>
            <a:pPr algn="ctr"/>
            <a:r>
              <a:rPr sz="1000" b="1" dirty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「</a:t>
            </a:r>
            <a:r>
              <a:rPr sz="1000" b="1" dirty="0" err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LINEで登録</a:t>
            </a:r>
            <a:r>
              <a:rPr sz="1000" b="1" dirty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」</a:t>
            </a:r>
          </a:p>
          <a:p>
            <a:pPr algn="ctr"/>
            <a:r>
              <a:rPr sz="1000" b="1" dirty="0" err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ボタン</a:t>
            </a:r>
            <a:endParaRPr sz="1000" b="1" dirty="0">
              <a:solidFill>
                <a:srgbClr val="FFFFFF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2" name="Rounded Rectangle 10"/>
          <p:cNvSpPr/>
          <p:nvPr/>
        </p:nvSpPr>
        <p:spPr>
          <a:xfrm>
            <a:off x="1692000" y="3276000"/>
            <a:ext cx="2520000" cy="1260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21600" rIns="108000" bIns="21600" rtlCol="0" anchor="ctr"/>
          <a:lstStyle/>
          <a:p>
            <a:pPr algn="l">
              <a:lnSpc>
                <a:spcPct val="125000"/>
              </a:lnSpc>
            </a:pPr>
            <a:r>
              <a:rPr sz="11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資格・受験料・勤務地、会員登録・ログインの質問に、LINEで24時間すぐ回答</a:t>
            </a:r>
          </a:p>
        </p:txBody>
      </p:sp>
      <p:sp>
        <p:nvSpPr>
          <p:cNvPr id="13" name="Rounded Rectangle 11"/>
          <p:cNvSpPr/>
          <p:nvPr/>
        </p:nvSpPr>
        <p:spPr>
          <a:xfrm>
            <a:off x="4287600" y="3276000"/>
            <a:ext cx="2520000" cy="1260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21600" rIns="108000" bIns="21600" rtlCol="0" anchor="ctr"/>
          <a:lstStyle/>
          <a:p>
            <a:pPr algn="l">
              <a:lnSpc>
                <a:spcPct val="125000"/>
              </a:lnSpc>
            </a:pPr>
            <a:r>
              <a:rPr sz="11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求人の条件や面談の相談に、LINEで対応</a:t>
            </a:r>
            <a:endParaRPr sz="11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4" name="Rounded Rectangle 12"/>
          <p:cNvSpPr/>
          <p:nvPr/>
        </p:nvSpPr>
        <p:spPr>
          <a:xfrm>
            <a:off x="6883200" y="3276000"/>
            <a:ext cx="2520000" cy="1260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21600" rIns="108000" bIns="21600" rtlCol="0" anchor="ctr"/>
          <a:lstStyle/>
          <a:p>
            <a:pPr algn="l">
              <a:lnSpc>
                <a:spcPct val="125000"/>
              </a:lnSpc>
            </a:pPr>
            <a:r>
              <a:rPr sz="11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希望の条件（職種・地域）を、リッチメニューからいつでも変更できる</a:t>
            </a:r>
          </a:p>
        </p:txBody>
      </p:sp>
      <p:sp>
        <p:nvSpPr>
          <p:cNvPr id="15" name="Rounded Rectangle 13"/>
          <p:cNvSpPr/>
          <p:nvPr/>
        </p:nvSpPr>
        <p:spPr>
          <a:xfrm>
            <a:off x="432000" y="4643999"/>
            <a:ext cx="1188000" cy="1260000"/>
          </a:xfrm>
          <a:prstGeom prst="roundRect">
            <a:avLst>
              <a:gd name="adj" fmla="val 8000"/>
            </a:avLst>
          </a:prstGeom>
          <a:solidFill>
            <a:srgbClr val="0B7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21600" rIns="36000" bIns="21600" rtlCol="0" anchor="ctr"/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動線02</a:t>
            </a:r>
          </a:p>
          <a:p>
            <a:pPr algn="ctr"/>
            <a:r>
              <a:rPr sz="10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サンクスLINE</a:t>
            </a:r>
          </a:p>
          <a:p>
            <a:pPr algn="ctr"/>
            <a:r>
              <a:rPr sz="10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（オプション）</a:t>
            </a:r>
          </a:p>
        </p:txBody>
      </p:sp>
      <p:sp>
        <p:nvSpPr>
          <p:cNvPr id="16" name="Rounded Rectangle 14"/>
          <p:cNvSpPr/>
          <p:nvPr/>
        </p:nvSpPr>
        <p:spPr>
          <a:xfrm>
            <a:off x="1692000" y="4643999"/>
            <a:ext cx="2520000" cy="1260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21600" rIns="108000" bIns="21600" rtlCol="0" anchor="ctr"/>
          <a:lstStyle/>
          <a:p>
            <a:pPr algn="l">
              <a:lnSpc>
                <a:spcPct val="125000"/>
              </a:lnSpc>
            </a:pPr>
            <a:r>
              <a:rPr sz="11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面談の場所・持ち物・服装などの質問に、LINEで24時間すぐ回答</a:t>
            </a:r>
          </a:p>
        </p:txBody>
      </p:sp>
      <p:sp>
        <p:nvSpPr>
          <p:cNvPr id="17" name="Rounded Rectangle 15"/>
          <p:cNvSpPr/>
          <p:nvPr/>
        </p:nvSpPr>
        <p:spPr>
          <a:xfrm>
            <a:off x="4287600" y="4643999"/>
            <a:ext cx="2520000" cy="1260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21600" rIns="108000" bIns="21600" rtlCol="0" anchor="ctr"/>
          <a:lstStyle/>
          <a:p>
            <a:pPr algn="l">
              <a:lnSpc>
                <a:spcPct val="125000"/>
              </a:lnSpc>
            </a:pPr>
            <a:r>
              <a:rPr sz="11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日程の変更や相談</a:t>
            </a:r>
            <a:r>
              <a:rPr lang="ja-JP" altLang="en-US" sz="11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が</a:t>
            </a:r>
            <a:r>
              <a:rPr sz="11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LINEで完結</a:t>
            </a:r>
            <a:endParaRPr sz="11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8" name="Rounded Rectangle 16"/>
          <p:cNvSpPr/>
          <p:nvPr/>
        </p:nvSpPr>
        <p:spPr>
          <a:xfrm>
            <a:off x="6883200" y="4643999"/>
            <a:ext cx="2520000" cy="1260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21600" rIns="108000" bIns="21600" rtlCol="0" anchor="ctr"/>
          <a:lstStyle/>
          <a:p>
            <a:pPr algn="l">
              <a:lnSpc>
                <a:spcPct val="125000"/>
              </a:lnSpc>
            </a:pPr>
            <a:r>
              <a:rPr sz="11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面談前日・当日のご案内で、予定を忘れない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④効率改善（管理側）</a:t>
            </a:r>
          </a:p>
        </p:txBody>
      </p:sp>
      <p:sp>
        <p:nvSpPr>
          <p:cNvPr id="4" name="TextBox 2"/>
          <p:cNvSpPr txBox="1"/>
          <p:nvPr/>
        </p:nvSpPr>
        <p:spPr>
          <a:xfrm>
            <a:off x="432000" y="836230"/>
            <a:ext cx="9036000" cy="30754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担当者の対応の手間を増やさずに、友だち・応募者とのやりとりを</a:t>
            </a:r>
            <a:r>
              <a:rPr lang="ja-JP" altLang="en-US" sz="14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容易に</a:t>
            </a:r>
            <a:endParaRPr sz="14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5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6" name="Table 4"/>
          <p:cNvGraphicFramePr>
            <a:graphicFrameLocks noGrp="1"/>
          </p:cNvGraphicFramePr>
          <p:nvPr/>
        </p:nvGraphicFramePr>
        <p:xfrm>
          <a:off x="1692000" y="1512000"/>
          <a:ext cx="7783200" cy="324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9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9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240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自動応答</a:t>
                      </a:r>
                    </a:p>
                  </a:txBody>
                  <a:tcPr anchor="ctr">
                    <a:solidFill>
                      <a:srgbClr val="1F28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その他</a:t>
                      </a:r>
                    </a:p>
                  </a:txBody>
                  <a:tcPr anchor="ctr">
                    <a:solidFill>
                      <a:srgbClr val="1F28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7" name="Rounded Rectangle 5"/>
          <p:cNvSpPr/>
          <p:nvPr/>
        </p:nvSpPr>
        <p:spPr>
          <a:xfrm>
            <a:off x="432000" y="1908000"/>
            <a:ext cx="1188000" cy="1260000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21600" rIns="36000" bIns="21600" rtlCol="0" anchor="ctr"/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動線00</a:t>
            </a:r>
          </a:p>
          <a:p>
            <a:pPr algn="ctr"/>
            <a:r>
              <a:rPr sz="10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離脱防止</a:t>
            </a:r>
          </a:p>
          <a:p>
            <a:pPr algn="ctr"/>
            <a:r>
              <a:rPr sz="10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ポップアップ</a:t>
            </a:r>
          </a:p>
        </p:txBody>
      </p:sp>
      <p:sp>
        <p:nvSpPr>
          <p:cNvPr id="8" name="Rounded Rectangle 6"/>
          <p:cNvSpPr/>
          <p:nvPr/>
        </p:nvSpPr>
        <p:spPr>
          <a:xfrm>
            <a:off x="1692000" y="1908000"/>
            <a:ext cx="3816000" cy="1260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21600" rIns="108000" bIns="21600" rtlCol="0" anchor="ctr"/>
          <a:lstStyle/>
          <a:p>
            <a:pPr algn="l">
              <a:lnSpc>
                <a:spcPct val="125000"/>
              </a:lnSpc>
            </a:pPr>
            <a:r>
              <a:rPr sz="11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よくある質問への回答を自動化し</a:t>
            </a:r>
            <a:r>
              <a:rPr sz="11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、</a:t>
            </a:r>
            <a:endParaRPr lang="en-US" sz="11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25000"/>
              </a:lnSpc>
            </a:pPr>
            <a:r>
              <a:rPr sz="11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電話・メールでの問い合わせ対応を減らす</a:t>
            </a:r>
            <a:endParaRPr sz="11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9" name="Rounded Rectangle 7"/>
          <p:cNvSpPr/>
          <p:nvPr/>
        </p:nvSpPr>
        <p:spPr>
          <a:xfrm>
            <a:off x="5587200" y="1908000"/>
            <a:ext cx="3816000" cy="1260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21600" rIns="108000" bIns="21600" rtlCol="0" anchor="ctr"/>
          <a:lstStyle/>
          <a:p>
            <a:pPr algn="l">
              <a:lnSpc>
                <a:spcPct val="125000"/>
              </a:lnSpc>
            </a:pPr>
            <a:r>
              <a:rPr sz="11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クリックの履歴で、興味別のグループを自動で作る</a:t>
            </a:r>
            <a:endParaRPr lang="en-US" sz="11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25000"/>
              </a:lnSpc>
            </a:pPr>
            <a:r>
              <a:rPr sz="11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（</a:t>
            </a:r>
            <a:r>
              <a:rPr sz="11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クリックリターゲティング</a:t>
            </a:r>
            <a:r>
              <a:rPr sz="11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）</a:t>
            </a:r>
          </a:p>
        </p:txBody>
      </p:sp>
      <p:sp>
        <p:nvSpPr>
          <p:cNvPr id="10" name="Rounded Rectangle 8"/>
          <p:cNvSpPr/>
          <p:nvPr/>
        </p:nvSpPr>
        <p:spPr>
          <a:xfrm>
            <a:off x="432000" y="3276000"/>
            <a:ext cx="1188000" cy="1260000"/>
          </a:xfrm>
          <a:prstGeom prst="roundRect">
            <a:avLst>
              <a:gd name="adj" fmla="val 8000"/>
            </a:avLst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21600" rIns="36000" bIns="21600" rtlCol="0" anchor="ctr"/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動線01</a:t>
            </a:r>
          </a:p>
          <a:p>
            <a:pPr algn="ctr"/>
            <a:r>
              <a:rPr sz="10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「LINEで登録」</a:t>
            </a:r>
          </a:p>
          <a:p>
            <a:pPr algn="ctr"/>
            <a:r>
              <a:rPr sz="10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ボタン</a:t>
            </a:r>
          </a:p>
        </p:txBody>
      </p:sp>
      <p:sp>
        <p:nvSpPr>
          <p:cNvPr id="11" name="Rounded Rectangle 9"/>
          <p:cNvSpPr/>
          <p:nvPr/>
        </p:nvSpPr>
        <p:spPr>
          <a:xfrm>
            <a:off x="1692000" y="3276000"/>
            <a:ext cx="3816000" cy="1260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21600" rIns="108000" bIns="21600" rtlCol="0" anchor="ctr"/>
          <a:lstStyle/>
          <a:p>
            <a:pPr algn="l">
              <a:lnSpc>
                <a:spcPct val="125000"/>
              </a:lnSpc>
            </a:pPr>
            <a:r>
              <a:rPr sz="11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よくある質問への回答を自動化し</a:t>
            </a:r>
            <a:r>
              <a:rPr sz="11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、</a:t>
            </a:r>
            <a:endParaRPr lang="en-US" sz="11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25000"/>
              </a:lnSpc>
            </a:pPr>
            <a:r>
              <a:rPr sz="11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問い合わせ対応を減らす</a:t>
            </a:r>
            <a:endParaRPr sz="11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2" name="Rounded Rectangle 10"/>
          <p:cNvSpPr/>
          <p:nvPr/>
        </p:nvSpPr>
        <p:spPr>
          <a:xfrm>
            <a:off x="5587200" y="3276000"/>
            <a:ext cx="3816000" cy="1260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21600" rIns="108000" bIns="21600" rtlCol="0" anchor="ctr"/>
          <a:lstStyle/>
          <a:p>
            <a:pPr algn="l">
              <a:lnSpc>
                <a:spcPct val="125000"/>
              </a:lnSpc>
            </a:pPr>
            <a:r>
              <a:rPr sz="11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会員の情報とLINEをひもづけ</a:t>
            </a:r>
            <a:r>
              <a:rPr sz="11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、</a:t>
            </a:r>
            <a:endParaRPr lang="en-US" sz="11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25000"/>
              </a:lnSpc>
            </a:pPr>
            <a:r>
              <a:rPr sz="11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条件別の配信を自動化する</a:t>
            </a:r>
            <a:endParaRPr sz="11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3" name="Rounded Rectangle 11"/>
          <p:cNvSpPr/>
          <p:nvPr/>
        </p:nvSpPr>
        <p:spPr>
          <a:xfrm>
            <a:off x="432000" y="4643999"/>
            <a:ext cx="1188000" cy="1260000"/>
          </a:xfrm>
          <a:prstGeom prst="roundRect">
            <a:avLst>
              <a:gd name="adj" fmla="val 8000"/>
            </a:avLst>
          </a:prstGeom>
          <a:solidFill>
            <a:srgbClr val="0B7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21600" rIns="36000" bIns="21600" rtlCol="0" anchor="ctr"/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動線02</a:t>
            </a:r>
          </a:p>
          <a:p>
            <a:pPr algn="ctr"/>
            <a:r>
              <a:rPr sz="10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サンクスLINE</a:t>
            </a:r>
          </a:p>
          <a:p>
            <a:pPr algn="ctr"/>
            <a:r>
              <a:rPr sz="10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（オプション）</a:t>
            </a:r>
          </a:p>
        </p:txBody>
      </p:sp>
      <p:sp>
        <p:nvSpPr>
          <p:cNvPr id="14" name="Rounded Rectangle 12"/>
          <p:cNvSpPr/>
          <p:nvPr/>
        </p:nvSpPr>
        <p:spPr>
          <a:xfrm>
            <a:off x="1692000" y="4643999"/>
            <a:ext cx="3816000" cy="1260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21600" rIns="108000" bIns="21600" rtlCol="0" anchor="ctr"/>
          <a:lstStyle/>
          <a:p>
            <a:pPr algn="l">
              <a:lnSpc>
                <a:spcPct val="125000"/>
              </a:lnSpc>
            </a:pPr>
            <a:r>
              <a:rPr sz="11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面談日程の確認・変更の受付を自動化し</a:t>
            </a:r>
            <a:r>
              <a:rPr sz="11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、</a:t>
            </a:r>
            <a:endParaRPr lang="en-US" sz="11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25000"/>
              </a:lnSpc>
            </a:pPr>
            <a:r>
              <a:rPr sz="11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電話でのやりとりを減らす</a:t>
            </a:r>
            <a:endParaRPr sz="11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5" name="Rounded Rectangle 13"/>
          <p:cNvSpPr/>
          <p:nvPr/>
        </p:nvSpPr>
        <p:spPr>
          <a:xfrm>
            <a:off x="5587200" y="4643999"/>
            <a:ext cx="3816000" cy="1260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21600" rIns="108000" bIns="21600" rtlCol="0" anchor="ctr"/>
          <a:lstStyle/>
          <a:p>
            <a:pPr algn="l">
              <a:lnSpc>
                <a:spcPct val="125000"/>
              </a:lnSpc>
            </a:pPr>
            <a:r>
              <a:rPr sz="11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応募者への連絡をLINEにまとめ</a:t>
            </a:r>
            <a:r>
              <a:rPr sz="11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、</a:t>
            </a:r>
            <a:endParaRPr lang="en-US" sz="11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25000"/>
              </a:lnSpc>
            </a:pPr>
            <a:r>
              <a:rPr sz="11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電話がつながらない手間を減らす</a:t>
            </a:r>
            <a:endParaRPr sz="11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" name="">
          <a:extLst>
            <a:ext uri="{FF2B5EF4-FFF2-40B4-BE49-F238E27FC236}">
              <a16:creationId xmlns:a16="http://schemas.microsoft.com/office/drawing/2014/main" id="{F2E341AF-76F7-F354-A08C-287945F04D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サイトリニューアルと同時の導入をおすすめする理由</a:t>
            </a:r>
          </a:p>
        </p:txBody>
      </p:sp>
      <p:sp>
        <p:nvSpPr>
          <p:cNvPr id="4" name="TextBox 2"/>
          <p:cNvSpPr txBox="1"/>
          <p:nvPr/>
        </p:nvSpPr>
        <p:spPr>
          <a:xfrm>
            <a:off x="432000" y="725334"/>
            <a:ext cx="9036000" cy="529332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LINEの友だち・会員の情報は、始めた日から</a:t>
            </a:r>
            <a:r>
              <a:rPr lang="ja-JP" altLang="en-US" sz="125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以降で蓄積</a:t>
            </a:r>
            <a:endParaRPr sz="12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</a:pPr>
            <a:r>
              <a:rPr sz="125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サイトと同時に始めれば、翌3月の転職のピークを、増えた友だちとともに</a:t>
            </a:r>
            <a:r>
              <a:rPr lang="ja-JP" altLang="en-US" sz="125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抑制</a:t>
            </a:r>
            <a:endParaRPr sz="12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5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4"/>
          <p:cNvSpPr/>
          <p:nvPr/>
        </p:nvSpPr>
        <p:spPr>
          <a:xfrm>
            <a:off x="432000" y="1584000"/>
            <a:ext cx="2844000" cy="2232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t"/>
          <a:lstStyle/>
          <a:p>
            <a:pPr algn="l">
              <a:spcAft>
                <a:spcPts val="500"/>
              </a:spcAft>
            </a:pPr>
            <a:r>
              <a:rPr sz="1300" b="1" dirty="0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① </a:t>
            </a:r>
            <a:r>
              <a:rPr sz="1300" b="1" dirty="0" err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データを初日から蓄積できる</a:t>
            </a:r>
            <a:endParaRPr sz="130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友だち・会員・クリックの履歴は</a:t>
            </a:r>
            <a:endParaRPr sz="12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始めた日から蓄積</a:t>
            </a:r>
            <a:endParaRPr sz="12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半年後には約540人の友だちに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（</a:t>
            </a:r>
            <a:r>
              <a:rPr sz="12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弊社シミュレーション</a:t>
            </a:r>
            <a:r>
              <a:rPr sz="12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）</a:t>
            </a:r>
          </a:p>
        </p:txBody>
      </p:sp>
      <p:sp>
        <p:nvSpPr>
          <p:cNvPr id="7" name="Rounded Rectangle 5"/>
          <p:cNvSpPr/>
          <p:nvPr/>
        </p:nvSpPr>
        <p:spPr>
          <a:xfrm>
            <a:off x="3531599" y="1584000"/>
            <a:ext cx="2844000" cy="2232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t"/>
          <a:lstStyle/>
          <a:p>
            <a:pPr algn="l">
              <a:spcAft>
                <a:spcPts val="500"/>
              </a:spcAft>
            </a:pPr>
            <a:r>
              <a:rPr sz="13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② 開発のやり直しを避けられる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会員登録の仕組みを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後からLINE対応に作り替えると、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サイトの改修が二度手間になる。</a:t>
            </a:r>
          </a:p>
        </p:txBody>
      </p:sp>
      <p:sp>
        <p:nvSpPr>
          <p:cNvPr id="8" name="Rounded Rectangle 6"/>
          <p:cNvSpPr/>
          <p:nvPr/>
        </p:nvSpPr>
        <p:spPr>
          <a:xfrm>
            <a:off x="6631199" y="1584000"/>
            <a:ext cx="2844000" cy="2232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t"/>
          <a:lstStyle/>
          <a:p>
            <a:pPr algn="l">
              <a:spcAft>
                <a:spcPts val="500"/>
              </a:spcAft>
            </a:pPr>
            <a:r>
              <a:rPr sz="13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③ 3月の転職のピークに間に合う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整備士の検索は一年中あり、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ピークは3月。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秋までに友だちを増やしておけば、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ピークの時期にご案内できる。</a:t>
            </a:r>
          </a:p>
        </p:txBody>
      </p:sp>
      <p:sp>
        <p:nvSpPr>
          <p:cNvPr id="9" name="Rounded Rectangle 7"/>
          <p:cNvSpPr/>
          <p:nvPr/>
        </p:nvSpPr>
        <p:spPr>
          <a:xfrm>
            <a:off x="432000" y="3996000"/>
            <a:ext cx="1296000" cy="360000"/>
          </a:xfrm>
          <a:prstGeom prst="roundRect">
            <a:avLst>
              <a:gd name="adj" fmla="val 18000"/>
            </a:avLst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0" rIns="36000" bIns="0" rtlCol="0" anchor="ctr"/>
          <a:lstStyle/>
          <a:p>
            <a:pPr algn="ctr"/>
            <a:r>
              <a:rPr sz="11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同時に開始</a:t>
            </a:r>
          </a:p>
        </p:txBody>
      </p:sp>
      <p:sp>
        <p:nvSpPr>
          <p:cNvPr id="10" name="Rounded Rectangle 8"/>
          <p:cNvSpPr/>
          <p:nvPr/>
        </p:nvSpPr>
        <p:spPr>
          <a:xfrm>
            <a:off x="1800000" y="4068000"/>
            <a:ext cx="7668000" cy="216000"/>
          </a:xfrm>
          <a:prstGeom prst="roundRect">
            <a:avLst>
              <a:gd name="adj" fmla="val 6000"/>
            </a:avLst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9"/>
          <p:cNvSpPr txBox="1"/>
          <p:nvPr/>
        </p:nvSpPr>
        <p:spPr>
          <a:xfrm>
            <a:off x="1800000" y="4302000"/>
            <a:ext cx="7668000" cy="251999"/>
          </a:xfrm>
          <a:prstGeom prst="rect">
            <a:avLst/>
          </a:prstGeom>
          <a:noFill/>
        </p:spPr>
        <p:txBody>
          <a:bodyPr wrap="square" lIns="0" tIns="21600" rIns="50400" bIns="21600" anchor="t">
            <a:spAutoFit/>
          </a:bodyPr>
          <a:lstStyle/>
          <a:p>
            <a:pPr algn="ctr"/>
            <a:r>
              <a:rPr sz="1050" b="1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4月 ────── 友だちが増え続ける ────── 翌3月（転職のピーク）</a:t>
            </a:r>
          </a:p>
        </p:txBody>
      </p:sp>
      <p:sp>
        <p:nvSpPr>
          <p:cNvPr id="12" name="Rounded Rectangle 10"/>
          <p:cNvSpPr/>
          <p:nvPr/>
        </p:nvSpPr>
        <p:spPr>
          <a:xfrm>
            <a:off x="432000" y="4644000"/>
            <a:ext cx="1296000" cy="360000"/>
          </a:xfrm>
          <a:prstGeom prst="roundRect">
            <a:avLst>
              <a:gd name="adj" fmla="val 18000"/>
            </a:avLst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0" rIns="36000" bIns="0" rtlCol="0" anchor="ctr"/>
          <a:lstStyle/>
          <a:p>
            <a:pPr algn="ctr"/>
            <a:r>
              <a:rPr sz="11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後から開始</a:t>
            </a:r>
          </a:p>
        </p:txBody>
      </p:sp>
      <p:sp>
        <p:nvSpPr>
          <p:cNvPr id="13" name="Rounded Rectangle 11"/>
          <p:cNvSpPr/>
          <p:nvPr/>
        </p:nvSpPr>
        <p:spPr>
          <a:xfrm>
            <a:off x="1800000" y="4716000"/>
            <a:ext cx="3600000" cy="216000"/>
          </a:xfrm>
          <a:prstGeom prst="roundRect">
            <a:avLst>
              <a:gd name="adj" fmla="val 6000"/>
            </a:avLst>
          </a:prstGeom>
          <a:solidFill>
            <a:srgbClr val="E6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2"/>
          <p:cNvSpPr/>
          <p:nvPr/>
        </p:nvSpPr>
        <p:spPr>
          <a:xfrm>
            <a:off x="5400000" y="4716000"/>
            <a:ext cx="4068000" cy="216000"/>
          </a:xfrm>
          <a:prstGeom prst="roundRect">
            <a:avLst>
              <a:gd name="adj" fmla="val 6000"/>
            </a:avLst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3"/>
          <p:cNvSpPr txBox="1"/>
          <p:nvPr/>
        </p:nvSpPr>
        <p:spPr>
          <a:xfrm>
            <a:off x="1800000" y="4950000"/>
            <a:ext cx="3600000" cy="251999"/>
          </a:xfrm>
          <a:prstGeom prst="rect">
            <a:avLst/>
          </a:prstGeom>
          <a:noFill/>
        </p:spPr>
        <p:txBody>
          <a:bodyPr wrap="square" lIns="0" tIns="21600" rIns="50400" bIns="21600" anchor="t">
            <a:spAutoFit/>
          </a:bodyPr>
          <a:lstStyle/>
          <a:p>
            <a:pPr algn="ctr"/>
            <a:r>
              <a:rPr sz="105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この期間の登録者とはLINEでつながれない</a:t>
            </a:r>
          </a:p>
        </p:txBody>
      </p:sp>
      <p:sp>
        <p:nvSpPr>
          <p:cNvPr id="16" name="Rounded Rectangle 14"/>
          <p:cNvSpPr/>
          <p:nvPr/>
        </p:nvSpPr>
        <p:spPr>
          <a:xfrm>
            <a:off x="432000" y="5400000"/>
            <a:ext cx="9043200" cy="432000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8000" tIns="0" rIns="108000" bIns="0" rtlCol="0" anchor="ctr"/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サイトリニューアルと同時に、LINEも最初から入れることをご提案します。</a:t>
            </a:r>
          </a:p>
        </p:txBody>
      </p:sp>
    </p:spTree>
    <p:extLst>
      <p:ext uri="{BB962C8B-B14F-4D97-AF65-F5344CB8AC3E}">
        <p14:creationId xmlns:p14="http://schemas.microsoft.com/office/powerpoint/2010/main" val="373103120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" name="">
          <a:extLst>
            <a:ext uri="{FF2B5EF4-FFF2-40B4-BE49-F238E27FC236}">
              <a16:creationId xmlns:a16="http://schemas.microsoft.com/office/drawing/2014/main" id="{ADC5A5A4-75AD-516A-9D25-18F8EF002C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サイトリニューアルに入れる要件3点</a:t>
            </a:r>
          </a:p>
        </p:txBody>
      </p:sp>
      <p:sp>
        <p:nvSpPr>
          <p:cNvPr id="4" name="TextBox 2"/>
          <p:cNvSpPr txBox="1"/>
          <p:nvPr/>
        </p:nvSpPr>
        <p:spPr>
          <a:xfrm>
            <a:off x="432000" y="836230"/>
            <a:ext cx="9036000" cy="30754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LINEで応募へつなげるために</a:t>
            </a:r>
            <a:endParaRPr sz="14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5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4"/>
          <p:cNvSpPr/>
          <p:nvPr/>
        </p:nvSpPr>
        <p:spPr>
          <a:xfrm>
            <a:off x="432000" y="1584000"/>
            <a:ext cx="2844000" cy="360000"/>
          </a:xfrm>
          <a:prstGeom prst="roundRect">
            <a:avLst>
              <a:gd name="adj" fmla="val 1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0" rIns="36000" bIns="0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① 会員登録をLINEで完結させる</a:t>
            </a:r>
          </a:p>
        </p:txBody>
      </p:sp>
      <p:sp>
        <p:nvSpPr>
          <p:cNvPr id="7" name="Rounded Rectangle 5"/>
          <p:cNvSpPr/>
          <p:nvPr/>
        </p:nvSpPr>
        <p:spPr>
          <a:xfrm>
            <a:off x="432000" y="1980000"/>
            <a:ext cx="2844000" cy="1944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t"/>
          <a:lstStyle/>
          <a:p>
            <a:pPr algn="l">
              <a:spcAft>
                <a:spcPts val="500"/>
              </a:spcAft>
            </a:pPr>
            <a:endParaRPr dirty="0"/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「</a:t>
            </a:r>
            <a:r>
              <a:rPr sz="12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LINEでログイン」とLINE</a:t>
            </a:r>
            <a:r>
              <a:rPr sz="12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 </a:t>
            </a:r>
            <a:r>
              <a:rPr sz="12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Profile+で</a:t>
            </a:r>
            <a:r>
              <a:rPr sz="12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、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入力ほぼなしで会員登録</a:t>
            </a:r>
            <a:r>
              <a:rPr sz="12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。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同じ画面で友だち追加もあわせて</a:t>
            </a:r>
            <a:endParaRPr lang="en-US" sz="12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ご案内</a:t>
            </a:r>
            <a:r>
              <a:rPr sz="12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。</a:t>
            </a:r>
          </a:p>
        </p:txBody>
      </p:sp>
      <p:sp>
        <p:nvSpPr>
          <p:cNvPr id="8" name="Rounded Rectangle 6"/>
          <p:cNvSpPr/>
          <p:nvPr/>
        </p:nvSpPr>
        <p:spPr>
          <a:xfrm>
            <a:off x="3531599" y="1584000"/>
            <a:ext cx="2844000" cy="360000"/>
          </a:xfrm>
          <a:prstGeom prst="roundRect">
            <a:avLst>
              <a:gd name="adj" fmla="val 1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0" rIns="36000" bIns="0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② 会員の情報とLINEをひもづける</a:t>
            </a:r>
          </a:p>
        </p:txBody>
      </p:sp>
      <p:sp>
        <p:nvSpPr>
          <p:cNvPr id="9" name="Rounded Rectangle 7"/>
          <p:cNvSpPr/>
          <p:nvPr/>
        </p:nvSpPr>
        <p:spPr>
          <a:xfrm>
            <a:off x="3531599" y="1980000"/>
            <a:ext cx="2844000" cy="1944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t"/>
          <a:lstStyle/>
          <a:p>
            <a:pPr algn="l">
              <a:spcAft>
                <a:spcPts val="500"/>
              </a:spcAft>
            </a:pPr>
            <a:endParaRPr/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会員名簿にLINEの情報を保存し、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職種・地域・資格で選んで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配信できるようにする。</a:t>
            </a:r>
          </a:p>
        </p:txBody>
      </p:sp>
      <p:sp>
        <p:nvSpPr>
          <p:cNvPr id="10" name="Rounded Rectangle 8"/>
          <p:cNvSpPr/>
          <p:nvPr/>
        </p:nvSpPr>
        <p:spPr>
          <a:xfrm>
            <a:off x="6631199" y="1584000"/>
            <a:ext cx="2844000" cy="360000"/>
          </a:xfrm>
          <a:prstGeom prst="roundRect">
            <a:avLst>
              <a:gd name="adj" fmla="val 1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0" rIns="36000" bIns="0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③ 条件別の検索結果ページ</a:t>
            </a:r>
          </a:p>
        </p:txBody>
      </p:sp>
      <p:sp>
        <p:nvSpPr>
          <p:cNvPr id="11" name="Rounded Rectangle 9"/>
          <p:cNvSpPr/>
          <p:nvPr/>
        </p:nvSpPr>
        <p:spPr>
          <a:xfrm>
            <a:off x="6631199" y="1980000"/>
            <a:ext cx="2844000" cy="1944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t"/>
          <a:lstStyle/>
          <a:p>
            <a:pPr algn="l">
              <a:spcAft>
                <a:spcPts val="500"/>
              </a:spcAft>
            </a:pPr>
            <a:endParaRPr/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職種×地域×資格ごとのURLを用意し、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リッチメニューや配信から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そのまま開けるようにする。</a:t>
            </a:r>
          </a:p>
        </p:txBody>
      </p:sp>
      <p:sp>
        <p:nvSpPr>
          <p:cNvPr id="12" name="Rounded Rectangle 10"/>
          <p:cNvSpPr/>
          <p:nvPr/>
        </p:nvSpPr>
        <p:spPr>
          <a:xfrm>
            <a:off x="432000" y="4140000"/>
            <a:ext cx="9043200" cy="864000"/>
          </a:xfrm>
          <a:prstGeom prst="roundRect">
            <a:avLst>
              <a:gd name="adj" fmla="val 6000"/>
            </a:avLst>
          </a:prstGeom>
          <a:solidFill>
            <a:srgbClr val="FCE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t"/>
          <a:lstStyle/>
          <a:p>
            <a:pPr algn="l">
              <a:spcAft>
                <a:spcPts val="500"/>
              </a:spcAft>
            </a:pPr>
            <a:r>
              <a:rPr sz="1250" b="1" dirty="0" err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LINE連携の開発について</a:t>
            </a:r>
            <a:endParaRPr sz="1250" b="1" dirty="0">
              <a:solidFill>
                <a:srgbClr val="ED7D31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5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LINE連携の開発</a:t>
            </a:r>
            <a:r>
              <a:rPr lang="ja-JP" altLang="en-US" sz="115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が、</a:t>
            </a:r>
            <a:r>
              <a:rPr sz="115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対応が可能（内容に応じて都度お見積もり</a:t>
            </a:r>
            <a:r>
              <a:rPr sz="115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）</a:t>
            </a:r>
            <a:endParaRPr lang="en-US" sz="11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5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サイト制作会社様と仕様をすり合わせて進めます</a:t>
            </a:r>
            <a:r>
              <a:rPr sz="115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。</a:t>
            </a:r>
          </a:p>
        </p:txBody>
      </p:sp>
      <p:sp>
        <p:nvSpPr>
          <p:cNvPr id="13" name="Rounded Rectangle 11"/>
          <p:cNvSpPr/>
          <p:nvPr/>
        </p:nvSpPr>
        <p:spPr>
          <a:xfrm>
            <a:off x="432000" y="5220000"/>
            <a:ext cx="9043200" cy="432000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8000" tIns="0" rIns="108000" bIns="0" rtlCol="0" anchor="ctr"/>
          <a:lstStyle/>
          <a:p>
            <a:pPr algn="ctr">
              <a:lnSpc>
                <a:spcPct val="125000"/>
              </a:lnSpc>
            </a:pPr>
            <a:r>
              <a:rPr lang="ja-JP" altLang="en-US" sz="1300" b="1" dirty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この三点で、</a:t>
            </a:r>
            <a:r>
              <a:rPr sz="1300" b="1" dirty="0" err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タウンワークの型を貴社サイトで再現できます</a:t>
            </a:r>
            <a:r>
              <a:rPr sz="1300" b="1" dirty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。</a:t>
            </a:r>
          </a:p>
        </p:txBody>
      </p:sp>
    </p:spTree>
    <p:extLst>
      <p:ext uri="{BB962C8B-B14F-4D97-AF65-F5344CB8AC3E}">
        <p14:creationId xmlns:p14="http://schemas.microsoft.com/office/powerpoint/2010/main" val="321229055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" name="">
          <a:extLst>
            <a:ext uri="{FF2B5EF4-FFF2-40B4-BE49-F238E27FC236}">
              <a16:creationId xmlns:a16="http://schemas.microsoft.com/office/drawing/2014/main" id="{AE682CB4-E2E4-29F5-FA9B-848F31DADC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スケジュール｜4月にサイトと同時に開設</a:t>
            </a:r>
          </a:p>
        </p:txBody>
      </p:sp>
      <p:sp>
        <p:nvSpPr>
          <p:cNvPr id="4" name="TextBox 2"/>
          <p:cNvSpPr txBox="1"/>
          <p:nvPr/>
        </p:nvSpPr>
        <p:spPr>
          <a:xfrm>
            <a:off x="432000" y="850368"/>
            <a:ext cx="9036000" cy="279264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 </a:t>
            </a:r>
            <a:r>
              <a:rPr sz="125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Profile+は申請とLINEヤフー社の審査があるため、予算が決まり次第、着手</a:t>
            </a:r>
            <a:endParaRPr sz="12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5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4"/>
          <p:cNvSpPr/>
          <p:nvPr/>
        </p:nvSpPr>
        <p:spPr>
          <a:xfrm>
            <a:off x="432000" y="1584000"/>
            <a:ext cx="1296000" cy="684000"/>
          </a:xfrm>
          <a:prstGeom prst="roundRect">
            <a:avLst>
              <a:gd name="adj" fmla="val 1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0" rIns="36000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11〜12月</a:t>
            </a:r>
          </a:p>
        </p:txBody>
      </p:sp>
      <p:sp>
        <p:nvSpPr>
          <p:cNvPr id="7" name="Rounded Rectangle 5"/>
          <p:cNvSpPr/>
          <p:nvPr/>
        </p:nvSpPr>
        <p:spPr>
          <a:xfrm>
            <a:off x="1835999" y="1584000"/>
            <a:ext cx="7639200" cy="684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ctr"/>
          <a:lstStyle/>
          <a:p>
            <a:pPr algn="l">
              <a:spcAft>
                <a:spcPts val="500"/>
              </a:spcAft>
            </a:pPr>
            <a:r>
              <a:rPr sz="12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予算のご決定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来期の予算にLINEを組み込む</a:t>
            </a:r>
          </a:p>
        </p:txBody>
      </p:sp>
      <p:sp>
        <p:nvSpPr>
          <p:cNvPr id="8" name="Rounded Rectangle 6"/>
          <p:cNvSpPr/>
          <p:nvPr/>
        </p:nvSpPr>
        <p:spPr>
          <a:xfrm>
            <a:off x="432000" y="2394000"/>
            <a:ext cx="1296000" cy="684000"/>
          </a:xfrm>
          <a:prstGeom prst="roundRect">
            <a:avLst>
              <a:gd name="adj" fmla="val 1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0" rIns="36000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1〜2月</a:t>
            </a:r>
          </a:p>
        </p:txBody>
      </p:sp>
      <p:sp>
        <p:nvSpPr>
          <p:cNvPr id="9" name="Rounded Rectangle 7"/>
          <p:cNvSpPr/>
          <p:nvPr/>
        </p:nvSpPr>
        <p:spPr>
          <a:xfrm>
            <a:off x="1835999" y="2394000"/>
            <a:ext cx="7639200" cy="684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ctr"/>
          <a:lstStyle/>
          <a:p>
            <a:pPr algn="l">
              <a:spcAft>
                <a:spcPts val="500"/>
              </a:spcAft>
            </a:pPr>
            <a:r>
              <a:rPr sz="12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お申込み・申請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アカウント開設、LINE Profile+の申請、サイト制作会社様と仕様のすり合わせ</a:t>
            </a:r>
          </a:p>
        </p:txBody>
      </p:sp>
      <p:sp>
        <p:nvSpPr>
          <p:cNvPr id="10" name="Rounded Rectangle 8"/>
          <p:cNvSpPr/>
          <p:nvPr/>
        </p:nvSpPr>
        <p:spPr>
          <a:xfrm>
            <a:off x="432000" y="3204000"/>
            <a:ext cx="1296000" cy="684000"/>
          </a:xfrm>
          <a:prstGeom prst="roundRect">
            <a:avLst>
              <a:gd name="adj" fmla="val 1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0" rIns="36000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2〜3月</a:t>
            </a:r>
          </a:p>
        </p:txBody>
      </p:sp>
      <p:sp>
        <p:nvSpPr>
          <p:cNvPr id="11" name="Rounded Rectangle 9"/>
          <p:cNvSpPr/>
          <p:nvPr/>
        </p:nvSpPr>
        <p:spPr>
          <a:xfrm>
            <a:off x="1835999" y="3204000"/>
            <a:ext cx="7639200" cy="684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ctr"/>
          <a:lstStyle/>
          <a:p>
            <a:pPr algn="l">
              <a:spcAft>
                <a:spcPts val="500"/>
              </a:spcAft>
            </a:pPr>
            <a:r>
              <a:rPr sz="12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初期構築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あいさつ・リッチメニュー・ステップ配信の作成、サイトとの連携テスト</a:t>
            </a:r>
          </a:p>
        </p:txBody>
      </p:sp>
      <p:sp>
        <p:nvSpPr>
          <p:cNvPr id="12" name="Rounded Rectangle 10"/>
          <p:cNvSpPr/>
          <p:nvPr/>
        </p:nvSpPr>
        <p:spPr>
          <a:xfrm>
            <a:off x="432000" y="4014000"/>
            <a:ext cx="1296000" cy="684000"/>
          </a:xfrm>
          <a:prstGeom prst="roundRect">
            <a:avLst>
              <a:gd name="adj" fmla="val 18000"/>
            </a:avLst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0" rIns="36000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4月</a:t>
            </a:r>
          </a:p>
        </p:txBody>
      </p:sp>
      <p:sp>
        <p:nvSpPr>
          <p:cNvPr id="13" name="Rounded Rectangle 11"/>
          <p:cNvSpPr/>
          <p:nvPr/>
        </p:nvSpPr>
        <p:spPr>
          <a:xfrm>
            <a:off x="1835999" y="4014000"/>
            <a:ext cx="7639200" cy="684000"/>
          </a:xfrm>
          <a:prstGeom prst="roundRect">
            <a:avLst>
              <a:gd name="adj" fmla="val 6000"/>
            </a:avLst>
          </a:prstGeom>
          <a:solidFill>
            <a:srgbClr val="E8F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ctr"/>
          <a:lstStyle/>
          <a:p>
            <a:pPr algn="l">
              <a:spcAft>
                <a:spcPts val="500"/>
              </a:spcAft>
            </a:pPr>
            <a:r>
              <a:rPr sz="12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サイトと同時に開設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運用開始。会員登録・友だち追加を開始</a:t>
            </a:r>
          </a:p>
        </p:txBody>
      </p:sp>
      <p:sp>
        <p:nvSpPr>
          <p:cNvPr id="14" name="Rounded Rectangle 12"/>
          <p:cNvSpPr/>
          <p:nvPr/>
        </p:nvSpPr>
        <p:spPr>
          <a:xfrm>
            <a:off x="432000" y="4824000"/>
            <a:ext cx="1296000" cy="684000"/>
          </a:xfrm>
          <a:prstGeom prst="roundRect">
            <a:avLst>
              <a:gd name="adj" fmla="val 1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0" rIns="36000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〜翌3月</a:t>
            </a:r>
          </a:p>
        </p:txBody>
      </p:sp>
      <p:sp>
        <p:nvSpPr>
          <p:cNvPr id="15" name="Rounded Rectangle 13"/>
          <p:cNvSpPr/>
          <p:nvPr/>
        </p:nvSpPr>
        <p:spPr>
          <a:xfrm>
            <a:off x="1835999" y="4824000"/>
            <a:ext cx="7639200" cy="684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ctr"/>
          <a:lstStyle/>
          <a:p>
            <a:pPr algn="l">
              <a:spcAft>
                <a:spcPts val="500"/>
              </a:spcAft>
            </a:pPr>
            <a:r>
              <a:rPr sz="12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友だちを増やし、ピークに備える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毎月の配信と改善を続け、3月の転職のピークに備える</a:t>
            </a:r>
          </a:p>
        </p:txBody>
      </p:sp>
      <p:sp>
        <p:nvSpPr>
          <p:cNvPr id="16" name="TextBox 14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tIns="21600" rIns="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※LINE Profile+の審査期間は、申請内容により変わります</a:t>
            </a:r>
          </a:p>
        </p:txBody>
      </p:sp>
    </p:spTree>
    <p:extLst>
      <p:ext uri="{BB962C8B-B14F-4D97-AF65-F5344CB8AC3E}">
        <p14:creationId xmlns:p14="http://schemas.microsoft.com/office/powerpoint/2010/main" val="145194516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" name="">
          <a:extLst>
            <a:ext uri="{FF2B5EF4-FFF2-40B4-BE49-F238E27FC236}">
              <a16:creationId xmlns:a16="http://schemas.microsoft.com/office/drawing/2014/main" id="{4852631F-440C-AF04-0C69-2C8669EB80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成果シミュレーション（4〜9月）</a:t>
            </a:r>
          </a:p>
        </p:txBody>
      </p:sp>
      <p:sp>
        <p:nvSpPr>
          <p:cNvPr id="4" name="TextBox 2"/>
          <p:cNvSpPr txBox="1"/>
          <p:nvPr/>
        </p:nvSpPr>
        <p:spPr>
          <a:xfrm>
            <a:off x="432000" y="725334"/>
            <a:ext cx="9036000" cy="529332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会員登録（CV</a:t>
            </a:r>
            <a:r>
              <a:rPr sz="125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①）</a:t>
            </a:r>
            <a:r>
              <a:rPr sz="125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はLINEでワンタップ。登録した方を、リッチメニューと配信で応募（CV</a:t>
            </a:r>
            <a:r>
              <a:rPr sz="125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②）へ</a:t>
            </a:r>
          </a:p>
          <a:p>
            <a:pPr algn="l">
              <a:lnSpc>
                <a:spcPct val="130000"/>
              </a:lnSpc>
            </a:pPr>
            <a:r>
              <a:rPr sz="125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友だちが増えるほど応募も増え、7月に応募単価が2.5万円を下回る見込み</a:t>
            </a:r>
          </a:p>
        </p:txBody>
      </p:sp>
      <p:cxnSp>
        <p:nvCxnSpPr>
          <p:cNvPr id="5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6" name="Table 4"/>
          <p:cNvGraphicFramePr>
            <a:graphicFrameLocks noGrp="1"/>
          </p:cNvGraphicFramePr>
          <p:nvPr/>
        </p:nvGraphicFramePr>
        <p:xfrm>
          <a:off x="432000" y="1584000"/>
          <a:ext cx="9043200" cy="223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9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44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44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44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44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44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0440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446400"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1F28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4月</a:t>
                      </a:r>
                    </a:p>
                  </a:txBody>
                  <a:tcPr anchor="ctr">
                    <a:solidFill>
                      <a:srgbClr val="1F28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5月</a:t>
                      </a:r>
                    </a:p>
                  </a:txBody>
                  <a:tcPr anchor="ctr">
                    <a:solidFill>
                      <a:srgbClr val="1F28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6月</a:t>
                      </a:r>
                    </a:p>
                  </a:txBody>
                  <a:tcPr anchor="ctr">
                    <a:solidFill>
                      <a:srgbClr val="1F28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7月</a:t>
                      </a:r>
                    </a:p>
                  </a:txBody>
                  <a:tcPr anchor="ctr">
                    <a:solidFill>
                      <a:srgbClr val="1F28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8月</a:t>
                      </a:r>
                    </a:p>
                  </a:txBody>
                  <a:tcPr anchor="ctr">
                    <a:solidFill>
                      <a:srgbClr val="1F28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9月</a:t>
                      </a:r>
                    </a:p>
                  </a:txBody>
                  <a:tcPr anchor="ctr">
                    <a:solidFill>
                      <a:srgbClr val="1F28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合計</a:t>
                      </a:r>
                    </a:p>
                  </a:txBody>
                  <a:tcPr anchor="ctr">
                    <a:solidFill>
                      <a:srgbClr val="1F28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友だち（累計）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63人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143人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235人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335人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436人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542人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―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会員登録（CV①）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38件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50件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56件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62件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62件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66件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334件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応募（CV②）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3件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6件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8件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10件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12件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13件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52件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応募単価（CPA）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7.8万円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3.9万円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2.9万円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C00000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2.4万円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C00000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2.0万円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C00000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1.8万円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―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7" name="Rounded Rectangle 5"/>
          <p:cNvSpPr/>
          <p:nvPr/>
        </p:nvSpPr>
        <p:spPr>
          <a:xfrm>
            <a:off x="432000" y="3996000"/>
            <a:ext cx="2844000" cy="1224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400" tIns="21600" rIns="50400" bIns="21600" rtlCol="0" anchor="ctr"/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半年の会員登録（CV①）</a:t>
            </a:r>
          </a:p>
          <a:p>
            <a:pPr algn="ctr">
              <a:spcAft>
                <a:spcPts val="300"/>
              </a:spcAft>
            </a:pPr>
            <a:r>
              <a:rPr sz="28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334件</a:t>
            </a:r>
          </a:p>
          <a:p>
            <a:pPr algn="ctr"/>
            <a:r>
              <a:rPr sz="10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LINEでワンタップ登録</a:t>
            </a:r>
          </a:p>
        </p:txBody>
      </p:sp>
      <p:sp>
        <p:nvSpPr>
          <p:cNvPr id="8" name="Rounded Rectangle 6"/>
          <p:cNvSpPr/>
          <p:nvPr/>
        </p:nvSpPr>
        <p:spPr>
          <a:xfrm>
            <a:off x="3531599" y="3996000"/>
            <a:ext cx="2844000" cy="1224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400" tIns="21600" rIns="50400" bIns="21600" rtlCol="0" anchor="ctr"/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半年の応募（CV②）</a:t>
            </a:r>
          </a:p>
          <a:p>
            <a:pPr algn="ctr">
              <a:spcAft>
                <a:spcPts val="300"/>
              </a:spcAft>
            </a:pPr>
            <a:r>
              <a:rPr sz="28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52件</a:t>
            </a:r>
          </a:p>
          <a:p>
            <a:pPr algn="ctr"/>
            <a:r>
              <a:rPr sz="10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リッチメニュー・配信から</a:t>
            </a:r>
          </a:p>
        </p:txBody>
      </p:sp>
      <p:sp>
        <p:nvSpPr>
          <p:cNvPr id="9" name="Rounded Rectangle 7"/>
          <p:cNvSpPr/>
          <p:nvPr/>
        </p:nvSpPr>
        <p:spPr>
          <a:xfrm>
            <a:off x="6631199" y="3996000"/>
            <a:ext cx="2844000" cy="1224000"/>
          </a:xfrm>
          <a:prstGeom prst="roundRect">
            <a:avLst>
              <a:gd name="adj" fmla="val 6000"/>
            </a:avLst>
          </a:prstGeom>
          <a:solidFill>
            <a:srgbClr val="FCE4D6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400" tIns="21600" rIns="50400" bIns="21600" rtlCol="0" anchor="ctr"/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9月の応募単価</a:t>
            </a:r>
          </a:p>
          <a:p>
            <a:pPr algn="ctr">
              <a:spcAft>
                <a:spcPts val="300"/>
              </a:spcAft>
            </a:pPr>
            <a:r>
              <a:rPr sz="2800" b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1.8万円</a:t>
            </a:r>
          </a:p>
          <a:p>
            <a:pPr algn="ctr"/>
            <a:r>
              <a:rPr sz="10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目標2〜2.5万円を下回る</a:t>
            </a:r>
          </a:p>
        </p:txBody>
      </p:sp>
      <p:sp>
        <p:nvSpPr>
          <p:cNvPr id="10" name="TextBox 8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tIns="21600" rIns="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前提：サイト来訪 月約6,100人（広告のシミュレーション確定後に差し替え）／LINEで登録＝来訪者の1.0%／費用 月23.5万円／応募単価＝月の費用÷その月の応募数（初期費用は含まない）</a:t>
            </a:r>
          </a:p>
        </p:txBody>
      </p:sp>
    </p:spTree>
    <p:extLst>
      <p:ext uri="{BB962C8B-B14F-4D97-AF65-F5344CB8AC3E}">
        <p14:creationId xmlns:p14="http://schemas.microsoft.com/office/powerpoint/2010/main" val="126982279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" name="">
          <a:extLst>
            <a:ext uri="{FF2B5EF4-FFF2-40B4-BE49-F238E27FC236}">
              <a16:creationId xmlns:a16="http://schemas.microsoft.com/office/drawing/2014/main" id="{C347C1D4-87AF-B047-12E0-A214281205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費用と体制</a:t>
            </a:r>
          </a:p>
        </p:txBody>
      </p:sp>
      <p:sp>
        <p:nvSpPr>
          <p:cNvPr id="4" name="TextBox 2"/>
          <p:cNvSpPr txBox="1"/>
          <p:nvPr/>
        </p:nvSpPr>
        <p:spPr>
          <a:xfrm>
            <a:off x="432000" y="850368"/>
            <a:ext cx="9036000" cy="279264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>
              <a:lnSpc>
                <a:spcPct val="130000"/>
              </a:lnSpc>
            </a:pPr>
            <a:r>
              <a:rPr lang="en-US" altLang="ja-JP" sz="125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</a:t>
            </a:r>
            <a:r>
              <a:rPr lang="ja-JP" altLang="en-US" sz="125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公式アカウントの導入と運用にかかる費用</a:t>
            </a:r>
          </a:p>
        </p:txBody>
      </p:sp>
      <p:cxnSp>
        <p:nvCxnSpPr>
          <p:cNvPr id="5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6" name="Table 4"/>
          <p:cNvGraphicFramePr>
            <a:graphicFrameLocks noGrp="1"/>
          </p:cNvGraphicFramePr>
          <p:nvPr/>
        </p:nvGraphicFramePr>
        <p:xfrm>
          <a:off x="432000" y="1584000"/>
          <a:ext cx="5256000" cy="277186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64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9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96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90857"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項目</a:t>
                      </a:r>
                    </a:p>
                  </a:txBody>
                  <a:tcPr anchor="ctr">
                    <a:solidFill>
                      <a:srgbClr val="1F28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初期</a:t>
                      </a:r>
                    </a:p>
                  </a:txBody>
                  <a:tcPr anchor="ctr">
                    <a:solidFill>
                      <a:srgbClr val="1F28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月額</a:t>
                      </a:r>
                    </a:p>
                  </a:txBody>
                  <a:tcPr anchor="ctr">
                    <a:solidFill>
                      <a:srgbClr val="1F28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0857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LINE運用コンサル
（設計・構築・配信・改善）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20万円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20万円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0857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離脱防止ポップアップ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1.5万円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3万円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90857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LINE公式アカウント（開設／利用料）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3万円〜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0.5万円〜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90857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合計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C00000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24.5万円〜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C00000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23.5万円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90857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サンクスLINE（オプション）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10万円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5万円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9085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LINE Profile+／LINE連携の開発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都度お見積もり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―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7" name="TextBox 5"/>
          <p:cNvSpPr txBox="1"/>
          <p:nvPr/>
        </p:nvSpPr>
        <p:spPr>
          <a:xfrm>
            <a:off x="5903999" y="1584000"/>
            <a:ext cx="3571200" cy="288000"/>
          </a:xfrm>
          <a:prstGeom prst="rect">
            <a:avLst/>
          </a:prstGeom>
          <a:noFill/>
        </p:spPr>
        <p:txBody>
          <a:bodyPr wrap="square" lIns="0" tIns="21600" rIns="50400" bIns="21600" anchor="t">
            <a:spAutoFit/>
          </a:bodyPr>
          <a:lstStyle/>
          <a:p>
            <a:pPr algn="l"/>
            <a:r>
              <a:rPr sz="13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体制</a:t>
            </a:r>
          </a:p>
        </p:txBody>
      </p:sp>
      <p:sp>
        <p:nvSpPr>
          <p:cNvPr id="8" name="Rounded Rectangle 6"/>
          <p:cNvSpPr/>
          <p:nvPr/>
        </p:nvSpPr>
        <p:spPr>
          <a:xfrm>
            <a:off x="5903999" y="1908000"/>
            <a:ext cx="3571200" cy="737999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t"/>
          <a:lstStyle/>
          <a:p>
            <a:pPr algn="l">
              <a:spcAft>
                <a:spcPts val="500"/>
              </a:spcAft>
            </a:pPr>
            <a:r>
              <a:rPr sz="11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弊社：戦略・設計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アカウント設計、動線・配信の設計、効果の分析と改善のご提案</a:t>
            </a:r>
          </a:p>
        </p:txBody>
      </p:sp>
      <p:sp>
        <p:nvSpPr>
          <p:cNvPr id="9" name="Rounded Rectangle 7"/>
          <p:cNvSpPr/>
          <p:nvPr/>
        </p:nvSpPr>
        <p:spPr>
          <a:xfrm>
            <a:off x="5903999" y="2718000"/>
            <a:ext cx="3571200" cy="737999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t"/>
          <a:lstStyle/>
          <a:p>
            <a:pPr algn="l">
              <a:spcAft>
                <a:spcPts val="500"/>
              </a:spcAft>
            </a:pPr>
            <a:r>
              <a:rPr sz="11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弊社：運用・制作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あいさつ・リッチメニュー・配信の作成と設定、毎月のレポート</a:t>
            </a:r>
          </a:p>
        </p:txBody>
      </p:sp>
      <p:sp>
        <p:nvSpPr>
          <p:cNvPr id="10" name="Rounded Rectangle 8"/>
          <p:cNvSpPr/>
          <p:nvPr/>
        </p:nvSpPr>
        <p:spPr>
          <a:xfrm>
            <a:off x="5903999" y="3528000"/>
            <a:ext cx="3571200" cy="737999"/>
          </a:xfrm>
          <a:prstGeom prst="roundRect">
            <a:avLst>
              <a:gd name="adj" fmla="val 6000"/>
            </a:avLst>
          </a:prstGeom>
          <a:solidFill>
            <a:srgbClr val="FCE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t"/>
          <a:lstStyle/>
          <a:p>
            <a:pPr algn="l">
              <a:spcAft>
                <a:spcPts val="500"/>
              </a:spcAft>
            </a:pPr>
            <a:r>
              <a:rPr sz="1150" b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貴社にお願いすること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求人情報・面談体制の共有、サイト制作会社様との連携</a:t>
            </a:r>
          </a:p>
        </p:txBody>
      </p:sp>
      <p:sp>
        <p:nvSpPr>
          <p:cNvPr id="11" name="Rounded Rectangle 9"/>
          <p:cNvSpPr/>
          <p:nvPr/>
        </p:nvSpPr>
        <p:spPr>
          <a:xfrm>
            <a:off x="432000" y="4536000"/>
            <a:ext cx="9043200" cy="432000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8000" tIns="0" rIns="108000" bIns="0" rtlCol="0" anchor="ctr"/>
          <a:lstStyle/>
          <a:p>
            <a:pPr algn="ctr">
              <a:lnSpc>
                <a:spcPct val="125000"/>
              </a:lnSpc>
            </a:pPr>
            <a:r>
              <a:rPr sz="1300" b="1" dirty="0" err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会員登録から応募までをLINEでつなげる仕組みを構築</a:t>
            </a:r>
            <a:r>
              <a:rPr sz="1300" b="1" dirty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・</a:t>
            </a:r>
            <a:r>
              <a:rPr lang="ja-JP" altLang="en-US" sz="1300" b="1" dirty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運用</a:t>
            </a:r>
            <a:endParaRPr sz="1300" b="1" dirty="0">
              <a:solidFill>
                <a:srgbClr val="FFFFFF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2" name="TextBox 10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tIns="21600" rIns="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※LINE公式アカウントの利用料は配信通数により変動します</a:t>
            </a:r>
          </a:p>
        </p:txBody>
      </p:sp>
    </p:spTree>
    <p:extLst>
      <p:ext uri="{BB962C8B-B14F-4D97-AF65-F5344CB8AC3E}">
        <p14:creationId xmlns:p14="http://schemas.microsoft.com/office/powerpoint/2010/main" val="18937795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" name="">
          <a:extLst>
            <a:ext uri="{FF2B5EF4-FFF2-40B4-BE49-F238E27FC236}">
              <a16:creationId xmlns:a16="http://schemas.microsoft.com/office/drawing/2014/main" id="{C2EA8C22-A859-569A-8EEC-58728B6BD6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"/>
          <p:cNvSpPr txBox="1"/>
          <p:nvPr/>
        </p:nvSpPr>
        <p:spPr>
          <a:xfrm>
            <a:off x="547200" y="161078"/>
            <a:ext cx="8784000" cy="289843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 dirty="0" err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業界の人手不足</a:t>
            </a:r>
            <a:endParaRPr sz="1600" b="1" dirty="0">
              <a:solidFill>
                <a:srgbClr val="002060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4" name="TextBox 2"/>
          <p:cNvSpPr txBox="1"/>
          <p:nvPr/>
        </p:nvSpPr>
        <p:spPr>
          <a:xfrm>
            <a:off x="432000" y="850368"/>
            <a:ext cx="9036000" cy="279264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整備士・営業は、求人に対して人材が大きく不足している「超売り手市場</a:t>
            </a:r>
            <a:r>
              <a:rPr sz="125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」</a:t>
            </a:r>
          </a:p>
        </p:txBody>
      </p:sp>
      <p:cxnSp>
        <p:nvCxnSpPr>
          <p:cNvPr id="5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4"/>
          <p:cNvSpPr/>
          <p:nvPr/>
        </p:nvSpPr>
        <p:spPr>
          <a:xfrm>
            <a:off x="432000" y="1584000"/>
            <a:ext cx="2844000" cy="1440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400" tIns="21600" rIns="50400" bIns="21600" rtlCol="0" anchor="ctr"/>
          <a:lstStyle/>
          <a:p>
            <a:pPr algn="ctr">
              <a:spcAft>
                <a:spcPts val="400"/>
              </a:spcAft>
            </a:pPr>
            <a:r>
              <a:rPr sz="1200" b="1" dirty="0" err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整備士の有効求人倍率</a:t>
            </a:r>
            <a:endParaRPr sz="120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ctr">
              <a:spcAft>
                <a:spcPts val="400"/>
              </a:spcAft>
            </a:pPr>
            <a:r>
              <a:rPr sz="3400" b="1" dirty="0">
                <a:solidFill>
                  <a:schemeClr val="tx1"/>
                </a:solidFill>
                <a:latin typeface="メイリオ"/>
                <a:ea typeface="メイリオ"/>
                <a:cs typeface="メイリオ"/>
              </a:rPr>
              <a:t>5.46倍</a:t>
            </a:r>
          </a:p>
          <a:p>
            <a:pPr algn="ctr"/>
            <a:r>
              <a:rPr sz="105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2025年度</a:t>
            </a:r>
          </a:p>
        </p:txBody>
      </p:sp>
      <p:sp>
        <p:nvSpPr>
          <p:cNvPr id="7" name="Rounded Rectangle 5"/>
          <p:cNvSpPr/>
          <p:nvPr/>
        </p:nvSpPr>
        <p:spPr>
          <a:xfrm>
            <a:off x="3531599" y="1584000"/>
            <a:ext cx="2844000" cy="1440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400" tIns="21600" rIns="50400" bIns="21600" rtlCol="0" anchor="ctr"/>
          <a:lstStyle/>
          <a:p>
            <a:pPr algn="ctr">
              <a:spcAft>
                <a:spcPts val="400"/>
              </a:spcAft>
            </a:pPr>
            <a:r>
              <a:rPr sz="1200" b="1" dirty="0" err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自動車営業の有効求人倍率</a:t>
            </a:r>
            <a:endParaRPr sz="120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ctr">
              <a:spcAft>
                <a:spcPts val="400"/>
              </a:spcAft>
            </a:pPr>
            <a:r>
              <a:rPr sz="3400" b="1" dirty="0">
                <a:solidFill>
                  <a:schemeClr val="tx1"/>
                </a:solidFill>
                <a:latin typeface="メイリオ"/>
                <a:ea typeface="メイリオ"/>
                <a:cs typeface="メイリオ"/>
              </a:rPr>
              <a:t>12.55倍</a:t>
            </a:r>
          </a:p>
          <a:p>
            <a:pPr algn="ctr"/>
            <a:r>
              <a:rPr sz="105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2025年度（受付事務は0.96倍）</a:t>
            </a:r>
          </a:p>
        </p:txBody>
      </p:sp>
      <p:sp>
        <p:nvSpPr>
          <p:cNvPr id="8" name="Rounded Rectangle 6"/>
          <p:cNvSpPr/>
          <p:nvPr/>
        </p:nvSpPr>
        <p:spPr>
          <a:xfrm>
            <a:off x="6631199" y="1584000"/>
            <a:ext cx="2844000" cy="1440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400" tIns="21600" rIns="50400" bIns="21600" rtlCol="0" anchor="ctr"/>
          <a:lstStyle/>
          <a:p>
            <a:pPr algn="ctr">
              <a:spcAft>
                <a:spcPts val="400"/>
              </a:spcAft>
            </a:pPr>
            <a:r>
              <a:rPr sz="1200" b="1" dirty="0" err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人手不足を感じる整備事業者</a:t>
            </a:r>
            <a:endParaRPr sz="120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ctr">
              <a:spcAft>
                <a:spcPts val="400"/>
              </a:spcAft>
            </a:pPr>
            <a:r>
              <a:rPr sz="3400" b="1" dirty="0">
                <a:solidFill>
                  <a:schemeClr val="tx1"/>
                </a:solidFill>
                <a:latin typeface="メイリオ"/>
                <a:ea typeface="メイリオ"/>
                <a:cs typeface="メイリオ"/>
              </a:rPr>
              <a:t>約6割</a:t>
            </a:r>
          </a:p>
          <a:p>
            <a:pPr algn="ctr"/>
            <a:r>
              <a:rPr sz="105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国土交通省の資料</a:t>
            </a:r>
            <a:endParaRPr sz="10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graphicFrame>
        <p:nvGraphicFramePr>
          <p:cNvPr id="9" name="Table 7"/>
          <p:cNvGraphicFramePr>
            <a:graphicFrameLocks noGrp="1"/>
          </p:cNvGraphicFramePr>
          <p:nvPr/>
        </p:nvGraphicFramePr>
        <p:xfrm>
          <a:off x="432000" y="3240000"/>
          <a:ext cx="9043200" cy="1188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4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4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4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232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96000"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1F28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以前</a:t>
                      </a:r>
                    </a:p>
                  </a:txBody>
                  <a:tcPr anchor="ctr">
                    <a:solidFill>
                      <a:srgbClr val="1F28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最近</a:t>
                      </a:r>
                    </a:p>
                  </a:txBody>
                  <a:tcPr anchor="ctr">
                    <a:solidFill>
                      <a:srgbClr val="1F28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変化</a:t>
                      </a:r>
                    </a:p>
                  </a:txBody>
                  <a:tcPr anchor="ctr">
                    <a:solidFill>
                      <a:srgbClr val="1F28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60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整備学校の入学者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12,394人（2003年度）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7,068人（2024年度）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C00000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約4割減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60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整備要員の平均年齢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39.7歳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47.2歳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C00000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高齢化</a:t>
                      </a:r>
                    </a:p>
                  </a:txBody>
                  <a:tcPr anchor="ctr">
                    <a:solidFill>
                      <a:srgbClr val="F4F7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0" name="Rounded Rectangle 8"/>
          <p:cNvSpPr/>
          <p:nvPr/>
        </p:nvSpPr>
        <p:spPr>
          <a:xfrm>
            <a:off x="432000" y="4680000"/>
            <a:ext cx="9043200" cy="432000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8000" tIns="0" rIns="108000" bIns="0" rtlCol="0" anchor="ctr"/>
          <a:lstStyle/>
          <a:p>
            <a:pPr algn="ctr">
              <a:lnSpc>
                <a:spcPct val="125000"/>
              </a:lnSpc>
            </a:pPr>
            <a:r>
              <a:rPr sz="1300" b="1" dirty="0" err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人材が集まりにくい市場だからこそ、サイトに訪れた求職者を逃さない仕組みが</a:t>
            </a:r>
            <a:r>
              <a:rPr lang="ja-JP" altLang="en-US" sz="1300" b="1" dirty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重要</a:t>
            </a:r>
            <a:endParaRPr sz="1300" b="1" dirty="0">
              <a:solidFill>
                <a:srgbClr val="FFFFFF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1" name="TextBox 9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tIns="21600" rIns="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出典：厚生労働省 job tag（有効求人倍率・2025年度）／国土交通省資料（出典：自動車整備白書）</a:t>
            </a:r>
          </a:p>
        </p:txBody>
      </p:sp>
    </p:spTree>
    <p:extLst>
      <p:ext uri="{BB962C8B-B14F-4D97-AF65-F5344CB8AC3E}">
        <p14:creationId xmlns:p14="http://schemas.microsoft.com/office/powerpoint/2010/main" val="173466286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"/>
          <p:cNvSpPr txBox="1"/>
          <p:nvPr/>
        </p:nvSpPr>
        <p:spPr>
          <a:xfrm>
            <a:off x="547200" y="161078"/>
            <a:ext cx="8784000" cy="289843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 dirty="0" err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求職者の動き方</a:t>
            </a:r>
            <a:endParaRPr sz="1600" b="1" dirty="0">
              <a:solidFill>
                <a:srgbClr val="002060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4" name="TextBox 2"/>
          <p:cNvSpPr txBox="1"/>
          <p:nvPr/>
        </p:nvSpPr>
        <p:spPr>
          <a:xfrm>
            <a:off x="432000" y="725334"/>
            <a:ext cx="9036000" cy="529332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整備士は、複数の経路を併用して比べながら仕事を探して</a:t>
            </a:r>
            <a:r>
              <a:rPr lang="ja-JP" altLang="en-US" sz="125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いる</a:t>
            </a:r>
            <a:endParaRPr lang="en-US" altLang="ja-JP" sz="12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</a:pPr>
            <a:r>
              <a:rPr sz="125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検索は一年を通してあり</a:t>
            </a:r>
            <a:r>
              <a:rPr sz="125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、</a:t>
            </a:r>
            <a:r>
              <a:rPr lang="ja-JP" altLang="en-US" sz="125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中でも、</a:t>
            </a:r>
            <a:r>
              <a:rPr lang="en-US" altLang="ja-JP" sz="125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3</a:t>
            </a:r>
            <a:r>
              <a:rPr lang="ja-JP" altLang="en-US" sz="125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月がピーク</a:t>
            </a:r>
            <a:endParaRPr sz="12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5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4"/>
          <p:cNvSpPr txBox="1"/>
          <p:nvPr/>
        </p:nvSpPr>
        <p:spPr>
          <a:xfrm>
            <a:off x="432000" y="1548000"/>
            <a:ext cx="3960000" cy="288000"/>
          </a:xfrm>
          <a:prstGeom prst="rect">
            <a:avLst/>
          </a:prstGeom>
          <a:noFill/>
        </p:spPr>
        <p:txBody>
          <a:bodyPr wrap="square" lIns="0" tIns="21600" rIns="50400" bIns="21600" anchor="t">
            <a:spAutoFit/>
          </a:bodyPr>
          <a:lstStyle/>
          <a:p>
            <a:pPr algn="l"/>
            <a:r>
              <a:rPr sz="12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仕事を探した経路（複数回答）</a:t>
            </a:r>
          </a:p>
        </p:txBody>
      </p:sp>
      <p:sp>
        <p:nvSpPr>
          <p:cNvPr id="7" name="TextBox 5"/>
          <p:cNvSpPr txBox="1"/>
          <p:nvPr/>
        </p:nvSpPr>
        <p:spPr>
          <a:xfrm>
            <a:off x="432000" y="1908000"/>
            <a:ext cx="1584000" cy="396000"/>
          </a:xfrm>
          <a:prstGeom prst="rect">
            <a:avLst/>
          </a:prstGeom>
          <a:noFill/>
        </p:spPr>
        <p:txBody>
          <a:bodyPr wrap="square" lIns="0" tIns="21600" rIns="50400" bIns="21600" anchor="ctr">
            <a:spAutoFit/>
          </a:bodyPr>
          <a:lstStyle/>
          <a:p>
            <a:pPr algn="l"/>
            <a:r>
              <a:rPr sz="10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転職エージェント</a:t>
            </a:r>
          </a:p>
        </p:txBody>
      </p:sp>
      <p:sp>
        <p:nvSpPr>
          <p:cNvPr id="8" name="Rectangle 6"/>
          <p:cNvSpPr/>
          <p:nvPr/>
        </p:nvSpPr>
        <p:spPr>
          <a:xfrm>
            <a:off x="2052000" y="1980000"/>
            <a:ext cx="1800000" cy="251999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7"/>
          <p:cNvSpPr txBox="1"/>
          <p:nvPr/>
        </p:nvSpPr>
        <p:spPr>
          <a:xfrm>
            <a:off x="3888000" y="1908000"/>
            <a:ext cx="648000" cy="396000"/>
          </a:xfrm>
          <a:prstGeom prst="rect">
            <a:avLst/>
          </a:prstGeom>
          <a:noFill/>
        </p:spPr>
        <p:txBody>
          <a:bodyPr wrap="square" lIns="0" tIns="21600" rIns="50400" bIns="21600" anchor="ctr">
            <a:spAutoFit/>
          </a:bodyPr>
          <a:lstStyle/>
          <a:p>
            <a:pPr algn="l"/>
            <a:r>
              <a:rPr sz="11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35.3%</a:t>
            </a:r>
          </a:p>
        </p:txBody>
      </p:sp>
      <p:sp>
        <p:nvSpPr>
          <p:cNvPr id="10" name="TextBox 8"/>
          <p:cNvSpPr txBox="1"/>
          <p:nvPr/>
        </p:nvSpPr>
        <p:spPr>
          <a:xfrm>
            <a:off x="432000" y="2448000"/>
            <a:ext cx="1584000" cy="396000"/>
          </a:xfrm>
          <a:prstGeom prst="rect">
            <a:avLst/>
          </a:prstGeom>
          <a:noFill/>
        </p:spPr>
        <p:txBody>
          <a:bodyPr wrap="square" lIns="0" tIns="21600" rIns="50400" bIns="21600" anchor="ctr">
            <a:spAutoFit/>
          </a:bodyPr>
          <a:lstStyle/>
          <a:p>
            <a:pPr algn="l"/>
            <a:r>
              <a:rPr sz="10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総合型の求人サイト</a:t>
            </a:r>
          </a:p>
        </p:txBody>
      </p:sp>
      <p:sp>
        <p:nvSpPr>
          <p:cNvPr id="11" name="Rectangle 9"/>
          <p:cNvSpPr/>
          <p:nvPr/>
        </p:nvSpPr>
        <p:spPr>
          <a:xfrm>
            <a:off x="2052000" y="2520000"/>
            <a:ext cx="1738810" cy="251999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0"/>
          <p:cNvSpPr txBox="1"/>
          <p:nvPr/>
        </p:nvSpPr>
        <p:spPr>
          <a:xfrm>
            <a:off x="3826810" y="2448000"/>
            <a:ext cx="648000" cy="396000"/>
          </a:xfrm>
          <a:prstGeom prst="rect">
            <a:avLst/>
          </a:prstGeom>
          <a:noFill/>
        </p:spPr>
        <p:txBody>
          <a:bodyPr wrap="square" lIns="0" tIns="21600" rIns="50400" bIns="21600" anchor="ctr">
            <a:spAutoFit/>
          </a:bodyPr>
          <a:lstStyle/>
          <a:p>
            <a:pPr algn="l"/>
            <a:r>
              <a:rPr sz="11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34.1%</a:t>
            </a:r>
          </a:p>
        </p:txBody>
      </p:sp>
      <p:sp>
        <p:nvSpPr>
          <p:cNvPr id="13" name="TextBox 11"/>
          <p:cNvSpPr txBox="1"/>
          <p:nvPr/>
        </p:nvSpPr>
        <p:spPr>
          <a:xfrm>
            <a:off x="432000" y="2988000"/>
            <a:ext cx="1584000" cy="396000"/>
          </a:xfrm>
          <a:prstGeom prst="rect">
            <a:avLst/>
          </a:prstGeom>
          <a:noFill/>
        </p:spPr>
        <p:txBody>
          <a:bodyPr wrap="square" lIns="0" tIns="21600" rIns="50400" bIns="21600" anchor="ctr">
            <a:spAutoFit/>
          </a:bodyPr>
          <a:lstStyle/>
          <a:p>
            <a:pPr algn="l"/>
            <a:r>
              <a:rPr sz="10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業界特化型の求人サイト</a:t>
            </a:r>
          </a:p>
        </p:txBody>
      </p:sp>
      <p:sp>
        <p:nvSpPr>
          <p:cNvPr id="14" name="Rectangle 12"/>
          <p:cNvSpPr/>
          <p:nvPr/>
        </p:nvSpPr>
        <p:spPr>
          <a:xfrm>
            <a:off x="2052000" y="3060000"/>
            <a:ext cx="1682719" cy="251999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3"/>
          <p:cNvSpPr txBox="1"/>
          <p:nvPr/>
        </p:nvSpPr>
        <p:spPr>
          <a:xfrm>
            <a:off x="3770719" y="2988000"/>
            <a:ext cx="648000" cy="396000"/>
          </a:xfrm>
          <a:prstGeom prst="rect">
            <a:avLst/>
          </a:prstGeom>
          <a:noFill/>
        </p:spPr>
        <p:txBody>
          <a:bodyPr wrap="square" lIns="0" tIns="21600" rIns="50400" bIns="21600" anchor="ctr">
            <a:spAutoFit/>
          </a:bodyPr>
          <a:lstStyle/>
          <a:p>
            <a:pPr algn="l"/>
            <a:r>
              <a:rPr sz="11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33.0%</a:t>
            </a:r>
          </a:p>
        </p:txBody>
      </p:sp>
      <p:sp>
        <p:nvSpPr>
          <p:cNvPr id="16" name="Rounded Rectangle 14"/>
          <p:cNvSpPr/>
          <p:nvPr/>
        </p:nvSpPr>
        <p:spPr>
          <a:xfrm>
            <a:off x="432000" y="3600000"/>
            <a:ext cx="3960000" cy="864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t"/>
          <a:lstStyle/>
          <a:p>
            <a:pPr algn="l">
              <a:spcAft>
                <a:spcPts val="500"/>
              </a:spcAft>
            </a:pPr>
            <a:r>
              <a:rPr sz="12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特化型サイトの登録者は、84%が有資格者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整備士に特化したサイトには、資格を持つ方が集まる</a:t>
            </a:r>
          </a:p>
        </p:txBody>
      </p:sp>
      <p:sp>
        <p:nvSpPr>
          <p:cNvPr id="17" name="TextBox 15"/>
          <p:cNvSpPr txBox="1"/>
          <p:nvPr/>
        </p:nvSpPr>
        <p:spPr>
          <a:xfrm>
            <a:off x="4680000" y="1548000"/>
            <a:ext cx="4788000" cy="288000"/>
          </a:xfrm>
          <a:prstGeom prst="rect">
            <a:avLst/>
          </a:prstGeom>
          <a:noFill/>
        </p:spPr>
        <p:txBody>
          <a:bodyPr wrap="square" lIns="0" tIns="21600" rIns="50400" bIns="21600" anchor="t">
            <a:spAutoFit/>
          </a:bodyPr>
          <a:lstStyle/>
          <a:p>
            <a:pPr algn="l"/>
            <a:r>
              <a:rPr sz="12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「整備士」の検索（過去5年）</a:t>
            </a:r>
          </a:p>
        </p:txBody>
      </p:sp>
      <p:pic>
        <p:nvPicPr>
          <p:cNvPr id="18" name="Picture 1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80000" y="1872000"/>
            <a:ext cx="4788000" cy="1556100"/>
          </a:xfrm>
          <a:prstGeom prst="rect">
            <a:avLst/>
          </a:prstGeom>
        </p:spPr>
      </p:pic>
      <p:sp>
        <p:nvSpPr>
          <p:cNvPr id="19" name="Rounded Rectangle 17"/>
          <p:cNvSpPr/>
          <p:nvPr/>
        </p:nvSpPr>
        <p:spPr>
          <a:xfrm>
            <a:off x="4680000" y="3600000"/>
            <a:ext cx="4788000" cy="864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t"/>
          <a:lstStyle/>
          <a:p>
            <a:pPr algn="l">
              <a:spcAft>
                <a:spcPts val="500"/>
              </a:spcAft>
            </a:pPr>
            <a:r>
              <a:rPr sz="12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ピークは3月、最も少ないのは12月。差は約1.4倍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一年を通して、転職を検討する方がいる。3月に向けて前倒しで接点を持つ</a:t>
            </a:r>
          </a:p>
        </p:txBody>
      </p:sp>
      <p:sp>
        <p:nvSpPr>
          <p:cNvPr id="20" name="Rounded Rectangle 18"/>
          <p:cNvSpPr/>
          <p:nvPr/>
        </p:nvSpPr>
        <p:spPr>
          <a:xfrm>
            <a:off x="432000" y="4680000"/>
            <a:ext cx="9043200" cy="432000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8000" tIns="0" rIns="108000" bIns="0" rtlCol="0" anchor="ctr"/>
          <a:lstStyle/>
          <a:p>
            <a:pPr algn="ctr">
              <a:lnSpc>
                <a:spcPct val="125000"/>
              </a:lnSpc>
            </a:pPr>
            <a:r>
              <a:rPr sz="1300" b="1" dirty="0" err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比較検討中の方を、LINEで登録者として</a:t>
            </a:r>
            <a:r>
              <a:rPr lang="ja-JP" altLang="en-US" sz="1300" b="1" dirty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育成すること</a:t>
            </a:r>
            <a:r>
              <a:rPr sz="1300" b="1" dirty="0" err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が大切</a:t>
            </a:r>
            <a:endParaRPr sz="1300" b="1" dirty="0">
              <a:solidFill>
                <a:srgbClr val="FFFFFF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21" name="TextBox 19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tIns="21600" rIns="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出典：モビリア総研調査（直近3年に転職した整備士1,249人・Response 2026年9月23日）／Googleトレンド「整備士」（日本・過去5年）</a:t>
            </a:r>
          </a:p>
        </p:txBody>
      </p:sp>
    </p:spTree>
    <p:extLst>
      <p:ext uri="{BB962C8B-B14F-4D97-AF65-F5344CB8AC3E}">
        <p14:creationId xmlns:p14="http://schemas.microsoft.com/office/powerpoint/2010/main" val="300013459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" name="">
          <a:extLst>
            <a:ext uri="{FF2B5EF4-FFF2-40B4-BE49-F238E27FC236}">
              <a16:creationId xmlns:a16="http://schemas.microsoft.com/office/drawing/2014/main" id="{F2975156-99A2-3647-6F9D-3BD80C596E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"/>
          <p:cNvSpPr txBox="1"/>
          <p:nvPr/>
        </p:nvSpPr>
        <p:spPr>
          <a:xfrm>
            <a:off x="547200" y="161078"/>
            <a:ext cx="8784000" cy="289843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 dirty="0" err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前後検索</a:t>
            </a:r>
            <a:r>
              <a:rPr lang="ja-JP" altLang="en-US" sz="1600" b="1" dirty="0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「</a:t>
            </a:r>
            <a:r>
              <a:rPr sz="1600" b="1" dirty="0" err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工場求人ナビ</a:t>
            </a:r>
            <a:r>
              <a:rPr lang="ja-JP" altLang="en-US" sz="1600" b="1" dirty="0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」</a:t>
            </a:r>
            <a:endParaRPr sz="1600" b="1" dirty="0">
              <a:solidFill>
                <a:srgbClr val="002060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4" name="TextBox 2"/>
          <p:cNvSpPr txBox="1"/>
          <p:nvPr/>
        </p:nvSpPr>
        <p:spPr>
          <a:xfrm>
            <a:off x="432000" y="836230"/>
            <a:ext cx="9036000" cy="30754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求人サイトで仕事を探す方の動き方には</a:t>
            </a:r>
            <a:r>
              <a:rPr sz="14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、</a:t>
            </a:r>
            <a:r>
              <a:rPr lang="ja-JP" altLang="en-US" sz="14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一定の規則性がある</a:t>
            </a:r>
            <a:endParaRPr sz="14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5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6" name="Picture 4" descr="工場求人ナビ_前後検索_2026092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532" y="1861200"/>
            <a:ext cx="5212935" cy="3041748"/>
          </a:xfrm>
          <a:prstGeom prst="rect">
            <a:avLst/>
          </a:prstGeom>
        </p:spPr>
      </p:pic>
      <p:sp>
        <p:nvSpPr>
          <p:cNvPr id="7" name="Rounded Rectangle 5"/>
          <p:cNvSpPr/>
          <p:nvPr/>
        </p:nvSpPr>
        <p:spPr>
          <a:xfrm>
            <a:off x="6228000" y="1584000"/>
            <a:ext cx="3247200" cy="1044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t"/>
          <a:lstStyle/>
          <a:p>
            <a:pPr algn="l">
              <a:spcAft>
                <a:spcPts val="500"/>
              </a:spcAft>
            </a:pPr>
            <a:r>
              <a:rPr sz="11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検索前（〜前日）：広く比べる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求人サイト／求人 正社員／高収入 仕事／40代 転職／人と関わらない仕事</a:t>
            </a:r>
          </a:p>
        </p:txBody>
      </p:sp>
      <p:sp>
        <p:nvSpPr>
          <p:cNvPr id="8" name="Rounded Rectangle 6"/>
          <p:cNvSpPr/>
          <p:nvPr/>
        </p:nvSpPr>
        <p:spPr>
          <a:xfrm>
            <a:off x="6228000" y="2700000"/>
            <a:ext cx="3247200" cy="1044000"/>
          </a:xfrm>
          <a:prstGeom prst="roundRect">
            <a:avLst>
              <a:gd name="adj" fmla="val 6000"/>
            </a:avLst>
          </a:prstGeom>
          <a:solidFill>
            <a:srgbClr val="FCE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t"/>
          <a:lstStyle/>
          <a:p>
            <a:pPr algn="l">
              <a:spcAft>
                <a:spcPts val="500"/>
              </a:spcAft>
            </a:pPr>
            <a:r>
              <a:rPr sz="1150" b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検索当日：サイト名・具体的な求人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工場求人ナビ／日総工産／工場 求人 正社員／製造業 求人</a:t>
            </a:r>
          </a:p>
        </p:txBody>
      </p:sp>
      <p:sp>
        <p:nvSpPr>
          <p:cNvPr id="9" name="Rounded Rectangle 7"/>
          <p:cNvSpPr/>
          <p:nvPr/>
        </p:nvSpPr>
        <p:spPr>
          <a:xfrm>
            <a:off x="6228000" y="3816000"/>
            <a:ext cx="3247200" cy="1044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t"/>
          <a:lstStyle/>
          <a:p>
            <a:pPr algn="l">
              <a:spcAft>
                <a:spcPts val="500"/>
              </a:spcAft>
            </a:pPr>
            <a:r>
              <a:rPr sz="11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検索後（翌日〜15日）：条件・評判・応募の準備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期間工 年齢制限／夜勤 体への影響／派遣社員 デメリット／○○ 評判／製造業 志望動機</a:t>
            </a:r>
          </a:p>
        </p:txBody>
      </p:sp>
      <p:sp>
        <p:nvSpPr>
          <p:cNvPr id="10" name="Rounded Rectangle 8"/>
          <p:cNvSpPr/>
          <p:nvPr/>
        </p:nvSpPr>
        <p:spPr>
          <a:xfrm>
            <a:off x="432000" y="5112000"/>
            <a:ext cx="9043200" cy="432000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8000" tIns="0" rIns="108000" bIns="0" rtlCol="0" anchor="ctr"/>
          <a:lstStyle/>
          <a:p>
            <a:pPr algn="ctr">
              <a:lnSpc>
                <a:spcPct val="125000"/>
              </a:lnSpc>
            </a:pPr>
            <a:r>
              <a:rPr sz="1300" b="1" dirty="0" err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登録した後の配信は「条件</a:t>
            </a:r>
            <a:r>
              <a:rPr sz="1300" b="1" dirty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 → </a:t>
            </a:r>
            <a:r>
              <a:rPr sz="1300" b="1" dirty="0" err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評判・不安</a:t>
            </a:r>
            <a:r>
              <a:rPr sz="1300" b="1" dirty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 → </a:t>
            </a:r>
            <a:r>
              <a:rPr sz="1300" b="1" dirty="0" err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応募の準備」の順番</a:t>
            </a:r>
            <a:r>
              <a:rPr lang="ja-JP" altLang="en-US" sz="1300" b="1" dirty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が最適</a:t>
            </a:r>
            <a:endParaRPr sz="1300" b="1" dirty="0">
              <a:solidFill>
                <a:srgbClr val="FFFFFF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1" name="TextBox 9"/>
          <p:cNvSpPr txBox="1"/>
          <p:nvPr/>
        </p:nvSpPr>
        <p:spPr>
          <a:xfrm>
            <a:off x="432000" y="6246000"/>
            <a:ext cx="9043200" cy="176351"/>
          </a:xfrm>
          <a:prstGeom prst="rect">
            <a:avLst/>
          </a:prstGeom>
          <a:noFill/>
        </p:spPr>
        <p:txBody>
          <a:bodyPr wrap="square" lIns="0" tIns="21600" rIns="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dirty="0" err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出典：LINEヤフ</a:t>
            </a:r>
            <a:r>
              <a:rPr sz="750" dirty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ー </a:t>
            </a:r>
            <a:r>
              <a:rPr sz="750" dirty="0" err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前後検索データ（起点KW：工場求人ナビ</a:t>
            </a:r>
            <a:r>
              <a:rPr lang="ja-JP" altLang="en-US" sz="750" dirty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）</a:t>
            </a:r>
            <a:endParaRPr sz="750" dirty="0">
              <a:solidFill>
                <a:srgbClr val="7F7F7F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2" name="Legend 1"/>
          <p:cNvSpPr/>
          <p:nvPr/>
        </p:nvSpPr>
        <p:spPr>
          <a:xfrm>
            <a:off x="432000" y="1584000"/>
            <a:ext cx="1848000" cy="223200"/>
          </a:xfrm>
          <a:prstGeom prst="roundRect">
            <a:avLst>
              <a:gd name="adj" fmla="val 8000"/>
            </a:avLst>
          </a:prstGeom>
          <a:solidFill>
            <a:srgbClr val="D6E2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28800" rIns="54000" bIns="28800" rtlCol="0" anchor="ctr"/>
          <a:lstStyle/>
          <a:p>
            <a:pPr algn="ctr"/>
            <a:r>
              <a:rPr sz="1000" b="1">
                <a:solidFill>
                  <a:srgbClr val="2B5797"/>
                </a:solidFill>
                <a:latin typeface="メイリオ"/>
                <a:ea typeface="メイリオ"/>
                <a:cs typeface="メイリオ"/>
              </a:rPr>
              <a:t>条件</a:t>
            </a:r>
          </a:p>
        </p:txBody>
      </p:sp>
      <p:sp>
        <p:nvSpPr>
          <p:cNvPr id="13" name="Legend 2"/>
          <p:cNvSpPr/>
          <p:nvPr/>
        </p:nvSpPr>
        <p:spPr>
          <a:xfrm>
            <a:off x="2352000" y="1584000"/>
            <a:ext cx="1848000" cy="223200"/>
          </a:xfrm>
          <a:prstGeom prst="roundRect">
            <a:avLst>
              <a:gd name="adj" fmla="val 8000"/>
            </a:avLst>
          </a:prstGeom>
          <a:solidFill>
            <a:srgbClr val="FBE0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28800" rIns="54000" bIns="28800" rtlCol="0" anchor="ctr"/>
          <a:lstStyle/>
          <a:p>
            <a:pPr algn="ctr"/>
            <a:r>
              <a:rPr sz="1000" b="1">
                <a:solidFill>
                  <a:srgbClr val="C0561A"/>
                </a:solidFill>
                <a:latin typeface="メイリオ"/>
                <a:ea typeface="メイリオ"/>
                <a:cs typeface="メイリオ"/>
              </a:rPr>
              <a:t>評判・不安</a:t>
            </a:r>
          </a:p>
        </p:txBody>
      </p:sp>
      <p:sp>
        <p:nvSpPr>
          <p:cNvPr id="14" name="Legend 3"/>
          <p:cNvSpPr/>
          <p:nvPr/>
        </p:nvSpPr>
        <p:spPr>
          <a:xfrm>
            <a:off x="4272000" y="1584000"/>
            <a:ext cx="1848000" cy="223200"/>
          </a:xfrm>
          <a:prstGeom prst="roundRect">
            <a:avLst>
              <a:gd name="adj" fmla="val 8000"/>
            </a:avLst>
          </a:prstGeom>
          <a:solidFill>
            <a:srgbClr val="E8DA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28800" rIns="54000" bIns="28800" rtlCol="0" anchor="ctr"/>
          <a:lstStyle/>
          <a:p>
            <a:pPr algn="ctr"/>
            <a:r>
              <a:rPr sz="1000" b="1">
                <a:solidFill>
                  <a:srgbClr val="7440A8"/>
                </a:solidFill>
                <a:latin typeface="メイリオ"/>
                <a:ea typeface="メイリオ"/>
                <a:cs typeface="メイリオ"/>
              </a:rPr>
              <a:t>応募の準備</a:t>
            </a:r>
          </a:p>
        </p:txBody>
      </p:sp>
    </p:spTree>
    <p:extLst>
      <p:ext uri="{BB962C8B-B14F-4D97-AF65-F5344CB8AC3E}">
        <p14:creationId xmlns:p14="http://schemas.microsoft.com/office/powerpoint/2010/main" val="105893345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" name="">
          <a:extLst>
            <a:ext uri="{FF2B5EF4-FFF2-40B4-BE49-F238E27FC236}">
              <a16:creationId xmlns:a16="http://schemas.microsoft.com/office/drawing/2014/main" id="{2801AEA3-5B74-7C38-9336-4D6A18C7CF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"/>
          <p:cNvSpPr txBox="1"/>
          <p:nvPr/>
        </p:nvSpPr>
        <p:spPr>
          <a:xfrm>
            <a:off x="547200" y="161078"/>
            <a:ext cx="8784000" cy="289843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 dirty="0" err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前後検索</a:t>
            </a:r>
            <a:r>
              <a:rPr lang="ja-JP" altLang="en-US" sz="1600" b="1" dirty="0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「</a:t>
            </a:r>
            <a:r>
              <a:rPr sz="1600" b="1" dirty="0" err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カーディーラ</a:t>
            </a:r>
            <a:r>
              <a:rPr sz="1600" b="1" dirty="0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ー</a:t>
            </a:r>
            <a:r>
              <a:rPr lang="ja-JP" altLang="en-US" sz="1600" b="1" dirty="0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」</a:t>
            </a:r>
            <a:endParaRPr sz="1600" b="1" dirty="0">
              <a:solidFill>
                <a:srgbClr val="002060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4" name="TextBox 2"/>
          <p:cNvSpPr txBox="1"/>
          <p:nvPr/>
        </p:nvSpPr>
        <p:spPr>
          <a:xfrm>
            <a:off x="432000" y="829130"/>
            <a:ext cx="9036000" cy="285739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「</a:t>
            </a:r>
            <a:r>
              <a:rPr sz="13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カーディーラ</a:t>
            </a:r>
            <a:r>
              <a:rPr sz="13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ー」の検索前後15日間。友だち追加につながりやすいのは、検索当日〜翌日</a:t>
            </a:r>
          </a:p>
        </p:txBody>
      </p:sp>
      <p:cxnSp>
        <p:nvCxnSpPr>
          <p:cNvPr id="5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6" name="Picture 10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2000" y="1458000"/>
            <a:ext cx="5112000" cy="2982852"/>
          </a:xfrm>
          <a:prstGeom prst="rect">
            <a:avLst/>
          </a:prstGeom>
        </p:spPr>
      </p:pic>
      <p:sp>
        <p:nvSpPr>
          <p:cNvPr id="7" name="Rectangle 11"/>
          <p:cNvSpPr/>
          <p:nvPr/>
        </p:nvSpPr>
        <p:spPr>
          <a:xfrm>
            <a:off x="2907233" y="4397400"/>
            <a:ext cx="936000" cy="223200"/>
          </a:xfrm>
          <a:prstGeom prst="rect">
            <a:avLst/>
          </a:prstGeom>
          <a:solidFill>
            <a:srgbClr val="C6EF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28800" rIns="54000" bIns="28800" rtlCol="0" anchor="ctr"/>
          <a:lstStyle/>
          <a:p>
            <a:pPr algn="ctr"/>
            <a:r>
              <a:rPr sz="950" b="1">
                <a:solidFill>
                  <a:srgbClr val="00873C"/>
                </a:solidFill>
                <a:latin typeface="メイリオ"/>
                <a:ea typeface="メイリオ"/>
                <a:cs typeface="メイリオ"/>
              </a:rPr>
              <a:t>LINE追加</a:t>
            </a:r>
          </a:p>
        </p:txBody>
      </p:sp>
      <p:sp>
        <p:nvSpPr>
          <p:cNvPr id="8" name="Rectangle 12"/>
          <p:cNvSpPr/>
          <p:nvPr/>
        </p:nvSpPr>
        <p:spPr>
          <a:xfrm>
            <a:off x="3072347" y="1458000"/>
            <a:ext cx="605772" cy="2946851"/>
          </a:xfrm>
          <a:prstGeom prst="rect">
            <a:avLst/>
          </a:prstGeom>
          <a:solidFill>
            <a:srgbClr val="06C755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13"/>
          <p:cNvSpPr/>
          <p:nvPr/>
        </p:nvSpPr>
        <p:spPr>
          <a:xfrm>
            <a:off x="5724000" y="1458000"/>
            <a:ext cx="1857600" cy="223200"/>
          </a:xfrm>
          <a:prstGeom prst="roundRect">
            <a:avLst>
              <a:gd name="adj" fmla="val 8000"/>
            </a:avLst>
          </a:prstGeom>
          <a:solidFill>
            <a:srgbClr val="FBE0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28800" rIns="54000" bIns="28800" rtlCol="0" anchor="ctr"/>
          <a:lstStyle/>
          <a:p>
            <a:pPr algn="ctr"/>
            <a:r>
              <a:rPr sz="1000" b="1">
                <a:solidFill>
                  <a:srgbClr val="C0561A"/>
                </a:solidFill>
                <a:latin typeface="メイリオ"/>
                <a:ea typeface="メイリオ"/>
                <a:cs typeface="メイリオ"/>
              </a:rPr>
              <a:t>職業・働き方</a:t>
            </a:r>
          </a:p>
        </p:txBody>
      </p:sp>
      <p:sp>
        <p:nvSpPr>
          <p:cNvPr id="10" name="Rounded Rectangle 14"/>
          <p:cNvSpPr/>
          <p:nvPr/>
        </p:nvSpPr>
        <p:spPr>
          <a:xfrm>
            <a:off x="7617600" y="1458000"/>
            <a:ext cx="1857600" cy="223200"/>
          </a:xfrm>
          <a:prstGeom prst="roundRect">
            <a:avLst>
              <a:gd name="adj" fmla="val 8000"/>
            </a:avLst>
          </a:prstGeom>
          <a:solidFill>
            <a:srgbClr val="D6E2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28800" rIns="54000" bIns="28800" rtlCol="0" anchor="ctr"/>
          <a:lstStyle/>
          <a:p>
            <a:pPr algn="ctr"/>
            <a:r>
              <a:rPr sz="1000" b="1">
                <a:solidFill>
                  <a:srgbClr val="2B5797"/>
                </a:solidFill>
                <a:latin typeface="メイリオ"/>
                <a:ea typeface="メイリオ"/>
                <a:cs typeface="メイリオ"/>
              </a:rPr>
              <a:t>整備・工具・カー用品</a:t>
            </a:r>
          </a:p>
        </p:txBody>
      </p:sp>
      <p:sp>
        <p:nvSpPr>
          <p:cNvPr id="11" name="Rounded Rectangle 15"/>
          <p:cNvSpPr/>
          <p:nvPr/>
        </p:nvSpPr>
        <p:spPr>
          <a:xfrm>
            <a:off x="5724000" y="1717199"/>
            <a:ext cx="1857600" cy="223200"/>
          </a:xfrm>
          <a:prstGeom prst="roundRect">
            <a:avLst>
              <a:gd name="adj" fmla="val 8000"/>
            </a:avLst>
          </a:prstGeom>
          <a:solidFill>
            <a:srgbClr val="E8DA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28800" rIns="54000" bIns="28800" rtlCol="0" anchor="ctr"/>
          <a:lstStyle/>
          <a:p>
            <a:pPr algn="ctr"/>
            <a:r>
              <a:rPr sz="1000" b="1">
                <a:solidFill>
                  <a:srgbClr val="7440A8"/>
                </a:solidFill>
                <a:latin typeface="メイリオ"/>
                <a:ea typeface="メイリオ"/>
                <a:cs typeface="メイリオ"/>
              </a:rPr>
              <a:t>お金・手続き</a:t>
            </a:r>
          </a:p>
        </p:txBody>
      </p:sp>
      <p:sp>
        <p:nvSpPr>
          <p:cNvPr id="12" name="Rounded Rectangle 16"/>
          <p:cNvSpPr/>
          <p:nvPr/>
        </p:nvSpPr>
        <p:spPr>
          <a:xfrm>
            <a:off x="7617600" y="1717199"/>
            <a:ext cx="1857600" cy="223200"/>
          </a:xfrm>
          <a:prstGeom prst="roundRect">
            <a:avLst>
              <a:gd name="adj" fmla="val 8000"/>
            </a:avLst>
          </a:prstGeom>
          <a:solidFill>
            <a:srgbClr val="CCE7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28800" rIns="54000" bIns="28800" rtlCol="0" anchor="ctr"/>
          <a:lstStyle/>
          <a:p>
            <a:pPr algn="ctr"/>
            <a:r>
              <a:rPr sz="1000" b="1">
                <a:solidFill>
                  <a:srgbClr val="00796B"/>
                </a:solidFill>
                <a:latin typeface="メイリオ"/>
                <a:ea typeface="メイリオ"/>
                <a:cs typeface="メイリオ"/>
              </a:rPr>
              <a:t>クルマ選び（車種・店舗）</a:t>
            </a:r>
          </a:p>
        </p:txBody>
      </p:sp>
      <p:sp>
        <p:nvSpPr>
          <p:cNvPr id="13" name="Rounded Rectangle 17"/>
          <p:cNvSpPr/>
          <p:nvPr/>
        </p:nvSpPr>
        <p:spPr>
          <a:xfrm>
            <a:off x="5724000" y="2052000"/>
            <a:ext cx="3751200" cy="223200"/>
          </a:xfrm>
          <a:prstGeom prst="roundRect">
            <a:avLst>
              <a:gd name="adj" fmla="val 8000"/>
            </a:avLst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28800" rIns="54000" bIns="28800" rtlCol="0" anchor="ctr"/>
          <a:lstStyle/>
          <a:p>
            <a:pPr algn="ctr"/>
            <a:r>
              <a:rPr sz="11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LINE追加率を上げるコンテンツ（検索当日〜翌日）</a:t>
            </a:r>
          </a:p>
        </p:txBody>
      </p:sp>
      <p:sp>
        <p:nvSpPr>
          <p:cNvPr id="14" name="Rounded Rectangle 18"/>
          <p:cNvSpPr/>
          <p:nvPr/>
        </p:nvSpPr>
        <p:spPr>
          <a:xfrm>
            <a:off x="5724000" y="2322000"/>
            <a:ext cx="1839600" cy="917999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28800" rIns="54000" bIns="28800" rtlCol="0" anchor="ctr"/>
          <a:lstStyle/>
          <a:p>
            <a:pPr algn="ctr"/>
            <a:endParaRPr/>
          </a:p>
          <a:p>
            <a:pPr algn="ctr"/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「整備士の年収相場」</a:t>
            </a:r>
          </a:p>
          <a:p>
            <a:pPr algn="ctr"/>
            <a:r>
              <a:rPr sz="11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をLINEで見られます</a:t>
            </a:r>
          </a:p>
        </p:txBody>
      </p:sp>
      <p:sp>
        <p:nvSpPr>
          <p:cNvPr id="15" name="Rounded Rectangle 19"/>
          <p:cNvSpPr/>
          <p:nvPr/>
        </p:nvSpPr>
        <p:spPr>
          <a:xfrm>
            <a:off x="7635600" y="2322000"/>
            <a:ext cx="1839600" cy="917999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28800" rIns="54000" bIns="28800" rtlCol="0" anchor="ctr"/>
          <a:lstStyle/>
          <a:p>
            <a:pPr algn="ctr"/>
            <a:r>
              <a:rPr sz="105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この機会に</a:t>
            </a:r>
          </a:p>
          <a:p>
            <a:pPr algn="ctr"/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LINEで30秒</a:t>
            </a:r>
          </a:p>
          <a:p>
            <a:pPr algn="ctr"/>
            <a:r>
              <a:rPr sz="11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適職診断しませんか？</a:t>
            </a:r>
          </a:p>
        </p:txBody>
      </p:sp>
      <p:sp>
        <p:nvSpPr>
          <p:cNvPr id="16" name="Rounded Rectangle 20"/>
          <p:cNvSpPr/>
          <p:nvPr/>
        </p:nvSpPr>
        <p:spPr>
          <a:xfrm>
            <a:off x="5724000" y="3276000"/>
            <a:ext cx="1839600" cy="702000"/>
          </a:xfrm>
          <a:prstGeom prst="roundRect">
            <a:avLst>
              <a:gd name="adj" fmla="val 8000"/>
            </a:avLst>
          </a:prstGeom>
          <a:solidFill>
            <a:srgbClr val="DD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28800" rIns="54000" bIns="28800" rtlCol="0" anchor="ctr"/>
          <a:lstStyle/>
          <a:p>
            <a:pPr algn="ctr"/>
            <a:r>
              <a:rPr sz="10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当日の検索は「年収」</a:t>
            </a:r>
          </a:p>
          <a:p>
            <a:pPr algn="ctr"/>
            <a:r>
              <a:rPr sz="1050" b="0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その場で答えを示す</a:t>
            </a:r>
          </a:p>
        </p:txBody>
      </p:sp>
      <p:sp>
        <p:nvSpPr>
          <p:cNvPr id="17" name="Rounded Rectangle 21"/>
          <p:cNvSpPr/>
          <p:nvPr/>
        </p:nvSpPr>
        <p:spPr>
          <a:xfrm>
            <a:off x="7635600" y="3276000"/>
            <a:ext cx="1839600" cy="702000"/>
          </a:xfrm>
          <a:prstGeom prst="roundRect">
            <a:avLst>
              <a:gd name="adj" fmla="val 8000"/>
            </a:avLst>
          </a:prstGeom>
          <a:solidFill>
            <a:srgbClr val="DD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28800" rIns="54000" bIns="28800" rtlCol="0" anchor="ctr"/>
          <a:lstStyle/>
          <a:p>
            <a:pPr algn="ctr"/>
            <a:r>
              <a:rPr sz="10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電話なし・履歴書なし</a:t>
            </a:r>
          </a:p>
          <a:p>
            <a:pPr algn="ctr"/>
            <a:r>
              <a:rPr sz="1050" b="0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応募前の方でも気軽に登録できる</a:t>
            </a:r>
          </a:p>
        </p:txBody>
      </p:sp>
      <p:cxnSp>
        <p:nvCxnSpPr>
          <p:cNvPr id="18" name="Connector 22"/>
          <p:cNvCxnSpPr/>
          <p:nvPr/>
        </p:nvCxnSpPr>
        <p:spPr>
          <a:xfrm flipV="1">
            <a:off x="3375233" y="2772000"/>
            <a:ext cx="2312767" cy="1548720"/>
          </a:xfrm>
          <a:prstGeom prst="line">
            <a:avLst/>
          </a:prstGeom>
          <a:ln w="19050">
            <a:solidFill>
              <a:srgbClr val="4472C4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23"/>
          <p:cNvSpPr/>
          <p:nvPr/>
        </p:nvSpPr>
        <p:spPr>
          <a:xfrm>
            <a:off x="432000" y="4710852"/>
            <a:ext cx="9043200" cy="223200"/>
          </a:xfrm>
          <a:prstGeom prst="roundRect">
            <a:avLst>
              <a:gd name="adj" fmla="val 8000"/>
            </a:avLst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28800" rIns="54000" bIns="28800" rtlCol="0" anchor="ctr"/>
          <a:lstStyle/>
          <a:p>
            <a:pPr algn="ctr"/>
            <a:r>
              <a:rPr sz="11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登録後に応募へつなげるコンテンツ（翌日〜14日・前後検索の関心の順番）</a:t>
            </a:r>
          </a:p>
        </p:txBody>
      </p:sp>
      <p:sp>
        <p:nvSpPr>
          <p:cNvPr id="20" name="Rounded Rectangle 24"/>
          <p:cNvSpPr/>
          <p:nvPr/>
        </p:nvSpPr>
        <p:spPr>
          <a:xfrm>
            <a:off x="432000" y="4980852"/>
            <a:ext cx="1230171" cy="1211148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28800" rIns="54000" bIns="28800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1日目</a:t>
            </a:r>
          </a:p>
          <a:p>
            <a:pPr algn="ctr"/>
            <a:r>
              <a:rPr sz="11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職種図鑑</a:t>
            </a:r>
          </a:p>
          <a:p>
            <a:pPr algn="ctr"/>
            <a:r>
              <a:rPr sz="100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整備・受付・営業の違い</a:t>
            </a:r>
          </a:p>
        </p:txBody>
      </p:sp>
      <p:sp>
        <p:nvSpPr>
          <p:cNvPr id="21" name="Rounded Rectangle 25"/>
          <p:cNvSpPr/>
          <p:nvPr/>
        </p:nvSpPr>
        <p:spPr>
          <a:xfrm>
            <a:off x="1734171" y="4980852"/>
            <a:ext cx="1230171" cy="1211148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28800" rIns="54000" bIns="28800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2日目</a:t>
            </a:r>
          </a:p>
          <a:p>
            <a:pPr algn="ctr"/>
            <a:r>
              <a:rPr sz="11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働き方</a:t>
            </a:r>
          </a:p>
          <a:p>
            <a:pPr algn="ctr"/>
            <a:r>
              <a:rPr sz="100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休み・残業・働きやすい職場</a:t>
            </a:r>
          </a:p>
        </p:txBody>
      </p:sp>
      <p:sp>
        <p:nvSpPr>
          <p:cNvPr id="22" name="Rounded Rectangle 26"/>
          <p:cNvSpPr/>
          <p:nvPr/>
        </p:nvSpPr>
        <p:spPr>
          <a:xfrm>
            <a:off x="3036342" y="4980852"/>
            <a:ext cx="1230171" cy="1211148"/>
          </a:xfrm>
          <a:prstGeom prst="roundRect">
            <a:avLst>
              <a:gd name="adj" fmla="val 8000"/>
            </a:avLst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28800" rIns="54000" bIns="28800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3日目</a:t>
            </a:r>
          </a:p>
          <a:p>
            <a:pPr algn="ctr"/>
            <a:r>
              <a:rPr sz="11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求人のご案内①</a:t>
            </a:r>
          </a:p>
          <a:p>
            <a:pPr algn="ctr"/>
            <a:r>
              <a:rPr sz="100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（応募）</a:t>
            </a:r>
          </a:p>
        </p:txBody>
      </p:sp>
      <p:sp>
        <p:nvSpPr>
          <p:cNvPr id="23" name="Rounded Rectangle 27"/>
          <p:cNvSpPr/>
          <p:nvPr/>
        </p:nvSpPr>
        <p:spPr>
          <a:xfrm>
            <a:off x="4338514" y="4980852"/>
            <a:ext cx="1230171" cy="1211148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28800" rIns="54000" bIns="28800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5日目</a:t>
            </a:r>
          </a:p>
          <a:p>
            <a:pPr algn="ctr"/>
            <a:r>
              <a:rPr sz="11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他職種と比較</a:t>
            </a:r>
          </a:p>
          <a:p>
            <a:pPr algn="ctr"/>
            <a:r>
              <a:rPr sz="100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営業・施工管理</a:t>
            </a:r>
          </a:p>
        </p:txBody>
      </p:sp>
      <p:sp>
        <p:nvSpPr>
          <p:cNvPr id="24" name="Rounded Rectangle 28"/>
          <p:cNvSpPr/>
          <p:nvPr/>
        </p:nvSpPr>
        <p:spPr>
          <a:xfrm>
            <a:off x="5640685" y="4980852"/>
            <a:ext cx="1230171" cy="1211148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28800" rIns="54000" bIns="28800" rtlCol="0" anchor="ctr"/>
          <a:lstStyle/>
          <a:p>
            <a:pPr algn="ctr"/>
            <a:r>
              <a:rPr sz="1200" b="1" dirty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7日目</a:t>
            </a:r>
          </a:p>
          <a:p>
            <a:pPr algn="ctr"/>
            <a:r>
              <a:rPr sz="1100" b="1" dirty="0" err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資格別の</a:t>
            </a:r>
            <a:endParaRPr lang="en-US" sz="1100" b="1" dirty="0">
              <a:solidFill>
                <a:srgbClr val="FFFFFF"/>
              </a:solidFill>
              <a:latin typeface="メイリオ"/>
              <a:ea typeface="メイリオ"/>
              <a:cs typeface="メイリオ"/>
            </a:endParaRPr>
          </a:p>
          <a:p>
            <a:pPr algn="ctr"/>
            <a:r>
              <a:rPr sz="1100" b="1" dirty="0" err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年収相場</a:t>
            </a:r>
            <a:endParaRPr sz="1100" b="1" dirty="0">
              <a:solidFill>
                <a:srgbClr val="FFFFFF"/>
              </a:solidFill>
              <a:latin typeface="メイリオ"/>
              <a:ea typeface="メイリオ"/>
              <a:cs typeface="メイリオ"/>
            </a:endParaRPr>
          </a:p>
          <a:p>
            <a:pPr algn="ctr"/>
            <a:r>
              <a:rPr sz="1000" b="0" dirty="0" err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キャリアマップ</a:t>
            </a:r>
            <a:endParaRPr sz="1000" b="0" dirty="0">
              <a:solidFill>
                <a:srgbClr val="FFFFFF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25" name="Rounded Rectangle 29"/>
          <p:cNvSpPr/>
          <p:nvPr/>
        </p:nvSpPr>
        <p:spPr>
          <a:xfrm>
            <a:off x="6942857" y="4980852"/>
            <a:ext cx="1230171" cy="1211148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28800" rIns="54000" bIns="28800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10日目</a:t>
            </a:r>
          </a:p>
          <a:p>
            <a:pPr algn="ctr"/>
            <a:r>
              <a:rPr sz="11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現場のリアル</a:t>
            </a:r>
          </a:p>
          <a:p>
            <a:pPr algn="ctr"/>
            <a:r>
              <a:rPr sz="100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冬の繁忙期</a:t>
            </a:r>
          </a:p>
        </p:txBody>
      </p:sp>
      <p:sp>
        <p:nvSpPr>
          <p:cNvPr id="26" name="Rounded Rectangle 30"/>
          <p:cNvSpPr/>
          <p:nvPr/>
        </p:nvSpPr>
        <p:spPr>
          <a:xfrm>
            <a:off x="8245028" y="4980852"/>
            <a:ext cx="1230171" cy="1211148"/>
          </a:xfrm>
          <a:prstGeom prst="roundRect">
            <a:avLst>
              <a:gd name="adj" fmla="val 8000"/>
            </a:avLst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28800" rIns="54000" bIns="28800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14日目</a:t>
            </a:r>
          </a:p>
          <a:p>
            <a:pPr algn="ctr"/>
            <a:r>
              <a:rPr sz="11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求人のご案内②</a:t>
            </a:r>
          </a:p>
          <a:p>
            <a:pPr algn="ctr"/>
            <a:r>
              <a:rPr sz="100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（応募）</a:t>
            </a:r>
          </a:p>
        </p:txBody>
      </p:sp>
      <p:cxnSp>
        <p:nvCxnSpPr>
          <p:cNvPr id="27" name="Connector 31"/>
          <p:cNvCxnSpPr/>
          <p:nvPr/>
        </p:nvCxnSpPr>
        <p:spPr>
          <a:xfrm>
            <a:off x="4521600" y="4320720"/>
            <a:ext cx="255599" cy="372131"/>
          </a:xfrm>
          <a:prstGeom prst="line">
            <a:avLst/>
          </a:prstGeom>
          <a:ln w="19050">
            <a:solidFill>
              <a:srgbClr val="4472C4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9"/>
          <p:cNvSpPr txBox="1"/>
          <p:nvPr/>
        </p:nvSpPr>
        <p:spPr>
          <a:xfrm>
            <a:off x="432000" y="6282000"/>
            <a:ext cx="9043200" cy="211745"/>
          </a:xfrm>
          <a:prstGeom prst="rect">
            <a:avLst/>
          </a:prstGeom>
          <a:noFill/>
        </p:spPr>
        <p:txBody>
          <a:bodyPr wrap="square" lIns="0" tIns="21600" rIns="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dirty="0" err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出典：LINEヤフ</a:t>
            </a:r>
            <a:r>
              <a:rPr sz="950" dirty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ー </a:t>
            </a:r>
            <a:r>
              <a:rPr sz="950" dirty="0" err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前後検索データ（起点KW：カーディーラ</a:t>
            </a:r>
            <a:r>
              <a:rPr sz="950" dirty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ー</a:t>
            </a:r>
            <a:r>
              <a:rPr lang="en-US" sz="950" dirty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)</a:t>
            </a:r>
            <a:endParaRPr sz="950" dirty="0">
              <a:solidFill>
                <a:srgbClr val="7F7F7F"/>
              </a:solidFill>
              <a:latin typeface="メイリオ"/>
              <a:ea typeface="メイリオ"/>
              <a:cs typeface="メイリオ"/>
            </a:endParaRPr>
          </a:p>
        </p:txBody>
      </p:sp>
    </p:spTree>
    <p:extLst>
      <p:ext uri="{BB962C8B-B14F-4D97-AF65-F5344CB8AC3E}">
        <p14:creationId xmlns:p14="http://schemas.microsoft.com/office/powerpoint/2010/main" val="205317063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正方形/長方形 18"/>
          <p:cNvSpPr>
            <a:spLocks noChangeArrowheads="1"/>
          </p:cNvSpPr>
          <p:nvPr/>
        </p:nvSpPr>
        <p:spPr bwMode="auto">
          <a:xfrm>
            <a:off x="1649030" y="5820984"/>
            <a:ext cx="6192837" cy="37362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>
            <a:spAutoFit/>
          </a:bodyPr>
          <a:lstStyle/>
          <a:p>
            <a:pPr marL="0" lvl="1" fontAlgn="base">
              <a:spcBef>
                <a:spcPct val="20000"/>
              </a:spcBef>
              <a:spcAft>
                <a:spcPct val="0"/>
              </a:spcAft>
              <a:defRPr/>
            </a:pP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株式会社</a:t>
            </a: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DYM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　〒</a:t>
            </a: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141-0032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　東京都品川区大崎</a:t>
            </a: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1-11-2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　ゲートシティ大崎イーストタワー</a:t>
            </a: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10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階</a:t>
            </a:r>
            <a:endParaRPr lang="en-US" altLang="ja-JP" sz="831" b="1" dirty="0">
              <a:solidFill>
                <a:prstClr val="black"/>
              </a:solidFill>
              <a:latin typeface="メイリオ"/>
              <a:ea typeface="メイリオ"/>
              <a:cs typeface="メイリオ"/>
            </a:endParaRPr>
          </a:p>
          <a:p>
            <a:pPr marL="0" lvl="1" fontAlgn="base">
              <a:spcBef>
                <a:spcPct val="20000"/>
              </a:spcBef>
              <a:spcAft>
                <a:spcPct val="0"/>
              </a:spcAft>
              <a:defRPr/>
            </a:pP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TEL: 03-5745-0200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　</a:t>
            </a: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FAX: 03-3779-8720 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　</a:t>
            </a: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http://dym.asia   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代表取締役　水谷佑毅</a:t>
            </a:r>
          </a:p>
        </p:txBody>
      </p:sp>
      <p:pic>
        <p:nvPicPr>
          <p:cNvPr id="4" name="図 1"/>
          <p:cNvPicPr>
            <a:picLocks noChangeAspect="1"/>
          </p:cNvPicPr>
          <p:nvPr/>
        </p:nvPicPr>
        <p:blipFill rotWithShape="1"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-1647" r="-11171"/>
          <a:stretch/>
        </p:blipFill>
        <p:spPr bwMode="auto">
          <a:xfrm>
            <a:off x="543897" y="5895365"/>
            <a:ext cx="1100981" cy="22486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テキスト ボックス 2"/>
          <p:cNvSpPr txBox="1"/>
          <p:nvPr/>
        </p:nvSpPr>
        <p:spPr>
          <a:xfrm>
            <a:off x="5070232" y="5597769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endParaRPr lang="ja-JP" altLang="en-US">
              <a:solidFill>
                <a:prstClr val="black"/>
              </a:solidFill>
              <a:latin typeface="Arial" pitchFamily="34" charset="0"/>
              <a:ea typeface="ＭＳ Ｐゴシック" pitchFamily="50" charset="-128"/>
            </a:endParaRPr>
          </a:p>
        </p:txBody>
      </p:sp>
      <p:sp>
        <p:nvSpPr>
          <p:cNvPr id="6" name="正方形/長方形 17"/>
          <p:cNvSpPr/>
          <p:nvPr/>
        </p:nvSpPr>
        <p:spPr>
          <a:xfrm>
            <a:off x="2170038" y="989684"/>
            <a:ext cx="5565924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fontAlgn="base">
              <a:spcBef>
                <a:spcPct val="20000"/>
              </a:spcBef>
              <a:spcAft>
                <a:spcPct val="0"/>
              </a:spcAft>
              <a:defRPr/>
            </a:pPr>
            <a:r>
              <a:rPr lang="ja-JP" altLang="en-US" b="1" dirty="0">
                <a:solidFill>
                  <a:prstClr val="black"/>
                </a:solidFill>
                <a:latin typeface="メイリオ" charset="0"/>
                <a:ea typeface="メイリオ" charset="0"/>
                <a:cs typeface="メイリオ" charset="0"/>
              </a:rPr>
              <a:t>貴社の明るい未来に必ず貢献致します。</a:t>
            </a:r>
          </a:p>
        </p:txBody>
      </p:sp>
      <p:sp>
        <p:nvSpPr>
          <p:cNvPr id="7" name="正方形/長方形 13"/>
          <p:cNvSpPr/>
          <p:nvPr/>
        </p:nvSpPr>
        <p:spPr>
          <a:xfrm>
            <a:off x="382695" y="2698377"/>
            <a:ext cx="598220" cy="20589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fontAlgn="base">
              <a:spcBef>
                <a:spcPct val="20000"/>
              </a:spcBef>
              <a:spcAft>
                <a:spcPct val="0"/>
              </a:spcAft>
              <a:defRPr/>
            </a:pPr>
            <a:r>
              <a:rPr lang="ja-JP" altLang="en-US" sz="738">
                <a:solidFill>
                  <a:srgbClr val="FFFFFF"/>
                </a:solidFill>
                <a:latin typeface="メイリオ" charset="0"/>
                <a:ea typeface="メイリオ" charset="0"/>
                <a:cs typeface="メイリオ" charset="0"/>
              </a:rPr>
              <a:t>本社</a:t>
            </a:r>
          </a:p>
        </p:txBody>
      </p:sp>
      <p:sp>
        <p:nvSpPr>
          <p:cNvPr id="8" name="正方形/長方形 14"/>
          <p:cNvSpPr/>
          <p:nvPr/>
        </p:nvSpPr>
        <p:spPr>
          <a:xfrm>
            <a:off x="368300" y="2355213"/>
            <a:ext cx="756684" cy="21544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fontAlgn="base">
              <a:spcBef>
                <a:spcPct val="20000"/>
              </a:spcBef>
              <a:spcAft>
                <a:spcPct val="0"/>
              </a:spcAft>
              <a:defRPr/>
            </a:pPr>
            <a:r>
              <a:rPr lang="ja-JP" altLang="en-US" sz="800" dirty="0">
                <a:solidFill>
                  <a:srgbClr val="FFFFFF"/>
                </a:solidFill>
                <a:latin typeface="メイリオ" charset="0"/>
                <a:ea typeface="メイリオ" charset="0"/>
                <a:cs typeface="メイリオ" charset="0"/>
              </a:rPr>
              <a:t>本社</a:t>
            </a:r>
          </a:p>
        </p:txBody>
      </p:sp>
      <p:grpSp>
        <p:nvGrpSpPr>
          <p:cNvPr id="9" name="グループ化 21">
            <a:extLst>
              <a:ext uri="{FF2B5EF4-FFF2-40B4-BE49-F238E27FC236}">
                <a16:creationId xmlns:a16="http://schemas.microsoft.com/office/drawing/2014/main" id="{05A1AABC-CDB8-5B83-4CFD-649967A361BF}"/>
              </a:ext>
            </a:extLst>
          </p:cNvPr>
          <p:cNvGrpSpPr/>
          <p:nvPr/>
        </p:nvGrpSpPr>
        <p:grpSpPr>
          <a:xfrm>
            <a:off x="381002" y="1772817"/>
            <a:ext cx="9143999" cy="3314853"/>
            <a:chOff x="1" y="1772816"/>
            <a:chExt cx="9143999" cy="3314853"/>
          </a:xfrm>
        </p:grpSpPr>
        <p:pic>
          <p:nvPicPr>
            <p:cNvPr id="10" name="図 20" descr="ポーズをとる男性グループ&#10;&#10;自動的に生成された説明">
              <a:extLst>
                <a:ext uri="{FF2B5EF4-FFF2-40B4-BE49-F238E27FC236}">
                  <a16:creationId xmlns:a16="http://schemas.microsoft.com/office/drawing/2014/main" id="{4927F40E-D146-C638-5583-C9DC2984722E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42" r="4076"/>
            <a:stretch/>
          </p:blipFill>
          <p:spPr>
            <a:xfrm>
              <a:off x="6973793" y="3518745"/>
              <a:ext cx="2170207" cy="1567781"/>
            </a:xfrm>
            <a:prstGeom prst="rect">
              <a:avLst/>
            </a:prstGeom>
          </p:spPr>
        </p:pic>
        <p:pic>
          <p:nvPicPr>
            <p:cNvPr id="11" name="図 15" descr="白いシャツを着ている男性&#10;&#10;中程度の精度で自動的に生成された説明">
              <a:extLst>
                <a:ext uri="{FF2B5EF4-FFF2-40B4-BE49-F238E27FC236}">
                  <a16:creationId xmlns:a16="http://schemas.microsoft.com/office/drawing/2014/main" id="{2ECDFCA7-8611-D865-F999-FDCD0EC21269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983808" y="3519888"/>
              <a:ext cx="1989985" cy="1567781"/>
            </a:xfrm>
            <a:prstGeom prst="rect">
              <a:avLst/>
            </a:prstGeom>
          </p:spPr>
        </p:pic>
        <p:pic>
          <p:nvPicPr>
            <p:cNvPr id="12" name="図 9" descr="スーツを着た男性たち&#10;&#10;自動的に生成された説明">
              <a:extLst>
                <a:ext uri="{FF2B5EF4-FFF2-40B4-BE49-F238E27FC236}">
                  <a16:creationId xmlns:a16="http://schemas.microsoft.com/office/drawing/2014/main" id="{9D3AD52A-1514-4350-FFDD-09984B3666E2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0703" r="10363"/>
            <a:stretch/>
          </p:blipFill>
          <p:spPr>
            <a:xfrm>
              <a:off x="7299681" y="1773979"/>
              <a:ext cx="1842624" cy="1745909"/>
            </a:xfrm>
            <a:prstGeom prst="rect">
              <a:avLst/>
            </a:prstGeom>
          </p:spPr>
        </p:pic>
        <p:pic>
          <p:nvPicPr>
            <p:cNvPr id="13" name="図 6" descr="講堂にいる人たち&#10;&#10;中程度の精度で自動的に生成された説明">
              <a:extLst>
                <a:ext uri="{FF2B5EF4-FFF2-40B4-BE49-F238E27FC236}">
                  <a16:creationId xmlns:a16="http://schemas.microsoft.com/office/drawing/2014/main" id="{B1CA0DFF-0DAF-D5BD-8D9F-8AFB103E2698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7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512" t="12879" r="2477"/>
            <a:stretch/>
          </p:blipFill>
          <p:spPr>
            <a:xfrm>
              <a:off x="1" y="1772816"/>
              <a:ext cx="5089778" cy="3314853"/>
            </a:xfrm>
            <a:prstGeom prst="rect">
              <a:avLst/>
            </a:prstGeom>
          </p:spPr>
        </p:pic>
        <p:pic>
          <p:nvPicPr>
            <p:cNvPr id="14" name="図 10" descr="スーツを着た男性グループの写真&#10;&#10;低い精度で自動的に生成された説明">
              <a:extLst>
                <a:ext uri="{FF2B5EF4-FFF2-40B4-BE49-F238E27FC236}">
                  <a16:creationId xmlns:a16="http://schemas.microsoft.com/office/drawing/2014/main" id="{FEFAFF33-EFBF-C67E-586A-08D93AF295F8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8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595" r="6763"/>
            <a:stretch/>
          </p:blipFill>
          <p:spPr>
            <a:xfrm>
              <a:off x="5089779" y="1772836"/>
              <a:ext cx="2215315" cy="1745909"/>
            </a:xfrm>
            <a:prstGeom prst="rect">
              <a:avLst/>
            </a:prstGeom>
          </p:spPr>
        </p:pic>
      </p:grpSp>
      <p:sp>
        <p:nvSpPr>
          <p:cNvPr id="15" name="正方形/長方形 5">
            <a:extLst>
              <a:ext uri="{FF2B5EF4-FFF2-40B4-BE49-F238E27FC236}">
                <a16:creationId xmlns:a16="http://schemas.microsoft.com/office/drawing/2014/main" id="{238B92EF-519D-929F-4345-5BAC445EF234}"/>
              </a:ext>
            </a:extLst>
          </p:cNvPr>
          <p:cNvSpPr/>
          <p:nvPr/>
        </p:nvSpPr>
        <p:spPr>
          <a:xfrm>
            <a:off x="128016" y="6620256"/>
            <a:ext cx="2852928" cy="237744"/>
          </a:xfrm>
          <a:prstGeom prst="rect">
            <a:avLst/>
          </a:prstGeom>
          <a:solidFill>
            <a:srgbClr val="191F54"/>
          </a:solidFill>
          <a:ln>
            <a:solidFill>
              <a:srgbClr val="10253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6" name="正方形/長方形 1">
            <a:extLst>
              <a:ext uri="{FF2B5EF4-FFF2-40B4-BE49-F238E27FC236}">
                <a16:creationId xmlns:a16="http://schemas.microsoft.com/office/drawing/2014/main" id="{A949B271-D24D-666E-90F2-EA616E1EABC2}"/>
              </a:ext>
            </a:extLst>
          </p:cNvPr>
          <p:cNvSpPr/>
          <p:nvPr/>
        </p:nvSpPr>
        <p:spPr>
          <a:xfrm>
            <a:off x="368300" y="0"/>
            <a:ext cx="9537700" cy="514974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85355464"/>
      </p:ext>
    </p:extLst>
  </p:cSld>
  <p:clrMapOvr>
    <a:masterClrMapping/>
  </p:clrMapOvr>
  <p:transition spd="slow"/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Google Shape;752;p28">
            <a:extLst>
              <a:ext uri="{FF2B5EF4-FFF2-40B4-BE49-F238E27FC236}">
                <a16:creationId xmlns:a16="http://schemas.microsoft.com/office/drawing/2014/main" id="{1ADD4630-B4FB-1ED5-AA03-7B456BE4B713}"/>
              </a:ext>
            </a:extLst>
          </p:cNvPr>
          <p:cNvSpPr txBox="1"/>
          <p:nvPr/>
        </p:nvSpPr>
        <p:spPr>
          <a:xfrm>
            <a:off x="548883" y="138137"/>
            <a:ext cx="6276325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lvl="0"/>
            <a:r>
              <a:rPr lang="ja-JP" altLang="en-US" sz="16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資料アジェンダ</a:t>
            </a:r>
          </a:p>
        </p:txBody>
      </p:sp>
      <p:sp>
        <p:nvSpPr>
          <p:cNvPr id="4" name="正方形/長方形 1">
            <a:extLst>
              <a:ext uri="{FF2B5EF4-FFF2-40B4-BE49-F238E27FC236}">
                <a16:creationId xmlns:a16="http://schemas.microsoft.com/office/drawing/2014/main" id="{2930638E-A234-B57F-602E-9D9732D57A7B}"/>
              </a:ext>
            </a:extLst>
          </p:cNvPr>
          <p:cNvSpPr/>
          <p:nvPr/>
        </p:nvSpPr>
        <p:spPr>
          <a:xfrm>
            <a:off x="990600" y="3038203"/>
            <a:ext cx="7924800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lang="ja-JP" altLang="en-US" sz="2400" b="1" dirty="0">
                <a:solidFill>
                  <a:srgbClr val="1F285A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</a:rPr>
              <a:t>Chapter 1</a:t>
            </a:r>
            <a:endParaRPr lang="en-US" altLang="ja-IS" sz="3200" b="1" dirty="0">
              <a:solidFill>
                <a:schemeClr val="tx1">
                  <a:lumMod val="75000"/>
                  <a:lumOff val="2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 panose="020B0604030504040204" pitchFamily="50" charset="-128"/>
            </a:endParaRPr>
          </a:p>
          <a:p>
            <a:pPr algn="ctr"/>
            <a:r>
              <a:rPr lang="ja-JP" altLang="en-US" sz="3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</a:rPr>
              <a:t>LINE活用の事例とメリット</a:t>
            </a:r>
            <a:endParaRPr lang="en-US" altLang="ja-IS" sz="3200" b="1" dirty="0">
              <a:solidFill>
                <a:schemeClr val="tx1">
                  <a:lumMod val="75000"/>
                  <a:lumOff val="2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 panose="020B0604030504040204" pitchFamily="50" charset="-128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Google Shape;752;p28">
            <a:extLst>
              <a:ext uri="{FF2B5EF4-FFF2-40B4-BE49-F238E27FC236}">
                <a16:creationId xmlns:a16="http://schemas.microsoft.com/office/drawing/2014/main" id="{1ADD4630-B4FB-1ED5-AA03-7B456BE4B713}"/>
              </a:ext>
            </a:extLst>
          </p:cNvPr>
          <p:cNvSpPr txBox="1"/>
          <p:nvPr/>
        </p:nvSpPr>
        <p:spPr>
          <a:xfrm>
            <a:off x="548883" y="138137"/>
            <a:ext cx="6276325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lvl="0"/>
            <a:r>
              <a:rPr lang="ja-JP" altLang="en-US" sz="16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資料アジェンダ</a:t>
            </a:r>
          </a:p>
        </p:txBody>
      </p:sp>
      <p:sp>
        <p:nvSpPr>
          <p:cNvPr id="4" name="正方形/長方形 1">
            <a:extLst>
              <a:ext uri="{FF2B5EF4-FFF2-40B4-BE49-F238E27FC236}">
                <a16:creationId xmlns:a16="http://schemas.microsoft.com/office/drawing/2014/main" id="{2930638E-A234-B57F-602E-9D9732D57A7B}"/>
              </a:ext>
            </a:extLst>
          </p:cNvPr>
          <p:cNvSpPr/>
          <p:nvPr/>
        </p:nvSpPr>
        <p:spPr>
          <a:xfrm>
            <a:off x="990600" y="3038203"/>
            <a:ext cx="7924800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lang="ja-JP" altLang="en-US" sz="2400" b="1" dirty="0">
                <a:solidFill>
                  <a:srgbClr val="1F285A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</a:rPr>
              <a:t>Chapter 2</a:t>
            </a:r>
            <a:endParaRPr lang="en-US" altLang="ja-IS" sz="3200" b="1" dirty="0">
              <a:solidFill>
                <a:schemeClr val="tx1">
                  <a:lumMod val="75000"/>
                  <a:lumOff val="2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 panose="020B0604030504040204" pitchFamily="50" charset="-128"/>
            </a:endParaRPr>
          </a:p>
          <a:p>
            <a:pPr algn="ctr"/>
            <a:r>
              <a:rPr lang="ja-JP" altLang="en-US" sz="3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</a:rPr>
              <a:t>貴社での活用イメージ</a:t>
            </a:r>
            <a:endParaRPr lang="en-US" altLang="ja-IS" sz="3200" b="1" dirty="0">
              <a:solidFill>
                <a:schemeClr val="tx1">
                  <a:lumMod val="75000"/>
                  <a:lumOff val="2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 panose="020B0604030504040204" pitchFamily="50" charset="-128"/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Google Shape;752;p28">
            <a:extLst>
              <a:ext uri="{FF2B5EF4-FFF2-40B4-BE49-F238E27FC236}">
                <a16:creationId xmlns:a16="http://schemas.microsoft.com/office/drawing/2014/main" id="{1ADD4630-B4FB-1ED5-AA03-7B456BE4B713}"/>
              </a:ext>
            </a:extLst>
          </p:cNvPr>
          <p:cNvSpPr txBox="1"/>
          <p:nvPr/>
        </p:nvSpPr>
        <p:spPr>
          <a:xfrm>
            <a:off x="548883" y="138137"/>
            <a:ext cx="6276325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lvl="0"/>
            <a:r>
              <a:rPr lang="ja-JP" altLang="en-US" sz="16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資料アジェンダ</a:t>
            </a:r>
          </a:p>
        </p:txBody>
      </p:sp>
      <p:sp>
        <p:nvSpPr>
          <p:cNvPr id="4" name="正方形/長方形 1">
            <a:extLst>
              <a:ext uri="{FF2B5EF4-FFF2-40B4-BE49-F238E27FC236}">
                <a16:creationId xmlns:a16="http://schemas.microsoft.com/office/drawing/2014/main" id="{2930638E-A234-B57F-602E-9D9732D57A7B}"/>
              </a:ext>
            </a:extLst>
          </p:cNvPr>
          <p:cNvSpPr/>
          <p:nvPr/>
        </p:nvSpPr>
        <p:spPr>
          <a:xfrm>
            <a:off x="990600" y="3038203"/>
            <a:ext cx="7924800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lang="ja-JP" altLang="en-US" sz="2400" b="1" dirty="0">
                <a:solidFill>
                  <a:srgbClr val="1F285A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</a:rPr>
              <a:t>Chapter 3</a:t>
            </a:r>
            <a:endParaRPr lang="en-US" altLang="ja-IS" sz="3200" b="1" dirty="0">
              <a:solidFill>
                <a:schemeClr val="tx1">
                  <a:lumMod val="75000"/>
                  <a:lumOff val="2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 panose="020B0604030504040204" pitchFamily="50" charset="-128"/>
            </a:endParaRPr>
          </a:p>
          <a:p>
            <a:pPr algn="ctr"/>
            <a:r>
              <a:rPr lang="ja-JP" altLang="en-US" sz="3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</a:rPr>
              <a:t>施策のご提案</a:t>
            </a:r>
            <a:endParaRPr lang="en-US" altLang="ja-IS" sz="3200" b="1" dirty="0">
              <a:solidFill>
                <a:schemeClr val="tx1">
                  <a:lumMod val="75000"/>
                  <a:lumOff val="2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 panose="020B0604030504040204" pitchFamily="50" charset="-128"/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Google Shape;752;p28">
            <a:extLst>
              <a:ext uri="{FF2B5EF4-FFF2-40B4-BE49-F238E27FC236}">
                <a16:creationId xmlns:a16="http://schemas.microsoft.com/office/drawing/2014/main" id="{1ADD4630-B4FB-1ED5-AA03-7B456BE4B713}"/>
              </a:ext>
            </a:extLst>
          </p:cNvPr>
          <p:cNvSpPr txBox="1"/>
          <p:nvPr/>
        </p:nvSpPr>
        <p:spPr>
          <a:xfrm>
            <a:off x="548883" y="138137"/>
            <a:ext cx="6276325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lvl="0"/>
            <a:r>
              <a:rPr lang="ja-JP" altLang="en-US" sz="16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資料アジェンダ</a:t>
            </a:r>
          </a:p>
        </p:txBody>
      </p:sp>
      <p:sp>
        <p:nvSpPr>
          <p:cNvPr id="4" name="正方形/長方形 1">
            <a:extLst>
              <a:ext uri="{FF2B5EF4-FFF2-40B4-BE49-F238E27FC236}">
                <a16:creationId xmlns:a16="http://schemas.microsoft.com/office/drawing/2014/main" id="{2930638E-A234-B57F-602E-9D9732D57A7B}"/>
              </a:ext>
            </a:extLst>
          </p:cNvPr>
          <p:cNvSpPr/>
          <p:nvPr/>
        </p:nvSpPr>
        <p:spPr>
          <a:xfrm>
            <a:off x="990600" y="3038203"/>
            <a:ext cx="7924800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lang="ja-JP" altLang="en-US" sz="2400" b="1" dirty="0">
                <a:solidFill>
                  <a:srgbClr val="1F285A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</a:rPr>
              <a:t>Chapter 4</a:t>
            </a:r>
            <a:endParaRPr lang="en-US" altLang="ja-IS" sz="3200" b="1" dirty="0">
              <a:solidFill>
                <a:schemeClr val="tx1">
                  <a:lumMod val="75000"/>
                  <a:lumOff val="2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 panose="020B0604030504040204" pitchFamily="50" charset="-128"/>
            </a:endParaRPr>
          </a:p>
          <a:p>
            <a:pPr algn="ctr"/>
            <a:r>
              <a:rPr lang="ja-JP" altLang="en-US" sz="3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</a:rPr>
              <a:t>導入の進め方</a:t>
            </a:r>
            <a:endParaRPr lang="en-US" altLang="ja-IS" sz="3200" b="1" dirty="0">
              <a:solidFill>
                <a:schemeClr val="tx1">
                  <a:lumMod val="75000"/>
                  <a:lumOff val="2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 panose="020B0604030504040204" pitchFamily="50" charset="-128"/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Google Shape;752;p28">
            <a:extLst>
              <a:ext uri="{FF2B5EF4-FFF2-40B4-BE49-F238E27FC236}">
                <a16:creationId xmlns:a16="http://schemas.microsoft.com/office/drawing/2014/main" id="{1ADD4630-B4FB-1ED5-AA03-7B456BE4B713}"/>
              </a:ext>
            </a:extLst>
          </p:cNvPr>
          <p:cNvSpPr txBox="1"/>
          <p:nvPr/>
        </p:nvSpPr>
        <p:spPr>
          <a:xfrm>
            <a:off x="548883" y="138137"/>
            <a:ext cx="6276325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lvl="0"/>
            <a:r>
              <a:rPr lang="ja-JP" altLang="en-US" sz="16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資料アジェンダ</a:t>
            </a:r>
          </a:p>
        </p:txBody>
      </p:sp>
      <p:sp>
        <p:nvSpPr>
          <p:cNvPr id="4" name="正方形/長方形 1">
            <a:extLst>
              <a:ext uri="{FF2B5EF4-FFF2-40B4-BE49-F238E27FC236}">
                <a16:creationId xmlns:a16="http://schemas.microsoft.com/office/drawing/2014/main" id="{2930638E-A234-B57F-602E-9D9732D57A7B}"/>
              </a:ext>
            </a:extLst>
          </p:cNvPr>
          <p:cNvSpPr/>
          <p:nvPr/>
        </p:nvSpPr>
        <p:spPr>
          <a:xfrm>
            <a:off x="990600" y="3038203"/>
            <a:ext cx="7924800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lang="ja-JP" altLang="en-US" sz="2400" b="1" dirty="0">
                <a:solidFill>
                  <a:srgbClr val="1F285A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</a:rPr>
              <a:t>Chapter 5</a:t>
            </a:r>
            <a:endParaRPr lang="en-US" altLang="ja-IS" sz="3200" b="1" dirty="0">
              <a:solidFill>
                <a:schemeClr val="tx1">
                  <a:lumMod val="75000"/>
                  <a:lumOff val="2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 panose="020B0604030504040204" pitchFamily="50" charset="-128"/>
            </a:endParaRPr>
          </a:p>
          <a:p>
            <a:pPr algn="ctr"/>
            <a:r>
              <a:rPr lang="ja-JP" altLang="en-US" sz="3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</a:rPr>
              <a:t>成果シミュレーションと費用</a:t>
            </a:r>
            <a:endParaRPr lang="en-US" altLang="ja-IS" sz="3200" b="1" dirty="0">
              <a:solidFill>
                <a:schemeClr val="tx1">
                  <a:lumMod val="75000"/>
                  <a:lumOff val="2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 panose="020B0604030504040204" pitchFamily="50" charset="-128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Google Shape;752;p28">
            <a:extLst>
              <a:ext uri="{FF2B5EF4-FFF2-40B4-BE49-F238E27FC236}">
                <a16:creationId xmlns:a16="http://schemas.microsoft.com/office/drawing/2014/main" id="{1ADD4630-B4FB-1ED5-AA03-7B456BE4B713}"/>
              </a:ext>
            </a:extLst>
          </p:cNvPr>
          <p:cNvSpPr txBox="1"/>
          <p:nvPr/>
        </p:nvSpPr>
        <p:spPr>
          <a:xfrm>
            <a:off x="548883" y="138137"/>
            <a:ext cx="6276325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lvl="0"/>
            <a:r>
              <a:rPr lang="ja-JP" altLang="en-US" sz="16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資料アジェンダ</a:t>
            </a:r>
          </a:p>
        </p:txBody>
      </p:sp>
      <p:sp>
        <p:nvSpPr>
          <p:cNvPr id="4" name="正方形/長方形 1">
            <a:extLst>
              <a:ext uri="{FF2B5EF4-FFF2-40B4-BE49-F238E27FC236}">
                <a16:creationId xmlns:a16="http://schemas.microsoft.com/office/drawing/2014/main" id="{2930638E-A234-B57F-602E-9D9732D57A7B}"/>
              </a:ext>
            </a:extLst>
          </p:cNvPr>
          <p:cNvSpPr/>
          <p:nvPr/>
        </p:nvSpPr>
        <p:spPr>
          <a:xfrm>
            <a:off x="990600" y="3038203"/>
            <a:ext cx="7924800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lang="ja-JP" altLang="en-US" sz="2400" b="1" dirty="0">
                <a:solidFill>
                  <a:srgbClr val="1F285A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</a:rPr>
              <a:t>Chapter 6</a:t>
            </a:r>
            <a:endParaRPr lang="en-US" altLang="ja-IS" sz="3200" b="1" dirty="0">
              <a:solidFill>
                <a:schemeClr val="tx1">
                  <a:lumMod val="75000"/>
                  <a:lumOff val="2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 panose="020B0604030504040204" pitchFamily="50" charset="-128"/>
            </a:endParaRPr>
          </a:p>
          <a:p>
            <a:pPr algn="ctr"/>
            <a:r>
              <a:rPr lang="ja-JP" altLang="en-US" sz="3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</a:rPr>
              <a:t>市場と求職者の動き</a:t>
            </a:r>
            <a:endParaRPr lang="en-US" altLang="ja-IS" sz="3200" b="1" dirty="0">
              <a:solidFill>
                <a:schemeClr val="tx1">
                  <a:lumMod val="75000"/>
                  <a:lumOff val="2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 panose="020B0604030504040204" pitchFamily="50" charset="-128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テーマ1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テーマ1" id="{8EA1701B-0E00-4167-9612-575199E01EDB}" vid="{8EF6575E-BB77-44AE-AF00-801DE4CAFB82}"/>
    </a:ext>
  </a:extLst>
</a:theme>
</file>

<file path=ppt/theme/theme2.xml><?xml version="1.0" encoding="utf-8"?>
<a:theme xmlns:a="http://schemas.openxmlformats.org/drawingml/2006/main" name="DYMJAPAN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Default Theme</Template>
  <TotalTime>143216</TotalTime>
  <Words>2734</Words>
  <Application>Microsoft Office PowerPoint</Application>
  <PresentationFormat>A4 210 x 297 mm</PresentationFormat>
  <Paragraphs>638</Paragraphs>
  <Slides>25</Slides>
  <Notes>12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5</vt:i4>
      </vt:variant>
      <vt:variant>
        <vt:lpstr>テーマ</vt:lpstr>
      </vt:variant>
      <vt:variant>
        <vt:i4>2</vt:i4>
      </vt:variant>
      <vt:variant>
        <vt:lpstr>スライド タイトル</vt:lpstr>
      </vt:variant>
      <vt:variant>
        <vt:i4>25</vt:i4>
      </vt:variant>
    </vt:vector>
  </HeadingPairs>
  <TitlesOfParts>
    <vt:vector size="32" baseType="lpstr">
      <vt:lpstr>メイリオ</vt:lpstr>
      <vt:lpstr>メイリオ</vt:lpstr>
      <vt:lpstr>Arial</vt:lpstr>
      <vt:lpstr>Calibri</vt:lpstr>
      <vt:lpstr>Century Gothic</vt:lpstr>
      <vt:lpstr>テーマ1</vt:lpstr>
      <vt:lpstr>DYMJAPAN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中村 駿</dc:creator>
  <cp:lastModifiedBy>殿村 亮太</cp:lastModifiedBy>
  <cp:revision>1963</cp:revision>
  <cp:lastPrinted>2022-11-01T11:38:14Z</cp:lastPrinted>
  <dcterms:created xsi:type="dcterms:W3CDTF">2015-09-04T09:21:15Z</dcterms:created>
  <dcterms:modified xsi:type="dcterms:W3CDTF">2026-10-02T03:09:06Z</dcterms:modified>
</cp:coreProperties>
</file>