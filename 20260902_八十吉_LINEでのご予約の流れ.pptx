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12"/>
  </p:notesMasterIdLst>
  <p:sldIdLst>
    <p:sldId id="3138" r:id="rId35"/>
  </p:sldIdLst>
  <p:sldSz cx="9906000" cy="6858000" type="A4"/>
  <p:notesSz cx="6864350" cy="9996488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メイリオ" panose="020B0604030504040204" pitchFamily="50" charset="-128"/>
      <p:regular r:id="rId17"/>
      <p:bold r:id="rId18"/>
      <p:italic r:id="rId19"/>
      <p:boldItalic r:id="rId20"/>
    </p:embeddedFont>
    <p:embeddedFont>
      <p:font typeface="メイリオ" panose="020B0604030504040204" pitchFamily="50" charset="-128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>
          <p15:clr>
            <a:srgbClr val="A4A3A4"/>
          </p15:clr>
        </p15:guide>
        <p15:guide id="3" orient="horz" pos="3453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1" roundtripDataSignature="AMtx7miZGwmVzhSrNF3mIomHliXJQjFO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699"/>
    <a:srgbClr val="FFFFFF"/>
    <a:srgbClr val="002060"/>
    <a:srgbClr val="F8CBAD"/>
    <a:srgbClr val="1F497D"/>
    <a:srgbClr val="9BC2E6"/>
    <a:srgbClr val="FEF600"/>
    <a:srgbClr val="A6A6A6"/>
    <a:srgbClr val="8EB4E3"/>
    <a:srgbClr val="8F9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819C4C-175D-492D-BAEF-4A6233BE45D2}">
  <a:tblStyle styleId="{00819C4C-175D-492D-BAEF-4A6233BE45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79" autoAdjust="0"/>
    <p:restoredTop sz="95320" autoAdjust="0"/>
  </p:normalViewPr>
  <p:slideViewPr>
    <p:cSldViewPr snapToGrid="0">
      <p:cViewPr varScale="1">
        <p:scale>
          <a:sx n="72" d="100"/>
          <a:sy n="72" d="100"/>
        </p:scale>
        <p:origin x="420" y="42"/>
      </p:cViewPr>
      <p:guideLst>
        <p:guide orient="horz" pos="2183"/>
        <p:guide pos="3120"/>
        <p:guide orient="horz" pos="34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Relationship Id="rId35" Type="http://schemas.openxmlformats.org/officeDocument/2006/relationships/slide" Target="slides/slide20.xml"/><Relationship Id="rId171" Type="http://customschemas.google.com/relationships/presentationmetadata" Target="metadata"/><Relationship Id="rId172" Type="http://schemas.openxmlformats.org/officeDocument/2006/relationships/presProps" Target="presProps.xml"/><Relationship Id="rId173" Type="http://schemas.openxmlformats.org/officeDocument/2006/relationships/viewProps" Target="viewProps.xml"/><Relationship Id="rId174" Type="http://schemas.openxmlformats.org/officeDocument/2006/relationships/theme" Target="theme/theme1.xml"/><Relationship Id="rId17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74296" cy="4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8522" y="0"/>
            <a:ext cx="2974295" cy="4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25488" y="749300"/>
            <a:ext cx="5413375" cy="3749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7202" y="4747828"/>
            <a:ext cx="5491480" cy="449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95655"/>
            <a:ext cx="2974296" cy="4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8522" y="9495655"/>
            <a:ext cx="2974295" cy="4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875" tIns="44425" rIns="88875" bIns="444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>
  <p:cSld name="1_タイトル スライド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7"/>
          <p:cNvSpPr txBox="1">
            <a:spLocks noGrp="1"/>
          </p:cNvSpPr>
          <p:nvPr>
            <p:ph type="sldNum" idx="12"/>
          </p:nvPr>
        </p:nvSpPr>
        <p:spPr>
          <a:xfrm>
            <a:off x="7473280" y="6525344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libri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435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numCol="1"/>
          <a:lstStyle/>
          <a:p>
            <a:r>
              <a:rPr lang="ja-JP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numCol="1"/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 </a:t>
            </a:r>
            <a:r>
              <a:rPr lang="en-US" altLang="ja-JP"/>
              <a:t>2 </a:t>
            </a:r>
            <a:r>
              <a:rPr lang="ja-JP"/>
              <a:t>レベル</a:t>
            </a:r>
          </a:p>
          <a:p>
            <a:pPr lvl="2"/>
            <a:r>
              <a:rPr lang="ja-JP"/>
              <a:t>第 </a:t>
            </a:r>
            <a:r>
              <a:rPr lang="en-US" altLang="ja-JP"/>
              <a:t>3 </a:t>
            </a:r>
            <a:r>
              <a:rPr lang="ja-JP"/>
              <a:t>レベル</a:t>
            </a:r>
          </a:p>
          <a:p>
            <a:pPr lvl="3"/>
            <a:r>
              <a:rPr lang="ja-JP"/>
              <a:t>第 </a:t>
            </a:r>
            <a:r>
              <a:rPr lang="en-US" altLang="ja-JP"/>
              <a:t>4 </a:t>
            </a:r>
            <a:r>
              <a:rPr lang="ja-JP"/>
              <a:t>レベル</a:t>
            </a:r>
          </a:p>
          <a:p>
            <a:pPr lvl="4"/>
            <a:r>
              <a:rPr lang="ja-JP"/>
              <a:t>第 </a:t>
            </a:r>
            <a:r>
              <a:rPr lang="en-US" altLang="ja-JP"/>
              <a:t>5 </a:t>
            </a:r>
            <a:r>
              <a:rPr lang="ja-JP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A14D4C9D-6664-4BEE-884D-7BE1A24297AE}" type="datetime1">
              <a:rPr lang="en-US" altLang="ja-JP" smtClean="0"/>
              <a:t>5/21/2026</a:t>
            </a:fld>
            <a:endParaRPr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endParaRPr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numCol="1"/>
          <a:lstStyle>
            <a:lvl1pPr>
              <a:defRPr/>
            </a:lvl1pPr>
          </a:lstStyle>
          <a:p>
            <a:pPr>
              <a:defRPr/>
            </a:pPr>
            <a:fld id="{2EF01931-05BF-5E4D-8716-215DCFE7F500}" type="slidenum">
              <a:rPr lang="ja-JP"/>
              <a:pPr>
                <a:defRPr/>
              </a:pPr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729393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41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56"/>
          <p:cNvSpPr txBox="1"/>
          <p:nvPr/>
        </p:nvSpPr>
        <p:spPr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800" b="1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Copyright(c) DYM Co., Ltd.All Rights Reserved.</a:t>
            </a:r>
            <a:endParaRPr/>
          </a:p>
        </p:txBody>
      </p:sp>
      <p:sp>
        <p:nvSpPr>
          <p:cNvPr id="18" name="Google Shape;18;p56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41B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56"/>
          <p:cNvCxnSpPr/>
          <p:nvPr/>
        </p:nvCxnSpPr>
        <p:spPr>
          <a:xfrm>
            <a:off x="0" y="548680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00324B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56"/>
          <p:cNvPicPr preferRelativeResize="0"/>
          <p:nvPr/>
        </p:nvPicPr>
        <p:blipFill rotWithShape="1">
          <a:blip r:embed="rId4">
            <a:alphaModFix/>
          </a:blip>
          <a:srcRect l="-1647" r="-11170"/>
          <a:stretch/>
        </p:blipFill>
        <p:spPr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6"/>
          <p:cNvSpPr txBox="1"/>
          <p:nvPr/>
        </p:nvSpPr>
        <p:spPr>
          <a:xfrm>
            <a:off x="7545288" y="6571255"/>
            <a:ext cx="2133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52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400" i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i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4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テキスト ボックス 47">
            <a:extLst>
              <a:ext uri="{FF2B5EF4-FFF2-40B4-BE49-F238E27FC236}">
                <a16:creationId xmlns:a16="http://schemas.microsoft.com/office/drawing/2014/main" id="{919EDD35-79B6-49D7-F02F-0B2AF8906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501" y="107813"/>
            <a:ext cx="7512385" cy="365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72000">
            <a:spAutoFit/>
          </a:bodyPr>
          <a:lstStyle>
            <a:lvl1pPr>
              <a:defRPr kumimoji="1" sz="3200">
                <a:solidFill>
                  <a:schemeClr val="tx1"/>
                </a:solidFill>
                <a:latin typeface="Calibri" charset="0"/>
                <a:ea typeface="メイリオ" charset="0"/>
                <a:cs typeface="メイリオ" charset="0"/>
              </a:defRPr>
            </a:lvl1pPr>
            <a:lvl2pPr>
              <a:defRPr kumimoji="1" sz="2800">
                <a:solidFill>
                  <a:schemeClr val="tx1"/>
                </a:solidFill>
                <a:latin typeface="Calibri" charset="0"/>
                <a:ea typeface="メイリオ" charset="0"/>
              </a:defRPr>
            </a:lvl2pPr>
            <a:lvl3pPr>
              <a:defRPr kumimoji="1" sz="2400">
                <a:solidFill>
                  <a:schemeClr val="tx1"/>
                </a:solidFill>
                <a:latin typeface="Calibri" charset="0"/>
                <a:ea typeface="メイリオ" charset="0"/>
              </a:defRPr>
            </a:lvl3pPr>
            <a:lvl4pPr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4pPr>
            <a:lvl5pPr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Calibri" charset="0"/>
                <a:ea typeface="メイリオ" charset="0"/>
              </a:defRPr>
            </a:lvl9pPr>
          </a:lstStyle>
          <a:p>
            <a:pPr>
              <a:spcBef>
                <a:spcPct val="20000"/>
              </a:spcBef>
              <a:buFont typeface="Arial" charset="0"/>
              <a:buNone/>
            </a:pPr>
            <a:r>
              <a:rPr lang="ja-JP" altLang="en-US" sz="2800" b="1" dirty="0">
                <a:solidFill>
                  <a:srgbClr val="1F2A5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LINEでのご予約の流れ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1004" y="1298448"/>
            <a:ext cx="2606040" cy="2331720"/>
          </a:xfrm>
          <a:prstGeom prst="roundRect">
            <a:avLst/>
          </a:prstGeom>
          <a:solidFill>
            <a:srgbClr val="FDF0E6"/>
          </a:solidFill>
          <a:ln w="22225">
            <a:solidFill>
              <a:srgbClr val="BF4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77800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BF4E0E"/>
                </a:solidFill>
                <a:latin typeface="メイリオ"/>
              </a:rPr>
              <a:t>①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1C2233"/>
                </a:solidFill>
                <a:latin typeface="メイリオ"/>
              </a:rPr>
              <a:t>ご予約</a:t>
            </a:r>
          </a:p>
          <a:p>
            <a:pPr algn="ctr">
              <a:spcAft>
                <a:spcPts val="700"/>
              </a:spcAft>
            </a:pPr>
            <a:r>
              <a:rPr sz="1900" b="1">
                <a:solidFill>
                  <a:srgbClr val="1C2233"/>
                </a:solidFill>
                <a:latin typeface="メイリオ"/>
              </a:rPr>
              <a:t>リクエスト</a:t>
            </a:r>
          </a:p>
          <a:p>
            <a:pPr algn="ctr">
              <a:spcAft>
                <a:spcPts val="900"/>
              </a:spcAft>
            </a:pPr>
            <a:r>
              <a:rPr sz="1400" b="1">
                <a:solidFill>
                  <a:srgbClr val="1F2A5C"/>
                </a:solidFill>
                <a:latin typeface="メイリオ"/>
              </a:rPr>
              <a:t>お客様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6C82"/>
                </a:solidFill>
                <a:latin typeface="メイリオ"/>
              </a:rPr>
              <a:t>日時・人数・ご指名を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6C82"/>
                </a:solidFill>
                <a:latin typeface="メイリオ"/>
              </a:rPr>
              <a:t>トークで送る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33912" y="2354579"/>
            <a:ext cx="329184" cy="219456"/>
          </a:xfrm>
          <a:prstGeom prst="rightArrow">
            <a:avLst/>
          </a:prstGeom>
          <a:solidFill>
            <a:srgbClr val="7A8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49964" y="1298448"/>
            <a:ext cx="2606040" cy="2331720"/>
          </a:xfrm>
          <a:prstGeom prst="roundRect">
            <a:avLst/>
          </a:prstGeom>
          <a:solidFill>
            <a:srgbClr val="FDF0E6"/>
          </a:solidFill>
          <a:ln w="22225">
            <a:solidFill>
              <a:srgbClr val="BF4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77800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BF4E0E"/>
                </a:solidFill>
                <a:latin typeface="メイリオ"/>
              </a:rPr>
              <a:t>②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1C2233"/>
                </a:solidFill>
                <a:latin typeface="メイリオ"/>
              </a:rPr>
              <a:t>ご承諾の</a:t>
            </a:r>
          </a:p>
          <a:p>
            <a:pPr algn="ctr">
              <a:spcAft>
                <a:spcPts val="700"/>
              </a:spcAft>
            </a:pPr>
            <a:r>
              <a:rPr sz="1900" b="1">
                <a:solidFill>
                  <a:srgbClr val="1C2233"/>
                </a:solidFill>
                <a:latin typeface="メイリオ"/>
              </a:rPr>
              <a:t>お返事</a:t>
            </a:r>
          </a:p>
          <a:p>
            <a:pPr algn="ctr">
              <a:spcAft>
                <a:spcPts val="900"/>
              </a:spcAft>
            </a:pPr>
            <a:r>
              <a:rPr sz="1400" b="1">
                <a:solidFill>
                  <a:srgbClr val="1F2A5C"/>
                </a:solidFill>
                <a:latin typeface="メイリオ"/>
              </a:rPr>
              <a:t>パフォーマー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6C82"/>
                </a:solidFill>
                <a:latin typeface="メイリオ"/>
              </a:rPr>
              <a:t>ご指名に気づいて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6C82"/>
                </a:solidFill>
                <a:latin typeface="メイリオ"/>
              </a:rPr>
              <a:t>受けられるかを返す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342872" y="2354579"/>
            <a:ext cx="329184" cy="219456"/>
          </a:xfrm>
          <a:prstGeom prst="rightArrow">
            <a:avLst/>
          </a:prstGeom>
          <a:solidFill>
            <a:srgbClr val="7A83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58924" y="1298448"/>
            <a:ext cx="2606040" cy="2331720"/>
          </a:xfrm>
          <a:prstGeom prst="roundRect">
            <a:avLst/>
          </a:prstGeom>
          <a:solidFill>
            <a:srgbClr val="FDF0E6"/>
          </a:solidFill>
          <a:ln w="22225">
            <a:solidFill>
              <a:srgbClr val="BF4E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177800"/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BF4E0E"/>
                </a:solidFill>
                <a:latin typeface="メイリオ"/>
              </a:rPr>
              <a:t>③</a:t>
            </a:r>
          </a:p>
          <a:p>
            <a:pPr algn="ctr">
              <a:spcAft>
                <a:spcPts val="0"/>
              </a:spcAft>
            </a:pPr>
            <a:r>
              <a:rPr sz="1900" b="1">
                <a:solidFill>
                  <a:srgbClr val="1C2233"/>
                </a:solidFill>
                <a:latin typeface="メイリオ"/>
              </a:rPr>
              <a:t>確定の</a:t>
            </a:r>
          </a:p>
          <a:p>
            <a:pPr algn="ctr">
              <a:spcAft>
                <a:spcPts val="700"/>
              </a:spcAft>
            </a:pPr>
            <a:r>
              <a:rPr sz="1900" b="1">
                <a:solidFill>
                  <a:srgbClr val="1C2233"/>
                </a:solidFill>
                <a:latin typeface="メイリオ"/>
              </a:rPr>
              <a:t>ご連絡</a:t>
            </a:r>
          </a:p>
          <a:p>
            <a:pPr algn="ctr">
              <a:spcAft>
                <a:spcPts val="900"/>
              </a:spcAft>
            </a:pPr>
            <a:r>
              <a:rPr sz="1400" b="1">
                <a:solidFill>
                  <a:srgbClr val="1F2A5C"/>
                </a:solidFill>
                <a:latin typeface="メイリオ"/>
              </a:rPr>
              <a:t>パフォーマー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6C82"/>
                </a:solidFill>
                <a:latin typeface="メイリオ"/>
              </a:rPr>
              <a:t>お客様へ直接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46C82"/>
                </a:solidFill>
                <a:latin typeface="メイリオ"/>
              </a:rPr>
              <a:t>お伝えする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004" y="3941063"/>
            <a:ext cx="8823960" cy="713232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646C82"/>
                </a:solidFill>
                <a:latin typeface="メイリオ"/>
              </a:rPr>
              <a:t>店舗様の作業は、お席の確保だけです。ご予約台帳での操作は、これまで通りです。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004" y="4910327"/>
            <a:ext cx="8823960" cy="1207008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ctr">
              <a:spcAft>
                <a:spcPts val="300"/>
              </a:spcAft>
            </a:pPr>
            <a:r>
              <a:rPr sz="1800" b="1">
                <a:solidFill>
                  <a:srgbClr val="BF4E0E"/>
                </a:solidFill>
                <a:latin typeface="メイリオ"/>
              </a:rPr>
              <a:t>ご指名の取り次ぎは要りません。パフォーマーの方に通知が届きます。</a:t>
            </a:r>
          </a:p>
          <a:p>
            <a:pPr algn="ctr">
              <a:spcAft>
                <a:spcPts val="300"/>
              </a:spcAft>
            </a:pPr>
            <a:r>
              <a:rPr sz="1800" b="1">
                <a:solidFill>
                  <a:srgbClr val="BF4E0E"/>
                </a:solidFill>
                <a:latin typeface="メイリオ"/>
              </a:rPr>
              <a:t>チャットは通数に含まれないため、何往復しても月額0円のままです。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MJAPAN [1779342831967]">
  <a:themeElements>
    <a:clrScheme name="Office">
      <a:dk1>
        <a:srgbClr val="000000"/>
      </a:dk1>
      <a:lt1>
        <a:srgbClr val="FFFFFF"/>
      </a:lt1>
      <a:dk2>
        <a:srgbClr val="1F2A5C"/>
      </a:dk2>
      <a:lt2>
        <a:srgbClr val="EEECE1"/>
      </a:lt2>
      <a:accent1>
        <a:srgbClr val="1F2A5C"/>
      </a:accent1>
      <a:accent2>
        <a:srgbClr val="BF4E0E"/>
      </a:accent2>
      <a:accent3>
        <a:srgbClr val="3D4A80"/>
      </a:accent3>
      <a:accent4>
        <a:srgbClr val="8FA3C7"/>
      </a:accent4>
      <a:accent5>
        <a:srgbClr val="646C82"/>
      </a:accent5>
      <a:accent6>
        <a:srgbClr val="C08A2A"/>
      </a:accent6>
      <a:hlink>
        <a:srgbClr val="0000FF"/>
      </a:hlink>
      <a:folHlink>
        <a:srgbClr val="800080"/>
      </a:folHlink>
    </a:clrScheme>
    <a:fontScheme name="Office">
      <a:majorFont>
        <a:latin typeface="Yu Gothic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2A76F0B-E8D3-4AF6-8D0D-488B6FCECC2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6b65bfd-7cca-40c3-84aa-758a4fa105a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63620</TotalTime>
  <Words>626</Words>
  <Application>Microsoft Office PowerPoint</Application>
  <PresentationFormat>A4 210 x 297 mm</PresentationFormat>
  <Paragraphs>121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6" baseType="lpstr">
      <vt:lpstr>メイリオ</vt:lpstr>
      <vt:lpstr>Arial</vt:lpstr>
      <vt:lpstr>メイリオ</vt:lpstr>
      <vt:lpstr>Century Gothic</vt:lpstr>
      <vt:lpstr>Calibri</vt:lpstr>
      <vt:lpstr>DYMJAPAN [1779342831967]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torii-t</dc:creator>
  <cp:lastModifiedBy>金 宗韓</cp:lastModifiedBy>
  <cp:revision>861</cp:revision>
  <dcterms:created xsi:type="dcterms:W3CDTF">2016-11-22T16:06:03Z</dcterms:created>
  <dcterms:modified xsi:type="dcterms:W3CDTF">2026-05-21T06:10:45Z</dcterms:modified>
</cp:coreProperties>
</file>