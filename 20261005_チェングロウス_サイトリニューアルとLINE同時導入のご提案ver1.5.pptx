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7"/>
  </p:notesMasterIdLst>
  <p:handoutMasterIdLst>
    <p:handoutMasterId r:id="rId38"/>
  </p:handoutMasterIdLst>
  <p:sldIdLst>
    <p:sldId id="2363" r:id="rId3"/>
    <p:sldId id="3021" r:id="rId43"/>
    <p:sldId id="3034" r:id="rId28"/>
    <p:sldId id="3022" r:id="rId44"/>
    <p:sldId id="3026" r:id="rId48"/>
    <p:sldId id="3023" r:id="rId45"/>
    <p:sldId id="2987" r:id="rId10"/>
    <p:sldId id="3027" r:id="rId49"/>
    <p:sldId id="3035" r:id="rId29"/>
    <p:sldId id="2971" r:id="rId6"/>
    <p:sldId id="2972" r:id="rId7"/>
    <p:sldId id="3025" r:id="rId47"/>
    <p:sldId id="3036" r:id="rId26"/>
    <p:sldId id="3028" r:id="rId50"/>
    <p:sldId id="3029" r:id="rId51"/>
    <p:sldId id="3030" r:id="rId52"/>
    <p:sldId id="3031" r:id="rId53"/>
    <p:sldId id="3037" r:id="rId31"/>
    <p:sldId id="3032" r:id="rId54"/>
    <p:sldId id="3033" r:id="rId55"/>
    <p:sldId id="2991" r:id="rId30"/>
    <p:sldId id="3024" r:id="rId46"/>
    <p:sldId id="2990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>
        <p:scale>
          <a:sx n="66" d="100"/>
          <a:sy n="66" d="100"/>
        </p:scale>
        <p:origin x="1024" y="220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6" Type="http://schemas.openxmlformats.org/officeDocument/2006/relationships/slide" Target="slides/slide10.xml"/><Relationship Id="rId7" Type="http://schemas.openxmlformats.org/officeDocument/2006/relationships/slide" Target="slides/slide11.xml"/><Relationship Id="rId10" Type="http://schemas.openxmlformats.org/officeDocument/2006/relationships/slide" Target="slides/slide7.xml"/><Relationship Id="rId26" Type="http://schemas.openxmlformats.org/officeDocument/2006/relationships/slide" Target="slides/slide13.xml"/><Relationship Id="rId27" Type="http://schemas.openxmlformats.org/officeDocument/2006/relationships/slide" Target="slides/slide23.xml"/><Relationship Id="rId28" Type="http://schemas.openxmlformats.org/officeDocument/2006/relationships/slide" Target="slides/slide3.xml"/><Relationship Id="rId29" Type="http://schemas.openxmlformats.org/officeDocument/2006/relationships/slide" Target="slides/slide9.xml"/><Relationship Id="rId30" Type="http://schemas.openxmlformats.org/officeDocument/2006/relationships/slide" Target="slides/slide21.xml"/><Relationship Id="rId31" Type="http://schemas.openxmlformats.org/officeDocument/2006/relationships/slide" Target="slides/slide18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2.xml"/><Relationship Id="rId44" Type="http://schemas.openxmlformats.org/officeDocument/2006/relationships/slide" Target="slides/slide4.xml"/><Relationship Id="rId45" Type="http://schemas.openxmlformats.org/officeDocument/2006/relationships/slide" Target="slides/slide6.xml"/><Relationship Id="rId46" Type="http://schemas.openxmlformats.org/officeDocument/2006/relationships/slide" Target="slides/slide22.xml"/><Relationship Id="rId47" Type="http://schemas.openxmlformats.org/officeDocument/2006/relationships/slide" Target="slides/slide12.xml"/><Relationship Id="rId48" Type="http://schemas.openxmlformats.org/officeDocument/2006/relationships/slide" Target="slides/slide5.xml"/><Relationship Id="rId49" Type="http://schemas.openxmlformats.org/officeDocument/2006/relationships/slide" Target="slides/slide8.xml"/><Relationship Id="rId50" Type="http://schemas.openxmlformats.org/officeDocument/2006/relationships/slide" Target="slides/slide14.xml"/><Relationship Id="rId51" Type="http://schemas.openxmlformats.org/officeDocument/2006/relationships/slide" Target="slides/slide15.xml"/><Relationship Id="rId52" Type="http://schemas.openxmlformats.org/officeDocument/2006/relationships/slide" Target="slides/slide16.xml"/><Relationship Id="rId53" Type="http://schemas.openxmlformats.org/officeDocument/2006/relationships/slide" Target="slides/slide17.xml"/><Relationship Id="rId54" Type="http://schemas.openxmlformats.org/officeDocument/2006/relationships/slide" Target="slides/slide19.xml"/><Relationship Id="rId55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友だち（累計）</c:v>
                </c:pt>
              </c:strCache>
            </c:strRef>
          </c:tx>
          <c:spPr>
            <a:solidFill>
              <a:srgbClr val="06C755"/>
            </a:solidFill>
          </c:spPr>
          <c:cat>
            <c:strRef>
              <c:f>Sheet1!$A$2:$A$7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</c:v>
                </c:pt>
                <c:pt idx="1">
                  <c:v>143</c:v>
                </c:pt>
                <c:pt idx="2">
                  <c:v>235</c:v>
                </c:pt>
                <c:pt idx="3">
                  <c:v>335</c:v>
                </c:pt>
                <c:pt idx="4">
                  <c:v>436</c:v>
                </c:pt>
                <c:pt idx="5">
                  <c:v>542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300" b="1">
                  <a:solidFill>
                    <a:srgbClr val="1F285A"/>
                  </a:solidFill>
                  <a:latin typeface="メイリオ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latin typeface="メイリオ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5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メイリオ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972000" y="2160000"/>
            <a:ext cx="7956000" cy="111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I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Webサイトリニューアルに伴う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I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「公式LINE活用・顧客ストック化」のご提案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972000" y="1800000"/>
            <a:ext cx="7956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―新サイトの集客力と応募率を最大化する「同時導入」プラン―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本日のアジェンダ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Webサイト改善の「先」にある、求職者を逃さないLINE連携の全体像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0000" y="1764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0000" y="1872000"/>
            <a:ext cx="1080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8000" y="1872000"/>
            <a:ext cx="6552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なぜLINEを同時導入するのか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サイト改修後も残る課題と、LINEの役割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80000" y="2790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0000" y="2898000"/>
            <a:ext cx="1080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8000" y="2898000"/>
            <a:ext cx="6552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求人業界でのLINE活用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タウンワークの実績と勝因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80000" y="3816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0000" y="3924000"/>
            <a:ext cx="1080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8000" y="3924000"/>
            <a:ext cx="6552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自動車求人Naviでの活用イメージ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導線・画面・自動応答のイメージ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80000" y="4842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80000" y="4950000"/>
            <a:ext cx="1080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8000" y="4950000"/>
            <a:ext cx="6552000" cy="79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効果・費用・導入スケジュール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友だち獲得の試算・費用・進め方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80000" y="5868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3096000"/>
            <a:ext cx="8316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Chapter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3420000"/>
            <a:ext cx="8316000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なぜLINEを同時導入するのか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Webサイトリニューアルの「次の課題」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サイトを新しくしても、応募しない「検討層・離脱層」は残る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3960000" cy="360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サイト改修で良くなること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000" y="2015999"/>
            <a:ext cx="3960000" cy="1548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16000" tIns="144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・見やすさ・求人の探しやすさ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・応募フォームの入力しやすさ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→ 応募する方が増える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24000" y="252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48000" y="1655999"/>
            <a:ext cx="3960000" cy="360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改修しても残ること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8000" y="2015999"/>
            <a:ext cx="3960000" cy="154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16000" tIns="144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・比較検討中で、まだ応募しない方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・フォームの途中で離れた方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その後の接点が残らない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671999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整備士は、複数の経路を比べて仕事を探している（仕事を探した経路・複数回答）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6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903999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現状のWebサイトにおけるボトルネック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現行サイトは「その場の応募」のみで、求職者データが残らない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655999" cy="79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サイトに来訪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20000" y="1908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000" y="1655999"/>
            <a:ext cx="3096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入口は「応募」「転職支援の申込」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48000" y="1908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8000" y="1655999"/>
            <a:ext cx="2700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応募した方だけ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連絡先が残る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700000"/>
            <a:ext cx="1655999" cy="79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応募しなかった方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0000" y="295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000" y="2700000"/>
            <a:ext cx="6228000" cy="7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接点が残らず、後から案内できない（再来訪を待つしかない）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検討層の受け皿がない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比較検討中の方と接点を持てない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6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登録が使われにくい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氏名・経歴・パスワードの入力が壁に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名簿が残らない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長期的に育てるリストがない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解決策｜Web × LINEの同時導入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応募に至らない方を、LINEの友だちとしてストックする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512000" cy="23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新サイトに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来訪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58000" y="1980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2358000" y="3456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64000" y="1655999"/>
            <a:ext cx="1908000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応募する方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4000" y="3024000"/>
            <a:ext cx="1908000" cy="1007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応募に至らない方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（検討層・離脱層）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26000" y="1980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626000" y="3348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32000" y="1655999"/>
            <a:ext cx="2015999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サイトで応募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（CV②）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2000" y="3024000"/>
            <a:ext cx="2015999" cy="1007999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LINEで友だち追加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＝ストック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02000" y="3348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08000" y="3024000"/>
            <a:ext cx="1800000" cy="1007999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新着求人を配信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→ 応募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後から案内できる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新着求人・条件に合う求人をいつでも届けられる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6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会員の予備軍が貯まる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今すぐ応募しない方もリストに残る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0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興味が分かる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配信のクリックで、興味のある職種が分かる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LINEによるエントリーハードルの低減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「LINEでログイン」とLINE Profile+で、登録は「確認して押すだけ」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946934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745317"/>
            <a:ext cx="5166720" cy="225025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65018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500717"/>
            <a:ext cx="2987424" cy="15751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項目ごとに申請・LINEヤフー社の審査あり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獲得したストック顧客へのアプローチ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蓄積した友だちに、条件に合う求人をLINEで直接届ける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友だち（ストック）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応募前の方とも接点が残る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48000" y="216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71999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クリックで自動分類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整備士・営業・未経験OKなどに分かれる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227999" y="216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52000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興味に合う求人を配信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新着求人・条件に合う求人を届ける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204000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他業種・就職支援での、LINE配信の反応（LINEヤフー公式事例）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バス会社｜メッセージの開封率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約70%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LINE通知メッセージの配信後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6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バス会社｜クリック率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約5倍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メルマガのクリック率との比較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就職支援｜LINE問い合わせ後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55%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の方が、面談を予約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760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導入事例（琴平バス・UZUZ）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3096000"/>
            <a:ext cx="8316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3420000"/>
            <a:ext cx="8316000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求人業界でのLINE活用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【事例】求人業界におけるLINE活用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タウンワークでは、LINEから求人を探せる導線を強化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2124000"/>
            <a:ext cx="381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応募数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2448000"/>
            <a:ext cx="3816000" cy="115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6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36000" y="1944000"/>
            <a:ext cx="0" cy="2520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96000" y="1800000"/>
            <a:ext cx="4212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応募増加につながったポイント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48000" y="2628000"/>
            <a:ext cx="0" cy="151200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932000" y="2412000"/>
            <a:ext cx="432000" cy="43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4000" y="2394000"/>
            <a:ext cx="3564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リッチメニューで条件を選ぶ</a:t>
            </a:r>
          </a:p>
        </p:txBody>
      </p:sp>
      <p:sp>
        <p:nvSpPr>
          <p:cNvPr id="24" name="Oval 23"/>
          <p:cNvSpPr/>
          <p:nvPr/>
        </p:nvSpPr>
        <p:spPr>
          <a:xfrm>
            <a:off x="4932000" y="3167999"/>
            <a:ext cx="432000" cy="43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4000" y="3150000"/>
            <a:ext cx="3564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条件に合う求人を表示</a:t>
            </a:r>
          </a:p>
        </p:txBody>
      </p:sp>
      <p:sp>
        <p:nvSpPr>
          <p:cNvPr id="26" name="Oval 25"/>
          <p:cNvSpPr/>
          <p:nvPr/>
        </p:nvSpPr>
        <p:spPr>
          <a:xfrm>
            <a:off x="4932000" y="3923999"/>
            <a:ext cx="432000" cy="43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4000" y="3906000"/>
            <a:ext cx="3564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そのまま求人ページへ移動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2000" y="5040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2000" y="5094000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LINEを「求人を探す入口」にしたことが、応募増加へ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タウンワークの勝因｜常設の入口（リッチメニュー）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勝因は、ワンタップで求人を探せる常設の入口（リッチメニュー）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501797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求人を受け取るための会員連携を案内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時間帯などの条件がワンタップ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自動車求人サイトへの応用｜LINEのワンタップ検索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資格・職種・こだわり条件は、LINEのワンタップ検索と相性が良い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整備士1級・2級・3級・無資格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6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職種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整備士／営業／受付・事務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こだわり条件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未経験OK・資格取得支援あり・土日休みなど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" y="3204000"/>
            <a:ext cx="2376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リッチメニューの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ボタンをタップ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40000" y="349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4000" y="3204000"/>
            <a:ext cx="2736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検索結果ページが開く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72000" y="349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96000" y="3204000"/>
            <a:ext cx="2412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気になる求人で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サイトから応募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4320000"/>
            <a:ext cx="83196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51999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掲載中の求人は、全国2,134件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（うち正社員・整備士946件、正社員・営業180件）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940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3096000"/>
            <a:ext cx="8316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Chapter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3420000"/>
            <a:ext cx="8316000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自動車求人Naviでの活用イメージ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新サイトとLINEの連動導線（全体フロー）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新サイトのあらゆる接点から、自然にLINEへ誘導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求人詳細</a:t>
            </a:r>
          </a:p>
        </p:txBody>
      </p:sp>
      <p:sp>
        <p:nvSpPr>
          <p:cNvPr id="7" name="Down Arrow 6"/>
          <p:cNvSpPr/>
          <p:nvPr/>
        </p:nvSpPr>
        <p:spPr>
          <a:xfrm>
            <a:off x="1656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2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</p:txBody>
      </p:sp>
      <p:sp>
        <p:nvSpPr>
          <p:cNvPr id="9" name="Down Arrow 8"/>
          <p:cNvSpPr/>
          <p:nvPr/>
        </p:nvSpPr>
        <p:spPr>
          <a:xfrm>
            <a:off x="1656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6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キープ画面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780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16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「気になる求人を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LINEでキープ」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780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40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相談窓口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03999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40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「LINEで適正年収を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相談」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03999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64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応募の完了画面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028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64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応募完了後の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028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2000" y="3671999"/>
            <a:ext cx="8319600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LINE公式アカウント　友だち追加＝会員・見込み客のストック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4860000" y="4212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2000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あいさつ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51999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条件検索・相談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12000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新着求人・条件別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308000" y="4716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32000" y="4464000"/>
            <a:ext cx="1475999" cy="72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サイトへ戻って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0" y="5903999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※キープ画面・相談窓口は、新サイトに追加する接点の想定。シミュレーションの数字に含めるのは動線00・01のみ（動線02は含めない）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※求人ボックス・Indeed経由については、着地先・応募完了先を確認したうえでLINE導線を設計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ユーザー体験イメージ①｜サイト訪問からLINE保存まで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ポップアップ・ボタンで、サイトからその場でLINEへ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4031999" cy="25219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00" y="1655999"/>
            <a:ext cx="4031999" cy="25219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2000" y="4248000"/>
            <a:ext cx="403199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離脱防止ポップアップ（動線00）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離脱しそうな方に「新着求人をLINEでお届け」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6000" y="4248000"/>
            <a:ext cx="403199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「LINEで登録」ボタン（動線01）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会員登録と友だち追加が同時に完了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112000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ポップアップ・ボタンの訴求の例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「気になる求人をLINEでキープ」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6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「LINEで適正年収を相談」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80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「新着求人をLINEでお届け」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597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ユーザー体験イメージ②｜LINEトーク画面・リッチメニュー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自動車求人に特化したリッチメニューを、トーク画面に常設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hengrowth_v12_rich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4104000" cy="27682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2000" y="4428000"/>
            <a:ext cx="4104000" cy="93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リッチメニュー（トーク画面の下に常設）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000" y="1584000"/>
            <a:ext cx="2107120" cy="3744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000" y="1655999"/>
            <a:ext cx="1655999" cy="3671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144000" rIns="108000" bIns="36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LINE内で完結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職種をタップ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 条件に合う求人がカードで届く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③ 求人ページからサイトで応募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472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自動応答・アンケートシナリオの活用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友だち追加直後のアンケートで、資格・希望時期を把握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608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128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あいさつ（自動）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816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336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アンケート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ボタンをタップするだけ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024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544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回答をタグで保存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資格・希望時期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23199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752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条件に合う求人を配信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2772000"/>
            <a:ext cx="3456000" cy="24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アンケートの例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保有資格：1級／2級／3級／無資格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希望時期：すぐ／3か月以内／情報収集中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希望の職種：整備士／営業／受付・事務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0" y="2772000"/>
            <a:ext cx="3456000" cy="24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回答に合わせた配信の例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整備士2級・すぐ → 整備士の新着求人を優先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未経験・情報収集中 → 資格取得支援の求人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友だち追加から14日間、全10通のステップ配信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000" y="2700000"/>
            <a:ext cx="1458775" cy="259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2000" y="597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※画面・選択肢はイメージです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3096000"/>
            <a:ext cx="8316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Chapter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3420000"/>
            <a:ext cx="8316000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効果・費用・導入スケジュール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友だち登録数・獲得シミュレーション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新サイトの来訪（月約6,100人）に応じて、友だちは半年で542人まで増加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92000" y="1548000"/>
          <a:ext cx="8316000" cy="2015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00" name="Table 4"/>
          <p:cNvGraphicFramePr>
            <a:graphicFrameLocks noGrp="1"/>
          </p:cNvGraphicFramePr>
          <p:nvPr/>
        </p:nvGraphicFramePr>
        <p:xfrm>
          <a:off x="793680" y="3671999"/>
          <a:ext cx="8319744" cy="1642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1" name="TextBox 900"/>
          <p:cNvSpPr txBox="1"/>
          <p:nvPr/>
        </p:nvSpPr>
        <p:spPr>
          <a:xfrm>
            <a:off x="792000" y="543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月約6,100人（広告のシミュレーション確定後に差し替え）／LINEで登録＝来訪者の1.0%／会員登録（CV①）・応募（CV②）はLINEでの登録・リッチメニューと配信からの件数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導入費用の考え方｜サイト制作費とは分けて明示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集客 → サイト → LINE → 応募の流れの中で、費用がかかる場所を分けて見る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728000"/>
            <a:ext cx="2160000" cy="827999"/>
          </a:xfrm>
          <a:prstGeom prst="homePlate">
            <a:avLst>
              <a:gd name="adj" fmla="val 3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tIns="18000" rIns="21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広告・流入</a:t>
            </a:r>
          </a:p>
        </p:txBody>
      </p:sp>
      <p:sp>
        <p:nvSpPr>
          <p:cNvPr id="7" name="Chevron 6"/>
          <p:cNvSpPr/>
          <p:nvPr/>
        </p:nvSpPr>
        <p:spPr>
          <a:xfrm>
            <a:off x="2844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8000" rIns="21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Webサイト</a:t>
            </a:r>
          </a:p>
        </p:txBody>
      </p:sp>
      <p:sp>
        <p:nvSpPr>
          <p:cNvPr id="8" name="Chevron 7"/>
          <p:cNvSpPr/>
          <p:nvPr/>
        </p:nvSpPr>
        <p:spPr>
          <a:xfrm>
            <a:off x="4896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8000" rIns="21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LINEで接点を残す</a:t>
            </a:r>
          </a:p>
        </p:txBody>
      </p:sp>
      <p:sp>
        <p:nvSpPr>
          <p:cNvPr id="9" name="Chevron 8"/>
          <p:cNvSpPr/>
          <p:nvPr/>
        </p:nvSpPr>
        <p:spPr>
          <a:xfrm>
            <a:off x="6948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8000" rIns="21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2700000"/>
            <a:ext cx="2015999" cy="43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44000" y="2700000"/>
            <a:ext cx="2015999" cy="43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96000" y="2700000"/>
            <a:ext cx="4212000" cy="43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826000"/>
            <a:ext cx="2015999" cy="104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担い手：各広告媒体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サイトへの来訪を増やす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4000" y="2826000"/>
            <a:ext cx="2015999" cy="104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サイト改修費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担い手：サイト制作会社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見やすさ・検索性・応募フォームを改善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6000" y="2826000"/>
            <a:ext cx="4212000" cy="104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LINE独自構築費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担い手：弊社（本提案）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来訪者を友だち・会員として蓄積し、応募までつなげる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4140000"/>
            <a:ext cx="43200" cy="93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999" y="4140000"/>
            <a:ext cx="37440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LINEの費用は、サイト制作費・広告費とは役割が異なる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6000" y="4140000"/>
            <a:ext cx="4212000" cy="936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72000" rIns="144000" bIns="7200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LINE独自構築費のかかり方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初期費用：11月頃〜　｜　月額費用：4月〜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LINE公式アカウント利用料：別途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LINE連携開発：内容に応じて別途お見積もり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2000" y="5400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2000" y="5490000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LINEの費用を分けることで、友だち・会員・応募への効果を単独で把握できる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概算お見積もり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LINE運用コンサルの固定費を基本に、必要な施策だけ追加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584000"/>
            <a:ext cx="8316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基本固定費（LINE運用コンサル）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1908000"/>
            <a:ext cx="4104000" cy="129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5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万円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11月頃〜の設計・初期構築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50000" y="2015999"/>
            <a:ext cx="0" cy="1116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04000" y="1908000"/>
            <a:ext cx="4104000" cy="129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4月以降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月額 </a:t>
            </a:r>
            <a:r>
              <a:rPr sz="5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万円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配信・分析・改善・毎月のレポート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3276000"/>
            <a:ext cx="8316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＋ LINE公式アカウント利用料（開設3万円〜／月額0.5万円〜・配信通数で変動）　　＋ 必要に応じて追加施策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780000"/>
            <a:ext cx="4320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オプション（必要に応じて）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8000" y="3780000"/>
            <a:ext cx="1368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0000" y="3780000"/>
            <a:ext cx="1368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2000" y="4050000"/>
            <a:ext cx="8316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000" y="4086000"/>
            <a:ext cx="309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8000" y="4086000"/>
            <a:ext cx="237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ページを離れる方をLINEへ誘導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8000" y="4086000"/>
            <a:ext cx="136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1.5万円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0000" y="4086000"/>
            <a:ext cx="136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2000" y="4482000"/>
            <a:ext cx="8316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2000" y="4518000"/>
            <a:ext cx="309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8000" y="4518000"/>
            <a:ext cx="237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応募完了後にLINEへ誘導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8000" y="4518000"/>
            <a:ext cx="136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15万円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0000" y="4518000"/>
            <a:ext cx="1368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2000" y="4913999"/>
            <a:ext cx="8316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2000" y="4949999"/>
            <a:ext cx="309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Profile+／LINE連携開発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8000" y="4949999"/>
            <a:ext cx="2376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登録の自動入力・会員連携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8000" y="4949999"/>
            <a:ext cx="288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別途お見積もり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2000" y="5345999"/>
            <a:ext cx="8316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2000" y="5561999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体制：弊社＝設計・運用・制作・毎月のレポート／貴社＝求人情報・面談体制の共有、サイト制作会社様との連携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なぜ4月を待たず、11月頃から初期構築を進めるのか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4月から成果を出すために、11月頃から準備を始める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0000" y="3096000"/>
            <a:ext cx="7848000" cy="0"/>
          </a:xfrm>
          <a:prstGeom prst="line">
            <a:avLst/>
          </a:prstGeom>
          <a:ln w="317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52000" y="2268000"/>
            <a:ext cx="2448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11月頃〜</a:t>
            </a:r>
          </a:p>
        </p:txBody>
      </p:sp>
      <p:sp>
        <p:nvSpPr>
          <p:cNvPr id="8" name="Oval 7"/>
          <p:cNvSpPr/>
          <p:nvPr/>
        </p:nvSpPr>
        <p:spPr>
          <a:xfrm>
            <a:off x="2088000" y="2808000"/>
            <a:ext cx="576000" cy="57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3564000"/>
            <a:ext cx="2448000" cy="68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サイト制作段階から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LINE連携を設計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999" y="4284000"/>
            <a:ext cx="25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公開後の大きな改修を避けられる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6000" y="2268000"/>
            <a:ext cx="2448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2" name="Oval 11"/>
          <p:cNvSpPr/>
          <p:nvPr/>
        </p:nvSpPr>
        <p:spPr>
          <a:xfrm>
            <a:off x="4662000" y="2808000"/>
            <a:ext cx="576000" cy="57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6000" y="3564000"/>
            <a:ext cx="2448000" cy="68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公開前に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申請・実装・検証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0000" y="4284000"/>
            <a:ext cx="25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公開日からすぐ施策を動かせる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0" y="2268000"/>
            <a:ext cx="2448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16" name="Oval 15"/>
          <p:cNvSpPr/>
          <p:nvPr/>
        </p:nvSpPr>
        <p:spPr>
          <a:xfrm>
            <a:off x="7235999" y="2808000"/>
            <a:ext cx="576000" cy="576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3564000"/>
            <a:ext cx="2448000" cy="68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4月から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そのまま本格運用へ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999" y="4284000"/>
            <a:ext cx="2520000" cy="32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運用設計をやり直す必要がない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2000" y="5148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2000" y="5202000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初期構築から運用・改善まで一貫して支援することで、サイト公開後もスムーズに本格運用へ移行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スケジュール｜11月頃から初期構築、4月から本格運用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11月〜3月で設計・構築し、4月のサイト公開と同時に運用へ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584000"/>
            <a:ext cx="4608000" cy="306000"/>
          </a:xfrm>
          <a:prstGeom prst="homePlate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11月〜3月｜設計・構築</a:t>
            </a:r>
          </a:p>
        </p:txBody>
      </p:sp>
      <p:sp>
        <p:nvSpPr>
          <p:cNvPr id="7" name="Chevron 6"/>
          <p:cNvSpPr/>
          <p:nvPr/>
        </p:nvSpPr>
        <p:spPr>
          <a:xfrm>
            <a:off x="5256000" y="1584000"/>
            <a:ext cx="3852000" cy="306000"/>
          </a:xfrm>
          <a:prstGeom prst="chevron">
            <a:avLst>
              <a:gd name="adj" fmla="val 5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18000" rIns="108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4月〜｜運用・改善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12月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999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2000" y="1925999"/>
            <a:ext cx="3816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92000" y="1962000"/>
            <a:ext cx="0" cy="327600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92000" y="1962000"/>
            <a:ext cx="0" cy="327600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91999" y="1962000"/>
            <a:ext cx="0" cy="327600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92000" y="1962000"/>
            <a:ext cx="0" cy="327600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10000" y="2214000"/>
            <a:ext cx="4463999" cy="37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000" y="2214000"/>
            <a:ext cx="4319999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設計　</a:t>
            </a:r>
            <a:r>
              <a:rPr sz="11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アカウント・リッチメニュー・配信シナリオ・計測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000" y="2646000"/>
            <a:ext cx="4463999" cy="37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2646000"/>
            <a:ext cx="4319999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連携仕様　</a:t>
            </a:r>
            <a:r>
              <a:rPr sz="11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サイト制作会社と、LINE連携の仕様を調整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000" y="3078000"/>
            <a:ext cx="4463999" cy="378000"/>
          </a:xfrm>
          <a:prstGeom prst="rect">
            <a:avLst/>
          </a:prstGeom>
          <a:solidFill>
            <a:srgbClr val="E4E8F6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000" y="3078000"/>
            <a:ext cx="4319999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実装・検証　</a:t>
            </a:r>
            <a:r>
              <a:rPr sz="11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開発・実装・公開前テスト</a:t>
            </a:r>
          </a:p>
        </p:txBody>
      </p:sp>
      <p:sp>
        <p:nvSpPr>
          <p:cNvPr id="24" name="Diamond 23"/>
          <p:cNvSpPr/>
          <p:nvPr/>
        </p:nvSpPr>
        <p:spPr>
          <a:xfrm>
            <a:off x="5130000" y="3564000"/>
            <a:ext cx="324000" cy="324000"/>
          </a:xfrm>
          <a:prstGeom prst="diamond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36000" y="3726000"/>
            <a:ext cx="4140000" cy="0"/>
          </a:xfrm>
          <a:prstGeom prst="line">
            <a:avLst/>
          </a:prstGeom>
          <a:ln w="19050">
            <a:solidFill>
              <a:srgbClr val="1F285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508000" y="3510000"/>
            <a:ext cx="3600000" cy="43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サイト公開　／　LINE本格稼働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10000" y="3941999"/>
            <a:ext cx="3780000" cy="378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00" y="3941999"/>
            <a:ext cx="3636000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　</a:t>
            </a:r>
            <a:r>
              <a:rPr sz="11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ステップ配信・企画配信・応募への追客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10000" y="4373999"/>
            <a:ext cx="3780000" cy="378000"/>
          </a:xfrm>
          <a:prstGeom prst="rect">
            <a:avLst/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0000" y="4373999"/>
            <a:ext cx="3636000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分析　</a:t>
            </a:r>
            <a:r>
              <a:rPr sz="110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KPI計測・月次レポート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10000" y="4805999"/>
            <a:ext cx="3780000" cy="378000"/>
          </a:xfrm>
          <a:prstGeom prst="rect">
            <a:avLst/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00" y="4805999"/>
            <a:ext cx="3636000" cy="37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改善　</a:t>
            </a:r>
            <a:r>
              <a:rPr sz="110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導線・配信・セグメントを改善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292000" y="1925999"/>
            <a:ext cx="0" cy="3312001"/>
          </a:xfrm>
          <a:prstGeom prst="line">
            <a:avLst/>
          </a:prstGeom>
          <a:ln w="3175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92000" y="5346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92000" y="5400000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初期構築で設計した内容を、そのまま運用へ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000" y="5903999"/>
            <a:ext cx="8316000" cy="36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※11月頃〜3月は設計・構築が中心。必要に応じて一部施策の先行稼働も検討可能（先行稼働分はシミュレーションに含めない）／LINE Profile+の審査期間は申請内容により変動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143226</TotalTime>
  <Words>2937</Words>
  <Application>Microsoft Office PowerPoint</Application>
  <PresentationFormat>A4 210 x 297 mm</PresentationFormat>
  <Paragraphs>706</Paragraphs>
  <Slides>34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34</vt:i4>
      </vt:variant>
    </vt:vector>
  </HeadingPairs>
  <TitlesOfParts>
    <vt:vector size="40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1964</cp:revision>
  <cp:lastPrinted>2022-11-01T11:38:14Z</cp:lastPrinted>
  <dcterms:created xsi:type="dcterms:W3CDTF">2015-09-04T09:21:15Z</dcterms:created>
  <dcterms:modified xsi:type="dcterms:W3CDTF">2026-10-02T09:30:20Z</dcterms:modified>
</cp:coreProperties>
</file>