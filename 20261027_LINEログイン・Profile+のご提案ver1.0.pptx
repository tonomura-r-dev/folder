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19"/>
  </p:notesMasterIdLst>
  <p:handoutMasterIdLst>
    <p:handoutMasterId r:id="rId20"/>
  </p:handoutMasterIdLst>
  <p:sldIdLst>
    <p:sldId id="2363" r:id="rId3"/>
    <p:sldId id="2211" r:id="rId4"/>
    <p:sldId id="2213" r:id="rId5"/>
    <p:sldId id="2215" r:id="rId6"/>
    <p:sldId id="398" r:id="rId7"/>
    <p:sldId id="2714" r:id="rId8"/>
    <p:sldId id="2721" r:id="rId9"/>
    <p:sldId id="2723" r:id="rId10"/>
    <p:sldId id="2761" r:id="rId11"/>
    <p:sldId id="2762" r:id="rId25"/>
    <p:sldId id="2763" r:id="rId26"/>
    <p:sldId id="2764" r:id="rId27"/>
    <p:sldId id="2765" r:id="rId28"/>
    <p:sldId id="2766" r:id="rId29"/>
    <p:sldId id="2767" r:id="rId30"/>
    <p:sldId id="2768" r:id="rId31"/>
    <p:sldId id="2769" r:id="rId3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jpe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2281443" y="3038203"/>
            <a:ext cx="53431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会社概要</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3" name="図 2">
            <a:extLst>
              <a:ext uri="{FF2B5EF4-FFF2-40B4-BE49-F238E27FC236}">
                <a16:creationId xmlns:a16="http://schemas.microsoft.com/office/drawing/2014/main" id="{86A10E6A-0017-DD8A-6450-FFA42665D5D1}"/>
              </a:ext>
            </a:extLst>
          </p:cNvPr>
          <p:cNvPicPr>
            <a:picLocks noChangeAspect="1"/>
          </p:cNvPicPr>
          <p:nvPr/>
        </p:nvPicPr>
        <p:blipFill>
          <a:blip r:embed="rId2"/>
          <a:stretch>
            <a:fillRect/>
          </a:stretch>
        </p:blipFill>
        <p:spPr>
          <a:xfrm>
            <a:off x="0" y="726221"/>
            <a:ext cx="9906000" cy="5728287"/>
          </a:xfrm>
          <a:prstGeom prst="rect">
            <a:avLst/>
          </a:prstGeom>
        </p:spPr>
      </p:pic>
    </p:spTree>
    <p:extLst>
      <p:ext uri="{BB962C8B-B14F-4D97-AF65-F5344CB8AC3E}">
        <p14:creationId xmlns:p14="http://schemas.microsoft.com/office/powerpoint/2010/main" val="443302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481E5471-9293-47E8-AD46-DDA0BB99FBD1}"/>
              </a:ext>
            </a:extLst>
          </p:cNvPr>
          <p:cNvPicPr>
            <a:picLocks noChangeAspect="1"/>
          </p:cNvPicPr>
          <p:nvPr/>
        </p:nvPicPr>
        <p:blipFill>
          <a:blip r:embed="rId2"/>
          <a:stretch>
            <a:fillRect/>
          </a:stretch>
        </p:blipFill>
        <p:spPr>
          <a:xfrm>
            <a:off x="0" y="624442"/>
            <a:ext cx="2407640" cy="614266"/>
          </a:xfrm>
          <a:prstGeom prst="rect">
            <a:avLst/>
          </a:prstGeom>
        </p:spPr>
      </p:pic>
      <p:sp>
        <p:nvSpPr>
          <p:cNvPr id="5"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4" name="図 3">
            <a:extLst>
              <a:ext uri="{FF2B5EF4-FFF2-40B4-BE49-F238E27FC236}">
                <a16:creationId xmlns:a16="http://schemas.microsoft.com/office/drawing/2014/main" id="{B21B73EE-2FA5-FD56-3F7B-C022EFAF7581}"/>
              </a:ext>
            </a:extLst>
          </p:cNvPr>
          <p:cNvPicPr>
            <a:picLocks noChangeAspect="1"/>
          </p:cNvPicPr>
          <p:nvPr/>
        </p:nvPicPr>
        <p:blipFill>
          <a:blip r:embed="rId3"/>
          <a:stretch>
            <a:fillRect/>
          </a:stretch>
        </p:blipFill>
        <p:spPr>
          <a:xfrm>
            <a:off x="0" y="1238708"/>
            <a:ext cx="9906000" cy="5225495"/>
          </a:xfrm>
          <a:prstGeom prst="rect">
            <a:avLst/>
          </a:prstGeom>
        </p:spPr>
      </p:pic>
    </p:spTree>
    <p:extLst>
      <p:ext uri="{BB962C8B-B14F-4D97-AF65-F5344CB8AC3E}">
        <p14:creationId xmlns:p14="http://schemas.microsoft.com/office/powerpoint/2010/main" val="592906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B5FFB41A-7F1A-4C15-BDD8-599521631600}"/>
              </a:ext>
            </a:extLst>
          </p:cNvPr>
          <p:cNvPicPr>
            <a:picLocks noChangeAspect="1"/>
          </p:cNvPicPr>
          <p:nvPr/>
        </p:nvPicPr>
        <p:blipFill>
          <a:blip r:embed="rId2"/>
          <a:stretch>
            <a:fillRect/>
          </a:stretch>
        </p:blipFill>
        <p:spPr>
          <a:xfrm>
            <a:off x="0" y="675967"/>
            <a:ext cx="2348917" cy="524311"/>
          </a:xfrm>
          <a:prstGeom prst="rect">
            <a:avLst/>
          </a:prstGeom>
        </p:spPr>
      </p:pic>
      <p:pic>
        <p:nvPicPr>
          <p:cNvPr id="5" name="図 4" descr="グラフィカル ユーザー インターフェイス, アプリケーション&#10;&#10;自動的に生成された説明">
            <a:extLst>
              <a:ext uri="{FF2B5EF4-FFF2-40B4-BE49-F238E27FC236}">
                <a16:creationId xmlns:a16="http://schemas.microsoft.com/office/drawing/2014/main" id="{3EC2E04F-6D64-47B8-91F6-F5449BBED739}"/>
              </a:ext>
            </a:extLst>
          </p:cNvPr>
          <p:cNvPicPr>
            <a:picLocks noChangeAspect="1"/>
          </p:cNvPicPr>
          <p:nvPr/>
        </p:nvPicPr>
        <p:blipFill>
          <a:blip r:embed="rId3"/>
          <a:stretch>
            <a:fillRect/>
          </a:stretch>
        </p:blipFill>
        <p:spPr>
          <a:xfrm>
            <a:off x="284526" y="1283204"/>
            <a:ext cx="9336947" cy="4923996"/>
          </a:xfrm>
          <a:prstGeom prst="rect">
            <a:avLst/>
          </a:prstGeom>
        </p:spPr>
      </p:pic>
      <p:sp>
        <p:nvSpPr>
          <p:cNvPr id="6"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2477323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b="87099"/>
          <a:stretch/>
        </p:blipFill>
        <p:spPr>
          <a:xfrm>
            <a:off x="1" y="621928"/>
            <a:ext cx="8615494" cy="678619"/>
          </a:xfrm>
          <a:prstGeom prst="rect">
            <a:avLst/>
          </a:prstGeom>
        </p:spPr>
      </p:pic>
      <p:pic>
        <p:nvPicPr>
          <p:cNvPr id="5" name="図 4" descr="グラフィカル ユーザー インターフェイス&#10;&#10;自動的に生成された説明">
            <a:extLst>
              <a:ext uri="{FF2B5EF4-FFF2-40B4-BE49-F238E27FC236}">
                <a16:creationId xmlns:a16="http://schemas.microsoft.com/office/drawing/2014/main" id="{E0683ADA-70FF-48DC-A744-F6F5E5760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9360" y="1346035"/>
            <a:ext cx="8688940" cy="5130939"/>
          </a:xfrm>
          <a:prstGeom prst="rect">
            <a:avLst/>
          </a:prstGeom>
        </p:spPr>
      </p:pic>
      <p:sp>
        <p:nvSpPr>
          <p:cNvPr id="9"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1471059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extLst>
      <p:ext uri="{BB962C8B-B14F-4D97-AF65-F5344CB8AC3E}">
        <p14:creationId xmlns:p14="http://schemas.microsoft.com/office/powerpoint/2010/main" val="1645704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5078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014222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3261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871083" y="3038203"/>
            <a:ext cx="616386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LINEログイン・Profile+導入のご提案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5329660"/>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LINEログイン・Profile+｜解決したい課題</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会員登録・フォーム入力・登録後の連絡。CVまでの3か所で、ユーザーは離脱しやすい</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24228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会員登録</a:t>
            </a:r>
          </a:p>
        </p:txBody>
      </p:sp>
      <p:cxnSp>
        <p:nvCxnSpPr>
          <p:cNvPr id="8" name="Connector 7"/>
          <p:cNvCxnSpPr/>
          <p:nvPr/>
        </p:nvCxnSpPr>
        <p:spPr>
          <a:xfrm>
            <a:off x="2188799" y="2658000"/>
            <a:ext cx="198001"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41976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予約・購入</a:t>
            </a:r>
          </a:p>
          <a:p>
            <a:pPr algn="ctr">
              <a:lnSpc>
                <a:spcPct val="110000"/>
              </a:lnSpc>
              <a:spcAft>
                <a:spcPts val="0"/>
              </a:spcAft>
            </a:pPr>
            <a:r>
              <a:rPr sz="1200" b="1">
                <a:solidFill>
                  <a:srgbClr val="333333"/>
                </a:solidFill>
                <a:latin typeface="メイリオ"/>
                <a:ea typeface="メイリオ"/>
                <a:cs typeface="メイリオ"/>
              </a:rPr>
              <a:t>フォーム</a:t>
            </a:r>
          </a:p>
        </p:txBody>
      </p:sp>
      <p:cxnSp>
        <p:nvCxnSpPr>
          <p:cNvPr id="10" name="Connector 9"/>
          <p:cNvCxnSpPr/>
          <p:nvPr/>
        </p:nvCxnSpPr>
        <p:spPr>
          <a:xfrm>
            <a:off x="3963600" y="2658000"/>
            <a:ext cx="198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5972400" y="2316000"/>
            <a:ext cx="1504800" cy="684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2" name="Connector 11"/>
          <p:cNvCxnSpPr/>
          <p:nvPr/>
        </p:nvCxnSpPr>
        <p:spPr>
          <a:xfrm>
            <a:off x="57384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77472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その後の連絡</a:t>
            </a:r>
          </a:p>
        </p:txBody>
      </p:sp>
      <p:cxnSp>
        <p:nvCxnSpPr>
          <p:cNvPr id="14" name="Connector 13"/>
          <p:cNvCxnSpPr/>
          <p:nvPr/>
        </p:nvCxnSpPr>
        <p:spPr>
          <a:xfrm>
            <a:off x="75132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31752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3148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会員登録の面倒さ</a:t>
            </a:r>
          </a:p>
          <a:p>
            <a:pPr algn="ctr">
              <a:lnSpc>
                <a:spcPct val="110000"/>
              </a:lnSpc>
              <a:spcAft>
                <a:spcPts val="0"/>
              </a:spcAft>
            </a:pPr>
            <a:r>
              <a:rPr sz="1100" b="0">
                <a:solidFill>
                  <a:srgbClr val="333333"/>
                </a:solidFill>
                <a:latin typeface="メイリオ"/>
                <a:ea typeface="メイリオ"/>
                <a:cs typeface="メイリオ"/>
              </a:rPr>
              <a:t>ID・パスワード・メールアドレスの入力が多い</a:t>
            </a:r>
          </a:p>
        </p:txBody>
      </p:sp>
      <p:cxnSp>
        <p:nvCxnSpPr>
          <p:cNvPr id="17" name="Connector 16"/>
          <p:cNvCxnSpPr/>
          <p:nvPr/>
        </p:nvCxnSpPr>
        <p:spPr>
          <a:xfrm>
            <a:off x="49500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40896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フォーム入力時の離脱</a:t>
            </a:r>
          </a:p>
          <a:p>
            <a:pPr algn="ctr">
              <a:lnSpc>
                <a:spcPct val="110000"/>
              </a:lnSpc>
              <a:spcAft>
                <a:spcPts val="0"/>
              </a:spcAft>
            </a:pPr>
            <a:r>
              <a:rPr sz="1100" b="0">
                <a:solidFill>
                  <a:srgbClr val="333333"/>
                </a:solidFill>
                <a:latin typeface="メイリオ"/>
                <a:ea typeface="メイリオ"/>
                <a:cs typeface="メイリオ"/>
              </a:rPr>
              <a:t>氏名・電話番号・住所を一から入力</a:t>
            </a:r>
          </a:p>
        </p:txBody>
      </p:sp>
      <p:cxnSp>
        <p:nvCxnSpPr>
          <p:cNvPr id="19" name="Connector 18"/>
          <p:cNvCxnSpPr/>
          <p:nvPr/>
        </p:nvCxnSpPr>
        <p:spPr>
          <a:xfrm>
            <a:off x="84996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76392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接点が切れやすい</a:t>
            </a:r>
          </a:p>
          <a:p>
            <a:pPr algn="ctr">
              <a:lnSpc>
                <a:spcPct val="110000"/>
              </a:lnSpc>
              <a:spcAft>
                <a:spcPts val="0"/>
              </a:spcAft>
            </a:pPr>
            <a:r>
              <a:rPr sz="1100" b="0">
                <a:solidFill>
                  <a:srgbClr val="333333"/>
                </a:solidFill>
                <a:latin typeface="メイリオ"/>
                <a:ea typeface="メイリオ"/>
                <a:cs typeface="メイリオ"/>
              </a:rPr>
              <a:t>予約・購入の後の
ご案内が届きにくい</a:t>
            </a:r>
          </a:p>
        </p:txBody>
      </p:sp>
      <p:sp>
        <p:nvSpPr>
          <p:cNvPr id="21" name="Rectangle 20"/>
          <p:cNvSpPr/>
          <p:nvPr/>
        </p:nvSpPr>
        <p:spPr>
          <a:xfrm>
            <a:off x="648000" y="476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3か所の手間を、LINEでまとめて解消する仕組みが必要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LINEログイン・Profile+｜全体の導線</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会員登録・友だち追加・フォーム入力の3か所の手間を、LINEでワンストップで解消</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160000"/>
            <a:ext cx="1059428" cy="720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1905428"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ログイン</a:t>
            </a:r>
          </a:p>
        </p:txBody>
      </p:sp>
      <p:cxnSp>
        <p:nvCxnSpPr>
          <p:cNvPr id="8" name="Connector 7"/>
          <p:cNvCxnSpPr/>
          <p:nvPr/>
        </p:nvCxnSpPr>
        <p:spPr>
          <a:xfrm>
            <a:off x="1743428"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3162857"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友だち追加</a:t>
            </a:r>
          </a:p>
        </p:txBody>
      </p:sp>
      <p:cxnSp>
        <p:nvCxnSpPr>
          <p:cNvPr id="10" name="Connector 9"/>
          <p:cNvCxnSpPr/>
          <p:nvPr/>
        </p:nvCxnSpPr>
        <p:spPr>
          <a:xfrm>
            <a:off x="3000857"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4420285"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ID連携</a:t>
            </a:r>
          </a:p>
        </p:txBody>
      </p:sp>
      <p:cxnSp>
        <p:nvCxnSpPr>
          <p:cNvPr id="12" name="Connector 11"/>
          <p:cNvCxnSpPr/>
          <p:nvPr/>
        </p:nvCxnSpPr>
        <p:spPr>
          <a:xfrm>
            <a:off x="4258285"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5677714"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Profile+で</a:t>
            </a:r>
          </a:p>
          <a:p>
            <a:pPr algn="ctr">
              <a:lnSpc>
                <a:spcPct val="110000"/>
              </a:lnSpc>
              <a:spcAft>
                <a:spcPts val="0"/>
              </a:spcAft>
            </a:pPr>
            <a:r>
              <a:rPr sz="1200" b="1">
                <a:solidFill>
                  <a:srgbClr val="FFFFFF"/>
                </a:solidFill>
                <a:latin typeface="メイリオ"/>
                <a:ea typeface="メイリオ"/>
                <a:cs typeface="メイリオ"/>
              </a:rPr>
              <a:t>自動入力</a:t>
            </a:r>
          </a:p>
        </p:txBody>
      </p:sp>
      <p:cxnSp>
        <p:nvCxnSpPr>
          <p:cNvPr id="14" name="Connector 13"/>
          <p:cNvCxnSpPr/>
          <p:nvPr/>
        </p:nvCxnSpPr>
        <p:spPr>
          <a:xfrm>
            <a:off x="5515714"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6935142" y="2160000"/>
            <a:ext cx="1059428" cy="720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6" name="Connector 15"/>
          <p:cNvCxnSpPr/>
          <p:nvPr/>
        </p:nvCxnSpPr>
        <p:spPr>
          <a:xfrm>
            <a:off x="6773142"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7" name="Rounded Rectangle 16"/>
          <p:cNvSpPr/>
          <p:nvPr/>
        </p:nvSpPr>
        <p:spPr>
          <a:xfrm>
            <a:off x="8192571"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追客</a:t>
            </a:r>
          </a:p>
        </p:txBody>
      </p:sp>
      <p:cxnSp>
        <p:nvCxnSpPr>
          <p:cNvPr id="18" name="Connector 17"/>
          <p:cNvCxnSpPr/>
          <p:nvPr/>
        </p:nvCxnSpPr>
        <p:spPr>
          <a:xfrm>
            <a:off x="8030571"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1833428"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ID・PWなしで</a:t>
            </a:r>
          </a:p>
          <a:p>
            <a:pPr algn="ctr">
              <a:lnSpc>
                <a:spcPct val="110000"/>
              </a:lnSpc>
              <a:spcAft>
                <a:spcPts val="0"/>
              </a:spcAft>
            </a:pPr>
            <a:r>
              <a:rPr sz="1000" b="0">
                <a:solidFill>
                  <a:srgbClr val="333333"/>
                </a:solidFill>
                <a:latin typeface="メイリオ"/>
                <a:ea typeface="メイリオ"/>
                <a:cs typeface="メイリオ"/>
              </a:rPr>
              <a:t>会員登録</a:t>
            </a:r>
          </a:p>
        </p:txBody>
      </p:sp>
      <p:sp>
        <p:nvSpPr>
          <p:cNvPr id="20" name="TextBox 19"/>
          <p:cNvSpPr txBox="1"/>
          <p:nvPr/>
        </p:nvSpPr>
        <p:spPr>
          <a:xfrm>
            <a:off x="6863142"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予約・購入</a:t>
            </a:r>
          </a:p>
        </p:txBody>
      </p:sp>
      <p:sp>
        <p:nvSpPr>
          <p:cNvPr id="21" name="TextBox 20"/>
          <p:cNvSpPr txBox="1"/>
          <p:nvPr/>
        </p:nvSpPr>
        <p:spPr>
          <a:xfrm>
            <a:off x="3090857"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同意画面で</a:t>
            </a:r>
          </a:p>
          <a:p>
            <a:pPr algn="ctr">
              <a:lnSpc>
                <a:spcPct val="110000"/>
              </a:lnSpc>
              <a:spcAft>
                <a:spcPts val="0"/>
              </a:spcAft>
            </a:pPr>
            <a:r>
              <a:rPr sz="1000" b="0">
                <a:solidFill>
                  <a:srgbClr val="333333"/>
                </a:solidFill>
                <a:latin typeface="メイリオ"/>
                <a:ea typeface="メイリオ"/>
                <a:cs typeface="メイリオ"/>
              </a:rPr>
              <a:t>同時に案内</a:t>
            </a:r>
          </a:p>
        </p:txBody>
      </p:sp>
      <p:sp>
        <p:nvSpPr>
          <p:cNvPr id="22" name="TextBox 21"/>
          <p:cNvSpPr txBox="1"/>
          <p:nvPr/>
        </p:nvSpPr>
        <p:spPr>
          <a:xfrm>
            <a:off x="4348285"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会員情報と</a:t>
            </a:r>
          </a:p>
          <a:p>
            <a:pPr algn="ctr">
              <a:lnSpc>
                <a:spcPct val="110000"/>
              </a:lnSpc>
              <a:spcAft>
                <a:spcPts val="0"/>
              </a:spcAft>
            </a:pPr>
            <a:r>
              <a:rPr sz="1000" b="0">
                <a:solidFill>
                  <a:srgbClr val="333333"/>
                </a:solidFill>
                <a:latin typeface="メイリオ"/>
                <a:ea typeface="メイリオ"/>
                <a:cs typeface="メイリオ"/>
              </a:rPr>
              <a:t>LINEを紐づけ</a:t>
            </a:r>
          </a:p>
        </p:txBody>
      </p:sp>
      <p:sp>
        <p:nvSpPr>
          <p:cNvPr id="23" name="TextBox 22"/>
          <p:cNvSpPr txBox="1"/>
          <p:nvPr/>
        </p:nvSpPr>
        <p:spPr>
          <a:xfrm>
            <a:off x="5605714"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フォームの</a:t>
            </a:r>
          </a:p>
          <a:p>
            <a:pPr algn="ctr">
              <a:lnSpc>
                <a:spcPct val="110000"/>
              </a:lnSpc>
              <a:spcAft>
                <a:spcPts val="0"/>
              </a:spcAft>
            </a:pPr>
            <a:r>
              <a:rPr sz="1000" b="0">
                <a:solidFill>
                  <a:srgbClr val="333333"/>
                </a:solidFill>
                <a:latin typeface="メイリオ"/>
                <a:ea typeface="メイリオ"/>
                <a:cs typeface="メイリオ"/>
              </a:rPr>
              <a:t>入力の手間を削減</a:t>
            </a:r>
          </a:p>
        </p:txBody>
      </p:sp>
      <p:sp>
        <p:nvSpPr>
          <p:cNvPr id="24" name="TextBox 23"/>
          <p:cNvSpPr txBox="1"/>
          <p:nvPr/>
        </p:nvSpPr>
        <p:spPr>
          <a:xfrm>
            <a:off x="8120571"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リマインド・</a:t>
            </a:r>
          </a:p>
          <a:p>
            <a:pPr algn="ctr">
              <a:lnSpc>
                <a:spcPct val="110000"/>
              </a:lnSpc>
              <a:spcAft>
                <a:spcPts val="0"/>
              </a:spcAft>
            </a:pPr>
            <a:r>
              <a:rPr sz="1000" b="0">
                <a:solidFill>
                  <a:srgbClr val="333333"/>
                </a:solidFill>
                <a:latin typeface="メイリオ"/>
                <a:ea typeface="メイリオ"/>
                <a:cs typeface="メイリオ"/>
              </a:rPr>
              <a:t>会員ごとの配信</a:t>
            </a:r>
          </a:p>
        </p:txBody>
      </p:sp>
      <p:graphicFrame>
        <p:nvGraphicFramePr>
          <p:cNvPr id="25" name="Table 24"/>
          <p:cNvGraphicFramePr>
            <a:graphicFrameLocks noGrp="1"/>
          </p:cNvGraphicFramePr>
          <p:nvPr/>
        </p:nvGraphicFramePr>
        <p:xfrm>
          <a:off x="648000" y="3780000"/>
          <a:ext cx="8603998" cy="1368000"/>
        </p:xfrm>
        <a:graphic>
          <a:graphicData uri="http://schemas.openxmlformats.org/drawingml/2006/table">
            <a:tbl>
              <a:tblPr firstRow="1" bandRow="0">
                <a:tableStyleId>{5C22544A-7EE6-4342-B048-85BDC9FD1C3A}</a:tableStyleId>
              </a:tblPr>
              <a:tblGrid>
                <a:gridCol w="1800000"/>
                <a:gridCol w="3401999"/>
                <a:gridCol w="3401999"/>
              </a:tblGrid>
              <a:tr h="342000">
                <a:tc>
                  <a:txBody>
                    <a:bodyPr wrap="square"/>
                    <a:lstStyle/>
                    <a:p>
                      <a:pPr algn="ctr"/>
                      <a:r>
                        <a:rPr sz="1100" b="1">
                          <a:solidFill>
                            <a:srgbClr val="FFFFFF"/>
                          </a:solidFill>
                          <a:latin typeface="メイリオ"/>
                          <a:ea typeface="メイリオ"/>
                          <a:cs typeface="メイリオ"/>
                        </a:rPr>
                        <a:t>手間がかかる所</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これまで</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LINEログイン・Profile+の導入後</a:t>
                      </a:r>
                    </a:p>
                  </a:txBody>
                  <a:tcPr anchor="ctr" marL="72000" marR="72000" marT="28800" marB="28800">
                    <a:solidFill>
                      <a:srgbClr val="1F285A"/>
                    </a:solidFill>
                  </a:tcPr>
                </a:tc>
              </a:tr>
              <a:tr h="342000">
                <a:tc>
                  <a:txBody>
                    <a:bodyPr wrap="square"/>
                    <a:lstStyle/>
                    <a:p>
                      <a:pPr algn="ctr"/>
                      <a:r>
                        <a:rPr sz="1100" b="1">
                          <a:solidFill>
                            <a:srgbClr val="1F285A"/>
                          </a:solidFill>
                          <a:latin typeface="メイリオ"/>
                          <a:ea typeface="メイリオ"/>
                          <a:cs typeface="メイリオ"/>
                        </a:rPr>
                        <a:t>会員登録</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ID・パスワード・メールアドレスを入力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「LINEでログイン」ボタンから登録</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友だち追加</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サイトとは別に、LINEで友だち追加</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ログインの同意画面で、同時に案内</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フォーム入力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氏名・電話番号・住所を一から入力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LINEの登録情報で自動入力</a:t>
                      </a:r>
                    </a:p>
                  </a:txBody>
                  <a:tcPr anchor="ctr" marL="72000" marR="72000" marT="28800" marB="28800">
                    <a:solidFill>
                      <a:srgbClr val="FFFFFF"/>
                    </a:solidFill>
                  </a:tcPr>
                </a:tc>
              </a:tr>
            </a:tbl>
          </a:graphicData>
        </a:graphic>
      </p:graphicFrame>
      <p:sp>
        <p:nvSpPr>
          <p:cNvPr id="26" name="TextBox 25"/>
          <p:cNvSpPr txBox="1"/>
          <p:nvPr/>
        </p:nvSpPr>
        <p:spPr>
          <a:xfrm>
            <a:off x="648000" y="525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※緑はLINEの機能。友だち追加は、同意画面のチェックを外さずにログインした方が対象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LINEログイン｜ワンタップで登録＋友だち追加</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「LINEでログイン」から、ID・パスワードなしで登録＋友だち追加まで案内</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8000" y="2117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1</a:t>
            </a:r>
          </a:p>
        </p:txBody>
      </p:sp>
      <p:sp>
        <p:nvSpPr>
          <p:cNvPr id="7" name="TextBox 6"/>
          <p:cNvSpPr txBox="1"/>
          <p:nvPr/>
        </p:nvSpPr>
        <p:spPr>
          <a:xfrm>
            <a:off x="1224000" y="1992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サイトの「LINEでログイン」ボタンをタップ</a:t>
            </a:r>
          </a:p>
          <a:p>
            <a:pPr algn="l">
              <a:lnSpc>
                <a:spcPct val="110000"/>
              </a:lnSpc>
              <a:spcAft>
                <a:spcPts val="0"/>
              </a:spcAft>
            </a:pPr>
            <a:r>
              <a:rPr sz="1100" b="0">
                <a:solidFill>
                  <a:srgbClr val="333333"/>
                </a:solidFill>
                <a:latin typeface="メイリオ"/>
                <a:ea typeface="メイリオ"/>
                <a:cs typeface="メイリオ"/>
              </a:rPr>
              <a:t>会員登録・ログインのページにボタンを設置</a:t>
            </a:r>
          </a:p>
        </p:txBody>
      </p:sp>
      <p:cxnSp>
        <p:nvCxnSpPr>
          <p:cNvPr id="8" name="Connector 7"/>
          <p:cNvCxnSpPr/>
          <p:nvPr/>
        </p:nvCxnSpPr>
        <p:spPr>
          <a:xfrm>
            <a:off x="864000" y="2586000"/>
            <a:ext cx="0" cy="396000"/>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Oval 8"/>
          <p:cNvSpPr/>
          <p:nvPr/>
        </p:nvSpPr>
        <p:spPr>
          <a:xfrm>
            <a:off x="648000" y="3126000"/>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2</a:t>
            </a:r>
          </a:p>
        </p:txBody>
      </p:sp>
      <p:sp>
        <p:nvSpPr>
          <p:cNvPr id="10" name="TextBox 9"/>
          <p:cNvSpPr txBox="1"/>
          <p:nvPr/>
        </p:nvSpPr>
        <p:spPr>
          <a:xfrm>
            <a:off x="1224000" y="3000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LINEの同意画面</a:t>
            </a:r>
          </a:p>
          <a:p>
            <a:pPr algn="l">
              <a:lnSpc>
                <a:spcPct val="110000"/>
              </a:lnSpc>
              <a:spcAft>
                <a:spcPts val="0"/>
              </a:spcAft>
            </a:pPr>
            <a:r>
              <a:rPr sz="1100" b="0">
                <a:solidFill>
                  <a:srgbClr val="333333"/>
                </a:solidFill>
                <a:latin typeface="メイリオ"/>
                <a:ea typeface="メイリオ"/>
                <a:cs typeface="メイリオ"/>
              </a:rPr>
              <a:t>友だち追加のチェックボックスを表示（初期状態はチェックあり）</a:t>
            </a:r>
          </a:p>
        </p:txBody>
      </p:sp>
      <p:cxnSp>
        <p:nvCxnSpPr>
          <p:cNvPr id="11" name="Connector 10"/>
          <p:cNvCxnSpPr/>
          <p:nvPr/>
        </p:nvCxnSpPr>
        <p:spPr>
          <a:xfrm>
            <a:off x="864000" y="3593999"/>
            <a:ext cx="0" cy="396001"/>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12" name="Oval 11"/>
          <p:cNvSpPr/>
          <p:nvPr/>
        </p:nvSpPr>
        <p:spPr>
          <a:xfrm>
            <a:off x="648000" y="4133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3</a:t>
            </a:r>
          </a:p>
        </p:txBody>
      </p:sp>
      <p:sp>
        <p:nvSpPr>
          <p:cNvPr id="13" name="TextBox 12"/>
          <p:cNvSpPr txBox="1"/>
          <p:nvPr/>
        </p:nvSpPr>
        <p:spPr>
          <a:xfrm>
            <a:off x="1224000" y="4008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登録完了＋公式アカウントの友だちに</a:t>
            </a:r>
          </a:p>
          <a:p>
            <a:pPr algn="l">
              <a:lnSpc>
                <a:spcPct val="110000"/>
              </a:lnSpc>
              <a:spcAft>
                <a:spcPts val="0"/>
              </a:spcAft>
            </a:pPr>
            <a:r>
              <a:rPr sz="1100" b="0">
                <a:solidFill>
                  <a:srgbClr val="333333"/>
                </a:solidFill>
                <a:latin typeface="メイリオ"/>
                <a:ea typeface="メイリオ"/>
                <a:cs typeface="メイリオ"/>
              </a:rPr>
              <a:t>チェックを外さずにログインした方が、そのまま友だちに</a:t>
            </a:r>
          </a:p>
        </p:txBody>
      </p:sp>
      <p:sp>
        <p:nvSpPr>
          <p:cNvPr id="14" name="Rounded Rectangle 13"/>
          <p:cNvSpPr/>
          <p:nvPr/>
        </p:nvSpPr>
        <p:spPr>
          <a:xfrm>
            <a:off x="5976000" y="2027999"/>
            <a:ext cx="3276000" cy="2628000"/>
          </a:xfrm>
          <a:prstGeom prst="roundRect">
            <a:avLst>
              <a:gd name="adj" fmla="val 6000"/>
            </a:avLst>
          </a:prstGeom>
          <a:solidFill>
            <a:srgbClr val="FFFFFF"/>
          </a:solidFill>
          <a:ln w="12700">
            <a:solidFill>
              <a:srgbClr val="7F7F7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5" name="Rectangle 14"/>
          <p:cNvSpPr/>
          <p:nvPr/>
        </p:nvSpPr>
        <p:spPr>
          <a:xfrm>
            <a:off x="6120000" y="2873999"/>
            <a:ext cx="936000" cy="936000"/>
          </a:xfrm>
          <a:prstGeom prst="rect">
            <a:avLst/>
          </a:prstGeom>
          <a:solidFill>
            <a:srgbClr val="F2F2F2"/>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900" b="0">
                <a:solidFill>
                  <a:srgbClr val="7F7F7F"/>
                </a:solidFill>
                <a:latin typeface="メイリオ"/>
                <a:ea typeface="メイリオ"/>
                <a:cs typeface="メイリオ"/>
              </a:rPr>
              <a:t>QRコード</a:t>
            </a:r>
          </a:p>
        </p:txBody>
      </p:sp>
      <p:sp>
        <p:nvSpPr>
          <p:cNvPr id="16" name="TextBox 15"/>
          <p:cNvSpPr txBox="1"/>
          <p:nvPr/>
        </p:nvSpPr>
        <p:spPr>
          <a:xfrm>
            <a:off x="7164000" y="2946000"/>
            <a:ext cx="1980000" cy="792000"/>
          </a:xfrm>
          <a:prstGeom prst="rect">
            <a:avLst/>
          </a:prstGeom>
          <a:noFill/>
        </p:spPr>
        <p:txBody>
          <a:bodyPr wrap="square" anchor="ctr" lIns="36000" rIns="36000" tIns="18000" bIns="18000">
            <a:spAutoFit/>
          </a:bodyPr>
          <a:lstStyle/>
          <a:p>
            <a:pPr algn="l">
              <a:lnSpc>
                <a:spcPct val="110000"/>
              </a:lnSpc>
              <a:spcAft>
                <a:spcPts val="200"/>
              </a:spcAft>
            </a:pPr>
            <a:r>
              <a:rPr sz="1100" b="1">
                <a:solidFill>
                  <a:srgbClr val="1F285A"/>
                </a:solidFill>
                <a:latin typeface="メイリオ"/>
                <a:ea typeface="メイリオ"/>
                <a:cs typeface="メイリオ"/>
              </a:rPr>
              <a:t>デモ動画（LINEログイン・友だち追加）</a:t>
            </a:r>
          </a:p>
          <a:p>
            <a:pPr algn="l">
              <a:lnSpc>
                <a:spcPct val="110000"/>
              </a:lnSpc>
              <a:spcAft>
                <a:spcPts val="0"/>
              </a:spcAft>
            </a:pPr>
            <a:r>
              <a:rPr sz="1000" b="0">
                <a:solidFill>
                  <a:srgbClr val="333333"/>
                </a:solidFill>
                <a:latin typeface="メイリオ"/>
                <a:ea typeface="メイリオ"/>
                <a:cs typeface="メイリオ"/>
              </a:rPr>
              <a:t>QRコードを読み取って</a:t>
            </a:r>
          </a:p>
          <a:p>
            <a:pPr algn="l">
              <a:lnSpc>
                <a:spcPct val="110000"/>
              </a:lnSpc>
              <a:spcAft>
                <a:spcPts val="0"/>
              </a:spcAft>
            </a:pPr>
            <a:r>
              <a:rPr sz="1000" b="0">
                <a:solidFill>
                  <a:srgbClr val="333333"/>
                </a:solidFill>
                <a:latin typeface="メイリオ"/>
                <a:ea typeface="メイリオ"/>
                <a:cs typeface="メイリオ"/>
              </a:rPr>
              <a:t>動画を見る</a:t>
            </a:r>
          </a:p>
        </p:txBody>
      </p:sp>
      <p:sp>
        <p:nvSpPr>
          <p:cNvPr id="17" name="Rectangle 16"/>
          <p:cNvSpPr/>
          <p:nvPr/>
        </p:nvSpPr>
        <p:spPr>
          <a:xfrm>
            <a:off x="648000" y="5016000"/>
            <a:ext cx="8604000" cy="57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200" b="1">
                <a:solidFill>
                  <a:srgbClr val="1F285A"/>
                </a:solidFill>
                <a:latin typeface="メイリオ"/>
                <a:ea typeface="メイリオ"/>
                <a:cs typeface="メイリオ"/>
              </a:rPr>
              <a:t>同意画面を介した、自然な友だち化</a:t>
            </a:r>
          </a:p>
          <a:p>
            <a:pPr algn="ctr">
              <a:lnSpc>
                <a:spcPct val="110000"/>
              </a:lnSpc>
              <a:spcAft>
                <a:spcPts val="0"/>
              </a:spcAft>
            </a:pPr>
            <a:r>
              <a:rPr sz="1000" b="0">
                <a:solidFill>
                  <a:srgbClr val="333333"/>
                </a:solidFill>
                <a:latin typeface="メイリオ"/>
                <a:ea typeface="メイリオ"/>
                <a:cs typeface="メイリオ"/>
              </a:rPr>
              <a:t>LINEログインの「友だち追加オプション」を有効にして表示。チェックを外した方は友だちにならない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ID連携｜会員情報とLINEを紐づけ、1to1の配信へ</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自社の会員IDとLINEアカウントを裏側で紐づけ、会員ごとに合わせたメッセージを届ける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099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自社の会員データ</a:t>
            </a:r>
          </a:p>
          <a:p>
            <a:pPr algn="ctr">
              <a:lnSpc>
                <a:spcPct val="110000"/>
              </a:lnSpc>
              <a:spcAft>
                <a:spcPts val="0"/>
              </a:spcAft>
            </a:pPr>
            <a:r>
              <a:rPr sz="1200" b="1">
                <a:solidFill>
                  <a:srgbClr val="333333"/>
                </a:solidFill>
                <a:latin typeface="メイリオ"/>
                <a:ea typeface="メイリオ"/>
                <a:cs typeface="メイリオ"/>
              </a:rPr>
              <a:t>会員ID・購入履歴・予約</a:t>
            </a:r>
          </a:p>
        </p:txBody>
      </p:sp>
      <p:sp>
        <p:nvSpPr>
          <p:cNvPr id="7" name="Rounded Rectangle 6"/>
          <p:cNvSpPr/>
          <p:nvPr/>
        </p:nvSpPr>
        <p:spPr>
          <a:xfrm>
            <a:off x="3690000" y="2226000"/>
            <a:ext cx="2520000" cy="612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400" b="1">
                <a:solidFill>
                  <a:srgbClr val="FFFFFF"/>
                </a:solidFill>
                <a:latin typeface="メイリオ"/>
                <a:ea typeface="メイリオ"/>
                <a:cs typeface="メイリオ"/>
              </a:rPr>
              <a:t>ID連携</a:t>
            </a:r>
          </a:p>
        </p:txBody>
      </p:sp>
      <p:sp>
        <p:nvSpPr>
          <p:cNvPr id="8" name="Rounded Rectangle 7"/>
          <p:cNvSpPr/>
          <p:nvPr/>
        </p:nvSpPr>
        <p:spPr>
          <a:xfrm>
            <a:off x="6732000" y="2099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LINEアカウント</a:t>
            </a:r>
          </a:p>
          <a:p>
            <a:pPr algn="ctr">
              <a:lnSpc>
                <a:spcPct val="110000"/>
              </a:lnSpc>
              <a:spcAft>
                <a:spcPts val="0"/>
              </a:spcAft>
            </a:pPr>
            <a:r>
              <a:rPr sz="1200" b="1">
                <a:solidFill>
                  <a:srgbClr val="333333"/>
                </a:solidFill>
                <a:latin typeface="メイリオ"/>
                <a:ea typeface="メイリオ"/>
                <a:cs typeface="メイリオ"/>
              </a:rPr>
              <a:t>（公式アカウントの友だち）</a:t>
            </a:r>
          </a:p>
        </p:txBody>
      </p:sp>
      <p:cxnSp>
        <p:nvCxnSpPr>
          <p:cNvPr id="9" name="Connector 8"/>
          <p:cNvCxnSpPr/>
          <p:nvPr/>
        </p:nvCxnSpPr>
        <p:spPr>
          <a:xfrm>
            <a:off x="3204000" y="2532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a:off x="6246000" y="2532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48000" y="3180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紐づけると、できること（例）</a:t>
            </a:r>
          </a:p>
        </p:txBody>
      </p:sp>
      <p:graphicFrame>
        <p:nvGraphicFramePr>
          <p:cNvPr id="12" name="Table 11"/>
          <p:cNvGraphicFramePr>
            <a:graphicFrameLocks noGrp="1"/>
          </p:cNvGraphicFramePr>
          <p:nvPr/>
        </p:nvGraphicFramePr>
        <p:xfrm>
          <a:off x="648000" y="3468000"/>
          <a:ext cx="8604000" cy="1656000"/>
        </p:xfrm>
        <a:graphic>
          <a:graphicData uri="http://schemas.openxmlformats.org/drawingml/2006/table">
            <a:tbl>
              <a:tblPr firstRow="1" bandRow="0">
                <a:tableStyleId>{5C22544A-7EE6-4342-B048-85BDC9FD1C3A}</a:tableStyleId>
              </a:tblPr>
              <a:tblGrid>
                <a:gridCol w="3024000"/>
                <a:gridCol w="5580000"/>
              </a:tblGrid>
              <a:tr h="331200">
                <a:tc>
                  <a:txBody>
                    <a:bodyPr wrap="square"/>
                    <a:lstStyle/>
                    <a:p>
                      <a:pPr algn="ctr"/>
                      <a:r>
                        <a:rPr sz="1100" b="1">
                          <a:solidFill>
                            <a:srgbClr val="FFFFFF"/>
                          </a:solidFill>
                          <a:latin typeface="メイリオ"/>
                          <a:ea typeface="メイリオ"/>
                          <a:cs typeface="メイリオ"/>
                        </a:rPr>
                        <a:t>配信の例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使う会員データ</a:t>
                      </a:r>
                    </a:p>
                  </a:txBody>
                  <a:tcPr anchor="ctr" marL="72000" marR="72000" marT="28800" marB="28800">
                    <a:solidFill>
                      <a:srgbClr val="1F285A"/>
                    </a:solidFill>
                  </a:tcPr>
                </a:tc>
              </a:tr>
              <a:tr h="331200">
                <a:tc>
                  <a:txBody>
                    <a:bodyPr wrap="square"/>
                    <a:lstStyle/>
                    <a:p>
                      <a:pPr algn="ctr"/>
                      <a:r>
                        <a:rPr sz="1100" b="1">
                          <a:solidFill>
                            <a:srgbClr val="1F285A"/>
                          </a:solidFill>
                          <a:latin typeface="メイリオ"/>
                          <a:ea typeface="メイリオ"/>
                          <a:cs typeface="メイリオ"/>
                        </a:rPr>
                        <a:t>発送通知・次回購入のリマインド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購入履歴</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かご落ちのお知らせ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カートに入れたまま購入していない商品</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会員ランクに応じた限定クーポンの出し分け</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会員ランク</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予約のリマインド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予約日時・来場予約の内容</a:t>
                      </a:r>
                    </a:p>
                  </a:txBody>
                  <a:tcPr anchor="ctr" marL="72000" marR="72000" marT="28800" marB="28800">
                    <a:solidFill>
                      <a:srgbClr val="FFFFFF"/>
                    </a:solidFill>
                  </a:tcPr>
                </a:tc>
              </a:tr>
            </a:tbl>
          </a:graphicData>
        </a:graphic>
      </p:graphicFrame>
      <p:sp>
        <p:nvSpPr>
          <p:cNvPr id="13" name="TextBox 12"/>
          <p:cNvSpPr txBox="1"/>
          <p:nvPr/>
        </p:nvSpPr>
        <p:spPr>
          <a:xfrm>
            <a:off x="648000" y="5232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※配信には、ID連携した方が公式アカウントの友だちであることが必要</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Profile+｜予約・購入フォームを自動入力</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LINEの登録情報で予約・購入フォームを自動入力し、入力の手間による離脱を防ぐ</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8000" y="2016000"/>
            <a:ext cx="5040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例：不動産の来場予約・EC購入</a:t>
            </a:r>
          </a:p>
        </p:txBody>
      </p:sp>
      <p:sp>
        <p:nvSpPr>
          <p:cNvPr id="7" name="Rounded Rectangle 6"/>
          <p:cNvSpPr/>
          <p:nvPr/>
        </p:nvSpPr>
        <p:spPr>
          <a:xfrm>
            <a:off x="648000" y="2340000"/>
            <a:ext cx="2304000" cy="360000"/>
          </a:xfrm>
          <a:prstGeom prst="roundRect">
            <a:avLst>
              <a:gd name="adj" fmla="val 12000"/>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1F285A"/>
                </a:solidFill>
                <a:latin typeface="メイリオ"/>
                <a:ea typeface="メイリオ"/>
                <a:cs typeface="メイリオ"/>
              </a:rPr>
              <a:t>通常のフォーム</a:t>
            </a:r>
          </a:p>
        </p:txBody>
      </p:sp>
      <p:sp>
        <p:nvSpPr>
          <p:cNvPr id="8" name="Rounded Rectangle 7"/>
          <p:cNvSpPr/>
          <p:nvPr/>
        </p:nvSpPr>
        <p:spPr>
          <a:xfrm>
            <a:off x="3420000" y="2340000"/>
            <a:ext cx="2304000" cy="36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a:t>
            </a:r>
          </a:p>
        </p:txBody>
      </p:sp>
      <p:sp>
        <p:nvSpPr>
          <p:cNvPr id="9" name="Rounded Rectangle 8"/>
          <p:cNvSpPr/>
          <p:nvPr/>
        </p:nvSpPr>
        <p:spPr>
          <a:xfrm>
            <a:off x="648000" y="2844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氏名を入力</a:t>
            </a:r>
          </a:p>
        </p:txBody>
      </p:sp>
      <p:sp>
        <p:nvSpPr>
          <p:cNvPr id="10" name="Rounded Rectangle 9"/>
          <p:cNvSpPr/>
          <p:nvPr/>
        </p:nvSpPr>
        <p:spPr>
          <a:xfrm>
            <a:off x="3420000" y="2844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LINEで同意</a:t>
            </a:r>
          </a:p>
        </p:txBody>
      </p:sp>
      <p:sp>
        <p:nvSpPr>
          <p:cNvPr id="11" name="Rounded Rectangle 10"/>
          <p:cNvSpPr/>
          <p:nvPr/>
        </p:nvSpPr>
        <p:spPr>
          <a:xfrm>
            <a:off x="648000" y="3365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電話番号を入力</a:t>
            </a:r>
          </a:p>
        </p:txBody>
      </p:sp>
      <p:sp>
        <p:nvSpPr>
          <p:cNvPr id="12" name="Rounded Rectangle 11"/>
          <p:cNvSpPr/>
          <p:nvPr/>
        </p:nvSpPr>
        <p:spPr>
          <a:xfrm>
            <a:off x="3420000" y="3365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氏名・電話番号・住所を</a:t>
            </a:r>
          </a:p>
          <a:p>
            <a:pPr algn="ctr">
              <a:lnSpc>
                <a:spcPct val="110000"/>
              </a:lnSpc>
              <a:spcAft>
                <a:spcPts val="0"/>
              </a:spcAft>
            </a:pPr>
            <a:r>
              <a:rPr sz="1100" b="0">
                <a:solidFill>
                  <a:srgbClr val="333333"/>
                </a:solidFill>
                <a:latin typeface="メイリオ"/>
                <a:ea typeface="メイリオ"/>
                <a:cs typeface="メイリオ"/>
              </a:rPr>
              <a:t>自動入力</a:t>
            </a:r>
          </a:p>
        </p:txBody>
      </p:sp>
      <p:sp>
        <p:nvSpPr>
          <p:cNvPr id="13" name="Rounded Rectangle 12"/>
          <p:cNvSpPr/>
          <p:nvPr/>
        </p:nvSpPr>
        <p:spPr>
          <a:xfrm>
            <a:off x="648000" y="3888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住所を入力</a:t>
            </a:r>
          </a:p>
        </p:txBody>
      </p:sp>
      <p:sp>
        <p:nvSpPr>
          <p:cNvPr id="14" name="Rounded Rectangle 13"/>
          <p:cNvSpPr/>
          <p:nvPr/>
        </p:nvSpPr>
        <p:spPr>
          <a:xfrm>
            <a:off x="3420000" y="3888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内容を確認</a:t>
            </a:r>
          </a:p>
        </p:txBody>
      </p:sp>
      <p:sp>
        <p:nvSpPr>
          <p:cNvPr id="15" name="Rounded Rectangle 14"/>
          <p:cNvSpPr/>
          <p:nvPr/>
        </p:nvSpPr>
        <p:spPr>
          <a:xfrm>
            <a:off x="648000" y="4409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sp>
        <p:nvSpPr>
          <p:cNvPr id="16" name="Rounded Rectangle 15"/>
          <p:cNvSpPr/>
          <p:nvPr/>
        </p:nvSpPr>
        <p:spPr>
          <a:xfrm>
            <a:off x="3420000" y="4409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cxnSp>
        <p:nvCxnSpPr>
          <p:cNvPr id="17" name="Connector 16"/>
          <p:cNvCxnSpPr/>
          <p:nvPr/>
        </p:nvCxnSpPr>
        <p:spPr>
          <a:xfrm>
            <a:off x="3006000" y="3564000"/>
            <a:ext cx="36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Rounded Rectangle 17"/>
          <p:cNvSpPr/>
          <p:nvPr/>
        </p:nvSpPr>
        <p:spPr>
          <a:xfrm>
            <a:off x="5976000" y="2340000"/>
            <a:ext cx="3276000" cy="2412000"/>
          </a:xfrm>
          <a:prstGeom prst="roundRect">
            <a:avLst>
              <a:gd name="adj" fmla="val 6000"/>
            </a:avLst>
          </a:prstGeom>
          <a:solidFill>
            <a:srgbClr val="FFFFFF"/>
          </a:solidFill>
          <a:ln w="12700">
            <a:solidFill>
              <a:srgbClr val="7F7F7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9" name="Rectangle 18"/>
          <p:cNvSpPr/>
          <p:nvPr/>
        </p:nvSpPr>
        <p:spPr>
          <a:xfrm>
            <a:off x="6120000" y="3078000"/>
            <a:ext cx="936000" cy="936000"/>
          </a:xfrm>
          <a:prstGeom prst="rect">
            <a:avLst/>
          </a:prstGeom>
          <a:solidFill>
            <a:srgbClr val="F2F2F2"/>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900" b="0">
                <a:solidFill>
                  <a:srgbClr val="7F7F7F"/>
                </a:solidFill>
                <a:latin typeface="メイリオ"/>
                <a:ea typeface="メイリオ"/>
                <a:cs typeface="メイリオ"/>
              </a:rPr>
              <a:t>QRコード</a:t>
            </a:r>
          </a:p>
        </p:txBody>
      </p:sp>
      <p:sp>
        <p:nvSpPr>
          <p:cNvPr id="20" name="TextBox 19"/>
          <p:cNvSpPr txBox="1"/>
          <p:nvPr/>
        </p:nvSpPr>
        <p:spPr>
          <a:xfrm>
            <a:off x="7164000" y="3150000"/>
            <a:ext cx="1980000" cy="792000"/>
          </a:xfrm>
          <a:prstGeom prst="rect">
            <a:avLst/>
          </a:prstGeom>
          <a:noFill/>
        </p:spPr>
        <p:txBody>
          <a:bodyPr wrap="square" anchor="ctr" lIns="36000" rIns="36000" tIns="18000" bIns="18000">
            <a:spAutoFit/>
          </a:bodyPr>
          <a:lstStyle/>
          <a:p>
            <a:pPr algn="l">
              <a:lnSpc>
                <a:spcPct val="110000"/>
              </a:lnSpc>
              <a:spcAft>
                <a:spcPts val="200"/>
              </a:spcAft>
            </a:pPr>
            <a:r>
              <a:rPr sz="1100" b="1">
                <a:solidFill>
                  <a:srgbClr val="1F285A"/>
                </a:solidFill>
                <a:latin typeface="メイリオ"/>
                <a:ea typeface="メイリオ"/>
                <a:cs typeface="メイリオ"/>
              </a:rPr>
              <a:t>デモ動画（Profile+）</a:t>
            </a:r>
          </a:p>
          <a:p>
            <a:pPr algn="l">
              <a:lnSpc>
                <a:spcPct val="110000"/>
              </a:lnSpc>
              <a:spcAft>
                <a:spcPts val="0"/>
              </a:spcAft>
            </a:pPr>
            <a:r>
              <a:rPr sz="1000" b="0">
                <a:solidFill>
                  <a:srgbClr val="333333"/>
                </a:solidFill>
                <a:latin typeface="メイリオ"/>
                <a:ea typeface="メイリオ"/>
                <a:cs typeface="メイリオ"/>
              </a:rPr>
              <a:t>QRコードを読み取って</a:t>
            </a:r>
          </a:p>
          <a:p>
            <a:pPr algn="l">
              <a:lnSpc>
                <a:spcPct val="110000"/>
              </a:lnSpc>
              <a:spcAft>
                <a:spcPts val="0"/>
              </a:spcAft>
            </a:pPr>
            <a:r>
              <a:rPr sz="1000" b="0">
                <a:solidFill>
                  <a:srgbClr val="333333"/>
                </a:solidFill>
                <a:latin typeface="メイリオ"/>
                <a:ea typeface="メイリオ"/>
                <a:cs typeface="メイリオ"/>
              </a:rPr>
              <a:t>動画を見る</a:t>
            </a:r>
          </a:p>
        </p:txBody>
      </p:sp>
      <p:sp>
        <p:nvSpPr>
          <p:cNvPr id="21" name="Rectangle 20"/>
          <p:cNvSpPr/>
          <p:nvPr/>
        </p:nvSpPr>
        <p:spPr>
          <a:xfrm>
            <a:off x="648000" y="5040000"/>
            <a:ext cx="8604000" cy="36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1F285A"/>
                </a:solidFill>
                <a:latin typeface="メイリオ"/>
                <a:ea typeface="メイリオ"/>
                <a:cs typeface="メイリオ"/>
              </a:rPr>
              <a:t>※Profile+のご利用には、LINEヤフー株式会社による事前審査・承認が必要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期待効果｜CVR改善とLTV向上の両立</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入力の手間を減らしてCVを増やし、LINEでつながった方にリピート・追客を続ける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83999"/>
          <a:ext cx="8604000" cy="2448000"/>
        </p:xfrm>
        <a:graphic>
          <a:graphicData uri="http://schemas.openxmlformats.org/drawingml/2006/table">
            <a:tbl>
              <a:tblPr firstRow="1" bandRow="0">
                <a:tableStyleId>{5C22544A-7EE6-4342-B048-85BDC9FD1C3A}</a:tableStyleId>
              </a:tblPr>
              <a:tblGrid>
                <a:gridCol w="1800000"/>
                <a:gridCol w="4464000"/>
                <a:gridCol w="2340000"/>
              </a:tblGrid>
              <a:tr h="612000">
                <a:tc>
                  <a:txBody>
                    <a:bodyPr wrap="square"/>
                    <a:lstStyle/>
                    <a:p>
                      <a:pPr algn="ctr"/>
                      <a:r>
                        <a:rPr sz="1100" b="1">
                          <a:solidFill>
                            <a:srgbClr val="FFFFFF"/>
                          </a:solidFill>
                          <a:latin typeface="メイリオ"/>
                          <a:ea typeface="メイリオ"/>
                          <a:cs typeface="メイリオ"/>
                        </a:rPr>
                        <a:t>期待効果</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何が変わるか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関わる機能</a:t>
                      </a:r>
                    </a:p>
                  </a:txBody>
                  <a:tcPr anchor="ctr" marL="72000" marR="72000" marT="28800" marB="28800">
                    <a:solidFill>
                      <a:srgbClr val="1F285A"/>
                    </a:solidFill>
                  </a:tcPr>
                </a:tc>
              </a:tr>
              <a:tr h="612000">
                <a:tc>
                  <a:txBody>
                    <a:bodyPr wrap="square"/>
                    <a:lstStyle/>
                    <a:p>
                      <a:pPr algn="ctr"/>
                      <a:r>
                        <a:rPr sz="1200" b="1">
                          <a:solidFill>
                            <a:srgbClr val="1F285A"/>
                          </a:solidFill>
                          <a:latin typeface="メイリオ"/>
                          <a:ea typeface="メイリオ"/>
                          <a:cs typeface="メイリオ"/>
                        </a:rPr>
                        <a:t>CVR改善</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会員登録とフォーム入力のステップが減り、</a:t>
                      </a:r>
                    </a:p>
                    <a:p>
                      <a:pPr algn="l"/>
                      <a:r>
                        <a:rPr sz="1200" b="0">
                          <a:solidFill>
                            <a:srgbClr val="333333"/>
                          </a:solidFill>
                          <a:latin typeface="メイリオ"/>
                          <a:ea typeface="メイリオ"/>
                          <a:cs typeface="メイリオ"/>
                        </a:rPr>
                        <a:t>予約・購入までの離脱を抑える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友だちの増加</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ログインと同時に友だち追加を案内し、</a:t>
                      </a:r>
                    </a:p>
                    <a:p>
                      <a:pPr algn="l"/>
                      <a:r>
                        <a:rPr sz="1200" b="0">
                          <a:solidFill>
                            <a:srgbClr val="333333"/>
                          </a:solidFill>
                          <a:latin typeface="メイリオ"/>
                          <a:ea typeface="メイリオ"/>
                          <a:cs typeface="メイリオ"/>
                        </a:rPr>
                        <a:t>CV前の方ともつながる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（友だち追加オプション）</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LTV向上</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CV後もLINEで連絡が届き、</a:t>
                      </a:r>
                    </a:p>
                    <a:p>
                      <a:pPr algn="l"/>
                      <a:r>
                        <a:rPr sz="1200" b="0">
                          <a:solidFill>
                            <a:srgbClr val="333333"/>
                          </a:solidFill>
                          <a:latin typeface="メイリオ"/>
                          <a:ea typeface="メイリオ"/>
                          <a:cs typeface="メイリオ"/>
                        </a:rPr>
                        <a:t>リマインド・会員ごとの配信でリピート・追客を続ける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ID連携</a:t>
                      </a:r>
                    </a:p>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r>
            </a:tbl>
          </a:graphicData>
        </a:graphic>
      </p:graphicFrame>
      <p:sp>
        <p:nvSpPr>
          <p:cNvPr id="7" name="Rectangle 6"/>
          <p:cNvSpPr/>
          <p:nvPr/>
        </p:nvSpPr>
        <p:spPr>
          <a:xfrm>
            <a:off x="648000" y="488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入口（登録・入力）の手間を減らし、CV後もLINEでつながり続ける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費用｜LINEヤフー社の利用料と、弊社の開発・保守費用</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LINEログインの機能は無料。ID連携・Profile+の開発・保守は弊社で対応</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59999"/>
          <a:ext cx="8603999" cy="2610000"/>
        </p:xfrm>
        <a:graphic>
          <a:graphicData uri="http://schemas.openxmlformats.org/drawingml/2006/table">
            <a:tbl>
              <a:tblPr firstRow="1" bandRow="0">
                <a:tableStyleId>{5C22544A-7EE6-4342-B048-85BDC9FD1C3A}</a:tableStyleId>
              </a:tblPr>
              <a:tblGrid>
                <a:gridCol w="1872000"/>
                <a:gridCol w="2340000"/>
                <a:gridCol w="2015999"/>
                <a:gridCol w="2376000"/>
              </a:tblGrid>
              <a:tr h="522000">
                <a:tc>
                  <a:txBody>
                    <a:bodyPr wrap="square"/>
                    <a:lstStyle/>
                    <a:p>
                      <a:pPr algn="ctr"/>
                      <a:r>
                        <a:rPr sz="1100" b="1">
                          <a:solidFill>
                            <a:srgbClr val="FFFFFF"/>
                          </a:solidFill>
                          <a:latin typeface="メイリオ"/>
                          <a:ea typeface="メイリオ"/>
                          <a:cs typeface="メイリオ"/>
                        </a:rPr>
                        <a:t>区分</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項目</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初期</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月額</a:t>
                      </a:r>
                    </a:p>
                  </a:txBody>
                  <a:tcPr anchor="ctr" marL="72000" marR="72000" marT="28800" marB="28800">
                    <a:solidFill>
                      <a:srgbClr val="1F285A"/>
                    </a:solidFill>
                  </a:tcPr>
                </a:tc>
              </a:tr>
              <a:tr h="522000">
                <a:tc rowSpan="2">
                  <a:txBody>
                    <a:bodyPr wrap="square"/>
                    <a:lstStyle/>
                    <a:p>
                      <a:pPr algn="ctr"/>
                      <a:r>
                        <a:rPr sz="1200" b="1">
                          <a:solidFill>
                            <a:srgbClr val="1F285A"/>
                          </a:solidFill>
                          <a:latin typeface="メイリオ"/>
                          <a:ea typeface="メイリオ"/>
                          <a:cs typeface="メイリオ"/>
                        </a:rPr>
                        <a:t>LINEヤフー社の</a:t>
                      </a:r>
                    </a:p>
                    <a:p>
                      <a:pPr algn="ctr"/>
                      <a:r>
                        <a:rPr sz="1200" b="1">
                          <a:solidFill>
                            <a:srgbClr val="1F285A"/>
                          </a:solidFill>
                          <a:latin typeface="メイリオ"/>
                          <a:ea typeface="メイリオ"/>
                          <a:cs typeface="メイリオ"/>
                        </a:rPr>
                        <a:t>利用料</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LINEログイン</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月額プラン料金＋</a:t>
                      </a:r>
                    </a:p>
                    <a:p>
                      <a:pPr algn="l"/>
                      <a:r>
                        <a:rPr sz="1200" b="0">
                          <a:solidFill>
                            <a:srgbClr val="333333"/>
                          </a:solidFill>
                          <a:latin typeface="メイリオ"/>
                          <a:ea typeface="メイリオ"/>
                          <a:cs typeface="メイリオ"/>
                        </a:rPr>
                        <a:t>メッセージ通数に応じた費用</a:t>
                      </a:r>
                    </a:p>
                  </a:txBody>
                  <a:tcPr anchor="ctr" marL="72000" marR="72000" marT="28800" marB="28800">
                    <a:solidFill>
                      <a:srgbClr val="FFFFFF"/>
                    </a:solidFill>
                  </a:tcPr>
                </a:tc>
              </a:tr>
              <a:tr h="522000">
                <a:tc rowSpan="2">
                  <a:txBody>
                    <a:bodyPr wrap="square"/>
                    <a:lstStyle/>
                    <a:p>
                      <a:pPr algn="ctr"/>
                      <a:r>
                        <a:rPr sz="1200" b="1">
                          <a:solidFill>
                            <a:srgbClr val="1F285A"/>
                          </a:solidFill>
                          <a:latin typeface="メイリオ"/>
                          <a:ea typeface="メイリオ"/>
                          <a:cs typeface="メイリオ"/>
                        </a:rPr>
                        <a:t>弊社の</a:t>
                      </a:r>
                    </a:p>
                    <a:p>
                      <a:pPr algn="ctr"/>
                      <a:r>
                        <a:rPr sz="1200" b="1">
                          <a:solidFill>
                            <a:srgbClr val="1F285A"/>
                          </a:solidFill>
                          <a:latin typeface="メイリオ"/>
                          <a:ea typeface="メイリオ"/>
                          <a:cs typeface="メイリオ"/>
                        </a:rPr>
                        <a:t>開発・保守費用</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ID連携</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200,000円〜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50,000円〜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r>
            </a:tbl>
          </a:graphicData>
        </a:graphic>
      </p:graphicFrame>
      <p:sp>
        <p:nvSpPr>
          <p:cNvPr id="7" name="TextBox 6"/>
          <p:cNvSpPr txBox="1"/>
          <p:nvPr/>
        </p:nvSpPr>
        <p:spPr>
          <a:xfrm>
            <a:off x="648000" y="489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※LINE公式アカウントのメッセージ配信料等は、別途発生</a:t>
            </a:r>
          </a:p>
        </p:txBody>
      </p:sp>
      <p:sp>
        <p:nvSpPr>
          <p:cNvPr id="8" name="TextBox 7"/>
          <p:cNvSpPr txBox="1"/>
          <p:nvPr/>
        </p:nvSpPr>
        <p:spPr>
          <a:xfrm>
            <a:off x="648000" y="5112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※施策内容・連携範囲等により、費用は個別にお見積もりいたします。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導入の流れ｜お申込みから公開まで</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要件定義の段階でProfile+の審査申請を進め、開発・検証を経て公開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Pentagon 5"/>
          <p:cNvSpPr/>
          <p:nvPr/>
        </p:nvSpPr>
        <p:spPr>
          <a:xfrm>
            <a:off x="648000" y="2784000"/>
            <a:ext cx="2070000" cy="576000"/>
          </a:xfrm>
          <a:prstGeom prst="homePlate">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お申込み</a:t>
            </a:r>
          </a:p>
        </p:txBody>
      </p:sp>
      <p:sp>
        <p:nvSpPr>
          <p:cNvPr id="7" name="TextBox 6"/>
          <p:cNvSpPr txBox="1"/>
          <p:nvPr/>
        </p:nvSpPr>
        <p:spPr>
          <a:xfrm>
            <a:off x="720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ご要望・現在の会員登録・</a:t>
            </a:r>
          </a:p>
          <a:p>
            <a:pPr algn="ctr">
              <a:lnSpc>
                <a:spcPct val="110000"/>
              </a:lnSpc>
              <a:spcAft>
                <a:spcPts val="0"/>
              </a:spcAft>
            </a:pPr>
            <a:r>
              <a:rPr sz="1100" b="0">
                <a:solidFill>
                  <a:srgbClr val="333333"/>
                </a:solidFill>
                <a:latin typeface="メイリオ"/>
                <a:ea typeface="メイリオ"/>
                <a:cs typeface="メイリオ"/>
              </a:rPr>
              <a:t>フォームの確認</a:t>
            </a:r>
          </a:p>
        </p:txBody>
      </p:sp>
      <p:sp>
        <p:nvSpPr>
          <p:cNvPr id="8" name="Chevron 7"/>
          <p:cNvSpPr/>
          <p:nvPr/>
        </p:nvSpPr>
        <p:spPr>
          <a:xfrm>
            <a:off x="2826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要件定義・設計</a:t>
            </a:r>
          </a:p>
        </p:txBody>
      </p:sp>
      <p:sp>
        <p:nvSpPr>
          <p:cNvPr id="9" name="TextBox 8"/>
          <p:cNvSpPr txBox="1"/>
          <p:nvPr/>
        </p:nvSpPr>
        <p:spPr>
          <a:xfrm>
            <a:off x="2897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導線と連携範囲を設計</a:t>
            </a:r>
          </a:p>
          <a:p>
            <a:pPr algn="ctr">
              <a:lnSpc>
                <a:spcPct val="110000"/>
              </a:lnSpc>
              <a:spcAft>
                <a:spcPts val="0"/>
              </a:spcAft>
            </a:pPr>
            <a:r>
              <a:rPr sz="1100" b="0">
                <a:solidFill>
                  <a:srgbClr val="333333"/>
                </a:solidFill>
                <a:latin typeface="メイリオ"/>
                <a:ea typeface="メイリオ"/>
                <a:cs typeface="メイリオ"/>
              </a:rPr>
              <a:t>Profile+の審査申請</a:t>
            </a:r>
          </a:p>
        </p:txBody>
      </p:sp>
      <p:sp>
        <p:nvSpPr>
          <p:cNvPr id="10" name="Chevron 9"/>
          <p:cNvSpPr/>
          <p:nvPr/>
        </p:nvSpPr>
        <p:spPr>
          <a:xfrm>
            <a:off x="5004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開発</a:t>
            </a:r>
          </a:p>
        </p:txBody>
      </p:sp>
      <p:sp>
        <p:nvSpPr>
          <p:cNvPr id="11" name="TextBox 10"/>
          <p:cNvSpPr txBox="1"/>
          <p:nvPr/>
        </p:nvSpPr>
        <p:spPr>
          <a:xfrm>
            <a:off x="5076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LINEログイン・ID連携・</a:t>
            </a:r>
          </a:p>
          <a:p>
            <a:pPr algn="ctr">
              <a:lnSpc>
                <a:spcPct val="110000"/>
              </a:lnSpc>
              <a:spcAft>
                <a:spcPts val="0"/>
              </a:spcAft>
            </a:pPr>
            <a:r>
              <a:rPr sz="1100" b="0">
                <a:solidFill>
                  <a:srgbClr val="333333"/>
                </a:solidFill>
                <a:latin typeface="メイリオ"/>
                <a:ea typeface="メイリオ"/>
                <a:cs typeface="メイリオ"/>
              </a:rPr>
              <a:t>Profile+の実装</a:t>
            </a:r>
          </a:p>
        </p:txBody>
      </p:sp>
      <p:sp>
        <p:nvSpPr>
          <p:cNvPr id="12" name="Chevron 11"/>
          <p:cNvSpPr/>
          <p:nvPr/>
        </p:nvSpPr>
        <p:spPr>
          <a:xfrm>
            <a:off x="7182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検証・公開</a:t>
            </a:r>
          </a:p>
        </p:txBody>
      </p:sp>
      <p:sp>
        <p:nvSpPr>
          <p:cNvPr id="13" name="TextBox 12"/>
          <p:cNvSpPr txBox="1"/>
          <p:nvPr/>
        </p:nvSpPr>
        <p:spPr>
          <a:xfrm>
            <a:off x="7253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動作を確認して公開</a:t>
            </a:r>
          </a:p>
          <a:p>
            <a:pPr algn="ctr">
              <a:lnSpc>
                <a:spcPct val="110000"/>
              </a:lnSpc>
              <a:spcAft>
                <a:spcPts val="0"/>
              </a:spcAft>
            </a:pPr>
            <a:r>
              <a:rPr sz="1100" b="0">
                <a:solidFill>
                  <a:srgbClr val="333333"/>
                </a:solidFill>
                <a:latin typeface="メイリオ"/>
                <a:ea typeface="メイリオ"/>
                <a:cs typeface="メイリオ"/>
              </a:rPr>
              <a:t>公開後は配信・改善へ</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143382</TotalTime>
  <Words>1357</Words>
  <Application>Microsoft Office PowerPoint</Application>
  <PresentationFormat>A4 210 x 297 mm</PresentationFormat>
  <Paragraphs>288</Paragraphs>
  <Slides>16</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1972</cp:revision>
  <cp:lastPrinted>2022-11-01T11:38:14Z</cp:lastPrinted>
  <dcterms:created xsi:type="dcterms:W3CDTF">2015-09-04T09:21:15Z</dcterms:created>
  <dcterms:modified xsi:type="dcterms:W3CDTF">2026-10-13T08:36:49Z</dcterms:modified>
</cp:coreProperties>
</file>