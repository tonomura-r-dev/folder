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19"/>
  </p:notesMasterIdLst>
  <p:handoutMasterIdLst>
    <p:handoutMasterId r:id="rId20"/>
  </p:handoutMasterIdLst>
  <p:sldIdLst>
    <p:sldId id="2363" r:id="rId3"/>
    <p:sldId id="2211" r:id="rId4"/>
    <p:sldId id="2213" r:id="rId5"/>
    <p:sldId id="2215" r:id="rId6"/>
    <p:sldId id="398" r:id="rId7"/>
    <p:sldId id="2714" r:id="rId8"/>
    <p:sldId id="2721" r:id="rId9"/>
    <p:sldId id="2723" r:id="rId10"/>
    <p:sldId id="2761" r:id="rId11"/>
    <p:sldId id="2762" r:id="rId25"/>
    <p:sldId id="2763" r:id="rId26"/>
    <p:sldId id="2764" r:id="rId27"/>
    <p:sldId id="2765" r:id="rId28"/>
    <p:sldId id="2766" r:id="rId29"/>
    <p:sldId id="2767" r:id="rId30"/>
    <p:sldId id="2768" r:id="rId31"/>
    <p:sldId id="2769" r:id="rId3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jpeg"/><Relationship Id="rId4" Type="http://schemas.openxmlformats.org/officeDocument/2006/relationships/image" Target="../media/image15.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hyperlink" Target="line_login_profile_demo.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hyperlink" Target="line_login_profile_demo.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2281443" y="3038203"/>
            <a:ext cx="53431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LINEログイン・Profile+のご提案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47">
            <a:extLst>
              <a:ext uri="{FF2B5EF4-FFF2-40B4-BE49-F238E27FC236}">
                <a16:creationId xmlns:a16="http://schemas.microsoft.com/office/drawing/2014/main" id="{469F1EA2-F7EC-45D5-9315-EA64B9787050}"/>
              </a:ext>
            </a:extLst>
          </p:cNvPr>
          <p:cNvSpPr txBox="1">
            <a:spLocks noChangeArrowheads="1"/>
          </p:cNvSpPr>
          <p:nvPr/>
        </p:nvSpPr>
        <p:spPr>
          <a:xfrm>
            <a:off x="552193" y="135686"/>
            <a:ext cx="627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spc="300" dirty="0">
                <a:solidFill>
                  <a:srgbClr val="002060"/>
                </a:solidFill>
                <a:latin typeface="メイリオ" panose="020B0604030504040204" pitchFamily="50" charset="-128"/>
                <a:ea typeface="メイリオ" panose="020B0604030504040204" pitchFamily="50" charset="-128"/>
                <a:cs typeface="メイリオ" charset="0"/>
              </a:rPr>
              <a:t>会社概要</a:t>
            </a:r>
            <a:endParaRPr lang="ja-JP" altLang="ja-JP" sz="1600" b="1" spc="300" dirty="0">
              <a:solidFill>
                <a:srgbClr val="002060"/>
              </a:solidFill>
              <a:latin typeface="メイリオ" panose="020B0604030504040204" pitchFamily="50" charset="-128"/>
              <a:ea typeface="メイリオ" panose="020B0604030504040204" pitchFamily="50" charset="-128"/>
              <a:cs typeface="メイリオ" charset="0"/>
            </a:endParaRPr>
          </a:p>
        </p:txBody>
      </p:sp>
      <p:pic>
        <p:nvPicPr>
          <p:cNvPr id="3" name="図 2">
            <a:extLst>
              <a:ext uri="{FF2B5EF4-FFF2-40B4-BE49-F238E27FC236}">
                <a16:creationId xmlns:a16="http://schemas.microsoft.com/office/drawing/2014/main" id="{86A10E6A-0017-DD8A-6450-FFA42665D5D1}"/>
              </a:ext>
            </a:extLst>
          </p:cNvPr>
          <p:cNvPicPr>
            <a:picLocks noChangeAspect="1"/>
          </p:cNvPicPr>
          <p:nvPr/>
        </p:nvPicPr>
        <p:blipFill>
          <a:blip r:embed="rId2"/>
          <a:stretch>
            <a:fillRect/>
          </a:stretch>
        </p:blipFill>
        <p:spPr>
          <a:xfrm>
            <a:off x="0" y="726221"/>
            <a:ext cx="9906000" cy="5728287"/>
          </a:xfrm>
          <a:prstGeom prst="rect">
            <a:avLst/>
          </a:prstGeom>
        </p:spPr>
      </p:pic>
    </p:spTree>
    <p:extLst>
      <p:ext uri="{BB962C8B-B14F-4D97-AF65-F5344CB8AC3E}">
        <p14:creationId xmlns:p14="http://schemas.microsoft.com/office/powerpoint/2010/main" val="443302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テキスト&#10;&#10;自動的に生成された説明">
            <a:extLst>
              <a:ext uri="{FF2B5EF4-FFF2-40B4-BE49-F238E27FC236}">
                <a16:creationId xmlns:a16="http://schemas.microsoft.com/office/drawing/2014/main" id="{481E5471-9293-47E8-AD46-DDA0BB99FBD1}"/>
              </a:ext>
            </a:extLst>
          </p:cNvPr>
          <p:cNvPicPr>
            <a:picLocks noChangeAspect="1"/>
          </p:cNvPicPr>
          <p:nvPr/>
        </p:nvPicPr>
        <p:blipFill>
          <a:blip r:embed="rId2"/>
          <a:stretch>
            <a:fillRect/>
          </a:stretch>
        </p:blipFill>
        <p:spPr>
          <a:xfrm>
            <a:off x="0" y="624442"/>
            <a:ext cx="2407640" cy="614266"/>
          </a:xfrm>
          <a:prstGeom prst="rect">
            <a:avLst/>
          </a:prstGeom>
        </p:spPr>
      </p:pic>
      <p:sp>
        <p:nvSpPr>
          <p:cNvPr id="5" name="テキスト ボックス 47">
            <a:extLst>
              <a:ext uri="{FF2B5EF4-FFF2-40B4-BE49-F238E27FC236}">
                <a16:creationId xmlns:a16="http://schemas.microsoft.com/office/drawing/2014/main" id="{469F1EA2-F7EC-45D5-9315-EA64B9787050}"/>
              </a:ext>
            </a:extLst>
          </p:cNvPr>
          <p:cNvSpPr txBox="1">
            <a:spLocks noChangeArrowheads="1"/>
          </p:cNvSpPr>
          <p:nvPr/>
        </p:nvSpPr>
        <p:spPr>
          <a:xfrm>
            <a:off x="552193" y="135686"/>
            <a:ext cx="627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spc="300" dirty="0">
                <a:solidFill>
                  <a:srgbClr val="002060"/>
                </a:solidFill>
                <a:latin typeface="メイリオ" panose="020B0604030504040204" pitchFamily="50" charset="-128"/>
                <a:ea typeface="メイリオ" panose="020B0604030504040204" pitchFamily="50" charset="-128"/>
                <a:cs typeface="メイリオ" charset="0"/>
              </a:rPr>
              <a:t>弊社の強み</a:t>
            </a:r>
            <a:endParaRPr lang="ja-JP" altLang="ja-JP" sz="1600" b="1" spc="300" dirty="0">
              <a:solidFill>
                <a:srgbClr val="002060"/>
              </a:solidFill>
              <a:latin typeface="メイリオ" panose="020B0604030504040204" pitchFamily="50" charset="-128"/>
              <a:ea typeface="メイリオ" panose="020B0604030504040204" pitchFamily="50" charset="-128"/>
              <a:cs typeface="メイリオ" charset="0"/>
            </a:endParaRPr>
          </a:p>
        </p:txBody>
      </p:sp>
      <p:pic>
        <p:nvPicPr>
          <p:cNvPr id="4" name="図 3">
            <a:extLst>
              <a:ext uri="{FF2B5EF4-FFF2-40B4-BE49-F238E27FC236}">
                <a16:creationId xmlns:a16="http://schemas.microsoft.com/office/drawing/2014/main" id="{B21B73EE-2FA5-FD56-3F7B-C022EFAF7581}"/>
              </a:ext>
            </a:extLst>
          </p:cNvPr>
          <p:cNvPicPr>
            <a:picLocks noChangeAspect="1"/>
          </p:cNvPicPr>
          <p:nvPr/>
        </p:nvPicPr>
        <p:blipFill>
          <a:blip r:embed="rId3"/>
          <a:stretch>
            <a:fillRect/>
          </a:stretch>
        </p:blipFill>
        <p:spPr>
          <a:xfrm>
            <a:off x="0" y="1238708"/>
            <a:ext cx="9906000" cy="5225495"/>
          </a:xfrm>
          <a:prstGeom prst="rect">
            <a:avLst/>
          </a:prstGeom>
        </p:spPr>
      </p:pic>
    </p:spTree>
    <p:extLst>
      <p:ext uri="{BB962C8B-B14F-4D97-AF65-F5344CB8AC3E}">
        <p14:creationId xmlns:p14="http://schemas.microsoft.com/office/powerpoint/2010/main" val="592906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テキスト&#10;&#10;自動的に生成された説明">
            <a:extLst>
              <a:ext uri="{FF2B5EF4-FFF2-40B4-BE49-F238E27FC236}">
                <a16:creationId xmlns:a16="http://schemas.microsoft.com/office/drawing/2014/main" id="{B5FFB41A-7F1A-4C15-BDD8-599521631600}"/>
              </a:ext>
            </a:extLst>
          </p:cNvPr>
          <p:cNvPicPr>
            <a:picLocks noChangeAspect="1"/>
          </p:cNvPicPr>
          <p:nvPr/>
        </p:nvPicPr>
        <p:blipFill>
          <a:blip r:embed="rId2"/>
          <a:stretch>
            <a:fillRect/>
          </a:stretch>
        </p:blipFill>
        <p:spPr>
          <a:xfrm>
            <a:off x="0" y="675967"/>
            <a:ext cx="2348917" cy="524311"/>
          </a:xfrm>
          <a:prstGeom prst="rect">
            <a:avLst/>
          </a:prstGeom>
        </p:spPr>
      </p:pic>
      <p:pic>
        <p:nvPicPr>
          <p:cNvPr id="5" name="図 4" descr="グラフィカル ユーザー インターフェイス, アプリケーション&#10;&#10;自動的に生成された説明">
            <a:extLst>
              <a:ext uri="{FF2B5EF4-FFF2-40B4-BE49-F238E27FC236}">
                <a16:creationId xmlns:a16="http://schemas.microsoft.com/office/drawing/2014/main" id="{3EC2E04F-6D64-47B8-91F6-F5449BBED739}"/>
              </a:ext>
            </a:extLst>
          </p:cNvPr>
          <p:cNvPicPr>
            <a:picLocks noChangeAspect="1"/>
          </p:cNvPicPr>
          <p:nvPr/>
        </p:nvPicPr>
        <p:blipFill>
          <a:blip r:embed="rId3"/>
          <a:stretch>
            <a:fillRect/>
          </a:stretch>
        </p:blipFill>
        <p:spPr>
          <a:xfrm>
            <a:off x="284526" y="1283204"/>
            <a:ext cx="9336947" cy="4923996"/>
          </a:xfrm>
          <a:prstGeom prst="rect">
            <a:avLst/>
          </a:prstGeom>
        </p:spPr>
      </p:pic>
      <p:sp>
        <p:nvSpPr>
          <p:cNvPr id="6" name="テキスト ボックス 47">
            <a:extLst>
              <a:ext uri="{FF2B5EF4-FFF2-40B4-BE49-F238E27FC236}">
                <a16:creationId xmlns:a16="http://schemas.microsoft.com/office/drawing/2014/main" id="{469F1EA2-F7EC-45D5-9315-EA64B9787050}"/>
              </a:ext>
            </a:extLst>
          </p:cNvPr>
          <p:cNvSpPr txBox="1">
            <a:spLocks noChangeArrowheads="1"/>
          </p:cNvSpPr>
          <p:nvPr/>
        </p:nvSpPr>
        <p:spPr>
          <a:xfrm>
            <a:off x="552193" y="135686"/>
            <a:ext cx="627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spc="300" dirty="0">
                <a:solidFill>
                  <a:srgbClr val="002060"/>
                </a:solidFill>
                <a:latin typeface="メイリオ" panose="020B0604030504040204" pitchFamily="50" charset="-128"/>
                <a:ea typeface="メイリオ" panose="020B0604030504040204" pitchFamily="50" charset="-128"/>
                <a:cs typeface="メイリオ" charset="0"/>
              </a:rPr>
              <a:t>弊社の強み</a:t>
            </a:r>
            <a:endParaRPr lang="ja-JP" altLang="ja-JP" sz="1600" b="1" spc="300" dirty="0">
              <a:solidFill>
                <a:srgbClr val="002060"/>
              </a:solidFill>
              <a:latin typeface="メイリオ" panose="020B0604030504040204" pitchFamily="50" charset="-128"/>
              <a:ea typeface="メイリオ" panose="020B0604030504040204" pitchFamily="50" charset="-128"/>
              <a:cs typeface="メイリオ" charset="0"/>
            </a:endParaRPr>
          </a:p>
        </p:txBody>
      </p:sp>
    </p:spTree>
    <p:extLst>
      <p:ext uri="{BB962C8B-B14F-4D97-AF65-F5344CB8AC3E}">
        <p14:creationId xmlns:p14="http://schemas.microsoft.com/office/powerpoint/2010/main" val="2477323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b="87099"/>
          <a:stretch/>
        </p:blipFill>
        <p:spPr>
          <a:xfrm>
            <a:off x="1" y="621928"/>
            <a:ext cx="8615494" cy="678619"/>
          </a:xfrm>
          <a:prstGeom prst="rect">
            <a:avLst/>
          </a:prstGeom>
        </p:spPr>
      </p:pic>
      <p:pic>
        <p:nvPicPr>
          <p:cNvPr id="5" name="図 4" descr="グラフィカル ユーザー インターフェイス&#10;&#10;自動的に生成された説明">
            <a:extLst>
              <a:ext uri="{FF2B5EF4-FFF2-40B4-BE49-F238E27FC236}">
                <a16:creationId xmlns:a16="http://schemas.microsoft.com/office/drawing/2014/main" id="{E0683ADA-70FF-48DC-A744-F6F5E5760A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360" y="1346035"/>
            <a:ext cx="8688940" cy="5130939"/>
          </a:xfrm>
          <a:prstGeom prst="rect">
            <a:avLst/>
          </a:prstGeom>
        </p:spPr>
      </p:pic>
      <p:sp>
        <p:nvSpPr>
          <p:cNvPr id="9" name="テキスト ボックス 47">
            <a:extLst>
              <a:ext uri="{FF2B5EF4-FFF2-40B4-BE49-F238E27FC236}">
                <a16:creationId xmlns:a16="http://schemas.microsoft.com/office/drawing/2014/main" id="{469F1EA2-F7EC-45D5-9315-EA64B9787050}"/>
              </a:ext>
            </a:extLst>
          </p:cNvPr>
          <p:cNvSpPr txBox="1">
            <a:spLocks noChangeArrowheads="1"/>
          </p:cNvSpPr>
          <p:nvPr/>
        </p:nvSpPr>
        <p:spPr>
          <a:xfrm>
            <a:off x="552193" y="135686"/>
            <a:ext cx="627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spc="300" dirty="0">
                <a:solidFill>
                  <a:srgbClr val="002060"/>
                </a:solidFill>
                <a:latin typeface="メイリオ" panose="020B0604030504040204" pitchFamily="50" charset="-128"/>
                <a:ea typeface="メイリオ" panose="020B0604030504040204" pitchFamily="50" charset="-128"/>
                <a:cs typeface="メイリオ" charset="0"/>
              </a:rPr>
              <a:t>弊社の強み</a:t>
            </a:r>
            <a:endParaRPr lang="ja-JP" altLang="ja-JP" sz="1600" b="1" spc="300" dirty="0">
              <a:solidFill>
                <a:srgbClr val="002060"/>
              </a:solidFill>
              <a:latin typeface="メイリオ" panose="020B0604030504040204" pitchFamily="50" charset="-128"/>
              <a:ea typeface="メイリオ" panose="020B0604030504040204" pitchFamily="50" charset="-128"/>
              <a:cs typeface="メイリオ" charset="0"/>
            </a:endParaRPr>
          </a:p>
        </p:txBody>
      </p:sp>
    </p:spTree>
    <p:extLst>
      <p:ext uri="{BB962C8B-B14F-4D97-AF65-F5344CB8AC3E}">
        <p14:creationId xmlns:p14="http://schemas.microsoft.com/office/powerpoint/2010/main" val="1471059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6" b="22252"/>
          <a:stretch>
            <a:fillRect/>
          </a:stretch>
        </p:blipFill>
        <p:spPr>
          <a:xfrm>
            <a:off x="295975" y="1723516"/>
            <a:ext cx="9387073" cy="3876095"/>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1645704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5078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60ACD608-62E1-EDDE-99C7-355D55B75F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014222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他</a:t>
            </a:r>
            <a:r>
              <a:rPr kumimoji="1" lang="en-US" altLang="ja-JP" sz="1000" b="1" dirty="0">
                <a:solidFill>
                  <a:schemeClr val="tx1"/>
                </a:solidFill>
                <a:latin typeface="メイリオ" panose="020B0604030504040204" pitchFamily="50" charset="-128"/>
                <a:ea typeface="メイリオ" panose="020B0604030504040204" pitchFamily="50" charset="-128"/>
              </a:rPr>
              <a:t>CRM</a:t>
            </a:r>
            <a:r>
              <a:rPr kumimoji="1" lang="ja-JP" altLang="en-US" sz="1000" b="1"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73664"/>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84166"/>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659089"/>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15948"/>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694453"/>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73664"/>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79400"/>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694711"/>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09164"/>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646331"/>
          </a:xfrm>
          <a:prstGeom prst="rect">
            <a:avLst/>
          </a:prstGeom>
          <a:noFill/>
        </p:spPr>
        <p:txBody>
          <a:bodyPr wrap="square">
            <a:spAutoFit/>
          </a:bodyPr>
          <a:lstStyle/>
          <a:p>
            <a:pPr algn="ct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285978"/>
            <a:ext cx="4311647" cy="461665"/>
          </a:xfrm>
          <a:prstGeom prst="rect">
            <a:avLst/>
          </a:prstGeom>
          <a:noFill/>
        </p:spPr>
        <p:txBody>
          <a:bodyPr wrap="square" anchor="ctr">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683522"/>
            <a:ext cx="9005456" cy="869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600" b="1" dirty="0">
                <a:solidFill>
                  <a:schemeClr val="tx1"/>
                </a:solidFill>
                <a:latin typeface="メイリオ" panose="020B0604030504040204" pitchFamily="50" charset="-128"/>
                <a:ea typeface="メイリオ" panose="020B0604030504040204" pitchFamily="50" charset="-128"/>
              </a:rPr>
              <a:t>LINEOA</a:t>
            </a:r>
            <a:r>
              <a:rPr lang="ja-JP" altLang="en-US" sz="1600" b="1"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貴社社内運用部隊と連携して、一部業務の委託についてもご相談いただけます。</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rgbClr val="FF0000"/>
                </a:solidFill>
                <a:latin typeface="メイリオ" panose="020B0604030504040204" pitchFamily="50" charset="-128"/>
                <a:ea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600" b="1" dirty="0">
              <a:solidFill>
                <a:srgbClr val="FF0000"/>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93261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871083" y="3038203"/>
            <a:ext cx="616386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LINEログイン・Profile+導入のご提案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5329660"/>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LINEログイン・Profile+｜解決したい課題</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会員登録・フォーム入力・登録後の連絡。CVまでの3か所で、ユーザーは離脱しやすい</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48000" y="2316000"/>
            <a:ext cx="1504800" cy="684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333333"/>
                </a:solidFill>
                <a:latin typeface="メイリオ"/>
                <a:ea typeface="メイリオ"/>
                <a:cs typeface="メイリオ"/>
              </a:rPr>
              <a:t>サイト訪問</a:t>
            </a:r>
          </a:p>
        </p:txBody>
      </p:sp>
      <p:sp>
        <p:nvSpPr>
          <p:cNvPr id="7" name="Rounded Rectangle 6"/>
          <p:cNvSpPr/>
          <p:nvPr/>
        </p:nvSpPr>
        <p:spPr>
          <a:xfrm>
            <a:off x="2422800" y="2316000"/>
            <a:ext cx="1504800" cy="684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333333"/>
                </a:solidFill>
                <a:latin typeface="メイリオ"/>
                <a:ea typeface="メイリオ"/>
                <a:cs typeface="メイリオ"/>
              </a:rPr>
              <a:t>会員登録</a:t>
            </a:r>
          </a:p>
        </p:txBody>
      </p:sp>
      <p:cxnSp>
        <p:nvCxnSpPr>
          <p:cNvPr id="8" name="Connector 7"/>
          <p:cNvCxnSpPr/>
          <p:nvPr/>
        </p:nvCxnSpPr>
        <p:spPr>
          <a:xfrm>
            <a:off x="2188799" y="2658000"/>
            <a:ext cx="198001"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9" name="Rounded Rectangle 8"/>
          <p:cNvSpPr/>
          <p:nvPr/>
        </p:nvSpPr>
        <p:spPr>
          <a:xfrm>
            <a:off x="4197600" y="2316000"/>
            <a:ext cx="1504800" cy="684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333333"/>
                </a:solidFill>
                <a:latin typeface="メイリオ"/>
                <a:ea typeface="メイリオ"/>
                <a:cs typeface="メイリオ"/>
              </a:rPr>
              <a:t>予約・購入</a:t>
            </a:r>
          </a:p>
          <a:p>
            <a:pPr algn="ctr">
              <a:lnSpc>
                <a:spcPct val="110000"/>
              </a:lnSpc>
              <a:spcAft>
                <a:spcPts val="0"/>
              </a:spcAft>
            </a:pPr>
            <a:r>
              <a:rPr sz="1200" b="1">
                <a:solidFill>
                  <a:srgbClr val="333333"/>
                </a:solidFill>
                <a:latin typeface="メイリオ"/>
                <a:ea typeface="メイリオ"/>
                <a:cs typeface="メイリオ"/>
              </a:rPr>
              <a:t>フォーム</a:t>
            </a:r>
          </a:p>
        </p:txBody>
      </p:sp>
      <p:cxnSp>
        <p:nvCxnSpPr>
          <p:cNvPr id="10" name="Connector 9"/>
          <p:cNvCxnSpPr/>
          <p:nvPr/>
        </p:nvCxnSpPr>
        <p:spPr>
          <a:xfrm>
            <a:off x="3963600" y="2658000"/>
            <a:ext cx="198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5972400" y="2316000"/>
            <a:ext cx="1504800" cy="684000"/>
          </a:xfrm>
          <a:prstGeom prst="roundRect">
            <a:avLst>
              <a:gd name="adj" fmla="val 12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FFFFFF"/>
                </a:solidFill>
                <a:latin typeface="メイリオ"/>
                <a:ea typeface="メイリオ"/>
                <a:cs typeface="メイリオ"/>
              </a:rPr>
              <a:t>CV</a:t>
            </a:r>
          </a:p>
        </p:txBody>
      </p:sp>
      <p:cxnSp>
        <p:nvCxnSpPr>
          <p:cNvPr id="12" name="Connector 11"/>
          <p:cNvCxnSpPr/>
          <p:nvPr/>
        </p:nvCxnSpPr>
        <p:spPr>
          <a:xfrm>
            <a:off x="5738400" y="2658000"/>
            <a:ext cx="197999"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3" name="Rounded Rectangle 12"/>
          <p:cNvSpPr/>
          <p:nvPr/>
        </p:nvSpPr>
        <p:spPr>
          <a:xfrm>
            <a:off x="7747200" y="2316000"/>
            <a:ext cx="1504800" cy="684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333333"/>
                </a:solidFill>
                <a:latin typeface="メイリオ"/>
                <a:ea typeface="メイリオ"/>
                <a:cs typeface="メイリオ"/>
              </a:rPr>
              <a:t>その後の連絡</a:t>
            </a:r>
          </a:p>
        </p:txBody>
      </p:sp>
      <p:cxnSp>
        <p:nvCxnSpPr>
          <p:cNvPr id="14" name="Connector 13"/>
          <p:cNvCxnSpPr/>
          <p:nvPr/>
        </p:nvCxnSpPr>
        <p:spPr>
          <a:xfrm>
            <a:off x="7513200" y="2658000"/>
            <a:ext cx="197999"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3175200" y="3036000"/>
            <a:ext cx="0" cy="288000"/>
          </a:xfrm>
          <a:prstGeom prst="line">
            <a:avLst/>
          </a:prstGeom>
          <a:ln w="15875">
            <a:solidFill>
              <a:srgbClr val="7F7F7F"/>
            </a:solidFill>
            <a:tailEnd type="triangle" w="med" len="med"/>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314800" y="3360000"/>
            <a:ext cx="1720799" cy="936000"/>
          </a:xfrm>
          <a:prstGeom prst="rect">
            <a:avLst/>
          </a:prstGeom>
          <a:noFill/>
        </p:spPr>
        <p:txBody>
          <a:bodyPr wrap="square" anchor="t" lIns="36000" rIns="36000" tIns="18000" bIns="18000">
            <a:spAutoFit/>
          </a:bodyPr>
          <a:lstStyle/>
          <a:p>
            <a:pPr algn="ctr">
              <a:lnSpc>
                <a:spcPct val="110000"/>
              </a:lnSpc>
              <a:spcAft>
                <a:spcPts val="100"/>
              </a:spcAft>
            </a:pPr>
            <a:r>
              <a:rPr sz="1000" b="1">
                <a:solidFill>
                  <a:srgbClr val="7F7F7F"/>
                </a:solidFill>
                <a:latin typeface="メイリオ"/>
                <a:ea typeface="メイリオ"/>
                <a:cs typeface="メイリオ"/>
              </a:rPr>
              <a:t>離脱</a:t>
            </a:r>
          </a:p>
          <a:p>
            <a:pPr algn="ctr">
              <a:lnSpc>
                <a:spcPct val="110000"/>
              </a:lnSpc>
              <a:spcAft>
                <a:spcPts val="200"/>
              </a:spcAft>
            </a:pPr>
            <a:r>
              <a:rPr sz="1200" b="1">
                <a:solidFill>
                  <a:srgbClr val="1F285A"/>
                </a:solidFill>
                <a:latin typeface="メイリオ"/>
                <a:ea typeface="メイリオ"/>
                <a:cs typeface="メイリオ"/>
              </a:rPr>
              <a:t>会員登録の面倒さ</a:t>
            </a:r>
          </a:p>
          <a:p>
            <a:pPr algn="ctr">
              <a:lnSpc>
                <a:spcPct val="110000"/>
              </a:lnSpc>
              <a:spcAft>
                <a:spcPts val="0"/>
              </a:spcAft>
            </a:pPr>
            <a:r>
              <a:rPr sz="1100" b="0">
                <a:solidFill>
                  <a:srgbClr val="333333"/>
                </a:solidFill>
                <a:latin typeface="メイリオ"/>
                <a:ea typeface="メイリオ"/>
                <a:cs typeface="メイリオ"/>
              </a:rPr>
              <a:t>ID・パスワード・メールアドレスの入力が多い</a:t>
            </a:r>
          </a:p>
        </p:txBody>
      </p:sp>
      <p:cxnSp>
        <p:nvCxnSpPr>
          <p:cNvPr id="17" name="Connector 16"/>
          <p:cNvCxnSpPr/>
          <p:nvPr/>
        </p:nvCxnSpPr>
        <p:spPr>
          <a:xfrm>
            <a:off x="4950000" y="3036000"/>
            <a:ext cx="0" cy="288000"/>
          </a:xfrm>
          <a:prstGeom prst="line">
            <a:avLst/>
          </a:prstGeom>
          <a:ln w="15875">
            <a:solidFill>
              <a:srgbClr val="7F7F7F"/>
            </a:solidFill>
            <a:tailEnd type="triangle" w="med" len="med"/>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4089600" y="3360000"/>
            <a:ext cx="1720799" cy="936000"/>
          </a:xfrm>
          <a:prstGeom prst="rect">
            <a:avLst/>
          </a:prstGeom>
          <a:noFill/>
        </p:spPr>
        <p:txBody>
          <a:bodyPr wrap="square" anchor="t" lIns="36000" rIns="36000" tIns="18000" bIns="18000">
            <a:spAutoFit/>
          </a:bodyPr>
          <a:lstStyle/>
          <a:p>
            <a:pPr algn="ctr">
              <a:lnSpc>
                <a:spcPct val="110000"/>
              </a:lnSpc>
              <a:spcAft>
                <a:spcPts val="100"/>
              </a:spcAft>
            </a:pPr>
            <a:r>
              <a:rPr sz="1000" b="1">
                <a:solidFill>
                  <a:srgbClr val="7F7F7F"/>
                </a:solidFill>
                <a:latin typeface="メイリオ"/>
                <a:ea typeface="メイリオ"/>
                <a:cs typeface="メイリオ"/>
              </a:rPr>
              <a:t>離脱</a:t>
            </a:r>
          </a:p>
          <a:p>
            <a:pPr algn="ctr">
              <a:lnSpc>
                <a:spcPct val="110000"/>
              </a:lnSpc>
              <a:spcAft>
                <a:spcPts val="200"/>
              </a:spcAft>
            </a:pPr>
            <a:r>
              <a:rPr sz="1200" b="1">
                <a:solidFill>
                  <a:srgbClr val="1F285A"/>
                </a:solidFill>
                <a:latin typeface="メイリオ"/>
                <a:ea typeface="メイリオ"/>
                <a:cs typeface="メイリオ"/>
              </a:rPr>
              <a:t>フォーム入力時の離脱</a:t>
            </a:r>
          </a:p>
          <a:p>
            <a:pPr algn="ctr">
              <a:lnSpc>
                <a:spcPct val="110000"/>
              </a:lnSpc>
              <a:spcAft>
                <a:spcPts val="0"/>
              </a:spcAft>
            </a:pPr>
            <a:r>
              <a:rPr sz="1100" b="0">
                <a:solidFill>
                  <a:srgbClr val="333333"/>
                </a:solidFill>
                <a:latin typeface="メイリオ"/>
                <a:ea typeface="メイリオ"/>
                <a:cs typeface="メイリオ"/>
              </a:rPr>
              <a:t>氏名・電話番号・住所を一から入力</a:t>
            </a:r>
          </a:p>
        </p:txBody>
      </p:sp>
      <p:cxnSp>
        <p:nvCxnSpPr>
          <p:cNvPr id="19" name="Connector 18"/>
          <p:cNvCxnSpPr/>
          <p:nvPr/>
        </p:nvCxnSpPr>
        <p:spPr>
          <a:xfrm>
            <a:off x="8499600" y="3036000"/>
            <a:ext cx="0" cy="288000"/>
          </a:xfrm>
          <a:prstGeom prst="line">
            <a:avLst/>
          </a:prstGeom>
          <a:ln w="15875">
            <a:solidFill>
              <a:srgbClr val="7F7F7F"/>
            </a:solidFill>
            <a:tailEnd type="triangle" w="med" len="med"/>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7639200" y="3360000"/>
            <a:ext cx="1720799" cy="936000"/>
          </a:xfrm>
          <a:prstGeom prst="rect">
            <a:avLst/>
          </a:prstGeom>
          <a:noFill/>
        </p:spPr>
        <p:txBody>
          <a:bodyPr wrap="square" anchor="t" lIns="36000" rIns="36000" tIns="18000" bIns="18000">
            <a:spAutoFit/>
          </a:bodyPr>
          <a:lstStyle/>
          <a:p>
            <a:pPr algn="ctr">
              <a:lnSpc>
                <a:spcPct val="110000"/>
              </a:lnSpc>
              <a:spcAft>
                <a:spcPts val="100"/>
              </a:spcAft>
            </a:pPr>
            <a:r>
              <a:rPr sz="1000" b="1">
                <a:solidFill>
                  <a:srgbClr val="7F7F7F"/>
                </a:solidFill>
                <a:latin typeface="メイリオ"/>
                <a:ea typeface="メイリオ"/>
                <a:cs typeface="メイリオ"/>
              </a:rPr>
              <a:t>離脱</a:t>
            </a:r>
          </a:p>
          <a:p>
            <a:pPr algn="ctr">
              <a:lnSpc>
                <a:spcPct val="110000"/>
              </a:lnSpc>
              <a:spcAft>
                <a:spcPts val="200"/>
              </a:spcAft>
            </a:pPr>
            <a:r>
              <a:rPr sz="1200" b="1">
                <a:solidFill>
                  <a:srgbClr val="1F285A"/>
                </a:solidFill>
                <a:latin typeface="メイリオ"/>
                <a:ea typeface="メイリオ"/>
                <a:cs typeface="メイリオ"/>
              </a:rPr>
              <a:t>接点が切れやすい</a:t>
            </a:r>
          </a:p>
          <a:p>
            <a:pPr algn="ctr">
              <a:lnSpc>
                <a:spcPct val="110000"/>
              </a:lnSpc>
              <a:spcAft>
                <a:spcPts val="0"/>
              </a:spcAft>
            </a:pPr>
            <a:r>
              <a:rPr sz="1100" b="0">
                <a:solidFill>
                  <a:srgbClr val="333333"/>
                </a:solidFill>
                <a:latin typeface="メイリオ"/>
                <a:ea typeface="メイリオ"/>
                <a:cs typeface="メイリオ"/>
              </a:rPr>
              <a:t>予約・購入の後の
ご案内が届きにくい</a:t>
            </a:r>
          </a:p>
        </p:txBody>
      </p:sp>
      <p:sp>
        <p:nvSpPr>
          <p:cNvPr id="21" name="Rectangle 20"/>
          <p:cNvSpPr/>
          <p:nvPr/>
        </p:nvSpPr>
        <p:spPr>
          <a:xfrm>
            <a:off x="648000" y="4764000"/>
            <a:ext cx="8604000" cy="396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3か所の手間を、LINEでまとめて解消する仕組みが必要</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LINEログイン・Profile+｜全体の導線</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会員登録・友だち追加・フォーム入力の3か所の手間を、LINEでワンストップで解消</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48000" y="2160000"/>
            <a:ext cx="1059428" cy="720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333333"/>
                </a:solidFill>
                <a:latin typeface="メイリオ"/>
                <a:ea typeface="メイリオ"/>
                <a:cs typeface="メイリオ"/>
              </a:rPr>
              <a:t>サイト訪問</a:t>
            </a:r>
          </a:p>
        </p:txBody>
      </p:sp>
      <p:sp>
        <p:nvSpPr>
          <p:cNvPr id="7" name="Rounded Rectangle 6"/>
          <p:cNvSpPr/>
          <p:nvPr/>
        </p:nvSpPr>
        <p:spPr>
          <a:xfrm>
            <a:off x="1905428" y="2160000"/>
            <a:ext cx="1059428" cy="720000"/>
          </a:xfrm>
          <a:prstGeom prst="roundRect">
            <a:avLst>
              <a:gd name="adj" fmla="val 12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FFFFFF"/>
                </a:solidFill>
                <a:latin typeface="メイリオ"/>
                <a:ea typeface="メイリオ"/>
                <a:cs typeface="メイリオ"/>
              </a:rPr>
              <a:t>LINEで</a:t>
            </a:r>
          </a:p>
          <a:p>
            <a:pPr algn="ctr">
              <a:lnSpc>
                <a:spcPct val="110000"/>
              </a:lnSpc>
              <a:spcAft>
                <a:spcPts val="0"/>
              </a:spcAft>
            </a:pPr>
            <a:r>
              <a:rPr sz="1200" b="1">
                <a:solidFill>
                  <a:srgbClr val="FFFFFF"/>
                </a:solidFill>
                <a:latin typeface="メイリオ"/>
                <a:ea typeface="メイリオ"/>
                <a:cs typeface="メイリオ"/>
              </a:rPr>
              <a:t>ログイン</a:t>
            </a:r>
          </a:p>
        </p:txBody>
      </p:sp>
      <p:cxnSp>
        <p:nvCxnSpPr>
          <p:cNvPr id="8" name="Connector 7"/>
          <p:cNvCxnSpPr/>
          <p:nvPr/>
        </p:nvCxnSpPr>
        <p:spPr>
          <a:xfrm>
            <a:off x="1743428" y="2520000"/>
            <a:ext cx="126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9" name="Rounded Rectangle 8"/>
          <p:cNvSpPr/>
          <p:nvPr/>
        </p:nvSpPr>
        <p:spPr>
          <a:xfrm>
            <a:off x="3162857" y="2160000"/>
            <a:ext cx="1059428" cy="720000"/>
          </a:xfrm>
          <a:prstGeom prst="roundRect">
            <a:avLst>
              <a:gd name="adj" fmla="val 12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FFFFFF"/>
                </a:solidFill>
                <a:latin typeface="メイリオ"/>
                <a:ea typeface="メイリオ"/>
                <a:cs typeface="メイリオ"/>
              </a:rPr>
              <a:t>友だち追加</a:t>
            </a:r>
          </a:p>
        </p:txBody>
      </p:sp>
      <p:cxnSp>
        <p:nvCxnSpPr>
          <p:cNvPr id="10" name="Connector 9"/>
          <p:cNvCxnSpPr/>
          <p:nvPr/>
        </p:nvCxnSpPr>
        <p:spPr>
          <a:xfrm>
            <a:off x="3000857" y="2520000"/>
            <a:ext cx="126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4420285" y="2160000"/>
            <a:ext cx="1059428" cy="720000"/>
          </a:xfrm>
          <a:prstGeom prst="roundRect">
            <a:avLst>
              <a:gd name="adj" fmla="val 12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FFFFFF"/>
                </a:solidFill>
                <a:latin typeface="メイリオ"/>
                <a:ea typeface="メイリオ"/>
                <a:cs typeface="メイリオ"/>
              </a:rPr>
              <a:t>ID連携</a:t>
            </a:r>
          </a:p>
        </p:txBody>
      </p:sp>
      <p:cxnSp>
        <p:nvCxnSpPr>
          <p:cNvPr id="12" name="Connector 11"/>
          <p:cNvCxnSpPr/>
          <p:nvPr/>
        </p:nvCxnSpPr>
        <p:spPr>
          <a:xfrm>
            <a:off x="4258285" y="2520000"/>
            <a:ext cx="126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3" name="Rounded Rectangle 12"/>
          <p:cNvSpPr/>
          <p:nvPr/>
        </p:nvSpPr>
        <p:spPr>
          <a:xfrm>
            <a:off x="5677714" y="2160000"/>
            <a:ext cx="1059428" cy="720000"/>
          </a:xfrm>
          <a:prstGeom prst="roundRect">
            <a:avLst>
              <a:gd name="adj" fmla="val 12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FFFFFF"/>
                </a:solidFill>
                <a:latin typeface="メイリオ"/>
                <a:ea typeface="メイリオ"/>
                <a:cs typeface="メイリオ"/>
              </a:rPr>
              <a:t>Profile+で</a:t>
            </a:r>
          </a:p>
          <a:p>
            <a:pPr algn="ctr">
              <a:lnSpc>
                <a:spcPct val="110000"/>
              </a:lnSpc>
              <a:spcAft>
                <a:spcPts val="0"/>
              </a:spcAft>
            </a:pPr>
            <a:r>
              <a:rPr sz="1200" b="1">
                <a:solidFill>
                  <a:srgbClr val="FFFFFF"/>
                </a:solidFill>
                <a:latin typeface="メイリオ"/>
                <a:ea typeface="メイリオ"/>
                <a:cs typeface="メイリオ"/>
              </a:rPr>
              <a:t>自動入力</a:t>
            </a:r>
          </a:p>
        </p:txBody>
      </p:sp>
      <p:cxnSp>
        <p:nvCxnSpPr>
          <p:cNvPr id="14" name="Connector 13"/>
          <p:cNvCxnSpPr/>
          <p:nvPr/>
        </p:nvCxnSpPr>
        <p:spPr>
          <a:xfrm>
            <a:off x="5515714" y="2520000"/>
            <a:ext cx="126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6935142" y="2160000"/>
            <a:ext cx="1059428" cy="720000"/>
          </a:xfrm>
          <a:prstGeom prst="roundRect">
            <a:avLst>
              <a:gd name="adj" fmla="val 12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FFFFFF"/>
                </a:solidFill>
                <a:latin typeface="メイリオ"/>
                <a:ea typeface="メイリオ"/>
                <a:cs typeface="メイリオ"/>
              </a:rPr>
              <a:t>CV</a:t>
            </a:r>
          </a:p>
        </p:txBody>
      </p:sp>
      <p:cxnSp>
        <p:nvCxnSpPr>
          <p:cNvPr id="16" name="Connector 15"/>
          <p:cNvCxnSpPr/>
          <p:nvPr/>
        </p:nvCxnSpPr>
        <p:spPr>
          <a:xfrm>
            <a:off x="6773142" y="2520000"/>
            <a:ext cx="126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8192571" y="2160000"/>
            <a:ext cx="1059428" cy="720000"/>
          </a:xfrm>
          <a:prstGeom prst="roundRect">
            <a:avLst>
              <a:gd name="adj" fmla="val 12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FFFFFF"/>
                </a:solidFill>
                <a:latin typeface="メイリオ"/>
                <a:ea typeface="メイリオ"/>
                <a:cs typeface="メイリオ"/>
              </a:rPr>
              <a:t>LINEで</a:t>
            </a:r>
          </a:p>
          <a:p>
            <a:pPr algn="ctr">
              <a:lnSpc>
                <a:spcPct val="110000"/>
              </a:lnSpc>
              <a:spcAft>
                <a:spcPts val="0"/>
              </a:spcAft>
            </a:pPr>
            <a:r>
              <a:rPr sz="1200" b="1">
                <a:solidFill>
                  <a:srgbClr val="FFFFFF"/>
                </a:solidFill>
                <a:latin typeface="メイリオ"/>
                <a:ea typeface="メイリオ"/>
                <a:cs typeface="メイリオ"/>
              </a:rPr>
              <a:t>追客</a:t>
            </a:r>
          </a:p>
        </p:txBody>
      </p:sp>
      <p:cxnSp>
        <p:nvCxnSpPr>
          <p:cNvPr id="18" name="Connector 17"/>
          <p:cNvCxnSpPr/>
          <p:nvPr/>
        </p:nvCxnSpPr>
        <p:spPr>
          <a:xfrm>
            <a:off x="8030571" y="2520000"/>
            <a:ext cx="126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1833428" y="2952000"/>
            <a:ext cx="1203428" cy="576000"/>
          </a:xfrm>
          <a:prstGeom prst="rect">
            <a:avLst/>
          </a:prstGeom>
          <a:noFill/>
        </p:spPr>
        <p:txBody>
          <a:bodyPr wrap="square" anchor="t" lIns="36000" rIns="36000" tIns="18000" bIns="18000">
            <a:spAutoFit/>
          </a:bodyPr>
          <a:lstStyle/>
          <a:p>
            <a:pPr algn="ctr">
              <a:lnSpc>
                <a:spcPct val="110000"/>
              </a:lnSpc>
              <a:spcAft>
                <a:spcPts val="0"/>
              </a:spcAft>
            </a:pPr>
            <a:r>
              <a:rPr sz="1000" b="0">
                <a:solidFill>
                  <a:srgbClr val="333333"/>
                </a:solidFill>
                <a:latin typeface="メイリオ"/>
                <a:ea typeface="メイリオ"/>
                <a:cs typeface="メイリオ"/>
              </a:rPr>
              <a:t>ID・PWなしで</a:t>
            </a:r>
          </a:p>
          <a:p>
            <a:pPr algn="ctr">
              <a:lnSpc>
                <a:spcPct val="110000"/>
              </a:lnSpc>
              <a:spcAft>
                <a:spcPts val="0"/>
              </a:spcAft>
            </a:pPr>
            <a:r>
              <a:rPr sz="1000" b="0">
                <a:solidFill>
                  <a:srgbClr val="333333"/>
                </a:solidFill>
                <a:latin typeface="メイリオ"/>
                <a:ea typeface="メイリオ"/>
                <a:cs typeface="メイリオ"/>
              </a:rPr>
              <a:t>会員登録</a:t>
            </a:r>
          </a:p>
        </p:txBody>
      </p:sp>
      <p:sp>
        <p:nvSpPr>
          <p:cNvPr id="20" name="TextBox 19"/>
          <p:cNvSpPr txBox="1"/>
          <p:nvPr/>
        </p:nvSpPr>
        <p:spPr>
          <a:xfrm>
            <a:off x="6863142" y="2952000"/>
            <a:ext cx="1203428" cy="576000"/>
          </a:xfrm>
          <a:prstGeom prst="rect">
            <a:avLst/>
          </a:prstGeom>
          <a:noFill/>
        </p:spPr>
        <p:txBody>
          <a:bodyPr wrap="square" anchor="t" lIns="36000" rIns="36000" tIns="18000" bIns="18000">
            <a:spAutoFit/>
          </a:bodyPr>
          <a:lstStyle/>
          <a:p>
            <a:pPr algn="ctr">
              <a:lnSpc>
                <a:spcPct val="110000"/>
              </a:lnSpc>
              <a:spcAft>
                <a:spcPts val="0"/>
              </a:spcAft>
            </a:pPr>
            <a:r>
              <a:rPr sz="1000" b="0">
                <a:solidFill>
                  <a:srgbClr val="333333"/>
                </a:solidFill>
                <a:latin typeface="メイリオ"/>
                <a:ea typeface="メイリオ"/>
                <a:cs typeface="メイリオ"/>
              </a:rPr>
              <a:t>予約・購入</a:t>
            </a:r>
          </a:p>
        </p:txBody>
      </p:sp>
      <p:sp>
        <p:nvSpPr>
          <p:cNvPr id="21" name="TextBox 20"/>
          <p:cNvSpPr txBox="1"/>
          <p:nvPr/>
        </p:nvSpPr>
        <p:spPr>
          <a:xfrm>
            <a:off x="3090857" y="2952000"/>
            <a:ext cx="1203428" cy="576000"/>
          </a:xfrm>
          <a:prstGeom prst="rect">
            <a:avLst/>
          </a:prstGeom>
          <a:noFill/>
        </p:spPr>
        <p:txBody>
          <a:bodyPr wrap="square" anchor="t" lIns="36000" rIns="36000" tIns="18000" bIns="18000">
            <a:spAutoFit/>
          </a:bodyPr>
          <a:lstStyle/>
          <a:p>
            <a:pPr algn="ctr">
              <a:lnSpc>
                <a:spcPct val="110000"/>
              </a:lnSpc>
              <a:spcAft>
                <a:spcPts val="0"/>
              </a:spcAft>
            </a:pPr>
            <a:r>
              <a:rPr sz="1000" b="0">
                <a:solidFill>
                  <a:srgbClr val="333333"/>
                </a:solidFill>
                <a:latin typeface="メイリオ"/>
                <a:ea typeface="メイリオ"/>
                <a:cs typeface="メイリオ"/>
              </a:rPr>
              <a:t>同意画面で</a:t>
            </a:r>
          </a:p>
          <a:p>
            <a:pPr algn="ctr">
              <a:lnSpc>
                <a:spcPct val="110000"/>
              </a:lnSpc>
              <a:spcAft>
                <a:spcPts val="0"/>
              </a:spcAft>
            </a:pPr>
            <a:r>
              <a:rPr sz="1000" b="0">
                <a:solidFill>
                  <a:srgbClr val="333333"/>
                </a:solidFill>
                <a:latin typeface="メイリオ"/>
                <a:ea typeface="メイリオ"/>
                <a:cs typeface="メイリオ"/>
              </a:rPr>
              <a:t>同時に案内</a:t>
            </a:r>
          </a:p>
        </p:txBody>
      </p:sp>
      <p:sp>
        <p:nvSpPr>
          <p:cNvPr id="22" name="TextBox 21"/>
          <p:cNvSpPr txBox="1"/>
          <p:nvPr/>
        </p:nvSpPr>
        <p:spPr>
          <a:xfrm>
            <a:off x="4348285" y="2952000"/>
            <a:ext cx="1203428" cy="576000"/>
          </a:xfrm>
          <a:prstGeom prst="rect">
            <a:avLst/>
          </a:prstGeom>
          <a:noFill/>
        </p:spPr>
        <p:txBody>
          <a:bodyPr wrap="square" anchor="t" lIns="36000" rIns="36000" tIns="18000" bIns="18000">
            <a:spAutoFit/>
          </a:bodyPr>
          <a:lstStyle/>
          <a:p>
            <a:pPr algn="ctr">
              <a:lnSpc>
                <a:spcPct val="110000"/>
              </a:lnSpc>
              <a:spcAft>
                <a:spcPts val="0"/>
              </a:spcAft>
            </a:pPr>
            <a:r>
              <a:rPr sz="1000" b="0">
                <a:solidFill>
                  <a:srgbClr val="333333"/>
                </a:solidFill>
                <a:latin typeface="メイリオ"/>
                <a:ea typeface="メイリオ"/>
                <a:cs typeface="メイリオ"/>
              </a:rPr>
              <a:t>会員情報と</a:t>
            </a:r>
          </a:p>
          <a:p>
            <a:pPr algn="ctr">
              <a:lnSpc>
                <a:spcPct val="110000"/>
              </a:lnSpc>
              <a:spcAft>
                <a:spcPts val="0"/>
              </a:spcAft>
            </a:pPr>
            <a:r>
              <a:rPr sz="1000" b="0">
                <a:solidFill>
                  <a:srgbClr val="333333"/>
                </a:solidFill>
                <a:latin typeface="メイリオ"/>
                <a:ea typeface="メイリオ"/>
                <a:cs typeface="メイリオ"/>
              </a:rPr>
              <a:t>LINEを紐づけ</a:t>
            </a:r>
          </a:p>
        </p:txBody>
      </p:sp>
      <p:sp>
        <p:nvSpPr>
          <p:cNvPr id="23" name="TextBox 22"/>
          <p:cNvSpPr txBox="1"/>
          <p:nvPr/>
        </p:nvSpPr>
        <p:spPr>
          <a:xfrm>
            <a:off x="5605714" y="2952000"/>
            <a:ext cx="1203428" cy="576000"/>
          </a:xfrm>
          <a:prstGeom prst="rect">
            <a:avLst/>
          </a:prstGeom>
          <a:noFill/>
        </p:spPr>
        <p:txBody>
          <a:bodyPr wrap="square" anchor="t" lIns="36000" rIns="36000" tIns="18000" bIns="18000">
            <a:spAutoFit/>
          </a:bodyPr>
          <a:lstStyle/>
          <a:p>
            <a:pPr algn="ctr">
              <a:lnSpc>
                <a:spcPct val="110000"/>
              </a:lnSpc>
              <a:spcAft>
                <a:spcPts val="0"/>
              </a:spcAft>
            </a:pPr>
            <a:r>
              <a:rPr sz="1000" b="0">
                <a:solidFill>
                  <a:srgbClr val="333333"/>
                </a:solidFill>
                <a:latin typeface="メイリオ"/>
                <a:ea typeface="メイリオ"/>
                <a:cs typeface="メイリオ"/>
              </a:rPr>
              <a:t>フォームの</a:t>
            </a:r>
          </a:p>
          <a:p>
            <a:pPr algn="ctr">
              <a:lnSpc>
                <a:spcPct val="110000"/>
              </a:lnSpc>
              <a:spcAft>
                <a:spcPts val="0"/>
              </a:spcAft>
            </a:pPr>
            <a:r>
              <a:rPr sz="1000" b="0">
                <a:solidFill>
                  <a:srgbClr val="333333"/>
                </a:solidFill>
                <a:latin typeface="メイリオ"/>
                <a:ea typeface="メイリオ"/>
                <a:cs typeface="メイリオ"/>
              </a:rPr>
              <a:t>入力の手間を削減</a:t>
            </a:r>
          </a:p>
        </p:txBody>
      </p:sp>
      <p:sp>
        <p:nvSpPr>
          <p:cNvPr id="24" name="TextBox 23"/>
          <p:cNvSpPr txBox="1"/>
          <p:nvPr/>
        </p:nvSpPr>
        <p:spPr>
          <a:xfrm>
            <a:off x="8120571" y="2952000"/>
            <a:ext cx="1203428" cy="576000"/>
          </a:xfrm>
          <a:prstGeom prst="rect">
            <a:avLst/>
          </a:prstGeom>
          <a:noFill/>
        </p:spPr>
        <p:txBody>
          <a:bodyPr wrap="square" anchor="t" lIns="36000" rIns="36000" tIns="18000" bIns="18000">
            <a:spAutoFit/>
          </a:bodyPr>
          <a:lstStyle/>
          <a:p>
            <a:pPr algn="ctr">
              <a:lnSpc>
                <a:spcPct val="110000"/>
              </a:lnSpc>
              <a:spcAft>
                <a:spcPts val="0"/>
              </a:spcAft>
            </a:pPr>
            <a:r>
              <a:rPr sz="1000" b="0">
                <a:solidFill>
                  <a:srgbClr val="333333"/>
                </a:solidFill>
                <a:latin typeface="メイリオ"/>
                <a:ea typeface="メイリオ"/>
                <a:cs typeface="メイリオ"/>
              </a:rPr>
              <a:t>リマインド・</a:t>
            </a:r>
          </a:p>
          <a:p>
            <a:pPr algn="ctr">
              <a:lnSpc>
                <a:spcPct val="110000"/>
              </a:lnSpc>
              <a:spcAft>
                <a:spcPts val="0"/>
              </a:spcAft>
            </a:pPr>
            <a:r>
              <a:rPr sz="1000" b="0">
                <a:solidFill>
                  <a:srgbClr val="333333"/>
                </a:solidFill>
                <a:latin typeface="メイリオ"/>
                <a:ea typeface="メイリオ"/>
                <a:cs typeface="メイリオ"/>
              </a:rPr>
              <a:t>会員ごとの配信</a:t>
            </a:r>
          </a:p>
        </p:txBody>
      </p:sp>
      <p:graphicFrame>
        <p:nvGraphicFramePr>
          <p:cNvPr id="25" name="Table 24"/>
          <p:cNvGraphicFramePr>
            <a:graphicFrameLocks noGrp="1"/>
          </p:cNvGraphicFramePr>
          <p:nvPr/>
        </p:nvGraphicFramePr>
        <p:xfrm>
          <a:off x="648000" y="3780000"/>
          <a:ext cx="8603998" cy="1368000"/>
        </p:xfrm>
        <a:graphic>
          <a:graphicData uri="http://schemas.openxmlformats.org/drawingml/2006/table">
            <a:tbl>
              <a:tblPr firstRow="1" bandRow="0">
                <a:tableStyleId>{5C22544A-7EE6-4342-B048-85BDC9FD1C3A}</a:tableStyleId>
              </a:tblPr>
              <a:tblGrid>
                <a:gridCol w="1800000"/>
                <a:gridCol w="3401999"/>
                <a:gridCol w="3401999"/>
              </a:tblGrid>
              <a:tr h="342000">
                <a:tc>
                  <a:txBody>
                    <a:bodyPr wrap="square"/>
                    <a:lstStyle/>
                    <a:p>
                      <a:pPr algn="ctr"/>
                      <a:r>
                        <a:rPr sz="1100" b="1">
                          <a:solidFill>
                            <a:srgbClr val="FFFFFF"/>
                          </a:solidFill>
                          <a:latin typeface="メイリオ"/>
                          <a:ea typeface="メイリオ"/>
                          <a:cs typeface="メイリオ"/>
                        </a:rPr>
                        <a:t>手間がかかる所</a:t>
                      </a:r>
                    </a:p>
                  </a:txBody>
                  <a:tcPr anchor="ctr" marL="72000" marR="72000" marT="28800" marB="28800">
                    <a:solidFill>
                      <a:srgbClr val="1F285A"/>
                    </a:solidFill>
                  </a:tcPr>
                </a:tc>
                <a:tc>
                  <a:txBody>
                    <a:bodyPr wrap="square"/>
                    <a:lstStyle/>
                    <a:p>
                      <a:pPr algn="ctr"/>
                      <a:r>
                        <a:rPr sz="1100" b="1">
                          <a:solidFill>
                            <a:srgbClr val="FFFFFF"/>
                          </a:solidFill>
                          <a:latin typeface="メイリオ"/>
                          <a:ea typeface="メイリオ"/>
                          <a:cs typeface="メイリオ"/>
                        </a:rPr>
                        <a:t>これまで</a:t>
                      </a:r>
                    </a:p>
                  </a:txBody>
                  <a:tcPr anchor="ctr" marL="72000" marR="72000" marT="28800" marB="28800">
                    <a:solidFill>
                      <a:srgbClr val="1F285A"/>
                    </a:solidFill>
                  </a:tcPr>
                </a:tc>
                <a:tc>
                  <a:txBody>
                    <a:bodyPr wrap="square"/>
                    <a:lstStyle/>
                    <a:p>
                      <a:pPr algn="ctr"/>
                      <a:r>
                        <a:rPr sz="1100" b="1">
                          <a:solidFill>
                            <a:srgbClr val="FFFFFF"/>
                          </a:solidFill>
                          <a:latin typeface="メイリオ"/>
                          <a:ea typeface="メイリオ"/>
                          <a:cs typeface="メイリオ"/>
                        </a:rPr>
                        <a:t>LINEログイン・Profile+の導入後</a:t>
                      </a:r>
                    </a:p>
                  </a:txBody>
                  <a:tcPr anchor="ctr" marL="72000" marR="72000" marT="28800" marB="28800">
                    <a:solidFill>
                      <a:srgbClr val="1F285A"/>
                    </a:solidFill>
                  </a:tcPr>
                </a:tc>
              </a:tr>
              <a:tr h="342000">
                <a:tc>
                  <a:txBody>
                    <a:bodyPr wrap="square"/>
                    <a:lstStyle/>
                    <a:p>
                      <a:pPr algn="ctr"/>
                      <a:r>
                        <a:rPr sz="1100" b="1">
                          <a:solidFill>
                            <a:srgbClr val="1F285A"/>
                          </a:solidFill>
                          <a:latin typeface="メイリオ"/>
                          <a:ea typeface="メイリオ"/>
                          <a:cs typeface="メイリオ"/>
                        </a:rPr>
                        <a:t>会員登録</a:t>
                      </a:r>
                    </a:p>
                  </a:txBody>
                  <a:tcPr anchor="ctr" marL="72000" marR="72000" marT="28800" marB="28800">
                    <a:solidFill>
                      <a:srgbClr val="F2F2F2"/>
                    </a:solidFill>
                  </a:tcPr>
                </a:tc>
                <a:tc>
                  <a:txBody>
                    <a:bodyPr wrap="square"/>
                    <a:lstStyle/>
                    <a:p>
                      <a:pPr algn="l"/>
                      <a:r>
                        <a:rPr sz="1100" b="0">
                          <a:solidFill>
                            <a:srgbClr val="333333"/>
                          </a:solidFill>
                          <a:latin typeface="メイリオ"/>
                          <a:ea typeface="メイリオ"/>
                          <a:cs typeface="メイリオ"/>
                        </a:rPr>
                        <a:t>ID・パスワード・メールアドレスを入力</a:t>
                      </a:r>
                    </a:p>
                  </a:txBody>
                  <a:tcPr anchor="ctr" marL="72000" marR="72000" marT="28800" marB="28800">
                    <a:solidFill>
                      <a:srgbClr val="FFFFFF"/>
                    </a:solidFill>
                  </a:tcPr>
                </a:tc>
                <a:tc>
                  <a:txBody>
                    <a:bodyPr wrap="square"/>
                    <a:lstStyle/>
                    <a:p>
                      <a:pPr algn="l"/>
                      <a:r>
                        <a:rPr sz="1100" b="0">
                          <a:solidFill>
                            <a:srgbClr val="333333"/>
                          </a:solidFill>
                          <a:latin typeface="メイリオ"/>
                          <a:ea typeface="メイリオ"/>
                          <a:cs typeface="メイリオ"/>
                        </a:rPr>
                        <a:t>「LINEでログイン」ボタンから登録</a:t>
                      </a:r>
                    </a:p>
                  </a:txBody>
                  <a:tcPr anchor="ctr" marL="72000" marR="72000" marT="28800" marB="28800">
                    <a:solidFill>
                      <a:srgbClr val="FFFFFF"/>
                    </a:solidFill>
                  </a:tcPr>
                </a:tc>
              </a:tr>
              <a:tr h="342000">
                <a:tc>
                  <a:txBody>
                    <a:bodyPr wrap="square"/>
                    <a:lstStyle/>
                    <a:p>
                      <a:pPr algn="ctr"/>
                      <a:r>
                        <a:rPr sz="1100" b="1">
                          <a:solidFill>
                            <a:srgbClr val="1F285A"/>
                          </a:solidFill>
                          <a:latin typeface="メイリオ"/>
                          <a:ea typeface="メイリオ"/>
                          <a:cs typeface="メイリオ"/>
                        </a:rPr>
                        <a:t>友だち追加</a:t>
                      </a:r>
                    </a:p>
                  </a:txBody>
                  <a:tcPr anchor="ctr" marL="72000" marR="72000" marT="28800" marB="28800">
                    <a:solidFill>
                      <a:srgbClr val="F2F2F2"/>
                    </a:solidFill>
                  </a:tcPr>
                </a:tc>
                <a:tc>
                  <a:txBody>
                    <a:bodyPr wrap="square"/>
                    <a:lstStyle/>
                    <a:p>
                      <a:pPr algn="l"/>
                      <a:r>
                        <a:rPr sz="1100" b="0">
                          <a:solidFill>
                            <a:srgbClr val="333333"/>
                          </a:solidFill>
                          <a:latin typeface="メイリオ"/>
                          <a:ea typeface="メイリオ"/>
                          <a:cs typeface="メイリオ"/>
                        </a:rPr>
                        <a:t>サイトとは別に、LINEで友だち追加</a:t>
                      </a:r>
                    </a:p>
                  </a:txBody>
                  <a:tcPr anchor="ctr" marL="72000" marR="72000" marT="28800" marB="28800">
                    <a:solidFill>
                      <a:srgbClr val="FFFFFF"/>
                    </a:solidFill>
                  </a:tcPr>
                </a:tc>
                <a:tc>
                  <a:txBody>
                    <a:bodyPr wrap="square"/>
                    <a:lstStyle/>
                    <a:p>
                      <a:pPr algn="l"/>
                      <a:r>
                        <a:rPr sz="1100" b="0">
                          <a:solidFill>
                            <a:srgbClr val="333333"/>
                          </a:solidFill>
                          <a:latin typeface="メイリオ"/>
                          <a:ea typeface="メイリオ"/>
                          <a:cs typeface="メイリオ"/>
                        </a:rPr>
                        <a:t>ログインの同意画面で、同時に案内</a:t>
                      </a:r>
                    </a:p>
                  </a:txBody>
                  <a:tcPr anchor="ctr" marL="72000" marR="72000" marT="28800" marB="28800">
                    <a:solidFill>
                      <a:srgbClr val="FFFFFF"/>
                    </a:solidFill>
                  </a:tcPr>
                </a:tc>
              </a:tr>
              <a:tr h="342000">
                <a:tc>
                  <a:txBody>
                    <a:bodyPr wrap="square"/>
                    <a:lstStyle/>
                    <a:p>
                      <a:pPr algn="ctr"/>
                      <a:r>
                        <a:rPr sz="1100" b="1">
                          <a:solidFill>
                            <a:srgbClr val="1F285A"/>
                          </a:solidFill>
                          <a:latin typeface="メイリオ"/>
                          <a:ea typeface="メイリオ"/>
                          <a:cs typeface="メイリオ"/>
                        </a:rPr>
                        <a:t>フォーム入力</a:t>
                      </a:r>
                    </a:p>
                  </a:txBody>
                  <a:tcPr anchor="ctr" marL="72000" marR="72000" marT="28800" marB="28800">
                    <a:solidFill>
                      <a:srgbClr val="F2F2F2"/>
                    </a:solidFill>
                  </a:tcPr>
                </a:tc>
                <a:tc>
                  <a:txBody>
                    <a:bodyPr wrap="square"/>
                    <a:lstStyle/>
                    <a:p>
                      <a:pPr algn="l"/>
                      <a:r>
                        <a:rPr sz="1100" b="0">
                          <a:solidFill>
                            <a:srgbClr val="333333"/>
                          </a:solidFill>
                          <a:latin typeface="メイリオ"/>
                          <a:ea typeface="メイリオ"/>
                          <a:cs typeface="メイリオ"/>
                        </a:rPr>
                        <a:t>氏名・電話番号・住所を一から入力</a:t>
                      </a:r>
                    </a:p>
                  </a:txBody>
                  <a:tcPr anchor="ctr" marL="72000" marR="72000" marT="28800" marB="28800">
                    <a:solidFill>
                      <a:srgbClr val="FFFFFF"/>
                    </a:solidFill>
                  </a:tcPr>
                </a:tc>
                <a:tc>
                  <a:txBody>
                    <a:bodyPr wrap="square"/>
                    <a:lstStyle/>
                    <a:p>
                      <a:pPr algn="l"/>
                      <a:r>
                        <a:rPr sz="1100" b="0">
                          <a:solidFill>
                            <a:srgbClr val="333333"/>
                          </a:solidFill>
                          <a:latin typeface="メイリオ"/>
                          <a:ea typeface="メイリオ"/>
                          <a:cs typeface="メイリオ"/>
                        </a:rPr>
                        <a:t>LINEの登録情報で自動入力</a:t>
                      </a:r>
                    </a:p>
                  </a:txBody>
                  <a:tcPr anchor="ctr" marL="72000" marR="72000" marT="28800" marB="28800">
                    <a:solidFill>
                      <a:srgbClr val="FFFFFF"/>
                    </a:solidFill>
                  </a:tcPr>
                </a:tc>
              </a:tr>
            </a:tbl>
          </a:graphicData>
        </a:graphic>
      </p:graphicFrame>
      <p:sp>
        <p:nvSpPr>
          <p:cNvPr id="26" name="TextBox 25"/>
          <p:cNvSpPr txBox="1"/>
          <p:nvPr/>
        </p:nvSpPr>
        <p:spPr>
          <a:xfrm>
            <a:off x="648000" y="5256000"/>
            <a:ext cx="8604000" cy="216000"/>
          </a:xfrm>
          <a:prstGeom prst="rect">
            <a:avLst/>
          </a:prstGeom>
          <a:noFill/>
        </p:spPr>
        <p:txBody>
          <a:bodyPr wrap="square" anchor="t" lIns="36000" rIns="36000" tIns="18000" bIns="18000">
            <a:spAutoFit/>
          </a:bodyPr>
          <a:lstStyle/>
          <a:p>
            <a:pPr algn="l">
              <a:lnSpc>
                <a:spcPct val="110000"/>
              </a:lnSpc>
              <a:spcAft>
                <a:spcPts val="0"/>
              </a:spcAft>
            </a:pPr>
            <a:r>
              <a:rPr sz="900" b="0">
                <a:solidFill>
                  <a:srgbClr val="7F7F7F"/>
                </a:solidFill>
                <a:latin typeface="メイリオ"/>
                <a:ea typeface="メイリオ"/>
                <a:cs typeface="メイリオ"/>
              </a:rPr>
              <a:t>※緑はLINEの機能。友だち追加は、同意画面のチェックを外さずにログインした方が対象</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LINEログイン｜ワンタップで登録＋友だち追加</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「LINEでログイン」から、ID・パスワードなしで登録＋友だち追加まで案内</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48000" y="1799999"/>
            <a:ext cx="432000" cy="432000"/>
          </a:xfrm>
          <a:prstGeom prst="ellipse">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1</a:t>
            </a:r>
          </a:p>
        </p:txBody>
      </p:sp>
      <p:sp>
        <p:nvSpPr>
          <p:cNvPr id="7" name="TextBox 6"/>
          <p:cNvSpPr txBox="1"/>
          <p:nvPr/>
        </p:nvSpPr>
        <p:spPr>
          <a:xfrm>
            <a:off x="1224000" y="1674000"/>
            <a:ext cx="4536000" cy="720000"/>
          </a:xfrm>
          <a:prstGeom prst="rect">
            <a:avLst/>
          </a:prstGeom>
          <a:noFill/>
        </p:spPr>
        <p:txBody>
          <a:bodyPr wrap="square" anchor="ctr" lIns="36000" rIns="36000" tIns="18000" bIns="18000">
            <a:spAutoFit/>
          </a:bodyPr>
          <a:lstStyle/>
          <a:p>
            <a:pPr algn="l">
              <a:lnSpc>
                <a:spcPct val="110000"/>
              </a:lnSpc>
              <a:spcAft>
                <a:spcPts val="300"/>
              </a:spcAft>
            </a:pPr>
            <a:r>
              <a:rPr sz="1300" b="1">
                <a:solidFill>
                  <a:srgbClr val="1F285A"/>
                </a:solidFill>
                <a:latin typeface="メイリオ"/>
                <a:ea typeface="メイリオ"/>
                <a:cs typeface="メイリオ"/>
              </a:rPr>
              <a:t>サイトの「LINEでログイン」ボタンをタップ</a:t>
            </a:r>
          </a:p>
          <a:p>
            <a:pPr algn="l">
              <a:lnSpc>
                <a:spcPct val="110000"/>
              </a:lnSpc>
              <a:spcAft>
                <a:spcPts val="0"/>
              </a:spcAft>
            </a:pPr>
            <a:r>
              <a:rPr sz="1100" b="0">
                <a:solidFill>
                  <a:srgbClr val="333333"/>
                </a:solidFill>
                <a:latin typeface="メイリオ"/>
                <a:ea typeface="メイリオ"/>
                <a:cs typeface="メイリオ"/>
              </a:rPr>
              <a:t>会員登録・ログインのページにボタンを設置</a:t>
            </a:r>
          </a:p>
        </p:txBody>
      </p:sp>
      <p:cxnSp>
        <p:nvCxnSpPr>
          <p:cNvPr id="8" name="Connector 7"/>
          <p:cNvCxnSpPr/>
          <p:nvPr/>
        </p:nvCxnSpPr>
        <p:spPr>
          <a:xfrm>
            <a:off x="864000" y="2267999"/>
            <a:ext cx="0" cy="216001"/>
          </a:xfrm>
          <a:prstGeom prst="line">
            <a:avLst/>
          </a:prstGeom>
          <a:ln w="19050">
            <a:solidFill>
              <a:srgbClr val="06C755"/>
            </a:solidFill>
            <a:tailEnd type="triangle" w="med" len="med"/>
          </a:ln>
        </p:spPr>
        <p:style>
          <a:lnRef idx="2">
            <a:schemeClr val="accent1"/>
          </a:lnRef>
          <a:fillRef idx="0">
            <a:schemeClr val="accent1"/>
          </a:fillRef>
          <a:effectRef idx="0">
            <a:schemeClr val="accent1"/>
          </a:effectRef>
          <a:fontRef idx="minor">
            <a:schemeClr val="tx1"/>
          </a:fontRef>
        </p:style>
      </p:cxnSp>
      <p:sp>
        <p:nvSpPr>
          <p:cNvPr id="9" name="Oval 8"/>
          <p:cNvSpPr/>
          <p:nvPr/>
        </p:nvSpPr>
        <p:spPr>
          <a:xfrm>
            <a:off x="648000" y="2627999"/>
            <a:ext cx="432000" cy="432000"/>
          </a:xfrm>
          <a:prstGeom prst="ellipse">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2</a:t>
            </a:r>
          </a:p>
        </p:txBody>
      </p:sp>
      <p:sp>
        <p:nvSpPr>
          <p:cNvPr id="10" name="TextBox 9"/>
          <p:cNvSpPr txBox="1"/>
          <p:nvPr/>
        </p:nvSpPr>
        <p:spPr>
          <a:xfrm>
            <a:off x="1224000" y="2502000"/>
            <a:ext cx="4536000" cy="720000"/>
          </a:xfrm>
          <a:prstGeom prst="rect">
            <a:avLst/>
          </a:prstGeom>
          <a:noFill/>
        </p:spPr>
        <p:txBody>
          <a:bodyPr wrap="square" anchor="ctr" lIns="36000" rIns="36000" tIns="18000" bIns="18000">
            <a:spAutoFit/>
          </a:bodyPr>
          <a:lstStyle/>
          <a:p>
            <a:pPr algn="l">
              <a:lnSpc>
                <a:spcPct val="110000"/>
              </a:lnSpc>
              <a:spcAft>
                <a:spcPts val="300"/>
              </a:spcAft>
            </a:pPr>
            <a:r>
              <a:rPr sz="1300" b="1">
                <a:solidFill>
                  <a:srgbClr val="1F285A"/>
                </a:solidFill>
                <a:latin typeface="メイリオ"/>
                <a:ea typeface="メイリオ"/>
                <a:cs typeface="メイリオ"/>
              </a:rPr>
              <a:t>LINEの同意画面</a:t>
            </a:r>
          </a:p>
          <a:p>
            <a:pPr algn="l">
              <a:lnSpc>
                <a:spcPct val="110000"/>
              </a:lnSpc>
              <a:spcAft>
                <a:spcPts val="0"/>
              </a:spcAft>
            </a:pPr>
            <a:r>
              <a:rPr sz="1100" b="0">
                <a:solidFill>
                  <a:srgbClr val="333333"/>
                </a:solidFill>
                <a:latin typeface="メイリオ"/>
                <a:ea typeface="メイリオ"/>
                <a:cs typeface="メイリオ"/>
              </a:rPr>
              <a:t>友だち追加のチェックボックスを表示（初期状態はチェックあり）</a:t>
            </a:r>
          </a:p>
        </p:txBody>
      </p:sp>
      <p:cxnSp>
        <p:nvCxnSpPr>
          <p:cNvPr id="11" name="Connector 10"/>
          <p:cNvCxnSpPr/>
          <p:nvPr/>
        </p:nvCxnSpPr>
        <p:spPr>
          <a:xfrm>
            <a:off x="864000" y="3096000"/>
            <a:ext cx="0" cy="216000"/>
          </a:xfrm>
          <a:prstGeom prst="line">
            <a:avLst/>
          </a:prstGeom>
          <a:ln w="19050">
            <a:solidFill>
              <a:srgbClr val="06C755"/>
            </a:solidFill>
            <a:tailEnd type="triangle" w="med" len="med"/>
          </a:ln>
        </p:spPr>
        <p:style>
          <a:lnRef idx="2">
            <a:schemeClr val="accent1"/>
          </a:lnRef>
          <a:fillRef idx="0">
            <a:schemeClr val="accent1"/>
          </a:fillRef>
          <a:effectRef idx="0">
            <a:schemeClr val="accent1"/>
          </a:effectRef>
          <a:fontRef idx="minor">
            <a:schemeClr val="tx1"/>
          </a:fontRef>
        </p:style>
      </p:cxnSp>
      <p:sp>
        <p:nvSpPr>
          <p:cNvPr id="12" name="Oval 11"/>
          <p:cNvSpPr/>
          <p:nvPr/>
        </p:nvSpPr>
        <p:spPr>
          <a:xfrm>
            <a:off x="648000" y="3456000"/>
            <a:ext cx="432000" cy="432000"/>
          </a:xfrm>
          <a:prstGeom prst="ellipse">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3</a:t>
            </a:r>
          </a:p>
        </p:txBody>
      </p:sp>
      <p:sp>
        <p:nvSpPr>
          <p:cNvPr id="13" name="TextBox 12"/>
          <p:cNvSpPr txBox="1"/>
          <p:nvPr/>
        </p:nvSpPr>
        <p:spPr>
          <a:xfrm>
            <a:off x="1224000" y="3330000"/>
            <a:ext cx="4536000" cy="720000"/>
          </a:xfrm>
          <a:prstGeom prst="rect">
            <a:avLst/>
          </a:prstGeom>
          <a:noFill/>
        </p:spPr>
        <p:txBody>
          <a:bodyPr wrap="square" anchor="ctr" lIns="36000" rIns="36000" tIns="18000" bIns="18000">
            <a:spAutoFit/>
          </a:bodyPr>
          <a:lstStyle/>
          <a:p>
            <a:pPr algn="l">
              <a:lnSpc>
                <a:spcPct val="110000"/>
              </a:lnSpc>
              <a:spcAft>
                <a:spcPts val="300"/>
              </a:spcAft>
            </a:pPr>
            <a:r>
              <a:rPr sz="1300" b="1">
                <a:solidFill>
                  <a:srgbClr val="1F285A"/>
                </a:solidFill>
                <a:latin typeface="メイリオ"/>
                <a:ea typeface="メイリオ"/>
                <a:cs typeface="メイリオ"/>
              </a:rPr>
              <a:t>登録完了＋公式アカウントの友だちに</a:t>
            </a:r>
          </a:p>
          <a:p>
            <a:pPr algn="l">
              <a:lnSpc>
                <a:spcPct val="110000"/>
              </a:lnSpc>
              <a:spcAft>
                <a:spcPts val="0"/>
              </a:spcAft>
            </a:pPr>
            <a:r>
              <a:rPr sz="1100" b="0">
                <a:solidFill>
                  <a:srgbClr val="333333"/>
                </a:solidFill>
                <a:latin typeface="メイリオ"/>
                <a:ea typeface="メイリオ"/>
                <a:cs typeface="メイリオ"/>
              </a:rPr>
              <a:t>チェックを外さずにログインした方が、そのまま友だちに</a:t>
            </a:r>
          </a:p>
        </p:txBody>
      </p:sp>
      <p:sp>
        <p:nvSpPr>
          <p:cNvPr id="14" name="Rounded Rectangle 13"/>
          <p:cNvSpPr/>
          <p:nvPr/>
        </p:nvSpPr>
        <p:spPr>
          <a:xfrm>
            <a:off x="5976000" y="1710000"/>
            <a:ext cx="3276000" cy="230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5" name="TextBox 14"/>
          <p:cNvSpPr txBox="1"/>
          <p:nvPr/>
        </p:nvSpPr>
        <p:spPr>
          <a:xfrm>
            <a:off x="6156000" y="2142000"/>
            <a:ext cx="2916000" cy="720000"/>
          </a:xfrm>
          <a:prstGeom prst="rect">
            <a:avLst/>
          </a:prstGeom>
          <a:noFill/>
        </p:spPr>
        <p:txBody>
          <a:bodyPr wrap="square" anchor="b" lIns="36000" rIns="36000" tIns="18000" bIns="18000">
            <a:spAutoFit/>
          </a:bodyPr>
          <a:lstStyle/>
          <a:p>
            <a:pPr algn="ctr">
              <a:lnSpc>
                <a:spcPct val="110000"/>
              </a:lnSpc>
              <a:spcAft>
                <a:spcPts val="400"/>
              </a:spcAft>
            </a:pPr>
            <a:r>
              <a:rPr sz="1200" b="1">
                <a:solidFill>
                  <a:srgbClr val="1F285A"/>
                </a:solidFill>
                <a:latin typeface="メイリオ"/>
                <a:ea typeface="メイリオ"/>
                <a:cs typeface="メイリオ"/>
              </a:rPr>
              <a:t>体験デモ（LINEログイン）</a:t>
            </a:r>
          </a:p>
          <a:p>
            <a:pPr algn="ctr">
              <a:lnSpc>
                <a:spcPct val="110000"/>
              </a:lnSpc>
              <a:spcAft>
                <a:spcPts val="0"/>
              </a:spcAft>
            </a:pPr>
            <a:r>
              <a:rPr sz="1050" b="0">
                <a:solidFill>
                  <a:srgbClr val="333333"/>
                </a:solidFill>
                <a:latin typeface="メイリオ"/>
                <a:ea typeface="メイリオ"/>
                <a:cs typeface="メイリオ"/>
              </a:rPr>
              <a:t>画面を操作しながら、</a:t>
            </a:r>
          </a:p>
          <a:p>
            <a:pPr algn="ctr">
              <a:lnSpc>
                <a:spcPct val="110000"/>
              </a:lnSpc>
              <a:spcAft>
                <a:spcPts val="0"/>
              </a:spcAft>
            </a:pPr>
            <a:r>
              <a:rPr sz="1050" b="0">
                <a:solidFill>
                  <a:srgbClr val="333333"/>
                </a:solidFill>
                <a:latin typeface="メイリオ"/>
                <a:ea typeface="メイリオ"/>
                <a:cs typeface="メイリオ"/>
              </a:rPr>
              <a:t>仕組みを確認できる</a:t>
            </a:r>
          </a:p>
        </p:txBody>
      </p:sp>
      <p:sp>
        <p:nvSpPr>
          <p:cNvPr id="16" name="Rounded Rectangle 15">
            <a:hlinkClick r:id="rId6"/>
          </p:cNvPr>
          <p:cNvSpPr/>
          <p:nvPr/>
        </p:nvSpPr>
        <p:spPr>
          <a:xfrm>
            <a:off x="6408000" y="3006000"/>
            <a:ext cx="2411999" cy="468000"/>
          </a:xfrm>
          <a:prstGeom prst="roundRect">
            <a:avLst>
              <a:gd name="adj" fmla="val 3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体験デモを開く　▶</a:t>
            </a:r>
          </a:p>
        </p:txBody>
      </p:sp>
      <p:sp>
        <p:nvSpPr>
          <p:cNvPr id="17" name="Rectangle 16"/>
          <p:cNvSpPr/>
          <p:nvPr/>
        </p:nvSpPr>
        <p:spPr>
          <a:xfrm>
            <a:off x="648000" y="4157999"/>
            <a:ext cx="8604000" cy="540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200"/>
              </a:spcAft>
            </a:pPr>
            <a:r>
              <a:rPr sz="1200" b="1">
                <a:solidFill>
                  <a:srgbClr val="1F285A"/>
                </a:solidFill>
                <a:latin typeface="メイリオ"/>
                <a:ea typeface="メイリオ"/>
                <a:cs typeface="メイリオ"/>
              </a:rPr>
              <a:t>同意画面を介した、自然な友だち化</a:t>
            </a:r>
          </a:p>
          <a:p>
            <a:pPr algn="ctr">
              <a:lnSpc>
                <a:spcPct val="110000"/>
              </a:lnSpc>
              <a:spcAft>
                <a:spcPts val="0"/>
              </a:spcAft>
            </a:pPr>
            <a:r>
              <a:rPr sz="1000" b="0">
                <a:solidFill>
                  <a:srgbClr val="333333"/>
                </a:solidFill>
                <a:latin typeface="メイリオ"/>
                <a:ea typeface="メイリオ"/>
                <a:cs typeface="メイリオ"/>
              </a:rPr>
              <a:t>LINEログインの「友だち追加オプション」を有効にして表示。チェックを外した方は友だちにならない</a:t>
            </a:r>
          </a:p>
        </p:txBody>
      </p:sp>
      <p:sp>
        <p:nvSpPr>
          <p:cNvPr id="18" name="TextBox 17"/>
          <p:cNvSpPr txBox="1"/>
          <p:nvPr/>
        </p:nvSpPr>
        <p:spPr>
          <a:xfrm>
            <a:off x="648000" y="4878000"/>
            <a:ext cx="8604000" cy="251999"/>
          </a:xfrm>
          <a:prstGeom prst="rect">
            <a:avLst/>
          </a:prstGeom>
          <a:noFill/>
        </p:spPr>
        <p:txBody>
          <a:bodyPr wrap="square" anchor="t" lIns="36000" rIns="36000" tIns="18000" bIns="18000">
            <a:spAutoFit/>
          </a:bodyPr>
          <a:lstStyle/>
          <a:p>
            <a:pPr algn="l">
              <a:lnSpc>
                <a:spcPct val="110000"/>
              </a:lnSpc>
              <a:spcAft>
                <a:spcPts val="0"/>
              </a:spcAft>
            </a:pPr>
            <a:r>
              <a:rPr sz="1200" b="1">
                <a:solidFill>
                  <a:srgbClr val="1F285A"/>
                </a:solidFill>
                <a:latin typeface="メイリオ"/>
                <a:ea typeface="メイリオ"/>
                <a:cs typeface="メイリオ"/>
              </a:rPr>
              <a:t>実例｜コンタクトレンズ・メガネのEC</a:t>
            </a:r>
          </a:p>
        </p:txBody>
      </p:sp>
      <p:sp>
        <p:nvSpPr>
          <p:cNvPr id="19" name="TextBox 18"/>
          <p:cNvSpPr txBox="1"/>
          <p:nvPr/>
        </p:nvSpPr>
        <p:spPr>
          <a:xfrm>
            <a:off x="648000" y="5112000"/>
            <a:ext cx="8604000" cy="216000"/>
          </a:xfrm>
          <a:prstGeom prst="rect">
            <a:avLst/>
          </a:prstGeom>
          <a:noFill/>
        </p:spPr>
        <p:txBody>
          <a:bodyPr wrap="square" anchor="t" lIns="36000" rIns="36000" tIns="18000" bIns="18000">
            <a:spAutoFit/>
          </a:bodyPr>
          <a:lstStyle/>
          <a:p>
            <a:pPr algn="l">
              <a:lnSpc>
                <a:spcPct val="110000"/>
              </a:lnSpc>
              <a:spcAft>
                <a:spcPts val="0"/>
              </a:spcAft>
            </a:pPr>
            <a:r>
              <a:rPr sz="1000" b="0">
                <a:solidFill>
                  <a:srgbClr val="333333"/>
                </a:solidFill>
                <a:latin typeface="メイリオ"/>
                <a:ea typeface="メイリオ"/>
                <a:cs typeface="メイリオ"/>
              </a:rPr>
              <a:t>会員サイトのログインに「LINEでログイン」を追加し、会員情報とLINEを連携</a:t>
            </a:r>
          </a:p>
        </p:txBody>
      </p:sp>
      <p:sp>
        <p:nvSpPr>
          <p:cNvPr id="20" name="Rectangle 19"/>
          <p:cNvSpPr/>
          <p:nvPr/>
        </p:nvSpPr>
        <p:spPr>
          <a:xfrm>
            <a:off x="648000" y="5364000"/>
            <a:ext cx="8604000" cy="720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21" name="TextBox 20"/>
          <p:cNvSpPr txBox="1"/>
          <p:nvPr/>
        </p:nvSpPr>
        <p:spPr>
          <a:xfrm>
            <a:off x="648000" y="5399999"/>
            <a:ext cx="4302000" cy="342000"/>
          </a:xfrm>
          <a:prstGeom prst="rect">
            <a:avLst/>
          </a:prstGeom>
          <a:noFill/>
        </p:spPr>
        <p:txBody>
          <a:bodyPr wrap="square" anchor="ctr" lIns="36000" rIns="36000" tIns="18000" bIns="18000">
            <a:spAutoFit/>
          </a:bodyPr>
          <a:lstStyle/>
          <a:p>
            <a:pPr algn="ctr">
              <a:lnSpc>
                <a:spcPct val="110000"/>
              </a:lnSpc>
              <a:spcAft>
                <a:spcPts val="0"/>
              </a:spcAft>
            </a:pPr>
            <a:r>
              <a:rPr sz="2000" b="1">
                <a:solidFill>
                  <a:srgbClr val="1F285A"/>
                </a:solidFill>
                <a:latin typeface="メイリオ"/>
                <a:ea typeface="メイリオ"/>
                <a:cs typeface="メイリオ"/>
              </a:rPr>
              <a:t>約70%</a:t>
            </a:r>
          </a:p>
        </p:txBody>
      </p:sp>
      <p:sp>
        <p:nvSpPr>
          <p:cNvPr id="22" name="TextBox 21"/>
          <p:cNvSpPr txBox="1"/>
          <p:nvPr/>
        </p:nvSpPr>
        <p:spPr>
          <a:xfrm>
            <a:off x="648000" y="5724000"/>
            <a:ext cx="4302000" cy="342000"/>
          </a:xfrm>
          <a:prstGeom prst="rect">
            <a:avLst/>
          </a:prstGeom>
          <a:noFill/>
        </p:spPr>
        <p:txBody>
          <a:bodyPr wrap="square" anchor="t" lIns="36000" rIns="36000" tIns="18000" bIns="18000">
            <a:spAutoFit/>
          </a:bodyPr>
          <a:lstStyle/>
          <a:p>
            <a:pPr algn="ctr">
              <a:lnSpc>
                <a:spcPct val="110000"/>
              </a:lnSpc>
              <a:spcAft>
                <a:spcPts val="0"/>
              </a:spcAft>
            </a:pPr>
            <a:r>
              <a:rPr sz="950" b="0">
                <a:solidFill>
                  <a:srgbClr val="333333"/>
                </a:solidFill>
                <a:latin typeface="メイリオ"/>
                <a:ea typeface="メイリオ"/>
                <a:cs typeface="メイリオ"/>
              </a:rPr>
              <a:t>新規友だちのうち、</a:t>
            </a:r>
          </a:p>
          <a:p>
            <a:pPr algn="ctr">
              <a:lnSpc>
                <a:spcPct val="110000"/>
              </a:lnSpc>
              <a:spcAft>
                <a:spcPts val="0"/>
              </a:spcAft>
            </a:pPr>
            <a:r>
              <a:rPr sz="950" b="0">
                <a:solidFill>
                  <a:srgbClr val="333333"/>
                </a:solidFill>
                <a:latin typeface="メイリオ"/>
                <a:ea typeface="メイリオ"/>
                <a:cs typeface="メイリオ"/>
              </a:rPr>
              <a:t>LINEログイン経由で追加した割合</a:t>
            </a:r>
          </a:p>
        </p:txBody>
      </p:sp>
      <p:sp>
        <p:nvSpPr>
          <p:cNvPr id="23" name="TextBox 22"/>
          <p:cNvSpPr txBox="1"/>
          <p:nvPr/>
        </p:nvSpPr>
        <p:spPr>
          <a:xfrm>
            <a:off x="4950000" y="5399999"/>
            <a:ext cx="4302000" cy="342000"/>
          </a:xfrm>
          <a:prstGeom prst="rect">
            <a:avLst/>
          </a:prstGeom>
          <a:noFill/>
        </p:spPr>
        <p:txBody>
          <a:bodyPr wrap="square" anchor="ctr" lIns="36000" rIns="36000" tIns="18000" bIns="18000">
            <a:spAutoFit/>
          </a:bodyPr>
          <a:lstStyle/>
          <a:p>
            <a:pPr algn="ctr">
              <a:lnSpc>
                <a:spcPct val="110000"/>
              </a:lnSpc>
              <a:spcAft>
                <a:spcPts val="0"/>
              </a:spcAft>
            </a:pPr>
            <a:r>
              <a:rPr sz="2000" b="1">
                <a:solidFill>
                  <a:srgbClr val="1F285A"/>
                </a:solidFill>
                <a:latin typeface="メイリオ"/>
                <a:ea typeface="メイリオ"/>
                <a:cs typeface="メイリオ"/>
              </a:rPr>
              <a:t>約250%増</a:t>
            </a:r>
          </a:p>
        </p:txBody>
      </p:sp>
      <p:sp>
        <p:nvSpPr>
          <p:cNvPr id="24" name="TextBox 23"/>
          <p:cNvSpPr txBox="1"/>
          <p:nvPr/>
        </p:nvSpPr>
        <p:spPr>
          <a:xfrm>
            <a:off x="4950000" y="5724000"/>
            <a:ext cx="4302000" cy="342000"/>
          </a:xfrm>
          <a:prstGeom prst="rect">
            <a:avLst/>
          </a:prstGeom>
          <a:noFill/>
        </p:spPr>
        <p:txBody>
          <a:bodyPr wrap="square" anchor="t" lIns="36000" rIns="36000" tIns="18000" bIns="18000">
            <a:spAutoFit/>
          </a:bodyPr>
          <a:lstStyle/>
          <a:p>
            <a:pPr algn="ctr">
              <a:lnSpc>
                <a:spcPct val="110000"/>
              </a:lnSpc>
              <a:spcAft>
                <a:spcPts val="0"/>
              </a:spcAft>
            </a:pPr>
            <a:r>
              <a:rPr sz="950" b="0">
                <a:solidFill>
                  <a:srgbClr val="333333"/>
                </a:solidFill>
                <a:latin typeface="メイリオ"/>
                <a:ea typeface="メイリオ"/>
                <a:cs typeface="メイリオ"/>
              </a:rPr>
              <a:t>月間の新規友だち追加数</a:t>
            </a:r>
          </a:p>
          <a:p>
            <a:pPr algn="ctr">
              <a:lnSpc>
                <a:spcPct val="110000"/>
              </a:lnSpc>
              <a:spcAft>
                <a:spcPts val="0"/>
              </a:spcAft>
            </a:pPr>
            <a:r>
              <a:rPr sz="950" b="0">
                <a:solidFill>
                  <a:srgbClr val="333333"/>
                </a:solidFill>
                <a:latin typeface="メイリオ"/>
                <a:ea typeface="メイリオ"/>
                <a:cs typeface="メイリオ"/>
              </a:rPr>
              <a:t>（約1,000人 → 約3,500人）</a:t>
            </a:r>
          </a:p>
        </p:txBody>
      </p:sp>
      <p:cxnSp>
        <p:nvCxnSpPr>
          <p:cNvPr id="25" name="Connector 24"/>
          <p:cNvCxnSpPr/>
          <p:nvPr/>
        </p:nvCxnSpPr>
        <p:spPr>
          <a:xfrm>
            <a:off x="4950000" y="5472000"/>
            <a:ext cx="0" cy="503999"/>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ID連携｜会員情報とLINEを紐づけ、1to1の配信へ</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自社の会員IDとLINEアカウントを裏側で紐づけ、会員ごとに合わせたメッセージを届ける</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48000" y="1655999"/>
            <a:ext cx="2520000" cy="864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333333"/>
                </a:solidFill>
                <a:latin typeface="メイリオ"/>
                <a:ea typeface="メイリオ"/>
                <a:cs typeface="メイリオ"/>
              </a:rPr>
              <a:t>自社の会員データ</a:t>
            </a:r>
          </a:p>
          <a:p>
            <a:pPr algn="ctr">
              <a:lnSpc>
                <a:spcPct val="110000"/>
              </a:lnSpc>
              <a:spcAft>
                <a:spcPts val="0"/>
              </a:spcAft>
            </a:pPr>
            <a:r>
              <a:rPr sz="1200" b="1">
                <a:solidFill>
                  <a:srgbClr val="333333"/>
                </a:solidFill>
                <a:latin typeface="メイリオ"/>
                <a:ea typeface="メイリオ"/>
                <a:cs typeface="メイリオ"/>
              </a:rPr>
              <a:t>会員ID・購入履歴・予約</a:t>
            </a:r>
          </a:p>
        </p:txBody>
      </p:sp>
      <p:sp>
        <p:nvSpPr>
          <p:cNvPr id="7" name="Rounded Rectangle 6"/>
          <p:cNvSpPr/>
          <p:nvPr/>
        </p:nvSpPr>
        <p:spPr>
          <a:xfrm>
            <a:off x="3690000" y="1782000"/>
            <a:ext cx="2520000" cy="612000"/>
          </a:xfrm>
          <a:prstGeom prst="roundRect">
            <a:avLst>
              <a:gd name="adj" fmla="val 12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400" b="1">
                <a:solidFill>
                  <a:srgbClr val="FFFFFF"/>
                </a:solidFill>
                <a:latin typeface="メイリオ"/>
                <a:ea typeface="メイリオ"/>
                <a:cs typeface="メイリオ"/>
              </a:rPr>
              <a:t>ID連携</a:t>
            </a:r>
          </a:p>
        </p:txBody>
      </p:sp>
      <p:sp>
        <p:nvSpPr>
          <p:cNvPr id="8" name="Rounded Rectangle 7"/>
          <p:cNvSpPr/>
          <p:nvPr/>
        </p:nvSpPr>
        <p:spPr>
          <a:xfrm>
            <a:off x="6732000" y="1655999"/>
            <a:ext cx="2520000" cy="864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333333"/>
                </a:solidFill>
                <a:latin typeface="メイリオ"/>
                <a:ea typeface="メイリオ"/>
                <a:cs typeface="メイリオ"/>
              </a:rPr>
              <a:t>LINEアカウント</a:t>
            </a:r>
          </a:p>
          <a:p>
            <a:pPr algn="ctr">
              <a:lnSpc>
                <a:spcPct val="110000"/>
              </a:lnSpc>
              <a:spcAft>
                <a:spcPts val="0"/>
              </a:spcAft>
            </a:pPr>
            <a:r>
              <a:rPr sz="1200" b="1">
                <a:solidFill>
                  <a:srgbClr val="333333"/>
                </a:solidFill>
                <a:latin typeface="メイリオ"/>
                <a:ea typeface="メイリオ"/>
                <a:cs typeface="メイリオ"/>
              </a:rPr>
              <a:t>（公式アカウントの友だち）</a:t>
            </a:r>
          </a:p>
        </p:txBody>
      </p:sp>
      <p:cxnSp>
        <p:nvCxnSpPr>
          <p:cNvPr id="9" name="Connector 8"/>
          <p:cNvCxnSpPr/>
          <p:nvPr/>
        </p:nvCxnSpPr>
        <p:spPr>
          <a:xfrm>
            <a:off x="3204000" y="2088000"/>
            <a:ext cx="450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a:off x="6246000" y="2088000"/>
            <a:ext cx="450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48000" y="2736000"/>
            <a:ext cx="8604000" cy="251999"/>
          </a:xfrm>
          <a:prstGeom prst="rect">
            <a:avLst/>
          </a:prstGeom>
          <a:noFill/>
        </p:spPr>
        <p:txBody>
          <a:bodyPr wrap="square" anchor="t" lIns="36000" rIns="36000" tIns="18000" bIns="18000">
            <a:spAutoFit/>
          </a:bodyPr>
          <a:lstStyle/>
          <a:p>
            <a:pPr algn="l">
              <a:lnSpc>
                <a:spcPct val="110000"/>
              </a:lnSpc>
              <a:spcAft>
                <a:spcPts val="0"/>
              </a:spcAft>
            </a:pPr>
            <a:r>
              <a:rPr sz="1200" b="1">
                <a:solidFill>
                  <a:srgbClr val="1F285A"/>
                </a:solidFill>
                <a:latin typeface="メイリオ"/>
                <a:ea typeface="メイリオ"/>
                <a:cs typeface="メイリオ"/>
              </a:rPr>
              <a:t>紐づけると、できること（例）</a:t>
            </a:r>
          </a:p>
        </p:txBody>
      </p:sp>
      <p:graphicFrame>
        <p:nvGraphicFramePr>
          <p:cNvPr id="12" name="Table 11"/>
          <p:cNvGraphicFramePr>
            <a:graphicFrameLocks noGrp="1"/>
          </p:cNvGraphicFramePr>
          <p:nvPr/>
        </p:nvGraphicFramePr>
        <p:xfrm>
          <a:off x="648000" y="3024000"/>
          <a:ext cx="8604000" cy="1656000"/>
        </p:xfrm>
        <a:graphic>
          <a:graphicData uri="http://schemas.openxmlformats.org/drawingml/2006/table">
            <a:tbl>
              <a:tblPr firstRow="1" bandRow="0">
                <a:tableStyleId>{5C22544A-7EE6-4342-B048-85BDC9FD1C3A}</a:tableStyleId>
              </a:tblPr>
              <a:tblGrid>
                <a:gridCol w="3024000"/>
                <a:gridCol w="5580000"/>
              </a:tblGrid>
              <a:tr h="331200">
                <a:tc>
                  <a:txBody>
                    <a:bodyPr wrap="square"/>
                    <a:lstStyle/>
                    <a:p>
                      <a:pPr algn="ctr"/>
                      <a:r>
                        <a:rPr sz="1100" b="1">
                          <a:solidFill>
                            <a:srgbClr val="FFFFFF"/>
                          </a:solidFill>
                          <a:latin typeface="メイリオ"/>
                          <a:ea typeface="メイリオ"/>
                          <a:cs typeface="メイリオ"/>
                        </a:rPr>
                        <a:t>配信の例</a:t>
                      </a:r>
                    </a:p>
                  </a:txBody>
                  <a:tcPr anchor="ctr" marL="72000" marR="72000" marT="28800" marB="28800">
                    <a:solidFill>
                      <a:srgbClr val="1F285A"/>
                    </a:solidFill>
                  </a:tcPr>
                </a:tc>
                <a:tc>
                  <a:txBody>
                    <a:bodyPr wrap="square"/>
                    <a:lstStyle/>
                    <a:p>
                      <a:pPr algn="ctr"/>
                      <a:r>
                        <a:rPr sz="1100" b="1">
                          <a:solidFill>
                            <a:srgbClr val="FFFFFF"/>
                          </a:solidFill>
                          <a:latin typeface="メイリオ"/>
                          <a:ea typeface="メイリオ"/>
                          <a:cs typeface="メイリオ"/>
                        </a:rPr>
                        <a:t>使う会員データ</a:t>
                      </a:r>
                    </a:p>
                  </a:txBody>
                  <a:tcPr anchor="ctr" marL="72000" marR="72000" marT="28800" marB="28800">
                    <a:solidFill>
                      <a:srgbClr val="1F285A"/>
                    </a:solidFill>
                  </a:tcPr>
                </a:tc>
              </a:tr>
              <a:tr h="331200">
                <a:tc>
                  <a:txBody>
                    <a:bodyPr wrap="square"/>
                    <a:lstStyle/>
                    <a:p>
                      <a:pPr algn="ctr"/>
                      <a:r>
                        <a:rPr sz="1100" b="1">
                          <a:solidFill>
                            <a:srgbClr val="1F285A"/>
                          </a:solidFill>
                          <a:latin typeface="メイリオ"/>
                          <a:ea typeface="メイリオ"/>
                          <a:cs typeface="メイリオ"/>
                        </a:rPr>
                        <a:t>発送通知・次回購入のリマインド</a:t>
                      </a:r>
                    </a:p>
                  </a:txBody>
                  <a:tcPr anchor="ctr" marL="72000" marR="72000" marT="28800" marB="28800">
                    <a:solidFill>
                      <a:srgbClr val="F2F2F2"/>
                    </a:solidFill>
                  </a:tcPr>
                </a:tc>
                <a:tc>
                  <a:txBody>
                    <a:bodyPr wrap="square"/>
                    <a:lstStyle/>
                    <a:p>
                      <a:pPr algn="l"/>
                      <a:r>
                        <a:rPr sz="1100" b="0">
                          <a:solidFill>
                            <a:srgbClr val="333333"/>
                          </a:solidFill>
                          <a:latin typeface="メイリオ"/>
                          <a:ea typeface="メイリオ"/>
                          <a:cs typeface="メイリオ"/>
                        </a:rPr>
                        <a:t>購入履歴</a:t>
                      </a:r>
                    </a:p>
                  </a:txBody>
                  <a:tcPr anchor="ctr" marL="72000" marR="72000" marT="28800" marB="28800">
                    <a:solidFill>
                      <a:srgbClr val="FFFFFF"/>
                    </a:solidFill>
                  </a:tcPr>
                </a:tc>
              </a:tr>
              <a:tr h="331200">
                <a:tc>
                  <a:txBody>
                    <a:bodyPr wrap="square"/>
                    <a:lstStyle/>
                    <a:p>
                      <a:pPr algn="ctr"/>
                      <a:r>
                        <a:rPr sz="1100" b="1">
                          <a:solidFill>
                            <a:srgbClr val="1F285A"/>
                          </a:solidFill>
                          <a:latin typeface="メイリオ"/>
                          <a:ea typeface="メイリオ"/>
                          <a:cs typeface="メイリオ"/>
                        </a:rPr>
                        <a:t>かご落ちのお知らせ</a:t>
                      </a:r>
                    </a:p>
                  </a:txBody>
                  <a:tcPr anchor="ctr" marL="72000" marR="72000" marT="28800" marB="28800">
                    <a:solidFill>
                      <a:srgbClr val="F2F2F2"/>
                    </a:solidFill>
                  </a:tcPr>
                </a:tc>
                <a:tc>
                  <a:txBody>
                    <a:bodyPr wrap="square"/>
                    <a:lstStyle/>
                    <a:p>
                      <a:pPr algn="l"/>
                      <a:r>
                        <a:rPr sz="1100" b="0">
                          <a:solidFill>
                            <a:srgbClr val="333333"/>
                          </a:solidFill>
                          <a:latin typeface="メイリオ"/>
                          <a:ea typeface="メイリオ"/>
                          <a:cs typeface="メイリオ"/>
                        </a:rPr>
                        <a:t>カートに入れたまま購入していない商品</a:t>
                      </a:r>
                    </a:p>
                  </a:txBody>
                  <a:tcPr anchor="ctr" marL="72000" marR="72000" marT="28800" marB="28800">
                    <a:solidFill>
                      <a:srgbClr val="FFFFFF"/>
                    </a:solidFill>
                  </a:tcPr>
                </a:tc>
              </a:tr>
              <a:tr h="331200">
                <a:tc>
                  <a:txBody>
                    <a:bodyPr wrap="square"/>
                    <a:lstStyle/>
                    <a:p>
                      <a:pPr algn="ctr"/>
                      <a:r>
                        <a:rPr sz="1100" b="1">
                          <a:solidFill>
                            <a:srgbClr val="1F285A"/>
                          </a:solidFill>
                          <a:latin typeface="メイリオ"/>
                          <a:ea typeface="メイリオ"/>
                          <a:cs typeface="メイリオ"/>
                        </a:rPr>
                        <a:t>会員ランクに応じた限定クーポンの出し分け</a:t>
                      </a:r>
                    </a:p>
                  </a:txBody>
                  <a:tcPr anchor="ctr" marL="72000" marR="72000" marT="28800" marB="28800">
                    <a:solidFill>
                      <a:srgbClr val="F2F2F2"/>
                    </a:solidFill>
                  </a:tcPr>
                </a:tc>
                <a:tc>
                  <a:txBody>
                    <a:bodyPr wrap="square"/>
                    <a:lstStyle/>
                    <a:p>
                      <a:pPr algn="l"/>
                      <a:r>
                        <a:rPr sz="1100" b="0">
                          <a:solidFill>
                            <a:srgbClr val="333333"/>
                          </a:solidFill>
                          <a:latin typeface="メイリオ"/>
                          <a:ea typeface="メイリオ"/>
                          <a:cs typeface="メイリオ"/>
                        </a:rPr>
                        <a:t>会員ランク</a:t>
                      </a:r>
                    </a:p>
                  </a:txBody>
                  <a:tcPr anchor="ctr" marL="72000" marR="72000" marT="28800" marB="28800">
                    <a:solidFill>
                      <a:srgbClr val="FFFFFF"/>
                    </a:solidFill>
                  </a:tcPr>
                </a:tc>
              </a:tr>
              <a:tr h="331200">
                <a:tc>
                  <a:txBody>
                    <a:bodyPr wrap="square"/>
                    <a:lstStyle/>
                    <a:p>
                      <a:pPr algn="ctr"/>
                      <a:r>
                        <a:rPr sz="1100" b="1">
                          <a:solidFill>
                            <a:srgbClr val="1F285A"/>
                          </a:solidFill>
                          <a:latin typeface="メイリオ"/>
                          <a:ea typeface="メイリオ"/>
                          <a:cs typeface="メイリオ"/>
                        </a:rPr>
                        <a:t>予約のリマインド</a:t>
                      </a:r>
                    </a:p>
                  </a:txBody>
                  <a:tcPr anchor="ctr" marL="72000" marR="72000" marT="28800" marB="28800">
                    <a:solidFill>
                      <a:srgbClr val="F2F2F2"/>
                    </a:solidFill>
                  </a:tcPr>
                </a:tc>
                <a:tc>
                  <a:txBody>
                    <a:bodyPr wrap="square"/>
                    <a:lstStyle/>
                    <a:p>
                      <a:pPr algn="l"/>
                      <a:r>
                        <a:rPr sz="1100" b="0">
                          <a:solidFill>
                            <a:srgbClr val="333333"/>
                          </a:solidFill>
                          <a:latin typeface="メイリオ"/>
                          <a:ea typeface="メイリオ"/>
                          <a:cs typeface="メイリオ"/>
                        </a:rPr>
                        <a:t>予約日時・来場予約の内容</a:t>
                      </a:r>
                    </a:p>
                  </a:txBody>
                  <a:tcPr anchor="ctr" marL="72000" marR="72000" marT="28800" marB="28800">
                    <a:solidFill>
                      <a:srgbClr val="FFFFFF"/>
                    </a:solidFill>
                  </a:tcPr>
                </a:tc>
              </a:tr>
            </a:tbl>
          </a:graphicData>
        </a:graphic>
      </p:graphicFrame>
      <p:sp>
        <p:nvSpPr>
          <p:cNvPr id="13" name="TextBox 12"/>
          <p:cNvSpPr txBox="1"/>
          <p:nvPr/>
        </p:nvSpPr>
        <p:spPr>
          <a:xfrm>
            <a:off x="648000" y="4788000"/>
            <a:ext cx="8604000" cy="216000"/>
          </a:xfrm>
          <a:prstGeom prst="rect">
            <a:avLst/>
          </a:prstGeom>
          <a:noFill/>
        </p:spPr>
        <p:txBody>
          <a:bodyPr wrap="square" anchor="t" lIns="36000" rIns="36000" tIns="18000" bIns="18000">
            <a:spAutoFit/>
          </a:bodyPr>
          <a:lstStyle/>
          <a:p>
            <a:pPr algn="l">
              <a:lnSpc>
                <a:spcPct val="110000"/>
              </a:lnSpc>
              <a:spcAft>
                <a:spcPts val="0"/>
              </a:spcAft>
            </a:pPr>
            <a:r>
              <a:rPr sz="900" b="0">
                <a:solidFill>
                  <a:srgbClr val="7F7F7F"/>
                </a:solidFill>
                <a:latin typeface="メイリオ"/>
                <a:ea typeface="メイリオ"/>
                <a:cs typeface="メイリオ"/>
              </a:rPr>
              <a:t>※配信には、ID連携した方が公式アカウントの友だちであることが必要</a:t>
            </a:r>
          </a:p>
        </p:txBody>
      </p:sp>
      <p:sp>
        <p:nvSpPr>
          <p:cNvPr id="14" name="TextBox 13"/>
          <p:cNvSpPr txBox="1"/>
          <p:nvPr/>
        </p:nvSpPr>
        <p:spPr>
          <a:xfrm>
            <a:off x="648000" y="5076000"/>
            <a:ext cx="8604000" cy="251999"/>
          </a:xfrm>
          <a:prstGeom prst="rect">
            <a:avLst/>
          </a:prstGeom>
          <a:noFill/>
        </p:spPr>
        <p:txBody>
          <a:bodyPr wrap="square" anchor="t" lIns="36000" rIns="36000" tIns="18000" bIns="18000">
            <a:spAutoFit/>
          </a:bodyPr>
          <a:lstStyle/>
          <a:p>
            <a:pPr algn="l">
              <a:lnSpc>
                <a:spcPct val="110000"/>
              </a:lnSpc>
              <a:spcAft>
                <a:spcPts val="0"/>
              </a:spcAft>
            </a:pPr>
            <a:r>
              <a:rPr sz="1200" b="1">
                <a:solidFill>
                  <a:srgbClr val="1F285A"/>
                </a:solidFill>
                <a:latin typeface="メイリオ"/>
                <a:ea typeface="メイリオ"/>
                <a:cs typeface="メイリオ"/>
              </a:rPr>
              <a:t>実例｜通販（EC）</a:t>
            </a:r>
          </a:p>
        </p:txBody>
      </p:sp>
      <p:sp>
        <p:nvSpPr>
          <p:cNvPr id="15" name="TextBox 14"/>
          <p:cNvSpPr txBox="1"/>
          <p:nvPr/>
        </p:nvSpPr>
        <p:spPr>
          <a:xfrm>
            <a:off x="648000" y="5310000"/>
            <a:ext cx="8604000" cy="216000"/>
          </a:xfrm>
          <a:prstGeom prst="rect">
            <a:avLst/>
          </a:prstGeom>
          <a:noFill/>
        </p:spPr>
        <p:txBody>
          <a:bodyPr wrap="square" anchor="t" lIns="36000" rIns="36000" tIns="18000" bIns="18000">
            <a:spAutoFit/>
          </a:bodyPr>
          <a:lstStyle/>
          <a:p>
            <a:pPr algn="l">
              <a:lnSpc>
                <a:spcPct val="110000"/>
              </a:lnSpc>
              <a:spcAft>
                <a:spcPts val="0"/>
              </a:spcAft>
            </a:pPr>
            <a:r>
              <a:rPr sz="1000" b="0">
                <a:solidFill>
                  <a:srgbClr val="333333"/>
                </a:solidFill>
                <a:latin typeface="メイリオ"/>
                <a:ea typeface="メイリオ"/>
                <a:cs typeface="メイリオ"/>
              </a:rPr>
              <a:t>LINEログインで会員IDとLINEを連携し、購入履歴に応じた配信・カゴ落ち防止のメッセージを配信</a:t>
            </a:r>
          </a:p>
        </p:txBody>
      </p:sp>
      <p:sp>
        <p:nvSpPr>
          <p:cNvPr id="16" name="Rectangle 15"/>
          <p:cNvSpPr/>
          <p:nvPr/>
        </p:nvSpPr>
        <p:spPr>
          <a:xfrm>
            <a:off x="648000" y="5562000"/>
            <a:ext cx="8604000" cy="720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7" name="TextBox 16"/>
          <p:cNvSpPr txBox="1"/>
          <p:nvPr/>
        </p:nvSpPr>
        <p:spPr>
          <a:xfrm>
            <a:off x="648000" y="5598000"/>
            <a:ext cx="2867999" cy="342000"/>
          </a:xfrm>
          <a:prstGeom prst="rect">
            <a:avLst/>
          </a:prstGeom>
          <a:noFill/>
        </p:spPr>
        <p:txBody>
          <a:bodyPr wrap="square" anchor="ctr" lIns="36000" rIns="36000" tIns="18000" bIns="18000">
            <a:spAutoFit/>
          </a:bodyPr>
          <a:lstStyle/>
          <a:p>
            <a:pPr algn="ctr">
              <a:lnSpc>
                <a:spcPct val="110000"/>
              </a:lnSpc>
              <a:spcAft>
                <a:spcPts val="0"/>
              </a:spcAft>
            </a:pPr>
            <a:r>
              <a:rPr sz="2000" b="1">
                <a:solidFill>
                  <a:srgbClr val="1F285A"/>
                </a:solidFill>
                <a:latin typeface="メイリオ"/>
                <a:ea typeface="メイリオ"/>
                <a:cs typeface="メイリオ"/>
              </a:rPr>
              <a:t>約250%増</a:t>
            </a:r>
          </a:p>
        </p:txBody>
      </p:sp>
      <p:sp>
        <p:nvSpPr>
          <p:cNvPr id="18" name="TextBox 17"/>
          <p:cNvSpPr txBox="1"/>
          <p:nvPr/>
        </p:nvSpPr>
        <p:spPr>
          <a:xfrm>
            <a:off x="648000" y="5922000"/>
            <a:ext cx="2867999" cy="342000"/>
          </a:xfrm>
          <a:prstGeom prst="rect">
            <a:avLst/>
          </a:prstGeom>
          <a:noFill/>
        </p:spPr>
        <p:txBody>
          <a:bodyPr wrap="square" anchor="t" lIns="36000" rIns="36000" tIns="18000" bIns="18000">
            <a:spAutoFit/>
          </a:bodyPr>
          <a:lstStyle/>
          <a:p>
            <a:pPr algn="ctr">
              <a:lnSpc>
                <a:spcPct val="110000"/>
              </a:lnSpc>
              <a:spcAft>
                <a:spcPts val="0"/>
              </a:spcAft>
            </a:pPr>
            <a:r>
              <a:rPr sz="950" b="0">
                <a:solidFill>
                  <a:srgbClr val="333333"/>
                </a:solidFill>
                <a:latin typeface="メイリオ"/>
                <a:ea typeface="メイリオ"/>
                <a:cs typeface="メイリオ"/>
              </a:rPr>
              <a:t>LINE経由の</a:t>
            </a:r>
          </a:p>
          <a:p>
            <a:pPr algn="ctr">
              <a:lnSpc>
                <a:spcPct val="110000"/>
              </a:lnSpc>
              <a:spcAft>
                <a:spcPts val="0"/>
              </a:spcAft>
            </a:pPr>
            <a:r>
              <a:rPr sz="950" b="0">
                <a:solidFill>
                  <a:srgbClr val="333333"/>
                </a:solidFill>
                <a:latin typeface="メイリオ"/>
                <a:ea typeface="メイリオ"/>
                <a:cs typeface="メイリオ"/>
              </a:rPr>
              <a:t>ECサイト新規会員登録数</a:t>
            </a:r>
          </a:p>
        </p:txBody>
      </p:sp>
      <p:sp>
        <p:nvSpPr>
          <p:cNvPr id="19" name="TextBox 18"/>
          <p:cNvSpPr txBox="1"/>
          <p:nvPr/>
        </p:nvSpPr>
        <p:spPr>
          <a:xfrm>
            <a:off x="3515999" y="5598000"/>
            <a:ext cx="2867999" cy="342000"/>
          </a:xfrm>
          <a:prstGeom prst="rect">
            <a:avLst/>
          </a:prstGeom>
          <a:noFill/>
        </p:spPr>
        <p:txBody>
          <a:bodyPr wrap="square" anchor="ctr" lIns="36000" rIns="36000" tIns="18000" bIns="18000">
            <a:spAutoFit/>
          </a:bodyPr>
          <a:lstStyle/>
          <a:p>
            <a:pPr algn="ctr">
              <a:lnSpc>
                <a:spcPct val="110000"/>
              </a:lnSpc>
              <a:spcAft>
                <a:spcPts val="0"/>
              </a:spcAft>
            </a:pPr>
            <a:r>
              <a:rPr sz="2000" b="1">
                <a:solidFill>
                  <a:srgbClr val="1F285A"/>
                </a:solidFill>
                <a:latin typeface="メイリオ"/>
                <a:ea typeface="メイリオ"/>
                <a:cs typeface="メイリオ"/>
              </a:rPr>
              <a:t>約300%増</a:t>
            </a:r>
          </a:p>
        </p:txBody>
      </p:sp>
      <p:sp>
        <p:nvSpPr>
          <p:cNvPr id="20" name="TextBox 19"/>
          <p:cNvSpPr txBox="1"/>
          <p:nvPr/>
        </p:nvSpPr>
        <p:spPr>
          <a:xfrm>
            <a:off x="3515999" y="5922000"/>
            <a:ext cx="2867999" cy="342000"/>
          </a:xfrm>
          <a:prstGeom prst="rect">
            <a:avLst/>
          </a:prstGeom>
          <a:noFill/>
        </p:spPr>
        <p:txBody>
          <a:bodyPr wrap="square" anchor="t" lIns="36000" rIns="36000" tIns="18000" bIns="18000">
            <a:spAutoFit/>
          </a:bodyPr>
          <a:lstStyle/>
          <a:p>
            <a:pPr algn="ctr">
              <a:lnSpc>
                <a:spcPct val="110000"/>
              </a:lnSpc>
              <a:spcAft>
                <a:spcPts val="0"/>
              </a:spcAft>
            </a:pPr>
            <a:r>
              <a:rPr sz="950" b="0">
                <a:solidFill>
                  <a:srgbClr val="333333"/>
                </a:solidFill>
                <a:latin typeface="メイリオ"/>
                <a:ea typeface="メイリオ"/>
                <a:cs typeface="メイリオ"/>
              </a:rPr>
              <a:t>1日あたりの</a:t>
            </a:r>
          </a:p>
          <a:p>
            <a:pPr algn="ctr">
              <a:lnSpc>
                <a:spcPct val="110000"/>
              </a:lnSpc>
              <a:spcAft>
                <a:spcPts val="0"/>
              </a:spcAft>
            </a:pPr>
            <a:r>
              <a:rPr sz="950" b="0">
                <a:solidFill>
                  <a:srgbClr val="333333"/>
                </a:solidFill>
                <a:latin typeface="メイリオ"/>
                <a:ea typeface="メイリオ"/>
                <a:cs typeface="メイリオ"/>
              </a:rPr>
              <a:t>友だち追加数</a:t>
            </a:r>
          </a:p>
        </p:txBody>
      </p:sp>
      <p:cxnSp>
        <p:nvCxnSpPr>
          <p:cNvPr id="21" name="Connector 20"/>
          <p:cNvCxnSpPr/>
          <p:nvPr/>
        </p:nvCxnSpPr>
        <p:spPr>
          <a:xfrm>
            <a:off x="3515999" y="5670000"/>
            <a:ext cx="0" cy="503999"/>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6383999" y="5598000"/>
            <a:ext cx="2867999" cy="342000"/>
          </a:xfrm>
          <a:prstGeom prst="rect">
            <a:avLst/>
          </a:prstGeom>
          <a:noFill/>
        </p:spPr>
        <p:txBody>
          <a:bodyPr wrap="square" anchor="ctr" lIns="36000" rIns="36000" tIns="18000" bIns="18000">
            <a:spAutoFit/>
          </a:bodyPr>
          <a:lstStyle/>
          <a:p>
            <a:pPr algn="ctr">
              <a:lnSpc>
                <a:spcPct val="110000"/>
              </a:lnSpc>
              <a:spcAft>
                <a:spcPts val="0"/>
              </a:spcAft>
            </a:pPr>
            <a:r>
              <a:rPr sz="2000" b="1">
                <a:solidFill>
                  <a:srgbClr val="1F285A"/>
                </a:solidFill>
                <a:latin typeface="メイリオ"/>
                <a:ea typeface="メイリオ"/>
                <a:cs typeface="メイリオ"/>
              </a:rPr>
              <a:t>126%増</a:t>
            </a:r>
          </a:p>
        </p:txBody>
      </p:sp>
      <p:sp>
        <p:nvSpPr>
          <p:cNvPr id="23" name="TextBox 22"/>
          <p:cNvSpPr txBox="1"/>
          <p:nvPr/>
        </p:nvSpPr>
        <p:spPr>
          <a:xfrm>
            <a:off x="6383999" y="5922000"/>
            <a:ext cx="2867999" cy="342000"/>
          </a:xfrm>
          <a:prstGeom prst="rect">
            <a:avLst/>
          </a:prstGeom>
          <a:noFill/>
        </p:spPr>
        <p:txBody>
          <a:bodyPr wrap="square" anchor="t" lIns="36000" rIns="36000" tIns="18000" bIns="18000">
            <a:spAutoFit/>
          </a:bodyPr>
          <a:lstStyle/>
          <a:p>
            <a:pPr algn="ctr">
              <a:lnSpc>
                <a:spcPct val="110000"/>
              </a:lnSpc>
              <a:spcAft>
                <a:spcPts val="0"/>
              </a:spcAft>
            </a:pPr>
            <a:r>
              <a:rPr sz="950" b="0">
                <a:solidFill>
                  <a:srgbClr val="333333"/>
                </a:solidFill>
                <a:latin typeface="メイリオ"/>
                <a:ea typeface="メイリオ"/>
                <a:cs typeface="メイリオ"/>
              </a:rPr>
              <a:t>LINE経由の</a:t>
            </a:r>
          </a:p>
          <a:p>
            <a:pPr algn="ctr">
              <a:lnSpc>
                <a:spcPct val="110000"/>
              </a:lnSpc>
              <a:spcAft>
                <a:spcPts val="0"/>
              </a:spcAft>
            </a:pPr>
            <a:r>
              <a:rPr sz="950" b="0">
                <a:solidFill>
                  <a:srgbClr val="333333"/>
                </a:solidFill>
                <a:latin typeface="メイリオ"/>
                <a:ea typeface="メイリオ"/>
                <a:cs typeface="メイリオ"/>
              </a:rPr>
              <a:t>ECサイトの売上</a:t>
            </a:r>
          </a:p>
        </p:txBody>
      </p:sp>
      <p:cxnSp>
        <p:nvCxnSpPr>
          <p:cNvPr id="24" name="Connector 23"/>
          <p:cNvCxnSpPr/>
          <p:nvPr/>
        </p:nvCxnSpPr>
        <p:spPr>
          <a:xfrm>
            <a:off x="6383999" y="5670000"/>
            <a:ext cx="0" cy="503999"/>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648000" y="6300000"/>
            <a:ext cx="8604000" cy="180000"/>
          </a:xfrm>
          <a:prstGeom prst="rect">
            <a:avLst/>
          </a:prstGeom>
          <a:noFill/>
        </p:spPr>
        <p:txBody>
          <a:bodyPr wrap="square" anchor="t" lIns="36000" rIns="36000" tIns="18000" bIns="18000">
            <a:spAutoFit/>
          </a:bodyPr>
          <a:lstStyle/>
          <a:p>
            <a:pPr algn="l">
              <a:lnSpc>
                <a:spcPct val="110000"/>
              </a:lnSpc>
              <a:spcAft>
                <a:spcPts val="0"/>
              </a:spcAft>
            </a:pPr>
            <a:r>
              <a:rPr sz="850" b="0">
                <a:solidFill>
                  <a:srgbClr val="7F7F7F"/>
                </a:solidFill>
                <a:latin typeface="メイリオ"/>
                <a:ea typeface="メイリオ"/>
                <a:cs typeface="メイリオ"/>
              </a:rPr>
              <a:t>※導入前後の3か月平均の比較</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Profile+｜予約・購入フォームを自動入力</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LINEの登録情報で予約・購入フォームを自動入力し、入力の手間による離脱を防ぐ</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8000" y="2016000"/>
            <a:ext cx="5040000" cy="251999"/>
          </a:xfrm>
          <a:prstGeom prst="rect">
            <a:avLst/>
          </a:prstGeom>
          <a:noFill/>
        </p:spPr>
        <p:txBody>
          <a:bodyPr wrap="square" anchor="t" lIns="36000" rIns="36000" tIns="18000" bIns="18000">
            <a:spAutoFit/>
          </a:bodyPr>
          <a:lstStyle/>
          <a:p>
            <a:pPr algn="l">
              <a:lnSpc>
                <a:spcPct val="110000"/>
              </a:lnSpc>
              <a:spcAft>
                <a:spcPts val="0"/>
              </a:spcAft>
            </a:pPr>
            <a:r>
              <a:rPr sz="1200" b="1">
                <a:solidFill>
                  <a:srgbClr val="1F285A"/>
                </a:solidFill>
                <a:latin typeface="メイリオ"/>
                <a:ea typeface="メイリオ"/>
                <a:cs typeface="メイリオ"/>
              </a:rPr>
              <a:t>例：不動産の来場予約・EC購入</a:t>
            </a:r>
          </a:p>
        </p:txBody>
      </p:sp>
      <p:sp>
        <p:nvSpPr>
          <p:cNvPr id="7" name="Rounded Rectangle 6"/>
          <p:cNvSpPr/>
          <p:nvPr/>
        </p:nvSpPr>
        <p:spPr>
          <a:xfrm>
            <a:off x="648000" y="2340000"/>
            <a:ext cx="2304000" cy="360000"/>
          </a:xfrm>
          <a:prstGeom prst="roundRect">
            <a:avLst>
              <a:gd name="adj" fmla="val 12000"/>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1F285A"/>
                </a:solidFill>
                <a:latin typeface="メイリオ"/>
                <a:ea typeface="メイリオ"/>
                <a:cs typeface="メイリオ"/>
              </a:rPr>
              <a:t>通常のフォーム</a:t>
            </a:r>
          </a:p>
        </p:txBody>
      </p:sp>
      <p:sp>
        <p:nvSpPr>
          <p:cNvPr id="8" name="Rounded Rectangle 7"/>
          <p:cNvSpPr/>
          <p:nvPr/>
        </p:nvSpPr>
        <p:spPr>
          <a:xfrm>
            <a:off x="3420000" y="2340000"/>
            <a:ext cx="2304000" cy="360000"/>
          </a:xfrm>
          <a:prstGeom prst="roundRect">
            <a:avLst>
              <a:gd name="adj" fmla="val 12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FFFFFF"/>
                </a:solidFill>
                <a:latin typeface="メイリオ"/>
                <a:ea typeface="メイリオ"/>
                <a:cs typeface="メイリオ"/>
              </a:rPr>
              <a:t>Profile+</a:t>
            </a:r>
          </a:p>
        </p:txBody>
      </p:sp>
      <p:sp>
        <p:nvSpPr>
          <p:cNvPr id="9" name="Rounded Rectangle 8"/>
          <p:cNvSpPr/>
          <p:nvPr/>
        </p:nvSpPr>
        <p:spPr>
          <a:xfrm>
            <a:off x="648000" y="2844000"/>
            <a:ext cx="2304000" cy="378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氏名を入力</a:t>
            </a:r>
          </a:p>
        </p:txBody>
      </p:sp>
      <p:sp>
        <p:nvSpPr>
          <p:cNvPr id="10" name="Rounded Rectangle 9"/>
          <p:cNvSpPr/>
          <p:nvPr/>
        </p:nvSpPr>
        <p:spPr>
          <a:xfrm>
            <a:off x="3420000" y="2844000"/>
            <a:ext cx="2304000" cy="378000"/>
          </a:xfrm>
          <a:prstGeom prst="roundRect">
            <a:avLst>
              <a:gd name="adj" fmla="val 12000"/>
            </a:avLst>
          </a:prstGeom>
          <a:solidFill>
            <a:srgbClr val="FFFFFF"/>
          </a:solidFill>
          <a:ln w="12700">
            <a:solidFill>
              <a:srgbClr val="06C755"/>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LINEで同意</a:t>
            </a:r>
          </a:p>
        </p:txBody>
      </p:sp>
      <p:sp>
        <p:nvSpPr>
          <p:cNvPr id="11" name="Rounded Rectangle 10"/>
          <p:cNvSpPr/>
          <p:nvPr/>
        </p:nvSpPr>
        <p:spPr>
          <a:xfrm>
            <a:off x="648000" y="3365999"/>
            <a:ext cx="2304000" cy="378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電話番号を入力</a:t>
            </a:r>
          </a:p>
        </p:txBody>
      </p:sp>
      <p:sp>
        <p:nvSpPr>
          <p:cNvPr id="12" name="Rounded Rectangle 11"/>
          <p:cNvSpPr/>
          <p:nvPr/>
        </p:nvSpPr>
        <p:spPr>
          <a:xfrm>
            <a:off x="3420000" y="3365999"/>
            <a:ext cx="2304000" cy="378000"/>
          </a:xfrm>
          <a:prstGeom prst="roundRect">
            <a:avLst>
              <a:gd name="adj" fmla="val 12000"/>
            </a:avLst>
          </a:prstGeom>
          <a:solidFill>
            <a:srgbClr val="FFFFFF"/>
          </a:solidFill>
          <a:ln w="12700">
            <a:solidFill>
              <a:srgbClr val="06C755"/>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氏名・電話番号・住所を</a:t>
            </a:r>
          </a:p>
          <a:p>
            <a:pPr algn="ctr">
              <a:lnSpc>
                <a:spcPct val="110000"/>
              </a:lnSpc>
              <a:spcAft>
                <a:spcPts val="0"/>
              </a:spcAft>
            </a:pPr>
            <a:r>
              <a:rPr sz="1100" b="0">
                <a:solidFill>
                  <a:srgbClr val="333333"/>
                </a:solidFill>
                <a:latin typeface="メイリオ"/>
                <a:ea typeface="メイリオ"/>
                <a:cs typeface="メイリオ"/>
              </a:rPr>
              <a:t>自動入力</a:t>
            </a:r>
          </a:p>
        </p:txBody>
      </p:sp>
      <p:sp>
        <p:nvSpPr>
          <p:cNvPr id="13" name="Rounded Rectangle 12"/>
          <p:cNvSpPr/>
          <p:nvPr/>
        </p:nvSpPr>
        <p:spPr>
          <a:xfrm>
            <a:off x="648000" y="3888000"/>
            <a:ext cx="2304000" cy="378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住所を入力</a:t>
            </a:r>
          </a:p>
        </p:txBody>
      </p:sp>
      <p:sp>
        <p:nvSpPr>
          <p:cNvPr id="14" name="Rounded Rectangle 13"/>
          <p:cNvSpPr/>
          <p:nvPr/>
        </p:nvSpPr>
        <p:spPr>
          <a:xfrm>
            <a:off x="3420000" y="3888000"/>
            <a:ext cx="2304000" cy="378000"/>
          </a:xfrm>
          <a:prstGeom prst="roundRect">
            <a:avLst>
              <a:gd name="adj" fmla="val 12000"/>
            </a:avLst>
          </a:prstGeom>
          <a:solidFill>
            <a:srgbClr val="FFFFFF"/>
          </a:solidFill>
          <a:ln w="12700">
            <a:solidFill>
              <a:srgbClr val="06C755"/>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内容を確認</a:t>
            </a:r>
          </a:p>
        </p:txBody>
      </p:sp>
      <p:sp>
        <p:nvSpPr>
          <p:cNvPr id="15" name="Rounded Rectangle 14"/>
          <p:cNvSpPr/>
          <p:nvPr/>
        </p:nvSpPr>
        <p:spPr>
          <a:xfrm>
            <a:off x="648000" y="4409999"/>
            <a:ext cx="2304000" cy="378000"/>
          </a:xfrm>
          <a:prstGeom prst="roundRect">
            <a:avLst>
              <a:gd name="adj" fmla="val 12000"/>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送信</a:t>
            </a:r>
          </a:p>
        </p:txBody>
      </p:sp>
      <p:sp>
        <p:nvSpPr>
          <p:cNvPr id="16" name="Rounded Rectangle 15"/>
          <p:cNvSpPr/>
          <p:nvPr/>
        </p:nvSpPr>
        <p:spPr>
          <a:xfrm>
            <a:off x="3420000" y="4409999"/>
            <a:ext cx="2304000" cy="378000"/>
          </a:xfrm>
          <a:prstGeom prst="roundRect">
            <a:avLst>
              <a:gd name="adj" fmla="val 12000"/>
            </a:avLst>
          </a:prstGeom>
          <a:solidFill>
            <a:srgbClr val="FFFFFF"/>
          </a:solidFill>
          <a:ln w="12700">
            <a:solidFill>
              <a:srgbClr val="06C755"/>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送信</a:t>
            </a:r>
          </a:p>
        </p:txBody>
      </p:sp>
      <p:cxnSp>
        <p:nvCxnSpPr>
          <p:cNvPr id="17" name="Connector 16"/>
          <p:cNvCxnSpPr/>
          <p:nvPr/>
        </p:nvCxnSpPr>
        <p:spPr>
          <a:xfrm>
            <a:off x="3006000" y="3564000"/>
            <a:ext cx="360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8" name="Rounded Rectangle 17"/>
          <p:cNvSpPr/>
          <p:nvPr/>
        </p:nvSpPr>
        <p:spPr>
          <a:xfrm>
            <a:off x="5976000" y="2340000"/>
            <a:ext cx="3276000" cy="241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9" name="TextBox 18"/>
          <p:cNvSpPr txBox="1"/>
          <p:nvPr/>
        </p:nvSpPr>
        <p:spPr>
          <a:xfrm>
            <a:off x="6156000" y="2826000"/>
            <a:ext cx="2916000" cy="720000"/>
          </a:xfrm>
          <a:prstGeom prst="rect">
            <a:avLst/>
          </a:prstGeom>
          <a:noFill/>
        </p:spPr>
        <p:txBody>
          <a:bodyPr wrap="square" anchor="b" lIns="36000" rIns="36000" tIns="18000" bIns="18000">
            <a:spAutoFit/>
          </a:bodyPr>
          <a:lstStyle/>
          <a:p>
            <a:pPr algn="ctr">
              <a:lnSpc>
                <a:spcPct val="110000"/>
              </a:lnSpc>
              <a:spcAft>
                <a:spcPts val="400"/>
              </a:spcAft>
            </a:pPr>
            <a:r>
              <a:rPr sz="1200" b="1">
                <a:solidFill>
                  <a:srgbClr val="1F285A"/>
                </a:solidFill>
                <a:latin typeface="メイリオ"/>
                <a:ea typeface="メイリオ"/>
                <a:cs typeface="メイリオ"/>
              </a:rPr>
              <a:t>体験デモ（Profile+）</a:t>
            </a:r>
          </a:p>
          <a:p>
            <a:pPr algn="ctr">
              <a:lnSpc>
                <a:spcPct val="110000"/>
              </a:lnSpc>
              <a:spcAft>
                <a:spcPts val="0"/>
              </a:spcAft>
            </a:pPr>
            <a:r>
              <a:rPr sz="1050" b="0">
                <a:solidFill>
                  <a:srgbClr val="333333"/>
                </a:solidFill>
                <a:latin typeface="メイリオ"/>
                <a:ea typeface="メイリオ"/>
                <a:cs typeface="メイリオ"/>
              </a:rPr>
              <a:t>画面を操作しながら、</a:t>
            </a:r>
          </a:p>
          <a:p>
            <a:pPr algn="ctr">
              <a:lnSpc>
                <a:spcPct val="110000"/>
              </a:lnSpc>
              <a:spcAft>
                <a:spcPts val="0"/>
              </a:spcAft>
            </a:pPr>
            <a:r>
              <a:rPr sz="1050" b="0">
                <a:solidFill>
                  <a:srgbClr val="333333"/>
                </a:solidFill>
                <a:latin typeface="メイリオ"/>
                <a:ea typeface="メイリオ"/>
                <a:cs typeface="メイリオ"/>
              </a:rPr>
              <a:t>仕組みを確認できる</a:t>
            </a:r>
          </a:p>
        </p:txBody>
      </p:sp>
      <p:sp>
        <p:nvSpPr>
          <p:cNvPr id="20" name="Rounded Rectangle 19">
            <a:hlinkClick r:id="rId6"/>
          </p:cNvPr>
          <p:cNvSpPr/>
          <p:nvPr/>
        </p:nvSpPr>
        <p:spPr>
          <a:xfrm>
            <a:off x="6408000" y="3690000"/>
            <a:ext cx="2411999" cy="468000"/>
          </a:xfrm>
          <a:prstGeom prst="roundRect">
            <a:avLst>
              <a:gd name="adj" fmla="val 3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FFFFFF"/>
                </a:solidFill>
                <a:latin typeface="メイリオ"/>
                <a:ea typeface="メイリオ"/>
                <a:cs typeface="メイリオ"/>
              </a:rPr>
              <a:t>体験デモを開く　▶</a:t>
            </a:r>
          </a:p>
        </p:txBody>
      </p:sp>
      <p:sp>
        <p:nvSpPr>
          <p:cNvPr id="21" name="Rectangle 20"/>
          <p:cNvSpPr/>
          <p:nvPr/>
        </p:nvSpPr>
        <p:spPr>
          <a:xfrm>
            <a:off x="648000" y="5040000"/>
            <a:ext cx="8604000" cy="360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100" b="1">
                <a:solidFill>
                  <a:srgbClr val="1F285A"/>
                </a:solidFill>
                <a:latin typeface="メイリオ"/>
                <a:ea typeface="メイリオ"/>
                <a:cs typeface="メイリオ"/>
              </a:rPr>
              <a:t>※Profile+のご利用には、LINEヤフー株式会社による事前審査・承認が必要</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期待効果｜CVR改善とLTV向上の両立</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入力の手間を減らしてCVを増やし、LINEでつながった方にリピート・追客を続ける</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648000" y="2183999"/>
          <a:ext cx="8604000" cy="2448000"/>
        </p:xfrm>
        <a:graphic>
          <a:graphicData uri="http://schemas.openxmlformats.org/drawingml/2006/table">
            <a:tbl>
              <a:tblPr firstRow="1" bandRow="0">
                <a:tableStyleId>{5C22544A-7EE6-4342-B048-85BDC9FD1C3A}</a:tableStyleId>
              </a:tblPr>
              <a:tblGrid>
                <a:gridCol w="1800000"/>
                <a:gridCol w="4464000"/>
                <a:gridCol w="2340000"/>
              </a:tblGrid>
              <a:tr h="612000">
                <a:tc>
                  <a:txBody>
                    <a:bodyPr wrap="square"/>
                    <a:lstStyle/>
                    <a:p>
                      <a:pPr algn="ctr"/>
                      <a:r>
                        <a:rPr sz="1100" b="1">
                          <a:solidFill>
                            <a:srgbClr val="FFFFFF"/>
                          </a:solidFill>
                          <a:latin typeface="メイリオ"/>
                          <a:ea typeface="メイリオ"/>
                          <a:cs typeface="メイリオ"/>
                        </a:rPr>
                        <a:t>期待効果</a:t>
                      </a:r>
                    </a:p>
                  </a:txBody>
                  <a:tcPr anchor="ctr" marL="72000" marR="72000" marT="28800" marB="28800">
                    <a:solidFill>
                      <a:srgbClr val="1F285A"/>
                    </a:solidFill>
                  </a:tcPr>
                </a:tc>
                <a:tc>
                  <a:txBody>
                    <a:bodyPr wrap="square"/>
                    <a:lstStyle/>
                    <a:p>
                      <a:pPr algn="ctr"/>
                      <a:r>
                        <a:rPr sz="1100" b="1">
                          <a:solidFill>
                            <a:srgbClr val="FFFFFF"/>
                          </a:solidFill>
                          <a:latin typeface="メイリオ"/>
                          <a:ea typeface="メイリオ"/>
                          <a:cs typeface="メイリオ"/>
                        </a:rPr>
                        <a:t>何が変わるか</a:t>
                      </a:r>
                    </a:p>
                  </a:txBody>
                  <a:tcPr anchor="ctr" marL="72000" marR="72000" marT="28800" marB="28800">
                    <a:solidFill>
                      <a:srgbClr val="1F285A"/>
                    </a:solidFill>
                  </a:tcPr>
                </a:tc>
                <a:tc>
                  <a:txBody>
                    <a:bodyPr wrap="square"/>
                    <a:lstStyle/>
                    <a:p>
                      <a:pPr algn="ctr"/>
                      <a:r>
                        <a:rPr sz="1100" b="1">
                          <a:solidFill>
                            <a:srgbClr val="FFFFFF"/>
                          </a:solidFill>
                          <a:latin typeface="メイリオ"/>
                          <a:ea typeface="メイリオ"/>
                          <a:cs typeface="メイリオ"/>
                        </a:rPr>
                        <a:t>関わる機能</a:t>
                      </a:r>
                    </a:p>
                  </a:txBody>
                  <a:tcPr anchor="ctr" marL="72000" marR="72000" marT="28800" marB="28800">
                    <a:solidFill>
                      <a:srgbClr val="1F285A"/>
                    </a:solidFill>
                  </a:tcPr>
                </a:tc>
              </a:tr>
              <a:tr h="612000">
                <a:tc>
                  <a:txBody>
                    <a:bodyPr wrap="square"/>
                    <a:lstStyle/>
                    <a:p>
                      <a:pPr algn="ctr"/>
                      <a:r>
                        <a:rPr sz="1200" b="1">
                          <a:solidFill>
                            <a:srgbClr val="1F285A"/>
                          </a:solidFill>
                          <a:latin typeface="メイリオ"/>
                          <a:ea typeface="メイリオ"/>
                          <a:cs typeface="メイリオ"/>
                        </a:rPr>
                        <a:t>CVR改善</a:t>
                      </a:r>
                    </a:p>
                  </a:txBody>
                  <a:tcPr anchor="ctr" marL="72000" marR="72000" marT="28800" marB="28800">
                    <a:solidFill>
                      <a:srgbClr val="F2F2F2"/>
                    </a:solidFill>
                  </a:tcPr>
                </a:tc>
                <a:tc>
                  <a:txBody>
                    <a:bodyPr wrap="square"/>
                    <a:lstStyle/>
                    <a:p>
                      <a:pPr algn="l"/>
                      <a:r>
                        <a:rPr sz="1200" b="0">
                          <a:solidFill>
                            <a:srgbClr val="333333"/>
                          </a:solidFill>
                          <a:latin typeface="メイリオ"/>
                          <a:ea typeface="メイリオ"/>
                          <a:cs typeface="メイリオ"/>
                        </a:rPr>
                        <a:t>会員登録とフォーム入力のステップが減り、</a:t>
                      </a:r>
                    </a:p>
                    <a:p>
                      <a:pPr algn="l"/>
                      <a:r>
                        <a:rPr sz="1200" b="0">
                          <a:solidFill>
                            <a:srgbClr val="333333"/>
                          </a:solidFill>
                          <a:latin typeface="メイリオ"/>
                          <a:ea typeface="メイリオ"/>
                          <a:cs typeface="メイリオ"/>
                        </a:rPr>
                        <a:t>予約・購入までの離脱を抑える</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LINEログイン</a:t>
                      </a:r>
                    </a:p>
                    <a:p>
                      <a:pPr algn="l"/>
                      <a:r>
                        <a:rPr sz="1200" b="0">
                          <a:solidFill>
                            <a:srgbClr val="333333"/>
                          </a:solidFill>
                          <a:latin typeface="メイリオ"/>
                          <a:ea typeface="メイリオ"/>
                          <a:cs typeface="メイリオ"/>
                        </a:rPr>
                        <a:t>Profile+</a:t>
                      </a:r>
                    </a:p>
                  </a:txBody>
                  <a:tcPr anchor="ctr" marL="72000" marR="72000" marT="28800" marB="28800">
                    <a:solidFill>
                      <a:srgbClr val="FFFFFF"/>
                    </a:solidFill>
                  </a:tcPr>
                </a:tc>
              </a:tr>
              <a:tr h="612000">
                <a:tc>
                  <a:txBody>
                    <a:bodyPr wrap="square"/>
                    <a:lstStyle/>
                    <a:p>
                      <a:pPr algn="ctr"/>
                      <a:r>
                        <a:rPr sz="1200" b="1">
                          <a:solidFill>
                            <a:srgbClr val="1F285A"/>
                          </a:solidFill>
                          <a:latin typeface="メイリオ"/>
                          <a:ea typeface="メイリオ"/>
                          <a:cs typeface="メイリオ"/>
                        </a:rPr>
                        <a:t>友だちの増加</a:t>
                      </a:r>
                    </a:p>
                  </a:txBody>
                  <a:tcPr anchor="ctr" marL="72000" marR="72000" marT="28800" marB="28800">
                    <a:solidFill>
                      <a:srgbClr val="F2F2F2"/>
                    </a:solidFill>
                  </a:tcPr>
                </a:tc>
                <a:tc>
                  <a:txBody>
                    <a:bodyPr wrap="square"/>
                    <a:lstStyle/>
                    <a:p>
                      <a:pPr algn="l"/>
                      <a:r>
                        <a:rPr sz="1200" b="0">
                          <a:solidFill>
                            <a:srgbClr val="333333"/>
                          </a:solidFill>
                          <a:latin typeface="メイリオ"/>
                          <a:ea typeface="メイリオ"/>
                          <a:cs typeface="メイリオ"/>
                        </a:rPr>
                        <a:t>ログインと同時に友だち追加を案内し、</a:t>
                      </a:r>
                    </a:p>
                    <a:p>
                      <a:pPr algn="l"/>
                      <a:r>
                        <a:rPr sz="1200" b="0">
                          <a:solidFill>
                            <a:srgbClr val="333333"/>
                          </a:solidFill>
                          <a:latin typeface="メイリオ"/>
                          <a:ea typeface="メイリオ"/>
                          <a:cs typeface="メイリオ"/>
                        </a:rPr>
                        <a:t>CV前の方ともつながる</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LINEログイン</a:t>
                      </a:r>
                    </a:p>
                    <a:p>
                      <a:pPr algn="l"/>
                      <a:r>
                        <a:rPr sz="1200" b="0">
                          <a:solidFill>
                            <a:srgbClr val="333333"/>
                          </a:solidFill>
                          <a:latin typeface="メイリオ"/>
                          <a:ea typeface="メイリオ"/>
                          <a:cs typeface="メイリオ"/>
                        </a:rPr>
                        <a:t>（友だち追加オプション）</a:t>
                      </a:r>
                    </a:p>
                  </a:txBody>
                  <a:tcPr anchor="ctr" marL="72000" marR="72000" marT="28800" marB="28800">
                    <a:solidFill>
                      <a:srgbClr val="FFFFFF"/>
                    </a:solidFill>
                  </a:tcPr>
                </a:tc>
              </a:tr>
              <a:tr h="612000">
                <a:tc>
                  <a:txBody>
                    <a:bodyPr wrap="square"/>
                    <a:lstStyle/>
                    <a:p>
                      <a:pPr algn="ctr"/>
                      <a:r>
                        <a:rPr sz="1200" b="1">
                          <a:solidFill>
                            <a:srgbClr val="1F285A"/>
                          </a:solidFill>
                          <a:latin typeface="メイリオ"/>
                          <a:ea typeface="メイリオ"/>
                          <a:cs typeface="メイリオ"/>
                        </a:rPr>
                        <a:t>LTV向上</a:t>
                      </a:r>
                    </a:p>
                  </a:txBody>
                  <a:tcPr anchor="ctr" marL="72000" marR="72000" marT="28800" marB="28800">
                    <a:solidFill>
                      <a:srgbClr val="F2F2F2"/>
                    </a:solidFill>
                  </a:tcPr>
                </a:tc>
                <a:tc>
                  <a:txBody>
                    <a:bodyPr wrap="square"/>
                    <a:lstStyle/>
                    <a:p>
                      <a:pPr algn="l"/>
                      <a:r>
                        <a:rPr sz="1200" b="0">
                          <a:solidFill>
                            <a:srgbClr val="333333"/>
                          </a:solidFill>
                          <a:latin typeface="メイリオ"/>
                          <a:ea typeface="メイリオ"/>
                          <a:cs typeface="メイリオ"/>
                        </a:rPr>
                        <a:t>CV後もLINEで連絡が届き、</a:t>
                      </a:r>
                    </a:p>
                    <a:p>
                      <a:pPr algn="l"/>
                      <a:r>
                        <a:rPr sz="1200" b="0">
                          <a:solidFill>
                            <a:srgbClr val="333333"/>
                          </a:solidFill>
                          <a:latin typeface="メイリオ"/>
                          <a:ea typeface="メイリオ"/>
                          <a:cs typeface="メイリオ"/>
                        </a:rPr>
                        <a:t>リマインド・会員ごとの配信でリピート・追客を続ける</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ID連携</a:t>
                      </a:r>
                    </a:p>
                    <a:p>
                      <a:pPr algn="l"/>
                      <a:r>
                        <a:rPr sz="1200" b="0">
                          <a:solidFill>
                            <a:srgbClr val="333333"/>
                          </a:solidFill>
                          <a:latin typeface="メイリオ"/>
                          <a:ea typeface="メイリオ"/>
                          <a:cs typeface="メイリオ"/>
                        </a:rPr>
                        <a:t>LINE公式アカウント</a:t>
                      </a:r>
                    </a:p>
                  </a:txBody>
                  <a:tcPr anchor="ctr" marL="72000" marR="72000" marT="28800" marB="28800">
                    <a:solidFill>
                      <a:srgbClr val="FFFFFF"/>
                    </a:solidFill>
                  </a:tcPr>
                </a:tc>
              </a:tr>
            </a:tbl>
          </a:graphicData>
        </a:graphic>
      </p:graphicFrame>
      <p:sp>
        <p:nvSpPr>
          <p:cNvPr id="7" name="Rectangle 6"/>
          <p:cNvSpPr/>
          <p:nvPr/>
        </p:nvSpPr>
        <p:spPr>
          <a:xfrm>
            <a:off x="648000" y="4884000"/>
            <a:ext cx="8604000" cy="396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入口（登録・入力）の手間を減らし、CV後もLINEでつながり続ける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費用｜LINEヤフー社の利用料と、弊社の開発・保守費用</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LINEログインの機能は無料。ID連携・Profile+の開発・保守は弊社で対応</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648000" y="2159999"/>
          <a:ext cx="8603999" cy="2610000"/>
        </p:xfrm>
        <a:graphic>
          <a:graphicData uri="http://schemas.openxmlformats.org/drawingml/2006/table">
            <a:tbl>
              <a:tblPr firstRow="1" bandRow="0">
                <a:tableStyleId>{5C22544A-7EE6-4342-B048-85BDC9FD1C3A}</a:tableStyleId>
              </a:tblPr>
              <a:tblGrid>
                <a:gridCol w="1872000"/>
                <a:gridCol w="2340000"/>
                <a:gridCol w="2015999"/>
                <a:gridCol w="2376000"/>
              </a:tblGrid>
              <a:tr h="522000">
                <a:tc>
                  <a:txBody>
                    <a:bodyPr wrap="square"/>
                    <a:lstStyle/>
                    <a:p>
                      <a:pPr algn="ctr"/>
                      <a:r>
                        <a:rPr sz="1100" b="1">
                          <a:solidFill>
                            <a:srgbClr val="FFFFFF"/>
                          </a:solidFill>
                          <a:latin typeface="メイリオ"/>
                          <a:ea typeface="メイリオ"/>
                          <a:cs typeface="メイリオ"/>
                        </a:rPr>
                        <a:t>区分</a:t>
                      </a:r>
                    </a:p>
                  </a:txBody>
                  <a:tcPr anchor="ctr" marL="72000" marR="72000" marT="28800" marB="28800">
                    <a:solidFill>
                      <a:srgbClr val="1F285A"/>
                    </a:solidFill>
                  </a:tcPr>
                </a:tc>
                <a:tc>
                  <a:txBody>
                    <a:bodyPr wrap="square"/>
                    <a:lstStyle/>
                    <a:p>
                      <a:pPr algn="ctr"/>
                      <a:r>
                        <a:rPr sz="1100" b="1">
                          <a:solidFill>
                            <a:srgbClr val="FFFFFF"/>
                          </a:solidFill>
                          <a:latin typeface="メイリオ"/>
                          <a:ea typeface="メイリオ"/>
                          <a:cs typeface="メイリオ"/>
                        </a:rPr>
                        <a:t>項目</a:t>
                      </a:r>
                    </a:p>
                  </a:txBody>
                  <a:tcPr anchor="ctr" marL="72000" marR="72000" marT="28800" marB="28800">
                    <a:solidFill>
                      <a:srgbClr val="1F285A"/>
                    </a:solidFill>
                  </a:tcPr>
                </a:tc>
                <a:tc>
                  <a:txBody>
                    <a:bodyPr wrap="square"/>
                    <a:lstStyle/>
                    <a:p>
                      <a:pPr algn="ctr"/>
                      <a:r>
                        <a:rPr sz="1100" b="1">
                          <a:solidFill>
                            <a:srgbClr val="FFFFFF"/>
                          </a:solidFill>
                          <a:latin typeface="メイリオ"/>
                          <a:ea typeface="メイリオ"/>
                          <a:cs typeface="メイリオ"/>
                        </a:rPr>
                        <a:t>初期</a:t>
                      </a:r>
                    </a:p>
                  </a:txBody>
                  <a:tcPr anchor="ctr" marL="72000" marR="72000" marT="28800" marB="28800">
                    <a:solidFill>
                      <a:srgbClr val="1F285A"/>
                    </a:solidFill>
                  </a:tcPr>
                </a:tc>
                <a:tc>
                  <a:txBody>
                    <a:bodyPr wrap="square"/>
                    <a:lstStyle/>
                    <a:p>
                      <a:pPr algn="ctr"/>
                      <a:r>
                        <a:rPr sz="1100" b="1">
                          <a:solidFill>
                            <a:srgbClr val="FFFFFF"/>
                          </a:solidFill>
                          <a:latin typeface="メイリオ"/>
                          <a:ea typeface="メイリオ"/>
                          <a:cs typeface="メイリオ"/>
                        </a:rPr>
                        <a:t>月額</a:t>
                      </a:r>
                    </a:p>
                  </a:txBody>
                  <a:tcPr anchor="ctr" marL="72000" marR="72000" marT="28800" marB="28800">
                    <a:solidFill>
                      <a:srgbClr val="1F285A"/>
                    </a:solidFill>
                  </a:tcPr>
                </a:tc>
              </a:tr>
              <a:tr h="522000">
                <a:tc rowSpan="2">
                  <a:txBody>
                    <a:bodyPr wrap="square"/>
                    <a:lstStyle/>
                    <a:p>
                      <a:pPr algn="ctr"/>
                      <a:r>
                        <a:rPr sz="1200" b="1">
                          <a:solidFill>
                            <a:srgbClr val="1F285A"/>
                          </a:solidFill>
                          <a:latin typeface="メイリオ"/>
                          <a:ea typeface="メイリオ"/>
                          <a:cs typeface="メイリオ"/>
                        </a:rPr>
                        <a:t>LINEヤフー社の</a:t>
                      </a:r>
                    </a:p>
                    <a:p>
                      <a:pPr algn="ctr"/>
                      <a:r>
                        <a:rPr sz="1200" b="1">
                          <a:solidFill>
                            <a:srgbClr val="1F285A"/>
                          </a:solidFill>
                          <a:latin typeface="メイリオ"/>
                          <a:ea typeface="メイリオ"/>
                          <a:cs typeface="メイリオ"/>
                        </a:rPr>
                        <a:t>利用料</a:t>
                      </a:r>
                    </a:p>
                  </a:txBody>
                  <a:tcPr anchor="ctr" marL="72000" marR="72000" marT="28800" marB="28800">
                    <a:solidFill>
                      <a:srgbClr val="F2F2F2"/>
                    </a:solidFill>
                  </a:tcPr>
                </a:tc>
                <a:tc>
                  <a:txBody>
                    <a:bodyPr wrap="square"/>
                    <a:lstStyle/>
                    <a:p>
                      <a:pPr algn="l"/>
                      <a:r>
                        <a:rPr sz="1200" b="0">
                          <a:solidFill>
                            <a:srgbClr val="333333"/>
                          </a:solidFill>
                          <a:latin typeface="メイリオ"/>
                          <a:ea typeface="メイリオ"/>
                          <a:cs typeface="メイリオ"/>
                        </a:rPr>
                        <a:t>LINEログイン</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0円</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0円</a:t>
                      </a:r>
                    </a:p>
                  </a:txBody>
                  <a:tcPr anchor="ctr" marL="72000" marR="72000" marT="28800" marB="28800">
                    <a:solidFill>
                      <a:srgbClr val="FFFFFF"/>
                    </a:solidFill>
                  </a:tcPr>
                </a:tc>
              </a:tr>
              <a:tr h="522000">
                <a:tc vMerge="1">
                  <a:txBody>
                    <a:bodyPr wrap="square"/>
                    <a:lstStyle/>
                    <a:p>
                      <a:pPr algn="ctr"/>
                      <a:r>
                        <a:rPr sz="1200" b="1">
                          <a:solidFill>
                            <a:srgbClr val="1F285A"/>
                          </a:solidFill>
                          <a:latin typeface="メイリオ"/>
                          <a:ea typeface="メイリオ"/>
                          <a:cs typeface="メイリオ"/>
                        </a:rPr>
                        <a:t/>
                      </a:r>
                    </a:p>
                  </a:txBody>
                  <a:tcPr anchor="ctr" marL="72000" marR="72000" marT="28800" marB="28800">
                    <a:solidFill>
                      <a:srgbClr val="F2F2F2"/>
                    </a:solidFill>
                  </a:tcPr>
                </a:tc>
                <a:tc>
                  <a:txBody>
                    <a:bodyPr wrap="square"/>
                    <a:lstStyle/>
                    <a:p>
                      <a:pPr algn="l"/>
                      <a:r>
                        <a:rPr sz="1200" b="0">
                          <a:solidFill>
                            <a:srgbClr val="333333"/>
                          </a:solidFill>
                          <a:latin typeface="メイリオ"/>
                          <a:ea typeface="メイリオ"/>
                          <a:cs typeface="メイリオ"/>
                        </a:rPr>
                        <a:t>LINE公式アカウント</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月額プラン料金＋</a:t>
                      </a:r>
                    </a:p>
                    <a:p>
                      <a:pPr algn="l"/>
                      <a:r>
                        <a:rPr sz="1200" b="0">
                          <a:solidFill>
                            <a:srgbClr val="333333"/>
                          </a:solidFill>
                          <a:latin typeface="メイリオ"/>
                          <a:ea typeface="メイリオ"/>
                          <a:cs typeface="メイリオ"/>
                        </a:rPr>
                        <a:t>メッセージ通数に応じた費用</a:t>
                      </a:r>
                    </a:p>
                  </a:txBody>
                  <a:tcPr anchor="ctr" marL="72000" marR="72000" marT="28800" marB="28800">
                    <a:solidFill>
                      <a:srgbClr val="FFFFFF"/>
                    </a:solidFill>
                  </a:tcPr>
                </a:tc>
              </a:tr>
              <a:tr h="522000">
                <a:tc rowSpan="2">
                  <a:txBody>
                    <a:bodyPr wrap="square"/>
                    <a:lstStyle/>
                    <a:p>
                      <a:pPr algn="ctr"/>
                      <a:r>
                        <a:rPr sz="1200" b="1">
                          <a:solidFill>
                            <a:srgbClr val="1F285A"/>
                          </a:solidFill>
                          <a:latin typeface="メイリオ"/>
                          <a:ea typeface="メイリオ"/>
                          <a:cs typeface="メイリオ"/>
                        </a:rPr>
                        <a:t>弊社の</a:t>
                      </a:r>
                    </a:p>
                    <a:p>
                      <a:pPr algn="ctr"/>
                      <a:r>
                        <a:rPr sz="1200" b="1">
                          <a:solidFill>
                            <a:srgbClr val="1F285A"/>
                          </a:solidFill>
                          <a:latin typeface="メイリオ"/>
                          <a:ea typeface="メイリオ"/>
                          <a:cs typeface="メイリオ"/>
                        </a:rPr>
                        <a:t>開発・保守費用</a:t>
                      </a:r>
                    </a:p>
                  </a:txBody>
                  <a:tcPr anchor="ctr" marL="72000" marR="72000" marT="28800" marB="28800">
                    <a:solidFill>
                      <a:srgbClr val="F2F2F2"/>
                    </a:solidFill>
                  </a:tcPr>
                </a:tc>
                <a:tc>
                  <a:txBody>
                    <a:bodyPr wrap="square"/>
                    <a:lstStyle/>
                    <a:p>
                      <a:pPr algn="l"/>
                      <a:r>
                        <a:rPr sz="1200" b="0">
                          <a:solidFill>
                            <a:srgbClr val="333333"/>
                          </a:solidFill>
                          <a:latin typeface="メイリオ"/>
                          <a:ea typeface="メイリオ"/>
                          <a:cs typeface="メイリオ"/>
                        </a:rPr>
                        <a:t>ID連携</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200,000円〜</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50,000円〜</a:t>
                      </a:r>
                    </a:p>
                  </a:txBody>
                  <a:tcPr anchor="ctr" marL="72000" marR="72000" marT="28800" marB="28800">
                    <a:solidFill>
                      <a:srgbClr val="FFFFFF"/>
                    </a:solidFill>
                  </a:tcPr>
                </a:tc>
              </a:tr>
              <a:tr h="522000">
                <a:tc vMerge="1">
                  <a:txBody>
                    <a:bodyPr wrap="square"/>
                    <a:lstStyle/>
                    <a:p>
                      <a:pPr algn="ctr"/>
                      <a:r>
                        <a:rPr sz="1200" b="1">
                          <a:solidFill>
                            <a:srgbClr val="1F285A"/>
                          </a:solidFill>
                          <a:latin typeface="メイリオ"/>
                          <a:ea typeface="メイリオ"/>
                          <a:cs typeface="メイリオ"/>
                        </a:rPr>
                        <a:t/>
                      </a:r>
                    </a:p>
                  </a:txBody>
                  <a:tcPr anchor="ctr" marL="72000" marR="72000" marT="28800" marB="28800">
                    <a:solidFill>
                      <a:srgbClr val="F2F2F2"/>
                    </a:solidFill>
                  </a:tcPr>
                </a:tc>
                <a:tc>
                  <a:txBody>
                    <a:bodyPr wrap="square"/>
                    <a:lstStyle/>
                    <a:p>
                      <a:pPr algn="l"/>
                      <a:r>
                        <a:rPr sz="1200" b="0">
                          <a:solidFill>
                            <a:srgbClr val="333333"/>
                          </a:solidFill>
                          <a:latin typeface="メイリオ"/>
                          <a:ea typeface="メイリオ"/>
                          <a:cs typeface="メイリオ"/>
                        </a:rPr>
                        <a:t>Profile+</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別途お見積もり</a:t>
                      </a:r>
                    </a:p>
                  </a:txBody>
                  <a:tcPr anchor="ctr" marL="72000" marR="72000" marT="28800" marB="28800">
                    <a:solidFill>
                      <a:srgbClr val="FFFFFF"/>
                    </a:solidFill>
                  </a:tcPr>
                </a:tc>
                <a:tc>
                  <a:txBody>
                    <a:bodyPr wrap="square"/>
                    <a:lstStyle/>
                    <a:p>
                      <a:pPr algn="l"/>
                      <a:r>
                        <a:rPr sz="1200" b="0">
                          <a:solidFill>
                            <a:srgbClr val="333333"/>
                          </a:solidFill>
                          <a:latin typeface="メイリオ"/>
                          <a:ea typeface="メイリオ"/>
                          <a:cs typeface="メイリオ"/>
                        </a:rPr>
                        <a:t>別途お見積もり</a:t>
                      </a:r>
                    </a:p>
                  </a:txBody>
                  <a:tcPr anchor="ctr" marL="72000" marR="72000" marT="28800" marB="28800">
                    <a:solidFill>
                      <a:srgbClr val="FFFFFF"/>
                    </a:solidFill>
                  </a:tcPr>
                </a:tc>
              </a:tr>
            </a:tbl>
          </a:graphicData>
        </a:graphic>
      </p:graphicFrame>
      <p:sp>
        <p:nvSpPr>
          <p:cNvPr id="7" name="TextBox 6"/>
          <p:cNvSpPr txBox="1"/>
          <p:nvPr/>
        </p:nvSpPr>
        <p:spPr>
          <a:xfrm>
            <a:off x="648000" y="4896000"/>
            <a:ext cx="8604000" cy="216000"/>
          </a:xfrm>
          <a:prstGeom prst="rect">
            <a:avLst/>
          </a:prstGeom>
          <a:noFill/>
        </p:spPr>
        <p:txBody>
          <a:bodyPr wrap="square" anchor="t" lIns="36000" rIns="36000" tIns="18000" bIns="18000">
            <a:spAutoFit/>
          </a:bodyPr>
          <a:lstStyle/>
          <a:p>
            <a:pPr algn="l">
              <a:lnSpc>
                <a:spcPct val="110000"/>
              </a:lnSpc>
              <a:spcAft>
                <a:spcPts val="0"/>
              </a:spcAft>
            </a:pPr>
            <a:r>
              <a:rPr sz="900" b="0">
                <a:solidFill>
                  <a:srgbClr val="7F7F7F"/>
                </a:solidFill>
                <a:latin typeface="メイリオ"/>
                <a:ea typeface="メイリオ"/>
                <a:cs typeface="メイリオ"/>
              </a:rPr>
              <a:t>※LINE公式アカウントのメッセージ配信料等は、別途発生</a:t>
            </a:r>
          </a:p>
        </p:txBody>
      </p:sp>
      <p:sp>
        <p:nvSpPr>
          <p:cNvPr id="8" name="TextBox 7"/>
          <p:cNvSpPr txBox="1"/>
          <p:nvPr/>
        </p:nvSpPr>
        <p:spPr>
          <a:xfrm>
            <a:off x="648000" y="5112000"/>
            <a:ext cx="8604000" cy="216000"/>
          </a:xfrm>
          <a:prstGeom prst="rect">
            <a:avLst/>
          </a:prstGeom>
          <a:noFill/>
        </p:spPr>
        <p:txBody>
          <a:bodyPr wrap="square" anchor="t" lIns="36000" rIns="36000" tIns="18000" bIns="18000">
            <a:spAutoFit/>
          </a:bodyPr>
          <a:lstStyle/>
          <a:p>
            <a:pPr algn="l">
              <a:lnSpc>
                <a:spcPct val="110000"/>
              </a:lnSpc>
              <a:spcAft>
                <a:spcPts val="0"/>
              </a:spcAft>
            </a:pPr>
            <a:r>
              <a:rPr sz="900" b="0">
                <a:solidFill>
                  <a:srgbClr val="7F7F7F"/>
                </a:solidFill>
                <a:latin typeface="メイリオ"/>
                <a:ea typeface="メイリオ"/>
                <a:cs typeface="メイリオ"/>
              </a:rPr>
              <a:t>※施策内容・連携範囲等により、費用は個別にお見積もりいたします。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導入の流れ｜お申込みから公開まで</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要件定義の段階でProfile+の審査申請を進め、開発・検証を経て公開</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Pentagon 5"/>
          <p:cNvSpPr/>
          <p:nvPr/>
        </p:nvSpPr>
        <p:spPr>
          <a:xfrm>
            <a:off x="648000" y="2784000"/>
            <a:ext cx="2070000" cy="576000"/>
          </a:xfrm>
          <a:prstGeom prst="homePlate">
            <a:avLst>
              <a:gd name="adj" fmla="val 25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18000" rIns="144000" bIns="18000"/>
          <a:lstStyle/>
          <a:p>
            <a:pPr algn="ctr">
              <a:lnSpc>
                <a:spcPct val="110000"/>
              </a:lnSpc>
              <a:spcAft>
                <a:spcPts val="0"/>
              </a:spcAft>
            </a:pPr>
            <a:r>
              <a:rPr sz="1300" b="1">
                <a:solidFill>
                  <a:srgbClr val="FFFFFF"/>
                </a:solidFill>
                <a:latin typeface="メイリオ"/>
                <a:ea typeface="メイリオ"/>
                <a:cs typeface="メイリオ"/>
              </a:rPr>
              <a:t>お申込み</a:t>
            </a:r>
          </a:p>
        </p:txBody>
      </p:sp>
      <p:sp>
        <p:nvSpPr>
          <p:cNvPr id="7" name="TextBox 6"/>
          <p:cNvSpPr txBox="1"/>
          <p:nvPr/>
        </p:nvSpPr>
        <p:spPr>
          <a:xfrm>
            <a:off x="720000" y="3504000"/>
            <a:ext cx="1925999" cy="720000"/>
          </a:xfrm>
          <a:prstGeom prst="rect">
            <a:avLst/>
          </a:prstGeom>
          <a:noFill/>
        </p:spPr>
        <p:txBody>
          <a:bodyPr wrap="square" anchor="t" lIns="36000" rIns="36000" tIns="18000" bIns="18000">
            <a:spAutoFit/>
          </a:bodyPr>
          <a:lstStyle/>
          <a:p>
            <a:pPr algn="ctr">
              <a:lnSpc>
                <a:spcPct val="110000"/>
              </a:lnSpc>
              <a:spcAft>
                <a:spcPts val="0"/>
              </a:spcAft>
            </a:pPr>
            <a:r>
              <a:rPr sz="1100" b="0">
                <a:solidFill>
                  <a:srgbClr val="333333"/>
                </a:solidFill>
                <a:latin typeface="メイリオ"/>
                <a:ea typeface="メイリオ"/>
                <a:cs typeface="メイリオ"/>
              </a:rPr>
              <a:t>ご要望・現在の会員登録・</a:t>
            </a:r>
          </a:p>
          <a:p>
            <a:pPr algn="ctr">
              <a:lnSpc>
                <a:spcPct val="110000"/>
              </a:lnSpc>
              <a:spcAft>
                <a:spcPts val="0"/>
              </a:spcAft>
            </a:pPr>
            <a:r>
              <a:rPr sz="1100" b="0">
                <a:solidFill>
                  <a:srgbClr val="333333"/>
                </a:solidFill>
                <a:latin typeface="メイリオ"/>
                <a:ea typeface="メイリオ"/>
                <a:cs typeface="メイリオ"/>
              </a:rPr>
              <a:t>フォームの確認</a:t>
            </a:r>
          </a:p>
        </p:txBody>
      </p:sp>
      <p:sp>
        <p:nvSpPr>
          <p:cNvPr id="8" name="Chevron 7"/>
          <p:cNvSpPr/>
          <p:nvPr/>
        </p:nvSpPr>
        <p:spPr>
          <a:xfrm>
            <a:off x="2826000" y="2784000"/>
            <a:ext cx="2070000" cy="576000"/>
          </a:xfrm>
          <a:prstGeom prst="chevron">
            <a:avLst>
              <a:gd name="adj" fmla="val 25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18000" rIns="144000" bIns="18000"/>
          <a:lstStyle/>
          <a:p>
            <a:pPr algn="ctr">
              <a:lnSpc>
                <a:spcPct val="110000"/>
              </a:lnSpc>
              <a:spcAft>
                <a:spcPts val="0"/>
              </a:spcAft>
            </a:pPr>
            <a:r>
              <a:rPr sz="1300" b="1">
                <a:solidFill>
                  <a:srgbClr val="FFFFFF"/>
                </a:solidFill>
                <a:latin typeface="メイリオ"/>
                <a:ea typeface="メイリオ"/>
                <a:cs typeface="メイリオ"/>
              </a:rPr>
              <a:t>要件定義・設計</a:t>
            </a:r>
          </a:p>
        </p:txBody>
      </p:sp>
      <p:sp>
        <p:nvSpPr>
          <p:cNvPr id="9" name="TextBox 8"/>
          <p:cNvSpPr txBox="1"/>
          <p:nvPr/>
        </p:nvSpPr>
        <p:spPr>
          <a:xfrm>
            <a:off x="2897999" y="3504000"/>
            <a:ext cx="1925999" cy="720000"/>
          </a:xfrm>
          <a:prstGeom prst="rect">
            <a:avLst/>
          </a:prstGeom>
          <a:noFill/>
        </p:spPr>
        <p:txBody>
          <a:bodyPr wrap="square" anchor="t" lIns="36000" rIns="36000" tIns="18000" bIns="18000">
            <a:spAutoFit/>
          </a:bodyPr>
          <a:lstStyle/>
          <a:p>
            <a:pPr algn="ctr">
              <a:lnSpc>
                <a:spcPct val="110000"/>
              </a:lnSpc>
              <a:spcAft>
                <a:spcPts val="0"/>
              </a:spcAft>
            </a:pPr>
            <a:r>
              <a:rPr sz="1100" b="0">
                <a:solidFill>
                  <a:srgbClr val="333333"/>
                </a:solidFill>
                <a:latin typeface="メイリオ"/>
                <a:ea typeface="メイリオ"/>
                <a:cs typeface="メイリオ"/>
              </a:rPr>
              <a:t>導線と連携範囲を設計</a:t>
            </a:r>
          </a:p>
          <a:p>
            <a:pPr algn="ctr">
              <a:lnSpc>
                <a:spcPct val="110000"/>
              </a:lnSpc>
              <a:spcAft>
                <a:spcPts val="0"/>
              </a:spcAft>
            </a:pPr>
            <a:r>
              <a:rPr sz="1100" b="0">
                <a:solidFill>
                  <a:srgbClr val="333333"/>
                </a:solidFill>
                <a:latin typeface="メイリオ"/>
                <a:ea typeface="メイリオ"/>
                <a:cs typeface="メイリオ"/>
              </a:rPr>
              <a:t>Profile+の審査申請</a:t>
            </a:r>
          </a:p>
        </p:txBody>
      </p:sp>
      <p:sp>
        <p:nvSpPr>
          <p:cNvPr id="10" name="Chevron 9"/>
          <p:cNvSpPr/>
          <p:nvPr/>
        </p:nvSpPr>
        <p:spPr>
          <a:xfrm>
            <a:off x="5004000" y="2784000"/>
            <a:ext cx="2070000" cy="576000"/>
          </a:xfrm>
          <a:prstGeom prst="chevron">
            <a:avLst>
              <a:gd name="adj" fmla="val 25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18000" rIns="144000" bIns="18000"/>
          <a:lstStyle/>
          <a:p>
            <a:pPr algn="ctr">
              <a:lnSpc>
                <a:spcPct val="110000"/>
              </a:lnSpc>
              <a:spcAft>
                <a:spcPts val="0"/>
              </a:spcAft>
            </a:pPr>
            <a:r>
              <a:rPr sz="1300" b="1">
                <a:solidFill>
                  <a:srgbClr val="FFFFFF"/>
                </a:solidFill>
                <a:latin typeface="メイリオ"/>
                <a:ea typeface="メイリオ"/>
                <a:cs typeface="メイリオ"/>
              </a:rPr>
              <a:t>開発</a:t>
            </a:r>
          </a:p>
        </p:txBody>
      </p:sp>
      <p:sp>
        <p:nvSpPr>
          <p:cNvPr id="11" name="TextBox 10"/>
          <p:cNvSpPr txBox="1"/>
          <p:nvPr/>
        </p:nvSpPr>
        <p:spPr>
          <a:xfrm>
            <a:off x="5076000" y="3504000"/>
            <a:ext cx="1925999" cy="720000"/>
          </a:xfrm>
          <a:prstGeom prst="rect">
            <a:avLst/>
          </a:prstGeom>
          <a:noFill/>
        </p:spPr>
        <p:txBody>
          <a:bodyPr wrap="square" anchor="t" lIns="36000" rIns="36000" tIns="18000" bIns="18000">
            <a:spAutoFit/>
          </a:bodyPr>
          <a:lstStyle/>
          <a:p>
            <a:pPr algn="ctr">
              <a:lnSpc>
                <a:spcPct val="110000"/>
              </a:lnSpc>
              <a:spcAft>
                <a:spcPts val="0"/>
              </a:spcAft>
            </a:pPr>
            <a:r>
              <a:rPr sz="1100" b="0">
                <a:solidFill>
                  <a:srgbClr val="333333"/>
                </a:solidFill>
                <a:latin typeface="メイリオ"/>
                <a:ea typeface="メイリオ"/>
                <a:cs typeface="メイリオ"/>
              </a:rPr>
              <a:t>LINEログイン・ID連携・</a:t>
            </a:r>
          </a:p>
          <a:p>
            <a:pPr algn="ctr">
              <a:lnSpc>
                <a:spcPct val="110000"/>
              </a:lnSpc>
              <a:spcAft>
                <a:spcPts val="0"/>
              </a:spcAft>
            </a:pPr>
            <a:r>
              <a:rPr sz="1100" b="0">
                <a:solidFill>
                  <a:srgbClr val="333333"/>
                </a:solidFill>
                <a:latin typeface="メイリオ"/>
                <a:ea typeface="メイリオ"/>
                <a:cs typeface="メイリオ"/>
              </a:rPr>
              <a:t>Profile+の実装</a:t>
            </a:r>
          </a:p>
        </p:txBody>
      </p:sp>
      <p:sp>
        <p:nvSpPr>
          <p:cNvPr id="12" name="Chevron 11"/>
          <p:cNvSpPr/>
          <p:nvPr/>
        </p:nvSpPr>
        <p:spPr>
          <a:xfrm>
            <a:off x="7182000" y="2784000"/>
            <a:ext cx="2070000" cy="576000"/>
          </a:xfrm>
          <a:prstGeom prst="chevron">
            <a:avLst>
              <a:gd name="adj" fmla="val 25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18000" rIns="144000" bIns="18000"/>
          <a:lstStyle/>
          <a:p>
            <a:pPr algn="ctr">
              <a:lnSpc>
                <a:spcPct val="110000"/>
              </a:lnSpc>
              <a:spcAft>
                <a:spcPts val="0"/>
              </a:spcAft>
            </a:pPr>
            <a:r>
              <a:rPr sz="1300" b="1">
                <a:solidFill>
                  <a:srgbClr val="FFFFFF"/>
                </a:solidFill>
                <a:latin typeface="メイリオ"/>
                <a:ea typeface="メイリオ"/>
                <a:cs typeface="メイリオ"/>
              </a:rPr>
              <a:t>検証・公開</a:t>
            </a:r>
          </a:p>
        </p:txBody>
      </p:sp>
      <p:sp>
        <p:nvSpPr>
          <p:cNvPr id="13" name="TextBox 12"/>
          <p:cNvSpPr txBox="1"/>
          <p:nvPr/>
        </p:nvSpPr>
        <p:spPr>
          <a:xfrm>
            <a:off x="7253999" y="3504000"/>
            <a:ext cx="1925999" cy="720000"/>
          </a:xfrm>
          <a:prstGeom prst="rect">
            <a:avLst/>
          </a:prstGeom>
          <a:noFill/>
        </p:spPr>
        <p:txBody>
          <a:bodyPr wrap="square" anchor="t" lIns="36000" rIns="36000" tIns="18000" bIns="18000">
            <a:spAutoFit/>
          </a:bodyPr>
          <a:lstStyle/>
          <a:p>
            <a:pPr algn="ctr">
              <a:lnSpc>
                <a:spcPct val="110000"/>
              </a:lnSpc>
              <a:spcAft>
                <a:spcPts val="0"/>
              </a:spcAft>
            </a:pPr>
            <a:r>
              <a:rPr sz="1100" b="0">
                <a:solidFill>
                  <a:srgbClr val="333333"/>
                </a:solidFill>
                <a:latin typeface="メイリオ"/>
                <a:ea typeface="メイリオ"/>
                <a:cs typeface="メイリオ"/>
              </a:rPr>
              <a:t>動作を確認して公開</a:t>
            </a:r>
          </a:p>
          <a:p>
            <a:pPr algn="ctr">
              <a:lnSpc>
                <a:spcPct val="110000"/>
              </a:lnSpc>
              <a:spcAft>
                <a:spcPts val="0"/>
              </a:spcAft>
            </a:pPr>
            <a:r>
              <a:rPr sz="1100" b="0">
                <a:solidFill>
                  <a:srgbClr val="333333"/>
                </a:solidFill>
                <a:latin typeface="メイリオ"/>
                <a:ea typeface="メイリオ"/>
                <a:cs typeface="メイリオ"/>
              </a:rPr>
              <a:t>公開後は配信・改善へ</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143382</TotalTime>
  <Words>1357</Words>
  <Application>Microsoft Office PowerPoint</Application>
  <PresentationFormat>A4 210 x 297 mm</PresentationFormat>
  <Paragraphs>288</Paragraphs>
  <Slides>16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16</vt:i4>
      </vt:variant>
    </vt:vector>
  </HeadingPairs>
  <TitlesOfParts>
    <vt:vector size="23"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1972</cp:revision>
  <cp:lastPrinted>2022-11-01T11:38:14Z</cp:lastPrinted>
  <dcterms:created xsi:type="dcterms:W3CDTF">2015-09-04T09:21:15Z</dcterms:created>
  <dcterms:modified xsi:type="dcterms:W3CDTF">2026-10-13T08:36:49Z</dcterms:modified>
</cp:coreProperties>
</file>