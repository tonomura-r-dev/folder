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59"/>
  </p:notesMasterIdLst>
  <p:handoutMasterIdLst>
    <p:handoutMasterId r:id="rId60"/>
  </p:handoutMasterIdLst>
  <p:sldIdLst>
    <p:sldId id="2363" r:id="rId3"/>
    <p:sldId id="2726" r:id="rId4"/>
    <p:sldId id="2721" r:id="rId5"/>
    <p:sldId id="2723" r:id="rId6"/>
    <p:sldId id="2724" r:id="rId7"/>
    <p:sldId id="2364" r:id="rId8"/>
    <p:sldId id="2365" r:id="rId9"/>
    <p:sldId id="2725" r:id="rId10"/>
    <p:sldId id="3152" r:id="rId11"/>
    <p:sldId id="3153" r:id="rId12"/>
    <p:sldId id="3154" r:id="rId13"/>
    <p:sldId id="3155" r:id="rId14"/>
    <p:sldId id="3156" r:id="rId15"/>
    <p:sldId id="3157" r:id="rId16"/>
    <p:sldId id="3158" r:id="rId17"/>
    <p:sldId id="3159" r:id="rId18"/>
    <p:sldId id="2727" r:id="rId19"/>
    <p:sldId id="3131" r:id="rId20"/>
    <p:sldId id="3132" r:id="rId21"/>
    <p:sldId id="3150" r:id="rId22"/>
    <p:sldId id="2732" r:id="rId23"/>
    <p:sldId id="2733" r:id="rId24"/>
    <p:sldId id="3174" r:id="rId65"/>
    <p:sldId id="3175" r:id="rId66"/>
    <p:sldId id="3176" r:id="rId67"/>
    <p:sldId id="2728" r:id="rId28"/>
    <p:sldId id="3160" r:id="rId29"/>
    <p:sldId id="3161" r:id="rId30"/>
    <p:sldId id="3162" r:id="rId31"/>
    <p:sldId id="3163" r:id="rId32"/>
    <p:sldId id="3164" r:id="rId33"/>
    <p:sldId id="3165" r:id="rId34"/>
    <p:sldId id="3166" r:id="rId35"/>
    <p:sldId id="2729" r:id="rId37"/>
    <p:sldId id="3168" r:id="rId38"/>
    <p:sldId id="3169" r:id="rId39"/>
    <p:sldId id="3170" r:id="rId40"/>
    <p:sldId id="2730" r:id="rId41"/>
    <p:sldId id="2563" r:id="rId42"/>
    <p:sldId id="2959" r:id="rId43"/>
    <p:sldId id="2970" r:id="rId44"/>
    <p:sldId id="2968" r:id="rId45"/>
    <p:sldId id="2969" r:id="rId46"/>
    <p:sldId id="3151" r:id="rId47"/>
    <p:sldId id="2575" r:id="rId48"/>
    <p:sldId id="2910" r:id="rId49"/>
    <p:sldId id="3171" r:id="rId50"/>
    <p:sldId id="3172" r:id="rId51"/>
    <p:sldId id="3173" r:id="rId52"/>
    <p:sldId id="3136" r:id="rId53"/>
    <p:sldId id="3137" r:id="rId54"/>
    <p:sldId id="3138" r:id="rId55"/>
    <p:sldId id="3139" r:id="rId56"/>
    <p:sldId id="3140" r:id="rId57"/>
    <p:sldId id="1169" r:id="rId58"/>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74" d="100"/>
          <a:sy n="74" d="100"/>
        </p:scale>
        <p:origin x="784" y="44"/>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notesMaster" Target="notesMasters/notesMaster1.xml"/><Relationship Id="rId60" Type="http://schemas.openxmlformats.org/officeDocument/2006/relationships/handoutMaster" Target="handoutMasters/handout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 Id="rId65" Type="http://schemas.openxmlformats.org/officeDocument/2006/relationships/slide" Target="slides/slide23.xml"/><Relationship Id="rId66" Type="http://schemas.openxmlformats.org/officeDocument/2006/relationships/slide" Target="slides/slide24.xml"/><Relationship Id="rId67" Type="http://schemas.openxmlformats.org/officeDocument/2006/relationships/slide" Target="slides/slide2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2026/10/26</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56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7.jpeg"/><Relationship Id="rId4" Type="http://schemas.openxmlformats.org/officeDocument/2006/relationships/image" Target="../media/image8.png"/><Relationship Id="rId5"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17.png"/><Relationship Id="rId5" Type="http://schemas.openxmlformats.org/officeDocument/2006/relationships/image" Target="../media/image1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1.jpg"/><Relationship Id="rId3" Type="http://schemas.openxmlformats.org/officeDocument/2006/relationships/image" Target="../media/image22.jpg"/><Relationship Id="rId4" Type="http://schemas.openxmlformats.org/officeDocument/2006/relationships/image" Target="../media/image23.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jpg"/><Relationship Id="rId3" Type="http://schemas.openxmlformats.org/officeDocument/2006/relationships/image" Target="../media/image25.jpg"/><Relationship Id="rId4" Type="http://schemas.openxmlformats.org/officeDocument/2006/relationships/image" Target="../media/image26.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jpg"/><Relationship Id="rId3" Type="http://schemas.openxmlformats.org/officeDocument/2006/relationships/image" Target="../media/image2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g"/><Relationship Id="rId3" Type="http://schemas.openxmlformats.org/officeDocument/2006/relationships/image" Target="../media/image3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jpg"/><Relationship Id="rId3" Type="http://schemas.openxmlformats.org/officeDocument/2006/relationships/image" Target="../media/image32.jpg"/><Relationship Id="rId4" Type="http://schemas.openxmlformats.org/officeDocument/2006/relationships/image" Target="../media/image33.jpg"/><Relationship Id="rId5"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png"/><Relationship Id="rId3" Type="http://schemas.openxmlformats.org/officeDocument/2006/relationships/image" Target="../media/image36.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0.png"/><Relationship Id="rId4" Type="http://schemas.openxmlformats.org/officeDocument/2006/relationships/image" Target="../media/image71.jpg"/><Relationship Id="rId5" Type="http://schemas.openxmlformats.org/officeDocument/2006/relationships/image" Target="../media/image7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3" Type="http://schemas.openxmlformats.org/officeDocument/2006/relationships/image" Target="../media/image7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image" Target="../media/image43.png"/><Relationship Id="rId5" Type="http://schemas.openxmlformats.org/officeDocument/2006/relationships/image" Target="../media/image4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jpeg"/><Relationship Id="rId8" Type="http://schemas.openxmlformats.org/officeDocument/2006/relationships/image" Target="../media/image58.jpg"/><Relationship Id="rId9" Type="http://schemas.openxmlformats.org/officeDocument/2006/relationships/image" Target="../media/image59.png"/><Relationship Id="rId10" Type="http://schemas.openxmlformats.org/officeDocument/2006/relationships/image" Target="../media/image60.png"/><Relationship Id="rId11" Type="http://schemas.openxmlformats.org/officeDocument/2006/relationships/hyperlink" Target="https://youtube.com/shorts/0qI4QgrOppQ"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emf"/><Relationship Id="rId4" Type="http://schemas.openxmlformats.org/officeDocument/2006/relationships/image" Target="../media/image64.jpeg"/><Relationship Id="rId5" Type="http://schemas.openxmlformats.org/officeDocument/2006/relationships/image" Target="../media/image65.jpeg"/><Relationship Id="rId6" Type="http://schemas.openxmlformats.org/officeDocument/2006/relationships/image" Target="../media/image66.jpeg"/><Relationship Id="rId7" Type="http://schemas.openxmlformats.org/officeDocument/2006/relationships/image" Target="../media/image67.jpeg"/><Relationship Id="rId8" Type="http://schemas.openxmlformats.org/officeDocument/2006/relationships/image" Target="../media/image6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335024" y="2224725"/>
            <a:ext cx="7232904"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追客・ファン化を再構築する、LINE公式アカウントの設計見直し</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en-US" altLang="ja-JP" sz="1600" b="1" dirty="0">
                <a:solidFill>
                  <a:schemeClr val="tx1">
                    <a:lumMod val="50000"/>
                    <a:lumOff val="50000"/>
                  </a:schemeClr>
                </a:solidFill>
                <a:latin typeface="Meiryo" panose="020B0604030504040204" pitchFamily="34" charset="-128"/>
                <a:ea typeface="Meiryo" panose="020B0604030504040204" pitchFamily="34" charset="-128"/>
              </a:rPr>
              <a:t>株式会社ワクトリ 御中</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8E14BD-61D8-2EDF-00C5-CC99878DCBE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D26128CF-BCED-5375-A761-44A2026897C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弊社紹介</a:t>
            </a:r>
          </a:p>
        </p:txBody>
      </p:sp>
      <p:pic>
        <p:nvPicPr>
          <p:cNvPr id="2" name="図 1">
            <a:extLst>
              <a:ext uri="{FF2B5EF4-FFF2-40B4-BE49-F238E27FC236}">
                <a16:creationId xmlns:a16="http://schemas.microsoft.com/office/drawing/2014/main" id="{EE2AAF13-DB10-C453-237D-21D704CF1C48}"/>
              </a:ext>
            </a:extLst>
          </p:cNvPr>
          <p:cNvPicPr>
            <a:picLocks noChangeAspect="1"/>
          </p:cNvPicPr>
          <p:nvPr/>
        </p:nvPicPr>
        <p:blipFill>
          <a:blip r:embed="rId2"/>
          <a:stretch>
            <a:fillRect/>
          </a:stretch>
        </p:blipFill>
        <p:spPr>
          <a:xfrm>
            <a:off x="97593" y="604446"/>
            <a:ext cx="9710814" cy="5910368"/>
          </a:xfrm>
          <a:prstGeom prst="rect">
            <a:avLst/>
          </a:prstGeom>
        </p:spPr>
      </p:pic>
    </p:spTree>
    <p:extLst>
      <p:ext uri="{BB962C8B-B14F-4D97-AF65-F5344CB8AC3E}">
        <p14:creationId xmlns:p14="http://schemas.microsoft.com/office/powerpoint/2010/main" val="240437132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89E1EF-F184-F7BC-2DF2-9E9641908D82}"/>
            </a:ext>
          </a:extLst>
        </p:cNvPr>
        <p:cNvGrpSpPr/>
        <p:nvPr/>
      </p:nvGrpSpPr>
      <p:grpSpPr>
        <a:xfrm>
          <a:off x="0" y="0"/>
          <a:ext cx="0" cy="0"/>
          <a:chOff x="0" y="0"/>
          <a:chExt cx="0" cy="0"/>
        </a:xfrm>
      </p:grpSpPr>
      <p:pic>
        <p:nvPicPr>
          <p:cNvPr id="58" name="図 57" descr="文字と写真のスクリーンショット&#10;&#10;AI 生成コンテンツは誤りを含む可能性があります。">
            <a:extLst>
              <a:ext uri="{FF2B5EF4-FFF2-40B4-BE49-F238E27FC236}">
                <a16:creationId xmlns:a16="http://schemas.microsoft.com/office/drawing/2014/main" id="{BC098C34-07FA-B015-C970-B8433D9E8BE3}"/>
              </a:ext>
            </a:extLst>
          </p:cNvPr>
          <p:cNvPicPr>
            <a:picLocks noChangeAspect="1"/>
          </p:cNvPicPr>
          <p:nvPr/>
        </p:nvPicPr>
        <p:blipFill>
          <a:blip r:embed="rId2" cstate="print">
            <a:extLst>
              <a:ext uri="{28A0092B-C50C-407E-A947-70E740481C1C}">
                <a14:useLocalDpi xmlns:a14="http://schemas.microsoft.com/office/drawing/2010/main" val="0"/>
              </a:ext>
            </a:extLst>
          </a:blip>
          <a:srcRect l="33846" t="3967" r="34188" b="52442"/>
          <a:stretch>
            <a:fillRect/>
          </a:stretch>
        </p:blipFill>
        <p:spPr>
          <a:xfrm>
            <a:off x="489022" y="5068469"/>
            <a:ext cx="2046003" cy="1464812"/>
          </a:xfrm>
          <a:prstGeom prst="rect">
            <a:avLst/>
          </a:prstGeom>
        </p:spPr>
      </p:pic>
      <p:sp>
        <p:nvSpPr>
          <p:cNvPr id="33" name="正方形/長方形 32">
            <a:extLst>
              <a:ext uri="{FF2B5EF4-FFF2-40B4-BE49-F238E27FC236}">
                <a16:creationId xmlns:a16="http://schemas.microsoft.com/office/drawing/2014/main" id="{1E52F929-5FD7-9413-24A8-2725B04E4908}"/>
              </a:ext>
            </a:extLst>
          </p:cNvPr>
          <p:cNvSpPr/>
          <p:nvPr/>
        </p:nvSpPr>
        <p:spPr>
          <a:xfrm>
            <a:off x="388723" y="1082314"/>
            <a:ext cx="9129600" cy="100564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2025</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11</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月、株式会社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ヤフー社が主催する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ヤフー </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Partner Award 2025” </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に株式会社</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が参加。</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弊社は</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公式アカウントによるビジネス拡大に最も貢献したとして、</a:t>
            </a:r>
            <a:r>
              <a:rPr lang="ja-JP" altLang="en-US" sz="1200" b="1" dirty="0">
                <a:solidFill>
                  <a:srgbClr val="C00000"/>
                </a:solidFill>
                <a:latin typeface="メイリオ" panose="020B0604030504040204" pitchFamily="50" charset="-128"/>
                <a:ea typeface="メイリオ" panose="020B0604030504040204" pitchFamily="50" charset="-128"/>
              </a:rPr>
              <a:t>「</a:t>
            </a:r>
            <a:r>
              <a:rPr lang="en-US" altLang="ja-JP" sz="1200" b="1" dirty="0">
                <a:solidFill>
                  <a:srgbClr val="C00000"/>
                </a:solidFill>
                <a:latin typeface="メイリオ" panose="020B0604030504040204" pitchFamily="50" charset="-128"/>
                <a:ea typeface="メイリオ" panose="020B0604030504040204" pitchFamily="50" charset="-128"/>
              </a:rPr>
              <a:t>Best LINE</a:t>
            </a:r>
            <a:r>
              <a:rPr lang="ja-JP" altLang="en-US" sz="1200" b="1" dirty="0">
                <a:solidFill>
                  <a:srgbClr val="C00000"/>
                </a:solidFill>
                <a:latin typeface="メイリオ" panose="020B0604030504040204" pitchFamily="50" charset="-128"/>
                <a:ea typeface="メイリオ" panose="020B0604030504040204" pitchFamily="50" charset="-128"/>
              </a:rPr>
              <a:t>公式アカウント </a:t>
            </a:r>
            <a:r>
              <a:rPr lang="en-US" altLang="ja-JP" sz="1200" b="1" dirty="0">
                <a:solidFill>
                  <a:srgbClr val="C00000"/>
                </a:solidFill>
                <a:latin typeface="メイリオ" panose="020B0604030504040204" pitchFamily="50" charset="-128"/>
                <a:ea typeface="メイリオ" panose="020B0604030504040204" pitchFamily="50" charset="-128"/>
              </a:rPr>
              <a:t>Growth</a:t>
            </a:r>
            <a:r>
              <a:rPr lang="en-US" altLang="ja-JP" sz="700" b="1" dirty="0">
                <a:solidFill>
                  <a:srgbClr val="C00000"/>
                </a:solidFill>
                <a:latin typeface="メイリオ" panose="020B0604030504040204" pitchFamily="50" charset="-128"/>
                <a:ea typeface="メイリオ" panose="020B0604030504040204" pitchFamily="50" charset="-128"/>
              </a:rPr>
              <a:t>※</a:t>
            </a:r>
            <a:r>
              <a:rPr lang="ja-JP" altLang="en-US" sz="1200" b="1" dirty="0">
                <a:solidFill>
                  <a:srgbClr val="C00000"/>
                </a:solidFill>
                <a:latin typeface="メイリオ" panose="020B0604030504040204" pitchFamily="50" charset="-128"/>
                <a:ea typeface="メイリオ" panose="020B0604030504040204" pitchFamily="50" charset="-128"/>
              </a:rPr>
              <a:t>」</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を受賞。</a:t>
            </a:r>
            <a:b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b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2026</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年現在、</a:t>
            </a:r>
            <a:r>
              <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rPr>
              <a:t>LINE</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公式アカウントの</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取扱社数は</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100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社以上、</a:t>
            </a:r>
            <a:r>
              <a:rPr lang="en-US" altLang="ja-JP" sz="1200" b="1" dirty="0">
                <a:solidFill>
                  <a:srgbClr val="000000">
                    <a:lumMod val="95000"/>
                    <a:lumOff val="5000"/>
                  </a:srgbClr>
                </a:solidFill>
                <a:latin typeface="メイリオ" panose="020B0604030504040204" pitchFamily="50" charset="-128"/>
                <a:ea typeface="メイリオ" panose="020B0604030504040204" pitchFamily="50" charset="-128"/>
              </a:rPr>
              <a:t>400</a:t>
            </a:r>
            <a:r>
              <a:rPr lang="ja-JP" altLang="en-US" sz="1200" b="1" dirty="0">
                <a:solidFill>
                  <a:srgbClr val="000000">
                    <a:lumMod val="95000"/>
                    <a:lumOff val="5000"/>
                  </a:srgbClr>
                </a:solidFill>
                <a:latin typeface="メイリオ" panose="020B0604030504040204" pitchFamily="50" charset="-128"/>
                <a:ea typeface="メイリオ" panose="020B0604030504040204" pitchFamily="50" charset="-128"/>
              </a:rPr>
              <a:t>アカウント以上まで拡大</a:t>
            </a:r>
            <a:r>
              <a:rPr lang="ja-JP" altLang="en-US" sz="1200" dirty="0">
                <a:solidFill>
                  <a:srgbClr val="000000">
                    <a:lumMod val="95000"/>
                    <a:lumOff val="5000"/>
                  </a:srgbClr>
                </a:solidFill>
                <a:latin typeface="メイリオ" panose="020B0604030504040204" pitchFamily="50" charset="-128"/>
                <a:ea typeface="メイリオ" panose="020B0604030504040204" pitchFamily="50" charset="-128"/>
              </a:rPr>
              <a:t>しており関連サービスも展開中。</a:t>
            </a:r>
            <a:endParaRPr lang="en-US" altLang="ja-JP" sz="1200" dirty="0">
              <a:solidFill>
                <a:srgbClr val="000000">
                  <a:lumMod val="95000"/>
                  <a:lumOff val="5000"/>
                </a:srgbClr>
              </a:solidFill>
              <a:latin typeface="メイリオ" panose="020B0604030504040204" pitchFamily="50" charset="-128"/>
              <a:ea typeface="メイリオ" panose="020B0604030504040204" pitchFamily="50" charset="-128"/>
            </a:endParaRPr>
          </a:p>
          <a:p>
            <a:pPr algn="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 LINE</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公式アカウントを活用し、ビジネス拡大に最も貢献したパートナーに贈られる賞です。</a:t>
            </a:r>
            <a:endPar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Google Shape;752;p28">
            <a:extLst>
              <a:ext uri="{FF2B5EF4-FFF2-40B4-BE49-F238E27FC236}">
                <a16:creationId xmlns:a16="http://schemas.microsoft.com/office/drawing/2014/main" id="{C34101C7-CA6C-6ED6-33D4-C2B82BDA547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弊社実績</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49" name="正方形/長方形 48">
            <a:extLst>
              <a:ext uri="{FF2B5EF4-FFF2-40B4-BE49-F238E27FC236}">
                <a16:creationId xmlns:a16="http://schemas.microsoft.com/office/drawing/2014/main" id="{9685C0AB-6B7A-94C5-EFA8-756E59EE714E}"/>
              </a:ext>
            </a:extLst>
          </p:cNvPr>
          <p:cNvSpPr/>
          <p:nvPr/>
        </p:nvSpPr>
        <p:spPr>
          <a:xfrm>
            <a:off x="388723" y="2116303"/>
            <a:ext cx="9128554" cy="307777"/>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400" b="1">
                <a:solidFill>
                  <a:schemeClr val="bg1"/>
                </a:solidFill>
                <a:latin typeface="Meiryo"/>
                <a:ea typeface="Meiryo"/>
                <a:cs typeface="Meiryo"/>
                <a:sym typeface="Meiryo"/>
              </a:rPr>
              <a:t>弊社受賞遍歴 </a:t>
            </a:r>
            <a:r>
              <a:rPr lang="en-US" altLang="ja-JP" sz="1400" b="1">
                <a:solidFill>
                  <a:schemeClr val="bg1"/>
                </a:solidFill>
                <a:latin typeface="Meiryo"/>
                <a:ea typeface="Meiryo"/>
                <a:cs typeface="Meiryo"/>
                <a:sym typeface="Meiryo"/>
              </a:rPr>
              <a:t>Since.2024</a:t>
            </a:r>
            <a:r>
              <a:rPr lang="ja-JP" altLang="en-US" sz="1400" b="1">
                <a:solidFill>
                  <a:schemeClr val="bg1"/>
                </a:solidFill>
                <a:latin typeface="Meiryo"/>
                <a:ea typeface="Meiryo"/>
                <a:cs typeface="Meiryo"/>
                <a:sym typeface="Meiryo"/>
              </a:rPr>
              <a:t>年</a:t>
            </a:r>
            <a:r>
              <a:rPr lang="en-US" altLang="ja-JP" sz="1400" b="1">
                <a:solidFill>
                  <a:schemeClr val="bg1"/>
                </a:solidFill>
                <a:latin typeface="Meiryo"/>
                <a:ea typeface="Meiryo"/>
                <a:cs typeface="Meiryo"/>
                <a:sym typeface="Meiryo"/>
              </a:rPr>
              <a:t>5</a:t>
            </a:r>
            <a:r>
              <a:rPr lang="ja-JP" altLang="en-US" sz="1400" b="1">
                <a:solidFill>
                  <a:schemeClr val="bg1"/>
                </a:solidFill>
                <a:latin typeface="Meiryo"/>
                <a:ea typeface="Meiryo"/>
                <a:cs typeface="Meiryo"/>
                <a:sym typeface="Meiryo"/>
              </a:rPr>
              <a:t>月～</a:t>
            </a:r>
            <a:endParaRPr lang="en-US" altLang="ja-JP" sz="1400" b="1" dirty="0">
              <a:solidFill>
                <a:schemeClr val="bg1"/>
              </a:solidFill>
              <a:latin typeface="Meiryo"/>
              <a:ea typeface="Meiryo"/>
              <a:cs typeface="Meiryo"/>
              <a:sym typeface="Meiryo"/>
            </a:endParaRPr>
          </a:p>
        </p:txBody>
      </p:sp>
      <p:sp>
        <p:nvSpPr>
          <p:cNvPr id="50" name="テキスト プレースホルダー 2">
            <a:extLst>
              <a:ext uri="{FF2B5EF4-FFF2-40B4-BE49-F238E27FC236}">
                <a16:creationId xmlns:a16="http://schemas.microsoft.com/office/drawing/2014/main" id="{18B78559-32E9-7E98-9E42-625866BF0637}"/>
              </a:ext>
            </a:extLst>
          </p:cNvPr>
          <p:cNvSpPr txBox="1">
            <a:spLocks/>
          </p:cNvSpPr>
          <p:nvPr/>
        </p:nvSpPr>
        <p:spPr>
          <a:xfrm>
            <a:off x="4741655" y="135388"/>
            <a:ext cx="3604551" cy="356140"/>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539750" lvl="0" indent="-539750">
              <a:tabLst>
                <a:tab pos="447675" algn="l"/>
              </a:tabLst>
              <a:defRPr/>
            </a:pPr>
            <a:r>
              <a:rPr lang="en-US" altLang="ja-JP" sz="800" dirty="0">
                <a:solidFill>
                  <a:srgbClr val="000000">
                    <a:lumMod val="95000"/>
                    <a:lumOff val="5000"/>
                  </a:srgbClr>
                </a:solidFill>
              </a:rPr>
              <a:t>【</a:t>
            </a:r>
            <a:r>
              <a:rPr lang="ja-JP" altLang="en-US" sz="800" dirty="0">
                <a:solidFill>
                  <a:srgbClr val="000000">
                    <a:lumMod val="95000"/>
                    <a:lumOff val="5000"/>
                  </a:srgbClr>
                </a:solidFill>
              </a:rPr>
              <a:t>参考情報</a:t>
            </a:r>
            <a:r>
              <a:rPr lang="en-US" altLang="ja-JP" sz="800" dirty="0">
                <a:solidFill>
                  <a:srgbClr val="000000">
                    <a:lumMod val="95000"/>
                    <a:lumOff val="5000"/>
                  </a:srgbClr>
                </a:solidFill>
              </a:rPr>
              <a:t>】</a:t>
            </a:r>
          </a:p>
          <a:p>
            <a:pPr marL="88900" lvl="0">
              <a:tabLst>
                <a:tab pos="447675" algn="l"/>
              </a:tabLst>
              <a:defRPr/>
            </a:pPr>
            <a:r>
              <a:rPr lang="en-US" altLang="ja-JP" sz="800" dirty="0">
                <a:solidFill>
                  <a:srgbClr val="000000">
                    <a:lumMod val="95000"/>
                    <a:lumOff val="5000"/>
                  </a:srgbClr>
                </a:solidFill>
              </a:rPr>
              <a:t>https://prtimes.jp/main/html/rd/p/000000412.000027235.html</a:t>
            </a:r>
            <a:endParaRPr lang="en-US" altLang="ja-JP" sz="1100" dirty="0">
              <a:solidFill>
                <a:srgbClr val="000000">
                  <a:lumMod val="95000"/>
                  <a:lumOff val="5000"/>
                </a:srgbClr>
              </a:solidFill>
            </a:endParaRPr>
          </a:p>
        </p:txBody>
      </p:sp>
      <p:sp>
        <p:nvSpPr>
          <p:cNvPr id="45" name="正方形/長方形 44">
            <a:extLst>
              <a:ext uri="{FF2B5EF4-FFF2-40B4-BE49-F238E27FC236}">
                <a16:creationId xmlns:a16="http://schemas.microsoft.com/office/drawing/2014/main" id="{02177995-9B5C-9C4B-3202-5DD03969179E}"/>
              </a:ext>
            </a:extLst>
          </p:cNvPr>
          <p:cNvSpPr/>
          <p:nvPr/>
        </p:nvSpPr>
        <p:spPr>
          <a:xfrm>
            <a:off x="495424" y="4784484"/>
            <a:ext cx="3561143" cy="276999"/>
          </a:xfrm>
          <a:prstGeom prst="rect">
            <a:avLst/>
          </a:prstGeom>
          <a:solidFill>
            <a:schemeClr val="bg1">
              <a:lumMod val="65000"/>
            </a:schemeClr>
          </a:solidFill>
          <a:ln>
            <a:solidFill>
              <a:schemeClr val="bg1">
                <a:lumMod val="65000"/>
              </a:schemeClr>
            </a:solidFill>
          </a:ln>
        </p:spPr>
        <p:txBody>
          <a:bodyPr wrap="square">
            <a:spAutoFit/>
          </a:bodyPr>
          <a:lstStyle/>
          <a:p>
            <a:pPr lvl="0" algn="ctr">
              <a:buClr>
                <a:srgbClr val="002060"/>
              </a:buClr>
              <a:buSzPts val="1600"/>
            </a:pPr>
            <a:r>
              <a:rPr lang="ja-JP" altLang="en-US" sz="1200" b="1" dirty="0">
                <a:solidFill>
                  <a:schemeClr val="bg1"/>
                </a:solidFill>
                <a:latin typeface="Meiryo"/>
                <a:ea typeface="Meiryo"/>
                <a:cs typeface="Meiryo"/>
                <a:sym typeface="Meiryo"/>
              </a:rPr>
              <a:t>最上位となる </a:t>
            </a:r>
            <a:r>
              <a:rPr lang="en-US" altLang="ja-JP" sz="1200" b="1" dirty="0">
                <a:solidFill>
                  <a:schemeClr val="bg1"/>
                </a:solidFill>
                <a:latin typeface="Meiryo"/>
                <a:ea typeface="Meiryo"/>
                <a:cs typeface="Meiryo"/>
                <a:sym typeface="Meiryo"/>
              </a:rPr>
              <a:t>Sales Partner Premier</a:t>
            </a:r>
          </a:p>
        </p:txBody>
      </p:sp>
      <p:sp>
        <p:nvSpPr>
          <p:cNvPr id="55" name="正方形/長方形 54">
            <a:extLst>
              <a:ext uri="{FF2B5EF4-FFF2-40B4-BE49-F238E27FC236}">
                <a16:creationId xmlns:a16="http://schemas.microsoft.com/office/drawing/2014/main" id="{0E12B4F2-0482-55A4-443A-115FC30E22E8}"/>
              </a:ext>
            </a:extLst>
          </p:cNvPr>
          <p:cNvSpPr/>
          <p:nvPr/>
        </p:nvSpPr>
        <p:spPr>
          <a:xfrm>
            <a:off x="4362995" y="4784484"/>
            <a:ext cx="5165666" cy="276999"/>
          </a:xfrm>
          <a:prstGeom prst="rect">
            <a:avLst/>
          </a:prstGeom>
          <a:solidFill>
            <a:schemeClr val="bg1">
              <a:lumMod val="65000"/>
            </a:schemeClr>
          </a:solidFill>
          <a:ln>
            <a:solidFill>
              <a:schemeClr val="bg1">
                <a:lumMod val="65000"/>
              </a:schemeClr>
            </a:solidFill>
          </a:ln>
        </p:spPr>
        <p:txBody>
          <a:bodyPr wrap="square">
            <a:spAutoFit/>
          </a:bodyPr>
          <a:lstStyle/>
          <a:p>
            <a:pPr algn="ctr">
              <a:buClr>
                <a:srgbClr val="002060"/>
              </a:buClr>
              <a:buSzPts val="1600"/>
            </a:pPr>
            <a:r>
              <a:rPr lang="en-US" altLang="ja-JP" sz="1200" b="1" dirty="0">
                <a:solidFill>
                  <a:schemeClr val="bg1"/>
                </a:solidFill>
                <a:latin typeface="Meiryo"/>
                <a:ea typeface="Meiryo"/>
                <a:cs typeface="Meiryo"/>
                <a:sym typeface="Meiryo"/>
              </a:rPr>
              <a:t>Best LINE</a:t>
            </a:r>
            <a:r>
              <a:rPr lang="ja-JP" altLang="en-US" sz="1200" b="1" dirty="0">
                <a:solidFill>
                  <a:schemeClr val="bg1"/>
                </a:solidFill>
                <a:latin typeface="Meiryo"/>
                <a:ea typeface="Meiryo"/>
                <a:cs typeface="Meiryo"/>
                <a:sym typeface="Meiryo"/>
              </a:rPr>
              <a:t>公式アカウント </a:t>
            </a:r>
            <a:r>
              <a:rPr lang="en-US" altLang="ja-JP" sz="1200" b="1" dirty="0">
                <a:solidFill>
                  <a:schemeClr val="bg1"/>
                </a:solidFill>
                <a:latin typeface="Meiryo"/>
                <a:ea typeface="Meiryo"/>
                <a:cs typeface="Meiryo"/>
                <a:sym typeface="Meiryo"/>
              </a:rPr>
              <a:t>Growth </a:t>
            </a:r>
            <a:r>
              <a:rPr lang="ja-JP" altLang="en-US" sz="1200" b="1" dirty="0">
                <a:solidFill>
                  <a:schemeClr val="bg1"/>
                </a:solidFill>
                <a:latin typeface="Meiryo"/>
                <a:ea typeface="Meiryo"/>
                <a:cs typeface="Meiryo"/>
                <a:sym typeface="Meiryo"/>
              </a:rPr>
              <a:t>の受賞を受ける</a:t>
            </a:r>
            <a:endParaRPr lang="en-US" altLang="ja-JP" sz="1200" b="1" dirty="0">
              <a:solidFill>
                <a:schemeClr val="bg1"/>
              </a:solidFill>
              <a:latin typeface="Meiryo"/>
              <a:ea typeface="Meiryo"/>
              <a:cs typeface="Meiryo"/>
              <a:sym typeface="Meiryo"/>
            </a:endParaRPr>
          </a:p>
        </p:txBody>
      </p:sp>
      <p:cxnSp>
        <p:nvCxnSpPr>
          <p:cNvPr id="2082" name="直線コネクタ 2081">
            <a:extLst>
              <a:ext uri="{FF2B5EF4-FFF2-40B4-BE49-F238E27FC236}">
                <a16:creationId xmlns:a16="http://schemas.microsoft.com/office/drawing/2014/main" id="{530411FF-29F9-73B2-C470-CBF0BA20AC73}"/>
              </a:ext>
            </a:extLst>
          </p:cNvPr>
          <p:cNvCxnSpPr>
            <a:cxnSpLocks/>
          </p:cNvCxnSpPr>
          <p:nvPr/>
        </p:nvCxnSpPr>
        <p:spPr>
          <a:xfrm>
            <a:off x="3212877" y="2980676"/>
            <a:ext cx="6240687"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cxnSp>
        <p:nvCxnSpPr>
          <p:cNvPr id="2085" name="直線コネクタ 2084">
            <a:extLst>
              <a:ext uri="{FF2B5EF4-FFF2-40B4-BE49-F238E27FC236}">
                <a16:creationId xmlns:a16="http://schemas.microsoft.com/office/drawing/2014/main" id="{D7948E6E-45A1-2B8A-2983-5CE3031B129A}"/>
              </a:ext>
            </a:extLst>
          </p:cNvPr>
          <p:cNvCxnSpPr>
            <a:cxnSpLocks/>
          </p:cNvCxnSpPr>
          <p:nvPr/>
        </p:nvCxnSpPr>
        <p:spPr>
          <a:xfrm>
            <a:off x="412752" y="3985954"/>
            <a:ext cx="5253034" cy="0"/>
          </a:xfrm>
          <a:prstGeom prst="line">
            <a:avLst/>
          </a:prstGeom>
          <a:ln w="76200">
            <a:solidFill>
              <a:srgbClr val="10253F"/>
            </a:solidFill>
          </a:ln>
        </p:spPr>
        <p:style>
          <a:lnRef idx="1">
            <a:schemeClr val="accent1"/>
          </a:lnRef>
          <a:fillRef idx="0">
            <a:schemeClr val="accent1"/>
          </a:fillRef>
          <a:effectRef idx="0">
            <a:schemeClr val="accent1"/>
          </a:effectRef>
          <a:fontRef idx="minor">
            <a:schemeClr val="tx1"/>
          </a:fontRef>
        </p:style>
      </p:cxnSp>
      <p:sp>
        <p:nvSpPr>
          <p:cNvPr id="2086" name="フローチャート: 結合子 2085">
            <a:extLst>
              <a:ext uri="{FF2B5EF4-FFF2-40B4-BE49-F238E27FC236}">
                <a16:creationId xmlns:a16="http://schemas.microsoft.com/office/drawing/2014/main" id="{19617C5C-724A-7FCE-22E5-5B2ECC96F048}"/>
              </a:ext>
            </a:extLst>
          </p:cNvPr>
          <p:cNvSpPr/>
          <p:nvPr/>
        </p:nvSpPr>
        <p:spPr>
          <a:xfrm>
            <a:off x="3076995"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7" name="フローチャート: 結合子 2086">
            <a:extLst>
              <a:ext uri="{FF2B5EF4-FFF2-40B4-BE49-F238E27FC236}">
                <a16:creationId xmlns:a16="http://schemas.microsoft.com/office/drawing/2014/main" id="{C7AB064F-FD75-D23A-C3F2-7F831805457C}"/>
              </a:ext>
            </a:extLst>
          </p:cNvPr>
          <p:cNvSpPr/>
          <p:nvPr/>
        </p:nvSpPr>
        <p:spPr>
          <a:xfrm>
            <a:off x="970449" y="3759595"/>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89" name="フローチャート: 結合子 2088">
            <a:extLst>
              <a:ext uri="{FF2B5EF4-FFF2-40B4-BE49-F238E27FC236}">
                <a16:creationId xmlns:a16="http://schemas.microsoft.com/office/drawing/2014/main" id="{CE0B51F4-2695-E1D7-F353-BA60386FABE4}"/>
              </a:ext>
            </a:extLst>
          </p:cNvPr>
          <p:cNvSpPr/>
          <p:nvPr/>
        </p:nvSpPr>
        <p:spPr>
          <a:xfrm>
            <a:off x="7801859"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0" name="フローチャート: 結合子 2089">
            <a:extLst>
              <a:ext uri="{FF2B5EF4-FFF2-40B4-BE49-F238E27FC236}">
                <a16:creationId xmlns:a16="http://schemas.microsoft.com/office/drawing/2014/main" id="{6F2861A8-2376-2999-4214-6F268B03A3E1}"/>
              </a:ext>
            </a:extLst>
          </p:cNvPr>
          <p:cNvSpPr/>
          <p:nvPr/>
        </p:nvSpPr>
        <p:spPr>
          <a:xfrm>
            <a:off x="5439427" y="2743198"/>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2" name="フローチャート: 結合子 2091">
            <a:extLst>
              <a:ext uri="{FF2B5EF4-FFF2-40B4-BE49-F238E27FC236}">
                <a16:creationId xmlns:a16="http://schemas.microsoft.com/office/drawing/2014/main" id="{11455BE0-024C-CCCF-549A-5895CCF6FCA5}"/>
              </a:ext>
            </a:extLst>
          </p:cNvPr>
          <p:cNvSpPr/>
          <p:nvPr/>
        </p:nvSpPr>
        <p:spPr>
          <a:xfrm>
            <a:off x="5454960" y="3739586"/>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3" name="フローチャート: 結合子 2092">
            <a:extLst>
              <a:ext uri="{FF2B5EF4-FFF2-40B4-BE49-F238E27FC236}">
                <a16:creationId xmlns:a16="http://schemas.microsoft.com/office/drawing/2014/main" id="{6A2B7AEE-64D5-5687-4D90-BFEBFB87978F}"/>
              </a:ext>
            </a:extLst>
          </p:cNvPr>
          <p:cNvSpPr/>
          <p:nvPr/>
        </p:nvSpPr>
        <p:spPr>
          <a:xfrm>
            <a:off x="3076995" y="3776603"/>
            <a:ext cx="452718" cy="452718"/>
          </a:xfrm>
          <a:prstGeom prst="flowChartConnector">
            <a:avLst/>
          </a:prstGeom>
          <a:solidFill>
            <a:srgbClr val="10253F"/>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94" name="テキスト ボックス 2093">
            <a:extLst>
              <a:ext uri="{FF2B5EF4-FFF2-40B4-BE49-F238E27FC236}">
                <a16:creationId xmlns:a16="http://schemas.microsoft.com/office/drawing/2014/main" id="{F181EC8C-1DAE-5AF7-1C4D-4C86090B08E7}"/>
              </a:ext>
            </a:extLst>
          </p:cNvPr>
          <p:cNvSpPr txBox="1"/>
          <p:nvPr/>
        </p:nvSpPr>
        <p:spPr>
          <a:xfrm>
            <a:off x="2824561" y="2498440"/>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5" name="テキスト ボックス 2094">
            <a:extLst>
              <a:ext uri="{FF2B5EF4-FFF2-40B4-BE49-F238E27FC236}">
                <a16:creationId xmlns:a16="http://schemas.microsoft.com/office/drawing/2014/main" id="{E9F47648-05F6-7064-8968-91D3649440CE}"/>
              </a:ext>
            </a:extLst>
          </p:cNvPr>
          <p:cNvSpPr txBox="1"/>
          <p:nvPr/>
        </p:nvSpPr>
        <p:spPr>
          <a:xfrm>
            <a:off x="5232177" y="2496209"/>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2024</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12</a:t>
            </a:r>
            <a:r>
              <a:rPr kumimoji="1" lang="ja-JP" altLang="en-US" sz="1000">
                <a:latin typeface="メイリオ" panose="020B0604030504040204" pitchFamily="50" charset="-128"/>
                <a:ea typeface="メイリオ" panose="020B0604030504040204" pitchFamily="50" charset="-128"/>
              </a:rPr>
              <a:t>月</a:t>
            </a:r>
          </a:p>
        </p:txBody>
      </p:sp>
      <p:sp>
        <p:nvSpPr>
          <p:cNvPr id="2096" name="テキスト ボックス 2095">
            <a:extLst>
              <a:ext uri="{FF2B5EF4-FFF2-40B4-BE49-F238E27FC236}">
                <a16:creationId xmlns:a16="http://schemas.microsoft.com/office/drawing/2014/main" id="{2C8EEABD-6A90-AA4E-FBA6-2819EBF654DE}"/>
              </a:ext>
            </a:extLst>
          </p:cNvPr>
          <p:cNvSpPr txBox="1"/>
          <p:nvPr/>
        </p:nvSpPr>
        <p:spPr>
          <a:xfrm>
            <a:off x="7623567" y="2492162"/>
            <a:ext cx="957586" cy="246221"/>
          </a:xfrm>
          <a:prstGeom prst="rect">
            <a:avLst/>
          </a:prstGeom>
          <a:noFill/>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5</a:t>
            </a:r>
            <a:r>
              <a:rPr kumimoji="1" lang="ja-JP" altLang="en-US" sz="1000">
                <a:latin typeface="メイリオ" panose="020B0604030504040204" pitchFamily="50" charset="-128"/>
                <a:ea typeface="メイリオ" panose="020B0604030504040204" pitchFamily="50" charset="-128"/>
              </a:rPr>
              <a:t>月</a:t>
            </a:r>
          </a:p>
        </p:txBody>
      </p:sp>
      <p:sp>
        <p:nvSpPr>
          <p:cNvPr id="2098" name="テキスト ボックス 2097">
            <a:extLst>
              <a:ext uri="{FF2B5EF4-FFF2-40B4-BE49-F238E27FC236}">
                <a16:creationId xmlns:a16="http://schemas.microsoft.com/office/drawing/2014/main" id="{CE12257A-0E7E-B895-AF8E-D15F7AA1D62A}"/>
              </a:ext>
            </a:extLst>
          </p:cNvPr>
          <p:cNvSpPr txBox="1"/>
          <p:nvPr/>
        </p:nvSpPr>
        <p:spPr>
          <a:xfrm>
            <a:off x="2895696" y="3511221"/>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lang="en-US" altLang="ja-JP" sz="1000">
                <a:latin typeface="メイリオ" panose="020B0604030504040204" pitchFamily="50" charset="-128"/>
                <a:ea typeface="メイリオ" panose="020B0604030504040204" pitchFamily="50" charset="-128"/>
              </a:rPr>
              <a:t>10</a:t>
            </a:r>
            <a:r>
              <a:rPr kumimoji="1" lang="ja-JP" altLang="en-US" sz="1000">
                <a:latin typeface="メイリオ" panose="020B0604030504040204" pitchFamily="50" charset="-128"/>
                <a:ea typeface="メイリオ" panose="020B0604030504040204" pitchFamily="50" charset="-128"/>
              </a:rPr>
              <a:t>月</a:t>
            </a:r>
          </a:p>
        </p:txBody>
      </p:sp>
      <p:sp>
        <p:nvSpPr>
          <p:cNvPr id="2099" name="テキスト ボックス 2098">
            <a:extLst>
              <a:ext uri="{FF2B5EF4-FFF2-40B4-BE49-F238E27FC236}">
                <a16:creationId xmlns:a16="http://schemas.microsoft.com/office/drawing/2014/main" id="{82EEA8C2-D18D-B5B9-3D3F-C9BE318BD901}"/>
              </a:ext>
            </a:extLst>
          </p:cNvPr>
          <p:cNvSpPr txBox="1"/>
          <p:nvPr/>
        </p:nvSpPr>
        <p:spPr>
          <a:xfrm>
            <a:off x="589609" y="3475317"/>
            <a:ext cx="957586" cy="246221"/>
          </a:xfrm>
          <a:prstGeom prst="rect">
            <a:avLst/>
          </a:prstGeom>
          <a:noFill/>
          <a:ln>
            <a:noFill/>
          </a:ln>
        </p:spPr>
        <p:txBody>
          <a:bodyPr wrap="square" rtlCol="0">
            <a:spAutoFit/>
          </a:bodyPr>
          <a:lstStyle/>
          <a:p>
            <a:pPr algn="ctr"/>
            <a:r>
              <a:rPr kumimoji="1" lang="en-US" altLang="ja-JP" sz="1000">
                <a:latin typeface="メイリオ" panose="020B0604030504040204" pitchFamily="50" charset="-128"/>
                <a:ea typeface="メイリオ" panose="020B0604030504040204" pitchFamily="50" charset="-128"/>
              </a:rPr>
              <a:t>2025</a:t>
            </a:r>
            <a:r>
              <a:rPr kumimoji="1" lang="ja-JP" altLang="en-US" sz="1000">
                <a:latin typeface="メイリオ" panose="020B0604030504040204" pitchFamily="50" charset="-128"/>
                <a:ea typeface="メイリオ" panose="020B0604030504040204" pitchFamily="50" charset="-128"/>
              </a:rPr>
              <a:t>年</a:t>
            </a:r>
            <a:r>
              <a:rPr kumimoji="1" lang="en-US" altLang="ja-JP" sz="1000">
                <a:latin typeface="メイリオ" panose="020B0604030504040204" pitchFamily="50" charset="-128"/>
                <a:ea typeface="メイリオ" panose="020B0604030504040204" pitchFamily="50" charset="-128"/>
              </a:rPr>
              <a:t>8</a:t>
            </a:r>
            <a:r>
              <a:rPr kumimoji="1" lang="ja-JP" altLang="en-US" sz="1000">
                <a:latin typeface="メイリオ" panose="020B0604030504040204" pitchFamily="50" charset="-128"/>
                <a:ea typeface="メイリオ" panose="020B0604030504040204" pitchFamily="50" charset="-128"/>
              </a:rPr>
              <a:t>月</a:t>
            </a:r>
          </a:p>
        </p:txBody>
      </p:sp>
      <p:sp>
        <p:nvSpPr>
          <p:cNvPr id="2101" name="テキスト ボックス 2100">
            <a:extLst>
              <a:ext uri="{FF2B5EF4-FFF2-40B4-BE49-F238E27FC236}">
                <a16:creationId xmlns:a16="http://schemas.microsoft.com/office/drawing/2014/main" id="{E6D4C90C-BD24-1939-D716-C6450E2AD8FC}"/>
              </a:ext>
            </a:extLst>
          </p:cNvPr>
          <p:cNvSpPr txBox="1"/>
          <p:nvPr/>
        </p:nvSpPr>
        <p:spPr>
          <a:xfrm>
            <a:off x="309563" y="4310547"/>
            <a:ext cx="1966105"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6000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kumimoji="1" lang="ja-JP" altLang="en-US" sz="800">
              <a:latin typeface="メイリオ" panose="020B0604030504040204" pitchFamily="50" charset="-128"/>
              <a:ea typeface="メイリオ" panose="020B0604030504040204" pitchFamily="50" charset="-128"/>
            </a:endParaRPr>
          </a:p>
        </p:txBody>
      </p:sp>
      <p:sp>
        <p:nvSpPr>
          <p:cNvPr id="2102" name="テキスト ボックス 2101">
            <a:extLst>
              <a:ext uri="{FF2B5EF4-FFF2-40B4-BE49-F238E27FC236}">
                <a16:creationId xmlns:a16="http://schemas.microsoft.com/office/drawing/2014/main" id="{756F6552-3CAE-3310-D96A-5D847F286859}"/>
              </a:ext>
            </a:extLst>
          </p:cNvPr>
          <p:cNvSpPr txBox="1"/>
          <p:nvPr/>
        </p:nvSpPr>
        <p:spPr>
          <a:xfrm>
            <a:off x="2105787" y="3209363"/>
            <a:ext cx="2612987" cy="338554"/>
          </a:xfrm>
          <a:prstGeom prst="rect">
            <a:avLst/>
          </a:prstGeom>
          <a:noFill/>
          <a:ln>
            <a:noFill/>
          </a:ln>
        </p:spPr>
        <p:txBody>
          <a:bodyPr wrap="square" rtlCol="0">
            <a:spAutoFit/>
          </a:bodyPr>
          <a:lstStyle/>
          <a:p>
            <a:pPr algn="ctr"/>
            <a:r>
              <a:rPr kumimoji="1" lang="en-US" altLang="ja-JP" sz="800" dirty="0">
                <a:latin typeface="メイリオ" panose="020B0604030504040204" pitchFamily="50" charset="-128"/>
                <a:ea typeface="メイリオ" panose="020B0604030504040204" pitchFamily="50" charset="-128"/>
              </a:rPr>
              <a:t>2024</a:t>
            </a:r>
            <a:r>
              <a:rPr kumimoji="1" lang="ja-JP" altLang="en-US" sz="800" dirty="0">
                <a:latin typeface="メイリオ" panose="020B0604030504040204" pitchFamily="50" charset="-128"/>
                <a:ea typeface="メイリオ" panose="020B0604030504040204" pitchFamily="50" charset="-128"/>
              </a:rPr>
              <a:t>年度上半期の</a:t>
            </a:r>
            <a:r>
              <a:rPr kumimoji="1" lang="en-US" altLang="ja-JP" sz="800" dirty="0">
                <a:latin typeface="メイリオ" panose="020B0604030504040204" pitchFamily="50" charset="-128"/>
                <a:ea typeface="メイリオ" panose="020B0604030504040204" pitchFamily="50" charset="-128"/>
              </a:rPr>
              <a:t>Sales Partner</a:t>
            </a:r>
            <a:r>
              <a:rPr kumimoji="1" lang="ja-JP" altLang="en-US" sz="800" dirty="0">
                <a:latin typeface="メイリオ" panose="020B0604030504040204" pitchFamily="50" charset="-128"/>
                <a:ea typeface="メイリオ" panose="020B0604030504040204" pitchFamily="50" charset="-128"/>
              </a:rPr>
              <a:t>「</a:t>
            </a:r>
            <a:r>
              <a:rPr kumimoji="1" lang="en-US" altLang="ja-JP" sz="800" dirty="0">
                <a:latin typeface="メイリオ" panose="020B0604030504040204" pitchFamily="50" charset="-128"/>
                <a:ea typeface="メイリオ" panose="020B0604030504040204" pitchFamily="50" charset="-128"/>
              </a:rPr>
              <a:t>Premier</a:t>
            </a:r>
            <a:r>
              <a:rPr kumimoji="1" lang="ja-JP" altLang="en-US" sz="800" dirty="0">
                <a:latin typeface="メイリオ" panose="020B0604030504040204" pitchFamily="50" charset="-128"/>
                <a:ea typeface="メイリオ" panose="020B0604030504040204" pitchFamily="50" charset="-128"/>
              </a:rPr>
              <a:t>」に認定</a:t>
            </a:r>
            <a:r>
              <a:rPr lang="ja-JP" altLang="en-US" sz="800" dirty="0">
                <a:latin typeface="メイリオ" panose="020B0604030504040204" pitchFamily="50" charset="-128"/>
                <a:ea typeface="メイリオ" panose="020B0604030504040204" pitchFamily="50" charset="-128"/>
              </a:rPr>
              <a:t>。</a:t>
            </a:r>
            <a:endParaRPr lang="en-US" altLang="ja-JP" sz="800" dirty="0">
              <a:latin typeface="メイリオ" panose="020B0604030504040204" pitchFamily="50" charset="-128"/>
              <a:ea typeface="メイリオ" panose="020B0604030504040204" pitchFamily="50" charset="-128"/>
            </a:endParaRPr>
          </a:p>
          <a:p>
            <a:pPr algn="ctr"/>
            <a:r>
              <a:rPr lang="ja-JP" altLang="en-US" sz="800" b="1" dirty="0">
                <a:solidFill>
                  <a:srgbClr val="C00000"/>
                </a:solidFill>
                <a:latin typeface="メイリオ" panose="020B0604030504040204" pitchFamily="50" charset="-128"/>
                <a:ea typeface="メイリオ" panose="020B0604030504040204" pitchFamily="50" charset="-128"/>
              </a:rPr>
              <a:t>上位</a:t>
            </a:r>
            <a:r>
              <a:rPr lang="en-US" altLang="ja-JP" sz="800" b="1" dirty="0">
                <a:solidFill>
                  <a:srgbClr val="C00000"/>
                </a:solidFill>
                <a:latin typeface="メイリオ" panose="020B0604030504040204" pitchFamily="50" charset="-128"/>
                <a:ea typeface="メイリオ" panose="020B0604030504040204" pitchFamily="50" charset="-128"/>
              </a:rPr>
              <a:t>20</a:t>
            </a:r>
            <a:r>
              <a:rPr lang="ja-JP" altLang="en-US" sz="800" b="1" dirty="0">
                <a:solidFill>
                  <a:srgbClr val="C00000"/>
                </a:solidFill>
                <a:latin typeface="メイリオ" panose="020B0604030504040204" pitchFamily="50" charset="-128"/>
                <a:ea typeface="メイリオ" panose="020B0604030504040204" pitchFamily="50" charset="-128"/>
              </a:rPr>
              <a:t>位タイ</a:t>
            </a:r>
            <a:endParaRPr lang="en-US" altLang="ja-JP" sz="800" b="1" dirty="0">
              <a:solidFill>
                <a:srgbClr val="C00000"/>
              </a:solidFill>
              <a:latin typeface="メイリオ" panose="020B0604030504040204" pitchFamily="50" charset="-128"/>
              <a:ea typeface="メイリオ" panose="020B0604030504040204" pitchFamily="50" charset="-128"/>
            </a:endParaRPr>
          </a:p>
        </p:txBody>
      </p:sp>
      <p:sp>
        <p:nvSpPr>
          <p:cNvPr id="2103" name="テキスト ボックス 2102">
            <a:extLst>
              <a:ext uri="{FF2B5EF4-FFF2-40B4-BE49-F238E27FC236}">
                <a16:creationId xmlns:a16="http://schemas.microsoft.com/office/drawing/2014/main" id="{D5793D3E-32A5-A172-B93D-F2E02806685C}"/>
              </a:ext>
            </a:extLst>
          </p:cNvPr>
          <p:cNvSpPr txBox="1"/>
          <p:nvPr/>
        </p:nvSpPr>
        <p:spPr>
          <a:xfrm>
            <a:off x="4837113" y="3209363"/>
            <a:ext cx="1767520" cy="215444"/>
          </a:xfrm>
          <a:prstGeom prst="rect">
            <a:avLst/>
          </a:prstGeom>
          <a:noFill/>
          <a:ln>
            <a:noFill/>
          </a:ln>
        </p:spPr>
        <p:txBody>
          <a:bodyPr wrap="square" rtlCol="0">
            <a:spAutoFit/>
          </a:bodyPr>
          <a:lstStyle/>
          <a:p>
            <a:pPr algn="ctr"/>
            <a:r>
              <a:rPr lang="ja-JP" altLang="en-US" sz="800" b="1">
                <a:solidFill>
                  <a:srgbClr val="C00000"/>
                </a:solidFill>
                <a:latin typeface="メイリオ" panose="020B0604030504040204" pitchFamily="50" charset="-128"/>
                <a:ea typeface="メイリオ" panose="020B0604030504040204" pitchFamily="50" charset="-128"/>
              </a:rPr>
              <a:t>単月</a:t>
            </a:r>
            <a:r>
              <a:rPr lang="en-US" altLang="ja-JP" sz="800" b="1">
                <a:solidFill>
                  <a:srgbClr val="C00000"/>
                </a:solidFill>
                <a:latin typeface="メイリオ" panose="020B0604030504040204" pitchFamily="50" charset="-128"/>
                <a:ea typeface="メイリオ" panose="020B0604030504040204" pitchFamily="50" charset="-128"/>
              </a:rPr>
              <a:t>2000</a:t>
            </a:r>
            <a:r>
              <a:rPr lang="ja-JP" altLang="en-US" sz="800" b="1">
                <a:solidFill>
                  <a:srgbClr val="C00000"/>
                </a:solidFill>
                <a:latin typeface="メイリオ" panose="020B0604030504040204" pitchFamily="50" charset="-128"/>
                <a:ea typeface="メイリオ" panose="020B0604030504040204" pitchFamily="50" charset="-128"/>
              </a:rPr>
              <a:t>万円</a:t>
            </a:r>
            <a:r>
              <a:rPr lang="ja-JP" altLang="en-US" sz="800">
                <a:latin typeface="メイリオ" panose="020B0604030504040204" pitchFamily="50" charset="-128"/>
                <a:ea typeface="メイリオ" panose="020B0604030504040204" pitchFamily="50" charset="-128"/>
              </a:rPr>
              <a:t>の取り扱いを突破。</a:t>
            </a:r>
            <a:endParaRPr lang="en-US" altLang="ja-JP" sz="800">
              <a:latin typeface="メイリオ" panose="020B0604030504040204" pitchFamily="50" charset="-128"/>
              <a:ea typeface="メイリオ" panose="020B0604030504040204" pitchFamily="50" charset="-128"/>
            </a:endParaRPr>
          </a:p>
        </p:txBody>
      </p:sp>
      <p:sp>
        <p:nvSpPr>
          <p:cNvPr id="2104" name="テキスト ボックス 2103">
            <a:extLst>
              <a:ext uri="{FF2B5EF4-FFF2-40B4-BE49-F238E27FC236}">
                <a16:creationId xmlns:a16="http://schemas.microsoft.com/office/drawing/2014/main" id="{89EE1600-592C-F991-FBB3-472A73DB5551}"/>
              </a:ext>
            </a:extLst>
          </p:cNvPr>
          <p:cNvSpPr txBox="1"/>
          <p:nvPr/>
        </p:nvSpPr>
        <p:spPr>
          <a:xfrm>
            <a:off x="1858111" y="4310547"/>
            <a:ext cx="3234807" cy="338554"/>
          </a:xfrm>
          <a:prstGeom prst="rect">
            <a:avLst/>
          </a:prstGeom>
          <a:noFill/>
          <a:ln>
            <a:noFill/>
          </a:ln>
        </p:spPr>
        <p:txBody>
          <a:bodyPr wrap="square" rtlCol="0">
            <a:spAutoFit/>
          </a:bodyPr>
          <a:lstStyle/>
          <a:p>
            <a:pPr algn="ctr"/>
            <a:r>
              <a:rPr kumimoji="1" lang="ja-JP" altLang="en-US" sz="800">
                <a:latin typeface="メイリオ" panose="020B0604030504040204" pitchFamily="50" charset="-128"/>
                <a:ea typeface="メイリオ" panose="020B0604030504040204" pitchFamily="50" charset="-128"/>
              </a:rPr>
              <a:t>前回に続き、最高グレードである</a:t>
            </a:r>
            <a:r>
              <a:rPr lang="ja-JP" altLang="en-US" sz="800">
                <a:latin typeface="メイリオ" panose="020B0604030504040204" pitchFamily="50" charset="-128"/>
                <a:ea typeface="メイリオ" panose="020B0604030504040204" pitchFamily="50" charset="-128"/>
              </a:rPr>
              <a:t>「</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endParaRPr lang="en-US" altLang="ja-JP" sz="800">
              <a:latin typeface="メイリオ" panose="020B0604030504040204" pitchFamily="50" charset="-128"/>
              <a:ea typeface="メイリオ" panose="020B0604030504040204" pitchFamily="50" charset="-128"/>
            </a:endParaRPr>
          </a:p>
          <a:p>
            <a:pPr algn="ctr"/>
            <a:r>
              <a:rPr kumimoji="1" lang="ja-JP" altLang="en-US" sz="800" b="1">
                <a:solidFill>
                  <a:srgbClr val="C00000"/>
                </a:solidFill>
                <a:latin typeface="メイリオ" panose="020B0604030504040204" pitchFamily="50" charset="-128"/>
                <a:ea typeface="メイリオ" panose="020B0604030504040204" pitchFamily="50" charset="-128"/>
              </a:rPr>
              <a:t>上位</a:t>
            </a:r>
            <a:r>
              <a:rPr kumimoji="1" lang="en-US" altLang="ja-JP" sz="800" b="1">
                <a:solidFill>
                  <a:srgbClr val="C00000"/>
                </a:solidFill>
                <a:latin typeface="メイリオ" panose="020B0604030504040204" pitchFamily="50" charset="-128"/>
                <a:ea typeface="メイリオ" panose="020B0604030504040204" pitchFamily="50" charset="-128"/>
              </a:rPr>
              <a:t>12</a:t>
            </a:r>
            <a:r>
              <a:rPr kumimoji="1" lang="ja-JP" altLang="en-US" sz="800" b="1">
                <a:solidFill>
                  <a:srgbClr val="C00000"/>
                </a:solidFill>
                <a:latin typeface="メイリオ" panose="020B0604030504040204" pitchFamily="50" charset="-128"/>
                <a:ea typeface="メイリオ" panose="020B0604030504040204" pitchFamily="50" charset="-128"/>
              </a:rPr>
              <a:t>位タイ</a:t>
            </a:r>
          </a:p>
        </p:txBody>
      </p:sp>
      <p:sp>
        <p:nvSpPr>
          <p:cNvPr id="2105" name="テキスト ボックス 2104">
            <a:extLst>
              <a:ext uri="{FF2B5EF4-FFF2-40B4-BE49-F238E27FC236}">
                <a16:creationId xmlns:a16="http://schemas.microsoft.com/office/drawing/2014/main" id="{735B8649-944E-38AC-EFE9-3FF466013418}"/>
              </a:ext>
            </a:extLst>
          </p:cNvPr>
          <p:cNvSpPr txBox="1"/>
          <p:nvPr/>
        </p:nvSpPr>
        <p:spPr>
          <a:xfrm>
            <a:off x="6722972" y="3209363"/>
            <a:ext cx="2758776" cy="338554"/>
          </a:xfrm>
          <a:prstGeom prst="rect">
            <a:avLst/>
          </a:prstGeom>
          <a:noFill/>
          <a:ln>
            <a:noFill/>
          </a:ln>
        </p:spPr>
        <p:txBody>
          <a:bodyPr wrap="square" rtlCol="0">
            <a:spAutoFit/>
          </a:bodyPr>
          <a:lstStyle/>
          <a:p>
            <a:pPr algn="ctr"/>
            <a:r>
              <a:rPr lang="ja-JP" altLang="en-US" sz="800">
                <a:latin typeface="メイリオ" panose="020B0604030504040204" pitchFamily="50" charset="-128"/>
                <a:ea typeface="メイリオ" panose="020B0604030504040204" pitchFamily="50" charset="-128"/>
              </a:rPr>
              <a:t>前回に続き、最高グレードである「</a:t>
            </a:r>
            <a:r>
              <a:rPr lang="en-US" altLang="ja-JP" sz="800">
                <a:latin typeface="メイリオ" panose="020B0604030504040204" pitchFamily="50" charset="-128"/>
                <a:ea typeface="メイリオ" panose="020B0604030504040204" pitchFamily="50" charset="-128"/>
              </a:rPr>
              <a:t>Premier</a:t>
            </a:r>
            <a:r>
              <a:rPr lang="ja-JP" altLang="en-US" sz="800">
                <a:latin typeface="メイリオ" panose="020B0604030504040204" pitchFamily="50" charset="-128"/>
                <a:ea typeface="メイリオ" panose="020B0604030504040204" pitchFamily="50" charset="-128"/>
              </a:rPr>
              <a:t>」に認定。</a:t>
            </a:r>
            <a:r>
              <a:rPr lang="ja-JP" altLang="en-US" sz="800" b="1">
                <a:solidFill>
                  <a:srgbClr val="C00000"/>
                </a:solidFill>
                <a:latin typeface="メイリオ" panose="020B0604030504040204" pitchFamily="50" charset="-128"/>
                <a:ea typeface="メイリオ" panose="020B0604030504040204" pitchFamily="50" charset="-128"/>
              </a:rPr>
              <a:t>上位</a:t>
            </a:r>
            <a:r>
              <a:rPr lang="en-US" altLang="ja-JP" sz="800" b="1">
                <a:solidFill>
                  <a:srgbClr val="C00000"/>
                </a:solidFill>
                <a:latin typeface="メイリオ" panose="020B0604030504040204" pitchFamily="50" charset="-128"/>
                <a:ea typeface="メイリオ" panose="020B0604030504040204" pitchFamily="50" charset="-128"/>
              </a:rPr>
              <a:t>15</a:t>
            </a:r>
            <a:r>
              <a:rPr lang="ja-JP" altLang="en-US" sz="800" b="1">
                <a:solidFill>
                  <a:srgbClr val="C00000"/>
                </a:solidFill>
                <a:latin typeface="メイリオ" panose="020B0604030504040204" pitchFamily="50" charset="-128"/>
                <a:ea typeface="メイリオ" panose="020B0604030504040204" pitchFamily="50" charset="-128"/>
              </a:rPr>
              <a:t>位タイ</a:t>
            </a:r>
            <a:endParaRPr lang="en-US" altLang="ja-JP" sz="800" b="1">
              <a:solidFill>
                <a:srgbClr val="C00000"/>
              </a:solidFill>
              <a:latin typeface="メイリオ" panose="020B0604030504040204" pitchFamily="50" charset="-128"/>
              <a:ea typeface="メイリオ" panose="020B0604030504040204" pitchFamily="50" charset="-128"/>
            </a:endParaRPr>
          </a:p>
        </p:txBody>
      </p:sp>
      <p:sp>
        <p:nvSpPr>
          <p:cNvPr id="2110" name="テキスト ボックス 2109">
            <a:extLst>
              <a:ext uri="{FF2B5EF4-FFF2-40B4-BE49-F238E27FC236}">
                <a16:creationId xmlns:a16="http://schemas.microsoft.com/office/drawing/2014/main" id="{9364E84A-3501-3480-3E86-4181D9EDDE0D}"/>
              </a:ext>
            </a:extLst>
          </p:cNvPr>
          <p:cNvSpPr txBox="1"/>
          <p:nvPr/>
        </p:nvSpPr>
        <p:spPr>
          <a:xfrm>
            <a:off x="5204477" y="3512494"/>
            <a:ext cx="957586" cy="246221"/>
          </a:xfrm>
          <a:prstGeom prst="rect">
            <a:avLst/>
          </a:prstGeom>
          <a:noFill/>
          <a:ln>
            <a:noFill/>
          </a:ln>
        </p:spPr>
        <p:txBody>
          <a:bodyPr wrap="square" rtlCol="0">
            <a:spAutoFit/>
          </a:bodyPr>
          <a:lstStyle/>
          <a:p>
            <a:pPr algn="ctr"/>
            <a:r>
              <a:rPr kumimoji="1" lang="ja-JP" altLang="en-US" sz="1000">
                <a:latin typeface="メイリオ" panose="020B0604030504040204" pitchFamily="50" charset="-128"/>
                <a:ea typeface="メイリオ" panose="020B0604030504040204" pitchFamily="50" charset="-128"/>
              </a:rPr>
              <a:t>現在</a:t>
            </a:r>
          </a:p>
        </p:txBody>
      </p:sp>
      <p:sp>
        <p:nvSpPr>
          <p:cNvPr id="2111" name="テキスト ボックス 2110">
            <a:extLst>
              <a:ext uri="{FF2B5EF4-FFF2-40B4-BE49-F238E27FC236}">
                <a16:creationId xmlns:a16="http://schemas.microsoft.com/office/drawing/2014/main" id="{915149AC-7723-29BD-6D17-D471CC831F56}"/>
              </a:ext>
            </a:extLst>
          </p:cNvPr>
          <p:cNvSpPr txBox="1"/>
          <p:nvPr/>
        </p:nvSpPr>
        <p:spPr>
          <a:xfrm>
            <a:off x="4684085" y="4310547"/>
            <a:ext cx="2335280" cy="338554"/>
          </a:xfrm>
          <a:prstGeom prst="rect">
            <a:avLst/>
          </a:prstGeom>
          <a:noFill/>
          <a:ln>
            <a:noFill/>
          </a:ln>
        </p:spPr>
        <p:txBody>
          <a:bodyPr wrap="square" rtlCol="0">
            <a:spAutoFit/>
          </a:bodyPr>
          <a:lstStyle/>
          <a:p>
            <a:pPr algn="ctr"/>
            <a:r>
              <a:rPr lang="ja-JP" altLang="en-US" sz="800" dirty="0">
                <a:latin typeface="メイリオ" panose="020B0604030504040204" pitchFamily="50" charset="-128"/>
                <a:ea typeface="メイリオ" panose="020B0604030504040204" pitchFamily="50" charset="-128"/>
              </a:rPr>
              <a:t>「</a:t>
            </a:r>
            <a:r>
              <a:rPr lang="en-US" altLang="ja-JP" sz="800" dirty="0">
                <a:latin typeface="メイリオ" panose="020B0604030504040204" pitchFamily="50" charset="-128"/>
                <a:ea typeface="メイリオ" panose="020B0604030504040204" pitchFamily="50" charset="-128"/>
              </a:rPr>
              <a:t>Best LINE</a:t>
            </a:r>
            <a:r>
              <a:rPr lang="ja-JP" altLang="en-US" sz="800" dirty="0">
                <a:latin typeface="メイリオ" panose="020B0604030504040204" pitchFamily="50" charset="-128"/>
                <a:ea typeface="メイリオ" panose="020B0604030504040204" pitchFamily="50" charset="-128"/>
              </a:rPr>
              <a:t>公式アカウント </a:t>
            </a:r>
            <a:r>
              <a:rPr lang="en-US" altLang="ja-JP" sz="800" dirty="0">
                <a:latin typeface="メイリオ" panose="020B0604030504040204" pitchFamily="50" charset="-128"/>
                <a:ea typeface="メイリオ" panose="020B0604030504040204" pitchFamily="50" charset="-128"/>
              </a:rPr>
              <a:t>Growth</a:t>
            </a:r>
            <a:r>
              <a:rPr lang="ja-JP" altLang="en-US" sz="800" dirty="0">
                <a:latin typeface="メイリオ" panose="020B0604030504040204" pitchFamily="50" charset="-128"/>
                <a:ea typeface="メイリオ" panose="020B0604030504040204" pitchFamily="50" charset="-128"/>
              </a:rPr>
              <a:t>」部門で</a:t>
            </a:r>
            <a:r>
              <a:rPr lang="en-US" altLang="ja-JP" sz="800" dirty="0">
                <a:latin typeface="メイリオ" panose="020B0604030504040204" pitchFamily="50" charset="-128"/>
                <a:ea typeface="メイリオ" panose="020B0604030504040204" pitchFamily="50" charset="-128"/>
              </a:rPr>
              <a:t>LINE</a:t>
            </a:r>
            <a:r>
              <a:rPr lang="ja-JP" altLang="en-US" sz="800" dirty="0">
                <a:latin typeface="メイリオ" panose="020B0604030504040204" pitchFamily="50" charset="-128"/>
                <a:ea typeface="メイリオ" panose="020B0604030504040204" pitchFamily="50" charset="-128"/>
              </a:rPr>
              <a:t>ヤフー社から表彰をいただきました。</a:t>
            </a:r>
            <a:endParaRPr kumimoji="1" lang="ja-JP" altLang="en-US" sz="8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F974FA57-9312-73D0-6461-C65486B6B90A}"/>
              </a:ext>
            </a:extLst>
          </p:cNvPr>
          <p:cNvSpPr/>
          <p:nvPr/>
        </p:nvSpPr>
        <p:spPr>
          <a:xfrm>
            <a:off x="388723" y="675734"/>
            <a:ext cx="9128556" cy="349010"/>
          </a:xfrm>
          <a:prstGeom prst="rect">
            <a:avLst/>
          </a:prstGeom>
          <a:solidFill>
            <a:schemeClr val="bg1">
              <a:lumMod val="65000"/>
            </a:schemeClr>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正方形/長方形 2">
            <a:extLst>
              <a:ext uri="{FF2B5EF4-FFF2-40B4-BE49-F238E27FC236}">
                <a16:creationId xmlns:a16="http://schemas.microsoft.com/office/drawing/2014/main" id="{4661DF32-128A-6B77-5F5D-76D78A1B8378}"/>
              </a:ext>
            </a:extLst>
          </p:cNvPr>
          <p:cNvSpPr/>
          <p:nvPr/>
        </p:nvSpPr>
        <p:spPr>
          <a:xfrm>
            <a:off x="2853632" y="700332"/>
            <a:ext cx="6663645" cy="306000"/>
          </a:xfrm>
          <a:prstGeom prst="rect">
            <a:avLst/>
          </a:prstGeom>
          <a:solidFill>
            <a:srgbClr val="10253F"/>
          </a:solidFill>
        </p:spPr>
        <p:txBody>
          <a:bodyPr wrap="square">
            <a:spAutoFit/>
          </a:bodyPr>
          <a:lstStyle/>
          <a:p>
            <a:pPr lvl="0">
              <a:buClr>
                <a:srgbClr val="002060"/>
              </a:buClr>
              <a:buSzPts val="1600"/>
            </a:pPr>
            <a:r>
              <a:rPr lang="en-US" altLang="ja-JP" sz="1300" b="1">
                <a:solidFill>
                  <a:schemeClr val="bg1"/>
                </a:solidFill>
                <a:latin typeface="Meiryo"/>
                <a:ea typeface="Meiryo"/>
                <a:cs typeface="Meiryo"/>
                <a:sym typeface="Meiryo"/>
              </a:rPr>
              <a:t>LINE</a:t>
            </a:r>
            <a:r>
              <a:rPr lang="ja-JP" altLang="en-US" sz="1300" b="1">
                <a:solidFill>
                  <a:schemeClr val="bg1"/>
                </a:solidFill>
                <a:latin typeface="Meiryo"/>
                <a:ea typeface="Meiryo"/>
                <a:cs typeface="Meiryo"/>
                <a:sym typeface="Meiryo"/>
              </a:rPr>
              <a:t>ヤフー </a:t>
            </a:r>
            <a:r>
              <a:rPr lang="en-US" altLang="ja-JP" sz="1300" b="1">
                <a:solidFill>
                  <a:schemeClr val="bg1"/>
                </a:solidFill>
                <a:latin typeface="Meiryo"/>
                <a:ea typeface="Meiryo"/>
                <a:cs typeface="Meiryo"/>
                <a:sym typeface="Meiryo"/>
              </a:rPr>
              <a:t>Partner Award 2025</a:t>
            </a:r>
            <a:r>
              <a:rPr lang="ja-JP" altLang="en-US" sz="1300" b="1">
                <a:solidFill>
                  <a:schemeClr val="bg1"/>
                </a:solidFill>
                <a:latin typeface="Meiryo"/>
                <a:ea typeface="Meiryo"/>
                <a:cs typeface="Meiryo"/>
                <a:sym typeface="Meiryo"/>
              </a:rPr>
              <a:t>にて「</a:t>
            </a:r>
            <a:r>
              <a:rPr lang="en-US" altLang="ja-JP" sz="1300" b="1">
                <a:solidFill>
                  <a:schemeClr val="bg1"/>
                </a:solidFill>
                <a:latin typeface="Meiryo"/>
                <a:ea typeface="Meiryo"/>
                <a:cs typeface="Meiryo"/>
                <a:sym typeface="Meiryo"/>
              </a:rPr>
              <a:t>Best LINE</a:t>
            </a:r>
            <a:r>
              <a:rPr lang="ja-JP" altLang="en-US" sz="1300" b="1">
                <a:solidFill>
                  <a:schemeClr val="bg1"/>
                </a:solidFill>
                <a:latin typeface="Meiryo"/>
                <a:ea typeface="Meiryo"/>
                <a:cs typeface="Meiryo"/>
                <a:sym typeface="Meiryo"/>
              </a:rPr>
              <a:t>公式アカウント </a:t>
            </a:r>
            <a:r>
              <a:rPr lang="en-US" altLang="ja-JP" sz="1300" b="1">
                <a:solidFill>
                  <a:schemeClr val="bg1"/>
                </a:solidFill>
                <a:latin typeface="Meiryo"/>
                <a:ea typeface="Meiryo"/>
                <a:cs typeface="Meiryo"/>
                <a:sym typeface="Meiryo"/>
              </a:rPr>
              <a:t>Growth</a:t>
            </a:r>
            <a:r>
              <a:rPr lang="ja-JP" altLang="en-US" sz="1300" b="1">
                <a:solidFill>
                  <a:schemeClr val="bg1"/>
                </a:solidFill>
                <a:latin typeface="Meiryo"/>
                <a:ea typeface="Meiryo"/>
                <a:cs typeface="Meiryo"/>
                <a:sym typeface="Meiryo"/>
              </a:rPr>
              <a:t>」受賞</a:t>
            </a:r>
            <a:endParaRPr lang="en-US" altLang="ja-JP" sz="1300" b="1" dirty="0">
              <a:solidFill>
                <a:schemeClr val="bg1"/>
              </a:solidFill>
              <a:latin typeface="Meiryo"/>
              <a:ea typeface="Meiryo"/>
              <a:cs typeface="Meiryo"/>
              <a:sym typeface="Meiryo"/>
            </a:endParaRPr>
          </a:p>
        </p:txBody>
      </p:sp>
      <p:sp>
        <p:nvSpPr>
          <p:cNvPr id="6" name="正方形/長方形 5">
            <a:extLst>
              <a:ext uri="{FF2B5EF4-FFF2-40B4-BE49-F238E27FC236}">
                <a16:creationId xmlns:a16="http://schemas.microsoft.com/office/drawing/2014/main" id="{DEE7F595-5FAC-C5CD-0B26-580B6DF09A53}"/>
              </a:ext>
            </a:extLst>
          </p:cNvPr>
          <p:cNvSpPr/>
          <p:nvPr/>
        </p:nvSpPr>
        <p:spPr>
          <a:xfrm>
            <a:off x="432943" y="700332"/>
            <a:ext cx="2391617" cy="306000"/>
          </a:xfrm>
          <a:prstGeom prst="rect">
            <a:avLst/>
          </a:prstGeom>
          <a:solidFill>
            <a:srgbClr val="10253F"/>
          </a:solidFill>
        </p:spPr>
        <p:txBody>
          <a:bodyPr wrap="square">
            <a:spAutoFit/>
          </a:bodyPr>
          <a:lstStyle/>
          <a:p>
            <a:pPr lvl="0" algn="ctr">
              <a:buClr>
                <a:srgbClr val="002060"/>
              </a:buClr>
              <a:buSzPts val="1600"/>
            </a:pPr>
            <a:r>
              <a:rPr lang="en-US" altLang="ja-JP" sz="1400" b="1">
                <a:solidFill>
                  <a:schemeClr val="bg1"/>
                </a:solidFill>
                <a:latin typeface="Meiryo"/>
                <a:ea typeface="Meiryo"/>
                <a:cs typeface="Meiryo"/>
                <a:sym typeface="Meiryo"/>
              </a:rPr>
              <a:t>DYM × LINEOA</a:t>
            </a:r>
            <a:endParaRPr lang="en-US" altLang="ja-JP" sz="1400" b="1" dirty="0">
              <a:solidFill>
                <a:schemeClr val="bg1"/>
              </a:solidFill>
              <a:latin typeface="Meiryo"/>
              <a:ea typeface="Meiryo"/>
              <a:cs typeface="Meiryo"/>
              <a:sym typeface="Meiryo"/>
            </a:endParaRPr>
          </a:p>
        </p:txBody>
      </p:sp>
      <p:pic>
        <p:nvPicPr>
          <p:cNvPr id="56" name="Picture 2">
            <a:extLst>
              <a:ext uri="{FF2B5EF4-FFF2-40B4-BE49-F238E27FC236}">
                <a16:creationId xmlns:a16="http://schemas.microsoft.com/office/drawing/2014/main" id="{6B503BF7-985B-8770-4643-5E3EB6E5562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69689" y="5150774"/>
            <a:ext cx="1929199" cy="1286131"/>
          </a:xfrm>
          <a:prstGeom prst="rect">
            <a:avLst/>
          </a:prstGeom>
          <a:noFill/>
          <a:extLst>
            <a:ext uri="{909E8E84-426E-40DD-AFC4-6F175D3DCCD1}">
              <a14:hiddenFill xmlns:a14="http://schemas.microsoft.com/office/drawing/2010/main">
                <a:solidFill>
                  <a:srgbClr val="FFFFFF"/>
                </a:solidFill>
              </a14:hiddenFill>
            </a:ext>
          </a:extLst>
        </p:spPr>
      </p:pic>
      <p:sp>
        <p:nvSpPr>
          <p:cNvPr id="2" name="テキスト プレースホルダー 2">
            <a:extLst>
              <a:ext uri="{FF2B5EF4-FFF2-40B4-BE49-F238E27FC236}">
                <a16:creationId xmlns:a16="http://schemas.microsoft.com/office/drawing/2014/main" id="{761ADAB8-B668-8B05-EDE6-B5003466E015}"/>
              </a:ext>
            </a:extLst>
          </p:cNvPr>
          <p:cNvSpPr txBox="1">
            <a:spLocks/>
          </p:cNvSpPr>
          <p:nvPr/>
        </p:nvSpPr>
        <p:spPr>
          <a:xfrm>
            <a:off x="8209814" y="6217102"/>
            <a:ext cx="676273" cy="157797"/>
          </a:xfrm>
          <a:prstGeom prst="rect">
            <a:avLst/>
          </a:prstGeom>
        </p:spPr>
        <p:txBody>
          <a:bodyPr lIns="0" tIns="0" rIns="0" bIns="0" anchor="t"/>
          <a:lstStyle>
            <a:lvl1pPr marL="0" indent="0" algn="l" defTabSz="914400" rtl="0" eaLnBrk="1" latinLnBrk="0" hangingPunct="1">
              <a:lnSpc>
                <a:spcPct val="130000"/>
              </a:lnSpc>
              <a:spcBef>
                <a:spcPts val="0"/>
              </a:spcBef>
              <a:buFont typeface="Arial" panose="020B0604020202020204" pitchFamily="34" charset="0"/>
              <a:buNone/>
              <a:defRPr kumimoji="1" sz="1400" kern="1200">
                <a:solidFill>
                  <a:schemeClr val="tx1">
                    <a:lumMod val="95000"/>
                    <a:lumOff val="5000"/>
                  </a:schemeClr>
                </a:solidFill>
                <a:latin typeface="Meiryo" panose="020B0604030504040204" pitchFamily="34" charset="-128"/>
                <a:ea typeface="Meiryo" panose="020B0604030504040204" pitchFamily="34" charset="-128"/>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lvl="0">
              <a:defRPr/>
            </a:pPr>
            <a:r>
              <a:rPr lang="en-US" altLang="ja-JP" sz="700">
                <a:solidFill>
                  <a:schemeClr val="bg1"/>
                </a:solidFill>
              </a:rPr>
              <a:t>※</a:t>
            </a:r>
            <a:r>
              <a:rPr lang="ja-JP" altLang="en-US" sz="700">
                <a:solidFill>
                  <a:schemeClr val="bg1"/>
                </a:solidFill>
              </a:rPr>
              <a:t>受賞時の</a:t>
            </a:r>
            <a:r>
              <a:rPr lang="en-US" altLang="ja-JP" sz="700">
                <a:solidFill>
                  <a:schemeClr val="bg1"/>
                </a:solidFill>
              </a:rPr>
              <a:t>1</a:t>
            </a:r>
            <a:r>
              <a:rPr lang="ja-JP" altLang="en-US" sz="700">
                <a:solidFill>
                  <a:schemeClr val="bg1"/>
                </a:solidFill>
              </a:rPr>
              <a:t>枚</a:t>
            </a:r>
            <a:endParaRPr lang="en-US" altLang="ja-JP" sz="700" dirty="0">
              <a:solidFill>
                <a:schemeClr val="bg1"/>
              </a:solidFill>
            </a:endParaRPr>
          </a:p>
        </p:txBody>
      </p:sp>
      <p:pic>
        <p:nvPicPr>
          <p:cNvPr id="7" name="図 6" descr="アイコン が含まれている画像&#10;&#10;AI 生成コンテンツは誤りを含む可能性があります。">
            <a:extLst>
              <a:ext uri="{FF2B5EF4-FFF2-40B4-BE49-F238E27FC236}">
                <a16:creationId xmlns:a16="http://schemas.microsoft.com/office/drawing/2014/main" id="{1FAB445F-372A-C0D2-7552-790613769A3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408069" y="4654614"/>
            <a:ext cx="2886575" cy="2294826"/>
          </a:xfrm>
          <a:prstGeom prst="rect">
            <a:avLst/>
          </a:prstGeom>
        </p:spPr>
      </p:pic>
      <p:sp>
        <p:nvSpPr>
          <p:cNvPr id="10" name="テキスト ボックス 9">
            <a:extLst>
              <a:ext uri="{FF2B5EF4-FFF2-40B4-BE49-F238E27FC236}">
                <a16:creationId xmlns:a16="http://schemas.microsoft.com/office/drawing/2014/main" id="{F7A1F49B-800C-42EE-5308-93E8C2B2E88F}"/>
              </a:ext>
            </a:extLst>
          </p:cNvPr>
          <p:cNvSpPr txBox="1"/>
          <p:nvPr/>
        </p:nvSpPr>
        <p:spPr>
          <a:xfrm>
            <a:off x="2535025" y="5767731"/>
            <a:ext cx="4963884" cy="646331"/>
          </a:xfrm>
          <a:prstGeom prst="rect">
            <a:avLst/>
          </a:prstGeom>
          <a:noFill/>
        </p:spPr>
        <p:txBody>
          <a:bodyPr wrap="square">
            <a:spAutoFit/>
          </a:bodyPr>
          <a:lstStyle/>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現在</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Sales Partner Premier</a:t>
            </a:r>
          </a:p>
          <a:p>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は</a:t>
            </a:r>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DYM</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を合わせて</a:t>
            </a:r>
            <a:r>
              <a:rPr lang="en-US" altLang="ja-JP" sz="900" b="1" dirty="0">
                <a:solidFill>
                  <a:srgbClr val="000000">
                    <a:lumMod val="95000"/>
                    <a:lumOff val="5000"/>
                  </a:srgbClr>
                </a:solidFill>
                <a:latin typeface="メイリオ" panose="020B0604030504040204" pitchFamily="50" charset="-128"/>
                <a:ea typeface="メイリオ" panose="020B0604030504040204" pitchFamily="50" charset="-128"/>
              </a:rPr>
              <a:t>12</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社が認定</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endPar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endParaRPr>
          </a:p>
          <a:p>
            <a:r>
              <a:rPr lang="en-US" altLang="ja-JP" sz="900" dirty="0">
                <a:solidFill>
                  <a:srgbClr val="000000">
                    <a:lumMod val="95000"/>
                    <a:lumOff val="5000"/>
                  </a:srgbClr>
                </a:solidFill>
                <a:latin typeface="メイリオ" panose="020B0604030504040204" pitchFamily="50" charset="-128"/>
                <a:ea typeface="メイリオ" panose="020B0604030504040204" pitchFamily="50" charset="-128"/>
              </a:rPr>
              <a:t>※</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未上場企業では</a:t>
            </a:r>
            <a:r>
              <a:rPr lang="ja-JP" altLang="en-US" sz="900" b="1" dirty="0">
                <a:solidFill>
                  <a:srgbClr val="000000">
                    <a:lumMod val="95000"/>
                    <a:lumOff val="5000"/>
                  </a:srgbClr>
                </a:solidFill>
                <a:latin typeface="メイリオ" panose="020B0604030504040204" pitchFamily="50" charset="-128"/>
                <a:ea typeface="メイリオ" panose="020B0604030504040204" pitchFamily="50" charset="-128"/>
              </a:rPr>
              <a:t>唯一で最上位</a:t>
            </a:r>
            <a:r>
              <a:rPr lang="ja-JP" altLang="en-US" sz="900" dirty="0">
                <a:solidFill>
                  <a:srgbClr val="000000">
                    <a:lumMod val="95000"/>
                    <a:lumOff val="5000"/>
                  </a:srgbClr>
                </a:solidFill>
                <a:latin typeface="メイリオ" panose="020B0604030504040204" pitchFamily="50" charset="-128"/>
                <a:ea typeface="メイリオ" panose="020B0604030504040204" pitchFamily="50" charset="-128"/>
              </a:rPr>
              <a:t>。</a:t>
            </a:r>
            <a:endParaRPr lang="ja-JP" altLang="en-US" sz="900" dirty="0"/>
          </a:p>
        </p:txBody>
      </p:sp>
      <p:pic>
        <p:nvPicPr>
          <p:cNvPr id="5" name="図 4">
            <a:extLst>
              <a:ext uri="{FF2B5EF4-FFF2-40B4-BE49-F238E27FC236}">
                <a16:creationId xmlns:a16="http://schemas.microsoft.com/office/drawing/2014/main" id="{1F013E1B-3D36-6118-A1E8-A84BF28EDEC2}"/>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88996" y="4759370"/>
            <a:ext cx="2664636" cy="2074350"/>
          </a:xfrm>
          <a:prstGeom prst="rect">
            <a:avLst/>
          </a:prstGeom>
        </p:spPr>
      </p:pic>
    </p:spTree>
    <p:extLst>
      <p:ext uri="{BB962C8B-B14F-4D97-AF65-F5344CB8AC3E}">
        <p14:creationId xmlns:p14="http://schemas.microsoft.com/office/powerpoint/2010/main" val="33205557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5861D-E2B1-5330-6864-9B051B1B450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0815731-3923-DF64-2497-E7A37D053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弊社ポジショニング</a:t>
            </a:r>
          </a:p>
        </p:txBody>
      </p:sp>
      <p:sp>
        <p:nvSpPr>
          <p:cNvPr id="2" name="正方形/長方形 1">
            <a:extLst>
              <a:ext uri="{FF2B5EF4-FFF2-40B4-BE49-F238E27FC236}">
                <a16:creationId xmlns:a16="http://schemas.microsoft.com/office/drawing/2014/main" id="{6EE73D80-19A8-1B22-3E67-207FD67693A3}"/>
              </a:ext>
            </a:extLst>
          </p:cNvPr>
          <p:cNvSpPr/>
          <p:nvPr/>
        </p:nvSpPr>
        <p:spPr>
          <a:xfrm>
            <a:off x="414745"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CD2306FC-4175-2C00-0D17-32F2AAC51C82}"/>
              </a:ext>
            </a:extLst>
          </p:cNvPr>
          <p:cNvSpPr/>
          <p:nvPr/>
        </p:nvSpPr>
        <p:spPr>
          <a:xfrm>
            <a:off x="4892040" y="1861522"/>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9ED6AD3F-541D-3FC5-0062-3F2A923253C9}"/>
              </a:ext>
            </a:extLst>
          </p:cNvPr>
          <p:cNvSpPr/>
          <p:nvPr/>
        </p:nvSpPr>
        <p:spPr>
          <a:xfrm>
            <a:off x="414745"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D4D20F90-DB1A-B6A0-8607-C0C93118158E}"/>
              </a:ext>
            </a:extLst>
          </p:cNvPr>
          <p:cNvSpPr/>
          <p:nvPr/>
        </p:nvSpPr>
        <p:spPr>
          <a:xfrm>
            <a:off x="4892040" y="4308273"/>
            <a:ext cx="4383678" cy="165710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4608CEE-4C85-001A-2579-A0A698688995}"/>
              </a:ext>
            </a:extLst>
          </p:cNvPr>
          <p:cNvSpPr/>
          <p:nvPr/>
        </p:nvSpPr>
        <p:spPr>
          <a:xfrm>
            <a:off x="414745"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ツール会社　</a:t>
            </a:r>
          </a:p>
        </p:txBody>
      </p:sp>
      <p:sp>
        <p:nvSpPr>
          <p:cNvPr id="13" name="正方形/長方形 12">
            <a:extLst>
              <a:ext uri="{FF2B5EF4-FFF2-40B4-BE49-F238E27FC236}">
                <a16:creationId xmlns:a16="http://schemas.microsoft.com/office/drawing/2014/main" id="{59A99E6E-D460-C2CE-3554-D4177944BCC1}"/>
              </a:ext>
            </a:extLst>
          </p:cNvPr>
          <p:cNvSpPr/>
          <p:nvPr/>
        </p:nvSpPr>
        <p:spPr>
          <a:xfrm>
            <a:off x="4892040" y="1861523"/>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 コンサル会社</a:t>
            </a:r>
          </a:p>
        </p:txBody>
      </p:sp>
      <p:sp>
        <p:nvSpPr>
          <p:cNvPr id="14" name="正方形/長方形 13">
            <a:extLst>
              <a:ext uri="{FF2B5EF4-FFF2-40B4-BE49-F238E27FC236}">
                <a16:creationId xmlns:a16="http://schemas.microsoft.com/office/drawing/2014/main" id="{B9B23A0A-C181-F52D-CE83-83252D57916D}"/>
              </a:ext>
            </a:extLst>
          </p:cNvPr>
          <p:cNvSpPr/>
          <p:nvPr/>
        </p:nvSpPr>
        <p:spPr>
          <a:xfrm>
            <a:off x="414745"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広告専業の代理店</a:t>
            </a:r>
          </a:p>
        </p:txBody>
      </p:sp>
      <p:sp>
        <p:nvSpPr>
          <p:cNvPr id="15" name="正方形/長方形 14">
            <a:extLst>
              <a:ext uri="{FF2B5EF4-FFF2-40B4-BE49-F238E27FC236}">
                <a16:creationId xmlns:a16="http://schemas.microsoft.com/office/drawing/2014/main" id="{735511C6-7F11-A23D-F1BA-0FACD703798D}"/>
              </a:ext>
            </a:extLst>
          </p:cNvPr>
          <p:cNvSpPr/>
          <p:nvPr/>
        </p:nvSpPr>
        <p:spPr>
          <a:xfrm>
            <a:off x="4892040" y="4295574"/>
            <a:ext cx="4383678" cy="324689"/>
          </a:xfrm>
          <a:prstGeom prst="rect">
            <a:avLst/>
          </a:prstGeom>
          <a:solidFill>
            <a:schemeClr val="tx2">
              <a:lumMod val="20000"/>
              <a:lumOff val="80000"/>
            </a:schemeClr>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他</a:t>
            </a:r>
            <a:r>
              <a:rPr kumimoji="1" lang="en-US" altLang="ja-JP" sz="1000" dirty="0">
                <a:solidFill>
                  <a:schemeClr val="tx1"/>
                </a:solidFill>
                <a:latin typeface="メイリオ" panose="020B0604030504040204" pitchFamily="50" charset="-128"/>
                <a:ea typeface="メイリオ" panose="020B0604030504040204" pitchFamily="50" charset="-128"/>
              </a:rPr>
              <a:t>CRM</a:t>
            </a:r>
            <a:r>
              <a:rPr kumimoji="1" lang="ja-JP" altLang="en-US" sz="1000" dirty="0">
                <a:solidFill>
                  <a:schemeClr val="tx1"/>
                </a:solidFill>
                <a:latin typeface="メイリオ" panose="020B0604030504040204" pitchFamily="50" charset="-128"/>
                <a:ea typeface="メイリオ" panose="020B0604030504040204" pitchFamily="50" charset="-128"/>
              </a:rPr>
              <a:t>の会社</a:t>
            </a:r>
          </a:p>
        </p:txBody>
      </p:sp>
      <p:pic>
        <p:nvPicPr>
          <p:cNvPr id="21" name="図 20" descr="文字が書かれている&#10;&#10;AI 生成コンテンツは誤りを含む可能性があります。">
            <a:extLst>
              <a:ext uri="{FF2B5EF4-FFF2-40B4-BE49-F238E27FC236}">
                <a16:creationId xmlns:a16="http://schemas.microsoft.com/office/drawing/2014/main" id="{2521257E-D1E1-307C-8244-A7D93D470795}"/>
              </a:ext>
            </a:extLst>
          </p:cNvPr>
          <p:cNvPicPr>
            <a:picLocks noChangeAspect="1"/>
          </p:cNvPicPr>
          <p:nvPr/>
        </p:nvPicPr>
        <p:blipFill>
          <a:blip r:embed="rId2"/>
          <a:stretch>
            <a:fillRect/>
          </a:stretch>
        </p:blipFill>
        <p:spPr>
          <a:xfrm>
            <a:off x="1086533" y="2288778"/>
            <a:ext cx="1323427" cy="315679"/>
          </a:xfrm>
          <a:prstGeom prst="rect">
            <a:avLst/>
          </a:prstGeom>
        </p:spPr>
      </p:pic>
      <p:pic>
        <p:nvPicPr>
          <p:cNvPr id="1026" name="Picture 2" descr="特定商取引法に関する表示 | Lステップ（エルステップ）公式_LINE公式アカウント特化のマーケティングツール">
            <a:extLst>
              <a:ext uri="{FF2B5EF4-FFF2-40B4-BE49-F238E27FC236}">
                <a16:creationId xmlns:a16="http://schemas.microsoft.com/office/drawing/2014/main" id="{E86AB3B4-1E56-4227-88BE-FA673F02334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36417" y="2199280"/>
            <a:ext cx="831168" cy="467532"/>
          </a:xfrm>
          <a:prstGeom prst="rect">
            <a:avLst/>
          </a:prstGeom>
          <a:noFill/>
          <a:extLst>
            <a:ext uri="{909E8E84-426E-40DD-AFC4-6F175D3DCCD1}">
              <a14:hiddenFill xmlns:a14="http://schemas.microsoft.com/office/drawing/2010/main">
                <a:solidFill>
                  <a:srgbClr val="FFFFFF"/>
                </a:solidFill>
              </a14:hiddenFill>
            </a:ext>
          </a:extLst>
        </p:spPr>
      </p:pic>
      <p:sp>
        <p:nvSpPr>
          <p:cNvPr id="26" name="乗算記号 25">
            <a:extLst>
              <a:ext uri="{FF2B5EF4-FFF2-40B4-BE49-F238E27FC236}">
                <a16:creationId xmlns:a16="http://schemas.microsoft.com/office/drawing/2014/main" id="{676235DE-33EB-2E33-33D6-74D321860C39}"/>
              </a:ext>
            </a:extLst>
          </p:cNvPr>
          <p:cNvSpPr/>
          <p:nvPr/>
        </p:nvSpPr>
        <p:spPr>
          <a:xfrm>
            <a:off x="619832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乗算記号 26">
            <a:extLst>
              <a:ext uri="{FF2B5EF4-FFF2-40B4-BE49-F238E27FC236}">
                <a16:creationId xmlns:a16="http://schemas.microsoft.com/office/drawing/2014/main" id="{7C31A50F-57BD-64E8-DE3F-3A8FB722D839}"/>
              </a:ext>
            </a:extLst>
          </p:cNvPr>
          <p:cNvSpPr/>
          <p:nvPr/>
        </p:nvSpPr>
        <p:spPr>
          <a:xfrm>
            <a:off x="1472312" y="4277918"/>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乗算記号 27">
            <a:extLst>
              <a:ext uri="{FF2B5EF4-FFF2-40B4-BE49-F238E27FC236}">
                <a16:creationId xmlns:a16="http://schemas.microsoft.com/office/drawing/2014/main" id="{9B7C9A4B-096B-D2DD-08B8-D421AB634155}"/>
              </a:ext>
            </a:extLst>
          </p:cNvPr>
          <p:cNvSpPr/>
          <p:nvPr/>
        </p:nvSpPr>
        <p:spPr>
          <a:xfrm>
            <a:off x="1734353" y="1838911"/>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乗算記号 28">
            <a:extLst>
              <a:ext uri="{FF2B5EF4-FFF2-40B4-BE49-F238E27FC236}">
                <a16:creationId xmlns:a16="http://schemas.microsoft.com/office/drawing/2014/main" id="{E3AD3032-8560-946E-0D20-D2977D17F027}"/>
              </a:ext>
            </a:extLst>
          </p:cNvPr>
          <p:cNvSpPr/>
          <p:nvPr/>
        </p:nvSpPr>
        <p:spPr>
          <a:xfrm>
            <a:off x="6128651" y="4274166"/>
            <a:ext cx="360000" cy="360000"/>
          </a:xfrm>
          <a:prstGeom prst="mathMultiply">
            <a:avLst>
              <a:gd name="adj1" fmla="val 4915"/>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8" name="Picture 4" descr="Salesforceってなに？初心者でも簡単にわかる！導入のメリットと基本機能について | CONCENTO">
            <a:extLst>
              <a:ext uri="{FF2B5EF4-FFF2-40B4-BE49-F238E27FC236}">
                <a16:creationId xmlns:a16="http://schemas.microsoft.com/office/drawing/2014/main" id="{A10BCEF0-052F-BF99-39E9-5BA577F00F74}"/>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l="23384" t="14322" r="25004" b="16405"/>
          <a:stretch>
            <a:fillRect/>
          </a:stretch>
        </p:blipFill>
        <p:spPr bwMode="auto">
          <a:xfrm>
            <a:off x="5388428" y="4704431"/>
            <a:ext cx="441441" cy="311537"/>
          </a:xfrm>
          <a:prstGeom prst="rect">
            <a:avLst/>
          </a:prstGeom>
          <a:ln>
            <a:noFill/>
          </a:ln>
        </p:spPr>
        <p:style>
          <a:lnRef idx="2">
            <a:schemeClr val="dk1"/>
          </a:lnRef>
          <a:fillRef idx="1">
            <a:schemeClr val="lt1"/>
          </a:fillRef>
          <a:effectRef idx="0">
            <a:schemeClr val="dk1"/>
          </a:effectRef>
          <a:fontRef idx="minor">
            <a:schemeClr val="dk1"/>
          </a:fontRef>
        </p:style>
      </p:pic>
      <p:pic>
        <p:nvPicPr>
          <p:cNvPr id="31" name="図 30" descr="挿絵, 抽象 が含まれている画像&#10;&#10;AI 生成コンテンツは誤りを含む可能性があります。">
            <a:extLst>
              <a:ext uri="{FF2B5EF4-FFF2-40B4-BE49-F238E27FC236}">
                <a16:creationId xmlns:a16="http://schemas.microsoft.com/office/drawing/2014/main" id="{172999E0-2479-CF51-1EFC-C4CA794CEC4E}"/>
              </a:ext>
            </a:extLst>
          </p:cNvPr>
          <p:cNvPicPr>
            <a:picLocks noChangeAspect="1"/>
          </p:cNvPicPr>
          <p:nvPr/>
        </p:nvPicPr>
        <p:blipFill>
          <a:blip r:embed="rId5"/>
          <a:stretch>
            <a:fillRect/>
          </a:stretch>
        </p:blipFill>
        <p:spPr>
          <a:xfrm>
            <a:off x="5864283" y="4761290"/>
            <a:ext cx="682242" cy="197819"/>
          </a:xfrm>
          <a:prstGeom prst="rect">
            <a:avLst/>
          </a:prstGeom>
        </p:spPr>
      </p:pic>
      <p:pic>
        <p:nvPicPr>
          <p:cNvPr id="33" name="図 32" descr="黒い背景に白い文字がある&#10;&#10;AI 生成コンテンツは誤りを含む可能性があります。">
            <a:extLst>
              <a:ext uri="{FF2B5EF4-FFF2-40B4-BE49-F238E27FC236}">
                <a16:creationId xmlns:a16="http://schemas.microsoft.com/office/drawing/2014/main" id="{474C051E-B596-1651-549B-F1BDC6EA898F}"/>
              </a:ext>
            </a:extLst>
          </p:cNvPr>
          <p:cNvPicPr>
            <a:picLocks noChangeAspect="1"/>
          </p:cNvPicPr>
          <p:nvPr/>
        </p:nvPicPr>
        <p:blipFill>
          <a:blip r:embed="rId6"/>
          <a:stretch>
            <a:fillRect/>
          </a:stretch>
        </p:blipFill>
        <p:spPr>
          <a:xfrm>
            <a:off x="6580939" y="4739795"/>
            <a:ext cx="1225076" cy="219314"/>
          </a:xfrm>
          <a:prstGeom prst="rect">
            <a:avLst/>
          </a:prstGeom>
        </p:spPr>
      </p:pic>
      <p:sp>
        <p:nvSpPr>
          <p:cNvPr id="35" name="テキスト ボックス 34">
            <a:extLst>
              <a:ext uri="{FF2B5EF4-FFF2-40B4-BE49-F238E27FC236}">
                <a16:creationId xmlns:a16="http://schemas.microsoft.com/office/drawing/2014/main" id="{A53AB6D9-AEB5-ECF4-8C73-A7EFC4F05EF1}"/>
              </a:ext>
            </a:extLst>
          </p:cNvPr>
          <p:cNvSpPr txBox="1"/>
          <p:nvPr/>
        </p:nvSpPr>
        <p:spPr>
          <a:xfrm>
            <a:off x="4866072" y="2288778"/>
            <a:ext cx="4459715" cy="246221"/>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rPr>
              <a:t>システム管理会社・ツール運用会社・デザイン会社</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pic>
        <p:nvPicPr>
          <p:cNvPr id="1030" name="Picture 6" descr="お知らせ一覧｜LINEマーケティングや販促・顧客管理ならLiny">
            <a:extLst>
              <a:ext uri="{FF2B5EF4-FFF2-40B4-BE49-F238E27FC236}">
                <a16:creationId xmlns:a16="http://schemas.microsoft.com/office/drawing/2014/main" id="{A11EE7F3-23DE-A03C-6953-9FC6DABEDA85}"/>
              </a:ext>
            </a:extLst>
          </p:cNvPr>
          <p:cNvPicPr>
            <a:picLocks noChangeAspect="1" noChangeArrowheads="1"/>
          </p:cNvPicPr>
          <p:nvPr/>
        </p:nvPicPr>
        <p:blipFill rotWithShape="1">
          <a:blip r:embed="rId7" cstate="print">
            <a:extLst>
              <a:ext uri="{28A0092B-C50C-407E-A947-70E740481C1C}">
                <a14:useLocalDpi xmlns:a14="http://schemas.microsoft.com/office/drawing/2010/main" val="0"/>
              </a:ext>
            </a:extLst>
          </a:blip>
          <a:srcRect l="21448" t="26478" r="21237" b="27778"/>
          <a:stretch>
            <a:fillRect/>
          </a:stretch>
        </p:blipFill>
        <p:spPr bwMode="auto">
          <a:xfrm>
            <a:off x="3335235" y="2294514"/>
            <a:ext cx="571287" cy="304207"/>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hopify Japan 株式会社のプレスリリース｜PR TIMES">
            <a:extLst>
              <a:ext uri="{FF2B5EF4-FFF2-40B4-BE49-F238E27FC236}">
                <a16:creationId xmlns:a16="http://schemas.microsoft.com/office/drawing/2014/main" id="{1BF2471A-3689-B39E-D841-0A5CEE63B028}"/>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7938796" y="4740053"/>
            <a:ext cx="799200" cy="228571"/>
          </a:xfrm>
          <a:prstGeom prst="rect">
            <a:avLst/>
          </a:prstGeom>
          <a:noFill/>
          <a:extLst>
            <a:ext uri="{909E8E84-426E-40DD-AFC4-6F175D3DCCD1}">
              <a14:hiddenFill xmlns:a14="http://schemas.microsoft.com/office/drawing/2010/main">
                <a:solidFill>
                  <a:srgbClr val="FFFFFF"/>
                </a:solidFill>
              </a14:hiddenFill>
            </a:ext>
          </a:extLst>
        </p:spPr>
      </p:pic>
      <p:sp>
        <p:nvSpPr>
          <p:cNvPr id="36" name="テキスト ボックス 35">
            <a:extLst>
              <a:ext uri="{FF2B5EF4-FFF2-40B4-BE49-F238E27FC236}">
                <a16:creationId xmlns:a16="http://schemas.microsoft.com/office/drawing/2014/main" id="{EB20A091-C336-4BDE-54E9-33ECF6B1EC77}"/>
              </a:ext>
            </a:extLst>
          </p:cNvPr>
          <p:cNvSpPr txBox="1"/>
          <p:nvPr/>
        </p:nvSpPr>
        <p:spPr>
          <a:xfrm>
            <a:off x="362665" y="4754506"/>
            <a:ext cx="4459715" cy="246221"/>
          </a:xfrm>
          <a:prstGeom prst="rect">
            <a:avLst/>
          </a:prstGeom>
          <a:noFill/>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rPr>
              <a:t>LINE</a:t>
            </a:r>
            <a:r>
              <a:rPr lang="ja-JP" altLang="en-US" sz="1000" b="1" dirty="0">
                <a:latin typeface="メイリオ" panose="020B0604030504040204" pitchFamily="50" charset="-128"/>
                <a:ea typeface="メイリオ" panose="020B0604030504040204" pitchFamily="50" charset="-128"/>
              </a:rPr>
              <a:t>ヤフーのパッケージ商品などの拡販</a:t>
            </a:r>
            <a:endParaRPr kumimoji="1" lang="ja-JP" altLang="en-US" sz="1000" b="1" dirty="0">
              <a:solidFill>
                <a:schemeClr val="tx1"/>
              </a:solidFill>
              <a:latin typeface="メイリオ" panose="020B0604030504040204" pitchFamily="50" charset="-128"/>
              <a:ea typeface="メイリオ" panose="020B0604030504040204" pitchFamily="50" charset="-128"/>
            </a:endParaRPr>
          </a:p>
        </p:txBody>
      </p:sp>
      <p:sp>
        <p:nvSpPr>
          <p:cNvPr id="6" name="テキスト ボックス 5">
            <a:extLst>
              <a:ext uri="{FF2B5EF4-FFF2-40B4-BE49-F238E27FC236}">
                <a16:creationId xmlns:a16="http://schemas.microsoft.com/office/drawing/2014/main" id="{63CD4067-EE53-3C90-C918-C15397527FBF}"/>
              </a:ext>
            </a:extLst>
          </p:cNvPr>
          <p:cNvSpPr txBox="1"/>
          <p:nvPr/>
        </p:nvSpPr>
        <p:spPr>
          <a:xfrm>
            <a:off x="459470" y="2738645"/>
            <a:ext cx="4311647" cy="553998"/>
          </a:xfrm>
          <a:prstGeom prst="rect">
            <a:avLst/>
          </a:prstGeom>
          <a:noFill/>
        </p:spPr>
        <p:txBody>
          <a:bodyPr wrap="square">
            <a:spAutoFit/>
          </a:bodyPr>
          <a:lstStyle/>
          <a:p>
            <a:pPr algn="ct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・ツールによって、適用される機能自体に差分がある。</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 </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ツールが</a:t>
            </a:r>
            <a:r>
              <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1</a:t>
            </a:r>
            <a:r>
              <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社のみの独占となり、切替えが難しい。</a:t>
            </a:r>
            <a:endParaRPr kumimoji="1"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endParaRPr kumimoji="1" lang="ja-JP" altLang="en-US"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EBA4D737-3559-5FE1-B418-3302CBFCB9A9}"/>
              </a:ext>
            </a:extLst>
          </p:cNvPr>
          <p:cNvSpPr txBox="1"/>
          <p:nvPr/>
        </p:nvSpPr>
        <p:spPr>
          <a:xfrm>
            <a:off x="4928055" y="2733229"/>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・ツール外注により費用が大きくなる可能性がある。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運用自体に対する知見が少ない。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・一部利用できない機能が存在する（</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Option 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他）。</a:t>
            </a:r>
          </a:p>
        </p:txBody>
      </p:sp>
      <p:sp>
        <p:nvSpPr>
          <p:cNvPr id="8" name="テキスト ボックス 7">
            <a:extLst>
              <a:ext uri="{FF2B5EF4-FFF2-40B4-BE49-F238E27FC236}">
                <a16:creationId xmlns:a16="http://schemas.microsoft.com/office/drawing/2014/main" id="{C16446F7-FB27-00FA-5115-4A5251550BE6}"/>
              </a:ext>
            </a:extLst>
          </p:cNvPr>
          <p:cNvSpPr txBox="1"/>
          <p:nvPr/>
        </p:nvSpPr>
        <p:spPr>
          <a:xfrm>
            <a:off x="461608" y="5199061"/>
            <a:ext cx="4311647" cy="553998"/>
          </a:xfrm>
          <a:prstGeom prst="rect">
            <a:avLst/>
          </a:prstGeom>
          <a:noFill/>
        </p:spPr>
        <p:txBody>
          <a:bodyPr wrap="square">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運用部隊を備えていない可能性がある。</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・パッケージ売りが中心で非アクティブユーザーが増加。</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・コンサルも依頼の場合に費用が大きくなるリスク。</a:t>
            </a:r>
          </a:p>
        </p:txBody>
      </p:sp>
      <p:sp>
        <p:nvSpPr>
          <p:cNvPr id="9" name="テキスト ボックス 8">
            <a:extLst>
              <a:ext uri="{FF2B5EF4-FFF2-40B4-BE49-F238E27FC236}">
                <a16:creationId xmlns:a16="http://schemas.microsoft.com/office/drawing/2014/main" id="{19EE3868-DB7E-927E-8B36-00939FCE4211}"/>
              </a:ext>
            </a:extLst>
          </p:cNvPr>
          <p:cNvSpPr txBox="1"/>
          <p:nvPr/>
        </p:nvSpPr>
        <p:spPr>
          <a:xfrm>
            <a:off x="4930193" y="5316755"/>
            <a:ext cx="4311647" cy="400110"/>
          </a:xfrm>
          <a:prstGeom prst="rect">
            <a:avLst/>
          </a:prstGeom>
          <a:noFill/>
        </p:spPr>
        <p:txBody>
          <a:bodyPr wrap="square" anchor="ctr">
            <a:spAutoFit/>
          </a:bodyPr>
          <a:lstStyle/>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CRM</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側の</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利用時に通常より高単価になりやすい。</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rPr>
              <a:t>OA</a:t>
            </a:r>
            <a:r>
              <a:rPr lang="ja-JP" altLang="en-US" sz="1000" dirty="0">
                <a:solidFill>
                  <a:schemeClr val="tx1">
                    <a:lumMod val="50000"/>
                    <a:lumOff val="50000"/>
                  </a:schemeClr>
                </a:solidFill>
                <a:latin typeface="メイリオ" panose="020B0604030504040204" pitchFamily="50" charset="-128"/>
                <a:ea typeface="メイリオ" panose="020B0604030504040204" pitchFamily="50" charset="-128"/>
              </a:rPr>
              <a:t>単体での運用知見の乏しさ。</a:t>
            </a:r>
            <a:endParaRPr lang="en-US" altLang="ja-JP" sz="10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189FFC9F-CF2D-25AD-00C7-208E47BC4C66}"/>
              </a:ext>
            </a:extLst>
          </p:cNvPr>
          <p:cNvSpPr/>
          <p:nvPr/>
        </p:nvSpPr>
        <p:spPr>
          <a:xfrm>
            <a:off x="3361317" y="1908015"/>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18" name="正方形/長方形 17">
            <a:extLst>
              <a:ext uri="{FF2B5EF4-FFF2-40B4-BE49-F238E27FC236}">
                <a16:creationId xmlns:a16="http://schemas.microsoft.com/office/drawing/2014/main" id="{122AB27F-120A-6587-2E9E-7D2F5F3B4407}"/>
              </a:ext>
            </a:extLst>
          </p:cNvPr>
          <p:cNvSpPr/>
          <p:nvPr/>
        </p:nvSpPr>
        <p:spPr>
          <a:xfrm>
            <a:off x="7854818" y="1902839"/>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リッチ化</a:t>
            </a:r>
          </a:p>
        </p:txBody>
      </p:sp>
      <p:sp>
        <p:nvSpPr>
          <p:cNvPr id="19" name="正方形/長方形 18">
            <a:extLst>
              <a:ext uri="{FF2B5EF4-FFF2-40B4-BE49-F238E27FC236}">
                <a16:creationId xmlns:a16="http://schemas.microsoft.com/office/drawing/2014/main" id="{56DB3229-AC80-A545-1A7F-30968AF568EC}"/>
              </a:ext>
            </a:extLst>
          </p:cNvPr>
          <p:cNvSpPr/>
          <p:nvPr/>
        </p:nvSpPr>
        <p:spPr>
          <a:xfrm>
            <a:off x="3386263" y="4343224"/>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リード母数拡大</a:t>
            </a:r>
          </a:p>
        </p:txBody>
      </p:sp>
      <p:sp>
        <p:nvSpPr>
          <p:cNvPr id="20" name="正方形/長方形 19">
            <a:extLst>
              <a:ext uri="{FF2B5EF4-FFF2-40B4-BE49-F238E27FC236}">
                <a16:creationId xmlns:a16="http://schemas.microsoft.com/office/drawing/2014/main" id="{21D29B7F-EC01-1021-44F2-D37D7A2E27DC}"/>
              </a:ext>
            </a:extLst>
          </p:cNvPr>
          <p:cNvSpPr/>
          <p:nvPr/>
        </p:nvSpPr>
        <p:spPr>
          <a:xfrm>
            <a:off x="7879764" y="4338048"/>
            <a:ext cx="1355280" cy="243944"/>
          </a:xfrm>
          <a:prstGeom prst="rect">
            <a:avLst/>
          </a:prstGeom>
          <a:solidFill>
            <a:schemeClr val="tx2"/>
          </a:solid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自動化・効率化</a:t>
            </a:r>
          </a:p>
        </p:txBody>
      </p:sp>
      <p:sp>
        <p:nvSpPr>
          <p:cNvPr id="22" name="正方形/長方形 21">
            <a:extLst>
              <a:ext uri="{FF2B5EF4-FFF2-40B4-BE49-F238E27FC236}">
                <a16:creationId xmlns:a16="http://schemas.microsoft.com/office/drawing/2014/main" id="{2B94E779-B2D3-DA1A-5386-88EC8B7F7A2A}"/>
              </a:ext>
            </a:extLst>
          </p:cNvPr>
          <p:cNvSpPr/>
          <p:nvPr/>
        </p:nvSpPr>
        <p:spPr>
          <a:xfrm>
            <a:off x="486784" y="738200"/>
            <a:ext cx="9005456" cy="593857"/>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chemeClr val="tx1"/>
                </a:solidFill>
                <a:latin typeface="メイリオ" panose="020B0604030504040204" pitchFamily="50" charset="-128"/>
                <a:ea typeface="メイリオ" panose="020B0604030504040204" pitchFamily="50" charset="-128"/>
              </a:rPr>
              <a:t>各種パートナー企業との連携から、幅広い</a:t>
            </a:r>
            <a:r>
              <a:rPr lang="en-US" altLang="ja-JP" sz="1400" dirty="0">
                <a:solidFill>
                  <a:schemeClr val="tx1"/>
                </a:solidFill>
                <a:latin typeface="メイリオ" panose="020B0604030504040204" pitchFamily="50" charset="-128"/>
                <a:ea typeface="メイリオ" panose="020B0604030504040204" pitchFamily="50" charset="-128"/>
              </a:rPr>
              <a:t>LINEOA</a:t>
            </a:r>
            <a:r>
              <a:rPr lang="ja-JP" altLang="en-US" sz="1400" dirty="0">
                <a:solidFill>
                  <a:schemeClr val="tx1"/>
                </a:solidFill>
                <a:latin typeface="メイリオ" panose="020B0604030504040204" pitchFamily="50" charset="-128"/>
                <a:ea typeface="メイリオ" panose="020B0604030504040204" pitchFamily="50" charset="-128"/>
              </a:rPr>
              <a:t>業務に対して対応が可能。</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貴社社内部隊と連携して、一部委託もご相談いただけます。</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DB41465D-5D30-6E80-78F0-EEE5C4A9C571}"/>
              </a:ext>
            </a:extLst>
          </p:cNvPr>
          <p:cNvSpPr txBox="1"/>
          <p:nvPr/>
        </p:nvSpPr>
        <p:spPr>
          <a:xfrm>
            <a:off x="269967" y="3632378"/>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4" name="テキスト ボックス 33">
            <a:extLst>
              <a:ext uri="{FF2B5EF4-FFF2-40B4-BE49-F238E27FC236}">
                <a16:creationId xmlns:a16="http://schemas.microsoft.com/office/drawing/2014/main" id="{0144DC71-37E5-DA34-FDBB-69F2A1BEA8E0}"/>
              </a:ext>
            </a:extLst>
          </p:cNvPr>
          <p:cNvSpPr txBox="1"/>
          <p:nvPr/>
        </p:nvSpPr>
        <p:spPr>
          <a:xfrm>
            <a:off x="4741544" y="3629460"/>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38" name="テキスト ボックス 37">
            <a:extLst>
              <a:ext uri="{FF2B5EF4-FFF2-40B4-BE49-F238E27FC236}">
                <a16:creationId xmlns:a16="http://schemas.microsoft.com/office/drawing/2014/main" id="{AF15CFA9-BA43-360D-D26E-040407A743A9}"/>
              </a:ext>
            </a:extLst>
          </p:cNvPr>
          <p:cNvSpPr txBox="1"/>
          <p:nvPr/>
        </p:nvSpPr>
        <p:spPr>
          <a:xfrm>
            <a:off x="269967" y="6081294"/>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0" name="テキスト ボックス 39">
            <a:extLst>
              <a:ext uri="{FF2B5EF4-FFF2-40B4-BE49-F238E27FC236}">
                <a16:creationId xmlns:a16="http://schemas.microsoft.com/office/drawing/2014/main" id="{240BE338-3054-2BB1-6A31-C90BDCFE06A9}"/>
              </a:ext>
            </a:extLst>
          </p:cNvPr>
          <p:cNvSpPr txBox="1"/>
          <p:nvPr/>
        </p:nvSpPr>
        <p:spPr>
          <a:xfrm>
            <a:off x="4741544" y="6078376"/>
            <a:ext cx="687006" cy="261610"/>
          </a:xfrm>
          <a:prstGeom prst="rect">
            <a:avLst/>
          </a:prstGeom>
          <a:solidFill>
            <a:schemeClr val="tx2">
              <a:lumMod val="50000"/>
            </a:schemeClr>
          </a:solidFill>
        </p:spPr>
        <p:txBody>
          <a:bodyPr wrap="square">
            <a:spAutoFit/>
          </a:bodyPr>
          <a:lstStyle/>
          <a:p>
            <a:r>
              <a:rPr lang="en-US" altLang="ja-JP" sz="1100" b="1" dirty="0">
                <a:solidFill>
                  <a:schemeClr val="bg1"/>
                </a:solidFill>
                <a:latin typeface="メイリオ" panose="020B0604030504040204" pitchFamily="50" charset="-128"/>
                <a:ea typeface="メイリオ" panose="020B0604030504040204" pitchFamily="50" charset="-128"/>
              </a:rPr>
              <a:t>DYM</a:t>
            </a:r>
            <a:r>
              <a:rPr lang="ja-JP" altLang="en-US" sz="1100" b="1" dirty="0">
                <a:solidFill>
                  <a:schemeClr val="bg1"/>
                </a:solidFill>
                <a:latin typeface="メイリオ" panose="020B0604030504040204" pitchFamily="50" charset="-128"/>
                <a:ea typeface="メイリオ" panose="020B0604030504040204" pitchFamily="50" charset="-128"/>
              </a:rPr>
              <a:t>→</a:t>
            </a:r>
            <a:endParaRPr lang="ja-JP" altLang="en-US" sz="1100" dirty="0">
              <a:solidFill>
                <a:schemeClr val="bg1"/>
              </a:solidFill>
            </a:endParaRPr>
          </a:p>
        </p:txBody>
      </p:sp>
      <p:sp>
        <p:nvSpPr>
          <p:cNvPr id="41" name="テキスト ボックス 40">
            <a:extLst>
              <a:ext uri="{FF2B5EF4-FFF2-40B4-BE49-F238E27FC236}">
                <a16:creationId xmlns:a16="http://schemas.microsoft.com/office/drawing/2014/main" id="{C0326F10-43FF-1E4A-8F3D-ED5A80FA014B}"/>
              </a:ext>
            </a:extLst>
          </p:cNvPr>
          <p:cNvSpPr txBox="1"/>
          <p:nvPr/>
        </p:nvSpPr>
        <p:spPr>
          <a:xfrm>
            <a:off x="956972" y="3530330"/>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各種実績の多いツール企業と連携している為、</a:t>
            </a:r>
            <a:endParaRPr lang="en-US" altLang="ja-JP" sz="1200" b="1">
              <a:solidFill>
                <a:schemeClr val="tx2"/>
              </a:solidFill>
              <a:latin typeface="メイリオ" panose="020B0604030504040204" pitchFamily="50" charset="-128"/>
              <a:ea typeface="メイリオ" panose="020B0604030504040204" pitchFamily="50" charset="-128"/>
            </a:endParaRPr>
          </a:p>
          <a:p>
            <a:pPr algn="ctr"/>
            <a:r>
              <a:rPr kumimoji="1" lang="ja-JP" altLang="en-US" sz="1200" b="1">
                <a:solidFill>
                  <a:schemeClr val="tx2"/>
                </a:solidFill>
                <a:latin typeface="メイリオ" panose="020B0604030504040204" pitchFamily="50" charset="-128"/>
                <a:ea typeface="メイリオ" panose="020B0604030504040204" pitchFamily="50" charset="-128"/>
              </a:rPr>
              <a:t>将来的</a:t>
            </a:r>
            <a:r>
              <a:rPr kumimoji="1" lang="ja-JP" altLang="en-US" sz="1200" b="1" dirty="0">
                <a:solidFill>
                  <a:schemeClr val="tx2"/>
                </a:solidFill>
                <a:latin typeface="メイリオ" panose="020B0604030504040204" pitchFamily="50" charset="-128"/>
                <a:ea typeface="メイリオ" panose="020B0604030504040204" pitchFamily="50" charset="-128"/>
              </a:rPr>
              <a:t>な運用プランに合わせてツール選定をサポート。</a:t>
            </a:r>
          </a:p>
        </p:txBody>
      </p:sp>
      <p:sp>
        <p:nvSpPr>
          <p:cNvPr id="42" name="テキスト ボックス 41">
            <a:extLst>
              <a:ext uri="{FF2B5EF4-FFF2-40B4-BE49-F238E27FC236}">
                <a16:creationId xmlns:a16="http://schemas.microsoft.com/office/drawing/2014/main" id="{D6EF5007-A21E-89B0-31EE-98FC1F7BE5FB}"/>
              </a:ext>
            </a:extLst>
          </p:cNvPr>
          <p:cNvSpPr txBox="1"/>
          <p:nvPr/>
        </p:nvSpPr>
        <p:spPr>
          <a:xfrm>
            <a:off x="5428549" y="3527412"/>
            <a:ext cx="3842445" cy="461665"/>
          </a:xfrm>
          <a:prstGeom prst="rect">
            <a:avLst/>
          </a:prstGeom>
          <a:noFill/>
        </p:spPr>
        <p:txBody>
          <a:bodyPr wrap="square">
            <a:spAutoFit/>
          </a:bodyPr>
          <a:lstStyle/>
          <a:p>
            <a:pPr algn="ctr"/>
            <a:r>
              <a:rPr lang="en-US" altLang="ja-JP" sz="1200" b="1" dirty="0">
                <a:solidFill>
                  <a:schemeClr val="tx2"/>
                </a:solidFill>
                <a:latin typeface="メイリオ" panose="020B0604030504040204" pitchFamily="50" charset="-128"/>
                <a:ea typeface="メイリオ" panose="020B0604030504040204" pitchFamily="50" charset="-128"/>
              </a:rPr>
              <a:t>DYM</a:t>
            </a:r>
            <a:r>
              <a:rPr lang="ja-JP" altLang="en-US" sz="1200" b="1" dirty="0">
                <a:solidFill>
                  <a:schemeClr val="tx2"/>
                </a:solidFill>
                <a:latin typeface="メイリオ" panose="020B0604030504040204" pitchFamily="50" charset="-128"/>
                <a:ea typeface="メイリオ" panose="020B0604030504040204" pitchFamily="50" charset="-128"/>
              </a:rPr>
              <a:t>が商流に入ることにより限定の割引プランや</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拡張機能（一部</a:t>
            </a:r>
            <a:r>
              <a:rPr kumimoji="1" lang="en-US" altLang="ja-JP" sz="1200" b="1" dirty="0">
                <a:solidFill>
                  <a:schemeClr val="tx2"/>
                </a:solidFill>
                <a:latin typeface="メイリオ" panose="020B0604030504040204" pitchFamily="50" charset="-128"/>
                <a:ea typeface="メイリオ" panose="020B0604030504040204" pitchFamily="50" charset="-128"/>
              </a:rPr>
              <a:t>β</a:t>
            </a:r>
            <a:r>
              <a:rPr lang="ja-JP" altLang="en-US" sz="1200" b="1" dirty="0">
                <a:solidFill>
                  <a:schemeClr val="tx2"/>
                </a:solidFill>
                <a:latin typeface="メイリオ" panose="020B0604030504040204" pitchFamily="50" charset="-128"/>
                <a:ea typeface="メイリオ" panose="020B0604030504040204" pitchFamily="50" charset="-128"/>
              </a:rPr>
              <a:t>版）の展開を可能に。</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674B7463-4A8E-D0FC-FDB4-5BB44B5E2FB2}"/>
              </a:ext>
            </a:extLst>
          </p:cNvPr>
          <p:cNvSpPr txBox="1"/>
          <p:nvPr/>
        </p:nvSpPr>
        <p:spPr>
          <a:xfrm>
            <a:off x="956972" y="5979246"/>
            <a:ext cx="3842445" cy="461665"/>
          </a:xfrm>
          <a:prstGeom prst="rect">
            <a:avLst/>
          </a:prstGeom>
          <a:noFill/>
        </p:spPr>
        <p:txBody>
          <a:bodyPr wrap="square">
            <a:spAutoFit/>
          </a:bodyPr>
          <a:lstStyle/>
          <a:p>
            <a:pPr algn="ctr"/>
            <a:r>
              <a:rPr lang="ja-JP" altLang="en-US" sz="1200" b="1" dirty="0">
                <a:solidFill>
                  <a:schemeClr val="tx2"/>
                </a:solidFill>
                <a:latin typeface="メイリオ" panose="020B0604030504040204" pitchFamily="50" charset="-128"/>
                <a:ea typeface="メイリオ" panose="020B0604030504040204" pitchFamily="50" charset="-128"/>
              </a:rPr>
              <a:t>運用実務におけるアウトソースとして活用し、</a:t>
            </a:r>
            <a:endParaRPr lang="en-US" altLang="ja-JP" sz="1200" b="1" dirty="0">
              <a:solidFill>
                <a:schemeClr val="tx2"/>
              </a:solidFill>
              <a:latin typeface="メイリオ" panose="020B0604030504040204" pitchFamily="50" charset="-128"/>
              <a:ea typeface="メイリオ" panose="020B0604030504040204" pitchFamily="50" charset="-128"/>
            </a:endParaRPr>
          </a:p>
          <a:p>
            <a:pPr algn="ctr"/>
            <a:r>
              <a:rPr kumimoji="1" lang="ja-JP" altLang="en-US" sz="1200" b="1" dirty="0">
                <a:solidFill>
                  <a:schemeClr val="tx2"/>
                </a:solidFill>
                <a:latin typeface="メイリオ" panose="020B0604030504040204" pitchFamily="50" charset="-128"/>
                <a:ea typeface="メイリオ" panose="020B0604030504040204" pitchFamily="50" charset="-128"/>
              </a:rPr>
              <a:t>既存の運用領域における効率化をサポート。</a:t>
            </a:r>
          </a:p>
        </p:txBody>
      </p:sp>
      <p:sp>
        <p:nvSpPr>
          <p:cNvPr id="44" name="テキスト ボックス 43">
            <a:extLst>
              <a:ext uri="{FF2B5EF4-FFF2-40B4-BE49-F238E27FC236}">
                <a16:creationId xmlns:a16="http://schemas.microsoft.com/office/drawing/2014/main" id="{C373F1E9-22BB-9E8C-628E-A261897C133F}"/>
              </a:ext>
            </a:extLst>
          </p:cNvPr>
          <p:cNvSpPr txBox="1"/>
          <p:nvPr/>
        </p:nvSpPr>
        <p:spPr>
          <a:xfrm>
            <a:off x="5428549" y="5976328"/>
            <a:ext cx="3842445" cy="461665"/>
          </a:xfrm>
          <a:prstGeom prst="rect">
            <a:avLst/>
          </a:prstGeom>
          <a:noFill/>
        </p:spPr>
        <p:txBody>
          <a:bodyPr wrap="square">
            <a:spAutoFit/>
          </a:bodyPr>
          <a:lstStyle/>
          <a:p>
            <a:pPr algn="ctr"/>
            <a:r>
              <a:rPr kumimoji="1" lang="en-US" altLang="ja-JP" sz="1200" b="1" dirty="0">
                <a:solidFill>
                  <a:schemeClr val="tx2"/>
                </a:solidFill>
                <a:latin typeface="メイリオ" panose="020B0604030504040204" pitchFamily="50" charset="-128"/>
                <a:ea typeface="メイリオ" panose="020B0604030504040204" pitchFamily="50" charset="-128"/>
              </a:rPr>
              <a:t>OAM(</a:t>
            </a:r>
            <a:r>
              <a:rPr kumimoji="1" lang="ja-JP" altLang="en-US" sz="1200" b="1" dirty="0">
                <a:solidFill>
                  <a:schemeClr val="tx2"/>
                </a:solidFill>
                <a:latin typeface="メイリオ" panose="020B0604030504040204" pitchFamily="50" charset="-128"/>
                <a:ea typeface="メイリオ" panose="020B0604030504040204" pitchFamily="50" charset="-128"/>
              </a:rPr>
              <a:t>公式管理画面</a:t>
            </a:r>
            <a:r>
              <a:rPr kumimoji="1" lang="en-US" altLang="ja-JP" sz="1200" b="1" dirty="0">
                <a:solidFill>
                  <a:schemeClr val="tx2"/>
                </a:solidFill>
                <a:latin typeface="メイリオ" panose="020B0604030504040204" pitchFamily="50" charset="-128"/>
                <a:ea typeface="メイリオ" panose="020B0604030504040204" pitchFamily="50" charset="-128"/>
              </a:rPr>
              <a:t>)</a:t>
            </a:r>
            <a:r>
              <a:rPr kumimoji="1" lang="ja-JP" altLang="en-US" sz="1200" b="1" dirty="0">
                <a:solidFill>
                  <a:schemeClr val="tx2"/>
                </a:solidFill>
                <a:latin typeface="メイリオ" panose="020B0604030504040204" pitchFamily="50" charset="-128"/>
                <a:ea typeface="メイリオ" panose="020B0604030504040204" pitchFamily="50" charset="-128"/>
              </a:rPr>
              <a:t>と併用しながらコストカット。</a:t>
            </a:r>
            <a:endParaRPr kumimoji="1" lang="en-US" altLang="ja-JP" sz="1200" b="1" dirty="0">
              <a:solidFill>
                <a:schemeClr val="tx2"/>
              </a:solidFill>
              <a:latin typeface="メイリオ" panose="020B0604030504040204" pitchFamily="50" charset="-128"/>
              <a:ea typeface="メイリオ" panose="020B0604030504040204" pitchFamily="50" charset="-128"/>
            </a:endParaRPr>
          </a:p>
          <a:p>
            <a:pPr algn="ctr"/>
            <a:r>
              <a:rPr lang="ja-JP" altLang="en-US" sz="1200" b="1" dirty="0">
                <a:solidFill>
                  <a:schemeClr val="tx2"/>
                </a:solidFill>
                <a:latin typeface="メイリオ" panose="020B0604030504040204" pitchFamily="50" charset="-128"/>
                <a:ea typeface="メイリオ" panose="020B0604030504040204" pitchFamily="50" charset="-128"/>
              </a:rPr>
              <a:t>また複数ステップ配信の組み合わせで効率化も。</a:t>
            </a:r>
            <a:endParaRPr kumimoji="1" lang="ja-JP" altLang="en-US" sz="1200" b="1" dirty="0">
              <a:solidFill>
                <a:schemeClr val="tx2"/>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9F8FD3D-D156-D73A-268D-4BD2C4EFA147}"/>
              </a:ext>
            </a:extLst>
          </p:cNvPr>
          <p:cNvSpPr txBox="1"/>
          <p:nvPr/>
        </p:nvSpPr>
        <p:spPr>
          <a:xfrm>
            <a:off x="1659517" y="1322455"/>
            <a:ext cx="6603340" cy="260597"/>
          </a:xfrm>
          <a:prstGeom prst="rect">
            <a:avLst/>
          </a:prstGeom>
          <a:noFill/>
        </p:spPr>
        <p:txBody>
          <a:bodyPr wrap="square">
            <a:spAutoFit/>
          </a:bodyPr>
          <a:lstStyle/>
          <a:p>
            <a:pPr algn="ctr"/>
            <a:r>
              <a:rPr lang="en-US" altLang="ja-JP" sz="1050" dirty="0">
                <a:solidFill>
                  <a:srgbClr val="FF0000"/>
                </a:solidFill>
                <a:latin typeface="メイリオ" panose="020B0604030504040204" pitchFamily="50" charset="-128"/>
                <a:ea typeface="メイリオ" panose="020B0604030504040204" pitchFamily="50" charset="-128"/>
              </a:rPr>
              <a:t>※</a:t>
            </a:r>
            <a:r>
              <a:rPr lang="ja-JP" altLang="en-US" sz="1050" dirty="0">
                <a:solidFill>
                  <a:srgbClr val="FF0000"/>
                </a:solidFill>
                <a:latin typeface="メイリオ" panose="020B0604030504040204" pitchFamily="50" charset="-128"/>
                <a:ea typeface="メイリオ" panose="020B0604030504040204" pitchFamily="50" charset="-128"/>
              </a:rPr>
              <a:t>現状運用環境に合わせた成果報酬プランやコストカットの監修なども提示が可能です。</a:t>
            </a:r>
            <a:endParaRPr lang="ja-JP" altLang="en-US" sz="1200" dirty="0">
              <a:solidFill>
                <a:srgbClr val="FF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911381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0D8079-0D33-0F1A-6794-86CD36E2B42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4B54CA7C-C9CE-3E1A-8C0B-D9DC3FFCBAE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88CD823C-3E61-5E93-B9FE-BD623737FC1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01</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403775D4-CF2D-3023-3056-9E596BBE864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施策背景</a:t>
            </a:r>
          </a:p>
        </p:txBody>
      </p:sp>
      <p:cxnSp>
        <p:nvCxnSpPr>
          <p:cNvPr id="17" name="直線コネクタ 16">
            <a:extLst>
              <a:ext uri="{FF2B5EF4-FFF2-40B4-BE49-F238E27FC236}">
                <a16:creationId xmlns:a16="http://schemas.microsoft.com/office/drawing/2014/main" id="{24E0D700-8F0C-AA59-0C53-7B51F6E65BAA}"/>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64264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A42436-AC50-73E1-6EBE-63A7C5BBF42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6C8986CB-406D-05C6-C63F-77B94833C59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F31CD8C5-8C6B-79E9-DFB1-36686BF9F96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a:t>
            </a:r>
            <a:endParaRPr lang="ja-JP" altLang="en-US" sz="1100" dirty="0"/>
          </a:p>
        </p:txBody>
      </p:sp>
      <p:sp>
        <p:nvSpPr>
          <p:cNvPr id="7" name="テキスト ボックス 6">
            <a:extLst>
              <a:ext uri="{FF2B5EF4-FFF2-40B4-BE49-F238E27FC236}">
                <a16:creationId xmlns:a16="http://schemas.microsoft.com/office/drawing/2014/main" id="{0F9B49E5-148A-C9A5-79D8-759C503842C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市況の変化に伴い、リスト保有・マネタイズ・</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LTV</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の重要性は拡大している。</a:t>
            </a:r>
            <a:endParaRPr lang="ja-JP" altLang="en-US" sz="1000" dirty="0"/>
          </a:p>
        </p:txBody>
      </p:sp>
      <p:sp>
        <p:nvSpPr>
          <p:cNvPr id="9" name="テキスト ボックス 8">
            <a:extLst>
              <a:ext uri="{FF2B5EF4-FFF2-40B4-BE49-F238E27FC236}">
                <a16:creationId xmlns:a16="http://schemas.microsoft.com/office/drawing/2014/main" id="{E8BEF693-34F0-FCA3-0D13-025ADA077FA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1" name="正方形/長方形 10">
            <a:extLst>
              <a:ext uri="{FF2B5EF4-FFF2-40B4-BE49-F238E27FC236}">
                <a16:creationId xmlns:a16="http://schemas.microsoft.com/office/drawing/2014/main" id="{0F0E6BAB-8E00-CEF9-3F7F-B243C9622CE9}"/>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2" name="Rectangle 3">
            <a:extLst>
              <a:ext uri="{FF2B5EF4-FFF2-40B4-BE49-F238E27FC236}">
                <a16:creationId xmlns:a16="http://schemas.microsoft.com/office/drawing/2014/main" id="{AD99B47E-7A67-A20F-FA23-6FFE48B38289}"/>
              </a:ext>
            </a:extLst>
          </p:cNvPr>
          <p:cNvSpPr/>
          <p:nvPr/>
        </p:nvSpPr>
        <p:spPr>
          <a:xfrm>
            <a:off x="426720" y="1872996"/>
            <a:ext cx="155448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変化</a:t>
            </a:r>
          </a:p>
        </p:txBody>
      </p:sp>
      <p:sp>
        <p:nvSpPr>
          <p:cNvPr id="13" name="Rectangle 4">
            <a:extLst>
              <a:ext uri="{FF2B5EF4-FFF2-40B4-BE49-F238E27FC236}">
                <a16:creationId xmlns:a16="http://schemas.microsoft.com/office/drawing/2014/main" id="{3E0DC48D-92CE-9229-ADC8-397327218608}"/>
              </a:ext>
            </a:extLst>
          </p:cNvPr>
          <p:cNvSpPr/>
          <p:nvPr/>
        </p:nvSpPr>
        <p:spPr>
          <a:xfrm>
            <a:off x="2118360" y="1872996"/>
            <a:ext cx="26517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1F2A5C"/>
                </a:solidFill>
                <a:latin typeface="メイリオ" panose="020B0604030504040204" pitchFamily="50" charset="-128"/>
                <a:ea typeface="メイリオ" panose="020B0604030504040204" pitchFamily="50" charset="-128"/>
              </a:rPr>
              <a:t>背景データ</a:t>
            </a:r>
          </a:p>
        </p:txBody>
      </p:sp>
      <p:sp>
        <p:nvSpPr>
          <p:cNvPr id="14" name="Rectangle 5">
            <a:extLst>
              <a:ext uri="{FF2B5EF4-FFF2-40B4-BE49-F238E27FC236}">
                <a16:creationId xmlns:a16="http://schemas.microsoft.com/office/drawing/2014/main" id="{E32730EA-2FDC-122D-34A0-22348B3965AF}"/>
              </a:ext>
            </a:extLst>
          </p:cNvPr>
          <p:cNvSpPr/>
          <p:nvPr/>
        </p:nvSpPr>
        <p:spPr>
          <a:xfrm>
            <a:off x="4907280" y="1872996"/>
            <a:ext cx="2011679"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lang="ja-JP" altLang="en-US" sz="1100" b="1" dirty="0">
                <a:solidFill>
                  <a:srgbClr val="1F2A5C"/>
                </a:solidFill>
                <a:latin typeface="メイリオ" panose="020B0604030504040204" pitchFamily="50" charset="-128"/>
                <a:ea typeface="メイリオ" panose="020B0604030504040204" pitchFamily="50" charset="-128"/>
              </a:rPr>
              <a:t>マーケティング</a:t>
            </a:r>
            <a:r>
              <a:rPr sz="1100" b="1" dirty="0" err="1">
                <a:solidFill>
                  <a:srgbClr val="1F2A5C"/>
                </a:solidFill>
                <a:latin typeface="メイリオ" panose="020B0604030504040204" pitchFamily="50" charset="-128"/>
                <a:ea typeface="メイリオ" panose="020B0604030504040204" pitchFamily="50" charset="-128"/>
              </a:rPr>
              <a:t>への影響</a:t>
            </a:r>
            <a:endParaRPr sz="1100" b="1" dirty="0">
              <a:solidFill>
                <a:srgbClr val="1F2A5C"/>
              </a:solidFill>
              <a:latin typeface="メイリオ" panose="020B0604030504040204" pitchFamily="50" charset="-128"/>
              <a:ea typeface="メイリオ" panose="020B0604030504040204" pitchFamily="50" charset="-128"/>
            </a:endParaRPr>
          </a:p>
        </p:txBody>
      </p:sp>
      <p:sp>
        <p:nvSpPr>
          <p:cNvPr id="15" name="Rectangle 6">
            <a:extLst>
              <a:ext uri="{FF2B5EF4-FFF2-40B4-BE49-F238E27FC236}">
                <a16:creationId xmlns:a16="http://schemas.microsoft.com/office/drawing/2014/main" id="{E20F6A55-5A9A-17DC-163C-8353499D7D59}"/>
              </a:ext>
            </a:extLst>
          </p:cNvPr>
          <p:cNvSpPr/>
          <p:nvPr/>
        </p:nvSpPr>
        <p:spPr>
          <a:xfrm>
            <a:off x="7056120" y="1872996"/>
            <a:ext cx="242316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00" b="1">
                <a:solidFill>
                  <a:srgbClr val="C8102E"/>
                </a:solidFill>
                <a:latin typeface="メイリオ" panose="020B0604030504040204" pitchFamily="50" charset="-128"/>
                <a:ea typeface="メイリオ" panose="020B0604030504040204" pitchFamily="50" charset="-128"/>
              </a:rPr>
              <a:t>LINE OAでの対応</a:t>
            </a:r>
          </a:p>
        </p:txBody>
      </p:sp>
      <p:sp>
        <p:nvSpPr>
          <p:cNvPr id="16" name="Rectangle 7">
            <a:extLst>
              <a:ext uri="{FF2B5EF4-FFF2-40B4-BE49-F238E27FC236}">
                <a16:creationId xmlns:a16="http://schemas.microsoft.com/office/drawing/2014/main" id="{5C785CCD-8743-8281-EE42-652E7CC6C711}"/>
              </a:ext>
            </a:extLst>
          </p:cNvPr>
          <p:cNvSpPr/>
          <p:nvPr/>
        </p:nvSpPr>
        <p:spPr>
          <a:xfrm>
            <a:off x="381000" y="219303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①</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広告接点の早期化</a:t>
            </a:r>
          </a:p>
        </p:txBody>
      </p:sp>
      <p:sp>
        <p:nvSpPr>
          <p:cNvPr id="17" name="Rectangle 8">
            <a:extLst>
              <a:ext uri="{FF2B5EF4-FFF2-40B4-BE49-F238E27FC236}">
                <a16:creationId xmlns:a16="http://schemas.microsoft.com/office/drawing/2014/main" id="{51B35245-DA01-007C-B2BF-E2F0A67DC3C4}"/>
              </a:ext>
            </a:extLst>
          </p:cNvPr>
          <p:cNvSpPr/>
          <p:nvPr/>
        </p:nvSpPr>
        <p:spPr>
          <a:xfrm>
            <a:off x="2072640" y="219303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7,249億円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動画広告市場（2024年・前年比115.9%）。</a:t>
            </a:r>
            <a:r>
              <a:rPr sz="950" b="1" dirty="0">
                <a:solidFill>
                  <a:srgbClr val="777777"/>
                </a:solidFill>
                <a:latin typeface="メイリオ" panose="020B0604030504040204" pitchFamily="50" charset="-128"/>
                <a:ea typeface="メイリオ" panose="020B0604030504040204" pitchFamily="50" charset="-128"/>
              </a:rPr>
              <a:t>縦型動画は前年比171.1%</a:t>
            </a:r>
          </a:p>
        </p:txBody>
      </p:sp>
      <p:sp>
        <p:nvSpPr>
          <p:cNvPr id="18" name="Rectangle 9">
            <a:extLst>
              <a:ext uri="{FF2B5EF4-FFF2-40B4-BE49-F238E27FC236}">
                <a16:creationId xmlns:a16="http://schemas.microsoft.com/office/drawing/2014/main" id="{8A01196A-31FA-AA2D-83D7-5C664ABF1B2A}"/>
              </a:ext>
            </a:extLst>
          </p:cNvPr>
          <p:cNvSpPr/>
          <p:nvPr/>
        </p:nvSpPr>
        <p:spPr>
          <a:xfrm>
            <a:off x="4861560" y="219303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購入前の接触が増え</a:t>
            </a:r>
            <a:r>
              <a:rPr sz="1000" b="0" dirty="0">
                <a:solidFill>
                  <a:srgbClr val="333333"/>
                </a:solidFill>
                <a:latin typeface="メイリオ" panose="020B0604030504040204" pitchFamily="50" charset="-128"/>
                <a:ea typeface="メイリオ" panose="020B0604030504040204" pitchFamily="50" charset="-128"/>
              </a:rPr>
              <a:t>、</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CVだけで接点の価値が見えない</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19" name="Rectangle 10">
            <a:extLst>
              <a:ext uri="{FF2B5EF4-FFF2-40B4-BE49-F238E27FC236}">
                <a16:creationId xmlns:a16="http://schemas.microsoft.com/office/drawing/2014/main" id="{CA8C05AB-C62C-76A1-00F4-F4DE182A4C8A}"/>
              </a:ext>
            </a:extLst>
          </p:cNvPr>
          <p:cNvSpPr/>
          <p:nvPr/>
        </p:nvSpPr>
        <p:spPr>
          <a:xfrm>
            <a:off x="7010400" y="219303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CV前に友だち化し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検討中も接点を維持する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0" name="Rectangle 11">
            <a:extLst>
              <a:ext uri="{FF2B5EF4-FFF2-40B4-BE49-F238E27FC236}">
                <a16:creationId xmlns:a16="http://schemas.microsoft.com/office/drawing/2014/main" id="{A17D7EF3-1AC3-4FC4-0524-407D9564A31C}"/>
              </a:ext>
            </a:extLst>
          </p:cNvPr>
          <p:cNvSpPr/>
          <p:nvPr/>
        </p:nvSpPr>
        <p:spPr>
          <a:xfrm>
            <a:off x="381000" y="324459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②</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CPCの高騰</a:t>
            </a:r>
          </a:p>
        </p:txBody>
      </p:sp>
      <p:sp>
        <p:nvSpPr>
          <p:cNvPr id="21" name="Rectangle 12">
            <a:extLst>
              <a:ext uri="{FF2B5EF4-FFF2-40B4-BE49-F238E27FC236}">
                <a16:creationId xmlns:a16="http://schemas.microsoft.com/office/drawing/2014/main" id="{9C9A8D6A-35C3-09FD-E00C-AF890038B7F2}"/>
              </a:ext>
            </a:extLst>
          </p:cNvPr>
          <p:cNvSpPr/>
          <p:nvPr/>
        </p:nvSpPr>
        <p:spPr>
          <a:xfrm>
            <a:off x="2072640" y="324459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1兆1,931億円</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検索連動型広告（前年比111.2%）。ネット広告媒体費は2兆9,611億円</a:t>
            </a:r>
          </a:p>
        </p:txBody>
      </p:sp>
      <p:sp>
        <p:nvSpPr>
          <p:cNvPr id="22" name="Rectangle 13">
            <a:extLst>
              <a:ext uri="{FF2B5EF4-FFF2-40B4-BE49-F238E27FC236}">
                <a16:creationId xmlns:a16="http://schemas.microsoft.com/office/drawing/2014/main" id="{45BA9884-66A6-4B9C-6CA2-F04CF341DAAF}"/>
              </a:ext>
            </a:extLst>
          </p:cNvPr>
          <p:cNvSpPr/>
          <p:nvPr/>
        </p:nvSpPr>
        <p:spPr>
          <a:xfrm>
            <a:off x="4861560" y="324459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入札競争が続き、離脱した</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流入の広告費が回収できない</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lang="en-US" altLang="ja-JP" sz="1000" b="1" dirty="0">
                <a:solidFill>
                  <a:srgbClr val="333333"/>
                </a:solidFill>
                <a:latin typeface="メイリオ" panose="020B0604030504040204" pitchFamily="50" charset="-128"/>
                <a:ea typeface="メイリオ" panose="020B0604030504040204" pitchFamily="50" charset="-128"/>
              </a:rPr>
              <a:t>3</a:t>
            </a:r>
            <a:r>
              <a:rPr lang="ja-JP" altLang="en-US" sz="1000" b="1" dirty="0">
                <a:solidFill>
                  <a:srgbClr val="333333"/>
                </a:solidFill>
                <a:latin typeface="メイリオ" panose="020B0604030504040204" pitchFamily="50" charset="-128"/>
                <a:ea typeface="メイリオ" panose="020B0604030504040204" pitchFamily="50" charset="-128"/>
              </a:rPr>
              <a:t>年前比：</a:t>
            </a:r>
            <a:r>
              <a:rPr lang="en-US" altLang="ja-JP" sz="1000" b="1" dirty="0">
                <a:solidFill>
                  <a:srgbClr val="333333"/>
                </a:solidFill>
                <a:latin typeface="メイリオ" panose="020B0604030504040204" pitchFamily="50" charset="-128"/>
                <a:ea typeface="メイリオ" panose="020B0604030504040204" pitchFamily="50" charset="-128"/>
              </a:rPr>
              <a:t>32%</a:t>
            </a:r>
            <a:r>
              <a:rPr lang="ja-JP" altLang="en-US" sz="1000" b="1" dirty="0">
                <a:solidFill>
                  <a:srgbClr val="333333"/>
                </a:solidFill>
                <a:latin typeface="メイリオ" panose="020B0604030504040204" pitchFamily="50" charset="-128"/>
                <a:ea typeface="メイリオ" panose="020B0604030504040204" pitchFamily="50" charset="-128"/>
              </a:rPr>
              <a:t>程度増</a:t>
            </a:r>
            <a:endParaRPr sz="1000" b="1" dirty="0">
              <a:solidFill>
                <a:srgbClr val="333333"/>
              </a:solidFill>
              <a:latin typeface="メイリオ" panose="020B0604030504040204" pitchFamily="50" charset="-128"/>
              <a:ea typeface="メイリオ" panose="020B0604030504040204" pitchFamily="50" charset="-128"/>
            </a:endParaRPr>
          </a:p>
        </p:txBody>
      </p:sp>
      <p:sp>
        <p:nvSpPr>
          <p:cNvPr id="23" name="Rectangle 14">
            <a:extLst>
              <a:ext uri="{FF2B5EF4-FFF2-40B4-BE49-F238E27FC236}">
                <a16:creationId xmlns:a16="http://schemas.microsoft.com/office/drawing/2014/main" id="{0F279B57-A5CD-5ABE-1169-BA1B16859218}"/>
              </a:ext>
            </a:extLst>
          </p:cNvPr>
          <p:cNvSpPr/>
          <p:nvPr/>
        </p:nvSpPr>
        <p:spPr>
          <a:xfrm>
            <a:off x="7010400" y="324459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離脱後も友だち化し</a:t>
            </a:r>
            <a:r>
              <a:rPr sz="1150" b="1" dirty="0">
                <a:solidFill>
                  <a:srgbClr val="1F2A5C"/>
                </a:solidFill>
                <a:latin typeface="メイリオ" panose="020B0604030504040204" pitchFamily="50" charset="-128"/>
                <a:ea typeface="メイリオ" panose="020B0604030504040204" pitchFamily="50" charset="-128"/>
              </a:rPr>
              <a:t>、</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lang="ja-JP" altLang="en-US" sz="1150" b="1" dirty="0">
                <a:solidFill>
                  <a:srgbClr val="FF0000"/>
                </a:solidFill>
                <a:latin typeface="メイリオ" panose="020B0604030504040204" pitchFamily="50" charset="-128"/>
                <a:ea typeface="メイリオ" panose="020B0604030504040204" pitchFamily="50" charset="-128"/>
              </a:rPr>
              <a:t>セグメント配信</a:t>
            </a:r>
            <a:r>
              <a:rPr lang="ja-JP" altLang="en-US" sz="1150" b="1" dirty="0">
                <a:solidFill>
                  <a:srgbClr val="1F2A5C"/>
                </a:solidFill>
                <a:latin typeface="メイリオ" panose="020B0604030504040204" pitchFamily="50" charset="-128"/>
                <a:ea typeface="メイリオ" panose="020B0604030504040204" pitchFamily="50" charset="-128"/>
              </a:rPr>
              <a:t>で</a:t>
            </a:r>
            <a:r>
              <a:rPr sz="1150" b="1" dirty="0" err="1">
                <a:solidFill>
                  <a:srgbClr val="1F2A5C"/>
                </a:solidFill>
                <a:latin typeface="メイリオ" panose="020B0604030504040204" pitchFamily="50" charset="-128"/>
                <a:ea typeface="メイリオ" panose="020B0604030504040204" pitchFamily="50" charset="-128"/>
              </a:rPr>
              <a:t>CV回収する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4" name="Rectangle 15">
            <a:extLst>
              <a:ext uri="{FF2B5EF4-FFF2-40B4-BE49-F238E27FC236}">
                <a16:creationId xmlns:a16="http://schemas.microsoft.com/office/drawing/2014/main" id="{63F6C682-E819-BB1D-789F-194C9870942B}"/>
              </a:ext>
            </a:extLst>
          </p:cNvPr>
          <p:cNvSpPr/>
          <p:nvPr/>
        </p:nvSpPr>
        <p:spPr>
          <a:xfrm>
            <a:off x="381000" y="429615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a:solidFill>
                  <a:srgbClr val="FFFFFF"/>
                </a:solidFill>
                <a:latin typeface="メイリオ" panose="020B0604030504040204" pitchFamily="50" charset="-128"/>
                <a:ea typeface="メイリオ" panose="020B0604030504040204" pitchFamily="50" charset="-128"/>
              </a:rPr>
              <a:t>③</a:t>
            </a:r>
          </a:p>
          <a:p>
            <a:pPr algn="l">
              <a:spcAft>
                <a:spcPts val="300"/>
              </a:spcAft>
            </a:pPr>
            <a:r>
              <a:rPr sz="1200" b="1">
                <a:solidFill>
                  <a:srgbClr val="FFFFFF"/>
                </a:solidFill>
                <a:latin typeface="メイリオ" panose="020B0604030504040204" pitchFamily="50" charset="-128"/>
                <a:ea typeface="メイリオ" panose="020B0604030504040204" pitchFamily="50" charset="-128"/>
              </a:rPr>
              <a:t>リマケリストの難化</a:t>
            </a:r>
          </a:p>
        </p:txBody>
      </p:sp>
      <p:sp>
        <p:nvSpPr>
          <p:cNvPr id="25" name="Rectangle 16">
            <a:extLst>
              <a:ext uri="{FF2B5EF4-FFF2-40B4-BE49-F238E27FC236}">
                <a16:creationId xmlns:a16="http://schemas.microsoft.com/office/drawing/2014/main" id="{CE444CC6-8444-A56B-53F6-34549AA5E5D5}"/>
              </a:ext>
            </a:extLst>
          </p:cNvPr>
          <p:cNvSpPr/>
          <p:nvPr/>
        </p:nvSpPr>
        <p:spPr>
          <a:xfrm>
            <a:off x="2072640" y="429615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7日／24時間</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Safariの保持期間上限（2022年秋〜）。2020年に全面ブロック、法改正で同意・通知も必要</a:t>
            </a:r>
          </a:p>
        </p:txBody>
      </p:sp>
      <p:sp>
        <p:nvSpPr>
          <p:cNvPr id="26" name="Rectangle 17">
            <a:extLst>
              <a:ext uri="{FF2B5EF4-FFF2-40B4-BE49-F238E27FC236}">
                <a16:creationId xmlns:a16="http://schemas.microsoft.com/office/drawing/2014/main" id="{A35C0F42-C61B-5793-966E-BE564AA54CFB}"/>
              </a:ext>
            </a:extLst>
          </p:cNvPr>
          <p:cNvSpPr/>
          <p:nvPr/>
        </p:nvSpPr>
        <p:spPr>
          <a:xfrm>
            <a:off x="4861560" y="429615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a:solidFill>
                  <a:srgbClr val="333333"/>
                </a:solidFill>
                <a:latin typeface="メイリオ" panose="020B0604030504040204" pitchFamily="50" charset="-128"/>
                <a:ea typeface="メイリオ" panose="020B0604030504040204" pitchFamily="50" charset="-128"/>
              </a:rPr>
              <a:t>再訪問者リストを長く持てない</a:t>
            </a:r>
          </a:p>
        </p:txBody>
      </p:sp>
      <p:sp>
        <p:nvSpPr>
          <p:cNvPr id="27" name="Rectangle 18">
            <a:extLst>
              <a:ext uri="{FF2B5EF4-FFF2-40B4-BE49-F238E27FC236}">
                <a16:creationId xmlns:a16="http://schemas.microsoft.com/office/drawing/2014/main" id="{DF93DF39-4FD7-9BA0-BEEB-470FA702AFD7}"/>
              </a:ext>
            </a:extLst>
          </p:cNvPr>
          <p:cNvSpPr/>
          <p:nvPr/>
        </p:nvSpPr>
        <p:spPr>
          <a:xfrm>
            <a:off x="7010400" y="429615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許諾済みの自社リストとして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友だちを保持する</a:t>
            </a:r>
            <a:endParaRPr sz="1150" b="1" dirty="0">
              <a:solidFill>
                <a:srgbClr val="1F2A5C"/>
              </a:solidFill>
              <a:latin typeface="メイリオ" panose="020B0604030504040204" pitchFamily="50" charset="-128"/>
              <a:ea typeface="メイリオ" panose="020B0604030504040204" pitchFamily="50" charset="-128"/>
            </a:endParaRPr>
          </a:p>
        </p:txBody>
      </p:sp>
      <p:sp>
        <p:nvSpPr>
          <p:cNvPr id="28" name="Rectangle 19">
            <a:extLst>
              <a:ext uri="{FF2B5EF4-FFF2-40B4-BE49-F238E27FC236}">
                <a16:creationId xmlns:a16="http://schemas.microsoft.com/office/drawing/2014/main" id="{4AD57304-3963-5332-753B-F508A6F0B113}"/>
              </a:ext>
            </a:extLst>
          </p:cNvPr>
          <p:cNvSpPr/>
          <p:nvPr/>
        </p:nvSpPr>
        <p:spPr>
          <a:xfrm>
            <a:off x="381000" y="5347716"/>
            <a:ext cx="1600200" cy="97840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200"/>
              </a:spcAft>
            </a:pPr>
            <a:r>
              <a:rPr sz="1800" b="1" dirty="0">
                <a:solidFill>
                  <a:srgbClr val="FFFFFF"/>
                </a:solidFill>
                <a:latin typeface="メイリオ" panose="020B0604030504040204" pitchFamily="50" charset="-128"/>
                <a:ea typeface="メイリオ" panose="020B0604030504040204" pitchFamily="50" charset="-128"/>
              </a:rPr>
              <a:t>④</a:t>
            </a: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選択肢</a:t>
            </a:r>
            <a:r>
              <a:rPr lang="ja-JP" altLang="en-US" sz="1200" b="1" dirty="0">
                <a:solidFill>
                  <a:srgbClr val="FFFFFF"/>
                </a:solidFill>
                <a:latin typeface="メイリオ" panose="020B0604030504040204" pitchFamily="50" charset="-128"/>
                <a:ea typeface="メイリオ" panose="020B0604030504040204" pitchFamily="50" charset="-128"/>
              </a:rPr>
              <a:t>の</a:t>
            </a:r>
            <a:r>
              <a:rPr sz="1200" b="1" dirty="0">
                <a:solidFill>
                  <a:srgbClr val="FFFFFF"/>
                </a:solidFill>
                <a:latin typeface="メイリオ" panose="020B0604030504040204" pitchFamily="50" charset="-128"/>
                <a:ea typeface="メイリオ" panose="020B0604030504040204" pitchFamily="50" charset="-128"/>
              </a:rPr>
              <a:t>増</a:t>
            </a:r>
            <a:r>
              <a:rPr lang="ja-JP" altLang="en-US" sz="1200" b="1" dirty="0">
                <a:solidFill>
                  <a:srgbClr val="FFFFFF"/>
                </a:solidFill>
                <a:latin typeface="メイリオ" panose="020B0604030504040204" pitchFamily="50" charset="-128"/>
                <a:ea typeface="メイリオ" panose="020B0604030504040204" pitchFamily="50" charset="-128"/>
              </a:rPr>
              <a:t>加</a:t>
            </a:r>
            <a:endParaRPr lang="en-US" sz="1200" b="1" dirty="0">
              <a:solidFill>
                <a:srgbClr val="FFFFFF"/>
              </a:solidFill>
              <a:latin typeface="メイリオ" panose="020B0604030504040204" pitchFamily="50" charset="-128"/>
              <a:ea typeface="メイリオ" panose="020B0604030504040204" pitchFamily="50" charset="-128"/>
            </a:endParaRPr>
          </a:p>
          <a:p>
            <a:pPr algn="l">
              <a:spcAft>
                <a:spcPts val="300"/>
              </a:spcAft>
            </a:pPr>
            <a:r>
              <a:rPr sz="1200" b="1" dirty="0" err="1">
                <a:solidFill>
                  <a:srgbClr val="FFFFFF"/>
                </a:solidFill>
                <a:latin typeface="メイリオ" panose="020B0604030504040204" pitchFamily="50" charset="-128"/>
                <a:ea typeface="メイリオ" panose="020B0604030504040204" pitchFamily="50" charset="-128"/>
              </a:rPr>
              <a:t>検討長期化</a:t>
            </a:r>
            <a:endParaRPr sz="1200" b="1" dirty="0">
              <a:solidFill>
                <a:srgbClr val="FFFFFF"/>
              </a:solidFill>
              <a:latin typeface="メイリオ" panose="020B0604030504040204" pitchFamily="50" charset="-128"/>
              <a:ea typeface="メイリオ" panose="020B0604030504040204" pitchFamily="50" charset="-128"/>
            </a:endParaRPr>
          </a:p>
        </p:txBody>
      </p:sp>
      <p:sp>
        <p:nvSpPr>
          <p:cNvPr id="29" name="Rectangle 20">
            <a:extLst>
              <a:ext uri="{FF2B5EF4-FFF2-40B4-BE49-F238E27FC236}">
                <a16:creationId xmlns:a16="http://schemas.microsoft.com/office/drawing/2014/main" id="{4C419739-A588-2E5A-0FCA-992B80A6DB23}"/>
              </a:ext>
            </a:extLst>
          </p:cNvPr>
          <p:cNvSpPr/>
          <p:nvPr/>
        </p:nvSpPr>
        <p:spPr>
          <a:xfrm>
            <a:off x="2072640" y="5347716"/>
            <a:ext cx="269748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100"/>
              </a:spcAft>
            </a:pPr>
            <a:r>
              <a:rPr sz="1800" b="1" dirty="0">
                <a:solidFill>
                  <a:srgbClr val="1F2A5C"/>
                </a:solidFill>
                <a:latin typeface="メイリオ" panose="020B0604030504040204" pitchFamily="50" charset="-128"/>
                <a:ea typeface="メイリオ" panose="020B0604030504040204" pitchFamily="50" charset="-128"/>
              </a:rPr>
              <a:t>9,900万人</a:t>
            </a:r>
          </a:p>
          <a:p>
            <a:pPr algn="l">
              <a:spcAft>
                <a:spcPts val="300"/>
              </a:spcAft>
            </a:pPr>
            <a:r>
              <a:rPr sz="950" b="0" dirty="0">
                <a:solidFill>
                  <a:srgbClr val="777777"/>
                </a:solidFill>
                <a:latin typeface="メイリオ" panose="020B0604030504040204" pitchFamily="50" charset="-128"/>
                <a:ea typeface="メイリオ" panose="020B0604030504040204" pitchFamily="50" charset="-128"/>
              </a:rPr>
              <a:t>LINE月間利用者（2025年6月末）。広告費は前年比110.2%で比較対象が増加</a:t>
            </a:r>
          </a:p>
        </p:txBody>
      </p:sp>
      <p:sp>
        <p:nvSpPr>
          <p:cNvPr id="30" name="Rectangle 21">
            <a:extLst>
              <a:ext uri="{FF2B5EF4-FFF2-40B4-BE49-F238E27FC236}">
                <a16:creationId xmlns:a16="http://schemas.microsoft.com/office/drawing/2014/main" id="{4DBE8D20-D000-63F5-78E8-0E87974E1648}"/>
              </a:ext>
            </a:extLst>
          </p:cNvPr>
          <p:cNvSpPr/>
          <p:nvPr/>
        </p:nvSpPr>
        <p:spPr>
          <a:xfrm>
            <a:off x="4861560" y="5347716"/>
            <a:ext cx="2057400" cy="978408"/>
          </a:xfrm>
          <a:prstGeom prst="rect">
            <a:avLst/>
          </a:prstGeom>
          <a:solidFill>
            <a:srgbClr val="F3F5FA"/>
          </a:solidFill>
          <a:ln>
            <a:noFill/>
          </a:ln>
          <a:effectLst/>
        </p:spPr>
        <p:style>
          <a:lnRef idx="1">
            <a:schemeClr val="accent1"/>
          </a:lnRef>
          <a:fillRef idx="3">
            <a:schemeClr val="accent1"/>
          </a:fillRef>
          <a:effectRef idx="2">
            <a:schemeClr val="accent1"/>
          </a:effectRef>
          <a:fontRef idx="minor">
            <a:schemeClr val="lt1"/>
          </a:fontRef>
        </p:style>
        <p:txBody>
          <a:bodyPr wrap="square" lIns="109728" tIns="36576" rIns="109728"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000" b="0" dirty="0">
                <a:solidFill>
                  <a:srgbClr val="333333"/>
                </a:solidFill>
                <a:latin typeface="メイリオ" panose="020B0604030504040204" pitchFamily="50" charset="-128"/>
                <a:ea typeface="メイリオ" panose="020B0604030504040204" pitchFamily="50" charset="-128"/>
              </a:rPr>
              <a:t>1回の接触では決まらず、</a:t>
            </a:r>
            <a:endParaRPr lang="en-US" sz="1000" b="0" dirty="0">
              <a:solidFill>
                <a:srgbClr val="333333"/>
              </a:solidFill>
              <a:latin typeface="メイリオ" panose="020B0604030504040204" pitchFamily="50" charset="-128"/>
              <a:ea typeface="メイリオ" panose="020B0604030504040204" pitchFamily="50" charset="-128"/>
            </a:endParaRPr>
          </a:p>
          <a:p>
            <a:pPr algn="l">
              <a:spcAft>
                <a:spcPts val="300"/>
              </a:spcAft>
            </a:pPr>
            <a:r>
              <a:rPr sz="1000" b="0" dirty="0" err="1">
                <a:solidFill>
                  <a:srgbClr val="333333"/>
                </a:solidFill>
                <a:latin typeface="メイリオ" panose="020B0604030504040204" pitchFamily="50" charset="-128"/>
                <a:ea typeface="メイリオ" panose="020B0604030504040204" pitchFamily="50" charset="-128"/>
              </a:rPr>
              <a:t>離脱後の追客が要る</a:t>
            </a:r>
            <a:endParaRPr sz="1000" b="0" dirty="0">
              <a:solidFill>
                <a:srgbClr val="333333"/>
              </a:solidFill>
              <a:latin typeface="メイリオ" panose="020B0604030504040204" pitchFamily="50" charset="-128"/>
              <a:ea typeface="メイリオ" panose="020B0604030504040204" pitchFamily="50" charset="-128"/>
            </a:endParaRPr>
          </a:p>
        </p:txBody>
      </p:sp>
      <p:sp>
        <p:nvSpPr>
          <p:cNvPr id="31" name="Rectangle 22">
            <a:extLst>
              <a:ext uri="{FF2B5EF4-FFF2-40B4-BE49-F238E27FC236}">
                <a16:creationId xmlns:a16="http://schemas.microsoft.com/office/drawing/2014/main" id="{E546F08F-DCDF-7DC5-B4A8-B1568842B1C8}"/>
              </a:ext>
            </a:extLst>
          </p:cNvPr>
          <p:cNvSpPr/>
          <p:nvPr/>
        </p:nvSpPr>
        <p:spPr>
          <a:xfrm>
            <a:off x="7010400" y="5347716"/>
            <a:ext cx="2514600" cy="978408"/>
          </a:xfrm>
          <a:prstGeom prst="rect">
            <a:avLst/>
          </a:prstGeom>
          <a:solidFill>
            <a:srgbClr val="E4EAF6"/>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28016" tIns="36576" rIns="128016" bIns="36576"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l">
              <a:spcAft>
                <a:spcPts val="300"/>
              </a:spcAft>
            </a:pPr>
            <a:r>
              <a:rPr sz="1150" b="1" dirty="0" err="1">
                <a:solidFill>
                  <a:srgbClr val="1F2A5C"/>
                </a:solidFill>
                <a:latin typeface="メイリオ" panose="020B0604030504040204" pitchFamily="50" charset="-128"/>
                <a:ea typeface="メイリオ" panose="020B0604030504040204" pitchFamily="50" charset="-128"/>
              </a:rPr>
              <a:t>検討段階に合わせて</a:t>
            </a:r>
            <a:endParaRPr lang="en-US" sz="1150" b="1" dirty="0">
              <a:solidFill>
                <a:srgbClr val="1F2A5C"/>
              </a:solidFill>
              <a:latin typeface="メイリオ" panose="020B0604030504040204" pitchFamily="50" charset="-128"/>
              <a:ea typeface="メイリオ" panose="020B0604030504040204" pitchFamily="50" charset="-128"/>
            </a:endParaRPr>
          </a:p>
          <a:p>
            <a:pPr algn="l">
              <a:spcAft>
                <a:spcPts val="300"/>
              </a:spcAft>
            </a:pPr>
            <a:r>
              <a:rPr sz="1150" b="1" dirty="0" err="1">
                <a:solidFill>
                  <a:srgbClr val="FF0000"/>
                </a:solidFill>
                <a:latin typeface="メイリオ" panose="020B0604030504040204" pitchFamily="50" charset="-128"/>
                <a:ea typeface="メイリオ" panose="020B0604030504040204" pitchFamily="50" charset="-128"/>
              </a:rPr>
              <a:t>ステップ配信</a:t>
            </a:r>
            <a:r>
              <a:rPr sz="1150" b="1" dirty="0" err="1">
                <a:solidFill>
                  <a:srgbClr val="1F2A5C"/>
                </a:solidFill>
                <a:latin typeface="メイリオ" panose="020B0604030504040204" pitchFamily="50" charset="-128"/>
                <a:ea typeface="メイリオ" panose="020B0604030504040204" pitchFamily="50" charset="-128"/>
              </a:rPr>
              <a:t>で接触する</a:t>
            </a:r>
            <a:endParaRPr sz="1150" b="1" dirty="0">
              <a:solidFill>
                <a:srgbClr val="1F2A5C"/>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693817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542F3-A366-2F77-BD90-8553126BF310}"/>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10EB49B5-9FC5-84CA-4DB1-FD1822B1AD4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AAE0FF34-E36F-DACD-C81B-257EFD178A2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CBE40DF-02FF-09AD-254C-C183AF288F03}"/>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6F82A582-FD96-0975-8BC7-695742F3474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市況変化に伴い、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施策の必要性が増加。反応率の高い</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公式を効率化することでマーケティングを最適化。</a:t>
            </a:r>
            <a:endParaRPr lang="ja-JP" altLang="en-US" sz="1000" dirty="0"/>
          </a:p>
        </p:txBody>
      </p:sp>
      <p:sp>
        <p:nvSpPr>
          <p:cNvPr id="9" name="テキスト ボックス 8">
            <a:extLst>
              <a:ext uri="{FF2B5EF4-FFF2-40B4-BE49-F238E27FC236}">
                <a16:creationId xmlns:a16="http://schemas.microsoft.com/office/drawing/2014/main" id="{AA2B66CF-65F8-FB43-708F-6D49976FCE6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23" name="図 22">
            <a:extLst>
              <a:ext uri="{FF2B5EF4-FFF2-40B4-BE49-F238E27FC236}">
                <a16:creationId xmlns:a16="http://schemas.microsoft.com/office/drawing/2014/main" id="{A3ED5CD5-2475-1675-D861-6DF0FEF85224}"/>
              </a:ext>
            </a:extLst>
          </p:cNvPr>
          <p:cNvPicPr>
            <a:picLocks noChangeAspect="1"/>
          </p:cNvPicPr>
          <p:nvPr/>
        </p:nvPicPr>
        <p:blipFill>
          <a:blip r:embed="rId2"/>
          <a:stretch>
            <a:fillRect/>
          </a:stretch>
        </p:blipFill>
        <p:spPr>
          <a:xfrm>
            <a:off x="4731535" y="1769209"/>
            <a:ext cx="4865885" cy="2313349"/>
          </a:xfrm>
          <a:prstGeom prst="rect">
            <a:avLst/>
          </a:prstGeom>
        </p:spPr>
      </p:pic>
      <p:pic>
        <p:nvPicPr>
          <p:cNvPr id="55" name="図 54">
            <a:extLst>
              <a:ext uri="{FF2B5EF4-FFF2-40B4-BE49-F238E27FC236}">
                <a16:creationId xmlns:a16="http://schemas.microsoft.com/office/drawing/2014/main" id="{6F101A2A-4E40-54D6-6EFF-FC688C1D2F0B}"/>
              </a:ext>
            </a:extLst>
          </p:cNvPr>
          <p:cNvPicPr>
            <a:picLocks noChangeAspect="1"/>
          </p:cNvPicPr>
          <p:nvPr/>
        </p:nvPicPr>
        <p:blipFill>
          <a:blip r:embed="rId3"/>
          <a:stretch>
            <a:fillRect/>
          </a:stretch>
        </p:blipFill>
        <p:spPr>
          <a:xfrm>
            <a:off x="121721" y="1796423"/>
            <a:ext cx="4547463" cy="2282442"/>
          </a:xfrm>
          <a:prstGeom prst="rect">
            <a:avLst/>
          </a:prstGeom>
        </p:spPr>
      </p:pic>
      <p:pic>
        <p:nvPicPr>
          <p:cNvPr id="4" name="図 3">
            <a:extLst>
              <a:ext uri="{FF2B5EF4-FFF2-40B4-BE49-F238E27FC236}">
                <a16:creationId xmlns:a16="http://schemas.microsoft.com/office/drawing/2014/main" id="{E64EEB20-E6D7-1754-B863-CE02D1637BAF}"/>
              </a:ext>
            </a:extLst>
          </p:cNvPr>
          <p:cNvPicPr>
            <a:picLocks noChangeAspect="1"/>
          </p:cNvPicPr>
          <p:nvPr/>
        </p:nvPicPr>
        <p:blipFill>
          <a:blip r:embed="rId4"/>
          <a:stretch>
            <a:fillRect/>
          </a:stretch>
        </p:blipFill>
        <p:spPr>
          <a:xfrm>
            <a:off x="4743273" y="4163531"/>
            <a:ext cx="5026817" cy="2263604"/>
          </a:xfrm>
          <a:prstGeom prst="rect">
            <a:avLst/>
          </a:prstGeom>
        </p:spPr>
      </p:pic>
      <p:pic>
        <p:nvPicPr>
          <p:cNvPr id="8" name="図 7">
            <a:extLst>
              <a:ext uri="{FF2B5EF4-FFF2-40B4-BE49-F238E27FC236}">
                <a16:creationId xmlns:a16="http://schemas.microsoft.com/office/drawing/2014/main" id="{4155BE30-8F47-BE42-0733-C328ACCE19E0}"/>
              </a:ext>
            </a:extLst>
          </p:cNvPr>
          <p:cNvPicPr>
            <a:picLocks noChangeAspect="1"/>
          </p:cNvPicPr>
          <p:nvPr/>
        </p:nvPicPr>
        <p:blipFill>
          <a:blip r:embed="rId5"/>
          <a:stretch>
            <a:fillRect/>
          </a:stretch>
        </p:blipFill>
        <p:spPr>
          <a:xfrm>
            <a:off x="144233" y="4162283"/>
            <a:ext cx="4502439" cy="2249497"/>
          </a:xfrm>
          <a:prstGeom prst="rect">
            <a:avLst/>
          </a:prstGeom>
        </p:spPr>
      </p:pic>
    </p:spTree>
    <p:extLst>
      <p:ext uri="{BB962C8B-B14F-4D97-AF65-F5344CB8AC3E}">
        <p14:creationId xmlns:p14="http://schemas.microsoft.com/office/powerpoint/2010/main" val="8868194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5F785-21C2-3B5C-6EEA-F1CBBF75AF74}"/>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0A6CFA27-8734-0256-59C9-95D2B252C115}"/>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3705FD20-7673-B4F7-9F0F-FDAA55CE0655}"/>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LINEOA</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公式基礎</a:t>
            </a:r>
            <a:endParaRPr lang="ja-JP" altLang="en-US" sz="1100" dirty="0"/>
          </a:p>
        </p:txBody>
      </p:sp>
      <p:sp>
        <p:nvSpPr>
          <p:cNvPr id="7" name="テキスト ボックス 6">
            <a:extLst>
              <a:ext uri="{FF2B5EF4-FFF2-40B4-BE49-F238E27FC236}">
                <a16:creationId xmlns:a16="http://schemas.microsoft.com/office/drawing/2014/main" id="{4C9CF45E-C71E-D1AB-5CC4-7A1544E4139F}"/>
              </a:ext>
            </a:extLst>
          </p:cNvPr>
          <p:cNvSpPr txBox="1"/>
          <p:nvPr/>
        </p:nvSpPr>
        <p:spPr>
          <a:xfrm>
            <a:off x="96788" y="1202790"/>
            <a:ext cx="7594930"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市況変化の中で、</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公式アカウントを導入・最適化すべき</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4</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つの理由</a:t>
            </a:r>
            <a:endParaRPr lang="ja-JP" altLang="en-US" sz="1000" dirty="0"/>
          </a:p>
        </p:txBody>
      </p:sp>
      <p:sp>
        <p:nvSpPr>
          <p:cNvPr id="9" name="テキスト ボックス 8">
            <a:extLst>
              <a:ext uri="{FF2B5EF4-FFF2-40B4-BE49-F238E27FC236}">
                <a16:creationId xmlns:a16="http://schemas.microsoft.com/office/drawing/2014/main" id="{2466A3D1-79A2-FC11-5F03-CB24F3F95CFB}"/>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70" name="図 69">
            <a:extLst>
              <a:ext uri="{FF2B5EF4-FFF2-40B4-BE49-F238E27FC236}">
                <a16:creationId xmlns:a16="http://schemas.microsoft.com/office/drawing/2014/main" id="{BD57C684-39A2-ED1F-858B-037F82BEC993}"/>
              </a:ext>
            </a:extLst>
          </p:cNvPr>
          <p:cNvPicPr>
            <a:picLocks noChangeAspect="1"/>
          </p:cNvPicPr>
          <p:nvPr/>
        </p:nvPicPr>
        <p:blipFill>
          <a:blip r:embed="rId2"/>
          <a:stretch>
            <a:fillRect/>
          </a:stretch>
        </p:blipFill>
        <p:spPr>
          <a:xfrm>
            <a:off x="4743273" y="4163531"/>
            <a:ext cx="5026817" cy="2263604"/>
          </a:xfrm>
          <a:prstGeom prst="rect">
            <a:avLst/>
          </a:prstGeom>
        </p:spPr>
      </p:pic>
      <p:pic>
        <p:nvPicPr>
          <p:cNvPr id="72" name="図 71">
            <a:extLst>
              <a:ext uri="{FF2B5EF4-FFF2-40B4-BE49-F238E27FC236}">
                <a16:creationId xmlns:a16="http://schemas.microsoft.com/office/drawing/2014/main" id="{CAD0F638-4BB5-8204-757C-602FB0EFC388}"/>
              </a:ext>
            </a:extLst>
          </p:cNvPr>
          <p:cNvPicPr>
            <a:picLocks noChangeAspect="1"/>
          </p:cNvPicPr>
          <p:nvPr/>
        </p:nvPicPr>
        <p:blipFill>
          <a:blip r:embed="rId3"/>
          <a:stretch>
            <a:fillRect/>
          </a:stretch>
        </p:blipFill>
        <p:spPr>
          <a:xfrm>
            <a:off x="144233" y="4162283"/>
            <a:ext cx="4502439" cy="2249497"/>
          </a:xfrm>
          <a:prstGeom prst="rect">
            <a:avLst/>
          </a:prstGeom>
        </p:spPr>
      </p:pic>
      <p:pic>
        <p:nvPicPr>
          <p:cNvPr id="89" name="図 88">
            <a:extLst>
              <a:ext uri="{FF2B5EF4-FFF2-40B4-BE49-F238E27FC236}">
                <a16:creationId xmlns:a16="http://schemas.microsoft.com/office/drawing/2014/main" id="{1E7DD73A-5ACE-57F2-3D84-1CCFDEA9CEE5}"/>
              </a:ext>
            </a:extLst>
          </p:cNvPr>
          <p:cNvPicPr>
            <a:picLocks noChangeAspect="1"/>
          </p:cNvPicPr>
          <p:nvPr/>
        </p:nvPicPr>
        <p:blipFill>
          <a:blip r:embed="rId4"/>
          <a:stretch>
            <a:fillRect/>
          </a:stretch>
        </p:blipFill>
        <p:spPr>
          <a:xfrm>
            <a:off x="4731535" y="1777918"/>
            <a:ext cx="4865885" cy="2313349"/>
          </a:xfrm>
          <a:prstGeom prst="rect">
            <a:avLst/>
          </a:prstGeom>
        </p:spPr>
      </p:pic>
      <p:pic>
        <p:nvPicPr>
          <p:cNvPr id="91" name="図 90">
            <a:extLst>
              <a:ext uri="{FF2B5EF4-FFF2-40B4-BE49-F238E27FC236}">
                <a16:creationId xmlns:a16="http://schemas.microsoft.com/office/drawing/2014/main" id="{FCAF1797-0FF8-82BA-FC52-3C1CCD7A2ED5}"/>
              </a:ext>
            </a:extLst>
          </p:cNvPr>
          <p:cNvPicPr>
            <a:picLocks noChangeAspect="1"/>
          </p:cNvPicPr>
          <p:nvPr/>
        </p:nvPicPr>
        <p:blipFill>
          <a:blip r:embed="rId5"/>
          <a:stretch>
            <a:fillRect/>
          </a:stretch>
        </p:blipFill>
        <p:spPr>
          <a:xfrm>
            <a:off x="121721" y="1805132"/>
            <a:ext cx="4547463" cy="2282442"/>
          </a:xfrm>
          <a:prstGeom prst="rect">
            <a:avLst/>
          </a:prstGeom>
        </p:spPr>
      </p:pic>
      <p:sp>
        <p:nvSpPr>
          <p:cNvPr id="109" name="正方形/長方形 108">
            <a:extLst>
              <a:ext uri="{FF2B5EF4-FFF2-40B4-BE49-F238E27FC236}">
                <a16:creationId xmlns:a16="http://schemas.microsoft.com/office/drawing/2014/main" id="{75E2613C-ECFC-1043-6B48-5CC36CDAEA49}"/>
              </a:ext>
            </a:extLst>
          </p:cNvPr>
          <p:cNvSpPr/>
          <p:nvPr/>
        </p:nvSpPr>
        <p:spPr>
          <a:xfrm>
            <a:off x="79632" y="1705966"/>
            <a:ext cx="9721727" cy="4805339"/>
          </a:xfrm>
          <a:prstGeom prst="rect">
            <a:avLst/>
          </a:prstGeom>
          <a:solidFill>
            <a:schemeClr val="bg1">
              <a:alpha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1" name="正方形/長方形 110">
            <a:extLst>
              <a:ext uri="{FF2B5EF4-FFF2-40B4-BE49-F238E27FC236}">
                <a16:creationId xmlns:a16="http://schemas.microsoft.com/office/drawing/2014/main" id="{99739246-55F4-690F-7FCA-3A6125F81DC0}"/>
              </a:ext>
            </a:extLst>
          </p:cNvPr>
          <p:cNvSpPr/>
          <p:nvPr/>
        </p:nvSpPr>
        <p:spPr>
          <a:xfrm>
            <a:off x="212090" y="1717992"/>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chemeClr val="tx1"/>
                </a:solidFill>
                <a:latin typeface="メイリオ" panose="020B0604030504040204" pitchFamily="50" charset="-128"/>
                <a:ea typeface="メイリオ" panose="020B0604030504040204" pitchFamily="50" charset="-128"/>
              </a:rPr>
              <a:t>LINE</a:t>
            </a:r>
            <a:r>
              <a:rPr lang="ja-JP" altLang="en-US" sz="2000" b="1" dirty="0">
                <a:solidFill>
                  <a:schemeClr val="tx1"/>
                </a:solidFill>
                <a:latin typeface="メイリオ" panose="020B0604030504040204" pitchFamily="50" charset="-128"/>
                <a:ea typeface="メイリオ" panose="020B0604030504040204" pitchFamily="50" charset="-128"/>
              </a:rPr>
              <a:t>施策の重要性</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開封率、開封時間ともに高効率</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今後のマーケティングに必須のチャネル。</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3" name="正方形/長方形 112">
            <a:extLst>
              <a:ext uri="{FF2B5EF4-FFF2-40B4-BE49-F238E27FC236}">
                <a16:creationId xmlns:a16="http://schemas.microsoft.com/office/drawing/2014/main" id="{36DF7064-F61C-CF57-16F4-3ED4FE3F0D7A}"/>
              </a:ext>
            </a:extLst>
          </p:cNvPr>
          <p:cNvSpPr/>
          <p:nvPr/>
        </p:nvSpPr>
        <p:spPr>
          <a:xfrm>
            <a:off x="4929998" y="1717020"/>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2000" b="1" dirty="0">
                <a:solidFill>
                  <a:schemeClr val="tx1"/>
                </a:solidFill>
                <a:latin typeface="メイリオ" panose="020B0604030504040204" pitchFamily="50" charset="-128"/>
                <a:ea typeface="メイリオ" panose="020B0604030504040204" pitchFamily="50" charset="-128"/>
              </a:rPr>
              <a:t>友だち追加後の最適化</a:t>
            </a:r>
            <a:endParaRPr lang="en-US" altLang="ja-JP" sz="2000" b="1" dirty="0">
              <a:solidFill>
                <a:schemeClr val="tx1"/>
              </a:solidFill>
              <a:latin typeface="メイリオ" panose="020B0604030504040204" pitchFamily="50" charset="-128"/>
              <a:ea typeface="メイリオ" panose="020B0604030504040204" pitchFamily="50" charset="-128"/>
            </a:endParaRPr>
          </a:p>
          <a:p>
            <a:pPr algn="ctr"/>
            <a:endParaRPr lang="en-US" altLang="ja-JP" sz="1400" b="1" dirty="0">
              <a:solidFill>
                <a:schemeClr val="tx1"/>
              </a:solidFill>
              <a:latin typeface="メイリオ" panose="020B0604030504040204" pitchFamily="50" charset="-128"/>
              <a:ea typeface="メイリオ" panose="020B0604030504040204" pitchFamily="50" charset="-128"/>
            </a:endParaRPr>
          </a:p>
          <a:p>
            <a:pPr algn="ctr"/>
            <a:r>
              <a:rPr lang="en-US" altLang="ja-JP" sz="1400" dirty="0">
                <a:solidFill>
                  <a:schemeClr val="tx1"/>
                </a:solidFill>
                <a:latin typeface="メイリオ" panose="020B0604030504040204" pitchFamily="50" charset="-128"/>
                <a:ea typeface="メイリオ" panose="020B0604030504040204" pitchFamily="50" charset="-128"/>
              </a:rPr>
              <a:t>LINE</a:t>
            </a:r>
            <a:r>
              <a:rPr lang="ja-JP" altLang="en-US" sz="1400" dirty="0">
                <a:solidFill>
                  <a:schemeClr val="tx1"/>
                </a:solidFill>
                <a:latin typeface="メイリオ" panose="020B0604030504040204" pitchFamily="50" charset="-128"/>
                <a:ea typeface="メイリオ" panose="020B0604030504040204" pitchFamily="50" charset="-128"/>
              </a:rPr>
              <a:t>友だち追加後</a:t>
            </a:r>
            <a:r>
              <a:rPr lang="en-US" altLang="ja-JP" sz="1400" dirty="0">
                <a:solidFill>
                  <a:schemeClr val="tx1"/>
                </a:solidFill>
                <a:latin typeface="メイリオ" panose="020B0604030504040204" pitchFamily="50" charset="-128"/>
                <a:ea typeface="メイリオ" panose="020B0604030504040204" pitchFamily="50" charset="-128"/>
              </a:rPr>
              <a:t>30</a:t>
            </a:r>
            <a:r>
              <a:rPr lang="ja-JP" altLang="en-US" sz="1400" dirty="0">
                <a:solidFill>
                  <a:schemeClr val="tx1"/>
                </a:solidFill>
                <a:latin typeface="メイリオ" panose="020B0604030504040204" pitchFamily="50" charset="-128"/>
                <a:ea typeface="メイリオ" panose="020B0604030504040204" pitchFamily="50" charset="-128"/>
              </a:rPr>
              <a:t>日、</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b="1" dirty="0">
                <a:solidFill>
                  <a:schemeClr val="tx1"/>
                </a:solidFill>
                <a:latin typeface="メイリオ" panose="020B0604030504040204" pitchFamily="50" charset="-128"/>
                <a:ea typeface="メイリオ" panose="020B0604030504040204" pitchFamily="50" charset="-128"/>
              </a:rPr>
              <a:t>初期誘導の最適化は重要性が高い</a:t>
            </a:r>
            <a:r>
              <a:rPr lang="ja-JP" altLang="en-US" sz="1400" dirty="0">
                <a:solidFill>
                  <a:schemeClr val="tx1"/>
                </a:solidFill>
                <a:latin typeface="メイリオ" panose="020B0604030504040204" pitchFamily="50" charset="-128"/>
                <a:ea typeface="メイリオ" panose="020B0604030504040204" pitchFamily="50" charset="-128"/>
              </a:rPr>
              <a:t>。</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15" name="正方形/長方形 114">
            <a:extLst>
              <a:ext uri="{FF2B5EF4-FFF2-40B4-BE49-F238E27FC236}">
                <a16:creationId xmlns:a16="http://schemas.microsoft.com/office/drawing/2014/main" id="{B413D49B-5D6C-8C2D-7652-878361DCE9FD}"/>
              </a:ext>
            </a:extLst>
          </p:cNvPr>
          <p:cNvSpPr/>
          <p:nvPr/>
        </p:nvSpPr>
        <p:spPr>
          <a:xfrm>
            <a:off x="212090"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2000" b="1" dirty="0">
                <a:solidFill>
                  <a:srgbClr val="FF0000"/>
                </a:solidFill>
                <a:latin typeface="メイリオ" panose="020B0604030504040204" pitchFamily="50" charset="-128"/>
                <a:ea typeface="メイリオ" panose="020B0604030504040204" pitchFamily="50" charset="-128"/>
              </a:rPr>
              <a:t>集客</a:t>
            </a:r>
            <a:r>
              <a:rPr kumimoji="1" lang="en-US" altLang="ja-JP" sz="2000" b="1" dirty="0">
                <a:solidFill>
                  <a:srgbClr val="FF0000"/>
                </a:solidFill>
                <a:latin typeface="メイリオ" panose="020B0604030504040204" pitchFamily="50" charset="-128"/>
                <a:ea typeface="メイリオ" panose="020B0604030504040204" pitchFamily="50" charset="-128"/>
              </a:rPr>
              <a:t>CPA</a:t>
            </a:r>
            <a:r>
              <a:rPr kumimoji="1" lang="ja-JP" altLang="en-US" sz="2000" b="1" dirty="0">
                <a:solidFill>
                  <a:srgbClr val="FF0000"/>
                </a:solidFill>
                <a:latin typeface="メイリオ" panose="020B0604030504040204" pitchFamily="50" charset="-128"/>
                <a:ea typeface="メイリオ" panose="020B0604030504040204" pitchFamily="50" charset="-128"/>
              </a:rPr>
              <a:t>改善の必要性</a:t>
            </a:r>
            <a:endParaRPr kumimoji="1"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kumimoji="1" lang="ja-JP" altLang="en-US" sz="1400" dirty="0">
                <a:solidFill>
                  <a:srgbClr val="FF0000"/>
                </a:solidFill>
                <a:latin typeface="メイリオ" panose="020B0604030504040204" pitchFamily="50" charset="-128"/>
                <a:ea typeface="メイリオ" panose="020B0604030504040204" pitchFamily="50" charset="-128"/>
              </a:rPr>
              <a:t>広告離脱の</a:t>
            </a:r>
            <a:r>
              <a:rPr kumimoji="1" lang="en-US" altLang="ja-JP" sz="1400" dirty="0">
                <a:solidFill>
                  <a:srgbClr val="FF0000"/>
                </a:solidFill>
                <a:latin typeface="メイリオ" panose="020B0604030504040204" pitchFamily="50" charset="-128"/>
                <a:ea typeface="メイリオ" panose="020B0604030504040204" pitchFamily="50" charset="-128"/>
              </a:rPr>
              <a:t>98%</a:t>
            </a:r>
            <a:r>
              <a:rPr kumimoji="1" lang="ja-JP" altLang="en-US" sz="1400" dirty="0">
                <a:solidFill>
                  <a:srgbClr val="FF0000"/>
                </a:solidFill>
                <a:latin typeface="メイリオ" panose="020B0604030504040204" pitchFamily="50" charset="-128"/>
                <a:ea typeface="メイリオ" panose="020B0604030504040204" pitchFamily="50" charset="-128"/>
              </a:rPr>
              <a:t>は接触が難しい。</a:t>
            </a:r>
            <a:endParaRPr kumimoji="1" lang="en-US" altLang="ja-JP" sz="1400" dirty="0">
              <a:solidFill>
                <a:srgbClr val="FF0000"/>
              </a:solidFill>
              <a:latin typeface="メイリオ" panose="020B0604030504040204" pitchFamily="50" charset="-128"/>
              <a:ea typeface="メイリオ" panose="020B0604030504040204" pitchFamily="50" charset="-128"/>
            </a:endParaRPr>
          </a:p>
          <a:p>
            <a:pPr algn="ctr"/>
            <a:r>
              <a:rPr lang="ja-JP" altLang="en-US" sz="1400" b="1" dirty="0">
                <a:solidFill>
                  <a:srgbClr val="FF0000"/>
                </a:solidFill>
                <a:latin typeface="メイリオ" panose="020B0604030504040204" pitchFamily="50" charset="-128"/>
                <a:ea typeface="メイリオ" panose="020B0604030504040204" pitchFamily="50" charset="-128"/>
              </a:rPr>
              <a:t>離脱理由を洗い出し再追客へ</a:t>
            </a:r>
            <a:r>
              <a:rPr lang="ja-JP" altLang="en-US" sz="1400" dirty="0">
                <a:solidFill>
                  <a:srgbClr val="FF0000"/>
                </a:solidFill>
                <a:latin typeface="メイリオ" panose="020B0604030504040204" pitchFamily="50" charset="-128"/>
                <a:ea typeface="メイリオ" panose="020B0604030504040204" pitchFamily="50" charset="-128"/>
              </a:rPr>
              <a:t>乗せる。</a:t>
            </a:r>
            <a:endParaRPr kumimoji="1"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19" name="正方形/長方形 118">
            <a:extLst>
              <a:ext uri="{FF2B5EF4-FFF2-40B4-BE49-F238E27FC236}">
                <a16:creationId xmlns:a16="http://schemas.microsoft.com/office/drawing/2014/main" id="{C700F13F-7FE1-285C-0D95-84AA99805426}"/>
              </a:ext>
            </a:extLst>
          </p:cNvPr>
          <p:cNvSpPr/>
          <p:nvPr/>
        </p:nvSpPr>
        <p:spPr>
          <a:xfrm>
            <a:off x="4929998" y="4103895"/>
            <a:ext cx="4646483" cy="2328629"/>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2000" b="1" dirty="0">
                <a:solidFill>
                  <a:srgbClr val="FF0000"/>
                </a:solidFill>
                <a:latin typeface="メイリオ" panose="020B0604030504040204" pitchFamily="50" charset="-128"/>
                <a:ea typeface="メイリオ" panose="020B0604030504040204" pitchFamily="50" charset="-128"/>
              </a:rPr>
              <a:t>CPO</a:t>
            </a:r>
            <a:r>
              <a:rPr lang="ja-JP" altLang="en-US" sz="2000" b="1" dirty="0">
                <a:solidFill>
                  <a:srgbClr val="FF0000"/>
                </a:solidFill>
                <a:latin typeface="メイリオ" panose="020B0604030504040204" pitchFamily="50" charset="-128"/>
                <a:ea typeface="メイリオ" panose="020B0604030504040204" pitchFamily="50" charset="-128"/>
              </a:rPr>
              <a:t>・</a:t>
            </a:r>
            <a:r>
              <a:rPr lang="en-US" altLang="ja-JP" sz="2000" b="1" dirty="0">
                <a:solidFill>
                  <a:srgbClr val="FF0000"/>
                </a:solidFill>
                <a:latin typeface="メイリオ" panose="020B0604030504040204" pitchFamily="50" charset="-128"/>
                <a:ea typeface="メイリオ" panose="020B0604030504040204" pitchFamily="50" charset="-128"/>
              </a:rPr>
              <a:t>CPA</a:t>
            </a:r>
            <a:r>
              <a:rPr lang="ja-JP" altLang="en-US" sz="2000" b="1" dirty="0">
                <a:solidFill>
                  <a:srgbClr val="FF0000"/>
                </a:solidFill>
                <a:latin typeface="メイリオ" panose="020B0604030504040204" pitchFamily="50" charset="-128"/>
                <a:ea typeface="メイリオ" panose="020B0604030504040204" pitchFamily="50" charset="-128"/>
              </a:rPr>
              <a:t>改善</a:t>
            </a:r>
            <a:endParaRPr lang="en-US" altLang="ja-JP" sz="2000" b="1" dirty="0">
              <a:solidFill>
                <a:srgbClr val="FF0000"/>
              </a:solidFill>
              <a:latin typeface="メイリオ" panose="020B0604030504040204" pitchFamily="50" charset="-128"/>
              <a:ea typeface="メイリオ" panose="020B0604030504040204" pitchFamily="50" charset="-128"/>
            </a:endParaRPr>
          </a:p>
          <a:p>
            <a:pPr algn="ctr"/>
            <a:endParaRPr lang="en-US" altLang="ja-JP" sz="1400" b="1" dirty="0">
              <a:solidFill>
                <a:srgbClr val="FF0000"/>
              </a:solidFill>
              <a:latin typeface="メイリオ" panose="020B0604030504040204" pitchFamily="50" charset="-128"/>
              <a:ea typeface="メイリオ" panose="020B0604030504040204" pitchFamily="50" charset="-128"/>
            </a:endParaRPr>
          </a:p>
          <a:p>
            <a:pPr algn="ctr"/>
            <a:r>
              <a:rPr lang="ja-JP" altLang="en-US" sz="1400" dirty="0">
                <a:solidFill>
                  <a:srgbClr val="FF0000"/>
                </a:solidFill>
                <a:latin typeface="メイリオ" panose="020B0604030504040204" pitchFamily="50" charset="-128"/>
                <a:ea typeface="メイリオ" panose="020B0604030504040204" pitchFamily="50" charset="-128"/>
              </a:rPr>
              <a:t>成果地点、課金地点には、</a:t>
            </a:r>
            <a:endParaRPr lang="en-US" altLang="ja-JP" sz="1400" dirty="0">
              <a:solidFill>
                <a:srgbClr val="FF0000"/>
              </a:solidFill>
              <a:latin typeface="メイリオ" panose="020B0604030504040204" pitchFamily="50" charset="-128"/>
              <a:ea typeface="メイリオ" panose="020B0604030504040204" pitchFamily="50" charset="-128"/>
            </a:endParaRPr>
          </a:p>
          <a:p>
            <a:pPr algn="ctr"/>
            <a:r>
              <a:rPr lang="en-US" altLang="ja-JP" sz="1400" b="1" dirty="0">
                <a:solidFill>
                  <a:srgbClr val="FF0000"/>
                </a:solidFill>
                <a:latin typeface="メイリオ" panose="020B0604030504040204" pitchFamily="50" charset="-128"/>
                <a:ea typeface="メイリオ" panose="020B0604030504040204" pitchFamily="50" charset="-128"/>
              </a:rPr>
              <a:t>LINE</a:t>
            </a:r>
            <a:r>
              <a:rPr lang="ja-JP" altLang="en-US" sz="1400" b="1" dirty="0">
                <a:solidFill>
                  <a:srgbClr val="FF0000"/>
                </a:solidFill>
                <a:latin typeface="メイリオ" panose="020B0604030504040204" pitchFamily="50" charset="-128"/>
                <a:ea typeface="メイリオ" panose="020B0604030504040204" pitchFamily="50" charset="-128"/>
              </a:rPr>
              <a:t>追加から平均</a:t>
            </a:r>
            <a:r>
              <a:rPr lang="en-US" altLang="ja-JP" sz="1400" b="1" dirty="0">
                <a:solidFill>
                  <a:srgbClr val="FF0000"/>
                </a:solidFill>
                <a:latin typeface="メイリオ" panose="020B0604030504040204" pitchFamily="50" charset="-128"/>
                <a:ea typeface="メイリオ" panose="020B0604030504040204" pitchFamily="50" charset="-128"/>
              </a:rPr>
              <a:t>3%</a:t>
            </a:r>
            <a:r>
              <a:rPr lang="ja-JP" altLang="en-US" sz="1400" b="1" dirty="0">
                <a:solidFill>
                  <a:srgbClr val="FF0000"/>
                </a:solidFill>
                <a:latin typeface="メイリオ" panose="020B0604030504040204" pitchFamily="50" charset="-128"/>
                <a:ea typeface="メイリオ" panose="020B0604030504040204" pitchFamily="50" charset="-128"/>
              </a:rPr>
              <a:t>が到達</a:t>
            </a:r>
            <a:r>
              <a:rPr lang="ja-JP" altLang="en-US" sz="1400" dirty="0">
                <a:solidFill>
                  <a:srgbClr val="FF0000"/>
                </a:solidFill>
                <a:latin typeface="メイリオ" panose="020B0604030504040204" pitchFamily="50" charset="-128"/>
                <a:ea typeface="メイリオ" panose="020B0604030504040204" pitchFamily="50" charset="-128"/>
              </a:rPr>
              <a:t>する。</a:t>
            </a:r>
            <a:endParaRPr lang="en-US" altLang="ja-JP" sz="1400" dirty="0">
              <a:solidFill>
                <a:srgbClr val="FF0000"/>
              </a:solidFill>
              <a:latin typeface="メイリオ" panose="020B0604030504040204" pitchFamily="50" charset="-128"/>
              <a:ea typeface="メイリオ" panose="020B0604030504040204" pitchFamily="50" charset="-128"/>
            </a:endParaRPr>
          </a:p>
        </p:txBody>
      </p:sp>
      <p:sp>
        <p:nvSpPr>
          <p:cNvPr id="123" name="テキスト ボックス 122">
            <a:extLst>
              <a:ext uri="{FF2B5EF4-FFF2-40B4-BE49-F238E27FC236}">
                <a16:creationId xmlns:a16="http://schemas.microsoft.com/office/drawing/2014/main" id="{9E10ACB5-DE72-A1D7-3234-7AA6EA065B02}"/>
              </a:ext>
            </a:extLst>
          </p:cNvPr>
          <p:cNvSpPr txBox="1"/>
          <p:nvPr/>
        </p:nvSpPr>
        <p:spPr>
          <a:xfrm>
            <a:off x="5001123" y="5732571"/>
            <a:ext cx="4512622" cy="2308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rPr>
              <a:t>友だち追加動線により変動します。</a:t>
            </a:r>
            <a:endParaRPr lang="ja-JP" altLang="en-US" sz="1050" dirty="0"/>
          </a:p>
        </p:txBody>
      </p:sp>
      <p:sp>
        <p:nvSpPr>
          <p:cNvPr id="125" name="正方形/長方形 124">
            <a:extLst>
              <a:ext uri="{FF2B5EF4-FFF2-40B4-BE49-F238E27FC236}">
                <a16:creationId xmlns:a16="http://schemas.microsoft.com/office/drawing/2014/main" id="{8AA79FF8-045D-B91F-3862-26BD57F723BA}"/>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190597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リゾートバイト業界のLINE活用</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主要5社のLINEを比べると、友だち追加の直後から、登録・相談へつなぐ配信が当たり前になっている。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10512"/>
            <a:ext cx="1737359"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会社</a:t>
            </a:r>
          </a:p>
        </p:txBody>
      </p:sp>
      <p:sp>
        <p:nvSpPr>
          <p:cNvPr id="60" name="Rectangle 59"/>
          <p:cNvSpPr/>
          <p:nvPr/>
        </p:nvSpPr>
        <p:spPr>
          <a:xfrm>
            <a:off x="2148840" y="1810512"/>
            <a:ext cx="96012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友だち数</a:t>
            </a:r>
          </a:p>
        </p:txBody>
      </p:sp>
      <p:sp>
        <p:nvSpPr>
          <p:cNvPr id="61" name="Rectangle 60"/>
          <p:cNvSpPr/>
          <p:nvPr/>
        </p:nvSpPr>
        <p:spPr>
          <a:xfrm>
            <a:off x="3136391" y="1810512"/>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追加の直後</a:t>
            </a:r>
          </a:p>
        </p:txBody>
      </p:sp>
      <p:sp>
        <p:nvSpPr>
          <p:cNvPr id="62" name="Rectangle 61"/>
          <p:cNvSpPr/>
          <p:nvPr/>
        </p:nvSpPr>
        <p:spPr>
          <a:xfrm>
            <a:off x="4992624" y="1810512"/>
            <a:ext cx="13258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配信の頻度</a:t>
            </a:r>
          </a:p>
        </p:txBody>
      </p:sp>
      <p:sp>
        <p:nvSpPr>
          <p:cNvPr id="63" name="Rectangle 62"/>
          <p:cNvSpPr/>
          <p:nvPr/>
        </p:nvSpPr>
        <p:spPr>
          <a:xfrm>
            <a:off x="6345936" y="1810512"/>
            <a:ext cx="1783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相談の入口</a:t>
            </a:r>
          </a:p>
        </p:txBody>
      </p:sp>
      <p:sp>
        <p:nvSpPr>
          <p:cNvPr id="64" name="Rectangle 63"/>
          <p:cNvSpPr/>
          <p:nvPr/>
        </p:nvSpPr>
        <p:spPr>
          <a:xfrm>
            <a:off x="8156448" y="1810512"/>
            <a:ext cx="13716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リッチメニュー</a:t>
            </a:r>
          </a:p>
        </p:txBody>
      </p:sp>
      <p:sp>
        <p:nvSpPr>
          <p:cNvPr id="65" name="Rectangle 64"/>
          <p:cNvSpPr/>
          <p:nvPr/>
        </p:nvSpPr>
        <p:spPr>
          <a:xfrm>
            <a:off x="384048" y="2212848"/>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ワクトリ</a:t>
            </a:r>
          </a:p>
        </p:txBody>
      </p:sp>
      <p:sp>
        <p:nvSpPr>
          <p:cNvPr id="66" name="Rectangle 65"/>
          <p:cNvSpPr/>
          <p:nvPr/>
        </p:nvSpPr>
        <p:spPr>
          <a:xfrm>
            <a:off x="2148840" y="2212848"/>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79,904</a:t>
            </a:r>
          </a:p>
        </p:txBody>
      </p:sp>
      <p:sp>
        <p:nvSpPr>
          <p:cNvPr id="67" name="Rectangle 66"/>
          <p:cNvSpPr/>
          <p:nvPr/>
        </p:nvSpPr>
        <p:spPr>
          <a:xfrm>
            <a:off x="3136391" y="2212848"/>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アンケート3問</a:t>
            </a:r>
          </a:p>
          <a:p>
            <a:pPr algn="l">
              <a:lnSpc>
                <a:spcPct val="110000"/>
              </a:lnSpc>
              <a:spcAft>
                <a:spcPts val="0"/>
              </a:spcAft>
            </a:pPr>
            <a:r>
              <a:rPr sz="1100" b="0">
                <a:solidFill>
                  <a:srgbClr val="333333"/>
                </a:solidFill>
                <a:latin typeface="メイリオ"/>
                <a:ea typeface="メイリオ"/>
                <a:cs typeface="メイリオ"/>
              </a:rPr>
              <a:t>（エントリー・開始時期・エリア）</a:t>
            </a:r>
          </a:p>
        </p:txBody>
      </p:sp>
      <p:sp>
        <p:nvSpPr>
          <p:cNvPr id="68" name="Rectangle 67"/>
          <p:cNvSpPr/>
          <p:nvPr/>
        </p:nvSpPr>
        <p:spPr>
          <a:xfrm>
            <a:off x="4992624" y="2212848"/>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翌日にENTRY</a:t>
            </a:r>
          </a:p>
          <a:p>
            <a:pPr algn="l">
              <a:lnSpc>
                <a:spcPct val="110000"/>
              </a:lnSpc>
              <a:spcAft>
                <a:spcPts val="0"/>
              </a:spcAft>
            </a:pPr>
            <a:r>
              <a:rPr sz="1100" b="0">
                <a:solidFill>
                  <a:srgbClr val="333333"/>
                </a:solidFill>
                <a:latin typeface="メイリオ"/>
                <a:ea typeface="メイリオ"/>
                <a:cs typeface="メイリオ"/>
              </a:rPr>
              <a:t>その後は週1回</a:t>
            </a:r>
          </a:p>
        </p:txBody>
      </p:sp>
      <p:sp>
        <p:nvSpPr>
          <p:cNvPr id="69" name="Rectangle 68"/>
          <p:cNvSpPr/>
          <p:nvPr/>
        </p:nvSpPr>
        <p:spPr>
          <a:xfrm>
            <a:off x="6345936" y="2212848"/>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a:t>
            </a:r>
          </a:p>
          <a:p>
            <a:pPr algn="l">
              <a:lnSpc>
                <a:spcPct val="110000"/>
              </a:lnSpc>
              <a:spcAft>
                <a:spcPts val="0"/>
              </a:spcAft>
            </a:pPr>
            <a:r>
              <a:rPr sz="1100" b="0">
                <a:solidFill>
                  <a:srgbClr val="333333"/>
                </a:solidFill>
                <a:latin typeface="メイリオ"/>
                <a:ea typeface="メイリオ"/>
                <a:cs typeface="メイリオ"/>
              </a:rPr>
              <a:t>（ENTRY）</a:t>
            </a:r>
          </a:p>
        </p:txBody>
      </p:sp>
      <p:sp>
        <p:nvSpPr>
          <p:cNvPr id="70" name="Rectangle 69"/>
          <p:cNvSpPr/>
          <p:nvPr/>
        </p:nvSpPr>
        <p:spPr>
          <a:xfrm>
            <a:off x="8156448" y="2212848"/>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お仕事探し</a:t>
            </a:r>
          </a:p>
        </p:txBody>
      </p:sp>
      <p:sp>
        <p:nvSpPr>
          <p:cNvPr id="71" name="Rectangle 70"/>
          <p:cNvSpPr/>
          <p:nvPr/>
        </p:nvSpPr>
        <p:spPr>
          <a:xfrm>
            <a:off x="384048" y="2962656"/>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リゾートバイトダイブ</a:t>
            </a:r>
          </a:p>
        </p:txBody>
      </p:sp>
      <p:sp>
        <p:nvSpPr>
          <p:cNvPr id="72" name="Rectangle 71"/>
          <p:cNvSpPr/>
          <p:nvPr/>
        </p:nvSpPr>
        <p:spPr>
          <a:xfrm>
            <a:off x="2148840" y="2962656"/>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256,680</a:t>
            </a:r>
          </a:p>
        </p:txBody>
      </p:sp>
      <p:sp>
        <p:nvSpPr>
          <p:cNvPr id="73" name="Rectangle 72"/>
          <p:cNvSpPr/>
          <p:nvPr/>
        </p:nvSpPr>
        <p:spPr>
          <a:xfrm>
            <a:off x="3136391" y="2962656"/>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マイページ登録のURL</a:t>
            </a:r>
          </a:p>
          <a:p>
            <a:pPr algn="l">
              <a:lnSpc>
                <a:spcPct val="110000"/>
              </a:lnSpc>
              <a:spcAft>
                <a:spcPts val="0"/>
              </a:spcAft>
            </a:pPr>
            <a:r>
              <a:rPr sz="1100" b="0">
                <a:solidFill>
                  <a:srgbClr val="333333"/>
                </a:solidFill>
                <a:latin typeface="メイリオ"/>
                <a:ea typeface="メイリオ"/>
                <a:cs typeface="メイリオ"/>
              </a:rPr>
              <a:t>＋LINEでできること</a:t>
            </a:r>
          </a:p>
        </p:txBody>
      </p:sp>
      <p:sp>
        <p:nvSpPr>
          <p:cNvPr id="74" name="Rectangle 73"/>
          <p:cNvSpPr/>
          <p:nvPr/>
        </p:nvSpPr>
        <p:spPr>
          <a:xfrm>
            <a:off x="4992624" y="2962656"/>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毎日1通</a:t>
            </a:r>
          </a:p>
        </p:txBody>
      </p:sp>
      <p:sp>
        <p:nvSpPr>
          <p:cNvPr id="75" name="Rectangle 74"/>
          <p:cNvSpPr/>
          <p:nvPr/>
        </p:nvSpPr>
        <p:spPr>
          <a:xfrm>
            <a:off x="6345936" y="2962656"/>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初回カウンセリングの予約</a:t>
            </a:r>
          </a:p>
          <a:p>
            <a:pPr algn="l">
              <a:lnSpc>
                <a:spcPct val="110000"/>
              </a:lnSpc>
              <a:spcAft>
                <a:spcPts val="0"/>
              </a:spcAft>
            </a:pPr>
            <a:r>
              <a:rPr sz="1100" b="0">
                <a:solidFill>
                  <a:srgbClr val="333333"/>
                </a:solidFill>
                <a:latin typeface="メイリオ"/>
                <a:ea typeface="メイリオ"/>
                <a:cs typeface="メイリオ"/>
              </a:rPr>
              <a:t>（電話15分）</a:t>
            </a:r>
          </a:p>
        </p:txBody>
      </p:sp>
      <p:sp>
        <p:nvSpPr>
          <p:cNvPr id="76" name="Rectangle 75"/>
          <p:cNvSpPr/>
          <p:nvPr/>
        </p:nvSpPr>
        <p:spPr>
          <a:xfrm>
            <a:off x="8156448" y="2962656"/>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77" name="Rectangle 76"/>
          <p:cNvSpPr/>
          <p:nvPr/>
        </p:nvSpPr>
        <p:spPr>
          <a:xfrm>
            <a:off x="384048" y="3712464"/>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リゾバ.com</a:t>
            </a:r>
          </a:p>
        </p:txBody>
      </p:sp>
      <p:sp>
        <p:nvSpPr>
          <p:cNvPr id="78" name="Rectangle 77"/>
          <p:cNvSpPr/>
          <p:nvPr/>
        </p:nvSpPr>
        <p:spPr>
          <a:xfrm>
            <a:off x="2148840" y="3712464"/>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156,010</a:t>
            </a:r>
          </a:p>
        </p:txBody>
      </p:sp>
      <p:sp>
        <p:nvSpPr>
          <p:cNvPr id="79" name="Rectangle 78"/>
          <p:cNvSpPr/>
          <p:nvPr/>
        </p:nvSpPr>
        <p:spPr>
          <a:xfrm>
            <a:off x="3136391" y="3712464"/>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リゾートバイト経験の</a:t>
            </a:r>
          </a:p>
          <a:p>
            <a:pPr algn="l">
              <a:lnSpc>
                <a:spcPct val="110000"/>
              </a:lnSpc>
              <a:spcAft>
                <a:spcPts val="0"/>
              </a:spcAft>
            </a:pPr>
            <a:r>
              <a:rPr sz="1100" b="0">
                <a:solidFill>
                  <a:srgbClr val="333333"/>
                </a:solidFill>
                <a:latin typeface="メイリオ"/>
                <a:ea typeface="メイリオ"/>
                <a:cs typeface="メイリオ"/>
              </a:rPr>
              <a:t>有無を質問</a:t>
            </a:r>
          </a:p>
        </p:txBody>
      </p:sp>
      <p:sp>
        <p:nvSpPr>
          <p:cNvPr id="80" name="Rectangle 79"/>
          <p:cNvSpPr/>
          <p:nvPr/>
        </p:nvSpPr>
        <p:spPr>
          <a:xfrm>
            <a:off x="4992624" y="3712464"/>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1日2通</a:t>
            </a:r>
          </a:p>
        </p:txBody>
      </p:sp>
      <p:sp>
        <p:nvSpPr>
          <p:cNvPr id="81" name="Rectangle 80"/>
          <p:cNvSpPr/>
          <p:nvPr/>
        </p:nvSpPr>
        <p:spPr>
          <a:xfrm>
            <a:off x="6345936" y="3712464"/>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まずは相談する</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82" name="Rectangle 81"/>
          <p:cNvSpPr/>
          <p:nvPr/>
        </p:nvSpPr>
        <p:spPr>
          <a:xfrm>
            <a:off x="8156448" y="3712464"/>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3" name="Rectangle 82"/>
          <p:cNvSpPr/>
          <p:nvPr/>
        </p:nvSpPr>
        <p:spPr>
          <a:xfrm>
            <a:off x="384048" y="4462272"/>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リゾートバイト.com</a:t>
            </a:r>
          </a:p>
        </p:txBody>
      </p:sp>
      <p:sp>
        <p:nvSpPr>
          <p:cNvPr id="84" name="Rectangle 83"/>
          <p:cNvSpPr/>
          <p:nvPr/>
        </p:nvSpPr>
        <p:spPr>
          <a:xfrm>
            <a:off x="2148840" y="4462272"/>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32,225</a:t>
            </a:r>
          </a:p>
        </p:txBody>
      </p:sp>
      <p:sp>
        <p:nvSpPr>
          <p:cNvPr id="85" name="Rectangle 84"/>
          <p:cNvSpPr/>
          <p:nvPr/>
        </p:nvSpPr>
        <p:spPr>
          <a:xfrm>
            <a:off x="3136391" y="4462272"/>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アンケート</a:t>
            </a:r>
          </a:p>
          <a:p>
            <a:pPr algn="l">
              <a:lnSpc>
                <a:spcPct val="110000"/>
              </a:lnSpc>
              <a:spcAft>
                <a:spcPts val="0"/>
              </a:spcAft>
            </a:pPr>
            <a:r>
              <a:rPr sz="1100" b="0">
                <a:solidFill>
                  <a:srgbClr val="333333"/>
                </a:solidFill>
                <a:latin typeface="メイリオ"/>
                <a:ea typeface="メイリオ"/>
                <a:cs typeface="メイリオ"/>
              </a:rPr>
              <a:t>（性別から）</a:t>
            </a:r>
          </a:p>
        </p:txBody>
      </p:sp>
      <p:sp>
        <p:nvSpPr>
          <p:cNvPr id="86" name="Rectangle 85"/>
          <p:cNvSpPr/>
          <p:nvPr/>
        </p:nvSpPr>
        <p:spPr>
          <a:xfrm>
            <a:off x="4992624" y="4462272"/>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87" name="Rectangle 86"/>
          <p:cNvSpPr/>
          <p:nvPr/>
        </p:nvSpPr>
        <p:spPr>
          <a:xfrm>
            <a:off x="6345936" y="4462272"/>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お問い合わせ</a:t>
            </a:r>
          </a:p>
          <a:p>
            <a:pPr algn="l">
              <a:lnSpc>
                <a:spcPct val="110000"/>
              </a:lnSpc>
              <a:spcAft>
                <a:spcPts val="0"/>
              </a:spcAft>
            </a:pPr>
            <a:r>
              <a:rPr sz="1100" b="0">
                <a:solidFill>
                  <a:srgbClr val="333333"/>
                </a:solidFill>
                <a:latin typeface="メイリオ"/>
                <a:ea typeface="メイリオ"/>
                <a:cs typeface="メイリオ"/>
              </a:rPr>
              <a:t>（メニュー）</a:t>
            </a:r>
          </a:p>
        </p:txBody>
      </p:sp>
      <p:sp>
        <p:nvSpPr>
          <p:cNvPr id="88" name="Rectangle 87"/>
          <p:cNvSpPr/>
          <p:nvPr/>
        </p:nvSpPr>
        <p:spPr>
          <a:xfrm>
            <a:off x="8156448" y="4462272"/>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タブ2つ</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89" name="Rectangle 88"/>
          <p:cNvSpPr/>
          <p:nvPr/>
        </p:nvSpPr>
        <p:spPr>
          <a:xfrm>
            <a:off x="384048" y="5212080"/>
            <a:ext cx="1737359" cy="713232"/>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アルファリゾート</a:t>
            </a:r>
          </a:p>
        </p:txBody>
      </p:sp>
      <p:sp>
        <p:nvSpPr>
          <p:cNvPr id="90" name="Rectangle 89"/>
          <p:cNvSpPr/>
          <p:nvPr/>
        </p:nvSpPr>
        <p:spPr>
          <a:xfrm>
            <a:off x="2148840" y="5212080"/>
            <a:ext cx="96012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26,846</a:t>
            </a:r>
          </a:p>
        </p:txBody>
      </p:sp>
      <p:sp>
        <p:nvSpPr>
          <p:cNvPr id="91" name="Rectangle 90"/>
          <p:cNvSpPr/>
          <p:nvPr/>
        </p:nvSpPr>
        <p:spPr>
          <a:xfrm>
            <a:off x="3136391" y="5212080"/>
            <a:ext cx="18288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会員登録と</a:t>
            </a:r>
          </a:p>
          <a:p>
            <a:pPr algn="l">
              <a:lnSpc>
                <a:spcPct val="110000"/>
              </a:lnSpc>
              <a:spcAft>
                <a:spcPts val="0"/>
              </a:spcAft>
            </a:pPr>
            <a:r>
              <a:rPr sz="1100" b="0">
                <a:solidFill>
                  <a:srgbClr val="333333"/>
                </a:solidFill>
                <a:latin typeface="メイリオ"/>
                <a:ea typeface="メイリオ"/>
                <a:cs typeface="メイリオ"/>
              </a:rPr>
              <a:t>カウンセリング予約のURL</a:t>
            </a:r>
          </a:p>
        </p:txBody>
      </p:sp>
      <p:sp>
        <p:nvSpPr>
          <p:cNvPr id="92" name="Rectangle 91"/>
          <p:cNvSpPr/>
          <p:nvPr/>
        </p:nvSpPr>
        <p:spPr>
          <a:xfrm>
            <a:off x="4992624" y="5212080"/>
            <a:ext cx="13258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a:t>
            </a:r>
          </a:p>
        </p:txBody>
      </p:sp>
      <p:sp>
        <p:nvSpPr>
          <p:cNvPr id="93" name="Rectangle 92"/>
          <p:cNvSpPr/>
          <p:nvPr/>
        </p:nvSpPr>
        <p:spPr>
          <a:xfrm>
            <a:off x="6345936" y="5212080"/>
            <a:ext cx="178308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初回カウンセリング必須</a:t>
            </a:r>
          </a:p>
          <a:p>
            <a:pPr algn="l">
              <a:lnSpc>
                <a:spcPct val="110000"/>
              </a:lnSpc>
              <a:spcAft>
                <a:spcPts val="0"/>
              </a:spcAft>
            </a:pPr>
            <a:r>
              <a:rPr sz="1100" b="0">
                <a:solidFill>
                  <a:srgbClr val="333333"/>
                </a:solidFill>
                <a:latin typeface="メイリオ"/>
                <a:ea typeface="メイリオ"/>
                <a:cs typeface="メイリオ"/>
              </a:rPr>
              <a:t>担当者がチャットで返信</a:t>
            </a:r>
          </a:p>
        </p:txBody>
      </p:sp>
      <p:sp>
        <p:nvSpPr>
          <p:cNvPr id="94" name="Rectangle 93"/>
          <p:cNvSpPr/>
          <p:nvPr/>
        </p:nvSpPr>
        <p:spPr>
          <a:xfrm>
            <a:off x="8156448" y="5212080"/>
            <a:ext cx="1371600" cy="713232"/>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6マス</a:t>
            </a:r>
          </a:p>
          <a:p>
            <a:pPr algn="l">
              <a:lnSpc>
                <a:spcPct val="110000"/>
              </a:lnSpc>
              <a:spcAft>
                <a:spcPts val="0"/>
              </a:spcAft>
            </a:pPr>
            <a:r>
              <a:rPr sz="1100" b="0">
                <a:solidFill>
                  <a:srgbClr val="333333"/>
                </a:solidFill>
                <a:latin typeface="メイリオ"/>
                <a:ea typeface="メイリオ"/>
                <a:cs typeface="メイリオ"/>
              </a:rPr>
              <a:t>開始月別の求人あり</a:t>
            </a:r>
          </a:p>
        </p:txBody>
      </p:sp>
      <p:sp>
        <p:nvSpPr>
          <p:cNvPr id="95" name="TextBox 94"/>
          <p:cNvSpPr txBox="1"/>
          <p:nvPr/>
        </p:nvSpPr>
        <p:spPr>
          <a:xfrm>
            <a:off x="384048" y="6385762"/>
            <a:ext cx="9144000" cy="167235"/>
          </a:xfrm>
          <a:prstGeom prst="rect">
            <a:avLst/>
          </a:prstGeom>
          <a:noFill/>
        </p:spPr>
        <p:txBody>
          <a:bodyPr wrap="square" lIns="36000" tIns="10800" rIns="36000" bIns="10800" anchor="ctr">
            <a:spAutoFit/>
          </a:bodyPr>
          <a:lstStyle/>
          <a:p>
            <a:pPr algn="l">
              <a:lnSpc>
                <a:spcPct val="105000"/>
              </a:lnSpc>
              <a:spcAft>
                <a:spcPts val="200"/>
              </a:spcAft>
            </a:pPr>
            <a:r>
              <a:rPr sz="900" b="0" dirty="0">
                <a:solidFill>
                  <a:srgbClr val="777777"/>
                </a:solidFill>
                <a:latin typeface="メイリオ"/>
                <a:ea typeface="メイリオ"/>
                <a:cs typeface="メイリオ"/>
              </a:rPr>
              <a:t>出典｜各社のLINE公式アカウント（2026年10月に確認）。</a:t>
            </a:r>
            <a:r>
              <a:rPr sz="900" b="0" dirty="0" err="1">
                <a:solidFill>
                  <a:srgbClr val="777777"/>
                </a:solidFill>
                <a:latin typeface="メイリオ"/>
                <a:ea typeface="メイリオ"/>
                <a:cs typeface="メイリオ"/>
              </a:rPr>
              <a:t>友だち数はプロフィールの表示</a:t>
            </a:r>
            <a:r>
              <a:rPr sz="900" b="0" dirty="0">
                <a:solidFill>
                  <a:srgbClr val="777777"/>
                </a:solidFill>
                <a:latin typeface="メイリオ"/>
                <a:ea typeface="メイリオ"/>
                <a:cs typeface="メイリオ"/>
              </a:rPr>
              <a:t>。</a:t>
            </a:r>
            <a:endParaRPr lang="en-US" sz="900" b="0" dirty="0">
              <a:solidFill>
                <a:srgbClr val="777777"/>
              </a:solidFill>
              <a:latin typeface="メイリオ"/>
              <a:ea typeface="メイリオ"/>
              <a:cs typeface="メイリオ"/>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297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各社の取り組み｜リゾートバイトダイブ</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追加の直後から毎日1通。登録 → 流れ → カウンセリング → 稼げる額の順に、不安を消して登録・相談へつなぐ。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ダイブ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ダイブ_03.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ダイブ_04.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マイページ登録のURLを最初に置き、LINEでできること（求人を探す・探してもらう・相談）を案内</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追加後の配信（毎日1通）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開始までの5ステップ → 初回カウンセリング（電話15分・履歴書不要）→ 稼げる額（平均月収 約25万円）→ 口コミ・SNS</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求人を探す／会員登録／ログイン／11月・12月開始のお仕事／よくある質問</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出典｜リゾートバイトダイブ LINE公式アカウント（2026年10月20〜24日の配信）</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6118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各社の取り組み｜リゾバ.com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追加の直後に経験の有無を聞き、1日2通、相談・タイプ別・条件別・エリア別の特集で求人へつなぐ。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バ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バ_02.jpg"/>
          <p:cNvPicPr>
            <a:picLocks noChangeAspect="1"/>
          </p:cNvPicPr>
          <p:nvPr/>
        </p:nvPicPr>
        <p:blipFill>
          <a:blip r:embed="rId3"/>
          <a:stretch>
            <a:fillRect/>
          </a:stretch>
        </p:blipFill>
        <p:spPr>
          <a:xfrm>
            <a:off x="2463088" y="1810512"/>
            <a:ext cx="1941880" cy="4206240"/>
          </a:xfrm>
          <a:prstGeom prst="rect">
            <a:avLst/>
          </a:prstGeom>
        </p:spPr>
      </p:pic>
      <p:pic>
        <p:nvPicPr>
          <p:cNvPr id="61" name="Picture 60" descr="リゾバ_05.jpg"/>
          <p:cNvPicPr>
            <a:picLocks noChangeAspect="1"/>
          </p:cNvPicPr>
          <p:nvPr/>
        </p:nvPicPr>
        <p:blipFill>
          <a:blip r:embed="rId4"/>
          <a:stretch>
            <a:fillRect/>
          </a:stretch>
        </p:blipFill>
        <p:spPr>
          <a:xfrm>
            <a:off x="4514697" y="1810512"/>
            <a:ext cx="1941880" cy="4206240"/>
          </a:xfrm>
          <a:prstGeom prst="rect">
            <a:avLst/>
          </a:prstGeom>
        </p:spPr>
      </p:pic>
      <p:sp>
        <p:nvSpPr>
          <p:cNvPr id="62" name="Rectangle 61"/>
          <p:cNvSpPr/>
          <p:nvPr/>
        </p:nvSpPr>
        <p:spPr>
          <a:xfrm>
            <a:off x="6776618" y="1810512"/>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3" name="Rectangle 62"/>
          <p:cNvSpPr/>
          <p:nvPr/>
        </p:nvSpPr>
        <p:spPr>
          <a:xfrm>
            <a:off x="6776618" y="2121408"/>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採用コーディネーターがサポートすると伝え、会員登録（まずは相談する）へ。続けて「リゾートバイト経験はありますか？」</a:t>
            </a:r>
          </a:p>
        </p:txBody>
      </p:sp>
      <p:sp>
        <p:nvSpPr>
          <p:cNvPr id="64" name="Rectangle 63"/>
          <p:cNvSpPr/>
          <p:nvPr/>
        </p:nvSpPr>
        <p:spPr>
          <a:xfrm>
            <a:off x="6776618" y="3246120"/>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追加後の配信（1日2通）</a:t>
            </a:r>
          </a:p>
        </p:txBody>
      </p:sp>
      <p:sp>
        <p:nvSpPr>
          <p:cNvPr id="65" name="Rectangle 64"/>
          <p:cNvSpPr/>
          <p:nvPr/>
        </p:nvSpPr>
        <p:spPr>
          <a:xfrm>
            <a:off x="6776618" y="3557016"/>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「話を聞いてみませんか？」／「あなたはどのタイプ？」（タイプ別の求人）／条件特集・エリア特集・レア求人</a:t>
            </a:r>
          </a:p>
        </p:txBody>
      </p:sp>
      <p:sp>
        <p:nvSpPr>
          <p:cNvPr id="66" name="Rectangle 65"/>
          <p:cNvSpPr/>
          <p:nvPr/>
        </p:nvSpPr>
        <p:spPr>
          <a:xfrm>
            <a:off x="6776618" y="4681727"/>
            <a:ext cx="2760573"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7" name="Rectangle 66"/>
          <p:cNvSpPr/>
          <p:nvPr/>
        </p:nvSpPr>
        <p:spPr>
          <a:xfrm>
            <a:off x="6776618" y="4992623"/>
            <a:ext cx="2760573"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探したい・働きたい（新着・条件検索・応募・11〜1月開始）／知りたい（はじめての方へ・体験談・特典）</a:t>
            </a:r>
          </a:p>
        </p:txBody>
      </p:sp>
      <p:sp>
        <p:nvSpPr>
          <p:cNvPr id="68" name="TextBox 67"/>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出典｜リゾバ.com LINE公式アカウント（2026年10月20〜22日の配信）</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45262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各社の取り組み｜リゾートバイト.com</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追加の直後にアンケートから始め、リッチメニューで開始月別の求人と登録へつなぐ。</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リゾートバイトcom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リゾートバイトcom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アンケート「Q1.性別を教えてください」から始める</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リッチメニュー（おしごと探し）</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リゾートバイト検索／10月・11月勤務開始／スキー場バイト／かんたんWEB登録（約50秒）</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リッチメニュー（サポートナビ）</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はじめての方へ／質問はこちら／体験談／お問い合わせ／マイページ／配信設定</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出典｜リゾートバイト.com LINE公式アカウント（2026年10月20日の画面）</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8404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各社の取り組み｜アルファリゾート</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あいさつで会員登録と初回カウンセリングの予約を案内し、担当者がチャットで相談に乗る。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アルファ_01.jpg"/>
          <p:cNvPicPr>
            <a:picLocks noChangeAspect="1"/>
          </p:cNvPicPr>
          <p:nvPr/>
        </p:nvPicPr>
        <p:blipFill>
          <a:blip r:embed="rId2"/>
          <a:stretch>
            <a:fillRect/>
          </a:stretch>
        </p:blipFill>
        <p:spPr>
          <a:xfrm>
            <a:off x="411480" y="1810512"/>
            <a:ext cx="1941880" cy="4206240"/>
          </a:xfrm>
          <a:prstGeom prst="rect">
            <a:avLst/>
          </a:prstGeom>
        </p:spPr>
      </p:pic>
      <p:pic>
        <p:nvPicPr>
          <p:cNvPr id="60" name="Picture 59" descr="アルファ_02.jpg"/>
          <p:cNvPicPr>
            <a:picLocks noChangeAspect="1"/>
          </p:cNvPicPr>
          <p:nvPr/>
        </p:nvPicPr>
        <p:blipFill>
          <a:blip r:embed="rId3"/>
          <a:stretch>
            <a:fillRect/>
          </a:stretch>
        </p:blipFill>
        <p:spPr>
          <a:xfrm>
            <a:off x="2463088" y="1810512"/>
            <a:ext cx="1941880" cy="4206240"/>
          </a:xfrm>
          <a:prstGeom prst="rect">
            <a:avLst/>
          </a:prstGeom>
        </p:spPr>
      </p:pic>
      <p:sp>
        <p:nvSpPr>
          <p:cNvPr id="61" name="Rectangle 60"/>
          <p:cNvSpPr/>
          <p:nvPr/>
        </p:nvSpPr>
        <p:spPr>
          <a:xfrm>
            <a:off x="4725009" y="1810512"/>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あいさつ</a:t>
            </a:r>
          </a:p>
        </p:txBody>
      </p:sp>
      <p:sp>
        <p:nvSpPr>
          <p:cNvPr id="62" name="Rectangle 61"/>
          <p:cNvSpPr/>
          <p:nvPr/>
        </p:nvSpPr>
        <p:spPr>
          <a:xfrm>
            <a:off x="4725009" y="2121408"/>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まずは無料で会員登録（URL）／初回カウンセリングの予約（URL・必須）／気になることは担当者が返信</a:t>
            </a:r>
          </a:p>
        </p:txBody>
      </p:sp>
      <p:sp>
        <p:nvSpPr>
          <p:cNvPr id="63" name="Rectangle 62"/>
          <p:cNvSpPr/>
          <p:nvPr/>
        </p:nvSpPr>
        <p:spPr>
          <a:xfrm>
            <a:off x="4725009" y="3246120"/>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リッチメニュー</a:t>
            </a:r>
          </a:p>
        </p:txBody>
      </p:sp>
      <p:sp>
        <p:nvSpPr>
          <p:cNvPr id="64" name="Rectangle 63"/>
          <p:cNvSpPr/>
          <p:nvPr/>
        </p:nvSpPr>
        <p:spPr>
          <a:xfrm>
            <a:off x="4725009" y="3557016"/>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マイページ ログイン／求人検索／お役立ち情報／マイページ作成／よくある質問／10月・11月スタートのお仕事</a:t>
            </a:r>
          </a:p>
        </p:txBody>
      </p:sp>
      <p:sp>
        <p:nvSpPr>
          <p:cNvPr id="65" name="Rectangle 64"/>
          <p:cNvSpPr/>
          <p:nvPr/>
        </p:nvSpPr>
        <p:spPr>
          <a:xfrm>
            <a:off x="4725009" y="4681727"/>
            <a:ext cx="4812182" cy="310896"/>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90000" tIns="0" rIns="36000" bIns="0" rtlCol="0" anchor="ctr"/>
          <a:lstStyle/>
          <a:p>
            <a:pPr algn="l">
              <a:lnSpc>
                <a:spcPct val="110000"/>
              </a:lnSpc>
              <a:spcAft>
                <a:spcPts val="0"/>
              </a:spcAft>
            </a:pPr>
            <a:r>
              <a:rPr sz="1200" b="1">
                <a:solidFill>
                  <a:srgbClr val="FFFFFF"/>
                </a:solidFill>
                <a:latin typeface="メイリオ"/>
                <a:ea typeface="メイリオ"/>
                <a:cs typeface="メイリオ"/>
              </a:rPr>
              <a:t>ねらい</a:t>
            </a:r>
          </a:p>
        </p:txBody>
      </p:sp>
      <p:sp>
        <p:nvSpPr>
          <p:cNvPr id="66" name="Rectangle 65"/>
          <p:cNvSpPr/>
          <p:nvPr/>
        </p:nvSpPr>
        <p:spPr>
          <a:xfrm>
            <a:off x="4725009" y="4992623"/>
            <a:ext cx="4812182" cy="101498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90000" tIns="36000" rIns="54000" bIns="18000" rtlCol="0" anchor="t"/>
          <a:lstStyle/>
          <a:p>
            <a:pPr algn="l">
              <a:lnSpc>
                <a:spcPct val="110000"/>
              </a:lnSpc>
              <a:spcAft>
                <a:spcPts val="200"/>
              </a:spcAft>
            </a:pPr>
            <a:r>
              <a:rPr sz="1150" b="0">
                <a:solidFill>
                  <a:srgbClr val="333333"/>
                </a:solidFill>
                <a:latin typeface="メイリオ"/>
                <a:ea typeface="メイリオ"/>
                <a:cs typeface="メイリオ"/>
              </a:rPr>
              <a:t>LINEを、登録とカウンセリングの受付の窓口にしている</a:t>
            </a:r>
          </a:p>
        </p:txBody>
      </p:sp>
      <p:sp>
        <p:nvSpPr>
          <p:cNvPr id="67" name="TextBox 66"/>
          <p:cNvSpPr txBox="1"/>
          <p:nvPr/>
        </p:nvSpPr>
        <p:spPr>
          <a:xfrm>
            <a:off x="384048" y="635508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出典｜リゾートバイトならアルファリゾート LINE公式アカウント（2026年10月20日の画面）</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31546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他社のLINE活用のまとめ</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他社は、友だち追加の直後から毎日つないでいる。リゾートバイトの集客で、LINEは必須の接点になっている。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Rectangle 58"/>
          <p:cNvSpPr/>
          <p:nvPr/>
        </p:nvSpPr>
        <p:spPr>
          <a:xfrm>
            <a:off x="384048" y="1828800"/>
            <a:ext cx="32918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他社がやっていること</a:t>
            </a:r>
          </a:p>
        </p:txBody>
      </p:sp>
      <p:sp>
        <p:nvSpPr>
          <p:cNvPr id="60" name="Rectangle 59"/>
          <p:cNvSpPr/>
          <p:nvPr/>
        </p:nvSpPr>
        <p:spPr>
          <a:xfrm>
            <a:off x="3703320" y="1828800"/>
            <a:ext cx="582472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どこがやっているか</a:t>
            </a:r>
          </a:p>
        </p:txBody>
      </p:sp>
      <p:sp>
        <p:nvSpPr>
          <p:cNvPr id="61" name="Rectangle 60"/>
          <p:cNvSpPr/>
          <p:nvPr/>
        </p:nvSpPr>
        <p:spPr>
          <a:xfrm>
            <a:off x="384048" y="2231136"/>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1. 追加の直後に、登録・相談へ誘導する</a:t>
            </a:r>
          </a:p>
        </p:txBody>
      </p:sp>
      <p:sp>
        <p:nvSpPr>
          <p:cNvPr id="62" name="Rectangle 61"/>
          <p:cNvSpPr/>
          <p:nvPr/>
        </p:nvSpPr>
        <p:spPr>
          <a:xfrm>
            <a:off x="3703320" y="2231136"/>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リゾートバイトダイブ／リゾバ.com／アルファリゾート</a:t>
            </a:r>
          </a:p>
        </p:txBody>
      </p:sp>
      <p:sp>
        <p:nvSpPr>
          <p:cNvPr id="63" name="Rectangle 62"/>
          <p:cNvSpPr/>
          <p:nvPr/>
        </p:nvSpPr>
        <p:spPr>
          <a:xfrm>
            <a:off x="384048" y="2907792"/>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2. 追加の後も、毎日配信する</a:t>
            </a:r>
          </a:p>
        </p:txBody>
      </p:sp>
      <p:sp>
        <p:nvSpPr>
          <p:cNvPr id="64" name="Rectangle 63"/>
          <p:cNvSpPr/>
          <p:nvPr/>
        </p:nvSpPr>
        <p:spPr>
          <a:xfrm>
            <a:off x="3703320" y="2907792"/>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リゾートバイトダイブ（毎日1通）／リゾバ.com（1日2通）</a:t>
            </a:r>
          </a:p>
        </p:txBody>
      </p:sp>
      <p:sp>
        <p:nvSpPr>
          <p:cNvPr id="65" name="Rectangle 64"/>
          <p:cNvSpPr/>
          <p:nvPr/>
        </p:nvSpPr>
        <p:spPr>
          <a:xfrm>
            <a:off x="384048" y="3584448"/>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3. 経験・タイプを聞き、合う求人を出し分ける</a:t>
            </a:r>
          </a:p>
        </p:txBody>
      </p:sp>
      <p:sp>
        <p:nvSpPr>
          <p:cNvPr id="66" name="Rectangle 65"/>
          <p:cNvSpPr/>
          <p:nvPr/>
        </p:nvSpPr>
        <p:spPr>
          <a:xfrm>
            <a:off x="3703320" y="3584448"/>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リゾバ.com（経験の有無・タイプ別）／リゾートバイト.com（アンケート）</a:t>
            </a:r>
          </a:p>
        </p:txBody>
      </p:sp>
      <p:sp>
        <p:nvSpPr>
          <p:cNvPr id="67" name="Rectangle 66"/>
          <p:cNvSpPr/>
          <p:nvPr/>
        </p:nvSpPr>
        <p:spPr>
          <a:xfrm>
            <a:off x="384048" y="4261104"/>
            <a:ext cx="3291840" cy="640079"/>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1">
                <a:solidFill>
                  <a:srgbClr val="1F2A5C"/>
                </a:solidFill>
                <a:latin typeface="メイリオ"/>
                <a:ea typeface="メイリオ"/>
                <a:cs typeface="メイリオ"/>
              </a:rPr>
              <a:t>4. リッチメニューに、開始月別の求人を置く</a:t>
            </a:r>
          </a:p>
        </p:txBody>
      </p:sp>
      <p:sp>
        <p:nvSpPr>
          <p:cNvPr id="68" name="Rectangle 67"/>
          <p:cNvSpPr/>
          <p:nvPr/>
        </p:nvSpPr>
        <p:spPr>
          <a:xfrm>
            <a:off x="3703320" y="4261104"/>
            <a:ext cx="5824728" cy="640079"/>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50" b="0">
                <a:solidFill>
                  <a:srgbClr val="333333"/>
                </a:solidFill>
                <a:latin typeface="メイリオ"/>
                <a:ea typeface="メイリオ"/>
                <a:cs typeface="メイリオ"/>
              </a:rPr>
              <a:t>4社とも</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2926080"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ワクトリの現状のLINE</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今の流れは、あいさつ → アンケート3問 → 翌日のENTRY → 週1回の企画配信。絵と文面は見やすく整っている。</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pic>
        <p:nvPicPr>
          <p:cNvPr id="59" name="Picture 58" descr="ワクトリ_01.jpg"/>
          <p:cNvPicPr>
            <a:picLocks noChangeAspect="1"/>
          </p:cNvPicPr>
          <p:nvPr/>
        </p:nvPicPr>
        <p:blipFill>
          <a:blip r:embed="rId2"/>
          <a:stretch>
            <a:fillRect/>
          </a:stretch>
        </p:blipFill>
        <p:spPr>
          <a:xfrm>
            <a:off x="685800" y="1783080"/>
            <a:ext cx="1393088" cy="3017520"/>
          </a:xfrm>
          <a:prstGeom prst="rect">
            <a:avLst/>
          </a:prstGeom>
        </p:spPr>
      </p:pic>
      <p:sp>
        <p:nvSpPr>
          <p:cNvPr id="60" name="TextBox 59"/>
          <p:cNvSpPr txBox="1"/>
          <p:nvPr/>
        </p:nvSpPr>
        <p:spPr>
          <a:xfrm>
            <a:off x="640079"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あいさつ</a:t>
            </a:r>
          </a:p>
        </p:txBody>
      </p:sp>
      <p:pic>
        <p:nvPicPr>
          <p:cNvPr id="61" name="Picture 60" descr="ワクトリ_02.jpg"/>
          <p:cNvPicPr>
            <a:picLocks noChangeAspect="1"/>
          </p:cNvPicPr>
          <p:nvPr/>
        </p:nvPicPr>
        <p:blipFill>
          <a:blip r:embed="rId3"/>
          <a:stretch>
            <a:fillRect/>
          </a:stretch>
        </p:blipFill>
        <p:spPr>
          <a:xfrm>
            <a:off x="2764688" y="1783080"/>
            <a:ext cx="1393088" cy="3017520"/>
          </a:xfrm>
          <a:prstGeom prst="rect">
            <a:avLst/>
          </a:prstGeom>
        </p:spPr>
      </p:pic>
      <p:sp>
        <p:nvSpPr>
          <p:cNvPr id="62" name="TextBox 61"/>
          <p:cNvSpPr txBox="1"/>
          <p:nvPr/>
        </p:nvSpPr>
        <p:spPr>
          <a:xfrm>
            <a:off x="2718968"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アンケート3問</a:t>
            </a:r>
          </a:p>
        </p:txBody>
      </p:sp>
      <p:pic>
        <p:nvPicPr>
          <p:cNvPr id="63" name="Picture 62" descr="ワクトリ_04.jpg"/>
          <p:cNvPicPr>
            <a:picLocks noChangeAspect="1"/>
          </p:cNvPicPr>
          <p:nvPr/>
        </p:nvPicPr>
        <p:blipFill>
          <a:blip r:embed="rId4"/>
          <a:stretch>
            <a:fillRect/>
          </a:stretch>
        </p:blipFill>
        <p:spPr>
          <a:xfrm>
            <a:off x="4843576" y="1783080"/>
            <a:ext cx="1393088" cy="3017520"/>
          </a:xfrm>
          <a:prstGeom prst="rect">
            <a:avLst/>
          </a:prstGeom>
        </p:spPr>
      </p:pic>
      <p:sp>
        <p:nvSpPr>
          <p:cNvPr id="64" name="TextBox 63"/>
          <p:cNvSpPr txBox="1"/>
          <p:nvPr/>
        </p:nvSpPr>
        <p:spPr>
          <a:xfrm>
            <a:off x="4797856"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翌日のENTRY</a:t>
            </a:r>
          </a:p>
        </p:txBody>
      </p:sp>
      <p:pic>
        <p:nvPicPr>
          <p:cNvPr id="65" name="Picture 64" descr="ワクトリ_07.jpg"/>
          <p:cNvPicPr>
            <a:picLocks noChangeAspect="1"/>
          </p:cNvPicPr>
          <p:nvPr/>
        </p:nvPicPr>
        <p:blipFill>
          <a:blip r:embed="rId5"/>
          <a:stretch>
            <a:fillRect/>
          </a:stretch>
        </p:blipFill>
        <p:spPr>
          <a:xfrm>
            <a:off x="6922465" y="1783080"/>
            <a:ext cx="1393088" cy="3017520"/>
          </a:xfrm>
          <a:prstGeom prst="rect">
            <a:avLst/>
          </a:prstGeom>
        </p:spPr>
      </p:pic>
      <p:sp>
        <p:nvSpPr>
          <p:cNvPr id="66" name="TextBox 65"/>
          <p:cNvSpPr txBox="1"/>
          <p:nvPr/>
        </p:nvSpPr>
        <p:spPr>
          <a:xfrm>
            <a:off x="6876745" y="4828032"/>
            <a:ext cx="1484528" cy="274320"/>
          </a:xfrm>
          <a:prstGeom prst="rect">
            <a:avLst/>
          </a:prstGeom>
          <a:noFill/>
        </p:spPr>
        <p:txBody>
          <a:bodyPr wrap="square" lIns="36000" tIns="10800" rIns="36000" bIns="10800" anchor="ctr">
            <a:spAutoFit/>
          </a:bodyPr>
          <a:lstStyle/>
          <a:p>
            <a:pPr algn="ctr">
              <a:lnSpc>
                <a:spcPct val="105000"/>
              </a:lnSpc>
              <a:spcAft>
                <a:spcPts val="200"/>
              </a:spcAft>
            </a:pPr>
            <a:r>
              <a:rPr sz="1050" b="1">
                <a:solidFill>
                  <a:srgbClr val="1F2A5C"/>
                </a:solidFill>
                <a:latin typeface="メイリオ"/>
                <a:ea typeface="メイリオ"/>
                <a:cs typeface="メイリオ"/>
              </a:rPr>
              <a:t>企画配信（毎週火曜）</a:t>
            </a:r>
          </a:p>
        </p:txBody>
      </p:sp>
      <p:sp>
        <p:nvSpPr>
          <p:cNvPr id="67" name="Rectangle 66"/>
          <p:cNvSpPr/>
          <p:nvPr/>
        </p:nvSpPr>
        <p:spPr>
          <a:xfrm>
            <a:off x="384048" y="5193792"/>
            <a:ext cx="2377440"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企画投稿の2種</a:t>
            </a:r>
          </a:p>
        </p:txBody>
      </p:sp>
      <p:sp>
        <p:nvSpPr>
          <p:cNvPr id="68" name="Rectangle 67"/>
          <p:cNvSpPr/>
          <p:nvPr/>
        </p:nvSpPr>
        <p:spPr>
          <a:xfrm>
            <a:off x="2788920" y="5193792"/>
            <a:ext cx="6739128" cy="292608"/>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69" name="Rectangle 68"/>
          <p:cNvSpPr/>
          <p:nvPr/>
        </p:nvSpPr>
        <p:spPr>
          <a:xfrm>
            <a:off x="384048" y="5522976"/>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直接応募</a:t>
            </a:r>
          </a:p>
        </p:txBody>
      </p:sp>
      <p:sp>
        <p:nvSpPr>
          <p:cNvPr id="70" name="Rectangle 69"/>
          <p:cNvSpPr/>
          <p:nvPr/>
        </p:nvSpPr>
        <p:spPr>
          <a:xfrm>
            <a:off x="2788920" y="5522976"/>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悩み3つ → 条件の特集10選 → 求人カード → 今すぐチェック</a:t>
            </a:r>
          </a:p>
        </p:txBody>
      </p:sp>
      <p:sp>
        <p:nvSpPr>
          <p:cNvPr id="71" name="Rectangle 70"/>
          <p:cNvSpPr/>
          <p:nvPr/>
        </p:nvSpPr>
        <p:spPr>
          <a:xfrm>
            <a:off x="384048" y="5925312"/>
            <a:ext cx="2377440" cy="36576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1">
                <a:solidFill>
                  <a:srgbClr val="1F2A5C"/>
                </a:solidFill>
                <a:latin typeface="メイリオ"/>
                <a:ea typeface="メイリオ"/>
                <a:cs typeface="メイリオ"/>
              </a:rPr>
              <a:t>会員登録の引き上げ</a:t>
            </a:r>
          </a:p>
        </p:txBody>
      </p:sp>
      <p:sp>
        <p:nvSpPr>
          <p:cNvPr id="72" name="Rectangle 71"/>
          <p:cNvSpPr/>
          <p:nvPr/>
        </p:nvSpPr>
        <p:spPr>
          <a:xfrm>
            <a:off x="2788920" y="5925312"/>
            <a:ext cx="6739128" cy="36576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100" b="0">
                <a:solidFill>
                  <a:srgbClr val="333333"/>
                </a:solidFill>
                <a:latin typeface="メイリオ"/>
                <a:ea typeface="メイリオ"/>
                <a:cs typeface="メイリオ"/>
              </a:rPr>
              <a:t>専属エージェントがサポート → 重視したいポイント（立地・稼げる など）→ ENTRY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これまでの運用について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これまでの運用の課題感と、これからやりたい施策を伺う。</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これまでの運用の課題感</a:t>
            </a:r>
          </a:p>
        </p:txBody>
      </p:sp>
      <p:sp>
        <p:nvSpPr>
          <p:cNvPr id="55" name="Rectangle 54"/>
          <p:cNvSpPr/>
          <p:nvPr/>
        </p:nvSpPr>
        <p:spPr>
          <a:xfrm>
            <a:off x="384048"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
        <p:nvSpPr>
          <p:cNvPr id="56" name="Rectangle 55"/>
          <p:cNvSpPr/>
          <p:nvPr/>
        </p:nvSpPr>
        <p:spPr>
          <a:xfrm>
            <a:off x="4992624" y="1828800"/>
            <a:ext cx="4535424"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これからやりたい施策</a:t>
            </a:r>
          </a:p>
        </p:txBody>
      </p:sp>
      <p:sp>
        <p:nvSpPr>
          <p:cNvPr id="57" name="Rectangle 56"/>
          <p:cNvSpPr/>
          <p:nvPr/>
        </p:nvSpPr>
        <p:spPr>
          <a:xfrm>
            <a:off x="4992624" y="2231136"/>
            <a:ext cx="4535424" cy="365760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BF2E0-298A-DE54-F38D-F332A9024833}"/>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FE01AEC-8FF5-06AC-4A88-BD6045B9E3F6}"/>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7016A7A6-DF0F-17C1-E44D-81012735C6E3}"/>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02</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FD928B8B-A353-F88C-1716-B9953B8561F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LINE</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施策全体図</a:t>
            </a:r>
          </a:p>
        </p:txBody>
      </p:sp>
      <p:cxnSp>
        <p:nvCxnSpPr>
          <p:cNvPr id="17" name="直線コネクタ 16">
            <a:extLst>
              <a:ext uri="{FF2B5EF4-FFF2-40B4-BE49-F238E27FC236}">
                <a16:creationId xmlns:a16="http://schemas.microsoft.com/office/drawing/2014/main" id="{DE9E7AD0-8EFD-8BF5-38BD-5DDFF49DC62F}"/>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0752516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AA833-D3F3-93C3-12E0-73EBD257A29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EDFC864-0FC1-906B-B68E-650BA4B41D40}"/>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F535991-533F-EFBE-4AEE-48F51BFAA70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A6CD0D3C-91C0-AC26-EA06-0D9436780C74}"/>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ユーザーファネルの考え方</a:t>
            </a:r>
            <a:endParaRPr lang="ja-JP" altLang="en-US" sz="1100" dirty="0"/>
          </a:p>
        </p:txBody>
      </p:sp>
      <p:sp>
        <p:nvSpPr>
          <p:cNvPr id="7" name="テキスト ボックス 6">
            <a:extLst>
              <a:ext uri="{FF2B5EF4-FFF2-40B4-BE49-F238E27FC236}">
                <a16:creationId xmlns:a16="http://schemas.microsoft.com/office/drawing/2014/main" id="{E2E43B61-D3D6-CF9F-215E-9E9F057C93FC}"/>
              </a:ext>
            </a:extLst>
          </p:cNvPr>
          <p:cNvSpPr txBox="1"/>
          <p:nvPr/>
        </p:nvSpPr>
        <p:spPr>
          <a:xfrm>
            <a:off x="96788" y="1202790"/>
            <a:ext cx="9687414" cy="307777"/>
          </a:xfrm>
          <a:prstGeom prst="rect">
            <a:avLst/>
          </a:prstGeom>
          <a:noFill/>
        </p:spPr>
        <p:txBody>
          <a:bodyPr wrap="square">
            <a:spAutoFit/>
          </a:bodyPr>
          <a:lstStyle/>
          <a:p>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集客・友だち追加</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から </a:t>
            </a:r>
            <a:r>
              <a:rPr lang="ja-JP" altLang="en-US" sz="14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育成・反響</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までの全体動線設計</a:t>
            </a:r>
            <a:endParaRPr lang="ja-JP" altLang="en-US" sz="1000" dirty="0"/>
          </a:p>
        </p:txBody>
      </p:sp>
      <p:sp>
        <p:nvSpPr>
          <p:cNvPr id="9" name="テキスト ボックス 8">
            <a:extLst>
              <a:ext uri="{FF2B5EF4-FFF2-40B4-BE49-F238E27FC236}">
                <a16:creationId xmlns:a16="http://schemas.microsoft.com/office/drawing/2014/main" id="{68CB1203-9B68-6A7A-DAA2-3E7F946368F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cxnSp>
        <p:nvCxnSpPr>
          <p:cNvPr id="48" name="直線コネクタ 47">
            <a:extLst>
              <a:ext uri="{FF2B5EF4-FFF2-40B4-BE49-F238E27FC236}">
                <a16:creationId xmlns:a16="http://schemas.microsoft.com/office/drawing/2014/main" id="{8D0721AE-E7E5-698E-E773-F2614C0DBB07}"/>
              </a:ext>
            </a:extLst>
          </p:cNvPr>
          <p:cNvCxnSpPr>
            <a:cxnSpLocks/>
          </p:cNvCxnSpPr>
          <p:nvPr/>
        </p:nvCxnSpPr>
        <p:spPr>
          <a:xfrm>
            <a:off x="240222" y="1892621"/>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3BFFC88E-A589-D631-D366-94F280EFF67D}"/>
              </a:ext>
            </a:extLst>
          </p:cNvPr>
          <p:cNvCxnSpPr>
            <a:cxnSpLocks/>
          </p:cNvCxnSpPr>
          <p:nvPr/>
        </p:nvCxnSpPr>
        <p:spPr>
          <a:xfrm>
            <a:off x="1600733"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D90E23BB-3076-5B7D-82F3-8433A2B09D1F}"/>
              </a:ext>
            </a:extLst>
          </p:cNvPr>
          <p:cNvCxnSpPr>
            <a:cxnSpLocks/>
          </p:cNvCxnSpPr>
          <p:nvPr/>
        </p:nvCxnSpPr>
        <p:spPr>
          <a:xfrm>
            <a:off x="2773855" y="1904263"/>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2" name="直線コネクタ 51">
            <a:extLst>
              <a:ext uri="{FF2B5EF4-FFF2-40B4-BE49-F238E27FC236}">
                <a16:creationId xmlns:a16="http://schemas.microsoft.com/office/drawing/2014/main" id="{6558815C-4A36-8DFA-3258-ADAC642B44B6}"/>
              </a:ext>
            </a:extLst>
          </p:cNvPr>
          <p:cNvCxnSpPr>
            <a:cxnSpLocks/>
          </p:cNvCxnSpPr>
          <p:nvPr/>
        </p:nvCxnSpPr>
        <p:spPr>
          <a:xfrm>
            <a:off x="3936993" y="1892621"/>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9B24DBF0-6A3A-0783-C6E3-74B28D837D9E}"/>
              </a:ext>
            </a:extLst>
          </p:cNvPr>
          <p:cNvCxnSpPr>
            <a:cxnSpLocks/>
          </p:cNvCxnSpPr>
          <p:nvPr/>
        </p:nvCxnSpPr>
        <p:spPr>
          <a:xfrm>
            <a:off x="5079515" y="194096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4" name="直線コネクタ 53">
            <a:extLst>
              <a:ext uri="{FF2B5EF4-FFF2-40B4-BE49-F238E27FC236}">
                <a16:creationId xmlns:a16="http://schemas.microsoft.com/office/drawing/2014/main" id="{D9F92929-7F37-647E-2D3E-0EB84FFB20D1}"/>
              </a:ext>
            </a:extLst>
          </p:cNvPr>
          <p:cNvCxnSpPr>
            <a:cxnSpLocks/>
          </p:cNvCxnSpPr>
          <p:nvPr/>
        </p:nvCxnSpPr>
        <p:spPr>
          <a:xfrm>
            <a:off x="6233170" y="1911584"/>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55" name="直線コネクタ 54">
            <a:extLst>
              <a:ext uri="{FF2B5EF4-FFF2-40B4-BE49-F238E27FC236}">
                <a16:creationId xmlns:a16="http://schemas.microsoft.com/office/drawing/2014/main" id="{A53FD7B1-4120-4E04-0DDF-B4B54EDB9BFD}"/>
              </a:ext>
            </a:extLst>
          </p:cNvPr>
          <p:cNvCxnSpPr>
            <a:cxnSpLocks/>
          </p:cNvCxnSpPr>
          <p:nvPr/>
        </p:nvCxnSpPr>
        <p:spPr>
          <a:xfrm>
            <a:off x="7398333" y="190184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4" name="直線コネクタ 113">
            <a:extLst>
              <a:ext uri="{FF2B5EF4-FFF2-40B4-BE49-F238E27FC236}">
                <a16:creationId xmlns:a16="http://schemas.microsoft.com/office/drawing/2014/main" id="{565A72C8-45FF-A070-3E5F-46A3A7352507}"/>
              </a:ext>
            </a:extLst>
          </p:cNvPr>
          <p:cNvCxnSpPr>
            <a:cxnSpLocks/>
          </p:cNvCxnSpPr>
          <p:nvPr/>
        </p:nvCxnSpPr>
        <p:spPr>
          <a:xfrm>
            <a:off x="9719357" y="2048213"/>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311" name="直線コネクタ 310">
            <a:extLst>
              <a:ext uri="{FF2B5EF4-FFF2-40B4-BE49-F238E27FC236}">
                <a16:creationId xmlns:a16="http://schemas.microsoft.com/office/drawing/2014/main" id="{490BDABD-2035-40BF-A521-7BBCDAFC6FFE}"/>
              </a:ext>
            </a:extLst>
          </p:cNvPr>
          <p:cNvCxnSpPr>
            <a:cxnSpLocks/>
          </p:cNvCxnSpPr>
          <p:nvPr/>
        </p:nvCxnSpPr>
        <p:spPr>
          <a:xfrm>
            <a:off x="8549009" y="2036711"/>
            <a:ext cx="0" cy="4154701"/>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pic>
        <p:nvPicPr>
          <p:cNvPr id="345" name="図 344">
            <a:extLst>
              <a:ext uri="{FF2B5EF4-FFF2-40B4-BE49-F238E27FC236}">
                <a16:creationId xmlns:a16="http://schemas.microsoft.com/office/drawing/2014/main" id="{89F7A10B-75A8-6EC6-A69F-413DDACCFE56}"/>
              </a:ext>
            </a:extLst>
          </p:cNvPr>
          <p:cNvPicPr>
            <a:picLocks noChangeAspect="1"/>
          </p:cNvPicPr>
          <p:nvPr/>
        </p:nvPicPr>
        <p:blipFill>
          <a:blip r:embed="rId2"/>
          <a:stretch>
            <a:fillRect/>
          </a:stretch>
        </p:blipFill>
        <p:spPr>
          <a:xfrm>
            <a:off x="117307" y="1707348"/>
            <a:ext cx="9666895" cy="952587"/>
          </a:xfrm>
          <a:prstGeom prst="rect">
            <a:avLst/>
          </a:prstGeom>
        </p:spPr>
      </p:pic>
      <p:sp>
        <p:nvSpPr>
          <p:cNvPr id="348" name="Pentagon 10">
            <a:extLst>
              <a:ext uri="{FF2B5EF4-FFF2-40B4-BE49-F238E27FC236}">
                <a16:creationId xmlns:a16="http://schemas.microsoft.com/office/drawing/2014/main" id="{D60CF545-0B19-2223-E0F6-EE6FBF96A846}"/>
              </a:ext>
            </a:extLst>
          </p:cNvPr>
          <p:cNvSpPr/>
          <p:nvPr/>
        </p:nvSpPr>
        <p:spPr>
          <a:xfrm>
            <a:off x="240491" y="1840092"/>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349" name="Chevron 11">
            <a:extLst>
              <a:ext uri="{FF2B5EF4-FFF2-40B4-BE49-F238E27FC236}">
                <a16:creationId xmlns:a16="http://schemas.microsoft.com/office/drawing/2014/main" id="{6D6E4BCF-267F-981F-EDFF-6E6633C27F06}"/>
              </a:ext>
            </a:extLst>
          </p:cNvPr>
          <p:cNvSpPr/>
          <p:nvPr/>
        </p:nvSpPr>
        <p:spPr>
          <a:xfrm>
            <a:off x="127714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0" name="Chevron 12">
            <a:extLst>
              <a:ext uri="{FF2B5EF4-FFF2-40B4-BE49-F238E27FC236}">
                <a16:creationId xmlns:a16="http://schemas.microsoft.com/office/drawing/2014/main" id="{EC978F15-CE92-BED7-7057-8873621D3985}"/>
              </a:ext>
            </a:extLst>
          </p:cNvPr>
          <p:cNvSpPr/>
          <p:nvPr/>
        </p:nvSpPr>
        <p:spPr>
          <a:xfrm>
            <a:off x="359706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1" name="Chevron 13">
            <a:extLst>
              <a:ext uri="{FF2B5EF4-FFF2-40B4-BE49-F238E27FC236}">
                <a16:creationId xmlns:a16="http://schemas.microsoft.com/office/drawing/2014/main" id="{326837EC-FB23-5C3F-80BE-2EB4C32996AB}"/>
              </a:ext>
            </a:extLst>
          </p:cNvPr>
          <p:cNvSpPr/>
          <p:nvPr/>
        </p:nvSpPr>
        <p:spPr>
          <a:xfrm>
            <a:off x="7076940"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2" name="Chevron 11">
            <a:extLst>
              <a:ext uri="{FF2B5EF4-FFF2-40B4-BE49-F238E27FC236}">
                <a16:creationId xmlns:a16="http://schemas.microsoft.com/office/drawing/2014/main" id="{F00C946B-3DA8-CABA-0BC5-3A47F04D04EB}"/>
              </a:ext>
            </a:extLst>
          </p:cNvPr>
          <p:cNvSpPr/>
          <p:nvPr/>
        </p:nvSpPr>
        <p:spPr>
          <a:xfrm>
            <a:off x="2437100" y="1840092"/>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3" name="Chevron 12">
            <a:extLst>
              <a:ext uri="{FF2B5EF4-FFF2-40B4-BE49-F238E27FC236}">
                <a16:creationId xmlns:a16="http://schemas.microsoft.com/office/drawing/2014/main" id="{4734BA7D-D5B4-15DE-E6B2-03A372158F7F}"/>
              </a:ext>
            </a:extLst>
          </p:cNvPr>
          <p:cNvSpPr/>
          <p:nvPr/>
        </p:nvSpPr>
        <p:spPr>
          <a:xfrm>
            <a:off x="591698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4" name="Chevron 11">
            <a:extLst>
              <a:ext uri="{FF2B5EF4-FFF2-40B4-BE49-F238E27FC236}">
                <a16:creationId xmlns:a16="http://schemas.microsoft.com/office/drawing/2014/main" id="{394E8B7C-CBBB-1A12-4306-5A441E1EEA9D}"/>
              </a:ext>
            </a:extLst>
          </p:cNvPr>
          <p:cNvSpPr/>
          <p:nvPr/>
        </p:nvSpPr>
        <p:spPr>
          <a:xfrm>
            <a:off x="4757020" y="1840092"/>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5" name="Chevron 13">
            <a:extLst>
              <a:ext uri="{FF2B5EF4-FFF2-40B4-BE49-F238E27FC236}">
                <a16:creationId xmlns:a16="http://schemas.microsoft.com/office/drawing/2014/main" id="{EB635053-C38A-55EE-802F-AC6DA46611CC}"/>
              </a:ext>
            </a:extLst>
          </p:cNvPr>
          <p:cNvSpPr/>
          <p:nvPr/>
        </p:nvSpPr>
        <p:spPr>
          <a:xfrm>
            <a:off x="8236902" y="1840092"/>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56" name="テキスト ボックス 355">
            <a:extLst>
              <a:ext uri="{FF2B5EF4-FFF2-40B4-BE49-F238E27FC236}">
                <a16:creationId xmlns:a16="http://schemas.microsoft.com/office/drawing/2014/main" id="{473AD700-DED1-D270-A19A-6794676F7FBF}"/>
              </a:ext>
            </a:extLst>
          </p:cNvPr>
          <p:cNvSpPr txBox="1"/>
          <p:nvPr/>
        </p:nvSpPr>
        <p:spPr>
          <a:xfrm>
            <a:off x="1594177"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57" name="テキスト ボックス 356">
            <a:extLst>
              <a:ext uri="{FF2B5EF4-FFF2-40B4-BE49-F238E27FC236}">
                <a16:creationId xmlns:a16="http://schemas.microsoft.com/office/drawing/2014/main" id="{8D0682B5-5691-0BAD-1DEA-C5B42E971AE4}"/>
              </a:ext>
            </a:extLst>
          </p:cNvPr>
          <p:cNvSpPr txBox="1"/>
          <p:nvPr/>
        </p:nvSpPr>
        <p:spPr>
          <a:xfrm>
            <a:off x="2765459"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58" name="テキスト ボックス 357">
            <a:extLst>
              <a:ext uri="{FF2B5EF4-FFF2-40B4-BE49-F238E27FC236}">
                <a16:creationId xmlns:a16="http://schemas.microsoft.com/office/drawing/2014/main" id="{58A1D426-1AFD-A9B8-69FC-8C2417EF20DC}"/>
              </a:ext>
            </a:extLst>
          </p:cNvPr>
          <p:cNvSpPr txBox="1"/>
          <p:nvPr/>
        </p:nvSpPr>
        <p:spPr>
          <a:xfrm>
            <a:off x="422895" y="2075045"/>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359" name="テキスト ボックス 358">
            <a:extLst>
              <a:ext uri="{FF2B5EF4-FFF2-40B4-BE49-F238E27FC236}">
                <a16:creationId xmlns:a16="http://schemas.microsoft.com/office/drawing/2014/main" id="{805EA854-7800-18C4-DB2F-0B1684AFD649}"/>
              </a:ext>
            </a:extLst>
          </p:cNvPr>
          <p:cNvSpPr txBox="1"/>
          <p:nvPr/>
        </p:nvSpPr>
        <p:spPr>
          <a:xfrm>
            <a:off x="7398333" y="2075045"/>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360" name="テキスト ボックス 359">
            <a:extLst>
              <a:ext uri="{FF2B5EF4-FFF2-40B4-BE49-F238E27FC236}">
                <a16:creationId xmlns:a16="http://schemas.microsoft.com/office/drawing/2014/main" id="{1DCB6D4B-003C-2B81-10F1-B8085D0EF871}"/>
              </a:ext>
            </a:extLst>
          </p:cNvPr>
          <p:cNvSpPr txBox="1"/>
          <p:nvPr/>
        </p:nvSpPr>
        <p:spPr>
          <a:xfrm>
            <a:off x="3936741" y="1990408"/>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361" name="テキスト ボックス 360">
            <a:extLst>
              <a:ext uri="{FF2B5EF4-FFF2-40B4-BE49-F238E27FC236}">
                <a16:creationId xmlns:a16="http://schemas.microsoft.com/office/drawing/2014/main" id="{5694FDD1-6764-7963-230E-B55B3C5E6AE8}"/>
              </a:ext>
            </a:extLst>
          </p:cNvPr>
          <p:cNvSpPr txBox="1"/>
          <p:nvPr/>
        </p:nvSpPr>
        <p:spPr>
          <a:xfrm>
            <a:off x="5108023" y="1990407"/>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362" name="テキスト ボックス 361">
            <a:extLst>
              <a:ext uri="{FF2B5EF4-FFF2-40B4-BE49-F238E27FC236}">
                <a16:creationId xmlns:a16="http://schemas.microsoft.com/office/drawing/2014/main" id="{4FFDA1D0-E62A-A391-F7C2-2B8A8B4FAC30}"/>
              </a:ext>
            </a:extLst>
          </p:cNvPr>
          <p:cNvSpPr txBox="1"/>
          <p:nvPr/>
        </p:nvSpPr>
        <p:spPr>
          <a:xfrm>
            <a:off x="6279305" y="199040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363" name="テキスト ボックス 362">
            <a:extLst>
              <a:ext uri="{FF2B5EF4-FFF2-40B4-BE49-F238E27FC236}">
                <a16:creationId xmlns:a16="http://schemas.microsoft.com/office/drawing/2014/main" id="{950238DC-BC8D-67A5-9664-2467CA1CCC24}"/>
              </a:ext>
            </a:extLst>
          </p:cNvPr>
          <p:cNvSpPr txBox="1"/>
          <p:nvPr/>
        </p:nvSpPr>
        <p:spPr>
          <a:xfrm>
            <a:off x="8565884" y="1990407"/>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92" name="正方形/長方形 391">
            <a:extLst>
              <a:ext uri="{FF2B5EF4-FFF2-40B4-BE49-F238E27FC236}">
                <a16:creationId xmlns:a16="http://schemas.microsoft.com/office/drawing/2014/main" id="{F2695BAE-49A0-C99D-85EB-9666DE14C4B0}"/>
              </a:ext>
            </a:extLst>
          </p:cNvPr>
          <p:cNvSpPr/>
          <p:nvPr/>
        </p:nvSpPr>
        <p:spPr>
          <a:xfrm>
            <a:off x="134519" y="2643132"/>
            <a:ext cx="9687414"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399" name="正方形/長方形 398">
            <a:extLst>
              <a:ext uri="{FF2B5EF4-FFF2-40B4-BE49-F238E27FC236}">
                <a16:creationId xmlns:a16="http://schemas.microsoft.com/office/drawing/2014/main" id="{0D7E2DB9-3642-9C9A-E851-E5DD52315F1D}"/>
              </a:ext>
            </a:extLst>
          </p:cNvPr>
          <p:cNvSpPr/>
          <p:nvPr/>
        </p:nvSpPr>
        <p:spPr>
          <a:xfrm>
            <a:off x="2646720" y="4590888"/>
            <a:ext cx="7175212" cy="1895567"/>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cxnSp>
        <p:nvCxnSpPr>
          <p:cNvPr id="428" name="直線矢印コネクタ 427">
            <a:extLst>
              <a:ext uri="{FF2B5EF4-FFF2-40B4-BE49-F238E27FC236}">
                <a16:creationId xmlns:a16="http://schemas.microsoft.com/office/drawing/2014/main" id="{4DD36FC2-6468-F5B5-EFB8-BBFB2CF7F452}"/>
              </a:ext>
            </a:extLst>
          </p:cNvPr>
          <p:cNvCxnSpPr>
            <a:cxnSpLocks/>
          </p:cNvCxnSpPr>
          <p:nvPr/>
        </p:nvCxnSpPr>
        <p:spPr>
          <a:xfrm>
            <a:off x="3366878" y="37501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9" name="テキスト ボックス 428">
            <a:extLst>
              <a:ext uri="{FF2B5EF4-FFF2-40B4-BE49-F238E27FC236}">
                <a16:creationId xmlns:a16="http://schemas.microsoft.com/office/drawing/2014/main" id="{52205788-B1CC-5FF9-ED78-B6DD32267E17}"/>
              </a:ext>
            </a:extLst>
          </p:cNvPr>
          <p:cNvSpPr txBox="1"/>
          <p:nvPr/>
        </p:nvSpPr>
        <p:spPr>
          <a:xfrm>
            <a:off x="3735917" y="36163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0" name="直線矢印コネクタ 429">
            <a:extLst>
              <a:ext uri="{FF2B5EF4-FFF2-40B4-BE49-F238E27FC236}">
                <a16:creationId xmlns:a16="http://schemas.microsoft.com/office/drawing/2014/main" id="{923E43E2-8157-8C38-4A7C-C186793E6650}"/>
              </a:ext>
            </a:extLst>
          </p:cNvPr>
          <p:cNvCxnSpPr>
            <a:cxnSpLocks/>
          </p:cNvCxnSpPr>
          <p:nvPr/>
        </p:nvCxnSpPr>
        <p:spPr>
          <a:xfrm>
            <a:off x="3366878" y="400340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1" name="テキスト ボックス 430">
            <a:extLst>
              <a:ext uri="{FF2B5EF4-FFF2-40B4-BE49-F238E27FC236}">
                <a16:creationId xmlns:a16="http://schemas.microsoft.com/office/drawing/2014/main" id="{9B46B511-7630-9D21-552D-BAD1DCEC8387}"/>
              </a:ext>
            </a:extLst>
          </p:cNvPr>
          <p:cNvSpPr txBox="1"/>
          <p:nvPr/>
        </p:nvSpPr>
        <p:spPr>
          <a:xfrm>
            <a:off x="3735917" y="3869624"/>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32" name="直線矢印コネクタ 431">
            <a:extLst>
              <a:ext uri="{FF2B5EF4-FFF2-40B4-BE49-F238E27FC236}">
                <a16:creationId xmlns:a16="http://schemas.microsoft.com/office/drawing/2014/main" id="{64D8562C-014D-DFB4-2D01-7479448659D1}"/>
              </a:ext>
            </a:extLst>
          </p:cNvPr>
          <p:cNvCxnSpPr>
            <a:cxnSpLocks/>
          </p:cNvCxnSpPr>
          <p:nvPr/>
        </p:nvCxnSpPr>
        <p:spPr>
          <a:xfrm>
            <a:off x="1275980" y="3570877"/>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3" name="テキスト ボックス 432">
            <a:extLst>
              <a:ext uri="{FF2B5EF4-FFF2-40B4-BE49-F238E27FC236}">
                <a16:creationId xmlns:a16="http://schemas.microsoft.com/office/drawing/2014/main" id="{540E1D19-5457-9319-2789-430F63EC5A42}"/>
              </a:ext>
            </a:extLst>
          </p:cNvPr>
          <p:cNvSpPr txBox="1"/>
          <p:nvPr/>
        </p:nvSpPr>
        <p:spPr>
          <a:xfrm>
            <a:off x="1645019" y="3437093"/>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34" name="直線矢印コネクタ 433">
            <a:extLst>
              <a:ext uri="{FF2B5EF4-FFF2-40B4-BE49-F238E27FC236}">
                <a16:creationId xmlns:a16="http://schemas.microsoft.com/office/drawing/2014/main" id="{490155E9-25FB-3090-382A-CA0B7F87F965}"/>
              </a:ext>
            </a:extLst>
          </p:cNvPr>
          <p:cNvCxnSpPr>
            <a:cxnSpLocks/>
          </p:cNvCxnSpPr>
          <p:nvPr/>
        </p:nvCxnSpPr>
        <p:spPr>
          <a:xfrm>
            <a:off x="1275980" y="380202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5" name="テキスト ボックス 434">
            <a:extLst>
              <a:ext uri="{FF2B5EF4-FFF2-40B4-BE49-F238E27FC236}">
                <a16:creationId xmlns:a16="http://schemas.microsoft.com/office/drawing/2014/main" id="{08D35021-E114-E4DF-FF22-BF7BE0CDF4D8}"/>
              </a:ext>
            </a:extLst>
          </p:cNvPr>
          <p:cNvSpPr txBox="1"/>
          <p:nvPr/>
        </p:nvSpPr>
        <p:spPr>
          <a:xfrm>
            <a:off x="1645019" y="3668238"/>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rPr>
              <a:t>サイト動線の整備</a:t>
            </a:r>
          </a:p>
        </p:txBody>
      </p:sp>
      <p:cxnSp>
        <p:nvCxnSpPr>
          <p:cNvPr id="436" name="直線矢印コネクタ 435">
            <a:extLst>
              <a:ext uri="{FF2B5EF4-FFF2-40B4-BE49-F238E27FC236}">
                <a16:creationId xmlns:a16="http://schemas.microsoft.com/office/drawing/2014/main" id="{6840C346-E790-A413-26C5-79129D6F5FB7}"/>
              </a:ext>
            </a:extLst>
          </p:cNvPr>
          <p:cNvCxnSpPr>
            <a:cxnSpLocks/>
          </p:cNvCxnSpPr>
          <p:nvPr/>
        </p:nvCxnSpPr>
        <p:spPr>
          <a:xfrm>
            <a:off x="3825040" y="34398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7" name="テキスト ボックス 436">
            <a:extLst>
              <a:ext uri="{FF2B5EF4-FFF2-40B4-BE49-F238E27FC236}">
                <a16:creationId xmlns:a16="http://schemas.microsoft.com/office/drawing/2014/main" id="{715CC99E-9A08-159E-0120-31020FC33D0F}"/>
              </a:ext>
            </a:extLst>
          </p:cNvPr>
          <p:cNvSpPr txBox="1"/>
          <p:nvPr/>
        </p:nvSpPr>
        <p:spPr>
          <a:xfrm>
            <a:off x="4194079" y="330607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既存リストの活用</a:t>
            </a:r>
            <a:endParaRPr lang="en-US" altLang="ja-JP" sz="900" b="1" dirty="0">
              <a:latin typeface="メイリオ" panose="020B0604030504040204" pitchFamily="50" charset="-128"/>
              <a:ea typeface="メイリオ" panose="020B0604030504040204" pitchFamily="50" charset="-128"/>
              <a:cs typeface="Meiryo"/>
              <a:sym typeface="Meiryo"/>
            </a:endParaRPr>
          </a:p>
        </p:txBody>
      </p:sp>
      <p:cxnSp>
        <p:nvCxnSpPr>
          <p:cNvPr id="438" name="直線矢印コネクタ 437">
            <a:extLst>
              <a:ext uri="{FF2B5EF4-FFF2-40B4-BE49-F238E27FC236}">
                <a16:creationId xmlns:a16="http://schemas.microsoft.com/office/drawing/2014/main" id="{C26FDFF8-ECDB-0D20-5A53-4F74EF6D93F8}"/>
              </a:ext>
            </a:extLst>
          </p:cNvPr>
          <p:cNvCxnSpPr>
            <a:cxnSpLocks/>
          </p:cNvCxnSpPr>
          <p:nvPr/>
        </p:nvCxnSpPr>
        <p:spPr>
          <a:xfrm>
            <a:off x="5418772" y="374623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39" name="テキスト ボックス 438">
            <a:extLst>
              <a:ext uri="{FF2B5EF4-FFF2-40B4-BE49-F238E27FC236}">
                <a16:creationId xmlns:a16="http://schemas.microsoft.com/office/drawing/2014/main" id="{03517788-8A00-3CE9-B8A0-DC9904CB9E29}"/>
              </a:ext>
            </a:extLst>
          </p:cNvPr>
          <p:cNvSpPr txBox="1"/>
          <p:nvPr/>
        </p:nvSpPr>
        <p:spPr>
          <a:xfrm>
            <a:off x="5787811" y="3612455"/>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通知メッセージ</a:t>
            </a:r>
            <a:endParaRPr lang="ja-JP" altLang="en-US" sz="900" b="1" dirty="0"/>
          </a:p>
        </p:txBody>
      </p:sp>
      <p:cxnSp>
        <p:nvCxnSpPr>
          <p:cNvPr id="440" name="直線矢印コネクタ 439">
            <a:extLst>
              <a:ext uri="{FF2B5EF4-FFF2-40B4-BE49-F238E27FC236}">
                <a16:creationId xmlns:a16="http://schemas.microsoft.com/office/drawing/2014/main" id="{8A08B47D-236B-D58F-E880-0E520352BC81}"/>
              </a:ext>
            </a:extLst>
          </p:cNvPr>
          <p:cNvCxnSpPr>
            <a:cxnSpLocks/>
          </p:cNvCxnSpPr>
          <p:nvPr/>
        </p:nvCxnSpPr>
        <p:spPr>
          <a:xfrm>
            <a:off x="5418772" y="4009075"/>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1" name="テキスト ボックス 440">
            <a:extLst>
              <a:ext uri="{FF2B5EF4-FFF2-40B4-BE49-F238E27FC236}">
                <a16:creationId xmlns:a16="http://schemas.microsoft.com/office/drawing/2014/main" id="{8376E216-AB77-BC34-74BE-9C14746155C3}"/>
              </a:ext>
            </a:extLst>
          </p:cNvPr>
          <p:cNvSpPr txBox="1"/>
          <p:nvPr/>
        </p:nvSpPr>
        <p:spPr>
          <a:xfrm>
            <a:off x="5787811" y="3875291"/>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サンクス</a:t>
            </a:r>
            <a:r>
              <a:rPr lang="en-US" altLang="ja-JP" sz="900" b="1" dirty="0">
                <a:latin typeface="メイリオ" panose="020B0604030504040204" pitchFamily="50" charset="-128"/>
                <a:ea typeface="メイリオ" panose="020B0604030504040204" pitchFamily="50" charset="-128"/>
                <a:cs typeface="Meiryo"/>
                <a:sym typeface="Meiryo"/>
              </a:rPr>
              <a:t>LINE</a:t>
            </a:r>
            <a:r>
              <a:rPr lang="ja-JP" altLang="en-US" sz="900" b="1" dirty="0">
                <a:latin typeface="メイリオ" panose="020B0604030504040204" pitchFamily="50" charset="-128"/>
                <a:ea typeface="メイリオ" panose="020B0604030504040204" pitchFamily="50" charset="-128"/>
                <a:cs typeface="Meiryo"/>
                <a:sym typeface="Meiryo"/>
              </a:rPr>
              <a:t>誘導</a:t>
            </a:r>
            <a:endParaRPr lang="ja-JP" altLang="en-US" sz="900" b="1" dirty="0"/>
          </a:p>
        </p:txBody>
      </p:sp>
      <p:cxnSp>
        <p:nvCxnSpPr>
          <p:cNvPr id="442" name="直線矢印コネクタ 441">
            <a:extLst>
              <a:ext uri="{FF2B5EF4-FFF2-40B4-BE49-F238E27FC236}">
                <a16:creationId xmlns:a16="http://schemas.microsoft.com/office/drawing/2014/main" id="{D6F7AD1E-A403-6C2E-4207-BA25C2D7BCC6}"/>
              </a:ext>
            </a:extLst>
          </p:cNvPr>
          <p:cNvCxnSpPr>
            <a:cxnSpLocks/>
          </p:cNvCxnSpPr>
          <p:nvPr/>
        </p:nvCxnSpPr>
        <p:spPr>
          <a:xfrm>
            <a:off x="675354" y="4048370"/>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3" name="テキスト ボックス 442">
            <a:extLst>
              <a:ext uri="{FF2B5EF4-FFF2-40B4-BE49-F238E27FC236}">
                <a16:creationId xmlns:a16="http://schemas.microsoft.com/office/drawing/2014/main" id="{7D798DBD-5393-6131-8034-EC789105D05B}"/>
              </a:ext>
            </a:extLst>
          </p:cNvPr>
          <p:cNvSpPr txBox="1"/>
          <p:nvPr/>
        </p:nvSpPr>
        <p:spPr>
          <a:xfrm>
            <a:off x="908229" y="3944309"/>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メルマガ</a:t>
            </a:r>
            <a:endParaRPr lang="ja-JP" altLang="en-US" sz="900" dirty="0">
              <a:solidFill>
                <a:schemeClr val="tx1">
                  <a:lumMod val="50000"/>
                  <a:lumOff val="50000"/>
                </a:schemeClr>
              </a:solidFill>
            </a:endParaRPr>
          </a:p>
        </p:txBody>
      </p:sp>
      <p:cxnSp>
        <p:nvCxnSpPr>
          <p:cNvPr id="444" name="直線矢印コネクタ 443">
            <a:extLst>
              <a:ext uri="{FF2B5EF4-FFF2-40B4-BE49-F238E27FC236}">
                <a16:creationId xmlns:a16="http://schemas.microsoft.com/office/drawing/2014/main" id="{527AED14-C910-4D3E-987F-EA62ABD18D90}"/>
              </a:ext>
            </a:extLst>
          </p:cNvPr>
          <p:cNvCxnSpPr>
            <a:cxnSpLocks/>
          </p:cNvCxnSpPr>
          <p:nvPr/>
        </p:nvCxnSpPr>
        <p:spPr>
          <a:xfrm>
            <a:off x="672248" y="431511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5" name="テキスト ボックス 444">
            <a:extLst>
              <a:ext uri="{FF2B5EF4-FFF2-40B4-BE49-F238E27FC236}">
                <a16:creationId xmlns:a16="http://schemas.microsoft.com/office/drawing/2014/main" id="{9644DD32-D05B-DE83-7791-37895274BDE9}"/>
              </a:ext>
            </a:extLst>
          </p:cNvPr>
          <p:cNvSpPr txBox="1"/>
          <p:nvPr/>
        </p:nvSpPr>
        <p:spPr>
          <a:xfrm>
            <a:off x="894117" y="4203750"/>
            <a:ext cx="1117086" cy="231238"/>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店内ポップ・チラシ</a:t>
            </a:r>
            <a:endParaRPr lang="ja-JP" altLang="en-US" sz="800" dirty="0">
              <a:solidFill>
                <a:schemeClr val="tx1">
                  <a:lumMod val="50000"/>
                  <a:lumOff val="50000"/>
                </a:schemeClr>
              </a:solidFill>
            </a:endParaRPr>
          </a:p>
        </p:txBody>
      </p:sp>
      <p:cxnSp>
        <p:nvCxnSpPr>
          <p:cNvPr id="446" name="直線矢印コネクタ 445">
            <a:extLst>
              <a:ext uri="{FF2B5EF4-FFF2-40B4-BE49-F238E27FC236}">
                <a16:creationId xmlns:a16="http://schemas.microsoft.com/office/drawing/2014/main" id="{D3D532EE-6712-DE63-E452-E8BEAA167260}"/>
              </a:ext>
            </a:extLst>
          </p:cNvPr>
          <p:cNvCxnSpPr>
            <a:cxnSpLocks/>
          </p:cNvCxnSpPr>
          <p:nvPr/>
        </p:nvCxnSpPr>
        <p:spPr>
          <a:xfrm>
            <a:off x="7458966" y="3862297"/>
            <a:ext cx="2184020"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7" name="テキスト ボックス 446">
            <a:extLst>
              <a:ext uri="{FF2B5EF4-FFF2-40B4-BE49-F238E27FC236}">
                <a16:creationId xmlns:a16="http://schemas.microsoft.com/office/drawing/2014/main" id="{DCDD6E46-B8C3-8536-41F9-F39EB73CBD24}"/>
              </a:ext>
            </a:extLst>
          </p:cNvPr>
          <p:cNvSpPr txBox="1"/>
          <p:nvPr/>
        </p:nvSpPr>
        <p:spPr>
          <a:xfrm>
            <a:off x="8013302" y="3728513"/>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ID</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en-US" altLang="ja-JP"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CRM</a:t>
            </a: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連携</a:t>
            </a:r>
            <a:endParaRPr lang="ja-JP" altLang="en-US" sz="900" b="1" dirty="0">
              <a:solidFill>
                <a:schemeClr val="tx1">
                  <a:lumMod val="50000"/>
                  <a:lumOff val="50000"/>
                </a:schemeClr>
              </a:solidFill>
            </a:endParaRPr>
          </a:p>
        </p:txBody>
      </p:sp>
      <p:cxnSp>
        <p:nvCxnSpPr>
          <p:cNvPr id="448" name="直線矢印コネクタ 447">
            <a:extLst>
              <a:ext uri="{FF2B5EF4-FFF2-40B4-BE49-F238E27FC236}">
                <a16:creationId xmlns:a16="http://schemas.microsoft.com/office/drawing/2014/main" id="{B94F8848-87A6-4A24-C2DE-D4A5BD2787D7}"/>
              </a:ext>
            </a:extLst>
          </p:cNvPr>
          <p:cNvCxnSpPr>
            <a:cxnSpLocks/>
          </p:cNvCxnSpPr>
          <p:nvPr/>
        </p:nvCxnSpPr>
        <p:spPr>
          <a:xfrm>
            <a:off x="313007" y="3382504"/>
            <a:ext cx="124270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9" name="テキスト ボックス 448">
            <a:extLst>
              <a:ext uri="{FF2B5EF4-FFF2-40B4-BE49-F238E27FC236}">
                <a16:creationId xmlns:a16="http://schemas.microsoft.com/office/drawing/2014/main" id="{88C02960-866B-6E8C-A752-2889BC37BC11}"/>
              </a:ext>
            </a:extLst>
          </p:cNvPr>
          <p:cNvSpPr txBox="1"/>
          <p:nvPr/>
        </p:nvSpPr>
        <p:spPr>
          <a:xfrm>
            <a:off x="588964" y="3278443"/>
            <a:ext cx="747951"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CPF</a:t>
            </a:r>
            <a:r>
              <a:rPr lang="ja-JP" altLang="en-US" sz="900" b="1" dirty="0">
                <a:latin typeface="メイリオ" panose="020B0604030504040204" pitchFamily="50" charset="-128"/>
                <a:ea typeface="メイリオ" panose="020B0604030504040204" pitchFamily="50" charset="-128"/>
                <a:cs typeface="Meiryo"/>
                <a:sym typeface="Meiryo"/>
              </a:rPr>
              <a:t>広告</a:t>
            </a:r>
            <a:endParaRPr lang="ja-JP" altLang="en-US" sz="900" b="1" dirty="0"/>
          </a:p>
        </p:txBody>
      </p:sp>
      <p:cxnSp>
        <p:nvCxnSpPr>
          <p:cNvPr id="450" name="直線矢印コネクタ 449">
            <a:extLst>
              <a:ext uri="{FF2B5EF4-FFF2-40B4-BE49-F238E27FC236}">
                <a16:creationId xmlns:a16="http://schemas.microsoft.com/office/drawing/2014/main" id="{3F2ACC73-0643-27D8-F1B3-1B871FCEF141}"/>
              </a:ext>
            </a:extLst>
          </p:cNvPr>
          <p:cNvCxnSpPr>
            <a:cxnSpLocks/>
          </p:cNvCxnSpPr>
          <p:nvPr/>
        </p:nvCxnSpPr>
        <p:spPr>
          <a:xfrm>
            <a:off x="258586" y="2898668"/>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51" name="直線矢印コネクタ 450">
            <a:extLst>
              <a:ext uri="{FF2B5EF4-FFF2-40B4-BE49-F238E27FC236}">
                <a16:creationId xmlns:a16="http://schemas.microsoft.com/office/drawing/2014/main" id="{C2DCC080-98CE-945F-96A2-C42DE7E0C936}"/>
              </a:ext>
            </a:extLst>
          </p:cNvPr>
          <p:cNvCxnSpPr>
            <a:cxnSpLocks/>
          </p:cNvCxnSpPr>
          <p:nvPr/>
        </p:nvCxnSpPr>
        <p:spPr>
          <a:xfrm>
            <a:off x="3534258" y="2887662"/>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2" name="テキスト ボックス 451">
            <a:extLst>
              <a:ext uri="{FF2B5EF4-FFF2-40B4-BE49-F238E27FC236}">
                <a16:creationId xmlns:a16="http://schemas.microsoft.com/office/drawing/2014/main" id="{46C960EE-3214-11A7-C2A3-07025A9849E3}"/>
              </a:ext>
            </a:extLst>
          </p:cNvPr>
          <p:cNvSpPr txBox="1"/>
          <p:nvPr/>
        </p:nvSpPr>
        <p:spPr>
          <a:xfrm>
            <a:off x="1262357" y="2775091"/>
            <a:ext cx="1319856" cy="230832"/>
          </a:xfrm>
          <a:prstGeom prst="rect">
            <a:avLst/>
          </a:prstGeom>
          <a:solidFill>
            <a:schemeClr val="bg1"/>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cs typeface="Meiryo"/>
                <a:sym typeface="Meiryo"/>
              </a:rPr>
              <a:t>WEB</a:t>
            </a:r>
            <a:r>
              <a:rPr lang="ja-JP" altLang="en-US" sz="900" b="1" dirty="0">
                <a:latin typeface="メイリオ" panose="020B0604030504040204" pitchFamily="50" charset="-128"/>
                <a:ea typeface="メイリオ" panose="020B0604030504040204" pitchFamily="50" charset="-128"/>
                <a:cs typeface="Meiryo"/>
                <a:sym typeface="Meiryo"/>
              </a:rPr>
              <a:t>→</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3" name="テキスト ボックス 452">
            <a:extLst>
              <a:ext uri="{FF2B5EF4-FFF2-40B4-BE49-F238E27FC236}">
                <a16:creationId xmlns:a16="http://schemas.microsoft.com/office/drawing/2014/main" id="{6035DF7C-B4BD-5EC8-7209-4196763C930C}"/>
              </a:ext>
            </a:extLst>
          </p:cNvPr>
          <p:cNvSpPr txBox="1"/>
          <p:nvPr/>
        </p:nvSpPr>
        <p:spPr>
          <a:xfrm>
            <a:off x="3961298" y="2771249"/>
            <a:ext cx="1597026" cy="230832"/>
          </a:xfrm>
          <a:prstGeom prst="rect">
            <a:avLst/>
          </a:prstGeom>
          <a:solidFill>
            <a:schemeClr val="bg1"/>
          </a:solidFill>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オフライン→</a:t>
            </a:r>
            <a:r>
              <a:rPr lang="en-US" altLang="ja-JP" sz="900" b="1" dirty="0">
                <a:latin typeface="メイリオ" panose="020B0604030504040204" pitchFamily="50" charset="-128"/>
                <a:ea typeface="メイリオ" panose="020B0604030504040204" pitchFamily="50" charset="-128"/>
                <a:cs typeface="Meiryo"/>
                <a:sym typeface="Meiryo"/>
              </a:rPr>
              <a:t>LINEOA</a:t>
            </a:r>
            <a:r>
              <a:rPr lang="ja-JP" altLang="en-US" sz="900" b="1" dirty="0">
                <a:latin typeface="メイリオ" panose="020B0604030504040204" pitchFamily="50" charset="-128"/>
                <a:ea typeface="メイリオ" panose="020B0604030504040204" pitchFamily="50" charset="-128"/>
                <a:cs typeface="Meiryo"/>
                <a:sym typeface="Meiryo"/>
              </a:rPr>
              <a:t>領域</a:t>
            </a:r>
            <a:endParaRPr lang="ja-JP" altLang="en-US" sz="900" dirty="0"/>
          </a:p>
        </p:txBody>
      </p:sp>
      <p:sp>
        <p:nvSpPr>
          <p:cNvPr id="454" name="正方形/長方形 453">
            <a:extLst>
              <a:ext uri="{FF2B5EF4-FFF2-40B4-BE49-F238E27FC236}">
                <a16:creationId xmlns:a16="http://schemas.microsoft.com/office/drawing/2014/main" id="{E33317FD-3364-4CC0-4FE2-E3D336A50C78}"/>
              </a:ext>
            </a:extLst>
          </p:cNvPr>
          <p:cNvSpPr/>
          <p:nvPr/>
        </p:nvSpPr>
        <p:spPr>
          <a:xfrm>
            <a:off x="240222" y="3031675"/>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友だち追加させるか？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WEB</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a:t>
            </a:r>
          </a:p>
        </p:txBody>
      </p:sp>
      <p:cxnSp>
        <p:nvCxnSpPr>
          <p:cNvPr id="455" name="直線矢印コネクタ 454">
            <a:extLst>
              <a:ext uri="{FF2B5EF4-FFF2-40B4-BE49-F238E27FC236}">
                <a16:creationId xmlns:a16="http://schemas.microsoft.com/office/drawing/2014/main" id="{69C05BA8-18F6-F344-3C54-A5E03AFE2368}"/>
              </a:ext>
            </a:extLst>
          </p:cNvPr>
          <p:cNvCxnSpPr>
            <a:cxnSpLocks/>
          </p:cNvCxnSpPr>
          <p:nvPr/>
        </p:nvCxnSpPr>
        <p:spPr>
          <a:xfrm>
            <a:off x="2892769" y="4798575"/>
            <a:ext cx="6752172"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56" name="テキスト ボックス 455">
            <a:extLst>
              <a:ext uri="{FF2B5EF4-FFF2-40B4-BE49-F238E27FC236}">
                <a16:creationId xmlns:a16="http://schemas.microsoft.com/office/drawing/2014/main" id="{5B6D9466-EC9E-4057-AB18-8974D147F3E8}"/>
              </a:ext>
            </a:extLst>
          </p:cNvPr>
          <p:cNvSpPr txBox="1"/>
          <p:nvPr/>
        </p:nvSpPr>
        <p:spPr>
          <a:xfrm>
            <a:off x="5430583" y="4657308"/>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Meiryo"/>
                <a:sym typeface="Meiryo"/>
              </a:rPr>
              <a:t>LINEOA</a:t>
            </a:r>
            <a:r>
              <a:rPr lang="ja-JP" altLang="en-US" sz="1050" b="1" dirty="0">
                <a:latin typeface="メイリオ" panose="020B0604030504040204" pitchFamily="50" charset="-128"/>
                <a:ea typeface="メイリオ" panose="020B0604030504040204" pitchFamily="50" charset="-128"/>
                <a:cs typeface="Meiryo"/>
                <a:sym typeface="Meiryo"/>
              </a:rPr>
              <a:t>➙</a:t>
            </a:r>
            <a:r>
              <a:rPr lang="en-US" altLang="ja-JP" sz="1050" b="1" dirty="0">
                <a:latin typeface="メイリオ" panose="020B0604030504040204" pitchFamily="50" charset="-128"/>
                <a:ea typeface="メイリオ" panose="020B0604030504040204" pitchFamily="50" charset="-128"/>
                <a:cs typeface="Meiryo"/>
                <a:sym typeface="Meiryo"/>
              </a:rPr>
              <a:t>WEB</a:t>
            </a:r>
            <a:r>
              <a:rPr lang="ja-JP" altLang="en-US" sz="1050" b="1" dirty="0">
                <a:latin typeface="メイリオ" panose="020B0604030504040204" pitchFamily="50" charset="-128"/>
                <a:ea typeface="メイリオ" panose="020B0604030504040204" pitchFamily="50" charset="-128"/>
                <a:cs typeface="Meiryo"/>
                <a:sym typeface="Meiryo"/>
              </a:rPr>
              <a:t>領域</a:t>
            </a:r>
            <a:endParaRPr lang="ja-JP" altLang="en-US" sz="1050" dirty="0"/>
          </a:p>
        </p:txBody>
      </p:sp>
      <p:cxnSp>
        <p:nvCxnSpPr>
          <p:cNvPr id="457" name="直線矢印コネクタ 456">
            <a:extLst>
              <a:ext uri="{FF2B5EF4-FFF2-40B4-BE49-F238E27FC236}">
                <a16:creationId xmlns:a16="http://schemas.microsoft.com/office/drawing/2014/main" id="{B9C84515-E6C9-A256-421E-9C3EFEBBFF17}"/>
              </a:ext>
            </a:extLst>
          </p:cNvPr>
          <p:cNvCxnSpPr>
            <a:cxnSpLocks/>
          </p:cNvCxnSpPr>
          <p:nvPr/>
        </p:nvCxnSpPr>
        <p:spPr>
          <a:xfrm>
            <a:off x="7622020" y="536575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58" name="テキスト ボックス 457">
            <a:extLst>
              <a:ext uri="{FF2B5EF4-FFF2-40B4-BE49-F238E27FC236}">
                <a16:creationId xmlns:a16="http://schemas.microsoft.com/office/drawing/2014/main" id="{7E002B77-EFC0-55F3-D3E6-100837F9B195}"/>
              </a:ext>
            </a:extLst>
          </p:cNvPr>
          <p:cNvSpPr txBox="1"/>
          <p:nvPr/>
        </p:nvSpPr>
        <p:spPr>
          <a:xfrm>
            <a:off x="8102883" y="5231969"/>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フォロー体制</a:t>
            </a:r>
            <a:endParaRPr lang="ja-JP" altLang="en-US" sz="900" b="1" dirty="0">
              <a:solidFill>
                <a:schemeClr val="tx1">
                  <a:lumMod val="50000"/>
                  <a:lumOff val="50000"/>
                </a:schemeClr>
              </a:solidFill>
            </a:endParaRPr>
          </a:p>
        </p:txBody>
      </p:sp>
      <p:cxnSp>
        <p:nvCxnSpPr>
          <p:cNvPr id="459" name="直線矢印コネクタ 458">
            <a:extLst>
              <a:ext uri="{FF2B5EF4-FFF2-40B4-BE49-F238E27FC236}">
                <a16:creationId xmlns:a16="http://schemas.microsoft.com/office/drawing/2014/main" id="{03BD82C1-8BEC-3E49-C1DA-A1C214DB1C8C}"/>
              </a:ext>
            </a:extLst>
          </p:cNvPr>
          <p:cNvCxnSpPr>
            <a:cxnSpLocks/>
          </p:cNvCxnSpPr>
          <p:nvPr/>
        </p:nvCxnSpPr>
        <p:spPr>
          <a:xfrm>
            <a:off x="4443737" y="536428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0" name="テキスト ボックス 459">
            <a:extLst>
              <a:ext uri="{FF2B5EF4-FFF2-40B4-BE49-F238E27FC236}">
                <a16:creationId xmlns:a16="http://schemas.microsoft.com/office/drawing/2014/main" id="{919F797F-1B6A-876C-B468-E147B3D97E8A}"/>
              </a:ext>
            </a:extLst>
          </p:cNvPr>
          <p:cNvSpPr txBox="1"/>
          <p:nvPr/>
        </p:nvSpPr>
        <p:spPr>
          <a:xfrm>
            <a:off x="5470240" y="5239208"/>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ステップ配信</a:t>
            </a:r>
            <a:endParaRPr lang="ja-JP" altLang="en-US" sz="900" b="1" dirty="0"/>
          </a:p>
        </p:txBody>
      </p:sp>
      <p:cxnSp>
        <p:nvCxnSpPr>
          <p:cNvPr id="461" name="直線矢印コネクタ 460">
            <a:extLst>
              <a:ext uri="{FF2B5EF4-FFF2-40B4-BE49-F238E27FC236}">
                <a16:creationId xmlns:a16="http://schemas.microsoft.com/office/drawing/2014/main" id="{C96E67E6-B364-7DED-CDB8-DDCEEFB96AD2}"/>
              </a:ext>
            </a:extLst>
          </p:cNvPr>
          <p:cNvCxnSpPr>
            <a:cxnSpLocks/>
          </p:cNvCxnSpPr>
          <p:nvPr/>
        </p:nvCxnSpPr>
        <p:spPr>
          <a:xfrm>
            <a:off x="4443578" y="563739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2" name="テキスト ボックス 461">
            <a:extLst>
              <a:ext uri="{FF2B5EF4-FFF2-40B4-BE49-F238E27FC236}">
                <a16:creationId xmlns:a16="http://schemas.microsoft.com/office/drawing/2014/main" id="{335DB4AB-DEFA-E356-751F-7106100F929E}"/>
              </a:ext>
            </a:extLst>
          </p:cNvPr>
          <p:cNvSpPr txBox="1"/>
          <p:nvPr/>
        </p:nvSpPr>
        <p:spPr>
          <a:xfrm>
            <a:off x="5470081" y="5512324"/>
            <a:ext cx="1064989"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企画配信</a:t>
            </a:r>
            <a:endParaRPr lang="ja-JP" altLang="en-US" sz="900" b="1" dirty="0"/>
          </a:p>
        </p:txBody>
      </p:sp>
      <p:cxnSp>
        <p:nvCxnSpPr>
          <p:cNvPr id="463" name="直線矢印コネクタ 462">
            <a:extLst>
              <a:ext uri="{FF2B5EF4-FFF2-40B4-BE49-F238E27FC236}">
                <a16:creationId xmlns:a16="http://schemas.microsoft.com/office/drawing/2014/main" id="{7884810E-3E89-4CCB-C00C-B386A34717E4}"/>
              </a:ext>
            </a:extLst>
          </p:cNvPr>
          <p:cNvCxnSpPr>
            <a:cxnSpLocks/>
          </p:cNvCxnSpPr>
          <p:nvPr/>
        </p:nvCxnSpPr>
        <p:spPr>
          <a:xfrm>
            <a:off x="3989118" y="585218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4" name="テキスト ボックス 463">
            <a:extLst>
              <a:ext uri="{FF2B5EF4-FFF2-40B4-BE49-F238E27FC236}">
                <a16:creationId xmlns:a16="http://schemas.microsoft.com/office/drawing/2014/main" id="{6FD45AC0-2372-776F-6D16-846C0FB7AC64}"/>
              </a:ext>
            </a:extLst>
          </p:cNvPr>
          <p:cNvSpPr txBox="1"/>
          <p:nvPr/>
        </p:nvSpPr>
        <p:spPr>
          <a:xfrm>
            <a:off x="4304358" y="5753281"/>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アンケート回収</a:t>
            </a:r>
            <a:endParaRPr lang="ja-JP" altLang="en-US" sz="900" b="1" dirty="0"/>
          </a:p>
        </p:txBody>
      </p:sp>
      <p:cxnSp>
        <p:nvCxnSpPr>
          <p:cNvPr id="465" name="直線矢印コネクタ 464">
            <a:extLst>
              <a:ext uri="{FF2B5EF4-FFF2-40B4-BE49-F238E27FC236}">
                <a16:creationId xmlns:a16="http://schemas.microsoft.com/office/drawing/2014/main" id="{5BF3558A-EBED-81EE-B158-28A7CA5D6693}"/>
              </a:ext>
            </a:extLst>
          </p:cNvPr>
          <p:cNvCxnSpPr>
            <a:cxnSpLocks/>
          </p:cNvCxnSpPr>
          <p:nvPr/>
        </p:nvCxnSpPr>
        <p:spPr>
          <a:xfrm>
            <a:off x="3986817" y="6094511"/>
            <a:ext cx="2027163"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6" name="テキスト ボックス 465">
            <a:extLst>
              <a:ext uri="{FF2B5EF4-FFF2-40B4-BE49-F238E27FC236}">
                <a16:creationId xmlns:a16="http://schemas.microsoft.com/office/drawing/2014/main" id="{001266CB-AC56-8914-0ACE-8B554DB19B76}"/>
              </a:ext>
            </a:extLst>
          </p:cNvPr>
          <p:cNvSpPr txBox="1"/>
          <p:nvPr/>
        </p:nvSpPr>
        <p:spPr>
          <a:xfrm>
            <a:off x="4319604" y="5997197"/>
            <a:ext cx="1288637" cy="209847"/>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latin typeface="メイリオ" panose="020B0604030504040204" pitchFamily="50" charset="-128"/>
                <a:ea typeface="メイリオ" panose="020B0604030504040204" pitchFamily="50" charset="-128"/>
                <a:cs typeface="Meiryo"/>
                <a:sym typeface="Meiryo"/>
              </a:rPr>
              <a:t>スコアリング等</a:t>
            </a:r>
            <a:endParaRPr lang="ja-JP" altLang="en-US" sz="900" b="1" dirty="0"/>
          </a:p>
        </p:txBody>
      </p:sp>
      <p:cxnSp>
        <p:nvCxnSpPr>
          <p:cNvPr id="467" name="直線矢印コネクタ 466">
            <a:extLst>
              <a:ext uri="{FF2B5EF4-FFF2-40B4-BE49-F238E27FC236}">
                <a16:creationId xmlns:a16="http://schemas.microsoft.com/office/drawing/2014/main" id="{1B403718-ABF2-11BC-1A05-A9E208B7C0F7}"/>
              </a:ext>
            </a:extLst>
          </p:cNvPr>
          <p:cNvCxnSpPr>
            <a:cxnSpLocks/>
          </p:cNvCxnSpPr>
          <p:nvPr/>
        </p:nvCxnSpPr>
        <p:spPr>
          <a:xfrm>
            <a:off x="7042649" y="585610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8" name="直線矢印コネクタ 467">
            <a:extLst>
              <a:ext uri="{FF2B5EF4-FFF2-40B4-BE49-F238E27FC236}">
                <a16:creationId xmlns:a16="http://schemas.microsoft.com/office/drawing/2014/main" id="{B31EBA12-BB45-627B-A1FD-F44E077537B1}"/>
              </a:ext>
            </a:extLst>
          </p:cNvPr>
          <p:cNvCxnSpPr>
            <a:cxnSpLocks/>
          </p:cNvCxnSpPr>
          <p:nvPr/>
        </p:nvCxnSpPr>
        <p:spPr>
          <a:xfrm>
            <a:off x="6911926" y="611361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9" name="テキスト ボックス 468">
            <a:extLst>
              <a:ext uri="{FF2B5EF4-FFF2-40B4-BE49-F238E27FC236}">
                <a16:creationId xmlns:a16="http://schemas.microsoft.com/office/drawing/2014/main" id="{B0C05E5D-44B4-DA5D-7C04-0BDC8A4602CE}"/>
              </a:ext>
            </a:extLst>
          </p:cNvPr>
          <p:cNvSpPr txBox="1"/>
          <p:nvPr/>
        </p:nvSpPr>
        <p:spPr>
          <a:xfrm>
            <a:off x="7260372" y="6007902"/>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ショップカード</a:t>
            </a:r>
            <a:endParaRPr lang="ja-JP" altLang="en-US" sz="900" b="1" dirty="0">
              <a:solidFill>
                <a:schemeClr val="tx1">
                  <a:lumMod val="50000"/>
                  <a:lumOff val="50000"/>
                </a:schemeClr>
              </a:solidFill>
            </a:endParaRPr>
          </a:p>
        </p:txBody>
      </p:sp>
      <p:pic>
        <p:nvPicPr>
          <p:cNvPr id="470" name="図 469">
            <a:extLst>
              <a:ext uri="{FF2B5EF4-FFF2-40B4-BE49-F238E27FC236}">
                <a16:creationId xmlns:a16="http://schemas.microsoft.com/office/drawing/2014/main" id="{2F4B65BB-B8AA-5045-2074-C574F9423E61}"/>
              </a:ext>
            </a:extLst>
          </p:cNvPr>
          <p:cNvPicPr>
            <a:picLocks noChangeAspect="1"/>
          </p:cNvPicPr>
          <p:nvPr/>
        </p:nvPicPr>
        <p:blipFill>
          <a:blip r:embed="rId3" cstate="print">
            <a:extLst>
              <a:ext uri="{28A0092B-C50C-407E-A947-70E740481C1C}">
                <a14:useLocalDpi xmlns:a14="http://schemas.microsoft.com/office/drawing/2010/main" val="0"/>
              </a:ext>
            </a:extLst>
          </a:blip>
          <a:srcRect t="4981" b="4075"/>
          <a:stretch>
            <a:fillRect/>
          </a:stretch>
        </p:blipFill>
        <p:spPr>
          <a:xfrm>
            <a:off x="2929897" y="4918748"/>
            <a:ext cx="703970" cy="1385346"/>
          </a:xfrm>
          <a:prstGeom prst="rect">
            <a:avLst/>
          </a:prstGeom>
        </p:spPr>
      </p:pic>
      <p:sp>
        <p:nvSpPr>
          <p:cNvPr id="471" name="正方形/長方形 470">
            <a:extLst>
              <a:ext uri="{FF2B5EF4-FFF2-40B4-BE49-F238E27FC236}">
                <a16:creationId xmlns:a16="http://schemas.microsoft.com/office/drawing/2014/main" id="{D22C9FBF-7B93-079A-E87E-A4C967CD0194}"/>
              </a:ext>
            </a:extLst>
          </p:cNvPr>
          <p:cNvSpPr/>
          <p:nvPr/>
        </p:nvSpPr>
        <p:spPr>
          <a:xfrm>
            <a:off x="3832763" y="520693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2" name="テキスト ボックス 471">
            <a:extLst>
              <a:ext uri="{FF2B5EF4-FFF2-40B4-BE49-F238E27FC236}">
                <a16:creationId xmlns:a16="http://schemas.microsoft.com/office/drawing/2014/main" id="{89B35388-9C44-6C01-ACAA-2E691617E119}"/>
              </a:ext>
            </a:extLst>
          </p:cNvPr>
          <p:cNvSpPr txBox="1"/>
          <p:nvPr/>
        </p:nvSpPr>
        <p:spPr>
          <a:xfrm>
            <a:off x="5647624" y="617359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endParaRPr>
          </a:p>
        </p:txBody>
      </p:sp>
      <p:sp>
        <p:nvSpPr>
          <p:cNvPr id="473" name="テキスト ボックス 472">
            <a:extLst>
              <a:ext uri="{FF2B5EF4-FFF2-40B4-BE49-F238E27FC236}">
                <a16:creationId xmlns:a16="http://schemas.microsoft.com/office/drawing/2014/main" id="{BD1C4614-6833-006B-0695-58E26A5CFFB7}"/>
              </a:ext>
            </a:extLst>
          </p:cNvPr>
          <p:cNvSpPr txBox="1"/>
          <p:nvPr/>
        </p:nvSpPr>
        <p:spPr>
          <a:xfrm>
            <a:off x="7434640" y="5741676"/>
            <a:ext cx="1288637"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9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リサーチ回収</a:t>
            </a:r>
            <a:endParaRPr lang="ja-JP" altLang="en-US" sz="900" b="1" dirty="0">
              <a:solidFill>
                <a:schemeClr val="tx1">
                  <a:lumMod val="50000"/>
                  <a:lumOff val="50000"/>
                </a:schemeClr>
              </a:solidFill>
            </a:endParaRPr>
          </a:p>
        </p:txBody>
      </p:sp>
      <p:sp>
        <p:nvSpPr>
          <p:cNvPr id="474" name="正方形/長方形 473">
            <a:extLst>
              <a:ext uri="{FF2B5EF4-FFF2-40B4-BE49-F238E27FC236}">
                <a16:creationId xmlns:a16="http://schemas.microsoft.com/office/drawing/2014/main" id="{149FC944-C0B9-A202-3A0B-03CB7D89620A}"/>
              </a:ext>
            </a:extLst>
          </p:cNvPr>
          <p:cNvSpPr/>
          <p:nvPr/>
        </p:nvSpPr>
        <p:spPr>
          <a:xfrm>
            <a:off x="3046381" y="492178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rPr>
              <a:t>どう</a:t>
            </a:r>
            <a:r>
              <a:rPr kumimoji="1" lang="ja-JP" altLang="en-US" sz="1000" dirty="0">
                <a:latin typeface="メイリオ" panose="020B0604030504040204" pitchFamily="50" charset="-128"/>
                <a:ea typeface="メイリオ" panose="020B0604030504040204" pitchFamily="50" charset="-128"/>
              </a:rPr>
              <a:t>友だちをアクションに結びつけるか？</a:t>
            </a:r>
            <a:r>
              <a:rPr kumimoji="1" lang="ja-JP" altLang="en-US" sz="1000" dirty="0">
                <a:solidFill>
                  <a:srgbClr val="FFFFFF"/>
                </a:solidFill>
                <a:latin typeface="メイリオ" panose="020B0604030504040204" pitchFamily="50" charset="-128"/>
                <a:ea typeface="メイリオ" panose="020B0604030504040204" pitchFamily="50" charset="-128"/>
              </a:rPr>
              <a:t>（</a:t>
            </a:r>
            <a:r>
              <a:rPr kumimoji="1" lang="en-US" altLang="ja-JP" sz="1000" dirty="0">
                <a:solidFill>
                  <a:srgbClr val="FFFFFF"/>
                </a:solidFill>
                <a:latin typeface="メイリオ" panose="020B0604030504040204" pitchFamily="50" charset="-128"/>
                <a:ea typeface="メイリオ" panose="020B0604030504040204" pitchFamily="50" charset="-128"/>
              </a:rPr>
              <a:t>LINE</a:t>
            </a:r>
            <a:r>
              <a:rPr kumimoji="1" lang="ja-JP" altLang="en-US" sz="1000" dirty="0">
                <a:solidFill>
                  <a:srgbClr val="FFFFFF"/>
                </a:solidFill>
                <a:latin typeface="メイリオ" panose="020B0604030504040204" pitchFamily="50" charset="-128"/>
                <a:ea typeface="メイリオ" panose="020B0604030504040204" pitchFamily="50" charset="-128"/>
              </a:rPr>
              <a:t>→反響）</a:t>
            </a:r>
          </a:p>
        </p:txBody>
      </p:sp>
    </p:spTree>
    <p:extLst>
      <p:ext uri="{BB962C8B-B14F-4D97-AF65-F5344CB8AC3E}">
        <p14:creationId xmlns:p14="http://schemas.microsoft.com/office/powerpoint/2010/main" val="34644681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43DE1-3ED3-F966-F6AD-4C1C8BF7CC0E}"/>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2E6701D8-9A90-E152-7C18-C7706967BB9A}"/>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1E62FB26-1D1E-5A11-19DE-1FB175754D5C}"/>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6598B957-A9E7-BDB0-A5F6-72D1122A5B6E}"/>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施策パターン（主要５パターン）</a:t>
            </a:r>
            <a:endParaRPr lang="ja-JP" altLang="en-US" sz="1100" dirty="0"/>
          </a:p>
        </p:txBody>
      </p:sp>
      <p:sp>
        <p:nvSpPr>
          <p:cNvPr id="7" name="テキスト ボックス 6">
            <a:extLst>
              <a:ext uri="{FF2B5EF4-FFF2-40B4-BE49-F238E27FC236}">
                <a16:creationId xmlns:a16="http://schemas.microsoft.com/office/drawing/2014/main" id="{45E74368-07DB-CE00-62F1-E5548485D6FB}"/>
              </a:ext>
            </a:extLst>
          </p:cNvPr>
          <p:cNvSpPr txBox="1"/>
          <p:nvPr/>
        </p:nvSpPr>
        <p:spPr>
          <a:xfrm>
            <a:off x="96788" y="1202790"/>
            <a:ext cx="9687414" cy="307777"/>
          </a:xfrm>
          <a:prstGeom prst="rect">
            <a:avLst/>
          </a:prstGeom>
          <a:noFill/>
        </p:spPr>
        <p:txBody>
          <a:bodyPr wrap="square">
            <a:spAutoFit/>
          </a:bodyPr>
          <a:lstStyle/>
          <a:p>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運用で追うべき重要指標（</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KPI</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）と、目的に応じた</a:t>
            </a:r>
            <a:r>
              <a:rPr lang="en-US" altLang="ja-JP"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5</a:t>
            </a:r>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つの施策方針</a:t>
            </a:r>
            <a:endParaRPr lang="ja-JP" altLang="en-US" sz="1000" dirty="0"/>
          </a:p>
        </p:txBody>
      </p:sp>
      <p:sp>
        <p:nvSpPr>
          <p:cNvPr id="9" name="テキスト ボックス 8">
            <a:extLst>
              <a:ext uri="{FF2B5EF4-FFF2-40B4-BE49-F238E27FC236}">
                <a16:creationId xmlns:a16="http://schemas.microsoft.com/office/drawing/2014/main" id="{29ADE9C4-EDB0-BC95-CE8E-626E80FB4D48}"/>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12" name="Rectangle 4">
            <a:extLst>
              <a:ext uri="{FF2B5EF4-FFF2-40B4-BE49-F238E27FC236}">
                <a16:creationId xmlns:a16="http://schemas.microsoft.com/office/drawing/2014/main" id="{49E79A83-D923-CF9A-2A1A-3D2E1673FD4A}"/>
              </a:ext>
            </a:extLst>
          </p:cNvPr>
          <p:cNvSpPr/>
          <p:nvPr/>
        </p:nvSpPr>
        <p:spPr>
          <a:xfrm>
            <a:off x="4084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err="1">
                <a:solidFill>
                  <a:srgbClr val="FFFFFF"/>
                </a:solidFill>
                <a:latin typeface="メイリオ"/>
                <a:ea typeface="メイリオ"/>
                <a:cs typeface="メイリオ"/>
              </a:rPr>
              <a:t>露出強化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ブランディング・告知</a:t>
            </a:r>
            <a:endParaRPr sz="950" b="0" dirty="0">
              <a:solidFill>
                <a:srgbClr val="FFFFFF"/>
              </a:solidFill>
              <a:latin typeface="メイリオ"/>
              <a:ea typeface="メイリオ"/>
              <a:cs typeface="メイリオ"/>
            </a:endParaRPr>
          </a:p>
        </p:txBody>
      </p:sp>
      <p:sp>
        <p:nvSpPr>
          <p:cNvPr id="16" name="Rectangle 5">
            <a:extLst>
              <a:ext uri="{FF2B5EF4-FFF2-40B4-BE49-F238E27FC236}">
                <a16:creationId xmlns:a16="http://schemas.microsoft.com/office/drawing/2014/main" id="{155E13D8-2298-8094-68E3-69F442818216}"/>
              </a:ext>
            </a:extLst>
          </p:cNvPr>
          <p:cNvSpPr/>
          <p:nvPr/>
        </p:nvSpPr>
        <p:spPr>
          <a:xfrm>
            <a:off x="4084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20" name="Rectangle 6">
            <a:extLst>
              <a:ext uri="{FF2B5EF4-FFF2-40B4-BE49-F238E27FC236}">
                <a16:creationId xmlns:a16="http://schemas.microsoft.com/office/drawing/2014/main" id="{6C7DBB20-26A1-8B8F-32D4-0B15E548F56E}"/>
              </a:ext>
            </a:extLst>
          </p:cNvPr>
          <p:cNvSpPr/>
          <p:nvPr/>
        </p:nvSpPr>
        <p:spPr>
          <a:xfrm>
            <a:off x="4084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新商品・イベントを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広く知らせ、接触量</a:t>
            </a:r>
            <a:r>
              <a:rPr lang="ja-JP" altLang="en-US" sz="1100" b="1" dirty="0">
                <a:solidFill>
                  <a:srgbClr val="333333"/>
                </a:solidFill>
                <a:latin typeface="メイリオ"/>
                <a:ea typeface="メイリオ"/>
                <a:cs typeface="メイリオ"/>
              </a:rPr>
              <a:t>増加</a:t>
            </a:r>
            <a:endParaRPr sz="1100" b="1" dirty="0">
              <a:solidFill>
                <a:srgbClr val="333333"/>
              </a:solidFill>
              <a:latin typeface="メイリオ"/>
              <a:ea typeface="メイリオ"/>
              <a:cs typeface="メイリオ"/>
            </a:endParaRPr>
          </a:p>
        </p:txBody>
      </p:sp>
      <p:sp>
        <p:nvSpPr>
          <p:cNvPr id="24" name="Rectangle 7">
            <a:extLst>
              <a:ext uri="{FF2B5EF4-FFF2-40B4-BE49-F238E27FC236}">
                <a16:creationId xmlns:a16="http://schemas.microsoft.com/office/drawing/2014/main" id="{6811CAAE-5198-A8F3-058F-450EB5ADBA4E}"/>
              </a:ext>
            </a:extLst>
          </p:cNvPr>
          <p:cNvSpPr/>
          <p:nvPr/>
        </p:nvSpPr>
        <p:spPr>
          <a:xfrm>
            <a:off x="4084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28" name="Rectangle 8">
            <a:extLst>
              <a:ext uri="{FF2B5EF4-FFF2-40B4-BE49-F238E27FC236}">
                <a16:creationId xmlns:a16="http://schemas.microsoft.com/office/drawing/2014/main" id="{1C3C93C7-EF49-8EB4-41C3-62A45A431458}"/>
              </a:ext>
            </a:extLst>
          </p:cNvPr>
          <p:cNvSpPr/>
          <p:nvPr/>
        </p:nvSpPr>
        <p:spPr>
          <a:xfrm>
            <a:off x="4084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友だち数／配信到達数／開封率</a:t>
            </a:r>
          </a:p>
        </p:txBody>
      </p:sp>
      <p:sp>
        <p:nvSpPr>
          <p:cNvPr id="32" name="Rectangle 9">
            <a:extLst>
              <a:ext uri="{FF2B5EF4-FFF2-40B4-BE49-F238E27FC236}">
                <a16:creationId xmlns:a16="http://schemas.microsoft.com/office/drawing/2014/main" id="{24002695-377E-A008-465B-19DAB55618DC}"/>
              </a:ext>
            </a:extLst>
          </p:cNvPr>
          <p:cNvSpPr/>
          <p:nvPr/>
        </p:nvSpPr>
        <p:spPr>
          <a:xfrm>
            <a:off x="4084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36" name="Rectangle 10">
            <a:extLst>
              <a:ext uri="{FF2B5EF4-FFF2-40B4-BE49-F238E27FC236}">
                <a16:creationId xmlns:a16="http://schemas.microsoft.com/office/drawing/2014/main" id="{83F02ED9-D873-788D-4F8B-840F449F5E67}"/>
              </a:ext>
            </a:extLst>
          </p:cNvPr>
          <p:cNvSpPr/>
          <p:nvPr/>
        </p:nvSpPr>
        <p:spPr>
          <a:xfrm>
            <a:off x="4084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企画配信／リッチメニュー</a:t>
            </a:r>
          </a:p>
        </p:txBody>
      </p:sp>
      <p:sp>
        <p:nvSpPr>
          <p:cNvPr id="41" name="Rectangle 12">
            <a:extLst>
              <a:ext uri="{FF2B5EF4-FFF2-40B4-BE49-F238E27FC236}">
                <a16:creationId xmlns:a16="http://schemas.microsoft.com/office/drawing/2014/main" id="{88068114-91B2-5D9E-47D2-54CBE30DEF89}"/>
              </a:ext>
            </a:extLst>
          </p:cNvPr>
          <p:cNvSpPr/>
          <p:nvPr/>
        </p:nvSpPr>
        <p:spPr>
          <a:xfrm>
            <a:off x="2237232" y="2163060"/>
            <a:ext cx="1773936" cy="6858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dirty="0">
                <a:solidFill>
                  <a:srgbClr val="FFFFFF"/>
                </a:solidFill>
                <a:latin typeface="メイリオ"/>
                <a:ea typeface="メイリオ"/>
                <a:cs typeface="メイリオ"/>
              </a:rPr>
              <a:t>CV</a:t>
            </a:r>
            <a:r>
              <a:rPr lang="ja-JP" altLang="en-US" sz="1250" b="1" dirty="0">
                <a:solidFill>
                  <a:srgbClr val="FFFFFF"/>
                </a:solidFill>
                <a:latin typeface="メイリオ"/>
                <a:ea typeface="メイリオ"/>
                <a:cs typeface="メイリオ"/>
              </a:rPr>
              <a:t>最大化</a:t>
            </a:r>
            <a:endParaRPr sz="1250" b="1" dirty="0">
              <a:solidFill>
                <a:srgbClr val="FFFFFF"/>
              </a:solidFill>
              <a:latin typeface="メイリオ"/>
              <a:ea typeface="メイリオ"/>
              <a:cs typeface="メイリオ"/>
            </a:endParaRPr>
          </a:p>
          <a:p>
            <a:pPr algn="ctr">
              <a:spcAft>
                <a:spcPts val="0"/>
              </a:spcAft>
            </a:pPr>
            <a:r>
              <a:rPr sz="950" b="0" dirty="0" err="1">
                <a:solidFill>
                  <a:srgbClr val="FFFFFF"/>
                </a:solidFill>
                <a:latin typeface="メイリオ"/>
                <a:ea typeface="メイリオ"/>
                <a:cs typeface="メイリオ"/>
              </a:rPr>
              <a:t>WEB・実店舗</a:t>
            </a:r>
            <a:endParaRPr sz="950" b="0" dirty="0">
              <a:solidFill>
                <a:srgbClr val="FFFFFF"/>
              </a:solidFill>
              <a:latin typeface="メイリオ"/>
              <a:ea typeface="メイリオ"/>
              <a:cs typeface="メイリオ"/>
            </a:endParaRPr>
          </a:p>
        </p:txBody>
      </p:sp>
      <p:sp>
        <p:nvSpPr>
          <p:cNvPr id="43" name="Rectangle 13">
            <a:extLst>
              <a:ext uri="{FF2B5EF4-FFF2-40B4-BE49-F238E27FC236}">
                <a16:creationId xmlns:a16="http://schemas.microsoft.com/office/drawing/2014/main" id="{35D95F17-69A9-BFB0-0DEF-22C0EB725ED0}"/>
              </a:ext>
            </a:extLst>
          </p:cNvPr>
          <p:cNvSpPr/>
          <p:nvPr/>
        </p:nvSpPr>
        <p:spPr>
          <a:xfrm>
            <a:off x="22372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45" name="Rectangle 14">
            <a:extLst>
              <a:ext uri="{FF2B5EF4-FFF2-40B4-BE49-F238E27FC236}">
                <a16:creationId xmlns:a16="http://schemas.microsoft.com/office/drawing/2014/main" id="{AF16D352-C907-9B65-3BE4-49A79ABEB20F}"/>
              </a:ext>
            </a:extLst>
          </p:cNvPr>
          <p:cNvSpPr/>
          <p:nvPr/>
        </p:nvSpPr>
        <p:spPr>
          <a:xfrm>
            <a:off x="22372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WEBの申込・予約や</a:t>
            </a:r>
            <a:r>
              <a:rPr sz="1100" b="1" dirty="0">
                <a:solidFill>
                  <a:srgbClr val="333333"/>
                </a:solidFill>
                <a:latin typeface="メイリオ"/>
                <a:ea typeface="メイリオ"/>
                <a:cs typeface="メイリオ"/>
              </a:rPr>
              <a:t>、</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実店舗の来店</a:t>
            </a:r>
            <a:r>
              <a:rPr sz="1100" b="1" dirty="0">
                <a:solidFill>
                  <a:srgbClr val="333333"/>
                </a:solidFill>
                <a:latin typeface="メイリオ"/>
                <a:ea typeface="メイリオ"/>
                <a:cs typeface="メイリオ"/>
              </a:rPr>
              <a:t>・</a:t>
            </a:r>
            <a:r>
              <a:rPr lang="ja-JP" altLang="en-US" sz="1100" b="1" dirty="0">
                <a:solidFill>
                  <a:srgbClr val="333333"/>
                </a:solidFill>
                <a:latin typeface="メイリオ"/>
                <a:ea typeface="メイリオ"/>
                <a:cs typeface="メイリオ"/>
              </a:rPr>
              <a:t>購入に</a:t>
            </a:r>
            <a:endParaRPr sz="1100" b="1" dirty="0">
              <a:solidFill>
                <a:srgbClr val="333333"/>
              </a:solidFill>
              <a:latin typeface="メイリオ"/>
              <a:ea typeface="メイリオ"/>
              <a:cs typeface="メイリオ"/>
            </a:endParaRPr>
          </a:p>
        </p:txBody>
      </p:sp>
      <p:sp>
        <p:nvSpPr>
          <p:cNvPr id="47" name="Rectangle 15">
            <a:extLst>
              <a:ext uri="{FF2B5EF4-FFF2-40B4-BE49-F238E27FC236}">
                <a16:creationId xmlns:a16="http://schemas.microsoft.com/office/drawing/2014/main" id="{ECF548BA-4F25-D357-FFD9-560CFBC52E16}"/>
              </a:ext>
            </a:extLst>
          </p:cNvPr>
          <p:cNvSpPr/>
          <p:nvPr/>
        </p:nvSpPr>
        <p:spPr>
          <a:xfrm>
            <a:off x="22372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49" name="Rectangle 16">
            <a:extLst>
              <a:ext uri="{FF2B5EF4-FFF2-40B4-BE49-F238E27FC236}">
                <a16:creationId xmlns:a16="http://schemas.microsoft.com/office/drawing/2014/main" id="{4CD5FF1A-1457-7314-0F3D-AA97E2FA4A98}"/>
              </a:ext>
            </a:extLst>
          </p:cNvPr>
          <p:cNvSpPr/>
          <p:nvPr/>
        </p:nvSpPr>
        <p:spPr>
          <a:xfrm>
            <a:off x="22372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CV数／CVR／CPA／来店数</a:t>
            </a:r>
          </a:p>
        </p:txBody>
      </p:sp>
      <p:sp>
        <p:nvSpPr>
          <p:cNvPr id="51" name="Rectangle 17">
            <a:extLst>
              <a:ext uri="{FF2B5EF4-FFF2-40B4-BE49-F238E27FC236}">
                <a16:creationId xmlns:a16="http://schemas.microsoft.com/office/drawing/2014/main" id="{12D05AB9-222E-9902-8290-186E965B6FC0}"/>
              </a:ext>
            </a:extLst>
          </p:cNvPr>
          <p:cNvSpPr/>
          <p:nvPr/>
        </p:nvSpPr>
        <p:spPr>
          <a:xfrm>
            <a:off x="22372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53" name="Rectangle 18">
            <a:extLst>
              <a:ext uri="{FF2B5EF4-FFF2-40B4-BE49-F238E27FC236}">
                <a16:creationId xmlns:a16="http://schemas.microsoft.com/office/drawing/2014/main" id="{DC3C0252-EAC5-F636-A132-78E1C2C2B2AA}"/>
              </a:ext>
            </a:extLst>
          </p:cNvPr>
          <p:cNvSpPr/>
          <p:nvPr/>
        </p:nvSpPr>
        <p:spPr>
          <a:xfrm>
            <a:off x="22372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ポップアップ／ステップ配信／リッチメニュー</a:t>
            </a:r>
          </a:p>
        </p:txBody>
      </p:sp>
      <p:sp>
        <p:nvSpPr>
          <p:cNvPr id="57" name="Rectangle 20">
            <a:extLst>
              <a:ext uri="{FF2B5EF4-FFF2-40B4-BE49-F238E27FC236}">
                <a16:creationId xmlns:a16="http://schemas.microsoft.com/office/drawing/2014/main" id="{AB9E57D2-9C3A-6A00-A6E2-0F2E56AC5C82}"/>
              </a:ext>
            </a:extLst>
          </p:cNvPr>
          <p:cNvSpPr/>
          <p:nvPr/>
        </p:nvSpPr>
        <p:spPr>
          <a:xfrm>
            <a:off x="40660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LTV・ユーザーの質</a:t>
            </a:r>
          </a:p>
          <a:p>
            <a:pPr algn="ctr">
              <a:spcAft>
                <a:spcPts val="0"/>
              </a:spcAft>
            </a:pPr>
            <a:r>
              <a:rPr sz="950" b="0">
                <a:solidFill>
                  <a:srgbClr val="FFFFFF"/>
                </a:solidFill>
                <a:latin typeface="メイリオ"/>
                <a:ea typeface="メイリオ"/>
                <a:cs typeface="メイリオ"/>
              </a:rPr>
              <a:t>優良顧客の育成</a:t>
            </a:r>
          </a:p>
        </p:txBody>
      </p:sp>
      <p:sp>
        <p:nvSpPr>
          <p:cNvPr id="60" name="Rectangle 21">
            <a:extLst>
              <a:ext uri="{FF2B5EF4-FFF2-40B4-BE49-F238E27FC236}">
                <a16:creationId xmlns:a16="http://schemas.microsoft.com/office/drawing/2014/main" id="{8A9C7FAF-EA45-CF24-B656-908F5442F50C}"/>
              </a:ext>
            </a:extLst>
          </p:cNvPr>
          <p:cNvSpPr/>
          <p:nvPr/>
        </p:nvSpPr>
        <p:spPr>
          <a:xfrm>
            <a:off x="40660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62" name="Rectangle 22">
            <a:extLst>
              <a:ext uri="{FF2B5EF4-FFF2-40B4-BE49-F238E27FC236}">
                <a16:creationId xmlns:a16="http://schemas.microsoft.com/office/drawing/2014/main" id="{6CC7BF41-8887-8361-4328-893877256850}"/>
              </a:ext>
            </a:extLst>
          </p:cNvPr>
          <p:cNvSpPr/>
          <p:nvPr/>
        </p:nvSpPr>
        <p:spPr>
          <a:xfrm>
            <a:off x="40660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優良な見込み・顧客を</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見極め、育てる</a:t>
            </a:r>
            <a:endParaRPr sz="1100" b="1" dirty="0">
              <a:solidFill>
                <a:srgbClr val="333333"/>
              </a:solidFill>
              <a:latin typeface="メイリオ"/>
              <a:ea typeface="メイリオ"/>
              <a:cs typeface="メイリオ"/>
            </a:endParaRPr>
          </a:p>
        </p:txBody>
      </p:sp>
      <p:sp>
        <p:nvSpPr>
          <p:cNvPr id="64" name="Rectangle 23">
            <a:extLst>
              <a:ext uri="{FF2B5EF4-FFF2-40B4-BE49-F238E27FC236}">
                <a16:creationId xmlns:a16="http://schemas.microsoft.com/office/drawing/2014/main" id="{0DDBE270-09C3-11A4-38F6-4AD200C9C94D}"/>
              </a:ext>
            </a:extLst>
          </p:cNvPr>
          <p:cNvSpPr/>
          <p:nvPr/>
        </p:nvSpPr>
        <p:spPr>
          <a:xfrm>
            <a:off x="40660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66" name="Rectangle 24">
            <a:extLst>
              <a:ext uri="{FF2B5EF4-FFF2-40B4-BE49-F238E27FC236}">
                <a16:creationId xmlns:a16="http://schemas.microsoft.com/office/drawing/2014/main" id="{A6EECE04-D4EC-CDF0-B34C-60A31C1CDC8D}"/>
              </a:ext>
            </a:extLst>
          </p:cNvPr>
          <p:cNvSpPr/>
          <p:nvPr/>
        </p:nvSpPr>
        <p:spPr>
          <a:xfrm>
            <a:off x="40660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アクティブ率／ブロック率／継続率／客単価</a:t>
            </a:r>
          </a:p>
        </p:txBody>
      </p:sp>
      <p:sp>
        <p:nvSpPr>
          <p:cNvPr id="68" name="Rectangle 25">
            <a:extLst>
              <a:ext uri="{FF2B5EF4-FFF2-40B4-BE49-F238E27FC236}">
                <a16:creationId xmlns:a16="http://schemas.microsoft.com/office/drawing/2014/main" id="{EBC8045D-930A-FA3E-65AE-3A756DDEA8D0}"/>
              </a:ext>
            </a:extLst>
          </p:cNvPr>
          <p:cNvSpPr/>
          <p:nvPr/>
        </p:nvSpPr>
        <p:spPr>
          <a:xfrm>
            <a:off x="40660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70" name="Rectangle 26">
            <a:extLst>
              <a:ext uri="{FF2B5EF4-FFF2-40B4-BE49-F238E27FC236}">
                <a16:creationId xmlns:a16="http://schemas.microsoft.com/office/drawing/2014/main" id="{FAB78CD6-C04D-A78B-1979-D1C6E3031729}"/>
              </a:ext>
            </a:extLst>
          </p:cNvPr>
          <p:cNvSpPr/>
          <p:nvPr/>
        </p:nvSpPr>
        <p:spPr>
          <a:xfrm>
            <a:off x="40660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アンケート／タグ・セグメント／挨拶メッセージ</a:t>
            </a:r>
          </a:p>
        </p:txBody>
      </p:sp>
      <p:sp>
        <p:nvSpPr>
          <p:cNvPr id="74" name="Rectangle 28">
            <a:extLst>
              <a:ext uri="{FF2B5EF4-FFF2-40B4-BE49-F238E27FC236}">
                <a16:creationId xmlns:a16="http://schemas.microsoft.com/office/drawing/2014/main" id="{D6A1A411-0761-977A-6EC4-652572684D97}"/>
              </a:ext>
            </a:extLst>
          </p:cNvPr>
          <p:cNvSpPr/>
          <p:nvPr/>
        </p:nvSpPr>
        <p:spPr>
          <a:xfrm>
            <a:off x="5894832" y="2163060"/>
            <a:ext cx="1773936"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リピート</a:t>
            </a:r>
          </a:p>
          <a:p>
            <a:pPr algn="ctr">
              <a:spcAft>
                <a:spcPts val="0"/>
              </a:spcAft>
            </a:pPr>
            <a:r>
              <a:rPr sz="950" b="0">
                <a:solidFill>
                  <a:srgbClr val="FFFFFF"/>
                </a:solidFill>
                <a:latin typeface="メイリオ"/>
                <a:ea typeface="メイリオ"/>
                <a:cs typeface="メイリオ"/>
              </a:rPr>
              <a:t>再購入・再来店</a:t>
            </a:r>
          </a:p>
        </p:txBody>
      </p:sp>
      <p:sp>
        <p:nvSpPr>
          <p:cNvPr id="76" name="Rectangle 29">
            <a:extLst>
              <a:ext uri="{FF2B5EF4-FFF2-40B4-BE49-F238E27FC236}">
                <a16:creationId xmlns:a16="http://schemas.microsoft.com/office/drawing/2014/main" id="{75906DAF-D632-DFE1-A336-7943CDAA5379}"/>
              </a:ext>
            </a:extLst>
          </p:cNvPr>
          <p:cNvSpPr/>
          <p:nvPr/>
        </p:nvSpPr>
        <p:spPr>
          <a:xfrm>
            <a:off x="58948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78" name="Rectangle 30">
            <a:extLst>
              <a:ext uri="{FF2B5EF4-FFF2-40B4-BE49-F238E27FC236}">
                <a16:creationId xmlns:a16="http://schemas.microsoft.com/office/drawing/2014/main" id="{CD032C05-9EE1-EF04-2AFC-D7D5BC88127F}"/>
              </a:ext>
            </a:extLst>
          </p:cNvPr>
          <p:cNvSpPr/>
          <p:nvPr/>
        </p:nvSpPr>
        <p:spPr>
          <a:xfrm>
            <a:off x="58948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再購入・再来店の</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タイミングで必要な人</a:t>
            </a:r>
            <a:r>
              <a:rPr lang="ja-JP" altLang="en-US" sz="1100" b="1" dirty="0">
                <a:solidFill>
                  <a:srgbClr val="333333"/>
                </a:solidFill>
                <a:latin typeface="メイリオ"/>
                <a:ea typeface="メイリオ"/>
                <a:cs typeface="メイリオ"/>
              </a:rPr>
              <a:t>へ</a:t>
            </a:r>
            <a:endParaRPr sz="1100" b="1" dirty="0">
              <a:solidFill>
                <a:srgbClr val="333333"/>
              </a:solidFill>
              <a:latin typeface="メイリオ"/>
              <a:ea typeface="メイリオ"/>
              <a:cs typeface="メイリオ"/>
            </a:endParaRPr>
          </a:p>
        </p:txBody>
      </p:sp>
      <p:sp>
        <p:nvSpPr>
          <p:cNvPr id="80" name="Rectangle 31">
            <a:extLst>
              <a:ext uri="{FF2B5EF4-FFF2-40B4-BE49-F238E27FC236}">
                <a16:creationId xmlns:a16="http://schemas.microsoft.com/office/drawing/2014/main" id="{BFF607A5-74EE-9D3F-E07E-23B5DAB0505C}"/>
              </a:ext>
            </a:extLst>
          </p:cNvPr>
          <p:cNvSpPr/>
          <p:nvPr/>
        </p:nvSpPr>
        <p:spPr>
          <a:xfrm>
            <a:off x="58948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82" name="Rectangle 32">
            <a:extLst>
              <a:ext uri="{FF2B5EF4-FFF2-40B4-BE49-F238E27FC236}">
                <a16:creationId xmlns:a16="http://schemas.microsoft.com/office/drawing/2014/main" id="{50FD0BE7-952B-2A01-998C-6E1602F9524C}"/>
              </a:ext>
            </a:extLst>
          </p:cNvPr>
          <p:cNvSpPr/>
          <p:nvPr/>
        </p:nvSpPr>
        <p:spPr>
          <a:xfrm>
            <a:off x="58948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リピート率／再来店数／購入間隔</a:t>
            </a:r>
          </a:p>
        </p:txBody>
      </p:sp>
      <p:sp>
        <p:nvSpPr>
          <p:cNvPr id="84" name="Rectangle 33">
            <a:extLst>
              <a:ext uri="{FF2B5EF4-FFF2-40B4-BE49-F238E27FC236}">
                <a16:creationId xmlns:a16="http://schemas.microsoft.com/office/drawing/2014/main" id="{FC2A570B-9E54-FAC3-01D5-C53C4A413CC4}"/>
              </a:ext>
            </a:extLst>
          </p:cNvPr>
          <p:cNvSpPr/>
          <p:nvPr/>
        </p:nvSpPr>
        <p:spPr>
          <a:xfrm>
            <a:off x="58948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86" name="Rectangle 34">
            <a:extLst>
              <a:ext uri="{FF2B5EF4-FFF2-40B4-BE49-F238E27FC236}">
                <a16:creationId xmlns:a16="http://schemas.microsoft.com/office/drawing/2014/main" id="{CC3A9112-7923-428F-67F2-2231466F8C27}"/>
              </a:ext>
            </a:extLst>
          </p:cNvPr>
          <p:cNvSpPr/>
          <p:nvPr/>
        </p:nvSpPr>
        <p:spPr>
          <a:xfrm>
            <a:off x="58948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企画配信／セグメント／ステップ配信</a:t>
            </a:r>
          </a:p>
        </p:txBody>
      </p:sp>
      <p:sp>
        <p:nvSpPr>
          <p:cNvPr id="90" name="Rectangle 36">
            <a:extLst>
              <a:ext uri="{FF2B5EF4-FFF2-40B4-BE49-F238E27FC236}">
                <a16:creationId xmlns:a16="http://schemas.microsoft.com/office/drawing/2014/main" id="{E81296C5-352B-E383-B51D-61DCBDFB5FD6}"/>
              </a:ext>
            </a:extLst>
          </p:cNvPr>
          <p:cNvSpPr/>
          <p:nvPr/>
        </p:nvSpPr>
        <p:spPr>
          <a:xfrm>
            <a:off x="7723632" y="2163060"/>
            <a:ext cx="1773936" cy="685800"/>
          </a:xfrm>
          <a:prstGeom prst="rect">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250" b="1">
                <a:solidFill>
                  <a:srgbClr val="FFFFFF"/>
                </a:solidFill>
                <a:latin typeface="メイリオ"/>
                <a:ea typeface="メイリオ"/>
                <a:cs typeface="メイリオ"/>
              </a:rPr>
              <a:t>限定コミュニティ運営</a:t>
            </a:r>
          </a:p>
          <a:p>
            <a:pPr algn="ctr">
              <a:spcAft>
                <a:spcPts val="0"/>
              </a:spcAft>
            </a:pPr>
            <a:r>
              <a:rPr sz="950" b="0">
                <a:solidFill>
                  <a:srgbClr val="FFFFFF"/>
                </a:solidFill>
                <a:latin typeface="メイリオ"/>
                <a:ea typeface="メイリオ"/>
                <a:cs typeface="メイリオ"/>
              </a:rPr>
              <a:t>ファン化</a:t>
            </a:r>
          </a:p>
        </p:txBody>
      </p:sp>
      <p:sp>
        <p:nvSpPr>
          <p:cNvPr id="92" name="Rectangle 37">
            <a:extLst>
              <a:ext uri="{FF2B5EF4-FFF2-40B4-BE49-F238E27FC236}">
                <a16:creationId xmlns:a16="http://schemas.microsoft.com/office/drawing/2014/main" id="{4F8A6AAC-536B-B6BB-71E9-3125F900E9F4}"/>
              </a:ext>
            </a:extLst>
          </p:cNvPr>
          <p:cNvSpPr/>
          <p:nvPr/>
        </p:nvSpPr>
        <p:spPr>
          <a:xfrm>
            <a:off x="7723632" y="2887178"/>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目的</a:t>
            </a:r>
          </a:p>
        </p:txBody>
      </p:sp>
      <p:sp>
        <p:nvSpPr>
          <p:cNvPr id="94" name="Rectangle 38">
            <a:extLst>
              <a:ext uri="{FF2B5EF4-FFF2-40B4-BE49-F238E27FC236}">
                <a16:creationId xmlns:a16="http://schemas.microsoft.com/office/drawing/2014/main" id="{D7046182-3DF8-2C37-71A9-B94D9F3579B2}"/>
              </a:ext>
            </a:extLst>
          </p:cNvPr>
          <p:cNvSpPr/>
          <p:nvPr/>
        </p:nvSpPr>
        <p:spPr>
          <a:xfrm>
            <a:off x="7723632" y="3143209"/>
            <a:ext cx="1773936" cy="896112"/>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100" b="1" dirty="0" err="1">
                <a:solidFill>
                  <a:srgbClr val="333333"/>
                </a:solidFill>
                <a:latin typeface="メイリオ"/>
                <a:ea typeface="メイリオ"/>
                <a:cs typeface="メイリオ"/>
              </a:rPr>
              <a:t>会員・ファン向けに</a:t>
            </a:r>
            <a:endParaRPr lang="en-US" sz="1100" b="1" dirty="0">
              <a:solidFill>
                <a:srgbClr val="333333"/>
              </a:solidFill>
              <a:latin typeface="メイリオ"/>
              <a:ea typeface="メイリオ"/>
              <a:cs typeface="メイリオ"/>
            </a:endParaRPr>
          </a:p>
          <a:p>
            <a:pPr algn="l">
              <a:spcAft>
                <a:spcPts val="0"/>
              </a:spcAft>
            </a:pPr>
            <a:r>
              <a:rPr sz="1100" b="1" dirty="0" err="1">
                <a:solidFill>
                  <a:srgbClr val="333333"/>
                </a:solidFill>
                <a:latin typeface="メイリオ"/>
                <a:ea typeface="メイリオ"/>
                <a:cs typeface="メイリオ"/>
              </a:rPr>
              <a:t>限定情報と特典を届け</a:t>
            </a:r>
            <a:r>
              <a:rPr lang="ja-JP" altLang="en-US" sz="1100" b="1" dirty="0">
                <a:solidFill>
                  <a:srgbClr val="333333"/>
                </a:solidFill>
                <a:latin typeface="メイリオ"/>
                <a:ea typeface="メイリオ"/>
                <a:cs typeface="メイリオ"/>
              </a:rPr>
              <a:t>る</a:t>
            </a:r>
            <a:endParaRPr sz="1100" b="1" dirty="0">
              <a:solidFill>
                <a:srgbClr val="333333"/>
              </a:solidFill>
              <a:latin typeface="メイリオ"/>
              <a:ea typeface="メイリオ"/>
              <a:cs typeface="メイリオ"/>
            </a:endParaRPr>
          </a:p>
        </p:txBody>
      </p:sp>
      <p:sp>
        <p:nvSpPr>
          <p:cNvPr id="96" name="Rectangle 39">
            <a:extLst>
              <a:ext uri="{FF2B5EF4-FFF2-40B4-BE49-F238E27FC236}">
                <a16:creationId xmlns:a16="http://schemas.microsoft.com/office/drawing/2014/main" id="{B6098F37-D497-5015-0B5E-21B88967F2BD}"/>
              </a:ext>
            </a:extLst>
          </p:cNvPr>
          <p:cNvSpPr/>
          <p:nvPr/>
        </p:nvSpPr>
        <p:spPr>
          <a:xfrm>
            <a:off x="7723632" y="4147747"/>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2"/>
                </a:solidFill>
                <a:latin typeface="メイリオ"/>
                <a:ea typeface="メイリオ"/>
                <a:cs typeface="メイリオ"/>
              </a:rPr>
              <a:t>追う指標</a:t>
            </a:r>
          </a:p>
        </p:txBody>
      </p:sp>
      <p:sp>
        <p:nvSpPr>
          <p:cNvPr id="98" name="Rectangle 40">
            <a:extLst>
              <a:ext uri="{FF2B5EF4-FFF2-40B4-BE49-F238E27FC236}">
                <a16:creationId xmlns:a16="http://schemas.microsoft.com/office/drawing/2014/main" id="{0BE96C36-A9FB-4161-3395-F63CA2F081B0}"/>
              </a:ext>
            </a:extLst>
          </p:cNvPr>
          <p:cNvSpPr/>
          <p:nvPr/>
        </p:nvSpPr>
        <p:spPr>
          <a:xfrm>
            <a:off x="7723632" y="4403161"/>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会員数／反応率／参加率／紹介数</a:t>
            </a:r>
          </a:p>
        </p:txBody>
      </p:sp>
      <p:sp>
        <p:nvSpPr>
          <p:cNvPr id="100" name="Rectangle 41">
            <a:extLst>
              <a:ext uri="{FF2B5EF4-FFF2-40B4-BE49-F238E27FC236}">
                <a16:creationId xmlns:a16="http://schemas.microsoft.com/office/drawing/2014/main" id="{F797EE57-6A7A-D477-5F93-76E5E55D9A24}"/>
              </a:ext>
            </a:extLst>
          </p:cNvPr>
          <p:cNvSpPr/>
          <p:nvPr/>
        </p:nvSpPr>
        <p:spPr>
          <a:xfrm>
            <a:off x="7723632" y="5251553"/>
            <a:ext cx="1773936" cy="256032"/>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chemeClr val="tx1"/>
                </a:solidFill>
                <a:latin typeface="メイリオ"/>
                <a:ea typeface="メイリオ"/>
                <a:cs typeface="メイリオ"/>
              </a:rPr>
              <a:t>向いている機能</a:t>
            </a:r>
          </a:p>
        </p:txBody>
      </p:sp>
      <p:sp>
        <p:nvSpPr>
          <p:cNvPr id="102" name="Rectangle 42">
            <a:extLst>
              <a:ext uri="{FF2B5EF4-FFF2-40B4-BE49-F238E27FC236}">
                <a16:creationId xmlns:a16="http://schemas.microsoft.com/office/drawing/2014/main" id="{23E4C735-B371-F9B9-63D2-A7A1E489E4DC}"/>
              </a:ext>
            </a:extLst>
          </p:cNvPr>
          <p:cNvSpPr/>
          <p:nvPr/>
        </p:nvSpPr>
        <p:spPr>
          <a:xfrm>
            <a:off x="7723632" y="5515675"/>
            <a:ext cx="1773936" cy="740588"/>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000" b="0">
                <a:solidFill>
                  <a:schemeClr val="tx1">
                    <a:lumMod val="65000"/>
                    <a:lumOff val="35000"/>
                  </a:schemeClr>
                </a:solidFill>
                <a:latin typeface="メイリオ"/>
                <a:ea typeface="メイリオ"/>
                <a:cs typeface="メイリオ"/>
              </a:rPr>
              <a:t>タグ・セグメント／企画配信／リッチメニュー</a:t>
            </a:r>
          </a:p>
        </p:txBody>
      </p:sp>
      <p:sp>
        <p:nvSpPr>
          <p:cNvPr id="104" name="Rectangle 43">
            <a:extLst>
              <a:ext uri="{FF2B5EF4-FFF2-40B4-BE49-F238E27FC236}">
                <a16:creationId xmlns:a16="http://schemas.microsoft.com/office/drawing/2014/main" id="{FADE5E5B-B891-E92E-6D6C-55784FACE1C5}"/>
              </a:ext>
            </a:extLst>
          </p:cNvPr>
          <p:cNvSpPr/>
          <p:nvPr/>
        </p:nvSpPr>
        <p:spPr>
          <a:xfrm>
            <a:off x="408432" y="6373649"/>
            <a:ext cx="9144000" cy="91"/>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a:p>
        </p:txBody>
      </p:sp>
      <p:sp>
        <p:nvSpPr>
          <p:cNvPr id="106" name="Rectangle 44">
            <a:extLst>
              <a:ext uri="{FF2B5EF4-FFF2-40B4-BE49-F238E27FC236}">
                <a16:creationId xmlns:a16="http://schemas.microsoft.com/office/drawing/2014/main" id="{1398E17B-A660-9AA8-3264-8469AAE20AC9}"/>
              </a:ext>
            </a:extLst>
          </p:cNvPr>
          <p:cNvSpPr/>
          <p:nvPr/>
        </p:nvSpPr>
        <p:spPr>
          <a:xfrm>
            <a:off x="408432" y="6316543"/>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※一般的な整理。貴社の目的に合わせて重みづけを調整します</a:t>
            </a:r>
          </a:p>
        </p:txBody>
      </p:sp>
      <p:sp>
        <p:nvSpPr>
          <p:cNvPr id="108" name="Oval 3">
            <a:extLst>
              <a:ext uri="{FF2B5EF4-FFF2-40B4-BE49-F238E27FC236}">
                <a16:creationId xmlns:a16="http://schemas.microsoft.com/office/drawing/2014/main" id="{57AC0B05-AFA9-1596-F07B-3F4E24B73CD1}"/>
              </a:ext>
            </a:extLst>
          </p:cNvPr>
          <p:cNvSpPr/>
          <p:nvPr/>
        </p:nvSpPr>
        <p:spPr>
          <a:xfrm>
            <a:off x="3823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1</a:t>
            </a:r>
          </a:p>
        </p:txBody>
      </p:sp>
      <p:sp>
        <p:nvSpPr>
          <p:cNvPr id="110" name="Oval 11">
            <a:extLst>
              <a:ext uri="{FF2B5EF4-FFF2-40B4-BE49-F238E27FC236}">
                <a16:creationId xmlns:a16="http://schemas.microsoft.com/office/drawing/2014/main" id="{301FA881-6688-198B-2701-68129B242FE7}"/>
              </a:ext>
            </a:extLst>
          </p:cNvPr>
          <p:cNvSpPr/>
          <p:nvPr/>
        </p:nvSpPr>
        <p:spPr>
          <a:xfrm>
            <a:off x="22111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2</a:t>
            </a:r>
          </a:p>
        </p:txBody>
      </p:sp>
      <p:sp>
        <p:nvSpPr>
          <p:cNvPr id="112" name="Oval 19">
            <a:extLst>
              <a:ext uri="{FF2B5EF4-FFF2-40B4-BE49-F238E27FC236}">
                <a16:creationId xmlns:a16="http://schemas.microsoft.com/office/drawing/2014/main" id="{E3DF8A67-626B-3C95-A49A-BFCF74DB564F}"/>
              </a:ext>
            </a:extLst>
          </p:cNvPr>
          <p:cNvSpPr/>
          <p:nvPr/>
        </p:nvSpPr>
        <p:spPr>
          <a:xfrm>
            <a:off x="40399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3</a:t>
            </a:r>
          </a:p>
        </p:txBody>
      </p:sp>
      <p:sp>
        <p:nvSpPr>
          <p:cNvPr id="114" name="Oval 27">
            <a:extLst>
              <a:ext uri="{FF2B5EF4-FFF2-40B4-BE49-F238E27FC236}">
                <a16:creationId xmlns:a16="http://schemas.microsoft.com/office/drawing/2014/main" id="{31028558-CEAD-B484-640D-13F5CB89F12B}"/>
              </a:ext>
            </a:extLst>
          </p:cNvPr>
          <p:cNvSpPr/>
          <p:nvPr/>
        </p:nvSpPr>
        <p:spPr>
          <a:xfrm>
            <a:off x="5868706"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4</a:t>
            </a:r>
          </a:p>
        </p:txBody>
      </p:sp>
      <p:sp>
        <p:nvSpPr>
          <p:cNvPr id="116" name="Oval 35">
            <a:extLst>
              <a:ext uri="{FF2B5EF4-FFF2-40B4-BE49-F238E27FC236}">
                <a16:creationId xmlns:a16="http://schemas.microsoft.com/office/drawing/2014/main" id="{713600C5-45EC-B1DD-3B2D-86B0566C431F}"/>
              </a:ext>
            </a:extLst>
          </p:cNvPr>
          <p:cNvSpPr/>
          <p:nvPr/>
        </p:nvSpPr>
        <p:spPr>
          <a:xfrm>
            <a:off x="7697505" y="2042144"/>
            <a:ext cx="343501" cy="283885"/>
          </a:xfrm>
          <a:prstGeom prst="ellipse">
            <a:avLst/>
          </a:prstGeom>
          <a:solidFill>
            <a:schemeClr val="bg1">
              <a:lumMod val="8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50" b="1">
                <a:solidFill>
                  <a:schemeClr val="tx1"/>
                </a:solidFill>
                <a:latin typeface="メイリオ"/>
                <a:ea typeface="メイリオ"/>
                <a:cs typeface="メイリオ"/>
              </a:rPr>
              <a:t>5</a:t>
            </a:r>
          </a:p>
        </p:txBody>
      </p:sp>
    </p:spTree>
    <p:extLst>
      <p:ext uri="{BB962C8B-B14F-4D97-AF65-F5344CB8AC3E}">
        <p14:creationId xmlns:p14="http://schemas.microsoft.com/office/powerpoint/2010/main" val="40808659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97C76-735E-4062-F6F5-F8388CBB95DC}"/>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44A10F2E-7086-34EF-5EA3-C29208499DA7}"/>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D5D17E13-7926-4FEF-B3DF-46643C07A612}"/>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42E8D0AC-7EB6-A26E-FB83-BB611CE20B52}"/>
              </a:ext>
            </a:extLst>
          </p:cNvPr>
          <p:cNvSpPr txBox="1"/>
          <p:nvPr/>
        </p:nvSpPr>
        <p:spPr>
          <a:xfrm>
            <a:off x="96788" y="619405"/>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施策全体図</a:t>
            </a:r>
            <a:endParaRPr lang="ja-JP" altLang="en-US" sz="1100" dirty="0"/>
          </a:p>
        </p:txBody>
      </p:sp>
      <p:sp>
        <p:nvSpPr>
          <p:cNvPr id="7" name="テキスト ボックス 6">
            <a:extLst>
              <a:ext uri="{FF2B5EF4-FFF2-40B4-BE49-F238E27FC236}">
                <a16:creationId xmlns:a16="http://schemas.microsoft.com/office/drawing/2014/main" id="{A23B7626-A436-9A82-DD49-5F8A69ED9A70}"/>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集客・獲得 → 即時分類 → 分岐育成 → 成果回収 の4ステップで描く、LINE施策の全体図</a:t>
            </a:r>
            <a:endParaRPr lang="ja-JP" altLang="en-US" sz="1000" dirty="0"/>
          </a:p>
        </p:txBody>
      </p:sp>
      <p:sp>
        <p:nvSpPr>
          <p:cNvPr id="9" name="テキスト ボックス 8">
            <a:extLst>
              <a:ext uri="{FF2B5EF4-FFF2-40B4-BE49-F238E27FC236}">
                <a16:creationId xmlns:a16="http://schemas.microsoft.com/office/drawing/2014/main" id="{60D95125-3520-4FA9-64C6-1958F1FF1A74}"/>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59" name="Pentagon 58"/>
          <p:cNvSpPr/>
          <p:nvPr/>
        </p:nvSpPr>
        <p:spPr>
          <a:xfrm>
            <a:off x="365760" y="1810512"/>
            <a:ext cx="2258568" cy="420624"/>
          </a:xfrm>
          <a:prstGeom prst="homePlate">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STEP1　集客・獲得</a:t>
            </a:r>
          </a:p>
        </p:txBody>
      </p:sp>
      <p:sp>
        <p:nvSpPr>
          <p:cNvPr id="60" name="Chevron 59"/>
          <p:cNvSpPr/>
          <p:nvPr/>
        </p:nvSpPr>
        <p:spPr>
          <a:xfrm>
            <a:off x="2496312" y="1810512"/>
            <a:ext cx="245973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STEP2　即時分類</a:t>
            </a:r>
          </a:p>
        </p:txBody>
      </p:sp>
      <p:sp>
        <p:nvSpPr>
          <p:cNvPr id="61" name="Chevron 60"/>
          <p:cNvSpPr/>
          <p:nvPr/>
        </p:nvSpPr>
        <p:spPr>
          <a:xfrm>
            <a:off x="4919472" y="1810512"/>
            <a:ext cx="2551176" cy="420624"/>
          </a:xfrm>
          <a:prstGeom prst="chevron">
            <a:avLst>
              <a:gd name="adj" fmla="val 30000"/>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STEP3　分岐育成</a:t>
            </a:r>
          </a:p>
        </p:txBody>
      </p:sp>
      <p:sp>
        <p:nvSpPr>
          <p:cNvPr id="62" name="Chevron 61"/>
          <p:cNvSpPr/>
          <p:nvPr/>
        </p:nvSpPr>
        <p:spPr>
          <a:xfrm>
            <a:off x="7434071" y="1810512"/>
            <a:ext cx="2304288" cy="420624"/>
          </a:xfrm>
          <a:prstGeom prst="chevron">
            <a:avLst>
              <a:gd name="adj" fmla="val 30000"/>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108000" tIns="7200" rIns="72000" bIns="7200" rtlCol="0" anchor="ctr"/>
          <a:lstStyle/>
          <a:p>
            <a:pPr algn="ctr">
              <a:lnSpc>
                <a:spcPct val="110000"/>
              </a:lnSpc>
              <a:spcAft>
                <a:spcPts val="0"/>
              </a:spcAft>
            </a:pPr>
            <a:r>
              <a:rPr sz="1300" b="1">
                <a:solidFill>
                  <a:srgbClr val="FFFFFF"/>
                </a:solidFill>
                <a:latin typeface="メイリオ"/>
                <a:ea typeface="メイリオ"/>
                <a:cs typeface="メイリオ"/>
              </a:rPr>
              <a:t>STEP4　成果回収</a:t>
            </a:r>
          </a:p>
        </p:txBody>
      </p:sp>
      <p:sp>
        <p:nvSpPr>
          <p:cNvPr id="63" name="Rectangle 62"/>
          <p:cNvSpPr/>
          <p:nvPr/>
        </p:nvSpPr>
        <p:spPr>
          <a:xfrm>
            <a:off x="36576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広告・SEOの来訪者のうち</a:t>
            </a:r>
          </a:p>
          <a:p>
            <a:pPr algn="ctr">
              <a:lnSpc>
                <a:spcPct val="110000"/>
              </a:lnSpc>
              <a:spcAft>
                <a:spcPts val="0"/>
              </a:spcAft>
            </a:pPr>
            <a:r>
              <a:rPr sz="1400" b="1">
                <a:solidFill>
                  <a:srgbClr val="1F2A5C"/>
                </a:solidFill>
                <a:latin typeface="メイリオ"/>
                <a:ea typeface="メイリオ"/>
                <a:cs typeface="メイリオ"/>
              </a:rPr>
              <a:t>離脱する 約99%</a:t>
            </a:r>
          </a:p>
        </p:txBody>
      </p:sp>
      <p:cxnSp>
        <p:nvCxnSpPr>
          <p:cNvPr id="64" name="Connector 63"/>
          <p:cNvCxnSpPr/>
          <p:nvPr/>
        </p:nvCxnSpPr>
        <p:spPr>
          <a:xfrm>
            <a:off x="139446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5" name="Rectangle 64"/>
          <p:cNvSpPr/>
          <p:nvPr/>
        </p:nvSpPr>
        <p:spPr>
          <a:xfrm>
            <a:off x="365760" y="3337559"/>
            <a:ext cx="2057400" cy="73152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300" b="1">
                <a:solidFill>
                  <a:srgbClr val="1F2A5C"/>
                </a:solidFill>
                <a:latin typeface="メイリオ"/>
                <a:ea typeface="メイリオ"/>
                <a:cs typeface="メイリオ"/>
              </a:rPr>
              <a:t>ポップアップ</a:t>
            </a:r>
          </a:p>
          <a:p>
            <a:pPr algn="ctr">
              <a:lnSpc>
                <a:spcPct val="110000"/>
              </a:lnSpc>
              <a:spcAft>
                <a:spcPts val="0"/>
              </a:spcAft>
            </a:pPr>
            <a:r>
              <a:rPr sz="1300" b="1">
                <a:solidFill>
                  <a:srgbClr val="1F2A5C"/>
                </a:solidFill>
                <a:latin typeface="メイリオ"/>
                <a:ea typeface="メイリオ"/>
                <a:cs typeface="メイリオ"/>
              </a:rPr>
              <a:t>通知メッセージ</a:t>
            </a:r>
          </a:p>
        </p:txBody>
      </p:sp>
      <p:sp>
        <p:nvSpPr>
          <p:cNvPr id="66" name="TextBox 65"/>
          <p:cNvSpPr txBox="1"/>
          <p:nvPr/>
        </p:nvSpPr>
        <p:spPr>
          <a:xfrm>
            <a:off x="36576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サイトを離れる前に表示</a:t>
            </a:r>
          </a:p>
          <a:p>
            <a:pPr algn="ctr">
              <a:lnSpc>
                <a:spcPct val="105000"/>
              </a:lnSpc>
              <a:spcAft>
                <a:spcPts val="200"/>
              </a:spcAft>
            </a:pPr>
            <a:r>
              <a:rPr sz="1050" b="0">
                <a:solidFill>
                  <a:srgbClr val="777777"/>
                </a:solidFill>
                <a:latin typeface="メイリオ"/>
                <a:ea typeface="メイリオ"/>
                <a:cs typeface="メイリオ"/>
              </a:rPr>
              <a:t>保有リストにも届ける</a:t>
            </a:r>
          </a:p>
        </p:txBody>
      </p:sp>
      <p:cxnSp>
        <p:nvCxnSpPr>
          <p:cNvPr id="67" name="Connector 66"/>
          <p:cNvCxnSpPr/>
          <p:nvPr/>
        </p:nvCxnSpPr>
        <p:spPr>
          <a:xfrm>
            <a:off x="2423160" y="3703319"/>
            <a:ext cx="274320"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68" name="Rectangle 67"/>
          <p:cNvSpPr/>
          <p:nvPr/>
        </p:nvSpPr>
        <p:spPr>
          <a:xfrm>
            <a:off x="2697480" y="2468880"/>
            <a:ext cx="2057400"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100" b="0">
                <a:solidFill>
                  <a:srgbClr val="333333"/>
                </a:solidFill>
                <a:latin typeface="メイリオ"/>
                <a:ea typeface="メイリオ"/>
                <a:cs typeface="メイリオ"/>
              </a:rPr>
              <a:t>最も反応が高い</a:t>
            </a:r>
          </a:p>
          <a:p>
            <a:pPr algn="ctr">
              <a:lnSpc>
                <a:spcPct val="110000"/>
              </a:lnSpc>
              <a:spcAft>
                <a:spcPts val="0"/>
              </a:spcAft>
            </a:pPr>
            <a:r>
              <a:rPr sz="1400" b="1">
                <a:solidFill>
                  <a:srgbClr val="1F2A5C"/>
                </a:solidFill>
                <a:latin typeface="メイリオ"/>
                <a:ea typeface="メイリオ"/>
                <a:cs typeface="メイリオ"/>
              </a:rPr>
              <a:t>友だち追加の直後</a:t>
            </a:r>
          </a:p>
        </p:txBody>
      </p:sp>
      <p:cxnSp>
        <p:nvCxnSpPr>
          <p:cNvPr id="69" name="Connector 68"/>
          <p:cNvCxnSpPr/>
          <p:nvPr/>
        </p:nvCxnSpPr>
        <p:spPr>
          <a:xfrm>
            <a:off x="3726180"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70" name="Rectangle 69"/>
          <p:cNvSpPr/>
          <p:nvPr/>
        </p:nvSpPr>
        <p:spPr>
          <a:xfrm>
            <a:off x="2697480" y="3337559"/>
            <a:ext cx="2057400" cy="27432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100" b="1">
                <a:solidFill>
                  <a:srgbClr val="FFFFFF"/>
                </a:solidFill>
                <a:latin typeface="メイリオ"/>
                <a:ea typeface="メイリオ"/>
                <a:cs typeface="メイリオ"/>
              </a:rPr>
              <a:t>LINE友だち追加</a:t>
            </a:r>
          </a:p>
        </p:txBody>
      </p:sp>
      <p:sp>
        <p:nvSpPr>
          <p:cNvPr id="71" name="Rectangle 70"/>
          <p:cNvSpPr/>
          <p:nvPr/>
        </p:nvSpPr>
        <p:spPr>
          <a:xfrm>
            <a:off x="2697480" y="3611880"/>
            <a:ext cx="2057400" cy="45720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300" b="1">
                <a:solidFill>
                  <a:srgbClr val="FFFFFF"/>
                </a:solidFill>
                <a:latin typeface="メイリオ"/>
                <a:ea typeface="メイリオ"/>
                <a:cs typeface="メイリオ"/>
              </a:rPr>
              <a:t>Day0 アンケート・診断</a:t>
            </a:r>
          </a:p>
        </p:txBody>
      </p:sp>
      <p:sp>
        <p:nvSpPr>
          <p:cNvPr id="72" name="TextBox 71"/>
          <p:cNvSpPr txBox="1"/>
          <p:nvPr/>
        </p:nvSpPr>
        <p:spPr>
          <a:xfrm>
            <a:off x="2697480" y="4133087"/>
            <a:ext cx="2057400" cy="502920"/>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属性・検討度を分け、</a:t>
            </a:r>
          </a:p>
          <a:p>
            <a:pPr algn="ctr">
              <a:lnSpc>
                <a:spcPct val="105000"/>
              </a:lnSpc>
              <a:spcAft>
                <a:spcPts val="200"/>
              </a:spcAft>
            </a:pPr>
            <a:r>
              <a:rPr sz="1050" b="0">
                <a:solidFill>
                  <a:srgbClr val="777777"/>
                </a:solidFill>
                <a:latin typeface="メイリオ"/>
                <a:ea typeface="メイリオ"/>
                <a:cs typeface="メイリオ"/>
              </a:rPr>
              <a:t>次の配信を出し分ける</a:t>
            </a:r>
          </a:p>
        </p:txBody>
      </p:sp>
      <p:sp>
        <p:nvSpPr>
          <p:cNvPr id="73" name="Rectangle 72"/>
          <p:cNvSpPr/>
          <p:nvPr/>
        </p:nvSpPr>
        <p:spPr>
          <a:xfrm>
            <a:off x="5120639" y="246888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短期集中トラック</a:t>
            </a:r>
          </a:p>
          <a:p>
            <a:pPr algn="ctr">
              <a:lnSpc>
                <a:spcPct val="110000"/>
              </a:lnSpc>
              <a:spcAft>
                <a:spcPts val="0"/>
              </a:spcAft>
            </a:pPr>
            <a:r>
              <a:rPr sz="1050" b="0">
                <a:solidFill>
                  <a:srgbClr val="333333"/>
                </a:solidFill>
                <a:latin typeface="メイリオ"/>
                <a:ea typeface="メイリオ"/>
                <a:cs typeface="メイリオ"/>
              </a:rPr>
              <a:t>Day0〜15｜検討度が高い方</a:t>
            </a:r>
          </a:p>
          <a:p>
            <a:pPr algn="ctr">
              <a:lnSpc>
                <a:spcPct val="110000"/>
              </a:lnSpc>
              <a:spcAft>
                <a:spcPts val="0"/>
              </a:spcAft>
            </a:pPr>
            <a:r>
              <a:rPr sz="1050" b="1">
                <a:solidFill>
                  <a:srgbClr val="333333"/>
                </a:solidFill>
                <a:latin typeface="メイリオ"/>
                <a:ea typeface="メイリオ"/>
                <a:cs typeface="メイリオ"/>
              </a:rPr>
              <a:t>15日の壁を超えるステップ配信</a:t>
            </a:r>
          </a:p>
        </p:txBody>
      </p:sp>
      <p:sp>
        <p:nvSpPr>
          <p:cNvPr id="74" name="Rectangle 73"/>
          <p:cNvSpPr/>
          <p:nvPr/>
        </p:nvSpPr>
        <p:spPr>
          <a:xfrm>
            <a:off x="5120639" y="3749040"/>
            <a:ext cx="2148840" cy="1051560"/>
          </a:xfrm>
          <a:prstGeom prst="rect">
            <a:avLst/>
          </a:prstGeom>
          <a:solidFill>
            <a:srgbClr val="FFFFFF"/>
          </a:solidFill>
          <a:ln w="15875">
            <a:solidFill>
              <a:srgbClr val="1F2A5C"/>
            </a:solid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200"/>
              </a:spcAft>
            </a:pPr>
            <a:r>
              <a:rPr sz="1300" b="1">
                <a:solidFill>
                  <a:srgbClr val="1F2A5C"/>
                </a:solidFill>
                <a:latin typeface="メイリオ"/>
                <a:ea typeface="メイリオ"/>
                <a:cs typeface="メイリオ"/>
              </a:rPr>
              <a:t>中長期トラック</a:t>
            </a:r>
          </a:p>
          <a:p>
            <a:pPr algn="ctr">
              <a:lnSpc>
                <a:spcPct val="110000"/>
              </a:lnSpc>
              <a:spcAft>
                <a:spcPts val="0"/>
              </a:spcAft>
            </a:pPr>
            <a:r>
              <a:rPr sz="1050" b="0">
                <a:solidFill>
                  <a:srgbClr val="333333"/>
                </a:solidFill>
                <a:latin typeface="メイリオ"/>
                <a:ea typeface="メイリオ"/>
                <a:cs typeface="メイリオ"/>
              </a:rPr>
              <a:t>15日以降｜検討度が中・低の方</a:t>
            </a:r>
          </a:p>
          <a:p>
            <a:pPr algn="ctr">
              <a:lnSpc>
                <a:spcPct val="110000"/>
              </a:lnSpc>
              <a:spcAft>
                <a:spcPts val="0"/>
              </a:spcAft>
            </a:pPr>
            <a:r>
              <a:rPr sz="1050" b="1">
                <a:solidFill>
                  <a:srgbClr val="333333"/>
                </a:solidFill>
                <a:latin typeface="メイリオ"/>
                <a:ea typeface="メイリオ"/>
                <a:cs typeface="メイリオ"/>
              </a:rPr>
              <a:t>シーズナリティ連動の企画配信</a:t>
            </a:r>
          </a:p>
        </p:txBody>
      </p:sp>
      <p:cxnSp>
        <p:nvCxnSpPr>
          <p:cNvPr id="75" name="Connector 74"/>
          <p:cNvCxnSpPr/>
          <p:nvPr/>
        </p:nvCxnSpPr>
        <p:spPr>
          <a:xfrm>
            <a:off x="4754880" y="3703319"/>
            <a:ext cx="146304"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6" name="Connector 75"/>
          <p:cNvCxnSpPr/>
          <p:nvPr/>
        </p:nvCxnSpPr>
        <p:spPr>
          <a:xfrm>
            <a:off x="4901184"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77" name="Connector 76"/>
          <p:cNvCxnSpPr/>
          <p:nvPr/>
        </p:nvCxnSpPr>
        <p:spPr>
          <a:xfrm>
            <a:off x="4901184" y="299466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8" name="Connector 77"/>
          <p:cNvCxnSpPr/>
          <p:nvPr/>
        </p:nvCxnSpPr>
        <p:spPr>
          <a:xfrm>
            <a:off x="4901184" y="4274820"/>
            <a:ext cx="219455"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cxnSp>
        <p:nvCxnSpPr>
          <p:cNvPr id="79" name="Connector 78"/>
          <p:cNvCxnSpPr/>
          <p:nvPr/>
        </p:nvCxnSpPr>
        <p:spPr>
          <a:xfrm>
            <a:off x="6195059" y="3520440"/>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0" name="TextBox 79"/>
          <p:cNvSpPr txBox="1"/>
          <p:nvPr/>
        </p:nvSpPr>
        <p:spPr>
          <a:xfrm>
            <a:off x="6249923" y="3529583"/>
            <a:ext cx="914400" cy="210312"/>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15日後に合流</a:t>
            </a:r>
          </a:p>
        </p:txBody>
      </p:sp>
      <p:cxnSp>
        <p:nvCxnSpPr>
          <p:cNvPr id="81" name="Connector 80"/>
          <p:cNvCxnSpPr/>
          <p:nvPr/>
        </p:nvCxnSpPr>
        <p:spPr>
          <a:xfrm>
            <a:off x="7269479" y="299466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2" name="Connector 81"/>
          <p:cNvCxnSpPr/>
          <p:nvPr/>
        </p:nvCxnSpPr>
        <p:spPr>
          <a:xfrm>
            <a:off x="7269479" y="4274820"/>
            <a:ext cx="137160" cy="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3" name="Connector 82"/>
          <p:cNvCxnSpPr/>
          <p:nvPr/>
        </p:nvCxnSpPr>
        <p:spPr>
          <a:xfrm>
            <a:off x="7406639" y="2994660"/>
            <a:ext cx="0" cy="1280160"/>
          </a:xfrm>
          <a:prstGeom prst="line">
            <a:avLst/>
          </a:prstGeom>
          <a:ln w="22225">
            <a:solidFill>
              <a:srgbClr val="1F2A5C"/>
            </a:solidFill>
          </a:ln>
        </p:spPr>
        <p:style>
          <a:lnRef idx="2">
            <a:schemeClr val="accent1"/>
          </a:lnRef>
          <a:fillRef idx="0">
            <a:schemeClr val="accent1"/>
          </a:fillRef>
          <a:effectRef idx="0">
            <a:schemeClr val="accent1"/>
          </a:effectRef>
          <a:fontRef idx="minor">
            <a:schemeClr val="tx1"/>
          </a:fontRef>
        </p:style>
      </p:cxnSp>
      <p:cxnSp>
        <p:nvCxnSpPr>
          <p:cNvPr id="84" name="Connector 83"/>
          <p:cNvCxnSpPr/>
          <p:nvPr/>
        </p:nvCxnSpPr>
        <p:spPr>
          <a:xfrm>
            <a:off x="7406639" y="3703319"/>
            <a:ext cx="228601" cy="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5" name="Rectangle 84"/>
          <p:cNvSpPr/>
          <p:nvPr/>
        </p:nvSpPr>
        <p:spPr>
          <a:xfrm>
            <a:off x="7635240" y="2468880"/>
            <a:ext cx="1901952" cy="566928"/>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200" b="1">
                <a:solidFill>
                  <a:srgbClr val="1F2A5C"/>
                </a:solidFill>
                <a:latin typeface="メイリオ"/>
                <a:ea typeface="メイリオ"/>
                <a:cs typeface="メイリオ"/>
              </a:rPr>
              <a:t>不安・手続きの壁を</a:t>
            </a:r>
          </a:p>
          <a:p>
            <a:pPr algn="ctr">
              <a:lnSpc>
                <a:spcPct val="110000"/>
              </a:lnSpc>
              <a:spcAft>
                <a:spcPts val="0"/>
              </a:spcAft>
            </a:pPr>
            <a:r>
              <a:rPr sz="1200" b="1">
                <a:solidFill>
                  <a:srgbClr val="1F2A5C"/>
                </a:solidFill>
                <a:latin typeface="メイリオ"/>
                <a:ea typeface="メイリオ"/>
                <a:cs typeface="メイリオ"/>
              </a:rPr>
              <a:t>ひとつずつ解消</a:t>
            </a:r>
          </a:p>
        </p:txBody>
      </p:sp>
      <p:cxnSp>
        <p:nvCxnSpPr>
          <p:cNvPr id="86" name="Connector 85"/>
          <p:cNvCxnSpPr/>
          <p:nvPr/>
        </p:nvCxnSpPr>
        <p:spPr>
          <a:xfrm>
            <a:off x="8586216" y="3054096"/>
            <a:ext cx="0" cy="265176"/>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7" name="Rectangle 86"/>
          <p:cNvSpPr/>
          <p:nvPr/>
        </p:nvSpPr>
        <p:spPr>
          <a:xfrm>
            <a:off x="7635240" y="3337559"/>
            <a:ext cx="1901952" cy="73152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500" b="1">
                <a:solidFill>
                  <a:srgbClr val="FFFFFF"/>
                </a:solidFill>
                <a:latin typeface="メイリオ"/>
                <a:ea typeface="メイリオ"/>
                <a:cs typeface="メイリオ"/>
              </a:rPr>
              <a:t>CV</a:t>
            </a:r>
          </a:p>
          <a:p>
            <a:pPr algn="ctr">
              <a:lnSpc>
                <a:spcPct val="110000"/>
              </a:lnSpc>
              <a:spcAft>
                <a:spcPts val="0"/>
              </a:spcAft>
            </a:pPr>
            <a:r>
              <a:rPr sz="1100" b="0">
                <a:solidFill>
                  <a:srgbClr val="FFFFFF"/>
                </a:solidFill>
                <a:latin typeface="メイリオ"/>
                <a:ea typeface="メイリオ"/>
                <a:cs typeface="メイリオ"/>
              </a:rPr>
              <a:t>予約・面談・購入</a:t>
            </a:r>
          </a:p>
        </p:txBody>
      </p:sp>
      <p:cxnSp>
        <p:nvCxnSpPr>
          <p:cNvPr id="88" name="Connector 87"/>
          <p:cNvCxnSpPr/>
          <p:nvPr/>
        </p:nvCxnSpPr>
        <p:spPr>
          <a:xfrm>
            <a:off x="8586216" y="4087368"/>
            <a:ext cx="0" cy="228600"/>
          </a:xfrm>
          <a:prstGeom prst="line">
            <a:avLst/>
          </a:prstGeom>
          <a:ln w="22225">
            <a:solidFill>
              <a:srgbClr val="1F2A5C"/>
            </a:solidFill>
            <a:tailEnd type="triangle" w="med" len="med"/>
          </a:ln>
        </p:spPr>
        <p:style>
          <a:lnRef idx="2">
            <a:schemeClr val="accent1"/>
          </a:lnRef>
          <a:fillRef idx="0">
            <a:schemeClr val="accent1"/>
          </a:fillRef>
          <a:effectRef idx="0">
            <a:schemeClr val="accent1"/>
          </a:effectRef>
          <a:fontRef idx="minor">
            <a:schemeClr val="tx1"/>
          </a:fontRef>
        </p:style>
      </p:cxnSp>
      <p:sp>
        <p:nvSpPr>
          <p:cNvPr id="89" name="Rectangle 88"/>
          <p:cNvSpPr/>
          <p:nvPr/>
        </p:nvSpPr>
        <p:spPr>
          <a:xfrm>
            <a:off x="7635240" y="4334255"/>
            <a:ext cx="1901952" cy="502920"/>
          </a:xfrm>
          <a:prstGeom prst="rect">
            <a:avLst/>
          </a:prstGeom>
          <a:solidFill>
            <a:srgbClr val="1A1A1A"/>
          </a:solidFill>
          <a:ln>
            <a:noFill/>
          </a:ln>
          <a:effectLst/>
        </p:spPr>
        <p:style>
          <a:lnRef idx="1">
            <a:schemeClr val="accent1"/>
          </a:lnRef>
          <a:fillRef idx="3">
            <a:schemeClr val="accent1"/>
          </a:fillRef>
          <a:effectRef idx="0">
            <a:schemeClr val="accent1"/>
          </a:effectRef>
          <a:fontRef idx="minor">
            <a:schemeClr val="lt1"/>
          </a:fontRef>
        </p:style>
        <p:txBody>
          <a:bodyPr wrap="square" lIns="54000" tIns="18000" rIns="54000" bIns="18000" rtlCol="0" anchor="ctr"/>
          <a:lstStyle/>
          <a:p>
            <a:pPr algn="ctr">
              <a:lnSpc>
                <a:spcPct val="110000"/>
              </a:lnSpc>
              <a:spcAft>
                <a:spcPts val="0"/>
              </a:spcAft>
            </a:pPr>
            <a:r>
              <a:rPr sz="1400" b="1">
                <a:solidFill>
                  <a:srgbClr val="FFFFFF"/>
                </a:solidFill>
                <a:latin typeface="メイリオ"/>
                <a:ea typeface="メイリオ"/>
                <a:cs typeface="メイリオ"/>
              </a:rPr>
              <a:t>CPA・CPO 改善</a:t>
            </a:r>
          </a:p>
        </p:txBody>
      </p:sp>
      <p:cxnSp>
        <p:nvCxnSpPr>
          <p:cNvPr id="90" name="Connector 89"/>
          <p:cNvCxnSpPr/>
          <p:nvPr/>
        </p:nvCxnSpPr>
        <p:spPr>
          <a:xfrm>
            <a:off x="365760" y="5074920"/>
            <a:ext cx="9171432" cy="0"/>
          </a:xfrm>
          <a:prstGeom prst="line">
            <a:avLst/>
          </a:prstGeom>
          <a:ln w="9525">
            <a:solidFill>
              <a:srgbClr val="D0D5E0"/>
            </a:solidFill>
          </a:ln>
        </p:spPr>
        <p:style>
          <a:lnRef idx="2">
            <a:schemeClr val="accent1"/>
          </a:lnRef>
          <a:fillRef idx="0">
            <a:schemeClr val="accent1"/>
          </a:fillRef>
          <a:effectRef idx="0">
            <a:schemeClr val="accent1"/>
          </a:effectRef>
          <a:fontRef idx="minor">
            <a:schemeClr val="tx1"/>
          </a:fontRef>
        </p:style>
      </p:cxnSp>
      <p:sp>
        <p:nvSpPr>
          <p:cNvPr id="91" name="TextBox 90"/>
          <p:cNvSpPr txBox="1"/>
          <p:nvPr/>
        </p:nvSpPr>
        <p:spPr>
          <a:xfrm>
            <a:off x="36576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見る数字：友だち追加数</a:t>
            </a:r>
          </a:p>
        </p:txBody>
      </p:sp>
      <p:sp>
        <p:nvSpPr>
          <p:cNvPr id="92" name="TextBox 91"/>
          <p:cNvSpPr txBox="1"/>
          <p:nvPr/>
        </p:nvSpPr>
        <p:spPr>
          <a:xfrm>
            <a:off x="2697480" y="5120639"/>
            <a:ext cx="205740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見る数字：回答率</a:t>
            </a:r>
          </a:p>
        </p:txBody>
      </p:sp>
      <p:sp>
        <p:nvSpPr>
          <p:cNvPr id="93" name="TextBox 92"/>
          <p:cNvSpPr txBox="1"/>
          <p:nvPr/>
        </p:nvSpPr>
        <p:spPr>
          <a:xfrm>
            <a:off x="5120639" y="5120639"/>
            <a:ext cx="2148840"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見る数字：開封率・クリック率</a:t>
            </a:r>
          </a:p>
        </p:txBody>
      </p:sp>
      <p:sp>
        <p:nvSpPr>
          <p:cNvPr id="94" name="TextBox 93"/>
          <p:cNvSpPr txBox="1"/>
          <p:nvPr/>
        </p:nvSpPr>
        <p:spPr>
          <a:xfrm>
            <a:off x="7406639" y="5120639"/>
            <a:ext cx="2130552" cy="310896"/>
          </a:xfrm>
          <a:prstGeom prst="rect">
            <a:avLst/>
          </a:prstGeom>
          <a:noFill/>
        </p:spPr>
        <p:txBody>
          <a:bodyPr wrap="square" lIns="36000" tIns="10800" rIns="36000" bIns="10800" anchor="ctr">
            <a:spAutoFit/>
          </a:bodyPr>
          <a:lstStyle/>
          <a:p>
            <a:pPr algn="ctr">
              <a:lnSpc>
                <a:spcPct val="105000"/>
              </a:lnSpc>
              <a:spcAft>
                <a:spcPts val="200"/>
              </a:spcAft>
            </a:pPr>
            <a:r>
              <a:rPr sz="1050" b="0">
                <a:solidFill>
                  <a:srgbClr val="777777"/>
                </a:solidFill>
                <a:latin typeface="メイリオ"/>
                <a:ea typeface="メイリオ"/>
                <a:cs typeface="メイリオ"/>
              </a:rPr>
              <a:t>見る数字：CV数・CPA・CPO</a:t>
            </a:r>
          </a:p>
        </p:txBody>
      </p:sp>
      <p:sp>
        <p:nvSpPr>
          <p:cNvPr id="95" name="Rectangle 94"/>
          <p:cNvSpPr/>
          <p:nvPr/>
        </p:nvSpPr>
        <p:spPr>
          <a:xfrm>
            <a:off x="365760" y="5623560"/>
            <a:ext cx="9171432" cy="43891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400" b="1">
                <a:solidFill>
                  <a:srgbClr val="FFFFFF"/>
                </a:solidFill>
                <a:latin typeface="メイリオ"/>
                <a:ea typeface="メイリオ"/>
                <a:cs typeface="メイリオ"/>
              </a:rPr>
              <a:t>取りこぼしていた約99%を、LINEで追い続けてCVに変える</a:t>
            </a:r>
          </a:p>
        </p:txBody>
      </p:sp>
    </p:spTree>
    <p:extLst>
      <p:ext uri="{BB962C8B-B14F-4D97-AF65-F5344CB8AC3E}">
        <p14:creationId xmlns:p14="http://schemas.microsoft.com/office/powerpoint/2010/main" val="29139488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599BA6-A528-73A9-B0F4-DEDDF51B3A4B}"/>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A5F0E4CA-460F-19EB-3FE1-5585A9B3E061}"/>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5CD68471-CCDB-50E6-0285-35BF38F933E4}"/>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93E92412-8323-7637-01F3-37AEDFFA3E18}"/>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D4A0FD7C-1D07-79B6-CA6F-47DF2D8CF1EE}"/>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初期に整える標準設定と、運用しながら改善する施策の一覧</a:t>
            </a:r>
            <a:endParaRPr lang="ja-JP" altLang="en-US" sz="1000" dirty="0"/>
          </a:p>
        </p:txBody>
      </p:sp>
      <p:sp>
        <p:nvSpPr>
          <p:cNvPr id="9" name="テキスト ボックス 8">
            <a:extLst>
              <a:ext uri="{FF2B5EF4-FFF2-40B4-BE49-F238E27FC236}">
                <a16:creationId xmlns:a16="http://schemas.microsoft.com/office/drawing/2014/main" id="{FBA2E1AE-C51F-8327-AEB6-88548FDE3911}"/>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2" name="Rectangle 3">
            <a:extLst>
              <a:ext uri="{FF2B5EF4-FFF2-40B4-BE49-F238E27FC236}">
                <a16:creationId xmlns:a16="http://schemas.microsoft.com/office/drawing/2014/main" id="{8EDF250F-68CF-F752-3821-E813039B5143}"/>
              </a:ext>
            </a:extLst>
          </p:cNvPr>
          <p:cNvSpPr/>
          <p:nvPr/>
        </p:nvSpPr>
        <p:spPr>
          <a:xfrm>
            <a:off x="384048" y="1751297"/>
            <a:ext cx="3611880" cy="256032"/>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初期の標準設定（構築時に設定）</a:t>
            </a:r>
          </a:p>
        </p:txBody>
      </p:sp>
      <p:sp>
        <p:nvSpPr>
          <p:cNvPr id="4" name="Rectangle 4">
            <a:extLst>
              <a:ext uri="{FF2B5EF4-FFF2-40B4-BE49-F238E27FC236}">
                <a16:creationId xmlns:a16="http://schemas.microsoft.com/office/drawing/2014/main" id="{00BC86A0-1945-0E28-F906-696A5BE460B5}"/>
              </a:ext>
            </a:extLst>
          </p:cNvPr>
          <p:cNvSpPr/>
          <p:nvPr/>
        </p:nvSpPr>
        <p:spPr>
          <a:xfrm>
            <a:off x="384048" y="2027227"/>
            <a:ext cx="3611880" cy="438307"/>
          </a:xfrm>
          <a:prstGeom prst="rect">
            <a:avLst/>
          </a:prstGeom>
          <a:solidFill>
            <a:srgbClr val="EEF1F8"/>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 name="Rounded Rectangle 5">
            <a:extLst>
              <a:ext uri="{FF2B5EF4-FFF2-40B4-BE49-F238E27FC236}">
                <a16:creationId xmlns:a16="http://schemas.microsoft.com/office/drawing/2014/main" id="{9590B812-0BE4-8959-A859-DFBF68A13331}"/>
              </a:ext>
            </a:extLst>
          </p:cNvPr>
          <p:cNvSpPr/>
          <p:nvPr/>
        </p:nvSpPr>
        <p:spPr>
          <a:xfrm>
            <a:off x="457200"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② 挨拶メッセージ</a:t>
            </a:r>
          </a:p>
        </p:txBody>
      </p:sp>
      <p:sp>
        <p:nvSpPr>
          <p:cNvPr id="8" name="Rounded Rectangle 6">
            <a:extLst>
              <a:ext uri="{FF2B5EF4-FFF2-40B4-BE49-F238E27FC236}">
                <a16:creationId xmlns:a16="http://schemas.microsoft.com/office/drawing/2014/main" id="{C604752C-4276-622A-392D-CD8A49B0584B}"/>
              </a:ext>
            </a:extLst>
          </p:cNvPr>
          <p:cNvSpPr/>
          <p:nvPr/>
        </p:nvSpPr>
        <p:spPr>
          <a:xfrm>
            <a:off x="1627632"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⑦ リッチメニュー</a:t>
            </a:r>
          </a:p>
        </p:txBody>
      </p:sp>
      <p:sp>
        <p:nvSpPr>
          <p:cNvPr id="10" name="Rounded Rectangle 7">
            <a:extLst>
              <a:ext uri="{FF2B5EF4-FFF2-40B4-BE49-F238E27FC236}">
                <a16:creationId xmlns:a16="http://schemas.microsoft.com/office/drawing/2014/main" id="{1F06A184-DB9D-F2CB-0471-0929DEE9A890}"/>
              </a:ext>
            </a:extLst>
          </p:cNvPr>
          <p:cNvSpPr/>
          <p:nvPr/>
        </p:nvSpPr>
        <p:spPr>
          <a:xfrm>
            <a:off x="2798064" y="2080126"/>
            <a:ext cx="1115568" cy="332509"/>
          </a:xfrm>
          <a:prstGeom prst="roundRect">
            <a:avLst/>
          </a:prstGeom>
          <a:solidFill>
            <a:srgbClr val="FFFFFF"/>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⑧ 自動応答</a:t>
            </a:r>
          </a:p>
        </p:txBody>
      </p:sp>
      <p:sp>
        <p:nvSpPr>
          <p:cNvPr id="11" name="Rectangle 8">
            <a:extLst>
              <a:ext uri="{FF2B5EF4-FFF2-40B4-BE49-F238E27FC236}">
                <a16:creationId xmlns:a16="http://schemas.microsoft.com/office/drawing/2014/main" id="{021E765B-A271-DE02-1792-DC9E5CE154F8}"/>
              </a:ext>
            </a:extLst>
          </p:cNvPr>
          <p:cNvSpPr/>
          <p:nvPr/>
        </p:nvSpPr>
        <p:spPr>
          <a:xfrm>
            <a:off x="4160520" y="1751297"/>
            <a:ext cx="5367528" cy="256032"/>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運用施策（運用しながら改善）</a:t>
            </a:r>
          </a:p>
        </p:txBody>
      </p:sp>
      <p:sp>
        <p:nvSpPr>
          <p:cNvPr id="12" name="Rectangle 9">
            <a:extLst>
              <a:ext uri="{FF2B5EF4-FFF2-40B4-BE49-F238E27FC236}">
                <a16:creationId xmlns:a16="http://schemas.microsoft.com/office/drawing/2014/main" id="{99190E0E-1162-5C21-4FF0-A5498319FCC2}"/>
              </a:ext>
            </a:extLst>
          </p:cNvPr>
          <p:cNvSpPr/>
          <p:nvPr/>
        </p:nvSpPr>
        <p:spPr>
          <a:xfrm>
            <a:off x="4160520" y="2027227"/>
            <a:ext cx="5367528" cy="438307"/>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3" name="Rounded Rectangle 10">
            <a:extLst>
              <a:ext uri="{FF2B5EF4-FFF2-40B4-BE49-F238E27FC236}">
                <a16:creationId xmlns:a16="http://schemas.microsoft.com/office/drawing/2014/main" id="{6525B561-FBF1-FB44-C0A8-CC3FE6C9680F}"/>
              </a:ext>
            </a:extLst>
          </p:cNvPr>
          <p:cNvSpPr/>
          <p:nvPr/>
        </p:nvSpPr>
        <p:spPr>
          <a:xfrm>
            <a:off x="4224528"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① ポップアップ</a:t>
            </a:r>
          </a:p>
        </p:txBody>
      </p:sp>
      <p:sp>
        <p:nvSpPr>
          <p:cNvPr id="14" name="Rounded Rectangle 11">
            <a:extLst>
              <a:ext uri="{FF2B5EF4-FFF2-40B4-BE49-F238E27FC236}">
                <a16:creationId xmlns:a16="http://schemas.microsoft.com/office/drawing/2014/main" id="{C4024D48-4A70-13B2-70F7-88912D787030}"/>
              </a:ext>
            </a:extLst>
          </p:cNvPr>
          <p:cNvSpPr/>
          <p:nvPr/>
        </p:nvSpPr>
        <p:spPr>
          <a:xfrm>
            <a:off x="5266944"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③ アンケート</a:t>
            </a:r>
          </a:p>
        </p:txBody>
      </p:sp>
      <p:sp>
        <p:nvSpPr>
          <p:cNvPr id="15" name="Rounded Rectangle 12">
            <a:extLst>
              <a:ext uri="{FF2B5EF4-FFF2-40B4-BE49-F238E27FC236}">
                <a16:creationId xmlns:a16="http://schemas.microsoft.com/office/drawing/2014/main" id="{D6345F19-2B8B-BAED-2EDE-1419C87C7D29}"/>
              </a:ext>
            </a:extLst>
          </p:cNvPr>
          <p:cNvSpPr/>
          <p:nvPr/>
        </p:nvSpPr>
        <p:spPr>
          <a:xfrm>
            <a:off x="6309360"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dirty="0">
                <a:solidFill>
                  <a:srgbClr val="C8102E"/>
                </a:solidFill>
                <a:latin typeface="メイリオ" panose="020B0604030504040204" pitchFamily="50" charset="-128"/>
                <a:ea typeface="メイリオ" panose="020B0604030504040204" pitchFamily="50" charset="-128"/>
                <a:cs typeface="メイリオ"/>
              </a:rPr>
              <a:t>④ </a:t>
            </a:r>
            <a:r>
              <a:rPr sz="800" b="1" dirty="0" err="1">
                <a:solidFill>
                  <a:srgbClr val="C8102E"/>
                </a:solidFill>
                <a:latin typeface="メイリオ" panose="020B0604030504040204" pitchFamily="50" charset="-128"/>
                <a:ea typeface="メイリオ" panose="020B0604030504040204" pitchFamily="50" charset="-128"/>
                <a:cs typeface="メイリオ"/>
              </a:rPr>
              <a:t>タグ</a:t>
            </a:r>
            <a:endParaRPr lang="en-US" sz="800" b="1" dirty="0">
              <a:solidFill>
                <a:srgbClr val="C8102E"/>
              </a:solidFill>
              <a:latin typeface="メイリオ" panose="020B0604030504040204" pitchFamily="50" charset="-128"/>
              <a:ea typeface="メイリオ" panose="020B0604030504040204" pitchFamily="50" charset="-128"/>
              <a:cs typeface="メイリオ"/>
            </a:endParaRPr>
          </a:p>
          <a:p>
            <a:pPr algn="ctr">
              <a:spcAft>
                <a:spcPts val="0"/>
              </a:spcAft>
            </a:pPr>
            <a:r>
              <a:rPr sz="800" b="1" dirty="0" err="1">
                <a:solidFill>
                  <a:srgbClr val="C8102E"/>
                </a:solidFill>
                <a:latin typeface="メイリオ" panose="020B0604030504040204" pitchFamily="50" charset="-128"/>
                <a:ea typeface="メイリオ" panose="020B0604030504040204" pitchFamily="50" charset="-128"/>
                <a:cs typeface="メイリオ"/>
              </a:rPr>
              <a:t>セグメント</a:t>
            </a:r>
            <a:endParaRPr sz="800" b="1" dirty="0">
              <a:solidFill>
                <a:srgbClr val="C8102E"/>
              </a:solidFill>
              <a:latin typeface="メイリオ" panose="020B0604030504040204" pitchFamily="50" charset="-128"/>
              <a:ea typeface="メイリオ" panose="020B0604030504040204" pitchFamily="50" charset="-128"/>
              <a:cs typeface="メイリオ"/>
            </a:endParaRPr>
          </a:p>
        </p:txBody>
      </p:sp>
      <p:sp>
        <p:nvSpPr>
          <p:cNvPr id="16" name="Rounded Rectangle 13">
            <a:extLst>
              <a:ext uri="{FF2B5EF4-FFF2-40B4-BE49-F238E27FC236}">
                <a16:creationId xmlns:a16="http://schemas.microsoft.com/office/drawing/2014/main" id="{B6BAB4F4-45CE-B7A8-528B-A94A518CCAAA}"/>
              </a:ext>
            </a:extLst>
          </p:cNvPr>
          <p:cNvSpPr/>
          <p:nvPr/>
        </p:nvSpPr>
        <p:spPr>
          <a:xfrm>
            <a:off x="7351775"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⑤ ステップ配信</a:t>
            </a:r>
          </a:p>
        </p:txBody>
      </p:sp>
      <p:sp>
        <p:nvSpPr>
          <p:cNvPr id="17" name="Rounded Rectangle 14">
            <a:extLst>
              <a:ext uri="{FF2B5EF4-FFF2-40B4-BE49-F238E27FC236}">
                <a16:creationId xmlns:a16="http://schemas.microsoft.com/office/drawing/2014/main" id="{F70AA91C-29B1-D2A6-C89C-6EE4F60F14DB}"/>
              </a:ext>
            </a:extLst>
          </p:cNvPr>
          <p:cNvSpPr/>
          <p:nvPr/>
        </p:nvSpPr>
        <p:spPr>
          <a:xfrm>
            <a:off x="8394192" y="2080126"/>
            <a:ext cx="1005840" cy="332509"/>
          </a:xfrm>
          <a:prstGeom prst="roundRect">
            <a:avLst/>
          </a:prstGeom>
          <a:solidFill>
            <a:srgbClr val="FFFFFF"/>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800" b="1">
                <a:solidFill>
                  <a:srgbClr val="C8102E"/>
                </a:solidFill>
                <a:latin typeface="メイリオ" panose="020B0604030504040204" pitchFamily="50" charset="-128"/>
                <a:ea typeface="メイリオ" panose="020B0604030504040204" pitchFamily="50" charset="-128"/>
                <a:cs typeface="メイリオ"/>
              </a:rPr>
              <a:t>⑥ 企画配信</a:t>
            </a:r>
          </a:p>
        </p:txBody>
      </p:sp>
      <p:sp>
        <p:nvSpPr>
          <p:cNvPr id="18" name="Rectangle 15">
            <a:extLst>
              <a:ext uri="{FF2B5EF4-FFF2-40B4-BE49-F238E27FC236}">
                <a16:creationId xmlns:a16="http://schemas.microsoft.com/office/drawing/2014/main" id="{013A02CB-0DA2-C819-A363-A0BFC4E5F783}"/>
              </a:ext>
            </a:extLst>
          </p:cNvPr>
          <p:cNvSpPr/>
          <p:nvPr/>
        </p:nvSpPr>
        <p:spPr>
          <a:xfrm>
            <a:off x="384048" y="2586136"/>
            <a:ext cx="2468880" cy="1657418"/>
          </a:xfrm>
          <a:prstGeom prst="rect">
            <a:avLst/>
          </a:prstGeom>
          <a:solidFill>
            <a:srgbClr val="FFFFFF"/>
          </a:solidFill>
          <a:ln w="12700">
            <a:solidFill>
              <a:srgbClr val="999999"/>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19" name="Rectangle 16">
            <a:extLst>
              <a:ext uri="{FF2B5EF4-FFF2-40B4-BE49-F238E27FC236}">
                <a16:creationId xmlns:a16="http://schemas.microsoft.com/office/drawing/2014/main" id="{E86D2C36-78EC-6854-E4E1-7334CABCDC1A}"/>
              </a:ext>
            </a:extLst>
          </p:cNvPr>
          <p:cNvSpPr/>
          <p:nvPr/>
        </p:nvSpPr>
        <p:spPr>
          <a:xfrm>
            <a:off x="384048" y="2588622"/>
            <a:ext cx="2468880" cy="237744"/>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0" name="Oval 17">
            <a:extLst>
              <a:ext uri="{FF2B5EF4-FFF2-40B4-BE49-F238E27FC236}">
                <a16:creationId xmlns:a16="http://schemas.microsoft.com/office/drawing/2014/main" id="{094197D1-B3A2-167E-A162-4DA5857C26B2}"/>
              </a:ext>
            </a:extLst>
          </p:cNvPr>
          <p:cNvSpPr/>
          <p:nvPr/>
        </p:nvSpPr>
        <p:spPr>
          <a:xfrm>
            <a:off x="457200" y="2661774"/>
            <a:ext cx="91440" cy="91440"/>
          </a:xfrm>
          <a:prstGeom prst="ellipse">
            <a:avLst/>
          </a:prstGeom>
          <a:solidFill>
            <a:srgbClr val="FF6B6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1" name="Oval 18">
            <a:extLst>
              <a:ext uri="{FF2B5EF4-FFF2-40B4-BE49-F238E27FC236}">
                <a16:creationId xmlns:a16="http://schemas.microsoft.com/office/drawing/2014/main" id="{1C9CC394-D94D-C09E-632E-D667409C8EAC}"/>
              </a:ext>
            </a:extLst>
          </p:cNvPr>
          <p:cNvSpPr/>
          <p:nvPr/>
        </p:nvSpPr>
        <p:spPr>
          <a:xfrm>
            <a:off x="612648" y="2661774"/>
            <a:ext cx="91440" cy="91440"/>
          </a:xfrm>
          <a:prstGeom prst="ellipse">
            <a:avLst/>
          </a:prstGeom>
          <a:solidFill>
            <a:srgbClr val="FFC14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2" name="Oval 19">
            <a:extLst>
              <a:ext uri="{FF2B5EF4-FFF2-40B4-BE49-F238E27FC236}">
                <a16:creationId xmlns:a16="http://schemas.microsoft.com/office/drawing/2014/main" id="{1E0A0DDB-0FA0-A8C4-EFC1-1987BE7B342B}"/>
              </a:ext>
            </a:extLst>
          </p:cNvPr>
          <p:cNvSpPr/>
          <p:nvPr/>
        </p:nvSpPr>
        <p:spPr>
          <a:xfrm>
            <a:off x="768096" y="2661774"/>
            <a:ext cx="91440" cy="91440"/>
          </a:xfrm>
          <a:prstGeom prst="ellipse">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3" name="Rectangle 20">
            <a:extLst>
              <a:ext uri="{FF2B5EF4-FFF2-40B4-BE49-F238E27FC236}">
                <a16:creationId xmlns:a16="http://schemas.microsoft.com/office/drawing/2014/main" id="{C7D8DE35-18E9-B2F8-EBB6-F5D39FC00825}"/>
              </a:ext>
            </a:extLst>
          </p:cNvPr>
          <p:cNvSpPr/>
          <p:nvPr/>
        </p:nvSpPr>
        <p:spPr>
          <a:xfrm>
            <a:off x="475488" y="2862942"/>
            <a:ext cx="1005840" cy="91440"/>
          </a:xfrm>
          <a:prstGeom prst="rect">
            <a:avLst/>
          </a:prstGeom>
          <a:solidFill>
            <a:srgbClr val="E3E6E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4" name="Rectangle 21">
            <a:extLst>
              <a:ext uri="{FF2B5EF4-FFF2-40B4-BE49-F238E27FC236}">
                <a16:creationId xmlns:a16="http://schemas.microsoft.com/office/drawing/2014/main" id="{5A60E50B-1463-C428-350C-6B20BB14F600}"/>
              </a:ext>
            </a:extLst>
          </p:cNvPr>
          <p:cNvSpPr/>
          <p:nvPr/>
        </p:nvSpPr>
        <p:spPr>
          <a:xfrm>
            <a:off x="475488" y="3000102"/>
            <a:ext cx="228600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5" name="Rectangle 22">
            <a:extLst>
              <a:ext uri="{FF2B5EF4-FFF2-40B4-BE49-F238E27FC236}">
                <a16:creationId xmlns:a16="http://schemas.microsoft.com/office/drawing/2014/main" id="{51632E22-3CBA-3EB1-097C-B5A452ACFB3F}"/>
              </a:ext>
            </a:extLst>
          </p:cNvPr>
          <p:cNvSpPr/>
          <p:nvPr/>
        </p:nvSpPr>
        <p:spPr>
          <a:xfrm>
            <a:off x="475488" y="3109830"/>
            <a:ext cx="2011680" cy="64008"/>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6" name="Rectangle 23">
            <a:extLst>
              <a:ext uri="{FF2B5EF4-FFF2-40B4-BE49-F238E27FC236}">
                <a16:creationId xmlns:a16="http://schemas.microsoft.com/office/drawing/2014/main" id="{A95F03D9-D5D2-F49D-3FA0-8D85F2FD1C45}"/>
              </a:ext>
            </a:extLst>
          </p:cNvPr>
          <p:cNvSpPr/>
          <p:nvPr/>
        </p:nvSpPr>
        <p:spPr>
          <a:xfrm>
            <a:off x="475488"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7" name="Rectangle 24">
            <a:extLst>
              <a:ext uri="{FF2B5EF4-FFF2-40B4-BE49-F238E27FC236}">
                <a16:creationId xmlns:a16="http://schemas.microsoft.com/office/drawing/2014/main" id="{9C4DBD8F-DB8B-6351-EA24-784802E89E28}"/>
              </a:ext>
            </a:extLst>
          </p:cNvPr>
          <p:cNvSpPr/>
          <p:nvPr/>
        </p:nvSpPr>
        <p:spPr>
          <a:xfrm>
            <a:off x="1417320" y="3256134"/>
            <a:ext cx="868680" cy="640080"/>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28" name="Rounded Rectangle 25">
            <a:extLst>
              <a:ext uri="{FF2B5EF4-FFF2-40B4-BE49-F238E27FC236}">
                <a16:creationId xmlns:a16="http://schemas.microsoft.com/office/drawing/2014/main" id="{1214AD64-46E6-CE51-6B77-7D205CC291B6}"/>
              </a:ext>
            </a:extLst>
          </p:cNvPr>
          <p:cNvSpPr/>
          <p:nvPr/>
        </p:nvSpPr>
        <p:spPr>
          <a:xfrm>
            <a:off x="825135" y="3159858"/>
            <a:ext cx="1783080" cy="982414"/>
          </a:xfrm>
          <a:prstGeom prst="roundRect">
            <a:avLst/>
          </a:prstGeom>
          <a:solidFill>
            <a:srgbClr val="FFFFFF"/>
          </a:solidFill>
          <a:ln w="254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ご予約・お問い合わせ前に</a:t>
            </a:r>
            <a:endParaRPr sz="700" b="0" dirty="0">
              <a:solidFill>
                <a:srgbClr val="777777"/>
              </a:solidFill>
              <a:latin typeface="メイリオ" panose="020B0604030504040204" pitchFamily="50" charset="-128"/>
              <a:ea typeface="メイリオ" panose="020B0604030504040204" pitchFamily="50" charset="-128"/>
              <a:cs typeface="メイリオ"/>
            </a:endParaRPr>
          </a:p>
          <a:p>
            <a:pPr algn="ctr">
              <a:spcAft>
                <a:spcPts val="0"/>
              </a:spcAft>
            </a:pPr>
            <a:r>
              <a:rPr sz="900" b="1" dirty="0" err="1">
                <a:solidFill>
                  <a:srgbClr val="1F2A5C"/>
                </a:solidFill>
                <a:latin typeface="メイリオ" panose="020B0604030504040204" pitchFamily="50" charset="-128"/>
                <a:ea typeface="メイリオ" panose="020B0604030504040204" pitchFamily="50" charset="-128"/>
                <a:cs typeface="メイリオ"/>
              </a:rPr>
              <a:t>LINE友だち追加で特典</a:t>
            </a:r>
            <a:r>
              <a:rPr sz="900" b="1" dirty="0">
                <a:solidFill>
                  <a:srgbClr val="1F2A5C"/>
                </a:solidFill>
                <a:latin typeface="メイリオ" panose="020B0604030504040204" pitchFamily="50" charset="-128"/>
                <a:ea typeface="メイリオ" panose="020B0604030504040204" pitchFamily="50" charset="-128"/>
                <a:cs typeface="メイリオ"/>
              </a:rPr>
              <a:t>！</a:t>
            </a: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lang="en-US" sz="900" b="1" dirty="0">
              <a:solidFill>
                <a:srgbClr val="1F2A5C"/>
              </a:solidFill>
              <a:latin typeface="メイリオ" panose="020B0604030504040204" pitchFamily="50" charset="-128"/>
              <a:ea typeface="メイリオ" panose="020B0604030504040204" pitchFamily="50" charset="-128"/>
              <a:cs typeface="メイリオ"/>
            </a:endParaRPr>
          </a:p>
          <a:p>
            <a:pPr algn="ctr">
              <a:spcAft>
                <a:spcPts val="0"/>
              </a:spcAft>
            </a:pPr>
            <a:endParaRPr sz="900" b="1" dirty="0">
              <a:solidFill>
                <a:srgbClr val="1F2A5C"/>
              </a:solidFill>
              <a:latin typeface="メイリオ" panose="020B0604030504040204" pitchFamily="50" charset="-128"/>
              <a:ea typeface="メイリオ" panose="020B0604030504040204" pitchFamily="50" charset="-128"/>
              <a:cs typeface="メイリオ"/>
            </a:endParaRPr>
          </a:p>
        </p:txBody>
      </p:sp>
      <p:sp>
        <p:nvSpPr>
          <p:cNvPr id="29" name="Rounded Rectangle 26">
            <a:extLst>
              <a:ext uri="{FF2B5EF4-FFF2-40B4-BE49-F238E27FC236}">
                <a16:creationId xmlns:a16="http://schemas.microsoft.com/office/drawing/2014/main" id="{998E2A17-395F-CCDF-55C9-6834BD58C112}"/>
              </a:ext>
            </a:extLst>
          </p:cNvPr>
          <p:cNvSpPr/>
          <p:nvPr/>
        </p:nvSpPr>
        <p:spPr>
          <a:xfrm>
            <a:off x="1099455" y="3688154"/>
            <a:ext cx="1234440" cy="332509"/>
          </a:xfrm>
          <a:prstGeom prst="round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友だち追加</a:t>
            </a:r>
          </a:p>
        </p:txBody>
      </p:sp>
      <p:sp>
        <p:nvSpPr>
          <p:cNvPr id="30" name="Oval 27">
            <a:extLst>
              <a:ext uri="{FF2B5EF4-FFF2-40B4-BE49-F238E27FC236}">
                <a16:creationId xmlns:a16="http://schemas.microsoft.com/office/drawing/2014/main" id="{AD747F76-72D9-179D-BBA8-F6B4DCA2093D}"/>
              </a:ext>
            </a:extLst>
          </p:cNvPr>
          <p:cNvSpPr/>
          <p:nvPr/>
        </p:nvSpPr>
        <p:spPr>
          <a:xfrm>
            <a:off x="596535" y="2995984"/>
            <a:ext cx="292608" cy="266007"/>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1</a:t>
            </a:r>
          </a:p>
        </p:txBody>
      </p:sp>
      <p:sp>
        <p:nvSpPr>
          <p:cNvPr id="31" name="Rectangle 28">
            <a:extLst>
              <a:ext uri="{FF2B5EF4-FFF2-40B4-BE49-F238E27FC236}">
                <a16:creationId xmlns:a16="http://schemas.microsoft.com/office/drawing/2014/main" id="{1010E9AC-BCA0-BF47-C7F8-A152DF96AA04}"/>
              </a:ext>
            </a:extLst>
          </p:cNvPr>
          <p:cNvSpPr/>
          <p:nvPr/>
        </p:nvSpPr>
        <p:spPr>
          <a:xfrm>
            <a:off x="384048" y="4234536"/>
            <a:ext cx="2468880" cy="502920"/>
          </a:xfrm>
          <a:prstGeom prst="rect">
            <a:avLst/>
          </a:prstGeom>
          <a:solidFill>
            <a:srgbClr val="FDF0F2"/>
          </a:solidFill>
          <a:ln w="12700">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dirty="0">
                <a:solidFill>
                  <a:srgbClr val="C8102E"/>
                </a:solidFill>
                <a:latin typeface="メイリオ" panose="020B0604030504040204" pitchFamily="50" charset="-128"/>
                <a:ea typeface="メイリオ" panose="020B0604030504040204" pitchFamily="50" charset="-128"/>
                <a:cs typeface="メイリオ"/>
              </a:rPr>
              <a:t>① </a:t>
            </a:r>
            <a:r>
              <a:rPr sz="1000" b="1" dirty="0" err="1">
                <a:solidFill>
                  <a:srgbClr val="C8102E"/>
                </a:solidFill>
                <a:latin typeface="メイリオ" panose="020B0604030504040204" pitchFamily="50" charset="-128"/>
                <a:ea typeface="メイリオ" panose="020B0604030504040204" pitchFamily="50" charset="-128"/>
                <a:cs typeface="メイリオ"/>
              </a:rPr>
              <a:t>サイトのポップアップ</a:t>
            </a:r>
            <a:endParaRPr sz="1000" b="1" dirty="0">
              <a:solidFill>
                <a:srgbClr val="C8102E"/>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サイトからLINEへ誘導（専用ツール</a:t>
            </a:r>
            <a:r>
              <a:rPr sz="800" b="0" dirty="0">
                <a:solidFill>
                  <a:srgbClr val="333333"/>
                </a:solidFill>
                <a:latin typeface="メイリオ" panose="020B0604030504040204" pitchFamily="50" charset="-128"/>
                <a:ea typeface="メイリオ" panose="020B0604030504040204" pitchFamily="50" charset="-128"/>
                <a:cs typeface="メイリオ"/>
              </a:rPr>
              <a:t>）</a:t>
            </a:r>
          </a:p>
        </p:txBody>
      </p:sp>
      <p:sp>
        <p:nvSpPr>
          <p:cNvPr id="32" name="Rectangle 29">
            <a:extLst>
              <a:ext uri="{FF2B5EF4-FFF2-40B4-BE49-F238E27FC236}">
                <a16:creationId xmlns:a16="http://schemas.microsoft.com/office/drawing/2014/main" id="{C9B761A3-7BC1-BEDC-5294-579F8513A3B8}"/>
              </a:ext>
            </a:extLst>
          </p:cNvPr>
          <p:cNvSpPr/>
          <p:nvPr/>
        </p:nvSpPr>
        <p:spPr>
          <a:xfrm>
            <a:off x="384048" y="4900742"/>
            <a:ext cx="2468880" cy="1463040"/>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3" name="Rectangle 30">
            <a:extLst>
              <a:ext uri="{FF2B5EF4-FFF2-40B4-BE49-F238E27FC236}">
                <a16:creationId xmlns:a16="http://schemas.microsoft.com/office/drawing/2014/main" id="{D5B2D1C3-B341-4022-F0D3-00797EE985D3}"/>
              </a:ext>
            </a:extLst>
          </p:cNvPr>
          <p:cNvSpPr/>
          <p:nvPr/>
        </p:nvSpPr>
        <p:spPr>
          <a:xfrm>
            <a:off x="384048" y="4900742"/>
            <a:ext cx="2468880" cy="29260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④ タグ・セグメント</a:t>
            </a:r>
          </a:p>
        </p:txBody>
      </p:sp>
      <p:sp>
        <p:nvSpPr>
          <p:cNvPr id="34" name="Oval 31">
            <a:extLst>
              <a:ext uri="{FF2B5EF4-FFF2-40B4-BE49-F238E27FC236}">
                <a16:creationId xmlns:a16="http://schemas.microsoft.com/office/drawing/2014/main" id="{44AA6966-72C4-4DBF-CD4A-516799942AE3}"/>
              </a:ext>
            </a:extLst>
          </p:cNvPr>
          <p:cNvSpPr/>
          <p:nvPr/>
        </p:nvSpPr>
        <p:spPr>
          <a:xfrm>
            <a:off x="502920" y="5266502"/>
            <a:ext cx="256032" cy="256032"/>
          </a:xfrm>
          <a:prstGeom prst="ellipse">
            <a:avLst/>
          </a:prstGeom>
          <a:solidFill>
            <a:srgbClr val="B8C2DA"/>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35" name="Rectangle 32">
            <a:extLst>
              <a:ext uri="{FF2B5EF4-FFF2-40B4-BE49-F238E27FC236}">
                <a16:creationId xmlns:a16="http://schemas.microsoft.com/office/drawing/2014/main" id="{7E386317-C0CE-5DF8-898B-CDBB3753252D}"/>
              </a:ext>
            </a:extLst>
          </p:cNvPr>
          <p:cNvSpPr/>
          <p:nvPr/>
        </p:nvSpPr>
        <p:spPr>
          <a:xfrm>
            <a:off x="822960" y="5275646"/>
            <a:ext cx="640080" cy="23774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l">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Aさん</a:t>
            </a:r>
          </a:p>
        </p:txBody>
      </p:sp>
      <p:sp>
        <p:nvSpPr>
          <p:cNvPr id="36" name="Rounded Rectangle 33">
            <a:extLst>
              <a:ext uri="{FF2B5EF4-FFF2-40B4-BE49-F238E27FC236}">
                <a16:creationId xmlns:a16="http://schemas.microsoft.com/office/drawing/2014/main" id="{FDBC4478-2C7F-2573-7388-907010AB0607}"/>
              </a:ext>
            </a:extLst>
          </p:cNvPr>
          <p:cNvSpPr/>
          <p:nvPr/>
        </p:nvSpPr>
        <p:spPr>
          <a:xfrm>
            <a:off x="502920" y="5586542"/>
            <a:ext cx="105156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運動に興味</a:t>
            </a:r>
          </a:p>
        </p:txBody>
      </p:sp>
      <p:sp>
        <p:nvSpPr>
          <p:cNvPr id="37" name="Rounded Rectangle 34">
            <a:extLst>
              <a:ext uri="{FF2B5EF4-FFF2-40B4-BE49-F238E27FC236}">
                <a16:creationId xmlns:a16="http://schemas.microsoft.com/office/drawing/2014/main" id="{8BC31972-FFC1-17C4-77C9-69243CB4E570}"/>
              </a:ext>
            </a:extLst>
          </p:cNvPr>
          <p:cNvSpPr/>
          <p:nvPr/>
        </p:nvSpPr>
        <p:spPr>
          <a:xfrm>
            <a:off x="1627632" y="5586542"/>
            <a:ext cx="1097280" cy="246888"/>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乗車5回以上</a:t>
            </a:r>
          </a:p>
        </p:txBody>
      </p:sp>
      <p:sp>
        <p:nvSpPr>
          <p:cNvPr id="38" name="Rectangle 35">
            <a:extLst>
              <a:ext uri="{FF2B5EF4-FFF2-40B4-BE49-F238E27FC236}">
                <a16:creationId xmlns:a16="http://schemas.microsoft.com/office/drawing/2014/main" id="{EFFFAAD6-D553-33A2-0CDA-D0F89C23C45A}"/>
              </a:ext>
            </a:extLst>
          </p:cNvPr>
          <p:cNvSpPr/>
          <p:nvPr/>
        </p:nvSpPr>
        <p:spPr>
          <a:xfrm>
            <a:off x="475488" y="5879150"/>
            <a:ext cx="228600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t"/>
          <a:lstStyle/>
          <a:p>
            <a:pPr algn="l">
              <a:spcAft>
                <a:spcPts val="0"/>
              </a:spcAft>
            </a:pPr>
            <a:r>
              <a:rPr sz="800" b="1" dirty="0" err="1">
                <a:solidFill>
                  <a:srgbClr val="1F2A5C"/>
                </a:solidFill>
                <a:latin typeface="メイリオ" panose="020B0604030504040204" pitchFamily="50" charset="-128"/>
                <a:ea typeface="メイリオ" panose="020B0604030504040204" pitchFamily="50" charset="-128"/>
                <a:cs typeface="メイリオ"/>
              </a:rPr>
              <a:t>タグで対象を絞る</a:t>
            </a:r>
            <a:endParaRPr lang="en-US"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1" dirty="0">
                <a:solidFill>
                  <a:srgbClr val="1F2A5C"/>
                </a:solidFill>
                <a:latin typeface="メイリオ" panose="020B0604030504040204" pitchFamily="50" charset="-128"/>
                <a:ea typeface="メイリオ" panose="020B0604030504040204" pitchFamily="50" charset="-128"/>
                <a:cs typeface="メイリオ"/>
              </a:rPr>
              <a:t>→「</a:t>
            </a:r>
            <a:r>
              <a:rPr sz="800" b="1" dirty="0" err="1">
                <a:solidFill>
                  <a:srgbClr val="1F2A5C"/>
                </a:solidFill>
                <a:latin typeface="メイリオ" panose="020B0604030504040204" pitchFamily="50" charset="-128"/>
                <a:ea typeface="メイリオ" panose="020B0604030504040204" pitchFamily="50" charset="-128"/>
                <a:cs typeface="メイリオ"/>
              </a:rPr>
              <a:t>運動に興味」の人だけに配信</a:t>
            </a:r>
            <a:endParaRPr sz="8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700" b="0" dirty="0" err="1">
                <a:solidFill>
                  <a:srgbClr val="777777"/>
                </a:solidFill>
                <a:latin typeface="メイリオ" panose="020B0604030504040204" pitchFamily="50" charset="-128"/>
                <a:ea typeface="メイリオ" panose="020B0604030504040204" pitchFamily="50" charset="-128"/>
                <a:cs typeface="メイリオ"/>
              </a:rPr>
              <a:t>標準＋APIツール</a:t>
            </a:r>
            <a:endParaRPr sz="700" b="0" dirty="0">
              <a:solidFill>
                <a:srgbClr val="777777"/>
              </a:solidFill>
              <a:latin typeface="メイリオ" panose="020B0604030504040204" pitchFamily="50" charset="-128"/>
              <a:ea typeface="メイリオ" panose="020B0604030504040204" pitchFamily="50" charset="-128"/>
              <a:cs typeface="メイリオ"/>
            </a:endParaRPr>
          </a:p>
        </p:txBody>
      </p:sp>
      <p:sp>
        <p:nvSpPr>
          <p:cNvPr id="39" name="Rounded Rectangle 36">
            <a:extLst>
              <a:ext uri="{FF2B5EF4-FFF2-40B4-BE49-F238E27FC236}">
                <a16:creationId xmlns:a16="http://schemas.microsoft.com/office/drawing/2014/main" id="{EB89F4C5-3674-C37F-0213-9BCB6D7C0FCB}"/>
              </a:ext>
            </a:extLst>
          </p:cNvPr>
          <p:cNvSpPr/>
          <p:nvPr/>
        </p:nvSpPr>
        <p:spPr>
          <a:xfrm>
            <a:off x="3200400" y="2663021"/>
            <a:ext cx="2514600" cy="3865418"/>
          </a:xfrm>
          <a:prstGeom prst="roundRect">
            <a:avLst/>
          </a:prstGeom>
          <a:solidFill>
            <a:srgbClr val="FFFFFF"/>
          </a:solidFill>
          <a:ln w="38100">
            <a:solidFill>
              <a:srgbClr val="333333"/>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0" name="Rectangle 38">
            <a:extLst>
              <a:ext uri="{FF2B5EF4-FFF2-40B4-BE49-F238E27FC236}">
                <a16:creationId xmlns:a16="http://schemas.microsoft.com/office/drawing/2014/main" id="{B3A9B786-A08F-9876-275C-37DD07EED86E}"/>
              </a:ext>
            </a:extLst>
          </p:cNvPr>
          <p:cNvSpPr/>
          <p:nvPr/>
        </p:nvSpPr>
        <p:spPr>
          <a:xfrm>
            <a:off x="3255264" y="2853798"/>
            <a:ext cx="2404872" cy="3310128"/>
          </a:xfrm>
          <a:prstGeom prst="rect">
            <a:avLst/>
          </a:prstGeom>
          <a:solidFill>
            <a:srgbClr val="A8BDDB"/>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1" name="Rounded Rectangle 40">
            <a:extLst>
              <a:ext uri="{FF2B5EF4-FFF2-40B4-BE49-F238E27FC236}">
                <a16:creationId xmlns:a16="http://schemas.microsoft.com/office/drawing/2014/main" id="{24EFF532-6FA6-26BB-0FC6-B24E4302C463}"/>
              </a:ext>
            </a:extLst>
          </p:cNvPr>
          <p:cNvSpPr/>
          <p:nvPr/>
        </p:nvSpPr>
        <p:spPr>
          <a:xfrm>
            <a:off x="3611880" y="2768505"/>
            <a:ext cx="1783080" cy="31602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友だち追加ありがとう！特典</a:t>
            </a:r>
            <a:r>
              <a:rPr lang="ja-JP" altLang="en-US" sz="800" b="0" dirty="0">
                <a:solidFill>
                  <a:srgbClr val="333333"/>
                </a:solidFill>
                <a:latin typeface="メイリオ" panose="020B0604030504040204" pitchFamily="50" charset="-128"/>
                <a:ea typeface="メイリオ" panose="020B0604030504040204" pitchFamily="50" charset="-128"/>
                <a:cs typeface="メイリオ"/>
              </a:rPr>
              <a:t>は</a:t>
            </a:r>
            <a:r>
              <a:rPr lang="en-US" altLang="ja-JP" sz="800" b="0" dirty="0">
                <a:solidFill>
                  <a:srgbClr val="333333"/>
                </a:solidFill>
                <a:latin typeface="メイリオ" panose="020B0604030504040204" pitchFamily="50" charset="-128"/>
                <a:ea typeface="メイリオ" panose="020B0604030504040204" pitchFamily="50" charset="-128"/>
                <a:cs typeface="メイリオ"/>
              </a:rPr>
              <a:t>…</a:t>
            </a:r>
            <a:endParaRPr sz="800" b="0" dirty="0">
              <a:solidFill>
                <a:srgbClr val="333333"/>
              </a:solidFill>
              <a:latin typeface="メイリオ" panose="020B0604030504040204" pitchFamily="50" charset="-128"/>
              <a:ea typeface="メイリオ" panose="020B0604030504040204" pitchFamily="50" charset="-128"/>
              <a:cs typeface="メイリオ"/>
            </a:endParaRPr>
          </a:p>
        </p:txBody>
      </p:sp>
      <p:sp>
        <p:nvSpPr>
          <p:cNvPr id="42" name="Oval 41">
            <a:extLst>
              <a:ext uri="{FF2B5EF4-FFF2-40B4-BE49-F238E27FC236}">
                <a16:creationId xmlns:a16="http://schemas.microsoft.com/office/drawing/2014/main" id="{D7BDF01D-C3F2-A3DE-0264-B338980A05DB}"/>
              </a:ext>
            </a:extLst>
          </p:cNvPr>
          <p:cNvSpPr/>
          <p:nvPr/>
        </p:nvSpPr>
        <p:spPr>
          <a:xfrm>
            <a:off x="3310128" y="327442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3" name="Rounded Rectangle 42">
            <a:extLst>
              <a:ext uri="{FF2B5EF4-FFF2-40B4-BE49-F238E27FC236}">
                <a16:creationId xmlns:a16="http://schemas.microsoft.com/office/drawing/2014/main" id="{4600E2F1-69A4-314B-7CDE-2291AF5A0480}"/>
              </a:ext>
            </a:extLst>
          </p:cNvPr>
          <p:cNvSpPr/>
          <p:nvPr/>
        </p:nvSpPr>
        <p:spPr>
          <a:xfrm>
            <a:off x="3611880" y="3321789"/>
            <a:ext cx="1371600" cy="2335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お子様の興味は？</a:t>
            </a:r>
          </a:p>
        </p:txBody>
      </p:sp>
      <p:sp>
        <p:nvSpPr>
          <p:cNvPr id="44" name="Rounded Rectangle 43">
            <a:extLst>
              <a:ext uri="{FF2B5EF4-FFF2-40B4-BE49-F238E27FC236}">
                <a16:creationId xmlns:a16="http://schemas.microsoft.com/office/drawing/2014/main" id="{8F18330F-E519-5A48-F5E6-F01F2E7FAE51}"/>
              </a:ext>
            </a:extLst>
          </p:cNvPr>
          <p:cNvSpPr/>
          <p:nvPr/>
        </p:nvSpPr>
        <p:spPr>
          <a:xfrm>
            <a:off x="3611880"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英語</a:t>
            </a:r>
          </a:p>
        </p:txBody>
      </p:sp>
      <p:sp>
        <p:nvSpPr>
          <p:cNvPr id="45" name="Rounded Rectangle 44">
            <a:extLst>
              <a:ext uri="{FF2B5EF4-FFF2-40B4-BE49-F238E27FC236}">
                <a16:creationId xmlns:a16="http://schemas.microsoft.com/office/drawing/2014/main" id="{EA318321-B2AF-46BA-7FE3-7773EC6AACFE}"/>
              </a:ext>
            </a:extLst>
          </p:cNvPr>
          <p:cNvSpPr/>
          <p:nvPr/>
        </p:nvSpPr>
        <p:spPr>
          <a:xfrm>
            <a:off x="4123944" y="3640182"/>
            <a:ext cx="475488" cy="237744"/>
          </a:xfrm>
          <a:prstGeom prst="roundRect">
            <a:avLst/>
          </a:prstGeom>
          <a:solidFill>
            <a:srgbClr val="06C755"/>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FFFFFF"/>
                </a:solidFill>
                <a:latin typeface="メイリオ" panose="020B0604030504040204" pitchFamily="50" charset="-128"/>
                <a:ea typeface="メイリオ" panose="020B0604030504040204" pitchFamily="50" charset="-128"/>
                <a:cs typeface="メイリオ"/>
              </a:rPr>
              <a:t>運動</a:t>
            </a:r>
          </a:p>
        </p:txBody>
      </p:sp>
      <p:sp>
        <p:nvSpPr>
          <p:cNvPr id="46" name="Rounded Rectangle 45">
            <a:extLst>
              <a:ext uri="{FF2B5EF4-FFF2-40B4-BE49-F238E27FC236}">
                <a16:creationId xmlns:a16="http://schemas.microsoft.com/office/drawing/2014/main" id="{671CB2FB-6AD7-FF9C-FB8A-30A83CB7BDBC}"/>
              </a:ext>
            </a:extLst>
          </p:cNvPr>
          <p:cNvSpPr/>
          <p:nvPr/>
        </p:nvSpPr>
        <p:spPr>
          <a:xfrm>
            <a:off x="4636008" y="3640182"/>
            <a:ext cx="475488" cy="237744"/>
          </a:xfrm>
          <a:prstGeom prst="roundRect">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a:solidFill>
                  <a:srgbClr val="06C755"/>
                </a:solidFill>
                <a:latin typeface="メイリオ" panose="020B0604030504040204" pitchFamily="50" charset="-128"/>
                <a:ea typeface="メイリオ" panose="020B0604030504040204" pitchFamily="50" charset="-128"/>
                <a:cs typeface="メイリオ"/>
              </a:rPr>
              <a:t>知育</a:t>
            </a:r>
          </a:p>
        </p:txBody>
      </p:sp>
      <p:sp>
        <p:nvSpPr>
          <p:cNvPr id="47" name="Rounded Rectangle 46">
            <a:extLst>
              <a:ext uri="{FF2B5EF4-FFF2-40B4-BE49-F238E27FC236}">
                <a16:creationId xmlns:a16="http://schemas.microsoft.com/office/drawing/2014/main" id="{7F504588-536C-8EE6-8E6F-816EF8C24633}"/>
              </a:ext>
            </a:extLst>
          </p:cNvPr>
          <p:cNvSpPr/>
          <p:nvPr/>
        </p:nvSpPr>
        <p:spPr>
          <a:xfrm>
            <a:off x="5166360" y="3640182"/>
            <a:ext cx="457200" cy="237744"/>
          </a:xfrm>
          <a:prstGeom prst="roundRect">
            <a:avLst/>
          </a:prstGeom>
          <a:solidFill>
            <a:srgbClr val="D9A441"/>
          </a:solidFill>
          <a:ln>
            <a:no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700" b="1" dirty="0">
                <a:solidFill>
                  <a:srgbClr val="FFFFFF"/>
                </a:solidFill>
                <a:latin typeface="メイリオ" panose="020B0604030504040204" pitchFamily="50" charset="-128"/>
                <a:ea typeface="メイリオ" panose="020B0604030504040204" pitchFamily="50" charset="-128"/>
                <a:cs typeface="メイリオ"/>
              </a:rPr>
              <a:t>＋</a:t>
            </a:r>
            <a:r>
              <a:rPr sz="700" b="1" dirty="0" err="1">
                <a:solidFill>
                  <a:srgbClr val="FFFFFF"/>
                </a:solidFill>
                <a:latin typeface="メイリオ" panose="020B0604030504040204" pitchFamily="50" charset="-128"/>
                <a:ea typeface="メイリオ" panose="020B0604030504040204" pitchFamily="50" charset="-128"/>
                <a:cs typeface="メイリオ"/>
              </a:rPr>
              <a:t>タグ</a:t>
            </a:r>
            <a:endParaRPr sz="700" b="1" dirty="0">
              <a:solidFill>
                <a:srgbClr val="FFFFFF"/>
              </a:solidFill>
              <a:latin typeface="メイリオ" panose="020B0604030504040204" pitchFamily="50" charset="-128"/>
              <a:ea typeface="メイリオ" panose="020B0604030504040204" pitchFamily="50" charset="-128"/>
              <a:cs typeface="メイリオ"/>
            </a:endParaRPr>
          </a:p>
        </p:txBody>
      </p:sp>
      <p:sp>
        <p:nvSpPr>
          <p:cNvPr id="48" name="Oval 47">
            <a:extLst>
              <a:ext uri="{FF2B5EF4-FFF2-40B4-BE49-F238E27FC236}">
                <a16:creationId xmlns:a16="http://schemas.microsoft.com/office/drawing/2014/main" id="{39641FC3-997E-E41B-0786-B2A8B72615F1}"/>
              </a:ext>
            </a:extLst>
          </p:cNvPr>
          <p:cNvSpPr/>
          <p:nvPr/>
        </p:nvSpPr>
        <p:spPr>
          <a:xfrm>
            <a:off x="3310128" y="4024230"/>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49" name="Rounded Rectangle 48">
            <a:extLst>
              <a:ext uri="{FF2B5EF4-FFF2-40B4-BE49-F238E27FC236}">
                <a16:creationId xmlns:a16="http://schemas.microsoft.com/office/drawing/2014/main" id="{D1AA4CAE-145A-9C37-0213-1B07344EFDA8}"/>
              </a:ext>
            </a:extLst>
          </p:cNvPr>
          <p:cNvSpPr/>
          <p:nvPr/>
        </p:nvSpPr>
        <p:spPr>
          <a:xfrm>
            <a:off x="3611880" y="4018959"/>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【Day3】運動指導のご紹介</a:t>
            </a:r>
          </a:p>
        </p:txBody>
      </p:sp>
      <p:sp>
        <p:nvSpPr>
          <p:cNvPr id="50" name="Oval 49">
            <a:extLst>
              <a:ext uri="{FF2B5EF4-FFF2-40B4-BE49-F238E27FC236}">
                <a16:creationId xmlns:a16="http://schemas.microsoft.com/office/drawing/2014/main" id="{D7FC1F60-741B-1216-E3C2-B9A9825969FD}"/>
              </a:ext>
            </a:extLst>
          </p:cNvPr>
          <p:cNvSpPr/>
          <p:nvPr/>
        </p:nvSpPr>
        <p:spPr>
          <a:xfrm>
            <a:off x="3310128" y="46003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1" name="Rounded Rectangle 50">
            <a:extLst>
              <a:ext uri="{FF2B5EF4-FFF2-40B4-BE49-F238E27FC236}">
                <a16:creationId xmlns:a16="http://schemas.microsoft.com/office/drawing/2014/main" id="{4B728E47-8A05-CAAD-5316-3E29B59A0677}"/>
              </a:ext>
            </a:extLst>
          </p:cNvPr>
          <p:cNvSpPr/>
          <p:nvPr/>
        </p:nvSpPr>
        <p:spPr>
          <a:xfrm>
            <a:off x="3611880" y="4595031"/>
            <a:ext cx="1783080" cy="30228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【今月】夏のイベント開催</a:t>
            </a:r>
          </a:p>
        </p:txBody>
      </p:sp>
      <p:sp>
        <p:nvSpPr>
          <p:cNvPr id="52" name="Rounded Rectangle 51">
            <a:extLst>
              <a:ext uri="{FF2B5EF4-FFF2-40B4-BE49-F238E27FC236}">
                <a16:creationId xmlns:a16="http://schemas.microsoft.com/office/drawing/2014/main" id="{EDE632CC-3F09-E201-A757-0B2AF49C1E03}"/>
              </a:ext>
            </a:extLst>
          </p:cNvPr>
          <p:cNvSpPr/>
          <p:nvPr/>
        </p:nvSpPr>
        <p:spPr>
          <a:xfrm>
            <a:off x="4434840" y="5084934"/>
            <a:ext cx="1097280" cy="237744"/>
          </a:xfrm>
          <a:prstGeom prst="roundRect">
            <a:avLst/>
          </a:prstGeom>
          <a:solidFill>
            <a:srgbClr val="B7E36B"/>
          </a:solidFill>
          <a:ln>
            <a:no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700" b="0">
                <a:solidFill>
                  <a:srgbClr val="333333"/>
                </a:solidFill>
                <a:latin typeface="メイリオ" panose="020B0604030504040204" pitchFamily="50" charset="-128"/>
                <a:ea typeface="メイリオ" panose="020B0604030504040204" pitchFamily="50" charset="-128"/>
                <a:cs typeface="メイリオ"/>
              </a:rPr>
              <a:t>料金を教えて</a:t>
            </a:r>
          </a:p>
        </p:txBody>
      </p:sp>
      <p:sp>
        <p:nvSpPr>
          <p:cNvPr id="53" name="Oval 52">
            <a:extLst>
              <a:ext uri="{FF2B5EF4-FFF2-40B4-BE49-F238E27FC236}">
                <a16:creationId xmlns:a16="http://schemas.microsoft.com/office/drawing/2014/main" id="{33F79F6F-0ADE-256D-5DA4-A82E51FAF5E9}"/>
              </a:ext>
            </a:extLst>
          </p:cNvPr>
          <p:cNvSpPr/>
          <p:nvPr/>
        </p:nvSpPr>
        <p:spPr>
          <a:xfrm>
            <a:off x="3310128" y="537754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4" name="Rounded Rectangle 53">
            <a:extLst>
              <a:ext uri="{FF2B5EF4-FFF2-40B4-BE49-F238E27FC236}">
                <a16:creationId xmlns:a16="http://schemas.microsoft.com/office/drawing/2014/main" id="{442A5F6A-8638-8BB7-0CCD-0A2E2B0A2BCC}"/>
              </a:ext>
            </a:extLst>
          </p:cNvPr>
          <p:cNvSpPr/>
          <p:nvPr/>
        </p:nvSpPr>
        <p:spPr>
          <a:xfrm>
            <a:off x="3611880" y="5395155"/>
            <a:ext cx="1463040" cy="274801"/>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料金はこちらです→</a:t>
            </a:r>
          </a:p>
        </p:txBody>
      </p:sp>
      <p:sp>
        <p:nvSpPr>
          <p:cNvPr id="55" name="Rectangle 54">
            <a:extLst>
              <a:ext uri="{FF2B5EF4-FFF2-40B4-BE49-F238E27FC236}">
                <a16:creationId xmlns:a16="http://schemas.microsoft.com/office/drawing/2014/main" id="{3692DFC3-6CB4-FCCE-9844-CF7F277EAFA4}"/>
              </a:ext>
            </a:extLst>
          </p:cNvPr>
          <p:cNvSpPr/>
          <p:nvPr/>
        </p:nvSpPr>
        <p:spPr>
          <a:xfrm>
            <a:off x="3255264" y="6042006"/>
            <a:ext cx="2404872" cy="457200"/>
          </a:xfrm>
          <a:prstGeom prst="rect">
            <a:avLst/>
          </a:prstGeom>
          <a:solidFill>
            <a:srgbClr val="FFFFFF"/>
          </a:solidFill>
          <a:ln w="12700">
            <a:solidFill>
              <a:srgbClr val="BBBBBB"/>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56" name="Rectangle 55">
            <a:extLst>
              <a:ext uri="{FF2B5EF4-FFF2-40B4-BE49-F238E27FC236}">
                <a16:creationId xmlns:a16="http://schemas.microsoft.com/office/drawing/2014/main" id="{F986ADF8-29C3-6A68-1DFA-FFA26561F2B3}"/>
              </a:ext>
            </a:extLst>
          </p:cNvPr>
          <p:cNvSpPr/>
          <p:nvPr/>
        </p:nvSpPr>
        <p:spPr>
          <a:xfrm>
            <a:off x="327355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予約</a:t>
            </a:r>
          </a:p>
        </p:txBody>
      </p:sp>
      <p:sp>
        <p:nvSpPr>
          <p:cNvPr id="57" name="Rectangle 56">
            <a:extLst>
              <a:ext uri="{FF2B5EF4-FFF2-40B4-BE49-F238E27FC236}">
                <a16:creationId xmlns:a16="http://schemas.microsoft.com/office/drawing/2014/main" id="{3AB1081A-487F-780B-49C7-1270ED530C1F}"/>
              </a:ext>
            </a:extLst>
          </p:cNvPr>
          <p:cNvSpPr/>
          <p:nvPr/>
        </p:nvSpPr>
        <p:spPr>
          <a:xfrm>
            <a:off x="386791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質問</a:t>
            </a:r>
          </a:p>
        </p:txBody>
      </p:sp>
      <p:sp>
        <p:nvSpPr>
          <p:cNvPr id="59" name="Rectangle 57">
            <a:extLst>
              <a:ext uri="{FF2B5EF4-FFF2-40B4-BE49-F238E27FC236}">
                <a16:creationId xmlns:a16="http://schemas.microsoft.com/office/drawing/2014/main" id="{6F0CCA9C-BDA8-04BF-077D-3A8F5CFF41C8}"/>
              </a:ext>
            </a:extLst>
          </p:cNvPr>
          <p:cNvSpPr/>
          <p:nvPr/>
        </p:nvSpPr>
        <p:spPr>
          <a:xfrm>
            <a:off x="446227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特典</a:t>
            </a:r>
          </a:p>
        </p:txBody>
      </p:sp>
      <p:sp>
        <p:nvSpPr>
          <p:cNvPr id="60" name="Rectangle 58">
            <a:extLst>
              <a:ext uri="{FF2B5EF4-FFF2-40B4-BE49-F238E27FC236}">
                <a16:creationId xmlns:a16="http://schemas.microsoft.com/office/drawing/2014/main" id="{985C54A4-91FC-0879-5A7C-BF14447F2D4C}"/>
              </a:ext>
            </a:extLst>
          </p:cNvPr>
          <p:cNvSpPr/>
          <p:nvPr/>
        </p:nvSpPr>
        <p:spPr>
          <a:xfrm>
            <a:off x="5056632" y="6060294"/>
            <a:ext cx="585216" cy="420624"/>
          </a:xfrm>
          <a:prstGeom prst="rect">
            <a:avLst/>
          </a:prstGeom>
          <a:solidFill>
            <a:srgbClr val="F3F5FA"/>
          </a:solidFill>
          <a:ln w="12700">
            <a:solidFill>
              <a:srgbClr val="DDDDDD"/>
            </a:solidFill>
          </a:ln>
          <a:effectLst/>
        </p:spPr>
        <p:style>
          <a:lnRef idx="1">
            <a:schemeClr val="accent1"/>
          </a:lnRef>
          <a:fillRef idx="3">
            <a:schemeClr val="accent1"/>
          </a:fillRef>
          <a:effectRef idx="2">
            <a:schemeClr val="accent1"/>
          </a:effectRef>
          <a:fontRef idx="minor">
            <a:schemeClr val="lt1"/>
          </a:fontRef>
        </p:style>
        <p:txBody>
          <a:bodyPr wrap="square" lIns="9144" tIns="18288" rIns="9144" bIns="18288" rtlCol="0" anchor="ctr"/>
          <a:lstStyle/>
          <a:p>
            <a:pPr algn="ctr">
              <a:spcAft>
                <a:spcPts val="0"/>
              </a:spcAft>
            </a:pPr>
            <a:r>
              <a:rPr sz="800" b="1">
                <a:solidFill>
                  <a:srgbClr val="1F2A5C"/>
                </a:solidFill>
                <a:latin typeface="メイリオ" panose="020B0604030504040204" pitchFamily="50" charset="-128"/>
                <a:ea typeface="メイリオ" panose="020B0604030504040204" pitchFamily="50" charset="-128"/>
                <a:cs typeface="メイリオ"/>
              </a:rPr>
              <a:t>店舗</a:t>
            </a:r>
          </a:p>
        </p:txBody>
      </p:sp>
      <p:sp>
        <p:nvSpPr>
          <p:cNvPr id="61" name="Oval 60">
            <a:extLst>
              <a:ext uri="{FF2B5EF4-FFF2-40B4-BE49-F238E27FC236}">
                <a16:creationId xmlns:a16="http://schemas.microsoft.com/office/drawing/2014/main" id="{078D547B-19C0-D1D7-0B0A-A47E1EF12496}"/>
              </a:ext>
            </a:extLst>
          </p:cNvPr>
          <p:cNvSpPr/>
          <p:nvPr/>
        </p:nvSpPr>
        <p:spPr>
          <a:xfrm>
            <a:off x="3063240" y="3210414"/>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3</a:t>
            </a:r>
          </a:p>
        </p:txBody>
      </p:sp>
      <p:sp>
        <p:nvSpPr>
          <p:cNvPr id="62" name="Oval 61">
            <a:extLst>
              <a:ext uri="{FF2B5EF4-FFF2-40B4-BE49-F238E27FC236}">
                <a16:creationId xmlns:a16="http://schemas.microsoft.com/office/drawing/2014/main" id="{D5B5DA36-D1AC-3FF4-B014-CB1D23230DF3}"/>
              </a:ext>
            </a:extLst>
          </p:cNvPr>
          <p:cNvSpPr/>
          <p:nvPr/>
        </p:nvSpPr>
        <p:spPr>
          <a:xfrm>
            <a:off x="3063240" y="3914502"/>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5</a:t>
            </a:r>
          </a:p>
        </p:txBody>
      </p:sp>
      <p:sp>
        <p:nvSpPr>
          <p:cNvPr id="63" name="Oval 62">
            <a:extLst>
              <a:ext uri="{FF2B5EF4-FFF2-40B4-BE49-F238E27FC236}">
                <a16:creationId xmlns:a16="http://schemas.microsoft.com/office/drawing/2014/main" id="{AD9506F4-3424-385A-C649-D53A66ECE0FA}"/>
              </a:ext>
            </a:extLst>
          </p:cNvPr>
          <p:cNvSpPr/>
          <p:nvPr/>
        </p:nvSpPr>
        <p:spPr>
          <a:xfrm>
            <a:off x="3063240" y="4481430"/>
            <a:ext cx="274320" cy="274320"/>
          </a:xfrm>
          <a:prstGeom prst="ellipse">
            <a:avLst/>
          </a:prstGeom>
          <a:solidFill>
            <a:srgbClr val="C8102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6</a:t>
            </a:r>
          </a:p>
        </p:txBody>
      </p:sp>
      <p:sp>
        <p:nvSpPr>
          <p:cNvPr id="64" name="Oval 63">
            <a:extLst>
              <a:ext uri="{FF2B5EF4-FFF2-40B4-BE49-F238E27FC236}">
                <a16:creationId xmlns:a16="http://schemas.microsoft.com/office/drawing/2014/main" id="{E17B94F9-0158-3E3C-FFDC-922E33C08ACA}"/>
              </a:ext>
            </a:extLst>
          </p:cNvPr>
          <p:cNvSpPr/>
          <p:nvPr/>
        </p:nvSpPr>
        <p:spPr>
          <a:xfrm>
            <a:off x="3063240" y="528610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8</a:t>
            </a:r>
          </a:p>
        </p:txBody>
      </p:sp>
      <p:sp>
        <p:nvSpPr>
          <p:cNvPr id="65" name="Oval 64">
            <a:extLst>
              <a:ext uri="{FF2B5EF4-FFF2-40B4-BE49-F238E27FC236}">
                <a16:creationId xmlns:a16="http://schemas.microsoft.com/office/drawing/2014/main" id="{C5EFD1D0-F44A-23A1-ADF0-04BFFF1243A0}"/>
              </a:ext>
            </a:extLst>
          </p:cNvPr>
          <p:cNvSpPr/>
          <p:nvPr/>
        </p:nvSpPr>
        <p:spPr>
          <a:xfrm>
            <a:off x="3063240" y="59871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7</a:t>
            </a:r>
          </a:p>
        </p:txBody>
      </p:sp>
      <p:cxnSp>
        <p:nvCxnSpPr>
          <p:cNvPr id="66" name="Connector 65">
            <a:extLst>
              <a:ext uri="{FF2B5EF4-FFF2-40B4-BE49-F238E27FC236}">
                <a16:creationId xmlns:a16="http://schemas.microsoft.com/office/drawing/2014/main" id="{1B3B9544-3929-8790-DDDE-E6205C63DB3B}"/>
              </a:ext>
            </a:extLst>
          </p:cNvPr>
          <p:cNvCxnSpPr/>
          <p:nvPr/>
        </p:nvCxnSpPr>
        <p:spPr>
          <a:xfrm>
            <a:off x="5715000" y="286294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67" name="Rectangle 66">
            <a:extLst>
              <a:ext uri="{FF2B5EF4-FFF2-40B4-BE49-F238E27FC236}">
                <a16:creationId xmlns:a16="http://schemas.microsoft.com/office/drawing/2014/main" id="{BACF9AB3-5E23-75E5-2907-1B4CAA7E7697}"/>
              </a:ext>
            </a:extLst>
          </p:cNvPr>
          <p:cNvSpPr/>
          <p:nvPr/>
        </p:nvSpPr>
        <p:spPr>
          <a:xfrm>
            <a:off x="5989320" y="256119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8" name="Rectangle 67">
            <a:extLst>
              <a:ext uri="{FF2B5EF4-FFF2-40B4-BE49-F238E27FC236}">
                <a16:creationId xmlns:a16="http://schemas.microsoft.com/office/drawing/2014/main" id="{D99B972D-7A0F-C085-4B94-F0E1D1E5B217}"/>
              </a:ext>
            </a:extLst>
          </p:cNvPr>
          <p:cNvSpPr/>
          <p:nvPr/>
        </p:nvSpPr>
        <p:spPr>
          <a:xfrm>
            <a:off x="5989320" y="256119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69" name="Rectangle 68">
            <a:extLst>
              <a:ext uri="{FF2B5EF4-FFF2-40B4-BE49-F238E27FC236}">
                <a16:creationId xmlns:a16="http://schemas.microsoft.com/office/drawing/2014/main" id="{16F41EB6-80FA-E920-A132-BB4988500C60}"/>
              </a:ext>
            </a:extLst>
          </p:cNvPr>
          <p:cNvSpPr/>
          <p:nvPr/>
        </p:nvSpPr>
        <p:spPr>
          <a:xfrm>
            <a:off x="6108192" y="257947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2　挨拶メッセージ</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追加直後に自動で届く最初のメッセージ</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cxnSp>
        <p:nvCxnSpPr>
          <p:cNvPr id="70" name="Connector 69">
            <a:extLst>
              <a:ext uri="{FF2B5EF4-FFF2-40B4-BE49-F238E27FC236}">
                <a16:creationId xmlns:a16="http://schemas.microsoft.com/office/drawing/2014/main" id="{1CC8A23C-C7AE-2F6C-E6D0-69403F4AE719}"/>
              </a:ext>
            </a:extLst>
          </p:cNvPr>
          <p:cNvCxnSpPr/>
          <p:nvPr/>
        </p:nvCxnSpPr>
        <p:spPr>
          <a:xfrm>
            <a:off x="5715000" y="34573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1" name="Rectangle 70">
            <a:extLst>
              <a:ext uri="{FF2B5EF4-FFF2-40B4-BE49-F238E27FC236}">
                <a16:creationId xmlns:a16="http://schemas.microsoft.com/office/drawing/2014/main" id="{2878551C-954D-5600-4A28-2FB6B2FC835B}"/>
              </a:ext>
            </a:extLst>
          </p:cNvPr>
          <p:cNvSpPr/>
          <p:nvPr/>
        </p:nvSpPr>
        <p:spPr>
          <a:xfrm>
            <a:off x="5989320" y="3164694"/>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2" name="Rectangle 71">
            <a:extLst>
              <a:ext uri="{FF2B5EF4-FFF2-40B4-BE49-F238E27FC236}">
                <a16:creationId xmlns:a16="http://schemas.microsoft.com/office/drawing/2014/main" id="{08D588BD-CE61-D530-7D53-445F6FE2028D}"/>
              </a:ext>
            </a:extLst>
          </p:cNvPr>
          <p:cNvSpPr/>
          <p:nvPr/>
        </p:nvSpPr>
        <p:spPr>
          <a:xfrm>
            <a:off x="5989320" y="3164694"/>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3" name="Rectangle 72">
            <a:extLst>
              <a:ext uri="{FF2B5EF4-FFF2-40B4-BE49-F238E27FC236}">
                <a16:creationId xmlns:a16="http://schemas.microsoft.com/office/drawing/2014/main" id="{BEFBEC83-9F5E-D6AF-38B6-828597BBE02B}"/>
              </a:ext>
            </a:extLst>
          </p:cNvPr>
          <p:cNvSpPr/>
          <p:nvPr/>
        </p:nvSpPr>
        <p:spPr>
          <a:xfrm>
            <a:off x="6108192" y="318298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3　アンケート</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1タップで回答。興味・状況を把握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運用施策｜標準（簡易）／APIツール</a:t>
            </a:r>
          </a:p>
        </p:txBody>
      </p:sp>
      <p:cxnSp>
        <p:nvCxnSpPr>
          <p:cNvPr id="74" name="Connector 73">
            <a:extLst>
              <a:ext uri="{FF2B5EF4-FFF2-40B4-BE49-F238E27FC236}">
                <a16:creationId xmlns:a16="http://schemas.microsoft.com/office/drawing/2014/main" id="{087854F0-E07A-106C-2F55-5F4540F70FC7}"/>
              </a:ext>
            </a:extLst>
          </p:cNvPr>
          <p:cNvCxnSpPr/>
          <p:nvPr/>
        </p:nvCxnSpPr>
        <p:spPr>
          <a:xfrm>
            <a:off x="5715000" y="414310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5" name="Rectangle 74">
            <a:extLst>
              <a:ext uri="{FF2B5EF4-FFF2-40B4-BE49-F238E27FC236}">
                <a16:creationId xmlns:a16="http://schemas.microsoft.com/office/drawing/2014/main" id="{5E635C83-4255-D874-02BA-723D8D3945A1}"/>
              </a:ext>
            </a:extLst>
          </p:cNvPr>
          <p:cNvSpPr/>
          <p:nvPr/>
        </p:nvSpPr>
        <p:spPr>
          <a:xfrm>
            <a:off x="5989320" y="3841350"/>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6" name="Rectangle 75">
            <a:extLst>
              <a:ext uri="{FF2B5EF4-FFF2-40B4-BE49-F238E27FC236}">
                <a16:creationId xmlns:a16="http://schemas.microsoft.com/office/drawing/2014/main" id="{DA813A00-D7BA-7CEB-2811-E995F53B6411}"/>
              </a:ext>
            </a:extLst>
          </p:cNvPr>
          <p:cNvSpPr/>
          <p:nvPr/>
        </p:nvSpPr>
        <p:spPr>
          <a:xfrm>
            <a:off x="5989320" y="3841350"/>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77" name="Rectangle 76">
            <a:extLst>
              <a:ext uri="{FF2B5EF4-FFF2-40B4-BE49-F238E27FC236}">
                <a16:creationId xmlns:a16="http://schemas.microsoft.com/office/drawing/2014/main" id="{37095BF6-3F59-87B8-0E59-07F70CAF7197}"/>
              </a:ext>
            </a:extLst>
          </p:cNvPr>
          <p:cNvSpPr/>
          <p:nvPr/>
        </p:nvSpPr>
        <p:spPr>
          <a:xfrm>
            <a:off x="6108192" y="3859638"/>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5　ステップ配信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追加日などを起点に、日数で自動配信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運用施策｜APIツール</a:t>
            </a:r>
          </a:p>
        </p:txBody>
      </p:sp>
      <p:cxnSp>
        <p:nvCxnSpPr>
          <p:cNvPr id="78" name="Connector 77">
            <a:extLst>
              <a:ext uri="{FF2B5EF4-FFF2-40B4-BE49-F238E27FC236}">
                <a16:creationId xmlns:a16="http://schemas.microsoft.com/office/drawing/2014/main" id="{14DA0944-ACF0-26E9-C341-0F08287E50E0}"/>
              </a:ext>
            </a:extLst>
          </p:cNvPr>
          <p:cNvCxnSpPr/>
          <p:nvPr/>
        </p:nvCxnSpPr>
        <p:spPr>
          <a:xfrm>
            <a:off x="5715000" y="4737462"/>
            <a:ext cx="274320" cy="0"/>
          </a:xfrm>
          <a:prstGeom prst="line">
            <a:avLst/>
          </a:prstGeom>
          <a:ln w="19050">
            <a:solidFill>
              <a:srgbClr val="C8102E"/>
            </a:solidFill>
          </a:ln>
        </p:spPr>
        <p:style>
          <a:lnRef idx="2">
            <a:schemeClr val="accent1"/>
          </a:lnRef>
          <a:fillRef idx="0">
            <a:schemeClr val="accent1"/>
          </a:fillRef>
          <a:effectRef idx="1">
            <a:schemeClr val="accent1"/>
          </a:effectRef>
          <a:fontRef idx="minor">
            <a:schemeClr val="tx1"/>
          </a:fontRef>
        </p:style>
      </p:cxnSp>
      <p:sp>
        <p:nvSpPr>
          <p:cNvPr id="79" name="Rectangle 78">
            <a:extLst>
              <a:ext uri="{FF2B5EF4-FFF2-40B4-BE49-F238E27FC236}">
                <a16:creationId xmlns:a16="http://schemas.microsoft.com/office/drawing/2014/main" id="{04741443-9216-D183-86C7-C1D3D8CD0F86}"/>
              </a:ext>
            </a:extLst>
          </p:cNvPr>
          <p:cNvSpPr/>
          <p:nvPr/>
        </p:nvSpPr>
        <p:spPr>
          <a:xfrm>
            <a:off x="5989320" y="4463142"/>
            <a:ext cx="3538728" cy="566928"/>
          </a:xfrm>
          <a:prstGeom prst="rect">
            <a:avLst/>
          </a:prstGeom>
          <a:solidFill>
            <a:srgbClr val="FFFFFF"/>
          </a:solidFill>
          <a:ln w="15875">
            <a:solidFill>
              <a:srgbClr val="C8102E"/>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0" name="Rectangle 79">
            <a:extLst>
              <a:ext uri="{FF2B5EF4-FFF2-40B4-BE49-F238E27FC236}">
                <a16:creationId xmlns:a16="http://schemas.microsoft.com/office/drawing/2014/main" id="{EF62B91B-5616-0CBB-42CD-ABFAF3770BE1}"/>
              </a:ext>
            </a:extLst>
          </p:cNvPr>
          <p:cNvSpPr/>
          <p:nvPr/>
        </p:nvSpPr>
        <p:spPr>
          <a:xfrm>
            <a:off x="5989320" y="4463142"/>
            <a:ext cx="73152" cy="566928"/>
          </a:xfrm>
          <a:prstGeom prst="rect">
            <a:avLst/>
          </a:prstGeom>
          <a:solidFill>
            <a:srgbClr val="C8102E"/>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1" name="Rectangle 80">
            <a:extLst>
              <a:ext uri="{FF2B5EF4-FFF2-40B4-BE49-F238E27FC236}">
                <a16:creationId xmlns:a16="http://schemas.microsoft.com/office/drawing/2014/main" id="{2D902E01-6B95-274E-8EFB-9F3B88059A6D}"/>
              </a:ext>
            </a:extLst>
          </p:cNvPr>
          <p:cNvSpPr/>
          <p:nvPr/>
        </p:nvSpPr>
        <p:spPr>
          <a:xfrm>
            <a:off x="6108192" y="4481429"/>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C8102E"/>
                </a:solidFill>
                <a:latin typeface="メイリオ" panose="020B0604030504040204" pitchFamily="50" charset="-128"/>
                <a:ea typeface="メイリオ" panose="020B0604030504040204" pitchFamily="50" charset="-128"/>
                <a:cs typeface="メイリオ"/>
              </a:rPr>
              <a:t>6　企画配信</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季節・キャンペーンに合わせた定期配信</a:t>
            </a:r>
          </a:p>
          <a:p>
            <a:pPr algn="l">
              <a:spcAft>
                <a:spcPts val="0"/>
              </a:spcAft>
            </a:pPr>
            <a:r>
              <a:rPr sz="700" b="1">
                <a:solidFill>
                  <a:srgbClr val="C8102E"/>
                </a:solidFill>
                <a:latin typeface="メイリオ" panose="020B0604030504040204" pitchFamily="50" charset="-128"/>
                <a:ea typeface="メイリオ" panose="020B0604030504040204" pitchFamily="50" charset="-128"/>
                <a:cs typeface="メイリオ"/>
              </a:rPr>
              <a:t>運用施策｜標準機能</a:t>
            </a:r>
          </a:p>
        </p:txBody>
      </p:sp>
      <p:cxnSp>
        <p:nvCxnSpPr>
          <p:cNvPr id="82" name="Connector 81">
            <a:extLst>
              <a:ext uri="{FF2B5EF4-FFF2-40B4-BE49-F238E27FC236}">
                <a16:creationId xmlns:a16="http://schemas.microsoft.com/office/drawing/2014/main" id="{9FBE9224-F179-3806-57FD-B70E3DD7299F}"/>
              </a:ext>
            </a:extLst>
          </p:cNvPr>
          <p:cNvCxnSpPr/>
          <p:nvPr/>
        </p:nvCxnSpPr>
        <p:spPr>
          <a:xfrm>
            <a:off x="5715000" y="542326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3" name="Rectangle 82">
            <a:extLst>
              <a:ext uri="{FF2B5EF4-FFF2-40B4-BE49-F238E27FC236}">
                <a16:creationId xmlns:a16="http://schemas.microsoft.com/office/drawing/2014/main" id="{1AB67702-2E81-6221-4139-488E660CAB4E}"/>
              </a:ext>
            </a:extLst>
          </p:cNvPr>
          <p:cNvSpPr/>
          <p:nvPr/>
        </p:nvSpPr>
        <p:spPr>
          <a:xfrm>
            <a:off x="5989320" y="5121510"/>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4" name="Rectangle 83">
            <a:extLst>
              <a:ext uri="{FF2B5EF4-FFF2-40B4-BE49-F238E27FC236}">
                <a16:creationId xmlns:a16="http://schemas.microsoft.com/office/drawing/2014/main" id="{3938AC4A-CD97-D0B1-CB8F-46DDCFAE35FE}"/>
              </a:ext>
            </a:extLst>
          </p:cNvPr>
          <p:cNvSpPr/>
          <p:nvPr/>
        </p:nvSpPr>
        <p:spPr>
          <a:xfrm>
            <a:off x="5989320" y="5121510"/>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5" name="Rectangle 84">
            <a:extLst>
              <a:ext uri="{FF2B5EF4-FFF2-40B4-BE49-F238E27FC236}">
                <a16:creationId xmlns:a16="http://schemas.microsoft.com/office/drawing/2014/main" id="{E093121A-3AE3-1B04-1572-43FD309CC342}"/>
              </a:ext>
            </a:extLst>
          </p:cNvPr>
          <p:cNvSpPr/>
          <p:nvPr/>
        </p:nvSpPr>
        <p:spPr>
          <a:xfrm>
            <a:off x="6108192" y="5139797"/>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dirty="0">
                <a:solidFill>
                  <a:srgbClr val="1F2A5C"/>
                </a:solidFill>
                <a:latin typeface="メイリオ" panose="020B0604030504040204" pitchFamily="50" charset="-128"/>
                <a:ea typeface="メイリオ" panose="020B0604030504040204" pitchFamily="50" charset="-128"/>
                <a:cs typeface="メイリオ"/>
              </a:rPr>
              <a:t>8　</a:t>
            </a:r>
            <a:r>
              <a:rPr sz="1000" b="1" dirty="0" err="1">
                <a:solidFill>
                  <a:srgbClr val="1F2A5C"/>
                </a:solidFill>
                <a:latin typeface="メイリオ" panose="020B0604030504040204" pitchFamily="50" charset="-128"/>
                <a:ea typeface="メイリオ" panose="020B0604030504040204" pitchFamily="50" charset="-128"/>
                <a:cs typeface="メイリオ"/>
              </a:rPr>
              <a:t>自動応答</a:t>
            </a:r>
            <a:endParaRPr sz="1000" b="1" dirty="0">
              <a:solidFill>
                <a:srgbClr val="1F2A5C"/>
              </a:solidFill>
              <a:latin typeface="メイリオ" panose="020B0604030504040204" pitchFamily="50" charset="-128"/>
              <a:ea typeface="メイリオ" panose="020B0604030504040204" pitchFamily="50" charset="-128"/>
              <a:cs typeface="メイリオ"/>
            </a:endParaRPr>
          </a:p>
          <a:p>
            <a:pPr algn="l">
              <a:spcAft>
                <a:spcPts val="0"/>
              </a:spcAft>
            </a:pPr>
            <a:r>
              <a:rPr sz="800" b="0" dirty="0" err="1">
                <a:solidFill>
                  <a:srgbClr val="333333"/>
                </a:solidFill>
                <a:latin typeface="メイリオ" panose="020B0604030504040204" pitchFamily="50" charset="-128"/>
                <a:ea typeface="メイリオ" panose="020B0604030504040204" pitchFamily="50" charset="-128"/>
                <a:cs typeface="メイリオ"/>
              </a:rPr>
              <a:t>キーワードに自動で返信</a:t>
            </a:r>
            <a:endParaRPr sz="800" b="0" dirty="0">
              <a:solidFill>
                <a:srgbClr val="333333"/>
              </a:solidFill>
              <a:latin typeface="メイリオ" panose="020B0604030504040204" pitchFamily="50" charset="-128"/>
              <a:ea typeface="メイリオ" panose="020B0604030504040204" pitchFamily="50" charset="-128"/>
              <a:cs typeface="メイリオ"/>
            </a:endParaRPr>
          </a:p>
          <a:p>
            <a:pPr algn="l">
              <a:spcAft>
                <a:spcPts val="0"/>
              </a:spcAft>
            </a:pPr>
            <a:r>
              <a:rPr sz="700" b="1" dirty="0" err="1">
                <a:solidFill>
                  <a:srgbClr val="1F2A5C"/>
                </a:solidFill>
                <a:latin typeface="メイリオ" panose="020B0604030504040204" pitchFamily="50" charset="-128"/>
                <a:ea typeface="メイリオ" panose="020B0604030504040204" pitchFamily="50" charset="-128"/>
                <a:cs typeface="メイリオ"/>
              </a:rPr>
              <a:t>初期標準設定｜標準（FAQ・有人は別途</a:t>
            </a:r>
            <a:r>
              <a:rPr sz="700" b="1" dirty="0">
                <a:solidFill>
                  <a:srgbClr val="1F2A5C"/>
                </a:solidFill>
                <a:latin typeface="メイリオ" panose="020B0604030504040204" pitchFamily="50" charset="-128"/>
                <a:ea typeface="メイリオ" panose="020B0604030504040204" pitchFamily="50" charset="-128"/>
                <a:cs typeface="メイリオ"/>
              </a:rPr>
              <a:t>）</a:t>
            </a:r>
          </a:p>
        </p:txBody>
      </p:sp>
      <p:cxnSp>
        <p:nvCxnSpPr>
          <p:cNvPr id="86" name="Connector 85">
            <a:extLst>
              <a:ext uri="{FF2B5EF4-FFF2-40B4-BE49-F238E27FC236}">
                <a16:creationId xmlns:a16="http://schemas.microsoft.com/office/drawing/2014/main" id="{4A507D46-E245-9BC1-8E49-9B98A20927EE}"/>
              </a:ext>
            </a:extLst>
          </p:cNvPr>
          <p:cNvCxnSpPr/>
          <p:nvPr/>
        </p:nvCxnSpPr>
        <p:spPr>
          <a:xfrm>
            <a:off x="5715000" y="6170022"/>
            <a:ext cx="274320" cy="0"/>
          </a:xfrm>
          <a:prstGeom prst="line">
            <a:avLst/>
          </a:prstGeom>
          <a:ln w="19050">
            <a:solidFill>
              <a:srgbClr val="1F2A5C"/>
            </a:solidFill>
          </a:ln>
        </p:spPr>
        <p:style>
          <a:lnRef idx="2">
            <a:schemeClr val="accent1"/>
          </a:lnRef>
          <a:fillRef idx="0">
            <a:schemeClr val="accent1"/>
          </a:fillRef>
          <a:effectRef idx="1">
            <a:schemeClr val="accent1"/>
          </a:effectRef>
          <a:fontRef idx="minor">
            <a:schemeClr val="tx1"/>
          </a:fontRef>
        </p:style>
      </p:cxnSp>
      <p:sp>
        <p:nvSpPr>
          <p:cNvPr id="87" name="Rectangle 86">
            <a:extLst>
              <a:ext uri="{FF2B5EF4-FFF2-40B4-BE49-F238E27FC236}">
                <a16:creationId xmlns:a16="http://schemas.microsoft.com/office/drawing/2014/main" id="{BA218128-D353-B007-1B9E-9CC4F4C7DA73}"/>
              </a:ext>
            </a:extLst>
          </p:cNvPr>
          <p:cNvSpPr/>
          <p:nvPr/>
        </p:nvSpPr>
        <p:spPr>
          <a:xfrm>
            <a:off x="5989320" y="5877414"/>
            <a:ext cx="3538728" cy="566928"/>
          </a:xfrm>
          <a:prstGeom prst="rect">
            <a:avLst/>
          </a:prstGeom>
          <a:solidFill>
            <a:srgbClr val="FFFFFF"/>
          </a:solidFill>
          <a:ln w="15875">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8" name="Rectangle 87">
            <a:extLst>
              <a:ext uri="{FF2B5EF4-FFF2-40B4-BE49-F238E27FC236}">
                <a16:creationId xmlns:a16="http://schemas.microsoft.com/office/drawing/2014/main" id="{D31DED20-2693-1ECE-3338-7CEF9571C52B}"/>
              </a:ext>
            </a:extLst>
          </p:cNvPr>
          <p:cNvSpPr/>
          <p:nvPr/>
        </p:nvSpPr>
        <p:spPr>
          <a:xfrm>
            <a:off x="5989320" y="5877414"/>
            <a:ext cx="73152" cy="56692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
        <p:nvSpPr>
          <p:cNvPr id="89" name="Rectangle 88">
            <a:extLst>
              <a:ext uri="{FF2B5EF4-FFF2-40B4-BE49-F238E27FC236}">
                <a16:creationId xmlns:a16="http://schemas.microsoft.com/office/drawing/2014/main" id="{D03442D7-B1E7-5F7B-CB6D-531AF520BA8B}"/>
              </a:ext>
            </a:extLst>
          </p:cNvPr>
          <p:cNvSpPr/>
          <p:nvPr/>
        </p:nvSpPr>
        <p:spPr>
          <a:xfrm>
            <a:off x="6108192" y="5895702"/>
            <a:ext cx="3383280" cy="53035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18288" rIns="27432" bIns="18288" rtlCol="0" anchor="ctr"/>
          <a:lstStyle/>
          <a:p>
            <a:pPr algn="l">
              <a:spcAft>
                <a:spcPts val="0"/>
              </a:spcAft>
            </a:pPr>
            <a:r>
              <a:rPr sz="1000" b="1">
                <a:solidFill>
                  <a:srgbClr val="1F2A5C"/>
                </a:solidFill>
                <a:latin typeface="メイリオ" panose="020B0604030504040204" pitchFamily="50" charset="-128"/>
                <a:ea typeface="メイリオ" panose="020B0604030504040204" pitchFamily="50" charset="-128"/>
                <a:cs typeface="メイリオ"/>
              </a:rPr>
              <a:t>7　リッチメニュー</a:t>
            </a:r>
          </a:p>
          <a:p>
            <a:pPr algn="l">
              <a:spcAft>
                <a:spcPts val="0"/>
              </a:spcAft>
            </a:pPr>
            <a:r>
              <a:rPr sz="800" b="0">
                <a:solidFill>
                  <a:srgbClr val="333333"/>
                </a:solidFill>
                <a:latin typeface="メイリオ" panose="020B0604030504040204" pitchFamily="50" charset="-128"/>
                <a:ea typeface="メイリオ" panose="020B0604030504040204" pitchFamily="50" charset="-128"/>
                <a:cs typeface="メイリオ"/>
              </a:rPr>
              <a:t>トーク下部に常時表示。1タップで行動</a:t>
            </a:r>
          </a:p>
          <a:p>
            <a:pPr algn="l">
              <a:spcAft>
                <a:spcPts val="0"/>
              </a:spcAft>
            </a:pPr>
            <a:r>
              <a:rPr sz="700" b="1">
                <a:solidFill>
                  <a:srgbClr val="1F2A5C"/>
                </a:solidFill>
                <a:latin typeface="メイリオ" panose="020B0604030504040204" pitchFamily="50" charset="-128"/>
                <a:ea typeface="メイリオ" panose="020B0604030504040204" pitchFamily="50" charset="-128"/>
                <a:cs typeface="メイリオ"/>
              </a:rPr>
              <a:t>初期標準設定｜標準機能</a:t>
            </a:r>
          </a:p>
        </p:txBody>
      </p:sp>
      <p:sp>
        <p:nvSpPr>
          <p:cNvPr id="90" name="Rectangle 89">
            <a:extLst>
              <a:ext uri="{FF2B5EF4-FFF2-40B4-BE49-F238E27FC236}">
                <a16:creationId xmlns:a16="http://schemas.microsoft.com/office/drawing/2014/main" id="{6504280E-50E9-27C6-B905-70CBC084EA6F}"/>
              </a:ext>
            </a:extLst>
          </p:cNvPr>
          <p:cNvSpPr/>
          <p:nvPr/>
        </p:nvSpPr>
        <p:spPr>
          <a:xfrm>
            <a:off x="384048" y="6822294"/>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p>
        </p:txBody>
      </p:sp>
      <p:sp>
        <p:nvSpPr>
          <p:cNvPr id="91" name="Rectangle 37">
            <a:extLst>
              <a:ext uri="{FF2B5EF4-FFF2-40B4-BE49-F238E27FC236}">
                <a16:creationId xmlns:a16="http://schemas.microsoft.com/office/drawing/2014/main" id="{815B0ED0-A740-600B-6C02-0EA2C830954C}"/>
              </a:ext>
            </a:extLst>
          </p:cNvPr>
          <p:cNvSpPr/>
          <p:nvPr/>
        </p:nvSpPr>
        <p:spPr>
          <a:xfrm>
            <a:off x="3504539" y="2556296"/>
            <a:ext cx="1493235" cy="233581"/>
          </a:xfrm>
          <a:prstGeom prst="rect">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900" b="1">
                <a:solidFill>
                  <a:srgbClr val="FFFFFF"/>
                </a:solidFill>
                <a:latin typeface="メイリオ" panose="020B0604030504040204" pitchFamily="50" charset="-128"/>
                <a:ea typeface="メイリオ" panose="020B0604030504040204" pitchFamily="50" charset="-128"/>
                <a:cs typeface="メイリオ"/>
              </a:rPr>
              <a:t>公式アカウント</a:t>
            </a:r>
          </a:p>
        </p:txBody>
      </p:sp>
      <p:sp>
        <p:nvSpPr>
          <p:cNvPr id="92" name="Oval 59">
            <a:extLst>
              <a:ext uri="{FF2B5EF4-FFF2-40B4-BE49-F238E27FC236}">
                <a16:creationId xmlns:a16="http://schemas.microsoft.com/office/drawing/2014/main" id="{AE3F0BB7-CAA2-7DC4-5444-A62887C4147B}"/>
              </a:ext>
            </a:extLst>
          </p:cNvPr>
          <p:cNvSpPr/>
          <p:nvPr/>
        </p:nvSpPr>
        <p:spPr>
          <a:xfrm>
            <a:off x="3063240" y="2634342"/>
            <a:ext cx="274320" cy="274320"/>
          </a:xfrm>
          <a:prstGeom prst="ellipse">
            <a:avLst/>
          </a:prstGeom>
          <a:solidFill>
            <a:srgbClr val="1F2A5C"/>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wrap="square" lIns="0" tIns="18288" rIns="0" bIns="18288" rtlCol="0" anchor="ctr"/>
          <a:lstStyle/>
          <a:p>
            <a:pPr algn="ctr">
              <a:spcAft>
                <a:spcPts val="0"/>
              </a:spcAft>
            </a:pPr>
            <a:r>
              <a:rPr sz="1000" b="1">
                <a:solidFill>
                  <a:srgbClr val="FFFFFF"/>
                </a:solidFill>
                <a:latin typeface="メイリオ" panose="020B0604030504040204" pitchFamily="50" charset="-128"/>
                <a:ea typeface="メイリオ" panose="020B0604030504040204" pitchFamily="50" charset="-128"/>
                <a:cs typeface="メイリオ"/>
              </a:rPr>
              <a:t>2</a:t>
            </a:r>
          </a:p>
        </p:txBody>
      </p:sp>
      <p:sp>
        <p:nvSpPr>
          <p:cNvPr id="93" name="Oval 39">
            <a:extLst>
              <a:ext uri="{FF2B5EF4-FFF2-40B4-BE49-F238E27FC236}">
                <a16:creationId xmlns:a16="http://schemas.microsoft.com/office/drawing/2014/main" id="{BD5572D2-C987-F20B-3DAE-F41EEAF2F9EC}"/>
              </a:ext>
            </a:extLst>
          </p:cNvPr>
          <p:cNvSpPr/>
          <p:nvPr/>
        </p:nvSpPr>
        <p:spPr>
          <a:xfrm>
            <a:off x="3310128" y="2771502"/>
            <a:ext cx="237744" cy="237744"/>
          </a:xfrm>
          <a:prstGeom prst="ellipse">
            <a:avLst/>
          </a:prstGeom>
          <a:solidFill>
            <a:srgbClr val="FFFFFF"/>
          </a:solidFill>
          <a:ln w="1905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endParaRPr sz="110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785488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7116C-C503-AD0E-1DC9-89A610BC5463}"/>
            </a:ext>
          </a:extLst>
        </p:cNvPr>
        <p:cNvGrpSpPr/>
        <p:nvPr/>
      </p:nvGrpSpPr>
      <p:grpSpPr>
        <a:xfrm>
          <a:off x="0" y="0"/>
          <a:ext cx="0" cy="0"/>
          <a:chOff x="0" y="0"/>
          <a:chExt cx="0" cy="0"/>
        </a:xfrm>
      </p:grpSpPr>
      <p:sp>
        <p:nvSpPr>
          <p:cNvPr id="58" name="正方形/長方形 57">
            <a:extLst>
              <a:ext uri="{FF2B5EF4-FFF2-40B4-BE49-F238E27FC236}">
                <a16:creationId xmlns:a16="http://schemas.microsoft.com/office/drawing/2014/main" id="{3CAF7A2C-02DA-8C56-48F2-6F9C35F802AB}"/>
              </a:ext>
            </a:extLst>
          </p:cNvPr>
          <p:cNvSpPr/>
          <p:nvPr/>
        </p:nvSpPr>
        <p:spPr>
          <a:xfrm>
            <a:off x="96788" y="1045811"/>
            <a:ext cx="1935768" cy="2187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7E688361-05C3-950A-7ADB-027296FECB97}"/>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5" name="テキスト ボックス 4">
            <a:extLst>
              <a:ext uri="{FF2B5EF4-FFF2-40B4-BE49-F238E27FC236}">
                <a16:creationId xmlns:a16="http://schemas.microsoft.com/office/drawing/2014/main" id="{0798B0F8-1488-15A2-554D-D8BA88CE6CBC}"/>
              </a:ext>
            </a:extLst>
          </p:cNvPr>
          <p:cNvSpPr txBox="1"/>
          <p:nvPr/>
        </p:nvSpPr>
        <p:spPr>
          <a:xfrm>
            <a:off x="96788" y="619405"/>
            <a:ext cx="4961186" cy="369332"/>
          </a:xfrm>
          <a:prstGeom prst="rect">
            <a:avLst/>
          </a:prstGeom>
          <a:noFill/>
        </p:spPr>
        <p:txBody>
          <a:bodyPr wrap="square">
            <a:spAutoFit/>
          </a:bodyPr>
          <a:lstStyle/>
          <a:p>
            <a:r>
              <a:rPr lang="en-US" altLang="ja-JP"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施策一覧</a:t>
            </a:r>
            <a:endParaRPr lang="ja-JP" altLang="en-US" sz="1100" dirty="0"/>
          </a:p>
        </p:txBody>
      </p:sp>
      <p:sp>
        <p:nvSpPr>
          <p:cNvPr id="7" name="テキスト ボックス 6">
            <a:extLst>
              <a:ext uri="{FF2B5EF4-FFF2-40B4-BE49-F238E27FC236}">
                <a16:creationId xmlns:a16="http://schemas.microsoft.com/office/drawing/2014/main" id="{C3DDC107-5B3F-A510-D857-9EB2AC13C8E6}"/>
              </a:ext>
            </a:extLst>
          </p:cNvPr>
          <p:cNvSpPr txBox="1"/>
          <p:nvPr/>
        </p:nvSpPr>
        <p:spPr>
          <a:xfrm>
            <a:off x="96788" y="1202790"/>
            <a:ext cx="9687414" cy="307777"/>
          </a:xfrm>
          <a:prstGeom prst="rect">
            <a:avLst/>
          </a:prstGeom>
          <a:noFill/>
        </p:spPr>
        <p:txBody>
          <a:bodyPr wrap="square">
            <a:spAutoFit/>
          </a:bodyPr>
          <a:lstStyle/>
          <a:p>
            <a:r>
              <a:rPr lang="ja-JP" altLang="en-US" sz="1400"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機能ごとの区分と、各施策への有効度</a:t>
            </a:r>
            <a:endParaRPr lang="ja-JP" altLang="en-US" sz="1000" dirty="0"/>
          </a:p>
        </p:txBody>
      </p:sp>
      <p:sp>
        <p:nvSpPr>
          <p:cNvPr id="9" name="テキスト ボックス 8">
            <a:extLst>
              <a:ext uri="{FF2B5EF4-FFF2-40B4-BE49-F238E27FC236}">
                <a16:creationId xmlns:a16="http://schemas.microsoft.com/office/drawing/2014/main" id="{E73117CB-A562-540A-5859-170849730990}"/>
              </a:ext>
            </a:extLst>
          </p:cNvPr>
          <p:cNvSpPr txBox="1"/>
          <p:nvPr/>
        </p:nvSpPr>
        <p:spPr>
          <a:xfrm>
            <a:off x="460785" y="91159"/>
            <a:ext cx="4961186" cy="369332"/>
          </a:xfrm>
          <a:prstGeom prst="rect">
            <a:avLst/>
          </a:prstGeom>
          <a:noFill/>
        </p:spPr>
        <p:txBody>
          <a:bodyPr wrap="square">
            <a:spAutoFit/>
          </a:bodyPr>
          <a:lstStyle/>
          <a:p>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 前提調査</a:t>
            </a:r>
            <a:endParaRPr lang="ja-JP" altLang="en-US" sz="1100" dirty="0"/>
          </a:p>
        </p:txBody>
      </p:sp>
      <p:sp>
        <p:nvSpPr>
          <p:cNvPr id="90" name="Rectangle 89">
            <a:extLst>
              <a:ext uri="{FF2B5EF4-FFF2-40B4-BE49-F238E27FC236}">
                <a16:creationId xmlns:a16="http://schemas.microsoft.com/office/drawing/2014/main" id="{D3CD1414-1712-221C-F683-DBEB34A5718E}"/>
              </a:ext>
            </a:extLst>
          </p:cNvPr>
          <p:cNvSpPr/>
          <p:nvPr/>
        </p:nvSpPr>
        <p:spPr>
          <a:xfrm>
            <a:off x="384048" y="6308486"/>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600" b="0" dirty="0">
                <a:solidFill>
                  <a:srgbClr val="777777"/>
                </a:solidFill>
                <a:latin typeface="メイリオ" panose="020B0604030504040204" pitchFamily="50" charset="-128"/>
                <a:ea typeface="メイリオ" panose="020B0604030504040204" pitchFamily="50" charset="-128"/>
                <a:cs typeface="メイリオ"/>
              </a:rPr>
              <a:t>※</a:t>
            </a:r>
            <a:r>
              <a:rPr sz="600" b="0" dirty="0" err="1">
                <a:solidFill>
                  <a:srgbClr val="777777"/>
                </a:solidFill>
                <a:latin typeface="メイリオ" panose="020B0604030504040204" pitchFamily="50" charset="-128"/>
                <a:ea typeface="メイリオ" panose="020B0604030504040204" pitchFamily="50" charset="-128"/>
                <a:cs typeface="メイリオ"/>
              </a:rPr>
              <a:t>ステップ配信・タグ・出し分けはAPI（拡張）ツールで実現するのが一般的。画面は動作イメージ（文言はサンプル</a:t>
            </a:r>
            <a:r>
              <a:rPr sz="600" b="0" dirty="0">
                <a:solidFill>
                  <a:srgbClr val="777777"/>
                </a:solidFill>
                <a:latin typeface="メイリオ" panose="020B0604030504040204" pitchFamily="50" charset="-128"/>
                <a:ea typeface="メイリオ" panose="020B0604030504040204" pitchFamily="50" charset="-128"/>
                <a:cs typeface="メイリオ"/>
              </a:rPr>
              <a:t>）</a:t>
            </a:r>
          </a:p>
        </p:txBody>
      </p:sp>
      <p:sp>
        <p:nvSpPr>
          <p:cNvPr id="95" name="Rectangle 3">
            <a:extLst>
              <a:ext uri="{FF2B5EF4-FFF2-40B4-BE49-F238E27FC236}">
                <a16:creationId xmlns:a16="http://schemas.microsoft.com/office/drawing/2014/main" id="{49EA327F-E96A-0E42-51BE-B55AF4253D76}"/>
              </a:ext>
            </a:extLst>
          </p:cNvPr>
          <p:cNvSpPr/>
          <p:nvPr/>
        </p:nvSpPr>
        <p:spPr>
          <a:xfrm>
            <a:off x="384048" y="1772236"/>
            <a:ext cx="216712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機能</a:t>
            </a:r>
          </a:p>
        </p:txBody>
      </p:sp>
      <p:sp>
        <p:nvSpPr>
          <p:cNvPr id="97" name="Rectangle 4">
            <a:extLst>
              <a:ext uri="{FF2B5EF4-FFF2-40B4-BE49-F238E27FC236}">
                <a16:creationId xmlns:a16="http://schemas.microsoft.com/office/drawing/2014/main" id="{A8E732CD-14AC-5A08-4E7F-82ED6AF4AA6B}"/>
              </a:ext>
            </a:extLst>
          </p:cNvPr>
          <p:cNvSpPr/>
          <p:nvPr/>
        </p:nvSpPr>
        <p:spPr>
          <a:xfrm>
            <a:off x="2578608" y="1772236"/>
            <a:ext cx="1161288"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区分</a:t>
            </a:r>
          </a:p>
        </p:txBody>
      </p:sp>
      <p:sp>
        <p:nvSpPr>
          <p:cNvPr id="99" name="Rectangle 5">
            <a:extLst>
              <a:ext uri="{FF2B5EF4-FFF2-40B4-BE49-F238E27FC236}">
                <a16:creationId xmlns:a16="http://schemas.microsoft.com/office/drawing/2014/main" id="{D2E91A74-DE49-482E-7EBE-AD0D0EE66A34}"/>
              </a:ext>
            </a:extLst>
          </p:cNvPr>
          <p:cNvSpPr/>
          <p:nvPr/>
        </p:nvSpPr>
        <p:spPr>
          <a:xfrm>
            <a:off x="3767328"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1 露出強化</a:t>
            </a:r>
          </a:p>
        </p:txBody>
      </p:sp>
      <p:sp>
        <p:nvSpPr>
          <p:cNvPr id="101" name="Rectangle 6">
            <a:extLst>
              <a:ext uri="{FF2B5EF4-FFF2-40B4-BE49-F238E27FC236}">
                <a16:creationId xmlns:a16="http://schemas.microsoft.com/office/drawing/2014/main" id="{C4777D6E-7DF6-A05E-5153-229B34E8BA1D}"/>
              </a:ext>
            </a:extLst>
          </p:cNvPr>
          <p:cNvSpPr/>
          <p:nvPr/>
        </p:nvSpPr>
        <p:spPr>
          <a:xfrm>
            <a:off x="4919472"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2 CV</a:t>
            </a:r>
          </a:p>
        </p:txBody>
      </p:sp>
      <p:sp>
        <p:nvSpPr>
          <p:cNvPr id="103" name="Rectangle 7">
            <a:extLst>
              <a:ext uri="{FF2B5EF4-FFF2-40B4-BE49-F238E27FC236}">
                <a16:creationId xmlns:a16="http://schemas.microsoft.com/office/drawing/2014/main" id="{7EC19AA3-119E-E5FD-C316-5A3BEA9CE35A}"/>
              </a:ext>
            </a:extLst>
          </p:cNvPr>
          <p:cNvSpPr/>
          <p:nvPr/>
        </p:nvSpPr>
        <p:spPr>
          <a:xfrm>
            <a:off x="6071616"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3 LTV・質</a:t>
            </a:r>
          </a:p>
        </p:txBody>
      </p:sp>
      <p:sp>
        <p:nvSpPr>
          <p:cNvPr id="105" name="Rectangle 8">
            <a:extLst>
              <a:ext uri="{FF2B5EF4-FFF2-40B4-BE49-F238E27FC236}">
                <a16:creationId xmlns:a16="http://schemas.microsoft.com/office/drawing/2014/main" id="{54AC6625-CD1A-C326-598A-628F361B05A1}"/>
              </a:ext>
            </a:extLst>
          </p:cNvPr>
          <p:cNvSpPr/>
          <p:nvPr/>
        </p:nvSpPr>
        <p:spPr>
          <a:xfrm>
            <a:off x="7223760"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4 リピート</a:t>
            </a:r>
          </a:p>
        </p:txBody>
      </p:sp>
      <p:sp>
        <p:nvSpPr>
          <p:cNvPr id="107" name="Rectangle 9">
            <a:extLst>
              <a:ext uri="{FF2B5EF4-FFF2-40B4-BE49-F238E27FC236}">
                <a16:creationId xmlns:a16="http://schemas.microsoft.com/office/drawing/2014/main" id="{5E88DC84-02C4-EEA1-3E9D-0DFFE020630D}"/>
              </a:ext>
            </a:extLst>
          </p:cNvPr>
          <p:cNvSpPr/>
          <p:nvPr/>
        </p:nvSpPr>
        <p:spPr>
          <a:xfrm>
            <a:off x="8375904" y="1772236"/>
            <a:ext cx="1124712" cy="349135"/>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100" b="1">
                <a:solidFill>
                  <a:srgbClr val="FFFFFF"/>
                </a:solidFill>
                <a:latin typeface="メイリオ"/>
                <a:ea typeface="メイリオ"/>
                <a:cs typeface="メイリオ"/>
              </a:rPr>
              <a:t>5 コミュニティ</a:t>
            </a:r>
          </a:p>
        </p:txBody>
      </p:sp>
      <p:sp>
        <p:nvSpPr>
          <p:cNvPr id="109" name="Rectangle 10">
            <a:extLst>
              <a:ext uri="{FF2B5EF4-FFF2-40B4-BE49-F238E27FC236}">
                <a16:creationId xmlns:a16="http://schemas.microsoft.com/office/drawing/2014/main" id="{F8AF94DD-6BD0-815B-7F96-916DA7A75686}"/>
              </a:ext>
            </a:extLst>
          </p:cNvPr>
          <p:cNvSpPr/>
          <p:nvPr/>
        </p:nvSpPr>
        <p:spPr>
          <a:xfrm>
            <a:off x="384048" y="2148229"/>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① ポップアップ</a:t>
            </a:r>
          </a:p>
        </p:txBody>
      </p:sp>
      <p:sp>
        <p:nvSpPr>
          <p:cNvPr id="111" name="Rectangle 11">
            <a:extLst>
              <a:ext uri="{FF2B5EF4-FFF2-40B4-BE49-F238E27FC236}">
                <a16:creationId xmlns:a16="http://schemas.microsoft.com/office/drawing/2014/main" id="{EAC07884-840F-9E39-DF22-1A68ACDBB41F}"/>
              </a:ext>
            </a:extLst>
          </p:cNvPr>
          <p:cNvSpPr/>
          <p:nvPr/>
        </p:nvSpPr>
        <p:spPr>
          <a:xfrm>
            <a:off x="2578608" y="2148229"/>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入口</a:t>
            </a:r>
          </a:p>
        </p:txBody>
      </p:sp>
      <p:sp>
        <p:nvSpPr>
          <p:cNvPr id="113" name="Rectangle 12">
            <a:extLst>
              <a:ext uri="{FF2B5EF4-FFF2-40B4-BE49-F238E27FC236}">
                <a16:creationId xmlns:a16="http://schemas.microsoft.com/office/drawing/2014/main" id="{311D7915-7E63-7CCC-0695-EFC6BA2C3ADA}"/>
              </a:ext>
            </a:extLst>
          </p:cNvPr>
          <p:cNvSpPr/>
          <p:nvPr/>
        </p:nvSpPr>
        <p:spPr>
          <a:xfrm>
            <a:off x="3767328"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15" name="Rectangle 13">
            <a:extLst>
              <a:ext uri="{FF2B5EF4-FFF2-40B4-BE49-F238E27FC236}">
                <a16:creationId xmlns:a16="http://schemas.microsoft.com/office/drawing/2014/main" id="{60BE805D-C095-F8E7-7A94-0B18AEB6F84C}"/>
              </a:ext>
            </a:extLst>
          </p:cNvPr>
          <p:cNvSpPr/>
          <p:nvPr/>
        </p:nvSpPr>
        <p:spPr>
          <a:xfrm>
            <a:off x="4919472" y="2148229"/>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17" name="Rectangle 14">
            <a:extLst>
              <a:ext uri="{FF2B5EF4-FFF2-40B4-BE49-F238E27FC236}">
                <a16:creationId xmlns:a16="http://schemas.microsoft.com/office/drawing/2014/main" id="{39625F34-980E-D2C8-E6DD-8B8B44D77878}"/>
              </a:ext>
            </a:extLst>
          </p:cNvPr>
          <p:cNvSpPr/>
          <p:nvPr/>
        </p:nvSpPr>
        <p:spPr>
          <a:xfrm>
            <a:off x="6071616"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19" name="Rectangle 15">
            <a:extLst>
              <a:ext uri="{FF2B5EF4-FFF2-40B4-BE49-F238E27FC236}">
                <a16:creationId xmlns:a16="http://schemas.microsoft.com/office/drawing/2014/main" id="{24EDAC7A-83AC-8541-1B88-A1D93D0649D0}"/>
              </a:ext>
            </a:extLst>
          </p:cNvPr>
          <p:cNvSpPr/>
          <p:nvPr/>
        </p:nvSpPr>
        <p:spPr>
          <a:xfrm>
            <a:off x="7223760"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1" name="Rectangle 16">
            <a:extLst>
              <a:ext uri="{FF2B5EF4-FFF2-40B4-BE49-F238E27FC236}">
                <a16:creationId xmlns:a16="http://schemas.microsoft.com/office/drawing/2014/main" id="{4DC3437B-9697-00DC-A150-0F58E0E7685B}"/>
              </a:ext>
            </a:extLst>
          </p:cNvPr>
          <p:cNvSpPr/>
          <p:nvPr/>
        </p:nvSpPr>
        <p:spPr>
          <a:xfrm>
            <a:off x="8375904" y="2148229"/>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23" name="Rectangle 17">
            <a:extLst>
              <a:ext uri="{FF2B5EF4-FFF2-40B4-BE49-F238E27FC236}">
                <a16:creationId xmlns:a16="http://schemas.microsoft.com/office/drawing/2014/main" id="{A38047BC-377A-0AF5-F712-50F5C69AF30C}"/>
              </a:ext>
            </a:extLst>
          </p:cNvPr>
          <p:cNvSpPr/>
          <p:nvPr/>
        </p:nvSpPr>
        <p:spPr>
          <a:xfrm>
            <a:off x="384048" y="2643310"/>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② 挨拶メッセージ</a:t>
            </a:r>
          </a:p>
        </p:txBody>
      </p:sp>
      <p:sp>
        <p:nvSpPr>
          <p:cNvPr id="125" name="Rectangle 18">
            <a:extLst>
              <a:ext uri="{FF2B5EF4-FFF2-40B4-BE49-F238E27FC236}">
                <a16:creationId xmlns:a16="http://schemas.microsoft.com/office/drawing/2014/main" id="{A9F3AEF1-F5C3-F86D-A4DE-DC40884A3A77}"/>
              </a:ext>
            </a:extLst>
          </p:cNvPr>
          <p:cNvSpPr/>
          <p:nvPr/>
        </p:nvSpPr>
        <p:spPr>
          <a:xfrm>
            <a:off x="2578608" y="2643310"/>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27" name="Rectangle 19">
            <a:extLst>
              <a:ext uri="{FF2B5EF4-FFF2-40B4-BE49-F238E27FC236}">
                <a16:creationId xmlns:a16="http://schemas.microsoft.com/office/drawing/2014/main" id="{1A5FF7DD-0DFB-757E-EED7-59CFFD8427A5}"/>
              </a:ext>
            </a:extLst>
          </p:cNvPr>
          <p:cNvSpPr/>
          <p:nvPr/>
        </p:nvSpPr>
        <p:spPr>
          <a:xfrm>
            <a:off x="3767328"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29" name="Rectangle 20">
            <a:extLst>
              <a:ext uri="{FF2B5EF4-FFF2-40B4-BE49-F238E27FC236}">
                <a16:creationId xmlns:a16="http://schemas.microsoft.com/office/drawing/2014/main" id="{74E363AF-90CC-FE97-A178-1488F203CCC6}"/>
              </a:ext>
            </a:extLst>
          </p:cNvPr>
          <p:cNvSpPr/>
          <p:nvPr/>
        </p:nvSpPr>
        <p:spPr>
          <a:xfrm>
            <a:off x="4919472"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1" name="Rectangle 21">
            <a:extLst>
              <a:ext uri="{FF2B5EF4-FFF2-40B4-BE49-F238E27FC236}">
                <a16:creationId xmlns:a16="http://schemas.microsoft.com/office/drawing/2014/main" id="{6AC96041-BB43-D3DA-9D34-9C915166E941}"/>
              </a:ext>
            </a:extLst>
          </p:cNvPr>
          <p:cNvSpPr/>
          <p:nvPr/>
        </p:nvSpPr>
        <p:spPr>
          <a:xfrm>
            <a:off x="6071616" y="2643310"/>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33" name="Rectangle 22">
            <a:extLst>
              <a:ext uri="{FF2B5EF4-FFF2-40B4-BE49-F238E27FC236}">
                <a16:creationId xmlns:a16="http://schemas.microsoft.com/office/drawing/2014/main" id="{06964474-BEB7-B1A3-7CC2-7091782D3005}"/>
              </a:ext>
            </a:extLst>
          </p:cNvPr>
          <p:cNvSpPr/>
          <p:nvPr/>
        </p:nvSpPr>
        <p:spPr>
          <a:xfrm>
            <a:off x="7223760"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35" name="Rectangle 23">
            <a:extLst>
              <a:ext uri="{FF2B5EF4-FFF2-40B4-BE49-F238E27FC236}">
                <a16:creationId xmlns:a16="http://schemas.microsoft.com/office/drawing/2014/main" id="{8D23914E-C971-EE96-4111-076CA6C88E76}"/>
              </a:ext>
            </a:extLst>
          </p:cNvPr>
          <p:cNvSpPr/>
          <p:nvPr/>
        </p:nvSpPr>
        <p:spPr>
          <a:xfrm>
            <a:off x="8375904" y="2643310"/>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37" name="Rectangle 24">
            <a:extLst>
              <a:ext uri="{FF2B5EF4-FFF2-40B4-BE49-F238E27FC236}">
                <a16:creationId xmlns:a16="http://schemas.microsoft.com/office/drawing/2014/main" id="{9A69F835-F2FD-D659-DCE3-F67F1A44358D}"/>
              </a:ext>
            </a:extLst>
          </p:cNvPr>
          <p:cNvSpPr/>
          <p:nvPr/>
        </p:nvSpPr>
        <p:spPr>
          <a:xfrm>
            <a:off x="384048" y="3138391"/>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③ アンケート</a:t>
            </a:r>
          </a:p>
        </p:txBody>
      </p:sp>
      <p:sp>
        <p:nvSpPr>
          <p:cNvPr id="139" name="Rectangle 25">
            <a:extLst>
              <a:ext uri="{FF2B5EF4-FFF2-40B4-BE49-F238E27FC236}">
                <a16:creationId xmlns:a16="http://schemas.microsoft.com/office/drawing/2014/main" id="{73D5E841-C5F6-49BC-FC6C-246893B9A073}"/>
              </a:ext>
            </a:extLst>
          </p:cNvPr>
          <p:cNvSpPr/>
          <p:nvPr/>
        </p:nvSpPr>
        <p:spPr>
          <a:xfrm>
            <a:off x="2578608" y="3138391"/>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41" name="Rectangle 26">
            <a:extLst>
              <a:ext uri="{FF2B5EF4-FFF2-40B4-BE49-F238E27FC236}">
                <a16:creationId xmlns:a16="http://schemas.microsoft.com/office/drawing/2014/main" id="{6E33CD1B-69FA-AAA6-AC07-587E543F496B}"/>
              </a:ext>
            </a:extLst>
          </p:cNvPr>
          <p:cNvSpPr/>
          <p:nvPr/>
        </p:nvSpPr>
        <p:spPr>
          <a:xfrm>
            <a:off x="3767328"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43" name="Rectangle 27">
            <a:extLst>
              <a:ext uri="{FF2B5EF4-FFF2-40B4-BE49-F238E27FC236}">
                <a16:creationId xmlns:a16="http://schemas.microsoft.com/office/drawing/2014/main" id="{B1237B51-61FD-415A-B88D-9D4093177C7E}"/>
              </a:ext>
            </a:extLst>
          </p:cNvPr>
          <p:cNvSpPr/>
          <p:nvPr/>
        </p:nvSpPr>
        <p:spPr>
          <a:xfrm>
            <a:off x="4919472"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5" name="Rectangle 28">
            <a:extLst>
              <a:ext uri="{FF2B5EF4-FFF2-40B4-BE49-F238E27FC236}">
                <a16:creationId xmlns:a16="http://schemas.microsoft.com/office/drawing/2014/main" id="{698EED6C-FFE7-DAA0-F5E4-938EB0082F32}"/>
              </a:ext>
            </a:extLst>
          </p:cNvPr>
          <p:cNvSpPr/>
          <p:nvPr/>
        </p:nvSpPr>
        <p:spPr>
          <a:xfrm>
            <a:off x="6071616" y="3138391"/>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47" name="Rectangle 29">
            <a:extLst>
              <a:ext uri="{FF2B5EF4-FFF2-40B4-BE49-F238E27FC236}">
                <a16:creationId xmlns:a16="http://schemas.microsoft.com/office/drawing/2014/main" id="{39F28ADA-54CB-21A9-D4E0-5A9FC11D5B5E}"/>
              </a:ext>
            </a:extLst>
          </p:cNvPr>
          <p:cNvSpPr/>
          <p:nvPr/>
        </p:nvSpPr>
        <p:spPr>
          <a:xfrm>
            <a:off x="7223760"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49" name="Rectangle 30">
            <a:extLst>
              <a:ext uri="{FF2B5EF4-FFF2-40B4-BE49-F238E27FC236}">
                <a16:creationId xmlns:a16="http://schemas.microsoft.com/office/drawing/2014/main" id="{05051530-F83D-00C2-4F87-FEB4B1CF2797}"/>
              </a:ext>
            </a:extLst>
          </p:cNvPr>
          <p:cNvSpPr/>
          <p:nvPr/>
        </p:nvSpPr>
        <p:spPr>
          <a:xfrm>
            <a:off x="8375904" y="3138391"/>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1" name="Rectangle 31">
            <a:extLst>
              <a:ext uri="{FF2B5EF4-FFF2-40B4-BE49-F238E27FC236}">
                <a16:creationId xmlns:a16="http://schemas.microsoft.com/office/drawing/2014/main" id="{61A04942-3698-E590-BEA7-6EF906A190B1}"/>
              </a:ext>
            </a:extLst>
          </p:cNvPr>
          <p:cNvSpPr/>
          <p:nvPr/>
        </p:nvSpPr>
        <p:spPr>
          <a:xfrm>
            <a:off x="384048" y="363347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④ タグ・セグメント</a:t>
            </a:r>
          </a:p>
        </p:txBody>
      </p:sp>
      <p:sp>
        <p:nvSpPr>
          <p:cNvPr id="153" name="Rectangle 32">
            <a:extLst>
              <a:ext uri="{FF2B5EF4-FFF2-40B4-BE49-F238E27FC236}">
                <a16:creationId xmlns:a16="http://schemas.microsoft.com/office/drawing/2014/main" id="{1E39E853-C262-3BCD-C77F-9B94DE1F207C}"/>
              </a:ext>
            </a:extLst>
          </p:cNvPr>
          <p:cNvSpPr/>
          <p:nvPr/>
        </p:nvSpPr>
        <p:spPr>
          <a:xfrm>
            <a:off x="2578608" y="363347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55" name="Rectangle 33">
            <a:extLst>
              <a:ext uri="{FF2B5EF4-FFF2-40B4-BE49-F238E27FC236}">
                <a16:creationId xmlns:a16="http://schemas.microsoft.com/office/drawing/2014/main" id="{7DDE9A5B-F57A-CB76-B304-0E68CA66FC16}"/>
              </a:ext>
            </a:extLst>
          </p:cNvPr>
          <p:cNvSpPr/>
          <p:nvPr/>
        </p:nvSpPr>
        <p:spPr>
          <a:xfrm>
            <a:off x="3767328"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57" name="Rectangle 34">
            <a:extLst>
              <a:ext uri="{FF2B5EF4-FFF2-40B4-BE49-F238E27FC236}">
                <a16:creationId xmlns:a16="http://schemas.microsoft.com/office/drawing/2014/main" id="{3A07BE12-AC72-F155-28A9-47640CE9BCD1}"/>
              </a:ext>
            </a:extLst>
          </p:cNvPr>
          <p:cNvSpPr/>
          <p:nvPr/>
        </p:nvSpPr>
        <p:spPr>
          <a:xfrm>
            <a:off x="4919472"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59" name="Rectangle 35">
            <a:extLst>
              <a:ext uri="{FF2B5EF4-FFF2-40B4-BE49-F238E27FC236}">
                <a16:creationId xmlns:a16="http://schemas.microsoft.com/office/drawing/2014/main" id="{027726E8-B7E9-98DB-B7EA-DD4F11AB37AF}"/>
              </a:ext>
            </a:extLst>
          </p:cNvPr>
          <p:cNvSpPr/>
          <p:nvPr/>
        </p:nvSpPr>
        <p:spPr>
          <a:xfrm>
            <a:off x="6071616"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1" name="Rectangle 36">
            <a:extLst>
              <a:ext uri="{FF2B5EF4-FFF2-40B4-BE49-F238E27FC236}">
                <a16:creationId xmlns:a16="http://schemas.microsoft.com/office/drawing/2014/main" id="{BD93EC24-9E89-5DFD-1A06-5A3F18ADE95C}"/>
              </a:ext>
            </a:extLst>
          </p:cNvPr>
          <p:cNvSpPr/>
          <p:nvPr/>
        </p:nvSpPr>
        <p:spPr>
          <a:xfrm>
            <a:off x="7223760" y="363347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63" name="Rectangle 37">
            <a:extLst>
              <a:ext uri="{FF2B5EF4-FFF2-40B4-BE49-F238E27FC236}">
                <a16:creationId xmlns:a16="http://schemas.microsoft.com/office/drawing/2014/main" id="{CC63009F-72DA-DCD6-5469-085A390B1CFE}"/>
              </a:ext>
            </a:extLst>
          </p:cNvPr>
          <p:cNvSpPr/>
          <p:nvPr/>
        </p:nvSpPr>
        <p:spPr>
          <a:xfrm>
            <a:off x="8375904" y="363347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65" name="Rectangle 38">
            <a:extLst>
              <a:ext uri="{FF2B5EF4-FFF2-40B4-BE49-F238E27FC236}">
                <a16:creationId xmlns:a16="http://schemas.microsoft.com/office/drawing/2014/main" id="{7B60F0BC-54A4-8C7F-5CFA-B0D158A96A5B}"/>
              </a:ext>
            </a:extLst>
          </p:cNvPr>
          <p:cNvSpPr/>
          <p:nvPr/>
        </p:nvSpPr>
        <p:spPr>
          <a:xfrm>
            <a:off x="384048" y="4128552"/>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⑤ ステップ配信</a:t>
            </a:r>
          </a:p>
        </p:txBody>
      </p:sp>
      <p:sp>
        <p:nvSpPr>
          <p:cNvPr id="167" name="Rectangle 39">
            <a:extLst>
              <a:ext uri="{FF2B5EF4-FFF2-40B4-BE49-F238E27FC236}">
                <a16:creationId xmlns:a16="http://schemas.microsoft.com/office/drawing/2014/main" id="{806AF363-F59B-F87D-1131-F239AB9F2E26}"/>
              </a:ext>
            </a:extLst>
          </p:cNvPr>
          <p:cNvSpPr/>
          <p:nvPr/>
        </p:nvSpPr>
        <p:spPr>
          <a:xfrm>
            <a:off x="2578608" y="4128552"/>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69" name="Rectangle 40">
            <a:extLst>
              <a:ext uri="{FF2B5EF4-FFF2-40B4-BE49-F238E27FC236}">
                <a16:creationId xmlns:a16="http://schemas.microsoft.com/office/drawing/2014/main" id="{75CC7116-0D68-AEE0-F3AA-5738E7C9F663}"/>
              </a:ext>
            </a:extLst>
          </p:cNvPr>
          <p:cNvSpPr/>
          <p:nvPr/>
        </p:nvSpPr>
        <p:spPr>
          <a:xfrm>
            <a:off x="3767328"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1" name="Rectangle 41">
            <a:extLst>
              <a:ext uri="{FF2B5EF4-FFF2-40B4-BE49-F238E27FC236}">
                <a16:creationId xmlns:a16="http://schemas.microsoft.com/office/drawing/2014/main" id="{0331AD44-DDB1-9676-B388-6C92C21A0A0D}"/>
              </a:ext>
            </a:extLst>
          </p:cNvPr>
          <p:cNvSpPr/>
          <p:nvPr/>
        </p:nvSpPr>
        <p:spPr>
          <a:xfrm>
            <a:off x="4919472"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3" name="Rectangle 42">
            <a:extLst>
              <a:ext uri="{FF2B5EF4-FFF2-40B4-BE49-F238E27FC236}">
                <a16:creationId xmlns:a16="http://schemas.microsoft.com/office/drawing/2014/main" id="{E8FFC0A2-2357-92B7-1C19-EEA69C76294B}"/>
              </a:ext>
            </a:extLst>
          </p:cNvPr>
          <p:cNvSpPr/>
          <p:nvPr/>
        </p:nvSpPr>
        <p:spPr>
          <a:xfrm>
            <a:off x="6071616" y="4128552"/>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75" name="Rectangle 43">
            <a:extLst>
              <a:ext uri="{FF2B5EF4-FFF2-40B4-BE49-F238E27FC236}">
                <a16:creationId xmlns:a16="http://schemas.microsoft.com/office/drawing/2014/main" id="{6B13204F-831A-41C7-355D-11C8A35D7F53}"/>
              </a:ext>
            </a:extLst>
          </p:cNvPr>
          <p:cNvSpPr/>
          <p:nvPr/>
        </p:nvSpPr>
        <p:spPr>
          <a:xfrm>
            <a:off x="7223760"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77" name="Rectangle 44">
            <a:extLst>
              <a:ext uri="{FF2B5EF4-FFF2-40B4-BE49-F238E27FC236}">
                <a16:creationId xmlns:a16="http://schemas.microsoft.com/office/drawing/2014/main" id="{97032AD7-3026-A0FE-32F3-DD27D7313366}"/>
              </a:ext>
            </a:extLst>
          </p:cNvPr>
          <p:cNvSpPr/>
          <p:nvPr/>
        </p:nvSpPr>
        <p:spPr>
          <a:xfrm>
            <a:off x="8375904" y="4128552"/>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79" name="Rectangle 45">
            <a:extLst>
              <a:ext uri="{FF2B5EF4-FFF2-40B4-BE49-F238E27FC236}">
                <a16:creationId xmlns:a16="http://schemas.microsoft.com/office/drawing/2014/main" id="{3ADF3E0A-9911-06FB-98B2-85AD95D9DC05}"/>
              </a:ext>
            </a:extLst>
          </p:cNvPr>
          <p:cNvSpPr/>
          <p:nvPr/>
        </p:nvSpPr>
        <p:spPr>
          <a:xfrm>
            <a:off x="384048" y="4623634"/>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⑥ 企画配信</a:t>
            </a:r>
          </a:p>
        </p:txBody>
      </p:sp>
      <p:sp>
        <p:nvSpPr>
          <p:cNvPr id="181" name="Rectangle 46">
            <a:extLst>
              <a:ext uri="{FF2B5EF4-FFF2-40B4-BE49-F238E27FC236}">
                <a16:creationId xmlns:a16="http://schemas.microsoft.com/office/drawing/2014/main" id="{81A43C7F-2A31-08D4-D136-672F79B135F4}"/>
              </a:ext>
            </a:extLst>
          </p:cNvPr>
          <p:cNvSpPr/>
          <p:nvPr/>
        </p:nvSpPr>
        <p:spPr>
          <a:xfrm>
            <a:off x="2578608" y="4623634"/>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C8102E"/>
                </a:solidFill>
                <a:latin typeface="メイリオ"/>
                <a:ea typeface="メイリオ"/>
                <a:cs typeface="メイリオ"/>
              </a:rPr>
              <a:t>運用</a:t>
            </a:r>
          </a:p>
        </p:txBody>
      </p:sp>
      <p:sp>
        <p:nvSpPr>
          <p:cNvPr id="183" name="Rectangle 47">
            <a:extLst>
              <a:ext uri="{FF2B5EF4-FFF2-40B4-BE49-F238E27FC236}">
                <a16:creationId xmlns:a16="http://schemas.microsoft.com/office/drawing/2014/main" id="{AC663C8A-1A44-5E0D-18DB-CDEBA22BD084}"/>
              </a:ext>
            </a:extLst>
          </p:cNvPr>
          <p:cNvSpPr/>
          <p:nvPr/>
        </p:nvSpPr>
        <p:spPr>
          <a:xfrm>
            <a:off x="3767328"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5" name="Rectangle 48">
            <a:extLst>
              <a:ext uri="{FF2B5EF4-FFF2-40B4-BE49-F238E27FC236}">
                <a16:creationId xmlns:a16="http://schemas.microsoft.com/office/drawing/2014/main" id="{593C58F8-7428-8726-B84F-B1A8BF819D76}"/>
              </a:ext>
            </a:extLst>
          </p:cNvPr>
          <p:cNvSpPr/>
          <p:nvPr/>
        </p:nvSpPr>
        <p:spPr>
          <a:xfrm>
            <a:off x="4919472"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87" name="Rectangle 49">
            <a:extLst>
              <a:ext uri="{FF2B5EF4-FFF2-40B4-BE49-F238E27FC236}">
                <a16:creationId xmlns:a16="http://schemas.microsoft.com/office/drawing/2014/main" id="{623B2847-331D-6B25-8DD7-9819D7D1BA82}"/>
              </a:ext>
            </a:extLst>
          </p:cNvPr>
          <p:cNvSpPr/>
          <p:nvPr/>
        </p:nvSpPr>
        <p:spPr>
          <a:xfrm>
            <a:off x="6071616"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89" name="Rectangle 50">
            <a:extLst>
              <a:ext uri="{FF2B5EF4-FFF2-40B4-BE49-F238E27FC236}">
                <a16:creationId xmlns:a16="http://schemas.microsoft.com/office/drawing/2014/main" id="{EA6E0F6C-83E1-4256-F51C-9E8CC7E87158}"/>
              </a:ext>
            </a:extLst>
          </p:cNvPr>
          <p:cNvSpPr/>
          <p:nvPr/>
        </p:nvSpPr>
        <p:spPr>
          <a:xfrm>
            <a:off x="7223760" y="4623634"/>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191" name="Rectangle 51">
            <a:extLst>
              <a:ext uri="{FF2B5EF4-FFF2-40B4-BE49-F238E27FC236}">
                <a16:creationId xmlns:a16="http://schemas.microsoft.com/office/drawing/2014/main" id="{30FBCC1D-C3D9-761F-4E3B-CDF1D885FD38}"/>
              </a:ext>
            </a:extLst>
          </p:cNvPr>
          <p:cNvSpPr/>
          <p:nvPr/>
        </p:nvSpPr>
        <p:spPr>
          <a:xfrm>
            <a:off x="8375904" y="4623634"/>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193" name="Rectangle 52">
            <a:extLst>
              <a:ext uri="{FF2B5EF4-FFF2-40B4-BE49-F238E27FC236}">
                <a16:creationId xmlns:a16="http://schemas.microsoft.com/office/drawing/2014/main" id="{9F969861-65E2-7DEA-1D8D-3C991DC6FCAD}"/>
              </a:ext>
            </a:extLst>
          </p:cNvPr>
          <p:cNvSpPr/>
          <p:nvPr/>
        </p:nvSpPr>
        <p:spPr>
          <a:xfrm>
            <a:off x="384048" y="5118715"/>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⑦ リッチメニュー</a:t>
            </a:r>
          </a:p>
        </p:txBody>
      </p:sp>
      <p:sp>
        <p:nvSpPr>
          <p:cNvPr id="195" name="Rectangle 53">
            <a:extLst>
              <a:ext uri="{FF2B5EF4-FFF2-40B4-BE49-F238E27FC236}">
                <a16:creationId xmlns:a16="http://schemas.microsoft.com/office/drawing/2014/main" id="{FEB00F4C-6D07-AD41-CDD3-7D400EE74D94}"/>
              </a:ext>
            </a:extLst>
          </p:cNvPr>
          <p:cNvSpPr/>
          <p:nvPr/>
        </p:nvSpPr>
        <p:spPr>
          <a:xfrm>
            <a:off x="2578608" y="5118715"/>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197" name="Rectangle 54">
            <a:extLst>
              <a:ext uri="{FF2B5EF4-FFF2-40B4-BE49-F238E27FC236}">
                <a16:creationId xmlns:a16="http://schemas.microsoft.com/office/drawing/2014/main" id="{474006B6-8EF9-5160-0A19-AAD059407EE5}"/>
              </a:ext>
            </a:extLst>
          </p:cNvPr>
          <p:cNvSpPr/>
          <p:nvPr/>
        </p:nvSpPr>
        <p:spPr>
          <a:xfrm>
            <a:off x="3767328"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199" name="Rectangle 55">
            <a:extLst>
              <a:ext uri="{FF2B5EF4-FFF2-40B4-BE49-F238E27FC236}">
                <a16:creationId xmlns:a16="http://schemas.microsoft.com/office/drawing/2014/main" id="{835DFC8E-494C-23F3-5A75-365D4389E0A1}"/>
              </a:ext>
            </a:extLst>
          </p:cNvPr>
          <p:cNvSpPr/>
          <p:nvPr/>
        </p:nvSpPr>
        <p:spPr>
          <a:xfrm>
            <a:off x="4919472" y="5118715"/>
            <a:ext cx="1124712" cy="436213"/>
          </a:xfrm>
          <a:prstGeom prst="rect">
            <a:avLst/>
          </a:prstGeom>
          <a:solidFill>
            <a:srgbClr val="FDF0F2"/>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C8102E"/>
                </a:solidFill>
                <a:latin typeface="メイリオ"/>
                <a:ea typeface="メイリオ"/>
                <a:cs typeface="メイリオ"/>
              </a:rPr>
              <a:t>◎</a:t>
            </a:r>
          </a:p>
        </p:txBody>
      </p:sp>
      <p:sp>
        <p:nvSpPr>
          <p:cNvPr id="201" name="Rectangle 56">
            <a:extLst>
              <a:ext uri="{FF2B5EF4-FFF2-40B4-BE49-F238E27FC236}">
                <a16:creationId xmlns:a16="http://schemas.microsoft.com/office/drawing/2014/main" id="{508AA054-C140-CE04-06DD-6D9CFC991D51}"/>
              </a:ext>
            </a:extLst>
          </p:cNvPr>
          <p:cNvSpPr/>
          <p:nvPr/>
        </p:nvSpPr>
        <p:spPr>
          <a:xfrm>
            <a:off x="6071616"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03" name="Rectangle 57">
            <a:extLst>
              <a:ext uri="{FF2B5EF4-FFF2-40B4-BE49-F238E27FC236}">
                <a16:creationId xmlns:a16="http://schemas.microsoft.com/office/drawing/2014/main" id="{0A32F90C-518A-01EC-ACCD-61CF0DA46AE2}"/>
              </a:ext>
            </a:extLst>
          </p:cNvPr>
          <p:cNvSpPr/>
          <p:nvPr/>
        </p:nvSpPr>
        <p:spPr>
          <a:xfrm>
            <a:off x="7223760"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5" name="Rectangle 58">
            <a:extLst>
              <a:ext uri="{FF2B5EF4-FFF2-40B4-BE49-F238E27FC236}">
                <a16:creationId xmlns:a16="http://schemas.microsoft.com/office/drawing/2014/main" id="{E5905130-E57A-E645-DD15-13FCB3239157}"/>
              </a:ext>
            </a:extLst>
          </p:cNvPr>
          <p:cNvSpPr/>
          <p:nvPr/>
        </p:nvSpPr>
        <p:spPr>
          <a:xfrm>
            <a:off x="8375904" y="5118715"/>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07" name="Rectangle 59">
            <a:extLst>
              <a:ext uri="{FF2B5EF4-FFF2-40B4-BE49-F238E27FC236}">
                <a16:creationId xmlns:a16="http://schemas.microsoft.com/office/drawing/2014/main" id="{670A42D2-0E96-12D3-B85F-5BE6BFDE1675}"/>
              </a:ext>
            </a:extLst>
          </p:cNvPr>
          <p:cNvSpPr/>
          <p:nvPr/>
        </p:nvSpPr>
        <p:spPr>
          <a:xfrm>
            <a:off x="384048" y="5613796"/>
            <a:ext cx="2167128" cy="436213"/>
          </a:xfrm>
          <a:prstGeom prst="rect">
            <a:avLst/>
          </a:prstGeom>
          <a:solidFill>
            <a:srgbClr val="EEF1F8"/>
          </a:solidFill>
          <a:ln>
            <a:noFill/>
          </a:ln>
          <a:effectLst/>
        </p:spPr>
        <p:style>
          <a:lnRef idx="1">
            <a:schemeClr val="accent1"/>
          </a:lnRef>
          <a:fillRef idx="3">
            <a:schemeClr val="accent1"/>
          </a:fillRef>
          <a:effectRef idx="2">
            <a:schemeClr val="accent1"/>
          </a:effectRef>
          <a:fontRef idx="minor">
            <a:schemeClr val="lt1"/>
          </a:fontRef>
        </p:style>
        <p:txBody>
          <a:bodyPr wrap="square" tIns="18288" bIns="18288" rtlCol="0" anchor="ctr"/>
          <a:lstStyle/>
          <a:p>
            <a:pPr algn="l">
              <a:spcAft>
                <a:spcPts val="0"/>
              </a:spcAft>
            </a:pPr>
            <a:r>
              <a:rPr sz="1100" b="1">
                <a:solidFill>
                  <a:srgbClr val="1F2A5C"/>
                </a:solidFill>
                <a:latin typeface="メイリオ"/>
                <a:ea typeface="メイリオ"/>
                <a:cs typeface="メイリオ"/>
              </a:rPr>
              <a:t>⑧ 自動応答</a:t>
            </a:r>
          </a:p>
        </p:txBody>
      </p:sp>
      <p:sp>
        <p:nvSpPr>
          <p:cNvPr id="209" name="Rectangle 60">
            <a:extLst>
              <a:ext uri="{FF2B5EF4-FFF2-40B4-BE49-F238E27FC236}">
                <a16:creationId xmlns:a16="http://schemas.microsoft.com/office/drawing/2014/main" id="{BA384BB0-B57F-BDEA-8AFD-F70160763ED6}"/>
              </a:ext>
            </a:extLst>
          </p:cNvPr>
          <p:cNvSpPr/>
          <p:nvPr/>
        </p:nvSpPr>
        <p:spPr>
          <a:xfrm>
            <a:off x="2578608" y="5613796"/>
            <a:ext cx="1161288"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spcAft>
                <a:spcPts val="0"/>
              </a:spcAft>
            </a:pPr>
            <a:r>
              <a:rPr sz="1000" b="1">
                <a:solidFill>
                  <a:srgbClr val="1F2A5C"/>
                </a:solidFill>
                <a:latin typeface="メイリオ"/>
                <a:ea typeface="メイリオ"/>
                <a:cs typeface="メイリオ"/>
              </a:rPr>
              <a:t>初期標準</a:t>
            </a:r>
          </a:p>
        </p:txBody>
      </p:sp>
      <p:sp>
        <p:nvSpPr>
          <p:cNvPr id="211" name="Rectangle 61">
            <a:extLst>
              <a:ext uri="{FF2B5EF4-FFF2-40B4-BE49-F238E27FC236}">
                <a16:creationId xmlns:a16="http://schemas.microsoft.com/office/drawing/2014/main" id="{8CF9A974-AF48-0226-F298-3354D9E8A871}"/>
              </a:ext>
            </a:extLst>
          </p:cNvPr>
          <p:cNvSpPr/>
          <p:nvPr/>
        </p:nvSpPr>
        <p:spPr>
          <a:xfrm>
            <a:off x="3767328"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3" name="Rectangle 62">
            <a:extLst>
              <a:ext uri="{FF2B5EF4-FFF2-40B4-BE49-F238E27FC236}">
                <a16:creationId xmlns:a16="http://schemas.microsoft.com/office/drawing/2014/main" id="{4AF384A8-31D1-31F4-4E26-ECFC1A5A1189}"/>
              </a:ext>
            </a:extLst>
          </p:cNvPr>
          <p:cNvSpPr/>
          <p:nvPr/>
        </p:nvSpPr>
        <p:spPr>
          <a:xfrm>
            <a:off x="4919472"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5" name="Rectangle 63">
            <a:extLst>
              <a:ext uri="{FF2B5EF4-FFF2-40B4-BE49-F238E27FC236}">
                <a16:creationId xmlns:a16="http://schemas.microsoft.com/office/drawing/2014/main" id="{EBB135C8-694D-04ED-2331-A114B5F6A2E2}"/>
              </a:ext>
            </a:extLst>
          </p:cNvPr>
          <p:cNvSpPr/>
          <p:nvPr/>
        </p:nvSpPr>
        <p:spPr>
          <a:xfrm>
            <a:off x="6071616"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600" b="1">
                <a:solidFill>
                  <a:srgbClr val="4A6FA5"/>
                </a:solidFill>
                <a:latin typeface="メイリオ"/>
                <a:ea typeface="メイリオ"/>
                <a:cs typeface="メイリオ"/>
              </a:rPr>
              <a:t>○</a:t>
            </a:r>
          </a:p>
        </p:txBody>
      </p:sp>
      <p:sp>
        <p:nvSpPr>
          <p:cNvPr id="217" name="Rectangle 64">
            <a:extLst>
              <a:ext uri="{FF2B5EF4-FFF2-40B4-BE49-F238E27FC236}">
                <a16:creationId xmlns:a16="http://schemas.microsoft.com/office/drawing/2014/main" id="{7BE70E8C-EF6D-E9D1-E47E-1FD6C3CCD3C9}"/>
              </a:ext>
            </a:extLst>
          </p:cNvPr>
          <p:cNvSpPr/>
          <p:nvPr/>
        </p:nvSpPr>
        <p:spPr>
          <a:xfrm>
            <a:off x="7223760"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19" name="Rectangle 65">
            <a:extLst>
              <a:ext uri="{FF2B5EF4-FFF2-40B4-BE49-F238E27FC236}">
                <a16:creationId xmlns:a16="http://schemas.microsoft.com/office/drawing/2014/main" id="{1EE8F08D-6C1C-22F4-2DD7-D1DDB06A7245}"/>
              </a:ext>
            </a:extLst>
          </p:cNvPr>
          <p:cNvSpPr/>
          <p:nvPr/>
        </p:nvSpPr>
        <p:spPr>
          <a:xfrm>
            <a:off x="8375904" y="5613796"/>
            <a:ext cx="1124712" cy="436213"/>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endParaRPr/>
          </a:p>
        </p:txBody>
      </p:sp>
      <p:sp>
        <p:nvSpPr>
          <p:cNvPr id="221" name="Rectangle 66">
            <a:extLst>
              <a:ext uri="{FF2B5EF4-FFF2-40B4-BE49-F238E27FC236}">
                <a16:creationId xmlns:a16="http://schemas.microsoft.com/office/drawing/2014/main" id="{5AB0CFB9-851A-14A5-120D-2BF5670B93F5}"/>
              </a:ext>
            </a:extLst>
          </p:cNvPr>
          <p:cNvSpPr/>
          <p:nvPr/>
        </p:nvSpPr>
        <p:spPr>
          <a:xfrm>
            <a:off x="384048" y="6124303"/>
            <a:ext cx="9144000" cy="2743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当社想定の整理</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初期標準」は構築時に設定する標準機能</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運用</a:t>
            </a:r>
            <a:r>
              <a:rPr sz="800" b="0" dirty="0">
                <a:solidFill>
                  <a:srgbClr val="777777"/>
                </a:solidFill>
                <a:latin typeface="メイリオ"/>
                <a:ea typeface="メイリオ"/>
                <a:cs typeface="メイリオ"/>
              </a:rPr>
              <a:t>」「</a:t>
            </a:r>
            <a:r>
              <a:rPr sz="800" b="0" dirty="0" err="1">
                <a:solidFill>
                  <a:srgbClr val="777777"/>
                </a:solidFill>
                <a:latin typeface="メイリオ"/>
                <a:ea typeface="メイリオ"/>
                <a:cs typeface="メイリオ"/>
              </a:rPr>
              <a:t>入口」は運用しながら改善する施策</a:t>
            </a:r>
            <a:endParaRPr sz="800" b="0" dirty="0">
              <a:solidFill>
                <a:srgbClr val="777777"/>
              </a:solidFill>
              <a:latin typeface="メイリオ"/>
              <a:ea typeface="メイリオ"/>
              <a:cs typeface="メイリオ"/>
            </a:endParaRPr>
          </a:p>
        </p:txBody>
      </p:sp>
    </p:spTree>
    <p:extLst>
      <p:ext uri="{BB962C8B-B14F-4D97-AF65-F5344CB8AC3E}">
        <p14:creationId xmlns:p14="http://schemas.microsoft.com/office/powerpoint/2010/main" val="2587936521"/>
      </p:ext>
    </p:extLst>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65A1212B-9A99-C03C-9B39-B48B0013BC6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77655FAD-2CE9-1ACF-42D9-A55667D797D3}"/>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endParaRPr kumimoji="1" lang="ja-JP" altLang="en-US" sz="1400" dirty="0">
              <a:latin typeface="メイリオ" panose="020B0604030504040204" pitchFamily="50" charset="-128"/>
              <a:ea typeface="メイリオ" panose="020B0604030504040204" pitchFamily="50" charset="-128"/>
            </a:endParaRPr>
          </a:p>
        </p:txBody>
      </p:sp>
      <p:sp>
        <p:nvSpPr>
          <p:cNvPr id="10" name="Google Shape;752;p28">
            <a:extLst>
              <a:ext uri="{FF2B5EF4-FFF2-40B4-BE49-F238E27FC236}">
                <a16:creationId xmlns:a16="http://schemas.microsoft.com/office/drawing/2014/main" id="{B56FE2F8-7980-8B94-6C87-C3C5C519D1BB}"/>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ユーザーニーズが高まったタイミング（業界キーワードの検索）を軸に</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比較されるサービスや懸念軸を参照し、ステップ配信を構築。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877" name="四角形: 角を丸くする 876">
            <a:extLst>
              <a:ext uri="{FF2B5EF4-FFF2-40B4-BE49-F238E27FC236}">
                <a16:creationId xmlns:a16="http://schemas.microsoft.com/office/drawing/2014/main" id="{A27EA2E2-51F5-1DC6-547F-CC48303CA4E1}"/>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pic>
        <p:nvPicPr>
          <p:cNvPr id="262" name="前後検索 派遣 登録（色分け）">
            <a:extLst>
              <a:ext uri="{FF2B5EF4-FFF2-40B4-BE49-F238E27FC236}">
                <a16:creationId xmlns:a16="http://schemas.microsoft.com/office/drawing/2014/main" id="{B2125166-5E25-29DA-D966-FEA0209E7D28}"/>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70698" y="2159248"/>
            <a:ext cx="7040655" cy="4107050"/>
          </a:xfrm>
          <a:prstGeom prst="rect">
            <a:avLst/>
          </a:prstGeom>
        </p:spPr>
      </p:pic>
      <p:sp>
        <p:nvSpPr>
          <p:cNvPr id="263" name="正方形/長方形 262">
            <a:extLst>
              <a:ext uri="{FF2B5EF4-FFF2-40B4-BE49-F238E27FC236}">
                <a16:creationId xmlns:a16="http://schemas.microsoft.com/office/drawing/2014/main" id="{748363DA-2C29-7135-6BD0-55F74CF1062A}"/>
              </a:ext>
            </a:extLst>
          </p:cNvPr>
          <p:cNvSpPr/>
          <p:nvPr/>
        </p:nvSpPr>
        <p:spPr>
          <a:xfrm>
            <a:off x="1141763" y="6219402"/>
            <a:ext cx="3202899"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kumimoji="1" lang="en-US" altLang="ja-JP" sz="1050" b="1" dirty="0">
                <a:solidFill>
                  <a:schemeClr val="tx1"/>
                </a:solidFill>
                <a:latin typeface="メイリオ" panose="020B0604030504040204" pitchFamily="50" charset="-128"/>
                <a:ea typeface="メイリオ" panose="020B0604030504040204" pitchFamily="50" charset="-128"/>
              </a:rPr>
              <a:t>”</a:t>
            </a:r>
            <a:r>
              <a:rPr kumimoji="1" lang="ja-JP" altLang="en-US" sz="1050" b="1" dirty="0">
                <a:solidFill>
                  <a:schemeClr val="tx1"/>
                </a:solidFill>
                <a:latin typeface="メイリオ" panose="020B0604030504040204" pitchFamily="50" charset="-128"/>
                <a:ea typeface="メイリオ" panose="020B0604030504040204" pitchFamily="50" charset="-128"/>
              </a:rPr>
              <a:t>前</a:t>
            </a:r>
            <a:r>
              <a:rPr kumimoji="1" lang="en-US" altLang="ja-JP" sz="1050" b="1" dirty="0">
                <a:solidFill>
                  <a:schemeClr val="tx1"/>
                </a:solidFill>
                <a:latin typeface="メイリオ" panose="020B0604030504040204" pitchFamily="50" charset="-128"/>
                <a:ea typeface="メイリオ" panose="020B0604030504040204" pitchFamily="50" charset="-128"/>
              </a:rPr>
              <a:t>”15</a:t>
            </a:r>
            <a:r>
              <a:rPr kumimoji="1" lang="ja-JP" altLang="en-US" sz="1050" b="1" dirty="0">
                <a:solidFill>
                  <a:schemeClr val="tx1"/>
                </a:solidFill>
                <a:latin typeface="メイリオ" panose="020B0604030504040204" pitchFamily="50" charset="-128"/>
                <a:ea typeface="メイリオ" panose="020B0604030504040204" pitchFamily="50" charset="-128"/>
              </a:rPr>
              <a:t>日</a:t>
            </a:r>
          </a:p>
        </p:txBody>
      </p:sp>
      <p:sp>
        <p:nvSpPr>
          <p:cNvPr id="264" name="正方形/長方形 263">
            <a:extLst>
              <a:ext uri="{FF2B5EF4-FFF2-40B4-BE49-F238E27FC236}">
                <a16:creationId xmlns:a16="http://schemas.microsoft.com/office/drawing/2014/main" id="{E30C2E59-75D1-61B8-7100-9431FCDA1BB0}"/>
              </a:ext>
            </a:extLst>
          </p:cNvPr>
          <p:cNvSpPr/>
          <p:nvPr/>
        </p:nvSpPr>
        <p:spPr>
          <a:xfrm>
            <a:off x="4454391" y="6219402"/>
            <a:ext cx="3400636" cy="226123"/>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該当ワードの検索</a:t>
            </a:r>
            <a:r>
              <a:rPr lang="en-US" altLang="ja-JP" sz="1050" b="1" dirty="0">
                <a:solidFill>
                  <a:schemeClr val="tx1"/>
                </a:solidFill>
                <a:latin typeface="メイリオ" panose="020B0604030504040204" pitchFamily="50" charset="-128"/>
                <a:ea typeface="メイリオ" panose="020B0604030504040204" pitchFamily="50" charset="-128"/>
              </a:rPr>
              <a:t>”</a:t>
            </a:r>
            <a:r>
              <a:rPr lang="ja-JP" altLang="en-US" sz="1050" b="1" dirty="0">
                <a:solidFill>
                  <a:schemeClr val="tx1"/>
                </a:solidFill>
                <a:latin typeface="メイリオ" panose="020B0604030504040204" pitchFamily="50" charset="-128"/>
                <a:ea typeface="メイリオ" panose="020B0604030504040204" pitchFamily="50" charset="-128"/>
              </a:rPr>
              <a:t>後</a:t>
            </a:r>
            <a:r>
              <a:rPr lang="en-US" altLang="ja-JP" sz="1050" b="1" dirty="0">
                <a:solidFill>
                  <a:schemeClr val="tx1"/>
                </a:solidFill>
                <a:latin typeface="メイリオ" panose="020B0604030504040204" pitchFamily="50" charset="-128"/>
                <a:ea typeface="メイリオ" panose="020B0604030504040204" pitchFamily="50" charset="-128"/>
              </a:rPr>
              <a:t>”15</a:t>
            </a:r>
            <a:r>
              <a:rPr lang="ja-JP" altLang="en-US" sz="1050" b="1" dirty="0">
                <a:solidFill>
                  <a:schemeClr val="tx1"/>
                </a:solidFill>
                <a:latin typeface="メイリオ" panose="020B0604030504040204" pitchFamily="50" charset="-128"/>
                <a:ea typeface="メイリオ" panose="020B0604030504040204" pitchFamily="50" charset="-128"/>
              </a:rPr>
              <a:t>日</a:t>
            </a:r>
          </a:p>
        </p:txBody>
      </p:sp>
      <p:cxnSp>
        <p:nvCxnSpPr>
          <p:cNvPr id="265" name="直線矢印コネクタ 264">
            <a:extLst>
              <a:ext uri="{FF2B5EF4-FFF2-40B4-BE49-F238E27FC236}">
                <a16:creationId xmlns:a16="http://schemas.microsoft.com/office/drawing/2014/main" id="{D5256C44-BCFD-25DA-BA57-DCD0FDFF9A61}"/>
              </a:ext>
            </a:extLst>
          </p:cNvPr>
          <p:cNvCxnSpPr>
            <a:cxnSpLocks/>
          </p:cNvCxnSpPr>
          <p:nvPr/>
        </p:nvCxnSpPr>
        <p:spPr>
          <a:xfrm flipV="1">
            <a:off x="245734" y="1875367"/>
            <a:ext cx="0" cy="4562932"/>
          </a:xfrm>
          <a:prstGeom prst="straightConnector1">
            <a:avLst/>
          </a:prstGeom>
          <a:ln w="15875">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66" name="テキスト ボックス 265">
            <a:extLst>
              <a:ext uri="{FF2B5EF4-FFF2-40B4-BE49-F238E27FC236}">
                <a16:creationId xmlns:a16="http://schemas.microsoft.com/office/drawing/2014/main" id="{7C17D56F-1AC6-34AD-A4BB-4EC0DABD016D}"/>
              </a:ext>
            </a:extLst>
          </p:cNvPr>
          <p:cNvSpPr txBox="1"/>
          <p:nvPr/>
        </p:nvSpPr>
        <p:spPr>
          <a:xfrm>
            <a:off x="174707" y="2012591"/>
            <a:ext cx="1079863" cy="253916"/>
          </a:xfrm>
          <a:prstGeom prst="rect">
            <a:avLst/>
          </a:prstGeom>
          <a:noFill/>
        </p:spPr>
        <p:txBody>
          <a:bodyPr wrap="square">
            <a:spAutoFit/>
          </a:bodyPr>
          <a:lstStyle/>
          <a:p>
            <a:r>
              <a:rPr lang="ja-JP" altLang="en-US" sz="1050" b="1" dirty="0">
                <a:solidFill>
                  <a:srgbClr val="FF0000"/>
                </a:solidFill>
                <a:latin typeface="メイリオ" panose="020B0604030504040204" pitchFamily="50" charset="-128"/>
                <a:ea typeface="メイリオ" panose="020B0604030504040204" pitchFamily="50" charset="-128"/>
              </a:rPr>
              <a:t>検索</a:t>
            </a:r>
            <a:r>
              <a:rPr lang="en-US" altLang="ja-JP" sz="1050" b="1" dirty="0">
                <a:solidFill>
                  <a:srgbClr val="FF0000"/>
                </a:solidFill>
                <a:latin typeface="メイリオ" panose="020B0604030504040204" pitchFamily="50" charset="-128"/>
                <a:ea typeface="メイリオ" panose="020B0604030504040204" pitchFamily="50" charset="-128"/>
              </a:rPr>
              <a:t>Vol:</a:t>
            </a:r>
            <a:r>
              <a:rPr lang="ja-JP" altLang="en-US" sz="1050" b="1" dirty="0">
                <a:solidFill>
                  <a:srgbClr val="FF0000"/>
                </a:solidFill>
                <a:latin typeface="メイリオ" panose="020B0604030504040204" pitchFamily="50" charset="-128"/>
                <a:ea typeface="メイリオ" panose="020B0604030504040204" pitchFamily="50" charset="-128"/>
              </a:rPr>
              <a:t>多</a:t>
            </a:r>
            <a:endParaRPr kumimoji="1" lang="ja-JP" altLang="en-US" sz="1050" b="1" dirty="0">
              <a:solidFill>
                <a:srgbClr val="FF0000"/>
              </a:solidFill>
              <a:latin typeface="メイリオ" panose="020B0604030504040204" pitchFamily="50" charset="-128"/>
              <a:ea typeface="メイリオ" panose="020B0604030504040204" pitchFamily="50" charset="-128"/>
            </a:endParaRPr>
          </a:p>
        </p:txBody>
      </p:sp>
      <p:sp>
        <p:nvSpPr>
          <p:cNvPr id="267" name="正方形/長方形 266">
            <a:extLst>
              <a:ext uri="{FF2B5EF4-FFF2-40B4-BE49-F238E27FC236}">
                <a16:creationId xmlns:a16="http://schemas.microsoft.com/office/drawing/2014/main" id="{AD15A6B3-E0B8-2B6E-5872-4F23BABCE27E}"/>
              </a:ext>
            </a:extLst>
          </p:cNvPr>
          <p:cNvSpPr/>
          <p:nvPr/>
        </p:nvSpPr>
        <p:spPr>
          <a:xfrm>
            <a:off x="4454391" y="1702353"/>
            <a:ext cx="841358" cy="4472105"/>
          </a:xfrm>
          <a:prstGeom prst="rect">
            <a:avLst/>
          </a:prstGeom>
          <a:solidFill>
            <a:srgbClr val="04FA0A">
              <a:alpha val="1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268" name="図 267" descr="LINE公式アカウントのロゴを活用しよう！注意点やNG例も合わせて解説 - LINEマーケティングツールFANVO">
            <a:extLst>
              <a:ext uri="{FF2B5EF4-FFF2-40B4-BE49-F238E27FC236}">
                <a16:creationId xmlns:a16="http://schemas.microsoft.com/office/drawing/2014/main" id="{4024ED2F-A038-044E-2128-7BF7E408248D}"/>
              </a:ext>
            </a:extLst>
          </p:cNvPr>
          <p:cNvPicPr>
            <a:picLocks noChangeAspect="1"/>
          </p:cNvPicPr>
          <p:nvPr/>
        </p:nvPicPr>
        <p:blipFill>
          <a:blip r:embed="rId3"/>
          <a:stretch>
            <a:fillRect/>
          </a:stretch>
        </p:blipFill>
        <p:spPr>
          <a:xfrm>
            <a:off x="4317231" y="1580689"/>
            <a:ext cx="419340" cy="418460"/>
          </a:xfrm>
          <a:prstGeom prst="rect">
            <a:avLst/>
          </a:prstGeom>
        </p:spPr>
      </p:pic>
      <p:sp>
        <p:nvSpPr>
          <p:cNvPr id="269" name="テキスト ボックス 268">
            <a:extLst>
              <a:ext uri="{FF2B5EF4-FFF2-40B4-BE49-F238E27FC236}">
                <a16:creationId xmlns:a16="http://schemas.microsoft.com/office/drawing/2014/main" id="{3EAD58A7-446F-1E3A-A612-6D6F889B81B1}"/>
              </a:ext>
            </a:extLst>
          </p:cNvPr>
          <p:cNvSpPr txBox="1"/>
          <p:nvPr/>
        </p:nvSpPr>
        <p:spPr>
          <a:xfrm>
            <a:off x="4646415" y="1744562"/>
            <a:ext cx="1195820" cy="430887"/>
          </a:xfrm>
          <a:prstGeom prst="rect">
            <a:avLst/>
          </a:prstGeom>
          <a:noFill/>
        </p:spPr>
        <p:txBody>
          <a:bodyPr wrap="square">
            <a:spAutoFit/>
          </a:bodyPr>
          <a:lstStyle/>
          <a:p>
            <a:r>
              <a:rPr lang="en-US" altLang="ja-JP" sz="1100" b="1" dirty="0">
                <a:latin typeface="Meiryo"/>
                <a:ea typeface="Meiryo"/>
                <a:cs typeface="Meiryo"/>
                <a:sym typeface="Meiryo"/>
              </a:rPr>
              <a:t>OA</a:t>
            </a:r>
            <a:r>
              <a:rPr lang="ja-JP" altLang="en-US" sz="1100" b="1" dirty="0">
                <a:latin typeface="Meiryo"/>
                <a:ea typeface="Meiryo"/>
                <a:cs typeface="Meiryo"/>
                <a:sym typeface="Meiryo"/>
              </a:rPr>
              <a:t>追加想定</a:t>
            </a:r>
            <a:endParaRPr lang="en-US" altLang="ja-JP" sz="1100" b="1" dirty="0">
              <a:latin typeface="Meiryo"/>
              <a:ea typeface="Meiryo"/>
              <a:cs typeface="Meiryo"/>
              <a:sym typeface="Meiryo"/>
            </a:endParaRPr>
          </a:p>
          <a:p>
            <a:r>
              <a:rPr lang="en-US" altLang="ja-JP" sz="1000" b="1" dirty="0">
                <a:solidFill>
                  <a:srgbClr val="00B050"/>
                </a:solidFill>
                <a:latin typeface="Meiryo"/>
                <a:ea typeface="Meiryo"/>
                <a:sym typeface="Meiryo"/>
              </a:rPr>
              <a:t>※</a:t>
            </a:r>
            <a:r>
              <a:rPr lang="ja-JP" altLang="en-US" sz="1000" b="1" dirty="0">
                <a:solidFill>
                  <a:srgbClr val="00B050"/>
                </a:solidFill>
                <a:latin typeface="Meiryo"/>
                <a:ea typeface="Meiryo"/>
                <a:sym typeface="Meiryo"/>
              </a:rPr>
              <a:t>検索</a:t>
            </a:r>
            <a:r>
              <a:rPr lang="en-US" altLang="ja-JP" sz="1000" b="1" dirty="0">
                <a:solidFill>
                  <a:srgbClr val="00B050"/>
                </a:solidFill>
                <a:latin typeface="Meiryo"/>
                <a:ea typeface="Meiryo"/>
                <a:sym typeface="Meiryo"/>
              </a:rPr>
              <a:t>0-1</a:t>
            </a:r>
            <a:r>
              <a:rPr lang="ja-JP" altLang="en-US" sz="1000" b="1" dirty="0">
                <a:solidFill>
                  <a:srgbClr val="00B050"/>
                </a:solidFill>
                <a:latin typeface="Meiryo"/>
                <a:ea typeface="Meiryo"/>
                <a:sym typeface="Meiryo"/>
              </a:rPr>
              <a:t>日後</a:t>
            </a:r>
            <a:endParaRPr lang="ja-JP" altLang="en-US" sz="1050" dirty="0">
              <a:solidFill>
                <a:srgbClr val="00B050"/>
              </a:solidFill>
            </a:endParaRPr>
          </a:p>
        </p:txBody>
      </p:sp>
      <p:sp>
        <p:nvSpPr>
          <p:cNvPr id="270" name="四角形: 角を丸くする 269">
            <a:extLst>
              <a:ext uri="{FF2B5EF4-FFF2-40B4-BE49-F238E27FC236}">
                <a16:creationId xmlns:a16="http://schemas.microsoft.com/office/drawing/2014/main" id="{77F6F52A-D5A9-4873-22B4-9CE879E47445}"/>
              </a:ext>
            </a:extLst>
          </p:cNvPr>
          <p:cNvSpPr/>
          <p:nvPr/>
        </p:nvSpPr>
        <p:spPr>
          <a:xfrm>
            <a:off x="7920174" y="1851176"/>
            <a:ext cx="1463040" cy="253916"/>
          </a:xfrm>
          <a:prstGeom prst="roundRect">
            <a:avLst/>
          </a:prstGeom>
          <a:solidFill>
            <a:srgbClr val="3467B2">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800" dirty="0">
                <a:solidFill>
                  <a:schemeClr val="tx1"/>
                </a:solidFill>
                <a:latin typeface="メイリオ" panose="020B0604030504040204" pitchFamily="50" charset="-128"/>
                <a:ea typeface="メイリオ" panose="020B0604030504040204" pitchFamily="50" charset="-128"/>
              </a:rPr>
              <a:t>働き方・会社を比べる</a:t>
            </a:r>
          </a:p>
        </p:txBody>
      </p:sp>
      <p:sp>
        <p:nvSpPr>
          <p:cNvPr id="271" name="四角形: 角を丸くする 270">
            <a:extLst>
              <a:ext uri="{FF2B5EF4-FFF2-40B4-BE49-F238E27FC236}">
                <a16:creationId xmlns:a16="http://schemas.microsoft.com/office/drawing/2014/main" id="{BDF2EB8F-D2D1-3527-8285-48540FD924E7}"/>
              </a:ext>
            </a:extLst>
          </p:cNvPr>
          <p:cNvSpPr/>
          <p:nvPr/>
        </p:nvSpPr>
        <p:spPr>
          <a:xfrm>
            <a:off x="7920174" y="2146211"/>
            <a:ext cx="1463040" cy="253916"/>
          </a:xfrm>
          <a:prstGeom prst="roundRect">
            <a:avLst/>
          </a:prstGeom>
          <a:solidFill>
            <a:srgbClr val="8E4EC6">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登録・応募の準備</a:t>
            </a:r>
          </a:p>
        </p:txBody>
      </p:sp>
      <p:sp>
        <p:nvSpPr>
          <p:cNvPr id="272" name="四角形: 角を丸くする 271">
            <a:extLst>
              <a:ext uri="{FF2B5EF4-FFF2-40B4-BE49-F238E27FC236}">
                <a16:creationId xmlns:a16="http://schemas.microsoft.com/office/drawing/2014/main" id="{8E99E04D-7CD5-C5BF-1D3C-9103098EBCA6}"/>
              </a:ext>
            </a:extLst>
          </p:cNvPr>
          <p:cNvSpPr/>
          <p:nvPr/>
        </p:nvSpPr>
        <p:spPr>
          <a:xfrm>
            <a:off x="7920174" y="2435334"/>
            <a:ext cx="1463040" cy="253916"/>
          </a:xfrm>
          <a:prstGeom prst="roundRect">
            <a:avLst/>
          </a:prstGeom>
          <a:solidFill>
            <a:srgbClr val="00897B">
              <a:alpha val="3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800" dirty="0">
                <a:solidFill>
                  <a:schemeClr val="tx1"/>
                </a:solidFill>
                <a:latin typeface="メイリオ" panose="020B0604030504040204" pitchFamily="50" charset="-128"/>
                <a:ea typeface="メイリオ" panose="020B0604030504040204" pitchFamily="50" charset="-128"/>
              </a:rPr>
              <a:t>お金・保険を調べる</a:t>
            </a:r>
          </a:p>
        </p:txBody>
      </p:sp>
      <p:pic>
        <p:nvPicPr>
          <p:cNvPr id="849" name="図 848" descr="LINEヤフー株式会社」発足 | LINEヤフー株式会社のプレスリリース">
            <a:extLst>
              <a:ext uri="{FF2B5EF4-FFF2-40B4-BE49-F238E27FC236}">
                <a16:creationId xmlns:a16="http://schemas.microsoft.com/office/drawing/2014/main" id="{60D7FCFC-3E1E-701A-1303-62D7A9D128FA}"/>
              </a:ext>
            </a:extLst>
          </p:cNvPr>
          <p:cNvPicPr>
            <a:picLocks noChangeAspect="1"/>
          </p:cNvPicPr>
          <p:nvPr/>
        </p:nvPicPr>
        <p:blipFill>
          <a:blip r:embed="rId4"/>
          <a:stretch>
            <a:fillRect/>
          </a:stretch>
        </p:blipFill>
        <p:spPr>
          <a:xfrm>
            <a:off x="46676" y="1461167"/>
            <a:ext cx="1005885" cy="288352"/>
          </a:xfrm>
          <a:prstGeom prst="rect">
            <a:avLst/>
          </a:prstGeom>
        </p:spPr>
      </p:pic>
      <p:sp>
        <p:nvSpPr>
          <p:cNvPr id="850" name="テキスト ボックス 849">
            <a:extLst>
              <a:ext uri="{FF2B5EF4-FFF2-40B4-BE49-F238E27FC236}">
                <a16:creationId xmlns:a16="http://schemas.microsoft.com/office/drawing/2014/main" id="{3A261F00-4A8B-21CB-F7B0-8CC632CF7CDD}"/>
              </a:ext>
            </a:extLst>
          </p:cNvPr>
          <p:cNvSpPr txBox="1"/>
          <p:nvPr/>
        </p:nvSpPr>
        <p:spPr>
          <a:xfrm>
            <a:off x="1009178" y="1497381"/>
            <a:ext cx="4962524" cy="253916"/>
          </a:xfrm>
          <a:prstGeom prst="rect">
            <a:avLst/>
          </a:prstGeom>
          <a:noFill/>
        </p:spPr>
        <p:txBody>
          <a:bodyPr wrap="square">
            <a:spAutoFit/>
          </a:bodyPr>
          <a:lstStyle/>
          <a:p>
            <a:r>
              <a:rPr kumimoji="1" lang="ja-JP" altLang="en-US" sz="1050" b="1" dirty="0">
                <a:solidFill>
                  <a:schemeClr val="tx1">
                    <a:lumMod val="65000"/>
                    <a:lumOff val="35000"/>
                  </a:schemeClr>
                </a:solidFill>
                <a:latin typeface="メイリオ" panose="020B0604030504040204" pitchFamily="50" charset="-128"/>
                <a:ea typeface="メイリオ" panose="020B0604030504040204" pitchFamily="50" charset="-128"/>
              </a:rPr>
              <a:t>上位代理店限定での公開データ</a:t>
            </a:r>
          </a:p>
        </p:txBody>
      </p:sp>
      <p:sp>
        <p:nvSpPr>
          <p:cNvPr id="851" name="テキスト ボックス 850">
            <a:extLst>
              <a:ext uri="{FF2B5EF4-FFF2-40B4-BE49-F238E27FC236}">
                <a16:creationId xmlns:a16="http://schemas.microsoft.com/office/drawing/2014/main" id="{3BD55E69-4725-07C2-26E9-B6484FEEF81E}"/>
              </a:ext>
            </a:extLst>
          </p:cNvPr>
          <p:cNvSpPr txBox="1"/>
          <p:nvPr/>
        </p:nvSpPr>
        <p:spPr>
          <a:xfrm>
            <a:off x="5870448" y="254203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の検索前後データ</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852" name="正方形/長方形 851">
            <a:extLst>
              <a:ext uri="{FF2B5EF4-FFF2-40B4-BE49-F238E27FC236}">
                <a16:creationId xmlns:a16="http://schemas.microsoft.com/office/drawing/2014/main" id="{461533CA-41F7-8934-E587-4E31271808B7}"/>
              </a:ext>
            </a:extLst>
          </p:cNvPr>
          <p:cNvSpPr/>
          <p:nvPr/>
        </p:nvSpPr>
        <p:spPr>
          <a:xfrm>
            <a:off x="5623560" y="224028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派遣 登録</a:t>
            </a:r>
          </a:p>
        </p:txBody>
      </p:sp>
      <p:sp>
        <p:nvSpPr>
          <p:cNvPr id="3" name="矢印: 下 2">
            <a:extLst>
              <a:ext uri="{FF2B5EF4-FFF2-40B4-BE49-F238E27FC236}">
                <a16:creationId xmlns:a16="http://schemas.microsoft.com/office/drawing/2014/main" id="{4F31925E-982C-C749-2736-F69C9019276B}"/>
              </a:ext>
            </a:extLst>
          </p:cNvPr>
          <p:cNvSpPr/>
          <p:nvPr/>
        </p:nvSpPr>
        <p:spPr>
          <a:xfrm rot="16200000">
            <a:off x="7818572" y="4034181"/>
            <a:ext cx="792480" cy="586887"/>
          </a:xfrm>
          <a:prstGeom prst="downArrow">
            <a:avLst/>
          </a:prstGeom>
          <a:gradFill>
            <a:gsLst>
              <a:gs pos="4000">
                <a:schemeClr val="bg1">
                  <a:alpha val="70000"/>
                </a:schemeClr>
              </a:gs>
              <a:gs pos="100000">
                <a:schemeClr val="accent1">
                  <a:lumMod val="60000"/>
                  <a:lumOff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D67EC0E9-2D4D-AC08-2177-AA06F517920B}"/>
              </a:ext>
            </a:extLst>
          </p:cNvPr>
          <p:cNvSpPr txBox="1"/>
          <p:nvPr/>
        </p:nvSpPr>
        <p:spPr>
          <a:xfrm>
            <a:off x="8439270" y="4065718"/>
            <a:ext cx="1461731" cy="523220"/>
          </a:xfrm>
          <a:prstGeom prst="rect">
            <a:avLst/>
          </a:prstGeom>
          <a:noFill/>
        </p:spPr>
        <p:txBody>
          <a:bodyPr wrap="square">
            <a:spAutoFit/>
          </a:bodyPr>
          <a:lstStyle/>
          <a:p>
            <a:r>
              <a:rPr lang="ja-JP" altLang="en-US" sz="800" b="1" dirty="0">
                <a:latin typeface="メイリオ" panose="020B0604030504040204" pitchFamily="50" charset="-128"/>
                <a:ea typeface="メイリオ" panose="020B0604030504040204" pitchFamily="50" charset="-128"/>
              </a:rPr>
              <a:t>長期検討</a:t>
            </a:r>
            <a:r>
              <a:rPr lang="ja-JP" altLang="en-US" sz="800" dirty="0">
                <a:latin typeface="メイリオ" panose="020B0604030504040204" pitchFamily="50" charset="-128"/>
                <a:ea typeface="メイリオ" panose="020B0604030504040204" pitchFamily="50" charset="-128"/>
              </a:rPr>
              <a:t>へ</a:t>
            </a:r>
            <a:endParaRPr lang="en-US" altLang="ja-JP" sz="800" dirty="0">
              <a:latin typeface="メイリオ" panose="020B0604030504040204" pitchFamily="50" charset="-128"/>
              <a:ea typeface="メイリオ" panose="020B0604030504040204" pitchFamily="50" charset="-128"/>
            </a:endParaRPr>
          </a:p>
          <a:p>
            <a:endParaRPr lang="en-US" altLang="ja-JP" sz="400">
              <a:latin typeface="メイリオ" panose="020B0604030504040204" pitchFamily="50" charset="-128"/>
              <a:ea typeface="メイリオ" panose="020B0604030504040204" pitchFamily="50" charset="-128"/>
            </a:endParaRPr>
          </a:p>
          <a:p>
            <a:r>
              <a:rPr lang="ja-JP" altLang="en-US" sz="800">
                <a:solidFill>
                  <a:schemeClr val="tx1">
                    <a:lumMod val="65000"/>
                    <a:lumOff val="35000"/>
                  </a:schemeClr>
                </a:solidFill>
                <a:latin typeface="メイリオ" panose="020B0604030504040204" pitchFamily="50" charset="-128"/>
                <a:ea typeface="メイリオ" panose="020B0604030504040204" pitchFamily="50" charset="-128"/>
              </a:rPr>
              <a:t>（休眠顧客開拓）</a:t>
            </a:r>
            <a:endParaRPr lang="en-US" altLang="ja-JP" sz="800">
              <a:solidFill>
                <a:schemeClr val="tx1">
                  <a:lumMod val="65000"/>
                  <a:lumOff val="35000"/>
                </a:schemeClr>
              </a:solidFill>
              <a:latin typeface="メイリオ" panose="020B0604030504040204" pitchFamily="50" charset="-128"/>
              <a:ea typeface="メイリオ" panose="020B0604030504040204" pitchFamily="50" charset="-128"/>
            </a:endParaRPr>
          </a:p>
          <a:p>
            <a:r>
              <a:rPr kumimoji="1" lang="ja-JP" altLang="en-US" sz="800">
                <a:solidFill>
                  <a:schemeClr val="tx1">
                    <a:lumMod val="65000"/>
                    <a:lumOff val="35000"/>
                  </a:schemeClr>
                </a:solidFill>
                <a:latin typeface="メイリオ" panose="020B0604030504040204" pitchFamily="50" charset="-128"/>
                <a:ea typeface="メイリオ" panose="020B0604030504040204" pitchFamily="50" charset="-128"/>
              </a:rPr>
              <a:t>（検討時期の長期化）</a:t>
            </a:r>
            <a:endParaRPr kumimoji="1" lang="ja-JP" altLang="en-US" sz="8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2" name="四角形: 角を丸くする 11">
            <a:extLst>
              <a:ext uri="{FF2B5EF4-FFF2-40B4-BE49-F238E27FC236}">
                <a16:creationId xmlns:a16="http://schemas.microsoft.com/office/drawing/2014/main" id="{8C4735AA-05E6-2765-3241-F1C0FD49D261}"/>
              </a:ext>
            </a:extLst>
          </p:cNvPr>
          <p:cNvSpPr/>
          <p:nvPr/>
        </p:nvSpPr>
        <p:spPr>
          <a:xfrm>
            <a:off x="8469785" y="4170045"/>
            <a:ext cx="980015" cy="63312"/>
          </a:xfrm>
          <a:prstGeom prst="round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816EC0D3-8B92-C366-931F-8E0D0054419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施策の考え方（短期：ステップ配信）</a:t>
            </a:r>
          </a:p>
        </p:txBody>
      </p:sp>
      <p:sp>
        <p:nvSpPr>
          <p:cNvPr id="8" name="正方形/長方形 7">
            <a:extLst>
              <a:ext uri="{FF2B5EF4-FFF2-40B4-BE49-F238E27FC236}">
                <a16:creationId xmlns:a16="http://schemas.microsoft.com/office/drawing/2014/main" id="{315B3646-9E2E-6F40-2994-87803CA084A9}"/>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ステップ配信</a:t>
            </a:r>
          </a:p>
        </p:txBody>
      </p:sp>
      <p:sp>
        <p:nvSpPr>
          <p:cNvPr id="10" name="Google Shape;752;p28">
            <a:extLst>
              <a:ext uri="{FF2B5EF4-FFF2-40B4-BE49-F238E27FC236}">
                <a16:creationId xmlns:a16="http://schemas.microsoft.com/office/drawing/2014/main" id="{6C3BE050-25AB-CAF4-DDEA-32FB95EA3D92}"/>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検討が始まったタイミング（業界キーワードの検索）から段階ごとに</a:t>
            </a:r>
          </a:p>
          <a:p>
            <a:r>
              <a:rPr lang="ja-JP" altLang="en-US" sz="1600" b="1" dirty="0">
                <a:latin typeface="メイリオ" panose="020B0604030504040204" pitchFamily="50" charset="-128"/>
                <a:ea typeface="メイリオ" panose="020B0604030504040204" pitchFamily="50" charset="-128"/>
                <a:cs typeface="Meiryo"/>
                <a:sym typeface="Meiryo"/>
              </a:rPr>
              <a:t>不安を解消し、信頼を積み上げて15日以内に、CVへつなげる配信を構築。</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242" name="四角形: 角を丸くする 241">
            <a:extLst>
              <a:ext uri="{FF2B5EF4-FFF2-40B4-BE49-F238E27FC236}">
                <a16:creationId xmlns:a16="http://schemas.microsoft.com/office/drawing/2014/main" id="{812533A9-C7B7-5409-741D-9F06F60FC4F0}"/>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915" name="TextBox 27">
            <a:extLst>
              <a:ext uri="{FF2B5EF4-FFF2-40B4-BE49-F238E27FC236}">
                <a16:creationId xmlns:a16="http://schemas.microsoft.com/office/drawing/2014/main" id="{5BFBF573-5D82-D526-FDE7-07974DC4CAE4}"/>
              </a:ext>
            </a:extLst>
          </p:cNvPr>
          <p:cNvSpPr txBox="1"/>
          <p:nvPr/>
        </p:nvSpPr>
        <p:spPr>
          <a:xfrm>
            <a:off x="266700" y="5459687"/>
            <a:ext cx="9372600" cy="508216"/>
          </a:xfrm>
          <a:prstGeom prst="rect">
            <a:avLst/>
          </a:prstGeom>
          <a:noFill/>
        </p:spPr>
        <p:txBody>
          <a:bodyPr wrap="square">
            <a:spAutoFit/>
          </a:bodyPr>
          <a:lstStyle/>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検索当日の働き方の比較（Day1〜2）→ お金・保険の不安の解消（Day3〜4）→ 会社選び（Day6〜7）</a:t>
            </a:r>
            <a:endParaRPr kumimoji="0" lang="en-US" sz="1150" kern="0" dirty="0">
              <a:solidFill>
                <a:srgbClr val="5A6378"/>
              </a:solidFill>
              <a:latin typeface="メイリオ" panose="020B0604030504040204" pitchFamily="50" charset="-128"/>
              <a:ea typeface="メイリオ" panose="020B0604030504040204" pitchFamily="50" charset="-128"/>
              <a:cs typeface="Arial"/>
              <a:sym typeface="Arial"/>
            </a:endParaRPr>
          </a:p>
          <a:p>
            <a:pPr>
              <a:lnSpc>
                <a:spcPct val="120000"/>
              </a:lnSpc>
              <a:buClr>
                <a:srgbClr val="000000"/>
              </a:buClr>
              <a:buFont typeface="Arial"/>
              <a:buNone/>
            </a:pP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 </a:t>
            </a:r>
            <a:r>
              <a:rPr kumimoji="0" sz="1150" kern="0" dirty="0" err="1">
                <a:solidFill>
                  <a:srgbClr val="5A6378"/>
                </a:solidFill>
                <a:latin typeface="メイリオ" panose="020B0604030504040204" pitchFamily="50" charset="-128"/>
                <a:ea typeface="メイリオ" panose="020B0604030504040204" pitchFamily="50" charset="-128"/>
                <a:cs typeface="Arial"/>
                <a:sym typeface="Arial"/>
              </a:rPr>
              <a:t>ENTRYの案内</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（Day10〜15）と、</a:t>
            </a:r>
            <a:r>
              <a:rPr kumimoji="0" sz="1150" b="1" kern="0" dirty="0">
                <a:solidFill>
                  <a:srgbClr val="FF0000"/>
                </a:solidFill>
                <a:latin typeface="メイリオ" panose="020B0604030504040204" pitchFamily="50" charset="-128"/>
                <a:ea typeface="メイリオ" panose="020B0604030504040204" pitchFamily="50" charset="-128"/>
                <a:cs typeface="Arial"/>
                <a:sym typeface="Arial"/>
              </a:rPr>
              <a:t>段階的に信頼を積み上げながらENTRYへつなげる</a:t>
            </a:r>
            <a:r>
              <a:rPr kumimoji="0" sz="1150" kern="0" dirty="0">
                <a:solidFill>
                  <a:srgbClr val="5A6378"/>
                </a:solidFill>
                <a:latin typeface="メイリオ" panose="020B0604030504040204" pitchFamily="50" charset="-128"/>
                <a:ea typeface="メイリオ" panose="020B0604030504040204" pitchFamily="50" charset="-128"/>
                <a:cs typeface="Arial"/>
                <a:sym typeface="Arial"/>
              </a:rPr>
              <a:t>設計。</a:t>
            </a:r>
          </a:p>
        </p:txBody>
      </p:sp>
      <p:sp>
        <p:nvSpPr>
          <p:cNvPr id="181" name="Shape 13">
            <a:extLst>
              <a:ext uri="{FF2B5EF4-FFF2-40B4-BE49-F238E27FC236}">
                <a16:creationId xmlns:a16="http://schemas.microsoft.com/office/drawing/2014/main" id="{613DD4CE-3458-6634-E8E7-A78BCB6B80C7}"/>
              </a:ext>
            </a:extLst>
          </p:cNvPr>
          <p:cNvSpPr/>
          <p:nvPr/>
        </p:nvSpPr>
        <p:spPr>
          <a:xfrm>
            <a:off x="548883"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183" name="Shape 14">
            <a:extLst>
              <a:ext uri="{FF2B5EF4-FFF2-40B4-BE49-F238E27FC236}">
                <a16:creationId xmlns:a16="http://schemas.microsoft.com/office/drawing/2014/main" id="{F241DEE0-466F-BF0F-A5D7-0B83ECC33CF4}"/>
              </a:ext>
            </a:extLst>
          </p:cNvPr>
          <p:cNvSpPr/>
          <p:nvPr/>
        </p:nvSpPr>
        <p:spPr>
          <a:xfrm>
            <a:off x="548883" y="1835845"/>
            <a:ext cx="1719072" cy="585216"/>
          </a:xfrm>
          <a:prstGeom prst="roundRect">
            <a:avLst>
              <a:gd name="adj" fmla="val 9375"/>
            </a:avLst>
          </a:prstGeom>
          <a:solidFill>
            <a:srgbClr val="1F2B5C"/>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185" name="Text 15">
            <a:extLst>
              <a:ext uri="{FF2B5EF4-FFF2-40B4-BE49-F238E27FC236}">
                <a16:creationId xmlns:a16="http://schemas.microsoft.com/office/drawing/2014/main" id="{C3796E8D-94B9-ADB9-C46C-B3B1E855AC20}"/>
              </a:ext>
            </a:extLst>
          </p:cNvPr>
          <p:cNvSpPr/>
          <p:nvPr/>
        </p:nvSpPr>
        <p:spPr>
          <a:xfrm>
            <a:off x="640323"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Day0</a:t>
            </a:r>
            <a:endParaRPr lang="en-US" sz="1500" dirty="0">
              <a:latin typeface="メイリオ" panose="020B0604030504040204" pitchFamily="50" charset="-128"/>
              <a:ea typeface="メイリオ" panose="020B0604030504040204" pitchFamily="50" charset="-128"/>
            </a:endParaRPr>
          </a:p>
        </p:txBody>
      </p:sp>
      <p:sp>
        <p:nvSpPr>
          <p:cNvPr id="187" name="Text 16">
            <a:extLst>
              <a:ext uri="{FF2B5EF4-FFF2-40B4-BE49-F238E27FC236}">
                <a16:creationId xmlns:a16="http://schemas.microsoft.com/office/drawing/2014/main" id="{40B1EBE9-513F-1DA2-57B8-10DEB735AFF1}"/>
              </a:ext>
            </a:extLst>
          </p:cNvPr>
          <p:cNvSpPr/>
          <p:nvPr/>
        </p:nvSpPr>
        <p:spPr>
          <a:xfrm>
            <a:off x="640323"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追加直後：診断</a:t>
            </a:r>
            <a:endParaRPr lang="en-US" sz="900" dirty="0">
              <a:latin typeface="メイリオ" panose="020B0604030504040204" pitchFamily="50" charset="-128"/>
              <a:ea typeface="メイリオ" panose="020B0604030504040204" pitchFamily="50" charset="-128"/>
            </a:endParaRPr>
          </a:p>
        </p:txBody>
      </p:sp>
      <p:sp>
        <p:nvSpPr>
          <p:cNvPr id="189" name="Text 17">
            <a:extLst>
              <a:ext uri="{FF2B5EF4-FFF2-40B4-BE49-F238E27FC236}">
                <a16:creationId xmlns:a16="http://schemas.microsoft.com/office/drawing/2014/main" id="{A58EB949-612E-4D86-A2F6-7E6DFE1C9A09}"/>
              </a:ext>
            </a:extLst>
          </p:cNvPr>
          <p:cNvSpPr/>
          <p:nvPr/>
        </p:nvSpPr>
        <p:spPr>
          <a:xfrm>
            <a:off x="658611"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ご登録ありがとう</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F2B5C"/>
                </a:solidFill>
                <a:latin typeface="メイリオ" panose="020B0604030504040204" pitchFamily="50" charset="-128"/>
                <a:ea typeface="メイリオ" panose="020B0604030504040204" pitchFamily="50" charset="-128"/>
                <a:cs typeface="Calibri" pitchFamily="34" charset="-120"/>
              </a:rPr>
              <a:t>ございます！</a:t>
            </a:r>
            <a:endParaRPr lang="en-US" sz="1200" dirty="0">
              <a:latin typeface="メイリオ" panose="020B0604030504040204" pitchFamily="50" charset="-128"/>
              <a:ea typeface="メイリオ" panose="020B0604030504040204" pitchFamily="50" charset="-128"/>
            </a:endParaRPr>
          </a:p>
        </p:txBody>
      </p:sp>
      <p:sp>
        <p:nvSpPr>
          <p:cNvPr id="191" name="Text 18">
            <a:extLst>
              <a:ext uri="{FF2B5EF4-FFF2-40B4-BE49-F238E27FC236}">
                <a16:creationId xmlns:a16="http://schemas.microsoft.com/office/drawing/2014/main" id="{7676C898-C17D-7E2E-B6BF-9ECC1859A649}"/>
              </a:ext>
            </a:extLst>
          </p:cNvPr>
          <p:cNvSpPr/>
          <p:nvPr/>
        </p:nvSpPr>
        <p:spPr>
          <a:xfrm>
            <a:off x="658611"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3問タップで</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エントリー状況・</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開始時期・エリアを分岐</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・タグ付け</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（今のアンケートを活かす）</a:t>
            </a:r>
            <a:endParaRPr lang="en-US" sz="700" dirty="0">
              <a:latin typeface="メイリオ" panose="020B0604030504040204" pitchFamily="50" charset="-128"/>
              <a:ea typeface="メイリオ" panose="020B0604030504040204" pitchFamily="50" charset="-128"/>
            </a:endParaRPr>
          </a:p>
        </p:txBody>
      </p:sp>
      <p:sp>
        <p:nvSpPr>
          <p:cNvPr id="193" name="Shape 19">
            <a:extLst>
              <a:ext uri="{FF2B5EF4-FFF2-40B4-BE49-F238E27FC236}">
                <a16:creationId xmlns:a16="http://schemas.microsoft.com/office/drawing/2014/main" id="{3F13F0D2-3523-AEE0-91B0-8E81E05DDA0A}"/>
              </a:ext>
            </a:extLst>
          </p:cNvPr>
          <p:cNvSpPr/>
          <p:nvPr/>
        </p:nvSpPr>
        <p:spPr>
          <a:xfrm>
            <a:off x="640323"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95" name="Text 20">
            <a:extLst>
              <a:ext uri="{FF2B5EF4-FFF2-40B4-BE49-F238E27FC236}">
                <a16:creationId xmlns:a16="http://schemas.microsoft.com/office/drawing/2014/main" id="{2441CFFD-892A-3183-D026-E486644DEE53}"/>
              </a:ext>
            </a:extLst>
          </p:cNvPr>
          <p:cNvSpPr/>
          <p:nvPr/>
        </p:nvSpPr>
        <p:spPr>
          <a:xfrm>
            <a:off x="713475"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197" name="Text 21">
            <a:extLst>
              <a:ext uri="{FF2B5EF4-FFF2-40B4-BE49-F238E27FC236}">
                <a16:creationId xmlns:a16="http://schemas.microsoft.com/office/drawing/2014/main" id="{02E571B0-469E-27C6-416F-54EE99A83950}"/>
              </a:ext>
            </a:extLst>
          </p:cNvPr>
          <p:cNvSpPr/>
          <p:nvPr/>
        </p:nvSpPr>
        <p:spPr>
          <a:xfrm>
            <a:off x="713475"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a:t>
            </a:r>
            <a:endParaRPr lang="en-US" sz="600" dirty="0">
              <a:latin typeface="メイリオ" panose="020B0604030504040204" pitchFamily="50" charset="-128"/>
              <a:ea typeface="メイリオ" panose="020B0604030504040204" pitchFamily="50" charset="-128"/>
            </a:endParaRPr>
          </a:p>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（追加直後は検索データなし。アンケートの回答で配信を出し分け）</a:t>
            </a:r>
            <a:endParaRPr lang="en-US" sz="600" dirty="0">
              <a:latin typeface="メイリオ" panose="020B0604030504040204" pitchFamily="50" charset="-128"/>
              <a:ea typeface="メイリオ" panose="020B0604030504040204" pitchFamily="50" charset="-128"/>
            </a:endParaRPr>
          </a:p>
        </p:txBody>
      </p:sp>
      <p:sp>
        <p:nvSpPr>
          <p:cNvPr id="199" name="Shape 22">
            <a:extLst>
              <a:ext uri="{FF2B5EF4-FFF2-40B4-BE49-F238E27FC236}">
                <a16:creationId xmlns:a16="http://schemas.microsoft.com/office/drawing/2014/main" id="{A9B7453E-695C-212F-38BF-388DF6783D18}"/>
              </a:ext>
            </a:extLst>
          </p:cNvPr>
          <p:cNvSpPr/>
          <p:nvPr/>
        </p:nvSpPr>
        <p:spPr>
          <a:xfrm>
            <a:off x="640323" y="4765410"/>
            <a:ext cx="1536192" cy="310896"/>
          </a:xfrm>
          <a:prstGeom prst="roundRect">
            <a:avLst>
              <a:gd name="adj" fmla="val 35294"/>
            </a:avLst>
          </a:prstGeom>
          <a:solidFill>
            <a:srgbClr val="FFFFFF"/>
          </a:solidFill>
          <a:ln w="12700">
            <a:solidFill>
              <a:srgbClr val="1F2B5C"/>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1" name="Text 23">
            <a:extLst>
              <a:ext uri="{FF2B5EF4-FFF2-40B4-BE49-F238E27FC236}">
                <a16:creationId xmlns:a16="http://schemas.microsoft.com/office/drawing/2014/main" id="{8953102A-09F1-A735-DE78-9D1620CCFC78}"/>
              </a:ext>
            </a:extLst>
          </p:cNvPr>
          <p:cNvSpPr/>
          <p:nvPr/>
        </p:nvSpPr>
        <p:spPr>
          <a:xfrm>
            <a:off x="640323" y="4765410"/>
            <a:ext cx="1536192" cy="310896"/>
          </a:xfrm>
          <a:prstGeom prst="rect">
            <a:avLst/>
          </a:prstGeom>
          <a:noFill/>
          <a:ln/>
        </p:spPr>
        <p:txBody>
          <a:bodyPr wrap="square" lIns="0" tIns="0" rIns="0" bIns="0" rtlCol="0" anchor="ctr"/>
          <a:lstStyle/>
          <a:p>
            <a:pPr marL="0" indent="0" algn="ctr">
              <a:buNone/>
            </a:pPr>
            <a:r>
              <a:rPr lang="en-US" sz="950" b="1" dirty="0">
                <a:latin typeface="メイリオ" panose="020B0604030504040204" pitchFamily="50" charset="-128"/>
                <a:ea typeface="メイリオ" panose="020B0604030504040204" pitchFamily="50" charset="-128"/>
                <a:cs typeface="Calibri" pitchFamily="34" charset="-120"/>
              </a:rPr>
              <a:t>おすすめ求人</a:t>
            </a:r>
            <a:endParaRPr lang="en-US" sz="950" dirty="0">
              <a:latin typeface="メイリオ" panose="020B0604030504040204" pitchFamily="50" charset="-128"/>
              <a:ea typeface="メイリオ" panose="020B0604030504040204" pitchFamily="50" charset="-128"/>
            </a:endParaRPr>
          </a:p>
        </p:txBody>
      </p:sp>
      <p:sp>
        <p:nvSpPr>
          <p:cNvPr id="203" name="Shape 24">
            <a:extLst>
              <a:ext uri="{FF2B5EF4-FFF2-40B4-BE49-F238E27FC236}">
                <a16:creationId xmlns:a16="http://schemas.microsoft.com/office/drawing/2014/main" id="{C88FA24B-5601-EF2D-1F8E-3C4F217194A0}"/>
              </a:ext>
            </a:extLst>
          </p:cNvPr>
          <p:cNvSpPr/>
          <p:nvPr/>
        </p:nvSpPr>
        <p:spPr>
          <a:xfrm>
            <a:off x="2341107"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05" name="Shape 25">
            <a:extLst>
              <a:ext uri="{FF2B5EF4-FFF2-40B4-BE49-F238E27FC236}">
                <a16:creationId xmlns:a16="http://schemas.microsoft.com/office/drawing/2014/main" id="{B6268B67-5D90-26D0-5BCD-52C7F292C8B0}"/>
              </a:ext>
            </a:extLst>
          </p:cNvPr>
          <p:cNvSpPr/>
          <p:nvPr/>
        </p:nvSpPr>
        <p:spPr>
          <a:xfrm>
            <a:off x="2341107" y="1835845"/>
            <a:ext cx="1719072" cy="585216"/>
          </a:xfrm>
          <a:prstGeom prst="roundRect">
            <a:avLst>
              <a:gd name="adj" fmla="val 9375"/>
            </a:avLst>
          </a:prstGeom>
          <a:solidFill>
            <a:srgbClr val="1565C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07" name="Text 26">
            <a:extLst>
              <a:ext uri="{FF2B5EF4-FFF2-40B4-BE49-F238E27FC236}">
                <a16:creationId xmlns:a16="http://schemas.microsoft.com/office/drawing/2014/main" id="{89D42342-00AC-8FE9-32F8-067BB3EBE2A4}"/>
              </a:ext>
            </a:extLst>
          </p:cNvPr>
          <p:cNvSpPr/>
          <p:nvPr/>
        </p:nvSpPr>
        <p:spPr>
          <a:xfrm>
            <a:off x="2432547"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Day1〜2</a:t>
            </a:r>
            <a:endParaRPr lang="en-US" sz="1500" dirty="0">
              <a:latin typeface="メイリオ" panose="020B0604030504040204" pitchFamily="50" charset="-128"/>
              <a:ea typeface="メイリオ" panose="020B0604030504040204" pitchFamily="50" charset="-128"/>
            </a:endParaRPr>
          </a:p>
        </p:txBody>
      </p:sp>
      <p:sp>
        <p:nvSpPr>
          <p:cNvPr id="209" name="Text 27">
            <a:extLst>
              <a:ext uri="{FF2B5EF4-FFF2-40B4-BE49-F238E27FC236}">
                <a16:creationId xmlns:a16="http://schemas.microsoft.com/office/drawing/2014/main" id="{DDDA5299-26E4-761F-DC5F-D6ED5EDD3F65}"/>
              </a:ext>
            </a:extLst>
          </p:cNvPr>
          <p:cNvSpPr/>
          <p:nvPr/>
        </p:nvSpPr>
        <p:spPr>
          <a:xfrm>
            <a:off x="2432547"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働き方の比較</a:t>
            </a:r>
            <a:endParaRPr lang="en-US" sz="900" dirty="0">
              <a:latin typeface="メイリオ" panose="020B0604030504040204" pitchFamily="50" charset="-128"/>
              <a:ea typeface="メイリオ" panose="020B0604030504040204" pitchFamily="50" charset="-128"/>
            </a:endParaRPr>
          </a:p>
        </p:txBody>
      </p:sp>
      <p:sp>
        <p:nvSpPr>
          <p:cNvPr id="211" name="Text 28">
            <a:extLst>
              <a:ext uri="{FF2B5EF4-FFF2-40B4-BE49-F238E27FC236}">
                <a16:creationId xmlns:a16="http://schemas.microsoft.com/office/drawing/2014/main" id="{289FA38A-B858-EAC9-F39D-14780D290081}"/>
              </a:ext>
            </a:extLst>
          </p:cNvPr>
          <p:cNvSpPr/>
          <p:nvPr/>
        </p:nvSpPr>
        <p:spPr>
          <a:xfrm>
            <a:off x="2450835" y="2494213"/>
            <a:ext cx="1499616" cy="530352"/>
          </a:xfrm>
          <a:prstGeom prst="rect">
            <a:avLst/>
          </a:prstGeom>
          <a:noFill/>
          <a:ln/>
        </p:spPr>
        <p:txBody>
          <a:bodyPr wrap="square" lIns="0" tIns="0" rIns="0" bIns="0" rtlCol="0" anchor="ctr"/>
          <a:lstStyle/>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リゾートバイトの</a:t>
            </a:r>
            <a:endParaRPr lang="en-US" sz="1200" dirty="0">
              <a:latin typeface="メイリオ" panose="020B0604030504040204" pitchFamily="50" charset="-128"/>
              <a:ea typeface="メイリオ" panose="020B0604030504040204" pitchFamily="50" charset="-128"/>
            </a:endParaRPr>
          </a:p>
          <a:p>
            <a:pPr marL="0" indent="0">
              <a:lnSpc>
                <a:spcPct val="130000"/>
              </a:lnSpc>
              <a:buNone/>
            </a:pPr>
            <a:r>
              <a:rPr lang="en-US" sz="1200" b="1" dirty="0" err="1">
                <a:solidFill>
                  <a:srgbClr val="1565C0"/>
                </a:solidFill>
                <a:latin typeface="メイリオ" panose="020B0604030504040204" pitchFamily="50" charset="-128"/>
                <a:ea typeface="メイリオ" panose="020B0604030504040204" pitchFamily="50" charset="-128"/>
                <a:cs typeface="Calibri" pitchFamily="34" charset="-120"/>
              </a:rPr>
              <a:t>働き方がわかる</a:t>
            </a:r>
            <a:endParaRPr lang="en-US" sz="1200" dirty="0">
              <a:latin typeface="メイリオ" panose="020B0604030504040204" pitchFamily="50" charset="-128"/>
              <a:ea typeface="メイリオ" panose="020B0604030504040204" pitchFamily="50" charset="-128"/>
            </a:endParaRPr>
          </a:p>
        </p:txBody>
      </p:sp>
      <p:sp>
        <p:nvSpPr>
          <p:cNvPr id="213" name="Text 29">
            <a:extLst>
              <a:ext uri="{FF2B5EF4-FFF2-40B4-BE49-F238E27FC236}">
                <a16:creationId xmlns:a16="http://schemas.microsoft.com/office/drawing/2014/main" id="{150DA1ED-B1CD-1150-347A-518E97A2A6AD}"/>
              </a:ext>
            </a:extLst>
          </p:cNvPr>
          <p:cNvSpPr/>
          <p:nvPr/>
        </p:nvSpPr>
        <p:spPr>
          <a:xfrm>
            <a:off x="2450835"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住み込みで働く流れと、</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食費無料・Wi-Fi完備など</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寮・生活の条件を紹介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派遣・単発と比べて</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選ばれる理由を伝える</a:t>
            </a:r>
            <a:endParaRPr lang="en-US" sz="700" dirty="0">
              <a:latin typeface="メイリオ" panose="020B0604030504040204" pitchFamily="50" charset="-128"/>
              <a:ea typeface="メイリオ" panose="020B0604030504040204" pitchFamily="50" charset="-128"/>
            </a:endParaRPr>
          </a:p>
        </p:txBody>
      </p:sp>
      <p:sp>
        <p:nvSpPr>
          <p:cNvPr id="215" name="Shape 30">
            <a:extLst>
              <a:ext uri="{FF2B5EF4-FFF2-40B4-BE49-F238E27FC236}">
                <a16:creationId xmlns:a16="http://schemas.microsoft.com/office/drawing/2014/main" id="{76E377BC-43E4-750C-D8A2-6481DE03C768}"/>
              </a:ext>
            </a:extLst>
          </p:cNvPr>
          <p:cNvSpPr/>
          <p:nvPr/>
        </p:nvSpPr>
        <p:spPr>
          <a:xfrm>
            <a:off x="2432547"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17" name="Text 31">
            <a:extLst>
              <a:ext uri="{FF2B5EF4-FFF2-40B4-BE49-F238E27FC236}">
                <a16:creationId xmlns:a16="http://schemas.microsoft.com/office/drawing/2014/main" id="{FF84F76B-5C74-7B62-2528-5D8C6B827AAE}"/>
              </a:ext>
            </a:extLst>
          </p:cNvPr>
          <p:cNvSpPr/>
          <p:nvPr/>
        </p:nvSpPr>
        <p:spPr>
          <a:xfrm>
            <a:off x="2505699"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19" name="Text 32">
            <a:extLst>
              <a:ext uri="{FF2B5EF4-FFF2-40B4-BE49-F238E27FC236}">
                <a16:creationId xmlns:a16="http://schemas.microsoft.com/office/drawing/2014/main" id="{BF0CE63B-9D9B-B598-BC2E-ED84243D6BD2}"/>
              </a:ext>
            </a:extLst>
          </p:cNvPr>
          <p:cNvSpPr/>
          <p:nvPr/>
        </p:nvSpPr>
        <p:spPr>
          <a:xfrm>
            <a:off x="2505699"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検索の直前・当日に「派遣会社」「単発バイト」「リゾートバイト」などを検索。働き方を比べている</a:t>
            </a:r>
            <a:endParaRPr lang="en-US" sz="600" dirty="0">
              <a:latin typeface="メイリオ" panose="020B0604030504040204" pitchFamily="50" charset="-128"/>
              <a:ea typeface="メイリオ" panose="020B0604030504040204" pitchFamily="50" charset="-128"/>
            </a:endParaRPr>
          </a:p>
        </p:txBody>
      </p:sp>
      <p:sp>
        <p:nvSpPr>
          <p:cNvPr id="221" name="Shape 33">
            <a:extLst>
              <a:ext uri="{FF2B5EF4-FFF2-40B4-BE49-F238E27FC236}">
                <a16:creationId xmlns:a16="http://schemas.microsoft.com/office/drawing/2014/main" id="{3B3F2D53-D4B6-4F72-F11A-BF340CD1F372}"/>
              </a:ext>
            </a:extLst>
          </p:cNvPr>
          <p:cNvSpPr/>
          <p:nvPr/>
        </p:nvSpPr>
        <p:spPr>
          <a:xfrm>
            <a:off x="2432547" y="4765410"/>
            <a:ext cx="1536192" cy="310896"/>
          </a:xfrm>
          <a:prstGeom prst="roundRect">
            <a:avLst>
              <a:gd name="adj" fmla="val 35294"/>
            </a:avLst>
          </a:prstGeom>
          <a:solidFill>
            <a:srgbClr val="FFFFFF"/>
          </a:solidFill>
          <a:ln w="12700">
            <a:solidFill>
              <a:srgbClr val="1565C0"/>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3" name="Text 34">
            <a:extLst>
              <a:ext uri="{FF2B5EF4-FFF2-40B4-BE49-F238E27FC236}">
                <a16:creationId xmlns:a16="http://schemas.microsoft.com/office/drawing/2014/main" id="{50528FA6-6538-9244-6433-A9A55F723AD1}"/>
              </a:ext>
            </a:extLst>
          </p:cNvPr>
          <p:cNvSpPr/>
          <p:nvPr/>
        </p:nvSpPr>
        <p:spPr>
          <a:xfrm>
            <a:off x="2432547"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お役立ち情報</a:t>
            </a:r>
            <a:endParaRPr lang="en-US" sz="950" dirty="0">
              <a:latin typeface="メイリオ" panose="020B0604030504040204" pitchFamily="50" charset="-128"/>
              <a:ea typeface="メイリオ" panose="020B0604030504040204" pitchFamily="50" charset="-128"/>
            </a:endParaRPr>
          </a:p>
        </p:txBody>
      </p:sp>
      <p:sp>
        <p:nvSpPr>
          <p:cNvPr id="225" name="Shape 35">
            <a:extLst>
              <a:ext uri="{FF2B5EF4-FFF2-40B4-BE49-F238E27FC236}">
                <a16:creationId xmlns:a16="http://schemas.microsoft.com/office/drawing/2014/main" id="{53797D95-7FA3-EAB7-FD16-E3CAA1B9A8E9}"/>
              </a:ext>
            </a:extLst>
          </p:cNvPr>
          <p:cNvSpPr/>
          <p:nvPr/>
        </p:nvSpPr>
        <p:spPr>
          <a:xfrm>
            <a:off x="4133331"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7" name="Shape 36">
            <a:extLst>
              <a:ext uri="{FF2B5EF4-FFF2-40B4-BE49-F238E27FC236}">
                <a16:creationId xmlns:a16="http://schemas.microsoft.com/office/drawing/2014/main" id="{629B1933-CCE8-4801-AEDC-00D8587663D2}"/>
              </a:ext>
            </a:extLst>
          </p:cNvPr>
          <p:cNvSpPr/>
          <p:nvPr/>
        </p:nvSpPr>
        <p:spPr>
          <a:xfrm>
            <a:off x="4133331" y="1835845"/>
            <a:ext cx="1719072" cy="585216"/>
          </a:xfrm>
          <a:prstGeom prst="roundRect">
            <a:avLst>
              <a:gd name="adj" fmla="val 9375"/>
            </a:avLst>
          </a:prstGeom>
          <a:solidFill>
            <a:schemeClr val="accent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9" name="Text 37">
            <a:extLst>
              <a:ext uri="{FF2B5EF4-FFF2-40B4-BE49-F238E27FC236}">
                <a16:creationId xmlns:a16="http://schemas.microsoft.com/office/drawing/2014/main" id="{092214EE-AC44-038C-2722-B308FA576ED9}"/>
              </a:ext>
            </a:extLst>
          </p:cNvPr>
          <p:cNvSpPr/>
          <p:nvPr/>
        </p:nvSpPr>
        <p:spPr>
          <a:xfrm>
            <a:off x="4224771"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Day3〜4</a:t>
            </a:r>
            <a:endParaRPr lang="en-US" sz="1500" dirty="0">
              <a:latin typeface="メイリオ" panose="020B0604030504040204" pitchFamily="50" charset="-128"/>
              <a:ea typeface="メイリオ" panose="020B0604030504040204" pitchFamily="50" charset="-128"/>
            </a:endParaRPr>
          </a:p>
        </p:txBody>
      </p:sp>
      <p:sp>
        <p:nvSpPr>
          <p:cNvPr id="231" name="Text 38">
            <a:extLst>
              <a:ext uri="{FF2B5EF4-FFF2-40B4-BE49-F238E27FC236}">
                <a16:creationId xmlns:a16="http://schemas.microsoft.com/office/drawing/2014/main" id="{2956D39A-AB56-1D2C-A166-5AD97BF4555B}"/>
              </a:ext>
            </a:extLst>
          </p:cNvPr>
          <p:cNvSpPr/>
          <p:nvPr/>
        </p:nvSpPr>
        <p:spPr>
          <a:xfrm>
            <a:off x="4224771"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お金・保険の不安</a:t>
            </a:r>
            <a:endParaRPr lang="en-US" sz="900" dirty="0">
              <a:latin typeface="メイリオ" panose="020B0604030504040204" pitchFamily="50" charset="-128"/>
              <a:ea typeface="メイリオ" panose="020B0604030504040204" pitchFamily="50" charset="-128"/>
            </a:endParaRPr>
          </a:p>
        </p:txBody>
      </p:sp>
      <p:sp>
        <p:nvSpPr>
          <p:cNvPr id="235" name="Text 39">
            <a:extLst>
              <a:ext uri="{FF2B5EF4-FFF2-40B4-BE49-F238E27FC236}">
                <a16:creationId xmlns:a16="http://schemas.microsoft.com/office/drawing/2014/main" id="{9FD8369A-6329-B6BB-FF1E-783F5AE7FD45}"/>
              </a:ext>
            </a:extLst>
          </p:cNvPr>
          <p:cNvSpPr/>
          <p:nvPr/>
        </p:nvSpPr>
        <p:spPr>
          <a:xfrm>
            <a:off x="4243059"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働く前の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お金の疑問Q&amp;A</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37" name="Text 40">
            <a:extLst>
              <a:ext uri="{FF2B5EF4-FFF2-40B4-BE49-F238E27FC236}">
                <a16:creationId xmlns:a16="http://schemas.microsoft.com/office/drawing/2014/main" id="{199D3821-33AB-4ABB-7E4F-446E2E140608}"/>
              </a:ext>
            </a:extLst>
          </p:cNvPr>
          <p:cNvSpPr/>
          <p:nvPr/>
        </p:nvSpPr>
        <p:spPr>
          <a:xfrm>
            <a:off x="4243059"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保険料・年金はどうなる？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扶養内で働ける金額は？</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など、働く前に気になる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お金の疑問に</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先回りして答える</a:t>
            </a:r>
            <a:endParaRPr lang="en-US" sz="700" dirty="0">
              <a:latin typeface="メイリオ" panose="020B0604030504040204" pitchFamily="50" charset="-128"/>
              <a:ea typeface="メイリオ" panose="020B0604030504040204" pitchFamily="50" charset="-128"/>
            </a:endParaRPr>
          </a:p>
        </p:txBody>
      </p:sp>
      <p:sp>
        <p:nvSpPr>
          <p:cNvPr id="240" name="Shape 41">
            <a:extLst>
              <a:ext uri="{FF2B5EF4-FFF2-40B4-BE49-F238E27FC236}">
                <a16:creationId xmlns:a16="http://schemas.microsoft.com/office/drawing/2014/main" id="{FE05CBF8-66A0-3EAA-B719-3E5BEB3DFC1F}"/>
              </a:ext>
            </a:extLst>
          </p:cNvPr>
          <p:cNvSpPr/>
          <p:nvPr/>
        </p:nvSpPr>
        <p:spPr>
          <a:xfrm>
            <a:off x="4224771"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43" name="Text 42">
            <a:extLst>
              <a:ext uri="{FF2B5EF4-FFF2-40B4-BE49-F238E27FC236}">
                <a16:creationId xmlns:a16="http://schemas.microsoft.com/office/drawing/2014/main" id="{598E8C1A-CF8F-CADC-BEB1-4963E41378B1}"/>
              </a:ext>
            </a:extLst>
          </p:cNvPr>
          <p:cNvSpPr/>
          <p:nvPr/>
        </p:nvSpPr>
        <p:spPr>
          <a:xfrm>
            <a:off x="4297923"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47" name="Text 43">
            <a:extLst>
              <a:ext uri="{FF2B5EF4-FFF2-40B4-BE49-F238E27FC236}">
                <a16:creationId xmlns:a16="http://schemas.microsoft.com/office/drawing/2014/main" id="{61A890BF-9DE4-3C72-A92B-372EE26EBBC9}"/>
              </a:ext>
            </a:extLst>
          </p:cNvPr>
          <p:cNvSpPr/>
          <p:nvPr/>
        </p:nvSpPr>
        <p:spPr>
          <a:xfrm>
            <a:off x="4297923"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検索の当日〜1日後に「扶養内で働ける金額 2025」「国民健康保険料」など、お金・保険の検索が続く</a:t>
            </a:r>
            <a:endParaRPr lang="en-US" sz="600" dirty="0">
              <a:latin typeface="メイリオ" panose="020B0604030504040204" pitchFamily="50" charset="-128"/>
              <a:ea typeface="メイリオ" panose="020B0604030504040204" pitchFamily="50" charset="-128"/>
            </a:endParaRPr>
          </a:p>
        </p:txBody>
      </p:sp>
      <p:sp>
        <p:nvSpPr>
          <p:cNvPr id="251" name="Shape 44">
            <a:extLst>
              <a:ext uri="{FF2B5EF4-FFF2-40B4-BE49-F238E27FC236}">
                <a16:creationId xmlns:a16="http://schemas.microsoft.com/office/drawing/2014/main" id="{70455440-ACF9-976A-9AAB-2C130E817A9A}"/>
              </a:ext>
            </a:extLst>
          </p:cNvPr>
          <p:cNvSpPr/>
          <p:nvPr/>
        </p:nvSpPr>
        <p:spPr>
          <a:xfrm>
            <a:off x="4224771" y="4765410"/>
            <a:ext cx="1536192" cy="310896"/>
          </a:xfrm>
          <a:prstGeom prst="roundRect">
            <a:avLst>
              <a:gd name="adj" fmla="val 35294"/>
            </a:avLst>
          </a:prstGeom>
          <a:solidFill>
            <a:srgbClr val="FFFFFF"/>
          </a:solidFill>
          <a:ln w="12700">
            <a:solidFill>
              <a:srgbClr val="0D7377"/>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3" name="Text 45">
            <a:extLst>
              <a:ext uri="{FF2B5EF4-FFF2-40B4-BE49-F238E27FC236}">
                <a16:creationId xmlns:a16="http://schemas.microsoft.com/office/drawing/2014/main" id="{7CE38A7E-B59E-4734-BBB2-CDBD38980874}"/>
              </a:ext>
            </a:extLst>
          </p:cNvPr>
          <p:cNvSpPr/>
          <p:nvPr/>
        </p:nvSpPr>
        <p:spPr>
          <a:xfrm>
            <a:off x="4224771"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解決したいQ&amp;A</a:t>
            </a:r>
            <a:endParaRPr lang="en-US" sz="950" dirty="0">
              <a:latin typeface="メイリオ" panose="020B0604030504040204" pitchFamily="50" charset="-128"/>
              <a:ea typeface="メイリオ" panose="020B0604030504040204" pitchFamily="50" charset="-128"/>
            </a:endParaRPr>
          </a:p>
        </p:txBody>
      </p:sp>
      <p:sp>
        <p:nvSpPr>
          <p:cNvPr id="255" name="Shape 46">
            <a:extLst>
              <a:ext uri="{FF2B5EF4-FFF2-40B4-BE49-F238E27FC236}">
                <a16:creationId xmlns:a16="http://schemas.microsoft.com/office/drawing/2014/main" id="{AE76465E-F5D4-326A-00DE-566AF4D0ED4F}"/>
              </a:ext>
            </a:extLst>
          </p:cNvPr>
          <p:cNvSpPr/>
          <p:nvPr/>
        </p:nvSpPr>
        <p:spPr>
          <a:xfrm>
            <a:off x="5925555"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57" name="Shape 47">
            <a:extLst>
              <a:ext uri="{FF2B5EF4-FFF2-40B4-BE49-F238E27FC236}">
                <a16:creationId xmlns:a16="http://schemas.microsoft.com/office/drawing/2014/main" id="{4CE9A042-BEA8-8E3F-7458-7B837D4C3B49}"/>
              </a:ext>
            </a:extLst>
          </p:cNvPr>
          <p:cNvSpPr/>
          <p:nvPr/>
        </p:nvSpPr>
        <p:spPr>
          <a:xfrm>
            <a:off x="5925555" y="1835845"/>
            <a:ext cx="1719072" cy="585216"/>
          </a:xfrm>
          <a:prstGeom prst="roundRect">
            <a:avLst>
              <a:gd name="adj" fmla="val 9375"/>
            </a:avLst>
          </a:prstGeom>
          <a:solidFill>
            <a:schemeClr val="tx2">
              <a:lumMod val="60000"/>
              <a:lumOff val="40000"/>
            </a:schemeClr>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9" name="Text 48">
            <a:extLst>
              <a:ext uri="{FF2B5EF4-FFF2-40B4-BE49-F238E27FC236}">
                <a16:creationId xmlns:a16="http://schemas.microsoft.com/office/drawing/2014/main" id="{7AF37BD4-4646-F464-3A02-960B3183EDAC}"/>
              </a:ext>
            </a:extLst>
          </p:cNvPr>
          <p:cNvSpPr/>
          <p:nvPr/>
        </p:nvSpPr>
        <p:spPr>
          <a:xfrm>
            <a:off x="6016995"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Day6〜7</a:t>
            </a:r>
            <a:endParaRPr lang="en-US" sz="1500" dirty="0">
              <a:latin typeface="メイリオ" panose="020B0604030504040204" pitchFamily="50" charset="-128"/>
              <a:ea typeface="メイリオ" panose="020B0604030504040204" pitchFamily="50" charset="-128"/>
            </a:endParaRPr>
          </a:p>
        </p:txBody>
      </p:sp>
      <p:sp>
        <p:nvSpPr>
          <p:cNvPr id="261" name="Text 49">
            <a:extLst>
              <a:ext uri="{FF2B5EF4-FFF2-40B4-BE49-F238E27FC236}">
                <a16:creationId xmlns:a16="http://schemas.microsoft.com/office/drawing/2014/main" id="{A2C54EA1-48FF-25BB-CAB7-CF9E2CE2A6BE}"/>
              </a:ext>
            </a:extLst>
          </p:cNvPr>
          <p:cNvSpPr/>
          <p:nvPr/>
        </p:nvSpPr>
        <p:spPr>
          <a:xfrm>
            <a:off x="6016995"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会社の比較・選び方</a:t>
            </a:r>
            <a:endParaRPr lang="en-US" sz="900" dirty="0">
              <a:latin typeface="メイリオ" panose="020B0604030504040204" pitchFamily="50" charset="-128"/>
              <a:ea typeface="メイリオ" panose="020B0604030504040204" pitchFamily="50" charset="-128"/>
            </a:endParaRPr>
          </a:p>
        </p:txBody>
      </p:sp>
      <p:sp>
        <p:nvSpPr>
          <p:cNvPr id="263" name="Text 50">
            <a:extLst>
              <a:ext uri="{FF2B5EF4-FFF2-40B4-BE49-F238E27FC236}">
                <a16:creationId xmlns:a16="http://schemas.microsoft.com/office/drawing/2014/main" id="{471AEB23-B4DA-3C81-62CB-E912A644460B}"/>
              </a:ext>
            </a:extLst>
          </p:cNvPr>
          <p:cNvSpPr/>
          <p:nvPr/>
        </p:nvSpPr>
        <p:spPr>
          <a:xfrm>
            <a:off x="6035283" y="2494213"/>
            <a:ext cx="1499616" cy="530352"/>
          </a:xfrm>
          <a:prstGeom prst="rect">
            <a:avLst/>
          </a:prstGeom>
          <a:noFill/>
          <a:ln/>
        </p:spPr>
        <p:txBody>
          <a:bodyPr wrap="square" lIns="0" tIns="0" rIns="0" bIns="0" rtlCol="0" anchor="ctr"/>
          <a:lstStyle/>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お仕事探しの</a:t>
            </a:r>
            <a:endParaRPr lang="en-US" sz="1200" dirty="0">
              <a:solidFill>
                <a:schemeClr val="accent1"/>
              </a:solidFill>
              <a:latin typeface="メイリオ" panose="020B0604030504040204" pitchFamily="50" charset="-128"/>
              <a:ea typeface="メイリオ" panose="020B0604030504040204" pitchFamily="50" charset="-128"/>
            </a:endParaRPr>
          </a:p>
          <a:p>
            <a:pPr marL="0" indent="0">
              <a:lnSpc>
                <a:spcPct val="130000"/>
              </a:lnSpc>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会社の選び方</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265" name="Text 51">
            <a:extLst>
              <a:ext uri="{FF2B5EF4-FFF2-40B4-BE49-F238E27FC236}">
                <a16:creationId xmlns:a16="http://schemas.microsoft.com/office/drawing/2014/main" id="{75F01DF6-8600-1DAC-987C-C3554E20E240}"/>
              </a:ext>
            </a:extLst>
          </p:cNvPr>
          <p:cNvSpPr/>
          <p:nvPr/>
        </p:nvSpPr>
        <p:spPr>
          <a:xfrm>
            <a:off x="6035283" y="3061141"/>
            <a:ext cx="1499616" cy="749808"/>
          </a:xfrm>
          <a:prstGeom prst="rect">
            <a:avLst/>
          </a:prstGeom>
          <a:noFill/>
          <a:ln/>
        </p:spPr>
        <p:txBody>
          <a:bodyPr wrap="square" lIns="0" tIns="0" rIns="0" bIns="0" rtlCol="0" anchor="ctr"/>
          <a:lstStyle/>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サポートを、他社との</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違いとして伝える</a:t>
            </a:r>
            <a:endParaRPr lang="en-US" sz="700" dirty="0">
              <a:latin typeface="メイリオ" panose="020B0604030504040204" pitchFamily="50" charset="-128"/>
              <a:ea typeface="メイリオ" panose="020B0604030504040204" pitchFamily="50" charset="-128"/>
            </a:endParaRPr>
          </a:p>
          <a:p>
            <a:pPr marL="0" indent="0">
              <a:lnSpc>
                <a:spcPct val="140000"/>
              </a:lnSpc>
              <a:buNone/>
            </a:pPr>
            <a:r>
              <a:rPr lang="en-US" sz="700" dirty="0">
                <a:solidFill>
                  <a:srgbClr val="494848"/>
                </a:solidFill>
                <a:latin typeface="メイリオ" panose="020B0604030504040204" pitchFamily="50" charset="-128"/>
                <a:ea typeface="メイリオ" panose="020B0604030504040204" pitchFamily="50" charset="-128"/>
                <a:cs typeface="Calibri" pitchFamily="34" charset="-120"/>
              </a:rPr>
              <a:t>体験談で信頼を積み上げる</a:t>
            </a:r>
            <a:endParaRPr lang="en-US" sz="700" dirty="0">
              <a:latin typeface="メイリオ" panose="020B0604030504040204" pitchFamily="50" charset="-128"/>
              <a:ea typeface="メイリオ" panose="020B0604030504040204" pitchFamily="50" charset="-128"/>
            </a:endParaRPr>
          </a:p>
        </p:txBody>
      </p:sp>
      <p:sp>
        <p:nvSpPr>
          <p:cNvPr id="267" name="Shape 52">
            <a:extLst>
              <a:ext uri="{FF2B5EF4-FFF2-40B4-BE49-F238E27FC236}">
                <a16:creationId xmlns:a16="http://schemas.microsoft.com/office/drawing/2014/main" id="{81626C02-0128-391F-1AF0-59D225D419BC}"/>
              </a:ext>
            </a:extLst>
          </p:cNvPr>
          <p:cNvSpPr/>
          <p:nvPr/>
        </p:nvSpPr>
        <p:spPr>
          <a:xfrm>
            <a:off x="6016995"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69" name="Text 53">
            <a:extLst>
              <a:ext uri="{FF2B5EF4-FFF2-40B4-BE49-F238E27FC236}">
                <a16:creationId xmlns:a16="http://schemas.microsoft.com/office/drawing/2014/main" id="{6A730545-9554-14ED-6B2A-1B88A1389EEA}"/>
              </a:ext>
            </a:extLst>
          </p:cNvPr>
          <p:cNvSpPr/>
          <p:nvPr/>
        </p:nvSpPr>
        <p:spPr>
          <a:xfrm>
            <a:off x="6090147"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71" name="Text 54">
            <a:extLst>
              <a:ext uri="{FF2B5EF4-FFF2-40B4-BE49-F238E27FC236}">
                <a16:creationId xmlns:a16="http://schemas.microsoft.com/office/drawing/2014/main" id="{D66B723A-593B-D13D-0018-C9E7DAEBCB1C}"/>
              </a:ext>
            </a:extLst>
          </p:cNvPr>
          <p:cNvSpPr/>
          <p:nvPr/>
        </p:nvSpPr>
        <p:spPr>
          <a:xfrm>
            <a:off x="6090147" y="4143618"/>
            <a:ext cx="1389888" cy="493776"/>
          </a:xfrm>
          <a:prstGeom prst="rect">
            <a:avLst/>
          </a:prstGeom>
          <a:noFill/>
          <a:ln/>
        </p:spPr>
        <p:txBody>
          <a:bodyPr wrap="square" lIns="0" tIns="0" rIns="0" bIns="0" rtlCol="0" anchor="ctr"/>
          <a:lstStyle/>
          <a:p>
            <a:pPr marL="0" indent="0">
              <a:lnSpc>
                <a:spcPct val="135000"/>
              </a:lnSpc>
              <a:buNone/>
            </a:pPr>
            <a:r>
              <a:rPr lang="en-US" sz="600" dirty="0">
                <a:solidFill>
                  <a:srgbClr val="494848"/>
                </a:solidFill>
                <a:latin typeface="メイリオ" panose="020B0604030504040204" pitchFamily="50" charset="-128"/>
                <a:ea typeface="メイリオ" panose="020B0604030504040204" pitchFamily="50" charset="-128"/>
                <a:cs typeface="Calibri" pitchFamily="34" charset="-120"/>
              </a:rPr>
              <a:t>当日〜3日後に「派遣会社 おすすめ企業」「バイトル」「スタッフサービス」「エン派遣」など、会社・サービスを比べる検索が続く</a:t>
            </a:r>
            <a:endParaRPr lang="en-US" sz="600" dirty="0">
              <a:latin typeface="メイリオ" panose="020B0604030504040204" pitchFamily="50" charset="-128"/>
              <a:ea typeface="メイリオ" panose="020B0604030504040204" pitchFamily="50" charset="-128"/>
            </a:endParaRPr>
          </a:p>
        </p:txBody>
      </p:sp>
      <p:sp>
        <p:nvSpPr>
          <p:cNvPr id="273" name="Shape 55">
            <a:extLst>
              <a:ext uri="{FF2B5EF4-FFF2-40B4-BE49-F238E27FC236}">
                <a16:creationId xmlns:a16="http://schemas.microsoft.com/office/drawing/2014/main" id="{83516F18-5DB0-D001-7E95-B25134EA6409}"/>
              </a:ext>
            </a:extLst>
          </p:cNvPr>
          <p:cNvSpPr/>
          <p:nvPr/>
        </p:nvSpPr>
        <p:spPr>
          <a:xfrm>
            <a:off x="6016995"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75" name="Text 56">
            <a:extLst>
              <a:ext uri="{FF2B5EF4-FFF2-40B4-BE49-F238E27FC236}">
                <a16:creationId xmlns:a16="http://schemas.microsoft.com/office/drawing/2014/main" id="{6F27A7FC-1886-3E15-FE13-B49B5E6B58C4}"/>
              </a:ext>
            </a:extLst>
          </p:cNvPr>
          <p:cNvSpPr/>
          <p:nvPr/>
        </p:nvSpPr>
        <p:spPr>
          <a:xfrm>
            <a:off x="6016995" y="4765410"/>
            <a:ext cx="1536192" cy="310896"/>
          </a:xfrm>
          <a:prstGeom prst="rect">
            <a:avLst/>
          </a:prstGeom>
          <a:noFill/>
          <a:ln/>
        </p:spPr>
        <p:txBody>
          <a:bodyPr wrap="square" lIns="0" tIns="0" rIns="0" bIns="0" rtlCol="0" anchor="ctr"/>
          <a:lstStyle/>
          <a:p>
            <a:pPr marL="0" indent="0" algn="ctr">
              <a:buNone/>
            </a:pPr>
            <a:r>
              <a:rPr lang="en-US" sz="950" b="1" dirty="0" err="1">
                <a:latin typeface="メイリオ" panose="020B0604030504040204" pitchFamily="50" charset="-128"/>
                <a:ea typeface="メイリオ" panose="020B0604030504040204" pitchFamily="50" charset="-128"/>
                <a:cs typeface="Calibri" pitchFamily="34" charset="-120"/>
              </a:rPr>
              <a:t>体験談</a:t>
            </a:r>
            <a:endParaRPr lang="en-US" sz="950" dirty="0">
              <a:latin typeface="メイリオ" panose="020B0604030504040204" pitchFamily="50" charset="-128"/>
              <a:ea typeface="メイリオ" panose="020B0604030504040204" pitchFamily="50" charset="-128"/>
            </a:endParaRPr>
          </a:p>
        </p:txBody>
      </p:sp>
      <p:sp>
        <p:nvSpPr>
          <p:cNvPr id="277" name="Shape 46">
            <a:extLst>
              <a:ext uri="{FF2B5EF4-FFF2-40B4-BE49-F238E27FC236}">
                <a16:creationId xmlns:a16="http://schemas.microsoft.com/office/drawing/2014/main" id="{81FDC777-C320-5C75-D3A4-A08DD76D7E5F}"/>
              </a:ext>
            </a:extLst>
          </p:cNvPr>
          <p:cNvSpPr/>
          <p:nvPr/>
        </p:nvSpPr>
        <p:spPr>
          <a:xfrm>
            <a:off x="7740422" y="1835845"/>
            <a:ext cx="1719072" cy="3363172"/>
          </a:xfrm>
          <a:prstGeom prst="roundRect">
            <a:avLst>
              <a:gd name="adj" fmla="val 3191"/>
            </a:avLst>
          </a:prstGeom>
          <a:solidFill>
            <a:srgbClr val="FFFFFF"/>
          </a:solidFill>
          <a:ln w="12700">
            <a:solidFill>
              <a:srgbClr val="DDDDDD"/>
            </a:solidFill>
            <a:prstDash val="solid"/>
          </a:ln>
          <a:effectLst>
            <a:outerShdw blurRad="38100" dist="12700" dir="8100000" algn="bl" rotWithShape="0">
              <a:srgbClr val="AAAAAA">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79" name="Shape 47">
            <a:extLst>
              <a:ext uri="{FF2B5EF4-FFF2-40B4-BE49-F238E27FC236}">
                <a16:creationId xmlns:a16="http://schemas.microsoft.com/office/drawing/2014/main" id="{3035F905-AAB5-7BEB-2025-12D56AFD692F}"/>
              </a:ext>
            </a:extLst>
          </p:cNvPr>
          <p:cNvSpPr/>
          <p:nvPr/>
        </p:nvSpPr>
        <p:spPr>
          <a:xfrm>
            <a:off x="7740422" y="1835845"/>
            <a:ext cx="1719072" cy="585216"/>
          </a:xfrm>
          <a:prstGeom prst="roundRect">
            <a:avLst>
              <a:gd name="adj" fmla="val 9375"/>
            </a:avLst>
          </a:prstGeom>
          <a:solidFill>
            <a:srgbClr val="FF0000"/>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81" name="Text 48">
            <a:extLst>
              <a:ext uri="{FF2B5EF4-FFF2-40B4-BE49-F238E27FC236}">
                <a16:creationId xmlns:a16="http://schemas.microsoft.com/office/drawing/2014/main" id="{68E2156B-2D0C-D7CD-E58E-0CEE790D2936}"/>
              </a:ext>
            </a:extLst>
          </p:cNvPr>
          <p:cNvSpPr/>
          <p:nvPr/>
        </p:nvSpPr>
        <p:spPr>
          <a:xfrm>
            <a:off x="7831862" y="1872421"/>
            <a:ext cx="1536192" cy="274320"/>
          </a:xfrm>
          <a:prstGeom prst="rect">
            <a:avLst/>
          </a:prstGeom>
          <a:noFill/>
          <a:ln>
            <a:noFill/>
          </a:ln>
        </p:spPr>
        <p:txBody>
          <a:bodyPr wrap="square" lIns="0" tIns="0" rIns="0" bIns="0" rtlCol="0" anchor="ctr"/>
          <a:lstStyle/>
          <a:p>
            <a:pPr marL="0" indent="0" algn="ctr">
              <a:buNone/>
            </a:pPr>
            <a:r>
              <a:rPr lang="en-US" sz="1500" b="1" dirty="0">
                <a:solidFill>
                  <a:srgbClr val="FFFFFF"/>
                </a:solidFill>
                <a:latin typeface="メイリオ" panose="020B0604030504040204" pitchFamily="50" charset="-128"/>
                <a:ea typeface="メイリオ" panose="020B0604030504040204" pitchFamily="50" charset="-128"/>
                <a:cs typeface="Calibri" pitchFamily="34" charset="-120"/>
              </a:rPr>
              <a:t>Day10〜15</a:t>
            </a:r>
            <a:endParaRPr lang="en-US" sz="1500" dirty="0">
              <a:latin typeface="メイリオ" panose="020B0604030504040204" pitchFamily="50" charset="-128"/>
              <a:ea typeface="メイリオ" panose="020B0604030504040204" pitchFamily="50" charset="-128"/>
            </a:endParaRPr>
          </a:p>
        </p:txBody>
      </p:sp>
      <p:sp>
        <p:nvSpPr>
          <p:cNvPr id="283" name="Text 49">
            <a:extLst>
              <a:ext uri="{FF2B5EF4-FFF2-40B4-BE49-F238E27FC236}">
                <a16:creationId xmlns:a16="http://schemas.microsoft.com/office/drawing/2014/main" id="{D56A2492-EC40-760E-3C3E-A80DBBA1A3A6}"/>
              </a:ext>
            </a:extLst>
          </p:cNvPr>
          <p:cNvSpPr/>
          <p:nvPr/>
        </p:nvSpPr>
        <p:spPr>
          <a:xfrm>
            <a:off x="7831862" y="2146741"/>
            <a:ext cx="1536192" cy="201168"/>
          </a:xfrm>
          <a:prstGeom prst="rect">
            <a:avLst/>
          </a:prstGeom>
          <a:noFill/>
          <a:ln>
            <a:noFill/>
          </a:ln>
        </p:spPr>
        <p:txBody>
          <a:bodyPr wrap="square" lIns="0" tIns="0" rIns="0" bIns="0" rtlCol="0" anchor="ctr"/>
          <a:lstStyle/>
          <a:p>
            <a:pPr marL="0" indent="0" algn="ctr">
              <a:buNone/>
            </a:pPr>
            <a:r>
              <a:rPr lang="en-US" sz="900" dirty="0">
                <a:solidFill>
                  <a:srgbClr val="D0E8FF"/>
                </a:solidFill>
                <a:latin typeface="メイリオ" panose="020B0604030504040204" pitchFamily="50" charset="-128"/>
                <a:ea typeface="メイリオ" panose="020B0604030504040204" pitchFamily="50" charset="-128"/>
                <a:cs typeface="Calibri" pitchFamily="34" charset="-120"/>
              </a:rPr>
              <a:t>ENTRYの案内</a:t>
            </a:r>
            <a:endParaRPr lang="en-US" sz="900" dirty="0">
              <a:latin typeface="メイリオ" panose="020B0604030504040204" pitchFamily="50" charset="-128"/>
              <a:ea typeface="メイリオ" panose="020B0604030504040204" pitchFamily="50" charset="-128"/>
            </a:endParaRPr>
          </a:p>
        </p:txBody>
      </p:sp>
      <p:sp>
        <p:nvSpPr>
          <p:cNvPr id="285" name="Text 50">
            <a:extLst>
              <a:ext uri="{FF2B5EF4-FFF2-40B4-BE49-F238E27FC236}">
                <a16:creationId xmlns:a16="http://schemas.microsoft.com/office/drawing/2014/main" id="{A0703C68-0981-D8D2-C5DE-76BA82B621A9}"/>
              </a:ext>
            </a:extLst>
          </p:cNvPr>
          <p:cNvSpPr/>
          <p:nvPr/>
        </p:nvSpPr>
        <p:spPr>
          <a:xfrm>
            <a:off x="7850150" y="2494213"/>
            <a:ext cx="1499616" cy="530352"/>
          </a:xfrm>
          <a:prstGeom prst="rect">
            <a:avLst/>
          </a:prstGeom>
          <a:noFill/>
          <a:ln/>
        </p:spPr>
        <p:txBody>
          <a:bodyPr wrap="square" lIns="0" tIns="0" rIns="0" bIns="0" rtlCol="0" anchor="ctr"/>
          <a:lstStyle/>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かんたん1分</a:t>
            </a:r>
            <a:endParaRPr lang="en-US" sz="1200" dirty="0">
              <a:solidFill>
                <a:srgbClr val="FF0000"/>
              </a:solidFill>
              <a:latin typeface="メイリオ" panose="020B0604030504040204" pitchFamily="50" charset="-128"/>
              <a:ea typeface="メイリオ" panose="020B0604030504040204" pitchFamily="50" charset="-128"/>
            </a:endParaRPr>
          </a:p>
          <a:p>
            <a:pPr marL="0" indent="0">
              <a:lnSpc>
                <a:spcPct val="130000"/>
              </a:lnSpc>
              <a:buNone/>
            </a:pPr>
            <a:r>
              <a:rPr lang="ja-JP" altLang="en-US" sz="1200" b="1" dirty="0">
                <a:solidFill>
                  <a:srgbClr val="FF0000"/>
                </a:solidFill>
                <a:latin typeface="メイリオ" panose="020B0604030504040204" pitchFamily="50" charset="-128"/>
                <a:ea typeface="メイリオ" panose="020B0604030504040204" pitchFamily="50" charset="-128"/>
                <a:cs typeface="Calibri" pitchFamily="34" charset="-120"/>
              </a:rPr>
              <a:t>ENTRYへ</a:t>
            </a:r>
            <a:endParaRPr lang="en-US" sz="1200" dirty="0">
              <a:solidFill>
                <a:srgbClr val="FF0000"/>
              </a:solidFill>
              <a:latin typeface="メイリオ" panose="020B0604030504040204" pitchFamily="50" charset="-128"/>
              <a:ea typeface="メイリオ" panose="020B0604030504040204" pitchFamily="50" charset="-128"/>
            </a:endParaRPr>
          </a:p>
        </p:txBody>
      </p:sp>
      <p:sp>
        <p:nvSpPr>
          <p:cNvPr id="287" name="Text 51">
            <a:extLst>
              <a:ext uri="{FF2B5EF4-FFF2-40B4-BE49-F238E27FC236}">
                <a16:creationId xmlns:a16="http://schemas.microsoft.com/office/drawing/2014/main" id="{CBAD27DA-89EF-E7ED-15D2-58AF159CACA9}"/>
              </a:ext>
            </a:extLst>
          </p:cNvPr>
          <p:cNvSpPr/>
          <p:nvPr/>
        </p:nvSpPr>
        <p:spPr>
          <a:xfrm>
            <a:off x="7850150" y="3061141"/>
            <a:ext cx="1499616" cy="749808"/>
          </a:xfrm>
          <a:prstGeom prst="rect">
            <a:avLst/>
          </a:prstGeom>
          <a:noFill/>
          <a:ln/>
        </p:spPr>
        <p:txBody>
          <a:bodyPr wrap="square" lIns="0" tIns="0" rIns="0" bIns="0" rtlCol="0" anchor="ctr"/>
          <a:lstStyle/>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面接・履歴書作成ナシ</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専属エージェントが</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お仕事中も終了後も</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サポート</a:t>
            </a:r>
          </a:p>
          <a:p>
            <a:pPr marL="0" indent="0">
              <a:lnSpc>
                <a:spcPct val="140000"/>
              </a:lnSpc>
              <a:buNone/>
            </a:pPr>
            <a:r>
              <a:rPr lang="ja-JP" altLang="en-US" sz="700" dirty="0">
                <a:solidFill>
                  <a:srgbClr val="494848"/>
                </a:solidFill>
                <a:latin typeface="メイリオ" panose="020B0604030504040204" pitchFamily="50" charset="-128"/>
                <a:ea typeface="メイリオ" panose="020B0604030504040204" pitchFamily="50" charset="-128"/>
                <a:cs typeface="Calibri" pitchFamily="34" charset="-120"/>
              </a:rPr>
              <a:t>開始時期・エリアに合う求人</a:t>
            </a:r>
          </a:p>
        </p:txBody>
      </p:sp>
      <p:sp>
        <p:nvSpPr>
          <p:cNvPr id="289" name="Shape 52">
            <a:extLst>
              <a:ext uri="{FF2B5EF4-FFF2-40B4-BE49-F238E27FC236}">
                <a16:creationId xmlns:a16="http://schemas.microsoft.com/office/drawing/2014/main" id="{01255A9D-11A8-3A64-125C-E28C1B6380B3}"/>
              </a:ext>
            </a:extLst>
          </p:cNvPr>
          <p:cNvSpPr/>
          <p:nvPr/>
        </p:nvSpPr>
        <p:spPr>
          <a:xfrm>
            <a:off x="7831862" y="3960738"/>
            <a:ext cx="1536192" cy="694944"/>
          </a:xfrm>
          <a:prstGeom prst="roundRect">
            <a:avLst>
              <a:gd name="adj" fmla="val 6579"/>
            </a:avLst>
          </a:prstGeom>
          <a:solidFill>
            <a:srgbClr val="F5F5F5"/>
          </a:solidFill>
          <a:ln w="12700">
            <a:solidFill>
              <a:srgbClr val="DDDDDD"/>
            </a:solidFill>
            <a:prstDash val="solid"/>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91" name="Text 53">
            <a:extLst>
              <a:ext uri="{FF2B5EF4-FFF2-40B4-BE49-F238E27FC236}">
                <a16:creationId xmlns:a16="http://schemas.microsoft.com/office/drawing/2014/main" id="{8AE4DE94-CD9A-396B-D28D-D8148037F66F}"/>
              </a:ext>
            </a:extLst>
          </p:cNvPr>
          <p:cNvSpPr/>
          <p:nvPr/>
        </p:nvSpPr>
        <p:spPr>
          <a:xfrm>
            <a:off x="7905014" y="3997314"/>
            <a:ext cx="1389888" cy="128016"/>
          </a:xfrm>
          <a:prstGeom prst="rect">
            <a:avLst/>
          </a:prstGeom>
          <a:noFill/>
          <a:ln/>
        </p:spPr>
        <p:txBody>
          <a:bodyPr wrap="square" lIns="0" tIns="0" rIns="0" bIns="0" rtlCol="0" anchor="ctr"/>
          <a:lstStyle/>
          <a:p>
            <a:pPr marL="0" indent="0">
              <a:buNone/>
            </a:pPr>
            <a:r>
              <a:rPr lang="en-US" sz="500" b="1" dirty="0">
                <a:solidFill>
                  <a:srgbClr val="888888"/>
                </a:solidFill>
                <a:latin typeface="メイリオ" panose="020B0604030504040204" pitchFamily="50" charset="-128"/>
                <a:ea typeface="メイリオ" panose="020B0604030504040204" pitchFamily="50" charset="-128"/>
                <a:cs typeface="Calibri" pitchFamily="34" charset="-120"/>
              </a:rPr>
              <a:t>[検索データ]</a:t>
            </a:r>
            <a:endParaRPr lang="en-US" sz="500" dirty="0">
              <a:latin typeface="メイリオ" panose="020B0604030504040204" pitchFamily="50" charset="-128"/>
              <a:ea typeface="メイリオ" panose="020B0604030504040204" pitchFamily="50" charset="-128"/>
            </a:endParaRPr>
          </a:p>
        </p:txBody>
      </p:sp>
      <p:sp>
        <p:nvSpPr>
          <p:cNvPr id="293" name="Text 54">
            <a:extLst>
              <a:ext uri="{FF2B5EF4-FFF2-40B4-BE49-F238E27FC236}">
                <a16:creationId xmlns:a16="http://schemas.microsoft.com/office/drawing/2014/main" id="{8DA89E85-A3D3-6550-47A4-205B7B8B6D62}"/>
              </a:ext>
            </a:extLst>
          </p:cNvPr>
          <p:cNvSpPr/>
          <p:nvPr/>
        </p:nvSpPr>
        <p:spPr>
          <a:xfrm>
            <a:off x="7905014" y="4143618"/>
            <a:ext cx="1389888" cy="493776"/>
          </a:xfrm>
          <a:prstGeom prst="rect">
            <a:avLst/>
          </a:prstGeom>
          <a:noFill/>
          <a:ln/>
        </p:spPr>
        <p:txBody>
          <a:bodyPr wrap="square" lIns="0" tIns="0" rIns="0" bIns="0" rtlCol="0" anchor="ctr"/>
          <a:lstStyle/>
          <a:p>
            <a:pPr marL="0" indent="0">
              <a:lnSpc>
                <a:spcPct val="135000"/>
              </a:lnSpc>
              <a:buNone/>
            </a:pPr>
            <a:r>
              <a:rPr lang="ja-JP" altLang="en-US" sz="600" dirty="0">
                <a:solidFill>
                  <a:srgbClr val="494848"/>
                </a:solidFill>
                <a:latin typeface="メイリオ" panose="020B0604030504040204" pitchFamily="50" charset="-128"/>
                <a:ea typeface="メイリオ" panose="020B0604030504040204" pitchFamily="50" charset="-128"/>
                <a:cs typeface="Calibri" pitchFamily="34" charset="-120"/>
              </a:rPr>
              <a:t>2〜7日後に「派遣 職場見学 落ちる確率」「履歴書 書き方」など、応募・面接の準備の検索が増える</a:t>
            </a:r>
          </a:p>
        </p:txBody>
      </p:sp>
      <p:sp>
        <p:nvSpPr>
          <p:cNvPr id="295" name="Shape 55">
            <a:extLst>
              <a:ext uri="{FF2B5EF4-FFF2-40B4-BE49-F238E27FC236}">
                <a16:creationId xmlns:a16="http://schemas.microsoft.com/office/drawing/2014/main" id="{517894E9-DBEF-7477-92C8-3AEB98A883F2}"/>
              </a:ext>
            </a:extLst>
          </p:cNvPr>
          <p:cNvSpPr/>
          <p:nvPr/>
        </p:nvSpPr>
        <p:spPr>
          <a:xfrm>
            <a:off x="7831862" y="4765410"/>
            <a:ext cx="1536192" cy="310896"/>
          </a:xfrm>
          <a:prstGeom prst="roundRect">
            <a:avLst>
              <a:gd name="adj" fmla="val 35294"/>
            </a:avLst>
          </a:prstGeom>
          <a:solidFill>
            <a:srgbClr val="FFFFFF"/>
          </a:solidFill>
          <a:ln w="12700">
            <a:solidFill>
              <a:srgbClr val="2E7D3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97" name="Text 56">
            <a:extLst>
              <a:ext uri="{FF2B5EF4-FFF2-40B4-BE49-F238E27FC236}">
                <a16:creationId xmlns:a16="http://schemas.microsoft.com/office/drawing/2014/main" id="{DDF1E411-39CC-22B3-B963-FAA79AD524DD}"/>
              </a:ext>
            </a:extLst>
          </p:cNvPr>
          <p:cNvSpPr/>
          <p:nvPr/>
        </p:nvSpPr>
        <p:spPr>
          <a:xfrm>
            <a:off x="7831862" y="4765410"/>
            <a:ext cx="1536192" cy="310896"/>
          </a:xfrm>
          <a:prstGeom prst="rect">
            <a:avLst/>
          </a:prstGeom>
          <a:noFill/>
          <a:ln/>
        </p:spPr>
        <p:txBody>
          <a:bodyPr wrap="square" lIns="0" tIns="0" rIns="0" bIns="0" rtlCol="0" anchor="ctr"/>
          <a:lstStyle/>
          <a:p>
            <a:pPr marL="0" indent="0" algn="ctr">
              <a:buNone/>
            </a:pPr>
            <a:r>
              <a:rPr lang="ja-JP" altLang="en-US" sz="950" b="1" dirty="0">
                <a:latin typeface="メイリオ" panose="020B0604030504040204" pitchFamily="50" charset="-128"/>
                <a:ea typeface="メイリオ" panose="020B0604030504040204" pitchFamily="50" charset="-128"/>
                <a:cs typeface="Calibri" pitchFamily="34" charset="-120"/>
              </a:rPr>
              <a:t>会員登録</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Google Shape;752;p28">
            <a:extLst>
              <a:ext uri="{FF2B5EF4-FFF2-40B4-BE49-F238E27FC236}">
                <a16:creationId xmlns:a16="http://schemas.microsoft.com/office/drawing/2014/main" id="{49D91DB9-7A9D-6C3B-8557-DFE5FEA59B4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施策の考え方（長期：企画配信）</a:t>
            </a:r>
          </a:p>
        </p:txBody>
      </p:sp>
      <p:sp>
        <p:nvSpPr>
          <p:cNvPr id="8" name="正方形/長方形 7">
            <a:extLst>
              <a:ext uri="{FF2B5EF4-FFF2-40B4-BE49-F238E27FC236}">
                <a16:creationId xmlns:a16="http://schemas.microsoft.com/office/drawing/2014/main" id="{0DA40860-795C-02D9-8E20-768167E5BE2B}"/>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企画配信</a:t>
            </a:r>
          </a:p>
        </p:txBody>
      </p:sp>
      <p:sp>
        <p:nvSpPr>
          <p:cNvPr id="10" name="Google Shape;752;p28">
            <a:extLst>
              <a:ext uri="{FF2B5EF4-FFF2-40B4-BE49-F238E27FC236}">
                <a16:creationId xmlns:a16="http://schemas.microsoft.com/office/drawing/2014/main" id="{AB994752-49F6-3841-3471-21EFE66BFB15}"/>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ja-JP" altLang="en-US" sz="1600" b="1" dirty="0">
                <a:latin typeface="メイリオ" panose="020B0604030504040204" pitchFamily="50" charset="-128"/>
                <a:ea typeface="メイリオ" panose="020B0604030504040204" pitchFamily="50" charset="-128"/>
                <a:cs typeface="Meiryo"/>
                <a:sym typeface="Meiryo"/>
              </a:rPr>
              <a:t>再びニーズが高まる時期（シーズナリティ）を軸に、</a:t>
            </a:r>
          </a:p>
          <a:p>
            <a:r>
              <a:rPr lang="en-US" altLang="ja-JP" sz="1600" b="1" dirty="0">
                <a:latin typeface="メイリオ" panose="020B0604030504040204" pitchFamily="50" charset="-128"/>
                <a:ea typeface="メイリオ" panose="020B0604030504040204" pitchFamily="50" charset="-128"/>
                <a:cs typeface="Meiryo"/>
                <a:sym typeface="Meiryo"/>
              </a:rPr>
              <a:t>15</a:t>
            </a:r>
            <a:r>
              <a:rPr lang="ja-JP" altLang="en-US" sz="1600" b="1" dirty="0">
                <a:latin typeface="メイリオ" panose="020B0604030504040204" pitchFamily="50" charset="-128"/>
                <a:ea typeface="メイリオ" panose="020B0604030504040204" pitchFamily="50" charset="-128"/>
                <a:cs typeface="Meiryo"/>
                <a:sym typeface="Meiryo"/>
              </a:rPr>
              <a:t>日を過ぎた友だちにも企画配信で再アプローチし、再活性化を図る。</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pic>
        <p:nvPicPr>
          <p:cNvPr id="5" name="Googleトレンド リゾートバイト・スキー場バイト（月ごと）">
            <a:extLst>
              <a:ext uri="{FF2B5EF4-FFF2-40B4-BE49-F238E27FC236}">
                <a16:creationId xmlns:a16="http://schemas.microsoft.com/office/drawing/2014/main" id="{6E74B780-0053-8D9C-7393-EEF0666D1B29}"/>
              </a:ext>
            </a:extLst>
          </p:cNvPr>
          <p:cNvPicPr>
            <a:picLocks noChangeAspect="1"/>
          </p:cNvPicPr>
          <p:nvPr/>
        </p:nvPicPr>
        <p:blipFill>
          <a:blip r:embed="rId3"/>
          <a:stretch>
            <a:fillRect/>
          </a:stretch>
        </p:blipFill>
        <p:spPr>
          <a:xfrm>
            <a:off x="1570034" y="1491240"/>
            <a:ext cx="6765932" cy="2464732"/>
          </a:xfrm>
          <a:prstGeom prst="rect">
            <a:avLst/>
          </a:prstGeom>
        </p:spPr>
      </p:pic>
      <p:sp>
        <p:nvSpPr>
          <p:cNvPr id="9" name="テキスト ボックス 8">
            <a:extLst>
              <a:ext uri="{FF2B5EF4-FFF2-40B4-BE49-F238E27FC236}">
                <a16:creationId xmlns:a16="http://schemas.microsoft.com/office/drawing/2014/main" id="{DC8BF96D-584A-E1C6-6217-4B8E3A069BAC}"/>
              </a:ext>
            </a:extLst>
          </p:cNvPr>
          <p:cNvSpPr txBox="1"/>
          <p:nvPr/>
        </p:nvSpPr>
        <p:spPr>
          <a:xfrm>
            <a:off x="8134788" y="1514702"/>
            <a:ext cx="1576252" cy="253916"/>
          </a:xfrm>
          <a:prstGeom prst="rect">
            <a:avLst/>
          </a:prstGeom>
          <a:no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rPr>
              <a:t>のトレンド情報</a:t>
            </a:r>
            <a:endParaRPr kumimoji="1" lang="ja-JP" altLang="en-US" sz="1050" b="1" dirty="0">
              <a:solidFill>
                <a:schemeClr val="tx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8074073A-1881-D07F-BFBF-D955541CB814}"/>
              </a:ext>
            </a:extLst>
          </p:cNvPr>
          <p:cNvSpPr/>
          <p:nvPr/>
        </p:nvSpPr>
        <p:spPr>
          <a:xfrm>
            <a:off x="6764522" y="1491240"/>
            <a:ext cx="1571444" cy="28342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リゾートバイト</a:t>
            </a:r>
          </a:p>
        </p:txBody>
      </p:sp>
      <p:sp>
        <p:nvSpPr>
          <p:cNvPr id="18" name="四角形: 角を丸くする 17">
            <a:extLst>
              <a:ext uri="{FF2B5EF4-FFF2-40B4-BE49-F238E27FC236}">
                <a16:creationId xmlns:a16="http://schemas.microsoft.com/office/drawing/2014/main" id="{6582B463-2E55-3216-C313-C99DAF3A7B69}"/>
              </a:ext>
            </a:extLst>
          </p:cNvPr>
          <p:cNvSpPr/>
          <p:nvPr/>
        </p:nvSpPr>
        <p:spPr>
          <a:xfrm>
            <a:off x="4756154" y="160947"/>
            <a:ext cx="1752679" cy="269057"/>
          </a:xfrm>
          <a:prstGeom prst="roundRect">
            <a:avLst/>
          </a:prstGeom>
          <a:solidFill>
            <a:schemeClr val="bg1"/>
          </a:solidFill>
          <a:ln w="952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ご提案時に詳細記載</a:t>
            </a:r>
          </a:p>
        </p:txBody>
      </p:sp>
      <p:sp>
        <p:nvSpPr>
          <p:cNvPr id="20" name="Shape 29">
            <a:extLst>
              <a:ext uri="{FF2B5EF4-FFF2-40B4-BE49-F238E27FC236}">
                <a16:creationId xmlns:a16="http://schemas.microsoft.com/office/drawing/2014/main" id="{369E970F-2C41-E080-117D-29AFB73E3495}"/>
              </a:ext>
            </a:extLst>
          </p:cNvPr>
          <p:cNvSpPr/>
          <p:nvPr/>
        </p:nvSpPr>
        <p:spPr>
          <a:xfrm>
            <a:off x="3593323"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1">
            <a:extLst>
              <a:ext uri="{FF2B5EF4-FFF2-40B4-BE49-F238E27FC236}">
                <a16:creationId xmlns:a16="http://schemas.microsoft.com/office/drawing/2014/main" id="{FCD65E22-4E82-E3BE-F7D7-233F34810826}"/>
              </a:ext>
            </a:extLst>
          </p:cNvPr>
          <p:cNvSpPr/>
          <p:nvPr/>
        </p:nvSpPr>
        <p:spPr>
          <a:xfrm>
            <a:off x="4060092" y="4695761"/>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矢印: 下 25">
            <a:extLst>
              <a:ext uri="{FF2B5EF4-FFF2-40B4-BE49-F238E27FC236}">
                <a16:creationId xmlns:a16="http://schemas.microsoft.com/office/drawing/2014/main" id="{064EB21E-55AC-291D-BD68-D99487ED9214}"/>
              </a:ext>
            </a:extLst>
          </p:cNvPr>
          <p:cNvSpPr/>
          <p:nvPr/>
        </p:nvSpPr>
        <p:spPr>
          <a:xfrm>
            <a:off x="5341874"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矢印: 下 27">
            <a:extLst>
              <a:ext uri="{FF2B5EF4-FFF2-40B4-BE49-F238E27FC236}">
                <a16:creationId xmlns:a16="http://schemas.microsoft.com/office/drawing/2014/main" id="{FB72B5BF-4992-BBB8-E5B3-E5EBD3C2D3AC}"/>
              </a:ext>
            </a:extLst>
          </p:cNvPr>
          <p:cNvSpPr/>
          <p:nvPr/>
        </p:nvSpPr>
        <p:spPr>
          <a:xfrm>
            <a:off x="2174122" y="4326200"/>
            <a:ext cx="792480" cy="586887"/>
          </a:xfrm>
          <a:prstGeom prst="downArrow">
            <a:avLst/>
          </a:prstGeom>
          <a:gradFill>
            <a:gsLst>
              <a:gs pos="4000">
                <a:schemeClr val="bg1">
                  <a:alpha val="35000"/>
                </a:schemeClr>
              </a:gs>
              <a:gs pos="100000">
                <a:schemeClr val="tx2">
                  <a:lumMod val="60000"/>
                  <a:lumOff val="40000"/>
                  <a:alpha val="4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9122B12C-726B-347C-08BA-51C1DD7B1B37}"/>
              </a:ext>
            </a:extLst>
          </p:cNvPr>
          <p:cNvSpPr txBox="1"/>
          <p:nvPr/>
        </p:nvSpPr>
        <p:spPr>
          <a:xfrm>
            <a:off x="1518065" y="4007678"/>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2" name="テキスト ボックス 31">
            <a:extLst>
              <a:ext uri="{FF2B5EF4-FFF2-40B4-BE49-F238E27FC236}">
                <a16:creationId xmlns:a16="http://schemas.microsoft.com/office/drawing/2014/main" id="{302C7D03-D37A-C26E-B969-DD0DB3163FBC}"/>
              </a:ext>
            </a:extLst>
          </p:cNvPr>
          <p:cNvSpPr txBox="1"/>
          <p:nvPr/>
        </p:nvSpPr>
        <p:spPr>
          <a:xfrm>
            <a:off x="4685816" y="4009455"/>
            <a:ext cx="2104595" cy="415498"/>
          </a:xfrm>
          <a:prstGeom prst="rect">
            <a:avLst/>
          </a:prstGeom>
          <a:noFill/>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sym typeface="Meiryo"/>
              </a:rPr>
              <a:t>再度ニーズ高まったタイミング</a:t>
            </a:r>
            <a:r>
              <a:rPr lang="ja-JP" altLang="en-US" sz="1050" b="1" dirty="0">
                <a:latin typeface="メイリオ" panose="020B0604030504040204" pitchFamily="50" charset="-128"/>
                <a:ea typeface="メイリオ" panose="020B0604030504040204" pitchFamily="50" charset="-128"/>
                <a:sym typeface="Meiryo"/>
              </a:rPr>
              <a:t>で</a:t>
            </a:r>
            <a:endParaRPr lang="en-US" altLang="ja-JP" sz="1050" b="1" dirty="0">
              <a:latin typeface="メイリオ" panose="020B0604030504040204" pitchFamily="50" charset="-128"/>
              <a:ea typeface="メイリオ" panose="020B0604030504040204" pitchFamily="50" charset="-128"/>
              <a:sym typeface="Meiryo"/>
            </a:endParaRPr>
          </a:p>
          <a:p>
            <a:pPr algn="ctr"/>
            <a:r>
              <a:rPr lang="ja-JP" altLang="en-US" sz="1050" b="1" dirty="0">
                <a:latin typeface="メイリオ" panose="020B0604030504040204" pitchFamily="50" charset="-128"/>
                <a:ea typeface="メイリオ" panose="020B0604030504040204" pitchFamily="50" charset="-128"/>
                <a:sym typeface="Meiryo"/>
              </a:rPr>
              <a:t>の再活性化施策として</a:t>
            </a:r>
            <a:endParaRPr lang="en-US" altLang="ja-JP" sz="1000" b="1" dirty="0">
              <a:latin typeface="メイリオ" panose="020B0604030504040204" pitchFamily="50" charset="-128"/>
              <a:ea typeface="メイリオ" panose="020B0604030504040204" pitchFamily="50" charset="-128"/>
              <a:sym typeface="Meiryo"/>
            </a:endParaRPr>
          </a:p>
        </p:txBody>
      </p:sp>
      <p:sp>
        <p:nvSpPr>
          <p:cNvPr id="34" name="テキスト ボックス 33">
            <a:extLst>
              <a:ext uri="{FF2B5EF4-FFF2-40B4-BE49-F238E27FC236}">
                <a16:creationId xmlns:a16="http://schemas.microsoft.com/office/drawing/2014/main" id="{A2AD2662-C588-A66D-EA47-21DA7A09CF26}"/>
              </a:ext>
            </a:extLst>
          </p:cNvPr>
          <p:cNvSpPr txBox="1"/>
          <p:nvPr/>
        </p:nvSpPr>
        <p:spPr>
          <a:xfrm>
            <a:off x="7099855" y="4053844"/>
            <a:ext cx="2315055" cy="369332"/>
          </a:xfrm>
          <a:prstGeom prst="rect">
            <a:avLst/>
          </a:prstGeom>
          <a:noFill/>
        </p:spPr>
        <p:txBody>
          <a:bodyPr wrap="square">
            <a:spAutoFit/>
          </a:bodyPr>
          <a:lstStyle/>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その他、ニーズが高まる前のタイミング</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a:p>
            <a:pPr algn="ctr"/>
            <a:r>
              <a:rPr lang="ja-JP" altLang="en-US" sz="900" dirty="0">
                <a:solidFill>
                  <a:srgbClr val="FF0000"/>
                </a:solidFill>
                <a:latin typeface="メイリオ" panose="020B0604030504040204" pitchFamily="50" charset="-128"/>
                <a:ea typeface="メイリオ" panose="020B0604030504040204" pitchFamily="50" charset="-128"/>
                <a:sym typeface="Meiryo"/>
              </a:rPr>
              <a:t>でアプローチする等の施策に活用。</a:t>
            </a:r>
            <a:endParaRPr lang="en-US" altLang="ja-JP" sz="900" dirty="0">
              <a:solidFill>
                <a:srgbClr val="FF0000"/>
              </a:solidFill>
              <a:latin typeface="メイリオ" panose="020B0604030504040204" pitchFamily="50" charset="-128"/>
              <a:ea typeface="メイリオ" panose="020B0604030504040204" pitchFamily="50" charset="-128"/>
              <a:sym typeface="Meiryo"/>
            </a:endParaRPr>
          </a:p>
        </p:txBody>
      </p:sp>
      <p:cxnSp>
        <p:nvCxnSpPr>
          <p:cNvPr id="36" name="直線矢印コネクタ 35">
            <a:extLst>
              <a:ext uri="{FF2B5EF4-FFF2-40B4-BE49-F238E27FC236}">
                <a16:creationId xmlns:a16="http://schemas.microsoft.com/office/drawing/2014/main" id="{53784701-DE88-24A4-1652-CE66A993AA9A}"/>
              </a:ext>
            </a:extLst>
          </p:cNvPr>
          <p:cNvCxnSpPr>
            <a:cxnSpLocks/>
          </p:cNvCxnSpPr>
          <p:nvPr/>
        </p:nvCxnSpPr>
        <p:spPr>
          <a:xfrm flipH="1" flipV="1">
            <a:off x="6437376" y="3465576"/>
            <a:ext cx="914400" cy="566928"/>
          </a:xfrm>
          <a:prstGeom prst="straightConnector1">
            <a:avLst/>
          </a:prstGeom>
          <a:ln>
            <a:solidFill>
              <a:srgbClr val="FF0000"/>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四角形: 角を丸くする 37">
            <a:extLst>
              <a:ext uri="{FF2B5EF4-FFF2-40B4-BE49-F238E27FC236}">
                <a16:creationId xmlns:a16="http://schemas.microsoft.com/office/drawing/2014/main" id="{9C8551D0-7316-37F3-A274-247A41CF4DC1}"/>
              </a:ext>
            </a:extLst>
          </p:cNvPr>
          <p:cNvSpPr/>
          <p:nvPr/>
        </p:nvSpPr>
        <p:spPr>
          <a:xfrm>
            <a:off x="6181344" y="1856231"/>
            <a:ext cx="512064" cy="1591056"/>
          </a:xfrm>
          <a:prstGeom prst="roundRect">
            <a:avLst>
              <a:gd name="adj" fmla="val 9639"/>
            </a:avLst>
          </a:prstGeom>
          <a:solidFill>
            <a:srgbClr val="FF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 name="Rectangle 2012">
            <a:extLst>
              <a:ext uri="{FF2B5EF4-FFF2-40B4-BE49-F238E27FC236}">
                <a16:creationId xmlns:a16="http://schemas.microsoft.com/office/drawing/2014/main" id="{38D4CCB3-6A52-E243-EBF3-4D9F3E0779B3}"/>
              </a:ext>
            </a:extLst>
          </p:cNvPr>
          <p:cNvSpPr/>
          <p:nvPr/>
        </p:nvSpPr>
        <p:spPr>
          <a:xfrm>
            <a:off x="46155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1月</a:t>
            </a:r>
          </a:p>
        </p:txBody>
      </p:sp>
      <p:sp>
        <p:nvSpPr>
          <p:cNvPr id="7" name="Rectangle 2011">
            <a:extLst>
              <a:ext uri="{FF2B5EF4-FFF2-40B4-BE49-F238E27FC236}">
                <a16:creationId xmlns:a16="http://schemas.microsoft.com/office/drawing/2014/main" id="{523206B0-A248-EDFA-FDF7-111D4BDD0015}"/>
              </a:ext>
            </a:extLst>
          </p:cNvPr>
          <p:cNvSpPr/>
          <p:nvPr/>
        </p:nvSpPr>
        <p:spPr>
          <a:xfrm>
            <a:off x="1218050"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2月</a:t>
            </a:r>
          </a:p>
        </p:txBody>
      </p:sp>
      <p:sp>
        <p:nvSpPr>
          <p:cNvPr id="13" name="Rectangle 2011">
            <a:extLst>
              <a:ext uri="{FF2B5EF4-FFF2-40B4-BE49-F238E27FC236}">
                <a16:creationId xmlns:a16="http://schemas.microsoft.com/office/drawing/2014/main" id="{523206B0-A248-EDFA-FDF7-111D4BDD0015}"/>
              </a:ext>
            </a:extLst>
          </p:cNvPr>
          <p:cNvSpPr/>
          <p:nvPr/>
        </p:nvSpPr>
        <p:spPr>
          <a:xfrm>
            <a:off x="197454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3月</a:t>
            </a:r>
          </a:p>
        </p:txBody>
      </p:sp>
      <p:sp>
        <p:nvSpPr>
          <p:cNvPr id="17" name="Rectangle 2011">
            <a:extLst>
              <a:ext uri="{FF2B5EF4-FFF2-40B4-BE49-F238E27FC236}">
                <a16:creationId xmlns:a16="http://schemas.microsoft.com/office/drawing/2014/main" id="{523206B0-A248-EDFA-FDF7-111D4BDD0015}"/>
              </a:ext>
            </a:extLst>
          </p:cNvPr>
          <p:cNvSpPr/>
          <p:nvPr/>
        </p:nvSpPr>
        <p:spPr>
          <a:xfrm>
            <a:off x="2731042"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4月</a:t>
            </a:r>
          </a:p>
        </p:txBody>
      </p:sp>
      <p:sp>
        <p:nvSpPr>
          <p:cNvPr id="21" name="Rectangle 2011">
            <a:extLst>
              <a:ext uri="{FF2B5EF4-FFF2-40B4-BE49-F238E27FC236}">
                <a16:creationId xmlns:a16="http://schemas.microsoft.com/office/drawing/2014/main" id="{523206B0-A248-EDFA-FDF7-111D4BDD0015}"/>
              </a:ext>
            </a:extLst>
          </p:cNvPr>
          <p:cNvSpPr/>
          <p:nvPr/>
        </p:nvSpPr>
        <p:spPr>
          <a:xfrm>
            <a:off x="3487538"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5月</a:t>
            </a:r>
          </a:p>
        </p:txBody>
      </p:sp>
      <p:sp>
        <p:nvSpPr>
          <p:cNvPr id="24" name="Rectangle 2012">
            <a:extLst>
              <a:ext uri="{FF2B5EF4-FFF2-40B4-BE49-F238E27FC236}">
                <a16:creationId xmlns:a16="http://schemas.microsoft.com/office/drawing/2014/main" id="{38D4CCB3-6A52-E243-EBF3-4D9F3E0779B3}"/>
              </a:ext>
            </a:extLst>
          </p:cNvPr>
          <p:cNvSpPr/>
          <p:nvPr/>
        </p:nvSpPr>
        <p:spPr>
          <a:xfrm>
            <a:off x="4244034"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6月</a:t>
            </a:r>
          </a:p>
        </p:txBody>
      </p:sp>
      <p:sp>
        <p:nvSpPr>
          <p:cNvPr id="27" name="Rectangle 2012">
            <a:extLst>
              <a:ext uri="{FF2B5EF4-FFF2-40B4-BE49-F238E27FC236}">
                <a16:creationId xmlns:a16="http://schemas.microsoft.com/office/drawing/2014/main" id="{38D4CCB3-6A52-E243-EBF3-4D9F3E0779B3}"/>
              </a:ext>
            </a:extLst>
          </p:cNvPr>
          <p:cNvSpPr/>
          <p:nvPr/>
        </p:nvSpPr>
        <p:spPr>
          <a:xfrm>
            <a:off x="500053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7月</a:t>
            </a:r>
          </a:p>
        </p:txBody>
      </p:sp>
      <p:sp>
        <p:nvSpPr>
          <p:cNvPr id="31" name="Rectangle 2011">
            <a:extLst>
              <a:ext uri="{FF2B5EF4-FFF2-40B4-BE49-F238E27FC236}">
                <a16:creationId xmlns:a16="http://schemas.microsoft.com/office/drawing/2014/main" id="{523206B0-A248-EDFA-FDF7-111D4BDD0015}"/>
              </a:ext>
            </a:extLst>
          </p:cNvPr>
          <p:cNvSpPr/>
          <p:nvPr/>
        </p:nvSpPr>
        <p:spPr>
          <a:xfrm>
            <a:off x="575702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8月</a:t>
            </a:r>
          </a:p>
        </p:txBody>
      </p:sp>
      <p:sp>
        <p:nvSpPr>
          <p:cNvPr id="41" name="Rectangle 2011">
            <a:extLst>
              <a:ext uri="{FF2B5EF4-FFF2-40B4-BE49-F238E27FC236}">
                <a16:creationId xmlns:a16="http://schemas.microsoft.com/office/drawing/2014/main" id="{523206B0-A248-EDFA-FDF7-111D4BDD0015}"/>
              </a:ext>
            </a:extLst>
          </p:cNvPr>
          <p:cNvSpPr/>
          <p:nvPr/>
        </p:nvSpPr>
        <p:spPr>
          <a:xfrm>
            <a:off x="8026514"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11月</a:t>
            </a:r>
          </a:p>
        </p:txBody>
      </p:sp>
      <p:sp>
        <p:nvSpPr>
          <p:cNvPr id="49" name="Rectangle 2008">
            <a:extLst>
              <a:ext uri="{FF2B5EF4-FFF2-40B4-BE49-F238E27FC236}">
                <a16:creationId xmlns:a16="http://schemas.microsoft.com/office/drawing/2014/main" id="{82B3CC5E-6187-AF51-5435-202392E72C80}"/>
              </a:ext>
            </a:extLst>
          </p:cNvPr>
          <p:cNvSpPr/>
          <p:nvPr/>
        </p:nvSpPr>
        <p:spPr>
          <a:xfrm>
            <a:off x="6512070" y="5991604"/>
            <a:ext cx="731096" cy="411480"/>
          </a:xfrm>
          <a:prstGeom prst="rect">
            <a:avLst/>
          </a:prstGeom>
          <a:solidFill>
            <a:srgbClr val="FF0000"/>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rgbClr val="FFFFFF"/>
                </a:solidFill>
                <a:latin typeface="メイリオ"/>
              </a:rPr>
              <a:t>9月</a:t>
            </a:r>
          </a:p>
        </p:txBody>
      </p:sp>
      <p:sp>
        <p:nvSpPr>
          <p:cNvPr id="51" name="Rectangle 2011">
            <a:extLst>
              <a:ext uri="{FF2B5EF4-FFF2-40B4-BE49-F238E27FC236}">
                <a16:creationId xmlns:a16="http://schemas.microsoft.com/office/drawing/2014/main" id="{523206B0-A248-EDFA-FDF7-111D4BDD0015}"/>
              </a:ext>
            </a:extLst>
          </p:cNvPr>
          <p:cNvSpPr/>
          <p:nvPr/>
        </p:nvSpPr>
        <p:spPr>
          <a:xfrm>
            <a:off x="7268566" y="5991604"/>
            <a:ext cx="731096" cy="411480"/>
          </a:xfrm>
          <a:prstGeom prst="rect">
            <a:avLst/>
          </a:prstGeom>
          <a:solidFill>
            <a:srgbClr val="E5E8EE"/>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0">
                <a:solidFill>
                  <a:srgbClr val="5A6378"/>
                </a:solidFill>
                <a:latin typeface="メイリオ"/>
              </a:rPr>
              <a:t>10月</a:t>
            </a:r>
          </a:p>
        </p:txBody>
      </p:sp>
      <p:sp>
        <p:nvSpPr>
          <p:cNvPr id="55" name="Rectangle 2012">
            <a:extLst>
              <a:ext uri="{FF2B5EF4-FFF2-40B4-BE49-F238E27FC236}">
                <a16:creationId xmlns:a16="http://schemas.microsoft.com/office/drawing/2014/main" id="{38D4CCB3-6A52-E243-EBF3-4D9F3E0779B3}"/>
              </a:ext>
            </a:extLst>
          </p:cNvPr>
          <p:cNvSpPr/>
          <p:nvPr/>
        </p:nvSpPr>
        <p:spPr>
          <a:xfrm>
            <a:off x="8808410" y="5991604"/>
            <a:ext cx="731096" cy="411480"/>
          </a:xfrm>
          <a:prstGeom prst="rect">
            <a:avLst/>
          </a:prstGeom>
          <a:solidFill>
            <a:schemeClr val="tx2"/>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lIns="0" tIns="25400" rIns="0" bIns="25400" rtlCol="0" anchor="ctr"/>
          <a:lstStyle/>
          <a:p>
            <a:pPr algn="ctr"/>
            <a:r>
              <a:rPr sz="1000" b="1">
                <a:solidFill>
                  <a:schemeClr val="bg1"/>
                </a:solidFill>
                <a:latin typeface="メイリオ"/>
              </a:rPr>
              <a:t>12月</a:t>
            </a:r>
          </a:p>
        </p:txBody>
      </p:sp>
      <p:sp>
        <p:nvSpPr>
          <p:cNvPr id="6" name="テキスト ボックス 5">
            <a:extLst>
              <a:ext uri="{FF2B5EF4-FFF2-40B4-BE49-F238E27FC236}">
                <a16:creationId xmlns:a16="http://schemas.microsoft.com/office/drawing/2014/main" id="{C5613934-3058-7342-6086-B74E9E936123}"/>
              </a:ext>
            </a:extLst>
          </p:cNvPr>
          <p:cNvSpPr txBox="1"/>
          <p:nvPr/>
        </p:nvSpPr>
        <p:spPr>
          <a:xfrm>
            <a:off x="1333625" y="4709544"/>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・10〜11月：「12月・1月開始のスキー場の求人」特集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68DA1071-AA58-705C-A547-3B4B60150699}"/>
              </a:ext>
            </a:extLst>
          </p:cNvPr>
          <p:cNvSpPr txBox="1"/>
          <p:nvPr/>
        </p:nvSpPr>
        <p:spPr>
          <a:xfrm>
            <a:off x="1333625" y="5183337"/>
            <a:ext cx="2772917" cy="400110"/>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・「2026-2027 winter SKI Resort」の求人を、開始時期・エリアの答えで出し分け</a:t>
            </a:r>
          </a:p>
        </p:txBody>
      </p:sp>
      <p:sp>
        <p:nvSpPr>
          <p:cNvPr id="23" name="テキスト ボックス 22">
            <a:extLst>
              <a:ext uri="{FF2B5EF4-FFF2-40B4-BE49-F238E27FC236}">
                <a16:creationId xmlns:a16="http://schemas.microsoft.com/office/drawing/2014/main" id="{5E084692-8341-F62C-BDA3-93FFBCF87329}"/>
              </a:ext>
            </a:extLst>
          </p:cNvPr>
          <p:cNvSpPr txBox="1"/>
          <p:nvPr/>
        </p:nvSpPr>
        <p:spPr>
          <a:xfrm>
            <a:off x="1319183" y="5657130"/>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・冬の終わりに、春からの次のお仕事を案内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9" name="Shape 29">
            <a:extLst>
              <a:ext uri="{FF2B5EF4-FFF2-40B4-BE49-F238E27FC236}">
                <a16:creationId xmlns:a16="http://schemas.microsoft.com/office/drawing/2014/main" id="{B20887B4-FA60-453A-DF70-39F5445ADC5F}"/>
              </a:ext>
            </a:extLst>
          </p:cNvPr>
          <p:cNvSpPr/>
          <p:nvPr/>
        </p:nvSpPr>
        <p:spPr>
          <a:xfrm>
            <a:off x="6604040" y="4681749"/>
            <a:ext cx="0" cy="73152"/>
          </a:xfrm>
          <a:prstGeom prst="line">
            <a:avLst/>
          </a:prstGeom>
          <a:noFill/>
          <a:ln w="12700">
            <a:solidFill>
              <a:srgbClr val="DDDDDD"/>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テキスト ボックス 38">
            <a:extLst>
              <a:ext uri="{FF2B5EF4-FFF2-40B4-BE49-F238E27FC236}">
                <a16:creationId xmlns:a16="http://schemas.microsoft.com/office/drawing/2014/main" id="{8472013D-5308-599C-BCBD-A2C7ADFD17E4}"/>
              </a:ext>
            </a:extLst>
          </p:cNvPr>
          <p:cNvSpPr txBox="1"/>
          <p:nvPr/>
        </p:nvSpPr>
        <p:spPr>
          <a:xfrm>
            <a:off x="4344342" y="4695532"/>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夏（6〜7月）は「リゾートバイト」の検索が最も多い。</a:t>
            </a:r>
          </a:p>
        </p:txBody>
      </p:sp>
      <p:sp>
        <p:nvSpPr>
          <p:cNvPr id="42" name="テキスト ボックス 41">
            <a:extLst>
              <a:ext uri="{FF2B5EF4-FFF2-40B4-BE49-F238E27FC236}">
                <a16:creationId xmlns:a16="http://schemas.microsoft.com/office/drawing/2014/main" id="{159782BD-D49E-7D50-5922-BF0AFE41609D}"/>
              </a:ext>
            </a:extLst>
          </p:cNvPr>
          <p:cNvSpPr txBox="1"/>
          <p:nvPr/>
        </p:nvSpPr>
        <p:spPr>
          <a:xfrm>
            <a:off x="4344342" y="5005823"/>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海・離島・高原など、夏のエリアの求人特集。</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46" name="テキスト ボックス 45">
            <a:extLst>
              <a:ext uri="{FF2B5EF4-FFF2-40B4-BE49-F238E27FC236}">
                <a16:creationId xmlns:a16="http://schemas.microsoft.com/office/drawing/2014/main" id="{DFA1ED2F-ED5C-555B-A807-54C30A8D6A03}"/>
              </a:ext>
            </a:extLst>
          </p:cNvPr>
          <p:cNvSpPr txBox="1"/>
          <p:nvPr/>
        </p:nvSpPr>
        <p:spPr>
          <a:xfrm>
            <a:off x="7268565" y="4476013"/>
            <a:ext cx="2442473" cy="861774"/>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・9月：冬の求人の先行案内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・4〜5月：夏の求人の先行案内</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・「LINE友だち限定・先行公開」</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1" name="テキスト ボックス 10">
            <a:extLst>
              <a:ext uri="{FF2B5EF4-FFF2-40B4-BE49-F238E27FC236}">
                <a16:creationId xmlns:a16="http://schemas.microsoft.com/office/drawing/2014/main" id="{212FC656-86E9-6A8C-0891-DCF1433F5FA2}"/>
              </a:ext>
            </a:extLst>
          </p:cNvPr>
          <p:cNvSpPr txBox="1"/>
          <p:nvPr/>
        </p:nvSpPr>
        <p:spPr>
          <a:xfrm>
            <a:off x="4344341" y="5316114"/>
            <a:ext cx="2772917" cy="246221"/>
          </a:xfrm>
          <a:prstGeom prst="rect">
            <a:avLst/>
          </a:prstGeom>
          <a:noFill/>
        </p:spPr>
        <p:txBody>
          <a:bodyPr wrap="square">
            <a:spAutoFit/>
          </a:bodyPr>
          <a:lstStyle/>
          <a:p>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希望のエリア・開始時期の答えで出し分け。</a:t>
            </a:r>
            <a:endParaRPr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04695B-DA8B-628A-D7EF-2A8933478684}"/>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630470A8-B84B-B148-A204-2590B40142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45CF9DAE-30BF-EBB4-2738-8B519663A3C2}"/>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03</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1074280A-D5C9-01AC-8681-B924D4C79238}"/>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施策詳細（</a:t>
            </a:r>
            <a:r>
              <a:rPr lang="en-US" altLang="ja-JP"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DYM</a:t>
            </a:r>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プラン）</a:t>
            </a:r>
          </a:p>
        </p:txBody>
      </p:sp>
      <p:cxnSp>
        <p:nvCxnSpPr>
          <p:cNvPr id="17" name="直線コネクタ 16">
            <a:extLst>
              <a:ext uri="{FF2B5EF4-FFF2-40B4-BE49-F238E27FC236}">
                <a16:creationId xmlns:a16="http://schemas.microsoft.com/office/drawing/2014/main" id="{507E5E5E-0A73-E2C6-D228-2CEEE9F667CD}"/>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139986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友だちの入口</a:t>
            </a:r>
          </a:p>
          <a:p>
            <a:pPr algn="l">
              <a:lnSpc>
                <a:spcPct val="105000"/>
              </a:lnSpc>
              <a:spcAft>
                <a:spcPts val="200"/>
              </a:spcAft>
            </a:pPr>
            <a:r>
              <a:rPr sz="1200" b="0">
                <a:solidFill>
                  <a:srgbClr val="333333"/>
                </a:solidFill>
                <a:latin typeface="メイリオ"/>
                <a:ea typeface="メイリオ"/>
                <a:cs typeface="メイリオ"/>
              </a:rPr>
              <a:t>サイトのLINEボタン・広告の受け皿</a:t>
            </a:r>
          </a:p>
        </p:txBody>
      </p:sp>
      <p:sp>
        <p:nvSpPr>
          <p:cNvPr id="86" name="Rectangle 85"/>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87" name="Rectangle 86"/>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サイト・広告から来る</a:t>
            </a:r>
          </a:p>
        </p:txBody>
      </p:sp>
      <p:sp>
        <p:nvSpPr>
          <p:cNvPr id="88" name="TextBox 87"/>
          <p:cNvSpPr txBox="1"/>
          <p:nvPr/>
        </p:nvSpPr>
        <p:spPr>
          <a:xfrm>
            <a:off x="1152144" y="337870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9" name="Rectangle 88"/>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0" name="Rectangle 89"/>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求人ページ・トップのLINEボタン</a:t>
            </a:r>
          </a:p>
        </p:txBody>
      </p:sp>
      <p:sp>
        <p:nvSpPr>
          <p:cNvPr id="91" name="TextBox 90"/>
          <p:cNvSpPr txBox="1"/>
          <p:nvPr/>
        </p:nvSpPr>
        <p:spPr>
          <a:xfrm>
            <a:off x="1152144" y="4261104"/>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3" name="Rectangle 92"/>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94" name="TextBox 93"/>
          <p:cNvSpPr txBox="1"/>
          <p:nvPr/>
        </p:nvSpPr>
        <p:spPr>
          <a:xfrm>
            <a:off x="1152144" y="5143500"/>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96" name="Rectangle 95"/>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あいさつ・診断</a:t>
            </a:r>
          </a:p>
        </p:txBody>
      </p:sp>
      <p:sp>
        <p:nvSpPr>
          <p:cNvPr id="97" name="TextBox 96"/>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サイトに来た方を、LINEでつながる友だちにする</a:t>
            </a:r>
          </a:p>
        </p:txBody>
      </p:sp>
      <p:sp>
        <p:nvSpPr>
          <p:cNvPr id="98" name="TextBox 97"/>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サイトに来た方（月 約8.6万UU）</a:t>
            </a:r>
          </a:p>
        </p:txBody>
      </p:sp>
      <p:sp>
        <p:nvSpPr>
          <p:cNvPr id="99" name="TextBox 98"/>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ボタンの訴求は「LINEで新着求人・開始月別の求人が届く」</a:t>
            </a:r>
          </a:p>
        </p:txBody>
      </p:sp>
      <p:sp>
        <p:nvSpPr>
          <p:cNvPr id="100" name="TextBox 99"/>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サイトのボタンからの友だち追加数</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1A98738-2D8B-C136-F3AB-BE9E0F4BE04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E763FE7F-E268-AFB9-8C26-A4EB11BA5AE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集客</a:t>
            </a:r>
          </a:p>
        </p:txBody>
      </p:sp>
      <p:sp>
        <p:nvSpPr>
          <p:cNvPr id="4" name="Chevron 13">
            <a:extLst>
              <a:ext uri="{FF2B5EF4-FFF2-40B4-BE49-F238E27FC236}">
                <a16:creationId xmlns:a16="http://schemas.microsoft.com/office/drawing/2014/main" id="{29489E76-109A-5A9F-6007-97E43FBE69A2}"/>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69A3133C-CD4D-8D4C-F0E6-DC6AB18C962D}"/>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F937C8A8-9FC6-659C-E49B-A699CF4D163E}"/>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D5E8202C-DCA5-0507-F682-9FA900EF692C}"/>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6F55644E-8236-43A4-3105-B3F34E3F210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6BB0C46-5ADE-C304-D02B-B9272585F6C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6823B628-7016-D96E-3CC4-F63423F806BA}"/>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85AC353D-60E1-F353-0855-728BE833FC2C}"/>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37" name="Chevron 12">
            <a:extLst>
              <a:ext uri="{FF2B5EF4-FFF2-40B4-BE49-F238E27FC236}">
                <a16:creationId xmlns:a16="http://schemas.microsoft.com/office/drawing/2014/main" id="{DA5127EF-5223-643E-EDB9-5407299E080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E14962F6-8671-20EE-0C84-89C4FB4E7CA0}"/>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2" name="正方形/長方形 81">
            <a:extLst>
              <a:ext uri="{FF2B5EF4-FFF2-40B4-BE49-F238E27FC236}">
                <a16:creationId xmlns:a16="http://schemas.microsoft.com/office/drawing/2014/main" id="{E39FFBC3-AAB5-2173-2D6D-3CB0180566B7}"/>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4" name="正方形/長方形 83">
            <a:extLst>
              <a:ext uri="{FF2B5EF4-FFF2-40B4-BE49-F238E27FC236}">
                <a16:creationId xmlns:a16="http://schemas.microsoft.com/office/drawing/2014/main" id="{A77072BE-5118-9AA4-A2E0-18EDA2DCF568}"/>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6" name="Pentagon 10">
            <a:extLst>
              <a:ext uri="{FF2B5EF4-FFF2-40B4-BE49-F238E27FC236}">
                <a16:creationId xmlns:a16="http://schemas.microsoft.com/office/drawing/2014/main" id="{088A33FA-3E05-54E4-570A-B7F80484E448}"/>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10" name="Chevron 11">
            <a:extLst>
              <a:ext uri="{FF2B5EF4-FFF2-40B4-BE49-F238E27FC236}">
                <a16:creationId xmlns:a16="http://schemas.microsoft.com/office/drawing/2014/main" id="{9A8FA9AD-0E1D-35F6-18B9-3EF66776F42F}"/>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4" name="Chevron 11">
            <a:extLst>
              <a:ext uri="{FF2B5EF4-FFF2-40B4-BE49-F238E27FC236}">
                <a16:creationId xmlns:a16="http://schemas.microsoft.com/office/drawing/2014/main" id="{B80A9B91-B735-5AE5-624C-DB7BEDA3051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7FA18697-4D57-2182-57FD-2996F95EC0BB}"/>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21" name="テキスト ボックス 20">
            <a:extLst>
              <a:ext uri="{FF2B5EF4-FFF2-40B4-BE49-F238E27FC236}">
                <a16:creationId xmlns:a16="http://schemas.microsoft.com/office/drawing/2014/main" id="{571916BE-9BC4-A308-6573-898FC7A47F6B}"/>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23" name="テキスト ボックス 22">
            <a:extLst>
              <a:ext uri="{FF2B5EF4-FFF2-40B4-BE49-F238E27FC236}">
                <a16:creationId xmlns:a16="http://schemas.microsoft.com/office/drawing/2014/main" id="{25C076BB-0677-F238-39C9-02E4D26A9F90}"/>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8" name="四角形: 角を丸くする 7">
            <a:extLst>
              <a:ext uri="{FF2B5EF4-FFF2-40B4-BE49-F238E27FC236}">
                <a16:creationId xmlns:a16="http://schemas.microsoft.com/office/drawing/2014/main" id="{3ED11842-B942-C94A-F612-AD82710C5323}"/>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D8CB4BBB-DB36-4D1D-81B3-0D31B056245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B8E2DC18-3E5E-447C-CEDF-5068AF4D0A32}"/>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四角形: 角を丸くする 24">
            <a:extLst>
              <a:ext uri="{FF2B5EF4-FFF2-40B4-BE49-F238E27FC236}">
                <a16:creationId xmlns:a16="http://schemas.microsoft.com/office/drawing/2014/main" id="{5D50EF2A-1185-0E22-D912-9AEA3CB774BC}"/>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四角形: 角を丸くする 26">
            <a:extLst>
              <a:ext uri="{FF2B5EF4-FFF2-40B4-BE49-F238E27FC236}">
                <a16:creationId xmlns:a16="http://schemas.microsoft.com/office/drawing/2014/main" id="{95CDFDF2-ACE7-3D27-F326-7F888F2AC7B9}"/>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5" name="TextBox 84"/>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ポップアップ</a:t>
            </a:r>
          </a:p>
          <a:p>
            <a:pPr algn="l">
              <a:lnSpc>
                <a:spcPct val="105000"/>
              </a:lnSpc>
              <a:spcAft>
                <a:spcPts val="200"/>
              </a:spcAft>
            </a:pPr>
            <a:r>
              <a:rPr sz="1200" b="0">
                <a:solidFill>
                  <a:srgbClr val="333333"/>
                </a:solidFill>
                <a:latin typeface="メイリオ"/>
                <a:ea typeface="メイリオ"/>
                <a:cs typeface="メイリオ"/>
              </a:rPr>
              <a:t>サイトを離れる方をLINEへ</a:t>
            </a:r>
          </a:p>
        </p:txBody>
      </p:sp>
      <p:sp>
        <p:nvSpPr>
          <p:cNvPr id="86" name="Rectangle 85"/>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87" name="Rectangle 86"/>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求人を見る</a:t>
            </a:r>
          </a:p>
        </p:txBody>
      </p:sp>
      <p:sp>
        <p:nvSpPr>
          <p:cNvPr id="88" name="TextBox 87"/>
          <p:cNvSpPr txBox="1"/>
          <p:nvPr/>
        </p:nvSpPr>
        <p:spPr>
          <a:xfrm>
            <a:off x="1152144" y="337870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89" name="Rectangle 88"/>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0" name="Rectangle 89"/>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応募せずに離れようとする</a:t>
            </a:r>
          </a:p>
        </p:txBody>
      </p:sp>
      <p:sp>
        <p:nvSpPr>
          <p:cNvPr id="91" name="TextBox 90"/>
          <p:cNvSpPr txBox="1"/>
          <p:nvPr/>
        </p:nvSpPr>
        <p:spPr>
          <a:xfrm>
            <a:off x="1152144" y="4261104"/>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2" name="Rectangle 91"/>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3" name="Rectangle 92"/>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ポップアップ「LINEで新着求人を受け取る」</a:t>
            </a:r>
          </a:p>
        </p:txBody>
      </p:sp>
      <p:sp>
        <p:nvSpPr>
          <p:cNvPr id="94" name="TextBox 93"/>
          <p:cNvSpPr txBox="1"/>
          <p:nvPr/>
        </p:nvSpPr>
        <p:spPr>
          <a:xfrm>
            <a:off x="1152144" y="5143500"/>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5" name="Rectangle 94"/>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96" name="Rectangle 95"/>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97" name="TextBox 96"/>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応募せずに離れる方を、LINEで追える友だちにする</a:t>
            </a:r>
          </a:p>
        </p:txBody>
      </p:sp>
      <p:sp>
        <p:nvSpPr>
          <p:cNvPr id="98" name="TextBox 97"/>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求人ページを見て、応募せずに離れる方</a:t>
            </a:r>
          </a:p>
        </p:txBody>
      </p:sp>
      <p:sp>
        <p:nvSpPr>
          <p:cNvPr id="99" name="TextBox 98"/>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離れるタイミングで表示。開始時期・エリアに合う求人がLINEで届くと訴求</a:t>
            </a:r>
          </a:p>
        </p:txBody>
      </p:sp>
      <p:sp>
        <p:nvSpPr>
          <p:cNvPr id="100" name="TextBox 99"/>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表示回数・クリック率・友だち追加数（月 約680〜710人）</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AFF39C41-BBAA-4AF0-A049-DFB0AE8E1584}"/>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04911599-3976-0BE2-40B0-51ACC39CBFED}"/>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即時分類</a:t>
            </a:r>
          </a:p>
        </p:txBody>
      </p:sp>
      <p:sp>
        <p:nvSpPr>
          <p:cNvPr id="51" name="Chevron 13">
            <a:extLst>
              <a:ext uri="{FF2B5EF4-FFF2-40B4-BE49-F238E27FC236}">
                <a16:creationId xmlns:a16="http://schemas.microsoft.com/office/drawing/2014/main" id="{F4A886C9-FE65-EAF2-0560-7B118F2A0853}"/>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8844DA0-F5E5-1A45-00EC-394320B24C31}"/>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7" name="Chevron 11">
            <a:extLst>
              <a:ext uri="{FF2B5EF4-FFF2-40B4-BE49-F238E27FC236}">
                <a16:creationId xmlns:a16="http://schemas.microsoft.com/office/drawing/2014/main" id="{F724F92B-580B-B89B-155A-257BE4A243F8}"/>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2FC80F6A-1EC7-915D-082F-12807C0FBB3F}"/>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83FEBD46-AE15-A94C-5D92-AAB331223E06}"/>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1" name="テキスト ボックス 70">
            <a:extLst>
              <a:ext uri="{FF2B5EF4-FFF2-40B4-BE49-F238E27FC236}">
                <a16:creationId xmlns:a16="http://schemas.microsoft.com/office/drawing/2014/main" id="{04C13BD3-240E-4D3F-E67B-71FB080F80EA}"/>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73" name="テキスト ボックス 72">
            <a:extLst>
              <a:ext uri="{FF2B5EF4-FFF2-40B4-BE49-F238E27FC236}">
                <a16:creationId xmlns:a16="http://schemas.microsoft.com/office/drawing/2014/main" id="{6F7EC4A8-A113-362B-E4F8-1ABE0311DEDC}"/>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44766F87-46C0-5918-4D18-E86304A53499}"/>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77" name="正方形/長方形 76">
            <a:extLst>
              <a:ext uri="{FF2B5EF4-FFF2-40B4-BE49-F238E27FC236}">
                <a16:creationId xmlns:a16="http://schemas.microsoft.com/office/drawing/2014/main" id="{9B95ECD3-1A7E-924D-3F0F-41FC24730C6B}"/>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1" name="正方形/長方形 90">
            <a:extLst>
              <a:ext uri="{FF2B5EF4-FFF2-40B4-BE49-F238E27FC236}">
                <a16:creationId xmlns:a16="http://schemas.microsoft.com/office/drawing/2014/main" id="{23860B2B-6C5B-ADF7-C12E-AF8E17FF13B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3" name="Pentagon 10">
            <a:extLst>
              <a:ext uri="{FF2B5EF4-FFF2-40B4-BE49-F238E27FC236}">
                <a16:creationId xmlns:a16="http://schemas.microsoft.com/office/drawing/2014/main" id="{B7A320F8-6ED0-8FDE-8D8D-FA43DDE77D55}"/>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6E5F2CF6-FF83-E04E-9531-1DC5EE779FAE}"/>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B164AAA0-8B15-6967-1000-89ADA1733066}"/>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77B323D-2B30-D972-4650-75C5772F0DFD}"/>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8596EDD7-92C6-DCF0-41B5-5C2035C55EF9}"/>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D8D0F28C-4241-75CC-7936-4CB65160DD9F}"/>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05" name="Chevron 12">
            <a:extLst>
              <a:ext uri="{FF2B5EF4-FFF2-40B4-BE49-F238E27FC236}">
                <a16:creationId xmlns:a16="http://schemas.microsoft.com/office/drawing/2014/main" id="{1EFB2CD0-8FEA-F120-3BD8-EB2D15D982D1}"/>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07" name="テキスト ボックス 106">
            <a:extLst>
              <a:ext uri="{FF2B5EF4-FFF2-40B4-BE49-F238E27FC236}">
                <a16:creationId xmlns:a16="http://schemas.microsoft.com/office/drawing/2014/main" id="{D63C1B14-4B6B-558C-38F0-B4738CA178DB}"/>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四角形: 角を丸くする 3">
            <a:extLst>
              <a:ext uri="{FF2B5EF4-FFF2-40B4-BE49-F238E27FC236}">
                <a16:creationId xmlns:a16="http://schemas.microsoft.com/office/drawing/2014/main" id="{3F141C4D-4CEC-0747-B5CB-58BA10FE3830}"/>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0BC92DCD-F746-7AC5-0C7C-F6039EE861B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2DCC85EB-7726-39A6-E767-A7E7AF9FC9AF}"/>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D941B869-0BE3-91CA-64FF-DE13FF4539A3}"/>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F7F5C7CD-143E-D046-95E0-587BA9375C6D}"/>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8" name="TextBox 107"/>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適正バイト診断</a:t>
            </a:r>
          </a:p>
          <a:p>
            <a:pPr algn="l">
              <a:lnSpc>
                <a:spcPct val="105000"/>
              </a:lnSpc>
              <a:spcAft>
                <a:spcPts val="200"/>
              </a:spcAft>
            </a:pPr>
            <a:r>
              <a:rPr sz="1200" b="0">
                <a:solidFill>
                  <a:srgbClr val="333333"/>
                </a:solidFill>
                <a:latin typeface="メイリオ"/>
                <a:ea typeface="メイリオ"/>
                <a:cs typeface="メイリオ"/>
              </a:rPr>
              <a:t>今のアンケート3問の答えで、合う求人を出す</a:t>
            </a:r>
          </a:p>
        </p:txBody>
      </p:sp>
      <p:sp>
        <p:nvSpPr>
          <p:cNvPr id="109" name="Rectangle 108"/>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10" name="Rectangle 109"/>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友だち追加</a:t>
            </a:r>
          </a:p>
        </p:txBody>
      </p:sp>
      <p:sp>
        <p:nvSpPr>
          <p:cNvPr id="111" name="TextBox 110"/>
          <p:cNvSpPr txBox="1"/>
          <p:nvPr/>
        </p:nvSpPr>
        <p:spPr>
          <a:xfrm>
            <a:off x="1152144" y="337870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2" name="Rectangle 111"/>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13" name="Rectangle 112"/>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3問タップ（エントリー状況・開始時期・エリア）</a:t>
            </a:r>
          </a:p>
        </p:txBody>
      </p:sp>
      <p:sp>
        <p:nvSpPr>
          <p:cNvPr id="114" name="TextBox 113"/>
          <p:cNvSpPr txBox="1"/>
          <p:nvPr/>
        </p:nvSpPr>
        <p:spPr>
          <a:xfrm>
            <a:off x="1152144" y="4261104"/>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5" name="Rectangle 114"/>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6" name="Rectangle 115"/>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結果に合う求人を表示</a:t>
            </a:r>
          </a:p>
        </p:txBody>
      </p:sp>
      <p:sp>
        <p:nvSpPr>
          <p:cNvPr id="117" name="TextBox 116"/>
          <p:cNvSpPr txBox="1"/>
          <p:nvPr/>
        </p:nvSpPr>
        <p:spPr>
          <a:xfrm>
            <a:off x="1152144" y="5143500"/>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8" name="Rectangle 117"/>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9" name="Rectangle 118"/>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答えでタグ付け</a:t>
            </a:r>
          </a:p>
        </p:txBody>
      </p:sp>
      <p:sp>
        <p:nvSpPr>
          <p:cNvPr id="120" name="TextBox 119"/>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追加の直後に、合う求人と配信の出し分けを決める</a:t>
            </a:r>
          </a:p>
        </p:txBody>
      </p:sp>
      <p:sp>
        <p:nvSpPr>
          <p:cNvPr id="121" name="TextBox 120"/>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新しい友だち全員</a:t>
            </a:r>
          </a:p>
        </p:txBody>
      </p:sp>
      <p:sp>
        <p:nvSpPr>
          <p:cNvPr id="122" name="TextBox 121"/>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今のアンケート（エントリー状況・開始時期・エリア）の答えで、合う求人と配信を出し分ける</a:t>
            </a:r>
          </a:p>
        </p:txBody>
      </p:sp>
      <p:sp>
        <p:nvSpPr>
          <p:cNvPr id="123" name="TextBox 122"/>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回答率・結果からの求人クリック</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55FD271-DD54-8C2A-3532-3C2A03D95615}"/>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EED6D7-2A94-A6CB-0BBE-334005590BEA}"/>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1D355FA4-4572-41DB-ADDB-72C9328CFA54}"/>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5" name="Chevron 12">
            <a:extLst>
              <a:ext uri="{FF2B5EF4-FFF2-40B4-BE49-F238E27FC236}">
                <a16:creationId xmlns:a16="http://schemas.microsoft.com/office/drawing/2014/main" id="{35692A60-CF72-AD98-4C83-9F592CF492E0}"/>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66C0F59A-8A6F-2FF8-83E3-2F298F1F2AC0}"/>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55D40F01-14E7-7602-20AC-BAAC200BE3B3}"/>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3" name="テキスト ボックス 72">
            <a:extLst>
              <a:ext uri="{FF2B5EF4-FFF2-40B4-BE49-F238E27FC236}">
                <a16:creationId xmlns:a16="http://schemas.microsoft.com/office/drawing/2014/main" id="{EF5D364D-D947-42EA-9004-919D75BD67E2}"/>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75" name="テキスト ボックス 74">
            <a:extLst>
              <a:ext uri="{FF2B5EF4-FFF2-40B4-BE49-F238E27FC236}">
                <a16:creationId xmlns:a16="http://schemas.microsoft.com/office/drawing/2014/main" id="{7D2B1035-4C9A-C019-739F-BAA82A8C0A80}"/>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E7FB1180-9A4A-AE57-1F59-565896215179}"/>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0B0B60C6-5DCD-AEAE-569B-FA25089F13B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A4623768-2D8F-7D2D-6B3F-6C18DF141747}"/>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0A113B5-1B73-69E4-E6AB-E295D6D4D7F6}"/>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9C383105-7C60-9319-5CDD-067E90A78396}"/>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F9F43CC2-32B7-852A-1FBD-45B2EB27CFB5}"/>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1" name="正方形/長方形 10">
            <a:extLst>
              <a:ext uri="{FF2B5EF4-FFF2-40B4-BE49-F238E27FC236}">
                <a16:creationId xmlns:a16="http://schemas.microsoft.com/office/drawing/2014/main" id="{B493BCB4-E00B-E0BE-D79E-5C1F31081B18}"/>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正方形/長方形 12">
            <a:extLst>
              <a:ext uri="{FF2B5EF4-FFF2-40B4-BE49-F238E27FC236}">
                <a16:creationId xmlns:a16="http://schemas.microsoft.com/office/drawing/2014/main" id="{59ADA20E-51F8-4962-4E73-FE0A21ED1C8D}"/>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5" name="Chevron 12">
            <a:extLst>
              <a:ext uri="{FF2B5EF4-FFF2-40B4-BE49-F238E27FC236}">
                <a16:creationId xmlns:a16="http://schemas.microsoft.com/office/drawing/2014/main" id="{49BBC152-C183-765C-41EA-73A50F842FCD}"/>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6961C103-0619-18B0-5114-11BA2CE4CF4F}"/>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9" name="Chevron 11">
            <a:extLst>
              <a:ext uri="{FF2B5EF4-FFF2-40B4-BE49-F238E27FC236}">
                <a16:creationId xmlns:a16="http://schemas.microsoft.com/office/drawing/2014/main" id="{D8CD547B-AAA5-239F-5275-F1E6B4C136D6}"/>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1" name="テキスト ボックス 20">
            <a:extLst>
              <a:ext uri="{FF2B5EF4-FFF2-40B4-BE49-F238E27FC236}">
                <a16:creationId xmlns:a16="http://schemas.microsoft.com/office/drawing/2014/main" id="{8F8D1CD4-558F-D99F-A672-878D8BA20B74}"/>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4" name="四角形: 角を丸くする 3">
            <a:extLst>
              <a:ext uri="{FF2B5EF4-FFF2-40B4-BE49-F238E27FC236}">
                <a16:creationId xmlns:a16="http://schemas.microsoft.com/office/drawing/2014/main" id="{C8DD6A89-9E15-EF97-006E-AAD167825BE6}"/>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四角形: 角を丸くする 6">
            <a:extLst>
              <a:ext uri="{FF2B5EF4-FFF2-40B4-BE49-F238E27FC236}">
                <a16:creationId xmlns:a16="http://schemas.microsoft.com/office/drawing/2014/main" id="{B0607C34-BCAC-36D4-6E5B-D4E83859DFE4}"/>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四角形: 角を丸くする 8">
            <a:extLst>
              <a:ext uri="{FF2B5EF4-FFF2-40B4-BE49-F238E27FC236}">
                <a16:creationId xmlns:a16="http://schemas.microsoft.com/office/drawing/2014/main" id="{EA7B3E98-3D68-0C62-992B-836D9101D96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四角形: 角を丸くする 11">
            <a:extLst>
              <a:ext uri="{FF2B5EF4-FFF2-40B4-BE49-F238E27FC236}">
                <a16:creationId xmlns:a16="http://schemas.microsoft.com/office/drawing/2014/main" id="{7F965D0E-3CAC-A55D-5335-0187FA81CB54}"/>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四角形: 角を丸くする 15">
            <a:extLst>
              <a:ext uri="{FF2B5EF4-FFF2-40B4-BE49-F238E27FC236}">
                <a16:creationId xmlns:a16="http://schemas.microsoft.com/office/drawing/2014/main" id="{4EC9AAED-0E7E-3F8D-0A4E-056B8E955E7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ステップ配信</a:t>
            </a:r>
          </a:p>
          <a:p>
            <a:pPr algn="l">
              <a:lnSpc>
                <a:spcPct val="105000"/>
              </a:lnSpc>
              <a:spcAft>
                <a:spcPts val="200"/>
              </a:spcAft>
            </a:pPr>
            <a:r>
              <a:rPr sz="1200" b="0">
                <a:solidFill>
                  <a:srgbClr val="333333"/>
                </a:solidFill>
                <a:latin typeface="メイリオ"/>
                <a:ea typeface="メイリオ"/>
                <a:cs typeface="メイリオ"/>
              </a:rPr>
              <a:t>追加後15日で、ENTRY・カウンセリングへ</a:t>
            </a:r>
          </a:p>
        </p:txBody>
      </p:sp>
      <p:sp>
        <p:nvSpPr>
          <p:cNvPr id="105" name="Rectangle 104"/>
          <p:cNvSpPr/>
          <p:nvPr/>
        </p:nvSpPr>
        <p:spPr>
          <a:xfrm>
            <a:off x="1152144" y="2724912"/>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Day0　診断</a:t>
            </a:r>
          </a:p>
        </p:txBody>
      </p:sp>
      <p:sp>
        <p:nvSpPr>
          <p:cNvPr id="107" name="TextBox 106"/>
          <p:cNvSpPr txBox="1"/>
          <p:nvPr/>
        </p:nvSpPr>
        <p:spPr>
          <a:xfrm>
            <a:off x="1152144" y="320222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430828"/>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430828"/>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Day1〜2　働き方</a:t>
            </a:r>
          </a:p>
        </p:txBody>
      </p:sp>
      <p:sp>
        <p:nvSpPr>
          <p:cNvPr id="110" name="TextBox 109"/>
          <p:cNvSpPr txBox="1"/>
          <p:nvPr/>
        </p:nvSpPr>
        <p:spPr>
          <a:xfrm>
            <a:off x="1152144" y="3908145"/>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136745"/>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136745"/>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Day3〜4　お金の疑問</a:t>
            </a:r>
          </a:p>
        </p:txBody>
      </p:sp>
      <p:sp>
        <p:nvSpPr>
          <p:cNvPr id="113" name="TextBox 112"/>
          <p:cNvSpPr txBox="1"/>
          <p:nvPr/>
        </p:nvSpPr>
        <p:spPr>
          <a:xfrm>
            <a:off x="1152144" y="4614062"/>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4842662"/>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4842662"/>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Day6〜7　会社の選び方</a:t>
            </a:r>
          </a:p>
        </p:txBody>
      </p:sp>
      <p:sp>
        <p:nvSpPr>
          <p:cNvPr id="116" name="TextBox 115"/>
          <p:cNvSpPr txBox="1"/>
          <p:nvPr/>
        </p:nvSpPr>
        <p:spPr>
          <a:xfrm>
            <a:off x="1152144" y="5319979"/>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7" name="Rectangle 116"/>
          <p:cNvSpPr/>
          <p:nvPr/>
        </p:nvSpPr>
        <p:spPr>
          <a:xfrm>
            <a:off x="1152144" y="5548579"/>
            <a:ext cx="502920" cy="4864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5</a:t>
            </a:r>
          </a:p>
        </p:txBody>
      </p:sp>
      <p:sp>
        <p:nvSpPr>
          <p:cNvPr id="118" name="Rectangle 117"/>
          <p:cNvSpPr/>
          <p:nvPr/>
        </p:nvSpPr>
        <p:spPr>
          <a:xfrm>
            <a:off x="1655064" y="5548579"/>
            <a:ext cx="3611880" cy="486460"/>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Day10〜15　ENTRY</a:t>
            </a:r>
          </a:p>
        </p:txBody>
      </p:sp>
      <p:sp>
        <p:nvSpPr>
          <p:cNvPr id="119" name="TextBox 118"/>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追加から15日で、ENTRYまで信頼を積み上げる</a:t>
            </a:r>
          </a:p>
        </p:txBody>
      </p:sp>
      <p:sp>
        <p:nvSpPr>
          <p:cNvPr id="120" name="TextBox 119"/>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その月の新しい友だち</a:t>
            </a:r>
          </a:p>
        </p:txBody>
      </p:sp>
      <p:sp>
        <p:nvSpPr>
          <p:cNvPr id="121" name="TextBox 120"/>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前後検索「派遣 登録」の順番に合わせた5通（24ページ）</a:t>
            </a:r>
          </a:p>
        </p:txBody>
      </p:sp>
      <p:sp>
        <p:nvSpPr>
          <p:cNvPr id="122" name="TextBox 121"/>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各通のクリック率・ENTRY数</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868997F-46B4-7BA9-BC42-4A9C872CA868}"/>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9D47B23B-3577-8555-FFA8-3F6625859F4B}"/>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分岐育成</a:t>
            </a:r>
          </a:p>
        </p:txBody>
      </p:sp>
      <p:sp>
        <p:nvSpPr>
          <p:cNvPr id="51" name="Chevron 13">
            <a:extLst>
              <a:ext uri="{FF2B5EF4-FFF2-40B4-BE49-F238E27FC236}">
                <a16:creationId xmlns:a16="http://schemas.microsoft.com/office/drawing/2014/main" id="{D8820E1E-FCC6-0351-0262-F0A662620D7E}"/>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59" name="Chevron 13">
            <a:extLst>
              <a:ext uri="{FF2B5EF4-FFF2-40B4-BE49-F238E27FC236}">
                <a16:creationId xmlns:a16="http://schemas.microsoft.com/office/drawing/2014/main" id="{42A824CD-AD31-00AF-D740-24B8329BA211}"/>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67" name="テキスト ボックス 66">
            <a:extLst>
              <a:ext uri="{FF2B5EF4-FFF2-40B4-BE49-F238E27FC236}">
                <a16:creationId xmlns:a16="http://schemas.microsoft.com/office/drawing/2014/main" id="{D974AD9B-8902-BFDF-E4F0-952CE0B08B09}"/>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75" name="テキスト ボックス 74">
            <a:extLst>
              <a:ext uri="{FF2B5EF4-FFF2-40B4-BE49-F238E27FC236}">
                <a16:creationId xmlns:a16="http://schemas.microsoft.com/office/drawing/2014/main" id="{9D71AFEB-56DC-574C-A3FE-D6ED52BB3648}"/>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C35DFC7-047F-4445-6485-A587DE019B83}"/>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37CAF156-89B2-5154-8249-AED0CB0552E6}"/>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40555260-5155-C957-DF45-AA2E0C3AF2D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D2BD5B61-1C23-D5EA-685B-AB00A3A95300}"/>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ABA0293E-0A1C-8B4C-AC25-F1D65105B112}"/>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436E3F3-B650-6233-648E-9FCBA0908DC8}"/>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66ED729F-B19D-D81D-6F94-82B592CBD5C0}"/>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B46A1456-9D10-C361-8904-956CBC7F1CD7}"/>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4" name="正方形/長方形 3">
            <a:extLst>
              <a:ext uri="{FF2B5EF4-FFF2-40B4-BE49-F238E27FC236}">
                <a16:creationId xmlns:a16="http://schemas.microsoft.com/office/drawing/2014/main" id="{F308840B-61C6-BA05-C93D-D818E6E827C3}"/>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6DFDE99D-1BE1-0B34-3609-FD827D701531}"/>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9" name="Chevron 12">
            <a:extLst>
              <a:ext uri="{FF2B5EF4-FFF2-40B4-BE49-F238E27FC236}">
                <a16:creationId xmlns:a16="http://schemas.microsoft.com/office/drawing/2014/main" id="{1EE7C547-FD59-69A9-89BE-65E5F3370324}"/>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2" name="テキスト ボックス 11">
            <a:extLst>
              <a:ext uri="{FF2B5EF4-FFF2-40B4-BE49-F238E27FC236}">
                <a16:creationId xmlns:a16="http://schemas.microsoft.com/office/drawing/2014/main" id="{BB4C9F68-E568-903C-F9CF-8C2C3C5BF6C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6" name="Chevron 11">
            <a:extLst>
              <a:ext uri="{FF2B5EF4-FFF2-40B4-BE49-F238E27FC236}">
                <a16:creationId xmlns:a16="http://schemas.microsoft.com/office/drawing/2014/main" id="{2047273C-15BE-5CA7-505C-5A86165CEAE9}"/>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201F0B06-F741-FC93-4675-CFD629658555}"/>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四角形: 角を丸くする 5">
            <a:extLst>
              <a:ext uri="{FF2B5EF4-FFF2-40B4-BE49-F238E27FC236}">
                <a16:creationId xmlns:a16="http://schemas.microsoft.com/office/drawing/2014/main" id="{EB887024-2BBA-BA65-7274-B6C19830B375}"/>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EF085179-F637-C078-F968-9B03AFE0C41E}"/>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四角形: 角を丸くする 12">
            <a:extLst>
              <a:ext uri="{FF2B5EF4-FFF2-40B4-BE49-F238E27FC236}">
                <a16:creationId xmlns:a16="http://schemas.microsoft.com/office/drawing/2014/main" id="{D54D3EDD-30AC-24FB-8D5A-5513D1411FF3}"/>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A1BBBE87-752F-09D4-9E13-13A9F878286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D870C123-133D-9CF1-6418-078AA9217B26}"/>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開始時期・エリア別の配信</a:t>
            </a:r>
          </a:p>
          <a:p>
            <a:pPr algn="l">
              <a:lnSpc>
                <a:spcPct val="105000"/>
              </a:lnSpc>
              <a:spcAft>
                <a:spcPts val="200"/>
              </a:spcAft>
            </a:pPr>
            <a:r>
              <a:rPr sz="1200" b="0">
                <a:solidFill>
                  <a:srgbClr val="333333"/>
                </a:solidFill>
                <a:latin typeface="メイリオ"/>
                <a:ea typeface="メイリオ"/>
                <a:cs typeface="メイリオ"/>
              </a:rPr>
              <a:t>診断の答えで、配信を出し分ける</a:t>
            </a:r>
          </a:p>
        </p:txBody>
      </p:sp>
      <p:sp>
        <p:nvSpPr>
          <p:cNvPr id="105" name="Rectangle 104"/>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診断の答え（開始時期・エリア）</a:t>
            </a:r>
          </a:p>
        </p:txBody>
      </p:sp>
      <p:sp>
        <p:nvSpPr>
          <p:cNvPr id="107" name="TextBox 106"/>
          <p:cNvSpPr txBox="1"/>
          <p:nvPr/>
        </p:nvSpPr>
        <p:spPr>
          <a:xfrm>
            <a:off x="1152144" y="337870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タグで分ける</a:t>
            </a:r>
          </a:p>
        </p:txBody>
      </p:sp>
      <p:sp>
        <p:nvSpPr>
          <p:cNvPr id="110" name="TextBox 109"/>
          <p:cNvSpPr txBox="1"/>
          <p:nvPr/>
        </p:nvSpPr>
        <p:spPr>
          <a:xfrm>
            <a:off x="1152144" y="4261104"/>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合う求人だけを配信</a:t>
            </a:r>
          </a:p>
        </p:txBody>
      </p:sp>
      <p:sp>
        <p:nvSpPr>
          <p:cNvPr id="113" name="TextBox 112"/>
          <p:cNvSpPr txBox="1"/>
          <p:nvPr/>
        </p:nvSpPr>
        <p:spPr>
          <a:xfrm>
            <a:off x="1152144" y="5143500"/>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応募</a:t>
            </a:r>
          </a:p>
        </p:txBody>
      </p:sp>
      <p:sp>
        <p:nvSpPr>
          <p:cNvPr id="116" name="TextBox 11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全員への配信をやめ、合う求人だけを届けてブロックを減らす</a:t>
            </a:r>
          </a:p>
        </p:txBody>
      </p:sp>
      <p:sp>
        <p:nvSpPr>
          <p:cNvPr id="117" name="TextBox 11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開始時期・エリアに答えた友だち</a:t>
            </a:r>
          </a:p>
        </p:txBody>
      </p:sp>
      <p:sp>
        <p:nvSpPr>
          <p:cNvPr id="118" name="TextBox 11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例：12月開始×山・高原 → スキー場の求人／1〜2か月先×海・離島 → 海・離島の求人</a:t>
            </a:r>
          </a:p>
        </p:txBody>
      </p:sp>
      <p:sp>
        <p:nvSpPr>
          <p:cNvPr id="119" name="TextBox 11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ブロック率・クリック率（全員への配信と比べる）</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C88AC88B-A817-4005-424A-224DED0BFBAF}"/>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CA1675F9-B5FA-2EC4-257D-CF7E4918BA44}"/>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分岐育成</a:t>
            </a:r>
          </a:p>
        </p:txBody>
      </p:sp>
      <p:sp>
        <p:nvSpPr>
          <p:cNvPr id="4" name="Chevron 13">
            <a:extLst>
              <a:ext uri="{FF2B5EF4-FFF2-40B4-BE49-F238E27FC236}">
                <a16:creationId xmlns:a16="http://schemas.microsoft.com/office/drawing/2014/main" id="{E810FD3A-0007-FF3D-2EE2-9D3DBDBDF9B7}"/>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 name="Chevron 12">
            <a:extLst>
              <a:ext uri="{FF2B5EF4-FFF2-40B4-BE49-F238E27FC236}">
                <a16:creationId xmlns:a16="http://schemas.microsoft.com/office/drawing/2014/main" id="{FDD7F035-7D30-BE00-2E6D-62EECA96060F}"/>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 name="Chevron 11">
            <a:extLst>
              <a:ext uri="{FF2B5EF4-FFF2-40B4-BE49-F238E27FC236}">
                <a16:creationId xmlns:a16="http://schemas.microsoft.com/office/drawing/2014/main" id="{62FA9A97-2CD9-6261-526D-BDC7E9F59914}"/>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1" name="Chevron 13">
            <a:extLst>
              <a:ext uri="{FF2B5EF4-FFF2-40B4-BE49-F238E27FC236}">
                <a16:creationId xmlns:a16="http://schemas.microsoft.com/office/drawing/2014/main" id="{1F077936-19EC-1BA9-8307-61A4C0787876}"/>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3" name="テキスト ボックス 12">
            <a:extLst>
              <a:ext uri="{FF2B5EF4-FFF2-40B4-BE49-F238E27FC236}">
                <a16:creationId xmlns:a16="http://schemas.microsoft.com/office/drawing/2014/main" id="{BA3C3F08-3D41-4AB0-6301-E28F75F92824}"/>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15" name="テキスト ボックス 14">
            <a:extLst>
              <a:ext uri="{FF2B5EF4-FFF2-40B4-BE49-F238E27FC236}">
                <a16:creationId xmlns:a16="http://schemas.microsoft.com/office/drawing/2014/main" id="{5FB88429-899A-764B-8985-89BDCA69FA89}"/>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17" name="テキスト ボックス 16">
            <a:extLst>
              <a:ext uri="{FF2B5EF4-FFF2-40B4-BE49-F238E27FC236}">
                <a16:creationId xmlns:a16="http://schemas.microsoft.com/office/drawing/2014/main" id="{B7136484-8522-1579-D263-EAACFB1889EB}"/>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19" name="テキスト ボックス 18">
            <a:extLst>
              <a:ext uri="{FF2B5EF4-FFF2-40B4-BE49-F238E27FC236}">
                <a16:creationId xmlns:a16="http://schemas.microsoft.com/office/drawing/2014/main" id="{4979BDA7-0F1E-E435-A28C-9423621EC42F}"/>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27" name="Chevron 11">
            <a:extLst>
              <a:ext uri="{FF2B5EF4-FFF2-40B4-BE49-F238E27FC236}">
                <a16:creationId xmlns:a16="http://schemas.microsoft.com/office/drawing/2014/main" id="{71817687-7D9D-3B4B-F550-ACDFD57436B2}"/>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9" name="Chevron 11">
            <a:extLst>
              <a:ext uri="{FF2B5EF4-FFF2-40B4-BE49-F238E27FC236}">
                <a16:creationId xmlns:a16="http://schemas.microsoft.com/office/drawing/2014/main" id="{554D37E9-1335-2651-1815-E7257F5AF134}"/>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1" name="テキスト ボックス 30">
            <a:extLst>
              <a:ext uri="{FF2B5EF4-FFF2-40B4-BE49-F238E27FC236}">
                <a16:creationId xmlns:a16="http://schemas.microsoft.com/office/drawing/2014/main" id="{E5FD654E-DA39-F87F-E126-D2CA3BCFECFA}"/>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33" name="テキスト ボックス 32">
            <a:extLst>
              <a:ext uri="{FF2B5EF4-FFF2-40B4-BE49-F238E27FC236}">
                <a16:creationId xmlns:a16="http://schemas.microsoft.com/office/drawing/2014/main" id="{ABCB2BE8-6C91-F80E-49A7-AA2E377146D3}"/>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37" name="Chevron 12">
            <a:extLst>
              <a:ext uri="{FF2B5EF4-FFF2-40B4-BE49-F238E27FC236}">
                <a16:creationId xmlns:a16="http://schemas.microsoft.com/office/drawing/2014/main" id="{35150713-047B-D9D4-872A-3A7863929939}"/>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39" name="テキスト ボックス 38">
            <a:extLst>
              <a:ext uri="{FF2B5EF4-FFF2-40B4-BE49-F238E27FC236}">
                <a16:creationId xmlns:a16="http://schemas.microsoft.com/office/drawing/2014/main" id="{D2ED9B44-C4F0-1A57-C3AD-9651A637F2B6}"/>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84" name="正方形/長方形 83">
            <a:extLst>
              <a:ext uri="{FF2B5EF4-FFF2-40B4-BE49-F238E27FC236}">
                <a16:creationId xmlns:a16="http://schemas.microsoft.com/office/drawing/2014/main" id="{3F86528F-074B-2CD3-B672-1A9E0ADF36DE}"/>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86" name="Pentagon 10">
            <a:extLst>
              <a:ext uri="{FF2B5EF4-FFF2-40B4-BE49-F238E27FC236}">
                <a16:creationId xmlns:a16="http://schemas.microsoft.com/office/drawing/2014/main" id="{BC454E1A-6C9B-81E7-66B6-86546B3BD10E}"/>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88" name="テキスト ボックス 87">
            <a:extLst>
              <a:ext uri="{FF2B5EF4-FFF2-40B4-BE49-F238E27FC236}">
                <a16:creationId xmlns:a16="http://schemas.microsoft.com/office/drawing/2014/main" id="{90007845-B74B-5EB8-01A2-F0D0B3B107AA}"/>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6" name="四角形: 角を丸くする 5">
            <a:extLst>
              <a:ext uri="{FF2B5EF4-FFF2-40B4-BE49-F238E27FC236}">
                <a16:creationId xmlns:a16="http://schemas.microsoft.com/office/drawing/2014/main" id="{4A672F05-4819-7C65-3B2F-FE8247A0F4A9}"/>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四角形: 角を丸くする 9">
            <a:extLst>
              <a:ext uri="{FF2B5EF4-FFF2-40B4-BE49-F238E27FC236}">
                <a16:creationId xmlns:a16="http://schemas.microsoft.com/office/drawing/2014/main" id="{354330A3-6E6E-081D-CE86-E6E991D271E0}"/>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80BEFA75-B102-C230-3C22-72F3A514CEB4}"/>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7F6B650E-CBCB-6054-2356-DEAFE87D97A9}"/>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四角形: 角を丸くする 20">
            <a:extLst>
              <a:ext uri="{FF2B5EF4-FFF2-40B4-BE49-F238E27FC236}">
                <a16:creationId xmlns:a16="http://schemas.microsoft.com/office/drawing/2014/main" id="{F459B5A5-8632-46A3-40F1-E4DEBFD1FCAA}"/>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9" name="TextBox 88"/>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リッチメニュー</a:t>
            </a:r>
          </a:p>
          <a:p>
            <a:pPr algn="l">
              <a:lnSpc>
                <a:spcPct val="105000"/>
              </a:lnSpc>
              <a:spcAft>
                <a:spcPts val="200"/>
              </a:spcAft>
            </a:pPr>
            <a:r>
              <a:rPr sz="1200" b="0">
                <a:solidFill>
                  <a:srgbClr val="333333"/>
                </a:solidFill>
                <a:latin typeface="メイリオ"/>
                <a:ea typeface="メイリオ"/>
                <a:cs typeface="メイリオ"/>
              </a:rPr>
              <a:t>開始月別の求人・相談・ENTRY</a:t>
            </a:r>
          </a:p>
        </p:txBody>
      </p:sp>
      <p:sp>
        <p:nvSpPr>
          <p:cNvPr id="90" name="Rectangle 89"/>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91" name="Rectangle 90"/>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メニューを開く</a:t>
            </a:r>
          </a:p>
        </p:txBody>
      </p:sp>
      <p:sp>
        <p:nvSpPr>
          <p:cNvPr id="92" name="TextBox 91"/>
          <p:cNvSpPr txBox="1"/>
          <p:nvPr/>
        </p:nvSpPr>
        <p:spPr>
          <a:xfrm>
            <a:off x="1152144" y="337870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3" name="Rectangle 92"/>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94" name="Rectangle 93"/>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開始月別の求人</a:t>
            </a:r>
          </a:p>
        </p:txBody>
      </p:sp>
      <p:sp>
        <p:nvSpPr>
          <p:cNvPr id="95" name="TextBox 94"/>
          <p:cNvSpPr txBox="1"/>
          <p:nvPr/>
        </p:nvSpPr>
        <p:spPr>
          <a:xfrm>
            <a:off x="1152144" y="4261104"/>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6" name="Rectangle 95"/>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97" name="Rectangle 96"/>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求人を見る</a:t>
            </a:r>
          </a:p>
        </p:txBody>
      </p:sp>
      <p:sp>
        <p:nvSpPr>
          <p:cNvPr id="98" name="TextBox 97"/>
          <p:cNvSpPr txBox="1"/>
          <p:nvPr/>
        </p:nvSpPr>
        <p:spPr>
          <a:xfrm>
            <a:off x="1152144" y="5143500"/>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99" name="Rectangle 98"/>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00" name="Rectangle 99"/>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会員登録</a:t>
            </a:r>
          </a:p>
        </p:txBody>
      </p:sp>
      <p:sp>
        <p:nvSpPr>
          <p:cNvPr id="101" name="TextBox 100"/>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配信を待たずに、自分で求人とENTRYにたどり着ける</a:t>
            </a:r>
          </a:p>
        </p:txBody>
      </p:sp>
      <p:sp>
        <p:nvSpPr>
          <p:cNvPr id="102" name="TextBox 101"/>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すべての友だち</a:t>
            </a:r>
          </a:p>
        </p:txBody>
      </p:sp>
      <p:sp>
        <p:nvSpPr>
          <p:cNvPr id="103" name="TextBox 102"/>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今の2タブを活かし、上段に開始月別の求人と会員登録。体験談・Q&amp;Aは2つ目のタブ</a:t>
            </a:r>
          </a:p>
        </p:txBody>
      </p:sp>
      <p:sp>
        <p:nvSpPr>
          <p:cNvPr id="104" name="TextBox 103"/>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項目ごとのタップ数</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57E5823-79CB-79CF-DD07-21851266A6F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具体施策のイメージ</a:t>
            </a:r>
          </a:p>
        </p:txBody>
      </p:sp>
      <p:sp>
        <p:nvSpPr>
          <p:cNvPr id="5" name="正方形/長方形 4">
            <a:extLst>
              <a:ext uri="{FF2B5EF4-FFF2-40B4-BE49-F238E27FC236}">
                <a16:creationId xmlns:a16="http://schemas.microsoft.com/office/drawing/2014/main" id="{1E195F02-0BE8-1161-7792-37774CB37C27}"/>
              </a:ext>
            </a:extLst>
          </p:cNvPr>
          <p:cNvSpPr/>
          <p:nvPr/>
        </p:nvSpPr>
        <p:spPr>
          <a:xfrm>
            <a:off x="2659553" y="109691"/>
            <a:ext cx="1992986" cy="326496"/>
          </a:xfrm>
          <a:prstGeom prst="rect">
            <a:avLst/>
          </a:prstGeom>
          <a:solidFill>
            <a:schemeClr val="tx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rgbClr val="FFFFFF"/>
                </a:solidFill>
                <a:latin typeface="メイリオ" panose="020B0604030504040204" pitchFamily="50" charset="-128"/>
                <a:ea typeface="メイリオ" panose="020B0604030504040204" pitchFamily="50" charset="-128"/>
              </a:rPr>
              <a:t>成果回収</a:t>
            </a:r>
          </a:p>
        </p:txBody>
      </p:sp>
      <p:sp>
        <p:nvSpPr>
          <p:cNvPr id="59" name="Chevron 13">
            <a:extLst>
              <a:ext uri="{FF2B5EF4-FFF2-40B4-BE49-F238E27FC236}">
                <a16:creationId xmlns:a16="http://schemas.microsoft.com/office/drawing/2014/main" id="{89590842-2A09-C403-C1A7-D0632594BF04}"/>
              </a:ext>
            </a:extLst>
          </p:cNvPr>
          <p:cNvSpPr/>
          <p:nvPr/>
        </p:nvSpPr>
        <p:spPr>
          <a:xfrm>
            <a:off x="8259306"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75" name="テキスト ボックス 74">
            <a:extLst>
              <a:ext uri="{FF2B5EF4-FFF2-40B4-BE49-F238E27FC236}">
                <a16:creationId xmlns:a16="http://schemas.microsoft.com/office/drawing/2014/main" id="{12D9BFE2-CB63-417C-A20D-B9821D0107A5}"/>
              </a:ext>
            </a:extLst>
          </p:cNvPr>
          <p:cNvSpPr txBox="1"/>
          <p:nvPr/>
        </p:nvSpPr>
        <p:spPr>
          <a:xfrm>
            <a:off x="8544744" y="945378"/>
            <a:ext cx="982079"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リピート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クロスセル</a:t>
            </a:r>
          </a:p>
        </p:txBody>
      </p:sp>
      <p:sp>
        <p:nvSpPr>
          <p:cNvPr id="93" name="Pentagon 10">
            <a:extLst>
              <a:ext uri="{FF2B5EF4-FFF2-40B4-BE49-F238E27FC236}">
                <a16:creationId xmlns:a16="http://schemas.microsoft.com/office/drawing/2014/main" id="{91C9FB43-DBA3-EA85-05DF-AE178836A78D}"/>
              </a:ext>
            </a:extLst>
          </p:cNvPr>
          <p:cNvSpPr/>
          <p:nvPr/>
        </p:nvSpPr>
        <p:spPr>
          <a:xfrm>
            <a:off x="262895" y="795063"/>
            <a:ext cx="1360371" cy="731520"/>
          </a:xfrm>
          <a:prstGeom prst="homePlate">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lang="en-US" altLang="ja-JP" sz="1300" b="1" dirty="0">
              <a:solidFill>
                <a:srgbClr val="FFFFFF"/>
              </a:solidFill>
              <a:latin typeface="メイリオ"/>
              <a:ea typeface="メイリオ"/>
              <a:cs typeface="メイリオ"/>
            </a:endParaRPr>
          </a:p>
        </p:txBody>
      </p:sp>
      <p:sp>
        <p:nvSpPr>
          <p:cNvPr id="95" name="Chevron 11">
            <a:extLst>
              <a:ext uri="{FF2B5EF4-FFF2-40B4-BE49-F238E27FC236}">
                <a16:creationId xmlns:a16="http://schemas.microsoft.com/office/drawing/2014/main" id="{F9CF7B55-ABF2-9927-A557-D4F3EF2DF295}"/>
              </a:ext>
            </a:extLst>
          </p:cNvPr>
          <p:cNvSpPr/>
          <p:nvPr/>
        </p:nvSpPr>
        <p:spPr>
          <a:xfrm>
            <a:off x="129954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7" name="Chevron 11">
            <a:extLst>
              <a:ext uri="{FF2B5EF4-FFF2-40B4-BE49-F238E27FC236}">
                <a16:creationId xmlns:a16="http://schemas.microsoft.com/office/drawing/2014/main" id="{203D985A-07CB-6B2B-4A38-1E9BA4CDA422}"/>
              </a:ext>
            </a:extLst>
          </p:cNvPr>
          <p:cNvSpPr/>
          <p:nvPr/>
        </p:nvSpPr>
        <p:spPr>
          <a:xfrm>
            <a:off x="2459504" y="795063"/>
            <a:ext cx="1482455" cy="731520"/>
          </a:xfrm>
          <a:prstGeom prst="chevron">
            <a:avLst/>
          </a:prstGeom>
          <a:solidFill>
            <a:schemeClr val="accent1"/>
          </a:solidFill>
          <a:ln>
            <a:solidFill>
              <a:schemeClr val="accent1"/>
            </a:solid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99" name="テキスト ボックス 98">
            <a:extLst>
              <a:ext uri="{FF2B5EF4-FFF2-40B4-BE49-F238E27FC236}">
                <a16:creationId xmlns:a16="http://schemas.microsoft.com/office/drawing/2014/main" id="{B3868298-612A-E7EA-3955-A46C112AF68C}"/>
              </a:ext>
            </a:extLst>
          </p:cNvPr>
          <p:cNvSpPr txBox="1"/>
          <p:nvPr/>
        </p:nvSpPr>
        <p:spPr>
          <a:xfrm>
            <a:off x="1616581"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サイト</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離脱</a:t>
            </a:r>
          </a:p>
        </p:txBody>
      </p:sp>
      <p:sp>
        <p:nvSpPr>
          <p:cNvPr id="101" name="テキスト ボックス 100">
            <a:extLst>
              <a:ext uri="{FF2B5EF4-FFF2-40B4-BE49-F238E27FC236}">
                <a16:creationId xmlns:a16="http://schemas.microsoft.com/office/drawing/2014/main" id="{B1C1BD77-0A03-135D-FA57-5809267D4770}"/>
              </a:ext>
            </a:extLst>
          </p:cNvPr>
          <p:cNvSpPr txBox="1"/>
          <p:nvPr/>
        </p:nvSpPr>
        <p:spPr>
          <a:xfrm>
            <a:off x="2787863"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育成</a:t>
            </a:r>
          </a:p>
        </p:txBody>
      </p:sp>
      <p:sp>
        <p:nvSpPr>
          <p:cNvPr id="103" name="テキスト ボックス 102">
            <a:extLst>
              <a:ext uri="{FF2B5EF4-FFF2-40B4-BE49-F238E27FC236}">
                <a16:creationId xmlns:a16="http://schemas.microsoft.com/office/drawing/2014/main" id="{4C224908-2FD0-1514-BACD-7F6558F09AA2}"/>
              </a:ext>
            </a:extLst>
          </p:cNvPr>
          <p:cNvSpPr txBox="1"/>
          <p:nvPr/>
        </p:nvSpPr>
        <p:spPr>
          <a:xfrm>
            <a:off x="445299" y="1030016"/>
            <a:ext cx="811635"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接触</a:t>
            </a:r>
          </a:p>
        </p:txBody>
      </p:sp>
      <p:sp>
        <p:nvSpPr>
          <p:cNvPr id="15" name="Chevron 12">
            <a:extLst>
              <a:ext uri="{FF2B5EF4-FFF2-40B4-BE49-F238E27FC236}">
                <a16:creationId xmlns:a16="http://schemas.microsoft.com/office/drawing/2014/main" id="{8FE0D0D7-6CDA-A5D9-5092-FCB405EBD3A3}"/>
              </a:ext>
            </a:extLst>
          </p:cNvPr>
          <p:cNvSpPr/>
          <p:nvPr/>
        </p:nvSpPr>
        <p:spPr>
          <a:xfrm>
            <a:off x="361946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7" name="テキスト ボックス 16">
            <a:extLst>
              <a:ext uri="{FF2B5EF4-FFF2-40B4-BE49-F238E27FC236}">
                <a16:creationId xmlns:a16="http://schemas.microsoft.com/office/drawing/2014/main" id="{12488706-D231-32C7-26F9-D9CFE1BA5E6C}"/>
              </a:ext>
            </a:extLst>
          </p:cNvPr>
          <p:cNvSpPr txBox="1"/>
          <p:nvPr/>
        </p:nvSpPr>
        <p:spPr>
          <a:xfrm>
            <a:off x="3959145" y="945379"/>
            <a:ext cx="811635" cy="430887"/>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獲得</a:t>
            </a:r>
          </a:p>
        </p:txBody>
      </p:sp>
      <p:sp>
        <p:nvSpPr>
          <p:cNvPr id="16" name="Chevron 11">
            <a:extLst>
              <a:ext uri="{FF2B5EF4-FFF2-40B4-BE49-F238E27FC236}">
                <a16:creationId xmlns:a16="http://schemas.microsoft.com/office/drawing/2014/main" id="{0AE256B2-7E32-A02D-D53F-FF495523BBAD}"/>
              </a:ext>
            </a:extLst>
          </p:cNvPr>
          <p:cNvSpPr/>
          <p:nvPr/>
        </p:nvSpPr>
        <p:spPr>
          <a:xfrm>
            <a:off x="477942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0" name="テキスト ボックス 19">
            <a:extLst>
              <a:ext uri="{FF2B5EF4-FFF2-40B4-BE49-F238E27FC236}">
                <a16:creationId xmlns:a16="http://schemas.microsoft.com/office/drawing/2014/main" id="{EE4FEEB2-BD75-74F5-892E-BB00B34A19C1}"/>
              </a:ext>
            </a:extLst>
          </p:cNvPr>
          <p:cNvSpPr txBox="1"/>
          <p:nvPr/>
        </p:nvSpPr>
        <p:spPr>
          <a:xfrm>
            <a:off x="5130427" y="945378"/>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有効</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リード化</a:t>
            </a:r>
          </a:p>
        </p:txBody>
      </p:sp>
      <p:sp>
        <p:nvSpPr>
          <p:cNvPr id="6" name="正方形/長方形 5">
            <a:extLst>
              <a:ext uri="{FF2B5EF4-FFF2-40B4-BE49-F238E27FC236}">
                <a16:creationId xmlns:a16="http://schemas.microsoft.com/office/drawing/2014/main" id="{2B757B0D-5672-2DBF-99A3-B8B407F70FEA}"/>
              </a:ext>
            </a:extLst>
          </p:cNvPr>
          <p:cNvSpPr/>
          <p:nvPr/>
        </p:nvSpPr>
        <p:spPr>
          <a:xfrm>
            <a:off x="-15984" y="609190"/>
            <a:ext cx="9917132" cy="1034848"/>
          </a:xfrm>
          <a:prstGeom prst="rect">
            <a:avLst/>
          </a:prstGeom>
          <a:solidFill>
            <a:schemeClr val="bg1">
              <a:alpha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BCB263E2-823E-545D-4E23-6526BDDF63F7}"/>
              </a:ext>
            </a:extLst>
          </p:cNvPr>
          <p:cNvSpPr/>
          <p:nvPr/>
        </p:nvSpPr>
        <p:spPr>
          <a:xfrm>
            <a:off x="-15984" y="645907"/>
            <a:ext cx="9930693" cy="1034848"/>
          </a:xfrm>
          <a:prstGeom prst="rect">
            <a:avLst/>
          </a:prstGeom>
          <a:solidFill>
            <a:schemeClr val="bg1">
              <a:lumMod val="95000"/>
              <a:alpha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13" name="Chevron 13">
            <a:extLst>
              <a:ext uri="{FF2B5EF4-FFF2-40B4-BE49-F238E27FC236}">
                <a16:creationId xmlns:a16="http://schemas.microsoft.com/office/drawing/2014/main" id="{E71A1805-4F7A-19B6-8CAB-65DAB13A046F}"/>
              </a:ext>
            </a:extLst>
          </p:cNvPr>
          <p:cNvSpPr/>
          <p:nvPr/>
        </p:nvSpPr>
        <p:spPr>
          <a:xfrm>
            <a:off x="7099344" y="795063"/>
            <a:ext cx="1482455" cy="731520"/>
          </a:xfrm>
          <a:prstGeom prst="chevron">
            <a:avLst/>
          </a:prstGeom>
          <a:solidFill>
            <a:schemeClr val="tx2">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18" name="テキスト ボックス 17">
            <a:extLst>
              <a:ext uri="{FF2B5EF4-FFF2-40B4-BE49-F238E27FC236}">
                <a16:creationId xmlns:a16="http://schemas.microsoft.com/office/drawing/2014/main" id="{A0A85333-5E90-D48C-7292-FEE54783258F}"/>
              </a:ext>
            </a:extLst>
          </p:cNvPr>
          <p:cNvSpPr txBox="1"/>
          <p:nvPr/>
        </p:nvSpPr>
        <p:spPr>
          <a:xfrm>
            <a:off x="7420737" y="1030016"/>
            <a:ext cx="982079" cy="261610"/>
          </a:xfrm>
          <a:prstGeom prst="rect">
            <a:avLst/>
          </a:prstGeom>
          <a:no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マネタイズ</a:t>
            </a:r>
          </a:p>
        </p:txBody>
      </p:sp>
      <p:sp>
        <p:nvSpPr>
          <p:cNvPr id="21" name="Chevron 12">
            <a:extLst>
              <a:ext uri="{FF2B5EF4-FFF2-40B4-BE49-F238E27FC236}">
                <a16:creationId xmlns:a16="http://schemas.microsoft.com/office/drawing/2014/main" id="{1783606B-DD54-1208-7E4B-9811ECD1BB55}"/>
              </a:ext>
            </a:extLst>
          </p:cNvPr>
          <p:cNvSpPr/>
          <p:nvPr/>
        </p:nvSpPr>
        <p:spPr>
          <a:xfrm>
            <a:off x="5939384" y="795063"/>
            <a:ext cx="1482455" cy="731520"/>
          </a:xfrm>
          <a:prstGeom prst="chevron">
            <a:avLst/>
          </a:prstGeom>
          <a:solidFill>
            <a:schemeClr val="accent1">
              <a:lumMod val="75000"/>
            </a:schemeClr>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8288" rIns="228600" bIns="18288" rtlCol="0" anchor="ctr"/>
          <a:lstStyle/>
          <a:p>
            <a:pPr algn="ctr">
              <a:spcAft>
                <a:spcPts val="0"/>
              </a:spcAft>
            </a:pPr>
            <a:endParaRPr sz="1300" b="1" dirty="0">
              <a:solidFill>
                <a:srgbClr val="FFFFFF"/>
              </a:solidFill>
              <a:latin typeface="メイリオ"/>
              <a:ea typeface="メイリオ"/>
              <a:cs typeface="メイリオ"/>
            </a:endParaRPr>
          </a:p>
        </p:txBody>
      </p:sp>
      <p:sp>
        <p:nvSpPr>
          <p:cNvPr id="23" name="テキスト ボックス 22">
            <a:extLst>
              <a:ext uri="{FF2B5EF4-FFF2-40B4-BE49-F238E27FC236}">
                <a16:creationId xmlns:a16="http://schemas.microsoft.com/office/drawing/2014/main" id="{92CDBEB6-422E-01E9-0FE6-2116B0ADE9E3}"/>
              </a:ext>
            </a:extLst>
          </p:cNvPr>
          <p:cNvSpPr txBox="1"/>
          <p:nvPr/>
        </p:nvSpPr>
        <p:spPr>
          <a:xfrm>
            <a:off x="6301709" y="945379"/>
            <a:ext cx="811635" cy="430887"/>
          </a:xfrm>
          <a:prstGeom prst="rect">
            <a:avLst/>
          </a:prstGeom>
          <a:solidFill>
            <a:schemeClr val="accent1">
              <a:lumMod val="75000"/>
            </a:schemeClr>
          </a:solidFill>
          <a:ln>
            <a:noFill/>
          </a:ln>
        </p:spPr>
        <p:txBody>
          <a:bodyPr wrap="square" anchor="ctr">
            <a:spAutoFit/>
          </a:bodyPr>
          <a:lstStyle/>
          <a:p>
            <a:pPr algn="ctr">
              <a:spcAft>
                <a:spcPts val="0"/>
              </a:spcAft>
            </a:pPr>
            <a:r>
              <a:rPr lang="ja-JP" altLang="en-US" sz="1100" b="1" dirty="0">
                <a:solidFill>
                  <a:srgbClr val="FFFFFF"/>
                </a:solidFill>
                <a:latin typeface="メイリオ"/>
                <a:ea typeface="メイリオ"/>
                <a:cs typeface="メイリオ"/>
              </a:rPr>
              <a:t>リード</a:t>
            </a:r>
            <a:endParaRPr lang="en-US" altLang="ja-JP" sz="1100" b="1" dirty="0">
              <a:solidFill>
                <a:srgbClr val="FFFFFF"/>
              </a:solidFill>
              <a:latin typeface="メイリオ"/>
              <a:ea typeface="メイリオ"/>
              <a:cs typeface="メイリオ"/>
            </a:endParaRPr>
          </a:p>
          <a:p>
            <a:pPr algn="ctr">
              <a:spcAft>
                <a:spcPts val="0"/>
              </a:spcAft>
            </a:pPr>
            <a:r>
              <a:rPr lang="ja-JP" altLang="en-US" sz="1100" b="1" dirty="0">
                <a:solidFill>
                  <a:srgbClr val="FFFFFF"/>
                </a:solidFill>
                <a:latin typeface="メイリオ"/>
                <a:ea typeface="メイリオ"/>
                <a:cs typeface="メイリオ"/>
              </a:rPr>
              <a:t>再育成</a:t>
            </a:r>
          </a:p>
        </p:txBody>
      </p:sp>
      <p:sp>
        <p:nvSpPr>
          <p:cNvPr id="4" name="四角形: 角を丸くする 3">
            <a:extLst>
              <a:ext uri="{FF2B5EF4-FFF2-40B4-BE49-F238E27FC236}">
                <a16:creationId xmlns:a16="http://schemas.microsoft.com/office/drawing/2014/main" id="{923FB0AD-5795-4174-961E-6636BB6435AD}"/>
              </a:ext>
            </a:extLst>
          </p:cNvPr>
          <p:cNvSpPr/>
          <p:nvPr/>
        </p:nvSpPr>
        <p:spPr>
          <a:xfrm>
            <a:off x="262895" y="1854926"/>
            <a:ext cx="5885356" cy="435716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四角形: 角を丸くする 7">
            <a:extLst>
              <a:ext uri="{FF2B5EF4-FFF2-40B4-BE49-F238E27FC236}">
                <a16:creationId xmlns:a16="http://schemas.microsoft.com/office/drawing/2014/main" id="{06A126BE-8D6C-B00B-4224-DD59072FF345}"/>
              </a:ext>
            </a:extLst>
          </p:cNvPr>
          <p:cNvSpPr/>
          <p:nvPr/>
        </p:nvSpPr>
        <p:spPr>
          <a:xfrm>
            <a:off x="6261879" y="185492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F4D2433-0552-CC23-D4A0-E5C59759DDB1}"/>
              </a:ext>
            </a:extLst>
          </p:cNvPr>
          <p:cNvSpPr/>
          <p:nvPr/>
        </p:nvSpPr>
        <p:spPr>
          <a:xfrm>
            <a:off x="6261879" y="2947852"/>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四角形: 角を丸くする 13">
            <a:extLst>
              <a:ext uri="{FF2B5EF4-FFF2-40B4-BE49-F238E27FC236}">
                <a16:creationId xmlns:a16="http://schemas.microsoft.com/office/drawing/2014/main" id="{367937DA-B7CA-9F47-D5F6-7CB5CBBCCBBD}"/>
              </a:ext>
            </a:extLst>
          </p:cNvPr>
          <p:cNvSpPr/>
          <p:nvPr/>
        </p:nvSpPr>
        <p:spPr>
          <a:xfrm>
            <a:off x="6261879" y="4049186"/>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四角形: 角を丸くする 21">
            <a:extLst>
              <a:ext uri="{FF2B5EF4-FFF2-40B4-BE49-F238E27FC236}">
                <a16:creationId xmlns:a16="http://schemas.microsoft.com/office/drawing/2014/main" id="{E2E40065-F00C-4873-7138-F81C1E4B9727}"/>
              </a:ext>
            </a:extLst>
          </p:cNvPr>
          <p:cNvSpPr/>
          <p:nvPr/>
        </p:nvSpPr>
        <p:spPr>
          <a:xfrm>
            <a:off x="6278273" y="5177245"/>
            <a:ext cx="3381226" cy="1034848"/>
          </a:xfrm>
          <a:prstGeom prst="roundRect">
            <a:avLst>
              <a:gd name="adj" fmla="val 2754"/>
            </a:avLst>
          </a:prstGeom>
          <a:noFill/>
          <a:ln>
            <a:solidFill>
              <a:schemeClr val="tx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 name="TextBox 103"/>
          <p:cNvSpPr txBox="1"/>
          <p:nvPr/>
        </p:nvSpPr>
        <p:spPr>
          <a:xfrm>
            <a:off x="411480" y="1965959"/>
            <a:ext cx="5577840" cy="685800"/>
          </a:xfrm>
          <a:prstGeom prst="rect">
            <a:avLst/>
          </a:prstGeom>
          <a:noFill/>
        </p:spPr>
        <p:txBody>
          <a:bodyPr wrap="square" lIns="36000" tIns="10800" rIns="36000" bIns="10800" anchor="t">
            <a:spAutoFit/>
          </a:bodyPr>
          <a:lstStyle/>
          <a:p>
            <a:pPr algn="l">
              <a:lnSpc>
                <a:spcPct val="105000"/>
              </a:lnSpc>
              <a:spcAft>
                <a:spcPts val="200"/>
              </a:spcAft>
            </a:pPr>
            <a:r>
              <a:rPr sz="1600" b="1">
                <a:solidFill>
                  <a:srgbClr val="1F2A5C"/>
                </a:solidFill>
                <a:latin typeface="メイリオ"/>
                <a:ea typeface="メイリオ"/>
                <a:cs typeface="メイリオ"/>
              </a:rPr>
              <a:t>サンクスLINE誘導（オプション）</a:t>
            </a:r>
          </a:p>
          <a:p>
            <a:pPr algn="l">
              <a:lnSpc>
                <a:spcPct val="105000"/>
              </a:lnSpc>
              <a:spcAft>
                <a:spcPts val="200"/>
              </a:spcAft>
            </a:pPr>
            <a:r>
              <a:rPr sz="1200" b="0">
                <a:solidFill>
                  <a:srgbClr val="333333"/>
                </a:solidFill>
                <a:latin typeface="メイリオ"/>
                <a:ea typeface="メイリオ"/>
                <a:cs typeface="メイリオ"/>
              </a:rPr>
              <a:t>マイページ登録の完了画面からLINEへ、カウンセリング・応募まで</a:t>
            </a:r>
          </a:p>
        </p:txBody>
      </p:sp>
      <p:sp>
        <p:nvSpPr>
          <p:cNvPr id="105" name="Rectangle 104"/>
          <p:cNvSpPr/>
          <p:nvPr/>
        </p:nvSpPr>
        <p:spPr>
          <a:xfrm>
            <a:off x="1152144" y="2724912"/>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1</a:t>
            </a:r>
          </a:p>
        </p:txBody>
      </p:sp>
      <p:sp>
        <p:nvSpPr>
          <p:cNvPr id="106" name="Rectangle 105"/>
          <p:cNvSpPr/>
          <p:nvPr/>
        </p:nvSpPr>
        <p:spPr>
          <a:xfrm>
            <a:off x="1655064" y="2724912"/>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マイページ登録（応募）</a:t>
            </a:r>
          </a:p>
        </p:txBody>
      </p:sp>
      <p:sp>
        <p:nvSpPr>
          <p:cNvPr id="107" name="TextBox 106"/>
          <p:cNvSpPr txBox="1"/>
          <p:nvPr/>
        </p:nvSpPr>
        <p:spPr>
          <a:xfrm>
            <a:off x="1152144" y="3378708"/>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08" name="Rectangle 107"/>
          <p:cNvSpPr/>
          <p:nvPr/>
        </p:nvSpPr>
        <p:spPr>
          <a:xfrm>
            <a:off x="1152144" y="3607307"/>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2</a:t>
            </a:r>
          </a:p>
        </p:txBody>
      </p:sp>
      <p:sp>
        <p:nvSpPr>
          <p:cNvPr id="109" name="Rectangle 108"/>
          <p:cNvSpPr/>
          <p:nvPr/>
        </p:nvSpPr>
        <p:spPr>
          <a:xfrm>
            <a:off x="1655064" y="3607307"/>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完了画面</a:t>
            </a:r>
          </a:p>
        </p:txBody>
      </p:sp>
      <p:sp>
        <p:nvSpPr>
          <p:cNvPr id="110" name="TextBox 109"/>
          <p:cNvSpPr txBox="1"/>
          <p:nvPr/>
        </p:nvSpPr>
        <p:spPr>
          <a:xfrm>
            <a:off x="1152144" y="4261104"/>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1" name="Rectangle 110"/>
          <p:cNvSpPr/>
          <p:nvPr/>
        </p:nvSpPr>
        <p:spPr>
          <a:xfrm>
            <a:off x="1152144" y="4489704"/>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3</a:t>
            </a:r>
          </a:p>
        </p:txBody>
      </p:sp>
      <p:sp>
        <p:nvSpPr>
          <p:cNvPr id="112" name="Rectangle 111"/>
          <p:cNvSpPr/>
          <p:nvPr/>
        </p:nvSpPr>
        <p:spPr>
          <a:xfrm>
            <a:off x="1655064" y="4489704"/>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LINE友だち追加</a:t>
            </a:r>
          </a:p>
        </p:txBody>
      </p:sp>
      <p:sp>
        <p:nvSpPr>
          <p:cNvPr id="113" name="TextBox 112"/>
          <p:cNvSpPr txBox="1"/>
          <p:nvPr/>
        </p:nvSpPr>
        <p:spPr>
          <a:xfrm>
            <a:off x="1152144" y="5143500"/>
            <a:ext cx="502920" cy="237744"/>
          </a:xfrm>
          <a:prstGeom prst="rect">
            <a:avLst/>
          </a:prstGeom>
          <a:noFill/>
        </p:spPr>
        <p:txBody>
          <a:bodyPr wrap="square" anchor="ctr" lIns="36000" rIns="36000" tIns="10800" bIns="10800">
            <a:spAutoFit/>
          </a:bodyPr>
          <a:lstStyle/>
          <a:p>
            <a:pPr algn="ctr">
              <a:lnSpc>
                <a:spcPct val="105000"/>
              </a:lnSpc>
              <a:spcAft>
                <a:spcPts val="200"/>
              </a:spcAft>
            </a:pPr>
            <a:r>
              <a:rPr sz="900" b="0">
                <a:solidFill>
                  <a:srgbClr val="1F2A5C"/>
                </a:solidFill>
                <a:latin typeface="メイリオ"/>
                <a:ea typeface="メイリオ"/>
                <a:cs typeface="メイリオ"/>
              </a:rPr>
              <a:t>▼</a:t>
            </a:r>
          </a:p>
        </p:txBody>
      </p:sp>
      <p:sp>
        <p:nvSpPr>
          <p:cNvPr id="114" name="Rectangle 113"/>
          <p:cNvSpPr/>
          <p:nvPr/>
        </p:nvSpPr>
        <p:spPr>
          <a:xfrm>
            <a:off x="1152144" y="5372100"/>
            <a:ext cx="502920" cy="662939"/>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600" b="1">
                <a:solidFill>
                  <a:srgbClr val="FFFFFF"/>
                </a:solidFill>
                <a:latin typeface="メイリオ"/>
                <a:ea typeface="メイリオ"/>
                <a:cs typeface="メイリオ"/>
              </a:rPr>
              <a:t>4</a:t>
            </a:r>
          </a:p>
        </p:txBody>
      </p:sp>
      <p:sp>
        <p:nvSpPr>
          <p:cNvPr id="115" name="Rectangle 114"/>
          <p:cNvSpPr/>
          <p:nvPr/>
        </p:nvSpPr>
        <p:spPr>
          <a:xfrm>
            <a:off x="1655064" y="5372100"/>
            <a:ext cx="3611880" cy="662939"/>
          </a:xfrm>
          <a:prstGeom prst="rect">
            <a:avLst/>
          </a:prstGeom>
          <a:solidFill>
            <a:srgbClr val="EEF1F8"/>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0" tIns="18000" rIns="72000" bIns="18000"/>
          <a:lstStyle/>
          <a:p>
            <a:pPr algn="l">
              <a:lnSpc>
                <a:spcPct val="110000"/>
              </a:lnSpc>
              <a:spcAft>
                <a:spcPts val="0"/>
              </a:spcAft>
            </a:pPr>
            <a:r>
              <a:rPr sz="1500" b="1">
                <a:solidFill>
                  <a:srgbClr val="1F2A5C"/>
                </a:solidFill>
                <a:latin typeface="メイリオ"/>
                <a:ea typeface="メイリオ"/>
                <a:cs typeface="メイリオ"/>
              </a:rPr>
              <a:t>受付と次の流れ・専属エージェントの案内</a:t>
            </a:r>
          </a:p>
        </p:txBody>
      </p:sp>
      <p:sp>
        <p:nvSpPr>
          <p:cNvPr id="116" name="TextBox 115"/>
          <p:cNvSpPr txBox="1"/>
          <p:nvPr/>
        </p:nvSpPr>
        <p:spPr>
          <a:xfrm>
            <a:off x="6373368" y="191109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目的</a:t>
            </a:r>
          </a:p>
          <a:p>
            <a:pPr algn="l">
              <a:lnSpc>
                <a:spcPct val="105000"/>
              </a:lnSpc>
              <a:spcAft>
                <a:spcPts val="200"/>
              </a:spcAft>
            </a:pPr>
            <a:r>
              <a:rPr sz="1200" b="0">
                <a:solidFill>
                  <a:srgbClr val="333333"/>
                </a:solidFill>
                <a:latin typeface="メイリオ"/>
                <a:ea typeface="メイリオ"/>
                <a:cs typeface="メイリオ"/>
              </a:rPr>
              <a:t>登録した方とLINEでつながり、カウンセリング・お仕事開始まで追う</a:t>
            </a:r>
          </a:p>
        </p:txBody>
      </p:sp>
      <p:sp>
        <p:nvSpPr>
          <p:cNvPr id="117" name="TextBox 116"/>
          <p:cNvSpPr txBox="1"/>
          <p:nvPr/>
        </p:nvSpPr>
        <p:spPr>
          <a:xfrm>
            <a:off x="6373368" y="2999232"/>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対象</a:t>
            </a:r>
          </a:p>
          <a:p>
            <a:pPr algn="l">
              <a:lnSpc>
                <a:spcPct val="105000"/>
              </a:lnSpc>
              <a:spcAft>
                <a:spcPts val="200"/>
              </a:spcAft>
            </a:pPr>
            <a:r>
              <a:rPr sz="1200" b="0">
                <a:solidFill>
                  <a:srgbClr val="333333"/>
                </a:solidFill>
                <a:latin typeface="メイリオ"/>
                <a:ea typeface="メイリオ"/>
                <a:cs typeface="メイリオ"/>
              </a:rPr>
              <a:t>マイページ登録を完了した方</a:t>
            </a:r>
          </a:p>
        </p:txBody>
      </p:sp>
      <p:sp>
        <p:nvSpPr>
          <p:cNvPr id="118" name="TextBox 117"/>
          <p:cNvSpPr txBox="1"/>
          <p:nvPr/>
        </p:nvSpPr>
        <p:spPr>
          <a:xfrm>
            <a:off x="6373368" y="4105655"/>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中身</a:t>
            </a:r>
          </a:p>
          <a:p>
            <a:pPr algn="l">
              <a:lnSpc>
                <a:spcPct val="105000"/>
              </a:lnSpc>
              <a:spcAft>
                <a:spcPts val="200"/>
              </a:spcAft>
            </a:pPr>
            <a:r>
              <a:rPr sz="1200" b="0">
                <a:solidFill>
                  <a:srgbClr val="333333"/>
                </a:solidFill>
                <a:latin typeface="メイリオ"/>
                <a:ea typeface="メイリオ"/>
                <a:cs typeface="メイリオ"/>
              </a:rPr>
              <a:t>完了画面からLINEへ。登録の受付・次の流れ・専属エージェントを案内（初期15万円・月額3万円〜）</a:t>
            </a:r>
          </a:p>
        </p:txBody>
      </p:sp>
      <p:sp>
        <p:nvSpPr>
          <p:cNvPr id="119" name="TextBox 118"/>
          <p:cNvSpPr txBox="1"/>
          <p:nvPr/>
        </p:nvSpPr>
        <p:spPr>
          <a:xfrm>
            <a:off x="6373368" y="5230368"/>
            <a:ext cx="3163823" cy="923544"/>
          </a:xfrm>
          <a:prstGeom prst="rect">
            <a:avLst/>
          </a:prstGeom>
          <a:noFill/>
        </p:spPr>
        <p:txBody>
          <a:bodyPr wrap="square" anchor="t" lIns="36000" rIns="36000" tIns="10800" bIns="10800">
            <a:spAutoFit/>
          </a:bodyPr>
          <a:lstStyle/>
          <a:p>
            <a:pPr algn="l">
              <a:lnSpc>
                <a:spcPct val="105000"/>
              </a:lnSpc>
              <a:spcAft>
                <a:spcPts val="200"/>
              </a:spcAft>
            </a:pPr>
            <a:r>
              <a:rPr sz="1350" b="1">
                <a:solidFill>
                  <a:srgbClr val="1F2A5C"/>
                </a:solidFill>
                <a:latin typeface="メイリオ"/>
                <a:ea typeface="メイリオ"/>
                <a:cs typeface="メイリオ"/>
              </a:rPr>
              <a:t>見る数字</a:t>
            </a:r>
          </a:p>
          <a:p>
            <a:pPr algn="l">
              <a:lnSpc>
                <a:spcPct val="105000"/>
              </a:lnSpc>
              <a:spcAft>
                <a:spcPts val="200"/>
              </a:spcAft>
            </a:pPr>
            <a:r>
              <a:rPr sz="1200" b="0">
                <a:solidFill>
                  <a:srgbClr val="333333"/>
                </a:solidFill>
                <a:latin typeface="メイリオ"/>
                <a:ea typeface="メイリオ"/>
                <a:cs typeface="メイリオ"/>
              </a:rPr>
              <a:t>登録した方のうち友だちになった数</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A1A8D-DF9B-DC16-FB09-828A6A4245CB}"/>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F62311B2-8B20-5404-3961-D924DB3A31A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E54327E7-0F08-0D05-B25E-DE55D46BB2EB}"/>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04</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2D19382B-2C00-B10F-B0BE-D0D83D18ADF1}"/>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料金形態</a:t>
            </a:r>
          </a:p>
        </p:txBody>
      </p:sp>
      <p:cxnSp>
        <p:nvCxnSpPr>
          <p:cNvPr id="17" name="直線コネクタ 16">
            <a:extLst>
              <a:ext uri="{FF2B5EF4-FFF2-40B4-BE49-F238E27FC236}">
                <a16:creationId xmlns:a16="http://schemas.microsoft.com/office/drawing/2014/main" id="{017042CD-D697-408D-A1BC-4F66A205DD0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8362433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338"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sp>
        <p:nvSpPr>
          <p:cNvPr id="339" name="Google Shape;156;p7"/>
          <p:cNvSpPr/>
          <p:nvPr/>
        </p:nvSpPr>
        <p:spPr>
          <a:xfrm>
            <a:off x="549000" y="137983"/>
            <a:ext cx="7680960" cy="338554"/>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a:tabLst>
                <a:tab pos="0" algn="l"/>
              </a:tabLst>
            </a:pPr>
            <a:r>
              <a:rPr lang="ja-JP" sz="1600" b="1" u="none" strike="noStrike" dirty="0">
                <a:solidFill>
                  <a:srgbClr val="002060"/>
                </a:solidFill>
                <a:effectLst/>
                <a:uFillTx/>
                <a:latin typeface="メイリオ"/>
                <a:ea typeface="メイリオ"/>
              </a:rPr>
              <a:t>概算お見積り：月33万円で、6か月目に友だち 86,631人・応募 月232件</a:t>
            </a:r>
          </a:p>
        </p:txBody>
      </p:sp>
      <p:cxnSp>
        <p:nvCxnSpPr>
          <p:cNvPr id="340"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341" name="正方形/長方形 4"/>
          <p:cNvSpPr/>
          <p:nvPr/>
        </p:nvSpPr>
        <p:spPr>
          <a:xfrm>
            <a:off x="2613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初期</a:t>
            </a:r>
            <a:endParaRPr lang="en-US" sz="1400" b="0" u="none" strike="noStrike">
              <a:solidFill>
                <a:srgbClr val="FFFFFF"/>
              </a:solidFill>
              <a:effectLst/>
              <a:uFillTx/>
              <a:latin typeface="メイリオ"/>
            </a:endParaRPr>
          </a:p>
        </p:txBody>
      </p:sp>
      <p:sp>
        <p:nvSpPr>
          <p:cNvPr id="342" name="正方形/長方形 6"/>
          <p:cNvSpPr/>
          <p:nvPr/>
        </p:nvSpPr>
        <p:spPr>
          <a:xfrm>
            <a:off x="3337560" y="1517760"/>
            <a:ext cx="2899440" cy="38376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月次</a:t>
            </a:r>
            <a:endParaRPr lang="en-US" sz="1400" b="0" u="none" strike="noStrike">
              <a:solidFill>
                <a:srgbClr val="FFFFFF"/>
              </a:solidFill>
              <a:effectLst/>
              <a:uFillTx/>
              <a:latin typeface="メイリオ"/>
            </a:endParaRPr>
          </a:p>
        </p:txBody>
      </p:sp>
      <p:sp>
        <p:nvSpPr>
          <p:cNvPr id="343" name="正方形/長方形 7"/>
          <p:cNvSpPr/>
          <p:nvPr/>
        </p:nvSpPr>
        <p:spPr>
          <a:xfrm>
            <a:off x="2613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¥215,000〜</a:t>
            </a:r>
            <a:endParaRPr lang="en-US" sz="1600" b="0" u="none" strike="noStrike">
              <a:solidFill>
                <a:srgbClr val="000000"/>
              </a:solidFill>
              <a:effectLst/>
              <a:uFillTx/>
              <a:latin typeface="メイリオ"/>
            </a:endParaRPr>
          </a:p>
        </p:txBody>
      </p:sp>
      <p:sp>
        <p:nvSpPr>
          <p:cNvPr id="344" name="正方形/長方形 9"/>
          <p:cNvSpPr/>
          <p:nvPr/>
        </p:nvSpPr>
        <p:spPr>
          <a:xfrm>
            <a:off x="3337560" y="1956960"/>
            <a:ext cx="2899440" cy="676440"/>
          </a:xfrm>
          <a:prstGeom prst="rect">
            <a:avLst/>
          </a:prstGeom>
          <a:noFill/>
          <a:ln>
            <a:solidFill>
              <a:srgbClr val="223852"/>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dk1"/>
                </a:solidFill>
                <a:effectLst/>
                <a:uFillTx/>
                <a:latin typeface="メイリオ"/>
                <a:ea typeface="メイリオ"/>
              </a:rPr>
              <a:t>¥330,000〜</a:t>
            </a:r>
            <a:endParaRPr lang="en-US" sz="1600" b="0" u="none" strike="noStrike">
              <a:solidFill>
                <a:srgbClr val="000000"/>
              </a:solidFill>
              <a:effectLst/>
              <a:uFillTx/>
              <a:latin typeface="メイリオ"/>
            </a:endParaRPr>
          </a:p>
        </p:txBody>
      </p:sp>
      <p:sp>
        <p:nvSpPr>
          <p:cNvPr id="345" name="矢印: 右 14"/>
          <p:cNvSpPr/>
          <p:nvPr/>
        </p:nvSpPr>
        <p:spPr>
          <a:xfrm>
            <a:off x="6379200" y="1956960"/>
            <a:ext cx="365400" cy="2797560"/>
          </a:xfrm>
          <a:prstGeom prst="rightArrow">
            <a:avLst>
              <a:gd name="adj1" fmla="val 50000"/>
              <a:gd name="adj2" fmla="val 50000"/>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ndParaRPr>
          </a:p>
        </p:txBody>
      </p:sp>
      <p:sp>
        <p:nvSpPr>
          <p:cNvPr id="346" name="正方形/長方形 16"/>
          <p:cNvSpPr/>
          <p:nvPr/>
        </p:nvSpPr>
        <p:spPr>
          <a:xfrm>
            <a:off x="6744960" y="1517760"/>
            <a:ext cx="2899440" cy="38376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0" u="none" strike="noStrike">
                <a:solidFill>
                  <a:schemeClr val="lt1"/>
                </a:solidFill>
                <a:effectLst/>
                <a:uFillTx/>
                <a:latin typeface="メイリオ"/>
                <a:ea typeface="メイリオ"/>
              </a:rPr>
              <a:t>6</a:t>
            </a:r>
            <a:r>
              <a:rPr lang="ja-JP" sz="1400" b="0" u="none" strike="noStrike">
                <a:solidFill>
                  <a:schemeClr val="lt1"/>
                </a:solidFill>
                <a:effectLst/>
                <a:uFillTx/>
                <a:latin typeface="メイリオ"/>
                <a:ea typeface="メイリオ"/>
              </a:rPr>
              <a:t>か月後</a:t>
            </a:r>
            <a:endParaRPr lang="en-US" sz="1400" b="0" u="none" strike="noStrike">
              <a:solidFill>
                <a:srgbClr val="FFFFFF"/>
              </a:solidFill>
              <a:effectLst/>
              <a:uFillTx/>
              <a:latin typeface="メイリオ"/>
            </a:endParaRPr>
          </a:p>
        </p:txBody>
      </p:sp>
      <p:sp>
        <p:nvSpPr>
          <p:cNvPr id="347" name="テキスト ボックス 18"/>
          <p:cNvSpPr/>
          <p:nvPr/>
        </p:nvSpPr>
        <p:spPr>
          <a:xfrm>
            <a:off x="2613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8" name="テキスト ボックス 20"/>
          <p:cNvSpPr/>
          <p:nvPr/>
        </p:nvSpPr>
        <p:spPr>
          <a:xfrm>
            <a:off x="3337560" y="2688480"/>
            <a:ext cx="2899080" cy="347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0" u="none" strike="noStrike">
                <a:solidFill>
                  <a:schemeClr val="dk1"/>
                </a:solidFill>
                <a:effectLst/>
                <a:uFillTx/>
                <a:latin typeface="メイリオ"/>
                <a:ea typeface="メイリオ"/>
              </a:rPr>
              <a:t>&lt;</a:t>
            </a:r>
            <a:r>
              <a:rPr lang="ja-JP" sz="1400" b="0" u="none" strike="noStrike">
                <a:solidFill>
                  <a:schemeClr val="dk1"/>
                </a:solidFill>
                <a:effectLst/>
                <a:uFillTx/>
                <a:latin typeface="メイリオ"/>
                <a:ea typeface="メイリオ"/>
              </a:rPr>
              <a:t>実施内容</a:t>
            </a:r>
            <a:r>
              <a:rPr lang="en-US" sz="1400" b="0" u="none" strike="noStrike">
                <a:solidFill>
                  <a:schemeClr val="dk1"/>
                </a:solidFill>
                <a:effectLst/>
                <a:uFillTx/>
                <a:latin typeface="メイリオ"/>
                <a:ea typeface="メイリオ"/>
              </a:rPr>
              <a:t>&gt;</a:t>
            </a:r>
            <a:endParaRPr lang="en-US" sz="1400" b="0" u="none" strike="noStrike">
              <a:solidFill>
                <a:srgbClr val="000000"/>
              </a:solidFill>
              <a:effectLst/>
              <a:uFillTx/>
              <a:latin typeface="メイリオ"/>
            </a:endParaRPr>
          </a:p>
        </p:txBody>
      </p:sp>
      <p:sp>
        <p:nvSpPr>
          <p:cNvPr id="349" name="正方形/長方形 24"/>
          <p:cNvSpPr/>
          <p:nvPr/>
        </p:nvSpPr>
        <p:spPr>
          <a:xfrm>
            <a:off x="33832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企画配信</a:t>
            </a:r>
            <a:endParaRPr lang="en-US" sz="1300" b="0" u="none" strike="noStrike">
              <a:solidFill>
                <a:srgbClr val="FFFFFF"/>
              </a:solidFill>
              <a:effectLst/>
              <a:uFillTx/>
              <a:latin typeface="メイリオ"/>
            </a:endParaRPr>
          </a:p>
        </p:txBody>
      </p:sp>
      <p:sp>
        <p:nvSpPr>
          <p:cNvPr id="350" name="正方形/長方形 28"/>
          <p:cNvSpPr/>
          <p:nvPr/>
        </p:nvSpPr>
        <p:spPr>
          <a:xfrm>
            <a:off x="48463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月3回</a:t>
            </a:r>
            <a:endParaRPr lang="en-US" sz="1300" b="0" u="none" strike="noStrike">
              <a:solidFill>
                <a:srgbClr val="000000"/>
              </a:solidFill>
              <a:effectLst/>
              <a:uFillTx/>
              <a:latin typeface="メイリオ"/>
            </a:endParaRPr>
          </a:p>
        </p:txBody>
      </p:sp>
      <p:sp>
        <p:nvSpPr>
          <p:cNvPr id="351" name="正方形/長方形 32"/>
          <p:cNvSpPr/>
          <p:nvPr/>
        </p:nvSpPr>
        <p:spPr>
          <a:xfrm>
            <a:off x="3383280" y="3579840"/>
            <a:ext cx="1425960" cy="48420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90000"/>
              </a:lnSpc>
            </a:pPr>
            <a:r>
              <a:rPr lang="ja-JP" sz="1200" b="0" u="none" strike="noStrike">
                <a:solidFill>
                  <a:schemeClr val="lt1"/>
                </a:solidFill>
                <a:effectLst/>
                <a:uFillTx/>
                <a:latin typeface="メイリオ"/>
                <a:ea typeface="メイリオ"/>
              </a:rPr>
              <a:t>開始時期・エリア別</a:t>
            </a:r>
            <a:endParaRPr lang="en-US" sz="1200" b="0" u="none" strike="noStrike">
              <a:solidFill>
                <a:srgbClr val="FFFFFF"/>
              </a:solidFill>
              <a:effectLst/>
              <a:uFillTx/>
              <a:latin typeface="メイリオ"/>
            </a:endParaRPr>
          </a:p>
        </p:txBody>
      </p:sp>
      <p:sp>
        <p:nvSpPr>
          <p:cNvPr id="352" name="正方形/長方形 36"/>
          <p:cNvSpPr/>
          <p:nvPr/>
        </p:nvSpPr>
        <p:spPr>
          <a:xfrm>
            <a:off x="4846320" y="3579840"/>
            <a:ext cx="1343880" cy="48420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36576" tIns="0" rIns="36576" bIns="0" anchor="ctr">
            <a:noAutofit/>
          </a:bodyPr>
          <a:lstStyle/>
          <a:p>
            <a:pPr algn="ctr" defTabSz="914400">
              <a:lnSpc>
                <a:spcPct val="100000"/>
              </a:lnSpc>
            </a:pPr>
            <a:r>
              <a:rPr lang="ja-JP" sz="1200" b="0" u="none" strike="noStrike">
                <a:solidFill>
                  <a:schemeClr val="dk1"/>
                </a:solidFill>
                <a:effectLst/>
                <a:uFillTx/>
                <a:latin typeface="メイリオ"/>
                <a:ea typeface="メイリオ"/>
              </a:rPr>
              <a:t>配信</a:t>
            </a:r>
            <a:endParaRPr lang="en-US" sz="1200" b="0" u="none" strike="noStrike">
              <a:solidFill>
                <a:srgbClr val="000000"/>
              </a:solidFill>
              <a:effectLst/>
              <a:uFillTx/>
              <a:latin typeface="メイリオ"/>
            </a:endParaRPr>
          </a:p>
        </p:txBody>
      </p:sp>
      <p:sp>
        <p:nvSpPr>
          <p:cNvPr id="353" name="正方形/長方形 40"/>
          <p:cNvSpPr/>
          <p:nvPr/>
        </p:nvSpPr>
        <p:spPr>
          <a:xfrm>
            <a:off x="33832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54" name="正方形/長方形 45"/>
          <p:cNvSpPr/>
          <p:nvPr/>
        </p:nvSpPr>
        <p:spPr>
          <a:xfrm>
            <a:off x="48463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5通の改善</a:t>
            </a:r>
            <a:endParaRPr lang="en-US" sz="1300" b="0" u="none" strike="noStrike">
              <a:solidFill>
                <a:srgbClr val="000000"/>
              </a:solidFill>
              <a:effectLst/>
              <a:uFillTx/>
              <a:latin typeface="メイリオ"/>
            </a:endParaRPr>
          </a:p>
        </p:txBody>
      </p:sp>
      <p:sp>
        <p:nvSpPr>
          <p:cNvPr id="355" name="正方形/長方形 49"/>
          <p:cNvSpPr/>
          <p:nvPr/>
        </p:nvSpPr>
        <p:spPr>
          <a:xfrm>
            <a:off x="33832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月次レポート</a:t>
            </a:r>
            <a:endParaRPr lang="en-US" sz="1300" b="0" u="none" strike="noStrike">
              <a:solidFill>
                <a:srgbClr val="FFFFFF"/>
              </a:solidFill>
              <a:effectLst/>
              <a:uFillTx/>
              <a:latin typeface="メイリオ"/>
            </a:endParaRPr>
          </a:p>
        </p:txBody>
      </p:sp>
      <p:sp>
        <p:nvSpPr>
          <p:cNvPr id="356" name="正方形/長方形 53"/>
          <p:cNvSpPr/>
          <p:nvPr/>
        </p:nvSpPr>
        <p:spPr>
          <a:xfrm>
            <a:off x="48463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7" name="正方形/長方形 57"/>
          <p:cNvSpPr/>
          <p:nvPr/>
        </p:nvSpPr>
        <p:spPr>
          <a:xfrm>
            <a:off x="33832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月次定例会</a:t>
            </a:r>
            <a:endParaRPr lang="en-US" sz="1300" b="0" u="none" strike="noStrike">
              <a:solidFill>
                <a:srgbClr val="FFFFFF"/>
              </a:solidFill>
              <a:effectLst/>
              <a:uFillTx/>
              <a:latin typeface="メイリオ"/>
            </a:endParaRPr>
          </a:p>
        </p:txBody>
      </p:sp>
      <p:sp>
        <p:nvSpPr>
          <p:cNvPr id="358" name="正方形/長方形 61"/>
          <p:cNvSpPr/>
          <p:nvPr/>
        </p:nvSpPr>
        <p:spPr>
          <a:xfrm>
            <a:off x="48463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1回</a:t>
            </a:r>
            <a:endParaRPr lang="en-US" sz="1300" b="0" u="none" strike="noStrike">
              <a:solidFill>
                <a:srgbClr val="000000"/>
              </a:solidFill>
              <a:effectLst/>
              <a:uFillTx/>
              <a:latin typeface="メイリオ"/>
            </a:endParaRPr>
          </a:p>
        </p:txBody>
      </p:sp>
      <p:sp>
        <p:nvSpPr>
          <p:cNvPr id="359" name="正方形/長方形 65"/>
          <p:cNvSpPr/>
          <p:nvPr/>
        </p:nvSpPr>
        <p:spPr>
          <a:xfrm>
            <a:off x="3383280" y="55368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友だちの入口</a:t>
            </a:r>
            <a:endParaRPr lang="en-US" sz="1300" b="0" u="none" strike="noStrike">
              <a:solidFill>
                <a:srgbClr val="FFFFFF"/>
              </a:solidFill>
              <a:effectLst/>
              <a:uFillTx/>
              <a:latin typeface="メイリオ"/>
            </a:endParaRPr>
          </a:p>
        </p:txBody>
      </p:sp>
      <p:sp>
        <p:nvSpPr>
          <p:cNvPr id="360" name="正方形/長方形 69"/>
          <p:cNvSpPr/>
          <p:nvPr/>
        </p:nvSpPr>
        <p:spPr>
          <a:xfrm>
            <a:off x="4846320" y="55368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en-US" sz="1300" b="0" u="none" strike="noStrike">
                <a:solidFill>
                  <a:schemeClr val="dk1"/>
                </a:solidFill>
                <a:effectLst/>
                <a:uFillTx/>
                <a:latin typeface="メイリオ"/>
                <a:ea typeface="メイリオ"/>
              </a:rPr>
              <a:t>運用</a:t>
            </a:r>
            <a:endParaRPr lang="en-US" sz="1300" b="0" u="none" strike="noStrike">
              <a:solidFill>
                <a:srgbClr val="000000"/>
              </a:solidFill>
              <a:effectLst/>
              <a:uFillTx/>
              <a:latin typeface="メイリオ"/>
            </a:endParaRPr>
          </a:p>
        </p:txBody>
      </p:sp>
      <p:sp>
        <p:nvSpPr>
          <p:cNvPr id="361" name="正方形/長方形 79"/>
          <p:cNvSpPr/>
          <p:nvPr/>
        </p:nvSpPr>
        <p:spPr>
          <a:xfrm>
            <a:off x="6812280" y="19569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ja-JP" sz="1400" b="1" u="none" strike="noStrike">
                <a:solidFill>
                  <a:schemeClr val="lt1"/>
                </a:solidFill>
                <a:effectLst/>
                <a:uFillTx/>
                <a:latin typeface="メイリオ"/>
                <a:ea typeface="メイリオ"/>
              </a:rPr>
              <a:t>友だち数</a:t>
            </a:r>
            <a:endParaRPr lang="en-US" sz="1400" b="0" u="none" strike="noStrike">
              <a:solidFill>
                <a:srgbClr val="000000"/>
              </a:solidFill>
              <a:effectLst/>
              <a:uFillTx/>
              <a:latin typeface="メイリオ"/>
            </a:endParaRPr>
          </a:p>
        </p:txBody>
      </p:sp>
      <p:sp>
        <p:nvSpPr>
          <p:cNvPr id="364" name="正方形/長方形 85"/>
          <p:cNvSpPr/>
          <p:nvPr/>
        </p:nvSpPr>
        <p:spPr>
          <a:xfrm>
            <a:off x="6812280" y="2432160"/>
            <a:ext cx="1425960" cy="40212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p:style>
        <p:txBody>
          <a:bodyPr lIns="45720" tIns="45000" rIns="45720" bIns="45000" anchor="ctr">
            <a:noAutofit/>
          </a:bodyPr>
          <a:lstStyle/>
          <a:p>
            <a:pPr algn="ctr" defTabSz="914400">
              <a:lnSpc>
                <a:spcPct val="100000"/>
              </a:lnSpc>
            </a:pPr>
            <a:r>
              <a:rPr lang="zh-CN" sz="1400" b="1" u="none" strike="noStrike">
                <a:solidFill>
                  <a:schemeClr val="lt1"/>
                </a:solidFill>
                <a:effectLst/>
                <a:uFillTx/>
                <a:latin typeface="メイリオ"/>
                <a:ea typeface="メイリオ"/>
              </a:rPr>
              <a:t>応募</a:t>
            </a:r>
            <a:endParaRPr lang="en-US" sz="1400" b="0" u="none" strike="noStrike">
              <a:solidFill>
                <a:srgbClr val="000000"/>
              </a:solidFill>
              <a:effectLst/>
              <a:uFillTx/>
              <a:latin typeface="メイリオ"/>
            </a:endParaRPr>
          </a:p>
        </p:txBody>
      </p:sp>
      <p:sp>
        <p:nvSpPr>
          <p:cNvPr id="365" name="正方形/長方形 11"/>
          <p:cNvSpPr/>
          <p:nvPr/>
        </p:nvSpPr>
        <p:spPr>
          <a:xfrm>
            <a:off x="307080" y="309060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ポップアップ</a:t>
            </a:r>
            <a:endParaRPr lang="en-US" sz="1300" b="0" u="none" strike="noStrike">
              <a:solidFill>
                <a:srgbClr val="FFFFFF"/>
              </a:solidFill>
              <a:effectLst/>
              <a:uFillTx/>
              <a:latin typeface="メイリオ"/>
            </a:endParaRPr>
          </a:p>
        </p:txBody>
      </p:sp>
      <p:sp>
        <p:nvSpPr>
          <p:cNvPr id="366" name="正方形/長方形 13"/>
          <p:cNvSpPr/>
          <p:nvPr/>
        </p:nvSpPr>
        <p:spPr>
          <a:xfrm>
            <a:off x="1770120" y="309060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zh-CN" sz="1300" b="0" u="none" strike="noStrike">
                <a:solidFill>
                  <a:schemeClr val="dk1"/>
                </a:solidFill>
                <a:effectLst/>
                <a:uFillTx/>
                <a:latin typeface="メイリオ"/>
                <a:ea typeface="メイリオ"/>
              </a:rPr>
              <a:t>導入</a:t>
            </a:r>
            <a:endParaRPr lang="en-US" sz="1300" b="0" u="none" strike="noStrike">
              <a:solidFill>
                <a:srgbClr val="000000"/>
              </a:solidFill>
              <a:effectLst/>
              <a:uFillTx/>
              <a:latin typeface="メイリオ"/>
            </a:endParaRPr>
          </a:p>
        </p:txBody>
      </p:sp>
      <p:sp>
        <p:nvSpPr>
          <p:cNvPr id="367" name="正方形/長方形 17"/>
          <p:cNvSpPr/>
          <p:nvPr/>
        </p:nvSpPr>
        <p:spPr>
          <a:xfrm>
            <a:off x="307080" y="357984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リッチメニュー</a:t>
            </a:r>
            <a:endParaRPr lang="en-US" sz="1300" b="0" u="none" strike="noStrike">
              <a:solidFill>
                <a:srgbClr val="FFFFFF"/>
              </a:solidFill>
              <a:effectLst/>
              <a:uFillTx/>
              <a:latin typeface="メイリオ"/>
            </a:endParaRPr>
          </a:p>
        </p:txBody>
      </p:sp>
      <p:sp>
        <p:nvSpPr>
          <p:cNvPr id="368" name="正方形/長方形 21"/>
          <p:cNvSpPr/>
          <p:nvPr/>
        </p:nvSpPr>
        <p:spPr>
          <a:xfrm>
            <a:off x="1770120" y="357984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
        <p:nvSpPr>
          <p:cNvPr id="371" name="正方形/長方形 33"/>
          <p:cNvSpPr/>
          <p:nvPr/>
        </p:nvSpPr>
        <p:spPr>
          <a:xfrm>
            <a:off x="307080" y="406908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ステップ配信</a:t>
            </a:r>
            <a:endParaRPr lang="en-US" sz="1300" b="0" u="none" strike="noStrike">
              <a:solidFill>
                <a:srgbClr val="FFFFFF"/>
              </a:solidFill>
              <a:effectLst/>
              <a:uFillTx/>
              <a:latin typeface="メイリオ"/>
            </a:endParaRPr>
          </a:p>
        </p:txBody>
      </p:sp>
      <p:sp>
        <p:nvSpPr>
          <p:cNvPr id="372" name="正方形/長方形 37"/>
          <p:cNvSpPr/>
          <p:nvPr/>
        </p:nvSpPr>
        <p:spPr>
          <a:xfrm>
            <a:off x="1770120" y="406908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5通を構築</a:t>
            </a:r>
            <a:endParaRPr lang="en-US" sz="1300" b="0" u="none" strike="noStrike">
              <a:solidFill>
                <a:srgbClr val="000000"/>
              </a:solidFill>
              <a:effectLst/>
              <a:uFillTx/>
              <a:latin typeface="メイリオ"/>
            </a:endParaRPr>
          </a:p>
        </p:txBody>
      </p:sp>
      <p:sp>
        <p:nvSpPr>
          <p:cNvPr id="373" name="正方形/長方形 41"/>
          <p:cNvSpPr/>
          <p:nvPr/>
        </p:nvSpPr>
        <p:spPr>
          <a:xfrm>
            <a:off x="307080" y="455832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配信の設計</a:t>
            </a:r>
            <a:endParaRPr lang="en-US" sz="1300" b="0" u="none" strike="noStrike">
              <a:solidFill>
                <a:srgbClr val="FFFFFF"/>
              </a:solidFill>
              <a:effectLst/>
              <a:uFillTx/>
              <a:latin typeface="メイリオ"/>
            </a:endParaRPr>
          </a:p>
        </p:txBody>
      </p:sp>
      <p:sp>
        <p:nvSpPr>
          <p:cNvPr id="374" name="正方形/長方形 46"/>
          <p:cNvSpPr/>
          <p:nvPr/>
        </p:nvSpPr>
        <p:spPr>
          <a:xfrm>
            <a:off x="1770120" y="455832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前後検索をもとに設計</a:t>
            </a:r>
            <a:endParaRPr lang="en-US" sz="1300" b="0" u="none" strike="noStrike">
              <a:solidFill>
                <a:srgbClr val="000000"/>
              </a:solidFill>
              <a:effectLst/>
              <a:uFillTx/>
              <a:latin typeface="メイリオ"/>
            </a:endParaRPr>
          </a:p>
        </p:txBody>
      </p:sp>
      <p:sp>
        <p:nvSpPr>
          <p:cNvPr id="375" name="テキスト ボックス 10"/>
          <p:cNvSpPr/>
          <p:nvPr/>
        </p:nvSpPr>
        <p:spPr>
          <a:xfrm>
            <a:off x="8256960" y="19569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zh-CN" sz="1400" b="1" u="none" strike="noStrike">
                <a:solidFill>
                  <a:srgbClr val="1F285A"/>
                </a:solidFill>
                <a:effectLst/>
                <a:uFillTx/>
                <a:latin typeface="メイリオ"/>
                <a:ea typeface="メイリオ"/>
              </a:rPr>
              <a:t>86,631人</a:t>
            </a:r>
            <a:endParaRPr lang="en-US" sz="1400" b="0" u="none" strike="noStrike">
              <a:solidFill>
                <a:srgbClr val="000000"/>
              </a:solidFill>
              <a:effectLst/>
              <a:uFillTx/>
              <a:latin typeface="メイリオ"/>
            </a:endParaRPr>
          </a:p>
        </p:txBody>
      </p:sp>
      <p:sp>
        <p:nvSpPr>
          <p:cNvPr id="378" name="テキスト ボックス 26"/>
          <p:cNvSpPr/>
          <p:nvPr/>
        </p:nvSpPr>
        <p:spPr>
          <a:xfrm>
            <a:off x="8256960" y="2432160"/>
            <a:ext cx="1325520" cy="4021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400" b="1" u="none" strike="noStrike">
                <a:solidFill>
                  <a:srgbClr val="1F285A"/>
                </a:solidFill>
                <a:effectLst/>
                <a:uFillTx/>
                <a:latin typeface="メイリオ"/>
                <a:ea typeface="メイリオ"/>
              </a:rPr>
              <a:t>232件/月</a:t>
            </a:r>
            <a:endParaRPr lang="en-US" sz="1400" b="0" u="none" strike="noStrike">
              <a:solidFill>
                <a:srgbClr val="000000"/>
              </a:solidFill>
              <a:effectLst/>
              <a:uFillTx/>
              <a:latin typeface="メイリオ"/>
            </a:endParaRPr>
          </a:p>
        </p:txBody>
      </p:sp>
      <p:sp>
        <p:nvSpPr>
          <p:cNvPr id="381"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0" u="none" strike="noStrike">
                <a:solidFill>
                  <a:schemeClr val="dk1">
                    <a:lumMod val="65000"/>
                    <a:lumOff val="35000"/>
                  </a:schemeClr>
                </a:solidFill>
                <a:effectLst/>
                <a:uFillTx/>
                <a:latin typeface="メイリオ"/>
                <a:ea typeface="メイリオ"/>
              </a:rPr>
              <a:t>プラン①（月3投稿）で、友だちの入口を増やし、検討の順番に沿った配信で応募を増やす</a:t>
            </a:r>
            <a:endParaRPr lang="en-US" sz="1400" b="0" u="none" strike="noStrike">
              <a:solidFill>
                <a:srgbClr val="000000"/>
              </a:solidFill>
              <a:effectLst/>
              <a:uFillTx/>
              <a:latin typeface="メイリオ"/>
            </a:endParaRPr>
          </a:p>
        </p:txBody>
      </p:sp>
      <p:sp>
        <p:nvSpPr>
          <p:cNvPr id="382" name="初期 来場前のお知らせ"/>
          <p:cNvSpPr/>
          <p:nvPr/>
        </p:nvSpPr>
        <p:spPr>
          <a:xfrm>
            <a:off x="307080" y="5047560"/>
            <a:ext cx="1425960" cy="44784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lt1"/>
                </a:solidFill>
                <a:effectLst/>
                <a:uFillTx/>
                <a:latin typeface="メイリオ"/>
                <a:ea typeface="メイリオ"/>
              </a:rPr>
              <a:t>適正バイト</a:t>
            </a:r>
            <a:endParaRPr lang="en-US" sz="1300" b="0" u="none" strike="noStrike">
              <a:solidFill>
                <a:srgbClr val="FFFFFF"/>
              </a:solidFill>
              <a:effectLst/>
              <a:uFillTx/>
              <a:latin typeface="メイリオ"/>
            </a:endParaRPr>
          </a:p>
          <a:p>
            <a:pPr algn="ctr" defTabSz="914400">
              <a:lnSpc>
                <a:spcPct val="100000"/>
              </a:lnSpc>
            </a:pPr>
            <a:r>
              <a:rPr lang="ja-JP" sz="1300" b="0" u="none" strike="noStrike">
                <a:solidFill>
                  <a:schemeClr val="lt1"/>
                </a:solidFill>
                <a:effectLst/>
                <a:uFillTx/>
                <a:latin typeface="メイリオ"/>
                <a:ea typeface="メイリオ"/>
              </a:rPr>
              <a:t>診断</a:t>
            </a:r>
            <a:endParaRPr lang="en-US" sz="1300" b="0" u="none" strike="noStrike">
              <a:solidFill>
                <a:srgbClr val="FFFFFF"/>
              </a:solidFill>
              <a:effectLst/>
              <a:uFillTx/>
              <a:latin typeface="メイリオ"/>
            </a:endParaRPr>
          </a:p>
        </p:txBody>
      </p:sp>
      <p:sp>
        <p:nvSpPr>
          <p:cNvPr id="383" name="初期 型をつくる"/>
          <p:cNvSpPr/>
          <p:nvPr/>
        </p:nvSpPr>
        <p:spPr>
          <a:xfrm>
            <a:off x="1770120" y="5047560"/>
            <a:ext cx="1343880" cy="4478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45720" tIns="18360" rIns="45720" bIns="18360" anchor="ctr">
            <a:noAutofit/>
          </a:bodyPr>
          <a:lstStyle/>
          <a:p>
            <a:pPr algn="ctr" defTabSz="914400">
              <a:lnSpc>
                <a:spcPct val="100000"/>
              </a:lnSpc>
            </a:pPr>
            <a:r>
              <a:rPr lang="ja-JP" sz="1300" b="0" u="none" strike="noStrike">
                <a:solidFill>
                  <a:schemeClr val="dk1"/>
                </a:solidFill>
                <a:effectLst/>
                <a:uFillTx/>
                <a:latin typeface="メイリオ"/>
                <a:ea typeface="メイリオ"/>
              </a:rPr>
              <a:t>設計・構築</a:t>
            </a:r>
            <a:endParaRPr lang="en-US" sz="1300" b="0" u="none" strike="noStrike">
              <a:solidFill>
                <a:srgbClr val="000000"/>
              </a:solidFill>
              <a:effectLst/>
              <a:uFillTx/>
              <a:latin typeface="メイリオ"/>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5"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料金プラン：2つのプランの費用</a:t>
            </a:r>
            <a:endParaRPr lang="en-US" sz="1600" b="0" u="none" strike="noStrike">
              <a:solidFill>
                <a:srgbClr val="000000"/>
              </a:solidFill>
              <a:effectLst/>
              <a:uFillTx/>
              <a:latin typeface="メイリオ"/>
            </a:endParaRPr>
          </a:p>
        </p:txBody>
      </p:sp>
      <p:sp>
        <p:nvSpPr>
          <p:cNvPr id="636"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dirty="0">
                <a:solidFill>
                  <a:schemeClr val="lt1"/>
                </a:solidFill>
                <a:effectLst/>
                <a:uFillTx/>
                <a:latin typeface="メイリオ"/>
                <a:ea typeface="メイリオ"/>
              </a:rPr>
              <a:t>料金プランの比較</a:t>
            </a:r>
            <a:endParaRPr lang="en-US" sz="1400" b="0" u="none" strike="noStrike" dirty="0">
              <a:solidFill>
                <a:srgbClr val="FFFFFF"/>
              </a:solidFill>
              <a:effectLst/>
              <a:uFillTx/>
              <a:latin typeface="メイリオ"/>
            </a:endParaRPr>
          </a:p>
        </p:txBody>
      </p:sp>
      <p:sp>
        <p:nvSpPr>
          <p:cNvPr id="637"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運用範囲に合わせて、2つのプランをご用意</a:t>
            </a:r>
            <a:endParaRPr lang="en-US" sz="1600" b="0" u="none" strike="noStrike" dirty="0">
              <a:solidFill>
                <a:srgbClr val="000000"/>
              </a:solidFill>
              <a:effectLst/>
              <a:uFillTx/>
              <a:latin typeface="メイリオ"/>
            </a:endParaRPr>
          </a:p>
        </p:txBody>
      </p:sp>
      <p:graphicFrame>
        <p:nvGraphicFramePr>
          <p:cNvPr id="639" name="料金プラン比較表 638"/>
          <p:cNvGraphicFramePr>
            <a:graphicFrameLocks noGrp="1"/>
          </p:cNvGraphicFramePr>
          <p:nvPr>
            <p:extLst>
              <p:ext uri="{D42A27DB-BD31-4B8C-83A1-F6EECF244321}">
                <p14:modId xmlns:p14="http://schemas.microsoft.com/office/powerpoint/2010/main" val="2012307853"/>
              </p:ext>
            </p:extLst>
          </p:nvPr>
        </p:nvGraphicFramePr>
        <p:xfrm>
          <a:off x="384048" y="1353312"/>
          <a:ext cx="9144000" cy="3749040"/>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77724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初期費用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215,000円〜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265,000円〜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4008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月額コンサルティング費</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350,000円〜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77240">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月額ツール・LINE関連費</a:t>
                      </a:r>
                      <a:endParaRPr lang="ja-JP" altLang="en-US" sz="1400" dirty="0"/>
                    </a:p>
                  </a:txBody>
                  <a:tcPr marL="27432" marR="2743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500" b="0" dirty="0">
                          <a:solidFill>
                            <a:srgbClr val="333333"/>
                          </a:solidFill>
                          <a:latin typeface="メイリオ" panose="020B0604030504040204" pitchFamily="50" charset="-128"/>
                          <a:ea typeface="メイリオ" panose="020B0604030504040204" pitchFamily="50" charset="-128"/>
                        </a:rPr>
                        <a:t>30,000円〜</a:t>
                      </a:r>
                      <a:endParaRPr lang="ja-JP" altLang="en-US" sz="15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914400">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月額費用</a:t>
                      </a:r>
                      <a:endParaRPr lang="ja-JP" altLang="en-US" sz="14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1F285A"/>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330,000円〜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2000" b="1" dirty="0">
                          <a:solidFill>
                            <a:srgbClr val="1F285A"/>
                          </a:solidFill>
                          <a:latin typeface="メイリオ" panose="020B0604030504040204" pitchFamily="50" charset="-128"/>
                          <a:ea typeface="メイリオ" panose="020B0604030504040204" pitchFamily="50" charset="-128"/>
                        </a:rPr>
                        <a:t>380,000円〜</a:t>
                      </a:r>
                      <a:endParaRPr lang="ja-JP" altLang="en-US" sz="20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extLst>
                  <a:ext uri="{0D108BD9-81ED-4DB2-BD59-A6C34878D82A}">
                    <a16:rowId xmlns:a16="http://schemas.microsoft.com/office/drawing/2014/main" val="10004"/>
                  </a:ext>
                </a:extLst>
              </a:tr>
            </a:tbl>
          </a:graphicData>
        </a:graphic>
      </p:graphicFrame>
      <p:sp>
        <p:nvSpPr>
          <p:cNvPr id="640" name="注記"/>
          <p:cNvSpPr/>
          <p:nvPr/>
        </p:nvSpPr>
        <p:spPr>
          <a:xfrm>
            <a:off x="384048" y="5257800"/>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※初期費用＝運用設計・構築（プラン① 200,000円〜／プラン② 250,000円〜）＋ポップアップ 15,000円</a:t>
            </a:r>
            <a:endParaRPr lang="ja-JP" altLang="en-US" sz="1200" dirty="0"/>
          </a:p>
        </p:txBody>
      </p:sp>
      <p:sp>
        <p:nvSpPr>
          <p:cNvPr id="641" name="注記"/>
          <p:cNvSpPr/>
          <p:nvPr/>
        </p:nvSpPr>
        <p:spPr>
          <a:xfrm>
            <a:off x="384048" y="5504688"/>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※月額ツール・LINE関連費＝ポップアップ 30,000円。サンクスLINE誘導はオプション（初期150,000円・月額30,000円〜）。LINE公式アカウント利用料は別</a:t>
            </a:r>
            <a:endParaRPr lang="ja-JP" altLang="en-US" sz="1200" dirty="0"/>
          </a:p>
        </p:txBody>
      </p:sp>
      <p:sp>
        <p:nvSpPr>
          <p:cNvPr id="642" name="注記"/>
          <p:cNvSpPr/>
          <p:nvPr/>
        </p:nvSpPr>
        <p:spPr>
          <a:xfrm>
            <a:off x="384048" y="5751576"/>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※契約期間は6か月〜。概算お見積りのページはプラン①の場合</a:t>
            </a:r>
            <a:endParaRPr lang="ja-JP" altLang="en-US" sz="1200" dirty="0"/>
          </a:p>
        </p:txBody>
      </p:sp>
      <p:sp>
        <p:nvSpPr>
          <p:cNvPr id="643" name="注記"/>
          <p:cNvSpPr/>
          <p:nvPr/>
        </p:nvSpPr>
        <p:spPr>
          <a:xfrm>
            <a:off x="384048" y="5998464"/>
            <a:ext cx="9144000" cy="246888"/>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運用内容：プランごとの対応範囲</a:t>
            </a:r>
            <a:endParaRPr lang="en-US" sz="1600" b="0" u="none" strike="noStrike">
              <a:solidFill>
                <a:srgbClr val="000000"/>
              </a:solidFill>
              <a:effectLst/>
              <a:uFillTx/>
              <a:latin typeface="メイリオ"/>
            </a:endParaRPr>
          </a:p>
        </p:txBody>
      </p:sp>
      <p:sp>
        <p:nvSpPr>
          <p:cNvPr id="4" name="正方形/長方形 8"/>
          <p:cNvSpPr/>
          <p:nvPr/>
        </p:nvSpPr>
        <p:spPr>
          <a:xfrm>
            <a:off x="0" y="68148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運用内容の比較</a:t>
            </a:r>
            <a:endParaRPr lang="en-US" sz="1400" b="0" u="none" strike="noStrike">
              <a:solidFill>
                <a:srgbClr val="FFFFFF"/>
              </a:solidFill>
              <a:effectLst/>
              <a:uFillTx/>
              <a:latin typeface="メイリオ"/>
            </a:endParaRPr>
          </a:p>
        </p:txBody>
      </p:sp>
      <p:sp>
        <p:nvSpPr>
          <p:cNvPr id="5" name="Google Shape;752;p28"/>
          <p:cNvSpPr/>
          <p:nvPr/>
        </p:nvSpPr>
        <p:spPr>
          <a:xfrm>
            <a:off x="2983680" y="783000"/>
            <a:ext cx="66196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chemeClr val="dk1"/>
                </a:solidFill>
                <a:effectLst/>
                <a:uFillTx/>
                <a:latin typeface="メイリオ"/>
                <a:ea typeface="メイリオ"/>
              </a:rPr>
              <a:t>2つのプランの運用内容の比較</a:t>
            </a:r>
            <a:endParaRPr lang="en-US" sz="1600" b="0" u="none" strike="noStrike" dirty="0">
              <a:solidFill>
                <a:srgbClr val="000000"/>
              </a:solidFill>
              <a:effectLst/>
              <a:uFillTx/>
              <a:latin typeface="メイリオ"/>
            </a:endParaRPr>
          </a:p>
        </p:txBody>
      </p:sp>
      <p:graphicFrame>
        <p:nvGraphicFramePr>
          <p:cNvPr id="6" name="運用内容比較表 5"/>
          <p:cNvGraphicFramePr>
            <a:graphicFrameLocks noGrp="1"/>
          </p:cNvGraphicFramePr>
          <p:nvPr>
            <p:extLst>
              <p:ext uri="{D42A27DB-BD31-4B8C-83A1-F6EECF244321}">
                <p14:modId xmlns:p14="http://schemas.microsoft.com/office/powerpoint/2010/main" val="3686588805"/>
              </p:ext>
            </p:extLst>
          </p:nvPr>
        </p:nvGraphicFramePr>
        <p:xfrm>
          <a:off x="384048" y="1353312"/>
          <a:ext cx="9144000" cy="3829506"/>
        </p:xfrm>
        <a:graphic>
          <a:graphicData uri="http://schemas.openxmlformats.org/drawingml/2006/table">
            <a:tbl>
              <a:tblPr/>
              <a:tblGrid>
                <a:gridCol w="22860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680313">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項目</a:t>
                      </a:r>
                      <a:endParaRPr lang="ja-JP" altLang="en-US" sz="14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プラン①（月3投稿）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tc>
                  <a:txBody>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プラン②（月5投稿）</a:t>
                      </a:r>
                      <a:endParaRPr lang="ja-JP" altLang="en-US" sz="1300" dirty="0"/>
                    </a:p>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コンサル基本</a:t>
                      </a:r>
                      <a:endParaRPr lang="ja-JP" altLang="en-US" sz="1300" dirty="0"/>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ポップアップ</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導入・運用</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適正バイト診断・</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ステップ配信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設計・構築・改善</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企画配信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月3回程度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月5回程度</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開始時期・エリア別の配信</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93776">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300" dirty="0"/>
                    </a:p>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（月次レポート・定例会）</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対応</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680313">
                <a:tc>
                  <a:txBody>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E8ECF6"/>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rPr>
                        <a:t>オプション</a:t>
                      </a:r>
                      <a:endParaRPr lang="ja-JP" altLang="en-US" sz="1300" dirty="0"/>
                    </a:p>
                  </a:txBody>
                  <a:tcPr marL="73152" marR="73152" marT="27432" marB="27432" anchor="ctr">
                    <a:lnL w="9525" cap="flat" cmpd="sng" algn="ctr">
                      <a:solidFill>
                        <a:srgbClr val="BFC8DC"/>
                      </a:solidFill>
                      <a:prstDash val="solid"/>
                      <a:round/>
                      <a:headEnd type="none" w="med" len="med"/>
                      <a:tailEnd type="none" w="med" len="med"/>
                    </a:lnL>
                    <a:lnR w="9525" cap="flat" cmpd="sng" algn="ctr">
                      <a:solidFill>
                        <a:srgbClr val="BFC8DC"/>
                      </a:solidFill>
                      <a:prstDash val="solid"/>
                      <a:round/>
                      <a:headEnd type="none" w="med" len="med"/>
                      <a:tailEnd type="none" w="med" len="med"/>
                    </a:lnR>
                    <a:lnT w="9525" cap="flat" cmpd="sng" algn="ctr">
                      <a:solidFill>
                        <a:srgbClr val="BFC8DC"/>
                      </a:solidFill>
                      <a:prstDash val="solid"/>
                      <a:round/>
                      <a:headEnd type="none" w="med" len="med"/>
                      <a:tailEnd type="none" w="med" len="med"/>
                    </a:lnT>
                    <a:lnB w="9525" cap="flat" cmpd="sng" algn="ctr">
                      <a:solidFill>
                        <a:srgbClr val="BFC8DC"/>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7" name="TextBox 6"/>
          <p:cNvSpPr txBox="1"/>
          <p:nvPr/>
        </p:nvSpPr>
        <p:spPr>
          <a:xfrm>
            <a:off x="384048" y="5303520"/>
            <a:ext cx="9144000" cy="228600"/>
          </a:xfrm>
          <a:prstGeom prst="rect">
            <a:avLst/>
          </a:prstGeom>
          <a:noFill/>
        </p:spPr>
        <p:txBody>
          <a:bodyPr wrap="square" lIns="36000" tIns="10800" rIns="36000" bIns="10800" anchor="ctr">
            <a:spAutoFit/>
          </a:bodyPr>
          <a:lstStyle/>
          <a:p>
            <a:pPr algn="l">
              <a:lnSpc>
                <a:spcPct val="105000"/>
              </a:lnSpc>
              <a:spcAft>
                <a:spcPts val="200"/>
              </a:spcAft>
            </a:pPr>
            <a:r>
              <a:rPr sz="900" b="0">
                <a:solidFill>
                  <a:srgbClr val="777777"/>
                </a:solidFill>
                <a:latin typeface="メイリオ"/>
                <a:ea typeface="メイリオ"/>
                <a:cs typeface="メイリオ"/>
              </a:rPr>
              <a:t>※サンクスLINE誘導はオプション（初期150,000円・月額30,000円〜）</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94FA4-D911-000B-186B-940B357210A1}"/>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E5360B94-F496-92C9-5C32-EC2AC156401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E4BE408-251A-7ED1-17D3-E2E4ABC5E278}"/>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05</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9B6D6E21-585B-EA4B-DB51-75A8EE77309D}"/>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サポート体制</a:t>
            </a:r>
          </a:p>
        </p:txBody>
      </p:sp>
      <p:cxnSp>
        <p:nvCxnSpPr>
          <p:cNvPr id="17" name="直線コネクタ 16">
            <a:extLst>
              <a:ext uri="{FF2B5EF4-FFF2-40B4-BE49-F238E27FC236}">
                <a16:creationId xmlns:a16="http://schemas.microsoft.com/office/drawing/2014/main" id="{7E8CBA0C-5F08-1BB2-E25B-5B850FE183D0}"/>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604557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ポップアップ</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398393"/>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利用までナーチャリング</a:t>
            </a:r>
            <a:endParaRPr lang="en-US" altLang="ja-JP" sz="1600" dirty="0">
              <a:latin typeface="Meiryo"/>
              <a:ea typeface="Meiryo"/>
              <a:cs typeface="Meiryo"/>
              <a:sym typeface="Meiryo"/>
            </a:endParaRPr>
          </a:p>
        </p:txBody>
      </p:sp>
    </p:spTree>
    <p:extLst>
      <p:ext uri="{BB962C8B-B14F-4D97-AF65-F5344CB8AC3E}">
        <p14:creationId xmlns:p14="http://schemas.microsoft.com/office/powerpoint/2010/main" val="300013459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新規友だちの追加（ポップアップ）</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以外の注力動線への誘導も同バナーから実施が可能です。</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spTree>
    <p:extLst>
      <p:ext uri="{BB962C8B-B14F-4D97-AF65-F5344CB8AC3E}">
        <p14:creationId xmlns:p14="http://schemas.microsoft.com/office/powerpoint/2010/main" val="373103120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に友だち登録、ステータス通知を行うことが出来る機能です。</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FF"/>
                </a:solidFill>
                <a:latin typeface="Meiryo"/>
                <a:ea typeface="Meiryo"/>
                <a:cs typeface="Meiryo"/>
                <a:sym typeface="Meiryo"/>
              </a:rPr>
              <a:t>+</a:t>
            </a:r>
            <a:r>
              <a:rPr lang="ja-JP" altLang="en-US" sz="1050" b="1" dirty="0">
                <a:solidFill>
                  <a:srgbClr val="FFFFFF"/>
                </a:solidFill>
                <a:latin typeface="Meiryo"/>
                <a:ea typeface="Meiryo"/>
                <a:cs typeface="Meiryo"/>
                <a:sym typeface="Meiryo"/>
              </a:rPr>
              <a:t>通数単価：</a:t>
            </a:r>
            <a:r>
              <a:rPr lang="en-US" altLang="ja-JP" sz="1050" b="1" dirty="0">
                <a:solidFill>
                  <a:srgbClr val="FFFFFF"/>
                </a:solidFill>
                <a:latin typeface="Meiryo"/>
                <a:ea typeface="Meiryo"/>
                <a:cs typeface="Meiryo"/>
                <a:sym typeface="Meiryo"/>
              </a:rPr>
              <a:t>7</a:t>
            </a:r>
            <a:r>
              <a:rPr lang="ja-JP" altLang="en-US" sz="1050" b="1" dirty="0">
                <a:solidFill>
                  <a:srgbClr val="FFFFFF"/>
                </a:solidFill>
                <a:latin typeface="Meiryo"/>
                <a:ea typeface="Meiryo"/>
                <a:cs typeface="Meiryo"/>
                <a:sym typeface="Meiryo"/>
              </a:rPr>
              <a:t>円</a:t>
            </a:r>
            <a:endParaRPr sz="1050" b="1" i="0" u="none" strike="noStrike" cap="none" dirty="0">
              <a:solidFill>
                <a:srgbClr val="FFFFFF"/>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a:t>
            </a:r>
            <a:r>
              <a:rPr lang="ja-JP" altLang="en-US" sz="900" dirty="0">
                <a:solidFill>
                  <a:srgbClr val="FF0000"/>
                </a:solidFill>
                <a:latin typeface="メイリオ" panose="020B0604030504040204" pitchFamily="50" charset="-128"/>
                <a:ea typeface="メイリオ" panose="020B0604030504040204" pitchFamily="50" charset="-128"/>
              </a:rPr>
              <a:t>、</a:t>
            </a:r>
            <a:r>
              <a:rPr lang="en-US" altLang="ja-JP" sz="900" dirty="0">
                <a:solidFill>
                  <a:srgbClr val="FF0000"/>
                </a:solidFill>
                <a:latin typeface="メイリオ" panose="020B0604030504040204" pitchFamily="50" charset="-128"/>
                <a:ea typeface="メイリオ" panose="020B0604030504040204" pitchFamily="50" charset="-128"/>
              </a:rPr>
              <a:t>Tech Partner</a:t>
            </a:r>
            <a:r>
              <a:rPr lang="ja-JP" altLang="en-US" sz="900" dirty="0">
                <a:solidFill>
                  <a:srgbClr val="FF0000"/>
                </a:solidFill>
                <a:latin typeface="メイリオ" panose="020B0604030504040204" pitchFamily="50" charset="-128"/>
                <a:ea typeface="メイリオ" panose="020B0604030504040204" pitchFamily="50" charset="-128"/>
              </a:rPr>
              <a:t>限定公開の</a:t>
            </a:r>
            <a:r>
              <a:rPr lang="en-US" altLang="ja-JP" sz="900" dirty="0">
                <a:solidFill>
                  <a:srgbClr val="FF0000"/>
                </a:solidFill>
                <a:latin typeface="メイリオ" panose="020B0604030504040204" pitchFamily="50" charset="-128"/>
                <a:ea typeface="メイリオ" panose="020B0604030504040204" pitchFamily="50" charset="-128"/>
              </a:rPr>
              <a:t>API</a:t>
            </a:r>
            <a:r>
              <a:rPr lang="ja-JP" altLang="en-US" sz="900" dirty="0">
                <a:solidFill>
                  <a:srgbClr val="FF0000"/>
                </a:solidFill>
                <a:latin typeface="メイリオ" panose="020B0604030504040204" pitchFamily="50" charset="-128"/>
                <a:ea typeface="メイリオ" panose="020B0604030504040204" pitchFamily="50" charset="-128"/>
              </a:rPr>
              <a:t>を使用した機能です。</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料金プランにより通数単価、利用可能機能が異なります。</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FF"/>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新規友だちの追加（サンクスLINE誘導）</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44236"/>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1989652"/>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173082"/>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335961"/>
            <a:ext cx="1227667"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友だち登録ページ</a:t>
            </a:r>
            <a:r>
              <a:rPr lang="ja-JP" altLang="en-US" sz="1000" dirty="0">
                <a:latin typeface="メイリオ" panose="020B0604030504040204" pitchFamily="50" charset="-128"/>
                <a:ea typeface="メイリオ" panose="020B0604030504040204" pitchFamily="50" charset="-128"/>
                <a:cs typeface="メイリオ"/>
              </a:rPr>
              <a:t>へ遷移する。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57879" y="4570201"/>
            <a:ext cx="1338278" cy="400110"/>
          </a:xfrm>
          <a:prstGeom prst="rect">
            <a:avLst/>
          </a:prstGeom>
          <a:noFill/>
        </p:spPr>
        <p:txBody>
          <a:bodyPr wrap="square" lIns="74295" rIns="74295">
            <a:spAutoFit/>
          </a:bodyPr>
          <a:lstStyle/>
          <a:p>
            <a:r>
              <a:rPr lang="ja-JP" altLang="en-US" sz="1000" b="1" dirty="0">
                <a:latin typeface="メイリオ" panose="020B0604030504040204" pitchFamily="50" charset="-128"/>
                <a:ea typeface="メイリオ" panose="020B0604030504040204" pitchFamily="50" charset="-128"/>
                <a:cs typeface="メイリオ"/>
              </a:rPr>
              <a:t>トーク画面</a:t>
            </a:r>
            <a:r>
              <a:rPr lang="ja-JP" altLang="en-US" sz="1000" dirty="0">
                <a:latin typeface="メイリオ" panose="020B0604030504040204" pitchFamily="50" charset="-128"/>
                <a:ea typeface="メイリオ" panose="020B0604030504040204" pitchFamily="50" charset="-128"/>
                <a:cs typeface="メイリオ"/>
              </a:rPr>
              <a:t>へ</a:t>
            </a:r>
            <a:endParaRPr lang="en-US" altLang="ja-JP" sz="1000" dirty="0">
              <a:latin typeface="メイリオ" panose="020B0604030504040204" pitchFamily="50" charset="-128"/>
              <a:ea typeface="メイリオ" panose="020B0604030504040204" pitchFamily="50" charset="-128"/>
              <a:cs typeface="メイリオ"/>
            </a:endParaRPr>
          </a:p>
          <a:p>
            <a:r>
              <a:rPr lang="ja-JP" altLang="en-US" sz="1000" dirty="0">
                <a:latin typeface="メイリオ" panose="020B0604030504040204" pitchFamily="50" charset="-128"/>
                <a:ea typeface="メイリオ" panose="020B0604030504040204" pitchFamily="50" charset="-128"/>
                <a:cs typeface="メイリオ"/>
              </a:rPr>
              <a:t>遷移する。</a:t>
            </a:r>
            <a:endParaRPr lang="en-US" altLang="ja-JP" sz="100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50101"/>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49394"/>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591706"/>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693249" y="1644209"/>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1869100" y="2879016"/>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693249" y="4241092"/>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760471" y="2042343"/>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102458" y="1617265"/>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100228" y="4219785"/>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195552" y="2083381"/>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292898" y="1459246"/>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261302" y="837894"/>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lIns="74295" rIns="74295"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rPr>
                <a:t>サンクス</a:t>
              </a:r>
              <a:r>
                <a:rPr lang="en-US" altLang="ja-JP" sz="1200" b="1" dirty="0">
                  <a:solidFill>
                    <a:schemeClr val="bg1"/>
                  </a:solidFill>
                  <a:latin typeface="メイリオ" panose="020B0604030504040204" pitchFamily="34" charset="-128"/>
                  <a:ea typeface="メイリオ" panose="020B0604030504040204" pitchFamily="34" charset="-128"/>
                </a:rPr>
                <a:t>LINE</a:t>
              </a:r>
              <a:r>
                <a:rPr lang="ja-JP" altLang="en-US" sz="1200" b="1" dirty="0">
                  <a:solidFill>
                    <a:schemeClr val="bg1"/>
                  </a:solidFill>
                  <a:latin typeface="メイリオ" panose="020B0604030504040204" pitchFamily="34" charset="-128"/>
                  <a:ea typeface="メイリオ"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07777"/>
          </a:xfrm>
          <a:prstGeom prst="rect">
            <a:avLst/>
          </a:prstGeom>
        </p:spPr>
        <p:txBody>
          <a:bodyPr wrap="square" lIns="74295" rIns="74295">
            <a:spAutoFit/>
          </a:bodyPr>
          <a:lstStyle/>
          <a:p>
            <a:pPr lvl="0">
              <a:buClr>
                <a:schemeClr val="dk1"/>
              </a:buClr>
              <a:buSzPts val="1500"/>
            </a:pPr>
            <a:r>
              <a:rPr lang="ja-JP" altLang="en-US" sz="1400" dirty="0">
                <a:latin typeface="メイリオ"/>
                <a:ea typeface="メイリオ"/>
                <a:cs typeface="メイリオ"/>
                <a:sym typeface="Meiryo"/>
              </a:rPr>
              <a:t>フォーム送信後の</a:t>
            </a:r>
            <a:r>
              <a:rPr lang="en-US" altLang="ja-JP" sz="1400" dirty="0">
                <a:latin typeface="メイリオ"/>
                <a:ea typeface="メイリオ"/>
                <a:cs typeface="メイリオ"/>
                <a:sym typeface="Meiryo"/>
              </a:rPr>
              <a:t>LINE</a:t>
            </a:r>
            <a:r>
              <a:rPr lang="ja-JP" altLang="en-US" sz="1400" dirty="0">
                <a:latin typeface="メイリオ"/>
                <a:ea typeface="メイリオ"/>
                <a:cs typeface="メイリオ"/>
                <a:sym typeface="Meiryo"/>
              </a:rPr>
              <a:t>誘導を自動化するツール</a:t>
            </a:r>
            <a:endParaRPr lang="en-US" altLang="ja-JP" sz="1400" dirty="0">
              <a:latin typeface="メイリオ"/>
              <a:ea typeface="メイリオ"/>
              <a:cs typeface="メイリオ"/>
              <a:sym typeface="Meiryo"/>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097538" y="1666571"/>
            <a:ext cx="2513872"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209560" y="1525688"/>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412518" y="3590272"/>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234699" y="2111288"/>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511868" y="4640731"/>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ja-JP" altLang="en-US" sz="1300" dirty="0">
                <a:solidFill>
                  <a:schemeClr val="tx1"/>
                </a:solidFill>
                <a:latin typeface="メイリオ" panose="020B0604030504040204" pitchFamily="50" charset="-128"/>
                <a:ea typeface="メイリオ" panose="020B0604030504040204" pitchFamily="50" charset="-128"/>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rPr>
            </a:br>
            <a:r>
              <a:rPr lang="en-US" altLang="ja-JP" sz="1300" dirty="0">
                <a:solidFill>
                  <a:schemeClr val="tx1"/>
                </a:solidFill>
                <a:latin typeface="メイリオ" panose="020B0604030504040204" pitchFamily="50" charset="-128"/>
                <a:ea typeface="メイリオ" panose="020B0604030504040204" pitchFamily="50" charset="-128"/>
              </a:rPr>
              <a:t>LINE</a:t>
            </a:r>
            <a:r>
              <a:rPr lang="ja-JP" altLang="en-US" sz="1300" dirty="0">
                <a:solidFill>
                  <a:schemeClr val="tx1"/>
                </a:solidFill>
                <a:latin typeface="メイリオ" panose="020B0604030504040204" pitchFamily="50" charset="-128"/>
                <a:ea typeface="メイリオ" panose="020B0604030504040204" pitchFamily="50" charset="-128"/>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p:cNvCxnSpPr>
          <p:nvPr/>
        </p:nvCxnSpPr>
        <p:spPr>
          <a:xfrm flipH="1" flipV="1">
            <a:off x="1145256" y="4485242"/>
            <a:ext cx="515326" cy="48546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398999" y="3203047"/>
            <a:ext cx="184389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492025" y="2641849"/>
            <a:ext cx="1624523" cy="476757"/>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r>
              <a:rPr lang="en-US" altLang="ja-JP" sz="1100" dirty="0">
                <a:solidFill>
                  <a:schemeClr val="tx1"/>
                </a:solidFill>
                <a:latin typeface="メイリオ" panose="020B0604030504040204" pitchFamily="50" charset="-128"/>
                <a:ea typeface="メイリオ" panose="020B0604030504040204" pitchFamily="50" charset="-128"/>
              </a:rPr>
              <a:t>CV</a:t>
            </a:r>
            <a:r>
              <a:rPr lang="ja-JP" altLang="en-US" sz="1100" dirty="0">
                <a:solidFill>
                  <a:schemeClr val="tx1"/>
                </a:solidFill>
                <a:latin typeface="メイリオ" panose="020B0604030504040204" pitchFamily="50" charset="-128"/>
                <a:ea typeface="メイリオ" panose="020B0604030504040204" pitchFamily="50" charset="-128"/>
              </a:rPr>
              <a:t>完了後約</a:t>
            </a:r>
            <a:r>
              <a:rPr lang="en-US" altLang="ja-JP" sz="1100" dirty="0">
                <a:solidFill>
                  <a:schemeClr val="tx1"/>
                </a:solidFill>
                <a:latin typeface="メイリオ" panose="020B0604030504040204" pitchFamily="50" charset="-128"/>
                <a:ea typeface="メイリオ" panose="020B0604030504040204" pitchFamily="50" charset="-128"/>
              </a:rPr>
              <a:t>2~3</a:t>
            </a:r>
            <a:r>
              <a:rPr lang="ja-JP" altLang="en-US" sz="1100" dirty="0">
                <a:solidFill>
                  <a:schemeClr val="tx1"/>
                </a:solidFill>
                <a:latin typeface="メイリオ" panose="020B0604030504040204" pitchFamily="50" charset="-128"/>
                <a:ea typeface="メイリオ" panose="020B0604030504040204" pitchFamily="50" charset="-128"/>
              </a:rPr>
              <a:t>秒で</a:t>
            </a:r>
            <a:br>
              <a:rPr lang="en-US" altLang="ja-JP" sz="1100" dirty="0">
                <a:solidFill>
                  <a:schemeClr val="tx1"/>
                </a:solidFill>
                <a:latin typeface="メイリオ" panose="020B0604030504040204" pitchFamily="50" charset="-128"/>
                <a:ea typeface="メイリオ" panose="020B0604030504040204" pitchFamily="50" charset="-128"/>
              </a:rPr>
            </a:br>
            <a:r>
              <a:rPr lang="en-US" altLang="ja-JP" sz="1100" dirty="0">
                <a:solidFill>
                  <a:schemeClr val="tx1"/>
                </a:solidFill>
                <a:latin typeface="メイリオ" panose="020B0604030504040204" pitchFamily="50" charset="-128"/>
                <a:ea typeface="メイリオ" panose="020B0604030504040204" pitchFamily="50" charset="-128"/>
              </a:rPr>
              <a:t>LINE</a:t>
            </a:r>
            <a:r>
              <a:rPr lang="ja-JP" altLang="en-US" sz="1100" dirty="0">
                <a:solidFill>
                  <a:schemeClr val="tx1"/>
                </a:solidFill>
                <a:latin typeface="メイリオ" panose="020B0604030504040204" pitchFamily="50" charset="-128"/>
                <a:ea typeface="メイリオ" panose="020B0604030504040204" pitchFamily="50" charset="-128"/>
              </a:rPr>
              <a:t>へ自動遷移</a:t>
            </a:r>
            <a:endParaRPr lang="en-US" altLang="ja-JP" sz="1100" dirty="0">
              <a:solidFill>
                <a:schemeClr val="tx1"/>
              </a:solidFill>
              <a:latin typeface="メイリオ" panose="020B0604030504040204" pitchFamily="50" charset="-128"/>
              <a:ea typeface="メイリオ" panose="020B0604030504040204" pitchFamily="50" charset="-128"/>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a:off x="5242891" y="4971540"/>
            <a:ext cx="2486278" cy="25643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矢印: 右 6">
            <a:extLst>
              <a:ext uri="{FF2B5EF4-FFF2-40B4-BE49-F238E27FC236}">
                <a16:creationId xmlns:a16="http://schemas.microsoft.com/office/drawing/2014/main" id="{9EC51A72-DCD0-B1E9-7CCE-6674E65DC641}"/>
              </a:ext>
            </a:extLst>
          </p:cNvPr>
          <p:cNvSpPr/>
          <p:nvPr/>
        </p:nvSpPr>
        <p:spPr>
          <a:xfrm rot="5400000">
            <a:off x="6436767" y="3831408"/>
            <a:ext cx="349205"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lIns="74295" rIns="74295" rtlCol="0" anchor="ctr"/>
          <a:lstStyle/>
          <a:p>
            <a:pPr algn="ctr"/>
            <a:endParaRPr lang="ja-JP" altLang="en-US"/>
          </a:p>
        </p:txBody>
      </p:sp>
      <p:sp>
        <p:nvSpPr>
          <p:cNvPr id="41" name="四角形: 角を丸くする 40">
            <a:extLst>
              <a:ext uri="{FF2B5EF4-FFF2-40B4-BE49-F238E27FC236}">
                <a16:creationId xmlns:a16="http://schemas.microsoft.com/office/drawing/2014/main" id="{3DEB8AF5-27EB-F2A5-5738-9D4876D62932}"/>
              </a:ext>
            </a:extLst>
          </p:cNvPr>
          <p:cNvSpPr/>
          <p:nvPr/>
        </p:nvSpPr>
        <p:spPr>
          <a:xfrm>
            <a:off x="1331634" y="5386674"/>
            <a:ext cx="3965148" cy="1126724"/>
          </a:xfrm>
          <a:prstGeom prst="roundRect">
            <a:avLst>
              <a:gd name="adj" fmla="val 8129"/>
            </a:avLst>
          </a:prstGeom>
          <a:solidFill>
            <a:schemeClr val="bg1">
              <a:lumMod val="8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43" name="図 42">
            <a:extLst>
              <a:ext uri="{FF2B5EF4-FFF2-40B4-BE49-F238E27FC236}">
                <a16:creationId xmlns:a16="http://schemas.microsoft.com/office/drawing/2014/main" id="{F4AEE4F6-B4F2-3B63-B340-970573C6BC9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1407362" y="5422614"/>
            <a:ext cx="1068810" cy="1060107"/>
          </a:xfrm>
          <a:prstGeom prst="rect">
            <a:avLst/>
          </a:prstGeom>
        </p:spPr>
      </p:pic>
      <p:sp>
        <p:nvSpPr>
          <p:cNvPr id="50" name="テキスト ボックス 49">
            <a:extLst>
              <a:ext uri="{FF2B5EF4-FFF2-40B4-BE49-F238E27FC236}">
                <a16:creationId xmlns:a16="http://schemas.microsoft.com/office/drawing/2014/main" id="{9E529396-156F-55A0-24A1-E3F30C8D079F}"/>
              </a:ext>
            </a:extLst>
          </p:cNvPr>
          <p:cNvSpPr txBox="1"/>
          <p:nvPr/>
        </p:nvSpPr>
        <p:spPr>
          <a:xfrm>
            <a:off x="2607260" y="6011736"/>
            <a:ext cx="1740223" cy="430887"/>
          </a:xfrm>
          <a:prstGeom prst="rect">
            <a:avLst/>
          </a:prstGeom>
          <a:noFill/>
        </p:spPr>
        <p:txBody>
          <a:bodyPr wrap="square">
            <a:spAutoFit/>
          </a:bodyPr>
          <a:lstStyle/>
          <a:p>
            <a:r>
              <a:rPr lang="ja-JP" altLang="ja-JP" sz="1050" b="1" dirty="0">
                <a:latin typeface="メイリオ" panose="020B0604030504040204" pitchFamily="50" charset="-128"/>
                <a:ea typeface="メイリオ" panose="020B0604030504040204" pitchFamily="50" charset="-128"/>
              </a:rPr>
              <a:t>QRコードを読み取って</a:t>
            </a:r>
            <a:endParaRPr lang="en-US" altLang="ja-JP" sz="1050" b="1" dirty="0">
              <a:latin typeface="メイリオ" panose="020B0604030504040204" pitchFamily="50" charset="-128"/>
              <a:ea typeface="メイリオ" panose="020B0604030504040204" pitchFamily="50" charset="-128"/>
            </a:endParaRPr>
          </a:p>
          <a:p>
            <a:r>
              <a:rPr lang="ja-JP" altLang="ja-JP" sz="1050" b="1" dirty="0">
                <a:latin typeface="メイリオ" panose="020B0604030504040204" pitchFamily="50" charset="-128"/>
                <a:ea typeface="メイリオ" panose="020B0604030504040204" pitchFamily="50" charset="-128"/>
              </a:rPr>
              <a:t>動画を見る（約22秒）</a:t>
            </a:r>
            <a:endParaRPr lang="en-US" altLang="ja-JP" sz="1050" b="1" dirty="0">
              <a:latin typeface="メイリオ" panose="020B0604030504040204" pitchFamily="50" charset="-128"/>
              <a:ea typeface="メイリオ" panose="020B0604030504040204" pitchFamily="50" charset="-128"/>
            </a:endParaRPr>
          </a:p>
        </p:txBody>
      </p:sp>
      <p:sp>
        <p:nvSpPr>
          <p:cNvPr id="52" name="テキスト ボックス 51">
            <a:extLst>
              <a:ext uri="{FF2B5EF4-FFF2-40B4-BE49-F238E27FC236}">
                <a16:creationId xmlns:a16="http://schemas.microsoft.com/office/drawing/2014/main" id="{FA39FB9E-0354-C79E-71A4-67DB6A28B75A}"/>
              </a:ext>
            </a:extLst>
          </p:cNvPr>
          <p:cNvSpPr txBox="1"/>
          <p:nvPr/>
        </p:nvSpPr>
        <p:spPr>
          <a:xfrm>
            <a:off x="4032248" y="5546685"/>
            <a:ext cx="869321" cy="276999"/>
          </a:xfrm>
          <a:prstGeom prst="rect">
            <a:avLst/>
          </a:prstGeom>
          <a:solidFill>
            <a:schemeClr val="tx2"/>
          </a:solidFill>
        </p:spPr>
        <p:txBody>
          <a:bodyPr wrap="square">
            <a:spAutoFit/>
          </a:bodyPr>
          <a:lstStyle/>
          <a:p>
            <a:r>
              <a:rPr lang="ja-JP" altLang="en-US"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再生</a:t>
            </a:r>
            <a:r>
              <a:rPr lang="ja-JP" altLang="en-US" sz="1200" dirty="0">
                <a:solidFill>
                  <a:srgbClr val="0000FF"/>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 </a:t>
            </a:r>
            <a:r>
              <a:rPr lang="en-US" altLang="ja-JP" sz="1200" dirty="0">
                <a:solidFill>
                  <a:schemeClr val="bg1"/>
                </a:solidFill>
                <a:latin typeface="メイリオ" panose="020B0604030504040204" pitchFamily="50" charset="-128"/>
                <a:ea typeface="メイリオ" panose="020B0604030504040204" pitchFamily="50" charset="-128"/>
                <a:hlinkClick r:id="rId11">
                  <a:extLst>
                    <a:ext uri="{A12FA001-AC4F-418D-AE19-62706E023703}">
                      <ahyp:hlinkClr xmlns:ahyp="http://schemas.microsoft.com/office/drawing/2018/hyperlinkcolor" val="tx"/>
                    </a:ext>
                  </a:extLst>
                </a:hlinkClick>
              </a:rPr>
              <a:t>[▷]</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54" name="テキスト ボックス 53">
            <a:extLst>
              <a:ext uri="{FF2B5EF4-FFF2-40B4-BE49-F238E27FC236}">
                <a16:creationId xmlns:a16="http://schemas.microsoft.com/office/drawing/2014/main" id="{C2099EF7-D4DC-D52C-E0A5-F84C559A9E47}"/>
              </a:ext>
            </a:extLst>
          </p:cNvPr>
          <p:cNvSpPr txBox="1"/>
          <p:nvPr/>
        </p:nvSpPr>
        <p:spPr>
          <a:xfrm>
            <a:off x="2648894" y="5570417"/>
            <a:ext cx="1740223" cy="253916"/>
          </a:xfrm>
          <a:prstGeom prst="rect">
            <a:avLst/>
          </a:prstGeom>
          <a:noFill/>
        </p:spPr>
        <p:txBody>
          <a:bodyPr wrap="square">
            <a:spAutoFit/>
          </a:bodyPr>
          <a:lstStyle/>
          <a:p>
            <a:r>
              <a:rPr lang="ja-JP" altLang="en-US" sz="1050" b="1" dirty="0">
                <a:latin typeface="メイリオ" panose="020B0604030504040204" pitchFamily="50" charset="-128"/>
                <a:ea typeface="メイリオ" panose="020B0604030504040204" pitchFamily="50" charset="-128"/>
              </a:rPr>
              <a:t>クリックして再生</a:t>
            </a:r>
            <a:endParaRPr lang="en-US" altLang="ja-JP" sz="1050" b="1" dirty="0">
              <a:latin typeface="メイリオ" panose="020B0604030504040204" pitchFamily="50" charset="-128"/>
              <a:ea typeface="メイリオ" panose="020B0604030504040204" pitchFamily="50" charset="-128"/>
            </a:endParaRPr>
          </a:p>
        </p:txBody>
      </p:sp>
      <p:sp>
        <p:nvSpPr>
          <p:cNvPr id="1053" name="Rectangle 1052"/>
          <p:cNvSpPr/>
          <p:nvPr/>
        </p:nvSpPr>
        <p:spPr>
          <a:xfrm>
            <a:off x="4178808" y="1216152"/>
            <a:ext cx="114300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初期：15万円</a:t>
            </a:r>
          </a:p>
        </p:txBody>
      </p:sp>
      <p:sp>
        <p:nvSpPr>
          <p:cNvPr id="1054" name="Rectangle 1053"/>
          <p:cNvSpPr/>
          <p:nvPr/>
        </p:nvSpPr>
        <p:spPr>
          <a:xfrm>
            <a:off x="5394960" y="1216152"/>
            <a:ext cx="2103120" cy="256032"/>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18000" tIns="0" rIns="18000" bIns="0" rtlCol="0" anchor="ctr"/>
          <a:lstStyle/>
          <a:p>
            <a:pPr algn="ctr">
              <a:lnSpc>
                <a:spcPct val="110000"/>
              </a:lnSpc>
              <a:spcAft>
                <a:spcPts val="0"/>
              </a:spcAft>
            </a:pPr>
            <a:r>
              <a:rPr sz="1100" b="1">
                <a:solidFill>
                  <a:srgbClr val="FFFFFF"/>
                </a:solidFill>
                <a:latin typeface="メイリオ"/>
                <a:ea typeface="メイリオ"/>
                <a:cs typeface="メイリオ"/>
              </a:rPr>
              <a:t>月額3万円〜＋設定地点追加</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金額からの発注、動線設計が可能です。</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172026310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FF"/>
                </a:solidFill>
                <a:latin typeface="メイリオ" panose="020B0604030504040204" pitchFamily="50" charset="-128"/>
                <a:ea typeface="メイリオ" panose="020B0604030504040204" pitchFamily="50" charset="-128"/>
              </a:rPr>
              <a:t>※CPF</a:t>
            </a:r>
            <a:r>
              <a:rPr lang="ja-JP" altLang="en-US" sz="1200" b="1" dirty="0">
                <a:solidFill>
                  <a:srgbClr val="FFFFFF"/>
                </a:solidFill>
                <a:latin typeface="メイリオ" panose="020B0604030504040204" pitchFamily="50" charset="-128"/>
                <a:ea typeface="メイリオ" panose="020B0604030504040204" pitchFamily="50" charset="-128"/>
              </a:rPr>
              <a:t>広告</a:t>
            </a:r>
            <a:r>
              <a:rPr lang="en-US" altLang="ja-JP" sz="1200" b="1" dirty="0">
                <a:solidFill>
                  <a:srgbClr val="FFFFFF"/>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741189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効果が悪いときの改善例</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数字が伸びないときは、どこで止まっているかを見て、配信の中身・順番・対象を直す。</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止まっているところ</a:t>
            </a:r>
          </a:p>
        </p:txBody>
      </p:sp>
      <p:sp>
        <p:nvSpPr>
          <p:cNvPr id="55" name="Rectangle 54"/>
          <p:cNvSpPr/>
          <p:nvPr/>
        </p:nvSpPr>
        <p:spPr>
          <a:xfrm>
            <a:off x="2788920" y="1828800"/>
            <a:ext cx="23774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見る数字</a:t>
            </a:r>
          </a:p>
        </p:txBody>
      </p:sp>
      <p:sp>
        <p:nvSpPr>
          <p:cNvPr id="56" name="Rectangle 55"/>
          <p:cNvSpPr/>
          <p:nvPr/>
        </p:nvSpPr>
        <p:spPr>
          <a:xfrm>
            <a:off x="5193792" y="1828800"/>
            <a:ext cx="4361687"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直し方</a:t>
            </a:r>
          </a:p>
        </p:txBody>
      </p:sp>
      <p:sp>
        <p:nvSpPr>
          <p:cNvPr id="57" name="Rectangle 56"/>
          <p:cNvSpPr/>
          <p:nvPr/>
        </p:nvSpPr>
        <p:spPr>
          <a:xfrm>
            <a:off x="384048" y="223113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友だちが増えない</a:t>
            </a:r>
          </a:p>
        </p:txBody>
      </p:sp>
      <p:sp>
        <p:nvSpPr>
          <p:cNvPr id="58" name="Rectangle 57"/>
          <p:cNvSpPr/>
          <p:nvPr/>
        </p:nvSpPr>
        <p:spPr>
          <a:xfrm>
            <a:off x="2788920" y="223113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友だち追加数・ポップアップの表示回数</a:t>
            </a:r>
          </a:p>
        </p:txBody>
      </p:sp>
      <p:sp>
        <p:nvSpPr>
          <p:cNvPr id="59" name="Rectangle 58"/>
          <p:cNvSpPr/>
          <p:nvPr/>
        </p:nvSpPr>
        <p:spPr>
          <a:xfrm>
            <a:off x="5193792" y="223113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ポップアップの出し方と訴求、広告の着地ページの導線を見直す</a:t>
            </a:r>
          </a:p>
        </p:txBody>
      </p:sp>
      <p:sp>
        <p:nvSpPr>
          <p:cNvPr id="60" name="Rectangle 59"/>
          <p:cNvSpPr/>
          <p:nvPr/>
        </p:nvSpPr>
        <p:spPr>
          <a:xfrm>
            <a:off x="384048" y="287121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ブロックが多い</a:t>
            </a:r>
          </a:p>
        </p:txBody>
      </p:sp>
      <p:sp>
        <p:nvSpPr>
          <p:cNvPr id="61" name="Rectangle 60"/>
          <p:cNvSpPr/>
          <p:nvPr/>
        </p:nvSpPr>
        <p:spPr>
          <a:xfrm>
            <a:off x="2788920" y="287121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ブロック率（配信ごと）</a:t>
            </a:r>
          </a:p>
        </p:txBody>
      </p:sp>
      <p:sp>
        <p:nvSpPr>
          <p:cNvPr id="62" name="Rectangle 61"/>
          <p:cNvSpPr/>
          <p:nvPr/>
        </p:nvSpPr>
        <p:spPr>
          <a:xfrm>
            <a:off x="5193792" y="287121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配信の頻度と対象を絞る。診断の答えに合わない配信を止める</a:t>
            </a:r>
          </a:p>
        </p:txBody>
      </p:sp>
      <p:sp>
        <p:nvSpPr>
          <p:cNvPr id="63" name="Rectangle 62"/>
          <p:cNvSpPr/>
          <p:nvPr/>
        </p:nvSpPr>
        <p:spPr>
          <a:xfrm>
            <a:off x="384048" y="351129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開封・クリックが低い</a:t>
            </a:r>
          </a:p>
        </p:txBody>
      </p:sp>
      <p:sp>
        <p:nvSpPr>
          <p:cNvPr id="64" name="Rectangle 63"/>
          <p:cNvSpPr/>
          <p:nvPr/>
        </p:nvSpPr>
        <p:spPr>
          <a:xfrm>
            <a:off x="2788920" y="351129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開封率・クリック率</a:t>
            </a:r>
          </a:p>
        </p:txBody>
      </p:sp>
      <p:sp>
        <p:nvSpPr>
          <p:cNvPr id="65" name="Rectangle 64"/>
          <p:cNvSpPr/>
          <p:nvPr/>
        </p:nvSpPr>
        <p:spPr>
          <a:xfrm>
            <a:off x="5193792" y="351129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見出し・画像・送る時間を変えて比べる</a:t>
            </a:r>
          </a:p>
        </p:txBody>
      </p:sp>
      <p:sp>
        <p:nvSpPr>
          <p:cNvPr id="66" name="Rectangle 65"/>
          <p:cNvSpPr/>
          <p:nvPr/>
        </p:nvSpPr>
        <p:spPr>
          <a:xfrm>
            <a:off x="384048" y="415137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ENTRYにつながらない</a:t>
            </a:r>
          </a:p>
        </p:txBody>
      </p:sp>
      <p:sp>
        <p:nvSpPr>
          <p:cNvPr id="67" name="Rectangle 66"/>
          <p:cNvSpPr/>
          <p:nvPr/>
        </p:nvSpPr>
        <p:spPr>
          <a:xfrm>
            <a:off x="2788920" y="415137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ENTRY数・ENTRY率</a:t>
            </a:r>
          </a:p>
        </p:txBody>
      </p:sp>
      <p:sp>
        <p:nvSpPr>
          <p:cNvPr id="68" name="Rectangle 67"/>
          <p:cNvSpPr/>
          <p:nvPr/>
        </p:nvSpPr>
        <p:spPr>
          <a:xfrm>
            <a:off x="5193792" y="415137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診断の結果に合う求人と、ステップ配信の順番を見直す</a:t>
            </a:r>
          </a:p>
        </p:txBody>
      </p:sp>
      <p:sp>
        <p:nvSpPr>
          <p:cNvPr id="69" name="Rectangle 68"/>
          <p:cNvSpPr/>
          <p:nvPr/>
        </p:nvSpPr>
        <p:spPr>
          <a:xfrm>
            <a:off x="384048" y="4791456"/>
            <a:ext cx="2377440" cy="603504"/>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登録後に応募が進まない</a:t>
            </a:r>
          </a:p>
        </p:txBody>
      </p:sp>
      <p:sp>
        <p:nvSpPr>
          <p:cNvPr id="70" name="Rectangle 69"/>
          <p:cNvSpPr/>
          <p:nvPr/>
        </p:nvSpPr>
        <p:spPr>
          <a:xfrm>
            <a:off x="2788920" y="4791456"/>
            <a:ext cx="2377440"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カウンセリング・応募の数</a:t>
            </a:r>
          </a:p>
        </p:txBody>
      </p:sp>
      <p:sp>
        <p:nvSpPr>
          <p:cNvPr id="71" name="Rectangle 70"/>
          <p:cNvSpPr/>
          <p:nvPr/>
        </p:nvSpPr>
        <p:spPr>
          <a:xfrm>
            <a:off x="5193792" y="4791456"/>
            <a:ext cx="4361687" cy="603504"/>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サンクスLINEの後の案内と、カウンセリングの予約の導線を見直す</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報告の粒度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毎月のレポートと定例会で、数字と次の打ち手を共有する。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46304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頻度</a:t>
            </a:r>
          </a:p>
        </p:txBody>
      </p:sp>
      <p:sp>
        <p:nvSpPr>
          <p:cNvPr id="55" name="Rectangle 54"/>
          <p:cNvSpPr/>
          <p:nvPr/>
        </p:nvSpPr>
        <p:spPr>
          <a:xfrm>
            <a:off x="1874520" y="1828800"/>
            <a:ext cx="292608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4828032" y="1828800"/>
            <a:ext cx="472744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中身</a:t>
            </a:r>
          </a:p>
        </p:txBody>
      </p:sp>
      <p:sp>
        <p:nvSpPr>
          <p:cNvPr id="57" name="Rectangle 56"/>
          <p:cNvSpPr/>
          <p:nvPr/>
        </p:nvSpPr>
        <p:spPr>
          <a:xfrm>
            <a:off x="384048" y="2231136"/>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58" name="Rectangle 57"/>
          <p:cNvSpPr/>
          <p:nvPr/>
        </p:nvSpPr>
        <p:spPr>
          <a:xfrm>
            <a:off x="1874520" y="2231136"/>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a:t>
            </a:r>
          </a:p>
        </p:txBody>
      </p:sp>
      <p:sp>
        <p:nvSpPr>
          <p:cNvPr id="59" name="Rectangle 58"/>
          <p:cNvSpPr/>
          <p:nvPr/>
        </p:nvSpPr>
        <p:spPr>
          <a:xfrm>
            <a:off x="4828032" y="2231136"/>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友だち数・ブロック率、配信ごとの開封・クリック、ENTRY・応募</a:t>
            </a:r>
          </a:p>
        </p:txBody>
      </p:sp>
      <p:sp>
        <p:nvSpPr>
          <p:cNvPr id="60" name="Rectangle 59"/>
          <p:cNvSpPr/>
          <p:nvPr/>
        </p:nvSpPr>
        <p:spPr>
          <a:xfrm>
            <a:off x="384048" y="2834640"/>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毎月</a:t>
            </a:r>
          </a:p>
        </p:txBody>
      </p:sp>
      <p:sp>
        <p:nvSpPr>
          <p:cNvPr id="61" name="Rectangle 60"/>
          <p:cNvSpPr/>
          <p:nvPr/>
        </p:nvSpPr>
        <p:spPr>
          <a:xfrm>
            <a:off x="1874520" y="2834640"/>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定例会</a:t>
            </a:r>
          </a:p>
        </p:txBody>
      </p:sp>
      <p:sp>
        <p:nvSpPr>
          <p:cNvPr id="62" name="Rectangle 61"/>
          <p:cNvSpPr/>
          <p:nvPr/>
        </p:nvSpPr>
        <p:spPr>
          <a:xfrm>
            <a:off x="4828032" y="2834640"/>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先月の振り返りと、翌月の企画配信の内容</a:t>
            </a:r>
          </a:p>
        </p:txBody>
      </p:sp>
      <p:sp>
        <p:nvSpPr>
          <p:cNvPr id="63" name="Rectangle 62"/>
          <p:cNvSpPr/>
          <p:nvPr/>
        </p:nvSpPr>
        <p:spPr>
          <a:xfrm>
            <a:off x="384048" y="3438144"/>
            <a:ext cx="1463040" cy="566928"/>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四半期</a:t>
            </a:r>
          </a:p>
        </p:txBody>
      </p:sp>
      <p:sp>
        <p:nvSpPr>
          <p:cNvPr id="64" name="Rectangle 63"/>
          <p:cNvSpPr/>
          <p:nvPr/>
        </p:nvSpPr>
        <p:spPr>
          <a:xfrm>
            <a:off x="1874520" y="3438144"/>
            <a:ext cx="2926080"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設計の見直し</a:t>
            </a:r>
          </a:p>
        </p:txBody>
      </p:sp>
      <p:sp>
        <p:nvSpPr>
          <p:cNvPr id="65" name="Rectangle 64"/>
          <p:cNvSpPr/>
          <p:nvPr/>
        </p:nvSpPr>
        <p:spPr>
          <a:xfrm>
            <a:off x="4828032" y="3438144"/>
            <a:ext cx="4727448" cy="566928"/>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診断の項目、ステップ配信の順番、リッチメニューの並び</a:t>
            </a:r>
          </a:p>
        </p:txBody>
      </p:sp>
      <p:sp>
        <p:nvSpPr>
          <p:cNvPr id="66" name="Rectangle 65"/>
          <p:cNvSpPr/>
          <p:nvPr/>
        </p:nvSpPr>
        <p:spPr>
          <a:xfrm>
            <a:off x="384048" y="4160520"/>
            <a:ext cx="9116568" cy="1965959"/>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差し込み：月次レポートの見本</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体制・スケジュール</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設計 → 構築 → 運用開始 → 改善の順に進める。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54" name="Rectangle 53"/>
          <p:cNvSpPr/>
          <p:nvPr/>
        </p:nvSpPr>
        <p:spPr>
          <a:xfrm>
            <a:off x="384048" y="1828800"/>
            <a:ext cx="1828800"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段階</a:t>
            </a:r>
          </a:p>
        </p:txBody>
      </p:sp>
      <p:sp>
        <p:nvSpPr>
          <p:cNvPr id="55" name="Rectangle 54"/>
          <p:cNvSpPr/>
          <p:nvPr/>
        </p:nvSpPr>
        <p:spPr>
          <a:xfrm>
            <a:off x="2240279" y="1828800"/>
            <a:ext cx="7287768" cy="365760"/>
          </a:xfrm>
          <a:prstGeom prst="rect">
            <a:avLst/>
          </a:prstGeom>
          <a:solidFill>
            <a:srgbClr val="1F2A5C"/>
          </a:solidFill>
          <a:ln>
            <a:noFill/>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1">
                <a:solidFill>
                  <a:srgbClr val="FFFFFF"/>
                </a:solidFill>
                <a:latin typeface="メイリオ"/>
                <a:ea typeface="メイリオ"/>
                <a:cs typeface="メイリオ"/>
              </a:rPr>
              <a:t>やること</a:t>
            </a:r>
          </a:p>
        </p:txBody>
      </p:sp>
      <p:sp>
        <p:nvSpPr>
          <p:cNvPr id="56" name="Rectangle 55"/>
          <p:cNvSpPr/>
          <p:nvPr/>
        </p:nvSpPr>
        <p:spPr>
          <a:xfrm>
            <a:off x="384048" y="2231136"/>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設計</a:t>
            </a:r>
          </a:p>
        </p:txBody>
      </p:sp>
      <p:sp>
        <p:nvSpPr>
          <p:cNvPr id="57" name="Rectangle 56"/>
          <p:cNvSpPr/>
          <p:nvPr/>
        </p:nvSpPr>
        <p:spPr>
          <a:xfrm>
            <a:off x="2240279" y="2231136"/>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友だちの入口、適正バイト診断の項目、ステップ配信の内容と順番</a:t>
            </a:r>
          </a:p>
        </p:txBody>
      </p:sp>
      <p:sp>
        <p:nvSpPr>
          <p:cNvPr id="58" name="Rectangle 57"/>
          <p:cNvSpPr/>
          <p:nvPr/>
        </p:nvSpPr>
        <p:spPr>
          <a:xfrm>
            <a:off x="384048" y="2816352"/>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構築</a:t>
            </a:r>
          </a:p>
        </p:txBody>
      </p:sp>
      <p:sp>
        <p:nvSpPr>
          <p:cNvPr id="59" name="Rectangle 58"/>
          <p:cNvSpPr/>
          <p:nvPr/>
        </p:nvSpPr>
        <p:spPr>
          <a:xfrm>
            <a:off x="2240279" y="2816352"/>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ポップアップ・サンクスLINE誘導、診断、ステップ配信、リッチメニュー</a:t>
            </a:r>
          </a:p>
        </p:txBody>
      </p:sp>
      <p:sp>
        <p:nvSpPr>
          <p:cNvPr id="60" name="Rectangle 59"/>
          <p:cNvSpPr/>
          <p:nvPr/>
        </p:nvSpPr>
        <p:spPr>
          <a:xfrm>
            <a:off x="384048" y="3401568"/>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運用開始</a:t>
            </a:r>
          </a:p>
        </p:txBody>
      </p:sp>
      <p:sp>
        <p:nvSpPr>
          <p:cNvPr id="61" name="Rectangle 60"/>
          <p:cNvSpPr/>
          <p:nvPr/>
        </p:nvSpPr>
        <p:spPr>
          <a:xfrm>
            <a:off x="2240279" y="3401568"/>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企画配信と、開始時期・エリア別の配信</a:t>
            </a:r>
          </a:p>
        </p:txBody>
      </p:sp>
      <p:sp>
        <p:nvSpPr>
          <p:cNvPr id="62" name="Rectangle 61"/>
          <p:cNvSpPr/>
          <p:nvPr/>
        </p:nvSpPr>
        <p:spPr>
          <a:xfrm>
            <a:off x="384048" y="3986783"/>
            <a:ext cx="1828800" cy="548640"/>
          </a:xfrm>
          <a:prstGeom prst="rect">
            <a:avLst/>
          </a:prstGeom>
          <a:solidFill>
            <a:srgbClr val="EEF1F8"/>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1">
                <a:solidFill>
                  <a:srgbClr val="1F2A5C"/>
                </a:solidFill>
                <a:latin typeface="メイリオ"/>
                <a:ea typeface="メイリオ"/>
                <a:cs typeface="メイリオ"/>
              </a:rPr>
              <a:t>改善</a:t>
            </a:r>
          </a:p>
        </p:txBody>
      </p:sp>
      <p:sp>
        <p:nvSpPr>
          <p:cNvPr id="63" name="Rectangle 62"/>
          <p:cNvSpPr/>
          <p:nvPr/>
        </p:nvSpPr>
        <p:spPr>
          <a:xfrm>
            <a:off x="2240279" y="3986783"/>
            <a:ext cx="7287768" cy="548640"/>
          </a:xfrm>
          <a:prstGeom prst="rect">
            <a:avLst/>
          </a:prstGeom>
          <a:solidFill>
            <a:srgbClr val="FFFFFF"/>
          </a:solidFill>
          <a:ln w="9525">
            <a:solidFill>
              <a:srgbClr val="D0D5E0"/>
            </a:solidFill>
          </a:ln>
          <a:effectLst/>
        </p:spPr>
        <p:style>
          <a:lnRef idx="1">
            <a:schemeClr val="accent1"/>
          </a:lnRef>
          <a:fillRef idx="3">
            <a:schemeClr val="accent1"/>
          </a:fillRef>
          <a:effectRef idx="0">
            <a:schemeClr val="accent1"/>
          </a:effectRef>
          <a:fontRef idx="minor">
            <a:schemeClr val="lt1"/>
          </a:fontRef>
        </p:style>
        <p:txBody>
          <a:bodyPr wrap="square" lIns="72000" tIns="18000" rIns="54000" bIns="18000" rtlCol="0" anchor="ctr"/>
          <a:lstStyle/>
          <a:p>
            <a:pPr algn="l">
              <a:lnSpc>
                <a:spcPct val="110000"/>
              </a:lnSpc>
              <a:spcAft>
                <a:spcPts val="0"/>
              </a:spcAft>
            </a:pPr>
            <a:r>
              <a:rPr sz="1200" b="0">
                <a:solidFill>
                  <a:srgbClr val="333333"/>
                </a:solidFill>
                <a:latin typeface="メイリオ"/>
                <a:ea typeface="メイリオ"/>
                <a:cs typeface="メイリオ"/>
              </a:rPr>
              <a:t>月次レポート・定例会で、配信の中身・順番・対象を見直す</a:t>
            </a:r>
          </a:p>
        </p:txBody>
      </p:sp>
      <p:sp>
        <p:nvSpPr>
          <p:cNvPr id="64" name="Rectangle 63"/>
          <p:cNvSpPr/>
          <p:nvPr/>
        </p:nvSpPr>
        <p:spPr>
          <a:xfrm>
            <a:off x="384048" y="4526280"/>
            <a:ext cx="9116568" cy="1600200"/>
          </a:xfrm>
          <a:prstGeom prst="rect">
            <a:avLst/>
          </a:prstGeom>
          <a:noFill/>
          <a:ln w="12700">
            <a:solidFill>
              <a:srgbClr val="A6A6A6"/>
            </a:solidFill>
            <a:prstDash val="dash"/>
          </a:ln>
          <a:effectLst/>
        </p:spPr>
        <p:style>
          <a:lnRef idx="1">
            <a:schemeClr val="accent1"/>
          </a:lnRef>
          <a:fillRef idx="3">
            <a:schemeClr val="accent1"/>
          </a:fillRef>
          <a:effectRef idx="0">
            <a:schemeClr val="accent1"/>
          </a:effectRef>
          <a:fontRef idx="minor">
            <a:schemeClr val="lt1"/>
          </a:fontRef>
        </p:style>
        <p:txBody>
          <a:bodyPr wrap="square" lIns="72000" tIns="18000" rIns="72000" bIns="18000" rtlCol="0" anchor="ctr"/>
          <a:lstStyle/>
          <a:p>
            <a:pPr algn="ctr">
              <a:lnSpc>
                <a:spcPct val="110000"/>
              </a:lnSpc>
              <a:spcAft>
                <a:spcPts val="0"/>
              </a:spcAft>
            </a:pPr>
            <a:r>
              <a:rPr sz="1200" b="0">
                <a:solidFill>
                  <a:srgbClr val="777777"/>
                </a:solidFill>
                <a:latin typeface="メイリオ"/>
                <a:ea typeface="メイリオ"/>
                <a:cs typeface="メイリオ"/>
              </a:rPr>
              <a:t>差し込み：体制図（弊社と貴社の役割）</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72D1DD-CAE7-7DB8-9684-F3A91B9AE85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357DA0F-C67D-8DDD-608D-27940C40784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chemeClr val="bg1">
                    <a:lumMod val="65000"/>
                  </a:schemeClr>
                </a:solidFill>
                <a:latin typeface="メイリオ" panose="020B0604030504040204" pitchFamily="50" charset="-128"/>
                <a:ea typeface="メイリオ" panose="020B0604030504040204" pitchFamily="50" charset="-128"/>
                <a:cs typeface="Meiryo"/>
                <a:sym typeface="Meiryo"/>
              </a:rPr>
              <a:t>アジェンダ</a:t>
            </a:r>
          </a:p>
        </p:txBody>
      </p:sp>
      <p:sp>
        <p:nvSpPr>
          <p:cNvPr id="14" name="Google Shape;752;p28">
            <a:extLst>
              <a:ext uri="{FF2B5EF4-FFF2-40B4-BE49-F238E27FC236}">
                <a16:creationId xmlns:a16="http://schemas.microsoft.com/office/drawing/2014/main" id="{26E1192D-9AA2-9014-0964-28399C9BEE8D}"/>
              </a:ext>
            </a:extLst>
          </p:cNvPr>
          <p:cNvSpPr txBox="1"/>
          <p:nvPr/>
        </p:nvSpPr>
        <p:spPr>
          <a:xfrm>
            <a:off x="602223" y="1104688"/>
            <a:ext cx="1104657" cy="584735"/>
          </a:xfrm>
          <a:prstGeom prst="rect">
            <a:avLst/>
          </a:prstGeom>
          <a:noFill/>
          <a:ln>
            <a:noFill/>
          </a:ln>
        </p:spPr>
        <p:txBody>
          <a:bodyPr spcFirstLastPara="1" wrap="square" lIns="91425" tIns="45700" rIns="91425" bIns="45700" anchor="ctr" anchorCtr="0">
            <a:spAutoFit/>
          </a:bodyPr>
          <a:lstStyle/>
          <a:p>
            <a:pPr lvl="0"/>
            <a:r>
              <a:rPr lang="en-US" altLang="ja-JP" sz="3200" b="1" dirty="0">
                <a:solidFill>
                  <a:srgbClr val="323366"/>
                </a:solidFill>
                <a:latin typeface="メイリオ" panose="020B0604030504040204" pitchFamily="50" charset="-128"/>
                <a:ea typeface="メイリオ" panose="020B0604030504040204" pitchFamily="50" charset="-128"/>
                <a:cs typeface="Meiryo"/>
                <a:sym typeface="Meiryo"/>
              </a:rPr>
              <a:t>06</a:t>
            </a:r>
            <a:endParaRPr lang="ja-JP" altLang="en-US" sz="32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16" name="Google Shape;752;p28">
            <a:extLst>
              <a:ext uri="{FF2B5EF4-FFF2-40B4-BE49-F238E27FC236}">
                <a16:creationId xmlns:a16="http://schemas.microsoft.com/office/drawing/2014/main" id="{C6DC77DA-F435-23D0-D2CE-3DB2470F38A6}"/>
              </a:ext>
            </a:extLst>
          </p:cNvPr>
          <p:cNvSpPr txBox="1"/>
          <p:nvPr/>
        </p:nvSpPr>
        <p:spPr>
          <a:xfrm>
            <a:off x="1867143" y="1043132"/>
            <a:ext cx="7315200" cy="707846"/>
          </a:xfrm>
          <a:prstGeom prst="rect">
            <a:avLst/>
          </a:prstGeom>
          <a:noFill/>
          <a:ln>
            <a:noFill/>
          </a:ln>
        </p:spPr>
        <p:txBody>
          <a:bodyPr spcFirstLastPara="1" wrap="square" lIns="91425" tIns="45700" rIns="91425" bIns="45700" anchor="ctr" anchorCtr="0">
            <a:spAutoFit/>
          </a:bodyPr>
          <a:lstStyle/>
          <a:p>
            <a:pPr lvl="0"/>
            <a:r>
              <a:rPr lang="ja-JP" altLang="en-US" sz="4000" b="1" dirty="0">
                <a:solidFill>
                  <a:schemeClr val="tx1">
                    <a:lumMod val="65000"/>
                    <a:lumOff val="35000"/>
                  </a:schemeClr>
                </a:solidFill>
                <a:latin typeface="メイリオ" panose="020B0604030504040204" pitchFamily="50" charset="-128"/>
                <a:ea typeface="メイリオ" panose="020B0604030504040204" pitchFamily="50" charset="-128"/>
                <a:cs typeface="Meiryo"/>
                <a:sym typeface="Meiryo"/>
              </a:rPr>
              <a:t>次回ご提案に向けて</a:t>
            </a:r>
          </a:p>
        </p:txBody>
      </p:sp>
      <p:cxnSp>
        <p:nvCxnSpPr>
          <p:cNvPr id="17" name="直線コネクタ 16">
            <a:extLst>
              <a:ext uri="{FF2B5EF4-FFF2-40B4-BE49-F238E27FC236}">
                <a16:creationId xmlns:a16="http://schemas.microsoft.com/office/drawing/2014/main" id="{3F50B547-1157-51AB-1A19-0181140945B2}"/>
              </a:ext>
            </a:extLst>
          </p:cNvPr>
          <p:cNvCxnSpPr>
            <a:cxnSpLocks/>
          </p:cNvCxnSpPr>
          <p:nvPr/>
        </p:nvCxnSpPr>
        <p:spPr>
          <a:xfrm>
            <a:off x="608527" y="1681803"/>
            <a:ext cx="944805" cy="0"/>
          </a:xfrm>
          <a:prstGeom prst="line">
            <a:avLst/>
          </a:prstGeom>
          <a:ln w="57150">
            <a:solidFill>
              <a:srgbClr val="10253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566723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A4FD29-E6FC-0B1A-9DA4-17FF75836D9E}"/>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54048A3F-BF68-8CBE-2D2A-EA19B4DB550B}"/>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提案に向けて明確化したいポイント①　施策の重要度</a:t>
            </a:r>
          </a:p>
        </p:txBody>
      </p:sp>
      <p:sp>
        <p:nvSpPr>
          <p:cNvPr id="5" name="Rectangle 2">
            <a:extLst>
              <a:ext uri="{FF2B5EF4-FFF2-40B4-BE49-F238E27FC236}">
                <a16:creationId xmlns:a16="http://schemas.microsoft.com/office/drawing/2014/main" id="{234E3E2F-FF11-E565-7999-FABF8B29646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1600" b="1">
                <a:solidFill>
                  <a:srgbClr val="4A6FA5"/>
                </a:solidFill>
                <a:latin typeface="メイリオ"/>
                <a:ea typeface="メイリオ"/>
                <a:cs typeface="メイリオ"/>
              </a:rPr>
              <a:t>新規／既存／ファン化／効率化のうち、何を、どの程度重視するか</a:t>
            </a:r>
          </a:p>
        </p:txBody>
      </p:sp>
      <p:sp>
        <p:nvSpPr>
          <p:cNvPr id="7" name="Rectangle 3">
            <a:extLst>
              <a:ext uri="{FF2B5EF4-FFF2-40B4-BE49-F238E27FC236}">
                <a16:creationId xmlns:a16="http://schemas.microsoft.com/office/drawing/2014/main" id="{0E411E5A-CC07-761C-CB20-F06A383B1BB9}"/>
              </a:ext>
            </a:extLst>
          </p:cNvPr>
          <p:cNvSpPr/>
          <p:nvPr/>
        </p:nvSpPr>
        <p:spPr>
          <a:xfrm>
            <a:off x="1632204" y="1746073"/>
            <a:ext cx="12527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軸</a:t>
            </a:r>
          </a:p>
        </p:txBody>
      </p:sp>
      <p:sp>
        <p:nvSpPr>
          <p:cNvPr id="9" name="Rectangle 4">
            <a:extLst>
              <a:ext uri="{FF2B5EF4-FFF2-40B4-BE49-F238E27FC236}">
                <a16:creationId xmlns:a16="http://schemas.microsoft.com/office/drawing/2014/main" id="{7E370F07-31E8-4A03-CB72-CF991FB2B5C1}"/>
              </a:ext>
            </a:extLst>
          </p:cNvPr>
          <p:cNvSpPr/>
          <p:nvPr/>
        </p:nvSpPr>
        <p:spPr>
          <a:xfrm>
            <a:off x="2912363" y="1746073"/>
            <a:ext cx="399592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施策の例</a:t>
            </a:r>
          </a:p>
        </p:txBody>
      </p:sp>
      <p:sp>
        <p:nvSpPr>
          <p:cNvPr id="11" name="Rectangle 5">
            <a:extLst>
              <a:ext uri="{FF2B5EF4-FFF2-40B4-BE49-F238E27FC236}">
                <a16:creationId xmlns:a16="http://schemas.microsoft.com/office/drawing/2014/main" id="{3AA8E495-6AA3-81B3-F377-60D6929EA446}"/>
              </a:ext>
            </a:extLst>
          </p:cNvPr>
          <p:cNvSpPr/>
          <p:nvPr/>
        </p:nvSpPr>
        <p:spPr>
          <a:xfrm>
            <a:off x="6935724" y="1746073"/>
            <a:ext cx="1344168" cy="411480"/>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重要度</a:t>
            </a:r>
          </a:p>
        </p:txBody>
      </p:sp>
      <p:sp>
        <p:nvSpPr>
          <p:cNvPr id="18" name="Rectangle 7">
            <a:extLst>
              <a:ext uri="{FF2B5EF4-FFF2-40B4-BE49-F238E27FC236}">
                <a16:creationId xmlns:a16="http://schemas.microsoft.com/office/drawing/2014/main" id="{0DE26C81-EAA6-9BC7-2010-07A0AE499222}"/>
              </a:ext>
            </a:extLst>
          </p:cNvPr>
          <p:cNvSpPr/>
          <p:nvPr/>
        </p:nvSpPr>
        <p:spPr>
          <a:xfrm>
            <a:off x="1632204" y="21941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新規</a:t>
            </a:r>
          </a:p>
        </p:txBody>
      </p:sp>
      <p:sp>
        <p:nvSpPr>
          <p:cNvPr id="20" name="Rectangle 8">
            <a:extLst>
              <a:ext uri="{FF2B5EF4-FFF2-40B4-BE49-F238E27FC236}">
                <a16:creationId xmlns:a16="http://schemas.microsoft.com/office/drawing/2014/main" id="{104C26B0-503F-BDBF-1F0A-FBB30E665B09}"/>
              </a:ext>
            </a:extLst>
          </p:cNvPr>
          <p:cNvSpPr/>
          <p:nvPr/>
        </p:nvSpPr>
        <p:spPr>
          <a:xfrm>
            <a:off x="2912363" y="21941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dirty="0" err="1">
                <a:solidFill>
                  <a:srgbClr val="333333"/>
                </a:solidFill>
                <a:latin typeface="メイリオ"/>
                <a:ea typeface="メイリオ"/>
                <a:cs typeface="メイリオ"/>
              </a:rPr>
              <a:t>友だち追加の入口を増やす</a:t>
            </a:r>
            <a:br>
              <a:rPr sz="1400" b="0" dirty="0" err="1">
                <a:solidFill>
                  <a:srgbClr val="333333"/>
                </a:solidFill>
                <a:latin typeface="メイリオ"/>
                <a:ea typeface="メイリオ"/>
                <a:cs typeface="メイリオ"/>
              </a:rPr>
            </a:br>
            <a:r>
              <a:rPr sz="1400" b="0" dirty="0" err="1">
                <a:solidFill>
                  <a:srgbClr val="333333"/>
                </a:solidFill>
                <a:latin typeface="メイリオ"/>
                <a:ea typeface="メイリオ"/>
                <a:cs typeface="メイリオ"/>
              </a:rPr>
              <a:t>（ポップアップ・広告・店頭）</a:t>
            </a:r>
          </a:p>
        </p:txBody>
      </p:sp>
      <p:sp>
        <p:nvSpPr>
          <p:cNvPr id="23" name="Rectangle 9">
            <a:extLst>
              <a:ext uri="{FF2B5EF4-FFF2-40B4-BE49-F238E27FC236}">
                <a16:creationId xmlns:a16="http://schemas.microsoft.com/office/drawing/2014/main" id="{4D555954-77CD-7E09-CEBD-4C58033525FD}"/>
              </a:ext>
            </a:extLst>
          </p:cNvPr>
          <p:cNvSpPr/>
          <p:nvPr/>
        </p:nvSpPr>
        <p:spPr>
          <a:xfrm>
            <a:off x="6935724" y="21941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27" name="Rectangle 11">
            <a:extLst>
              <a:ext uri="{FF2B5EF4-FFF2-40B4-BE49-F238E27FC236}">
                <a16:creationId xmlns:a16="http://schemas.microsoft.com/office/drawing/2014/main" id="{CB2A3195-221A-72EE-7427-467D873BA83B}"/>
              </a:ext>
            </a:extLst>
          </p:cNvPr>
          <p:cNvSpPr/>
          <p:nvPr/>
        </p:nvSpPr>
        <p:spPr>
          <a:xfrm>
            <a:off x="1632204" y="31085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既存</a:t>
            </a:r>
          </a:p>
        </p:txBody>
      </p:sp>
      <p:sp>
        <p:nvSpPr>
          <p:cNvPr id="29" name="Rectangle 12">
            <a:extLst>
              <a:ext uri="{FF2B5EF4-FFF2-40B4-BE49-F238E27FC236}">
                <a16:creationId xmlns:a16="http://schemas.microsoft.com/office/drawing/2014/main" id="{A4AC3903-60B0-B8B7-E4C3-00D581DF3EF8}"/>
              </a:ext>
            </a:extLst>
          </p:cNvPr>
          <p:cNvSpPr/>
          <p:nvPr/>
        </p:nvSpPr>
        <p:spPr>
          <a:xfrm>
            <a:off x="2912363" y="31085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既存の友だち・顧客へのCV・リピート促進</a:t>
            </a:r>
          </a:p>
        </p:txBody>
      </p:sp>
      <p:sp>
        <p:nvSpPr>
          <p:cNvPr id="31" name="Rectangle 13">
            <a:extLst>
              <a:ext uri="{FF2B5EF4-FFF2-40B4-BE49-F238E27FC236}">
                <a16:creationId xmlns:a16="http://schemas.microsoft.com/office/drawing/2014/main" id="{584CF8C4-B5B9-FFE8-EA87-8C8DDDF96F7B}"/>
              </a:ext>
            </a:extLst>
          </p:cNvPr>
          <p:cNvSpPr/>
          <p:nvPr/>
        </p:nvSpPr>
        <p:spPr>
          <a:xfrm>
            <a:off x="6935724" y="31085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35" name="Rectangle 15">
            <a:extLst>
              <a:ext uri="{FF2B5EF4-FFF2-40B4-BE49-F238E27FC236}">
                <a16:creationId xmlns:a16="http://schemas.microsoft.com/office/drawing/2014/main" id="{6C54381C-EDB8-6610-8581-D5F4C5355345}"/>
              </a:ext>
            </a:extLst>
          </p:cNvPr>
          <p:cNvSpPr/>
          <p:nvPr/>
        </p:nvSpPr>
        <p:spPr>
          <a:xfrm>
            <a:off x="1632204" y="40229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ファン化</a:t>
            </a:r>
          </a:p>
        </p:txBody>
      </p:sp>
      <p:sp>
        <p:nvSpPr>
          <p:cNvPr id="37" name="Rectangle 16">
            <a:extLst>
              <a:ext uri="{FF2B5EF4-FFF2-40B4-BE49-F238E27FC236}">
                <a16:creationId xmlns:a16="http://schemas.microsoft.com/office/drawing/2014/main" id="{9C16E17E-2CCE-D35F-C811-2C0A6D66E20F}"/>
              </a:ext>
            </a:extLst>
          </p:cNvPr>
          <p:cNvSpPr/>
          <p:nvPr/>
        </p:nvSpPr>
        <p:spPr>
          <a:xfrm>
            <a:off x="2912363" y="40229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限定コミュニティ・特典でLTVを高める</a:t>
            </a:r>
          </a:p>
        </p:txBody>
      </p:sp>
      <p:sp>
        <p:nvSpPr>
          <p:cNvPr id="39" name="Rectangle 17">
            <a:extLst>
              <a:ext uri="{FF2B5EF4-FFF2-40B4-BE49-F238E27FC236}">
                <a16:creationId xmlns:a16="http://schemas.microsoft.com/office/drawing/2014/main" id="{6F107650-F753-AB36-FB6A-2B9143014268}"/>
              </a:ext>
            </a:extLst>
          </p:cNvPr>
          <p:cNvSpPr/>
          <p:nvPr/>
        </p:nvSpPr>
        <p:spPr>
          <a:xfrm>
            <a:off x="6935724" y="40229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43" name="Rectangle 19">
            <a:extLst>
              <a:ext uri="{FF2B5EF4-FFF2-40B4-BE49-F238E27FC236}">
                <a16:creationId xmlns:a16="http://schemas.microsoft.com/office/drawing/2014/main" id="{16CB7492-2668-EFB7-5628-A5714FE43E02}"/>
              </a:ext>
            </a:extLst>
          </p:cNvPr>
          <p:cNvSpPr/>
          <p:nvPr/>
        </p:nvSpPr>
        <p:spPr>
          <a:xfrm>
            <a:off x="1632204" y="4937329"/>
            <a:ext cx="1252728" cy="877824"/>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効率化</a:t>
            </a:r>
          </a:p>
        </p:txBody>
      </p:sp>
      <p:sp>
        <p:nvSpPr>
          <p:cNvPr id="45" name="Rectangle 20">
            <a:extLst>
              <a:ext uri="{FF2B5EF4-FFF2-40B4-BE49-F238E27FC236}">
                <a16:creationId xmlns:a16="http://schemas.microsoft.com/office/drawing/2014/main" id="{B7F2AF46-39FB-CD72-C394-6101BBA1E6AE}"/>
              </a:ext>
            </a:extLst>
          </p:cNvPr>
          <p:cNvSpPr/>
          <p:nvPr/>
        </p:nvSpPr>
        <p:spPr>
          <a:xfrm>
            <a:off x="2912363" y="4937329"/>
            <a:ext cx="399592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通数費・運用工数の削減</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（セグメント・自動化）</a:t>
            </a:r>
          </a:p>
        </p:txBody>
      </p:sp>
      <p:sp>
        <p:nvSpPr>
          <p:cNvPr id="47" name="Rectangle 21">
            <a:extLst>
              <a:ext uri="{FF2B5EF4-FFF2-40B4-BE49-F238E27FC236}">
                <a16:creationId xmlns:a16="http://schemas.microsoft.com/office/drawing/2014/main" id="{1C65ED6F-D773-2D2E-6B1F-B627C96E1B17}"/>
              </a:ext>
            </a:extLst>
          </p:cNvPr>
          <p:cNvSpPr/>
          <p:nvPr/>
        </p:nvSpPr>
        <p:spPr>
          <a:xfrm>
            <a:off x="6935724" y="4937329"/>
            <a:ext cx="1344168" cy="877824"/>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ctr">
              <a:spcAft>
                <a:spcPts val="0"/>
              </a:spcAft>
            </a:pPr>
            <a:r>
              <a:rPr sz="1400" b="0">
                <a:solidFill>
                  <a:srgbClr val="999999"/>
                </a:solidFill>
                <a:latin typeface="メイリオ"/>
                <a:ea typeface="メイリオ"/>
                <a:cs typeface="メイリオ"/>
              </a:rPr>
              <a:t>◎ ○ △</a:t>
            </a:r>
          </a:p>
        </p:txBody>
      </p:sp>
      <p:sp>
        <p:nvSpPr>
          <p:cNvPr id="51" name="Rectangle 23">
            <a:extLst>
              <a:ext uri="{FF2B5EF4-FFF2-40B4-BE49-F238E27FC236}">
                <a16:creationId xmlns:a16="http://schemas.microsoft.com/office/drawing/2014/main" id="{B53BF0F8-9B97-5A93-DC50-8004A6ADA6B5}"/>
              </a:ext>
            </a:extLst>
          </p:cNvPr>
          <p:cNvSpPr/>
          <p:nvPr/>
        </p:nvSpPr>
        <p:spPr>
          <a:xfrm>
            <a:off x="384048" y="5893528"/>
            <a:ext cx="9144000" cy="54864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◎＝最重視／○＝重視／△＝優先度は低い。ヒアリングで記入し、施策の配分と予算の目安に反映する</a:t>
            </a:r>
          </a:p>
        </p:txBody>
      </p:sp>
      <p:sp>
        <p:nvSpPr>
          <p:cNvPr id="53" name="正方形/長方形 52">
            <a:extLst>
              <a:ext uri="{FF2B5EF4-FFF2-40B4-BE49-F238E27FC236}">
                <a16:creationId xmlns:a16="http://schemas.microsoft.com/office/drawing/2014/main" id="{F6341BEF-3885-9CF9-B1B6-B2D4EA06ED5E}"/>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38606982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FDE2BF-63A1-B882-547A-489CE17D8FD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422549E-4218-60BD-B63F-BC5503BDE6D6}"/>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提案に向けて明確化したいポイント②　既存WEBサイトのパワー</a:t>
            </a:r>
          </a:p>
        </p:txBody>
      </p:sp>
      <p:sp>
        <p:nvSpPr>
          <p:cNvPr id="5" name="Rectangle 2">
            <a:extLst>
              <a:ext uri="{FF2B5EF4-FFF2-40B4-BE49-F238E27FC236}">
                <a16:creationId xmlns:a16="http://schemas.microsoft.com/office/drawing/2014/main" id="{29DDE3F2-B3CE-2F35-E720-21B38FDDB0E2}"/>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流入量・CV・CV地点から、LINEで拾えるユーザーの規模を見積もる</a:t>
            </a:r>
          </a:p>
        </p:txBody>
      </p:sp>
      <p:sp>
        <p:nvSpPr>
          <p:cNvPr id="53" name="正方形/長方形 52">
            <a:extLst>
              <a:ext uri="{FF2B5EF4-FFF2-40B4-BE49-F238E27FC236}">
                <a16:creationId xmlns:a16="http://schemas.microsoft.com/office/drawing/2014/main" id="{407A83F0-AB60-A7A3-0DE3-ADB4AB08723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EBAA925A-E8DA-FF18-93A2-9EA6DA656475}"/>
              </a:ext>
            </a:extLst>
          </p:cNvPr>
          <p:cNvSpPr/>
          <p:nvPr/>
        </p:nvSpPr>
        <p:spPr>
          <a:xfrm>
            <a:off x="1860804" y="1754781"/>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F99B4A0-CAAB-226D-724F-0101D5180384}"/>
              </a:ext>
            </a:extLst>
          </p:cNvPr>
          <p:cNvSpPr/>
          <p:nvPr/>
        </p:nvSpPr>
        <p:spPr>
          <a:xfrm>
            <a:off x="4055364" y="1754781"/>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CF4FAB5-94CA-8D75-4428-FE51AE61E877}"/>
              </a:ext>
            </a:extLst>
          </p:cNvPr>
          <p:cNvSpPr/>
          <p:nvPr/>
        </p:nvSpPr>
        <p:spPr>
          <a:xfrm>
            <a:off x="1860804" y="217210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サイトUU（月間）</a:t>
            </a:r>
          </a:p>
        </p:txBody>
      </p:sp>
      <p:sp>
        <p:nvSpPr>
          <p:cNvPr id="17" name="Rectangle 7">
            <a:extLst>
              <a:ext uri="{FF2B5EF4-FFF2-40B4-BE49-F238E27FC236}">
                <a16:creationId xmlns:a16="http://schemas.microsoft.com/office/drawing/2014/main" id="{59ABF4AC-E182-56EE-AF0A-8E996E913D89}"/>
              </a:ext>
            </a:extLst>
          </p:cNvPr>
          <p:cNvSpPr/>
          <p:nvPr/>
        </p:nvSpPr>
        <p:spPr>
          <a:xfrm>
            <a:off x="4055364" y="217210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サイト全体のユニークユーザー数</a:t>
            </a:r>
          </a:p>
        </p:txBody>
      </p:sp>
      <p:sp>
        <p:nvSpPr>
          <p:cNvPr id="24" name="Rectangle 9">
            <a:extLst>
              <a:ext uri="{FF2B5EF4-FFF2-40B4-BE49-F238E27FC236}">
                <a16:creationId xmlns:a16="http://schemas.microsoft.com/office/drawing/2014/main" id="{D73FA1D7-BEA3-B981-6155-AEFEF0286995}"/>
              </a:ext>
            </a:extLst>
          </p:cNvPr>
          <p:cNvSpPr/>
          <p:nvPr/>
        </p:nvSpPr>
        <p:spPr>
          <a:xfrm>
            <a:off x="1860804" y="273989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広告UU・広告費用</a:t>
            </a:r>
          </a:p>
        </p:txBody>
      </p:sp>
      <p:sp>
        <p:nvSpPr>
          <p:cNvPr id="28" name="Rectangle 10">
            <a:extLst>
              <a:ext uri="{FF2B5EF4-FFF2-40B4-BE49-F238E27FC236}">
                <a16:creationId xmlns:a16="http://schemas.microsoft.com/office/drawing/2014/main" id="{C1EFEFFE-E7CB-5EE7-1AB5-590315FE3980}"/>
              </a:ext>
            </a:extLst>
          </p:cNvPr>
          <p:cNvSpPr/>
          <p:nvPr/>
        </p:nvSpPr>
        <p:spPr>
          <a:xfrm>
            <a:off x="4055364" y="273989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広告経由の流入と月間の広告費</a:t>
            </a:r>
          </a:p>
        </p:txBody>
      </p:sp>
      <p:sp>
        <p:nvSpPr>
          <p:cNvPr id="36" name="Rectangle 12">
            <a:extLst>
              <a:ext uri="{FF2B5EF4-FFF2-40B4-BE49-F238E27FC236}">
                <a16:creationId xmlns:a16="http://schemas.microsoft.com/office/drawing/2014/main" id="{697ECEAF-7BB9-7DE2-205B-BF4102EA1DC3}"/>
              </a:ext>
            </a:extLst>
          </p:cNvPr>
          <p:cNvSpPr/>
          <p:nvPr/>
        </p:nvSpPr>
        <p:spPr>
          <a:xfrm>
            <a:off x="1860804" y="3307697"/>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月間CV数</a:t>
            </a:r>
          </a:p>
        </p:txBody>
      </p:sp>
      <p:sp>
        <p:nvSpPr>
          <p:cNvPr id="40" name="Rectangle 13">
            <a:extLst>
              <a:ext uri="{FF2B5EF4-FFF2-40B4-BE49-F238E27FC236}">
                <a16:creationId xmlns:a16="http://schemas.microsoft.com/office/drawing/2014/main" id="{C02F7488-4398-6603-803E-B682EA6639F8}"/>
              </a:ext>
            </a:extLst>
          </p:cNvPr>
          <p:cNvSpPr/>
          <p:nvPr/>
        </p:nvSpPr>
        <p:spPr>
          <a:xfrm>
            <a:off x="4055364" y="3307697"/>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申込・予約・購入などの件数</a:t>
            </a:r>
          </a:p>
        </p:txBody>
      </p:sp>
      <p:sp>
        <p:nvSpPr>
          <p:cNvPr id="48" name="Rectangle 15">
            <a:extLst>
              <a:ext uri="{FF2B5EF4-FFF2-40B4-BE49-F238E27FC236}">
                <a16:creationId xmlns:a16="http://schemas.microsoft.com/office/drawing/2014/main" id="{61F4857C-44FC-330D-6E38-FCB957103270}"/>
              </a:ext>
            </a:extLst>
          </p:cNvPr>
          <p:cNvSpPr/>
          <p:nvPr/>
        </p:nvSpPr>
        <p:spPr>
          <a:xfrm>
            <a:off x="1860804" y="3875494"/>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CV地点</a:t>
            </a:r>
          </a:p>
        </p:txBody>
      </p:sp>
      <p:sp>
        <p:nvSpPr>
          <p:cNvPr id="52" name="Rectangle 16">
            <a:extLst>
              <a:ext uri="{FF2B5EF4-FFF2-40B4-BE49-F238E27FC236}">
                <a16:creationId xmlns:a16="http://schemas.microsoft.com/office/drawing/2014/main" id="{83517BD4-932E-04BC-6215-04A0EC53978D}"/>
              </a:ext>
            </a:extLst>
          </p:cNvPr>
          <p:cNvSpPr/>
          <p:nvPr/>
        </p:nvSpPr>
        <p:spPr>
          <a:xfrm>
            <a:off x="4055364" y="3875494"/>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電話／フォーム／来店予約／購入など</a:t>
            </a:r>
          </a:p>
        </p:txBody>
      </p:sp>
      <p:sp>
        <p:nvSpPr>
          <p:cNvPr id="57" name="Rectangle 18">
            <a:extLst>
              <a:ext uri="{FF2B5EF4-FFF2-40B4-BE49-F238E27FC236}">
                <a16:creationId xmlns:a16="http://schemas.microsoft.com/office/drawing/2014/main" id="{E3B3C022-C821-43A8-BDFA-36760FBCB427}"/>
              </a:ext>
            </a:extLst>
          </p:cNvPr>
          <p:cNvSpPr/>
          <p:nvPr/>
        </p:nvSpPr>
        <p:spPr>
          <a:xfrm>
            <a:off x="1860804" y="4443293"/>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主な流入元</a:t>
            </a:r>
          </a:p>
        </p:txBody>
      </p:sp>
      <p:sp>
        <p:nvSpPr>
          <p:cNvPr id="59" name="Rectangle 19">
            <a:extLst>
              <a:ext uri="{FF2B5EF4-FFF2-40B4-BE49-F238E27FC236}">
                <a16:creationId xmlns:a16="http://schemas.microsoft.com/office/drawing/2014/main" id="{4FEAAEBA-5690-AC8F-8FF3-276F88FCE6A0}"/>
              </a:ext>
            </a:extLst>
          </p:cNvPr>
          <p:cNvSpPr/>
          <p:nvPr/>
        </p:nvSpPr>
        <p:spPr>
          <a:xfrm>
            <a:off x="4055364" y="4443293"/>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SEO・広告・SNS・ディスプレイの比率</a:t>
            </a:r>
          </a:p>
        </p:txBody>
      </p:sp>
      <p:sp>
        <p:nvSpPr>
          <p:cNvPr id="63" name="Rectangle 21">
            <a:extLst>
              <a:ext uri="{FF2B5EF4-FFF2-40B4-BE49-F238E27FC236}">
                <a16:creationId xmlns:a16="http://schemas.microsoft.com/office/drawing/2014/main" id="{7313DF05-AD69-66C6-AA40-BD1CA81439B5}"/>
              </a:ext>
            </a:extLst>
          </p:cNvPr>
          <p:cNvSpPr/>
          <p:nvPr/>
        </p:nvSpPr>
        <p:spPr>
          <a:xfrm>
            <a:off x="1860804" y="5011091"/>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現在のLINE導線</a:t>
            </a:r>
          </a:p>
        </p:txBody>
      </p:sp>
      <p:sp>
        <p:nvSpPr>
          <p:cNvPr id="65" name="Rectangle 22">
            <a:extLst>
              <a:ext uri="{FF2B5EF4-FFF2-40B4-BE49-F238E27FC236}">
                <a16:creationId xmlns:a16="http://schemas.microsoft.com/office/drawing/2014/main" id="{E8EA0A2C-B891-6674-4DCF-61D5975B1186}"/>
              </a:ext>
            </a:extLst>
          </p:cNvPr>
          <p:cNvSpPr/>
          <p:nvPr/>
        </p:nvSpPr>
        <p:spPr>
          <a:xfrm>
            <a:off x="4055364" y="5011091"/>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サイト上の友だち追加の入口の有無</a:t>
            </a:r>
          </a:p>
        </p:txBody>
      </p:sp>
      <p:sp>
        <p:nvSpPr>
          <p:cNvPr id="69" name="Rectangle 24">
            <a:extLst>
              <a:ext uri="{FF2B5EF4-FFF2-40B4-BE49-F238E27FC236}">
                <a16:creationId xmlns:a16="http://schemas.microsoft.com/office/drawing/2014/main" id="{C6E03287-2BFA-C776-5D36-CFA637C8C321}"/>
              </a:ext>
            </a:extLst>
          </p:cNvPr>
          <p:cNvSpPr/>
          <p:nvPr/>
        </p:nvSpPr>
        <p:spPr>
          <a:xfrm>
            <a:off x="1860804" y="5578889"/>
            <a:ext cx="2167128" cy="537830"/>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リード保有数・他SNS</a:t>
            </a:r>
          </a:p>
        </p:txBody>
      </p:sp>
      <p:sp>
        <p:nvSpPr>
          <p:cNvPr id="71" name="Rectangle 25">
            <a:extLst>
              <a:ext uri="{FF2B5EF4-FFF2-40B4-BE49-F238E27FC236}">
                <a16:creationId xmlns:a16="http://schemas.microsoft.com/office/drawing/2014/main" id="{FC84BF14-9CF1-6C23-B694-B5ABD998471B}"/>
              </a:ext>
            </a:extLst>
          </p:cNvPr>
          <p:cNvSpPr/>
          <p:nvPr/>
        </p:nvSpPr>
        <p:spPr>
          <a:xfrm>
            <a:off x="4055364" y="5578889"/>
            <a:ext cx="3995928" cy="537830"/>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メール会員・他SNSのフォロワー数など</a:t>
            </a:r>
          </a:p>
        </p:txBody>
      </p:sp>
      <p:sp>
        <p:nvSpPr>
          <p:cNvPr id="75" name="Rectangle 27">
            <a:extLst>
              <a:ext uri="{FF2B5EF4-FFF2-40B4-BE49-F238E27FC236}">
                <a16:creationId xmlns:a16="http://schemas.microsoft.com/office/drawing/2014/main" id="{9173779F-195E-9786-2251-C130A6484F81}"/>
              </a:ext>
            </a:extLst>
          </p:cNvPr>
          <p:cNvSpPr/>
          <p:nvPr/>
        </p:nvSpPr>
        <p:spPr>
          <a:xfrm>
            <a:off x="384048" y="6307118"/>
            <a:ext cx="9144000" cy="18736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lgn="l">
              <a:spcAft>
                <a:spcPts val="300"/>
              </a:spcAft>
            </a:pPr>
            <a:r>
              <a:rPr sz="800" b="0">
                <a:solidFill>
                  <a:srgbClr val="777777"/>
                </a:solidFill>
                <a:latin typeface="メイリオ"/>
                <a:ea typeface="メイリオ"/>
                <a:cs typeface="メイリオ"/>
              </a:rPr>
              <a:t>※数値は貴社ヒアリングおよびGA等の外部計測をもとに想定します</a:t>
            </a:r>
          </a:p>
        </p:txBody>
      </p:sp>
    </p:spTree>
    <p:extLst>
      <p:ext uri="{BB962C8B-B14F-4D97-AF65-F5344CB8AC3E}">
        <p14:creationId xmlns:p14="http://schemas.microsoft.com/office/powerpoint/2010/main" val="3306063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10FB08-13E3-C993-1F60-B189537A26F7}"/>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2637A23C-033D-1544-8EE9-E879FC52D382}"/>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提案に向けて明確化したいポイント③　既存LINE公式アカウント</a:t>
            </a:r>
          </a:p>
        </p:txBody>
      </p:sp>
      <p:sp>
        <p:nvSpPr>
          <p:cNvPr id="5" name="Rectangle 2">
            <a:extLst>
              <a:ext uri="{FF2B5EF4-FFF2-40B4-BE49-F238E27FC236}">
                <a16:creationId xmlns:a16="http://schemas.microsoft.com/office/drawing/2014/main" id="{A3FC988D-B1DD-8205-D73C-DA166AB12BBD}"/>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現状の規模・活用度・費用から、改善余地を見極める</a:t>
            </a:r>
          </a:p>
        </p:txBody>
      </p:sp>
      <p:sp>
        <p:nvSpPr>
          <p:cNvPr id="53" name="正方形/長方形 52">
            <a:extLst>
              <a:ext uri="{FF2B5EF4-FFF2-40B4-BE49-F238E27FC236}">
                <a16:creationId xmlns:a16="http://schemas.microsoft.com/office/drawing/2014/main" id="{019F89D8-176F-C4D3-FA4F-CC6F45A8E89D}"/>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友だち数</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累計と、直近の月間増加数</a:t>
            </a:r>
          </a:p>
        </p:txBody>
      </p:sp>
      <p:sp>
        <p:nvSpPr>
          <p:cNvPr id="24" name="Rectangle 9">
            <a:extLst>
              <a:ext uri="{FF2B5EF4-FFF2-40B4-BE49-F238E27FC236}">
                <a16:creationId xmlns:a16="http://schemas.microsoft.com/office/drawing/2014/main" id="{382D44E1-F4E2-5751-D452-0D8CCC481730}"/>
              </a:ext>
            </a:extLst>
          </p:cNvPr>
          <p:cNvSpPr/>
          <p:nvPr/>
        </p:nvSpPr>
        <p:spPr>
          <a:xfrm>
            <a:off x="1860804" y="280978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アクティブ率</a:t>
            </a:r>
          </a:p>
        </p:txBody>
      </p:sp>
      <p:sp>
        <p:nvSpPr>
          <p:cNvPr id="28" name="Rectangle 10">
            <a:extLst>
              <a:ext uri="{FF2B5EF4-FFF2-40B4-BE49-F238E27FC236}">
                <a16:creationId xmlns:a16="http://schemas.microsoft.com/office/drawing/2014/main" id="{8BBA3D2A-3669-05A3-FEA9-C9200F5ACDCB}"/>
              </a:ext>
            </a:extLst>
          </p:cNvPr>
          <p:cNvSpPr/>
          <p:nvPr/>
        </p:nvSpPr>
        <p:spPr>
          <a:xfrm>
            <a:off x="4055364" y="280978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ブロック率、開封率、クリック率</a:t>
            </a:r>
          </a:p>
        </p:txBody>
      </p:sp>
      <p:sp>
        <p:nvSpPr>
          <p:cNvPr id="36" name="Rectangle 12">
            <a:extLst>
              <a:ext uri="{FF2B5EF4-FFF2-40B4-BE49-F238E27FC236}">
                <a16:creationId xmlns:a16="http://schemas.microsoft.com/office/drawing/2014/main" id="{C5BC36E1-E9EC-5F99-6730-862D59A7268A}"/>
              </a:ext>
            </a:extLst>
          </p:cNvPr>
          <p:cNvSpPr/>
          <p:nvPr/>
        </p:nvSpPr>
        <p:spPr>
          <a:xfrm>
            <a:off x="1860804" y="342460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月間投稿数</a:t>
            </a:r>
          </a:p>
        </p:txBody>
      </p:sp>
      <p:sp>
        <p:nvSpPr>
          <p:cNvPr id="40" name="Rectangle 13">
            <a:extLst>
              <a:ext uri="{FF2B5EF4-FFF2-40B4-BE49-F238E27FC236}">
                <a16:creationId xmlns:a16="http://schemas.microsoft.com/office/drawing/2014/main" id="{D7C51E36-A3E0-FAF5-4F2A-F634C9ABFEB4}"/>
              </a:ext>
            </a:extLst>
          </p:cNvPr>
          <p:cNvSpPr/>
          <p:nvPr/>
        </p:nvSpPr>
        <p:spPr>
          <a:xfrm>
            <a:off x="4055364" y="342460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一斉配信・ステップ配信の本数、月間通数</a:t>
            </a:r>
          </a:p>
        </p:txBody>
      </p:sp>
      <p:sp>
        <p:nvSpPr>
          <p:cNvPr id="48" name="Rectangle 15">
            <a:extLst>
              <a:ext uri="{FF2B5EF4-FFF2-40B4-BE49-F238E27FC236}">
                <a16:creationId xmlns:a16="http://schemas.microsoft.com/office/drawing/2014/main" id="{7A4A3E0B-F476-7DC4-F177-948A5D80A39F}"/>
              </a:ext>
            </a:extLst>
          </p:cNvPr>
          <p:cNvSpPr/>
          <p:nvPr/>
        </p:nvSpPr>
        <p:spPr>
          <a:xfrm>
            <a:off x="1860804" y="4030719"/>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契約プラン</a:t>
            </a:r>
          </a:p>
        </p:txBody>
      </p:sp>
      <p:sp>
        <p:nvSpPr>
          <p:cNvPr id="52" name="Rectangle 16">
            <a:extLst>
              <a:ext uri="{FF2B5EF4-FFF2-40B4-BE49-F238E27FC236}">
                <a16:creationId xmlns:a16="http://schemas.microsoft.com/office/drawing/2014/main" id="{A4648CD6-60C7-E224-DC81-0EA8893B695C}"/>
              </a:ext>
            </a:extLst>
          </p:cNvPr>
          <p:cNvSpPr/>
          <p:nvPr/>
        </p:nvSpPr>
        <p:spPr>
          <a:xfrm>
            <a:off x="4055364" y="4030719"/>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LINE公式アカウントの料金プラン</a:t>
            </a:r>
          </a:p>
        </p:txBody>
      </p:sp>
      <p:sp>
        <p:nvSpPr>
          <p:cNvPr id="57" name="Rectangle 18">
            <a:extLst>
              <a:ext uri="{FF2B5EF4-FFF2-40B4-BE49-F238E27FC236}">
                <a16:creationId xmlns:a16="http://schemas.microsoft.com/office/drawing/2014/main" id="{279B2C05-4721-5850-5790-24F42D16195C}"/>
              </a:ext>
            </a:extLst>
          </p:cNvPr>
          <p:cNvSpPr/>
          <p:nvPr/>
        </p:nvSpPr>
        <p:spPr>
          <a:xfrm>
            <a:off x="1860804" y="464554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契約ツール</a:t>
            </a:r>
          </a:p>
        </p:txBody>
      </p:sp>
      <p:sp>
        <p:nvSpPr>
          <p:cNvPr id="59" name="Rectangle 19">
            <a:extLst>
              <a:ext uri="{FF2B5EF4-FFF2-40B4-BE49-F238E27FC236}">
                <a16:creationId xmlns:a16="http://schemas.microsoft.com/office/drawing/2014/main" id="{072A4C57-A1E2-FE0C-0F9A-495CB437882F}"/>
              </a:ext>
            </a:extLst>
          </p:cNvPr>
          <p:cNvSpPr/>
          <p:nvPr/>
        </p:nvSpPr>
        <p:spPr>
          <a:xfrm>
            <a:off x="4055364" y="464554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APIツール（Lステップ等）の有無・プラン</a:t>
            </a:r>
          </a:p>
        </p:txBody>
      </p:sp>
      <p:sp>
        <p:nvSpPr>
          <p:cNvPr id="63" name="Rectangle 21">
            <a:extLst>
              <a:ext uri="{FF2B5EF4-FFF2-40B4-BE49-F238E27FC236}">
                <a16:creationId xmlns:a16="http://schemas.microsoft.com/office/drawing/2014/main" id="{F4210959-8935-1BA3-A155-B4D4B1BE79EA}"/>
              </a:ext>
            </a:extLst>
          </p:cNvPr>
          <p:cNvSpPr/>
          <p:nvPr/>
        </p:nvSpPr>
        <p:spPr>
          <a:xfrm>
            <a:off x="1860804" y="5251655"/>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全体費用感</a:t>
            </a:r>
          </a:p>
        </p:txBody>
      </p:sp>
      <p:sp>
        <p:nvSpPr>
          <p:cNvPr id="65" name="Rectangle 22">
            <a:extLst>
              <a:ext uri="{FF2B5EF4-FFF2-40B4-BE49-F238E27FC236}">
                <a16:creationId xmlns:a16="http://schemas.microsoft.com/office/drawing/2014/main" id="{16CDB4BF-4971-BB2D-5EDB-62359C5FCF0B}"/>
              </a:ext>
            </a:extLst>
          </p:cNvPr>
          <p:cNvSpPr/>
          <p:nvPr/>
        </p:nvSpPr>
        <p:spPr>
          <a:xfrm>
            <a:off x="4055364" y="5251655"/>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アカウント費・ツール費・運用費・</a:t>
            </a:r>
            <a:br>
              <a:rPr sz="1400" b="0">
                <a:solidFill>
                  <a:srgbClr val="333333"/>
                </a:solidFill>
                <a:latin typeface="メイリオ"/>
                <a:ea typeface="メイリオ"/>
                <a:cs typeface="メイリオ"/>
              </a:rPr>
            </a:br>
            <a:r>
              <a:rPr sz="1400" b="0">
                <a:solidFill>
                  <a:srgbClr val="333333"/>
                </a:solidFill>
                <a:latin typeface="メイリオ"/>
                <a:ea typeface="メイリオ"/>
                <a:cs typeface="メイリオ"/>
              </a:rPr>
              <a:t>通数費の月額合計</a:t>
            </a:r>
          </a:p>
        </p:txBody>
      </p:sp>
      <p:sp>
        <p:nvSpPr>
          <p:cNvPr id="69" name="Rectangle 24">
            <a:extLst>
              <a:ext uri="{FF2B5EF4-FFF2-40B4-BE49-F238E27FC236}">
                <a16:creationId xmlns:a16="http://schemas.microsoft.com/office/drawing/2014/main" id="{809B7433-BAD1-B81E-97BD-B889CD809E1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sz="1400" b="1">
                <a:solidFill>
                  <a:srgbClr val="1F2A5C"/>
                </a:solidFill>
                <a:latin typeface="メイリオ"/>
                <a:ea typeface="メイリオ"/>
                <a:cs typeface="メイリオ"/>
              </a:rPr>
              <a:t>アクティブ率・通数費の現状を見て、セグメント配信などで改善できる範囲を提案に反映する</a:t>
            </a:r>
          </a:p>
        </p:txBody>
      </p:sp>
    </p:spTree>
    <p:extLst>
      <p:ext uri="{BB962C8B-B14F-4D97-AF65-F5344CB8AC3E}">
        <p14:creationId xmlns:p14="http://schemas.microsoft.com/office/powerpoint/2010/main" val="236310567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6C866B-D0C2-7EA1-2C00-9FD2CFA7473A}"/>
            </a:ext>
          </a:extLst>
        </p:cNvPr>
        <p:cNvGrpSpPr/>
        <p:nvPr/>
      </p:nvGrpSpPr>
      <p:grpSpPr>
        <a:xfrm>
          <a:off x="0" y="0"/>
          <a:ext cx="0" cy="0"/>
          <a:chOff x="0" y="0"/>
          <a:chExt cx="0" cy="0"/>
        </a:xfrm>
      </p:grpSpPr>
      <p:sp>
        <p:nvSpPr>
          <p:cNvPr id="3" name="テキスト ボックス 47">
            <a:extLst>
              <a:ext uri="{FF2B5EF4-FFF2-40B4-BE49-F238E27FC236}">
                <a16:creationId xmlns:a16="http://schemas.microsoft.com/office/drawing/2014/main" id="{649E6FCE-AA7B-DE7B-9452-E5F490B34B37}"/>
              </a:ext>
            </a:extLst>
          </p:cNvPr>
          <p:cNvSpPr txBox="1">
            <a:spLocks noChangeArrowheads="1"/>
          </p:cNvSpPr>
          <p:nvPr/>
        </p:nvSpPr>
        <p:spPr bwMode="auto">
          <a:xfrm>
            <a:off x="456501" y="107813"/>
            <a:ext cx="7512385" cy="3650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tIns="72000">
            <a:spAutoFit/>
          </a:bodyPr>
          <a:lstStyle>
            <a:lvl1pPr>
              <a:defRPr kumimoji="1" sz="3200">
                <a:solidFill>
                  <a:schemeClr val="tx1"/>
                </a:solidFill>
                <a:latin typeface="Calibri" charset="0"/>
                <a:ea typeface="ＭＳ Ｐゴシック" charset="0"/>
                <a:cs typeface="ＭＳ Ｐゴシック" charset="0"/>
              </a:defRPr>
            </a:lvl1pPr>
            <a:lvl2pPr>
              <a:defRPr kumimoji="1" sz="2800">
                <a:solidFill>
                  <a:schemeClr val="tx1"/>
                </a:solidFill>
                <a:latin typeface="Calibri" charset="0"/>
                <a:ea typeface="ＭＳ Ｐゴシック" charset="0"/>
              </a:defRPr>
            </a:lvl2pPr>
            <a:lvl3pPr>
              <a:defRPr kumimoji="1" sz="2400">
                <a:solidFill>
                  <a:schemeClr val="tx1"/>
                </a:solidFill>
                <a:latin typeface="Calibri" charset="0"/>
                <a:ea typeface="ＭＳ Ｐゴシック" charset="0"/>
              </a:defRPr>
            </a:lvl3pPr>
            <a:lvl4pPr>
              <a:defRPr kumimoji="1" sz="2000">
                <a:solidFill>
                  <a:schemeClr val="tx1"/>
                </a:solidFill>
                <a:latin typeface="Calibri" charset="0"/>
                <a:ea typeface="ＭＳ Ｐゴシック" charset="0"/>
              </a:defRPr>
            </a:lvl4pPr>
            <a:lvl5pPr>
              <a:defRPr kumimoji="1" sz="2000">
                <a:solidFill>
                  <a:schemeClr val="tx1"/>
                </a:solidFill>
                <a:latin typeface="Calibri" charset="0"/>
                <a:ea typeface="ＭＳ Ｐゴシック" charset="0"/>
              </a:defRPr>
            </a:lvl5pPr>
            <a:lvl6pPr eaLnBrk="0" fontAlgn="base" hangingPunct="0">
              <a:spcAft>
                <a:spcPct val="0"/>
              </a:spcAft>
              <a:buFont typeface="Arial" charset="0"/>
              <a:buChar char="»"/>
              <a:defRPr kumimoji="1" sz="2000">
                <a:solidFill>
                  <a:schemeClr val="tx1"/>
                </a:solidFill>
                <a:latin typeface="Calibri" charset="0"/>
                <a:ea typeface="ＭＳ Ｐゴシック" charset="0"/>
              </a:defRPr>
            </a:lvl6pPr>
            <a:lvl7pPr eaLnBrk="0" fontAlgn="base" hangingPunct="0">
              <a:spcAft>
                <a:spcPct val="0"/>
              </a:spcAft>
              <a:buFont typeface="Arial" charset="0"/>
              <a:buChar char="»"/>
              <a:defRPr kumimoji="1" sz="2000">
                <a:solidFill>
                  <a:schemeClr val="tx1"/>
                </a:solidFill>
                <a:latin typeface="Calibri" charset="0"/>
                <a:ea typeface="ＭＳ Ｐゴシック" charset="0"/>
              </a:defRPr>
            </a:lvl7pPr>
            <a:lvl8pPr eaLnBrk="0" fontAlgn="base" hangingPunct="0">
              <a:spcAft>
                <a:spcPct val="0"/>
              </a:spcAft>
              <a:buFont typeface="Arial" charset="0"/>
              <a:buChar char="»"/>
              <a:defRPr kumimoji="1" sz="2000">
                <a:solidFill>
                  <a:schemeClr val="tx1"/>
                </a:solidFill>
                <a:latin typeface="Calibri" charset="0"/>
                <a:ea typeface="ＭＳ Ｐゴシック" charset="0"/>
              </a:defRPr>
            </a:lvl8pPr>
            <a:lvl9pPr eaLnBrk="0" fontAlgn="base" hangingPunct="0">
              <a:spcAft>
                <a:spcPct val="0"/>
              </a:spcAft>
              <a:buFont typeface="Arial" charset="0"/>
              <a:buChar char="»"/>
              <a:defRPr kumimoji="1" sz="2000">
                <a:solidFill>
                  <a:schemeClr val="tx1"/>
                </a:solidFill>
                <a:latin typeface="Calibri" charset="0"/>
                <a:ea typeface="ＭＳ Ｐゴシック" charset="0"/>
              </a:defRPr>
            </a:lvl9pPr>
          </a:lstStyle>
          <a:p>
            <a:pPr>
              <a:spcBef>
                <a:spcPct val="20000"/>
              </a:spcBef>
              <a:buFont typeface="Arial" charset="0"/>
              <a:buNone/>
            </a:pPr>
            <a:r>
              <a:rPr lang="ja-JP" altLang="en-US" sz="1600" b="1" dirty="0">
                <a:solidFill>
                  <a:srgbClr val="1F2A5C"/>
                </a:solidFill>
                <a:latin typeface="メイリオ"/>
                <a:ea typeface="メイリオ"/>
                <a:cs typeface="メイリオ"/>
              </a:rPr>
              <a:t>提案に向けて明確化したいポイント④　その他</a:t>
            </a:r>
          </a:p>
        </p:txBody>
      </p:sp>
      <p:sp>
        <p:nvSpPr>
          <p:cNvPr id="5" name="Rectangle 2">
            <a:extLst>
              <a:ext uri="{FF2B5EF4-FFF2-40B4-BE49-F238E27FC236}">
                <a16:creationId xmlns:a16="http://schemas.microsoft.com/office/drawing/2014/main" id="{2A2003E7-DEBA-516C-5544-9E84FEB0FAAA}"/>
              </a:ext>
            </a:extLst>
          </p:cNvPr>
          <p:cNvSpPr/>
          <p:nvPr/>
        </p:nvSpPr>
        <p:spPr>
          <a:xfrm>
            <a:off x="121798" y="960120"/>
            <a:ext cx="9144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73152" tIns="36576" rIns="73152" bIns="36576" rtlCol="0" anchor="t"/>
          <a:lstStyle/>
          <a:p>
            <a:pPr>
              <a:spcAft>
                <a:spcPts val="300"/>
              </a:spcAft>
            </a:pPr>
            <a:r>
              <a:rPr lang="ja-JP" altLang="en-US" sz="1600" b="1" dirty="0">
                <a:solidFill>
                  <a:srgbClr val="4A6FA5"/>
                </a:solidFill>
                <a:latin typeface="メイリオ"/>
                <a:ea typeface="メイリオ"/>
                <a:cs typeface="メイリオ"/>
              </a:rPr>
              <a:t>配信の体制や社内の確認の流れなど、運用の進め方に関わる確認事項</a:t>
            </a:r>
          </a:p>
        </p:txBody>
      </p:sp>
      <p:sp>
        <p:nvSpPr>
          <p:cNvPr id="53" name="正方形/長方形 52">
            <a:extLst>
              <a:ext uri="{FF2B5EF4-FFF2-40B4-BE49-F238E27FC236}">
                <a16:creationId xmlns:a16="http://schemas.microsoft.com/office/drawing/2014/main" id="{5161E2C4-62DD-580C-6DB6-319F2E18B5A8}"/>
              </a:ext>
            </a:extLst>
          </p:cNvPr>
          <p:cNvSpPr/>
          <p:nvPr/>
        </p:nvSpPr>
        <p:spPr>
          <a:xfrm>
            <a:off x="96788" y="1645669"/>
            <a:ext cx="9687414" cy="3577"/>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b="1" dirty="0">
              <a:latin typeface="メイリオ" panose="020B0604030504040204" pitchFamily="50" charset="-128"/>
              <a:ea typeface="メイリオ" panose="020B0604030504040204" pitchFamily="50" charset="-128"/>
            </a:endParaRPr>
          </a:p>
        </p:txBody>
      </p:sp>
      <p:sp>
        <p:nvSpPr>
          <p:cNvPr id="4" name="Rectangle 3">
            <a:extLst>
              <a:ext uri="{FF2B5EF4-FFF2-40B4-BE49-F238E27FC236}">
                <a16:creationId xmlns:a16="http://schemas.microsoft.com/office/drawing/2014/main" id="{2E9E5595-5564-F6B6-4231-BF3FBBE8BF96}"/>
              </a:ext>
            </a:extLst>
          </p:cNvPr>
          <p:cNvSpPr/>
          <p:nvPr/>
        </p:nvSpPr>
        <p:spPr>
          <a:xfrm>
            <a:off x="1860804" y="1780907"/>
            <a:ext cx="21671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項目</a:t>
            </a:r>
          </a:p>
        </p:txBody>
      </p:sp>
      <p:sp>
        <p:nvSpPr>
          <p:cNvPr id="8" name="Rectangle 4">
            <a:extLst>
              <a:ext uri="{FF2B5EF4-FFF2-40B4-BE49-F238E27FC236}">
                <a16:creationId xmlns:a16="http://schemas.microsoft.com/office/drawing/2014/main" id="{1B2F3472-C219-FE04-0FAB-2471178F9BAE}"/>
              </a:ext>
            </a:extLst>
          </p:cNvPr>
          <p:cNvSpPr/>
          <p:nvPr/>
        </p:nvSpPr>
        <p:spPr>
          <a:xfrm>
            <a:off x="4055364" y="1780907"/>
            <a:ext cx="3995928" cy="384048"/>
          </a:xfrm>
          <a:prstGeom prst="rect">
            <a:avLst/>
          </a:prstGeom>
          <a:solidFill>
            <a:srgbClr val="1F2A5C"/>
          </a:solidFill>
          <a:ln>
            <a:noFill/>
          </a:ln>
          <a:effectLst/>
        </p:spPr>
        <p:style>
          <a:lnRef idx="1">
            <a:schemeClr val="accent1"/>
          </a:lnRef>
          <a:fillRef idx="3">
            <a:schemeClr val="accent1"/>
          </a:fillRef>
          <a:effectRef idx="2">
            <a:schemeClr val="accent1"/>
          </a:effectRef>
          <a:fontRef idx="minor">
            <a:schemeClr val="lt1"/>
          </a:fontRef>
        </p:style>
        <p:txBody>
          <a:bodyPr wrap="square" lIns="45720" tIns="18288" rIns="45720" bIns="18288" rtlCol="0" anchor="ctr"/>
          <a:lstStyle/>
          <a:p>
            <a:pPr algn="ctr">
              <a:spcAft>
                <a:spcPts val="0"/>
              </a:spcAft>
            </a:pPr>
            <a:r>
              <a:rPr sz="1400" b="1">
                <a:solidFill>
                  <a:srgbClr val="FFFFFF"/>
                </a:solidFill>
                <a:latin typeface="メイリオ"/>
                <a:ea typeface="メイリオ"/>
                <a:cs typeface="メイリオ"/>
              </a:rPr>
              <a:t>確認内容</a:t>
            </a:r>
          </a:p>
        </p:txBody>
      </p:sp>
      <p:sp>
        <p:nvSpPr>
          <p:cNvPr id="15" name="Rectangle 6">
            <a:extLst>
              <a:ext uri="{FF2B5EF4-FFF2-40B4-BE49-F238E27FC236}">
                <a16:creationId xmlns:a16="http://schemas.microsoft.com/office/drawing/2014/main" id="{E019A0C2-CAAE-25A0-61D2-699B65C42417}"/>
              </a:ext>
            </a:extLst>
          </p:cNvPr>
          <p:cNvSpPr/>
          <p:nvPr/>
        </p:nvSpPr>
        <p:spPr>
          <a:xfrm>
            <a:off x="1860804" y="2203668"/>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配信の確認体制</a:t>
            </a:r>
          </a:p>
        </p:txBody>
      </p:sp>
      <p:sp>
        <p:nvSpPr>
          <p:cNvPr id="17" name="Rectangle 7">
            <a:extLst>
              <a:ext uri="{FF2B5EF4-FFF2-40B4-BE49-F238E27FC236}">
                <a16:creationId xmlns:a16="http://schemas.microsoft.com/office/drawing/2014/main" id="{18AC0B76-9D3D-7E03-E909-B45DC15D43B6}"/>
              </a:ext>
            </a:extLst>
          </p:cNvPr>
          <p:cNvSpPr/>
          <p:nvPr/>
        </p:nvSpPr>
        <p:spPr>
          <a:xfrm>
            <a:off x="4055364" y="2203668"/>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確認する方・承認の流れ・確認にかかる日数</a:t>
            </a:r>
          </a:p>
        </p:txBody>
      </p:sp>
      <p:sp>
        <p:nvSpPr>
          <p:cNvPr id="2" name="Rectangle 6">
            <a:extLst>
              <a:ext uri="{FF2B5EF4-FFF2-40B4-BE49-F238E27FC236}">
                <a16:creationId xmlns:a16="http://schemas.microsoft.com/office/drawing/2014/main" id="{E019A0C2-CAAE-25A0-61D2-699B65C42417}"/>
              </a:ext>
            </a:extLst>
          </p:cNvPr>
          <p:cNvSpPr/>
          <p:nvPr/>
        </p:nvSpPr>
        <p:spPr>
          <a:xfrm>
            <a:off x="1860804" y="2811744"/>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窓口・素材</a:t>
            </a:r>
          </a:p>
        </p:txBody>
      </p:sp>
      <p:sp>
        <p:nvSpPr>
          <p:cNvPr id="6" name="Rectangle 7">
            <a:extLst>
              <a:ext uri="{FF2B5EF4-FFF2-40B4-BE49-F238E27FC236}">
                <a16:creationId xmlns:a16="http://schemas.microsoft.com/office/drawing/2014/main" id="{18AC0B76-9D3D-7E03-E909-B45DC15D43B6}"/>
              </a:ext>
            </a:extLst>
          </p:cNvPr>
          <p:cNvSpPr/>
          <p:nvPr/>
        </p:nvSpPr>
        <p:spPr>
          <a:xfrm>
            <a:off x="4055364" y="2811744"/>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社内の窓口、写真・事例などの素材</a:t>
            </a:r>
          </a:p>
        </p:txBody>
      </p:sp>
      <p:sp>
        <p:nvSpPr>
          <p:cNvPr id="7" name="Rectangle 6">
            <a:extLst>
              <a:ext uri="{FF2B5EF4-FFF2-40B4-BE49-F238E27FC236}">
                <a16:creationId xmlns:a16="http://schemas.microsoft.com/office/drawing/2014/main" id="{E019A0C2-CAAE-25A0-61D2-699B65C42417}"/>
              </a:ext>
            </a:extLst>
          </p:cNvPr>
          <p:cNvSpPr/>
          <p:nvPr/>
        </p:nvSpPr>
        <p:spPr>
          <a:xfrm>
            <a:off x="1860804" y="3419820"/>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年間の予定</a:t>
            </a:r>
          </a:p>
        </p:txBody>
      </p:sp>
      <p:sp>
        <p:nvSpPr>
          <p:cNvPr id="9" name="Rectangle 7">
            <a:extLst>
              <a:ext uri="{FF2B5EF4-FFF2-40B4-BE49-F238E27FC236}">
                <a16:creationId xmlns:a16="http://schemas.microsoft.com/office/drawing/2014/main" id="{18AC0B76-9D3D-7E03-E909-B45DC15D43B6}"/>
              </a:ext>
            </a:extLst>
          </p:cNvPr>
          <p:cNvSpPr/>
          <p:nvPr/>
        </p:nvSpPr>
        <p:spPr>
          <a:xfrm>
            <a:off x="4055364" y="3419820"/>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繁忙期・キャンペーン・イベントの時期</a:t>
            </a:r>
          </a:p>
        </p:txBody>
      </p:sp>
      <p:sp>
        <p:nvSpPr>
          <p:cNvPr id="10" name="Rectangle 6">
            <a:extLst>
              <a:ext uri="{FF2B5EF4-FFF2-40B4-BE49-F238E27FC236}">
                <a16:creationId xmlns:a16="http://schemas.microsoft.com/office/drawing/2014/main" id="{E019A0C2-CAAE-25A0-61D2-699B65C42417}"/>
              </a:ext>
            </a:extLst>
          </p:cNvPr>
          <p:cNvSpPr/>
          <p:nvPr/>
        </p:nvSpPr>
        <p:spPr>
          <a:xfrm>
            <a:off x="1860804" y="4027896"/>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予約・顧客管理</a:t>
            </a:r>
          </a:p>
        </p:txBody>
      </p:sp>
      <p:sp>
        <p:nvSpPr>
          <p:cNvPr id="11" name="Rectangle 7">
            <a:extLst>
              <a:ext uri="{FF2B5EF4-FFF2-40B4-BE49-F238E27FC236}">
                <a16:creationId xmlns:a16="http://schemas.microsoft.com/office/drawing/2014/main" id="{18AC0B76-9D3D-7E03-E909-B45DC15D43B6}"/>
              </a:ext>
            </a:extLst>
          </p:cNvPr>
          <p:cNvSpPr/>
          <p:nvPr/>
        </p:nvSpPr>
        <p:spPr>
          <a:xfrm>
            <a:off x="4055364" y="4027896"/>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使っているシステムと、LINE連携の可否</a:t>
            </a:r>
          </a:p>
        </p:txBody>
      </p:sp>
      <p:sp>
        <p:nvSpPr>
          <p:cNvPr id="12" name="Rectangle 6">
            <a:extLst>
              <a:ext uri="{FF2B5EF4-FFF2-40B4-BE49-F238E27FC236}">
                <a16:creationId xmlns:a16="http://schemas.microsoft.com/office/drawing/2014/main" id="{E019A0C2-CAAE-25A0-61D2-699B65C42417}"/>
              </a:ext>
            </a:extLst>
          </p:cNvPr>
          <p:cNvSpPr/>
          <p:nvPr/>
        </p:nvSpPr>
        <p:spPr>
          <a:xfrm>
            <a:off x="1860804" y="4635972"/>
            <a:ext cx="2167128" cy="565265"/>
          </a:xfrm>
          <a:prstGeom prst="rect">
            <a:avLst/>
          </a:prstGeom>
          <a:solidFill>
            <a:srgbClr val="EEF1F8"/>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1">
                <a:solidFill>
                  <a:srgbClr val="1F2A5C"/>
                </a:solidFill>
                <a:latin typeface="メイリオ"/>
                <a:ea typeface="メイリオ"/>
                <a:cs typeface="メイリオ"/>
              </a:rPr>
              <a:t>表現の決まり</a:t>
            </a:r>
          </a:p>
        </p:txBody>
      </p:sp>
      <p:sp>
        <p:nvSpPr>
          <p:cNvPr id="13" name="Rectangle 7">
            <a:extLst>
              <a:ext uri="{FF2B5EF4-FFF2-40B4-BE49-F238E27FC236}">
                <a16:creationId xmlns:a16="http://schemas.microsoft.com/office/drawing/2014/main" id="{18AC0B76-9D3D-7E03-E909-B45DC15D43B6}"/>
              </a:ext>
            </a:extLst>
          </p:cNvPr>
          <p:cNvSpPr/>
          <p:nvPr/>
        </p:nvSpPr>
        <p:spPr>
          <a:xfrm>
            <a:off x="4055364" y="4635972"/>
            <a:ext cx="3995928" cy="565265"/>
          </a:xfrm>
          <a:prstGeom prst="rect">
            <a:avLst/>
          </a:prstGeom>
          <a:solidFill>
            <a:srgbClr val="FFFFFF"/>
          </a:solidFill>
          <a:ln w="12700">
            <a:solidFill>
              <a:srgbClr val="D0D5E0"/>
            </a:solidFill>
          </a:ln>
          <a:effectLst/>
        </p:spPr>
        <p:style>
          <a:lnRef idx="1">
            <a:schemeClr val="accent1"/>
          </a:lnRef>
          <a:fillRef idx="3">
            <a:schemeClr val="accent1"/>
          </a:fillRef>
          <a:effectRef idx="2">
            <a:schemeClr val="accent1"/>
          </a:effectRef>
          <a:fontRef idx="minor">
            <a:schemeClr val="lt1"/>
          </a:fontRef>
        </p:style>
        <p:txBody>
          <a:bodyPr wrap="square" lIns="73152" tIns="18288" rIns="73152" bIns="18288" rtlCol="0" anchor="ctr"/>
          <a:lstStyle/>
          <a:p>
            <a:pPr algn="l">
              <a:spcAft>
                <a:spcPts val="0"/>
              </a:spcAft>
            </a:pPr>
            <a:r>
              <a:rPr sz="1400" b="0">
                <a:solidFill>
                  <a:srgbClr val="333333"/>
                </a:solidFill>
                <a:latin typeface="メイリオ"/>
                <a:ea typeface="メイリオ"/>
                <a:cs typeface="メイリオ"/>
              </a:rPr>
              <a:t>業法・社内ルールで使えない表現</a:t>
            </a:r>
          </a:p>
        </p:txBody>
      </p:sp>
      <p:sp>
        <p:nvSpPr>
          <p:cNvPr id="69" name="Rectangle 24">
            <a:extLst>
              <a:ext uri="{FF2B5EF4-FFF2-40B4-BE49-F238E27FC236}">
                <a16:creationId xmlns:a16="http://schemas.microsoft.com/office/drawing/2014/main" id="{A485A409-0FAF-105F-F311-A3F789094A81}"/>
              </a:ext>
            </a:extLst>
          </p:cNvPr>
          <p:cNvSpPr/>
          <p:nvPr/>
        </p:nvSpPr>
        <p:spPr>
          <a:xfrm>
            <a:off x="384048" y="6000207"/>
            <a:ext cx="9144000" cy="502920"/>
          </a:xfrm>
          <a:prstGeom prst="rect">
            <a:avLst/>
          </a:prstGeom>
          <a:solidFill>
            <a:srgbClr val="F3F5FA"/>
          </a:solidFill>
          <a:ln w="12700">
            <a:solidFill>
              <a:srgbClr val="1F2A5C"/>
            </a:solidFill>
          </a:ln>
          <a:effectLst/>
        </p:spPr>
        <p:style>
          <a:lnRef idx="1">
            <a:schemeClr val="accent1"/>
          </a:lnRef>
          <a:fillRef idx="3">
            <a:schemeClr val="accent1"/>
          </a:fillRef>
          <a:effectRef idx="2">
            <a:schemeClr val="accent1"/>
          </a:effectRef>
          <a:fontRef idx="minor">
            <a:schemeClr val="lt1"/>
          </a:fontRef>
        </p:style>
        <p:txBody>
          <a:bodyPr wrap="square" lIns="137160" tIns="18288" rIns="137160" bIns="18288" rtlCol="0" anchor="ctr"/>
          <a:lstStyle/>
          <a:p>
            <a:pPr algn="ctr">
              <a:spcAft>
                <a:spcPts val="0"/>
              </a:spcAft>
            </a:pPr>
            <a:r>
              <a:rPr lang="en-US" altLang="ja-JP" sz="1400" b="1" dirty="0">
                <a:solidFill>
                  <a:srgbClr val="1F2A5C"/>
                </a:solidFill>
                <a:latin typeface="メイリオ"/>
                <a:ea typeface="メイリオ"/>
                <a:cs typeface="メイリオ"/>
              </a:rPr>
              <a:t>LINE Official</a:t>
            </a:r>
            <a:r>
              <a:rPr lang="ja-JP" altLang="en-US" sz="1400" b="1" dirty="0">
                <a:solidFill>
                  <a:srgbClr val="1F2A5C"/>
                </a:solidFill>
                <a:latin typeface="メイリオ"/>
                <a:ea typeface="メイリオ"/>
                <a:cs typeface="メイリオ"/>
              </a:rPr>
              <a:t> </a:t>
            </a:r>
            <a:r>
              <a:rPr lang="en-US" altLang="ja-JP" sz="1400" b="1" dirty="0">
                <a:solidFill>
                  <a:srgbClr val="1F2A5C"/>
                </a:solidFill>
                <a:latin typeface="メイリオ"/>
                <a:ea typeface="メイリオ"/>
                <a:cs typeface="メイリオ"/>
              </a:rPr>
              <a:t>Manager</a:t>
            </a:r>
            <a:r>
              <a:rPr lang="ja-JP" altLang="en-US" sz="1400" b="1" dirty="0">
                <a:solidFill>
                  <a:srgbClr val="1F2A5C"/>
                </a:solidFill>
                <a:latin typeface="メイリオ"/>
                <a:ea typeface="メイリオ"/>
                <a:cs typeface="メイリオ"/>
              </a:rPr>
              <a:t>、</a:t>
            </a:r>
            <a:r>
              <a:rPr lang="en-US" altLang="ja-JP" sz="1400" b="1" dirty="0">
                <a:solidFill>
                  <a:srgbClr val="1F2A5C"/>
                </a:solidFill>
                <a:latin typeface="メイリオ"/>
                <a:ea typeface="メイリオ"/>
                <a:cs typeface="メイリオ"/>
              </a:rPr>
              <a:t>API</a:t>
            </a:r>
            <a:r>
              <a:rPr lang="ja-JP" altLang="en-US" sz="1400" b="1" dirty="0">
                <a:solidFill>
                  <a:srgbClr val="1F2A5C"/>
                </a:solidFill>
                <a:latin typeface="メイリオ"/>
                <a:ea typeface="メイリオ"/>
                <a:cs typeface="メイリオ"/>
              </a:rPr>
              <a:t>ツール等、配信にかかわる管理画面の共有をいただければ詳細なご提案が可能</a:t>
            </a:r>
            <a:endParaRPr sz="1400" b="1" dirty="0">
              <a:solidFill>
                <a:srgbClr val="1F2A5C"/>
              </a:solidFill>
              <a:latin typeface="メイリオ"/>
              <a:ea typeface="メイリオ"/>
              <a:cs typeface="メイリオ"/>
            </a:endParaRPr>
          </a:p>
        </p:txBody>
      </p:sp>
    </p:spTree>
    <p:extLst>
      <p:ext uri="{BB962C8B-B14F-4D97-AF65-F5344CB8AC3E}">
        <p14:creationId xmlns:p14="http://schemas.microsoft.com/office/powerpoint/2010/main" val="163495325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145396</TotalTime>
  <Words>4402</Words>
  <Application>Microsoft Office PowerPoint</Application>
  <PresentationFormat>A4 210 x 297 mm</PresentationFormat>
  <Paragraphs>1027</Paragraphs>
  <Slides>56</Slides>
  <Notes>1</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56</vt:i4>
      </vt:variant>
    </vt:vector>
  </HeadingPairs>
  <TitlesOfParts>
    <vt:vector size="63"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1983</cp:revision>
  <cp:lastPrinted>2022-11-01T11:38:14Z</cp:lastPrinted>
  <dcterms:created xsi:type="dcterms:W3CDTF">2015-09-04T09:21:15Z</dcterms:created>
  <dcterms:modified xsi:type="dcterms:W3CDTF">2026-10-26T04:36:09Z</dcterms:modified>
</cp:coreProperties>
</file>