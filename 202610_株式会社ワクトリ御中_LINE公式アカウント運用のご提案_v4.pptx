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8"/>
  </p:notesMasterIdLst>
  <p:handoutMasterIdLst>
    <p:handoutMasterId r:id="rId59"/>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3174" r:id="rId25"/>
    <p:sldId id="3175" r:id="rId26"/>
    <p:sldId id="3176" r:id="rId27"/>
    <p:sldId id="2728" r:id="rId28"/>
    <p:sldId id="3160" r:id="rId29"/>
    <p:sldId id="3161" r:id="rId30"/>
    <p:sldId id="3162" r:id="rId31"/>
    <p:sldId id="3163" r:id="rId32"/>
    <p:sldId id="3164" r:id="rId33"/>
    <p:sldId id="3165" r:id="rId34"/>
    <p:sldId id="3166" r:id="rId35"/>
    <p:sldId id="2729" r:id="rId36"/>
    <p:sldId id="3168" r:id="rId37"/>
    <p:sldId id="3169" r:id="rId38"/>
    <p:sldId id="3170" r:id="rId39"/>
    <p:sldId id="2730" r:id="rId40"/>
    <p:sldId id="2563" r:id="rId41"/>
    <p:sldId id="2959" r:id="rId42"/>
    <p:sldId id="2970" r:id="rId43"/>
    <p:sldId id="2968" r:id="rId44"/>
    <p:sldId id="2969" r:id="rId45"/>
    <p:sldId id="3151" r:id="rId46"/>
    <p:sldId id="2575" r:id="rId47"/>
    <p:sldId id="2910" r:id="rId48"/>
    <p:sldId id="3171" r:id="rId49"/>
    <p:sldId id="3172" r:id="rId50"/>
    <p:sldId id="3173" r:id="rId51"/>
    <p:sldId id="3136" r:id="rId52"/>
    <p:sldId id="3137" r:id="rId53"/>
    <p:sldId id="3138" r:id="rId54"/>
    <p:sldId id="3139" r:id="rId55"/>
    <p:sldId id="3140" r:id="rId56"/>
    <p:sldId id="1169" r:id="rId5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notesMaster" Target="notesMasters/notesMaster1.xml"/><Relationship Id="rId59" Type="http://schemas.openxmlformats.org/officeDocument/2006/relationships/handoutMaster" Target="handoutMasters/handout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2026/10/28</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6.jpg"/><Relationship Id="rId3" Type="http://schemas.openxmlformats.org/officeDocument/2006/relationships/image" Target="../media/image57.jp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jpeg"/><Relationship Id="rId8" Type="http://schemas.openxmlformats.org/officeDocument/2006/relationships/image" Target="../media/image62.jp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hyperlink" Target="https://youtube.com/shorts/0qI4QgrOppQ"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8.jpeg"/><Relationship Id="rId5" Type="http://schemas.openxmlformats.org/officeDocument/2006/relationships/image" Target="../media/image69.jpeg"/><Relationship Id="rId6" Type="http://schemas.openxmlformats.org/officeDocument/2006/relationships/image" Target="../media/image70.jpeg"/><Relationship Id="rId7" Type="http://schemas.openxmlformats.org/officeDocument/2006/relationships/image" Target="../media/image71.jpeg"/><Relationship Id="rId8" Type="http://schemas.openxmlformats.org/officeDocument/2006/relationships/image" Target="../media/image7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他社は、追加の直後から登録・相談へつないでいる。リゾートバイトの集客で、LINEは必須の接点になっている。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28800"/>
            <a:ext cx="32918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60" name="Rectangle 59"/>
          <p:cNvSpPr/>
          <p:nvPr/>
        </p:nvSpPr>
        <p:spPr>
          <a:xfrm>
            <a:off x="3703320" y="1828800"/>
            <a:ext cx="58247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61" name="Rectangle 60"/>
          <p:cNvSpPr/>
          <p:nvPr/>
        </p:nvSpPr>
        <p:spPr>
          <a:xfrm>
            <a:off x="384048" y="2231136"/>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追加の直後に、登録・相談へ誘導する</a:t>
            </a:r>
          </a:p>
        </p:txBody>
      </p:sp>
      <p:sp>
        <p:nvSpPr>
          <p:cNvPr id="62" name="Rectangle 61"/>
          <p:cNvSpPr/>
          <p:nvPr/>
        </p:nvSpPr>
        <p:spPr>
          <a:xfrm>
            <a:off x="3703320" y="2231136"/>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リゾートバイトダイブ／リゾバ.com／アルファリゾート</a:t>
            </a:r>
          </a:p>
        </p:txBody>
      </p:sp>
      <p:sp>
        <p:nvSpPr>
          <p:cNvPr id="63" name="Rectangle 62"/>
          <p:cNvSpPr/>
          <p:nvPr/>
        </p:nvSpPr>
        <p:spPr>
          <a:xfrm>
            <a:off x="384048" y="2907792"/>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追加の後も、毎日配信する会社もある</a:t>
            </a:r>
          </a:p>
        </p:txBody>
      </p:sp>
      <p:sp>
        <p:nvSpPr>
          <p:cNvPr id="64" name="Rectangle 63"/>
          <p:cNvSpPr/>
          <p:nvPr/>
        </p:nvSpPr>
        <p:spPr>
          <a:xfrm>
            <a:off x="3703320" y="2907792"/>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リゾートバイトダイブ（毎日1通）／リゾバ.com（1日2通）</a:t>
            </a:r>
          </a:p>
        </p:txBody>
      </p:sp>
      <p:sp>
        <p:nvSpPr>
          <p:cNvPr id="65" name="Rectangle 64"/>
          <p:cNvSpPr/>
          <p:nvPr/>
        </p:nvSpPr>
        <p:spPr>
          <a:xfrm>
            <a:off x="384048" y="3584448"/>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経験・タイプを聞き、合う求人を出し分ける</a:t>
            </a:r>
          </a:p>
        </p:txBody>
      </p:sp>
      <p:sp>
        <p:nvSpPr>
          <p:cNvPr id="66" name="Rectangle 65"/>
          <p:cNvSpPr/>
          <p:nvPr/>
        </p:nvSpPr>
        <p:spPr>
          <a:xfrm>
            <a:off x="3703320" y="3584448"/>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リゾバ.com（経験の有無・タイプ別）／リゾートバイト.com（アンケート）</a:t>
            </a:r>
          </a:p>
        </p:txBody>
      </p:sp>
      <p:sp>
        <p:nvSpPr>
          <p:cNvPr id="67" name="Rectangle 66"/>
          <p:cNvSpPr/>
          <p:nvPr/>
        </p:nvSpPr>
        <p:spPr>
          <a:xfrm>
            <a:off x="384048" y="4261104"/>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リッチメニューに、開始月別の求人を置く</a:t>
            </a:r>
          </a:p>
        </p:txBody>
      </p:sp>
      <p:sp>
        <p:nvSpPr>
          <p:cNvPr id="68" name="Rectangle 67"/>
          <p:cNvSpPr/>
          <p:nvPr/>
        </p:nvSpPr>
        <p:spPr>
          <a:xfrm>
            <a:off x="3703320" y="4261104"/>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エントリー状況・</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（今のアンケートを活かす）</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検索の直前・当日に「派遣会社」「単発バイト」「リゾートバイト」などを検索。働き方を比べている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検索の当日〜1日後に「扶養内で働ける金額 2025」「国民健康保険料」など、お金・保険の検索が続く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当日〜3日後に「派遣会社 おすすめ企業」「バイトル」「スタッフサービス」「エン派遣」など、会社・サービスを比べる検索が続く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2〜7日後に「派遣 職場見学 落ちる確率」「履歴書 書き方」など、応募・面接の準備の検索が増える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Resort」の求人を、開始時期・エリアの答えで出し分け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友だちの入口</a:t>
            </a:r>
          </a:p>
          <a:p>
            <a:pPr algn="l">
              <a:lnSpc>
                <a:spcPct val="105000"/>
              </a:lnSpc>
              <a:spcAft>
                <a:spcPts val="200"/>
              </a:spcAft>
            </a:pPr>
            <a:r>
              <a:rPr sz="1200" b="0">
                <a:solidFill>
                  <a:srgbClr val="333333"/>
                </a:solidFill>
                <a:latin typeface="メイリオ"/>
                <a:ea typeface="メイリオ"/>
                <a:cs typeface="メイリオ"/>
              </a:rPr>
              <a:t>サイトのLINEボタン・広告の受け皿</a:t>
            </a:r>
          </a:p>
        </p:txBody>
      </p:sp>
      <p:sp>
        <p:nvSpPr>
          <p:cNvPr id="86" name="Rectangle 85"/>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87" name="Rectangle 86"/>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サイト・広告から来る</a:t>
            </a:r>
          </a:p>
        </p:txBody>
      </p:sp>
      <p:sp>
        <p:nvSpPr>
          <p:cNvPr id="88" name="TextBox 87"/>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9" name="Rectangle 88"/>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0" name="Rectangle 89"/>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求人ページ・トップのLINEボタン</a:t>
            </a:r>
          </a:p>
        </p:txBody>
      </p:sp>
      <p:sp>
        <p:nvSpPr>
          <p:cNvPr id="91" name="TextBox 90"/>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3" name="Rectangle 92"/>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94" name="TextBox 93"/>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96" name="Rectangle 95"/>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あいさつ・診断</a:t>
            </a:r>
          </a:p>
        </p:txBody>
      </p:sp>
      <p:sp>
        <p:nvSpPr>
          <p:cNvPr id="97" name="TextBox 96"/>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サイトに来た方を、LINEでつながる友だちにする</a:t>
            </a:r>
          </a:p>
        </p:txBody>
      </p:sp>
      <p:sp>
        <p:nvSpPr>
          <p:cNvPr id="98" name="TextBox 97"/>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サイトに来た方（月 約8.6万UU）</a:t>
            </a:r>
          </a:p>
        </p:txBody>
      </p:sp>
      <p:sp>
        <p:nvSpPr>
          <p:cNvPr id="99" name="TextBox 98"/>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ボタンの訴求は「LINEで新着求人・開始月別の求人が届く」</a:t>
            </a:r>
          </a:p>
        </p:txBody>
      </p:sp>
      <p:sp>
        <p:nvSpPr>
          <p:cNvPr id="100" name="TextBox 99"/>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サイトのボタンからの友だち追加数</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サイトを離れる方をLINEへ</a:t>
            </a:r>
          </a:p>
        </p:txBody>
      </p:sp>
      <p:sp>
        <p:nvSpPr>
          <p:cNvPr id="86" name="Rectangle 85"/>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87" name="Rectangle 86"/>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求人を見る</a:t>
            </a:r>
          </a:p>
        </p:txBody>
      </p:sp>
      <p:sp>
        <p:nvSpPr>
          <p:cNvPr id="88" name="TextBox 87"/>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9" name="Rectangle 88"/>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0" name="Rectangle 89"/>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応募せずに離れようとする</a:t>
            </a:r>
          </a:p>
        </p:txBody>
      </p:sp>
      <p:sp>
        <p:nvSpPr>
          <p:cNvPr id="91" name="TextBox 90"/>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3" name="Rectangle 92"/>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ポップアップ「LINEで新着求人を受け取る」</a:t>
            </a:r>
          </a:p>
        </p:txBody>
      </p:sp>
      <p:sp>
        <p:nvSpPr>
          <p:cNvPr id="94" name="TextBox 93"/>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96" name="Rectangle 95"/>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97" name="TextBox 96"/>
          <p:cNvSpPr txBox="1"/>
          <p:nvPr/>
        </p:nvSpPr>
        <p:spPr>
          <a:xfrm>
            <a:off x="6373368" y="1911095"/>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目的</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応募せずに離れる方を、LINEで追える</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友だちにする</a:t>
            </a:r>
            <a:endParaRPr sz="1200" b="0" dirty="0">
              <a:solidFill>
                <a:srgbClr val="333333"/>
              </a:solidFill>
              <a:latin typeface="メイリオ"/>
              <a:ea typeface="メイリオ"/>
              <a:cs typeface="メイリオ"/>
            </a:endParaRPr>
          </a:p>
        </p:txBody>
      </p:sp>
      <p:sp>
        <p:nvSpPr>
          <p:cNvPr id="98" name="TextBox 97"/>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求人ページを見て、応募せずに離れる方</a:t>
            </a:r>
          </a:p>
        </p:txBody>
      </p:sp>
      <p:sp>
        <p:nvSpPr>
          <p:cNvPr id="99" name="TextBox 98"/>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離れるタイミングで表示。開始時期・エリアに合う求人がLINEで届くと訴求</a:t>
            </a:r>
          </a:p>
        </p:txBody>
      </p:sp>
      <p:sp>
        <p:nvSpPr>
          <p:cNvPr id="100" name="TextBox 99"/>
          <p:cNvSpPr txBox="1"/>
          <p:nvPr/>
        </p:nvSpPr>
        <p:spPr>
          <a:xfrm>
            <a:off x="6373368" y="5230368"/>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見る数字</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表示回数・クリック率・友だち追加数</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a:solidFill>
                  <a:srgbClr val="333333"/>
                </a:solidFill>
                <a:latin typeface="メイリオ"/>
                <a:ea typeface="メイリオ"/>
                <a:cs typeface="メイリオ"/>
              </a:rPr>
              <a:t>（月 約680〜710人）</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即時分類</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適正バイト診断</a:t>
            </a:r>
          </a:p>
          <a:p>
            <a:pPr algn="l">
              <a:lnSpc>
                <a:spcPct val="105000"/>
              </a:lnSpc>
              <a:spcAft>
                <a:spcPts val="200"/>
              </a:spcAft>
            </a:pPr>
            <a:r>
              <a:rPr sz="1200" b="0">
                <a:solidFill>
                  <a:srgbClr val="333333"/>
                </a:solidFill>
                <a:latin typeface="メイリオ"/>
                <a:ea typeface="メイリオ"/>
                <a:cs typeface="メイリオ"/>
              </a:rPr>
              <a:t>今のアンケート3問の答えで、合う求人を出す</a:t>
            </a:r>
          </a:p>
        </p:txBody>
      </p:sp>
      <p:sp>
        <p:nvSpPr>
          <p:cNvPr id="109" name="Rectangle 108"/>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10" name="Rectangle 109"/>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111" name="TextBox 110"/>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2" name="Rectangle 111"/>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13" name="Rectangle 112"/>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3問タップ（エントリー状況・開始時期・エリア）</a:t>
            </a:r>
          </a:p>
        </p:txBody>
      </p:sp>
      <p:sp>
        <p:nvSpPr>
          <p:cNvPr id="114" name="TextBox 113"/>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5" name="Rectangle 114"/>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6" name="Rectangle 115"/>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結果に合う求人を表示</a:t>
            </a:r>
          </a:p>
        </p:txBody>
      </p:sp>
      <p:sp>
        <p:nvSpPr>
          <p:cNvPr id="117" name="TextBox 116"/>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8" name="Rectangle 117"/>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9" name="Rectangle 118"/>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答えでタグ付け</a:t>
            </a:r>
          </a:p>
        </p:txBody>
      </p:sp>
      <p:sp>
        <p:nvSpPr>
          <p:cNvPr id="120" name="TextBox 119"/>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追加の直後に、合う求人と配信の出し分けを決める</a:t>
            </a:r>
          </a:p>
        </p:txBody>
      </p:sp>
      <p:sp>
        <p:nvSpPr>
          <p:cNvPr id="121" name="TextBox 120"/>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新しい友だち全員</a:t>
            </a:r>
          </a:p>
        </p:txBody>
      </p:sp>
      <p:sp>
        <p:nvSpPr>
          <p:cNvPr id="122" name="TextBox 121"/>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今のアンケート（エントリー状況・開始時期・エリア）の答えで、合う求人と配信を出し分ける</a:t>
            </a:r>
          </a:p>
        </p:txBody>
      </p:sp>
      <p:sp>
        <p:nvSpPr>
          <p:cNvPr id="123" name="TextBox 122"/>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回答率・結果からの求人クリック</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追加後15日で、ENTRY・カウンセリングへ</a:t>
            </a:r>
          </a:p>
        </p:txBody>
      </p:sp>
      <p:sp>
        <p:nvSpPr>
          <p:cNvPr id="105" name="Rectangle 104"/>
          <p:cNvSpPr/>
          <p:nvPr/>
        </p:nvSpPr>
        <p:spPr>
          <a:xfrm>
            <a:off x="1152144" y="2724912"/>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Day0　診断</a:t>
            </a:r>
          </a:p>
        </p:txBody>
      </p:sp>
      <p:sp>
        <p:nvSpPr>
          <p:cNvPr id="107" name="TextBox 106"/>
          <p:cNvSpPr txBox="1"/>
          <p:nvPr/>
        </p:nvSpPr>
        <p:spPr>
          <a:xfrm>
            <a:off x="1152144" y="320222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430828"/>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430828"/>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Day1〜2　働き方</a:t>
            </a:r>
          </a:p>
        </p:txBody>
      </p:sp>
      <p:sp>
        <p:nvSpPr>
          <p:cNvPr id="110" name="TextBox 109"/>
          <p:cNvSpPr txBox="1"/>
          <p:nvPr/>
        </p:nvSpPr>
        <p:spPr>
          <a:xfrm>
            <a:off x="1152144" y="3908145"/>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136745"/>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136745"/>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Day3〜4　お金の疑問</a:t>
            </a:r>
          </a:p>
        </p:txBody>
      </p:sp>
      <p:sp>
        <p:nvSpPr>
          <p:cNvPr id="113" name="TextBox 112"/>
          <p:cNvSpPr txBox="1"/>
          <p:nvPr/>
        </p:nvSpPr>
        <p:spPr>
          <a:xfrm>
            <a:off x="1152144" y="4614062"/>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4842662"/>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4842662"/>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Day6〜7　会社の選び方</a:t>
            </a:r>
          </a:p>
        </p:txBody>
      </p:sp>
      <p:sp>
        <p:nvSpPr>
          <p:cNvPr id="116" name="TextBox 115"/>
          <p:cNvSpPr txBox="1"/>
          <p:nvPr/>
        </p:nvSpPr>
        <p:spPr>
          <a:xfrm>
            <a:off x="1152144" y="5319979"/>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7" name="Rectangle 116"/>
          <p:cNvSpPr/>
          <p:nvPr/>
        </p:nvSpPr>
        <p:spPr>
          <a:xfrm>
            <a:off x="1152144" y="5548579"/>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5</a:t>
            </a:r>
          </a:p>
        </p:txBody>
      </p:sp>
      <p:sp>
        <p:nvSpPr>
          <p:cNvPr id="118" name="Rectangle 117"/>
          <p:cNvSpPr/>
          <p:nvPr/>
        </p:nvSpPr>
        <p:spPr>
          <a:xfrm>
            <a:off x="1655064" y="5548579"/>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Day10〜15　ENTRY</a:t>
            </a:r>
          </a:p>
        </p:txBody>
      </p:sp>
      <p:sp>
        <p:nvSpPr>
          <p:cNvPr id="119" name="TextBox 118"/>
          <p:cNvSpPr txBox="1"/>
          <p:nvPr/>
        </p:nvSpPr>
        <p:spPr>
          <a:xfrm>
            <a:off x="6373368" y="1911095"/>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目的</a:t>
            </a:r>
            <a:endParaRPr sz="1350" b="1" dirty="0">
              <a:solidFill>
                <a:srgbClr val="1F2A5C"/>
              </a:solidFill>
              <a:latin typeface="メイリオ"/>
              <a:ea typeface="メイリオ"/>
              <a:cs typeface="メイリオ"/>
            </a:endParaRPr>
          </a:p>
          <a:p>
            <a:pPr algn="l">
              <a:lnSpc>
                <a:spcPct val="105000"/>
              </a:lnSpc>
              <a:spcAft>
                <a:spcPts val="200"/>
              </a:spcAft>
            </a:pPr>
            <a:r>
              <a:rPr sz="1200" b="0" dirty="0">
                <a:solidFill>
                  <a:srgbClr val="333333"/>
                </a:solidFill>
                <a:latin typeface="メイリオ"/>
                <a:ea typeface="メイリオ"/>
                <a:cs typeface="メイリオ"/>
              </a:rPr>
              <a:t>追加から15日で、ENTRYまで信頼を</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積み上げる</a:t>
            </a:r>
            <a:endParaRPr sz="1200" b="0" dirty="0">
              <a:solidFill>
                <a:srgbClr val="333333"/>
              </a:solidFill>
              <a:latin typeface="メイリオ"/>
              <a:ea typeface="メイリオ"/>
              <a:cs typeface="メイリオ"/>
            </a:endParaRPr>
          </a:p>
        </p:txBody>
      </p:sp>
      <p:sp>
        <p:nvSpPr>
          <p:cNvPr id="120" name="TextBox 119"/>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その月の新しい友だち</a:t>
            </a:r>
          </a:p>
        </p:txBody>
      </p:sp>
      <p:sp>
        <p:nvSpPr>
          <p:cNvPr id="121" name="TextBox 120"/>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前後検索「派遣 登録」の順番に合わせた5通（24ページ）</a:t>
            </a:r>
          </a:p>
        </p:txBody>
      </p:sp>
      <p:sp>
        <p:nvSpPr>
          <p:cNvPr id="122" name="TextBox 121"/>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各通のクリック率・ENTRY数</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診断の答えで、配信を出し分ける</a:t>
            </a:r>
          </a:p>
        </p:txBody>
      </p:sp>
      <p:sp>
        <p:nvSpPr>
          <p:cNvPr id="105" name="Rectangle 104"/>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診断の答え（開始時期・エリア）</a:t>
            </a:r>
          </a:p>
        </p:txBody>
      </p:sp>
      <p:sp>
        <p:nvSpPr>
          <p:cNvPr id="107" name="TextBox 106"/>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タグで分ける</a:t>
            </a:r>
          </a:p>
        </p:txBody>
      </p:sp>
      <p:sp>
        <p:nvSpPr>
          <p:cNvPr id="110" name="TextBox 109"/>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合う求人だけを配信</a:t>
            </a:r>
          </a:p>
        </p:txBody>
      </p:sp>
      <p:sp>
        <p:nvSpPr>
          <p:cNvPr id="113" name="TextBox 112"/>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応募</a:t>
            </a:r>
          </a:p>
        </p:txBody>
      </p:sp>
      <p:sp>
        <p:nvSpPr>
          <p:cNvPr id="116" name="TextBox 115"/>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全員への配信をやめ、合う求人だけを届けてブロックを減らす</a:t>
            </a:r>
          </a:p>
        </p:txBody>
      </p:sp>
      <p:sp>
        <p:nvSpPr>
          <p:cNvPr id="117" name="TextBox 116"/>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開始時期・エリアに答えた友だち</a:t>
            </a:r>
          </a:p>
        </p:txBody>
      </p:sp>
      <p:sp>
        <p:nvSpPr>
          <p:cNvPr id="118" name="TextBox 117"/>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例：12月開始×山・高原 → スキー場の求人／1〜2か月先×海・離島 → 海・離島の求人</a:t>
            </a:r>
          </a:p>
        </p:txBody>
      </p:sp>
      <p:sp>
        <p:nvSpPr>
          <p:cNvPr id="119" name="TextBox 118"/>
          <p:cNvSpPr txBox="1"/>
          <p:nvPr/>
        </p:nvSpPr>
        <p:spPr>
          <a:xfrm>
            <a:off x="6373368" y="5230368"/>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見る数字</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ブロック率・クリック率</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a:solidFill>
                  <a:srgbClr val="333333"/>
                </a:solidFill>
                <a:latin typeface="メイリオ"/>
                <a:ea typeface="メイリオ"/>
                <a:cs typeface="メイリオ"/>
              </a:rPr>
              <a:t>（</a:t>
            </a:r>
            <a:r>
              <a:rPr sz="1200" b="0" dirty="0" err="1">
                <a:solidFill>
                  <a:srgbClr val="333333"/>
                </a:solidFill>
                <a:latin typeface="メイリオ"/>
                <a:ea typeface="メイリオ"/>
                <a:cs typeface="メイリオ"/>
              </a:rPr>
              <a:t>全員への配信と比べる</a:t>
            </a:r>
            <a:r>
              <a:rPr sz="1200" b="0" dirty="0">
                <a:solidFill>
                  <a:srgbClr val="333333"/>
                </a:solidFill>
                <a:latin typeface="メイリオ"/>
                <a:ea typeface="メイリオ"/>
                <a:cs typeface="メイリオ"/>
              </a:rPr>
              <a: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分岐育成</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リッチメニュー</a:t>
            </a:r>
          </a:p>
          <a:p>
            <a:pPr algn="l">
              <a:lnSpc>
                <a:spcPct val="105000"/>
              </a:lnSpc>
              <a:spcAft>
                <a:spcPts val="200"/>
              </a:spcAft>
            </a:pPr>
            <a:r>
              <a:rPr sz="1200" b="0">
                <a:solidFill>
                  <a:srgbClr val="333333"/>
                </a:solidFill>
                <a:latin typeface="メイリオ"/>
                <a:ea typeface="メイリオ"/>
                <a:cs typeface="メイリオ"/>
              </a:rPr>
              <a:t>開始月別の求人・相談・ENTRY</a:t>
            </a:r>
          </a:p>
        </p:txBody>
      </p:sp>
      <p:sp>
        <p:nvSpPr>
          <p:cNvPr id="90" name="Rectangle 89"/>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91" name="Rectangle 90"/>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メニューを開く</a:t>
            </a:r>
          </a:p>
        </p:txBody>
      </p:sp>
      <p:sp>
        <p:nvSpPr>
          <p:cNvPr id="92" name="TextBox 91"/>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3" name="Rectangle 92"/>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4" name="Rectangle 93"/>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開始月別の求人</a:t>
            </a:r>
          </a:p>
        </p:txBody>
      </p:sp>
      <p:sp>
        <p:nvSpPr>
          <p:cNvPr id="95" name="TextBox 94"/>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6" name="Rectangle 95"/>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7" name="Rectangle 96"/>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求人を見る</a:t>
            </a:r>
          </a:p>
        </p:txBody>
      </p:sp>
      <p:sp>
        <p:nvSpPr>
          <p:cNvPr id="98" name="TextBox 97"/>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9" name="Rectangle 98"/>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00" name="Rectangle 99"/>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会員登録</a:t>
            </a:r>
          </a:p>
        </p:txBody>
      </p:sp>
      <p:sp>
        <p:nvSpPr>
          <p:cNvPr id="101" name="TextBox 100"/>
          <p:cNvSpPr txBox="1"/>
          <p:nvPr/>
        </p:nvSpPr>
        <p:spPr>
          <a:xfrm>
            <a:off x="6373368" y="1911095"/>
            <a:ext cx="3163823" cy="679042"/>
          </a:xfrm>
          <a:prstGeom prst="rect">
            <a:avLst/>
          </a:prstGeom>
          <a:noFill/>
        </p:spPr>
        <p:txBody>
          <a:bodyPr wrap="square" lIns="36000" tIns="10800" rIns="36000" bIns="10800" anchor="t">
            <a:spAutoFit/>
          </a:bodyPr>
          <a:lstStyle/>
          <a:p>
            <a:pPr algn="l">
              <a:lnSpc>
                <a:spcPct val="105000"/>
              </a:lnSpc>
              <a:spcAft>
                <a:spcPts val="200"/>
              </a:spcAft>
            </a:pPr>
            <a:r>
              <a:rPr sz="1350" b="1" dirty="0" err="1">
                <a:solidFill>
                  <a:srgbClr val="1F2A5C"/>
                </a:solidFill>
                <a:latin typeface="メイリオ"/>
                <a:ea typeface="メイリオ"/>
                <a:cs typeface="メイリオ"/>
              </a:rPr>
              <a:t>目的</a:t>
            </a:r>
            <a:endParaRPr sz="1350" b="1" dirty="0">
              <a:solidFill>
                <a:srgbClr val="1F2A5C"/>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配信を待たずに、自分で求人とENTRYに</a:t>
            </a:r>
            <a:endParaRPr lang="en-US" sz="1200" b="0" dirty="0">
              <a:solidFill>
                <a:srgbClr val="333333"/>
              </a:solidFill>
              <a:latin typeface="メイリオ"/>
              <a:ea typeface="メイリオ"/>
              <a:cs typeface="メイリオ"/>
            </a:endParaRPr>
          </a:p>
          <a:p>
            <a:pPr algn="l">
              <a:lnSpc>
                <a:spcPct val="105000"/>
              </a:lnSpc>
              <a:spcAft>
                <a:spcPts val="200"/>
              </a:spcAft>
            </a:pPr>
            <a:r>
              <a:rPr sz="1200" b="0" dirty="0" err="1">
                <a:solidFill>
                  <a:srgbClr val="333333"/>
                </a:solidFill>
                <a:latin typeface="メイリオ"/>
                <a:ea typeface="メイリオ"/>
                <a:cs typeface="メイリオ"/>
              </a:rPr>
              <a:t>たどり着ける</a:t>
            </a:r>
            <a:endParaRPr sz="1200" b="0" dirty="0">
              <a:solidFill>
                <a:srgbClr val="333333"/>
              </a:solidFill>
              <a:latin typeface="メイリオ"/>
              <a:ea typeface="メイリオ"/>
              <a:cs typeface="メイリオ"/>
            </a:endParaRPr>
          </a:p>
        </p:txBody>
      </p:sp>
      <p:sp>
        <p:nvSpPr>
          <p:cNvPr id="102" name="TextBox 101"/>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すべての友だち</a:t>
            </a:r>
          </a:p>
        </p:txBody>
      </p:sp>
      <p:sp>
        <p:nvSpPr>
          <p:cNvPr id="103" name="TextBox 102"/>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今の2タブを活かし、上段に開始月別の求人と会員登録。体験談・Q&amp;Aは2つ目のタブ</a:t>
            </a:r>
          </a:p>
        </p:txBody>
      </p:sp>
      <p:sp>
        <p:nvSpPr>
          <p:cNvPr id="104" name="TextBox 103"/>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項目ごとのタップ数</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サンクスLINE誘導（オプション）</a:t>
            </a:r>
          </a:p>
          <a:p>
            <a:pPr algn="l">
              <a:lnSpc>
                <a:spcPct val="105000"/>
              </a:lnSpc>
              <a:spcAft>
                <a:spcPts val="200"/>
              </a:spcAft>
            </a:pPr>
            <a:r>
              <a:rPr sz="1200" b="0">
                <a:solidFill>
                  <a:srgbClr val="333333"/>
                </a:solidFill>
                <a:latin typeface="メイリオ"/>
                <a:ea typeface="メイリオ"/>
                <a:cs typeface="メイリオ"/>
              </a:rPr>
              <a:t>マイページ登録の完了画面からLINEへ、カウンセリング・応募まで</a:t>
            </a:r>
          </a:p>
        </p:txBody>
      </p:sp>
      <p:sp>
        <p:nvSpPr>
          <p:cNvPr id="105" name="Rectangle 104"/>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マイページ登録（応募）</a:t>
            </a:r>
          </a:p>
        </p:txBody>
      </p:sp>
      <p:sp>
        <p:nvSpPr>
          <p:cNvPr id="107" name="TextBox 106"/>
          <p:cNvSpPr txBox="1"/>
          <p:nvPr/>
        </p:nvSpPr>
        <p:spPr>
          <a:xfrm>
            <a:off x="1152144" y="3378708"/>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完了画面</a:t>
            </a:r>
          </a:p>
        </p:txBody>
      </p:sp>
      <p:sp>
        <p:nvSpPr>
          <p:cNvPr id="110" name="TextBox 109"/>
          <p:cNvSpPr txBox="1"/>
          <p:nvPr/>
        </p:nvSpPr>
        <p:spPr>
          <a:xfrm>
            <a:off x="1152144" y="4261104"/>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LINE友だち追加</a:t>
            </a:r>
          </a:p>
        </p:txBody>
      </p:sp>
      <p:sp>
        <p:nvSpPr>
          <p:cNvPr id="113" name="TextBox 112"/>
          <p:cNvSpPr txBox="1"/>
          <p:nvPr/>
        </p:nvSpPr>
        <p:spPr>
          <a:xfrm>
            <a:off x="1152144" y="5143500"/>
            <a:ext cx="502920" cy="237744"/>
          </a:xfrm>
          <a:prstGeom prst="rect">
            <a:avLst/>
          </a:prstGeom>
          <a:noFill/>
        </p:spPr>
        <p:txBody>
          <a:bodyPr wrap="square" lIns="36000" tIns="10800" rIns="36000" bIns="10800" anchor="ctr">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18000" rIns="72000" bIns="18000" rtlCol="0" anchor="ctr"/>
          <a:lstStyle/>
          <a:p>
            <a:pPr algn="l">
              <a:lnSpc>
                <a:spcPct val="110000"/>
              </a:lnSpc>
              <a:spcAft>
                <a:spcPts val="0"/>
              </a:spcAft>
            </a:pPr>
            <a:r>
              <a:rPr sz="1500" b="1">
                <a:solidFill>
                  <a:srgbClr val="1F2A5C"/>
                </a:solidFill>
                <a:latin typeface="メイリオ"/>
                <a:ea typeface="メイリオ"/>
                <a:cs typeface="メイリオ"/>
              </a:rPr>
              <a:t>受付と次の流れ・専属エージェントの案内</a:t>
            </a:r>
          </a:p>
        </p:txBody>
      </p:sp>
      <p:sp>
        <p:nvSpPr>
          <p:cNvPr id="116" name="TextBox 115"/>
          <p:cNvSpPr txBox="1"/>
          <p:nvPr/>
        </p:nvSpPr>
        <p:spPr>
          <a:xfrm>
            <a:off x="6373368" y="191109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登録した方とLINEでつながり、カウンセリング・お仕事開始まで追う</a:t>
            </a:r>
          </a:p>
        </p:txBody>
      </p:sp>
      <p:sp>
        <p:nvSpPr>
          <p:cNvPr id="117" name="TextBox 116"/>
          <p:cNvSpPr txBox="1"/>
          <p:nvPr/>
        </p:nvSpPr>
        <p:spPr>
          <a:xfrm>
            <a:off x="6373368" y="2999232"/>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マイページ登録を完了した方</a:t>
            </a:r>
          </a:p>
        </p:txBody>
      </p:sp>
      <p:sp>
        <p:nvSpPr>
          <p:cNvPr id="118" name="TextBox 117"/>
          <p:cNvSpPr txBox="1"/>
          <p:nvPr/>
        </p:nvSpPr>
        <p:spPr>
          <a:xfrm>
            <a:off x="6373368" y="4105655"/>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完了画面からLINEへ。登録の受付・次の流れ・専属エージェントを案内（初期15万円・月額3万円〜）</a:t>
            </a:r>
          </a:p>
        </p:txBody>
      </p:sp>
      <p:sp>
        <p:nvSpPr>
          <p:cNvPr id="119" name="TextBox 118"/>
          <p:cNvSpPr txBox="1"/>
          <p:nvPr/>
        </p:nvSpPr>
        <p:spPr>
          <a:xfrm>
            <a:off x="6373368" y="5230368"/>
            <a:ext cx="3163823" cy="923544"/>
          </a:xfrm>
          <a:prstGeom prst="rect">
            <a:avLst/>
          </a:prstGeom>
          <a:noFill/>
        </p:spPr>
        <p:txBody>
          <a:bodyPr wrap="square" lIns="36000" tIns="10800" rIns="36000" bIns="10800" anchor="t">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登録した方のうち友だちになった数</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概算お見積り：月33万円で、6か月目に友だち 86,631人・応募 月232件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¥330,000〜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月3回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プラン①（月3投稿）で、友だちの入口を増やし、検討の順番に沿った配信で応募を増やす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84" name="TextBox 383"/>
          <p:cNvSpPr txBox="1"/>
          <p:nvPr/>
        </p:nvSpPr>
        <p:spPr>
          <a:xfrm>
            <a:off x="265176" y="6035040"/>
            <a:ext cx="9326880" cy="411480"/>
          </a:xfrm>
          <a:prstGeom prst="rect">
            <a:avLst/>
          </a:prstGeom>
          <a:noFill/>
        </p:spPr>
        <p:txBody>
          <a:bodyPr wrap="square" anchor="t" lIns="36000" rIns="36000" tIns="10800" bIns="10800">
            <a:spAutoFit/>
          </a:bodyPr>
          <a:lstStyle/>
          <a:p>
            <a:pPr algn="l">
              <a:lnSpc>
                <a:spcPct val="105000"/>
              </a:lnSpc>
              <a:spcAft>
                <a:spcPts val="200"/>
              </a:spcAft>
            </a:pPr>
            <a:r>
              <a:rPr sz="900" b="0">
                <a:solidFill>
                  <a:srgbClr val="595959"/>
                </a:solidFill>
                <a:latin typeface="メイリオ"/>
                <a:ea typeface="メイリオ"/>
                <a:cs typeface="メイリオ"/>
              </a:rPr>
              <a:t>※前提：サイトの訪問 月85,887人／友だちの入口＝サイトのLINEボタン・ポップアップ／ブロック率34.1%から／企画配信 月3本・ステップ配信5通／応募＝LINEからのクリックの0.4〜0.9%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380,000円〜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月3回程度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384048" y="530352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※サンクスLINE誘導はオプション（初期150,000円・月額30,000円〜）</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145414</TotalTime>
  <Words>5134</Words>
  <Application>Microsoft Office PowerPoint</Application>
  <PresentationFormat>A4 210 x 297 mm</PresentationFormat>
  <Paragraphs>1238</Paragraphs>
  <Slides>55</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55</vt:i4>
      </vt:variant>
    </vt:vector>
  </HeadingPairs>
  <TitlesOfParts>
    <vt:vector size="62"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1985</cp:revision>
  <cp:lastPrinted>2022-11-01T11:38:14Z</cp:lastPrinted>
  <dcterms:created xsi:type="dcterms:W3CDTF">2015-09-04T09:21:15Z</dcterms:created>
  <dcterms:modified xsi:type="dcterms:W3CDTF">2026-10-28T11:27:28Z</dcterms:modified>
</cp:coreProperties>
</file>