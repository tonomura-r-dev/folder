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7"/>
  </p:notesMasterIdLst>
  <p:handoutMasterIdLst>
    <p:handoutMasterId r:id="rId38"/>
  </p:handoutMasterIdLst>
  <p:sldIdLst>
    <p:sldId id="2363" r:id="rId3"/>
    <p:sldId id="3021" r:id="rId43"/>
    <p:sldId id="3022" r:id="rId44"/>
    <p:sldId id="3023" r:id="rId45"/>
    <p:sldId id="3024" r:id="rId46"/>
    <p:sldId id="2971" r:id="rId6"/>
    <p:sldId id="2972" r:id="rId7"/>
    <p:sldId id="3025" r:id="rId47"/>
    <p:sldId id="3026" r:id="rId48"/>
    <p:sldId id="2987" r:id="rId10"/>
    <p:sldId id="3027" r:id="rId49"/>
    <p:sldId id="3028" r:id="rId50"/>
    <p:sldId id="3029" r:id="rId51"/>
    <p:sldId id="3030" r:id="rId52"/>
    <p:sldId id="3031" r:id="rId53"/>
    <p:sldId id="3032" r:id="rId54"/>
    <p:sldId id="3033" r:id="rId55"/>
    <p:sldId id="2991" r:id="rId30"/>
    <p:sldId id="2990" r:id="rId2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57" autoAdjust="0"/>
    <p:restoredTop sz="94424" autoAdjust="0"/>
  </p:normalViewPr>
  <p:slideViewPr>
    <p:cSldViewPr snapToGrid="0">
      <p:cViewPr>
        <p:scale>
          <a:sx n="66" d="100"/>
          <a:sy n="66" d="100"/>
        </p:scale>
        <p:origin x="1024" y="220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10" Type="http://schemas.openxmlformats.org/officeDocument/2006/relationships/slide" Target="slides/slide10.xml"/><Relationship Id="rId27" Type="http://schemas.openxmlformats.org/officeDocument/2006/relationships/slide" Target="slides/slide19.xml"/><Relationship Id="rId30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handoutMaster" Target="handoutMasters/handout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openxmlformats.org/officeDocument/2006/relationships/slide" Target="slides/slide2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1.xml"/><Relationship Id="rId50" Type="http://schemas.openxmlformats.org/officeDocument/2006/relationships/slide" Target="slides/slide12.xml"/><Relationship Id="rId51" Type="http://schemas.openxmlformats.org/officeDocument/2006/relationships/slide" Target="slides/slide13.xml"/><Relationship Id="rId52" Type="http://schemas.openxmlformats.org/officeDocument/2006/relationships/slide" Target="slides/slide14.xml"/><Relationship Id="rId53" Type="http://schemas.openxmlformats.org/officeDocument/2006/relationships/slide" Target="slides/slide15.xml"/><Relationship Id="rId54" Type="http://schemas.openxmlformats.org/officeDocument/2006/relationships/slide" Target="slides/slide16.xml"/><Relationship Id="rId55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</c:ser>
        <c:dLbls>
          <c:numFmt formatCode="#,##0&quot;人&quot;" sourceLinked="0"/>
          <c:txPr>
            <a:bodyPr/>
            <a:lstStyle/>
            <a:p>
              <a:pPr>
                <a:defRPr sz="1300" b="1">
                  <a:solidFill>
                    <a:srgbClr val="1F285A"/>
                  </a:solidFill>
                  <a:latin typeface="メイリオ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5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―新サイトの集客力と応募率を最大化する「同時導入」プラン―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0000" y="1655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Web改修後の課題とLINEの立ち位置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サイトを新しくしても残る課題と、LINEを同時に入れる理由（3〜5・9〜11ページ）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000" y="2754000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2754000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大手（タウンワーク）事例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求人業界でLINEが応募を増やした実例と、自動車求人サイトへの応用（6〜8ページ）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000" y="3851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0000" y="3851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導線とユーザー体験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新サイトとLINEをつなぐ導線・画面イメージ・自動応答（12〜15ページ）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4949999"/>
            <a:ext cx="936000" cy="97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4949999"/>
            <a:ext cx="7311600" cy="97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効果と費用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友だち獲得の試算・費用の考え方・お見積もり・スケジュール（16〜19ページ）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サイトを新しくしても、フォーム入力の途中で離脱する求職者は必ず発生する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サイト改修だけでは届かない「検討層・離脱層」への対策が必要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・見やすさ・使いやすさ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216000" tIns="144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・応募しなかった方との接点が、その後は残らない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整備士は、複数の経路を比べながら仕事を探している（仕事を探した経路・複数回答）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応募に至らなかった方を、後から追える仕組みが必要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解決策｜Web × LINEの同時導入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LINEを同時に導入し、「友だち追加＝会員・見込み客のストック」として獲得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応募まで至らない方を貯めて、後から案内できる仕組みにする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（CV②）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新着求人を配信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友だちに、新着求人や条件に合う求人をいつでも届けられる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会員の予備軍が貯まる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今すぐ応募しない方も、転職を検討する方のリストに残る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配信のクリックで、整備士・営業など興味別に分けられる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応募まで至らない方をストックし、後から応募へつなげる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サイト制作の段階から、LINE連携を組み込む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4月の公開時点で、すぐ本格運用を始められる状態をつくる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制作の段階からLINE連携を組み込める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公開後にLINEを足すのではなく、制作段階から連携を要件として整理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Profile+／「LINEで登録」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会員情報とLINEの連携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条件別検索ページとの連携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計測設計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公開後に大きな改修をするリスクを減らせる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公開前に申請・設計・実装・検証を終えられる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11月頃から進める内容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アカウント・リッチメニュー・配信シナリオの設計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Profile+の申請／会員連携の仕様整理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サイト制作会社との仕様調整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実装・動作確認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公開後にゼロから構築せず、公開時点ですぐ動かせる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08000" rIns="108000" bIns="72000"/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初期構築から本格運用へスムーズに移行できる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初期構築のうちに、運用に必要なことまで設計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どの導線から友だちを獲得するか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どの情報を取得するか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どの条件でユーザーを分けるか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どのような配信を行うか</a:t>
            </a:r>
          </a:p>
          <a:p>
            <a:pPr algn="l" marL="151200" indent="-151200">
              <a:lnSpc>
                <a:spcPct val="108000"/>
              </a:lnSpc>
              <a:spcAft>
                <a:spcPts val="150"/>
              </a:spcAft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何をKPIとして計測するか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公開後に運用設計をやり直す必要がない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4662000"/>
            <a:ext cx="3924000" cy="684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11月頃〜3月｜初期構築・実装準備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運用を見据え、導線・会員連携・配信・計測まで設計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52000" y="4842000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2000" y="4662000"/>
            <a:ext cx="3996000" cy="68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4月〜｜サイト公開・本格運用・改善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設計した内容を引き継ぎ、配信・分析・改善を継続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5472000"/>
            <a:ext cx="8319600" cy="468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0" rIns="108000" bIns="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初期構築から運用・改善まで一貫して支援できるため、サイト公開後もスムーズに運用へ移行できます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【事例】求人業界におけるLINE活用のインパクト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「タウンワーク」は、LINEリッチメニューからの検索強化で、応募数が79%増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総合大手の求人サービスは、数十万〜数百万人規模でLINEを活用している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5"/>
          <p:cNvSpPr/>
          <p:nvPr/>
        </p:nvSpPr>
        <p:spPr>
          <a:xfrm>
            <a:off x="3645311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6"/>
          <p:cNvSpPr/>
          <p:nvPr/>
        </p:nvSpPr>
        <p:spPr>
          <a:xfrm>
            <a:off x="6496943" y="1808640"/>
            <a:ext cx="2616480" cy="163844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6368" tIns="19872" rIns="46368" bIns="19872" rtlCol="0" anchor="ctr"/>
          <a:lstStyle/>
          <a:p>
            <a:pPr algn="ctr">
              <a:spcAft>
                <a:spcPts val="600"/>
              </a:spcAft>
            </a:pPr>
            <a:r>
              <a:rPr sz="130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  <a:endParaRPr sz="130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spcAft>
                <a:spcPts val="600"/>
              </a:spcAft>
            </a:pPr>
            <a:r>
              <a:rPr sz="4050" b="1" dirty="0" err="1">
                <a:solidFill>
                  <a:schemeClr val="tx1"/>
                </a:solidFill>
                <a:latin typeface="メイリオ"/>
                <a:ea typeface="メイリオ"/>
                <a:cs typeface="メイリオ"/>
              </a:rPr>
              <a:t>最多</a:t>
            </a:r>
            <a:endParaRPr sz="4050" b="1" dirty="0">
              <a:solidFill>
                <a:schemeClr val="tx1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LINE経由の中で、配信より多い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793680" y="3625181"/>
            <a:ext cx="8319744" cy="284947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ight Arrow 9"/>
          <p:cNvSpPr/>
          <p:nvPr/>
        </p:nvSpPr>
        <p:spPr>
          <a:xfrm>
            <a:off x="3416783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0"/>
          <p:cNvSpPr/>
          <p:nvPr/>
        </p:nvSpPr>
        <p:spPr>
          <a:xfrm>
            <a:off x="3645311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トークで条件を選ぶと</a:t>
            </a: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求人が表示される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ight Arrow 11"/>
          <p:cNvSpPr/>
          <p:nvPr/>
        </p:nvSpPr>
        <p:spPr>
          <a:xfrm>
            <a:off x="6268416" y="4490018"/>
            <a:ext cx="218592" cy="26496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2"/>
          <p:cNvSpPr/>
          <p:nvPr/>
        </p:nvSpPr>
        <p:spPr>
          <a:xfrm>
            <a:off x="6496943" y="3945747"/>
            <a:ext cx="2616480" cy="138912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移動</a:t>
            </a:r>
            <a:endParaRPr lang="en-US"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2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3"/>
          <p:cNvSpPr/>
          <p:nvPr/>
        </p:nvSpPr>
        <p:spPr>
          <a:xfrm>
            <a:off x="793680" y="5548578"/>
            <a:ext cx="8319744" cy="42742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応募の増加へ</a:t>
            </a:r>
            <a:endParaRPr sz="13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導入事例（タウンワーク・2019年公開）／友だち数：page.line.me（公式）2026-09-21実測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勝因は、LINE上でワンタップで求人を探せる常設の入口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LINE経由の応募は、配信よりリッチメニュー経由が最多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ための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  <a:endParaRPr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「資格」「職種」「こだわり条件」は、LINEのワンタップ検索と相性が良い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「整備士2級・3級」「未経験OK」「土日休み」など、すぐに条件で引ける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51999" tIns="36000" rIns="144000" bIns="36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（うち正社員・整備士946件、正社員・営業180件）。LINEから、条件別に探せる形にする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43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資格・職種・条件を、LINEのワンタップで求人へ直結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現行サイトは「その場の応募」のみで、長期的な求職者データベースが残らない構造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会員登録の入力の手間も、登録の壁になっている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「応募」か「転職支援の申込」しか入口がなく、比較検討中の方と接点を持てない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氏名・経歴・パスワードの設定など、入力の手間が登録の壁になる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応募しなかった方の情報が蓄積されず、長期的に育てられない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5544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「その場の応募」の先に、求職者のデータベースを残す必要がある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LINEによるエントリーハードルの低減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Profile+で、登録の入力は「確認して押すだけ」に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7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ワンタップの友だち追加で、登録の心理的ハードルを大きく下げる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80" y="1946934"/>
            <a:ext cx="5166720" cy="2589818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793680" y="4745317"/>
            <a:ext cx="5166720" cy="225025"/>
          </a:xfrm>
          <a:prstGeom prst="rect">
            <a:avLst/>
          </a:prstGeom>
          <a:noFill/>
        </p:spPr>
        <p:txBody>
          <a:bodyPr wrap="square" lIns="0" tIns="19872" rIns="46368" bIns="19872" anchor="t">
            <a:spAutoFit/>
          </a:bodyPr>
          <a:lstStyle/>
          <a:p>
            <a:pPr algn="l"/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6126000" y="1775520"/>
            <a:ext cx="2987424" cy="165018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6126000" y="3500717"/>
            <a:ext cx="2987424" cy="157518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5919" tIns="82800" rIns="99360" bIns="4968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793680" y="5525948"/>
            <a:ext cx="8319744" cy="450051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9360" tIns="0" rIns="99360" bIns="0" rtlCol="0" anchor="ctr"/>
          <a:lstStyle/>
          <a:p>
            <a:pPr algn="ctr">
              <a:lnSpc>
                <a:spcPct val="125000"/>
              </a:lnSpc>
            </a:pP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会員登録のハードル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3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大きく下</a:t>
            </a:r>
            <a:r>
              <a:rPr lang="ja-JP" altLang="en-US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がる</a:t>
            </a:r>
            <a:r>
              <a:rPr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9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蓄積した友だちに、新着求人や条件に合う求人を、LINEのメッセージで直接届ける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メルマガより反応されやすく、じっくり検討する方を応募へ引き上げる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応募前の方も含めて、LINEで接点が残る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整備士・営業・未経験OKなど、配信のクリックで自動的に分かれる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新着求人・条件に合う求人を届け、応募へ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5256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ストックした友だちに、求人を何度でも届けられる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新サイトのあらゆる接点から、自然にLINEへ誘導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求人詳細・キープ画面・相談窓口などから、行き来しながら応募へ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求人詳細</a:t>
            </a:r>
          </a:p>
        </p:txBody>
      </p:sp>
      <p:sp>
        <p:nvSpPr>
          <p:cNvPr id="7" name="Down Arrow 6"/>
          <p:cNvSpPr/>
          <p:nvPr/>
        </p:nvSpPr>
        <p:spPr>
          <a:xfrm>
            <a:off x="1656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2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離脱防止ポップアップ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</p:txBody>
      </p:sp>
      <p:sp>
        <p:nvSpPr>
          <p:cNvPr id="9" name="Down Arrow 8"/>
          <p:cNvSpPr/>
          <p:nvPr/>
        </p:nvSpPr>
        <p:spPr>
          <a:xfrm>
            <a:off x="1656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6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キープ画面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780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LINEでキープ」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780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40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相談窓口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03999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相談」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03999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64000" y="1655999"/>
            <a:ext cx="1944000" cy="57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5875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028000" y="2268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64000" y="2520000"/>
            <a:ext cx="1944000" cy="86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応募完了後の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LINE誘導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028000" y="3420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2000" y="3671999"/>
            <a:ext cx="8319600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　友だち追加＝会員・見込み客のストック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4860000" y="4212000"/>
            <a:ext cx="216000" cy="216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9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51999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条件検索・相談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2000" y="4464000"/>
            <a:ext cx="1980000" cy="7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新着求人・条件別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308000" y="471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632000" y="4464000"/>
            <a:ext cx="1475999" cy="720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90000" rIns="144000" bIns="54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サイトへ戻って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5400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サイトとLINEを行き来しながら、応募へつなげる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※キープ画面・相談窓口は、新サイトに追加する接点の想定。シミュレーションの数字に含めるのは動線00・01のみ（動線02は含めない）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ユーザー体験イメージ①｜サイト訪問からLINE保存まで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気軽なポップアップ・ボタンで、サイトからその場でLINEへ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「LINEでキープ」「LINEで相談」など、求人に合わせた訴求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655999"/>
            <a:ext cx="4031999" cy="25219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離脱防止ポップアップ（動線00）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ページを離れようとした方に、「条件に合う新着求人をLINEでお届け」と案内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48000"/>
            <a:ext cx="403199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「LINEで登録」ボタン（動線01）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LINEの情報が自動で入り、会員登録と友だち追加が同時に完了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112000"/>
            <a:ext cx="83160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ポップアップ・ボタンの訴求の例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「気になる求人をLINEでキープ」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6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「LINEで適正年収を相談」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80000" y="5400000"/>
            <a:ext cx="2628000" cy="468000"/>
          </a:xfrm>
          <a:prstGeom prst="roundRect">
            <a:avLst>
              <a:gd name="adj" fmla="val 2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0" rIns="72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「新着求人をLINEでお届け」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希望条件の検索から相談まで、LINEの中で完結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整備士の求人／営業・受付の求人／近くの求人／資格から探す／未経験OK・資格取得支援／新着求人を受け取る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144000" rIns="108000" bIns="36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希望の職種をタップで選ぶ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条件に合う求人が、カードで届く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求人ページへそのまま移動し、サイトで応募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友だち追加直後の自動アンケートで、「保有資格」「希望時期」を把握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回答に合う求人を、自動でセグメント配信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54000" tIns="36000" rIns="54000" bIns="3600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44000" bIns="54000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整備士の新着求人を優先して配信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資格取得支援の求人と、働き方の情報を配信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友だち追加から14日間、全10通のステップ配信で応募へ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92000" y="5472000"/>
            <a:ext cx="83196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0" rIns="144000" bIns="0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追加直後の数十秒で、求める条件が分かり、最適な求人を届けられる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友だち登録数・獲得シミュレーション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新サイトの来訪（月約6,100人）に応じて、友だちは半年で542人まで増加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転職を検討する方のリストが、公開直後から積み上がる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92000" y="1548000"/>
          <a:ext cx="8316000" cy="20159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/>
        </p:nvGraphicFramePr>
        <p:xfrm>
          <a:off x="793680" y="3671999"/>
          <a:ext cx="8319744" cy="1642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28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月約6,100人（広告のシミュレーション確定後に差し替え）／LINEで登録＝来訪者の1.0%／会員登録（CV①）・応募（CV②）はLINEでの登録・リッチメニューと配信からの件数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8000" rIns="216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来訪者を友だち・会員として蓄積し、応募までつなげる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0" tIns="72000" rIns="144000" bIns="72000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初期費用：11月頃〜　｜　月額費用：4月〜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LINE連携開発：内容に応じて別途お見積もり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LINEの費用を分けることで、友だち・会員・応募への効果を単独で把握できる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初期構築から運用・改善まで、一貫して支援するための費用</a:t>
            </a:r>
          </a:p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初期費用は11月頃からの構築、月額費用は4月以降の運用に対応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800596"/>
              </p:ext>
            </p:extLst>
          </p:nvPr>
        </p:nvGraphicFramePr>
        <p:xfrm>
          <a:off x="432000" y="1930482"/>
          <a:ext cx="5256000" cy="2787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2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サンクスLINE誘導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実装内容に応じて別途お見積もり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5"/>
          <p:cNvSpPr txBox="1"/>
          <p:nvPr/>
        </p:nvSpPr>
        <p:spPr>
          <a:xfrm>
            <a:off x="5903999" y="1584000"/>
            <a:ext cx="3571200" cy="360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8" name="Rounded Rectangle 6"/>
          <p:cNvSpPr/>
          <p:nvPr/>
        </p:nvSpPr>
        <p:spPr>
          <a:xfrm>
            <a:off x="5903999" y="1989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9" name="Rounded Rectangle 7"/>
          <p:cNvSpPr/>
          <p:nvPr/>
        </p:nvSpPr>
        <p:spPr>
          <a:xfrm>
            <a:off x="5903999" y="30015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10" name="Rounded Rectangle 8"/>
          <p:cNvSpPr/>
          <p:nvPr/>
        </p:nvSpPr>
        <p:spPr>
          <a:xfrm>
            <a:off x="5903999" y="4014000"/>
            <a:ext cx="3571200" cy="922498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1" name="Rounded Rectangle 9"/>
          <p:cNvSpPr/>
          <p:nvPr/>
        </p:nvSpPr>
        <p:spPr>
          <a:xfrm>
            <a:off x="432000" y="5886000"/>
            <a:ext cx="9043200" cy="360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5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初期構築から運用・改善まで、会員登録から応募までをLINEでつなげる仕組みを一貫して支援</a:t>
            </a:r>
            <a:endParaRPr sz="135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5022000"/>
            <a:ext cx="4464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初期費用｜11月頃〜3月（LINE運用コンサル 20万円）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設計・初期構築・実装準備・サイト連携の仕様整理・配信シナリオ設計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4000" y="5022000"/>
            <a:ext cx="4464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lIns="144000" tIns="90000" rIns="108000" bIns="36000"/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月額費用｜4月以降（LINE運用コンサル 20万円）</a:t>
            </a: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配信・分析・改善・レポーティング・継続的な運用支援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スケジュール｜11月頃から初期構築、4月の公開と同時に本格運用へ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11月頃から初期構築に入り、4月のサイト公開後すぐに本格運用へ移行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2520000" y="1584000"/>
            <a:ext cx="3888000" cy="324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6263999" y="1584000"/>
            <a:ext cx="2844000" cy="324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0" y="1944000"/>
            <a:ext cx="75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6000" y="1944000"/>
            <a:ext cx="75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1999" y="1944000"/>
            <a:ext cx="75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8000" y="1944000"/>
            <a:ext cx="75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44000" y="1944000"/>
            <a:ext cx="75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000" y="1944000"/>
            <a:ext cx="2808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76000" y="1980000"/>
            <a:ext cx="0" cy="3258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31999" y="1980000"/>
            <a:ext cx="0" cy="3258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88000" y="1980000"/>
            <a:ext cx="0" cy="3258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544000" y="1980000"/>
            <a:ext cx="0" cy="3258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00000" y="1980000"/>
            <a:ext cx="0" cy="3258000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2000" y="2178000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2196000"/>
            <a:ext cx="1691999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LINE設計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8000" y="2217599"/>
            <a:ext cx="3744000" cy="388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" rIns="108000" bIns="108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LINE公式アカウント・リッチメニュー・あいさつメッセージ・ステップ配信・計測の設計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2000" y="2646000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92000" y="2664000"/>
            <a:ext cx="1691999" cy="5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サイト・LINE連携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11月頃〜3月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38000" y="2685599"/>
            <a:ext cx="3744000" cy="5328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" rIns="108000" bIns="108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 Profile+の申請・「LINEで登録」の仕様整理・会員連携・サンクスLINE誘導の仕様整理・条件別検索ページとの連携・サイト制作会社との仕様調整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000" y="3257999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2000" y="3276000"/>
            <a:ext cx="1691999" cy="41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実装・検証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サイト制作の進行に合わせて〜3月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38000" y="3297600"/>
            <a:ext cx="3744000" cy="370799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" rIns="108000" bIns="108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開発・実装・公開前テスト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3707999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3726000"/>
            <a:ext cx="1691999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④ サイト公開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92000" y="4212000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2000" y="4230000"/>
            <a:ext cx="1691999" cy="52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⑤ 本格運用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000" y="4251600"/>
            <a:ext cx="2772000" cy="4788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" rIns="108000" bIns="108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友だち／会員の獲得・ステップ配信・企画配信・リッチメニュー運用・応募への追客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2000" y="4770000"/>
            <a:ext cx="8316000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92000" y="4788000"/>
            <a:ext cx="1691999" cy="45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⑥ 分析・改善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4月〜継続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8000" y="4809600"/>
            <a:ext cx="2772000" cy="406799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8000" tIns="10800" rIns="108000" bIns="108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KPI計測・月次分析・レポーティング・導線／配信／セグメントの改善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00000" y="1944000"/>
            <a:ext cx="0" cy="3294000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Diamond 36"/>
          <p:cNvSpPr/>
          <p:nvPr/>
        </p:nvSpPr>
        <p:spPr>
          <a:xfrm>
            <a:off x="6156000" y="3816000"/>
            <a:ext cx="288000" cy="288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6000" y="3726000"/>
            <a:ext cx="2592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サイトリニューアル公開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LINE本格稼働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20000" y="3726000"/>
            <a:ext cx="3564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  ▶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2000" y="534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2000" y="5382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初期構築から運用・改善まで一貫して支援するため、サイト公開後もスムーズに本格運用へ移行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000" y="5724000"/>
            <a:ext cx="8316000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※11月頃〜3月は、定期配信・月次分析・改善運用は原則行わず、設計・構築に集中。必要に応じて一部施策の先行稼働も検討可能（先行稼働分は、シミュレーションに含めない）</a:t>
            </a:r>
          </a:p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Profile+の審査期間は、申請内容により変わります／実装の時期は、サイト制作の進行に応じて決定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143226</TotalTime>
  <Words>2937</Words>
  <Application>Microsoft Office PowerPoint</Application>
  <PresentationFormat>A4 210 x 297 mm</PresentationFormat>
  <Paragraphs>706</Paragraphs>
  <Slides>34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34</vt:i4>
      </vt:variant>
    </vt:vector>
  </HeadingPairs>
  <TitlesOfParts>
    <vt:vector size="40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1964</cp:revision>
  <cp:lastPrinted>2022-11-01T11:38:14Z</cp:lastPrinted>
  <dcterms:created xsi:type="dcterms:W3CDTF">2015-09-04T09:21:15Z</dcterms:created>
  <dcterms:modified xsi:type="dcterms:W3CDTF">2026-10-02T09:30:20Z</dcterms:modified>
</cp:coreProperties>
</file>