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58.svg" ContentType="image/svg+xml"/>
  <Override PartName="/ppt/media/image60.svg" ContentType="image/svg+xml"/>
  <Override PartName="/ppt/media/image61.svg" ContentType="image/svg+xml"/>
  <Override PartName="/ppt/media/image62.svg" ContentType="image/svg+xml"/>
  <Override PartName="/ppt/media/image6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66"/>
  </p:notesMasterIdLst>
  <p:handoutMasterIdLst>
    <p:handoutMasterId r:id="rId67"/>
  </p:handoutMasterIdLst>
  <p:sldIdLst>
    <p:sldId id="2363" r:id="rId3"/>
    <p:sldId id="2988" r:id="rId4"/>
    <p:sldId id="2972" r:id="rId5"/>
    <p:sldId id="2989" r:id="rId6"/>
    <p:sldId id="2971" r:id="rId7"/>
    <p:sldId id="2974" r:id="rId8"/>
    <p:sldId id="2975" r:id="rId9"/>
    <p:sldId id="2985" r:id="rId10"/>
    <p:sldId id="3004" r:id="rId11"/>
    <p:sldId id="2976" r:id="rId12"/>
    <p:sldId id="2986" r:id="rId13"/>
    <p:sldId id="2736" r:id="rId14"/>
    <p:sldId id="2979" r:id="rId15"/>
    <p:sldId id="3006" r:id="rId16"/>
    <p:sldId id="2978" r:id="rId17"/>
    <p:sldId id="2981" r:id="rId18"/>
    <p:sldId id="2908" r:id="rId19"/>
    <p:sldId id="2966" r:id="rId20"/>
    <p:sldId id="3015" r:id="rId21"/>
    <p:sldId id="3013" r:id="rId22"/>
    <p:sldId id="3009" r:id="rId23"/>
    <p:sldId id="3018" r:id="rId24"/>
    <p:sldId id="3010" r:id="rId25"/>
    <p:sldId id="3014" r:id="rId26"/>
    <p:sldId id="3012" r:id="rId27"/>
    <p:sldId id="3017" r:id="rId28"/>
    <p:sldId id="3011" r:id="rId29"/>
    <p:sldId id="2737" r:id="rId30"/>
    <p:sldId id="2563" r:id="rId31"/>
    <p:sldId id="2970" r:id="rId32"/>
    <p:sldId id="2959" r:id="rId33"/>
    <p:sldId id="2639" r:id="rId34"/>
    <p:sldId id="3016" r:id="rId35"/>
    <p:sldId id="2968" r:id="rId36"/>
    <p:sldId id="2969" r:id="rId37"/>
    <p:sldId id="2957" r:id="rId38"/>
    <p:sldId id="2755" r:id="rId39"/>
    <p:sldId id="3002" r:id="rId40"/>
    <p:sldId id="3019" r:id="rId72"/>
    <p:sldId id="2951" r:id="rId41"/>
    <p:sldId id="3020" r:id="rId73"/>
    <p:sldId id="2841" r:id="rId42"/>
    <p:sldId id="2734" r:id="rId43"/>
    <p:sldId id="2595" r:id="rId44"/>
    <p:sldId id="2566" r:id="rId45"/>
    <p:sldId id="2915" r:id="rId46"/>
    <p:sldId id="2619" r:id="rId47"/>
    <p:sldId id="2761" r:id="rId48"/>
    <p:sldId id="3021" r:id="rId74"/>
    <p:sldId id="2935" r:id="rId49"/>
    <p:sldId id="2919" r:id="rId50"/>
    <p:sldId id="2519" r:id="rId51"/>
    <p:sldId id="2931" r:id="rId52"/>
    <p:sldId id="2749" r:id="rId53"/>
    <p:sldId id="2950" r:id="rId54"/>
    <p:sldId id="2961" r:id="rId55"/>
    <p:sldId id="2849" r:id="rId56"/>
    <p:sldId id="2904" r:id="rId57"/>
    <p:sldId id="2905" r:id="rId58"/>
    <p:sldId id="2906" r:id="rId59"/>
    <p:sldId id="2907" r:id="rId60"/>
    <p:sldId id="2575" r:id="rId61"/>
    <p:sldId id="2910" r:id="rId62"/>
    <p:sldId id="3007" r:id="rId63"/>
    <p:sldId id="3008" r:id="rId64"/>
    <p:sldId id="1169" r:id="rId65"/>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FDFDFD"/>
    <a:srgbClr val="173559"/>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varScale="1">
        <p:scale>
          <a:sx n="106" d="100"/>
          <a:sy n="106" d="100"/>
        </p:scale>
        <p:origin x="498" y="90"/>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57.xml"/><Relationship Id="rId60" Type="http://schemas.openxmlformats.org/officeDocument/2006/relationships/slide" Target="slides/slide58.xml"/><Relationship Id="rId61" Type="http://schemas.openxmlformats.org/officeDocument/2006/relationships/slide" Target="slides/slide59.xml"/><Relationship Id="rId62" Type="http://schemas.openxmlformats.org/officeDocument/2006/relationships/slide" Target="slides/slide60.xml"/><Relationship Id="rId63" Type="http://schemas.openxmlformats.org/officeDocument/2006/relationships/slide" Target="slides/slide61.xml"/><Relationship Id="rId64" Type="http://schemas.openxmlformats.org/officeDocument/2006/relationships/slide" Target="slides/slide62.xml"/><Relationship Id="rId65" Type="http://schemas.openxmlformats.org/officeDocument/2006/relationships/slide" Target="slides/slide63.xml"/><Relationship Id="rId66" Type="http://schemas.openxmlformats.org/officeDocument/2006/relationships/notesMaster" Target="notesMasters/notesMaster1.xml"/><Relationship Id="rId67" Type="http://schemas.openxmlformats.org/officeDocument/2006/relationships/handoutMaster" Target="handoutMasters/handoutMaster1.xml"/><Relationship Id="rId68" Type="http://schemas.openxmlformats.org/officeDocument/2006/relationships/presProps" Target="presProps.xml"/><Relationship Id="rId69" Type="http://schemas.openxmlformats.org/officeDocument/2006/relationships/viewProps" Target="viewProps.xml"/><Relationship Id="rId70" Type="http://schemas.openxmlformats.org/officeDocument/2006/relationships/theme" Target="theme/theme1.xml"/><Relationship Id="rId71" Type="http://schemas.openxmlformats.org/officeDocument/2006/relationships/tableStyles" Target="tableStyles.xml"/><Relationship Id="rId72" Type="http://schemas.openxmlformats.org/officeDocument/2006/relationships/slide" Target="slides/slide64.xml"/><Relationship Id="rId73" Type="http://schemas.openxmlformats.org/officeDocument/2006/relationships/slide" Target="slides/slide65.xml"/><Relationship Id="rId74" Type="http://schemas.openxmlformats.org/officeDocument/2006/relationships/slide" Target="slides/slide6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2026/7/29</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1540-B398-8C02-E1F2-1F1C4798CC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2C74D-328C-FB0E-E710-C92A52BEF4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5EB1E7-3A4C-2E0A-CA67-686800FA87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173A52D-F6CC-DC20-5CFE-D4EBA25ECCBC}"/>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27379868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66AA4-1AC1-0B6A-8DD3-54899EB2E28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F4BF6DE-3BFF-29D8-3037-FBBE63C7FD8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B3F9493-7009-9A31-DAE6-BB1112CC20A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6E5153-623E-955A-9E75-0EA3C02F1D85}"/>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2027802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5</a:t>
            </a:fld>
            <a:endParaRPr kumimoji="1" lang="ja-JP" altLang="en-US"/>
          </a:p>
        </p:txBody>
      </p:sp>
    </p:spTree>
    <p:extLst>
      <p:ext uri="{BB962C8B-B14F-4D97-AF65-F5344CB8AC3E}">
        <p14:creationId xmlns:p14="http://schemas.microsoft.com/office/powerpoint/2010/main" val="11238476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B3E24-A18E-3FB1-1BEB-F78B7876B61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3BD67E3-1B96-BBBF-6E58-9F584C1E421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415CA0F-593B-424A-AB1E-372C80A5306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C1FAE7-9B14-4C23-B5D8-2C06D3E82C52}"/>
              </a:ext>
            </a:extLst>
          </p:cNvPr>
          <p:cNvSpPr>
            <a:spLocks noGrp="1"/>
          </p:cNvSpPr>
          <p:nvPr>
            <p:ph type="sldNum" sz="quarter" idx="10"/>
          </p:nvPr>
        </p:nvSpPr>
        <p:spPr/>
        <p:txBody>
          <a:bodyPr/>
          <a:lstStyle/>
          <a:p>
            <a:fld id="{022E43C0-6795-4B13-B37C-259C826D4B6A}" type="slidenum">
              <a:rPr kumimoji="1" lang="ja-JP" altLang="en-US" smtClean="0"/>
              <a:t>6</a:t>
            </a:fld>
            <a:endParaRPr kumimoji="1" lang="ja-JP" altLang="en-US"/>
          </a:p>
        </p:txBody>
      </p:sp>
    </p:spTree>
    <p:extLst>
      <p:ext uri="{BB962C8B-B14F-4D97-AF65-F5344CB8AC3E}">
        <p14:creationId xmlns:p14="http://schemas.microsoft.com/office/powerpoint/2010/main" val="40534932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68803-9F0E-9C31-9560-2094718579F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09DBAC0-C8E1-8C5B-7FC3-E2F967DE37D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C9E6ECD-81E8-9621-C097-7F38D3F575C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0567096-EE1C-9444-DCCA-A268D8AAC4E0}"/>
              </a:ext>
            </a:extLst>
          </p:cNvPr>
          <p:cNvSpPr>
            <a:spLocks noGrp="1"/>
          </p:cNvSpPr>
          <p:nvPr>
            <p:ph type="sldNum" sz="quarter" idx="10"/>
          </p:nvPr>
        </p:nvSpPr>
        <p:spPr/>
        <p:txBody>
          <a:bodyPr/>
          <a:lstStyle/>
          <a:p>
            <a:fld id="{022E43C0-6795-4B13-B37C-259C826D4B6A}" type="slidenum">
              <a:rPr kumimoji="1" lang="ja-JP" altLang="en-US" smtClean="0"/>
              <a:t>7</a:t>
            </a:fld>
            <a:endParaRPr kumimoji="1" lang="ja-JP" altLang="en-US"/>
          </a:p>
        </p:txBody>
      </p:sp>
    </p:spTree>
    <p:extLst>
      <p:ext uri="{BB962C8B-B14F-4D97-AF65-F5344CB8AC3E}">
        <p14:creationId xmlns:p14="http://schemas.microsoft.com/office/powerpoint/2010/main" val="1686084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B93DA-F068-C7F5-5FEB-7A94DD8867B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0B680EF-CF86-D787-518D-CA5960A5648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DA54E59-6FD5-42C5-308A-B0701935BFB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4931D7D-5F42-F5B5-3683-5A2F0031C5B6}"/>
              </a:ext>
            </a:extLst>
          </p:cNvPr>
          <p:cNvSpPr>
            <a:spLocks noGrp="1"/>
          </p:cNvSpPr>
          <p:nvPr>
            <p:ph type="sldNum" sz="quarter" idx="10"/>
          </p:nvPr>
        </p:nvSpPr>
        <p:spPr/>
        <p:txBody>
          <a:bodyPr/>
          <a:lstStyle/>
          <a:p>
            <a:fld id="{022E43C0-6795-4B13-B37C-259C826D4B6A}" type="slidenum">
              <a:rPr kumimoji="1" lang="ja-JP" altLang="en-US" smtClean="0"/>
              <a:t>8</a:t>
            </a:fld>
            <a:endParaRPr kumimoji="1" lang="ja-JP" altLang="en-US"/>
          </a:p>
        </p:txBody>
      </p:sp>
    </p:spTree>
    <p:extLst>
      <p:ext uri="{BB962C8B-B14F-4D97-AF65-F5344CB8AC3E}">
        <p14:creationId xmlns:p14="http://schemas.microsoft.com/office/powerpoint/2010/main" val="21802663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F8966-D000-6EA3-BAC7-8246A8124FB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3751AD-7833-5352-F3CD-93BF48718DA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3713479-1F1B-7F88-B85D-7A35CA426505}"/>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D17977F-8BEB-2B1C-1C7A-1D7AA1F05039}"/>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42789626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A4272-5DA9-3CCF-23F3-9466DBC1B84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AFD5C72-277A-86ED-D54E-FE626540E2B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F71F2ED-0463-0DB8-0277-A35A864B316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1D54FEC3-6CD7-0B2F-7F8F-E9EA265B8458}"/>
              </a:ext>
            </a:extLst>
          </p:cNvPr>
          <p:cNvSpPr>
            <a:spLocks noGrp="1"/>
          </p:cNvSpPr>
          <p:nvPr>
            <p:ph type="sldNum" sz="quarter" idx="10"/>
          </p:nvPr>
        </p:nvSpPr>
        <p:spPr/>
        <p:txBody>
          <a:bodyPr/>
          <a:lstStyle/>
          <a:p>
            <a:fld id="{022E43C0-6795-4B13-B37C-259C826D4B6A}" type="slidenum">
              <a:rPr kumimoji="1" lang="ja-JP" altLang="en-US" smtClean="0"/>
              <a:t>10</a:t>
            </a:fld>
            <a:endParaRPr kumimoji="1" lang="ja-JP" altLang="en-US"/>
          </a:p>
        </p:txBody>
      </p:sp>
    </p:spTree>
    <p:extLst>
      <p:ext uri="{BB962C8B-B14F-4D97-AF65-F5344CB8AC3E}">
        <p14:creationId xmlns:p14="http://schemas.microsoft.com/office/powerpoint/2010/main" val="35530082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E720E-DA68-EF51-102C-8A8F426BC2A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CF3953B-7C5E-F4EE-4A6B-ED8A375555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1937431-13FD-3E05-9A43-DCB7C90B899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2A18B0F-EA65-28D1-0695-DBC0FCD085B9}"/>
              </a:ext>
            </a:extLst>
          </p:cNvPr>
          <p:cNvSpPr>
            <a:spLocks noGrp="1"/>
          </p:cNvSpPr>
          <p:nvPr>
            <p:ph type="sldNum" sz="quarter" idx="10"/>
          </p:nvPr>
        </p:nvSpPr>
        <p:spPr/>
        <p:txBody>
          <a:bodyPr/>
          <a:lstStyle/>
          <a:p>
            <a:fld id="{022E43C0-6795-4B13-B37C-259C826D4B6A}" type="slidenum">
              <a:rPr kumimoji="1" lang="ja-JP" altLang="en-US" smtClean="0"/>
              <a:t>11</a:t>
            </a:fld>
            <a:endParaRPr kumimoji="1" lang="ja-JP" altLang="en-US"/>
          </a:p>
        </p:txBody>
      </p:sp>
    </p:spTree>
    <p:extLst>
      <p:ext uri="{BB962C8B-B14F-4D97-AF65-F5344CB8AC3E}">
        <p14:creationId xmlns:p14="http://schemas.microsoft.com/office/powerpoint/2010/main" val="5089330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E9D4-0876-C25C-8529-8B74AB559B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F43F49-5B7A-3752-251E-82690E66FE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863D13-39F9-D392-9C29-D9EAD3D1EA4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3CE111-A992-AC9F-119C-E1210F4D3DD7}"/>
              </a:ext>
            </a:extLst>
          </p:cNvPr>
          <p:cNvSpPr>
            <a:spLocks noGrp="1"/>
          </p:cNvSpPr>
          <p:nvPr>
            <p:ph type="sldNum" sz="quarter" idx="10"/>
          </p:nvPr>
        </p:nvSpPr>
        <p:spPr/>
        <p:txBody>
          <a:bodyPr/>
          <a:lstStyle/>
          <a:p>
            <a:fld id="{022E43C0-6795-4B13-B37C-259C826D4B6A}" type="slidenum">
              <a:rPr kumimoji="1" lang="ja-JP" altLang="en-US" smtClean="0"/>
              <a:t>13</a:t>
            </a:fld>
            <a:endParaRPr kumimoji="1" lang="ja-JP" altLang="en-US"/>
          </a:p>
        </p:txBody>
      </p:sp>
    </p:spTree>
    <p:extLst>
      <p:ext uri="{BB962C8B-B14F-4D97-AF65-F5344CB8AC3E}">
        <p14:creationId xmlns:p14="http://schemas.microsoft.com/office/powerpoint/2010/main" val="18865823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3B6B0-6587-3186-12B6-A952A7A5D12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BB0FD4-EC87-837C-B6C4-420DF35669C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0D00E3-9072-6B26-2C54-100B09DEBA1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F5CD577-5D30-A22F-CC79-63E4DE657085}"/>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32093741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FF2DF-2549-03DE-BF99-3816DBF1427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608DAE1-5EDB-4906-5B89-172988954E2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AF08AA4-BBDC-950C-3480-F13DD87CF93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572BACB-FF67-5073-CAB4-B7DC30D31CAB}"/>
              </a:ext>
            </a:extLst>
          </p:cNvPr>
          <p:cNvSpPr>
            <a:spLocks noGrp="1"/>
          </p:cNvSpPr>
          <p:nvPr>
            <p:ph type="sldNum" sz="quarter" idx="10"/>
          </p:nvPr>
        </p:nvSpPr>
        <p:spPr/>
        <p:txBody>
          <a:bodyPr/>
          <a:lstStyle/>
          <a:p>
            <a:fld id="{022E43C0-6795-4B13-B37C-259C826D4B6A}" type="slidenum">
              <a:rPr kumimoji="1" lang="ja-JP" altLang="en-US" smtClean="0"/>
              <a:t>15</a:t>
            </a:fld>
            <a:endParaRPr kumimoji="1" lang="ja-JP" altLang="en-US"/>
          </a:p>
        </p:txBody>
      </p:sp>
    </p:spTree>
    <p:extLst>
      <p:ext uri="{BB962C8B-B14F-4D97-AF65-F5344CB8AC3E}">
        <p14:creationId xmlns:p14="http://schemas.microsoft.com/office/powerpoint/2010/main" val="28182318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61853-A06F-5F84-C9BD-FD3C831F106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18F11A9-3277-9CCC-6B16-F30C009E90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02EAD73-C8B8-7737-AAA7-B04564EA1AC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D3FC8CC-7C65-1140-F528-0EC0756BD55C}"/>
              </a:ext>
            </a:extLst>
          </p:cNvPr>
          <p:cNvSpPr>
            <a:spLocks noGrp="1"/>
          </p:cNvSpPr>
          <p:nvPr>
            <p:ph type="sldNum" sz="quarter" idx="10"/>
          </p:nvPr>
        </p:nvSpPr>
        <p:spPr/>
        <p:txBody>
          <a:bodyPr/>
          <a:lstStyle/>
          <a:p>
            <a:fld id="{022E43C0-6795-4B13-B37C-259C826D4B6A}" type="slidenum">
              <a:rPr kumimoji="1" lang="ja-JP" altLang="en-US" smtClean="0"/>
              <a:t>16</a:t>
            </a:fld>
            <a:endParaRPr kumimoji="1" lang="ja-JP" altLang="en-US"/>
          </a:p>
        </p:txBody>
      </p:sp>
    </p:spTree>
    <p:extLst>
      <p:ext uri="{BB962C8B-B14F-4D97-AF65-F5344CB8AC3E}">
        <p14:creationId xmlns:p14="http://schemas.microsoft.com/office/powerpoint/2010/main" val="28049444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192C0-1B1B-AD3F-B0C2-F33DAD8A2DF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133AE9E-C7C9-D146-DD36-5849B111FD7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58A3C9A-42D2-B5D7-5F81-0F1CAB8FD4B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1D8EFF-3CFC-7207-CD2B-A2DC20DEDF1D}"/>
              </a:ext>
            </a:extLst>
          </p:cNvPr>
          <p:cNvSpPr>
            <a:spLocks noGrp="1"/>
          </p:cNvSpPr>
          <p:nvPr>
            <p:ph type="sldNum" sz="quarter" idx="10"/>
          </p:nvPr>
        </p:nvSpPr>
        <p:spPr/>
        <p:txBody>
          <a:bodyPr/>
          <a:lstStyle/>
          <a:p>
            <a:fld id="{022E43C0-6795-4B13-B37C-259C826D4B6A}" type="slidenum">
              <a:rPr kumimoji="1" lang="ja-JP" altLang="en-US" smtClean="0"/>
              <a:t>20</a:t>
            </a:fld>
            <a:endParaRPr kumimoji="1" lang="ja-JP" altLang="en-US"/>
          </a:p>
        </p:txBody>
      </p:sp>
    </p:spTree>
    <p:extLst>
      <p:ext uri="{BB962C8B-B14F-4D97-AF65-F5344CB8AC3E}">
        <p14:creationId xmlns:p14="http://schemas.microsoft.com/office/powerpoint/2010/main" val="33123719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E0D83-D1C7-371D-612C-5E2B8A2DC5D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24F9AF6-8FF2-E4BE-9495-E434005E973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C3C1C0-5C88-C938-5991-AFEF7FA0B54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6B98213-D486-73D4-8B33-4E68F0DB5A42}"/>
              </a:ext>
            </a:extLst>
          </p:cNvPr>
          <p:cNvSpPr>
            <a:spLocks noGrp="1"/>
          </p:cNvSpPr>
          <p:nvPr>
            <p:ph type="sldNum" sz="quarter" idx="10"/>
          </p:nvPr>
        </p:nvSpPr>
        <p:spPr/>
        <p:txBody>
          <a:bodyPr/>
          <a:lstStyle/>
          <a:p>
            <a:fld id="{022E43C0-6795-4B13-B37C-259C826D4B6A}" type="slidenum">
              <a:rPr kumimoji="1" lang="ja-JP" altLang="en-US" smtClean="0"/>
              <a:t>21</a:t>
            </a:fld>
            <a:endParaRPr kumimoji="1" lang="ja-JP" altLang="en-US"/>
          </a:p>
        </p:txBody>
      </p:sp>
    </p:spTree>
    <p:extLst>
      <p:ext uri="{BB962C8B-B14F-4D97-AF65-F5344CB8AC3E}">
        <p14:creationId xmlns:p14="http://schemas.microsoft.com/office/powerpoint/2010/main" val="8092732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D4971-08F2-4B39-6251-91FF17C71A5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2A3A369-82C3-3BA3-1453-124787BB830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D260C15-0FB7-94D9-5A66-FACADA45FA2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F967B2E-769F-AAB3-0187-A5DBA3C1F9EE}"/>
              </a:ext>
            </a:extLst>
          </p:cNvPr>
          <p:cNvSpPr>
            <a:spLocks noGrp="1"/>
          </p:cNvSpPr>
          <p:nvPr>
            <p:ph type="sldNum" sz="quarter" idx="10"/>
          </p:nvPr>
        </p:nvSpPr>
        <p:spPr/>
        <p:txBody>
          <a:bodyPr/>
          <a:lstStyle/>
          <a:p>
            <a:fld id="{022E43C0-6795-4B13-B37C-259C826D4B6A}" type="slidenum">
              <a:rPr kumimoji="1" lang="ja-JP" altLang="en-US" smtClean="0"/>
              <a:t>22</a:t>
            </a:fld>
            <a:endParaRPr kumimoji="1" lang="ja-JP" altLang="en-US"/>
          </a:p>
        </p:txBody>
      </p:sp>
    </p:spTree>
    <p:extLst>
      <p:ext uri="{BB962C8B-B14F-4D97-AF65-F5344CB8AC3E}">
        <p14:creationId xmlns:p14="http://schemas.microsoft.com/office/powerpoint/2010/main" val="6557338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8EC97-39D9-E5D0-9E35-FF17E8EF288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5F0D4AD-6A7D-C0A6-AF78-D64A5A03BC0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89205B9-3B2F-6D1D-76E7-8AEC50707A8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A59932D-C299-8379-9E3A-2A2E77C4AB13}"/>
              </a:ext>
            </a:extLst>
          </p:cNvPr>
          <p:cNvSpPr>
            <a:spLocks noGrp="1"/>
          </p:cNvSpPr>
          <p:nvPr>
            <p:ph type="sldNum" sz="quarter" idx="10"/>
          </p:nvPr>
        </p:nvSpPr>
        <p:spPr/>
        <p:txBody>
          <a:bodyPr/>
          <a:lstStyle/>
          <a:p>
            <a:fld id="{022E43C0-6795-4B13-B37C-259C826D4B6A}" type="slidenum">
              <a:rPr kumimoji="1" lang="ja-JP" altLang="en-US" smtClean="0"/>
              <a:t>23</a:t>
            </a:fld>
            <a:endParaRPr kumimoji="1" lang="ja-JP" altLang="en-US"/>
          </a:p>
        </p:txBody>
      </p:sp>
    </p:spTree>
    <p:extLst>
      <p:ext uri="{BB962C8B-B14F-4D97-AF65-F5344CB8AC3E}">
        <p14:creationId xmlns:p14="http://schemas.microsoft.com/office/powerpoint/2010/main" val="26422842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0DA80-4FFC-BE6A-0F8C-9D3C51A14AD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3592DA-D539-E02E-8A31-2B4B05FAC6D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BA2163B-5447-527F-4607-2F8C469E7B2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0AEB180-59BA-CD0E-B3CD-681F6E4331A8}"/>
              </a:ext>
            </a:extLst>
          </p:cNvPr>
          <p:cNvSpPr>
            <a:spLocks noGrp="1"/>
          </p:cNvSpPr>
          <p:nvPr>
            <p:ph type="sldNum" sz="quarter" idx="10"/>
          </p:nvPr>
        </p:nvSpPr>
        <p:spPr/>
        <p:txBody>
          <a:bodyPr/>
          <a:lstStyle/>
          <a:p>
            <a:fld id="{022E43C0-6795-4B13-B37C-259C826D4B6A}" type="slidenum">
              <a:rPr kumimoji="1" lang="ja-JP" altLang="en-US" smtClean="0"/>
              <a:t>24</a:t>
            </a:fld>
            <a:endParaRPr kumimoji="1" lang="ja-JP" altLang="en-US"/>
          </a:p>
        </p:txBody>
      </p:sp>
    </p:spTree>
    <p:extLst>
      <p:ext uri="{BB962C8B-B14F-4D97-AF65-F5344CB8AC3E}">
        <p14:creationId xmlns:p14="http://schemas.microsoft.com/office/powerpoint/2010/main" val="2626540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D34F8-D5DE-5179-FB63-ACF6B24F946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8ED13EE-96CF-E04C-89AF-5315DD6E5C8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9A78F30-2C87-75E8-2A08-D40FBB1058E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0E083C2-6F16-0966-8829-EE2A75C429A5}"/>
              </a:ext>
            </a:extLst>
          </p:cNvPr>
          <p:cNvSpPr>
            <a:spLocks noGrp="1"/>
          </p:cNvSpPr>
          <p:nvPr>
            <p:ph type="sldNum" sz="quarter" idx="10"/>
          </p:nvPr>
        </p:nvSpPr>
        <p:spPr/>
        <p:txBody>
          <a:bodyPr/>
          <a:lstStyle/>
          <a:p>
            <a:fld id="{022E43C0-6795-4B13-B37C-259C826D4B6A}" type="slidenum">
              <a:rPr kumimoji="1" lang="ja-JP" altLang="en-US" smtClean="0"/>
              <a:t>25</a:t>
            </a:fld>
            <a:endParaRPr kumimoji="1" lang="ja-JP" altLang="en-US"/>
          </a:p>
        </p:txBody>
      </p:sp>
    </p:spTree>
    <p:extLst>
      <p:ext uri="{BB962C8B-B14F-4D97-AF65-F5344CB8AC3E}">
        <p14:creationId xmlns:p14="http://schemas.microsoft.com/office/powerpoint/2010/main" val="37225346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6C9A2-E4AC-C61B-66CE-46E597D4701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41A5492-F3BD-D4EC-3E43-F8324C031E8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425DF75-FC25-81EF-5110-9702A79930C4}"/>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D426DDF-F568-D18F-F35E-DAF91882FDC6}"/>
              </a:ext>
            </a:extLst>
          </p:cNvPr>
          <p:cNvSpPr>
            <a:spLocks noGrp="1"/>
          </p:cNvSpPr>
          <p:nvPr>
            <p:ph type="sldNum" sz="quarter" idx="10"/>
          </p:nvPr>
        </p:nvSpPr>
        <p:spPr/>
        <p:txBody>
          <a:bodyPr/>
          <a:lstStyle/>
          <a:p>
            <a:fld id="{022E43C0-6795-4B13-B37C-259C826D4B6A}" type="slidenum">
              <a:rPr kumimoji="1" lang="ja-JP" altLang="en-US" smtClean="0"/>
              <a:t>26</a:t>
            </a:fld>
            <a:endParaRPr kumimoji="1" lang="ja-JP" altLang="en-US"/>
          </a:p>
        </p:txBody>
      </p:sp>
    </p:spTree>
    <p:extLst>
      <p:ext uri="{BB962C8B-B14F-4D97-AF65-F5344CB8AC3E}">
        <p14:creationId xmlns:p14="http://schemas.microsoft.com/office/powerpoint/2010/main" val="16523354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87073-46E4-97E2-AA29-34C04E4216C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716C4E1-C336-7022-85BD-D0261416B80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2802BD2-A4F7-3ACB-C314-CC3BD50FC0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5C9B1FE-F22D-0B70-94D0-AC959C46242D}"/>
              </a:ext>
            </a:extLst>
          </p:cNvPr>
          <p:cNvSpPr>
            <a:spLocks noGrp="1"/>
          </p:cNvSpPr>
          <p:nvPr>
            <p:ph type="sldNum" sz="quarter" idx="10"/>
          </p:nvPr>
        </p:nvSpPr>
        <p:spPr/>
        <p:txBody>
          <a:bodyPr/>
          <a:lstStyle/>
          <a:p>
            <a:fld id="{022E43C0-6795-4B13-B37C-259C826D4B6A}" type="slidenum">
              <a:rPr kumimoji="1" lang="ja-JP" altLang="en-US" smtClean="0"/>
              <a:t>27</a:t>
            </a:fld>
            <a:endParaRPr kumimoji="1" lang="ja-JP" altLang="en-US"/>
          </a:p>
        </p:txBody>
      </p:sp>
    </p:spTree>
    <p:extLst>
      <p:ext uri="{BB962C8B-B14F-4D97-AF65-F5344CB8AC3E}">
        <p14:creationId xmlns:p14="http://schemas.microsoft.com/office/powerpoint/2010/main" val="28889650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42</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43</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44</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45</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47</a:t>
            </a:fld>
            <a:endParaRPr kumimoji="1" lang="ja-JP" altLang="en-US"/>
          </a:p>
        </p:txBody>
      </p:sp>
    </p:spTree>
    <p:extLst>
      <p:ext uri="{BB962C8B-B14F-4D97-AF65-F5344CB8AC3E}">
        <p14:creationId xmlns:p14="http://schemas.microsoft.com/office/powerpoint/2010/main" val="24795380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48</a:t>
            </a:fld>
            <a:endParaRPr kumimoji="1" lang="ja-JP" altLang="en-US"/>
          </a:p>
        </p:txBody>
      </p:sp>
    </p:spTree>
    <p:extLst>
      <p:ext uri="{BB962C8B-B14F-4D97-AF65-F5344CB8AC3E}">
        <p14:creationId xmlns:p14="http://schemas.microsoft.com/office/powerpoint/2010/main" val="29854248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49</a:t>
            </a:fld>
            <a:endParaRPr kumimoji="1" lang="ja-JP" altLang="en-US"/>
          </a:p>
        </p:txBody>
      </p:sp>
    </p:spTree>
    <p:extLst>
      <p:ext uri="{BB962C8B-B14F-4D97-AF65-F5344CB8AC3E}">
        <p14:creationId xmlns:p14="http://schemas.microsoft.com/office/powerpoint/2010/main" val="23705264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ED428-D571-14FF-D396-D7175DA0FB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71AB2A-80AE-D1AA-E70B-86CDF93505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0C2926-5D95-6624-6AD9-E45C5528979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B6DFD87-0439-882A-B65E-9CEE51F20332}"/>
              </a:ext>
            </a:extLst>
          </p:cNvPr>
          <p:cNvSpPr>
            <a:spLocks noGrp="1"/>
          </p:cNvSpPr>
          <p:nvPr>
            <p:ph type="sldNum" sz="quarter" idx="10"/>
          </p:nvPr>
        </p:nvSpPr>
        <p:spPr/>
        <p:txBody>
          <a:bodyPr/>
          <a:lstStyle/>
          <a:p>
            <a:fld id="{022E43C0-6795-4B13-B37C-259C826D4B6A}" type="slidenum">
              <a:rPr kumimoji="1" lang="ja-JP" altLang="en-US" smtClean="0"/>
              <a:t>50</a:t>
            </a:fld>
            <a:endParaRPr kumimoji="1" lang="ja-JP" altLang="en-US"/>
          </a:p>
        </p:txBody>
      </p:sp>
    </p:spTree>
    <p:extLst>
      <p:ext uri="{BB962C8B-B14F-4D97-AF65-F5344CB8AC3E}">
        <p14:creationId xmlns:p14="http://schemas.microsoft.com/office/powerpoint/2010/main" val="11014053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52</a:t>
            </a:fld>
            <a:endParaRPr kumimoji="1" lang="ja-JP" altLang="en-US"/>
          </a:p>
        </p:txBody>
      </p:sp>
    </p:spTree>
    <p:extLst>
      <p:ext uri="{BB962C8B-B14F-4D97-AF65-F5344CB8AC3E}">
        <p14:creationId xmlns:p14="http://schemas.microsoft.com/office/powerpoint/2010/main" val="23902344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63</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12.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3.jpeg"/><Relationship Id="rId4" Type="http://schemas.openxmlformats.org/officeDocument/2006/relationships/image" Target="../media/image14.jpeg"/><Relationship Id="rId5" Type="http://schemas.openxmlformats.org/officeDocument/2006/relationships/image" Target="../media/image8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jpeg"/><Relationship Id="rId3" Type="http://schemas.openxmlformats.org/officeDocument/2006/relationships/image" Target="../media/image27.jpe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jpeg"/><Relationship Id="rId7" Type="http://schemas.openxmlformats.org/officeDocument/2006/relationships/image" Target="../media/image31.png"/><Relationship Id="rId8" Type="http://schemas.openxmlformats.org/officeDocument/2006/relationships/image" Target="../media/image32.png"/><Relationship Id="rId9" Type="http://schemas.openxmlformats.org/officeDocument/2006/relationships/image" Target="../media/image33.png"/><Relationship Id="rId10" Type="http://schemas.openxmlformats.org/officeDocument/2006/relationships/image" Target="../media/image34.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jpeg"/><Relationship Id="rId3" Type="http://schemas.openxmlformats.org/officeDocument/2006/relationships/image" Target="../media/image29.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image" Target="../media/image4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image" Target="../media/image48.png"/><Relationship Id="rId8" Type="http://schemas.openxmlformats.org/officeDocument/2006/relationships/image" Target="../media/image49.png"/><Relationship Id="rId9" Type="http://schemas.openxmlformats.org/officeDocument/2006/relationships/image" Target="../media/image50.png"/><Relationship Id="rId10" Type="http://schemas.openxmlformats.org/officeDocument/2006/relationships/image" Target="../media/image5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52.png"/><Relationship Id="rId4" Type="http://schemas.openxmlformats.org/officeDocument/2006/relationships/image" Target="../media/image5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image" Target="../media/image57.png"/><Relationship Id="rId7" Type="http://schemas.openxmlformats.org/officeDocument/2006/relationships/image" Target="../media/image58.svg"/><Relationship Id="rId8" Type="http://schemas.openxmlformats.org/officeDocument/2006/relationships/image" Target="../media/image5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60.svg"/><Relationship Id="rId4" Type="http://schemas.openxmlformats.org/officeDocument/2006/relationships/image" Target="../media/image61.svg"/><Relationship Id="rId5" Type="http://schemas.openxmlformats.org/officeDocument/2006/relationships/image" Target="../media/image62.svg"/><Relationship Id="rId6" Type="http://schemas.openxmlformats.org/officeDocument/2006/relationships/image" Target="../media/image63.sv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4.png"/><Relationship Id="rId3" Type="http://schemas.openxmlformats.org/officeDocument/2006/relationships/image" Target="../media/image65.png"/><Relationship Id="rId4" Type="http://schemas.openxmlformats.org/officeDocument/2006/relationships/image" Target="../media/image66.png"/><Relationship Id="rId5" Type="http://schemas.openxmlformats.org/officeDocument/2006/relationships/image" Target="../media/image67.png"/><Relationship Id="rId6" Type="http://schemas.openxmlformats.org/officeDocument/2006/relationships/image" Target="../media/image68.png"/><Relationship Id="rId7" Type="http://schemas.openxmlformats.org/officeDocument/2006/relationships/image" Target="../media/image6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0.png"/><Relationship Id="rId3" Type="http://schemas.openxmlformats.org/officeDocument/2006/relationships/image" Target="../media/image71.png"/><Relationship Id="rId4" Type="http://schemas.openxmlformats.org/officeDocument/2006/relationships/image" Target="../media/image7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6.png"/><Relationship Id="rId3" Type="http://schemas.openxmlformats.org/officeDocument/2006/relationships/image" Target="../media/image77.png"/><Relationship Id="rId4" Type="http://schemas.openxmlformats.org/officeDocument/2006/relationships/image" Target="../media/image7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3.emf"/><Relationship Id="rId4" Type="http://schemas.openxmlformats.org/officeDocument/2006/relationships/image" Target="../media/image79.jpeg"/><Relationship Id="rId5" Type="http://schemas.openxmlformats.org/officeDocument/2006/relationships/image" Target="../media/image80.jpeg"/><Relationship Id="rId6" Type="http://schemas.openxmlformats.org/officeDocument/2006/relationships/image" Target="../media/image81.jpeg"/><Relationship Id="rId7" Type="http://schemas.openxmlformats.org/officeDocument/2006/relationships/image" Target="../media/image82.jpeg"/><Relationship Id="rId8" Type="http://schemas.openxmlformats.org/officeDocument/2006/relationships/image" Target="../media/image83.jpe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331720"/>
            <a:ext cx="6626632" cy="658368"/>
          </a:xfrm>
          <a:prstGeom prst="rect">
            <a:avLst/>
          </a:prstGeom>
        </p:spPr>
        <p:txBody>
          <a:bodyPr wrap="square">
            <a:spAutoFit/>
          </a:bodyPr>
          <a:lstStyle/>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広告で集めた方をLINEでナーチャリングをし、</a:t>
            </a:r>
          </a:p>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セミナー参加・入会へ</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3" name="正方形/長方形 2">
            <a:extLst>
              <a:ext uri="{FF2B5EF4-FFF2-40B4-BE49-F238E27FC236}">
                <a16:creationId xmlns:a16="http://schemas.microsoft.com/office/drawing/2014/main" id="{8EDEE7F4-9CB5-D481-E92E-3941E7AB9B1C}"/>
              </a:ext>
            </a:extLst>
          </p:cNvPr>
          <p:cNvSpPr/>
          <p:nvPr/>
        </p:nvSpPr>
        <p:spPr>
          <a:xfrm>
            <a:off x="3524717" y="3910946"/>
            <a:ext cx="2804160" cy="405546"/>
          </a:xfrm>
          <a:prstGeom prst="rect">
            <a:avLst/>
          </a:prstGeom>
          <a:solidFill>
            <a:srgbClr val="FF0000">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rgbClr val="FF0000"/>
                </a:solidFill>
                <a:latin typeface="メイリオ" panose="020B0604030504040204" pitchFamily="50" charset="-128"/>
                <a:ea typeface="メイリオ" panose="020B0604030504040204" pitchFamily="50" charset="-128"/>
                <a:cs typeface="メイリオ"/>
              </a:rPr>
              <a:t>貴社ご提案用資料</a:t>
            </a:r>
          </a:p>
        </p:txBody>
      </p:sp>
      <p:sp>
        <p:nvSpPr>
          <p:cNvPr id="7" name="テキスト ボックス 6">
            <a:extLst>
              <a:ext uri="{FF2B5EF4-FFF2-40B4-BE49-F238E27FC236}">
                <a16:creationId xmlns:a16="http://schemas.microsoft.com/office/drawing/2014/main" id="{A461DC58-6517-316F-E5FE-0F7AB1043C43}"/>
              </a:ext>
            </a:extLst>
          </p:cNvPr>
          <p:cNvSpPr txBox="1"/>
          <p:nvPr/>
        </p:nvSpPr>
        <p:spPr>
          <a:xfrm>
            <a:off x="365759" y="216290"/>
            <a:ext cx="5233851" cy="338554"/>
          </a:xfrm>
          <a:prstGeom prst="rect">
            <a:avLst/>
          </a:prstGeom>
          <a:noFill/>
        </p:spPr>
        <p:txBody>
          <a:bodyPr wrap="square">
            <a:spAutoFit/>
          </a:bodyPr>
          <a:lstStyle/>
          <a:p>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株式会社すなおコンサルティング 御中</a:t>
            </a:r>
            <a:endParaRPr lang="ja-JP" altLang="en-US" sz="1050" dirty="0">
              <a:latin typeface="メイリオ"/>
              <a:ea typeface="メイリオ"/>
              <a:cs typeface="メイリオ"/>
            </a:endParaRP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A891A-F874-A527-E24E-39C71E4366C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2808841" y="3038203"/>
            <a:ext cx="4288353"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現状ステータスの整理</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631432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E5221-666F-DE20-B9E8-FDFC607CC22D}"/>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9FC28CD-401F-CB33-EA18-1071AD4C7D1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EC0D1AEC-5D54-2359-450D-84430B2857C0}"/>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BE746261-2A92-C9B9-6034-451CF233AB9D}"/>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8948BAF3-ECB9-2FF9-8B0D-50EE1A62E7C4}"/>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12" name="テキスト ボックス 11">
            <a:extLst>
              <a:ext uri="{FF2B5EF4-FFF2-40B4-BE49-F238E27FC236}">
                <a16:creationId xmlns:a16="http://schemas.microsoft.com/office/drawing/2014/main" id="{12C4F8BA-6552-4B16-FBC5-C62D2917BFE8}"/>
              </a:ext>
            </a:extLst>
          </p:cNvPr>
          <p:cNvSpPr txBox="1"/>
          <p:nvPr/>
        </p:nvSpPr>
        <p:spPr>
          <a:xfrm>
            <a:off x="2202413" y="2430519"/>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BD16F021-165B-ADE2-A377-D74CBC854B23}"/>
              </a:ext>
            </a:extLst>
          </p:cNvPr>
          <p:cNvSpPr txBox="1"/>
          <p:nvPr/>
        </p:nvSpPr>
        <p:spPr>
          <a:xfrm>
            <a:off x="3136468" y="2626872"/>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B116237D-8580-3F61-2B2F-766C3CCF8BF6}"/>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55D1671E-E029-A7B0-F0FE-5B3AEA581FA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9C9A66C9-6F0C-720F-D33F-5A677E31CE5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E0FFD56C-A8BF-1D7F-B9F0-7A4C2CF517A7}"/>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8" name="正方形/長方形 27">
            <a:extLst>
              <a:ext uri="{FF2B5EF4-FFF2-40B4-BE49-F238E27FC236}">
                <a16:creationId xmlns:a16="http://schemas.microsoft.com/office/drawing/2014/main" id="{985D0F3D-E958-2764-0030-33A43FBBB844}"/>
              </a:ext>
            </a:extLst>
          </p:cNvPr>
          <p:cNvSpPr/>
          <p:nvPr/>
        </p:nvSpPr>
        <p:spPr>
          <a:xfrm>
            <a:off x="377495" y="3168907"/>
            <a:ext cx="9425943" cy="12803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62DFAD71-5EA4-2410-A3B7-8926C38B8C15}"/>
              </a:ext>
            </a:extLst>
          </p:cNvPr>
          <p:cNvSpPr txBox="1"/>
          <p:nvPr/>
        </p:nvSpPr>
        <p:spPr>
          <a:xfrm>
            <a:off x="3136470" y="3386385"/>
            <a:ext cx="1868110"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セミナー予約</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テキスト ボックス 35">
            <a:extLst>
              <a:ext uri="{FF2B5EF4-FFF2-40B4-BE49-F238E27FC236}">
                <a16:creationId xmlns:a16="http://schemas.microsoft.com/office/drawing/2014/main" id="{38132008-D8F9-19F3-2653-AEF9F6C09DC2}"/>
              </a:ext>
            </a:extLst>
          </p:cNvPr>
          <p:cNvSpPr txBox="1"/>
          <p:nvPr/>
        </p:nvSpPr>
        <p:spPr>
          <a:xfrm>
            <a:off x="6119414" y="3941570"/>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8" name="テキスト ボックス 37">
            <a:extLst>
              <a:ext uri="{FF2B5EF4-FFF2-40B4-BE49-F238E27FC236}">
                <a16:creationId xmlns:a16="http://schemas.microsoft.com/office/drawing/2014/main" id="{8423A7FD-A6C6-EFD2-582C-90B8E121BC79}"/>
              </a:ext>
            </a:extLst>
          </p:cNvPr>
          <p:cNvSpPr txBox="1"/>
          <p:nvPr/>
        </p:nvSpPr>
        <p:spPr>
          <a:xfrm>
            <a:off x="330435" y="3170605"/>
            <a:ext cx="2157994" cy="253916"/>
          </a:xfrm>
          <a:prstGeom prst="rect">
            <a:avLst/>
          </a:prstGeom>
          <a:no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メイリオ"/>
              </a:rPr>
              <a:t>&lt;</a:t>
            </a:r>
            <a:r>
              <a:rPr lang="ja-JP" altLang="en-US" sz="1050" b="1" dirty="0">
                <a:latin typeface="メイリオ" panose="020B0604030504040204" pitchFamily="50" charset="-128"/>
                <a:ea typeface="メイリオ" panose="020B0604030504040204" pitchFamily="50" charset="-128"/>
                <a:cs typeface="メイリオ"/>
              </a:rPr>
              <a:t>貴社のユーザー動線イメージ</a:t>
            </a:r>
            <a:r>
              <a:rPr lang="en-US" altLang="ja-JP" sz="1050" b="1" dirty="0">
                <a:latin typeface="メイリオ" panose="020B0604030504040204" pitchFamily="50" charset="-128"/>
                <a:ea typeface="メイリオ" panose="020B0604030504040204" pitchFamily="50" charset="-128"/>
                <a:cs typeface="メイリオ"/>
              </a:rPr>
              <a:t>&gt;</a:t>
            </a:r>
            <a:endParaRPr lang="ja-JP" altLang="en-US" sz="1050" b="1" dirty="0">
              <a:latin typeface="メイリオ" panose="020B0604030504040204" pitchFamily="50" charset="-128"/>
              <a:ea typeface="メイリオ" panose="020B0604030504040204" pitchFamily="50" charset="-128"/>
              <a:cs typeface="メイリオ"/>
            </a:endParaRPr>
          </a:p>
        </p:txBody>
      </p:sp>
      <p:sp>
        <p:nvSpPr>
          <p:cNvPr id="24" name="テキスト ボックス 23">
            <a:extLst>
              <a:ext uri="{FF2B5EF4-FFF2-40B4-BE49-F238E27FC236}">
                <a16:creationId xmlns:a16="http://schemas.microsoft.com/office/drawing/2014/main" id="{86D765FE-5D14-B727-20F8-7C773D684C03}"/>
              </a:ext>
            </a:extLst>
          </p:cNvPr>
          <p:cNvSpPr txBox="1"/>
          <p:nvPr/>
        </p:nvSpPr>
        <p:spPr>
          <a:xfrm>
            <a:off x="3542137" y="3670478"/>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セミナー参加</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9" name="テキスト ボックス 18">
            <a:extLst>
              <a:ext uri="{FF2B5EF4-FFF2-40B4-BE49-F238E27FC236}">
                <a16:creationId xmlns:a16="http://schemas.microsoft.com/office/drawing/2014/main" id="{54872F58-9C7B-BF3F-8FD6-90758592757B}"/>
              </a:ext>
            </a:extLst>
          </p:cNvPr>
          <p:cNvSpPr txBox="1"/>
          <p:nvPr/>
        </p:nvSpPr>
        <p:spPr>
          <a:xfrm>
            <a:off x="7408050" y="2633400"/>
            <a:ext cx="2352196" cy="4001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71A37862-DC0D-FFB9-A4C0-DFCD839440E7}"/>
              </a:ext>
            </a:extLst>
          </p:cNvPr>
          <p:cNvSpPr txBox="1"/>
          <p:nvPr/>
        </p:nvSpPr>
        <p:spPr>
          <a:xfrm>
            <a:off x="334303" y="2025996"/>
            <a:ext cx="1868111" cy="348203"/>
          </a:xfrm>
          <a:prstGeom prst="rect">
            <a:avLst/>
          </a:prstGeom>
          <a:solidFill>
            <a:schemeClr val="accent6">
              <a:lumMod val="40000"/>
              <a:lumOff val="60000"/>
              <a:alpha val="30000"/>
            </a:schemeClr>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23" name="テキスト ボックス 22">
            <a:extLst>
              <a:ext uri="{FF2B5EF4-FFF2-40B4-BE49-F238E27FC236}">
                <a16:creationId xmlns:a16="http://schemas.microsoft.com/office/drawing/2014/main" id="{687CD251-15DA-69B7-5940-0B47AE7838C7}"/>
              </a:ext>
            </a:extLst>
          </p:cNvPr>
          <p:cNvSpPr txBox="1"/>
          <p:nvPr/>
        </p:nvSpPr>
        <p:spPr>
          <a:xfrm>
            <a:off x="1268358" y="2236658"/>
            <a:ext cx="1868111" cy="348203"/>
          </a:xfrm>
          <a:prstGeom prst="rect">
            <a:avLst/>
          </a:prstGeom>
          <a:solidFill>
            <a:schemeClr val="accent6">
              <a:lumMod val="40000"/>
              <a:lumOff val="60000"/>
              <a:alpha val="30000"/>
            </a:schemeClr>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広告からサロン入会まで8フェーズの動線を可視化し、各フェーズで発生する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離脱要因とLINE施策の打ち手を整理する。</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10" name="正方形/長方形 9">
            <a:extLst>
              <a:ext uri="{FF2B5EF4-FFF2-40B4-BE49-F238E27FC236}">
                <a16:creationId xmlns:a16="http://schemas.microsoft.com/office/drawing/2014/main" id="{BC3DB233-2109-75A0-E58B-5975C2C6368D}"/>
              </a:ext>
            </a:extLst>
          </p:cNvPr>
          <p:cNvSpPr/>
          <p:nvPr/>
        </p:nvSpPr>
        <p:spPr>
          <a:xfrm>
            <a:off x="377494" y="4506549"/>
            <a:ext cx="9425943" cy="18420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ja-JP" altLang="en-US" sz="1200" dirty="0">
                <a:solidFill>
                  <a:schemeClr val="tx1"/>
                </a:solidFill>
                <a:latin typeface="メイリオ" panose="020B0604030504040204" pitchFamily="50" charset="-128"/>
                <a:ea typeface="メイリオ" panose="020B0604030504040204" pitchFamily="50" charset="-128"/>
                <a:cs typeface="メイリオ"/>
              </a:rPr>
              <a:t>・またサービス特性として、</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kumimoji="1" lang="en-US" altLang="ja-JP" sz="6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【対象は保険営業の方】</a:t>
            </a:r>
            <a:r>
              <a:rPr lang="ja-JP" altLang="en-US" sz="1200" dirty="0">
                <a:solidFill>
                  <a:schemeClr val="tx1"/>
                </a:solidFill>
                <a:latin typeface="メイリオ" panose="020B0604030504040204" pitchFamily="50" charset="-128"/>
                <a:ea typeface="メイリオ" panose="020B0604030504040204" pitchFamily="50" charset="-128"/>
                <a:cs typeface="メイリオ"/>
              </a:rPr>
              <a:t>： 一般の方向けではなく、保険営業の方の営業力向上を目的としたセミナー・サロン</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【セミナーは無料・オンライン】</a:t>
            </a:r>
            <a:r>
              <a:rPr lang="ja-JP" altLang="en-US" sz="1200" dirty="0">
                <a:solidFill>
                  <a:schemeClr val="tx1"/>
                </a:solidFill>
                <a:latin typeface="メイリオ" panose="020B0604030504040204" pitchFamily="50" charset="-128"/>
                <a:ea typeface="メイリオ" panose="020B0604030504040204" pitchFamily="50" charset="-128"/>
                <a:cs typeface="メイリオ"/>
              </a:rPr>
              <a:t>： セミナー参加の段階では費用の不安は小さく、金額の判断はサロン入会の段階</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【イベントは年4回】</a:t>
            </a:r>
            <a:r>
              <a:rPr lang="ja-JP" altLang="en-US" sz="1200" dirty="0">
                <a:solidFill>
                  <a:schemeClr val="tx1"/>
                </a:solidFill>
                <a:latin typeface="メイリオ" panose="020B0604030504040204" pitchFamily="50" charset="-128"/>
                <a:ea typeface="メイリオ" panose="020B0604030504040204" pitchFamily="50" charset="-128"/>
                <a:cs typeface="メイリオ"/>
              </a:rPr>
              <a:t>： イベントとイベントの間の時期は、集めた方との接点が切れやすい</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lang="en-US" altLang="ja-JP" sz="600"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solidFill>
                <a:latin typeface="メイリオ" panose="020B0604030504040204" pitchFamily="50" charset="-128"/>
                <a:ea typeface="メイリオ" panose="020B0604030504040204" pitchFamily="50" charset="-128"/>
                <a:cs typeface="メイリオ"/>
              </a:rPr>
              <a:t>・貴社サービスとして</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【広告で、1回のイベントで81件のセミナー予約を集めている】</a:t>
            </a: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【セミナーの参加後に、サロンの入会を案内できる】</a:t>
            </a:r>
          </a:p>
          <a:p>
            <a:endParaRPr lang="en-US" altLang="ja-JP" sz="700"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solidFill>
                <a:latin typeface="メイリオ" panose="020B0604030504040204" pitchFamily="50" charset="-128"/>
                <a:ea typeface="メイリオ" panose="020B0604030504040204" pitchFamily="50" charset="-128"/>
                <a:cs typeface="メイリオ"/>
              </a:rPr>
              <a:t>という強みを持っており、</a:t>
            </a:r>
            <a:r>
              <a:rPr lang="ja-JP" altLang="en-US" sz="1200" b="1" dirty="0">
                <a:solidFill>
                  <a:srgbClr val="FF0000"/>
                </a:solidFill>
                <a:latin typeface="メイリオ" panose="020B0604030504040204" pitchFamily="50" charset="-128"/>
                <a:ea typeface="メイリオ" panose="020B0604030504040204" pitchFamily="50" charset="-128"/>
                <a:cs typeface="メイリオ"/>
              </a:rPr>
              <a:t>集めた方と、次のイベント・入会まで接点を持ち続けること</a:t>
            </a:r>
            <a:r>
              <a:rPr lang="ja-JP" altLang="en-US" sz="1200" dirty="0">
                <a:solidFill>
                  <a:schemeClr val="tx1"/>
                </a:solidFill>
                <a:latin typeface="メイリオ" panose="020B0604030504040204" pitchFamily="50" charset="-128"/>
                <a:ea typeface="メイリオ" panose="020B0604030504040204" pitchFamily="50" charset="-128"/>
                <a:cs typeface="メイリオ"/>
              </a:rPr>
              <a:t>はメリットにつながる想定。</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715909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642A8-3E67-5B74-44A3-2319A4429A9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672B0F-F237-F0AD-0406-3F0B4D8374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6E4BBB3A-0D38-BEFA-41CE-475A3AD94E4B}"/>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F6061EA3-81DF-F127-35ED-8E76CB9BA87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4DFF8E60-181C-F552-91AA-8D421878A5E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C90C3361-4E73-2E37-B42D-7BEC4ACEF81B}"/>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FFD30C49-34B0-02C4-AF70-B2CDE69444A5}"/>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48603E9D-0741-5356-E71D-C1FC418F0477}"/>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5510780C-7296-C3F4-8C4C-3E6051AD3A79}"/>
              </a:ext>
            </a:extLst>
          </p:cNvPr>
          <p:cNvSpPr txBox="1"/>
          <p:nvPr/>
        </p:nvSpPr>
        <p:spPr>
          <a:xfrm>
            <a:off x="7408050" y="2633400"/>
            <a:ext cx="2352196" cy="400110"/>
          </a:xfrm>
          <a:prstGeom prst="rect">
            <a:avLst/>
          </a:prstGeom>
          <a:solidFill>
            <a:schemeClr val="bg1">
              <a:lumMod val="65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22893D84-2009-2D10-A58D-4D15D44E30A4}"/>
              </a:ext>
            </a:extLst>
          </p:cNvPr>
          <p:cNvSpPr txBox="1"/>
          <p:nvPr/>
        </p:nvSpPr>
        <p:spPr>
          <a:xfrm>
            <a:off x="334303" y="2025996"/>
            <a:ext cx="1868111" cy="348203"/>
          </a:xfrm>
          <a:prstGeom prst="rect">
            <a:avLst/>
          </a:prstGeom>
          <a:solidFill>
            <a:schemeClr val="accent6">
              <a:lumMod val="40000"/>
              <a:lumOff val="60000"/>
              <a:alpha val="30000"/>
            </a:schemeClr>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11" name="テキスト ボックス 10">
            <a:extLst>
              <a:ext uri="{FF2B5EF4-FFF2-40B4-BE49-F238E27FC236}">
                <a16:creationId xmlns:a16="http://schemas.microsoft.com/office/drawing/2014/main" id="{23C7633E-5748-2D3A-84BA-79804E06BD11}"/>
              </a:ext>
            </a:extLst>
          </p:cNvPr>
          <p:cNvSpPr txBox="1"/>
          <p:nvPr/>
        </p:nvSpPr>
        <p:spPr>
          <a:xfrm>
            <a:off x="1268358" y="2236658"/>
            <a:ext cx="1868111" cy="348203"/>
          </a:xfrm>
          <a:prstGeom prst="rect">
            <a:avLst/>
          </a:prstGeom>
          <a:solidFill>
            <a:schemeClr val="accent6">
              <a:lumMod val="40000"/>
              <a:lumOff val="60000"/>
              <a:alpha val="30000"/>
            </a:schemeClr>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12" name="テキスト ボックス 11">
            <a:extLst>
              <a:ext uri="{FF2B5EF4-FFF2-40B4-BE49-F238E27FC236}">
                <a16:creationId xmlns:a16="http://schemas.microsoft.com/office/drawing/2014/main" id="{0FF28B09-D075-F525-81E8-9E46FD2E18CC}"/>
              </a:ext>
            </a:extLst>
          </p:cNvPr>
          <p:cNvSpPr txBox="1"/>
          <p:nvPr/>
        </p:nvSpPr>
        <p:spPr>
          <a:xfrm>
            <a:off x="2202413" y="2430519"/>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16BD59AA-351D-314F-6C74-5744411BB09A}"/>
              </a:ext>
            </a:extLst>
          </p:cNvPr>
          <p:cNvSpPr txBox="1"/>
          <p:nvPr/>
        </p:nvSpPr>
        <p:spPr>
          <a:xfrm>
            <a:off x="3136468" y="2626872"/>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7CD2930D-6317-C65A-EBFA-3A24A7BB98EE}"/>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FB4E9283-AFFE-D736-E74D-1988664432CA}"/>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A823DE0C-5E87-D9B3-1B01-A8A108957A34}"/>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F10F5A5D-3ADF-7E9F-1184-B3E6D3B235ED}"/>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graphicFrame>
        <p:nvGraphicFramePr>
          <p:cNvPr id="18" name="Table 2">
            <a:extLst>
              <a:ext uri="{FF2B5EF4-FFF2-40B4-BE49-F238E27FC236}">
                <a16:creationId xmlns:a16="http://schemas.microsoft.com/office/drawing/2014/main" id="{89845608-F0C2-67EC-D03E-3B68C6BD5068}"/>
              </a:ext>
            </a:extLst>
          </p:cNvPr>
          <p:cNvGraphicFramePr>
            <a:graphicFrameLocks noGrp="1"/>
          </p:cNvGraphicFramePr>
          <p:nvPr>
            <p:extLst>
              <p:ext uri="{D42A27DB-BD31-4B8C-83A1-F6EECF244321}">
                <p14:modId xmlns:p14="http://schemas.microsoft.com/office/powerpoint/2010/main" val="3163375250"/>
              </p:ext>
            </p:extLst>
          </p:nvPr>
        </p:nvGraphicFramePr>
        <p:xfrm>
          <a:off x="379976" y="3258501"/>
          <a:ext cx="9379248" cy="1500545"/>
        </p:xfrm>
        <a:graphic>
          <a:graphicData uri="http://schemas.openxmlformats.org/drawingml/2006/table">
            <a:tbl>
              <a:tblPr firstRow="1" bandRow="1">
                <a:tableStyleId>{5C22544A-7EE6-4342-B048-85BDC9FD1C3A}</a:tableStyleId>
              </a:tblPr>
              <a:tblGrid>
                <a:gridCol w="2344812">
                  <a:extLst>
                    <a:ext uri="{9D8B030D-6E8A-4147-A177-3AD203B41FA5}">
                      <a16:colId xmlns:a16="http://schemas.microsoft.com/office/drawing/2014/main" val="20000"/>
                    </a:ext>
                  </a:extLst>
                </a:gridCol>
                <a:gridCol w="2344812">
                  <a:extLst>
                    <a:ext uri="{9D8B030D-6E8A-4147-A177-3AD203B41FA5}">
                      <a16:colId xmlns:a16="http://schemas.microsoft.com/office/drawing/2014/main" val="20001"/>
                    </a:ext>
                  </a:extLst>
                </a:gridCol>
                <a:gridCol w="2344812">
                  <a:extLst>
                    <a:ext uri="{9D8B030D-6E8A-4147-A177-3AD203B41FA5}">
                      <a16:colId xmlns:a16="http://schemas.microsoft.com/office/drawing/2014/main" val="20002"/>
                    </a:ext>
                  </a:extLst>
                </a:gridCol>
                <a:gridCol w="2344812">
                  <a:extLst>
                    <a:ext uri="{9D8B030D-6E8A-4147-A177-3AD203B41FA5}">
                      <a16:colId xmlns:a16="http://schemas.microsoft.com/office/drawing/2014/main" val="20003"/>
                    </a:ext>
                  </a:extLst>
                </a:gridCol>
              </a:tblGrid>
              <a:tr h="300109">
                <a:tc>
                  <a:txBody>
                    <a:bodyPr/>
                    <a:lstStyle/>
                    <a:p>
                      <a:pPr algn="ctr"/>
                      <a:r>
                        <a:rPr sz="900" b="1" dirty="0" err="1">
                          <a:solidFill>
                            <a:srgbClr val="FFFFFF"/>
                          </a:solidFill>
                          <a:latin typeface="メイリオ"/>
                          <a:ea typeface="メイリオ"/>
                          <a:cs typeface="メイリオ"/>
                        </a:rPr>
                        <a:t>フェーズ</a:t>
                      </a:r>
                      <a:endParaRPr sz="900" b="1" dirty="0">
                        <a:solidFill>
                          <a:srgbClr val="FFFFFF"/>
                        </a:solidFill>
                        <a:latin typeface="メイリオ"/>
                        <a:ea typeface="メイリオ"/>
                        <a:cs typeface="メイリオ"/>
                      </a:endParaRPr>
                    </a:p>
                  </a:txBody>
                  <a:tcPr marT="37785" marB="37785">
                    <a:solidFill>
                      <a:srgbClr val="1F2A5C"/>
                    </a:solidFill>
                  </a:tcPr>
                </a:tc>
                <a:tc>
                  <a:txBody>
                    <a:bodyPr/>
                    <a:lstStyle/>
                    <a:p>
                      <a:pPr algn="ctr"/>
                      <a:r>
                        <a:rPr sz="900" b="1" dirty="0" err="1">
                          <a:solidFill>
                            <a:srgbClr val="FFFFFF"/>
                          </a:solidFill>
                          <a:latin typeface="メイリオ"/>
                          <a:ea typeface="メイリオ"/>
                          <a:cs typeface="メイリオ"/>
                        </a:rPr>
                        <a:t>ユーザー状態・心理</a:t>
                      </a:r>
                      <a:endParaRPr sz="900" b="1" dirty="0">
                        <a:solidFill>
                          <a:srgbClr val="FFFFFF"/>
                        </a:solidFill>
                        <a:latin typeface="メイリオ"/>
                        <a:ea typeface="メイリオ"/>
                        <a:cs typeface="メイリオ"/>
                      </a:endParaRPr>
                    </a:p>
                  </a:txBody>
                  <a:tcPr marT="37785" marB="37785">
                    <a:solidFill>
                      <a:srgbClr val="1F2A5C"/>
                    </a:solidFill>
                  </a:tcPr>
                </a:tc>
                <a:tc>
                  <a:txBody>
                    <a:bodyPr/>
                    <a:lstStyle/>
                    <a:p>
                      <a:pPr algn="ctr"/>
                      <a:r>
                        <a:rPr sz="900" b="1" dirty="0" err="1">
                          <a:solidFill>
                            <a:srgbClr val="FFFFFF"/>
                          </a:solidFill>
                          <a:latin typeface="メイリオ"/>
                          <a:ea typeface="メイリオ"/>
                          <a:cs typeface="メイリオ"/>
                        </a:rPr>
                        <a:t>離脱・停滞の課題</a:t>
                      </a:r>
                      <a:endParaRPr sz="900" b="1" dirty="0">
                        <a:solidFill>
                          <a:srgbClr val="FFFFFF"/>
                        </a:solidFill>
                        <a:latin typeface="メイリオ"/>
                        <a:ea typeface="メイリオ"/>
                        <a:cs typeface="メイリオ"/>
                      </a:endParaRPr>
                    </a:p>
                  </a:txBody>
                  <a:tcPr marT="37785" marB="37785">
                    <a:solidFill>
                      <a:srgbClr val="1F2A5C"/>
                    </a:solidFill>
                  </a:tcPr>
                </a:tc>
                <a:tc>
                  <a:txBody>
                    <a:bodyPr/>
                    <a:lstStyle/>
                    <a:p>
                      <a:pPr algn="ctr"/>
                      <a:r>
                        <a:rPr sz="900" b="1" dirty="0">
                          <a:solidFill>
                            <a:srgbClr val="FFFFFF"/>
                          </a:solidFill>
                          <a:latin typeface="メイリオ"/>
                          <a:ea typeface="メイリオ"/>
                          <a:cs typeface="メイリオ"/>
                        </a:rPr>
                        <a:t>LINE </a:t>
                      </a:r>
                      <a:r>
                        <a:rPr sz="900" b="1" dirty="0" err="1">
                          <a:solidFill>
                            <a:srgbClr val="FFFFFF"/>
                          </a:solidFill>
                          <a:latin typeface="メイリオ"/>
                          <a:ea typeface="メイリオ"/>
                          <a:cs typeface="メイリオ"/>
                        </a:rPr>
                        <a:t>OAの役割・施策</a:t>
                      </a:r>
                      <a:endParaRPr sz="900" b="1" dirty="0">
                        <a:solidFill>
                          <a:srgbClr val="FFFFFF"/>
                        </a:solidFill>
                        <a:latin typeface="メイリオ"/>
                        <a:ea typeface="メイリオ"/>
                        <a:cs typeface="メイリオ"/>
                      </a:endParaRPr>
                    </a:p>
                  </a:txBody>
                  <a:tcPr marT="37785" marB="37785">
                    <a:solidFill>
                      <a:srgbClr val="1F2A5C"/>
                    </a:solidFill>
                  </a:tcPr>
                </a:tc>
                <a:extLst>
                  <a:ext uri="{0D108BD9-81ED-4DB2-BD59-A6C34878D82A}">
                    <a16:rowId xmlns:a16="http://schemas.microsoft.com/office/drawing/2014/main" val="10000"/>
                  </a:ext>
                </a:extLst>
              </a:tr>
              <a:tr h="300109">
                <a:tc>
                  <a:txBody>
                    <a:bodyPr/>
                    <a:lstStyle/>
                    <a:p>
                      <a:pPr algn="l"/>
                      <a:r>
                        <a:rPr sz="800" b="1">
                          <a:solidFill>
                            <a:srgbClr val="333333"/>
                          </a:solidFill>
                          <a:latin typeface="メイリオ"/>
                          <a:ea typeface="メイリオ"/>
                          <a:cs typeface="メイリオ"/>
                        </a:rPr>
                        <a:t>①接触</a:t>
                      </a:r>
                    </a:p>
                  </a:txBody>
                  <a:tcPr marT="37785" marB="37785">
                    <a:solidFill>
                      <a:srgbClr val="FFFFFF"/>
                    </a:solidFill>
                  </a:tcPr>
                </a:tc>
                <a:tc>
                  <a:txBody>
                    <a:bodyPr/>
                    <a:lstStyle/>
                    <a:p>
                      <a:pPr algn="ctr"/>
                      <a:r>
                        <a:rPr sz="800" b="0" dirty="0" err="1">
                          <a:solidFill>
                            <a:srgbClr val="333333"/>
                          </a:solidFill>
                          <a:latin typeface="メイリオ"/>
                          <a:ea typeface="メイリオ"/>
                          <a:cs typeface="メイリオ"/>
                        </a:rPr>
                        <a:t>営業の成果を上げたいが、まだ情報収集の段階</a:t>
                      </a:r>
                      <a:endParaRPr sz="800" b="0" dirty="0">
                        <a:solidFill>
                          <a:srgbClr val="333333"/>
                        </a:solidFill>
                        <a:latin typeface="メイリオ"/>
                        <a:ea typeface="メイリオ"/>
                        <a:cs typeface="メイリオ"/>
                      </a:endParaRPr>
                    </a:p>
                  </a:txBody>
                  <a:tcPr marT="37785" marB="37785">
                    <a:solidFill>
                      <a:srgbClr val="FFFFFF"/>
                    </a:solidFill>
                  </a:tcPr>
                </a:tc>
                <a:tc>
                  <a:txBody>
                    <a:bodyPr/>
                    <a:lstStyle/>
                    <a:p>
                      <a:pPr algn="ctr"/>
                      <a:r>
                        <a:rPr sz="800" b="0">
                          <a:solidFill>
                            <a:srgbClr val="333333"/>
                          </a:solidFill>
                          <a:latin typeface="メイリオ"/>
                          <a:ea typeface="メイリオ"/>
                          <a:cs typeface="メイリオ"/>
                        </a:rPr>
                        <a:t>日程が合わないと、申し込まずに離れる</a:t>
                      </a:r>
                    </a:p>
                  </a:txBody>
                  <a:tcPr marT="37785" marB="37785">
                    <a:solidFill>
                      <a:srgbClr val="FFFFFF"/>
                    </a:solidFill>
                  </a:tcPr>
                </a:tc>
                <a:tc>
                  <a:txBody>
                    <a:bodyPr/>
                    <a:lstStyle/>
                    <a:p>
                      <a:pPr algn="ctr"/>
                      <a:r>
                        <a:rPr sz="800" b="0">
                          <a:solidFill>
                            <a:srgbClr val="333333"/>
                          </a:solidFill>
                          <a:latin typeface="メイリオ"/>
                          <a:ea typeface="メイリオ"/>
                          <a:cs typeface="メイリオ"/>
                        </a:rPr>
                        <a:t>離脱防止ポップアップ（次のセミナーの案内をLINEで受け取れる）</a:t>
                      </a:r>
                    </a:p>
                  </a:txBody>
                  <a:tcPr marT="37785" marB="37785">
                    <a:solidFill>
                      <a:srgbClr val="FFFFFF"/>
                    </a:solidFill>
                  </a:tcPr>
                </a:tc>
                <a:extLst>
                  <a:ext uri="{0D108BD9-81ED-4DB2-BD59-A6C34878D82A}">
                    <a16:rowId xmlns:a16="http://schemas.microsoft.com/office/drawing/2014/main" val="10001"/>
                  </a:ext>
                </a:extLst>
              </a:tr>
              <a:tr h="300109">
                <a:tc>
                  <a:txBody>
                    <a:bodyPr/>
                    <a:lstStyle/>
                    <a:p>
                      <a:pPr algn="l"/>
                      <a:r>
                        <a:rPr sz="800" b="1" dirty="0">
                          <a:solidFill>
                            <a:srgbClr val="333333"/>
                          </a:solidFill>
                          <a:latin typeface="メイリオ"/>
                          <a:ea typeface="メイリオ"/>
                          <a:cs typeface="メイリオ"/>
                        </a:rPr>
                        <a:t>②</a:t>
                      </a:r>
                      <a:r>
                        <a:rPr sz="800" b="1" dirty="0" err="1">
                          <a:solidFill>
                            <a:srgbClr val="333333"/>
                          </a:solidFill>
                          <a:latin typeface="メイリオ"/>
                          <a:ea typeface="メイリオ"/>
                          <a:cs typeface="メイリオ"/>
                        </a:rPr>
                        <a:t>サイト離脱</a:t>
                      </a:r>
                      <a:endParaRPr sz="800" b="1" dirty="0">
                        <a:solidFill>
                          <a:srgbClr val="333333"/>
                        </a:solidFill>
                        <a:latin typeface="メイリオ"/>
                        <a:ea typeface="メイリオ"/>
                        <a:cs typeface="メイリオ"/>
                      </a:endParaRPr>
                    </a:p>
                  </a:txBody>
                  <a:tcPr marT="37785" marB="37785">
                    <a:solidFill>
                      <a:srgbClr val="F5F7FA"/>
                    </a:solidFill>
                  </a:tcPr>
                </a:tc>
                <a:tc>
                  <a:txBody>
                    <a:bodyPr/>
                    <a:lstStyle/>
                    <a:p>
                      <a:pPr algn="ctr"/>
                      <a:r>
                        <a:rPr sz="800" b="0">
                          <a:solidFill>
                            <a:srgbClr val="333333"/>
                          </a:solidFill>
                          <a:latin typeface="メイリオ"/>
                          <a:ea typeface="メイリオ"/>
                          <a:cs typeface="メイリオ"/>
                        </a:rPr>
                        <a:t>今回は申し込まない</a:t>
                      </a:r>
                    </a:p>
                  </a:txBody>
                  <a:tcPr marT="37785" marB="37785">
                    <a:solidFill>
                      <a:srgbClr val="F5F7FA"/>
                    </a:solidFill>
                  </a:tcPr>
                </a:tc>
                <a:tc>
                  <a:txBody>
                    <a:bodyPr/>
                    <a:lstStyle/>
                    <a:p>
                      <a:pPr algn="ctr"/>
                      <a:r>
                        <a:rPr sz="800" b="0">
                          <a:solidFill>
                            <a:srgbClr val="333333"/>
                          </a:solidFill>
                          <a:latin typeface="メイリオ"/>
                          <a:ea typeface="メイリオ"/>
                          <a:cs typeface="メイリオ"/>
                        </a:rPr>
                        <a:t>次のセミナーまで、案内を届ける手段が無い</a:t>
                      </a:r>
                    </a:p>
                  </a:txBody>
                  <a:tcPr marT="37785" marB="37785">
                    <a:solidFill>
                      <a:srgbClr val="F5F7FA"/>
                    </a:solidFill>
                  </a:tcPr>
                </a:tc>
                <a:tc>
                  <a:txBody>
                    <a:bodyPr/>
                    <a:lstStyle/>
                    <a:p>
                      <a:pPr algn="ctr"/>
                      <a:r>
                        <a:rPr sz="800" b="0">
                          <a:solidFill>
                            <a:srgbClr val="333333"/>
                          </a:solidFill>
                          <a:latin typeface="メイリオ"/>
                          <a:ea typeface="メイリオ"/>
                          <a:cs typeface="メイリオ"/>
                        </a:rPr>
                        <a:t>ポップアップからLINE友だち化</a:t>
                      </a:r>
                    </a:p>
                  </a:txBody>
                  <a:tcPr marT="37785" marB="37785">
                    <a:solidFill>
                      <a:srgbClr val="F5F7FA"/>
                    </a:solidFill>
                  </a:tcPr>
                </a:tc>
                <a:extLst>
                  <a:ext uri="{0D108BD9-81ED-4DB2-BD59-A6C34878D82A}">
                    <a16:rowId xmlns:a16="http://schemas.microsoft.com/office/drawing/2014/main" val="10002"/>
                  </a:ext>
                </a:extLst>
              </a:tr>
              <a:tr h="300109">
                <a:tc>
                  <a:txBody>
                    <a:bodyPr/>
                    <a:lstStyle/>
                    <a:p>
                      <a:pPr algn="l"/>
                      <a:r>
                        <a:rPr sz="800" b="1" dirty="0">
                          <a:solidFill>
                            <a:srgbClr val="333333"/>
                          </a:solidFill>
                          <a:latin typeface="メイリオ"/>
                          <a:ea typeface="メイリオ"/>
                          <a:cs typeface="メイリオ"/>
                        </a:rPr>
                        <a:t>③</a:t>
                      </a:r>
                      <a:r>
                        <a:rPr sz="800" b="1" dirty="0" err="1">
                          <a:solidFill>
                            <a:srgbClr val="333333"/>
                          </a:solidFill>
                          <a:latin typeface="メイリオ"/>
                          <a:ea typeface="メイリオ"/>
                          <a:cs typeface="メイリオ"/>
                        </a:rPr>
                        <a:t>育成追加直後</a:t>
                      </a:r>
                      <a:endParaRPr sz="800" b="1" dirty="0">
                        <a:solidFill>
                          <a:srgbClr val="333333"/>
                        </a:solidFill>
                        <a:latin typeface="メイリオ"/>
                        <a:ea typeface="メイリオ"/>
                        <a:cs typeface="メイリオ"/>
                      </a:endParaRPr>
                    </a:p>
                  </a:txBody>
                  <a:tcPr marT="37785" marB="37785">
                    <a:solidFill>
                      <a:srgbClr val="FFFFFF"/>
                    </a:solidFill>
                  </a:tcPr>
                </a:tc>
                <a:tc>
                  <a:txBody>
                    <a:bodyPr/>
                    <a:lstStyle/>
                    <a:p>
                      <a:pPr algn="ctr"/>
                      <a:r>
                        <a:rPr sz="800" b="0">
                          <a:solidFill>
                            <a:srgbClr val="333333"/>
                          </a:solidFill>
                          <a:latin typeface="メイリオ"/>
                          <a:ea typeface="メイリオ"/>
                          <a:cs typeface="メイリオ"/>
                        </a:rPr>
                        <a:t>どんなセミナーか、まだよく分からない</a:t>
                      </a:r>
                    </a:p>
                  </a:txBody>
                  <a:tcPr marT="37785" marB="37785">
                    <a:solidFill>
                      <a:srgbClr val="FFFFFF"/>
                    </a:solidFill>
                  </a:tcPr>
                </a:tc>
                <a:tc>
                  <a:txBody>
                    <a:bodyPr/>
                    <a:lstStyle/>
                    <a:p>
                      <a:pPr algn="ctr"/>
                      <a:r>
                        <a:rPr sz="800" b="0">
                          <a:solidFill>
                            <a:srgbClr val="333333"/>
                          </a:solidFill>
                          <a:latin typeface="メイリオ"/>
                          <a:ea typeface="メイリオ"/>
                          <a:cs typeface="メイリオ"/>
                        </a:rPr>
                        <a:t>中身が見えず、予約に進まない</a:t>
                      </a:r>
                    </a:p>
                  </a:txBody>
                  <a:tcPr marT="37785" marB="37785">
                    <a:solidFill>
                      <a:srgbClr val="FFFFFF"/>
                    </a:solidFill>
                  </a:tcPr>
                </a:tc>
                <a:tc>
                  <a:txBody>
                    <a:bodyPr/>
                    <a:lstStyle/>
                    <a:p>
                      <a:pPr algn="ctr"/>
                      <a:r>
                        <a:rPr sz="800" b="0" dirty="0" err="1">
                          <a:solidFill>
                            <a:srgbClr val="333333"/>
                          </a:solidFill>
                          <a:latin typeface="メイリオ"/>
                          <a:ea typeface="メイリオ"/>
                          <a:cs typeface="メイリオ"/>
                        </a:rPr>
                        <a:t>見どころ動画・参加特典をステップ配信</a:t>
                      </a:r>
                      <a:endParaRPr sz="800" b="0" dirty="0">
                        <a:solidFill>
                          <a:srgbClr val="333333"/>
                        </a:solidFill>
                        <a:latin typeface="メイリオ"/>
                        <a:ea typeface="メイリオ"/>
                        <a:cs typeface="メイリオ"/>
                      </a:endParaRPr>
                    </a:p>
                  </a:txBody>
                  <a:tcPr marT="37785" marB="37785">
                    <a:solidFill>
                      <a:srgbClr val="FFFFFF"/>
                    </a:solidFill>
                  </a:tcPr>
                </a:tc>
                <a:extLst>
                  <a:ext uri="{0D108BD9-81ED-4DB2-BD59-A6C34878D82A}">
                    <a16:rowId xmlns:a16="http://schemas.microsoft.com/office/drawing/2014/main" val="10003"/>
                  </a:ext>
                </a:extLst>
              </a:tr>
              <a:tr h="300109">
                <a:tc>
                  <a:txBody>
                    <a:bodyPr/>
                    <a:lstStyle/>
                    <a:p>
                      <a:pPr algn="l"/>
                      <a:r>
                        <a:rPr sz="800" b="1" dirty="0">
                          <a:solidFill>
                            <a:srgbClr val="333333"/>
                          </a:solidFill>
                          <a:latin typeface="メイリオ"/>
                          <a:ea typeface="メイリオ"/>
                          <a:cs typeface="メイリオ"/>
                        </a:rPr>
                        <a:t>④</a:t>
                      </a:r>
                      <a:r>
                        <a:rPr sz="800" b="1" dirty="0" err="1">
                          <a:solidFill>
                            <a:srgbClr val="333333"/>
                          </a:solidFill>
                          <a:latin typeface="メイリオ"/>
                          <a:ea typeface="メイリオ"/>
                          <a:cs typeface="メイリオ"/>
                        </a:rPr>
                        <a:t>リード獲得</a:t>
                      </a:r>
                      <a:endParaRPr sz="800" b="1" dirty="0">
                        <a:solidFill>
                          <a:srgbClr val="333333"/>
                        </a:solidFill>
                        <a:latin typeface="メイリオ"/>
                        <a:ea typeface="メイリオ"/>
                        <a:cs typeface="メイリオ"/>
                      </a:endParaRPr>
                    </a:p>
                  </a:txBody>
                  <a:tcPr marT="37785" marB="37785">
                    <a:solidFill>
                      <a:srgbClr val="F5F7FA"/>
                    </a:solidFill>
                  </a:tcPr>
                </a:tc>
                <a:tc>
                  <a:txBody>
                    <a:bodyPr/>
                    <a:lstStyle/>
                    <a:p>
                      <a:pPr algn="ctr"/>
                      <a:r>
                        <a:rPr sz="800" b="0">
                          <a:solidFill>
                            <a:srgbClr val="333333"/>
                          </a:solidFill>
                          <a:latin typeface="メイリオ"/>
                          <a:ea typeface="メイリオ"/>
                          <a:cs typeface="メイリオ"/>
                        </a:rPr>
                        <a:t>セミナーを予約した</a:t>
                      </a:r>
                    </a:p>
                  </a:txBody>
                  <a:tcPr marT="37785" marB="37785">
                    <a:solidFill>
                      <a:srgbClr val="F5F7FA"/>
                    </a:solidFill>
                  </a:tcPr>
                </a:tc>
                <a:tc>
                  <a:txBody>
                    <a:bodyPr/>
                    <a:lstStyle/>
                    <a:p>
                      <a:pPr algn="ctr"/>
                      <a:r>
                        <a:rPr sz="800" b="0">
                          <a:solidFill>
                            <a:srgbClr val="333333"/>
                          </a:solidFill>
                          <a:latin typeface="メイリオ"/>
                          <a:ea typeface="メイリオ"/>
                          <a:cs typeface="メイリオ"/>
                        </a:rPr>
                        <a:t>当日までに日が空き、参加を忘れる</a:t>
                      </a:r>
                    </a:p>
                  </a:txBody>
                  <a:tcPr marT="37785" marB="37785">
                    <a:solidFill>
                      <a:srgbClr val="F5F7FA"/>
                    </a:solidFill>
                  </a:tcPr>
                </a:tc>
                <a:tc>
                  <a:txBody>
                    <a:bodyPr/>
                    <a:lstStyle/>
                    <a:p>
                      <a:pPr algn="ctr"/>
                      <a:r>
                        <a:rPr sz="800" b="0" dirty="0">
                          <a:solidFill>
                            <a:srgbClr val="333333"/>
                          </a:solidFill>
                          <a:latin typeface="メイリオ"/>
                          <a:ea typeface="メイリオ"/>
                          <a:cs typeface="メイリオ"/>
                        </a:rPr>
                        <a:t>サンクスLINE誘導で友だち化・前日／当日のお知らせ</a:t>
                      </a:r>
                    </a:p>
                  </a:txBody>
                  <a:tcPr marT="37785" marB="37785">
                    <a:solidFill>
                      <a:srgbClr val="F5F7FA"/>
                    </a:solidFill>
                  </a:tcPr>
                </a:tc>
                <a:extLst>
                  <a:ext uri="{0D108BD9-81ED-4DB2-BD59-A6C34878D82A}">
                    <a16:rowId xmlns:a16="http://schemas.microsoft.com/office/drawing/2014/main" val="10004"/>
                  </a:ext>
                </a:extLst>
              </a:tr>
            </a:tbl>
          </a:graphicData>
        </a:graphic>
      </p:graphicFrame>
      <p:graphicFrame>
        <p:nvGraphicFramePr>
          <p:cNvPr id="20" name="表 19">
            <a:extLst>
              <a:ext uri="{FF2B5EF4-FFF2-40B4-BE49-F238E27FC236}">
                <a16:creationId xmlns:a16="http://schemas.microsoft.com/office/drawing/2014/main" id="{F99FC55E-F86A-8534-0A69-D3D3F64ACAC5}"/>
              </a:ext>
            </a:extLst>
          </p:cNvPr>
          <p:cNvGraphicFramePr>
            <a:graphicFrameLocks noGrp="1"/>
          </p:cNvGraphicFramePr>
          <p:nvPr>
            <p:extLst>
              <p:ext uri="{D42A27DB-BD31-4B8C-83A1-F6EECF244321}">
                <p14:modId xmlns:p14="http://schemas.microsoft.com/office/powerpoint/2010/main" val="176684519"/>
              </p:ext>
            </p:extLst>
          </p:nvPr>
        </p:nvGraphicFramePr>
        <p:xfrm>
          <a:off x="379976" y="4831768"/>
          <a:ext cx="9379248" cy="1500545"/>
        </p:xfrm>
        <a:graphic>
          <a:graphicData uri="http://schemas.openxmlformats.org/drawingml/2006/table">
            <a:tbl>
              <a:tblPr firstRow="1" bandRow="1">
                <a:tableStyleId>{5C22544A-7EE6-4342-B048-85BDC9FD1C3A}</a:tableStyleId>
              </a:tblPr>
              <a:tblGrid>
                <a:gridCol w="2344812">
                  <a:extLst>
                    <a:ext uri="{9D8B030D-6E8A-4147-A177-3AD203B41FA5}">
                      <a16:colId xmlns:a16="http://schemas.microsoft.com/office/drawing/2014/main" val="628559368"/>
                    </a:ext>
                  </a:extLst>
                </a:gridCol>
                <a:gridCol w="2344812">
                  <a:extLst>
                    <a:ext uri="{9D8B030D-6E8A-4147-A177-3AD203B41FA5}">
                      <a16:colId xmlns:a16="http://schemas.microsoft.com/office/drawing/2014/main" val="912500275"/>
                    </a:ext>
                  </a:extLst>
                </a:gridCol>
                <a:gridCol w="2344812">
                  <a:extLst>
                    <a:ext uri="{9D8B030D-6E8A-4147-A177-3AD203B41FA5}">
                      <a16:colId xmlns:a16="http://schemas.microsoft.com/office/drawing/2014/main" val="1953274320"/>
                    </a:ext>
                  </a:extLst>
                </a:gridCol>
                <a:gridCol w="2344812">
                  <a:extLst>
                    <a:ext uri="{9D8B030D-6E8A-4147-A177-3AD203B41FA5}">
                      <a16:colId xmlns:a16="http://schemas.microsoft.com/office/drawing/2014/main" val="2467207296"/>
                    </a:ext>
                  </a:extLst>
                </a:gridCol>
              </a:tblGrid>
              <a:tr h="300109">
                <a:tc>
                  <a:txBody>
                    <a:bodyPr/>
                    <a:lstStyle/>
                    <a:p>
                      <a:pPr algn="ctr"/>
                      <a:r>
                        <a:rPr sz="1000" b="1" dirty="0" err="1">
                          <a:solidFill>
                            <a:srgbClr val="FFFFFF"/>
                          </a:solidFill>
                          <a:latin typeface="メイリオ"/>
                          <a:ea typeface="メイリオ"/>
                          <a:cs typeface="メイリオ"/>
                        </a:rPr>
                        <a:t>フェーズ</a:t>
                      </a:r>
                      <a:endParaRPr sz="1000" b="1" dirty="0">
                        <a:solidFill>
                          <a:srgbClr val="FFFFFF"/>
                        </a:solidFill>
                        <a:latin typeface="メイリオ"/>
                        <a:ea typeface="メイリオ"/>
                        <a:cs typeface="メイリオ"/>
                      </a:endParaRPr>
                    </a:p>
                  </a:txBody>
                  <a:tcPr marT="37785" marB="37785">
                    <a:solidFill>
                      <a:srgbClr val="173559"/>
                    </a:solidFill>
                  </a:tcPr>
                </a:tc>
                <a:tc>
                  <a:txBody>
                    <a:bodyPr/>
                    <a:lstStyle/>
                    <a:p>
                      <a:pPr algn="ctr"/>
                      <a:r>
                        <a:rPr sz="1000" b="1" dirty="0" err="1">
                          <a:solidFill>
                            <a:srgbClr val="FFFFFF"/>
                          </a:solidFill>
                          <a:latin typeface="メイリオ"/>
                          <a:ea typeface="メイリオ"/>
                          <a:cs typeface="メイリオ"/>
                        </a:rPr>
                        <a:t>ユーザー状態・心理</a:t>
                      </a:r>
                      <a:endParaRPr sz="1000" b="1" dirty="0">
                        <a:solidFill>
                          <a:srgbClr val="FFFFFF"/>
                        </a:solidFill>
                        <a:latin typeface="メイリオ"/>
                        <a:ea typeface="メイリオ"/>
                        <a:cs typeface="メイリオ"/>
                      </a:endParaRPr>
                    </a:p>
                  </a:txBody>
                  <a:tcPr marT="37785" marB="37785">
                    <a:solidFill>
                      <a:srgbClr val="173559"/>
                    </a:solidFill>
                  </a:tcPr>
                </a:tc>
                <a:tc>
                  <a:txBody>
                    <a:bodyPr/>
                    <a:lstStyle/>
                    <a:p>
                      <a:pPr algn="ctr"/>
                      <a:r>
                        <a:rPr sz="1000" b="1" dirty="0" err="1">
                          <a:solidFill>
                            <a:srgbClr val="FFFFFF"/>
                          </a:solidFill>
                          <a:latin typeface="メイリオ"/>
                          <a:ea typeface="メイリオ"/>
                          <a:cs typeface="メイリオ"/>
                        </a:rPr>
                        <a:t>離脱・停滞の課題</a:t>
                      </a:r>
                      <a:endParaRPr sz="1000" b="1" dirty="0">
                        <a:solidFill>
                          <a:srgbClr val="FFFFFF"/>
                        </a:solidFill>
                        <a:latin typeface="メイリオ"/>
                        <a:ea typeface="メイリオ"/>
                        <a:cs typeface="メイリオ"/>
                      </a:endParaRPr>
                    </a:p>
                  </a:txBody>
                  <a:tcPr marT="37785" marB="37785">
                    <a:solidFill>
                      <a:srgbClr val="173559"/>
                    </a:solidFill>
                  </a:tcPr>
                </a:tc>
                <a:tc>
                  <a:txBody>
                    <a:bodyPr/>
                    <a:lstStyle/>
                    <a:p>
                      <a:pPr algn="ctr"/>
                      <a:r>
                        <a:rPr sz="1000" b="1" dirty="0">
                          <a:solidFill>
                            <a:srgbClr val="FFFFFF"/>
                          </a:solidFill>
                          <a:latin typeface="メイリオ"/>
                          <a:ea typeface="メイリオ"/>
                          <a:cs typeface="メイリオ"/>
                        </a:rPr>
                        <a:t>LINE </a:t>
                      </a:r>
                      <a:r>
                        <a:rPr sz="1000" b="1" dirty="0" err="1">
                          <a:solidFill>
                            <a:srgbClr val="FFFFFF"/>
                          </a:solidFill>
                          <a:latin typeface="メイリオ"/>
                          <a:ea typeface="メイリオ"/>
                          <a:cs typeface="メイリオ"/>
                        </a:rPr>
                        <a:t>OAの役割・施策</a:t>
                      </a:r>
                      <a:endParaRPr sz="1000" b="1" dirty="0">
                        <a:solidFill>
                          <a:srgbClr val="FFFFFF"/>
                        </a:solidFill>
                        <a:latin typeface="メイリオ"/>
                        <a:ea typeface="メイリオ"/>
                        <a:cs typeface="メイリオ"/>
                      </a:endParaRPr>
                    </a:p>
                  </a:txBody>
                  <a:tcPr marT="37785" marB="37785">
                    <a:solidFill>
                      <a:srgbClr val="173559"/>
                    </a:solidFill>
                  </a:tcPr>
                </a:tc>
                <a:extLst>
                  <a:ext uri="{0D108BD9-81ED-4DB2-BD59-A6C34878D82A}">
                    <a16:rowId xmlns:a16="http://schemas.microsoft.com/office/drawing/2014/main" val="2874929456"/>
                  </a:ext>
                </a:extLst>
              </a:tr>
              <a:tr h="300109">
                <a:tc>
                  <a:txBody>
                    <a:bodyPr/>
                    <a:lstStyle/>
                    <a:p>
                      <a:pPr algn="l"/>
                      <a:r>
                        <a:rPr sz="900" b="1" dirty="0">
                          <a:solidFill>
                            <a:srgbClr val="333333"/>
                          </a:solidFill>
                          <a:latin typeface="メイリオ"/>
                          <a:ea typeface="メイリオ"/>
                          <a:cs typeface="メイリオ"/>
                        </a:rPr>
                        <a:t>⑤</a:t>
                      </a:r>
                      <a:r>
                        <a:rPr sz="900" b="1" dirty="0" err="1">
                          <a:solidFill>
                            <a:srgbClr val="333333"/>
                          </a:solidFill>
                          <a:latin typeface="メイリオ"/>
                          <a:ea typeface="メイリオ"/>
                          <a:cs typeface="メイリオ"/>
                        </a:rPr>
                        <a:t>リード有効化</a:t>
                      </a:r>
                      <a:endParaRPr sz="900" b="1" dirty="0">
                        <a:solidFill>
                          <a:srgbClr val="333333"/>
                        </a:solidFill>
                        <a:latin typeface="メイリオ"/>
                        <a:ea typeface="メイリオ"/>
                        <a:cs typeface="メイリオ"/>
                      </a:endParaRPr>
                    </a:p>
                  </a:txBody>
                  <a:tcPr marT="37785" marB="37785">
                    <a:solidFill>
                      <a:srgbClr val="FFFFFF"/>
                    </a:solidFill>
                  </a:tcPr>
                </a:tc>
                <a:tc>
                  <a:txBody>
                    <a:bodyPr/>
                    <a:lstStyle/>
                    <a:p>
                      <a:pPr algn="ctr"/>
                      <a:r>
                        <a:rPr sz="900" b="0" dirty="0" err="1">
                          <a:solidFill>
                            <a:srgbClr val="333333"/>
                          </a:solidFill>
                          <a:latin typeface="メイリオ"/>
                          <a:ea typeface="メイリオ"/>
                          <a:cs typeface="メイリオ"/>
                        </a:rPr>
                        <a:t>セミナーに参加し、関心が高まっている</a:t>
                      </a:r>
                      <a:endParaRPr sz="900" b="0" dirty="0">
                        <a:solidFill>
                          <a:srgbClr val="333333"/>
                        </a:solidFill>
                        <a:latin typeface="メイリオ"/>
                        <a:ea typeface="メイリオ"/>
                        <a:cs typeface="メイリオ"/>
                      </a:endParaRPr>
                    </a:p>
                  </a:txBody>
                  <a:tcPr marT="37785" marB="37785">
                    <a:solidFill>
                      <a:srgbClr val="FFFFFF"/>
                    </a:solidFill>
                  </a:tcPr>
                </a:tc>
                <a:tc>
                  <a:txBody>
                    <a:bodyPr/>
                    <a:lstStyle/>
                    <a:p>
                      <a:pPr algn="ctr"/>
                      <a:r>
                        <a:rPr sz="900" b="0">
                          <a:solidFill>
                            <a:srgbClr val="333333"/>
                          </a:solidFill>
                          <a:latin typeface="メイリオ"/>
                          <a:ea typeface="メイリオ"/>
                          <a:cs typeface="メイリオ"/>
                        </a:rPr>
                        <a:t>参加後、入会を迷ったまま時間が経つ</a:t>
                      </a:r>
                    </a:p>
                  </a:txBody>
                  <a:tcPr marT="37785" marB="37785">
                    <a:solidFill>
                      <a:srgbClr val="FFFFFF"/>
                    </a:solidFill>
                  </a:tcPr>
                </a:tc>
                <a:tc>
                  <a:txBody>
                    <a:bodyPr/>
                    <a:lstStyle/>
                    <a:p>
                      <a:pPr algn="ctr"/>
                      <a:r>
                        <a:rPr sz="900" b="0" dirty="0" err="1">
                          <a:solidFill>
                            <a:srgbClr val="333333"/>
                          </a:solidFill>
                          <a:latin typeface="メイリオ"/>
                          <a:ea typeface="メイリオ"/>
                          <a:cs typeface="メイリオ"/>
                        </a:rPr>
                        <a:t>イベント直後にサロンの申込みフォームを案内</a:t>
                      </a:r>
                      <a:endParaRPr sz="900" b="0" dirty="0">
                        <a:solidFill>
                          <a:srgbClr val="333333"/>
                        </a:solidFill>
                        <a:latin typeface="メイリオ"/>
                        <a:ea typeface="メイリオ"/>
                        <a:cs typeface="メイリオ"/>
                      </a:endParaRPr>
                    </a:p>
                  </a:txBody>
                  <a:tcPr marT="37785" marB="37785">
                    <a:solidFill>
                      <a:srgbClr val="FFFFFF"/>
                    </a:solidFill>
                  </a:tcPr>
                </a:tc>
                <a:extLst>
                  <a:ext uri="{0D108BD9-81ED-4DB2-BD59-A6C34878D82A}">
                    <a16:rowId xmlns:a16="http://schemas.microsoft.com/office/drawing/2014/main" val="1911423498"/>
                  </a:ext>
                </a:extLst>
              </a:tr>
              <a:tr h="300109">
                <a:tc>
                  <a:txBody>
                    <a:bodyPr/>
                    <a:lstStyle/>
                    <a:p>
                      <a:pPr algn="l"/>
                      <a:r>
                        <a:rPr sz="900" b="1" dirty="0">
                          <a:solidFill>
                            <a:srgbClr val="333333"/>
                          </a:solidFill>
                          <a:latin typeface="メイリオ"/>
                          <a:ea typeface="メイリオ"/>
                          <a:cs typeface="メイリオ"/>
                        </a:rPr>
                        <a:t>⑥</a:t>
                      </a:r>
                      <a:r>
                        <a:rPr sz="900" b="1" dirty="0" err="1">
                          <a:solidFill>
                            <a:srgbClr val="333333"/>
                          </a:solidFill>
                          <a:latin typeface="メイリオ"/>
                          <a:ea typeface="メイリオ"/>
                          <a:cs typeface="メイリオ"/>
                        </a:rPr>
                        <a:t>再育成</a:t>
                      </a:r>
                      <a:endParaRPr sz="900" b="1" dirty="0">
                        <a:solidFill>
                          <a:srgbClr val="333333"/>
                        </a:solidFill>
                        <a:latin typeface="メイリオ"/>
                        <a:ea typeface="メイリオ"/>
                        <a:cs typeface="メイリオ"/>
                      </a:endParaRPr>
                    </a:p>
                  </a:txBody>
                  <a:tcPr marT="37785" marB="37785">
                    <a:solidFill>
                      <a:srgbClr val="F5F7FA"/>
                    </a:solidFill>
                  </a:tcPr>
                </a:tc>
                <a:tc>
                  <a:txBody>
                    <a:bodyPr/>
                    <a:lstStyle/>
                    <a:p>
                      <a:pPr algn="ctr"/>
                      <a:r>
                        <a:rPr sz="900" b="0" dirty="0" err="1">
                          <a:solidFill>
                            <a:srgbClr val="333333"/>
                          </a:solidFill>
                          <a:latin typeface="メイリオ"/>
                          <a:ea typeface="メイリオ"/>
                          <a:cs typeface="メイリオ"/>
                        </a:rPr>
                        <a:t>参加したが未入会／予約したが不参加</a:t>
                      </a:r>
                      <a:endParaRPr sz="900" b="0" dirty="0">
                        <a:solidFill>
                          <a:srgbClr val="333333"/>
                        </a:solidFill>
                        <a:latin typeface="メイリオ"/>
                        <a:ea typeface="メイリオ"/>
                        <a:cs typeface="メイリオ"/>
                      </a:endParaRPr>
                    </a:p>
                  </a:txBody>
                  <a:tcPr marT="37785" marB="37785">
                    <a:solidFill>
                      <a:srgbClr val="F5F7FA"/>
                    </a:solidFill>
                  </a:tcPr>
                </a:tc>
                <a:tc>
                  <a:txBody>
                    <a:bodyPr/>
                    <a:lstStyle/>
                    <a:p>
                      <a:pPr algn="ctr"/>
                      <a:r>
                        <a:rPr sz="900" b="0">
                          <a:solidFill>
                            <a:srgbClr val="333333"/>
                          </a:solidFill>
                          <a:latin typeface="メイリオ"/>
                          <a:ea typeface="メイリオ"/>
                          <a:cs typeface="メイリオ"/>
                        </a:rPr>
                        <a:t>次のイベントまで接点が無い</a:t>
                      </a:r>
                    </a:p>
                  </a:txBody>
                  <a:tcPr marT="37785" marB="37785">
                    <a:solidFill>
                      <a:srgbClr val="F5F7FA"/>
                    </a:solidFill>
                  </a:tcPr>
                </a:tc>
                <a:tc>
                  <a:txBody>
                    <a:bodyPr/>
                    <a:lstStyle/>
                    <a:p>
                      <a:pPr algn="ctr"/>
                      <a:r>
                        <a:rPr sz="900" b="0" dirty="0">
                          <a:solidFill>
                            <a:srgbClr val="333333"/>
                          </a:solidFill>
                          <a:latin typeface="メイリオ"/>
                          <a:ea typeface="メイリオ"/>
                          <a:cs typeface="メイリオ"/>
                        </a:rPr>
                        <a:t>平常期の配信（月2回）で次のイベントへ</a:t>
                      </a:r>
                      <a:endParaRPr sz="900" b="0" dirty="0">
                        <a:solidFill>
                          <a:srgbClr val="333333"/>
                        </a:solidFill>
                        <a:latin typeface="メイリオ"/>
                        <a:ea typeface="メイリオ"/>
                        <a:cs typeface="メイリオ"/>
                      </a:endParaRPr>
                    </a:p>
                  </a:txBody>
                  <a:tcPr marT="37785" marB="37785">
                    <a:solidFill>
                      <a:srgbClr val="F5F7FA"/>
                    </a:solidFill>
                  </a:tcPr>
                </a:tc>
                <a:extLst>
                  <a:ext uri="{0D108BD9-81ED-4DB2-BD59-A6C34878D82A}">
                    <a16:rowId xmlns:a16="http://schemas.microsoft.com/office/drawing/2014/main" val="2419379682"/>
                  </a:ext>
                </a:extLst>
              </a:tr>
              <a:tr h="300109">
                <a:tc>
                  <a:txBody>
                    <a:bodyPr/>
                    <a:lstStyle/>
                    <a:p>
                      <a:pPr algn="l"/>
                      <a:r>
                        <a:rPr sz="900" b="1" dirty="0">
                          <a:solidFill>
                            <a:srgbClr val="333333"/>
                          </a:solidFill>
                          <a:latin typeface="メイリオ"/>
                          <a:ea typeface="メイリオ"/>
                          <a:cs typeface="メイリオ"/>
                        </a:rPr>
                        <a:t>⑦</a:t>
                      </a:r>
                      <a:r>
                        <a:rPr sz="900" b="1" dirty="0" err="1">
                          <a:solidFill>
                            <a:srgbClr val="333333"/>
                          </a:solidFill>
                          <a:latin typeface="メイリオ"/>
                          <a:ea typeface="メイリオ"/>
                          <a:cs typeface="メイリオ"/>
                        </a:rPr>
                        <a:t>マネタイズ</a:t>
                      </a:r>
                      <a:endParaRPr sz="900" b="1" dirty="0">
                        <a:solidFill>
                          <a:srgbClr val="333333"/>
                        </a:solidFill>
                        <a:latin typeface="メイリオ"/>
                        <a:ea typeface="メイリオ"/>
                        <a:cs typeface="メイリオ"/>
                      </a:endParaRPr>
                    </a:p>
                  </a:txBody>
                  <a:tcPr marT="37785" marB="37785">
                    <a:solidFill>
                      <a:srgbClr val="FFFFFF"/>
                    </a:solidFill>
                  </a:tcPr>
                </a:tc>
                <a:tc>
                  <a:txBody>
                    <a:bodyPr/>
                    <a:lstStyle/>
                    <a:p>
                      <a:pPr algn="ctr"/>
                      <a:r>
                        <a:rPr sz="900" b="0">
                          <a:solidFill>
                            <a:srgbClr val="333333"/>
                          </a:solidFill>
                          <a:latin typeface="メイリオ"/>
                          <a:ea typeface="メイリオ"/>
                          <a:cs typeface="メイリオ"/>
                        </a:rPr>
                        <a:t>サロンの入会を検討</a:t>
                      </a:r>
                    </a:p>
                  </a:txBody>
                  <a:tcPr marT="37785" marB="37785">
                    <a:solidFill>
                      <a:srgbClr val="FFFFFF"/>
                    </a:solidFill>
                  </a:tcPr>
                </a:tc>
                <a:tc>
                  <a:txBody>
                    <a:bodyPr/>
                    <a:lstStyle/>
                    <a:p>
                      <a:pPr algn="ctr"/>
                      <a:r>
                        <a:rPr sz="900" b="0" dirty="0" err="1">
                          <a:solidFill>
                            <a:srgbClr val="333333"/>
                          </a:solidFill>
                          <a:latin typeface="メイリオ"/>
                          <a:ea typeface="メイリオ"/>
                          <a:cs typeface="メイリオ"/>
                        </a:rPr>
                        <a:t>入会後の中身・成果が見えない</a:t>
                      </a:r>
                      <a:endParaRPr sz="900" b="0" dirty="0">
                        <a:solidFill>
                          <a:srgbClr val="333333"/>
                        </a:solidFill>
                        <a:latin typeface="メイリオ"/>
                        <a:ea typeface="メイリオ"/>
                        <a:cs typeface="メイリオ"/>
                      </a:endParaRPr>
                    </a:p>
                  </a:txBody>
                  <a:tcPr marT="37785" marB="37785">
                    <a:solidFill>
                      <a:srgbClr val="FFFFFF"/>
                    </a:solidFill>
                  </a:tcPr>
                </a:tc>
                <a:tc>
                  <a:txBody>
                    <a:bodyPr/>
                    <a:lstStyle/>
                    <a:p>
                      <a:pPr algn="ctr"/>
                      <a:r>
                        <a:rPr sz="900" b="0" dirty="0" err="1">
                          <a:solidFill>
                            <a:srgbClr val="333333"/>
                          </a:solidFill>
                          <a:latin typeface="メイリオ"/>
                          <a:ea typeface="メイリオ"/>
                          <a:cs typeface="メイリオ"/>
                        </a:rPr>
                        <a:t>入会した方の声・サロンの中身を配信</a:t>
                      </a:r>
                      <a:endParaRPr sz="900" b="0" dirty="0">
                        <a:solidFill>
                          <a:srgbClr val="333333"/>
                        </a:solidFill>
                        <a:latin typeface="メイリオ"/>
                        <a:ea typeface="メイリオ"/>
                        <a:cs typeface="メイリオ"/>
                      </a:endParaRPr>
                    </a:p>
                  </a:txBody>
                  <a:tcPr marT="37785" marB="37785">
                    <a:solidFill>
                      <a:srgbClr val="FFFFFF"/>
                    </a:solidFill>
                  </a:tcPr>
                </a:tc>
                <a:extLst>
                  <a:ext uri="{0D108BD9-81ED-4DB2-BD59-A6C34878D82A}">
                    <a16:rowId xmlns:a16="http://schemas.microsoft.com/office/drawing/2014/main" val="250688175"/>
                  </a:ext>
                </a:extLst>
              </a:tr>
              <a:tr h="300109">
                <a:tc>
                  <a:txBody>
                    <a:bodyPr/>
                    <a:lstStyle/>
                    <a:p>
                      <a:pPr algn="l"/>
                      <a:r>
                        <a:rPr sz="900" b="0" dirty="0">
                          <a:solidFill>
                            <a:srgbClr val="333333"/>
                          </a:solidFill>
                          <a:latin typeface="メイリオ"/>
                          <a:ea typeface="メイリオ"/>
                          <a:cs typeface="メイリオ"/>
                        </a:rPr>
                        <a:t>⑧</a:t>
                      </a:r>
                      <a:r>
                        <a:rPr sz="900" b="0" dirty="0" err="1">
                          <a:solidFill>
                            <a:srgbClr val="333333"/>
                          </a:solidFill>
                          <a:latin typeface="メイリオ"/>
                          <a:ea typeface="メイリオ"/>
                          <a:cs typeface="メイリオ"/>
                        </a:rPr>
                        <a:t>ファン化</a:t>
                      </a:r>
                      <a:r>
                        <a:rPr sz="900" b="0" dirty="0">
                          <a:solidFill>
                            <a:srgbClr val="333333"/>
                          </a:solidFill>
                          <a:latin typeface="メイリオ"/>
                          <a:ea typeface="メイリオ"/>
                          <a:cs typeface="メイリオ"/>
                        </a:rPr>
                        <a:t>/</a:t>
                      </a:r>
                      <a:r>
                        <a:rPr sz="900" b="0" dirty="0" err="1">
                          <a:solidFill>
                            <a:srgbClr val="333333"/>
                          </a:solidFill>
                          <a:latin typeface="メイリオ"/>
                          <a:ea typeface="メイリオ"/>
                          <a:cs typeface="メイリオ"/>
                        </a:rPr>
                        <a:t>紹介</a:t>
                      </a:r>
                      <a:endParaRPr sz="900" b="0" dirty="0">
                        <a:solidFill>
                          <a:srgbClr val="333333"/>
                        </a:solidFill>
                        <a:latin typeface="メイリオ"/>
                        <a:ea typeface="メイリオ"/>
                        <a:cs typeface="メイリオ"/>
                      </a:endParaRPr>
                    </a:p>
                  </a:txBody>
                  <a:tcPr marT="37785" marB="37785">
                    <a:solidFill>
                      <a:schemeClr val="bg1">
                        <a:lumMod val="75000"/>
                      </a:schemeClr>
                    </a:solidFill>
                  </a:tcPr>
                </a:tc>
                <a:tc>
                  <a:txBody>
                    <a:bodyPr/>
                    <a:lstStyle/>
                    <a:p>
                      <a:pPr algn="ctr"/>
                      <a:r>
                        <a:rPr sz="900" b="0" dirty="0" err="1">
                          <a:solidFill>
                            <a:srgbClr val="333333"/>
                          </a:solidFill>
                          <a:latin typeface="メイリオ"/>
                          <a:ea typeface="メイリオ"/>
                          <a:cs typeface="メイリオ"/>
                        </a:rPr>
                        <a:t>サロンに入会</a:t>
                      </a:r>
                      <a:endParaRPr sz="900" b="0" dirty="0">
                        <a:solidFill>
                          <a:srgbClr val="333333"/>
                        </a:solidFill>
                        <a:latin typeface="メイリオ"/>
                        <a:ea typeface="メイリオ"/>
                        <a:cs typeface="メイリオ"/>
                      </a:endParaRPr>
                    </a:p>
                  </a:txBody>
                  <a:tcPr marT="37785" marB="37785">
                    <a:solidFill>
                      <a:schemeClr val="bg1">
                        <a:lumMod val="75000"/>
                      </a:schemeClr>
                    </a:solidFill>
                  </a:tcPr>
                </a:tc>
                <a:tc>
                  <a:txBody>
                    <a:bodyPr/>
                    <a:lstStyle/>
                    <a:p>
                      <a:pPr algn="ctr"/>
                      <a:r>
                        <a:rPr sz="900" b="0" dirty="0" err="1">
                          <a:solidFill>
                            <a:srgbClr val="333333"/>
                          </a:solidFill>
                          <a:latin typeface="メイリオ"/>
                          <a:ea typeface="メイリオ"/>
                          <a:cs typeface="メイリオ"/>
                        </a:rPr>
                        <a:t>--</a:t>
                      </a:r>
                      <a:endParaRPr sz="900" b="0" dirty="0">
                        <a:solidFill>
                          <a:srgbClr val="333333"/>
                        </a:solidFill>
                        <a:latin typeface="メイリオ"/>
                        <a:ea typeface="メイリオ"/>
                        <a:cs typeface="メイリオ"/>
                      </a:endParaRPr>
                    </a:p>
                  </a:txBody>
                  <a:tcPr marT="37785" marB="37785">
                    <a:solidFill>
                      <a:schemeClr val="bg1">
                        <a:lumMod val="75000"/>
                      </a:schemeClr>
                    </a:solidFill>
                  </a:tcPr>
                </a:tc>
                <a:tc>
                  <a:txBody>
                    <a:bodyPr/>
                    <a:lstStyle/>
                    <a:p>
                      <a:pPr algn="ctr"/>
                      <a:r>
                        <a:rPr lang="ja-JP" altLang="en-US" sz="900" b="0" dirty="0">
                          <a:solidFill>
                            <a:srgbClr val="333333"/>
                          </a:solidFill>
                          <a:latin typeface="メイリオ"/>
                          <a:ea typeface="メイリオ"/>
                          <a:cs typeface="メイリオ"/>
                        </a:rPr>
                        <a:t>次のイベントの案内・紹介</a:t>
                      </a:r>
                      <a:endParaRPr sz="900" b="0" dirty="0">
                        <a:solidFill>
                          <a:srgbClr val="333333"/>
                        </a:solidFill>
                        <a:latin typeface="メイリオ"/>
                        <a:ea typeface="メイリオ"/>
                        <a:cs typeface="メイリオ"/>
                      </a:endParaRPr>
                    </a:p>
                  </a:txBody>
                  <a:tcPr marT="37785" marB="37785">
                    <a:solidFill>
                      <a:schemeClr val="bg1">
                        <a:lumMod val="75000"/>
                      </a:schemeClr>
                    </a:solidFill>
                  </a:tcPr>
                </a:tc>
                <a:extLst>
                  <a:ext uri="{0D108BD9-81ED-4DB2-BD59-A6C34878D82A}">
                    <a16:rowId xmlns:a16="http://schemas.microsoft.com/office/drawing/2014/main" val="1510260062"/>
                  </a:ext>
                </a:extLst>
              </a:tr>
            </a:tbl>
          </a:graphicData>
        </a:graphic>
      </p:graphicFrame>
      <p:sp>
        <p:nvSpPr>
          <p:cNvPr id="19" name="テキスト ボックス 18">
            <a:extLst>
              <a:ext uri="{FF2B5EF4-FFF2-40B4-BE49-F238E27FC236}">
                <a16:creationId xmlns:a16="http://schemas.microsoft.com/office/drawing/2014/main" id="{66008B0A-0A1F-2AD8-1A0D-BF496D4F453D}"/>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8</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フェーズごとのユーザー心理・離脱課題・</a:t>
            </a: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LINE OA</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の役割を一覧化し、以降の施策設計の土台とする。</a:t>
            </a:r>
            <a:endParaRPr lang="ja-JP" altLang="ja-JP" sz="1100" dirty="0">
              <a:effectLst/>
              <a:latin typeface="メイリオ" panose="02020603050405020304" pitchFamily="18" charset="0"/>
              <a:ea typeface="メイリオ" panose="02020400000000000000" pitchFamily="18" charset="-128"/>
              <a:cs typeface="メイリオ"/>
            </a:endParaRPr>
          </a:p>
        </p:txBody>
      </p:sp>
    </p:spTree>
    <p:extLst>
      <p:ext uri="{BB962C8B-B14F-4D97-AF65-F5344CB8AC3E}">
        <p14:creationId xmlns:p14="http://schemas.microsoft.com/office/powerpoint/2010/main" val="35712723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750B4B-A121-360C-93EE-1C576646E63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9AF57BBF-9E24-A5DD-4EBD-626AA56926E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2F558483-DBE8-2E46-BAD9-E7186808666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954E864-E162-A524-FB6F-26FF53B7022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現状把握</a:t>
            </a:r>
            <a:endParaRPr sz="1600" b="1" dirty="0">
              <a:solidFill>
                <a:srgbClr val="002060"/>
              </a:solidFill>
              <a:latin typeface="メイリオ"/>
              <a:ea typeface="メイリオ"/>
              <a:cs typeface="メイリオ"/>
              <a:sym typeface="Meiryo"/>
            </a:endParaRPr>
          </a:p>
        </p:txBody>
      </p:sp>
      <p:sp>
        <p:nvSpPr>
          <p:cNvPr id="29" name="テキスト ボックス 28">
            <a:extLst>
              <a:ext uri="{FF2B5EF4-FFF2-40B4-BE49-F238E27FC236}">
                <a16:creationId xmlns:a16="http://schemas.microsoft.com/office/drawing/2014/main" id="{89944725-A636-ECEB-0A63-635C9AC8D442}"/>
              </a:ext>
            </a:extLst>
          </p:cNvPr>
          <p:cNvSpPr txBox="1"/>
          <p:nvPr/>
        </p:nvSpPr>
        <p:spPr>
          <a:xfrm>
            <a:off x="4801044" y="1595900"/>
            <a:ext cx="449248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1200" b="1" dirty="0">
                <a:solidFill>
                  <a:schemeClr val="bg1"/>
                </a:solidFill>
                <a:latin typeface="メイリオ" panose="020B0604030504040204" pitchFamily="50" charset="-128"/>
                <a:ea typeface="メイリオ" panose="020B0604030504040204" pitchFamily="50" charset="-128"/>
                <a:cs typeface="メイリオ"/>
              </a:rPr>
              <a:t>ステータス</a:t>
            </a:r>
            <a:endParaRPr lang="ja-JP" altLang="en-US" sz="1200" b="1" dirty="0">
              <a:solidFill>
                <a:schemeClr val="bg1"/>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4084F56D-F327-A822-5987-1D40EC17F819}"/>
              </a:ext>
            </a:extLst>
          </p:cNvPr>
          <p:cNvSpPr txBox="1"/>
          <p:nvPr/>
        </p:nvSpPr>
        <p:spPr>
          <a:xfrm>
            <a:off x="548883" y="1595900"/>
            <a:ext cx="4084077"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LP（セミナー申込みページ）ステータス</a:t>
            </a:r>
            <a:endParaRPr lang="ja-JP" altLang="en-US" sz="1200" dirty="0">
              <a:solidFill>
                <a:schemeClr val="bg1"/>
              </a:solidFill>
              <a:latin typeface="メイリオ"/>
              <a:ea typeface="メイリオ"/>
              <a:cs typeface="メイリオ"/>
            </a:endParaRPr>
          </a:p>
        </p:txBody>
      </p:sp>
      <p:sp>
        <p:nvSpPr>
          <p:cNvPr id="43" name="テキスト ボックス 42">
            <a:extLst>
              <a:ext uri="{FF2B5EF4-FFF2-40B4-BE49-F238E27FC236}">
                <a16:creationId xmlns:a16="http://schemas.microsoft.com/office/drawing/2014/main" id="{DF252064-AA26-BA2E-6A97-4DB09F013416}"/>
              </a:ext>
            </a:extLst>
          </p:cNvPr>
          <p:cNvSpPr txBox="1"/>
          <p:nvPr/>
        </p:nvSpPr>
        <p:spPr>
          <a:xfrm>
            <a:off x="548882" y="5699170"/>
            <a:ext cx="4084077"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広告でセミナー予約を獲得（1回 81件・CPA 26,043円）。</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dirty="0">
                <a:solidFill>
                  <a:srgbClr val="FF0000"/>
                </a:solidFill>
                <a:latin typeface="メイリオ" panose="020B0604030504040204" pitchFamily="50" charset="-128"/>
                <a:ea typeface="メイリオ" panose="020B0604030504040204" pitchFamily="50" charset="-128"/>
                <a:cs typeface="メイリオ"/>
              </a:rPr>
              <a:t>申し込まずに離れた方を、次のイベントまで案内する手段が無い。</a:t>
            </a:r>
            <a:endParaRPr lang="en-US" altLang="ja-JP" sz="1050" dirty="0">
              <a:solidFill>
                <a:srgbClr val="FF0000"/>
              </a:solidFill>
              <a:latin typeface="メイリオ" panose="020B0604030504040204" pitchFamily="50" charset="-128"/>
              <a:ea typeface="メイリオ" panose="020B0604030504040204" pitchFamily="50" charset="-128"/>
              <a:cs typeface="メイリオ"/>
            </a:endParaRPr>
          </a:p>
        </p:txBody>
      </p:sp>
      <p:sp>
        <p:nvSpPr>
          <p:cNvPr id="53" name="テキスト ボックス 52">
            <a:extLst>
              <a:ext uri="{FF2B5EF4-FFF2-40B4-BE49-F238E27FC236}">
                <a16:creationId xmlns:a16="http://schemas.microsoft.com/office/drawing/2014/main" id="{A9D49B02-3153-70EA-C9DA-F1F7EE54CE44}"/>
              </a:ext>
            </a:extLst>
          </p:cNvPr>
          <p:cNvSpPr txBox="1"/>
          <p:nvPr/>
        </p:nvSpPr>
        <p:spPr>
          <a:xfrm>
            <a:off x="4801043" y="5699170"/>
            <a:ext cx="4492485"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参加して入会していない方へ、</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dirty="0">
                <a:latin typeface="メイリオ" panose="020B0604030504040204" pitchFamily="50" charset="-128"/>
                <a:ea typeface="メイリオ" panose="020B0604030504040204" pitchFamily="50" charset="-128"/>
                <a:cs typeface="メイリオ"/>
              </a:rPr>
              <a:t>入会まで案内を続ける手段が無い状況。</a:t>
            </a:r>
            <a:endParaRPr lang="en-US" altLang="ja-JP" sz="1050" dirty="0">
              <a:latin typeface="メイリオ" panose="020B0604030504040204" pitchFamily="50" charset="-128"/>
              <a:ea typeface="メイリオ" panose="020B0604030504040204" pitchFamily="50" charset="-128"/>
              <a:cs typeface="メイリオ"/>
            </a:endParaRPr>
          </a:p>
        </p:txBody>
      </p:sp>
      <p:pic>
        <p:nvPicPr>
          <p:cNvPr id="55" name="図 54">
            <a:extLst>
              <a:ext uri="{FF2B5EF4-FFF2-40B4-BE49-F238E27FC236}">
                <a16:creationId xmlns:a16="http://schemas.microsoft.com/office/drawing/2014/main" id="{A0055F99-5527-C0F0-D670-596AA96C9DB0}"/>
              </a:ext>
            </a:extLst>
          </p:cNvPr>
          <p:cNvPicPr>
            <a:picLocks noChangeAspect="1"/>
          </p:cNvPicPr>
          <p:nvPr/>
        </p:nvPicPr>
        <p:blipFill>
          <a:blip r:embed="rId3"/>
          <a:stretch>
            <a:fillRect/>
          </a:stretch>
        </p:blipFill>
        <p:spPr>
          <a:xfrm>
            <a:off x="4801043" y="2013911"/>
            <a:ext cx="1732686" cy="3519238"/>
          </a:xfrm>
          <a:prstGeom prst="rect">
            <a:avLst/>
          </a:prstGeom>
        </p:spPr>
      </p:pic>
      <p:sp>
        <p:nvSpPr>
          <p:cNvPr id="61" name="テキスト ボックス 60">
            <a:extLst>
              <a:ext uri="{FF2B5EF4-FFF2-40B4-BE49-F238E27FC236}">
                <a16:creationId xmlns:a16="http://schemas.microsoft.com/office/drawing/2014/main" id="{B2CAE599-CD63-C0C4-6166-4C1744AE2DDD}"/>
              </a:ext>
            </a:extLst>
          </p:cNvPr>
          <p:cNvSpPr txBox="1"/>
          <p:nvPr/>
        </p:nvSpPr>
        <p:spPr>
          <a:xfrm>
            <a:off x="4891820" y="2275406"/>
            <a:ext cx="1543813" cy="2862322"/>
          </a:xfrm>
          <a:prstGeom prst="rect">
            <a:avLst/>
          </a:prstGeom>
          <a:solidFill>
            <a:schemeClr val="bg1"/>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p:txBody>
      </p:sp>
      <p:sp>
        <p:nvSpPr>
          <p:cNvPr id="65" name="テキスト ボックス 64">
            <a:extLst>
              <a:ext uri="{FF2B5EF4-FFF2-40B4-BE49-F238E27FC236}">
                <a16:creationId xmlns:a16="http://schemas.microsoft.com/office/drawing/2014/main" id="{C742707A-0EFE-C959-2429-B7F41C6A6533}"/>
              </a:ext>
            </a:extLst>
          </p:cNvPr>
          <p:cNvSpPr txBox="1"/>
          <p:nvPr/>
        </p:nvSpPr>
        <p:spPr>
          <a:xfrm>
            <a:off x="2134777" y="201391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LP UU</a:t>
            </a:r>
          </a:p>
        </p:txBody>
      </p:sp>
      <p:sp>
        <p:nvSpPr>
          <p:cNvPr id="67" name="テキスト ボックス 66">
            <a:extLst>
              <a:ext uri="{FF2B5EF4-FFF2-40B4-BE49-F238E27FC236}">
                <a16:creationId xmlns:a16="http://schemas.microsoft.com/office/drawing/2014/main" id="{F4B640EE-F406-8C64-40BB-99B4F8666757}"/>
              </a:ext>
            </a:extLst>
          </p:cNvPr>
          <p:cNvSpPr txBox="1"/>
          <p:nvPr/>
        </p:nvSpPr>
        <p:spPr>
          <a:xfrm>
            <a:off x="2137430" y="4908654"/>
            <a:ext cx="2183307" cy="3693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※1回のイベントの数値。LP UUは</a:t>
            </a:r>
            <a:endPar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endParaRPr>
          </a:p>
          <a:p>
            <a:r>
              <a:rPr lang="ja-JP" altLang="en-US" sz="900" dirty="0">
                <a:solidFill>
                  <a:schemeClr val="bg1">
                    <a:lumMod val="65000"/>
                  </a:schemeClr>
                </a:solidFill>
                <a:latin typeface="メイリオ" panose="020B0604030504040204" pitchFamily="50" charset="-128"/>
                <a:ea typeface="メイリオ" panose="020B0604030504040204" pitchFamily="50" charset="-128"/>
                <a:cs typeface="メイリオ"/>
              </a:rPr>
              <a:t>　広告のクリック数からの想定数値。</a:t>
            </a:r>
            <a:endParaRPr lang="ja-JP" altLang="en-US" sz="1400" dirty="0">
              <a:solidFill>
                <a:schemeClr val="bg1">
                  <a:lumMod val="65000"/>
                </a:schemeClr>
              </a:solidFill>
              <a:latin typeface="メイリオ"/>
              <a:ea typeface="メイリオ"/>
              <a:cs typeface="メイリオ"/>
            </a:endParaRPr>
          </a:p>
        </p:txBody>
      </p:sp>
      <p:sp>
        <p:nvSpPr>
          <p:cNvPr id="69" name="テキスト ボックス 68">
            <a:extLst>
              <a:ext uri="{FF2B5EF4-FFF2-40B4-BE49-F238E27FC236}">
                <a16:creationId xmlns:a16="http://schemas.microsoft.com/office/drawing/2014/main" id="{005CE4EC-9DAD-614D-EF21-189AC4A54B8B}"/>
              </a:ext>
            </a:extLst>
          </p:cNvPr>
          <p:cNvSpPr txBox="1"/>
          <p:nvPr/>
        </p:nvSpPr>
        <p:spPr>
          <a:xfrm>
            <a:off x="2134777" y="232993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うち広告</a:t>
            </a:r>
            <a:r>
              <a:rPr lang="en-US" altLang="ja-JP" sz="1000" dirty="0">
                <a:solidFill>
                  <a:schemeClr val="bg1"/>
                </a:solidFill>
                <a:latin typeface="メイリオ" panose="020B0604030504040204" pitchFamily="50" charset="-128"/>
                <a:ea typeface="メイリオ" panose="020B0604030504040204" pitchFamily="50" charset="-128"/>
                <a:cs typeface="メイリオ"/>
              </a:rPr>
              <a:t>UU</a:t>
            </a:r>
          </a:p>
        </p:txBody>
      </p:sp>
      <p:sp>
        <p:nvSpPr>
          <p:cNvPr id="71" name="テキスト ボックス 70">
            <a:extLst>
              <a:ext uri="{FF2B5EF4-FFF2-40B4-BE49-F238E27FC236}">
                <a16:creationId xmlns:a16="http://schemas.microsoft.com/office/drawing/2014/main" id="{E9F2E720-D964-9A60-45CD-5C6E8BAA9807}"/>
              </a:ext>
            </a:extLst>
          </p:cNvPr>
          <p:cNvSpPr txBox="1"/>
          <p:nvPr/>
        </p:nvSpPr>
        <p:spPr>
          <a:xfrm>
            <a:off x="2134777" y="264596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広告費用</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3" name="テキスト ボックス 72">
            <a:extLst>
              <a:ext uri="{FF2B5EF4-FFF2-40B4-BE49-F238E27FC236}">
                <a16:creationId xmlns:a16="http://schemas.microsoft.com/office/drawing/2014/main" id="{C569673A-D559-A164-179E-003DC44124E7}"/>
              </a:ext>
            </a:extLst>
          </p:cNvPr>
          <p:cNvSpPr txBox="1"/>
          <p:nvPr/>
        </p:nvSpPr>
        <p:spPr>
          <a:xfrm>
            <a:off x="2117317" y="455097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メイン流入元</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5" name="テキスト ボックス 74">
            <a:extLst>
              <a:ext uri="{FF2B5EF4-FFF2-40B4-BE49-F238E27FC236}">
                <a16:creationId xmlns:a16="http://schemas.microsoft.com/office/drawing/2014/main" id="{5DF15628-8396-5390-0708-F6E808EFAAFF}"/>
              </a:ext>
            </a:extLst>
          </p:cNvPr>
          <p:cNvSpPr txBox="1"/>
          <p:nvPr/>
        </p:nvSpPr>
        <p:spPr>
          <a:xfrm>
            <a:off x="2117317" y="423495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他</a:t>
            </a:r>
            <a:r>
              <a:rPr lang="en-US" altLang="ja-JP" sz="1000" dirty="0">
                <a:solidFill>
                  <a:schemeClr val="bg1"/>
                </a:solidFill>
                <a:latin typeface="メイリオ" panose="020B0604030504040204" pitchFamily="50" charset="-128"/>
                <a:ea typeface="メイリオ" panose="020B0604030504040204" pitchFamily="50" charset="-128"/>
                <a:cs typeface="メイリオ"/>
              </a:rPr>
              <a:t>SNS</a:t>
            </a:r>
          </a:p>
        </p:txBody>
      </p:sp>
      <p:sp>
        <p:nvSpPr>
          <p:cNvPr id="76" name="テキスト ボックス 75">
            <a:extLst>
              <a:ext uri="{FF2B5EF4-FFF2-40B4-BE49-F238E27FC236}">
                <a16:creationId xmlns:a16="http://schemas.microsoft.com/office/drawing/2014/main" id="{4C5B2CB3-9726-166D-3753-A503CCEF0A26}"/>
              </a:ext>
            </a:extLst>
          </p:cNvPr>
          <p:cNvSpPr txBox="1"/>
          <p:nvPr/>
        </p:nvSpPr>
        <p:spPr>
          <a:xfrm>
            <a:off x="2117317" y="3918924"/>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リード保有数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8" name="テキスト ボックス 77">
            <a:extLst>
              <a:ext uri="{FF2B5EF4-FFF2-40B4-BE49-F238E27FC236}">
                <a16:creationId xmlns:a16="http://schemas.microsoft.com/office/drawing/2014/main" id="{DC4812CB-3D04-2C5B-A271-41DFEDCAB4C8}"/>
              </a:ext>
            </a:extLst>
          </p:cNvPr>
          <p:cNvSpPr txBox="1"/>
          <p:nvPr/>
        </p:nvSpPr>
        <p:spPr>
          <a:xfrm>
            <a:off x="2134777" y="296198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CV数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0482930D-56AE-298D-A6EB-FFBDE40ECC00}"/>
              </a:ext>
            </a:extLst>
          </p:cNvPr>
          <p:cNvSpPr txBox="1"/>
          <p:nvPr/>
        </p:nvSpPr>
        <p:spPr>
          <a:xfrm>
            <a:off x="2134777" y="3278014"/>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CV</a:t>
            </a:r>
            <a:r>
              <a:rPr lang="ja-JP" altLang="en-US" sz="1000" dirty="0">
                <a:solidFill>
                  <a:schemeClr val="bg1"/>
                </a:solidFill>
                <a:latin typeface="メイリオ" panose="020B0604030504040204" pitchFamily="50" charset="-128"/>
                <a:ea typeface="メイリオ" panose="020B0604030504040204" pitchFamily="50" charset="-128"/>
                <a:cs typeface="メイリオ"/>
              </a:rPr>
              <a:t>地点</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2" name="テキスト ボックス 81">
            <a:extLst>
              <a:ext uri="{FF2B5EF4-FFF2-40B4-BE49-F238E27FC236}">
                <a16:creationId xmlns:a16="http://schemas.microsoft.com/office/drawing/2014/main" id="{3C4E2BA0-63A7-25D9-1A97-5C69DFD79C77}"/>
              </a:ext>
            </a:extLst>
          </p:cNvPr>
          <p:cNvSpPr txBox="1"/>
          <p:nvPr/>
        </p:nvSpPr>
        <p:spPr>
          <a:xfrm>
            <a:off x="2134777" y="3594040"/>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LINE</a:t>
            </a:r>
            <a:r>
              <a:rPr lang="ja-JP" altLang="en-US" sz="1000" dirty="0">
                <a:solidFill>
                  <a:schemeClr val="bg1"/>
                </a:solidFill>
                <a:latin typeface="メイリオ" panose="020B0604030504040204" pitchFamily="50" charset="-128"/>
                <a:ea typeface="メイリオ" panose="020B0604030504040204" pitchFamily="50" charset="-128"/>
                <a:cs typeface="メイリオ"/>
              </a:rPr>
              <a:t>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6" name="テキスト ボックス 85">
            <a:extLst>
              <a:ext uri="{FF2B5EF4-FFF2-40B4-BE49-F238E27FC236}">
                <a16:creationId xmlns:a16="http://schemas.microsoft.com/office/drawing/2014/main" id="{EE72F3BF-6AE9-F7CC-CE6A-1536B8F8A660}"/>
              </a:ext>
            </a:extLst>
          </p:cNvPr>
          <p:cNvSpPr txBox="1"/>
          <p:nvPr/>
        </p:nvSpPr>
        <p:spPr>
          <a:xfrm>
            <a:off x="6624506" y="2019331"/>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友だち数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8" name="テキスト ボックス 87">
            <a:extLst>
              <a:ext uri="{FF2B5EF4-FFF2-40B4-BE49-F238E27FC236}">
                <a16:creationId xmlns:a16="http://schemas.microsoft.com/office/drawing/2014/main" id="{01CD0233-3F13-52A2-0BD2-A107006D060A}"/>
              </a:ext>
            </a:extLst>
          </p:cNvPr>
          <p:cNvSpPr txBox="1"/>
          <p:nvPr/>
        </p:nvSpPr>
        <p:spPr>
          <a:xfrm>
            <a:off x="6624506" y="233535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アクティブ数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0" name="テキスト ボックス 89">
            <a:extLst>
              <a:ext uri="{FF2B5EF4-FFF2-40B4-BE49-F238E27FC236}">
                <a16:creationId xmlns:a16="http://schemas.microsoft.com/office/drawing/2014/main" id="{E7B4DAA3-597E-9850-4FC5-7AEEE3895876}"/>
              </a:ext>
            </a:extLst>
          </p:cNvPr>
          <p:cNvSpPr txBox="1"/>
          <p:nvPr/>
        </p:nvSpPr>
        <p:spPr>
          <a:xfrm>
            <a:off x="6624506" y="2651383"/>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ブロック率</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2" name="テキスト ボックス 91">
            <a:extLst>
              <a:ext uri="{FF2B5EF4-FFF2-40B4-BE49-F238E27FC236}">
                <a16:creationId xmlns:a16="http://schemas.microsoft.com/office/drawing/2014/main" id="{88937895-903D-2714-B911-64B989A6665C}"/>
              </a:ext>
            </a:extLst>
          </p:cNvPr>
          <p:cNvSpPr txBox="1"/>
          <p:nvPr/>
        </p:nvSpPr>
        <p:spPr>
          <a:xfrm>
            <a:off x="6624506" y="4863565"/>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a:t>
            </a:r>
          </a:p>
        </p:txBody>
      </p:sp>
      <p:sp>
        <p:nvSpPr>
          <p:cNvPr id="94" name="テキスト ボックス 93">
            <a:extLst>
              <a:ext uri="{FF2B5EF4-FFF2-40B4-BE49-F238E27FC236}">
                <a16:creationId xmlns:a16="http://schemas.microsoft.com/office/drawing/2014/main" id="{C4822FE9-074B-EE00-9A49-F386569EF4E6}"/>
              </a:ext>
            </a:extLst>
          </p:cNvPr>
          <p:cNvSpPr txBox="1"/>
          <p:nvPr/>
        </p:nvSpPr>
        <p:spPr>
          <a:xfrm>
            <a:off x="6624506" y="4547539"/>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ツール</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6" name="テキスト ボックス 95">
            <a:extLst>
              <a:ext uri="{FF2B5EF4-FFF2-40B4-BE49-F238E27FC236}">
                <a16:creationId xmlns:a16="http://schemas.microsoft.com/office/drawing/2014/main" id="{E79733FB-6A51-DF26-D629-AE6F7073025B}"/>
              </a:ext>
            </a:extLst>
          </p:cNvPr>
          <p:cNvSpPr txBox="1"/>
          <p:nvPr/>
        </p:nvSpPr>
        <p:spPr>
          <a:xfrm>
            <a:off x="6624506" y="4231513"/>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想定コスト</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8" name="テキスト ボックス 97">
            <a:extLst>
              <a:ext uri="{FF2B5EF4-FFF2-40B4-BE49-F238E27FC236}">
                <a16:creationId xmlns:a16="http://schemas.microsoft.com/office/drawing/2014/main" id="{0B4493A0-88F0-89E9-9CBF-885AEEBFF9AC}"/>
              </a:ext>
            </a:extLst>
          </p:cNvPr>
          <p:cNvSpPr txBox="1"/>
          <p:nvPr/>
        </p:nvSpPr>
        <p:spPr>
          <a:xfrm>
            <a:off x="6624506" y="2967409"/>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月間投稿数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0" name="テキスト ボックス 99">
            <a:extLst>
              <a:ext uri="{FF2B5EF4-FFF2-40B4-BE49-F238E27FC236}">
                <a16:creationId xmlns:a16="http://schemas.microsoft.com/office/drawing/2014/main" id="{EE73B576-3B41-B994-1FCA-9ED3BC1A3172}"/>
              </a:ext>
            </a:extLst>
          </p:cNvPr>
          <p:cNvSpPr txBox="1"/>
          <p:nvPr/>
        </p:nvSpPr>
        <p:spPr>
          <a:xfrm>
            <a:off x="6624506" y="3283435"/>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ステップ実施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2" name="テキスト ボックス 101">
            <a:extLst>
              <a:ext uri="{FF2B5EF4-FFF2-40B4-BE49-F238E27FC236}">
                <a16:creationId xmlns:a16="http://schemas.microsoft.com/office/drawing/2014/main" id="{F2C9EB15-683C-4B0A-1EE1-C4245240F17A}"/>
              </a:ext>
            </a:extLst>
          </p:cNvPr>
          <p:cNvSpPr txBox="1"/>
          <p:nvPr/>
        </p:nvSpPr>
        <p:spPr>
          <a:xfrm>
            <a:off x="6624506" y="3599461"/>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アンケート実施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4" name="テキスト ボックス 103">
            <a:extLst>
              <a:ext uri="{FF2B5EF4-FFF2-40B4-BE49-F238E27FC236}">
                <a16:creationId xmlns:a16="http://schemas.microsoft.com/office/drawing/2014/main" id="{AABDA6DE-2BAF-ADF7-0424-50D388AC01E5}"/>
              </a:ext>
            </a:extLst>
          </p:cNvPr>
          <p:cNvSpPr txBox="1"/>
          <p:nvPr/>
        </p:nvSpPr>
        <p:spPr>
          <a:xfrm>
            <a:off x="6624506" y="391548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プロフ動線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6" name="テキスト ボックス 105">
            <a:extLst>
              <a:ext uri="{FF2B5EF4-FFF2-40B4-BE49-F238E27FC236}">
                <a16:creationId xmlns:a16="http://schemas.microsoft.com/office/drawing/2014/main" id="{6C91CF70-D90C-4141-8B26-5B1DD07D7D1D}"/>
              </a:ext>
            </a:extLst>
          </p:cNvPr>
          <p:cNvSpPr txBox="1"/>
          <p:nvPr/>
        </p:nvSpPr>
        <p:spPr>
          <a:xfrm>
            <a:off x="3229084" y="201933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3,000</a:t>
            </a:r>
          </a:p>
        </p:txBody>
      </p:sp>
      <p:sp>
        <p:nvSpPr>
          <p:cNvPr id="108" name="テキスト ボックス 107">
            <a:extLst>
              <a:ext uri="{FF2B5EF4-FFF2-40B4-BE49-F238E27FC236}">
                <a16:creationId xmlns:a16="http://schemas.microsoft.com/office/drawing/2014/main" id="{2786C9AD-9375-AA46-5333-046CCBB18FE2}"/>
              </a:ext>
            </a:extLst>
          </p:cNvPr>
          <p:cNvSpPr txBox="1"/>
          <p:nvPr/>
        </p:nvSpPr>
        <p:spPr>
          <a:xfrm>
            <a:off x="3229084" y="233535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約2,760</a:t>
            </a:r>
          </a:p>
        </p:txBody>
      </p:sp>
      <p:sp>
        <p:nvSpPr>
          <p:cNvPr id="110" name="テキスト ボックス 109">
            <a:extLst>
              <a:ext uri="{FF2B5EF4-FFF2-40B4-BE49-F238E27FC236}">
                <a16:creationId xmlns:a16="http://schemas.microsoft.com/office/drawing/2014/main" id="{813069E4-69E1-66A2-90C2-822AF2276F64}"/>
              </a:ext>
            </a:extLst>
          </p:cNvPr>
          <p:cNvSpPr txBox="1"/>
          <p:nvPr/>
        </p:nvSpPr>
        <p:spPr>
          <a:xfrm>
            <a:off x="3229084" y="2651383"/>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約211万円</a:t>
            </a:r>
            <a:endParaRPr lang="en-US" altLang="ja-JP" sz="1000" b="1" dirty="0">
              <a:latin typeface="メイリオ" panose="020B0604030504040204" pitchFamily="50" charset="-128"/>
              <a:ea typeface="メイリオ" panose="020B0604030504040204" pitchFamily="50" charset="-128"/>
              <a:cs typeface="メイリオ"/>
            </a:endParaRPr>
          </a:p>
        </p:txBody>
      </p:sp>
      <p:sp>
        <p:nvSpPr>
          <p:cNvPr id="112" name="テキスト ボックス 111">
            <a:extLst>
              <a:ext uri="{FF2B5EF4-FFF2-40B4-BE49-F238E27FC236}">
                <a16:creationId xmlns:a16="http://schemas.microsoft.com/office/drawing/2014/main" id="{9864CA39-A311-2EB8-804E-4F1BBDF74575}"/>
              </a:ext>
            </a:extLst>
          </p:cNvPr>
          <p:cNvSpPr txBox="1"/>
          <p:nvPr/>
        </p:nvSpPr>
        <p:spPr>
          <a:xfrm>
            <a:off x="3211624" y="455639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広告</a:t>
            </a:r>
          </a:p>
        </p:txBody>
      </p:sp>
      <p:sp>
        <p:nvSpPr>
          <p:cNvPr id="114" name="テキスト ボックス 113">
            <a:extLst>
              <a:ext uri="{FF2B5EF4-FFF2-40B4-BE49-F238E27FC236}">
                <a16:creationId xmlns:a16="http://schemas.microsoft.com/office/drawing/2014/main" id="{EDFB7A90-75B8-B37D-145F-272542CA021E}"/>
              </a:ext>
            </a:extLst>
          </p:cNvPr>
          <p:cNvSpPr txBox="1"/>
          <p:nvPr/>
        </p:nvSpPr>
        <p:spPr>
          <a:xfrm>
            <a:off x="3211624" y="424037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a:t>
            </a:r>
          </a:p>
        </p:txBody>
      </p:sp>
      <p:sp>
        <p:nvSpPr>
          <p:cNvPr id="116" name="テキスト ボックス 115">
            <a:extLst>
              <a:ext uri="{FF2B5EF4-FFF2-40B4-BE49-F238E27FC236}">
                <a16:creationId xmlns:a16="http://schemas.microsoft.com/office/drawing/2014/main" id="{EFFD1CA4-9630-0E9F-4C5E-ED52F6370CB1}"/>
              </a:ext>
            </a:extLst>
          </p:cNvPr>
          <p:cNvSpPr txBox="1"/>
          <p:nvPr/>
        </p:nvSpPr>
        <p:spPr>
          <a:xfrm>
            <a:off x="3211624" y="3924345"/>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a:t>
            </a:r>
          </a:p>
        </p:txBody>
      </p:sp>
      <p:sp>
        <p:nvSpPr>
          <p:cNvPr id="118" name="テキスト ボックス 117">
            <a:extLst>
              <a:ext uri="{FF2B5EF4-FFF2-40B4-BE49-F238E27FC236}">
                <a16:creationId xmlns:a16="http://schemas.microsoft.com/office/drawing/2014/main" id="{550EE59A-47D1-9367-09B0-1A6F7E0AE0E3}"/>
              </a:ext>
            </a:extLst>
          </p:cNvPr>
          <p:cNvSpPr txBox="1"/>
          <p:nvPr/>
        </p:nvSpPr>
        <p:spPr>
          <a:xfrm>
            <a:off x="3229084" y="2971256"/>
            <a:ext cx="1360330" cy="246221"/>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81件</a:t>
            </a:r>
            <a:endParaRPr lang="en-US" altLang="ja-JP" sz="1000" b="1" dirty="0">
              <a:latin typeface="メイリオ" panose="020B0604030504040204" pitchFamily="50" charset="-128"/>
              <a:ea typeface="メイリオ" panose="020B0604030504040204" pitchFamily="50" charset="-128"/>
              <a:cs typeface="メイリオ"/>
            </a:endParaRPr>
          </a:p>
        </p:txBody>
      </p:sp>
      <p:sp>
        <p:nvSpPr>
          <p:cNvPr id="120" name="テキスト ボックス 119">
            <a:extLst>
              <a:ext uri="{FF2B5EF4-FFF2-40B4-BE49-F238E27FC236}">
                <a16:creationId xmlns:a16="http://schemas.microsoft.com/office/drawing/2014/main" id="{23698D91-4F04-ED85-ACCD-AD4A9AC48A1B}"/>
              </a:ext>
            </a:extLst>
          </p:cNvPr>
          <p:cNvSpPr txBox="1"/>
          <p:nvPr/>
        </p:nvSpPr>
        <p:spPr>
          <a:xfrm>
            <a:off x="3229084" y="3283435"/>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セミナー予約</a:t>
            </a:r>
            <a:endParaRPr lang="en-US" altLang="ja-JP" sz="1000" b="1" dirty="0">
              <a:solidFill>
                <a:srgbClr val="FF0000"/>
              </a:solidFill>
              <a:latin typeface="メイリオ" panose="020B0604030504040204" pitchFamily="50" charset="-128"/>
              <a:ea typeface="メイリオ" panose="020B0604030504040204" pitchFamily="50" charset="-128"/>
              <a:cs typeface="メイリオ"/>
            </a:endParaRPr>
          </a:p>
        </p:txBody>
      </p:sp>
      <p:sp>
        <p:nvSpPr>
          <p:cNvPr id="122" name="テキスト ボックス 121">
            <a:extLst>
              <a:ext uri="{FF2B5EF4-FFF2-40B4-BE49-F238E27FC236}">
                <a16:creationId xmlns:a16="http://schemas.microsoft.com/office/drawing/2014/main" id="{5E8D7F39-4F6F-4AF2-4196-C2EA1FC38898}"/>
              </a:ext>
            </a:extLst>
          </p:cNvPr>
          <p:cNvSpPr txBox="1"/>
          <p:nvPr/>
        </p:nvSpPr>
        <p:spPr>
          <a:xfrm>
            <a:off x="3229084" y="3599461"/>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rgbClr val="FF0000"/>
                </a:solidFill>
                <a:latin typeface="メイリオ" panose="020B0604030504040204" pitchFamily="50" charset="-128"/>
                <a:ea typeface="メイリオ" panose="020B0604030504040204" pitchFamily="50" charset="-128"/>
                <a:cs typeface="メイリオ"/>
              </a:rPr>
              <a:t>なし</a:t>
            </a:r>
            <a:endParaRPr lang="en-US" altLang="ja-JP" sz="1000" b="1" dirty="0">
              <a:solidFill>
                <a:srgbClr val="FF0000"/>
              </a:solidFill>
              <a:latin typeface="メイリオ" panose="020B0604030504040204" pitchFamily="50" charset="-128"/>
              <a:ea typeface="メイリオ" panose="020B0604030504040204" pitchFamily="50" charset="-128"/>
              <a:cs typeface="メイリオ"/>
            </a:endParaRPr>
          </a:p>
        </p:txBody>
      </p:sp>
      <p:sp>
        <p:nvSpPr>
          <p:cNvPr id="169" name="テキスト ボックス 168">
            <a:extLst>
              <a:ext uri="{FF2B5EF4-FFF2-40B4-BE49-F238E27FC236}">
                <a16:creationId xmlns:a16="http://schemas.microsoft.com/office/drawing/2014/main" id="{7D910DD2-60FF-DE1D-244F-84DABD92D62C}"/>
              </a:ext>
            </a:extLst>
          </p:cNvPr>
          <p:cNvSpPr txBox="1"/>
          <p:nvPr/>
        </p:nvSpPr>
        <p:spPr>
          <a:xfrm>
            <a:off x="6624505" y="5184313"/>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a:t>
            </a:r>
          </a:p>
        </p:txBody>
      </p:sp>
      <p:sp>
        <p:nvSpPr>
          <p:cNvPr id="171" name="テキスト ボックス 170">
            <a:extLst>
              <a:ext uri="{FF2B5EF4-FFF2-40B4-BE49-F238E27FC236}">
                <a16:creationId xmlns:a16="http://schemas.microsoft.com/office/drawing/2014/main" id="{C08B973B-E807-9696-E35D-A7AFE85B05D4}"/>
              </a:ext>
            </a:extLst>
          </p:cNvPr>
          <p:cNvSpPr txBox="1"/>
          <p:nvPr/>
        </p:nvSpPr>
        <p:spPr>
          <a:xfrm>
            <a:off x="7754601" y="202149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73" name="テキスト ボックス 172">
            <a:extLst>
              <a:ext uri="{FF2B5EF4-FFF2-40B4-BE49-F238E27FC236}">
                <a16:creationId xmlns:a16="http://schemas.microsoft.com/office/drawing/2014/main" id="{20E8600C-74F6-D8CE-13DD-E436F6712689}"/>
              </a:ext>
            </a:extLst>
          </p:cNvPr>
          <p:cNvSpPr txBox="1"/>
          <p:nvPr/>
        </p:nvSpPr>
        <p:spPr>
          <a:xfrm>
            <a:off x="7754601" y="233751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75" name="テキスト ボックス 174">
            <a:extLst>
              <a:ext uri="{FF2B5EF4-FFF2-40B4-BE49-F238E27FC236}">
                <a16:creationId xmlns:a16="http://schemas.microsoft.com/office/drawing/2014/main" id="{A09F1BA2-66AE-1801-55BA-97DAABCF1F8A}"/>
              </a:ext>
            </a:extLst>
          </p:cNvPr>
          <p:cNvSpPr txBox="1"/>
          <p:nvPr/>
        </p:nvSpPr>
        <p:spPr>
          <a:xfrm>
            <a:off x="7754601" y="265354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77" name="テキスト ボックス 176">
            <a:extLst>
              <a:ext uri="{FF2B5EF4-FFF2-40B4-BE49-F238E27FC236}">
                <a16:creationId xmlns:a16="http://schemas.microsoft.com/office/drawing/2014/main" id="{14E58E5E-2D77-90E6-91E8-9955CA80F448}"/>
              </a:ext>
            </a:extLst>
          </p:cNvPr>
          <p:cNvSpPr txBox="1"/>
          <p:nvPr/>
        </p:nvSpPr>
        <p:spPr>
          <a:xfrm>
            <a:off x="7754601" y="4865724"/>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cs typeface="メイリオ"/>
              </a:rPr>
              <a:t>※</a:t>
            </a:r>
          </a:p>
        </p:txBody>
      </p:sp>
      <p:sp>
        <p:nvSpPr>
          <p:cNvPr id="179" name="テキスト ボックス 178">
            <a:extLst>
              <a:ext uri="{FF2B5EF4-FFF2-40B4-BE49-F238E27FC236}">
                <a16:creationId xmlns:a16="http://schemas.microsoft.com/office/drawing/2014/main" id="{6C59D28E-FF8E-2297-95D2-CE45250AC0A3}"/>
              </a:ext>
            </a:extLst>
          </p:cNvPr>
          <p:cNvSpPr txBox="1"/>
          <p:nvPr/>
        </p:nvSpPr>
        <p:spPr>
          <a:xfrm>
            <a:off x="7754601" y="454969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81" name="テキスト ボックス 180">
            <a:extLst>
              <a:ext uri="{FF2B5EF4-FFF2-40B4-BE49-F238E27FC236}">
                <a16:creationId xmlns:a16="http://schemas.microsoft.com/office/drawing/2014/main" id="{47410AFA-018D-A9C2-B086-8AF69BAA4489}"/>
              </a:ext>
            </a:extLst>
          </p:cNvPr>
          <p:cNvSpPr txBox="1"/>
          <p:nvPr/>
        </p:nvSpPr>
        <p:spPr>
          <a:xfrm>
            <a:off x="7754601" y="423367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83" name="テキスト ボックス 182">
            <a:extLst>
              <a:ext uri="{FF2B5EF4-FFF2-40B4-BE49-F238E27FC236}">
                <a16:creationId xmlns:a16="http://schemas.microsoft.com/office/drawing/2014/main" id="{165EBB6B-ADB3-3E8C-14D2-AB834625C2FE}"/>
              </a:ext>
            </a:extLst>
          </p:cNvPr>
          <p:cNvSpPr txBox="1"/>
          <p:nvPr/>
        </p:nvSpPr>
        <p:spPr>
          <a:xfrm>
            <a:off x="7754601" y="296956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85" name="テキスト ボックス 184">
            <a:extLst>
              <a:ext uri="{FF2B5EF4-FFF2-40B4-BE49-F238E27FC236}">
                <a16:creationId xmlns:a16="http://schemas.microsoft.com/office/drawing/2014/main" id="{3A3BFABF-D395-60F7-F2BD-02619745DF45}"/>
              </a:ext>
            </a:extLst>
          </p:cNvPr>
          <p:cNvSpPr txBox="1"/>
          <p:nvPr/>
        </p:nvSpPr>
        <p:spPr>
          <a:xfrm>
            <a:off x="7754601" y="3285594"/>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87" name="テキスト ボックス 186">
            <a:extLst>
              <a:ext uri="{FF2B5EF4-FFF2-40B4-BE49-F238E27FC236}">
                <a16:creationId xmlns:a16="http://schemas.microsoft.com/office/drawing/2014/main" id="{231C25BF-5B10-E199-7FC9-7E0D6694588F}"/>
              </a:ext>
            </a:extLst>
          </p:cNvPr>
          <p:cNvSpPr txBox="1"/>
          <p:nvPr/>
        </p:nvSpPr>
        <p:spPr>
          <a:xfrm>
            <a:off x="7754601" y="360162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89" name="テキスト ボックス 188">
            <a:extLst>
              <a:ext uri="{FF2B5EF4-FFF2-40B4-BE49-F238E27FC236}">
                <a16:creationId xmlns:a16="http://schemas.microsoft.com/office/drawing/2014/main" id="{CDB65BA8-4992-8A6F-6949-F0D9E6297210}"/>
              </a:ext>
            </a:extLst>
          </p:cNvPr>
          <p:cNvSpPr txBox="1"/>
          <p:nvPr/>
        </p:nvSpPr>
        <p:spPr>
          <a:xfrm>
            <a:off x="7754601" y="391764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91" name="テキスト ボックス 190">
            <a:extLst>
              <a:ext uri="{FF2B5EF4-FFF2-40B4-BE49-F238E27FC236}">
                <a16:creationId xmlns:a16="http://schemas.microsoft.com/office/drawing/2014/main" id="{18879675-133C-898A-AB5B-286927352D72}"/>
              </a:ext>
            </a:extLst>
          </p:cNvPr>
          <p:cNvSpPr txBox="1"/>
          <p:nvPr/>
        </p:nvSpPr>
        <p:spPr>
          <a:xfrm>
            <a:off x="7754600" y="5186472"/>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cs typeface="メイリオ"/>
              </a:rPr>
              <a:t>※</a:t>
            </a:r>
          </a:p>
        </p:txBody>
      </p:sp>
      <p:sp>
        <p:nvSpPr>
          <p:cNvPr id="192" name="差し込み LPの画面"/>
          <p:cNvSpPr/>
          <p:nvPr/>
        </p:nvSpPr>
        <p:spPr>
          <a:xfrm>
            <a:off x="507335" y="2008789"/>
            <a:ext cx="1557206" cy="3162823"/>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LPの画面</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23784845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2D860-D20C-DFFA-89EA-A46B82A5DB11}"/>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D30ACD85-15EC-FC5A-B63C-42D277C5A6A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1DC17654-F65C-A9D9-21EB-8D05BBE86AC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04DC6DE6-9A8D-0047-2FAE-67250D9E5F4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ニーズ調査（シーズナリティ）</a:t>
            </a:r>
            <a:endParaRPr sz="1600" b="1" dirty="0">
              <a:solidFill>
                <a:srgbClr val="002060"/>
              </a:solidFill>
              <a:latin typeface="メイリオ"/>
              <a:ea typeface="メイリオ"/>
              <a:cs typeface="メイリオ"/>
              <a:sym typeface="Meiryo"/>
            </a:endParaRPr>
          </a:p>
        </p:txBody>
      </p:sp>
      <p:sp>
        <p:nvSpPr>
          <p:cNvPr id="8" name="テキスト ボックス 7">
            <a:extLst>
              <a:ext uri="{FF2B5EF4-FFF2-40B4-BE49-F238E27FC236}">
                <a16:creationId xmlns:a16="http://schemas.microsoft.com/office/drawing/2014/main" id="{AB3D5176-7A86-8B1D-B537-7482C61F2830}"/>
              </a:ext>
            </a:extLst>
          </p:cNvPr>
          <p:cNvSpPr txBox="1"/>
          <p:nvPr/>
        </p:nvSpPr>
        <p:spPr>
          <a:xfrm>
            <a:off x="8133806" y="5351907"/>
            <a:ext cx="1458360" cy="2308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※Google</a:t>
            </a:r>
            <a:r>
              <a:rPr lang="ja-JP" altLang="en-US" sz="900" dirty="0">
                <a:solidFill>
                  <a:schemeClr val="bg1">
                    <a:lumMod val="65000"/>
                  </a:schemeClr>
                </a:solidFill>
                <a:latin typeface="メイリオ" panose="020B0604030504040204" pitchFamily="50" charset="-128"/>
                <a:ea typeface="メイリオ" panose="020B0604030504040204" pitchFamily="50" charset="-128"/>
                <a:cs typeface="メイリオ"/>
              </a:rPr>
              <a:t>トレンドより</a:t>
            </a:r>
            <a:endParaRPr lang="ja-JP" altLang="en-US" sz="1400" dirty="0">
              <a:solidFill>
                <a:schemeClr val="bg1">
                  <a:lumMod val="65000"/>
                </a:schemeClr>
              </a:solidFill>
              <a:latin typeface="メイリオ"/>
              <a:ea typeface="メイリオ"/>
              <a:cs typeface="メイリオ"/>
            </a:endParaRPr>
          </a:p>
        </p:txBody>
      </p:sp>
      <p:sp>
        <p:nvSpPr>
          <p:cNvPr id="5" name="テキスト ボックス 4">
            <a:extLst>
              <a:ext uri="{FF2B5EF4-FFF2-40B4-BE49-F238E27FC236}">
                <a16:creationId xmlns:a16="http://schemas.microsoft.com/office/drawing/2014/main" id="{922D6823-FF2A-C1F7-974B-0F8BF7DDC41B}"/>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検索ボリュームの季節変動を把握し、繁忙期に先行した配信設計の根拠に。</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46" name="差し込み Googleトレンドの画像（保険営業の方の検索の季節変動）"/>
          <p:cNvSpPr/>
          <p:nvPr/>
        </p:nvSpPr>
        <p:spPr>
          <a:xfrm>
            <a:off x="220588" y="1688676"/>
            <a:ext cx="9464824" cy="3461599"/>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Googleトレンドの画像（保険営業の方の検索の季節変動）</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42908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E4664-0791-AB23-9ACF-A79FA4D2CD1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98A5F44-4DAD-79B8-2CEA-267E86DC8605}"/>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198BB5E6-49E8-E304-2236-96ED9AF800A4}"/>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88303E2C-F4EF-F0AA-1EF9-E0A01EDFC0ED}"/>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FF0000"/>
                </a:solidFill>
                <a:latin typeface="メイリオ"/>
                <a:ea typeface="メイリオ"/>
                <a:cs typeface="メイリオ"/>
                <a:sym typeface="Meiryo"/>
              </a:rPr>
              <a:t>※LINE</a:t>
            </a:r>
            <a:r>
              <a:rPr lang="ja-JP" altLang="en-US" sz="1000" dirty="0">
                <a:solidFill>
                  <a:srgbClr val="FF0000"/>
                </a:solidFill>
                <a:latin typeface="メイリオ"/>
                <a:ea typeface="メイリオ"/>
                <a:cs typeface="メイリオ"/>
                <a:sym typeface="Meiryo"/>
              </a:rPr>
              <a:t>ヤフーの媒体情報を参考に</a:t>
            </a:r>
            <a:endParaRPr lang="ja-JP" altLang="en-US" sz="1050" dirty="0">
              <a:solidFill>
                <a:srgbClr val="FF0000"/>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513D5E39-C6C9-D6C0-5819-C587AA1C50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21" name="テキスト ボックス 20">
            <a:extLst>
              <a:ext uri="{FF2B5EF4-FFF2-40B4-BE49-F238E27FC236}">
                <a16:creationId xmlns:a16="http://schemas.microsoft.com/office/drawing/2014/main" id="{160D2D1C-9CD0-28D0-3138-8C01E5B887B5}"/>
              </a:ext>
            </a:extLst>
          </p:cNvPr>
          <p:cNvSpPr txBox="1"/>
          <p:nvPr/>
        </p:nvSpPr>
        <p:spPr>
          <a:xfrm>
            <a:off x="2151017" y="1491943"/>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22" name="正方形/長方形 21">
            <a:extLst>
              <a:ext uri="{FF2B5EF4-FFF2-40B4-BE49-F238E27FC236}">
                <a16:creationId xmlns:a16="http://schemas.microsoft.com/office/drawing/2014/main" id="{13B630D1-4FF6-F9C6-E36E-F82FF8BB2858}"/>
              </a:ext>
            </a:extLst>
          </p:cNvPr>
          <p:cNvSpPr/>
          <p:nvPr/>
        </p:nvSpPr>
        <p:spPr>
          <a:xfrm>
            <a:off x="920090" y="1468481"/>
            <a:ext cx="1397216"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キーワード</a:t>
            </a:r>
          </a:p>
        </p:txBody>
      </p:sp>
      <p:sp>
        <p:nvSpPr>
          <p:cNvPr id="11" name="正方形/長方形 10">
            <a:extLst>
              <a:ext uri="{FF2B5EF4-FFF2-40B4-BE49-F238E27FC236}">
                <a16:creationId xmlns:a16="http://schemas.microsoft.com/office/drawing/2014/main" id="{3A99C536-4301-F569-61F1-54067CA4AE75}"/>
              </a:ext>
            </a:extLst>
          </p:cNvPr>
          <p:cNvSpPr/>
          <p:nvPr/>
        </p:nvSpPr>
        <p:spPr>
          <a:xfrm>
            <a:off x="1090344"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前</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3" name="正方形/長方形 12">
            <a:extLst>
              <a:ext uri="{FF2B5EF4-FFF2-40B4-BE49-F238E27FC236}">
                <a16:creationId xmlns:a16="http://schemas.microsoft.com/office/drawing/2014/main" id="{5B08C2C6-BF88-EDFE-9307-526D7AB38942}"/>
              </a:ext>
            </a:extLst>
          </p:cNvPr>
          <p:cNvSpPr/>
          <p:nvPr/>
        </p:nvSpPr>
        <p:spPr>
          <a:xfrm>
            <a:off x="5109349"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後</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cxnSp>
        <p:nvCxnSpPr>
          <p:cNvPr id="15" name="直線矢印コネクタ 14">
            <a:extLst>
              <a:ext uri="{FF2B5EF4-FFF2-40B4-BE49-F238E27FC236}">
                <a16:creationId xmlns:a16="http://schemas.microsoft.com/office/drawing/2014/main" id="{56C657A1-149E-41EE-730E-3EAE4C3BA201}"/>
              </a:ext>
            </a:extLst>
          </p:cNvPr>
          <p:cNvCxnSpPr>
            <a:cxnSpLocks/>
          </p:cNvCxnSpPr>
          <p:nvPr/>
        </p:nvCxnSpPr>
        <p:spPr>
          <a:xfrm flipV="1">
            <a:off x="807709" y="170990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E4FE3AE9-35AF-85CD-C2CC-E0CD16851957}"/>
              </a:ext>
            </a:extLst>
          </p:cNvPr>
          <p:cNvSpPr txBox="1"/>
          <p:nvPr/>
        </p:nvSpPr>
        <p:spPr>
          <a:xfrm>
            <a:off x="736682" y="1847126"/>
            <a:ext cx="1079863" cy="253916"/>
          </a:xfrm>
          <a:prstGeom prst="rect">
            <a:avLst/>
          </a:prstGeom>
          <a:noFill/>
        </p:spPr>
        <p:txBody>
          <a:bodyPr wrap="square">
            <a:spAutoFit/>
          </a:bodyPr>
          <a:lstStyle/>
          <a:p>
            <a:r>
              <a:rPr lang="ja-JP" altLang="en-US" sz="1050" b="1" dirty="0">
                <a:solidFill>
                  <a:srgbClr val="FF0000"/>
                </a:solidFill>
                <a:latin typeface="メイリオ" panose="020B0604030504040204" pitchFamily="50" charset="-128"/>
                <a:ea typeface="メイリオ" panose="020B0604030504040204" pitchFamily="50" charset="-128"/>
                <a:cs typeface="メイリオ"/>
              </a:rPr>
              <a:t>検索</a:t>
            </a:r>
            <a:r>
              <a:rPr lang="en-US" altLang="ja-JP" sz="1050" b="1" dirty="0">
                <a:solidFill>
                  <a:srgbClr val="FF0000"/>
                </a:solidFill>
                <a:latin typeface="メイリオ" panose="020B0604030504040204" pitchFamily="50" charset="-128"/>
                <a:ea typeface="メイリオ" panose="020B0604030504040204" pitchFamily="50" charset="-128"/>
                <a:cs typeface="メイリオ"/>
              </a:rPr>
              <a:t>Vol:</a:t>
            </a:r>
            <a:r>
              <a:rPr lang="ja-JP" altLang="en-US" sz="1050" b="1" dirty="0">
                <a:solidFill>
                  <a:srgbClr val="FF0000"/>
                </a:solidFill>
                <a:latin typeface="メイリオ" panose="020B0604030504040204" pitchFamily="50" charset="-128"/>
                <a:ea typeface="メイリオ" panose="020B0604030504040204" pitchFamily="50" charset="-128"/>
                <a:cs typeface="メイリオ"/>
              </a:rPr>
              <a:t>多</a:t>
            </a:r>
            <a:endParaRPr kumimoji="1" lang="ja-JP" altLang="en-US" sz="1050" b="1" dirty="0">
              <a:solidFill>
                <a:srgbClr val="FF0000"/>
              </a:solidFill>
              <a:latin typeface="メイリオ" panose="020B0604030504040204" pitchFamily="50" charset="-128"/>
              <a:ea typeface="メイリオ" panose="020B0604030504040204" pitchFamily="50" charset="-128"/>
              <a:cs typeface="メイリオ"/>
            </a:endParaRPr>
          </a:p>
        </p:txBody>
      </p:sp>
      <p:sp>
        <p:nvSpPr>
          <p:cNvPr id="7" name="正方形/長方形 6">
            <a:extLst>
              <a:ext uri="{FF2B5EF4-FFF2-40B4-BE49-F238E27FC236}">
                <a16:creationId xmlns:a16="http://schemas.microsoft.com/office/drawing/2014/main" id="{7F3169DD-B4D2-C3B3-E898-796DA8E0ABBE}"/>
              </a:ext>
            </a:extLst>
          </p:cNvPr>
          <p:cNvSpPr/>
          <p:nvPr/>
        </p:nvSpPr>
        <p:spPr>
          <a:xfrm>
            <a:off x="5182016" y="1536888"/>
            <a:ext cx="1079863"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9" name="図 8" descr="LINE公式アカウントのロゴを活用しよう！注意点やNG例も合わせて解説 - LINEマーケティングツールFANVO">
            <a:extLst>
              <a:ext uri="{FF2B5EF4-FFF2-40B4-BE49-F238E27FC236}">
                <a16:creationId xmlns:a16="http://schemas.microsoft.com/office/drawing/2014/main" id="{7499D9A1-145E-E266-83BC-3570D5C46C13}"/>
              </a:ext>
            </a:extLst>
          </p:cNvPr>
          <p:cNvPicPr>
            <a:picLocks noChangeAspect="1"/>
          </p:cNvPicPr>
          <p:nvPr/>
        </p:nvPicPr>
        <p:blipFill>
          <a:blip r:embed="rId4"/>
          <a:stretch>
            <a:fillRect/>
          </a:stretch>
        </p:blipFill>
        <p:spPr>
          <a:xfrm>
            <a:off x="4972346" y="1415224"/>
            <a:ext cx="419340" cy="418460"/>
          </a:xfrm>
          <a:prstGeom prst="rect">
            <a:avLst/>
          </a:prstGeom>
        </p:spPr>
      </p:pic>
      <p:sp>
        <p:nvSpPr>
          <p:cNvPr id="12" name="テキスト ボックス 11">
            <a:extLst>
              <a:ext uri="{FF2B5EF4-FFF2-40B4-BE49-F238E27FC236}">
                <a16:creationId xmlns:a16="http://schemas.microsoft.com/office/drawing/2014/main" id="{D510765C-D91E-3EF4-4A1A-9BF832DC8A4C}"/>
              </a:ext>
            </a:extLst>
          </p:cNvPr>
          <p:cNvSpPr txBox="1"/>
          <p:nvPr/>
        </p:nvSpPr>
        <p:spPr>
          <a:xfrm>
            <a:off x="5301604" y="1579097"/>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8" name="テキスト ボックス 7">
            <a:extLst>
              <a:ext uri="{FF2B5EF4-FFF2-40B4-BE49-F238E27FC236}">
                <a16:creationId xmlns:a16="http://schemas.microsoft.com/office/drawing/2014/main" id="{2D224931-6ECA-9763-63E9-7DD9B080E440}"/>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短期のステップ配信の配信コンテンツ作成に利用。</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10" name="四角形: 角を丸くする 9">
            <a:extLst>
              <a:ext uri="{FF2B5EF4-FFF2-40B4-BE49-F238E27FC236}">
                <a16:creationId xmlns:a16="http://schemas.microsoft.com/office/drawing/2014/main" id="{F6D71787-DACF-D927-0AC0-7D5E99A64F29}"/>
              </a:ext>
            </a:extLst>
          </p:cNvPr>
          <p:cNvSpPr/>
          <p:nvPr/>
        </p:nvSpPr>
        <p:spPr>
          <a:xfrm>
            <a:off x="8482149" y="1685711"/>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ブランド名</a:t>
            </a:r>
          </a:p>
        </p:txBody>
      </p:sp>
      <p:sp>
        <p:nvSpPr>
          <p:cNvPr id="19" name="四角形: 角を丸くする 18">
            <a:extLst>
              <a:ext uri="{FF2B5EF4-FFF2-40B4-BE49-F238E27FC236}">
                <a16:creationId xmlns:a16="http://schemas.microsoft.com/office/drawing/2014/main" id="{FCA279C4-C296-61EC-C9D3-DAE41B033D78}"/>
              </a:ext>
            </a:extLst>
          </p:cNvPr>
          <p:cNvSpPr/>
          <p:nvPr/>
        </p:nvSpPr>
        <p:spPr>
          <a:xfrm>
            <a:off x="8482149" y="1980746"/>
            <a:ext cx="1185818" cy="253916"/>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solidFill>
                <a:latin typeface="メイリオ" panose="020B0604030504040204" pitchFamily="50" charset="-128"/>
                <a:ea typeface="メイリオ" panose="020B0604030504040204" pitchFamily="50" charset="-128"/>
                <a:cs typeface="メイリオ"/>
              </a:rPr>
              <a:t>お金周り</a:t>
            </a:r>
          </a:p>
        </p:txBody>
      </p:sp>
      <p:sp>
        <p:nvSpPr>
          <p:cNvPr id="25" name="四角形: 角を丸くする 24">
            <a:extLst>
              <a:ext uri="{FF2B5EF4-FFF2-40B4-BE49-F238E27FC236}">
                <a16:creationId xmlns:a16="http://schemas.microsoft.com/office/drawing/2014/main" id="{F1163350-C485-703A-6504-08D7D75EE71A}"/>
              </a:ext>
            </a:extLst>
          </p:cNvPr>
          <p:cNvSpPr/>
          <p:nvPr/>
        </p:nvSpPr>
        <p:spPr>
          <a:xfrm>
            <a:off x="8482149" y="2269869"/>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ライフイベント</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7" name="四角形: 角を丸くする 26">
            <a:extLst>
              <a:ext uri="{FF2B5EF4-FFF2-40B4-BE49-F238E27FC236}">
                <a16:creationId xmlns:a16="http://schemas.microsoft.com/office/drawing/2014/main" id="{575B5195-33B9-6FF0-63AF-D3B0017CCCC2}"/>
              </a:ext>
            </a:extLst>
          </p:cNvPr>
          <p:cNvSpPr/>
          <p:nvPr/>
        </p:nvSpPr>
        <p:spPr>
          <a:xfrm>
            <a:off x="8482149" y="2564904"/>
            <a:ext cx="1185818" cy="253916"/>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46" name="差し込み 前後検索の画像"/>
          <p:cNvSpPr/>
          <p:nvPr/>
        </p:nvSpPr>
        <p:spPr>
          <a:xfrm>
            <a:off x="1312605" y="1893604"/>
            <a:ext cx="7223640" cy="4213792"/>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前後検索の画像</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438123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33BA2-CF45-0DF9-CBDD-A5830E2CF0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F42532B-D77B-6AC3-A328-689E2FC45F9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5D33EAB5-3104-05B5-E501-BBD7DE6AC9F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D6F2AE0B-CB02-A8CD-4FB4-B3F45A0A747C}"/>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FF0000"/>
                </a:solidFill>
                <a:latin typeface="メイリオ"/>
                <a:ea typeface="メイリオ"/>
                <a:cs typeface="メイリオ"/>
                <a:sym typeface="Meiryo"/>
              </a:rPr>
              <a:t>※LINE</a:t>
            </a:r>
            <a:r>
              <a:rPr lang="ja-JP" altLang="en-US" sz="1000" dirty="0">
                <a:solidFill>
                  <a:srgbClr val="FF0000"/>
                </a:solidFill>
                <a:latin typeface="メイリオ"/>
                <a:ea typeface="メイリオ"/>
                <a:cs typeface="メイリオ"/>
                <a:sym typeface="Meiryo"/>
              </a:rPr>
              <a:t>ヤフーの媒体情報を参考に</a:t>
            </a:r>
            <a:endParaRPr lang="ja-JP" altLang="en-US" sz="1050" dirty="0">
              <a:solidFill>
                <a:srgbClr val="FF0000"/>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BA92233F-6BFD-0359-EEDA-BE51C1C483C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4" name="直線矢印コネクタ 13">
            <a:extLst>
              <a:ext uri="{FF2B5EF4-FFF2-40B4-BE49-F238E27FC236}">
                <a16:creationId xmlns:a16="http://schemas.microsoft.com/office/drawing/2014/main" id="{8F8E1B34-1AC7-E92D-4681-D5F6A71CFBF4}"/>
              </a:ext>
            </a:extLst>
          </p:cNvPr>
          <p:cNvCxnSpPr>
            <a:cxnSpLocks/>
          </p:cNvCxnSpPr>
          <p:nvPr/>
        </p:nvCxnSpPr>
        <p:spPr>
          <a:xfrm flipV="1">
            <a:off x="807709" y="170990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79E5C2B4-5B91-6669-DA9D-9C6100822D80}"/>
              </a:ext>
            </a:extLst>
          </p:cNvPr>
          <p:cNvSpPr txBox="1"/>
          <p:nvPr/>
        </p:nvSpPr>
        <p:spPr>
          <a:xfrm>
            <a:off x="2151017" y="1491943"/>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22" name="正方形/長方形 21">
            <a:extLst>
              <a:ext uri="{FF2B5EF4-FFF2-40B4-BE49-F238E27FC236}">
                <a16:creationId xmlns:a16="http://schemas.microsoft.com/office/drawing/2014/main" id="{F784DCA2-0206-476A-CC2D-15EA1A5F9515}"/>
              </a:ext>
            </a:extLst>
          </p:cNvPr>
          <p:cNvSpPr/>
          <p:nvPr/>
        </p:nvSpPr>
        <p:spPr>
          <a:xfrm>
            <a:off x="920090" y="1468481"/>
            <a:ext cx="1397216"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キーワード</a:t>
            </a:r>
          </a:p>
        </p:txBody>
      </p:sp>
      <p:sp>
        <p:nvSpPr>
          <p:cNvPr id="13" name="正方形/長方形 12">
            <a:extLst>
              <a:ext uri="{FF2B5EF4-FFF2-40B4-BE49-F238E27FC236}">
                <a16:creationId xmlns:a16="http://schemas.microsoft.com/office/drawing/2014/main" id="{61C146B2-09C1-EAF2-AA90-D6921017547B}"/>
              </a:ext>
            </a:extLst>
          </p:cNvPr>
          <p:cNvSpPr/>
          <p:nvPr/>
        </p:nvSpPr>
        <p:spPr>
          <a:xfrm>
            <a:off x="1090344"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前</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6" name="正方形/長方形 15">
            <a:extLst>
              <a:ext uri="{FF2B5EF4-FFF2-40B4-BE49-F238E27FC236}">
                <a16:creationId xmlns:a16="http://schemas.microsoft.com/office/drawing/2014/main" id="{59D3B460-577D-4DA5-3627-A3FE3F8ED9DC}"/>
              </a:ext>
            </a:extLst>
          </p:cNvPr>
          <p:cNvSpPr/>
          <p:nvPr/>
        </p:nvSpPr>
        <p:spPr>
          <a:xfrm>
            <a:off x="5109349"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後</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8" name="テキスト ボックス 17">
            <a:extLst>
              <a:ext uri="{FF2B5EF4-FFF2-40B4-BE49-F238E27FC236}">
                <a16:creationId xmlns:a16="http://schemas.microsoft.com/office/drawing/2014/main" id="{D8D61203-B4E8-EA26-11E7-042F4CC7854D}"/>
              </a:ext>
            </a:extLst>
          </p:cNvPr>
          <p:cNvSpPr txBox="1"/>
          <p:nvPr/>
        </p:nvSpPr>
        <p:spPr>
          <a:xfrm>
            <a:off x="736682" y="1847126"/>
            <a:ext cx="1079863" cy="253916"/>
          </a:xfrm>
          <a:prstGeom prst="rect">
            <a:avLst/>
          </a:prstGeom>
          <a:noFill/>
        </p:spPr>
        <p:txBody>
          <a:bodyPr wrap="square">
            <a:spAutoFit/>
          </a:bodyPr>
          <a:lstStyle/>
          <a:p>
            <a:r>
              <a:rPr lang="ja-JP" altLang="en-US" sz="1050" b="1" dirty="0">
                <a:solidFill>
                  <a:srgbClr val="FF0000"/>
                </a:solidFill>
                <a:latin typeface="メイリオ" panose="020B0604030504040204" pitchFamily="50" charset="-128"/>
                <a:ea typeface="メイリオ" panose="020B0604030504040204" pitchFamily="50" charset="-128"/>
                <a:cs typeface="メイリオ"/>
              </a:rPr>
              <a:t>検索</a:t>
            </a:r>
            <a:r>
              <a:rPr lang="en-US" altLang="ja-JP" sz="1050" b="1" dirty="0">
                <a:solidFill>
                  <a:srgbClr val="FF0000"/>
                </a:solidFill>
                <a:latin typeface="メイリオ" panose="020B0604030504040204" pitchFamily="50" charset="-128"/>
                <a:ea typeface="メイリオ" panose="020B0604030504040204" pitchFamily="50" charset="-128"/>
                <a:cs typeface="メイリオ"/>
              </a:rPr>
              <a:t>Vol:</a:t>
            </a:r>
            <a:r>
              <a:rPr lang="ja-JP" altLang="en-US" sz="1050" b="1" dirty="0">
                <a:solidFill>
                  <a:srgbClr val="FF0000"/>
                </a:solidFill>
                <a:latin typeface="メイリオ" panose="020B0604030504040204" pitchFamily="50" charset="-128"/>
                <a:ea typeface="メイリオ" panose="020B0604030504040204" pitchFamily="50" charset="-128"/>
                <a:cs typeface="メイリオ"/>
              </a:rPr>
              <a:t>多</a:t>
            </a:r>
            <a:endParaRPr kumimoji="1" lang="ja-JP" altLang="en-US" sz="1050" b="1" dirty="0">
              <a:solidFill>
                <a:srgbClr val="FF0000"/>
              </a:solidFill>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63FD9650-CF2E-C04B-71DA-C5C32192D256}"/>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短期のステップ配信の配信コンテンツ作成に利用。</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11" name="四角形: 角を丸くする 10">
            <a:extLst>
              <a:ext uri="{FF2B5EF4-FFF2-40B4-BE49-F238E27FC236}">
                <a16:creationId xmlns:a16="http://schemas.microsoft.com/office/drawing/2014/main" id="{9698CAAA-C7D0-DE8C-1937-135259153DF5}"/>
              </a:ext>
            </a:extLst>
          </p:cNvPr>
          <p:cNvSpPr/>
          <p:nvPr/>
        </p:nvSpPr>
        <p:spPr>
          <a:xfrm>
            <a:off x="8482149" y="1685711"/>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ブランド名</a:t>
            </a:r>
          </a:p>
        </p:txBody>
      </p:sp>
      <p:sp>
        <p:nvSpPr>
          <p:cNvPr id="15" name="四角形: 角を丸くする 14">
            <a:extLst>
              <a:ext uri="{FF2B5EF4-FFF2-40B4-BE49-F238E27FC236}">
                <a16:creationId xmlns:a16="http://schemas.microsoft.com/office/drawing/2014/main" id="{D484CC40-8F93-841D-9C65-D77C9FDB28E9}"/>
              </a:ext>
            </a:extLst>
          </p:cNvPr>
          <p:cNvSpPr/>
          <p:nvPr/>
        </p:nvSpPr>
        <p:spPr>
          <a:xfrm>
            <a:off x="8482149" y="1980746"/>
            <a:ext cx="1185818" cy="253916"/>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お金周り</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9" name="四角形: 角を丸くする 18">
            <a:extLst>
              <a:ext uri="{FF2B5EF4-FFF2-40B4-BE49-F238E27FC236}">
                <a16:creationId xmlns:a16="http://schemas.microsoft.com/office/drawing/2014/main" id="{14477AFE-E2AB-A03A-8102-B7565C7E8967}"/>
              </a:ext>
            </a:extLst>
          </p:cNvPr>
          <p:cNvSpPr/>
          <p:nvPr/>
        </p:nvSpPr>
        <p:spPr>
          <a:xfrm>
            <a:off x="8482149" y="2269869"/>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ライフイベント</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3" name="四角形: 角を丸くする 22">
            <a:extLst>
              <a:ext uri="{FF2B5EF4-FFF2-40B4-BE49-F238E27FC236}">
                <a16:creationId xmlns:a16="http://schemas.microsoft.com/office/drawing/2014/main" id="{9E775032-FD1B-EA57-EF1F-2E939977DBF0}"/>
              </a:ext>
            </a:extLst>
          </p:cNvPr>
          <p:cNvSpPr/>
          <p:nvPr/>
        </p:nvSpPr>
        <p:spPr>
          <a:xfrm>
            <a:off x="8482149" y="2564904"/>
            <a:ext cx="1185818" cy="253916"/>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34" name="正方形/長方形 133">
            <a:extLst>
              <a:ext uri="{FF2B5EF4-FFF2-40B4-BE49-F238E27FC236}">
                <a16:creationId xmlns:a16="http://schemas.microsoft.com/office/drawing/2014/main" id="{E1DBE2B9-1B8A-7D74-6827-B277538B2E74}"/>
              </a:ext>
            </a:extLst>
          </p:cNvPr>
          <p:cNvSpPr/>
          <p:nvPr/>
        </p:nvSpPr>
        <p:spPr>
          <a:xfrm>
            <a:off x="5173309" y="1536888"/>
            <a:ext cx="1079863"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136" name="図 135" descr="LINE公式アカウントのロゴを活用しよう！注意点やNG例も合わせて解説 - LINEマーケティングツールFANVO">
            <a:extLst>
              <a:ext uri="{FF2B5EF4-FFF2-40B4-BE49-F238E27FC236}">
                <a16:creationId xmlns:a16="http://schemas.microsoft.com/office/drawing/2014/main" id="{7292D2B2-006C-20F1-069A-EA07DB9040FF}"/>
              </a:ext>
            </a:extLst>
          </p:cNvPr>
          <p:cNvPicPr>
            <a:picLocks noChangeAspect="1"/>
          </p:cNvPicPr>
          <p:nvPr/>
        </p:nvPicPr>
        <p:blipFill>
          <a:blip r:embed="rId4"/>
          <a:stretch>
            <a:fillRect/>
          </a:stretch>
        </p:blipFill>
        <p:spPr>
          <a:xfrm>
            <a:off x="4963639" y="1415224"/>
            <a:ext cx="419340" cy="418460"/>
          </a:xfrm>
          <a:prstGeom prst="rect">
            <a:avLst/>
          </a:prstGeom>
        </p:spPr>
      </p:pic>
      <p:sp>
        <p:nvSpPr>
          <p:cNvPr id="138" name="テキスト ボックス 137">
            <a:extLst>
              <a:ext uri="{FF2B5EF4-FFF2-40B4-BE49-F238E27FC236}">
                <a16:creationId xmlns:a16="http://schemas.microsoft.com/office/drawing/2014/main" id="{3825EFF3-DD91-80CA-5C34-6956639E0AF6}"/>
              </a:ext>
            </a:extLst>
          </p:cNvPr>
          <p:cNvSpPr txBox="1"/>
          <p:nvPr/>
        </p:nvSpPr>
        <p:spPr>
          <a:xfrm>
            <a:off x="5319022" y="1579097"/>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139" name="差し込み 前後検索の画像"/>
          <p:cNvSpPr/>
          <p:nvPr/>
        </p:nvSpPr>
        <p:spPr>
          <a:xfrm>
            <a:off x="1386465" y="1895415"/>
            <a:ext cx="7152121" cy="4172069"/>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前後検索の画像</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2673468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45661-D170-7F4D-B8A8-8C3B4D5EF476}"/>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0F2A605-8BE9-543D-C379-8ADC172A2B5B}"/>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87FB6EC3-4D6F-6C45-86B8-DAD6CBB0E53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72B83C2C-8DD1-B131-625E-DC1B80BAE95D}"/>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FF0000"/>
                </a:solidFill>
                <a:latin typeface="メイリオ"/>
                <a:ea typeface="メイリオ"/>
                <a:cs typeface="メイリオ"/>
                <a:sym typeface="Meiryo"/>
              </a:rPr>
              <a:t>※LINE</a:t>
            </a:r>
            <a:r>
              <a:rPr lang="ja-JP" altLang="en-US" sz="1000" dirty="0">
                <a:solidFill>
                  <a:srgbClr val="FF0000"/>
                </a:solidFill>
                <a:latin typeface="メイリオ"/>
                <a:ea typeface="メイリオ"/>
                <a:cs typeface="メイリオ"/>
                <a:sym typeface="Meiryo"/>
              </a:rPr>
              <a:t>ヤフーの媒体情報を参考に</a:t>
            </a:r>
            <a:endParaRPr lang="ja-JP" altLang="en-US" sz="1050" dirty="0">
              <a:solidFill>
                <a:srgbClr val="FF0000"/>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F9E4E4A3-0061-C7DF-4A07-669885EC9040}"/>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 name="Card1_Title">
            <a:extLst>
              <a:ext uri="{FF2B5EF4-FFF2-40B4-BE49-F238E27FC236}">
                <a16:creationId xmlns:a16="http://schemas.microsoft.com/office/drawing/2014/main" id="{8E31DAD6-1621-DBDA-E670-9EC6437B61A2}"/>
              </a:ext>
            </a:extLst>
          </p:cNvPr>
          <p:cNvSpPr txBox="1"/>
          <p:nvPr/>
        </p:nvSpPr>
        <p:spPr>
          <a:xfrm>
            <a:off x="441960" y="1709511"/>
            <a:ext cx="2921000" cy="457200"/>
          </a:xfrm>
          <a:prstGeom prst="rect">
            <a:avLst/>
          </a:prstGeom>
          <a:solidFill>
            <a:srgbClr val="FFFFFF"/>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検索「前」クエリ（</a:t>
            </a:r>
            <a:r>
              <a:rPr kumimoji="0" lang="en-US" altLang="ja-JP"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〜-1</a:t>
            </a: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日）</a:t>
            </a:r>
          </a:p>
        </p:txBody>
      </p:sp>
      <p:sp>
        <p:nvSpPr>
          <p:cNvPr id="7" name="Card1_Body">
            <a:extLst>
              <a:ext uri="{FF2B5EF4-FFF2-40B4-BE49-F238E27FC236}">
                <a16:creationId xmlns:a16="http://schemas.microsoft.com/office/drawing/2014/main" id="{D3A10FAB-A215-96CD-4586-4D95A31E157D}"/>
              </a:ext>
            </a:extLst>
          </p:cNvPr>
          <p:cNvSpPr txBox="1"/>
          <p:nvPr/>
        </p:nvSpPr>
        <p:spPr>
          <a:xfrm>
            <a:off x="4419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1F2A5C"/>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0" name="Card2_Title">
            <a:extLst>
              <a:ext uri="{FF2B5EF4-FFF2-40B4-BE49-F238E27FC236}">
                <a16:creationId xmlns:a16="http://schemas.microsoft.com/office/drawing/2014/main" id="{AF3F627C-CA5A-EA6E-EB31-14D66576A08E}"/>
              </a:ext>
            </a:extLst>
          </p:cNvPr>
          <p:cNvSpPr txBox="1"/>
          <p:nvPr/>
        </p:nvSpPr>
        <p:spPr>
          <a:xfrm>
            <a:off x="3553460" y="1709511"/>
            <a:ext cx="2921000" cy="457200"/>
          </a:xfrm>
          <a:prstGeom prst="rect">
            <a:avLst/>
          </a:prstGeom>
          <a:solidFill>
            <a:srgbClr val="FFFFFF"/>
          </a:solidFill>
          <a:ln w="6350">
            <a:solidFill>
              <a:srgbClr val="4A6FA5"/>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検索「起点」（</a:t>
            </a:r>
            <a:r>
              <a:rPr kumimoji="0" lang="en-US" altLang="ja-JP"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0</a:t>
            </a:r>
            <a:r>
              <a:rPr kumimoji="0" lang="ja-JP" altLang="en-US"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日）</a:t>
            </a:r>
          </a:p>
        </p:txBody>
      </p:sp>
      <p:sp>
        <p:nvSpPr>
          <p:cNvPr id="11" name="Card2_Body">
            <a:extLst>
              <a:ext uri="{FF2B5EF4-FFF2-40B4-BE49-F238E27FC236}">
                <a16:creationId xmlns:a16="http://schemas.microsoft.com/office/drawing/2014/main" id="{071EA822-5DE7-F7FC-CE53-C2441B6BA07A}"/>
              </a:ext>
            </a:extLst>
          </p:cNvPr>
          <p:cNvSpPr txBox="1"/>
          <p:nvPr/>
        </p:nvSpPr>
        <p:spPr>
          <a:xfrm>
            <a:off x="35534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4A6FA5"/>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5" name="Card3_Title">
            <a:extLst>
              <a:ext uri="{FF2B5EF4-FFF2-40B4-BE49-F238E27FC236}">
                <a16:creationId xmlns:a16="http://schemas.microsoft.com/office/drawing/2014/main" id="{8D47B4FA-63E9-2461-A89D-BE48099D1CEF}"/>
              </a:ext>
            </a:extLst>
          </p:cNvPr>
          <p:cNvSpPr txBox="1"/>
          <p:nvPr/>
        </p:nvSpPr>
        <p:spPr>
          <a:xfrm>
            <a:off x="6664960" y="1709511"/>
            <a:ext cx="2921000" cy="457200"/>
          </a:xfrm>
          <a:prstGeom prst="rect">
            <a:avLst/>
          </a:prstGeom>
          <a:solidFill>
            <a:srgbClr val="FFFFFF"/>
          </a:solidFill>
          <a:ln w="6350">
            <a:solidFill>
              <a:srgbClr val="C8102E"/>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C8102E"/>
                </a:solidFill>
                <a:effectLst/>
                <a:uLnTx/>
                <a:uFillTx/>
                <a:latin typeface="メイリオ" panose="020B0604030504040204" pitchFamily="50" charset="-128"/>
                <a:ea typeface="メイリオ" panose="020B0604030504040204" pitchFamily="50" charset="-128"/>
                <a:cs typeface="メイリオ"/>
                <a:sym typeface="Arial"/>
              </a:rPr>
              <a:t>検索「後」クエリ（</a:t>
            </a:r>
            <a:r>
              <a:rPr kumimoji="0" lang="en-US" altLang="ja-JP" sz="1200" b="1" i="0" u="none" strike="noStrike" kern="0" cap="none" spc="0" normalizeH="0" baseline="0" noProof="0" dirty="0">
                <a:ln>
                  <a:noFill/>
                </a:ln>
                <a:solidFill>
                  <a:srgbClr val="C8102E"/>
                </a:solidFill>
                <a:effectLst/>
                <a:uLnTx/>
                <a:uFillTx/>
                <a:latin typeface="メイリオ" panose="020B0604030504040204" pitchFamily="50" charset="-128"/>
                <a:ea typeface="メイリオ" panose="020B0604030504040204" pitchFamily="50" charset="-128"/>
                <a:cs typeface="メイリオ"/>
                <a:sym typeface="Arial"/>
              </a:rPr>
              <a:t>1〜15</a:t>
            </a:r>
            <a:r>
              <a:rPr kumimoji="0" lang="ja-JP" altLang="en-US" sz="1200" b="1" i="0" u="none" strike="noStrike" kern="0" cap="none" spc="0" normalizeH="0" baseline="0" noProof="0" dirty="0">
                <a:ln>
                  <a:noFill/>
                </a:ln>
                <a:solidFill>
                  <a:srgbClr val="C8102E"/>
                </a:solidFill>
                <a:effectLst/>
                <a:uLnTx/>
                <a:uFillTx/>
                <a:latin typeface="メイリオ" panose="020B0604030504040204" pitchFamily="50" charset="-128"/>
                <a:ea typeface="メイリオ" panose="020B0604030504040204" pitchFamily="50" charset="-128"/>
                <a:cs typeface="メイリオ"/>
                <a:sym typeface="Arial"/>
              </a:rPr>
              <a:t>日</a:t>
            </a:r>
            <a:r>
              <a:rPr kumimoji="0" lang="en-US" altLang="ja-JP" sz="1200" b="1" i="0" u="none" strike="noStrike" kern="0" cap="none" spc="0" normalizeH="0" baseline="0" noProof="0" dirty="0">
                <a:ln>
                  <a:noFill/>
                </a:ln>
                <a:solidFill>
                  <a:srgbClr val="C8102E"/>
                </a:solidFill>
                <a:effectLst/>
                <a:uLnTx/>
                <a:uFillTx/>
                <a:latin typeface="メイリオ" panose="020B0604030504040204" pitchFamily="50" charset="-128"/>
                <a:ea typeface="メイリオ" panose="020B0604030504040204" pitchFamily="50" charset="-128"/>
                <a:cs typeface="メイリオ"/>
                <a:sym typeface="Arial"/>
              </a:rPr>
              <a:t>〜</a:t>
            </a:r>
            <a:r>
              <a:rPr kumimoji="0" lang="ja-JP" altLang="en-US" sz="1200" b="1" i="0" u="none" strike="noStrike" kern="0" cap="none" spc="0" normalizeH="0" baseline="0" noProof="0" dirty="0">
                <a:ln>
                  <a:noFill/>
                </a:ln>
                <a:solidFill>
                  <a:srgbClr val="C8102E"/>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7" name="Card3_Body">
            <a:extLst>
              <a:ext uri="{FF2B5EF4-FFF2-40B4-BE49-F238E27FC236}">
                <a16:creationId xmlns:a16="http://schemas.microsoft.com/office/drawing/2014/main" id="{0F35057D-2CE3-9DDA-8E94-282A37275B5F}"/>
              </a:ext>
            </a:extLst>
          </p:cNvPr>
          <p:cNvSpPr txBox="1"/>
          <p:nvPr/>
        </p:nvSpPr>
        <p:spPr>
          <a:xfrm>
            <a:off x="66649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C8102E"/>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2" name="テキスト ボックス 11">
            <a:extLst>
              <a:ext uri="{FF2B5EF4-FFF2-40B4-BE49-F238E27FC236}">
                <a16:creationId xmlns:a16="http://schemas.microsoft.com/office/drawing/2014/main" id="{DCF84225-84DA-E8B0-FCCE-46A1376BC209}"/>
              </a:ext>
            </a:extLst>
          </p:cNvPr>
          <p:cNvSpPr txBox="1"/>
          <p:nvPr/>
        </p:nvSpPr>
        <p:spPr>
          <a:xfrm>
            <a:off x="5286079" y="4595204"/>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13" name="矢印: 下 12">
            <a:extLst>
              <a:ext uri="{FF2B5EF4-FFF2-40B4-BE49-F238E27FC236}">
                <a16:creationId xmlns:a16="http://schemas.microsoft.com/office/drawing/2014/main" id="{D61D535A-38C6-7BB0-0D6E-34AB306808A8}"/>
              </a:ext>
            </a:extLst>
          </p:cNvPr>
          <p:cNvSpPr/>
          <p:nvPr/>
        </p:nvSpPr>
        <p:spPr>
          <a:xfrm>
            <a:off x="5036442" y="3737247"/>
            <a:ext cx="1097280" cy="20900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6" name="Card1_Title">
            <a:extLst>
              <a:ext uri="{FF2B5EF4-FFF2-40B4-BE49-F238E27FC236}">
                <a16:creationId xmlns:a16="http://schemas.microsoft.com/office/drawing/2014/main" id="{EA1CCC1E-91FF-5127-259C-24170B827EFB}"/>
              </a:ext>
            </a:extLst>
          </p:cNvPr>
          <p:cNvSpPr txBox="1"/>
          <p:nvPr/>
        </p:nvSpPr>
        <p:spPr>
          <a:xfrm>
            <a:off x="4470369" y="3994007"/>
            <a:ext cx="2194591" cy="457200"/>
          </a:xfrm>
          <a:prstGeom prst="rect">
            <a:avLst/>
          </a:prstGeom>
          <a:solidFill>
            <a:schemeClr val="accent1">
              <a:lumMod val="20000"/>
              <a:lumOff val="80000"/>
            </a:schemeClr>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離脱防止</a:t>
            </a:r>
          </a:p>
        </p:txBody>
      </p:sp>
      <p:cxnSp>
        <p:nvCxnSpPr>
          <p:cNvPr id="20" name="直線コネクタ 19">
            <a:extLst>
              <a:ext uri="{FF2B5EF4-FFF2-40B4-BE49-F238E27FC236}">
                <a16:creationId xmlns:a16="http://schemas.microsoft.com/office/drawing/2014/main" id="{5BE55DA4-D366-93E9-818A-C5CB316D61F6}"/>
              </a:ext>
            </a:extLst>
          </p:cNvPr>
          <p:cNvCxnSpPr/>
          <p:nvPr/>
        </p:nvCxnSpPr>
        <p:spPr>
          <a:xfrm>
            <a:off x="5094517" y="4709762"/>
            <a:ext cx="0" cy="1292023"/>
          </a:xfrm>
          <a:prstGeom prst="line">
            <a:avLst/>
          </a:prstGeom>
          <a:ln>
            <a:solidFill>
              <a:srgbClr val="04FA0A"/>
            </a:solidFill>
          </a:ln>
        </p:spPr>
        <p:style>
          <a:lnRef idx="1">
            <a:schemeClr val="accent1"/>
          </a:lnRef>
          <a:fillRef idx="0">
            <a:schemeClr val="accent1"/>
          </a:fillRef>
          <a:effectRef idx="0">
            <a:schemeClr val="accent1"/>
          </a:effectRef>
          <a:fontRef idx="minor">
            <a:schemeClr val="tx1"/>
          </a:fontRef>
        </p:style>
      </p:cxnSp>
      <p:pic>
        <p:nvPicPr>
          <p:cNvPr id="22" name="図 21" descr="LINE公式アカウントのロゴを活用しよう！注意点やNG例も合わせて解説 - LINEマーケティングツールFANVO">
            <a:extLst>
              <a:ext uri="{FF2B5EF4-FFF2-40B4-BE49-F238E27FC236}">
                <a16:creationId xmlns:a16="http://schemas.microsoft.com/office/drawing/2014/main" id="{4DC60E86-0524-E40F-7236-4D8A38BD333B}"/>
              </a:ext>
            </a:extLst>
          </p:cNvPr>
          <p:cNvPicPr>
            <a:picLocks noChangeAspect="1"/>
          </p:cNvPicPr>
          <p:nvPr/>
        </p:nvPicPr>
        <p:blipFill>
          <a:blip r:embed="rId3"/>
          <a:stretch>
            <a:fillRect/>
          </a:stretch>
        </p:blipFill>
        <p:spPr>
          <a:xfrm>
            <a:off x="4866739" y="4519050"/>
            <a:ext cx="419340" cy="418460"/>
          </a:xfrm>
          <a:prstGeom prst="rect">
            <a:avLst/>
          </a:prstGeom>
        </p:spPr>
      </p:pic>
      <p:sp>
        <p:nvSpPr>
          <p:cNvPr id="24" name="テキスト ボックス 23">
            <a:extLst>
              <a:ext uri="{FF2B5EF4-FFF2-40B4-BE49-F238E27FC236}">
                <a16:creationId xmlns:a16="http://schemas.microsoft.com/office/drawing/2014/main" id="{8F0B071A-7C5B-F060-B690-5A7A3AFEC0DD}"/>
              </a:ext>
            </a:extLst>
          </p:cNvPr>
          <p:cNvSpPr txBox="1"/>
          <p:nvPr/>
        </p:nvSpPr>
        <p:spPr>
          <a:xfrm>
            <a:off x="5268638" y="5094163"/>
            <a:ext cx="3857945" cy="261610"/>
          </a:xfrm>
          <a:prstGeom prst="rect">
            <a:avLst/>
          </a:prstGeom>
          <a:noFill/>
        </p:spPr>
        <p:txBody>
          <a:bodyPr wrap="square">
            <a:spAutoFit/>
          </a:bodyPr>
          <a:lstStyle/>
          <a:p>
            <a:r>
              <a:rPr lang="ja-JP" altLang="en-US" sz="1100" b="1" dirty="0">
                <a:latin typeface="メイリオ"/>
                <a:ea typeface="メイリオ"/>
                <a:cs typeface="メイリオ"/>
                <a:sym typeface="Meiryo"/>
              </a:rPr>
              <a:t>⇨ステップ配信がスタート。</a:t>
            </a:r>
            <a:endParaRPr lang="ja-JP" altLang="en-US" sz="1200" dirty="0">
              <a:latin typeface="メイリオ"/>
              <a:ea typeface="メイリオ"/>
              <a:cs typeface="メイリオ"/>
            </a:endParaRPr>
          </a:p>
        </p:txBody>
      </p:sp>
      <p:sp>
        <p:nvSpPr>
          <p:cNvPr id="26" name="テキスト ボックス 25">
            <a:extLst>
              <a:ext uri="{FF2B5EF4-FFF2-40B4-BE49-F238E27FC236}">
                <a16:creationId xmlns:a16="http://schemas.microsoft.com/office/drawing/2014/main" id="{70592E01-ABF8-E8A1-7E8A-7A1556DFA756}"/>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前後検索を各カテゴリ別</a:t>
            </a: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ニーズ大小別で棲み分け、最適なタイミングで</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ステップ配信のコンテンツ出し分けに活用。</a:t>
            </a:r>
            <a:endParaRPr lang="ja-JP" altLang="ja-JP" sz="1100" dirty="0">
              <a:effectLst/>
              <a:latin typeface="メイリオ" panose="02020603050405020304" pitchFamily="18" charset="0"/>
              <a:ea typeface="メイリオ" panose="02020400000000000000" pitchFamily="18" charset="-128"/>
              <a:cs typeface="メイリオ"/>
            </a:endParaRPr>
          </a:p>
        </p:txBody>
      </p:sp>
    </p:spTree>
    <p:extLst>
      <p:ext uri="{BB962C8B-B14F-4D97-AF65-F5344CB8AC3E}">
        <p14:creationId xmlns:p14="http://schemas.microsoft.com/office/powerpoint/2010/main" val="5356465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8DBEE-A033-E538-7B67-FCA6549C3DF9}"/>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E88D946F-DA36-B087-C6F8-FF4EC57BC7C4}"/>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ニーズ調査（業界</a:t>
            </a:r>
            <a:r>
              <a:rPr lang="en-US" altLang="ja-JP" sz="1600" b="1" dirty="0">
                <a:solidFill>
                  <a:srgbClr val="002060"/>
                </a:solidFill>
                <a:latin typeface="メイリオ"/>
                <a:ea typeface="メイリオ"/>
                <a:cs typeface="メイリオ"/>
                <a:sym typeface="Meiryo"/>
              </a:rPr>
              <a:t>STUDY</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8" name="テキスト ボックス 7">
            <a:extLst>
              <a:ext uri="{FF2B5EF4-FFF2-40B4-BE49-F238E27FC236}">
                <a16:creationId xmlns:a16="http://schemas.microsoft.com/office/drawing/2014/main" id="{8AC0F8FD-EDCC-5FCF-2FF3-71604C94B29B}"/>
              </a:ext>
            </a:extLst>
          </p:cNvPr>
          <p:cNvSpPr txBox="1"/>
          <p:nvPr/>
        </p:nvSpPr>
        <p:spPr>
          <a:xfrm>
            <a:off x="384048" y="5943600"/>
            <a:ext cx="9098280" cy="384048"/>
          </a:xfrm>
          <a:prstGeom prst="rect">
            <a:avLst/>
          </a:prstGeom>
          <a:noFill/>
        </p:spPr>
        <p:txBody>
          <a:bodyPr wrap="square">
            <a:spAutoFit/>
          </a:bodyPr>
          <a:lstStyle/>
          <a:p>
            <a:pPr algn="r"/>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※営業職員数：生命保険協会「2025年版 生命保険の動向」／加入経路：生命保険文化センター「2024（令和6）年度 生命保険に関する全国実態調査」</a:t>
            </a:r>
            <a:endParaRPr lang="ja-JP" altLang="en-US" sz="1400" dirty="0">
              <a:solidFill>
                <a:schemeClr val="bg1">
                  <a:lumMod val="65000"/>
                </a:schemeClr>
              </a:solidFill>
              <a:latin typeface="メイリオ"/>
              <a:ea typeface="メイリオ"/>
              <a:cs typeface="メイリオ"/>
            </a:endParaRPr>
          </a:p>
          <a:p>
            <a:pPr algn="r"/>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※接触回数：矢野経済研究所「生命保険の営業職員アンケート調査」（2023年4〜6月、生命保険の営業職員400名）</a:t>
            </a:r>
            <a:endParaRPr lang="ja-JP" altLang="en-US" sz="1400" dirty="0">
              <a:solidFill>
                <a:schemeClr val="bg1">
                  <a:lumMod val="65000"/>
                </a:schemeClr>
              </a:solidFill>
              <a:latin typeface="メイリオ"/>
              <a:ea typeface="メイリオ"/>
              <a:cs typeface="メイリオ"/>
            </a:endParaRPr>
          </a:p>
        </p:txBody>
      </p:sp>
      <p:sp>
        <p:nvSpPr>
          <p:cNvPr id="22" name="Card1_Title">
            <a:extLst>
              <a:ext uri="{FF2B5EF4-FFF2-40B4-BE49-F238E27FC236}">
                <a16:creationId xmlns:a16="http://schemas.microsoft.com/office/drawing/2014/main" id="{F09D273B-3EB8-1C59-CFC4-7013E4A1F363}"/>
              </a:ext>
            </a:extLst>
          </p:cNvPr>
          <p:cNvSpPr txBox="1"/>
          <p:nvPr/>
        </p:nvSpPr>
        <p:spPr>
          <a:xfrm>
            <a:off x="381000" y="755465"/>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営業職員数</a:t>
            </a:r>
          </a:p>
        </p:txBody>
      </p:sp>
      <p:sp>
        <p:nvSpPr>
          <p:cNvPr id="24" name="Card1_Body">
            <a:extLst>
              <a:ext uri="{FF2B5EF4-FFF2-40B4-BE49-F238E27FC236}">
                <a16:creationId xmlns:a16="http://schemas.microsoft.com/office/drawing/2014/main" id="{C4D4BD62-2E83-C234-FD58-451256FC8C12}"/>
              </a:ext>
            </a:extLst>
          </p:cNvPr>
          <p:cNvSpPr txBox="1"/>
          <p:nvPr/>
        </p:nvSpPr>
        <p:spPr>
          <a:xfrm>
            <a:off x="381000" y="1247501"/>
            <a:ext cx="2921000" cy="973185"/>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約24万人で横ばい（2020〜2024年度）</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生命保険の営業職員（各年度末）</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26" name="Card2_Title">
            <a:extLst>
              <a:ext uri="{FF2B5EF4-FFF2-40B4-BE49-F238E27FC236}">
                <a16:creationId xmlns:a16="http://schemas.microsoft.com/office/drawing/2014/main" id="{A353F2E6-73D0-7C02-26E1-1B6C2DBCE0B3}"/>
              </a:ext>
            </a:extLst>
          </p:cNvPr>
          <p:cNvSpPr txBox="1"/>
          <p:nvPr/>
        </p:nvSpPr>
        <p:spPr>
          <a:xfrm>
            <a:off x="3492500" y="755465"/>
            <a:ext cx="2921000" cy="457200"/>
          </a:xfrm>
          <a:prstGeom prst="rect">
            <a:avLst/>
          </a:prstGeom>
          <a:solidFill>
            <a:srgbClr val="FFFFFF"/>
          </a:solidFill>
          <a:ln w="6350">
            <a:solidFill>
              <a:srgbClr val="4A6FA5"/>
            </a:solidFill>
          </a:ln>
        </p:spPr>
        <p:txBody>
          <a:bodyPr wrap="square" lIns="177800" tIns="101600" rIns="177800" bIns="101600" anchor="ctr"/>
          <a:lstStyle/>
          <a:p>
            <a:pPr>
              <a:buNone/>
            </a:pPr>
            <a:r>
              <a:rPr lang="ja-JP" sz="1400" b="1" dirty="0">
                <a:solidFill>
                  <a:srgbClr val="4A6FA5"/>
                </a:solidFill>
                <a:latin typeface="メイリオ" panose="020B0604030504040204" pitchFamily="50" charset="-128"/>
                <a:ea typeface="メイリオ" panose="020B0604030504040204" pitchFamily="50" charset="-128"/>
                <a:cs typeface="メイリオ"/>
              </a:rPr>
              <a:t>保険の加入経路</a:t>
            </a:r>
          </a:p>
        </p:txBody>
      </p:sp>
      <p:sp>
        <p:nvSpPr>
          <p:cNvPr id="28" name="Card2_Body">
            <a:extLst>
              <a:ext uri="{FF2B5EF4-FFF2-40B4-BE49-F238E27FC236}">
                <a16:creationId xmlns:a16="http://schemas.microsoft.com/office/drawing/2014/main" id="{E6278C61-2C8E-CFD2-1633-C4571ED6A510}"/>
              </a:ext>
            </a:extLst>
          </p:cNvPr>
          <p:cNvSpPr txBox="1"/>
          <p:nvPr/>
        </p:nvSpPr>
        <p:spPr>
          <a:xfrm>
            <a:off x="3492500" y="1247501"/>
            <a:ext cx="2921000" cy="973185"/>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加入経路のうち「生命保険会社の営業職員」が56.7%（2024年調査）</a:t>
            </a:r>
          </a:p>
          <a:p>
            <a:pPr marL="171450" indent="-171450">
              <a:spcBef>
                <a:spcPts val="200"/>
              </a:spcBef>
              <a:buClr>
                <a:srgbClr val="4A6FA5"/>
              </a:buClr>
              <a:buFont typeface="Arial"/>
              <a:buChar char="•"/>
            </a:pPr>
          </a:p>
        </p:txBody>
      </p:sp>
      <p:sp>
        <p:nvSpPr>
          <p:cNvPr id="30" name="Card3_Title">
            <a:extLst>
              <a:ext uri="{FF2B5EF4-FFF2-40B4-BE49-F238E27FC236}">
                <a16:creationId xmlns:a16="http://schemas.microsoft.com/office/drawing/2014/main" id="{0B941908-3223-5564-217F-FA5805E7C3CC}"/>
              </a:ext>
            </a:extLst>
          </p:cNvPr>
          <p:cNvSpPr txBox="1"/>
          <p:nvPr/>
        </p:nvSpPr>
        <p:spPr>
          <a:xfrm>
            <a:off x="6604000" y="755465"/>
            <a:ext cx="2921000" cy="457200"/>
          </a:xfrm>
          <a:prstGeom prst="rect">
            <a:avLst/>
          </a:prstGeom>
          <a:solidFill>
            <a:srgbClr val="FFFFFF"/>
          </a:solidFill>
          <a:ln w="6350">
            <a:solidFill>
              <a:srgbClr val="C8102E"/>
            </a:solidFill>
          </a:ln>
        </p:spPr>
        <p:txBody>
          <a:bodyPr wrap="square" lIns="177800" tIns="101600" rIns="177800" bIns="101600" anchor="ctr"/>
          <a:lstStyle/>
          <a:p>
            <a:pPr>
              <a:buNone/>
            </a:pPr>
            <a:r>
              <a:rPr lang="ja-JP" sz="1400" b="1" dirty="0">
                <a:solidFill>
                  <a:srgbClr val="C8102E"/>
                </a:solidFill>
                <a:latin typeface="メイリオ" panose="020B0604030504040204" pitchFamily="50" charset="-128"/>
                <a:ea typeface="メイリオ" panose="020B0604030504040204" pitchFamily="50" charset="-128"/>
                <a:cs typeface="メイリオ"/>
              </a:rPr>
              <a:t>お客様との接触回数</a:t>
            </a:r>
          </a:p>
        </p:txBody>
      </p:sp>
      <p:sp>
        <p:nvSpPr>
          <p:cNvPr id="32" name="Card3_Body">
            <a:extLst>
              <a:ext uri="{FF2B5EF4-FFF2-40B4-BE49-F238E27FC236}">
                <a16:creationId xmlns:a16="http://schemas.microsoft.com/office/drawing/2014/main" id="{3A759964-4FD9-35ED-7557-01B7E8C5068B}"/>
              </a:ext>
            </a:extLst>
          </p:cNvPr>
          <p:cNvSpPr txBox="1"/>
          <p:nvPr/>
        </p:nvSpPr>
        <p:spPr>
          <a:xfrm>
            <a:off x="6604000" y="1247501"/>
            <a:ext cx="2921000" cy="973185"/>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C8102E"/>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コロナ前と比べ、接触回数が「減少した」営業職員が55.5%（2023年調査）</a:t>
            </a:r>
          </a:p>
          <a:p>
            <a:pPr marL="171450" indent="-171450">
              <a:spcBef>
                <a:spcPts val="200"/>
              </a:spcBef>
              <a:buClr>
                <a:srgbClr val="C8102E"/>
              </a:buClr>
              <a:buFont typeface="Arial"/>
              <a:buChar char="•"/>
            </a:pPr>
          </a:p>
        </p:txBody>
      </p:sp>
      <p:sp>
        <p:nvSpPr>
          <p:cNvPr id="34" name="Card1_Body">
            <a:extLst>
              <a:ext uri="{FF2B5EF4-FFF2-40B4-BE49-F238E27FC236}">
                <a16:creationId xmlns:a16="http://schemas.microsoft.com/office/drawing/2014/main" id="{4D793872-6303-5CAB-0032-0CF8F2E827B9}"/>
              </a:ext>
            </a:extLst>
          </p:cNvPr>
          <p:cNvSpPr txBox="1"/>
          <p:nvPr/>
        </p:nvSpPr>
        <p:spPr>
          <a:xfrm>
            <a:off x="381000" y="2309947"/>
            <a:ext cx="2921000" cy="1066800"/>
          </a:xfrm>
          <a:prstGeom prst="rect">
            <a:avLst/>
          </a:prstGeom>
          <a:solidFill>
            <a:schemeClr val="accent1">
              <a:lumMod val="20000"/>
              <a:lumOff val="80000"/>
            </a:schemeClr>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毎年ほぼ同じ規模の方が、営業を続けている</a:t>
            </a:r>
          </a:p>
          <a:p>
            <a:pPr marL="171450" indent="-171450">
              <a:spcBef>
                <a:spcPts val="200"/>
              </a:spcBef>
              <a:buClr>
                <a:srgbClr val="1F2A5C"/>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一度つながった方に、次のイベントも届けられる</a:t>
            </a:r>
          </a:p>
          <a:p>
            <a:pPr marL="171450" indent="-171450">
              <a:spcBef>
                <a:spcPts val="200"/>
              </a:spcBef>
              <a:buClr>
                <a:srgbClr val="1F2A5C"/>
              </a:buClr>
              <a:buFont typeface="Arial"/>
              <a:buChar char="•"/>
            </a:pPr>
            <a:endParaRPr lang="ja-JP" sz="1200" b="1"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6" name="Card2_Body">
            <a:extLst>
              <a:ext uri="{FF2B5EF4-FFF2-40B4-BE49-F238E27FC236}">
                <a16:creationId xmlns:a16="http://schemas.microsoft.com/office/drawing/2014/main" id="{FBD69C87-50C1-1FB7-B8EB-D2F245D2012C}"/>
              </a:ext>
            </a:extLst>
          </p:cNvPr>
          <p:cNvSpPr txBox="1"/>
          <p:nvPr/>
        </p:nvSpPr>
        <p:spPr>
          <a:xfrm>
            <a:off x="3492500" y="2309947"/>
            <a:ext cx="2921000" cy="1066800"/>
          </a:xfrm>
          <a:prstGeom prst="rect">
            <a:avLst/>
          </a:prstGeom>
          <a:solidFill>
            <a:schemeClr val="accent1">
              <a:lumMod val="20000"/>
              <a:lumOff val="80000"/>
            </a:schemeClr>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保険の加入は、今も営業職員が中心</a:t>
            </a:r>
          </a:p>
          <a:p>
            <a:pPr marL="171450" indent="-171450">
              <a:spcBef>
                <a:spcPts val="200"/>
              </a:spcBef>
              <a:buClr>
                <a:srgbClr val="4A6FA5"/>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営業力を上げたいニーズは続く</a:t>
            </a:r>
          </a:p>
          <a:p>
            <a:pPr marL="171450" indent="-171450">
              <a:spcBef>
                <a:spcPts val="200"/>
              </a:spcBef>
              <a:buClr>
                <a:srgbClr val="4A6FA5"/>
              </a:buClr>
              <a:buFont typeface="Arial"/>
              <a:buChar char="•"/>
            </a:pPr>
            <a:endParaRPr lang="ja-JP" sz="1200" b="1"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8" name="Card3_Body">
            <a:extLst>
              <a:ext uri="{FF2B5EF4-FFF2-40B4-BE49-F238E27FC236}">
                <a16:creationId xmlns:a16="http://schemas.microsoft.com/office/drawing/2014/main" id="{A5C634F4-8754-3DE6-64E2-704CF74E07EF}"/>
              </a:ext>
            </a:extLst>
          </p:cNvPr>
          <p:cNvSpPr txBox="1"/>
          <p:nvPr/>
        </p:nvSpPr>
        <p:spPr>
          <a:xfrm>
            <a:off x="6604000" y="2309947"/>
            <a:ext cx="2921000" cy="1066800"/>
          </a:xfrm>
          <a:prstGeom prst="rect">
            <a:avLst/>
          </a:prstGeom>
          <a:solidFill>
            <a:schemeClr val="accent1">
              <a:lumMod val="20000"/>
              <a:lumOff val="80000"/>
            </a:schemeClr>
          </a:solidFill>
          <a:ln w="6350">
            <a:solidFill>
              <a:srgbClr val="D1D8E0"/>
            </a:solidFill>
          </a:ln>
        </p:spPr>
        <p:txBody>
          <a:bodyPr wrap="square" lIns="177800" tIns="152400" rIns="177800" bIns="152400" anchor="t"/>
          <a:lstStyle/>
          <a:p>
            <a:pPr marL="171450" indent="-171450">
              <a:spcBef>
                <a:spcPts val="200"/>
              </a:spcBef>
              <a:buClr>
                <a:srgbClr val="C8102E"/>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お客様と会える回数が減っている</a:t>
            </a:r>
          </a:p>
          <a:p>
            <a:pPr marL="171450" indent="-171450">
              <a:spcBef>
                <a:spcPts val="200"/>
              </a:spcBef>
              <a:buClr>
                <a:srgbClr val="C8102E"/>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成果を出す営業のやり方が求められている</a:t>
            </a:r>
          </a:p>
          <a:p>
            <a:pPr marL="171450" indent="-171450">
              <a:spcBef>
                <a:spcPts val="200"/>
              </a:spcBef>
              <a:buClr>
                <a:srgbClr val="C8102E"/>
              </a:buClr>
              <a:buFont typeface="Arial"/>
              <a:buChar char="•"/>
            </a:pPr>
            <a:endParaRPr lang="ja-JP" sz="1200" b="1"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9" name="矢印: 下 38">
            <a:extLst>
              <a:ext uri="{FF2B5EF4-FFF2-40B4-BE49-F238E27FC236}">
                <a16:creationId xmlns:a16="http://schemas.microsoft.com/office/drawing/2014/main" id="{BA24D6FA-F12D-EEEA-58E0-4E8D7E5B054F}"/>
              </a:ext>
            </a:extLst>
          </p:cNvPr>
          <p:cNvSpPr/>
          <p:nvPr/>
        </p:nvSpPr>
        <p:spPr>
          <a:xfrm>
            <a:off x="1297577" y="2159726"/>
            <a:ext cx="1097280" cy="182880"/>
          </a:xfrm>
          <a:prstGeom prst="downArrow">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1" name="矢印: 下 40">
            <a:extLst>
              <a:ext uri="{FF2B5EF4-FFF2-40B4-BE49-F238E27FC236}">
                <a16:creationId xmlns:a16="http://schemas.microsoft.com/office/drawing/2014/main" id="{142BC3DE-B10E-3A60-51E8-71FB62C8E8FE}"/>
              </a:ext>
            </a:extLst>
          </p:cNvPr>
          <p:cNvSpPr/>
          <p:nvPr/>
        </p:nvSpPr>
        <p:spPr>
          <a:xfrm>
            <a:off x="4404360" y="2159726"/>
            <a:ext cx="1097280" cy="182880"/>
          </a:xfrm>
          <a:prstGeom prst="downArrow">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3" name="矢印: 下 42">
            <a:extLst>
              <a:ext uri="{FF2B5EF4-FFF2-40B4-BE49-F238E27FC236}">
                <a16:creationId xmlns:a16="http://schemas.microsoft.com/office/drawing/2014/main" id="{E8BF74FD-3839-8A1C-870B-B0506D93B9EE}"/>
              </a:ext>
            </a:extLst>
          </p:cNvPr>
          <p:cNvSpPr/>
          <p:nvPr/>
        </p:nvSpPr>
        <p:spPr>
          <a:xfrm>
            <a:off x="7515860" y="2159726"/>
            <a:ext cx="1097280" cy="182880"/>
          </a:xfrm>
          <a:prstGeom prst="downArrow">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6" name="グラフの見出し"/>
          <p:cNvSpPr/>
          <p:nvPr/>
        </p:nvSpPr>
        <p:spPr>
          <a:xfrm>
            <a:off x="640080" y="3566160"/>
            <a:ext cx="8595360" cy="274320"/>
          </a:xfrm>
          <a:prstGeom prst="rect">
            <a:avLst/>
          </a:prstGeom>
          <a:noFill/>
          <a:ln>
            <a:noFill/>
          </a:ln>
        </p:spPr>
        <p:txBody>
          <a:bodyPr wrap="square" lIns="0" tIns="0" rIns="0" bIns="0" rtlCol="0" anchor="ctr">
            <a:noAutofit/>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生命保険の営業職員数（各年度末・名）</a:t>
            </a:r>
            <a:endParaRPr lang="ja-JP" altLang="en-US" sz="1200" dirty="0">
              <a:latin typeface="メイリオ"/>
              <a:ea typeface="メイリオ"/>
              <a:cs typeface="メイリオ"/>
            </a:endParaRPr>
          </a:p>
        </p:txBody>
      </p:sp>
      <p:sp>
        <p:nvSpPr>
          <p:cNvPr id="47" name="棒 2020年度"/>
          <p:cNvSpPr/>
          <p:nvPr/>
        </p:nvSpPr>
        <p:spPr>
          <a:xfrm>
            <a:off x="1051560" y="4168707"/>
            <a:ext cx="1005840" cy="1454852"/>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48" name="値 2020年度"/>
          <p:cNvSpPr/>
          <p:nvPr/>
        </p:nvSpPr>
        <p:spPr>
          <a:xfrm>
            <a:off x="868680" y="3894387"/>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248,601</a:t>
            </a:r>
            <a:endParaRPr lang="ja-JP" altLang="en-US" sz="1200" dirty="0">
              <a:latin typeface="メイリオ"/>
              <a:ea typeface="メイリオ"/>
              <a:cs typeface="メイリオ"/>
            </a:endParaRPr>
          </a:p>
        </p:txBody>
      </p:sp>
      <p:sp>
        <p:nvSpPr>
          <p:cNvPr id="49" name="年度 2020年度"/>
          <p:cNvSpPr/>
          <p:nvPr/>
        </p:nvSpPr>
        <p:spPr>
          <a:xfrm>
            <a:off x="86868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2020年度</a:t>
            </a:r>
            <a:endParaRPr lang="ja-JP" altLang="en-US" sz="1200" dirty="0">
              <a:latin typeface="メイリオ"/>
              <a:ea typeface="メイリオ"/>
              <a:cs typeface="メイリオ"/>
            </a:endParaRPr>
          </a:p>
        </p:txBody>
      </p:sp>
      <p:sp>
        <p:nvSpPr>
          <p:cNvPr id="50" name="棒 2021年度"/>
          <p:cNvSpPr/>
          <p:nvPr/>
        </p:nvSpPr>
        <p:spPr>
          <a:xfrm>
            <a:off x="2743200" y="4201795"/>
            <a:ext cx="1005840" cy="1421764"/>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51" name="値 2021年度"/>
          <p:cNvSpPr/>
          <p:nvPr/>
        </p:nvSpPr>
        <p:spPr>
          <a:xfrm>
            <a:off x="2560320" y="3927475"/>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242,947</a:t>
            </a:r>
            <a:endParaRPr lang="ja-JP" altLang="en-US" sz="1200" dirty="0">
              <a:latin typeface="メイリオ"/>
              <a:ea typeface="メイリオ"/>
              <a:cs typeface="メイリオ"/>
            </a:endParaRPr>
          </a:p>
        </p:txBody>
      </p:sp>
      <p:sp>
        <p:nvSpPr>
          <p:cNvPr id="52" name="年度 2021年度"/>
          <p:cNvSpPr/>
          <p:nvPr/>
        </p:nvSpPr>
        <p:spPr>
          <a:xfrm>
            <a:off x="256032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2021年度</a:t>
            </a:r>
            <a:endParaRPr lang="ja-JP" altLang="en-US" sz="1200" dirty="0">
              <a:latin typeface="メイリオ"/>
              <a:ea typeface="メイリオ"/>
              <a:cs typeface="メイリオ"/>
            </a:endParaRPr>
          </a:p>
        </p:txBody>
      </p:sp>
      <p:sp>
        <p:nvSpPr>
          <p:cNvPr id="53" name="棒 2022年度"/>
          <p:cNvSpPr/>
          <p:nvPr/>
        </p:nvSpPr>
        <p:spPr>
          <a:xfrm>
            <a:off x="4434840" y="4177602"/>
            <a:ext cx="1005840" cy="1445957"/>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54" name="値 2022年度"/>
          <p:cNvSpPr/>
          <p:nvPr/>
        </p:nvSpPr>
        <p:spPr>
          <a:xfrm>
            <a:off x="4251960" y="3903282"/>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247,081</a:t>
            </a:r>
            <a:endParaRPr lang="ja-JP" altLang="en-US" sz="1200" dirty="0">
              <a:latin typeface="メイリオ"/>
              <a:ea typeface="メイリオ"/>
              <a:cs typeface="メイリオ"/>
            </a:endParaRPr>
          </a:p>
        </p:txBody>
      </p:sp>
      <p:sp>
        <p:nvSpPr>
          <p:cNvPr id="55" name="年度 2022年度"/>
          <p:cNvSpPr/>
          <p:nvPr/>
        </p:nvSpPr>
        <p:spPr>
          <a:xfrm>
            <a:off x="425196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2022年度</a:t>
            </a:r>
            <a:endParaRPr lang="ja-JP" altLang="en-US" sz="1200" dirty="0">
              <a:latin typeface="メイリオ"/>
              <a:ea typeface="メイリオ"/>
              <a:cs typeface="メイリオ"/>
            </a:endParaRPr>
          </a:p>
        </p:txBody>
      </p:sp>
      <p:sp>
        <p:nvSpPr>
          <p:cNvPr id="56" name="棒 2023年度"/>
          <p:cNvSpPr/>
          <p:nvPr/>
        </p:nvSpPr>
        <p:spPr>
          <a:xfrm>
            <a:off x="6126480" y="4213757"/>
            <a:ext cx="1005840" cy="1409802"/>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57" name="値 2023年度"/>
          <p:cNvSpPr/>
          <p:nvPr/>
        </p:nvSpPr>
        <p:spPr>
          <a:xfrm>
            <a:off x="5943600" y="3939437"/>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240,903</a:t>
            </a:r>
            <a:endParaRPr lang="ja-JP" altLang="en-US" sz="1200" dirty="0">
              <a:latin typeface="メイリオ"/>
              <a:ea typeface="メイリオ"/>
              <a:cs typeface="メイリオ"/>
            </a:endParaRPr>
          </a:p>
        </p:txBody>
      </p:sp>
      <p:sp>
        <p:nvSpPr>
          <p:cNvPr id="58" name="年度 2023年度"/>
          <p:cNvSpPr/>
          <p:nvPr/>
        </p:nvSpPr>
        <p:spPr>
          <a:xfrm>
            <a:off x="594360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2023年度</a:t>
            </a:r>
            <a:endParaRPr lang="ja-JP" altLang="en-US" sz="1200" dirty="0">
              <a:latin typeface="メイリオ"/>
              <a:ea typeface="メイリオ"/>
              <a:cs typeface="メイリオ"/>
            </a:endParaRPr>
          </a:p>
        </p:txBody>
      </p:sp>
      <p:sp>
        <p:nvSpPr>
          <p:cNvPr id="59" name="棒 2024年度"/>
          <p:cNvSpPr/>
          <p:nvPr/>
        </p:nvSpPr>
        <p:spPr>
          <a:xfrm>
            <a:off x="7818120" y="4210222"/>
            <a:ext cx="1005840" cy="1413337"/>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60" name="値 2024年度"/>
          <p:cNvSpPr/>
          <p:nvPr/>
        </p:nvSpPr>
        <p:spPr>
          <a:xfrm>
            <a:off x="7635240" y="3935902"/>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241,507</a:t>
            </a:r>
            <a:endParaRPr lang="ja-JP" altLang="en-US" sz="1200" dirty="0">
              <a:latin typeface="メイリオ"/>
              <a:ea typeface="メイリオ"/>
              <a:cs typeface="メイリオ"/>
            </a:endParaRPr>
          </a:p>
        </p:txBody>
      </p:sp>
      <p:sp>
        <p:nvSpPr>
          <p:cNvPr id="61" name="年度 2024年度"/>
          <p:cNvSpPr/>
          <p:nvPr/>
        </p:nvSpPr>
        <p:spPr>
          <a:xfrm>
            <a:off x="763524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2024年度</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25447284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E3E23-EB7F-D169-38DE-98B27F305DB6}"/>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C62F92F0-EE46-60C0-E453-43E26B4DBD66}"/>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ニーズ調査（業界</a:t>
            </a:r>
            <a:r>
              <a:rPr lang="en-US" altLang="ja-JP" sz="1600" b="1" dirty="0">
                <a:solidFill>
                  <a:srgbClr val="002060"/>
                </a:solidFill>
                <a:latin typeface="メイリオ"/>
                <a:ea typeface="メイリオ"/>
                <a:cs typeface="メイリオ"/>
                <a:sym typeface="Meiryo"/>
              </a:rPr>
              <a:t>STUDY</a:t>
            </a:r>
            <a:r>
              <a:rPr lang="ja-JP" altLang="en-US" sz="1600" b="1" dirty="0">
                <a:solidFill>
                  <a:srgbClr val="002060"/>
                </a:solidFill>
                <a:latin typeface="メイリオ"/>
                <a:ea typeface="メイリオ"/>
                <a:cs typeface="メイリオ"/>
                <a:sym typeface="Meiryo"/>
              </a:rPr>
              <a:t>）　＞　貴社施策内で検討の訴求軸</a:t>
            </a:r>
            <a:endParaRPr sz="1600" b="1" dirty="0">
              <a:solidFill>
                <a:srgbClr val="002060"/>
              </a:solidFill>
              <a:latin typeface="メイリオ"/>
              <a:ea typeface="メイリオ"/>
              <a:cs typeface="メイリオ"/>
              <a:sym typeface="Meiryo"/>
            </a:endParaRPr>
          </a:p>
        </p:txBody>
      </p:sp>
      <p:sp>
        <p:nvSpPr>
          <p:cNvPr id="7" name="Card1_Title">
            <a:extLst>
              <a:ext uri="{FF2B5EF4-FFF2-40B4-BE49-F238E27FC236}">
                <a16:creationId xmlns:a16="http://schemas.microsoft.com/office/drawing/2014/main" id="{1BFDD1F8-BBF3-4DF7-5884-297BE569EC3E}"/>
              </a:ext>
            </a:extLst>
          </p:cNvPr>
          <p:cNvSpPr txBox="1"/>
          <p:nvPr/>
        </p:nvSpPr>
        <p:spPr>
          <a:xfrm>
            <a:off x="381000" y="677092"/>
            <a:ext cx="2921000" cy="457200"/>
          </a:xfrm>
          <a:prstGeom prst="rect">
            <a:avLst/>
          </a:prstGeom>
          <a:solidFill>
            <a:schemeClr val="accent1">
              <a:lumMod val="20000"/>
              <a:lumOff val="80000"/>
            </a:schemeClr>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野沢塾</a:t>
            </a:r>
          </a:p>
        </p:txBody>
      </p:sp>
      <p:sp>
        <p:nvSpPr>
          <p:cNvPr id="12" name="Card1_Body">
            <a:extLst>
              <a:ext uri="{FF2B5EF4-FFF2-40B4-BE49-F238E27FC236}">
                <a16:creationId xmlns:a16="http://schemas.microsoft.com/office/drawing/2014/main" id="{5B59792A-DE46-0634-56D9-2B8FBF96C379}"/>
              </a:ext>
            </a:extLst>
          </p:cNvPr>
          <p:cNvSpPr txBox="1"/>
          <p:nvPr/>
        </p:nvSpPr>
        <p:spPr>
          <a:xfrm>
            <a:off x="381000" y="1186543"/>
            <a:ext cx="2921000" cy="1066800"/>
          </a:xfrm>
          <a:prstGeom prst="rect">
            <a:avLst/>
          </a:prstGeom>
          <a:solidFill>
            <a:schemeClr val="bg1">
              <a:lumMod val="95000"/>
            </a:schemeClr>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保険営業の方向けの講座（月2回）</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サイトのボタンから友だち追加</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あいさつで特典の動画を届ける</a:t>
            </a: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14" name="Card2_Title">
            <a:extLst>
              <a:ext uri="{FF2B5EF4-FFF2-40B4-BE49-F238E27FC236}">
                <a16:creationId xmlns:a16="http://schemas.microsoft.com/office/drawing/2014/main" id="{B77B5039-F6BC-E3F9-574B-5813CDB633F9}"/>
              </a:ext>
            </a:extLst>
          </p:cNvPr>
          <p:cNvSpPr txBox="1"/>
          <p:nvPr/>
        </p:nvSpPr>
        <p:spPr>
          <a:xfrm>
            <a:off x="3492500" y="677092"/>
            <a:ext cx="2921000" cy="457200"/>
          </a:xfrm>
          <a:prstGeom prst="rect">
            <a:avLst/>
          </a:prstGeom>
          <a:solidFill>
            <a:schemeClr val="accent1">
              <a:lumMod val="20000"/>
              <a:lumOff val="80000"/>
            </a:schemeClr>
          </a:solidFill>
          <a:ln w="6350">
            <a:solidFill>
              <a:srgbClr val="4A6FA5"/>
            </a:solidFill>
          </a:ln>
        </p:spPr>
        <p:txBody>
          <a:bodyPr wrap="square" lIns="177800" tIns="101600" rIns="177800" bIns="101600" anchor="ctr"/>
          <a:lstStyle/>
          <a:p>
            <a:pPr>
              <a:buNone/>
            </a:pPr>
            <a:r>
              <a:rPr lang="ja-JP" sz="1400" b="1" dirty="0">
                <a:solidFill>
                  <a:srgbClr val="4A6FA5"/>
                </a:solidFill>
                <a:latin typeface="メイリオ" panose="020B0604030504040204" pitchFamily="50" charset="-128"/>
                <a:ea typeface="メイリオ" panose="020B0604030504040204" pitchFamily="50" charset="-128"/>
                <a:cs typeface="メイリオ"/>
              </a:rPr>
              <a:t>R&amp;C保険営業ラボ</a:t>
            </a:r>
          </a:p>
        </p:txBody>
      </p:sp>
      <p:sp>
        <p:nvSpPr>
          <p:cNvPr id="16" name="Card2_Body">
            <a:extLst>
              <a:ext uri="{FF2B5EF4-FFF2-40B4-BE49-F238E27FC236}">
                <a16:creationId xmlns:a16="http://schemas.microsoft.com/office/drawing/2014/main" id="{31AB5D72-3A3C-E445-05CF-4BE9AAB4B3C3}"/>
              </a:ext>
            </a:extLst>
          </p:cNvPr>
          <p:cNvSpPr txBox="1"/>
          <p:nvPr/>
        </p:nvSpPr>
        <p:spPr>
          <a:xfrm>
            <a:off x="3492500" y="1186543"/>
            <a:ext cx="2921000" cy="1066800"/>
          </a:xfrm>
          <a:prstGeom prst="rect">
            <a:avLst/>
          </a:prstGeom>
          <a:solidFill>
            <a:schemeClr val="bg1">
              <a:lumMod val="95000"/>
            </a:schemeClr>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保険営業の方向けの無料の学習サービス（2026年9月開始）</a:t>
            </a:r>
          </a:p>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登録時の5問のアンケートに合わせて、資料・動画を段階的に配信</a:t>
            </a:r>
          </a:p>
          <a:p>
            <a:pPr marL="171450" indent="-171450">
              <a:spcBef>
                <a:spcPts val="200"/>
              </a:spcBef>
              <a:buClr>
                <a:srgbClr val="4A6FA5"/>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18" name="Card3_Title">
            <a:extLst>
              <a:ext uri="{FF2B5EF4-FFF2-40B4-BE49-F238E27FC236}">
                <a16:creationId xmlns:a16="http://schemas.microsoft.com/office/drawing/2014/main" id="{8EC5AF78-5D13-EC67-F0AD-F54E096AA397}"/>
              </a:ext>
            </a:extLst>
          </p:cNvPr>
          <p:cNvSpPr txBox="1"/>
          <p:nvPr/>
        </p:nvSpPr>
        <p:spPr>
          <a:xfrm>
            <a:off x="6604000" y="677092"/>
            <a:ext cx="2921000" cy="457200"/>
          </a:xfrm>
          <a:prstGeom prst="rect">
            <a:avLst/>
          </a:prstGeom>
          <a:solidFill>
            <a:schemeClr val="accent1">
              <a:lumMod val="20000"/>
              <a:lumOff val="80000"/>
            </a:schemeClr>
          </a:solidFill>
          <a:ln w="6350">
            <a:solidFill>
              <a:srgbClr val="C8102E"/>
            </a:solidFill>
          </a:ln>
        </p:spPr>
        <p:txBody>
          <a:bodyPr wrap="square" lIns="177800" tIns="101600" rIns="177800" bIns="101600" anchor="ctr"/>
          <a:lstStyle/>
          <a:p>
            <a:pPr>
              <a:buNone/>
            </a:pPr>
            <a:r>
              <a:rPr lang="ja-JP" sz="1400" b="1" dirty="0">
                <a:solidFill>
                  <a:srgbClr val="C8102E"/>
                </a:solidFill>
                <a:latin typeface="メイリオ" panose="020B0604030504040204" pitchFamily="50" charset="-128"/>
                <a:ea typeface="メイリオ" panose="020B0604030504040204" pitchFamily="50" charset="-128"/>
                <a:cs typeface="メイリオ"/>
              </a:rPr>
              <a:t>貴社の訴求軸</a:t>
            </a:r>
          </a:p>
        </p:txBody>
      </p:sp>
      <p:sp>
        <p:nvSpPr>
          <p:cNvPr id="20" name="Card3_Body">
            <a:extLst>
              <a:ext uri="{FF2B5EF4-FFF2-40B4-BE49-F238E27FC236}">
                <a16:creationId xmlns:a16="http://schemas.microsoft.com/office/drawing/2014/main" id="{72AF2293-D8B8-25E7-3F3D-40F12C1E03B3}"/>
              </a:ext>
            </a:extLst>
          </p:cNvPr>
          <p:cNvSpPr txBox="1"/>
          <p:nvPr/>
        </p:nvSpPr>
        <p:spPr>
          <a:xfrm>
            <a:off x="6604000" y="1186543"/>
            <a:ext cx="2921000" cy="1066800"/>
          </a:xfrm>
          <a:prstGeom prst="rect">
            <a:avLst/>
          </a:prstGeom>
          <a:solidFill>
            <a:schemeClr val="bg1">
              <a:lumMod val="95000"/>
            </a:schemeClr>
          </a:solidFill>
          <a:ln w="6350">
            <a:solidFill>
              <a:srgbClr val="D1D8E0"/>
            </a:solidFill>
          </a:ln>
        </p:spPr>
        <p:txBody>
          <a:bodyPr wrap="square" lIns="177800" tIns="152400" rIns="177800" bIns="152400" anchor="t"/>
          <a:lstStyle/>
          <a:p>
            <a:pPr marL="171450" indent="-171450">
              <a:spcBef>
                <a:spcPts val="200"/>
              </a:spcBef>
              <a:buClr>
                <a:srgbClr val="C8102E"/>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イベントの予約・参加に合わせた案内</a:t>
            </a:r>
          </a:p>
          <a:p>
            <a:pPr marL="171450" indent="-171450">
              <a:spcBef>
                <a:spcPts val="200"/>
              </a:spcBef>
              <a:buClr>
                <a:srgbClr val="C8102E"/>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参加後、サロンの入会へつなげる</a:t>
            </a:r>
          </a:p>
          <a:p>
            <a:pPr marL="171450" indent="-171450">
              <a:spcBef>
                <a:spcPts val="200"/>
              </a:spcBef>
              <a:buClr>
                <a:srgbClr val="C8102E"/>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22" name="テキスト ボックス 21">
            <a:extLst>
              <a:ext uri="{FF2B5EF4-FFF2-40B4-BE49-F238E27FC236}">
                <a16:creationId xmlns:a16="http://schemas.microsoft.com/office/drawing/2014/main" id="{4CCBCA82-D6DB-24F4-C957-F66DF547D94E}"/>
              </a:ext>
            </a:extLst>
          </p:cNvPr>
          <p:cNvSpPr txBox="1"/>
          <p:nvPr/>
        </p:nvSpPr>
        <p:spPr>
          <a:xfrm>
            <a:off x="384048" y="5943600"/>
            <a:ext cx="9098280" cy="219456"/>
          </a:xfrm>
          <a:prstGeom prst="rect">
            <a:avLst/>
          </a:prstGeom>
          <a:noFill/>
        </p:spPr>
        <p:txBody>
          <a:bodyPr wrap="square">
            <a:spAutoFit/>
          </a:bodyPr>
          <a:lstStyle/>
          <a:p>
            <a:pPr algn="r"/>
            <a:r>
              <a:rPr lang="en-US" altLang="ja-JP" sz="900" b="1" dirty="0">
                <a:solidFill>
                  <a:schemeClr val="bg1">
                    <a:lumMod val="65000"/>
                  </a:schemeClr>
                </a:solidFill>
                <a:latin typeface="メイリオ" panose="020B0604030504040204" pitchFamily="50" charset="-128"/>
                <a:ea typeface="メイリオ" panose="020B0604030504040204" pitchFamily="50" charset="-128"/>
                <a:cs typeface="メイリオ"/>
              </a:rPr>
              <a:t>※野沢塾：LINE公式アカウント（2026年10月19日確認）・公式サイト（2026年10月18日確認）より。画面の名前とパスワードは伏せている</a:t>
            </a:r>
            <a:endParaRPr lang="ja-JP" altLang="en-US" sz="1400" b="1" dirty="0">
              <a:solidFill>
                <a:schemeClr val="bg1">
                  <a:lumMod val="65000"/>
                </a:schemeClr>
              </a:solidFill>
              <a:latin typeface="メイリオ"/>
              <a:ea typeface="メイリオ"/>
              <a:cs typeface="メイリオ"/>
            </a:endParaRPr>
          </a:p>
        </p:txBody>
      </p:sp>
      <p:sp>
        <p:nvSpPr>
          <p:cNvPr id="24" name="テキスト ボックス 23">
            <a:extLst>
              <a:ext uri="{FF2B5EF4-FFF2-40B4-BE49-F238E27FC236}">
                <a16:creationId xmlns:a16="http://schemas.microsoft.com/office/drawing/2014/main" id="{CC601D0D-5305-FCEB-BD05-F88C9C00ADE3}"/>
              </a:ext>
            </a:extLst>
          </p:cNvPr>
          <p:cNvSpPr txBox="1"/>
          <p:nvPr/>
        </p:nvSpPr>
        <p:spPr>
          <a:xfrm>
            <a:off x="384048" y="6163056"/>
            <a:ext cx="9098280" cy="219456"/>
          </a:xfrm>
          <a:prstGeom prst="rect">
            <a:avLst/>
          </a:prstGeom>
          <a:noFill/>
        </p:spPr>
        <p:txBody>
          <a:bodyPr wrap="square">
            <a:spAutoFit/>
          </a:bodyPr>
          <a:lstStyle/>
          <a:p>
            <a:pPr algn="r"/>
            <a:r>
              <a:rPr lang="en-US" altLang="ja-JP" sz="900" b="1" dirty="0">
                <a:solidFill>
                  <a:schemeClr val="bg1">
                    <a:lumMod val="65000"/>
                  </a:schemeClr>
                </a:solidFill>
                <a:latin typeface="メイリオ" panose="020B0604030504040204" pitchFamily="50" charset="-128"/>
                <a:ea typeface="メイリオ" panose="020B0604030504040204" pitchFamily="50" charset="-128"/>
                <a:cs typeface="メイリオ"/>
              </a:rPr>
              <a:t>※R&amp;C保険営業ラボ：R&amp;C株式会社のプレスリリースより。招待制のため、画面は未掲載</a:t>
            </a:r>
            <a:endParaRPr lang="ja-JP" altLang="en-US" sz="1400" b="1" dirty="0">
              <a:solidFill>
                <a:schemeClr val="bg1">
                  <a:lumMod val="65000"/>
                </a:schemeClr>
              </a:solidFill>
              <a:latin typeface="メイリオ"/>
              <a:ea typeface="メイリオ"/>
              <a:cs typeface="メイリオ"/>
            </a:endParaRPr>
          </a:p>
        </p:txBody>
      </p:sp>
      <p:pic>
        <p:nvPicPr>
          <p:cNvPr id="46" name="Picture 45" descr="image.png"/>
          <p:cNvPicPr>
            <a:picLocks noChangeAspect="1"/>
          </p:cNvPicPr>
          <p:nvPr/>
        </p:nvPicPr>
        <p:blipFill>
          <a:blip r:embed="rId5"/>
          <a:stretch>
            <a:fillRect/>
          </a:stretch>
        </p:blipFill>
        <p:spPr>
          <a:xfrm>
            <a:off x="1920845" y="2265155"/>
            <a:ext cx="1449467" cy="3139641"/>
          </a:xfrm>
          <a:prstGeom prst="rect">
            <a:avLst/>
          </a:prstGeom>
        </p:spPr>
      </p:pic>
      <p:sp>
        <p:nvSpPr>
          <p:cNvPr id="47" name="画像の説明"/>
          <p:cNvSpPr/>
          <p:nvPr/>
        </p:nvSpPr>
        <p:spPr>
          <a:xfrm>
            <a:off x="780858" y="5450516"/>
            <a:ext cx="3729441" cy="256032"/>
          </a:xfrm>
          <a:prstGeom prst="rect">
            <a:avLst/>
          </a:prstGeom>
          <a:noFill/>
          <a:ln>
            <a:noFill/>
          </a:ln>
        </p:spPr>
        <p:txBody>
          <a:bodyPr wrap="square" lIns="0" tIns="0" rIns="0" bIns="0" rtlCol="0" anchor="t">
            <a:noAutofit/>
          </a:bodyPr>
          <a:lstStyle/>
          <a:p>
            <a:pPr algn="ctr">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野沢塾のあいさつ（LINE公式アカウント）</a:t>
            </a:r>
            <a:endParaRPr lang="ja-JP" altLang="en-US" sz="1200" dirty="0">
              <a:latin typeface="メイリオ"/>
              <a:ea typeface="メイリオ"/>
              <a:cs typeface="メイリオ"/>
            </a:endParaRPr>
          </a:p>
        </p:txBody>
      </p:sp>
      <p:sp>
        <p:nvSpPr>
          <p:cNvPr id="48" name="他社のまとめ"/>
          <p:cNvSpPr/>
          <p:nvPr/>
        </p:nvSpPr>
        <p:spPr>
          <a:xfrm>
            <a:off x="4800600" y="2377440"/>
            <a:ext cx="4480560" cy="1188720"/>
          </a:xfrm>
          <a:prstGeom prst="rect">
            <a:avLst/>
          </a:prstGeom>
          <a:solidFill>
            <a:srgbClr val="E5E8EE"/>
          </a:solidFill>
          <a:ln>
            <a:noFill/>
          </a:ln>
        </p:spPr>
        <p:txBody>
          <a:bodyPr wrap="square" lIns="73152" tIns="36576" rIns="73152" bIns="36576" rtlCol="0" anchor="ctr">
            <a:noAutofit/>
          </a:bodyPr>
          <a:lstStyle/>
          <a:p>
            <a:pPr algn="ctr">
              <a:lnSpc>
                <a:spcPct val="12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保険営業の方向けの他社も、LINEで特典を渡し、</a:t>
            </a:r>
            <a:endParaRPr lang="ja-JP" altLang="en-US" sz="1200" dirty="0">
              <a:latin typeface="メイリオ"/>
              <a:ea typeface="メイリオ"/>
              <a:cs typeface="メイリオ"/>
            </a:endParaRPr>
          </a:p>
          <a:p>
            <a:pPr algn="ctr">
              <a:lnSpc>
                <a:spcPct val="12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友だちに学びを届けている</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861406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2193285" y="3038203"/>
            <a:ext cx="551946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施策の詳細（配信の効率化）</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82CEA-3068-C260-29FA-52D10FA7F467}"/>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52E0E886-3FF7-1177-80B0-EC2CDD9EFAA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8B2265A6-2819-27E8-AA87-ACBFF2D49AD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要件定義</a:t>
            </a:r>
            <a:endParaRPr sz="1600" b="1" dirty="0">
              <a:solidFill>
                <a:srgbClr val="002060"/>
              </a:solidFill>
              <a:latin typeface="メイリオ"/>
              <a:ea typeface="メイリオ"/>
              <a:cs typeface="メイリオ"/>
              <a:sym typeface="Meiryo"/>
            </a:endParaRPr>
          </a:p>
        </p:txBody>
      </p:sp>
      <p:sp>
        <p:nvSpPr>
          <p:cNvPr id="26" name="正方形/長方形 25">
            <a:extLst>
              <a:ext uri="{FF2B5EF4-FFF2-40B4-BE49-F238E27FC236}">
                <a16:creationId xmlns:a16="http://schemas.microsoft.com/office/drawing/2014/main" id="{C4E20CB5-EE4A-545E-031C-B0FF76AEE517}"/>
              </a:ext>
            </a:extLst>
          </p:cNvPr>
          <p:cNvSpPr/>
          <p:nvPr/>
        </p:nvSpPr>
        <p:spPr>
          <a:xfrm>
            <a:off x="503966" y="775227"/>
            <a:ext cx="8898070" cy="297590"/>
          </a:xfrm>
          <a:prstGeom prst="rect">
            <a:avLst/>
          </a:prstGeom>
          <a:solidFill>
            <a:schemeClr val="tx2">
              <a:lumMod val="75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indent="173038"/>
            <a:r>
              <a:rPr lang="ja-JP" altLang="en-US" b="1" dirty="0">
                <a:effectLst/>
                <a:latin typeface="メイリオ" panose="020B0604030504040204" pitchFamily="50" charset="-128"/>
                <a:ea typeface="メイリオ" panose="020B0604030504040204" pitchFamily="50" charset="-128"/>
                <a:cs typeface="メイリオ" panose="020B0604030504040204" pitchFamily="50" charset="-128"/>
              </a:rPr>
              <a:t>プロモーション目的</a:t>
            </a:r>
          </a:p>
        </p:txBody>
      </p:sp>
      <p:sp>
        <p:nvSpPr>
          <p:cNvPr id="27" name="正方形/長方形 26">
            <a:extLst>
              <a:ext uri="{FF2B5EF4-FFF2-40B4-BE49-F238E27FC236}">
                <a16:creationId xmlns:a16="http://schemas.microsoft.com/office/drawing/2014/main" id="{A773DE68-F51A-B2B7-A85F-DDEF158DE1E8}"/>
              </a:ext>
            </a:extLst>
          </p:cNvPr>
          <p:cNvSpPr/>
          <p:nvPr/>
        </p:nvSpPr>
        <p:spPr>
          <a:xfrm>
            <a:off x="503967" y="1090870"/>
            <a:ext cx="8898070" cy="525365"/>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b="1" dirty="0" sz="1600">
                <a:solidFill>
                  <a:srgbClr val="333333"/>
                </a:solidFill>
                <a:latin typeface="メイリオ"/>
                <a:ea typeface="メイリオ"/>
                <a:cs typeface="メイリオ"/>
              </a:rPr>
              <a:t>広告で集めた方をLINEにため、次のイベント参加数・入会数を伸ばし、LTVを最大化する</a:t>
            </a:r>
            <a:endParaRPr lang="en-US" altLang="ja-JP"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0" name="正方形/長方形 29">
            <a:extLst>
              <a:ext uri="{FF2B5EF4-FFF2-40B4-BE49-F238E27FC236}">
                <a16:creationId xmlns:a16="http://schemas.microsoft.com/office/drawing/2014/main" id="{FAB8E792-C2AE-2097-2C3E-326F4730D6FF}"/>
              </a:ext>
            </a:extLst>
          </p:cNvPr>
          <p:cNvSpPr/>
          <p:nvPr/>
        </p:nvSpPr>
        <p:spPr>
          <a:xfrm>
            <a:off x="503965" y="3316813"/>
            <a:ext cx="8898070" cy="366112"/>
          </a:xfrm>
          <a:prstGeom prst="rect">
            <a:avLst/>
          </a:prstGeom>
          <a:solidFill>
            <a:schemeClr val="accent1">
              <a:lumMod val="20000"/>
              <a:lumOff val="80000"/>
            </a:schemeClr>
          </a:solidFill>
          <a:ln>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indent="173038"/>
            <a:r>
              <a:rPr lang="ja-JP" altLang="en-US" b="1" dirty="0">
                <a:solidFill>
                  <a:schemeClr val="accent1">
                    <a:lumMod val="75000"/>
                  </a:schemeClr>
                </a:solidFill>
                <a:effectLst/>
                <a:latin typeface="メイリオ" panose="020B0604030504040204" pitchFamily="50" charset="-128"/>
                <a:ea typeface="メイリオ" panose="020B0604030504040204" pitchFamily="50" charset="-128"/>
                <a:cs typeface="メイリオ" panose="020B0604030504040204" pitchFamily="50" charset="-128"/>
              </a:rPr>
              <a:t>手法</a:t>
            </a:r>
          </a:p>
        </p:txBody>
      </p:sp>
      <p:sp>
        <p:nvSpPr>
          <p:cNvPr id="32" name="正方形/長方形 31">
            <a:extLst>
              <a:ext uri="{FF2B5EF4-FFF2-40B4-BE49-F238E27FC236}">
                <a16:creationId xmlns:a16="http://schemas.microsoft.com/office/drawing/2014/main" id="{6CB99AAC-0BEA-E7FB-6909-1C7C68EDF323}"/>
              </a:ext>
            </a:extLst>
          </p:cNvPr>
          <p:cNvSpPr/>
          <p:nvPr/>
        </p:nvSpPr>
        <p:spPr>
          <a:xfrm>
            <a:off x="503965" y="3761653"/>
            <a:ext cx="8898070" cy="2704296"/>
          </a:xfrm>
          <a:prstGeom prst="rect">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・ポップアップツールとサンクスLINE誘導で、友だちを集める</a:t>
            </a:r>
            <a:endPar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LPを離れる方と、セミナーを予約した方を、次のイベントまで追える友だちに。</a:t>
            </a:r>
            <a:endParaRPr lang="en-US" altLang="ja-JP" sz="16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・興味あり・予約・参加の段階ごとに、案内を変える</a:t>
            </a:r>
            <a:endPar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見どころ動画・参加特典 → 前日・当日のお知らせ → サロンの申込みフォーム。</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・平常期の配信で、次のイベントまでつながりを保つ</a:t>
            </a:r>
            <a:endPar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イベントの無い時期は月2回に絞り、ブロックを抑えながら追える人数を積み上げる。</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＋α施策として…。</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・過去のセミナー予約者・参加者へのご案内</a:t>
            </a:r>
            <a:r>
              <a:rPr lang="ja-JP" altLang="en-US" sz="12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※通知メッセージ</a:t>
            </a:r>
            <a:endParaRPr lang="ja-JP" altLang="en-US" sz="12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過去の予約者の情報（電話番号）を保有している場合、リストを活用した配信が可能。</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・サロンの申込み完了ページからのLINE誘導</a:t>
            </a:r>
            <a:r>
              <a:rPr lang="ja-JP" altLang="en-US" sz="12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※サンクスLINE誘導</a:t>
            </a:r>
          </a:p>
        </p:txBody>
      </p:sp>
      <p:sp>
        <p:nvSpPr>
          <p:cNvPr id="33" name="正方形/長方形 32">
            <a:extLst>
              <a:ext uri="{FF2B5EF4-FFF2-40B4-BE49-F238E27FC236}">
                <a16:creationId xmlns:a16="http://schemas.microsoft.com/office/drawing/2014/main" id="{ADCEEB55-8D79-5D37-18D6-691241A3FC15}"/>
              </a:ext>
            </a:extLst>
          </p:cNvPr>
          <p:cNvSpPr/>
          <p:nvPr/>
        </p:nvSpPr>
        <p:spPr>
          <a:xfrm>
            <a:off x="503965" y="1675570"/>
            <a:ext cx="8898070" cy="386003"/>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indent="173038"/>
            <a:r>
              <a:rPr lang="ja-JP" altLang="en-US" b="1" dirty="0">
                <a:effectLst/>
                <a:latin typeface="メイリオ" panose="020B0604030504040204" pitchFamily="50" charset="-128"/>
                <a:ea typeface="メイリオ" panose="020B0604030504040204" pitchFamily="50" charset="-128"/>
                <a:cs typeface="メイリオ" panose="020B0604030504040204" pitchFamily="50" charset="-128"/>
              </a:rPr>
              <a:t>配信目標</a:t>
            </a:r>
          </a:p>
        </p:txBody>
      </p:sp>
      <p:sp>
        <p:nvSpPr>
          <p:cNvPr id="46" name="MainMessage">
            <a:extLst>
              <a:ext uri="{FF2B5EF4-FFF2-40B4-BE49-F238E27FC236}">
                <a16:creationId xmlns:a16="http://schemas.microsoft.com/office/drawing/2014/main" id="{B60D9D01-8FD5-9835-8DEB-82316620ED03}"/>
              </a:ext>
            </a:extLst>
          </p:cNvPr>
          <p:cNvSpPr txBox="1"/>
          <p:nvPr/>
        </p:nvSpPr>
        <p:spPr>
          <a:xfrm>
            <a:off x="503965" y="2120908"/>
            <a:ext cx="8898070" cy="750567"/>
          </a:xfrm>
          <a:prstGeom prst="rect">
            <a:avLst/>
          </a:prstGeom>
          <a:solidFill>
            <a:srgbClr val="F0F2F7"/>
          </a:solidFill>
          <a:ln w="9525">
            <a:solidFill>
              <a:srgbClr val="1F2A5C"/>
            </a:solidFill>
          </a:ln>
        </p:spPr>
        <p:txBody>
          <a:bodyPr wrap="square" lIns="91440" tIns="45720" rIns="91440" bIns="45720" anchor="t"/>
          <a:lstStyle/>
          <a:p>
            <a:pPr algn="ctr">
              <a:lnSpc>
                <a:spcPct val="140000"/>
              </a:lnSpc>
            </a:pPr>
            <a:r>
              <a:rPr lang="ja-JP" sz="1400" b="1" dirty="0">
                <a:solidFill>
                  <a:srgbClr val="1F2A5C"/>
                </a:solidFill>
                <a:latin typeface="メイリオ" panose="020B0604030504040204" pitchFamily="50" charset="-128"/>
                <a:ea typeface="メイリオ" panose="020B0604030504040204" pitchFamily="50" charset="-128"/>
                <a:cs typeface="メイリオ"/>
              </a:rPr>
              <a:t>6か月目に追える人数86人（ブロックされずに届く友だち）を目指す。</a:t>
            </a:r>
            <a:endParaRPr lang="en-US" altLang="ja-JP" sz="1400" b="1" dirty="0">
              <a:solidFill>
                <a:srgbClr val="1F2A5C"/>
              </a:solidFill>
              <a:latin typeface="メイリオ" panose="020B0604030504040204" pitchFamily="50" charset="-128"/>
              <a:ea typeface="メイリオ" panose="020B0604030504040204" pitchFamily="50" charset="-128"/>
              <a:cs typeface="メイリオ"/>
            </a:endParaRPr>
          </a:p>
          <a:p>
            <a:pPr algn="ctr">
              <a:lnSpc>
                <a:spcPct val="140000"/>
              </a:lnSpc>
            </a:pPr>
            <a:r>
              <a:rPr lang="ja-JP" sz="1400" b="1">
                <a:solidFill>
                  <a:srgbClr val="1F2A5C"/>
                </a:solidFill>
                <a:latin typeface="メイリオ" panose="020B0604030504040204" pitchFamily="50" charset="-128"/>
                <a:ea typeface="メイリオ" panose="020B0604030504040204" pitchFamily="50" charset="-128"/>
                <a:cs typeface="メイリオ"/>
              </a:rPr>
              <a:t>イベント期はセミナー予約・参加、イベントの後はサロン入会へつなげる。</a:t>
            </a:r>
          </a:p>
        </p:txBody>
      </p:sp>
      <p:sp>
        <p:nvSpPr>
          <p:cNvPr id="62" name="二等辺三角形 61">
            <a:extLst>
              <a:ext uri="{FF2B5EF4-FFF2-40B4-BE49-F238E27FC236}">
                <a16:creationId xmlns:a16="http://schemas.microsoft.com/office/drawing/2014/main" id="{BDCBA122-1D1B-AA97-B52C-2A548E75BE5F}"/>
              </a:ext>
            </a:extLst>
          </p:cNvPr>
          <p:cNvSpPr/>
          <p:nvPr/>
        </p:nvSpPr>
        <p:spPr>
          <a:xfrm rot="10800000">
            <a:off x="1013700" y="2923543"/>
            <a:ext cx="7965031" cy="486852"/>
          </a:xfrm>
          <a:prstGeom prst="triangle">
            <a:avLst>
              <a:gd name="adj" fmla="val 4936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dirty="0">
              <a:latin typeface="メイリオ" panose="020B0604030504040204" pitchFamily="50" charset="-128"/>
              <a:ea typeface="メイリオ" panose="020B0604030504040204" pitchFamily="50" charset="-128"/>
              <a:cs typeface="メイリオ"/>
            </a:endParaRPr>
          </a:p>
        </p:txBody>
      </p:sp>
      <p:sp>
        <p:nvSpPr>
          <p:cNvPr id="64" name="テキスト ボックス 4">
            <a:extLst>
              <a:ext uri="{FF2B5EF4-FFF2-40B4-BE49-F238E27FC236}">
                <a16:creationId xmlns:a16="http://schemas.microsoft.com/office/drawing/2014/main" id="{BF9B56DF-9875-62DA-48F0-98868F99F5FE}"/>
              </a:ext>
            </a:extLst>
          </p:cNvPr>
          <p:cNvSpPr txBox="1"/>
          <p:nvPr/>
        </p:nvSpPr>
        <p:spPr>
          <a:xfrm>
            <a:off x="3893204" y="2960246"/>
            <a:ext cx="2236946" cy="369332"/>
          </a:xfrm>
          <a:prstGeom prst="rect">
            <a:avLst/>
          </a:prstGeom>
          <a:noFill/>
        </p:spPr>
        <p:txBody>
          <a:bodyPr wrap="square" rtlCol="0">
            <a:spAutoFit/>
          </a:bodyPr>
          <a:lstStyle>
            <a:defPPr>
              <a:defRPr lang="ja-JP">
                <a:latin typeface="メイリオ"/>
                <a:ea typeface="メイリオ"/>
                <a:cs typeface="メイリオ"/>
              </a:defRPr>
            </a:defPPr>
            <a:lvl1pPr marL="0" algn="l" defTabSz="914400" rtl="0" eaLnBrk="1" latinLnBrk="0" hangingPunct="1">
              <a:defRPr kumimoji="1" sz="1800" kern="1200">
                <a:solidFill>
                  <a:schemeClr val="tx1"/>
                </a:solidFill>
                <a:latin typeface="メイリオ"/>
                <a:ea typeface="メイリオ"/>
                <a:cs typeface="メイリオ"/>
              </a:defRPr>
            </a:lvl1pPr>
            <a:lvl2pPr marL="457200" algn="l" defTabSz="914400" rtl="0" eaLnBrk="1" latinLnBrk="0" hangingPunct="1">
              <a:defRPr kumimoji="1" sz="1800" kern="1200">
                <a:solidFill>
                  <a:schemeClr val="tx1"/>
                </a:solidFill>
                <a:latin typeface="メイリオ"/>
                <a:ea typeface="メイリオ"/>
                <a:cs typeface="メイリオ"/>
              </a:defRPr>
            </a:lvl2pPr>
            <a:lvl3pPr marL="914400" algn="l" defTabSz="914400" rtl="0" eaLnBrk="1" latinLnBrk="0" hangingPunct="1">
              <a:defRPr kumimoji="1" sz="1800" kern="1200">
                <a:solidFill>
                  <a:schemeClr val="tx1"/>
                </a:solidFill>
                <a:latin typeface="メイリオ"/>
                <a:ea typeface="メイリオ"/>
                <a:cs typeface="メイリオ"/>
              </a:defRPr>
            </a:lvl3pPr>
            <a:lvl4pPr marL="1371600" algn="l" defTabSz="914400" rtl="0" eaLnBrk="1" latinLnBrk="0" hangingPunct="1">
              <a:defRPr kumimoji="1" sz="1800" kern="1200">
                <a:solidFill>
                  <a:schemeClr val="tx1"/>
                </a:solidFill>
                <a:latin typeface="メイリオ"/>
                <a:ea typeface="メイリオ"/>
                <a:cs typeface="メイリオ"/>
              </a:defRPr>
            </a:lvl4pPr>
            <a:lvl5pPr marL="1828800" algn="l" defTabSz="914400" rtl="0" eaLnBrk="1" latinLnBrk="0" hangingPunct="1">
              <a:defRPr kumimoji="1" sz="1800" kern="1200">
                <a:solidFill>
                  <a:schemeClr val="tx1"/>
                </a:solidFill>
                <a:latin typeface="メイリオ"/>
                <a:ea typeface="メイリオ"/>
                <a:cs typeface="メイリオ"/>
              </a:defRPr>
            </a:lvl5pPr>
            <a:lvl6pPr marL="2286000" algn="l" defTabSz="914400" rtl="0" eaLnBrk="1" latinLnBrk="0" hangingPunct="1">
              <a:defRPr kumimoji="1" sz="1800" kern="1200">
                <a:solidFill>
                  <a:schemeClr val="tx1"/>
                </a:solidFill>
                <a:latin typeface="メイリオ"/>
                <a:ea typeface="メイリオ"/>
                <a:cs typeface="メイリオ"/>
              </a:defRPr>
            </a:lvl6pPr>
            <a:lvl7pPr marL="2743200" algn="l" defTabSz="914400" rtl="0" eaLnBrk="1" latinLnBrk="0" hangingPunct="1">
              <a:defRPr kumimoji="1" sz="1800" kern="1200">
                <a:solidFill>
                  <a:schemeClr val="tx1"/>
                </a:solidFill>
                <a:latin typeface="メイリオ"/>
                <a:ea typeface="メイリオ"/>
                <a:cs typeface="メイリオ"/>
              </a:defRPr>
            </a:lvl7pPr>
            <a:lvl8pPr marL="3200400" algn="l" defTabSz="914400" rtl="0" eaLnBrk="1" latinLnBrk="0" hangingPunct="1">
              <a:defRPr kumimoji="1" sz="1800" kern="1200">
                <a:solidFill>
                  <a:schemeClr val="tx1"/>
                </a:solidFill>
                <a:latin typeface="メイリオ"/>
                <a:ea typeface="メイリオ"/>
                <a:cs typeface="メイリオ"/>
              </a:defRPr>
            </a:lvl8pPr>
            <a:lvl9pPr marL="3657600" algn="l" defTabSz="914400" rtl="0" eaLnBrk="1" latinLnBrk="0" hangingPunct="1">
              <a:defRPr kumimoji="1" sz="1800" kern="1200">
                <a:solidFill>
                  <a:schemeClr val="tx1"/>
                </a:solidFill>
                <a:latin typeface="メイリオ"/>
                <a:ea typeface="メイリオ"/>
                <a:cs typeface="メイリオ"/>
              </a:defRPr>
            </a:lvl9pPr>
          </a:lstStyle>
          <a:p>
            <a:pPr algn="ctr"/>
            <a:r>
              <a:rPr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弊社からのご提案</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366202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BE316-B5A0-8BF0-8055-8F5EB8BA81E4}"/>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1E1262C-B08E-666E-F81E-61EAC1407B87}"/>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7D9E611B-4E41-7D55-FDAA-59D5455231E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要件定義</a:t>
            </a:r>
            <a:endParaRPr sz="1600" b="1" dirty="0">
              <a:solidFill>
                <a:srgbClr val="002060"/>
              </a:solidFill>
              <a:latin typeface="メイリオ"/>
              <a:ea typeface="メイリオ"/>
              <a:cs typeface="メイリオ"/>
              <a:sym typeface="Meiryo"/>
            </a:endParaRPr>
          </a:p>
        </p:txBody>
      </p:sp>
      <p:sp>
        <p:nvSpPr>
          <p:cNvPr id="8" name="PointsHeader">
            <a:extLst>
              <a:ext uri="{FF2B5EF4-FFF2-40B4-BE49-F238E27FC236}">
                <a16:creationId xmlns:a16="http://schemas.microsoft.com/office/drawing/2014/main" id="{615C4560-11D3-77B5-6718-3703C15CA5D8}"/>
              </a:ext>
            </a:extLst>
          </p:cNvPr>
          <p:cNvSpPr txBox="1"/>
          <p:nvPr/>
        </p:nvSpPr>
        <p:spPr>
          <a:xfrm>
            <a:off x="522756" y="1009344"/>
            <a:ext cx="9144000" cy="279400"/>
          </a:xfrm>
          <a:prstGeom prst="rect">
            <a:avLst/>
          </a:prstGeom>
          <a:noFill/>
          <a:ln>
            <a:noFill/>
          </a:ln>
        </p:spPr>
        <p:txBody>
          <a:bodyPr wrap="square" lIns="91440" tIns="45720" rIns="91440" bIns="45720" anchor="t"/>
          <a:lstStyle/>
          <a:p>
            <a:r>
              <a:rPr lang="ja-JP" sz="1400" b="1" dirty="0">
                <a:solidFill>
                  <a:srgbClr val="1F2A5C"/>
                </a:solidFill>
                <a:latin typeface="メイリオ" panose="020B0604030504040204" pitchFamily="50" charset="-128"/>
                <a:ea typeface="メイリオ" panose="020B0604030504040204" pitchFamily="50" charset="-128"/>
                <a:cs typeface="メイリオ"/>
              </a:rPr>
              <a:t>本質課題：イベントが終わると、集めた方との接点が切れる</a:t>
            </a:r>
          </a:p>
        </p:txBody>
      </p:sp>
      <p:sp>
        <p:nvSpPr>
          <p:cNvPr id="10" name="PointBar1">
            <a:extLst>
              <a:ext uri="{FF2B5EF4-FFF2-40B4-BE49-F238E27FC236}">
                <a16:creationId xmlns:a16="http://schemas.microsoft.com/office/drawing/2014/main" id="{C7DEC4BE-D769-656F-80D1-A073D7D39B14}"/>
              </a:ext>
            </a:extLst>
          </p:cNvPr>
          <p:cNvSpPr txBox="1"/>
          <p:nvPr/>
        </p:nvSpPr>
        <p:spPr>
          <a:xfrm>
            <a:off x="522756" y="1364944"/>
            <a:ext cx="457200" cy="50800"/>
          </a:xfrm>
          <a:prstGeom prst="rect">
            <a:avLst/>
          </a:prstGeom>
          <a:solidFill>
            <a:srgbClr val="1F2A5C"/>
          </a:solidFill>
          <a:ln>
            <a:noFill/>
          </a:ln>
        </p:spPr>
        <p:txBody>
          <a:bodyPr wrap="square" lIns="91440" tIns="45720" rIns="91440" bIns="45720" anchor="t"/>
          <a:lstStyle/>
          <a:p>
            <a:endParaRPr lang="ja-JP">
              <a:latin typeface="メイリオ" panose="020B0604030504040204" pitchFamily="50" charset="-128"/>
              <a:ea typeface="メイリオ" panose="020B0604030504040204" pitchFamily="50" charset="-128"/>
              <a:cs typeface="メイリオ"/>
            </a:endParaRPr>
          </a:p>
        </p:txBody>
      </p:sp>
      <p:sp>
        <p:nvSpPr>
          <p:cNvPr id="12" name="PointText1">
            <a:extLst>
              <a:ext uri="{FF2B5EF4-FFF2-40B4-BE49-F238E27FC236}">
                <a16:creationId xmlns:a16="http://schemas.microsoft.com/office/drawing/2014/main" id="{2033FE09-931A-0BF7-9C77-FCBD753258FB}"/>
              </a:ext>
            </a:extLst>
          </p:cNvPr>
          <p:cNvSpPr txBox="1"/>
          <p:nvPr/>
        </p:nvSpPr>
        <p:spPr>
          <a:xfrm>
            <a:off x="522756" y="1491944"/>
            <a:ext cx="2921000" cy="1778000"/>
          </a:xfrm>
          <a:prstGeom prst="rect">
            <a:avLst/>
          </a:prstGeom>
          <a:noFill/>
          <a:ln>
            <a:noFill/>
          </a:ln>
        </p:spPr>
        <p:txBody>
          <a:bodyPr wrap="square" lIns="91440" tIns="45720" rIns="91440" bIns="45720" anchor="t"/>
          <a:lstStyle/>
          <a:p>
            <a:pPr>
              <a:lnSpc>
                <a:spcPct val="130000"/>
              </a:lnSpc>
              <a:spcAft>
                <a:spcPts val="600"/>
              </a:spcAft>
            </a:pPr>
            <a:r>
              <a:rPr lang="ja-JP" sz="1400" b="1" dirty="0">
                <a:solidFill>
                  <a:srgbClr val="1F2A5C"/>
                </a:solidFill>
                <a:latin typeface="メイリオ" panose="020B0604030504040204" pitchFamily="50" charset="-128"/>
                <a:ea typeface="メイリオ" panose="020B0604030504040204" pitchFamily="50" charset="-128"/>
                <a:cs typeface="メイリオ"/>
              </a:rPr>
              <a:t>01 集める</a:t>
            </a:r>
          </a:p>
          <a:p>
            <a:pPr>
              <a:lnSpc>
                <a:spcPct val="140000"/>
              </a:lnSpc>
            </a:pPr>
            <a:r>
              <a:rPr lang="ja-JP" sz="1400" dirty="0">
                <a:solidFill>
                  <a:srgbClr val="333333"/>
                </a:solidFill>
                <a:latin typeface="メイリオ" panose="020B0604030504040204" pitchFamily="50" charset="-128"/>
                <a:ea typeface="メイリオ" panose="020B0604030504040204" pitchFamily="50" charset="-128"/>
                <a:cs typeface="メイリオ"/>
              </a:rPr>
              <a:t>離れる方・予約した方を、友だちにする手段が無い。</a:t>
            </a:r>
          </a:p>
        </p:txBody>
      </p:sp>
      <p:sp>
        <p:nvSpPr>
          <p:cNvPr id="14" name="PointBar2">
            <a:extLst>
              <a:ext uri="{FF2B5EF4-FFF2-40B4-BE49-F238E27FC236}">
                <a16:creationId xmlns:a16="http://schemas.microsoft.com/office/drawing/2014/main" id="{DB62AD08-1E7E-F83F-C786-B77729A3E5C3}"/>
              </a:ext>
            </a:extLst>
          </p:cNvPr>
          <p:cNvSpPr txBox="1"/>
          <p:nvPr/>
        </p:nvSpPr>
        <p:spPr>
          <a:xfrm>
            <a:off x="3634256" y="1364944"/>
            <a:ext cx="457200" cy="50800"/>
          </a:xfrm>
          <a:prstGeom prst="rect">
            <a:avLst/>
          </a:prstGeom>
          <a:solidFill>
            <a:srgbClr val="4A6FA5"/>
          </a:solidFill>
          <a:ln>
            <a:noFill/>
          </a:ln>
        </p:spPr>
        <p:txBody>
          <a:bodyPr wrap="square" lIns="91440" tIns="45720" rIns="91440" bIns="45720" anchor="t"/>
          <a:lstStyle/>
          <a:p>
            <a:endParaRPr lang="ja-JP">
              <a:latin typeface="メイリオ" panose="020B0604030504040204" pitchFamily="50" charset="-128"/>
              <a:ea typeface="メイリオ" panose="020B0604030504040204" pitchFamily="50" charset="-128"/>
              <a:cs typeface="メイリオ"/>
            </a:endParaRPr>
          </a:p>
        </p:txBody>
      </p:sp>
      <p:sp>
        <p:nvSpPr>
          <p:cNvPr id="16" name="PointText2">
            <a:extLst>
              <a:ext uri="{FF2B5EF4-FFF2-40B4-BE49-F238E27FC236}">
                <a16:creationId xmlns:a16="http://schemas.microsoft.com/office/drawing/2014/main" id="{42A785C2-DABF-0508-2085-C2DDBECB7EFE}"/>
              </a:ext>
            </a:extLst>
          </p:cNvPr>
          <p:cNvSpPr txBox="1"/>
          <p:nvPr/>
        </p:nvSpPr>
        <p:spPr>
          <a:xfrm>
            <a:off x="3634256" y="1491944"/>
            <a:ext cx="2921000" cy="1778000"/>
          </a:xfrm>
          <a:prstGeom prst="rect">
            <a:avLst/>
          </a:prstGeom>
          <a:noFill/>
          <a:ln>
            <a:noFill/>
          </a:ln>
        </p:spPr>
        <p:txBody>
          <a:bodyPr wrap="square" lIns="91440" tIns="45720" rIns="91440" bIns="45720" anchor="t"/>
          <a:lstStyle/>
          <a:p>
            <a:pPr>
              <a:lnSpc>
                <a:spcPct val="130000"/>
              </a:lnSpc>
              <a:spcAft>
                <a:spcPts val="600"/>
              </a:spcAft>
            </a:pPr>
            <a:r>
              <a:rPr lang="ja-JP" sz="1400" b="1" dirty="0">
                <a:solidFill>
                  <a:srgbClr val="4A6FA5"/>
                </a:solidFill>
                <a:latin typeface="メイリオ" panose="020B0604030504040204" pitchFamily="50" charset="-128"/>
                <a:ea typeface="メイリオ" panose="020B0604030504040204" pitchFamily="50" charset="-128"/>
                <a:cs typeface="メイリオ"/>
              </a:rPr>
              <a:t>02 追う</a:t>
            </a:r>
          </a:p>
          <a:p>
            <a:pPr>
              <a:lnSpc>
                <a:spcPct val="140000"/>
              </a:lnSpc>
            </a:pPr>
            <a:r>
              <a:rPr lang="ja-JP" sz="1400" dirty="0">
                <a:solidFill>
                  <a:srgbClr val="333333"/>
                </a:solidFill>
                <a:latin typeface="メイリオ" panose="020B0604030504040204" pitchFamily="50" charset="-128"/>
                <a:ea typeface="メイリオ" panose="020B0604030504040204" pitchFamily="50" charset="-128"/>
                <a:cs typeface="メイリオ"/>
              </a:rPr>
              <a:t>次のイベントまで、情報を届ける手段が無い。</a:t>
            </a:r>
          </a:p>
        </p:txBody>
      </p:sp>
      <p:sp>
        <p:nvSpPr>
          <p:cNvPr id="18" name="PointBar3">
            <a:extLst>
              <a:ext uri="{FF2B5EF4-FFF2-40B4-BE49-F238E27FC236}">
                <a16:creationId xmlns:a16="http://schemas.microsoft.com/office/drawing/2014/main" id="{1118F87F-BACD-735A-EBEC-11186FDE8BB4}"/>
              </a:ext>
            </a:extLst>
          </p:cNvPr>
          <p:cNvSpPr txBox="1"/>
          <p:nvPr/>
        </p:nvSpPr>
        <p:spPr>
          <a:xfrm>
            <a:off x="6745756" y="1364944"/>
            <a:ext cx="457200" cy="50800"/>
          </a:xfrm>
          <a:prstGeom prst="rect">
            <a:avLst/>
          </a:prstGeom>
          <a:solidFill>
            <a:srgbClr val="C8102E"/>
          </a:solidFill>
          <a:ln>
            <a:noFill/>
          </a:ln>
        </p:spPr>
        <p:txBody>
          <a:bodyPr wrap="square" lIns="91440" tIns="45720" rIns="91440" bIns="45720" anchor="t"/>
          <a:lstStyle/>
          <a:p>
            <a:endParaRPr lang="ja-JP">
              <a:latin typeface="メイリオ" panose="020B0604030504040204" pitchFamily="50" charset="-128"/>
              <a:ea typeface="メイリオ" panose="020B0604030504040204" pitchFamily="50" charset="-128"/>
              <a:cs typeface="メイリオ"/>
            </a:endParaRPr>
          </a:p>
        </p:txBody>
      </p:sp>
      <p:sp>
        <p:nvSpPr>
          <p:cNvPr id="20" name="PointText3">
            <a:extLst>
              <a:ext uri="{FF2B5EF4-FFF2-40B4-BE49-F238E27FC236}">
                <a16:creationId xmlns:a16="http://schemas.microsoft.com/office/drawing/2014/main" id="{BCC9596F-D039-3698-8BF4-96F93A100013}"/>
              </a:ext>
            </a:extLst>
          </p:cNvPr>
          <p:cNvSpPr txBox="1"/>
          <p:nvPr/>
        </p:nvSpPr>
        <p:spPr>
          <a:xfrm>
            <a:off x="6745756" y="1491944"/>
            <a:ext cx="2921000" cy="1778000"/>
          </a:xfrm>
          <a:prstGeom prst="rect">
            <a:avLst/>
          </a:prstGeom>
          <a:noFill/>
          <a:ln>
            <a:noFill/>
          </a:ln>
        </p:spPr>
        <p:txBody>
          <a:bodyPr wrap="square" lIns="91440" tIns="45720" rIns="91440" bIns="45720" anchor="t"/>
          <a:lstStyle/>
          <a:p>
            <a:pPr>
              <a:lnSpc>
                <a:spcPct val="130000"/>
              </a:lnSpc>
              <a:spcAft>
                <a:spcPts val="600"/>
              </a:spcAft>
            </a:pPr>
            <a:r>
              <a:rPr lang="ja-JP" sz="1400" b="1" dirty="0">
                <a:solidFill>
                  <a:srgbClr val="C8102E"/>
                </a:solidFill>
                <a:latin typeface="メイリオ" panose="020B0604030504040204" pitchFamily="50" charset="-128"/>
                <a:ea typeface="メイリオ" panose="020B0604030504040204" pitchFamily="50" charset="-128"/>
                <a:cs typeface="メイリオ"/>
              </a:rPr>
              <a:t>03 つなげる</a:t>
            </a:r>
          </a:p>
          <a:p>
            <a:pPr>
              <a:lnSpc>
                <a:spcPct val="140000"/>
              </a:lnSpc>
            </a:pPr>
            <a:r>
              <a:rPr lang="ja-JP" sz="1400" dirty="0">
                <a:solidFill>
                  <a:srgbClr val="333333"/>
                </a:solidFill>
                <a:latin typeface="メイリオ" panose="020B0604030504040204" pitchFamily="50" charset="-128"/>
                <a:ea typeface="メイリオ" panose="020B0604030504040204" pitchFamily="50" charset="-128"/>
                <a:cs typeface="メイリオ"/>
              </a:rPr>
              <a:t>参加した方に、入会を案内する手段が無い。</a:t>
            </a:r>
          </a:p>
        </p:txBody>
      </p:sp>
      <p:sp>
        <p:nvSpPr>
          <p:cNvPr id="22" name="Card1_Title">
            <a:extLst>
              <a:ext uri="{FF2B5EF4-FFF2-40B4-BE49-F238E27FC236}">
                <a16:creationId xmlns:a16="http://schemas.microsoft.com/office/drawing/2014/main" id="{158619A4-8A31-BE94-703F-4958B5725C84}"/>
              </a:ext>
            </a:extLst>
          </p:cNvPr>
          <p:cNvSpPr txBox="1"/>
          <p:nvPr/>
        </p:nvSpPr>
        <p:spPr>
          <a:xfrm>
            <a:off x="522756" y="3130857"/>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レバー①友だち獲得</a:t>
            </a:r>
          </a:p>
        </p:txBody>
      </p:sp>
      <p:sp>
        <p:nvSpPr>
          <p:cNvPr id="24" name="Card1_Body">
            <a:extLst>
              <a:ext uri="{FF2B5EF4-FFF2-40B4-BE49-F238E27FC236}">
                <a16:creationId xmlns:a16="http://schemas.microsoft.com/office/drawing/2014/main" id="{0591B75C-4032-FF85-1619-85480346C68B}"/>
              </a:ext>
            </a:extLst>
          </p:cNvPr>
          <p:cNvSpPr txBox="1"/>
          <p:nvPr/>
        </p:nvSpPr>
        <p:spPr>
          <a:xfrm>
            <a:off x="522756" y="3654732"/>
            <a:ext cx="2921000" cy="1183968"/>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ポップアップツールで、LPを離れる方を友だちに</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サンクスLINE誘導で、予約した方を友だちに</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28" name="Card2_Title">
            <a:extLst>
              <a:ext uri="{FF2B5EF4-FFF2-40B4-BE49-F238E27FC236}">
                <a16:creationId xmlns:a16="http://schemas.microsoft.com/office/drawing/2014/main" id="{FBA18ADF-68C9-3C6A-AF9F-C0983A9FA610}"/>
              </a:ext>
            </a:extLst>
          </p:cNvPr>
          <p:cNvSpPr txBox="1"/>
          <p:nvPr/>
        </p:nvSpPr>
        <p:spPr>
          <a:xfrm>
            <a:off x="3634256" y="3130857"/>
            <a:ext cx="2921000" cy="457200"/>
          </a:xfrm>
          <a:prstGeom prst="rect">
            <a:avLst/>
          </a:prstGeom>
          <a:solidFill>
            <a:srgbClr val="FFFFFF"/>
          </a:solidFill>
          <a:ln w="6350">
            <a:solidFill>
              <a:srgbClr val="4A6FA5"/>
            </a:solidFill>
          </a:ln>
        </p:spPr>
        <p:txBody>
          <a:bodyPr wrap="square" lIns="177800" tIns="101600" rIns="177800" bIns="101600" anchor="ctr"/>
          <a:lstStyle/>
          <a:p>
            <a:pPr>
              <a:buNone/>
            </a:pPr>
            <a:r>
              <a:rPr lang="ja-JP" sz="1400" b="1" dirty="0">
                <a:solidFill>
                  <a:srgbClr val="4A6FA5"/>
                </a:solidFill>
                <a:latin typeface="メイリオ" panose="020B0604030504040204" pitchFamily="50" charset="-128"/>
                <a:ea typeface="メイリオ" panose="020B0604030504040204" pitchFamily="50" charset="-128"/>
                <a:cs typeface="メイリオ"/>
              </a:rPr>
              <a:t>レバー②予約・参加の向上</a:t>
            </a:r>
          </a:p>
        </p:txBody>
      </p:sp>
      <p:sp>
        <p:nvSpPr>
          <p:cNvPr id="31" name="Card2_Body">
            <a:extLst>
              <a:ext uri="{FF2B5EF4-FFF2-40B4-BE49-F238E27FC236}">
                <a16:creationId xmlns:a16="http://schemas.microsoft.com/office/drawing/2014/main" id="{C6C8B9B3-D69C-0AD1-CB41-2692B3F564E3}"/>
              </a:ext>
            </a:extLst>
          </p:cNvPr>
          <p:cNvSpPr txBox="1"/>
          <p:nvPr/>
        </p:nvSpPr>
        <p:spPr>
          <a:xfrm>
            <a:off x="3634256" y="3654732"/>
            <a:ext cx="2921000" cy="1183968"/>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見どころ動画・参加特典で、予約へ</a:t>
            </a:r>
          </a:p>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前日・当日のお知らせで、当日の参加へ</a:t>
            </a:r>
          </a:p>
          <a:p>
            <a:pPr marL="171450" indent="-171450">
              <a:spcBef>
                <a:spcPts val="200"/>
              </a:spcBef>
              <a:buClr>
                <a:srgbClr val="4A6FA5"/>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5" name="Card3_Title">
            <a:extLst>
              <a:ext uri="{FF2B5EF4-FFF2-40B4-BE49-F238E27FC236}">
                <a16:creationId xmlns:a16="http://schemas.microsoft.com/office/drawing/2014/main" id="{08BFDF2D-75D7-62F5-F661-0B055C86365E}"/>
              </a:ext>
            </a:extLst>
          </p:cNvPr>
          <p:cNvSpPr txBox="1"/>
          <p:nvPr/>
        </p:nvSpPr>
        <p:spPr>
          <a:xfrm>
            <a:off x="6745756" y="3130857"/>
            <a:ext cx="2921000" cy="457200"/>
          </a:xfrm>
          <a:prstGeom prst="rect">
            <a:avLst/>
          </a:prstGeom>
          <a:solidFill>
            <a:srgbClr val="FFFFFF"/>
          </a:solidFill>
          <a:ln w="6350">
            <a:solidFill>
              <a:srgbClr val="C8102E"/>
            </a:solidFill>
          </a:ln>
        </p:spPr>
        <p:txBody>
          <a:bodyPr wrap="square" lIns="177800" tIns="101600" rIns="177800" bIns="101600" anchor="ctr"/>
          <a:lstStyle/>
          <a:p>
            <a:pPr>
              <a:buNone/>
            </a:pPr>
            <a:r>
              <a:rPr lang="ja-JP" sz="1400" b="1" dirty="0">
                <a:solidFill>
                  <a:srgbClr val="C8102E"/>
                </a:solidFill>
                <a:latin typeface="メイリオ" panose="020B0604030504040204" pitchFamily="50" charset="-128"/>
                <a:ea typeface="メイリオ" panose="020B0604030504040204" pitchFamily="50" charset="-128"/>
                <a:cs typeface="メイリオ"/>
              </a:rPr>
              <a:t>レバー③入会の向上</a:t>
            </a:r>
          </a:p>
        </p:txBody>
      </p:sp>
      <p:sp>
        <p:nvSpPr>
          <p:cNvPr id="37" name="Card3_Body">
            <a:extLst>
              <a:ext uri="{FF2B5EF4-FFF2-40B4-BE49-F238E27FC236}">
                <a16:creationId xmlns:a16="http://schemas.microsoft.com/office/drawing/2014/main" id="{6FB492E1-4B54-CC21-DF0B-BC7C63ED2C23}"/>
              </a:ext>
            </a:extLst>
          </p:cNvPr>
          <p:cNvSpPr txBox="1"/>
          <p:nvPr/>
        </p:nvSpPr>
        <p:spPr>
          <a:xfrm>
            <a:off x="6745756" y="3654732"/>
            <a:ext cx="2921000" cy="1183968"/>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C8102E"/>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イベント直後に、サロンの申込みフォームを案内</a:t>
            </a:r>
          </a:p>
          <a:p>
            <a:pPr marL="171450" indent="-171450">
              <a:spcBef>
                <a:spcPts val="200"/>
              </a:spcBef>
              <a:buClr>
                <a:srgbClr val="C8102E"/>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平常期の配信で、次のイベントまでつながる</a:t>
            </a:r>
          </a:p>
          <a:p>
            <a:pPr marL="171450" indent="-171450">
              <a:spcBef>
                <a:spcPts val="200"/>
              </a:spcBef>
              <a:buClr>
                <a:srgbClr val="C8102E"/>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5729555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5A3DF-C10C-8FE5-7F9E-31ABEE07B259}"/>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0EE3F49-35DE-76F6-E16B-C5295151470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D5F65FCA-9F11-3F13-D2F2-A6E61F220801}"/>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0ED16010-4596-5D53-EEA4-CE60ADBA0ED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FAC7DBDD-AB66-4379-9061-7EE7673C8D36}"/>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57B12960-F95F-F815-42F4-98678B7CBC86}"/>
              </a:ext>
            </a:extLst>
          </p:cNvPr>
          <p:cNvSpPr/>
          <p:nvPr/>
        </p:nvSpPr>
        <p:spPr>
          <a:xfrm>
            <a:off x="261257" y="1672045"/>
            <a:ext cx="2899954" cy="40930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panose="020B0604030504040204" pitchFamily="50" charset="-128"/>
                <a:ea typeface="メイリオ" panose="020B0604030504040204" pitchFamily="50" charset="-128"/>
                <a:cs typeface="メイリオ"/>
              </a:rPr>
              <a:t>初期</a:t>
            </a:r>
          </a:p>
        </p:txBody>
      </p:sp>
      <p:sp>
        <p:nvSpPr>
          <p:cNvPr id="7" name="正方形/長方形 6">
            <a:extLst>
              <a:ext uri="{FF2B5EF4-FFF2-40B4-BE49-F238E27FC236}">
                <a16:creationId xmlns:a16="http://schemas.microsoft.com/office/drawing/2014/main" id="{2D73F25E-11E1-6B69-BF72-02319EB2875A}"/>
              </a:ext>
            </a:extLst>
          </p:cNvPr>
          <p:cNvSpPr/>
          <p:nvPr/>
        </p:nvSpPr>
        <p:spPr>
          <a:xfrm>
            <a:off x="3337560" y="1672045"/>
            <a:ext cx="2899954" cy="40930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panose="020B0604030504040204" pitchFamily="50" charset="-128"/>
                <a:ea typeface="メイリオ" panose="020B0604030504040204" pitchFamily="50" charset="-128"/>
                <a:cs typeface="メイリオ"/>
              </a:rPr>
              <a:t>月次</a:t>
            </a:r>
          </a:p>
        </p:txBody>
      </p:sp>
      <p:sp>
        <p:nvSpPr>
          <p:cNvPr id="8" name="正方形/長方形 7">
            <a:extLst>
              <a:ext uri="{FF2B5EF4-FFF2-40B4-BE49-F238E27FC236}">
                <a16:creationId xmlns:a16="http://schemas.microsoft.com/office/drawing/2014/main" id="{199847F9-D2D7-C50C-BB87-1E906E928D4B}"/>
              </a:ext>
            </a:extLst>
          </p:cNvPr>
          <p:cNvSpPr/>
          <p:nvPr/>
        </p:nvSpPr>
        <p:spPr>
          <a:xfrm>
            <a:off x="261257" y="2158065"/>
            <a:ext cx="2899954" cy="90735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b="1" dirty="0">
                <a:solidFill>
                  <a:schemeClr val="tx1"/>
                </a:solidFill>
                <a:latin typeface="メイリオ" panose="020B0604030504040204" pitchFamily="50" charset="-128"/>
                <a:ea typeface="メイリオ" panose="020B0604030504040204" pitchFamily="50" charset="-128"/>
                <a:cs typeface="メイリオ"/>
              </a:rPr>
              <a:t>295,000円</a:t>
            </a:r>
          </a:p>
        </p:txBody>
      </p:sp>
      <p:sp>
        <p:nvSpPr>
          <p:cNvPr id="10" name="正方形/長方形 9">
            <a:extLst>
              <a:ext uri="{FF2B5EF4-FFF2-40B4-BE49-F238E27FC236}">
                <a16:creationId xmlns:a16="http://schemas.microsoft.com/office/drawing/2014/main" id="{63A7B228-99E2-EBCF-6198-F3D1FAD9898F}"/>
              </a:ext>
            </a:extLst>
          </p:cNvPr>
          <p:cNvSpPr/>
          <p:nvPr/>
        </p:nvSpPr>
        <p:spPr>
          <a:xfrm>
            <a:off x="3337560" y="2158065"/>
            <a:ext cx="2899954" cy="90735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chemeClr val="tx1"/>
                </a:solidFill>
                <a:latin typeface="メイリオ" panose="020B0604030504040204" pitchFamily="50" charset="-128"/>
                <a:ea typeface="メイリオ" panose="020B0604030504040204" pitchFamily="50" charset="-128"/>
                <a:cs typeface="メイリオ"/>
              </a:rPr>
              <a:t>イベント期 365,000円〜</a:t>
            </a:r>
            <a:endParaRPr kumimoji="1" lang="ja-JP" altLang="en-US" sz="32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en-US" altLang="ja-JP" sz="1600" b="1" dirty="0">
                <a:solidFill>
                  <a:schemeClr val="tx1"/>
                </a:solidFill>
                <a:latin typeface="メイリオ" panose="020B0604030504040204" pitchFamily="50" charset="-128"/>
                <a:ea typeface="メイリオ" panose="020B0604030504040204" pitchFamily="50" charset="-128"/>
                <a:cs typeface="メイリオ"/>
              </a:rPr>
              <a:t>平常期 165,000円〜</a:t>
            </a:r>
            <a:endParaRPr kumimoji="1" lang="ja-JP" altLang="en-US" sz="32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5" name="矢印: 右 14">
            <a:extLst>
              <a:ext uri="{FF2B5EF4-FFF2-40B4-BE49-F238E27FC236}">
                <a16:creationId xmlns:a16="http://schemas.microsoft.com/office/drawing/2014/main" id="{C9D5333B-E781-F21F-8A3E-D6FE2FD21602}"/>
              </a:ext>
            </a:extLst>
          </p:cNvPr>
          <p:cNvSpPr/>
          <p:nvPr/>
        </p:nvSpPr>
        <p:spPr>
          <a:xfrm>
            <a:off x="6379031" y="2281645"/>
            <a:ext cx="365760" cy="2795449"/>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EEF41587-0DB5-E870-CE7C-9CC369CE0FEE}"/>
              </a:ext>
            </a:extLst>
          </p:cNvPr>
          <p:cNvSpPr/>
          <p:nvPr/>
        </p:nvSpPr>
        <p:spPr>
          <a:xfrm>
            <a:off x="6744791" y="1672044"/>
            <a:ext cx="2899952" cy="40930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bg1"/>
                </a:solidFill>
                <a:latin typeface="メイリオ" panose="020B0604030504040204" pitchFamily="50" charset="-128"/>
                <a:ea typeface="メイリオ" panose="020B0604030504040204" pitchFamily="50" charset="-128"/>
                <a:cs typeface="メイリオ"/>
              </a:rPr>
              <a:t>6</a:t>
            </a:r>
            <a:r>
              <a:rPr kumimoji="1" lang="ja-JP" altLang="en-US" sz="1200" dirty="0">
                <a:solidFill>
                  <a:schemeClr val="bg1"/>
                </a:solidFill>
                <a:latin typeface="メイリオ" panose="020B0604030504040204" pitchFamily="50" charset="-128"/>
                <a:ea typeface="メイリオ" panose="020B0604030504040204" pitchFamily="50" charset="-128"/>
                <a:cs typeface="メイリオ"/>
              </a:rPr>
              <a:t>か月後</a:t>
            </a:r>
          </a:p>
        </p:txBody>
      </p:sp>
      <p:sp>
        <p:nvSpPr>
          <p:cNvPr id="19" name="テキスト ボックス 18">
            <a:extLst>
              <a:ext uri="{FF2B5EF4-FFF2-40B4-BE49-F238E27FC236}">
                <a16:creationId xmlns:a16="http://schemas.microsoft.com/office/drawing/2014/main" id="{310A0391-C27F-47EB-C4DA-F30ADEFF5697}"/>
              </a:ext>
            </a:extLst>
          </p:cNvPr>
          <p:cNvSpPr txBox="1"/>
          <p:nvPr/>
        </p:nvSpPr>
        <p:spPr>
          <a:xfrm>
            <a:off x="444137" y="3186837"/>
            <a:ext cx="2534194" cy="276999"/>
          </a:xfrm>
          <a:prstGeom prst="rect">
            <a:avLst/>
          </a:prstGeom>
          <a:noFill/>
        </p:spPr>
        <p:txBody>
          <a:bodyPr wrap="square">
            <a:spAutoFit/>
          </a:bodyPr>
          <a:lstStyle/>
          <a:p>
            <a:pPr algn="ctr"/>
            <a:r>
              <a:rPr kumimoji="1" lang="en-US" altLang="ja-JP" sz="1200" dirty="0">
                <a:solidFill>
                  <a:schemeClr val="tx1"/>
                </a:solidFill>
                <a:latin typeface="メイリオ" panose="020B0604030504040204" pitchFamily="50" charset="-128"/>
                <a:ea typeface="メイリオ" panose="020B0604030504040204" pitchFamily="50" charset="-128"/>
                <a:cs typeface="メイリオ"/>
              </a:rPr>
              <a:t>&lt;</a:t>
            </a:r>
            <a:r>
              <a:rPr kumimoji="1" lang="ja-JP" altLang="en-US" sz="1200" dirty="0">
                <a:solidFill>
                  <a:schemeClr val="tx1"/>
                </a:solidFill>
                <a:latin typeface="メイリオ" panose="020B0604030504040204" pitchFamily="50" charset="-128"/>
                <a:ea typeface="メイリオ" panose="020B0604030504040204" pitchFamily="50" charset="-128"/>
                <a:cs typeface="メイリオ"/>
              </a:rPr>
              <a:t>実施内容</a:t>
            </a:r>
            <a:r>
              <a:rPr kumimoji="1" lang="en-US" altLang="ja-JP" sz="1200" dirty="0">
                <a:solidFill>
                  <a:schemeClr val="tx1"/>
                </a:solidFill>
                <a:latin typeface="メイリオ" panose="020B0604030504040204" pitchFamily="50" charset="-128"/>
                <a:ea typeface="メイリオ" panose="020B0604030504040204" pitchFamily="50" charset="-128"/>
                <a:cs typeface="メイリオ"/>
              </a:rPr>
              <a:t>&gt;</a:t>
            </a:r>
            <a:endParaRPr kumimoji="1" lang="ja-JP" altLang="en-US"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A604517E-5D11-7843-773C-E3FD1B8C7C60}"/>
              </a:ext>
            </a:extLst>
          </p:cNvPr>
          <p:cNvSpPr txBox="1"/>
          <p:nvPr/>
        </p:nvSpPr>
        <p:spPr>
          <a:xfrm>
            <a:off x="3503024" y="3186837"/>
            <a:ext cx="2534194" cy="276999"/>
          </a:xfrm>
          <a:prstGeom prst="rect">
            <a:avLst/>
          </a:prstGeom>
          <a:noFill/>
        </p:spPr>
        <p:txBody>
          <a:bodyPr wrap="square">
            <a:spAutoFit/>
          </a:bodyPr>
          <a:lstStyle/>
          <a:p>
            <a:pPr algn="ctr"/>
            <a:r>
              <a:rPr kumimoji="1" lang="en-US" altLang="ja-JP" sz="1200" dirty="0">
                <a:solidFill>
                  <a:schemeClr val="tx1"/>
                </a:solidFill>
                <a:latin typeface="メイリオ" panose="020B0604030504040204" pitchFamily="50" charset="-128"/>
                <a:ea typeface="メイリオ" panose="020B0604030504040204" pitchFamily="50" charset="-128"/>
                <a:cs typeface="メイリオ"/>
              </a:rPr>
              <a:t>&lt;</a:t>
            </a:r>
            <a:r>
              <a:rPr kumimoji="1" lang="ja-JP" altLang="en-US" sz="1200" dirty="0">
                <a:solidFill>
                  <a:schemeClr val="tx1"/>
                </a:solidFill>
                <a:latin typeface="メイリオ" panose="020B0604030504040204" pitchFamily="50" charset="-128"/>
                <a:ea typeface="メイリオ" panose="020B0604030504040204" pitchFamily="50" charset="-128"/>
                <a:cs typeface="メイリオ"/>
              </a:rPr>
              <a:t>実施内容</a:t>
            </a:r>
            <a:r>
              <a:rPr kumimoji="1" lang="en-US" altLang="ja-JP" sz="1200" dirty="0">
                <a:solidFill>
                  <a:schemeClr val="tx1"/>
                </a:solidFill>
                <a:latin typeface="メイリオ" panose="020B0604030504040204" pitchFamily="50" charset="-128"/>
                <a:ea typeface="メイリオ" panose="020B0604030504040204" pitchFamily="50" charset="-128"/>
                <a:cs typeface="メイリオ"/>
              </a:rPr>
              <a:t>&gt;</a:t>
            </a:r>
            <a:endParaRPr kumimoji="1" lang="ja-JP" altLang="en-US"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3" name="正方形/長方形 22">
            <a:extLst>
              <a:ext uri="{FF2B5EF4-FFF2-40B4-BE49-F238E27FC236}">
                <a16:creationId xmlns:a16="http://schemas.microsoft.com/office/drawing/2014/main" id="{C4A8FBD8-A5AF-984F-36F3-947AA6D25DE9}"/>
              </a:ext>
            </a:extLst>
          </p:cNvPr>
          <p:cNvSpPr/>
          <p:nvPr/>
        </p:nvSpPr>
        <p:spPr>
          <a:xfrm>
            <a:off x="332016" y="3478699"/>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bg1"/>
                </a:solidFill>
                <a:latin typeface="メイリオ" panose="020B0604030504040204" pitchFamily="50" charset="-128"/>
                <a:ea typeface="メイリオ" panose="020B0604030504040204" pitchFamily="50" charset="-128"/>
                <a:cs typeface="メイリオ"/>
              </a:rPr>
              <a:t>プロフ設定</a:t>
            </a:r>
          </a:p>
        </p:txBody>
      </p:sp>
      <p:sp>
        <p:nvSpPr>
          <p:cNvPr id="25" name="正方形/長方形 24">
            <a:extLst>
              <a:ext uri="{FF2B5EF4-FFF2-40B4-BE49-F238E27FC236}">
                <a16:creationId xmlns:a16="http://schemas.microsoft.com/office/drawing/2014/main" id="{873C1A32-DE1E-D85A-180C-1A75241C4F24}"/>
              </a:ext>
            </a:extLst>
          </p:cNvPr>
          <p:cNvSpPr/>
          <p:nvPr/>
        </p:nvSpPr>
        <p:spPr>
          <a:xfrm>
            <a:off x="3408319" y="3478699"/>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bg1"/>
                </a:solidFill>
                <a:latin typeface="メイリオ" panose="020B0604030504040204" pitchFamily="50" charset="-128"/>
                <a:ea typeface="メイリオ" panose="020B0604030504040204" pitchFamily="50" charset="-128"/>
                <a:cs typeface="メイリオ"/>
              </a:rPr>
              <a:t>イベント期の配信</a:t>
            </a:r>
          </a:p>
        </p:txBody>
      </p:sp>
      <p:sp>
        <p:nvSpPr>
          <p:cNvPr id="27" name="正方形/長方形 26">
            <a:extLst>
              <a:ext uri="{FF2B5EF4-FFF2-40B4-BE49-F238E27FC236}">
                <a16:creationId xmlns:a16="http://schemas.microsoft.com/office/drawing/2014/main" id="{C25D5024-5D6E-0D20-5084-D887C5FBCAB9}"/>
              </a:ext>
            </a:extLst>
          </p:cNvPr>
          <p:cNvSpPr/>
          <p:nvPr/>
        </p:nvSpPr>
        <p:spPr>
          <a:xfrm>
            <a:off x="1581160" y="3478699"/>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有</a:t>
            </a:r>
          </a:p>
        </p:txBody>
      </p:sp>
      <p:sp>
        <p:nvSpPr>
          <p:cNvPr id="29" name="正方形/長方形 28">
            <a:extLst>
              <a:ext uri="{FF2B5EF4-FFF2-40B4-BE49-F238E27FC236}">
                <a16:creationId xmlns:a16="http://schemas.microsoft.com/office/drawing/2014/main" id="{E77B38CC-6FB3-2601-37C4-A87B4DFC868D}"/>
              </a:ext>
            </a:extLst>
          </p:cNvPr>
          <p:cNvSpPr/>
          <p:nvPr/>
        </p:nvSpPr>
        <p:spPr>
          <a:xfrm>
            <a:off x="4657463" y="3478699"/>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rgbClr val="FF0000"/>
                </a:solidFill>
                <a:latin typeface="メイリオ" panose="020B0604030504040204" pitchFamily="50" charset="-128"/>
                <a:ea typeface="メイリオ" panose="020B0604030504040204" pitchFamily="50" charset="-128"/>
                <a:cs typeface="メイリオ"/>
              </a:rPr>
              <a:t>月4件</a:t>
            </a:r>
          </a:p>
        </p:txBody>
      </p:sp>
      <p:sp>
        <p:nvSpPr>
          <p:cNvPr id="31" name="正方形/長方形 30">
            <a:extLst>
              <a:ext uri="{FF2B5EF4-FFF2-40B4-BE49-F238E27FC236}">
                <a16:creationId xmlns:a16="http://schemas.microsoft.com/office/drawing/2014/main" id="{115A9264-B39A-757E-8405-E65513F35674}"/>
              </a:ext>
            </a:extLst>
          </p:cNvPr>
          <p:cNvSpPr/>
          <p:nvPr/>
        </p:nvSpPr>
        <p:spPr>
          <a:xfrm>
            <a:off x="332016" y="3905336"/>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bg1"/>
                </a:solidFill>
                <a:latin typeface="メイリオ" panose="020B0604030504040204" pitchFamily="50" charset="-128"/>
                <a:ea typeface="メイリオ" panose="020B0604030504040204" pitchFamily="50" charset="-128"/>
                <a:cs typeface="メイリオ"/>
              </a:rPr>
              <a:t>挨拶メッセ</a:t>
            </a:r>
            <a:endParaRPr kumimoji="1" lang="ja-JP" altLang="en-US" sz="105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3" name="正方形/長方形 32">
            <a:extLst>
              <a:ext uri="{FF2B5EF4-FFF2-40B4-BE49-F238E27FC236}">
                <a16:creationId xmlns:a16="http://schemas.microsoft.com/office/drawing/2014/main" id="{4B713AEE-1C5C-F6A9-5475-72211BDE4D2B}"/>
              </a:ext>
            </a:extLst>
          </p:cNvPr>
          <p:cNvSpPr/>
          <p:nvPr/>
        </p:nvSpPr>
        <p:spPr>
          <a:xfrm>
            <a:off x="3408319" y="3905336"/>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chemeClr val="bg1"/>
                </a:solidFill>
                <a:latin typeface="メイリオ" panose="020B0604030504040204" pitchFamily="50" charset="-128"/>
                <a:ea typeface="メイリオ" panose="020B0604030504040204" pitchFamily="50" charset="-128"/>
                <a:cs typeface="メイリオ"/>
              </a:rPr>
              <a:t>平常期の配信</a:t>
            </a:r>
            <a:endParaRPr kumimoji="1" lang="ja-JP" altLang="en-US" sz="105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5" name="正方形/長方形 34">
            <a:extLst>
              <a:ext uri="{FF2B5EF4-FFF2-40B4-BE49-F238E27FC236}">
                <a16:creationId xmlns:a16="http://schemas.microsoft.com/office/drawing/2014/main" id="{BCAB041C-BD21-54BB-4B86-45F9272A0766}"/>
              </a:ext>
            </a:extLst>
          </p:cNvPr>
          <p:cNvSpPr/>
          <p:nvPr/>
        </p:nvSpPr>
        <p:spPr>
          <a:xfrm>
            <a:off x="1581160" y="3905336"/>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有</a:t>
            </a:r>
          </a:p>
        </p:txBody>
      </p:sp>
      <p:sp>
        <p:nvSpPr>
          <p:cNvPr id="37" name="正方形/長方形 36">
            <a:extLst>
              <a:ext uri="{FF2B5EF4-FFF2-40B4-BE49-F238E27FC236}">
                <a16:creationId xmlns:a16="http://schemas.microsoft.com/office/drawing/2014/main" id="{421C035C-EA8F-E32B-4A4F-7F063B546AE6}"/>
              </a:ext>
            </a:extLst>
          </p:cNvPr>
          <p:cNvSpPr/>
          <p:nvPr/>
        </p:nvSpPr>
        <p:spPr>
          <a:xfrm>
            <a:off x="4657463" y="3905336"/>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月2件</a:t>
            </a:r>
          </a:p>
        </p:txBody>
      </p:sp>
      <p:sp>
        <p:nvSpPr>
          <p:cNvPr id="39" name="正方形/長方形 38">
            <a:extLst>
              <a:ext uri="{FF2B5EF4-FFF2-40B4-BE49-F238E27FC236}">
                <a16:creationId xmlns:a16="http://schemas.microsoft.com/office/drawing/2014/main" id="{3F01B448-7A1E-6B78-D0F5-86106D6EACBD}"/>
              </a:ext>
            </a:extLst>
          </p:cNvPr>
          <p:cNvSpPr/>
          <p:nvPr/>
        </p:nvSpPr>
        <p:spPr>
          <a:xfrm>
            <a:off x="332016" y="4331973"/>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dirty="0">
                <a:solidFill>
                  <a:schemeClr val="bg1"/>
                </a:solidFill>
                <a:latin typeface="メイリオ" panose="020B0604030504040204" pitchFamily="50" charset="-128"/>
                <a:ea typeface="メイリオ" panose="020B0604030504040204" pitchFamily="50" charset="-128"/>
                <a:cs typeface="メイリオ"/>
              </a:rPr>
              <a:t>Step配信</a:t>
            </a:r>
            <a:endParaRPr kumimoji="1" lang="ja-JP" altLang="en-US" sz="1050" dirty="0">
              <a:solidFill>
                <a:schemeClr val="bg1"/>
              </a:solidFill>
              <a:latin typeface="メイリオ" panose="020B0604030504040204" pitchFamily="50" charset="-128"/>
              <a:ea typeface="メイリオ" panose="020B0604030504040204" pitchFamily="50" charset="-128"/>
              <a:cs typeface="メイリオ"/>
            </a:endParaRPr>
          </a:p>
        </p:txBody>
      </p:sp>
      <p:sp>
        <p:nvSpPr>
          <p:cNvPr id="41" name="正方形/長方形 40">
            <a:extLst>
              <a:ext uri="{FF2B5EF4-FFF2-40B4-BE49-F238E27FC236}">
                <a16:creationId xmlns:a16="http://schemas.microsoft.com/office/drawing/2014/main" id="{9BA75733-C506-7AAF-689C-0566D38B8516}"/>
              </a:ext>
            </a:extLst>
          </p:cNvPr>
          <p:cNvSpPr/>
          <p:nvPr/>
        </p:nvSpPr>
        <p:spPr>
          <a:xfrm>
            <a:off x="3408319" y="4331973"/>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bg1"/>
                </a:solidFill>
                <a:latin typeface="メイリオ" panose="020B0604030504040204" pitchFamily="50" charset="-128"/>
                <a:ea typeface="メイリオ" panose="020B0604030504040204" pitchFamily="50" charset="-128"/>
                <a:cs typeface="メイリオ"/>
              </a:rPr>
              <a:t>Step修正</a:t>
            </a:r>
          </a:p>
        </p:txBody>
      </p:sp>
      <p:sp>
        <p:nvSpPr>
          <p:cNvPr id="43" name="正方形/長方形 42">
            <a:extLst>
              <a:ext uri="{FF2B5EF4-FFF2-40B4-BE49-F238E27FC236}">
                <a16:creationId xmlns:a16="http://schemas.microsoft.com/office/drawing/2014/main" id="{CA10D951-0E85-C8B0-A660-1CFDD75944A1}"/>
              </a:ext>
            </a:extLst>
          </p:cNvPr>
          <p:cNvSpPr/>
          <p:nvPr/>
        </p:nvSpPr>
        <p:spPr>
          <a:xfrm>
            <a:off x="1581160" y="4331973"/>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有（5本）</a:t>
            </a:r>
          </a:p>
        </p:txBody>
      </p:sp>
      <p:sp>
        <p:nvSpPr>
          <p:cNvPr id="46" name="正方形/長方形 45">
            <a:extLst>
              <a:ext uri="{FF2B5EF4-FFF2-40B4-BE49-F238E27FC236}">
                <a16:creationId xmlns:a16="http://schemas.microsoft.com/office/drawing/2014/main" id="{5CB780A3-73E3-5BDA-9BFB-9390DF84F0D0}"/>
              </a:ext>
            </a:extLst>
          </p:cNvPr>
          <p:cNvSpPr/>
          <p:nvPr/>
        </p:nvSpPr>
        <p:spPr>
          <a:xfrm>
            <a:off x="4657463" y="4331973"/>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随時</a:t>
            </a:r>
          </a:p>
        </p:txBody>
      </p:sp>
      <p:sp>
        <p:nvSpPr>
          <p:cNvPr id="48" name="正方形/長方形 47">
            <a:extLst>
              <a:ext uri="{FF2B5EF4-FFF2-40B4-BE49-F238E27FC236}">
                <a16:creationId xmlns:a16="http://schemas.microsoft.com/office/drawing/2014/main" id="{E59FEFFB-8267-7E04-F67D-CEB5CB6CCE4A}"/>
              </a:ext>
            </a:extLst>
          </p:cNvPr>
          <p:cNvSpPr/>
          <p:nvPr/>
        </p:nvSpPr>
        <p:spPr>
          <a:xfrm>
            <a:off x="332016" y="4758610"/>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bg1"/>
                </a:solidFill>
                <a:latin typeface="メイリオ" panose="020B0604030504040204" pitchFamily="50" charset="-128"/>
                <a:ea typeface="メイリオ" panose="020B0604030504040204" pitchFamily="50" charset="-128"/>
                <a:cs typeface="メイリオ"/>
              </a:rPr>
              <a:t>リッチメニュー</a:t>
            </a:r>
          </a:p>
        </p:txBody>
      </p:sp>
      <p:sp>
        <p:nvSpPr>
          <p:cNvPr id="50" name="正方形/長方形 49">
            <a:extLst>
              <a:ext uri="{FF2B5EF4-FFF2-40B4-BE49-F238E27FC236}">
                <a16:creationId xmlns:a16="http://schemas.microsoft.com/office/drawing/2014/main" id="{9A17F9B0-0885-311C-7DC8-7C9FF52B6FF3}"/>
              </a:ext>
            </a:extLst>
          </p:cNvPr>
          <p:cNvSpPr/>
          <p:nvPr/>
        </p:nvSpPr>
        <p:spPr>
          <a:xfrm>
            <a:off x="3408319" y="4758610"/>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bg1"/>
                </a:solidFill>
                <a:latin typeface="メイリオ" panose="020B0604030504040204" pitchFamily="50" charset="-128"/>
                <a:ea typeface="メイリオ" panose="020B0604030504040204" pitchFamily="50" charset="-128"/>
                <a:cs typeface="メイリオ"/>
              </a:rPr>
              <a:t>メニュー修正</a:t>
            </a:r>
          </a:p>
        </p:txBody>
      </p:sp>
      <p:sp>
        <p:nvSpPr>
          <p:cNvPr id="52" name="正方形/長方形 51">
            <a:extLst>
              <a:ext uri="{FF2B5EF4-FFF2-40B4-BE49-F238E27FC236}">
                <a16:creationId xmlns:a16="http://schemas.microsoft.com/office/drawing/2014/main" id="{F6370A2A-1C3A-FB9F-5AA2-1D633B4A8081}"/>
              </a:ext>
            </a:extLst>
          </p:cNvPr>
          <p:cNvSpPr/>
          <p:nvPr/>
        </p:nvSpPr>
        <p:spPr>
          <a:xfrm>
            <a:off x="1581160" y="4758610"/>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有</a:t>
            </a:r>
          </a:p>
        </p:txBody>
      </p:sp>
      <p:sp>
        <p:nvSpPr>
          <p:cNvPr id="54" name="正方形/長方形 53">
            <a:extLst>
              <a:ext uri="{FF2B5EF4-FFF2-40B4-BE49-F238E27FC236}">
                <a16:creationId xmlns:a16="http://schemas.microsoft.com/office/drawing/2014/main" id="{F4669313-6B42-E8D5-C8B6-A97BB8BC94F4}"/>
              </a:ext>
            </a:extLst>
          </p:cNvPr>
          <p:cNvSpPr/>
          <p:nvPr/>
        </p:nvSpPr>
        <p:spPr>
          <a:xfrm>
            <a:off x="4657463" y="4758610"/>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随時</a:t>
            </a:r>
          </a:p>
        </p:txBody>
      </p:sp>
      <p:sp>
        <p:nvSpPr>
          <p:cNvPr id="56" name="正方形/長方形 55">
            <a:extLst>
              <a:ext uri="{FF2B5EF4-FFF2-40B4-BE49-F238E27FC236}">
                <a16:creationId xmlns:a16="http://schemas.microsoft.com/office/drawing/2014/main" id="{570C1A4B-626E-BC19-A80A-EBC829E90447}"/>
              </a:ext>
            </a:extLst>
          </p:cNvPr>
          <p:cNvSpPr/>
          <p:nvPr/>
        </p:nvSpPr>
        <p:spPr>
          <a:xfrm>
            <a:off x="332016" y="5185247"/>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bg1"/>
                </a:solidFill>
                <a:latin typeface="メイリオ" panose="020B0604030504040204" pitchFamily="50" charset="-128"/>
                <a:ea typeface="メイリオ" panose="020B0604030504040204" pitchFamily="50" charset="-128"/>
                <a:cs typeface="メイリオ"/>
              </a:rPr>
              <a:t>ツール導入</a:t>
            </a:r>
          </a:p>
        </p:txBody>
      </p:sp>
      <p:sp>
        <p:nvSpPr>
          <p:cNvPr id="58" name="正方形/長方形 57">
            <a:extLst>
              <a:ext uri="{FF2B5EF4-FFF2-40B4-BE49-F238E27FC236}">
                <a16:creationId xmlns:a16="http://schemas.microsoft.com/office/drawing/2014/main" id="{698C9C70-FB31-54F8-9443-6462495BED4A}"/>
              </a:ext>
            </a:extLst>
          </p:cNvPr>
          <p:cNvSpPr/>
          <p:nvPr/>
        </p:nvSpPr>
        <p:spPr>
          <a:xfrm>
            <a:off x="3408319" y="5185247"/>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bg1"/>
                </a:solidFill>
                <a:latin typeface="メイリオ" panose="020B0604030504040204" pitchFamily="50" charset="-128"/>
                <a:ea typeface="メイリオ" panose="020B0604030504040204" pitchFamily="50" charset="-128"/>
                <a:cs typeface="メイリオ"/>
              </a:rPr>
              <a:t>ツール保守</a:t>
            </a:r>
          </a:p>
        </p:txBody>
      </p:sp>
      <p:sp>
        <p:nvSpPr>
          <p:cNvPr id="60" name="正方形/長方形 59">
            <a:extLst>
              <a:ext uri="{FF2B5EF4-FFF2-40B4-BE49-F238E27FC236}">
                <a16:creationId xmlns:a16="http://schemas.microsoft.com/office/drawing/2014/main" id="{DB72ABBD-91D1-F375-5833-50505F586EBE}"/>
              </a:ext>
            </a:extLst>
          </p:cNvPr>
          <p:cNvSpPr/>
          <p:nvPr/>
        </p:nvSpPr>
        <p:spPr>
          <a:xfrm>
            <a:off x="1581160" y="5185247"/>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有（2種）</a:t>
            </a:r>
          </a:p>
        </p:txBody>
      </p:sp>
      <p:sp>
        <p:nvSpPr>
          <p:cNvPr id="62" name="正方形/長方形 61">
            <a:extLst>
              <a:ext uri="{FF2B5EF4-FFF2-40B4-BE49-F238E27FC236}">
                <a16:creationId xmlns:a16="http://schemas.microsoft.com/office/drawing/2014/main" id="{45C7D931-8FBA-8147-09CA-92E32FE63F69}"/>
              </a:ext>
            </a:extLst>
          </p:cNvPr>
          <p:cNvSpPr/>
          <p:nvPr/>
        </p:nvSpPr>
        <p:spPr>
          <a:xfrm>
            <a:off x="4657463" y="5185247"/>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有</a:t>
            </a:r>
          </a:p>
        </p:txBody>
      </p:sp>
      <p:sp>
        <p:nvSpPr>
          <p:cNvPr id="64" name="正方形/長方形 63">
            <a:extLst>
              <a:ext uri="{FF2B5EF4-FFF2-40B4-BE49-F238E27FC236}">
                <a16:creationId xmlns:a16="http://schemas.microsoft.com/office/drawing/2014/main" id="{2BD353F9-D019-DB64-0304-683FC1AECA74}"/>
              </a:ext>
            </a:extLst>
          </p:cNvPr>
          <p:cNvSpPr/>
          <p:nvPr/>
        </p:nvSpPr>
        <p:spPr>
          <a:xfrm>
            <a:off x="332016" y="5611884"/>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bg1"/>
                </a:solidFill>
                <a:latin typeface="メイリオ" panose="020B0604030504040204" pitchFamily="50" charset="-128"/>
                <a:ea typeface="メイリオ" panose="020B0604030504040204" pitchFamily="50" charset="-128"/>
                <a:cs typeface="メイリオ"/>
              </a:rPr>
              <a:t>タグ・GA設定</a:t>
            </a:r>
            <a:endParaRPr kumimoji="1" lang="ja-JP" altLang="en-US" sz="1050" dirty="0">
              <a:solidFill>
                <a:schemeClr val="bg1"/>
              </a:solidFill>
              <a:latin typeface="メイリオ" panose="020B0604030504040204" pitchFamily="50" charset="-128"/>
              <a:ea typeface="メイリオ" panose="020B0604030504040204" pitchFamily="50" charset="-128"/>
              <a:cs typeface="メイリオ"/>
            </a:endParaRPr>
          </a:p>
        </p:txBody>
      </p:sp>
      <p:sp>
        <p:nvSpPr>
          <p:cNvPr id="66" name="正方形/長方形 65">
            <a:extLst>
              <a:ext uri="{FF2B5EF4-FFF2-40B4-BE49-F238E27FC236}">
                <a16:creationId xmlns:a16="http://schemas.microsoft.com/office/drawing/2014/main" id="{FE41AB20-AB68-BF5F-43C9-2A5086821C68}"/>
              </a:ext>
            </a:extLst>
          </p:cNvPr>
          <p:cNvSpPr/>
          <p:nvPr/>
        </p:nvSpPr>
        <p:spPr>
          <a:xfrm>
            <a:off x="3408319" y="5611884"/>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bg1"/>
                </a:solidFill>
                <a:latin typeface="メイリオ" panose="020B0604030504040204" pitchFamily="50" charset="-128"/>
                <a:ea typeface="メイリオ" panose="020B0604030504040204" pitchFamily="50" charset="-128"/>
                <a:cs typeface="メイリオ"/>
              </a:rPr>
              <a:t>個別チャット</a:t>
            </a:r>
          </a:p>
        </p:txBody>
      </p:sp>
      <p:sp>
        <p:nvSpPr>
          <p:cNvPr id="68" name="正方形/長方形 67">
            <a:extLst>
              <a:ext uri="{FF2B5EF4-FFF2-40B4-BE49-F238E27FC236}">
                <a16:creationId xmlns:a16="http://schemas.microsoft.com/office/drawing/2014/main" id="{0C362F7C-F32D-EBD7-B8B5-3AD580B3464A}"/>
              </a:ext>
            </a:extLst>
          </p:cNvPr>
          <p:cNvSpPr/>
          <p:nvPr/>
        </p:nvSpPr>
        <p:spPr>
          <a:xfrm>
            <a:off x="1581160" y="5611884"/>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有</a:t>
            </a:r>
          </a:p>
        </p:txBody>
      </p:sp>
      <p:sp>
        <p:nvSpPr>
          <p:cNvPr id="70" name="正方形/長方形 69">
            <a:extLst>
              <a:ext uri="{FF2B5EF4-FFF2-40B4-BE49-F238E27FC236}">
                <a16:creationId xmlns:a16="http://schemas.microsoft.com/office/drawing/2014/main" id="{F5281D63-B2A2-FEAB-75B0-2FFB9F84A7A2}"/>
              </a:ext>
            </a:extLst>
          </p:cNvPr>
          <p:cNvSpPr/>
          <p:nvPr/>
        </p:nvSpPr>
        <p:spPr>
          <a:xfrm>
            <a:off x="4657463" y="5611884"/>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rgbClr val="FF0000"/>
                </a:solidFill>
                <a:latin typeface="メイリオ" panose="020B0604030504040204" pitchFamily="50" charset="-128"/>
                <a:ea typeface="メイリオ" panose="020B0604030504040204" pitchFamily="50" charset="-128"/>
                <a:cs typeface="メイリオ"/>
              </a:rPr>
              <a:t>対応なし ※貴社対応</a:t>
            </a:r>
            <a:endParaRPr kumimoji="1" lang="en-US" altLang="ja-JP"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2" name="正方形/長方形 71">
            <a:extLst>
              <a:ext uri="{FF2B5EF4-FFF2-40B4-BE49-F238E27FC236}">
                <a16:creationId xmlns:a16="http://schemas.microsoft.com/office/drawing/2014/main" id="{41EA0EB1-4DF0-53BD-91A2-2862011C9F87}"/>
              </a:ext>
            </a:extLst>
          </p:cNvPr>
          <p:cNvSpPr/>
          <p:nvPr/>
        </p:nvSpPr>
        <p:spPr>
          <a:xfrm>
            <a:off x="332016" y="6038523"/>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bg1"/>
                </a:solidFill>
                <a:latin typeface="メイリオ" panose="020B0604030504040204" pitchFamily="50" charset="-128"/>
                <a:ea typeface="メイリオ" panose="020B0604030504040204" pitchFamily="50" charset="-128"/>
                <a:cs typeface="メイリオ"/>
              </a:rPr>
              <a:t>アカウント開設</a:t>
            </a:r>
          </a:p>
        </p:txBody>
      </p:sp>
      <p:sp>
        <p:nvSpPr>
          <p:cNvPr id="76" name="正方形/長方形 75">
            <a:extLst>
              <a:ext uri="{FF2B5EF4-FFF2-40B4-BE49-F238E27FC236}">
                <a16:creationId xmlns:a16="http://schemas.microsoft.com/office/drawing/2014/main" id="{5E4F37C9-A2B1-A6BD-C3F8-B77AD0EDEFFA}"/>
              </a:ext>
            </a:extLst>
          </p:cNvPr>
          <p:cNvSpPr/>
          <p:nvPr/>
        </p:nvSpPr>
        <p:spPr>
          <a:xfrm>
            <a:off x="1581160" y="6038523"/>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有</a:t>
            </a:r>
          </a:p>
        </p:txBody>
      </p:sp>
      <p:sp>
        <p:nvSpPr>
          <p:cNvPr id="80" name="正方形/長方形 79">
            <a:extLst>
              <a:ext uri="{FF2B5EF4-FFF2-40B4-BE49-F238E27FC236}">
                <a16:creationId xmlns:a16="http://schemas.microsoft.com/office/drawing/2014/main" id="{86997BA3-366F-8070-9874-EFC0BCA759C0}"/>
              </a:ext>
            </a:extLst>
          </p:cNvPr>
          <p:cNvSpPr/>
          <p:nvPr/>
        </p:nvSpPr>
        <p:spPr>
          <a:xfrm>
            <a:off x="6886308" y="2281645"/>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cs typeface="メイリオ"/>
              </a:rPr>
              <a:t>友だち数</a:t>
            </a:r>
            <a:endParaRPr kumimoji="1" lang="ja-JP" altLang="en-US" sz="12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82" name="正方形/長方形 81">
            <a:extLst>
              <a:ext uri="{FF2B5EF4-FFF2-40B4-BE49-F238E27FC236}">
                <a16:creationId xmlns:a16="http://schemas.microsoft.com/office/drawing/2014/main" id="{C030D946-0A5B-51B8-4D2E-5BECA1C1AE9E}"/>
              </a:ext>
            </a:extLst>
          </p:cNvPr>
          <p:cNvSpPr/>
          <p:nvPr/>
        </p:nvSpPr>
        <p:spPr>
          <a:xfrm>
            <a:off x="6886308" y="2708282"/>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ブロック率</a:t>
            </a:r>
          </a:p>
        </p:txBody>
      </p:sp>
      <p:sp>
        <p:nvSpPr>
          <p:cNvPr id="84" name="正方形/長方形 83">
            <a:extLst>
              <a:ext uri="{FF2B5EF4-FFF2-40B4-BE49-F238E27FC236}">
                <a16:creationId xmlns:a16="http://schemas.microsoft.com/office/drawing/2014/main" id="{83345E18-97D5-E0ED-7743-080BEDECAE73}"/>
              </a:ext>
            </a:extLst>
          </p:cNvPr>
          <p:cNvSpPr/>
          <p:nvPr/>
        </p:nvSpPr>
        <p:spPr>
          <a:xfrm>
            <a:off x="6886308" y="3134919"/>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cs typeface="メイリオ"/>
              </a:rPr>
              <a:t>追える人数</a:t>
            </a:r>
            <a:endParaRPr kumimoji="1" lang="ja-JP" altLang="en-US" sz="12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86" name="正方形/長方形 85">
            <a:extLst>
              <a:ext uri="{FF2B5EF4-FFF2-40B4-BE49-F238E27FC236}">
                <a16:creationId xmlns:a16="http://schemas.microsoft.com/office/drawing/2014/main" id="{C8115FEC-D115-724E-119C-CA4DA501F779}"/>
              </a:ext>
            </a:extLst>
          </p:cNvPr>
          <p:cNvSpPr/>
          <p:nvPr/>
        </p:nvSpPr>
        <p:spPr>
          <a:xfrm>
            <a:off x="6886308" y="3561556"/>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セミナー予約</a:t>
            </a:r>
          </a:p>
        </p:txBody>
      </p:sp>
      <p:sp>
        <p:nvSpPr>
          <p:cNvPr id="9" name="正方形/長方形 8">
            <a:extLst>
              <a:ext uri="{FF2B5EF4-FFF2-40B4-BE49-F238E27FC236}">
                <a16:creationId xmlns:a16="http://schemas.microsoft.com/office/drawing/2014/main" id="{2AA6A633-D9B9-B37F-7C1A-014FB813FA06}"/>
              </a:ext>
            </a:extLst>
          </p:cNvPr>
          <p:cNvSpPr/>
          <p:nvPr/>
        </p:nvSpPr>
        <p:spPr>
          <a:xfrm>
            <a:off x="8164301" y="2281645"/>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tx1"/>
                </a:solidFill>
                <a:latin typeface="メイリオ" panose="020B0604030504040204" pitchFamily="50" charset="-128"/>
                <a:ea typeface="メイリオ" panose="020B0604030504040204" pitchFamily="50" charset="-128"/>
                <a:cs typeface="メイリオ"/>
              </a:rPr>
              <a:t>125人</a:t>
            </a:r>
            <a:endParaRPr kumimoji="1" lang="ja-JP" altLang="en-US" sz="105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2" name="正方形/長方形 11">
            <a:extLst>
              <a:ext uri="{FF2B5EF4-FFF2-40B4-BE49-F238E27FC236}">
                <a16:creationId xmlns:a16="http://schemas.microsoft.com/office/drawing/2014/main" id="{CC94D28D-94E4-A4B2-0E17-AC880DFFC3F2}"/>
              </a:ext>
            </a:extLst>
          </p:cNvPr>
          <p:cNvSpPr/>
          <p:nvPr/>
        </p:nvSpPr>
        <p:spPr>
          <a:xfrm>
            <a:off x="8164301" y="2708282"/>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メイリオ" panose="020B0604030504040204" pitchFamily="50" charset="-128"/>
                <a:ea typeface="メイリオ" panose="020B0604030504040204" pitchFamily="50" charset="-128"/>
                <a:cs typeface="メイリオ"/>
              </a:rPr>
              <a:t>31%</a:t>
            </a:r>
          </a:p>
        </p:txBody>
      </p:sp>
      <p:sp>
        <p:nvSpPr>
          <p:cNvPr id="14" name="正方形/長方形 13">
            <a:extLst>
              <a:ext uri="{FF2B5EF4-FFF2-40B4-BE49-F238E27FC236}">
                <a16:creationId xmlns:a16="http://schemas.microsoft.com/office/drawing/2014/main" id="{FA9E580B-2203-AF06-37ED-22A323C4D7E0}"/>
              </a:ext>
            </a:extLst>
          </p:cNvPr>
          <p:cNvSpPr/>
          <p:nvPr/>
        </p:nvSpPr>
        <p:spPr>
          <a:xfrm>
            <a:off x="8164301" y="3134919"/>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メイリオ" panose="020B0604030504040204" pitchFamily="50" charset="-128"/>
                <a:ea typeface="メイリオ" panose="020B0604030504040204" pitchFamily="50" charset="-128"/>
                <a:cs typeface="メイリオ"/>
              </a:rPr>
              <a:t>86人</a:t>
            </a:r>
          </a:p>
        </p:txBody>
      </p:sp>
      <p:sp>
        <p:nvSpPr>
          <p:cNvPr id="18" name="正方形/長方形 17">
            <a:extLst>
              <a:ext uri="{FF2B5EF4-FFF2-40B4-BE49-F238E27FC236}">
                <a16:creationId xmlns:a16="http://schemas.microsoft.com/office/drawing/2014/main" id="{D8257CDF-9FD5-0F74-81D6-DB4083EEF9B6}"/>
              </a:ext>
            </a:extLst>
          </p:cNvPr>
          <p:cNvSpPr/>
          <p:nvPr/>
        </p:nvSpPr>
        <p:spPr>
          <a:xfrm>
            <a:off x="8164301" y="3561556"/>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メイリオ" panose="020B0604030504040204" pitchFamily="50" charset="-128"/>
                <a:ea typeface="メイリオ" panose="020B0604030504040204" pitchFamily="50" charset="-128"/>
                <a:cs typeface="メイリオ"/>
              </a:rPr>
              <a:t>2件（6か月）</a:t>
            </a:r>
          </a:p>
        </p:txBody>
      </p:sp>
      <p:sp>
        <p:nvSpPr>
          <p:cNvPr id="22" name="正方形/長方形 21">
            <a:extLst>
              <a:ext uri="{FF2B5EF4-FFF2-40B4-BE49-F238E27FC236}">
                <a16:creationId xmlns:a16="http://schemas.microsoft.com/office/drawing/2014/main" id="{E9D6EF79-2762-E3E7-C4FF-8ABEB3AF0D2E}"/>
              </a:ext>
            </a:extLst>
          </p:cNvPr>
          <p:cNvSpPr/>
          <p:nvPr/>
        </p:nvSpPr>
        <p:spPr>
          <a:xfrm>
            <a:off x="6886308" y="3988193"/>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サロン入会</a:t>
            </a:r>
            <a:endParaRPr kumimoji="1" lang="ja-JP" altLang="en-US" sz="12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26" name="正方形/長方形 25">
            <a:extLst>
              <a:ext uri="{FF2B5EF4-FFF2-40B4-BE49-F238E27FC236}">
                <a16:creationId xmlns:a16="http://schemas.microsoft.com/office/drawing/2014/main" id="{EBA283C4-73C8-787D-46CC-5D51614694C7}"/>
              </a:ext>
            </a:extLst>
          </p:cNvPr>
          <p:cNvSpPr/>
          <p:nvPr/>
        </p:nvSpPr>
        <p:spPr>
          <a:xfrm>
            <a:off x="8164301" y="3988193"/>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メイリオ" panose="020B0604030504040204" pitchFamily="50" charset="-128"/>
                <a:ea typeface="メイリオ" panose="020B0604030504040204" pitchFamily="50" charset="-128"/>
                <a:cs typeface="メイリオ"/>
              </a:rPr>
              <a:t>0件（6か月）</a:t>
            </a:r>
          </a:p>
        </p:txBody>
      </p:sp>
    </p:spTree>
    <p:extLst>
      <p:ext uri="{BB962C8B-B14F-4D97-AF65-F5344CB8AC3E}">
        <p14:creationId xmlns:p14="http://schemas.microsoft.com/office/powerpoint/2010/main" val="32972215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94BEB-009A-B205-F056-C0A4A7EC74B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8B053BE-8B30-9364-6C34-EB1FF63BBC95}"/>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930D2F66-9C3F-E63B-8E95-4CC2E04B5A4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131B7CF5-2776-F770-3C36-63F4D43AD11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想定の費用対効果（詳細）</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E60BE6AA-B4D9-CEF6-2EB7-4D6A8F9D8FE2}"/>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Google Shape;156;p7">
            <a:extLst>
              <a:ext uri="{FF2B5EF4-FFF2-40B4-BE49-F238E27FC236}">
                <a16:creationId xmlns:a16="http://schemas.microsoft.com/office/drawing/2014/main" id="{EF605292-259C-008C-231D-F2C24748CB5F}"/>
              </a:ext>
            </a:extLst>
          </p:cNvPr>
          <p:cNvSpPr txBox="1"/>
          <p:nvPr/>
        </p:nvSpPr>
        <p:spPr>
          <a:xfrm>
            <a:off x="474859" y="1618534"/>
            <a:ext cx="6514857" cy="276959"/>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200" dirty="0">
                <a:solidFill>
                  <a:schemeClr val="tx2"/>
                </a:solidFill>
                <a:latin typeface="メイリオ"/>
                <a:ea typeface="メイリオ"/>
                <a:cs typeface="メイリオ"/>
                <a:sym typeface="Meiryo"/>
              </a:rPr>
              <a:t>想定の費用対効果（月ごと）</a:t>
            </a:r>
            <a:endParaRPr sz="1200" dirty="0">
              <a:solidFill>
                <a:schemeClr val="tx2"/>
              </a:solidFill>
              <a:latin typeface="メイリオ"/>
              <a:ea typeface="メイリオ"/>
              <a:cs typeface="メイリオ"/>
              <a:sym typeface="Meiryo"/>
            </a:endParaRPr>
          </a:p>
        </p:txBody>
      </p:sp>
      <p:sp>
        <p:nvSpPr>
          <p:cNvPr id="46" name="テキスト ボックス 18"/>
          <p:cNvSpPr txBox="1"/>
          <p:nvPr/>
        </p:nvSpPr>
        <p:spPr>
          <a:xfrm>
            <a:off x="181151" y="707743"/>
            <a:ext cx="9476706" cy="307777"/>
          </a:xfrm>
          <a:prstGeom prst="rect">
            <a:avLst/>
          </a:prstGeom>
          <a:noFill/>
        </p:spPr>
        <p:txBody>
          <a:bodyPr wrap="square">
            <a:spAutoFit/>
          </a:bodyPr>
          <a:lstStyle/>
          <a:p>
            <a:pPr marL="228600">
              <a:spcAft>
                <a:spcPts val="800"/>
              </a:spcAft>
              <a:buNone/>
            </a:pP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月ごとの友だち数・追える人数・セミナー予約・サロン入会と、費用の見込み。</a:t>
            </a:r>
            <a:endParaRPr lang="ja-JP" altLang="ja-JP" sz="1100" dirty="0">
              <a:effectLst/>
              <a:latin typeface="メイリオ" panose="02020603050405020304" pitchFamily="18" charset="0"/>
              <a:ea typeface="メイリオ" panose="02020400000000000000" pitchFamily="18" charset="-128"/>
              <a:cs typeface="メイリオ"/>
            </a:endParaRPr>
          </a:p>
        </p:txBody>
      </p:sp>
      <p:graphicFrame>
        <p:nvGraphicFramePr>
          <p:cNvPr id="47" name="月ごとの見込み 46"/>
          <p:cNvGraphicFramePr>
            <a:graphicFrameLocks noGrp="1"/>
          </p:cNvGraphicFramePr>
          <p:nvPr/>
        </p:nvGraphicFramePr>
        <p:xfrm>
          <a:off x="457200" y="2011680"/>
          <a:ext cx="8897112" cy="3621024"/>
        </p:xfrm>
        <a:graphic>
          <a:graphicData uri="http://schemas.openxmlformats.org/drawingml/2006/table">
            <a:tbl>
              <a:tblPr/>
              <a:tblGrid>
                <a:gridCol w="1417320"/>
                <a:gridCol w="1005840"/>
                <a:gridCol w="1078992"/>
                <a:gridCol w="1078992"/>
                <a:gridCol w="1078992"/>
                <a:gridCol w="1078992"/>
                <a:gridCol w="1078992"/>
                <a:gridCol w="1078992"/>
              </a:tblGrid>
              <a:tr h="329184">
                <a:tc>
                  <a:txBody>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A5C"/>
                    </a:solidFill>
                  </a:tcPr>
                </a:tc>
                <a:tc>
                  <a:txBody>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初期</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A5C"/>
                    </a:solidFill>
                  </a:tcPr>
                </a:tc>
                <a:tc>
                  <a:txBody>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1か月目</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A5C"/>
                    </a:solidFill>
                  </a:tcPr>
                </a:tc>
                <a:tc>
                  <a:txBody>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2か月目</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A5C"/>
                    </a:solidFill>
                  </a:tcPr>
                </a:tc>
                <a:tc>
                  <a:txBody>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3か月目</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A5C"/>
                    </a:solidFill>
                  </a:tcPr>
                </a:tc>
                <a:tc>
                  <a:txBody>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4か月目</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A5C"/>
                    </a:solidFill>
                  </a:tcPr>
                </a:tc>
                <a:tc>
                  <a:txBody>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5か月目</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A5C"/>
                    </a:solidFill>
                  </a:tcPr>
                </a:tc>
                <a:tc>
                  <a:txBody>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6か月目</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A5C"/>
                    </a:solidFill>
                  </a:tcPr>
                </a:tc>
              </a:tr>
              <a:tr h="329184">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時期</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2F2F2"/>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イベント期</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平常期</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平常期</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イベント期</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平常期</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平常期</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329184">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LP UU</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2F2F2"/>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3,000</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130</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130</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3,000</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130</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130</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329184">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友だちの増加</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2F2F2"/>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60人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60人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329184">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友だち数</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2F2F2"/>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60人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61人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62人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122人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123人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125人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329184">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ブロック率</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2F2F2"/>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28.0%</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29.0%</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29.5%</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30.0%</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30.5%</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31.0%</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329184">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追える人数</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2F2F2"/>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43人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43人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44人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85人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86人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86人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329184">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クリック数</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2F2F2"/>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110</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18</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18</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129</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27</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27</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329184">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セミナー予約</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2F2F2"/>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0件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0件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0件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0件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329184">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サロン入会</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2F2F2"/>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0件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0件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0件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0件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0件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0件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329184">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費用（税抜）</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2F2F2"/>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295,000円</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365,000円</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165,000円</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165,000円</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365,000円</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165,000円</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165,000円</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bl>
          </a:graphicData>
        </a:graphic>
      </p:graphicFrame>
      <p:sp>
        <p:nvSpPr>
          <p:cNvPr id="48" name="注記"/>
          <p:cNvSpPr/>
          <p:nvPr/>
        </p:nvSpPr>
        <p:spPr>
          <a:xfrm>
            <a:off x="457200" y="5724144"/>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※LP UUは、広告のクリック数から置いた想定数値（イベント期＝1回のイベント／平常期＝少量の広告）。友だちの増加＝ポップアップツール＋サンクスLINE誘導。追える人数＝ブロックされずに届く友だちの数</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38799512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latin typeface="メイリオ"/>
                <a:ea typeface="メイリオ"/>
                <a:cs typeface="メイリオ"/>
              </a:defRPr>
            </a:defPPr>
            <a:lvl1pPr marL="0" algn="l" defTabSz="914400" rtl="0" eaLnBrk="1" latinLnBrk="0" hangingPunct="1">
              <a:defRPr kumimoji="1" sz="1800" kern="1200">
                <a:solidFill>
                  <a:schemeClr val="tx1"/>
                </a:solidFill>
                <a:latin typeface="メイリオ"/>
                <a:ea typeface="メイリオ"/>
                <a:cs typeface="メイリオ"/>
              </a:defRPr>
            </a:lvl1pPr>
            <a:lvl2pPr marL="457200" algn="l" defTabSz="914400" rtl="0" eaLnBrk="1" latinLnBrk="0" hangingPunct="1">
              <a:defRPr kumimoji="1" sz="1800" kern="1200">
                <a:solidFill>
                  <a:schemeClr val="tx1"/>
                </a:solidFill>
                <a:latin typeface="メイリオ"/>
                <a:ea typeface="メイリオ"/>
                <a:cs typeface="メイリオ"/>
              </a:defRPr>
            </a:lvl2pPr>
            <a:lvl3pPr marL="914400" algn="l" defTabSz="914400" rtl="0" eaLnBrk="1" latinLnBrk="0" hangingPunct="1">
              <a:defRPr kumimoji="1" sz="1800" kern="1200">
                <a:solidFill>
                  <a:schemeClr val="tx1"/>
                </a:solidFill>
                <a:latin typeface="メイリオ"/>
                <a:ea typeface="メイリオ"/>
                <a:cs typeface="メイリオ"/>
              </a:defRPr>
            </a:lvl3pPr>
            <a:lvl4pPr marL="1371600" algn="l" defTabSz="914400" rtl="0" eaLnBrk="1" latinLnBrk="0" hangingPunct="1">
              <a:defRPr kumimoji="1" sz="1800" kern="1200">
                <a:solidFill>
                  <a:schemeClr val="tx1"/>
                </a:solidFill>
                <a:latin typeface="メイリオ"/>
                <a:ea typeface="メイリオ"/>
                <a:cs typeface="メイリオ"/>
              </a:defRPr>
            </a:lvl4pPr>
            <a:lvl5pPr marL="1828800" algn="l" defTabSz="914400" rtl="0" eaLnBrk="1" latinLnBrk="0" hangingPunct="1">
              <a:defRPr kumimoji="1" sz="1800" kern="1200">
                <a:solidFill>
                  <a:schemeClr val="tx1"/>
                </a:solidFill>
                <a:latin typeface="メイリオ"/>
                <a:ea typeface="メイリオ"/>
                <a:cs typeface="メイリオ"/>
              </a:defRPr>
            </a:lvl5pPr>
            <a:lvl6pPr marL="2286000" algn="l" defTabSz="914400" rtl="0" eaLnBrk="1" latinLnBrk="0" hangingPunct="1">
              <a:defRPr kumimoji="1" sz="1800" kern="1200">
                <a:solidFill>
                  <a:schemeClr val="tx1"/>
                </a:solidFill>
                <a:latin typeface="メイリオ"/>
                <a:ea typeface="メイリオ"/>
                <a:cs typeface="メイリオ"/>
              </a:defRPr>
            </a:lvl6pPr>
            <a:lvl7pPr marL="2743200" algn="l" defTabSz="914400" rtl="0" eaLnBrk="1" latinLnBrk="0" hangingPunct="1">
              <a:defRPr kumimoji="1" sz="1800" kern="1200">
                <a:solidFill>
                  <a:schemeClr val="tx1"/>
                </a:solidFill>
                <a:latin typeface="メイリオ"/>
                <a:ea typeface="メイリオ"/>
                <a:cs typeface="メイリオ"/>
              </a:defRPr>
            </a:lvl7pPr>
            <a:lvl8pPr marL="3200400" algn="l" defTabSz="914400" rtl="0" eaLnBrk="1" latinLnBrk="0" hangingPunct="1">
              <a:defRPr kumimoji="1" sz="1800" kern="1200">
                <a:solidFill>
                  <a:schemeClr val="tx1"/>
                </a:solidFill>
                <a:latin typeface="メイリオ"/>
                <a:ea typeface="メイリオ"/>
                <a:cs typeface="メイリオ"/>
              </a:defRPr>
            </a:lvl8pPr>
            <a:lvl9pPr marL="3657600" algn="l" defTabSz="914400" rtl="0" eaLnBrk="1" latinLnBrk="0" hangingPunct="1">
              <a:defRPr kumimoji="1" sz="1800" kern="1200">
                <a:solidFill>
                  <a:schemeClr val="tx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アカウント効果を</a:t>
            </a:r>
            <a:r>
              <a:rPr lang="ja-JP" altLang="en-US" sz="2400" b="1" dirty="0">
                <a:latin typeface="メイリオ" panose="020B0604030504040204" pitchFamily="50" charset="-128"/>
                <a:ea typeface="メイリオ" panose="020B0604030504040204" pitchFamily="50" charset="-128"/>
                <a:cs typeface="メイリオ"/>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spTree>
    <p:extLst>
      <p:ext uri="{BB962C8B-B14F-4D97-AF65-F5344CB8AC3E}">
        <p14:creationId xmlns:p14="http://schemas.microsoft.com/office/powerpoint/2010/main" val="9709585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LINEOA</a:t>
            </a:r>
            <a:r>
              <a:rPr kumimoji="1" lang="ja-JP" altLang="en-US" sz="1400" dirty="0">
                <a:latin typeface="メイリオ" panose="020B0604030504040204" pitchFamily="50" charset="-128"/>
                <a:ea typeface="メイリオ" panose="020B0604030504040204" pitchFamily="50" charset="-128"/>
                <a:cs typeface="メイリオ"/>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LINE友だち追加～15日を境に大きくアクティブ率が下がる（ブロック率が上がる）</a:t>
            </a:r>
            <a:endParaRPr lang="en-US" altLang="ja-JP" sz="1600" b="1" dirty="0">
              <a:latin typeface="メイリオ" panose="020B0604030504040204" pitchFamily="50" charset="-128"/>
              <a:ea typeface="メイリオ" panose="020B0604030504040204" pitchFamily="50" charset="-128"/>
              <a:cs typeface="メイリオ"/>
              <a:sym typeface="Meiryo"/>
            </a:endParaRPr>
          </a:p>
          <a:p>
            <a:r>
              <a:rPr lang="ja-JP" altLang="en-US" sz="1600" b="1" dirty="0">
                <a:latin typeface="メイリオ" panose="020B0604030504040204" pitchFamily="50" charset="-128"/>
                <a:ea typeface="メイリオ" panose="020B0604030504040204" pitchFamily="50" charset="-128"/>
                <a:cs typeface="メイリオ"/>
                <a:sym typeface="Meiryo"/>
              </a:rPr>
              <a:t>為、段階に合わせて配信を変え、イベントの無い時期は回数を絞る。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cs typeface="メイリオ"/>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solidFill>
                  <a:srgbClr val="FF0000"/>
                </a:solidFill>
                <a:latin typeface="メイリオ" panose="020B0604030504040204" pitchFamily="50" charset="-128"/>
                <a:ea typeface="メイリオ" panose="020B0604030504040204" pitchFamily="50" charset="-128"/>
                <a:cs typeface="メイリオ"/>
                <a:sym typeface="Meiryo"/>
              </a:rPr>
              <a:t>15</a:t>
            </a:r>
            <a:r>
              <a:rPr lang="ja-JP" altLang="en-US" sz="1200" b="1" dirty="0">
                <a:solidFill>
                  <a:srgbClr val="FF0000"/>
                </a:solidFill>
                <a:latin typeface="メイリオ" panose="020B0604030504040204" pitchFamily="50" charset="-128"/>
                <a:ea typeface="メイリオ" panose="020B0604030504040204" pitchFamily="50" charset="-128"/>
                <a:cs typeface="メイリオ"/>
                <a:sym typeface="Meiryo"/>
              </a:rPr>
              <a:t>日後</a:t>
            </a:r>
            <a:endParaRPr lang="ja-JP" altLang="en-US" sz="1200" dirty="0">
              <a:solidFill>
                <a:srgbClr val="FF0000"/>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メイリオ"/>
                <a:sym typeface="Meiryo"/>
              </a:rPr>
              <a:t>30</a:t>
            </a:r>
            <a:r>
              <a:rPr lang="ja-JP" altLang="en-US" sz="1200" b="1" dirty="0">
                <a:latin typeface="メイリオ" panose="020B0604030504040204" pitchFamily="50" charset="-128"/>
                <a:ea typeface="メイリオ" panose="020B0604030504040204" pitchFamily="50" charset="-128"/>
                <a:cs typeface="メイリオ"/>
                <a:sym typeface="Meiryo"/>
              </a:rPr>
              <a:t>日後</a:t>
            </a:r>
            <a:endParaRPr lang="ja-JP" altLang="en-US" sz="1200" dirty="0">
              <a:latin typeface="メイリオ"/>
              <a:ea typeface="メイリオ"/>
              <a:cs typeface="メイリオ"/>
            </a:endParaRPr>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latin typeface="メイリオ"/>
              <a:ea typeface="メイリオ"/>
              <a:cs typeface="メイリオ"/>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cs typeface="メイリオ"/>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FF0000"/>
                </a:solidFill>
                <a:latin typeface="メイリオ" panose="020B0604030504040204" pitchFamily="50" charset="-128"/>
                <a:ea typeface="メイリオ" panose="020B0604030504040204" pitchFamily="50" charset="-128"/>
                <a:cs typeface="メイリオ"/>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cs typeface="メイリオ"/>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cs typeface="メイリオ"/>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cs typeface="メイリオ"/>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 name="Google Shape;752;p28">
            <a:extLst>
              <a:ext uri="{FF2B5EF4-FFF2-40B4-BE49-F238E27FC236}">
                <a16:creationId xmlns:a16="http://schemas.microsoft.com/office/drawing/2014/main" id="{A711D9CD-A0E9-90A0-722C-36249BABF896}"/>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1065560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D3B1F-7F7B-6271-9DE8-D3CECB4AEE7A}"/>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8421BF1B-3828-BADE-4033-28B8258FFCB2}"/>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全体設計</a:t>
            </a:r>
          </a:p>
        </p:txBody>
      </p:sp>
      <p:sp>
        <p:nvSpPr>
          <p:cNvPr id="3" name="テキスト ボックス 2">
            <a:extLst>
              <a:ext uri="{FF2B5EF4-FFF2-40B4-BE49-F238E27FC236}">
                <a16:creationId xmlns:a16="http://schemas.microsoft.com/office/drawing/2014/main" id="{EDD3D979-9EEB-6B18-F888-A17F98CFB00B}"/>
              </a:ext>
            </a:extLst>
          </p:cNvPr>
          <p:cNvSpPr txBox="1"/>
          <p:nvPr/>
        </p:nvSpPr>
        <p:spPr>
          <a:xfrm>
            <a:off x="4630780" y="1385918"/>
            <a:ext cx="1285343"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4" name="テキスト ボックス 3">
            <a:extLst>
              <a:ext uri="{FF2B5EF4-FFF2-40B4-BE49-F238E27FC236}">
                <a16:creationId xmlns:a16="http://schemas.microsoft.com/office/drawing/2014/main" id="{74A29E67-E629-D5BB-0BF0-30595AA3A156}"/>
              </a:ext>
            </a:extLst>
          </p:cNvPr>
          <p:cNvSpPr txBox="1"/>
          <p:nvPr/>
        </p:nvSpPr>
        <p:spPr>
          <a:xfrm>
            <a:off x="726950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  </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5" name="テキスト ボックス 4">
            <a:extLst>
              <a:ext uri="{FF2B5EF4-FFF2-40B4-BE49-F238E27FC236}">
                <a16:creationId xmlns:a16="http://schemas.microsoft.com/office/drawing/2014/main" id="{C8FAABE7-2498-0A19-8EFA-AE3DAED1CE38}"/>
              </a:ext>
            </a:extLst>
          </p:cNvPr>
          <p:cNvSpPr txBox="1"/>
          <p:nvPr/>
        </p:nvSpPr>
        <p:spPr>
          <a:xfrm>
            <a:off x="595014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7A77BB20-672A-267B-1278-73B82EFDB35A}"/>
              </a:ext>
            </a:extLst>
          </p:cNvPr>
          <p:cNvSpPr txBox="1"/>
          <p:nvPr/>
        </p:nvSpPr>
        <p:spPr>
          <a:xfrm>
            <a:off x="2435404" y="1385918"/>
            <a:ext cx="1063671" cy="261610"/>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a:t>
            </a:r>
          </a:p>
        </p:txBody>
      </p:sp>
      <p:sp>
        <p:nvSpPr>
          <p:cNvPr id="11" name="テキスト ボックス 10">
            <a:extLst>
              <a:ext uri="{FF2B5EF4-FFF2-40B4-BE49-F238E27FC236}">
                <a16:creationId xmlns:a16="http://schemas.microsoft.com/office/drawing/2014/main" id="{757FA4CB-2B6D-1C58-A1D7-FBC3E968719E}"/>
              </a:ext>
            </a:extLst>
          </p:cNvPr>
          <p:cNvSpPr txBox="1"/>
          <p:nvPr/>
        </p:nvSpPr>
        <p:spPr>
          <a:xfrm>
            <a:off x="3533092" y="1385918"/>
            <a:ext cx="1063671" cy="261610"/>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 リード</a:t>
            </a:r>
            <a:endParaRPr lang="ja-JP" altLang="ja-JP" sz="1050" b="1" dirty="0">
              <a:latin typeface="メイリオ" panose="020B0604030504040204" pitchFamily="50" charset="-128"/>
              <a:ea typeface="メイリオ" panose="020B0604030504040204" pitchFamily="50" charset="-128"/>
              <a:cs typeface="メイリオ"/>
            </a:endParaRPr>
          </a:p>
        </p:txBody>
      </p:sp>
      <p:sp>
        <p:nvSpPr>
          <p:cNvPr id="16" name="正方形/長方形 15">
            <a:extLst>
              <a:ext uri="{FF2B5EF4-FFF2-40B4-BE49-F238E27FC236}">
                <a16:creationId xmlns:a16="http://schemas.microsoft.com/office/drawing/2014/main" id="{9F1496A9-1AA6-8C00-6027-75BA16E87457}"/>
              </a:ext>
            </a:extLst>
          </p:cNvPr>
          <p:cNvSpPr/>
          <p:nvPr/>
        </p:nvSpPr>
        <p:spPr>
          <a:xfrm>
            <a:off x="240028" y="773977"/>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7" name="直線矢印コネクタ 16">
            <a:extLst>
              <a:ext uri="{FF2B5EF4-FFF2-40B4-BE49-F238E27FC236}">
                <a16:creationId xmlns:a16="http://schemas.microsoft.com/office/drawing/2014/main" id="{0B8C27AC-9240-5C32-389B-1F46C1A17D15}"/>
              </a:ext>
            </a:extLst>
          </p:cNvPr>
          <p:cNvCxnSpPr>
            <a:cxnSpLocks/>
          </p:cNvCxnSpPr>
          <p:nvPr/>
        </p:nvCxnSpPr>
        <p:spPr>
          <a:xfrm>
            <a:off x="323367" y="1003861"/>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9BA284C9-F4DC-DB06-4BAF-EC4EB7A246B5}"/>
              </a:ext>
            </a:extLst>
          </p:cNvPr>
          <p:cNvSpPr txBox="1"/>
          <p:nvPr/>
        </p:nvSpPr>
        <p:spPr>
          <a:xfrm>
            <a:off x="3972228" y="875991"/>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5717FF50-BC66-88D1-6E63-63A2832D9840}"/>
              </a:ext>
            </a:extLst>
          </p:cNvPr>
          <p:cNvSpPr txBox="1"/>
          <p:nvPr/>
        </p:nvSpPr>
        <p:spPr>
          <a:xfrm>
            <a:off x="8588858" y="1385918"/>
            <a:ext cx="1339302" cy="2616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 紹介</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46D32A0E-F7DE-9D8C-2548-B53782ECD867}"/>
              </a:ext>
            </a:extLst>
          </p:cNvPr>
          <p:cNvSpPr txBox="1"/>
          <p:nvPr/>
        </p:nvSpPr>
        <p:spPr>
          <a:xfrm>
            <a:off x="240028" y="1385918"/>
            <a:ext cx="1063671" cy="261610"/>
          </a:xfrm>
          <a:prstGeom prst="rect">
            <a:avLst/>
          </a:prstGeom>
          <a:solidFill>
            <a:schemeClr val="accent6">
              <a:lumMod val="40000"/>
              <a:lumOff val="60000"/>
              <a:alpha val="30000"/>
            </a:schemeClr>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a:t>
            </a:r>
          </a:p>
        </p:txBody>
      </p:sp>
      <p:sp>
        <p:nvSpPr>
          <p:cNvPr id="22" name="テキスト ボックス 21">
            <a:extLst>
              <a:ext uri="{FF2B5EF4-FFF2-40B4-BE49-F238E27FC236}">
                <a16:creationId xmlns:a16="http://schemas.microsoft.com/office/drawing/2014/main" id="{38E909FA-CB5E-B051-BA39-70C6E514BC74}"/>
              </a:ext>
            </a:extLst>
          </p:cNvPr>
          <p:cNvSpPr txBox="1"/>
          <p:nvPr/>
        </p:nvSpPr>
        <p:spPr>
          <a:xfrm>
            <a:off x="1337716" y="1385918"/>
            <a:ext cx="1063671" cy="261610"/>
          </a:xfrm>
          <a:prstGeom prst="rect">
            <a:avLst/>
          </a:prstGeom>
          <a:solidFill>
            <a:schemeClr val="accent6">
              <a:lumMod val="40000"/>
              <a:lumOff val="60000"/>
              <a:alpha val="30000"/>
            </a:schemeClr>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a:t>
            </a:r>
            <a:r>
              <a:rPr lang="ja-JP" altLang="en-US" sz="1100" dirty="0">
                <a:latin typeface="メイリオ" panose="020B0604030504040204" pitchFamily="50" charset="-128"/>
                <a:ea typeface="メイリオ" panose="020B0604030504040204" pitchFamily="50" charset="-128"/>
                <a:cs typeface="メイリオ"/>
              </a:rPr>
              <a:t>離脱</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39" name="正方形/長方形 38">
            <a:extLst>
              <a:ext uri="{FF2B5EF4-FFF2-40B4-BE49-F238E27FC236}">
                <a16:creationId xmlns:a16="http://schemas.microsoft.com/office/drawing/2014/main" id="{0387F7F8-78A2-5984-62D7-5E0BC6139087}"/>
              </a:ext>
            </a:extLst>
          </p:cNvPr>
          <p:cNvSpPr/>
          <p:nvPr/>
        </p:nvSpPr>
        <p:spPr>
          <a:xfrm>
            <a:off x="1587355" y="2875302"/>
            <a:ext cx="697117" cy="7563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離</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脱</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防</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止</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41" name="正方形/長方形 40">
            <a:extLst>
              <a:ext uri="{FF2B5EF4-FFF2-40B4-BE49-F238E27FC236}">
                <a16:creationId xmlns:a16="http://schemas.microsoft.com/office/drawing/2014/main" id="{4EA0C91B-78C6-BBBB-2C69-9BB0F2452933}"/>
              </a:ext>
            </a:extLst>
          </p:cNvPr>
          <p:cNvSpPr/>
          <p:nvPr/>
        </p:nvSpPr>
        <p:spPr>
          <a:xfrm>
            <a:off x="2618680" y="3637979"/>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16F18994-DA2E-D80B-5B66-954D59885119}"/>
              </a:ext>
            </a:extLst>
          </p:cNvPr>
          <p:cNvSpPr/>
          <p:nvPr/>
        </p:nvSpPr>
        <p:spPr>
          <a:xfrm>
            <a:off x="3554602" y="3544936"/>
            <a:ext cx="1020649"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サンクス</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en-US" altLang="ja-JP" sz="100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1000" b="1" dirty="0">
                <a:solidFill>
                  <a:schemeClr val="tx1"/>
                </a:solidFill>
                <a:latin typeface="メイリオ" panose="020B0604030504040204" pitchFamily="50" charset="-128"/>
                <a:ea typeface="メイリオ" panose="020B0604030504040204" pitchFamily="50" charset="-128"/>
                <a:cs typeface="メイリオ"/>
              </a:rPr>
              <a:t>誘導</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4" name="直線矢印コネクタ 43">
            <a:extLst>
              <a:ext uri="{FF2B5EF4-FFF2-40B4-BE49-F238E27FC236}">
                <a16:creationId xmlns:a16="http://schemas.microsoft.com/office/drawing/2014/main" id="{EB54D42B-999A-C988-8087-353D7313BC5D}"/>
              </a:ext>
            </a:extLst>
          </p:cNvPr>
          <p:cNvCxnSpPr>
            <a:cxnSpLocks/>
          </p:cNvCxnSpPr>
          <p:nvPr/>
        </p:nvCxnSpPr>
        <p:spPr>
          <a:xfrm>
            <a:off x="3332019" y="3790376"/>
            <a:ext cx="198486"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8" name="正方形/長方形 47">
            <a:extLst>
              <a:ext uri="{FF2B5EF4-FFF2-40B4-BE49-F238E27FC236}">
                <a16:creationId xmlns:a16="http://schemas.microsoft.com/office/drawing/2014/main" id="{98DC54E6-D786-24C4-0A98-CF27487E94A5}"/>
              </a:ext>
            </a:extLst>
          </p:cNvPr>
          <p:cNvSpPr/>
          <p:nvPr/>
        </p:nvSpPr>
        <p:spPr>
          <a:xfrm>
            <a:off x="2628833" y="4890712"/>
            <a:ext cx="843512"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友だち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追加誘導</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9" name="直線矢印コネクタ 48">
            <a:extLst>
              <a:ext uri="{FF2B5EF4-FFF2-40B4-BE49-F238E27FC236}">
                <a16:creationId xmlns:a16="http://schemas.microsoft.com/office/drawing/2014/main" id="{D6140142-DD1A-809C-DE27-D2CD7D992B51}"/>
              </a:ext>
            </a:extLst>
          </p:cNvPr>
          <p:cNvCxnSpPr>
            <a:cxnSpLocks/>
          </p:cNvCxnSpPr>
          <p:nvPr/>
        </p:nvCxnSpPr>
        <p:spPr>
          <a:xfrm>
            <a:off x="3572613" y="5136153"/>
            <a:ext cx="1974603"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6" name="左中かっこ 55">
            <a:extLst>
              <a:ext uri="{FF2B5EF4-FFF2-40B4-BE49-F238E27FC236}">
                <a16:creationId xmlns:a16="http://schemas.microsoft.com/office/drawing/2014/main" id="{9F7871CB-0948-ED66-262E-E4668DAEA788}"/>
              </a:ext>
            </a:extLst>
          </p:cNvPr>
          <p:cNvSpPr/>
          <p:nvPr/>
        </p:nvSpPr>
        <p:spPr>
          <a:xfrm>
            <a:off x="3306385" y="5445071"/>
            <a:ext cx="165959" cy="752529"/>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524DFC21-9336-5CCC-A46E-6B03A60F8CD8}"/>
              </a:ext>
            </a:extLst>
          </p:cNvPr>
          <p:cNvSpPr txBox="1"/>
          <p:nvPr/>
        </p:nvSpPr>
        <p:spPr>
          <a:xfrm>
            <a:off x="3472344" y="5451968"/>
            <a:ext cx="1307291" cy="553998"/>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・見どころ動画</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latin typeface="メイリオ" panose="020B0604030504040204" pitchFamily="50" charset="-128"/>
                <a:ea typeface="メイリオ" panose="020B0604030504040204" pitchFamily="50" charset="-128"/>
                <a:cs typeface="メイリオ"/>
              </a:rPr>
              <a:t>・参加特典</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solidFill>
                  <a:schemeClr val="tx1"/>
                </a:solidFill>
                <a:latin typeface="メイリオ" panose="020B0604030504040204" pitchFamily="50" charset="-128"/>
                <a:ea typeface="メイリオ" panose="020B0604030504040204" pitchFamily="50" charset="-128"/>
                <a:cs typeface="メイリオ"/>
              </a:rPr>
              <a:t>・ステップ配信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0" name="左中かっこ 59">
            <a:extLst>
              <a:ext uri="{FF2B5EF4-FFF2-40B4-BE49-F238E27FC236}">
                <a16:creationId xmlns:a16="http://schemas.microsoft.com/office/drawing/2014/main" id="{6D1FBEB7-0DA2-6BD0-D8E5-5287AABE463D}"/>
              </a:ext>
            </a:extLst>
          </p:cNvPr>
          <p:cNvSpPr/>
          <p:nvPr/>
        </p:nvSpPr>
        <p:spPr>
          <a:xfrm>
            <a:off x="4341554" y="4064872"/>
            <a:ext cx="165959" cy="681427"/>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62" name="テキスト ボックス 61">
            <a:extLst>
              <a:ext uri="{FF2B5EF4-FFF2-40B4-BE49-F238E27FC236}">
                <a16:creationId xmlns:a16="http://schemas.microsoft.com/office/drawing/2014/main" id="{23E526DD-37E7-611C-2660-347E6E25E45B}"/>
              </a:ext>
            </a:extLst>
          </p:cNvPr>
          <p:cNvSpPr txBox="1"/>
          <p:nvPr/>
        </p:nvSpPr>
        <p:spPr>
          <a:xfrm>
            <a:off x="4507513" y="4071769"/>
            <a:ext cx="1307291" cy="246221"/>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・前日のお知らせ</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65" name="直線矢印コネクタ 64">
            <a:extLst>
              <a:ext uri="{FF2B5EF4-FFF2-40B4-BE49-F238E27FC236}">
                <a16:creationId xmlns:a16="http://schemas.microsoft.com/office/drawing/2014/main" id="{92F8C127-A45A-8F56-9D6E-7D83C0CD059C}"/>
              </a:ext>
            </a:extLst>
          </p:cNvPr>
          <p:cNvCxnSpPr>
            <a:cxnSpLocks/>
          </p:cNvCxnSpPr>
          <p:nvPr/>
        </p:nvCxnSpPr>
        <p:spPr>
          <a:xfrm>
            <a:off x="4702245" y="3762641"/>
            <a:ext cx="761292"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8" name="直線矢印コネクタ 77">
            <a:extLst>
              <a:ext uri="{FF2B5EF4-FFF2-40B4-BE49-F238E27FC236}">
                <a16:creationId xmlns:a16="http://schemas.microsoft.com/office/drawing/2014/main" id="{18BC9B61-1AB1-C280-3AB3-0A3065C47874}"/>
              </a:ext>
            </a:extLst>
          </p:cNvPr>
          <p:cNvCxnSpPr>
            <a:cxnSpLocks/>
          </p:cNvCxnSpPr>
          <p:nvPr/>
        </p:nvCxnSpPr>
        <p:spPr>
          <a:xfrm flipV="1">
            <a:off x="879791" y="2657573"/>
            <a:ext cx="4546592"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6" name="直線矢印コネクタ 85">
            <a:extLst>
              <a:ext uri="{FF2B5EF4-FFF2-40B4-BE49-F238E27FC236}">
                <a16:creationId xmlns:a16="http://schemas.microsoft.com/office/drawing/2014/main" id="{0C63AA03-27C4-0484-5A97-8C858F657C28}"/>
              </a:ext>
            </a:extLst>
          </p:cNvPr>
          <p:cNvCxnSpPr>
            <a:cxnSpLocks/>
          </p:cNvCxnSpPr>
          <p:nvPr/>
        </p:nvCxnSpPr>
        <p:spPr>
          <a:xfrm flipV="1">
            <a:off x="1120433" y="3147854"/>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7" name="テキスト ボックス 86">
            <a:extLst>
              <a:ext uri="{FF2B5EF4-FFF2-40B4-BE49-F238E27FC236}">
                <a16:creationId xmlns:a16="http://schemas.microsoft.com/office/drawing/2014/main" id="{91706F5F-C2C9-CFA6-A6DA-6320D8935BA3}"/>
              </a:ext>
            </a:extLst>
          </p:cNvPr>
          <p:cNvSpPr txBox="1"/>
          <p:nvPr/>
        </p:nvSpPr>
        <p:spPr>
          <a:xfrm>
            <a:off x="968181" y="2932648"/>
            <a:ext cx="671035" cy="230832"/>
          </a:xfrm>
          <a:prstGeom prst="rect">
            <a:avLst/>
          </a:prstGeom>
          <a:noFill/>
        </p:spPr>
        <p:txBody>
          <a:bodyPr wrap="square">
            <a:spAutoFit/>
          </a:bodyPr>
          <a:lstStyle/>
          <a:p>
            <a:pPr algn="ctr"/>
            <a:r>
              <a:rPr kumimoji="1" lang="ja-JP" altLang="en-US" sz="900" dirty="0">
                <a:solidFill>
                  <a:srgbClr val="FF0000"/>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FF0000"/>
              </a:solidFill>
              <a:latin typeface="メイリオ" panose="020B0604030504040204" pitchFamily="50" charset="-128"/>
              <a:ea typeface="メイリオ" panose="020B0604030504040204" pitchFamily="50" charset="-128"/>
              <a:cs typeface="メイリオ"/>
            </a:endParaRPr>
          </a:p>
        </p:txBody>
      </p:sp>
      <p:cxnSp>
        <p:nvCxnSpPr>
          <p:cNvPr id="88" name="直線矢印コネクタ 87">
            <a:extLst>
              <a:ext uri="{FF2B5EF4-FFF2-40B4-BE49-F238E27FC236}">
                <a16:creationId xmlns:a16="http://schemas.microsoft.com/office/drawing/2014/main" id="{826F5558-E52E-4955-ECF0-22B6B8A29748}"/>
              </a:ext>
            </a:extLst>
          </p:cNvPr>
          <p:cNvCxnSpPr>
            <a:cxnSpLocks/>
          </p:cNvCxnSpPr>
          <p:nvPr/>
        </p:nvCxnSpPr>
        <p:spPr>
          <a:xfrm flipV="1">
            <a:off x="2290047" y="3020133"/>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9" name="テキスト ボックス 88">
            <a:extLst>
              <a:ext uri="{FF2B5EF4-FFF2-40B4-BE49-F238E27FC236}">
                <a16:creationId xmlns:a16="http://schemas.microsoft.com/office/drawing/2014/main" id="{C87D3212-5CA7-479B-A73E-22643A6E1B0C}"/>
              </a:ext>
            </a:extLst>
          </p:cNvPr>
          <p:cNvSpPr txBox="1"/>
          <p:nvPr/>
        </p:nvSpPr>
        <p:spPr>
          <a:xfrm>
            <a:off x="2137795" y="2804927"/>
            <a:ext cx="671035" cy="230832"/>
          </a:xfrm>
          <a:prstGeom prst="rect">
            <a:avLst/>
          </a:prstGeom>
          <a:noFill/>
        </p:spPr>
        <p:txBody>
          <a:bodyPr wrap="square">
            <a:spAutoFit/>
          </a:bodyPr>
          <a:lstStyle/>
          <a:p>
            <a:pPr algn="ctr"/>
            <a:r>
              <a:rPr kumimoji="1" lang="ja-JP" altLang="en-US" sz="900" dirty="0">
                <a:solidFill>
                  <a:srgbClr val="FF0000"/>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FF0000"/>
              </a:solidFill>
              <a:latin typeface="メイリオ" panose="020B0604030504040204" pitchFamily="50" charset="-128"/>
              <a:ea typeface="メイリオ" panose="020B0604030504040204" pitchFamily="50" charset="-128"/>
              <a:cs typeface="メイリオ"/>
            </a:endParaRPr>
          </a:p>
        </p:txBody>
      </p:sp>
      <p:cxnSp>
        <p:nvCxnSpPr>
          <p:cNvPr id="91" name="コネクタ: カギ線 90">
            <a:extLst>
              <a:ext uri="{FF2B5EF4-FFF2-40B4-BE49-F238E27FC236}">
                <a16:creationId xmlns:a16="http://schemas.microsoft.com/office/drawing/2014/main" id="{E092BAF5-1123-4B1D-F3A5-6BB3C08065DE}"/>
              </a:ext>
            </a:extLst>
          </p:cNvPr>
          <p:cNvCxnSpPr>
            <a:stCxn id="39" idx="3"/>
            <a:endCxn id="41" idx="1"/>
          </p:cNvCxnSpPr>
          <p:nvPr/>
        </p:nvCxnSpPr>
        <p:spPr>
          <a:xfrm>
            <a:off x="2284472" y="3253466"/>
            <a:ext cx="334208" cy="536912"/>
          </a:xfrm>
          <a:prstGeom prst="bentConnector3">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5" name="コネクタ: カギ線 94">
            <a:extLst>
              <a:ext uri="{FF2B5EF4-FFF2-40B4-BE49-F238E27FC236}">
                <a16:creationId xmlns:a16="http://schemas.microsoft.com/office/drawing/2014/main" id="{368BF7F4-176E-2B84-4610-9F916AC5F605}"/>
              </a:ext>
            </a:extLst>
          </p:cNvPr>
          <p:cNvCxnSpPr>
            <a:cxnSpLocks/>
            <a:stCxn id="39" idx="3"/>
            <a:endCxn id="48" idx="1"/>
          </p:cNvCxnSpPr>
          <p:nvPr/>
        </p:nvCxnSpPr>
        <p:spPr>
          <a:xfrm>
            <a:off x="2284472" y="3253466"/>
            <a:ext cx="344361" cy="1882687"/>
          </a:xfrm>
          <a:prstGeom prst="bentConnector3">
            <a:avLst>
              <a:gd name="adj1" fmla="val 50000"/>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線矢印コネクタ 97">
            <a:extLst>
              <a:ext uri="{FF2B5EF4-FFF2-40B4-BE49-F238E27FC236}">
                <a16:creationId xmlns:a16="http://schemas.microsoft.com/office/drawing/2014/main" id="{81E1473F-6265-659C-CC0B-C6FE85BCA3EC}"/>
              </a:ext>
            </a:extLst>
          </p:cNvPr>
          <p:cNvCxnSpPr>
            <a:cxnSpLocks/>
          </p:cNvCxnSpPr>
          <p:nvPr/>
        </p:nvCxnSpPr>
        <p:spPr>
          <a:xfrm>
            <a:off x="1018332" y="2261854"/>
            <a:ext cx="6368884"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99" name="正方形/長方形 98">
            <a:extLst>
              <a:ext uri="{FF2B5EF4-FFF2-40B4-BE49-F238E27FC236}">
                <a16:creationId xmlns:a16="http://schemas.microsoft.com/office/drawing/2014/main" id="{71342B33-5F5E-5ACC-6866-024BDB2FCF99}"/>
              </a:ext>
            </a:extLst>
          </p:cNvPr>
          <p:cNvSpPr/>
          <p:nvPr/>
        </p:nvSpPr>
        <p:spPr>
          <a:xfrm>
            <a:off x="2618679" y="2095601"/>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1" name="正方形/長方形 100">
            <a:extLst>
              <a:ext uri="{FF2B5EF4-FFF2-40B4-BE49-F238E27FC236}">
                <a16:creationId xmlns:a16="http://schemas.microsoft.com/office/drawing/2014/main" id="{47073071-D09C-A372-757E-07EDFC1B4691}"/>
              </a:ext>
            </a:extLst>
          </p:cNvPr>
          <p:cNvSpPr/>
          <p:nvPr/>
        </p:nvSpPr>
        <p:spPr>
          <a:xfrm>
            <a:off x="7490414" y="2123310"/>
            <a:ext cx="843512" cy="27708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3" name="正方形/長方形 102">
            <a:extLst>
              <a:ext uri="{FF2B5EF4-FFF2-40B4-BE49-F238E27FC236}">
                <a16:creationId xmlns:a16="http://schemas.microsoft.com/office/drawing/2014/main" id="{362FF045-6EC3-A2C7-23A8-F82F6C32CA62}"/>
              </a:ext>
            </a:extLst>
          </p:cNvPr>
          <p:cNvSpPr/>
          <p:nvPr/>
        </p:nvSpPr>
        <p:spPr>
          <a:xfrm>
            <a:off x="5151597" y="2099217"/>
            <a:ext cx="843512" cy="30406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参加</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104" name="直線矢印コネクタ 103">
            <a:extLst>
              <a:ext uri="{FF2B5EF4-FFF2-40B4-BE49-F238E27FC236}">
                <a16:creationId xmlns:a16="http://schemas.microsoft.com/office/drawing/2014/main" id="{B2BEB3B0-AB21-E350-31D0-2459E72A227A}"/>
              </a:ext>
            </a:extLst>
          </p:cNvPr>
          <p:cNvCxnSpPr>
            <a:cxnSpLocks/>
          </p:cNvCxnSpPr>
          <p:nvPr/>
        </p:nvCxnSpPr>
        <p:spPr>
          <a:xfrm rot="16200000">
            <a:off x="4316154" y="3825356"/>
            <a:ext cx="2628196" cy="2483"/>
          </a:xfrm>
          <a:prstGeom prst="straightConnector1">
            <a:avLst/>
          </a:prstGeom>
          <a:ln w="57150">
            <a:solidFill>
              <a:srgbClr val="FFC000"/>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06" name="正方形/長方形 105">
            <a:extLst>
              <a:ext uri="{FF2B5EF4-FFF2-40B4-BE49-F238E27FC236}">
                <a16:creationId xmlns:a16="http://schemas.microsoft.com/office/drawing/2014/main" id="{294E5883-9E5C-CC39-B584-0348ED134790}"/>
              </a:ext>
            </a:extLst>
          </p:cNvPr>
          <p:cNvSpPr/>
          <p:nvPr/>
        </p:nvSpPr>
        <p:spPr>
          <a:xfrm>
            <a:off x="425513" y="1810959"/>
            <a:ext cx="697117" cy="464415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AD</a:t>
            </a: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8" name="正方形/長方形 107">
            <a:extLst>
              <a:ext uri="{FF2B5EF4-FFF2-40B4-BE49-F238E27FC236}">
                <a16:creationId xmlns:a16="http://schemas.microsoft.com/office/drawing/2014/main" id="{BF61B903-1FDC-8BAE-D2B9-3470F4804967}"/>
              </a:ext>
            </a:extLst>
          </p:cNvPr>
          <p:cNvSpPr/>
          <p:nvPr/>
        </p:nvSpPr>
        <p:spPr>
          <a:xfrm>
            <a:off x="5088255" y="5754882"/>
            <a:ext cx="1135687"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ctr">
              <a:buFontTx/>
              <a:buChar char="-"/>
            </a:pPr>
            <a:r>
              <a:rPr lang="ja-JP" altLang="en-US" sz="1000" b="1" dirty="0">
                <a:solidFill>
                  <a:schemeClr val="tx1"/>
                </a:solidFill>
                <a:latin typeface="メイリオ" panose="020B0604030504040204" pitchFamily="50" charset="-128"/>
                <a:ea typeface="メイリオ" panose="020B0604030504040204" pitchFamily="50" charset="-128"/>
                <a:cs typeface="メイリオ"/>
              </a:rPr>
              <a:t>平常期の配信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2" name="直線矢印コネクタ 1">
            <a:extLst>
              <a:ext uri="{FF2B5EF4-FFF2-40B4-BE49-F238E27FC236}">
                <a16:creationId xmlns:a16="http://schemas.microsoft.com/office/drawing/2014/main" id="{BE373B3A-392A-272B-09F4-3EDF2F42A980}"/>
              </a:ext>
            </a:extLst>
          </p:cNvPr>
          <p:cNvCxnSpPr>
            <a:cxnSpLocks/>
          </p:cNvCxnSpPr>
          <p:nvPr/>
        </p:nvCxnSpPr>
        <p:spPr>
          <a:xfrm flipV="1">
            <a:off x="5137316" y="5576055"/>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DB9BD1D1-C76F-12F8-B85E-165B4A6C8BFD}"/>
              </a:ext>
            </a:extLst>
          </p:cNvPr>
          <p:cNvSpPr txBox="1"/>
          <p:nvPr/>
        </p:nvSpPr>
        <p:spPr>
          <a:xfrm>
            <a:off x="4985064" y="5360849"/>
            <a:ext cx="671035" cy="230832"/>
          </a:xfrm>
          <a:prstGeom prst="rect">
            <a:avLst/>
          </a:prstGeom>
          <a:noFill/>
        </p:spPr>
        <p:txBody>
          <a:bodyPr wrap="square">
            <a:spAutoFit/>
          </a:bodyPr>
          <a:lstStyle/>
          <a:p>
            <a:pPr algn="ctr"/>
            <a:r>
              <a:rPr kumimoji="1" lang="ja-JP" altLang="en-US" sz="900" dirty="0">
                <a:solidFill>
                  <a:srgbClr val="FF0000"/>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FF0000"/>
              </a:solidFill>
              <a:latin typeface="メイリオ" panose="020B0604030504040204" pitchFamily="50" charset="-128"/>
              <a:ea typeface="メイリオ" panose="020B0604030504040204" pitchFamily="50" charset="-128"/>
              <a:cs typeface="メイリオ"/>
            </a:endParaRPr>
          </a:p>
        </p:txBody>
      </p:sp>
      <p:sp>
        <p:nvSpPr>
          <p:cNvPr id="10" name="正方形/長方形 9">
            <a:extLst>
              <a:ext uri="{FF2B5EF4-FFF2-40B4-BE49-F238E27FC236}">
                <a16:creationId xmlns:a16="http://schemas.microsoft.com/office/drawing/2014/main" id="{452A1327-261D-FFA5-8AB0-FBC92A2407B8}"/>
              </a:ext>
            </a:extLst>
          </p:cNvPr>
          <p:cNvSpPr/>
          <p:nvPr/>
        </p:nvSpPr>
        <p:spPr>
          <a:xfrm>
            <a:off x="5995109" y="2633366"/>
            <a:ext cx="3273814" cy="14024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●イベント直後に、サロンの</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申込みフォームを案内</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（申込みはいつでも可能）</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FF0000"/>
                </a:solidFill>
                <a:latin typeface="メイリオ" panose="020B0604030504040204" pitchFamily="50" charset="-128"/>
                <a:ea typeface="メイリオ" panose="020B0604030504040204" pitchFamily="50" charset="-128"/>
                <a:cs typeface="メイリオ"/>
              </a:rPr>
              <a:t>※</a:t>
            </a:r>
            <a:r>
              <a:rPr lang="en-US" altLang="ja-JP" sz="1000" dirty="0">
                <a:solidFill>
                  <a:srgbClr val="FF0000"/>
                </a:solidFill>
                <a:latin typeface="メイリオ" panose="020B0604030504040204" pitchFamily="50" charset="-128"/>
                <a:ea typeface="メイリオ" panose="020B0604030504040204" pitchFamily="50" charset="-128"/>
                <a:cs typeface="メイリオ"/>
              </a:rPr>
              <a:t>個別チャット対応は効率化のみで基本貴社対応</a:t>
            </a:r>
            <a:endParaRPr lang="en-US" altLang="ja-JP" sz="1000" dirty="0">
              <a:solidFill>
                <a:srgbClr val="FF0000"/>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9474872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A337D-17CA-E6E5-D505-2573F42DF1AE}"/>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764D8A5C-7B4A-390C-FB5B-FB3131C930AD}"/>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EEFB8B0A-6EC5-1DE8-1B6D-A4065AE6AEA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14EC833-F0FA-AEDA-4F48-B979DDE04109}"/>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想定の費用対効果（詳細）</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C7E6A42B-1136-E29F-50E6-B072A610CB01}"/>
              </a:ext>
            </a:extLst>
          </p:cNvPr>
          <p:cNvSpPr txBox="1"/>
          <p:nvPr/>
        </p:nvSpPr>
        <p:spPr>
          <a:xfrm>
            <a:off x="381000" y="1117600"/>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トラック分岐の設計思想</a:t>
            </a:r>
          </a:p>
        </p:txBody>
      </p:sp>
      <p:sp>
        <p:nvSpPr>
          <p:cNvPr id="6" name="LeftHeader">
            <a:extLst>
              <a:ext uri="{FF2B5EF4-FFF2-40B4-BE49-F238E27FC236}">
                <a16:creationId xmlns:a16="http://schemas.microsoft.com/office/drawing/2014/main" id="{88B8ADE6-2320-90DE-4B5D-0E825050A440}"/>
              </a:ext>
            </a:extLst>
          </p:cNvPr>
          <p:cNvSpPr txBox="1"/>
          <p:nvPr/>
        </p:nvSpPr>
        <p:spPr>
          <a:xfrm>
            <a:off x="381000" y="1498600"/>
            <a:ext cx="4445000" cy="381000"/>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04B17781-2CE9-1794-B996-D203F2127177}"/>
              </a:ext>
            </a:extLst>
          </p:cNvPr>
          <p:cNvSpPr txBox="1"/>
          <p:nvPr/>
        </p:nvSpPr>
        <p:spPr>
          <a:xfrm>
            <a:off x="381000" y="1879600"/>
            <a:ext cx="4445000" cy="3556000"/>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83D7B48F-F108-1D28-80D9-9B07405A3AF3}"/>
              </a:ext>
            </a:extLst>
          </p:cNvPr>
          <p:cNvSpPr txBox="1"/>
          <p:nvPr/>
        </p:nvSpPr>
        <p:spPr>
          <a:xfrm>
            <a:off x="5080000" y="1498600"/>
            <a:ext cx="4445000" cy="381000"/>
          </a:xfrm>
          <a:prstGeom prst="rect">
            <a:avLst/>
          </a:prstGeom>
          <a:solidFill>
            <a:srgbClr val="C8102E"/>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854968D2-9B97-28FB-49F7-CCBD26E2F10D}"/>
              </a:ext>
            </a:extLst>
          </p:cNvPr>
          <p:cNvSpPr txBox="1"/>
          <p:nvPr/>
        </p:nvSpPr>
        <p:spPr>
          <a:xfrm>
            <a:off x="5080000" y="1879600"/>
            <a:ext cx="4445000" cy="3556000"/>
          </a:xfrm>
          <a:prstGeom prst="rect">
            <a:avLst/>
          </a:prstGeom>
          <a:solidFill>
            <a:srgbClr val="FFFFFF"/>
          </a:solidFill>
          <a:ln w="12700">
            <a:solidFill>
              <a:srgbClr val="C8102E"/>
            </a:solidFill>
          </a:ln>
        </p:spPr>
        <p:txBody>
          <a:bodyPr wrap="square" lIns="177800" tIns="152400" rIns="177800" bIns="152400" anchor="t"/>
          <a:lstStyle/>
          <a:p>
            <a:pPr>
              <a:buClr>
                <a:srgbClr val="000000"/>
              </a:buClr>
              <a:buFont typeface="Arial"/>
              <a:buNone/>
            </a:pPr>
            <a:r>
              <a:rPr kumimoji="0" lang="ja-JP" altLang="en-US" sz="1200" b="1" kern="0" dirty="0">
                <a:solidFill>
                  <a:srgbClr val="C8102E"/>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C8102E"/>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C8102E"/>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spcBef>
                <a:spcPts val="600"/>
              </a:spcBef>
              <a:buClr>
                <a:srgbClr val="000000"/>
              </a:buClr>
              <a:buFont typeface="Arial"/>
              <a:buNone/>
            </a:pPr>
            <a:endParaRPr kumimoji="0" lang="en-US" altLang="ja-JP" sz="1200" b="1" kern="0" dirty="0">
              <a:solidFill>
                <a:srgbClr val="C8102E"/>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C8102E"/>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C8102E"/>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C8102E"/>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次のイベントの案内を、広告より先に届けられる</a:t>
            </a:r>
          </a:p>
          <a:p>
            <a:pPr>
              <a:spcBef>
                <a:spcPts val="600"/>
              </a:spcBef>
              <a:buClr>
                <a:srgbClr val="000000"/>
              </a:buClr>
              <a:buFont typeface="Arial"/>
              <a:buNone/>
            </a:pPr>
            <a:endParaRPr kumimoji="0" lang="en-US" altLang="ja-JP" sz="1200" b="1" kern="0" dirty="0">
              <a:solidFill>
                <a:srgbClr val="C8102E"/>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C8102E"/>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C8102E"/>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C13E0556-1137-A003-99B5-1CC8EE085C44}"/>
              </a:ext>
            </a:extLst>
          </p:cNvPr>
          <p:cNvSpPr txBox="1"/>
          <p:nvPr/>
        </p:nvSpPr>
        <p:spPr>
          <a:xfrm>
            <a:off x="381000" y="5588000"/>
            <a:ext cx="9144000" cy="81280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友だちの入口（ポップアップツール／サンクスLINE誘導）で自動で分け、予約した方は当日の参加へ、</a:t>
            </a:r>
            <a:endPar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a:t>
            </a:r>
            <a:endPar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endParaRPr>
          </a:p>
        </p:txBody>
      </p:sp>
    </p:spTree>
    <p:extLst>
      <p:ext uri="{BB962C8B-B14F-4D97-AF65-F5344CB8AC3E}">
        <p14:creationId xmlns:p14="http://schemas.microsoft.com/office/powerpoint/2010/main" val="3203648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14F9B-288C-F1D2-7B0B-67E191377D0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FF87629C-3642-C49D-F0B1-C713D8B98B2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BF1FF577-F7FC-8D65-AD79-624C8A98E39D}"/>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E6E21DDA-5638-FE3D-5AC9-43FF46984EB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想定の費用対効果（詳細）</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CC2D2B1E-CBEB-3614-77A0-5702C0FFED68}"/>
              </a:ext>
            </a:extLst>
          </p:cNvPr>
          <p:cNvSpPr txBox="1"/>
          <p:nvPr/>
        </p:nvSpPr>
        <p:spPr>
          <a:xfrm>
            <a:off x="381000" y="1117600"/>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トラック分岐の設計思想</a:t>
            </a:r>
          </a:p>
        </p:txBody>
      </p:sp>
      <p:sp>
        <p:nvSpPr>
          <p:cNvPr id="6" name="LeftHeader">
            <a:extLst>
              <a:ext uri="{FF2B5EF4-FFF2-40B4-BE49-F238E27FC236}">
                <a16:creationId xmlns:a16="http://schemas.microsoft.com/office/drawing/2014/main" id="{8B06F5F7-D7C2-4206-459C-6FDD885B9F2C}"/>
              </a:ext>
            </a:extLst>
          </p:cNvPr>
          <p:cNvSpPr txBox="1"/>
          <p:nvPr/>
        </p:nvSpPr>
        <p:spPr>
          <a:xfrm>
            <a:off x="381000" y="1498600"/>
            <a:ext cx="4445000" cy="381000"/>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F773B430-56E4-0521-D716-A07C918C24AE}"/>
              </a:ext>
            </a:extLst>
          </p:cNvPr>
          <p:cNvSpPr txBox="1"/>
          <p:nvPr/>
        </p:nvSpPr>
        <p:spPr>
          <a:xfrm>
            <a:off x="381000" y="1879600"/>
            <a:ext cx="4445000" cy="3556000"/>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A47125D1-5D5B-577F-CCF0-A99B2F298330}"/>
              </a:ext>
            </a:extLst>
          </p:cNvPr>
          <p:cNvSpPr txBox="1"/>
          <p:nvPr/>
        </p:nvSpPr>
        <p:spPr>
          <a:xfrm>
            <a:off x="5080000" y="1498600"/>
            <a:ext cx="4445000" cy="381000"/>
          </a:xfrm>
          <a:prstGeom prst="rect">
            <a:avLst/>
          </a:prstGeom>
          <a:solidFill>
            <a:srgbClr val="C8102E"/>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ECF77B04-EFBD-D6B8-E01D-1461AF2766FF}"/>
              </a:ext>
            </a:extLst>
          </p:cNvPr>
          <p:cNvSpPr txBox="1"/>
          <p:nvPr/>
        </p:nvSpPr>
        <p:spPr>
          <a:xfrm>
            <a:off x="5080000" y="1879600"/>
            <a:ext cx="4445000" cy="3556000"/>
          </a:xfrm>
          <a:prstGeom prst="rect">
            <a:avLst/>
          </a:prstGeom>
          <a:solidFill>
            <a:srgbClr val="FFFFFF"/>
          </a:solidFill>
          <a:ln w="12700">
            <a:solidFill>
              <a:srgbClr val="C8102E"/>
            </a:solidFill>
          </a:ln>
        </p:spPr>
        <p:txBody>
          <a:bodyPr wrap="square" lIns="177800" tIns="152400" rIns="177800" bIns="152400" anchor="t"/>
          <a:lstStyle/>
          <a:p>
            <a:pPr>
              <a:buClr>
                <a:srgbClr val="000000"/>
              </a:buClr>
              <a:buFont typeface="Arial"/>
              <a:buNone/>
            </a:pPr>
            <a:r>
              <a:rPr kumimoji="0" lang="ja-JP" altLang="en-US" sz="1200" b="1" kern="0" dirty="0">
                <a:solidFill>
                  <a:srgbClr val="C8102E"/>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C8102E"/>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C8102E"/>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buClr>
                <a:srgbClr val="000000"/>
              </a:buClr>
              <a:buFont typeface="Arial"/>
              <a:buNone/>
            </a:pPr>
          </a:p>
          <a:p>
            <a:pPr>
              <a:buClr>
                <a:srgbClr val="000000"/>
              </a:buClr>
              <a:buFont typeface="Arial"/>
              <a:buNone/>
            </a:pPr>
            <a:r>
              <a:rPr kumimoji="0" lang="ja-JP" altLang="en-US" sz="1200" b="1" kern="0" dirty="0">
                <a:solidFill>
                  <a:srgbClr val="C8102E"/>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C8102E"/>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C8102E"/>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次のイベントの案内を、広告より先に届けられる</a:t>
            </a:r>
          </a:p>
          <a:p>
            <a:pPr>
              <a:buClr>
                <a:srgbClr val="000000"/>
              </a:buClr>
              <a:buFont typeface="Arial"/>
              <a:buNone/>
            </a:pPr>
          </a:p>
          <a:p>
            <a:pPr>
              <a:buClr>
                <a:srgbClr val="000000"/>
              </a:buClr>
              <a:buFont typeface="Arial"/>
              <a:buNone/>
            </a:pPr>
            <a:r>
              <a:rPr kumimoji="0" lang="ja-JP" altLang="en-US" sz="1200" b="1" kern="0" dirty="0">
                <a:solidFill>
                  <a:srgbClr val="C8102E"/>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C8102E"/>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A7CDFABA-1683-4E04-F3EC-BFB5175BB3D7}"/>
              </a:ext>
            </a:extLst>
          </p:cNvPr>
          <p:cNvSpPr txBox="1"/>
          <p:nvPr/>
        </p:nvSpPr>
        <p:spPr>
          <a:xfrm>
            <a:off x="381000" y="5588000"/>
            <a:ext cx="9144000" cy="81280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友だちの入口（ポップアップツール／サンクスLINE誘導）で自動で分け、予約した方は当日の参加へ、</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a:t>
            </a:r>
          </a:p>
        </p:txBody>
      </p:sp>
      <p:sp>
        <p:nvSpPr>
          <p:cNvPr id="2" name="正方形/長方形 1">
            <a:extLst>
              <a:ext uri="{FF2B5EF4-FFF2-40B4-BE49-F238E27FC236}">
                <a16:creationId xmlns:a16="http://schemas.microsoft.com/office/drawing/2014/main" id="{2BCDAE55-2DB6-D959-BB7A-FFA05547CCF8}"/>
              </a:ext>
            </a:extLst>
          </p:cNvPr>
          <p:cNvSpPr/>
          <p:nvPr/>
        </p:nvSpPr>
        <p:spPr>
          <a:xfrm>
            <a:off x="4953000" y="1333554"/>
            <a:ext cx="4757057" cy="4248121"/>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 name="正方形/長方形 9">
            <a:extLst>
              <a:ext uri="{FF2B5EF4-FFF2-40B4-BE49-F238E27FC236}">
                <a16:creationId xmlns:a16="http://schemas.microsoft.com/office/drawing/2014/main" id="{62794B8A-D6DE-D702-A17A-E1DE9074FE08}"/>
              </a:ext>
            </a:extLst>
          </p:cNvPr>
          <p:cNvSpPr/>
          <p:nvPr/>
        </p:nvSpPr>
        <p:spPr>
          <a:xfrm>
            <a:off x="379975" y="5581675"/>
            <a:ext cx="9143999" cy="84046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25156139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605D1-944D-0389-D7CD-C5AB8DD983F5}"/>
            </a:ext>
          </a:extLst>
        </p:cNvPr>
        <p:cNvGrpSpPr/>
        <p:nvPr/>
      </p:nvGrpSpPr>
      <p:grpSpPr>
        <a:xfrm>
          <a:off x="0" y="0"/>
          <a:ext cx="0" cy="0"/>
          <a:chOff x="0" y="0"/>
          <a:chExt cx="0" cy="0"/>
        </a:xfrm>
      </p:grpSpPr>
      <p:sp>
        <p:nvSpPr>
          <p:cNvPr id="8" name="テキスト ボックス 47">
            <a:extLst>
              <a:ext uri="{FF2B5EF4-FFF2-40B4-BE49-F238E27FC236}">
                <a16:creationId xmlns:a16="http://schemas.microsoft.com/office/drawing/2014/main" id="{83BB2C20-D0AA-36FF-470A-E7F0DAEAB26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短期ニーズトラック：Day0〜</a:t>
            </a:r>
            <a:r>
              <a:rPr lang="en-US" altLang="ja-JP" sz="1600" b="1" dirty="0">
                <a:solidFill>
                  <a:srgbClr val="1F2A5C"/>
                </a:solidFill>
                <a:latin typeface="メイリオ" panose="020B0604030504040204" pitchFamily="50" charset="-128"/>
                <a:ea typeface="メイリオ" panose="020B0604030504040204" pitchFamily="50" charset="-128"/>
                <a:cs typeface="メイリオ"/>
              </a:rPr>
              <a:t>15</a:t>
            </a:r>
            <a:r>
              <a:rPr lang="ja-JP" altLang="en-US" sz="1600" b="1" dirty="0">
                <a:solidFill>
                  <a:srgbClr val="1F2A5C"/>
                </a:solidFill>
                <a:latin typeface="メイリオ" panose="020B0604030504040204" pitchFamily="50" charset="-128"/>
                <a:ea typeface="メイリオ" panose="020B0604030504040204" pitchFamily="50" charset="-128"/>
                <a:cs typeface="メイリオ"/>
              </a:rPr>
              <a:t>の圧縮設計</a:t>
            </a:r>
          </a:p>
        </p:txBody>
      </p:sp>
      <p:sp>
        <p:nvSpPr>
          <p:cNvPr id="12" name="Lead">
            <a:extLst>
              <a:ext uri="{FF2B5EF4-FFF2-40B4-BE49-F238E27FC236}">
                <a16:creationId xmlns:a16="http://schemas.microsoft.com/office/drawing/2014/main" id="{95FE0356-B15A-D93F-BA83-FD0B43311C26}"/>
              </a:ext>
            </a:extLst>
          </p:cNvPr>
          <p:cNvSpPr txBox="1"/>
          <p:nvPr/>
        </p:nvSpPr>
        <p:spPr>
          <a:xfrm>
            <a:off x="274320" y="847623"/>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検索直後の疑問に即応し、15日以内でセミナー予約へ誘導する</a:t>
            </a:r>
          </a:p>
        </p:txBody>
      </p:sp>
      <p:sp>
        <p:nvSpPr>
          <p:cNvPr id="2" name="Rounded Rectangle 2">
            <a:extLst>
              <a:ext uri="{FF2B5EF4-FFF2-40B4-BE49-F238E27FC236}">
                <a16:creationId xmlns:a16="http://schemas.microsoft.com/office/drawing/2014/main" id="{32D5DB1A-2D31-4285-1013-68B5CBC6F7AA}"/>
              </a:ext>
            </a:extLst>
          </p:cNvPr>
          <p:cNvSpPr/>
          <p:nvPr/>
        </p:nvSpPr>
        <p:spPr>
          <a:xfrm>
            <a:off x="27432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 name="Rounded Rectangle 3">
            <a:extLst>
              <a:ext uri="{FF2B5EF4-FFF2-40B4-BE49-F238E27FC236}">
                <a16:creationId xmlns:a16="http://schemas.microsoft.com/office/drawing/2014/main" id="{4905A8F7-DA37-EDDB-D4A0-A8C338EA048F}"/>
              </a:ext>
            </a:extLst>
          </p:cNvPr>
          <p:cNvSpPr/>
          <p:nvPr/>
        </p:nvSpPr>
        <p:spPr>
          <a:xfrm>
            <a:off x="27432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Day0</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追加直後：診断</a:t>
            </a:r>
          </a:p>
        </p:txBody>
      </p:sp>
      <p:sp>
        <p:nvSpPr>
          <p:cNvPr id="4" name="TextBox 4">
            <a:extLst>
              <a:ext uri="{FF2B5EF4-FFF2-40B4-BE49-F238E27FC236}">
                <a16:creationId xmlns:a16="http://schemas.microsoft.com/office/drawing/2014/main" id="{AF54DDF1-0A58-67B0-D606-FE72C8B6BAD4}"/>
              </a:ext>
            </a:extLst>
          </p:cNvPr>
          <p:cNvSpPr txBox="1"/>
          <p:nvPr/>
        </p:nvSpPr>
        <p:spPr>
          <a:xfrm>
            <a:off x="38404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ご追加ありがとう</a:t>
            </a:r>
          </a:p>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ございます！</a:t>
            </a:r>
          </a:p>
        </p:txBody>
      </p:sp>
      <p:sp>
        <p:nvSpPr>
          <p:cNvPr id="5" name="TextBox 5">
            <a:extLst>
              <a:ext uri="{FF2B5EF4-FFF2-40B4-BE49-F238E27FC236}">
                <a16:creationId xmlns:a16="http://schemas.microsoft.com/office/drawing/2014/main" id="{942DBFF1-8E8E-E0F6-C4D8-936FB7D63294}"/>
              </a:ext>
            </a:extLst>
          </p:cNvPr>
          <p:cNvSpPr txBox="1"/>
          <p:nvPr/>
        </p:nvSpPr>
        <p:spPr>
          <a:xfrm>
            <a:off x="38404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3問タップで検討段階を分岐・タグ付け</a:t>
            </a:r>
          </a:p>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6" name="Rounded Rectangle 6">
            <a:extLst>
              <a:ext uri="{FF2B5EF4-FFF2-40B4-BE49-F238E27FC236}">
                <a16:creationId xmlns:a16="http://schemas.microsoft.com/office/drawing/2014/main" id="{7FF56F22-467D-9E6B-D894-69A2DC8FAD69}"/>
              </a:ext>
            </a:extLst>
          </p:cNvPr>
          <p:cNvSpPr/>
          <p:nvPr/>
        </p:nvSpPr>
        <p:spPr>
          <a:xfrm>
            <a:off x="38404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 3択タップで診断</a:t>
            </a:r>
          </a:p>
        </p:txBody>
      </p:sp>
      <p:sp>
        <p:nvSpPr>
          <p:cNvPr id="7" name="Rounded Rectangle 7">
            <a:extLst>
              <a:ext uri="{FF2B5EF4-FFF2-40B4-BE49-F238E27FC236}">
                <a16:creationId xmlns:a16="http://schemas.microsoft.com/office/drawing/2014/main" id="{8D18F66D-12A2-B97F-13EE-FA13362C28BE}"/>
              </a:ext>
            </a:extLst>
          </p:cNvPr>
          <p:cNvSpPr/>
          <p:nvPr/>
        </p:nvSpPr>
        <p:spPr>
          <a:xfrm>
            <a:off x="217078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9" name="Rounded Rectangle 8">
            <a:extLst>
              <a:ext uri="{FF2B5EF4-FFF2-40B4-BE49-F238E27FC236}">
                <a16:creationId xmlns:a16="http://schemas.microsoft.com/office/drawing/2014/main" id="{FA0D0844-6CF2-A00A-7B79-F4A826D90EEE}"/>
              </a:ext>
            </a:extLst>
          </p:cNvPr>
          <p:cNvSpPr/>
          <p:nvPr/>
        </p:nvSpPr>
        <p:spPr>
          <a:xfrm>
            <a:off x="2170785"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Day1〜2</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0" name="TextBox 9">
            <a:extLst>
              <a:ext uri="{FF2B5EF4-FFF2-40B4-BE49-F238E27FC236}">
                <a16:creationId xmlns:a16="http://schemas.microsoft.com/office/drawing/2014/main" id="{9361AE1C-AC5D-8B9C-86D1-EC657FC3A8B7}"/>
              </a:ext>
            </a:extLst>
          </p:cNvPr>
          <p:cNvSpPr txBox="1"/>
          <p:nvPr/>
        </p:nvSpPr>
        <p:spPr>
          <a:xfrm>
            <a:off x="228051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11" name="TextBox 10">
            <a:extLst>
              <a:ext uri="{FF2B5EF4-FFF2-40B4-BE49-F238E27FC236}">
                <a16:creationId xmlns:a16="http://schemas.microsoft.com/office/drawing/2014/main" id="{2C26C064-3099-1C6E-BD1F-7E4B6508C6C0}"/>
              </a:ext>
            </a:extLst>
          </p:cNvPr>
          <p:cNvSpPr txBox="1"/>
          <p:nvPr/>
        </p:nvSpPr>
        <p:spPr>
          <a:xfrm>
            <a:off x="2280513"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13" name="Rounded Rectangle 11">
            <a:extLst>
              <a:ext uri="{FF2B5EF4-FFF2-40B4-BE49-F238E27FC236}">
                <a16:creationId xmlns:a16="http://schemas.microsoft.com/office/drawing/2014/main" id="{4B3A754B-1435-5A8E-96AE-4037A27AF116}"/>
              </a:ext>
            </a:extLst>
          </p:cNvPr>
          <p:cNvSpPr/>
          <p:nvPr/>
        </p:nvSpPr>
        <p:spPr>
          <a:xfrm>
            <a:off x="2280513"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4" name="Rounded Rectangle 12">
            <a:extLst>
              <a:ext uri="{FF2B5EF4-FFF2-40B4-BE49-F238E27FC236}">
                <a16:creationId xmlns:a16="http://schemas.microsoft.com/office/drawing/2014/main" id="{36C2CEAA-8727-1541-A261-38D2B8EE8479}"/>
              </a:ext>
            </a:extLst>
          </p:cNvPr>
          <p:cNvSpPr/>
          <p:nvPr/>
        </p:nvSpPr>
        <p:spPr>
          <a:xfrm>
            <a:off x="406725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16" name="Rounded Rectangle 13">
            <a:extLst>
              <a:ext uri="{FF2B5EF4-FFF2-40B4-BE49-F238E27FC236}">
                <a16:creationId xmlns:a16="http://schemas.microsoft.com/office/drawing/2014/main" id="{93204242-A97B-3F81-AC83-1DDA22FFC0D0}"/>
              </a:ext>
            </a:extLst>
          </p:cNvPr>
          <p:cNvSpPr/>
          <p:nvPr/>
        </p:nvSpPr>
        <p:spPr>
          <a:xfrm>
            <a:off x="4067250"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Day4〜5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8" name="TextBox 14">
            <a:extLst>
              <a:ext uri="{FF2B5EF4-FFF2-40B4-BE49-F238E27FC236}">
                <a16:creationId xmlns:a16="http://schemas.microsoft.com/office/drawing/2014/main" id="{6AD6AF8B-2C4A-933F-0193-F19C291F13B1}"/>
              </a:ext>
            </a:extLst>
          </p:cNvPr>
          <p:cNvSpPr txBox="1"/>
          <p:nvPr/>
        </p:nvSpPr>
        <p:spPr>
          <a:xfrm>
            <a:off x="417697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20" name="TextBox 15">
            <a:extLst>
              <a:ext uri="{FF2B5EF4-FFF2-40B4-BE49-F238E27FC236}">
                <a16:creationId xmlns:a16="http://schemas.microsoft.com/office/drawing/2014/main" id="{31A7EE41-522A-6587-5E29-2C573127F3C3}"/>
              </a:ext>
            </a:extLst>
          </p:cNvPr>
          <p:cNvSpPr txBox="1"/>
          <p:nvPr/>
        </p:nvSpPr>
        <p:spPr>
          <a:xfrm>
            <a:off x="417697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22" name="Rounded Rectangle 16">
            <a:extLst>
              <a:ext uri="{FF2B5EF4-FFF2-40B4-BE49-F238E27FC236}">
                <a16:creationId xmlns:a16="http://schemas.microsoft.com/office/drawing/2014/main" id="{C7E8BDA3-8CEC-774B-B965-F3AF39B914E4}"/>
              </a:ext>
            </a:extLst>
          </p:cNvPr>
          <p:cNvSpPr/>
          <p:nvPr/>
        </p:nvSpPr>
        <p:spPr>
          <a:xfrm>
            <a:off x="4176978"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4" name="Rounded Rectangle 17">
            <a:extLst>
              <a:ext uri="{FF2B5EF4-FFF2-40B4-BE49-F238E27FC236}">
                <a16:creationId xmlns:a16="http://schemas.microsoft.com/office/drawing/2014/main" id="{E541336C-EC2C-FA47-DF86-0449EEE6EC01}"/>
              </a:ext>
            </a:extLst>
          </p:cNvPr>
          <p:cNvSpPr/>
          <p:nvPr/>
        </p:nvSpPr>
        <p:spPr>
          <a:xfrm>
            <a:off x="596371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26" name="Rounded Rectangle 18">
            <a:extLst>
              <a:ext uri="{FF2B5EF4-FFF2-40B4-BE49-F238E27FC236}">
                <a16:creationId xmlns:a16="http://schemas.microsoft.com/office/drawing/2014/main" id="{BC2869C0-256F-8186-2F32-62ABEBFDB974}"/>
              </a:ext>
            </a:extLst>
          </p:cNvPr>
          <p:cNvSpPr/>
          <p:nvPr/>
        </p:nvSpPr>
        <p:spPr>
          <a:xfrm>
            <a:off x="5963715" y="1560362"/>
            <a:ext cx="1786737" cy="566928"/>
          </a:xfrm>
          <a:prstGeom prst="roundRect">
            <a:avLst>
              <a:gd name="adj" fmla="val 12000"/>
            </a:avLst>
          </a:prstGeom>
          <a:solidFill>
            <a:srgbClr val="5A6378"/>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Day8〜9</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8" name="TextBox 19">
            <a:extLst>
              <a:ext uri="{FF2B5EF4-FFF2-40B4-BE49-F238E27FC236}">
                <a16:creationId xmlns:a16="http://schemas.microsoft.com/office/drawing/2014/main" id="{A3128BAC-3AA2-D6CD-E5B1-139EF73DE7E5}"/>
              </a:ext>
            </a:extLst>
          </p:cNvPr>
          <p:cNvSpPr txBox="1"/>
          <p:nvPr/>
        </p:nvSpPr>
        <p:spPr>
          <a:xfrm>
            <a:off x="607344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0" name="TextBox 20">
            <a:extLst>
              <a:ext uri="{FF2B5EF4-FFF2-40B4-BE49-F238E27FC236}">
                <a16:creationId xmlns:a16="http://schemas.microsoft.com/office/drawing/2014/main" id="{69E0D836-774F-8844-0B7E-FEC8CAEAA930}"/>
              </a:ext>
            </a:extLst>
          </p:cNvPr>
          <p:cNvSpPr txBox="1"/>
          <p:nvPr/>
        </p:nvSpPr>
        <p:spPr>
          <a:xfrm>
            <a:off x="6073443"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32" name="Rounded Rectangle 21">
            <a:extLst>
              <a:ext uri="{FF2B5EF4-FFF2-40B4-BE49-F238E27FC236}">
                <a16:creationId xmlns:a16="http://schemas.microsoft.com/office/drawing/2014/main" id="{3CD9E7C8-AEDB-1B24-169E-B4E2FCC3BF0B}"/>
              </a:ext>
            </a:extLst>
          </p:cNvPr>
          <p:cNvSpPr/>
          <p:nvPr/>
        </p:nvSpPr>
        <p:spPr>
          <a:xfrm>
            <a:off x="6073443" y="5217962"/>
            <a:ext cx="1567281" cy="384048"/>
          </a:xfrm>
          <a:prstGeom prst="roundRect">
            <a:avLst>
              <a:gd name="adj" fmla="val 50000"/>
            </a:avLst>
          </a:prstGeom>
          <a:solidFill>
            <a:srgbClr val="5A6378"/>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34" name="Rounded Rectangle 22">
            <a:extLst>
              <a:ext uri="{FF2B5EF4-FFF2-40B4-BE49-F238E27FC236}">
                <a16:creationId xmlns:a16="http://schemas.microsoft.com/office/drawing/2014/main" id="{F9794684-1FF1-3263-6A5B-55F2FABDADE2}"/>
              </a:ext>
            </a:extLst>
          </p:cNvPr>
          <p:cNvSpPr/>
          <p:nvPr/>
        </p:nvSpPr>
        <p:spPr>
          <a:xfrm>
            <a:off x="786018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6" name="Rounded Rectangle 23">
            <a:extLst>
              <a:ext uri="{FF2B5EF4-FFF2-40B4-BE49-F238E27FC236}">
                <a16:creationId xmlns:a16="http://schemas.microsoft.com/office/drawing/2014/main" id="{5270596D-D709-5039-F2B0-A37C3BC91FB1}"/>
              </a:ext>
            </a:extLst>
          </p:cNvPr>
          <p:cNvSpPr/>
          <p:nvPr/>
        </p:nvSpPr>
        <p:spPr>
          <a:xfrm>
            <a:off x="7860180" y="1560362"/>
            <a:ext cx="1786737" cy="566928"/>
          </a:xfrm>
          <a:prstGeom prst="roundRect">
            <a:avLst>
              <a:gd name="adj" fmla="val 12000"/>
            </a:avLst>
          </a:prstGeom>
          <a:solidFill>
            <a:srgbClr val="C8102E"/>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Day12〜15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オファー</a:t>
            </a:r>
          </a:p>
        </p:txBody>
      </p:sp>
      <p:sp>
        <p:nvSpPr>
          <p:cNvPr id="38" name="TextBox 24">
            <a:extLst>
              <a:ext uri="{FF2B5EF4-FFF2-40B4-BE49-F238E27FC236}">
                <a16:creationId xmlns:a16="http://schemas.microsoft.com/office/drawing/2014/main" id="{BDC9515A-B6AE-4419-9471-C1CACD5E3EC1}"/>
              </a:ext>
            </a:extLst>
          </p:cNvPr>
          <p:cNvSpPr txBox="1"/>
          <p:nvPr/>
        </p:nvSpPr>
        <p:spPr>
          <a:xfrm>
            <a:off x="796990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9" name="TextBox 25">
            <a:extLst>
              <a:ext uri="{FF2B5EF4-FFF2-40B4-BE49-F238E27FC236}">
                <a16:creationId xmlns:a16="http://schemas.microsoft.com/office/drawing/2014/main" id="{77631336-7324-364D-DAFA-3CED8F639C61}"/>
              </a:ext>
            </a:extLst>
          </p:cNvPr>
          <p:cNvSpPr txBox="1"/>
          <p:nvPr/>
        </p:nvSpPr>
        <p:spPr>
          <a:xfrm>
            <a:off x="7969908"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40" name="Rounded Rectangle 26">
            <a:extLst>
              <a:ext uri="{FF2B5EF4-FFF2-40B4-BE49-F238E27FC236}">
                <a16:creationId xmlns:a16="http://schemas.microsoft.com/office/drawing/2014/main" id="{84EB3BAF-CB06-3354-471B-18BB2B84211F}"/>
              </a:ext>
            </a:extLst>
          </p:cNvPr>
          <p:cNvSpPr/>
          <p:nvPr/>
        </p:nvSpPr>
        <p:spPr>
          <a:xfrm>
            <a:off x="7969908" y="5217962"/>
            <a:ext cx="1567281" cy="384048"/>
          </a:xfrm>
          <a:prstGeom prst="roundRect">
            <a:avLst>
              <a:gd name="adj" fmla="val 50000"/>
            </a:avLst>
          </a:prstGeom>
          <a:solidFill>
            <a:srgbClr val="C8102E"/>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41" name="TextBox 27">
            <a:extLst>
              <a:ext uri="{FF2B5EF4-FFF2-40B4-BE49-F238E27FC236}">
                <a16:creationId xmlns:a16="http://schemas.microsoft.com/office/drawing/2014/main" id="{4801341B-D8FB-80D0-9999-2FE19D3EE1E8}"/>
              </a:ext>
            </a:extLst>
          </p:cNvPr>
          <p:cNvSpPr txBox="1"/>
          <p:nvPr/>
        </p:nvSpPr>
        <p:spPr>
          <a:xfrm>
            <a:off x="274320" y="5858042"/>
            <a:ext cx="9372600" cy="508216"/>
          </a:xfrm>
          <a:prstGeom prst="rect">
            <a:avLst/>
          </a:prstGeom>
          <a:noFill/>
        </p:spPr>
        <p:txBody>
          <a:bodyPr wrap="square">
            <a:spAutoFit/>
          </a:bodyPr>
          <a:lstStyle/>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メイリオ"/>
                <a:sym typeface="Arial"/>
              </a:rPr>
              <a:t>--</a:t>
            </a:r>
            <a:endParaRPr kumimoji="0" lang="en-US" sz="1150" kern="0" dirty="0">
              <a:solidFill>
                <a:srgbClr val="5A6378"/>
              </a:solidFill>
              <a:latin typeface="メイリオ" panose="020B0604030504040204" pitchFamily="50" charset="-128"/>
              <a:ea typeface="メイリオ" panose="020B0604030504040204" pitchFamily="50" charset="-128"/>
              <a:cs typeface="メイリオ"/>
              <a:sym typeface="Arial"/>
            </a:endParaRPr>
          </a:p>
        </p:txBody>
      </p:sp>
      <p:sp>
        <p:nvSpPr>
          <p:cNvPr id="43" name="TextBox 5">
            <a:extLst>
              <a:ext uri="{FF2B5EF4-FFF2-40B4-BE49-F238E27FC236}">
                <a16:creationId xmlns:a16="http://schemas.microsoft.com/office/drawing/2014/main" id="{EA39FE5A-F88E-6BA9-436B-1C7ACA9EFDF7}"/>
              </a:ext>
            </a:extLst>
          </p:cNvPr>
          <p:cNvSpPr txBox="1"/>
          <p:nvPr/>
        </p:nvSpPr>
        <p:spPr>
          <a:xfrm>
            <a:off x="384048" y="3898197"/>
            <a:ext cx="1567281" cy="428579"/>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endParaRPr kumimoji="0"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p:txBody>
      </p:sp>
      <p:sp>
        <p:nvSpPr>
          <p:cNvPr id="45" name="TextBox 10">
            <a:extLst>
              <a:ext uri="{FF2B5EF4-FFF2-40B4-BE49-F238E27FC236}">
                <a16:creationId xmlns:a16="http://schemas.microsoft.com/office/drawing/2014/main" id="{20FC8A71-901A-1650-523A-DB40DB5BE8B2}"/>
              </a:ext>
            </a:extLst>
          </p:cNvPr>
          <p:cNvSpPr txBox="1"/>
          <p:nvPr/>
        </p:nvSpPr>
        <p:spPr>
          <a:xfrm>
            <a:off x="2280513"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endPar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7" name="TextBox 15">
            <a:extLst>
              <a:ext uri="{FF2B5EF4-FFF2-40B4-BE49-F238E27FC236}">
                <a16:creationId xmlns:a16="http://schemas.microsoft.com/office/drawing/2014/main" id="{760B245B-F336-095B-944B-703D8196FB74}"/>
              </a:ext>
            </a:extLst>
          </p:cNvPr>
          <p:cNvSpPr txBox="1"/>
          <p:nvPr/>
        </p:nvSpPr>
        <p:spPr>
          <a:xfrm>
            <a:off x="417697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9" name="TextBox 20">
            <a:extLst>
              <a:ext uri="{FF2B5EF4-FFF2-40B4-BE49-F238E27FC236}">
                <a16:creationId xmlns:a16="http://schemas.microsoft.com/office/drawing/2014/main" id="{DE95B638-E657-FEBB-0117-64BD0F935CE8}"/>
              </a:ext>
            </a:extLst>
          </p:cNvPr>
          <p:cNvSpPr txBox="1"/>
          <p:nvPr/>
        </p:nvSpPr>
        <p:spPr>
          <a:xfrm>
            <a:off x="6073443" y="3898197"/>
            <a:ext cx="1567281" cy="1101071"/>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51" name="TextBox 25">
            <a:extLst>
              <a:ext uri="{FF2B5EF4-FFF2-40B4-BE49-F238E27FC236}">
                <a16:creationId xmlns:a16="http://schemas.microsoft.com/office/drawing/2014/main" id="{9EEAEFD9-8EF2-001C-D44A-2B0332CF7F41}"/>
              </a:ext>
            </a:extLst>
          </p:cNvPr>
          <p:cNvSpPr txBox="1"/>
          <p:nvPr/>
        </p:nvSpPr>
        <p:spPr>
          <a:xfrm>
            <a:off x="796990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15" name="正方形/長方形 14">
            <a:extLst>
              <a:ext uri="{FF2B5EF4-FFF2-40B4-BE49-F238E27FC236}">
                <a16:creationId xmlns:a16="http://schemas.microsoft.com/office/drawing/2014/main" id="{555B77A1-60D1-23C1-F985-F9E05AB9B915}"/>
              </a:ext>
            </a:extLst>
          </p:cNvPr>
          <p:cNvSpPr/>
          <p:nvPr/>
        </p:nvSpPr>
        <p:spPr>
          <a:xfrm>
            <a:off x="2134573" y="1466661"/>
            <a:ext cx="7585863" cy="4327557"/>
          </a:xfrm>
          <a:prstGeom prst="rect">
            <a:avLst/>
          </a:prstGeom>
          <a:solidFill>
            <a:schemeClr val="bg1">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lvl="1">
              <a:lnSpc>
                <a:spcPts val="2000"/>
              </a:lnSpc>
              <a:spcAft>
                <a:spcPts val="200"/>
              </a:spcAft>
              <a:buClr>
                <a:srgbClr val="1F2A5C"/>
              </a:buClr>
            </a:pPr>
            <a:endParaRPr lang="ja-JP" altLang="en-US" sz="1400" dirty="0">
              <a:solidFill>
                <a:srgbClr val="333333"/>
              </a:solidFill>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B2C5803B-DB2E-0AE1-BE31-89D5755B4FE1}"/>
              </a:ext>
            </a:extLst>
          </p:cNvPr>
          <p:cNvSpPr txBox="1"/>
          <p:nvPr/>
        </p:nvSpPr>
        <p:spPr>
          <a:xfrm>
            <a:off x="2234941" y="1921426"/>
            <a:ext cx="4965824" cy="954107"/>
          </a:xfrm>
          <a:prstGeom prst="rect">
            <a:avLst/>
          </a:prstGeom>
          <a:noFill/>
        </p:spPr>
        <p:txBody>
          <a:bodyPr wrap="square">
            <a:spAutoFit/>
          </a:bodyPr>
          <a:lstStyle/>
          <a:p>
            <a:r>
              <a:rPr lang="ja-JP" altLang="en-US" sz="1400" b="1" u="sng" dirty="0">
                <a:solidFill>
                  <a:schemeClr val="tx2"/>
                </a:solidFill>
                <a:latin typeface="メイリオ"/>
                <a:ea typeface="メイリオ"/>
                <a:cs typeface="メイリオ"/>
              </a:rPr>
              <a:t>アンケート回答から「すぐすぐニーズがあるか」を判断</a:t>
            </a:r>
            <a:endParaRPr lang="en-US" altLang="ja-JP" sz="1400" b="1" u="sng" dirty="0">
              <a:solidFill>
                <a:schemeClr val="tx2"/>
              </a:solidFill>
              <a:latin typeface="メイリオ"/>
              <a:ea typeface="メイリオ"/>
              <a:cs typeface="メイリオ"/>
            </a:endParaRPr>
          </a:p>
          <a:p>
            <a:r>
              <a:rPr lang="ja-JP" altLang="en-US" sz="1400" dirty="0">
                <a:solidFill>
                  <a:schemeClr val="tx2"/>
                </a:solidFill>
                <a:latin typeface="メイリオ"/>
                <a:ea typeface="メイリオ"/>
                <a:cs typeface="メイリオ"/>
              </a:rPr>
              <a:t>↓</a:t>
            </a:r>
            <a:endParaRPr lang="en-US" altLang="ja-JP" sz="1400" dirty="0">
              <a:solidFill>
                <a:schemeClr val="tx2"/>
              </a:solidFill>
              <a:latin typeface="メイリオ"/>
              <a:ea typeface="メイリオ"/>
              <a:cs typeface="メイリオ"/>
            </a:endParaRPr>
          </a:p>
          <a:p>
            <a:r>
              <a:rPr lang="ja-JP" altLang="en-US" sz="1400" b="1" dirty="0">
                <a:solidFill>
                  <a:schemeClr val="tx2"/>
                </a:solidFill>
                <a:highlight>
                  <a:srgbClr val="FFFF00"/>
                </a:highlight>
                <a:latin typeface="メイリオ"/>
                <a:ea typeface="メイリオ"/>
                <a:cs typeface="メイリオ"/>
              </a:rPr>
              <a:t>①</a:t>
            </a:r>
            <a:r>
              <a:rPr lang="ja-JP" altLang="en-US" sz="1400" dirty="0">
                <a:solidFill>
                  <a:schemeClr val="tx2"/>
                </a:solidFill>
                <a:latin typeface="メイリオ"/>
                <a:ea typeface="メイリオ"/>
                <a:cs typeface="メイリオ"/>
              </a:rPr>
              <a:t>ニーズあり</a:t>
            </a:r>
            <a:r>
              <a:rPr lang="ja-JP" altLang="en-US" sz="1400" b="1" dirty="0">
                <a:solidFill>
                  <a:schemeClr val="tx2"/>
                </a:solidFill>
                <a:latin typeface="メイリオ"/>
                <a:ea typeface="メイリオ"/>
                <a:cs typeface="メイリオ"/>
              </a:rPr>
              <a:t>（次ページに以降）</a:t>
            </a:r>
            <a:endParaRPr lang="en-US" altLang="ja-JP" sz="1400" b="1" dirty="0">
              <a:solidFill>
                <a:schemeClr val="tx2"/>
              </a:solidFill>
              <a:latin typeface="メイリオ"/>
              <a:ea typeface="メイリオ"/>
              <a:cs typeface="メイリオ"/>
            </a:endParaRPr>
          </a:p>
          <a:p>
            <a:r>
              <a:rPr lang="ja-JP" altLang="en-US" sz="1400" b="1" dirty="0">
                <a:solidFill>
                  <a:schemeClr val="tx2"/>
                </a:solidFill>
                <a:highlight>
                  <a:srgbClr val="FFFF00"/>
                </a:highlight>
                <a:latin typeface="メイリオ"/>
                <a:ea typeface="メイリオ"/>
                <a:cs typeface="メイリオ"/>
              </a:rPr>
              <a:t>②</a:t>
            </a:r>
            <a:r>
              <a:rPr lang="ja-JP" altLang="en-US" sz="1400" dirty="0">
                <a:solidFill>
                  <a:schemeClr val="tx2"/>
                </a:solidFill>
                <a:latin typeface="メイリオ"/>
                <a:ea typeface="メイリオ"/>
                <a:cs typeface="メイリオ"/>
              </a:rPr>
              <a:t>ニーズなし</a:t>
            </a:r>
            <a:r>
              <a:rPr lang="ja-JP" altLang="en-US" sz="1400" b="1" dirty="0">
                <a:solidFill>
                  <a:schemeClr val="tx2"/>
                </a:solidFill>
                <a:latin typeface="メイリオ"/>
                <a:ea typeface="メイリオ"/>
                <a:cs typeface="メイリオ"/>
              </a:rPr>
              <a:t>（長期追客施策に移行）</a:t>
            </a:r>
            <a:endParaRPr lang="ja-JP" altLang="en-US" b="1" dirty="0">
              <a:solidFill>
                <a:schemeClr val="tx2"/>
              </a:solidFill>
              <a:latin typeface="メイリオ"/>
              <a:ea typeface="メイリオ"/>
              <a:cs typeface="メイリオ"/>
            </a:endParaRPr>
          </a:p>
        </p:txBody>
      </p:sp>
      <p:sp>
        <p:nvSpPr>
          <p:cNvPr id="27" name="テキスト ボックス 26">
            <a:extLst>
              <a:ext uri="{FF2B5EF4-FFF2-40B4-BE49-F238E27FC236}">
                <a16:creationId xmlns:a16="http://schemas.microsoft.com/office/drawing/2014/main" id="{0FFF471B-76C5-A9EE-BF1F-9F210906F1DA}"/>
              </a:ext>
            </a:extLst>
          </p:cNvPr>
          <p:cNvSpPr txBox="1"/>
          <p:nvPr/>
        </p:nvSpPr>
        <p:spPr>
          <a:xfrm>
            <a:off x="1951329" y="2985261"/>
            <a:ext cx="7570623" cy="891270"/>
          </a:xfrm>
          <a:prstGeom prst="rect">
            <a:avLst/>
          </a:prstGeom>
          <a:noFill/>
        </p:spPr>
        <p:txBody>
          <a:bodyPr wrap="square">
            <a:spAutoFit/>
          </a:bodyPr>
          <a:lstStyle/>
          <a:p>
            <a:pPr marL="228600" lvl="1">
              <a:lnSpc>
                <a:spcPts val="2000"/>
              </a:lnSpc>
              <a:spcAft>
                <a:spcPts val="200"/>
              </a:spcAft>
              <a:buClr>
                <a:srgbClr val="1F2A5C"/>
              </a:buClr>
            </a:pPr>
            <a:r>
              <a:rPr lang="en-US" altLang="ja-JP" sz="1100" b="1" dirty="0">
                <a:solidFill>
                  <a:srgbClr val="333333"/>
                </a:solidFill>
                <a:latin typeface="メイリオ"/>
                <a:ea typeface="メイリオ"/>
                <a:cs typeface="メイリオ"/>
              </a:rPr>
              <a:t>【その他セグメント配信の活用に関して】</a:t>
            </a:r>
          </a:p>
          <a:p>
            <a:pPr marL="228600" lvl="1">
              <a:lnSpc>
                <a:spcPts val="2000"/>
              </a:lnSpc>
              <a:spcAft>
                <a:spcPts val="200"/>
              </a:spcAft>
              <a:buClr>
                <a:srgbClr val="1F2A5C"/>
              </a:buClr>
            </a:pPr>
            <a:r>
              <a:rPr lang="ja-JP" altLang="en-US" sz="1100" dirty="0">
                <a:solidFill>
                  <a:srgbClr val="333333"/>
                </a:solidFill>
                <a:latin typeface="メイリオ"/>
                <a:ea typeface="メイリオ"/>
                <a:cs typeface="メイリオ"/>
              </a:rPr>
              <a:t>Day0のアンケートの回答に合わせて、配信の中身を出し分ける。</a:t>
            </a:r>
          </a:p>
        </p:txBody>
      </p:sp>
    </p:spTree>
    <p:extLst>
      <p:ext uri="{BB962C8B-B14F-4D97-AF65-F5344CB8AC3E}">
        <p14:creationId xmlns:p14="http://schemas.microsoft.com/office/powerpoint/2010/main" val="42945684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93614-B1C8-8488-6AA6-9C0120B0F016}"/>
            </a:ext>
          </a:extLst>
        </p:cNvPr>
        <p:cNvGrpSpPr/>
        <p:nvPr/>
      </p:nvGrpSpPr>
      <p:grpSpPr>
        <a:xfrm>
          <a:off x="0" y="0"/>
          <a:ext cx="0" cy="0"/>
          <a:chOff x="0" y="0"/>
          <a:chExt cx="0" cy="0"/>
        </a:xfrm>
      </p:grpSpPr>
      <p:sp>
        <p:nvSpPr>
          <p:cNvPr id="8" name="テキスト ボックス 47">
            <a:extLst>
              <a:ext uri="{FF2B5EF4-FFF2-40B4-BE49-F238E27FC236}">
                <a16:creationId xmlns:a16="http://schemas.microsoft.com/office/drawing/2014/main" id="{C1A46CA4-B62C-129C-2265-6EC1BE8C6EFA}"/>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短期ニーズトラック：Day0〜</a:t>
            </a:r>
            <a:r>
              <a:rPr lang="en-US" altLang="ja-JP" sz="1600" b="1" dirty="0">
                <a:solidFill>
                  <a:srgbClr val="1F2A5C"/>
                </a:solidFill>
                <a:latin typeface="メイリオ" panose="020B0604030504040204" pitchFamily="50" charset="-128"/>
                <a:ea typeface="メイリオ" panose="020B0604030504040204" pitchFamily="50" charset="-128"/>
                <a:cs typeface="メイリオ"/>
              </a:rPr>
              <a:t>15</a:t>
            </a:r>
            <a:r>
              <a:rPr lang="ja-JP" altLang="en-US" sz="1600" b="1" dirty="0">
                <a:solidFill>
                  <a:srgbClr val="1F2A5C"/>
                </a:solidFill>
                <a:latin typeface="メイリオ" panose="020B0604030504040204" pitchFamily="50" charset="-128"/>
                <a:ea typeface="メイリオ" panose="020B0604030504040204" pitchFamily="50" charset="-128"/>
                <a:cs typeface="メイリオ"/>
              </a:rPr>
              <a:t>の圧縮設計</a:t>
            </a:r>
          </a:p>
        </p:txBody>
      </p:sp>
      <p:sp>
        <p:nvSpPr>
          <p:cNvPr id="12" name="Lead">
            <a:extLst>
              <a:ext uri="{FF2B5EF4-FFF2-40B4-BE49-F238E27FC236}">
                <a16:creationId xmlns:a16="http://schemas.microsoft.com/office/drawing/2014/main" id="{E15018B3-87F2-6365-2D71-C92B5436710C}"/>
              </a:ext>
            </a:extLst>
          </p:cNvPr>
          <p:cNvSpPr txBox="1"/>
          <p:nvPr/>
        </p:nvSpPr>
        <p:spPr>
          <a:xfrm>
            <a:off x="274320" y="847623"/>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検索直後の疑問に即応し、15日以内でセミナー予約へ誘導する</a:t>
            </a:r>
          </a:p>
        </p:txBody>
      </p:sp>
      <p:sp>
        <p:nvSpPr>
          <p:cNvPr id="2" name="Rounded Rectangle 2">
            <a:extLst>
              <a:ext uri="{FF2B5EF4-FFF2-40B4-BE49-F238E27FC236}">
                <a16:creationId xmlns:a16="http://schemas.microsoft.com/office/drawing/2014/main" id="{325EC11C-A4CA-5313-D5BA-D47635B1A838}"/>
              </a:ext>
            </a:extLst>
          </p:cNvPr>
          <p:cNvSpPr/>
          <p:nvPr/>
        </p:nvSpPr>
        <p:spPr>
          <a:xfrm>
            <a:off x="27432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 name="Rounded Rectangle 3">
            <a:extLst>
              <a:ext uri="{FF2B5EF4-FFF2-40B4-BE49-F238E27FC236}">
                <a16:creationId xmlns:a16="http://schemas.microsoft.com/office/drawing/2014/main" id="{9A057208-E511-9F3B-B133-9BDFEC60A969}"/>
              </a:ext>
            </a:extLst>
          </p:cNvPr>
          <p:cNvSpPr/>
          <p:nvPr/>
        </p:nvSpPr>
        <p:spPr>
          <a:xfrm>
            <a:off x="27432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Day0</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追加直後：診断</a:t>
            </a:r>
          </a:p>
        </p:txBody>
      </p:sp>
      <p:sp>
        <p:nvSpPr>
          <p:cNvPr id="4" name="TextBox 4">
            <a:extLst>
              <a:ext uri="{FF2B5EF4-FFF2-40B4-BE49-F238E27FC236}">
                <a16:creationId xmlns:a16="http://schemas.microsoft.com/office/drawing/2014/main" id="{88CC95EE-B0F1-3644-6F82-76DE8FCEACEC}"/>
              </a:ext>
            </a:extLst>
          </p:cNvPr>
          <p:cNvSpPr txBox="1"/>
          <p:nvPr/>
        </p:nvSpPr>
        <p:spPr>
          <a:xfrm>
            <a:off x="38404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ご追加ありがとう</a:t>
            </a:r>
          </a:p>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ございます！</a:t>
            </a:r>
          </a:p>
        </p:txBody>
      </p:sp>
      <p:sp>
        <p:nvSpPr>
          <p:cNvPr id="5" name="TextBox 5">
            <a:extLst>
              <a:ext uri="{FF2B5EF4-FFF2-40B4-BE49-F238E27FC236}">
                <a16:creationId xmlns:a16="http://schemas.microsoft.com/office/drawing/2014/main" id="{73C4E07D-0DF4-42A9-7298-CE1B2CB8E02C}"/>
              </a:ext>
            </a:extLst>
          </p:cNvPr>
          <p:cNvSpPr txBox="1"/>
          <p:nvPr/>
        </p:nvSpPr>
        <p:spPr>
          <a:xfrm>
            <a:off x="38404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3問タップで検討段階を分岐・タグ付け</a:t>
            </a:r>
          </a:p>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6" name="Rounded Rectangle 6">
            <a:extLst>
              <a:ext uri="{FF2B5EF4-FFF2-40B4-BE49-F238E27FC236}">
                <a16:creationId xmlns:a16="http://schemas.microsoft.com/office/drawing/2014/main" id="{7A93EFB6-EBEF-0F4B-3781-F0E86D241E63}"/>
              </a:ext>
            </a:extLst>
          </p:cNvPr>
          <p:cNvSpPr/>
          <p:nvPr/>
        </p:nvSpPr>
        <p:spPr>
          <a:xfrm>
            <a:off x="38404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 3択タップで診断</a:t>
            </a:r>
          </a:p>
        </p:txBody>
      </p:sp>
      <p:sp>
        <p:nvSpPr>
          <p:cNvPr id="7" name="Rounded Rectangle 7">
            <a:extLst>
              <a:ext uri="{FF2B5EF4-FFF2-40B4-BE49-F238E27FC236}">
                <a16:creationId xmlns:a16="http://schemas.microsoft.com/office/drawing/2014/main" id="{32B3653D-6D1F-20F4-8671-385FAFF851FD}"/>
              </a:ext>
            </a:extLst>
          </p:cNvPr>
          <p:cNvSpPr/>
          <p:nvPr/>
        </p:nvSpPr>
        <p:spPr>
          <a:xfrm>
            <a:off x="217078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9" name="Rounded Rectangle 8">
            <a:extLst>
              <a:ext uri="{FF2B5EF4-FFF2-40B4-BE49-F238E27FC236}">
                <a16:creationId xmlns:a16="http://schemas.microsoft.com/office/drawing/2014/main" id="{8D16CA1B-AEBC-A5FA-8024-3F23496134C9}"/>
              </a:ext>
            </a:extLst>
          </p:cNvPr>
          <p:cNvSpPr/>
          <p:nvPr/>
        </p:nvSpPr>
        <p:spPr>
          <a:xfrm>
            <a:off x="2170785"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Day1〜2</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0" name="TextBox 9">
            <a:extLst>
              <a:ext uri="{FF2B5EF4-FFF2-40B4-BE49-F238E27FC236}">
                <a16:creationId xmlns:a16="http://schemas.microsoft.com/office/drawing/2014/main" id="{ED3C0554-9244-5E70-C3F2-82AD432D9891}"/>
              </a:ext>
            </a:extLst>
          </p:cNvPr>
          <p:cNvSpPr txBox="1"/>
          <p:nvPr/>
        </p:nvSpPr>
        <p:spPr>
          <a:xfrm>
            <a:off x="228051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11" name="TextBox 10">
            <a:extLst>
              <a:ext uri="{FF2B5EF4-FFF2-40B4-BE49-F238E27FC236}">
                <a16:creationId xmlns:a16="http://schemas.microsoft.com/office/drawing/2014/main" id="{731AE54A-29F4-E5A3-1183-48ED689B8ACC}"/>
              </a:ext>
            </a:extLst>
          </p:cNvPr>
          <p:cNvSpPr txBox="1"/>
          <p:nvPr/>
        </p:nvSpPr>
        <p:spPr>
          <a:xfrm>
            <a:off x="2280513"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13" name="Rounded Rectangle 11">
            <a:extLst>
              <a:ext uri="{FF2B5EF4-FFF2-40B4-BE49-F238E27FC236}">
                <a16:creationId xmlns:a16="http://schemas.microsoft.com/office/drawing/2014/main" id="{C26D2D8C-ABF2-0F03-0567-F772D753D0E8}"/>
              </a:ext>
            </a:extLst>
          </p:cNvPr>
          <p:cNvSpPr/>
          <p:nvPr/>
        </p:nvSpPr>
        <p:spPr>
          <a:xfrm>
            <a:off x="2280513"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endParaRPr kumimoji="0" lang="en-US" sz="9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14" name="Rounded Rectangle 12">
            <a:extLst>
              <a:ext uri="{FF2B5EF4-FFF2-40B4-BE49-F238E27FC236}">
                <a16:creationId xmlns:a16="http://schemas.microsoft.com/office/drawing/2014/main" id="{4A1B016C-3BCC-82D6-634C-F49AAE31CA00}"/>
              </a:ext>
            </a:extLst>
          </p:cNvPr>
          <p:cNvSpPr/>
          <p:nvPr/>
        </p:nvSpPr>
        <p:spPr>
          <a:xfrm>
            <a:off x="406725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16" name="Rounded Rectangle 13">
            <a:extLst>
              <a:ext uri="{FF2B5EF4-FFF2-40B4-BE49-F238E27FC236}">
                <a16:creationId xmlns:a16="http://schemas.microsoft.com/office/drawing/2014/main" id="{FEA91215-4671-8F7B-948E-885B87ADC67B}"/>
              </a:ext>
            </a:extLst>
          </p:cNvPr>
          <p:cNvSpPr/>
          <p:nvPr/>
        </p:nvSpPr>
        <p:spPr>
          <a:xfrm>
            <a:off x="4067250"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Day4〜5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8" name="TextBox 14">
            <a:extLst>
              <a:ext uri="{FF2B5EF4-FFF2-40B4-BE49-F238E27FC236}">
                <a16:creationId xmlns:a16="http://schemas.microsoft.com/office/drawing/2014/main" id="{8D211078-EBAD-209F-4F3F-0C349BF4FD82}"/>
              </a:ext>
            </a:extLst>
          </p:cNvPr>
          <p:cNvSpPr txBox="1"/>
          <p:nvPr/>
        </p:nvSpPr>
        <p:spPr>
          <a:xfrm>
            <a:off x="417697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20" name="TextBox 15">
            <a:extLst>
              <a:ext uri="{FF2B5EF4-FFF2-40B4-BE49-F238E27FC236}">
                <a16:creationId xmlns:a16="http://schemas.microsoft.com/office/drawing/2014/main" id="{365832DB-68FC-D672-D52E-8442D3CB553A}"/>
              </a:ext>
            </a:extLst>
          </p:cNvPr>
          <p:cNvSpPr txBox="1"/>
          <p:nvPr/>
        </p:nvSpPr>
        <p:spPr>
          <a:xfrm>
            <a:off x="417697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22" name="Rounded Rectangle 16">
            <a:extLst>
              <a:ext uri="{FF2B5EF4-FFF2-40B4-BE49-F238E27FC236}">
                <a16:creationId xmlns:a16="http://schemas.microsoft.com/office/drawing/2014/main" id="{06C50741-6FE4-CFDC-C843-4251AC11BC48}"/>
              </a:ext>
            </a:extLst>
          </p:cNvPr>
          <p:cNvSpPr/>
          <p:nvPr/>
        </p:nvSpPr>
        <p:spPr>
          <a:xfrm>
            <a:off x="4176978"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4" name="Rounded Rectangle 17">
            <a:extLst>
              <a:ext uri="{FF2B5EF4-FFF2-40B4-BE49-F238E27FC236}">
                <a16:creationId xmlns:a16="http://schemas.microsoft.com/office/drawing/2014/main" id="{5E61CC1A-5313-8BA8-A36D-461E68D47515}"/>
              </a:ext>
            </a:extLst>
          </p:cNvPr>
          <p:cNvSpPr/>
          <p:nvPr/>
        </p:nvSpPr>
        <p:spPr>
          <a:xfrm>
            <a:off x="596371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26" name="Rounded Rectangle 18">
            <a:extLst>
              <a:ext uri="{FF2B5EF4-FFF2-40B4-BE49-F238E27FC236}">
                <a16:creationId xmlns:a16="http://schemas.microsoft.com/office/drawing/2014/main" id="{CF0F0823-8E61-35DF-0019-982187079423}"/>
              </a:ext>
            </a:extLst>
          </p:cNvPr>
          <p:cNvSpPr/>
          <p:nvPr/>
        </p:nvSpPr>
        <p:spPr>
          <a:xfrm>
            <a:off x="5963715" y="1560362"/>
            <a:ext cx="1786737" cy="566928"/>
          </a:xfrm>
          <a:prstGeom prst="roundRect">
            <a:avLst>
              <a:gd name="adj" fmla="val 12000"/>
            </a:avLst>
          </a:prstGeom>
          <a:solidFill>
            <a:srgbClr val="5A6378"/>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Day8〜9</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8" name="TextBox 19">
            <a:extLst>
              <a:ext uri="{FF2B5EF4-FFF2-40B4-BE49-F238E27FC236}">
                <a16:creationId xmlns:a16="http://schemas.microsoft.com/office/drawing/2014/main" id="{1E77E8ED-9C7B-F76F-EC10-4B949FB21FD1}"/>
              </a:ext>
            </a:extLst>
          </p:cNvPr>
          <p:cNvSpPr txBox="1"/>
          <p:nvPr/>
        </p:nvSpPr>
        <p:spPr>
          <a:xfrm>
            <a:off x="607344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0" name="TextBox 20">
            <a:extLst>
              <a:ext uri="{FF2B5EF4-FFF2-40B4-BE49-F238E27FC236}">
                <a16:creationId xmlns:a16="http://schemas.microsoft.com/office/drawing/2014/main" id="{1BD34B43-6F7A-FF6A-770E-72D31542F706}"/>
              </a:ext>
            </a:extLst>
          </p:cNvPr>
          <p:cNvSpPr txBox="1"/>
          <p:nvPr/>
        </p:nvSpPr>
        <p:spPr>
          <a:xfrm>
            <a:off x="6073443"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32" name="Rounded Rectangle 21">
            <a:extLst>
              <a:ext uri="{FF2B5EF4-FFF2-40B4-BE49-F238E27FC236}">
                <a16:creationId xmlns:a16="http://schemas.microsoft.com/office/drawing/2014/main" id="{AF1930A0-66AA-5FA0-A37F-0CABADFA0C3B}"/>
              </a:ext>
            </a:extLst>
          </p:cNvPr>
          <p:cNvSpPr/>
          <p:nvPr/>
        </p:nvSpPr>
        <p:spPr>
          <a:xfrm>
            <a:off x="6073443" y="5217962"/>
            <a:ext cx="1567281" cy="384048"/>
          </a:xfrm>
          <a:prstGeom prst="roundRect">
            <a:avLst>
              <a:gd name="adj" fmla="val 50000"/>
            </a:avLst>
          </a:prstGeom>
          <a:solidFill>
            <a:srgbClr val="5A6378"/>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34" name="Rounded Rectangle 22">
            <a:extLst>
              <a:ext uri="{FF2B5EF4-FFF2-40B4-BE49-F238E27FC236}">
                <a16:creationId xmlns:a16="http://schemas.microsoft.com/office/drawing/2014/main" id="{F2C88914-14C1-0891-4CF0-9944C3A3D969}"/>
              </a:ext>
            </a:extLst>
          </p:cNvPr>
          <p:cNvSpPr/>
          <p:nvPr/>
        </p:nvSpPr>
        <p:spPr>
          <a:xfrm>
            <a:off x="786018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6" name="Rounded Rectangle 23">
            <a:extLst>
              <a:ext uri="{FF2B5EF4-FFF2-40B4-BE49-F238E27FC236}">
                <a16:creationId xmlns:a16="http://schemas.microsoft.com/office/drawing/2014/main" id="{550A2935-2D5F-71AA-03EA-89DCD709158A}"/>
              </a:ext>
            </a:extLst>
          </p:cNvPr>
          <p:cNvSpPr/>
          <p:nvPr/>
        </p:nvSpPr>
        <p:spPr>
          <a:xfrm>
            <a:off x="7860180" y="1560362"/>
            <a:ext cx="1786737" cy="566928"/>
          </a:xfrm>
          <a:prstGeom prst="roundRect">
            <a:avLst>
              <a:gd name="adj" fmla="val 12000"/>
            </a:avLst>
          </a:prstGeom>
          <a:solidFill>
            <a:srgbClr val="C8102E"/>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a:t>
            </a:r>
            <a:r>
              <a:rPr kumimoji="0" lang="en-US" altLang="ja-JP" sz="15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0</a:t>
            </a:r>
            <a:r>
              <a:rPr kumimoji="0" sz="15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〜15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dirty="0" err="1">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オファ</a:t>
            </a:r>
            <a:r>
              <a:rPr kumimoji="0" sz="900" b="0"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ー</a:t>
            </a:r>
          </a:p>
        </p:txBody>
      </p:sp>
      <p:sp>
        <p:nvSpPr>
          <p:cNvPr id="38" name="TextBox 24">
            <a:extLst>
              <a:ext uri="{FF2B5EF4-FFF2-40B4-BE49-F238E27FC236}">
                <a16:creationId xmlns:a16="http://schemas.microsoft.com/office/drawing/2014/main" id="{C6884821-BFCB-BFA3-A7F3-7B83095EE162}"/>
              </a:ext>
            </a:extLst>
          </p:cNvPr>
          <p:cNvSpPr txBox="1"/>
          <p:nvPr/>
        </p:nvSpPr>
        <p:spPr>
          <a:xfrm>
            <a:off x="796990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9" name="TextBox 25">
            <a:extLst>
              <a:ext uri="{FF2B5EF4-FFF2-40B4-BE49-F238E27FC236}">
                <a16:creationId xmlns:a16="http://schemas.microsoft.com/office/drawing/2014/main" id="{C5D41C5B-DA02-D594-6EF3-1CB8B850F14A}"/>
              </a:ext>
            </a:extLst>
          </p:cNvPr>
          <p:cNvSpPr txBox="1"/>
          <p:nvPr/>
        </p:nvSpPr>
        <p:spPr>
          <a:xfrm>
            <a:off x="7969908"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40" name="Rounded Rectangle 26">
            <a:extLst>
              <a:ext uri="{FF2B5EF4-FFF2-40B4-BE49-F238E27FC236}">
                <a16:creationId xmlns:a16="http://schemas.microsoft.com/office/drawing/2014/main" id="{A067CDE1-ED9A-E718-EE0A-DA2AEB873FF1}"/>
              </a:ext>
            </a:extLst>
          </p:cNvPr>
          <p:cNvSpPr/>
          <p:nvPr/>
        </p:nvSpPr>
        <p:spPr>
          <a:xfrm>
            <a:off x="7969908" y="5217962"/>
            <a:ext cx="1567281" cy="384048"/>
          </a:xfrm>
          <a:prstGeom prst="roundRect">
            <a:avLst>
              <a:gd name="adj" fmla="val 50000"/>
            </a:avLst>
          </a:prstGeom>
          <a:solidFill>
            <a:srgbClr val="C8102E"/>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41" name="TextBox 27">
            <a:extLst>
              <a:ext uri="{FF2B5EF4-FFF2-40B4-BE49-F238E27FC236}">
                <a16:creationId xmlns:a16="http://schemas.microsoft.com/office/drawing/2014/main" id="{BFE4A287-10A0-75D3-A1CE-D799E1EFC13D}"/>
              </a:ext>
            </a:extLst>
          </p:cNvPr>
          <p:cNvSpPr txBox="1"/>
          <p:nvPr/>
        </p:nvSpPr>
        <p:spPr>
          <a:xfrm>
            <a:off x="274320" y="5858042"/>
            <a:ext cx="9372600" cy="508216"/>
          </a:xfrm>
          <a:prstGeom prst="rect">
            <a:avLst/>
          </a:prstGeom>
          <a:noFill/>
        </p:spPr>
        <p:txBody>
          <a:bodyPr wrap="square">
            <a:spAutoFit/>
          </a:bodyPr>
          <a:lstStyle/>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メイリオ"/>
                <a:sym typeface="Arial"/>
              </a:rPr>
              <a:t>--</a:t>
            </a:r>
            <a:endParaRPr kumimoji="0" lang="en-US" sz="1150" kern="0" dirty="0">
              <a:solidFill>
                <a:srgbClr val="5A6378"/>
              </a:solidFill>
              <a:latin typeface="メイリオ" panose="020B0604030504040204" pitchFamily="50" charset="-128"/>
              <a:ea typeface="メイリオ" panose="020B0604030504040204" pitchFamily="50" charset="-128"/>
              <a:cs typeface="メイリオ"/>
              <a:sym typeface="Arial"/>
            </a:endParaRPr>
          </a:p>
        </p:txBody>
      </p:sp>
      <p:sp>
        <p:nvSpPr>
          <p:cNvPr id="43" name="TextBox 5">
            <a:extLst>
              <a:ext uri="{FF2B5EF4-FFF2-40B4-BE49-F238E27FC236}">
                <a16:creationId xmlns:a16="http://schemas.microsoft.com/office/drawing/2014/main" id="{5186B2E3-B6EE-E2B1-37D8-54314195DE6A}"/>
              </a:ext>
            </a:extLst>
          </p:cNvPr>
          <p:cNvSpPr txBox="1"/>
          <p:nvPr/>
        </p:nvSpPr>
        <p:spPr>
          <a:xfrm>
            <a:off x="384048" y="3898197"/>
            <a:ext cx="1567281" cy="428579"/>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endParaRPr kumimoji="0"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p:txBody>
      </p:sp>
      <p:sp>
        <p:nvSpPr>
          <p:cNvPr id="45" name="TextBox 10">
            <a:extLst>
              <a:ext uri="{FF2B5EF4-FFF2-40B4-BE49-F238E27FC236}">
                <a16:creationId xmlns:a16="http://schemas.microsoft.com/office/drawing/2014/main" id="{21407363-BE74-F527-3AD4-32DCABC777CE}"/>
              </a:ext>
            </a:extLst>
          </p:cNvPr>
          <p:cNvSpPr txBox="1"/>
          <p:nvPr/>
        </p:nvSpPr>
        <p:spPr>
          <a:xfrm>
            <a:off x="2280513"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endPar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7" name="TextBox 15">
            <a:extLst>
              <a:ext uri="{FF2B5EF4-FFF2-40B4-BE49-F238E27FC236}">
                <a16:creationId xmlns:a16="http://schemas.microsoft.com/office/drawing/2014/main" id="{C78B27A0-4402-41C9-F91E-C34A734A9324}"/>
              </a:ext>
            </a:extLst>
          </p:cNvPr>
          <p:cNvSpPr txBox="1"/>
          <p:nvPr/>
        </p:nvSpPr>
        <p:spPr>
          <a:xfrm>
            <a:off x="417697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9" name="TextBox 20">
            <a:extLst>
              <a:ext uri="{FF2B5EF4-FFF2-40B4-BE49-F238E27FC236}">
                <a16:creationId xmlns:a16="http://schemas.microsoft.com/office/drawing/2014/main" id="{ED838C3F-CC60-6AF7-B602-BDF9E60442DC}"/>
              </a:ext>
            </a:extLst>
          </p:cNvPr>
          <p:cNvSpPr txBox="1"/>
          <p:nvPr/>
        </p:nvSpPr>
        <p:spPr>
          <a:xfrm>
            <a:off x="6073443" y="3898197"/>
            <a:ext cx="1567281" cy="1101071"/>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51" name="TextBox 25">
            <a:extLst>
              <a:ext uri="{FF2B5EF4-FFF2-40B4-BE49-F238E27FC236}">
                <a16:creationId xmlns:a16="http://schemas.microsoft.com/office/drawing/2014/main" id="{0457EFFA-CEE7-8B18-D5C7-92FBBA486972}"/>
              </a:ext>
            </a:extLst>
          </p:cNvPr>
          <p:cNvSpPr txBox="1"/>
          <p:nvPr/>
        </p:nvSpPr>
        <p:spPr>
          <a:xfrm>
            <a:off x="796990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Tree>
    <p:extLst>
      <p:ext uri="{BB962C8B-B14F-4D97-AF65-F5344CB8AC3E}">
        <p14:creationId xmlns:p14="http://schemas.microsoft.com/office/powerpoint/2010/main" val="1050774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A247A-425B-CA18-88F5-CBC38492F701}"/>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0905C2E3-B47A-8C1A-D463-CDA5864BF5B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12B93E0B-3589-44A0-B6C1-7C389DC3B2F5}"/>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B867582A-814C-8A7B-A5C3-39ECB2F2476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想定の費用対効果（詳細）</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6E3DABA0-77D6-C7E1-6372-98872981A825}"/>
              </a:ext>
            </a:extLst>
          </p:cNvPr>
          <p:cNvSpPr txBox="1"/>
          <p:nvPr/>
        </p:nvSpPr>
        <p:spPr>
          <a:xfrm>
            <a:off x="381000" y="1117600"/>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トラック分岐の設計思想</a:t>
            </a:r>
          </a:p>
        </p:txBody>
      </p:sp>
      <p:sp>
        <p:nvSpPr>
          <p:cNvPr id="6" name="LeftHeader">
            <a:extLst>
              <a:ext uri="{FF2B5EF4-FFF2-40B4-BE49-F238E27FC236}">
                <a16:creationId xmlns:a16="http://schemas.microsoft.com/office/drawing/2014/main" id="{A6C62775-6562-D5CC-92F7-DD62EEBC744F}"/>
              </a:ext>
            </a:extLst>
          </p:cNvPr>
          <p:cNvSpPr txBox="1"/>
          <p:nvPr/>
        </p:nvSpPr>
        <p:spPr>
          <a:xfrm>
            <a:off x="381000" y="1498600"/>
            <a:ext cx="4445000" cy="381000"/>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DD6A368E-576C-29EC-7AEC-6F417FD64F2E}"/>
              </a:ext>
            </a:extLst>
          </p:cNvPr>
          <p:cNvSpPr txBox="1"/>
          <p:nvPr/>
        </p:nvSpPr>
        <p:spPr>
          <a:xfrm>
            <a:off x="381000" y="1879600"/>
            <a:ext cx="4445000" cy="3556000"/>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285534EC-0A05-D7BE-EBC2-EA588B18E931}"/>
              </a:ext>
            </a:extLst>
          </p:cNvPr>
          <p:cNvSpPr txBox="1"/>
          <p:nvPr/>
        </p:nvSpPr>
        <p:spPr>
          <a:xfrm>
            <a:off x="5080000" y="1498600"/>
            <a:ext cx="4445000" cy="381000"/>
          </a:xfrm>
          <a:prstGeom prst="rect">
            <a:avLst/>
          </a:prstGeom>
          <a:solidFill>
            <a:srgbClr val="C8102E"/>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27AAF778-ED13-4BF7-35CB-BDA3D2A9FF91}"/>
              </a:ext>
            </a:extLst>
          </p:cNvPr>
          <p:cNvSpPr txBox="1"/>
          <p:nvPr/>
        </p:nvSpPr>
        <p:spPr>
          <a:xfrm>
            <a:off x="5080000" y="1879600"/>
            <a:ext cx="4445000" cy="3556000"/>
          </a:xfrm>
          <a:prstGeom prst="rect">
            <a:avLst/>
          </a:prstGeom>
          <a:solidFill>
            <a:srgbClr val="FFFFFF"/>
          </a:solidFill>
          <a:ln w="12700">
            <a:solidFill>
              <a:srgbClr val="C8102E"/>
            </a:solidFill>
          </a:ln>
        </p:spPr>
        <p:txBody>
          <a:bodyPr wrap="square" lIns="177800" tIns="152400" rIns="177800" bIns="152400" anchor="t"/>
          <a:lstStyle/>
          <a:p>
            <a:pPr>
              <a:buClr>
                <a:srgbClr val="000000"/>
              </a:buClr>
              <a:buFont typeface="Arial"/>
              <a:buNone/>
            </a:pPr>
            <a:r>
              <a:rPr kumimoji="0" lang="ja-JP" altLang="en-US" sz="1200" b="1" kern="0" dirty="0">
                <a:solidFill>
                  <a:srgbClr val="C8102E"/>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C8102E"/>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C8102E"/>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buClr>
                <a:srgbClr val="000000"/>
              </a:buClr>
              <a:buFont typeface="Arial"/>
              <a:buNone/>
            </a:pPr>
          </a:p>
          <a:p>
            <a:pPr>
              <a:buClr>
                <a:srgbClr val="000000"/>
              </a:buClr>
              <a:buFont typeface="Arial"/>
              <a:buNone/>
            </a:pPr>
            <a:r>
              <a:rPr kumimoji="0" lang="ja-JP" altLang="en-US" sz="1200" b="1" kern="0" dirty="0">
                <a:solidFill>
                  <a:srgbClr val="C8102E"/>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C8102E"/>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C8102E"/>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次のイベントの案内を、広告より先に届けられる</a:t>
            </a:r>
          </a:p>
          <a:p>
            <a:pPr>
              <a:buClr>
                <a:srgbClr val="000000"/>
              </a:buClr>
              <a:buFont typeface="Arial"/>
              <a:buNone/>
            </a:pPr>
          </a:p>
          <a:p>
            <a:pPr>
              <a:buClr>
                <a:srgbClr val="000000"/>
              </a:buClr>
              <a:buFont typeface="Arial"/>
              <a:buNone/>
            </a:pPr>
            <a:r>
              <a:rPr kumimoji="0" lang="ja-JP" altLang="en-US" sz="1200" b="1" kern="0" dirty="0">
                <a:solidFill>
                  <a:srgbClr val="C8102E"/>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C8102E"/>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6D432096-7298-F609-05CC-7A87E38C98F4}"/>
              </a:ext>
            </a:extLst>
          </p:cNvPr>
          <p:cNvSpPr txBox="1"/>
          <p:nvPr/>
        </p:nvSpPr>
        <p:spPr>
          <a:xfrm>
            <a:off x="381000" y="5588000"/>
            <a:ext cx="9144000" cy="81280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友だちの入口（ポップアップツール／サンクスLINE誘導）で自動で分け、予約した方は当日の参加へ、</a:t>
            </a:r>
            <a:endPar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a:t>
            </a:r>
            <a:endPar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endParaRPr>
          </a:p>
        </p:txBody>
      </p:sp>
      <p:sp>
        <p:nvSpPr>
          <p:cNvPr id="8" name="正方形/長方形 7">
            <a:extLst>
              <a:ext uri="{FF2B5EF4-FFF2-40B4-BE49-F238E27FC236}">
                <a16:creationId xmlns:a16="http://schemas.microsoft.com/office/drawing/2014/main" id="{2B282CB3-BF1E-586C-2C28-1C71F5FCA804}"/>
              </a:ext>
            </a:extLst>
          </p:cNvPr>
          <p:cNvSpPr/>
          <p:nvPr/>
        </p:nvSpPr>
        <p:spPr>
          <a:xfrm>
            <a:off x="224971" y="1485962"/>
            <a:ext cx="4757057" cy="39789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2" name="正方形/長方形 11">
            <a:extLst>
              <a:ext uri="{FF2B5EF4-FFF2-40B4-BE49-F238E27FC236}">
                <a16:creationId xmlns:a16="http://schemas.microsoft.com/office/drawing/2014/main" id="{1FECCBA2-AC74-A2AF-3521-2B2FF4D4D290}"/>
              </a:ext>
            </a:extLst>
          </p:cNvPr>
          <p:cNvSpPr/>
          <p:nvPr/>
        </p:nvSpPr>
        <p:spPr>
          <a:xfrm>
            <a:off x="379975" y="5581675"/>
            <a:ext cx="9143999" cy="84046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15169176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74F9F-F8CE-54D5-B025-489FE860A6A8}"/>
            </a:ext>
          </a:extLst>
        </p:cNvPr>
        <p:cNvGrpSpPr/>
        <p:nvPr/>
      </p:nvGrpSpPr>
      <p:grpSpPr>
        <a:xfrm>
          <a:off x="0" y="0"/>
          <a:ext cx="0" cy="0"/>
          <a:chOff x="0" y="0"/>
          <a:chExt cx="0" cy="0"/>
        </a:xfrm>
      </p:grpSpPr>
      <p:sp>
        <p:nvSpPr>
          <p:cNvPr id="4" name="テキスト ボックス 47">
            <a:extLst>
              <a:ext uri="{FF2B5EF4-FFF2-40B4-BE49-F238E27FC236}">
                <a16:creationId xmlns:a16="http://schemas.microsoft.com/office/drawing/2014/main" id="{EE4D7325-B8B2-BB52-63C7-88C454517059}"/>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休眠リード開拓と参加後フォローアップ</a:t>
            </a:r>
          </a:p>
        </p:txBody>
      </p:sp>
      <p:sp>
        <p:nvSpPr>
          <p:cNvPr id="8" name="Lead">
            <a:extLst>
              <a:ext uri="{FF2B5EF4-FFF2-40B4-BE49-F238E27FC236}">
                <a16:creationId xmlns:a16="http://schemas.microsoft.com/office/drawing/2014/main" id="{D9FCD3C6-ACF7-5D09-5F1C-DE149D83848E}"/>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検索起点シナリオに乗らない既存リストへの並走施策</a:t>
            </a:r>
          </a:p>
        </p:txBody>
      </p:sp>
      <p:sp>
        <p:nvSpPr>
          <p:cNvPr id="14" name="TextBox 2001">
            <a:extLst>
              <a:ext uri="{FF2B5EF4-FFF2-40B4-BE49-F238E27FC236}">
                <a16:creationId xmlns:a16="http://schemas.microsoft.com/office/drawing/2014/main" id="{1456DACD-3900-B1CF-8DDF-966688299A92}"/>
              </a:ext>
            </a:extLst>
          </p:cNvPr>
          <p:cNvSpPr txBox="1"/>
          <p:nvPr/>
        </p:nvSpPr>
        <p:spPr>
          <a:xfrm>
            <a:off x="456501" y="3879413"/>
            <a:ext cx="9052560" cy="320040"/>
          </a:xfrm>
          <a:prstGeom prst="rect">
            <a:avLst/>
          </a:prstGeom>
          <a:noFill/>
        </p:spPr>
        <p:txBody>
          <a:bodyPr wrap="square">
            <a:spAutoFit/>
          </a:bodyPr>
          <a:lstStyle/>
          <a:p>
            <a:pPr algn="l"/>
            <a:r>
              <a:rPr sz="1400" b="1">
                <a:solidFill>
                  <a:srgbClr val="1F2A5C"/>
                </a:solidFill>
                <a:latin typeface="メイリオ"/>
                <a:ea typeface="メイリオ"/>
                <a:cs typeface="メイリオ"/>
              </a:rPr>
              <a:t>C. 休眠リード開拓施策</a:t>
            </a:r>
          </a:p>
        </p:txBody>
      </p:sp>
      <p:sp>
        <p:nvSpPr>
          <p:cNvPr id="17" name="Chevron 2002">
            <a:extLst>
              <a:ext uri="{FF2B5EF4-FFF2-40B4-BE49-F238E27FC236}">
                <a16:creationId xmlns:a16="http://schemas.microsoft.com/office/drawing/2014/main" id="{D8C58E61-1ED0-F016-1DBE-2E247D5EC8B6}"/>
              </a:ext>
            </a:extLst>
          </p:cNvPr>
          <p:cNvSpPr/>
          <p:nvPr/>
        </p:nvSpPr>
        <p:spPr>
          <a:xfrm>
            <a:off x="456501" y="4245173"/>
            <a:ext cx="2180844"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--件</a:t>
            </a:r>
          </a:p>
          <a:p>
            <a:pPr algn="ctr"/>
            <a:r>
              <a:rPr sz="950">
                <a:solidFill>
                  <a:srgbClr val="FFFFFF"/>
                </a:solidFill>
                <a:latin typeface="メイリオ"/>
                <a:ea typeface="メイリオ"/>
                <a:cs typeface="メイリオ"/>
              </a:rPr>
              <a:t>保有リスト</a:t>
            </a:r>
          </a:p>
        </p:txBody>
      </p:sp>
      <p:sp>
        <p:nvSpPr>
          <p:cNvPr id="19" name="Chevron 2003">
            <a:extLst>
              <a:ext uri="{FF2B5EF4-FFF2-40B4-BE49-F238E27FC236}">
                <a16:creationId xmlns:a16="http://schemas.microsoft.com/office/drawing/2014/main" id="{C25E4C3B-7F41-E2E9-8338-BEA9E51E3B73}"/>
              </a:ext>
            </a:extLst>
          </p:cNvPr>
          <p:cNvSpPr/>
          <p:nvPr/>
        </p:nvSpPr>
        <p:spPr>
          <a:xfrm>
            <a:off x="2747073" y="4245173"/>
            <a:ext cx="2180844" cy="685800"/>
          </a:xfrm>
          <a:prstGeom prst="chevron">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ハッシュ化</a:t>
            </a:r>
          </a:p>
          <a:p>
            <a:pPr algn="ctr"/>
            <a:r>
              <a:rPr sz="950">
                <a:solidFill>
                  <a:srgbClr val="FFFFFF"/>
                </a:solidFill>
                <a:latin typeface="メイリオ"/>
                <a:ea typeface="メイリオ"/>
                <a:cs typeface="メイリオ"/>
              </a:rPr>
              <a:t>LINEヤフーAPI照合</a:t>
            </a:r>
          </a:p>
        </p:txBody>
      </p:sp>
      <p:sp>
        <p:nvSpPr>
          <p:cNvPr id="22" name="Chevron 2004">
            <a:extLst>
              <a:ext uri="{FF2B5EF4-FFF2-40B4-BE49-F238E27FC236}">
                <a16:creationId xmlns:a16="http://schemas.microsoft.com/office/drawing/2014/main" id="{9840FDFC-40F8-2732-4B52-3774EEECF41F}"/>
              </a:ext>
            </a:extLst>
          </p:cNvPr>
          <p:cNvSpPr/>
          <p:nvPr/>
        </p:nvSpPr>
        <p:spPr>
          <a:xfrm>
            <a:off x="5037645" y="4245173"/>
            <a:ext cx="2180844" cy="685800"/>
          </a:xfrm>
          <a:prstGeom prst="chevron">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友だち化</a:t>
            </a:r>
          </a:p>
          <a:p>
            <a:pPr algn="ctr"/>
            <a:r>
              <a:rPr sz="950">
                <a:solidFill>
                  <a:srgbClr val="FFFFFF"/>
                </a:solidFill>
                <a:latin typeface="メイリオ"/>
                <a:ea typeface="メイリオ"/>
                <a:cs typeface="メイリオ"/>
              </a:rPr>
              <a:t>休眠リードをLINE化</a:t>
            </a:r>
          </a:p>
        </p:txBody>
      </p:sp>
      <p:sp>
        <p:nvSpPr>
          <p:cNvPr id="25" name="Chevron 2005">
            <a:extLst>
              <a:ext uri="{FF2B5EF4-FFF2-40B4-BE49-F238E27FC236}">
                <a16:creationId xmlns:a16="http://schemas.microsoft.com/office/drawing/2014/main" id="{E4A2AA24-7F5A-B469-896A-08719D7E75D1}"/>
              </a:ext>
            </a:extLst>
          </p:cNvPr>
          <p:cNvSpPr/>
          <p:nvPr/>
        </p:nvSpPr>
        <p:spPr>
          <a:xfrm>
            <a:off x="7328217" y="4245173"/>
            <a:ext cx="2180844" cy="685800"/>
          </a:xfrm>
          <a:prstGeom prst="chevron">
            <a:avLst/>
          </a:prstGeom>
          <a:solidFill>
            <a:srgbClr val="5A6378"/>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Day0合流</a:t>
            </a:r>
          </a:p>
          <a:p>
            <a:pPr algn="ctr"/>
            <a:r>
              <a:rPr sz="950">
                <a:solidFill>
                  <a:srgbClr val="FFFFFF"/>
                </a:solidFill>
                <a:latin typeface="メイリオ"/>
                <a:ea typeface="メイリオ"/>
                <a:cs typeface="メイリオ"/>
              </a:rPr>
              <a:t>短期／長期へ通常分岐</a:t>
            </a:r>
          </a:p>
        </p:txBody>
      </p:sp>
      <p:sp>
        <p:nvSpPr>
          <p:cNvPr id="24" name="Chevron 2001">
            <a:extLst>
              <a:ext uri="{FF2B5EF4-FFF2-40B4-BE49-F238E27FC236}">
                <a16:creationId xmlns:a16="http://schemas.microsoft.com/office/drawing/2014/main" id="{91FF439D-D4E2-C04E-9A1B-1318FF9A16D9}"/>
              </a:ext>
            </a:extLst>
          </p:cNvPr>
          <p:cNvSpPr/>
          <p:nvPr/>
        </p:nvSpPr>
        <p:spPr>
          <a:xfrm>
            <a:off x="456501" y="1839817"/>
            <a:ext cx="2926080" cy="54864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400" b="1">
                <a:solidFill>
                  <a:srgbClr val="FFFFFF"/>
                </a:solidFill>
                <a:latin typeface="メイリオ"/>
                <a:ea typeface="メイリオ"/>
                <a:cs typeface="メイリオ"/>
              </a:rPr>
              <a:t>Day0</a:t>
            </a:r>
          </a:p>
        </p:txBody>
      </p:sp>
      <p:sp>
        <p:nvSpPr>
          <p:cNvPr id="28" name="TextBox 2002">
            <a:extLst>
              <a:ext uri="{FF2B5EF4-FFF2-40B4-BE49-F238E27FC236}">
                <a16:creationId xmlns:a16="http://schemas.microsoft.com/office/drawing/2014/main" id="{855ED89F-D224-EAF6-03A3-EC8F0E9111F8}"/>
              </a:ext>
            </a:extLst>
          </p:cNvPr>
          <p:cNvSpPr txBox="1"/>
          <p:nvPr/>
        </p:nvSpPr>
        <p:spPr>
          <a:xfrm>
            <a:off x="456501" y="2479897"/>
            <a:ext cx="2926080" cy="640080"/>
          </a:xfrm>
          <a:prstGeom prst="rect">
            <a:avLst/>
          </a:prstGeom>
          <a:noFill/>
        </p:spPr>
        <p:txBody>
          <a:bodyPr wrap="square">
            <a:spAutoFit/>
          </a:bodyPr>
          <a:lstStyle/>
          <a:p>
            <a:pPr algn="ctr"/>
            <a:r>
              <a:rPr sz="1100" b="0">
                <a:solidFill>
                  <a:srgbClr val="333333"/>
                </a:solidFill>
                <a:latin typeface="メイリオ"/>
                <a:ea typeface="メイリオ"/>
                <a:cs typeface="メイリオ"/>
              </a:rPr>
              <a:t>アンケートで長期
ニーズ層と判定</a:t>
            </a:r>
          </a:p>
        </p:txBody>
      </p:sp>
      <p:sp>
        <p:nvSpPr>
          <p:cNvPr id="31" name="Chevron 2003">
            <a:extLst>
              <a:ext uri="{FF2B5EF4-FFF2-40B4-BE49-F238E27FC236}">
                <a16:creationId xmlns:a16="http://schemas.microsoft.com/office/drawing/2014/main" id="{EF9C8636-6B09-9263-5A67-DB781AB0B8A7}"/>
              </a:ext>
            </a:extLst>
          </p:cNvPr>
          <p:cNvSpPr/>
          <p:nvPr/>
        </p:nvSpPr>
        <p:spPr>
          <a:xfrm>
            <a:off x="3519741" y="1839817"/>
            <a:ext cx="2926080" cy="548640"/>
          </a:xfrm>
          <a:prstGeom prst="chevron">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400" b="1">
                <a:solidFill>
                  <a:srgbClr val="FFFFFF"/>
                </a:solidFill>
                <a:latin typeface="メイリオ"/>
                <a:ea typeface="メイリオ"/>
                <a:cs typeface="メイリオ"/>
              </a:rPr>
              <a:t>Day1〜15</a:t>
            </a:r>
          </a:p>
        </p:txBody>
      </p:sp>
      <p:sp>
        <p:nvSpPr>
          <p:cNvPr id="34" name="TextBox 2004">
            <a:extLst>
              <a:ext uri="{FF2B5EF4-FFF2-40B4-BE49-F238E27FC236}">
                <a16:creationId xmlns:a16="http://schemas.microsoft.com/office/drawing/2014/main" id="{7B195B2D-D5DD-A6AF-1787-BE50FD77FA3F}"/>
              </a:ext>
            </a:extLst>
          </p:cNvPr>
          <p:cNvSpPr txBox="1"/>
          <p:nvPr/>
        </p:nvSpPr>
        <p:spPr>
          <a:xfrm>
            <a:off x="3519741" y="2479897"/>
            <a:ext cx="2926080" cy="640080"/>
          </a:xfrm>
          <a:prstGeom prst="rect">
            <a:avLst/>
          </a:prstGeom>
          <a:noFill/>
        </p:spPr>
        <p:txBody>
          <a:bodyPr wrap="square">
            <a:spAutoFit/>
          </a:bodyPr>
          <a:lstStyle/>
          <a:p>
            <a:pPr algn="ctr"/>
            <a:r>
              <a:rPr sz="1100" b="0">
                <a:solidFill>
                  <a:srgbClr val="333333"/>
                </a:solidFill>
                <a:latin typeface="メイリオ"/>
                <a:ea typeface="メイリオ"/>
                <a:cs typeface="メイリオ"/>
              </a:rPr>
              <a:t>隔週ペースで
基礎知識を教育配信</a:t>
            </a:r>
          </a:p>
        </p:txBody>
      </p:sp>
      <p:sp>
        <p:nvSpPr>
          <p:cNvPr id="36" name="Chevron 2005">
            <a:extLst>
              <a:ext uri="{FF2B5EF4-FFF2-40B4-BE49-F238E27FC236}">
                <a16:creationId xmlns:a16="http://schemas.microsoft.com/office/drawing/2014/main" id="{72262D61-75E5-1BAE-CB4A-36BFCB69D825}"/>
              </a:ext>
            </a:extLst>
          </p:cNvPr>
          <p:cNvSpPr/>
          <p:nvPr/>
        </p:nvSpPr>
        <p:spPr>
          <a:xfrm>
            <a:off x="6582981" y="1839817"/>
            <a:ext cx="2926080" cy="548640"/>
          </a:xfrm>
          <a:prstGeom prst="chevron">
            <a:avLst/>
          </a:prstGeom>
          <a:solidFill>
            <a:srgbClr val="5A6378"/>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400" b="1">
                <a:solidFill>
                  <a:srgbClr val="FFFFFF"/>
                </a:solidFill>
                <a:latin typeface="メイリオ"/>
                <a:ea typeface="メイリオ"/>
                <a:cs typeface="メイリオ"/>
              </a:rPr>
              <a:t>反応時</a:t>
            </a:r>
          </a:p>
        </p:txBody>
      </p:sp>
      <p:sp>
        <p:nvSpPr>
          <p:cNvPr id="38" name="TextBox 2006">
            <a:extLst>
              <a:ext uri="{FF2B5EF4-FFF2-40B4-BE49-F238E27FC236}">
                <a16:creationId xmlns:a16="http://schemas.microsoft.com/office/drawing/2014/main" id="{C1A521F2-6CE9-E966-9A4F-48DD8B913AF9}"/>
              </a:ext>
            </a:extLst>
          </p:cNvPr>
          <p:cNvSpPr txBox="1"/>
          <p:nvPr/>
        </p:nvSpPr>
        <p:spPr>
          <a:xfrm>
            <a:off x="6582981" y="2479897"/>
            <a:ext cx="2926080" cy="640080"/>
          </a:xfrm>
          <a:prstGeom prst="rect">
            <a:avLst/>
          </a:prstGeom>
          <a:noFill/>
        </p:spPr>
        <p:txBody>
          <a:bodyPr wrap="square">
            <a:spAutoFit/>
          </a:bodyPr>
          <a:lstStyle/>
          <a:p>
            <a:pPr algn="ctr"/>
            <a:r>
              <a:rPr sz="1100" b="0">
                <a:solidFill>
                  <a:srgbClr val="333333"/>
                </a:solidFill>
                <a:latin typeface="メイリオ"/>
                <a:ea typeface="メイリオ"/>
                <a:cs typeface="メイリオ"/>
              </a:rPr>
              <a:t>短期トラックへ
自動フォールバック</a:t>
            </a:r>
          </a:p>
        </p:txBody>
      </p:sp>
      <p:sp>
        <p:nvSpPr>
          <p:cNvPr id="40" name="TextBox 2001">
            <a:extLst>
              <a:ext uri="{FF2B5EF4-FFF2-40B4-BE49-F238E27FC236}">
                <a16:creationId xmlns:a16="http://schemas.microsoft.com/office/drawing/2014/main" id="{04DDCAB8-88EA-D3FB-5D2A-9C531B903959}"/>
              </a:ext>
            </a:extLst>
          </p:cNvPr>
          <p:cNvSpPr txBox="1"/>
          <p:nvPr/>
        </p:nvSpPr>
        <p:spPr>
          <a:xfrm>
            <a:off x="456501" y="1474057"/>
            <a:ext cx="9052560" cy="320040"/>
          </a:xfrm>
          <a:prstGeom prst="rect">
            <a:avLst/>
          </a:prstGeom>
          <a:noFill/>
        </p:spPr>
        <p:txBody>
          <a:bodyPr wrap="square">
            <a:spAutoFit/>
          </a:bodyPr>
          <a:lstStyle/>
          <a:p>
            <a:pPr algn="l"/>
            <a:r>
              <a:rPr lang="en-US" sz="1400" b="1" dirty="0">
                <a:solidFill>
                  <a:srgbClr val="1F2A5C"/>
                </a:solidFill>
                <a:latin typeface="メイリオ" panose="020B0604030504040204" pitchFamily="50" charset="-128"/>
                <a:ea typeface="メイリオ" panose="020B0604030504040204" pitchFamily="50" charset="-128"/>
                <a:cs typeface="メイリオ"/>
              </a:rPr>
              <a:t>B</a:t>
            </a:r>
            <a:r>
              <a:rPr sz="1400" b="1" dirty="0">
                <a:solidFill>
                  <a:srgbClr val="1F2A5C"/>
                </a:solidFill>
                <a:latin typeface="メイリオ" panose="020B0604030504040204" pitchFamily="50" charset="-128"/>
                <a:ea typeface="メイリオ" panose="020B0604030504040204" pitchFamily="50" charset="-128"/>
                <a:cs typeface="メイリオ"/>
              </a:rPr>
              <a:t>. </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アンケート回答結果に基づく</a:t>
            </a:r>
            <a:endParaRPr sz="1400" b="1" dirty="0">
              <a:solidFill>
                <a:srgbClr val="1F2A5C"/>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4796137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DB548-D486-3EA8-8B0A-6AB1F4024AFD}"/>
            </a:ext>
          </a:extLst>
        </p:cNvPr>
        <p:cNvGrpSpPr/>
        <p:nvPr/>
      </p:nvGrpSpPr>
      <p:grpSpPr>
        <a:xfrm>
          <a:off x="0" y="0"/>
          <a:ext cx="0" cy="0"/>
          <a:chOff x="0" y="0"/>
          <a:chExt cx="0" cy="0"/>
        </a:xfrm>
      </p:grpSpPr>
      <p:sp>
        <p:nvSpPr>
          <p:cNvPr id="4" name="テキスト ボックス 47">
            <a:extLst>
              <a:ext uri="{FF2B5EF4-FFF2-40B4-BE49-F238E27FC236}">
                <a16:creationId xmlns:a16="http://schemas.microsoft.com/office/drawing/2014/main" id="{B5E1738D-F77B-5CA6-8CD0-9A9EC26F9BDC}"/>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休眠リード開拓と参加後フォローアップ</a:t>
            </a:r>
          </a:p>
        </p:txBody>
      </p:sp>
      <p:sp>
        <p:nvSpPr>
          <p:cNvPr id="8" name="Lead">
            <a:extLst>
              <a:ext uri="{FF2B5EF4-FFF2-40B4-BE49-F238E27FC236}">
                <a16:creationId xmlns:a16="http://schemas.microsoft.com/office/drawing/2014/main" id="{AE20F162-D6DD-162B-1177-CA089E539DF1}"/>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検索起点シナリオに乗らない既存リストへの並走施策</a:t>
            </a:r>
          </a:p>
        </p:txBody>
      </p:sp>
      <p:sp>
        <p:nvSpPr>
          <p:cNvPr id="3" name="TextBox 2007">
            <a:extLst>
              <a:ext uri="{FF2B5EF4-FFF2-40B4-BE49-F238E27FC236}">
                <a16:creationId xmlns:a16="http://schemas.microsoft.com/office/drawing/2014/main" id="{E78531AA-9C5C-93A7-DEAB-957B5A74E584}"/>
              </a:ext>
            </a:extLst>
          </p:cNvPr>
          <p:cNvSpPr txBox="1"/>
          <p:nvPr/>
        </p:nvSpPr>
        <p:spPr>
          <a:xfrm>
            <a:off x="365760" y="1226239"/>
            <a:ext cx="9052560" cy="320040"/>
          </a:xfrm>
          <a:prstGeom prst="rect">
            <a:avLst/>
          </a:prstGeom>
          <a:noFill/>
        </p:spPr>
        <p:txBody>
          <a:bodyPr wrap="square">
            <a:spAutoFit/>
          </a:bodyPr>
          <a:lstStyle/>
          <a:p>
            <a:pPr algn="l"/>
            <a:r>
              <a:rPr sz="1300" b="1">
                <a:solidFill>
                  <a:srgbClr val="1F2A5C"/>
                </a:solidFill>
                <a:latin typeface="メイリオ"/>
                <a:ea typeface="メイリオ"/>
                <a:cs typeface="メイリオ"/>
              </a:rPr>
              <a:t>シーズナリティ連動トリガー（検索Volの季節性に合わせて再アプローチ）</a:t>
            </a:r>
          </a:p>
        </p:txBody>
      </p:sp>
      <p:sp>
        <p:nvSpPr>
          <p:cNvPr id="6" name="Rectangle 2008">
            <a:extLst>
              <a:ext uri="{FF2B5EF4-FFF2-40B4-BE49-F238E27FC236}">
                <a16:creationId xmlns:a16="http://schemas.microsoft.com/office/drawing/2014/main" id="{945E129C-F21B-0AE2-657B-28AE81F17F18}"/>
              </a:ext>
            </a:extLst>
          </p:cNvPr>
          <p:cNvSpPr/>
          <p:nvPr/>
        </p:nvSpPr>
        <p:spPr>
          <a:xfrm>
            <a:off x="365760"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1月</a:t>
            </a:r>
          </a:p>
        </p:txBody>
      </p:sp>
      <p:sp>
        <p:nvSpPr>
          <p:cNvPr id="9" name="Rectangle 2009">
            <a:extLst>
              <a:ext uri="{FF2B5EF4-FFF2-40B4-BE49-F238E27FC236}">
                <a16:creationId xmlns:a16="http://schemas.microsoft.com/office/drawing/2014/main" id="{C7632AEE-6947-EFAB-5C48-764A058D5F0C}"/>
              </a:ext>
            </a:extLst>
          </p:cNvPr>
          <p:cNvSpPr/>
          <p:nvPr/>
        </p:nvSpPr>
        <p:spPr>
          <a:xfrm>
            <a:off x="1122256"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2月</a:t>
            </a:r>
          </a:p>
        </p:txBody>
      </p:sp>
      <p:sp>
        <p:nvSpPr>
          <p:cNvPr id="11" name="Rectangle 2010">
            <a:extLst>
              <a:ext uri="{FF2B5EF4-FFF2-40B4-BE49-F238E27FC236}">
                <a16:creationId xmlns:a16="http://schemas.microsoft.com/office/drawing/2014/main" id="{F1F7980F-B34E-8E0A-A779-DEC816D8E76C}"/>
              </a:ext>
            </a:extLst>
          </p:cNvPr>
          <p:cNvSpPr/>
          <p:nvPr/>
        </p:nvSpPr>
        <p:spPr>
          <a:xfrm>
            <a:off x="1878752"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3月</a:t>
            </a:r>
          </a:p>
        </p:txBody>
      </p:sp>
      <p:sp>
        <p:nvSpPr>
          <p:cNvPr id="13" name="Rectangle 2011">
            <a:extLst>
              <a:ext uri="{FF2B5EF4-FFF2-40B4-BE49-F238E27FC236}">
                <a16:creationId xmlns:a16="http://schemas.microsoft.com/office/drawing/2014/main" id="{E063EBB9-78F7-A4D4-F999-4C5AC7691AEC}"/>
              </a:ext>
            </a:extLst>
          </p:cNvPr>
          <p:cNvSpPr/>
          <p:nvPr/>
        </p:nvSpPr>
        <p:spPr>
          <a:xfrm>
            <a:off x="2635248"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4月</a:t>
            </a:r>
          </a:p>
        </p:txBody>
      </p:sp>
      <p:sp>
        <p:nvSpPr>
          <p:cNvPr id="16" name="Rectangle 2012">
            <a:extLst>
              <a:ext uri="{FF2B5EF4-FFF2-40B4-BE49-F238E27FC236}">
                <a16:creationId xmlns:a16="http://schemas.microsoft.com/office/drawing/2014/main" id="{9D5C35C5-AFBD-1E16-34BD-FEA820687F12}"/>
              </a:ext>
            </a:extLst>
          </p:cNvPr>
          <p:cNvSpPr/>
          <p:nvPr/>
        </p:nvSpPr>
        <p:spPr>
          <a:xfrm>
            <a:off x="3391744"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5月</a:t>
            </a:r>
          </a:p>
        </p:txBody>
      </p:sp>
      <p:sp>
        <p:nvSpPr>
          <p:cNvPr id="20" name="Rectangle 2013">
            <a:extLst>
              <a:ext uri="{FF2B5EF4-FFF2-40B4-BE49-F238E27FC236}">
                <a16:creationId xmlns:a16="http://schemas.microsoft.com/office/drawing/2014/main" id="{AF46E364-2991-EF4B-B9B4-F07ED66BFC8E}"/>
              </a:ext>
            </a:extLst>
          </p:cNvPr>
          <p:cNvSpPr/>
          <p:nvPr/>
        </p:nvSpPr>
        <p:spPr>
          <a:xfrm>
            <a:off x="4148240"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6月</a:t>
            </a:r>
          </a:p>
        </p:txBody>
      </p:sp>
      <p:sp>
        <p:nvSpPr>
          <p:cNvPr id="23" name="Rectangle 2014">
            <a:extLst>
              <a:ext uri="{FF2B5EF4-FFF2-40B4-BE49-F238E27FC236}">
                <a16:creationId xmlns:a16="http://schemas.microsoft.com/office/drawing/2014/main" id="{3505044C-9CC2-BDB7-A9BA-96EE69E34EAB}"/>
              </a:ext>
            </a:extLst>
          </p:cNvPr>
          <p:cNvSpPr/>
          <p:nvPr/>
        </p:nvSpPr>
        <p:spPr>
          <a:xfrm>
            <a:off x="4904736"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7月</a:t>
            </a:r>
          </a:p>
        </p:txBody>
      </p:sp>
      <p:sp>
        <p:nvSpPr>
          <p:cNvPr id="27" name="Rectangle 2015">
            <a:extLst>
              <a:ext uri="{FF2B5EF4-FFF2-40B4-BE49-F238E27FC236}">
                <a16:creationId xmlns:a16="http://schemas.microsoft.com/office/drawing/2014/main" id="{8AF5E7F4-5D53-86FD-2BD6-C7542F8A83FD}"/>
              </a:ext>
            </a:extLst>
          </p:cNvPr>
          <p:cNvSpPr/>
          <p:nvPr/>
        </p:nvSpPr>
        <p:spPr>
          <a:xfrm>
            <a:off x="5661232"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8月</a:t>
            </a:r>
          </a:p>
        </p:txBody>
      </p:sp>
      <p:sp>
        <p:nvSpPr>
          <p:cNvPr id="30" name="Rectangle 2016">
            <a:extLst>
              <a:ext uri="{FF2B5EF4-FFF2-40B4-BE49-F238E27FC236}">
                <a16:creationId xmlns:a16="http://schemas.microsoft.com/office/drawing/2014/main" id="{FD72C16D-C4A9-9A7A-6196-9E875CF443CD}"/>
              </a:ext>
            </a:extLst>
          </p:cNvPr>
          <p:cNvSpPr/>
          <p:nvPr/>
        </p:nvSpPr>
        <p:spPr>
          <a:xfrm>
            <a:off x="6417728"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9月</a:t>
            </a:r>
          </a:p>
        </p:txBody>
      </p:sp>
      <p:sp>
        <p:nvSpPr>
          <p:cNvPr id="33" name="Rectangle 2017">
            <a:extLst>
              <a:ext uri="{FF2B5EF4-FFF2-40B4-BE49-F238E27FC236}">
                <a16:creationId xmlns:a16="http://schemas.microsoft.com/office/drawing/2014/main" id="{00C86569-3F53-5888-AFF4-E0BFECCAE588}"/>
              </a:ext>
            </a:extLst>
          </p:cNvPr>
          <p:cNvSpPr/>
          <p:nvPr/>
        </p:nvSpPr>
        <p:spPr>
          <a:xfrm>
            <a:off x="7174224"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10月</a:t>
            </a:r>
          </a:p>
        </p:txBody>
      </p:sp>
      <p:sp>
        <p:nvSpPr>
          <p:cNvPr id="37" name="Rectangle 2018">
            <a:extLst>
              <a:ext uri="{FF2B5EF4-FFF2-40B4-BE49-F238E27FC236}">
                <a16:creationId xmlns:a16="http://schemas.microsoft.com/office/drawing/2014/main" id="{B4B7698F-F5C5-2766-1198-1F1B10650721}"/>
              </a:ext>
            </a:extLst>
          </p:cNvPr>
          <p:cNvSpPr/>
          <p:nvPr/>
        </p:nvSpPr>
        <p:spPr>
          <a:xfrm>
            <a:off x="7930720"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11月</a:t>
            </a:r>
          </a:p>
        </p:txBody>
      </p:sp>
      <p:sp>
        <p:nvSpPr>
          <p:cNvPr id="41" name="Rectangle 2019">
            <a:extLst>
              <a:ext uri="{FF2B5EF4-FFF2-40B4-BE49-F238E27FC236}">
                <a16:creationId xmlns:a16="http://schemas.microsoft.com/office/drawing/2014/main" id="{B9122433-2609-1807-931B-6CFB1FC1612C}"/>
              </a:ext>
            </a:extLst>
          </p:cNvPr>
          <p:cNvSpPr/>
          <p:nvPr/>
        </p:nvSpPr>
        <p:spPr>
          <a:xfrm>
            <a:off x="8687216"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12月</a:t>
            </a:r>
          </a:p>
        </p:txBody>
      </p:sp>
      <p:sp>
        <p:nvSpPr>
          <p:cNvPr id="43" name="TextBox 2020">
            <a:extLst>
              <a:ext uri="{FF2B5EF4-FFF2-40B4-BE49-F238E27FC236}">
                <a16:creationId xmlns:a16="http://schemas.microsoft.com/office/drawing/2014/main" id="{BB0A7A81-025F-493D-383E-8F7CCCFDA607}"/>
              </a:ext>
            </a:extLst>
          </p:cNvPr>
          <p:cNvSpPr txBox="1"/>
          <p:nvPr/>
        </p:nvSpPr>
        <p:spPr>
          <a:xfrm>
            <a:off x="365760" y="2186359"/>
            <a:ext cx="9052560" cy="446276"/>
          </a:xfrm>
          <a:prstGeom prst="rect">
            <a:avLst/>
          </a:prstGeom>
          <a:noFill/>
        </p:spPr>
        <p:txBody>
          <a:bodyPr wrap="square">
            <a:spAutoFit/>
          </a:bodyPr>
          <a:lstStyle/>
          <a:p>
            <a:pPr algn="l"/>
            <a:r>
              <a:rPr lang="ja-JP" altLang="en-US" sz="1150" b="0" dirty="0">
                <a:solidFill>
                  <a:srgbClr val="5A6378"/>
                </a:solidFill>
                <a:latin typeface="メイリオ" panose="020B0604030504040204" pitchFamily="50" charset="-128"/>
                <a:ea typeface="メイリオ" panose="020B0604030504040204" pitchFamily="50" charset="-128"/>
                <a:cs typeface="メイリオ"/>
              </a:rPr>
              <a:t>--</a:t>
            </a:r>
            <a:endParaRPr lang="en-US" altLang="ja-JP" sz="1150" b="0" dirty="0">
              <a:solidFill>
                <a:srgbClr val="5A6378"/>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291321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6D1CC-B1BA-828E-295F-EADD0CDEFAB4}"/>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417026AF-4DDE-BCC5-590F-D8DDBF5664B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長期ニーズトラック：シーズナリティ連動の中長期設計</a:t>
            </a:r>
          </a:p>
        </p:txBody>
      </p:sp>
      <p:sp>
        <p:nvSpPr>
          <p:cNvPr id="5" name="Lead">
            <a:extLst>
              <a:ext uri="{FF2B5EF4-FFF2-40B4-BE49-F238E27FC236}">
                <a16:creationId xmlns:a16="http://schemas.microsoft.com/office/drawing/2014/main" id="{392B90DB-59D9-CA69-BB23-380EC53A1799}"/>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検索Volの季節性に合わせて再アプローチのタイミングを最適化する</a:t>
            </a:r>
          </a:p>
        </p:txBody>
      </p:sp>
      <p:sp>
        <p:nvSpPr>
          <p:cNvPr id="7" name="Body">
            <a:extLst>
              <a:ext uri="{FF2B5EF4-FFF2-40B4-BE49-F238E27FC236}">
                <a16:creationId xmlns:a16="http://schemas.microsoft.com/office/drawing/2014/main" id="{BE3C0D2E-9E33-CCCB-465C-36479CC64146}"/>
              </a:ext>
            </a:extLst>
          </p:cNvPr>
          <p:cNvSpPr txBox="1"/>
          <p:nvPr/>
        </p:nvSpPr>
        <p:spPr>
          <a:xfrm>
            <a:off x="342900" y="3164840"/>
            <a:ext cx="6743700" cy="3810000"/>
          </a:xfrm>
          <a:prstGeom prst="rect">
            <a:avLst/>
          </a:prstGeom>
          <a:noFill/>
        </p:spPr>
        <p:txBody>
          <a:bodyPr wrap="square" lIns="0" tIns="0" rIns="0" bIns="0" anchor="t"/>
          <a:lstStyle/>
          <a:p>
            <a:endParaRPr>
              <a:latin typeface="メイリオ"/>
              <a:ea typeface="メイリオ"/>
              <a:cs typeface="メイリオ"/>
            </a:endParaRPr>
          </a:p>
        </p:txBody>
      </p:sp>
      <p:sp>
        <p:nvSpPr>
          <p:cNvPr id="4" name="TextBox 2006">
            <a:extLst>
              <a:ext uri="{FF2B5EF4-FFF2-40B4-BE49-F238E27FC236}">
                <a16:creationId xmlns:a16="http://schemas.microsoft.com/office/drawing/2014/main" id="{D2F2FC8A-1E7E-57E2-6839-B8D5EF164194}"/>
              </a:ext>
            </a:extLst>
          </p:cNvPr>
          <p:cNvSpPr txBox="1"/>
          <p:nvPr/>
        </p:nvSpPr>
        <p:spPr>
          <a:xfrm>
            <a:off x="456501" y="1403736"/>
            <a:ext cx="9052560" cy="320040"/>
          </a:xfrm>
          <a:prstGeom prst="rect">
            <a:avLst/>
          </a:prstGeom>
          <a:noFill/>
        </p:spPr>
        <p:txBody>
          <a:bodyPr wrap="square">
            <a:spAutoFit/>
          </a:bodyPr>
          <a:lstStyle/>
          <a:p>
            <a:pPr algn="l"/>
            <a:r>
              <a:rPr sz="1400" b="1">
                <a:solidFill>
                  <a:srgbClr val="C8102E"/>
                </a:solidFill>
                <a:latin typeface="メイリオ"/>
                <a:ea typeface="メイリオ"/>
                <a:cs typeface="メイリオ"/>
              </a:rPr>
              <a:t>D. 参加後フォローアップ</a:t>
            </a:r>
          </a:p>
        </p:txBody>
      </p:sp>
      <p:sp>
        <p:nvSpPr>
          <p:cNvPr id="8" name="Chevron 2007">
            <a:extLst>
              <a:ext uri="{FF2B5EF4-FFF2-40B4-BE49-F238E27FC236}">
                <a16:creationId xmlns:a16="http://schemas.microsoft.com/office/drawing/2014/main" id="{10212EE1-F4B4-8DDA-CF71-F80F8F6403F8}"/>
              </a:ext>
            </a:extLst>
          </p:cNvPr>
          <p:cNvSpPr/>
          <p:nvPr/>
        </p:nvSpPr>
        <p:spPr>
          <a:xfrm>
            <a:off x="456501" y="1769496"/>
            <a:ext cx="4471416" cy="68580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参加直後</a:t>
            </a:r>
          </a:p>
          <a:p>
            <a:pPr algn="ctr"/>
            <a:r>
              <a:rPr sz="1000">
                <a:solidFill>
                  <a:srgbClr val="FFFFFF"/>
                </a:solidFill>
                <a:latin typeface="メイリオ"/>
                <a:ea typeface="メイリオ"/>
                <a:cs typeface="メイリオ"/>
              </a:rPr>
              <a:t>--</a:t>
            </a:r>
          </a:p>
        </p:txBody>
      </p:sp>
      <p:sp>
        <p:nvSpPr>
          <p:cNvPr id="11" name="Chevron 2008">
            <a:extLst>
              <a:ext uri="{FF2B5EF4-FFF2-40B4-BE49-F238E27FC236}">
                <a16:creationId xmlns:a16="http://schemas.microsoft.com/office/drawing/2014/main" id="{785204DB-5C6A-DF80-2A53-F86C50DB8BFE}"/>
              </a:ext>
            </a:extLst>
          </p:cNvPr>
          <p:cNvSpPr/>
          <p:nvPr/>
        </p:nvSpPr>
        <p:spPr>
          <a:xfrm>
            <a:off x="5037645" y="1769496"/>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参加後30〜60日</a:t>
            </a:r>
          </a:p>
          <a:p>
            <a:pPr algn="ctr"/>
            <a:r>
              <a:rPr sz="1000">
                <a:solidFill>
                  <a:srgbClr val="FFFFFF"/>
                </a:solidFill>
                <a:latin typeface="メイリオ"/>
                <a:ea typeface="メイリオ"/>
                <a:cs typeface="メイリオ"/>
              </a:rPr>
              <a:t>--</a:t>
            </a:r>
          </a:p>
        </p:txBody>
      </p:sp>
    </p:spTree>
    <p:extLst>
      <p:ext uri="{BB962C8B-B14F-4D97-AF65-F5344CB8AC3E}">
        <p14:creationId xmlns:p14="http://schemas.microsoft.com/office/powerpoint/2010/main" val="4396800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C43D-93AD-C213-ED4C-7741F0FE507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72800AA-EBD7-DB78-DF5E-877E18C2F2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10683329-D426-0C34-21A1-BB46AEF49EBC}"/>
              </a:ext>
            </a:extLst>
          </p:cNvPr>
          <p:cNvSpPr/>
          <p:nvPr/>
        </p:nvSpPr>
        <p:spPr>
          <a:xfrm>
            <a:off x="1988098" y="3038203"/>
            <a:ext cx="5929829"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施策の詳細（新規友だち獲得）</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206017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離脱防止バナー</a:t>
            </a:r>
            <a:endParaRPr lang="en-US" altLang="ja-JP" sz="2000" b="1" dirty="0">
              <a:solidFill>
                <a:srgbClr val="002060"/>
              </a:solidFill>
              <a:latin typeface="メイリオ"/>
              <a:ea typeface="メイリオ"/>
              <a:cs typeface="メイリオ"/>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2000" b="1" dirty="0">
              <a:solidFill>
                <a:srgbClr val="002060"/>
              </a:solidFill>
              <a:latin typeface="メイリオ"/>
              <a:ea typeface="メイリオ"/>
              <a:cs typeface="メイリオ"/>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サンクス</a:t>
            </a: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誘導</a:t>
            </a:r>
            <a:endParaRPr lang="en-US" altLang="ja-JP" sz="2000" b="1" dirty="0">
              <a:solidFill>
                <a:srgbClr val="002060"/>
              </a:solidFill>
              <a:latin typeface="メイリオ"/>
              <a:ea typeface="メイリオ"/>
              <a:cs typeface="メイリオ"/>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事例：車買取</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興味はあるが利用まで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至らなかったユーザーを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友だちとして囲い込む。</a:t>
            </a:r>
            <a:endParaRPr lang="en-US" altLang="ja-JP" sz="1400" dirty="0">
              <a:latin typeface="メイリオ"/>
              <a:ea typeface="メイリオ"/>
              <a:cs typeface="メイリオ"/>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メイリオ"/>
                <a:ea typeface="メイリオ"/>
                <a:cs typeface="メイリオ"/>
                <a:sym typeface="Meiryo"/>
              </a:rPr>
              <a:t>CPF</a:t>
            </a:r>
            <a:r>
              <a:rPr lang="ja-JP" altLang="en-US" sz="1400" dirty="0">
                <a:latin typeface="メイリオ"/>
                <a:ea typeface="メイリオ"/>
                <a:cs typeface="メイリオ"/>
                <a:sym typeface="Meiryo"/>
              </a:rPr>
              <a:t>約</a:t>
            </a:r>
            <a:r>
              <a:rPr lang="en-US" altLang="ja-JP" sz="1400" dirty="0">
                <a:latin typeface="メイリオ"/>
                <a:ea typeface="メイリオ"/>
                <a:cs typeface="メイリオ"/>
                <a:sym typeface="Meiryo"/>
              </a:rPr>
              <a:t>100-200</a:t>
            </a:r>
            <a:r>
              <a:rPr lang="ja-JP" altLang="en-US" sz="1400" dirty="0">
                <a:latin typeface="メイリオ"/>
                <a:ea typeface="メイリオ"/>
                <a:cs typeface="メイリオ"/>
                <a:sym typeface="Meiryo"/>
              </a:rPr>
              <a:t>円台。</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かなり安価かつ成果報酬で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友だちを増やす広告。</a:t>
            </a:r>
            <a:endParaRPr lang="en-US" altLang="ja-JP" sz="1400" dirty="0">
              <a:latin typeface="メイリオ"/>
              <a:ea typeface="メイリオ"/>
              <a:cs typeface="メイリオ"/>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事例：アパレル</a:t>
            </a:r>
            <a:endParaRPr lang="en-US" altLang="ja-JP" sz="1400" dirty="0">
              <a:solidFill>
                <a:schemeClr val="tx1">
                  <a:lumMod val="50000"/>
                  <a:lumOff val="50000"/>
                </a:schemeClr>
              </a:solidFill>
              <a:latin typeface="メイリオ"/>
              <a:ea typeface="メイリオ"/>
              <a:cs typeface="メイリオ"/>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1</a:t>
            </a:r>
            <a:r>
              <a:rPr lang="ja-JP" altLang="en-US" sz="1200" dirty="0">
                <a:solidFill>
                  <a:schemeClr val="tx1">
                    <a:lumMod val="50000"/>
                    <a:lumOff val="50000"/>
                  </a:schemeClr>
                </a:solidFill>
                <a:latin typeface="メイリオ"/>
                <a:ea typeface="メイリオ"/>
                <a:cs typeface="メイリオ"/>
                <a:sym typeface="Meiryo"/>
              </a:rPr>
              <a:t>人あたり</a:t>
            </a:r>
            <a:r>
              <a:rPr lang="en-US" altLang="ja-JP" sz="1200" dirty="0">
                <a:solidFill>
                  <a:schemeClr val="tx1">
                    <a:lumMod val="50000"/>
                    <a:lumOff val="50000"/>
                  </a:schemeClr>
                </a:solidFill>
                <a:latin typeface="メイリオ"/>
                <a:ea typeface="メイリオ"/>
                <a:cs typeface="メイリオ"/>
                <a:sym typeface="Meiryo"/>
              </a:rPr>
              <a:t>50</a:t>
            </a:r>
            <a:r>
              <a:rPr lang="ja-JP" altLang="en-US" sz="1200" dirty="0">
                <a:solidFill>
                  <a:schemeClr val="tx1">
                    <a:lumMod val="50000"/>
                    <a:lumOff val="50000"/>
                  </a:schemeClr>
                </a:solidFill>
                <a:latin typeface="メイリオ"/>
                <a:ea typeface="メイリオ"/>
                <a:cs typeface="メイリオ"/>
                <a:sym typeface="Meiryo"/>
              </a:rPr>
              <a:t>円で友だち獲得</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経由の購入</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サンクスページに到達した</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ユーザーを自動で</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に誘導。</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友だち追加、追客に活用可能。</a:t>
            </a:r>
            <a:endParaRPr lang="en-US" altLang="ja-JP" sz="1400" dirty="0">
              <a:latin typeface="メイリオ"/>
              <a:ea typeface="メイリオ"/>
              <a:cs typeface="メイリオ"/>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事例：美容医療</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LP</a:t>
            </a:r>
            <a:r>
              <a:rPr lang="ja-JP" altLang="en-US" sz="1200" dirty="0">
                <a:solidFill>
                  <a:schemeClr val="tx1">
                    <a:lumMod val="50000"/>
                    <a:lumOff val="50000"/>
                  </a:schemeClr>
                </a:solidFill>
                <a:latin typeface="メイリオ"/>
                <a:ea typeface="メイリオ"/>
                <a:cs typeface="メイリオ"/>
                <a:sym typeface="Meiryo"/>
              </a:rPr>
              <a:t>離脱ユーザーに対して</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誘導を実施。</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追加から</a:t>
            </a:r>
            <a:r>
              <a:rPr lang="en-US" altLang="ja-JP" sz="1200" dirty="0">
                <a:solidFill>
                  <a:schemeClr val="tx1">
                    <a:lumMod val="50000"/>
                    <a:lumOff val="50000"/>
                  </a:schemeClr>
                </a:solidFill>
                <a:latin typeface="メイリオ"/>
                <a:ea typeface="メイリオ"/>
                <a:cs typeface="メイリオ"/>
                <a:sym typeface="Meiryo"/>
              </a:rPr>
              <a:t>20</a:t>
            </a:r>
            <a:r>
              <a:rPr lang="ja-JP" altLang="en-US" sz="1200" dirty="0">
                <a:solidFill>
                  <a:schemeClr val="tx1">
                    <a:lumMod val="50000"/>
                    <a:lumOff val="50000"/>
                  </a:schemeClr>
                </a:solidFill>
                <a:latin typeface="メイリオ"/>
                <a:ea typeface="メイリオ"/>
                <a:cs typeface="メイリオ"/>
                <a:sym typeface="Meiryo"/>
              </a:rPr>
              <a:t>％が</a:t>
            </a:r>
            <a:r>
              <a:rPr lang="en-US" altLang="ja-JP" sz="1200" dirty="0">
                <a:solidFill>
                  <a:schemeClr val="tx1">
                    <a:lumMod val="50000"/>
                    <a:lumOff val="50000"/>
                  </a:schemeClr>
                </a:solidFill>
                <a:latin typeface="メイリオ"/>
                <a:ea typeface="メイリオ"/>
                <a:cs typeface="メイリオ"/>
                <a:sym typeface="Meiryo"/>
              </a:rPr>
              <a:t>CV</a:t>
            </a:r>
          </a:p>
          <a:p>
            <a:pPr lvl="0">
              <a:buClr>
                <a:schemeClr val="dk1"/>
              </a:buClr>
              <a:buSzPts val="1500"/>
            </a:pP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導入後友だち増加数が</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倍に。</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実反響率も</a:t>
            </a:r>
            <a:r>
              <a:rPr lang="en-US" altLang="ja-JP" sz="1200" dirty="0">
                <a:solidFill>
                  <a:schemeClr val="tx1">
                    <a:lumMod val="50000"/>
                    <a:lumOff val="50000"/>
                  </a:schemeClr>
                </a:solidFill>
                <a:latin typeface="メイリオ"/>
                <a:ea typeface="メイリオ"/>
                <a:cs typeface="メイリオ"/>
                <a:sym typeface="Meiryo"/>
              </a:rPr>
              <a:t>40%</a:t>
            </a:r>
            <a:r>
              <a:rPr lang="ja-JP" altLang="en-US" sz="1200" dirty="0">
                <a:solidFill>
                  <a:schemeClr val="tx1">
                    <a:lumMod val="50000"/>
                    <a:lumOff val="50000"/>
                  </a:schemeClr>
                </a:solidFill>
                <a:latin typeface="メイリオ"/>
                <a:ea typeface="メイリオ"/>
                <a:cs typeface="メイリオ"/>
                <a:sym typeface="Meiryo"/>
              </a:rPr>
              <a:t>程度改善。</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通知メッセージ</a:t>
            </a:r>
            <a:endParaRPr lang="en-US" altLang="ja-JP" sz="2000" b="1" dirty="0">
              <a:solidFill>
                <a:srgbClr val="002060"/>
              </a:solidFill>
              <a:latin typeface="メイリオ"/>
              <a:ea typeface="メイリオ"/>
              <a:cs typeface="メイリオ"/>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友だちではないユーザーに</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対して予約完了通知などを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送り友だちを増やす。</a:t>
            </a:r>
            <a:endParaRPr lang="en-US" altLang="ja-JP" sz="1400" dirty="0">
              <a:latin typeface="メイリオ"/>
              <a:ea typeface="メイリオ"/>
              <a:cs typeface="メイリオ"/>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事例：宅配ピザ</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通知メッセージ導入４ヶ月で</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友だち数</a:t>
            </a:r>
            <a:r>
              <a:rPr lang="en-US" altLang="ja-JP" sz="1200" dirty="0">
                <a:solidFill>
                  <a:schemeClr val="tx1">
                    <a:lumMod val="50000"/>
                    <a:lumOff val="50000"/>
                  </a:schemeClr>
                </a:solidFill>
                <a:latin typeface="メイリオ"/>
                <a:ea typeface="メイリオ"/>
                <a:cs typeface="メイリオ"/>
                <a:sym typeface="Meiryo"/>
              </a:rPr>
              <a:t>2</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583059"/>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メイリオ"/>
                <a:ea typeface="メイリオ"/>
                <a:cs typeface="メイリオ"/>
                <a:sym typeface="Meiryo"/>
              </a:rPr>
              <a:t>準顕在（獲得見込みが高い）層の</a:t>
            </a:r>
            <a:r>
              <a:rPr lang="ja-JP" altLang="en-US" sz="1600" b="1" dirty="0">
                <a:latin typeface="メイリオ"/>
                <a:ea typeface="メイリオ"/>
                <a:cs typeface="メイリオ"/>
                <a:sym typeface="Meiryo"/>
              </a:rPr>
              <a:t>独自獲得手法が豊富</a:t>
            </a:r>
            <a:r>
              <a:rPr lang="ja-JP" altLang="en-US" sz="1600" dirty="0">
                <a:latin typeface="メイリオ"/>
                <a:ea typeface="メイリオ"/>
                <a:cs typeface="メイリオ"/>
                <a:sym typeface="Meiryo"/>
              </a:rPr>
              <a:t>で尚且つ</a:t>
            </a:r>
            <a:r>
              <a:rPr lang="ja-JP" altLang="en-US" sz="1600" b="1" dirty="0">
                <a:latin typeface="メイリオ"/>
                <a:ea typeface="メイリオ"/>
                <a:cs typeface="メイリオ"/>
                <a:sym typeface="Meiryo"/>
              </a:rPr>
              <a:t>利用までナーチャリング</a:t>
            </a:r>
            <a:endParaRPr lang="en-US" altLang="ja-JP" sz="1600" b="1" dirty="0">
              <a:latin typeface="メイリオ"/>
              <a:ea typeface="メイリオ"/>
              <a:cs typeface="メイリオ"/>
              <a:sym typeface="Meiryo"/>
            </a:endParaRPr>
          </a:p>
          <a:p>
            <a:pPr lvl="0" algn="ctr">
              <a:buClr>
                <a:schemeClr val="dk1"/>
              </a:buClr>
              <a:buSzPts val="1500"/>
            </a:pPr>
            <a:r>
              <a:rPr lang="en-US" altLang="ja-JP" sz="1100" dirty="0">
                <a:solidFill>
                  <a:srgbClr val="FF0000"/>
                </a:solidFill>
                <a:latin typeface="メイリオ"/>
                <a:ea typeface="メイリオ"/>
                <a:cs typeface="メイリオ"/>
                <a:sym typeface="Meiryo"/>
              </a:rPr>
              <a:t>※</a:t>
            </a:r>
            <a:r>
              <a:rPr lang="ja-JP" altLang="en-US" sz="1100" dirty="0">
                <a:solidFill>
                  <a:srgbClr val="FF0000"/>
                </a:solidFill>
                <a:latin typeface="メイリオ"/>
                <a:ea typeface="メイリオ"/>
                <a:cs typeface="メイリオ"/>
                <a:sym typeface="Meiryo"/>
              </a:rPr>
              <a:t>実施想定の友だち追加動線について、★を記載しております。</a:t>
            </a:r>
            <a:endParaRPr lang="en-US" altLang="ja-JP" sz="1600" dirty="0">
              <a:solidFill>
                <a:srgbClr val="FF0000"/>
              </a:solidFill>
              <a:latin typeface="メイリオ"/>
              <a:ea typeface="メイリオ"/>
              <a:cs typeface="メイリオ"/>
              <a:sym typeface="Meiryo"/>
            </a:endParaRPr>
          </a:p>
        </p:txBody>
      </p:sp>
      <p:sp>
        <p:nvSpPr>
          <p:cNvPr id="6" name="星: 5 pt 5">
            <a:extLst>
              <a:ext uri="{FF2B5EF4-FFF2-40B4-BE49-F238E27FC236}">
                <a16:creationId xmlns:a16="http://schemas.microsoft.com/office/drawing/2014/main" id="{73AA3FF7-ED61-B641-763C-E4940D075F39}"/>
              </a:ext>
            </a:extLst>
          </p:cNvPr>
          <p:cNvSpPr/>
          <p:nvPr/>
        </p:nvSpPr>
        <p:spPr>
          <a:xfrm>
            <a:off x="2749464" y="1706924"/>
            <a:ext cx="540000" cy="540000"/>
          </a:xfrm>
          <a:prstGeom prst="star5">
            <a:avLst>
              <a:gd name="adj" fmla="val 32226"/>
              <a:gd name="hf" fmla="val 105146"/>
              <a:gd name="vf" fmla="val 110557"/>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2" name="星: 5 pt 11">
            <a:extLst>
              <a:ext uri="{FF2B5EF4-FFF2-40B4-BE49-F238E27FC236}">
                <a16:creationId xmlns:a16="http://schemas.microsoft.com/office/drawing/2014/main" id="{2C908883-96FE-2C98-5753-AECCC0E66D37}"/>
              </a:ext>
            </a:extLst>
          </p:cNvPr>
          <p:cNvSpPr/>
          <p:nvPr/>
        </p:nvSpPr>
        <p:spPr>
          <a:xfrm>
            <a:off x="9252865" y="1706924"/>
            <a:ext cx="540000" cy="540000"/>
          </a:xfrm>
          <a:prstGeom prst="star5">
            <a:avLst>
              <a:gd name="adj" fmla="val 32226"/>
              <a:gd name="hf" fmla="val 105146"/>
              <a:gd name="vf" fmla="val 110557"/>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Tree>
    <p:extLst>
      <p:ext uri="{BB962C8B-B14F-4D97-AF65-F5344CB8AC3E}">
        <p14:creationId xmlns:p14="http://schemas.microsoft.com/office/powerpoint/2010/main" val="30001345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メイリオ"/>
                <a:ea typeface="メイリオ"/>
                <a:cs typeface="メイリオ"/>
                <a:sym typeface="Meiryo"/>
              </a:rPr>
              <a:t>LINE</a:t>
            </a:r>
            <a:r>
              <a:rPr lang="ja-JP" altLang="en-US" sz="1050" dirty="0">
                <a:solidFill>
                  <a:srgbClr val="FF0000"/>
                </a:solidFill>
                <a:latin typeface="メイリオ"/>
                <a:ea typeface="メイリオ"/>
                <a:cs typeface="メイリオ"/>
                <a:sym typeface="Meiryo"/>
              </a:rPr>
              <a:t>以外の注力動線への誘導も同バナーから実施が可能です。</a:t>
            </a:r>
            <a:endParaRPr lang="ja-JP" altLang="en-US" sz="1050" dirty="0">
              <a:solidFill>
                <a:srgbClr val="FF0000"/>
              </a:solidFill>
              <a:latin typeface="メイリオ"/>
              <a:ea typeface="メイリオ"/>
              <a:cs typeface="メイリオ"/>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メイリオ"/>
                <a:ea typeface="メイリオ"/>
                <a:cs typeface="メイリオ"/>
                <a:sym typeface="Meiryo"/>
              </a:rPr>
              <a:t>LINE</a:t>
            </a:r>
            <a:r>
              <a:rPr lang="ja-JP" altLang="en-US" sz="1050" dirty="0">
                <a:solidFill>
                  <a:srgbClr val="FF0000"/>
                </a:solidFill>
                <a:latin typeface="メイリオ"/>
                <a:ea typeface="メイリオ"/>
                <a:cs typeface="メイリオ"/>
                <a:sym typeface="Meiryo"/>
              </a:rPr>
              <a:t>以外の注力動線への誘導も同バナーから実施が可能です。</a:t>
            </a:r>
            <a:endParaRPr lang="ja-JP" altLang="en-US" sz="1050" dirty="0">
              <a:solidFill>
                <a:srgbClr val="FF0000"/>
              </a:solidFill>
              <a:latin typeface="メイリオ"/>
              <a:ea typeface="メイリオ"/>
              <a:cs typeface="メイリオ"/>
            </a:endParaRPr>
          </a:p>
        </p:txBody>
      </p:sp>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2"/>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3"/>
          <a:stretch>
            <a:fillRect/>
          </a:stretch>
        </p:blipFill>
        <p:spPr>
          <a:xfrm>
            <a:off x="579513" y="1977951"/>
            <a:ext cx="5023065" cy="2231287"/>
          </a:xfrm>
          <a:prstGeom prst="rect">
            <a:avLst/>
          </a:prstGeom>
        </p:spPr>
      </p:pic>
      <p:grpSp>
        <p:nvGrpSpPr>
          <p:cNvPr id="2" name="グループ化 1">
            <a:extLst>
              <a:ext uri="{FF2B5EF4-FFF2-40B4-BE49-F238E27FC236}">
                <a16:creationId xmlns:a16="http://schemas.microsoft.com/office/drawing/2014/main" id="{B58110A5-3249-591F-F0D8-9733B5C19419}"/>
              </a:ext>
            </a:extLst>
          </p:cNvPr>
          <p:cNvGrpSpPr/>
          <p:nvPr/>
        </p:nvGrpSpPr>
        <p:grpSpPr>
          <a:xfrm>
            <a:off x="543398" y="777681"/>
            <a:ext cx="3105325" cy="485102"/>
            <a:chOff x="507969" y="928495"/>
            <a:chExt cx="3105325" cy="485102"/>
          </a:xfrm>
          <a:solidFill>
            <a:schemeClr val="tx2"/>
          </a:solidFill>
        </p:grpSpPr>
        <p:sp>
          <p:nvSpPr>
            <p:cNvPr id="10" name="Google Shape;51;p19">
              <a:extLst>
                <a:ext uri="{FF2B5EF4-FFF2-40B4-BE49-F238E27FC236}">
                  <a16:creationId xmlns:a16="http://schemas.microsoft.com/office/drawing/2014/main" id="{2624D4C3-8EE7-C79A-AD39-F7C125FED5C3}"/>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8134CCE0-9B09-BEAB-56F6-583858DE4FFA}"/>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18" name="Google Shape;51;p19">
            <a:extLst>
              <a:ext uri="{FF2B5EF4-FFF2-40B4-BE49-F238E27FC236}">
                <a16:creationId xmlns:a16="http://schemas.microsoft.com/office/drawing/2014/main" id="{ABAC4CA8-0C86-B839-6335-8FB2EF8DA230}"/>
              </a:ext>
            </a:extLst>
          </p:cNvPr>
          <p:cNvSpPr/>
          <p:nvPr/>
        </p:nvSpPr>
        <p:spPr>
          <a:xfrm>
            <a:off x="543399" y="1321261"/>
            <a:ext cx="1510826" cy="485102"/>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20" name="Google Shape;51;p19">
            <a:extLst>
              <a:ext uri="{FF2B5EF4-FFF2-40B4-BE49-F238E27FC236}">
                <a16:creationId xmlns:a16="http://schemas.microsoft.com/office/drawing/2014/main" id="{54BADA25-EAD6-B857-B5DA-8E7366A2D4D6}"/>
              </a:ext>
            </a:extLst>
          </p:cNvPr>
          <p:cNvSpPr/>
          <p:nvPr/>
        </p:nvSpPr>
        <p:spPr>
          <a:xfrm>
            <a:off x="2137897" y="1321261"/>
            <a:ext cx="1510826" cy="485102"/>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26" name="図 25">
            <a:extLst>
              <a:ext uri="{FF2B5EF4-FFF2-40B4-BE49-F238E27FC236}">
                <a16:creationId xmlns:a16="http://schemas.microsoft.com/office/drawing/2014/main" id="{EDC5B771-42F2-76B0-A6E7-50BC96175819}"/>
              </a:ext>
            </a:extLst>
          </p:cNvPr>
          <p:cNvPicPr>
            <a:picLocks noChangeAspect="1"/>
          </p:cNvPicPr>
          <p:nvPr/>
        </p:nvPicPr>
        <p:blipFill>
          <a:blip r:embed="rId4"/>
          <a:stretch>
            <a:fillRect/>
          </a:stretch>
        </p:blipFill>
        <p:spPr>
          <a:xfrm>
            <a:off x="5743237" y="2258734"/>
            <a:ext cx="1190032" cy="2417060"/>
          </a:xfrm>
          <a:prstGeom prst="rect">
            <a:avLst/>
          </a:prstGeom>
        </p:spPr>
      </p:pic>
      <p:pic>
        <p:nvPicPr>
          <p:cNvPr id="46" name="図 45">
            <a:extLst>
              <a:ext uri="{FF2B5EF4-FFF2-40B4-BE49-F238E27FC236}">
                <a16:creationId xmlns:a16="http://schemas.microsoft.com/office/drawing/2014/main" id="{CDFFD994-B78C-9580-A303-CCE3C06EF4D0}"/>
              </a:ext>
            </a:extLst>
          </p:cNvPr>
          <p:cNvPicPr>
            <a:picLocks noChangeAspect="1"/>
          </p:cNvPicPr>
          <p:nvPr/>
        </p:nvPicPr>
        <p:blipFill>
          <a:blip r:embed="rId4"/>
          <a:stretch>
            <a:fillRect/>
          </a:stretch>
        </p:blipFill>
        <p:spPr>
          <a:xfrm>
            <a:off x="7682503" y="2258734"/>
            <a:ext cx="1190032" cy="2417060"/>
          </a:xfrm>
          <a:prstGeom prst="rect">
            <a:avLst/>
          </a:prstGeom>
        </p:spPr>
      </p:pic>
      <p:pic>
        <p:nvPicPr>
          <p:cNvPr id="48" name="図 47">
            <a:extLst>
              <a:ext uri="{FF2B5EF4-FFF2-40B4-BE49-F238E27FC236}">
                <a16:creationId xmlns:a16="http://schemas.microsoft.com/office/drawing/2014/main" id="{2F2D6E3E-D262-6FC3-26DE-F7F8A36D53EB}"/>
              </a:ext>
            </a:extLst>
          </p:cNvPr>
          <p:cNvPicPr>
            <a:picLocks noChangeAspect="1"/>
          </p:cNvPicPr>
          <p:nvPr/>
        </p:nvPicPr>
        <p:blipFill>
          <a:blip r:embed="rId4"/>
          <a:stretch>
            <a:fillRect/>
          </a:stretch>
        </p:blipFill>
        <p:spPr>
          <a:xfrm>
            <a:off x="8367522" y="4081984"/>
            <a:ext cx="1190032" cy="2417060"/>
          </a:xfrm>
          <a:prstGeom prst="rect">
            <a:avLst/>
          </a:prstGeom>
        </p:spPr>
      </p:pic>
      <p:sp>
        <p:nvSpPr>
          <p:cNvPr id="50" name="正方形/長方形 49">
            <a:extLst>
              <a:ext uri="{FF2B5EF4-FFF2-40B4-BE49-F238E27FC236}">
                <a16:creationId xmlns:a16="http://schemas.microsoft.com/office/drawing/2014/main" id="{C15238B5-4395-F723-0A79-2790FCF7C350}"/>
              </a:ext>
            </a:extLst>
          </p:cNvPr>
          <p:cNvSpPr/>
          <p:nvPr/>
        </p:nvSpPr>
        <p:spPr>
          <a:xfrm>
            <a:off x="8404597"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56" name="図 55">
            <a:extLst>
              <a:ext uri="{FF2B5EF4-FFF2-40B4-BE49-F238E27FC236}">
                <a16:creationId xmlns:a16="http://schemas.microsoft.com/office/drawing/2014/main" id="{EF814CDE-D628-AA7F-3C9D-D1DAF2358FE4}"/>
              </a:ext>
            </a:extLst>
          </p:cNvPr>
          <p:cNvPicPr>
            <a:picLocks noChangeAspect="1"/>
          </p:cNvPicPr>
          <p:nvPr/>
        </p:nvPicPr>
        <p:blipFill>
          <a:blip r:embed="rId4"/>
          <a:stretch>
            <a:fillRect/>
          </a:stretch>
        </p:blipFill>
        <p:spPr>
          <a:xfrm>
            <a:off x="6278620" y="4081984"/>
            <a:ext cx="1190032" cy="2417060"/>
          </a:xfrm>
          <a:prstGeom prst="rect">
            <a:avLst/>
          </a:prstGeom>
        </p:spPr>
      </p:pic>
      <p:sp>
        <p:nvSpPr>
          <p:cNvPr id="58" name="正方形/長方形 57">
            <a:extLst>
              <a:ext uri="{FF2B5EF4-FFF2-40B4-BE49-F238E27FC236}">
                <a16:creationId xmlns:a16="http://schemas.microsoft.com/office/drawing/2014/main" id="{8EAB183B-DD91-4D27-96EA-958B1E359EDF}"/>
              </a:ext>
            </a:extLst>
          </p:cNvPr>
          <p:cNvSpPr/>
          <p:nvPr/>
        </p:nvSpPr>
        <p:spPr>
          <a:xfrm>
            <a:off x="6315695"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66" name="図 65">
            <a:extLst>
              <a:ext uri="{FF2B5EF4-FFF2-40B4-BE49-F238E27FC236}">
                <a16:creationId xmlns:a16="http://schemas.microsoft.com/office/drawing/2014/main" id="{C2855CFF-6E8D-0B73-876F-08A7CAF4119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64783" y="4682317"/>
            <a:ext cx="999311" cy="999311"/>
          </a:xfrm>
          <a:prstGeom prst="rect">
            <a:avLst/>
          </a:prstGeom>
        </p:spPr>
      </p:pic>
      <p:sp>
        <p:nvSpPr>
          <p:cNvPr id="68" name="テキスト ボックス 67">
            <a:extLst>
              <a:ext uri="{FF2B5EF4-FFF2-40B4-BE49-F238E27FC236}">
                <a16:creationId xmlns:a16="http://schemas.microsoft.com/office/drawing/2014/main" id="{A25E8A43-2530-9596-D092-B486168F2683}"/>
              </a:ext>
            </a:extLst>
          </p:cNvPr>
          <p:cNvSpPr txBox="1"/>
          <p:nvPr/>
        </p:nvSpPr>
        <p:spPr>
          <a:xfrm>
            <a:off x="6161730"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ja-JP" altLang="en-US" sz="1000" b="1" dirty="0">
                <a:solidFill>
                  <a:schemeClr val="bg1"/>
                </a:solidFill>
                <a:latin typeface="メイリオ"/>
                <a:ea typeface="メイリオ"/>
                <a:cs typeface="メイリオ"/>
                <a:sym typeface="Meiryo"/>
              </a:rPr>
              <a:t>簡易</a:t>
            </a:r>
            <a:r>
              <a:rPr lang="en-US" altLang="ja-JP" sz="1000" b="1" dirty="0">
                <a:solidFill>
                  <a:schemeClr val="bg1"/>
                </a:solidFill>
                <a:latin typeface="メイリオ"/>
                <a:ea typeface="メイリオ"/>
                <a:cs typeface="メイリオ"/>
                <a:sym typeface="Meiryo"/>
              </a:rPr>
              <a:t>SIM</a:t>
            </a:r>
            <a:r>
              <a:rPr lang="ja-JP" altLang="en-US" sz="1000" b="1" dirty="0">
                <a:solidFill>
                  <a:schemeClr val="bg1"/>
                </a:solidFill>
                <a:latin typeface="メイリオ"/>
                <a:ea typeface="メイリオ"/>
                <a:cs typeface="メイリオ"/>
                <a:sym typeface="Meiryo"/>
              </a:rPr>
              <a:t>へ</a:t>
            </a:r>
            <a:endParaRPr lang="ja-JP" altLang="en-US" sz="1050" b="1" dirty="0">
              <a:solidFill>
                <a:schemeClr val="bg1"/>
              </a:solidFill>
              <a:latin typeface="メイリオ"/>
              <a:ea typeface="メイリオ"/>
              <a:cs typeface="メイリオ"/>
            </a:endParaRPr>
          </a:p>
        </p:txBody>
      </p:sp>
      <p:sp>
        <p:nvSpPr>
          <p:cNvPr id="70" name="テキスト ボックス 69">
            <a:extLst>
              <a:ext uri="{FF2B5EF4-FFF2-40B4-BE49-F238E27FC236}">
                <a16:creationId xmlns:a16="http://schemas.microsoft.com/office/drawing/2014/main" id="{0728AAC8-ACED-DE14-79C2-5D2E1E568CE7}"/>
              </a:ext>
            </a:extLst>
          </p:cNvPr>
          <p:cNvSpPr txBox="1"/>
          <p:nvPr/>
        </p:nvSpPr>
        <p:spPr>
          <a:xfrm>
            <a:off x="8248538"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en-US" altLang="ja-JP" sz="1000" b="1" dirty="0">
                <a:solidFill>
                  <a:schemeClr val="bg1"/>
                </a:solidFill>
                <a:latin typeface="メイリオ"/>
                <a:ea typeface="メイリオ"/>
                <a:cs typeface="メイリオ"/>
                <a:sym typeface="Meiryo"/>
              </a:rPr>
              <a:t>LINE</a:t>
            </a:r>
            <a:r>
              <a:rPr lang="ja-JP" altLang="en-US" sz="1000" b="1" dirty="0">
                <a:solidFill>
                  <a:schemeClr val="bg1"/>
                </a:solidFill>
                <a:latin typeface="メイリオ"/>
                <a:ea typeface="メイリオ"/>
                <a:cs typeface="メイリオ"/>
                <a:sym typeface="Meiryo"/>
              </a:rPr>
              <a:t>追加へ</a:t>
            </a:r>
            <a:endParaRPr lang="ja-JP" altLang="en-US" sz="1050" b="1" dirty="0">
              <a:solidFill>
                <a:schemeClr val="bg1"/>
              </a:solidFill>
              <a:latin typeface="メイリオ"/>
              <a:ea typeface="メイリオ"/>
              <a:cs typeface="メイリオ"/>
            </a:endParaRPr>
          </a:p>
        </p:txBody>
      </p:sp>
      <p:pic>
        <p:nvPicPr>
          <p:cNvPr id="74" name="図 73">
            <a:extLst>
              <a:ext uri="{FF2B5EF4-FFF2-40B4-BE49-F238E27FC236}">
                <a16:creationId xmlns:a16="http://schemas.microsoft.com/office/drawing/2014/main" id="{4C49234A-BFF2-AECE-086F-27D9165ADB4C}"/>
              </a:ext>
            </a:extLst>
          </p:cNvPr>
          <p:cNvPicPr>
            <a:picLocks noChangeAspect="1"/>
          </p:cNvPicPr>
          <p:nvPr/>
        </p:nvPicPr>
        <p:blipFill>
          <a:blip r:embed="rId6"/>
          <a:stretch>
            <a:fillRect/>
          </a:stretch>
        </p:blipFill>
        <p:spPr>
          <a:xfrm>
            <a:off x="8471302" y="4682317"/>
            <a:ext cx="976991" cy="976991"/>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506C2-B2E5-BEA0-384E-7336F080BD96}"/>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（サンクス</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LINE</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誘導）</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404798" y="1938056"/>
            <a:ext cx="1859036"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sp>
        <p:nvSpPr>
          <p:cNvPr id="16" name="正方形/長方形 15">
            <a:extLst>
              <a:ext uri="{FF2B5EF4-FFF2-40B4-BE49-F238E27FC236}">
                <a16:creationId xmlns:a16="http://schemas.microsoft.com/office/drawing/2014/main" id="{32BBF438-B1EF-A61A-EE3D-69CD39766C7E}"/>
              </a:ext>
            </a:extLst>
          </p:cNvPr>
          <p:cNvSpPr/>
          <p:nvPr/>
        </p:nvSpPr>
        <p:spPr>
          <a:xfrm>
            <a:off x="5808682" y="241574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5808681" y="458896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5974632" y="23047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cs typeface="メイリオ"/>
              </a:rPr>
              <a:t>非</a:t>
            </a:r>
            <a:r>
              <a:rPr lang="en-US" altLang="ja-JP" sz="110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b="1" dirty="0">
                <a:solidFill>
                  <a:schemeClr val="tx1"/>
                </a:solidFill>
                <a:latin typeface="メイリオ" panose="020B0604030504040204" pitchFamily="50" charset="-128"/>
                <a:ea typeface="メイリオ" panose="020B0604030504040204" pitchFamily="50" charset="-128"/>
                <a:cs typeface="メイリオ"/>
              </a:rPr>
              <a:t>友だちの場合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5974632" y="44668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cs typeface="メイリオ"/>
              </a:rPr>
              <a:t>既存の</a:t>
            </a:r>
            <a:r>
              <a:rPr lang="en-US" altLang="ja-JP" sz="110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b="1" dirty="0">
                <a:solidFill>
                  <a:schemeClr val="tx1"/>
                </a:solidFill>
                <a:latin typeface="メイリオ" panose="020B0604030504040204" pitchFamily="50" charset="-128"/>
                <a:ea typeface="メイリオ" panose="020B0604030504040204" pitchFamily="50" charset="-128"/>
                <a:cs typeface="メイリオ"/>
              </a:rPr>
              <a:t>友だちの場合</a:t>
            </a:r>
          </a:p>
        </p:txBody>
      </p:sp>
      <p:cxnSp>
        <p:nvCxnSpPr>
          <p:cNvPr id="23" name="直線矢印コネクタ 22">
            <a:extLst>
              <a:ext uri="{FF2B5EF4-FFF2-40B4-BE49-F238E27FC236}">
                <a16:creationId xmlns:a16="http://schemas.microsoft.com/office/drawing/2014/main" id="{8F202453-7FF9-8AE7-D10D-66F74A74A2F4}"/>
              </a:ext>
            </a:extLst>
          </p:cNvPr>
          <p:cNvCxnSpPr/>
          <p:nvPr/>
        </p:nvCxnSpPr>
        <p:spPr>
          <a:xfrm>
            <a:off x="4361857" y="3239708"/>
            <a:ext cx="1407469" cy="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4361857" y="3392108"/>
            <a:ext cx="1407469" cy="135838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4867227" y="2304788"/>
            <a:ext cx="374449" cy="3205847"/>
          </a:xfrm>
          <a:prstGeom prst="rect">
            <a:avLst/>
          </a:prstGeom>
          <a:solidFill>
            <a:srgbClr val="00FF0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cs typeface="メイリオ"/>
              </a:rPr>
              <a:t>｜</a:t>
            </a:r>
            <a:r>
              <a:rPr lang="en-US" altLang="ja-JP" sz="1100" b="1" dirty="0">
                <a:solidFill>
                  <a:schemeClr val="tx1"/>
                </a:solidFill>
                <a:latin typeface="メイリオ" panose="020B0604030504040204" pitchFamily="50" charset="-128"/>
                <a:ea typeface="メイリオ" panose="020B0604030504040204" pitchFamily="50" charset="-128"/>
                <a:cs typeface="メイリオ"/>
              </a:rPr>
              <a:t>D</a:t>
            </a:r>
          </a:p>
          <a:p>
            <a:pPr algn="ctr"/>
            <a:r>
              <a:rPr kumimoji="1" lang="en-US" altLang="ja-JP" sz="1100" b="1" dirty="0">
                <a:solidFill>
                  <a:schemeClr val="tx1"/>
                </a:solidFill>
                <a:latin typeface="メイリオ" panose="020B0604030504040204" pitchFamily="50" charset="-128"/>
                <a:ea typeface="メイリオ" panose="020B0604030504040204" pitchFamily="50" charset="-128"/>
                <a:cs typeface="メイリオ"/>
              </a:rPr>
              <a:t>Y</a:t>
            </a:r>
          </a:p>
          <a:p>
            <a:pPr algn="ctr"/>
            <a:r>
              <a:rPr lang="en-US" altLang="ja-JP" sz="1100" b="1" dirty="0">
                <a:solidFill>
                  <a:schemeClr val="tx1"/>
                </a:solidFill>
                <a:latin typeface="メイリオ" panose="020B0604030504040204" pitchFamily="50" charset="-128"/>
                <a:ea typeface="メイリオ" panose="020B0604030504040204" pitchFamily="50" charset="-128"/>
                <a:cs typeface="メイリオ"/>
              </a:rPr>
              <a:t>M</a:t>
            </a:r>
            <a:r>
              <a:rPr lang="ja-JP" altLang="en-US" sz="1100" b="1" dirty="0">
                <a:solidFill>
                  <a:schemeClr val="tx1"/>
                </a:solidFill>
                <a:latin typeface="メイリオ" panose="020B0604030504040204" pitchFamily="50" charset="-128"/>
                <a:ea typeface="メイリオ" panose="020B0604030504040204" pitchFamily="50" charset="-128"/>
                <a:cs typeface="メイリオ"/>
              </a:rPr>
              <a:t>ツ</a:t>
            </a:r>
            <a:endParaRPr lang="en-US" altLang="ja-JP" sz="11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｜ルで</a:t>
            </a:r>
            <a:endParaRPr kumimoji="1" lang="en-US" altLang="ja-JP" sz="11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en-US" altLang="ja-JP" sz="1100" b="1" dirty="0">
                <a:solidFill>
                  <a:schemeClr val="tx1"/>
                </a:solidFill>
                <a:latin typeface="メイリオ" panose="020B0604030504040204" pitchFamily="50" charset="-128"/>
                <a:ea typeface="メイリオ" panose="020B0604030504040204" pitchFamily="50" charset="-128"/>
                <a:cs typeface="メイリオ"/>
              </a:rPr>
              <a:t>L</a:t>
            </a:r>
            <a:br>
              <a:rPr kumimoji="1" lang="en-US" altLang="ja-JP" sz="1100" b="1" dirty="0">
                <a:solidFill>
                  <a:schemeClr val="tx1"/>
                </a:solidFill>
                <a:latin typeface="メイリオ" panose="020B0604030504040204" pitchFamily="50" charset="-128"/>
                <a:ea typeface="メイリオ" panose="020B0604030504040204" pitchFamily="50" charset="-128"/>
                <a:cs typeface="メイリオ"/>
              </a:rPr>
            </a:br>
            <a:r>
              <a:rPr kumimoji="1" lang="en-US" altLang="ja-JP" sz="1100" b="1" dirty="0">
                <a:solidFill>
                  <a:schemeClr val="tx1"/>
                </a:solidFill>
                <a:latin typeface="メイリオ" panose="020B0604030504040204" pitchFamily="50" charset="-128"/>
                <a:ea typeface="メイリオ" panose="020B0604030504040204" pitchFamily="50" charset="-128"/>
                <a:cs typeface="メイリオ"/>
              </a:rPr>
              <a:t>I</a:t>
            </a:r>
          </a:p>
          <a:p>
            <a:pPr algn="ctr"/>
            <a:r>
              <a:rPr lang="en-US" altLang="ja-JP" sz="1100" b="1" dirty="0">
                <a:solidFill>
                  <a:schemeClr val="tx1"/>
                </a:solidFill>
                <a:latin typeface="メイリオ" panose="020B0604030504040204" pitchFamily="50" charset="-128"/>
                <a:ea typeface="メイリオ" panose="020B0604030504040204" pitchFamily="50" charset="-128"/>
                <a:cs typeface="メイリオ"/>
              </a:rPr>
              <a:t>N</a:t>
            </a:r>
            <a:br>
              <a:rPr lang="en-US" altLang="ja-JP" sz="1100" b="1" dirty="0">
                <a:solidFill>
                  <a:schemeClr val="tx1"/>
                </a:solidFill>
                <a:latin typeface="メイリオ" panose="020B0604030504040204" pitchFamily="50" charset="-128"/>
                <a:ea typeface="メイリオ" panose="020B0604030504040204" pitchFamily="50" charset="-128"/>
                <a:cs typeface="メイリオ"/>
              </a:rPr>
            </a:br>
            <a:r>
              <a:rPr lang="en-US" altLang="ja-JP" sz="1100" b="1" dirty="0">
                <a:solidFill>
                  <a:schemeClr val="tx1"/>
                </a:solidFill>
                <a:latin typeface="メイリオ" panose="020B0604030504040204" pitchFamily="50" charset="-128"/>
                <a:ea typeface="メイリオ" panose="020B0604030504040204" pitchFamily="50" charset="-128"/>
                <a:cs typeface="メイリオ"/>
              </a:rPr>
              <a:t>E</a:t>
            </a:r>
          </a:p>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動線</a:t>
            </a:r>
            <a:endParaRPr kumimoji="1" lang="en-US" altLang="ja-JP" sz="11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100" b="1" dirty="0">
                <a:solidFill>
                  <a:schemeClr val="tx1"/>
                </a:solidFill>
                <a:latin typeface="メイリオ" panose="020B0604030504040204" pitchFamily="50" charset="-128"/>
                <a:ea typeface="メイリオ" panose="020B0604030504040204" pitchFamily="50" charset="-128"/>
                <a:cs typeface="メイリオ"/>
              </a:rPr>
              <a:t>に</a:t>
            </a:r>
            <a:endParaRPr kumimoji="1" lang="en-US" altLang="ja-JP" sz="11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a:t>
            </a:r>
          </a:p>
        </p:txBody>
      </p: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999618" y="2128994"/>
            <a:ext cx="1231081" cy="2085097"/>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999618" y="4325046"/>
            <a:ext cx="1231081" cy="2085098"/>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5974631" y="2701376"/>
            <a:ext cx="1859035" cy="430887"/>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cs typeface="メイリオ"/>
              </a:rPr>
              <a:t>公式アカウントの</a:t>
            </a:r>
            <a:r>
              <a:rPr lang="ja-JP" altLang="en-US" sz="1100" b="1" dirty="0">
                <a:latin typeface="メイリオ" panose="020B0604030504040204" pitchFamily="50" charset="-128"/>
                <a:ea typeface="メイリオ" panose="020B0604030504040204" pitchFamily="50" charset="-128"/>
                <a:cs typeface="メイリオ"/>
              </a:rPr>
              <a:t>友だち</a:t>
            </a:r>
            <a:endParaRPr lang="en-US" altLang="ja-JP" sz="1100" b="1" dirty="0">
              <a:latin typeface="メイリオ" panose="020B0604030504040204" pitchFamily="50" charset="-128"/>
              <a:ea typeface="メイリオ" panose="020B0604030504040204" pitchFamily="50" charset="-128"/>
              <a:cs typeface="メイリオ"/>
            </a:endParaRPr>
          </a:p>
          <a:p>
            <a:r>
              <a:rPr lang="ja-JP" altLang="en-US" sz="1100" b="1" dirty="0">
                <a:latin typeface="メイリオ" panose="020B0604030504040204" pitchFamily="50" charset="-128"/>
                <a:ea typeface="メイリオ" panose="020B0604030504040204" pitchFamily="50" charset="-128"/>
                <a:cs typeface="メイリオ"/>
              </a:rPr>
              <a:t>登録ページ</a:t>
            </a:r>
            <a:r>
              <a:rPr lang="ja-JP" altLang="en-US" sz="1100" dirty="0">
                <a:latin typeface="メイリオ" panose="020B0604030504040204" pitchFamily="50" charset="-128"/>
                <a:ea typeface="メイリオ" panose="020B0604030504040204" pitchFamily="50" charset="-128"/>
                <a:cs typeface="メイリオ"/>
              </a:rPr>
              <a:t>へ遷移する。</a:t>
            </a:r>
            <a:endParaRPr kumimoji="1" lang="ja-JP" altLang="en-US" sz="1100" dirty="0">
              <a:latin typeface="メイリオ" panose="020B0604030504040204" pitchFamily="50" charset="-128"/>
              <a:ea typeface="メイリオ" panose="020B0604030504040204" pitchFamily="50" charset="-128"/>
              <a:cs typeface="メイリオ"/>
            </a:endParaRP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5971905" y="4914274"/>
            <a:ext cx="1859035" cy="1384995"/>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cs typeface="メイリオ"/>
              </a:rPr>
              <a:t>公式アカウントの</a:t>
            </a:r>
            <a:r>
              <a:rPr lang="ja-JP" altLang="en-US" sz="1100" b="1" dirty="0">
                <a:latin typeface="メイリオ" panose="020B0604030504040204" pitchFamily="50" charset="-128"/>
                <a:ea typeface="メイリオ" panose="020B0604030504040204" pitchFamily="50" charset="-128"/>
                <a:cs typeface="メイリオ"/>
              </a:rPr>
              <a:t>トーク</a:t>
            </a:r>
            <a:endParaRPr lang="en-US" altLang="ja-JP" sz="1100" b="1" dirty="0">
              <a:latin typeface="メイリオ" panose="020B0604030504040204" pitchFamily="50" charset="-128"/>
              <a:ea typeface="メイリオ" panose="020B0604030504040204" pitchFamily="50" charset="-128"/>
              <a:cs typeface="メイリオ"/>
            </a:endParaRPr>
          </a:p>
          <a:p>
            <a:r>
              <a:rPr lang="ja-JP" altLang="en-US" sz="1100" b="1" dirty="0">
                <a:latin typeface="メイリオ" panose="020B0604030504040204" pitchFamily="50" charset="-128"/>
                <a:ea typeface="メイリオ" panose="020B0604030504040204" pitchFamily="50" charset="-128"/>
                <a:cs typeface="メイリオ"/>
              </a:rPr>
              <a:t>画面</a:t>
            </a:r>
            <a:r>
              <a:rPr lang="ja-JP" altLang="en-US" sz="1100" dirty="0">
                <a:latin typeface="メイリオ" panose="020B0604030504040204" pitchFamily="50" charset="-128"/>
                <a:ea typeface="メイリオ" panose="020B0604030504040204" pitchFamily="50" charset="-128"/>
                <a:cs typeface="メイリオ"/>
              </a:rPr>
              <a:t>へ遷移する。</a:t>
            </a:r>
            <a:endParaRPr lang="en-US" altLang="ja-JP" sz="1100" dirty="0">
              <a:latin typeface="メイリオ" panose="020B0604030504040204" pitchFamily="50" charset="-128"/>
              <a:ea typeface="メイリオ" panose="020B0604030504040204" pitchFamily="50" charset="-128"/>
              <a:cs typeface="メイリオ"/>
            </a:endParaRPr>
          </a:p>
          <a:p>
            <a:r>
              <a:rPr kumimoji="1" lang="en-US" altLang="ja-JP" sz="1000" dirty="0">
                <a:solidFill>
                  <a:srgbClr val="FF0000"/>
                </a:solidFill>
                <a:latin typeface="メイリオ" panose="020B0604030504040204" pitchFamily="50" charset="-128"/>
                <a:ea typeface="メイリオ" panose="020B0604030504040204" pitchFamily="50" charset="-128"/>
                <a:cs typeface="メイリオ"/>
              </a:rPr>
              <a:t>※</a:t>
            </a:r>
            <a:r>
              <a:rPr kumimoji="1" lang="ja-JP" altLang="en-US" sz="1000" dirty="0">
                <a:solidFill>
                  <a:srgbClr val="FF0000"/>
                </a:solidFill>
                <a:latin typeface="メイリオ" panose="020B0604030504040204" pitchFamily="50" charset="-128"/>
                <a:ea typeface="メイリオ" panose="020B0604030504040204" pitchFamily="50" charset="-128"/>
                <a:cs typeface="メイリオ"/>
              </a:rPr>
              <a:t>設定によりフォーム入力</a:t>
            </a:r>
            <a:endParaRPr kumimoji="1" lang="en-US" altLang="ja-JP" sz="1000" dirty="0">
              <a:solidFill>
                <a:srgbClr val="FF0000"/>
              </a:solidFill>
              <a:latin typeface="メイリオ" panose="020B0604030504040204" pitchFamily="50" charset="-128"/>
              <a:ea typeface="メイリオ" panose="020B0604030504040204" pitchFamily="50" charset="-128"/>
              <a:cs typeface="メイリオ"/>
            </a:endParaRPr>
          </a:p>
          <a:p>
            <a:r>
              <a:rPr lang="ja-JP" altLang="en-US" sz="1000" dirty="0">
                <a:solidFill>
                  <a:srgbClr val="FF0000"/>
                </a:solidFill>
                <a:latin typeface="メイリオ" panose="020B0604030504040204" pitchFamily="50" charset="-128"/>
                <a:ea typeface="メイリオ" panose="020B0604030504040204" pitchFamily="50" charset="-128"/>
                <a:cs typeface="メイリオ"/>
              </a:rPr>
              <a:t>　内容を踏襲した入力画面</a:t>
            </a:r>
            <a:endParaRPr lang="en-US" altLang="ja-JP" sz="1000" dirty="0">
              <a:solidFill>
                <a:srgbClr val="FF0000"/>
              </a:solidFill>
              <a:latin typeface="メイリオ" panose="020B0604030504040204" pitchFamily="50" charset="-128"/>
              <a:ea typeface="メイリオ" panose="020B0604030504040204" pitchFamily="50" charset="-128"/>
              <a:cs typeface="メイリオ"/>
            </a:endParaRPr>
          </a:p>
          <a:p>
            <a:r>
              <a:rPr kumimoji="1" lang="ja-JP" altLang="en-US" sz="1000" dirty="0">
                <a:solidFill>
                  <a:srgbClr val="FF0000"/>
                </a:solidFill>
                <a:latin typeface="メイリオ" panose="020B0604030504040204" pitchFamily="50" charset="-128"/>
                <a:ea typeface="メイリオ" panose="020B0604030504040204" pitchFamily="50" charset="-128"/>
                <a:cs typeface="メイリオ"/>
              </a:rPr>
              <a:t>　を表示させることが可能。</a:t>
            </a:r>
            <a:endParaRPr kumimoji="1" lang="en-US" altLang="ja-JP" sz="1000" dirty="0">
              <a:solidFill>
                <a:srgbClr val="FF0000"/>
              </a:solidFill>
              <a:latin typeface="メイリオ" panose="020B0604030504040204" pitchFamily="50" charset="-128"/>
              <a:ea typeface="メイリオ" panose="020B0604030504040204" pitchFamily="50" charset="-128"/>
              <a:cs typeface="メイリオ"/>
            </a:endParaRPr>
          </a:p>
          <a:p>
            <a:endParaRPr lang="en-US" altLang="ja-JP" sz="1000" dirty="0">
              <a:solidFill>
                <a:srgbClr val="FF0000"/>
              </a:solidFill>
              <a:latin typeface="メイリオ" panose="020B0604030504040204" pitchFamily="50" charset="-128"/>
              <a:ea typeface="メイリオ" panose="020B0604030504040204" pitchFamily="50" charset="-128"/>
              <a:cs typeface="メイリオ"/>
            </a:endParaRPr>
          </a:p>
          <a:p>
            <a:r>
              <a:rPr lang="ja-JP" altLang="en-US" sz="1100" b="1" dirty="0">
                <a:latin typeface="メイリオ" panose="020B0604030504040204" pitchFamily="50" charset="-128"/>
                <a:ea typeface="メイリオ" panose="020B0604030504040204" pitchFamily="50" charset="-128"/>
                <a:cs typeface="メイリオ"/>
              </a:rPr>
              <a:t>↓</a:t>
            </a:r>
            <a:endParaRPr lang="en-US" altLang="ja-JP" sz="1100" b="1" dirty="0">
              <a:latin typeface="メイリオ" panose="020B0604030504040204" pitchFamily="50" charset="-128"/>
              <a:ea typeface="メイリオ" panose="020B0604030504040204" pitchFamily="50" charset="-128"/>
              <a:cs typeface="メイリオ"/>
            </a:endParaRPr>
          </a:p>
          <a:p>
            <a:r>
              <a:rPr kumimoji="1" lang="ja-JP" altLang="en-US" sz="1100" b="1" dirty="0">
                <a:latin typeface="メイリオ" panose="020B0604030504040204" pitchFamily="50" charset="-128"/>
                <a:ea typeface="メイリオ" panose="020B0604030504040204" pitchFamily="50" charset="-128"/>
                <a:cs typeface="メイリオ"/>
              </a:rPr>
              <a:t>配信セグメントに利用可</a:t>
            </a:r>
            <a:endParaRPr kumimoji="1" lang="ja-JP" altLang="en-US" sz="11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8048301" y="3085325"/>
            <a:ext cx="1133712" cy="110223"/>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8378027" y="3091633"/>
            <a:ext cx="479964" cy="106659"/>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8395919" y="4322141"/>
            <a:ext cx="334412" cy="74315"/>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8548319" y="4474541"/>
            <a:ext cx="334412" cy="74315"/>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8414131" y="2644225"/>
            <a:ext cx="396000" cy="39600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315283" y="2196668"/>
            <a:ext cx="1778402" cy="3994401"/>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5" name="二等辺三角形 34">
            <a:extLst>
              <a:ext uri="{FF2B5EF4-FFF2-40B4-BE49-F238E27FC236}">
                <a16:creationId xmlns:a16="http://schemas.microsoft.com/office/drawing/2014/main" id="{D9FB7255-AF30-7B82-6180-D447A3754744}"/>
              </a:ext>
            </a:extLst>
          </p:cNvPr>
          <p:cNvSpPr/>
          <p:nvPr/>
        </p:nvSpPr>
        <p:spPr>
          <a:xfrm rot="5400000">
            <a:off x="2108593"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2225165"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二等辺三角形 36">
            <a:extLst>
              <a:ext uri="{FF2B5EF4-FFF2-40B4-BE49-F238E27FC236}">
                <a16:creationId xmlns:a16="http://schemas.microsoft.com/office/drawing/2014/main" id="{9D8E2C96-1207-00B8-6FC3-23370EFD7A03}"/>
              </a:ext>
            </a:extLst>
          </p:cNvPr>
          <p:cNvSpPr/>
          <p:nvPr/>
        </p:nvSpPr>
        <p:spPr>
          <a:xfrm rot="5400000">
            <a:off x="2341737"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14547" y="4198381"/>
            <a:ext cx="1154315"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latin typeface="メイリオ" panose="020B0604030504040204" pitchFamily="50" charset="-128"/>
                <a:ea typeface="メイリオ" panose="020B0604030504040204" pitchFamily="50" charset="-128"/>
                <a:cs typeface="メイリオ"/>
              </a:rPr>
              <a:t>フォーム</a:t>
            </a:r>
          </a:p>
        </p:txBody>
      </p:sp>
      <p:pic>
        <p:nvPicPr>
          <p:cNvPr id="40" name="図 39" descr="テキスト, 手紙&#10;&#10;AI 生成コンテンツは誤りを含む可能性があります。">
            <a:extLst>
              <a:ext uri="{FF2B5EF4-FFF2-40B4-BE49-F238E27FC236}">
                <a16:creationId xmlns:a16="http://schemas.microsoft.com/office/drawing/2014/main" id="{2B8DDCE0-83B3-5BAA-0FFE-3D329FBE2D94}"/>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663353" y="2289246"/>
            <a:ext cx="1048252" cy="1775437"/>
          </a:xfrm>
          <a:prstGeom prst="rect">
            <a:avLst/>
          </a:prstGeom>
        </p:spPr>
      </p:pic>
      <p:pic>
        <p:nvPicPr>
          <p:cNvPr id="41" name="図 40">
            <a:extLst>
              <a:ext uri="{FF2B5EF4-FFF2-40B4-BE49-F238E27FC236}">
                <a16:creationId xmlns:a16="http://schemas.microsoft.com/office/drawing/2014/main" id="{EE7C7FD3-78CB-4D67-F96A-D6F8017FE224}"/>
              </a:ext>
            </a:extLst>
          </p:cNvPr>
          <p:cNvPicPr>
            <a:picLocks noChangeAspect="1"/>
          </p:cNvPicPr>
          <p:nvPr/>
        </p:nvPicPr>
        <p:blipFill>
          <a:blip r:embed="rId7"/>
          <a:stretch>
            <a:fillRect/>
          </a:stretch>
        </p:blipFill>
        <p:spPr>
          <a:xfrm>
            <a:off x="641171" y="2325575"/>
            <a:ext cx="494484" cy="86136"/>
          </a:xfrm>
          <a:prstGeom prst="rect">
            <a:avLst/>
          </a:prstGeom>
        </p:spPr>
      </p:pic>
      <p:pic>
        <p:nvPicPr>
          <p:cNvPr id="42" name="図 41">
            <a:extLst>
              <a:ext uri="{FF2B5EF4-FFF2-40B4-BE49-F238E27FC236}">
                <a16:creationId xmlns:a16="http://schemas.microsoft.com/office/drawing/2014/main" id="{2E6CA8C2-2D04-CD9A-C431-4766768BBF3D}"/>
              </a:ext>
            </a:extLst>
          </p:cNvPr>
          <p:cNvPicPr>
            <a:picLocks noChangeAspect="1"/>
          </p:cNvPicPr>
          <p:nvPr/>
        </p:nvPicPr>
        <p:blipFill>
          <a:blip r:embed="rId7"/>
          <a:stretch>
            <a:fillRect/>
          </a:stretch>
        </p:blipFill>
        <p:spPr>
          <a:xfrm>
            <a:off x="630233" y="2328011"/>
            <a:ext cx="494484" cy="86136"/>
          </a:xfrm>
          <a:prstGeom prst="rect">
            <a:avLst/>
          </a:prstGeom>
        </p:spPr>
      </p:pic>
      <p:pic>
        <p:nvPicPr>
          <p:cNvPr id="47" name="図 46">
            <a:extLst>
              <a:ext uri="{FF2B5EF4-FFF2-40B4-BE49-F238E27FC236}">
                <a16:creationId xmlns:a16="http://schemas.microsoft.com/office/drawing/2014/main" id="{E5BE860E-2799-E5F4-ADCA-4ADBD44E0D0C}"/>
              </a:ext>
            </a:extLst>
          </p:cNvPr>
          <p:cNvPicPr>
            <a:picLocks noChangeAspect="1"/>
          </p:cNvPicPr>
          <p:nvPr/>
        </p:nvPicPr>
        <p:blipFill>
          <a:blip r:embed="rId7"/>
          <a:stretch>
            <a:fillRect/>
          </a:stretch>
        </p:blipFill>
        <p:spPr>
          <a:xfrm>
            <a:off x="810116" y="3773334"/>
            <a:ext cx="494484" cy="86136"/>
          </a:xfrm>
          <a:prstGeom prst="rect">
            <a:avLst/>
          </a:prstGeom>
        </p:spPr>
      </p:pic>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8"/>
          <a:stretch>
            <a:fillRect/>
          </a:stretch>
        </p:blipFill>
        <p:spPr>
          <a:xfrm>
            <a:off x="647157" y="2445202"/>
            <a:ext cx="1076073" cy="1468487"/>
          </a:xfrm>
          <a:prstGeom prst="rect">
            <a:avLst/>
          </a:prstGeom>
        </p:spPr>
      </p:pic>
      <p:pic>
        <p:nvPicPr>
          <p:cNvPr id="1024" name="図 1023">
            <a:extLst>
              <a:ext uri="{FF2B5EF4-FFF2-40B4-BE49-F238E27FC236}">
                <a16:creationId xmlns:a16="http://schemas.microsoft.com/office/drawing/2014/main" id="{E5E4719A-E6F5-34E0-F2FD-37322E2A76AA}"/>
              </a:ext>
            </a:extLst>
          </p:cNvPr>
          <p:cNvPicPr>
            <a:picLocks noChangeAspect="1"/>
          </p:cNvPicPr>
          <p:nvPr/>
        </p:nvPicPr>
        <p:blipFill>
          <a:blip r:embed="rId9"/>
          <a:stretch>
            <a:fillRect/>
          </a:stretch>
        </p:blipFill>
        <p:spPr>
          <a:xfrm>
            <a:off x="1125324" y="2303179"/>
            <a:ext cx="560995" cy="133465"/>
          </a:xfrm>
          <a:prstGeom prst="rect">
            <a:avLst/>
          </a:prstGeom>
        </p:spPr>
      </p:pic>
      <p:sp>
        <p:nvSpPr>
          <p:cNvPr id="1026" name="テキスト ボックス 1025">
            <a:extLst>
              <a:ext uri="{FF2B5EF4-FFF2-40B4-BE49-F238E27FC236}">
                <a16:creationId xmlns:a16="http://schemas.microsoft.com/office/drawing/2014/main" id="{1B57767B-4EA3-C247-B88C-4D505A95BD20}"/>
              </a:ext>
            </a:extLst>
          </p:cNvPr>
          <p:cNvSpPr txBox="1"/>
          <p:nvPr/>
        </p:nvSpPr>
        <p:spPr>
          <a:xfrm>
            <a:off x="-490844" y="4711039"/>
            <a:ext cx="3405553" cy="400110"/>
          </a:xfrm>
          <a:prstGeom prst="rect">
            <a:avLst/>
          </a:prstGeom>
          <a:noFill/>
        </p:spPr>
        <p:txBody>
          <a:bodyPr wrap="square">
            <a:spAutoFit/>
          </a:bodyPr>
          <a:lstStyle/>
          <a:p>
            <a:pPr algn="ctr"/>
            <a:r>
              <a:rPr lang="en-US" altLang="ja-JP" sz="1000" b="1" dirty="0">
                <a:solidFill>
                  <a:srgbClr val="FF0000"/>
                </a:solidFill>
                <a:latin typeface="メイリオ" panose="020B0604030504040204" pitchFamily="50" charset="-128"/>
                <a:ea typeface="メイリオ" panose="020B0604030504040204" pitchFamily="50" charset="-128"/>
                <a:cs typeface="メイリオ"/>
              </a:rPr>
              <a:t>※</a:t>
            </a:r>
            <a:r>
              <a:rPr lang="ja-JP" altLang="en-US" sz="1000" b="1" dirty="0">
                <a:solidFill>
                  <a:srgbClr val="FF0000"/>
                </a:solidFill>
                <a:latin typeface="メイリオ" panose="020B0604030504040204" pitchFamily="50" charset="-128"/>
                <a:ea typeface="メイリオ" panose="020B0604030504040204" pitchFamily="50" charset="-128"/>
                <a:cs typeface="メイリオ"/>
              </a:rPr>
              <a:t>入力した内容を</a:t>
            </a:r>
            <a:endParaRPr lang="en-US" altLang="ja-JP" sz="1000" b="1" dirty="0">
              <a:solidFill>
                <a:srgbClr val="FF0000"/>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rgbClr val="FF0000"/>
                </a:solidFill>
                <a:latin typeface="メイリオ" panose="020B0604030504040204" pitchFamily="50" charset="-128"/>
                <a:ea typeface="メイリオ" panose="020B0604030504040204" pitchFamily="50" charset="-128"/>
                <a:cs typeface="メイリオ"/>
              </a:rPr>
              <a:t>トークに反映が可能。</a:t>
            </a:r>
            <a:endParaRPr lang="en-US" altLang="ja-JP" sz="1000" b="1" dirty="0">
              <a:solidFill>
                <a:srgbClr val="FF0000"/>
              </a:solidFill>
              <a:latin typeface="メイリオ" panose="020B0604030504040204" pitchFamily="50" charset="-128"/>
              <a:ea typeface="メイリオ" panose="020B0604030504040204" pitchFamily="50" charset="-128"/>
              <a:cs typeface="メイリオ"/>
            </a:endParaRPr>
          </a:p>
        </p:txBody>
      </p:sp>
      <p:sp>
        <p:nvSpPr>
          <p:cNvPr id="1032" name="正方形/長方形 1031">
            <a:extLst>
              <a:ext uri="{FF2B5EF4-FFF2-40B4-BE49-F238E27FC236}">
                <a16:creationId xmlns:a16="http://schemas.microsoft.com/office/drawing/2014/main" id="{D1D96D42-255C-636E-49E5-2CDA95DD6764}"/>
              </a:ext>
            </a:extLst>
          </p:cNvPr>
          <p:cNvSpPr/>
          <p:nvPr/>
        </p:nvSpPr>
        <p:spPr>
          <a:xfrm>
            <a:off x="2584156" y="2196668"/>
            <a:ext cx="1778402" cy="3994401"/>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909322" y="4198381"/>
            <a:ext cx="1154315"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latin typeface="メイリオ" panose="020B0604030504040204" pitchFamily="50" charset="-128"/>
                <a:ea typeface="メイリオ" panose="020B0604030504040204" pitchFamily="50" charset="-128"/>
                <a:cs typeface="メイリオ"/>
              </a:rPr>
              <a:t>CV</a:t>
            </a:r>
            <a:endParaRPr kumimoji="1" lang="ja-JP" altLang="en-US" sz="1100" b="1" dirty="0">
              <a:latin typeface="メイリオ" panose="020B0604030504040204" pitchFamily="50" charset="-128"/>
              <a:ea typeface="メイリオ" panose="020B0604030504040204" pitchFamily="50" charset="-128"/>
              <a:cs typeface="メイリオ"/>
            </a:endParaRPr>
          </a:p>
        </p:txBody>
      </p:sp>
      <p:sp>
        <p:nvSpPr>
          <p:cNvPr id="1036" name="正方形/長方形 1035">
            <a:extLst>
              <a:ext uri="{FF2B5EF4-FFF2-40B4-BE49-F238E27FC236}">
                <a16:creationId xmlns:a16="http://schemas.microsoft.com/office/drawing/2014/main" id="{43EEA9CC-C52C-B219-FF18-6E6EA44E4D24}"/>
              </a:ext>
            </a:extLst>
          </p:cNvPr>
          <p:cNvSpPr/>
          <p:nvPr/>
        </p:nvSpPr>
        <p:spPr>
          <a:xfrm>
            <a:off x="2692868" y="4436119"/>
            <a:ext cx="1396722" cy="10450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・購入完了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・セミナー予約</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・登録完了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・メルマガ登録</a:t>
            </a:r>
            <a:endParaRPr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・その他</a:t>
            </a: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2977448" y="2296209"/>
            <a:ext cx="1048252" cy="1775437"/>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20270" r="23682"/>
          <a:stretch>
            <a:fillRect/>
          </a:stretch>
        </p:blipFill>
        <p:spPr bwMode="auto">
          <a:xfrm>
            <a:off x="3866329" y="4627146"/>
            <a:ext cx="395417" cy="529521"/>
          </a:xfrm>
          <a:prstGeom prst="rect">
            <a:avLst/>
          </a:prstGeom>
          <a:noFill/>
          <a:extLst>
            <a:ext uri="{909E8E84-426E-40DD-AFC4-6F175D3DCCD1}">
              <a14:hiddenFill xmlns:a14="http://schemas.microsoft.com/office/drawing/2010/main">
                <a:solidFill>
                  <a:srgbClr val="FFFFFF"/>
                </a:solidFill>
              </a14:hiddenFill>
            </a:ext>
          </a:extLst>
        </p:spPr>
      </p:pic>
      <p:pic>
        <p:nvPicPr>
          <p:cNvPr id="1040" name="図 1039">
            <a:extLst>
              <a:ext uri="{FF2B5EF4-FFF2-40B4-BE49-F238E27FC236}">
                <a16:creationId xmlns:a16="http://schemas.microsoft.com/office/drawing/2014/main" id="{D40EFC68-F8C8-CACE-392A-C804A102B410}"/>
              </a:ext>
            </a:extLst>
          </p:cNvPr>
          <p:cNvPicPr>
            <a:picLocks noChangeAspect="1"/>
          </p:cNvPicPr>
          <p:nvPr/>
        </p:nvPicPr>
        <p:blipFill>
          <a:blip r:embed="rId7"/>
          <a:stretch>
            <a:fillRect/>
          </a:stretch>
        </p:blipFill>
        <p:spPr>
          <a:xfrm>
            <a:off x="2955266" y="2332538"/>
            <a:ext cx="494484" cy="86136"/>
          </a:xfrm>
          <a:prstGeom prst="rect">
            <a:avLst/>
          </a:prstGeom>
        </p:spPr>
      </p:pic>
      <p:pic>
        <p:nvPicPr>
          <p:cNvPr id="1041" name="図 1040">
            <a:extLst>
              <a:ext uri="{FF2B5EF4-FFF2-40B4-BE49-F238E27FC236}">
                <a16:creationId xmlns:a16="http://schemas.microsoft.com/office/drawing/2014/main" id="{BA9B0596-4197-6BA5-B58D-7E67FD1379B1}"/>
              </a:ext>
            </a:extLst>
          </p:cNvPr>
          <p:cNvPicPr>
            <a:picLocks noChangeAspect="1"/>
          </p:cNvPicPr>
          <p:nvPr/>
        </p:nvPicPr>
        <p:blipFill>
          <a:blip r:embed="rId7"/>
          <a:stretch>
            <a:fillRect/>
          </a:stretch>
        </p:blipFill>
        <p:spPr>
          <a:xfrm>
            <a:off x="2944328" y="2334974"/>
            <a:ext cx="494484" cy="86136"/>
          </a:xfrm>
          <a:prstGeom prst="rect">
            <a:avLst/>
          </a:prstGeom>
        </p:spPr>
      </p:pic>
      <p:pic>
        <p:nvPicPr>
          <p:cNvPr id="1042" name="図 1041">
            <a:extLst>
              <a:ext uri="{FF2B5EF4-FFF2-40B4-BE49-F238E27FC236}">
                <a16:creationId xmlns:a16="http://schemas.microsoft.com/office/drawing/2014/main" id="{A3D5D1CE-703D-3244-20B5-0CBB6C5EB467}"/>
              </a:ext>
            </a:extLst>
          </p:cNvPr>
          <p:cNvPicPr>
            <a:picLocks noChangeAspect="1"/>
          </p:cNvPicPr>
          <p:nvPr/>
        </p:nvPicPr>
        <p:blipFill>
          <a:blip r:embed="rId7"/>
          <a:stretch>
            <a:fillRect/>
          </a:stretch>
        </p:blipFill>
        <p:spPr>
          <a:xfrm>
            <a:off x="3124211" y="3780297"/>
            <a:ext cx="494484" cy="86136"/>
          </a:xfrm>
          <a:prstGeom prst="rect">
            <a:avLst/>
          </a:prstGeom>
        </p:spPr>
      </p:pic>
      <p:sp>
        <p:nvSpPr>
          <p:cNvPr id="1043" name="テキスト ボックス 1042">
            <a:extLst>
              <a:ext uri="{FF2B5EF4-FFF2-40B4-BE49-F238E27FC236}">
                <a16:creationId xmlns:a16="http://schemas.microsoft.com/office/drawing/2014/main" id="{434489DF-76E5-B08D-AB93-7A020A3C23F0}"/>
              </a:ext>
            </a:extLst>
          </p:cNvPr>
          <p:cNvSpPr txBox="1"/>
          <p:nvPr/>
        </p:nvSpPr>
        <p:spPr>
          <a:xfrm>
            <a:off x="1254839" y="5195928"/>
            <a:ext cx="1679395" cy="338554"/>
          </a:xfrm>
          <a:prstGeom prst="rect">
            <a:avLst/>
          </a:prstGeom>
          <a:solidFill>
            <a:schemeClr val="bg1">
              <a:alpha val="56000"/>
            </a:schemeClr>
          </a:solidFill>
        </p:spPr>
        <p:txBody>
          <a:bodyPr wrap="square">
            <a:spAutoFit/>
          </a:bodyPr>
          <a:lstStyle/>
          <a:p>
            <a:pPr algn="ctr"/>
            <a:r>
              <a:rPr lang="en-US" altLang="ja-JP" sz="800" b="1" dirty="0">
                <a:solidFill>
                  <a:schemeClr val="bg1">
                    <a:lumMod val="85000"/>
                  </a:schemeClr>
                </a:solidFill>
                <a:latin typeface="メイリオ" panose="020B0604030504040204" pitchFamily="50" charset="-128"/>
                <a:ea typeface="メイリオ" panose="020B0604030504040204" pitchFamily="50" charset="-128"/>
                <a:cs typeface="メイリオ"/>
              </a:rPr>
              <a:t>※</a:t>
            </a:r>
            <a:r>
              <a:rPr lang="ja-JP" altLang="en-US" sz="800" b="1" dirty="0">
                <a:solidFill>
                  <a:schemeClr val="bg1">
                    <a:lumMod val="85000"/>
                  </a:schemeClr>
                </a:solidFill>
                <a:latin typeface="メイリオ" panose="020B0604030504040204" pitchFamily="50" charset="-128"/>
                <a:ea typeface="メイリオ" panose="020B0604030504040204" pitchFamily="50" charset="-128"/>
                <a:cs typeface="メイリオ"/>
              </a:rPr>
              <a:t>ユーザーの個人情報収集が</a:t>
            </a:r>
            <a:endParaRPr lang="en-US" altLang="ja-JP" sz="800" b="1" dirty="0">
              <a:solidFill>
                <a:schemeClr val="bg1">
                  <a:lumMod val="85000"/>
                </a:schemeClr>
              </a:solidFill>
              <a:latin typeface="メイリオ" panose="020B0604030504040204" pitchFamily="50" charset="-128"/>
              <a:ea typeface="メイリオ" panose="020B0604030504040204" pitchFamily="50" charset="-128"/>
              <a:cs typeface="メイリオ"/>
            </a:endParaRPr>
          </a:p>
          <a:p>
            <a:pPr algn="ctr"/>
            <a:r>
              <a:rPr lang="ja-JP" altLang="en-US" sz="800" b="1" dirty="0">
                <a:solidFill>
                  <a:schemeClr val="bg1">
                    <a:lumMod val="85000"/>
                  </a:schemeClr>
                </a:solidFill>
                <a:latin typeface="メイリオ" panose="020B0604030504040204" pitchFamily="50" charset="-128"/>
                <a:ea typeface="メイリオ" panose="020B0604030504040204" pitchFamily="50" charset="-128"/>
                <a:cs typeface="メイリオ"/>
              </a:rPr>
              <a:t>完了したタイミング</a:t>
            </a:r>
            <a:endParaRPr kumimoji="1" lang="ja-JP" altLang="en-US" sz="800" b="1" dirty="0">
              <a:solidFill>
                <a:schemeClr val="bg1">
                  <a:lumMod val="85000"/>
                </a:schemeClr>
              </a:solidFill>
              <a:latin typeface="メイリオ" panose="020B0604030504040204" pitchFamily="50" charset="-128"/>
              <a:ea typeface="メイリオ" panose="020B0604030504040204" pitchFamily="50" charset="-128"/>
              <a:cs typeface="メイリオ"/>
            </a:endParaRPr>
          </a:p>
        </p:txBody>
      </p:sp>
      <p:grpSp>
        <p:nvGrpSpPr>
          <p:cNvPr id="3" name="グループ化 2">
            <a:extLst>
              <a:ext uri="{FF2B5EF4-FFF2-40B4-BE49-F238E27FC236}">
                <a16:creationId xmlns:a16="http://schemas.microsoft.com/office/drawing/2014/main" id="{E76D8F54-2926-2D56-7238-F66ACCBC4F20}"/>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サンクス</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LINE</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8247347" y="4702330"/>
            <a:ext cx="899499" cy="79959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7" name="コネクタ: カギ線 6">
            <a:extLst>
              <a:ext uri="{FF2B5EF4-FFF2-40B4-BE49-F238E27FC236}">
                <a16:creationId xmlns:a16="http://schemas.microsoft.com/office/drawing/2014/main" id="{C5EB654A-0759-70F8-6BA7-95CA3A0F983F}"/>
              </a:ext>
            </a:extLst>
          </p:cNvPr>
          <p:cNvCxnSpPr>
            <a:cxnSpLocks/>
          </p:cNvCxnSpPr>
          <p:nvPr/>
        </p:nvCxnSpPr>
        <p:spPr>
          <a:xfrm flipV="1">
            <a:off x="7672763" y="5102505"/>
            <a:ext cx="574585" cy="332494"/>
          </a:xfrm>
          <a:prstGeom prst="bentConnector3">
            <a:avLst>
              <a:gd name="adj1" fmla="val 50000"/>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218E3FE3-7B20-5966-421F-4ECB81603538}"/>
              </a:ext>
            </a:extLst>
          </p:cNvPr>
          <p:cNvCxnSpPr>
            <a:cxnSpLocks/>
            <a:stCxn id="48" idx="2"/>
            <a:endCxn id="21" idx="0"/>
          </p:cNvCxnSpPr>
          <p:nvPr/>
        </p:nvCxnSpPr>
        <p:spPr>
          <a:xfrm>
            <a:off x="6904149" y="3132263"/>
            <a:ext cx="1" cy="133462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DBDB9444-3A0E-B235-58FC-9F8C81BAEA44}"/>
              </a:ext>
            </a:extLst>
          </p:cNvPr>
          <p:cNvSpPr txBox="1"/>
          <p:nvPr/>
        </p:nvSpPr>
        <p:spPr>
          <a:xfrm>
            <a:off x="6323825" y="3523709"/>
            <a:ext cx="1161782" cy="261610"/>
          </a:xfrm>
          <a:prstGeom prst="rect">
            <a:avLst/>
          </a:prstGeom>
          <a:solidFill>
            <a:schemeClr val="bg1">
              <a:alpha val="70000"/>
            </a:schemeClr>
          </a:solidFill>
        </p:spPr>
        <p:txBody>
          <a:bodyPr wrap="square">
            <a:spAutoFit/>
          </a:bodyPr>
          <a:lstStyle/>
          <a:p>
            <a:pPr algn="ctr"/>
            <a:r>
              <a:rPr kumimoji="1" lang="ja-JP" altLang="en-US" sz="1100" b="1" dirty="0">
                <a:solidFill>
                  <a:srgbClr val="00C057"/>
                </a:solidFill>
                <a:latin typeface="メイリオ" panose="020B0604030504040204" pitchFamily="50" charset="-128"/>
                <a:ea typeface="メイリオ" panose="020B0604030504040204" pitchFamily="50" charset="-128"/>
                <a:cs typeface="メイリオ"/>
              </a:rPr>
              <a:t>友だち追加後</a:t>
            </a:r>
            <a:endParaRPr lang="ja-JP" altLang="en-US" sz="1100" dirty="0">
              <a:solidFill>
                <a:srgbClr val="00C057"/>
              </a:solidFill>
              <a:latin typeface="メイリオ"/>
              <a:ea typeface="メイリオ"/>
              <a:cs typeface="メイリオ"/>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ja-JP" altLang="en-US" sz="1600" dirty="0">
                <a:latin typeface="メイリオ"/>
                <a:ea typeface="メイリオ"/>
                <a:cs typeface="メイリオ"/>
                <a:sym typeface="Meiryo"/>
              </a:rPr>
              <a:t>サンクス到達時の</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動線が弊社開発により可能に。</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費用を抑えての導入が可能で、新規反響の質改善に寄与。</a:t>
            </a: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4091506" y="1549623"/>
            <a:ext cx="4718625"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メイリオ"/>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メイリオ"/>
                <a:sym typeface="Meiryo"/>
              </a:rPr>
              <a:t>既存</a:t>
            </a:r>
            <a:r>
              <a:rPr lang="en-US" altLang="ja-JP" sz="900" dirty="0">
                <a:solidFill>
                  <a:srgbClr val="FF0000"/>
                </a:solidFill>
                <a:latin typeface="メイリオ" panose="020B0604030504040204" pitchFamily="50" charset="-128"/>
                <a:ea typeface="メイリオ" panose="020B0604030504040204" pitchFamily="50" charset="-128"/>
                <a:cs typeface="メイリオ"/>
                <a:sym typeface="Meiryo"/>
              </a:rPr>
              <a:t>API</a:t>
            </a:r>
            <a:r>
              <a:rPr lang="ja-JP" altLang="en-US" sz="900" dirty="0">
                <a:solidFill>
                  <a:srgbClr val="FF0000"/>
                </a:solidFill>
                <a:latin typeface="メイリオ" panose="020B0604030504040204" pitchFamily="50" charset="-128"/>
                <a:ea typeface="メイリオ" panose="020B0604030504040204" pitchFamily="50" charset="-128"/>
                <a:cs typeface="メイリオ"/>
                <a:sym typeface="Meiryo"/>
              </a:rPr>
              <a:t>ツールとの併用についても、問題なく稼働が可能。</a:t>
            </a:r>
            <a:endParaRPr lang="ja-JP" altLang="en-US" sz="900" dirty="0">
              <a:solidFill>
                <a:srgbClr val="FF0000"/>
              </a:solidFill>
              <a:latin typeface="メイリオ"/>
              <a:ea typeface="メイリオ"/>
              <a:cs typeface="メイリオ"/>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26" name="Google Shape;51;p19">
            <a:extLst>
              <a:ext uri="{FF2B5EF4-FFF2-40B4-BE49-F238E27FC236}">
                <a16:creationId xmlns:a16="http://schemas.microsoft.com/office/drawing/2014/main" id="{A4070FDA-7C99-27DE-6A9C-437C1D5DD3B3}"/>
              </a:ext>
            </a:extLst>
          </p:cNvPr>
          <p:cNvSpPr/>
          <p:nvPr/>
        </p:nvSpPr>
        <p:spPr>
          <a:xfrm>
            <a:off x="543399" y="1321261"/>
            <a:ext cx="1510826" cy="485102"/>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初期：15万円</a:t>
            </a:r>
            <a:endParaRPr sz="1400" b="1" i="0" u="none" strike="noStrike" cap="none" dirty="0">
              <a:solidFill>
                <a:schemeClr val="lt1"/>
              </a:solidFill>
              <a:latin typeface="メイリオ"/>
              <a:ea typeface="メイリオ"/>
              <a:cs typeface="メイリオ"/>
              <a:sym typeface="Meiryo"/>
            </a:endParaRPr>
          </a:p>
        </p:txBody>
      </p:sp>
      <p:sp>
        <p:nvSpPr>
          <p:cNvPr id="28" name="Google Shape;51;p19">
            <a:extLst>
              <a:ext uri="{FF2B5EF4-FFF2-40B4-BE49-F238E27FC236}">
                <a16:creationId xmlns:a16="http://schemas.microsoft.com/office/drawing/2014/main" id="{40C4675F-5DCC-DD57-BE14-B3A7697A02CD}"/>
              </a:ext>
            </a:extLst>
          </p:cNvPr>
          <p:cNvSpPr/>
          <p:nvPr/>
        </p:nvSpPr>
        <p:spPr>
          <a:xfrm>
            <a:off x="2137897" y="1321261"/>
            <a:ext cx="1510826" cy="485102"/>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0000"/>
                </a:solidFill>
                <a:latin typeface="メイリオ"/>
                <a:ea typeface="メイリオ"/>
                <a:cs typeface="メイリオ"/>
                <a:sym typeface="Meiryo"/>
              </a:rPr>
              <a:t>+</a:t>
            </a:r>
            <a:r>
              <a:rPr lang="ja-JP" altLang="en-US" sz="1050" b="1" dirty="0">
                <a:solidFill>
                  <a:srgbClr val="FF0000"/>
                </a:solidFill>
                <a:latin typeface="メイリオ"/>
                <a:ea typeface="メイリオ"/>
                <a:cs typeface="メイリオ"/>
                <a:sym typeface="Meiryo"/>
              </a:rPr>
              <a:t>設定地点追加</a:t>
            </a:r>
            <a:endParaRPr sz="1050" b="1" i="0" u="none" strike="noStrike" cap="none" dirty="0">
              <a:solidFill>
                <a:srgbClr val="FF0000"/>
              </a:solidFill>
              <a:latin typeface="メイリオ"/>
              <a:ea typeface="メイリオ"/>
              <a:cs typeface="メイリオ"/>
              <a:sym typeface="Meiryo"/>
            </a:endParaRPr>
          </a:p>
        </p:txBody>
      </p:sp>
      <p:cxnSp>
        <p:nvCxnSpPr>
          <p:cNvPr id="30" name="コネクタ: カギ線 29">
            <a:extLst>
              <a:ext uri="{FF2B5EF4-FFF2-40B4-BE49-F238E27FC236}">
                <a16:creationId xmlns:a16="http://schemas.microsoft.com/office/drawing/2014/main" id="{D9706AF3-2C8D-6646-76C8-7802A4F734FC}"/>
              </a:ext>
            </a:extLst>
          </p:cNvPr>
          <p:cNvCxnSpPr>
            <a:cxnSpLocks/>
          </p:cNvCxnSpPr>
          <p:nvPr/>
        </p:nvCxnSpPr>
        <p:spPr>
          <a:xfrm rot="16200000" flipH="1">
            <a:off x="3294819" y="3047336"/>
            <a:ext cx="430977" cy="4596748"/>
          </a:xfrm>
          <a:prstGeom prst="bentConnector2">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97C92C6B-4F06-7ED3-0627-D0C168299913}"/>
              </a:ext>
            </a:extLst>
          </p:cNvPr>
          <p:cNvSpPr txBox="1"/>
          <p:nvPr/>
        </p:nvSpPr>
        <p:spPr>
          <a:xfrm>
            <a:off x="115187" y="5639542"/>
            <a:ext cx="5785781" cy="461665"/>
          </a:xfrm>
          <a:prstGeom prst="rect">
            <a:avLst/>
          </a:prstGeom>
          <a:solidFill>
            <a:schemeClr val="bg1">
              <a:alpha val="62000"/>
            </a:schemeClr>
          </a:solidFill>
        </p:spPr>
        <p:txBody>
          <a:bodyPr wrap="square">
            <a:spAutoFit/>
          </a:bodyPr>
          <a:lstStyle/>
          <a:p>
            <a:pPr algn="ctr"/>
            <a:r>
              <a:rPr lang="ja-JP" altLang="ja-JP" sz="1200" dirty="0">
                <a:latin typeface="メイリオ" panose="020B0604030504040204" pitchFamily="50" charset="-128"/>
                <a:ea typeface="メイリオ" panose="020B0604030504040204" pitchFamily="50" charset="-128"/>
                <a:cs typeface="メイリオ"/>
              </a:rPr>
              <a:t>高開封率のLINEに誘導</a:t>
            </a:r>
            <a:r>
              <a:rPr lang="ja-JP" altLang="en-US" sz="1200" dirty="0">
                <a:latin typeface="メイリオ" panose="020B0604030504040204" pitchFamily="50" charset="-128"/>
                <a:ea typeface="メイリオ" panose="020B0604030504040204" pitchFamily="50" charset="-128"/>
                <a:cs typeface="メイリオ"/>
              </a:rPr>
              <a:t>して</a:t>
            </a:r>
            <a:r>
              <a:rPr lang="ja-JP" altLang="ja-JP" sz="1200" dirty="0">
                <a:latin typeface="メイリオ" panose="020B0604030504040204" pitchFamily="50" charset="-128"/>
                <a:ea typeface="メイリオ" panose="020B0604030504040204" pitchFamily="50" charset="-128"/>
                <a:cs typeface="メイリオ"/>
              </a:rPr>
              <a:t>反響→実売上への引上げ率、リピート率改善。</a:t>
            </a:r>
            <a:endParaRPr lang="en-US" altLang="ja-JP" sz="1200" dirty="0">
              <a:latin typeface="メイリオ" panose="020B0604030504040204" pitchFamily="50" charset="-128"/>
              <a:ea typeface="メイリオ" panose="020B0604030504040204" pitchFamily="50" charset="-128"/>
              <a:cs typeface="メイリオ"/>
            </a:endParaRPr>
          </a:p>
          <a:p>
            <a:pPr algn="ctr"/>
            <a:r>
              <a:rPr lang="ja-JP" altLang="ja-JP" sz="1200" dirty="0">
                <a:latin typeface="メイリオ" panose="020B0604030504040204" pitchFamily="50" charset="-128"/>
                <a:ea typeface="メイリオ" panose="020B0604030504040204" pitchFamily="50" charset="-128"/>
                <a:cs typeface="メイリオ"/>
              </a:rPr>
              <a:t> </a:t>
            </a:r>
            <a:r>
              <a:rPr lang="ja-JP" altLang="ja-JP" sz="1200" b="1" dirty="0">
                <a:solidFill>
                  <a:srgbClr val="FF0000"/>
                </a:solidFill>
                <a:latin typeface="メイリオ" panose="020B0604030504040204" pitchFamily="50" charset="-128"/>
                <a:ea typeface="メイリオ" panose="020B0604030504040204" pitchFamily="50" charset="-128"/>
                <a:cs typeface="メイリオ"/>
              </a:rPr>
              <a:t>弊社運用の美容クリニック様では、予約後来院率にて40-50%程度の改善を実現</a:t>
            </a:r>
            <a:r>
              <a:rPr lang="ja-JP" altLang="ja-JP" sz="1200" dirty="0">
                <a:latin typeface="メイリオ" panose="020B0604030504040204" pitchFamily="50" charset="-128"/>
                <a:ea typeface="メイリオ" panose="020B0604030504040204" pitchFamily="50" charset="-128"/>
                <a:cs typeface="メイリオ"/>
              </a:rPr>
              <a:t>。</a:t>
            </a:r>
            <a:endParaRPr lang="ja-JP" altLang="en-US" sz="12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4252182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C6895-896B-9E00-CCE0-8FD2C532CBF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57325C46-C913-158A-F4D5-062E1EE9DA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（サンクス</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LINE</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誘導）</a:t>
            </a:r>
          </a:p>
        </p:txBody>
      </p:sp>
      <p:sp>
        <p:nvSpPr>
          <p:cNvPr id="11" name="正方形/長方形 10">
            <a:extLst>
              <a:ext uri="{FF2B5EF4-FFF2-40B4-BE49-F238E27FC236}">
                <a16:creationId xmlns:a16="http://schemas.microsoft.com/office/drawing/2014/main" id="{3E47B791-F689-043A-D742-58F518AFE49A}"/>
              </a:ext>
            </a:extLst>
          </p:cNvPr>
          <p:cNvSpPr/>
          <p:nvPr/>
        </p:nvSpPr>
        <p:spPr>
          <a:xfrm>
            <a:off x="543399" y="1938056"/>
            <a:ext cx="4649626"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1"/>
                </a:solidFill>
                <a:latin typeface="メイリオ" panose="020B0604030504040204" pitchFamily="50" charset="-128"/>
                <a:ea typeface="メイリオ" panose="020B0604030504040204" pitchFamily="50" charset="-128"/>
                <a:cs typeface="メイリオ"/>
              </a:rPr>
              <a:t>WEB</a:t>
            </a: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サイト</a:t>
            </a:r>
          </a:p>
        </p:txBody>
      </p:sp>
      <p:sp>
        <p:nvSpPr>
          <p:cNvPr id="1026" name="テキスト ボックス 1025">
            <a:extLst>
              <a:ext uri="{FF2B5EF4-FFF2-40B4-BE49-F238E27FC236}">
                <a16:creationId xmlns:a16="http://schemas.microsoft.com/office/drawing/2014/main" id="{CC180508-A6F5-4077-668A-348F7DF4F354}"/>
              </a:ext>
            </a:extLst>
          </p:cNvPr>
          <p:cNvSpPr txBox="1"/>
          <p:nvPr/>
        </p:nvSpPr>
        <p:spPr>
          <a:xfrm>
            <a:off x="4893555" y="3926711"/>
            <a:ext cx="3405553" cy="400110"/>
          </a:xfrm>
          <a:prstGeom prst="rect">
            <a:avLst/>
          </a:prstGeom>
          <a:noFill/>
        </p:spPr>
        <p:txBody>
          <a:bodyPr wrap="square">
            <a:spAutoFit/>
          </a:bodyPr>
          <a:lstStyle/>
          <a:p>
            <a:pPr algn="ctr"/>
            <a:r>
              <a:rPr lang="en-US" altLang="ja-JP" sz="1000" b="1" dirty="0">
                <a:solidFill>
                  <a:srgbClr val="FF0000"/>
                </a:solidFill>
                <a:latin typeface="メイリオ" panose="020B0604030504040204" pitchFamily="50" charset="-128"/>
                <a:ea typeface="メイリオ" panose="020B0604030504040204" pitchFamily="50" charset="-128"/>
                <a:cs typeface="メイリオ"/>
              </a:rPr>
              <a:t>※</a:t>
            </a:r>
            <a:r>
              <a:rPr lang="ja-JP" altLang="en-US" sz="1000" b="1" dirty="0">
                <a:solidFill>
                  <a:srgbClr val="FF0000"/>
                </a:solidFill>
                <a:latin typeface="メイリオ" panose="020B0604030504040204" pitchFamily="50" charset="-128"/>
                <a:ea typeface="メイリオ" panose="020B0604030504040204" pitchFamily="50" charset="-128"/>
                <a:cs typeface="メイリオ"/>
              </a:rPr>
              <a:t>入力した内容を</a:t>
            </a:r>
            <a:endParaRPr lang="en-US" altLang="ja-JP" sz="1000" b="1" dirty="0">
              <a:solidFill>
                <a:srgbClr val="FF0000"/>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rgbClr val="FF0000"/>
                </a:solidFill>
                <a:latin typeface="メイリオ" panose="020B0604030504040204" pitchFamily="50" charset="-128"/>
                <a:ea typeface="メイリオ" panose="020B0604030504040204" pitchFamily="50" charset="-128"/>
                <a:cs typeface="メイリオ"/>
              </a:rPr>
              <a:t>トークに反映が可能。</a:t>
            </a:r>
            <a:endParaRPr lang="en-US" altLang="ja-JP" sz="1000" b="1" dirty="0">
              <a:solidFill>
                <a:srgbClr val="FF0000"/>
              </a:solidFill>
              <a:latin typeface="メイリオ" panose="020B0604030504040204" pitchFamily="50" charset="-128"/>
              <a:ea typeface="メイリオ" panose="020B0604030504040204" pitchFamily="50" charset="-128"/>
              <a:cs typeface="メイリオ"/>
            </a:endParaRPr>
          </a:p>
        </p:txBody>
      </p:sp>
      <p:grpSp>
        <p:nvGrpSpPr>
          <p:cNvPr id="3" name="グループ化 2">
            <a:extLst>
              <a:ext uri="{FF2B5EF4-FFF2-40B4-BE49-F238E27FC236}">
                <a16:creationId xmlns:a16="http://schemas.microsoft.com/office/drawing/2014/main" id="{99AB0048-465B-06EC-2698-828FB68C7B90}"/>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93586BF1-F8BC-5452-51F7-4513DF4B3FE3}"/>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F3E849F1-4DB7-C5D3-786D-0D1AECEAE009}"/>
                </a:ext>
              </a:extLst>
            </p:cNvPr>
            <p:cNvSpPr txBox="1"/>
            <p:nvPr/>
          </p:nvSpPr>
          <p:spPr>
            <a:xfrm>
              <a:off x="1140096" y="988192"/>
              <a:ext cx="1832553"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サンクス</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LINE</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誘導</a:t>
              </a:r>
            </a:p>
          </p:txBody>
        </p:sp>
      </p:grpSp>
      <p:sp>
        <p:nvSpPr>
          <p:cNvPr id="9" name="正方形/長方形 8">
            <a:extLst>
              <a:ext uri="{FF2B5EF4-FFF2-40B4-BE49-F238E27FC236}">
                <a16:creationId xmlns:a16="http://schemas.microsoft.com/office/drawing/2014/main" id="{59EFBEFD-6BC5-E2FD-1966-9BF5B3ACA1E2}"/>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ja-JP" altLang="en-US" sz="1600" dirty="0">
                <a:latin typeface="メイリオ"/>
                <a:ea typeface="メイリオ"/>
                <a:cs typeface="メイリオ"/>
                <a:sym typeface="Meiryo"/>
              </a:rPr>
              <a:t>サンクス到達時の</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動線が弊社開発により可能に。</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費用を抑えての導入が可能で、新規反響の質改善に寄与。</a:t>
            </a:r>
          </a:p>
        </p:txBody>
      </p:sp>
      <p:sp>
        <p:nvSpPr>
          <p:cNvPr id="14" name="テキスト ボックス 13">
            <a:extLst>
              <a:ext uri="{FF2B5EF4-FFF2-40B4-BE49-F238E27FC236}">
                <a16:creationId xmlns:a16="http://schemas.microsoft.com/office/drawing/2014/main" id="{56453884-60B1-5704-5C42-5665A429B1D1}"/>
              </a:ext>
            </a:extLst>
          </p:cNvPr>
          <p:cNvSpPr txBox="1"/>
          <p:nvPr/>
        </p:nvSpPr>
        <p:spPr>
          <a:xfrm>
            <a:off x="4091506" y="1549623"/>
            <a:ext cx="4718625"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メイリオ"/>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メイリオ"/>
                <a:sym typeface="Meiryo"/>
              </a:rPr>
              <a:t>既存</a:t>
            </a:r>
            <a:r>
              <a:rPr lang="en-US" altLang="ja-JP" sz="900" dirty="0">
                <a:solidFill>
                  <a:srgbClr val="FF0000"/>
                </a:solidFill>
                <a:latin typeface="メイリオ" panose="020B0604030504040204" pitchFamily="50" charset="-128"/>
                <a:ea typeface="メイリオ" panose="020B0604030504040204" pitchFamily="50" charset="-128"/>
                <a:cs typeface="メイリオ"/>
                <a:sym typeface="Meiryo"/>
              </a:rPr>
              <a:t>API</a:t>
            </a:r>
            <a:r>
              <a:rPr lang="ja-JP" altLang="en-US" sz="900" dirty="0">
                <a:solidFill>
                  <a:srgbClr val="FF0000"/>
                </a:solidFill>
                <a:latin typeface="メイリオ" panose="020B0604030504040204" pitchFamily="50" charset="-128"/>
                <a:ea typeface="メイリオ" panose="020B0604030504040204" pitchFamily="50" charset="-128"/>
                <a:cs typeface="メイリオ"/>
                <a:sym typeface="Meiryo"/>
              </a:rPr>
              <a:t>ツールとの併用についても、問題なく稼働が可能。</a:t>
            </a:r>
            <a:endParaRPr lang="ja-JP" altLang="en-US" sz="900" dirty="0">
              <a:solidFill>
                <a:srgbClr val="FF0000"/>
              </a:solidFill>
              <a:latin typeface="メイリオ"/>
              <a:ea typeface="メイリオ"/>
              <a:cs typeface="メイリオ"/>
            </a:endParaRPr>
          </a:p>
        </p:txBody>
      </p:sp>
      <p:sp>
        <p:nvSpPr>
          <p:cNvPr id="8" name="正方形/長方形 7">
            <a:extLst>
              <a:ext uri="{FF2B5EF4-FFF2-40B4-BE49-F238E27FC236}">
                <a16:creationId xmlns:a16="http://schemas.microsoft.com/office/drawing/2014/main" id="{5F399775-D053-4999-7BF8-10B94CF4C6FE}"/>
              </a:ext>
            </a:extLst>
          </p:cNvPr>
          <p:cNvSpPr/>
          <p:nvPr/>
        </p:nvSpPr>
        <p:spPr>
          <a:xfrm>
            <a:off x="5341545" y="1938056"/>
            <a:ext cx="4216009"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26" name="Google Shape;51;p19">
            <a:extLst>
              <a:ext uri="{FF2B5EF4-FFF2-40B4-BE49-F238E27FC236}">
                <a16:creationId xmlns:a16="http://schemas.microsoft.com/office/drawing/2014/main" id="{A8144D94-F2AB-9C06-BFEE-A0ACB1715302}"/>
              </a:ext>
            </a:extLst>
          </p:cNvPr>
          <p:cNvSpPr/>
          <p:nvPr/>
        </p:nvSpPr>
        <p:spPr>
          <a:xfrm>
            <a:off x="543399" y="1321261"/>
            <a:ext cx="1510826" cy="485102"/>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初期：15万円</a:t>
            </a:r>
            <a:endParaRPr sz="1400" b="1" i="0" u="none" strike="noStrike" cap="none" dirty="0">
              <a:solidFill>
                <a:schemeClr val="lt1"/>
              </a:solidFill>
              <a:latin typeface="メイリオ"/>
              <a:ea typeface="メイリオ"/>
              <a:cs typeface="メイリオ"/>
              <a:sym typeface="Meiryo"/>
            </a:endParaRPr>
          </a:p>
        </p:txBody>
      </p:sp>
      <p:sp>
        <p:nvSpPr>
          <p:cNvPr id="28" name="Google Shape;51;p19">
            <a:extLst>
              <a:ext uri="{FF2B5EF4-FFF2-40B4-BE49-F238E27FC236}">
                <a16:creationId xmlns:a16="http://schemas.microsoft.com/office/drawing/2014/main" id="{DEF16EFC-3EF0-A11F-C5A2-CCD96FC766C5}"/>
              </a:ext>
            </a:extLst>
          </p:cNvPr>
          <p:cNvSpPr/>
          <p:nvPr/>
        </p:nvSpPr>
        <p:spPr>
          <a:xfrm>
            <a:off x="2137897" y="1321261"/>
            <a:ext cx="1510826" cy="485102"/>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0000"/>
                </a:solidFill>
                <a:latin typeface="メイリオ"/>
                <a:ea typeface="メイリオ"/>
                <a:cs typeface="メイリオ"/>
                <a:sym typeface="Meiryo"/>
              </a:rPr>
              <a:t>+</a:t>
            </a:r>
            <a:r>
              <a:rPr lang="ja-JP" altLang="en-US" sz="1050" b="1" dirty="0">
                <a:solidFill>
                  <a:srgbClr val="FF0000"/>
                </a:solidFill>
                <a:latin typeface="メイリオ"/>
                <a:ea typeface="メイリオ"/>
                <a:cs typeface="メイリオ"/>
                <a:sym typeface="Meiryo"/>
              </a:rPr>
              <a:t>設定地点追加</a:t>
            </a:r>
            <a:endParaRPr sz="1050" b="1" i="0" u="none" strike="noStrike" cap="none" dirty="0">
              <a:solidFill>
                <a:srgbClr val="FF0000"/>
              </a:solidFill>
              <a:latin typeface="メイリオ"/>
              <a:ea typeface="メイリオ"/>
              <a:cs typeface="メイリオ"/>
              <a:sym typeface="Meiryo"/>
            </a:endParaRPr>
          </a:p>
        </p:txBody>
      </p:sp>
      <p:sp>
        <p:nvSpPr>
          <p:cNvPr id="31" name="正方形/長方形 30">
            <a:extLst>
              <a:ext uri="{FF2B5EF4-FFF2-40B4-BE49-F238E27FC236}">
                <a16:creationId xmlns:a16="http://schemas.microsoft.com/office/drawing/2014/main" id="{10BD4226-0F03-4184-B60F-A4B0D5C2A14C}"/>
              </a:ext>
            </a:extLst>
          </p:cNvPr>
          <p:cNvSpPr/>
          <p:nvPr/>
        </p:nvSpPr>
        <p:spPr>
          <a:xfrm>
            <a:off x="5500863" y="2551780"/>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2" name="正方形/長方形 31">
            <a:extLst>
              <a:ext uri="{FF2B5EF4-FFF2-40B4-BE49-F238E27FC236}">
                <a16:creationId xmlns:a16="http://schemas.microsoft.com/office/drawing/2014/main" id="{18EBDCF6-438E-D689-6C13-7FD918CCDF3C}"/>
              </a:ext>
            </a:extLst>
          </p:cNvPr>
          <p:cNvSpPr/>
          <p:nvPr/>
        </p:nvSpPr>
        <p:spPr>
          <a:xfrm>
            <a:off x="5666814" y="2429705"/>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cs typeface="メイリオ"/>
              </a:rPr>
              <a:t>既存の</a:t>
            </a:r>
            <a:r>
              <a:rPr lang="en-US" altLang="ja-JP" sz="110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b="1" dirty="0">
                <a:solidFill>
                  <a:schemeClr val="tx1"/>
                </a:solidFill>
                <a:latin typeface="メイリオ" panose="020B0604030504040204" pitchFamily="50" charset="-128"/>
                <a:ea typeface="メイリオ" panose="020B0604030504040204" pitchFamily="50" charset="-128"/>
                <a:cs typeface="メイリオ"/>
              </a:rPr>
              <a:t>友だちの場合</a:t>
            </a:r>
          </a:p>
        </p:txBody>
      </p:sp>
      <p:pic>
        <p:nvPicPr>
          <p:cNvPr id="33" name="図 32" descr="電卓の写真のスマートフォンのスクリーンショット&#10;&#10;AI 生成コンテンツは誤りを含む可能性があります。">
            <a:extLst>
              <a:ext uri="{FF2B5EF4-FFF2-40B4-BE49-F238E27FC236}">
                <a16:creationId xmlns:a16="http://schemas.microsoft.com/office/drawing/2014/main" id="{252A850A-DE67-1AAB-8E3B-575386215750}"/>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691800" y="2287863"/>
            <a:ext cx="1231081" cy="2085098"/>
          </a:xfrm>
          <a:prstGeom prst="rect">
            <a:avLst/>
          </a:prstGeom>
        </p:spPr>
      </p:pic>
      <p:sp>
        <p:nvSpPr>
          <p:cNvPr id="39" name="テキスト ボックス 38">
            <a:extLst>
              <a:ext uri="{FF2B5EF4-FFF2-40B4-BE49-F238E27FC236}">
                <a16:creationId xmlns:a16="http://schemas.microsoft.com/office/drawing/2014/main" id="{11A21BC1-BB4B-B5CB-0B1B-B0AEC0F6766A}"/>
              </a:ext>
            </a:extLst>
          </p:cNvPr>
          <p:cNvSpPr txBox="1"/>
          <p:nvPr/>
        </p:nvSpPr>
        <p:spPr>
          <a:xfrm>
            <a:off x="5664087" y="2877091"/>
            <a:ext cx="1859035" cy="1046440"/>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cs typeface="メイリオ"/>
              </a:rPr>
              <a:t>公式アカウントの</a:t>
            </a:r>
            <a:r>
              <a:rPr lang="ja-JP" altLang="en-US" sz="1100" b="1" dirty="0">
                <a:latin typeface="メイリオ" panose="020B0604030504040204" pitchFamily="50" charset="-128"/>
                <a:ea typeface="メイリオ" panose="020B0604030504040204" pitchFamily="50" charset="-128"/>
                <a:cs typeface="メイリオ"/>
              </a:rPr>
              <a:t>トーク</a:t>
            </a:r>
            <a:endParaRPr lang="en-US" altLang="ja-JP" sz="1100" b="1" dirty="0">
              <a:latin typeface="メイリオ" panose="020B0604030504040204" pitchFamily="50" charset="-128"/>
              <a:ea typeface="メイリオ" panose="020B0604030504040204" pitchFamily="50" charset="-128"/>
              <a:cs typeface="メイリオ"/>
            </a:endParaRPr>
          </a:p>
          <a:p>
            <a:r>
              <a:rPr lang="ja-JP" altLang="en-US" sz="1100" b="1" dirty="0">
                <a:latin typeface="メイリオ" panose="020B0604030504040204" pitchFamily="50" charset="-128"/>
                <a:ea typeface="メイリオ" panose="020B0604030504040204" pitchFamily="50" charset="-128"/>
                <a:cs typeface="メイリオ"/>
              </a:rPr>
              <a:t>画面</a:t>
            </a:r>
            <a:r>
              <a:rPr lang="ja-JP" altLang="en-US" sz="1100" dirty="0">
                <a:latin typeface="メイリオ" panose="020B0604030504040204" pitchFamily="50" charset="-128"/>
                <a:ea typeface="メイリオ" panose="020B0604030504040204" pitchFamily="50" charset="-128"/>
                <a:cs typeface="メイリオ"/>
              </a:rPr>
              <a:t>へ遷移する。</a:t>
            </a:r>
            <a:endParaRPr lang="en-US" altLang="ja-JP" sz="1100" dirty="0">
              <a:latin typeface="メイリオ" panose="020B0604030504040204" pitchFamily="50" charset="-128"/>
              <a:ea typeface="メイリオ" panose="020B0604030504040204" pitchFamily="50" charset="-128"/>
              <a:cs typeface="メイリオ"/>
            </a:endParaRPr>
          </a:p>
          <a:p>
            <a:r>
              <a:rPr kumimoji="1" lang="en-US" altLang="ja-JP" sz="1000" dirty="0">
                <a:solidFill>
                  <a:srgbClr val="FF0000"/>
                </a:solidFill>
                <a:latin typeface="メイリオ" panose="020B0604030504040204" pitchFamily="50" charset="-128"/>
                <a:ea typeface="メイリオ" panose="020B0604030504040204" pitchFamily="50" charset="-128"/>
                <a:cs typeface="メイリオ"/>
              </a:rPr>
              <a:t>※</a:t>
            </a:r>
            <a:r>
              <a:rPr kumimoji="1" lang="ja-JP" altLang="en-US" sz="1000" dirty="0">
                <a:solidFill>
                  <a:srgbClr val="FF0000"/>
                </a:solidFill>
                <a:latin typeface="メイリオ" panose="020B0604030504040204" pitchFamily="50" charset="-128"/>
                <a:ea typeface="メイリオ" panose="020B0604030504040204" pitchFamily="50" charset="-128"/>
                <a:cs typeface="メイリオ"/>
              </a:rPr>
              <a:t>設定によりフォーム入力</a:t>
            </a:r>
            <a:endParaRPr kumimoji="1" lang="en-US" altLang="ja-JP" sz="1000" dirty="0">
              <a:solidFill>
                <a:srgbClr val="FF0000"/>
              </a:solidFill>
              <a:latin typeface="メイリオ" panose="020B0604030504040204" pitchFamily="50" charset="-128"/>
              <a:ea typeface="メイリオ" panose="020B0604030504040204" pitchFamily="50" charset="-128"/>
              <a:cs typeface="メイリオ"/>
            </a:endParaRPr>
          </a:p>
          <a:p>
            <a:r>
              <a:rPr lang="ja-JP" altLang="en-US" sz="1000" dirty="0">
                <a:solidFill>
                  <a:srgbClr val="FF0000"/>
                </a:solidFill>
                <a:latin typeface="メイリオ" panose="020B0604030504040204" pitchFamily="50" charset="-128"/>
                <a:ea typeface="メイリオ" panose="020B0604030504040204" pitchFamily="50" charset="-128"/>
                <a:cs typeface="メイリオ"/>
              </a:rPr>
              <a:t>　内容を踏襲した入力画面</a:t>
            </a:r>
            <a:endParaRPr lang="en-US" altLang="ja-JP" sz="1000" dirty="0">
              <a:solidFill>
                <a:srgbClr val="FF0000"/>
              </a:solidFill>
              <a:latin typeface="メイリオ" panose="020B0604030504040204" pitchFamily="50" charset="-128"/>
              <a:ea typeface="メイリオ" panose="020B0604030504040204" pitchFamily="50" charset="-128"/>
              <a:cs typeface="メイリオ"/>
            </a:endParaRPr>
          </a:p>
          <a:p>
            <a:r>
              <a:rPr kumimoji="1" lang="ja-JP" altLang="en-US" sz="1000" dirty="0">
                <a:solidFill>
                  <a:srgbClr val="FF0000"/>
                </a:solidFill>
                <a:latin typeface="メイリオ" panose="020B0604030504040204" pitchFamily="50" charset="-128"/>
                <a:ea typeface="メイリオ" panose="020B0604030504040204" pitchFamily="50" charset="-128"/>
                <a:cs typeface="メイリオ"/>
              </a:rPr>
              <a:t>　を表示させることが可能。</a:t>
            </a:r>
            <a:endParaRPr kumimoji="1" lang="en-US" altLang="ja-JP" sz="1000" dirty="0">
              <a:solidFill>
                <a:srgbClr val="FF0000"/>
              </a:solidFill>
              <a:latin typeface="メイリオ" panose="020B0604030504040204" pitchFamily="50" charset="-128"/>
              <a:ea typeface="メイリオ" panose="020B0604030504040204" pitchFamily="50" charset="-128"/>
              <a:cs typeface="メイリオ"/>
            </a:endParaRPr>
          </a:p>
          <a:p>
            <a:endParaRPr lang="en-US" altLang="ja-JP" sz="1000" dirty="0">
              <a:solidFill>
                <a:srgbClr val="FF0000"/>
              </a:solidFill>
              <a:latin typeface="メイリオ" panose="020B0604030504040204" pitchFamily="50" charset="-128"/>
              <a:ea typeface="メイリオ" panose="020B0604030504040204" pitchFamily="50" charset="-128"/>
              <a:cs typeface="メイリオ"/>
            </a:endParaRPr>
          </a:p>
        </p:txBody>
      </p:sp>
      <p:pic>
        <p:nvPicPr>
          <p:cNvPr id="43" name="図 42">
            <a:extLst>
              <a:ext uri="{FF2B5EF4-FFF2-40B4-BE49-F238E27FC236}">
                <a16:creationId xmlns:a16="http://schemas.microsoft.com/office/drawing/2014/main" id="{5042697E-BCAB-283D-289B-8059CFFDE88F}"/>
              </a:ext>
            </a:extLst>
          </p:cNvPr>
          <p:cNvPicPr>
            <a:picLocks noChangeAspect="1"/>
          </p:cNvPicPr>
          <p:nvPr/>
        </p:nvPicPr>
        <p:blipFill>
          <a:blip r:embed="rId3"/>
          <a:stretch>
            <a:fillRect/>
          </a:stretch>
        </p:blipFill>
        <p:spPr>
          <a:xfrm>
            <a:off x="8088101" y="2284958"/>
            <a:ext cx="334412" cy="74315"/>
          </a:xfrm>
          <a:prstGeom prst="rect">
            <a:avLst/>
          </a:prstGeom>
        </p:spPr>
      </p:pic>
      <p:pic>
        <p:nvPicPr>
          <p:cNvPr id="44" name="図 43">
            <a:extLst>
              <a:ext uri="{FF2B5EF4-FFF2-40B4-BE49-F238E27FC236}">
                <a16:creationId xmlns:a16="http://schemas.microsoft.com/office/drawing/2014/main" id="{592C073E-FA0A-DF63-E2EF-2D654055CD06}"/>
              </a:ext>
            </a:extLst>
          </p:cNvPr>
          <p:cNvPicPr>
            <a:picLocks noChangeAspect="1"/>
          </p:cNvPicPr>
          <p:nvPr/>
        </p:nvPicPr>
        <p:blipFill>
          <a:blip r:embed="rId3"/>
          <a:stretch>
            <a:fillRect/>
          </a:stretch>
        </p:blipFill>
        <p:spPr>
          <a:xfrm>
            <a:off x="8240501" y="2437358"/>
            <a:ext cx="334412" cy="74315"/>
          </a:xfrm>
          <a:prstGeom prst="rect">
            <a:avLst/>
          </a:prstGeom>
        </p:spPr>
      </p:pic>
      <p:sp>
        <p:nvSpPr>
          <p:cNvPr id="51" name="正方形/長方形 50">
            <a:extLst>
              <a:ext uri="{FF2B5EF4-FFF2-40B4-BE49-F238E27FC236}">
                <a16:creationId xmlns:a16="http://schemas.microsoft.com/office/drawing/2014/main" id="{988A63FC-B094-5D0A-91B3-925316D9D3BD}"/>
              </a:ext>
            </a:extLst>
          </p:cNvPr>
          <p:cNvSpPr/>
          <p:nvPr/>
        </p:nvSpPr>
        <p:spPr>
          <a:xfrm>
            <a:off x="7939529" y="2665147"/>
            <a:ext cx="899499" cy="79959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52" name="コネクタ: カギ線 51">
            <a:extLst>
              <a:ext uri="{FF2B5EF4-FFF2-40B4-BE49-F238E27FC236}">
                <a16:creationId xmlns:a16="http://schemas.microsoft.com/office/drawing/2014/main" id="{8357B78E-00F3-6A09-133E-FA44D96E056A}"/>
              </a:ext>
            </a:extLst>
          </p:cNvPr>
          <p:cNvCxnSpPr>
            <a:cxnSpLocks/>
          </p:cNvCxnSpPr>
          <p:nvPr/>
        </p:nvCxnSpPr>
        <p:spPr>
          <a:xfrm flipV="1">
            <a:off x="7364945" y="3065322"/>
            <a:ext cx="574585" cy="332494"/>
          </a:xfrm>
          <a:prstGeom prst="bentConnector3">
            <a:avLst>
              <a:gd name="adj1" fmla="val 50000"/>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0" name="テキスト ボックス 59">
            <a:extLst>
              <a:ext uri="{FF2B5EF4-FFF2-40B4-BE49-F238E27FC236}">
                <a16:creationId xmlns:a16="http://schemas.microsoft.com/office/drawing/2014/main" id="{B3F147E1-85AD-880C-67E9-D8D7B09A8DA1}"/>
              </a:ext>
            </a:extLst>
          </p:cNvPr>
          <p:cNvSpPr txBox="1"/>
          <p:nvPr/>
        </p:nvSpPr>
        <p:spPr>
          <a:xfrm>
            <a:off x="5530932" y="4525127"/>
            <a:ext cx="3730896" cy="1269917"/>
          </a:xfrm>
          <a:prstGeom prst="rect">
            <a:avLst/>
          </a:prstGeom>
          <a:solidFill>
            <a:srgbClr val="FFFF00"/>
          </a:solidFill>
        </p:spPr>
        <p:txBody>
          <a:bodyPr wrap="square" anchor="ctr">
            <a:spAutoFit/>
          </a:bodyPr>
          <a:lstStyle/>
          <a:p>
            <a:pPr algn="ctr"/>
            <a:r>
              <a:rPr lang="ja-JP" altLang="en-US" sz="1400" b="1" dirty="0">
                <a:latin typeface="メイリオ" panose="020B0604030504040204" pitchFamily="50" charset="-128"/>
                <a:ea typeface="メイリオ" panose="020B0604030504040204" pitchFamily="50" charset="-128"/>
                <a:cs typeface="メイリオ"/>
              </a:rPr>
              <a:t>非友だち　：　友だち追加</a:t>
            </a:r>
            <a:r>
              <a:rPr lang="en-US" altLang="ja-JP" sz="1400" b="1" dirty="0">
                <a:latin typeface="メイリオ" panose="020B0604030504040204" pitchFamily="50" charset="-128"/>
                <a:ea typeface="メイリオ" panose="020B0604030504040204" pitchFamily="50" charset="-128"/>
                <a:cs typeface="メイリオ"/>
              </a:rPr>
              <a:t>CTA</a:t>
            </a:r>
          </a:p>
          <a:p>
            <a:pPr algn="ctr"/>
            <a:r>
              <a:rPr lang="ja-JP" altLang="en-US" sz="1400" b="1" dirty="0">
                <a:latin typeface="メイリオ" panose="020B0604030504040204" pitchFamily="50" charset="-128"/>
                <a:ea typeface="メイリオ" panose="020B0604030504040204" pitchFamily="50" charset="-128"/>
                <a:cs typeface="メイリオ"/>
              </a:rPr>
              <a:t>友だち　：　入力項目</a:t>
            </a:r>
            <a:endParaRPr lang="en-US" altLang="ja-JP" sz="1400" b="1" dirty="0">
              <a:latin typeface="メイリオ" panose="020B0604030504040204" pitchFamily="50" charset="-128"/>
              <a:ea typeface="メイリオ" panose="020B0604030504040204" pitchFamily="50" charset="-128"/>
              <a:cs typeface="メイリオ"/>
            </a:endParaRPr>
          </a:p>
          <a:p>
            <a:pPr algn="ctr"/>
            <a:r>
              <a:rPr lang="ja-JP" altLang="en-US" sz="1400" b="1" dirty="0">
                <a:latin typeface="メイリオ" panose="020B0604030504040204" pitchFamily="50" charset="-128"/>
                <a:ea typeface="メイリオ" panose="020B0604030504040204" pitchFamily="50" charset="-128"/>
                <a:cs typeface="メイリオ"/>
              </a:rPr>
              <a:t>↓</a:t>
            </a:r>
            <a:endParaRPr lang="en-US" altLang="ja-JP" sz="1400" b="1" dirty="0">
              <a:latin typeface="メイリオ" panose="020B0604030504040204" pitchFamily="50" charset="-128"/>
              <a:ea typeface="メイリオ" panose="020B0604030504040204" pitchFamily="50" charset="-128"/>
              <a:cs typeface="メイリオ"/>
            </a:endParaRPr>
          </a:p>
          <a:p>
            <a:pPr algn="ctr"/>
            <a:r>
              <a:rPr kumimoji="1" lang="ja-JP" altLang="en-US" sz="1400" b="1" dirty="0">
                <a:solidFill>
                  <a:srgbClr val="FF0000"/>
                </a:solidFill>
                <a:latin typeface="メイリオ" panose="020B0604030504040204" pitchFamily="50" charset="-128"/>
                <a:ea typeface="メイリオ" panose="020B0604030504040204" pitchFamily="50" charset="-128"/>
                <a:cs typeface="メイリオ"/>
              </a:rPr>
              <a:t>配信セグメントとして活用</a:t>
            </a:r>
            <a:endParaRPr kumimoji="1" lang="en-US" altLang="ja-JP" sz="1400" b="1" dirty="0">
              <a:solidFill>
                <a:srgbClr val="FF0000"/>
              </a:solidFill>
              <a:latin typeface="メイリオ" panose="020B0604030504040204" pitchFamily="50" charset="-128"/>
              <a:ea typeface="メイリオ" panose="020B0604030504040204" pitchFamily="50" charset="-128"/>
              <a:cs typeface="メイリオ"/>
            </a:endParaRPr>
          </a:p>
        </p:txBody>
      </p:sp>
      <p:sp>
        <p:nvSpPr>
          <p:cNvPr id="62" name="正方形/長方形 61">
            <a:extLst>
              <a:ext uri="{FF2B5EF4-FFF2-40B4-BE49-F238E27FC236}">
                <a16:creationId xmlns:a16="http://schemas.microsoft.com/office/drawing/2014/main" id="{C34094D4-4FAE-D245-6147-C35E71DD4CC8}"/>
              </a:ext>
            </a:extLst>
          </p:cNvPr>
          <p:cNvSpPr/>
          <p:nvPr/>
        </p:nvSpPr>
        <p:spPr>
          <a:xfrm>
            <a:off x="443011" y="2307629"/>
            <a:ext cx="2399777"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セミナー予約</a:t>
            </a:r>
          </a:p>
        </p:txBody>
      </p:sp>
      <p:sp>
        <p:nvSpPr>
          <p:cNvPr id="1025" name="正方形/長方形 1024">
            <a:extLst>
              <a:ext uri="{FF2B5EF4-FFF2-40B4-BE49-F238E27FC236}">
                <a16:creationId xmlns:a16="http://schemas.microsoft.com/office/drawing/2014/main" id="{5BF4A25A-82A2-0487-DB4D-8B89F895CBB0}"/>
              </a:ext>
            </a:extLst>
          </p:cNvPr>
          <p:cNvSpPr/>
          <p:nvPr/>
        </p:nvSpPr>
        <p:spPr>
          <a:xfrm>
            <a:off x="2891617" y="2307628"/>
            <a:ext cx="2399777"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サロン申込み</a:t>
            </a:r>
          </a:p>
        </p:txBody>
      </p:sp>
      <p:sp>
        <p:nvSpPr>
          <p:cNvPr id="1033" name="矢印: 下 1032">
            <a:extLst>
              <a:ext uri="{FF2B5EF4-FFF2-40B4-BE49-F238E27FC236}">
                <a16:creationId xmlns:a16="http://schemas.microsoft.com/office/drawing/2014/main" id="{3277AE2F-ADD2-3317-20C0-EEAE2FCBE973}"/>
              </a:ext>
            </a:extLst>
          </p:cNvPr>
          <p:cNvSpPr/>
          <p:nvPr/>
        </p:nvSpPr>
        <p:spPr>
          <a:xfrm>
            <a:off x="1144266" y="5160085"/>
            <a:ext cx="1075862" cy="244151"/>
          </a:xfrm>
          <a:prstGeom prst="down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37" name="矢印: 下 1036">
            <a:extLst>
              <a:ext uri="{FF2B5EF4-FFF2-40B4-BE49-F238E27FC236}">
                <a16:creationId xmlns:a16="http://schemas.microsoft.com/office/drawing/2014/main" id="{0C880EC7-0A21-CB31-B621-DEC827B415EF}"/>
              </a:ext>
            </a:extLst>
          </p:cNvPr>
          <p:cNvSpPr/>
          <p:nvPr/>
        </p:nvSpPr>
        <p:spPr>
          <a:xfrm>
            <a:off x="3553574" y="5160084"/>
            <a:ext cx="1075862" cy="244151"/>
          </a:xfrm>
          <a:prstGeom prst="down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45" name="正方形/長方形 1044">
            <a:extLst>
              <a:ext uri="{FF2B5EF4-FFF2-40B4-BE49-F238E27FC236}">
                <a16:creationId xmlns:a16="http://schemas.microsoft.com/office/drawing/2014/main" id="{FB7AE13E-85F8-C517-848B-5313A3CFA572}"/>
              </a:ext>
            </a:extLst>
          </p:cNvPr>
          <p:cNvSpPr/>
          <p:nvPr/>
        </p:nvSpPr>
        <p:spPr>
          <a:xfrm>
            <a:off x="443011" y="5505059"/>
            <a:ext cx="2399777" cy="922901"/>
          </a:xfrm>
          <a:prstGeom prst="rect">
            <a:avLst/>
          </a:prstGeom>
          <a:solidFill>
            <a:schemeClr val="bg1">
              <a:lumMod val="9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kumimoji="1"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予約内容の登録</a:t>
            </a:r>
            <a:endParaRPr kumimoji="1"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LINEに遷移</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前日・当日のお知らせが開始</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1047" name="正方形/長方形 1046">
            <a:extLst>
              <a:ext uri="{FF2B5EF4-FFF2-40B4-BE49-F238E27FC236}">
                <a16:creationId xmlns:a16="http://schemas.microsoft.com/office/drawing/2014/main" id="{F033AA41-B418-A490-2721-21F61A63D10C}"/>
              </a:ext>
            </a:extLst>
          </p:cNvPr>
          <p:cNvSpPr/>
          <p:nvPr/>
        </p:nvSpPr>
        <p:spPr>
          <a:xfrm>
            <a:off x="2891617" y="5505058"/>
            <a:ext cx="2399777" cy="922901"/>
          </a:xfrm>
          <a:prstGeom prst="rect">
            <a:avLst/>
          </a:prstGeom>
          <a:solidFill>
            <a:schemeClr val="bg1">
              <a:lumMod val="9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申込み内容の登録</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LINEに遷移</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入会後のご案内が開始</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1050" name="差し込み LPの予約フォーム"/>
          <p:cNvSpPr/>
          <p:nvPr/>
        </p:nvSpPr>
        <p:spPr>
          <a:xfrm>
            <a:off x="598364" y="2610452"/>
            <a:ext cx="2159695" cy="2425925"/>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LPの予約フォーム</a:t>
            </a:r>
            <a:endParaRPr lang="ja-JP" altLang="en-US" sz="1200" dirty="0">
              <a:latin typeface="メイリオ"/>
              <a:ea typeface="メイリオ"/>
              <a:cs typeface="メイリオ"/>
            </a:endParaRPr>
          </a:p>
        </p:txBody>
      </p:sp>
      <p:sp>
        <p:nvSpPr>
          <p:cNvPr id="1051" name="差し込み サロンの申込みページ"/>
          <p:cNvSpPr/>
          <p:nvPr/>
        </p:nvSpPr>
        <p:spPr>
          <a:xfrm>
            <a:off x="2891617" y="2590927"/>
            <a:ext cx="2399777" cy="2544560"/>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サロンの申込みページ</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42476006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メイリオ"/>
                <a:ea typeface="メイリオ"/>
                <a:cs typeface="メイリオ"/>
                <a:sym typeface="Meiryo"/>
              </a:rPr>
              <a:t>+</a:t>
            </a:r>
            <a:r>
              <a:rPr lang="ja-JP" altLang="en-US" sz="1050" b="1" dirty="0">
                <a:solidFill>
                  <a:srgbClr val="FFFF00"/>
                </a:solidFill>
                <a:latin typeface="メイリオ"/>
                <a:ea typeface="メイリオ"/>
                <a:cs typeface="メイリオ"/>
                <a:sym typeface="Meiryo"/>
              </a:rPr>
              <a:t>通数単価：</a:t>
            </a:r>
            <a:r>
              <a:rPr lang="en-US" altLang="ja-JP" sz="1050" b="1" dirty="0">
                <a:solidFill>
                  <a:srgbClr val="FFFF00"/>
                </a:solidFill>
                <a:latin typeface="メイリオ"/>
                <a:ea typeface="メイリオ"/>
                <a:cs typeface="メイリオ"/>
                <a:sym typeface="Meiryo"/>
              </a:rPr>
              <a:t>7</a:t>
            </a:r>
            <a:r>
              <a:rPr lang="ja-JP" altLang="en-US" sz="1050" b="1" dirty="0">
                <a:solidFill>
                  <a:srgbClr val="FFFF00"/>
                </a:solidFill>
                <a:latin typeface="メイリオ"/>
                <a:ea typeface="メイリオ"/>
                <a:cs typeface="メイリオ"/>
                <a:sym typeface="Meiryo"/>
              </a:rPr>
              <a:t>円</a:t>
            </a:r>
            <a:endParaRPr sz="1050" b="1" i="0" u="none" strike="noStrike" cap="none" dirty="0">
              <a:solidFill>
                <a:srgbClr val="FFFF00"/>
              </a:solidFill>
              <a:latin typeface="メイリオ"/>
              <a:ea typeface="メイリオ"/>
              <a:cs typeface="メイリオ"/>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cs typeface="メイリオ"/>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やまや（</a:t>
            </a:r>
            <a:r>
              <a:rPr kumimoji="1" lang="en-US" altLang="ja-JP" sz="1100" dirty="0">
                <a:solidFill>
                  <a:schemeClr val="tx1"/>
                </a:solidFill>
                <a:latin typeface="メイリオ" panose="020B0604030504040204" pitchFamily="50" charset="-128"/>
                <a:ea typeface="メイリオ" panose="020B0604030504040204" pitchFamily="50" charset="-128"/>
                <a:cs typeface="メイリオ"/>
              </a:rPr>
              <a:t>EC</a:t>
            </a: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FF0000"/>
                </a:solidFill>
                <a:latin typeface="メイリオ" panose="020B0604030504040204" pitchFamily="50" charset="-128"/>
                <a:ea typeface="メイリオ" panose="020B0604030504040204" pitchFamily="50" charset="-128"/>
                <a:cs typeface="メイリオ"/>
              </a:rPr>
              <a:t>、</a:t>
            </a:r>
            <a:r>
              <a:rPr lang="en-US" altLang="ja-JP" sz="900" dirty="0">
                <a:solidFill>
                  <a:srgbClr val="FF0000"/>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FF0000"/>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FF0000"/>
                </a:solidFill>
                <a:latin typeface="メイリオ" panose="020B0604030504040204" pitchFamily="50" charset="-128"/>
                <a:ea typeface="メイリオ" panose="020B0604030504040204" pitchFamily="50" charset="-128"/>
                <a:cs typeface="メイリオ"/>
              </a:rPr>
              <a:t>API</a:t>
            </a:r>
            <a:r>
              <a:rPr lang="ja-JP" altLang="en-US" sz="900" dirty="0">
                <a:solidFill>
                  <a:srgbClr val="FF0000"/>
                </a:solidFill>
                <a:latin typeface="メイリオ" panose="020B0604030504040204" pitchFamily="50" charset="-128"/>
                <a:ea typeface="メイリオ" panose="020B0604030504040204" pitchFamily="50" charset="-128"/>
                <a:cs typeface="メイリオ"/>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メイリオ"/>
                <a:ea typeface="メイリオ"/>
                <a:cs typeface="メイリオ"/>
                <a:sym typeface="Meiryo"/>
              </a:rPr>
              <a:t>+</a:t>
            </a:r>
            <a:r>
              <a:rPr lang="ja-JP" altLang="en-US" sz="1050" b="1" dirty="0">
                <a:solidFill>
                  <a:srgbClr val="FFFF00"/>
                </a:solidFill>
                <a:latin typeface="メイリオ"/>
                <a:ea typeface="メイリオ"/>
                <a:cs typeface="メイリオ"/>
                <a:sym typeface="Meiryo"/>
              </a:rPr>
              <a:t>通数単価：</a:t>
            </a:r>
            <a:r>
              <a:rPr lang="en-US" altLang="ja-JP" sz="1050" b="1" dirty="0">
                <a:solidFill>
                  <a:srgbClr val="FFFF00"/>
                </a:solidFill>
                <a:latin typeface="メイリオ"/>
                <a:ea typeface="メイリオ"/>
                <a:cs typeface="メイリオ"/>
                <a:sym typeface="Meiryo"/>
              </a:rPr>
              <a:t>7</a:t>
            </a:r>
            <a:r>
              <a:rPr lang="ja-JP" altLang="en-US" sz="1050" b="1" dirty="0">
                <a:solidFill>
                  <a:srgbClr val="FFFF00"/>
                </a:solidFill>
                <a:latin typeface="メイリオ"/>
                <a:ea typeface="メイリオ"/>
                <a:cs typeface="メイリオ"/>
                <a:sym typeface="Meiryo"/>
              </a:rPr>
              <a:t>円</a:t>
            </a:r>
            <a:endParaRPr sz="1050" b="1" i="0" u="none" strike="noStrike" cap="none" dirty="0">
              <a:solidFill>
                <a:srgbClr val="FFFF00"/>
              </a:solidFill>
              <a:latin typeface="メイリオ"/>
              <a:ea typeface="メイリオ"/>
              <a:cs typeface="メイリオ"/>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FF0000"/>
                </a:solidFill>
                <a:latin typeface="メイリオ" panose="020B0604030504040204" pitchFamily="50" charset="-128"/>
                <a:ea typeface="メイリオ" panose="020B0604030504040204" pitchFamily="50" charset="-128"/>
                <a:cs typeface="メイリオ"/>
              </a:rPr>
              <a:t>、</a:t>
            </a:r>
            <a:r>
              <a:rPr lang="en-US" altLang="ja-JP" sz="900" dirty="0">
                <a:solidFill>
                  <a:srgbClr val="FF0000"/>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FF0000"/>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FF0000"/>
                </a:solidFill>
                <a:latin typeface="メイリオ" panose="020B0604030504040204" pitchFamily="50" charset="-128"/>
                <a:ea typeface="メイリオ" panose="020B0604030504040204" pitchFamily="50" charset="-128"/>
                <a:cs typeface="メイリオ"/>
              </a:rPr>
              <a:t>API</a:t>
            </a:r>
            <a:r>
              <a:rPr lang="ja-JP" altLang="en-US" sz="900" dirty="0">
                <a:solidFill>
                  <a:srgbClr val="FF0000"/>
                </a:solidFill>
                <a:latin typeface="メイリオ" panose="020B0604030504040204" pitchFamily="50" charset="-128"/>
                <a:ea typeface="メイリオ" panose="020B0604030504040204" pitchFamily="50" charset="-128"/>
                <a:cs typeface="メイリオ"/>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メイリオ"/>
                <a:ea typeface="メイリオ"/>
                <a:cs typeface="メイリオ"/>
                <a:sym typeface="Meiryo"/>
              </a:rPr>
              <a:t>利用可能なシーン一例</a:t>
            </a:r>
            <a:endParaRPr sz="900" i="0" u="none" strike="noStrike" cap="none" dirty="0">
              <a:solidFill>
                <a:srgbClr val="FFFF00"/>
              </a:solidFill>
              <a:latin typeface="メイリオ"/>
              <a:ea typeface="メイリオ"/>
              <a:cs typeface="メイリオ"/>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4245125" y="3038203"/>
            <a:ext cx="1415772"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費用感</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193754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76251-095F-A186-E17A-8A0E4C5D95A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A67513FB-FEEF-76F5-5394-A1A2495F04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弊社想定シミュレーション</a:t>
            </a:r>
          </a:p>
        </p:txBody>
      </p:sp>
      <p:sp>
        <p:nvSpPr>
          <p:cNvPr id="9" name="正方形/長方形 8">
            <a:extLst>
              <a:ext uri="{FF2B5EF4-FFF2-40B4-BE49-F238E27FC236}">
                <a16:creationId xmlns:a16="http://schemas.microsoft.com/office/drawing/2014/main" id="{5CF6CD71-4C48-796A-BD54-E778269A9308}"/>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latin typeface="メイリオ" panose="020B0604030504040204" pitchFamily="50" charset="-128"/>
                <a:ea typeface="メイリオ" panose="020B0604030504040204" pitchFamily="50" charset="-128"/>
                <a:cs typeface="メイリオ"/>
              </a:rPr>
              <a:t>成果報酬プラン</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6C35AEF3-D15B-5805-4919-629E6F4207CC}"/>
              </a:ext>
            </a:extLst>
          </p:cNvPr>
          <p:cNvSpPr txBox="1"/>
          <p:nvPr/>
        </p:nvSpPr>
        <p:spPr>
          <a:xfrm>
            <a:off x="2914650" y="762211"/>
            <a:ext cx="661987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固定費用を最低限に抑えた成果報酬プラン。</a:t>
            </a:r>
            <a:endParaRPr lang="en-US" altLang="ja-JP" sz="1600" b="1" dirty="0">
              <a:latin typeface="メイリオ" panose="020B0604030504040204" pitchFamily="50" charset="-128"/>
              <a:ea typeface="メイリオ" panose="020B0604030504040204" pitchFamily="50" charset="-128"/>
              <a:cs typeface="メイリオ"/>
              <a:sym typeface="Meiryo"/>
            </a:endParaRPr>
          </a:p>
          <a:p>
            <a:r>
              <a:rPr lang="ja-JP" altLang="en-US" sz="1600" b="1" dirty="0">
                <a:latin typeface="メイリオ" panose="020B0604030504040204" pitchFamily="50" charset="-128"/>
                <a:ea typeface="メイリオ" panose="020B0604030504040204" pitchFamily="50" charset="-128"/>
                <a:cs typeface="メイリオ"/>
                <a:sym typeface="Meiryo"/>
              </a:rPr>
              <a:t>友だち追加はポップアップ・サンクスLINE誘導で実施。</a:t>
            </a:r>
          </a:p>
        </p:txBody>
      </p:sp>
      <p:graphicFrame>
        <p:nvGraphicFramePr>
          <p:cNvPr id="10" name="表 9">
            <a:extLst>
              <a:ext uri="{FF2B5EF4-FFF2-40B4-BE49-F238E27FC236}">
                <a16:creationId xmlns:a16="http://schemas.microsoft.com/office/drawing/2014/main" id="{373BB3E3-90D5-C9C7-977E-47D9526D91C0}"/>
              </a:ext>
            </a:extLst>
          </p:cNvPr>
          <p:cNvGraphicFramePr>
            <a:graphicFrameLocks noGrp="1"/>
          </p:cNvGraphicFramePr>
          <p:nvPr>
            <p:extLst>
              <p:ext uri="{D42A27DB-BD31-4B8C-83A1-F6EECF244321}">
                <p14:modId xmlns:p14="http://schemas.microsoft.com/office/powerpoint/2010/main" val="2015453067"/>
              </p:ext>
            </p:extLst>
          </p:nvPr>
        </p:nvGraphicFramePr>
        <p:xfrm>
          <a:off x="373644" y="1512320"/>
          <a:ext cx="9160881" cy="4384560"/>
        </p:xfrm>
        <a:graphic>
          <a:graphicData uri="http://schemas.openxmlformats.org/drawingml/2006/table">
            <a:tbl>
              <a:tblPr/>
              <a:tblGrid>
                <a:gridCol w="850771">
                  <a:extLst>
                    <a:ext uri="{9D8B030D-6E8A-4147-A177-3AD203B41FA5}">
                      <a16:colId xmlns:a16="http://schemas.microsoft.com/office/drawing/2014/main" val="3867224301"/>
                    </a:ext>
                  </a:extLst>
                </a:gridCol>
                <a:gridCol w="1817254">
                  <a:extLst>
                    <a:ext uri="{9D8B030D-6E8A-4147-A177-3AD203B41FA5}">
                      <a16:colId xmlns:a16="http://schemas.microsoft.com/office/drawing/2014/main" val="2056063786"/>
                    </a:ext>
                  </a:extLst>
                </a:gridCol>
                <a:gridCol w="345351">
                  <a:extLst>
                    <a:ext uri="{9D8B030D-6E8A-4147-A177-3AD203B41FA5}">
                      <a16:colId xmlns:a16="http://schemas.microsoft.com/office/drawing/2014/main" val="1012593074"/>
                    </a:ext>
                  </a:extLst>
                </a:gridCol>
                <a:gridCol w="878215">
                  <a:extLst>
                    <a:ext uri="{9D8B030D-6E8A-4147-A177-3AD203B41FA5}">
                      <a16:colId xmlns:a16="http://schemas.microsoft.com/office/drawing/2014/main" val="2172484671"/>
                    </a:ext>
                  </a:extLst>
                </a:gridCol>
                <a:gridCol w="878215">
                  <a:extLst>
                    <a:ext uri="{9D8B030D-6E8A-4147-A177-3AD203B41FA5}">
                      <a16:colId xmlns:a16="http://schemas.microsoft.com/office/drawing/2014/main" val="1153368013"/>
                    </a:ext>
                  </a:extLst>
                </a:gridCol>
                <a:gridCol w="878215">
                  <a:extLst>
                    <a:ext uri="{9D8B030D-6E8A-4147-A177-3AD203B41FA5}">
                      <a16:colId xmlns:a16="http://schemas.microsoft.com/office/drawing/2014/main" val="2957558946"/>
                    </a:ext>
                  </a:extLst>
                </a:gridCol>
                <a:gridCol w="878215">
                  <a:extLst>
                    <a:ext uri="{9D8B030D-6E8A-4147-A177-3AD203B41FA5}">
                      <a16:colId xmlns:a16="http://schemas.microsoft.com/office/drawing/2014/main" val="1694855242"/>
                    </a:ext>
                  </a:extLst>
                </a:gridCol>
                <a:gridCol w="878215">
                  <a:extLst>
                    <a:ext uri="{9D8B030D-6E8A-4147-A177-3AD203B41FA5}">
                      <a16:colId xmlns:a16="http://schemas.microsoft.com/office/drawing/2014/main" val="1514979199"/>
                    </a:ext>
                  </a:extLst>
                </a:gridCol>
                <a:gridCol w="878215">
                  <a:extLst>
                    <a:ext uri="{9D8B030D-6E8A-4147-A177-3AD203B41FA5}">
                      <a16:colId xmlns:a16="http://schemas.microsoft.com/office/drawing/2014/main" val="2507566632"/>
                    </a:ext>
                  </a:extLst>
                </a:gridCol>
                <a:gridCol w="878215">
                  <a:extLst>
                    <a:ext uri="{9D8B030D-6E8A-4147-A177-3AD203B41FA5}">
                      <a16:colId xmlns:a16="http://schemas.microsoft.com/office/drawing/2014/main" val="710882296"/>
                    </a:ext>
                  </a:extLst>
                </a:gridCol>
              </a:tblGrid>
              <a:tr h="153092">
                <a:tc gridSpan="2">
                  <a:txBody>
                    <a:bodyPr/>
                    <a:lstStyle/>
                    <a:p>
                      <a:pPr algn="ctr" fontAlgn="ctr">
                        <a:buNone/>
                      </a:pPr>
                      <a:r>
                        <a:rPr lang="ja-JP" sz="800" b="1" i="0" u="none" strike="noStrike" dirty="0">
                          <a:solidFill>
                            <a:srgbClr val="FFFFFF"/>
                          </a:solidFill>
                          <a:effectLst/>
                          <a:latin typeface="メイリオ" panose="020B0604030504040204" pitchFamily="50" charset="-128"/>
                          <a:ea typeface="メイリオ" panose="020B0604030504040204" pitchFamily="50" charset="-128"/>
                          <a:cs typeface="メイリオ"/>
                        </a:rPr>
                        <a:t>項目</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h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1" i="0" u="none" strike="noStrike">
                          <a:solidFill>
                            <a:srgbClr val="FFFFFF"/>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65000"/>
                        <a:lumOff val="35000"/>
                      </a:schemeClr>
                    </a:solidFill>
                  </a:tcPr>
                </a:tc>
                <a:tc>
                  <a:txBody>
                    <a:bodyPr/>
                    <a:lstStyle/>
                    <a:p>
                      <a:pPr algn="l"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　※↓現状数値</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ja-JP" sz="800" b="1" i="0" u="none" strike="noStrike">
                          <a:solidFill>
                            <a:srgbClr val="FFFFFF"/>
                          </a:solidFill>
                          <a:effectLst/>
                          <a:latin typeface="メイリオ" panose="020B0604030504040204" pitchFamily="50" charset="-128"/>
                          <a:ea typeface="メイリオ" panose="020B0604030504040204" pitchFamily="50" charset="-128"/>
                          <a:cs typeface="メイリオ"/>
                        </a:rPr>
                        <a:t>1か月目</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a:txBody>
                    <a:bodyPr/>
                    <a:lstStyle/>
                    <a:p>
                      <a:pPr algn="ctr" fontAlgn="ctr">
                        <a:buNone/>
                      </a:pPr>
                      <a:r>
                        <a:rPr lang="ja-JP" sz="800" b="1" i="0" u="none" strike="noStrike">
                          <a:solidFill>
                            <a:srgbClr val="FFFFFF"/>
                          </a:solidFill>
                          <a:effectLst/>
                          <a:latin typeface="メイリオ" panose="020B0604030504040204" pitchFamily="50" charset="-128"/>
                          <a:ea typeface="メイリオ" panose="020B0604030504040204" pitchFamily="50" charset="-128"/>
                          <a:cs typeface="メイリオ"/>
                        </a:rPr>
                        <a:t>2か月目</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a:txBody>
                    <a:bodyPr/>
                    <a:lstStyle/>
                    <a:p>
                      <a:pPr algn="ctr" fontAlgn="ctr">
                        <a:buNone/>
                      </a:pPr>
                      <a:r>
                        <a:rPr lang="ja-JP" sz="800" b="1" i="0" u="none" strike="noStrike">
                          <a:solidFill>
                            <a:srgbClr val="FFFFFF"/>
                          </a:solidFill>
                          <a:effectLst/>
                          <a:latin typeface="メイリオ" panose="020B0604030504040204" pitchFamily="50" charset="-128"/>
                          <a:ea typeface="メイリオ" panose="020B0604030504040204" pitchFamily="50" charset="-128"/>
                          <a:cs typeface="メイリオ"/>
                        </a:rPr>
                        <a:t>3か月目</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a:txBody>
                    <a:bodyPr/>
                    <a:lstStyle/>
                    <a:p>
                      <a:pPr algn="ctr" fontAlgn="ctr">
                        <a:buNone/>
                      </a:pPr>
                      <a:r>
                        <a:rPr lang="ja-JP" sz="800" b="1" i="0" u="none" strike="noStrike">
                          <a:solidFill>
                            <a:srgbClr val="FFFFFF"/>
                          </a:solidFill>
                          <a:effectLst/>
                          <a:latin typeface="メイリオ" panose="020B0604030504040204" pitchFamily="50" charset="-128"/>
                          <a:ea typeface="メイリオ" panose="020B0604030504040204" pitchFamily="50" charset="-128"/>
                          <a:cs typeface="メイリオ"/>
                        </a:rPr>
                        <a:t>4か月目</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a:txBody>
                    <a:bodyPr/>
                    <a:lstStyle/>
                    <a:p>
                      <a:pPr algn="ctr" fontAlgn="ctr">
                        <a:buNone/>
                      </a:pPr>
                      <a:r>
                        <a:rPr lang="ja-JP" sz="800" b="1" i="0" u="none" strike="noStrike">
                          <a:solidFill>
                            <a:srgbClr val="FFFFFF"/>
                          </a:solidFill>
                          <a:effectLst/>
                          <a:latin typeface="メイリオ" panose="020B0604030504040204" pitchFamily="50" charset="-128"/>
                          <a:ea typeface="メイリオ" panose="020B0604030504040204" pitchFamily="50" charset="-128"/>
                          <a:cs typeface="メイリオ"/>
                        </a:rPr>
                        <a:t>5か月目</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a:txBody>
                    <a:bodyPr/>
                    <a:lstStyle/>
                    <a:p>
                      <a:pPr algn="ctr" fontAlgn="ctr">
                        <a:buNone/>
                      </a:pPr>
                      <a:r>
                        <a:rPr lang="ja-JP" sz="800" b="1" i="0" u="none" strike="noStrike">
                          <a:solidFill>
                            <a:srgbClr val="FFFFFF"/>
                          </a:solidFill>
                          <a:effectLst/>
                          <a:latin typeface="メイリオ" panose="020B0604030504040204" pitchFamily="50" charset="-128"/>
                          <a:ea typeface="メイリオ" panose="020B0604030504040204" pitchFamily="50" charset="-128"/>
                          <a:cs typeface="メイリオ"/>
                        </a:rPr>
                        <a:t>6か月目</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extLst>
                  <a:ext uri="{0D108BD9-81ED-4DB2-BD59-A6C34878D82A}">
                    <a16:rowId xmlns:a16="http://schemas.microsoft.com/office/drawing/2014/main" val="3498939455"/>
                  </a:ext>
                </a:extLst>
              </a:tr>
              <a:tr h="159216">
                <a:tc rowSpan="3">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WEBサイト</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UU全体</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tx1">
                        <a:lumMod val="65000"/>
                        <a:lumOff val="35000"/>
                      </a:schemeClr>
                    </a:solid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130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130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130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130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58738628"/>
                  </a:ext>
                </a:extLst>
              </a:tr>
              <a:tr h="15921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UU(うち広告)</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130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130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130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130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80331908"/>
                  </a:ext>
                </a:extLst>
              </a:tr>
              <a:tr h="15921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CV（別施策） ※想定</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81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81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81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64469365"/>
                  </a:ext>
                </a:extLst>
              </a:tr>
              <a:tr h="153092">
                <a:tc rowSpan="5">
                  <a:txBody>
                    <a:bodyPr/>
                    <a:lstStyle/>
                    <a:p>
                      <a:pPr algn="ctr" fontAlgn="ctr">
                        <a:buNone/>
                      </a:pPr>
                      <a:r>
                        <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施策</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ja-JP" sz="800" b="0" i="0" u="none" strike="noStrike" dirty="0">
                          <a:solidFill>
                            <a:srgbClr val="A6A6A6"/>
                          </a:solidFill>
                          <a:effectLst/>
                          <a:latin typeface="メイリオ" panose="020B0604030504040204" pitchFamily="50" charset="-128"/>
                          <a:ea typeface="メイリオ" panose="020B0604030504040204" pitchFamily="50" charset="-128"/>
                          <a:cs typeface="メイリオ"/>
                        </a:rPr>
                        <a:t>CPF</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A6A6A6"/>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ctr" fontAlgn="ctr">
                        <a:buNone/>
                      </a:pP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1821568"/>
                  </a:ext>
                </a:extLst>
              </a:tr>
              <a:tr h="153092">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A6A6A6"/>
                          </a:solidFill>
                          <a:effectLst/>
                          <a:latin typeface="メイリオ" panose="020B0604030504040204" pitchFamily="50" charset="-128"/>
                          <a:ea typeface="メイリオ" panose="020B0604030504040204" pitchFamily="50" charset="-128"/>
                          <a:cs typeface="メイリオ"/>
                        </a:rPr>
                        <a:t>ポップアップツール</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A6A6A6"/>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ctr"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rPr>
                        <a:t>実施予定</a:t>
                      </a:r>
                      <a:endPar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rPr>
                        <a:t>実施予定</a:t>
                      </a:r>
                      <a:endPar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rPr>
                        <a:t>実施予定</a:t>
                      </a:r>
                      <a:endPar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rPr>
                        <a:t>実施予定</a:t>
                      </a:r>
                      <a:endPar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rPr>
                        <a:t>実施予定</a:t>
                      </a:r>
                      <a:endPar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rPr>
                        <a:t>実施予定</a:t>
                      </a:r>
                      <a:endPar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94871047"/>
                  </a:ext>
                </a:extLst>
              </a:tr>
              <a:tr h="153092">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A6A6A6"/>
                          </a:solidFill>
                          <a:effectLst/>
                          <a:latin typeface="メイリオ" panose="020B0604030504040204" pitchFamily="50" charset="-128"/>
                          <a:ea typeface="メイリオ" panose="020B0604030504040204" pitchFamily="50" charset="-128"/>
                          <a:cs typeface="メイリオ"/>
                        </a:rPr>
                        <a:t>サンクスLINE誘導</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A6A6A6"/>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ctr" fontAlgn="ctr">
                        <a:buNone/>
                      </a:pP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rPr>
                        <a:t>実施予定</a:t>
                      </a:r>
                      <a:endPar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rPr>
                        <a:t>実施予定</a:t>
                      </a:r>
                      <a:endPar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rPr>
                        <a:t>実施予定</a:t>
                      </a:r>
                      <a:endPar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rPr>
                        <a:t>実施予定</a:t>
                      </a:r>
                      <a:endPar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rPr>
                        <a:t>実施予定</a:t>
                      </a:r>
                      <a:endPar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rPr>
                        <a:t>実施予定</a:t>
                      </a:r>
                      <a:endPar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17423221"/>
                  </a:ext>
                </a:extLst>
              </a:tr>
              <a:tr h="153092">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A6A6A6"/>
                          </a:solidFill>
                          <a:effectLst/>
                          <a:latin typeface="メイリオ" panose="020B0604030504040204" pitchFamily="50" charset="-128"/>
                          <a:ea typeface="メイリオ" panose="020B0604030504040204" pitchFamily="50" charset="-128"/>
                          <a:cs typeface="メイリオ"/>
                        </a:rPr>
                        <a:t>通知メッセージ_CV</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A6A6A6"/>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ctr"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09354505"/>
                  </a:ext>
                </a:extLst>
              </a:tr>
              <a:tr h="153092">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A6A6A6"/>
                          </a:solidFill>
                          <a:effectLst/>
                          <a:latin typeface="メイリオ" panose="020B0604030504040204" pitchFamily="50" charset="-128"/>
                          <a:ea typeface="メイリオ" panose="020B0604030504040204" pitchFamily="50" charset="-128"/>
                          <a:cs typeface="メイリオ"/>
                        </a:rPr>
                        <a:t>通知メッセージ_既存リスト</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A6A6A6"/>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ctr"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highlight>
                          <a:srgbClr val="FFFF00"/>
                        </a:highligh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41213545"/>
                  </a:ext>
                </a:extLst>
              </a:tr>
              <a:tr h="153092">
                <a:tc rowSpan="4">
                  <a:txBody>
                    <a:bodyPr/>
                    <a:lstStyle/>
                    <a:p>
                      <a:pPr algn="ctr" fontAlgn="ctr">
                        <a:buNone/>
                      </a:pPr>
                      <a:r>
                        <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施策増分</a:t>
                      </a:r>
                      <a:br>
                        <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br>
                      <a:r>
                        <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※友だち</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CPF</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61946824"/>
                  </a:ext>
                </a:extLst>
              </a:tr>
              <a:tr h="15921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ポップアップツール</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0583615"/>
                  </a:ext>
                </a:extLst>
              </a:tr>
              <a:tr h="15921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サンクスLINE誘導</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29</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29</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94132676"/>
                  </a:ext>
                </a:extLst>
              </a:tr>
              <a:tr h="15921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通知メッセージ</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83638157"/>
                  </a:ext>
                </a:extLst>
              </a:tr>
              <a:tr h="159216">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友だち数_増加数</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60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60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85071827"/>
                  </a:ext>
                </a:extLst>
              </a:tr>
              <a:tr h="159216">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ブロック率</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28.0%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29.0%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29.5%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31.0%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6388580"/>
                  </a:ext>
                </a:extLst>
              </a:tr>
              <a:tr h="159216">
                <a:tc gridSpan="2">
                  <a:txBody>
                    <a:bodyPr/>
                    <a:lstStyle/>
                    <a:p>
                      <a:pPr algn="ctr"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cs typeface="メイリオ"/>
                        </a:rPr>
                        <a:t>友だち数</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h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cs typeface="メイリオ"/>
                        </a:rPr>
                        <a:t>60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cs typeface="メイリオ"/>
                        </a:rPr>
                        <a:t>61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dirty="0">
                          <a:solidFill>
                            <a:srgbClr val="FF0000"/>
                          </a:solidFill>
                          <a:effectLst/>
                          <a:latin typeface="メイリオ" panose="020B0604030504040204" pitchFamily="50" charset="-128"/>
                          <a:ea typeface="メイリオ" panose="020B0604030504040204" pitchFamily="50" charset="-128"/>
                          <a:cs typeface="メイリオ"/>
                        </a:rPr>
                        <a:t>62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cs typeface="メイリオ"/>
                        </a:rPr>
                        <a:t>122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cs typeface="メイリオ"/>
                        </a:rPr>
                        <a:t>123</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cs typeface="メイリオ"/>
                        </a:rPr>
                        <a:t>125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6443437"/>
                  </a:ext>
                </a:extLst>
              </a:tr>
              <a:tr h="159216">
                <a:tc gridSpan="2">
                  <a:txBody>
                    <a:bodyPr/>
                    <a:lstStyle/>
                    <a:p>
                      <a:pPr algn="ctr"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cs typeface="メイリオ"/>
                        </a:rPr>
                        <a:t>ターゲット数</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h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43</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43</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44</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85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86</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86</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14682123"/>
                  </a:ext>
                </a:extLst>
              </a:tr>
              <a:tr h="159216">
                <a:tc gridSpan="2">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企画投稿数</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4</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4</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17265859"/>
                  </a:ext>
                </a:extLst>
              </a:tr>
              <a:tr h="159216">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企画投稿からの流入</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16</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8</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8</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13</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13</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07735899"/>
                  </a:ext>
                </a:extLst>
              </a:tr>
              <a:tr h="159216">
                <a:tc gridSpan="2">
                  <a:txBody>
                    <a:bodyPr/>
                    <a:lstStyle/>
                    <a:p>
                      <a:pPr algn="ctr"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cs typeface="メイリオ"/>
                        </a:rPr>
                        <a:t>ステップ配信本数</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79159928"/>
                  </a:ext>
                </a:extLst>
              </a:tr>
              <a:tr h="159216">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ステップ配信からの流入</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38</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38</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9616042"/>
                  </a:ext>
                </a:extLst>
              </a:tr>
              <a:tr h="159216">
                <a:tc gridSpan="2">
                  <a:txBody>
                    <a:bodyPr/>
                    <a:lstStyle/>
                    <a:p>
                      <a:pPr algn="ctr"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cs typeface="メイリオ"/>
                        </a:rPr>
                        <a:t>配信数</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h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436</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76</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77</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517</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116</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117</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18570893"/>
                  </a:ext>
                </a:extLst>
              </a:tr>
              <a:tr h="159216">
                <a:tc gridSpan="2">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想定Click数</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h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tx1">
                        <a:lumMod val="65000"/>
                        <a:lumOff val="35000"/>
                      </a:schemeClr>
                    </a:solid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110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18</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18</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129</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27</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27</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6473668"/>
                  </a:ext>
                </a:extLst>
              </a:tr>
              <a:tr h="153092">
                <a:tc row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新規CV</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セミナー予約</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65000"/>
                        <a:lumOff val="35000"/>
                      </a:schemeClr>
                    </a:solid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961092775"/>
                  </a:ext>
                </a:extLst>
              </a:tr>
              <a:tr h="153092">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cs typeface="メイリオ"/>
                        </a:rPr>
                        <a:t>サロン入会</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65000"/>
                        <a:lumOff val="35000"/>
                      </a:schemeClr>
                    </a:solidFill>
                  </a:tcPr>
                </a:tc>
                <a:tc>
                  <a:txBody>
                    <a:bodyPr/>
                    <a:lstStyle/>
                    <a:p>
                      <a:pPr algn="r"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09209465"/>
                  </a:ext>
                </a:extLst>
              </a:tr>
              <a:tr h="153092">
                <a:tc row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リピートCV</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fontAlgn="ctr">
                        <a:buNone/>
                      </a:pPr>
                      <a:r>
                        <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65000"/>
                        <a:lumOff val="35000"/>
                      </a:schemeClr>
                    </a:solid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97456770"/>
                  </a:ext>
                </a:extLst>
              </a:tr>
              <a:tr h="153092">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65000"/>
                        <a:lumOff val="35000"/>
                      </a:schemeClr>
                    </a:solidFill>
                  </a:tcPr>
                </a:tc>
                <a:tc>
                  <a:txBody>
                    <a:bodyPr/>
                    <a:lstStyle/>
                    <a:p>
                      <a:pPr algn="r"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FF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dirty="0">
                          <a:solidFill>
                            <a:srgbClr val="FF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69994309"/>
                  </a:ext>
                </a:extLst>
              </a:tr>
              <a:tr h="153092">
                <a:tc gridSpan="2">
                  <a:txBody>
                    <a:bodyPr/>
                    <a:lstStyle/>
                    <a:p>
                      <a:pPr algn="ctr" fontAlgn="ctr">
                        <a:buNone/>
                      </a:pPr>
                      <a:r>
                        <a:rPr lang="ja-JP" sz="800" b="1" i="0" u="none" strike="noStrike">
                          <a:solidFill>
                            <a:srgbClr val="FF0000"/>
                          </a:solidFill>
                          <a:effectLst/>
                          <a:latin typeface="メイリオ" panose="020B0604030504040204" pitchFamily="50" charset="-128"/>
                          <a:ea typeface="メイリオ" panose="020B0604030504040204" pitchFamily="50" charset="-128"/>
                          <a:cs typeface="メイリオ"/>
                        </a:rPr>
                        <a:t>合計CV</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1" i="0" u="none" strike="noStrike" dirty="0">
                          <a:solidFill>
                            <a:srgbClr val="FF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65000"/>
                        <a:lumOff val="35000"/>
                      </a:schemeClr>
                    </a:solidFill>
                  </a:tcPr>
                </a:tc>
                <a:tc>
                  <a:txBody>
                    <a:bodyPr/>
                    <a:lstStyle/>
                    <a:p>
                      <a:pPr algn="r" fontAlgn="ctr">
                        <a:buNone/>
                      </a:pPr>
                      <a:r>
                        <a:rPr lang="ja-JP" sz="800" b="1" i="0" u="none" strike="noStrike" dirty="0">
                          <a:solidFill>
                            <a:srgbClr val="FF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fontAlgn="ctr">
                        <a:buNone/>
                      </a:pPr>
                      <a:r>
                        <a:rPr lang="ja-JP" sz="800" b="1" i="0" u="none" strike="noStrike" dirty="0">
                          <a:solidFill>
                            <a:srgbClr val="FF0000"/>
                          </a:solidFill>
                          <a:effectLst/>
                          <a:latin typeface="メイリオ" panose="020B0604030504040204" pitchFamily="50" charset="-128"/>
                          <a:ea typeface="メイリオ" panose="020B0604030504040204" pitchFamily="50" charset="-128"/>
                          <a:cs typeface="メイリオ"/>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fontAlgn="ctr">
                        <a:buNone/>
                      </a:pPr>
                      <a:r>
                        <a:rPr lang="ja-JP" sz="800" b="1" i="0" u="none" strike="noStrike" dirty="0">
                          <a:solidFill>
                            <a:srgbClr val="FF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fontAlgn="ctr">
                        <a:buNone/>
                      </a:pPr>
                      <a:r>
                        <a:rPr lang="ja-JP" sz="800" b="1" i="0" u="none" strike="noStrike" dirty="0">
                          <a:solidFill>
                            <a:srgbClr val="FF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fontAlgn="ctr">
                        <a:buNone/>
                      </a:pPr>
                      <a:r>
                        <a:rPr lang="ja-JP" sz="800" b="1" i="0" u="none" strike="noStrike" dirty="0">
                          <a:solidFill>
                            <a:srgbClr val="FF0000"/>
                          </a:solidFill>
                          <a:effectLst/>
                          <a:latin typeface="メイリオ" panose="020B0604030504040204" pitchFamily="50" charset="-128"/>
                          <a:ea typeface="メイリオ" panose="020B0604030504040204" pitchFamily="50" charset="-128"/>
                          <a:cs typeface="メイリオ"/>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fontAlgn="ctr">
                        <a:buNone/>
                      </a:pPr>
                      <a:r>
                        <a:rPr lang="ja-JP" sz="800" b="1" i="0" u="none" strike="noStrike" dirty="0">
                          <a:solidFill>
                            <a:srgbClr val="FF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r" fontAlgn="ctr">
                        <a:buNone/>
                      </a:pPr>
                      <a:r>
                        <a:rPr lang="ja-JP" sz="800" b="1" i="0" u="none" strike="noStrike" dirty="0">
                          <a:solidFill>
                            <a:srgbClr val="FF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4263053220"/>
                  </a:ext>
                </a:extLst>
              </a:tr>
            </a:tbl>
          </a:graphicData>
        </a:graphic>
      </p:graphicFrame>
    </p:spTree>
    <p:extLst>
      <p:ext uri="{BB962C8B-B14F-4D97-AF65-F5344CB8AC3E}">
        <p14:creationId xmlns:p14="http://schemas.microsoft.com/office/powerpoint/2010/main" val="409828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2D388-F98E-03E5-C3D4-A6C1A062AAF7}"/>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BDD7ED3-F444-10FE-EBC9-57BAFAF299F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弊社想定シミュレーション</a:t>
            </a:r>
          </a:p>
        </p:txBody>
      </p:sp>
      <p:sp>
        <p:nvSpPr>
          <p:cNvPr id="9" name="正方形/長方形 8">
            <a:extLst>
              <a:ext uri="{FF2B5EF4-FFF2-40B4-BE49-F238E27FC236}">
                <a16:creationId xmlns:a16="http://schemas.microsoft.com/office/drawing/2014/main" id="{FBD4AB07-F6DD-682F-94F2-55F9EF92D92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latin typeface="メイリオ" panose="020B0604030504040204" pitchFamily="50" charset="-128"/>
                <a:ea typeface="メイリオ" panose="020B0604030504040204" pitchFamily="50" charset="-128"/>
                <a:cs typeface="メイリオ"/>
              </a:rPr>
              <a:t>成果報酬プラン</a:t>
            </a:r>
          </a:p>
        </p:txBody>
      </p:sp>
      <p:sp>
        <p:nvSpPr>
          <p:cNvPr id="5" name="Google Shape;752;p28">
            <a:extLst>
              <a:ext uri="{FF2B5EF4-FFF2-40B4-BE49-F238E27FC236}">
                <a16:creationId xmlns:a16="http://schemas.microsoft.com/office/drawing/2014/main" id="{FE9C6D1D-72D5-15BC-F9E9-124AE1A23AAA}"/>
              </a:ext>
            </a:extLst>
          </p:cNvPr>
          <p:cNvSpPr txBox="1"/>
          <p:nvPr/>
        </p:nvSpPr>
        <p:spPr>
          <a:xfrm>
            <a:off x="2914650" y="762211"/>
            <a:ext cx="661987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固定費用を最低限に抑えた成果報酬プラン。</a:t>
            </a:r>
            <a:endParaRPr lang="en-US" altLang="ja-JP" sz="1600" b="1" dirty="0">
              <a:latin typeface="メイリオ" panose="020B0604030504040204" pitchFamily="50" charset="-128"/>
              <a:ea typeface="メイリオ" panose="020B0604030504040204" pitchFamily="50" charset="-128"/>
              <a:cs typeface="メイリオ"/>
              <a:sym typeface="Meiryo"/>
            </a:endParaRPr>
          </a:p>
          <a:p>
            <a:r>
              <a:rPr lang="ja-JP" altLang="en-US" sz="1600" b="1" dirty="0">
                <a:latin typeface="メイリオ" panose="020B0604030504040204" pitchFamily="50" charset="-128"/>
                <a:ea typeface="メイリオ" panose="020B0604030504040204" pitchFamily="50" charset="-128"/>
                <a:cs typeface="メイリオ"/>
                <a:sym typeface="Meiryo"/>
              </a:rPr>
              <a:t>友だち追加はポップアップ・サンクスLINE誘導で実施。</a:t>
            </a:r>
          </a:p>
        </p:txBody>
      </p:sp>
      <p:graphicFrame>
        <p:nvGraphicFramePr>
          <p:cNvPr id="10" name="表 9">
            <a:extLst>
              <a:ext uri="{FF2B5EF4-FFF2-40B4-BE49-F238E27FC236}">
                <a16:creationId xmlns:a16="http://schemas.microsoft.com/office/drawing/2014/main" id="{C4DD1A48-7C8F-25E8-16FC-3282274F0B93}"/>
              </a:ext>
            </a:extLst>
          </p:cNvPr>
          <p:cNvGraphicFramePr>
            <a:graphicFrameLocks noGrp="1"/>
          </p:cNvGraphicFramePr>
          <p:nvPr/>
        </p:nvGraphicFramePr>
        <p:xfrm>
          <a:off x="704124" y="1803590"/>
          <a:ext cx="1367245" cy="462575"/>
        </p:xfrm>
        <a:graphic>
          <a:graphicData uri="http://schemas.openxmlformats.org/drawingml/2006/table">
            <a:tbl>
              <a:tblPr/>
              <a:tblGrid>
                <a:gridCol w="1367245">
                  <a:extLst>
                    <a:ext uri="{9D8B030D-6E8A-4147-A177-3AD203B41FA5}">
                      <a16:colId xmlns:a16="http://schemas.microsoft.com/office/drawing/2014/main" val="3858994572"/>
                    </a:ext>
                  </a:extLst>
                </a:gridCol>
              </a:tblGrid>
              <a:tr h="462575">
                <a:tc>
                  <a:txBody>
                    <a:bodyPr/>
                    <a:lstStyle/>
                    <a:p>
                      <a:pPr algn="ctr" fontAlgn="ctr">
                        <a:buNone/>
                      </a:pP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初期費用</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551909190"/>
                  </a:ext>
                </a:extLst>
              </a:tr>
            </a:tbl>
          </a:graphicData>
        </a:graphic>
      </p:graphicFrame>
      <p:graphicFrame>
        <p:nvGraphicFramePr>
          <p:cNvPr id="12" name="表 11">
            <a:extLst>
              <a:ext uri="{FF2B5EF4-FFF2-40B4-BE49-F238E27FC236}">
                <a16:creationId xmlns:a16="http://schemas.microsoft.com/office/drawing/2014/main" id="{CE0D5AE9-9962-57E0-8896-BE0E4756FA85}"/>
              </a:ext>
            </a:extLst>
          </p:cNvPr>
          <p:cNvGraphicFramePr>
            <a:graphicFrameLocks noGrp="1"/>
          </p:cNvGraphicFramePr>
          <p:nvPr>
            <p:extLst>
              <p:ext uri="{D42A27DB-BD31-4B8C-83A1-F6EECF244321}">
                <p14:modId xmlns:p14="http://schemas.microsoft.com/office/powerpoint/2010/main" val="3967744387"/>
              </p:ext>
            </p:extLst>
          </p:nvPr>
        </p:nvGraphicFramePr>
        <p:xfrm>
          <a:off x="2145635" y="1803590"/>
          <a:ext cx="2712478" cy="462575"/>
        </p:xfrm>
        <a:graphic>
          <a:graphicData uri="http://schemas.openxmlformats.org/drawingml/2006/table">
            <a:tbl>
              <a:tblPr/>
              <a:tblGrid>
                <a:gridCol w="2712478">
                  <a:extLst>
                    <a:ext uri="{9D8B030D-6E8A-4147-A177-3AD203B41FA5}">
                      <a16:colId xmlns:a16="http://schemas.microsoft.com/office/drawing/2014/main" val="3858994572"/>
                    </a:ext>
                  </a:extLst>
                </a:gridCol>
              </a:tblGrid>
              <a:tr h="462575">
                <a:tc>
                  <a:txBody>
                    <a:bodyPr/>
                    <a:lstStyle/>
                    <a:p>
                      <a:pPr algn="ctr" fontAlgn="ctr">
                        <a:buNone/>
                      </a:pPr>
                      <a:r>
                        <a:rPr lang="ja-JP" altLang="en-US" sz="1800" b="1" i="0" u="none" strike="noStrike" dirty="0">
                          <a:solidFill>
                            <a:srgbClr val="000000"/>
                          </a:solidFill>
                          <a:effectLst/>
                          <a:latin typeface="メイリオ" panose="020B0604030504040204" pitchFamily="50" charset="-128"/>
                          <a:ea typeface="メイリオ" panose="020B0604030504040204" pitchFamily="50" charset="-128"/>
                          <a:cs typeface="メイリオ"/>
                        </a:rPr>
                        <a:t>¥295,000</a:t>
                      </a:r>
                      <a:endParaRPr lang="ja-JP" altLang="en-US" sz="1800" b="1"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551909190"/>
                  </a:ext>
                </a:extLst>
              </a:tr>
            </a:tbl>
          </a:graphicData>
        </a:graphic>
      </p:graphicFrame>
      <p:graphicFrame>
        <p:nvGraphicFramePr>
          <p:cNvPr id="14" name="表 13">
            <a:extLst>
              <a:ext uri="{FF2B5EF4-FFF2-40B4-BE49-F238E27FC236}">
                <a16:creationId xmlns:a16="http://schemas.microsoft.com/office/drawing/2014/main" id="{24842E98-5066-43A6-D03A-1A8E52DABE7E}"/>
              </a:ext>
            </a:extLst>
          </p:cNvPr>
          <p:cNvGraphicFramePr>
            <a:graphicFrameLocks noGrp="1"/>
          </p:cNvGraphicFramePr>
          <p:nvPr>
            <p:extLst>
              <p:ext uri="{D42A27DB-BD31-4B8C-83A1-F6EECF244321}">
                <p14:modId xmlns:p14="http://schemas.microsoft.com/office/powerpoint/2010/main" val="779732373"/>
              </p:ext>
            </p:extLst>
          </p:nvPr>
        </p:nvGraphicFramePr>
        <p:xfrm>
          <a:off x="2145635" y="2361128"/>
          <a:ext cx="2712478" cy="462575"/>
        </p:xfrm>
        <a:graphic>
          <a:graphicData uri="http://schemas.openxmlformats.org/drawingml/2006/table">
            <a:tbl>
              <a:tblPr/>
              <a:tblGrid>
                <a:gridCol w="2712478">
                  <a:extLst>
                    <a:ext uri="{9D8B030D-6E8A-4147-A177-3AD203B41FA5}">
                      <a16:colId xmlns:a16="http://schemas.microsoft.com/office/drawing/2014/main" val="813940788"/>
                    </a:ext>
                  </a:extLst>
                </a:gridCol>
              </a:tblGrid>
              <a:tr h="462575">
                <a:tc>
                  <a:txBody>
                    <a:bodyPr/>
                    <a:lstStyle/>
                    <a:p>
                      <a:pPr algn="ctr" fontAlgn="ctr">
                        <a:buNone/>
                      </a:pPr>
                      <a:r>
                        <a:rPr lang="ja-JP" altLang="en-US" sz="1600" b="1" i="0" u="none" strike="noStrike" dirty="0">
                          <a:solidFill>
                            <a:srgbClr val="000000"/>
                          </a:solidFill>
                          <a:effectLst/>
                          <a:latin typeface="メイリオ" panose="020B0604030504040204" pitchFamily="50" charset="-128"/>
                          <a:ea typeface="メイリオ" panose="020B0604030504040204" pitchFamily="50" charset="-128"/>
                          <a:cs typeface="メイリオ"/>
                        </a:rPr>
                        <a:t>¥65,000 – 77,000</a:t>
                      </a:r>
                    </a:p>
                    <a:p>
                      <a:pPr algn="ctr" fontAlgn="ctr">
                        <a:buNone/>
                      </a:pPr>
                      <a:r>
                        <a:rPr lang="en-US" altLang="ja-JP" sz="900" b="0" i="0" u="none" strike="noStrike" dirty="0">
                          <a:solidFill>
                            <a:srgbClr val="FF0000"/>
                          </a:solidFill>
                          <a:effectLst/>
                          <a:latin typeface="メイリオ" panose="020B0604030504040204" pitchFamily="50" charset="-128"/>
                          <a:ea typeface="メイリオ" panose="020B0604030504040204" pitchFamily="50" charset="-128"/>
                          <a:cs typeface="メイリオ"/>
                        </a:rPr>
                        <a:t>※予約 12,000円・入会 25,000円で設定</a:t>
                      </a:r>
                      <a:endParaRPr lang="en-US" altLang="ja-JP" sz="1400" b="0" i="0" u="none" strike="noStrike" dirty="0">
                        <a:solidFill>
                          <a:srgbClr val="FF0000"/>
                        </a:solidFill>
                        <a:effectLst/>
                        <a:latin typeface="メイリオ" panose="020B0604030504040204" pitchFamily="50" charset="-128"/>
                        <a:ea typeface="メイリオ" panose="020B0604030504040204" pitchFamily="50" charset="-128"/>
                        <a:cs typeface="メイリオ"/>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802775794"/>
                  </a:ext>
                </a:extLst>
              </a:tr>
            </a:tbl>
          </a:graphicData>
        </a:graphic>
      </p:graphicFrame>
      <p:graphicFrame>
        <p:nvGraphicFramePr>
          <p:cNvPr id="16" name="表 15">
            <a:extLst>
              <a:ext uri="{FF2B5EF4-FFF2-40B4-BE49-F238E27FC236}">
                <a16:creationId xmlns:a16="http://schemas.microsoft.com/office/drawing/2014/main" id="{284C90C0-98C2-324A-C6EB-3A49C0F3E12D}"/>
              </a:ext>
            </a:extLst>
          </p:cNvPr>
          <p:cNvGraphicFramePr>
            <a:graphicFrameLocks noGrp="1"/>
          </p:cNvGraphicFramePr>
          <p:nvPr>
            <p:extLst>
              <p:ext uri="{D42A27DB-BD31-4B8C-83A1-F6EECF244321}">
                <p14:modId xmlns:p14="http://schemas.microsoft.com/office/powerpoint/2010/main" val="617717068"/>
              </p:ext>
            </p:extLst>
          </p:nvPr>
        </p:nvGraphicFramePr>
        <p:xfrm>
          <a:off x="711699" y="2361128"/>
          <a:ext cx="1367245" cy="462575"/>
        </p:xfrm>
        <a:graphic>
          <a:graphicData uri="http://schemas.openxmlformats.org/drawingml/2006/table">
            <a:tbl>
              <a:tblPr/>
              <a:tblGrid>
                <a:gridCol w="1367245">
                  <a:extLst>
                    <a:ext uri="{9D8B030D-6E8A-4147-A177-3AD203B41FA5}">
                      <a16:colId xmlns:a16="http://schemas.microsoft.com/office/drawing/2014/main" val="813940788"/>
                    </a:ext>
                  </a:extLst>
                </a:gridCol>
              </a:tblGrid>
              <a:tr h="46257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月額費用</a:t>
                      </a:r>
                      <a:endParaRPr lang="en-US" altLang="ja-JP" sz="1100" b="1" i="0" u="none" strike="noStrike" dirty="0">
                        <a:solidFill>
                          <a:srgbClr val="FFFFFF"/>
                        </a:solidFill>
                        <a:effectLst/>
                        <a:latin typeface="メイリオ" panose="020B0604030504040204" pitchFamily="50" charset="-128"/>
                        <a:ea typeface="メイリオ" panose="020B0604030504040204" pitchFamily="50" charset="-128"/>
                        <a:cs typeface="メイリオ"/>
                      </a:endParaRPr>
                    </a:p>
                    <a:p>
                      <a:pPr algn="ctr" fontAlgn="ctr">
                        <a:buNone/>
                      </a:pPr>
                      <a:r>
                        <a:rPr lang="en-US" altLang="ja-JP" sz="800" b="1" i="0" u="none" strike="noStrike" dirty="0">
                          <a:solidFill>
                            <a:srgbClr val="FFFFFF"/>
                          </a:solidFill>
                          <a:effectLst/>
                          <a:latin typeface="メイリオ" panose="020B0604030504040204" pitchFamily="50" charset="-128"/>
                          <a:ea typeface="メイリオ" panose="020B0604030504040204" pitchFamily="50" charset="-128"/>
                          <a:cs typeface="メイリオ"/>
                        </a:rPr>
                        <a:t>※</a:t>
                      </a:r>
                      <a:r>
                        <a:rPr lang="ja-JP" altLang="en-US" sz="800" b="1" i="0" u="none" strike="noStrike" dirty="0">
                          <a:solidFill>
                            <a:srgbClr val="FFFFFF"/>
                          </a:solidFill>
                          <a:effectLst/>
                          <a:latin typeface="メイリオ" panose="020B0604030504040204" pitchFamily="50" charset="-128"/>
                          <a:ea typeface="メイリオ" panose="020B0604030504040204" pitchFamily="50" charset="-128"/>
                          <a:cs typeface="メイリオ"/>
                        </a:rPr>
                        <a:t>成果報酬プラン</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2802775794"/>
                  </a:ext>
                </a:extLst>
              </a:tr>
            </a:tbl>
          </a:graphicData>
        </a:graphic>
      </p:graphicFrame>
      <p:graphicFrame>
        <p:nvGraphicFramePr>
          <p:cNvPr id="2" name="表 1">
            <a:extLst>
              <a:ext uri="{FF2B5EF4-FFF2-40B4-BE49-F238E27FC236}">
                <a16:creationId xmlns:a16="http://schemas.microsoft.com/office/drawing/2014/main" id="{B3660FD1-8EDB-14B0-55FB-1134D75E1E18}"/>
              </a:ext>
            </a:extLst>
          </p:cNvPr>
          <p:cNvGraphicFramePr>
            <a:graphicFrameLocks noGrp="1"/>
          </p:cNvGraphicFramePr>
          <p:nvPr>
            <p:extLst>
              <p:ext uri="{D42A27DB-BD31-4B8C-83A1-F6EECF244321}">
                <p14:modId xmlns:p14="http://schemas.microsoft.com/office/powerpoint/2010/main" val="1019166198"/>
              </p:ext>
            </p:extLst>
          </p:nvPr>
        </p:nvGraphicFramePr>
        <p:xfrm>
          <a:off x="681037" y="3077158"/>
          <a:ext cx="9081274" cy="2165400"/>
        </p:xfrm>
        <a:graphic>
          <a:graphicData uri="http://schemas.openxmlformats.org/drawingml/2006/table">
            <a:tbl>
              <a:tblPr/>
              <a:tblGrid>
                <a:gridCol w="843040">
                  <a:extLst>
                    <a:ext uri="{9D8B030D-6E8A-4147-A177-3AD203B41FA5}">
                      <a16:colId xmlns:a16="http://schemas.microsoft.com/office/drawing/2014/main" val="3722053567"/>
                    </a:ext>
                  </a:extLst>
                </a:gridCol>
                <a:gridCol w="1276346">
                  <a:extLst>
                    <a:ext uri="{9D8B030D-6E8A-4147-A177-3AD203B41FA5}">
                      <a16:colId xmlns:a16="http://schemas.microsoft.com/office/drawing/2014/main" val="950157771"/>
                    </a:ext>
                  </a:extLst>
                </a:gridCol>
                <a:gridCol w="870236">
                  <a:extLst>
                    <a:ext uri="{9D8B030D-6E8A-4147-A177-3AD203B41FA5}">
                      <a16:colId xmlns:a16="http://schemas.microsoft.com/office/drawing/2014/main" val="1828844380"/>
                    </a:ext>
                  </a:extLst>
                </a:gridCol>
                <a:gridCol w="870236">
                  <a:extLst>
                    <a:ext uri="{9D8B030D-6E8A-4147-A177-3AD203B41FA5}">
                      <a16:colId xmlns:a16="http://schemas.microsoft.com/office/drawing/2014/main" val="1109507576"/>
                    </a:ext>
                  </a:extLst>
                </a:gridCol>
                <a:gridCol w="870236">
                  <a:extLst>
                    <a:ext uri="{9D8B030D-6E8A-4147-A177-3AD203B41FA5}">
                      <a16:colId xmlns:a16="http://schemas.microsoft.com/office/drawing/2014/main" val="1003411805"/>
                    </a:ext>
                  </a:extLst>
                </a:gridCol>
                <a:gridCol w="870236">
                  <a:extLst>
                    <a:ext uri="{9D8B030D-6E8A-4147-A177-3AD203B41FA5}">
                      <a16:colId xmlns:a16="http://schemas.microsoft.com/office/drawing/2014/main" val="317879950"/>
                    </a:ext>
                  </a:extLst>
                </a:gridCol>
                <a:gridCol w="870236">
                  <a:extLst>
                    <a:ext uri="{9D8B030D-6E8A-4147-A177-3AD203B41FA5}">
                      <a16:colId xmlns:a16="http://schemas.microsoft.com/office/drawing/2014/main" val="1722450559"/>
                    </a:ext>
                  </a:extLst>
                </a:gridCol>
                <a:gridCol w="870236">
                  <a:extLst>
                    <a:ext uri="{9D8B030D-6E8A-4147-A177-3AD203B41FA5}">
                      <a16:colId xmlns:a16="http://schemas.microsoft.com/office/drawing/2014/main" val="1085201297"/>
                    </a:ext>
                  </a:extLst>
                </a:gridCol>
                <a:gridCol w="870236">
                  <a:extLst>
                    <a:ext uri="{9D8B030D-6E8A-4147-A177-3AD203B41FA5}">
                      <a16:colId xmlns:a16="http://schemas.microsoft.com/office/drawing/2014/main" val="2042819757"/>
                    </a:ext>
                  </a:extLst>
                </a:gridCol>
                <a:gridCol w="870236">
                  <a:extLst>
                    <a:ext uri="{9D8B030D-6E8A-4147-A177-3AD203B41FA5}">
                      <a16:colId xmlns:a16="http://schemas.microsoft.com/office/drawing/2014/main" val="3405569139"/>
                    </a:ext>
                  </a:extLst>
                </a:gridCol>
              </a:tblGrid>
              <a:tr h="240600">
                <a:tc>
                  <a:txBody>
                    <a:bodyPr/>
                    <a:lstStyle/>
                    <a:p>
                      <a:pPr algn="l"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■成果報酬運営</a:t>
                      </a:r>
                    </a:p>
                  </a:txBody>
                  <a:tcPr marL="5118" marR="5118" marT="511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現状数値</a:t>
                      </a:r>
                    </a:p>
                  </a:txBody>
                  <a:tcPr marL="5118" marR="5118" marT="511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初期</a:t>
                      </a:r>
                    </a:p>
                  </a:txBody>
                  <a:tcPr marL="5118" marR="5118" marT="511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71865101"/>
                  </a:ext>
                </a:extLst>
              </a:tr>
              <a:tr h="240600">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従量課金</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latin typeface="メイリオ"/>
                        <a:ea typeface="メイリオ"/>
                        <a:cs typeface="メイリオ"/>
                      </a:endParaRPr>
                    </a:p>
                  </a:txBody>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747474"/>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747474"/>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747474"/>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747474"/>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747474"/>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747474"/>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72133835"/>
                  </a:ext>
                </a:extLst>
              </a:tr>
              <a:tr h="240600">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コスト想定(固定費)</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latin typeface="メイリオ"/>
                        <a:ea typeface="メイリオ"/>
                        <a:cs typeface="メイリオ"/>
                      </a:endParaRPr>
                    </a:p>
                  </a:txBody>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¥295,000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¥65,000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¥65,000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¥65,000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¥65,000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¥65,000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¥65,000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34499569"/>
                  </a:ext>
                </a:extLst>
              </a:tr>
              <a:tr h="240600">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友だち獲得単価</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latin typeface="メイリオ"/>
                        <a:ea typeface="メイリオ"/>
                        <a:cs typeface="メイリオ"/>
                      </a:endParaRPr>
                    </a:p>
                  </a:txBody>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¥1,006</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¥45,444</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¥45,444</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¥1,006</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¥45,444</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¥45,444</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9843675"/>
                  </a:ext>
                </a:extLst>
              </a:tr>
              <a:tr h="240600">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CPC想定</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latin typeface="メイリオ"/>
                        <a:ea typeface="メイリオ"/>
                        <a:cs typeface="メイリオ"/>
                      </a:endParaRPr>
                    </a:p>
                  </a:txBody>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¥700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¥3,625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¥3,578</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¥597</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¥2,373</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¥2,366</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3536617"/>
                  </a:ext>
                </a:extLst>
              </a:tr>
              <a:tr h="240600">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CVR想定</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latin typeface="メイリオ"/>
                        <a:ea typeface="メイリオ"/>
                        <a:cs typeface="メイリオ"/>
                      </a:endParaRPr>
                    </a:p>
                  </a:txBody>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0.91%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0.78%</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71317927"/>
                  </a:ext>
                </a:extLst>
              </a:tr>
              <a:tr h="240600">
                <a:tc gridSpan="2">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CPA想定</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kumimoji="1" lang="ja-JP" altLang="en-US">
                        <a:latin typeface="メイリオ"/>
                        <a:ea typeface="メイリオ"/>
                        <a:cs typeface="メイリオ"/>
                      </a:endParaRPr>
                    </a:p>
                  </a:txBody>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¥77,000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¥77,000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45297114"/>
                  </a:ext>
                </a:extLst>
              </a:tr>
              <a:tr h="240600">
                <a:tc gridSpan="2">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成果報酬_費用発生</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hMerge="1">
                  <a:txBody>
                    <a:bodyPr/>
                    <a:lstStyle/>
                    <a:p>
                      <a:endParaRPr kumimoji="1" lang="ja-JP" altLang="en-US">
                        <a:latin typeface="メイリオ"/>
                        <a:ea typeface="メイリオ"/>
                        <a:cs typeface="メイリオ"/>
                      </a:endParaRPr>
                    </a:p>
                  </a:txBody>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¥12,000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¥12,000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73273649"/>
                  </a:ext>
                </a:extLst>
              </a:tr>
              <a:tr h="240600">
                <a:tc gridSpan="2">
                  <a:txBody>
                    <a:bodyPr/>
                    <a:lstStyle/>
                    <a:p>
                      <a:pPr algn="ctr" fontAlgn="ctr">
                        <a:buNone/>
                      </a:pPr>
                      <a:r>
                        <a:rPr lang="ja-JP" sz="800" b="1" i="0" u="none" strike="noStrike" dirty="0">
                          <a:solidFill>
                            <a:srgbClr val="FFFFFF"/>
                          </a:solidFill>
                          <a:effectLst/>
                          <a:latin typeface="メイリオ" panose="020B0604030504040204" pitchFamily="50" charset="-128"/>
                          <a:ea typeface="メイリオ" panose="020B0604030504040204" pitchFamily="50" charset="-128"/>
                          <a:cs typeface="メイリオ"/>
                        </a:rPr>
                        <a:t>総計コスト</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hMerge="1">
                  <a:txBody>
                    <a:bodyPr/>
                    <a:lstStyle/>
                    <a:p>
                      <a:endParaRPr kumimoji="1" lang="ja-JP" altLang="en-US">
                        <a:latin typeface="メイリオ"/>
                        <a:ea typeface="メイリオ"/>
                        <a:cs typeface="メイリオ"/>
                      </a:endParaRPr>
                    </a:p>
                  </a:txBody>
                  <a:tcPr/>
                </a:tc>
                <a:tc>
                  <a:txBody>
                    <a:bodyPr/>
                    <a:lstStyle/>
                    <a:p>
                      <a:pPr algn="r" fontAlgn="ctr">
                        <a:buNone/>
                      </a:pPr>
                      <a:r>
                        <a:rPr lang="ja-JP" sz="800" b="1" i="0" u="none" strike="noStrike">
                          <a:solidFill>
                            <a:srgbClr val="FFFFFF"/>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r"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cs typeface="メイリオ"/>
                        </a:rPr>
                        <a:t>¥295,000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¥77,000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¥65,000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¥65,000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¥77,000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cs typeface="メイリオ"/>
                        </a:rPr>
                        <a:t>¥65,000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cs typeface="メイリオ"/>
                        </a:rPr>
                        <a:t>¥65,000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75297540"/>
                  </a:ext>
                </a:extLst>
              </a:tr>
            </a:tbl>
          </a:graphicData>
        </a:graphic>
      </p:graphicFrame>
    </p:spTree>
    <p:extLst>
      <p:ext uri="{BB962C8B-B14F-4D97-AF65-F5344CB8AC3E}">
        <p14:creationId xmlns:p14="http://schemas.microsoft.com/office/powerpoint/2010/main" val="421558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サービス内容</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施策成果件数に伴う費用発生でリスクを抑えた運用スタートを実現。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カスタマージャーニー（8フェーズ）</a:t>
            </a:r>
            <a:endParaRPr lang="en-US" sz="1300" dirty="0">
              <a:latin typeface="メイリオ" panose="020B0604030504040204" pitchFamily="50" charset="-128"/>
              <a:ea typeface="メイリオ" panose="020B0604030504040204" pitchFamily="50" charset="-128"/>
              <a:cs typeface="メイリオ"/>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接触〜リピートまでの動線設計</a:t>
            </a:r>
            <a:endParaRPr lang="en-US" sz="10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02</a:t>
            </a:r>
            <a:endParaRPr lang="en-US" sz="1300" dirty="0">
              <a:latin typeface="メイリオ" panose="020B0604030504040204" pitchFamily="50" charset="-128"/>
              <a:ea typeface="メイリオ" panose="020B0604030504040204" pitchFamily="50" charset="-128"/>
              <a:cs typeface="メイリオ"/>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LINEステップ配信シナリオ（</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4</a:t>
            </a: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-8</a:t>
            </a:r>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本</a:t>
            </a: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a:t>
            </a:r>
            <a:endParaRPr lang="en-US" sz="1300" dirty="0">
              <a:latin typeface="メイリオ" panose="020B0604030504040204" pitchFamily="50" charset="-128"/>
              <a:ea typeface="メイリオ" panose="020B0604030504040204" pitchFamily="50" charset="-128"/>
              <a:cs typeface="メイリオ"/>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友だち追加直後〜成約誘導まで</a:t>
            </a:r>
            <a:endParaRPr lang="en-US" sz="1000" dirty="0">
              <a:latin typeface="メイリオ" panose="020B0604030504040204" pitchFamily="50" charset="-128"/>
              <a:ea typeface="メイリオ" panose="020B0604030504040204" pitchFamily="50" charset="-128"/>
              <a:cs typeface="メイリオ"/>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03</a:t>
            </a:r>
            <a:endParaRPr lang="en-US" sz="1300" dirty="0">
              <a:latin typeface="メイリオ" panose="020B0604030504040204" pitchFamily="50" charset="-128"/>
              <a:ea typeface="メイリオ" panose="020B0604030504040204" pitchFamily="50" charset="-128"/>
              <a:cs typeface="メイリオ"/>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04</a:t>
            </a:r>
            <a:endParaRPr lang="en-US" sz="1300" dirty="0">
              <a:latin typeface="メイリオ" panose="020B0604030504040204" pitchFamily="50" charset="-128"/>
              <a:ea typeface="メイリオ" panose="020B0604030504040204" pitchFamily="50" charset="-128"/>
              <a:cs typeface="メイリオ"/>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セグメント設定</a:t>
            </a:r>
            <a:endParaRPr lang="en-US" sz="1300" dirty="0">
              <a:latin typeface="メイリオ" panose="020B0604030504040204" pitchFamily="50" charset="-128"/>
              <a:ea typeface="メイリオ" panose="020B0604030504040204" pitchFamily="50" charset="-128"/>
              <a:cs typeface="メイリオ"/>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endParaRPr lang="en-US" sz="1000" dirty="0">
              <a:latin typeface="メイリオ" panose="020B0604030504040204" pitchFamily="50" charset="-128"/>
              <a:ea typeface="メイリオ" panose="020B0604030504040204" pitchFamily="50" charset="-128"/>
              <a:cs typeface="メイリオ"/>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a:latin typeface="メイリオ" panose="020B0604030504040204" pitchFamily="50" charset="-128"/>
                <a:ea typeface="メイリオ" panose="020B0604030504040204" pitchFamily="50" charset="-128"/>
                <a:cs typeface="メイリオ"/>
              </a:rPr>
              <a:t>WEB</a:t>
            </a:r>
            <a:r>
              <a:rPr lang="ja-JP" altLang="en-US" sz="1000" dirty="0">
                <a:latin typeface="メイリオ" panose="020B0604030504040204" pitchFamily="50" charset="-128"/>
                <a:ea typeface="メイリオ" panose="020B0604030504040204" pitchFamily="50" charset="-128"/>
                <a:cs typeface="メイリオ"/>
              </a:rPr>
              <a:t>サイトアクション、</a:t>
            </a:r>
            <a:r>
              <a:rPr lang="en-US" altLang="ja-JP" sz="1000" dirty="0">
                <a:latin typeface="メイリオ" panose="020B0604030504040204" pitchFamily="50" charset="-128"/>
                <a:ea typeface="メイリオ" panose="020B0604030504040204" pitchFamily="50" charset="-128"/>
                <a:cs typeface="メイリオ"/>
              </a:rPr>
              <a:t>LINE</a:t>
            </a:r>
            <a:r>
              <a:rPr lang="ja-JP" altLang="en-US" sz="1000" dirty="0">
                <a:latin typeface="メイリオ" panose="020B0604030504040204" pitchFamily="50" charset="-128"/>
                <a:ea typeface="メイリオ" panose="020B0604030504040204" pitchFamily="50" charset="-128"/>
                <a:cs typeface="メイリオ"/>
              </a:rPr>
              <a:t>上アクションのスコアリング 等を活用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sz="1300" dirty="0">
              <a:latin typeface="メイリオ" panose="020B0604030504040204" pitchFamily="50" charset="-128"/>
              <a:ea typeface="メイリオ" panose="020B0604030504040204" pitchFamily="50" charset="-128"/>
              <a:cs typeface="メイリオ"/>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06</a:t>
            </a:r>
            <a:endParaRPr lang="en-US" sz="1300" dirty="0">
              <a:latin typeface="メイリオ" panose="020B0604030504040204" pitchFamily="50" charset="-128"/>
              <a:ea typeface="メイリオ" panose="020B0604030504040204" pitchFamily="50" charset="-128"/>
              <a:cs typeface="メイリオ"/>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季節・時期ごとの企画配信</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繁忙期に連動</a:t>
            </a:r>
            <a:r>
              <a:rPr lang="ja-JP" altLang="en-US" sz="1000" dirty="0">
                <a:solidFill>
                  <a:srgbClr val="64748B"/>
                </a:solidFill>
                <a:latin typeface="メイリオ" panose="020B0604030504040204" pitchFamily="50" charset="-128"/>
                <a:ea typeface="メイリオ" panose="020B0604030504040204" pitchFamily="50" charset="-128"/>
                <a:cs typeface="メイリオ" pitchFamily="34" charset="-120"/>
              </a:rPr>
              <a:t>・各ユーザー層をターゲットと</a:t>
            </a:r>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したキャンペーン案</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07</a:t>
            </a:r>
            <a:endParaRPr lang="en-US" sz="1300" dirty="0">
              <a:latin typeface="メイリオ" panose="020B0604030504040204" pitchFamily="50" charset="-128"/>
              <a:ea typeface="メイリオ" panose="020B0604030504040204" pitchFamily="50" charset="-128"/>
              <a:cs typeface="メイリオ"/>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各種設定の更新・改善</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000" dirty="0">
                <a:latin typeface="メイリオ" panose="020B0604030504040204" pitchFamily="50" charset="-128"/>
                <a:ea typeface="メイリオ" panose="020B0604030504040204" pitchFamily="50" charset="-128"/>
                <a:cs typeface="メイリオ"/>
              </a:rPr>
              <a:t>あいさつメッセージ、リッチメニュー、</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の改修（</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は別途費用）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初期費用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月額費用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FF0000"/>
                </a:solidFill>
                <a:latin typeface="メイリオ" panose="020B0604030504040204" pitchFamily="50" charset="-128"/>
                <a:ea typeface="メイリオ" panose="020B0604030504040204" pitchFamily="50" charset="-128"/>
                <a:cs typeface="メイリオ"/>
              </a:rPr>
              <a:t>※</a:t>
            </a:r>
            <a:r>
              <a:rPr kumimoji="1" lang="ja-JP" altLang="en-US" sz="1000" dirty="0">
                <a:solidFill>
                  <a:srgbClr val="FF0000"/>
                </a:solidFill>
                <a:latin typeface="メイリオ" panose="020B0604030504040204" pitchFamily="50" charset="-128"/>
                <a:ea typeface="メイリオ" panose="020B0604030504040204" pitchFamily="50" charset="-128"/>
                <a:cs typeface="メイリオ"/>
              </a:rPr>
              <a:t>本数により金額変動</a:t>
            </a:r>
          </a:p>
        </p:txBody>
      </p:sp>
      <p:sp>
        <p:nvSpPr>
          <p:cNvPr id="20" name="Shape 12">
            <a:extLst>
              <a:ext uri="{FF2B5EF4-FFF2-40B4-BE49-F238E27FC236}">
                <a16:creationId xmlns:a16="http://schemas.microsoft.com/office/drawing/2014/main" id="{18C0BF3B-C933-B900-F923-9B5EF5F7FBFF}"/>
              </a:ext>
            </a:extLst>
          </p:cNvPr>
          <p:cNvSpPr/>
          <p:nvPr/>
        </p:nvSpPr>
        <p:spPr>
          <a:xfrm>
            <a:off x="286011" y="4017770"/>
            <a:ext cx="3214833" cy="1106171"/>
          </a:xfrm>
          <a:prstGeom prst="roundRect">
            <a:avLst>
              <a:gd name="adj" fmla="val 11111"/>
            </a:avLst>
          </a:prstGeom>
          <a:solidFill>
            <a:srgbClr val="FFFF00">
              <a:alpha val="70000"/>
            </a:srgb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Shape 3">
            <a:extLst>
              <a:ext uri="{FF2B5EF4-FFF2-40B4-BE49-F238E27FC236}">
                <a16:creationId xmlns:a16="http://schemas.microsoft.com/office/drawing/2014/main" id="{A8583825-051F-63CB-E5DA-C6D15505A435}"/>
              </a:ext>
            </a:extLst>
          </p:cNvPr>
          <p:cNvSpPr/>
          <p:nvPr/>
        </p:nvSpPr>
        <p:spPr>
          <a:xfrm>
            <a:off x="396037" y="414691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6" name="Text 4">
            <a:extLst>
              <a:ext uri="{FF2B5EF4-FFF2-40B4-BE49-F238E27FC236}">
                <a16:creationId xmlns:a16="http://schemas.microsoft.com/office/drawing/2014/main" id="{3C6030FF-300A-A8F4-53D7-7136504B9465}"/>
              </a:ext>
            </a:extLst>
          </p:cNvPr>
          <p:cNvSpPr/>
          <p:nvPr/>
        </p:nvSpPr>
        <p:spPr>
          <a:xfrm>
            <a:off x="396037" y="414691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28" name="Shape 13">
            <a:extLst>
              <a:ext uri="{FF2B5EF4-FFF2-40B4-BE49-F238E27FC236}">
                <a16:creationId xmlns:a16="http://schemas.microsoft.com/office/drawing/2014/main" id="{BA6E3B17-14AB-43B1-EBF3-8D9704B6BB11}"/>
              </a:ext>
            </a:extLst>
          </p:cNvPr>
          <p:cNvSpPr/>
          <p:nvPr/>
        </p:nvSpPr>
        <p:spPr>
          <a:xfrm>
            <a:off x="1134415" y="4146914"/>
            <a:ext cx="502920" cy="475488"/>
          </a:xfrm>
          <a:prstGeom prst="roundRect">
            <a:avLst>
              <a:gd name="adj" fmla="val 11538"/>
            </a:avLst>
          </a:prstGeom>
          <a:solidFill>
            <a:srgbClr val="1E2761"/>
          </a:solidFill>
          <a:ln w="12700">
            <a:solidFill>
              <a:srgbClr val="1E2761"/>
            </a:solidFill>
            <a:prstDash val="solid"/>
          </a:ln>
        </p:spPr>
        <p:txBody>
          <a:bodyPr anchor="ctr"/>
          <a:lstStyle/>
          <a:p>
            <a:pPr algn="ctr"/>
            <a:r>
              <a:rPr lang="en-US" altLang="ja-JP" sz="14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altLang="ja-JP" sz="1400" dirty="0">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B64D3BA7-9F12-14DB-A4FB-CDB1ED52D238}"/>
              </a:ext>
            </a:extLst>
          </p:cNvPr>
          <p:cNvSpPr txBox="1"/>
          <p:nvPr/>
        </p:nvSpPr>
        <p:spPr>
          <a:xfrm>
            <a:off x="850134" y="4251844"/>
            <a:ext cx="2789430" cy="738664"/>
          </a:xfrm>
          <a:prstGeom prst="rect">
            <a:avLst/>
          </a:prstGeom>
          <a:noFill/>
        </p:spPr>
        <p:txBody>
          <a:bodyPr wrap="square">
            <a:spAutoFit/>
          </a:bodyPr>
          <a:lstStyle/>
          <a:p>
            <a:r>
              <a:rPr kumimoji="1" lang="ja-JP" altLang="en-US" sz="1400" b="1" dirty="0">
                <a:latin typeface="メイリオ" panose="020B0604030504040204" pitchFamily="50" charset="-128"/>
                <a:ea typeface="メイリオ" panose="020B0604030504040204" pitchFamily="50" charset="-128"/>
                <a:cs typeface="メイリオ"/>
              </a:rPr>
              <a:t>～　　　 の修正・調整も</a:t>
            </a:r>
            <a:endParaRPr lang="en-US" altLang="ja-JP" sz="1400" b="1" dirty="0">
              <a:latin typeface="メイリオ" panose="020B0604030504040204" pitchFamily="50" charset="-128"/>
              <a:ea typeface="メイリオ" panose="020B0604030504040204" pitchFamily="50" charset="-128"/>
              <a:cs typeface="メイリオ"/>
            </a:endParaRPr>
          </a:p>
          <a:p>
            <a:endParaRPr kumimoji="1" lang="en-US" altLang="ja-JP" sz="1400" b="1" dirty="0">
              <a:latin typeface="メイリオ" panose="020B0604030504040204" pitchFamily="50" charset="-128"/>
              <a:ea typeface="メイリオ" panose="020B0604030504040204" pitchFamily="50" charset="-128"/>
              <a:cs typeface="メイリオ"/>
            </a:endParaRPr>
          </a:p>
          <a:p>
            <a:r>
              <a:rPr lang="ja-JP" altLang="en-US" sz="1400" b="1" dirty="0">
                <a:latin typeface="メイリオ" panose="020B0604030504040204" pitchFamily="50" charset="-128"/>
                <a:ea typeface="メイリオ" panose="020B0604030504040204" pitchFamily="50" charset="-128"/>
                <a:cs typeface="メイリオ"/>
              </a:rPr>
              <a:t>月次対応内に含んでおります。</a:t>
            </a:r>
            <a:endParaRPr kumimoji="1" lang="en-US" altLang="ja-JP" sz="1400"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3693530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445BC53-89DD-A84D-9D16-6634A99161D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9AB03A73-8782-5833-4EC4-7EE6E67551B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cs typeface="メイリオ"/>
              </a:rPr>
              <a:t>都度発注プラン</a:t>
            </a:r>
          </a:p>
        </p:txBody>
      </p:sp>
      <p:sp>
        <p:nvSpPr>
          <p:cNvPr id="3" name="Google Shape;752;p28">
            <a:extLst>
              <a:ext uri="{FF2B5EF4-FFF2-40B4-BE49-F238E27FC236}">
                <a16:creationId xmlns:a16="http://schemas.microsoft.com/office/drawing/2014/main" id="{028B53B5-690E-5899-171E-A9074171D6E9}"/>
              </a:ext>
            </a:extLst>
          </p:cNvPr>
          <p:cNvSpPr txBox="1"/>
          <p:nvPr/>
        </p:nvSpPr>
        <p:spPr>
          <a:xfrm>
            <a:off x="3036570" y="859443"/>
            <a:ext cx="627632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LINEOA</a:t>
            </a:r>
            <a:r>
              <a:rPr lang="ja-JP" altLang="en-US" sz="1600" b="1" dirty="0">
                <a:latin typeface="メイリオ" panose="020B0604030504040204" pitchFamily="50" charset="-128"/>
                <a:ea typeface="メイリオ" panose="020B0604030504040204" pitchFamily="50" charset="-128"/>
                <a:cs typeface="メイリオ"/>
                <a:sym typeface="Meiryo"/>
              </a:rPr>
              <a:t>の運用業務・</a:t>
            </a:r>
            <a:r>
              <a:rPr lang="en-US" altLang="ja-JP" sz="1600" b="1" dirty="0">
                <a:latin typeface="メイリオ" panose="020B0604030504040204" pitchFamily="50" charset="-128"/>
                <a:ea typeface="メイリオ" panose="020B0604030504040204" pitchFamily="50" charset="-128"/>
                <a:cs typeface="メイリオ"/>
                <a:sym typeface="Meiryo"/>
              </a:rPr>
              <a:t>CR</a:t>
            </a:r>
            <a:r>
              <a:rPr lang="ja-JP" altLang="en-US" sz="1600" b="1" dirty="0">
                <a:latin typeface="メイリオ" panose="020B0604030504040204" pitchFamily="50" charset="-128"/>
                <a:ea typeface="メイリオ" panose="020B0604030504040204" pitchFamily="50" charset="-128"/>
                <a:cs typeface="メイリオ"/>
                <a:sym typeface="Meiryo"/>
              </a:rPr>
              <a:t>制作業務を一部外出ししてご依頼依頼も。</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sp>
        <p:nvSpPr>
          <p:cNvPr id="12" name="正方形/長方形 11">
            <a:extLst>
              <a:ext uri="{FF2B5EF4-FFF2-40B4-BE49-F238E27FC236}">
                <a16:creationId xmlns:a16="http://schemas.microsoft.com/office/drawing/2014/main" id="{E2BC9744-CCD5-D85B-03E7-5884310FE6EE}"/>
              </a:ext>
            </a:extLst>
          </p:cNvPr>
          <p:cNvSpPr/>
          <p:nvPr/>
        </p:nvSpPr>
        <p:spPr>
          <a:xfrm>
            <a:off x="548883" y="1380214"/>
            <a:ext cx="8859613" cy="5081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13" name="テキスト ボックス 12">
            <a:extLst>
              <a:ext uri="{FF2B5EF4-FFF2-40B4-BE49-F238E27FC236}">
                <a16:creationId xmlns:a16="http://schemas.microsoft.com/office/drawing/2014/main" id="{B88E2B73-305C-9688-214C-1EF768E484BD}"/>
              </a:ext>
            </a:extLst>
          </p:cNvPr>
          <p:cNvSpPr txBox="1"/>
          <p:nvPr/>
        </p:nvSpPr>
        <p:spPr>
          <a:xfrm>
            <a:off x="706726" y="1569462"/>
            <a:ext cx="4963884" cy="253916"/>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追加作業における費用感　</a:t>
            </a:r>
            <a:r>
              <a:rPr lang="en-US" altLang="ja-JP" sz="900" dirty="0">
                <a:solidFill>
                  <a:srgbClr val="FF0000"/>
                </a:solidFill>
                <a:latin typeface="メイリオ" panose="020B0604030504040204" pitchFamily="50" charset="-128"/>
                <a:ea typeface="メイリオ" panose="020B0604030504040204" pitchFamily="50" charset="-128"/>
                <a:cs typeface="メイリオ"/>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メイリオ"/>
                <a:sym typeface="Meiryo"/>
              </a:rPr>
              <a:t>作業量により変動する可能性がございます</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&gt;</a:t>
            </a:r>
            <a:endParaRPr lang="ja-JP" altLang="en-US" sz="1050" dirty="0">
              <a:solidFill>
                <a:schemeClr val="tx1">
                  <a:lumMod val="65000"/>
                  <a:lumOff val="35000"/>
                </a:schemeClr>
              </a:solidFill>
              <a:latin typeface="メイリオ"/>
              <a:ea typeface="メイリオ"/>
              <a:cs typeface="メイリオ"/>
            </a:endParaRPr>
          </a:p>
        </p:txBody>
      </p:sp>
      <p:graphicFrame>
        <p:nvGraphicFramePr>
          <p:cNvPr id="14" name="表 13">
            <a:extLst>
              <a:ext uri="{FF2B5EF4-FFF2-40B4-BE49-F238E27FC236}">
                <a16:creationId xmlns:a16="http://schemas.microsoft.com/office/drawing/2014/main" id="{09C77DA6-2F75-12F7-39C7-7A6997364857}"/>
              </a:ext>
            </a:extLst>
          </p:cNvPr>
          <p:cNvGraphicFramePr>
            <a:graphicFrameLocks noGrp="1"/>
          </p:cNvGraphicFramePr>
          <p:nvPr/>
        </p:nvGraphicFramePr>
        <p:xfrm>
          <a:off x="706726" y="1862534"/>
          <a:ext cx="8543925" cy="4069730"/>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29069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内容</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1100" b="1"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月額</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アカウント開設</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API</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ツール導入</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2032470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プロフィール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ID</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¥200,000~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7246626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リッチメニュー</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ログイン</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3180495"/>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あいさつメッセージ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通知メッセージ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56199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初期アンケート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チャットボット機能</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98230469"/>
                  </a:ext>
                </a:extLst>
              </a:tr>
              <a:tr h="290695">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KW</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の自動応答</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Chat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13055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ステップ配信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Call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113508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セグメント配信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決済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8971440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チャットタグ管理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021493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チャット対応</a:t>
                      </a:r>
                      <a:r>
                        <a:rPr lang="ja-JP" altLang="en-US" sz="700" b="0" i="0" u="none" strike="noStrike" dirty="0">
                          <a:solidFill>
                            <a:srgbClr val="FF0000"/>
                          </a:solidFill>
                          <a:effectLst/>
                          <a:latin typeface="メイリオ" panose="020B0604030504040204" pitchFamily="50" charset="-128"/>
                          <a:ea typeface="メイリオ" panose="020B0604030504040204" pitchFamily="50" charset="-128"/>
                          <a:cs typeface="メイリオ"/>
                        </a:rPr>
                        <a:t> </a:t>
                      </a:r>
                      <a:r>
                        <a:rPr lang="en-US" altLang="ja-JP" sz="700" b="0" i="0" u="none" strike="noStrike" dirty="0">
                          <a:solidFill>
                            <a:srgbClr val="FF0000"/>
                          </a:solidFill>
                          <a:effectLst/>
                          <a:latin typeface="メイリオ" panose="020B0604030504040204" pitchFamily="50" charset="-128"/>
                          <a:ea typeface="メイリオ" panose="020B0604030504040204" pitchFamily="50" charset="-128"/>
                          <a:cs typeface="メイリオ"/>
                        </a:rPr>
                        <a:t>※</a:t>
                      </a:r>
                      <a:r>
                        <a:rPr lang="ja-JP" altLang="en-US" sz="700" b="0" i="0" u="none" strike="noStrike" dirty="0">
                          <a:solidFill>
                            <a:srgbClr val="FF0000"/>
                          </a:solidFill>
                          <a:effectLst/>
                          <a:latin typeface="メイリオ" panose="020B0604030504040204" pitchFamily="50" charset="-128"/>
                          <a:ea typeface="メイリオ" panose="020B0604030504040204" pitchFamily="50" charset="-128"/>
                          <a:cs typeface="メイリオ"/>
                        </a:rPr>
                        <a:t>サポートは可能</a:t>
                      </a:r>
                      <a:endParaRPr lang="ja-JP" altLang="en-US" sz="1100" b="0" i="0" u="none" strike="noStrike" dirty="0">
                        <a:solidFill>
                          <a:srgbClr val="FF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¥100,000</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件数により変動</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9396613"/>
                  </a:ext>
                </a:extLst>
              </a:tr>
              <a:tr h="290695">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GA(CRM)</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レポート連携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0232177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クリエイティブ</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離脱防止ツール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8905920"/>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投稿作成</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サンクス</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誘導ツール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17655704"/>
                  </a:ext>
                </a:extLst>
              </a:tr>
            </a:tbl>
          </a:graphicData>
        </a:graphic>
      </p:graphicFrame>
      <p:sp>
        <p:nvSpPr>
          <p:cNvPr id="5" name="テキスト ボックス 4">
            <a:extLst>
              <a:ext uri="{FF2B5EF4-FFF2-40B4-BE49-F238E27FC236}">
                <a16:creationId xmlns:a16="http://schemas.microsoft.com/office/drawing/2014/main" id="{F7D704DA-4ADC-402A-12BC-1D923B1E3B20}"/>
              </a:ext>
            </a:extLst>
          </p:cNvPr>
          <p:cNvSpPr txBox="1"/>
          <p:nvPr/>
        </p:nvSpPr>
        <p:spPr>
          <a:xfrm>
            <a:off x="1344877" y="6045252"/>
            <a:ext cx="7267622" cy="307777"/>
          </a:xfrm>
          <a:prstGeom prst="rect">
            <a:avLst/>
          </a:prstGeom>
          <a:noFill/>
        </p:spPr>
        <p:txBody>
          <a:bodyPr wrap="square">
            <a:spAutoFit/>
          </a:bodyPr>
          <a:lstStyle/>
          <a:p>
            <a:pPr algn="ctr"/>
            <a:r>
              <a:rPr lang="ja-JP" altLang="en-US" sz="1400" dirty="0">
                <a:solidFill>
                  <a:srgbClr val="FF0000"/>
                </a:solidFill>
                <a:latin typeface="メイリオ" panose="020B0604030504040204" pitchFamily="50" charset="-128"/>
                <a:ea typeface="メイリオ" panose="020B0604030504040204" pitchFamily="50" charset="-128"/>
                <a:cs typeface="メイリオ"/>
                <a:sym typeface="Meiryo"/>
              </a:rPr>
              <a:t>貴社リソースの状況に応じて都度発注でのご依頼も各単価で受けさせていただきます。</a:t>
            </a:r>
            <a:endParaRPr lang="ja-JP" altLang="en-US" sz="1400" dirty="0">
              <a:latin typeface="メイリオ"/>
              <a:ea typeface="メイリオ"/>
              <a:cs typeface="メイリオ"/>
            </a:endParaRPr>
          </a:p>
        </p:txBody>
      </p:sp>
      <p:sp>
        <p:nvSpPr>
          <p:cNvPr id="2" name="正方形/長方形 1">
            <a:extLst>
              <a:ext uri="{FF2B5EF4-FFF2-40B4-BE49-F238E27FC236}">
                <a16:creationId xmlns:a16="http://schemas.microsoft.com/office/drawing/2014/main" id="{80B84980-B4D9-2F75-F253-D767EB0FFCF5}"/>
              </a:ext>
            </a:extLst>
          </p:cNvPr>
          <p:cNvSpPr/>
          <p:nvPr/>
        </p:nvSpPr>
        <p:spPr>
          <a:xfrm>
            <a:off x="378823" y="1329288"/>
            <a:ext cx="9183188" cy="5219557"/>
          </a:xfrm>
          <a:prstGeom prst="rect">
            <a:avLst/>
          </a:prstGeom>
          <a:solidFill>
            <a:schemeClr val="bg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880881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3629572" y="3038203"/>
            <a:ext cx="2646878"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サポート体制</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921340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cs typeface="メイリオ"/>
              </a:rPr>
              <a:t>WEB</a:t>
            </a:r>
            <a:r>
              <a:rPr lang="ja-JP" altLang="en-US" sz="2400" dirty="0">
                <a:solidFill>
                  <a:schemeClr val="bg1"/>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cs typeface="メイリオ"/>
              </a:rPr>
              <a:t>☑</a:t>
            </a:r>
            <a:endParaRPr lang="ja-JP" altLang="en-US" sz="3600" dirty="0">
              <a:latin typeface="メイリオ"/>
              <a:ea typeface="メイリオ"/>
              <a:cs typeface="メイリオ"/>
            </a:endParaRPr>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cs typeface="メイリオ"/>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1400" dirty="0">
                <a:solidFill>
                  <a:schemeClr val="bg1"/>
                </a:solidFill>
                <a:latin typeface="メイリオ" panose="020B0604030504040204" pitchFamily="50" charset="-128"/>
                <a:ea typeface="メイリオ" panose="020B0604030504040204" pitchFamily="50" charset="-128"/>
                <a:cs typeface="メイリオ"/>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cs typeface="メイリオ"/>
              </a:rPr>
              <a:t>効果計測</a:t>
            </a:r>
            <a:endParaRPr kumimoji="1" lang="ja-JP" altLang="en-US" sz="1100" dirty="0">
              <a:latin typeface="メイリオ" panose="020B0604030504040204" pitchFamily="50" charset="-128"/>
              <a:ea typeface="メイリオ" panose="020B0604030504040204" pitchFamily="50" charset="-128"/>
              <a:cs typeface="メイリオ"/>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ツールなし</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kumimoji="1" lang="ja-JP" altLang="en-US" sz="1200" b="1" dirty="0">
                <a:latin typeface="メイリオ" panose="020B0604030504040204" pitchFamily="50" charset="-128"/>
                <a:ea typeface="メイリオ" panose="020B0604030504040204" pitchFamily="50" charset="-128"/>
                <a:cs typeface="メイリオ"/>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cs typeface="メイリオ"/>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ツール有無</a:t>
            </a:r>
            <a:endParaRPr lang="en-US" altLang="ja-JP" sz="1200" b="1" dirty="0">
              <a:latin typeface="メイリオ" panose="020B0604030504040204" pitchFamily="50" charset="-128"/>
              <a:ea typeface="メイリオ" panose="020B0604030504040204" pitchFamily="50" charset="-128"/>
              <a:cs typeface="メイリオ"/>
            </a:endParaRPr>
          </a:p>
          <a:p>
            <a:pPr algn="ctr"/>
            <a:r>
              <a:rPr kumimoji="1" lang="ja-JP" altLang="en-US" sz="1200" b="1" dirty="0">
                <a:latin typeface="メイリオ" panose="020B0604030504040204" pitchFamily="50" charset="-128"/>
                <a:ea typeface="メイリオ" panose="020B0604030504040204" pitchFamily="50" charset="-128"/>
                <a:cs typeface="メイリオ"/>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cs typeface="メイリオ"/>
              </a:rPr>
              <a:t>定期投稿、シナリオ、リッチメニュー等に設定の</a:t>
            </a:r>
            <a:endParaRPr lang="en-US" altLang="ja-JP" sz="1400" dirty="0">
              <a:latin typeface="メイリオ" panose="020B0604030504040204" pitchFamily="50" charset="-128"/>
              <a:ea typeface="メイリオ" panose="020B0604030504040204" pitchFamily="50" charset="-128"/>
              <a:cs typeface="メイリオ"/>
            </a:endParaRPr>
          </a:p>
          <a:p>
            <a:r>
              <a:rPr lang="ja-JP" altLang="en-US" sz="1400" dirty="0">
                <a:latin typeface="メイリオ" panose="020B0604030504040204" pitchFamily="50" charset="-128"/>
                <a:ea typeface="メイリオ" panose="020B0604030504040204" pitchFamily="50" charset="-128"/>
                <a:cs typeface="メイリオ"/>
              </a:rPr>
              <a:t>リンクについて、</a:t>
            </a:r>
            <a:r>
              <a:rPr lang="en-US" altLang="ja-JP" sz="1400" dirty="0">
                <a:solidFill>
                  <a:srgbClr val="FF0000"/>
                </a:solidFill>
                <a:latin typeface="メイリオ" panose="020B0604030504040204" pitchFamily="50" charset="-128"/>
                <a:ea typeface="メイリオ" panose="020B0604030504040204" pitchFamily="50" charset="-128"/>
                <a:cs typeface="メイリオ"/>
              </a:rPr>
              <a:t>GA</a:t>
            </a:r>
            <a:r>
              <a:rPr lang="ja-JP" altLang="en-US" sz="1400" dirty="0" err="1">
                <a:solidFill>
                  <a:srgbClr val="FF0000"/>
                </a:solidFill>
                <a:latin typeface="メイリオ" panose="020B0604030504040204" pitchFamily="50" charset="-128"/>
                <a:ea typeface="メイリオ" panose="020B0604030504040204" pitchFamily="50" charset="-128"/>
                <a:cs typeface="メイリオ"/>
              </a:rPr>
              <a:t>、</a:t>
            </a:r>
            <a:r>
              <a:rPr lang="en-US" altLang="ja-JP" sz="1400" dirty="0">
                <a:solidFill>
                  <a:srgbClr val="FF0000"/>
                </a:solidFill>
                <a:latin typeface="メイリオ" panose="020B0604030504040204" pitchFamily="50" charset="-128"/>
                <a:ea typeface="メイリオ" panose="020B0604030504040204" pitchFamily="50" charset="-128"/>
                <a:cs typeface="メイリオ"/>
              </a:rPr>
              <a:t>MA</a:t>
            </a:r>
            <a:r>
              <a:rPr lang="ja-JP" altLang="en-US" sz="1400" dirty="0">
                <a:solidFill>
                  <a:srgbClr val="FF0000"/>
                </a:solidFill>
                <a:latin typeface="メイリオ" panose="020B0604030504040204" pitchFamily="50" charset="-128"/>
                <a:ea typeface="メイリオ" panose="020B0604030504040204" pitchFamily="50" charset="-128"/>
                <a:cs typeface="メイリオ"/>
              </a:rPr>
              <a:t>ツールでの計測可能</a:t>
            </a:r>
            <a:r>
              <a:rPr lang="ja-JP" altLang="en-US" sz="1400" dirty="0">
                <a:latin typeface="メイリオ" panose="020B0604030504040204" pitchFamily="50" charset="-128"/>
                <a:ea typeface="メイリオ" panose="020B0604030504040204" pitchFamily="50" charset="-128"/>
                <a:cs typeface="メイリオ"/>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cs typeface="メイリオ"/>
              </a:rPr>
              <a:t>DYM</a:t>
            </a:r>
            <a:endParaRPr lang="ja-JP" altLang="en-US" dirty="0">
              <a:latin typeface="メイリオ" panose="020B0604030504040204" pitchFamily="50" charset="-128"/>
              <a:ea typeface="メイリオ" panose="020B0604030504040204" pitchFamily="50" charset="-128"/>
              <a:cs typeface="メイリオ"/>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レポート（日次）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kumimoji="1"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レポート（月次）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cs typeface="メイリオ"/>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cs typeface="メイリオ"/>
            </a:endParaRPr>
          </a:p>
          <a:p>
            <a:pPr algn="ctr"/>
            <a:r>
              <a:rPr lang="ja-JP" altLang="en-US" sz="1400" dirty="0">
                <a:latin typeface="メイリオ" panose="020B0604030504040204" pitchFamily="50" charset="-128"/>
                <a:ea typeface="メイリオ" panose="020B0604030504040204" pitchFamily="50" charset="-128"/>
                <a:cs typeface="メイリオ"/>
              </a:rPr>
              <a:t>投稿別</a:t>
            </a:r>
            <a:r>
              <a:rPr lang="en-US" altLang="ja-JP" sz="1400" dirty="0">
                <a:latin typeface="メイリオ" panose="020B0604030504040204" pitchFamily="50" charset="-128"/>
                <a:ea typeface="メイリオ" panose="020B0604030504040204" pitchFamily="50" charset="-128"/>
                <a:cs typeface="メイリオ"/>
              </a:rPr>
              <a:t>×</a:t>
            </a:r>
            <a:r>
              <a:rPr lang="ja-JP" altLang="en-US" sz="1400" dirty="0">
                <a:latin typeface="メイリオ" panose="020B0604030504040204" pitchFamily="50" charset="-128"/>
                <a:ea typeface="メイリオ" panose="020B0604030504040204" pitchFamily="50" charset="-128"/>
                <a:cs typeface="メイリオ"/>
              </a:rPr>
              <a:t>セグメント別でデータ化でき、</a:t>
            </a:r>
            <a:r>
              <a:rPr lang="en-US" altLang="ja-JP" sz="1400" dirty="0">
                <a:latin typeface="メイリオ" panose="020B0604030504040204" pitchFamily="50" charset="-128"/>
                <a:ea typeface="メイリオ" panose="020B0604030504040204" pitchFamily="50" charset="-128"/>
                <a:cs typeface="メイリオ"/>
              </a:rPr>
              <a:t>AB</a:t>
            </a:r>
            <a:r>
              <a:rPr lang="ja-JP" altLang="en-US" sz="1400" dirty="0">
                <a:latin typeface="メイリオ" panose="020B0604030504040204" pitchFamily="50" charset="-128"/>
                <a:ea typeface="メイリオ" panose="020B0604030504040204" pitchFamily="50" charset="-128"/>
                <a:cs typeface="メイリオ"/>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弊社体制図</a:t>
            </a:r>
            <a:endParaRPr kumimoji="1" lang="ja-JP" altLang="en-US" sz="1600" b="1" dirty="0">
              <a:latin typeface="メイリオ" panose="020B0604030504040204" pitchFamily="50" charset="-128"/>
              <a:ea typeface="メイリオ" panose="020B0604030504040204" pitchFamily="50" charset="-128"/>
              <a:cs typeface="メイリオ"/>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メイリオ"/>
                <a:ea typeface="メイリオ"/>
                <a:cs typeface="メイリオ"/>
                <a:sym typeface="Meiryo"/>
              </a:rPr>
              <a:t>GA</a:t>
            </a:r>
            <a:r>
              <a:rPr lang="ja-JP" altLang="en-US" sz="1600" b="1" dirty="0">
                <a:solidFill>
                  <a:schemeClr val="tx1">
                    <a:lumMod val="65000"/>
                    <a:lumOff val="35000"/>
                  </a:schemeClr>
                </a:solidFill>
                <a:latin typeface="メイリオ"/>
                <a:ea typeface="メイリオ"/>
                <a:cs typeface="メイリオ"/>
                <a:sym typeface="Meiryo"/>
              </a:rPr>
              <a:t>及び</a:t>
            </a:r>
            <a:r>
              <a:rPr lang="en-US" altLang="ja-JP" sz="1600" b="1" dirty="0">
                <a:solidFill>
                  <a:schemeClr val="tx1">
                    <a:lumMod val="65000"/>
                    <a:lumOff val="35000"/>
                  </a:schemeClr>
                </a:solidFill>
                <a:latin typeface="メイリオ"/>
                <a:ea typeface="メイリオ"/>
                <a:cs typeface="メイリオ"/>
                <a:sym typeface="Meiryo"/>
              </a:rPr>
              <a:t>MA</a:t>
            </a:r>
            <a:r>
              <a:rPr lang="ja-JP" altLang="en-US" sz="1600" b="1" dirty="0">
                <a:solidFill>
                  <a:schemeClr val="tx1">
                    <a:lumMod val="65000"/>
                    <a:lumOff val="35000"/>
                  </a:schemeClr>
                </a:solidFill>
                <a:latin typeface="メイリオ"/>
                <a:ea typeface="メイリオ"/>
                <a:cs typeface="メイリオ"/>
                <a:sym typeface="Meiryo"/>
              </a:rPr>
              <a:t>ツール両面での計測ができるようパラメータ管理。</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公式アカウントの管理画面には出ない、サイト上の結果を紐づけ。</a:t>
            </a:r>
            <a:endParaRPr sz="1600" b="1" dirty="0">
              <a:solidFill>
                <a:schemeClr val="tx1">
                  <a:lumMod val="65000"/>
                  <a:lumOff val="35000"/>
                </a:schemeClr>
              </a:solidFill>
              <a:latin typeface="メイリオ"/>
              <a:ea typeface="メイリオ"/>
              <a:cs typeface="メイリオ"/>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体制図（イメージ）</a:t>
            </a:r>
            <a:endParaRPr sz="1600" b="1" dirty="0">
              <a:solidFill>
                <a:srgbClr val="002060"/>
              </a:solidFill>
              <a:latin typeface="メイリオ"/>
              <a:ea typeface="メイリオ"/>
              <a:cs typeface="メイリオ"/>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リス・</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SNS運用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入稿作業</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運用サポート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cs typeface="メイリオ"/>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制作</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FFC000"/>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LINEOA運用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広告運用統括・コンサル</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　</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latin typeface="メイリオ"/>
              <a:ea typeface="メイリオ"/>
              <a:cs typeface="メイリオ"/>
            </a:endParaRPr>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35440024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運用スケジュール</a:t>
            </a:r>
            <a:endParaRPr sz="1600" b="1" dirty="0">
              <a:solidFill>
                <a:srgbClr val="002060"/>
              </a:solidFill>
              <a:latin typeface="メイリオ"/>
              <a:ea typeface="メイリオ"/>
              <a:cs typeface="メイリオ"/>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連携の設定 </a:t>
            </a:r>
            <a:r>
              <a:rPr kumimoji="1" lang="en-US" altLang="ja-JP" dirty="0">
                <a:solidFill>
                  <a:schemeClr val="bg1">
                    <a:lumMod val="50000"/>
                  </a:schemeClr>
                </a:solidFill>
                <a:latin typeface="メイリオ" panose="020B0604030504040204" pitchFamily="50" charset="-128"/>
                <a:ea typeface="メイリオ" panose="020B0604030504040204" pitchFamily="50" charset="-128"/>
                <a:cs typeface="メイリオ"/>
              </a:rPr>
              <a:t>/ </a:t>
            </a: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cs typeface="メイリオ"/>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cs typeface="メイリオ"/>
              </a:rPr>
              <a:t>サイト・LINEへの実装は、初期設計が整い次第、順次進行</a:t>
            </a:r>
            <a:endParaRPr lang="ja-JP" altLang="en-US" sz="2400" dirty="0">
              <a:latin typeface="メイリオ"/>
              <a:ea typeface="メイリオ"/>
              <a:cs typeface="メイリオ"/>
            </a:endParaRPr>
          </a:p>
        </p:txBody>
      </p:sp>
      <p:sp>
        <p:nvSpPr>
          <p:cNvPr id="20" name="正方形/長方形 19"/>
          <p:cNvSpPr/>
          <p:nvPr/>
        </p:nvSpPr>
        <p:spPr>
          <a:xfrm>
            <a:off x="4708989" y="5841409"/>
            <a:ext cx="495520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貴社作業・確認にかかる時間により前後する可能性がございます。</a:t>
            </a:r>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Tree>
    <p:extLst>
      <p:ext uri="{BB962C8B-B14F-4D97-AF65-F5344CB8AC3E}">
        <p14:creationId xmlns:p14="http://schemas.microsoft.com/office/powerpoint/2010/main" val="21214348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1460711" y="3038203"/>
            <a:ext cx="6984604"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公式アカウント運用のメリット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095433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離脱防止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友だち追加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で学習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021152"/>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152765"/>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過去の顧客データを活用</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32031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37704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の動線での</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DYM</a:t>
            </a:r>
            <a:r>
              <a:rPr lang="ja-JP" altLang="en-US" sz="1200" dirty="0">
                <a:solidFill>
                  <a:schemeClr val="bg1"/>
                </a:solidFill>
                <a:latin typeface="メイリオ" panose="020B0604030504040204" pitchFamily="50" charset="-128"/>
                <a:ea typeface="メイリオ" panose="020B0604030504040204" pitchFamily="50" charset="-128"/>
                <a:cs typeface="メイリオ"/>
              </a:rPr>
              <a:t>施策</a:t>
            </a:r>
            <a:endParaRPr lang="ja-JP" altLang="en-US" sz="1200" dirty="0">
              <a:solidFill>
                <a:schemeClr val="bg1"/>
              </a:solidFill>
              <a:latin typeface="メイリオ"/>
              <a:ea typeface="メイリオ"/>
              <a:cs typeface="メイリオ"/>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現状施策</a:t>
            </a:r>
            <a:endParaRPr lang="ja-JP" altLang="en-US" sz="1200" dirty="0">
              <a:solidFill>
                <a:schemeClr val="bg1"/>
              </a:solidFill>
              <a:latin typeface="メイリオ"/>
              <a:ea typeface="メイリオ"/>
              <a:cs typeface="メイリオ"/>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定期購入・クロスセル</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商材への動線設計</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※ID</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ミニアプリ・診断 →</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 </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特典</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1000" dirty="0">
                <a:solidFill>
                  <a:schemeClr val="bg1"/>
                </a:solidFill>
                <a:latin typeface="メイリオ" panose="020B0604030504040204" pitchFamily="50" charset="-128"/>
                <a:ea typeface="メイリオ" panose="020B0604030504040204" pitchFamily="50" charset="-128"/>
                <a:cs typeface="メイリオ"/>
              </a:rPr>
              <a:t>長期施策として想定</a:t>
            </a:r>
          </a:p>
        </p:txBody>
      </p:sp>
      <p:sp>
        <p:nvSpPr>
          <p:cNvPr id="38" name="台形 37">
            <a:extLst>
              <a:ext uri="{FF2B5EF4-FFF2-40B4-BE49-F238E27FC236}">
                <a16:creationId xmlns:a16="http://schemas.microsoft.com/office/drawing/2014/main" id="{E53AF788-4E7A-2498-3387-439141AF8B85}"/>
              </a:ext>
            </a:extLst>
          </p:cNvPr>
          <p:cNvSpPr/>
          <p:nvPr/>
        </p:nvSpPr>
        <p:spPr>
          <a:xfrm rot="10800000" flipV="1">
            <a:off x="5413000" y="2265395"/>
            <a:ext cx="1826395" cy="3929946"/>
          </a:xfrm>
          <a:prstGeom prst="trapezoid">
            <a:avLst>
              <a:gd name="adj" fmla="val 0"/>
            </a:avLst>
          </a:prstGeom>
          <a:solidFill>
            <a:schemeClr val="bg1">
              <a:lumMod val="95000"/>
              <a:alpha val="67000"/>
            </a:schemeClr>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ヒアリングの上</a:t>
            </a:r>
            <a:endParaRPr lang="en-US" altLang="ja-JP" sz="105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確定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 </a:t>
            </a:r>
            <a:r>
              <a:rPr kumimoji="1" lang="ja-JP" altLang="en-US" sz="1200" b="1" dirty="0">
                <a:latin typeface="メイリオ" panose="020B0604030504040204" pitchFamily="50" charset="-128"/>
                <a:ea typeface="メイリオ" panose="020B0604030504040204" pitchFamily="50" charset="-128"/>
                <a:cs typeface="メイリオ"/>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自社</a:t>
            </a:r>
            <a:r>
              <a:rPr kumimoji="1" lang="en-US" altLang="ja-JP" sz="1200" b="1" dirty="0">
                <a:latin typeface="メイリオ" panose="020B0604030504040204" pitchFamily="50" charset="-128"/>
                <a:ea typeface="メイリオ" panose="020B0604030504040204" pitchFamily="50" charset="-128"/>
                <a:cs typeface="メイリオ"/>
              </a:rPr>
              <a:t>App/</a:t>
            </a:r>
            <a:r>
              <a:rPr kumimoji="1" lang="ja-JP" altLang="en-US" sz="1200" b="1" dirty="0">
                <a:latin typeface="メイリオ" panose="020B0604030504040204" pitchFamily="50" charset="-128"/>
                <a:ea typeface="メイリオ" panose="020B0604030504040204" pitchFamily="50" charset="-128"/>
                <a:cs typeface="メイリオ"/>
              </a:rPr>
              <a:t>ネットワーク</a:t>
            </a:r>
            <a:endParaRPr kumimoji="1" lang="en-US" altLang="ja-JP" sz="1200" b="1" dirty="0">
              <a:latin typeface="メイリオ" panose="020B0604030504040204" pitchFamily="50" charset="-128"/>
              <a:ea typeface="メイリオ" panose="020B0604030504040204" pitchFamily="50" charset="-128"/>
              <a:cs typeface="メイリオ"/>
            </a:endParaRPr>
          </a:p>
          <a:p>
            <a:pPr algn="ctr"/>
            <a:r>
              <a:rPr lang="ja-JP" altLang="en-US" sz="1200" b="1" dirty="0">
                <a:latin typeface="メイリオ" panose="020B0604030504040204" pitchFamily="50" charset="-128"/>
                <a:ea typeface="メイリオ" panose="020B0604030504040204" pitchFamily="50" charset="-128"/>
                <a:cs typeface="メイリオ"/>
              </a:rPr>
              <a:t>（</a:t>
            </a:r>
            <a:r>
              <a:rPr lang="en-US" altLang="ja-JP" sz="1200" b="1" dirty="0">
                <a:latin typeface="メイリオ" panose="020B0604030504040204" pitchFamily="50" charset="-128"/>
                <a:ea typeface="メイリオ" panose="020B0604030504040204" pitchFamily="50" charset="-128"/>
                <a:cs typeface="メイリオ"/>
              </a:rPr>
              <a:t>ID</a:t>
            </a:r>
            <a:r>
              <a:rPr lang="ja-JP" altLang="en-US" sz="1200" b="1" dirty="0">
                <a:latin typeface="メイリオ" panose="020B0604030504040204" pitchFamily="50" charset="-128"/>
                <a:ea typeface="メイリオ" panose="020B0604030504040204" pitchFamily="50" charset="-128"/>
                <a:cs typeface="メイリオ"/>
              </a:rPr>
              <a:t>連携等の開発）</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cs typeface="メイリオ"/>
              </a:rPr>
              <a:t>LINE</a:t>
            </a:r>
            <a:r>
              <a:rPr lang="ja-JP" altLang="en-US" sz="1200" b="1" dirty="0">
                <a:latin typeface="メイリオ" panose="020B0604030504040204" pitchFamily="50" charset="-128"/>
                <a:ea typeface="メイリオ" panose="020B0604030504040204" pitchFamily="50" charset="-128"/>
                <a:cs typeface="メイリオ"/>
              </a:rPr>
              <a:t>でログイン</a:t>
            </a:r>
          </a:p>
        </p:txBody>
      </p:sp>
    </p:spTree>
    <p:extLst>
      <p:ext uri="{BB962C8B-B14F-4D97-AF65-F5344CB8AC3E}">
        <p14:creationId xmlns:p14="http://schemas.microsoft.com/office/powerpoint/2010/main" val="42651367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ユーザーコミュニケーションに、</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LINE公式アカウントを導入する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法人</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が</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増加傾向</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p>
          <a:p>
            <a:pPr algn="ctr">
              <a:lnSpc>
                <a:spcPts val="2455"/>
              </a:lnSpc>
            </a:pPr>
            <a:r>
              <a:rPr lang="en-US" altLang="ja-JP" sz="1400" b="1" dirty="0">
                <a:solidFill>
                  <a:srgbClr val="343434"/>
                </a:solidFill>
                <a:latin typeface="メイリオ" panose="020B0604030504040204" pitchFamily="50" charset="-128"/>
                <a:ea typeface="メイリオ" panose="020B0604030504040204" pitchFamily="50" charset="-128"/>
                <a:cs typeface="メイリオ"/>
              </a:rPr>
              <a:t>開封率に関してはメールマガジンの6倍を誇る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と言われています。</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panose="020B0604030504040204" pitchFamily="50" charset="-128"/>
                  <a:ea typeface="メイリオ" panose="020B0604030504040204" pitchFamily="50" charset="-128"/>
                  <a:cs typeface="メイリオ"/>
                </a:rPr>
                <a:t>　　　　</a:t>
              </a:r>
              <a:r>
                <a:rPr lang="en-US" sz="1400" dirty="0" err="1">
                  <a:solidFill>
                    <a:srgbClr val="040606"/>
                  </a:solidFill>
                  <a:latin typeface="メイリオ" panose="020B0604030504040204" pitchFamily="50" charset="-128"/>
                  <a:ea typeface="メイリオ" panose="020B0604030504040204" pitchFamily="50" charset="-128"/>
                  <a:cs typeface="メイリオ"/>
                </a:rPr>
                <a:t>メールマガジン</a:t>
              </a:r>
              <a:r>
                <a:rPr lang="ja-JP" altLang="en-US" sz="1400" dirty="0" err="1">
                  <a:solidFill>
                    <a:srgbClr val="040606"/>
                  </a:solidFill>
                  <a:latin typeface="メイリオ" panose="020B0604030504040204" pitchFamily="50" charset="-128"/>
                  <a:ea typeface="メイリオ" panose="020B0604030504040204" pitchFamily="50" charset="-128"/>
                  <a:cs typeface="メイリオ"/>
                </a:rPr>
                <a:t>、</a:t>
              </a:r>
              <a:r>
                <a:rPr lang="ja-JP" altLang="en-US" sz="1400" dirty="0">
                  <a:solidFill>
                    <a:srgbClr val="040606"/>
                  </a:solidFill>
                  <a:latin typeface="メイリオ" panose="020B0604030504040204" pitchFamily="50" charset="-128"/>
                  <a:ea typeface="メイリオ" panose="020B0604030504040204" pitchFamily="50" charset="-128"/>
                  <a:cs typeface="メイリオ"/>
                </a:rPr>
                <a:t>テレマーケティング </a:t>
              </a:r>
              <a:r>
                <a:rPr lang="en-US" sz="1400" dirty="0" err="1">
                  <a:solidFill>
                    <a:srgbClr val="040606"/>
                  </a:solidFill>
                  <a:latin typeface="メイリオ" panose="020B0604030504040204" pitchFamily="50" charset="-128"/>
                  <a:ea typeface="メイリオ" panose="020B0604030504040204" pitchFamily="50" charset="-128"/>
                  <a:cs typeface="メイリオ"/>
                </a:rPr>
                <a:t>が主流</a:t>
              </a:r>
              <a:endParaRPr lang="en-US" sz="1400" dirty="0">
                <a:solidFill>
                  <a:srgbClr val="040606"/>
                </a:solidFill>
                <a:latin typeface="メイリオ" panose="020B0604030504040204" pitchFamily="50" charset="-128"/>
                <a:ea typeface="メイリオ" panose="020B0604030504040204" pitchFamily="50" charset="-128"/>
                <a:cs typeface="メイリオ"/>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b="1" dirty="0">
                  <a:solidFill>
                    <a:srgbClr val="00B900"/>
                  </a:solidFill>
                  <a:latin typeface="メイリオ" panose="020B0604030504040204" pitchFamily="50" charset="-128"/>
                  <a:ea typeface="メイリオ" panose="020B0604030504040204" pitchFamily="50" charset="-128"/>
                  <a:cs typeface="メイリオ"/>
                </a:rPr>
                <a:t>LINE</a:t>
              </a:r>
              <a:r>
                <a:rPr lang="ja-JP" altLang="en-US" sz="1400" b="1" dirty="0">
                  <a:solidFill>
                    <a:srgbClr val="00B900"/>
                  </a:solidFill>
                  <a:latin typeface="メイリオ" panose="020B0604030504040204" pitchFamily="50" charset="-128"/>
                  <a:ea typeface="メイリオ" panose="020B0604030504040204" pitchFamily="50" charset="-128"/>
                  <a:cs typeface="メイリオ"/>
                </a:rPr>
                <a:t>公式アカウント</a:t>
              </a:r>
              <a:r>
                <a:rPr 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dirty="0" err="1">
                  <a:solidFill>
                    <a:srgbClr val="00B900"/>
                  </a:solidFill>
                  <a:latin typeface="メイリオ" panose="020B0604030504040204" pitchFamily="50" charset="-128"/>
                  <a:ea typeface="メイリオ" panose="020B0604030504040204" pitchFamily="50" charset="-128"/>
                  <a:cs typeface="メイリオ"/>
                </a:rPr>
                <a:t>が主流</a:t>
              </a:r>
              <a:endParaRPr lang="en-US" sz="1400" dirty="0">
                <a:solidFill>
                  <a:srgbClr val="00B900"/>
                </a:solidFill>
                <a:latin typeface="メイリオ" panose="020B0604030504040204" pitchFamily="50" charset="-128"/>
                <a:ea typeface="メイリオ" panose="020B0604030504040204" pitchFamily="50" charset="-128"/>
                <a:cs typeface="メイリオ"/>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panose="020B0604030504040204" pitchFamily="50" charset="-128"/>
                <a:ea typeface="メイリオ" panose="020B0604030504040204" pitchFamily="50" charset="-128"/>
                <a:cs typeface="メイリオ"/>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10％</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1時間</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latin typeface="メイリオ"/>
              <a:ea typeface="メイリオ"/>
              <a:cs typeface="メイリオ"/>
            </a:endParaRPr>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panose="020B0604030504040204" pitchFamily="50" charset="-128"/>
                <a:ea typeface="メイリオ" panose="020B0604030504040204" pitchFamily="50" charset="-128"/>
                <a:cs typeface="メイリオ"/>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60％</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15分</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ワンタップで追加</a:t>
            </a:r>
          </a:p>
        </p:txBody>
      </p:sp>
    </p:spTree>
    <p:extLst>
      <p:ext uri="{BB962C8B-B14F-4D97-AF65-F5344CB8AC3E}">
        <p14:creationId xmlns:p14="http://schemas.microsoft.com/office/powerpoint/2010/main" val="17542971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E416A61-B302-4BF8-8730-14A0C8808AB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BCB9F207-E933-48A8-A62B-47A12C4BFADB}"/>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今すぐ客」以外の</a:t>
            </a:r>
            <a:r>
              <a:rPr lang="ja-JP" altLang="en-US" sz="1400" dirty="0">
                <a:solidFill>
                  <a:srgbClr val="343434"/>
                </a:solidFill>
                <a:latin typeface="メイリオ" panose="020B0604030504040204" pitchFamily="50" charset="-128"/>
                <a:ea typeface="メイリオ" panose="020B0604030504040204" pitchFamily="50" charset="-128"/>
                <a:cs typeface="メイリオ"/>
              </a:rPr>
              <a:t>約</a:t>
            </a:r>
            <a:r>
              <a:rPr lang="en-US" altLang="ja-JP" sz="1400" dirty="0">
                <a:solidFill>
                  <a:srgbClr val="343434"/>
                </a:solidFill>
                <a:latin typeface="メイリオ" panose="020B0604030504040204" pitchFamily="50" charset="-128"/>
                <a:ea typeface="メイリオ" panose="020B0604030504040204" pitchFamily="50" charset="-128"/>
                <a:cs typeface="メイリオ"/>
              </a:rPr>
              <a:t>99％の層をリストマーケティングで顧客に引き上げることが重要。</a:t>
            </a:r>
          </a:p>
          <a:p>
            <a:pPr algn="ctr">
              <a:lnSpc>
                <a:spcPts val="2455"/>
              </a:lnSpc>
            </a:pP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結果として</a:t>
            </a:r>
            <a:r>
              <a:rPr lang="ja-JP" altLang="en-US" sz="1400" dirty="0" err="1">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リード獲得率向上、</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リピート率向上、売上向上に繋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げ</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る。</a:t>
            </a:r>
          </a:p>
        </p:txBody>
      </p:sp>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 name="Group 11">
            <a:extLst>
              <a:ext uri="{FF2B5EF4-FFF2-40B4-BE49-F238E27FC236}">
                <a16:creationId xmlns:a16="http://schemas.microsoft.com/office/drawing/2014/main" id="{FD51838A-D34F-466B-3A5A-09652D900BEB}"/>
              </a:ext>
            </a:extLst>
          </p:cNvPr>
          <p:cNvGrpSpPr/>
          <p:nvPr/>
        </p:nvGrpSpPr>
        <p:grpSpPr>
          <a:xfrm>
            <a:off x="3049695" y="2975186"/>
            <a:ext cx="1458934" cy="913844"/>
            <a:chOff x="0" y="0"/>
            <a:chExt cx="617887" cy="387031"/>
          </a:xfrm>
        </p:grpSpPr>
        <p:sp>
          <p:nvSpPr>
            <p:cNvPr id="8" name="Freeform 12">
              <a:extLst>
                <a:ext uri="{FF2B5EF4-FFF2-40B4-BE49-F238E27FC236}">
                  <a16:creationId xmlns:a16="http://schemas.microsoft.com/office/drawing/2014/main" id="{361A24A3-498E-8CCA-072B-BFF0D43720CF}"/>
                </a:ext>
              </a:extLst>
            </p:cNvPr>
            <p:cNvSpPr/>
            <p:nvPr/>
          </p:nvSpPr>
          <p:spPr>
            <a:xfrm>
              <a:off x="0" y="0"/>
              <a:ext cx="617887" cy="387031"/>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9" name="TextBox 13">
              <a:extLst>
                <a:ext uri="{FF2B5EF4-FFF2-40B4-BE49-F238E27FC236}">
                  <a16:creationId xmlns:a16="http://schemas.microsoft.com/office/drawing/2014/main" id="{2F7982DD-8DDE-BE65-D1C8-38F017EFAA9E}"/>
                </a:ext>
              </a:extLst>
            </p:cNvPr>
            <p:cNvSpPr txBox="1"/>
            <p:nvPr/>
          </p:nvSpPr>
          <p:spPr>
            <a:xfrm>
              <a:off x="0" y="-38100"/>
              <a:ext cx="617887"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10" name="AutoShape 14">
            <a:extLst>
              <a:ext uri="{FF2B5EF4-FFF2-40B4-BE49-F238E27FC236}">
                <a16:creationId xmlns:a16="http://schemas.microsoft.com/office/drawing/2014/main" id="{59178687-7B87-9112-285E-3FE124A7840D}"/>
              </a:ext>
            </a:extLst>
          </p:cNvPr>
          <p:cNvSpPr/>
          <p:nvPr/>
        </p:nvSpPr>
        <p:spPr>
          <a:xfrm flipV="1">
            <a:off x="637708" y="2862215"/>
            <a:ext cx="0" cy="3496153"/>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1" name="AutoShape 15">
            <a:extLst>
              <a:ext uri="{FF2B5EF4-FFF2-40B4-BE49-F238E27FC236}">
                <a16:creationId xmlns:a16="http://schemas.microsoft.com/office/drawing/2014/main" id="{2E944E85-C1E7-F939-7840-FEE3895A6217}"/>
              </a:ext>
            </a:extLst>
          </p:cNvPr>
          <p:cNvSpPr/>
          <p:nvPr/>
        </p:nvSpPr>
        <p:spPr>
          <a:xfrm>
            <a:off x="272396" y="6045613"/>
            <a:ext cx="4516804" cy="0"/>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2" name="Group 16">
            <a:extLst>
              <a:ext uri="{FF2B5EF4-FFF2-40B4-BE49-F238E27FC236}">
                <a16:creationId xmlns:a16="http://schemas.microsoft.com/office/drawing/2014/main" id="{ED4AC5BA-40AB-055B-93BE-A426AB6D2DD1}"/>
              </a:ext>
            </a:extLst>
          </p:cNvPr>
          <p:cNvGrpSpPr/>
          <p:nvPr/>
        </p:nvGrpSpPr>
        <p:grpSpPr>
          <a:xfrm>
            <a:off x="964199" y="2975186"/>
            <a:ext cx="1770851" cy="913844"/>
            <a:chOff x="0" y="0"/>
            <a:chExt cx="749990" cy="387031"/>
          </a:xfrm>
        </p:grpSpPr>
        <p:sp>
          <p:nvSpPr>
            <p:cNvPr id="13" name="Freeform 17">
              <a:extLst>
                <a:ext uri="{FF2B5EF4-FFF2-40B4-BE49-F238E27FC236}">
                  <a16:creationId xmlns:a16="http://schemas.microsoft.com/office/drawing/2014/main" id="{37852D43-B89A-3E8A-340C-86DBCB7EAE2C}"/>
                </a:ext>
              </a:extLst>
            </p:cNvPr>
            <p:cNvSpPr/>
            <p:nvPr/>
          </p:nvSpPr>
          <p:spPr>
            <a:xfrm>
              <a:off x="0" y="0"/>
              <a:ext cx="749990" cy="387031"/>
            </a:xfrm>
            <a:custGeom>
              <a:avLst/>
              <a:gdLst/>
              <a:ahLst/>
              <a:cxnLst/>
              <a:rect l="l" t="t" r="r" b="b"/>
              <a:pathLst>
                <a:path w="749990" h="387031">
                  <a:moveTo>
                    <a:pt x="0" y="0"/>
                  </a:moveTo>
                  <a:lnTo>
                    <a:pt x="749990" y="0"/>
                  </a:lnTo>
                  <a:lnTo>
                    <a:pt x="749990" y="387031"/>
                  </a:lnTo>
                  <a:lnTo>
                    <a:pt x="0" y="387031"/>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TextBox 18">
              <a:extLst>
                <a:ext uri="{FF2B5EF4-FFF2-40B4-BE49-F238E27FC236}">
                  <a16:creationId xmlns:a16="http://schemas.microsoft.com/office/drawing/2014/main" id="{0038C48A-D57E-4C03-47F9-21556A2A60B4}"/>
                </a:ext>
              </a:extLst>
            </p:cNvPr>
            <p:cNvSpPr txBox="1"/>
            <p:nvPr/>
          </p:nvSpPr>
          <p:spPr>
            <a:xfrm>
              <a:off x="0" y="-38100"/>
              <a:ext cx="749990"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5" name="Group 19">
            <a:extLst>
              <a:ext uri="{FF2B5EF4-FFF2-40B4-BE49-F238E27FC236}">
                <a16:creationId xmlns:a16="http://schemas.microsoft.com/office/drawing/2014/main" id="{3507EDCA-E3B7-016A-2C53-E70338EE7F9D}"/>
              </a:ext>
            </a:extLst>
          </p:cNvPr>
          <p:cNvGrpSpPr/>
          <p:nvPr/>
        </p:nvGrpSpPr>
        <p:grpSpPr>
          <a:xfrm>
            <a:off x="964199" y="4203123"/>
            <a:ext cx="1770851" cy="1544458"/>
            <a:chOff x="0" y="0"/>
            <a:chExt cx="749990" cy="654108"/>
          </a:xfrm>
        </p:grpSpPr>
        <p:sp>
          <p:nvSpPr>
            <p:cNvPr id="16" name="Freeform 20">
              <a:extLst>
                <a:ext uri="{FF2B5EF4-FFF2-40B4-BE49-F238E27FC236}">
                  <a16:creationId xmlns:a16="http://schemas.microsoft.com/office/drawing/2014/main" id="{EDDE50AF-2F17-77D4-19B1-742225FD70A2}"/>
                </a:ext>
              </a:extLst>
            </p:cNvPr>
            <p:cNvSpPr/>
            <p:nvPr/>
          </p:nvSpPr>
          <p:spPr>
            <a:xfrm>
              <a:off x="0" y="0"/>
              <a:ext cx="749990" cy="654108"/>
            </a:xfrm>
            <a:custGeom>
              <a:avLst/>
              <a:gdLst/>
              <a:ahLst/>
              <a:cxnLst/>
              <a:rect l="l" t="t" r="r" b="b"/>
              <a:pathLst>
                <a:path w="749990" h="654108">
                  <a:moveTo>
                    <a:pt x="0" y="0"/>
                  </a:moveTo>
                  <a:lnTo>
                    <a:pt x="749990" y="0"/>
                  </a:lnTo>
                  <a:lnTo>
                    <a:pt x="749990" y="654108"/>
                  </a:lnTo>
                  <a:lnTo>
                    <a:pt x="0" y="654108"/>
                  </a:lnTo>
                  <a:close/>
                </a:path>
              </a:pathLst>
            </a:custGeom>
            <a:solidFill>
              <a:srgbClr val="025D27"/>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21">
              <a:extLst>
                <a:ext uri="{FF2B5EF4-FFF2-40B4-BE49-F238E27FC236}">
                  <a16:creationId xmlns:a16="http://schemas.microsoft.com/office/drawing/2014/main" id="{7F07540F-73B0-D716-1131-982594039AED}"/>
                </a:ext>
              </a:extLst>
            </p:cNvPr>
            <p:cNvSpPr txBox="1"/>
            <p:nvPr/>
          </p:nvSpPr>
          <p:spPr>
            <a:xfrm>
              <a:off x="0" y="-38100"/>
              <a:ext cx="749990"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22">
            <a:extLst>
              <a:ext uri="{FF2B5EF4-FFF2-40B4-BE49-F238E27FC236}">
                <a16:creationId xmlns:a16="http://schemas.microsoft.com/office/drawing/2014/main" id="{281B028B-385E-F452-024D-8BB94F4D83B8}"/>
              </a:ext>
            </a:extLst>
          </p:cNvPr>
          <p:cNvGrpSpPr/>
          <p:nvPr/>
        </p:nvGrpSpPr>
        <p:grpSpPr>
          <a:xfrm>
            <a:off x="3049695" y="4203123"/>
            <a:ext cx="1458934" cy="1544458"/>
            <a:chOff x="0" y="0"/>
            <a:chExt cx="617887" cy="654108"/>
          </a:xfrm>
        </p:grpSpPr>
        <p:sp>
          <p:nvSpPr>
            <p:cNvPr id="19" name="Freeform 23">
              <a:extLst>
                <a:ext uri="{FF2B5EF4-FFF2-40B4-BE49-F238E27FC236}">
                  <a16:creationId xmlns:a16="http://schemas.microsoft.com/office/drawing/2014/main" id="{22B22B83-BF89-287F-782C-53EFBE5EE2C9}"/>
                </a:ext>
              </a:extLst>
            </p:cNvPr>
            <p:cNvSpPr/>
            <p:nvPr/>
          </p:nvSpPr>
          <p:spPr>
            <a:xfrm>
              <a:off x="0" y="0"/>
              <a:ext cx="617887" cy="654108"/>
            </a:xfrm>
            <a:custGeom>
              <a:avLst/>
              <a:gdLst/>
              <a:ahLst/>
              <a:cxnLst/>
              <a:rect l="l" t="t" r="r" b="b"/>
              <a:pathLst>
                <a:path w="617887" h="654108">
                  <a:moveTo>
                    <a:pt x="0" y="0"/>
                  </a:moveTo>
                  <a:lnTo>
                    <a:pt x="617887" y="0"/>
                  </a:lnTo>
                  <a:lnTo>
                    <a:pt x="617887" y="654108"/>
                  </a:lnTo>
                  <a:lnTo>
                    <a:pt x="0" y="654108"/>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0" name="TextBox 24">
              <a:extLst>
                <a:ext uri="{FF2B5EF4-FFF2-40B4-BE49-F238E27FC236}">
                  <a16:creationId xmlns:a16="http://schemas.microsoft.com/office/drawing/2014/main" id="{9342B319-ADE7-C21F-2EC5-DC47280C7AA5}"/>
                </a:ext>
              </a:extLst>
            </p:cNvPr>
            <p:cNvSpPr txBox="1"/>
            <p:nvPr/>
          </p:nvSpPr>
          <p:spPr>
            <a:xfrm>
              <a:off x="0" y="-38100"/>
              <a:ext cx="617887"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21" name="Group 25">
            <a:extLst>
              <a:ext uri="{FF2B5EF4-FFF2-40B4-BE49-F238E27FC236}">
                <a16:creationId xmlns:a16="http://schemas.microsoft.com/office/drawing/2014/main" id="{269BA4E8-CBA1-17CF-4B27-5586E44C9042}"/>
              </a:ext>
            </a:extLst>
          </p:cNvPr>
          <p:cNvGrpSpPr/>
          <p:nvPr/>
        </p:nvGrpSpPr>
        <p:grpSpPr>
          <a:xfrm rot="5400000">
            <a:off x="5145798" y="3131429"/>
            <a:ext cx="301414" cy="601358"/>
            <a:chOff x="0" y="0"/>
            <a:chExt cx="452282" cy="902360"/>
          </a:xfrm>
        </p:grpSpPr>
        <p:sp>
          <p:nvSpPr>
            <p:cNvPr id="22"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24" name="TextBox 28">
            <a:extLst>
              <a:ext uri="{FF2B5EF4-FFF2-40B4-BE49-F238E27FC236}">
                <a16:creationId xmlns:a16="http://schemas.microsoft.com/office/drawing/2014/main" id="{5E157642-2D9B-689A-C2B2-A7717A07260A}"/>
              </a:ext>
            </a:extLst>
          </p:cNvPr>
          <p:cNvSpPr txBox="1"/>
          <p:nvPr/>
        </p:nvSpPr>
        <p:spPr>
          <a:xfrm>
            <a:off x="239660" y="4103553"/>
            <a:ext cx="187572" cy="654025"/>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必要性</a:t>
            </a:r>
          </a:p>
        </p:txBody>
      </p:sp>
      <p:sp>
        <p:nvSpPr>
          <p:cNvPr id="25" name="TextBox 29">
            <a:extLst>
              <a:ext uri="{FF2B5EF4-FFF2-40B4-BE49-F238E27FC236}">
                <a16:creationId xmlns:a16="http://schemas.microsoft.com/office/drawing/2014/main" id="{E542051B-CCE6-131D-3645-4C3C8932C9AF}"/>
              </a:ext>
            </a:extLst>
          </p:cNvPr>
          <p:cNvSpPr txBox="1"/>
          <p:nvPr/>
        </p:nvSpPr>
        <p:spPr>
          <a:xfrm>
            <a:off x="2530798" y="6132696"/>
            <a:ext cx="633665" cy="218008"/>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緊急性</a:t>
            </a:r>
          </a:p>
        </p:txBody>
      </p:sp>
      <p:sp>
        <p:nvSpPr>
          <p:cNvPr id="26" name="TextBox 30">
            <a:extLst>
              <a:ext uri="{FF2B5EF4-FFF2-40B4-BE49-F238E27FC236}">
                <a16:creationId xmlns:a16="http://schemas.microsoft.com/office/drawing/2014/main" id="{789AA7FE-BAB1-3DE7-B600-0D2687AE8FEF}"/>
              </a:ext>
            </a:extLst>
          </p:cNvPr>
          <p:cNvSpPr txBox="1"/>
          <p:nvPr/>
        </p:nvSpPr>
        <p:spPr>
          <a:xfrm>
            <a:off x="3462330" y="3120281"/>
            <a:ext cx="633665"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今すぐ客</a:t>
            </a:r>
          </a:p>
        </p:txBody>
      </p:sp>
      <p:sp>
        <p:nvSpPr>
          <p:cNvPr id="27" name="TextBox 31">
            <a:extLst>
              <a:ext uri="{FF2B5EF4-FFF2-40B4-BE49-F238E27FC236}">
                <a16:creationId xmlns:a16="http://schemas.microsoft.com/office/drawing/2014/main" id="{95B912FE-88DA-75EB-2906-07FA329A9879}"/>
              </a:ext>
            </a:extLst>
          </p:cNvPr>
          <p:cNvSpPr txBox="1"/>
          <p:nvPr/>
        </p:nvSpPr>
        <p:spPr>
          <a:xfrm>
            <a:off x="1381753" y="311530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そのうち客</a:t>
            </a:r>
          </a:p>
        </p:txBody>
      </p:sp>
      <p:sp>
        <p:nvSpPr>
          <p:cNvPr id="28" name="TextBox 32">
            <a:extLst>
              <a:ext uri="{FF2B5EF4-FFF2-40B4-BE49-F238E27FC236}">
                <a16:creationId xmlns:a16="http://schemas.microsoft.com/office/drawing/2014/main" id="{59D328C3-F2B3-6E79-96BF-D71386F2B39C}"/>
              </a:ext>
            </a:extLst>
          </p:cNvPr>
          <p:cNvSpPr txBox="1"/>
          <p:nvPr/>
        </p:nvSpPr>
        <p:spPr>
          <a:xfrm>
            <a:off x="1415156"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FFFFFF"/>
                </a:solidFill>
                <a:latin typeface="メイリオ" panose="020B0604030504040204" pitchFamily="50" charset="-128"/>
                <a:ea typeface="メイリオ" panose="020B0604030504040204" pitchFamily="50" charset="-128"/>
                <a:cs typeface="メイリオ"/>
              </a:rPr>
              <a:t>まだまだ客</a:t>
            </a:r>
          </a:p>
        </p:txBody>
      </p:sp>
      <p:sp>
        <p:nvSpPr>
          <p:cNvPr id="29" name="TextBox 33">
            <a:extLst>
              <a:ext uri="{FF2B5EF4-FFF2-40B4-BE49-F238E27FC236}">
                <a16:creationId xmlns:a16="http://schemas.microsoft.com/office/drawing/2014/main" id="{877B9BED-D0F9-E0E6-43A4-64BB48000261}"/>
              </a:ext>
            </a:extLst>
          </p:cNvPr>
          <p:cNvSpPr txBox="1"/>
          <p:nvPr/>
        </p:nvSpPr>
        <p:spPr>
          <a:xfrm>
            <a:off x="3344694"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お悩み客</a:t>
            </a:r>
          </a:p>
        </p:txBody>
      </p:sp>
      <p:sp>
        <p:nvSpPr>
          <p:cNvPr id="30" name="TextBox 34">
            <a:extLst>
              <a:ext uri="{FF2B5EF4-FFF2-40B4-BE49-F238E27FC236}">
                <a16:creationId xmlns:a16="http://schemas.microsoft.com/office/drawing/2014/main" id="{0401D261-C9B9-D74A-1CE2-30812B0B4154}"/>
              </a:ext>
            </a:extLst>
          </p:cNvPr>
          <p:cNvSpPr txBox="1"/>
          <p:nvPr/>
        </p:nvSpPr>
        <p:spPr>
          <a:xfrm>
            <a:off x="3462330" y="3384483"/>
            <a:ext cx="633665" cy="282129"/>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1-2％</a:t>
            </a:r>
          </a:p>
        </p:txBody>
      </p:sp>
      <p:sp>
        <p:nvSpPr>
          <p:cNvPr id="31" name="TextBox 35">
            <a:extLst>
              <a:ext uri="{FF2B5EF4-FFF2-40B4-BE49-F238E27FC236}">
                <a16:creationId xmlns:a16="http://schemas.microsoft.com/office/drawing/2014/main" id="{D2A4C54E-2F37-07C2-DE48-A2E382EA3FF7}"/>
              </a:ext>
            </a:extLst>
          </p:cNvPr>
          <p:cNvSpPr txBox="1"/>
          <p:nvPr/>
        </p:nvSpPr>
        <p:spPr>
          <a:xfrm>
            <a:off x="1385749" y="3384483"/>
            <a:ext cx="927750" cy="564257"/>
          </a:xfrm>
          <a:prstGeom prst="rect">
            <a:avLst/>
          </a:prstGeom>
        </p:spPr>
        <p:txBody>
          <a:bodyPr wrap="square" lIns="0" tIns="0" rIns="0" bIns="0" rtlCol="0" anchor="t">
            <a:spAutoFit/>
          </a:bodyPr>
          <a:lstStyle/>
          <a:p>
            <a:pPr algn="ctr">
              <a:lnSpc>
                <a:spcPts val="2176"/>
              </a:lnSpc>
              <a:spcBef>
                <a:spcPct val="0"/>
              </a:spcBef>
            </a:pPr>
            <a:r>
              <a:rPr lang="en-US" altLang="ja-JP" sz="1554" dirty="0">
                <a:solidFill>
                  <a:srgbClr val="494848"/>
                </a:solidFill>
                <a:latin typeface="メイリオ" panose="020B0604030504040204" pitchFamily="50" charset="-128"/>
                <a:ea typeface="メイリオ" panose="020B0604030504040204" pitchFamily="50" charset="-128"/>
                <a:cs typeface="メイリオ"/>
              </a:rPr>
              <a:t>9-</a:t>
            </a:r>
            <a:r>
              <a:rPr lang="en-US" sz="1554" dirty="0">
                <a:solidFill>
                  <a:srgbClr val="494848"/>
                </a:solidFill>
                <a:latin typeface="メイリオ" panose="020B0604030504040204" pitchFamily="50" charset="-128"/>
                <a:ea typeface="メイリオ" panose="020B0604030504040204" pitchFamily="50" charset="-128"/>
                <a:cs typeface="メイリオ"/>
              </a:rPr>
              <a:t>9.5％</a:t>
            </a:r>
          </a:p>
        </p:txBody>
      </p:sp>
      <p:sp>
        <p:nvSpPr>
          <p:cNvPr id="32" name="TextBox 36">
            <a:extLst>
              <a:ext uri="{FF2B5EF4-FFF2-40B4-BE49-F238E27FC236}">
                <a16:creationId xmlns:a16="http://schemas.microsoft.com/office/drawing/2014/main" id="{E5AC4649-00C6-4888-D80C-1A7202D4D61C}"/>
              </a:ext>
            </a:extLst>
          </p:cNvPr>
          <p:cNvSpPr txBox="1"/>
          <p:nvPr/>
        </p:nvSpPr>
        <p:spPr>
          <a:xfrm>
            <a:off x="3315287" y="4823293"/>
            <a:ext cx="927750" cy="564257"/>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9-9.5％</a:t>
            </a:r>
          </a:p>
        </p:txBody>
      </p:sp>
      <p:sp>
        <p:nvSpPr>
          <p:cNvPr id="33" name="TextBox 37">
            <a:extLst>
              <a:ext uri="{FF2B5EF4-FFF2-40B4-BE49-F238E27FC236}">
                <a16:creationId xmlns:a16="http://schemas.microsoft.com/office/drawing/2014/main" id="{F710B60A-9E92-C96A-5B26-805DEEDE4E80}"/>
              </a:ext>
            </a:extLst>
          </p:cNvPr>
          <p:cNvSpPr txBox="1"/>
          <p:nvPr/>
        </p:nvSpPr>
        <p:spPr>
          <a:xfrm>
            <a:off x="1532792" y="4823293"/>
            <a:ext cx="633665" cy="282129"/>
          </a:xfrm>
          <a:prstGeom prst="rect">
            <a:avLst/>
          </a:prstGeom>
        </p:spPr>
        <p:txBody>
          <a:bodyPr wrap="square" lIns="0" tIns="0" rIns="0" bIns="0" rtlCol="0" anchor="t">
            <a:spAutoFit/>
          </a:bodyPr>
          <a:lstStyle/>
          <a:p>
            <a:pPr algn="ctr">
              <a:lnSpc>
                <a:spcPts val="2176"/>
              </a:lnSpc>
              <a:spcBef>
                <a:spcPct val="0"/>
              </a:spcBef>
            </a:pPr>
            <a:r>
              <a:rPr lang="en-US" sz="1554">
                <a:solidFill>
                  <a:srgbClr val="FFFFFF"/>
                </a:solidFill>
                <a:latin typeface="メイリオ" panose="020B0604030504040204" pitchFamily="50" charset="-128"/>
                <a:ea typeface="メイリオ" panose="020B0604030504040204" pitchFamily="50" charset="-128"/>
                <a:cs typeface="メイリオ"/>
              </a:rPr>
              <a:t>80％</a:t>
            </a:r>
          </a:p>
        </p:txBody>
      </p:sp>
      <p:sp>
        <p:nvSpPr>
          <p:cNvPr id="34" name="TextBox 38">
            <a:extLst>
              <a:ext uri="{FF2B5EF4-FFF2-40B4-BE49-F238E27FC236}">
                <a16:creationId xmlns:a16="http://schemas.microsoft.com/office/drawing/2014/main" id="{5DBC0D5A-D55C-257A-51E2-CC2A6B58B8CE}"/>
              </a:ext>
            </a:extLst>
          </p:cNvPr>
          <p:cNvSpPr txBox="1"/>
          <p:nvPr/>
        </p:nvSpPr>
        <p:spPr>
          <a:xfrm>
            <a:off x="5800858" y="3159765"/>
            <a:ext cx="3788946" cy="539891"/>
          </a:xfrm>
          <a:prstGeom prst="rect">
            <a:avLst/>
          </a:prstGeom>
        </p:spPr>
        <p:txBody>
          <a:bodyPr wrap="square" lIns="0" tIns="0" rIns="0" bIns="0" rtlCol="0" anchor="t">
            <a:spAutoFit/>
          </a:bodyPr>
          <a:lstStyle/>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en-US" sz="1200" b="1" dirty="0" err="1">
                <a:solidFill>
                  <a:srgbClr val="494848"/>
                </a:solidFill>
                <a:latin typeface="メイリオ" panose="020B0604030504040204" pitchFamily="50" charset="-128"/>
                <a:ea typeface="メイリオ" panose="020B0604030504040204" pitchFamily="50" charset="-128"/>
                <a:cs typeface="メイリオ"/>
              </a:rPr>
              <a:t>今すぐ</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客」を高い広告費を投資して獲得する</a:t>
            </a:r>
            <a:r>
              <a:rPr lang="ja-JP" altLang="en-US" sz="1200" b="1" dirty="0" err="1">
                <a:solidFill>
                  <a:srgbClr val="494848"/>
                </a:solidFill>
                <a:latin typeface="メイリオ" panose="020B0604030504040204" pitchFamily="50" charset="-128"/>
                <a:ea typeface="メイリオ" panose="020B0604030504040204" pitchFamily="50" charset="-128"/>
                <a:cs typeface="メイリオ"/>
              </a:rPr>
              <a:t>のは</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リスクが大きい。</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6" name="Freeform 40">
            <a:extLst>
              <a:ext uri="{FF2B5EF4-FFF2-40B4-BE49-F238E27FC236}">
                <a16:creationId xmlns:a16="http://schemas.microsoft.com/office/drawing/2014/main" id="{5A77A5D7-0DDE-21C2-51A5-84842B7243A6}"/>
              </a:ext>
            </a:extLst>
          </p:cNvPr>
          <p:cNvSpPr/>
          <p:nvPr/>
        </p:nvSpPr>
        <p:spPr>
          <a:xfrm rot="5400000">
            <a:off x="5145798" y="4206671"/>
            <a:ext cx="301414" cy="601358"/>
          </a:xfrm>
          <a:custGeom>
            <a:avLst/>
            <a:gdLst/>
            <a:ahLst/>
            <a:cxnLst/>
            <a:rect l="l" t="t" r="r" b="b"/>
            <a:pathLst>
              <a:path w="452282" h="902360">
                <a:moveTo>
                  <a:pt x="226141" y="0"/>
                </a:moveTo>
                <a:lnTo>
                  <a:pt x="452282" y="902360"/>
                </a:lnTo>
                <a:lnTo>
                  <a:pt x="0" y="902360"/>
                </a:lnTo>
                <a:lnTo>
                  <a:pt x="226141" y="0"/>
                </a:lnTo>
                <a:close/>
              </a:path>
            </a:pathLst>
          </a:custGeom>
          <a:solidFill>
            <a:srgbClr val="00FF00"/>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TextBox 42">
            <a:extLst>
              <a:ext uri="{FF2B5EF4-FFF2-40B4-BE49-F238E27FC236}">
                <a16:creationId xmlns:a16="http://schemas.microsoft.com/office/drawing/2014/main" id="{8A119429-976A-2BD7-EDD0-0C402786F523}"/>
              </a:ext>
            </a:extLst>
          </p:cNvPr>
          <p:cNvSpPr txBox="1"/>
          <p:nvPr/>
        </p:nvSpPr>
        <p:spPr>
          <a:xfrm>
            <a:off x="5800858" y="4237404"/>
            <a:ext cx="3889580" cy="539891"/>
          </a:xfrm>
          <a:prstGeom prst="rect">
            <a:avLst/>
          </a:prstGeom>
        </p:spPr>
        <p:txBody>
          <a:bodyPr wrap="square" lIns="0" tIns="0" rIns="0" bIns="0" rtlCol="0" anchor="t">
            <a:spAutoFit/>
          </a:bodyPr>
          <a:lstStyle/>
          <a:p>
            <a:pPr>
              <a:lnSpc>
                <a:spcPts val="2176"/>
              </a:lnSpc>
            </a:pPr>
            <a:r>
              <a:rPr lang="en-US" sz="1200" b="1" dirty="0" err="1">
                <a:solidFill>
                  <a:srgbClr val="494848"/>
                </a:solidFill>
                <a:latin typeface="メイリオ" panose="020B0604030504040204" pitchFamily="50" charset="-128"/>
                <a:ea typeface="メイリオ" panose="020B0604030504040204" pitchFamily="50" charset="-128"/>
                <a:cs typeface="メイリオ"/>
              </a:rPr>
              <a:t>リストとして獲得するだけでなく</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将来的な顧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客」教育をLINE</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上で構築し</a:t>
            </a:r>
            <a:r>
              <a:rPr lang="en-US" sz="1200" b="1" dirty="0">
                <a:solidFill>
                  <a:srgbClr val="494848"/>
                </a:solidFill>
                <a:latin typeface="メイリオ" panose="020B0604030504040204" pitchFamily="50" charset="-128"/>
                <a:ea typeface="メイリオ" panose="020B0604030504040204" pitchFamily="50" charset="-128"/>
                <a:cs typeface="メイリオ"/>
              </a:rPr>
              <a:t>行</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う。</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9" name="AutoShape 43">
            <a:extLst>
              <a:ext uri="{FF2B5EF4-FFF2-40B4-BE49-F238E27FC236}">
                <a16:creationId xmlns:a16="http://schemas.microsoft.com/office/drawing/2014/main" id="{BAFE21F2-B11C-C6C6-4A68-B44BBEB51A4E}"/>
              </a:ext>
            </a:extLst>
          </p:cNvPr>
          <p:cNvSpPr/>
          <p:nvPr/>
        </p:nvSpPr>
        <p:spPr>
          <a:xfrm>
            <a:off x="837672" y="2859077"/>
            <a:ext cx="2060521"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AutoShape 44">
            <a:extLst>
              <a:ext uri="{FF2B5EF4-FFF2-40B4-BE49-F238E27FC236}">
                <a16:creationId xmlns:a16="http://schemas.microsoft.com/office/drawing/2014/main" id="{2CDA6644-C37D-611D-E0EA-EDDC28827BA0}"/>
              </a:ext>
            </a:extLst>
          </p:cNvPr>
          <p:cNvSpPr/>
          <p:nvPr/>
        </p:nvSpPr>
        <p:spPr>
          <a:xfrm>
            <a:off x="828963" y="5877316"/>
            <a:ext cx="3810830"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1" name="AutoShape 45">
            <a:extLst>
              <a:ext uri="{FF2B5EF4-FFF2-40B4-BE49-F238E27FC236}">
                <a16:creationId xmlns:a16="http://schemas.microsoft.com/office/drawing/2014/main" id="{1127F3C8-7A7B-61A4-7E40-223286E1D74F}"/>
              </a:ext>
            </a:extLst>
          </p:cNvPr>
          <p:cNvSpPr/>
          <p:nvPr/>
        </p:nvSpPr>
        <p:spPr>
          <a:xfrm>
            <a:off x="2889484" y="4056689"/>
            <a:ext cx="1750309"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2" name="AutoShape 46">
            <a:extLst>
              <a:ext uri="{FF2B5EF4-FFF2-40B4-BE49-F238E27FC236}">
                <a16:creationId xmlns:a16="http://schemas.microsoft.com/office/drawing/2014/main" id="{67E01EC4-C522-4365-750F-36BD973DD207}"/>
              </a:ext>
            </a:extLst>
          </p:cNvPr>
          <p:cNvSpPr/>
          <p:nvPr/>
        </p:nvSpPr>
        <p:spPr>
          <a:xfrm>
            <a:off x="4639793" y="4062682"/>
            <a:ext cx="0" cy="1826059"/>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3" name="AutoShape 47">
            <a:extLst>
              <a:ext uri="{FF2B5EF4-FFF2-40B4-BE49-F238E27FC236}">
                <a16:creationId xmlns:a16="http://schemas.microsoft.com/office/drawing/2014/main" id="{3E4AE2CB-A28C-E78F-2537-02549A8EA7AB}"/>
              </a:ext>
            </a:extLst>
          </p:cNvPr>
          <p:cNvSpPr/>
          <p:nvPr/>
        </p:nvSpPr>
        <p:spPr>
          <a:xfrm>
            <a:off x="2901330" y="2853320"/>
            <a:ext cx="0" cy="1217836"/>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AutoShape 48">
            <a:extLst>
              <a:ext uri="{FF2B5EF4-FFF2-40B4-BE49-F238E27FC236}">
                <a16:creationId xmlns:a16="http://schemas.microsoft.com/office/drawing/2014/main" id="{BDF7967C-8276-F30B-0E4E-4BFC7A91F312}"/>
              </a:ext>
            </a:extLst>
          </p:cNvPr>
          <p:cNvSpPr/>
          <p:nvPr/>
        </p:nvSpPr>
        <p:spPr>
          <a:xfrm>
            <a:off x="840809" y="2862215"/>
            <a:ext cx="0" cy="3015101"/>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pSp>
        <p:nvGrpSpPr>
          <p:cNvPr id="2" name="Group 25">
            <a:extLst>
              <a:ext uri="{FF2B5EF4-FFF2-40B4-BE49-F238E27FC236}">
                <a16:creationId xmlns:a16="http://schemas.microsoft.com/office/drawing/2014/main" id="{B0E7D26F-11A3-5FBC-5353-A2EB828FFE48}"/>
              </a:ext>
            </a:extLst>
          </p:cNvPr>
          <p:cNvGrpSpPr/>
          <p:nvPr/>
        </p:nvGrpSpPr>
        <p:grpSpPr>
          <a:xfrm rot="5400000">
            <a:off x="5145798" y="5317353"/>
            <a:ext cx="301414" cy="601358"/>
            <a:chOff x="0" y="0"/>
            <a:chExt cx="452282" cy="902360"/>
          </a:xfrm>
        </p:grpSpPr>
        <p:sp>
          <p:nvSpPr>
            <p:cNvPr id="35" name="Freeform 26">
              <a:extLst>
                <a:ext uri="{FF2B5EF4-FFF2-40B4-BE49-F238E27FC236}">
                  <a16:creationId xmlns:a16="http://schemas.microsoft.com/office/drawing/2014/main" id="{CDCF4F9F-A96D-47F0-B2E9-BCCD3E29956A}"/>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7" name="TextBox 27">
              <a:extLst>
                <a:ext uri="{FF2B5EF4-FFF2-40B4-BE49-F238E27FC236}">
                  <a16:creationId xmlns:a16="http://schemas.microsoft.com/office/drawing/2014/main" id="{6966F572-AC3F-D92B-3752-A94BD979EB99}"/>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64F1097F-60BC-270D-2F02-2726FEAC05DF}"/>
              </a:ext>
            </a:extLst>
          </p:cNvPr>
          <p:cNvSpPr txBox="1"/>
          <p:nvPr/>
        </p:nvSpPr>
        <p:spPr>
          <a:xfrm>
            <a:off x="5800858" y="5349271"/>
            <a:ext cx="3788946" cy="539891"/>
          </a:xfrm>
          <a:prstGeom prst="rect">
            <a:avLst/>
          </a:prstGeom>
        </p:spPr>
        <p:txBody>
          <a:bodyPr wrap="square" lIns="0" tIns="0" rIns="0" bIns="0" rtlCol="0" anchor="t">
            <a:spAutoFit/>
          </a:bodyPr>
          <a:lstStyle/>
          <a:p>
            <a:pPr>
              <a:lnSpc>
                <a:spcPts val="2176"/>
              </a:lnSpc>
            </a:pPr>
            <a:r>
              <a:rPr lang="ja-JP" altLang="en-US" sz="1200" b="1" dirty="0">
                <a:solidFill>
                  <a:srgbClr val="494848"/>
                </a:solidFill>
                <a:latin typeface="メイリオ" panose="020B0604030504040204" pitchFamily="50" charset="-128"/>
                <a:ea typeface="メイリオ" panose="020B0604030504040204" pitchFamily="50" charset="-128"/>
                <a:cs typeface="メイリオ"/>
              </a:rPr>
              <a:t>広告審査がないうえに、ユーザー接点を早めることで大量かつ高効率での獲得を見込むことが出来る。</a:t>
            </a:r>
            <a:endParaRPr lang="en-US" altLang="ja-JP"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67" name="正方形/長方形 66">
            <a:extLst>
              <a:ext uri="{FF2B5EF4-FFF2-40B4-BE49-F238E27FC236}">
                <a16:creationId xmlns:a16="http://schemas.microsoft.com/office/drawing/2014/main" id="{77B39B6D-C944-4A06-0278-EC4EB8161426}"/>
              </a:ext>
            </a:extLst>
          </p:cNvPr>
          <p:cNvSpPr/>
          <p:nvPr/>
        </p:nvSpPr>
        <p:spPr>
          <a:xfrm>
            <a:off x="0" y="1550126"/>
            <a:ext cx="9906000" cy="9981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9" name="正方形/長方形 68">
            <a:extLst>
              <a:ext uri="{FF2B5EF4-FFF2-40B4-BE49-F238E27FC236}">
                <a16:creationId xmlns:a16="http://schemas.microsoft.com/office/drawing/2014/main" id="{5E7B95DC-CC66-6E85-612E-16DD030F6207}"/>
              </a:ext>
            </a:extLst>
          </p:cNvPr>
          <p:cNvSpPr/>
          <p:nvPr/>
        </p:nvSpPr>
        <p:spPr>
          <a:xfrm>
            <a:off x="1415156" y="1777768"/>
            <a:ext cx="3135795" cy="523220"/>
          </a:xfrm>
          <a:prstGeom prst="rect">
            <a:avLst/>
          </a:prstGeom>
        </p:spPr>
        <p:txBody>
          <a:bodyPr wrap="none">
            <a:spAutoFit/>
          </a:bodyPr>
          <a:lstStyle/>
          <a:p>
            <a:pPr algn="ctr"/>
            <a:r>
              <a:rPr lang="en-US" altLang="ja-JP" sz="1400" dirty="0">
                <a:latin typeface="メイリオ"/>
                <a:ea typeface="メイリオ"/>
                <a:cs typeface="メイリオ"/>
                <a:sym typeface="Meiryo"/>
              </a:rPr>
              <a:t>WEB</a:t>
            </a:r>
            <a:r>
              <a:rPr lang="ja-JP" altLang="en-US" sz="1400" dirty="0">
                <a:latin typeface="メイリオ"/>
                <a:ea typeface="メイリオ"/>
                <a:cs typeface="メイリオ"/>
                <a:sym typeface="Meiryo"/>
              </a:rPr>
              <a:t>広告における</a:t>
            </a:r>
            <a:r>
              <a:rPr lang="ja-JP" altLang="en-US" sz="1400" b="1" dirty="0">
                <a:latin typeface="メイリオ"/>
                <a:ea typeface="メイリオ"/>
                <a:cs typeface="メイリオ"/>
                <a:sym typeface="Meiryo"/>
              </a:rPr>
              <a:t>競合性が高</a:t>
            </a:r>
            <a:r>
              <a:rPr lang="ja-JP" altLang="en-US" sz="1400" dirty="0">
                <a:latin typeface="メイリオ"/>
                <a:ea typeface="メイリオ"/>
                <a:cs typeface="メイリオ"/>
                <a:sym typeface="Meiryo"/>
              </a:rPr>
              <a:t>くなり</a:t>
            </a:r>
            <a:endParaRPr lang="en-US" altLang="ja-JP" sz="1400" dirty="0">
              <a:latin typeface="メイリオ"/>
              <a:ea typeface="メイリオ"/>
              <a:cs typeface="メイリオ"/>
              <a:sym typeface="Meiryo"/>
            </a:endParaRPr>
          </a:p>
          <a:p>
            <a:pPr algn="ctr"/>
            <a:r>
              <a:rPr lang="ja-JP" altLang="en-US" sz="1400" b="1" dirty="0">
                <a:solidFill>
                  <a:srgbClr val="FF0000"/>
                </a:solidFill>
                <a:latin typeface="メイリオ"/>
                <a:ea typeface="メイリオ"/>
                <a:cs typeface="メイリオ"/>
                <a:sym typeface="Meiryo"/>
              </a:rPr>
              <a:t>単価指標（</a:t>
            </a:r>
            <a:r>
              <a:rPr lang="en-US" altLang="ja-JP" sz="1400" b="1" dirty="0">
                <a:solidFill>
                  <a:srgbClr val="FF0000"/>
                </a:solidFill>
                <a:latin typeface="メイリオ"/>
                <a:ea typeface="メイリオ"/>
                <a:cs typeface="メイリオ"/>
                <a:sym typeface="Meiryo"/>
              </a:rPr>
              <a:t>CPC</a:t>
            </a:r>
            <a:r>
              <a:rPr lang="ja-JP" altLang="en-US" sz="1400" b="1" dirty="0">
                <a:solidFill>
                  <a:srgbClr val="FF0000"/>
                </a:solidFill>
                <a:latin typeface="メイリオ"/>
                <a:ea typeface="メイリオ"/>
                <a:cs typeface="メイリオ"/>
                <a:sym typeface="Meiryo"/>
              </a:rPr>
              <a:t>及び</a:t>
            </a:r>
            <a:r>
              <a:rPr lang="en-US" altLang="ja-JP" sz="1400" b="1" dirty="0">
                <a:solidFill>
                  <a:srgbClr val="FF0000"/>
                </a:solidFill>
                <a:latin typeface="メイリオ"/>
                <a:ea typeface="メイリオ"/>
                <a:cs typeface="メイリオ"/>
                <a:sym typeface="Meiryo"/>
              </a:rPr>
              <a:t>CPA</a:t>
            </a:r>
            <a:r>
              <a:rPr lang="ja-JP" altLang="en-US" sz="1400" b="1" dirty="0">
                <a:solidFill>
                  <a:srgbClr val="FF0000"/>
                </a:solidFill>
                <a:latin typeface="メイリオ"/>
                <a:ea typeface="メイリオ"/>
                <a:cs typeface="メイリオ"/>
                <a:sym typeface="Meiryo"/>
              </a:rPr>
              <a:t>）が高騰</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p:txBody>
      </p:sp>
      <p:sp>
        <p:nvSpPr>
          <p:cNvPr id="71" name="正方形/長方形 70">
            <a:extLst>
              <a:ext uri="{FF2B5EF4-FFF2-40B4-BE49-F238E27FC236}">
                <a16:creationId xmlns:a16="http://schemas.microsoft.com/office/drawing/2014/main" id="{8E05BE0D-9D83-9FD4-8701-8FD707FC6BF5}"/>
              </a:ext>
            </a:extLst>
          </p:cNvPr>
          <p:cNvSpPr/>
          <p:nvPr/>
        </p:nvSpPr>
        <p:spPr>
          <a:xfrm>
            <a:off x="5717891" y="1781471"/>
            <a:ext cx="3773790" cy="523220"/>
          </a:xfrm>
          <a:prstGeom prst="rect">
            <a:avLst/>
          </a:prstGeom>
        </p:spPr>
        <p:txBody>
          <a:bodyPr wrap="none">
            <a:spAutoFit/>
          </a:bodyPr>
          <a:lstStyle/>
          <a:p>
            <a:pPr algn="ctr"/>
            <a:r>
              <a:rPr lang="ja-JP" altLang="en-US" sz="1400" dirty="0">
                <a:latin typeface="メイリオ"/>
                <a:ea typeface="メイリオ"/>
                <a:cs typeface="メイリオ"/>
                <a:sym typeface="Meiryo"/>
              </a:rPr>
              <a:t>集客施策における</a:t>
            </a:r>
            <a:r>
              <a:rPr lang="en-US" altLang="ja-JP" sz="1400" b="1" dirty="0">
                <a:latin typeface="メイリオ"/>
                <a:ea typeface="メイリオ"/>
                <a:cs typeface="メイリオ"/>
                <a:sym typeface="Meiryo"/>
              </a:rPr>
              <a:t>CVR</a:t>
            </a:r>
            <a:r>
              <a:rPr lang="ja-JP" altLang="en-US" sz="1400" b="1" dirty="0">
                <a:latin typeface="メイリオ"/>
                <a:ea typeface="メイリオ"/>
                <a:cs typeface="メイリオ"/>
                <a:sym typeface="Meiryo"/>
              </a:rPr>
              <a:t>は高くても</a:t>
            </a:r>
            <a:r>
              <a:rPr lang="en-US" altLang="ja-JP" sz="1400" b="1" dirty="0">
                <a:latin typeface="メイリオ"/>
                <a:ea typeface="メイリオ"/>
                <a:cs typeface="メイリオ"/>
                <a:sym typeface="Meiryo"/>
              </a:rPr>
              <a:t>2%</a:t>
            </a:r>
            <a:r>
              <a:rPr lang="ja-JP" altLang="en-US" sz="1400" b="1" dirty="0">
                <a:latin typeface="メイリオ"/>
                <a:ea typeface="メイリオ"/>
                <a:cs typeface="メイリオ"/>
                <a:sym typeface="Meiryo"/>
              </a:rPr>
              <a:t>程度</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a:p>
            <a:pPr algn="ctr"/>
            <a:r>
              <a:rPr lang="en-US" altLang="ja-JP" sz="1400" dirty="0">
                <a:solidFill>
                  <a:srgbClr val="FF0000"/>
                </a:solidFill>
                <a:latin typeface="メイリオ"/>
                <a:ea typeface="メイリオ"/>
                <a:cs typeface="メイリオ"/>
                <a:sym typeface="Meiryo"/>
              </a:rPr>
              <a:t>CV</a:t>
            </a:r>
            <a:r>
              <a:rPr lang="ja-JP" altLang="en-US" sz="1400" dirty="0">
                <a:solidFill>
                  <a:srgbClr val="FF0000"/>
                </a:solidFill>
                <a:latin typeface="メイリオ"/>
                <a:ea typeface="メイリオ"/>
                <a:cs typeface="メイリオ"/>
                <a:sym typeface="Meiryo"/>
              </a:rPr>
              <a:t>に至らず離脱するユーザーが大部分</a:t>
            </a:r>
            <a:r>
              <a:rPr lang="ja-JP" altLang="en-US" sz="1400" dirty="0">
                <a:latin typeface="メイリオ"/>
                <a:ea typeface="メイリオ"/>
                <a:cs typeface="メイリオ"/>
                <a:sym typeface="Meiryo"/>
              </a:rPr>
              <a:t>。</a:t>
            </a:r>
            <a:endParaRPr lang="ja-JP" altLang="en-US" sz="1400" dirty="0">
              <a:latin typeface="メイリオ"/>
              <a:ea typeface="メイリオ"/>
              <a:cs typeface="メイリオ"/>
            </a:endParaRPr>
          </a:p>
        </p:txBody>
      </p:sp>
      <p:sp>
        <p:nvSpPr>
          <p:cNvPr id="73" name="Freeform 12">
            <a:extLst>
              <a:ext uri="{FF2B5EF4-FFF2-40B4-BE49-F238E27FC236}">
                <a16:creationId xmlns:a16="http://schemas.microsoft.com/office/drawing/2014/main" id="{E8D769AF-3EE9-8FD1-96E2-AA6FB90CAF13}"/>
              </a:ext>
            </a:extLst>
          </p:cNvPr>
          <p:cNvSpPr/>
          <p:nvPr/>
        </p:nvSpPr>
        <p:spPr>
          <a:xfrm>
            <a:off x="4853067" y="1823015"/>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CVR</a:t>
            </a:r>
            <a:endParaRPr lang="ja-JP" altLang="en-US" b="1" dirty="0">
              <a:latin typeface="メイリオ" panose="020B0604030504040204" pitchFamily="50" charset="-128"/>
              <a:ea typeface="メイリオ" panose="020B0604030504040204" pitchFamily="50" charset="-128"/>
              <a:cs typeface="メイリオ"/>
            </a:endParaRPr>
          </a:p>
        </p:txBody>
      </p:sp>
      <p:sp>
        <p:nvSpPr>
          <p:cNvPr id="75" name="Freeform 12">
            <a:extLst>
              <a:ext uri="{FF2B5EF4-FFF2-40B4-BE49-F238E27FC236}">
                <a16:creationId xmlns:a16="http://schemas.microsoft.com/office/drawing/2014/main" id="{952D530B-C759-C959-90BD-289EC5DBA890}"/>
              </a:ext>
            </a:extLst>
          </p:cNvPr>
          <p:cNvSpPr/>
          <p:nvPr/>
        </p:nvSpPr>
        <p:spPr>
          <a:xfrm>
            <a:off x="555048" y="1808923"/>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CPC</a:t>
            </a:r>
            <a:endParaRPr lang="ja-JP" altLang="en-US"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5621484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88C4-8CFA-2C0E-C230-F47FCA10FFC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34DA306-8233-CC88-65A5-36654C66652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0CB02FD4-701A-71CE-F43E-33D8F9E44E7B}"/>
              </a:ext>
            </a:extLst>
          </p:cNvPr>
          <p:cNvSpPr/>
          <p:nvPr/>
        </p:nvSpPr>
        <p:spPr>
          <a:xfrm>
            <a:off x="796379" y="635062"/>
            <a:ext cx="8328074"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利用年齢層により変動はするものの、</a:t>
            </a:r>
            <a:r>
              <a:rPr lang="en-US" altLang="ja-JP" sz="1400" dirty="0">
                <a:solidFill>
                  <a:srgbClr val="343434"/>
                </a:solidFill>
                <a:latin typeface="メイリオ" panose="020B0604030504040204" pitchFamily="50" charset="-128"/>
                <a:ea typeface="メイリオ" panose="020B0604030504040204" pitchFamily="50" charset="-128"/>
                <a:cs typeface="メイリオ"/>
              </a:rPr>
              <a:t>10-40</a:t>
            </a:r>
            <a:r>
              <a:rPr lang="ja-JP" altLang="en-US" sz="1400" dirty="0">
                <a:solidFill>
                  <a:srgbClr val="343434"/>
                </a:solidFill>
                <a:latin typeface="メイリオ" panose="020B0604030504040204" pitchFamily="50" charset="-128"/>
                <a:ea typeface="メイリオ" panose="020B0604030504040204" pitchFamily="50" charset="-128"/>
                <a:cs typeface="メイリオ"/>
              </a:rPr>
              <a:t>代を中心に電話、メールを忌避する動きが強まっている。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b="1" dirty="0">
                <a:solidFill>
                  <a:srgbClr val="343434"/>
                </a:solidFill>
                <a:latin typeface="メイリオ" panose="020B0604030504040204" pitchFamily="50" charset="-128"/>
                <a:ea typeface="メイリオ" panose="020B0604030504040204" pitchFamily="50" charset="-128"/>
                <a:cs typeface="メイリオ"/>
              </a:rPr>
              <a:t>既存ユーザー以外の年齢層の獲得にあたって、利用率の高い</a:t>
            </a:r>
            <a:r>
              <a:rPr lang="en-US" altLang="ja-JP" sz="1400" b="1" dirty="0">
                <a:solidFill>
                  <a:srgbClr val="343434"/>
                </a:solidFill>
                <a:latin typeface="メイリオ" panose="020B0604030504040204" pitchFamily="50" charset="-128"/>
                <a:ea typeface="メイリオ" panose="020B0604030504040204" pitchFamily="50" charset="-128"/>
                <a:cs typeface="メイリオ"/>
              </a:rPr>
              <a:t>LINEOA</a:t>
            </a:r>
            <a:r>
              <a:rPr lang="ja-JP" altLang="en-US" sz="1400" b="1" dirty="0">
                <a:solidFill>
                  <a:srgbClr val="343434"/>
                </a:solidFill>
                <a:latin typeface="メイリオ" panose="020B0604030504040204" pitchFamily="50" charset="-128"/>
                <a:ea typeface="メイリオ" panose="020B0604030504040204" pitchFamily="50" charset="-128"/>
                <a:cs typeface="メイリオ"/>
              </a:rPr>
              <a:t>施策が非常に重要と想定</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される。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F214699F-6602-F0D9-7DE6-2A3BDFB291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37B7BC17-B92E-ED23-C69B-F5A79154E50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aphicFrame>
        <p:nvGraphicFramePr>
          <p:cNvPr id="50" name="表 49">
            <a:extLst>
              <a:ext uri="{FF2B5EF4-FFF2-40B4-BE49-F238E27FC236}">
                <a16:creationId xmlns:a16="http://schemas.microsoft.com/office/drawing/2014/main" id="{F4041BC0-327B-67FB-AC18-60C96EAE8809}"/>
              </a:ext>
            </a:extLst>
          </p:cNvPr>
          <p:cNvGraphicFramePr>
            <a:graphicFrameLocks noGrp="1"/>
          </p:cNvGraphicFramePr>
          <p:nvPr/>
        </p:nvGraphicFramePr>
        <p:xfrm>
          <a:off x="367528" y="1662925"/>
          <a:ext cx="9168355" cy="4494024"/>
        </p:xfrm>
        <a:graphic>
          <a:graphicData uri="http://schemas.openxmlformats.org/drawingml/2006/table">
            <a:tbl>
              <a:tblPr/>
              <a:tblGrid>
                <a:gridCol w="1833671">
                  <a:extLst>
                    <a:ext uri="{9D8B030D-6E8A-4147-A177-3AD203B41FA5}">
                      <a16:colId xmlns:a16="http://schemas.microsoft.com/office/drawing/2014/main" val="1559461290"/>
                    </a:ext>
                  </a:extLst>
                </a:gridCol>
                <a:gridCol w="1833671">
                  <a:extLst>
                    <a:ext uri="{9D8B030D-6E8A-4147-A177-3AD203B41FA5}">
                      <a16:colId xmlns:a16="http://schemas.microsoft.com/office/drawing/2014/main" val="4043568489"/>
                    </a:ext>
                  </a:extLst>
                </a:gridCol>
                <a:gridCol w="1833671">
                  <a:extLst>
                    <a:ext uri="{9D8B030D-6E8A-4147-A177-3AD203B41FA5}">
                      <a16:colId xmlns:a16="http://schemas.microsoft.com/office/drawing/2014/main" val="377063127"/>
                    </a:ext>
                  </a:extLst>
                </a:gridCol>
                <a:gridCol w="1833671">
                  <a:extLst>
                    <a:ext uri="{9D8B030D-6E8A-4147-A177-3AD203B41FA5}">
                      <a16:colId xmlns:a16="http://schemas.microsoft.com/office/drawing/2014/main" val="2814255100"/>
                    </a:ext>
                  </a:extLst>
                </a:gridCol>
                <a:gridCol w="1833671">
                  <a:extLst>
                    <a:ext uri="{9D8B030D-6E8A-4147-A177-3AD203B41FA5}">
                      <a16:colId xmlns:a16="http://schemas.microsoft.com/office/drawing/2014/main" val="3083523150"/>
                    </a:ext>
                  </a:extLst>
                </a:gridCol>
              </a:tblGrid>
              <a:tr h="499336">
                <a:tc>
                  <a:txBody>
                    <a:bodyPr/>
                    <a:lstStyle/>
                    <a:p>
                      <a:pPr algn="ctr"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年齢層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・チャット系</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メール・メルマガ</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主要な特徴・</a:t>
                      </a: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SNS</a:t>
                      </a: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3477182699"/>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10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〜20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　</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利用率：極めて低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err="1">
                          <a:solidFill>
                            <a:srgbClr val="000000"/>
                          </a:solidFill>
                          <a:effectLst/>
                          <a:latin typeface="メイリオ" panose="020B0604030504040204" pitchFamily="50" charset="-128"/>
                          <a:ea typeface="メイリオ" panose="020B0604030504040204" pitchFamily="50" charset="-128"/>
                          <a:cs typeface="メイリオ"/>
                        </a:rPr>
                        <a:t>Tiktok</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YouTube</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が情報収集の起点。</a:t>
                      </a:r>
                      <a:b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b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Instagram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DM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連絡網として活用。</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2248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日常連絡の絶対的インフラ。</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企業や公式からの連絡は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読まれない傾向。</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「電話恐怖症」を持つ人も。</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705581114"/>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30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〜40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利用率：中</a:t>
                      </a:r>
                      <a:r>
                        <a:rPr lang="en-US" altLang="ja-JP" sz="1000" b="1" i="0" u="none" strike="noStrike">
                          <a:solidFill>
                            <a:srgbClr val="000000"/>
                          </a:solidFill>
                          <a:effectLst/>
                          <a:latin typeface="メイリオ" panose="020B0604030504040204" pitchFamily="50" charset="-128"/>
                          <a:ea typeface="メイリオ" panose="020B0604030504040204" pitchFamily="50" charset="-128"/>
                          <a:cs typeface="メイリオ"/>
                        </a:rPr>
                        <a:t>〜</a:t>
                      </a: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高</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利用率：中</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Facebook</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や</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での情報収集が活発。</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153412"/>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プライベートの連絡網。</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仕事や、メルマガでの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セールス情報に抵抗なし。</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プライベートでは減少傾向も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仕事では必須。</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3489989836"/>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50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〜60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80%〜90%</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YouTube</a:t>
                      </a: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での趣味動画視聴も普及。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969856"/>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家族や友人との連絡で定着。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最も好まれる企業からの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情報受取ツール。</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予約や急ぎの用件で信頼性が高い。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2832446328"/>
                  </a:ext>
                </a:extLst>
              </a:tr>
              <a:tr h="499336">
                <a:tc rowSpan="2">
                  <a:txBody>
                    <a:bodyPr/>
                    <a:lstStyle/>
                    <a:p>
                      <a:pPr algn="ctr" fontAlgn="ctr">
                        <a:buNone/>
                      </a:pP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前後</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利用率：最も高い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連絡手段としての電話が</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最優先される層。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92221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高齢者層にも普及が進む。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操作に不慣れで到達率が下がる。</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重要な連絡や問い合わせは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電話がメイン。</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4424828"/>
                  </a:ext>
                </a:extLst>
              </a:tr>
            </a:tbl>
          </a:graphicData>
        </a:graphic>
      </p:graphicFrame>
    </p:spTree>
    <p:extLst>
      <p:ext uri="{BB962C8B-B14F-4D97-AF65-F5344CB8AC3E}">
        <p14:creationId xmlns:p14="http://schemas.microsoft.com/office/powerpoint/2010/main" val="7832798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p>
        </p:txBody>
      </p:sp>
      <p:sp>
        <p:nvSpPr>
          <p:cNvPr id="2" name="Google Shape;752;p28">
            <a:extLst>
              <a:ext uri="{FF2B5EF4-FFF2-40B4-BE49-F238E27FC236}">
                <a16:creationId xmlns:a16="http://schemas.microsoft.com/office/drawing/2014/main" id="{903AB3A7-E543-27E0-6B76-9022EAF2AAFA}"/>
              </a:ext>
            </a:extLst>
          </p:cNvPr>
          <p:cNvSpPr txBox="1"/>
          <p:nvPr/>
        </p:nvSpPr>
        <p:spPr>
          <a:xfrm>
            <a:off x="711353" y="96941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LINE</a:t>
            </a:r>
            <a:r>
              <a:rPr lang="ja-JP" altLang="en-US" sz="1400" dirty="0">
                <a:latin typeface="メイリオ" panose="020B0604030504040204" pitchFamily="50" charset="-128"/>
                <a:ea typeface="メイリオ" panose="020B0604030504040204" pitchFamily="50" charset="-128"/>
                <a:cs typeface="メイリオ"/>
                <a:sym typeface="Meiryo"/>
              </a:rPr>
              <a:t>公式アカウントの施策内（開封率、クリック率、</a:t>
            </a:r>
            <a:r>
              <a:rPr lang="en-US" altLang="ja-JP" sz="1400" dirty="0">
                <a:latin typeface="メイリオ" panose="020B0604030504040204" pitchFamily="50" charset="-128"/>
                <a:ea typeface="メイリオ" panose="020B0604030504040204" pitchFamily="50" charset="-128"/>
                <a:cs typeface="メイリオ"/>
                <a:sym typeface="Meiryo"/>
              </a:rPr>
              <a:t>CV</a:t>
            </a:r>
            <a:r>
              <a:rPr lang="ja-JP" altLang="en-US" sz="1400" dirty="0">
                <a:latin typeface="メイリオ" panose="020B0604030504040204" pitchFamily="50" charset="-128"/>
                <a:ea typeface="メイリオ" panose="020B0604030504040204" pitchFamily="50" charset="-128"/>
                <a:cs typeface="メイリオ"/>
                <a:sym typeface="Meiryo"/>
              </a:rPr>
              <a:t>率）で高い水準の施策をご提供。</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初期設計のみのご依頼でも、大きく数値改善できるポイントの導入支援が可能です。</a:t>
            </a:r>
            <a:endParaRPr lang="en-US" altLang="ja-JP" sz="1400" dirty="0">
              <a:latin typeface="メイリオ" panose="020B0604030504040204" pitchFamily="50" charset="-128"/>
              <a:ea typeface="メイリオ" panose="020B0604030504040204" pitchFamily="50" charset="-128"/>
              <a:cs typeface="メイリオ"/>
              <a:sym typeface="Meiryo"/>
            </a:endParaRPr>
          </a:p>
        </p:txBody>
      </p:sp>
      <p:sp>
        <p:nvSpPr>
          <p:cNvPr id="5" name="正方形/長方形 4">
            <a:extLst>
              <a:ext uri="{FF2B5EF4-FFF2-40B4-BE49-F238E27FC236}">
                <a16:creationId xmlns:a16="http://schemas.microsoft.com/office/drawing/2014/main" id="{C953AFCB-1DF4-3DF6-FD0A-5FA8B9829345}"/>
              </a:ext>
            </a:extLst>
          </p:cNvPr>
          <p:cNvSpPr/>
          <p:nvPr/>
        </p:nvSpPr>
        <p:spPr>
          <a:xfrm>
            <a:off x="7833676" y="2844726"/>
            <a:ext cx="1438656" cy="268338"/>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endParaRPr kumimoji="1" lang="ja-JP" altLang="en-US" sz="105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AA0FC5BF-544B-2CE7-3D6D-05C5FCBA0558}"/>
              </a:ext>
            </a:extLst>
          </p:cNvPr>
          <p:cNvSpPr/>
          <p:nvPr/>
        </p:nvSpPr>
        <p:spPr>
          <a:xfrm>
            <a:off x="7833676" y="2532843"/>
            <a:ext cx="1438656" cy="268338"/>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営業トスアップ</a:t>
            </a:r>
          </a:p>
        </p:txBody>
      </p:sp>
      <p:cxnSp>
        <p:nvCxnSpPr>
          <p:cNvPr id="16" name="直線矢印コネクタ 15">
            <a:extLst>
              <a:ext uri="{FF2B5EF4-FFF2-40B4-BE49-F238E27FC236}">
                <a16:creationId xmlns:a16="http://schemas.microsoft.com/office/drawing/2014/main" id="{94BB7063-D344-7388-DC5C-AB2163552A18}"/>
              </a:ext>
            </a:extLst>
          </p:cNvPr>
          <p:cNvCxnSpPr>
            <a:cxnSpLocks/>
          </p:cNvCxnSpPr>
          <p:nvPr/>
        </p:nvCxnSpPr>
        <p:spPr>
          <a:xfrm>
            <a:off x="387956" y="2801181"/>
            <a:ext cx="7250805" cy="0"/>
          </a:xfrm>
          <a:prstGeom prst="straightConnector1">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9A8005B-FA05-AC0F-4885-3EB9D9E7F271}"/>
              </a:ext>
            </a:extLst>
          </p:cNvPr>
          <p:cNvSpPr/>
          <p:nvPr/>
        </p:nvSpPr>
        <p:spPr>
          <a:xfrm>
            <a:off x="7663263" y="2057611"/>
            <a:ext cx="1820092" cy="1128395"/>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43461C80-3343-B710-9ADB-76DB69B61EAF}"/>
              </a:ext>
            </a:extLst>
          </p:cNvPr>
          <p:cNvSpPr txBox="1"/>
          <p:nvPr/>
        </p:nvSpPr>
        <p:spPr>
          <a:xfrm>
            <a:off x="8033166" y="2122574"/>
            <a:ext cx="1080286" cy="261610"/>
          </a:xfrm>
          <a:prstGeom prst="rect">
            <a:avLst/>
          </a:prstGeom>
          <a:noFill/>
        </p:spPr>
        <p:txBody>
          <a:bodyPr wrap="square">
            <a:spAutoFit/>
          </a:bodyPr>
          <a:lstStyle/>
          <a:p>
            <a:pPr algn="ctr"/>
            <a:r>
              <a:rPr kumimoji="1" lang="ja-JP" altLang="en-US" sz="1100" dirty="0">
                <a:solidFill>
                  <a:srgbClr val="FF0000"/>
                </a:solidFill>
                <a:latin typeface="メイリオ" panose="020B0604030504040204" pitchFamily="50" charset="-128"/>
                <a:ea typeface="メイリオ" panose="020B0604030504040204" pitchFamily="50" charset="-128"/>
                <a:cs typeface="メイリオ"/>
              </a:rPr>
              <a:t>（成果地点）</a:t>
            </a:r>
          </a:p>
        </p:txBody>
      </p:sp>
      <p:sp>
        <p:nvSpPr>
          <p:cNvPr id="46" name="正方形/長方形 45">
            <a:extLst>
              <a:ext uri="{FF2B5EF4-FFF2-40B4-BE49-F238E27FC236}">
                <a16:creationId xmlns:a16="http://schemas.microsoft.com/office/drawing/2014/main" id="{68EF36FD-0665-96DB-08B6-92F8F12DC27E}"/>
              </a:ext>
            </a:extLst>
          </p:cNvPr>
          <p:cNvSpPr/>
          <p:nvPr/>
        </p:nvSpPr>
        <p:spPr>
          <a:xfrm>
            <a:off x="2496412" y="2062968"/>
            <a:ext cx="4888178"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7" name="正方形/長方形 46">
            <a:extLst>
              <a:ext uri="{FF2B5EF4-FFF2-40B4-BE49-F238E27FC236}">
                <a16:creationId xmlns:a16="http://schemas.microsoft.com/office/drawing/2014/main" id="{1B4C640C-D32C-D834-8B9B-538AEF528437}"/>
              </a:ext>
            </a:extLst>
          </p:cNvPr>
          <p:cNvSpPr/>
          <p:nvPr/>
        </p:nvSpPr>
        <p:spPr>
          <a:xfrm>
            <a:off x="2727621"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48" name="正方形/長方形 47">
            <a:extLst>
              <a:ext uri="{FF2B5EF4-FFF2-40B4-BE49-F238E27FC236}">
                <a16:creationId xmlns:a16="http://schemas.microsoft.com/office/drawing/2014/main" id="{B779420D-D103-81E4-5973-9C543E915ED9}"/>
              </a:ext>
            </a:extLst>
          </p:cNvPr>
          <p:cNvSpPr/>
          <p:nvPr/>
        </p:nvSpPr>
        <p:spPr>
          <a:xfrm>
            <a:off x="4236068"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49" name="正方形/長方形 48">
            <a:extLst>
              <a:ext uri="{FF2B5EF4-FFF2-40B4-BE49-F238E27FC236}">
                <a16:creationId xmlns:a16="http://schemas.microsoft.com/office/drawing/2014/main" id="{79F9C4D6-EE41-0712-7E02-3613A29A0277}"/>
              </a:ext>
            </a:extLst>
          </p:cNvPr>
          <p:cNvSpPr/>
          <p:nvPr/>
        </p:nvSpPr>
        <p:spPr>
          <a:xfrm>
            <a:off x="5744515"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0" name="正方形/長方形 49">
            <a:extLst>
              <a:ext uri="{FF2B5EF4-FFF2-40B4-BE49-F238E27FC236}">
                <a16:creationId xmlns:a16="http://schemas.microsoft.com/office/drawing/2014/main" id="{63D97449-C5FF-7125-1910-BF401BE155D3}"/>
              </a:ext>
            </a:extLst>
          </p:cNvPr>
          <p:cNvSpPr/>
          <p:nvPr/>
        </p:nvSpPr>
        <p:spPr>
          <a:xfrm>
            <a:off x="2635396" y="2541859"/>
            <a:ext cx="4617897" cy="268338"/>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通常メッセージ（企画投稿）</a:t>
            </a:r>
          </a:p>
        </p:txBody>
      </p:sp>
      <p:sp>
        <p:nvSpPr>
          <p:cNvPr id="51" name="正方形/長方形 50">
            <a:extLst>
              <a:ext uri="{FF2B5EF4-FFF2-40B4-BE49-F238E27FC236}">
                <a16:creationId xmlns:a16="http://schemas.microsoft.com/office/drawing/2014/main" id="{0FEAAD04-7412-6C00-12C5-668087B3187D}"/>
              </a:ext>
            </a:extLst>
          </p:cNvPr>
          <p:cNvSpPr/>
          <p:nvPr/>
        </p:nvSpPr>
        <p:spPr>
          <a:xfrm>
            <a:off x="2727621"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2" name="正方形/長方形 51">
            <a:extLst>
              <a:ext uri="{FF2B5EF4-FFF2-40B4-BE49-F238E27FC236}">
                <a16:creationId xmlns:a16="http://schemas.microsoft.com/office/drawing/2014/main" id="{16300100-5CAE-C822-F497-9A928E7568CE}"/>
              </a:ext>
            </a:extLst>
          </p:cNvPr>
          <p:cNvSpPr/>
          <p:nvPr/>
        </p:nvSpPr>
        <p:spPr>
          <a:xfrm>
            <a:off x="4236068"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3" name="正方形/長方形 52">
            <a:extLst>
              <a:ext uri="{FF2B5EF4-FFF2-40B4-BE49-F238E27FC236}">
                <a16:creationId xmlns:a16="http://schemas.microsoft.com/office/drawing/2014/main" id="{BAABA8F7-038F-8934-7296-51B7E190F8F6}"/>
              </a:ext>
            </a:extLst>
          </p:cNvPr>
          <p:cNvSpPr/>
          <p:nvPr/>
        </p:nvSpPr>
        <p:spPr>
          <a:xfrm>
            <a:off x="5744515"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4" name="正方形/長方形 53">
            <a:extLst>
              <a:ext uri="{FF2B5EF4-FFF2-40B4-BE49-F238E27FC236}">
                <a16:creationId xmlns:a16="http://schemas.microsoft.com/office/drawing/2014/main" id="{FFA1928D-294F-EEFC-2C8F-4A612343D93B}"/>
              </a:ext>
            </a:extLst>
          </p:cNvPr>
          <p:cNvSpPr/>
          <p:nvPr/>
        </p:nvSpPr>
        <p:spPr>
          <a:xfrm>
            <a:off x="2635396" y="3211261"/>
            <a:ext cx="4617897" cy="268338"/>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通常メッセージ（ステップ配信投稿）</a:t>
            </a:r>
          </a:p>
        </p:txBody>
      </p:sp>
      <p:sp>
        <p:nvSpPr>
          <p:cNvPr id="55" name="正方形/長方形 54">
            <a:extLst>
              <a:ext uri="{FF2B5EF4-FFF2-40B4-BE49-F238E27FC236}">
                <a16:creationId xmlns:a16="http://schemas.microsoft.com/office/drawing/2014/main" id="{C60EF948-7D0E-221F-F7C3-9EA4070D13D5}"/>
              </a:ext>
            </a:extLst>
          </p:cNvPr>
          <p:cNvSpPr/>
          <p:nvPr/>
        </p:nvSpPr>
        <p:spPr>
          <a:xfrm>
            <a:off x="2727621"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6" name="正方形/長方形 55">
            <a:extLst>
              <a:ext uri="{FF2B5EF4-FFF2-40B4-BE49-F238E27FC236}">
                <a16:creationId xmlns:a16="http://schemas.microsoft.com/office/drawing/2014/main" id="{0A26395C-F3D5-A8C3-4036-5A461E8AEB95}"/>
              </a:ext>
            </a:extLst>
          </p:cNvPr>
          <p:cNvSpPr/>
          <p:nvPr/>
        </p:nvSpPr>
        <p:spPr>
          <a:xfrm>
            <a:off x="4236068"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7" name="正方形/長方形 56">
            <a:extLst>
              <a:ext uri="{FF2B5EF4-FFF2-40B4-BE49-F238E27FC236}">
                <a16:creationId xmlns:a16="http://schemas.microsoft.com/office/drawing/2014/main" id="{258779A5-C321-795D-FAE9-C3DA7EDE5D3F}"/>
              </a:ext>
            </a:extLst>
          </p:cNvPr>
          <p:cNvSpPr/>
          <p:nvPr/>
        </p:nvSpPr>
        <p:spPr>
          <a:xfrm>
            <a:off x="5744515"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8" name="正方形/長方形 57">
            <a:extLst>
              <a:ext uri="{FF2B5EF4-FFF2-40B4-BE49-F238E27FC236}">
                <a16:creationId xmlns:a16="http://schemas.microsoft.com/office/drawing/2014/main" id="{10A67980-B163-BD77-6B0F-32FBA0EAD741}"/>
              </a:ext>
            </a:extLst>
          </p:cNvPr>
          <p:cNvSpPr/>
          <p:nvPr/>
        </p:nvSpPr>
        <p:spPr>
          <a:xfrm>
            <a:off x="2635396" y="3865286"/>
            <a:ext cx="4617897" cy="26833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その他指標（リッチメニュー、プロフ、挨拶メッセ）</a:t>
            </a:r>
          </a:p>
        </p:txBody>
      </p:sp>
      <p:sp>
        <p:nvSpPr>
          <p:cNvPr id="59" name="テキスト ボックス 58">
            <a:extLst>
              <a:ext uri="{FF2B5EF4-FFF2-40B4-BE49-F238E27FC236}">
                <a16:creationId xmlns:a16="http://schemas.microsoft.com/office/drawing/2014/main" id="{5568B802-79BB-89D9-41B1-B8211A23D3E1}"/>
              </a:ext>
            </a:extLst>
          </p:cNvPr>
          <p:cNvSpPr txBox="1"/>
          <p:nvPr/>
        </p:nvSpPr>
        <p:spPr>
          <a:xfrm>
            <a:off x="4152577" y="2126463"/>
            <a:ext cx="1581648" cy="261610"/>
          </a:xfrm>
          <a:prstGeom prst="rect">
            <a:avLst/>
          </a:prstGeom>
          <a:noFill/>
        </p:spPr>
        <p:txBody>
          <a:bodyPr wrap="square">
            <a:spAutoFit/>
          </a:bodyPr>
          <a:lstStyle/>
          <a:p>
            <a:pPr algn="ct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r>
              <a:rPr kumimoji="1" lang="en-US" altLang="ja-JP" sz="1100" dirty="0">
                <a:solidFill>
                  <a:schemeClr val="tx2"/>
                </a:solidFill>
                <a:latin typeface="メイリオ" panose="020B0604030504040204" pitchFamily="50" charset="-128"/>
                <a:ea typeface="メイリオ" panose="020B0604030504040204" pitchFamily="50" charset="-128"/>
                <a:cs typeface="メイリオ"/>
              </a:rPr>
              <a:t>LINE</a:t>
            </a:r>
            <a:r>
              <a:rPr kumimoji="1" lang="ja-JP" altLang="en-US" sz="1100" dirty="0">
                <a:solidFill>
                  <a:schemeClr val="tx2"/>
                </a:solidFill>
                <a:latin typeface="メイリオ" panose="020B0604030504040204" pitchFamily="50" charset="-128"/>
                <a:ea typeface="メイリオ" panose="020B0604030504040204" pitchFamily="50" charset="-128"/>
                <a:cs typeface="メイリオ"/>
              </a:rPr>
              <a:t>施策内</a:t>
            </a: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endParaRPr kumimoji="1" lang="ja-JP" altLang="en-US" sz="1100" dirty="0">
              <a:solidFill>
                <a:schemeClr val="tx2"/>
              </a:solidFill>
              <a:latin typeface="メイリオ" panose="020B0604030504040204" pitchFamily="50" charset="-128"/>
              <a:ea typeface="メイリオ" panose="020B0604030504040204" pitchFamily="50" charset="-128"/>
              <a:cs typeface="メイリオ"/>
            </a:endParaRPr>
          </a:p>
        </p:txBody>
      </p:sp>
      <p:sp>
        <p:nvSpPr>
          <p:cNvPr id="65" name="正方形/長方形 64">
            <a:extLst>
              <a:ext uri="{FF2B5EF4-FFF2-40B4-BE49-F238E27FC236}">
                <a16:creationId xmlns:a16="http://schemas.microsoft.com/office/drawing/2014/main" id="{F955D004-F2E0-9106-46D0-01B91AAAC48C}"/>
              </a:ext>
            </a:extLst>
          </p:cNvPr>
          <p:cNvSpPr/>
          <p:nvPr/>
        </p:nvSpPr>
        <p:spPr>
          <a:xfrm>
            <a:off x="632050" y="2062968"/>
            <a:ext cx="1581647"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6" name="正方形/長方形 65">
            <a:extLst>
              <a:ext uri="{FF2B5EF4-FFF2-40B4-BE49-F238E27FC236}">
                <a16:creationId xmlns:a16="http://schemas.microsoft.com/office/drawing/2014/main" id="{39800BBF-7F74-6827-30AB-067A9B79B2FB}"/>
              </a:ext>
            </a:extLst>
          </p:cNvPr>
          <p:cNvSpPr/>
          <p:nvPr/>
        </p:nvSpPr>
        <p:spPr>
          <a:xfrm>
            <a:off x="703546" y="2667012"/>
            <a:ext cx="1438656" cy="268338"/>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友だち追加</a:t>
            </a:r>
          </a:p>
        </p:txBody>
      </p:sp>
      <p:sp>
        <p:nvSpPr>
          <p:cNvPr id="67" name="テキスト ボックス 66">
            <a:extLst>
              <a:ext uri="{FF2B5EF4-FFF2-40B4-BE49-F238E27FC236}">
                <a16:creationId xmlns:a16="http://schemas.microsoft.com/office/drawing/2014/main" id="{5C2F9AAE-62F2-1C25-6B2F-275B20FB2668}"/>
              </a:ext>
            </a:extLst>
          </p:cNvPr>
          <p:cNvSpPr txBox="1"/>
          <p:nvPr/>
        </p:nvSpPr>
        <p:spPr>
          <a:xfrm>
            <a:off x="632050" y="3030925"/>
            <a:ext cx="1581647" cy="369332"/>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アクティブ数</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kumimoji="1" lang="ja-JP" altLang="en-US" sz="800" dirty="0">
                <a:latin typeface="メイリオ" panose="020B0604030504040204" pitchFamily="50" charset="-128"/>
                <a:ea typeface="メイリオ" panose="020B0604030504040204" pitchFamily="50" charset="-128"/>
                <a:cs typeface="メイリオ"/>
              </a:rPr>
              <a:t>（非ブロック率）</a:t>
            </a:r>
          </a:p>
        </p:txBody>
      </p:sp>
      <p:sp>
        <p:nvSpPr>
          <p:cNvPr id="68" name="テキスト ボックス 67">
            <a:extLst>
              <a:ext uri="{FF2B5EF4-FFF2-40B4-BE49-F238E27FC236}">
                <a16:creationId xmlns:a16="http://schemas.microsoft.com/office/drawing/2014/main" id="{D723F77C-494C-4598-FEF1-6B884D04A448}"/>
              </a:ext>
            </a:extLst>
          </p:cNvPr>
          <p:cNvSpPr txBox="1"/>
          <p:nvPr/>
        </p:nvSpPr>
        <p:spPr>
          <a:xfrm>
            <a:off x="632050" y="3492489"/>
            <a:ext cx="1581647" cy="553998"/>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セグメント率</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lang="en-US" altLang="ja-JP" sz="1000" dirty="0">
                <a:latin typeface="メイリオ" panose="020B0604030504040204" pitchFamily="50" charset="-128"/>
                <a:ea typeface="メイリオ" panose="020B0604030504040204" pitchFamily="50" charset="-128"/>
                <a:cs typeface="メイリオ"/>
              </a:rPr>
              <a:t>or</a:t>
            </a:r>
          </a:p>
          <a:p>
            <a:pPr algn="ctr"/>
            <a:r>
              <a:rPr kumimoji="1" lang="ja-JP" altLang="en-US" sz="1000" b="1" dirty="0">
                <a:latin typeface="メイリオ" panose="020B0604030504040204" pitchFamily="50" charset="-128"/>
                <a:ea typeface="メイリオ" panose="020B0604030504040204" pitchFamily="50" charset="-128"/>
                <a:cs typeface="メイリオ"/>
              </a:rPr>
              <a:t>ステップ配信設定数</a:t>
            </a:r>
          </a:p>
        </p:txBody>
      </p:sp>
      <p:sp>
        <p:nvSpPr>
          <p:cNvPr id="69" name="テキスト ボックス 68">
            <a:extLst>
              <a:ext uri="{FF2B5EF4-FFF2-40B4-BE49-F238E27FC236}">
                <a16:creationId xmlns:a16="http://schemas.microsoft.com/office/drawing/2014/main" id="{83F40BCD-888E-2A85-0E72-CECDC4CEFCE7}"/>
              </a:ext>
            </a:extLst>
          </p:cNvPr>
          <p:cNvSpPr txBox="1"/>
          <p:nvPr/>
        </p:nvSpPr>
        <p:spPr>
          <a:xfrm>
            <a:off x="632049" y="2122574"/>
            <a:ext cx="1581648" cy="261610"/>
          </a:xfrm>
          <a:prstGeom prst="rect">
            <a:avLst/>
          </a:prstGeom>
          <a:noFill/>
        </p:spPr>
        <p:txBody>
          <a:bodyPr wrap="square">
            <a:spAutoFit/>
          </a:bodyPr>
          <a:lstStyle/>
          <a:p>
            <a:pPr algn="ctr"/>
            <a:r>
              <a:rPr lang="ja-JP" altLang="en-US" sz="1100" dirty="0">
                <a:solidFill>
                  <a:srgbClr val="00B050"/>
                </a:solidFill>
                <a:latin typeface="メイリオ" panose="020B0604030504040204" pitchFamily="50" charset="-128"/>
                <a:ea typeface="メイリオ" panose="020B0604030504040204" pitchFamily="50" charset="-128"/>
                <a:cs typeface="メイリオ"/>
              </a:rPr>
              <a:t>（ターゲット戦略）</a:t>
            </a:r>
            <a:endParaRPr kumimoji="1" lang="ja-JP" altLang="en-US" sz="1100" dirty="0">
              <a:solidFill>
                <a:srgbClr val="00B050"/>
              </a:solidFill>
              <a:latin typeface="メイリオ" panose="020B0604030504040204" pitchFamily="50" charset="-128"/>
              <a:ea typeface="メイリオ" panose="020B0604030504040204" pitchFamily="50" charset="-128"/>
              <a:cs typeface="メイリオ"/>
            </a:endParaRPr>
          </a:p>
        </p:txBody>
      </p:sp>
      <p:sp>
        <p:nvSpPr>
          <p:cNvPr id="70" name="正方形/長方形 69">
            <a:extLst>
              <a:ext uri="{FF2B5EF4-FFF2-40B4-BE49-F238E27FC236}">
                <a16:creationId xmlns:a16="http://schemas.microsoft.com/office/drawing/2014/main" id="{A282801A-6F7E-2812-60DE-D9BD30E96635}"/>
              </a:ext>
            </a:extLst>
          </p:cNvPr>
          <p:cNvSpPr/>
          <p:nvPr/>
        </p:nvSpPr>
        <p:spPr>
          <a:xfrm>
            <a:off x="828387" y="4167605"/>
            <a:ext cx="1188972" cy="268338"/>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月間通数</a:t>
            </a:r>
          </a:p>
        </p:txBody>
      </p:sp>
      <p:sp>
        <p:nvSpPr>
          <p:cNvPr id="3" name="正方形/長方形 2">
            <a:extLst>
              <a:ext uri="{FF2B5EF4-FFF2-40B4-BE49-F238E27FC236}">
                <a16:creationId xmlns:a16="http://schemas.microsoft.com/office/drawing/2014/main" id="{DEF078B1-2A45-316B-F6D4-2929C807201E}"/>
              </a:ext>
            </a:extLst>
          </p:cNvPr>
          <p:cNvSpPr/>
          <p:nvPr/>
        </p:nvSpPr>
        <p:spPr>
          <a:xfrm>
            <a:off x="619696" y="2055027"/>
            <a:ext cx="1613438" cy="2508602"/>
          </a:xfrm>
          <a:prstGeom prst="rect">
            <a:avLst/>
          </a:prstGeom>
          <a:solidFill>
            <a:schemeClr val="bg1">
              <a:alpha val="6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吹き出し: 角を丸めた四角形 21">
            <a:extLst>
              <a:ext uri="{FF2B5EF4-FFF2-40B4-BE49-F238E27FC236}">
                <a16:creationId xmlns:a16="http://schemas.microsoft.com/office/drawing/2014/main" id="{72F45E26-7BF4-E2ED-9A7A-1F4668D22973}"/>
              </a:ext>
            </a:extLst>
          </p:cNvPr>
          <p:cNvSpPr/>
          <p:nvPr/>
        </p:nvSpPr>
        <p:spPr>
          <a:xfrm>
            <a:off x="1422873" y="4756716"/>
            <a:ext cx="6798018" cy="1723684"/>
          </a:xfrm>
          <a:prstGeom prst="wedgeRoundRectCallout">
            <a:avLst>
              <a:gd name="adj1" fmla="val -8535"/>
              <a:gd name="adj2" fmla="val -65828"/>
              <a:gd name="adj3" fmla="val 16667"/>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4" name="正方形/長方形 23">
            <a:extLst>
              <a:ext uri="{FF2B5EF4-FFF2-40B4-BE49-F238E27FC236}">
                <a16:creationId xmlns:a16="http://schemas.microsoft.com/office/drawing/2014/main" id="{4E48C706-01F7-97BF-6029-19C07E10A157}"/>
              </a:ext>
            </a:extLst>
          </p:cNvPr>
          <p:cNvSpPr/>
          <p:nvPr/>
        </p:nvSpPr>
        <p:spPr>
          <a:xfrm>
            <a:off x="314498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25" name="正方形/長方形 24">
            <a:extLst>
              <a:ext uri="{FF2B5EF4-FFF2-40B4-BE49-F238E27FC236}">
                <a16:creationId xmlns:a16="http://schemas.microsoft.com/office/drawing/2014/main" id="{691F0267-60AB-455D-B6F1-6559EBCD5D65}"/>
              </a:ext>
            </a:extLst>
          </p:cNvPr>
          <p:cNvSpPr/>
          <p:nvPr/>
        </p:nvSpPr>
        <p:spPr>
          <a:xfrm>
            <a:off x="488224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26" name="正方形/長方形 25">
            <a:extLst>
              <a:ext uri="{FF2B5EF4-FFF2-40B4-BE49-F238E27FC236}">
                <a16:creationId xmlns:a16="http://schemas.microsoft.com/office/drawing/2014/main" id="{D9156083-EC1B-F8D0-1360-7F5BEA5CB663}"/>
              </a:ext>
            </a:extLst>
          </p:cNvPr>
          <p:cNvSpPr/>
          <p:nvPr/>
        </p:nvSpPr>
        <p:spPr>
          <a:xfrm>
            <a:off x="6594510"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27" name="正方形/長方形 26">
            <a:extLst>
              <a:ext uri="{FF2B5EF4-FFF2-40B4-BE49-F238E27FC236}">
                <a16:creationId xmlns:a16="http://schemas.microsoft.com/office/drawing/2014/main" id="{B0EDDD6B-F76F-0F36-49FD-6D63CEA4F456}"/>
              </a:ext>
            </a:extLst>
          </p:cNvPr>
          <p:cNvSpPr/>
          <p:nvPr/>
        </p:nvSpPr>
        <p:spPr>
          <a:xfrm>
            <a:off x="314498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rgbClr val="FF0000"/>
                </a:solidFill>
                <a:latin typeface="メイリオ" panose="020B0604030504040204" pitchFamily="50" charset="-128"/>
                <a:ea typeface="メイリオ" panose="020B0604030504040204" pitchFamily="50" charset="-128"/>
                <a:cs typeface="メイリオ"/>
              </a:rPr>
              <a:t>85 </a:t>
            </a:r>
            <a:r>
              <a:rPr lang="en-US" altLang="ja-JP" sz="1400" b="1" dirty="0">
                <a:solidFill>
                  <a:srgbClr val="FF0000"/>
                </a:solidFill>
                <a:latin typeface="メイリオ" panose="020B0604030504040204" pitchFamily="50" charset="-128"/>
                <a:ea typeface="メイリオ" panose="020B0604030504040204" pitchFamily="50" charset="-128"/>
                <a:cs typeface="メイリオ"/>
              </a:rPr>
              <a:t>%</a:t>
            </a:r>
            <a:endParaRPr kumimoji="1" lang="ja-JP" altLang="en-US" sz="1400" b="1" dirty="0">
              <a:solidFill>
                <a:srgbClr val="FF0000"/>
              </a:solidFill>
              <a:latin typeface="メイリオ" panose="020B0604030504040204" pitchFamily="50" charset="-128"/>
              <a:ea typeface="メイリオ" panose="020B0604030504040204" pitchFamily="50" charset="-128"/>
              <a:cs typeface="メイリオ"/>
            </a:endParaRPr>
          </a:p>
        </p:txBody>
      </p:sp>
      <p:sp>
        <p:nvSpPr>
          <p:cNvPr id="28" name="正方形/長方形 27">
            <a:extLst>
              <a:ext uri="{FF2B5EF4-FFF2-40B4-BE49-F238E27FC236}">
                <a16:creationId xmlns:a16="http://schemas.microsoft.com/office/drawing/2014/main" id="{FD41B1A7-59DC-DE5C-69C2-F913EA082034}"/>
              </a:ext>
            </a:extLst>
          </p:cNvPr>
          <p:cNvSpPr/>
          <p:nvPr/>
        </p:nvSpPr>
        <p:spPr>
          <a:xfrm>
            <a:off x="488224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FF0000"/>
                </a:solidFill>
                <a:latin typeface="メイリオ" panose="020B0604030504040204" pitchFamily="50" charset="-128"/>
                <a:ea typeface="メイリオ" panose="020B0604030504040204" pitchFamily="50" charset="-128"/>
                <a:cs typeface="メイリオ"/>
              </a:rPr>
              <a:t>12.5 </a:t>
            </a:r>
            <a:r>
              <a:rPr lang="en-US" altLang="ja-JP" sz="1400" b="1" dirty="0">
                <a:solidFill>
                  <a:srgbClr val="FF0000"/>
                </a:solidFill>
                <a:latin typeface="メイリオ" panose="020B0604030504040204" pitchFamily="50" charset="-128"/>
                <a:ea typeface="メイリオ" panose="020B0604030504040204" pitchFamily="50" charset="-128"/>
                <a:cs typeface="メイリオ"/>
              </a:rPr>
              <a:t>%</a:t>
            </a:r>
            <a:endParaRPr lang="ja-JP" altLang="en-US" sz="1400" b="1" dirty="0">
              <a:solidFill>
                <a:srgbClr val="FF0000"/>
              </a:solidFill>
              <a:latin typeface="メイリオ" panose="020B0604030504040204" pitchFamily="50" charset="-128"/>
              <a:ea typeface="メイリオ" panose="020B0604030504040204" pitchFamily="50" charset="-128"/>
              <a:cs typeface="メイリオ"/>
            </a:endParaRPr>
          </a:p>
        </p:txBody>
      </p:sp>
      <p:sp>
        <p:nvSpPr>
          <p:cNvPr id="29" name="正方形/長方形 28">
            <a:extLst>
              <a:ext uri="{FF2B5EF4-FFF2-40B4-BE49-F238E27FC236}">
                <a16:creationId xmlns:a16="http://schemas.microsoft.com/office/drawing/2014/main" id="{2885A2E9-9449-3650-0E4A-5A9BF2D80E32}"/>
              </a:ext>
            </a:extLst>
          </p:cNvPr>
          <p:cNvSpPr/>
          <p:nvPr/>
        </p:nvSpPr>
        <p:spPr>
          <a:xfrm>
            <a:off x="6594510"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FF0000"/>
                </a:solidFill>
                <a:latin typeface="メイリオ" panose="020B0604030504040204" pitchFamily="50" charset="-128"/>
                <a:ea typeface="メイリオ" panose="020B0604030504040204" pitchFamily="50" charset="-128"/>
                <a:cs typeface="メイリオ"/>
              </a:rPr>
              <a:t>0.5</a:t>
            </a:r>
            <a:r>
              <a:rPr kumimoji="1" lang="en-US" altLang="ja-JP" sz="1400" b="1" dirty="0">
                <a:solidFill>
                  <a:srgbClr val="FF0000"/>
                </a:solidFill>
                <a:latin typeface="メイリオ" panose="020B0604030504040204" pitchFamily="50" charset="-128"/>
                <a:ea typeface="メイリオ" panose="020B0604030504040204" pitchFamily="50" charset="-128"/>
                <a:cs typeface="メイリオ"/>
              </a:rPr>
              <a:t> %</a:t>
            </a:r>
            <a:endParaRPr kumimoji="1" lang="ja-JP" altLang="en-US" sz="1400" b="1" dirty="0">
              <a:solidFill>
                <a:srgbClr val="FF0000"/>
              </a:solidFill>
              <a:latin typeface="メイリオ" panose="020B0604030504040204" pitchFamily="50" charset="-128"/>
              <a:ea typeface="メイリオ" panose="020B0604030504040204" pitchFamily="50" charset="-128"/>
              <a:cs typeface="メイリオ"/>
            </a:endParaRPr>
          </a:p>
        </p:txBody>
      </p:sp>
      <p:sp>
        <p:nvSpPr>
          <p:cNvPr id="30" name="正方形/長方形 29">
            <a:extLst>
              <a:ext uri="{FF2B5EF4-FFF2-40B4-BE49-F238E27FC236}">
                <a16:creationId xmlns:a16="http://schemas.microsoft.com/office/drawing/2014/main" id="{317ECBDF-09D3-257E-8F4A-E037F6ADBAAE}"/>
              </a:ext>
            </a:extLst>
          </p:cNvPr>
          <p:cNvSpPr/>
          <p:nvPr/>
        </p:nvSpPr>
        <p:spPr>
          <a:xfrm>
            <a:off x="314498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70 %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1" name="正方形/長方形 30">
            <a:extLst>
              <a:ext uri="{FF2B5EF4-FFF2-40B4-BE49-F238E27FC236}">
                <a16:creationId xmlns:a16="http://schemas.microsoft.com/office/drawing/2014/main" id="{DA54FC15-4562-C68F-C13B-F3AB00F5F82F}"/>
              </a:ext>
            </a:extLst>
          </p:cNvPr>
          <p:cNvSpPr/>
          <p:nvPr/>
        </p:nvSpPr>
        <p:spPr>
          <a:xfrm>
            <a:off x="488224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8.25 %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2" name="正方形/長方形 31">
            <a:extLst>
              <a:ext uri="{FF2B5EF4-FFF2-40B4-BE49-F238E27FC236}">
                <a16:creationId xmlns:a16="http://schemas.microsoft.com/office/drawing/2014/main" id="{382D3CC2-0AA1-6B39-8315-AC41101F88FE}"/>
              </a:ext>
            </a:extLst>
          </p:cNvPr>
          <p:cNvSpPr/>
          <p:nvPr/>
        </p:nvSpPr>
        <p:spPr>
          <a:xfrm>
            <a:off x="6594510"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latin typeface="メイリオ" panose="020B0604030504040204" pitchFamily="50" charset="-128"/>
                <a:ea typeface="メイリオ" panose="020B0604030504040204" pitchFamily="50" charset="-128"/>
                <a:cs typeface="メイリオ"/>
              </a:rPr>
              <a:t>0.3 %</a:t>
            </a:r>
            <a:endParaRPr kumimoji="1"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3" name="正方形/長方形 32">
            <a:extLst>
              <a:ext uri="{FF2B5EF4-FFF2-40B4-BE49-F238E27FC236}">
                <a16:creationId xmlns:a16="http://schemas.microsoft.com/office/drawing/2014/main" id="{5C344B7F-D598-9707-1687-34DC19B638F6}"/>
              </a:ext>
            </a:extLst>
          </p:cNvPr>
          <p:cNvSpPr/>
          <p:nvPr/>
        </p:nvSpPr>
        <p:spPr>
          <a:xfrm>
            <a:off x="1569529" y="5226753"/>
            <a:ext cx="1438656" cy="522965"/>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C000"/>
                </a:solidFill>
                <a:latin typeface="メイリオ" panose="020B0604030504040204" pitchFamily="50" charset="-128"/>
                <a:ea typeface="メイリオ" panose="020B0604030504040204" pitchFamily="50" charset="-128"/>
                <a:cs typeface="メイリオ"/>
              </a:rPr>
              <a:t>DYM</a:t>
            </a:r>
            <a:r>
              <a:rPr kumimoji="1" lang="ja-JP" altLang="en-US" sz="1200" b="1" dirty="0">
                <a:solidFill>
                  <a:srgbClr val="FFC000"/>
                </a:solidFill>
                <a:latin typeface="メイリオ" panose="020B0604030504040204" pitchFamily="50" charset="-128"/>
                <a:ea typeface="メイリオ" panose="020B0604030504040204" pitchFamily="50" charset="-128"/>
                <a:cs typeface="メイリオ"/>
              </a:rPr>
              <a:t>実績</a:t>
            </a:r>
          </a:p>
        </p:txBody>
      </p:sp>
      <p:sp>
        <p:nvSpPr>
          <p:cNvPr id="34" name="正方形/長方形 33">
            <a:extLst>
              <a:ext uri="{FF2B5EF4-FFF2-40B4-BE49-F238E27FC236}">
                <a16:creationId xmlns:a16="http://schemas.microsoft.com/office/drawing/2014/main" id="{93D563E7-193E-0293-8E0E-7C2E3C5192BF}"/>
              </a:ext>
            </a:extLst>
          </p:cNvPr>
          <p:cNvSpPr/>
          <p:nvPr/>
        </p:nvSpPr>
        <p:spPr>
          <a:xfrm>
            <a:off x="1569529" y="5809052"/>
            <a:ext cx="1438656" cy="522965"/>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cs typeface="メイリオ"/>
              </a:rPr>
              <a:t>業界平均</a:t>
            </a:r>
            <a:endParaRPr lang="en-US" altLang="ja-JP" sz="1200" b="1" dirty="0">
              <a:solidFill>
                <a:schemeClr val="bg1"/>
              </a:solidFill>
              <a:latin typeface="メイリオ" panose="020B0604030504040204" pitchFamily="50" charset="-128"/>
              <a:ea typeface="メイリオ" panose="020B0604030504040204" pitchFamily="50" charset="-128"/>
              <a:cs typeface="メイリオ"/>
            </a:endParaRPr>
          </a:p>
          <a:p>
            <a:pPr algn="ctr"/>
            <a:r>
              <a:rPr lang="en-US" altLang="ja-JP" sz="8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800" b="1" dirty="0">
                <a:solidFill>
                  <a:schemeClr val="bg1"/>
                </a:solidFill>
                <a:latin typeface="メイリオ" panose="020B0604030504040204" pitchFamily="50" charset="-128"/>
                <a:ea typeface="メイリオ" panose="020B0604030504040204" pitchFamily="50" charset="-128"/>
                <a:cs typeface="メイリオ"/>
              </a:rPr>
              <a:t>ヤフー社より共有）</a:t>
            </a:r>
          </a:p>
        </p:txBody>
      </p:sp>
      <p:sp>
        <p:nvSpPr>
          <p:cNvPr id="35" name="正方形/長方形 34">
            <a:extLst>
              <a:ext uri="{FF2B5EF4-FFF2-40B4-BE49-F238E27FC236}">
                <a16:creationId xmlns:a16="http://schemas.microsoft.com/office/drawing/2014/main" id="{A58F3C16-C1CC-3071-6630-130857C0B7D1}"/>
              </a:ext>
            </a:extLst>
          </p:cNvPr>
          <p:cNvSpPr/>
          <p:nvPr/>
        </p:nvSpPr>
        <p:spPr>
          <a:xfrm>
            <a:off x="564095" y="1666793"/>
            <a:ext cx="8989207" cy="32813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rgbClr val="FFC000"/>
                </a:solidFill>
                <a:latin typeface="メイリオ" panose="020B0604030504040204" pitchFamily="50" charset="-128"/>
                <a:ea typeface="メイリオ" panose="020B0604030504040204" pitchFamily="50" charset="-128"/>
                <a:cs typeface="メイリオ"/>
              </a:rPr>
              <a:t>施策の流れ</a:t>
            </a:r>
          </a:p>
        </p:txBody>
      </p:sp>
    </p:spTree>
    <p:extLst>
      <p:ext uri="{BB962C8B-B14F-4D97-AF65-F5344CB8AC3E}">
        <p14:creationId xmlns:p14="http://schemas.microsoft.com/office/powerpoint/2010/main" val="24218423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業態平均で</a:t>
            </a:r>
            <a:r>
              <a:rPr lang="ja-JP" altLang="en-US" sz="1400" b="1" dirty="0">
                <a:solidFill>
                  <a:srgbClr val="FF0000"/>
                </a:solidFill>
                <a:latin typeface="メイリオ" panose="020B0604030504040204" pitchFamily="50" charset="-128"/>
                <a:ea typeface="メイリオ" panose="020B0604030504040204" pitchFamily="50" charset="-128"/>
                <a:cs typeface="メイリオ"/>
              </a:rPr>
              <a:t>最大３</a:t>
            </a:r>
            <a:r>
              <a:rPr lang="en-US" altLang="ja-JP" sz="1400" b="1" dirty="0">
                <a:solidFill>
                  <a:srgbClr val="FF0000"/>
                </a:solidFill>
                <a:latin typeface="メイリオ" panose="020B0604030504040204" pitchFamily="50" charset="-128"/>
                <a:ea typeface="メイリオ" panose="020B0604030504040204" pitchFamily="50" charset="-128"/>
                <a:cs typeface="メイリオ"/>
              </a:rPr>
              <a:t>%</a:t>
            </a:r>
            <a:r>
              <a:rPr lang="ja-JP" altLang="en-US" sz="1400" b="1" dirty="0">
                <a:solidFill>
                  <a:srgbClr val="FF0000"/>
                </a:solidFill>
                <a:latin typeface="メイリオ" panose="020B0604030504040204" pitchFamily="50" charset="-128"/>
                <a:ea typeface="メイリオ" panose="020B0604030504040204" pitchFamily="50" charset="-128"/>
                <a:cs typeface="メイリオ"/>
              </a:rPr>
              <a:t>のユーザーは有効化</a:t>
            </a:r>
            <a:r>
              <a:rPr lang="en-US" altLang="ja-JP" sz="1400" b="1" dirty="0">
                <a:solidFill>
                  <a:srgbClr val="FF0000"/>
                </a:solidFill>
                <a:latin typeface="メイリオ" panose="020B0604030504040204" pitchFamily="50" charset="-128"/>
                <a:ea typeface="メイリオ" panose="020B0604030504040204" pitchFamily="50" charset="-128"/>
                <a:cs typeface="メイリオ"/>
              </a:rPr>
              <a:t>/</a:t>
            </a:r>
            <a:r>
              <a:rPr lang="ja-JP" altLang="en-US" sz="1400" b="1" dirty="0">
                <a:solidFill>
                  <a:srgbClr val="FF0000"/>
                </a:solidFill>
                <a:latin typeface="メイリオ" panose="020B0604030504040204" pitchFamily="50" charset="-128"/>
                <a:ea typeface="メイリオ" panose="020B0604030504040204" pitchFamily="50" charset="-128"/>
                <a:cs typeface="メイリオ"/>
              </a:rPr>
              <a:t>マネタイズ可能</a:t>
            </a:r>
            <a:r>
              <a:rPr lang="ja-JP" altLang="en-US" sz="1400" dirty="0">
                <a:solidFill>
                  <a:srgbClr val="343434"/>
                </a:solidFill>
                <a:latin typeface="メイリオ" panose="020B0604030504040204" pitchFamily="50" charset="-128"/>
                <a:ea typeface="メイリオ" panose="020B0604030504040204" pitchFamily="50" charset="-128"/>
                <a:cs typeface="メイリオ"/>
              </a:rPr>
              <a:t> とされている。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cs typeface="メイリオ"/>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cs typeface="メイリオ"/>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FF0000"/>
                </a:solidFill>
                <a:latin typeface="メイリオ" panose="020B0604030504040204" pitchFamily="50" charset="-128"/>
                <a:ea typeface="メイリオ" panose="020B0604030504040204" pitchFamily="50" charset="-128"/>
                <a:cs typeface="メイリオ"/>
              </a:rPr>
              <a:t>CV</a:t>
            </a:r>
            <a:r>
              <a:rPr kumimoji="1" lang="ja-JP" altLang="en-US" sz="1100" b="1" dirty="0">
                <a:solidFill>
                  <a:srgbClr val="FF0000"/>
                </a:solidFill>
                <a:latin typeface="メイリオ" panose="020B0604030504040204" pitchFamily="50" charset="-128"/>
                <a:ea typeface="メイリオ" panose="020B0604030504040204" pitchFamily="50" charset="-128"/>
                <a:cs typeface="メイリオ"/>
              </a:rPr>
              <a:t>するユーザー割合</a:t>
            </a:r>
            <a:endParaRPr kumimoji="1" lang="en-US" altLang="ja-JP" sz="1100" b="1" dirty="0">
              <a:solidFill>
                <a:srgbClr val="FF0000"/>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FF0000"/>
                </a:solidFill>
                <a:latin typeface="メイリオ" panose="020B0604030504040204" pitchFamily="50" charset="-128"/>
                <a:ea typeface="メイリオ" panose="020B0604030504040204" pitchFamily="50" charset="-128"/>
                <a:cs typeface="メイリオ"/>
              </a:rPr>
              <a:t>※</a:t>
            </a:r>
            <a:r>
              <a:rPr lang="ja-JP" altLang="en-US" sz="1000" dirty="0">
                <a:solidFill>
                  <a:srgbClr val="FF0000"/>
                </a:solidFill>
                <a:latin typeface="メイリオ" panose="020B0604030504040204" pitchFamily="50" charset="-128"/>
                <a:ea typeface="メイリオ" panose="020B0604030504040204" pitchFamily="50" charset="-128"/>
                <a:cs typeface="メイリオ"/>
              </a:rPr>
              <a:t>平均値</a:t>
            </a:r>
            <a:endParaRPr kumimoji="1" lang="ja-JP" altLang="en-US" sz="1000" dirty="0">
              <a:solidFill>
                <a:srgbClr val="FF0000"/>
              </a:solidFill>
              <a:latin typeface="メイリオ" panose="020B0604030504040204" pitchFamily="50" charset="-128"/>
              <a:ea typeface="メイリオ" panose="020B0604030504040204" pitchFamily="50" charset="-128"/>
              <a:cs typeface="メイリオ"/>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FF0000"/>
                </a:solidFill>
                <a:latin typeface="メイリオ" panose="020B0604030504040204" pitchFamily="50" charset="-128"/>
                <a:ea typeface="メイリオ" panose="020B0604030504040204" pitchFamily="50" charset="-128"/>
                <a:cs typeface="メイリオ"/>
              </a:rPr>
              <a:t>３</a:t>
            </a:r>
            <a:r>
              <a:rPr kumimoji="1" lang="ja-JP" altLang="en-US" sz="2400" b="1" dirty="0">
                <a:solidFill>
                  <a:srgbClr val="FF0000"/>
                </a:solidFill>
                <a:latin typeface="メイリオ" panose="020B0604030504040204" pitchFamily="50" charset="-128"/>
                <a:ea typeface="メイリオ" panose="020B0604030504040204" pitchFamily="50" charset="-128"/>
                <a:cs typeface="メイリオ"/>
              </a:rPr>
              <a:t>％</a:t>
            </a:r>
            <a:endParaRPr lang="ja-JP" altLang="en-US" sz="2400" dirty="0">
              <a:solidFill>
                <a:srgbClr val="FF0000"/>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cs typeface="メイリオ"/>
              </a:rPr>
              <a:t>1.5</a:t>
            </a:r>
            <a:r>
              <a:rPr kumimoji="1" lang="ja-JP" altLang="en-US" sz="2400" b="1" dirty="0">
                <a:solidFill>
                  <a:srgbClr val="FF0000"/>
                </a:solidFill>
                <a:latin typeface="メイリオ" panose="020B0604030504040204" pitchFamily="50" charset="-128"/>
                <a:ea typeface="メイリオ" panose="020B0604030504040204" pitchFamily="50" charset="-128"/>
                <a:cs typeface="メイリオ"/>
              </a:rPr>
              <a:t>％</a:t>
            </a:r>
            <a:endParaRPr lang="ja-JP" altLang="en-US" sz="2400" dirty="0">
              <a:solidFill>
                <a:srgbClr val="FF0000"/>
              </a:solidFill>
              <a:latin typeface="メイリオ"/>
              <a:ea typeface="メイリオ"/>
              <a:cs typeface="メイリオ"/>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FF0000"/>
                </a:solidFill>
                <a:latin typeface="メイリオ" panose="020B0604030504040204" pitchFamily="50" charset="-128"/>
                <a:ea typeface="メイリオ" panose="020B0604030504040204" pitchFamily="50" charset="-128"/>
                <a:cs typeface="メイリオ"/>
              </a:rPr>
              <a:t>％</a:t>
            </a:r>
            <a:endParaRPr lang="ja-JP" altLang="en-US" sz="2400" dirty="0">
              <a:solidFill>
                <a:srgbClr val="FF0000"/>
              </a:solidFill>
              <a:latin typeface="メイリオ"/>
              <a:ea typeface="メイリオ"/>
              <a:cs typeface="メイリオ"/>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FF0000"/>
                </a:solidFill>
                <a:latin typeface="メイリオ" panose="020B0604030504040204" pitchFamily="50" charset="-128"/>
                <a:ea typeface="メイリオ" panose="020B0604030504040204" pitchFamily="50" charset="-128"/>
                <a:cs typeface="メイリオ"/>
              </a:rPr>
              <a:t>％</a:t>
            </a:r>
            <a:endParaRPr lang="ja-JP" altLang="en-US" sz="2400" dirty="0">
              <a:solidFill>
                <a:srgbClr val="FF0000"/>
              </a:solidFill>
              <a:latin typeface="メイリオ"/>
              <a:ea typeface="メイリオ"/>
              <a:cs typeface="メイリオ"/>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FF0000"/>
                </a:solidFill>
                <a:latin typeface="メイリオ" panose="020B0604030504040204" pitchFamily="50" charset="-128"/>
                <a:ea typeface="メイリオ" panose="020B0604030504040204" pitchFamily="50" charset="-128"/>
                <a:cs typeface="メイリオ"/>
              </a:rPr>
              <a:t>％</a:t>
            </a:r>
            <a:endParaRPr lang="ja-JP" altLang="en-US" sz="2400" dirty="0">
              <a:solidFill>
                <a:srgbClr val="FF0000"/>
              </a:solidFill>
              <a:latin typeface="メイリオ"/>
              <a:ea typeface="メイリオ"/>
              <a:cs typeface="メイリオ"/>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cs typeface="メイリオ"/>
              </a:rPr>
              <a:t>2</a:t>
            </a:r>
            <a:r>
              <a:rPr kumimoji="1" lang="ja-JP" altLang="en-US" sz="2400" b="1" dirty="0">
                <a:solidFill>
                  <a:srgbClr val="FF0000"/>
                </a:solidFill>
                <a:latin typeface="メイリオ" panose="020B0604030504040204" pitchFamily="50" charset="-128"/>
                <a:ea typeface="メイリオ" panose="020B0604030504040204" pitchFamily="50" charset="-128"/>
                <a:cs typeface="メイリオ"/>
              </a:rPr>
              <a:t>％</a:t>
            </a:r>
            <a:endParaRPr lang="ja-JP" altLang="en-US" sz="2400" dirty="0">
              <a:solidFill>
                <a:srgbClr val="FF0000"/>
              </a:solidFill>
              <a:latin typeface="メイリオ"/>
              <a:ea typeface="メイリオ"/>
              <a:cs typeface="メイリオ"/>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商談・再購入誘導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98883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A8046-1654-094B-8F5D-E4DEE374596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70E0618D-3216-35E4-D4C4-66DD232D827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7478A58-B30A-B13E-22E3-8D83CCAF592E}"/>
              </a:ext>
            </a:extLst>
          </p:cNvPr>
          <p:cNvSpPr/>
          <p:nvPr/>
        </p:nvSpPr>
        <p:spPr>
          <a:xfrm>
            <a:off x="2808838" y="3038203"/>
            <a:ext cx="4288353"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中長期施策として</a:t>
            </a: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400066798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4FE7-6D4B-4888-997F-23D957A67FB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E998200-CD1E-9377-8F8E-91B67A682AE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　</a:t>
            </a:r>
            <a:r>
              <a:rPr lang="en-US" altLang="ja-JP" sz="1400" b="1" dirty="0">
                <a:solidFill>
                  <a:srgbClr val="FF0000"/>
                </a:solidFill>
                <a:latin typeface="メイリオ" panose="020B0604030504040204" pitchFamily="50" charset="-128"/>
                <a:ea typeface="メイリオ" panose="020B0604030504040204" pitchFamily="50" charset="-128"/>
                <a:cs typeface="メイリオ"/>
                <a:sym typeface="Meiryo"/>
              </a:rPr>
              <a:t>[CRM</a:t>
            </a:r>
            <a:r>
              <a:rPr lang="ja-JP" altLang="en-US" sz="1400" b="1" dirty="0">
                <a:solidFill>
                  <a:srgbClr val="FF0000"/>
                </a:solidFill>
                <a:latin typeface="メイリオ" panose="020B0604030504040204" pitchFamily="50" charset="-128"/>
                <a:ea typeface="メイリオ" panose="020B0604030504040204" pitchFamily="50" charset="-128"/>
                <a:cs typeface="メイリオ"/>
                <a:sym typeface="Meiryo"/>
              </a:rPr>
              <a:t>及び</a:t>
            </a:r>
            <a:r>
              <a:rPr lang="en-US" altLang="ja-JP" sz="1400" b="1" dirty="0">
                <a:solidFill>
                  <a:srgbClr val="FF0000"/>
                </a:solidFill>
                <a:latin typeface="メイリオ" panose="020B0604030504040204" pitchFamily="50" charset="-128"/>
                <a:ea typeface="メイリオ" panose="020B0604030504040204" pitchFamily="50" charset="-128"/>
                <a:cs typeface="メイリオ"/>
                <a:sym typeface="Meiryo"/>
              </a:rPr>
              <a:t>API</a:t>
            </a:r>
            <a:r>
              <a:rPr lang="ja-JP" altLang="en-US" sz="1400" b="1" dirty="0">
                <a:solidFill>
                  <a:srgbClr val="FF0000"/>
                </a:solidFill>
                <a:latin typeface="メイリオ" panose="020B0604030504040204" pitchFamily="50" charset="-128"/>
                <a:ea typeface="メイリオ" panose="020B0604030504040204" pitchFamily="50" charset="-128"/>
                <a:cs typeface="メイリオ"/>
                <a:sym typeface="Meiryo"/>
              </a:rPr>
              <a:t>ツールとの連携</a:t>
            </a:r>
            <a:r>
              <a:rPr lang="en-US" altLang="ja-JP" sz="1400" b="1" dirty="0">
                <a:solidFill>
                  <a:srgbClr val="FF0000"/>
                </a:solidFill>
                <a:latin typeface="メイリオ" panose="020B0604030504040204" pitchFamily="50" charset="-128"/>
                <a:ea typeface="メイリオ" panose="020B0604030504040204" pitchFamily="50" charset="-128"/>
                <a:cs typeface="メイリオ"/>
                <a:sym typeface="Meiryo"/>
              </a:rPr>
              <a:t>]</a:t>
            </a:r>
            <a:endParaRPr lang="ja-JP" altLang="en-US" sz="1600" b="1" dirty="0">
              <a:solidFill>
                <a:srgbClr val="FF0000"/>
              </a:solidFill>
              <a:latin typeface="メイリオ" panose="020B0604030504040204" pitchFamily="50" charset="-128"/>
              <a:ea typeface="メイリオ" panose="020B0604030504040204" pitchFamily="50" charset="-128"/>
              <a:cs typeface="メイリオ"/>
              <a:sym typeface="Meiryo"/>
            </a:endParaRPr>
          </a:p>
        </p:txBody>
      </p:sp>
      <p:sp>
        <p:nvSpPr>
          <p:cNvPr id="2" name="正方形/長方形 1">
            <a:extLst>
              <a:ext uri="{FF2B5EF4-FFF2-40B4-BE49-F238E27FC236}">
                <a16:creationId xmlns:a16="http://schemas.microsoft.com/office/drawing/2014/main" id="{529B047E-CF1E-2AB0-E618-76435731185A}"/>
              </a:ext>
            </a:extLst>
          </p:cNvPr>
          <p:cNvSpPr/>
          <p:nvPr/>
        </p:nvSpPr>
        <p:spPr>
          <a:xfrm>
            <a:off x="804889" y="5113292"/>
            <a:ext cx="3834166" cy="825268"/>
          </a:xfrm>
          <a:prstGeom prst="rect">
            <a:avLst/>
          </a:prstGeom>
          <a:solidFill>
            <a:schemeClr val="accent1">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1400" dirty="0">
                <a:solidFill>
                  <a:srgbClr val="073763"/>
                </a:solidFill>
                <a:latin typeface="メイリオ" panose="020B0604030504040204" pitchFamily="50" charset="-128"/>
                <a:ea typeface="メイリオ" panose="020B0604030504040204" pitchFamily="50" charset="-128"/>
                <a:cs typeface="メイリオ"/>
              </a:rPr>
              <a:t>「</a:t>
            </a:r>
            <a:r>
              <a:rPr kumimoji="1" lang="en-US" altLang="ja-JP" sz="1400" dirty="0">
                <a:solidFill>
                  <a:srgbClr val="073763"/>
                </a:solidFill>
                <a:latin typeface="メイリオ" panose="020B0604030504040204" pitchFamily="50" charset="-128"/>
                <a:ea typeface="メイリオ" panose="020B0604030504040204" pitchFamily="50" charset="-128"/>
                <a:cs typeface="メイリオ"/>
              </a:rPr>
              <a:t>CRM</a:t>
            </a:r>
            <a:r>
              <a:rPr kumimoji="1" lang="ja-JP" altLang="en-US" sz="1400" dirty="0">
                <a:solidFill>
                  <a:srgbClr val="073763"/>
                </a:solidFill>
                <a:latin typeface="メイリオ" panose="020B0604030504040204" pitchFamily="50" charset="-128"/>
                <a:ea typeface="メイリオ" panose="020B0604030504040204" pitchFamily="50" charset="-128"/>
                <a:cs typeface="メイリオ"/>
              </a:rPr>
              <a:t>側でどんな情報を取りたいか」</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が重要</a:t>
            </a:r>
            <a:br>
              <a:rPr lang="en-US" altLang="ja-JP" sz="1400" dirty="0">
                <a:solidFill>
                  <a:srgbClr val="073763"/>
                </a:solidFill>
                <a:latin typeface="メイリオ" panose="020B0604030504040204" pitchFamily="50" charset="-128"/>
                <a:ea typeface="メイリオ" panose="020B0604030504040204" pitchFamily="50" charset="-128"/>
                <a:cs typeface="メイリオ"/>
              </a:rPr>
            </a:br>
            <a:r>
              <a:rPr lang="ja-JP" altLang="en-US" sz="1400" b="1" dirty="0">
                <a:solidFill>
                  <a:srgbClr val="073763"/>
                </a:solidFill>
                <a:latin typeface="メイリオ" panose="020B0604030504040204" pitchFamily="50" charset="-128"/>
                <a:ea typeface="メイリオ" panose="020B0604030504040204" pitchFamily="50" charset="-128"/>
                <a:cs typeface="メイリオ"/>
              </a:rPr>
              <a:t>要件定義</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を先にする必要がある</a:t>
            </a:r>
            <a:endParaRPr kumimoji="1" lang="ja-JP" altLang="en-US" sz="1400" dirty="0">
              <a:solidFill>
                <a:srgbClr val="073763"/>
              </a:solidFill>
              <a:latin typeface="メイリオ" panose="020B0604030504040204" pitchFamily="50" charset="-128"/>
              <a:ea typeface="メイリオ" panose="020B0604030504040204" pitchFamily="50" charset="-128"/>
              <a:cs typeface="メイリオ"/>
            </a:endParaRPr>
          </a:p>
        </p:txBody>
      </p:sp>
      <p:sp>
        <p:nvSpPr>
          <p:cNvPr id="3" name="正方形/長方形 2">
            <a:extLst>
              <a:ext uri="{FF2B5EF4-FFF2-40B4-BE49-F238E27FC236}">
                <a16:creationId xmlns:a16="http://schemas.microsoft.com/office/drawing/2014/main" id="{C7D9704D-BB8D-31FA-D577-9838EADFB52F}"/>
              </a:ext>
            </a:extLst>
          </p:cNvPr>
          <p:cNvSpPr/>
          <p:nvPr/>
        </p:nvSpPr>
        <p:spPr>
          <a:xfrm>
            <a:off x="548883"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CR</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M</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によるセグメント配信の違い</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5" name="正方形/長方形 4">
            <a:extLst>
              <a:ext uri="{FF2B5EF4-FFF2-40B4-BE49-F238E27FC236}">
                <a16:creationId xmlns:a16="http://schemas.microsoft.com/office/drawing/2014/main" id="{DEDA1867-168F-C6E6-0B48-C791330A0A1C}"/>
              </a:ext>
            </a:extLst>
          </p:cNvPr>
          <p:cNvSpPr/>
          <p:nvPr/>
        </p:nvSpPr>
        <p:spPr>
          <a:xfrm>
            <a:off x="4855489" y="1681759"/>
            <a:ext cx="1637212"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pic>
        <p:nvPicPr>
          <p:cNvPr id="6" name="図 5">
            <a:extLst>
              <a:ext uri="{FF2B5EF4-FFF2-40B4-BE49-F238E27FC236}">
                <a16:creationId xmlns:a16="http://schemas.microsoft.com/office/drawing/2014/main" id="{3E9A497F-26C3-7713-AA96-7B5A48F56252}"/>
              </a:ext>
            </a:extLst>
          </p:cNvPr>
          <p:cNvPicPr>
            <a:picLocks noChangeAspect="1"/>
          </p:cNvPicPr>
          <p:nvPr/>
        </p:nvPicPr>
        <p:blipFill>
          <a:blip r:embed="rId2"/>
          <a:stretch>
            <a:fillRect/>
          </a:stretch>
        </p:blipFill>
        <p:spPr>
          <a:xfrm>
            <a:off x="767879" y="2097602"/>
            <a:ext cx="1748922" cy="1226856"/>
          </a:xfrm>
          <a:prstGeom prst="rect">
            <a:avLst/>
          </a:prstGeom>
        </p:spPr>
      </p:pic>
      <p:pic>
        <p:nvPicPr>
          <p:cNvPr id="7" name="図 6">
            <a:extLst>
              <a:ext uri="{FF2B5EF4-FFF2-40B4-BE49-F238E27FC236}">
                <a16:creationId xmlns:a16="http://schemas.microsoft.com/office/drawing/2014/main" id="{AAF48BB3-9A38-696F-FC70-5DEE4C4078CF}"/>
              </a:ext>
            </a:extLst>
          </p:cNvPr>
          <p:cNvPicPr>
            <a:picLocks noChangeAspect="1"/>
          </p:cNvPicPr>
          <p:nvPr/>
        </p:nvPicPr>
        <p:blipFill>
          <a:blip r:embed="rId3"/>
          <a:stretch>
            <a:fillRect/>
          </a:stretch>
        </p:blipFill>
        <p:spPr>
          <a:xfrm>
            <a:off x="2629285" y="2290287"/>
            <a:ext cx="2166018" cy="762483"/>
          </a:xfrm>
          <a:prstGeom prst="rect">
            <a:avLst/>
          </a:prstGeom>
        </p:spPr>
      </p:pic>
      <p:pic>
        <p:nvPicPr>
          <p:cNvPr id="8" name="図 7">
            <a:extLst>
              <a:ext uri="{FF2B5EF4-FFF2-40B4-BE49-F238E27FC236}">
                <a16:creationId xmlns:a16="http://schemas.microsoft.com/office/drawing/2014/main" id="{84D1E44E-92B8-B060-DC73-7A65C3C6173F}"/>
              </a:ext>
            </a:extLst>
          </p:cNvPr>
          <p:cNvPicPr>
            <a:picLocks noChangeAspect="1"/>
          </p:cNvPicPr>
          <p:nvPr/>
        </p:nvPicPr>
        <p:blipFill>
          <a:blip r:embed="rId4"/>
          <a:stretch>
            <a:fillRect/>
          </a:stretch>
        </p:blipFill>
        <p:spPr>
          <a:xfrm>
            <a:off x="732463" y="3382653"/>
            <a:ext cx="1896822" cy="592757"/>
          </a:xfrm>
          <a:prstGeom prst="rect">
            <a:avLst/>
          </a:prstGeom>
        </p:spPr>
      </p:pic>
      <p:pic>
        <p:nvPicPr>
          <p:cNvPr id="10" name="図 9">
            <a:extLst>
              <a:ext uri="{FF2B5EF4-FFF2-40B4-BE49-F238E27FC236}">
                <a16:creationId xmlns:a16="http://schemas.microsoft.com/office/drawing/2014/main" id="{41BDD745-D379-657E-EEF9-DAE4405410CE}"/>
              </a:ext>
            </a:extLst>
          </p:cNvPr>
          <p:cNvPicPr>
            <a:picLocks noChangeAspect="1"/>
          </p:cNvPicPr>
          <p:nvPr/>
        </p:nvPicPr>
        <p:blipFill>
          <a:blip r:embed="rId5"/>
          <a:stretch>
            <a:fillRect/>
          </a:stretch>
        </p:blipFill>
        <p:spPr>
          <a:xfrm>
            <a:off x="2774924" y="3271855"/>
            <a:ext cx="1980643" cy="825268"/>
          </a:xfrm>
          <a:prstGeom prst="rect">
            <a:avLst/>
          </a:prstGeom>
        </p:spPr>
      </p:pic>
      <p:sp>
        <p:nvSpPr>
          <p:cNvPr id="11" name="二等辺三角形 10">
            <a:extLst>
              <a:ext uri="{FF2B5EF4-FFF2-40B4-BE49-F238E27FC236}">
                <a16:creationId xmlns:a16="http://schemas.microsoft.com/office/drawing/2014/main" id="{DE45D7C0-7CD3-BE83-DB56-A8A9A887F251}"/>
              </a:ext>
            </a:extLst>
          </p:cNvPr>
          <p:cNvSpPr/>
          <p:nvPr/>
        </p:nvSpPr>
        <p:spPr>
          <a:xfrm flipV="1">
            <a:off x="2404365" y="4661972"/>
            <a:ext cx="635214" cy="24305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latin typeface="メイリオ"/>
              <a:ea typeface="メイリオ"/>
              <a:cs typeface="メイリオ"/>
            </a:endParaRPr>
          </a:p>
        </p:txBody>
      </p:sp>
      <p:sp>
        <p:nvSpPr>
          <p:cNvPr id="12" name="正方形/長方形 11">
            <a:extLst>
              <a:ext uri="{FF2B5EF4-FFF2-40B4-BE49-F238E27FC236}">
                <a16:creationId xmlns:a16="http://schemas.microsoft.com/office/drawing/2014/main" id="{7FB401AD-59C1-FD46-42C1-D7E7B4A5CBEF}"/>
              </a:ext>
            </a:extLst>
          </p:cNvPr>
          <p:cNvSpPr/>
          <p:nvPr/>
        </p:nvSpPr>
        <p:spPr>
          <a:xfrm>
            <a:off x="5088187"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▼参考：</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ステップ</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連携機能</a:t>
            </a:r>
          </a:p>
        </p:txBody>
      </p:sp>
      <p:pic>
        <p:nvPicPr>
          <p:cNvPr id="13" name="図 12">
            <a:extLst>
              <a:ext uri="{FF2B5EF4-FFF2-40B4-BE49-F238E27FC236}">
                <a16:creationId xmlns:a16="http://schemas.microsoft.com/office/drawing/2014/main" id="{CAF63C84-7FEF-612A-E123-4983B7F28BAA}"/>
              </a:ext>
            </a:extLst>
          </p:cNvPr>
          <p:cNvPicPr>
            <a:picLocks noChangeAspect="1"/>
          </p:cNvPicPr>
          <p:nvPr/>
        </p:nvPicPr>
        <p:blipFill>
          <a:blip r:embed="rId6"/>
          <a:stretch>
            <a:fillRect/>
          </a:stretch>
        </p:blipFill>
        <p:spPr>
          <a:xfrm>
            <a:off x="5088187" y="2053900"/>
            <a:ext cx="4493959" cy="4306708"/>
          </a:xfrm>
          <a:prstGeom prst="rect">
            <a:avLst/>
          </a:prstGeom>
        </p:spPr>
      </p:pic>
      <p:sp>
        <p:nvSpPr>
          <p:cNvPr id="14" name="Google Shape;752;p28">
            <a:extLst>
              <a:ext uri="{FF2B5EF4-FFF2-40B4-BE49-F238E27FC236}">
                <a16:creationId xmlns:a16="http://schemas.microsoft.com/office/drawing/2014/main" id="{87B68C46-3A5D-A74F-1932-7FA2CEB38DBA}"/>
              </a:ext>
            </a:extLst>
          </p:cNvPr>
          <p:cNvSpPr txBox="1"/>
          <p:nvPr/>
        </p:nvSpPr>
        <p:spPr>
          <a:xfrm>
            <a:off x="776105" y="86442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a:t>
            </a:r>
            <a:r>
              <a:rPr lang="en-US" altLang="ja-JP" sz="1400" dirty="0">
                <a:latin typeface="メイリオ" panose="020B0604030504040204" pitchFamily="50" charset="-128"/>
                <a:ea typeface="メイリオ" panose="020B0604030504040204" pitchFamily="50" charset="-128"/>
                <a:cs typeface="メイリオ"/>
                <a:sym typeface="Meiryo"/>
              </a:rPr>
              <a:t>API</a:t>
            </a:r>
            <a:r>
              <a:rPr lang="ja-JP" altLang="en-US" sz="1400" dirty="0">
                <a:latin typeface="メイリオ" panose="020B0604030504040204" pitchFamily="50" charset="-128"/>
                <a:ea typeface="メイリオ" panose="020B0604030504040204" pitchFamily="50" charset="-128"/>
                <a:cs typeface="メイリオ"/>
                <a:sym typeface="Meiryo"/>
              </a:rPr>
              <a:t>ツールで要件定義を行いつつ、効率化及び詳細なセグメント設計を目的として、</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貴社内の顧客管理（</a:t>
            </a: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）ツールとの連携の実施も可能です。</a:t>
            </a:r>
            <a:r>
              <a:rPr lang="ja-JP" altLang="en-US" sz="1100" dirty="0">
                <a:solidFill>
                  <a:srgbClr val="FF0000"/>
                </a:solidFill>
                <a:latin typeface="メイリオ" panose="020B0604030504040204" pitchFamily="50" charset="-128"/>
                <a:ea typeface="メイリオ" panose="020B0604030504040204" pitchFamily="50" charset="-128"/>
                <a:cs typeface="メイリオ"/>
                <a:sym typeface="Meiryo"/>
              </a:rPr>
              <a:t> </a:t>
            </a:r>
            <a:r>
              <a:rPr lang="en-US" altLang="ja-JP" sz="1100" dirty="0">
                <a:solidFill>
                  <a:srgbClr val="FF0000"/>
                </a:solidFill>
                <a:latin typeface="メイリオ" panose="020B0604030504040204" pitchFamily="50" charset="-128"/>
                <a:ea typeface="メイリオ" panose="020B0604030504040204" pitchFamily="50" charset="-128"/>
                <a:cs typeface="メイリオ"/>
                <a:sym typeface="Meiryo"/>
              </a:rPr>
              <a:t>※</a:t>
            </a:r>
            <a:r>
              <a:rPr lang="ja-JP" altLang="en-US" sz="1100" dirty="0">
                <a:solidFill>
                  <a:srgbClr val="FF0000"/>
                </a:solidFill>
                <a:latin typeface="メイリオ" panose="020B0604030504040204" pitchFamily="50" charset="-128"/>
                <a:ea typeface="メイリオ" panose="020B0604030504040204" pitchFamily="50" charset="-128"/>
                <a:cs typeface="メイリオ"/>
                <a:sym typeface="Meiryo"/>
              </a:rPr>
              <a:t>開発は別途費用</a:t>
            </a:r>
            <a:endParaRPr lang="en-US" altLang="ja-JP" sz="1400" dirty="0">
              <a:solidFill>
                <a:srgbClr val="FF0000"/>
              </a:solidFill>
              <a:latin typeface="メイリオ" panose="020B0604030504040204" pitchFamily="50" charset="-128"/>
              <a:ea typeface="メイリオ" panose="020B0604030504040204" pitchFamily="50" charset="-128"/>
              <a:cs typeface="メイリオ"/>
              <a:sym typeface="Meiryo"/>
            </a:endParaRPr>
          </a:p>
        </p:txBody>
      </p:sp>
      <p:pic>
        <p:nvPicPr>
          <p:cNvPr id="16" name="図 15">
            <a:extLst>
              <a:ext uri="{FF2B5EF4-FFF2-40B4-BE49-F238E27FC236}">
                <a16:creationId xmlns:a16="http://schemas.microsoft.com/office/drawing/2014/main" id="{03191DAC-E9A0-5CCA-8AC1-DD7587146EC0}"/>
              </a:ext>
            </a:extLst>
          </p:cNvPr>
          <p:cNvPicPr>
            <a:picLocks noChangeAspect="1"/>
          </p:cNvPicPr>
          <p:nvPr/>
        </p:nvPicPr>
        <p:blipFill>
          <a:blip r:embed="rId7"/>
          <a:stretch>
            <a:fillRect/>
          </a:stretch>
        </p:blipFill>
        <p:spPr>
          <a:xfrm>
            <a:off x="8356962" y="3138694"/>
            <a:ext cx="1225184" cy="371527"/>
          </a:xfrm>
          <a:prstGeom prst="rect">
            <a:avLst/>
          </a:prstGeom>
        </p:spPr>
      </p:pic>
      <p:sp>
        <p:nvSpPr>
          <p:cNvPr id="18" name="正方形/長方形 17">
            <a:extLst>
              <a:ext uri="{FF2B5EF4-FFF2-40B4-BE49-F238E27FC236}">
                <a16:creationId xmlns:a16="http://schemas.microsoft.com/office/drawing/2014/main" id="{6556E7C3-00CD-61AD-290A-ADC705BB4ED2}"/>
              </a:ext>
            </a:extLst>
          </p:cNvPr>
          <p:cNvSpPr/>
          <p:nvPr/>
        </p:nvSpPr>
        <p:spPr>
          <a:xfrm>
            <a:off x="7392816" y="2667912"/>
            <a:ext cx="1404514" cy="7046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LINE</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公式と</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ツール間の</a:t>
            </a:r>
            <a:endPar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情報連携</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ECFC83DD-87A7-DC53-4B5A-DD088FDF4D20}"/>
              </a:ext>
            </a:extLst>
          </p:cNvPr>
          <p:cNvSpPr/>
          <p:nvPr/>
        </p:nvSpPr>
        <p:spPr>
          <a:xfrm>
            <a:off x="5873920" y="2711430"/>
            <a:ext cx="989184" cy="423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メッセ送信</a:t>
            </a:r>
          </a:p>
        </p:txBody>
      </p:sp>
    </p:spTree>
    <p:extLst>
      <p:ext uri="{BB962C8B-B14F-4D97-AF65-F5344CB8AC3E}">
        <p14:creationId xmlns:p14="http://schemas.microsoft.com/office/powerpoint/2010/main" val="9826497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その他 代表的な活用機能</a:t>
            </a:r>
            <a:endParaRPr sz="1600" b="1" dirty="0">
              <a:solidFill>
                <a:srgbClr val="002060"/>
              </a:solidFill>
              <a:latin typeface="メイリオ"/>
              <a:ea typeface="メイリオ"/>
              <a:cs typeface="メイリオ"/>
              <a:sym typeface="Meiryo"/>
            </a:endParaRPr>
          </a:p>
        </p:txBody>
      </p:sp>
      <p:sp>
        <p:nvSpPr>
          <p:cNvPr id="8" name="正方形/長方形 7"/>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ミニアプリ</a:t>
            </a:r>
            <a:endParaRPr lang="en-US" altLang="ja-JP" sz="1600" b="1" dirty="0">
              <a:latin typeface="メイリオ" panose="020B0604030504040204" pitchFamily="50" charset="-128"/>
              <a:ea typeface="メイリオ" panose="020B0604030504040204" pitchFamily="50" charset="-128"/>
              <a:cs typeface="メイリオ"/>
            </a:endParaRPr>
          </a:p>
        </p:txBody>
      </p:sp>
      <p:pic>
        <p:nvPicPr>
          <p:cNvPr id="15" name="図 14"/>
          <p:cNvPicPr>
            <a:picLocks noChangeAspect="1"/>
          </p:cNvPicPr>
          <p:nvPr/>
        </p:nvPicPr>
        <p:blipFill>
          <a:blip r:embed="rId2"/>
          <a:stretch>
            <a:fillRect/>
          </a:stretch>
        </p:blipFill>
        <p:spPr>
          <a:xfrm>
            <a:off x="395078" y="4223656"/>
            <a:ext cx="4883652" cy="2255298"/>
          </a:xfrm>
          <a:prstGeom prst="rect">
            <a:avLst/>
          </a:prstGeom>
        </p:spPr>
      </p:pic>
      <p:pic>
        <p:nvPicPr>
          <p:cNvPr id="16" name="図 15"/>
          <p:cNvPicPr>
            <a:picLocks noChangeAspect="1"/>
          </p:cNvPicPr>
          <p:nvPr/>
        </p:nvPicPr>
        <p:blipFill>
          <a:blip r:embed="rId3"/>
          <a:stretch>
            <a:fillRect/>
          </a:stretch>
        </p:blipFill>
        <p:spPr>
          <a:xfrm>
            <a:off x="5447610" y="4291935"/>
            <a:ext cx="4377759" cy="1962444"/>
          </a:xfrm>
          <a:prstGeom prst="rect">
            <a:avLst/>
          </a:prstGeom>
        </p:spPr>
      </p:pic>
      <p:pic>
        <p:nvPicPr>
          <p:cNvPr id="17" name="図 16"/>
          <p:cNvPicPr>
            <a:picLocks noChangeAspect="1"/>
          </p:cNvPicPr>
          <p:nvPr/>
        </p:nvPicPr>
        <p:blipFill>
          <a:blip r:embed="rId4"/>
          <a:stretch>
            <a:fillRect/>
          </a:stretch>
        </p:blipFill>
        <p:spPr>
          <a:xfrm>
            <a:off x="295583" y="1824445"/>
            <a:ext cx="5881033" cy="2266757"/>
          </a:xfrm>
          <a:prstGeom prst="rect">
            <a:avLst/>
          </a:prstGeom>
        </p:spPr>
      </p:pic>
      <p:sp>
        <p:nvSpPr>
          <p:cNvPr id="2" name="正方形/長方形 1"/>
          <p:cNvSpPr/>
          <p:nvPr/>
        </p:nvSpPr>
        <p:spPr>
          <a:xfrm>
            <a:off x="2971109" y="823033"/>
            <a:ext cx="6669279" cy="584775"/>
          </a:xfrm>
          <a:prstGeom prst="rect">
            <a:avLst/>
          </a:prstGeom>
        </p:spPr>
        <p:txBody>
          <a:bodyPr wrap="square">
            <a:spAutoFit/>
          </a:body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内で活用できるミニアプリでは、ゲームや抽選といった機能を</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アプリ開発よりも大幅に格安な価格帯で利用できるサービス。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9399979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022E-E793-10B7-A063-757EDCFFDB08}"/>
            </a:ext>
          </a:extLst>
        </p:cNvPr>
        <p:cNvGrpSpPr/>
        <p:nvPr/>
      </p:nvGrpSpPr>
      <p:grpSpPr>
        <a:xfrm>
          <a:off x="0" y="0"/>
          <a:ext cx="0" cy="0"/>
          <a:chOff x="0" y="0"/>
          <a:chExt cx="0" cy="0"/>
        </a:xfrm>
      </p:grpSpPr>
      <p:sp>
        <p:nvSpPr>
          <p:cNvPr id="43"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28" name="正方形/長方形 27"/>
          <p:cNvSpPr/>
          <p:nvPr/>
        </p:nvSpPr>
        <p:spPr>
          <a:xfrm>
            <a:off x="209578" y="1455366"/>
            <a:ext cx="716093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チャット</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FAQ</a:t>
            </a:r>
            <a:r>
              <a:rPr lang="ja-JP" altLang="en-US" sz="1600" b="1" dirty="0">
                <a:solidFill>
                  <a:schemeClr val="tx1">
                    <a:lumMod val="65000"/>
                    <a:lumOff val="35000"/>
                  </a:schemeClr>
                </a:solidFill>
                <a:latin typeface="メイリオ"/>
                <a:ea typeface="メイリオ"/>
                <a:cs typeface="メイリオ"/>
                <a:sym typeface="Meiryo"/>
              </a:rPr>
              <a:t>をもとにした</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による自動応答や、</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有人でのチャット対応による細かなサポートを可能にするオプション機能。</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29" name="正方形/長方形 28"/>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LINE】Chat</a:t>
            </a:r>
            <a:r>
              <a:rPr lang="en-US" altLang="ja-JP" sz="1600" b="1" dirty="0">
                <a:latin typeface="メイリオ" panose="020B0604030504040204" pitchFamily="50" charset="-128"/>
                <a:ea typeface="メイリオ" panose="020B0604030504040204" pitchFamily="50" charset="-128"/>
                <a:cs typeface="メイリオ"/>
              </a:rPr>
              <a:t> Plus</a:t>
            </a:r>
          </a:p>
        </p:txBody>
      </p:sp>
      <p:sp>
        <p:nvSpPr>
          <p:cNvPr id="30" name="角丸四角形 29"/>
          <p:cNvSpPr/>
          <p:nvPr/>
        </p:nvSpPr>
        <p:spPr>
          <a:xfrm>
            <a:off x="548883" y="2287502"/>
            <a:ext cx="4031506" cy="419913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pic>
        <p:nvPicPr>
          <p:cNvPr id="3" name="図 2"/>
          <p:cNvPicPr>
            <a:picLocks noChangeAspect="1"/>
          </p:cNvPicPr>
          <p:nvPr/>
        </p:nvPicPr>
        <p:blipFill rotWithShape="1">
          <a:blip r:embed="rId2" cstate="print">
            <a:extLst>
              <a:ext uri="{28A0092B-C50C-407E-A947-70E740481C1C}">
                <a14:useLocalDpi xmlns:a14="http://schemas.microsoft.com/office/drawing/2010/main" val="0"/>
              </a:ext>
            </a:extLst>
          </a:blip>
          <a:srcRect t="34310" b="34334"/>
          <a:stretch/>
        </p:blipFill>
        <p:spPr>
          <a:xfrm>
            <a:off x="683491" y="2611441"/>
            <a:ext cx="3762290" cy="2097249"/>
          </a:xfrm>
          <a:prstGeom prst="rect">
            <a:avLst/>
          </a:prstGeom>
        </p:spPr>
      </p:pic>
      <p:sp>
        <p:nvSpPr>
          <p:cNvPr id="33" name="正方形/長方形 32"/>
          <p:cNvSpPr/>
          <p:nvPr/>
        </p:nvSpPr>
        <p:spPr>
          <a:xfrm>
            <a:off x="830828" y="5032628"/>
            <a:ext cx="3467616" cy="830997"/>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ホームページから気軽にチャットで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問い合わせができるようになり</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資料請求や商品の購入に繋がる。</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34" name="Group 25">
            <a:extLst>
              <a:ext uri="{FF2B5EF4-FFF2-40B4-BE49-F238E27FC236}">
                <a16:creationId xmlns:a16="http://schemas.microsoft.com/office/drawing/2014/main" id="{269BA4E8-CBA1-17CF-4B27-5586E44C9042}"/>
              </a:ext>
            </a:extLst>
          </p:cNvPr>
          <p:cNvGrpSpPr/>
          <p:nvPr/>
        </p:nvGrpSpPr>
        <p:grpSpPr>
          <a:xfrm rot="5400000">
            <a:off x="5120631" y="2997089"/>
            <a:ext cx="301414" cy="601358"/>
            <a:chOff x="0" y="0"/>
            <a:chExt cx="452282" cy="902360"/>
          </a:xfrm>
        </p:grpSpPr>
        <p:sp>
          <p:nvSpPr>
            <p:cNvPr id="35"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6"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37" name="TextBox 38">
            <a:extLst>
              <a:ext uri="{FF2B5EF4-FFF2-40B4-BE49-F238E27FC236}">
                <a16:creationId xmlns:a16="http://schemas.microsoft.com/office/drawing/2014/main" id="{5DBC0D5A-D55C-257A-51E2-CC2A6B58B8CE}"/>
              </a:ext>
            </a:extLst>
          </p:cNvPr>
          <p:cNvSpPr txBox="1"/>
          <p:nvPr/>
        </p:nvSpPr>
        <p:spPr>
          <a:xfrm>
            <a:off x="5836651" y="3018835"/>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自動応答と有人応答を使い分けることが</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38" name="Group 25">
            <a:extLst>
              <a:ext uri="{FF2B5EF4-FFF2-40B4-BE49-F238E27FC236}">
                <a16:creationId xmlns:a16="http://schemas.microsoft.com/office/drawing/2014/main" id="{269BA4E8-CBA1-17CF-4B27-5586E44C9042}"/>
              </a:ext>
            </a:extLst>
          </p:cNvPr>
          <p:cNvGrpSpPr/>
          <p:nvPr/>
        </p:nvGrpSpPr>
        <p:grpSpPr>
          <a:xfrm rot="5400000">
            <a:off x="5120631" y="3995552"/>
            <a:ext cx="301414" cy="601358"/>
            <a:chOff x="0" y="0"/>
            <a:chExt cx="452282" cy="902360"/>
          </a:xfrm>
        </p:grpSpPr>
        <p:sp>
          <p:nvSpPr>
            <p:cNvPr id="39"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1" name="TextBox 38">
            <a:extLst>
              <a:ext uri="{FF2B5EF4-FFF2-40B4-BE49-F238E27FC236}">
                <a16:creationId xmlns:a16="http://schemas.microsoft.com/office/drawing/2014/main" id="{5DBC0D5A-D55C-257A-51E2-CC2A6B58B8CE}"/>
              </a:ext>
            </a:extLst>
          </p:cNvPr>
          <p:cNvSpPr txBox="1"/>
          <p:nvPr/>
        </p:nvSpPr>
        <p:spPr>
          <a:xfrm>
            <a:off x="5836651" y="4017298"/>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「訪問者管理機能」により、ホームページに訪れたユーザーを一覧で見ることが可能</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42" name="Group 25">
            <a:extLst>
              <a:ext uri="{FF2B5EF4-FFF2-40B4-BE49-F238E27FC236}">
                <a16:creationId xmlns:a16="http://schemas.microsoft.com/office/drawing/2014/main" id="{269BA4E8-CBA1-17CF-4B27-5586E44C9042}"/>
              </a:ext>
            </a:extLst>
          </p:cNvPr>
          <p:cNvGrpSpPr/>
          <p:nvPr/>
        </p:nvGrpSpPr>
        <p:grpSpPr>
          <a:xfrm rot="5400000">
            <a:off x="5120631" y="4994015"/>
            <a:ext cx="301414" cy="601358"/>
            <a:chOff x="0" y="0"/>
            <a:chExt cx="452282" cy="902360"/>
          </a:xfrm>
        </p:grpSpPr>
        <p:sp>
          <p:nvSpPr>
            <p:cNvPr id="44"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5DBC0D5A-D55C-257A-51E2-CC2A6B58B8CE}"/>
              </a:ext>
            </a:extLst>
          </p:cNvPr>
          <p:cNvSpPr txBox="1"/>
          <p:nvPr/>
        </p:nvSpPr>
        <p:spPr>
          <a:xfrm>
            <a:off x="5836651" y="5015761"/>
            <a:ext cx="3788946" cy="846386"/>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公式</a:t>
            </a: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とチャットボットを連携し</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上でも同じチャットボットを活用</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6927665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0026D-0FAA-76C0-699F-5C95EE2044C4}"/>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C5E2E585-BC17-9ECA-2598-27E9D406C15A}"/>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4" name="正方形/長方形 3">
            <a:extLst>
              <a:ext uri="{FF2B5EF4-FFF2-40B4-BE49-F238E27FC236}">
                <a16:creationId xmlns:a16="http://schemas.microsoft.com/office/drawing/2014/main" id="{E05B90A4-AED6-B19A-AEE0-64B5142381A5}"/>
              </a:ext>
            </a:extLst>
          </p:cNvPr>
          <p:cNvSpPr/>
          <p:nvPr/>
        </p:nvSpPr>
        <p:spPr>
          <a:xfrm>
            <a:off x="209578" y="1455366"/>
            <a:ext cx="7689926"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コール</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公式アカウントの有料オプション機能で、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公式アカウントからユーザーがカスタマーサポートに電話できるサービス。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81E56F1-6DB4-770A-F040-6633F4E7E2B0}"/>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LINE】Call</a:t>
            </a:r>
            <a:r>
              <a:rPr lang="en-US" altLang="ja-JP" sz="1600" b="1" dirty="0">
                <a:latin typeface="メイリオ" panose="020B0604030504040204" pitchFamily="50" charset="-128"/>
                <a:ea typeface="メイリオ" panose="020B0604030504040204" pitchFamily="50" charset="-128"/>
                <a:cs typeface="メイリオ"/>
              </a:rPr>
              <a:t> Plus</a:t>
            </a:r>
          </a:p>
        </p:txBody>
      </p:sp>
      <p:pic>
        <p:nvPicPr>
          <p:cNvPr id="6" name="図 5">
            <a:extLst>
              <a:ext uri="{FF2B5EF4-FFF2-40B4-BE49-F238E27FC236}">
                <a16:creationId xmlns:a16="http://schemas.microsoft.com/office/drawing/2014/main" id="{A4DCE6F0-EC2D-892A-88B0-8516B660CB73}"/>
              </a:ext>
            </a:extLst>
          </p:cNvPr>
          <p:cNvPicPr>
            <a:picLocks noChangeAspect="1"/>
          </p:cNvPicPr>
          <p:nvPr/>
        </p:nvPicPr>
        <p:blipFill>
          <a:blip r:embed="rId2"/>
          <a:stretch>
            <a:fillRect/>
          </a:stretch>
        </p:blipFill>
        <p:spPr>
          <a:xfrm>
            <a:off x="668697" y="2287502"/>
            <a:ext cx="8332001" cy="2953508"/>
          </a:xfrm>
          <a:prstGeom prst="rect">
            <a:avLst/>
          </a:prstGeom>
        </p:spPr>
      </p:pic>
      <p:sp>
        <p:nvSpPr>
          <p:cNvPr id="7" name="角丸四角形 7">
            <a:extLst>
              <a:ext uri="{FF2B5EF4-FFF2-40B4-BE49-F238E27FC236}">
                <a16:creationId xmlns:a16="http://schemas.microsoft.com/office/drawing/2014/main" id="{D9E83488-E9DE-A2BA-7266-DA0D65822773}"/>
              </a:ext>
            </a:extLst>
          </p:cNvPr>
          <p:cNvSpPr/>
          <p:nvPr/>
        </p:nvSpPr>
        <p:spPr>
          <a:xfrm>
            <a:off x="548883" y="5241010"/>
            <a:ext cx="8720952" cy="1245629"/>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正方形/長方形 7">
            <a:extLst>
              <a:ext uri="{FF2B5EF4-FFF2-40B4-BE49-F238E27FC236}">
                <a16:creationId xmlns:a16="http://schemas.microsoft.com/office/drawing/2014/main" id="{71E1C361-AEEF-C8A2-A1E4-44AF984285D5}"/>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sp>
        <p:nvSpPr>
          <p:cNvPr id="9" name="正方形/長方形 8">
            <a:extLst>
              <a:ext uri="{FF2B5EF4-FFF2-40B4-BE49-F238E27FC236}">
                <a16:creationId xmlns:a16="http://schemas.microsoft.com/office/drawing/2014/main" id="{F798F716-4AF6-5FA7-044B-E98F33F1C04B}"/>
              </a:ext>
            </a:extLst>
          </p:cNvPr>
          <p:cNvSpPr/>
          <p:nvPr/>
        </p:nvSpPr>
        <p:spPr>
          <a:xfrm>
            <a:off x="859212" y="5571436"/>
            <a:ext cx="798949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さらに「</a:t>
            </a:r>
            <a:r>
              <a:rPr lang="en-US" altLang="ja-JP" sz="1600" b="1" dirty="0">
                <a:solidFill>
                  <a:schemeClr val="tx1">
                    <a:lumMod val="65000"/>
                    <a:lumOff val="35000"/>
                  </a:schemeClr>
                </a:solidFill>
                <a:latin typeface="メイリオ"/>
                <a:ea typeface="メイリオ"/>
                <a:cs typeface="メイリオ"/>
                <a:sym typeface="Meiryo"/>
              </a:rPr>
              <a:t>LINE Ai Call</a:t>
            </a:r>
            <a:r>
              <a:rPr lang="ja-JP" altLang="en-US" sz="1600" b="1" dirty="0">
                <a:solidFill>
                  <a:schemeClr val="tx1">
                    <a:lumMod val="65000"/>
                    <a:lumOff val="35000"/>
                  </a:schemeClr>
                </a:solidFill>
                <a:latin typeface="メイリオ"/>
                <a:ea typeface="メイリオ"/>
                <a:cs typeface="メイリオ"/>
                <a:sym typeface="Meiryo"/>
              </a:rPr>
              <a:t>」を活用するとユーザーの要望に対して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による自然な</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対話応答が可能に。要件に応じて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と有人オペレータの振り分け業務効率化を支援。</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2524554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520D-5D7C-2BDD-908B-6251C4BD5729}"/>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D9975C92-DB69-EFCA-815F-DEDCC99A793F}"/>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5" name="正方形/長方形 4">
            <a:extLst>
              <a:ext uri="{FF2B5EF4-FFF2-40B4-BE49-F238E27FC236}">
                <a16:creationId xmlns:a16="http://schemas.microsoft.com/office/drawing/2014/main" id="{B925A5A4-A739-9AD7-5D18-2E4781D36898}"/>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でログイン</a:t>
            </a:r>
            <a:endParaRPr lang="en-US" altLang="ja-JP" sz="1600" b="1" dirty="0">
              <a:latin typeface="メイリオ" panose="020B0604030504040204" pitchFamily="50" charset="-128"/>
              <a:ea typeface="メイリオ" panose="020B0604030504040204" pitchFamily="50" charset="-128"/>
              <a:cs typeface="メイリオ"/>
            </a:endParaRPr>
          </a:p>
        </p:txBody>
      </p:sp>
      <p:sp>
        <p:nvSpPr>
          <p:cNvPr id="8" name="正方形/長方形 7">
            <a:extLst>
              <a:ext uri="{FF2B5EF4-FFF2-40B4-BE49-F238E27FC236}">
                <a16:creationId xmlns:a16="http://schemas.microsoft.com/office/drawing/2014/main" id="{7C64DE5F-370C-8EB5-6D0C-7DDEB12A3E16}"/>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pic>
        <p:nvPicPr>
          <p:cNvPr id="3" name="図 2">
            <a:extLst>
              <a:ext uri="{FF2B5EF4-FFF2-40B4-BE49-F238E27FC236}">
                <a16:creationId xmlns:a16="http://schemas.microsoft.com/office/drawing/2014/main" id="{2F4170E7-BAC4-FD12-01C2-903FF75F192F}"/>
              </a:ext>
            </a:extLst>
          </p:cNvPr>
          <p:cNvPicPr>
            <a:picLocks noChangeAspect="1"/>
          </p:cNvPicPr>
          <p:nvPr/>
        </p:nvPicPr>
        <p:blipFill>
          <a:blip r:embed="rId2"/>
          <a:stretch>
            <a:fillRect/>
          </a:stretch>
        </p:blipFill>
        <p:spPr>
          <a:xfrm>
            <a:off x="414007" y="1995020"/>
            <a:ext cx="9077986" cy="4550342"/>
          </a:xfrm>
          <a:prstGeom prst="rect">
            <a:avLst/>
          </a:prstGeom>
        </p:spPr>
      </p:pic>
      <p:sp>
        <p:nvSpPr>
          <p:cNvPr id="4" name="正方形/長方形 3">
            <a:extLst>
              <a:ext uri="{FF2B5EF4-FFF2-40B4-BE49-F238E27FC236}">
                <a16:creationId xmlns:a16="http://schemas.microsoft.com/office/drawing/2014/main" id="{33EC1AF8-7A08-D8F6-3DC4-3EBE18410E78}"/>
              </a:ext>
            </a:extLst>
          </p:cNvPr>
          <p:cNvSpPr/>
          <p:nvPr/>
        </p:nvSpPr>
        <p:spPr>
          <a:xfrm>
            <a:off x="209578" y="1455366"/>
            <a:ext cx="8925841"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でログイン」は、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上のユーザー情報を活用して</a:t>
            </a:r>
            <a:r>
              <a:rPr lang="en-US" altLang="ja-JP" sz="1600" b="1" dirty="0">
                <a:solidFill>
                  <a:schemeClr val="tx1">
                    <a:lumMod val="65000"/>
                    <a:lumOff val="35000"/>
                  </a:schemeClr>
                </a:solidFill>
                <a:latin typeface="メイリオ"/>
                <a:ea typeface="メイリオ"/>
                <a:cs typeface="メイリオ"/>
                <a:sym typeface="Meiryo"/>
              </a:rPr>
              <a:t>WEB</a:t>
            </a:r>
            <a:r>
              <a:rPr lang="ja-JP" altLang="en-US" sz="1600" b="1" dirty="0">
                <a:solidFill>
                  <a:schemeClr val="tx1">
                    <a:lumMod val="65000"/>
                    <a:lumOff val="35000"/>
                  </a:schemeClr>
                </a:solidFill>
                <a:latin typeface="メイリオ"/>
                <a:ea typeface="メイリオ"/>
                <a:cs typeface="メイリオ"/>
                <a:sym typeface="Meiryo"/>
              </a:rPr>
              <a:t>サイト登録が出来る仕組み。</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ID</a:t>
            </a:r>
            <a:r>
              <a:rPr lang="ja-JP" altLang="en-US" sz="1600" b="1" dirty="0">
                <a:solidFill>
                  <a:schemeClr val="tx1">
                    <a:lumMod val="65000"/>
                    <a:lumOff val="35000"/>
                  </a:schemeClr>
                </a:solidFill>
                <a:latin typeface="メイリオ"/>
                <a:ea typeface="メイリオ"/>
                <a:cs typeface="メイリオ"/>
                <a:sym typeface="Meiryo"/>
              </a:rPr>
              <a:t>連携を完了することにより、サービス</a:t>
            </a:r>
            <a:r>
              <a:rPr lang="en-US" altLang="ja-JP" sz="1600" b="1" dirty="0">
                <a:solidFill>
                  <a:schemeClr val="tx1">
                    <a:lumMod val="65000"/>
                    <a:lumOff val="35000"/>
                  </a:schemeClr>
                </a:solidFill>
                <a:latin typeface="メイリオ"/>
                <a:ea typeface="メイリオ"/>
                <a:cs typeface="メイリオ"/>
                <a:sym typeface="Meiryo"/>
              </a:rPr>
              <a:t>(WEB) </a:t>
            </a:r>
            <a:r>
              <a:rPr lang="ja-JP" altLang="en-US" sz="1600" b="1" dirty="0">
                <a:solidFill>
                  <a:schemeClr val="tx1">
                    <a:lumMod val="65000"/>
                    <a:lumOff val="35000"/>
                  </a:schemeClr>
                </a:solidFill>
                <a:latin typeface="メイリオ"/>
                <a:ea typeface="メイリオ"/>
                <a:cs typeface="メイリオ"/>
                <a:sym typeface="Meiryo"/>
              </a:rPr>
              <a:t>⇔ </a:t>
            </a:r>
            <a:r>
              <a:rPr lang="en-US" altLang="ja-JP" sz="1600" b="1" dirty="0">
                <a:solidFill>
                  <a:schemeClr val="tx1">
                    <a:lumMod val="65000"/>
                    <a:lumOff val="35000"/>
                  </a:schemeClr>
                </a:solidFill>
                <a:latin typeface="メイリオ"/>
                <a:ea typeface="メイリオ"/>
                <a:cs typeface="メイリオ"/>
                <a:sym typeface="Meiryo"/>
              </a:rPr>
              <a:t>LINE </a:t>
            </a:r>
            <a:r>
              <a:rPr lang="ja-JP" altLang="en-US" sz="1600" b="1" dirty="0">
                <a:solidFill>
                  <a:schemeClr val="tx1">
                    <a:lumMod val="65000"/>
                    <a:lumOff val="35000"/>
                  </a:schemeClr>
                </a:solidFill>
                <a:latin typeface="メイリオ"/>
                <a:ea typeface="メイリオ"/>
                <a:cs typeface="メイリオ"/>
                <a:sym typeface="Meiryo"/>
              </a:rPr>
              <a:t>での効果的なメッセージが可能に。</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419406833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オフライン動線</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400" b="1" dirty="0">
                <a:solidFill>
                  <a:srgbClr val="002060"/>
                </a:solidFill>
                <a:latin typeface="メイリオ"/>
                <a:ea typeface="メイリオ"/>
                <a:cs typeface="メイリオ"/>
                <a:sym typeface="Meiryo"/>
              </a:rPr>
              <a:t>ニュースリリース等</a:t>
            </a:r>
            <a:endParaRPr lang="en-US" altLang="ja-JP" sz="1400" b="1" dirty="0">
              <a:solidFill>
                <a:srgbClr val="002060"/>
              </a:solidFill>
              <a:latin typeface="メイリオ"/>
              <a:ea typeface="メイリオ"/>
              <a:cs typeface="メイリオ"/>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WEB</a:t>
            </a:r>
            <a:r>
              <a:rPr lang="ja-JP" altLang="en-US" sz="2000" b="1" dirty="0">
                <a:solidFill>
                  <a:srgbClr val="002060"/>
                </a:solidFill>
                <a:latin typeface="メイリオ"/>
                <a:ea typeface="メイリオ"/>
                <a:cs typeface="メイリオ"/>
                <a:sym typeface="Meiryo"/>
              </a:rPr>
              <a:t>サイト動線整備</a:t>
            </a:r>
            <a:endParaRPr lang="en-US" altLang="ja-JP" sz="2000" b="1" dirty="0">
              <a:solidFill>
                <a:srgbClr val="002060"/>
              </a:solidFill>
              <a:latin typeface="メイリオ"/>
              <a:ea typeface="メイリオ"/>
              <a:cs typeface="メイリオ"/>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友だち紹介</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200" b="1" dirty="0">
                <a:solidFill>
                  <a:srgbClr val="002060"/>
                </a:solidFill>
                <a:latin typeface="メイリオ"/>
                <a:ea typeface="メイリオ"/>
                <a:cs typeface="メイリオ"/>
                <a:sym typeface="Meiryo"/>
              </a:rPr>
              <a:t>（</a:t>
            </a:r>
            <a:r>
              <a:rPr lang="en-US" altLang="ja-JP" sz="1200" b="1" dirty="0">
                <a:solidFill>
                  <a:srgbClr val="002060"/>
                </a:solidFill>
                <a:latin typeface="メイリオ"/>
                <a:ea typeface="メイリオ"/>
                <a:cs typeface="メイリオ"/>
                <a:sym typeface="Meiryo"/>
              </a:rPr>
              <a:t>LINE</a:t>
            </a:r>
            <a:r>
              <a:rPr lang="ja-JP" altLang="en-US" sz="1200" b="1" dirty="0">
                <a:solidFill>
                  <a:srgbClr val="002060"/>
                </a:solidFill>
                <a:latin typeface="メイリオ"/>
                <a:ea typeface="メイリオ"/>
                <a:cs typeface="メイリオ"/>
                <a:sym typeface="Meiryo"/>
              </a:rPr>
              <a:t>ポイントコネクト）</a:t>
            </a:r>
            <a:endParaRPr lang="en-US" altLang="ja-JP" sz="1200" b="1" dirty="0">
              <a:solidFill>
                <a:srgbClr val="002060"/>
              </a:solidFill>
              <a:latin typeface="メイリオ"/>
              <a:ea typeface="メイリオ"/>
              <a:cs typeface="メイリオ"/>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ポイント</a:t>
            </a:r>
            <a:r>
              <a:rPr lang="en-US" altLang="ja-JP" sz="2000" b="1" dirty="0">
                <a:solidFill>
                  <a:srgbClr val="002060"/>
                </a:solidFill>
                <a:latin typeface="メイリオ"/>
                <a:ea typeface="メイリオ"/>
                <a:cs typeface="メイリオ"/>
                <a:sym typeface="Meiryo"/>
              </a:rPr>
              <a:t>Ads</a:t>
            </a:r>
            <a:endParaRPr lang="en-US" altLang="ja-JP" sz="1400" b="1" dirty="0">
              <a:solidFill>
                <a:srgbClr val="002060"/>
              </a:solidFill>
              <a:latin typeface="メイリオ"/>
              <a:ea typeface="メイリオ"/>
              <a:cs typeface="メイリオ"/>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スタンプ施策</a:t>
            </a:r>
            <a:endParaRPr lang="en-US" altLang="ja-JP" sz="2000" b="1" dirty="0">
              <a:solidFill>
                <a:srgbClr val="002060"/>
              </a:solidFill>
              <a:latin typeface="メイリオ"/>
              <a:ea typeface="メイリオ"/>
              <a:cs typeface="メイリオ"/>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1200" b="1" dirty="0">
              <a:solidFill>
                <a:srgbClr val="002060"/>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FF0000"/>
                </a:solidFill>
                <a:latin typeface="メイリオ"/>
                <a:ea typeface="メイリオ"/>
                <a:cs typeface="メイリオ"/>
                <a:sym typeface="Meiryo"/>
              </a:rPr>
              <a:t>無償</a:t>
            </a:r>
            <a:endParaRPr lang="ja-JP" altLang="en-US" dirty="0">
              <a:solidFill>
                <a:srgbClr val="FF0000"/>
              </a:solidFill>
              <a:latin typeface="メイリオ"/>
              <a:ea typeface="メイリオ"/>
              <a:cs typeface="メイリオ"/>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FF0000"/>
                </a:solidFill>
                <a:latin typeface="メイリオ"/>
                <a:ea typeface="メイリオ"/>
                <a:cs typeface="メイリオ"/>
                <a:sym typeface="Meiryo"/>
              </a:rPr>
              <a:t>無償</a:t>
            </a:r>
            <a:endParaRPr lang="ja-JP" altLang="en-US" dirty="0">
              <a:solidFill>
                <a:srgbClr val="FF0000"/>
              </a:solidFill>
              <a:latin typeface="メイリオ"/>
              <a:ea typeface="メイリオ"/>
              <a:cs typeface="メイリオ"/>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メイリオ"/>
                <a:ea typeface="メイリオ"/>
                <a:cs typeface="メイリオ"/>
                <a:sym typeface="Meiryo"/>
              </a:rPr>
              <a:t>サービス停止中</a:t>
            </a:r>
            <a:endParaRPr lang="ja-JP" altLang="en-US" b="1" dirty="0">
              <a:solidFill>
                <a:schemeClr val="tx1">
                  <a:lumMod val="50000"/>
                  <a:lumOff val="50000"/>
                </a:schemeClr>
              </a:solidFill>
              <a:latin typeface="メイリオ"/>
              <a:ea typeface="メイリオ"/>
              <a:cs typeface="メイリオ"/>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FF0000"/>
                </a:solidFill>
                <a:latin typeface="メイリオ"/>
                <a:ea typeface="メイリオ"/>
                <a:cs typeface="メイリオ"/>
                <a:sym typeface="Meiryo"/>
              </a:rPr>
              <a:t>200</a:t>
            </a:r>
            <a:r>
              <a:rPr lang="ja-JP" altLang="en-US" sz="2000" b="1" dirty="0">
                <a:solidFill>
                  <a:srgbClr val="FF0000"/>
                </a:solidFill>
                <a:latin typeface="メイリオ"/>
                <a:ea typeface="メイリオ"/>
                <a:cs typeface="メイリオ"/>
                <a:sym typeface="Meiryo"/>
              </a:rPr>
              <a:t>万円</a:t>
            </a:r>
            <a:r>
              <a:rPr lang="en-US" altLang="ja-JP" sz="2000" b="1" dirty="0">
                <a:solidFill>
                  <a:srgbClr val="FF0000"/>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FF0000"/>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FF0000"/>
                </a:solidFill>
                <a:latin typeface="メイリオ"/>
                <a:ea typeface="メイリオ"/>
                <a:cs typeface="メイリオ"/>
                <a:sym typeface="Meiryo"/>
              </a:rPr>
              <a:t>200</a:t>
            </a:r>
            <a:r>
              <a:rPr lang="ja-JP" altLang="en-US" sz="2000" b="1" dirty="0">
                <a:solidFill>
                  <a:srgbClr val="FF0000"/>
                </a:solidFill>
                <a:latin typeface="メイリオ"/>
                <a:ea typeface="メイリオ"/>
                <a:cs typeface="メイリオ"/>
                <a:sym typeface="Meiryo"/>
              </a:rPr>
              <a:t>万円</a:t>
            </a:r>
            <a:r>
              <a:rPr lang="en-US" altLang="ja-JP" sz="2000" b="1" dirty="0">
                <a:solidFill>
                  <a:srgbClr val="FF0000"/>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FF0000"/>
              </a:solidFill>
              <a:latin typeface="メイリオ"/>
              <a:ea typeface="メイリオ"/>
              <a:cs typeface="メイリオ"/>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FF0000"/>
                </a:solidFill>
                <a:latin typeface="メイリオ"/>
                <a:ea typeface="メイリオ"/>
                <a:cs typeface="メイリオ"/>
                <a:sym typeface="Meiryo"/>
              </a:rPr>
              <a:t>20</a:t>
            </a:r>
            <a:r>
              <a:rPr lang="ja-JP" altLang="en-US" sz="2000" b="1" dirty="0">
                <a:solidFill>
                  <a:srgbClr val="FF0000"/>
                </a:solidFill>
                <a:latin typeface="メイリオ"/>
                <a:ea typeface="メイリオ"/>
                <a:cs typeface="メイリオ"/>
                <a:sym typeface="Meiryo"/>
              </a:rPr>
              <a:t>万円</a:t>
            </a:r>
            <a:r>
              <a:rPr lang="en-US" altLang="ja-JP" sz="2000" b="1" dirty="0">
                <a:solidFill>
                  <a:srgbClr val="FF0000"/>
                </a:solidFill>
                <a:latin typeface="メイリオ"/>
                <a:ea typeface="メイリオ"/>
                <a:cs typeface="メイリオ"/>
                <a:sym typeface="Meiryo"/>
              </a:rPr>
              <a:t>~</a:t>
            </a:r>
            <a:r>
              <a:rPr lang="ja-JP" altLang="en-US" sz="1200" dirty="0">
                <a:latin typeface="メイリオ"/>
                <a:ea typeface="メイリオ"/>
                <a:cs typeface="メイリオ"/>
                <a:sym typeface="Meiryo"/>
              </a:rPr>
              <a:t>（</a:t>
            </a:r>
            <a:r>
              <a:rPr lang="en-US" altLang="ja-JP" sz="1200" dirty="0">
                <a:latin typeface="メイリオ"/>
                <a:ea typeface="メイリオ"/>
                <a:cs typeface="メイリオ"/>
                <a:sym typeface="Meiryo"/>
              </a:rPr>
              <a:t>1</a:t>
            </a:r>
            <a:r>
              <a:rPr lang="ja-JP" altLang="en-US" sz="1200" dirty="0">
                <a:latin typeface="メイリオ"/>
                <a:ea typeface="メイリオ"/>
                <a:cs typeface="メイリオ"/>
                <a:sym typeface="Meiryo"/>
              </a:rPr>
              <a:t>ヶ月</a:t>
            </a:r>
            <a:r>
              <a:rPr lang="en-US" altLang="ja-JP" sz="1200" dirty="0">
                <a:latin typeface="メイリオ"/>
                <a:ea typeface="メイリオ"/>
                <a:cs typeface="メイリオ"/>
                <a:sym typeface="Meiryo"/>
              </a:rPr>
              <a:t>~</a:t>
            </a:r>
            <a:r>
              <a:rPr lang="ja-JP" altLang="en-US" sz="1200" dirty="0">
                <a:latin typeface="メイリオ"/>
                <a:ea typeface="メイリオ"/>
                <a:cs typeface="メイリオ"/>
                <a:sym typeface="Meiryo"/>
              </a:rPr>
              <a:t>）</a:t>
            </a:r>
            <a:endParaRPr lang="ja-JP" altLang="en-US" sz="2000" dirty="0">
              <a:solidFill>
                <a:srgbClr val="FF0000"/>
              </a:solidFill>
              <a:latin typeface="メイリオ"/>
              <a:ea typeface="メイリオ"/>
              <a:cs typeface="メイリオ"/>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各拡張施策についても</a:t>
            </a:r>
            <a:r>
              <a:rPr lang="en-US" altLang="ja-JP" sz="1600" b="1" dirty="0">
                <a:solidFill>
                  <a:schemeClr val="tx1">
                    <a:lumMod val="65000"/>
                    <a:lumOff val="35000"/>
                  </a:schemeClr>
                </a:solidFill>
                <a:latin typeface="メイリオ"/>
                <a:ea typeface="メイリオ"/>
                <a:cs typeface="メイリオ"/>
                <a:sym typeface="Meiryo"/>
              </a:rPr>
              <a:t>MIN</a:t>
            </a:r>
            <a:r>
              <a:rPr lang="ja-JP" altLang="en-US" sz="1600" b="1" dirty="0">
                <a:solidFill>
                  <a:schemeClr val="tx1">
                    <a:lumMod val="65000"/>
                    <a:lumOff val="35000"/>
                  </a:schemeClr>
                </a:solidFill>
                <a:latin typeface="メイリオ"/>
                <a:ea typeface="メイリオ"/>
                <a:cs typeface="メイリオ"/>
                <a:sym typeface="Meiryo"/>
              </a:rPr>
              <a:t>金額からの発注、動線設計が可能です。</a:t>
            </a:r>
            <a:endParaRPr lang="en-US" altLang="ja-JP" sz="1600" b="1" dirty="0">
              <a:solidFill>
                <a:schemeClr val="tx1">
                  <a:lumMod val="65000"/>
                  <a:lumOff val="35000"/>
                </a:schemeClr>
              </a:solidFill>
              <a:latin typeface="メイリオ"/>
              <a:ea typeface="メイリオ"/>
              <a:cs typeface="メイリオ"/>
              <a:sym typeface="Meiryo"/>
            </a:endParaRPr>
          </a:p>
          <a:p>
            <a:pPr lvl="0" algn="ctr">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00670347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広告</a:t>
            </a:r>
            <a:r>
              <a:rPr lang="ja-JP" altLang="en-US" sz="1200" b="1" dirty="0">
                <a:latin typeface="メイリオ" panose="020B0604030504040204" pitchFamily="50" charset="-128"/>
                <a:ea typeface="メイリオ" panose="020B0604030504040204" pitchFamily="50" charset="-128"/>
                <a:cs typeface="メイリオ"/>
              </a:rPr>
              <a:t>（友だち追加）</a:t>
            </a:r>
            <a:endParaRPr lang="en-US" altLang="ja-JP" sz="1200" b="1" dirty="0">
              <a:latin typeface="メイリオ" panose="020B0604030504040204" pitchFamily="50" charset="-128"/>
              <a:ea typeface="メイリオ" panose="020B0604030504040204" pitchFamily="50" charset="-128"/>
              <a:cs typeface="メイリオ"/>
            </a:endParaRPr>
          </a:p>
          <a:p>
            <a:pPr algn="ctr"/>
            <a:r>
              <a:rPr lang="en-US" altLang="ja-JP" sz="1200" b="1" dirty="0">
                <a:solidFill>
                  <a:srgbClr val="FFFF00"/>
                </a:solidFill>
                <a:latin typeface="メイリオ" panose="020B0604030504040204" pitchFamily="50" charset="-128"/>
                <a:ea typeface="メイリオ" panose="020B0604030504040204" pitchFamily="50" charset="-128"/>
                <a:cs typeface="メイリオ"/>
              </a:rPr>
              <a:t>※CPF</a:t>
            </a:r>
            <a:r>
              <a:rPr lang="ja-JP" altLang="en-US" sz="1200" b="1" dirty="0">
                <a:solidFill>
                  <a:srgbClr val="FFFF00"/>
                </a:solidFill>
                <a:latin typeface="メイリオ" panose="020B0604030504040204" pitchFamily="50" charset="-128"/>
                <a:ea typeface="メイリオ" panose="020B0604030504040204" pitchFamily="50" charset="-128"/>
                <a:cs typeface="メイリオ"/>
              </a:rPr>
              <a:t>広告</a:t>
            </a:r>
            <a:r>
              <a:rPr lang="en-US" altLang="ja-JP" sz="1200" b="1" dirty="0">
                <a:solidFill>
                  <a:srgbClr val="FFFF00"/>
                </a:solidFill>
                <a:latin typeface="メイリオ" panose="020B0604030504040204" pitchFamily="50" charset="-128"/>
                <a:ea typeface="メイリオ" panose="020B0604030504040204" pitchFamily="50" charset="-128"/>
                <a:cs typeface="メイリオ"/>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公式アカウントの友だちを増やすための広告を、</a:t>
            </a:r>
            <a:br>
              <a:rPr lang="en-US" altLang="ja-JP" sz="1600" b="1" dirty="0">
                <a:solidFill>
                  <a:schemeClr val="tx1">
                    <a:lumMod val="65000"/>
                    <a:lumOff val="35000"/>
                  </a:schemeClr>
                </a:solidFill>
                <a:latin typeface="メイリオ"/>
                <a:ea typeface="メイリオ"/>
                <a:cs typeface="メイリオ"/>
                <a:sym typeface="Meiryo"/>
              </a:rPr>
            </a:b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広告の管理画面より</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アプリ内で掲載できる機能。</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en-US" altLang="ja-JP" sz="1200" b="1" dirty="0">
                  <a:solidFill>
                    <a:srgbClr val="0070C0"/>
                  </a:solidFill>
                  <a:latin typeface="メイリオ"/>
                  <a:ea typeface="メイリオ"/>
                  <a:cs typeface="メイリオ"/>
                  <a:sym typeface="Meiryo"/>
                </a:rPr>
                <a:t>LINE</a:t>
              </a:r>
              <a:r>
                <a:rPr lang="ja-JP" altLang="en-US" sz="1200" b="1" dirty="0">
                  <a:solidFill>
                    <a:srgbClr val="0070C0"/>
                  </a:solidFill>
                  <a:latin typeface="メイリオ"/>
                  <a:ea typeface="メイリオ"/>
                  <a:cs typeface="メイリオ"/>
                  <a:sym typeface="Meiryo"/>
                </a:rPr>
                <a:t>公式アカウントまでの導線</a:t>
              </a:r>
              <a:endParaRPr lang="en-US" altLang="ja-JP" sz="1200" b="1" dirty="0">
                <a:solidFill>
                  <a:srgbClr val="0070C0"/>
                </a:solidFill>
                <a:latin typeface="メイリオ"/>
                <a:ea typeface="メイリオ"/>
                <a:cs typeface="メイリオ"/>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200" b="1" dirty="0">
                  <a:solidFill>
                    <a:srgbClr val="0070C0"/>
                  </a:solidFill>
                  <a:latin typeface="メイリオ"/>
                  <a:ea typeface="メイリオ"/>
                  <a:cs typeface="メイリオ"/>
                  <a:sym typeface="Meiryo"/>
                </a:rPr>
                <a:t>「友だち追加広告」との違い</a:t>
              </a:r>
              <a:endParaRPr lang="en-US" altLang="ja-JP" sz="1200" b="1" dirty="0">
                <a:solidFill>
                  <a:srgbClr val="0070C0"/>
                </a:solidFill>
                <a:latin typeface="メイリオ"/>
                <a:ea typeface="メイリオ"/>
                <a:cs typeface="メイリオ"/>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gn="ctr"/>
            <a:r>
              <a:rPr kumimoji="1" lang="en-US" altLang="ja-JP" sz="1200" dirty="0">
                <a:latin typeface="メイリオ" panose="020B0604030504040204" pitchFamily="50" charset="-128"/>
                <a:ea typeface="メイリオ" panose="020B0604030504040204" pitchFamily="50" charset="-128"/>
                <a:cs typeface="メイリオ"/>
              </a:rPr>
              <a:t>LINE</a:t>
            </a:r>
            <a:r>
              <a:rPr kumimoji="1" lang="ja-JP" altLang="en-US" sz="1200" dirty="0">
                <a:latin typeface="メイリオ" panose="020B0604030504040204" pitchFamily="50" charset="-128"/>
                <a:ea typeface="メイリオ" panose="020B0604030504040204" pitchFamily="50" charset="-128"/>
                <a:cs typeface="メイリオ"/>
              </a:rPr>
              <a:t>アプリ内から</a:t>
            </a:r>
            <a:br>
              <a:rPr kumimoji="1" lang="en-US" altLang="ja-JP" sz="1200" dirty="0">
                <a:latin typeface="メイリオ" panose="020B0604030504040204" pitchFamily="50" charset="-128"/>
                <a:ea typeface="メイリオ" panose="020B0604030504040204" pitchFamily="50" charset="-128"/>
                <a:cs typeface="メイリオ"/>
              </a:rPr>
            </a:br>
            <a:r>
              <a:rPr kumimoji="1" lang="ja-JP" altLang="en-US" sz="1200" dirty="0">
                <a:latin typeface="メイリオ" panose="020B0604030504040204" pitchFamily="50" charset="-128"/>
                <a:ea typeface="メイリオ" panose="020B0604030504040204" pitchFamily="50" charset="-128"/>
                <a:cs typeface="メイリオ"/>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600" b="1" dirty="0">
                <a:solidFill>
                  <a:srgbClr val="33CC33"/>
                </a:solidFill>
                <a:latin typeface="メイリオ" panose="020B0604030504040204" pitchFamily="50" charset="-128"/>
                <a:ea typeface="メイリオ" panose="020B0604030504040204" pitchFamily="50" charset="-128"/>
                <a:cs typeface="メイリオ"/>
              </a:rPr>
              <a:t>直接</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200" dirty="0">
                <a:latin typeface="メイリオ" panose="020B0604030504040204" pitchFamily="50" charset="-128"/>
                <a:ea typeface="メイリオ" panose="020B0604030504040204" pitchFamily="50" charset="-128"/>
                <a:cs typeface="メイリオ"/>
              </a:rPr>
              <a:t>誘導</a:t>
            </a:r>
            <a:endParaRPr kumimoji="1" lang="en-US" altLang="ja-JP" sz="12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70600817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49320-CC43-CC0E-CB2A-2A81BA8880F1}"/>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DD032B5A-3DAD-BB45-FCD6-9BD41BA62AE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事例紹介</a:t>
            </a:r>
          </a:p>
        </p:txBody>
      </p:sp>
    </p:spTree>
    <p:extLst>
      <p:ext uri="{BB962C8B-B14F-4D97-AF65-F5344CB8AC3E}">
        <p14:creationId xmlns:p14="http://schemas.microsoft.com/office/powerpoint/2010/main" val="116622827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AA527-0EA1-7A75-453D-963C8B528D5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B6D9B23-C685-E912-4659-E23BCCC23FC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事例紹介</a:t>
            </a:r>
          </a:p>
        </p:txBody>
      </p:sp>
      <p:sp>
        <p:nvSpPr>
          <p:cNvPr id="3" name="Lead">
            <a:extLst>
              <a:ext uri="{FF2B5EF4-FFF2-40B4-BE49-F238E27FC236}">
                <a16:creationId xmlns:a16="http://schemas.microsoft.com/office/drawing/2014/main" id="{F08FF241-FA02-3DB4-F5A0-2846B825B044}"/>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panose="020B0604030504040204" pitchFamily="50" charset="-128"/>
                <a:ea typeface="メイリオ" panose="020B0604030504040204" pitchFamily="50" charset="-128"/>
                <a:cs typeface="メイリオ"/>
              </a:rPr>
              <a:t>--</a:t>
            </a:r>
          </a:p>
        </p:txBody>
      </p:sp>
      <p:sp>
        <p:nvSpPr>
          <p:cNvPr id="6" name="Body">
            <a:extLst>
              <a:ext uri="{FF2B5EF4-FFF2-40B4-BE49-F238E27FC236}">
                <a16:creationId xmlns:a16="http://schemas.microsoft.com/office/drawing/2014/main" id="{82F47B3D-36AC-458C-435D-AA635278C458}"/>
              </a:ext>
            </a:extLst>
          </p:cNvPr>
          <p:cNvSpPr txBox="1"/>
          <p:nvPr/>
        </p:nvSpPr>
        <p:spPr>
          <a:xfrm>
            <a:off x="342900" y="1270000"/>
            <a:ext cx="6743700" cy="3810000"/>
          </a:xfrm>
          <a:prstGeom prst="rect">
            <a:avLst/>
          </a:prstGeom>
          <a:noFill/>
        </p:spPr>
        <p:txBody>
          <a:bodyPr wrap="square" lIns="0" tIns="0" rIns="0" bIns="0" anchor="t"/>
          <a:lstStyle/>
          <a:p>
            <a:endParaRPr>
              <a:latin typeface="メイリオ" panose="020B0604030504040204" pitchFamily="50" charset="-128"/>
              <a:ea typeface="メイリオ" panose="020B0604030504040204" pitchFamily="50" charset="-128"/>
              <a:cs typeface="メイリオ"/>
            </a:endParaRPr>
          </a:p>
        </p:txBody>
      </p:sp>
      <p:sp>
        <p:nvSpPr>
          <p:cNvPr id="8" name="TextBox 2001">
            <a:extLst>
              <a:ext uri="{FF2B5EF4-FFF2-40B4-BE49-F238E27FC236}">
                <a16:creationId xmlns:a16="http://schemas.microsoft.com/office/drawing/2014/main" id="{1266011E-8375-ED18-07F7-0E1E547F7E33}"/>
              </a:ext>
            </a:extLst>
          </p:cNvPr>
          <p:cNvSpPr txBox="1"/>
          <p:nvPr/>
        </p:nvSpPr>
        <p:spPr>
          <a:xfrm>
            <a:off x="365760" y="1371600"/>
            <a:ext cx="9052560" cy="320040"/>
          </a:xfrm>
          <a:prstGeom prst="rect">
            <a:avLst/>
          </a:prstGeom>
          <a:noFill/>
        </p:spPr>
        <p:txBody>
          <a:bodyPr wrap="square">
            <a:spAutoFit/>
          </a:bodyPr>
          <a:lstStyle/>
          <a:p>
            <a:pPr algn="l"/>
            <a:r>
              <a:rPr sz="1400" b="1">
                <a:solidFill>
                  <a:srgbClr val="1F2A5C"/>
                </a:solidFill>
                <a:latin typeface="メイリオ" panose="020B0604030504040204" pitchFamily="50" charset="-128"/>
                <a:ea typeface="メイリオ" panose="020B0604030504040204" pitchFamily="50" charset="-128"/>
                <a:cs typeface="メイリオ"/>
              </a:rPr>
              <a:t>--</a:t>
            </a:r>
          </a:p>
        </p:txBody>
      </p:sp>
      <p:sp>
        <p:nvSpPr>
          <p:cNvPr id="10" name="Oval 2002">
            <a:extLst>
              <a:ext uri="{FF2B5EF4-FFF2-40B4-BE49-F238E27FC236}">
                <a16:creationId xmlns:a16="http://schemas.microsoft.com/office/drawing/2014/main" id="{77E596DF-1EAC-1237-A0BF-A8592C3A90C8}"/>
              </a:ext>
            </a:extLst>
          </p:cNvPr>
          <p:cNvSpPr/>
          <p:nvPr/>
        </p:nvSpPr>
        <p:spPr>
          <a:xfrm>
            <a:off x="914400" y="1783080"/>
            <a:ext cx="1466850" cy="1188720"/>
          </a:xfrm>
          <a:prstGeom prst="ellipse">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600" b="1">
                <a:solidFill>
                  <a:srgbClr val="FFFFFF"/>
                </a:solidFill>
                <a:latin typeface="メイリオ" panose="020B0604030504040204" pitchFamily="50" charset="-128"/>
                <a:ea typeface="メイリオ" panose="020B0604030504040204" pitchFamily="50" charset="-128"/>
                <a:cs typeface="メイリオ"/>
              </a:rPr>
              <a:t>--</a:t>
            </a:r>
          </a:p>
        </p:txBody>
      </p:sp>
      <p:sp>
        <p:nvSpPr>
          <p:cNvPr id="12" name="Oval 2003">
            <a:extLst>
              <a:ext uri="{FF2B5EF4-FFF2-40B4-BE49-F238E27FC236}">
                <a16:creationId xmlns:a16="http://schemas.microsoft.com/office/drawing/2014/main" id="{7F917EDB-4DA5-2D51-DEF9-F1D7DC62A3D0}"/>
              </a:ext>
            </a:extLst>
          </p:cNvPr>
          <p:cNvSpPr/>
          <p:nvPr/>
        </p:nvSpPr>
        <p:spPr>
          <a:xfrm>
            <a:off x="2743200" y="1783080"/>
            <a:ext cx="1466850" cy="1188720"/>
          </a:xfrm>
          <a:prstGeom prst="ellipse">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600" b="1">
                <a:solidFill>
                  <a:srgbClr val="FFFFFF"/>
                </a:solidFill>
                <a:latin typeface="メイリオ" panose="020B0604030504040204" pitchFamily="50" charset="-128"/>
                <a:ea typeface="メイリオ" panose="020B0604030504040204" pitchFamily="50" charset="-128"/>
                <a:cs typeface="メイリオ"/>
              </a:rPr>
              <a:t>--</a:t>
            </a:r>
          </a:p>
        </p:txBody>
      </p:sp>
      <p:sp>
        <p:nvSpPr>
          <p:cNvPr id="14" name="TextBox 2004">
            <a:extLst>
              <a:ext uri="{FF2B5EF4-FFF2-40B4-BE49-F238E27FC236}">
                <a16:creationId xmlns:a16="http://schemas.microsoft.com/office/drawing/2014/main" id="{2705E967-51E9-64AC-1273-825ACF9CF11D}"/>
              </a:ext>
            </a:extLst>
          </p:cNvPr>
          <p:cNvSpPr txBox="1"/>
          <p:nvPr/>
        </p:nvSpPr>
        <p:spPr>
          <a:xfrm>
            <a:off x="365760" y="3427095"/>
            <a:ext cx="9052560" cy="320040"/>
          </a:xfrm>
          <a:prstGeom prst="rect">
            <a:avLst/>
          </a:prstGeom>
          <a:noFill/>
        </p:spPr>
        <p:txBody>
          <a:bodyPr wrap="square">
            <a:spAutoFit/>
          </a:bodyPr>
          <a:lstStyle/>
          <a:p>
            <a:pPr algn="l"/>
            <a:r>
              <a:rPr sz="1400" b="1">
                <a:solidFill>
                  <a:srgbClr val="C8102E"/>
                </a:solidFill>
                <a:latin typeface="メイリオ" panose="020B0604030504040204" pitchFamily="50" charset="-128"/>
                <a:ea typeface="メイリオ" panose="020B0604030504040204" pitchFamily="50" charset="-128"/>
                <a:cs typeface="メイリオ"/>
              </a:rPr>
              <a:t>--</a:t>
            </a:r>
          </a:p>
        </p:txBody>
      </p:sp>
      <p:sp>
        <p:nvSpPr>
          <p:cNvPr id="16" name="Rounded Rectangle 2005">
            <a:extLst>
              <a:ext uri="{FF2B5EF4-FFF2-40B4-BE49-F238E27FC236}">
                <a16:creationId xmlns:a16="http://schemas.microsoft.com/office/drawing/2014/main" id="{ABF72EB3-0E58-C4B4-86D5-6D34D9F75C0B}"/>
              </a:ext>
            </a:extLst>
          </p:cNvPr>
          <p:cNvSpPr/>
          <p:nvPr/>
        </p:nvSpPr>
        <p:spPr>
          <a:xfrm>
            <a:off x="822960" y="3838575"/>
            <a:ext cx="2194560" cy="1188720"/>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400" b="1" dirty="0">
                <a:solidFill>
                  <a:srgbClr val="FFFFFF"/>
                </a:solidFill>
                <a:latin typeface="メイリオ" panose="020B0604030504040204" pitchFamily="50" charset="-128"/>
                <a:ea typeface="メイリオ" panose="020B0604030504040204" pitchFamily="50" charset="-128"/>
                <a:cs typeface="メイリオ"/>
              </a:rPr>
              <a:t>--</a:t>
            </a:r>
          </a:p>
        </p:txBody>
      </p:sp>
      <p:sp>
        <p:nvSpPr>
          <p:cNvPr id="18" name="Oval 2006">
            <a:extLst>
              <a:ext uri="{FF2B5EF4-FFF2-40B4-BE49-F238E27FC236}">
                <a16:creationId xmlns:a16="http://schemas.microsoft.com/office/drawing/2014/main" id="{B480E83F-D844-D99F-CC4C-FF3DC5EC475C}"/>
              </a:ext>
            </a:extLst>
          </p:cNvPr>
          <p:cNvSpPr/>
          <p:nvPr/>
        </p:nvSpPr>
        <p:spPr>
          <a:xfrm>
            <a:off x="3383280" y="3838575"/>
            <a:ext cx="1436370" cy="1188720"/>
          </a:xfrm>
          <a:prstGeom prst="ellipse">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600" b="1">
                <a:solidFill>
                  <a:srgbClr val="FFFFFF"/>
                </a:solidFill>
                <a:latin typeface="メイリオ" panose="020B0604030504040204" pitchFamily="50" charset="-128"/>
                <a:ea typeface="メイリオ" panose="020B0604030504040204" pitchFamily="50" charset="-128"/>
                <a:cs typeface="メイリオ"/>
              </a:rPr>
              <a:t>--</a:t>
            </a:r>
          </a:p>
        </p:txBody>
      </p:sp>
      <p:sp>
        <p:nvSpPr>
          <p:cNvPr id="20" name="Oval 2007">
            <a:extLst>
              <a:ext uri="{FF2B5EF4-FFF2-40B4-BE49-F238E27FC236}">
                <a16:creationId xmlns:a16="http://schemas.microsoft.com/office/drawing/2014/main" id="{97D834F7-04F0-3D93-E254-183AAEE62BD8}"/>
              </a:ext>
            </a:extLst>
          </p:cNvPr>
          <p:cNvSpPr/>
          <p:nvPr/>
        </p:nvSpPr>
        <p:spPr>
          <a:xfrm>
            <a:off x="5577840" y="3838575"/>
            <a:ext cx="1436370" cy="118872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600" b="1" dirty="0">
                <a:solidFill>
                  <a:srgbClr val="FFFFFF"/>
                </a:solidFill>
                <a:latin typeface="メイリオ" panose="020B0604030504040204" pitchFamily="50" charset="-128"/>
                <a:ea typeface="メイリオ" panose="020B0604030504040204" pitchFamily="50" charset="-128"/>
                <a:cs typeface="メイリオ"/>
              </a:rPr>
              <a:t>--</a:t>
            </a:r>
          </a:p>
        </p:txBody>
      </p:sp>
    </p:spTree>
    <p:extLst>
      <p:ext uri="{BB962C8B-B14F-4D97-AF65-F5344CB8AC3E}">
        <p14:creationId xmlns:p14="http://schemas.microsoft.com/office/powerpoint/2010/main" val="215579828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latin typeface="メイリオ"/>
                <a:ea typeface="メイリオ"/>
                <a:cs typeface="メイリオ"/>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latin typeface="メイリオ"/>
                <a:ea typeface="メイリオ"/>
                <a:cs typeface="メイリオ"/>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latin typeface="メイリオ"/>
                <a:ea typeface="メイリオ"/>
                <a:cs typeface="メイリオ"/>
              </a:defRPr>
            </a:pPr>
            <a:endParaRPr lang="ja-JP" altLang="en-US">
              <a:solidFill>
                <a:prstClr val="black"/>
              </a:solidFill>
              <a:latin typeface="メイリオ" pitchFamily="34" charset="0"/>
              <a:ea typeface="メイリオ" pitchFamily="50" charset="-128"/>
              <a:cs typeface="メイリオ"/>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4185355464"/>
      </p:ext>
    </p:extLst>
  </p:cSld>
  <p:clrMapOvr>
    <a:masterClrMapping/>
  </p:clrMapOvr>
  <p:transition spd="slow"/>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752;p28">
            <a:extLst>
              <a:ext uri="{FF2B5EF4-FFF2-40B4-BE49-F238E27FC236}">
                <a16:creationId xmlns:a16="http://schemas.microsoft.com/office/drawing/2014/main" id="{A67513FB-FEEF-76F5-5394-A1A2495F04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5CF6CD71-4C48-796A-BD54-E778269A9308}"/>
              </a:ext>
            </a:extLst>
          </p:cNvPr>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成果報酬型プラン</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6C35AEF3-D15B-5805-4919-629E6F4207CC}"/>
              </a:ext>
            </a:extLst>
          </p:cNvPr>
          <p:cNvSpPr txBox="1"/>
          <p:nvPr/>
        </p:nvSpPr>
        <p:spPr>
          <a:xfrm>
            <a:off x="2286000" y="859443"/>
            <a:ext cx="7406640"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施策成果件数に伴う費用発生でリスクを抑えた運用スタートを実現。</a:t>
            </a:r>
          </a:p>
        </p:txBody>
      </p:sp>
      <p:sp>
        <p:nvSpPr>
          <p:cNvPr id="21" name="正方形/長方形 20">
            <a:extLst>
              <a:ext uri="{FF2B5EF4-FFF2-40B4-BE49-F238E27FC236}">
                <a16:creationId xmlns:a16="http://schemas.microsoft.com/office/drawing/2014/main" id="{EEA02B17-0DA2-A3FE-A6E5-243C1724301E}"/>
              </a:ext>
            </a:extLst>
          </p:cNvPr>
          <p:cNvSpPr/>
          <p:nvPr/>
        </p:nvSpPr>
        <p:spPr>
          <a:xfrm>
            <a:off x="548881" y="1405687"/>
            <a:ext cx="4404119" cy="2061098"/>
          </a:xfrm>
          <a:prstGeom prst="rect">
            <a:avLst/>
          </a:prstGeom>
          <a:no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a:extLst>
              <a:ext uri="{FF2B5EF4-FFF2-40B4-BE49-F238E27FC236}">
                <a16:creationId xmlns:a16="http://schemas.microsoft.com/office/drawing/2014/main" id="{CA8AA691-8D48-57D0-BF47-34182D3A6DAC}"/>
              </a:ext>
            </a:extLst>
          </p:cNvPr>
          <p:cNvSpPr/>
          <p:nvPr/>
        </p:nvSpPr>
        <p:spPr>
          <a:xfrm>
            <a:off x="748333" y="1594972"/>
            <a:ext cx="2322527"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メイリオ" panose="020B0604030504040204" pitchFamily="50" charset="-128"/>
                <a:ea typeface="メイリオ" panose="020B0604030504040204" pitchFamily="50" charset="-128"/>
                <a:cs typeface="メイリオ"/>
              </a:rPr>
              <a:t>成果報酬費用</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264193FC-5A1A-667F-A9D5-30C2155A72EB}"/>
              </a:ext>
            </a:extLst>
          </p:cNvPr>
          <p:cNvSpPr/>
          <p:nvPr/>
        </p:nvSpPr>
        <p:spPr>
          <a:xfrm>
            <a:off x="3230275" y="1588966"/>
            <a:ext cx="1494125"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tx1"/>
                </a:solidFill>
                <a:latin typeface="メイリオ" panose="020B0604030504040204" pitchFamily="50" charset="-128"/>
                <a:ea typeface="メイリオ" panose="020B0604030504040204" pitchFamily="50" charset="-128"/>
                <a:cs typeface="メイリオ"/>
              </a:rPr>
              <a:t>固定費用</a:t>
            </a: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 name="正方形/長方形 6">
            <a:extLst>
              <a:ext uri="{FF2B5EF4-FFF2-40B4-BE49-F238E27FC236}">
                <a16:creationId xmlns:a16="http://schemas.microsoft.com/office/drawing/2014/main" id="{692E0C40-273C-2C77-21FF-EC7A2A1C8F8F}"/>
              </a:ext>
            </a:extLst>
          </p:cNvPr>
          <p:cNvSpPr/>
          <p:nvPr/>
        </p:nvSpPr>
        <p:spPr>
          <a:xfrm>
            <a:off x="748333" y="2116483"/>
            <a:ext cx="2322527"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成果件数 </a:t>
            </a:r>
            <a:r>
              <a:rPr lang="en-US" altLang="ja-JP" sz="14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成果報酬単価</a:t>
            </a:r>
            <a:endParaRPr lang="en-US" altLang="ja-JP"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5" name="正方形/長方形 14">
            <a:extLst>
              <a:ext uri="{FF2B5EF4-FFF2-40B4-BE49-F238E27FC236}">
                <a16:creationId xmlns:a16="http://schemas.microsoft.com/office/drawing/2014/main" id="{BAC2B063-6DAA-B7D0-0B1D-E5CC879D23FD}"/>
              </a:ext>
            </a:extLst>
          </p:cNvPr>
          <p:cNvSpPr/>
          <p:nvPr/>
        </p:nvSpPr>
        <p:spPr>
          <a:xfrm>
            <a:off x="3230275" y="2116483"/>
            <a:ext cx="1494125"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アカウント費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ツール費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8" name="テキスト ボックス 17">
            <a:extLst>
              <a:ext uri="{FF2B5EF4-FFF2-40B4-BE49-F238E27FC236}">
                <a16:creationId xmlns:a16="http://schemas.microsoft.com/office/drawing/2014/main" id="{0036B929-196A-854E-1925-1967B52BEB27}"/>
              </a:ext>
            </a:extLst>
          </p:cNvPr>
          <p:cNvSpPr txBox="1"/>
          <p:nvPr/>
        </p:nvSpPr>
        <p:spPr>
          <a:xfrm>
            <a:off x="668626" y="1585328"/>
            <a:ext cx="4960620" cy="523220"/>
          </a:xfrm>
          <a:prstGeom prst="rect">
            <a:avLst/>
          </a:prstGeom>
          <a:noFill/>
        </p:spPr>
        <p:txBody>
          <a:bodyPr wrap="square">
            <a:spAutoFit/>
          </a:bodyPr>
          <a:lstStyle/>
          <a:p>
            <a:pPr algn="ctr"/>
            <a:r>
              <a:rPr lang="ja-JP" altLang="en-US" sz="2800" b="1" dirty="0">
                <a:solidFill>
                  <a:schemeClr val="tx1"/>
                </a:solidFill>
                <a:latin typeface="メイリオ" panose="020B0604030504040204" pitchFamily="50" charset="-128"/>
                <a:ea typeface="メイリオ" panose="020B0604030504040204" pitchFamily="50" charset="-128"/>
                <a:cs typeface="メイリオ"/>
              </a:rPr>
              <a:t>＋</a:t>
            </a:r>
            <a:endParaRPr lang="en-US" altLang="ja-JP" sz="28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C94A4AE5-885C-B98E-00A8-77C51FC7BFE1}"/>
              </a:ext>
            </a:extLst>
          </p:cNvPr>
          <p:cNvSpPr/>
          <p:nvPr/>
        </p:nvSpPr>
        <p:spPr>
          <a:xfrm>
            <a:off x="5080364" y="1405605"/>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複数の</a:t>
            </a:r>
            <a:r>
              <a:rPr lang="en-US" altLang="ja-JP" sz="11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dirty="0">
                <a:solidFill>
                  <a:schemeClr val="tx1"/>
                </a:solidFill>
                <a:latin typeface="メイリオ" panose="020B0604030504040204" pitchFamily="50" charset="-128"/>
                <a:ea typeface="メイリオ" panose="020B0604030504040204" pitchFamily="50" charset="-128"/>
                <a:cs typeface="メイリオ"/>
              </a:rPr>
              <a:t>流入経路からステップ配信を構築し、</a:t>
            </a:r>
            <a:r>
              <a:rPr lang="en-US" altLang="ja-JP" sz="1100" dirty="0">
                <a:solidFill>
                  <a:schemeClr val="tx1"/>
                </a:solidFill>
                <a:latin typeface="メイリオ" panose="020B0604030504040204" pitchFamily="50" charset="-128"/>
                <a:ea typeface="メイリオ" panose="020B0604030504040204" pitchFamily="50" charset="-128"/>
                <a:cs typeface="メイリオ"/>
              </a:rPr>
              <a:t>CV</a:t>
            </a:r>
            <a:r>
              <a:rPr lang="ja-JP" altLang="en-US" sz="1100" dirty="0">
                <a:solidFill>
                  <a:schemeClr val="tx1"/>
                </a:solidFill>
                <a:latin typeface="メイリオ" panose="020B0604030504040204" pitchFamily="50" charset="-128"/>
                <a:ea typeface="メイリオ" panose="020B0604030504040204" pitchFamily="50" charset="-128"/>
                <a:cs typeface="メイリオ"/>
              </a:rPr>
              <a:t>数を増加。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4" name="正方形/長方形 23">
            <a:extLst>
              <a:ext uri="{FF2B5EF4-FFF2-40B4-BE49-F238E27FC236}">
                <a16:creationId xmlns:a16="http://schemas.microsoft.com/office/drawing/2014/main" id="{4A2D4AF3-1CC4-4934-0B96-59B465612A8D}"/>
              </a:ext>
            </a:extLst>
          </p:cNvPr>
          <p:cNvSpPr/>
          <p:nvPr/>
        </p:nvSpPr>
        <p:spPr>
          <a:xfrm>
            <a:off x="5080363" y="1783080"/>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現状導入しているツール、計測環境に応じて設計が可能。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6" name="テキスト ボックス 25">
            <a:extLst>
              <a:ext uri="{FF2B5EF4-FFF2-40B4-BE49-F238E27FC236}">
                <a16:creationId xmlns:a16="http://schemas.microsoft.com/office/drawing/2014/main" id="{1981C36B-B3F0-8036-014B-17B1A065A490}"/>
              </a:ext>
            </a:extLst>
          </p:cNvPr>
          <p:cNvSpPr txBox="1"/>
          <p:nvPr/>
        </p:nvSpPr>
        <p:spPr>
          <a:xfrm>
            <a:off x="3230275" y="2856669"/>
            <a:ext cx="1715105"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cs typeface="メイリオ"/>
              </a:rPr>
              <a:t>※ </a:t>
            </a:r>
            <a:r>
              <a:rPr lang="ja-JP" altLang="en-US" sz="800" dirty="0">
                <a:solidFill>
                  <a:srgbClr val="FF0000"/>
                </a:solidFill>
                <a:latin typeface="メイリオ" panose="020B0604030504040204" pitchFamily="50" charset="-128"/>
                <a:ea typeface="メイリオ" panose="020B0604030504040204" pitchFamily="50" charset="-128"/>
                <a:cs typeface="メイリオ"/>
              </a:rPr>
              <a:t>導入ツールに応じて費用発生</a:t>
            </a:r>
            <a:endParaRPr lang="en-US" altLang="ja-JP" sz="800" dirty="0">
              <a:solidFill>
                <a:srgbClr val="FF0000"/>
              </a:solidFill>
              <a:latin typeface="メイリオ" panose="020B0604030504040204" pitchFamily="50" charset="-128"/>
              <a:ea typeface="メイリオ" panose="020B0604030504040204" pitchFamily="50" charset="-128"/>
              <a:cs typeface="メイリオ"/>
            </a:endParaRPr>
          </a:p>
        </p:txBody>
      </p:sp>
      <p:sp>
        <p:nvSpPr>
          <p:cNvPr id="27" name="テキスト ボックス 26">
            <a:extLst>
              <a:ext uri="{FF2B5EF4-FFF2-40B4-BE49-F238E27FC236}">
                <a16:creationId xmlns:a16="http://schemas.microsoft.com/office/drawing/2014/main" id="{0F171EE4-EBC4-0A03-9342-8E33CDF25A68}"/>
              </a:ext>
            </a:extLst>
          </p:cNvPr>
          <p:cNvSpPr txBox="1"/>
          <p:nvPr/>
        </p:nvSpPr>
        <p:spPr>
          <a:xfrm>
            <a:off x="3230274" y="3083982"/>
            <a:ext cx="1715105"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cs typeface="メイリオ"/>
              </a:rPr>
              <a:t>※ </a:t>
            </a:r>
            <a:r>
              <a:rPr lang="ja-JP" altLang="en-US" sz="800" dirty="0">
                <a:solidFill>
                  <a:srgbClr val="FF0000"/>
                </a:solidFill>
                <a:latin typeface="メイリオ" panose="020B0604030504040204" pitchFamily="50" charset="-128"/>
                <a:ea typeface="メイリオ" panose="020B0604030504040204" pitchFamily="50" charset="-128"/>
                <a:cs typeface="メイリオ"/>
              </a:rPr>
              <a:t>上限通数を設定して運営可能</a:t>
            </a:r>
            <a:endParaRPr lang="en-US" altLang="ja-JP" sz="800" dirty="0">
              <a:solidFill>
                <a:srgbClr val="FF0000"/>
              </a:solidFill>
              <a:latin typeface="メイリオ" panose="020B0604030504040204" pitchFamily="50" charset="-128"/>
              <a:ea typeface="メイリオ" panose="020B0604030504040204" pitchFamily="50" charset="-128"/>
              <a:cs typeface="メイリオ"/>
            </a:endParaRPr>
          </a:p>
        </p:txBody>
      </p:sp>
      <p:sp>
        <p:nvSpPr>
          <p:cNvPr id="28" name="テキスト ボックス 27">
            <a:extLst>
              <a:ext uri="{FF2B5EF4-FFF2-40B4-BE49-F238E27FC236}">
                <a16:creationId xmlns:a16="http://schemas.microsoft.com/office/drawing/2014/main" id="{C6B5A64D-6B62-2D6A-1AF5-5EFCEC948063}"/>
              </a:ext>
            </a:extLst>
          </p:cNvPr>
          <p:cNvSpPr txBox="1"/>
          <p:nvPr/>
        </p:nvSpPr>
        <p:spPr>
          <a:xfrm>
            <a:off x="748334" y="2856669"/>
            <a:ext cx="2101546"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cs typeface="メイリオ"/>
              </a:rPr>
              <a:t>※ </a:t>
            </a:r>
            <a:r>
              <a:rPr lang="ja-JP" altLang="en-US" sz="800" dirty="0">
                <a:solidFill>
                  <a:srgbClr val="FF0000"/>
                </a:solidFill>
                <a:latin typeface="メイリオ" panose="020B0604030504040204" pitchFamily="50" charset="-128"/>
                <a:ea typeface="メイリオ" panose="020B0604030504040204" pitchFamily="50" charset="-128"/>
                <a:cs typeface="メイリオ"/>
              </a:rPr>
              <a:t>成果件数は</a:t>
            </a:r>
            <a:r>
              <a:rPr lang="en-US" altLang="ja-JP" sz="800" dirty="0">
                <a:solidFill>
                  <a:srgbClr val="FF0000"/>
                </a:solidFill>
                <a:latin typeface="メイリオ" panose="020B0604030504040204" pitchFamily="50" charset="-128"/>
                <a:ea typeface="メイリオ" panose="020B0604030504040204" pitchFamily="50" charset="-128"/>
                <a:cs typeface="メイリオ"/>
              </a:rPr>
              <a:t>GA</a:t>
            </a:r>
            <a:r>
              <a:rPr lang="ja-JP" altLang="en-US" sz="800" dirty="0">
                <a:solidFill>
                  <a:srgbClr val="FF0000"/>
                </a:solidFill>
                <a:latin typeface="メイリオ" panose="020B0604030504040204" pitchFamily="50" charset="-128"/>
                <a:ea typeface="メイリオ" panose="020B0604030504040204" pitchFamily="50" charset="-128"/>
                <a:cs typeface="メイリオ"/>
              </a:rPr>
              <a:t>、他ツールでの計測</a:t>
            </a:r>
            <a:endParaRPr lang="en-US" altLang="ja-JP" sz="800" dirty="0">
              <a:solidFill>
                <a:srgbClr val="FF0000"/>
              </a:solidFill>
              <a:latin typeface="メイリオ" panose="020B0604030504040204" pitchFamily="50" charset="-128"/>
              <a:ea typeface="メイリオ" panose="020B0604030504040204" pitchFamily="50" charset="-128"/>
              <a:cs typeface="メイリオ"/>
            </a:endParaRPr>
          </a:p>
        </p:txBody>
      </p:sp>
      <p:sp>
        <p:nvSpPr>
          <p:cNvPr id="29" name="テキスト ボックス 28">
            <a:extLst>
              <a:ext uri="{FF2B5EF4-FFF2-40B4-BE49-F238E27FC236}">
                <a16:creationId xmlns:a16="http://schemas.microsoft.com/office/drawing/2014/main" id="{555B5E5B-7EFA-B5FA-0284-3CD0D3947983}"/>
              </a:ext>
            </a:extLst>
          </p:cNvPr>
          <p:cNvSpPr txBox="1"/>
          <p:nvPr/>
        </p:nvSpPr>
        <p:spPr>
          <a:xfrm>
            <a:off x="748333" y="3083982"/>
            <a:ext cx="2322527"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cs typeface="メイリオ"/>
              </a:rPr>
              <a:t>※ </a:t>
            </a:r>
            <a:r>
              <a:rPr lang="ja-JP" altLang="en-US" sz="800" dirty="0">
                <a:solidFill>
                  <a:srgbClr val="FF0000"/>
                </a:solidFill>
                <a:latin typeface="メイリオ" panose="020B0604030504040204" pitchFamily="50" charset="-128"/>
                <a:ea typeface="メイリオ" panose="020B0604030504040204" pitchFamily="50" charset="-128"/>
                <a:cs typeface="メイリオ"/>
              </a:rPr>
              <a:t>成果報酬単価は広告</a:t>
            </a:r>
            <a:r>
              <a:rPr lang="en-US" altLang="ja-JP" sz="800" dirty="0">
                <a:solidFill>
                  <a:srgbClr val="FF0000"/>
                </a:solidFill>
                <a:latin typeface="メイリオ" panose="020B0604030504040204" pitchFamily="50" charset="-128"/>
                <a:ea typeface="メイリオ" panose="020B0604030504040204" pitchFamily="50" charset="-128"/>
                <a:cs typeface="メイリオ"/>
              </a:rPr>
              <a:t>CPA</a:t>
            </a:r>
            <a:r>
              <a:rPr lang="ja-JP" altLang="en-US" sz="800" dirty="0">
                <a:solidFill>
                  <a:srgbClr val="FF0000"/>
                </a:solidFill>
                <a:latin typeface="メイリオ" panose="020B0604030504040204" pitchFamily="50" charset="-128"/>
                <a:ea typeface="メイリオ" panose="020B0604030504040204" pitchFamily="50" charset="-128"/>
                <a:cs typeface="メイリオ"/>
              </a:rPr>
              <a:t>に基づき設定</a:t>
            </a:r>
            <a:endParaRPr lang="en-US" altLang="ja-JP" sz="800" dirty="0">
              <a:solidFill>
                <a:srgbClr val="FF0000"/>
              </a:solidFill>
              <a:latin typeface="メイリオ" panose="020B0604030504040204" pitchFamily="50" charset="-128"/>
              <a:ea typeface="メイリオ" panose="020B0604030504040204" pitchFamily="50" charset="-128"/>
              <a:cs typeface="メイリオ"/>
            </a:endParaRPr>
          </a:p>
        </p:txBody>
      </p:sp>
      <p:sp>
        <p:nvSpPr>
          <p:cNvPr id="23" name="テキスト ボックス 22">
            <a:extLst>
              <a:ext uri="{FF2B5EF4-FFF2-40B4-BE49-F238E27FC236}">
                <a16:creationId xmlns:a16="http://schemas.microsoft.com/office/drawing/2014/main" id="{4C08CE37-3C30-0822-0EDA-FEB4C5F762A4}"/>
              </a:ext>
            </a:extLst>
          </p:cNvPr>
          <p:cNvSpPr txBox="1"/>
          <p:nvPr/>
        </p:nvSpPr>
        <p:spPr>
          <a:xfrm>
            <a:off x="5084483" y="2103120"/>
            <a:ext cx="4324011" cy="415498"/>
          </a:xfrm>
          <a:prstGeom prst="rect">
            <a:avLst/>
          </a:prstGeom>
          <a:noFill/>
        </p:spPr>
        <p:txBody>
          <a:bodyPr wrap="square">
            <a:spAutoFit/>
          </a:bodyPr>
          <a:lstStyle/>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 ✓複数の成果地点とそれに伴う成果単価</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に基づいて、契約における条件の調整が可能です。</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17" name="正方形/長方形 16">
            <a:extLst>
              <a:ext uri="{FF2B5EF4-FFF2-40B4-BE49-F238E27FC236}">
                <a16:creationId xmlns:a16="http://schemas.microsoft.com/office/drawing/2014/main" id="{5D385AB6-97DE-E2AB-6E27-3BFD5D3B3C5D}"/>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0" name="小見出し"/>
          <p:cNvSpPr/>
          <p:nvPr/>
        </p:nvSpPr>
        <p:spPr>
          <a:xfrm>
            <a:off x="548640" y="3749039"/>
            <a:ext cx="8860536" cy="320040"/>
          </a:xfrm>
          <a:prstGeom prst="rect">
            <a:avLst/>
          </a:prstGeom>
          <a:noFill/>
          <a:ln>
            <a:noFill/>
          </a:ln>
        </p:spPr>
        <p:txBody>
          <a:bodyPr wrap="square" lIns="0" tIns="0" rIns="0" bIns="0" rtlCol="0" anchor="ctr">
            <a:noAutofit/>
          </a:bodyPr>
          <a:lstStyle/>
          <a:p>
            <a:pPr algn="l">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今回の成果単価の費用感</a:t>
            </a:r>
            <a:endParaRPr lang="ja-JP" altLang="en-US" sz="1200" dirty="0">
              <a:latin typeface="メイリオ"/>
              <a:ea typeface="メイリオ"/>
              <a:cs typeface="メイリオ"/>
            </a:endParaRPr>
          </a:p>
        </p:txBody>
      </p:sp>
      <p:graphicFrame>
        <p:nvGraphicFramePr>
          <p:cNvPr id="31" name="成果報酬単価 30"/>
          <p:cNvGraphicFramePr>
            <a:graphicFrameLocks noGrp="1"/>
          </p:cNvGraphicFramePr>
          <p:nvPr/>
        </p:nvGraphicFramePr>
        <p:xfrm>
          <a:off x="548640" y="4114800"/>
          <a:ext cx="8860536" cy="1325880"/>
        </p:xfrm>
        <a:graphic>
          <a:graphicData uri="http://schemas.openxmlformats.org/drawingml/2006/table">
            <a:tbl>
              <a:tblPr/>
              <a:tblGrid>
                <a:gridCol w="23774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4105656">
                  <a:extLst>
                    <a:ext uri="{9D8B030D-6E8A-4147-A177-3AD203B41FA5}">
                      <a16:colId xmlns:a16="http://schemas.microsoft.com/office/drawing/2014/main" val="20002"/>
                    </a:ext>
                  </a:extLst>
                </a:gridCol>
              </a:tblGrid>
              <a:tr h="4114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成果の地点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成果報酬単価</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成果件数の数え方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サロン入会</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25,000円／件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LINEのリンクからのサロン入会</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Google Shape;752;p28"/>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料金</a:t>
            </a:r>
          </a:p>
        </p:txBody>
      </p:sp>
      <p:sp>
        <p:nvSpPr>
          <p:cNvPr id="3" name="正方形/長方形 8"/>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DYMプラン</a:t>
            </a:r>
          </a:p>
        </p:txBody>
      </p:sp>
      <p:sp>
        <p:nvSpPr>
          <p:cNvPr id="4" name="Google Shape;752;p28"/>
          <p:cNvSpPr txBox="1"/>
          <p:nvPr/>
        </p:nvSpPr>
        <p:spPr>
          <a:xfrm>
            <a:off x="2286000" y="859536"/>
            <a:ext cx="7406640" cy="338328"/>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ご予算と運用の体制に合わせて、3つのプランから選択可能</a:t>
            </a:r>
          </a:p>
        </p:txBody>
      </p:sp>
      <p:graphicFrame>
        <p:nvGraphicFramePr>
          <p:cNvPr id="5" name="料金 4"/>
          <p:cNvGraphicFramePr>
            <a:graphicFrameLocks noGrp="1"/>
          </p:cNvGraphicFramePr>
          <p:nvPr/>
        </p:nvGraphicFramePr>
        <p:xfrm>
          <a:off x="502920" y="1860438"/>
          <a:ext cx="8897112" cy="3063240"/>
        </p:xfrm>
        <a:graphic>
          <a:graphicData uri="http://schemas.openxmlformats.org/drawingml/2006/table">
            <a:tbl>
              <a:tblPr/>
              <a:tblGrid>
                <a:gridCol w="1463040">
                  <a:extLst>
                    <a:ext uri="{9D8B030D-6E8A-4147-A177-3AD203B41FA5}">
                      <a16:colId xmlns:a16="http://schemas.microsoft.com/office/drawing/2014/main" val="20000"/>
                    </a:ext>
                  </a:extLst>
                </a:gridCol>
                <a:gridCol w="2478024">
                  <a:extLst>
                    <a:ext uri="{9D8B030D-6E8A-4147-A177-3AD203B41FA5}">
                      <a16:colId xmlns:a16="http://schemas.microsoft.com/office/drawing/2014/main" val="20001"/>
                    </a:ext>
                  </a:extLst>
                </a:gridCol>
                <a:gridCol w="2478024">
                  <a:extLst>
                    <a:ext uri="{9D8B030D-6E8A-4147-A177-3AD203B41FA5}">
                      <a16:colId xmlns:a16="http://schemas.microsoft.com/office/drawing/2014/main" val="20002"/>
                    </a:ext>
                  </a:extLst>
                </a:gridCol>
                <a:gridCol w="2478024">
                  <a:extLst>
                    <a:ext uri="{9D8B030D-6E8A-4147-A177-3AD203B41FA5}">
                      <a16:colId xmlns:a16="http://schemas.microsoft.com/office/drawing/2014/main" val="20003"/>
                    </a:ext>
                  </a:extLst>
                </a:gridCol>
              </a:tblGrid>
              <a:tr h="594360">
                <a:tc>
                  <a:txBody>
                    <a:bodyPr/>
                    <a:lstStyle/>
                    <a:p>
                      <a:pPr algn="ctr">
                        <a:buNone/>
                      </a:pP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br>
                        <a:rPr lang="ja-JP" altLang="en-US" sz="1400" b="1" dirty="0">
                          <a:solidFill>
                            <a:srgbClr val="FFFFFF"/>
                          </a:solidFill>
                          <a:latin typeface="メイリオ" panose="020B0604030504040204" pitchFamily="50" charset="-128"/>
                          <a:ea typeface="メイリオ" panose="020B0604030504040204" pitchFamily="50" charset="-128"/>
                          <a:cs typeface="メイリオ"/>
                        </a:rPr>
                      </a:b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br>
                        <a:rPr lang="ja-JP" altLang="en-US" sz="1400" b="1" dirty="0">
                          <a:solidFill>
                            <a:srgbClr val="FFFFFF"/>
                          </a:solidFill>
                          <a:latin typeface="メイリオ" panose="020B0604030504040204" pitchFamily="50" charset="-128"/>
                          <a:ea typeface="メイリオ" panose="020B0604030504040204" pitchFamily="50" charset="-128"/>
                          <a:cs typeface="メイリオ"/>
                        </a:rPr>
                      </a:b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br>
                        <a:rPr lang="ja-JP" altLang="en-US" sz="1400" b="1" dirty="0">
                          <a:solidFill>
                            <a:srgbClr val="FFFFFF"/>
                          </a:solidFill>
                          <a:latin typeface="メイリオ" panose="020B0604030504040204" pitchFamily="50" charset="-128"/>
                          <a:ea typeface="メイリオ" panose="020B0604030504040204" pitchFamily="50" charset="-128"/>
                          <a:cs typeface="メイリオ"/>
                        </a:rPr>
                      </a:br>
                      <a:r>
                        <a:rPr lang="ja-JP" altLang="en-US" sz="1400" b="1" dirty="0">
                          <a:solidFill>
                            <a:srgbClr val="FFFFFF"/>
                          </a:solidFill>
                          <a:latin typeface="メイリオ" panose="020B0604030504040204" pitchFamily="50" charset="-128"/>
                          <a:ea typeface="メイリオ" panose="020B0604030504040204" pitchFamily="50" charset="-128"/>
                          <a:cs typeface="メイリオ"/>
                        </a:rPr>
                        <a:t>通年の運用・改善</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822960">
                <a:tc>
                  <a:txBody>
                    <a:bodyPr/>
                    <a:lstStyle/>
                    <a:p>
                      <a:pPr algn="ctr">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内容</a:t>
                      </a:r>
                      <a:endParaRPr lang="ja-JP" altLang="en-US" sz="13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cs typeface="メイリオ"/>
                        </a:rPr>
                        <a:t>入口と配信の仕組みを構築</a:t>
                      </a:r>
                      <a:br>
                        <a:rPr lang="ja-JP" altLang="en-US" sz="1250" b="0" dirty="0">
                          <a:solidFill>
                            <a:srgbClr val="333333"/>
                          </a:solidFill>
                          <a:latin typeface="メイリオ" panose="020B0604030504040204" pitchFamily="50" charset="-128"/>
                          <a:ea typeface="メイリオ" panose="020B0604030504040204" pitchFamily="50" charset="-128"/>
                          <a:cs typeface="メイリオ"/>
                        </a:rPr>
                      </a:br>
                      <a:r>
                        <a:rPr lang="ja-JP" altLang="en-US" sz="1250" b="0" dirty="0">
                          <a:solidFill>
                            <a:srgbClr val="333333"/>
                          </a:solidFill>
                          <a:latin typeface="メイリオ" panose="020B0604030504040204" pitchFamily="50" charset="-128"/>
                          <a:ea typeface="メイリオ" panose="020B0604030504040204" pitchFamily="50" charset="-128"/>
                          <a:cs typeface="メイリオ"/>
                        </a:rPr>
                        <a:t>配信は貴社で運用</a:t>
                      </a:r>
                      <a:endParaRPr lang="ja-JP" altLang="en-US" sz="125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cs typeface="メイリオ"/>
                        </a:rPr>
                        <a:t>弊社で配信</a:t>
                      </a:r>
                      <a:br>
                        <a:rPr lang="ja-JP" altLang="en-US" sz="1250" b="0" dirty="0">
                          <a:solidFill>
                            <a:srgbClr val="333333"/>
                          </a:solidFill>
                          <a:latin typeface="メイリオ" panose="020B0604030504040204" pitchFamily="50" charset="-128"/>
                          <a:ea typeface="メイリオ" panose="020B0604030504040204" pitchFamily="50" charset="-128"/>
                          <a:cs typeface="メイリオ"/>
                        </a:rPr>
                      </a:br>
                      <a:r>
                        <a:rPr lang="ja-JP" altLang="en-US" sz="1250" b="0" dirty="0">
                          <a:solidFill>
                            <a:srgbClr val="333333"/>
                          </a:solidFill>
                          <a:latin typeface="メイリオ" panose="020B0604030504040204" pitchFamily="50" charset="-128"/>
                          <a:ea typeface="メイリオ" panose="020B0604030504040204" pitchFamily="50" charset="-128"/>
                          <a:cs typeface="メイリオ"/>
                        </a:rPr>
                        <a:t>平常期 月2回</a:t>
                      </a:r>
                      <a:br>
                        <a:rPr lang="ja-JP" altLang="en-US" sz="1250" b="0" dirty="0">
                          <a:solidFill>
                            <a:srgbClr val="333333"/>
                          </a:solidFill>
                          <a:latin typeface="メイリオ" panose="020B0604030504040204" pitchFamily="50" charset="-128"/>
                          <a:ea typeface="メイリオ" panose="020B0604030504040204" pitchFamily="50" charset="-128"/>
                          <a:cs typeface="メイリオ"/>
                        </a:rPr>
                      </a:br>
                      <a:r>
                        <a:rPr lang="ja-JP" altLang="en-US" sz="1250" b="0" dirty="0">
                          <a:solidFill>
                            <a:srgbClr val="333333"/>
                          </a:solidFill>
                          <a:latin typeface="メイリオ" panose="020B0604030504040204" pitchFamily="50" charset="-128"/>
                          <a:ea typeface="メイリオ" panose="020B0604030504040204" pitchFamily="50" charset="-128"/>
                          <a:cs typeface="メイリオ"/>
                        </a:rPr>
                        <a:t>イベント期 月4〜5回</a:t>
                      </a:r>
                      <a:endParaRPr lang="ja-JP" altLang="en-US" sz="125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cs typeface="メイリオ"/>
                        </a:rPr>
                        <a:t>弊社で配信＋レポート・定例会</a:t>
                      </a:r>
                      <a:br>
                        <a:rPr lang="ja-JP" altLang="en-US" sz="1250" b="0" dirty="0">
                          <a:solidFill>
                            <a:srgbClr val="333333"/>
                          </a:solidFill>
                          <a:latin typeface="メイリオ" panose="020B0604030504040204" pitchFamily="50" charset="-128"/>
                          <a:ea typeface="メイリオ" panose="020B0604030504040204" pitchFamily="50" charset="-128"/>
                          <a:cs typeface="メイリオ"/>
                        </a:rPr>
                      </a:br>
                      <a:r>
                        <a:rPr lang="ja-JP" altLang="en-US" sz="1250" b="0" dirty="0">
                          <a:solidFill>
                            <a:srgbClr val="333333"/>
                          </a:solidFill>
                          <a:latin typeface="メイリオ" panose="020B0604030504040204" pitchFamily="50" charset="-128"/>
                          <a:ea typeface="メイリオ" panose="020B0604030504040204" pitchFamily="50" charset="-128"/>
                          <a:cs typeface="メイリオ"/>
                        </a:rPr>
                        <a:t>平常期 月3回</a:t>
                      </a:r>
                      <a:br>
                        <a:rPr lang="ja-JP" altLang="en-US" sz="1250" b="0" dirty="0">
                          <a:solidFill>
                            <a:srgbClr val="333333"/>
                          </a:solidFill>
                          <a:latin typeface="メイリオ" panose="020B0604030504040204" pitchFamily="50" charset="-128"/>
                          <a:ea typeface="メイリオ" panose="020B0604030504040204" pitchFamily="50" charset="-128"/>
                          <a:cs typeface="メイリオ"/>
                        </a:rPr>
                      </a:br>
                      <a:r>
                        <a:rPr lang="ja-JP" altLang="en-US" sz="1250" b="0" dirty="0">
                          <a:solidFill>
                            <a:srgbClr val="333333"/>
                          </a:solidFill>
                          <a:latin typeface="メイリオ" panose="020B0604030504040204" pitchFamily="50" charset="-128"/>
                          <a:ea typeface="メイリオ" panose="020B0604030504040204" pitchFamily="50" charset="-128"/>
                          <a:cs typeface="メイリオ"/>
                        </a:rPr>
                        <a:t>イベント期 月5回</a:t>
                      </a:r>
                      <a:endParaRPr lang="ja-JP" altLang="en-US" sz="125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algn="ctr">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初期費用</a:t>
                      </a:r>
                      <a:endParaRPr lang="ja-JP" altLang="en-US" sz="13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700" b="1" dirty="0">
                          <a:solidFill>
                            <a:srgbClr val="002060"/>
                          </a:solidFill>
                          <a:latin typeface="メイリオ" panose="020B0604030504040204" pitchFamily="50" charset="-128"/>
                          <a:ea typeface="メイリオ" panose="020B0604030504040204" pitchFamily="50" charset="-128"/>
                          <a:cs typeface="メイリオ"/>
                        </a:rPr>
                        <a:t>10万円〜</a:t>
                      </a:r>
                      <a:endParaRPr lang="ja-JP" altLang="en-US" sz="17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a:buNone/>
                      </a:pPr>
                      <a:r>
                        <a:rPr lang="ja-JP" altLang="en-US" sz="1700" b="1" dirty="0">
                          <a:solidFill>
                            <a:srgbClr val="002060"/>
                          </a:solidFill>
                          <a:latin typeface="メイリオ" panose="020B0604030504040204" pitchFamily="50" charset="-128"/>
                          <a:ea typeface="メイリオ" panose="020B0604030504040204" pitchFamily="50" charset="-128"/>
                          <a:cs typeface="メイリオ"/>
                        </a:rPr>
                        <a:t>10万円〜</a:t>
                      </a:r>
                      <a:endParaRPr lang="ja-JP" altLang="en-US" sz="17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a:buNone/>
                      </a:pPr>
                      <a:r>
                        <a:rPr lang="ja-JP" altLang="en-US" sz="1700" b="1" dirty="0">
                          <a:solidFill>
                            <a:srgbClr val="002060"/>
                          </a:solidFill>
                          <a:latin typeface="メイリオ" panose="020B0604030504040204" pitchFamily="50" charset="-128"/>
                          <a:ea typeface="メイリオ" panose="020B0604030504040204" pitchFamily="50" charset="-128"/>
                          <a:cs typeface="メイリオ"/>
                        </a:rPr>
                        <a:t>10万円〜</a:t>
                      </a:r>
                      <a:endParaRPr lang="ja-JP" altLang="en-US" sz="17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algn="ctr">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平常期</a:t>
                      </a:r>
                      <a:br>
                        <a:rPr lang="ja-JP" altLang="en-US" sz="1300" b="1" dirty="0">
                          <a:solidFill>
                            <a:srgbClr val="002060"/>
                          </a:solidFill>
                          <a:latin typeface="メイリオ" panose="020B0604030504040204" pitchFamily="50" charset="-128"/>
                          <a:ea typeface="メイリオ" panose="020B0604030504040204" pitchFamily="50" charset="-128"/>
                          <a:cs typeface="メイリオ"/>
                        </a:rPr>
                      </a:br>
                      <a:r>
                        <a:rPr lang="ja-JP" altLang="en-US" sz="1300" b="1" dirty="0">
                          <a:solidFill>
                            <a:srgbClr val="002060"/>
                          </a:solidFill>
                          <a:latin typeface="メイリオ" panose="020B0604030504040204" pitchFamily="50" charset="-128"/>
                          <a:ea typeface="メイリオ" panose="020B0604030504040204" pitchFamily="50" charset="-128"/>
                          <a:cs typeface="メイリオ"/>
                        </a:rPr>
                        <a:t>（月額）</a:t>
                      </a:r>
                      <a:endParaRPr lang="ja-JP" altLang="en-US" sz="13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700" b="1" dirty="0">
                          <a:solidFill>
                            <a:srgbClr val="002060"/>
                          </a:solidFill>
                          <a:latin typeface="メイリオ" panose="020B0604030504040204" pitchFamily="50" charset="-128"/>
                          <a:ea typeface="メイリオ" panose="020B0604030504040204" pitchFamily="50" charset="-128"/>
                          <a:cs typeface="メイリオ"/>
                        </a:rPr>
                        <a:t>0円</a:t>
                      </a:r>
                      <a:endParaRPr lang="ja-JP" altLang="en-US" sz="17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a:buNone/>
                      </a:pPr>
                      <a:r>
                        <a:rPr lang="ja-JP" altLang="en-US" sz="1700" b="1" dirty="0">
                          <a:solidFill>
                            <a:srgbClr val="002060"/>
                          </a:solidFill>
                          <a:latin typeface="メイリオ" panose="020B0604030504040204" pitchFamily="50" charset="-128"/>
                          <a:ea typeface="メイリオ" panose="020B0604030504040204" pitchFamily="50" charset="-128"/>
                          <a:cs typeface="メイリオ"/>
                        </a:rPr>
                        <a:t>5〜10万円</a:t>
                      </a:r>
                      <a:endParaRPr lang="ja-JP" altLang="en-US" sz="17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a:buNone/>
                      </a:pPr>
                      <a:r>
                        <a:rPr lang="ja-JP" altLang="en-US" sz="1700" b="1" dirty="0">
                          <a:solidFill>
                            <a:srgbClr val="002060"/>
                          </a:solidFill>
                          <a:latin typeface="メイリオ" panose="020B0604030504040204" pitchFamily="50" charset="-128"/>
                          <a:ea typeface="メイリオ" panose="020B0604030504040204" pitchFamily="50" charset="-128"/>
                          <a:cs typeface="メイリオ"/>
                        </a:rPr>
                        <a:t>20万円〜</a:t>
                      </a:r>
                      <a:endParaRPr lang="ja-JP" altLang="en-US" sz="17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algn="ctr">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イベント期</a:t>
                      </a:r>
                      <a:br>
                        <a:rPr lang="ja-JP" altLang="en-US" sz="1300" b="1" dirty="0">
                          <a:solidFill>
                            <a:srgbClr val="002060"/>
                          </a:solidFill>
                          <a:latin typeface="メイリオ" panose="020B0604030504040204" pitchFamily="50" charset="-128"/>
                          <a:ea typeface="メイリオ" panose="020B0604030504040204" pitchFamily="50" charset="-128"/>
                          <a:cs typeface="メイリオ"/>
                        </a:rPr>
                      </a:br>
                      <a:r>
                        <a:rPr lang="ja-JP" altLang="en-US" sz="1300" b="1" dirty="0">
                          <a:solidFill>
                            <a:srgbClr val="002060"/>
                          </a:solidFill>
                          <a:latin typeface="メイリオ" panose="020B0604030504040204" pitchFamily="50" charset="-128"/>
                          <a:ea typeface="メイリオ" panose="020B0604030504040204" pitchFamily="50" charset="-128"/>
                          <a:cs typeface="メイリオ"/>
                        </a:rPr>
                        <a:t>（月額）</a:t>
                      </a:r>
                      <a:endParaRPr lang="ja-JP" altLang="en-US" sz="13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700" b="1" dirty="0">
                          <a:solidFill>
                            <a:srgbClr val="002060"/>
                          </a:solidFill>
                          <a:latin typeface="メイリオ" panose="020B0604030504040204" pitchFamily="50" charset="-128"/>
                          <a:ea typeface="メイリオ" panose="020B0604030504040204" pitchFamily="50" charset="-128"/>
                          <a:cs typeface="メイリオ"/>
                        </a:rPr>
                        <a:t>0円</a:t>
                      </a:r>
                      <a:endParaRPr lang="ja-JP" altLang="en-US" sz="17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a:buNone/>
                      </a:pPr>
                      <a:r>
                        <a:rPr lang="ja-JP" altLang="en-US" sz="1700" b="1" dirty="0">
                          <a:solidFill>
                            <a:srgbClr val="002060"/>
                          </a:solidFill>
                          <a:latin typeface="メイリオ" panose="020B0604030504040204" pitchFamily="50" charset="-128"/>
                          <a:ea typeface="メイリオ" panose="020B0604030504040204" pitchFamily="50" charset="-128"/>
                          <a:cs typeface="メイリオ"/>
                        </a:rPr>
                        <a:t>30万円程度</a:t>
                      </a:r>
                      <a:endParaRPr lang="ja-JP" altLang="en-US" sz="17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a:buNone/>
                      </a:pPr>
                      <a:r>
                        <a:rPr lang="ja-JP" altLang="en-US" sz="1700" b="1" dirty="0">
                          <a:solidFill>
                            <a:srgbClr val="002060"/>
                          </a:solidFill>
                          <a:latin typeface="メイリオ" panose="020B0604030504040204" pitchFamily="50" charset="-128"/>
                          <a:ea typeface="メイリオ" panose="020B0604030504040204" pitchFamily="50" charset="-128"/>
                          <a:cs typeface="メイリオ"/>
                        </a:rPr>
                        <a:t>30万円〜</a:t>
                      </a:r>
                      <a:endParaRPr lang="ja-JP" altLang="en-US" sz="17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注記"/>
          <p:cNvSpPr/>
          <p:nvPr/>
        </p:nvSpPr>
        <p:spPr>
          <a:xfrm>
            <a:off x="502920" y="5015118"/>
            <a:ext cx="8897112" cy="219456"/>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※広告費・ツール費・LINE公式アカウントの利用料は含まない。いずれも6か月〜の契約</a:t>
            </a:r>
            <a:endParaRPr lang="ja-JP" altLang="en-US" sz="1200" dirty="0">
              <a:latin typeface="メイリオ"/>
              <a:ea typeface="メイリオ"/>
              <a:cs typeface="メイリオ"/>
            </a:endParaRPr>
          </a:p>
        </p:txBody>
      </p:sp>
      <p:sp>
        <p:nvSpPr>
          <p:cNvPr id="7" name="注記"/>
          <p:cNvSpPr/>
          <p:nvPr/>
        </p:nvSpPr>
        <p:spPr>
          <a:xfrm>
            <a:off x="502920" y="5234574"/>
            <a:ext cx="8897112" cy="219456"/>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※施策内容・配信本数・連携範囲等により、費用は個別にお見積り</a:t>
            </a:r>
            <a:endParaRPr lang="ja-JP" altLang="en-US" sz="1200" dirty="0">
              <a:latin typeface="メイリオ"/>
              <a:ea typeface="メイリオ"/>
              <a:cs typeface="メイリオ"/>
            </a:endParaRP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Google Shape;752;p28"/>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なぜLINEか</a:t>
            </a:r>
          </a:p>
        </p:txBody>
      </p:sp>
      <p:sp>
        <p:nvSpPr>
          <p:cNvPr id="3" name="正方形/長方形 8"/>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LINE公式アカウント</a:t>
            </a:r>
          </a:p>
        </p:txBody>
      </p:sp>
      <p:sp>
        <p:nvSpPr>
          <p:cNvPr id="4" name="Google Shape;752;p28"/>
          <p:cNvSpPr txBox="1"/>
          <p:nvPr/>
        </p:nvSpPr>
        <p:spPr>
          <a:xfrm>
            <a:off x="2286000" y="859536"/>
            <a:ext cx="7406640" cy="338328"/>
          </a:xfrm>
          <a:prstGeom prst="rect">
            <a:avLst/>
          </a:prstGeom>
          <a:noFill/>
          <a:ln>
            <a:noFill/>
          </a:ln>
        </p:spPr>
        <p:txBody>
          <a:bodyPr spcFirstLastPara="1" wrap="square" lIns="91425" tIns="45700" rIns="91425" bIns="45700" anchor="ctr" anchorCtr="0">
            <a:spAutoFit/>
          </a:bodyPr>
          <a:lstStyle/>
          <a:p>
            <a:r>
              <a:rPr lang="en-US" altLang="ja-JP" sz="1600" b="1" dirty="0" err="1">
                <a:latin typeface="メイリオ" panose="020B0604030504040204" pitchFamily="50" charset="-128"/>
                <a:ea typeface="メイリオ" panose="020B0604030504040204" pitchFamily="50" charset="-128"/>
                <a:cs typeface="メイリオ"/>
                <a:sym typeface="Meiryo"/>
              </a:rPr>
              <a:t>LINEは積み上がる</a:t>
            </a:r>
            <a:r>
              <a:rPr lang="ja-JP" altLang="en-US" sz="1600" b="1" dirty="0">
                <a:latin typeface="メイリオ" panose="020B0604030504040204" pitchFamily="50" charset="-128"/>
                <a:ea typeface="メイリオ" panose="020B0604030504040204" pitchFamily="50" charset="-128"/>
                <a:cs typeface="メイリオ"/>
                <a:sym typeface="Meiryo"/>
              </a:rPr>
              <a:t>・追い続けられる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graphicFrame>
        <p:nvGraphicFramePr>
          <p:cNvPr id="5" name="広告とLINE 4"/>
          <p:cNvGraphicFramePr>
            <a:graphicFrameLocks noGrp="1"/>
          </p:cNvGraphicFramePr>
          <p:nvPr/>
        </p:nvGraphicFramePr>
        <p:xfrm>
          <a:off x="502920" y="2110892"/>
          <a:ext cx="8897112" cy="2057400"/>
        </p:xfrm>
        <a:graphic>
          <a:graphicData uri="http://schemas.openxmlformats.org/drawingml/2006/table">
            <a:tbl>
              <a:tblPr/>
              <a:tblGrid>
                <a:gridCol w="182880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959352">
                  <a:extLst>
                    <a:ext uri="{9D8B030D-6E8A-4147-A177-3AD203B41FA5}">
                      <a16:colId xmlns:a16="http://schemas.microsoft.com/office/drawing/2014/main" val="20002"/>
                    </a:ext>
                  </a:extLst>
                </a:gridCol>
              </a:tblGrid>
              <a:tr h="411480">
                <a:tc>
                  <a:txBody>
                    <a:bodyPr/>
                    <a:lstStyle/>
                    <a:p>
                      <a:pPr algn="ctr">
                        <a:buNone/>
                      </a:pP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広告</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LINE公式アカウント</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54864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届く相手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毎回、新しく集める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一度友だちになった方に、何度でも届く</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届き方</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広告を見たときだけ</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通知で届き、見てもらいやすい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イベントの後</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つながりが切れる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友だちとして、毎月積み上がる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示唆"/>
          <p:cNvSpPr/>
          <p:nvPr/>
        </p:nvSpPr>
        <p:spPr>
          <a:xfrm>
            <a:off x="502920" y="4396892"/>
            <a:ext cx="8897112" cy="548640"/>
          </a:xfrm>
          <a:prstGeom prst="rect">
            <a:avLst/>
          </a:prstGeom>
          <a:solidFill>
            <a:srgbClr val="F2F2F2"/>
          </a:solidFill>
          <a:ln>
            <a:noFill/>
          </a:ln>
        </p:spPr>
        <p:txBody>
          <a:bodyPr wrap="square" lIns="73152" tIns="36576" rIns="73152" bIns="36576" rtlCol="0" anchor="ctr">
            <a:noAutofit/>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この仕組みが回れば、今後の広告費を抑えられる可能性もある</a:t>
            </a:r>
            <a:endParaRPr lang="ja-JP" altLang="en-US" sz="1200" dirty="0">
              <a:latin typeface="メイリオ"/>
              <a:ea typeface="メイリオ"/>
              <a:cs typeface="メイリオ"/>
            </a:endParaRPr>
          </a:p>
        </p:txBody>
      </p:sp>
    </p:spTree>
  </p:cSld>
  <p:clrMapOvr>
    <a:masterClrMapping/>
  </p:clrMapOvr>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142216</TotalTime>
  <Words>7053</Words>
  <Application>Microsoft Office PowerPoint</Application>
  <PresentationFormat>A4 210 x 297 mm</PresentationFormat>
  <Paragraphs>1602</Paragraphs>
  <Slides>63</Slides>
  <Notes>31</Notes>
  <HiddenSlides>0</HiddenSlides>
  <MMClips>0</MMClips>
  <ScaleCrop>false</ScaleCrop>
  <HeadingPairs>
    <vt:vector size="6" baseType="variant">
      <vt:variant>
        <vt:lpstr>使用されているフォント</vt:lpstr>
      </vt:variant>
      <vt:variant>
        <vt:i4>6</vt:i4>
      </vt:variant>
      <vt:variant>
        <vt:lpstr>テーマ</vt:lpstr>
      </vt:variant>
      <vt:variant>
        <vt:i4>2</vt:i4>
      </vt:variant>
      <vt:variant>
        <vt:lpstr>スライド タイトル</vt:lpstr>
      </vt:variant>
      <vt:variant>
        <vt:i4>63</vt:i4>
      </vt:variant>
    </vt:vector>
  </HeadingPairs>
  <TitlesOfParts>
    <vt:vector size="71" baseType="lpstr">
      <vt:lpstr>メイリオ</vt:lpstr>
      <vt:lpstr>メイリオ</vt:lpstr>
      <vt:lpstr>Arial</vt:lpstr>
      <vt:lpstr>Calibri</vt:lpstr>
      <vt:lpstr>Century Gothic</vt:lpstr>
      <vt:lpstr>Times New Roman</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佐村 徳人</cp:lastModifiedBy>
  <cp:revision>1948</cp:revision>
  <cp:lastPrinted>2022-11-01T11:38:14Z</cp:lastPrinted>
  <dcterms:created xsi:type="dcterms:W3CDTF">2015-09-04T09:21:15Z</dcterms:created>
  <dcterms:modified xsi:type="dcterms:W3CDTF">2026-07-29T05:46:21Z</dcterms:modified>
</cp:coreProperties>
</file>