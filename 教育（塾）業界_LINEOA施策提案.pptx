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363" r:id="rId3"/>
    <p:sldId id="2935" r:id="rId4"/>
    <p:sldId id="2956" r:id="rId5"/>
    <p:sldId id="2988" r:id="rId6"/>
    <p:sldId id="2972" r:id="rId7"/>
    <p:sldId id="2977" r:id="rId8"/>
    <p:sldId id="2974" r:id="rId9"/>
    <p:sldId id="2975" r:id="rId10"/>
    <p:sldId id="2979" r:id="rId11"/>
    <p:sldId id="2982" r:id="rId12"/>
    <p:sldId id="2736" r:id="rId13"/>
    <p:sldId id="2983" r:id="rId14"/>
    <p:sldId id="2984" r:id="rId15"/>
    <p:sldId id="2985" r:id="rId16"/>
    <p:sldId id="2986" r:id="rId17"/>
    <p:sldId id="2987" r:id="rId18"/>
    <p:sldId id="2908" r:id="rId19"/>
    <p:sldId id="2950" r:id="rId20"/>
    <p:sldId id="2762" r:id="rId21"/>
    <p:sldId id="2937" r:id="rId22"/>
    <p:sldId id="2939" r:id="rId23"/>
    <p:sldId id="2966" r:id="rId24"/>
    <p:sldId id="2962" r:id="rId25"/>
    <p:sldId id="2942" r:id="rId26"/>
    <p:sldId id="2941" r:id="rId27"/>
    <p:sldId id="2943" r:id="rId28"/>
    <p:sldId id="2944" r:id="rId29"/>
    <p:sldId id="2967" r:id="rId30"/>
    <p:sldId id="2946" r:id="rId31"/>
    <p:sldId id="2947" r:id="rId32"/>
    <p:sldId id="2948" r:id="rId33"/>
    <p:sldId id="2958" r:id="rId34"/>
    <p:sldId id="2954" r:id="rId35"/>
    <p:sldId id="2953" r:id="rId36"/>
    <p:sldId id="2955" r:id="rId37"/>
    <p:sldId id="1169" r:id="rId3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534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0A72-79AB-D734-F919-6B5353A0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43DCC9-013F-5916-497A-3173AB3E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E4841C-3C6F-F028-ED9E-D25D3936D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806F5D-B3E8-8EF8-D9FF-5F440AE72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632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C596-88E7-2BC9-7631-7B2FF864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78EA305-DD4B-4755-1A79-3ECAA1BFA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E530CFC-96E0-CB7F-D9F4-B974123A5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657086-8B2C-117D-A7A7-81B2D3075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022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3E24-A18E-3FB1-1BEB-F78B7876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BD67E3-1B96-BBBF-6E58-9F584C1E4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415CA0F-593B-424A-AB1E-372C80A53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C1FAE7-9B14-4C23-B5D8-2C06D3E8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493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8803-9F0E-9C31-9560-20947185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09DBAC0-C8E1-8C5B-7FC3-E2F967DE3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9E6ECD-81E8-9621-C097-7F38D3F57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567096-EE1C-9444-DCCA-A268D8AAC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6084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148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F8CEE-BA77-7F59-159F-47D256C6C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920AAE9-56BE-66E5-82F7-A32C5F5E3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23263BB-84E3-A23F-F50A-22409A9D0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E676F0-0850-6080-8D54-24CC34C00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456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1800-D47D-9623-88C4-F3F1B11E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704ED9-0313-110E-A57A-A9A15550F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01CA249-8084-E89C-5484-AD2CD6CA5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B72AE6-8350-35EF-B366-1B6DD9FAA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630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D297-594A-D322-AC6D-28FDD0CCC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D47DAF-3395-7EB8-B917-99947107C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D9425B-51D3-BDCB-545C-23641969B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D62E5C-A1FD-A187-2F31-A827800A2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1900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CC1BB-A366-B481-D59D-4EB55327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0890F8B-EEFF-D02B-04F0-B8C096E43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1D321AA-CFFF-72F6-A10A-CE135C21D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28A77C-D838-F107-1299-1CFE8BFB2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361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A811-371F-8FB3-F066-52767F4E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0A11C9D-FDA9-6C17-2E4B-B8729DB02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22E24C-8C3E-B253-1458-19B063283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308508-22B0-7807-8EBD-1B4BC57F8A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835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2497A-27D1-3FCF-1F91-9D3EAE5F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F107B2A-3CC9-CDDB-0154-3C6FEEEB7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9E55FE-2D43-AAFB-1E0D-9FE86011A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05F46C-9309-B38B-AEB2-32E50CF0E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6070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7E86F-A6D1-E87A-0CDF-967B15A6E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B2A411-33D2-6528-1C93-D186B1984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218984-9375-B358-47D3-58B36CCF8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F039DC-7BEC-8764-B0DE-E4A154E5A1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0095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36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emf"/><Relationship Id="rId4" Type="http://schemas.openxmlformats.org/officeDocument/2006/relationships/image" Target="../media/image15.jpeg"/><Relationship Id="rId5" Type="http://schemas.openxmlformats.org/officeDocument/2006/relationships/image" Target="../media/image16.jpeg"/><Relationship Id="rId6" Type="http://schemas.openxmlformats.org/officeDocument/2006/relationships/image" Target="../media/image17.jpeg"/><Relationship Id="rId7" Type="http://schemas.openxmlformats.org/officeDocument/2006/relationships/image" Target="../media/image18.jpeg"/><Relationship Id="rId8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保護者が動き出す26日前から伴走し、体験予約・入会率・継続率を同時に引き上げる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524717" y="3910946"/>
            <a:ext cx="2804160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678382" y="4341752"/>
            <a:ext cx="2549236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l"/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業界：教育（学習塾・業界汎用）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資料アジェンダ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この資料が言っていること：保護者の検討は、塾を探す26日前に始まっている。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塾が姿を現せるのは最後の数日だけ。その26日間を取りにいく提案です。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75199" y="1699200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199" y="1735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199" y="1998000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199" y="3545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S03-06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6000" y="1699200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6000" y="1735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6000" y="1998000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実態調査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6000" y="3545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S07-12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6800" y="1699200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6800" y="1735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6800" y="1998000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全体設計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6800" y="3545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S13-15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7600" y="1699200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7600" y="1735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7600" y="1998000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7600" y="3545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S16-20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199" y="3787199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199" y="3823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199" y="4085999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199" y="5633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S21-26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36000" y="3787199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36000" y="3823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6000" y="4085999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継続・工数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36000" y="5633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S27-28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96800" y="3787199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96800" y="3823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6800" y="4085999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成果と体制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6800" y="5633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S29-32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57600" y="3787199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7600" y="3823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7600" y="4085999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締め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7600" y="5633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S33-36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全8章・36枚｜主語は「LINE公式アカウントの運用」。広告運用の提案書ではない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市場データ｜ニーズ全体図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出生数は8年で27.7%減った。それなのに学習塾市場は伸びている。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＝より少ない子どもから、より多くの売上を取る競争になっている。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728000"/>
            <a:ext cx="2942400" cy="32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出生数（2015→2023）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088000"/>
            <a:ext cx="29424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▲27.7%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700000"/>
            <a:ext cx="29424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1,005,677人 → 727,277人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400" y="1620000"/>
            <a:ext cx="29424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2400" y="1728000"/>
            <a:ext cx="2942400" cy="32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学習塾 市場規模（2020→2024）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400" y="2088000"/>
            <a:ext cx="29424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+13.5%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2400" y="2700000"/>
            <a:ext cx="29424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4,374億円 → 4,965億円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2800" y="1620000"/>
            <a:ext cx="29424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2800" y="1728000"/>
            <a:ext cx="2942400" cy="32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小学校 児童数（2015→2024）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2800" y="2088000"/>
            <a:ext cx="29424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▲9.7%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2800" y="2700000"/>
            <a:ext cx="29424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654.3万人 → 591.0万人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420000"/>
            <a:ext cx="9043200" cy="61200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3420000"/>
            <a:ext cx="8827200" cy="61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母数は減り続ける。競争密度が上がるのはこれから。いま必要なのは、取りこぼしを拾う設計。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176000"/>
            <a:ext cx="90432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4230000"/>
            <a:ext cx="8827200" cy="79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⚠ 市場規模は「定義」で2倍変わる。必ず併記すること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経産省「特定サービス産業動態統計」4,965億円＝受講生500人以上の主要事業者のみ（市場の約4〜5割）。個人塾・中小は含まない。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矢野経済研究所の全体推計＝9,870億円（2023年度）。個人経営の補習塾・中小予備校まで含むため約2倍。どちらも正しく、定義が違うだけ。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出典｜厚生労働省 人口動態統計（確定数）／経済産業省 特定サービス産業動態統計（2025年3月公表・2024年確報）／文部科学省 学校基本調査（令和6年度確報）／矢野経済研究所「教育産業市場に関する調査」2024年。※提案前にe-Statで統計表を開いて数値照合すること</a:t>
            </a: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73A-9013-9BC2-61FD-9A98390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現状の構造｜塾の集客が詰まる3つの壁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広告費の多くは「予約の手前」と「予約のあと」で溶けている。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①は資金力の勝負。②③は仕組みで直せる＝広告費を増やさずに改善できる区間。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620000"/>
            <a:ext cx="2942400" cy="360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壁①　広告CPAの高騰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000" y="2088000"/>
            <a:ext cx="2762400" cy="187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・CPC 300〜800円（繁忙期・高単価ジャンルは1,200〜2,500円）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・体験申込CPA 25,000〜50,000円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・しかも塾のCPC/CPAには公的統計が存在しない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・＝適正値が誰にも見えないまま入札している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2000" y="4103999"/>
            <a:ext cx="2762400" cy="3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直すには「もっと払う」しかない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400" y="1620000"/>
            <a:ext cx="2942400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82400" y="1620000"/>
            <a:ext cx="29424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壁②　Webでの離脱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2400" y="2088000"/>
            <a:ext cx="2762400" cy="187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・LP CVR 2.0%＝100人来て98人が名前も残さず消える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・この98人は興味がないのではない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・「合う塾が分からない」63.5%の層（塾ナラ2025）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・＝判断材料が足りないだけ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2400" y="4103999"/>
            <a:ext cx="2762400" cy="3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仕組みで直せる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2800" y="1620000"/>
            <a:ext cx="2942400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2800" y="1620000"/>
            <a:ext cx="29424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壁③　歩留まりの低下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2800" y="2088000"/>
            <a:ext cx="2762400" cy="187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・予約の約20%が体験に来ない（無断キャンセル・直前辞退）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・Web広告経由の入会率 40〜50%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・一方、紹介・口コミ経由は 70〜80%超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・＝同じ体験でも、来た経路で入会率が30pt違う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2800" y="4103999"/>
            <a:ext cx="2762400" cy="3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仕組みで直せる（本提案の主戦場）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4716000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本提案が触るのは②と③だけ。LPも広告も触りません。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CPC/CPA・入会率は業界推計値（出典元の特定不可）。LP CVRはモデル値。★社内実績（CV地点別CPC/CVR/CPA）が入り次第すべて差し替える</a:t>
            </a:r>
          </a:p>
        </p:txBody>
      </p:sp>
    </p:spTree>
    <p:extLst>
      <p:ext uri="{BB962C8B-B14F-4D97-AF65-F5344CB8AC3E}">
        <p14:creationId xmlns:p14="http://schemas.microsoft.com/office/powerpoint/2010/main" val="350948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8B38-C7A2-1CE4-FDFD-8D6A744B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エンドユーザー行動心理｜検索しているのは40代の母親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塾選び最大の苦労は「料金」ではなく「うちの子に合う塾が分からない」63.5%。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費用は9割が負担を感じつつ、6割が「妥当」。払う気はある。決められないだけ。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176000" cy="23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999" y="1692000"/>
            <a:ext cx="3960000" cy="28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誰が調べているか（LINEヤフー前後検索・実測）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999" y="2051999"/>
            <a:ext cx="900000" cy="37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2051999"/>
            <a:ext cx="900000" cy="37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性別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0000" y="2051999"/>
            <a:ext cx="1080000" cy="37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女性 67.4%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4000" y="2051999"/>
            <a:ext cx="1835999" cy="37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起点KW「塾」。「塾 費用」も65.5%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999" y="2491199"/>
            <a:ext cx="900000" cy="37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999" y="2491199"/>
            <a:ext cx="900000" cy="37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個別クエリ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0000" y="2491199"/>
            <a:ext cx="1080000" cy="37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女性 86〜88%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4000" y="2491199"/>
            <a:ext cx="1835999" cy="37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「塾 いつから通わせる」86.5%／「高校受験 塾 いつから」87.9%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999" y="2930399"/>
            <a:ext cx="900000" cy="37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999" y="2930399"/>
            <a:ext cx="900000" cy="37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0000" y="2930399"/>
            <a:ext cx="1080000" cy="37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40代 52.8%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4000" y="2930399"/>
            <a:ext cx="1835999" cy="37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50代23.5%／30代11.1%（同音異義語ノイズ除外後）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999" y="3369600"/>
            <a:ext cx="900000" cy="37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999" y="3369600"/>
            <a:ext cx="900000" cy="37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学年別の違い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0000" y="3369600"/>
            <a:ext cx="1080000" cy="37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30代 22.1%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4000" y="3369600"/>
            <a:ext cx="1835999" cy="37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「塾 費用」では30代が上昇＝小学生の保護者は30代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999" y="3833999"/>
            <a:ext cx="39600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→ ChatGPT調査では「母親か父親かの比率を示す公開調査は無い」だったが、検索実データで裏付けが取れた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23999" y="1620000"/>
            <a:ext cx="4651200" cy="23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9999" y="1692000"/>
            <a:ext cx="4392000" cy="28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保護者の心の声（データの翻訳）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49999" y="2051999"/>
            <a:ext cx="4392000" cy="4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72000" tIns="28800" bIns="2880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「うちの子に合うのか、通ってみるまで分からない」</a:t>
            </a:r>
          </a:p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塾選び最大の苦労 63.5%（塾ナラ2025・n=200）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49999" y="2527200"/>
            <a:ext cx="4392000" cy="4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72000" tIns="28800" bIns="2880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「集団と個別、どっちが向いてるのか判断できない」</a:t>
            </a:r>
          </a:p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「情報が多すぎる」17.0%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49999" y="3002400"/>
            <a:ext cx="4392000" cy="4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72000" tIns="28800" bIns="2880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「月謝の他に講習費がいくら乗るのか読めない」</a:t>
            </a:r>
          </a:p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費用に負担を感じる91.2%／一方で「妥当」57.7%（塾シル2026）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49999" y="3477600"/>
            <a:ext cx="4392000" cy="4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72000" tIns="28800" bIns="2880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「本人にやる気がないのに入れても無駄では」</a:t>
            </a:r>
          </a:p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決定関与は保護者80.5%・子ども本人57.8%（明光2020）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4068000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払う気はある。合うかどうかが分からないから決められない。だから「申し込む前に、合う/合わないを見せてしまう」。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000" y="4500000"/>
            <a:ext cx="90432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" y="4536000"/>
            <a:ext cx="88272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「勧誘されそうで問い合わせできない」は一般論として語られるが、比率を示す公開調査は存在せず、前後検索でも該当クエリはヒット0件だった。本資料では論拠として使わない（配信文面の「営業電話はしません」だけ残す）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出典｜LINEヤフー前後検索（直近1年 2022-05-09〜2023-05-14・実測）／塾ナラ2025（n=200）／塾シル・ユナイトプロジェクト2026（n=249）／明光ネットワークジャパン2020</a:t>
            </a:r>
          </a:p>
        </p:txBody>
      </p:sp>
    </p:spTree>
    <p:extLst>
      <p:ext uri="{BB962C8B-B14F-4D97-AF65-F5344CB8AC3E}">
        <p14:creationId xmlns:p14="http://schemas.microsoft.com/office/powerpoint/2010/main" val="118759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587B-DB18-248C-DB39-A170420D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本提案のスコープ｜LINEでできること・できないこと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LINE公式アカウントの運用提案です。広告運用の提案書ではありません。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「授業の質」も「合格実績」も、LINEでは作れません。作れるのは接点と歩留まりです。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13600" cy="27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620000"/>
            <a:ext cx="44136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LINEでできること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999" y="2088000"/>
            <a:ext cx="41616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保護者が動き出す26日間に、接点を持ち続ける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2455200"/>
            <a:ext cx="41616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「合う/合わない」を申込前に提示する（診断）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822400"/>
            <a:ext cx="41616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体験の無断キャンセルを減らす（前日リマインド）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999" y="3189600"/>
            <a:ext cx="41616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在籍生の保護者に成果を毎月見せる（継続率）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999" y="3556799"/>
            <a:ext cx="41616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欠席・振替の電話を減らす（教室長の工数）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99" y="3923999"/>
            <a:ext cx="41616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紹介を頼みやすい状態をつくる（口コミ47%）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1600" y="1620000"/>
            <a:ext cx="4413600" cy="273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61600" y="1620000"/>
            <a:ext cx="44136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LINEではできないこと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7599" y="2088000"/>
            <a:ext cx="41616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×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授業の質そのものを上げること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7599" y="2455200"/>
            <a:ext cx="41616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×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合格実績をつくること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7599" y="2822400"/>
            <a:ext cx="41616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×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講師の採用・育成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7599" y="3189600"/>
            <a:ext cx="41616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×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月謝を上げずに利益を増やすこと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7599" y="3556799"/>
            <a:ext cx="41616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×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友だちを集めるだけで入会を増やすこと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7599" y="3923999"/>
            <a:ext cx="41616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×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（＝371万人集めても凍結すればゼロ／S12）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4536000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触るのは「LPから落ちた後」と「予約が入った後」の2箇所だけ。LP CVRも広告も動かしません。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このスコープ宣言は毎回入れる。広告の話に引きずられると、運用の提案が薄まるため</a:t>
            </a:r>
          </a:p>
        </p:txBody>
      </p:sp>
    </p:spTree>
    <p:extLst>
      <p:ext uri="{BB962C8B-B14F-4D97-AF65-F5344CB8AC3E}">
        <p14:creationId xmlns:p14="http://schemas.microsoft.com/office/powerpoint/2010/main" val="46647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D860-D20C-DFFA-89EA-A46B82A5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広告の実態｜塾のCPC・CPAには「公開された相場」が存在しない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公的統計も業界統一の公開データも無いことを、再調査で確認した。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＝いくらが適正なのか誰にも見えないまま、全社が入札に参加している。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6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999" y="1710000"/>
            <a:ext cx="4212000" cy="28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業界推計値（出典元の特定不可・★社内実績で差し替える）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999" y="2051999"/>
            <a:ext cx="1655999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CPC（一般KW）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2000" y="2051999"/>
            <a:ext cx="12960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300〜800円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0" y="2051999"/>
            <a:ext cx="11880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「学習塾＋地域名」等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999" y="2419199"/>
            <a:ext cx="1655999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CPC（繁忙期・高単価）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2000" y="2419199"/>
            <a:ext cx="12960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1,200〜2,500円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0" y="2419199"/>
            <a:ext cx="11880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1〜3月・7月／医学部予備校・中学受験専門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999" y="2786399"/>
            <a:ext cx="1655999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体験申込CPA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2000" y="2786399"/>
            <a:ext cx="12960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25,000〜50,000円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0" y="2786399"/>
            <a:ext cx="11880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補習塾・個別指導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999" y="3153599"/>
            <a:ext cx="1655999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体験申込CPA（大手）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2000" y="3153599"/>
            <a:ext cx="12960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60,000〜100,000円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0" y="3153599"/>
            <a:ext cx="11880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大手中学受験塾・予備校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2000" y="1620000"/>
            <a:ext cx="43632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 検索広告CPCの推移（3年）</a:t>
            </a:r>
          </a:p>
          <a:p>
            <a:pPr algn="ctr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社内の塾・スクール系実績から
CV地点別のCPC/CVR/CPAが入り次第、
この枠に折れ線で差し込む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708000"/>
            <a:ext cx="9043200" cy="118800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3780000"/>
            <a:ext cx="8755200" cy="10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相場が見えない市場で、入札を強めるのは最も危ない戦い方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・適正CPAが分からないので「いくらまで出すか」を誰も決められない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・繁忙期（1〜3月・7月）はCPCが最大3倍。全社が同じ時期に集中するため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→ だから本提案は入札では戦わない。「取りこぼしを拾う」設計に寄せる（S04の壁②③）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出典｜Gemini再調査（2026-09-15）で公的統計・業界統一データの不在を確認。推計値は広告代理店等の運用事例レポートに基づくが、出典元は特定できていない。★社内実績が唯一の一次根拠になる</a:t>
            </a:r>
          </a:p>
        </p:txBody>
      </p:sp>
    </p:spTree>
    <p:extLst>
      <p:ext uri="{BB962C8B-B14F-4D97-AF65-F5344CB8AC3E}">
        <p14:creationId xmlns:p14="http://schemas.microsoft.com/office/powerpoint/2010/main" val="14290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4664-0791-AB23-9ACF-A79FA4D2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広告実績CVR｜CV地点別の実績（DYM社内データ）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塾・スクール系の社内運用実績を、CV地点別に整理してこの枠に差し込む。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公開データが存在しない領域なので、ここが本提案で唯一の一次根拠になる。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9043200" cy="22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 DYM社内 広告実績（塾・スクール系）</a:t>
            </a:r>
          </a:p>
          <a:p>
            <a:pPr algn="ctr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CV地点別に「CPC／CVR／CPA」を記載する。
CV地点の例：資料請求／体験授業の申込／教室見学の予約／LINE友だち追加
※CV地点を明記しない数値はスライドに載せない（比較できないため）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3996000"/>
            <a:ext cx="90432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4050000"/>
            <a:ext cx="8755200" cy="97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この枠が埋まると連動して確定するもの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・S04 壁①の数値（CPC/CPA）　・S15 施策展開図の前提　・S29 効果測定のKPI基準値</a:t>
            </a:r>
          </a:p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・S30 費用プランの投資回収ライン　・巻末SIMのBefore（現状値）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★未取得｜上司確認3点セットの1つ目。CV地点別に揃わない場合は「CV地点＝体験申込」に統一して1行だけでも入れる</a:t>
            </a:r>
          </a:p>
        </p:txBody>
      </p:sp>
    </p:spTree>
    <p:extLst>
      <p:ext uri="{BB962C8B-B14F-4D97-AF65-F5344CB8AC3E}">
        <p14:creationId xmlns:p14="http://schemas.microsoft.com/office/powerpoint/2010/main" val="143812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広告審査・表現面の懸念｜教育サービス特有の制約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塾の訴求は「成果」を約束したくなるが、そこに景品表示法の線がある。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LINE配信の文面にも同じ制約がかかるため、設計段階で型を決めておく。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9043200" cy="5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655999"/>
            <a:ext cx="1655999" cy="558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成果の断定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6000" y="1655999"/>
            <a:ext cx="3384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例：「必ず成績が上がる」「絶対合格」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8000" y="1655999"/>
            <a:ext cx="3708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根拠なく効果を保証する表現は優良誤認のリスク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286000"/>
            <a:ext cx="9043200" cy="5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2286000"/>
            <a:ext cx="1655999" cy="558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No.1・最上級表記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6000" y="2286000"/>
            <a:ext cx="3384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例：「地域No.1」「合格率日本一」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8000" y="2286000"/>
            <a:ext cx="3708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調査主体・範囲・時点の根拠がないと使えない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916000"/>
            <a:ext cx="9043200" cy="5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000" y="2916000"/>
            <a:ext cx="1655999" cy="558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体験談の扱い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6000" y="2916000"/>
            <a:ext cx="3384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例：「3ヶ月で偏差値15UP」だけを大きく出す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8000" y="2916000"/>
            <a:ext cx="3708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特異な事例を一般的な効果と誤認させない。条件の併記が要る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546000"/>
            <a:ext cx="9043200" cy="5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2000" y="3546000"/>
            <a:ext cx="1655999" cy="558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価格の見せ方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6000" y="3546000"/>
            <a:ext cx="3384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例：「月◯◯円〜」だけを強調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8000" y="3546000"/>
            <a:ext cx="3708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講習費・教材費を含めた総額が分かるようにする（有利誤認の回避）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4248000"/>
            <a:ext cx="9043200" cy="82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00" y="4302000"/>
            <a:ext cx="8755200" cy="72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本提案の対処：成果を約束せず「判断材料を渡す」設計にする</a:t>
            </a:r>
          </a:p>
          <a:p>
            <a:pPr algn="l">
              <a:lnSpc>
                <a:spcPct val="13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診断は「合う学び方」を示すもので、成績を保証しない。事例は条件（学年・期間・通塾回数）を必ず併記する。費用は月謝だけでなく年間総額を先に見せる（S18・S22の文面に反映済み）。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景品表示法（優良誤認・有利誤認）の一般的な考え方に基づく整理。★実際の配信文面は貴社・弊社双方の法務確認を通すこと。塾業界固有の公正競争規約の有無は未確認</a:t>
            </a:r>
          </a:p>
        </p:txBody>
      </p:sp>
    </p:spTree>
    <p:extLst>
      <p:ext uri="{BB962C8B-B14F-4D97-AF65-F5344CB8AC3E}">
        <p14:creationId xmlns:p14="http://schemas.microsoft.com/office/powerpoint/2010/main" val="2687779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598A-7489-8F6D-91D8-19CE7F50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シーズナリティ｜「入会させたい月」ではなく「その26日前」から動く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「塾」のピークは2月上旬、「夏期講習」は7月中旬（冬期・春期の3〜5倍）。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検討には26日かかる（S11）。逆算すると、仕込み開始日は1/13と6/16。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juku_trend_juk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1602000"/>
            <a:ext cx="4428000" cy="1654418"/>
          </a:xfrm>
          <a:prstGeom prst="rect">
            <a:avLst/>
          </a:prstGeom>
        </p:spPr>
      </p:pic>
      <p:pic>
        <p:nvPicPr>
          <p:cNvPr id="6" name="Picture 5" descr="juku_trend_koushu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0" y="1602000"/>
            <a:ext cx="4428000" cy="16544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2000" y="3563999"/>
            <a:ext cx="2179800" cy="90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3636000"/>
            <a:ext cx="2179800" cy="32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5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1/13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3960000"/>
            <a:ext cx="20358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「塾」ピーク(2/8)の26日前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999" y="4212000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新学年の募集はここから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9800" y="3563999"/>
            <a:ext cx="2179800" cy="90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9800" y="3636000"/>
            <a:ext cx="2179800" cy="32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5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3/22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1800" y="3960000"/>
            <a:ext cx="20358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春期講習ピーク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1800" y="4212000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規模は夏の1/3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600" y="3563999"/>
            <a:ext cx="2179800" cy="90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7600" y="3636000"/>
            <a:ext cx="2179800" cy="32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5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6/16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9600" y="3960000"/>
            <a:ext cx="20358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夏期講習ピーク(7/12)の26日前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9600" y="4212000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年間最大の商戦はここから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5400" y="3563999"/>
            <a:ext cx="2179800" cy="90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5400" y="3636000"/>
            <a:ext cx="2179800" cy="32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5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1月中旬〜2月上旬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7400" y="3960000"/>
            <a:ext cx="20358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受験3種が集中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7400" y="4212000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大学1/25・高校1/18・中学2/1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572000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多くの塾が販促を始めるのは2月と7月。ピーク当日に走り出しても、保護者の検討はもう終わっている。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Googleトレンド（日本・2026-01-01〜09-15・週次／_data/trends/教育塾/）。※取得期間は年初来のため年内の季節性のみ。「◯年で△%上昇」はこのデータでは言えない。※「塾」と他3語（個別指導/予備校/家庭教師）は約8倍のスケール差があるため別グラフにしている</a:t>
            </a:r>
          </a:p>
        </p:txBody>
      </p:sp>
    </p:spTree>
    <p:extLst>
      <p:ext uri="{BB962C8B-B14F-4D97-AF65-F5344CB8AC3E}">
        <p14:creationId xmlns:p14="http://schemas.microsoft.com/office/powerpoint/2010/main" val="653866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前後検索｜検討は26日前に始まり、塾が現れるのは最後の数日だけ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保護者が最初に動くのは「小学生 塾 月謝 相場」。そこから26日かけて塾を探し始める。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塾の名前が検索されるのは、さらにその数日後。手前の26日間は完全な空白。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90437" y="3636000"/>
            <a:ext cx="5293841" cy="36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接点なし　26日間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87888" y="3636000"/>
            <a:ext cx="1832483" cy="36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塾が接触できる
のはここだけ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3816000"/>
            <a:ext cx="8755200" cy="0"/>
          </a:xfrm>
          <a:prstGeom prst="line">
            <a:avLst/>
          </a:prstGeom>
          <a:ln w="158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8000" y="4031999"/>
            <a:ext cx="9360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-30日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4093" y="4031999"/>
            <a:ext cx="9360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-20日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80186" y="4031999"/>
            <a:ext cx="9360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-10日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6279" y="4031999"/>
            <a:ext cx="9360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0日＝塾を探す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2372" y="4031999"/>
            <a:ext cx="9360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10日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84279" y="2790000"/>
            <a:ext cx="0" cy="1224000"/>
          </a:xfrm>
          <a:prstGeom prst="line">
            <a:avLst/>
          </a:prstGeom>
          <a:ln w="22225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6000" y="1601999"/>
            <a:ext cx="1655999" cy="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4400" bIns="14400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小学生 塾 月謝 相場</a:t>
            </a:r>
          </a:p>
          <a:p>
            <a:pPr algn="ctr"/>
            <a:r>
              <a:rPr sz="7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関連度 4.11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70076" y="2051999"/>
            <a:ext cx="0" cy="1584001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75854" y="2141999"/>
            <a:ext cx="1655999" cy="50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4400" bIns="14400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中学生 勉強
親の関わり方</a:t>
            </a:r>
          </a:p>
          <a:p>
            <a:pPr algn="ctr"/>
            <a:r>
              <a:rPr sz="7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関連度 3.24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03854" y="2646000"/>
            <a:ext cx="0" cy="99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62202" y="2664000"/>
            <a:ext cx="1655999" cy="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4400" bIns="14400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高校受験 塾 いつから</a:t>
            </a:r>
          </a:p>
          <a:p>
            <a:pPr algn="ctr"/>
            <a:r>
              <a:rPr sz="7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関連度 3.53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90202" y="3113999"/>
            <a:ext cx="0" cy="522001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16279" y="3167999"/>
            <a:ext cx="2268000" cy="4392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4400" bIns="1440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塾 いつから通わせる</a:t>
            </a:r>
          </a:p>
          <a:p>
            <a:pPr algn="ctr"/>
            <a:r>
              <a:rPr sz="78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関連度1位 4.98　／　塾 成績上がらない 4.67（2位）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8053" y="4194000"/>
            <a:ext cx="1944000" cy="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4400" bIns="14400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 夏期講習 料金 相場</a:t>
            </a:r>
          </a:p>
          <a:p>
            <a:pPr algn="ctr"/>
            <a:r>
              <a:rPr sz="7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関連度 5.09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010053" y="3996000"/>
            <a:ext cx="0" cy="198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67200" y="4733999"/>
            <a:ext cx="26640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4400" bIns="14400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明光義塾 口コミ／森塾 口コミ／各社 料金</a:t>
            </a:r>
          </a:p>
          <a:p>
            <a:pPr algn="ctr"/>
            <a:r>
              <a:rPr sz="7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関連度 3.3前後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8007739" y="3996000"/>
            <a:ext cx="0" cy="737999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2000" y="5363999"/>
            <a:ext cx="2942400" cy="70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検討は1ヶ月超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塾が広告・指名検索で拾えるのは最後の数日だけ。手前の3週間は接点ゼロ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82400" y="5363999"/>
            <a:ext cx="2942400" cy="70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最初の問いは「いつから」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関連度1位は「塾 いつから通わせる」4.98。料金の確認は+1.6日＝決断の後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2800" y="5363999"/>
            <a:ext cx="2942400" cy="70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口コミは最後に立つ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指名×口コミが出た時点で比較は終盤。その前に友だちになるしかない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出典｜LINEヤフー 前後検索データ（Journey）起点KW「塾 費用」／直近1年 2022-05-09〜2023-05-14・関連度3.0以上を抽出（_data/journey/教育塾/）。※起点KW「塾」のデータには同音異義語「熟」のノイズが16件混入するため集計から除外している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B14C-0AEA-B93E-0808-EE37D50F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他社分析｜大手もLINEでは規模を持てていない。そして371万人が凍結している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友だち数を実測した。KUMON 2,525万人の一方、全国大手の本部は3万人台。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さらにビザビ（371万人）は今年4月で配信を停止していた。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602000"/>
            <a:ext cx="55440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LINE公式アカウント 友だち数（2026-09-15 実機・認証済アカウント）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853999"/>
            <a:ext cx="1782000" cy="27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塾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2000" y="1853999"/>
            <a:ext cx="1062000" cy="27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1999" y="1853999"/>
            <a:ext cx="882000" cy="27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2000" y="1853999"/>
            <a:ext cx="918000" cy="27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アカウント構成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8000" y="1853999"/>
            <a:ext cx="810000" cy="27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診断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141999"/>
            <a:ext cx="178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l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KUMON（公文）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32000" y="2141999"/>
            <a:ext cx="106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25,256,318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1999" y="2141999"/>
            <a:ext cx="88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A 全国大量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2000" y="2141999"/>
            <a:ext cx="918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本部＋教室別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48000" y="2141999"/>
            <a:ext cx="810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455200"/>
            <a:ext cx="1782000" cy="295200"/>
          </a:xfrm>
          <a:prstGeom prst="rect">
            <a:avLst/>
          </a:prstGeom>
          <a:solidFill>
            <a:srgbClr val="FD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l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栄光ゼミナール／ビザビ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32000" y="2455200"/>
            <a:ext cx="1062000" cy="295200"/>
          </a:xfrm>
          <a:prstGeom prst="rect">
            <a:avLst/>
          </a:prstGeom>
          <a:solidFill>
            <a:srgbClr val="FD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3,713,373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1999" y="2455200"/>
            <a:ext cx="882000" cy="295200"/>
          </a:xfrm>
          <a:prstGeom prst="rect">
            <a:avLst/>
          </a:prstGeom>
          <a:solidFill>
            <a:srgbClr val="FD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A 全国大量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12000" y="2455200"/>
            <a:ext cx="918000" cy="295200"/>
          </a:xfrm>
          <a:prstGeom prst="rect">
            <a:avLst/>
          </a:prstGeom>
          <a:solidFill>
            <a:srgbClr val="FD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🔴 配信停止中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8000" y="2455200"/>
            <a:ext cx="810000" cy="295200"/>
          </a:xfrm>
          <a:prstGeom prst="rect">
            <a:avLst/>
          </a:prstGeom>
          <a:solidFill>
            <a:srgbClr val="FD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2768400"/>
            <a:ext cx="178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l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東進ハイスクール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32000" y="2768400"/>
            <a:ext cx="106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136,000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1999" y="2768400"/>
            <a:ext cx="88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B 本部小型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2000" y="2768400"/>
            <a:ext cx="918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本部＋校舎別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48000" y="2768400"/>
            <a:ext cx="810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3081599"/>
            <a:ext cx="178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l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武田塾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32000" y="3081599"/>
            <a:ext cx="106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32,871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1999" y="3081599"/>
            <a:ext cx="88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B 本部小型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12000" y="3081599"/>
            <a:ext cx="918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本部＋校舎別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48000" y="3081599"/>
            <a:ext cx="810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3394799"/>
            <a:ext cx="178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l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栄光ゼミナール（本部）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32000" y="3394799"/>
            <a:ext cx="106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1999" y="3394799"/>
            <a:ext cx="88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B 本部小型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12000" y="3394799"/>
            <a:ext cx="918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本部＋教室別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48000" y="3394799"/>
            <a:ext cx="810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3707999"/>
            <a:ext cx="1782000" cy="29520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l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早稲田アカデミー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32000" y="3707999"/>
            <a:ext cx="1062000" cy="29520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1999" y="3707999"/>
            <a:ext cx="882000" cy="29520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B 本部小型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2000" y="3707999"/>
            <a:ext cx="918000" cy="29520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48000" y="3707999"/>
            <a:ext cx="810000" cy="29520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◎ 学力診断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4021199"/>
            <a:ext cx="1782000" cy="29520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l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個別教室のトライ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32000" y="4021199"/>
            <a:ext cx="1062000" cy="29520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計測不能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1999" y="4021199"/>
            <a:ext cx="882000" cy="29520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 教室別分散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12000" y="4021199"/>
            <a:ext cx="918000" cy="29520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教室ごとに分散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48000" y="4021199"/>
            <a:ext cx="810000" cy="29520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◎ 性格別診断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2000" y="4334399"/>
            <a:ext cx="178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l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明光義塾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32000" y="4334399"/>
            <a:ext cx="106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計測不能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1999" y="4334399"/>
            <a:ext cx="88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 教室別分散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12000" y="4334399"/>
            <a:ext cx="918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本部＋FC教室別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48000" y="4334399"/>
            <a:ext cx="810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2000" y="4647599"/>
            <a:ext cx="178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l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森塾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32000" y="4647599"/>
            <a:ext cx="106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未確認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1999" y="4647599"/>
            <a:ext cx="882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 教室別分散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12000" y="4647599"/>
            <a:ext cx="918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本部＋教室別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48000" y="4647599"/>
            <a:ext cx="810000" cy="2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28800" tIns="0" bIns="0"/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20000" y="1602000"/>
            <a:ext cx="3355200" cy="3456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6000" y="1655999"/>
            <a:ext cx="30960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3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🔴 371万人が、いま止まっている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46000" y="2034000"/>
            <a:ext cx="3103199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3600" rIns="79200" tIns="36000" bIns="36000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「せっかく登録いただいたのですが、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本アカウントは4月で配信を停止いたしました。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今後は『栄光ゼミナール』にて…こちらから
お友だち追加をお願いいたします」</a:t>
            </a:r>
          </a:p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＝ 実際に友だち追加して返ってきたあいさつメッセージ（2026-09-15・実機）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82000" y="3078000"/>
            <a:ext cx="1872000" cy="2664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このアカウントの友だち数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00000" y="3078000"/>
            <a:ext cx="1224000" cy="2664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r"/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3,713,373人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82000" y="3366000"/>
            <a:ext cx="1872000" cy="2664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移行先の栄光ゼミナール本体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00000" y="3366000"/>
            <a:ext cx="1224000" cy="2664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r"/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30,000人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82000" y="3654000"/>
            <a:ext cx="1872000" cy="2664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移行できた割合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0000" y="3654000"/>
            <a:ext cx="1224000" cy="2664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r"/>
            <a:r>
              <a:rPr sz="15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1%未満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46000" y="4013999"/>
            <a:ext cx="3103199" cy="9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79200" tIns="43200" bIns="43200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友だちは広告で買える。</a:t>
            </a:r>
          </a:p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でも運用設計がなければ、資産にならない。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370万集めてもゼロになる。</a:t>
            </a:r>
          </a:p>
          <a:p>
            <a:pPr algn="ctr">
              <a:lnSpc>
                <a:spcPct val="12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数千人でも、設計があれば戦える。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2000" y="5183999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空白は「規模」ではなく「規模 × 診断の両立」。規模を持つKUMON・ビザビも、診断で「合う/合わない」を見せていない。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出典｜LINE公式アカウント（page.line.me・実機／いずれも認証済）2026-09-15取得。証跡は _data/lineoa_competitors/。第三者サイト（lineoa.jp）の数値は使用していない。★実名掲載は上司確認事項。★KUMON 2,525万人の内訳（スタンプ/CPF由来か）は未確認のため推定と明記している</a:t>
            </a:r>
          </a:p>
        </p:txBody>
      </p:sp>
    </p:spTree>
    <p:extLst>
      <p:ext uri="{BB962C8B-B14F-4D97-AF65-F5344CB8AC3E}">
        <p14:creationId xmlns:p14="http://schemas.microsoft.com/office/powerpoint/2010/main" val="406932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DB2C5-43E4-382E-3F0A-0B0F5E9F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全体設計｜カスタマージャーニー8フェーズと、CVの3段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塾は「買う人（保護者）」と「使う人（子ども）」が違う。だからCVを3段に分ける。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軽いCVで先に接点を取り、重いCVへ引き上げる。入会後もLTVのために設計する。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1020150" cy="126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673999"/>
            <a:ext cx="102015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925999"/>
            <a:ext cx="94815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接触
（認知・流入）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411999"/>
            <a:ext cx="94815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広告・チラシ・口コミ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470150" y="2124000"/>
            <a:ext cx="90000" cy="180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78150" y="1620000"/>
            <a:ext cx="1020150" cy="126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8150" y="1673999"/>
            <a:ext cx="102015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4150" y="1925999"/>
            <a:ext cx="94815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サイト離脱
（対策）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4150" y="2411999"/>
            <a:ext cx="94815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LP CVR 2%＝98%が離脱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16300" y="2124000"/>
            <a:ext cx="90000" cy="180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24300" y="1620000"/>
            <a:ext cx="1020150" cy="126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4300" y="1673999"/>
            <a:ext cx="102015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0300" y="1925999"/>
            <a:ext cx="94815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育成
（興味喚起）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0300" y="2411999"/>
            <a:ext cx="94815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26日間の空白を埋める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762450" y="2124000"/>
            <a:ext cx="90000" cy="180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70450" y="1620000"/>
            <a:ext cx="102015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70450" y="1673999"/>
            <a:ext cx="102015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6450" y="1925999"/>
            <a:ext cx="94815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リード獲得
(web/LINE)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6450" y="2411999"/>
            <a:ext cx="94815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 友だち追加＋診断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908600" y="2124000"/>
            <a:ext cx="90000" cy="180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16600" y="1620000"/>
            <a:ext cx="102015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6600" y="1673999"/>
            <a:ext cx="102015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2600" y="1925999"/>
            <a:ext cx="94815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リード有効化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2600" y="2411999"/>
            <a:ext cx="94815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CV② 体験・見学の予約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054750" y="2124000"/>
            <a:ext cx="90000" cy="180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62750" y="1620000"/>
            <a:ext cx="1020150" cy="126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2750" y="1673999"/>
            <a:ext cx="102015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8750" y="1925999"/>
            <a:ext cx="94815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有効リードの
再育成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8750" y="2411999"/>
            <a:ext cx="94815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体験に来なかった層へ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200900" y="2124000"/>
            <a:ext cx="90000" cy="180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08900" y="1620000"/>
            <a:ext cx="102015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08900" y="1673999"/>
            <a:ext cx="102015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4900" y="1925999"/>
            <a:ext cx="94815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マネタイズ
（成約）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4900" y="2411999"/>
            <a:ext cx="94815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CV③ 入会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347050" y="2124000"/>
            <a:ext cx="90000" cy="180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55050" y="1620000"/>
            <a:ext cx="102015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5050" y="1673999"/>
            <a:ext cx="102015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91050" y="1925999"/>
            <a:ext cx="94815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LTV最大化
・紹介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1050" y="2411999"/>
            <a:ext cx="94815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継続（退会防止）＋紹介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2000" y="3096000"/>
            <a:ext cx="29424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2000" y="3096000"/>
            <a:ext cx="29424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CV①　軽いCV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2000" y="3528000"/>
            <a:ext cx="2762400" cy="39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LINE友だち追加 ＋ 30秒診断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999" y="3978000"/>
            <a:ext cx="2690400" cy="827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・氏名・電話番号は不要（匿名で始まる）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・④リード獲得に位置づけ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・ここを取らないと26日間の空白が埋まらない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82400" y="4806000"/>
            <a:ext cx="684000" cy="19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フェーズ ④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82400" y="3096000"/>
            <a:ext cx="29424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482400" y="3096000"/>
            <a:ext cx="29424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　主CV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72400" y="3528000"/>
            <a:ext cx="2762400" cy="39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体験授業・教室見学の予約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8400" y="3978000"/>
            <a:ext cx="2690400" cy="827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・診断で「合う/合わない」を確認した後に来る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・⑤リード有効化に位置づけ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・予約の質が上がるので入会率も上がる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32800" y="4806000"/>
            <a:ext cx="684000" cy="19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フェーズ 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32800" y="3096000"/>
            <a:ext cx="29424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532800" y="3096000"/>
            <a:ext cx="29424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CV③　最終CV／LTV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2800" y="3528000"/>
            <a:ext cx="2762400" cy="39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入会 → 継続 → 紹介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58800" y="3978000"/>
            <a:ext cx="2690400" cy="827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・入会がゴールではない（在籍年数がLTVを決める）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・⑦マネタイズ＋⑧LTV最大化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・紹介経由の入会率は70〜80%超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83200" y="4806000"/>
            <a:ext cx="684000" cy="19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フェーズ ⑦⑧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2000" y="5183999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軽いCVで先に接点を取り、診断で納得させてから重いCVへ。入会後は継続と紹介まで設計する。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CV3段の設計はDYM見解。②③⑥が本提案の主戦場（広告費を増やさずに改善できる区間）</a:t>
            </a:r>
          </a:p>
        </p:txBody>
      </p:sp>
    </p:spTree>
    <p:extLst>
      <p:ext uri="{BB962C8B-B14F-4D97-AF65-F5344CB8AC3E}">
        <p14:creationId xmlns:p14="http://schemas.microsoft.com/office/powerpoint/2010/main" val="3225074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6AB4E-6E86-5642-81B1-3703D9B3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施策全体像｜LINEの後半戦は「辞めさせない」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入会して終わりではない。塾の売上構造で重いのは在籍年数（LTV）のほう。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退会を1人防ぐことは、新規を1人獲得するのと同じ。しかも獲得コストはゼロ。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813600" cy="827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600" y="1710000"/>
            <a:ext cx="7704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広告・チラシ
口コミ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600" y="2268000"/>
            <a:ext cx="770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256400" y="1998000"/>
            <a:ext cx="79200" cy="14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46400" y="1655999"/>
            <a:ext cx="813600" cy="827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8000" y="1710000"/>
            <a:ext cx="7704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000" y="2268000"/>
            <a:ext cx="770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70800" y="1998000"/>
            <a:ext cx="79200" cy="14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60800" y="1655999"/>
            <a:ext cx="813600" cy="82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2400" y="1710000"/>
            <a:ext cx="7704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離脱防止POP
CPF広告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2400" y="2268000"/>
            <a:ext cx="770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85200" y="1998000"/>
            <a:ext cx="79200" cy="14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75200" y="1655999"/>
            <a:ext cx="813600" cy="82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6800" y="1710000"/>
            <a:ext cx="7704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
＋30秒診断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6800" y="2268000"/>
            <a:ext cx="770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④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99600" y="1998000"/>
            <a:ext cx="79200" cy="14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89600" y="1655999"/>
            <a:ext cx="813600" cy="82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1200" y="1710000"/>
            <a:ext cx="7704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14日
ナーチャリング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1200" y="2268000"/>
            <a:ext cx="770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③⑤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913999" y="1998000"/>
            <a:ext cx="79200" cy="14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03999" y="1655999"/>
            <a:ext cx="813600" cy="82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5600" y="1710000"/>
            <a:ext cx="7704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体験予約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5600" y="2268000"/>
            <a:ext cx="770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⑤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828400" y="1998000"/>
            <a:ext cx="79200" cy="14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18400" y="1655999"/>
            <a:ext cx="813600" cy="82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0000" y="1710000"/>
            <a:ext cx="7704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
リマインド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0000" y="2268000"/>
            <a:ext cx="770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⑤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742800" y="1998000"/>
            <a:ext cx="79200" cy="14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32800" y="1655999"/>
            <a:ext cx="813600" cy="82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4400" y="1710000"/>
            <a:ext cx="7704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4400" y="2268000"/>
            <a:ext cx="770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⑦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657200" y="1998000"/>
            <a:ext cx="79200" cy="14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47200" y="1655999"/>
            <a:ext cx="813600" cy="82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68799" y="1710000"/>
            <a:ext cx="7704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在籍中の保護者接点
離脱予兆検知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68799" y="2268000"/>
            <a:ext cx="770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⑧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571600" y="1998000"/>
            <a:ext cx="79200" cy="14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61600" y="1655999"/>
            <a:ext cx="813600" cy="82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3200" y="1710000"/>
            <a:ext cx="7704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継続・紹介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3200" y="2268000"/>
            <a:ext cx="770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2000" y="2538000"/>
            <a:ext cx="6300000" cy="27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前半戦：新規獲得（ここで終わる提案が多い）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32800" y="2538000"/>
            <a:ext cx="2642400" cy="27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後半戦：退会防止・紹介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432000" y="2951999"/>
          <a:ext cx="9043198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999"/>
                <a:gridCol w="1440000"/>
                <a:gridCol w="1655999"/>
                <a:gridCol w="3931200"/>
              </a:tblGrid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施策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誰を拾うか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どのCVに効くか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中身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</a:tr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未CVの98%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CV①（友だち化）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LP離脱時に「まだ決めなくて大丈夫です」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30秒ぴったり塾診断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友だち全員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CV②（体験予約）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「合う/合わない」を先に提示し、回答をタグ化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14日ステップ配信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未予約の友だち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CV②（体験予約）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売り込みは2回だけ。残りは家庭で使える情報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体験の前日リマインド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予約者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歩留まり（実施率）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持ち物・アクセス・変更1タップ。キャンセル料なし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月次の学習レポート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在籍生の保護者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継続率（LTV）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退会検討理由の50.6%はコミュニケーション不足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離脱予兆検知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在籍生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継続率（LTV）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欠席2回連続／宿題未提出／未読3週間で自動声かけ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紹介キャンペーン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在籍生の保護者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CV①〜③（紹介）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塾を知るきっかけ1位は口コミ47%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退会1人の防止＝月謝28,000円×残存18ヶ月≒50万円（モデル値）。新規1人の獲得より安く、確実</a:t>
            </a:r>
          </a:p>
        </p:txBody>
      </p:sp>
    </p:spTree>
    <p:extLst>
      <p:ext uri="{BB962C8B-B14F-4D97-AF65-F5344CB8AC3E}">
        <p14:creationId xmlns:p14="http://schemas.microsoft.com/office/powerpoint/2010/main" val="4224870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F09D0-C3F8-FF51-9B68-5792A11B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施策展開図｜初期に何を作り、毎月何を回すか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初期構築は1〜2ヶ月。作り込むのは診断・リッチメニュー・14日ステップの3つ。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月次は「企画配信・セグメント配信・予兆検知・レポート」の4本を定常で回す。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13600" cy="32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620000"/>
            <a:ext cx="44136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初期（初動1〜2ヶ月）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088000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LINE公式アカウント開設・プロフィール設計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97600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30秒ぴったり塾診断（4問）の設計と実装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707200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リッチメニュー3タブ×6枠の制作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016800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あいさつメッセージ（営業電話しない宣言を含む）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3326400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14日ステップ配信（14通）の原稿・実装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3636000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キーワード自動応答（料金・振替・持ち物）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3945599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LP離脱防止ポップアップの設置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4255199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タグ設計（学年／動機／適性／温度）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4553999"/>
            <a:ext cx="41976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ここを作り込まないと、あとの配信が全部弱くなる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1600" y="1620000"/>
            <a:ext cx="4413600" cy="32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61600" y="1620000"/>
            <a:ext cx="44136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月次（定常運用）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9600" y="2088000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企画配信（月1〜2本・年間カレンダーに沿って）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9600" y="2397600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セグメント配信（診断タグ別に出し分け）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9600" y="2707200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体験予約者への前日リマインド（自動）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9600" y="3016800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在籍生の保護者へ月次学習レポート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9600" y="3326400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離脱予兆検知のトリガー確認と声かけ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9600" y="3636000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GA・LINE分析のレポーティング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9600" y="3945599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定例会（配信結果の振り返りと翌月の企画）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9600" y="4255199"/>
            <a:ext cx="4197600" cy="2808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0" bIns="0"/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文面・リッチメニューの改善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9600" y="4553999"/>
            <a:ext cx="41976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毎月これを回す。DYMが実務を持つ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4968000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アカウント開設・リッチメニュー・診断・ステップ配信・タグ管理は、すべて費用内（無償付帯）。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別途費用：LP離脱防止（Sitelead 初期10万円＋月5万円）／通知メッセージ／API連携。配信ツールはLstepまたはHachidoriのどちらか一方を要件定義で選定する</a:t>
            </a:r>
          </a:p>
        </p:txBody>
      </p:sp>
    </p:spTree>
    <p:extLst>
      <p:ext uri="{BB962C8B-B14F-4D97-AF65-F5344CB8AC3E}">
        <p14:creationId xmlns:p14="http://schemas.microsoft.com/office/powerpoint/2010/main" val="1772806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590B-7660-E16F-AF1F-C1B09199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構築①｜友だち追加の動線　CTAは「今すぐ体験」ではなく「受け取る」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26日間の空白を埋めるには、まず匿名で接点を持つこと。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個人情報の要求をゼロにするだけで、拾える層が変わる。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38000"/>
            <a:ext cx="4176000" cy="48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個人情報の要求ゼロ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タップ1回で友だち追加が完了。氏名・電話・成績の入力を求めない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178000"/>
            <a:ext cx="4176000" cy="48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「決めなくていい」と明言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検討初期（26日前）の層は、決断を迫られると離脱する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718000"/>
            <a:ext cx="4176000" cy="48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営業しない宣言を入口から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※比率データは無いが、明記のコストはゼロで効果は大きい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348000"/>
            <a:ext cx="41760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導線は3つ（LP・広告・オフライン）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636000"/>
            <a:ext cx="41760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LP離脱防止ポップアップ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離脱動作を検知して表示。Sitelead（初期10万＋月5万・別途）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176000"/>
            <a:ext cx="41760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LINE広告 CPF（友だち追加課金）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フォーム入力が存在しない。検討初期層を低単価でリスト化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716000"/>
            <a:ext cx="41760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オフライン（チラシ・教室掲示）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既存のチラシにQRを1つ足すだけ。折込の反応率低下を補う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3999" y="1638000"/>
            <a:ext cx="46512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クリエイティブ実文（そのまま使えます）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3999" y="1908000"/>
            <a:ext cx="4651200" cy="154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49999" y="1980000"/>
            <a:ext cx="4392000" cy="140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▼ LP離脱防止ポップアップ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まだ、塾を決めなくて大丈夫です。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30秒の無料診断で、お子さまに合う学び方（集団／個別／映像）だけ先にわかります。営業のお電話は一切ありません。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［ LINEで30秒診断を受け取る ］</a:t>
            </a:r>
          </a:p>
          <a:p>
            <a:pPr algn="l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※お名前・電話番号は不要です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3999" y="3563999"/>
            <a:ext cx="4651200" cy="154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9999" y="3636000"/>
            <a:ext cx="4392000" cy="140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▼ LINE広告 CPF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うちの子、塾に行くべき？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テストの点が下がってきたら読むLINE。学年別「いま家庭ですべきこと」を週1で無料配信中。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［ 友だち追加して受け取る ］</a:t>
            </a: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※前後検索の実測で、関連度1位は「塾 いつから通わせる」。料金訴求より「いつから」で刺す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CTAの言い換えはDYM見解。訴求の軸（料金ではなく「いつから」）はS11の前後検索実測に基づく</a:t>
            </a:r>
          </a:p>
        </p:txBody>
      </p:sp>
    </p:spTree>
    <p:extLst>
      <p:ext uri="{BB962C8B-B14F-4D97-AF65-F5344CB8AC3E}">
        <p14:creationId xmlns:p14="http://schemas.microsoft.com/office/powerpoint/2010/main" val="4260980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構築②｜あいさつメッセージ　友だち追加の10秒後に何が届くか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1通目で「誰が・何を・いつ送るか」と「営業電話はしない」を先に伝える。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アンケート（診断）は1通目に置く。参加率が最も高くなる。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12000" y="1620000"/>
            <a:ext cx="2592000" cy="4320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2400" y="1771200"/>
            <a:ext cx="2491200" cy="4118400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400" y="1771200"/>
            <a:ext cx="2491200" cy="18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◯◯塾 △△教室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599" y="1998000"/>
            <a:ext cx="2368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はじめまして！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◯◯塾 △△教室・教室長の佐藤です😊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599" y="2365200"/>
            <a:ext cx="2368800" cy="7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友だち追加ありがとうございます。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このLINEでは、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📊 学年別「いま家庭ですべきこと」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📝 テスト前の勉強のコツ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💰 塾の費用のリアル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を週1回だけお届けします。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599" y="3164399"/>
            <a:ext cx="23688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⚠️ こちらから営業のお電話をする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ことは一切ありません。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ご質問には私が直接お答えします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（平日14〜21時）。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599" y="3747600"/>
            <a:ext cx="23688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まずは30秒だけ👇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【ぴったり塾診断】で、お子さまに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合う学び方をチェックしてみて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ください。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599" y="4330800"/>
            <a:ext cx="23688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>
              <a:lnSpc>
                <a:spcPct val="115000"/>
              </a:lnSpc>
            </a:pPr>
            <a:r>
              <a:rPr sz="68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▶ 診断をはじめる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000" y="1638000"/>
            <a:ext cx="60120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この5つを外すと効かない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000" y="1944000"/>
            <a:ext cx="6019200" cy="5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担当者名を出す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「教室長の佐藤です」。BOTではなく人がいると示す。塾は「先生」で選ばれる業界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000" y="2538000"/>
            <a:ext cx="6019200" cy="5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有人対応の時間帯を明記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「平日14〜21時」。いつ返事が来るか分かると質問のハードルが下がる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000" y="3131999"/>
            <a:ext cx="6019200" cy="5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配信頻度を先に約束する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「週1回だけ」。頻度を明示するとブロック率が下がる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6000" y="3726000"/>
            <a:ext cx="6019200" cy="5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 最大の不安に先回りする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「営業のお電話は一切ありません」。※一般論だが明記コストはゼロ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000" y="4320000"/>
            <a:ext cx="6019200" cy="5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 診断は1通目に置く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後ろに回すほど参加率が落ちる。ここで属性を取れないと配信が全部一斉配信になる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000" y="4968000"/>
            <a:ext cx="6019200" cy="8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1999" y="5022000"/>
            <a:ext cx="5760000" cy="75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なぜ1通目で「営業しない」と言うのか</a:t>
            </a:r>
          </a:p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の検討は26日前から始まっている（S11）。その段階の人に決断を迫ると離脱する。先に「決めなくていい・営業しない」と伝えて、26日間ずっと隣にいることのほうが、最後の数日で指名検索に勝つより確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文面はそのまま使える実文。教室長名・対応時間・配信頻度のみ貴社の運用に合わせて差し替える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BFBA-F50F-49FF-6262-A65BC71D2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構築③｜30秒ぴったり塾診断　保護者の63.5%が詰まる「合うか分からない」を解く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4問すべて選択式・自由入力ゼロ。回答がそのまま配信セグメントのタグになる。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診断は集客ツールであると同時に、早期退塾を防ぐリテンション施策でもある。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620000"/>
            <a:ext cx="54000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診断4問（すべて選択式）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08000"/>
            <a:ext cx="5400000" cy="5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3999" y="1998000"/>
            <a:ext cx="396000" cy="413999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000" y="1962000"/>
            <a:ext cx="34560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お子さまの学年は？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000" y="2196000"/>
            <a:ext cx="34560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小1〜4／小5・6／中1・2／中3／高1・2／高3・既卒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6000" y="2033999"/>
            <a:ext cx="1224000" cy="34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 学年タグ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2574000"/>
            <a:ext cx="5400000" cy="5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3999" y="2664000"/>
            <a:ext cx="396000" cy="413999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000" y="2628000"/>
            <a:ext cx="34560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いちばん近いお悩みは？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0" y="2862000"/>
            <a:ext cx="34560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成績が下がってきた／やる気が出ない／受験対策を始めたい／授業についていけない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6000" y="2700000"/>
            <a:ext cx="1224000" cy="34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 動機タグ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3240000"/>
            <a:ext cx="5400000" cy="5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3999" y="3330000"/>
            <a:ext cx="396000" cy="413999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0" y="3294000"/>
            <a:ext cx="34560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お子さまの性格に近いのは？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" y="3528000"/>
            <a:ext cx="34560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競争があると燃える／マイペースにコツコツ／質問するのが苦手／集中が続かない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6000" y="3366000"/>
            <a:ext cx="1224000" cy="34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 適性タグ（集団/個別の判定）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906000"/>
            <a:ext cx="5400000" cy="5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3999" y="3996000"/>
            <a:ext cx="396000" cy="413999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" y="3960000"/>
            <a:ext cx="34560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塾はいつから？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0" y="4194000"/>
            <a:ext cx="34560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今すぐ／今学期中に／次の学年から／情報収集だけ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36000" y="4032000"/>
            <a:ext cx="1224000" cy="34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 温度タグ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6000" y="1620000"/>
            <a:ext cx="34992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診断結果の型｜共感 → 実例 → 費用 → CTA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76000" y="1908000"/>
            <a:ext cx="3499200" cy="26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2000" y="1980000"/>
            <a:ext cx="3240000" cy="252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【診断結果】お子さまは「じっくり個別型」です📘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質問が苦手なお子さまは、集団授業だと「わからないまま次の単元へ」が起きやすいタイプです。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同じタイプの中2生は、個別指導で「質問しなくても講師から声をかける」形に変えて、数学58点→82点（3ヶ月・当教室例※）になりました。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費用は週1コマ 月◯◯円〜。季節講習などの追加費用も、先にすべてお見せします。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まずは教室の空気だけ、見に来ませんか？
（体験後の勧誘連絡はしない決まりです）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▶ 体験の空き日程を見る</a:t>
            </a:r>
          </a:p>
          <a:p>
            <a:pPr algn="l">
              <a:lnSpc>
                <a:spcPct val="120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 事例数値は貴社の実績に差し替える。学年・期間・通塾回数の条件を必ず併記（S09）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76000" y="4680000"/>
            <a:ext cx="3499200" cy="11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4000" y="4733999"/>
            <a:ext cx="3276000" cy="104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診断が「継続率」にも効く理由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1年未満で退塾した家庭の43%が「入塾前に十分調べなかった」と回答（1年以上継続は14%）。＝入口で適合を確認させることが、そのまま早期退塾の予防になる。</a:t>
            </a:r>
          </a:p>
          <a:p>
            <a:pPr algn="l"/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出典：DeltaX「塾選」退塾に関する調査 2024年（n=65）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費用は結果の後半に置く（先に出すと離脱する）。★競合ではトライ（性格別学習法診断）・早稲田アカデミー（学力診断シミュレーション）が実装済み。実物スクショは未取得</a:t>
            </a:r>
          </a:p>
        </p:txBody>
      </p:sp>
    </p:spTree>
    <p:extLst>
      <p:ext uri="{BB962C8B-B14F-4D97-AF65-F5344CB8AC3E}">
        <p14:creationId xmlns:p14="http://schemas.microsoft.com/office/powerpoint/2010/main" val="12511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構築④｜リッチメニュー　検討中・予約済み・塾生の3つの顔に出し分ける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常設の受付窓口。左上は常に「いま一番押してほしい行動」を置く。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タブ③に退会相談を隠さず置く。相談を受け止める塾のほうが、結果として続く。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3096000" cy="2376000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3600" y="1677599"/>
            <a:ext cx="1006800" cy="198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はじめての方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1200" y="1677599"/>
            <a:ext cx="1006800" cy="198000"/>
          </a:xfrm>
          <a:prstGeom prst="rect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体験予約済みの方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8800" y="1677599"/>
            <a:ext cx="1006800" cy="198000"/>
          </a:xfrm>
          <a:prstGeom prst="rect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塾生・保護者の方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600" y="1897199"/>
            <a:ext cx="1003200" cy="1045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🎯 30秒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ぴったり塾診断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78400" y="1897199"/>
            <a:ext cx="1003200" cy="1045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💰 料金まるわかり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（講習費まで）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3200" y="1897199"/>
            <a:ext cx="1003200" cy="1045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📈 成績アップ事例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600" y="2964600"/>
            <a:ext cx="1003200" cy="1045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🏫 教室・講師を見る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78400" y="2964600"/>
            <a:ext cx="1003200" cy="1045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📅 無料体験を予約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3200" y="2964600"/>
            <a:ext cx="1003200" cy="1045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❓ よくある質問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103999"/>
            <a:ext cx="30960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実装：LINE大サイズ 2500×1686px／2列×3行×3タブ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3999" y="1655999"/>
            <a:ext cx="1802400" cy="27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43999" y="1655999"/>
            <a:ext cx="1802400" cy="324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タブ①　はじめての方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33999" y="20519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🎯 30秒 ぴったり塾診断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33999" y="24191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💰 料金まるわかり （講習費まで）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33999" y="27863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📈 成績アップ事例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33999" y="31535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🏫 教室・講師を見る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33999" y="35207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📅 無料体験を予約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33999" y="38879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❓ よくある質問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3999" y="4248000"/>
            <a:ext cx="1622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左上＝最重要CTA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54400" y="1655999"/>
            <a:ext cx="1802400" cy="27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54400" y="1655999"/>
            <a:ext cx="1802400" cy="324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タブ②　体験予約済みの方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4400" y="20519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📋 体験当日の流れ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44400" y="24191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🗺️ アクセス・持ち物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44400" y="27863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🔁 日程変更（1タップ）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44400" y="31535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👨‍🏫 担当講師の紹介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44400" y="35207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💬 保護者の声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44400" y="38879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✉️ LINEで質問する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44400" y="4248000"/>
            <a:ext cx="1622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予約後の不安をつぶす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64800" y="1655999"/>
            <a:ext cx="1802400" cy="27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64800" y="1655999"/>
            <a:ext cx="1802400" cy="3240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タブ③　塾生・保護者の方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54800" y="20519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🙋 欠席・振替連絡 （電話不要）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54800" y="24191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📆 面談を予約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54800" y="27863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📢 お知らせ・時間割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54800" y="31535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📔 宿題・学習記録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54800" y="35207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🎁 ごきょうだい紹介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54800" y="3887999"/>
            <a:ext cx="1622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0" bIns="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🍀 休会・退会のご相談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54800" y="4248000"/>
            <a:ext cx="16224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電話を減らす＋継続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2000" y="4536000"/>
            <a:ext cx="9043200" cy="90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00" y="4590000"/>
            <a:ext cx="8755200" cy="79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参考｜KUMON（友だち2,525万人）の実機リッチメニュー（2026-09-15取得）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・タブ切替を実装（「今すぐチェック！」／「インフォメーション」）＝本提案の3タブ構成と同じ思想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・左上に「学年別」を置いている＝タブ①を学年起点にする設計の裏付けになる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・ただし診断も体験予約も無く、「詳しくはこちら→」でWebへ送るだけ＝LINE内で完結していない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証跡｜_data/lineoa_competitors/KUMON_リッチメニュー_20260915.png。退会導線を隠す塾より、相談を受け止める塾のほうが継続する（S27の予兆検知と連動）</a:t>
            </a: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構築⑤｜生徒情報との連携　配信を「うちの子の話」に変える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一斉配信のLINEはブロックされる。「うちの子の話」をするLINEはブロックされない。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診断タグ＋在籍データを紐づけて、配信を1対1に近づける。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38000"/>
            <a:ext cx="2942400" cy="14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638000"/>
            <a:ext cx="2942400" cy="34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診断タグ（入会前）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070000"/>
            <a:ext cx="2726400" cy="90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・学年／動機／適性／温度の4軸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・友だち追加直後の4問で取得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・配信の出し分けはここから始まる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2400" y="1638000"/>
            <a:ext cx="2942400" cy="14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82400" y="1638000"/>
            <a:ext cx="2942400" cy="34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行動タグ（入会前）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0400" y="2070000"/>
            <a:ext cx="2726400" cy="90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・どのリッチメニューを押したか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・体験予約したか／来たか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・配信の未読が続いていないか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2800" y="1638000"/>
            <a:ext cx="2942400" cy="14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2800" y="1638000"/>
            <a:ext cx="2942400" cy="34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在籍データ（入会後）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0800" y="2070000"/>
            <a:ext cx="2726400" cy="90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・出席・欠席／振替の記録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・小テスト・定期テストの推移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・宿題の提出状況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203999"/>
            <a:ext cx="90432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何ができるようになるか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32000" y="3491999"/>
          <a:ext cx="9043200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6343200"/>
              </a:tblGrid>
              <a:tr h="275999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組み合わせ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配信の具体例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</a:tr>
              <a:tr h="275999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学年タグ × 季節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小5の保護者だけに「中学準備講座」を配信。小3には出さない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適性タグ × 事例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「質問が苦手」タグの家庭には、個別指導で伸びた事例だけを送る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75999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温度タグ × オファー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「今すぐ」「今学期中」タグだけに体験オファー。「情報収集だけ」には教育コンテンツのみ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在籍データ × レポート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毎月の出席・小テスト推移を保護者へ自動配信（S27の本丸）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76004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在籍データ × 予兆検知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欠席2回連続／宿題未提出／未読3週間で自動で声かけ（S27）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32000" y="5256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00" y="5292000"/>
            <a:ext cx="8755200" cy="503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③の在籍データ連携は、貴社の塾システム（Comiru等）との接続方式によって工数が変わります。初期は手動CSV取込から始め、運用が固まってからAPI連携に移行する進め方を推奨します。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API連携・通知メッセージは別途費用。★貴社が使用中の塾管理システムの確認が必要（要件定義で確定）</a:t>
            </a: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配信設計｜シナリオは2本だけ。未入会と、在籍中。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未入会の友だちには14日で体験予約へ。在籍生の保護者には毎月レポートで継続へ。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14日に寄せる理由は2つ：追加15日でアクティブ率が落ちる／後15日で他塾の指名検索が立つ。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31600" cy="34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シナリオA｜未入会の友だち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998000"/>
          <a:ext cx="4427999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015999"/>
                <a:gridCol w="900000"/>
                <a:gridCol w="720000"/>
              </a:tblGrid>
              <a:tr h="411428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配信内容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狙い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</a:tr>
              <a:tr h="411428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Day0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あいさつ＋30秒診断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属性取得・不安の先回り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全員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Day3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家庭でできる勉強法（塾に入らなくても役立つ）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信頼の貯金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全員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411428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Day5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費用のリアル（月謝＋講習費の年間総額）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費用不安の解消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全員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Day7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診断タイプ別の成績アップ事例 ＋ 体験オファー①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CV②へ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適性タグ別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411428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Day10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よくある不安Q&amp;A（断ったらどうなる／総額は）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最後の壁を外す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未予約のみ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32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Day14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次の定期テストからの逆算 ＋ 体験オファー②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締切で後押し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未予約のみ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43600" y="1620000"/>
            <a:ext cx="4431600" cy="34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シナリオB｜在籍生の保護者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43600" y="1998000"/>
          <a:ext cx="4427999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2015999"/>
                <a:gridCol w="900000"/>
                <a:gridCol w="720000"/>
              </a:tblGrid>
              <a:tr h="411428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marL="43200" marR="43200" marT="18000" marB="18000" anchor="ctr">
                    <a:solidFill>
                      <a:srgbClr val="ED7D31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配信内容</a:t>
                      </a:r>
                    </a:p>
                  </a:txBody>
                  <a:tcPr marL="43200" marR="43200" marT="18000" marB="18000" anchor="ctr">
                    <a:solidFill>
                      <a:srgbClr val="ED7D31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狙い</a:t>
                      </a:r>
                    </a:p>
                  </a:txBody>
                  <a:tcPr marL="43200" marR="43200" marT="18000" marB="18000" anchor="ctr">
                    <a:solidFill>
                      <a:srgbClr val="ED7D31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</a:t>
                      </a:r>
                    </a:p>
                  </a:txBody>
                  <a:tcPr marL="43200" marR="43200" marT="18000" marB="18000" anchor="ctr">
                    <a:solidFill>
                      <a:srgbClr val="ED7D31"/>
                    </a:solidFill>
                  </a:tcPr>
                </a:tc>
              </a:tr>
              <a:tr h="411428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毎月1回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学習レポート（出席・小テスト推移・講師コメント）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退会理由1位2位に効く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在籍生全員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学期ごと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面談のご案内（1タップ予約）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対面の接点を確保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在籍生全員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411428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随時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離脱予兆検知トリガー（欠席2連続・宿題未提出・未読3週間）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退会届の前に会話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該当者のみ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年2回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ごきょうだい・ご友人紹介のご案内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口コミ47%を動線化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継続6ヶ月以上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411428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進級期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次学年のコース案内（2〜3月）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継続率・単価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小6・中3以外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32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随時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欠席・振替のLINE受付（自動応答）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教室長の工数削減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在籍生全員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32000" y="5003999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14日のうち、売り込みは2通だけ（Day7・Day14）。残り12通は家庭で使える情報にする。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出口は2つ：予約した人は前日リマインドへ分岐、しなかった人はタグ別の定常配信（週1）へ合流。在籍生は入会と同時にシナリオBへ自動で移す</a:t>
            </a:r>
          </a:p>
        </p:txBody>
      </p: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実文面①｜未入会の友だちに届くLINE（そのまま使えます）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通知プレビューの冒頭15文字で開封が決まる。各通に必ず設計する。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Day3のように「塾に入らなくても役立つ話」を先に渡すから、Day7とDay14が効く。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30400" cy="30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61999"/>
            <a:ext cx="2930400" cy="28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通知プレビュー：テスト後、9割のご家庭がしない事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304000"/>
            <a:ext cx="2930400" cy="30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90000" tIns="90000" bIns="54000"/>
          <a:lstStyle/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◯◯塾の佐藤です📚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塾を探す前に、今日からできることを1つだけ。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テスト返却後、多くのご家庭は「点数を見て終わり」。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でも伸びる子の家庭は、返却当日にこれをやっています👇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✅ 間違いを「ケアレスミス」と「わからなかった」に仕分け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✅ 「わからなかった」だけ教科書の該当ページに付箋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✅ 週末に付箋の問題だけ解き直す（30分でOK）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これだけで次のテスト+10点は狙えます。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塾はその先、「付箋が多すぎて手に負えない」ときの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選択肢で大丈夫です😊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8400" y="1620000"/>
            <a:ext cx="2930400" cy="30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8400" y="1961999"/>
            <a:ext cx="2930400" cy="28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通知プレビュー：数学58点→82点になった話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8400" y="2304000"/>
            <a:ext cx="2930400" cy="30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90000" tIns="90000" bIns="54000"/>
          <a:lstStyle/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◯◯塾の佐藤です。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去年の今ごろ入塾した中2・Aさんの話をさせてください。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お母さまの最初のご相談は「本人にやる気がなくて。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塾に入れても無駄になりそうで怖い」でした。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診断は「質問が苦手なマイペース型」。集団ではなく個別で、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質問しなくても講師から聞きにいく形にしたところ——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📈 数学 58点 → 82点（3ヶ月後の期末）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やる気は「出させる」ものではなく、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「できた」の後についてきます。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🎓 今月の無料体験は残り◯枠。体験後の勧誘連絡は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しない決まりです。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▶ 空き日程を見る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44800" y="1620000"/>
            <a:ext cx="2930400" cy="30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4800" y="1961999"/>
            <a:ext cx="2930400" cy="28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通知プレビュー：次のテストまで、あと◯日です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4800" y="2304000"/>
            <a:ext cx="2930400" cy="30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90000" tIns="90000" bIns="54000"/>
          <a:lstStyle/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◯◯塾の佐藤です。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次の定期テストまで、あと約◯日。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塾をご検討中なら、今週がひとつの分かれ目です。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理由はシンプルで、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📅 入塾手続き→座席・講師調整→授業開始まで 約1週間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📅 テスト対策には最低3週間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かかるからです。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「まだ迷っている」段階でも大丈夫。体験だけ受けて、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テスト後にゆっくり決めたご家庭も多いです😊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▶ 今週の体験枠（残り◯席）を見る</a:t>
            </a:r>
          </a:p>
          <a:p>
            <a:pPr algn="l">
              <a:lnSpc>
                <a:spcPct val="128000"/>
              </a:lnSpc>
            </a:pPr>
            <a:r>
              <a:rPr sz="819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▶ LINEで質問だけしてみる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Day0（あいさつ＋診断）はS17、Day5・Day10はS21の設計表を参照。★事例の数値（58点→82点）は貴社の実績に差し替え、学年・期間・通塾回数の条件を併記すること（S09）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実文面②｜在籍生の保護者に届くLINE　退会理由の50.6%はここに効く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退会を検討した理由の2位3位は、どちらも「コミュニケーション不足」。合計50.6%。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成績が上がらないこと以上に、それについて何も言ってもらえないことで辞めている。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13600" cy="324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月次の学習レポート（毎月1回・自動）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4413600" cy="2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108000" tIns="100800" bIns="54000"/>
          <a:lstStyle/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【9月の学習レポート】◯◯さん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📘 出席 8/8回（皆勤です！）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✍️ 小テスト平均 72点 → 81点（前月比 +9点）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🔍 いま重点的に取り組んでいる単元：一次関数の利用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💬 教室長より：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応用問題で手が止まる場面が減ってきました。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10月は文章題の読み取りを重点的に進めます。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ご不明な点があれば、このトークにそのまま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ご返信ください📩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4572000"/>
            <a:ext cx="4413600" cy="5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90000" tIns="36000" bIns="36000"/>
          <a:lstStyle/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退会検討理由 1位「成績が上がらない」44.6%／2位「保護者と講師のコミュニケーション不足」27.7% に同時に効く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1600" y="1620000"/>
            <a:ext cx="4413600" cy="324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離脱予兆検知トリガー（該当時のみ・自動）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1600" y="1980000"/>
            <a:ext cx="4413600" cy="2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108000" tIns="100800" bIns="54000"/>
          <a:lstStyle/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◯◯さんのお母さま、教室長の佐藤です。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今月お休みが続いていたので、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少し気になってご連絡しました🍀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ご家庭やお子さまのご様子で、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変わったことはありませんか？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「部活が忙しい」「曜日が合わない」「少し疲れている」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——どれもよくあることで、曜日変更やコマ数の調整で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解決できる場合が多いです。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よろしければ15分だけ、お話を聞かせてください。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▶ 面談の空き時間を見る　▶ このままLINEで相談する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1600" y="4572000"/>
            <a:ext cx="4413600" cy="5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90000" tIns="36000" bIns="36000"/>
          <a:lstStyle/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実際に辞めた理由の1位は「子どもが塾に行くことを嫌がった」27%。突然ではなく、必ず欠席という予兆が出る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183999"/>
            <a:ext cx="90432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予兆検知のトリガー（4つ）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436000"/>
            <a:ext cx="2179800" cy="45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1600" bIns="2160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欠席が2回連続</a:t>
            </a:r>
          </a:p>
          <a:p>
            <a:pPr algn="ctr">
              <a:lnSpc>
                <a:spcPct val="115000"/>
              </a:lnSpc>
            </a:pPr>
            <a:r>
              <a:rPr sz="8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曜日・時間が合っていない可能性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9800" y="5436000"/>
            <a:ext cx="2179800" cy="45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1600" bIns="2160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宿題の未提出が続く</a:t>
            </a:r>
          </a:p>
          <a:p>
            <a:pPr algn="ctr">
              <a:lnSpc>
                <a:spcPct val="115000"/>
              </a:lnSpc>
            </a:pPr>
            <a:r>
              <a:rPr sz="8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量が合っていない／つまずいている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7600" y="5436000"/>
            <a:ext cx="2179800" cy="45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1600" bIns="2160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配信の未読が3週間</a:t>
            </a:r>
          </a:p>
          <a:p>
            <a:pPr algn="ctr">
              <a:lnSpc>
                <a:spcPct val="115000"/>
              </a:lnSpc>
            </a:pPr>
            <a:r>
              <a:rPr sz="8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関心が薄れている／保護者が忙しい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5400" y="5436000"/>
            <a:ext cx="2179800" cy="45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1600" bIns="2160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小テストが2回連続で下降</a:t>
            </a:r>
          </a:p>
          <a:p>
            <a:pPr algn="ctr">
              <a:lnSpc>
                <a:spcPct val="115000"/>
              </a:lnSpc>
            </a:pPr>
            <a:r>
              <a:rPr sz="8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単元のつまずきが蓄積している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出典｜POPER「Comiru」保護者と学習塾の意識調査 2022年（保護者300人）／DeltaX「塾選」退塾に関する調査 2024年（退塾経験のある保護者65人）</a:t>
            </a:r>
          </a:p>
        </p:txBody>
      </p:sp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AF94-39A6-ED70-5918-C4DFB093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歩留まり①｜体験予約の「来ない」を減らす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予約の約20%が体験に来ない。ここは仕組みだけで戻せる区間。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前日リマインドで、持ち物・アクセス・変更手段の3つの不安を先につぶす。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38000"/>
            <a:ext cx="5256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638000"/>
            <a:ext cx="1224000" cy="46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予約完了 直後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000" y="1638000"/>
            <a:ext cx="21240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予約内容の確認＋カレンダー登録リンク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0" y="1638000"/>
            <a:ext cx="1655999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その場で不安を残さない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178000"/>
            <a:ext cx="5256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2178000"/>
            <a:ext cx="1224000" cy="46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前々日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000" y="2178000"/>
            <a:ext cx="21240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担当講師の紹介（顔写真・ひとこと）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0" y="2178000"/>
            <a:ext cx="1655999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誰に会うか分かると欠席が減る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718000"/>
            <a:ext cx="5256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000" y="2718000"/>
            <a:ext cx="1224000" cy="46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前日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000" y="2718000"/>
            <a:ext cx="21240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持ち物・アクセス・日程変更の案内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0" y="2718000"/>
            <a:ext cx="1655999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当日朝の「行くのやめようか」を防ぐ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258000"/>
            <a:ext cx="5256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2000" y="3258000"/>
            <a:ext cx="1224000" cy="46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当日 2時間前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000" y="3258000"/>
            <a:ext cx="21240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「お待ちしています」の短い一言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0" y="3258000"/>
            <a:ext cx="1655999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最後のひと押し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798000"/>
            <a:ext cx="5256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2000" y="3798000"/>
            <a:ext cx="1224000" cy="46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翌日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000" y="3798000"/>
            <a:ext cx="21240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お礼＋診断結果の再送＋相談導線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0" y="3798000"/>
            <a:ext cx="1655999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断る自由を残したまま次へ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000" y="1638000"/>
            <a:ext cx="36360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前日リマインドの実文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32000" y="1890000"/>
            <a:ext cx="3643199" cy="201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58000" y="1980000"/>
            <a:ext cx="3384000" cy="187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【明日◯時〜】体験授業のご確認です😊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◯◯塾 △△教室（地図はこちら▼）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✏️ 持ち物：筆記用具だけでOK（教材はご用意します）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🚲 駐輪場：教室裏にあります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👪 保護者さまは「見学」でも「面談だけ」でも大丈夫です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ご都合が変わったら、このトークに「変更」と送って
ください。1タップで別日程をご案内します
（キャンセル料はありません）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2000" y="4031999"/>
            <a:ext cx="3643199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90000" tIns="43200" bIns="43200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期待効果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予約→体験の実施率　80% → 92%</a:t>
            </a:r>
          </a:p>
          <a:p>
            <a:pPr algn="l"/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弊社支援実績レンジ（保守置き）。★社内数値で確定させる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32000" y="4932000"/>
            <a:ext cx="3643199" cy="8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0000" y="4986000"/>
            <a:ext cx="3420000" cy="75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「キャンセル料はありません」を必ず書く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保護者が体験をためらう理由に、断りにくさがある（※比率データは無く一般論）。変更・キャンセルの自由を明示したほうが、結果として実施率は上がる。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無断キャンセルは「行く気がない」のではなく「思い出せない・持ち物が不安・変更方法が分からない」で起きる</a:t>
            </a:r>
          </a:p>
        </p:txBody>
      </p:sp>
    </p:spTree>
    <p:extLst>
      <p:ext uri="{BB962C8B-B14F-4D97-AF65-F5344CB8AC3E}">
        <p14:creationId xmlns:p14="http://schemas.microsoft.com/office/powerpoint/2010/main" val="2957158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1E7E9-7412-46E6-C9BD-3E3A30E4E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配信設計｜年間の企画カレンダー　ピークではなく「26日前」に動く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検索の山（Googleトレンド実測）から逆算して、仕込みを始める日を決める。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企画投稿は月1〜2本。その月に保護者が何を考えているかに合わせる。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380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6380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5999" y="1638000"/>
            <a:ext cx="1944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新学年の準備が動き出す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1999" y="1638000"/>
            <a:ext cx="2951999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「塾」ピーク2/8の26日前＝1/13から仕込み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2000" y="1638000"/>
            <a:ext cx="2880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小5・中2の保護者へ「次学年で変わること」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22212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000" y="22212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2-3月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5999" y="2221200"/>
            <a:ext cx="1944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入会の最大期／春期講習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1999" y="2221200"/>
            <a:ext cx="2951999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受験3種のピークも1月中旬〜2月上旬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2000" y="2221200"/>
            <a:ext cx="2880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新学年スタート応援。春期講習は夏の1/3規模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28044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2000" y="28044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4-5月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5999" y="2804400"/>
            <a:ext cx="1944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最初の定期テスト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1999" y="2804400"/>
            <a:ext cx="2951999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中間テストで成績不安が顕在化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2000" y="2804400"/>
            <a:ext cx="2880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「テスト後、9割の家庭がしない事」（S22 Day3）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3876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000" y="33876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5999" y="3387600"/>
            <a:ext cx="1944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夏期講習の仕込み開始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1999" y="3387600"/>
            <a:ext cx="2951999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夏期講習ピーク7/12の26日前＝6/16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000" y="3387600"/>
            <a:ext cx="2880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年間最大の商戦。ここを外すと1年が変わる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39708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2000" y="39708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7-8月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5999" y="3970800"/>
            <a:ext cx="1944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夏期講習ピーク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1999" y="3970800"/>
            <a:ext cx="2951999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冬期・春期の3〜5倍の規模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2000" y="3970800"/>
            <a:ext cx="2880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夏の学習計画・自由研究・受験生の夏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45540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000" y="45540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9-10月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5999" y="4554000"/>
            <a:ext cx="1944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下半期スタート／退会注意期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1999" y="4554000"/>
            <a:ext cx="2951999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部活引退後の8〜10月は退会ピークの1つ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2000" y="4554000"/>
            <a:ext cx="2880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予兆検知を強める月。面談オファーを厚く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000" y="5137200"/>
            <a:ext cx="9043200" cy="52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2000" y="5137200"/>
            <a:ext cx="936000" cy="52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11-12月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75999" y="5137200"/>
            <a:ext cx="1944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冬期講習・受験直前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1999" y="5137200"/>
            <a:ext cx="2951999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冬期講習は12月下旬がピーク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2000" y="5137200"/>
            <a:ext cx="2880000" cy="52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受験生は直前期、非受験生は「来年こそ」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Googleトレンド（日本・2026年年初来・週次／_data/trends/教育塾/）＋前後検索の26日（S11）。退会ピーク（3月・8〜10月）は業界推計値。★貴社の入会・退会の月別実績が入れば、この表を実データで置き換える</a:t>
            </a:r>
          </a:p>
        </p:txBody>
      </p:sp>
    </p:spTree>
    <p:extLst>
      <p:ext uri="{BB962C8B-B14F-4D97-AF65-F5344CB8AC3E}">
        <p14:creationId xmlns:p14="http://schemas.microsoft.com/office/powerpoint/2010/main" val="2756826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5F51C-1549-19C8-A509-C77C3C8B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配信設計｜通知メッセージ　電話番号だけで届く、塾と相性のいい機能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友だち未追加でも、電話番号があればLINEにメッセージを届けられる（別途費用）。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塾は在籍生の電話番号を持っている。既存リストをLINEへ移す最短の導線になる。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5903999" cy="66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655999"/>
            <a:ext cx="2015999" cy="66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0" bIns="0"/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既存の在籍生リストをLINEへ移行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6000" y="1710000"/>
            <a:ext cx="2664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紙・電話・メールで連絡している保護者をLINEに集約。以後の連絡コストが下がる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2000" y="1710000"/>
            <a:ext cx="972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在籍生の保護者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411999"/>
            <a:ext cx="5903999" cy="66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2411999"/>
            <a:ext cx="2015999" cy="666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0" bIns="0"/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休会・退会した家庭への再接触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6000" y="2466000"/>
            <a:ext cx="2664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「その後いかがですか」の一言。塾は再入会が起きやすい業態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2000" y="2466000"/>
            <a:ext cx="972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過去の在籍者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168000"/>
            <a:ext cx="5903999" cy="66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000" y="3168000"/>
            <a:ext cx="2015999" cy="666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0" bIns="0"/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資料請求だけで止まっている層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6000" y="3222000"/>
            <a:ext cx="2664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体験に進まなかった人へ、季節講習のタイミングで再案内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2000" y="3222000"/>
            <a:ext cx="972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過去の問い合わせ者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924000"/>
            <a:ext cx="5903999" cy="66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2000" y="3924000"/>
            <a:ext cx="2015999" cy="66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0" bIns="0"/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兄弟姉妹への案内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6000" y="3978000"/>
            <a:ext cx="2664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上の子が卒塾した家庭に、下の子の学年到達時に案内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2000" y="3978000"/>
            <a:ext cx="972000" cy="55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卒塾家庭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80000" y="1655999"/>
            <a:ext cx="29952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6000" y="1728000"/>
            <a:ext cx="2736000" cy="129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塾にとっての価値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塾は在籍生・卒塾生の電話番号を必ず持っている。この資産をLINEに変えられるのが通知メッセージ。</a:t>
            </a:r>
          </a:p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特に「卒塾した家庭の下の子」は、獲得コストゼロで入会率が最も高い層（紹介経由70〜80%と同じ構造）。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80000" y="3203999"/>
            <a:ext cx="2995200" cy="14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6000" y="3276000"/>
            <a:ext cx="2736000" cy="129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⚠ 注意点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・別途費用（アカウント種別・配信数による）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・「知らないのに届いた」と受け取られない文面設計が要る</a:t>
            </a:r>
          </a:p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・在籍生・過去の問い合わせ者など、関係性が明確な相手に限定する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80000" y="4752000"/>
            <a:ext cx="2995200" cy="90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6000" y="4806000"/>
            <a:ext cx="2736000" cy="79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導入の優先度</a:t>
            </a:r>
          </a:p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初期は不要。まず在籍生をLINEに集めて運用を固め、リストが溜まってから検討するのが安全。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通知メッセージは別途費用。利用可否・単価はLINEヤフーの規定により変動するため、要件定義時に最新条件を確認する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774396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2D0F-DE07-83AE-E053-ED6184F3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歩留まり②｜退会防止　退会は「突然」ではない。必ず予兆がある。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退会検討理由の1位は「成績が上がらない」44.6%。2位3位のコミュニケーション不足が合計50.6%。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成績が上がらないこと以上に、それについて説明がないことで辞めている。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638000"/>
            <a:ext cx="55800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退会を検討した理由（POPER 2022年・保護者300人）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44000"/>
            <a:ext cx="2376000" cy="39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成績が上がらない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0" y="2016000"/>
            <a:ext cx="3024000" cy="251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2016000"/>
            <a:ext cx="2697408" cy="251999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1408" y="2016000"/>
            <a:ext cx="7200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44.6%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430000"/>
            <a:ext cx="2376000" cy="39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保護者と講師のコミュニケーション不足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0" y="2502000"/>
            <a:ext cx="3024000" cy="251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000" y="2502000"/>
            <a:ext cx="1675296" cy="25199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296" y="2502000"/>
            <a:ext cx="7200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27.7%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2916000"/>
            <a:ext cx="2376000" cy="39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子どもと講師のコミュニケーション不足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0" y="2988000"/>
            <a:ext cx="3024000" cy="251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000" y="2988000"/>
            <a:ext cx="1384991" cy="25199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8992" y="2988000"/>
            <a:ext cx="7200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22.9%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000" y="3456000"/>
            <a:ext cx="3384000" cy="413999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2位＋3位 ＝ 50.6%　コミュニケーション起因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3996000"/>
            <a:ext cx="59400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実際に辞めた理由（DeltaX「塾選」2024年・退塾経験のある保護者65人）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248000"/>
            <a:ext cx="1404000" cy="5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27%</a:t>
            </a:r>
          </a:p>
          <a:p>
            <a:pPr algn="ctr">
              <a:lnSpc>
                <a:spcPct val="115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子どもが塾に行くことを嫌がった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44000" y="4248000"/>
            <a:ext cx="1404000" cy="5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14%</a:t>
            </a:r>
          </a:p>
          <a:p>
            <a:pPr algn="ctr">
              <a:lnSpc>
                <a:spcPct val="115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部活・習い事と両立できなかった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6000" y="4248000"/>
            <a:ext cx="1404000" cy="5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10%</a:t>
            </a:r>
          </a:p>
          <a:p>
            <a:pPr algn="ctr">
              <a:lnSpc>
                <a:spcPct val="115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進路を変更した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68000" y="4248000"/>
            <a:ext cx="1404000" cy="5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10%</a:t>
            </a:r>
          </a:p>
          <a:p>
            <a:pPr algn="ctr">
              <a:lnSpc>
                <a:spcPct val="115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テストの点数が上がらなかった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2000" y="1638000"/>
            <a:ext cx="2923199" cy="21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0000" y="1710000"/>
            <a:ext cx="2700000" cy="19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早期退塾には予測因子がある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1年未満で退塾した家庭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・入塾理由が「友達が通っていた」26%（1年以上継続は3%）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・「入塾前に十分調べなかった」43%（1年以上継続は14%）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 入口の適合確認（S18の診断）が、そのまま継続率の施策になる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52000" y="3888000"/>
            <a:ext cx="2923199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成果の可視化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月1で学習レポートを自動配信。退会理由1位と2位に同時に効く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2000" y="4518000"/>
            <a:ext cx="2923199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予兆検知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欠席2連続・宿題未提出・未読3週間で自動声かけ→面談へ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2000" y="5148000"/>
            <a:ext cx="2923199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入口での適合確認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診断で「合う/合わない」を先に見せる（＝43%の予防）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5832000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退会を年5名防ぐ＝新規を5名多く獲得するのと同じ。しかも獲得コストはゼロ。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出典｜POPER「Comiru」保護者と学習塾の意識調査 2022年（n=300）／DeltaX「塾選」退塾に関する調査 2024年（n=65）。年間中途退会率10〜20%は業界推計値（公的統計なし）</a:t>
            </a:r>
          </a:p>
        </p:txBody>
      </p:sp>
    </p:spTree>
    <p:extLst>
      <p:ext uri="{BB962C8B-B14F-4D97-AF65-F5344CB8AC3E}">
        <p14:creationId xmlns:p14="http://schemas.microsoft.com/office/powerpoint/2010/main" val="22997255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6F07D-57DB-D005-AEF4-0353E12B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現場の工数｜教室長を「夕方の電話番」から解放する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塾の現場は夕方に全部が重なる。欠席連絡・授業準備・面談が同じ時間帯に集中する。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電話をLINEに逃がすだけで、浮いた時間を予兆の出た生徒との面談に回せる。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38000"/>
            <a:ext cx="4377600" cy="342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Before｜いまの夕方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051999"/>
            <a:ext cx="4377600" cy="50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3999" y="2124000"/>
            <a:ext cx="10440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16:00-17:00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000" y="2095199"/>
            <a:ext cx="2015999" cy="223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欠席連絡の電話が集中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2304000"/>
            <a:ext cx="2015999" cy="2088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授業準備が止まる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2609999"/>
            <a:ext cx="4377600" cy="50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3999" y="2681999"/>
            <a:ext cx="10440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17:00-19:00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0000" y="2653199"/>
            <a:ext cx="2015999" cy="223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授業開始。電話に出られない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0000" y="2861999"/>
            <a:ext cx="2015999" cy="2088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折り返しが溜まる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3167999"/>
            <a:ext cx="4377600" cy="50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3999" y="3239999"/>
            <a:ext cx="10440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19:00-21:00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0000" y="3211199"/>
            <a:ext cx="2015999" cy="223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授業と面談が重なる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3419999"/>
            <a:ext cx="2015999" cy="2088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保護者対応が後回しに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726000"/>
            <a:ext cx="4377600" cy="50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3999" y="3797999"/>
            <a:ext cx="10440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21:00-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0000" y="3769199"/>
            <a:ext cx="2015999" cy="223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折り返し電話・翌日準備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0000" y="3977999"/>
            <a:ext cx="2015999" cy="2088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残業が常態化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97600" y="1638000"/>
            <a:ext cx="4377600" cy="34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After｜LINE導入後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97600" y="2051999"/>
            <a:ext cx="4377600" cy="50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69600" y="2124000"/>
            <a:ext cx="10440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終日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5600" y="2095199"/>
            <a:ext cx="2015999" cy="223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欠席・振替はLINEで自動受付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5600" y="2304000"/>
            <a:ext cx="2015999" cy="2088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電話が鳴らない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97600" y="2609999"/>
            <a:ext cx="4377600" cy="50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69600" y="2681999"/>
            <a:ext cx="10440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終日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5600" y="2653199"/>
            <a:ext cx="2015999" cy="223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料金・持ち物・振替はKW自動応答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5600" y="2861999"/>
            <a:ext cx="2015999" cy="2088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24時間365日対応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97600" y="3167999"/>
            <a:ext cx="4377600" cy="50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69600" y="3239999"/>
            <a:ext cx="10440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授業時間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5600" y="3211199"/>
            <a:ext cx="2015999" cy="223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授業に集中できる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5600" y="3419999"/>
            <a:ext cx="2015999" cy="2088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折り返しが発生しない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97600" y="3726000"/>
            <a:ext cx="4377600" cy="50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169600" y="3797999"/>
            <a:ext cx="10440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浮いた時間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5600" y="3769199"/>
            <a:ext cx="2015999" cy="223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予兆の出た生徒の保護者と面談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5600" y="3977999"/>
            <a:ext cx="2015999" cy="2088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退会防止に直結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863600" y="2771999"/>
            <a:ext cx="180000" cy="3600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2000" y="4428000"/>
            <a:ext cx="90432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00" y="4482000"/>
            <a:ext cx="8755200" cy="68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工数削減を「時給換算」で語らない</a:t>
            </a:r>
          </a:p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削減額を人件費で計算すると額が小さく見え、論点もズレる。決裁者に効くのは「ピーク時に手が止まる」という現場の実感と、浮いた時間を退会防止の面談に回せるという接続。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2000" y="5328000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電話を減らすこと自体が目的ではない。空いた時間を、辞めそうな生徒との面談に使えることが価値。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欠席・振替のLINE受付、キーワード自動応答は費用内（無償付帯）。日程調整の自動化は要件により別途</a:t>
            </a:r>
          </a:p>
        </p:txBody>
      </p:sp>
    </p:spTree>
    <p:extLst>
      <p:ext uri="{BB962C8B-B14F-4D97-AF65-F5344CB8AC3E}">
        <p14:creationId xmlns:p14="http://schemas.microsoft.com/office/powerpoint/2010/main" val="263812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F5926-064C-E9E2-1BF7-7405461E3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成果の見方｜友だち数をKPIにしない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371万人集めても配信を止めればゼロ（S12）。友だち数は成果ではない。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見るのは「体験予約」「入会率」「継続率」の3つと、その先の粗利だけ。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655999"/>
          <a:ext cx="9043199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/>
                <a:gridCol w="2951999"/>
                <a:gridCol w="4939200"/>
              </a:tblGrid>
              <a:tr h="288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区分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指標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見方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</a:tr>
              <a:tr h="288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主KPI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体験予約数／体験予約CPA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LINE経由と広告経由を分けて見る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主KPI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体験→入会率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診断を通った人と通らない人で比較する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88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主KPI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年間の中途退会率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予兆検知の声かけ→面談→継続の歩留まりも見る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副KPI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予約→体験の実施率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前日リマインドの効果はここに出る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88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副KPI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診断の完了率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低ければ設問が重い。4問を超えていないか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副KPI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配信の開封率・ブロック率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ブロック率が上がったら配信頻度か内容の問題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88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見ない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友だち数（単体）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増やすだけなら広告で買える。成果と相関しない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2000" y="4103999"/>
            <a:ext cx="90432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見る周期を分ける（短期の数字で施策を殺さない）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4392000"/>
            <a:ext cx="29424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月次で見る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体験予約数・予約CPA・実施率・診断完了率・ブロック率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2400" y="4392000"/>
            <a:ext cx="29424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四半期で見る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体験→入会率・退会率・紹介経由の入会数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2800" y="4392000"/>
            <a:ext cx="29424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年次で見る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生徒1名あたりの生涯粗利（LTV×粗利率）と、投下費用の回収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5220000"/>
            <a:ext cx="90432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256000"/>
            <a:ext cx="87552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継続率は四半期で見る。塾の退会は年度末（3月）と部活引退後（8〜10月）に集中するため、月次の増減だけを見ると施策の効果を読み違える。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レポートは月次の定例会で共有（費用内）。GA連携・LINE分析の数値は弊社側で取得して提出する</a:t>
            </a:r>
          </a:p>
        </p:txBody>
      </p:sp>
    </p:spTree>
    <p:extLst>
      <p:ext uri="{BB962C8B-B14F-4D97-AF65-F5344CB8AC3E}">
        <p14:creationId xmlns:p14="http://schemas.microsoft.com/office/powerpoint/2010/main" val="3556196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F9E9-3239-4F30-04FA-62A41B30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費用プラン｜6ヶ月〜・税抜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アカウント構築から配信の実務まで、下記はすべて費用内（無償付帯）。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貴社の運用体制に合わせて、①〜④のいずれかを選んでいただきます。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38000"/>
            <a:ext cx="21798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638000"/>
            <a:ext cx="2179800" cy="34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コンサル基本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2051999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 10万円〜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304000"/>
            <a:ext cx="2035800" cy="68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月 20万円（3投稿）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30万円（5投稿）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50万円（9投稿）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3060000"/>
            <a:ext cx="20358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企画から配信まで全部任せたい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9800" y="1638000"/>
            <a:ext cx="21798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19800" y="1638000"/>
            <a:ext cx="2179800" cy="34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初動設計＋運用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1800" y="2051999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 10万円〜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1800" y="2304000"/>
            <a:ext cx="2035800" cy="68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月 5万円〜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1800" y="3060000"/>
            <a:ext cx="20358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構築は任せて、配信は自社で回したい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35600" y="1565999"/>
            <a:ext cx="827999" cy="18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9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推奨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7600" y="1638000"/>
            <a:ext cx="21798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07600" y="1638000"/>
            <a:ext cx="2179800" cy="34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運用代行・効率改善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9600" y="2051999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 10万円〜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9600" y="2304000"/>
            <a:ext cx="2035800" cy="68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月 0万円〜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（アカウント費のみ）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9600" y="3060000"/>
            <a:ext cx="20358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既にアカウントがあり、改善だけ頼みたい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5400" y="1638000"/>
            <a:ext cx="21798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95400" y="1638000"/>
            <a:ext cx="2179800" cy="34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成果報酬型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7400" y="2051999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 5万円〜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7400" y="2304000"/>
            <a:ext cx="2035800" cy="68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単価 × 成果数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＋ 固定費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7400" y="3060000"/>
            <a:ext cx="20358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成果に連動させたい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3708000"/>
            <a:ext cx="90432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無償付帯（費用内で実施）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978000"/>
            <a:ext cx="1357200" cy="30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>
              <a:lnSpc>
                <a:spcPct val="110000"/>
              </a:lnSpc>
            </a:pPr>
            <a:r>
              <a:rPr sz="8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 アカウント開設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69200" y="3978000"/>
            <a:ext cx="1357200" cy="30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>
              <a:lnSpc>
                <a:spcPct val="110000"/>
              </a:lnSpc>
            </a:pPr>
            <a:r>
              <a:rPr sz="8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 プロフィール設計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06399" y="3978000"/>
            <a:ext cx="1357200" cy="30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>
              <a:lnSpc>
                <a:spcPct val="110000"/>
              </a:lnSpc>
            </a:pPr>
            <a:r>
              <a:rPr sz="8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 リッチメニュー制作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43599" y="3978000"/>
            <a:ext cx="1357200" cy="30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>
              <a:lnSpc>
                <a:spcPct val="110000"/>
              </a:lnSpc>
            </a:pPr>
            <a:r>
              <a:rPr sz="8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 あいさつメッセージ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0799" y="3978000"/>
            <a:ext cx="1357200" cy="30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>
              <a:lnSpc>
                <a:spcPct val="110000"/>
              </a:lnSpc>
            </a:pPr>
            <a:r>
              <a:rPr sz="8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 初期アンケート（診断）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7999" y="3978000"/>
            <a:ext cx="1357200" cy="30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>
              <a:lnSpc>
                <a:spcPct val="110000"/>
              </a:lnSpc>
            </a:pPr>
            <a:r>
              <a:rPr sz="8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 KW自動応答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4338000"/>
            <a:ext cx="1357200" cy="30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>
              <a:lnSpc>
                <a:spcPct val="110000"/>
              </a:lnSpc>
            </a:pPr>
            <a:r>
              <a:rPr sz="8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 ステップ配信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69200" y="4338000"/>
            <a:ext cx="1357200" cy="30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>
              <a:lnSpc>
                <a:spcPct val="110000"/>
              </a:lnSpc>
            </a:pPr>
            <a:r>
              <a:rPr sz="8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 セグメント配信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06399" y="4338000"/>
            <a:ext cx="1357200" cy="30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>
              <a:lnSpc>
                <a:spcPct val="110000"/>
              </a:lnSpc>
            </a:pPr>
            <a:r>
              <a:rPr sz="8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 タグ管理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3599" y="4338000"/>
            <a:ext cx="1357200" cy="30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>
              <a:lnSpc>
                <a:spcPct val="110000"/>
              </a:lnSpc>
            </a:pPr>
            <a:r>
              <a:rPr sz="8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 GAレポート連携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0799" y="4338000"/>
            <a:ext cx="1357200" cy="30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>
              <a:lnSpc>
                <a:spcPct val="110000"/>
              </a:lnSpc>
            </a:pPr>
            <a:r>
              <a:rPr sz="8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 クリエイティブ制作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17999" y="4338000"/>
            <a:ext cx="1357200" cy="30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>
              <a:lnSpc>
                <a:spcPct val="110000"/>
              </a:lnSpc>
            </a:pPr>
            <a:r>
              <a:rPr sz="85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✓ 月次定例会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000" y="4823999"/>
            <a:ext cx="90432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00" y="4878000"/>
            <a:ext cx="8755200" cy="79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別途費用（誤解が起きやすいので明記します）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・LP離脱防止（Sitelead）：初期 10万円 ＋ 月 5万円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・通知メッセージ／API連携（塾管理システムとの接続）：要件により個別見積</a:t>
            </a:r>
          </a:p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・配信ツール（Lstep または Hachidori のどちらか一方を要件定義で選定）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契約は6ヶ月〜。塾の商戦（2〜3月／7〜8月）を1サイクル含む期間で効果を見ていただくため。4ヶ月目以降の月額は上記のとおり継続します</a:t>
            </a:r>
          </a:p>
        </p:txBody>
      </p:sp>
    </p:spTree>
    <p:extLst>
      <p:ext uri="{BB962C8B-B14F-4D97-AF65-F5344CB8AC3E}">
        <p14:creationId xmlns:p14="http://schemas.microsoft.com/office/powerpoint/2010/main" val="2012545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B6A2-11F2-64AD-4DDE-1248419C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導入スケジュール｜次の商戦から逆算して着手する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構築に約1.5ヶ月。そこから14日ステップが一周して、ようやく数字が動き出す。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「塾」ピーク2/8なら12月着手、夏期講習7/12なら5月着手が目安。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evron 4"/>
          <p:cNvSpPr/>
          <p:nvPr/>
        </p:nvSpPr>
        <p:spPr>
          <a:xfrm>
            <a:off x="432000" y="1655999"/>
            <a:ext cx="2179800" cy="54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72000" tIns="0" bIns="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1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要件定義・設計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250000"/>
            <a:ext cx="2179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2週間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501999"/>
            <a:ext cx="2179800" cy="18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2574000"/>
            <a:ext cx="1963800" cy="172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・現状ヒアリング（在籍数・月謝・退会率・広告実績）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・CV3段とタグ設計の確定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・塾管理システムとの連携方式の決定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・配信ツールの選定（Lstep / Hachidori）</a:t>
            </a:r>
          </a:p>
        </p:txBody>
      </p:sp>
      <p:sp>
        <p:nvSpPr>
          <p:cNvPr id="9" name="Chevron 8"/>
          <p:cNvSpPr/>
          <p:nvPr/>
        </p:nvSpPr>
        <p:spPr>
          <a:xfrm>
            <a:off x="2719800" y="1655999"/>
            <a:ext cx="2179800" cy="540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72000" tIns="0" bIns="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2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構築・制作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9800" y="2250000"/>
            <a:ext cx="2179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3〜4週間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9800" y="2501999"/>
            <a:ext cx="2179800" cy="18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7800" y="2574000"/>
            <a:ext cx="1963800" cy="172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・アカウント開設・プロフィール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・30秒診断（4問）の設計と実装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・リッチメニュー3タブ×6枠の制作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・14日ステップ（14通）の原稿・実装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・LP離脱防止の設置</a:t>
            </a:r>
          </a:p>
        </p:txBody>
      </p:sp>
      <p:sp>
        <p:nvSpPr>
          <p:cNvPr id="13" name="Chevron 12"/>
          <p:cNvSpPr/>
          <p:nvPr/>
        </p:nvSpPr>
        <p:spPr>
          <a:xfrm>
            <a:off x="5007600" y="1655999"/>
            <a:ext cx="2179800" cy="540000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72000" tIns="0" bIns="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3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テスト配信・調整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7600" y="2250000"/>
            <a:ext cx="2179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1〜2週間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600" y="2501999"/>
            <a:ext cx="2179800" cy="18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5600" y="2574000"/>
            <a:ext cx="1963800" cy="172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・社内テスト配信（文面・分岐の確認）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・法務確認（S09の表現チェック）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・既存の在籍生への案内・友だち化</a:t>
            </a:r>
          </a:p>
        </p:txBody>
      </p:sp>
      <p:sp>
        <p:nvSpPr>
          <p:cNvPr id="17" name="Chevron 16"/>
          <p:cNvSpPr/>
          <p:nvPr/>
        </p:nvSpPr>
        <p:spPr>
          <a:xfrm>
            <a:off x="7295400" y="1655999"/>
            <a:ext cx="2179800" cy="540000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72000" tIns="0" bIns="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4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本格運用・改善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5400" y="2250000"/>
            <a:ext cx="2179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継続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5400" y="2501999"/>
            <a:ext cx="2179800" cy="18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3400" y="2574000"/>
            <a:ext cx="1963800" cy="172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・企画配信（月1〜2本）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・セグメント配信・予兆検知の稼働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・月次レポート＋定例会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・四半期で入会率・退会率を検証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4536000"/>
            <a:ext cx="90432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逆算のしかた（S10の検索ピークから）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4823999"/>
            <a:ext cx="9043200" cy="43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08000" tIns="0" bIns="0"/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2〜3月の入会期を取りにいく　→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12月着手 → 1月中旬に配信開始（「塾」ピーク2/8の26日前）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5309999"/>
            <a:ext cx="9043200" cy="43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08000" tIns="0" bIns="0"/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7〜8月の夏期講習を取りにいく　→　</a:t>
            </a: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5月着手 → 6月中旬に配信開始（夏期講習ピーク7/12の26日前）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在籍生の友だち化（Phase 3）は初月から効く。新規獲得の数字が動くのはPhase 4に入ってから</a:t>
            </a:r>
          </a:p>
        </p:txBody>
      </p:sp>
    </p:spTree>
    <p:extLst>
      <p:ext uri="{BB962C8B-B14F-4D97-AF65-F5344CB8AC3E}">
        <p14:creationId xmlns:p14="http://schemas.microsoft.com/office/powerpoint/2010/main" val="3845543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BDC7-BB8D-566B-5273-6DCD8BE0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体制｜誰が何をやるか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配信の実務（原稿・制作・設定・分析）は弊社が持ちます。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貴社にお願いするのは、教室の情報と、月1回の定例会だけです。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655999"/>
            <a:ext cx="21798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DYM｜運用統括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106000"/>
            <a:ext cx="1963800" cy="11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・全体設計・KPI管理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・月次レポートと改善提案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・定例会の進行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98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19800" y="1655999"/>
            <a:ext cx="21798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DYM｜配信担当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7800" y="2106000"/>
            <a:ext cx="1963800" cy="11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・配信原稿の作成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・セグメント・ステップの設定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・予兆検知トリガーの管理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76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07600" y="1655999"/>
            <a:ext cx="21798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DYM｜クリエイティブ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5600" y="2106000"/>
            <a:ext cx="1963800" cy="11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・リッチメニュー制作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・配信画像・バナー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・LP離脱防止の設置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54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95400" y="1655999"/>
            <a:ext cx="21798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貴社｜教室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3400" y="2106000"/>
            <a:ext cx="1963800" cy="11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・教室の情報提供（実績・講師）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・体験・面談の実施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・月1回の定例会にご参加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3456000"/>
            <a:ext cx="90432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進め方のリズム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743999"/>
            <a:ext cx="9043200" cy="4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3999" y="3815999"/>
            <a:ext cx="9360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毎月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4000" y="3743999"/>
            <a:ext cx="77760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配信企画の提案（弊社）→ 貴社confirm → 配信 → レポート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4229999"/>
            <a:ext cx="90432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3999" y="4301999"/>
            <a:ext cx="9360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毎月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4000" y="4229999"/>
            <a:ext cx="77760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定例会（30〜60分）：先月の数字の振り返りと翌月の企画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" y="4715999"/>
            <a:ext cx="9043200" cy="4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3999" y="4787999"/>
            <a:ext cx="9360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四半期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4000" y="4715999"/>
            <a:ext cx="77760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入会率・退会率の検証と、施策の組み替え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5202000"/>
            <a:ext cx="90432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3999" y="5273999"/>
            <a:ext cx="9360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随時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84000" y="5202000"/>
            <a:ext cx="77760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LINEトークで質問・相談（専用グループ）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5723999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貴社の負担は「教室の情報」と「月1回の定例会」だけ。配信の実務は弊社が持ちます。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体制の人数・担当者名は契約時に確定します。定例会はオンライン可</a:t>
            </a:r>
          </a:p>
        </p:txBody>
      </p:sp>
    </p:spTree>
    <p:extLst>
      <p:ext uri="{BB962C8B-B14F-4D97-AF65-F5344CB8AC3E}">
        <p14:creationId xmlns:p14="http://schemas.microsoft.com/office/powerpoint/2010/main" val="1482779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飛び道具｜他塾がやっていない企画（ご参考）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競合8社のLINEはすべて「予約の受け皿」で止まっている（S12）。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以下は地域で最初の1社になれる企画案です。優先度はDYM見解。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90432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999" y="1781999"/>
            <a:ext cx="432000" cy="43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4000" y="1728000"/>
            <a:ext cx="26640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学年別・逆算カレンダー配信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000" y="1728000"/>
            <a:ext cx="56160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小3〜中2の保護者へ、学年ごとに「この時期にやるべきこと」を毎月配信。入塾学年の山（中受小4／他小5-6）の1学年前から接点を持つ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430000"/>
            <a:ext cx="90432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3999" y="2556000"/>
            <a:ext cx="432000" cy="432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000" y="2502000"/>
            <a:ext cx="26640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テスト返却週のピンポイント配信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0000" y="2502000"/>
            <a:ext cx="56160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定期テストの返却時期に合わせて「点数の見方」を配信。中学生の入塾きっかけ1位は「成績が不安」52.4%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203999"/>
            <a:ext cx="90432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3999" y="3329999"/>
            <a:ext cx="432000" cy="43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000" y="3275999"/>
            <a:ext cx="26640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きょうだい・卒塾生への通知メッセージ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0000" y="3275999"/>
            <a:ext cx="56160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卒塾家庭の下の子が該当学年に達したタイミングで案内。紹介経由の入会率は70〜80%超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977999"/>
            <a:ext cx="90432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3999" y="4103999"/>
            <a:ext cx="432000" cy="43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4000" y="4049999"/>
            <a:ext cx="26640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保護者向け「進路のきほん」ミニ講座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0" y="4049999"/>
            <a:ext cx="56160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LINEで完結する3分×5回の配信講座。決定関与は保護者80.5%。保護者自身の知識不足を埋める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4752000"/>
            <a:ext cx="90432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3999" y="4878000"/>
            <a:ext cx="432000" cy="432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000" y="4823999"/>
            <a:ext cx="26640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AIによる学習相談ボット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0000" y="4823999"/>
            <a:ext cx="56160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24時間の質問対応。ただし塾は「先生」で選ばれる業界なので、有人対応の価値を下げないよう設計が要る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5580000"/>
            <a:ext cx="9043200" cy="3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5598000"/>
            <a:ext cx="8755200" cy="32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◎＝根拠データあり・すぐ実行できる　／　○＝条件付きで有効　／　△＝この業界では優先度低（DYM見解）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優先度の判定はDYM見解。根拠データはS03〜S12および巻末の出典一覧を参照</a:t>
            </a:r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第2の提案軸｜塾は広告より口コミで選ばれる。そこを動線にする。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塾を知ったきっかけ1位は「知人・友人の口コミ」47.0%。塾の公式サイトより強い。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しかも紹介経由の入会率は70〜80%超。Web広告経由の40〜50%と30pt以上違う。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638000"/>
            <a:ext cx="48600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塾を知ったきっかけ（POPER「Comiru」2022年・保護者300人）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25999"/>
            <a:ext cx="2015999" cy="39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知人・友人の口コミ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0" y="1998000"/>
            <a:ext cx="2304000" cy="251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20000" y="1998000"/>
            <a:ext cx="2165760" cy="251999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9760" y="1998000"/>
            <a:ext cx="7200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47.0%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430000"/>
            <a:ext cx="2015999" cy="39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インターネット上の口コミ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0" y="2502000"/>
            <a:ext cx="2304000" cy="251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20000" y="2502000"/>
            <a:ext cx="1304064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8064" y="2502000"/>
            <a:ext cx="7200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28.3%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2988000"/>
            <a:ext cx="4860000" cy="68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入会率の差（業界推計値）</a:t>
            </a:r>
          </a:p>
          <a:p>
            <a:pPr algn="ctr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紹介・口コミ経由 70〜80%超</a:t>
            </a:r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　vs　</a:t>
            </a: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Web広告経由 40〜50%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2000" y="1638000"/>
            <a:ext cx="39960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紹介を「頼む」のではなく「頼みやすくする」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72000" y="1925999"/>
            <a:ext cx="4003199" cy="77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紹介したくなる材料を毎月渡す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月次の学習レポートは、そのまま「うちの子が伸びた証拠」になる。ママ友に見せられる形にしておく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72000" y="2771999"/>
            <a:ext cx="4003199" cy="77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リッチメニューに常設する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タブ③に「ごきょうだい・ご友人紹介」を常時置く。思い立った瞬間に押せる場所が要る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72000" y="3618000"/>
            <a:ext cx="4003199" cy="77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タイミングを狙って声をかける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成績が上がった月・皆勤だった月に自動で紹介案内。満足度が高い瞬間に頼むと通る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2000" y="4464000"/>
            <a:ext cx="4003199" cy="77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 卒塾家庭の下の子を拾う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通知メッセージで、該当学年に達したタイミングで案内（S26）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16000"/>
            <a:ext cx="4860000" cy="12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999" y="3888000"/>
            <a:ext cx="4608000" cy="11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ただし、口コミだけで選ばれると続かない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1年未満で退塾した家庭の26%が、入塾理由を「仲の良い友達が通っていたから」と回答（1年以上継続した家庭は3%）。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→ 紹介で来た人にも、必ず診断を通す。「友達が行っているから」を「うちの子に合っているから」に変えてから入会してもらう。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5256000"/>
            <a:ext cx="9043200" cy="3096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広告より安く、入会率が高く、続きやすい。紹介は「おまけ」ではなく主要な獲得チャネル。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出典｜POPER「Comiru」2022年（n=300）／DeltaX「塾選」退塾に関する調査 2024年（n=65）／入会率の差は業界推計値（出典元の特定不可）</a:t>
            </a:r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E1A8-B06F-74B4-1E2A-7416EDA4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LINE公式アカウントの実績と、この資料の出典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LINEヤフー公式の「教育・スクール」導入事例は未取得のため差込枠にしています。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捏造はしません。この資料で使った数値の出所を、すべて下に並べます。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38000"/>
            <a:ext cx="4428000" cy="15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 LINEヤフー公式 導入事例（教育・スクール）</a:t>
            </a:r>
          </a:p>
          <a:p>
            <a:pPr algn="ctr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lycbiz.com/jp/case-study から該当業種の事例を取得して差し込む。
該当なしの場合は「公式事例は存在しない＝先行者になれる」と正直に書く
（注文住宅案件では実際に該当なしだった）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3348000"/>
            <a:ext cx="4428000" cy="17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999" y="3420000"/>
            <a:ext cx="4176000" cy="162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LINEヤフー公式データ（倍率表現は使っていません）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・LINE 国内月間利用者数：1億人突破（2025年12月末時点）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・メッセージの開封：受信直後 約2割／3〜6時間で約5割／当日中に約8割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※「開封率60〜80%＝メルマガの3〜4倍」という表現は公式値ではないため使用していません。</a:t>
            </a:r>
          </a:p>
          <a:p>
            <a:pPr algn="l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※「LINE経由で来店率40〜50%改善」はDYM支援実績であり公式値ではありません。出典を混ぜません。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6000" y="1638000"/>
            <a:ext cx="4399200" cy="234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この資料の出典一覧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76000" y="1890000"/>
          <a:ext cx="4399199" cy="322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000"/>
                <a:gridCol w="3463199"/>
              </a:tblGrid>
              <a:tr h="247846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スライド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出典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</a:tr>
              <a:tr h="247846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厚労省 人口動態統計／経産省 特定サービス産業動態統計／文科省 学校基本調査／矢野経済研究所2024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7846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S05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LINEヤフー前後検索（実測）／塾ナラ2025 n=200／塾シル2026 n=249／明光ネットワークジャパン2020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47846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業界推計値（出典元の特定不可）★社内実績で差し替え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7846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S10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Googleトレンド 日本 2026年年初来（実測）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47846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LINEヤフー前後検索 起点KW「塾 費用」2022-05〜2023-05（実測）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7846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S12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 page.line.me・実機 2026-09-15取得（実測・証跡あり）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47846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DeltaX「塾選」退塾に関する調査 2024年 n=65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7846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S23/S27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POPER「Comiru」2022年 n=300／DeltaX「塾選」2024年 n=65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47846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Googleトレンド（実測）＋前後検索の26日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7846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S34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POPER「Comiru」2022年 n=300／ネオマーケティング2019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47846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入塾学年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オリコンME 2025年 学習塾 利用実態データ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7847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入塾きっかけ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インタースペース「ママスタ」2021年 n=1,037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32000" y="5256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292000"/>
            <a:ext cx="8755200" cy="503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提出前の必須作業：公表統計（S03）はe-Statで統計表を開いて数値を照合すること。★ 競合の実名掲載と、民間調査の引用可否は上司確認事項。特に明光義塾は競合であり、その調査を引用している点に注意。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出典のない数値は書かない。業界指標／自社実績／業界推計値／モデル値は、この資料ではラベルを分けて表記している</a:t>
            </a:r>
          </a:p>
        </p:txBody>
      </p:sp>
    </p:spTree>
    <p:extLst>
      <p:ext uri="{BB962C8B-B14F-4D97-AF65-F5344CB8AC3E}">
        <p14:creationId xmlns:p14="http://schemas.microsoft.com/office/powerpoint/2010/main" val="1932664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141472</TotalTime>
  <Words>5264</Words>
  <Application>Microsoft Office PowerPoint</Application>
  <PresentationFormat>A4 210 x 297 mm</PresentationFormat>
  <Paragraphs>1342</Paragraphs>
  <Slides>36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佐村 徳人</cp:lastModifiedBy>
  <cp:revision>1919</cp:revision>
  <cp:lastPrinted>2022-11-01T11:38:14Z</cp:lastPrinted>
  <dcterms:created xsi:type="dcterms:W3CDTF">2015-09-04T09:21:15Z</dcterms:created>
  <dcterms:modified xsi:type="dcterms:W3CDTF">2026-07-21T09:21:02Z</dcterms:modified>
</cp:coreProperties>
</file>