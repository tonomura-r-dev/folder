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56" r:id="rId4"/>
    <p:sldId id="2988" r:id="rId5"/>
    <p:sldId id="2972" r:id="rId6"/>
    <p:sldId id="2977" r:id="rId7"/>
    <p:sldId id="2989" r:id="rId8"/>
    <p:sldId id="2990" r:id="rId9"/>
    <p:sldId id="2979" r:id="rId10"/>
    <p:sldId id="2982" r:id="rId11"/>
    <p:sldId id="2736" r:id="rId12"/>
    <p:sldId id="2983" r:id="rId13"/>
    <p:sldId id="2984" r:id="rId14"/>
    <p:sldId id="2985" r:id="rId15"/>
    <p:sldId id="2986" r:id="rId16"/>
    <p:sldId id="2987" r:id="rId17"/>
    <p:sldId id="2908" r:id="rId18"/>
    <p:sldId id="2950" r:id="rId19"/>
    <p:sldId id="2762" r:id="rId20"/>
    <p:sldId id="2937" r:id="rId21"/>
    <p:sldId id="2939" r:id="rId22"/>
    <p:sldId id="2966" r:id="rId23"/>
    <p:sldId id="2962" r:id="rId24"/>
    <p:sldId id="2942" r:id="rId25"/>
    <p:sldId id="2941" r:id="rId26"/>
    <p:sldId id="2943" r:id="rId27"/>
    <p:sldId id="2944" r:id="rId28"/>
    <p:sldId id="2967" r:id="rId29"/>
    <p:sldId id="2946" r:id="rId30"/>
    <p:sldId id="2947" r:id="rId31"/>
    <p:sldId id="2948" r:id="rId32"/>
    <p:sldId id="2958" r:id="rId33"/>
    <p:sldId id="2954" r:id="rId34"/>
    <p:sldId id="2953" r:id="rId35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3.emf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ターゲット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が動き出す26日前から伴走し、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体験予約・入会率・継続率を同時に引き上げる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</a:t>
            </a:r>
            <a:r>
              <a:rPr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現状の構造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塾の集客が詰まる3つの壁。広告費の多くは「予約の手前」と「予約のあと」で溶けている。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①は資金力の勝負。②③は仕組みで直せる＝広告費を増やさずに改善できる区間。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20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壁①　広告CPAの高騰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800" y="2088000"/>
            <a:ext cx="2943600" cy="1274087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・CPC 300〜800円</a:t>
            </a:r>
            <a:endParaRPr lang="en-US"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（繁忙期・高単価ジャンルは1,200〜2,500円）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体験申込CPA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25,000〜50,000円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しかも塾のCPC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CPAには公的統計が存在しない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適正値が誰にも見えないまま入札している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2000" y="4103999"/>
            <a:ext cx="27624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直すには「もっと払う」しかない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82400" y="1620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壁②　Webでの離脱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143054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 CVR 2.0%＝100人来て98人が名前も残さず消える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・この98人は興味がないのではない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・「合う塾が分からない」63.5%の層（塾ナラ2025）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判断材料が足りないだけ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572400" y="4103999"/>
            <a:ext cx="27624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5000"/>
              </a:lnSpc>
            </a:pPr>
            <a:r>
              <a:rPr sz="1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仕組みで直せる</a:t>
            </a:r>
            <a:endParaRPr sz="10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32800" y="1620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壁③　歩留まりの低下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35200" cy="1222855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・予約の約20%が体験に来ない</a:t>
            </a:r>
            <a:endParaRPr lang="en-US" sz="9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（無断キャンセル・直前辞退）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9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Web広告経由の入会率</a:t>
            </a: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40〜50%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9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一方、紹介・口コミ経由は</a:t>
            </a: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70〜80%超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＝同じ体験でも、来た経路で入会率が30pt違う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2800" y="4103999"/>
            <a:ext cx="27624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仕組みで直せる（本提案の重点領域）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4715999"/>
            <a:ext cx="9043200" cy="441453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本提案が触るのは②と③だけ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ここが差がつくところ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CPC/CPA・入会率は業界推計値（出典元の特定不可）。LP CVRはモデル値。★社内実績（CV地点別CPC/CVR/CPA）が入り次第すべて差し替える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エンドユーザー行動心理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検索しているのは40代の母親。塾選び最大の苦労は「料金」ではなく「うちの子に合う塾が分からない」63.5%。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費用は9割が負担を感じつつ、6割が「妥当」。払う気はある。決められないだけ。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999" y="4527014"/>
            <a:ext cx="3960000" cy="18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8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ChatGPT調査では「母親か父親かの比率を示す公開調査は無い」だったが、検索実データで裏付けが取れた</a:t>
            </a:r>
            <a:endParaRPr sz="8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本人にやる気がないのに入れても無駄では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決定関与は保護者80.5%・子ども本人57.8%（明光2020）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5588106"/>
            <a:ext cx="90432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0000" y="5624106"/>
            <a:ext cx="88272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「勧誘されそうで問い合わせできない」は一般論として語られるが、比率を示す公開調査は存在せず、前後検索でも該当クエリはヒット0件だった。本資料では論拠として使わない（配信文面の「営業電話はしません」だけ残す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出典｜LINEヤフー前後検索（直近1年 2022-05-09〜2023-05-14・実測）／塾ナラ2025（n=200）／塾シル・ユナイトプロジェクト2026（n=249）／明光ネットワークジャパン2020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本提案のスコープ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LINEでできること・できないこと。LINE公式アカウントの運用提案です。広告運用の提案書ではありません。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「授業の質」も「合格実績」も、LINEでは作れません。作れるのは接点と歩留まりです。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413600" cy="343967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20000"/>
            <a:ext cx="44136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999" y="2118269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保護者が動き出す26日間に、接点を持ち続ける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999" y="2542982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合わない」を申込前に提示する（診断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99" y="3012538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体験の無断キャンセルを減らす（前日リマインド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999" y="3505738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在籍生の保護者に成果を毎月見せる（継続率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999" y="3992089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欠席・振替の電話を減らす（工数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の削減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99" y="4495739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✓　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紹介を頼みやすい状態をつくる（口コミ47%）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1600" y="1620000"/>
            <a:ext cx="4413600" cy="343967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61600" y="1620000"/>
            <a:ext cx="44136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LINEではできないこと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7599" y="2118269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授業の質そのものを上げること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7599" y="2542982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合格実績をつくること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87599" y="3003271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講師の採用・育成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87599" y="3474599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月謝を上げずに利益を増やすこと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87599" y="3992090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友だちを集めるだけで入会を増やすこと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187599" y="4495738"/>
            <a:ext cx="4161600" cy="2994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×　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（＝371万人集めても凍結すればゼロ／S12）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" y="54432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触るのは「LPから落ちた後」と「予約が入った後」の2箇所</a:t>
            </a:r>
            <a:r>
              <a:rPr lang="ja-JP" altLang="en-US" sz="12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sz="12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このスコープ宣言は毎回入れる。広告の話に引きずられると、運用の提案が薄まるため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B1E45AF-D1E3-4DBA-4BB7-0857F699B7A8}"/>
              </a:ext>
            </a:extLst>
          </p:cNvPr>
          <p:cNvSpPr/>
          <p:nvPr/>
        </p:nvSpPr>
        <p:spPr>
          <a:xfrm>
            <a:off x="0" y="577940"/>
            <a:ext cx="9906000" cy="81273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6D5128D-AC86-A618-019E-D9FA2B942550}"/>
              </a:ext>
            </a:extLst>
          </p:cNvPr>
          <p:cNvSpPr/>
          <p:nvPr/>
        </p:nvSpPr>
        <p:spPr>
          <a:xfrm>
            <a:off x="379976" y="635062"/>
            <a:ext cx="9160881" cy="698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/>
          <a:p>
            <a:pPr algn="ctr">
              <a:lnSpc>
                <a:spcPts val="2455"/>
              </a:lnSpc>
            </a:pPr>
            <a:r>
              <a:rPr lang="ja-JP" altLang="en-US" sz="140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資料請求・電話問い合わせに”ハードルが高く感じる”保護者が増えている状況。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>
              <a:lnSpc>
                <a:spcPts val="2455"/>
              </a:lnSpc>
            </a:pPr>
            <a:r>
              <a:rPr lang="ja-JP" altLang="en-US" sz="140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 &gt;&gt; 友だち追加 &gt;&gt; LINEで診断・体験予約 &gt;&gt; 実来校 の導線設計でハードル抑えつつ運営が可能。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8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LINE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公式アカウントを検討する背景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Meiryo"/>
              <a:sym typeface="Meiryo"/>
            </a:endParaRPr>
          </a:p>
        </p:txBody>
      </p:sp>
      <p:sp>
        <p:nvSpPr>
          <p:cNvPr id="2" name="台形 1">
            <a:extLst>
              <a:ext uri="{FF2B5EF4-FFF2-40B4-BE49-F238E27FC236}">
                <a16:creationId xmlns:a16="http://schemas.microsoft.com/office/drawing/2014/main" id="{6CEEA445-8026-0C8A-48B1-72329CC0C762}"/>
              </a:ext>
            </a:extLst>
          </p:cNvPr>
          <p:cNvSpPr/>
          <p:nvPr/>
        </p:nvSpPr>
        <p:spPr>
          <a:xfrm rot="10800000">
            <a:off x="548883" y="1844173"/>
            <a:ext cx="3274466" cy="604240"/>
          </a:xfrm>
          <a:prstGeom prst="trapezoid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台形 5">
            <a:extLst>
              <a:ext uri="{FF2B5EF4-FFF2-40B4-BE49-F238E27FC236}">
                <a16:creationId xmlns:a16="http://schemas.microsoft.com/office/drawing/2014/main" id="{9F2F9E67-FA62-E2F6-550C-31986420B41E}"/>
              </a:ext>
            </a:extLst>
          </p:cNvPr>
          <p:cNvSpPr/>
          <p:nvPr/>
        </p:nvSpPr>
        <p:spPr>
          <a:xfrm rot="10800000">
            <a:off x="752147" y="2517920"/>
            <a:ext cx="2877705" cy="604240"/>
          </a:xfrm>
          <a:prstGeom prst="trapezoid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台形 6">
            <a:extLst>
              <a:ext uri="{FF2B5EF4-FFF2-40B4-BE49-F238E27FC236}">
                <a16:creationId xmlns:a16="http://schemas.microsoft.com/office/drawing/2014/main" id="{B6E67C0E-450F-9501-7066-6FB44B603ACE}"/>
              </a:ext>
            </a:extLst>
          </p:cNvPr>
          <p:cNvSpPr/>
          <p:nvPr/>
        </p:nvSpPr>
        <p:spPr>
          <a:xfrm rot="10800000">
            <a:off x="963025" y="3191667"/>
            <a:ext cx="2430931" cy="604240"/>
          </a:xfrm>
          <a:prstGeom prst="trapezoid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台形 7">
            <a:extLst>
              <a:ext uri="{FF2B5EF4-FFF2-40B4-BE49-F238E27FC236}">
                <a16:creationId xmlns:a16="http://schemas.microsoft.com/office/drawing/2014/main" id="{EC332CC3-1BFE-4336-94C4-337A6F76E30F}"/>
              </a:ext>
            </a:extLst>
          </p:cNvPr>
          <p:cNvSpPr/>
          <p:nvPr/>
        </p:nvSpPr>
        <p:spPr>
          <a:xfrm rot="10800000">
            <a:off x="1195275" y="3865414"/>
            <a:ext cx="1981682" cy="604240"/>
          </a:xfrm>
          <a:prstGeom prst="trapezoi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台形 8">
            <a:extLst>
              <a:ext uri="{FF2B5EF4-FFF2-40B4-BE49-F238E27FC236}">
                <a16:creationId xmlns:a16="http://schemas.microsoft.com/office/drawing/2014/main" id="{9FA0DA39-CA3D-4A32-A88D-5F42671F47B8}"/>
              </a:ext>
            </a:extLst>
          </p:cNvPr>
          <p:cNvSpPr/>
          <p:nvPr/>
        </p:nvSpPr>
        <p:spPr>
          <a:xfrm rot="10800000">
            <a:off x="1422661" y="4539161"/>
            <a:ext cx="1536677" cy="604240"/>
          </a:xfrm>
          <a:prstGeom prst="trapezoid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台形 9">
            <a:extLst>
              <a:ext uri="{FF2B5EF4-FFF2-40B4-BE49-F238E27FC236}">
                <a16:creationId xmlns:a16="http://schemas.microsoft.com/office/drawing/2014/main" id="{1DAAE755-E19F-83A4-49AB-80FD2B8C6117}"/>
              </a:ext>
            </a:extLst>
          </p:cNvPr>
          <p:cNvSpPr/>
          <p:nvPr/>
        </p:nvSpPr>
        <p:spPr>
          <a:xfrm rot="10800000">
            <a:off x="1611466" y="5212908"/>
            <a:ext cx="1134047" cy="470263"/>
          </a:xfrm>
          <a:prstGeom prst="trapezoid">
            <a:avLst>
              <a:gd name="adj" fmla="val 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台形 10">
            <a:extLst>
              <a:ext uri="{FF2B5EF4-FFF2-40B4-BE49-F238E27FC236}">
                <a16:creationId xmlns:a16="http://schemas.microsoft.com/office/drawing/2014/main" id="{CE13A148-43A9-FACC-AA40-5B3C6364394E}"/>
              </a:ext>
            </a:extLst>
          </p:cNvPr>
          <p:cNvSpPr/>
          <p:nvPr/>
        </p:nvSpPr>
        <p:spPr>
          <a:xfrm rot="10800000">
            <a:off x="1611465" y="5752675"/>
            <a:ext cx="1134047" cy="470263"/>
          </a:xfrm>
          <a:prstGeom prst="trapezoid">
            <a:avLst>
              <a:gd name="adj" fmla="val 0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27CB514-4619-59D1-450A-DDF1B29355E0}"/>
              </a:ext>
            </a:extLst>
          </p:cNvPr>
          <p:cNvSpPr txBox="1"/>
          <p:nvPr/>
        </p:nvSpPr>
        <p:spPr>
          <a:xfrm>
            <a:off x="1459558" y="5315094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既存ユーザー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B3559A7-D98B-633E-360D-B9755713CB4A}"/>
              </a:ext>
            </a:extLst>
          </p:cNvPr>
          <p:cNvSpPr txBox="1"/>
          <p:nvPr/>
        </p:nvSpPr>
        <p:spPr>
          <a:xfrm>
            <a:off x="1458475" y="5884142"/>
            <a:ext cx="143786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9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リピート・ファン化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BF621D8-B54B-3C3E-20B9-51565ADCB9C9}"/>
              </a:ext>
            </a:extLst>
          </p:cNvPr>
          <p:cNvSpPr txBox="1"/>
          <p:nvPr/>
        </p:nvSpPr>
        <p:spPr>
          <a:xfrm>
            <a:off x="1467184" y="4684107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リード獲得層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6EDBBE-DC2E-D1B4-D90F-A1213B9D8FB2}"/>
              </a:ext>
            </a:extLst>
          </p:cNvPr>
          <p:cNvSpPr txBox="1"/>
          <p:nvPr/>
        </p:nvSpPr>
        <p:spPr>
          <a:xfrm>
            <a:off x="1467184" y="4054155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顕在層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42EB2DA-CD05-53A4-819B-B3E66F91159A}"/>
              </a:ext>
            </a:extLst>
          </p:cNvPr>
          <p:cNvSpPr txBox="1"/>
          <p:nvPr/>
        </p:nvSpPr>
        <p:spPr>
          <a:xfrm>
            <a:off x="1459558" y="3372927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準顕在層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FAB44CD-3FC2-FB15-3D61-30AD87D19366}"/>
              </a:ext>
            </a:extLst>
          </p:cNvPr>
          <p:cNvSpPr txBox="1"/>
          <p:nvPr/>
        </p:nvSpPr>
        <p:spPr>
          <a:xfrm>
            <a:off x="1467184" y="2700215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潜在層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514C466-C0C4-5FB6-74AF-13B6F4947391}"/>
              </a:ext>
            </a:extLst>
          </p:cNvPr>
          <p:cNvSpPr txBox="1"/>
          <p:nvPr/>
        </p:nvSpPr>
        <p:spPr>
          <a:xfrm>
            <a:off x="1478205" y="2007789"/>
            <a:ext cx="14378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興味関心なし 層</a:t>
            </a:r>
          </a:p>
        </p:txBody>
      </p:sp>
      <p:sp>
        <p:nvSpPr>
          <p:cNvPr id="22" name="台形 21">
            <a:extLst>
              <a:ext uri="{FF2B5EF4-FFF2-40B4-BE49-F238E27FC236}">
                <a16:creationId xmlns:a16="http://schemas.microsoft.com/office/drawing/2014/main" id="{9BACDF3F-A4E5-35A7-B870-B83B08A9B3FF}"/>
              </a:ext>
            </a:extLst>
          </p:cNvPr>
          <p:cNvSpPr/>
          <p:nvPr/>
        </p:nvSpPr>
        <p:spPr>
          <a:xfrm rot="10800000">
            <a:off x="7611914" y="4188220"/>
            <a:ext cx="1826395" cy="470263"/>
          </a:xfrm>
          <a:prstGeom prst="trapezoid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5A77394-5E5F-8C4D-28B8-74F4583DF5D0}"/>
              </a:ext>
            </a:extLst>
          </p:cNvPr>
          <p:cNvSpPr txBox="1"/>
          <p:nvPr/>
        </p:nvSpPr>
        <p:spPr>
          <a:xfrm>
            <a:off x="7550332" y="4198522"/>
            <a:ext cx="188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「LINE診断・体験予約」にて</a:t>
            </a:r>
            <a:r>
              <a:rPr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リードを獲得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台形 23">
            <a:extLst>
              <a:ext uri="{FF2B5EF4-FFF2-40B4-BE49-F238E27FC236}">
                <a16:creationId xmlns:a16="http://schemas.microsoft.com/office/drawing/2014/main" id="{3B9CC8D9-DD20-6C2F-3BDD-BE9F5B8FFC38}"/>
              </a:ext>
            </a:extLst>
          </p:cNvPr>
          <p:cNvSpPr/>
          <p:nvPr/>
        </p:nvSpPr>
        <p:spPr>
          <a:xfrm rot="10800000">
            <a:off x="7611914" y="3120018"/>
            <a:ext cx="1826395" cy="470263"/>
          </a:xfrm>
          <a:prstGeom prst="trapezoid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42DD099-7AA1-F285-5FF9-42B4945A3099}"/>
              </a:ext>
            </a:extLst>
          </p:cNvPr>
          <p:cNvSpPr txBox="1"/>
          <p:nvPr/>
        </p:nvSpPr>
        <p:spPr>
          <a:xfrm>
            <a:off x="7611914" y="3118189"/>
            <a:ext cx="18263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離脱防止バナーにて</a:t>
            </a:r>
            <a:endParaRPr kumimoji="1"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検討段階ユーザーを</a:t>
            </a:r>
            <a:endParaRPr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台形 26">
            <a:extLst>
              <a:ext uri="{FF2B5EF4-FFF2-40B4-BE49-F238E27FC236}">
                <a16:creationId xmlns:a16="http://schemas.microsoft.com/office/drawing/2014/main" id="{D95457DF-AF4B-4B8E-D6F2-2A10C8E1A4A2}"/>
              </a:ext>
            </a:extLst>
          </p:cNvPr>
          <p:cNvSpPr/>
          <p:nvPr/>
        </p:nvSpPr>
        <p:spPr>
          <a:xfrm rot="10800000">
            <a:off x="7611914" y="2257037"/>
            <a:ext cx="1826395" cy="470263"/>
          </a:xfrm>
          <a:prstGeom prst="trapezoid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94F1D70-CF6B-885E-B41C-C70125B75219}"/>
              </a:ext>
            </a:extLst>
          </p:cNvPr>
          <p:cNvSpPr txBox="1"/>
          <p:nvPr/>
        </p:nvSpPr>
        <p:spPr>
          <a:xfrm>
            <a:off x="7611914" y="2313761"/>
            <a:ext cx="18263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接触、詳細ページ閲覧</a:t>
            </a:r>
            <a:endParaRPr kumimoji="1"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の動線での</a:t>
            </a:r>
            <a:r>
              <a:rPr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誘導を整備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E163946-1549-509D-4F46-C667EBDCE5EE}"/>
              </a:ext>
            </a:extLst>
          </p:cNvPr>
          <p:cNvSpPr txBox="1"/>
          <p:nvPr/>
        </p:nvSpPr>
        <p:spPr>
          <a:xfrm>
            <a:off x="7462272" y="1725706"/>
            <a:ext cx="2125679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  <a:endParaRPr lang="ja-JP" altLang="en-US" sz="1200" dirty="0">
              <a:solidFill>
                <a:schemeClr val="bg1"/>
              </a:solidFill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CE5C835-66DF-7ACC-2268-769AE89BC22D}"/>
              </a:ext>
            </a:extLst>
          </p:cNvPr>
          <p:cNvSpPr txBox="1"/>
          <p:nvPr/>
        </p:nvSpPr>
        <p:spPr>
          <a:xfrm>
            <a:off x="5273193" y="1735237"/>
            <a:ext cx="212567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現状施策</a:t>
            </a:r>
            <a:endParaRPr lang="ja-JP" altLang="en-US" sz="1200" dirty="0">
              <a:solidFill>
                <a:schemeClr val="bg1"/>
              </a:solidFill>
            </a:endParaRPr>
          </a:p>
        </p:txBody>
      </p:sp>
      <p:sp>
        <p:nvSpPr>
          <p:cNvPr id="46" name="台形 45">
            <a:extLst>
              <a:ext uri="{FF2B5EF4-FFF2-40B4-BE49-F238E27FC236}">
                <a16:creationId xmlns:a16="http://schemas.microsoft.com/office/drawing/2014/main" id="{770C8367-24F5-979C-4481-908DE742DF1B}"/>
              </a:ext>
            </a:extLst>
          </p:cNvPr>
          <p:cNvSpPr/>
          <p:nvPr/>
        </p:nvSpPr>
        <p:spPr>
          <a:xfrm rot="10800000">
            <a:off x="7611914" y="5725077"/>
            <a:ext cx="1826395" cy="470263"/>
          </a:xfrm>
          <a:prstGeom prst="trapezoid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1353124E-927F-8496-8FC6-E6DD494A8DEA}"/>
              </a:ext>
            </a:extLst>
          </p:cNvPr>
          <p:cNvSpPr txBox="1"/>
          <p:nvPr/>
        </p:nvSpPr>
        <p:spPr>
          <a:xfrm>
            <a:off x="7611914" y="5785358"/>
            <a:ext cx="18263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継続・保護者面談</a:t>
            </a:r>
            <a:endParaRPr kumimoji="1"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友だち紹介に繋げる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台形 47">
            <a:extLst>
              <a:ext uri="{FF2B5EF4-FFF2-40B4-BE49-F238E27FC236}">
                <a16:creationId xmlns:a16="http://schemas.microsoft.com/office/drawing/2014/main" id="{BAFBCC32-B244-9AC5-0A18-C121D3B9BCDA}"/>
              </a:ext>
            </a:extLst>
          </p:cNvPr>
          <p:cNvSpPr/>
          <p:nvPr/>
        </p:nvSpPr>
        <p:spPr>
          <a:xfrm rot="10800000">
            <a:off x="7611914" y="5183481"/>
            <a:ext cx="1826395" cy="470263"/>
          </a:xfrm>
          <a:prstGeom prst="trapezoid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9BD53B7-C509-F64E-CB4B-C6D3341F3AD5}"/>
              </a:ext>
            </a:extLst>
          </p:cNvPr>
          <p:cNvSpPr txBox="1"/>
          <p:nvPr/>
        </p:nvSpPr>
        <p:spPr>
          <a:xfrm>
            <a:off x="7611914" y="5315094"/>
            <a:ext cx="182639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※ID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連携特典等を表示</a:t>
            </a:r>
          </a:p>
        </p:txBody>
      </p:sp>
      <p:sp>
        <p:nvSpPr>
          <p:cNvPr id="50" name="台形 49">
            <a:extLst>
              <a:ext uri="{FF2B5EF4-FFF2-40B4-BE49-F238E27FC236}">
                <a16:creationId xmlns:a16="http://schemas.microsoft.com/office/drawing/2014/main" id="{3941D3AF-378C-FC85-0F44-DC7CE1041E69}"/>
              </a:ext>
            </a:extLst>
          </p:cNvPr>
          <p:cNvSpPr/>
          <p:nvPr/>
        </p:nvSpPr>
        <p:spPr>
          <a:xfrm rot="10800000">
            <a:off x="7611914" y="4683087"/>
            <a:ext cx="1826395" cy="470263"/>
          </a:xfrm>
          <a:prstGeom prst="trapezoid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04C3D2CB-85C1-FE9F-4777-E7D3AB629F25}"/>
              </a:ext>
            </a:extLst>
          </p:cNvPr>
          <p:cNvSpPr txBox="1"/>
          <p:nvPr/>
        </p:nvSpPr>
        <p:spPr>
          <a:xfrm>
            <a:off x="7611914" y="4814700"/>
            <a:ext cx="182639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ミニアプリ・診断 →</a:t>
            </a:r>
            <a:r>
              <a:rPr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特典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台形 56">
            <a:extLst>
              <a:ext uri="{FF2B5EF4-FFF2-40B4-BE49-F238E27FC236}">
                <a16:creationId xmlns:a16="http://schemas.microsoft.com/office/drawing/2014/main" id="{B65081E4-37AB-CFC9-6ADB-B4EEA7844473}"/>
              </a:ext>
            </a:extLst>
          </p:cNvPr>
          <p:cNvSpPr/>
          <p:nvPr/>
        </p:nvSpPr>
        <p:spPr>
          <a:xfrm rot="10800000">
            <a:off x="8075757" y="6244548"/>
            <a:ext cx="1826395" cy="265450"/>
          </a:xfrm>
          <a:prstGeom prst="trapezoid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84FBB3DE-B0A1-98BB-3108-365CAA2451B5}"/>
              </a:ext>
            </a:extLst>
          </p:cNvPr>
          <p:cNvSpPr txBox="1"/>
          <p:nvPr/>
        </p:nvSpPr>
        <p:spPr>
          <a:xfrm>
            <a:off x="8198333" y="6267085"/>
            <a:ext cx="158124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105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長期施策として想定</a:t>
            </a:r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06D6460A-91B3-70D3-5D14-11DFAD84B566}"/>
              </a:ext>
            </a:extLst>
          </p:cNvPr>
          <p:cNvSpPr/>
          <p:nvPr/>
        </p:nvSpPr>
        <p:spPr>
          <a:xfrm>
            <a:off x="4075746" y="1862186"/>
            <a:ext cx="1134047" cy="4292485"/>
          </a:xfrm>
          <a:prstGeom prst="downArrow">
            <a:avLst/>
          </a:prstGeom>
          <a:gradFill>
            <a:gsLst>
              <a:gs pos="0">
                <a:srgbClr val="FDFDFD"/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28F54A-7862-D06F-CFB5-B49F4F603D20}"/>
              </a:ext>
            </a:extLst>
          </p:cNvPr>
          <p:cNvSpPr txBox="1"/>
          <p:nvPr/>
        </p:nvSpPr>
        <p:spPr>
          <a:xfrm>
            <a:off x="3578823" y="5448078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 </a:t>
            </a:r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ミニアプリ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6067991-5512-33D9-BAFF-EBE3BE4E55D1}"/>
              </a:ext>
            </a:extLst>
          </p:cNvPr>
          <p:cNvSpPr txBox="1"/>
          <p:nvPr/>
        </p:nvSpPr>
        <p:spPr>
          <a:xfrm>
            <a:off x="3578823" y="3803604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友だち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182F190-E0A8-5EE1-D9A3-5B13AA74C67A}"/>
              </a:ext>
            </a:extLst>
          </p:cNvPr>
          <p:cNvSpPr txBox="1"/>
          <p:nvPr/>
        </p:nvSpPr>
        <p:spPr>
          <a:xfrm>
            <a:off x="3578823" y="3347800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D60AE015-CFAC-BAED-064E-14583E6CD31A}"/>
              </a:ext>
            </a:extLst>
          </p:cNvPr>
          <p:cNvSpPr txBox="1"/>
          <p:nvPr/>
        </p:nvSpPr>
        <p:spPr>
          <a:xfrm>
            <a:off x="3578823" y="1982662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接触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DD6B11B-082B-2EC1-7CA1-262D7193544D}"/>
              </a:ext>
            </a:extLst>
          </p:cNvPr>
          <p:cNvSpPr txBox="1"/>
          <p:nvPr/>
        </p:nvSpPr>
        <p:spPr>
          <a:xfrm>
            <a:off x="3629852" y="5901217"/>
            <a:ext cx="19137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自社</a:t>
            </a:r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App/</a:t>
            </a:r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ネットワーク</a:t>
            </a:r>
            <a:endParaRPr kumimoji="1"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連携等の開発）</a:t>
            </a:r>
            <a:endParaRPr kumimoji="1" lang="ja-JP" altLang="en-US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842F9D0-B398-BB40-E6E0-1806610B3ABF}"/>
              </a:ext>
            </a:extLst>
          </p:cNvPr>
          <p:cNvSpPr txBox="1"/>
          <p:nvPr/>
        </p:nvSpPr>
        <p:spPr>
          <a:xfrm>
            <a:off x="3578823" y="2650866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b="1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65925534-D40D-9B46-2A4B-52FA9BA609A2}"/>
              </a:ext>
            </a:extLst>
          </p:cNvPr>
          <p:cNvSpPr txBox="1"/>
          <p:nvPr/>
        </p:nvSpPr>
        <p:spPr>
          <a:xfrm>
            <a:off x="3578823" y="4271087"/>
            <a:ext cx="21278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でログイン</a:t>
            </a:r>
          </a:p>
        </p:txBody>
      </p:sp>
      <p:sp>
        <p:nvSpPr>
          <p:cNvPr id="29" name="台形 28">
            <a:extLst>
              <a:ext uri="{FF2B5EF4-FFF2-40B4-BE49-F238E27FC236}">
                <a16:creationId xmlns:a16="http://schemas.microsoft.com/office/drawing/2014/main" id="{631B5A0E-480A-21DA-478B-1C86D29B43FC}"/>
              </a:ext>
            </a:extLst>
          </p:cNvPr>
          <p:cNvSpPr/>
          <p:nvPr/>
        </p:nvSpPr>
        <p:spPr>
          <a:xfrm rot="10800000">
            <a:off x="7611914" y="3620411"/>
            <a:ext cx="1826395" cy="470263"/>
          </a:xfrm>
          <a:prstGeom prst="trapezoid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B674F16-FAA2-578A-0AB9-863BDC58B75D}"/>
              </a:ext>
            </a:extLst>
          </p:cNvPr>
          <p:cNvSpPr txBox="1"/>
          <p:nvPr/>
        </p:nvSpPr>
        <p:spPr>
          <a:xfrm>
            <a:off x="7611914" y="3677135"/>
            <a:ext cx="18263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入塾時期・通塾頻度</a:t>
            </a:r>
            <a:endParaRPr kumimoji="1"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を確認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台形 33">
            <a:extLst>
              <a:ext uri="{FF2B5EF4-FFF2-40B4-BE49-F238E27FC236}">
                <a16:creationId xmlns:a16="http://schemas.microsoft.com/office/drawing/2014/main" id="{BF27E5AF-6A9E-D2DF-F51B-E8DA545CA345}"/>
              </a:ext>
            </a:extLst>
          </p:cNvPr>
          <p:cNvSpPr/>
          <p:nvPr/>
        </p:nvSpPr>
        <p:spPr>
          <a:xfrm rot="10800000">
            <a:off x="5422833" y="2137335"/>
            <a:ext cx="1826395" cy="4058005"/>
          </a:xfrm>
          <a:prstGeom prst="trapezoid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21C26183-5619-0076-CEE1-600FD18943B4}"/>
              </a:ext>
            </a:extLst>
          </p:cNvPr>
          <p:cNvSpPr txBox="1"/>
          <p:nvPr/>
        </p:nvSpPr>
        <p:spPr>
          <a:xfrm>
            <a:off x="5379134" y="3311809"/>
            <a:ext cx="19137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不明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ヒアリングの上、</a:t>
            </a:r>
            <a:endParaRPr lang="en-US" altLang="ja-JP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不足施策を明示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6426000"/>
            <a:ext cx="7128000" cy="180000"/>
          </a:xfrm>
          <a:prstGeom prst="rect">
            <a:avLst/>
          </a:prstGeom>
          <a:noFill/>
        </p:spPr>
        <p:txBody>
          <a:bodyPr wrap="square" lIns="18000" tIns="0" rIns="18000" bIns="0">
            <a:spAutoFit/>
          </a:bodyPr>
          <a:lstStyle/>
          <a:p>
            <a:r>
              <a:rPr sz="800">
                <a:solidFill>
                  <a:srgbClr val="646C82"/>
                </a:solidFill>
                <a:latin typeface="メイリオ"/>
                <a:ea typeface="メイリオ"/>
              </a:rPr>
              <a:t>※ 実例：早稲田アカデミー（本部）はLINEに学力診断を実装／KUMON（公文）は友だち数2,525万人（S11実測）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8883" y="138137"/>
            <a:ext cx="65160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LINE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施策における重要な考え方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Meiryo"/>
              <a:sym typeface="Meiryo"/>
            </a:endParaRPr>
          </a:p>
        </p:txBody>
      </p:sp>
      <p:sp>
        <p:nvSpPr>
          <p:cNvPr id="2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既存友だち</a:t>
            </a:r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のメッセージ配信を拡大＆検証し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課金対効果を向上する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新規友だち</a:t>
            </a:r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の追加動線を拡大</a:t>
            </a:r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&amp;</a:t>
            </a:r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整備し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見込みの高いユーザーのリードを獲得する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842812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アカウント効果を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最大化する</a:t>
            </a:r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ためには・・・？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サイト上情報と連携させ、配信効果を数値化する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広告審査・表現面の懸念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教育サービス特有の制約。塾の訴求は「成果」を約束したくなるが、そこに景品表示法の線がある。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LINE配信の文面にも同じ制約がかかるため、設計段階で型を決めておく。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1655999" cy="558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成果の断定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6000" y="1820278"/>
            <a:ext cx="338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例：「必ず成績が上がる」「絶対合格」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000" y="1821817"/>
            <a:ext cx="3708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根拠なく効果を保証する表現は優良誤認のリスク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286000"/>
            <a:ext cx="90432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ounded Rectangle 9"/>
          <p:cNvSpPr/>
          <p:nvPr/>
        </p:nvSpPr>
        <p:spPr>
          <a:xfrm>
            <a:off x="432000" y="2286000"/>
            <a:ext cx="1655999" cy="558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No.1・最上級表記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2450279"/>
            <a:ext cx="338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例：「地域No.1」「合格率日本一」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8000" y="2451818"/>
            <a:ext cx="3708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調査主体・範囲・時点の根拠がないと使えない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916000"/>
            <a:ext cx="90432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ounded Rectangle 13"/>
          <p:cNvSpPr/>
          <p:nvPr/>
        </p:nvSpPr>
        <p:spPr>
          <a:xfrm>
            <a:off x="432000" y="2916000"/>
            <a:ext cx="1655999" cy="558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体験談の扱い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6000" y="3080279"/>
            <a:ext cx="338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例：「3ヶ月で偏差値15UP」だけを大きく出す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8000" y="3081818"/>
            <a:ext cx="3708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特異な事例を一般的な効果と誤認させない。条件の併記が要る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46000"/>
            <a:ext cx="90432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ounded Rectangle 17"/>
          <p:cNvSpPr/>
          <p:nvPr/>
        </p:nvSpPr>
        <p:spPr>
          <a:xfrm>
            <a:off x="432000" y="3546000"/>
            <a:ext cx="1655999" cy="558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価格の見せ方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6000" y="3710279"/>
            <a:ext cx="338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例：「月◯◯円〜」だけを強調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000" y="3615637"/>
            <a:ext cx="3708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講習費・教材費を含めた総額が分かるようにする（有利誤認の回避）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576000" y="4302000"/>
            <a:ext cx="8755200" cy="731182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本提案の対処：成果を約束せず「判断材料を渡す」設計にする</a:t>
            </a:r>
            <a:endParaRPr sz="14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診断は「合う学び方」を示すもので、成績を保証しない。事例は条件（学年・期間・通塾回数）を必ず併記する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費用は月謝だけでなく年間総額を先に見せる（S18・S22の文面に反映済み）。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景品表示法（優良誤認・有利誤認）の一般的な考え方に基づく整理。★実際の配信文面は貴社・弊社双方の法務確認を通すこと。塾業界固有の公正競争規約の有無は未確認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「入会させたい月」ではなく「その26日前」から動く。「塾」のピークは2月上旬、「夏期講習」は7月中旬（冬期・春期の3〜5倍）。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検討には26日かかる（S11）。逆算すると、仕込み開始日は1/13と6/16。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juku_trend_ju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602000"/>
            <a:ext cx="4428000" cy="1654418"/>
          </a:xfrm>
          <a:prstGeom prst="rect">
            <a:avLst/>
          </a:prstGeom>
        </p:spPr>
      </p:pic>
      <p:pic>
        <p:nvPicPr>
          <p:cNvPr id="6" name="Picture 5" descr="juku_trend_koushu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000" y="1602000"/>
            <a:ext cx="4428000" cy="16544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2000" y="3563999"/>
            <a:ext cx="2179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2000" y="3636000"/>
            <a:ext cx="21798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3960000"/>
            <a:ext cx="20358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「塾」ピーク(2/8)の26日前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4212000"/>
            <a:ext cx="2035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新学年の募集はここから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3563999"/>
            <a:ext cx="2179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19800" y="3636000"/>
            <a:ext cx="21798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3/22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1800" y="3960000"/>
            <a:ext cx="20358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春期講習ピーク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1800" y="4212000"/>
            <a:ext cx="2035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規模は夏の1/3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3563999"/>
            <a:ext cx="2179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7600" y="3636000"/>
            <a:ext cx="21798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6/16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9600" y="3960000"/>
            <a:ext cx="20358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夏期講習ピーク(7/12)の26日前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9600" y="4212000"/>
            <a:ext cx="2035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年間最大の商戦はここから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3563999"/>
            <a:ext cx="2179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95400" y="3636000"/>
            <a:ext cx="21798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1月中旬〜2月上旬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7400" y="3960000"/>
            <a:ext cx="20358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受験3種が集中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7400" y="4212000"/>
            <a:ext cx="2035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大学1/25・高校1/18・中学2/1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45720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多くの塾が販促を始めるのは2月と7月。ピーク当日に走り出しても、保護者の検討はもう終わっている。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2026-01-01〜09-15・週次／_data/trends/教育塾/）。※取得期間は年初来のため年内の季節性のみ。「◯年で△%上昇」はこのデータでは言えない。※「塾」と他3語（個別指導/予備校/家庭教師）は約8倍のスケール差があるため別グラフにしている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検討は26日前に始まり、塾が現れるのは最後の数日だけ。保護者が最初に動くのは「小学生 塾 月謝 相場」。そこから26日かけて塾を探し始める。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塾の名前が検索されるのは、さらにその数日後。手前の26日間は完全な空白。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32000" y="5363999"/>
            <a:ext cx="2942400" cy="70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検討は1ヶ月超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塾が広告・指名検索で拾えるのは最後の数日だけ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9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手前の3週間は接点ゼロ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2400" y="5363999"/>
            <a:ext cx="2942400" cy="70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</a:t>
            </a: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最初の問いは「いつから</a:t>
            </a:r>
            <a:r>
              <a:rPr sz="11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関連度1位は「塾 いつから通わせる」4.98。</a:t>
            </a:r>
            <a:endParaRPr lang="en-US" sz="9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料金の確認は+1.6日＝決断の後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2800" y="5363999"/>
            <a:ext cx="2942400" cy="70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</a:t>
            </a: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口コミは最後に立つ</a:t>
            </a:r>
            <a:endParaRPr sz="11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指名×口コミが出た時点で比較は終盤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9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その前に友だちになるしかない</a:t>
            </a:r>
            <a:endParaRPr sz="9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前後検索データ（Journey）起点KW「塾 費用」／直近1年 2022-05-09〜2023-05-14・関連度3.0以上を抽出（_data/journey/教育塾/）。※起点KW「塾」のデータには同音異義語「熟」のノイズが16件混入するため集計から除外している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1458000"/>
            <a:ext cx="9043200" cy="23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  <a:ea typeface="メイリオ"/>
                <a:cs typeface="Meiryo"/>
              </a:rPr>
              <a:t>「塾 費用」の検索前後（LINEヤフー media Journey・実データ）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000" y="1782000"/>
            <a:ext cx="3311999" cy="3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3467B2"/>
                </a:solidFill>
                <a:latin typeface="Meiryo"/>
                <a:ea typeface="メイリオ"/>
                <a:cs typeface="Meiryo"/>
              </a:rPr>
              <a:t>① 料金・費用の下調べ</a:t>
            </a:r>
          </a:p>
          <a:p>
            <a:pPr>
              <a:spcAft>
                <a:spcPts val="1000"/>
              </a:spcAft>
            </a:pPr>
            <a:r>
              <a:rPr sz="950">
                <a:solidFill>
                  <a:srgbClr val="333333"/>
                </a:solidFill>
                <a:latin typeface="Meiryo"/>
                <a:ea typeface="メイリオ"/>
                <a:cs typeface="Meiryo"/>
              </a:rPr>
              <a:t>小学生 塾 月謝 相場／学習塾 月謝／塾代 相場／塾 夏期講習 料金 相場</a:t>
            </a:r>
          </a:p>
          <a:p>
            <a:pPr>
              <a:spcBef>
                <a:spcPts val="400"/>
              </a:spcBef>
            </a:pPr>
            <a:r>
              <a:rPr sz="1250" b="1">
                <a:solidFill>
                  <a:srgbClr val="D9661F"/>
                </a:solidFill>
                <a:latin typeface="Meiryo"/>
                <a:ea typeface="メイリオ"/>
                <a:cs typeface="Meiryo"/>
              </a:rPr>
              <a:t>② いつから・悩み</a:t>
            </a:r>
          </a:p>
          <a:p>
            <a:pPr>
              <a:spcAft>
                <a:spcPts val="1000"/>
              </a:spcAft>
            </a:pPr>
            <a:r>
              <a:rPr sz="950">
                <a:solidFill>
                  <a:srgbClr val="333333"/>
                </a:solidFill>
                <a:latin typeface="Meiryo"/>
                <a:ea typeface="メイリオ"/>
                <a:cs typeface="Meiryo"/>
              </a:rPr>
              <a:t>塾 いつから通わせる／塾 成績上がらない／中学生 勉強 親の関わり方</a:t>
            </a:r>
          </a:p>
          <a:p>
            <a:pPr>
              <a:spcBef>
                <a:spcPts val="400"/>
              </a:spcBef>
            </a:pPr>
            <a:r>
              <a:rPr sz="1250" b="1">
                <a:solidFill>
                  <a:srgbClr val="8E4EC6"/>
                </a:solidFill>
                <a:latin typeface="Meiryo"/>
                <a:ea typeface="メイリオ"/>
                <a:cs typeface="Meiryo"/>
              </a:rPr>
              <a:t>③ 指名・比較・口コミ</a:t>
            </a:r>
          </a:p>
          <a:p>
            <a:pPr>
              <a:spcAft>
                <a:spcPts val="1000"/>
              </a:spcAft>
            </a:pPr>
            <a:r>
              <a:rPr sz="950">
                <a:solidFill>
                  <a:srgbClr val="333333"/>
                </a:solidFill>
                <a:latin typeface="Meiryo"/>
                <a:ea typeface="メイリオ"/>
                <a:cs typeface="Meiryo"/>
              </a:rPr>
              <a:t>明光義塾 口コミ／森塾 口コミ／栄光ゼミナール 料金／早稲田アカデミー 料金</a:t>
            </a:r>
          </a:p>
        </p:txBody>
      </p:sp>
      <p:pic>
        <p:nvPicPr>
          <p:cNvPr id="32" name="Picture 31" descr="juku_journe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782000"/>
            <a:ext cx="5307429" cy="34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大手もLINEでは規模を持てていない。そして371万人が凍結している。友だち数を実測した。KUMON 2,525万人の一方、全国大手の本部は3万人台。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さらにビザビ（371万人）は今年4月で配信を停止していた。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02000"/>
            <a:ext cx="55440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LINE公式アカウント 友だち数（2026-09-15 実機・認証済アカウント）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853999"/>
            <a:ext cx="1782000" cy="27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</a:t>
            </a:r>
          </a:p>
        </p:txBody>
      </p:sp>
      <p:sp>
        <p:nvSpPr>
          <p:cNvPr id="7" name="Rectangle 6"/>
          <p:cNvSpPr/>
          <p:nvPr/>
        </p:nvSpPr>
        <p:spPr>
          <a:xfrm>
            <a:off x="2232000" y="1853999"/>
            <a:ext cx="1062000" cy="27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1999" y="1853999"/>
            <a:ext cx="882000" cy="27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2000" y="1853999"/>
            <a:ext cx="918000" cy="27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8000" y="1853999"/>
            <a:ext cx="810000" cy="27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141999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KUMON（公文）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2000" y="2141999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25,256,318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1999" y="2141999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 全国大量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2000" y="2141999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本部＋教室別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8000" y="2141999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455200"/>
            <a:ext cx="1782000" cy="295200"/>
          </a:xfrm>
          <a:prstGeom prst="rect">
            <a:avLst/>
          </a:prstGeom>
          <a:solidFill>
            <a:srgbClr val="FD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栄光ゼミナール／ビザビ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32000" y="2455200"/>
            <a:ext cx="1062000" cy="295200"/>
          </a:xfrm>
          <a:prstGeom prst="rect">
            <a:avLst/>
          </a:prstGeom>
          <a:solidFill>
            <a:srgbClr val="FD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3,713,373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1999" y="2455200"/>
            <a:ext cx="882000" cy="295200"/>
          </a:xfrm>
          <a:prstGeom prst="rect">
            <a:avLst/>
          </a:prstGeom>
          <a:solidFill>
            <a:srgbClr val="FD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 全国大量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12000" y="2455200"/>
            <a:ext cx="918000" cy="295200"/>
          </a:xfrm>
          <a:prstGeom prst="rect">
            <a:avLst/>
          </a:prstGeom>
          <a:solidFill>
            <a:srgbClr val="FD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🔴 配信停止中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8000" y="2455200"/>
            <a:ext cx="810000" cy="295200"/>
          </a:xfrm>
          <a:prstGeom prst="rect">
            <a:avLst/>
          </a:prstGeom>
          <a:solidFill>
            <a:srgbClr val="FD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768400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東進ハイスクール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32000" y="2768400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136,000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1999" y="2768400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B 本部小型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2000" y="2768400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本部＋校舎別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8000" y="2768400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081599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武田塾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2000" y="3081599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32,871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1999" y="3081599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B 本部小型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12000" y="3081599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本部＋校舎別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8000" y="3081599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394799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栄光ゼミナール（本部）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32000" y="3394799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1999" y="3394799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B 本部小型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3394799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本部＋教室別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48000" y="3394799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3707999"/>
            <a:ext cx="178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早稲田アカデミー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32000" y="3707999"/>
            <a:ext cx="106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1999" y="3707999"/>
            <a:ext cx="88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B 本部小型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2000" y="3707999"/>
            <a:ext cx="918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48000" y="3707999"/>
            <a:ext cx="810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 学力診断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4021199"/>
            <a:ext cx="178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32000" y="4021199"/>
            <a:ext cx="106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計測不能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11999" y="4021199"/>
            <a:ext cx="882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 教室別分散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12000" y="4021199"/>
            <a:ext cx="918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教室ごとに分散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48000" y="4021199"/>
            <a:ext cx="810000" cy="295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 性格別診断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" y="4334399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32000" y="4334399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計測不能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11999" y="4334399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 教室別分散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2000" y="4334399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本部＋FC教室別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48000" y="4334399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000" y="4647599"/>
            <a:ext cx="17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l"/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32000" y="4647599"/>
            <a:ext cx="106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未確認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11999" y="4647599"/>
            <a:ext cx="882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 教室別分散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12000" y="4647599"/>
            <a:ext cx="918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本部＋教室別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48000" y="4647599"/>
            <a:ext cx="810000" cy="295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28800" bIns="0" rtlCol="0" anchor="ctr"/>
          <a:lstStyle/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20000" y="1602000"/>
            <a:ext cx="3355200" cy="3456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46000" y="1655999"/>
            <a:ext cx="3096000" cy="34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3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🔴 371万人が、いま止まっている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65056" y="1944001"/>
            <a:ext cx="3259932" cy="11195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3600" tIns="36000" rIns="79200" bIns="36000" rtlCol="0" anchor="ctr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せっかく登録いただいたのですが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 dirty="0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本アカウントは4月で配信を停止いたしました。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今後は『栄光ゼミナール』にて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…</a:t>
            </a: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こちらから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
</a:t>
            </a:r>
            <a:r>
              <a:rPr sz="9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お友だち追加をお願いいたします</a:t>
            </a:r>
            <a:r>
              <a:rPr sz="9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＝ </a:t>
            </a:r>
            <a:r>
              <a:rPr sz="7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実際に友だち追加して返ってきたあいさつメッセージ</a:t>
            </a:r>
            <a:endParaRPr lang="en-US" sz="7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5000"/>
              </a:lnSpc>
            </a:pPr>
            <a:r>
              <a:rPr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（2026-09-15・実機）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2000" y="3078000"/>
            <a:ext cx="1872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このアカウントの友だち数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0000" y="3078000"/>
            <a:ext cx="1224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3,713,373人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2000" y="3366000"/>
            <a:ext cx="1872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移行先の栄光ゼミナール本体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00000" y="3366000"/>
            <a:ext cx="1224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30,000人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2000" y="3654000"/>
            <a:ext cx="1872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移行できた割合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00000" y="3654000"/>
            <a:ext cx="1224000" cy="2664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r"/>
            <a:r>
              <a:rPr sz="15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1%未満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65056" y="4013999"/>
            <a:ext cx="3259932" cy="99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43200" rIns="79200" bIns="43200" rtlCol="0" anchor="ctr"/>
          <a:lstStyle/>
          <a:p>
            <a:pPr algn="ctr">
              <a:spcAft>
                <a:spcPts val="3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友だちは広告で買える</a:t>
            </a:r>
            <a:r>
              <a:rPr sz="1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でも運用設計がなければ、資産にならない</a:t>
            </a:r>
            <a:r>
              <a:rPr sz="1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370万集めてもゼロになる。</a:t>
            </a:r>
          </a:p>
          <a:p>
            <a:pPr algn="ctr">
              <a:lnSpc>
                <a:spcPct val="125000"/>
              </a:lnSpc>
            </a:pPr>
            <a:r>
              <a:rPr sz="9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数千人でも、設計があれば戦える</a:t>
            </a: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2000" y="518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空白は「規模」ではなく「規模 × 診断の両立」。規模を持つKUMON・ビザビも、診断で「合う/合わない」を見せていない。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出典｜LINE公式アカウント（page.line.me・実機／いずれも認証済）2026-09-15取得。証跡は _data/lineoa_competitors/。第三者サイト（lineoa.jp）の数値は使用していない。★実名掲載は上司確認事項。★KUMON 2,525万人の内訳（スタンプ/CPF由来か）は未確認のため推定と明記している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カスタマージャーニー8フェーズと、CVの3段。塾は「買う人（保護者）」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と「使う人（子ども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が違う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だからCVを3段に分ける。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軽いCVで先に接点を取り、重いCVへ引き上げる。入会後もLTVのために設計する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接触
（認知・流入）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広告・チラシ・口コミ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47015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57815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7815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415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サイト離脱
（対策）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415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 CVR 2%＝98%が離脱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1630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72430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2430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030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育成
（興味喚起）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030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26日間の空白を埋める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6245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87045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7045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645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リード獲得
(web/LINE)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645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 友だち追加＋診断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0860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1660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1660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260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リード有効化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260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 体験・見学の予約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5475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16275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6275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875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有効リードの
再育成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875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体験に来なかった層へ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20090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890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890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490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マネタイズ
（成約）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490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ゴール 入会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347050" y="2124000"/>
            <a:ext cx="90000" cy="180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455050" y="1620000"/>
            <a:ext cx="102015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5050" y="1673999"/>
            <a:ext cx="102015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91050" y="1925999"/>
            <a:ext cx="94815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LTV最大化
・紹介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1050" y="2411999"/>
            <a:ext cx="94815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継続（退会防止）＋紹介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000" y="3096000"/>
            <a:ext cx="29424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432000" y="3096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　軽いCV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000" y="3528000"/>
            <a:ext cx="27624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LINE友だち追加 ＋ 30秒診断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999" y="3978000"/>
            <a:ext cx="2690400" cy="827999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・氏名・電話番号は不要（匿名で始まる）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・④リード獲得に位置づけ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・ここを取らないと26日間の空白が埋まらない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82400" y="4806000"/>
            <a:ext cx="684000" cy="19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0" rIns="21600" bIns="0" rtlCol="0" anchor="ctr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フェーズ 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82400" y="3096000"/>
            <a:ext cx="29424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3482400" y="3096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　主CV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2400" y="3528000"/>
            <a:ext cx="27624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体験授業・教室見学の予約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8400" y="3978000"/>
            <a:ext cx="2690400" cy="827999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・診断で「合う/合わない」を確認した後に来る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・⑤リード有効化に位置づけ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・予約の質が上がるので入会率も上がる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32800" y="4806000"/>
            <a:ext cx="684000" cy="19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0" rIns="21600" bIns="0" rtlCol="0" anchor="ctr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フェーズ 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2800" y="3096000"/>
            <a:ext cx="29424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532800" y="3096000"/>
            <a:ext cx="29424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ゴール　集客の最終成果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2800" y="3528000"/>
            <a:ext cx="27624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入会 → 継続 → 紹介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58800" y="3978000"/>
            <a:ext cx="2690400" cy="827999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・入会は集客のゴールだが、在籍年数（LTV）まで見て設計する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・⑦マネタイズ＋⑧LTV最大化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・紹介経由の入会率は70〜80%超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683200" y="4806000"/>
            <a:ext cx="684000" cy="19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0" rIns="21600" bIns="0" rtlCol="0" anchor="ctr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フェーズ ⑦⑧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000" y="518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軽いCVで先に接点を取り、診断で納得させてから重いCVへ。入会後は継続と紹介まで設計する。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CV3段の設計はDYM見解。②③⑥が本提案の重点領域（広告費を増やさずに改善できる区間）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LINEの後半戦は「辞めさせない」。入会して終わりではない。塾の売上構造で重いのは在籍年数（LTV）のほう。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退会を1人防ぐことは、新規を1人獲得するのと同じ。しかも獲得コストはゼロ。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36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
口コミ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6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2564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64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680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0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708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608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824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離脱防止POP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24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852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752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968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
＋30秒診断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968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996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0896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12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
ナーチャリング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12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13999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03999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56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56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284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9184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00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
リマインド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00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7428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328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44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44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⑦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6572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7472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68799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在籍中の保護者接点
離脱予兆検知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8799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571600" y="1998000"/>
            <a:ext cx="79200" cy="14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661600" y="1655999"/>
            <a:ext cx="813600" cy="82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83200" y="1710000"/>
            <a:ext cx="7704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継続・紹介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3200" y="2268000"/>
            <a:ext cx="770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000" y="2538000"/>
            <a:ext cx="6300000" cy="27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前半戦：新規獲得（ここで終わる提案が多い）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32800" y="2538000"/>
            <a:ext cx="2642400" cy="27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後半戦：退会防止・紹介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432000" y="2951999"/>
          <a:ext cx="9043198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施策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誰を拾うか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どのCVに効くか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中身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未CVの98%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CV①（友だち化）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LP離脱時に「まだ決めなくて大丈夫です」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30秒ぴったり塾診断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CV②（体験予約）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「合う/合わない」を先に提示し、回答をタグ化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14日ステップ配信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未予約の友だち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CV②（体験予約）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売り込みは2回だけ。残りは家庭で使える情報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体験の前日リマインド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予約者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歩留まり（実施率）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持ち物・アクセス・変更1タップ。キャンセル料なし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月次の学習レポート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在籍生の保護者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継続率（LTV）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退会検討理由の50.6%はコミュニケーション不足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離脱予兆検知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継続率（LTV）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欠席2回連続／宿題未提出／未読3週間で自動声かけ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紹介キャンペーン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在籍生の保護者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CV①〜③（紹介）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塾を知るきっかけ1位は口コミ47%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退会1人の防止＝月謝28,000円×残存18ヶ月≒50万円（モデル値）。新規1人の獲得より安く、確実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施策展開図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初期に何を作り、毎月何を回すか。初期構築は1〜2ヶ月。作り込むのは診断・リッチメニュー・14日ステップの3つ。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月次は「企画配信・セグメント配信・予兆検知・レポート」の4本を定常で回す。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13600" cy="32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20000"/>
            <a:ext cx="44136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初期（初動1〜2ヶ月）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0880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LINE公式アカウント開設・プロフィール設計（未開設の場合）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3976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30秒ぴったり塾診断（4問）の設計と実装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7072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リッチメニュー3タブ×6枠の制作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0000" y="30168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あいさつメッセージ（営業電話しない宣言を含む）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33264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14日ステップ配信（14通）の原稿・実装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0000" y="36360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キーワード自動応答（料金・振替・持ち物）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0000" y="3945599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LP離脱防止ポップアップの設置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0000" y="4255199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タグ設計（学年／動機／適性／温度）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553999"/>
            <a:ext cx="41976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ここを作り込まないと、あとの配信が全部弱くなる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1600" y="1620000"/>
            <a:ext cx="4413600" cy="32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61600" y="1620000"/>
            <a:ext cx="44136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月次（定常運用）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9600" y="20880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9600" y="23976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セグメント配信（診断タグ別に出し分け）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9600" y="27072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9600" y="30168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在籍生の保護者へ月次学習レポート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69600" y="33264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離脱予兆検知のトリガー確認と声かけ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69600" y="3636000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GA・LINE分析のレポーティング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9600" y="3945599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定例会（配信結果の振り返りと翌月の企画）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69600" y="4255199"/>
            <a:ext cx="4197600" cy="2808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Ins="54000" bIns="0" rtlCol="0" anchor="ctr"/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文面・リッチメニューの改善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9600" y="4553999"/>
            <a:ext cx="41976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毎月これを回す。DYMが実務を持つ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9680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アカウント開設・リッチメニュー・診断・ステップ配信・タグ管理は、すべて費用内（無償付帯）。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別途費用：LP離脱防止（Sitelead 初期10万円＋月5万円）／通知メッセージ／API連携。配信ツールはLstepまたはHachidoriのどちらか一方を要件定義で選定する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友だち追加の動線。CTAは「今すぐ体験」ではなく「受け取る」。その塾に興味を持った人が、決断を迫られずに気軽に情報収集だけできる入口をつくること。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個人情報の要求をゼロにするだけで、拾える層が変わる。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個人情報の要求ゼロ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タップ1回で友だち追加が完了。氏名・電話・成績の入力を求めない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178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「決めなくていい」と明言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検討初期（26日前）の層は、決断を迫られると離脱する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718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営業しない宣言を入口から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※比率データは無いが、明記のコストはゼロで効果は大きい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348000"/>
            <a:ext cx="4176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導線は3つ（LP・オフライン・紹介）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636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LP離脱防止ポップアップ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離脱動作を検知して表示。Sitelead（初期10万＋月5万・別途）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176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在籍生経由（紹介時にQR）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兄弟姉妹・お友達紹介のタイミングでQRを案内。広告費をかけずに増やせる導線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716000"/>
            <a:ext cx="4176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オフライン（チラシ・教室掲示）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既存のチラシにQRを1つ足すだけ。折込の反応率低下を補う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999" y="1638000"/>
            <a:ext cx="46512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クリエイティブ実文（そのまま使えます）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3999" y="1908000"/>
            <a:ext cx="4651200" cy="15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49999" y="1980000"/>
            <a:ext cx="4392000" cy="1404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▼ LP離脱防止ポップアップ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30秒の無料診断で、お子さまに合う学び方（集団／個別／映像）だけ先にわかります。営業のお電話は一切ありません。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［ LINEで30秒診断を受け取る ］</a:t>
            </a:r>
          </a:p>
          <a:p>
            <a:pPr algn="l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※お名前・電話番号は不要です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23999" y="3563999"/>
            <a:ext cx="4651200" cy="154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49999" y="3636000"/>
            <a:ext cx="4392000" cy="1404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▼ 在籍生への紹介案内（リッチメニュー・面談時）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ご紹介、お待ちしています😊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兄弟姉妹・お友達も一緒に。ご紹介いただいた方には特典をご用意しています。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［ 紹介用QRコードを受け取る ］</a:t>
            </a:r>
          </a:p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※紹介経由の入会率は70〜80%超（S13）。広告費をかけずに伸ばせる導線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CTAの言い換えはDYM見解。「今すぐ体験」ではなく「受け取る」にして、検討初期層の心理的ハードルを下げる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あいさつメッセージ。友だち追加の10秒後に何が届くか。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1通目で「誰が・何を・いつ送るか」と「営業電話はしない」を先に伝える。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アンケート（診断）は1通目に置く。</a:t>
            </a:r>
            <a:r>
              <a:rPr lang="ja-JP" altLang="en-US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率が最も高くなる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56000" y="1638000"/>
            <a:ext cx="6012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この5つを外すと効かない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000" y="1944000"/>
            <a:ext cx="60192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担当者名を出す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「教室長の佐藤です」。BOTではなく人がいると示す。塾は「先生」で選ばれる業界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6000" y="2538000"/>
            <a:ext cx="60192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有人対応の時間帯を明記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「平日14〜21時」。いつ返事が来るか分かると質問のハードルが下がる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000" y="3131999"/>
            <a:ext cx="60192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配信頻度を先に約束する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「週1回だけ」。頻度を明示するとブロック率が下がる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6000" y="3726000"/>
            <a:ext cx="60192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最大の不安に先回りする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「営業のお電話は一切ありません」。※一般論だが明記コストはゼロ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6000" y="4320000"/>
            <a:ext cx="60192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 診断は1通目に置く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後ろに回すほど参加率が落ちる。ここで属性を取れないと配信が全部一斉配信になる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000" y="4968000"/>
            <a:ext cx="6019200" cy="8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81999" y="5022000"/>
            <a:ext cx="5760000" cy="756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なぜ1通目で「営業しない」と言うのか</a:t>
            </a:r>
          </a:p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検討は26日前から始まっている（S11）。その段階の人に決断を迫ると離脱する。先に「決めなくていい・営業しない」と伝えて、26日間ずっと隣にいることのほうが、最後の数日で指名検索に勝つより確実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文面はそのまま使える実文。教室長名・対応時間・配信頻度のみ貴社の運用に合わせて差し替える</a:t>
            </a:r>
          </a:p>
        </p:txBody>
      </p:sp>
      <p:pic>
        <p:nvPicPr>
          <p:cNvPr id="22" name="Picture 21" descr="塾_あいさつ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1620000"/>
            <a:ext cx="2592000" cy="38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30秒ぴったり塾診断。保護者の63.5%が詰まる「合うか分からない」を解く。4問すべて選択式・自由入力ゼロ。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回答がそのまま配信セグメントのタグになる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診断は集客ツールであると同時に、早期退塾を防ぐリテンション施策でもある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20000"/>
            <a:ext cx="540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診断4問（すべて選択式）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08000"/>
            <a:ext cx="5400000" cy="5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3999" y="1998000"/>
            <a:ext cx="396000" cy="413999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0" y="1962000"/>
            <a:ext cx="3456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96000"/>
            <a:ext cx="3456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小1〜4／小5・6／中1・2／中3／高1・2／高3・既卒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6000" y="2033999"/>
            <a:ext cx="1224000" cy="34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 学年タグ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574000"/>
            <a:ext cx="5400000" cy="5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3999" y="2664000"/>
            <a:ext cx="396000" cy="413999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000" y="2628000"/>
            <a:ext cx="3456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いちばん近いお悩みは？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0" y="2862000"/>
            <a:ext cx="3456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36000" y="2700000"/>
            <a:ext cx="1224000" cy="34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 動機タグ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3240000"/>
            <a:ext cx="5400000" cy="5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3999" y="3330000"/>
            <a:ext cx="396000" cy="413999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000" y="3294000"/>
            <a:ext cx="3456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お子さまの性格に近いのは？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3528000"/>
            <a:ext cx="3456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6000" y="3366000"/>
            <a:ext cx="1224000" cy="34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 適性タグ（集団/個別の判定）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06000"/>
            <a:ext cx="5400000" cy="5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3996000"/>
            <a:ext cx="396000" cy="413999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3960000"/>
            <a:ext cx="3456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塾はいつから？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0" y="4194000"/>
            <a:ext cx="3456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36000" y="4032000"/>
            <a:ext cx="1224000" cy="34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 温度タグ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76000" y="1620000"/>
            <a:ext cx="34992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診断結果の型｜共感 → 実例 → 費用 → CTA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000" y="4680000"/>
            <a:ext cx="3499200" cy="11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84000" y="4733999"/>
            <a:ext cx="3276000" cy="1044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診断が「継続率」にも効く理由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1年未満で退塾した家庭の43%が「入塾前に十分調べなかった」と回答（1年以上継続は14%）。＝入口で適合を確認させることが、そのまま早期退塾の予防になる。</a:t>
            </a:r>
          </a:p>
          <a:p>
            <a:pPr algn="l"/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出典：DeltaX「塾選」退塾に関する調査 2024年（n=65）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費用は結果の後半に置く（先に出すと離脱する）。★競合ではトライ（性格別学習法診断）・早稲田アカデミー（学力診断シミュレーション）が実装済み。実物スクショは未取得</a:t>
            </a:r>
          </a:p>
        </p:txBody>
      </p:sp>
      <p:pic>
        <p:nvPicPr>
          <p:cNvPr id="32" name="Picture 31" descr="塾_診断結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000" y="1908000"/>
            <a:ext cx="3499200" cy="46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ー。検討中・予約済み・塾生の3つの顔に出し分ける。常設の受付窓口。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左上は常に「いま一番押してほしい行動」を置く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タブ③に退会相談を隠さず置く。相談を受け止める塾のほうが、結果として続く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43999" y="1655999"/>
            <a:ext cx="18024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743999" y="1655999"/>
            <a:ext cx="18024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タブ①　はじめての方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33999" y="2051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 ぴったり塾診断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33999" y="24191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 料金まるわかり （講習費まで）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33999" y="27863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📈 成績アップ事例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33999" y="31535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 教室・講師を見る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33999" y="35207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 無料体験を予約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33999" y="3887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❓ よくある質問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3999" y="4248000"/>
            <a:ext cx="1622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左上＝最重要CTA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54400" y="1655999"/>
            <a:ext cx="18024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54400" y="1655999"/>
            <a:ext cx="1802400" cy="324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タブ②　体験予約済みの方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4400" y="2051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📋 体験当日の流れ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44400" y="24191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🗺️ アクセス・持ち物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44400" y="27863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🔁 日程変更（1タップ）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44400" y="31535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👨‍🏫 担当講師の紹介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44400" y="35207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💬 保護者の声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44400" y="3887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✉️ LINEで質問する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44400" y="4248000"/>
            <a:ext cx="1622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予約後の不安をつぶす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64800" y="1655999"/>
            <a:ext cx="18024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564800" y="1655999"/>
            <a:ext cx="1802400" cy="324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タブ③　塾生・保護者の方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54800" y="2051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🙋 欠席・振替連絡 （電話不要）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54800" y="24191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📆 面談を予約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54800" y="27863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📢 お知らせ・時間割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54800" y="31535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📔 宿題・学習記録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4800" y="35207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🎁 ごきょうだい紹介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54800" y="3887999"/>
            <a:ext cx="1622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36000" bIns="0" rtlCol="0" anchor="ctr"/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🍀 休会・退会のご相談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54800" y="4248000"/>
            <a:ext cx="1622400" cy="18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電話を減らす＋継続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2000" y="453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76000" y="4590000"/>
            <a:ext cx="8755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参考｜KUMON（友だち2,525万人）の実機リッチメニュー（2026-09-15取得）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・タブ切替を実装（「今すぐチェック！」／「インフォメーション」）＝本提案の3タブ構成と同じ思想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・左上に「学年別」を置いている＝タブ①を学年起点にする設計の裏付けになる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・ただし診断も体験予約も無く、「詳しくはこちら→」でWebへ送るだけ＝LINE内で完結していない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証跡｜_data/lineoa_competitors/KUMON_リッチメニュー_20260915.png。退会導線を隠す塾より、相談を受け止める塾のほうが継続する（S27の予兆検知と連動）</a:t>
            </a:r>
          </a:p>
        </p:txBody>
      </p:sp>
      <p:pic>
        <p:nvPicPr>
          <p:cNvPr id="46" name="Picture 45" descr="塾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" y="1655999"/>
            <a:ext cx="1872000" cy="28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生徒情報との連携。配信を「うちの子の話」に変える。一斉配信のLINEはブロックされる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うちの子の話」をするLINEはブロックされない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診断タグ＋在籍データを紐づけて、配信を1対1に近づける。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29424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2942400" cy="34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診断タグ（入会前）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70000"/>
            <a:ext cx="2726400" cy="90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・学年／動機／適性／温度の4軸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・友だち追加直後の4問で取得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・配信の出し分けはここから始まる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2400" y="1638000"/>
            <a:ext cx="29424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82400" y="1638000"/>
            <a:ext cx="2942400" cy="34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行動タグ（入会前）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0400" y="2070000"/>
            <a:ext cx="2726400" cy="90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・どのリッチメニューを押したか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・体験予約したか／来たか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・配信の未読が続いていないか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2800" y="1638000"/>
            <a:ext cx="29424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32800" y="1638000"/>
            <a:ext cx="2942400" cy="34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在籍データ（入会後）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0800" y="2070000"/>
            <a:ext cx="2726400" cy="90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・出席・欠席／振替の記録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・小テスト・定期テストの推移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・宿題の提出状況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203999"/>
            <a:ext cx="90432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32000" y="3491999"/>
          <a:ext cx="9043200" cy="165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599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組み合わせ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配信の具体例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99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学年タグ × 季節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小5の保護者だけに「中学準備講座」を配信。小3には出さない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999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適性タグ × 事例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「質問が苦手」タグの家庭には、個別指導で伸びた事例だけを送る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999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温度タグ × オファー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「今すぐ」「今学期中」タグだけに体験オファー。「情報収集だけ」には教育コンテンツのみ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999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在籍データ × レポート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毎月の出席・小テスト推移を保護者へ自動配信（S27の中心施策）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00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在籍データ × 予兆検知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欠席2回連続／宿題未提出／未読3週間で自動で声かけ（S27）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32000" y="5256000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00" y="5292000"/>
            <a:ext cx="8755200" cy="503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③の在籍データ連携は、貴社の塾システム（Comiru等）との接続方式によって工数が変わります。初期は手動CSV取込から始め、運用が固まってからAPI連携に移行する進め方を推奨します。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API連携・通知メッセージは別途費用。★貴社が使用中の塾管理システムの確認が必要（要件定義で確定）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シナリオは2本だけ。未入会と、在籍中。未入会の友だちには14日で体験予約へ。在籍生の保護者には毎月レポートで継続へ。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14日に寄せる理由は2つ：追加15日でアクティブ率が落ちる／後15日で他塾の指名検索が立つ。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99691" y="1620000"/>
            <a:ext cx="4563909" cy="34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シナリオA｜未入会の友だち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12281"/>
              </p:ext>
            </p:extLst>
          </p:nvPr>
        </p:nvGraphicFramePr>
        <p:xfrm>
          <a:off x="296091" y="1998000"/>
          <a:ext cx="4563909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4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配信内容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狙い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あいさつ＋30秒診断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属性取得・不安の先回り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Day3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家庭でできる勉強法（塾に入らなくても役立つ）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信頼の貯金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全員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費用のリアル</a:t>
                      </a:r>
                      <a:endParaRPr lang="en-US"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（</a:t>
                      </a:r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月謝＋講習費の年間総額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費用不安の解消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Day7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診断タイプ別の成績アップ事例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 ＋ </a:t>
                      </a:r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体験オファ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ー①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CV②へ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適性タグ別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よくある不安Q&amp;A</a:t>
                      </a:r>
                      <a:endParaRPr lang="en-US"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（</a:t>
                      </a:r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断ったらどうなる／総額は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最後の壁を外す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未予約のみ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3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Day14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次の定期テストからの逆算 ＋ 体験オファー②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締切で後押し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未予約のみ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43599" y="1620000"/>
            <a:ext cx="4567621" cy="34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シナリオB｜在籍生の保護者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481309"/>
              </p:ext>
            </p:extLst>
          </p:nvPr>
        </p:nvGraphicFramePr>
        <p:xfrm>
          <a:off x="5043600" y="1998000"/>
          <a:ext cx="4563909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8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31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marL="43200" marR="43200" marT="18000" marB="18000" anchor="ctr"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配信内容</a:t>
                      </a:r>
                    </a:p>
                  </a:txBody>
                  <a:tcPr marL="43200" marR="43200" marT="18000" marB="18000" anchor="ctr"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狙い</a:t>
                      </a:r>
                    </a:p>
                  </a:txBody>
                  <a:tcPr marL="43200" marR="43200" marT="18000" marB="18000" anchor="ctr"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marL="43200" marR="43200" marT="18000" marB="18000" anchor="ctr"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毎月1回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学習レポート（出席・小テスト推移・講師コメント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退会理由1位2位に効く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学期ごと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面談のご案内（1タップ予約）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対面の接点を確保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在籍生全員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随時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離脱予兆検知トリガ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ー（欠席2連続・宿題未提出・未読3週間）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退会届の前に会話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該当者のみ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ごきょうだい・ご友人紹介のご案内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口コミ47%を動線化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継続6ヶ月以上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進級期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次学年のコース案内（2〜3月）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継続率・単価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小6・中3以外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3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随時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欠席・振替のLINE受付</a:t>
                      </a:r>
                      <a:endParaRPr lang="en-US"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l"/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（</a:t>
                      </a:r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  <a:r>
                        <a:rPr sz="9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教室長の工数削減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在籍生全員</a:t>
                      </a:r>
                      <a:endParaRPr sz="9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500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14日のうち、売り込みは2通だけ（Day7・Day14）。残り12通は家庭で使える情報にする。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出口は2つ：予約した人は前日リマインドへ分岐、しなかった人はタグ別の定常配信（週1）へ合流。在籍生は入会と同時にシナリオBへ自動で移す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未入会の友だちに届くLINE（そのまま使えます）。通知プレビューの冒頭15文字で開封が決まる。各通に必ず設計する。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Day3のように「塾に入らなくても役立つ話」を先に渡すから、Day7とDay14が効く。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30400" cy="30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1999"/>
            <a:ext cx="2930400" cy="28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432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通知プレビュー：テスト後、9割のご家庭がしない事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04000"/>
            <a:ext cx="2930400" cy="30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90000" bIns="54000" rtlCol="0" anchor="t"/>
          <a:lstStyle/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</a:t>
            </a: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塾の佐藤です</a:t>
            </a: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塾を探す前に、今日からできることを1つだけ。</a:t>
            </a: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28000"/>
              </a:lnSpc>
            </a:pP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テスト返却後、多くのご家庭は「点数を見て終わり</a:t>
            </a: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  <a:p>
            <a:pPr algn="l">
              <a:lnSpc>
                <a:spcPct val="128000"/>
              </a:lnSpc>
            </a:pP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でも伸びる子の家庭は、返却当日にこれをやっています</a:t>
            </a: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👇</a:t>
            </a: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</a:t>
            </a: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間違いを「ケアレスミス」と「わからなかった」に仕分け</a:t>
            </a:r>
            <a:endParaRPr sz="8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</a:t>
            </a: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わからなかった」だけ教科書の該当ページに付箋</a:t>
            </a:r>
            <a:endParaRPr sz="8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週末に付箋の問題だけ解き直す（30分でOK）</a:t>
            </a: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28000"/>
              </a:lnSpc>
            </a:pP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これだけで次のテスト+10点は狙えます。</a:t>
            </a:r>
          </a:p>
          <a:p>
            <a:pPr algn="l">
              <a:lnSpc>
                <a:spcPct val="128000"/>
              </a:lnSpc>
            </a:pP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</a:t>
            </a: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付箋が多すぎて手に負えない」ときの</a:t>
            </a:r>
            <a:endParaRPr sz="8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選択肢で大丈夫です</a:t>
            </a:r>
            <a:r>
              <a:rPr sz="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8400" y="1620000"/>
            <a:ext cx="2930400" cy="30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8400" y="1961999"/>
            <a:ext cx="2930400" cy="28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432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通知プレビュー：数学58点→82点になった話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44800" y="1620000"/>
            <a:ext cx="2930400" cy="30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4800" y="1961999"/>
            <a:ext cx="2930400" cy="28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0" rIns="43200" bIns="0" rtlCol="0" anchor="ctr"/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通知プレビュー：次のテストまで、あと◯日です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4800" y="2304000"/>
            <a:ext cx="2930400" cy="30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90000" bIns="54000" rtlCol="0" anchor="t"/>
          <a:lstStyle/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塾をご検討中なら、今週がひとつの分かれ目です。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理由はシンプルで、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 入塾手続き→座席・講師調整→授業開始まで 約1週間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 テスト対策には最低3週間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かかるからです。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「まだ迷っている」段階でも大丈夫。体験だけ受けて、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テスト後にゆっくり決めたご家庭も多いです😊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▶ 今週の体験枠（残り◯席）を見る</a:t>
            </a:r>
          </a:p>
          <a:p>
            <a:pPr algn="l">
              <a:lnSpc>
                <a:spcPct val="128000"/>
              </a:lnSpc>
            </a:pPr>
            <a:r>
              <a:rPr sz="81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▶ LINEで質問だけしてみる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Day0（あいさつ＋診断）はS17、Day5・Day10はS21の設計表を参照。★事例の数値（58点→82点）は貴社の実績に差し替え、学年・期間・通塾回数の条件を併記すること（S09）</a:t>
            </a:r>
          </a:p>
        </p:txBody>
      </p:sp>
      <p:pic>
        <p:nvPicPr>
          <p:cNvPr id="15" name="Picture 14" descr="塾_実文面Day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0" y="2304000"/>
            <a:ext cx="2322000" cy="3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在籍生の保護者に届くLINE。退会理由の50.6%はここに効く。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退会を検討した理由の2位3位は、どちらも「コミュニケーション不足」。合計50.6%。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成績が上がらないこと以上に、それについて何も言ってもらえないことで辞めている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136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月次の学習レポート（毎月1回・自動）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4572000"/>
            <a:ext cx="44136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36000" rIns="90000" bIns="36000" rtlCol="0" anchor="ctr"/>
          <a:lstStyle/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退会検討理由 1位「成績が上がらない」44.6%／2位「保護者と講師のコミュニケーション不足」27.7% に同時に効く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1600" y="1620000"/>
            <a:ext cx="4413600" cy="324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離脱予兆検知トリガー（該当時のみ・自動）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1600" y="1980000"/>
            <a:ext cx="44136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0800" rIns="108000" bIns="54000" rtlCol="0" anchor="t"/>
          <a:lstStyle/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◯◯さんのお母さま、教室長の佐藤です。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今月お休みが続いていたので、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少し気になってご連絡しました🍀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ご家庭やお子さまのご様子で、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変わったことはありませんか？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「部活が忙しい」「曜日が合わない」「少し疲れている」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——どれもよくあることで、曜日変更やコマ数の調整で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解決できる場合が多いです。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よろしければ15分だけ、お話を聞かせてください。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▶ 面談の空き時間を見る　▶ このままLINEで相談する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1600" y="4572000"/>
            <a:ext cx="44136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36000" rIns="90000" bIns="36000" rtlCol="0" anchor="ctr"/>
          <a:lstStyle/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実際に辞めた理由の1位は「子どもが塾に行くことを嫌がった」27%。突然ではなく、必ず欠席という予兆が出る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183999"/>
            <a:ext cx="90432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予兆検知のトリガー（4つ）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436000"/>
            <a:ext cx="2179800" cy="45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1600" rIns="54000" bIns="21600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欠席が2回連続</a:t>
            </a:r>
          </a:p>
          <a:p>
            <a:pPr algn="ctr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曜日・時間が合っていない可能性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9800" y="5436000"/>
            <a:ext cx="2179800" cy="45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1600" rIns="54000" bIns="21600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宿題の未提出が続く</a:t>
            </a:r>
          </a:p>
          <a:p>
            <a:pPr algn="ctr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量が合っていない／つまずいている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600" y="5436000"/>
            <a:ext cx="2179800" cy="45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1600" rIns="54000" bIns="21600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配信の未読が3週間</a:t>
            </a:r>
          </a:p>
          <a:p>
            <a:pPr algn="ctr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関心が薄れている／保護者が忙しい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5400" y="5436000"/>
            <a:ext cx="2179800" cy="45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1600" rIns="54000" bIns="21600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小テストが2回連続で下降</a:t>
            </a:r>
          </a:p>
          <a:p>
            <a:pPr algn="ctr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単元のつまずきが蓄積している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2022年（保護者300人）／DeltaX「塾選」退塾に関する調査 2024年（退塾経験のある保護者65人）</a:t>
            </a:r>
          </a:p>
        </p:txBody>
      </p:sp>
      <p:pic>
        <p:nvPicPr>
          <p:cNvPr id="17" name="Picture 16" descr="塾_月次レポー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000" y="1980000"/>
            <a:ext cx="1890000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体験予約の「来ない」を減らす。予約の約20%が体験に来ない。ここは仕組みだけで戻せる区間。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前日リマインドで、持ち物・アクセス・変更手段の3つの不安を先につぶす。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5256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1224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予約完了 直後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4000" y="1638000"/>
            <a:ext cx="21240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予約内容の確認＋カレンダー登録リンク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0" y="1638000"/>
            <a:ext cx="1655999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その場で不安を残さない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178000"/>
            <a:ext cx="5256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2000" y="2178000"/>
            <a:ext cx="1224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前々日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000" y="2178000"/>
            <a:ext cx="21240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担当講師の紹介（顔写真・ひとこと）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0" y="2178000"/>
            <a:ext cx="1655999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誰に会うか分かると欠席が減る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718000"/>
            <a:ext cx="5256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2718000"/>
            <a:ext cx="1224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000" y="2718000"/>
            <a:ext cx="21240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持ち物・アクセス・日程変更の案内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0" y="2718000"/>
            <a:ext cx="1655999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当日朝の「行くのやめようか」を防ぐ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58000"/>
            <a:ext cx="5256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2000" y="3258000"/>
            <a:ext cx="1224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当日 2時間前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000" y="3258000"/>
            <a:ext cx="21240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「お待ちしています」の短い一言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3258000"/>
            <a:ext cx="1655999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最後のひと押し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798000"/>
            <a:ext cx="5256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2000" y="3798000"/>
            <a:ext cx="12240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000" y="3798000"/>
            <a:ext cx="21240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お礼＋診断結果の再送＋相談導線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0000" y="3798000"/>
            <a:ext cx="1655999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断る自由を残したまま次へ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1638000"/>
            <a:ext cx="36360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前日リマインドの実文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32000" y="1890000"/>
            <a:ext cx="364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58000" y="1980000"/>
            <a:ext cx="3384000" cy="187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
ください。1タップで別日程をご案内します
（キャンセル料はありません）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2000" y="4031999"/>
            <a:ext cx="3643199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43200" rIns="90000" bIns="43200" rtlCol="0" anchor="ctr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期待効果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予約→体験の実施率　80% → 92%</a:t>
            </a:r>
          </a:p>
          <a:p>
            <a:pPr algn="l"/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弊社支援実績レンジ（保守置き）。★社内数値で確定させる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32000" y="4932000"/>
            <a:ext cx="3643199" cy="8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0000" y="4986000"/>
            <a:ext cx="3420000" cy="756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保護者が体験をためらう理由に、断りにくさがある（※比率データは無く一般論）。変更・キャンセルの自由を明示したほうが、結果として実施率は上がる。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無断キャンセルは「行く気がない」のではなく「思い出せない・持ち物が不安・変更方法が分からない」で起きる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年間の企画カレンダー。ピークではなく「26日前」に動く。検索の山（Googleトレンド実測）から逆算して、仕込みを始める日を決める。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企画投稿は月1〜2本。その月に保護者が何を考えているかに合わせる。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「塾」ピーク2/8の26日前＝1/13から仕込み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「テスト後、9割の家庭がしない事」（S22 Day3）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夏期講習の仕込み開始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夏期講習ピーク7/12の26日前＝6/16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下半期スタート／退会注意期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部活引退後の8〜10月は退会ピークの1つ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予兆検知を強める月。面談オファーを厚く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＋前後検索の26日（S11）。退会ピーク（3月・8〜10月）は業界推計値。★貴社の入会・退会の月別実績が入れば、この表を実データで置き換え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通知メッセージ。電話番号だけで届く、塾と相性のいい機能。友だち未追加でも、電話番号があればLINEにメッセージを届けられる（別途費用）。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塾は在籍生の電話番号を持っている。既存リストをLINEへ移す最短の導線になる。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5903999" cy="66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015999" cy="66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既存の在籍生リストをLINEへ移行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6000" y="1710000"/>
            <a:ext cx="2664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紙・電話・メールで連絡している保護者をLINEに集約。以後の連絡コストが下がる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000" y="1710000"/>
            <a:ext cx="972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在籍生の保護者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11999"/>
            <a:ext cx="5903999" cy="66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2000" y="2411999"/>
            <a:ext cx="2015999" cy="666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休会・退会した家庭への再接触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6000" y="2466000"/>
            <a:ext cx="2664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「その後いかがですか」の一言。塾は再入会が起きやすい業態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2000" y="2466000"/>
            <a:ext cx="972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過去の在籍者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168000"/>
            <a:ext cx="5903999" cy="66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3168000"/>
            <a:ext cx="2015999" cy="666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資料請求だけで止まっている層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6000" y="3222000"/>
            <a:ext cx="2664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体験に進まなかった人へ、季節講習のタイミングで再案内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2000" y="3222000"/>
            <a:ext cx="972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過去の問い合わせ者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924000"/>
            <a:ext cx="5903999" cy="66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2000" y="3924000"/>
            <a:ext cx="2015999" cy="66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兄弟姉妹への案内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000" y="3978000"/>
            <a:ext cx="2664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上の子が卒塾した家庭に、下の子の学年到達時に案内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2000" y="3978000"/>
            <a:ext cx="972000" cy="55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卒塾家庭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0000" y="1655998"/>
            <a:ext cx="2995200" cy="151199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06000" y="1728000"/>
            <a:ext cx="2736000" cy="1296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塾にとっての価値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塾は在籍生・卒塾生の電話番号を必ず持っている。この資産をLINEに変えられるのが通知メッセージ。</a:t>
            </a:r>
          </a:p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特に「卒塾した家庭の下の子」は、獲得コストゼロで入会率が最も高い層（紹介経由70〜80%と同じ構造）。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0000" y="3203999"/>
            <a:ext cx="29952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06000" y="3276000"/>
            <a:ext cx="2736000" cy="1296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注意点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・別途費用（アカウント種別・配信数による）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・「知らないのに届いた」と受け取られない文面設計が要る</a:t>
            </a:r>
          </a:p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・在籍生・過去の問い合わせ者など、関係性が明確な相手に限定する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0000" y="4752000"/>
            <a:ext cx="2995200" cy="90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06000" y="4806000"/>
            <a:ext cx="2785650" cy="625641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導入の優先度</a:t>
            </a:r>
            <a:endParaRPr sz="10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9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初期は不要。まず在籍生をLINEに集めて運用を固め、リストが溜まってから検討するのが安全</a:t>
            </a: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通知メッセージは別途費用。利用可否・単価はLINEヤフーの規定により変動するため、要件定義時に最新条件を確認する</a:t>
            </a:r>
          </a:p>
        </p:txBody>
      </p:sp>
      <p:pic>
        <p:nvPicPr>
          <p:cNvPr id="28" name="Picture 27" descr="塾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000" y="4644000"/>
            <a:ext cx="1054800" cy="1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退会防止。退会は「突然」ではない。必ず予兆がある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退会検討理由の1位は「成績が上がらない」44.6%。2位3位のコミュニケーション不足が合計50.6%。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成績が上がらないこと以上に、それについて説明がないことで辞めている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38000"/>
            <a:ext cx="5580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退会を検討した理由（POPER 2022年・保護者300人）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23760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成績が上がらない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000" y="2016000"/>
            <a:ext cx="3024000" cy="2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880000" y="2016000"/>
            <a:ext cx="2697408" cy="251999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1408" y="2016000"/>
            <a:ext cx="72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44.6%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2430000"/>
            <a:ext cx="23760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保護者と講師のコミュニケーション不足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000" y="2502000"/>
            <a:ext cx="3024000" cy="2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80000" y="2502000"/>
            <a:ext cx="1675296" cy="25199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9296" y="2502000"/>
            <a:ext cx="72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27.7%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2916000"/>
            <a:ext cx="2376000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子どもと講師のコミュニケーション不足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000" y="2988000"/>
            <a:ext cx="3024000" cy="2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80000" y="2988000"/>
            <a:ext cx="1384991" cy="25199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8992" y="2988000"/>
            <a:ext cx="72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22.9%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000" y="3456000"/>
            <a:ext cx="3384000" cy="413999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2位＋3位 ＝ 50.6%　コミュニケーション起因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3996000"/>
            <a:ext cx="5940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実際に辞めた理由（DeltaX「塾選」2024年・退塾経験のある保護者65人）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4248000"/>
            <a:ext cx="14040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1600" rIns="43200" bIns="21600" rtlCol="0" anchor="ctr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27%</a:t>
            </a:r>
          </a:p>
          <a:p>
            <a:pPr algn="ctr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子どもが塾に行くことを嫌がった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44000" y="4248000"/>
            <a:ext cx="14040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1600" rIns="43200" bIns="21600" rtlCol="0" anchor="ctr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14%</a:t>
            </a:r>
          </a:p>
          <a:p>
            <a:pPr algn="ctr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部活・習い事と両立できなかった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6000" y="4248000"/>
            <a:ext cx="14040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1600" rIns="43200" bIns="21600" rtlCol="0" anchor="ctr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10%</a:t>
            </a:r>
          </a:p>
          <a:p>
            <a:pPr algn="ctr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進路を変更した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8000" y="4248000"/>
            <a:ext cx="1404000" cy="5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1600" rIns="43200" bIns="21600" rtlCol="0" anchor="ctr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10%</a:t>
            </a:r>
          </a:p>
          <a:p>
            <a:pPr algn="ctr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テストの点数が上がらなかった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2000" y="1638000"/>
            <a:ext cx="2923199" cy="21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60000" y="1710000"/>
            <a:ext cx="2700000" cy="198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早期退塾には予測因子がある</a:t>
            </a:r>
          </a:p>
          <a:p>
            <a:pPr algn="l">
              <a:spcAft>
                <a:spcPts val="300"/>
              </a:spcAft>
            </a:pPr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1年未満で退塾した家庭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・入塾理由が「友達が通っていた」26%（1年以上継続は3%）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・「入塾前に十分調べなかった」43%（1年以上継続は14%）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 入口の適合確認（S18の診断）が、そのまま継続率の施策になる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52000" y="3888000"/>
            <a:ext cx="2923199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成果の可視化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月1で学習レポートを自動配信。退会理由1位と2位に同時に効く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52000" y="4518000"/>
            <a:ext cx="2923199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予兆検知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欠席2連続・宿題未提出・未読3週間で自動声かけ→面談へ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2000" y="5148000"/>
            <a:ext cx="2923199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入口での適合確認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診断で「合う/合わない」を先に見せる（＝43%の予防）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58320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退会を年5名防ぐ＝新規を5名多く獲得するのと同じ。しかも獲得コストはゼロ。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2022年（n=300）／DeltaX「塾選」退塾に関する調査 2024年（n=65）。年間中途退会率10〜20%は業界推計値（公的統計なし）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現場の工数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教室長を「夕方の電話番」から解放する。塾の現場は夕方に全部が重なる。欠席連絡・授業準備・面談が同じ時間帯に集中する。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電話をLINEに逃がすだけで、浮いた時間を予兆の出た生徒との面談に回せる。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4377600" cy="34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Before｜いまの夕方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51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Rounded Rectangle 6"/>
          <p:cNvSpPr/>
          <p:nvPr/>
        </p:nvSpPr>
        <p:spPr>
          <a:xfrm>
            <a:off x="503999" y="2124000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16:00-17:00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2095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欠席連絡の電話が集中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0000" y="2304000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授業準備が止まる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609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503999" y="2681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17:00-19:00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0000" y="2653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授業開始。電話に出られない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2861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折り返しが溜まる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167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ounded Rectangle 14"/>
          <p:cNvSpPr/>
          <p:nvPr/>
        </p:nvSpPr>
        <p:spPr>
          <a:xfrm>
            <a:off x="503999" y="3239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19:00-21:00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000" y="3211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授業と面談が重なる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3419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保護者対応が後回しに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26000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797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21:00-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0000" y="3769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折り返し電話・翌日準備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0000" y="3977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残業が常態化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7600" y="1638000"/>
            <a:ext cx="4377600" cy="34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After｜LINE導入後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7600" y="2051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Rounded Rectangle 23"/>
          <p:cNvSpPr/>
          <p:nvPr/>
        </p:nvSpPr>
        <p:spPr>
          <a:xfrm>
            <a:off x="5169600" y="2124000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終日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5600" y="2095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欠席・振替はLINEで自動受付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5600" y="2304000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電話が鳴らない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7600" y="2609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Rounded Rectangle 27"/>
          <p:cNvSpPr/>
          <p:nvPr/>
        </p:nvSpPr>
        <p:spPr>
          <a:xfrm>
            <a:off x="5169600" y="2681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終日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5600" y="2654503"/>
            <a:ext cx="2191650" cy="220593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料金・持ち物・振替はKW自動応答</a:t>
            </a:r>
            <a:endParaRPr sz="10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85600" y="2861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24時間365日対応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97600" y="3167999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ounded Rectangle 31"/>
          <p:cNvSpPr/>
          <p:nvPr/>
        </p:nvSpPr>
        <p:spPr>
          <a:xfrm>
            <a:off x="5169600" y="3239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授業時間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5600" y="3211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授業に集中できる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5600" y="3419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折り返しが発生しない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97600" y="3726000"/>
            <a:ext cx="4377600" cy="50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169600" y="3797999"/>
            <a:ext cx="10440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浮いた時間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5600" y="3769199"/>
            <a:ext cx="2015999" cy="2232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予兆の出た生徒の保護者と面談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5600" y="3977999"/>
            <a:ext cx="2015999" cy="2088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退会防止に直結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863600" y="2771999"/>
            <a:ext cx="180000" cy="360000"/>
          </a:xfrm>
          <a:prstGeom prst="rightArrow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Rounded Rectangle 39"/>
          <p:cNvSpPr/>
          <p:nvPr/>
        </p:nvSpPr>
        <p:spPr>
          <a:xfrm>
            <a:off x="432000" y="4428000"/>
            <a:ext cx="90432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76000" y="4482000"/>
            <a:ext cx="8755200" cy="684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工数削減を「時給換算」で語らない</a:t>
            </a:r>
          </a:p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削減額を人件費で計算すると額が小さく見え、論点もズレる。決裁者に効くのは「ピーク時に手が止まる」という現場の実感と、浮いた時間を退会防止の面談に回せるという接続。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2000" y="53280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電話を減らすこと自体が目的ではない。空いた時間を、辞めそうな生徒との面談に使えることが価値。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欠席・振替のLINE受付、キーワード自動応答は費用内（無償付帯）。日程調整の自動化は要件により別途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友だち数をKPIにしない。371万人集めても配信を止めればゼロ（S12）。友だち数は成果ではない。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見るのは「体験予約」「入会率」「継続率」の3つと、その先の粗利だけ。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302032"/>
              </p:ext>
            </p:extLst>
          </p:nvPr>
        </p:nvGraphicFramePr>
        <p:xfrm>
          <a:off x="432000" y="1655999"/>
          <a:ext cx="9043199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1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区分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指標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見方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主KPI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体験予約数／体験予約CPA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LINE経由と広告経由を分けて見る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主KPI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体験→入会率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診断を通った人と通らない人で比較する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主KPI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年間の中途退会率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予兆検知の声かけ→面談→継続の歩留まりも見る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副KPI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予約→体験の実施率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前日リマインドの効果はここに出る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副KPI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診断の完了率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低ければ設問が重い。4問を超えていないか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副KPI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配信の開封率・ブロック率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ブロック率が上がったら配信頻度か内容の問題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見ない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友だち数（単体）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増やすだけなら広告で買える。成果と相関しない</a:t>
                      </a:r>
                      <a:endParaRPr sz="10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4103999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見る周期を分ける（短期の数字で施策を殺さない）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4392000"/>
            <a:ext cx="29424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月次で見る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体験予約数・予約CPA・実施率・診断完了率・ブロック率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2400" y="4392000"/>
            <a:ext cx="29424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四半期で見る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体験→入会率・退会率・紹介経由の入会数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4392000"/>
            <a:ext cx="2942400" cy="72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年次で見る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生徒1名あたりの生涯粗利（LTV×粗利率）と、投下費用の回収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52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576000" y="5405219"/>
            <a:ext cx="8892000" cy="241561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継続率は四半期で見る。塾の退会は年度末（3月）と部活引退後（8〜10月）に集中するため、月次の増減だけを見ると施策の効果を読み違える。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レポートは月次の定例会で共有（費用内）。GA連携・LINE分析の数値は弊社側で取得して提出する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例：6通×2セット（未入会向け・在籍生向け）＝12通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＝通知メッセ・保有リスト活用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「塾」ピーク2/8なら12月着手、夏期講習7/12なら5月着手が目安。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・現状ヒアリング（在籍数・月謝・退会率・広告実績）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・CV3段とタグ設計の確定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・塾管理システムとの連携方式の決定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・法務確認（S09の表現チェック）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・既存の在籍生への案内・友だち化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・セグメント配信・予兆検知の稼働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・四半期で入会率・退会率を検証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逆算のしかた（S10の検索ピークから）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1月中旬に配信開始（「塾」ピーク2/8の26日前）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6月中旬に配信開始（夏期講習ピーク7/12の26日前）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在籍生の友だち化（Phase 3）は初月から効く。新規獲得の数字が動くのはPhase 4に入ってから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・予兆検知トリガーの管理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入会率・退会率の検証と、施策の組み替え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飛び道具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他塾がやっていない企画（ご参考）。競合8社のLINEはすべて「予約の受け皿」で止まっている（S12）。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きょうだい・卒塾生への通知メッセージ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卒塾家庭の下の子が該当学年に達したタイミングで案内。紹介経由の入会率は70〜80%超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977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4103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752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878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823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823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優先度の判定はDYM見解。根拠データはS03〜S12および巻末の出典一覧を参照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20113"/>
            <a:ext cx="9036000" cy="73977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塾は広告より口コミで選ばれる。そこを動線にする。塾を知ったきっかけ1位は「知人・友人の口コミ」47.0%。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塾の公式サイトより強い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しかも紹介経由の入会率は70〜80%超。Web広告経由の40〜50%と30pt以上違う。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38000"/>
            <a:ext cx="4860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塾を知ったきっかけ（POPER「Comiru」2022年・保護者300人）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25999"/>
            <a:ext cx="2015999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1998000"/>
            <a:ext cx="2304000" cy="2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520000" y="1998000"/>
            <a:ext cx="2165760" cy="251999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39760" y="1998000"/>
            <a:ext cx="72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2430000"/>
            <a:ext cx="2015999" cy="39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2502000"/>
            <a:ext cx="2304000" cy="2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20000" y="2502000"/>
            <a:ext cx="1304064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78064" y="2502000"/>
            <a:ext cx="720000" cy="251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988000"/>
            <a:ext cx="4860000" cy="68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入会率の差（業界推計値）</a:t>
            </a:r>
          </a:p>
          <a:p>
            <a:pPr algn="ctr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紹介・口コミ経由 70〜80%超</a:t>
            </a: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vs　</a:t>
            </a: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Web広告経由 40〜50%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0" y="1638000"/>
            <a:ext cx="39960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紹介を「頼む」のではなく「頼みやすくする」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72000" y="1925999"/>
            <a:ext cx="4003199" cy="77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紹介したくなる材料を毎月渡す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月次の学習レポートは、そのまま「うちの子が伸びた証拠」になる。ママ友に見せられる形にしておく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72000" y="2771999"/>
            <a:ext cx="4003199" cy="77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リッチメニューに常設する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タブ③に「ごきょうだい・ご友人紹介」を常時置く。思い立った瞬間に押せる場所が要る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72000" y="3618000"/>
            <a:ext cx="4003199" cy="77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タイミングを狙って声をかける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成績が上がった月・皆勤だった月に自動で紹介案内。満足度が高い瞬間に頼むと通る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2000" y="4464000"/>
            <a:ext cx="4003199" cy="77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9200" tIns="50400" rIns="64800" bIns="36000" rtlCol="0" anchor="t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卒塾家庭の下の子を拾う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通知メッセージで、該当学年に達したタイミングで案内（S26）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816000"/>
            <a:ext cx="4860000" cy="12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7999" y="3888000"/>
            <a:ext cx="4608000" cy="1116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ただし、口コミだけで選ばれると続かない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1年未満で退塾した家庭の26%が、入塾理由を「仲の良い友達が通っていたから」と回答（1年以上継続した家庭は3%）。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紹介で来た人にも、必ず診断を通す。「友達が行っているから」を「うちの子に合っているから」に変えてから入会してもらう。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5256000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広告より安く、入会率が高く、続きやすい。紹介は「おまけ」ではなく主要な獲得チャネル。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出典｜POPER「Comiru」2022年（n=300）／DeltaX「塾選」退塾に関する調査 2024年（n=65）／入会率の差は業界推計値（出典元の特定不可）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LINE公式アカウントの実績と、この資料の出典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LINEヤフー公式の「教育・スクール」導入事例に、塾業界の実例（ESOH個伸塾）があったので反映しました。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捏造はしません。この資料で使った数値の出所を、すべて下に並べます。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4428000" cy="15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36000" rIns="108000" bIns="36000" rtlCol="0" anchor="ctr"/>
          <a:lstStyle/>
          <a:p>
            <a:r>
              <a:rPr sz="1100" b="1" dirty="0" err="1">
                <a:solidFill>
                  <a:srgbClr val="333333"/>
                </a:solidFill>
                <a:latin typeface="メイリオ"/>
              </a:rPr>
              <a:t>LINEヤフー公式</a:t>
            </a:r>
            <a:r>
              <a:rPr sz="1100" b="1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100" b="1" dirty="0" err="1">
                <a:solidFill>
                  <a:srgbClr val="333333"/>
                </a:solidFill>
                <a:latin typeface="メイリオ"/>
              </a:rPr>
              <a:t>導入事例｜ESOH個伸塾（学習塾</a:t>
            </a:r>
            <a:r>
              <a:rPr sz="1100" b="1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r>
              <a:rPr sz="1100" b="1" dirty="0" err="1">
                <a:solidFill>
                  <a:srgbClr val="333333"/>
                </a:solidFill>
                <a:latin typeface="メイリオ"/>
              </a:rPr>
              <a:t>課題：電話・メールでの連絡は手間がかかり、生徒・保護者との接触頻度が低かった</a:t>
            </a:r>
            <a:r>
              <a:rPr sz="1100" b="1" dirty="0">
                <a:solidFill>
                  <a:srgbClr val="333333"/>
                </a:solidFill>
                <a:latin typeface="メイリオ"/>
              </a:rPr>
              <a:t>。</a:t>
            </a:r>
          </a:p>
          <a:p>
            <a:r>
              <a:rPr sz="1100" b="1" dirty="0" err="1">
                <a:solidFill>
                  <a:srgbClr val="333333"/>
                </a:solidFill>
                <a:latin typeface="メイリオ"/>
              </a:rPr>
              <a:t>施策：LINEチャットで振替連絡・個別対応・コロナ禍のオンライン授業案内を実施</a:t>
            </a:r>
            <a:r>
              <a:rPr sz="1100" b="1" dirty="0">
                <a:solidFill>
                  <a:srgbClr val="333333"/>
                </a:solidFill>
                <a:latin typeface="メイリオ"/>
              </a:rPr>
              <a:t>。</a:t>
            </a:r>
          </a:p>
          <a:p>
            <a:r>
              <a:rPr sz="1100" b="1" dirty="0">
                <a:solidFill>
                  <a:srgbClr val="333333"/>
                </a:solidFill>
                <a:latin typeface="メイリオ"/>
              </a:rPr>
              <a:t>成果：LINE公式アカウント導入前後の2年間で退塾率が約28%減少（2020年8月・取材時点）。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3348000"/>
            <a:ext cx="4428000" cy="17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999" y="3420000"/>
            <a:ext cx="4176000" cy="1620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LINEヤフー公式データ（倍率表現は使っていません）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※「開封率60〜80%＝メルマガの3〜4倍」という表現は公式値ではないため使用していません。</a:t>
            </a:r>
          </a:p>
          <a:p>
            <a:pPr algn="l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※「LINE経由で来店率40〜50%改善」はDYM支援実績であり公式値ではありません。出典を混ぜません。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6000" y="1638000"/>
            <a:ext cx="4399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この資料の出典一覧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76000" y="1890000"/>
          <a:ext cx="4399199" cy="3484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31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スライド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出典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厚労省 人口動態統計／経産省 特定サービス産業動態統計／文科省 学校基本調査／矢野経済研究所2024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S05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LINEヤフー前後検索（実測）／塾ナラ2025 n=200／塾シル2026 n=249／明光ネットワークジャパン2020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業界推計値（出典元の特定不可）★社内実績で差し替え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S10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Googleトレンド 日本 2026年年初来（実測）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LINEヤフー前後検索 起点KW「塾 費用」2022-05〜2023-05（実測）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S12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 page.line.me・実機 2026-09-15取得（実測・証跡あり）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DeltaX「塾選」退塾に関する調査 2024年 n=65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S23/S27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POPER「Comiru」2022年 n=300／DeltaX「塾選」2024年 n=65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Googleトレンド（実測）＋前後検索の26日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S34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POPER「Comiru」2022年 n=300／ネオマーケティング2019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784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入塾学年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オリコンME 2025年 学習塾 利用実態データ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784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入塾きっかけ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インタースペース「ママスタ」2021年 n=1,037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3999" y="5500301"/>
            <a:ext cx="9043200" cy="5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999" y="5536301"/>
            <a:ext cx="8755200" cy="503999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提出前の必須作業：公表統計（S03）はe-Statで統計表を開いて数値を照合すること。★ </a:t>
            </a:r>
            <a:r>
              <a:rPr sz="9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競合の実名掲載と、民間調査の引用可否は上司確認事項。特に明光義塾は競合であり、その調査を引用している点に注意</a:t>
            </a:r>
            <a:r>
              <a:rPr sz="9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出典のない数値は書かない。業界指標／自社実績／業界推計値／モデル値は、この資料ではラベルを分けて表記している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